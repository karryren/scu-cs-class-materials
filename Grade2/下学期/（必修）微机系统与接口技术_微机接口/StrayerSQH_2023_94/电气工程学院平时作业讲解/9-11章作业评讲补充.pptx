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78" r:id="rId4"/>
    <p:sldId id="279" r:id="rId5"/>
    <p:sldId id="280" r:id="rId6"/>
    <p:sldId id="281" r:id="rId7"/>
    <p:sldId id="282" r:id="rId8"/>
    <p:sldId id="283" r:id="rId9"/>
    <p:sldId id="257" r:id="rId10"/>
    <p:sldId id="258" r:id="rId11"/>
    <p:sldId id="259" r:id="rId12"/>
    <p:sldId id="260" r:id="rId13"/>
    <p:sldId id="284" r:id="rId14"/>
    <p:sldId id="286" r:id="rId15"/>
    <p:sldId id="261" r:id="rId16"/>
    <p:sldId id="262" r:id="rId17"/>
    <p:sldId id="285" r:id="rId18"/>
    <p:sldId id="287" r:id="rId19"/>
    <p:sldId id="288" r:id="rId20"/>
    <p:sldId id="289" r:id="rId21"/>
    <p:sldId id="290" r:id="rId22"/>
    <p:sldId id="292" r:id="rId23"/>
    <p:sldId id="291" r:id="rId24"/>
    <p:sldId id="266" r:id="rId25"/>
    <p:sldId id="267" r:id="rId26"/>
    <p:sldId id="268" r:id="rId27"/>
    <p:sldId id="269" r:id="rId28"/>
    <p:sldId id="270" r:id="rId29"/>
    <p:sldId id="271" r:id="rId30"/>
    <p:sldId id="272" r:id="rId31"/>
    <p:sldId id="273" r:id="rId32"/>
    <p:sldId id="274" r:id="rId33"/>
    <p:sldId id="275" r:id="rId3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468"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C7206A5-5913-4D3D-920E-511EBD9283D5}" type="datetimeFigureOut">
              <a:rPr lang="zh-CN" altLang="en-US" smtClean="0"/>
              <a:pPr/>
              <a:t>2018/6/9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D64582-26BD-47AD-9F18-50297F4E093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7206A5-5913-4D3D-920E-511EBD9283D5}" type="datetimeFigureOut">
              <a:rPr lang="zh-CN" altLang="en-US" smtClean="0"/>
              <a:pPr/>
              <a:t>2018/6/9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D64582-26BD-47AD-9F18-50297F4E093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539552" y="836712"/>
            <a:ext cx="7840679" cy="350046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第</a:t>
            </a:r>
            <a:r>
              <a:rPr kumimoji="0" lang="en-US" altLang="zh-CN"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9</a:t>
            </a:r>
            <a:r>
              <a:rPr kumimoji="0" lang="zh-CN" altLang="en-US"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章    习题</a:t>
            </a:r>
            <a:endParaRPr kumimoji="0" lang="zh-CN" altLang="en-US" sz="4800" b="1" i="0" u="none" strike="noStrike" kern="1200" cap="none" spc="0" normalizeH="0" baseline="0" noProof="0" dirty="0">
              <a:ln>
                <a:noFill/>
              </a:ln>
              <a:solidFill>
                <a:srgbClr val="FF0000"/>
              </a:solidFill>
              <a:effectLst/>
              <a:uLnTx/>
              <a:uFillTx/>
              <a:latin typeface="华文琥珀" panose="02010800040101010101" pitchFamily="2" charset="-122"/>
              <a:ea typeface="华文琥珀" panose="02010800040101010101" pitchFamily="2"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3105" y="409224"/>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9-1</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343105" y="1196752"/>
            <a:ext cx="8494715" cy="5256584"/>
          </a:xfrm>
          <a:prstGeom prst="rect">
            <a:avLst/>
          </a:prstGeom>
        </p:spPr>
        <p:txBody>
          <a:bodyPr/>
          <a:lstStyle/>
          <a:p>
            <a:pPr marL="182563" indent="447675">
              <a:lnSpc>
                <a:spcPct val="110000"/>
              </a:lnSpc>
              <a:spcBef>
                <a:spcPct val="20000"/>
              </a:spcBef>
            </a:pPr>
            <a:r>
              <a:rPr lang="zh-CN" altLang="zh-CN" sz="2800" b="1" dirty="0" smtClean="0">
                <a:solidFill>
                  <a:schemeClr val="accent1">
                    <a:lumMod val="75000"/>
                  </a:schemeClr>
                </a:solidFill>
                <a:latin typeface="楷体" panose="02010609060101010101" pitchFamily="49" charset="-122"/>
                <a:ea typeface="楷体" panose="02010609060101010101" pitchFamily="49" charset="-122"/>
              </a:rPr>
              <a:t>外部设备</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的品种繁多、功能多样，传送的信息也不同，对于模拟量，必须进行</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A/D</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转换才能输入计算机，对于串行信息的外设，必须转换为并行的信息。</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其次，外设的速度比</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CPU</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速度慢的多，必须增加缓冲功能。</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总之，</a:t>
            </a:r>
            <a:r>
              <a:rPr lang="zh-CN" altLang="zh-CN" sz="2800" b="1" dirty="0" smtClean="0">
                <a:solidFill>
                  <a:schemeClr val="accent1">
                    <a:lumMod val="75000"/>
                  </a:schemeClr>
                </a:solidFill>
                <a:latin typeface="楷体" panose="02010609060101010101" pitchFamily="49" charset="-122"/>
                <a:ea typeface="楷体" panose="02010609060101010101" pitchFamily="49" charset="-122"/>
              </a:rPr>
              <a:t>在</a:t>
            </a:r>
            <a:r>
              <a:rPr lang="zh-CN" altLang="zh-CN" sz="2800" b="1" dirty="0">
                <a:solidFill>
                  <a:schemeClr val="accent1">
                    <a:lumMod val="75000"/>
                  </a:schemeClr>
                </a:solidFill>
                <a:latin typeface="楷体" panose="02010609060101010101" pitchFamily="49" charset="-122"/>
                <a:ea typeface="楷体" panose="02010609060101010101" pitchFamily="49" charset="-122"/>
              </a:rPr>
              <a:t>工作原理、驱动方式、信息格式、以及工作速度等方面彼此差别很大，与处理器的工作方式也大相径庭</a:t>
            </a:r>
            <a:r>
              <a:rPr lang="zh-CN" altLang="zh-CN" sz="2800" b="1" dirty="0" smtClean="0">
                <a:solidFill>
                  <a:schemeClr val="accent1">
                    <a:lumMod val="75000"/>
                  </a:schemeClr>
                </a:solidFill>
                <a:latin typeface="楷体" panose="02010609060101010101" pitchFamily="49" charset="-122"/>
                <a:ea typeface="楷体" panose="02010609060101010101" pitchFamily="49" charset="-122"/>
              </a:rPr>
              <a:t>。</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zh-CN" sz="2800" b="1" dirty="0" smtClean="0">
                <a:solidFill>
                  <a:schemeClr val="accent1">
                    <a:lumMod val="75000"/>
                  </a:schemeClr>
                </a:solidFill>
                <a:latin typeface="楷体" panose="02010609060101010101" pitchFamily="49" charset="-122"/>
                <a:ea typeface="楷体" panose="02010609060101010101" pitchFamily="49" charset="-122"/>
              </a:rPr>
              <a:t>所以</a:t>
            </a:r>
            <a:r>
              <a:rPr lang="zh-CN" altLang="zh-CN" sz="2800" b="1" dirty="0">
                <a:solidFill>
                  <a:schemeClr val="accent1">
                    <a:lumMod val="75000"/>
                  </a:schemeClr>
                </a:solidFill>
                <a:latin typeface="楷体" panose="02010609060101010101" pitchFamily="49" charset="-122"/>
                <a:ea typeface="楷体" panose="02010609060101010101" pitchFamily="49" charset="-122"/>
              </a:rPr>
              <a:t>，外设不能像存储器芯片那样直接与处理器相连，</a:t>
            </a:r>
            <a:r>
              <a:rPr lang="zh-CN" altLang="zh-CN" sz="2800" b="1" dirty="0" smtClean="0">
                <a:solidFill>
                  <a:schemeClr val="accent1">
                    <a:lumMod val="75000"/>
                  </a:schemeClr>
                </a:solidFill>
                <a:latin typeface="楷体" panose="02010609060101010101" pitchFamily="49" charset="-122"/>
                <a:ea typeface="楷体" panose="02010609060101010101" pitchFamily="49" charset="-122"/>
              </a:rPr>
              <a:t>必须</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通过各自的专用接口电路与主机相连。</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endParaRPr>
          </a:p>
        </p:txBody>
      </p:sp>
    </p:spTree>
    <p:extLst>
      <p:ext uri="{BB962C8B-B14F-4D97-AF65-F5344CB8AC3E}">
        <p14:creationId xmlns:p14="http://schemas.microsoft.com/office/powerpoint/2010/main" val="3661479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764704"/>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9-2</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467544" y="1628800"/>
            <a:ext cx="8494715" cy="4248472"/>
          </a:xfrm>
          <a:prstGeom prst="rect">
            <a:avLst/>
          </a:prstGeom>
        </p:spPr>
        <p:txBody>
          <a:bodyPr/>
          <a:lstStyle/>
          <a:p>
            <a:pPr marL="182563" indent="447675">
              <a:lnSpc>
                <a:spcPct val="13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微处理器输入输出信号都是</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TTL</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电平，其总线属于</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3</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5V</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弱电压数字逻辑电路，而外设的种类繁多，有些属于机电设备，其工作电压信号的电压和控制电压往往在</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5</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220V</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，显然二者不能直接相连，必须经过电平转换，使</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CPU</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与外设的电压相匹配。否则，外设的较高的信号电压会击穿、损坏微处理器及其总线的电路和设备。</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endParaRPr>
          </a:p>
        </p:txBody>
      </p:sp>
    </p:spTree>
    <p:extLst>
      <p:ext uri="{BB962C8B-B14F-4D97-AF65-F5344CB8AC3E}">
        <p14:creationId xmlns:p14="http://schemas.microsoft.com/office/powerpoint/2010/main" val="566272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052" y="548680"/>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9-3</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363052" y="1340768"/>
            <a:ext cx="8494715" cy="2592288"/>
          </a:xfrm>
          <a:prstGeom prst="rect">
            <a:avLst/>
          </a:prstGeom>
        </p:spPr>
        <p:txBody>
          <a:bodyPr/>
          <a:lstStyle/>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在微机系统中，每个外设都被赋予响应的地址编码。因此，接口电路必须具有地址译码功能，以便</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CPU</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区分和识别不同的地址的端口，以选择和访问相应的外部设备。</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I/O</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编址有独立编址和统一编址两种方式。</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endParaRPr>
          </a:p>
        </p:txBody>
      </p:sp>
    </p:spTree>
    <p:extLst>
      <p:ext uri="{BB962C8B-B14F-4D97-AF65-F5344CB8AC3E}">
        <p14:creationId xmlns:p14="http://schemas.microsoft.com/office/powerpoint/2010/main" val="1669357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9-17</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323528" y="1556792"/>
            <a:ext cx="8494715" cy="4176464"/>
          </a:xfrm>
          <a:prstGeom prst="rect">
            <a:avLst/>
          </a:prstGeom>
        </p:spPr>
        <p:txBody>
          <a:bodyPr/>
          <a:lstStyle/>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计数与定时技术实质上是一样的，定时也是通过计数来实现的。微机系统中，常用可编程定时器</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计数器 </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8253</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芯片进行计数</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定时控制。例如，用于计数结束时发中断信号，用作单稳态触发器，用作分频脉冲产生器、方波脉冲发生器，产生选通脉冲等。</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例如，在</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IBM PC/XT </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机中，</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8253-5 </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是</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CPU</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外围支持电路之一，提供系统日历时钟中断，动态存储器刷新定时及喇叭发声音调控制等功能。</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endParaRPr>
          </a:p>
        </p:txBody>
      </p:sp>
    </p:spTree>
    <p:extLst>
      <p:ext uri="{BB962C8B-B14F-4D97-AF65-F5344CB8AC3E}">
        <p14:creationId xmlns:p14="http://schemas.microsoft.com/office/powerpoint/2010/main" val="1811634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476672"/>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9-18</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395536" y="1048176"/>
            <a:ext cx="8494715" cy="4896544"/>
          </a:xfrm>
          <a:prstGeom prst="rect">
            <a:avLst/>
          </a:prstGeom>
        </p:spPr>
        <p:txBody>
          <a:bodyPr/>
          <a:lstStyle/>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方式</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0</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计数结束时输出端变为高电平，利用此高电平信号可以向</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CPU</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发中断请求信号。</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方式</a:t>
            </a:r>
            <a:r>
              <a:rPr lang="en-US" altLang="zh-CN" sz="2800" b="1" dirty="0">
                <a:solidFill>
                  <a:schemeClr val="accent1">
                    <a:lumMod val="75000"/>
                  </a:schemeClr>
                </a:solidFill>
                <a:latin typeface="楷体" panose="02010609060101010101" pitchFamily="49" charset="-122"/>
                <a:ea typeface="楷体" panose="02010609060101010101" pitchFamily="49" charset="-122"/>
              </a:rPr>
              <a:t>1</a:t>
            </a:r>
            <a:r>
              <a:rPr lang="zh-CN" altLang="en-US" sz="2800" b="1" dirty="0">
                <a:solidFill>
                  <a:schemeClr val="accent1">
                    <a:lumMod val="75000"/>
                  </a:schemeClr>
                </a:solidFill>
                <a:latin typeface="楷体" panose="02010609060101010101" pitchFamily="49" charset="-122"/>
                <a:ea typeface="楷体" panose="02010609060101010101" pitchFamily="49" charset="-122"/>
              </a:rPr>
              <a:t>可以通过编程产生一个确定宽度的单稳脉冲，故称工作方式</a:t>
            </a:r>
            <a:r>
              <a:rPr lang="en-US" altLang="zh-CN" sz="2800" b="1" dirty="0">
                <a:solidFill>
                  <a:schemeClr val="accent1">
                    <a:lumMod val="75000"/>
                  </a:schemeClr>
                </a:solidFill>
                <a:latin typeface="楷体" panose="02010609060101010101" pitchFamily="49" charset="-122"/>
                <a:ea typeface="楷体" panose="02010609060101010101" pitchFamily="49" charset="-122"/>
              </a:rPr>
              <a:t>1</a:t>
            </a:r>
            <a:r>
              <a:rPr lang="zh-CN" altLang="en-US" sz="2800" b="1" dirty="0">
                <a:solidFill>
                  <a:schemeClr val="accent1">
                    <a:lumMod val="75000"/>
                  </a:schemeClr>
                </a:solidFill>
                <a:latin typeface="楷体" panose="02010609060101010101" pitchFamily="49" charset="-122"/>
                <a:ea typeface="楷体" panose="02010609060101010101" pitchFamily="49" charset="-122"/>
              </a:rPr>
              <a:t>为可编程单稳脉冲工作方式</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方式</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2</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在输出端输出</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n</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（计数初值）分频脉冲，可实现分频器。</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endParaRPr>
          </a:p>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方式</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3</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输出方波脉冲信号，为方波脉冲发生器。</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endParaRPr>
          </a:p>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方式</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4</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为软件触发选通脉冲方式。</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endParaRPr>
          </a:p>
          <a:p>
            <a:pPr marL="182563" indent="447675">
              <a:lnSpc>
                <a:spcPct val="110000"/>
              </a:lnSpc>
              <a:spcBef>
                <a:spcPct val="20000"/>
              </a:spcBef>
            </a:pP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方式</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5</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rPr>
              <a:t>为硬件触发选通脉冲方式。</a:t>
            </a:r>
            <a:endParaRPr lang="en-US" altLang="zh-CN" sz="2800" b="1" dirty="0" smtClean="0">
              <a:solidFill>
                <a:schemeClr val="accent1">
                  <a:lumMod val="75000"/>
                </a:schemeClr>
              </a:solidFill>
              <a:latin typeface="楷体" panose="02010609060101010101" pitchFamily="49" charset="-122"/>
              <a:ea typeface="楷体" panose="02010609060101010101" pitchFamily="49" charset="-122"/>
              <a:cs typeface="Times New Roman" pitchFamily="18" charset="0"/>
            </a:endParaRPr>
          </a:p>
        </p:txBody>
      </p:sp>
      <p:sp>
        <p:nvSpPr>
          <p:cNvPr id="5" name="标题 1"/>
          <p:cNvSpPr txBox="1">
            <a:spLocks/>
          </p:cNvSpPr>
          <p:nvPr/>
        </p:nvSpPr>
        <p:spPr>
          <a:xfrm>
            <a:off x="539552" y="5913537"/>
            <a:ext cx="6043626" cy="571504"/>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9-19 </a:t>
            </a:r>
            <a:r>
              <a:rPr lang="zh-CN" altLang="en-US"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参考答案。</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Tree>
    <p:extLst>
      <p:ext uri="{BB962C8B-B14F-4D97-AF65-F5344CB8AC3E}">
        <p14:creationId xmlns:p14="http://schemas.microsoft.com/office/powerpoint/2010/main" val="3639770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332656"/>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9-20</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395536" y="1048176"/>
            <a:ext cx="8494715" cy="4253032"/>
          </a:xfrm>
          <a:prstGeom prst="rect">
            <a:avLst/>
          </a:prstGeom>
        </p:spPr>
        <p:txBody>
          <a:bodyPr/>
          <a:lstStyle/>
          <a:p>
            <a:pPr marL="182563" indent="447675">
              <a:lnSpc>
                <a:spcPct val="110000"/>
              </a:lnSpc>
              <a:spcBef>
                <a:spcPct val="20000"/>
              </a:spcBef>
            </a:pPr>
            <a:r>
              <a:rPr lang="zh-CN" altLang="en-US" sz="2800" b="1" dirty="0">
                <a:solidFill>
                  <a:srgbClr val="4F81BD">
                    <a:lumMod val="75000"/>
                  </a:srgbClr>
                </a:solidFill>
                <a:latin typeface="楷体" panose="02010609060101010101" pitchFamily="49" charset="-122"/>
                <a:ea typeface="楷体" panose="02010609060101010101" pitchFamily="49" charset="-122"/>
              </a:rPr>
              <a:t>计数器写入控制字后，输出的</a:t>
            </a:r>
            <a:r>
              <a:rPr lang="en-US" altLang="zh-CN" sz="2800" b="1" dirty="0">
                <a:solidFill>
                  <a:srgbClr val="4F81BD">
                    <a:lumMod val="75000"/>
                  </a:srgbClr>
                </a:solidFill>
                <a:latin typeface="楷体" panose="02010609060101010101" pitchFamily="49" charset="-122"/>
                <a:ea typeface="楷体" panose="02010609060101010101" pitchFamily="49" charset="-122"/>
              </a:rPr>
              <a:t>OUT</a:t>
            </a:r>
            <a:r>
              <a:rPr lang="zh-CN" altLang="en-US" sz="2800" b="1" dirty="0">
                <a:solidFill>
                  <a:srgbClr val="4F81BD">
                    <a:lumMod val="75000"/>
                  </a:srgbClr>
                </a:solidFill>
                <a:latin typeface="楷体" panose="02010609060101010101" pitchFamily="49" charset="-122"/>
                <a:ea typeface="楷体" panose="02010609060101010101" pitchFamily="49" charset="-122"/>
              </a:rPr>
              <a:t>信号变为高电平。当由软件触发写入初始值</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n</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后</a:t>
            </a:r>
            <a:r>
              <a:rPr lang="zh-CN" altLang="en-US" sz="2800" b="1" dirty="0">
                <a:solidFill>
                  <a:srgbClr val="4F81BD">
                    <a:lumMod val="75000"/>
                  </a:srgbClr>
                </a:solidFill>
                <a:latin typeface="楷体" panose="02010609060101010101" pitchFamily="49" charset="-122"/>
                <a:ea typeface="楷体" panose="02010609060101010101" pitchFamily="49" charset="-122"/>
              </a:rPr>
              <a:t>，若</a:t>
            </a:r>
            <a:r>
              <a:rPr lang="en-US" altLang="zh-CN" sz="2800" b="1" dirty="0">
                <a:solidFill>
                  <a:srgbClr val="4F81BD">
                    <a:lumMod val="75000"/>
                  </a:srgbClr>
                </a:solidFill>
                <a:latin typeface="楷体" panose="02010609060101010101" pitchFamily="49" charset="-122"/>
                <a:ea typeface="楷体" panose="02010609060101010101" pitchFamily="49" charset="-122"/>
              </a:rPr>
              <a:t>GATE</a:t>
            </a:r>
            <a:r>
              <a:rPr lang="zh-CN" altLang="en-US" sz="2800" b="1" dirty="0">
                <a:solidFill>
                  <a:srgbClr val="4F81BD">
                    <a:lumMod val="75000"/>
                  </a:srgbClr>
                </a:solidFill>
                <a:latin typeface="楷体" panose="02010609060101010101" pitchFamily="49" charset="-122"/>
                <a:ea typeface="楷体" panose="02010609060101010101" pitchFamily="49" charset="-122"/>
              </a:rPr>
              <a:t>＝</a:t>
            </a:r>
            <a:r>
              <a:rPr lang="en-US" altLang="zh-CN" sz="2800" b="1" dirty="0">
                <a:solidFill>
                  <a:srgbClr val="4F81BD">
                    <a:lumMod val="75000"/>
                  </a:srgbClr>
                </a:solidFill>
                <a:latin typeface="楷体" panose="02010609060101010101" pitchFamily="49" charset="-122"/>
                <a:ea typeface="楷体" panose="02010609060101010101" pitchFamily="49" charset="-122"/>
              </a:rPr>
              <a:t>1</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，开始计数；否则不能计数。不能重复计数。</a:t>
            </a:r>
            <a:endParaRPr lang="en-US" altLang="zh-CN" sz="2800" b="1" dirty="0" smtClean="0">
              <a:solidFill>
                <a:srgbClr val="4F81BD">
                  <a:lumMod val="75000"/>
                </a:srgb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en-US" sz="2800" b="1" dirty="0" smtClean="0">
                <a:solidFill>
                  <a:srgbClr val="4F81BD">
                    <a:lumMod val="75000"/>
                  </a:srgbClr>
                </a:solidFill>
                <a:latin typeface="楷体" panose="02010609060101010101" pitchFamily="49" charset="-122"/>
                <a:ea typeface="楷体" panose="02010609060101010101" pitchFamily="49" charset="-122"/>
                <a:cs typeface="Times New Roman" pitchFamily="18" charset="0"/>
              </a:rPr>
              <a:t>方式</a:t>
            </a:r>
            <a:r>
              <a:rPr lang="en-US" altLang="zh-CN"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5</a:t>
            </a:r>
            <a:r>
              <a:rPr lang="zh-CN" altLang="en-US"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类似于方式</a:t>
            </a:r>
            <a:r>
              <a:rPr lang="en-US" altLang="zh-CN"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4</a:t>
            </a:r>
            <a:r>
              <a:rPr lang="zh-CN" altLang="en-US"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，所不同的是计数启动方式不同，</a:t>
            </a:r>
            <a:r>
              <a:rPr lang="zh-CN" altLang="en-US" sz="2800" b="1" dirty="0" smtClean="0">
                <a:solidFill>
                  <a:srgbClr val="4F81BD">
                    <a:lumMod val="75000"/>
                  </a:srgbClr>
                </a:solidFill>
                <a:latin typeface="楷体" panose="02010609060101010101" pitchFamily="49" charset="-122"/>
                <a:ea typeface="楷体" panose="02010609060101010101" pitchFamily="49" charset="-122"/>
                <a:cs typeface="Times New Roman" pitchFamily="18" charset="0"/>
              </a:rPr>
              <a:t>由 </a:t>
            </a:r>
            <a:r>
              <a:rPr lang="en-US" altLang="zh-CN" sz="2800" b="1" dirty="0" smtClean="0">
                <a:solidFill>
                  <a:srgbClr val="4F81BD">
                    <a:lumMod val="75000"/>
                  </a:srgbClr>
                </a:solidFill>
                <a:latin typeface="楷体" panose="02010609060101010101" pitchFamily="49" charset="-122"/>
                <a:ea typeface="楷体" panose="02010609060101010101" pitchFamily="49" charset="-122"/>
                <a:cs typeface="Times New Roman" pitchFamily="18" charset="0"/>
              </a:rPr>
              <a:t>GATE</a:t>
            </a:r>
            <a:r>
              <a:rPr lang="zh-CN" altLang="en-US"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输入触发脉冲</a:t>
            </a:r>
            <a:r>
              <a:rPr lang="zh-CN" altLang="en-US" sz="2800" b="1" dirty="0" smtClean="0">
                <a:solidFill>
                  <a:srgbClr val="4F81BD">
                    <a:lumMod val="75000"/>
                  </a:srgbClr>
                </a:solidFill>
                <a:latin typeface="楷体" panose="02010609060101010101" pitchFamily="49" charset="-122"/>
                <a:ea typeface="楷体" panose="02010609060101010101" pitchFamily="49" charset="-122"/>
                <a:cs typeface="Times New Roman" pitchFamily="18" charset="0"/>
              </a:rPr>
              <a:t>，由其</a:t>
            </a:r>
            <a:r>
              <a:rPr lang="zh-CN" altLang="en-US"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上升沿开始计数。计数器可重新触发。在任何时刻，当</a:t>
            </a:r>
            <a:r>
              <a:rPr lang="en-US" altLang="zh-CN"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GATE</a:t>
            </a:r>
            <a:r>
              <a:rPr lang="zh-CN" altLang="en-US"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触发脉冲上升沿到来时，</a:t>
            </a:r>
            <a:r>
              <a:rPr lang="zh-CN" altLang="en-US" sz="2800" b="1" dirty="0" smtClean="0">
                <a:solidFill>
                  <a:srgbClr val="4F81BD">
                    <a:lumMod val="75000"/>
                  </a:srgbClr>
                </a:solidFill>
                <a:latin typeface="楷体" panose="02010609060101010101" pitchFamily="49" charset="-122"/>
                <a:ea typeface="楷体" panose="02010609060101010101" pitchFamily="49" charset="-122"/>
                <a:cs typeface="Times New Roman" pitchFamily="18" charset="0"/>
              </a:rPr>
              <a:t>将把</a:t>
            </a:r>
            <a:r>
              <a:rPr lang="zh-CN" altLang="en-US"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计数初值重新</a:t>
            </a:r>
            <a:r>
              <a:rPr lang="zh-CN" altLang="en-US" sz="2800" b="1" dirty="0" smtClean="0">
                <a:solidFill>
                  <a:srgbClr val="4F81BD">
                    <a:lumMod val="75000"/>
                  </a:srgbClr>
                </a:solidFill>
                <a:latin typeface="楷体" panose="02010609060101010101" pitchFamily="49" charset="-122"/>
                <a:ea typeface="楷体" panose="02010609060101010101" pitchFamily="49" charset="-122"/>
                <a:cs typeface="Times New Roman" pitchFamily="18" charset="0"/>
              </a:rPr>
              <a:t>送入</a:t>
            </a:r>
            <a:r>
              <a:rPr lang="zh-CN" altLang="en-US"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计数器，然后</a:t>
            </a:r>
            <a:r>
              <a:rPr lang="zh-CN" altLang="en-US" sz="2800" b="1" dirty="0" smtClean="0">
                <a:solidFill>
                  <a:srgbClr val="4F81BD">
                    <a:lumMod val="75000"/>
                  </a:srgbClr>
                </a:solidFill>
                <a:latin typeface="楷体" panose="02010609060101010101" pitchFamily="49" charset="-122"/>
                <a:ea typeface="楷体" panose="02010609060101010101" pitchFamily="49" charset="-122"/>
                <a:cs typeface="Times New Roman" pitchFamily="18" charset="0"/>
              </a:rPr>
              <a:t>开始</a:t>
            </a:r>
            <a:r>
              <a:rPr lang="zh-CN" altLang="en-US" sz="2800" b="1" dirty="0">
                <a:solidFill>
                  <a:srgbClr val="4F81BD">
                    <a:lumMod val="75000"/>
                  </a:srgbClr>
                </a:solidFill>
                <a:latin typeface="楷体" panose="02010609060101010101" pitchFamily="49" charset="-122"/>
                <a:ea typeface="楷体" panose="02010609060101010101" pitchFamily="49" charset="-122"/>
                <a:cs typeface="Times New Roman" pitchFamily="18" charset="0"/>
              </a:rPr>
              <a:t>计数过程。</a:t>
            </a:r>
          </a:p>
          <a:p>
            <a:pPr marL="182563" indent="447675">
              <a:lnSpc>
                <a:spcPct val="110000"/>
              </a:lnSpc>
              <a:spcBef>
                <a:spcPct val="20000"/>
              </a:spcBef>
            </a:pPr>
            <a:endParaRPr lang="en-US" altLang="zh-CN" sz="2800" b="1" dirty="0" smtClean="0">
              <a:solidFill>
                <a:srgbClr val="4F81BD">
                  <a:lumMod val="75000"/>
                </a:srgbClr>
              </a:solidFill>
              <a:latin typeface="楷体" panose="02010609060101010101" pitchFamily="49" charset="-122"/>
              <a:ea typeface="楷体" panose="02010609060101010101" pitchFamily="49" charset="-122"/>
              <a:cs typeface="Times New Roman" pitchFamily="18" charset="0"/>
            </a:endParaRPr>
          </a:p>
        </p:txBody>
      </p:sp>
      <p:sp>
        <p:nvSpPr>
          <p:cNvPr id="5" name="标题 1"/>
          <p:cNvSpPr txBox="1">
            <a:spLocks/>
          </p:cNvSpPr>
          <p:nvPr/>
        </p:nvSpPr>
        <p:spPr>
          <a:xfrm>
            <a:off x="683568" y="5301208"/>
            <a:ext cx="6043626" cy="571504"/>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9-21   </a:t>
            </a:r>
            <a:r>
              <a:rPr lang="zh-CN" altLang="en-US"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参考答案</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Tree>
    <p:extLst>
      <p:ext uri="{BB962C8B-B14F-4D97-AF65-F5344CB8AC3E}">
        <p14:creationId xmlns:p14="http://schemas.microsoft.com/office/powerpoint/2010/main" val="623434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9-22</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323528" y="1556792"/>
            <a:ext cx="8494715" cy="2664296"/>
          </a:xfrm>
          <a:prstGeom prst="rect">
            <a:avLst/>
          </a:prstGeom>
        </p:spPr>
        <p:txBody>
          <a:bodyPr/>
          <a:lstStyle/>
          <a:p>
            <a:pPr marL="182563" indent="447675">
              <a:lnSpc>
                <a:spcPct val="110000"/>
              </a:lnSpc>
              <a:spcBef>
                <a:spcPct val="20000"/>
              </a:spcBef>
            </a:pPr>
            <a:r>
              <a:rPr lang="zh-CN" altLang="en-US" sz="2800" b="1" dirty="0">
                <a:solidFill>
                  <a:schemeClr val="accent1">
                    <a:lumMod val="75000"/>
                  </a:schemeClr>
                </a:solidFill>
                <a:latin typeface="楷体" panose="02010609060101010101" pitchFamily="49" charset="-122"/>
                <a:ea typeface="楷体" panose="02010609060101010101" pitchFamily="49" charset="-122"/>
              </a:rPr>
              <a:t>当计数值为偶数时，输出的</a:t>
            </a:r>
            <a:r>
              <a:rPr lang="en-US" altLang="zh-CN" sz="2800" b="1" dirty="0">
                <a:solidFill>
                  <a:schemeClr val="accent1">
                    <a:lumMod val="75000"/>
                  </a:schemeClr>
                </a:solidFill>
                <a:latin typeface="楷体" panose="02010609060101010101" pitchFamily="49" charset="-122"/>
                <a:ea typeface="楷体" panose="02010609060101010101" pitchFamily="49" charset="-122"/>
              </a:rPr>
              <a:t>n</a:t>
            </a:r>
            <a:r>
              <a:rPr lang="zh-CN" altLang="en-US" sz="2800" b="1" dirty="0">
                <a:solidFill>
                  <a:schemeClr val="accent1">
                    <a:lumMod val="75000"/>
                  </a:schemeClr>
                </a:solidFill>
                <a:latin typeface="楷体" panose="02010609060101010101" pitchFamily="49" charset="-122"/>
                <a:ea typeface="楷体" panose="02010609060101010101" pitchFamily="49" charset="-122"/>
              </a:rPr>
              <a:t>分频波为方波；当计数值为奇数时，输出的分频波的高电平宽度为</a:t>
            </a:r>
            <a:r>
              <a:rPr lang="en-US" altLang="zh-CN" sz="2800" b="1" dirty="0">
                <a:solidFill>
                  <a:schemeClr val="accent1">
                    <a:lumMod val="75000"/>
                  </a:schemeClr>
                </a:solidFill>
                <a:latin typeface="楷体" panose="02010609060101010101" pitchFamily="49" charset="-122"/>
                <a:ea typeface="楷体" panose="02010609060101010101" pitchFamily="49" charset="-122"/>
              </a:rPr>
              <a:t>(n+1)/2</a:t>
            </a:r>
            <a:r>
              <a:rPr lang="zh-CN" altLang="en-US" sz="2800" b="1" dirty="0">
                <a:solidFill>
                  <a:schemeClr val="accent1">
                    <a:lumMod val="75000"/>
                  </a:schemeClr>
                </a:solidFill>
                <a:latin typeface="楷体" panose="02010609060101010101" pitchFamily="49" charset="-122"/>
                <a:ea typeface="楷体" panose="02010609060101010101" pitchFamily="49" charset="-122"/>
              </a:rPr>
              <a:t>计数脉冲周期，低电平宽度为</a:t>
            </a:r>
            <a:r>
              <a:rPr lang="en-US" altLang="zh-CN" sz="2800" b="1" dirty="0">
                <a:solidFill>
                  <a:schemeClr val="accent1">
                    <a:lumMod val="75000"/>
                  </a:schemeClr>
                </a:solidFill>
                <a:latin typeface="楷体" panose="02010609060101010101" pitchFamily="49" charset="-122"/>
                <a:ea typeface="楷体" panose="02010609060101010101" pitchFamily="49" charset="-122"/>
              </a:rPr>
              <a:t>(n-1)/2 </a:t>
            </a:r>
            <a:r>
              <a:rPr lang="zh-CN" altLang="en-US" sz="2800" b="1" dirty="0">
                <a:solidFill>
                  <a:schemeClr val="accent1">
                    <a:lumMod val="75000"/>
                  </a:schemeClr>
                </a:solidFill>
                <a:latin typeface="楷体" panose="02010609060101010101" pitchFamily="49" charset="-122"/>
                <a:ea typeface="楷体" panose="02010609060101010101" pitchFamily="49" charset="-122"/>
              </a:rPr>
              <a:t>计数脉冲周期。</a:t>
            </a:r>
          </a:p>
        </p:txBody>
      </p:sp>
    </p:spTree>
    <p:extLst>
      <p:ext uri="{BB962C8B-B14F-4D97-AF65-F5344CB8AC3E}">
        <p14:creationId xmlns:p14="http://schemas.microsoft.com/office/powerpoint/2010/main" val="118755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52"/>
            <a:ext cx="8229600" cy="1143000"/>
          </a:xfrm>
        </p:spPr>
        <p:txBody>
          <a:bodyPr vert="horz" lIns="91440" tIns="45720" rIns="91440" bIns="45720" rtlCol="0" anchor="ctr">
            <a:normAutofit/>
          </a:bodyPr>
          <a:lstStyle/>
          <a:p>
            <a:pPr algn="l"/>
            <a:r>
              <a:rPr lang="en-US" altLang="zh-CN"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9-23</a:t>
            </a:r>
            <a:endParaRPr lang="zh-CN" altLang="en-US"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 name="Rectangle 3"/>
          <p:cNvSpPr txBox="1">
            <a:spLocks noChangeArrowheads="1"/>
          </p:cNvSpPr>
          <p:nvPr/>
        </p:nvSpPr>
        <p:spPr>
          <a:xfrm>
            <a:off x="714348" y="1285860"/>
            <a:ext cx="8066087" cy="5143536"/>
          </a:xfrm>
          <a:prstGeom prst="rect">
            <a:avLst/>
          </a:prstGeom>
        </p:spPr>
        <p:txBody>
          <a:bodyPr/>
          <a:lstStyle/>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1</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MOV AL,00100110B</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DX,223H</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dirty="0" smtClean="0">
                <a:latin typeface="Times New Roman" pitchFamily="18" charset="0"/>
                <a:cs typeface="Times New Roman" pitchFamily="18" charset="0"/>
              </a:rPr>
              <a:t>		OUT DX,AL</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AL,00H</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kumimoji="0" lang="en-US" altLang="zh-CN" sz="28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MOV</a:t>
            </a:r>
            <a:r>
              <a:rPr kumimoji="0" lang="en-US" altLang="zh-CN" sz="2800" b="1"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DX,220H</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baseline="0" dirty="0">
                <a:latin typeface="Times New Roman" pitchFamily="18" charset="0"/>
                <a:cs typeface="Times New Roman" pitchFamily="18" charset="0"/>
              </a:rPr>
              <a:t>	</a:t>
            </a:r>
            <a:r>
              <a:rPr lang="en-US" altLang="zh-CN" sz="2800" b="1" baseline="0" dirty="0" smtClean="0">
                <a:latin typeface="Times New Roman" pitchFamily="18" charset="0"/>
                <a:cs typeface="Times New Roman" pitchFamily="18" charset="0"/>
              </a:rPr>
              <a:t>	OUT</a:t>
            </a:r>
            <a:r>
              <a:rPr lang="en-US" altLang="zh-CN" sz="2800" b="1" dirty="0" smtClean="0">
                <a:latin typeface="Times New Roman" pitchFamily="18" charset="0"/>
                <a:cs typeface="Times New Roman" pitchFamily="18" charset="0"/>
              </a:rPr>
              <a:t> DX,AL</a:t>
            </a:r>
          </a:p>
          <a:p>
            <a:pPr marL="182563" marR="0" lvl="0" indent="447675" algn="l" defTabSz="914400" rtl="0" eaLnBrk="1" fontAlgn="auto" latinLnBrk="0" hangingPunct="1">
              <a:lnSpc>
                <a:spcPct val="130000"/>
              </a:lnSpc>
              <a:spcBef>
                <a:spcPct val="20000"/>
              </a:spcBef>
              <a:spcAft>
                <a:spcPts val="0"/>
              </a:spcAft>
              <a:buClr>
                <a:schemeClr val="tx1"/>
              </a:buClr>
              <a:buSzPct val="111000"/>
              <a:buFont typeface="Wingdings" pitchFamily="2" charset="2"/>
              <a:buChar char="Ø"/>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端口寻址方式：何时采用直接寻址和间接寻址？</a:t>
            </a:r>
            <a:endPar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endParaRPr>
          </a:p>
          <a:p>
            <a:pPr marL="182563" marR="0" lvl="0" indent="447675" algn="l" defTabSz="914400" rtl="0" eaLnBrk="1" fontAlgn="auto" latinLnBrk="0" hangingPunct="1">
              <a:lnSpc>
                <a:spcPct val="130000"/>
              </a:lnSpc>
              <a:spcBef>
                <a:spcPct val="20000"/>
              </a:spcBef>
              <a:spcAft>
                <a:spcPts val="0"/>
              </a:spcAft>
              <a:buClr>
                <a:schemeClr val="tx1"/>
              </a:buClr>
              <a:buSzPct val="111000"/>
              <a:buFont typeface="Wingdings" pitchFamily="2" charset="2"/>
              <a:buChar char="Ø"/>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计数初值为</a:t>
            </a:r>
            <a:r>
              <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00H</a:t>
            </a: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a:t>
            </a: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285720" y="214290"/>
            <a:ext cx="8423277" cy="6429396"/>
          </a:xfrm>
          <a:prstGeom prst="rect">
            <a:avLst/>
          </a:prstGeom>
        </p:spPr>
        <p:txBody>
          <a:bodyPr/>
          <a:lstStyle/>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2</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MOV AL,01110101B</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DX,223H</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dirty="0" smtClean="0">
                <a:latin typeface="Times New Roman" pitchFamily="18" charset="0"/>
                <a:cs typeface="Times New Roman" pitchFamily="18" charset="0"/>
              </a:rPr>
              <a:t>		OUT DX,AL</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AL,00H</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kumimoji="0" lang="en-US" altLang="zh-CN" sz="28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MOV</a:t>
            </a:r>
            <a:r>
              <a:rPr kumimoji="0" lang="en-US" altLang="zh-CN" sz="2800" b="1"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DX,221H</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baseline="0" dirty="0">
                <a:latin typeface="Times New Roman" pitchFamily="18" charset="0"/>
                <a:cs typeface="Times New Roman" pitchFamily="18" charset="0"/>
              </a:rPr>
              <a:t>	</a:t>
            </a:r>
            <a:r>
              <a:rPr lang="en-US" altLang="zh-CN" sz="2800" b="1" baseline="0" dirty="0" smtClean="0">
                <a:latin typeface="Times New Roman" pitchFamily="18" charset="0"/>
                <a:cs typeface="Times New Roman" pitchFamily="18" charset="0"/>
              </a:rPr>
              <a:t>	OUT</a:t>
            </a:r>
            <a:r>
              <a:rPr lang="en-US" altLang="zh-CN" sz="2800" b="1" dirty="0" smtClean="0">
                <a:latin typeface="Times New Roman" pitchFamily="18" charset="0"/>
                <a:cs typeface="Times New Roman" pitchFamily="18" charset="0"/>
              </a:rPr>
              <a:t> DX,AL</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AL,10H</a:t>
            </a: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OUT DX,AL</a:t>
            </a:r>
          </a:p>
          <a:p>
            <a:pPr marL="182563" marR="0" lvl="0" indent="447675" algn="l" defTabSz="914400" rtl="0" eaLnBrk="1" fontAlgn="auto" latinLnBrk="0" hangingPunct="1">
              <a:lnSpc>
                <a:spcPct val="130000"/>
              </a:lnSpc>
              <a:spcBef>
                <a:spcPct val="20000"/>
              </a:spcBef>
              <a:spcAft>
                <a:spcPts val="0"/>
              </a:spcAft>
              <a:buClr>
                <a:schemeClr val="tx1"/>
              </a:buClr>
              <a:buSzPct val="111000"/>
              <a:buFont typeface="Wingdings" pitchFamily="2" charset="2"/>
              <a:buChar char="Ø"/>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端口寻址方式：何时采用直接寻址和间接寻址？</a:t>
            </a:r>
            <a:endPar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endParaRPr>
          </a:p>
          <a:p>
            <a:pPr marL="182563" marR="0" lvl="0" indent="447675" algn="l" defTabSz="914400" rtl="0" eaLnBrk="1" fontAlgn="auto" latinLnBrk="0" hangingPunct="1">
              <a:lnSpc>
                <a:spcPct val="130000"/>
              </a:lnSpc>
              <a:spcBef>
                <a:spcPct val="20000"/>
              </a:spcBef>
              <a:spcAft>
                <a:spcPts val="0"/>
              </a:spcAft>
              <a:buClr>
                <a:schemeClr val="tx1"/>
              </a:buClr>
              <a:buSzPct val="111000"/>
              <a:buFont typeface="Wingdings" pitchFamily="2" charset="2"/>
              <a:buChar char="Ø"/>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计数初值为</a:t>
            </a:r>
            <a:r>
              <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1000BCD</a:t>
            </a: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a:t>
            </a:r>
            <a:endPar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endParaRPr>
          </a:p>
          <a:p>
            <a:pPr marL="182563" marR="0" lvl="0" indent="447675" algn="l" defTabSz="914400" rtl="0" eaLnBrk="1" fontAlgn="auto" latinLnBrk="0" hangingPunct="1">
              <a:lnSpc>
                <a:spcPct val="130000"/>
              </a:lnSpc>
              <a:spcBef>
                <a:spcPct val="20000"/>
              </a:spcBef>
              <a:spcAft>
                <a:spcPts val="0"/>
              </a:spcAft>
              <a:buClrTx/>
              <a:buSzTx/>
              <a:buFont typeface="Arial" pitchFamily="34" charset="0"/>
              <a:buNone/>
              <a:tabLst/>
              <a:defRPr/>
            </a:pP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52"/>
            <a:ext cx="8229600" cy="571504"/>
          </a:xfrm>
        </p:spPr>
        <p:txBody>
          <a:bodyPr vert="horz" lIns="91440" tIns="45720" rIns="91440" bIns="45720" rtlCol="0" anchor="ctr">
            <a:normAutofit fontScale="90000"/>
          </a:bodyPr>
          <a:lstStyle/>
          <a:p>
            <a:pPr algn="l"/>
            <a:r>
              <a:rPr lang="en-US" altLang="zh-CN"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9-24</a:t>
            </a:r>
            <a:endParaRPr lang="zh-CN" altLang="en-US"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 name="Rectangle 3"/>
          <p:cNvSpPr txBox="1">
            <a:spLocks noChangeArrowheads="1"/>
          </p:cNvSpPr>
          <p:nvPr/>
        </p:nvSpPr>
        <p:spPr>
          <a:xfrm>
            <a:off x="285720" y="714356"/>
            <a:ext cx="8494715" cy="5643602"/>
          </a:xfrm>
          <a:prstGeom prst="rect">
            <a:avLst/>
          </a:prstGeom>
        </p:spPr>
        <p:txBody>
          <a:bodyPr/>
          <a:lstStyle/>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MOV AL,36H;</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计数器</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0</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，方式</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3</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，分频</a:t>
            </a:r>
            <a:endPar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DX,343H</a:t>
            </a: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smtClean="0">
                <a:latin typeface="Times New Roman" pitchFamily="18" charset="0"/>
                <a:cs typeface="Times New Roman" pitchFamily="18" charset="0"/>
              </a:rPr>
              <a:t>		OUT DX,AL</a:t>
            </a: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MOV AL,10H</a:t>
            </a:r>
            <a:r>
              <a:rPr lang="zh-CN" altLang="en-US" sz="2800" b="1" dirty="0" smtClean="0">
                <a:latin typeface="Times New Roman" pitchFamily="18" charset="0"/>
                <a:cs typeface="Times New Roman" pitchFamily="18" charset="0"/>
              </a:rPr>
              <a:t>；</a:t>
            </a:r>
            <a:r>
              <a:rPr lang="en-US" altLang="zh-CN" sz="2800" b="1" dirty="0" smtClean="0">
                <a:latin typeface="Times New Roman" pitchFamily="18" charset="0"/>
                <a:cs typeface="Times New Roman" pitchFamily="18" charset="0"/>
              </a:rPr>
              <a:t>10</a:t>
            </a:r>
            <a:r>
              <a:rPr lang="en-US" altLang="zh-CN" sz="2800" b="1" baseline="30000" dirty="0" smtClean="0">
                <a:latin typeface="Times New Roman" pitchFamily="18" charset="0"/>
                <a:cs typeface="Times New Roman" pitchFamily="18" charset="0"/>
              </a:rPr>
              <a:t>4</a:t>
            </a:r>
            <a:r>
              <a:rPr lang="zh-CN" altLang="en-US" sz="2800" b="1" dirty="0" smtClean="0">
                <a:latin typeface="Times New Roman" pitchFamily="18" charset="0"/>
                <a:cs typeface="Times New Roman" pitchFamily="18" charset="0"/>
              </a:rPr>
              <a:t>分频</a:t>
            </a:r>
            <a:r>
              <a:rPr lang="en-US" altLang="zh-CN" sz="2800" b="1" dirty="0" smtClean="0">
                <a:latin typeface="Times New Roman" pitchFamily="18" charset="0"/>
                <a:cs typeface="Times New Roman" pitchFamily="18" charset="0"/>
              </a:rPr>
              <a:t>,1s</a:t>
            </a:r>
            <a:r>
              <a:rPr lang="zh-CN" altLang="en-US" sz="2800" b="1" dirty="0" smtClean="0">
                <a:latin typeface="Times New Roman" pitchFamily="18" charset="0"/>
                <a:cs typeface="Times New Roman" pitchFamily="18" charset="0"/>
              </a:rPr>
              <a:t>输出</a:t>
            </a:r>
            <a:r>
              <a:rPr lang="en-US" altLang="zh-CN" sz="2800" b="1" dirty="0" smtClean="0">
                <a:latin typeface="Times New Roman" pitchFamily="18" charset="0"/>
                <a:cs typeface="Times New Roman" pitchFamily="18" charset="0"/>
              </a:rPr>
              <a:t>100</a:t>
            </a:r>
            <a:r>
              <a:rPr lang="zh-CN" altLang="en-US" sz="2800" b="1" dirty="0" smtClean="0">
                <a:latin typeface="Times New Roman" pitchFamily="18" charset="0"/>
                <a:cs typeface="Times New Roman" pitchFamily="18" charset="0"/>
              </a:rPr>
              <a:t>个脉冲</a:t>
            </a:r>
            <a:endParaRPr lang="en-US" altLang="zh-CN" sz="2800" b="1" dirty="0" smtClean="0">
              <a:latin typeface="Times New Roman" pitchFamily="18" charset="0"/>
              <a:cs typeface="Times New Roman" pitchFamily="18" charset="0"/>
            </a:endParaRP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kumimoji="0" lang="en-US" altLang="zh-CN" sz="28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MOV</a:t>
            </a:r>
            <a:r>
              <a:rPr kumimoji="0" lang="en-US" altLang="zh-CN" sz="2800" b="1"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DX,340H</a:t>
            </a:r>
          </a:p>
          <a:p>
            <a:pPr marL="182563" lvl="0" indent="447675">
              <a:lnSpc>
                <a:spcPct val="110000"/>
              </a:lnSpc>
              <a:spcBef>
                <a:spcPct val="20000"/>
              </a:spcBef>
            </a:pPr>
            <a:r>
              <a:rPr lang="en-US" altLang="zh-CN" sz="2800" b="1" baseline="0" dirty="0">
                <a:latin typeface="Times New Roman" pitchFamily="18" charset="0"/>
                <a:cs typeface="Times New Roman" pitchFamily="18" charset="0"/>
              </a:rPr>
              <a:t>	</a:t>
            </a:r>
            <a:r>
              <a:rPr lang="en-US" altLang="zh-CN" sz="2800" b="1" baseline="0" dirty="0" smtClean="0">
                <a:latin typeface="Times New Roman" pitchFamily="18" charset="0"/>
                <a:cs typeface="Times New Roman" pitchFamily="18" charset="0"/>
              </a:rPr>
              <a:t>	OUT</a:t>
            </a:r>
            <a:r>
              <a:rPr lang="en-US" altLang="zh-CN" sz="2800" b="1" dirty="0" smtClean="0">
                <a:latin typeface="Times New Roman" pitchFamily="18" charset="0"/>
                <a:cs typeface="Times New Roman" pitchFamily="18" charset="0"/>
              </a:rPr>
              <a:t> DX,AL;</a:t>
            </a:r>
            <a:r>
              <a:rPr lang="zh-CN" altLang="en-US" sz="2800" b="1" dirty="0" smtClean="0">
                <a:latin typeface="Times New Roman" pitchFamily="18" charset="0"/>
                <a:cs typeface="Times New Roman" pitchFamily="18" charset="0"/>
              </a:rPr>
              <a:t>低</a:t>
            </a:r>
            <a:r>
              <a:rPr lang="en-US" altLang="zh-CN" sz="2800" b="1" dirty="0" smtClean="0">
                <a:latin typeface="Times New Roman" pitchFamily="18" charset="0"/>
                <a:cs typeface="Times New Roman" pitchFamily="18" charset="0"/>
              </a:rPr>
              <a:t>8</a:t>
            </a:r>
            <a:r>
              <a:rPr lang="zh-CN" altLang="en-US" sz="2800" b="1" dirty="0" smtClean="0">
                <a:latin typeface="Times New Roman" pitchFamily="18" charset="0"/>
                <a:cs typeface="Times New Roman" pitchFamily="18" charset="0"/>
              </a:rPr>
              <a:t>位，</a:t>
            </a:r>
            <a:r>
              <a:rPr lang="en-US" altLang="zh-CN" sz="2800" b="1" dirty="0" smtClean="0">
                <a:latin typeface="Times New Roman" pitchFamily="18" charset="0"/>
                <a:cs typeface="Times New Roman" pitchFamily="18" charset="0"/>
              </a:rPr>
              <a:t> 10</a:t>
            </a:r>
            <a:r>
              <a:rPr lang="en-US" altLang="zh-CN" sz="2800" b="1" baseline="30000" dirty="0" smtClean="0">
                <a:latin typeface="Times New Roman" pitchFamily="18" charset="0"/>
                <a:cs typeface="Times New Roman" pitchFamily="18" charset="0"/>
              </a:rPr>
              <a:t>4 </a:t>
            </a:r>
            <a:r>
              <a:rPr lang="en-US" altLang="zh-CN" sz="2800" b="1" dirty="0" smtClean="0">
                <a:latin typeface="Times New Roman" pitchFamily="18" charset="0"/>
                <a:cs typeface="Times New Roman" pitchFamily="18" charset="0"/>
              </a:rPr>
              <a:t>=2710H</a:t>
            </a: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AL,27H</a:t>
            </a: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OUT DX,AL</a:t>
            </a:r>
            <a:r>
              <a:rPr lang="zh-CN" altLang="en-US" sz="2800" b="1" dirty="0" smtClean="0">
                <a:latin typeface="Times New Roman" pitchFamily="18" charset="0"/>
                <a:cs typeface="Times New Roman" pitchFamily="18" charset="0"/>
              </a:rPr>
              <a:t>；高</a:t>
            </a:r>
            <a:r>
              <a:rPr lang="en-US" altLang="zh-CN" sz="2800" b="1" dirty="0" smtClean="0">
                <a:latin typeface="Times New Roman" pitchFamily="18" charset="0"/>
                <a:cs typeface="Times New Roman" pitchFamily="18" charset="0"/>
              </a:rPr>
              <a:t>8</a:t>
            </a:r>
            <a:r>
              <a:rPr lang="zh-CN" altLang="en-US" sz="2800" b="1" dirty="0" smtClean="0">
                <a:latin typeface="Times New Roman" pitchFamily="18" charset="0"/>
                <a:cs typeface="Times New Roman" pitchFamily="18" charset="0"/>
              </a:rPr>
              <a:t>位</a:t>
            </a:r>
            <a:endParaRPr lang="en-US" altLang="zh-CN" sz="2800" b="1" dirty="0" smtClean="0">
              <a:latin typeface="Times New Roman" pitchFamily="18" charset="0"/>
              <a:cs typeface="Times New Roman" pitchFamily="18" charset="0"/>
            </a:endParaRPr>
          </a:p>
          <a:p>
            <a:pPr marL="182563" marR="0" lvl="0" indent="447675" algn="l" defTabSz="914400" rtl="0" eaLnBrk="1" fontAlgn="auto" latinLnBrk="0" hangingPunct="1">
              <a:lnSpc>
                <a:spcPct val="110000"/>
              </a:lnSpc>
              <a:spcBef>
                <a:spcPct val="20000"/>
              </a:spcBef>
              <a:spcAft>
                <a:spcPts val="0"/>
              </a:spcAft>
              <a:buClr>
                <a:schemeClr val="tx1"/>
              </a:buClr>
              <a:buSzPct val="111000"/>
              <a:buFont typeface="Wingdings" pitchFamily="2" charset="2"/>
              <a:buChar char="Ø"/>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端口寻址方式：何时采用直接寻址和间接寻址？</a:t>
            </a:r>
            <a:endPar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endParaRPr>
          </a:p>
          <a:p>
            <a:pPr marL="182563" marR="0" lvl="0" indent="447675" algn="l" defTabSz="914400" rtl="0" eaLnBrk="1" fontAlgn="auto" latinLnBrk="0" hangingPunct="1">
              <a:lnSpc>
                <a:spcPct val="110000"/>
              </a:lnSpc>
              <a:spcBef>
                <a:spcPct val="20000"/>
              </a:spcBef>
              <a:spcAft>
                <a:spcPts val="0"/>
              </a:spcAft>
              <a:buClr>
                <a:schemeClr val="tx1"/>
              </a:buClr>
              <a:buSzPct val="111000"/>
              <a:buFont typeface="Wingdings" pitchFamily="2" charset="2"/>
              <a:buChar char="Ø"/>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计数初值为</a:t>
            </a:r>
            <a:r>
              <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2710H</a:t>
            </a: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a:t>
            </a: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285720" y="714356"/>
            <a:ext cx="8494715" cy="5643602"/>
          </a:xfrm>
          <a:prstGeom prst="rect">
            <a:avLst/>
          </a:prstGeom>
        </p:spPr>
        <p:txBody>
          <a:bodyPr/>
          <a:lstStyle/>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MOV AL,52H;</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计数器</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1,</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方式</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1</a:t>
            </a:r>
            <a:r>
              <a:rPr kumimoji="0" lang="zh-CN" alt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，计</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100</a:t>
            </a:r>
            <a:r>
              <a:rPr lang="zh-CN" altLang="en-US" sz="2800" b="1" dirty="0" smtClean="0">
                <a:latin typeface="Times New Roman" pitchFamily="18" charset="0"/>
                <a:cs typeface="Times New Roman" pitchFamily="18" charset="0"/>
              </a:rPr>
              <a:t>个数中断</a:t>
            </a:r>
            <a:endPar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DX,343H</a:t>
            </a: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smtClean="0">
                <a:latin typeface="Times New Roman" pitchFamily="18" charset="0"/>
                <a:cs typeface="Times New Roman" pitchFamily="18" charset="0"/>
              </a:rPr>
              <a:t>		OUT DX,AL</a:t>
            </a: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MOV AL,64H</a:t>
            </a:r>
            <a:r>
              <a:rPr lang="zh-CN" altLang="en-US" sz="2800" b="1" dirty="0" smtClean="0">
                <a:latin typeface="Times New Roman" pitchFamily="18" charset="0"/>
                <a:cs typeface="Times New Roman" pitchFamily="18" charset="0"/>
              </a:rPr>
              <a:t>；初值为</a:t>
            </a:r>
            <a:r>
              <a:rPr lang="en-US" altLang="zh-CN" sz="2800" b="1" dirty="0" smtClean="0">
                <a:latin typeface="Times New Roman" pitchFamily="18" charset="0"/>
                <a:cs typeface="Times New Roman" pitchFamily="18" charset="0"/>
              </a:rPr>
              <a:t>100=64H</a:t>
            </a: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kumimoji="0" lang="en-US" altLang="zh-CN" sz="28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altLang="zh-CN"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MOV</a:t>
            </a:r>
            <a:r>
              <a:rPr kumimoji="0" lang="en-US" altLang="zh-CN" sz="2800" b="1"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DX,341H</a:t>
            </a:r>
          </a:p>
          <a:p>
            <a:pPr marL="182563" lvl="0" indent="447675">
              <a:lnSpc>
                <a:spcPct val="110000"/>
              </a:lnSpc>
              <a:spcBef>
                <a:spcPct val="20000"/>
              </a:spcBef>
            </a:pPr>
            <a:r>
              <a:rPr lang="en-US" altLang="zh-CN" sz="2800" b="1" baseline="0" dirty="0">
                <a:latin typeface="Times New Roman" pitchFamily="18" charset="0"/>
                <a:cs typeface="Times New Roman" pitchFamily="18" charset="0"/>
              </a:rPr>
              <a:t>	</a:t>
            </a:r>
            <a:r>
              <a:rPr lang="en-US" altLang="zh-CN" sz="2800" b="1" baseline="0" dirty="0" smtClean="0">
                <a:latin typeface="Times New Roman" pitchFamily="18" charset="0"/>
                <a:cs typeface="Times New Roman" pitchFamily="18" charset="0"/>
              </a:rPr>
              <a:t>	OUT</a:t>
            </a:r>
            <a:r>
              <a:rPr lang="en-US" altLang="zh-CN" sz="2800" b="1" dirty="0" smtClean="0">
                <a:latin typeface="Times New Roman" pitchFamily="18" charset="0"/>
                <a:cs typeface="Times New Roman" pitchFamily="18" charset="0"/>
              </a:rPr>
              <a:t> DX,AL;</a:t>
            </a:r>
            <a:r>
              <a:rPr lang="zh-CN" altLang="en-US" sz="2800" b="1" dirty="0" smtClean="0">
                <a:latin typeface="Times New Roman" pitchFamily="18" charset="0"/>
                <a:cs typeface="Times New Roman" pitchFamily="18" charset="0"/>
              </a:rPr>
              <a:t>低</a:t>
            </a:r>
            <a:r>
              <a:rPr lang="en-US" altLang="zh-CN" sz="2800" b="1" dirty="0" smtClean="0">
                <a:latin typeface="Times New Roman" pitchFamily="18" charset="0"/>
                <a:cs typeface="Times New Roman" pitchFamily="18" charset="0"/>
              </a:rPr>
              <a:t>8</a:t>
            </a:r>
            <a:r>
              <a:rPr lang="zh-CN" altLang="en-US" sz="2800" b="1" dirty="0" smtClean="0">
                <a:latin typeface="Times New Roman" pitchFamily="18" charset="0"/>
                <a:cs typeface="Times New Roman" pitchFamily="18" charset="0"/>
              </a:rPr>
              <a:t>位，</a:t>
            </a:r>
            <a:r>
              <a:rPr lang="en-US" altLang="zh-CN" sz="2800" b="1" dirty="0" smtClean="0">
                <a:latin typeface="Times New Roman" pitchFamily="18" charset="0"/>
                <a:cs typeface="Times New Roman" pitchFamily="18" charset="0"/>
              </a:rPr>
              <a:t> 10</a:t>
            </a:r>
            <a:r>
              <a:rPr lang="en-US" altLang="zh-CN" sz="2800" b="1" baseline="30000" dirty="0" smtClean="0">
                <a:latin typeface="Times New Roman" pitchFamily="18" charset="0"/>
                <a:cs typeface="Times New Roman" pitchFamily="18" charset="0"/>
              </a:rPr>
              <a:t>4 </a:t>
            </a:r>
            <a:r>
              <a:rPr lang="en-US" altLang="zh-CN" sz="2800" b="1" dirty="0" smtClean="0">
                <a:latin typeface="Times New Roman" pitchFamily="18" charset="0"/>
                <a:cs typeface="Times New Roman" pitchFamily="18" charset="0"/>
              </a:rPr>
              <a:t>=2710H</a:t>
            </a:r>
          </a:p>
          <a:p>
            <a:pPr marL="182563" marR="0" lvl="0" indent="447675"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2800" b="1" dirty="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	</a:t>
            </a:r>
          </a:p>
          <a:p>
            <a:pPr marL="182563" marR="0" lvl="0" indent="447675" algn="l" defTabSz="914400" rtl="0" eaLnBrk="1" fontAlgn="auto" latinLnBrk="0" hangingPunct="1">
              <a:lnSpc>
                <a:spcPct val="110000"/>
              </a:lnSpc>
              <a:spcBef>
                <a:spcPct val="20000"/>
              </a:spcBef>
              <a:spcAft>
                <a:spcPts val="0"/>
              </a:spcAft>
              <a:buClrTx/>
              <a:buSzTx/>
              <a:buFont typeface="Wingdings" pitchFamily="2" charset="2"/>
              <a:buChar char="Ø"/>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端口寻址方式：何时采用直接寻址和间接寻址？</a:t>
            </a:r>
            <a:endPar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endParaRPr>
          </a:p>
          <a:p>
            <a:pPr marL="182563" marR="0" lvl="0" indent="447675" algn="l" defTabSz="914400" rtl="0" eaLnBrk="1" fontAlgn="auto" latinLnBrk="0" hangingPunct="1">
              <a:lnSpc>
                <a:spcPct val="110000"/>
              </a:lnSpc>
              <a:spcBef>
                <a:spcPct val="20000"/>
              </a:spcBef>
              <a:spcAft>
                <a:spcPts val="0"/>
              </a:spcAft>
              <a:buClr>
                <a:schemeClr val="tx1"/>
              </a:buClr>
              <a:buSzPct val="111000"/>
              <a:buFont typeface="Wingdings" pitchFamily="2" charset="2"/>
              <a:buChar char="Ø"/>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计数初值为</a:t>
            </a:r>
            <a:r>
              <a:rPr kumimoji="0" lang="en-US" altLang="zh-CN"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64H</a:t>
            </a:r>
            <a:r>
              <a:rPr kumimoji="0" lang="zh-CN" alt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a:t>
            </a: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539552" y="836712"/>
            <a:ext cx="7840679" cy="350046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第</a:t>
            </a:r>
            <a:r>
              <a:rPr kumimoji="0" lang="en-US" altLang="zh-CN"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10</a:t>
            </a:r>
            <a:r>
              <a:rPr kumimoji="0" lang="zh-CN" altLang="en-US"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章    习题</a:t>
            </a:r>
            <a:endParaRPr kumimoji="0" lang="zh-CN" altLang="en-US" sz="4800" b="1" i="0" u="none" strike="noStrike" kern="1200" cap="none" spc="0" normalizeH="0" baseline="0" noProof="0" dirty="0">
              <a:ln>
                <a:noFill/>
              </a:ln>
              <a:solidFill>
                <a:srgbClr val="FF0000"/>
              </a:solidFill>
              <a:effectLst/>
              <a:uLnTx/>
              <a:uFillTx/>
              <a:latin typeface="华文琥珀" panose="02010800040101010101" pitchFamily="2" charset="-122"/>
              <a:ea typeface="华文琥珀" panose="02010800040101010101" pitchFamily="2" charset="-122"/>
              <a:cs typeface="+mj-cs"/>
            </a:endParaRPr>
          </a:p>
        </p:txBody>
      </p:sp>
    </p:spTree>
    <p:extLst>
      <p:ext uri="{BB962C8B-B14F-4D97-AF65-F5344CB8AC3E}">
        <p14:creationId xmlns:p14="http://schemas.microsoft.com/office/powerpoint/2010/main" val="2291280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548680"/>
            <a:ext cx="8229600" cy="1143000"/>
          </a:xfrm>
        </p:spPr>
        <p:txBody>
          <a:bodyPr vert="horz" lIns="91440" tIns="45720" rIns="91440" bIns="45720" rtlCol="0" anchor="ctr">
            <a:normAutofit/>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10-1 </a:t>
            </a:r>
            <a:r>
              <a:rPr lang="zh-CN" altLang="en-US"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参考</a:t>
            </a: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10-3</a:t>
            </a:r>
            <a:r>
              <a:rPr lang="zh-CN" altLang="en-US"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题的输入过程。</a:t>
            </a:r>
            <a:endParaRPr lang="zh-CN" altLang="en-US"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endParaRPr>
          </a:p>
        </p:txBody>
      </p:sp>
    </p:spTree>
    <p:extLst>
      <p:ext uri="{BB962C8B-B14F-4D97-AF65-F5344CB8AC3E}">
        <p14:creationId xmlns:p14="http://schemas.microsoft.com/office/powerpoint/2010/main" val="590484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1472" y="142852"/>
            <a:ext cx="4000528" cy="571504"/>
          </a:xfrm>
        </p:spPr>
        <p:txBody>
          <a:bodyPr vert="horz" lIns="91440" tIns="45720" rIns="91440" bIns="45720" rtlCol="0" anchor="ctr">
            <a:normAutofit fontScale="90000"/>
          </a:bodyPr>
          <a:lstStyle/>
          <a:p>
            <a:pPr algn="l"/>
            <a:r>
              <a:rPr lang="en-US" altLang="zh-CN"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10-3</a:t>
            </a:r>
            <a:endParaRPr lang="zh-CN" altLang="en-US"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endParaRPr>
          </a:p>
        </p:txBody>
      </p:sp>
      <p:pic>
        <p:nvPicPr>
          <p:cNvPr id="1026" name="Picture 2"/>
          <p:cNvPicPr>
            <a:picLocks noChangeAspect="1" noChangeArrowheads="1"/>
          </p:cNvPicPr>
          <p:nvPr/>
        </p:nvPicPr>
        <p:blipFill>
          <a:blip r:embed="rId2"/>
          <a:srcRect l="5607" t="5319" b="5324"/>
          <a:stretch>
            <a:fillRect/>
          </a:stretch>
        </p:blipFill>
        <p:spPr bwMode="auto">
          <a:xfrm>
            <a:off x="1403648" y="620688"/>
            <a:ext cx="7215206" cy="6000768"/>
          </a:xfrm>
          <a:prstGeom prst="rect">
            <a:avLst/>
          </a:prstGeom>
          <a:noFill/>
          <a:ln w="9525">
            <a:noFill/>
            <a:miter lim="800000"/>
            <a:headEnd/>
            <a:tailEnd/>
          </a:ln>
          <a:effectLst/>
        </p:spPr>
      </p:pic>
      <p:sp>
        <p:nvSpPr>
          <p:cNvPr id="5" name="标题 1"/>
          <p:cNvSpPr txBox="1">
            <a:spLocks/>
          </p:cNvSpPr>
          <p:nvPr/>
        </p:nvSpPr>
        <p:spPr>
          <a:xfrm>
            <a:off x="6000760" y="428604"/>
            <a:ext cx="2428892" cy="785818"/>
          </a:xfrm>
          <a:prstGeom prst="rect">
            <a:avLst/>
          </a:prstGeom>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4400" b="1" i="0" u="none" strike="noStrike" kern="1200" cap="none" spc="0" normalizeH="0" baseline="0" noProof="0" dirty="0" smtClean="0">
                <a:ln>
                  <a:noFill/>
                </a:ln>
                <a:solidFill>
                  <a:schemeClr val="tx1"/>
                </a:solidFill>
                <a:effectLst/>
                <a:uLnTx/>
                <a:uFillTx/>
                <a:latin typeface="+mj-lt"/>
                <a:ea typeface="+mj-ea"/>
                <a:cs typeface="+mj-cs"/>
              </a:rPr>
              <a:t>输入过程</a:t>
            </a:r>
          </a:p>
        </p:txBody>
      </p:sp>
      <p:cxnSp>
        <p:nvCxnSpPr>
          <p:cNvPr id="9" name="直接连接符 8"/>
          <p:cNvCxnSpPr/>
          <p:nvPr/>
        </p:nvCxnSpPr>
        <p:spPr>
          <a:xfrm>
            <a:off x="3236980" y="3098644"/>
            <a:ext cx="288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428992" y="1571612"/>
            <a:ext cx="432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239826" y="5429264"/>
            <a:ext cx="216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692064" y="3827595"/>
            <a:ext cx="647688" cy="369332"/>
          </a:xfrm>
          <a:prstGeom prst="rect">
            <a:avLst/>
          </a:prstGeom>
          <a:solidFill>
            <a:schemeClr val="bg1"/>
          </a:solidFill>
        </p:spPr>
        <p:txBody>
          <a:bodyPr wrap="square" lIns="0" tIns="0" rIns="0" bIns="0" rtlCol="0">
            <a:spAutoFit/>
          </a:bodyPr>
          <a:lstStyle/>
          <a:p>
            <a:r>
              <a:rPr lang="en-US" altLang="zh-CN" sz="2400" b="1" dirty="0" smtClean="0"/>
              <a:t>INTE</a:t>
            </a:r>
            <a:endParaRPr lang="zh-CN" altLang="en-US" sz="24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1472" y="142852"/>
            <a:ext cx="1428760" cy="571504"/>
          </a:xfrm>
        </p:spPr>
        <p:txBody>
          <a:bodyPr>
            <a:normAutofit fontScale="90000"/>
          </a:bodyPr>
          <a:lstStyle/>
          <a:p>
            <a:r>
              <a:rPr lang="en-US" altLang="zh-CN" dirty="0" smtClean="0"/>
              <a:t>10-3</a:t>
            </a:r>
            <a:endParaRPr lang="zh-CN" altLang="en-US" dirty="0"/>
          </a:p>
        </p:txBody>
      </p:sp>
      <p:sp>
        <p:nvSpPr>
          <p:cNvPr id="5" name="标题 1"/>
          <p:cNvSpPr txBox="1">
            <a:spLocks/>
          </p:cNvSpPr>
          <p:nvPr/>
        </p:nvSpPr>
        <p:spPr>
          <a:xfrm>
            <a:off x="6715108" y="1142984"/>
            <a:ext cx="2428892" cy="785818"/>
          </a:xfrm>
          <a:prstGeom prst="rect">
            <a:avLst/>
          </a:prstGeom>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4400" b="1" i="0" u="none" strike="noStrike" kern="1200" cap="none" spc="0" normalizeH="0" baseline="0" noProof="0" dirty="0" smtClean="0">
                <a:ln>
                  <a:noFill/>
                </a:ln>
                <a:solidFill>
                  <a:schemeClr val="tx1"/>
                </a:solidFill>
                <a:effectLst/>
                <a:uLnTx/>
                <a:uFillTx/>
                <a:latin typeface="+mj-lt"/>
                <a:ea typeface="+mj-ea"/>
                <a:cs typeface="+mj-cs"/>
              </a:rPr>
              <a:t>输出过程</a:t>
            </a:r>
          </a:p>
        </p:txBody>
      </p:sp>
      <p:pic>
        <p:nvPicPr>
          <p:cNvPr id="2050" name="Picture 2"/>
          <p:cNvPicPr>
            <a:picLocks noChangeAspect="1" noChangeArrowheads="1"/>
          </p:cNvPicPr>
          <p:nvPr/>
        </p:nvPicPr>
        <p:blipFill>
          <a:blip r:embed="rId2"/>
          <a:srcRect/>
          <a:stretch>
            <a:fillRect/>
          </a:stretch>
        </p:blipFill>
        <p:spPr bwMode="auto">
          <a:xfrm>
            <a:off x="428596" y="0"/>
            <a:ext cx="6332220" cy="6858000"/>
          </a:xfrm>
          <a:prstGeom prst="rect">
            <a:avLst/>
          </a:prstGeom>
          <a:noFill/>
          <a:ln w="9525">
            <a:noFill/>
            <a:miter lim="800000"/>
            <a:headEnd/>
            <a:tailEnd/>
          </a:ln>
          <a:effectLst/>
        </p:spPr>
      </p:pic>
      <p:cxnSp>
        <p:nvCxnSpPr>
          <p:cNvPr id="6" name="直接连接符 5"/>
          <p:cNvCxnSpPr/>
          <p:nvPr/>
        </p:nvCxnSpPr>
        <p:spPr>
          <a:xfrm>
            <a:off x="5354446" y="190400"/>
            <a:ext cx="432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2468932" y="1660820"/>
            <a:ext cx="432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2451162" y="2352898"/>
            <a:ext cx="432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241248" y="3790722"/>
            <a:ext cx="432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930086" y="4856172"/>
            <a:ext cx="432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500298" y="5641990"/>
            <a:ext cx="4320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8229600" cy="1143000"/>
          </a:xfrm>
        </p:spPr>
        <p:txBody>
          <a:bodyPr vert="horz" lIns="91440" tIns="45720" rIns="91440" bIns="45720" rtlCol="0" anchor="ctr">
            <a:normAutofit/>
          </a:bodyPr>
          <a:lstStyle/>
          <a:p>
            <a:pPr algn="l"/>
            <a:r>
              <a:rPr lang="en-US" altLang="zh-CN" sz="3600"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10-4</a:t>
            </a:r>
            <a:r>
              <a:rPr lang="zh-CN" altLang="en-US" sz="3600"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altLang="zh-CN" sz="3600"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10-6 </a:t>
            </a:r>
            <a:r>
              <a:rPr lang="zh-CN" altLang="en-US" sz="3600"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参见答案</a:t>
            </a:r>
          </a:p>
        </p:txBody>
      </p:sp>
      <p:sp>
        <p:nvSpPr>
          <p:cNvPr id="3" name="标题 1"/>
          <p:cNvSpPr txBox="1">
            <a:spLocks/>
          </p:cNvSpPr>
          <p:nvPr/>
        </p:nvSpPr>
        <p:spPr>
          <a:xfrm>
            <a:off x="290920" y="1196752"/>
            <a:ext cx="5142312" cy="571504"/>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10-10</a:t>
            </a:r>
            <a:endParaRPr lang="zh-CN" altLang="en-US"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4" name="Rectangle 3"/>
          <p:cNvSpPr txBox="1">
            <a:spLocks noChangeArrowheads="1"/>
          </p:cNvSpPr>
          <p:nvPr/>
        </p:nvSpPr>
        <p:spPr>
          <a:xfrm>
            <a:off x="323528" y="1775028"/>
            <a:ext cx="8494715" cy="2232248"/>
          </a:xfrm>
          <a:prstGeom prst="rect">
            <a:avLst/>
          </a:prstGeom>
        </p:spPr>
        <p:txBody>
          <a:bodyPr/>
          <a:lstStyle/>
          <a:p>
            <a:pPr marL="182563" indent="447675">
              <a:lnSpc>
                <a:spcPct val="110000"/>
              </a:lnSpc>
              <a:spcBef>
                <a:spcPct val="20000"/>
              </a:spcBef>
            </a:pPr>
            <a:r>
              <a:rPr lang="zh-CN" altLang="en-US" sz="2800" b="1" dirty="0">
                <a:solidFill>
                  <a:schemeClr val="accent1">
                    <a:lumMod val="75000"/>
                  </a:schemeClr>
                </a:solidFill>
                <a:latin typeface="楷体" panose="02010609060101010101" pitchFamily="49" charset="-122"/>
                <a:ea typeface="楷体" panose="02010609060101010101" pitchFamily="49" charset="-122"/>
              </a:rPr>
              <a:t>每个字符的位数是：</a:t>
            </a:r>
            <a:r>
              <a:rPr lang="en-US" altLang="zh-CN" sz="2800" b="1" dirty="0">
                <a:solidFill>
                  <a:schemeClr val="accent1">
                    <a:lumMod val="75000"/>
                  </a:schemeClr>
                </a:solidFill>
                <a:latin typeface="楷体" panose="02010609060101010101" pitchFamily="49" charset="-122"/>
                <a:ea typeface="楷体" panose="02010609060101010101" pitchFamily="49" charset="-122"/>
              </a:rPr>
              <a:t>1</a:t>
            </a:r>
            <a:r>
              <a:rPr lang="zh-CN" altLang="en-US" sz="2800" b="1" dirty="0">
                <a:solidFill>
                  <a:schemeClr val="accent1">
                    <a:lumMod val="75000"/>
                  </a:schemeClr>
                </a:solidFill>
                <a:latin typeface="楷体" panose="02010609060101010101" pitchFamily="49" charset="-122"/>
                <a:ea typeface="楷体" panose="02010609060101010101" pitchFamily="49" charset="-122"/>
              </a:rPr>
              <a:t>个</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起始位（逻辑</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0</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a:t>
            </a:r>
            <a:r>
              <a:rPr lang="en-US" altLang="zh-CN" sz="2800" b="1" dirty="0">
                <a:solidFill>
                  <a:schemeClr val="accent1">
                    <a:lumMod val="75000"/>
                  </a:schemeClr>
                </a:solidFill>
                <a:latin typeface="楷体" panose="02010609060101010101" pitchFamily="49" charset="-122"/>
                <a:ea typeface="楷体" panose="02010609060101010101" pitchFamily="49" charset="-122"/>
              </a:rPr>
              <a:t>8</a:t>
            </a:r>
            <a:r>
              <a:rPr lang="zh-CN" altLang="en-US" sz="2800" b="1" dirty="0">
                <a:solidFill>
                  <a:schemeClr val="accent1">
                    <a:lumMod val="75000"/>
                  </a:schemeClr>
                </a:solidFill>
                <a:latin typeface="楷体" panose="02010609060101010101" pitchFamily="49" charset="-122"/>
                <a:ea typeface="楷体" panose="02010609060101010101" pitchFamily="49" charset="-122"/>
              </a:rPr>
              <a:t>个数据位＋</a:t>
            </a:r>
            <a:r>
              <a:rPr lang="en-US" altLang="zh-CN" sz="2800" b="1" dirty="0">
                <a:solidFill>
                  <a:schemeClr val="accent1">
                    <a:lumMod val="75000"/>
                  </a:schemeClr>
                </a:solidFill>
                <a:latin typeface="楷体" panose="02010609060101010101" pitchFamily="49" charset="-122"/>
                <a:ea typeface="楷体" panose="02010609060101010101" pitchFamily="49" charset="-122"/>
              </a:rPr>
              <a:t>1</a:t>
            </a:r>
            <a:r>
              <a:rPr lang="zh-CN" altLang="en-US" sz="2800" b="1" dirty="0">
                <a:solidFill>
                  <a:schemeClr val="accent1">
                    <a:lumMod val="75000"/>
                  </a:schemeClr>
                </a:solidFill>
                <a:latin typeface="楷体" panose="02010609060101010101" pitchFamily="49" charset="-122"/>
                <a:ea typeface="楷体" panose="02010609060101010101" pitchFamily="49" charset="-122"/>
              </a:rPr>
              <a:t>个奇</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校验位（无）＋</a:t>
            </a:r>
            <a:r>
              <a:rPr lang="en-US" altLang="zh-CN" sz="2800" b="1" dirty="0">
                <a:solidFill>
                  <a:schemeClr val="accent1">
                    <a:lumMod val="75000"/>
                  </a:schemeClr>
                </a:solidFill>
                <a:latin typeface="楷体" panose="02010609060101010101" pitchFamily="49" charset="-122"/>
                <a:ea typeface="楷体" panose="02010609060101010101" pitchFamily="49" charset="-122"/>
              </a:rPr>
              <a:t>2</a:t>
            </a:r>
            <a:r>
              <a:rPr lang="zh-CN" altLang="en-US" sz="2800" b="1" dirty="0">
                <a:solidFill>
                  <a:schemeClr val="accent1">
                    <a:lumMod val="75000"/>
                  </a:schemeClr>
                </a:solidFill>
                <a:latin typeface="楷体" panose="02010609060101010101" pitchFamily="49" charset="-122"/>
                <a:ea typeface="楷体" panose="02010609060101010101" pitchFamily="49" charset="-122"/>
              </a:rPr>
              <a:t>个</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停止位（逻辑</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1</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a:t>
            </a:r>
            <a:r>
              <a:rPr lang="en-US" altLang="zh-CN" sz="2800" b="1" dirty="0">
                <a:solidFill>
                  <a:schemeClr val="accent1">
                    <a:lumMod val="75000"/>
                  </a:schemeClr>
                </a:solidFill>
                <a:latin typeface="楷体" panose="02010609060101010101" pitchFamily="49" charset="-122"/>
                <a:ea typeface="楷体" panose="02010609060101010101" pitchFamily="49" charset="-122"/>
              </a:rPr>
              <a:t>12</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位</a:t>
            </a:r>
            <a:r>
              <a:rPr lang="zh-CN" altLang="en-US" sz="2800" b="1" dirty="0">
                <a:solidFill>
                  <a:schemeClr val="accent1">
                    <a:lumMod val="75000"/>
                  </a:schemeClr>
                </a:solidFill>
                <a:latin typeface="楷体" panose="02010609060101010101" pitchFamily="49" charset="-122"/>
                <a:ea typeface="楷体" panose="02010609060101010101" pitchFamily="49" charset="-122"/>
              </a:rPr>
              <a:t>。</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若采用</a:t>
            </a:r>
            <a:r>
              <a:rPr lang="en-US" altLang="zh-CN" sz="2800" b="1" dirty="0">
                <a:solidFill>
                  <a:schemeClr val="accent1">
                    <a:lumMod val="75000"/>
                  </a:schemeClr>
                </a:solidFill>
                <a:latin typeface="楷体" panose="02010609060101010101" pitchFamily="49" charset="-122"/>
                <a:ea typeface="楷体" panose="02010609060101010101" pitchFamily="49" charset="-122"/>
              </a:rPr>
              <a:t>1200bps</a:t>
            </a:r>
            <a:r>
              <a:rPr lang="zh-CN" altLang="en-US" sz="2800" b="1" dirty="0">
                <a:solidFill>
                  <a:schemeClr val="accent1">
                    <a:lumMod val="75000"/>
                  </a:schemeClr>
                </a:solidFill>
                <a:latin typeface="楷体" panose="02010609060101010101" pitchFamily="49" charset="-122"/>
                <a:ea typeface="楷体" panose="02010609060101010101" pitchFamily="49" charset="-122"/>
              </a:rPr>
              <a:t>、即每秒</a:t>
            </a:r>
            <a:r>
              <a:rPr lang="en-US" altLang="zh-CN" sz="2800" b="1" dirty="0">
                <a:solidFill>
                  <a:schemeClr val="accent1">
                    <a:lumMod val="75000"/>
                  </a:schemeClr>
                </a:solidFill>
                <a:latin typeface="楷体" panose="02010609060101010101" pitchFamily="49" charset="-122"/>
                <a:ea typeface="楷体" panose="02010609060101010101" pitchFamily="49" charset="-122"/>
              </a:rPr>
              <a:t>1200</a:t>
            </a:r>
            <a:r>
              <a:rPr lang="zh-CN" altLang="en-US" sz="2800" b="1" dirty="0">
                <a:solidFill>
                  <a:schemeClr val="accent1">
                    <a:lumMod val="75000"/>
                  </a:schemeClr>
                </a:solidFill>
                <a:latin typeface="楷体" panose="02010609060101010101" pitchFamily="49" charset="-122"/>
                <a:ea typeface="楷体" panose="02010609060101010101" pitchFamily="49" charset="-122"/>
              </a:rPr>
              <a:t>位的传送速率，则每秒最多能发送</a:t>
            </a:r>
            <a:r>
              <a:rPr lang="en-US" altLang="zh-CN" sz="2800" b="1" dirty="0">
                <a:solidFill>
                  <a:schemeClr val="accent1">
                    <a:lumMod val="75000"/>
                  </a:schemeClr>
                </a:solidFill>
                <a:latin typeface="楷体" panose="02010609060101010101" pitchFamily="49" charset="-122"/>
                <a:ea typeface="楷体" panose="02010609060101010101" pitchFamily="49" charset="-122"/>
              </a:rPr>
              <a:t>1200÷12</a:t>
            </a:r>
            <a:r>
              <a:rPr lang="zh-CN" altLang="en-US" sz="2800" b="1" dirty="0">
                <a:solidFill>
                  <a:schemeClr val="accent1">
                    <a:lumMod val="75000"/>
                  </a:schemeClr>
                </a:solidFill>
                <a:latin typeface="楷体" panose="02010609060101010101" pitchFamily="49" charset="-122"/>
                <a:ea typeface="楷体" panose="02010609060101010101" pitchFamily="49" charset="-122"/>
              </a:rPr>
              <a:t>＝</a:t>
            </a:r>
            <a:r>
              <a:rPr lang="en-US" altLang="zh-CN" sz="2800" b="1" dirty="0">
                <a:solidFill>
                  <a:schemeClr val="accent1">
                    <a:lumMod val="75000"/>
                  </a:schemeClr>
                </a:solidFill>
                <a:latin typeface="楷体" panose="02010609060101010101" pitchFamily="49" charset="-122"/>
                <a:ea typeface="楷体" panose="02010609060101010101" pitchFamily="49" charset="-122"/>
              </a:rPr>
              <a:t>100</a:t>
            </a:r>
            <a:r>
              <a:rPr lang="zh-CN" altLang="en-US" sz="2800" b="1" dirty="0">
                <a:solidFill>
                  <a:schemeClr val="accent1">
                    <a:lumMod val="75000"/>
                  </a:schemeClr>
                </a:solidFill>
                <a:latin typeface="楷体" panose="02010609060101010101" pitchFamily="49" charset="-122"/>
                <a:ea typeface="楷体" panose="02010609060101010101" pitchFamily="49" charset="-122"/>
              </a:rPr>
              <a:t>个数据</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。传送数据</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25</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a:t>
            </a:r>
            <a:r>
              <a:rPr lang="en-US" altLang="zh-CN" sz="2800" b="1" dirty="0" smtClean="0">
                <a:solidFill>
                  <a:schemeClr val="accent1">
                    <a:lumMod val="75000"/>
                  </a:schemeClr>
                </a:solidFill>
                <a:latin typeface="楷体" panose="02010609060101010101" pitchFamily="49" charset="-122"/>
                <a:ea typeface="楷体" panose="02010609060101010101" pitchFamily="49" charset="-122"/>
              </a:rPr>
              <a:t>00100101B</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）的波形为：</a:t>
            </a:r>
            <a:endParaRPr lang="zh-CN" altLang="en-US" sz="2800" b="1" dirty="0">
              <a:solidFill>
                <a:schemeClr val="accent1">
                  <a:lumMod val="75000"/>
                </a:schemeClr>
              </a:solidFill>
              <a:latin typeface="楷体" panose="02010609060101010101" pitchFamily="49" charset="-122"/>
              <a:ea typeface="楷体" panose="02010609060101010101" pitchFamily="49"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470163030"/>
              </p:ext>
            </p:extLst>
          </p:nvPr>
        </p:nvGraphicFramePr>
        <p:xfrm>
          <a:off x="1187624" y="4653136"/>
          <a:ext cx="7056786" cy="648072"/>
        </p:xfrm>
        <a:graphic>
          <a:graphicData uri="http://schemas.openxmlformats.org/drawingml/2006/table">
            <a:tbl>
              <a:tblPr firstRow="1" bandRow="1">
                <a:tableStyleId>{5C22544A-7EE6-4342-B048-85BDC9FD1C3A}</a:tableStyleId>
              </a:tblPr>
              <a:tblGrid>
                <a:gridCol w="641526"/>
                <a:gridCol w="641526"/>
                <a:gridCol w="641526"/>
                <a:gridCol w="641526"/>
                <a:gridCol w="641526"/>
                <a:gridCol w="641526"/>
                <a:gridCol w="641526"/>
                <a:gridCol w="641526"/>
                <a:gridCol w="641526"/>
                <a:gridCol w="641526"/>
                <a:gridCol w="641526"/>
              </a:tblGrid>
              <a:tr h="648072">
                <a:tc>
                  <a:txBody>
                    <a:bodyPr/>
                    <a:lstStyle/>
                    <a:p>
                      <a:endParaRPr lang="zh-CN" altLang="en-US" dirty="0">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w="22225">
                          <a:solidFill>
                            <a:schemeClr val="tx1"/>
                          </a:solidFill>
                        </a:l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文本框 5"/>
          <p:cNvSpPr txBox="1"/>
          <p:nvPr/>
        </p:nvSpPr>
        <p:spPr>
          <a:xfrm>
            <a:off x="1215028" y="4622821"/>
            <a:ext cx="576064" cy="523220"/>
          </a:xfrm>
          <a:prstGeom prst="rect">
            <a:avLst/>
          </a:prstGeom>
          <a:solidFill>
            <a:schemeClr val="bg1"/>
          </a:solidFill>
        </p:spPr>
        <p:txBody>
          <a:bodyPr wrap="square" rtlCol="0">
            <a:spAutoFit/>
          </a:bodyPr>
          <a:lstStyle/>
          <a:p>
            <a:r>
              <a:rPr lang="en-US" altLang="zh-CN" sz="2800" dirty="0" smtClean="0"/>
              <a:t> 0</a:t>
            </a:r>
            <a:endParaRPr lang="zh-CN" altLang="en-US" sz="2800" dirty="0"/>
          </a:p>
        </p:txBody>
      </p:sp>
      <p:sp>
        <p:nvSpPr>
          <p:cNvPr id="7" name="文本框 6"/>
          <p:cNvSpPr txBox="1"/>
          <p:nvPr/>
        </p:nvSpPr>
        <p:spPr>
          <a:xfrm>
            <a:off x="1864896" y="4719095"/>
            <a:ext cx="576064" cy="648000"/>
          </a:xfrm>
          <a:prstGeom prst="rect">
            <a:avLst/>
          </a:prstGeom>
          <a:solidFill>
            <a:schemeClr val="bg1"/>
          </a:solidFill>
        </p:spPr>
        <p:txBody>
          <a:bodyPr wrap="square" rtlCol="0">
            <a:spAutoFit/>
          </a:bodyPr>
          <a:lstStyle/>
          <a:p>
            <a:r>
              <a:rPr lang="en-US" altLang="zh-CN" sz="2800" dirty="0" smtClean="0"/>
              <a:t> 1</a:t>
            </a:r>
            <a:endParaRPr lang="zh-CN" altLang="en-US" sz="2800" dirty="0"/>
          </a:p>
        </p:txBody>
      </p:sp>
      <p:sp>
        <p:nvSpPr>
          <p:cNvPr id="8" name="文本框 7"/>
          <p:cNvSpPr txBox="1"/>
          <p:nvPr/>
        </p:nvSpPr>
        <p:spPr>
          <a:xfrm>
            <a:off x="2506070" y="4630258"/>
            <a:ext cx="576064" cy="523220"/>
          </a:xfrm>
          <a:prstGeom prst="rect">
            <a:avLst/>
          </a:prstGeom>
          <a:solidFill>
            <a:schemeClr val="bg1"/>
          </a:solidFill>
        </p:spPr>
        <p:txBody>
          <a:bodyPr wrap="square" rtlCol="0">
            <a:spAutoFit/>
          </a:bodyPr>
          <a:lstStyle/>
          <a:p>
            <a:r>
              <a:rPr lang="en-US" altLang="zh-CN" sz="2800" dirty="0" smtClean="0"/>
              <a:t> 0</a:t>
            </a:r>
            <a:endParaRPr lang="zh-CN" altLang="en-US" sz="2800" dirty="0"/>
          </a:p>
        </p:txBody>
      </p:sp>
      <p:sp>
        <p:nvSpPr>
          <p:cNvPr id="9" name="文本框 8"/>
          <p:cNvSpPr txBox="1"/>
          <p:nvPr/>
        </p:nvSpPr>
        <p:spPr>
          <a:xfrm>
            <a:off x="3779912" y="4637695"/>
            <a:ext cx="576064" cy="523220"/>
          </a:xfrm>
          <a:prstGeom prst="rect">
            <a:avLst/>
          </a:prstGeom>
          <a:solidFill>
            <a:schemeClr val="bg1"/>
          </a:solidFill>
        </p:spPr>
        <p:txBody>
          <a:bodyPr wrap="square" rtlCol="0">
            <a:spAutoFit/>
          </a:bodyPr>
          <a:lstStyle/>
          <a:p>
            <a:r>
              <a:rPr lang="en-US" altLang="zh-CN" sz="2800" dirty="0" smtClean="0"/>
              <a:t> 0</a:t>
            </a:r>
            <a:endParaRPr lang="zh-CN" altLang="en-US" sz="2800" dirty="0"/>
          </a:p>
        </p:txBody>
      </p:sp>
      <p:sp>
        <p:nvSpPr>
          <p:cNvPr id="10" name="文本框 9"/>
          <p:cNvSpPr txBox="1"/>
          <p:nvPr/>
        </p:nvSpPr>
        <p:spPr>
          <a:xfrm>
            <a:off x="4317421" y="4625732"/>
            <a:ext cx="684000" cy="612000"/>
          </a:xfrm>
          <a:prstGeom prst="rect">
            <a:avLst/>
          </a:prstGeom>
          <a:solidFill>
            <a:schemeClr val="bg1"/>
          </a:solidFill>
        </p:spPr>
        <p:txBody>
          <a:bodyPr wrap="square" rtlCol="0">
            <a:spAutoFit/>
          </a:bodyPr>
          <a:lstStyle/>
          <a:p>
            <a:r>
              <a:rPr lang="en-US" altLang="zh-CN" sz="2800" dirty="0" smtClean="0"/>
              <a:t> 0</a:t>
            </a:r>
            <a:endParaRPr lang="zh-CN" altLang="en-US" sz="2800" dirty="0"/>
          </a:p>
        </p:txBody>
      </p:sp>
      <p:sp>
        <p:nvSpPr>
          <p:cNvPr id="12" name="文本框 11"/>
          <p:cNvSpPr txBox="1"/>
          <p:nvPr/>
        </p:nvSpPr>
        <p:spPr>
          <a:xfrm>
            <a:off x="3142991" y="4693079"/>
            <a:ext cx="576064" cy="648000"/>
          </a:xfrm>
          <a:prstGeom prst="rect">
            <a:avLst/>
          </a:prstGeom>
          <a:solidFill>
            <a:schemeClr val="bg1"/>
          </a:solidFill>
        </p:spPr>
        <p:txBody>
          <a:bodyPr wrap="square" rtlCol="0">
            <a:spAutoFit/>
          </a:bodyPr>
          <a:lstStyle/>
          <a:p>
            <a:r>
              <a:rPr lang="en-US" altLang="zh-CN" sz="2800" dirty="0" smtClean="0"/>
              <a:t> 1</a:t>
            </a:r>
            <a:endParaRPr lang="zh-CN" altLang="en-US" sz="2800" dirty="0"/>
          </a:p>
        </p:txBody>
      </p:sp>
      <p:sp>
        <p:nvSpPr>
          <p:cNvPr id="13" name="文本框 12"/>
          <p:cNvSpPr txBox="1"/>
          <p:nvPr/>
        </p:nvSpPr>
        <p:spPr>
          <a:xfrm>
            <a:off x="5064905" y="4715381"/>
            <a:ext cx="576064" cy="648000"/>
          </a:xfrm>
          <a:prstGeom prst="rect">
            <a:avLst/>
          </a:prstGeom>
          <a:solidFill>
            <a:schemeClr val="bg1"/>
          </a:solidFill>
        </p:spPr>
        <p:txBody>
          <a:bodyPr wrap="square" rtlCol="0">
            <a:spAutoFit/>
          </a:bodyPr>
          <a:lstStyle/>
          <a:p>
            <a:r>
              <a:rPr lang="en-US" altLang="zh-CN" sz="2800" dirty="0" smtClean="0"/>
              <a:t> 1</a:t>
            </a:r>
            <a:endParaRPr lang="zh-CN" altLang="en-US" sz="2800" dirty="0"/>
          </a:p>
        </p:txBody>
      </p:sp>
      <p:sp>
        <p:nvSpPr>
          <p:cNvPr id="14" name="文本框 13"/>
          <p:cNvSpPr txBox="1"/>
          <p:nvPr/>
        </p:nvSpPr>
        <p:spPr>
          <a:xfrm>
            <a:off x="6264264" y="4653136"/>
            <a:ext cx="684000" cy="612000"/>
          </a:xfrm>
          <a:prstGeom prst="rect">
            <a:avLst/>
          </a:prstGeom>
          <a:solidFill>
            <a:schemeClr val="bg1"/>
          </a:solidFill>
        </p:spPr>
        <p:txBody>
          <a:bodyPr wrap="square" rtlCol="0">
            <a:spAutoFit/>
          </a:bodyPr>
          <a:lstStyle/>
          <a:p>
            <a:r>
              <a:rPr lang="en-US" altLang="zh-CN" sz="2800" dirty="0" smtClean="0"/>
              <a:t> 0</a:t>
            </a:r>
            <a:endParaRPr lang="zh-CN" altLang="en-US" sz="2800" dirty="0"/>
          </a:p>
        </p:txBody>
      </p:sp>
      <p:sp>
        <p:nvSpPr>
          <p:cNvPr id="15" name="文本框 14"/>
          <p:cNvSpPr txBox="1"/>
          <p:nvPr/>
        </p:nvSpPr>
        <p:spPr>
          <a:xfrm>
            <a:off x="5696724" y="4626544"/>
            <a:ext cx="576064" cy="523220"/>
          </a:xfrm>
          <a:prstGeom prst="rect">
            <a:avLst/>
          </a:prstGeom>
          <a:solidFill>
            <a:schemeClr val="bg1"/>
          </a:solidFill>
        </p:spPr>
        <p:txBody>
          <a:bodyPr wrap="square" rtlCol="0">
            <a:spAutoFit/>
          </a:bodyPr>
          <a:lstStyle/>
          <a:p>
            <a:r>
              <a:rPr lang="en-US" altLang="zh-CN" sz="2800" dirty="0" smtClean="0"/>
              <a:t> 0</a:t>
            </a:r>
            <a:endParaRPr lang="zh-CN" altLang="en-US" sz="2800" dirty="0"/>
          </a:p>
        </p:txBody>
      </p:sp>
      <p:sp>
        <p:nvSpPr>
          <p:cNvPr id="16" name="文本框 15"/>
          <p:cNvSpPr txBox="1"/>
          <p:nvPr/>
        </p:nvSpPr>
        <p:spPr>
          <a:xfrm>
            <a:off x="7009719" y="4694079"/>
            <a:ext cx="576064" cy="648000"/>
          </a:xfrm>
          <a:prstGeom prst="rect">
            <a:avLst/>
          </a:prstGeom>
          <a:solidFill>
            <a:schemeClr val="bg1"/>
          </a:solidFill>
        </p:spPr>
        <p:txBody>
          <a:bodyPr wrap="square" rtlCol="0">
            <a:spAutoFit/>
          </a:bodyPr>
          <a:lstStyle/>
          <a:p>
            <a:r>
              <a:rPr lang="en-US" altLang="zh-CN" sz="2800" dirty="0" smtClean="0"/>
              <a:t> 1</a:t>
            </a:r>
            <a:endParaRPr lang="zh-CN" altLang="en-US" sz="2800" dirty="0"/>
          </a:p>
        </p:txBody>
      </p:sp>
      <p:sp>
        <p:nvSpPr>
          <p:cNvPr id="17" name="文本框 16"/>
          <p:cNvSpPr txBox="1"/>
          <p:nvPr/>
        </p:nvSpPr>
        <p:spPr>
          <a:xfrm>
            <a:off x="7568932" y="4686589"/>
            <a:ext cx="648000" cy="648000"/>
          </a:xfrm>
          <a:prstGeom prst="rect">
            <a:avLst/>
          </a:prstGeom>
          <a:solidFill>
            <a:schemeClr val="bg1"/>
          </a:solidFill>
        </p:spPr>
        <p:txBody>
          <a:bodyPr wrap="square" rtlCol="0">
            <a:spAutoFit/>
          </a:bodyPr>
          <a:lstStyle/>
          <a:p>
            <a:r>
              <a:rPr lang="en-US" altLang="zh-CN" sz="2800" dirty="0" smtClean="0"/>
              <a:t> 1</a:t>
            </a:r>
            <a:endParaRPr lang="zh-CN" altLang="en-US" sz="2800" dirty="0"/>
          </a:p>
        </p:txBody>
      </p:sp>
      <p:cxnSp>
        <p:nvCxnSpPr>
          <p:cNvPr id="19" name="直接箭头连接符 18"/>
          <p:cNvCxnSpPr/>
          <p:nvPr/>
        </p:nvCxnSpPr>
        <p:spPr>
          <a:xfrm flipV="1">
            <a:off x="1331640" y="5265136"/>
            <a:ext cx="171420" cy="468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851784" y="5656146"/>
            <a:ext cx="1872208" cy="461665"/>
          </a:xfrm>
          <a:prstGeom prst="rect">
            <a:avLst/>
          </a:prstGeom>
          <a:noFill/>
        </p:spPr>
        <p:txBody>
          <a:bodyPr wrap="square" rtlCol="0">
            <a:spAutoFit/>
          </a:bodyPr>
          <a:lstStyle/>
          <a:p>
            <a:r>
              <a:rPr lang="zh-CN" altLang="en-US" sz="2400" b="1" dirty="0" smtClean="0">
                <a:solidFill>
                  <a:schemeClr val="accent5">
                    <a:lumMod val="75000"/>
                  </a:schemeClr>
                </a:solidFill>
                <a:latin typeface="楷体" panose="02010609060101010101" pitchFamily="49" charset="-122"/>
                <a:ea typeface="楷体" panose="02010609060101010101" pitchFamily="49" charset="-122"/>
              </a:rPr>
              <a:t>起始位</a:t>
            </a:r>
            <a:endParaRPr lang="zh-CN" altLang="en-US" sz="2400" b="1" dirty="0">
              <a:solidFill>
                <a:schemeClr val="accent5">
                  <a:lumMod val="75000"/>
                </a:schemeClr>
              </a:solidFill>
              <a:latin typeface="楷体" panose="02010609060101010101" pitchFamily="49" charset="-122"/>
              <a:ea typeface="楷体" panose="02010609060101010101" pitchFamily="49" charset="-122"/>
            </a:endParaRPr>
          </a:p>
        </p:txBody>
      </p:sp>
      <p:sp>
        <p:nvSpPr>
          <p:cNvPr id="21" name="文本框 20"/>
          <p:cNvSpPr txBox="1"/>
          <p:nvPr/>
        </p:nvSpPr>
        <p:spPr>
          <a:xfrm>
            <a:off x="6649679" y="5656145"/>
            <a:ext cx="1872208" cy="461665"/>
          </a:xfrm>
          <a:prstGeom prst="rect">
            <a:avLst/>
          </a:prstGeom>
          <a:noFill/>
        </p:spPr>
        <p:txBody>
          <a:bodyPr wrap="square" rtlCol="0">
            <a:spAutoFit/>
          </a:bodyPr>
          <a:lstStyle/>
          <a:p>
            <a:r>
              <a:rPr lang="zh-CN" altLang="en-US" sz="2400" b="1" dirty="0" smtClean="0">
                <a:solidFill>
                  <a:schemeClr val="accent5">
                    <a:lumMod val="75000"/>
                  </a:schemeClr>
                </a:solidFill>
                <a:latin typeface="楷体" panose="02010609060101010101" pitchFamily="49" charset="-122"/>
                <a:ea typeface="楷体" panose="02010609060101010101" pitchFamily="49" charset="-122"/>
              </a:rPr>
              <a:t>停止位</a:t>
            </a:r>
            <a:endParaRPr lang="zh-CN" altLang="en-US" sz="2400" b="1" dirty="0">
              <a:solidFill>
                <a:schemeClr val="accent5">
                  <a:lumMod val="75000"/>
                </a:schemeClr>
              </a:solidFill>
              <a:latin typeface="楷体" panose="02010609060101010101" pitchFamily="49" charset="-122"/>
              <a:ea typeface="楷体" panose="02010609060101010101" pitchFamily="49" charset="-122"/>
            </a:endParaRPr>
          </a:p>
        </p:txBody>
      </p:sp>
      <p:cxnSp>
        <p:nvCxnSpPr>
          <p:cNvPr id="22" name="直接箭头连接符 21"/>
          <p:cNvCxnSpPr/>
          <p:nvPr/>
        </p:nvCxnSpPr>
        <p:spPr>
          <a:xfrm flipV="1">
            <a:off x="7256790" y="5265136"/>
            <a:ext cx="171420" cy="468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9144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539552" y="836712"/>
            <a:ext cx="7840679" cy="350046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第</a:t>
            </a:r>
            <a:r>
              <a:rPr kumimoji="0" lang="en-US" altLang="zh-CN"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11</a:t>
            </a:r>
            <a:r>
              <a:rPr kumimoji="0" lang="zh-CN" altLang="en-US" sz="4800" b="1" i="0" u="none" strike="noStrike" kern="1200" cap="none" spc="0" normalizeH="0" baseline="0" noProof="0" dirty="0" smtClean="0">
                <a:ln>
                  <a:noFill/>
                </a:ln>
                <a:solidFill>
                  <a:srgbClr val="FF0000"/>
                </a:solidFill>
                <a:effectLst/>
                <a:uLnTx/>
                <a:uFillTx/>
                <a:latin typeface="华文琥珀" panose="02010800040101010101" pitchFamily="2" charset="-122"/>
                <a:ea typeface="华文琥珀" panose="02010800040101010101" pitchFamily="2" charset="-122"/>
                <a:cs typeface="+mj-cs"/>
              </a:rPr>
              <a:t>章    习题</a:t>
            </a:r>
            <a:endParaRPr kumimoji="0" lang="zh-CN" altLang="en-US" sz="4800" b="1" i="0" u="none" strike="noStrike" kern="1200" cap="none" spc="0" normalizeH="0" baseline="0" noProof="0" dirty="0">
              <a:ln>
                <a:noFill/>
              </a:ln>
              <a:solidFill>
                <a:srgbClr val="FF0000"/>
              </a:solidFill>
              <a:effectLst/>
              <a:uLnTx/>
              <a:uFillTx/>
              <a:latin typeface="华文琥珀" panose="02010800040101010101" pitchFamily="2" charset="-122"/>
              <a:ea typeface="华文琥珀" panose="02010800040101010101" pitchFamily="2" charset="-122"/>
              <a:cs typeface="+mj-cs"/>
            </a:endParaRPr>
          </a:p>
        </p:txBody>
      </p:sp>
    </p:spTree>
    <p:extLst>
      <p:ext uri="{BB962C8B-B14F-4D97-AF65-F5344CB8AC3E}">
        <p14:creationId xmlns:p14="http://schemas.microsoft.com/office/powerpoint/2010/main" val="2201277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2550" y="49184"/>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11</a:t>
            </a: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72502" y="571504"/>
            <a:ext cx="8963994" cy="6025848"/>
          </a:xfrm>
          <a:prstGeom prst="rect">
            <a:avLst/>
          </a:prstGeom>
        </p:spPr>
        <p:txBody>
          <a:bodyPr/>
          <a:lstStyle/>
          <a:p>
            <a:pPr marL="182563" indent="447675">
              <a:lnSpc>
                <a:spcPct val="110000"/>
              </a:lnSpc>
              <a:spcBef>
                <a:spcPct val="20000"/>
              </a:spcBef>
            </a:pPr>
            <a:r>
              <a:rPr lang="zh-CN" altLang="en-US" sz="2800" b="1" dirty="0">
                <a:solidFill>
                  <a:schemeClr val="accent1">
                    <a:lumMod val="75000"/>
                  </a:schemeClr>
                </a:solidFill>
                <a:latin typeface="楷体" panose="02010609060101010101" pitchFamily="49" charset="-122"/>
                <a:ea typeface="楷体" panose="02010609060101010101" pitchFamily="49" charset="-122"/>
              </a:rPr>
              <a:t>传感器：将各种现场的物理量测量出来并转换成电信号</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。放大器</a:t>
            </a:r>
            <a:r>
              <a:rPr lang="zh-CN" altLang="en-US" sz="2800" b="1" dirty="0">
                <a:solidFill>
                  <a:schemeClr val="accent1">
                    <a:lumMod val="75000"/>
                  </a:schemeClr>
                </a:solidFill>
                <a:latin typeface="楷体" panose="02010609060101010101" pitchFamily="49" charset="-122"/>
                <a:ea typeface="楷体" panose="02010609060101010101" pitchFamily="49" charset="-122"/>
              </a:rPr>
              <a:t>：放大器把传感器输出的信号放大到</a:t>
            </a:r>
            <a:r>
              <a:rPr lang="en-US" altLang="zh-CN" sz="2800" b="1" dirty="0">
                <a:solidFill>
                  <a:schemeClr val="accent1">
                    <a:lumMod val="75000"/>
                  </a:schemeClr>
                </a:solidFill>
                <a:latin typeface="楷体" panose="02010609060101010101" pitchFamily="49" charset="-122"/>
                <a:ea typeface="楷体" panose="02010609060101010101" pitchFamily="49" charset="-122"/>
              </a:rPr>
              <a:t>ADC</a:t>
            </a:r>
            <a:r>
              <a:rPr lang="zh-CN" altLang="en-US" sz="2800" b="1" dirty="0">
                <a:solidFill>
                  <a:schemeClr val="accent1">
                    <a:lumMod val="75000"/>
                  </a:schemeClr>
                </a:solidFill>
                <a:latin typeface="楷体" panose="02010609060101010101" pitchFamily="49" charset="-122"/>
                <a:ea typeface="楷体" panose="02010609060101010101" pitchFamily="49" charset="-122"/>
              </a:rPr>
              <a:t>所需的量程范围</a:t>
            </a:r>
            <a:r>
              <a:rPr lang="zh-CN" altLang="en-US" sz="2800" b="1" dirty="0" smtClean="0">
                <a:solidFill>
                  <a:schemeClr val="accent1">
                    <a:lumMod val="75000"/>
                  </a:schemeClr>
                </a:solidFill>
                <a:latin typeface="楷体" panose="02010609060101010101" pitchFamily="49" charset="-122"/>
                <a:ea typeface="楷体" panose="02010609060101010101" pitchFamily="49" charset="-122"/>
              </a:rPr>
              <a:t>。低通滤波器</a:t>
            </a:r>
            <a:r>
              <a:rPr lang="zh-CN" altLang="en-US" sz="2800" b="1" dirty="0">
                <a:solidFill>
                  <a:schemeClr val="accent1">
                    <a:lumMod val="75000"/>
                  </a:schemeClr>
                </a:solidFill>
                <a:latin typeface="楷体" panose="02010609060101010101" pitchFamily="49" charset="-122"/>
                <a:ea typeface="楷体" panose="02010609060101010101" pitchFamily="49" charset="-122"/>
              </a:rPr>
              <a:t>：滤波器用于降低噪声、滤去高频干扰，以增加信噪比。</a:t>
            </a:r>
          </a:p>
          <a:p>
            <a:pPr marL="182563" indent="447675">
              <a:lnSpc>
                <a:spcPct val="110000"/>
              </a:lnSpc>
              <a:spcBef>
                <a:spcPct val="20000"/>
              </a:spcBef>
            </a:pPr>
            <a:r>
              <a:rPr lang="zh-CN" altLang="en-US" sz="2800" b="1" dirty="0">
                <a:solidFill>
                  <a:schemeClr val="accent1">
                    <a:lumMod val="75000"/>
                  </a:schemeClr>
                </a:solidFill>
                <a:latin typeface="楷体" panose="02010609060101010101" pitchFamily="49" charset="-122"/>
                <a:ea typeface="楷体" panose="02010609060101010101" pitchFamily="49" charset="-122"/>
              </a:rPr>
              <a:t>多路开关：对多个模拟信号分时地接通到</a:t>
            </a:r>
            <a:r>
              <a:rPr lang="en-US" altLang="zh-CN" sz="2800" b="1" dirty="0">
                <a:solidFill>
                  <a:schemeClr val="accent1">
                    <a:lumMod val="75000"/>
                  </a:schemeClr>
                </a:solidFill>
                <a:latin typeface="楷体" panose="02010609060101010101" pitchFamily="49" charset="-122"/>
                <a:ea typeface="楷体" panose="02010609060101010101" pitchFamily="49" charset="-122"/>
              </a:rPr>
              <a:t>A/D</a:t>
            </a:r>
            <a:r>
              <a:rPr lang="zh-CN" altLang="en-US" sz="2800" b="1" dirty="0">
                <a:solidFill>
                  <a:schemeClr val="accent1">
                    <a:lumMod val="75000"/>
                  </a:schemeClr>
                </a:solidFill>
                <a:latin typeface="楷体" panose="02010609060101010101" pitchFamily="49" charset="-122"/>
                <a:ea typeface="楷体" panose="02010609060101010101" pitchFamily="49" charset="-122"/>
              </a:rPr>
              <a:t>转换器上转换，达到共用</a:t>
            </a:r>
            <a:r>
              <a:rPr lang="en-US" altLang="zh-CN" sz="2800" b="1" dirty="0">
                <a:solidFill>
                  <a:schemeClr val="accent1">
                    <a:lumMod val="75000"/>
                  </a:schemeClr>
                </a:solidFill>
                <a:latin typeface="楷体" panose="02010609060101010101" pitchFamily="49" charset="-122"/>
                <a:ea typeface="楷体" panose="02010609060101010101" pitchFamily="49" charset="-122"/>
              </a:rPr>
              <a:t>A/D</a:t>
            </a:r>
            <a:r>
              <a:rPr lang="zh-CN" altLang="en-US" sz="2800" b="1" dirty="0">
                <a:solidFill>
                  <a:schemeClr val="accent1">
                    <a:lumMod val="75000"/>
                  </a:schemeClr>
                </a:solidFill>
                <a:latin typeface="楷体" panose="02010609060101010101" pitchFamily="49" charset="-122"/>
                <a:ea typeface="楷体" panose="02010609060101010101" pitchFamily="49" charset="-122"/>
              </a:rPr>
              <a:t>转换器以节省硬件的目的。</a:t>
            </a:r>
          </a:p>
          <a:p>
            <a:pPr marL="182563" indent="447675">
              <a:lnSpc>
                <a:spcPct val="110000"/>
              </a:lnSpc>
              <a:spcBef>
                <a:spcPct val="20000"/>
              </a:spcBef>
            </a:pPr>
            <a:r>
              <a:rPr lang="zh-CN" altLang="en-US" sz="2800" b="1" dirty="0">
                <a:solidFill>
                  <a:schemeClr val="accent1">
                    <a:lumMod val="75000"/>
                  </a:schemeClr>
                </a:solidFill>
                <a:latin typeface="楷体" panose="02010609060101010101" pitchFamily="49" charset="-122"/>
                <a:ea typeface="楷体" panose="02010609060101010101" pitchFamily="49" charset="-122"/>
              </a:rPr>
              <a:t>采样保持器：对高速变化的信号，使用采样保持器可保证</a:t>
            </a:r>
            <a:r>
              <a:rPr lang="en-US" altLang="zh-CN" sz="2800" b="1" dirty="0">
                <a:solidFill>
                  <a:schemeClr val="accent1">
                    <a:lumMod val="75000"/>
                  </a:schemeClr>
                </a:solidFill>
                <a:latin typeface="楷体" panose="02010609060101010101" pitchFamily="49" charset="-122"/>
                <a:ea typeface="楷体" panose="02010609060101010101" pitchFamily="49" charset="-122"/>
              </a:rPr>
              <a:t>A/D</a:t>
            </a:r>
            <a:r>
              <a:rPr lang="zh-CN" altLang="en-US" sz="2800" b="1" dirty="0">
                <a:solidFill>
                  <a:schemeClr val="accent1">
                    <a:lumMod val="75000"/>
                  </a:schemeClr>
                </a:solidFill>
                <a:latin typeface="楷体" panose="02010609060101010101" pitchFamily="49" charset="-122"/>
                <a:ea typeface="楷体" panose="02010609060101010101" pitchFamily="49" charset="-122"/>
              </a:rPr>
              <a:t>转换期间信号不变，保证转换精度。</a:t>
            </a:r>
          </a:p>
          <a:p>
            <a:pPr marL="182563" indent="447675">
              <a:lnSpc>
                <a:spcPct val="110000"/>
              </a:lnSpc>
              <a:spcBef>
                <a:spcPct val="20000"/>
              </a:spcBef>
            </a:pPr>
            <a:r>
              <a:rPr lang="en-US" altLang="zh-CN" sz="2800" b="1" dirty="0">
                <a:solidFill>
                  <a:schemeClr val="accent1">
                    <a:lumMod val="75000"/>
                  </a:schemeClr>
                </a:solidFill>
                <a:latin typeface="楷体" panose="02010609060101010101" pitchFamily="49" charset="-122"/>
                <a:ea typeface="楷体" panose="02010609060101010101" pitchFamily="49" charset="-122"/>
              </a:rPr>
              <a:t>D/A</a:t>
            </a:r>
            <a:r>
              <a:rPr lang="zh-CN" altLang="en-US" sz="2800" b="1" dirty="0">
                <a:solidFill>
                  <a:schemeClr val="accent1">
                    <a:lumMod val="75000"/>
                  </a:schemeClr>
                </a:solidFill>
                <a:latin typeface="楷体" panose="02010609060101010101" pitchFamily="49" charset="-122"/>
                <a:ea typeface="楷体" panose="02010609060101010101" pitchFamily="49" charset="-122"/>
              </a:rPr>
              <a:t>转换器：将微机处理后的数字量转换成为模拟量（电压或电流）。</a:t>
            </a:r>
          </a:p>
          <a:p>
            <a:pPr marL="182563" indent="447675">
              <a:lnSpc>
                <a:spcPct val="110000"/>
              </a:lnSpc>
              <a:spcBef>
                <a:spcPct val="20000"/>
              </a:spcBef>
            </a:pPr>
            <a:r>
              <a:rPr lang="en-US" altLang="zh-CN" sz="2800" b="1" dirty="0">
                <a:solidFill>
                  <a:schemeClr val="accent1">
                    <a:lumMod val="75000"/>
                  </a:schemeClr>
                </a:solidFill>
                <a:latin typeface="楷体" panose="02010609060101010101" pitchFamily="49" charset="-122"/>
                <a:ea typeface="楷体" panose="02010609060101010101" pitchFamily="49" charset="-122"/>
              </a:rPr>
              <a:t>A/D</a:t>
            </a:r>
            <a:r>
              <a:rPr lang="zh-CN" altLang="en-US" sz="2800" b="1" dirty="0">
                <a:solidFill>
                  <a:schemeClr val="accent1">
                    <a:lumMod val="75000"/>
                  </a:schemeClr>
                </a:solidFill>
                <a:latin typeface="楷体" panose="02010609060101010101" pitchFamily="49" charset="-122"/>
                <a:ea typeface="楷体" panose="02010609060101010101" pitchFamily="49" charset="-122"/>
              </a:rPr>
              <a:t>转换器：将模拟量（电压或电流）转换成为数字量输入微机处理。</a:t>
            </a:r>
          </a:p>
        </p:txBody>
      </p:sp>
    </p:spTree>
    <p:extLst>
      <p:ext uri="{BB962C8B-B14F-4D97-AF65-F5344CB8AC3E}">
        <p14:creationId xmlns:p14="http://schemas.microsoft.com/office/powerpoint/2010/main" val="2469748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2550" y="49184"/>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11</a:t>
            </a: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-2</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72502" y="571504"/>
            <a:ext cx="8963994" cy="6025848"/>
          </a:xfrm>
          <a:prstGeom prst="rect">
            <a:avLst/>
          </a:prstGeom>
        </p:spPr>
        <p:txBody>
          <a:bodyPr/>
          <a:lstStyle/>
          <a:p>
            <a:pPr marL="182563" indent="447675">
              <a:lnSpc>
                <a:spcPct val="110000"/>
              </a:lnSpc>
              <a:spcBef>
                <a:spcPct val="20000"/>
              </a:spcBef>
            </a:pPr>
            <a:r>
              <a:rPr lang="zh-CN" altLang="en-US" sz="2800" b="1" dirty="0">
                <a:solidFill>
                  <a:srgbClr val="4F81BD">
                    <a:lumMod val="75000"/>
                  </a:srgbClr>
                </a:solidFill>
                <a:latin typeface="楷体" panose="02010609060101010101" pitchFamily="49" charset="-122"/>
                <a:ea typeface="楷体" panose="02010609060101010101" pitchFamily="49" charset="-122"/>
              </a:rPr>
              <a:t>当</a:t>
            </a:r>
            <a:r>
              <a:rPr lang="en-US" altLang="zh-CN" sz="2800" b="1" dirty="0">
                <a:solidFill>
                  <a:srgbClr val="4F81BD">
                    <a:lumMod val="75000"/>
                  </a:srgbClr>
                </a:solidFill>
                <a:latin typeface="楷体" panose="02010609060101010101" pitchFamily="49" charset="-122"/>
                <a:ea typeface="楷体" panose="02010609060101010101" pitchFamily="49" charset="-122"/>
              </a:rPr>
              <a:t>A/D</a:t>
            </a:r>
            <a:r>
              <a:rPr lang="zh-CN" altLang="en-US" sz="2800" b="1" dirty="0">
                <a:solidFill>
                  <a:srgbClr val="4F81BD">
                    <a:lumMod val="75000"/>
                  </a:srgbClr>
                </a:solidFill>
                <a:latin typeface="楷体" panose="02010609060101010101" pitchFamily="49" charset="-122"/>
                <a:ea typeface="楷体" panose="02010609060101010101" pitchFamily="49" charset="-122"/>
              </a:rPr>
              <a:t>转换结束，</a:t>
            </a:r>
            <a:r>
              <a:rPr lang="en-US" altLang="zh-CN" sz="2800" b="1" dirty="0">
                <a:solidFill>
                  <a:srgbClr val="4F81BD">
                    <a:lumMod val="75000"/>
                  </a:srgbClr>
                </a:solidFill>
                <a:latin typeface="楷体" panose="02010609060101010101" pitchFamily="49" charset="-122"/>
                <a:ea typeface="楷体" panose="02010609060101010101" pitchFamily="49" charset="-122"/>
              </a:rPr>
              <a:t>ADC</a:t>
            </a:r>
            <a:r>
              <a:rPr lang="zh-CN" altLang="en-US" sz="2800" b="1" dirty="0">
                <a:solidFill>
                  <a:srgbClr val="4F81BD">
                    <a:lumMod val="75000"/>
                  </a:srgbClr>
                </a:solidFill>
                <a:latin typeface="楷体" panose="02010609060101010101" pitchFamily="49" charset="-122"/>
                <a:ea typeface="楷体" panose="02010609060101010101" pitchFamily="49" charset="-122"/>
              </a:rPr>
              <a:t>输出一个转换结束信号，通知主机读取结果</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。有</a:t>
            </a:r>
            <a:r>
              <a:rPr lang="zh-CN" altLang="en-US" sz="2800" b="1" dirty="0">
                <a:solidFill>
                  <a:srgbClr val="4F81BD">
                    <a:lumMod val="75000"/>
                  </a:srgbClr>
                </a:solidFill>
                <a:latin typeface="楷体" panose="02010609060101010101" pitchFamily="49" charset="-122"/>
                <a:ea typeface="楷体" panose="02010609060101010101" pitchFamily="49" charset="-122"/>
              </a:rPr>
              <a:t>多种使用</a:t>
            </a:r>
            <a:r>
              <a:rPr lang="en-US" altLang="zh-CN" sz="2800" b="1" dirty="0">
                <a:solidFill>
                  <a:srgbClr val="4F81BD">
                    <a:lumMod val="75000"/>
                  </a:srgbClr>
                </a:solidFill>
                <a:latin typeface="楷体" panose="02010609060101010101" pitchFamily="49" charset="-122"/>
                <a:ea typeface="楷体" panose="02010609060101010101" pitchFamily="49" charset="-122"/>
              </a:rPr>
              <a:t>A/D</a:t>
            </a:r>
            <a:r>
              <a:rPr lang="zh-CN" altLang="en-US" sz="2800" b="1" dirty="0">
                <a:solidFill>
                  <a:srgbClr val="4F81BD">
                    <a:lumMod val="75000"/>
                  </a:srgbClr>
                </a:solidFill>
                <a:latin typeface="楷体" panose="02010609060101010101" pitchFamily="49" charset="-122"/>
                <a:ea typeface="楷体" panose="02010609060101010101" pitchFamily="49" charset="-122"/>
              </a:rPr>
              <a:t>转换结束信号的方法，对应的程序设计方法也不同。</a:t>
            </a:r>
          </a:p>
          <a:p>
            <a:pPr marL="182563" indent="447675">
              <a:lnSpc>
                <a:spcPct val="110000"/>
              </a:lnSpc>
              <a:spcBef>
                <a:spcPct val="20000"/>
              </a:spcBef>
            </a:pPr>
            <a:r>
              <a:rPr lang="zh-CN" altLang="en-US" sz="2800" b="1" dirty="0">
                <a:solidFill>
                  <a:srgbClr val="4F81BD">
                    <a:lumMod val="75000"/>
                  </a:srgbClr>
                </a:solidFill>
                <a:latin typeface="楷体" panose="02010609060101010101" pitchFamily="49" charset="-122"/>
                <a:ea typeface="楷体" panose="02010609060101010101" pitchFamily="49" charset="-122"/>
              </a:rPr>
              <a:t>查询方式：把结束信号作为状态信号经三态缓冲器送到主机系统数据总线的某一位上。主机不断查询这个状态位，发现结束信号有效，便读取数据。</a:t>
            </a:r>
          </a:p>
          <a:p>
            <a:pPr marL="182563" indent="447675">
              <a:lnSpc>
                <a:spcPct val="110000"/>
              </a:lnSpc>
              <a:spcBef>
                <a:spcPct val="20000"/>
              </a:spcBef>
            </a:pPr>
            <a:r>
              <a:rPr lang="zh-CN" altLang="en-US" sz="2800" b="1" dirty="0">
                <a:solidFill>
                  <a:srgbClr val="4F81BD">
                    <a:lumMod val="75000"/>
                  </a:srgbClr>
                </a:solidFill>
                <a:latin typeface="楷体" panose="02010609060101010101" pitchFamily="49" charset="-122"/>
                <a:ea typeface="楷体" panose="02010609060101010101" pitchFamily="49" charset="-122"/>
              </a:rPr>
              <a:t>中断方式：把结束信号作为中断请求信号接到主机的中断请求线上。</a:t>
            </a:r>
            <a:r>
              <a:rPr lang="en-US" altLang="zh-CN" sz="2800" b="1" dirty="0">
                <a:solidFill>
                  <a:srgbClr val="4F81BD">
                    <a:lumMod val="75000"/>
                  </a:srgbClr>
                </a:solidFill>
                <a:latin typeface="楷体" panose="02010609060101010101" pitchFamily="49" charset="-122"/>
                <a:ea typeface="楷体" panose="02010609060101010101" pitchFamily="49" charset="-122"/>
              </a:rPr>
              <a:t>ADC</a:t>
            </a:r>
            <a:r>
              <a:rPr lang="zh-CN" altLang="en-US" sz="2800" b="1" dirty="0">
                <a:solidFill>
                  <a:srgbClr val="4F81BD">
                    <a:lumMod val="75000"/>
                  </a:srgbClr>
                </a:solidFill>
                <a:latin typeface="楷体" panose="02010609060101010101" pitchFamily="49" charset="-122"/>
                <a:ea typeface="楷体" panose="02010609060101010101" pitchFamily="49" charset="-122"/>
              </a:rPr>
              <a:t>转换结束，主动向处理器申请中断。处理器响应中断后，在中断服务程序中读取数据。</a:t>
            </a:r>
          </a:p>
          <a:p>
            <a:pPr marL="182563" indent="447675">
              <a:lnSpc>
                <a:spcPct val="110000"/>
              </a:lnSpc>
              <a:spcBef>
                <a:spcPct val="20000"/>
              </a:spcBef>
            </a:pPr>
            <a:r>
              <a:rPr lang="en-US" altLang="zh-CN" sz="2800" b="1" dirty="0">
                <a:solidFill>
                  <a:srgbClr val="4F81BD">
                    <a:lumMod val="75000"/>
                  </a:srgbClr>
                </a:solidFill>
                <a:latin typeface="楷体" panose="02010609060101010101" pitchFamily="49" charset="-122"/>
                <a:ea typeface="楷体" panose="02010609060101010101" pitchFamily="49" charset="-122"/>
              </a:rPr>
              <a:t>DMA</a:t>
            </a:r>
            <a:r>
              <a:rPr lang="zh-CN" altLang="en-US" sz="2800" b="1" dirty="0">
                <a:solidFill>
                  <a:srgbClr val="4F81BD">
                    <a:lumMod val="75000"/>
                  </a:srgbClr>
                </a:solidFill>
                <a:latin typeface="楷体" panose="02010609060101010101" pitchFamily="49" charset="-122"/>
                <a:ea typeface="楷体" panose="02010609060101010101" pitchFamily="49" charset="-122"/>
              </a:rPr>
              <a:t>传送方式：如果</a:t>
            </a:r>
            <a:r>
              <a:rPr lang="en-US" altLang="zh-CN" sz="2800" b="1" dirty="0">
                <a:solidFill>
                  <a:srgbClr val="4F81BD">
                    <a:lumMod val="75000"/>
                  </a:srgbClr>
                </a:solidFill>
                <a:latin typeface="楷体" panose="02010609060101010101" pitchFamily="49" charset="-122"/>
                <a:ea typeface="楷体" panose="02010609060101010101" pitchFamily="49" charset="-122"/>
              </a:rPr>
              <a:t>ADC</a:t>
            </a:r>
            <a:r>
              <a:rPr lang="zh-CN" altLang="en-US" sz="2800" b="1" dirty="0">
                <a:solidFill>
                  <a:srgbClr val="4F81BD">
                    <a:lumMod val="75000"/>
                  </a:srgbClr>
                </a:solidFill>
                <a:latin typeface="楷体" panose="02010609060101010101" pitchFamily="49" charset="-122"/>
                <a:ea typeface="楷体" panose="02010609060101010101" pitchFamily="49" charset="-122"/>
              </a:rPr>
              <a:t>速度足够快，可把结束信号作为</a:t>
            </a:r>
            <a:r>
              <a:rPr lang="en-US" altLang="zh-CN" sz="2800" b="1" dirty="0">
                <a:solidFill>
                  <a:srgbClr val="4F81BD">
                    <a:lumMod val="75000"/>
                  </a:srgbClr>
                </a:solidFill>
                <a:latin typeface="楷体" panose="02010609060101010101" pitchFamily="49" charset="-122"/>
                <a:ea typeface="楷体" panose="02010609060101010101" pitchFamily="49" charset="-122"/>
              </a:rPr>
              <a:t>DMA</a:t>
            </a:r>
            <a:r>
              <a:rPr lang="zh-CN" altLang="en-US" sz="2800" b="1" dirty="0">
                <a:solidFill>
                  <a:srgbClr val="4F81BD">
                    <a:lumMod val="75000"/>
                  </a:srgbClr>
                </a:solidFill>
                <a:latin typeface="楷体" panose="02010609060101010101" pitchFamily="49" charset="-122"/>
                <a:ea typeface="楷体" panose="02010609060101010101" pitchFamily="49" charset="-122"/>
              </a:rPr>
              <a:t>请求信号，采用</a:t>
            </a:r>
            <a:r>
              <a:rPr lang="en-US" altLang="zh-CN" sz="2800" b="1" dirty="0">
                <a:solidFill>
                  <a:srgbClr val="4F81BD">
                    <a:lumMod val="75000"/>
                  </a:srgbClr>
                </a:solidFill>
                <a:latin typeface="楷体" panose="02010609060101010101" pitchFamily="49" charset="-122"/>
                <a:ea typeface="楷体" panose="02010609060101010101" pitchFamily="49" charset="-122"/>
              </a:rPr>
              <a:t>DMA</a:t>
            </a:r>
            <a:r>
              <a:rPr lang="zh-CN" altLang="en-US" sz="2800" b="1" dirty="0">
                <a:solidFill>
                  <a:srgbClr val="4F81BD">
                    <a:lumMod val="75000"/>
                  </a:srgbClr>
                </a:solidFill>
                <a:latin typeface="楷体" panose="02010609060101010101" pitchFamily="49" charset="-122"/>
                <a:ea typeface="楷体" panose="02010609060101010101" pitchFamily="49" charset="-122"/>
              </a:rPr>
              <a:t>传送方式</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a:t>
            </a:r>
            <a:endParaRPr lang="en-US" altLang="zh-CN" sz="2800" b="1" dirty="0" smtClean="0">
              <a:solidFill>
                <a:srgbClr val="4F81BD">
                  <a:lumMod val="75000"/>
                </a:srgb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en-US" sz="2800" b="1" dirty="0" smtClean="0">
                <a:solidFill>
                  <a:srgbClr val="4F81BD">
                    <a:lumMod val="75000"/>
                  </a:srgbClr>
                </a:solidFill>
                <a:latin typeface="楷体" panose="02010609060101010101" pitchFamily="49" charset="-122"/>
                <a:ea typeface="楷体" panose="02010609060101010101" pitchFamily="49" charset="-122"/>
              </a:rPr>
              <a:t>延时传送方式不使用转换结束信号。</a:t>
            </a:r>
            <a:endParaRPr lang="zh-CN" altLang="en-US" sz="2800" b="1" dirty="0">
              <a:solidFill>
                <a:srgbClr val="4F81BD">
                  <a:lumMod val="75000"/>
                </a:srgbClr>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01038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2550" y="49184"/>
            <a:ext cx="6043626" cy="571504"/>
          </a:xfrm>
        </p:spPr>
        <p:txBody>
          <a:bodyPr>
            <a:normAutofit fontScale="90000"/>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11</a:t>
            </a: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-4</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127358" y="650361"/>
            <a:ext cx="8675962" cy="3505568"/>
          </a:xfrm>
          <a:prstGeom prst="rect">
            <a:avLst/>
          </a:prstGeom>
        </p:spPr>
        <p:txBody>
          <a:bodyPr/>
          <a:lstStyle/>
          <a:p>
            <a:pPr marL="182563" indent="447675">
              <a:lnSpc>
                <a:spcPct val="110000"/>
              </a:lnSpc>
              <a:spcBef>
                <a:spcPct val="20000"/>
              </a:spcBef>
            </a:pPr>
            <a:r>
              <a:rPr lang="zh-CN" altLang="en-US" sz="2800" b="1" dirty="0" smtClean="0">
                <a:solidFill>
                  <a:srgbClr val="4F81BD">
                    <a:lumMod val="75000"/>
                  </a:srgbClr>
                </a:solidFill>
                <a:latin typeface="楷体" panose="02010609060101010101" pitchFamily="49" charset="-122"/>
                <a:ea typeface="楷体" panose="02010609060101010101" pitchFamily="49" charset="-122"/>
              </a:rPr>
              <a:t>单缓冲</a:t>
            </a:r>
            <a:r>
              <a:rPr lang="zh-CN" altLang="en-US" sz="2800" b="1" dirty="0">
                <a:solidFill>
                  <a:srgbClr val="4F81BD">
                    <a:lumMod val="75000"/>
                  </a:srgbClr>
                </a:solidFill>
                <a:latin typeface="楷体" panose="02010609060101010101" pitchFamily="49" charset="-122"/>
                <a:ea typeface="楷体" panose="02010609060101010101" pitchFamily="49" charset="-122"/>
              </a:rPr>
              <a:t>方式：使输入寄存器或</a:t>
            </a:r>
            <a:r>
              <a:rPr lang="en-US" altLang="zh-CN" sz="2800" b="1" dirty="0">
                <a:solidFill>
                  <a:srgbClr val="4F81BD">
                    <a:lumMod val="75000"/>
                  </a:srgbClr>
                </a:solidFill>
                <a:latin typeface="楷体" panose="02010609060101010101" pitchFamily="49" charset="-122"/>
                <a:ea typeface="楷体" panose="02010609060101010101" pitchFamily="49" charset="-122"/>
              </a:rPr>
              <a:t>DAC</a:t>
            </a:r>
            <a:r>
              <a:rPr lang="zh-CN" altLang="en-US" sz="2800" b="1" dirty="0">
                <a:solidFill>
                  <a:srgbClr val="4F81BD">
                    <a:lumMod val="75000"/>
                  </a:srgbClr>
                </a:solidFill>
                <a:latin typeface="楷体" panose="02010609060101010101" pitchFamily="49" charset="-122"/>
                <a:ea typeface="楷体" panose="02010609060101010101" pitchFamily="49" charset="-122"/>
              </a:rPr>
              <a:t>寄存器二者之一处于直通，这时，</a:t>
            </a:r>
            <a:r>
              <a:rPr lang="en-US" altLang="zh-CN" sz="2800" b="1" dirty="0">
                <a:solidFill>
                  <a:srgbClr val="4F81BD">
                    <a:lumMod val="75000"/>
                  </a:srgbClr>
                </a:solidFill>
                <a:latin typeface="楷体" panose="02010609060101010101" pitchFamily="49" charset="-122"/>
                <a:ea typeface="楷体" panose="02010609060101010101" pitchFamily="49" charset="-122"/>
              </a:rPr>
              <a:t>CPU</a:t>
            </a:r>
            <a:r>
              <a:rPr lang="zh-CN" altLang="en-US" sz="2800" b="1" dirty="0">
                <a:solidFill>
                  <a:srgbClr val="4F81BD">
                    <a:lumMod val="75000"/>
                  </a:srgbClr>
                </a:solidFill>
                <a:latin typeface="楷体" panose="02010609060101010101" pitchFamily="49" charset="-122"/>
                <a:ea typeface="楷体" panose="02010609060101010101" pitchFamily="49" charset="-122"/>
              </a:rPr>
              <a:t>只需一次写入</a:t>
            </a:r>
            <a:r>
              <a:rPr lang="en-US" altLang="zh-CN" sz="2800" b="1" dirty="0">
                <a:solidFill>
                  <a:srgbClr val="4F81BD">
                    <a:lumMod val="75000"/>
                  </a:srgbClr>
                </a:solidFill>
                <a:latin typeface="楷体" panose="02010609060101010101" pitchFamily="49" charset="-122"/>
                <a:ea typeface="楷体" panose="02010609060101010101" pitchFamily="49" charset="-122"/>
              </a:rPr>
              <a:t>DAC 0832</a:t>
            </a:r>
            <a:r>
              <a:rPr lang="zh-CN" altLang="en-US" sz="2800" b="1" dirty="0">
                <a:solidFill>
                  <a:srgbClr val="4F81BD">
                    <a:lumMod val="75000"/>
                  </a:srgbClr>
                </a:solidFill>
                <a:latin typeface="楷体" panose="02010609060101010101" pitchFamily="49" charset="-122"/>
                <a:ea typeface="楷体" panose="02010609060101010101" pitchFamily="49" charset="-122"/>
              </a:rPr>
              <a:t>即开始转换</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。适用于</a:t>
            </a:r>
            <a:r>
              <a:rPr lang="zh-CN" altLang="en-US" sz="2800" b="1" dirty="0">
                <a:solidFill>
                  <a:srgbClr val="4F81BD">
                    <a:lumMod val="75000"/>
                  </a:srgbClr>
                </a:solidFill>
                <a:latin typeface="楷体" panose="02010609060101010101" pitchFamily="49" charset="-122"/>
                <a:ea typeface="楷体" panose="02010609060101010101" pitchFamily="49" charset="-122"/>
              </a:rPr>
              <a:t>一路模拟量输出，或多路模拟量非同步输出。</a:t>
            </a:r>
          </a:p>
          <a:p>
            <a:pPr marL="182563" indent="447675">
              <a:lnSpc>
                <a:spcPct val="110000"/>
              </a:lnSpc>
              <a:spcBef>
                <a:spcPct val="20000"/>
              </a:spcBef>
            </a:pPr>
            <a:endParaRPr lang="zh-CN" altLang="en-US" sz="2800" b="1" dirty="0">
              <a:solidFill>
                <a:srgbClr val="4F81BD">
                  <a:lumMod val="75000"/>
                </a:srgbClr>
              </a:solidFill>
              <a:latin typeface="楷体" panose="02010609060101010101" pitchFamily="49" charset="-122"/>
              <a:ea typeface="楷体" panose="02010609060101010101" pitchFamily="49" charset="-122"/>
            </a:endParaRPr>
          </a:p>
        </p:txBody>
      </p:sp>
      <p:grpSp>
        <p:nvGrpSpPr>
          <p:cNvPr id="5" name="组合 4"/>
          <p:cNvGrpSpPr/>
          <p:nvPr/>
        </p:nvGrpSpPr>
        <p:grpSpPr>
          <a:xfrm>
            <a:off x="323792" y="2611455"/>
            <a:ext cx="8077200" cy="3429024"/>
            <a:chOff x="428596" y="785794"/>
            <a:chExt cx="8077200" cy="3429024"/>
          </a:xfrm>
        </p:grpSpPr>
        <p:sp>
          <p:nvSpPr>
            <p:cNvPr id="6" name="Rectangle 3"/>
            <p:cNvSpPr txBox="1">
              <a:spLocks noChangeArrowheads="1"/>
            </p:cNvSpPr>
            <p:nvPr/>
          </p:nvSpPr>
          <p:spPr>
            <a:xfrm>
              <a:off x="428596" y="785794"/>
              <a:ext cx="8077200" cy="3429024"/>
            </a:xfrm>
            <a:prstGeom prst="rect">
              <a:avLst/>
            </a:prstGeom>
          </p:spPr>
          <p:txBody>
            <a:bodyPr/>
            <a:lstStyle/>
            <a:p>
              <a:pPr marL="80963" marR="0" lvl="0" indent="549275" algn="just" defTabSz="914400" eaLnBrk="1" fontAlgn="base" latinLnBrk="0" hangingPunct="1">
                <a:lnSpc>
                  <a:spcPct val="130000"/>
                </a:lnSpc>
                <a:spcBef>
                  <a:spcPct val="20000"/>
                </a:spcBef>
                <a:spcAft>
                  <a:spcPct val="0"/>
                </a:spcAft>
                <a:buClr>
                  <a:srgbClr val="808080"/>
                </a:buClr>
                <a:buSzTx/>
                <a:buFontTx/>
                <a:buNone/>
                <a:tabLst/>
                <a:defRPr/>
              </a:pPr>
              <a:r>
                <a:rPr kumimoji="0" lang="zh-CN" altLang="en-US" sz="2800" b="1" i="0" u="none" strike="noStrike" kern="0" cap="none" spc="0" normalizeH="0" baseline="0" noProof="0" dirty="0" smtClean="0">
                  <a:ln>
                    <a:noFill/>
                  </a:ln>
                  <a:solidFill>
                    <a:srgbClr val="3333CC"/>
                  </a:solidFill>
                  <a:effectLst/>
                  <a:uLnTx/>
                  <a:uFillTx/>
                  <a:latin typeface="Times New Roman"/>
                </a:rPr>
                <a:t>连接</a:t>
              </a:r>
              <a:r>
                <a:rPr kumimoji="0" lang="zh-CN" altLang="en-US" sz="2800" b="1" i="0" u="none" strike="noStrike" kern="0" cap="none" spc="0" normalizeH="0" baseline="0" noProof="0" dirty="0" smtClean="0">
                  <a:ln>
                    <a:noFill/>
                  </a:ln>
                  <a:solidFill>
                    <a:srgbClr val="000000"/>
                  </a:solidFill>
                  <a:effectLst/>
                  <a:uLnTx/>
                  <a:uFillTx/>
                  <a:latin typeface="Times New Roman"/>
                </a:rPr>
                <a:t>：采用单缓冲方式时，通常将</a:t>
              </a:r>
              <a:r>
                <a:rPr kumimoji="0" lang="en-US" altLang="zh-CN" sz="2800" b="1" i="0" u="none" strike="noStrike" kern="0" cap="none" spc="0" normalizeH="0" baseline="0" noProof="0" dirty="0" smtClean="0">
                  <a:ln>
                    <a:noFill/>
                  </a:ln>
                  <a:solidFill>
                    <a:srgbClr val="000000"/>
                  </a:solidFill>
                  <a:effectLst/>
                  <a:uLnTx/>
                  <a:uFillTx/>
                  <a:latin typeface="Times New Roman"/>
                </a:rPr>
                <a:t>WR</a:t>
              </a:r>
              <a:r>
                <a:rPr kumimoji="0" lang="en-US" altLang="zh-CN" sz="2800" b="1" i="0" u="none" strike="noStrike" kern="0" cap="none" spc="0" normalizeH="0" baseline="-25000" noProof="0" dirty="0" smtClean="0">
                  <a:ln>
                    <a:noFill/>
                  </a:ln>
                  <a:solidFill>
                    <a:srgbClr val="000000"/>
                  </a:solidFill>
                  <a:effectLst/>
                  <a:uLnTx/>
                  <a:uFillTx/>
                  <a:latin typeface="Times New Roman"/>
                </a:rPr>
                <a:t>2</a:t>
              </a:r>
              <a:r>
                <a:rPr kumimoji="0" lang="zh-CN" altLang="en-US" sz="2800" b="1" i="0" u="none" strike="noStrike" kern="0" cap="none" spc="0" normalizeH="0" baseline="0" noProof="0" dirty="0" smtClean="0">
                  <a:ln>
                    <a:noFill/>
                  </a:ln>
                  <a:solidFill>
                    <a:srgbClr val="000000"/>
                  </a:solidFill>
                  <a:effectLst/>
                  <a:uLnTx/>
                  <a:uFillTx/>
                  <a:latin typeface="Times New Roman"/>
                </a:rPr>
                <a:t>和</a:t>
              </a:r>
              <a:r>
                <a:rPr kumimoji="0" lang="en-US" altLang="zh-CN" sz="2800" b="1" i="0" u="none" strike="noStrike" kern="0" cap="none" spc="0" normalizeH="0" baseline="0" noProof="0" dirty="0" smtClean="0">
                  <a:ln>
                    <a:noFill/>
                  </a:ln>
                  <a:solidFill>
                    <a:srgbClr val="000000"/>
                  </a:solidFill>
                  <a:effectLst/>
                  <a:uLnTx/>
                  <a:uFillTx/>
                  <a:latin typeface="Times New Roman"/>
                </a:rPr>
                <a:t>XFER</a:t>
              </a:r>
              <a:r>
                <a:rPr kumimoji="0" lang="zh-CN" altLang="en-US" sz="2800" b="1" i="0" u="none" strike="noStrike" kern="0" cap="none" spc="0" normalizeH="0" baseline="0" noProof="0" dirty="0" smtClean="0">
                  <a:ln>
                    <a:noFill/>
                  </a:ln>
                  <a:solidFill>
                    <a:srgbClr val="000000"/>
                  </a:solidFill>
                  <a:effectLst/>
                  <a:uLnTx/>
                  <a:uFillTx/>
                  <a:latin typeface="Times New Roman"/>
                </a:rPr>
                <a:t>接地，使</a:t>
              </a:r>
              <a:r>
                <a:rPr kumimoji="0" lang="en-US" altLang="zh-CN" sz="2800" b="1" i="0" u="none" strike="noStrike" kern="0" cap="none" spc="0" normalizeH="0" baseline="0" noProof="0" dirty="0" smtClean="0">
                  <a:ln>
                    <a:noFill/>
                  </a:ln>
                  <a:solidFill>
                    <a:srgbClr val="000000"/>
                  </a:solidFill>
                  <a:effectLst/>
                  <a:uLnTx/>
                  <a:uFillTx/>
                  <a:latin typeface="Times New Roman"/>
                </a:rPr>
                <a:t>DAC</a:t>
              </a:r>
              <a:r>
                <a:rPr kumimoji="0" lang="zh-CN" altLang="en-US" sz="2800" b="1" i="0" u="none" strike="noStrike" kern="0" cap="none" spc="0" normalizeH="0" baseline="0" noProof="0" dirty="0" smtClean="0">
                  <a:ln>
                    <a:noFill/>
                  </a:ln>
                  <a:solidFill>
                    <a:srgbClr val="000000"/>
                  </a:solidFill>
                  <a:effectLst/>
                  <a:uLnTx/>
                  <a:uFillTx/>
                  <a:latin typeface="Times New Roman"/>
                </a:rPr>
                <a:t>寄存器处于直通方式，另外把</a:t>
              </a:r>
              <a:r>
                <a:rPr kumimoji="0" lang="en-US" altLang="zh-CN" sz="2800" b="1" i="0" u="none" strike="noStrike" kern="0" cap="none" spc="0" normalizeH="0" baseline="0" noProof="0" dirty="0" smtClean="0">
                  <a:ln>
                    <a:noFill/>
                  </a:ln>
                  <a:solidFill>
                    <a:srgbClr val="000000"/>
                  </a:solidFill>
                  <a:effectLst/>
                  <a:uLnTx/>
                  <a:uFillTx/>
                  <a:latin typeface="Times New Roman"/>
                </a:rPr>
                <a:t>ILE</a:t>
              </a:r>
              <a:r>
                <a:rPr kumimoji="0" lang="zh-CN" altLang="en-US" sz="2800" b="1" i="0" u="none" strike="noStrike" kern="0" cap="none" spc="0" normalizeH="0" baseline="0" noProof="0" dirty="0" smtClean="0">
                  <a:ln>
                    <a:noFill/>
                  </a:ln>
                  <a:solidFill>
                    <a:srgbClr val="000000"/>
                  </a:solidFill>
                  <a:effectLst/>
                  <a:uLnTx/>
                  <a:uFillTx/>
                  <a:latin typeface="Times New Roman"/>
                </a:rPr>
                <a:t>接</a:t>
              </a:r>
              <a:r>
                <a:rPr kumimoji="0" lang="en-US" altLang="zh-CN" sz="2800" b="1" i="0" u="none" strike="noStrike" kern="0" cap="none" spc="0" normalizeH="0" baseline="0" noProof="0" dirty="0" smtClean="0">
                  <a:ln>
                    <a:noFill/>
                  </a:ln>
                  <a:solidFill>
                    <a:srgbClr val="000000"/>
                  </a:solidFill>
                  <a:effectLst/>
                  <a:uLnTx/>
                  <a:uFillTx/>
                  <a:latin typeface="Times New Roman"/>
                </a:rPr>
                <a:t>+5V</a:t>
              </a:r>
              <a:r>
                <a:rPr kumimoji="0" lang="zh-CN" altLang="en-US" sz="2800" b="1" i="0" u="none" strike="noStrike" kern="0" cap="none" spc="0" normalizeH="0" baseline="0" noProof="0" dirty="0" smtClean="0">
                  <a:ln>
                    <a:noFill/>
                  </a:ln>
                  <a:solidFill>
                    <a:srgbClr val="000000"/>
                  </a:solidFill>
                  <a:effectLst/>
                  <a:uLnTx/>
                  <a:uFillTx/>
                  <a:latin typeface="Times New Roman"/>
                </a:rPr>
                <a:t>，</a:t>
              </a:r>
              <a:r>
                <a:rPr kumimoji="0" lang="en-US" altLang="zh-CN" sz="2800" b="1" i="0" u="none" strike="noStrike" kern="0" cap="none" spc="0" normalizeH="0" baseline="0" noProof="0" dirty="0" smtClean="0">
                  <a:ln>
                    <a:noFill/>
                  </a:ln>
                  <a:solidFill>
                    <a:srgbClr val="000000"/>
                  </a:solidFill>
                  <a:effectLst/>
                  <a:uLnTx/>
                  <a:uFillTx/>
                  <a:latin typeface="Times New Roman"/>
                </a:rPr>
                <a:t>CS</a:t>
              </a:r>
              <a:r>
                <a:rPr kumimoji="0" lang="zh-CN" altLang="en-US" sz="2800" b="1" i="0" u="none" strike="noStrike" kern="0" cap="none" spc="0" normalizeH="0" baseline="0" noProof="0" dirty="0" smtClean="0">
                  <a:ln>
                    <a:noFill/>
                  </a:ln>
                  <a:solidFill>
                    <a:srgbClr val="000000"/>
                  </a:solidFill>
                  <a:effectLst/>
                  <a:uLnTx/>
                  <a:uFillTx/>
                  <a:latin typeface="Times New Roman"/>
                </a:rPr>
                <a:t>接端口地址译码信号，</a:t>
              </a:r>
              <a:r>
                <a:rPr kumimoji="0" lang="en-US" altLang="zh-CN" sz="2800" b="1" i="0" u="none" strike="noStrike" kern="0" cap="none" spc="0" normalizeH="0" baseline="0" noProof="0" dirty="0" smtClean="0">
                  <a:ln>
                    <a:noFill/>
                  </a:ln>
                  <a:solidFill>
                    <a:srgbClr val="000000"/>
                  </a:solidFill>
                  <a:effectLst/>
                  <a:uLnTx/>
                  <a:uFillTx/>
                  <a:latin typeface="Times New Roman"/>
                </a:rPr>
                <a:t>WR</a:t>
              </a:r>
              <a:r>
                <a:rPr kumimoji="0" lang="en-US" altLang="zh-CN" sz="2800" b="1" i="0" u="none" strike="noStrike" kern="0" cap="none" spc="0" normalizeH="0" baseline="-25000" noProof="0" dirty="0">
                  <a:ln>
                    <a:noFill/>
                  </a:ln>
                  <a:solidFill>
                    <a:srgbClr val="000000"/>
                  </a:solidFill>
                  <a:effectLst/>
                  <a:uLnTx/>
                  <a:uFillTx/>
                  <a:latin typeface="Times New Roman"/>
                </a:rPr>
                <a:t>1</a:t>
              </a:r>
              <a:r>
                <a:rPr kumimoji="0" lang="zh-CN" altLang="en-US" sz="2800" b="1" i="0" u="none" strike="noStrike" kern="0" cap="none" spc="0" normalizeH="0" baseline="0" noProof="0" dirty="0" smtClean="0">
                  <a:ln>
                    <a:noFill/>
                  </a:ln>
                  <a:solidFill>
                    <a:srgbClr val="000000"/>
                  </a:solidFill>
                  <a:effectLst/>
                  <a:uLnTx/>
                  <a:uFillTx/>
                  <a:latin typeface="Times New Roman"/>
                </a:rPr>
                <a:t>接系统总线的</a:t>
              </a:r>
              <a:r>
                <a:rPr kumimoji="0" lang="en-US" altLang="zh-CN" sz="2800" b="1" i="0" u="none" strike="noStrike" kern="0" cap="none" spc="0" normalizeH="0" baseline="0" noProof="0" dirty="0" smtClean="0">
                  <a:ln>
                    <a:noFill/>
                  </a:ln>
                  <a:solidFill>
                    <a:srgbClr val="000000"/>
                  </a:solidFill>
                  <a:effectLst/>
                  <a:uLnTx/>
                  <a:uFillTx/>
                  <a:latin typeface="Times New Roman"/>
                </a:rPr>
                <a:t>IOW</a:t>
              </a:r>
              <a:r>
                <a:rPr kumimoji="0" lang="zh-CN" altLang="en-US" sz="2800" b="1" i="0" u="none" strike="noStrike" kern="0" cap="none" spc="0" normalizeH="0" baseline="0" noProof="0" dirty="0" smtClean="0">
                  <a:ln>
                    <a:noFill/>
                  </a:ln>
                  <a:solidFill>
                    <a:srgbClr val="000000"/>
                  </a:solidFill>
                  <a:effectLst/>
                  <a:uLnTx/>
                  <a:uFillTx/>
                  <a:latin typeface="Times New Roman"/>
                </a:rPr>
                <a:t>信号。</a:t>
              </a:r>
              <a:endParaRPr kumimoji="0" lang="en-US" altLang="zh-CN" sz="2800" b="1" i="0" u="none" strike="noStrike" kern="0" cap="none" spc="0" normalizeH="0" baseline="0" noProof="0" dirty="0" smtClean="0">
                <a:ln>
                  <a:noFill/>
                </a:ln>
                <a:solidFill>
                  <a:srgbClr val="000000"/>
                </a:solidFill>
                <a:effectLst/>
                <a:uLnTx/>
                <a:uFillTx/>
                <a:latin typeface="Times New Roman"/>
              </a:endParaRPr>
            </a:p>
            <a:p>
              <a:pPr marL="80963" marR="0" lvl="0" indent="549275" algn="just" defTabSz="914400" eaLnBrk="1" fontAlgn="base" latinLnBrk="0" hangingPunct="1">
                <a:lnSpc>
                  <a:spcPct val="130000"/>
                </a:lnSpc>
                <a:spcBef>
                  <a:spcPct val="20000"/>
                </a:spcBef>
                <a:spcAft>
                  <a:spcPct val="0"/>
                </a:spcAft>
                <a:buClr>
                  <a:srgbClr val="808080"/>
                </a:buClr>
                <a:buSzTx/>
                <a:buFontTx/>
                <a:buNone/>
                <a:tabLst/>
                <a:defRPr/>
              </a:pPr>
              <a:r>
                <a:rPr kumimoji="0" lang="zh-CN" altLang="en-US" sz="2800" b="1" i="0" u="none" strike="noStrike" kern="0" cap="none" spc="0" normalizeH="0" baseline="0" noProof="0" dirty="0" smtClean="0">
                  <a:ln>
                    <a:noFill/>
                  </a:ln>
                  <a:solidFill>
                    <a:srgbClr val="000000"/>
                  </a:solidFill>
                  <a:effectLst/>
                  <a:uLnTx/>
                  <a:uFillTx/>
                  <a:latin typeface="Times New Roman"/>
                </a:rPr>
                <a:t>当</a:t>
              </a:r>
              <a:r>
                <a:rPr kumimoji="0" lang="en-US" altLang="zh-CN" sz="2800" b="1" i="0" u="none" strike="noStrike" kern="0" cap="none" spc="0" normalizeH="0" baseline="0" noProof="0" dirty="0" smtClean="0">
                  <a:ln>
                    <a:noFill/>
                  </a:ln>
                  <a:solidFill>
                    <a:srgbClr val="000000"/>
                  </a:solidFill>
                  <a:effectLst/>
                  <a:uLnTx/>
                  <a:uFillTx/>
                  <a:latin typeface="Times New Roman"/>
                </a:rPr>
                <a:t>CPU</a:t>
              </a:r>
              <a:r>
                <a:rPr kumimoji="0" lang="zh-CN" altLang="en-US" sz="2800" b="1" i="0" u="none" strike="noStrike" kern="0" cap="none" spc="0" normalizeH="0" baseline="0" noProof="0" dirty="0" smtClean="0">
                  <a:ln>
                    <a:noFill/>
                  </a:ln>
                  <a:solidFill>
                    <a:srgbClr val="000000"/>
                  </a:solidFill>
                  <a:effectLst/>
                  <a:uLnTx/>
                  <a:uFillTx/>
                  <a:latin typeface="Times New Roman"/>
                </a:rPr>
                <a:t>执行一条</a:t>
              </a:r>
              <a:r>
                <a:rPr kumimoji="0" lang="en-US" altLang="zh-CN" sz="2800" b="1" i="0" u="none" strike="noStrike" kern="0" cap="none" spc="0" normalizeH="0" baseline="0" noProof="0" dirty="0" smtClean="0">
                  <a:ln>
                    <a:noFill/>
                  </a:ln>
                  <a:solidFill>
                    <a:srgbClr val="000000"/>
                  </a:solidFill>
                  <a:effectLst/>
                  <a:uLnTx/>
                  <a:uFillTx/>
                  <a:latin typeface="Times New Roman"/>
                </a:rPr>
                <a:t>OUT</a:t>
              </a:r>
              <a:r>
                <a:rPr kumimoji="0" lang="zh-CN" altLang="en-US" sz="2800" b="1" i="0" u="none" strike="noStrike" kern="0" cap="none" spc="0" normalizeH="0" baseline="0" noProof="0" dirty="0" smtClean="0">
                  <a:ln>
                    <a:noFill/>
                  </a:ln>
                  <a:solidFill>
                    <a:srgbClr val="000000"/>
                  </a:solidFill>
                  <a:effectLst/>
                  <a:uLnTx/>
                  <a:uFillTx/>
                  <a:latin typeface="Times New Roman"/>
                </a:rPr>
                <a:t>指令时，选中该端口，使</a:t>
              </a:r>
              <a:r>
                <a:rPr kumimoji="0" lang="en-US" altLang="zh-CN" sz="2800" b="1" i="0" u="none" strike="noStrike" kern="0" cap="none" spc="0" normalizeH="0" baseline="0" noProof="0" dirty="0" smtClean="0">
                  <a:ln>
                    <a:noFill/>
                  </a:ln>
                  <a:solidFill>
                    <a:srgbClr val="000000"/>
                  </a:solidFill>
                  <a:effectLst/>
                  <a:uLnTx/>
                  <a:uFillTx/>
                  <a:latin typeface="Times New Roman"/>
                </a:rPr>
                <a:t>CS</a:t>
              </a:r>
              <a:r>
                <a:rPr kumimoji="0" lang="zh-CN" altLang="en-US" sz="2800" b="1" i="0" u="none" strike="noStrike" kern="0" cap="none" spc="0" normalizeH="0" baseline="0" noProof="0" dirty="0" smtClean="0">
                  <a:ln>
                    <a:noFill/>
                  </a:ln>
                  <a:solidFill>
                    <a:srgbClr val="000000"/>
                  </a:solidFill>
                  <a:effectLst/>
                  <a:uLnTx/>
                  <a:uFillTx/>
                  <a:latin typeface="Times New Roman"/>
                </a:rPr>
                <a:t>和</a:t>
              </a:r>
              <a:r>
                <a:rPr kumimoji="0" lang="en-US" altLang="zh-CN" sz="2800" b="1" i="0" u="none" strike="noStrike" kern="0" cap="none" spc="0" normalizeH="0" baseline="0" noProof="0" dirty="0" smtClean="0">
                  <a:ln>
                    <a:noFill/>
                  </a:ln>
                  <a:solidFill>
                    <a:srgbClr val="000000"/>
                  </a:solidFill>
                  <a:effectLst/>
                  <a:uLnTx/>
                  <a:uFillTx/>
                  <a:latin typeface="Times New Roman"/>
                </a:rPr>
                <a:t>WR</a:t>
              </a:r>
              <a:r>
                <a:rPr kumimoji="0" lang="en-US" altLang="zh-CN" sz="2800" b="1" i="0" u="none" strike="noStrike" kern="0" cap="none" spc="0" normalizeH="0" baseline="-25000" noProof="0" dirty="0">
                  <a:ln>
                    <a:noFill/>
                  </a:ln>
                  <a:solidFill>
                    <a:srgbClr val="000000"/>
                  </a:solidFill>
                  <a:effectLst/>
                  <a:uLnTx/>
                  <a:uFillTx/>
                  <a:latin typeface="Times New Roman"/>
                </a:rPr>
                <a:t>1</a:t>
              </a:r>
              <a:r>
                <a:rPr kumimoji="0" lang="zh-CN" altLang="en-US" sz="2800" b="1" i="0" u="none" strike="noStrike" kern="0" cap="none" spc="0" normalizeH="0" baseline="0" noProof="0" dirty="0" smtClean="0">
                  <a:ln>
                    <a:noFill/>
                  </a:ln>
                  <a:solidFill>
                    <a:srgbClr val="000000"/>
                  </a:solidFill>
                  <a:effectLst/>
                  <a:uLnTx/>
                  <a:uFillTx/>
                  <a:latin typeface="Times New Roman"/>
                </a:rPr>
                <a:t>有效，便可启动</a:t>
              </a:r>
              <a:r>
                <a:rPr kumimoji="0" lang="en-US" altLang="zh-CN" sz="2800" b="1" i="0" u="none" strike="noStrike" kern="0" cap="none" spc="0" normalizeH="0" baseline="0" noProof="0" dirty="0" smtClean="0">
                  <a:ln>
                    <a:noFill/>
                  </a:ln>
                  <a:solidFill>
                    <a:srgbClr val="000000"/>
                  </a:solidFill>
                  <a:effectLst/>
                  <a:uLnTx/>
                  <a:uFillTx/>
                  <a:latin typeface="Times New Roman"/>
                </a:rPr>
                <a:t>D/A</a:t>
              </a:r>
              <a:r>
                <a:rPr kumimoji="0" lang="zh-CN" altLang="en-US" sz="2800" b="1" i="0" u="none" strike="noStrike" kern="0" cap="none" spc="0" normalizeH="0" baseline="0" noProof="0" dirty="0" smtClean="0">
                  <a:ln>
                    <a:noFill/>
                  </a:ln>
                  <a:solidFill>
                    <a:srgbClr val="000000"/>
                  </a:solidFill>
                  <a:effectLst/>
                  <a:uLnTx/>
                  <a:uFillTx/>
                  <a:latin typeface="Times New Roman"/>
                </a:rPr>
                <a:t>转换。</a:t>
              </a:r>
              <a:endParaRPr kumimoji="0" lang="en-US" altLang="zh-CN" sz="2800" b="1" i="0" u="none" strike="noStrike" kern="0" cap="none" spc="0" normalizeH="0" baseline="0" noProof="0" dirty="0" smtClean="0">
                <a:ln>
                  <a:noFill/>
                </a:ln>
                <a:solidFill>
                  <a:srgbClr val="000000"/>
                </a:solidFill>
                <a:effectLst/>
                <a:uLnTx/>
                <a:uFillTx/>
                <a:latin typeface="Times New Roman"/>
              </a:endParaRPr>
            </a:p>
          </p:txBody>
        </p:sp>
        <p:cxnSp>
          <p:nvCxnSpPr>
            <p:cNvPr id="7" name="直接连接符 6"/>
            <p:cNvCxnSpPr/>
            <p:nvPr/>
          </p:nvCxnSpPr>
          <p:spPr>
            <a:xfrm>
              <a:off x="7286644" y="908350"/>
              <a:ext cx="648000" cy="1588"/>
            </a:xfrm>
            <a:prstGeom prst="line">
              <a:avLst/>
            </a:prstGeom>
            <a:noFill/>
            <a:ln w="34925" cap="flat" cmpd="sng" algn="ctr">
              <a:solidFill>
                <a:srgbClr val="000000"/>
              </a:solidFill>
              <a:prstDash val="solid"/>
            </a:ln>
            <a:effectLst/>
          </p:spPr>
        </p:cxnSp>
        <p:cxnSp>
          <p:nvCxnSpPr>
            <p:cNvPr id="8" name="直接连接符 7"/>
            <p:cNvCxnSpPr/>
            <p:nvPr/>
          </p:nvCxnSpPr>
          <p:spPr>
            <a:xfrm>
              <a:off x="2071670" y="2551424"/>
              <a:ext cx="756000" cy="1588"/>
            </a:xfrm>
            <a:prstGeom prst="line">
              <a:avLst/>
            </a:prstGeom>
            <a:noFill/>
            <a:ln w="34925" cap="flat" cmpd="sng" algn="ctr">
              <a:solidFill>
                <a:srgbClr val="000000"/>
              </a:solidFill>
              <a:prstDash val="solid"/>
            </a:ln>
            <a:effectLst/>
          </p:spPr>
        </p:cxnSp>
        <p:cxnSp>
          <p:nvCxnSpPr>
            <p:cNvPr id="9" name="直接连接符 8"/>
            <p:cNvCxnSpPr/>
            <p:nvPr/>
          </p:nvCxnSpPr>
          <p:spPr>
            <a:xfrm>
              <a:off x="571472" y="1479854"/>
              <a:ext cx="972000" cy="1588"/>
            </a:xfrm>
            <a:prstGeom prst="line">
              <a:avLst/>
            </a:prstGeom>
            <a:noFill/>
            <a:ln w="34925" cap="flat" cmpd="sng" algn="ctr">
              <a:solidFill>
                <a:srgbClr val="000000"/>
              </a:solidFill>
              <a:prstDash val="solid"/>
            </a:ln>
            <a:effectLst/>
          </p:spPr>
        </p:cxnSp>
        <p:cxnSp>
          <p:nvCxnSpPr>
            <p:cNvPr id="10" name="直接连接符 9"/>
            <p:cNvCxnSpPr/>
            <p:nvPr/>
          </p:nvCxnSpPr>
          <p:spPr>
            <a:xfrm>
              <a:off x="2928926" y="2051358"/>
              <a:ext cx="504000" cy="1588"/>
            </a:xfrm>
            <a:prstGeom prst="line">
              <a:avLst/>
            </a:prstGeom>
            <a:noFill/>
            <a:ln w="34925" cap="flat" cmpd="sng" algn="ctr">
              <a:solidFill>
                <a:srgbClr val="000000"/>
              </a:solidFill>
              <a:prstDash val="solid"/>
            </a:ln>
            <a:effectLst/>
          </p:spPr>
        </p:cxnSp>
        <p:cxnSp>
          <p:nvCxnSpPr>
            <p:cNvPr id="11" name="直接连接符 10"/>
            <p:cNvCxnSpPr/>
            <p:nvPr/>
          </p:nvCxnSpPr>
          <p:spPr>
            <a:xfrm>
              <a:off x="6949774" y="2031038"/>
              <a:ext cx="648000" cy="1588"/>
            </a:xfrm>
            <a:prstGeom prst="line">
              <a:avLst/>
            </a:prstGeom>
            <a:noFill/>
            <a:ln w="34925" cap="flat" cmpd="sng" algn="ctr">
              <a:solidFill>
                <a:srgbClr val="000000"/>
              </a:solidFill>
              <a:prstDash val="solid"/>
            </a:ln>
            <a:effectLst/>
          </p:spPr>
        </p:cxnSp>
        <p:cxnSp>
          <p:nvCxnSpPr>
            <p:cNvPr id="12" name="直接连接符 11"/>
            <p:cNvCxnSpPr/>
            <p:nvPr/>
          </p:nvCxnSpPr>
          <p:spPr>
            <a:xfrm>
              <a:off x="571472" y="3802134"/>
              <a:ext cx="468000" cy="1588"/>
            </a:xfrm>
            <a:prstGeom prst="line">
              <a:avLst/>
            </a:prstGeom>
            <a:noFill/>
            <a:ln w="34925" cap="flat" cmpd="sng" algn="ctr">
              <a:solidFill>
                <a:srgbClr val="000000"/>
              </a:solidFill>
              <a:prstDash val="solid"/>
            </a:ln>
            <a:effectLst/>
          </p:spPr>
        </p:cxnSp>
        <p:cxnSp>
          <p:nvCxnSpPr>
            <p:cNvPr id="13" name="直接连接符 12"/>
            <p:cNvCxnSpPr/>
            <p:nvPr/>
          </p:nvCxnSpPr>
          <p:spPr>
            <a:xfrm>
              <a:off x="1423670" y="3815686"/>
              <a:ext cx="648000" cy="1588"/>
            </a:xfrm>
            <a:prstGeom prst="line">
              <a:avLst/>
            </a:prstGeom>
            <a:noFill/>
            <a:ln w="34925" cap="flat" cmpd="sng" algn="ctr">
              <a:solidFill>
                <a:srgbClr val="000000"/>
              </a:solidFill>
              <a:prstDash val="solid"/>
            </a:ln>
            <a:effectLst/>
          </p:spPr>
        </p:cxnSp>
      </p:grpSp>
    </p:spTree>
    <p:extLst>
      <p:ext uri="{BB962C8B-B14F-4D97-AF65-F5344CB8AC3E}">
        <p14:creationId xmlns:p14="http://schemas.microsoft.com/office/powerpoint/2010/main" val="148879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127358" y="260648"/>
            <a:ext cx="8675962" cy="3505568"/>
          </a:xfrm>
          <a:prstGeom prst="rect">
            <a:avLst/>
          </a:prstGeom>
        </p:spPr>
        <p:txBody>
          <a:bodyPr/>
          <a:lstStyle/>
          <a:p>
            <a:pPr marL="182563" indent="447675">
              <a:lnSpc>
                <a:spcPct val="110000"/>
              </a:lnSpc>
              <a:spcBef>
                <a:spcPct val="20000"/>
              </a:spcBef>
            </a:pPr>
            <a:r>
              <a:rPr lang="zh-CN" altLang="en-US" sz="2800" b="1" dirty="0" smtClean="0">
                <a:solidFill>
                  <a:srgbClr val="4F81BD">
                    <a:lumMod val="75000"/>
                  </a:srgbClr>
                </a:solidFill>
                <a:latin typeface="楷体" panose="02010609060101010101" pitchFamily="49" charset="-122"/>
                <a:ea typeface="楷体" panose="02010609060101010101" pitchFamily="49" charset="-122"/>
              </a:rPr>
              <a:t>双缓冲</a:t>
            </a:r>
            <a:r>
              <a:rPr lang="zh-CN" altLang="en-US" sz="2800" b="1" dirty="0">
                <a:solidFill>
                  <a:srgbClr val="4F81BD">
                    <a:lumMod val="75000"/>
                  </a:srgbClr>
                </a:solidFill>
                <a:latin typeface="楷体" panose="02010609060101010101" pitchFamily="49" charset="-122"/>
                <a:ea typeface="楷体" panose="02010609060101010101" pitchFamily="49" charset="-122"/>
              </a:rPr>
              <a:t>方式：芯片占有两个端口，适用于多个</a:t>
            </a:r>
            <a:r>
              <a:rPr lang="en-US" altLang="zh-CN" sz="2800" b="1" dirty="0">
                <a:solidFill>
                  <a:srgbClr val="4F81BD">
                    <a:lumMod val="75000"/>
                  </a:srgbClr>
                </a:solidFill>
                <a:latin typeface="楷体" panose="02010609060101010101" pitchFamily="49" charset="-122"/>
                <a:ea typeface="楷体" panose="02010609060101010101" pitchFamily="49" charset="-122"/>
              </a:rPr>
              <a:t>DAC 0832 </a:t>
            </a:r>
            <a:r>
              <a:rPr lang="zh-CN" altLang="en-US" sz="2800" b="1" dirty="0">
                <a:solidFill>
                  <a:srgbClr val="4F81BD">
                    <a:lumMod val="75000"/>
                  </a:srgbClr>
                </a:solidFill>
                <a:latin typeface="楷体" panose="02010609060101010101" pitchFamily="49" charset="-122"/>
                <a:ea typeface="楷体" panose="02010609060101010101" pitchFamily="49" charset="-122"/>
              </a:rPr>
              <a:t>同步转换输出</a:t>
            </a:r>
            <a:r>
              <a:rPr lang="en-US" altLang="zh-CN" sz="2800" b="1" dirty="0">
                <a:solidFill>
                  <a:srgbClr val="4F81BD">
                    <a:lumMod val="75000"/>
                  </a:srgbClr>
                </a:solidFill>
                <a:latin typeface="楷体" panose="02010609060101010101" pitchFamily="49" charset="-122"/>
                <a:ea typeface="楷体" panose="02010609060101010101" pitchFamily="49" charset="-122"/>
              </a:rPr>
              <a:t>—</a:t>
            </a:r>
            <a:r>
              <a:rPr lang="zh-CN" altLang="en-US" sz="2800" b="1" dirty="0">
                <a:solidFill>
                  <a:srgbClr val="4F81BD">
                    <a:lumMod val="75000"/>
                  </a:srgbClr>
                </a:solidFill>
                <a:latin typeface="楷体" panose="02010609060101010101" pitchFamily="49" charset="-122"/>
                <a:ea typeface="楷体" panose="02010609060101010101" pitchFamily="49" charset="-122"/>
              </a:rPr>
              <a:t>分时写入、同步转换。</a:t>
            </a:r>
          </a:p>
          <a:p>
            <a:pPr marL="182563" indent="447675">
              <a:lnSpc>
                <a:spcPct val="110000"/>
              </a:lnSpc>
              <a:spcBef>
                <a:spcPct val="20000"/>
              </a:spcBef>
            </a:pPr>
            <a:endParaRPr lang="zh-CN" altLang="en-US" sz="2800" b="1" dirty="0">
              <a:solidFill>
                <a:srgbClr val="4F81BD">
                  <a:lumMod val="75000"/>
                </a:srgbClr>
              </a:solidFill>
              <a:latin typeface="楷体" panose="02010609060101010101" pitchFamily="49" charset="-122"/>
              <a:ea typeface="楷体" panose="02010609060101010101" pitchFamily="49" charset="-122"/>
            </a:endParaRPr>
          </a:p>
        </p:txBody>
      </p:sp>
      <p:grpSp>
        <p:nvGrpSpPr>
          <p:cNvPr id="4" name="组合 3"/>
          <p:cNvGrpSpPr/>
          <p:nvPr/>
        </p:nvGrpSpPr>
        <p:grpSpPr>
          <a:xfrm>
            <a:off x="357158" y="1383103"/>
            <a:ext cx="8501122" cy="3286124"/>
            <a:chOff x="285720" y="3571876"/>
            <a:chExt cx="8501122" cy="3286124"/>
          </a:xfrm>
        </p:grpSpPr>
        <p:sp>
          <p:nvSpPr>
            <p:cNvPr id="5" name="Rectangle 3"/>
            <p:cNvSpPr txBox="1">
              <a:spLocks noChangeArrowheads="1"/>
            </p:cNvSpPr>
            <p:nvPr/>
          </p:nvSpPr>
          <p:spPr>
            <a:xfrm>
              <a:off x="285720" y="3571876"/>
              <a:ext cx="8501122" cy="3286124"/>
            </a:xfrm>
            <a:prstGeom prst="rect">
              <a:avLst/>
            </a:prstGeom>
          </p:spPr>
          <p:txBody>
            <a:bodyPr/>
            <a:lstStyle/>
            <a:p>
              <a:pPr marL="80963" marR="0" lvl="0" indent="549275" algn="just" defTabSz="914400" rtl="0" eaLnBrk="1" fontAlgn="base" latinLnBrk="0" hangingPunct="1">
                <a:lnSpc>
                  <a:spcPct val="120000"/>
                </a:lnSpc>
                <a:spcBef>
                  <a:spcPct val="20000"/>
                </a:spcBef>
                <a:spcAft>
                  <a:spcPct val="0"/>
                </a:spcAft>
                <a:buClr>
                  <a:schemeClr val="bg2"/>
                </a:buClr>
                <a:buSzTx/>
                <a:buFontTx/>
                <a:buNone/>
                <a:tabLst/>
                <a:defRPr/>
              </a:pPr>
              <a:r>
                <a:rPr kumimoji="0" lang="zh-CN" altLang="en-US" sz="2800" b="1" i="0" u="none" strike="noStrike" kern="0" cap="none" spc="0" normalizeH="0" baseline="0" noProof="0" dirty="0" smtClean="0">
                  <a:ln>
                    <a:noFill/>
                  </a:ln>
                  <a:solidFill>
                    <a:srgbClr val="FF00FF"/>
                  </a:solidFill>
                  <a:effectLst/>
                  <a:uLnTx/>
                  <a:uFillTx/>
                  <a:latin typeface="+mj-lt"/>
                  <a:ea typeface="+mn-ea"/>
                  <a:cs typeface="+mn-cs"/>
                </a:rPr>
                <a:t>双缓冲方式又称为标准方式</a:t>
              </a:r>
              <a:r>
                <a:rPr kumimoji="0" lang="zh-CN" altLang="en-US" sz="2800" b="1" i="0" u="none" strike="noStrike" kern="0" cap="none" spc="0" normalizeH="0" baseline="0" noProof="0" dirty="0" smtClean="0">
                  <a:ln>
                    <a:noFill/>
                  </a:ln>
                  <a:solidFill>
                    <a:schemeClr val="tx1"/>
                  </a:solidFill>
                  <a:effectLst/>
                  <a:uLnTx/>
                  <a:uFillTx/>
                  <a:latin typeface="+mj-lt"/>
                  <a:ea typeface="+mn-ea"/>
                  <a:cs typeface="+mn-cs"/>
                </a:rPr>
                <a:t>，转换要有</a:t>
              </a:r>
              <a:r>
                <a:rPr kumimoji="0" lang="zh-CN" altLang="en-US" sz="2800" b="1" i="0" u="none" strike="noStrike" kern="0" cap="none" spc="0" normalizeH="0" baseline="0" noProof="0" dirty="0" smtClean="0">
                  <a:ln>
                    <a:noFill/>
                  </a:ln>
                  <a:solidFill>
                    <a:srgbClr val="FF0000"/>
                  </a:solidFill>
                  <a:effectLst/>
                  <a:uLnTx/>
                  <a:uFillTx/>
                  <a:latin typeface="+mj-lt"/>
                  <a:ea typeface="+mn-ea"/>
                  <a:cs typeface="+mn-cs"/>
                </a:rPr>
                <a:t>两个步骤</a:t>
              </a:r>
              <a:r>
                <a:rPr kumimoji="0" lang="zh-CN" altLang="en-US" sz="2800" b="1" i="0" u="none" strike="noStrike" kern="0" cap="none" spc="0" normalizeH="0" baseline="0" noProof="0" dirty="0" smtClean="0">
                  <a:ln>
                    <a:noFill/>
                  </a:ln>
                  <a:solidFill>
                    <a:schemeClr val="tx1"/>
                  </a:solidFill>
                  <a:effectLst/>
                  <a:uLnTx/>
                  <a:uFillTx/>
                  <a:latin typeface="+mj-lt"/>
                  <a:ea typeface="+mn-ea"/>
                  <a:cs typeface="+mn-cs"/>
                </a:rPr>
                <a:t>，当</a:t>
              </a:r>
              <a:r>
                <a:rPr kumimoji="0" lang="en-US" altLang="zh-CN" sz="2800" b="1" i="0" u="none" strike="noStrike" kern="0" cap="none" spc="0" normalizeH="0" baseline="0" noProof="0" dirty="0" smtClean="0">
                  <a:ln>
                    <a:noFill/>
                  </a:ln>
                  <a:solidFill>
                    <a:schemeClr val="tx1"/>
                  </a:solidFill>
                  <a:effectLst/>
                  <a:uLnTx/>
                  <a:uFillTx/>
                  <a:latin typeface="+mj-lt"/>
                  <a:ea typeface="+mn-ea"/>
                  <a:cs typeface="+mn-cs"/>
                </a:rPr>
                <a:t>CS=0</a:t>
              </a:r>
              <a:r>
                <a:rPr kumimoji="0" lang="zh-CN" altLang="en-US" sz="2800" b="1" i="0" u="none" strike="noStrike" kern="0" cap="none" spc="0" normalizeH="0" baseline="0" noProof="0" dirty="0" smtClean="0">
                  <a:ln>
                    <a:noFill/>
                  </a:ln>
                  <a:solidFill>
                    <a:schemeClr val="tx1"/>
                  </a:solidFill>
                  <a:effectLst/>
                  <a:uLnTx/>
                  <a:uFillTx/>
                  <a:latin typeface="+mj-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j-lt"/>
                  <a:ea typeface="+mn-ea"/>
                  <a:cs typeface="+mn-cs"/>
                </a:rPr>
                <a:t>WR</a:t>
              </a:r>
              <a:r>
                <a:rPr kumimoji="0" lang="en-US" altLang="zh-CN" sz="2800" b="1" i="0" u="none" strike="noStrike" kern="0" cap="none" spc="0" normalizeH="0" baseline="-25000" noProof="0" dirty="0" smtClean="0">
                  <a:ln>
                    <a:noFill/>
                  </a:ln>
                  <a:solidFill>
                    <a:schemeClr val="tx1"/>
                  </a:solidFill>
                  <a:effectLst/>
                  <a:uLnTx/>
                  <a:uFillTx/>
                  <a:latin typeface="+mj-lt"/>
                  <a:ea typeface="+mn-ea"/>
                  <a:cs typeface="+mn-cs"/>
                </a:rPr>
                <a:t>1</a:t>
              </a:r>
              <a:r>
                <a:rPr kumimoji="0" lang="en-US" altLang="zh-CN" sz="2800" b="1" i="0" u="none" strike="noStrike" kern="0" cap="none" spc="0" normalizeH="0" baseline="0" noProof="0" dirty="0" smtClean="0">
                  <a:ln>
                    <a:noFill/>
                  </a:ln>
                  <a:solidFill>
                    <a:schemeClr val="tx1"/>
                  </a:solidFill>
                  <a:effectLst/>
                  <a:uLnTx/>
                  <a:uFillTx/>
                  <a:latin typeface="+mj-lt"/>
                  <a:ea typeface="+mn-ea"/>
                  <a:cs typeface="+mn-cs"/>
                </a:rPr>
                <a:t>=0</a:t>
              </a:r>
              <a:r>
                <a:rPr kumimoji="0" lang="zh-CN" altLang="en-US" sz="2800" b="1" i="0" u="none" strike="noStrike" kern="0" cap="none" spc="0" normalizeH="0" baseline="0" noProof="0" dirty="0" smtClean="0">
                  <a:ln>
                    <a:noFill/>
                  </a:ln>
                  <a:solidFill>
                    <a:schemeClr val="tx1"/>
                  </a:solidFill>
                  <a:effectLst/>
                  <a:uLnTx/>
                  <a:uFillTx/>
                  <a:latin typeface="+mj-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j-lt"/>
                  <a:ea typeface="+mn-ea"/>
                  <a:cs typeface="+mn-cs"/>
                </a:rPr>
                <a:t>ILE=1</a:t>
              </a:r>
              <a:r>
                <a:rPr kumimoji="0" lang="zh-CN" altLang="en-US" sz="2800" b="1" i="0" u="none" strike="noStrike" kern="0" cap="none" spc="0" normalizeH="0" baseline="0" noProof="0" dirty="0" smtClean="0">
                  <a:ln>
                    <a:noFill/>
                  </a:ln>
                  <a:solidFill>
                    <a:schemeClr val="tx1"/>
                  </a:solidFill>
                  <a:effectLst/>
                  <a:uLnTx/>
                  <a:uFillTx/>
                  <a:latin typeface="+mj-lt"/>
                  <a:ea typeface="+mn-ea"/>
                  <a:cs typeface="+mn-cs"/>
                </a:rPr>
                <a:t>，输入寄存器输出随输入而变化，</a:t>
              </a:r>
              <a:r>
                <a:rPr kumimoji="0" lang="en-US" altLang="zh-CN" sz="2800" b="1" i="0" u="none" strike="noStrike" kern="0" cap="none" spc="0" normalizeH="0" baseline="0" noProof="0" dirty="0" smtClean="0">
                  <a:ln>
                    <a:noFill/>
                  </a:ln>
                  <a:solidFill>
                    <a:schemeClr val="tx1"/>
                  </a:solidFill>
                  <a:effectLst/>
                  <a:uLnTx/>
                  <a:uFillTx/>
                  <a:latin typeface="+mj-lt"/>
                  <a:ea typeface="+mn-ea"/>
                  <a:cs typeface="+mn-cs"/>
                </a:rPr>
                <a:t>WR</a:t>
              </a:r>
              <a:r>
                <a:rPr kumimoji="0" lang="en-US" altLang="zh-CN" sz="2800" b="1" i="0" u="none" strike="noStrike" kern="0" cap="none" spc="0" normalizeH="0" baseline="-25000" noProof="0" dirty="0" smtClean="0">
                  <a:ln>
                    <a:noFill/>
                  </a:ln>
                  <a:solidFill>
                    <a:schemeClr val="tx1"/>
                  </a:solidFill>
                  <a:effectLst/>
                  <a:uLnTx/>
                  <a:uFillTx/>
                  <a:latin typeface="+mj-lt"/>
                  <a:ea typeface="+mn-ea"/>
                  <a:cs typeface="+mn-cs"/>
                </a:rPr>
                <a:t>1</a:t>
              </a:r>
              <a:r>
                <a:rPr lang="zh-CN" altLang="en-US" sz="2800" b="1" kern="0" dirty="0" smtClean="0">
                  <a:latin typeface="+mj-lt"/>
                  <a:ea typeface="+mn-ea"/>
                </a:rPr>
                <a:t>由低电平变高电平，将数据锁入</a:t>
              </a:r>
              <a:r>
                <a:rPr lang="en-US" altLang="zh-CN" sz="2800" b="1" kern="0" dirty="0" smtClean="0">
                  <a:latin typeface="+mj-lt"/>
                  <a:ea typeface="+mn-ea"/>
                </a:rPr>
                <a:t>8</a:t>
              </a:r>
              <a:r>
                <a:rPr lang="zh-CN" altLang="en-US" sz="2800" b="1" kern="0" dirty="0" smtClean="0">
                  <a:latin typeface="+mj-lt"/>
                  <a:ea typeface="+mn-ea"/>
                </a:rPr>
                <a:t>位数据寄存器；当</a:t>
              </a:r>
              <a:r>
                <a:rPr lang="en-US" altLang="zh-CN" sz="2800" b="1" kern="0" dirty="0" smtClean="0">
                  <a:latin typeface="+mj-lt"/>
                  <a:ea typeface="+mn-ea"/>
                </a:rPr>
                <a:t>XFER=0</a:t>
              </a:r>
              <a:r>
                <a:rPr lang="zh-CN" altLang="en-US" sz="2800" b="1" kern="0" dirty="0" smtClean="0">
                  <a:latin typeface="+mj-lt"/>
                  <a:ea typeface="+mn-ea"/>
                </a:rPr>
                <a:t>，</a:t>
              </a:r>
              <a:r>
                <a:rPr lang="en-US" altLang="zh-CN" sz="2800" b="1" kern="0" dirty="0" smtClean="0">
                  <a:latin typeface="+mj-lt"/>
                  <a:ea typeface="+mn-ea"/>
                </a:rPr>
                <a:t>WR</a:t>
              </a:r>
              <a:r>
                <a:rPr lang="en-US" altLang="zh-CN" sz="2800" b="1" kern="0" baseline="-25000" dirty="0">
                  <a:latin typeface="+mj-lt"/>
                  <a:ea typeface="+mn-ea"/>
                </a:rPr>
                <a:t>2</a:t>
              </a:r>
              <a:r>
                <a:rPr lang="en-US" altLang="zh-CN" sz="2800" b="1" kern="0" dirty="0" smtClean="0">
                  <a:latin typeface="+mj-lt"/>
                  <a:ea typeface="+mn-ea"/>
                </a:rPr>
                <a:t>=0</a:t>
              </a:r>
              <a:r>
                <a:rPr lang="zh-CN" altLang="en-US" sz="2800" b="1" kern="0" dirty="0" smtClean="0">
                  <a:latin typeface="+mj-lt"/>
                  <a:ea typeface="+mn-ea"/>
                </a:rPr>
                <a:t>，</a:t>
              </a:r>
              <a:r>
                <a:rPr lang="en-US" altLang="zh-CN" sz="2800" b="1" kern="0" dirty="0" smtClean="0">
                  <a:latin typeface="+mj-lt"/>
                  <a:ea typeface="+mn-ea"/>
                </a:rPr>
                <a:t>DAC</a:t>
              </a:r>
              <a:r>
                <a:rPr lang="zh-CN" altLang="en-US" sz="2800" b="1" kern="0" dirty="0" smtClean="0">
                  <a:latin typeface="+mj-lt"/>
                  <a:ea typeface="+mn-ea"/>
                </a:rPr>
                <a:t>寄存器输出随输入而变化，在</a:t>
              </a:r>
              <a:r>
                <a:rPr lang="en-US" altLang="zh-CN" sz="2800" b="1" kern="0" dirty="0" smtClean="0">
                  <a:latin typeface="+mj-lt"/>
                  <a:ea typeface="+mn-ea"/>
                </a:rPr>
                <a:t>WR</a:t>
              </a:r>
              <a:r>
                <a:rPr lang="en-US" altLang="zh-CN" sz="2800" b="1" kern="0" baseline="-25000" dirty="0" smtClean="0">
                  <a:latin typeface="+mj-lt"/>
                  <a:ea typeface="+mn-ea"/>
                </a:rPr>
                <a:t>2</a:t>
              </a:r>
              <a:r>
                <a:rPr lang="zh-CN" altLang="en-US" sz="2800" b="1" kern="0" dirty="0" smtClean="0">
                  <a:latin typeface="+mj-lt"/>
                  <a:ea typeface="+mn-ea"/>
                </a:rPr>
                <a:t>由低电平变高电平，将输入寄存器的内容锁入</a:t>
              </a:r>
              <a:r>
                <a:rPr lang="en-US" altLang="zh-CN" sz="2800" b="1" kern="0" dirty="0" smtClean="0">
                  <a:latin typeface="+mj-lt"/>
                  <a:ea typeface="+mn-ea"/>
                </a:rPr>
                <a:t>DAC</a:t>
              </a:r>
              <a:r>
                <a:rPr lang="zh-CN" altLang="en-US" sz="2800" b="1" kern="0" dirty="0" smtClean="0">
                  <a:latin typeface="+mj-lt"/>
                  <a:ea typeface="+mn-ea"/>
                </a:rPr>
                <a:t>寄存器，实现</a:t>
              </a:r>
              <a:r>
                <a:rPr lang="en-US" altLang="zh-CN" sz="2800" b="1" kern="0" dirty="0" smtClean="0">
                  <a:latin typeface="+mj-lt"/>
                  <a:ea typeface="+mn-ea"/>
                </a:rPr>
                <a:t>D/A</a:t>
              </a:r>
              <a:r>
                <a:rPr lang="zh-CN" altLang="en-US" sz="2800" b="1" kern="0" dirty="0" smtClean="0">
                  <a:latin typeface="+mj-lt"/>
                  <a:ea typeface="+mn-ea"/>
                </a:rPr>
                <a:t>转换。</a:t>
              </a:r>
              <a:endParaRPr kumimoji="0" lang="zh-CN" altLang="en-US" sz="2800" b="1" i="0" u="none" strike="noStrike" kern="0" cap="none" spc="0" normalizeH="0" baseline="0" noProof="0" dirty="0" smtClean="0">
                <a:ln>
                  <a:noFill/>
                </a:ln>
                <a:solidFill>
                  <a:schemeClr val="tx1"/>
                </a:solidFill>
                <a:effectLst/>
                <a:uLnTx/>
                <a:uFillTx/>
                <a:latin typeface="+mj-lt"/>
                <a:ea typeface="+mn-ea"/>
                <a:cs typeface="+mn-cs"/>
              </a:endParaRPr>
            </a:p>
          </p:txBody>
        </p:sp>
        <p:cxnSp>
          <p:nvCxnSpPr>
            <p:cNvPr id="6" name="直接连接符 5"/>
            <p:cNvCxnSpPr/>
            <p:nvPr/>
          </p:nvCxnSpPr>
          <p:spPr>
            <a:xfrm>
              <a:off x="2071670" y="4214818"/>
              <a:ext cx="648000" cy="15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939272" y="4694564"/>
              <a:ext cx="648000" cy="15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286248" y="5235270"/>
              <a:ext cx="648000" cy="15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36904" y="4214818"/>
              <a:ext cx="468000" cy="15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939404" y="5745814"/>
              <a:ext cx="648000" cy="15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612376" y="5235270"/>
              <a:ext cx="972000" cy="15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Rectangle 3"/>
          <p:cNvSpPr txBox="1">
            <a:spLocks noChangeArrowheads="1"/>
          </p:cNvSpPr>
          <p:nvPr/>
        </p:nvSpPr>
        <p:spPr>
          <a:xfrm>
            <a:off x="323528" y="4581128"/>
            <a:ext cx="8675962" cy="1512168"/>
          </a:xfrm>
          <a:prstGeom prst="rect">
            <a:avLst/>
          </a:prstGeom>
        </p:spPr>
        <p:txBody>
          <a:bodyPr/>
          <a:lstStyle/>
          <a:p>
            <a:pPr marL="182563" indent="447675">
              <a:lnSpc>
                <a:spcPct val="110000"/>
              </a:lnSpc>
              <a:spcBef>
                <a:spcPct val="20000"/>
              </a:spcBef>
            </a:pPr>
            <a:r>
              <a:rPr lang="zh-CN" altLang="en-US" sz="2800" b="1" dirty="0">
                <a:solidFill>
                  <a:srgbClr val="4F81BD">
                    <a:lumMod val="75000"/>
                  </a:srgbClr>
                </a:solidFill>
                <a:latin typeface="楷体" panose="02010609060101010101" pitchFamily="49" charset="-122"/>
                <a:ea typeface="楷体" panose="02010609060101010101" pitchFamily="49" charset="-122"/>
              </a:rPr>
              <a:t>直通方式可以使内部的两个寄存器都处于直通状态，此时，模拟输出始终跟随输入变化</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。适用于</a:t>
            </a:r>
            <a:r>
              <a:rPr lang="zh-CN" altLang="en-US" sz="2800" b="1" dirty="0">
                <a:solidFill>
                  <a:srgbClr val="4F81BD">
                    <a:lumMod val="75000"/>
                  </a:srgbClr>
                </a:solidFill>
                <a:latin typeface="楷体" panose="02010609060101010101" pitchFamily="49" charset="-122"/>
                <a:ea typeface="楷体" panose="02010609060101010101" pitchFamily="49" charset="-122"/>
              </a:rPr>
              <a:t>连续反馈控制电路。</a:t>
            </a:r>
          </a:p>
        </p:txBody>
      </p:sp>
    </p:spTree>
    <p:extLst>
      <p:ext uri="{BB962C8B-B14F-4D97-AF65-F5344CB8AC3E}">
        <p14:creationId xmlns:p14="http://schemas.microsoft.com/office/powerpoint/2010/main" val="3639064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8064896" cy="1368152"/>
          </a:xfrm>
        </p:spPr>
        <p:txBody>
          <a:bodyPr tIns="0" bIns="0">
            <a:normAutofit/>
          </a:bodyPr>
          <a:lstStyle/>
          <a:p>
            <a:pPr algn="l"/>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11-3</a:t>
            </a:r>
            <a:r>
              <a:rPr lang="zh-CN" altLang="en-US"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5</a:t>
            </a:r>
            <a:r>
              <a:rPr lang="zh-CN" altLang="en-US"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7</a:t>
            </a:r>
            <a:r>
              <a:rPr lang="zh-CN" altLang="en-US"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8 </a:t>
            </a:r>
            <a:r>
              <a:rPr lang="zh-CN" altLang="en-US"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参考答案</a:t>
            </a:r>
            <a:r>
              <a:rPr lang="en-US" altLang="zh-CN"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
            </a:r>
            <a:br>
              <a:rPr lang="en-US" altLang="zh-CN" dirty="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b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11</a:t>
            </a:r>
            <a:r>
              <a:rPr lang="en-US" altLang="zh-CN" dirty="0" smtClean="0">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-6</a:t>
            </a:r>
            <a:endParaRPr lang="zh-CN" altLang="en-US" dirty="0">
              <a:solidFill>
                <a:srgbClr val="FF0000"/>
              </a:solidFill>
              <a:latin typeface="Segoe UI Black" panose="020B0A02040204020203" pitchFamily="34" charset="0"/>
              <a:ea typeface="楷体" panose="02010609060101010101" pitchFamily="49" charset="-122"/>
              <a:cs typeface="Segoe UI Black" panose="020B0A02040204020203" pitchFamily="34" charset="0"/>
            </a:endParaRPr>
          </a:p>
        </p:txBody>
      </p:sp>
      <p:sp>
        <p:nvSpPr>
          <p:cNvPr id="4" name="Rectangle 3"/>
          <p:cNvSpPr txBox="1">
            <a:spLocks noChangeArrowheads="1"/>
          </p:cNvSpPr>
          <p:nvPr/>
        </p:nvSpPr>
        <p:spPr>
          <a:xfrm>
            <a:off x="323528" y="1412776"/>
            <a:ext cx="8531946" cy="4968552"/>
          </a:xfrm>
          <a:prstGeom prst="rect">
            <a:avLst/>
          </a:prstGeom>
        </p:spPr>
        <p:txBody>
          <a:bodyPr/>
          <a:lstStyle/>
          <a:p>
            <a:pPr marL="182563" indent="447675">
              <a:lnSpc>
                <a:spcPct val="110000"/>
              </a:lnSpc>
              <a:spcBef>
                <a:spcPct val="20000"/>
              </a:spcBef>
            </a:pPr>
            <a:r>
              <a:rPr lang="zh-CN" altLang="en-US" sz="2800" b="1" dirty="0" smtClean="0">
                <a:solidFill>
                  <a:srgbClr val="4F81BD">
                    <a:lumMod val="75000"/>
                  </a:srgbClr>
                </a:solidFill>
                <a:latin typeface="楷体" panose="02010609060101010101" pitchFamily="49" charset="-122"/>
                <a:ea typeface="楷体" panose="02010609060101010101" pitchFamily="49" charset="-122"/>
              </a:rPr>
              <a:t>在单路输入时，模拟信号可固定连接到任何一个输入端，相应地，地址线</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ADDA</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ADDC</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将根据输入线编号固定连接（高电平或低电平）。</a:t>
            </a:r>
            <a:endParaRPr lang="en-US" altLang="zh-CN" sz="2800" b="1" dirty="0" smtClean="0">
              <a:solidFill>
                <a:srgbClr val="4F81BD">
                  <a:lumMod val="75000"/>
                </a:srgbClr>
              </a:solidFill>
              <a:latin typeface="楷体" panose="02010609060101010101" pitchFamily="49" charset="-122"/>
              <a:ea typeface="楷体" panose="02010609060101010101" pitchFamily="49" charset="-122"/>
            </a:endParaRPr>
          </a:p>
          <a:p>
            <a:pPr marL="182563" indent="447675">
              <a:lnSpc>
                <a:spcPct val="110000"/>
              </a:lnSpc>
              <a:spcBef>
                <a:spcPct val="20000"/>
              </a:spcBef>
            </a:pPr>
            <a:r>
              <a:rPr lang="zh-CN" altLang="en-US" sz="2800" b="1" dirty="0">
                <a:solidFill>
                  <a:srgbClr val="4F81BD">
                    <a:lumMod val="75000"/>
                  </a:srgbClr>
                </a:solidFill>
                <a:latin typeface="楷体" panose="02010609060101010101" pitchFamily="49" charset="-122"/>
                <a:ea typeface="楷体" panose="02010609060101010101" pitchFamily="49" charset="-122"/>
              </a:rPr>
              <a:t>多</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路输入时，模拟信号按顺序分别连接到输入端，要转换哪一路输入，就将其编号送地址线。所以，地址线不能固定连接，而是通过一个接口芯片与数据总线连接。接口芯片可以选用锁存器</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74LS273</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74LS373</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等，或选用可编程并行接口</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8255</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。但</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ADC 0809 </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内部有地址锁存器，</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CPU</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可通过接口芯片用一条</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OUT</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指令把通道地址编码送</a:t>
            </a:r>
            <a:r>
              <a:rPr lang="en-US" altLang="zh-CN" sz="2800" b="1" dirty="0" smtClean="0">
                <a:solidFill>
                  <a:srgbClr val="4F81BD">
                    <a:lumMod val="75000"/>
                  </a:srgbClr>
                </a:solidFill>
                <a:latin typeface="楷体" panose="02010609060101010101" pitchFamily="49" charset="-122"/>
                <a:ea typeface="楷体" panose="02010609060101010101" pitchFamily="49" charset="-122"/>
              </a:rPr>
              <a:t>0809</a:t>
            </a:r>
            <a:r>
              <a:rPr lang="zh-CN" altLang="en-US" sz="2800" b="1" dirty="0">
                <a:solidFill>
                  <a:srgbClr val="4F81BD">
                    <a:lumMod val="75000"/>
                  </a:srgbClr>
                </a:solidFill>
                <a:latin typeface="楷体" panose="02010609060101010101" pitchFamily="49" charset="-122"/>
                <a:ea typeface="楷体" panose="02010609060101010101" pitchFamily="49" charset="-122"/>
              </a:rPr>
              <a:t>即</a:t>
            </a:r>
            <a:r>
              <a:rPr lang="zh-CN" altLang="en-US" sz="2800" b="1" dirty="0" smtClean="0">
                <a:solidFill>
                  <a:srgbClr val="4F81BD">
                    <a:lumMod val="75000"/>
                  </a:srgbClr>
                </a:solidFill>
                <a:latin typeface="楷体" panose="02010609060101010101" pitchFamily="49" charset="-122"/>
                <a:ea typeface="楷体" panose="02010609060101010101" pitchFamily="49" charset="-122"/>
              </a:rPr>
              <a:t>可。</a:t>
            </a:r>
            <a:endParaRPr lang="zh-CN" altLang="en-US" sz="2800" b="1" dirty="0">
              <a:solidFill>
                <a:srgbClr val="4F81BD">
                  <a:lumMod val="75000"/>
                </a:srgbClr>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33205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1344" t="4168" r="680" b="4840"/>
          <a:stretch/>
        </p:blipFill>
        <p:spPr>
          <a:xfrm>
            <a:off x="107504" y="44623"/>
            <a:ext cx="8928992" cy="3528393"/>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3523927"/>
            <a:ext cx="6299524" cy="3289469"/>
          </a:xfrm>
          <a:prstGeom prst="rect">
            <a:avLst/>
          </a:prstGeom>
        </p:spPr>
      </p:pic>
    </p:spTree>
    <p:extLst>
      <p:ext uri="{BB962C8B-B14F-4D97-AF65-F5344CB8AC3E}">
        <p14:creationId xmlns:p14="http://schemas.microsoft.com/office/powerpoint/2010/main" val="27821954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67" y="692696"/>
            <a:ext cx="9018837" cy="5112567"/>
          </a:xfrm>
          <a:prstGeom prst="rect">
            <a:avLst/>
          </a:prstGeom>
        </p:spPr>
      </p:pic>
    </p:spTree>
    <p:extLst>
      <p:ext uri="{BB962C8B-B14F-4D97-AF65-F5344CB8AC3E}">
        <p14:creationId xmlns:p14="http://schemas.microsoft.com/office/powerpoint/2010/main" val="23741838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BEBA8EAE-BF5A-486C-A8C5-ECC9F3942E4B}">
                <a14:imgProps xmlns:a14="http://schemas.microsoft.com/office/drawing/2010/main">
                  <a14:imgLayer r:embed="rId3">
                    <a14:imgEffect>
                      <a14:sharpenSoften amount="61000"/>
                    </a14:imgEffect>
                    <a14:imgEffect>
                      <a14:saturation sat="70000"/>
                    </a14:imgEffect>
                    <a14:imgEffect>
                      <a14:brightnessContrast bright="-37000" contrast="84000"/>
                    </a14:imgEffect>
                  </a14:imgLayer>
                </a14:imgProps>
              </a:ext>
              <a:ext uri="{28A0092B-C50C-407E-A947-70E740481C1C}">
                <a14:useLocalDpi xmlns:a14="http://schemas.microsoft.com/office/drawing/2010/main" val="0"/>
              </a:ext>
            </a:extLst>
          </a:blip>
          <a:stretch>
            <a:fillRect/>
          </a:stretch>
        </p:blipFill>
        <p:spPr>
          <a:xfrm>
            <a:off x="323528" y="836712"/>
            <a:ext cx="8626051" cy="5112568"/>
          </a:xfrm>
          <a:prstGeom prst="rect">
            <a:avLst/>
          </a:prstGeom>
          <a:effectLst>
            <a:glow rad="127000">
              <a:schemeClr val="accent1">
                <a:alpha val="91000"/>
              </a:schemeClr>
            </a:glow>
          </a:effectLst>
        </p:spPr>
      </p:pic>
    </p:spTree>
    <p:extLst>
      <p:ext uri="{BB962C8B-B14F-4D97-AF65-F5344CB8AC3E}">
        <p14:creationId xmlns:p14="http://schemas.microsoft.com/office/powerpoint/2010/main" val="18676821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692696"/>
            <a:ext cx="8848636" cy="4392488"/>
          </a:xfrm>
          <a:prstGeom prst="rect">
            <a:avLst/>
          </a:prstGeom>
        </p:spPr>
      </p:pic>
    </p:spTree>
    <p:extLst>
      <p:ext uri="{BB962C8B-B14F-4D97-AF65-F5344CB8AC3E}">
        <p14:creationId xmlns:p14="http://schemas.microsoft.com/office/powerpoint/2010/main" val="4203094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548680"/>
            <a:ext cx="7899914" cy="5688632"/>
          </a:xfrm>
          <a:prstGeom prst="rect">
            <a:avLst/>
          </a:prstGeom>
        </p:spPr>
      </p:pic>
    </p:spTree>
    <p:extLst>
      <p:ext uri="{BB962C8B-B14F-4D97-AF65-F5344CB8AC3E}">
        <p14:creationId xmlns:p14="http://schemas.microsoft.com/office/powerpoint/2010/main" val="2133150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476672"/>
            <a:ext cx="5040560" cy="5528659"/>
          </a:xfrm>
          <a:prstGeom prst="rect">
            <a:avLst/>
          </a:prstGeom>
        </p:spPr>
      </p:pic>
    </p:spTree>
    <p:extLst>
      <p:ext uri="{BB962C8B-B14F-4D97-AF65-F5344CB8AC3E}">
        <p14:creationId xmlns:p14="http://schemas.microsoft.com/office/powerpoint/2010/main" val="2105552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548680"/>
            <a:ext cx="7967717" cy="4536504"/>
          </a:xfrm>
          <a:prstGeom prst="rect">
            <a:avLst/>
          </a:prstGeom>
        </p:spPr>
      </p:pic>
    </p:spTree>
    <p:extLst>
      <p:ext uri="{BB962C8B-B14F-4D97-AF65-F5344CB8AC3E}">
        <p14:creationId xmlns:p14="http://schemas.microsoft.com/office/powerpoint/2010/main" val="1181226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476672"/>
            <a:ext cx="6350566" cy="5472608"/>
          </a:xfrm>
          <a:prstGeom prst="rect">
            <a:avLst/>
          </a:prstGeom>
        </p:spPr>
      </p:pic>
    </p:spTree>
    <p:extLst>
      <p:ext uri="{BB962C8B-B14F-4D97-AF65-F5344CB8AC3E}">
        <p14:creationId xmlns:p14="http://schemas.microsoft.com/office/powerpoint/2010/main" val="1147790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764704"/>
            <a:ext cx="7161445" cy="5256584"/>
          </a:xfrm>
          <a:prstGeom prst="rect">
            <a:avLst/>
          </a:prstGeom>
        </p:spPr>
      </p:pic>
    </p:spTree>
    <p:extLst>
      <p:ext uri="{BB962C8B-B14F-4D97-AF65-F5344CB8AC3E}">
        <p14:creationId xmlns:p14="http://schemas.microsoft.com/office/powerpoint/2010/main" val="3005396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404664"/>
            <a:ext cx="8593178" cy="5328592"/>
          </a:xfrm>
          <a:prstGeom prst="rect">
            <a:avLst/>
          </a:prstGeom>
        </p:spPr>
      </p:pic>
    </p:spTree>
    <p:extLst>
      <p:ext uri="{BB962C8B-B14F-4D97-AF65-F5344CB8AC3E}">
        <p14:creationId xmlns:p14="http://schemas.microsoft.com/office/powerpoint/2010/main" val="157734529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499</TotalTime>
  <Words>1387</Words>
  <Application>Microsoft Office PowerPoint</Application>
  <PresentationFormat>全屏显示(4:3)</PresentationFormat>
  <Paragraphs>113</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华文琥珀</vt:lpstr>
      <vt:lpstr>楷体</vt:lpstr>
      <vt:lpstr>宋体</vt:lpstr>
      <vt:lpstr>Arial</vt:lpstr>
      <vt:lpstr>Calibri</vt:lpstr>
      <vt:lpstr>Segoe UI Black</vt:lpstr>
      <vt:lpstr>Times New Roman</vt:lpstr>
      <vt:lpstr>Wingdings</vt:lpstr>
      <vt:lpstr>Office 主题</vt:lpstr>
      <vt:lpstr>PowerPoint 演示文稿</vt:lpstr>
      <vt:lpstr>9-1</vt:lpstr>
      <vt:lpstr>9-2</vt:lpstr>
      <vt:lpstr>9-3</vt:lpstr>
      <vt:lpstr>9-17</vt:lpstr>
      <vt:lpstr>9-18</vt:lpstr>
      <vt:lpstr>9-20</vt:lpstr>
      <vt:lpstr>9-22</vt:lpstr>
      <vt:lpstr>9-23</vt:lpstr>
      <vt:lpstr>PowerPoint 演示文稿</vt:lpstr>
      <vt:lpstr>9-24</vt:lpstr>
      <vt:lpstr>PowerPoint 演示文稿</vt:lpstr>
      <vt:lpstr>PowerPoint 演示文稿</vt:lpstr>
      <vt:lpstr>10-1 参考10-3题的输入过程。</vt:lpstr>
      <vt:lpstr>10-3</vt:lpstr>
      <vt:lpstr>10-3</vt:lpstr>
      <vt:lpstr>10-4、10-6 参见答案</vt:lpstr>
      <vt:lpstr>PowerPoint 演示文稿</vt:lpstr>
      <vt:lpstr>11-1</vt:lpstr>
      <vt:lpstr>11-2</vt:lpstr>
      <vt:lpstr>11-4</vt:lpstr>
      <vt:lpstr>PowerPoint 演示文稿</vt:lpstr>
      <vt:lpstr>11-3、5、7、8 参考答案 11-6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Ren</cp:lastModifiedBy>
  <cp:revision>43</cp:revision>
  <dcterms:created xsi:type="dcterms:W3CDTF">2016-06-15T12:33:34Z</dcterms:created>
  <dcterms:modified xsi:type="dcterms:W3CDTF">2018-06-09T07:55:53Z</dcterms:modified>
</cp:coreProperties>
</file>