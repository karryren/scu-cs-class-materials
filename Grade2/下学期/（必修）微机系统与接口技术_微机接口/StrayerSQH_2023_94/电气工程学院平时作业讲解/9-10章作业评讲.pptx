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46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206A5-5913-4D3D-920E-511EBD9283D5}" type="datetimeFigureOut">
              <a:rPr lang="zh-CN" altLang="en-US" smtClean="0"/>
              <a:pPr/>
              <a:t>2018/6/2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64582-26BD-47AD-9F18-50297F4E09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00034" y="1928802"/>
            <a:ext cx="7840679" cy="3500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第</a:t>
            </a:r>
            <a:r>
              <a:rPr kumimoji="0" lang="en-US" altLang="zh-CN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9</a:t>
            </a:r>
            <a:r>
              <a:rPr kumimoji="0" lang="zh-CN" alt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、</a:t>
            </a:r>
            <a:r>
              <a:rPr kumimoji="0" lang="en-US" altLang="zh-CN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10</a:t>
            </a:r>
            <a:r>
              <a:rPr kumimoji="0" lang="zh-CN" alt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章    习题评讲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9-23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14348" y="1285860"/>
            <a:ext cx="8066087" cy="5143536"/>
          </a:xfrm>
          <a:prstGeom prst="rect">
            <a:avLst/>
          </a:prstGeom>
        </p:spPr>
        <p:txBody>
          <a:bodyPr/>
          <a:lstStyle/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）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MOV AL,00100110B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DX,223H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	OUT DX,AL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AL,00H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MOV</a:t>
            </a:r>
            <a:r>
              <a:rPr kumimoji="0" lang="en-US" altLang="zh-CN" sz="2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DX,220H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baseline="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baseline="0" dirty="0" smtClean="0">
                <a:latin typeface="Times New Roman" pitchFamily="18" charset="0"/>
                <a:cs typeface="Times New Roman" pitchFamily="18" charset="0"/>
              </a:rPr>
              <a:t>	OUT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 DX,AL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11000"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端口寻址方式：何时采用直接寻址和间接寻址？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11000"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计数初值为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00H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720" y="214290"/>
            <a:ext cx="8423277" cy="6429396"/>
          </a:xfrm>
          <a:prstGeom prst="rect">
            <a:avLst/>
          </a:prstGeom>
        </p:spPr>
        <p:txBody>
          <a:bodyPr/>
          <a:lstStyle/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）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MOV AL,01110101B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DX,223H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	OUT DX,AL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AL,00H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MOV</a:t>
            </a:r>
            <a:r>
              <a:rPr kumimoji="0" lang="en-US" altLang="zh-CN" sz="2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DX,221H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baseline="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baseline="0" dirty="0" smtClean="0">
                <a:latin typeface="Times New Roman" pitchFamily="18" charset="0"/>
                <a:cs typeface="Times New Roman" pitchFamily="18" charset="0"/>
              </a:rPr>
              <a:t>	OUT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 DX,AL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AL,10H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OUT DX,AL</a:t>
            </a: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11000"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端口寻址方式：何时采用直接寻址和间接寻址？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11000"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计数初值为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1000BCD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。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9-24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720" y="714356"/>
            <a:ext cx="8494715" cy="5643602"/>
          </a:xfrm>
          <a:prstGeom prst="rect">
            <a:avLst/>
          </a:prstGeom>
        </p:spPr>
        <p:txBody>
          <a:bodyPr/>
          <a:lstStyle/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MOV AL,36H;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计数器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，方式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，分频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DX,343H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	OUT DX,AL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MOV AL,10H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；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altLang="zh-CN" sz="2800" b="1" baseline="30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分频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,1s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输出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个脉冲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MOV</a:t>
            </a:r>
            <a:r>
              <a:rPr kumimoji="0" lang="en-US" altLang="zh-CN" sz="2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DX,340H</a:t>
            </a:r>
          </a:p>
          <a:p>
            <a:pPr marL="182563" lvl="0" indent="447675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b="1" baseline="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baseline="0" dirty="0" smtClean="0">
                <a:latin typeface="Times New Roman" pitchFamily="18" charset="0"/>
                <a:cs typeface="Times New Roman" pitchFamily="18" charset="0"/>
              </a:rPr>
              <a:t>	OUT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 DX,AL;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低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位，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 10</a:t>
            </a:r>
            <a:r>
              <a:rPr lang="en-US" altLang="zh-CN" sz="2800" b="1" baseline="30000" dirty="0" smtClean="0"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=2710H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AL,27H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OUT DX,AL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；高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位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11000"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端口寻址方式：何时采用直接寻址和间接寻址？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11000"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计数初值为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2710H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85720" y="714356"/>
            <a:ext cx="8494715" cy="5643602"/>
          </a:xfrm>
          <a:prstGeom prst="rect">
            <a:avLst/>
          </a:prstGeom>
        </p:spPr>
        <p:txBody>
          <a:bodyPr/>
          <a:lstStyle/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MOV AL,52H;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计数器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1,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方式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，计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个数中断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DX,343H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	OUT DX,AL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AL,64H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；初值为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100=64H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MOV</a:t>
            </a:r>
            <a:r>
              <a:rPr kumimoji="0" lang="en-US" altLang="zh-CN" sz="2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DX,341H</a:t>
            </a:r>
          </a:p>
          <a:p>
            <a:pPr marL="182563" lvl="0" indent="447675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b="1" baseline="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baseline="0" dirty="0" smtClean="0">
                <a:latin typeface="Times New Roman" pitchFamily="18" charset="0"/>
                <a:cs typeface="Times New Roman" pitchFamily="18" charset="0"/>
              </a:rPr>
              <a:t>	OUT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 DX,AL;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低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位，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 10</a:t>
            </a:r>
            <a:r>
              <a:rPr lang="en-US" altLang="zh-CN" sz="2800" b="1" baseline="30000" dirty="0" smtClean="0"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=2710H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端口寻址方式：何时采用直接寻址和间接寻址？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11000"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计数初值为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64H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142852"/>
            <a:ext cx="1428760" cy="571504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10-3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5607" t="5319" b="5324"/>
          <a:stretch>
            <a:fillRect/>
          </a:stretch>
        </p:blipFill>
        <p:spPr bwMode="auto">
          <a:xfrm>
            <a:off x="1357322" y="642942"/>
            <a:ext cx="7215206" cy="600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6000760" y="428604"/>
            <a:ext cx="2428892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输入过程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236980" y="3098644"/>
            <a:ext cx="288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428992" y="1571612"/>
            <a:ext cx="43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39826" y="5429264"/>
            <a:ext cx="216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142852"/>
            <a:ext cx="1428760" cy="571504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10-3</a:t>
            </a:r>
            <a:endParaRPr lang="zh-CN" altLang="en-US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6715108" y="1142984"/>
            <a:ext cx="2428892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输出过程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0"/>
            <a:ext cx="633222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直接连接符 5"/>
          <p:cNvCxnSpPr/>
          <p:nvPr/>
        </p:nvCxnSpPr>
        <p:spPr>
          <a:xfrm>
            <a:off x="5354446" y="190400"/>
            <a:ext cx="43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468932" y="1660820"/>
            <a:ext cx="43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51162" y="2352898"/>
            <a:ext cx="43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241248" y="3790722"/>
            <a:ext cx="43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930086" y="4856172"/>
            <a:ext cx="43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500298" y="5641990"/>
            <a:ext cx="43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1604" y="142852"/>
            <a:ext cx="6043626" cy="571504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10-9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720" y="642918"/>
            <a:ext cx="8494715" cy="5857916"/>
          </a:xfrm>
          <a:prstGeom prst="rect">
            <a:avLst/>
          </a:prstGeom>
        </p:spPr>
        <p:txBody>
          <a:bodyPr/>
          <a:lstStyle/>
          <a:p>
            <a:pPr marL="182563" indent="447675">
              <a:lnSpc>
                <a:spcPct val="110000"/>
              </a:lnSpc>
              <a:spcBef>
                <a:spcPct val="20000"/>
              </a:spcBef>
            </a:pPr>
            <a:r>
              <a:rPr lang="zh-CN" altLang="en-US" sz="2800" b="1" dirty="0" smtClean="0"/>
              <a:t>采用</a:t>
            </a:r>
            <a:r>
              <a:rPr lang="zh-CN" altLang="en-US" sz="2800" b="1" dirty="0"/>
              <a:t>程序查询方式实现串行通信，</a:t>
            </a:r>
            <a:r>
              <a:rPr lang="en-US" altLang="zh-CN" sz="2800" b="1" dirty="0"/>
              <a:t>CPU</a:t>
            </a:r>
            <a:r>
              <a:rPr lang="zh-CN" altLang="en-US" sz="2800" b="1" dirty="0"/>
              <a:t>通过读线路状态寄存器查相应状态位。当</a:t>
            </a:r>
            <a:r>
              <a:rPr lang="en-US" altLang="zh-CN" sz="2800" b="1" dirty="0"/>
              <a:t>D0=1</a:t>
            </a:r>
            <a:r>
              <a:rPr lang="zh-CN" altLang="en-US" sz="2800" b="1" dirty="0"/>
              <a:t>，表示接收数据寄存器准备就绪，则接收过程</a:t>
            </a:r>
            <a:r>
              <a:rPr lang="zh-CN" altLang="en-US" sz="2800" b="1" dirty="0" smtClean="0"/>
              <a:t>为</a:t>
            </a:r>
            <a:endParaRPr lang="en-US" altLang="zh-CN" sz="2800" b="1" dirty="0" smtClean="0"/>
          </a:p>
          <a:p>
            <a:pPr marL="182563" indent="-4763">
              <a:lnSpc>
                <a:spcPct val="11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RE:	MOV DX,3FDH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IN AL,DX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TEST AL,1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JZ RE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若准备就绪，则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CPU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读信息：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DX 3F8H;RBR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接收数据缓冲器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IN AL,DX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[DI],AL;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数据存入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[DI]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85720" y="642918"/>
            <a:ext cx="8494715" cy="5857916"/>
          </a:xfrm>
          <a:prstGeom prst="rect">
            <a:avLst/>
          </a:prstGeom>
        </p:spPr>
        <p:txBody>
          <a:bodyPr/>
          <a:lstStyle/>
          <a:p>
            <a:pPr marL="182563" indent="447675">
              <a:lnSpc>
                <a:spcPct val="110000"/>
              </a:lnSpc>
              <a:spcBef>
                <a:spcPct val="20000"/>
              </a:spcBef>
            </a:pPr>
            <a:r>
              <a:rPr lang="zh-CN" altLang="en-US" sz="2800" b="1" dirty="0" smtClean="0"/>
              <a:t>当</a:t>
            </a:r>
            <a:r>
              <a:rPr lang="en-US" altLang="zh-CN" sz="2800" b="1" dirty="0" smtClean="0"/>
              <a:t>D5=1</a:t>
            </a:r>
            <a:r>
              <a:rPr lang="zh-CN" altLang="en-US" sz="2800" b="1" dirty="0"/>
              <a:t>，</a:t>
            </a:r>
            <a:r>
              <a:rPr lang="zh-CN" altLang="en-US" sz="2800" b="1" dirty="0" smtClean="0"/>
              <a:t>表示发送保持寄存器空，则发送数据</a:t>
            </a:r>
            <a:endParaRPr lang="en-US" altLang="zh-CN" sz="2800" b="1" dirty="0" smtClean="0"/>
          </a:p>
          <a:p>
            <a:pPr marL="182563" indent="-4763">
              <a:lnSpc>
                <a:spcPct val="11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TR:	MOV DX,3FDH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IN AL,DX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TEST AL,20H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JZ TR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若为空，则发送数据：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AL,[SI]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MOV DX,3F8H;THR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发送数据保存寄存器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OUT DX,AL</a:t>
            </a:r>
          </a:p>
          <a:p>
            <a:pPr marL="182563" marR="0" lvl="0" indent="44767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57224" y="1357298"/>
            <a:ext cx="8001056" cy="3857652"/>
          </a:xfrm>
          <a:prstGeom prst="rect">
            <a:avLst/>
          </a:prstGeom>
        </p:spPr>
        <p:txBody>
          <a:bodyPr/>
          <a:lstStyle/>
          <a:p>
            <a:pPr marL="182563" indent="-4763">
              <a:lnSpc>
                <a:spcPct val="150000"/>
              </a:lnSpc>
              <a:spcBef>
                <a:spcPct val="20000"/>
              </a:spcBef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引脚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OUT1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OUT2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初始化时设置为无中断工作方式，即均为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：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182563" indent="-4763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	MOV AL,3</a:t>
            </a:r>
          </a:p>
          <a:p>
            <a:pPr marL="182563" indent="-4763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MOV DX,3FCH;MODEM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控制寄存器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82563" indent="-4763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	OUT DX,AL</a:t>
            </a:r>
          </a:p>
          <a:p>
            <a:pPr marL="182563" marR="0" lvl="0" indent="447675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" t="4168" r="680" b="4840"/>
          <a:stretch/>
        </p:blipFill>
        <p:spPr>
          <a:xfrm>
            <a:off x="35496" y="44624"/>
            <a:ext cx="8928992" cy="352839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3523927"/>
            <a:ext cx="6299524" cy="328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9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7" y="692696"/>
            <a:ext cx="9018837" cy="511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8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1000"/>
                    </a14:imgEffect>
                    <a14:imgEffect>
                      <a14:saturation sat="70000"/>
                    </a14:imgEffect>
                    <a14:imgEffect>
                      <a14:brightnessContrast bright="-37000" contrast="8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836712"/>
            <a:ext cx="8626051" cy="5112568"/>
          </a:xfrm>
          <a:prstGeom prst="rect">
            <a:avLst/>
          </a:prstGeom>
          <a:effectLst>
            <a:glow rad="127000">
              <a:schemeClr val="accent1">
                <a:alpha val="91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67682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92696"/>
            <a:ext cx="8848636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94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48680"/>
            <a:ext cx="7899914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50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76672"/>
            <a:ext cx="5040560" cy="552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52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548680"/>
            <a:ext cx="7967717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26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76672"/>
            <a:ext cx="6350566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90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764704"/>
            <a:ext cx="7161445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396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4664"/>
            <a:ext cx="8593178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45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89</Words>
  <Application>Microsoft Office PowerPoint</Application>
  <PresentationFormat>全屏显示(4:3)</PresentationFormat>
  <Paragraphs>69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PowerPoint 演示文稿</vt:lpstr>
      <vt:lpstr>9-23</vt:lpstr>
      <vt:lpstr>PowerPoint 演示文稿</vt:lpstr>
      <vt:lpstr>9-24</vt:lpstr>
      <vt:lpstr>PowerPoint 演示文稿</vt:lpstr>
      <vt:lpstr>10-3</vt:lpstr>
      <vt:lpstr>10-3</vt:lpstr>
      <vt:lpstr>10-9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Ren</cp:lastModifiedBy>
  <cp:revision>13</cp:revision>
  <dcterms:created xsi:type="dcterms:W3CDTF">2016-06-15T12:33:34Z</dcterms:created>
  <dcterms:modified xsi:type="dcterms:W3CDTF">2018-06-02T13:05:49Z</dcterms:modified>
</cp:coreProperties>
</file>