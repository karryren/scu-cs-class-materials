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3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  <p:sldId id="275" r:id="rId22"/>
    <p:sldId id="276" r:id="rId23"/>
    <p:sldId id="277" r:id="rId24"/>
    <p:sldId id="278" r:id="rId25"/>
    <p:sldId id="286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8" r:id="rId34"/>
    <p:sldId id="287" r:id="rId3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14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6A0F-BDF0-46E3-9599-A2F36AB94D75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144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6A0F-BDF0-46E3-9599-A2F36AB94D75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14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6A0F-BDF0-46E3-9599-A2F36AB94D75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24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6A0F-BDF0-46E3-9599-A2F36AB94D75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08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6A0F-BDF0-46E3-9599-A2F36AB94D75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721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6A0F-BDF0-46E3-9599-A2F36AB94D75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20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6A0F-BDF0-46E3-9599-A2F36AB94D75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05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6A0F-BDF0-46E3-9599-A2F36AB94D75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459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6A0F-BDF0-46E3-9599-A2F36AB94D75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59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6A0F-BDF0-46E3-9599-A2F36AB94D75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084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6A0F-BDF0-46E3-9599-A2F36AB94D75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042C8-6252-4E5B-9BC3-7808ADC5D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952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47700" y="1447800"/>
            <a:ext cx="784860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3048000"/>
            <a:ext cx="8077200" cy="6350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Trebuchet MS" pitchFamily="34" charset="0"/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629400"/>
            <a:ext cx="2895600" cy="2286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Trebuchet MS" pitchFamily="34" charset="0"/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239000" y="6629400"/>
            <a:ext cx="1905000" cy="2286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Trebuchet MS" pitchFamily="34" charset="0"/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E91630-C1BC-413D-BDFA-222BBBF21F11}" type="slidenum">
              <a:rPr lang="zh-CN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01889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65997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3080227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9050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708863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54807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71474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370692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6966027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28293248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012390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85800"/>
            <a:ext cx="2019300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5905500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9319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16A0F-BDF0-46E3-9599-A2F36AB94D75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042C8-6252-4E5B-9BC3-7808ADC5D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667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077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第二级项目符号文本</a:t>
            </a:r>
          </a:p>
          <a:p>
            <a:pPr lvl="2"/>
            <a:r>
              <a:rPr lang="zh-CN" altLang="en-US" smtClean="0"/>
              <a:t>第三级项目符号文本</a:t>
            </a:r>
          </a:p>
          <a:p>
            <a:pPr lvl="3"/>
            <a:r>
              <a:rPr lang="zh-CN" altLang="en-US" smtClean="0"/>
              <a:t> 第四级项目符号文本</a:t>
            </a:r>
          </a:p>
          <a:p>
            <a:pPr lvl="4"/>
            <a:r>
              <a:rPr lang="zh-CN" altLang="en-US" smtClean="0"/>
              <a:t>第五级项目符号文本</a:t>
            </a:r>
          </a:p>
          <a:p>
            <a:pPr lvl="1"/>
            <a:endParaRPr lang="zh-CN" altLang="en-US" smtClean="0"/>
          </a:p>
          <a:p>
            <a:pPr lvl="2"/>
            <a:endParaRPr lang="zh-CN" altLang="en-US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685800"/>
            <a:ext cx="5483225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044197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00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00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00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00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9pPr>
    </p:titleStyle>
    <p:bodyStyle>
      <a:lvl1pPr marL="342900" indent="-3429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chemeClr val="bg2"/>
        </a:buClr>
        <a:buChar char="•"/>
        <a:defRPr sz="1600">
          <a:solidFill>
            <a:srgbClr val="284C6A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Font typeface="Trebuchet MS" pitchFamily="34" charset="0"/>
        <a:buChar char="−"/>
        <a:defRPr sz="1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Font typeface="Trebuchet MS" pitchFamily="34" charset="0"/>
        <a:buChar char="−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31515"/>
            <a:ext cx="7886700" cy="5745448"/>
          </a:xfrm>
        </p:spPr>
        <p:txBody>
          <a:bodyPr/>
          <a:lstStyle/>
          <a:p>
            <a:r>
              <a:rPr lang="en-US" altLang="zh-CN" dirty="0" smtClean="0"/>
              <a:t>1-19 </a:t>
            </a:r>
            <a:r>
              <a:rPr lang="zh-CN" altLang="en-US" dirty="0" smtClean="0"/>
              <a:t>已知补码如下，分别写出真值和原码。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(3)   FFFH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12</a:t>
            </a:r>
            <a:r>
              <a:rPr lang="zh-CN" altLang="en-US" dirty="0" smtClean="0"/>
              <a:t>位负数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</a:t>
            </a:r>
            <a:r>
              <a:rPr lang="zh-CN" altLang="en-US" dirty="0" smtClean="0"/>
              <a:t>补码为： </a:t>
            </a:r>
            <a:r>
              <a:rPr lang="en-US" altLang="zh-CN" dirty="0" smtClean="0"/>
              <a:t>1111 1111 1111B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</a:t>
            </a:r>
            <a:r>
              <a:rPr lang="zh-CN" altLang="en-US" dirty="0" smtClean="0"/>
              <a:t>原码为： </a:t>
            </a:r>
            <a:r>
              <a:rPr lang="en-US" altLang="zh-CN" dirty="0" smtClean="0"/>
              <a:t>1000 0000 0001B=801H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</a:t>
            </a:r>
            <a:r>
              <a:rPr lang="zh-CN" altLang="en-US" dirty="0" smtClean="0"/>
              <a:t>真值为：</a:t>
            </a:r>
            <a:r>
              <a:rPr lang="en-US" altLang="zh-CN" dirty="0" smtClean="0"/>
              <a:t>-1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(4)  800H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12</a:t>
            </a:r>
            <a:r>
              <a:rPr lang="zh-CN" altLang="en-US" dirty="0" smtClean="0"/>
              <a:t>位负数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补码为：</a:t>
            </a:r>
            <a:r>
              <a:rPr lang="en-US" altLang="zh-CN" dirty="0" smtClean="0"/>
              <a:t>1000 0000 0000B    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原码</a:t>
            </a:r>
            <a:r>
              <a:rPr lang="zh-CN" altLang="en-US" dirty="0"/>
              <a:t>不存在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  </a:t>
            </a:r>
            <a:r>
              <a:rPr lang="zh-CN" altLang="en-US" dirty="0" smtClean="0"/>
              <a:t>真值为：</a:t>
            </a:r>
            <a:r>
              <a:rPr lang="en-US" altLang="zh-CN" dirty="0" smtClean="0"/>
              <a:t>-1000 0000 0000B=-2</a:t>
            </a:r>
            <a:r>
              <a:rPr lang="en-US" altLang="zh-CN" baseline="30000" dirty="0" smtClean="0"/>
              <a:t>11</a:t>
            </a:r>
            <a:r>
              <a:rPr lang="en-US" altLang="zh-CN" dirty="0" smtClean="0"/>
              <a:t>=-2048</a:t>
            </a:r>
            <a:endParaRPr lang="zh-CN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20237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382624"/>
            <a:ext cx="7772400" cy="2387600"/>
          </a:xfrm>
        </p:spPr>
        <p:txBody>
          <a:bodyPr>
            <a:normAutofit/>
          </a:bodyPr>
          <a:lstStyle/>
          <a:p>
            <a:r>
              <a:rPr lang="zh-CN" altLang="en-US" sz="8800" b="1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第三章</a:t>
            </a:r>
            <a:endParaRPr lang="zh-CN" altLang="en-US" sz="8800" b="1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7200" b="1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习题解答</a:t>
            </a:r>
            <a:endParaRPr lang="zh-CN" altLang="en-US" sz="7200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160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3166" y="253678"/>
            <a:ext cx="8361237" cy="6383427"/>
          </a:xfrm>
        </p:spPr>
        <p:txBody>
          <a:bodyPr>
            <a:normAutofit/>
          </a:bodyPr>
          <a:lstStyle/>
          <a:p>
            <a:pPr indent="269875" algn="just">
              <a:lnSpc>
                <a:spcPct val="120000"/>
              </a:lnSpc>
              <a:spcAft>
                <a:spcPts val="0"/>
              </a:spcAft>
            </a:pPr>
            <a:r>
              <a:rPr lang="zh-CN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什么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是实地址方式、保护方式和虚拟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8086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方式？它们分别使用什么存储模型？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实地址方式</a:t>
            </a:r>
            <a:r>
              <a:rPr lang="zh-CN" altLang="en-US" sz="2400" b="1" dirty="0"/>
              <a:t>：与</a:t>
            </a:r>
            <a:r>
              <a:rPr lang="en-US" altLang="zh-CN" sz="2400" b="1" dirty="0"/>
              <a:t>8086</a:t>
            </a:r>
            <a:r>
              <a:rPr lang="zh-CN" altLang="en-US" sz="2400" b="1" dirty="0"/>
              <a:t>具有相同的基本结构，只能寻址</a:t>
            </a:r>
            <a:r>
              <a:rPr lang="en-US" altLang="zh-CN" sz="2400" b="1" dirty="0"/>
              <a:t>1MB</a:t>
            </a:r>
            <a:r>
              <a:rPr lang="zh-CN" altLang="en-US" sz="2400" b="1" dirty="0"/>
              <a:t>物理存储器空间，逻辑段最大不超过</a:t>
            </a:r>
            <a:r>
              <a:rPr lang="en-US" altLang="zh-CN" sz="2400" b="1" dirty="0"/>
              <a:t>64KB</a:t>
            </a:r>
            <a:r>
              <a:rPr lang="zh-CN" altLang="en-US" sz="2400" b="1" dirty="0"/>
              <a:t>；但可以使用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位寄存器、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位操作数和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位寻址方式；相当于可以进行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位处理的快速</a:t>
            </a:r>
            <a:r>
              <a:rPr lang="en-US" altLang="zh-CN" sz="2400" b="1" dirty="0"/>
              <a:t>8086</a:t>
            </a:r>
            <a:r>
              <a:rPr lang="zh-CN" altLang="en-US" sz="2400" b="1" dirty="0"/>
              <a:t>。实地址工作方式只能支持实地址存储模型。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保护方式</a:t>
            </a:r>
            <a:r>
              <a:rPr lang="zh-CN" altLang="en-US" sz="2400" b="1" dirty="0"/>
              <a:t>：具有强大的段页式存储管理和特权与保护能力，使用全部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条地址总线，可寻址</a:t>
            </a:r>
            <a:r>
              <a:rPr lang="en-US" altLang="zh-CN" sz="2400" b="1" dirty="0"/>
              <a:t>4GB</a:t>
            </a:r>
            <a:r>
              <a:rPr lang="zh-CN" altLang="en-US" sz="2400" b="1" dirty="0"/>
              <a:t>物理存储器。保护方式通过描述符实现分段存储管理，每个逻辑段可达</a:t>
            </a:r>
            <a:r>
              <a:rPr lang="en-US" altLang="zh-CN" sz="2400" b="1" dirty="0"/>
              <a:t>4GB</a:t>
            </a:r>
            <a:r>
              <a:rPr lang="zh-CN" altLang="en-US" sz="2400" b="1" dirty="0"/>
              <a:t>。处理器工作在保护方式时，可以使用平展或段式存储模型。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虚拟</a:t>
            </a:r>
            <a:r>
              <a:rPr lang="en-US" altLang="zh-CN" sz="2400" b="1" dirty="0">
                <a:solidFill>
                  <a:srgbClr val="0000FF"/>
                </a:solidFill>
              </a:rPr>
              <a:t>8086</a:t>
            </a:r>
            <a:r>
              <a:rPr lang="zh-CN" altLang="en-US" sz="2400" b="1" dirty="0">
                <a:solidFill>
                  <a:srgbClr val="0000FF"/>
                </a:solidFill>
              </a:rPr>
              <a:t>方式</a:t>
            </a:r>
            <a:r>
              <a:rPr lang="zh-CN" altLang="en-US" sz="2400" b="1" dirty="0"/>
              <a:t>：在保护方式下运行的类似实方式的运行环境，只能在</a:t>
            </a:r>
            <a:r>
              <a:rPr lang="en-US" altLang="zh-CN" sz="2400" b="1" dirty="0"/>
              <a:t>1MB</a:t>
            </a:r>
            <a:r>
              <a:rPr lang="zh-CN" altLang="en-US" sz="2400" b="1" dirty="0"/>
              <a:t>存储空间下使用“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位段”。 处理器工作在虚拟</a:t>
            </a:r>
            <a:r>
              <a:rPr lang="en-US" altLang="zh-CN" sz="2400" b="1" dirty="0"/>
              <a:t>8086</a:t>
            </a:r>
            <a:r>
              <a:rPr lang="zh-CN" altLang="en-US" sz="2400" b="1" dirty="0"/>
              <a:t>方式时，只能使用实地址存储模型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75917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56855"/>
            <a:ext cx="7886700" cy="632888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zh-CN" b="1" dirty="0">
                <a:solidFill>
                  <a:srgbClr val="FF0000"/>
                </a:solidFill>
              </a:rPr>
              <a:t>汇编语句有哪两种，每个语句由哪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zh-CN" b="1" dirty="0">
                <a:solidFill>
                  <a:srgbClr val="FF0000"/>
                </a:solidFill>
              </a:rPr>
              <a:t>个部分组成？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 smtClean="0"/>
              <a:t>      </a:t>
            </a:r>
            <a:r>
              <a:rPr lang="zh-CN" altLang="zh-CN" b="1" dirty="0" smtClean="0"/>
              <a:t>汇编</a:t>
            </a:r>
            <a:r>
              <a:rPr lang="zh-CN" altLang="zh-CN" b="1" dirty="0"/>
              <a:t>语句有两种：执行性语句（处理器指令）、说明性语句（伪指令）。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 smtClean="0"/>
              <a:t>     </a:t>
            </a:r>
            <a:r>
              <a:rPr lang="zh-CN" altLang="zh-CN" b="1" dirty="0" smtClean="0"/>
              <a:t>每个</a:t>
            </a:r>
            <a:r>
              <a:rPr lang="zh-CN" altLang="zh-CN" b="1" dirty="0"/>
              <a:t>语句有：标号、指令助记符、操作数或参数、注释</a:t>
            </a:r>
            <a:r>
              <a:rPr lang="en-US" altLang="zh-CN" b="1" dirty="0"/>
              <a:t>4</a:t>
            </a:r>
            <a:r>
              <a:rPr lang="zh-CN" altLang="zh-CN" b="1" dirty="0"/>
              <a:t>个部分组成。</a:t>
            </a:r>
          </a:p>
          <a:p>
            <a:pPr>
              <a:lnSpc>
                <a:spcPct val="120000"/>
              </a:lnSpc>
            </a:pPr>
            <a:r>
              <a:rPr lang="en-US" altLang="zh-CN" b="1" dirty="0" smtClean="0">
                <a:solidFill>
                  <a:srgbClr val="FF0000"/>
                </a:solidFill>
              </a:rPr>
              <a:t>3-2 </a:t>
            </a:r>
            <a:r>
              <a:rPr lang="zh-CN" altLang="en-US" b="1" dirty="0" smtClean="0">
                <a:solidFill>
                  <a:srgbClr val="FF0000"/>
                </a:solidFill>
              </a:rPr>
              <a:t>什么是寻址方式</a:t>
            </a:r>
            <a:r>
              <a:rPr lang="zh-CN" altLang="en-US" b="1" dirty="0">
                <a:solidFill>
                  <a:srgbClr val="FF0000"/>
                </a:solidFill>
              </a:rPr>
              <a:t>？</a:t>
            </a:r>
            <a:r>
              <a:rPr lang="en-US" altLang="zh-CN" b="1" dirty="0">
                <a:solidFill>
                  <a:srgbClr val="FF0000"/>
                </a:solidFill>
              </a:rPr>
              <a:t>8086/8088</a:t>
            </a:r>
            <a:r>
              <a:rPr lang="zh-CN" altLang="en-US" b="1" dirty="0">
                <a:solidFill>
                  <a:srgbClr val="FF0000"/>
                </a:solidFill>
              </a:rPr>
              <a:t>微处理器有哪几种主要的寻址方式</a:t>
            </a:r>
            <a:r>
              <a:rPr lang="zh-CN" altLang="en-US" b="1" dirty="0" smtClean="0">
                <a:solidFill>
                  <a:srgbClr val="FF0000"/>
                </a:solidFill>
              </a:rPr>
              <a:t>？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dirty="0" smtClean="0"/>
              <a:t>    寻址方式是指指令的操作码寻找相应操作数</a:t>
            </a:r>
            <a:r>
              <a:rPr lang="zh-CN" altLang="en-US" b="1" dirty="0"/>
              <a:t>的方式。主要的寻址方式有：固定</a:t>
            </a:r>
            <a:r>
              <a:rPr lang="zh-CN" altLang="en-US" b="1" dirty="0" smtClean="0"/>
              <a:t>寻址（堆栈存储器寻址等）、</a:t>
            </a:r>
            <a:r>
              <a:rPr lang="zh-CN" altLang="en-US" b="1" dirty="0"/>
              <a:t>立即数寻址、寄存器寻址、存储器寻址、串操作指令寻址、</a:t>
            </a:r>
            <a:r>
              <a:rPr lang="en-US" altLang="zh-CN" b="1" dirty="0"/>
              <a:t>I/O</a:t>
            </a:r>
            <a:r>
              <a:rPr lang="zh-CN" altLang="en-US" b="1" dirty="0"/>
              <a:t>端口寻址方式，其中存储器寻址又可分为</a:t>
            </a:r>
            <a:r>
              <a:rPr lang="zh-CN" altLang="en-US" b="1" dirty="0" smtClean="0"/>
              <a:t>：直接、寄存器间接、基址</a:t>
            </a:r>
            <a:r>
              <a:rPr lang="zh-CN" altLang="en-US" b="1" dirty="0"/>
              <a:t>加</a:t>
            </a:r>
            <a:r>
              <a:rPr lang="zh-CN" altLang="en-US" b="1" dirty="0" smtClean="0"/>
              <a:t>变址、寄存器相对和相对</a:t>
            </a:r>
            <a:r>
              <a:rPr lang="zh-CN" altLang="en-US" b="1" dirty="0"/>
              <a:t>基址加变址</a:t>
            </a:r>
            <a:r>
              <a:rPr lang="zh-CN" altLang="en-US" b="1" dirty="0" smtClean="0"/>
              <a:t>。</a:t>
            </a:r>
            <a:r>
              <a:rPr lang="zh-CN" altLang="en-US" b="1" dirty="0"/>
              <a:t>此外，程序控制指令还有直接、相对、寄存器间接、存储器间接等寻址方式。</a:t>
            </a:r>
          </a:p>
          <a:p>
            <a:pPr>
              <a:lnSpc>
                <a:spcPct val="120000"/>
              </a:lnSpc>
            </a:pP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910484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0144" y="308224"/>
            <a:ext cx="8691937" cy="645217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b="1" dirty="0" smtClean="0">
                <a:solidFill>
                  <a:srgbClr val="FF0000"/>
                </a:solidFill>
              </a:rPr>
              <a:t>3-3 </a:t>
            </a:r>
            <a:r>
              <a:rPr lang="zh-CN" altLang="en-US" b="1" dirty="0" smtClean="0">
                <a:solidFill>
                  <a:srgbClr val="FF0000"/>
                </a:solidFill>
              </a:rPr>
              <a:t>指出</a:t>
            </a:r>
            <a:r>
              <a:rPr lang="en-US" altLang="zh-CN" b="1" dirty="0">
                <a:solidFill>
                  <a:srgbClr val="FF0000"/>
                </a:solidFill>
              </a:rPr>
              <a:t>8086/8088</a:t>
            </a:r>
            <a:r>
              <a:rPr lang="zh-CN" altLang="en-US" b="1" dirty="0">
                <a:solidFill>
                  <a:srgbClr val="FF0000"/>
                </a:solidFill>
              </a:rPr>
              <a:t>下列指令源操作数的寻址方式。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MOV AX</a:t>
            </a:r>
            <a:r>
              <a:rPr lang="zh-CN" altLang="en-US" dirty="0"/>
              <a:t>，</a:t>
            </a:r>
            <a:r>
              <a:rPr lang="en-US" altLang="zh-CN" dirty="0"/>
              <a:t>1200H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 </a:t>
            </a:r>
            <a:r>
              <a:rPr lang="en-US" altLang="zh-CN" dirty="0"/>
              <a:t>MOV BX</a:t>
            </a:r>
            <a:r>
              <a:rPr lang="zh-CN" altLang="en-US" dirty="0"/>
              <a:t>，</a:t>
            </a:r>
            <a:r>
              <a:rPr lang="en-US" altLang="zh-CN" dirty="0"/>
              <a:t>[1200H</a:t>
            </a:r>
            <a:r>
              <a:rPr lang="en-US" altLang="zh-CN" dirty="0" smtClean="0"/>
              <a:t>]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MOV BX</a:t>
            </a:r>
            <a:r>
              <a:rPr lang="zh-CN" altLang="en-US" dirty="0"/>
              <a:t>，</a:t>
            </a:r>
            <a:r>
              <a:rPr lang="en-US" altLang="zh-CN" dirty="0"/>
              <a:t>[SI] 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 </a:t>
            </a:r>
            <a:r>
              <a:rPr lang="en-US" altLang="zh-CN" dirty="0"/>
              <a:t>MOV BX</a:t>
            </a:r>
            <a:r>
              <a:rPr lang="zh-CN" altLang="en-US" dirty="0"/>
              <a:t>，</a:t>
            </a:r>
            <a:r>
              <a:rPr lang="en-US" altLang="zh-CN" dirty="0"/>
              <a:t>[SI+1200H]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en-US" altLang="zh-CN" dirty="0"/>
              <a:t>MOV [BX+SI]</a:t>
            </a:r>
            <a:r>
              <a:rPr lang="zh-CN" altLang="en-US" dirty="0"/>
              <a:t>，</a:t>
            </a:r>
            <a:r>
              <a:rPr lang="en-US" altLang="zh-CN" dirty="0"/>
              <a:t>AL </a:t>
            </a:r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 </a:t>
            </a:r>
            <a:r>
              <a:rPr lang="en-US" altLang="zh-CN" dirty="0"/>
              <a:t>ADD AX</a:t>
            </a:r>
            <a:r>
              <a:rPr lang="zh-CN" altLang="en-US" dirty="0"/>
              <a:t>，</a:t>
            </a:r>
            <a:r>
              <a:rPr lang="en-US" altLang="zh-CN" dirty="0"/>
              <a:t>[BX+DI+20H]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）</a:t>
            </a:r>
            <a:r>
              <a:rPr lang="en-US" altLang="zh-CN" dirty="0"/>
              <a:t>MUL BL </a:t>
            </a:r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） </a:t>
            </a:r>
            <a:r>
              <a:rPr lang="en-US" altLang="zh-CN" dirty="0" smtClean="0"/>
              <a:t>XLAT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9</a:t>
            </a:r>
            <a:r>
              <a:rPr lang="zh-CN" altLang="en-US" dirty="0"/>
              <a:t>）</a:t>
            </a:r>
            <a:r>
              <a:rPr lang="en-US" altLang="zh-CN" dirty="0"/>
              <a:t>IN AL</a:t>
            </a:r>
            <a:r>
              <a:rPr lang="zh-CN" altLang="en-US" dirty="0"/>
              <a:t>，</a:t>
            </a:r>
            <a:r>
              <a:rPr lang="en-US" altLang="zh-CN" dirty="0"/>
              <a:t>DX </a:t>
            </a:r>
            <a:r>
              <a:rPr lang="zh-CN" altLang="en-US" dirty="0"/>
              <a:t>（</a:t>
            </a:r>
            <a:r>
              <a:rPr lang="en-US" altLang="zh-CN" dirty="0"/>
              <a:t>10</a:t>
            </a:r>
            <a:r>
              <a:rPr lang="zh-CN" altLang="en-US" dirty="0"/>
              <a:t>）</a:t>
            </a:r>
            <a:r>
              <a:rPr lang="en-US" altLang="zh-CN" dirty="0"/>
              <a:t>INC WORD PTR[BP+50H]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dirty="0" smtClean="0">
                <a:solidFill>
                  <a:srgbClr val="0000FF"/>
                </a:solidFill>
              </a:rPr>
              <a:t>（</a:t>
            </a:r>
            <a:r>
              <a:rPr lang="en-US" altLang="zh-CN" b="1" dirty="0">
                <a:solidFill>
                  <a:srgbClr val="0000FF"/>
                </a:solidFill>
              </a:rPr>
              <a:t>1</a:t>
            </a:r>
            <a:r>
              <a:rPr lang="zh-CN" altLang="en-US" b="1" dirty="0">
                <a:solidFill>
                  <a:srgbClr val="0000FF"/>
                </a:solidFill>
              </a:rPr>
              <a:t>）立即寻址 （</a:t>
            </a:r>
            <a:r>
              <a:rPr lang="en-US" altLang="zh-CN" b="1" dirty="0">
                <a:solidFill>
                  <a:srgbClr val="0000FF"/>
                </a:solidFill>
              </a:rPr>
              <a:t>2</a:t>
            </a:r>
            <a:r>
              <a:rPr lang="zh-CN" altLang="en-US" b="1" dirty="0">
                <a:solidFill>
                  <a:srgbClr val="0000FF"/>
                </a:solidFill>
              </a:rPr>
              <a:t>）存储器直接寻址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dirty="0" smtClean="0">
                <a:solidFill>
                  <a:srgbClr val="0000FF"/>
                </a:solidFill>
              </a:rPr>
              <a:t>（</a:t>
            </a:r>
            <a:r>
              <a:rPr lang="en-US" altLang="zh-CN" b="1" dirty="0">
                <a:solidFill>
                  <a:srgbClr val="0000FF"/>
                </a:solidFill>
              </a:rPr>
              <a:t>3</a:t>
            </a:r>
            <a:r>
              <a:rPr lang="zh-CN" altLang="en-US" b="1" dirty="0" smtClean="0">
                <a:solidFill>
                  <a:srgbClr val="0000FF"/>
                </a:solidFill>
              </a:rPr>
              <a:t>）寄存器</a:t>
            </a:r>
            <a:r>
              <a:rPr lang="zh-CN" altLang="en-US" b="1" dirty="0">
                <a:solidFill>
                  <a:srgbClr val="0000FF"/>
                </a:solidFill>
              </a:rPr>
              <a:t>间接寻址 （</a:t>
            </a:r>
            <a:r>
              <a:rPr lang="en-US" altLang="zh-CN" b="1" dirty="0">
                <a:solidFill>
                  <a:srgbClr val="0000FF"/>
                </a:solidFill>
              </a:rPr>
              <a:t>4</a:t>
            </a:r>
            <a:r>
              <a:rPr lang="zh-CN" altLang="en-US" b="1" dirty="0">
                <a:solidFill>
                  <a:srgbClr val="0000FF"/>
                </a:solidFill>
              </a:rPr>
              <a:t>）</a:t>
            </a:r>
            <a:r>
              <a:rPr lang="zh-CN" altLang="en-US" b="1" dirty="0" smtClean="0">
                <a:solidFill>
                  <a:srgbClr val="0000FF"/>
                </a:solidFill>
              </a:rPr>
              <a:t>寄存器相对寻址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dirty="0" smtClean="0">
                <a:solidFill>
                  <a:srgbClr val="0000FF"/>
                </a:solidFill>
              </a:rPr>
              <a:t>（</a:t>
            </a:r>
            <a:r>
              <a:rPr lang="en-US" altLang="zh-CN" b="1" dirty="0">
                <a:solidFill>
                  <a:srgbClr val="0000FF"/>
                </a:solidFill>
              </a:rPr>
              <a:t>5</a:t>
            </a:r>
            <a:r>
              <a:rPr lang="zh-CN" altLang="en-US" b="1" dirty="0" smtClean="0">
                <a:solidFill>
                  <a:srgbClr val="0000FF"/>
                </a:solidFill>
              </a:rPr>
              <a:t>）寄存器寻址 </a:t>
            </a:r>
            <a:r>
              <a:rPr lang="zh-CN" altLang="en-US" b="1" dirty="0">
                <a:solidFill>
                  <a:srgbClr val="0000FF"/>
                </a:solidFill>
              </a:rPr>
              <a:t>（</a:t>
            </a:r>
            <a:r>
              <a:rPr lang="en-US" altLang="zh-CN" b="1" dirty="0">
                <a:solidFill>
                  <a:srgbClr val="0000FF"/>
                </a:solidFill>
              </a:rPr>
              <a:t>6</a:t>
            </a:r>
            <a:r>
              <a:rPr lang="zh-CN" altLang="en-US" b="1" dirty="0" smtClean="0">
                <a:solidFill>
                  <a:srgbClr val="0000FF"/>
                </a:solidFill>
              </a:rPr>
              <a:t>）相对基址</a:t>
            </a:r>
            <a:r>
              <a:rPr lang="zh-CN" altLang="en-US" b="1" dirty="0">
                <a:solidFill>
                  <a:srgbClr val="0000FF"/>
                </a:solidFill>
              </a:rPr>
              <a:t>加</a:t>
            </a:r>
            <a:r>
              <a:rPr lang="zh-CN" altLang="en-US" b="1" dirty="0" smtClean="0">
                <a:solidFill>
                  <a:srgbClr val="0000FF"/>
                </a:solidFill>
              </a:rPr>
              <a:t>变址寻址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dirty="0" smtClean="0">
                <a:solidFill>
                  <a:srgbClr val="0000FF"/>
                </a:solidFill>
              </a:rPr>
              <a:t>（</a:t>
            </a:r>
            <a:r>
              <a:rPr lang="en-US" altLang="zh-CN" b="1" dirty="0">
                <a:solidFill>
                  <a:srgbClr val="0000FF"/>
                </a:solidFill>
              </a:rPr>
              <a:t>7</a:t>
            </a:r>
            <a:r>
              <a:rPr lang="zh-CN" altLang="en-US" b="1" dirty="0">
                <a:solidFill>
                  <a:srgbClr val="0000FF"/>
                </a:solidFill>
              </a:rPr>
              <a:t>）寄存器寻址 （</a:t>
            </a:r>
            <a:r>
              <a:rPr lang="en-US" altLang="zh-CN" b="1" dirty="0">
                <a:solidFill>
                  <a:srgbClr val="0000FF"/>
                </a:solidFill>
              </a:rPr>
              <a:t>8</a:t>
            </a:r>
            <a:r>
              <a:rPr lang="zh-CN" altLang="en-US" b="1" dirty="0">
                <a:solidFill>
                  <a:srgbClr val="0000FF"/>
                </a:solidFill>
              </a:rPr>
              <a:t>）</a:t>
            </a:r>
            <a:r>
              <a:rPr lang="zh-CN" altLang="en-US" b="1" dirty="0" smtClean="0">
                <a:solidFill>
                  <a:srgbClr val="0000FF"/>
                </a:solidFill>
              </a:rPr>
              <a:t>寄存器</a:t>
            </a:r>
            <a:r>
              <a:rPr lang="zh-CN" altLang="en-US" b="1" dirty="0" smtClean="0">
                <a:solidFill>
                  <a:srgbClr val="0000FF"/>
                </a:solidFill>
              </a:rPr>
              <a:t>相对寻址（</a:t>
            </a:r>
            <a:r>
              <a:rPr lang="en-US" altLang="zh-CN" b="1" dirty="0" smtClean="0">
                <a:solidFill>
                  <a:srgbClr val="0000FF"/>
                </a:solidFill>
              </a:rPr>
              <a:t>BX+</a:t>
            </a:r>
            <a:r>
              <a:rPr lang="zh-CN" altLang="en-US" b="1" dirty="0" smtClean="0">
                <a:solidFill>
                  <a:srgbClr val="0000FF"/>
                </a:solidFill>
              </a:rPr>
              <a:t>索引值）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dirty="0" smtClean="0">
                <a:solidFill>
                  <a:srgbClr val="0000FF"/>
                </a:solidFill>
              </a:rPr>
              <a:t>（</a:t>
            </a:r>
            <a:r>
              <a:rPr lang="en-US" altLang="zh-CN" b="1" dirty="0">
                <a:solidFill>
                  <a:srgbClr val="0000FF"/>
                </a:solidFill>
              </a:rPr>
              <a:t>9</a:t>
            </a:r>
            <a:r>
              <a:rPr lang="zh-CN" altLang="en-US" b="1" dirty="0" smtClean="0">
                <a:solidFill>
                  <a:srgbClr val="0000FF"/>
                </a:solidFill>
              </a:rPr>
              <a:t>）间接</a:t>
            </a:r>
            <a:r>
              <a:rPr lang="zh-CN" altLang="en-US" b="1" dirty="0">
                <a:solidFill>
                  <a:srgbClr val="0000FF"/>
                </a:solidFill>
              </a:rPr>
              <a:t>端口</a:t>
            </a:r>
            <a:r>
              <a:rPr lang="zh-CN" altLang="en-US" b="1" dirty="0" smtClean="0">
                <a:solidFill>
                  <a:srgbClr val="0000FF"/>
                </a:solidFill>
              </a:rPr>
              <a:t>寻址 </a:t>
            </a:r>
            <a:r>
              <a:rPr lang="zh-CN" altLang="en-US" b="1" dirty="0">
                <a:solidFill>
                  <a:srgbClr val="0000FF"/>
                </a:solidFill>
              </a:rPr>
              <a:t>（</a:t>
            </a:r>
            <a:r>
              <a:rPr lang="en-US" altLang="zh-CN" b="1" dirty="0">
                <a:solidFill>
                  <a:srgbClr val="0000FF"/>
                </a:solidFill>
              </a:rPr>
              <a:t>10</a:t>
            </a:r>
            <a:r>
              <a:rPr lang="zh-CN" altLang="en-US" b="1" dirty="0" smtClean="0">
                <a:solidFill>
                  <a:srgbClr val="0000FF"/>
                </a:solidFill>
              </a:rPr>
              <a:t>）寄存器</a:t>
            </a:r>
            <a:r>
              <a:rPr lang="zh-CN" altLang="en-US" b="1" dirty="0">
                <a:solidFill>
                  <a:srgbClr val="0000FF"/>
                </a:solidFill>
              </a:rPr>
              <a:t>相对</a:t>
            </a:r>
            <a:r>
              <a:rPr lang="zh-CN" altLang="en-US" b="1" dirty="0" smtClean="0">
                <a:solidFill>
                  <a:srgbClr val="0000FF"/>
                </a:solidFill>
              </a:rPr>
              <a:t>寻址</a:t>
            </a:r>
            <a:endParaRPr lang="zh-CN" altLang="en-US" b="1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4974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4112" y="82193"/>
            <a:ext cx="8361238" cy="6575461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kern="100" dirty="0" smtClean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3-4 </a:t>
            </a:r>
            <a:r>
              <a:rPr lang="zh-CN" altLang="zh-CN" b="1" kern="100" dirty="0" smtClean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指出</a:t>
            </a:r>
            <a:r>
              <a:rPr lang="en-US" altLang="zh-CN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8086/8088</a:t>
            </a:r>
            <a:r>
              <a:rPr lang="zh-CN" altLang="zh-CN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下列指令中存储器操作数物理地址的计数表达式。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MOV AL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[DI]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MOV AX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[BX+SI]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MOV 8[BX+DI]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AL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ADD AL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[BX]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SUB AX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[2400H]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ADC AX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[BX+DI+1200H]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MOV CX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[BP+SI]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INC BYTP PTR[DI]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解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PA=DS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×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16+DI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PA=DS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×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16+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BX+SI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PA=DS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×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16+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BX+DI+8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 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PA=</a:t>
            </a:r>
            <a:r>
              <a:rPr lang="en-US" altLang="zh-CN" kern="100" dirty="0">
                <a:solidFill>
                  <a:srgbClr val="0000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×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16+BX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PA=DS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×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16+2400H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PA=DS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×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16+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BX+DI+1200H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PA=</a:t>
            </a:r>
            <a:r>
              <a:rPr lang="en-US" altLang="zh-CN" kern="100" dirty="0">
                <a:solidFill>
                  <a:srgbClr val="0000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SS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×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16+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BP+SI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 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PA=DS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×</a:t>
            </a: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16+DI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2427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4662" y="339044"/>
            <a:ext cx="8876871" cy="6431624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4000" b="1" dirty="0" smtClean="0">
                <a:solidFill>
                  <a:srgbClr val="FF0000"/>
                </a:solidFill>
              </a:rPr>
              <a:t>3-5 </a:t>
            </a:r>
            <a:r>
              <a:rPr lang="zh-CN" altLang="en-US" sz="4000" b="1" dirty="0" smtClean="0">
                <a:solidFill>
                  <a:srgbClr val="FF0000"/>
                </a:solidFill>
              </a:rPr>
              <a:t>指出</a:t>
            </a:r>
            <a:r>
              <a:rPr lang="en-US" altLang="zh-CN" sz="4000" b="1" dirty="0">
                <a:solidFill>
                  <a:srgbClr val="FF0000"/>
                </a:solidFill>
              </a:rPr>
              <a:t>8086/8088</a:t>
            </a:r>
            <a:r>
              <a:rPr lang="zh-CN" altLang="en-US" sz="4000" b="1" dirty="0">
                <a:solidFill>
                  <a:srgbClr val="FF0000"/>
                </a:solidFill>
              </a:rPr>
              <a:t>下列指令的错误何在</a:t>
            </a:r>
            <a:r>
              <a:rPr lang="zh-CN" altLang="en-US" sz="4000" b="1" dirty="0" smtClean="0">
                <a:solidFill>
                  <a:srgbClr val="FF0000"/>
                </a:solidFill>
              </a:rPr>
              <a:t>？</a:t>
            </a:r>
            <a:endParaRPr lang="zh-CN" altLang="en-US" sz="4000" b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MOV [SI]</a:t>
            </a:r>
            <a:r>
              <a:rPr lang="zh-CN" altLang="en-US" dirty="0"/>
              <a:t>，</a:t>
            </a:r>
            <a:r>
              <a:rPr lang="en-US" altLang="zh-CN" dirty="0"/>
              <a:t>IP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MOV CS</a:t>
            </a:r>
            <a:r>
              <a:rPr lang="zh-CN" altLang="en-US" dirty="0"/>
              <a:t>，</a:t>
            </a:r>
            <a:r>
              <a:rPr lang="en-US" altLang="zh-CN" dirty="0" smtClean="0"/>
              <a:t>AX</a:t>
            </a:r>
            <a:r>
              <a:rPr lang="zh-CN" altLang="en-US" dirty="0" smtClean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MOV BL</a:t>
            </a:r>
            <a:r>
              <a:rPr lang="zh-CN" altLang="en-US" dirty="0"/>
              <a:t>，</a:t>
            </a:r>
            <a:r>
              <a:rPr lang="en-US" altLang="zh-CN" dirty="0"/>
              <a:t>SI+2 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MOV 60H</a:t>
            </a:r>
            <a:r>
              <a:rPr lang="zh-CN" altLang="en-US" dirty="0"/>
              <a:t>，</a:t>
            </a:r>
            <a:r>
              <a:rPr lang="en-US" altLang="zh-CN" dirty="0"/>
              <a:t>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en-US" altLang="zh-CN" dirty="0"/>
              <a:t>PUSH 2400H </a:t>
            </a:r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 </a:t>
            </a:r>
            <a:r>
              <a:rPr lang="en-US" altLang="zh-CN" dirty="0"/>
              <a:t>INC [BX</a:t>
            </a:r>
            <a:r>
              <a:rPr lang="en-US" altLang="zh-CN" dirty="0" smtClean="0"/>
              <a:t>]</a:t>
            </a:r>
            <a:r>
              <a:rPr lang="zh-CN" altLang="en-US" dirty="0" smtClean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）</a:t>
            </a:r>
            <a:r>
              <a:rPr lang="en-US" altLang="zh-CN" dirty="0"/>
              <a:t>MUL</a:t>
            </a:r>
            <a:r>
              <a:rPr lang="zh-CN" altLang="en-US" dirty="0"/>
              <a:t>－</a:t>
            </a:r>
            <a:r>
              <a:rPr lang="en-US" altLang="zh-CN" dirty="0"/>
              <a:t>60H </a:t>
            </a:r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）</a:t>
            </a:r>
            <a:r>
              <a:rPr lang="en-US" altLang="zh-CN" dirty="0"/>
              <a:t>ADD [2400H]</a:t>
            </a:r>
            <a:r>
              <a:rPr lang="zh-CN" altLang="en-US" dirty="0"/>
              <a:t>，</a:t>
            </a:r>
            <a:r>
              <a:rPr lang="en-US" altLang="zh-CN" dirty="0"/>
              <a:t>2AH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9</a:t>
            </a:r>
            <a:r>
              <a:rPr lang="zh-CN" altLang="en-US" dirty="0"/>
              <a:t>）</a:t>
            </a:r>
            <a:r>
              <a:rPr lang="en-US" altLang="zh-CN" dirty="0"/>
              <a:t>MOV [BX]</a:t>
            </a:r>
            <a:r>
              <a:rPr lang="zh-CN" altLang="en-US" dirty="0"/>
              <a:t>，</a:t>
            </a:r>
            <a:r>
              <a:rPr lang="en-US" altLang="zh-CN" dirty="0"/>
              <a:t>[DI] </a:t>
            </a:r>
            <a:r>
              <a:rPr lang="zh-CN" altLang="en-US" dirty="0"/>
              <a:t>（</a:t>
            </a:r>
            <a:r>
              <a:rPr lang="en-US" altLang="zh-CN" dirty="0"/>
              <a:t>10</a:t>
            </a:r>
            <a:r>
              <a:rPr lang="zh-CN" altLang="en-US" dirty="0"/>
              <a:t>）</a:t>
            </a:r>
            <a:r>
              <a:rPr lang="en-US" altLang="zh-CN" dirty="0"/>
              <a:t>MOV SI</a:t>
            </a:r>
            <a:r>
              <a:rPr lang="zh-CN" altLang="en-US" dirty="0"/>
              <a:t>，</a:t>
            </a:r>
            <a:r>
              <a:rPr lang="en-US" altLang="zh-CN" dirty="0"/>
              <a:t>AL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3400" dirty="0" smtClean="0"/>
              <a:t>解</a:t>
            </a:r>
            <a:r>
              <a:rPr lang="zh-CN" altLang="en-US" sz="3400" dirty="0"/>
              <a:t>：</a:t>
            </a:r>
            <a:r>
              <a:rPr lang="zh-CN" altLang="en-US" sz="3400" b="1" dirty="0"/>
              <a:t>（</a:t>
            </a:r>
            <a:r>
              <a:rPr lang="en-US" altLang="zh-CN" sz="3400" b="1" dirty="0"/>
              <a:t>1</a:t>
            </a:r>
            <a:r>
              <a:rPr lang="zh-CN" altLang="en-US" sz="3400" b="1" dirty="0"/>
              <a:t>）</a:t>
            </a:r>
            <a:r>
              <a:rPr lang="en-US" altLang="zh-CN" sz="3400" b="1" dirty="0"/>
              <a:t>IP</a:t>
            </a:r>
            <a:r>
              <a:rPr lang="zh-CN" altLang="en-US" sz="3400" b="1" dirty="0"/>
              <a:t>不可与内部寄存器之间实现直接数据传送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3400" b="1" dirty="0" smtClean="0"/>
              <a:t>（</a:t>
            </a:r>
            <a:r>
              <a:rPr lang="en-US" altLang="zh-CN" sz="3400" b="1" dirty="0"/>
              <a:t>2</a:t>
            </a:r>
            <a:r>
              <a:rPr lang="zh-CN" altLang="en-US" sz="3400" b="1" dirty="0" smtClean="0"/>
              <a:t>）目的操作数不能为代码</a:t>
            </a:r>
            <a:r>
              <a:rPr lang="zh-CN" altLang="en-US" sz="3400" b="1" dirty="0"/>
              <a:t>段寄存器</a:t>
            </a:r>
            <a:r>
              <a:rPr lang="en-US" altLang="zh-CN" sz="3400" b="1" dirty="0" smtClean="0"/>
              <a:t>CS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3400" b="1" dirty="0" smtClean="0"/>
              <a:t>（</a:t>
            </a:r>
            <a:r>
              <a:rPr lang="en-US" altLang="zh-CN" sz="3400" b="1" dirty="0"/>
              <a:t>3</a:t>
            </a:r>
            <a:r>
              <a:rPr lang="zh-CN" altLang="en-US" sz="3400" b="1" dirty="0"/>
              <a:t>）</a:t>
            </a:r>
            <a:r>
              <a:rPr lang="zh-CN" altLang="en-US" sz="3400" b="1" dirty="0">
                <a:solidFill>
                  <a:srgbClr val="0000FF"/>
                </a:solidFill>
              </a:rPr>
              <a:t>应是</a:t>
            </a:r>
            <a:r>
              <a:rPr lang="en-US" altLang="zh-CN" sz="3400" b="1" dirty="0">
                <a:solidFill>
                  <a:srgbClr val="0000FF"/>
                </a:solidFill>
              </a:rPr>
              <a:t>[SI+2]</a:t>
            </a:r>
            <a:r>
              <a:rPr lang="zh-CN" altLang="en-US" sz="3400" b="1" dirty="0">
                <a:solidFill>
                  <a:srgbClr val="0000FF"/>
                </a:solidFill>
              </a:rPr>
              <a:t>指示的内存单元的字节内容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3400" b="1" dirty="0" smtClean="0"/>
              <a:t>（</a:t>
            </a:r>
            <a:r>
              <a:rPr lang="en-US" altLang="zh-CN" sz="3400" b="1" dirty="0"/>
              <a:t>4</a:t>
            </a:r>
            <a:r>
              <a:rPr lang="zh-CN" altLang="en-US" sz="3400" b="1" dirty="0" smtClean="0"/>
              <a:t>）</a:t>
            </a:r>
            <a:r>
              <a:rPr lang="zh-CN" altLang="en-US" sz="3400" b="1" dirty="0"/>
              <a:t>目的</a:t>
            </a:r>
            <a:r>
              <a:rPr lang="zh-CN" altLang="en-US" sz="3400" b="1" dirty="0" smtClean="0"/>
              <a:t>操作数不能为立即数</a:t>
            </a:r>
            <a:endParaRPr lang="en-US" altLang="zh-CN" sz="3400" b="1" dirty="0" smtClean="0"/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3400" b="1" dirty="0" smtClean="0"/>
              <a:t>（</a:t>
            </a:r>
            <a:r>
              <a:rPr lang="en-US" altLang="zh-CN" sz="3400" b="1" dirty="0"/>
              <a:t>5</a:t>
            </a:r>
            <a:r>
              <a:rPr lang="zh-CN" altLang="en-US" sz="3400" b="1" dirty="0"/>
              <a:t>）</a:t>
            </a:r>
            <a:r>
              <a:rPr lang="en-US" altLang="zh-CN" sz="3400" b="1" dirty="0">
                <a:solidFill>
                  <a:srgbClr val="0000FF"/>
                </a:solidFill>
              </a:rPr>
              <a:t>PUSH</a:t>
            </a:r>
            <a:r>
              <a:rPr lang="zh-CN" altLang="en-US" sz="3400" b="1" dirty="0" smtClean="0">
                <a:solidFill>
                  <a:srgbClr val="0000FF"/>
                </a:solidFill>
              </a:rPr>
              <a:t>的操作数不能为立即数</a:t>
            </a:r>
            <a:endParaRPr lang="zh-CN" altLang="en-US" sz="3400" b="1" dirty="0">
              <a:solidFill>
                <a:srgbClr val="0000FF"/>
              </a:solidFill>
            </a:endParaRP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3400" b="1" dirty="0" smtClean="0"/>
              <a:t>（</a:t>
            </a:r>
            <a:r>
              <a:rPr lang="en-US" altLang="zh-CN" sz="3400" b="1" dirty="0"/>
              <a:t>6</a:t>
            </a:r>
            <a:r>
              <a:rPr lang="zh-CN" altLang="en-US" sz="3400" b="1" dirty="0"/>
              <a:t>）间接寻址存储器</a:t>
            </a:r>
            <a:r>
              <a:rPr lang="zh-CN" altLang="en-US" sz="3400" b="1" dirty="0" smtClean="0"/>
              <a:t>数据指令</a:t>
            </a:r>
            <a:r>
              <a:rPr lang="zh-CN" altLang="en-US" sz="3400" b="1" dirty="0"/>
              <a:t>要用</a:t>
            </a:r>
            <a:r>
              <a:rPr lang="en-US" altLang="zh-CN" sz="3400" b="1" dirty="0"/>
              <a:t>TYPE PTR</a:t>
            </a:r>
            <a:r>
              <a:rPr lang="zh-CN" altLang="en-US" sz="3400" b="1" dirty="0"/>
              <a:t>类型操作符来标识数据类型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3400" b="1" dirty="0" smtClean="0"/>
              <a:t>（</a:t>
            </a:r>
            <a:r>
              <a:rPr lang="en-US" altLang="zh-CN" sz="3400" b="1" dirty="0"/>
              <a:t>7</a:t>
            </a:r>
            <a:r>
              <a:rPr lang="zh-CN" altLang="en-US" sz="3400" b="1" dirty="0"/>
              <a:t>）</a:t>
            </a:r>
            <a:r>
              <a:rPr lang="en-US" altLang="zh-CN" sz="3400" b="1" dirty="0"/>
              <a:t>MUL </a:t>
            </a:r>
            <a:r>
              <a:rPr lang="zh-CN" altLang="en-US" sz="3400" b="1" dirty="0"/>
              <a:t>指令的源</a:t>
            </a:r>
            <a:r>
              <a:rPr lang="zh-CN" altLang="en-US" sz="3400" b="1" dirty="0" smtClean="0"/>
              <a:t>操作数不能为立即数</a:t>
            </a:r>
            <a:endParaRPr lang="zh-CN" altLang="en-US" sz="3400" b="1" dirty="0"/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3400" b="1" dirty="0" smtClean="0"/>
              <a:t>（</a:t>
            </a:r>
            <a:r>
              <a:rPr lang="en-US" altLang="zh-CN" sz="3400" b="1" dirty="0"/>
              <a:t>8</a:t>
            </a:r>
            <a:r>
              <a:rPr lang="zh-CN" altLang="en-US" sz="3400" b="1" dirty="0" smtClean="0"/>
              <a:t>）需用</a:t>
            </a:r>
            <a:r>
              <a:rPr lang="en-US" altLang="zh-CN" sz="3400" b="1" dirty="0"/>
              <a:t>TYPE PTR</a:t>
            </a:r>
            <a:r>
              <a:rPr lang="zh-CN" altLang="en-US" sz="3400" b="1" dirty="0"/>
              <a:t>类型操作符来标识数据类型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3400" b="1" dirty="0" smtClean="0"/>
              <a:t>（</a:t>
            </a:r>
            <a:r>
              <a:rPr lang="en-US" altLang="zh-CN" sz="3400" b="1" dirty="0"/>
              <a:t>9</a:t>
            </a:r>
            <a:r>
              <a:rPr lang="zh-CN" altLang="en-US" sz="3400" b="1" dirty="0" smtClean="0"/>
              <a:t>）双操作数指令两者不能同时为存储器</a:t>
            </a:r>
            <a:r>
              <a:rPr lang="zh-CN" altLang="en-US" sz="3400" b="1" dirty="0"/>
              <a:t>操作数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3400" b="1" dirty="0" smtClean="0"/>
              <a:t>（</a:t>
            </a:r>
            <a:r>
              <a:rPr lang="en-US" altLang="zh-CN" sz="3400" b="1" dirty="0"/>
              <a:t>10</a:t>
            </a:r>
            <a:r>
              <a:rPr lang="zh-CN" altLang="en-US" sz="3400" b="1" dirty="0"/>
              <a:t>）</a:t>
            </a:r>
            <a:r>
              <a:rPr lang="en-US" altLang="zh-CN" sz="3400" b="1" dirty="0"/>
              <a:t>AL</a:t>
            </a:r>
            <a:r>
              <a:rPr lang="zh-CN" altLang="en-US" sz="3400" b="1" dirty="0"/>
              <a:t>为</a:t>
            </a:r>
            <a:r>
              <a:rPr lang="en-US" altLang="zh-CN" sz="3400" b="1" dirty="0"/>
              <a:t>8</a:t>
            </a:r>
            <a:r>
              <a:rPr lang="zh-CN" altLang="en-US" sz="3400" b="1" dirty="0"/>
              <a:t>位，</a:t>
            </a:r>
            <a:r>
              <a:rPr lang="en-US" altLang="zh-CN" sz="3400" b="1" dirty="0"/>
              <a:t>SI</a:t>
            </a:r>
            <a:r>
              <a:rPr lang="zh-CN" altLang="en-US" sz="3400" b="1" dirty="0"/>
              <a:t>为</a:t>
            </a:r>
            <a:r>
              <a:rPr lang="en-US" altLang="zh-CN" sz="3400" b="1" dirty="0"/>
              <a:t>16</a:t>
            </a:r>
            <a:r>
              <a:rPr lang="zh-CN" altLang="en-US" sz="3400" b="1" dirty="0"/>
              <a:t>位，数据类型不</a:t>
            </a:r>
            <a:r>
              <a:rPr lang="zh-CN" altLang="en-US" sz="3400" b="1" dirty="0" smtClean="0"/>
              <a:t>匹配</a:t>
            </a:r>
            <a:endParaRPr lang="zh-CN" altLang="en-US" sz="3400" b="1" dirty="0"/>
          </a:p>
        </p:txBody>
      </p:sp>
    </p:spTree>
    <p:extLst>
      <p:ext uri="{BB962C8B-B14F-4D97-AF65-F5344CB8AC3E}">
        <p14:creationId xmlns:p14="http://schemas.microsoft.com/office/powerpoint/2010/main" val="422480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770561"/>
            <a:ext cx="7886700" cy="5825447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altLang="zh-CN" b="1" dirty="0" smtClean="0">
                <a:solidFill>
                  <a:srgbClr val="FF0000"/>
                </a:solidFill>
              </a:rPr>
              <a:t>3-6 </a:t>
            </a:r>
            <a:r>
              <a:rPr lang="zh-CN" altLang="en-US" b="1" dirty="0" smtClean="0">
                <a:solidFill>
                  <a:srgbClr val="FF0000"/>
                </a:solidFill>
              </a:rPr>
              <a:t>说明</a:t>
            </a:r>
            <a:r>
              <a:rPr lang="en-US" altLang="zh-CN" b="1" dirty="0">
                <a:solidFill>
                  <a:srgbClr val="FF0000"/>
                </a:solidFill>
              </a:rPr>
              <a:t>MOV BX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DATA</a:t>
            </a:r>
            <a:r>
              <a:rPr lang="zh-CN" altLang="en-US" b="1" dirty="0">
                <a:solidFill>
                  <a:srgbClr val="FF0000"/>
                </a:solidFill>
              </a:rPr>
              <a:t>和</a:t>
            </a:r>
            <a:r>
              <a:rPr lang="en-US" altLang="zh-CN" b="1" dirty="0">
                <a:solidFill>
                  <a:srgbClr val="FF0000"/>
                </a:solidFill>
              </a:rPr>
              <a:t>MOV BX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0FFSET DATA</a:t>
            </a:r>
            <a:r>
              <a:rPr lang="zh-CN" altLang="en-US" b="1" dirty="0">
                <a:solidFill>
                  <a:srgbClr val="FF0000"/>
                </a:solidFill>
              </a:rPr>
              <a:t>指令之间的区别。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dirty="0" smtClean="0"/>
              <a:t>解</a:t>
            </a:r>
            <a:r>
              <a:rPr lang="zh-CN" altLang="en-US" dirty="0"/>
              <a:t>： </a:t>
            </a:r>
            <a:r>
              <a:rPr lang="en-US" altLang="zh-CN" dirty="0"/>
              <a:t>MOV BX</a:t>
            </a:r>
            <a:r>
              <a:rPr lang="zh-CN" altLang="en-US" dirty="0"/>
              <a:t>，</a:t>
            </a:r>
            <a:r>
              <a:rPr lang="en-US" altLang="zh-CN" dirty="0"/>
              <a:t>DATA </a:t>
            </a:r>
            <a:r>
              <a:rPr lang="zh-CN" altLang="en-US" dirty="0"/>
              <a:t>；</a:t>
            </a:r>
            <a:r>
              <a:rPr lang="en-US" altLang="zh-CN" dirty="0"/>
              <a:t>DATA</a:t>
            </a:r>
            <a:r>
              <a:rPr lang="zh-CN" altLang="en-US" dirty="0"/>
              <a:t>是字变量名，指令功能是把</a:t>
            </a:r>
            <a:r>
              <a:rPr lang="en-US" altLang="zh-CN" dirty="0"/>
              <a:t>DATA</a:t>
            </a:r>
            <a:r>
              <a:rPr lang="zh-CN" altLang="en-US" dirty="0"/>
              <a:t>变量的内容→</a:t>
            </a:r>
            <a:r>
              <a:rPr lang="en-US" altLang="zh-CN" dirty="0"/>
              <a:t>BX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 smtClean="0"/>
              <a:t>MOV </a:t>
            </a:r>
            <a:r>
              <a:rPr lang="en-US" altLang="zh-CN" dirty="0"/>
              <a:t>BX</a:t>
            </a:r>
            <a:r>
              <a:rPr lang="zh-CN" altLang="en-US" dirty="0"/>
              <a:t>，</a:t>
            </a:r>
            <a:r>
              <a:rPr lang="en-US" altLang="zh-CN" dirty="0"/>
              <a:t>0FFSET DATA </a:t>
            </a:r>
            <a:r>
              <a:rPr lang="zh-CN" altLang="en-US" dirty="0"/>
              <a:t>；把</a:t>
            </a:r>
            <a:r>
              <a:rPr lang="en-US" altLang="zh-CN" dirty="0"/>
              <a:t>DATA</a:t>
            </a:r>
            <a:r>
              <a:rPr lang="zh-CN" altLang="en-US" dirty="0"/>
              <a:t>变量的段内偏移</a:t>
            </a:r>
            <a:r>
              <a:rPr lang="zh-CN" altLang="en-US" dirty="0" smtClean="0"/>
              <a:t>地址</a:t>
            </a:r>
            <a:r>
              <a:rPr lang="zh-CN" altLang="en-US" dirty="0"/>
              <a:t>→</a:t>
            </a:r>
            <a:r>
              <a:rPr lang="en-US" altLang="zh-CN" dirty="0" smtClean="0"/>
              <a:t>BX</a:t>
            </a:r>
          </a:p>
          <a:p>
            <a:pPr>
              <a:lnSpc>
                <a:spcPct val="130000"/>
              </a:lnSpc>
            </a:pPr>
            <a:r>
              <a:rPr lang="en-US" altLang="zh-CN" b="1" dirty="0" smtClean="0">
                <a:solidFill>
                  <a:srgbClr val="FF0000"/>
                </a:solidFill>
              </a:rPr>
              <a:t>3-7 </a:t>
            </a:r>
            <a:r>
              <a:rPr lang="zh-CN" altLang="zh-CN" b="1" dirty="0" smtClean="0">
                <a:solidFill>
                  <a:srgbClr val="FF0000"/>
                </a:solidFill>
              </a:rPr>
              <a:t>指出</a:t>
            </a:r>
            <a:r>
              <a:rPr lang="en-US" altLang="zh-CN" b="1" dirty="0">
                <a:solidFill>
                  <a:srgbClr val="FF0000"/>
                </a:solidFill>
              </a:rPr>
              <a:t>RET</a:t>
            </a:r>
            <a:r>
              <a:rPr lang="zh-CN" altLang="zh-CN" b="1" dirty="0">
                <a:solidFill>
                  <a:srgbClr val="FF0000"/>
                </a:solidFill>
              </a:rPr>
              <a:t>和</a:t>
            </a:r>
            <a:r>
              <a:rPr lang="en-US" altLang="zh-CN" b="1" dirty="0">
                <a:solidFill>
                  <a:srgbClr val="FF0000"/>
                </a:solidFill>
              </a:rPr>
              <a:t>IRET</a:t>
            </a:r>
            <a:r>
              <a:rPr lang="zh-CN" altLang="zh-CN" b="1" dirty="0">
                <a:solidFill>
                  <a:srgbClr val="FF0000"/>
                </a:solidFill>
              </a:rPr>
              <a:t>两条指令的区别，并说明各用在什么场合</a:t>
            </a:r>
            <a:r>
              <a:rPr lang="zh-CN" altLang="zh-CN" b="1" dirty="0" smtClean="0">
                <a:solidFill>
                  <a:srgbClr val="FF0000"/>
                </a:solidFill>
              </a:rPr>
              <a:t>？</a:t>
            </a: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zh-CN" dirty="0"/>
              <a:t>解：</a:t>
            </a:r>
            <a:r>
              <a:rPr lang="en-US" altLang="zh-CN" dirty="0" smtClean="0"/>
              <a:t>RET</a:t>
            </a:r>
            <a:r>
              <a:rPr lang="zh-CN" altLang="en-US" dirty="0" smtClean="0"/>
              <a:t>是</a:t>
            </a:r>
            <a:r>
              <a:rPr lang="zh-CN" altLang="zh-CN" dirty="0" smtClean="0"/>
              <a:t>过程</a:t>
            </a:r>
            <a:r>
              <a:rPr lang="zh-CN" altLang="zh-CN" dirty="0"/>
              <a:t>返回，而</a:t>
            </a:r>
            <a:r>
              <a:rPr lang="en-US" altLang="zh-CN" dirty="0" smtClean="0"/>
              <a:t>IRET</a:t>
            </a:r>
            <a:r>
              <a:rPr lang="zh-CN" altLang="en-US" dirty="0" smtClean="0"/>
              <a:t>是</a:t>
            </a:r>
            <a:r>
              <a:rPr lang="zh-CN" altLang="zh-CN" dirty="0" smtClean="0"/>
              <a:t>中断返回</a:t>
            </a:r>
            <a:r>
              <a:rPr lang="zh-CN" altLang="en-US" dirty="0" smtClean="0"/>
              <a:t>。二者功能不同。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457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563" y="236303"/>
            <a:ext cx="8846048" cy="6575456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kern="100" dirty="0" smtClean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3-8 </a:t>
            </a:r>
            <a:r>
              <a:rPr lang="zh-CN" altLang="zh-CN" b="1" kern="100" dirty="0" smtClean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设</a:t>
            </a:r>
            <a:r>
              <a:rPr lang="en-US" altLang="zh-CN" b="1" kern="100" dirty="0" smtClean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SP=2000H</a:t>
            </a:r>
            <a:r>
              <a:rPr lang="zh-CN" altLang="zh-CN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AX=3000H</a:t>
            </a:r>
            <a:r>
              <a:rPr lang="zh-CN" altLang="zh-CN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BX=5000H</a:t>
            </a:r>
            <a:r>
              <a:rPr lang="zh-CN" altLang="zh-CN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，执行下列片段程序后，</a:t>
            </a:r>
            <a:r>
              <a:rPr lang="zh-CN" altLang="zh-CN" b="1" kern="100" dirty="0" smtClean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问</a:t>
            </a:r>
            <a:r>
              <a:rPr lang="en-US" altLang="zh-CN" b="1" kern="100" dirty="0" smtClean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SP</a:t>
            </a:r>
            <a:r>
              <a:rPr lang="en-US" altLang="zh-CN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zh-CN" altLang="zh-CN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？</a:t>
            </a:r>
            <a:r>
              <a:rPr lang="en-US" altLang="zh-CN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AX=</a:t>
            </a:r>
            <a:r>
              <a:rPr lang="zh-CN" altLang="zh-CN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？</a:t>
            </a:r>
            <a:r>
              <a:rPr lang="en-US" altLang="zh-CN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BX=</a:t>
            </a:r>
            <a:r>
              <a:rPr lang="zh-CN" altLang="zh-CN" b="1" kern="100" dirty="0" smtClean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？</a:t>
            </a:r>
            <a:endParaRPr lang="en-US" altLang="zh-CN" b="1" kern="100" dirty="0" smtClean="0">
              <a:solidFill>
                <a:srgbClr val="FF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 	PUSH 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AX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	PUSH 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BX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	POP 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AX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解：</a:t>
            </a: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SP=</a:t>
            </a:r>
            <a:r>
              <a:rPr lang="en-US" altLang="zh-CN" kern="100" dirty="0" smtClean="0">
                <a:solidFill>
                  <a:srgbClr val="0000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1FFEH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AX=5000H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BX=5000H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50000"/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solidFill>
                  <a:srgbClr val="FF0000"/>
                </a:solidFill>
              </a:rPr>
              <a:t>3-9 </a:t>
            </a:r>
            <a:r>
              <a:rPr lang="zh-CN" altLang="en-US" b="1" dirty="0" smtClean="0">
                <a:solidFill>
                  <a:srgbClr val="FF0000"/>
                </a:solidFill>
              </a:rPr>
              <a:t>假定</a:t>
            </a:r>
            <a:r>
              <a:rPr lang="en-US" altLang="zh-CN" b="1" dirty="0">
                <a:solidFill>
                  <a:srgbClr val="FF0000"/>
                </a:solidFill>
              </a:rPr>
              <a:t>PC</a:t>
            </a:r>
            <a:r>
              <a:rPr lang="zh-CN" altLang="en-US" b="1" dirty="0">
                <a:solidFill>
                  <a:srgbClr val="FF0000"/>
                </a:solidFill>
              </a:rPr>
              <a:t>机存储器低地址区有关单元的内容如下所示</a:t>
            </a:r>
            <a:r>
              <a:rPr lang="zh-CN" altLang="en-US" b="1" dirty="0" smtClean="0">
                <a:solidFill>
                  <a:srgbClr val="FF0000"/>
                </a:solidFill>
              </a:rPr>
              <a:t>。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altLang="zh-CN" dirty="0" smtClean="0"/>
              <a:t>         (20H)=3CH</a:t>
            </a:r>
            <a:r>
              <a:rPr lang="zh-CN" altLang="en-US" dirty="0" smtClean="0"/>
              <a:t>，</a:t>
            </a:r>
            <a:r>
              <a:rPr lang="en-US" altLang="zh-CN" dirty="0" smtClean="0"/>
              <a:t>(21H)=00H</a:t>
            </a:r>
            <a:r>
              <a:rPr lang="zh-CN" altLang="en-US" dirty="0" smtClean="0"/>
              <a:t>，</a:t>
            </a:r>
            <a:r>
              <a:rPr lang="en-US" altLang="zh-CN" dirty="0" smtClean="0"/>
              <a:t>(22H)=</a:t>
            </a:r>
            <a:r>
              <a:rPr lang="en-US" altLang="zh-CN" dirty="0"/>
              <a:t>86H</a:t>
            </a:r>
            <a:r>
              <a:rPr lang="zh-CN" altLang="en-US" dirty="0" smtClean="0"/>
              <a:t>，</a:t>
            </a:r>
            <a:r>
              <a:rPr lang="en-US" altLang="zh-CN" dirty="0" smtClean="0"/>
              <a:t>(23H)=</a:t>
            </a:r>
            <a:r>
              <a:rPr lang="en-US" altLang="zh-CN" dirty="0"/>
              <a:t>0EH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zh-CN" altLang="en-US" dirty="0" smtClean="0"/>
              <a:t>   且 </a:t>
            </a:r>
            <a:r>
              <a:rPr lang="en-US" altLang="zh-CN" dirty="0" smtClean="0"/>
              <a:t>CS=2000H</a:t>
            </a:r>
            <a:r>
              <a:rPr lang="zh-CN" altLang="en-US" dirty="0"/>
              <a:t>，</a:t>
            </a:r>
            <a:r>
              <a:rPr lang="en-US" altLang="zh-CN" dirty="0"/>
              <a:t>IP=0010H</a:t>
            </a:r>
            <a:r>
              <a:rPr lang="zh-CN" altLang="en-US" dirty="0"/>
              <a:t>，</a:t>
            </a:r>
            <a:r>
              <a:rPr lang="en-US" altLang="zh-CN" dirty="0"/>
              <a:t>SS=1000H</a:t>
            </a:r>
            <a:r>
              <a:rPr lang="zh-CN" altLang="en-US" dirty="0"/>
              <a:t>，</a:t>
            </a:r>
            <a:r>
              <a:rPr lang="en-US" altLang="zh-CN" dirty="0"/>
              <a:t>SP=0100H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altLang="zh-CN" dirty="0" smtClean="0"/>
              <a:t>   FLAGS = 0240H</a:t>
            </a:r>
            <a:r>
              <a:rPr lang="zh-CN" altLang="en-US" dirty="0"/>
              <a:t>，这时若执行</a:t>
            </a:r>
            <a:r>
              <a:rPr lang="en-US" altLang="zh-CN" dirty="0"/>
              <a:t>INT 8</a:t>
            </a:r>
            <a:r>
              <a:rPr lang="zh-CN" altLang="en-US" dirty="0"/>
              <a:t>指令，试问：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）程序转向从何处执行（用物理地址回答）？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）栈顶</a:t>
            </a:r>
            <a:r>
              <a:rPr lang="en-US" altLang="zh-CN" dirty="0"/>
              <a:t>6</a:t>
            </a:r>
            <a:r>
              <a:rPr lang="zh-CN" altLang="en-US" dirty="0" smtClean="0"/>
              <a:t>个存储单元</a:t>
            </a:r>
            <a:r>
              <a:rPr lang="zh-CN" altLang="en-US" dirty="0"/>
              <a:t>的地址（用逻辑地址回答）及内容分别是什么？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zh-CN" altLang="en-US" dirty="0" smtClean="0"/>
              <a:t>解：</a:t>
            </a:r>
            <a:r>
              <a:rPr lang="en-US" altLang="zh-CN" dirty="0" smtClean="0"/>
              <a:t>	</a:t>
            </a:r>
            <a:r>
              <a:rPr lang="zh-CN" altLang="en-US" dirty="0" smtClean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PA=0E86×10H + 003CH = 0E89CH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LA=1000</a:t>
            </a:r>
            <a:r>
              <a:rPr lang="zh-CN" altLang="en-US" dirty="0"/>
              <a:t>：</a:t>
            </a:r>
            <a:r>
              <a:rPr lang="en-US" altLang="zh-CN" dirty="0"/>
              <a:t>00FAH</a:t>
            </a:r>
            <a:r>
              <a:rPr lang="zh-CN" altLang="en-US" dirty="0"/>
              <a:t>～</a:t>
            </a:r>
            <a:r>
              <a:rPr lang="en-US" altLang="zh-CN" dirty="0"/>
              <a:t>1000</a:t>
            </a:r>
            <a:r>
              <a:rPr lang="zh-CN" altLang="en-US" dirty="0"/>
              <a:t>：</a:t>
            </a:r>
            <a:r>
              <a:rPr lang="en-US" altLang="zh-CN" dirty="0" smtClean="0">
                <a:solidFill>
                  <a:srgbClr val="0000FF"/>
                </a:solidFill>
              </a:rPr>
              <a:t>00FF</a:t>
            </a:r>
            <a:r>
              <a:rPr lang="en-US" altLang="zh-CN" dirty="0" smtClean="0"/>
              <a:t>H;</a:t>
            </a:r>
            <a:r>
              <a:rPr lang="zh-CN" altLang="en-US" dirty="0" smtClean="0"/>
              <a:t>内容分别</a:t>
            </a:r>
            <a:r>
              <a:rPr lang="zh-CN" altLang="en-US" dirty="0" smtClean="0">
                <a:solidFill>
                  <a:srgbClr val="0000FF"/>
                </a:solidFill>
              </a:rPr>
              <a:t>为 </a:t>
            </a:r>
            <a:r>
              <a:rPr lang="en-US" altLang="zh-CN" dirty="0" smtClean="0">
                <a:solidFill>
                  <a:srgbClr val="0000FF"/>
                </a:solidFill>
              </a:rPr>
              <a:t>0012H</a:t>
            </a:r>
            <a:r>
              <a:rPr lang="zh-CN" altLang="en-US" dirty="0" smtClean="0"/>
              <a:t>、</a:t>
            </a:r>
            <a:r>
              <a:rPr lang="en-US" altLang="zh-CN" dirty="0" smtClean="0"/>
              <a:t>2000H</a:t>
            </a:r>
            <a:r>
              <a:rPr lang="zh-CN" altLang="en-US" dirty="0" smtClean="0"/>
              <a:t>、</a:t>
            </a:r>
            <a:r>
              <a:rPr lang="en-US" altLang="zh-CN" dirty="0" smtClean="0"/>
              <a:t>0240H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45950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0837" y="441788"/>
            <a:ext cx="7602877" cy="595901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 smtClean="0">
                <a:solidFill>
                  <a:srgbClr val="FF0000"/>
                </a:solidFill>
              </a:rPr>
              <a:t>3-10  </a:t>
            </a:r>
            <a:r>
              <a:rPr lang="zh-CN" altLang="en-US" b="1" dirty="0" smtClean="0">
                <a:solidFill>
                  <a:srgbClr val="FF0000"/>
                </a:solidFill>
              </a:rPr>
              <a:t>阅读</a:t>
            </a:r>
            <a:r>
              <a:rPr lang="zh-CN" altLang="en-US" b="1" dirty="0">
                <a:solidFill>
                  <a:srgbClr val="FF0000"/>
                </a:solidFill>
              </a:rPr>
              <a:t>下列程序段，指出每条指令执行以后有关寄存器的内容是什么？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MOV </a:t>
            </a:r>
            <a:r>
              <a:rPr lang="en-US" altLang="zh-CN" dirty="0"/>
              <a:t>AX</a:t>
            </a:r>
            <a:r>
              <a:rPr lang="zh-CN" altLang="en-US" dirty="0"/>
              <a:t>，</a:t>
            </a:r>
            <a:r>
              <a:rPr lang="en-US" altLang="zh-CN" dirty="0"/>
              <a:t>0ABCH </a:t>
            </a:r>
            <a:r>
              <a:rPr lang="zh-CN" altLang="en-US" dirty="0"/>
              <a:t>； </a:t>
            </a:r>
            <a:r>
              <a:rPr lang="en-US" altLang="zh-CN" dirty="0"/>
              <a:t>AX= 0ABCH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DEC </a:t>
            </a:r>
            <a:r>
              <a:rPr lang="en-US" altLang="zh-CN" dirty="0"/>
              <a:t>AX </a:t>
            </a:r>
            <a:r>
              <a:rPr lang="zh-CN" altLang="en-US" dirty="0"/>
              <a:t>； </a:t>
            </a:r>
            <a:r>
              <a:rPr lang="en-US" altLang="zh-CN" dirty="0"/>
              <a:t>AX= 0ABBH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AND </a:t>
            </a:r>
            <a:r>
              <a:rPr lang="en-US" altLang="zh-CN" dirty="0"/>
              <a:t>AX</a:t>
            </a:r>
            <a:r>
              <a:rPr lang="zh-CN" altLang="en-US" dirty="0"/>
              <a:t>，</a:t>
            </a:r>
            <a:r>
              <a:rPr lang="en-US" altLang="zh-CN" dirty="0"/>
              <a:t>00FFH </a:t>
            </a:r>
            <a:r>
              <a:rPr lang="zh-CN" altLang="en-US" dirty="0"/>
              <a:t>； </a:t>
            </a:r>
            <a:r>
              <a:rPr lang="en-US" altLang="zh-CN" dirty="0"/>
              <a:t>AX= 00BBH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MOV </a:t>
            </a:r>
            <a:r>
              <a:rPr lang="en-US" altLang="zh-CN" dirty="0"/>
              <a:t>CL</a:t>
            </a:r>
            <a:r>
              <a:rPr lang="zh-CN" altLang="en-US" dirty="0"/>
              <a:t>，</a:t>
            </a:r>
            <a:r>
              <a:rPr lang="en-US" altLang="zh-CN" dirty="0"/>
              <a:t>4 </a:t>
            </a:r>
            <a:r>
              <a:rPr lang="zh-CN" altLang="en-US" dirty="0"/>
              <a:t>； </a:t>
            </a:r>
            <a:r>
              <a:rPr lang="en-US" altLang="zh-CN" dirty="0"/>
              <a:t>CL= 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SAL </a:t>
            </a:r>
            <a:r>
              <a:rPr lang="en-US" altLang="zh-CN" dirty="0"/>
              <a:t>AL</a:t>
            </a:r>
            <a:r>
              <a:rPr lang="zh-CN" altLang="en-US" dirty="0"/>
              <a:t>，</a:t>
            </a:r>
            <a:r>
              <a:rPr lang="en-US" altLang="zh-CN" dirty="0"/>
              <a:t>1 </a:t>
            </a:r>
            <a:r>
              <a:rPr lang="zh-CN" altLang="en-US" dirty="0"/>
              <a:t>；</a:t>
            </a:r>
            <a:r>
              <a:rPr lang="en-US" altLang="zh-CN" dirty="0"/>
              <a:t>AL= 76H</a:t>
            </a:r>
            <a:r>
              <a:rPr lang="zh-CN" altLang="en-US" dirty="0"/>
              <a:t>，</a:t>
            </a:r>
            <a:r>
              <a:rPr lang="en-US" altLang="zh-CN" dirty="0"/>
              <a:t>CF=1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MOV CL</a:t>
            </a:r>
            <a:r>
              <a:rPr lang="zh-CN" altLang="en-US" dirty="0"/>
              <a:t>，</a:t>
            </a:r>
            <a:r>
              <a:rPr lang="en-US" altLang="zh-CN" dirty="0"/>
              <a:t>AL</a:t>
            </a:r>
            <a:r>
              <a:rPr lang="zh-CN" altLang="en-US" dirty="0"/>
              <a:t>；</a:t>
            </a:r>
            <a:r>
              <a:rPr lang="en-US" altLang="zh-CN" dirty="0"/>
              <a:t>CL=76H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ADD CL</a:t>
            </a:r>
            <a:r>
              <a:rPr lang="zh-CN" altLang="en-US" dirty="0"/>
              <a:t>，</a:t>
            </a:r>
            <a:r>
              <a:rPr lang="en-US" altLang="zh-CN" dirty="0"/>
              <a:t>78H</a:t>
            </a:r>
            <a:r>
              <a:rPr lang="zh-CN" altLang="en-US" dirty="0"/>
              <a:t>；</a:t>
            </a:r>
            <a:r>
              <a:rPr lang="en-US" altLang="zh-CN" dirty="0"/>
              <a:t>CL=0EEH</a:t>
            </a:r>
            <a:r>
              <a:rPr lang="zh-CN" altLang="en-US" dirty="0"/>
              <a:t>，</a:t>
            </a:r>
            <a:r>
              <a:rPr lang="en-US" altLang="zh-CN" dirty="0"/>
              <a:t>CF=0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PUSH AX</a:t>
            </a:r>
            <a:r>
              <a:rPr lang="zh-CN" altLang="en-US" dirty="0"/>
              <a:t>；</a:t>
            </a:r>
            <a:r>
              <a:rPr lang="en-US" altLang="zh-CN" dirty="0"/>
              <a:t>AX=0076H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POP BX</a:t>
            </a:r>
            <a:r>
              <a:rPr lang="zh-CN" altLang="en-US" dirty="0"/>
              <a:t>；</a:t>
            </a:r>
            <a:r>
              <a:rPr lang="en-US" altLang="zh-CN" dirty="0"/>
              <a:t>BX=0076H</a:t>
            </a:r>
            <a:r>
              <a:rPr lang="zh-CN" altLang="en-US" dirty="0" smtClean="0"/>
              <a:t>；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437066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3291"/>
            <a:ext cx="7886700" cy="647271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3-11</a:t>
            </a:r>
            <a:r>
              <a:rPr lang="zh-CN" altLang="en-US" b="1" dirty="0">
                <a:solidFill>
                  <a:srgbClr val="FF0000"/>
                </a:solidFill>
              </a:rPr>
              <a:t>某程序段为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rgbClr val="FF0000"/>
                </a:solidFill>
              </a:rPr>
              <a:t>2000H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r>
              <a:rPr lang="en-US" altLang="zh-CN" b="1" dirty="0">
                <a:solidFill>
                  <a:srgbClr val="FF0000"/>
                </a:solidFill>
              </a:rPr>
              <a:t>304CH ABC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r>
              <a:rPr lang="en-US" altLang="zh-CN" b="1" dirty="0">
                <a:solidFill>
                  <a:srgbClr val="FF0000"/>
                </a:solidFill>
              </a:rPr>
              <a:t>MOV AX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1234H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b="1" dirty="0" smtClean="0">
                <a:solidFill>
                  <a:srgbClr val="FF0000"/>
                </a:solidFill>
              </a:rPr>
              <a:t>。</a:t>
            </a:r>
            <a:r>
              <a:rPr lang="zh-CN" altLang="en-US" b="1" dirty="0">
                <a:solidFill>
                  <a:srgbClr val="FF0000"/>
                </a:solidFill>
              </a:rPr>
              <a:t>。。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rgbClr val="FF0000"/>
                </a:solidFill>
              </a:rPr>
              <a:t>2000H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r>
              <a:rPr lang="en-US" altLang="zh-CN" b="1" dirty="0">
                <a:solidFill>
                  <a:srgbClr val="FF0000"/>
                </a:solidFill>
              </a:rPr>
              <a:t>307EH JNE ABC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b="1" dirty="0" smtClean="0">
                <a:solidFill>
                  <a:srgbClr val="FF0000"/>
                </a:solidFill>
              </a:rPr>
              <a:t>试问</a:t>
            </a:r>
            <a:r>
              <a:rPr lang="zh-CN" altLang="en-US" b="1" dirty="0">
                <a:solidFill>
                  <a:srgbClr val="FF0000"/>
                </a:solidFill>
              </a:rPr>
              <a:t>代码段中跳转指令的操作数为何值</a:t>
            </a:r>
            <a:r>
              <a:rPr lang="en-US" altLang="zh-CN" b="1" dirty="0">
                <a:solidFill>
                  <a:srgbClr val="FF0000"/>
                </a:solidFill>
              </a:rPr>
              <a:t>?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 smtClean="0"/>
              <a:t>解</a:t>
            </a:r>
            <a:r>
              <a:rPr lang="zh-CN" altLang="en-US" dirty="0"/>
              <a:t>：操作数</a:t>
            </a:r>
            <a:r>
              <a:rPr lang="zh-CN" altLang="en-US" dirty="0" smtClean="0"/>
              <a:t>为（由于 </a:t>
            </a:r>
            <a:r>
              <a:rPr lang="en-US" altLang="zh-CN" dirty="0" smtClean="0">
                <a:solidFill>
                  <a:srgbClr val="0000FF"/>
                </a:solidFill>
              </a:rPr>
              <a:t>IP+</a:t>
            </a:r>
            <a:r>
              <a:rPr lang="zh-CN" altLang="en-US" b="1" dirty="0" smtClean="0">
                <a:solidFill>
                  <a:srgbClr val="FF00FF"/>
                </a:solidFill>
              </a:rPr>
              <a:t>位移量</a:t>
            </a:r>
            <a:r>
              <a:rPr lang="en-US" altLang="zh-CN" dirty="0" smtClean="0">
                <a:solidFill>
                  <a:srgbClr val="0000FF"/>
                </a:solidFill>
              </a:rPr>
              <a:t>=</a:t>
            </a:r>
            <a:r>
              <a:rPr lang="zh-CN" altLang="en-US" dirty="0" smtClean="0">
                <a:solidFill>
                  <a:srgbClr val="0000FF"/>
                </a:solidFill>
              </a:rPr>
              <a:t>目标地址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	</a:t>
            </a:r>
            <a:r>
              <a:rPr lang="en-US" altLang="zh-CN" dirty="0" smtClean="0"/>
              <a:t>304CH</a:t>
            </a:r>
            <a:r>
              <a:rPr lang="zh-CN" altLang="en-US" dirty="0" smtClean="0"/>
              <a:t>－（</a:t>
            </a:r>
            <a:r>
              <a:rPr lang="en-US" altLang="zh-CN" dirty="0" smtClean="0"/>
              <a:t>307E+2</a:t>
            </a:r>
            <a:r>
              <a:rPr lang="zh-CN" altLang="en-US" dirty="0"/>
              <a:t>）</a:t>
            </a:r>
            <a:r>
              <a:rPr lang="en-US" altLang="zh-CN" dirty="0"/>
              <a:t>=</a:t>
            </a:r>
            <a:r>
              <a:rPr lang="en-US" altLang="zh-CN" dirty="0" smtClean="0"/>
              <a:t>0CCH</a:t>
            </a:r>
            <a:r>
              <a:rPr lang="zh-CN" altLang="en-US" dirty="0" smtClean="0"/>
              <a:t>（</a:t>
            </a:r>
            <a:r>
              <a:rPr lang="en-US" altLang="zh-CN" dirty="0" smtClean="0"/>
              <a:t>-34</a:t>
            </a:r>
            <a:r>
              <a:rPr lang="zh-CN" altLang="en-US" dirty="0" smtClean="0"/>
              <a:t>的补码）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3-12</a:t>
            </a:r>
            <a:r>
              <a:rPr lang="zh-CN" altLang="en-US" b="1" dirty="0">
                <a:solidFill>
                  <a:srgbClr val="FF0000"/>
                </a:solidFill>
              </a:rPr>
              <a:t>若</a:t>
            </a:r>
            <a:r>
              <a:rPr lang="en-US" altLang="zh-CN" b="1" dirty="0">
                <a:solidFill>
                  <a:srgbClr val="FF0000"/>
                </a:solidFill>
              </a:rPr>
              <a:t>AX=5555H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BX=FF00H</a:t>
            </a:r>
            <a:r>
              <a:rPr lang="zh-CN" altLang="en-US" b="1" dirty="0">
                <a:solidFill>
                  <a:srgbClr val="FF0000"/>
                </a:solidFill>
              </a:rPr>
              <a:t>，试问在下列程序段执行后，</a:t>
            </a:r>
            <a:r>
              <a:rPr lang="en-US" altLang="zh-CN" b="1" dirty="0">
                <a:solidFill>
                  <a:srgbClr val="FF0000"/>
                </a:solidFill>
              </a:rPr>
              <a:t>AX=</a:t>
            </a:r>
            <a:r>
              <a:rPr lang="zh-CN" altLang="en-US" b="1" dirty="0">
                <a:solidFill>
                  <a:srgbClr val="FF0000"/>
                </a:solidFill>
              </a:rPr>
              <a:t>？</a:t>
            </a:r>
            <a:r>
              <a:rPr lang="en-US" altLang="zh-CN" b="1" dirty="0">
                <a:solidFill>
                  <a:srgbClr val="FF0000"/>
                </a:solidFill>
              </a:rPr>
              <a:t>BX=</a:t>
            </a:r>
            <a:r>
              <a:rPr lang="zh-CN" altLang="en-US" b="1" dirty="0">
                <a:solidFill>
                  <a:srgbClr val="FF0000"/>
                </a:solidFill>
              </a:rPr>
              <a:t>？</a:t>
            </a:r>
            <a:r>
              <a:rPr lang="en-US" altLang="zh-CN" b="1" dirty="0">
                <a:solidFill>
                  <a:srgbClr val="FF0000"/>
                </a:solidFill>
              </a:rPr>
              <a:t>CF=</a:t>
            </a:r>
            <a:r>
              <a:rPr lang="zh-CN" altLang="en-US" b="1" dirty="0">
                <a:solidFill>
                  <a:srgbClr val="FF0000"/>
                </a:solidFill>
              </a:rPr>
              <a:t>？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AND </a:t>
            </a:r>
            <a:r>
              <a:rPr lang="en-US" altLang="zh-CN" dirty="0"/>
              <a:t>AX</a:t>
            </a:r>
            <a:r>
              <a:rPr lang="zh-CN" altLang="en-US" dirty="0"/>
              <a:t>，</a:t>
            </a:r>
            <a:r>
              <a:rPr lang="en-US" altLang="zh-CN" dirty="0"/>
              <a:t>BX </a:t>
            </a:r>
            <a:r>
              <a:rPr lang="zh-CN" altLang="en-US" dirty="0"/>
              <a:t>；</a:t>
            </a:r>
            <a:r>
              <a:rPr lang="en-US" altLang="zh-CN" dirty="0"/>
              <a:t>AX=5500H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XOR </a:t>
            </a:r>
            <a:r>
              <a:rPr lang="en-US" altLang="zh-CN" dirty="0"/>
              <a:t>AX</a:t>
            </a:r>
            <a:r>
              <a:rPr lang="zh-CN" altLang="en-US" dirty="0"/>
              <a:t>，</a:t>
            </a:r>
            <a:r>
              <a:rPr lang="en-US" altLang="zh-CN" dirty="0"/>
              <a:t>AX </a:t>
            </a:r>
            <a:r>
              <a:rPr lang="zh-CN" altLang="en-US" dirty="0"/>
              <a:t>；</a:t>
            </a:r>
            <a:r>
              <a:rPr lang="en-US" altLang="zh-CN" dirty="0"/>
              <a:t>AX=0000H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NOT </a:t>
            </a:r>
            <a:r>
              <a:rPr lang="en-US" altLang="zh-CN" dirty="0"/>
              <a:t>BX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 smtClean="0"/>
              <a:t>解</a:t>
            </a:r>
            <a:r>
              <a:rPr lang="zh-CN" altLang="en-US" dirty="0"/>
              <a:t>：</a:t>
            </a:r>
            <a:r>
              <a:rPr lang="en-US" altLang="zh-CN" dirty="0"/>
              <a:t>AX=0000H</a:t>
            </a:r>
            <a:r>
              <a:rPr lang="zh-CN" altLang="en-US" dirty="0"/>
              <a:t>，</a:t>
            </a:r>
            <a:r>
              <a:rPr lang="en-US" altLang="zh-CN" dirty="0"/>
              <a:t>BX=00FFH</a:t>
            </a:r>
            <a:r>
              <a:rPr lang="zh-CN" altLang="en-US" dirty="0"/>
              <a:t>，</a:t>
            </a:r>
            <a:r>
              <a:rPr lang="en-US" altLang="zh-CN" dirty="0" smtClean="0"/>
              <a:t>CF=0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7380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26031"/>
            <a:ext cx="8053014" cy="616449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3-13</a:t>
            </a:r>
            <a:r>
              <a:rPr lang="zh-CN" altLang="en-US" b="1" dirty="0">
                <a:solidFill>
                  <a:srgbClr val="FF0000"/>
                </a:solidFill>
              </a:rPr>
              <a:t>若</a:t>
            </a:r>
            <a:r>
              <a:rPr lang="en-US" altLang="zh-CN" b="1" dirty="0">
                <a:solidFill>
                  <a:srgbClr val="FF0000"/>
                </a:solidFill>
              </a:rPr>
              <a:t>DS=3000H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BX=2000H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SI=0100H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ES=4000H</a:t>
            </a:r>
            <a:r>
              <a:rPr lang="zh-CN" altLang="en-US" b="1" dirty="0">
                <a:solidFill>
                  <a:srgbClr val="FF0000"/>
                </a:solidFill>
              </a:rPr>
              <a:t>，计算出下述各条指令中存储器操作数的物理地址。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MOV [BX]</a:t>
            </a:r>
            <a:r>
              <a:rPr lang="zh-CN" altLang="en-US" dirty="0"/>
              <a:t>，</a:t>
            </a:r>
            <a:r>
              <a:rPr lang="en-US" altLang="zh-CN" dirty="0"/>
              <a:t>AH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 </a:t>
            </a:r>
            <a:r>
              <a:rPr lang="en-US" altLang="zh-CN" dirty="0"/>
              <a:t>ADD AL</a:t>
            </a:r>
            <a:r>
              <a:rPr lang="zh-CN" altLang="en-US" dirty="0"/>
              <a:t>，</a:t>
            </a:r>
            <a:r>
              <a:rPr lang="en-US" altLang="zh-CN" dirty="0"/>
              <a:t>[BX+SI+1000H]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MOV AL</a:t>
            </a:r>
            <a:r>
              <a:rPr lang="zh-CN" altLang="en-US" dirty="0"/>
              <a:t>，</a:t>
            </a:r>
            <a:r>
              <a:rPr lang="en-US" altLang="zh-CN" dirty="0"/>
              <a:t>[BX+SI] 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SUB AL</a:t>
            </a:r>
            <a:r>
              <a:rPr lang="zh-CN" altLang="en-US" dirty="0"/>
              <a:t>，</a:t>
            </a:r>
            <a:r>
              <a:rPr lang="en-US" altLang="zh-CN" dirty="0"/>
              <a:t>ES</a:t>
            </a:r>
            <a:r>
              <a:rPr lang="zh-CN" altLang="en-US" dirty="0"/>
              <a:t>：</a:t>
            </a:r>
            <a:r>
              <a:rPr lang="en-US" altLang="zh-CN" dirty="0"/>
              <a:t>[BX]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 smtClean="0"/>
              <a:t>解</a:t>
            </a:r>
            <a:r>
              <a:rPr lang="zh-CN" altLang="en-US" dirty="0"/>
              <a:t>：（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PA=30000+2000=32000H 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PA=30000+2000+0100+1000=33100H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PA=30000+2000+0100=32100H 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PA=40000+2000=</a:t>
            </a:r>
            <a:r>
              <a:rPr lang="en-US" altLang="zh-CN" dirty="0">
                <a:solidFill>
                  <a:srgbClr val="0000FF"/>
                </a:solidFill>
              </a:rPr>
              <a:t>42000</a:t>
            </a:r>
            <a:r>
              <a:rPr lang="en-US" altLang="zh-CN" dirty="0"/>
              <a:t>H</a:t>
            </a:r>
          </a:p>
          <a:p>
            <a:pPr>
              <a:lnSpc>
                <a:spcPct val="120000"/>
              </a:lnSpc>
              <a:spcBef>
                <a:spcPts val="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solidFill>
                  <a:srgbClr val="FF0000"/>
                </a:solidFill>
              </a:rPr>
              <a:t> 3-14</a:t>
            </a:r>
            <a:r>
              <a:rPr lang="zh-CN" altLang="en-US" b="1" dirty="0">
                <a:solidFill>
                  <a:srgbClr val="FF0000"/>
                </a:solidFill>
              </a:rPr>
              <a:t>试比较</a:t>
            </a:r>
            <a:r>
              <a:rPr lang="en-US" altLang="zh-CN" b="1" dirty="0">
                <a:solidFill>
                  <a:srgbClr val="FF0000"/>
                </a:solidFill>
              </a:rPr>
              <a:t>SUB AL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09H</a:t>
            </a:r>
            <a:r>
              <a:rPr lang="zh-CN" altLang="en-US" b="1" dirty="0">
                <a:solidFill>
                  <a:srgbClr val="FF0000"/>
                </a:solidFill>
              </a:rPr>
              <a:t>与</a:t>
            </a:r>
            <a:r>
              <a:rPr lang="en-US" altLang="zh-CN" b="1" dirty="0">
                <a:solidFill>
                  <a:srgbClr val="FF0000"/>
                </a:solidFill>
              </a:rPr>
              <a:t>CMP AL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09H</a:t>
            </a:r>
            <a:r>
              <a:rPr lang="zh-CN" altLang="en-US" b="1" dirty="0">
                <a:solidFill>
                  <a:srgbClr val="FF0000"/>
                </a:solidFill>
              </a:rPr>
              <a:t>这两条指令的异同，若</a:t>
            </a:r>
            <a:r>
              <a:rPr lang="en-US" altLang="zh-CN" b="1" dirty="0">
                <a:solidFill>
                  <a:srgbClr val="FF0000"/>
                </a:solidFill>
              </a:rPr>
              <a:t>AL=08H</a:t>
            </a:r>
            <a:r>
              <a:rPr lang="zh-CN" altLang="en-US" b="1" dirty="0">
                <a:solidFill>
                  <a:srgbClr val="FF0000"/>
                </a:solidFill>
              </a:rPr>
              <a:t>，分别执行下述两条指令后，</a:t>
            </a:r>
            <a:r>
              <a:rPr lang="en-US" altLang="zh-CN" b="1" dirty="0">
                <a:solidFill>
                  <a:srgbClr val="FF0000"/>
                </a:solidFill>
              </a:rPr>
              <a:t>SF=</a:t>
            </a:r>
            <a:r>
              <a:rPr lang="zh-CN" altLang="en-US" b="1" dirty="0">
                <a:solidFill>
                  <a:srgbClr val="FF0000"/>
                </a:solidFill>
              </a:rPr>
              <a:t>？</a:t>
            </a:r>
            <a:r>
              <a:rPr lang="en-US" altLang="zh-CN" b="1" dirty="0">
                <a:solidFill>
                  <a:srgbClr val="FF0000"/>
                </a:solidFill>
              </a:rPr>
              <a:t>CF=</a:t>
            </a:r>
            <a:r>
              <a:rPr lang="zh-CN" altLang="en-US" b="1" dirty="0">
                <a:solidFill>
                  <a:srgbClr val="FF0000"/>
                </a:solidFill>
              </a:rPr>
              <a:t>？</a:t>
            </a:r>
            <a:r>
              <a:rPr lang="en-US" altLang="zh-CN" b="1" dirty="0">
                <a:solidFill>
                  <a:srgbClr val="FF0000"/>
                </a:solidFill>
              </a:rPr>
              <a:t>OF=</a:t>
            </a:r>
            <a:r>
              <a:rPr lang="zh-CN" altLang="en-US" b="1" dirty="0">
                <a:solidFill>
                  <a:srgbClr val="FF0000"/>
                </a:solidFill>
              </a:rPr>
              <a:t>？</a:t>
            </a:r>
            <a:r>
              <a:rPr lang="en-US" altLang="zh-CN" b="1" dirty="0">
                <a:solidFill>
                  <a:srgbClr val="FF0000"/>
                </a:solidFill>
              </a:rPr>
              <a:t>ZF=</a:t>
            </a:r>
            <a:r>
              <a:rPr lang="zh-CN" altLang="en-US" b="1" dirty="0">
                <a:solidFill>
                  <a:srgbClr val="FF0000"/>
                </a:solidFill>
              </a:rPr>
              <a:t>？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50000"/>
              <a:buNone/>
            </a:pPr>
            <a:r>
              <a:rPr lang="zh-CN" altLang="en-US" dirty="0"/>
              <a:t>解：在</a:t>
            </a:r>
            <a:r>
              <a:rPr lang="en-US" altLang="zh-CN" dirty="0"/>
              <a:t>SUB</a:t>
            </a:r>
            <a:r>
              <a:rPr lang="zh-CN" altLang="en-US" dirty="0"/>
              <a:t>指令中，将</a:t>
            </a:r>
            <a:r>
              <a:rPr lang="en-US" altLang="zh-CN" dirty="0" smtClean="0"/>
              <a:t>AL-09H</a:t>
            </a:r>
            <a:r>
              <a:rPr lang="zh-CN" altLang="en-US" dirty="0"/>
              <a:t>的值赋给</a:t>
            </a:r>
            <a:r>
              <a:rPr lang="en-US" altLang="zh-CN" dirty="0"/>
              <a:t>AL</a:t>
            </a:r>
            <a:r>
              <a:rPr lang="zh-CN" altLang="en-US" dirty="0"/>
              <a:t>，而</a:t>
            </a:r>
            <a:r>
              <a:rPr lang="en-US" altLang="zh-CN" dirty="0"/>
              <a:t>CMP</a:t>
            </a:r>
            <a:r>
              <a:rPr lang="zh-CN" altLang="en-US" dirty="0"/>
              <a:t>指令只影响标志，不保存结果。 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50000"/>
              <a:buNone/>
            </a:pPr>
            <a:r>
              <a:rPr lang="en-US" altLang="zh-CN" dirty="0" smtClean="0"/>
              <a:t>SUB </a:t>
            </a:r>
            <a:r>
              <a:rPr lang="en-US" altLang="zh-CN" dirty="0"/>
              <a:t>AL</a:t>
            </a:r>
            <a:r>
              <a:rPr lang="zh-CN" altLang="en-US" dirty="0"/>
              <a:t>，</a:t>
            </a:r>
            <a:r>
              <a:rPr lang="en-US" altLang="zh-CN" dirty="0"/>
              <a:t>09H </a:t>
            </a:r>
            <a:r>
              <a:rPr lang="zh-CN" altLang="en-US" dirty="0"/>
              <a:t>；</a:t>
            </a:r>
            <a:r>
              <a:rPr lang="en-US" altLang="zh-CN" dirty="0"/>
              <a:t>SF=1</a:t>
            </a:r>
            <a:r>
              <a:rPr lang="zh-CN" altLang="en-US" dirty="0"/>
              <a:t>，</a:t>
            </a:r>
            <a:r>
              <a:rPr lang="en-US" altLang="zh-CN" dirty="0"/>
              <a:t>CF=1</a:t>
            </a:r>
            <a:r>
              <a:rPr lang="zh-CN" altLang="en-US" dirty="0"/>
              <a:t>，</a:t>
            </a:r>
            <a:r>
              <a:rPr lang="en-US" altLang="zh-CN" dirty="0"/>
              <a:t>OF=0</a:t>
            </a:r>
            <a:r>
              <a:rPr lang="zh-CN" altLang="en-US" dirty="0"/>
              <a:t>，</a:t>
            </a:r>
            <a:r>
              <a:rPr lang="en-US" altLang="zh-CN" dirty="0"/>
              <a:t>ZF=0</a:t>
            </a:r>
            <a:r>
              <a:rPr lang="zh-CN" altLang="en-US" dirty="0"/>
              <a:t>，</a:t>
            </a:r>
            <a:r>
              <a:rPr lang="en-US" altLang="zh-CN" dirty="0" smtClean="0"/>
              <a:t>AL=0FFH</a:t>
            </a: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50000"/>
              <a:buNone/>
            </a:pPr>
            <a:r>
              <a:rPr lang="en-US" altLang="zh-CN" dirty="0"/>
              <a:t>CMP AL</a:t>
            </a:r>
            <a:r>
              <a:rPr lang="zh-CN" altLang="en-US" dirty="0"/>
              <a:t>，</a:t>
            </a:r>
            <a:r>
              <a:rPr lang="en-US" altLang="zh-CN" dirty="0"/>
              <a:t>09 </a:t>
            </a:r>
            <a:r>
              <a:rPr lang="zh-CN" altLang="en-US" dirty="0"/>
              <a:t>；</a:t>
            </a:r>
            <a:r>
              <a:rPr lang="en-US" altLang="zh-CN" dirty="0"/>
              <a:t>SF=1</a:t>
            </a:r>
            <a:r>
              <a:rPr lang="zh-CN" altLang="en-US" dirty="0"/>
              <a:t>，</a:t>
            </a:r>
            <a:r>
              <a:rPr lang="en-US" altLang="zh-CN" dirty="0"/>
              <a:t>CF=1</a:t>
            </a:r>
            <a:r>
              <a:rPr lang="zh-CN" altLang="en-US" dirty="0"/>
              <a:t>，</a:t>
            </a:r>
            <a:r>
              <a:rPr lang="en-US" altLang="zh-CN" dirty="0"/>
              <a:t>OF=0</a:t>
            </a:r>
            <a:r>
              <a:rPr lang="zh-CN" altLang="en-US" dirty="0"/>
              <a:t>，</a:t>
            </a:r>
            <a:r>
              <a:rPr lang="en-US" altLang="zh-CN" dirty="0"/>
              <a:t>ZF=0</a:t>
            </a:r>
            <a:r>
              <a:rPr lang="zh-CN" altLang="en-US" dirty="0"/>
              <a:t>，</a:t>
            </a:r>
            <a:r>
              <a:rPr lang="en-US" altLang="zh-CN" dirty="0" smtClean="0"/>
              <a:t>AL=08H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9014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49" y="226031"/>
            <a:ext cx="8207125" cy="6369978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3-15 </a:t>
            </a:r>
            <a:r>
              <a:rPr lang="zh-CN" altLang="en-US" b="1" dirty="0" smtClean="0">
                <a:solidFill>
                  <a:srgbClr val="FF0000"/>
                </a:solidFill>
              </a:rPr>
              <a:t>若要完成两个压缩</a:t>
            </a:r>
            <a:r>
              <a:rPr lang="en-US" altLang="zh-CN" b="1" dirty="0" smtClean="0">
                <a:solidFill>
                  <a:srgbClr val="FF0000"/>
                </a:solidFill>
              </a:rPr>
              <a:t>BCD</a:t>
            </a:r>
            <a:r>
              <a:rPr lang="zh-CN" altLang="en-US" b="1" dirty="0" smtClean="0">
                <a:solidFill>
                  <a:srgbClr val="FF0000"/>
                </a:solidFill>
              </a:rPr>
              <a:t>码相减</a:t>
            </a:r>
            <a:r>
              <a:rPr lang="en-US" altLang="zh-CN" b="1" dirty="0" smtClean="0">
                <a:solidFill>
                  <a:srgbClr val="FF0000"/>
                </a:solidFill>
              </a:rPr>
              <a:t>(67-76)</a:t>
            </a:r>
            <a:r>
              <a:rPr lang="zh-CN" altLang="en-US" b="1" dirty="0" smtClean="0">
                <a:solidFill>
                  <a:srgbClr val="FF0000"/>
                </a:solidFill>
              </a:rPr>
              <a:t>，结果仍为</a:t>
            </a:r>
            <a:r>
              <a:rPr lang="en-US" altLang="zh-CN" b="1" dirty="0" smtClean="0">
                <a:solidFill>
                  <a:srgbClr val="FF0000"/>
                </a:solidFill>
              </a:rPr>
              <a:t>BCD</a:t>
            </a:r>
            <a:r>
              <a:rPr lang="zh-CN" altLang="en-US" b="1" dirty="0" smtClean="0">
                <a:solidFill>
                  <a:srgbClr val="FF0000"/>
                </a:solidFill>
              </a:rPr>
              <a:t>数，试编写该程序段。问执行程序后，</a:t>
            </a:r>
            <a:r>
              <a:rPr lang="en-US" altLang="zh-CN" b="1" dirty="0" smtClean="0">
                <a:solidFill>
                  <a:srgbClr val="FF0000"/>
                </a:solidFill>
              </a:rPr>
              <a:t>AL=</a:t>
            </a:r>
            <a:r>
              <a:rPr lang="zh-CN" altLang="en-US" b="1" dirty="0" smtClean="0">
                <a:solidFill>
                  <a:srgbClr val="FF0000"/>
                </a:solidFill>
              </a:rPr>
              <a:t>？</a:t>
            </a:r>
            <a:r>
              <a:rPr lang="en-US" altLang="zh-CN" b="1" dirty="0" smtClean="0">
                <a:solidFill>
                  <a:srgbClr val="FF0000"/>
                </a:solidFill>
              </a:rPr>
              <a:t>CF=</a:t>
            </a:r>
            <a:r>
              <a:rPr lang="zh-CN" altLang="en-US" b="1" dirty="0" smtClean="0">
                <a:solidFill>
                  <a:srgbClr val="FF0000"/>
                </a:solidFill>
              </a:rPr>
              <a:t>？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MOV AL,67H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SUB AL,76H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DAS </a:t>
            </a:r>
            <a:r>
              <a:rPr lang="zh-CN" altLang="en-US" dirty="0" smtClean="0"/>
              <a:t>；执行后</a:t>
            </a:r>
            <a:r>
              <a:rPr lang="en-US" altLang="zh-CN" dirty="0" smtClean="0">
                <a:solidFill>
                  <a:srgbClr val="0000FF"/>
                </a:solidFill>
              </a:rPr>
              <a:t>AL=91H</a:t>
            </a:r>
            <a:r>
              <a:rPr lang="en-US" altLang="zh-CN" dirty="0" smtClean="0"/>
              <a:t>,CF=1</a:t>
            </a:r>
          </a:p>
          <a:p>
            <a:pPr>
              <a:lnSpc>
                <a:spcPct val="120000"/>
              </a:lnSpc>
              <a:spcBef>
                <a:spcPts val="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solidFill>
                  <a:srgbClr val="FF0000"/>
                </a:solidFill>
              </a:rPr>
              <a:t>3-16 </a:t>
            </a:r>
            <a:r>
              <a:rPr lang="zh-CN" altLang="en-US" b="1" dirty="0" smtClean="0">
                <a:solidFill>
                  <a:srgbClr val="FF0000"/>
                </a:solidFill>
              </a:rPr>
              <a:t>选用</a:t>
            </a:r>
            <a:r>
              <a:rPr lang="zh-CN" altLang="en-US" b="1" dirty="0">
                <a:solidFill>
                  <a:srgbClr val="FF0000"/>
                </a:solidFill>
              </a:rPr>
              <a:t>最少的指令，实现下述要求的功能。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50000"/>
              <a:buNone/>
            </a:pPr>
            <a:r>
              <a:rPr lang="zh-CN" altLang="en-US" b="1" dirty="0" smtClean="0">
                <a:solidFill>
                  <a:srgbClr val="FF0000"/>
                </a:solidFill>
              </a:rPr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en-US" altLang="zh-CN" b="1" dirty="0">
                <a:solidFill>
                  <a:srgbClr val="FF0000"/>
                </a:solidFill>
              </a:rPr>
              <a:t>AH</a:t>
            </a:r>
            <a:r>
              <a:rPr lang="zh-CN" altLang="en-US" b="1" dirty="0">
                <a:solidFill>
                  <a:srgbClr val="FF0000"/>
                </a:solidFill>
              </a:rPr>
              <a:t>的高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位清零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50000"/>
              <a:buNone/>
            </a:pPr>
            <a:r>
              <a:rPr lang="zh-CN" altLang="en-US" b="1" dirty="0" smtClean="0">
                <a:solidFill>
                  <a:srgbClr val="FF0000"/>
                </a:solidFill>
              </a:rPr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en-US" altLang="zh-CN" b="1" dirty="0">
                <a:solidFill>
                  <a:srgbClr val="FF0000"/>
                </a:solidFill>
              </a:rPr>
              <a:t>AL</a:t>
            </a:r>
            <a:r>
              <a:rPr lang="zh-CN" altLang="en-US" b="1" dirty="0">
                <a:solidFill>
                  <a:srgbClr val="FF0000"/>
                </a:solidFill>
              </a:rPr>
              <a:t>的高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位取反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50000"/>
              <a:buNone/>
            </a:pPr>
            <a:r>
              <a:rPr lang="zh-CN" altLang="en-US" b="1" dirty="0" smtClean="0">
                <a:solidFill>
                  <a:srgbClr val="FF0000"/>
                </a:solidFill>
              </a:rPr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en-US" altLang="zh-CN" b="1" dirty="0">
                <a:solidFill>
                  <a:srgbClr val="FF0000"/>
                </a:solidFill>
              </a:rPr>
              <a:t>AL</a:t>
            </a:r>
            <a:r>
              <a:rPr lang="zh-CN" altLang="en-US" b="1" dirty="0">
                <a:solidFill>
                  <a:srgbClr val="FF0000"/>
                </a:solidFill>
              </a:rPr>
              <a:t>的高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位移到低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位，高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位清零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50000"/>
              <a:buNone/>
            </a:pPr>
            <a:r>
              <a:rPr lang="zh-CN" altLang="en-US" b="1" dirty="0" smtClean="0">
                <a:solidFill>
                  <a:srgbClr val="FF0000"/>
                </a:solidFill>
              </a:rPr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en-US" altLang="zh-CN" b="1" dirty="0">
                <a:solidFill>
                  <a:srgbClr val="FF0000"/>
                </a:solidFill>
              </a:rPr>
              <a:t>AH</a:t>
            </a:r>
            <a:r>
              <a:rPr lang="zh-CN" altLang="en-US" b="1" dirty="0">
                <a:solidFill>
                  <a:srgbClr val="FF0000"/>
                </a:solidFill>
              </a:rPr>
              <a:t>的低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位移到高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位，低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位清零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50000"/>
              <a:buNone/>
            </a:pPr>
            <a:r>
              <a:rPr lang="zh-CN" altLang="en-US" dirty="0" smtClean="0"/>
              <a:t>解</a:t>
            </a:r>
            <a:r>
              <a:rPr lang="zh-CN" altLang="en-US" dirty="0"/>
              <a:t>：（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AND AH</a:t>
            </a:r>
            <a:r>
              <a:rPr lang="zh-CN" altLang="en-US" dirty="0"/>
              <a:t>，</a:t>
            </a:r>
            <a:r>
              <a:rPr lang="en-US" altLang="zh-CN" dirty="0" smtClean="0"/>
              <a:t>0FH  </a:t>
            </a:r>
            <a:r>
              <a:rPr lang="zh-CN" altLang="en-US" dirty="0" smtClean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XOR AL</a:t>
            </a:r>
            <a:r>
              <a:rPr lang="zh-CN" altLang="en-US" dirty="0"/>
              <a:t>，</a:t>
            </a:r>
            <a:r>
              <a:rPr lang="en-US" altLang="zh-CN" dirty="0"/>
              <a:t>0F0H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50000"/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MOV CL</a:t>
            </a:r>
            <a:r>
              <a:rPr lang="zh-CN" altLang="en-US" dirty="0"/>
              <a:t>，</a:t>
            </a:r>
            <a:r>
              <a:rPr lang="en-US" altLang="zh-CN" dirty="0" smtClean="0"/>
              <a:t>4             SHR </a:t>
            </a:r>
            <a:r>
              <a:rPr lang="en-US" altLang="zh-CN" dirty="0"/>
              <a:t>AL</a:t>
            </a:r>
            <a:r>
              <a:rPr lang="zh-CN" altLang="en-US" dirty="0"/>
              <a:t>，</a:t>
            </a:r>
            <a:r>
              <a:rPr lang="en-US" altLang="zh-CN" dirty="0"/>
              <a:t>CL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50000"/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MOV CL</a:t>
            </a:r>
            <a:r>
              <a:rPr lang="zh-CN" altLang="en-US" dirty="0"/>
              <a:t>，</a:t>
            </a:r>
            <a:r>
              <a:rPr lang="en-US" altLang="zh-CN" dirty="0" smtClean="0"/>
              <a:t>4             SHL </a:t>
            </a:r>
            <a:r>
              <a:rPr lang="en-US" altLang="zh-CN" dirty="0"/>
              <a:t>AH</a:t>
            </a:r>
            <a:r>
              <a:rPr lang="zh-CN" altLang="en-US" dirty="0"/>
              <a:t>，</a:t>
            </a:r>
            <a:r>
              <a:rPr lang="en-US" altLang="zh-CN" dirty="0" smtClean="0"/>
              <a:t>CL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9037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26031"/>
            <a:ext cx="8268770" cy="636997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3-17</a:t>
            </a:r>
            <a:r>
              <a:rPr lang="zh-CN" altLang="en-US" b="1" dirty="0">
                <a:solidFill>
                  <a:srgbClr val="FF0000"/>
                </a:solidFill>
              </a:rPr>
              <a:t>设</a:t>
            </a:r>
            <a:r>
              <a:rPr lang="en-US" altLang="zh-CN" b="1" dirty="0">
                <a:solidFill>
                  <a:srgbClr val="FF0000"/>
                </a:solidFill>
              </a:rPr>
              <a:t>BX=6D16H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AX=1100H</a:t>
            </a:r>
            <a:r>
              <a:rPr lang="zh-CN" altLang="en-US" b="1" dirty="0">
                <a:solidFill>
                  <a:srgbClr val="FF0000"/>
                </a:solidFill>
              </a:rPr>
              <a:t>，写出下列两条指令执行后</a:t>
            </a:r>
            <a:r>
              <a:rPr lang="en-US" altLang="zh-CN" b="1" dirty="0">
                <a:solidFill>
                  <a:srgbClr val="FF0000"/>
                </a:solidFill>
              </a:rPr>
              <a:t>BX</a:t>
            </a:r>
            <a:r>
              <a:rPr lang="zh-CN" altLang="en-US" b="1" dirty="0">
                <a:solidFill>
                  <a:srgbClr val="FF0000"/>
                </a:solidFill>
              </a:rPr>
              <a:t>寄存器中的内容。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MOV </a:t>
            </a:r>
            <a:r>
              <a:rPr lang="en-US" altLang="zh-CN" dirty="0"/>
              <a:t>CL</a:t>
            </a:r>
            <a:r>
              <a:rPr lang="zh-CN" altLang="en-US" dirty="0"/>
              <a:t>，</a:t>
            </a:r>
            <a:r>
              <a:rPr lang="en-US" altLang="zh-CN" dirty="0"/>
              <a:t>06H </a:t>
            </a:r>
            <a:r>
              <a:rPr lang="zh-CN" altLang="en-US" dirty="0"/>
              <a:t>；</a:t>
            </a:r>
            <a:r>
              <a:rPr lang="en-US" altLang="zh-CN" dirty="0"/>
              <a:t>CL=06H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ROL </a:t>
            </a:r>
            <a:r>
              <a:rPr lang="en-US" altLang="zh-CN" dirty="0"/>
              <a:t>AX</a:t>
            </a:r>
            <a:r>
              <a:rPr lang="zh-CN" altLang="en-US" dirty="0"/>
              <a:t>，</a:t>
            </a:r>
            <a:r>
              <a:rPr lang="en-US" altLang="zh-CN" dirty="0"/>
              <a:t>CL </a:t>
            </a:r>
            <a:r>
              <a:rPr lang="zh-CN" altLang="en-US" dirty="0"/>
              <a:t>；</a:t>
            </a:r>
            <a:r>
              <a:rPr lang="en-US" altLang="zh-CN" dirty="0"/>
              <a:t>AX=4004H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SHR </a:t>
            </a:r>
            <a:r>
              <a:rPr lang="en-US" altLang="zh-CN" dirty="0"/>
              <a:t>BX</a:t>
            </a:r>
            <a:r>
              <a:rPr lang="zh-CN" altLang="en-US" dirty="0"/>
              <a:t>，</a:t>
            </a:r>
            <a:r>
              <a:rPr lang="en-US" altLang="zh-CN" dirty="0"/>
              <a:t>CL </a:t>
            </a:r>
            <a:r>
              <a:rPr lang="zh-CN" altLang="en-US" dirty="0"/>
              <a:t>；</a:t>
            </a:r>
            <a:r>
              <a:rPr lang="en-US" altLang="zh-CN" dirty="0"/>
              <a:t>BX=01B4H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 smtClean="0"/>
              <a:t>解</a:t>
            </a:r>
            <a:r>
              <a:rPr lang="zh-CN" altLang="en-US" dirty="0"/>
              <a:t>：</a:t>
            </a:r>
            <a:r>
              <a:rPr lang="en-US" altLang="zh-CN" dirty="0"/>
              <a:t>BX=01B4H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3-18 </a:t>
            </a:r>
            <a:r>
              <a:rPr lang="zh-CN" altLang="en-US" b="1" dirty="0" smtClean="0">
                <a:solidFill>
                  <a:srgbClr val="FF0000"/>
                </a:solidFill>
              </a:rPr>
              <a:t>设</a:t>
            </a:r>
            <a:r>
              <a:rPr lang="zh-CN" altLang="en-US" b="1" dirty="0">
                <a:solidFill>
                  <a:srgbClr val="FF0000"/>
                </a:solidFill>
              </a:rPr>
              <a:t>初值</a:t>
            </a:r>
            <a:r>
              <a:rPr lang="en-US" altLang="zh-CN" b="1" dirty="0">
                <a:solidFill>
                  <a:srgbClr val="FF0000"/>
                </a:solidFill>
              </a:rPr>
              <a:t>AX=0119H</a:t>
            </a:r>
            <a:r>
              <a:rPr lang="zh-CN" altLang="en-US" b="1" dirty="0">
                <a:solidFill>
                  <a:srgbClr val="FF0000"/>
                </a:solidFill>
              </a:rPr>
              <a:t>，执行下列程序段后</a:t>
            </a:r>
            <a:r>
              <a:rPr lang="en-US" altLang="zh-CN" b="1" dirty="0">
                <a:solidFill>
                  <a:srgbClr val="FF0000"/>
                </a:solidFill>
              </a:rPr>
              <a:t>AX=</a:t>
            </a:r>
            <a:r>
              <a:rPr lang="zh-CN" altLang="en-US" b="1" dirty="0">
                <a:solidFill>
                  <a:srgbClr val="FF0000"/>
                </a:solidFill>
              </a:rPr>
              <a:t>？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MOV </a:t>
            </a:r>
            <a:r>
              <a:rPr lang="en-US" altLang="zh-CN" dirty="0"/>
              <a:t>CH</a:t>
            </a:r>
            <a:r>
              <a:rPr lang="zh-CN" altLang="en-US" dirty="0"/>
              <a:t>，</a:t>
            </a:r>
            <a:r>
              <a:rPr lang="en-US" altLang="zh-CN" dirty="0"/>
              <a:t>AH </a:t>
            </a:r>
            <a:r>
              <a:rPr lang="zh-CN" altLang="en-US" dirty="0"/>
              <a:t>；</a:t>
            </a:r>
            <a:r>
              <a:rPr lang="en-US" altLang="zh-CN" dirty="0"/>
              <a:t>CH=01H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ADD </a:t>
            </a:r>
            <a:r>
              <a:rPr lang="en-US" altLang="zh-CN" dirty="0"/>
              <a:t>AL</a:t>
            </a:r>
            <a:r>
              <a:rPr lang="zh-CN" altLang="en-US" dirty="0"/>
              <a:t>，</a:t>
            </a:r>
            <a:r>
              <a:rPr lang="en-US" altLang="zh-CN" dirty="0"/>
              <a:t>AH </a:t>
            </a:r>
            <a:r>
              <a:rPr lang="zh-CN" altLang="en-US" dirty="0"/>
              <a:t>； </a:t>
            </a:r>
            <a:r>
              <a:rPr lang="en-US" altLang="zh-CN" dirty="0"/>
              <a:t>AL=1AH</a:t>
            </a:r>
            <a:r>
              <a:rPr lang="zh-CN" altLang="en-US" dirty="0"/>
              <a:t>，</a:t>
            </a:r>
            <a:r>
              <a:rPr lang="en-US" altLang="zh-CN" dirty="0"/>
              <a:t>AF=0</a:t>
            </a:r>
            <a:r>
              <a:rPr lang="zh-CN" altLang="en-US" dirty="0"/>
              <a:t>，</a:t>
            </a:r>
            <a:r>
              <a:rPr lang="en-US" altLang="zh-CN" dirty="0"/>
              <a:t>CF=0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DAA </a:t>
            </a:r>
            <a:r>
              <a:rPr lang="zh-CN" altLang="en-US" dirty="0"/>
              <a:t>；</a:t>
            </a:r>
            <a:r>
              <a:rPr lang="en-US" altLang="zh-CN" dirty="0"/>
              <a:t>AL=20</a:t>
            </a:r>
            <a:r>
              <a:rPr lang="zh-CN" altLang="en-US" dirty="0"/>
              <a:t>，</a:t>
            </a:r>
            <a:r>
              <a:rPr lang="en-US" altLang="zh-CN" dirty="0"/>
              <a:t>AF=1</a:t>
            </a:r>
            <a:r>
              <a:rPr lang="zh-CN" altLang="en-US" dirty="0"/>
              <a:t>，</a:t>
            </a:r>
            <a:r>
              <a:rPr lang="en-US" altLang="zh-CN" dirty="0"/>
              <a:t>CF=0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XCHG </a:t>
            </a:r>
            <a:r>
              <a:rPr lang="en-US" altLang="zh-CN" dirty="0"/>
              <a:t>AL</a:t>
            </a:r>
            <a:r>
              <a:rPr lang="zh-CN" altLang="en-US" dirty="0"/>
              <a:t>，</a:t>
            </a:r>
            <a:r>
              <a:rPr lang="en-US" altLang="zh-CN" dirty="0"/>
              <a:t>CH </a:t>
            </a:r>
            <a:r>
              <a:rPr lang="zh-CN" altLang="en-US" dirty="0"/>
              <a:t>；</a:t>
            </a:r>
            <a:r>
              <a:rPr lang="en-US" altLang="zh-CN" dirty="0"/>
              <a:t>AL=01H</a:t>
            </a:r>
            <a:r>
              <a:rPr lang="zh-CN" altLang="en-US" dirty="0"/>
              <a:t>，</a:t>
            </a:r>
            <a:r>
              <a:rPr lang="en-US" altLang="zh-CN" dirty="0"/>
              <a:t>CH=20H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ADC </a:t>
            </a:r>
            <a:r>
              <a:rPr lang="en-US" altLang="zh-CN" dirty="0"/>
              <a:t>AL</a:t>
            </a:r>
            <a:r>
              <a:rPr lang="zh-CN" altLang="en-US" dirty="0"/>
              <a:t>，</a:t>
            </a:r>
            <a:r>
              <a:rPr lang="en-US" altLang="zh-CN" dirty="0"/>
              <a:t>34H </a:t>
            </a:r>
            <a:r>
              <a:rPr lang="zh-CN" altLang="en-US" dirty="0"/>
              <a:t>；</a:t>
            </a:r>
            <a:r>
              <a:rPr lang="en-US" altLang="zh-CN" dirty="0"/>
              <a:t>AL=01H+34H=35H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DAA </a:t>
            </a:r>
            <a:r>
              <a:rPr lang="zh-CN" altLang="en-US" dirty="0"/>
              <a:t>；</a:t>
            </a:r>
            <a:r>
              <a:rPr lang="en-US" altLang="zh-CN" dirty="0"/>
              <a:t>AL=35H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MOV </a:t>
            </a:r>
            <a:r>
              <a:rPr lang="en-US" altLang="zh-CN" dirty="0"/>
              <a:t>AH</a:t>
            </a:r>
            <a:r>
              <a:rPr lang="zh-CN" altLang="en-US" dirty="0"/>
              <a:t>，</a:t>
            </a:r>
            <a:r>
              <a:rPr lang="en-US" altLang="zh-CN" dirty="0"/>
              <a:t>AL </a:t>
            </a:r>
            <a:r>
              <a:rPr lang="zh-CN" altLang="en-US" dirty="0"/>
              <a:t>；</a:t>
            </a:r>
            <a:r>
              <a:rPr lang="en-US" altLang="zh-CN" dirty="0"/>
              <a:t>AH=35H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MOV </a:t>
            </a:r>
            <a:r>
              <a:rPr lang="en-US" altLang="zh-CN" dirty="0"/>
              <a:t>AL</a:t>
            </a:r>
            <a:r>
              <a:rPr lang="zh-CN" altLang="en-US" dirty="0"/>
              <a:t>，</a:t>
            </a:r>
            <a:r>
              <a:rPr lang="en-US" altLang="zh-CN" dirty="0"/>
              <a:t>CH </a:t>
            </a:r>
            <a:r>
              <a:rPr lang="zh-CN" altLang="en-US" dirty="0"/>
              <a:t>；</a:t>
            </a:r>
            <a:r>
              <a:rPr lang="en-US" altLang="zh-CN" dirty="0"/>
              <a:t>AL=20H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/>
              <a:t>	HLT</a:t>
            </a: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 smtClean="0"/>
              <a:t>解</a:t>
            </a:r>
            <a:r>
              <a:rPr lang="zh-CN" altLang="en-US" dirty="0"/>
              <a:t>：</a:t>
            </a:r>
            <a:r>
              <a:rPr lang="en-US" altLang="zh-CN" dirty="0"/>
              <a:t>AX=3520H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3732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26030"/>
            <a:ext cx="7886700" cy="6631969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dirty="0" smtClean="0"/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3-19</a:t>
            </a:r>
            <a:r>
              <a:rPr lang="zh-CN" altLang="zh-CN" b="1" dirty="0">
                <a:solidFill>
                  <a:srgbClr val="FF0000"/>
                </a:solidFill>
              </a:rPr>
              <a:t>设初值</a:t>
            </a:r>
            <a:r>
              <a:rPr lang="en-US" altLang="zh-CN" b="1" dirty="0">
                <a:solidFill>
                  <a:srgbClr val="FF0000"/>
                </a:solidFill>
              </a:rPr>
              <a:t>AX=6264H</a:t>
            </a:r>
            <a:r>
              <a:rPr lang="zh-CN" altLang="zh-CN" b="1" dirty="0">
                <a:solidFill>
                  <a:srgbClr val="FF0000"/>
                </a:solidFill>
              </a:rPr>
              <a:t>，，</a:t>
            </a:r>
            <a:r>
              <a:rPr lang="en-US" altLang="zh-CN" b="1" dirty="0">
                <a:solidFill>
                  <a:srgbClr val="FF0000"/>
                </a:solidFill>
              </a:rPr>
              <a:t>CX=0004H</a:t>
            </a:r>
            <a:r>
              <a:rPr lang="zh-CN" altLang="zh-CN" b="1" dirty="0">
                <a:solidFill>
                  <a:srgbClr val="FF0000"/>
                </a:solidFill>
              </a:rPr>
              <a:t>，在执行下列程序段后</a:t>
            </a:r>
            <a:r>
              <a:rPr lang="en-US" altLang="zh-CN" b="1" dirty="0">
                <a:solidFill>
                  <a:srgbClr val="FF0000"/>
                </a:solidFill>
              </a:rPr>
              <a:t>AX=</a:t>
            </a:r>
            <a:r>
              <a:rPr lang="zh-CN" altLang="zh-CN" b="1" dirty="0">
                <a:solidFill>
                  <a:srgbClr val="FF0000"/>
                </a:solidFill>
              </a:rPr>
              <a:t>？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 </a:t>
            </a:r>
            <a:r>
              <a:rPr lang="en-US" altLang="zh-CN" dirty="0" smtClean="0"/>
              <a:t>AND </a:t>
            </a:r>
            <a:r>
              <a:rPr lang="en-US" altLang="zh-CN" dirty="0"/>
              <a:t>AX</a:t>
            </a:r>
            <a:r>
              <a:rPr lang="zh-CN" altLang="zh-CN" dirty="0"/>
              <a:t>，</a:t>
            </a:r>
            <a:r>
              <a:rPr lang="en-US" altLang="zh-CN" dirty="0"/>
              <a:t>AX </a:t>
            </a:r>
            <a:r>
              <a:rPr lang="zh-CN" altLang="zh-CN" dirty="0"/>
              <a:t>；</a:t>
            </a:r>
            <a:r>
              <a:rPr lang="en-US" altLang="zh-CN" dirty="0"/>
              <a:t>AX=6264H</a:t>
            </a:r>
            <a:r>
              <a:rPr lang="zh-CN" altLang="zh-CN" dirty="0"/>
              <a:t>，</a:t>
            </a:r>
            <a:r>
              <a:rPr lang="en-US" altLang="zh-CN" dirty="0"/>
              <a:t>ZF=0</a:t>
            </a:r>
            <a:endParaRPr lang="zh-CN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 </a:t>
            </a:r>
            <a:r>
              <a:rPr lang="en-US" altLang="zh-CN" dirty="0" smtClean="0"/>
              <a:t>JZ </a:t>
            </a:r>
            <a:r>
              <a:rPr lang="en-US" altLang="zh-CN" dirty="0"/>
              <a:t>DONE</a:t>
            </a:r>
            <a:endParaRPr lang="zh-CN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 </a:t>
            </a:r>
            <a:r>
              <a:rPr lang="en-US" altLang="zh-CN" dirty="0" smtClean="0"/>
              <a:t>SHL </a:t>
            </a:r>
            <a:r>
              <a:rPr lang="en-US" altLang="zh-CN" dirty="0"/>
              <a:t>CX</a:t>
            </a:r>
            <a:r>
              <a:rPr lang="zh-CN" altLang="zh-CN" dirty="0"/>
              <a:t>，</a:t>
            </a:r>
            <a:r>
              <a:rPr lang="en-US" altLang="zh-CN" dirty="0"/>
              <a:t>1 </a:t>
            </a:r>
            <a:r>
              <a:rPr lang="zh-CN" altLang="zh-CN" dirty="0"/>
              <a:t>；</a:t>
            </a:r>
            <a:r>
              <a:rPr lang="en-US" altLang="zh-CN" dirty="0"/>
              <a:t>CX=0008H</a:t>
            </a:r>
            <a:endParaRPr lang="zh-CN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 </a:t>
            </a:r>
            <a:r>
              <a:rPr lang="en-US" altLang="zh-CN" dirty="0" smtClean="0"/>
              <a:t>ROR </a:t>
            </a:r>
            <a:r>
              <a:rPr lang="en-US" altLang="zh-CN" dirty="0"/>
              <a:t>AX</a:t>
            </a:r>
            <a:r>
              <a:rPr lang="zh-CN" altLang="zh-CN" dirty="0"/>
              <a:t>，</a:t>
            </a:r>
            <a:r>
              <a:rPr lang="en-US" altLang="zh-CN" dirty="0"/>
              <a:t>CL </a:t>
            </a:r>
            <a:r>
              <a:rPr lang="zh-CN" altLang="zh-CN" dirty="0"/>
              <a:t>；</a:t>
            </a:r>
            <a:r>
              <a:rPr lang="en-US" altLang="zh-CN" dirty="0"/>
              <a:t>AX=6462H</a:t>
            </a:r>
            <a:endParaRPr lang="zh-CN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 </a:t>
            </a:r>
            <a:r>
              <a:rPr lang="en-US" altLang="zh-CN" dirty="0" smtClean="0"/>
              <a:t>DONE</a:t>
            </a:r>
            <a:r>
              <a:rPr lang="zh-CN" altLang="zh-CN" dirty="0"/>
              <a:t>：</a:t>
            </a:r>
            <a:r>
              <a:rPr lang="en-US" altLang="zh-CN" dirty="0"/>
              <a:t> OR AX</a:t>
            </a:r>
            <a:r>
              <a:rPr lang="zh-CN" altLang="zh-CN" dirty="0"/>
              <a:t>，</a:t>
            </a:r>
            <a:r>
              <a:rPr lang="en-US" altLang="zh-CN" dirty="0"/>
              <a:t>1234H </a:t>
            </a:r>
            <a:r>
              <a:rPr lang="zh-CN" altLang="zh-CN" dirty="0"/>
              <a:t>；</a:t>
            </a:r>
            <a:r>
              <a:rPr lang="en-US" altLang="zh-CN" dirty="0"/>
              <a:t>AX=7676H</a:t>
            </a:r>
            <a:endParaRPr lang="zh-CN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 </a:t>
            </a:r>
            <a:r>
              <a:rPr lang="zh-CN" altLang="zh-CN" dirty="0" smtClean="0"/>
              <a:t>解</a:t>
            </a:r>
            <a:r>
              <a:rPr lang="zh-CN" altLang="zh-CN" dirty="0"/>
              <a:t>：</a:t>
            </a:r>
            <a:r>
              <a:rPr lang="en-US" altLang="zh-CN" dirty="0">
                <a:solidFill>
                  <a:srgbClr val="0000FF"/>
                </a:solidFill>
              </a:rPr>
              <a:t>AX=7676</a:t>
            </a:r>
            <a:r>
              <a:rPr lang="en-US" altLang="zh-CN" dirty="0"/>
              <a:t>H</a:t>
            </a:r>
            <a:endParaRPr lang="zh-CN" altLang="zh-CN" dirty="0"/>
          </a:p>
          <a:p>
            <a:pPr>
              <a:lnSpc>
                <a:spcPct val="120000"/>
              </a:lnSpc>
            </a:pPr>
            <a:r>
              <a:rPr lang="en-US" altLang="zh-CN" b="1" dirty="0" smtClean="0">
                <a:solidFill>
                  <a:srgbClr val="FF0000"/>
                </a:solidFill>
              </a:rPr>
              <a:t>3-20</a:t>
            </a:r>
            <a:r>
              <a:rPr lang="zh-CN" altLang="zh-CN" b="1" dirty="0">
                <a:solidFill>
                  <a:srgbClr val="FF0000"/>
                </a:solidFill>
              </a:rPr>
              <a:t>哪个段寄存器不能从堆栈中弹出？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 </a:t>
            </a:r>
            <a:r>
              <a:rPr lang="zh-CN" altLang="zh-CN" dirty="0" smtClean="0"/>
              <a:t>解</a:t>
            </a:r>
            <a:r>
              <a:rPr lang="zh-CN" altLang="zh-CN" dirty="0"/>
              <a:t>：</a:t>
            </a:r>
            <a:r>
              <a:rPr lang="en-US" altLang="zh-CN" dirty="0"/>
              <a:t>CS</a:t>
            </a:r>
            <a:r>
              <a:rPr lang="zh-CN" altLang="zh-CN" dirty="0"/>
              <a:t>段寄存器不能从堆栈中弹出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POP </a:t>
            </a:r>
            <a:r>
              <a:rPr lang="en-US" altLang="zh-CN" dirty="0"/>
              <a:t>CS</a:t>
            </a:r>
            <a:r>
              <a:rPr lang="zh-CN" altLang="zh-CN" dirty="0"/>
              <a:t>是错误的，</a:t>
            </a:r>
            <a:r>
              <a:rPr lang="en-US" altLang="zh-CN" dirty="0"/>
              <a:t>CS</a:t>
            </a:r>
            <a:r>
              <a:rPr lang="zh-CN" altLang="zh-CN" dirty="0"/>
              <a:t>不能做目的操作数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331358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26031"/>
            <a:ext cx="8114658" cy="6369978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 smtClean="0">
                <a:solidFill>
                  <a:srgbClr val="FF0000"/>
                </a:solidFill>
              </a:rPr>
              <a:t>3-21</a:t>
            </a:r>
            <a:r>
              <a:rPr lang="zh-CN" altLang="en-US" b="1" dirty="0">
                <a:solidFill>
                  <a:srgbClr val="FF0000"/>
                </a:solidFill>
              </a:rPr>
              <a:t>如果堆栈底部定位在存储器位置</a:t>
            </a:r>
            <a:r>
              <a:rPr lang="en-US" altLang="zh-CN" b="1" dirty="0">
                <a:solidFill>
                  <a:srgbClr val="FF0000"/>
                </a:solidFill>
              </a:rPr>
              <a:t>02200H</a:t>
            </a:r>
            <a:r>
              <a:rPr lang="zh-CN" altLang="en-US" b="1" dirty="0">
                <a:solidFill>
                  <a:srgbClr val="FF0000"/>
                </a:solidFill>
              </a:rPr>
              <a:t>，试问</a:t>
            </a:r>
            <a:r>
              <a:rPr lang="en-US" altLang="zh-CN" b="1" dirty="0">
                <a:solidFill>
                  <a:srgbClr val="FF0000"/>
                </a:solidFill>
              </a:rPr>
              <a:t>SS</a:t>
            </a:r>
            <a:r>
              <a:rPr lang="zh-CN" altLang="en-US" b="1" dirty="0">
                <a:solidFill>
                  <a:srgbClr val="FF0000"/>
                </a:solidFill>
              </a:rPr>
              <a:t>和</a:t>
            </a:r>
            <a:r>
              <a:rPr lang="en-US" altLang="zh-CN" b="1" dirty="0">
                <a:solidFill>
                  <a:srgbClr val="FF0000"/>
                </a:solidFill>
              </a:rPr>
              <a:t>SP</a:t>
            </a:r>
            <a:r>
              <a:rPr lang="zh-CN" altLang="en-US" b="1" dirty="0">
                <a:solidFill>
                  <a:srgbClr val="FF0000"/>
                </a:solidFill>
              </a:rPr>
              <a:t>中将装入什么值？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dirty="0" smtClean="0"/>
              <a:t>解</a:t>
            </a:r>
            <a:r>
              <a:rPr lang="zh-CN" altLang="en-US" dirty="0"/>
              <a:t>：</a:t>
            </a:r>
            <a:r>
              <a:rPr lang="en-US" altLang="zh-CN" dirty="0" smtClean="0">
                <a:solidFill>
                  <a:srgbClr val="0000FF"/>
                </a:solidFill>
              </a:rPr>
              <a:t>SS=0220H</a:t>
            </a:r>
            <a:r>
              <a:rPr lang="zh-CN" altLang="en-US" dirty="0"/>
              <a:t>，</a:t>
            </a:r>
            <a:r>
              <a:rPr lang="en-US" altLang="zh-CN" dirty="0" smtClean="0"/>
              <a:t>SP=0000H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b="1" dirty="0" smtClean="0">
                <a:solidFill>
                  <a:srgbClr val="FF0000"/>
                </a:solidFill>
              </a:rPr>
              <a:t>3-22</a:t>
            </a:r>
            <a:r>
              <a:rPr lang="zh-CN" altLang="en-US" b="1" dirty="0">
                <a:solidFill>
                  <a:srgbClr val="FF0000"/>
                </a:solidFill>
              </a:rPr>
              <a:t>若</a:t>
            </a:r>
            <a:r>
              <a:rPr lang="en-US" altLang="zh-CN" b="1" dirty="0">
                <a:solidFill>
                  <a:srgbClr val="FF0000"/>
                </a:solidFill>
              </a:rPr>
              <a:t>AX=1001H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DX=20FFH</a:t>
            </a:r>
            <a:r>
              <a:rPr lang="zh-CN" altLang="en-US" b="1" dirty="0">
                <a:solidFill>
                  <a:srgbClr val="FF0000"/>
                </a:solidFill>
              </a:rPr>
              <a:t>，当执行</a:t>
            </a:r>
            <a:r>
              <a:rPr lang="en-US" altLang="zh-CN" b="1" dirty="0">
                <a:solidFill>
                  <a:srgbClr val="FF0000"/>
                </a:solidFill>
              </a:rPr>
              <a:t>ADD AX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DX</a:t>
            </a:r>
            <a:r>
              <a:rPr lang="zh-CN" altLang="en-US" b="1" dirty="0">
                <a:solidFill>
                  <a:srgbClr val="FF0000"/>
                </a:solidFill>
              </a:rPr>
              <a:t>指令后，请列出和数及标志寄存器中每个位的内容（</a:t>
            </a:r>
            <a:r>
              <a:rPr lang="en-US" altLang="zh-CN" b="1" dirty="0">
                <a:solidFill>
                  <a:srgbClr val="FF0000"/>
                </a:solidFill>
              </a:rPr>
              <a:t>CF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AF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SF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ZF</a:t>
            </a:r>
            <a:r>
              <a:rPr lang="zh-CN" altLang="en-US" b="1" dirty="0">
                <a:solidFill>
                  <a:srgbClr val="FF0000"/>
                </a:solidFill>
              </a:rPr>
              <a:t>和</a:t>
            </a:r>
            <a:r>
              <a:rPr lang="en-US" altLang="zh-CN" b="1" dirty="0">
                <a:solidFill>
                  <a:srgbClr val="FF0000"/>
                </a:solidFill>
              </a:rPr>
              <a:t>OF</a:t>
            </a:r>
            <a:r>
              <a:rPr lang="zh-CN" altLang="en-US" b="1" dirty="0">
                <a:solidFill>
                  <a:srgbClr val="FF0000"/>
                </a:solidFill>
              </a:rPr>
              <a:t>）。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dirty="0" smtClean="0"/>
              <a:t>解</a:t>
            </a:r>
            <a:r>
              <a:rPr lang="zh-CN" altLang="en-US" dirty="0"/>
              <a:t>：</a:t>
            </a:r>
            <a:r>
              <a:rPr lang="en-US" altLang="zh-CN" dirty="0"/>
              <a:t>AX=3100H</a:t>
            </a:r>
            <a:r>
              <a:rPr lang="zh-CN" altLang="en-US" dirty="0"/>
              <a:t>， </a:t>
            </a:r>
            <a:r>
              <a:rPr lang="en-US" altLang="zh-CN" dirty="0"/>
              <a:t>CF=0</a:t>
            </a:r>
            <a:r>
              <a:rPr lang="zh-CN" altLang="en-US" dirty="0"/>
              <a:t>；</a:t>
            </a:r>
            <a:r>
              <a:rPr lang="en-US" altLang="zh-CN" dirty="0"/>
              <a:t>AF=1</a:t>
            </a:r>
            <a:r>
              <a:rPr lang="zh-CN" altLang="en-US" dirty="0"/>
              <a:t>；</a:t>
            </a:r>
            <a:r>
              <a:rPr lang="en-US" altLang="zh-CN" dirty="0"/>
              <a:t>SF=0</a:t>
            </a:r>
            <a:r>
              <a:rPr lang="zh-CN" altLang="en-US" dirty="0"/>
              <a:t>；</a:t>
            </a:r>
            <a:r>
              <a:rPr lang="en-US" altLang="zh-CN" dirty="0"/>
              <a:t>ZF=0</a:t>
            </a:r>
            <a:r>
              <a:rPr lang="zh-CN" altLang="en-US" dirty="0"/>
              <a:t>；</a:t>
            </a:r>
            <a:r>
              <a:rPr lang="en-US" altLang="zh-CN" dirty="0"/>
              <a:t>OF=0</a:t>
            </a:r>
            <a:r>
              <a:rPr lang="zh-CN" altLang="en-US" dirty="0"/>
              <a:t>。</a:t>
            </a:r>
          </a:p>
          <a:p>
            <a:pPr>
              <a:lnSpc>
                <a:spcPct val="130000"/>
              </a:lnSpc>
            </a:pPr>
            <a:r>
              <a:rPr lang="en-US" altLang="zh-CN" b="1" dirty="0" smtClean="0">
                <a:solidFill>
                  <a:srgbClr val="FF0000"/>
                </a:solidFill>
              </a:rPr>
              <a:t>3-23</a:t>
            </a:r>
            <a:r>
              <a:rPr lang="zh-CN" altLang="en-US" b="1" dirty="0">
                <a:solidFill>
                  <a:srgbClr val="FF0000"/>
                </a:solidFill>
              </a:rPr>
              <a:t>若</a:t>
            </a:r>
            <a:r>
              <a:rPr lang="en-US" altLang="zh-CN" b="1" dirty="0">
                <a:solidFill>
                  <a:srgbClr val="FF0000"/>
                </a:solidFill>
              </a:rPr>
              <a:t>DL=0F3H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BH=72H</a:t>
            </a:r>
            <a:r>
              <a:rPr lang="zh-CN" altLang="en-US" b="1" dirty="0">
                <a:solidFill>
                  <a:srgbClr val="FF0000"/>
                </a:solidFill>
              </a:rPr>
              <a:t>，当从</a:t>
            </a:r>
            <a:r>
              <a:rPr lang="en-US" altLang="zh-CN" b="1" dirty="0">
                <a:solidFill>
                  <a:srgbClr val="FF0000"/>
                </a:solidFill>
              </a:rPr>
              <a:t>DL</a:t>
            </a:r>
            <a:r>
              <a:rPr lang="zh-CN" altLang="en-US" b="1" dirty="0">
                <a:solidFill>
                  <a:srgbClr val="FF0000"/>
                </a:solidFill>
              </a:rPr>
              <a:t>减去</a:t>
            </a:r>
            <a:r>
              <a:rPr lang="en-US" altLang="zh-CN" b="1" dirty="0">
                <a:solidFill>
                  <a:srgbClr val="FF0000"/>
                </a:solidFill>
              </a:rPr>
              <a:t>BH</a:t>
            </a:r>
            <a:r>
              <a:rPr lang="zh-CN" altLang="en-US" b="1" dirty="0">
                <a:solidFill>
                  <a:srgbClr val="FF0000"/>
                </a:solidFill>
              </a:rPr>
              <a:t>后，列出差数及标志寄存器各位的内容</a:t>
            </a:r>
            <a:r>
              <a:rPr lang="zh-CN" altLang="en-US" b="1" dirty="0" smtClean="0">
                <a:solidFill>
                  <a:srgbClr val="FF0000"/>
                </a:solidFill>
              </a:rPr>
              <a:t>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dirty="0" smtClean="0"/>
              <a:t>解</a:t>
            </a:r>
            <a:r>
              <a:rPr lang="zh-CN" altLang="en-US" dirty="0"/>
              <a:t>：差数为</a:t>
            </a:r>
            <a:r>
              <a:rPr lang="en-US" altLang="zh-CN" dirty="0"/>
              <a:t>81H</a:t>
            </a:r>
            <a:r>
              <a:rPr lang="zh-CN" altLang="en-US" dirty="0"/>
              <a:t>，</a:t>
            </a:r>
            <a:r>
              <a:rPr lang="en-US" altLang="zh-CN" dirty="0"/>
              <a:t>AF=0</a:t>
            </a:r>
            <a:r>
              <a:rPr lang="zh-CN" altLang="en-US" dirty="0"/>
              <a:t>，</a:t>
            </a:r>
            <a:r>
              <a:rPr lang="en-US" altLang="zh-CN" dirty="0"/>
              <a:t>SF=1</a:t>
            </a:r>
            <a:r>
              <a:rPr lang="zh-CN" altLang="en-US" dirty="0"/>
              <a:t>，</a:t>
            </a:r>
            <a:r>
              <a:rPr lang="en-US" altLang="zh-CN" dirty="0"/>
              <a:t>ZF=0</a:t>
            </a:r>
            <a:r>
              <a:rPr lang="zh-CN" altLang="en-US" dirty="0"/>
              <a:t>，</a:t>
            </a:r>
            <a:r>
              <a:rPr lang="en-US" altLang="zh-CN" dirty="0" smtClean="0"/>
              <a:t>OF=0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CF=0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784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370" y="113015"/>
            <a:ext cx="9010437" cy="6631969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2400" b="1" dirty="0" smtClean="0">
                <a:solidFill>
                  <a:srgbClr val="FF0000"/>
                </a:solidFill>
              </a:rPr>
              <a:t>3-24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当</a:t>
            </a:r>
            <a:r>
              <a:rPr lang="zh-CN" altLang="en-US" sz="2400" b="1" dirty="0">
                <a:solidFill>
                  <a:srgbClr val="FF0000"/>
                </a:solidFill>
              </a:rPr>
              <a:t>两个</a:t>
            </a:r>
            <a:r>
              <a:rPr lang="en-US" altLang="zh-CN" sz="2400" b="1" dirty="0">
                <a:solidFill>
                  <a:srgbClr val="FF0000"/>
                </a:solidFill>
              </a:rPr>
              <a:t>16</a:t>
            </a:r>
            <a:r>
              <a:rPr lang="zh-CN" altLang="en-US" sz="2400" b="1" dirty="0">
                <a:solidFill>
                  <a:srgbClr val="FF0000"/>
                </a:solidFill>
              </a:rPr>
              <a:t>位数相乘时，乘积放在哪两个寄存器中？并指出积的高有效位和低有效位分别防在哪个寄存器中？</a:t>
            </a:r>
            <a:r>
              <a:rPr lang="en-US" altLang="zh-CN" sz="2400" b="1" dirty="0">
                <a:solidFill>
                  <a:srgbClr val="FF0000"/>
                </a:solidFill>
              </a:rPr>
              <a:t>CF</a:t>
            </a:r>
            <a:r>
              <a:rPr lang="zh-CN" altLang="en-US" sz="2400" b="1" dirty="0">
                <a:solidFill>
                  <a:srgbClr val="FF0000"/>
                </a:solidFill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</a:rPr>
              <a:t>OF</a:t>
            </a:r>
            <a:r>
              <a:rPr lang="zh-CN" altLang="en-US" sz="2400" b="1" dirty="0">
                <a:solidFill>
                  <a:srgbClr val="FF0000"/>
                </a:solidFill>
              </a:rPr>
              <a:t>两个标志位是什么？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解</a:t>
            </a:r>
            <a:r>
              <a:rPr lang="zh-CN" altLang="en-US" sz="2400" dirty="0"/>
              <a:t>：乘积放在</a:t>
            </a:r>
            <a:r>
              <a:rPr lang="en-US" altLang="zh-CN" sz="2400" dirty="0"/>
              <a:t>DX</a:t>
            </a:r>
            <a:r>
              <a:rPr lang="zh-CN" altLang="en-US" sz="2400" dirty="0"/>
              <a:t>，</a:t>
            </a:r>
            <a:r>
              <a:rPr lang="en-US" altLang="zh-CN" sz="2400" dirty="0"/>
              <a:t>AX</a:t>
            </a:r>
            <a:r>
              <a:rPr lang="zh-CN" altLang="en-US" sz="2400" dirty="0"/>
              <a:t>中，</a:t>
            </a:r>
            <a:r>
              <a:rPr lang="zh-CN" altLang="en-US" sz="2400" dirty="0" smtClean="0"/>
              <a:t>高</a:t>
            </a:r>
            <a:r>
              <a:rPr lang="en-US" altLang="zh-CN" sz="2400" dirty="0" smtClean="0"/>
              <a:t>16</a:t>
            </a:r>
            <a:r>
              <a:rPr lang="zh-CN" altLang="en-US" sz="2400" dirty="0" smtClean="0"/>
              <a:t>位</a:t>
            </a:r>
            <a:r>
              <a:rPr lang="zh-CN" altLang="en-US" sz="2400" dirty="0"/>
              <a:t>放在</a:t>
            </a:r>
            <a:r>
              <a:rPr lang="en-US" altLang="zh-CN" sz="2400" dirty="0"/>
              <a:t>DX</a:t>
            </a:r>
            <a:r>
              <a:rPr lang="zh-CN" altLang="en-US" sz="2400" dirty="0"/>
              <a:t>中，</a:t>
            </a:r>
            <a:r>
              <a:rPr lang="zh-CN" altLang="en-US" sz="2400" dirty="0" smtClean="0"/>
              <a:t>低</a:t>
            </a:r>
            <a:r>
              <a:rPr lang="en-US" altLang="zh-CN" sz="2400" dirty="0" smtClean="0"/>
              <a:t>16</a:t>
            </a:r>
            <a:r>
              <a:rPr lang="zh-CN" altLang="en-US" sz="2400" dirty="0" smtClean="0"/>
              <a:t>位</a:t>
            </a:r>
            <a:r>
              <a:rPr lang="zh-CN" altLang="en-US" sz="2400" dirty="0"/>
              <a:t>放在</a:t>
            </a:r>
            <a:r>
              <a:rPr lang="en-US" altLang="zh-CN" sz="2400" dirty="0"/>
              <a:t>AX</a:t>
            </a:r>
            <a:r>
              <a:rPr lang="zh-CN" altLang="en-US" sz="2400" dirty="0"/>
              <a:t>中，当</a:t>
            </a:r>
            <a:r>
              <a:rPr lang="en-US" altLang="zh-CN" sz="2400" dirty="0"/>
              <a:t>DX≠0</a:t>
            </a:r>
            <a:r>
              <a:rPr lang="zh-CN" altLang="en-US" sz="2400" dirty="0"/>
              <a:t>时，</a:t>
            </a:r>
            <a:r>
              <a:rPr lang="en-US" altLang="zh-CN" sz="2400" dirty="0"/>
              <a:t>CF=OF=1</a:t>
            </a:r>
            <a:r>
              <a:rPr lang="zh-CN" altLang="en-US" sz="2400" dirty="0"/>
              <a:t>，否则 </a:t>
            </a:r>
            <a:r>
              <a:rPr lang="en-US" altLang="zh-CN" sz="2400" dirty="0"/>
              <a:t>CF=OF=0 </a:t>
            </a:r>
            <a:r>
              <a:rPr lang="zh-CN" altLang="en-US" sz="2400" dirty="0"/>
              <a:t>。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2400" b="1" dirty="0" smtClean="0">
                <a:solidFill>
                  <a:srgbClr val="FF0000"/>
                </a:solidFill>
              </a:rPr>
              <a:t>3-25</a:t>
            </a:r>
            <a:r>
              <a:rPr lang="zh-CN" altLang="en-US" sz="2400" b="1" dirty="0">
                <a:solidFill>
                  <a:srgbClr val="FF0000"/>
                </a:solidFill>
              </a:rPr>
              <a:t>当执行</a:t>
            </a:r>
            <a:r>
              <a:rPr lang="en-US" altLang="zh-CN" sz="2400" b="1" dirty="0">
                <a:solidFill>
                  <a:srgbClr val="FF0000"/>
                </a:solidFill>
              </a:rPr>
              <a:t>8</a:t>
            </a:r>
            <a:r>
              <a:rPr lang="zh-CN" altLang="en-US" sz="2400" b="1" dirty="0">
                <a:solidFill>
                  <a:srgbClr val="FF0000"/>
                </a:solidFill>
              </a:rPr>
              <a:t>位数除法指令时，被除数放在哪个寄存器中？当执行</a:t>
            </a:r>
            <a:r>
              <a:rPr lang="en-US" altLang="zh-CN" sz="2400" b="1" dirty="0">
                <a:solidFill>
                  <a:srgbClr val="FF0000"/>
                </a:solidFill>
              </a:rPr>
              <a:t>16</a:t>
            </a:r>
            <a:r>
              <a:rPr lang="zh-CN" altLang="en-US" sz="2400" b="1" dirty="0">
                <a:solidFill>
                  <a:srgbClr val="FF0000"/>
                </a:solidFill>
              </a:rPr>
              <a:t>位除法指令时，商数放在哪个寄存器中</a:t>
            </a:r>
            <a:r>
              <a:rPr lang="zh-CN" altLang="en-US" sz="2400" dirty="0"/>
              <a:t>？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解</a:t>
            </a:r>
            <a:r>
              <a:rPr lang="zh-CN" altLang="en-US" sz="2400" dirty="0"/>
              <a:t>：</a:t>
            </a:r>
            <a:r>
              <a:rPr lang="en-US" altLang="zh-CN" sz="2400" dirty="0"/>
              <a:t>8</a:t>
            </a:r>
            <a:r>
              <a:rPr lang="zh-CN" altLang="en-US" sz="2400" dirty="0"/>
              <a:t>位除法时，被除数放在</a:t>
            </a:r>
            <a:r>
              <a:rPr lang="en-US" altLang="zh-CN" sz="2400" dirty="0"/>
              <a:t>AX</a:t>
            </a:r>
            <a:r>
              <a:rPr lang="zh-CN" altLang="en-US" sz="2400" dirty="0"/>
              <a:t>中；</a:t>
            </a:r>
            <a:r>
              <a:rPr lang="en-US" altLang="zh-CN" sz="2400" dirty="0"/>
              <a:t>16</a:t>
            </a:r>
            <a:r>
              <a:rPr lang="zh-CN" altLang="en-US" sz="2400" dirty="0"/>
              <a:t>位除法时，商数放于</a:t>
            </a:r>
            <a:r>
              <a:rPr lang="en-US" altLang="zh-CN" sz="2400" dirty="0"/>
              <a:t>AX</a:t>
            </a:r>
            <a:r>
              <a:rPr lang="zh-CN" altLang="en-US" sz="2400" dirty="0"/>
              <a:t>中。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2400" b="1" dirty="0" smtClean="0">
                <a:solidFill>
                  <a:srgbClr val="FF0000"/>
                </a:solidFill>
              </a:rPr>
              <a:t>3-26</a:t>
            </a:r>
            <a:r>
              <a:rPr lang="zh-CN" altLang="en-US" sz="2400" b="1" dirty="0">
                <a:solidFill>
                  <a:srgbClr val="FF0000"/>
                </a:solidFill>
              </a:rPr>
              <a:t>执行除法指令时，微处理器能检测出哪种类型的错误？叙述它的处理过程。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解</a:t>
            </a:r>
            <a:r>
              <a:rPr lang="zh-CN" altLang="en-US" sz="2400" dirty="0"/>
              <a:t>：若除法运算所得的商位数大于除数的位数，即超出指令允许的商的范围，则系统将其当作除数为</a:t>
            </a:r>
            <a:r>
              <a:rPr lang="en-US" altLang="zh-CN" sz="2400" dirty="0"/>
              <a:t>0</a:t>
            </a:r>
            <a:r>
              <a:rPr lang="zh-CN" altLang="en-US" sz="2400" dirty="0"/>
              <a:t>处理，自动产生类型</a:t>
            </a:r>
            <a:r>
              <a:rPr lang="en-US" altLang="zh-CN" sz="2400" dirty="0"/>
              <a:t>0</a:t>
            </a:r>
            <a:r>
              <a:rPr lang="zh-CN" altLang="en-US" sz="2400" dirty="0"/>
              <a:t>中断，</a:t>
            </a:r>
            <a:r>
              <a:rPr lang="en-US" altLang="zh-CN" sz="2400" dirty="0"/>
              <a:t>CPU</a:t>
            </a:r>
            <a:r>
              <a:rPr lang="zh-CN" altLang="en-US" sz="2400" dirty="0"/>
              <a:t>将转去执行类型</a:t>
            </a:r>
            <a:r>
              <a:rPr lang="en-US" altLang="zh-CN" sz="2400" dirty="0"/>
              <a:t>0</a:t>
            </a:r>
            <a:r>
              <a:rPr lang="zh-CN" altLang="en-US" sz="2400" dirty="0" smtClean="0"/>
              <a:t>中断服务程序，</a:t>
            </a:r>
            <a:r>
              <a:rPr lang="zh-CN" altLang="en-US" sz="2400" dirty="0"/>
              <a:t>此时所得的商数和余数均无效。在进行类型</a:t>
            </a:r>
            <a:r>
              <a:rPr lang="en-US" altLang="zh-CN" sz="2400" dirty="0"/>
              <a:t>0</a:t>
            </a:r>
            <a:r>
              <a:rPr lang="zh-CN" altLang="en-US" sz="2400" dirty="0"/>
              <a:t>中断处理时，先是将标志位进栈，</a:t>
            </a:r>
            <a:r>
              <a:rPr lang="en-US" altLang="zh-CN" sz="2400" dirty="0"/>
              <a:t>IF</a:t>
            </a:r>
            <a:r>
              <a:rPr lang="zh-CN" altLang="en-US" sz="2400" dirty="0"/>
              <a:t>和</a:t>
            </a:r>
            <a:r>
              <a:rPr lang="en-US" altLang="zh-CN" sz="2400" dirty="0"/>
              <a:t>TF</a:t>
            </a:r>
            <a:r>
              <a:rPr lang="zh-CN" altLang="en-US" sz="2400" dirty="0"/>
              <a:t>清</a:t>
            </a:r>
            <a:r>
              <a:rPr lang="en-US" altLang="zh-CN" sz="2400" dirty="0"/>
              <a:t>0</a:t>
            </a:r>
            <a:r>
              <a:rPr lang="zh-CN" altLang="en-US" sz="2400" dirty="0"/>
              <a:t>，接着是</a:t>
            </a:r>
            <a:r>
              <a:rPr lang="en-US" altLang="zh-CN" sz="2400" dirty="0"/>
              <a:t>CS</a:t>
            </a:r>
            <a:r>
              <a:rPr lang="zh-CN" altLang="en-US" sz="2400" dirty="0"/>
              <a:t>和</a:t>
            </a:r>
            <a:r>
              <a:rPr lang="en-US" altLang="zh-CN" sz="2400" dirty="0"/>
              <a:t>IP</a:t>
            </a:r>
            <a:r>
              <a:rPr lang="zh-CN" altLang="en-US" sz="2400" dirty="0"/>
              <a:t>的内容进栈；然后将</a:t>
            </a:r>
            <a:r>
              <a:rPr lang="en-US" altLang="zh-CN" sz="2400" dirty="0"/>
              <a:t>0</a:t>
            </a:r>
            <a:r>
              <a:rPr lang="zh-CN" altLang="en-US" sz="2400" dirty="0"/>
              <a:t>、</a:t>
            </a:r>
            <a:r>
              <a:rPr lang="en-US" altLang="zh-CN" sz="2400" dirty="0"/>
              <a:t>1</a:t>
            </a:r>
            <a:r>
              <a:rPr lang="zh-CN" altLang="en-US" sz="2400" dirty="0"/>
              <a:t>两单元的内容填入</a:t>
            </a:r>
            <a:r>
              <a:rPr lang="en-US" altLang="zh-CN" sz="2400" dirty="0"/>
              <a:t>IP</a:t>
            </a:r>
            <a:r>
              <a:rPr lang="zh-CN" altLang="en-US" sz="2400" dirty="0"/>
              <a:t>，而将</a:t>
            </a:r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3</a:t>
            </a:r>
            <a:r>
              <a:rPr lang="zh-CN" altLang="en-US" sz="2400" dirty="0"/>
              <a:t>两单元的内容填入</a:t>
            </a:r>
            <a:r>
              <a:rPr lang="en-US" altLang="zh-CN" sz="2400" dirty="0"/>
              <a:t>CS</a:t>
            </a:r>
            <a:r>
              <a:rPr lang="zh-CN" altLang="en-US" sz="2400" dirty="0"/>
              <a:t>；进入</a:t>
            </a:r>
            <a:r>
              <a:rPr lang="en-US" altLang="zh-CN" sz="2400" dirty="0"/>
              <a:t>0</a:t>
            </a:r>
            <a:r>
              <a:rPr lang="zh-CN" altLang="en-US" sz="2400" dirty="0"/>
              <a:t>号中断的处理程序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2507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26031"/>
            <a:ext cx="8104384" cy="6369978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3-27</a:t>
            </a:r>
            <a:r>
              <a:rPr lang="zh-CN" altLang="en-US" b="1" dirty="0">
                <a:solidFill>
                  <a:srgbClr val="FF0000"/>
                </a:solidFill>
              </a:rPr>
              <a:t>试写出一个程序段，用</a:t>
            </a:r>
            <a:r>
              <a:rPr lang="en-US" altLang="zh-CN" b="1" dirty="0">
                <a:solidFill>
                  <a:srgbClr val="FF0000"/>
                </a:solidFill>
              </a:rPr>
              <a:t>CL</a:t>
            </a:r>
            <a:r>
              <a:rPr lang="zh-CN" altLang="en-US" b="1" dirty="0">
                <a:solidFill>
                  <a:srgbClr val="FF0000"/>
                </a:solidFill>
              </a:rPr>
              <a:t>中的数据除</a:t>
            </a:r>
            <a:r>
              <a:rPr lang="en-US" altLang="zh-CN" b="1" dirty="0">
                <a:solidFill>
                  <a:srgbClr val="FF0000"/>
                </a:solidFill>
              </a:rPr>
              <a:t>BL</a:t>
            </a:r>
            <a:r>
              <a:rPr lang="zh-CN" altLang="en-US" b="1" dirty="0">
                <a:solidFill>
                  <a:srgbClr val="FF0000"/>
                </a:solidFill>
              </a:rPr>
              <a:t>中的数据，然后将结果乘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，最后的结果的存入</a:t>
            </a:r>
            <a:r>
              <a:rPr lang="en-US" altLang="zh-CN" b="1" dirty="0">
                <a:solidFill>
                  <a:srgbClr val="FF0000"/>
                </a:solidFill>
              </a:rPr>
              <a:t>DX</a:t>
            </a:r>
            <a:r>
              <a:rPr lang="zh-CN" altLang="en-US" b="1" dirty="0">
                <a:solidFill>
                  <a:srgbClr val="FF0000"/>
                </a:solidFill>
              </a:rPr>
              <a:t>寄存器中的</a:t>
            </a:r>
            <a:r>
              <a:rPr lang="en-US" altLang="zh-CN" b="1" dirty="0">
                <a:solidFill>
                  <a:srgbClr val="FF0000"/>
                </a:solidFill>
              </a:rPr>
              <a:t>16</a:t>
            </a:r>
            <a:r>
              <a:rPr lang="zh-CN" altLang="en-US" b="1" dirty="0">
                <a:solidFill>
                  <a:srgbClr val="FF0000"/>
                </a:solidFill>
              </a:rPr>
              <a:t>位数。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dirty="0" smtClean="0"/>
              <a:t>解</a:t>
            </a:r>
            <a:r>
              <a:rPr lang="zh-CN" altLang="en-US" dirty="0"/>
              <a:t>：</a:t>
            </a:r>
            <a:r>
              <a:rPr lang="en-US" altLang="zh-CN" dirty="0"/>
              <a:t>MOV AH</a:t>
            </a:r>
            <a:r>
              <a:rPr lang="zh-CN" altLang="en-US" dirty="0"/>
              <a:t>，</a:t>
            </a:r>
            <a:r>
              <a:rPr lang="en-US" altLang="zh-CN" dirty="0"/>
              <a:t>0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dirty="0" smtClean="0"/>
              <a:t>MOV </a:t>
            </a:r>
            <a:r>
              <a:rPr lang="en-US" altLang="zh-CN" dirty="0"/>
              <a:t>AL</a:t>
            </a:r>
            <a:r>
              <a:rPr lang="zh-CN" altLang="en-US" dirty="0"/>
              <a:t>，</a:t>
            </a:r>
            <a:r>
              <a:rPr lang="en-US" altLang="zh-CN" dirty="0"/>
              <a:t>BL </a:t>
            </a:r>
            <a:r>
              <a:rPr lang="zh-CN" altLang="en-US" dirty="0"/>
              <a:t>；装入被除数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dirty="0" smtClean="0"/>
              <a:t>DIV </a:t>
            </a:r>
            <a:r>
              <a:rPr lang="en-US" altLang="zh-CN" dirty="0"/>
              <a:t>CL </a:t>
            </a:r>
            <a:r>
              <a:rPr lang="zh-CN" altLang="en-US" dirty="0"/>
              <a:t>；除以</a:t>
            </a:r>
            <a:r>
              <a:rPr lang="en-US" altLang="zh-CN" dirty="0"/>
              <a:t>CL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dirty="0" smtClean="0"/>
              <a:t>MOV </a:t>
            </a:r>
            <a:r>
              <a:rPr lang="en-US" altLang="zh-CN" dirty="0"/>
              <a:t>AH</a:t>
            </a:r>
            <a:r>
              <a:rPr lang="zh-CN" altLang="en-US" dirty="0"/>
              <a:t>，</a:t>
            </a:r>
            <a:r>
              <a:rPr lang="en-US" altLang="zh-CN" dirty="0"/>
              <a:t>0 </a:t>
            </a:r>
            <a:r>
              <a:rPr lang="zh-CN" altLang="en-US" dirty="0"/>
              <a:t>；忽略余数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dirty="0" smtClean="0"/>
              <a:t>SHL </a:t>
            </a:r>
            <a:r>
              <a:rPr lang="en-US" altLang="zh-CN" dirty="0"/>
              <a:t>AX</a:t>
            </a:r>
            <a:r>
              <a:rPr lang="zh-CN" altLang="en-US" dirty="0"/>
              <a:t>，</a:t>
            </a:r>
            <a:r>
              <a:rPr lang="en-US" altLang="zh-CN" dirty="0"/>
              <a:t>1 </a:t>
            </a:r>
            <a:r>
              <a:rPr lang="zh-CN" altLang="en-US" dirty="0"/>
              <a:t>；商乘以</a:t>
            </a:r>
            <a:r>
              <a:rPr lang="en-US" altLang="zh-CN" dirty="0"/>
              <a:t>2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dirty="0" smtClean="0"/>
              <a:t>MOV </a:t>
            </a:r>
            <a:r>
              <a:rPr lang="en-US" altLang="zh-CN" dirty="0"/>
              <a:t>DX</a:t>
            </a:r>
            <a:r>
              <a:rPr lang="zh-CN" altLang="en-US" dirty="0"/>
              <a:t>，</a:t>
            </a:r>
            <a:r>
              <a:rPr lang="en-US" altLang="zh-CN" dirty="0"/>
              <a:t>AX </a:t>
            </a:r>
            <a:r>
              <a:rPr lang="zh-CN" altLang="en-US" dirty="0"/>
              <a:t>；转存入</a:t>
            </a:r>
            <a:r>
              <a:rPr lang="en-US" altLang="zh-CN" dirty="0"/>
              <a:t>DX</a:t>
            </a:r>
          </a:p>
          <a:p>
            <a:pPr>
              <a:lnSpc>
                <a:spcPct val="110000"/>
              </a:lnSpc>
              <a:spcBef>
                <a:spcPts val="60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solidFill>
                  <a:srgbClr val="FF0000"/>
                </a:solidFill>
              </a:rPr>
              <a:t>3-29 </a:t>
            </a:r>
            <a:r>
              <a:rPr lang="zh-CN" altLang="en-US" b="1" dirty="0" smtClean="0">
                <a:solidFill>
                  <a:srgbClr val="FF0000"/>
                </a:solidFill>
              </a:rPr>
              <a:t>设计一个程序段，将</a:t>
            </a:r>
            <a:r>
              <a:rPr lang="en-US" altLang="zh-CN" b="1" dirty="0" smtClean="0">
                <a:solidFill>
                  <a:srgbClr val="FF0000"/>
                </a:solidFill>
              </a:rPr>
              <a:t>DI</a:t>
            </a:r>
            <a:r>
              <a:rPr lang="zh-CN" altLang="en-US" b="1" dirty="0" smtClean="0">
                <a:solidFill>
                  <a:srgbClr val="FF0000"/>
                </a:solidFill>
              </a:rPr>
              <a:t>中的最右</a:t>
            </a:r>
            <a:r>
              <a:rPr lang="en-US" altLang="zh-CN" b="1" dirty="0" smtClean="0">
                <a:solidFill>
                  <a:srgbClr val="FF0000"/>
                </a:solidFill>
              </a:rPr>
              <a:t>5</a:t>
            </a:r>
            <a:r>
              <a:rPr lang="zh-CN" altLang="en-US" b="1" dirty="0" smtClean="0">
                <a:solidFill>
                  <a:srgbClr val="FF0000"/>
                </a:solidFill>
              </a:rPr>
              <a:t>位置</a:t>
            </a:r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r>
              <a:rPr lang="zh-CN" altLang="en-US" b="1" dirty="0" smtClean="0">
                <a:solidFill>
                  <a:srgbClr val="FF0000"/>
                </a:solidFill>
              </a:rPr>
              <a:t>，而不改变</a:t>
            </a:r>
            <a:r>
              <a:rPr lang="en-US" altLang="zh-CN" b="1" dirty="0" smtClean="0">
                <a:solidFill>
                  <a:srgbClr val="FF0000"/>
                </a:solidFill>
              </a:rPr>
              <a:t>DI</a:t>
            </a:r>
            <a:r>
              <a:rPr lang="zh-CN" altLang="en-US" b="1" dirty="0" smtClean="0">
                <a:solidFill>
                  <a:srgbClr val="FF0000"/>
                </a:solidFill>
              </a:rPr>
              <a:t>中的其他位，结果存入</a:t>
            </a:r>
            <a:r>
              <a:rPr lang="en-US" altLang="zh-CN" b="1" dirty="0" smtClean="0">
                <a:solidFill>
                  <a:srgbClr val="FF0000"/>
                </a:solidFill>
              </a:rPr>
              <a:t>SI</a:t>
            </a:r>
            <a:r>
              <a:rPr lang="zh-CN" altLang="en-US" b="1" dirty="0" smtClean="0">
                <a:solidFill>
                  <a:srgbClr val="FF0000"/>
                </a:solidFill>
              </a:rPr>
              <a:t>中。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SzPct val="50000"/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OR DI,001FH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SzPct val="50000"/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MOV SI,DI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36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49" y="380141"/>
            <a:ext cx="8042739" cy="622614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b="1" dirty="0" smtClean="0">
                <a:solidFill>
                  <a:srgbClr val="FF0000"/>
                </a:solidFill>
              </a:rPr>
              <a:t>3.30 </a:t>
            </a:r>
            <a:r>
              <a:rPr lang="zh-CN" altLang="en-US" b="1" dirty="0" smtClean="0">
                <a:solidFill>
                  <a:srgbClr val="FF0000"/>
                </a:solidFill>
              </a:rPr>
              <a:t>选择正确的指令以实现下列任务。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(1) </a:t>
            </a:r>
            <a:r>
              <a:rPr lang="zh-CN" altLang="en-US" dirty="0" smtClean="0"/>
              <a:t>把</a:t>
            </a:r>
            <a:r>
              <a:rPr lang="en-US" altLang="zh-CN" dirty="0" smtClean="0"/>
              <a:t>DI</a:t>
            </a:r>
            <a:r>
              <a:rPr lang="zh-CN" altLang="en-US" dirty="0" smtClean="0"/>
              <a:t>右移</a:t>
            </a:r>
            <a:r>
              <a:rPr lang="en-US" altLang="zh-CN" dirty="0" smtClean="0"/>
              <a:t>3</a:t>
            </a:r>
            <a:r>
              <a:rPr lang="zh-CN" altLang="en-US" dirty="0" smtClean="0"/>
              <a:t>位，再把</a:t>
            </a:r>
            <a:r>
              <a:rPr lang="en-US" altLang="zh-CN" dirty="0" smtClean="0"/>
              <a:t>0</a:t>
            </a:r>
            <a:r>
              <a:rPr lang="zh-CN" altLang="en-US" dirty="0" smtClean="0"/>
              <a:t>移入最高位。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	MOV CL,3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SHR DI,CL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(2) </a:t>
            </a:r>
            <a:r>
              <a:rPr lang="zh-CN" altLang="en-US" dirty="0" smtClean="0"/>
              <a:t>把</a:t>
            </a:r>
            <a:r>
              <a:rPr lang="en-US" altLang="zh-CN" dirty="0" smtClean="0"/>
              <a:t>AL</a:t>
            </a:r>
            <a:r>
              <a:rPr lang="zh-CN" altLang="en-US" dirty="0" smtClean="0"/>
              <a:t>中的所有位左移一位，使</a:t>
            </a:r>
            <a:r>
              <a:rPr lang="en-US" altLang="zh-CN" dirty="0" smtClean="0"/>
              <a:t>0</a:t>
            </a:r>
            <a:r>
              <a:rPr lang="zh-CN" altLang="en-US" dirty="0" smtClean="0"/>
              <a:t>移入最低位。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SAL AL,1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(3)  AL</a:t>
            </a:r>
            <a:r>
              <a:rPr lang="zh-CN" altLang="en-US" dirty="0" smtClean="0"/>
              <a:t>循环左移</a:t>
            </a:r>
            <a:r>
              <a:rPr lang="en-US" altLang="zh-CN" dirty="0" smtClean="0"/>
              <a:t>3</a:t>
            </a:r>
            <a:r>
              <a:rPr lang="zh-CN" altLang="en-US" dirty="0" smtClean="0"/>
              <a:t>位。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MOV CL,3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ROL AL,CL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(4) DX</a:t>
            </a:r>
            <a:r>
              <a:rPr lang="zh-CN" altLang="en-US" dirty="0" smtClean="0"/>
              <a:t>带进位循环右移一位。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RCR DX,1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737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26031"/>
            <a:ext cx="7886700" cy="6369978"/>
          </a:xfrm>
        </p:spPr>
        <p:txBody>
          <a:bodyPr/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3-31 </a:t>
            </a:r>
            <a:r>
              <a:rPr lang="zh-CN" altLang="en-US" b="1" dirty="0" smtClean="0">
                <a:solidFill>
                  <a:srgbClr val="FF0000"/>
                </a:solidFill>
              </a:rPr>
              <a:t>见附录习题答案。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3-32 REPE CMPSB</a:t>
            </a:r>
            <a:r>
              <a:rPr lang="zh-CN" altLang="en-US" b="1" dirty="0" smtClean="0">
                <a:solidFill>
                  <a:srgbClr val="FF0000"/>
                </a:solidFill>
              </a:rPr>
              <a:t>指令实现什么功能，与</a:t>
            </a:r>
            <a:r>
              <a:rPr lang="en-US" altLang="zh-CN" b="1" dirty="0" smtClean="0">
                <a:solidFill>
                  <a:srgbClr val="FF0000"/>
                </a:solidFill>
              </a:rPr>
              <a:t> REPE CMPSD</a:t>
            </a:r>
            <a:r>
              <a:rPr lang="zh-CN" altLang="en-US" b="1" dirty="0" smtClean="0">
                <a:solidFill>
                  <a:srgbClr val="FF0000"/>
                </a:solidFill>
              </a:rPr>
              <a:t>指令有何区别。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REPE </a:t>
            </a:r>
            <a:r>
              <a:rPr lang="en-US" altLang="zh-CN" dirty="0" smtClean="0"/>
              <a:t>CMPSB </a:t>
            </a:r>
            <a:r>
              <a:rPr lang="zh-CN" altLang="en-US" dirty="0" smtClean="0"/>
              <a:t>为等于</a:t>
            </a:r>
            <a:r>
              <a:rPr lang="en-US" altLang="zh-CN" dirty="0" smtClean="0"/>
              <a:t>0</a:t>
            </a:r>
            <a:r>
              <a:rPr lang="zh-CN" altLang="en-US" dirty="0" smtClean="0"/>
              <a:t>重复串比较指令，对两个字节数据块的元素一一进行比较，找不相等的元素。每次可比较</a:t>
            </a:r>
            <a:r>
              <a:rPr lang="en-US" altLang="zh-CN" dirty="0" smtClean="0"/>
              <a:t>1</a:t>
            </a:r>
            <a:r>
              <a:rPr lang="zh-CN" altLang="en-US" dirty="0" smtClean="0"/>
              <a:t>字节数据。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REPE CMPSD</a:t>
            </a:r>
            <a:r>
              <a:rPr lang="zh-CN" altLang="en-US" dirty="0" smtClean="0"/>
              <a:t>与</a:t>
            </a:r>
            <a:r>
              <a:rPr lang="en-US" altLang="zh-CN" dirty="0" smtClean="0"/>
              <a:t>REPE CMBSB</a:t>
            </a:r>
            <a:r>
              <a:rPr lang="zh-CN" altLang="en-US" dirty="0" smtClean="0"/>
              <a:t>功能相同，只是对</a:t>
            </a:r>
            <a:r>
              <a:rPr lang="zh-CN" altLang="en-US" dirty="0"/>
              <a:t>双</a:t>
            </a:r>
            <a:r>
              <a:rPr lang="zh-CN" altLang="en-US" dirty="0" smtClean="0"/>
              <a:t>字数据块的元素进行比较，每次可比较</a:t>
            </a:r>
            <a:r>
              <a:rPr lang="en-US" altLang="zh-CN" dirty="0" smtClean="0"/>
              <a:t>4</a:t>
            </a:r>
            <a:r>
              <a:rPr lang="zh-CN" altLang="en-US" dirty="0" smtClean="0"/>
              <a:t>字节数据。</a:t>
            </a:r>
            <a:endParaRPr lang="en-US" altLang="zh-CN" dirty="0" smtClean="0"/>
          </a:p>
          <a:p>
            <a:pPr>
              <a:buSzPct val="50000"/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solidFill>
                  <a:srgbClr val="FF0000"/>
                </a:solidFill>
              </a:rPr>
              <a:t>3-33 REPZ SCASB</a:t>
            </a:r>
            <a:r>
              <a:rPr lang="zh-CN" altLang="en-US" b="1" dirty="0" smtClean="0">
                <a:solidFill>
                  <a:srgbClr val="FF0000"/>
                </a:solidFill>
              </a:rPr>
              <a:t>指令完成什么操作？与</a:t>
            </a:r>
            <a:r>
              <a:rPr lang="en-US" altLang="zh-CN" b="1" dirty="0" smtClean="0">
                <a:solidFill>
                  <a:srgbClr val="FF0000"/>
                </a:solidFill>
              </a:rPr>
              <a:t> REPZ SCASD</a:t>
            </a:r>
            <a:r>
              <a:rPr lang="zh-CN" altLang="en-US" b="1" dirty="0" smtClean="0">
                <a:solidFill>
                  <a:srgbClr val="FF0000"/>
                </a:solidFill>
              </a:rPr>
              <a:t>指令有何区别。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buSzPct val="50000"/>
              <a:buNone/>
            </a:pPr>
            <a:r>
              <a:rPr lang="en-US" altLang="zh-CN" dirty="0"/>
              <a:t> </a:t>
            </a:r>
            <a:r>
              <a:rPr lang="zh-CN" altLang="en-US" dirty="0" smtClean="0"/>
              <a:t>二者均为从目标串查找关键字，直到</a:t>
            </a:r>
            <a:r>
              <a:rPr lang="en-US" altLang="zh-CN" dirty="0" smtClean="0"/>
              <a:t>ZF=1</a:t>
            </a:r>
            <a:r>
              <a:rPr lang="zh-CN" altLang="en-US" dirty="0" smtClean="0"/>
              <a:t>（找到关键字）或</a:t>
            </a:r>
            <a:r>
              <a:rPr lang="en-US" altLang="zh-CN" dirty="0" smtClean="0"/>
              <a:t>CX=0</a:t>
            </a:r>
            <a:r>
              <a:rPr lang="zh-CN" altLang="en-US" dirty="0" smtClean="0"/>
              <a:t>（未找到）为止。</a:t>
            </a:r>
            <a:endParaRPr lang="en-US" altLang="zh-CN" dirty="0" smtClean="0"/>
          </a:p>
          <a:p>
            <a:pPr marL="0" indent="0">
              <a:buSzPct val="50000"/>
              <a:buNone/>
            </a:pPr>
            <a:r>
              <a:rPr lang="en-US" altLang="zh-CN" dirty="0" smtClean="0"/>
              <a:t> </a:t>
            </a:r>
            <a:r>
              <a:rPr lang="en-US" altLang="zh-CN" dirty="0"/>
              <a:t>REPZ </a:t>
            </a:r>
            <a:r>
              <a:rPr lang="en-US" altLang="zh-CN" dirty="0" smtClean="0"/>
              <a:t>SCASB </a:t>
            </a:r>
            <a:r>
              <a:rPr lang="zh-CN" altLang="en-US" dirty="0" smtClean="0"/>
              <a:t>每次查找字符串长度为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字节；</a:t>
            </a:r>
            <a:endParaRPr lang="en-US" altLang="zh-CN" dirty="0" smtClean="0"/>
          </a:p>
          <a:p>
            <a:pPr marL="0" indent="0">
              <a:buSzPct val="50000"/>
              <a:buNone/>
            </a:pPr>
            <a:r>
              <a:rPr lang="en-US" altLang="zh-CN" dirty="0"/>
              <a:t> REPZ </a:t>
            </a:r>
            <a:r>
              <a:rPr lang="en-US" altLang="zh-CN" dirty="0" smtClean="0"/>
              <a:t>SCASD </a:t>
            </a:r>
            <a:r>
              <a:rPr lang="zh-CN" altLang="en-US" dirty="0" smtClean="0"/>
              <a:t>每次查找字符串长度为双字。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33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7828" y="462337"/>
            <a:ext cx="7886700" cy="6133672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3-34 </a:t>
            </a:r>
            <a:r>
              <a:rPr lang="zh-CN" altLang="en-US" b="1" dirty="0" smtClean="0">
                <a:solidFill>
                  <a:srgbClr val="FF0000"/>
                </a:solidFill>
              </a:rPr>
              <a:t>程序无条件转移到以下不同位移量的目标地址，使用何种类型的</a:t>
            </a:r>
            <a:r>
              <a:rPr lang="en-US" altLang="zh-CN" b="1" dirty="0" smtClean="0">
                <a:solidFill>
                  <a:srgbClr val="FF0000"/>
                </a:solidFill>
              </a:rPr>
              <a:t>JMP</a:t>
            </a:r>
            <a:r>
              <a:rPr lang="zh-CN" altLang="en-US" b="1" dirty="0" smtClean="0">
                <a:solidFill>
                  <a:srgbClr val="FF0000"/>
                </a:solidFill>
              </a:rPr>
              <a:t>指令。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dirty="0"/>
              <a:t>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）位移量为</a:t>
            </a:r>
            <a:r>
              <a:rPr lang="en-US" altLang="zh-CN" dirty="0" smtClean="0"/>
              <a:t>0120H</a:t>
            </a:r>
            <a:r>
              <a:rPr lang="zh-CN" altLang="en-US" dirty="0" smtClean="0"/>
              <a:t>字节。</a:t>
            </a:r>
            <a:r>
              <a:rPr lang="en-US" altLang="zh-CN" dirty="0" smtClean="0"/>
              <a:t>-------</a:t>
            </a:r>
            <a:r>
              <a:rPr lang="zh-CN" altLang="en-US" dirty="0" smtClean="0"/>
              <a:t>段内直接转移</a:t>
            </a:r>
            <a:endParaRPr lang="en-US" altLang="zh-CN" dirty="0" smtClean="0"/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zh-CN" altLang="en-US" dirty="0"/>
              <a:t>位移量为</a:t>
            </a:r>
            <a:r>
              <a:rPr lang="en-US" altLang="zh-CN" dirty="0" smtClean="0"/>
              <a:t>0012H</a:t>
            </a:r>
            <a:r>
              <a:rPr lang="zh-CN" altLang="en-US" dirty="0"/>
              <a:t>字节。</a:t>
            </a:r>
            <a:r>
              <a:rPr lang="en-US" altLang="zh-CN" dirty="0"/>
              <a:t>-------</a:t>
            </a:r>
            <a:r>
              <a:rPr lang="zh-CN" altLang="en-US" dirty="0"/>
              <a:t>段内直接</a:t>
            </a:r>
            <a:r>
              <a:rPr lang="zh-CN" altLang="en-US" dirty="0" smtClean="0"/>
              <a:t>转移</a:t>
            </a:r>
            <a:endParaRPr lang="en-US" altLang="zh-CN" dirty="0" smtClean="0"/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zh-CN" altLang="en-US" dirty="0"/>
              <a:t>位移量</a:t>
            </a:r>
            <a:r>
              <a:rPr lang="zh-CN" altLang="en-US" dirty="0" smtClean="0"/>
              <a:t>为</a:t>
            </a:r>
            <a:r>
              <a:rPr lang="en-US" altLang="zh-CN" dirty="0" smtClean="0"/>
              <a:t>12000H</a:t>
            </a:r>
            <a:r>
              <a:rPr lang="zh-CN" altLang="en-US" dirty="0"/>
              <a:t>字节。</a:t>
            </a:r>
            <a:r>
              <a:rPr lang="en-US" altLang="zh-CN" dirty="0"/>
              <a:t>-------</a:t>
            </a:r>
            <a:r>
              <a:rPr lang="zh-CN" altLang="en-US" dirty="0" smtClean="0"/>
              <a:t>段间直接</a:t>
            </a:r>
            <a:r>
              <a:rPr lang="zh-CN" altLang="en-US" dirty="0"/>
              <a:t>转移</a:t>
            </a:r>
            <a:endParaRPr lang="en-US" altLang="zh-CN" dirty="0"/>
          </a:p>
          <a:p>
            <a:pPr>
              <a:lnSpc>
                <a:spcPct val="130000"/>
              </a:lnSpc>
              <a:spcBef>
                <a:spcPts val="60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solidFill>
                  <a:srgbClr val="FF0000"/>
                </a:solidFill>
              </a:rPr>
              <a:t>3-35 </a:t>
            </a:r>
            <a:r>
              <a:rPr lang="zh-CN" altLang="en-US" b="1" dirty="0" smtClean="0">
                <a:solidFill>
                  <a:srgbClr val="FF0000"/>
                </a:solidFill>
              </a:rPr>
              <a:t>已知指令</a:t>
            </a:r>
            <a:r>
              <a:rPr lang="en-US" altLang="zh-CN" b="1" dirty="0" smtClean="0">
                <a:solidFill>
                  <a:srgbClr val="FF0000"/>
                </a:solidFill>
              </a:rPr>
              <a:t>JMP NEAR PROG1 </a:t>
            </a:r>
            <a:r>
              <a:rPr lang="zh-CN" altLang="en-US" b="1" dirty="0" smtClean="0">
                <a:solidFill>
                  <a:srgbClr val="FF0000"/>
                </a:solidFill>
              </a:rPr>
              <a:t>在程序代码中的偏移地址为</a:t>
            </a:r>
            <a:r>
              <a:rPr lang="en-US" altLang="zh-CN" b="1" dirty="0" smtClean="0">
                <a:solidFill>
                  <a:srgbClr val="FF0000"/>
                </a:solidFill>
              </a:rPr>
              <a:t>2105H</a:t>
            </a:r>
            <a:r>
              <a:rPr lang="zh-CN" altLang="en-US" b="1" dirty="0" smtClean="0">
                <a:solidFill>
                  <a:srgbClr val="FF0000"/>
                </a:solidFill>
              </a:rPr>
              <a:t>，其机器码为</a:t>
            </a:r>
            <a:r>
              <a:rPr lang="en-US" altLang="zh-CN" b="1" dirty="0" smtClean="0">
                <a:solidFill>
                  <a:srgbClr val="FF0000"/>
                </a:solidFill>
              </a:rPr>
              <a:t>E91234H</a:t>
            </a:r>
            <a:r>
              <a:rPr lang="zh-CN" altLang="en-US" b="1" dirty="0" smtClean="0">
                <a:solidFill>
                  <a:srgbClr val="FF0000"/>
                </a:solidFill>
              </a:rPr>
              <a:t>。执行该指令后，问程序转移的偏移地址是多少？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SzPct val="50000"/>
              <a:buNone/>
            </a:pPr>
            <a:r>
              <a:rPr lang="en-US" altLang="zh-CN" dirty="0"/>
              <a:t>JMP NEAR </a:t>
            </a:r>
            <a:r>
              <a:rPr lang="en-US" altLang="zh-CN" dirty="0" smtClean="0"/>
              <a:t>PROG1</a:t>
            </a:r>
            <a:r>
              <a:rPr lang="zh-CN" altLang="en-US" dirty="0" smtClean="0"/>
              <a:t>为段内近转移指令，程序转移的偏移地址为：</a:t>
            </a:r>
            <a:r>
              <a:rPr lang="en-US" altLang="zh-CN" dirty="0" smtClean="0"/>
              <a:t>2105H+3+3412H=551AH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30000"/>
              </a:lnSpc>
              <a:spcBef>
                <a:spcPts val="600"/>
              </a:spcBef>
              <a:buSzPct val="50000"/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>
              <a:lnSpc>
                <a:spcPct val="130000"/>
              </a:lnSpc>
              <a:spcBef>
                <a:spcPts val="600"/>
              </a:spcBef>
              <a:buSzPct val="50000"/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>
              <a:lnSpc>
                <a:spcPct val="130000"/>
              </a:lnSpc>
              <a:spcBef>
                <a:spcPts val="600"/>
              </a:spcBef>
              <a:buSzPct val="50000"/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7389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3441" y="82192"/>
            <a:ext cx="8412608" cy="65446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3-36 </a:t>
            </a:r>
            <a:r>
              <a:rPr lang="zh-CN" altLang="en-US" b="1" dirty="0" smtClean="0">
                <a:solidFill>
                  <a:srgbClr val="FF0000"/>
                </a:solidFill>
              </a:rPr>
              <a:t>指令</a:t>
            </a:r>
            <a:r>
              <a:rPr lang="en-US" altLang="zh-CN" b="1" dirty="0" smtClean="0">
                <a:solidFill>
                  <a:srgbClr val="FF0000"/>
                </a:solidFill>
              </a:rPr>
              <a:t>JMP [DI]</a:t>
            </a:r>
            <a:r>
              <a:rPr lang="zh-CN" altLang="en-US" b="1" dirty="0" smtClean="0">
                <a:solidFill>
                  <a:srgbClr val="FF0000"/>
                </a:solidFill>
              </a:rPr>
              <a:t>和</a:t>
            </a:r>
            <a:r>
              <a:rPr lang="en-US" altLang="zh-CN" b="1" dirty="0" smtClean="0">
                <a:solidFill>
                  <a:srgbClr val="FF0000"/>
                </a:solidFill>
              </a:rPr>
              <a:t>JMP FAR PTR[DI]</a:t>
            </a:r>
            <a:r>
              <a:rPr lang="zh-CN" altLang="en-US" b="1" dirty="0" smtClean="0">
                <a:solidFill>
                  <a:srgbClr val="FF0000"/>
                </a:solidFill>
              </a:rPr>
              <a:t>有何区别？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JMP [DI]</a:t>
            </a:r>
            <a:r>
              <a:rPr lang="zh-CN" altLang="en-US" dirty="0" smtClean="0"/>
              <a:t>为段内间接转移指令，</a:t>
            </a:r>
            <a:r>
              <a:rPr lang="en-US" altLang="zh-CN" dirty="0" smtClean="0"/>
              <a:t>DI</a:t>
            </a:r>
            <a:r>
              <a:rPr lang="zh-CN" altLang="en-US" dirty="0" smtClean="0"/>
              <a:t>中内容为转移目标偏移地址；</a:t>
            </a:r>
            <a:r>
              <a:rPr lang="en-US" altLang="zh-CN" dirty="0"/>
              <a:t> JMP FAR PTR[DI</a:t>
            </a:r>
            <a:r>
              <a:rPr lang="en-US" altLang="zh-CN" dirty="0" smtClean="0"/>
              <a:t>]</a:t>
            </a:r>
            <a:r>
              <a:rPr lang="zh-CN" altLang="en-US" dirty="0" smtClean="0"/>
              <a:t>为段间直接远转移指令，</a:t>
            </a:r>
            <a:r>
              <a:rPr lang="en-US" altLang="zh-CN" dirty="0" smtClean="0"/>
              <a:t>[DI]</a:t>
            </a:r>
            <a:r>
              <a:rPr lang="zh-CN" altLang="en-US" dirty="0" smtClean="0"/>
              <a:t>中为目标标号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rgbClr val="FF0000"/>
                </a:solidFill>
              </a:rPr>
              <a:t>3-37 </a:t>
            </a:r>
            <a:r>
              <a:rPr lang="zh-CN" altLang="en-US" b="1" dirty="0" smtClean="0">
                <a:solidFill>
                  <a:srgbClr val="FF0000"/>
                </a:solidFill>
              </a:rPr>
              <a:t>参考答案</a:t>
            </a:r>
            <a:endParaRPr lang="en-US" altLang="zh-CN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3-38 </a:t>
            </a:r>
            <a:r>
              <a:rPr lang="zh-CN" altLang="en-US" b="1" dirty="0" smtClean="0">
                <a:solidFill>
                  <a:srgbClr val="FF0000"/>
                </a:solidFill>
              </a:rPr>
              <a:t>带参数的返回指令用在什么场合？设栈顶地址为</a:t>
            </a:r>
            <a:r>
              <a:rPr lang="en-US" altLang="zh-CN" b="1" dirty="0" smtClean="0">
                <a:solidFill>
                  <a:srgbClr val="FF0000"/>
                </a:solidFill>
              </a:rPr>
              <a:t>2000H</a:t>
            </a:r>
            <a:r>
              <a:rPr lang="zh-CN" altLang="en-US" b="1" dirty="0" smtClean="0">
                <a:solidFill>
                  <a:srgbClr val="FF0000"/>
                </a:solidFill>
              </a:rPr>
              <a:t>，执行</a:t>
            </a:r>
            <a:r>
              <a:rPr lang="en-US" altLang="zh-CN" b="1" dirty="0" smtClean="0">
                <a:solidFill>
                  <a:srgbClr val="FF0000"/>
                </a:solidFill>
              </a:rPr>
              <a:t>RET 0008</a:t>
            </a:r>
            <a:r>
              <a:rPr lang="zh-CN" altLang="en-US" b="1" dirty="0" smtClean="0">
                <a:solidFill>
                  <a:srgbClr val="FF0000"/>
                </a:solidFill>
              </a:rPr>
              <a:t>后，</a:t>
            </a:r>
            <a:r>
              <a:rPr lang="en-US" altLang="zh-CN" b="1" dirty="0" smtClean="0">
                <a:solidFill>
                  <a:srgbClr val="FF0000"/>
                </a:solidFill>
              </a:rPr>
              <a:t>SP</a:t>
            </a:r>
            <a:r>
              <a:rPr lang="zh-CN" altLang="en-US" b="1" dirty="0" smtClean="0">
                <a:solidFill>
                  <a:srgbClr val="FF0000"/>
                </a:solidFill>
              </a:rPr>
              <a:t>的值是多少？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带参数的返回指令用</a:t>
            </a:r>
            <a:r>
              <a:rPr lang="zh-CN" altLang="en-US" dirty="0" smtClean="0"/>
              <a:t>在调用程序通过堆栈向过程传送一些参数的</a:t>
            </a:r>
            <a:r>
              <a:rPr lang="zh-CN" altLang="en-US" dirty="0" smtClean="0"/>
              <a:t>场合，</a:t>
            </a:r>
            <a:r>
              <a:rPr lang="zh-CN" altLang="en-US" dirty="0" smtClean="0"/>
              <a:t>并在过程运行中使用这些参数，在过程执行完毕，这次参数应弹出堆栈作废。</a:t>
            </a:r>
            <a:r>
              <a:rPr lang="en-US" altLang="zh-CN" dirty="0" smtClean="0">
                <a:solidFill>
                  <a:srgbClr val="0000FF"/>
                </a:solidFill>
              </a:rPr>
              <a:t>RET n</a:t>
            </a:r>
            <a:r>
              <a:rPr lang="zh-CN" altLang="en-US" dirty="0" smtClean="0">
                <a:solidFill>
                  <a:srgbClr val="0000FF"/>
                </a:solidFill>
              </a:rPr>
              <a:t>相当于两条指令 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	RET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	ADD </a:t>
            </a:r>
            <a:r>
              <a:rPr lang="en-US" altLang="zh-CN" dirty="0" err="1" smtClean="0">
                <a:solidFill>
                  <a:srgbClr val="0000FF"/>
                </a:solidFill>
              </a:rPr>
              <a:t>SP,n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 smtClean="0">
                <a:solidFill>
                  <a:srgbClr val="0000FF"/>
                </a:solidFill>
              </a:rPr>
              <a:t>若为段间调用，执行</a:t>
            </a:r>
            <a:r>
              <a:rPr lang="en-US" altLang="zh-CN" dirty="0" smtClean="0">
                <a:solidFill>
                  <a:srgbClr val="0000FF"/>
                </a:solidFill>
              </a:rPr>
              <a:t>RET 0008</a:t>
            </a:r>
            <a:r>
              <a:rPr lang="zh-CN" altLang="en-US" dirty="0" smtClean="0">
                <a:solidFill>
                  <a:srgbClr val="0000FF"/>
                </a:solidFill>
              </a:rPr>
              <a:t>指令后，</a:t>
            </a:r>
            <a:r>
              <a:rPr lang="en-US" altLang="zh-CN" dirty="0" smtClean="0">
                <a:solidFill>
                  <a:srgbClr val="0000FF"/>
                </a:solidFill>
              </a:rPr>
              <a:t>SP=2000+8+4=200CH</a:t>
            </a:r>
            <a:r>
              <a:rPr lang="zh-CN" altLang="en-US" dirty="0" smtClean="0">
                <a:solidFill>
                  <a:srgbClr val="0000FF"/>
                </a:solidFill>
              </a:rPr>
              <a:t>；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 smtClean="0">
                <a:solidFill>
                  <a:srgbClr val="0000FF"/>
                </a:solidFill>
              </a:rPr>
              <a:t>若为段内调用，则</a:t>
            </a:r>
            <a:r>
              <a:rPr lang="en-US" altLang="zh-CN" dirty="0" smtClean="0">
                <a:solidFill>
                  <a:srgbClr val="0000FF"/>
                </a:solidFill>
              </a:rPr>
              <a:t>SP =2000+8+2=200AH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2099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7553" y="657547"/>
            <a:ext cx="7886700" cy="443843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3-39 </a:t>
            </a:r>
            <a:r>
              <a:rPr lang="zh-CN" altLang="en-US" b="1" dirty="0" smtClean="0">
                <a:solidFill>
                  <a:srgbClr val="FF0000"/>
                </a:solidFill>
              </a:rPr>
              <a:t>在执行中断返回指令</a:t>
            </a:r>
            <a:r>
              <a:rPr lang="en-US" altLang="zh-CN" b="1" dirty="0" smtClean="0">
                <a:solidFill>
                  <a:srgbClr val="FF0000"/>
                </a:solidFill>
              </a:rPr>
              <a:t>IRET</a:t>
            </a:r>
            <a:r>
              <a:rPr lang="zh-CN" altLang="en-US" b="1" dirty="0" smtClean="0">
                <a:solidFill>
                  <a:srgbClr val="FF0000"/>
                </a:solidFill>
              </a:rPr>
              <a:t>和过程返回指令</a:t>
            </a:r>
            <a:r>
              <a:rPr lang="en-US" altLang="zh-CN" b="1" dirty="0" smtClean="0">
                <a:solidFill>
                  <a:srgbClr val="FF0000"/>
                </a:solidFill>
              </a:rPr>
              <a:t>RET</a:t>
            </a:r>
            <a:r>
              <a:rPr lang="zh-CN" altLang="en-US" b="1" dirty="0" smtClean="0">
                <a:solidFill>
                  <a:srgbClr val="FF0000"/>
                </a:solidFill>
              </a:rPr>
              <a:t>时，具体操作内容有什么区别？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 smtClean="0"/>
              <a:t>  </a:t>
            </a:r>
            <a:r>
              <a:rPr lang="zh-CN" altLang="en-US" dirty="0" smtClean="0"/>
              <a:t>执行</a:t>
            </a:r>
            <a:r>
              <a:rPr lang="en-US" altLang="zh-CN" dirty="0" smtClean="0"/>
              <a:t>IRET</a:t>
            </a:r>
            <a:r>
              <a:rPr lang="zh-CN" altLang="en-US" dirty="0" smtClean="0"/>
              <a:t>指令的具体操作含</a:t>
            </a:r>
            <a:r>
              <a:rPr lang="en-US" altLang="zh-CN" dirty="0" smtClean="0"/>
              <a:t>3</a:t>
            </a:r>
            <a:r>
              <a:rPr lang="zh-CN" altLang="en-US" dirty="0" smtClean="0"/>
              <a:t>步：</a:t>
            </a:r>
            <a:endParaRPr lang="en-US" altLang="zh-CN" dirty="0" smtClean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先从堆栈弹出</a:t>
            </a:r>
            <a:r>
              <a:rPr lang="en-US" altLang="zh-CN" dirty="0" smtClean="0"/>
              <a:t>IP</a:t>
            </a:r>
            <a:r>
              <a:rPr lang="zh-CN" altLang="en-US" dirty="0" smtClean="0"/>
              <a:t>值，再弹出</a:t>
            </a:r>
            <a:r>
              <a:rPr lang="en-US" altLang="zh-CN" dirty="0" smtClean="0"/>
              <a:t>CS</a:t>
            </a:r>
            <a:r>
              <a:rPr lang="zh-CN" altLang="en-US" dirty="0" smtClean="0"/>
              <a:t>值，最后弹出</a:t>
            </a:r>
            <a:r>
              <a:rPr lang="en-US" altLang="zh-CN" dirty="0" smtClean="0"/>
              <a:t>FLAGS</a:t>
            </a:r>
            <a:r>
              <a:rPr lang="zh-CN" altLang="en-US" dirty="0" smtClean="0"/>
              <a:t>的值。</a:t>
            </a:r>
            <a:endParaRPr lang="en-US" altLang="zh-CN" dirty="0" smtClean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过程返回指令</a:t>
            </a:r>
            <a:r>
              <a:rPr lang="en-US" altLang="zh-CN" dirty="0" smtClean="0"/>
              <a:t>RET</a:t>
            </a:r>
            <a:r>
              <a:rPr lang="zh-CN" altLang="en-US" dirty="0" smtClean="0"/>
              <a:t>则只有前两步，无第三步。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0896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382624"/>
            <a:ext cx="7772400" cy="2387600"/>
          </a:xfrm>
        </p:spPr>
        <p:txBody>
          <a:bodyPr>
            <a:normAutofit/>
          </a:bodyPr>
          <a:lstStyle/>
          <a:p>
            <a:r>
              <a:rPr lang="zh-CN" altLang="en-US" sz="8800" b="1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第四章</a:t>
            </a:r>
            <a:endParaRPr lang="zh-CN" altLang="en-US" sz="8800" b="1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7200" b="1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习题解答</a:t>
            </a:r>
            <a:endParaRPr lang="zh-CN" altLang="en-US" sz="7200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779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26031"/>
            <a:ext cx="7886700" cy="636997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4.3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4.6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4.8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4.10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4.11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4.15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4.16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4.21</a:t>
            </a:r>
            <a:r>
              <a:rPr lang="zh-CN" altLang="en-US" b="1" dirty="0" smtClean="0">
                <a:solidFill>
                  <a:srgbClr val="FF0000"/>
                </a:solidFill>
              </a:rPr>
              <a:t>参考附录习题答案。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4.12-14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4.17-19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4.20</a:t>
            </a:r>
            <a:r>
              <a:rPr lang="zh-CN" altLang="en-US" b="1" dirty="0" smtClean="0">
                <a:solidFill>
                  <a:srgbClr val="FF0000"/>
                </a:solidFill>
              </a:rPr>
              <a:t>编程并上机调试。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4-1 MOV BX,DATA</a:t>
            </a:r>
            <a:r>
              <a:rPr lang="zh-CN" altLang="en-US" b="1" dirty="0" smtClean="0">
                <a:solidFill>
                  <a:srgbClr val="FF0000"/>
                </a:solidFill>
              </a:rPr>
              <a:t>和</a:t>
            </a:r>
            <a:r>
              <a:rPr lang="en-US" altLang="zh-CN" b="1" dirty="0" smtClean="0">
                <a:solidFill>
                  <a:srgbClr val="FF0000"/>
                </a:solidFill>
              </a:rPr>
              <a:t>MOV BX,OFFSET DATA</a:t>
            </a:r>
            <a:r>
              <a:rPr lang="zh-CN" altLang="en-US" b="1" dirty="0" smtClean="0">
                <a:solidFill>
                  <a:srgbClr val="FF0000"/>
                </a:solidFill>
              </a:rPr>
              <a:t>指令之间有何区别？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dirty="0" smtClean="0"/>
              <a:t>前者把变量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中的内容传送给</a:t>
            </a:r>
            <a:r>
              <a:rPr lang="en-US" altLang="zh-CN" dirty="0" smtClean="0"/>
              <a:t>BX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dirty="0" smtClean="0"/>
              <a:t>后者把变量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的偏移地址送给</a:t>
            </a:r>
            <a:r>
              <a:rPr lang="en-US" altLang="zh-CN" dirty="0" smtClean="0"/>
              <a:t>BX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4-2 </a:t>
            </a:r>
            <a:r>
              <a:rPr lang="zh-CN" altLang="en-US" b="1" dirty="0" smtClean="0">
                <a:solidFill>
                  <a:srgbClr val="FF0000"/>
                </a:solidFill>
              </a:rPr>
              <a:t>指令语句 </a:t>
            </a:r>
            <a:r>
              <a:rPr lang="en-US" altLang="zh-CN" b="1" dirty="0" smtClean="0">
                <a:solidFill>
                  <a:srgbClr val="FF0000"/>
                </a:solidFill>
              </a:rPr>
              <a:t>AND AX,OPD1 AND OPD2</a:t>
            </a:r>
            <a:r>
              <a:rPr lang="zh-CN" altLang="en-US" b="1" dirty="0" smtClean="0">
                <a:solidFill>
                  <a:srgbClr val="FF0000"/>
                </a:solidFill>
              </a:rPr>
              <a:t>中，</a:t>
            </a:r>
            <a:r>
              <a:rPr lang="en-US" altLang="zh-CN" b="1" dirty="0" smtClean="0">
                <a:solidFill>
                  <a:srgbClr val="FF0000"/>
                </a:solidFill>
              </a:rPr>
              <a:t>OPD1</a:t>
            </a:r>
            <a:r>
              <a:rPr lang="zh-CN" altLang="en-US" b="1" dirty="0" smtClean="0">
                <a:solidFill>
                  <a:srgbClr val="FF0000"/>
                </a:solidFill>
              </a:rPr>
              <a:t>和</a:t>
            </a:r>
            <a:r>
              <a:rPr lang="en-US" altLang="zh-CN" b="1" dirty="0" smtClean="0">
                <a:solidFill>
                  <a:srgbClr val="FF0000"/>
                </a:solidFill>
              </a:rPr>
              <a:t>OPD2</a:t>
            </a:r>
            <a:r>
              <a:rPr lang="zh-CN" altLang="en-US" b="1" dirty="0" smtClean="0">
                <a:solidFill>
                  <a:srgbClr val="FF0000"/>
                </a:solidFill>
              </a:rPr>
              <a:t>是两个已赋值的变量，两个</a:t>
            </a:r>
            <a:r>
              <a:rPr lang="en-US" altLang="zh-CN" b="1" dirty="0" smtClean="0">
                <a:solidFill>
                  <a:srgbClr val="FF0000"/>
                </a:solidFill>
              </a:rPr>
              <a:t>AND</a:t>
            </a:r>
            <a:r>
              <a:rPr lang="zh-CN" altLang="en-US" b="1" dirty="0" smtClean="0">
                <a:solidFill>
                  <a:srgbClr val="FF0000"/>
                </a:solidFill>
              </a:rPr>
              <a:t>在含义上和操作上有何区别？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均为逻辑‘与’运算，前者为助记符，出现在操作码部分，其运算是在执行指令时完成；</a:t>
            </a:r>
            <a:r>
              <a:rPr lang="zh-CN" altLang="en-US" dirty="0" smtClean="0"/>
              <a:t>后者为运算符，出现</a:t>
            </a:r>
            <a:r>
              <a:rPr lang="zh-CN" altLang="en-US" dirty="0" smtClean="0"/>
              <a:t>在操作数部分，是在汇编时由汇编程序完成。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2025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7951" y="133564"/>
            <a:ext cx="8846049" cy="663710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4-4 </a:t>
            </a:r>
            <a:r>
              <a:rPr lang="zh-CN" altLang="en-US" b="1" dirty="0" smtClean="0">
                <a:solidFill>
                  <a:srgbClr val="FF0000"/>
                </a:solidFill>
              </a:rPr>
              <a:t>已知某数据段中由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rgbClr val="FF0000"/>
                </a:solidFill>
              </a:rPr>
              <a:t>	COUNT1 EQU 16H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en-US" altLang="zh-CN" b="1" dirty="0" smtClean="0">
                <a:solidFill>
                  <a:srgbClr val="FF0000"/>
                </a:solidFill>
              </a:rPr>
              <a:t>COUNT2 DW 16H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r>
              <a:rPr lang="zh-CN" altLang="en-US" b="1" dirty="0" smtClean="0">
                <a:solidFill>
                  <a:srgbClr val="FF0000"/>
                </a:solidFill>
              </a:rPr>
              <a:t>则下面两条指令有何异同点：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en-US" altLang="zh-CN" b="1" dirty="0" smtClean="0">
                <a:solidFill>
                  <a:srgbClr val="FF0000"/>
                </a:solidFill>
              </a:rPr>
              <a:t>MOV AX,COUNT1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en-US" altLang="zh-CN" b="1" dirty="0" smtClean="0">
                <a:solidFill>
                  <a:srgbClr val="FF0000"/>
                </a:solidFill>
              </a:rPr>
              <a:t>MOV BX,COUNT2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dirty="0" smtClean="0"/>
              <a:t>解答：执行完后</a:t>
            </a:r>
            <a:r>
              <a:rPr lang="en-US" altLang="zh-CN" dirty="0" smtClean="0"/>
              <a:t>AX=BX=0016H</a:t>
            </a:r>
            <a:r>
              <a:rPr lang="zh-CN" altLang="en-US" dirty="0" smtClean="0"/>
              <a:t>，前者将立即数传送给</a:t>
            </a:r>
            <a:r>
              <a:rPr lang="en-US" altLang="zh-CN" dirty="0" smtClean="0"/>
              <a:t>AX,</a:t>
            </a:r>
            <a:r>
              <a:rPr lang="zh-CN" altLang="en-US" dirty="0" smtClean="0"/>
              <a:t>后者将变量</a:t>
            </a:r>
            <a:r>
              <a:rPr lang="en-US" altLang="zh-CN" dirty="0" smtClean="0"/>
              <a:t>COUNT2</a:t>
            </a:r>
            <a:r>
              <a:rPr lang="zh-CN" altLang="en-US" dirty="0" smtClean="0"/>
              <a:t>变量内容传送给</a:t>
            </a:r>
            <a:r>
              <a:rPr lang="en-US" altLang="zh-CN" dirty="0" smtClean="0"/>
              <a:t>BX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4-5 </a:t>
            </a:r>
            <a:r>
              <a:rPr lang="zh-CN" altLang="en-US" b="1" dirty="0" smtClean="0">
                <a:solidFill>
                  <a:srgbClr val="FF0000"/>
                </a:solidFill>
              </a:rPr>
              <a:t>下列程序段执行后，寄存器</a:t>
            </a:r>
            <a:r>
              <a:rPr lang="en-US" altLang="zh-CN" b="1" dirty="0" smtClean="0">
                <a:solidFill>
                  <a:srgbClr val="FF0000"/>
                </a:solidFill>
              </a:rPr>
              <a:t>AX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BX</a:t>
            </a:r>
            <a:r>
              <a:rPr lang="zh-CN" altLang="en-US" b="1" dirty="0" smtClean="0">
                <a:solidFill>
                  <a:srgbClr val="FF0000"/>
                </a:solidFill>
              </a:rPr>
              <a:t>和</a:t>
            </a:r>
            <a:r>
              <a:rPr lang="en-US" altLang="zh-CN" b="1" dirty="0" smtClean="0">
                <a:solidFill>
                  <a:srgbClr val="FF0000"/>
                </a:solidFill>
              </a:rPr>
              <a:t>CX</a:t>
            </a:r>
            <a:r>
              <a:rPr lang="zh-CN" altLang="en-US" b="1" dirty="0" smtClean="0">
                <a:solidFill>
                  <a:srgbClr val="FF0000"/>
                </a:solidFill>
              </a:rPr>
              <a:t>的内容分别是多少？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en-US" altLang="zh-CN" b="1" dirty="0" smtClean="0">
                <a:solidFill>
                  <a:srgbClr val="FF0000"/>
                </a:solidFill>
              </a:rPr>
              <a:t>ORG 0202H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rgbClr val="FF0000"/>
                </a:solidFill>
              </a:rPr>
              <a:t>DA_WORD DW 20H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en-US" altLang="zh-CN" b="1" dirty="0" smtClean="0">
                <a:solidFill>
                  <a:srgbClr val="FF0000"/>
                </a:solidFill>
              </a:rPr>
              <a:t>MOV AX,DA_WORD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en-US" altLang="zh-CN" b="1" dirty="0" smtClean="0">
                <a:solidFill>
                  <a:srgbClr val="FF0000"/>
                </a:solidFill>
              </a:rPr>
              <a:t>MOV BX,OFFSET DA_WORD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en-US" altLang="zh-CN" b="1" dirty="0" smtClean="0">
                <a:solidFill>
                  <a:srgbClr val="FF0000"/>
                </a:solidFill>
              </a:rPr>
              <a:t>MOV CL,BYTE PTR DA_WORD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en-US" altLang="zh-CN" b="1" dirty="0" smtClean="0">
                <a:solidFill>
                  <a:srgbClr val="FF0000"/>
                </a:solidFill>
              </a:rPr>
              <a:t>MOV CH,TYPE DA_WORD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dirty="0" smtClean="0"/>
              <a:t>解答：</a:t>
            </a:r>
            <a:r>
              <a:rPr lang="en-US" altLang="zh-CN" dirty="0" smtClean="0"/>
              <a:t>AX=0020H</a:t>
            </a:r>
            <a:r>
              <a:rPr lang="en-US" altLang="zh-CN" dirty="0" smtClean="0">
                <a:solidFill>
                  <a:srgbClr val="0000FF"/>
                </a:solidFill>
              </a:rPr>
              <a:t>, BX=0202H</a:t>
            </a:r>
            <a:r>
              <a:rPr lang="en-US" altLang="zh-CN" dirty="0" smtClean="0"/>
              <a:t>, CX=0220H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0099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26031"/>
            <a:ext cx="7886700" cy="636997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4-7 </a:t>
            </a:r>
            <a:r>
              <a:rPr lang="zh-CN" altLang="en-US" b="1" dirty="0" smtClean="0">
                <a:solidFill>
                  <a:srgbClr val="FF0000"/>
                </a:solidFill>
              </a:rPr>
              <a:t>假设数据段的定义如下所示：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 P1 DW ?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rgbClr val="FF0000"/>
                </a:solidFill>
              </a:rPr>
              <a:t>  P2 DB 32 DUP(?)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rgbClr val="FF0000"/>
                </a:solidFill>
              </a:rPr>
              <a:t>  PLENTH EQU $-P1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rgbClr val="FF0000"/>
                </a:solidFill>
              </a:rPr>
              <a:t>PLENTH </a:t>
            </a:r>
            <a:r>
              <a:rPr lang="zh-CN" altLang="en-US" b="1" dirty="0" smtClean="0">
                <a:solidFill>
                  <a:srgbClr val="FF0000"/>
                </a:solidFill>
              </a:rPr>
              <a:t>的值为多少？它表示什么意义？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PLENTH</a:t>
            </a:r>
            <a:r>
              <a:rPr lang="zh-CN" altLang="en-US" dirty="0" smtClean="0"/>
              <a:t>的值为</a:t>
            </a:r>
            <a:r>
              <a:rPr lang="en-US" altLang="zh-CN" b="1" dirty="0" smtClean="0">
                <a:solidFill>
                  <a:srgbClr val="0000FF"/>
                </a:solidFill>
              </a:rPr>
              <a:t>34</a:t>
            </a:r>
            <a:r>
              <a:rPr lang="zh-CN" altLang="en-US" dirty="0" smtClean="0"/>
              <a:t>，表示</a:t>
            </a:r>
            <a:r>
              <a:rPr lang="en-US" altLang="zh-CN" dirty="0" smtClean="0"/>
              <a:t>P1</a:t>
            </a:r>
            <a:r>
              <a:rPr lang="zh-CN" altLang="en-US" dirty="0" smtClean="0"/>
              <a:t>和</a:t>
            </a:r>
            <a:r>
              <a:rPr lang="en-US" altLang="zh-CN" dirty="0" smtClean="0"/>
              <a:t>P2</a:t>
            </a:r>
            <a:r>
              <a:rPr lang="zh-CN" altLang="en-US" dirty="0" smtClean="0"/>
              <a:t>定义的数组变量所占用的内存空间的字节数。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0000"/>
                </a:solidFill>
              </a:rPr>
              <a:t>4-9 </a:t>
            </a:r>
            <a:r>
              <a:rPr lang="zh-CN" altLang="en-US" b="1" dirty="0" smtClean="0">
                <a:solidFill>
                  <a:srgbClr val="FF0000"/>
                </a:solidFill>
              </a:rPr>
              <a:t>某数据段数据区如下表示，画出该数据段内容在内存中的存放形式（用十六进制补码表示，按字节组织）。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60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26031"/>
            <a:ext cx="7886700" cy="636997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DATA SEGMENT</a:t>
            </a:r>
          </a:p>
          <a:p>
            <a:pPr marL="0" indent="0">
              <a:buNone/>
            </a:pPr>
            <a:r>
              <a:rPr lang="en-US" altLang="zh-CN" dirty="0" smtClean="0"/>
              <a:t>DB1 DB 12H,34H,0,56H</a:t>
            </a:r>
          </a:p>
          <a:p>
            <a:pPr marL="0" indent="0">
              <a:buNone/>
            </a:pPr>
            <a:r>
              <a:rPr lang="en-US" altLang="zh-CN" dirty="0" smtClean="0"/>
              <a:t>DW1 DW 78H,90H,0AB46H,1234H</a:t>
            </a:r>
          </a:p>
          <a:p>
            <a:pPr marL="0" indent="0">
              <a:buNone/>
            </a:pPr>
            <a:r>
              <a:rPr lang="en-US" altLang="zh-CN" dirty="0" smtClean="0"/>
              <a:t>ADR1 DW DB1</a:t>
            </a:r>
          </a:p>
          <a:p>
            <a:pPr marL="0" indent="0">
              <a:buNone/>
            </a:pPr>
            <a:r>
              <a:rPr lang="en-US" altLang="zh-CN" dirty="0" smtClean="0"/>
              <a:t>ADR2 DW DW1</a:t>
            </a:r>
          </a:p>
          <a:p>
            <a:pPr marL="0" indent="0">
              <a:buNone/>
            </a:pPr>
            <a:r>
              <a:rPr lang="en-US" altLang="zh-CN" dirty="0" smtClean="0"/>
              <a:t>AAA DW $-DB1</a:t>
            </a:r>
          </a:p>
          <a:p>
            <a:pPr marL="0" indent="0">
              <a:buNone/>
            </a:pPr>
            <a:r>
              <a:rPr lang="en-US" altLang="zh-CN" dirty="0" smtClean="0"/>
              <a:t>BUF DB 5 DUP(0)</a:t>
            </a:r>
          </a:p>
          <a:p>
            <a:pPr marL="0" indent="0">
              <a:buNone/>
            </a:pPr>
            <a:r>
              <a:rPr lang="en-US" altLang="zh-CN" dirty="0" smtClean="0"/>
              <a:t>DATA ENDS</a:t>
            </a:r>
            <a:endParaRPr lang="zh-CN" altLang="en-US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336869"/>
              </p:ext>
            </p:extLst>
          </p:nvPr>
        </p:nvGraphicFramePr>
        <p:xfrm>
          <a:off x="3452116" y="2332233"/>
          <a:ext cx="5342563" cy="391165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893852"/>
                <a:gridCol w="771645"/>
                <a:gridCol w="1005785"/>
                <a:gridCol w="876007"/>
                <a:gridCol w="908451"/>
                <a:gridCol w="886823"/>
              </a:tblGrid>
              <a:tr h="488957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DB1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12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46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AAA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10</a:t>
                      </a:r>
                      <a:endParaRPr lang="zh-CN" altLang="en-US" sz="2400" dirty="0"/>
                    </a:p>
                  </a:txBody>
                  <a:tcPr/>
                </a:tc>
              </a:tr>
              <a:tr h="488957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34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D5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00</a:t>
                      </a:r>
                      <a:endParaRPr lang="zh-CN" altLang="en-US" sz="2400" dirty="0"/>
                    </a:p>
                  </a:txBody>
                  <a:tcPr/>
                </a:tc>
              </a:tr>
              <a:tr h="488957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00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34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BUF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00</a:t>
                      </a:r>
                      <a:endParaRPr lang="zh-CN" altLang="en-US" sz="2400" dirty="0"/>
                    </a:p>
                  </a:txBody>
                  <a:tcPr/>
                </a:tc>
              </a:tr>
              <a:tr h="488957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56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12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00</a:t>
                      </a:r>
                      <a:endParaRPr lang="zh-CN" altLang="en-US" sz="2400" dirty="0"/>
                    </a:p>
                  </a:txBody>
                  <a:tcPr/>
                </a:tc>
              </a:tr>
              <a:tr h="488957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DW1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78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ADR1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00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00</a:t>
                      </a:r>
                      <a:endParaRPr lang="zh-CN" altLang="en-US" sz="2400" dirty="0"/>
                    </a:p>
                  </a:txBody>
                  <a:tcPr/>
                </a:tc>
              </a:tr>
              <a:tr h="488957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00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00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00</a:t>
                      </a:r>
                      <a:endParaRPr lang="zh-CN" altLang="en-US" sz="2400" dirty="0"/>
                    </a:p>
                  </a:txBody>
                  <a:tcPr/>
                </a:tc>
              </a:tr>
              <a:tr h="488957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F0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ADR2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04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00</a:t>
                      </a:r>
                      <a:endParaRPr lang="zh-CN" altLang="en-US" sz="2400" dirty="0"/>
                    </a:p>
                  </a:txBody>
                  <a:tcPr/>
                </a:tc>
              </a:tr>
              <a:tr h="488957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00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00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87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26031"/>
            <a:ext cx="7886700" cy="6369978"/>
          </a:xfrm>
        </p:spPr>
        <p:txBody>
          <a:bodyPr/>
          <a:lstStyle/>
          <a:p>
            <a:r>
              <a:rPr lang="zh-CN" altLang="en-US" dirty="0" smtClean="0"/>
              <a:t>补例</a:t>
            </a:r>
            <a:r>
              <a:rPr lang="en-US" altLang="zh-CN" dirty="0" smtClean="0"/>
              <a:t>1</a:t>
            </a:r>
          </a:p>
          <a:p>
            <a:pPr marL="0" indent="0">
              <a:buNone/>
            </a:pPr>
            <a:r>
              <a:rPr lang="zh-CN" altLang="en-US" dirty="0" smtClean="0"/>
              <a:t>以下数据区在内存中如何存储？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DATA SEGMENT</a:t>
            </a:r>
          </a:p>
          <a:p>
            <a:pPr marL="0" indent="0">
              <a:buNone/>
            </a:pPr>
            <a:r>
              <a:rPr lang="en-US" altLang="zh-CN" dirty="0" smtClean="0"/>
              <a:t>MEMS DB ‘TOM..’ , 20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DB ‘CATE’ , 25</a:t>
            </a:r>
          </a:p>
          <a:p>
            <a:pPr marL="0" indent="0">
              <a:buNone/>
            </a:pPr>
            <a:r>
              <a:rPr lang="en-US" altLang="zh-CN" dirty="0" smtClean="0"/>
              <a:t>DATA ENDS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013332"/>
              </p:ext>
            </p:extLst>
          </p:nvPr>
        </p:nvGraphicFramePr>
        <p:xfrm>
          <a:off x="5013788" y="1397000"/>
          <a:ext cx="1859623" cy="50292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85962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54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4F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4D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2E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2E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14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43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41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54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45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19</a:t>
                      </a:r>
                      <a:endParaRPr lang="zh-CN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3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26031"/>
            <a:ext cx="7886700" cy="636997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补</a:t>
            </a:r>
            <a:r>
              <a:rPr lang="zh-CN" altLang="en-US" dirty="0" smtClean="0"/>
              <a:t>例</a:t>
            </a:r>
            <a:r>
              <a:rPr lang="en-US" altLang="zh-CN" dirty="0" smtClean="0"/>
              <a:t>2</a:t>
            </a:r>
            <a:r>
              <a:rPr lang="zh-CN" altLang="en-US" dirty="0"/>
              <a:t> </a:t>
            </a:r>
            <a:r>
              <a:rPr lang="zh-CN" altLang="en-US" dirty="0" smtClean="0"/>
              <a:t>阅读程序段说明程序段的功能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DATA SEGMENT</a:t>
            </a:r>
          </a:p>
          <a:p>
            <a:pPr marL="0" indent="0">
              <a:buNone/>
            </a:pPr>
            <a:r>
              <a:rPr lang="en-US" altLang="zh-CN" dirty="0" smtClean="0"/>
              <a:t>A DB ‘123ABC’</a:t>
            </a:r>
          </a:p>
          <a:p>
            <a:pPr marL="0" indent="0">
              <a:buNone/>
            </a:pPr>
            <a:r>
              <a:rPr lang="en-US" altLang="zh-CN" dirty="0" smtClean="0"/>
              <a:t>DATA ENDS</a:t>
            </a:r>
          </a:p>
          <a:p>
            <a:pPr marL="0" indent="0">
              <a:buNone/>
            </a:pPr>
            <a:r>
              <a:rPr lang="en-US" altLang="zh-CN" dirty="0" smtClean="0"/>
              <a:t>CODE SEGMENT</a:t>
            </a:r>
          </a:p>
          <a:p>
            <a:pPr marL="0" indent="0">
              <a:buNone/>
            </a:pPr>
            <a:r>
              <a:rPr lang="en-US" altLang="zh-CN" dirty="0" smtClean="0"/>
              <a:t>ASSUME CS:CODE,DS:DATA</a:t>
            </a:r>
          </a:p>
          <a:p>
            <a:pPr marL="0" indent="0">
              <a:buNone/>
            </a:pPr>
            <a:r>
              <a:rPr lang="en-US" altLang="zh-CN" dirty="0" smtClean="0"/>
              <a:t>START: MOV AX,DATA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 MOV DS,AX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 LEA BX,A			LOOP LP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 MOV CX,6			MOV AH,4CH</a:t>
            </a:r>
          </a:p>
          <a:p>
            <a:pPr marL="0" indent="0">
              <a:buNone/>
            </a:pPr>
            <a:r>
              <a:rPr lang="en-US" altLang="zh-CN" dirty="0" smtClean="0"/>
              <a:t>LP:	 MOV AH,2	</a:t>
            </a:r>
            <a:r>
              <a:rPr lang="en-US" altLang="zh-CN" dirty="0"/>
              <a:t>		INT </a:t>
            </a:r>
            <a:r>
              <a:rPr lang="en-US" altLang="zh-CN" dirty="0" smtClean="0"/>
              <a:t>21H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MOV AL,[BX]</a:t>
            </a:r>
            <a:r>
              <a:rPr lang="en-US" altLang="zh-CN" dirty="0" smtClean="0"/>
              <a:t>		</a:t>
            </a:r>
            <a:r>
              <a:rPr lang="en-US" altLang="zh-CN" dirty="0"/>
              <a:t>	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XCHG </a:t>
            </a:r>
            <a:r>
              <a:rPr lang="en-US" altLang="zh-CN" dirty="0" smtClean="0"/>
              <a:t>AL,DL	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INC BX</a:t>
            </a:r>
            <a:r>
              <a:rPr lang="en-US" altLang="zh-CN" dirty="0" smtClean="0"/>
              <a:t>		</a:t>
            </a:r>
            <a:r>
              <a:rPr lang="en-US" altLang="zh-CN" dirty="0" smtClean="0"/>
              <a:t>		CODE </a:t>
            </a:r>
            <a:r>
              <a:rPr lang="en-US" altLang="zh-CN" dirty="0" smtClean="0"/>
              <a:t>ENDS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 INT 21H			END START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794625" y="1356189"/>
            <a:ext cx="32260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在屏幕上依次输出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 123ABC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78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26031"/>
            <a:ext cx="7886700" cy="6369978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补</a:t>
            </a:r>
            <a:r>
              <a:rPr lang="zh-CN" altLang="en-US" dirty="0" smtClean="0"/>
              <a:t>例</a:t>
            </a:r>
            <a:r>
              <a:rPr lang="en-US" altLang="zh-CN" dirty="0" smtClean="0"/>
              <a:t>3 </a:t>
            </a:r>
          </a:p>
          <a:p>
            <a:pPr marL="0" indent="0">
              <a:buNone/>
            </a:pPr>
            <a:r>
              <a:rPr lang="en-US" altLang="zh-CN" dirty="0" smtClean="0"/>
              <a:t>DATA SEGMENT</a:t>
            </a:r>
          </a:p>
          <a:p>
            <a:pPr marL="0" indent="0">
              <a:buNone/>
            </a:pPr>
            <a:r>
              <a:rPr lang="en-US" altLang="zh-CN" dirty="0" smtClean="0"/>
              <a:t>TABLE DW 3400H,5600H,2300H,4500H,2300H,1200H,</a:t>
            </a:r>
          </a:p>
          <a:p>
            <a:pPr marL="0" indent="0">
              <a:buNone/>
            </a:pPr>
            <a:r>
              <a:rPr lang="en-US" altLang="zh-CN" dirty="0" smtClean="0"/>
              <a:t>2344H,3500H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DATA ENDS </a:t>
            </a:r>
          </a:p>
          <a:p>
            <a:pPr marL="0" indent="0">
              <a:buNone/>
            </a:pPr>
            <a:r>
              <a:rPr lang="en-US" altLang="zh-CN" dirty="0" smtClean="0"/>
              <a:t>CODE SEGMENT</a:t>
            </a:r>
          </a:p>
          <a:p>
            <a:pPr marL="0" indent="0">
              <a:buNone/>
            </a:pPr>
            <a:r>
              <a:rPr lang="en-US" altLang="zh-CN" dirty="0" smtClean="0"/>
              <a:t>ASSUME CS:CODE,DS:DATA</a:t>
            </a:r>
          </a:p>
          <a:p>
            <a:pPr marL="0" indent="0">
              <a:buNone/>
            </a:pPr>
            <a:r>
              <a:rPr lang="en-US" altLang="zh-CN" dirty="0" smtClean="0"/>
              <a:t>START: MOV AX,DATA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 MOV DS,AX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 MOV BX,OFFSET TABLE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 MOV SI,06H</a:t>
            </a:r>
          </a:p>
          <a:p>
            <a:pPr marL="0" indent="0">
              <a:buNone/>
            </a:pPr>
            <a:r>
              <a:rPr lang="en-US" altLang="zh-CN" dirty="0" smtClean="0"/>
              <a:t>A: JMP DWORD PTR [BX+SI+2]</a:t>
            </a:r>
          </a:p>
          <a:p>
            <a:pPr marL="0" indent="0">
              <a:buNone/>
            </a:pPr>
            <a:r>
              <a:rPr lang="zh-CN" altLang="en-US" dirty="0" smtClean="0"/>
              <a:t>程序执行完标号为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的指令后：</a:t>
            </a:r>
            <a:r>
              <a:rPr lang="en-US" altLang="zh-CN" dirty="0" smtClean="0"/>
              <a:t>CS= </a:t>
            </a:r>
            <a:r>
              <a:rPr lang="en-US" altLang="zh-CN" u="sng" dirty="0" smtClean="0"/>
              <a:t>        </a:t>
            </a:r>
            <a:r>
              <a:rPr lang="en-US" altLang="zh-CN" dirty="0" smtClean="0"/>
              <a:t>,IP=</a:t>
            </a:r>
            <a:r>
              <a:rPr lang="en-US" altLang="zh-CN" u="sng" dirty="0" smtClean="0"/>
              <a:t>        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u="sng" dirty="0" smtClean="0"/>
              <a:t>1200H     </a:t>
            </a:r>
            <a:r>
              <a:rPr lang="en-US" altLang="zh-CN" u="sng" dirty="0"/>
              <a:t>2300H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455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2892" y="246580"/>
            <a:ext cx="8258496" cy="645217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补</a:t>
            </a:r>
            <a:r>
              <a:rPr lang="zh-CN" altLang="en-US" dirty="0" smtClean="0"/>
              <a:t>例</a:t>
            </a:r>
            <a:r>
              <a:rPr lang="en-US" altLang="zh-CN" dirty="0" smtClean="0"/>
              <a:t>4 </a:t>
            </a:r>
            <a:r>
              <a:rPr lang="zh-CN" altLang="en-US" dirty="0" smtClean="0"/>
              <a:t>如果从</a:t>
            </a:r>
            <a:r>
              <a:rPr lang="en-US" altLang="zh-CN" dirty="0" smtClean="0"/>
              <a:t>380H</a:t>
            </a:r>
            <a:r>
              <a:rPr lang="zh-CN" altLang="en-US" dirty="0" smtClean="0"/>
              <a:t>端口输入</a:t>
            </a:r>
            <a:r>
              <a:rPr lang="en-US" altLang="zh-CN" dirty="0" smtClean="0"/>
              <a:t>45H</a:t>
            </a:r>
            <a:r>
              <a:rPr lang="zh-CN" altLang="en-US" dirty="0" smtClean="0"/>
              <a:t>，则程序执行后</a:t>
            </a:r>
            <a:r>
              <a:rPr lang="en-US" altLang="zh-CN" dirty="0" smtClean="0"/>
              <a:t>BX=</a:t>
            </a:r>
            <a:r>
              <a:rPr lang="en-US" altLang="zh-CN" u="sng" dirty="0" smtClean="0"/>
              <a:t>        </a:t>
            </a:r>
            <a:r>
              <a:rPr lang="en-US" altLang="zh-CN" dirty="0" smtClean="0"/>
              <a:t>,AL= </a:t>
            </a:r>
            <a:r>
              <a:rPr lang="en-US" altLang="zh-CN" u="sng" dirty="0" smtClean="0"/>
              <a:t>        </a:t>
            </a:r>
            <a:r>
              <a:rPr lang="en-US" altLang="zh-CN" dirty="0" smtClean="0"/>
              <a:t>.SUM0~SUM7</a:t>
            </a:r>
            <a:r>
              <a:rPr lang="zh-CN" altLang="en-US" dirty="0" smtClean="0"/>
              <a:t>的内容为：</a:t>
            </a:r>
            <a:r>
              <a:rPr lang="zh-CN" altLang="en-US" u="sng" dirty="0" smtClean="0"/>
              <a:t>                               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DATA SEGMENT	           </a:t>
            </a:r>
          </a:p>
          <a:p>
            <a:pPr marL="0" indent="0">
              <a:buNone/>
            </a:pPr>
            <a:r>
              <a:rPr lang="en-US" altLang="zh-CN" dirty="0" smtClean="0"/>
              <a:t>SUM DB 8 DUP(0)</a:t>
            </a:r>
          </a:p>
          <a:p>
            <a:pPr marL="0" indent="0">
              <a:buNone/>
            </a:pPr>
            <a:r>
              <a:rPr lang="en-US" altLang="zh-CN" dirty="0" smtClean="0"/>
              <a:t>DATA ENDS</a:t>
            </a:r>
          </a:p>
          <a:p>
            <a:pPr marL="0" indent="0">
              <a:buNone/>
            </a:pPr>
            <a:r>
              <a:rPr lang="en-US" altLang="zh-CN" dirty="0" smtClean="0"/>
              <a:t>CODE SEGMENT</a:t>
            </a:r>
          </a:p>
          <a:p>
            <a:pPr marL="0" indent="0">
              <a:buNone/>
            </a:pPr>
            <a:r>
              <a:rPr lang="en-US" altLang="zh-CN" dirty="0" smtClean="0"/>
              <a:t>ASSUME CS:CODE,DS:DATA</a:t>
            </a:r>
          </a:p>
          <a:p>
            <a:pPr marL="0" indent="0">
              <a:buNone/>
            </a:pPr>
            <a:r>
              <a:rPr lang="en-US" altLang="zh-CN" dirty="0" smtClean="0"/>
              <a:t>START: MOV AX,DATA		JNC NEXT1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 MOV DS,AX			MOV BYTE PTR[BX],0FFH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 LEA BX,SUM			JMP NEXT2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 MOV DX,380H	NEXT1:MOV BYTE PTR[BX],0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 IN AL,DX		NEXT2:INC BX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 MOV CX,8		LOOP NEXT</a:t>
            </a:r>
          </a:p>
          <a:p>
            <a:pPr marL="0" indent="0">
              <a:buNone/>
            </a:pPr>
            <a:r>
              <a:rPr lang="en-US" altLang="zh-CN" dirty="0" smtClean="0"/>
              <a:t>NEXT:	 ROR AL,1		⁞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941868" y="1284269"/>
            <a:ext cx="3811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0000FF"/>
                </a:solidFill>
              </a:rPr>
              <a:t>8, 45H</a:t>
            </a:r>
          </a:p>
          <a:p>
            <a:r>
              <a:rPr lang="en-US" altLang="zh-CN" sz="2800" dirty="0" smtClean="0">
                <a:solidFill>
                  <a:srgbClr val="0000FF"/>
                </a:solidFill>
              </a:rPr>
              <a:t>FF,0,FF,0,0,0,FF,0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24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158" y="-27384"/>
            <a:ext cx="864399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3333CC"/>
                </a:solidFill>
                <a:latin typeface="Arial" charset="0"/>
              </a:rPr>
              <a:t>实验题目</a:t>
            </a:r>
            <a:endParaRPr lang="en-US" altLang="zh-CN" sz="3600" b="1" dirty="0" smtClean="0">
              <a:solidFill>
                <a:srgbClr val="3333CC"/>
              </a:solidFill>
              <a:latin typeface="Arial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1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、编写一个程序，使存放在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DATA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和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DATA+1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单元的两个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8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位带符号数相乘，并将乘积存放在 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DATA +2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和 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DATA+3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单元（高位在后）中。</a:t>
            </a:r>
            <a:endParaRPr lang="en-US" altLang="zh-CN" sz="2800" b="1" dirty="0" smtClean="0">
              <a:solidFill>
                <a:srgbClr val="000000"/>
              </a:solidFill>
              <a:latin typeface="Arial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2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、用</a:t>
            </a:r>
            <a:r>
              <a:rPr lang="zh-CN" altLang="en-US" sz="2800" b="1" dirty="0" smtClean="0">
                <a:solidFill>
                  <a:srgbClr val="FF0000"/>
                </a:solidFill>
                <a:latin typeface="Arial" charset="0"/>
              </a:rPr>
              <a:t>子程序调用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的方法编程完成 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0~9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的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BCD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数累加，并在屏幕上显示。</a:t>
            </a:r>
            <a:endParaRPr lang="en-US" altLang="zh-CN" sz="2800" b="1" dirty="0" smtClean="0">
              <a:solidFill>
                <a:srgbClr val="000000"/>
              </a:solidFill>
              <a:latin typeface="Arial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3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、当从键盘输入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1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、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2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、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3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时，屏幕上对应显示字母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A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、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B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、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charset="0"/>
              </a:rPr>
              <a:t>C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。</a:t>
            </a:r>
            <a:endParaRPr lang="en-US" altLang="zh-CN" sz="2800" b="1" dirty="0" smtClean="0">
              <a:solidFill>
                <a:srgbClr val="000000"/>
              </a:solidFill>
              <a:latin typeface="Arial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Arial" charset="0"/>
              </a:rPr>
              <a:t>4</a:t>
            </a:r>
            <a:r>
              <a:rPr lang="zh-CN" altLang="en-US" sz="2800" b="1" dirty="0">
                <a:solidFill>
                  <a:srgbClr val="000000"/>
                </a:solidFill>
                <a:latin typeface="Arial" charset="0"/>
              </a:rPr>
              <a:t>、统计内存数据段的</a:t>
            </a:r>
            <a:r>
              <a:rPr lang="en-US" altLang="zh-CN" sz="2800" b="1" dirty="0">
                <a:solidFill>
                  <a:srgbClr val="000000"/>
                </a:solidFill>
                <a:latin typeface="Arial" charset="0"/>
              </a:rPr>
              <a:t>Table</a:t>
            </a:r>
            <a:r>
              <a:rPr lang="zh-CN" altLang="en-US" sz="2800" b="1" dirty="0">
                <a:solidFill>
                  <a:srgbClr val="000000"/>
                </a:solidFill>
                <a:latin typeface="Arial" charset="0"/>
              </a:rPr>
              <a:t>为首地址的</a:t>
            </a:r>
            <a:r>
              <a:rPr lang="en-US" altLang="zh-CN" sz="2800" b="1" dirty="0">
                <a:solidFill>
                  <a:srgbClr val="000000"/>
                </a:solidFill>
                <a:latin typeface="Arial" charset="0"/>
              </a:rPr>
              <a:t>100</a:t>
            </a:r>
            <a:r>
              <a:rPr lang="zh-CN" altLang="en-US" sz="2800" b="1" dirty="0">
                <a:solidFill>
                  <a:srgbClr val="000000"/>
                </a:solidFill>
                <a:latin typeface="Arial" charset="0"/>
              </a:rPr>
              <a:t>个</a:t>
            </a:r>
            <a:r>
              <a:rPr lang="en-US" altLang="zh-CN" sz="2800" b="1" dirty="0">
                <a:solidFill>
                  <a:srgbClr val="000000"/>
                </a:solidFill>
                <a:latin typeface="Arial" charset="0"/>
              </a:rPr>
              <a:t>8</a:t>
            </a:r>
            <a:r>
              <a:rPr lang="zh-CN" altLang="en-US" sz="2800" b="1" dirty="0">
                <a:solidFill>
                  <a:srgbClr val="000000"/>
                </a:solidFill>
                <a:latin typeface="Arial" charset="0"/>
              </a:rPr>
              <a:t>位带符号数中正数、负数和零元素的个数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charset="0"/>
              </a:rPr>
              <a:t>。</a:t>
            </a:r>
            <a:endParaRPr lang="zh-CN" altLang="en-US" sz="2800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" name="灯片编号占位符 2"/>
          <p:cNvSpPr txBox="1">
            <a:spLocks/>
          </p:cNvSpPr>
          <p:nvPr/>
        </p:nvSpPr>
        <p:spPr>
          <a:xfrm>
            <a:off x="8001024" y="6286520"/>
            <a:ext cx="1000132" cy="476250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31AEC9-4224-4618-B79B-BAF1A37AE4E4}" type="slidenum">
              <a:rPr lang="en-US" altLang="zh-CN" smtClean="0">
                <a:solidFill>
                  <a:srgbClr val="000000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US" altLang="zh-CN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7151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原理与接口技术">
  <a:themeElements>
    <a:clrScheme name="原理与接口技术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原理与接口技术">
      <a:majorFont>
        <a:latin typeface="Times New Roman"/>
        <a:ea typeface="宋体"/>
        <a:cs typeface="Times New Roman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原理与接口技术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原理与接口技术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原理与接口技术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原理与接口技术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原理与接口技术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原理与接口技术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原理与接口技术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1985</TotalTime>
  <Words>2710</Words>
  <Application>Microsoft Office PowerPoint</Application>
  <PresentationFormat>全屏显示(4:3)</PresentationFormat>
  <Paragraphs>343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华文行楷</vt:lpstr>
      <vt:lpstr>隶书</vt:lpstr>
      <vt:lpstr>宋体</vt:lpstr>
      <vt:lpstr>Arial</vt:lpstr>
      <vt:lpstr>Calibri</vt:lpstr>
      <vt:lpstr>Calibri Light</vt:lpstr>
      <vt:lpstr>Times New Roman</vt:lpstr>
      <vt:lpstr>Trebuchet MS</vt:lpstr>
      <vt:lpstr>Wingdings</vt:lpstr>
      <vt:lpstr>Office 主题</vt:lpstr>
      <vt:lpstr>原理与接口技术</vt:lpstr>
      <vt:lpstr>PowerPoint 演示文稿</vt:lpstr>
      <vt:lpstr>第三章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第四章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</dc:title>
  <dc:creator>Ren</dc:creator>
  <cp:lastModifiedBy>Ren</cp:lastModifiedBy>
  <cp:revision>114</cp:revision>
  <dcterms:created xsi:type="dcterms:W3CDTF">2018-05-05T00:34:51Z</dcterms:created>
  <dcterms:modified xsi:type="dcterms:W3CDTF">2018-05-09T13:50:56Z</dcterms:modified>
</cp:coreProperties>
</file>