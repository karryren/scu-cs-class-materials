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78" r:id="rId7"/>
    <p:sldId id="281" r:id="rId8"/>
    <p:sldId id="279" r:id="rId9"/>
    <p:sldId id="280" r:id="rId10"/>
    <p:sldId id="264" r:id="rId11"/>
    <p:sldId id="265" r:id="rId12"/>
    <p:sldId id="266" r:id="rId13"/>
    <p:sldId id="267" r:id="rId14"/>
    <p:sldId id="271" r:id="rId15"/>
    <p:sldId id="272" r:id="rId16"/>
    <p:sldId id="268" r:id="rId17"/>
    <p:sldId id="277" r:id="rId18"/>
    <p:sldId id="269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3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FD5A1-90C3-425A-B242-8400240AC6D8}" type="datetimeFigureOut">
              <a:rPr lang="zh-CN" altLang="en-US" smtClean="0"/>
              <a:t>2018/5/28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7F9BB-82AA-4EEC-ABC3-5A05025F1C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764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97F9BB-82AA-4EEC-ABC3-5A05025F1CA0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728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4F06C-066B-4FFA-879A-AFA8E2C2381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03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A3713-A812-4DA7-A71B-35D9F4EA629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041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4453-7325-4BD4-BD8A-BF979248688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60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DACEB-4E45-405A-91CC-AF544502131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5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890C1-AD38-48FD-800A-265AE447C19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95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E2EB-8F9A-4F24-9B3F-531D6B9A831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00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7F73-EC06-4A7B-B112-78A2BE59FCC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438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7043-2140-404C-BABB-66FA9B16D70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39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1240-2E6E-48FB-BE76-C5BFECD2643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69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9D32-AB08-4E28-B35C-B2A8338145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79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BA47-7910-4EDA-84E5-BCBECDBFAC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9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31E3F-E7AB-4105-9C13-5309BAB88A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2018/5/28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76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57350" y="1144218"/>
            <a:ext cx="5829300" cy="1790700"/>
          </a:xfrm>
        </p:spPr>
        <p:txBody>
          <a:bodyPr>
            <a:normAutofit/>
          </a:bodyPr>
          <a:lstStyle/>
          <a:p>
            <a:r>
              <a:rPr lang="zh-CN" altLang="en-US" sz="66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第五章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习题解答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15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31515"/>
            <a:ext cx="7886700" cy="597148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5-1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按使用功能分为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RAM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RAM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包括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SRAM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DRAM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SRAM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是静态读写存储器芯片，它以触发器为基本存储单元，以其两种稳定状态表示逻辑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和逻辑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DRAM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是随机动态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读写存储器芯片，它以单个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MOS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管为基本存储单元，以极间电容充放电表示两种逻辑状态，需要不断刷新保持信息正确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包括下面几种：</a:t>
            </a:r>
            <a:endParaRPr lang="zh-CN" altLang="en-US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17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/>
          </p:cNvSpPr>
          <p:nvPr/>
        </p:nvSpPr>
        <p:spPr>
          <a:xfrm>
            <a:off x="382070" y="215757"/>
            <a:ext cx="8371512" cy="634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掩膜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：通过掩膜工艺、将要保存的信息直接制作在芯片当中，以后再也不能更改。</a:t>
            </a: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P-ROM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：该类芯片出厂时存储的信息为全“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1”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，允许用户进行一次性编程，此后便不能更改。</a:t>
            </a: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EPROM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：一般指可用紫外光擦除、并可重复编程的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。</a:t>
            </a: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EEPROM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：也常表达为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E</a:t>
            </a:r>
            <a:r>
              <a:rPr lang="en-US" altLang="zh-CN" b="1" baseline="30000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2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PROM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，其擦除和编程（即擦写）通过加电的方法来进行，可实现“在线编程” 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Flash 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：是一种新型的电擦除可编程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ROM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  <a:cs typeface="Tahoma" panose="020B0604030504040204" pitchFamily="34" charset="0"/>
              </a:rPr>
              <a:t>芯片，能够很快擦除整个芯片内容。</a:t>
            </a:r>
            <a:endParaRPr lang="zh-CN" altLang="en-US" b="1" dirty="0">
              <a:latin typeface="等线" panose="02010600030101010101" pitchFamily="2" charset="-122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48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31515"/>
            <a:ext cx="7886700" cy="597148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5-2 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单译码方式和双译码方式。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单译码方式需要的选择线数目较多，只适用于容量较小的存储器；双译码方式所需要的选择线数目较少，简化了存储器结构，适用于大容量存储器。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5-3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4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参见答案。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5-5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条地址线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条数据线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30000"/>
              </a:lnSpc>
              <a:buSzPct val="50000"/>
              <a:buNone/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条地址线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条数据线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30000"/>
              </a:lnSpc>
              <a:buSzPct val="50000"/>
              <a:buNone/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条地址线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条数据线</a:t>
            </a: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45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31515"/>
                <a:ext cx="7886700" cy="59714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5-6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𝟔𝟒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den>
                    </m:f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=128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片</a:t>
                </a:r>
                <a:endParaRPr lang="en-US" altLang="zh-CN" b="1" dirty="0" smtClean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𝟔𝟒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den>
                    </m:f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=64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片</a:t>
                </a:r>
                <a:endParaRPr lang="en-US" altLang="zh-CN" b="1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5-7 (1)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𝟑𝟐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num>
                      <m:den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𝟏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den>
                    </m:f>
                  </m:oMath>
                </a14:m>
                <a:r>
                  <a:rPr lang="en-US" altLang="zh-CN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=64</a:t>
                </a:r>
                <a:r>
                  <a:rPr lang="zh-CN" altLang="en-US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片  图见下页</a:t>
                </a:r>
                <a:endParaRPr lang="en-US" altLang="zh-CN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	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(2)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𝟑𝟐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den>
                    </m:f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=16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片  图见下下页</a:t>
                </a:r>
                <a:endParaRPr lang="en-US" altLang="zh-CN" b="1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b="1" dirty="0" smtClean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31515"/>
                <a:ext cx="7886700" cy="5971480"/>
              </a:xfrm>
              <a:blipFill rotWithShape="0"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67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470" t="1" r="3428" b="1314"/>
          <a:stretch/>
        </p:blipFill>
        <p:spPr>
          <a:xfrm>
            <a:off x="10276" y="431516"/>
            <a:ext cx="9133374" cy="571243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4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070" y="87723"/>
            <a:ext cx="7886700" cy="53900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74138</a:t>
            </a:r>
            <a:r>
              <a:rPr lang="zh-CN" altLang="en-US" dirty="0" smtClean="0"/>
              <a:t>构成</a:t>
            </a:r>
            <a:r>
              <a:rPr lang="en-US" altLang="zh-CN" dirty="0" smtClean="0"/>
              <a:t>5-32</a:t>
            </a:r>
            <a:r>
              <a:rPr lang="zh-CN" altLang="en-US" dirty="0" smtClean="0"/>
              <a:t>译码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13" y="719191"/>
            <a:ext cx="6181066" cy="592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0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7368" r="1217" b="1021"/>
          <a:stretch/>
        </p:blipFill>
        <p:spPr>
          <a:xfrm>
            <a:off x="94985" y="349322"/>
            <a:ext cx="9049015" cy="420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9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070" y="87723"/>
            <a:ext cx="7886700" cy="1325563"/>
          </a:xfrm>
        </p:spPr>
        <p:txBody>
          <a:bodyPr/>
          <a:lstStyle/>
          <a:p>
            <a:r>
              <a:rPr lang="zh-CN" altLang="en-US" dirty="0" smtClean="0"/>
              <a:t>利用</a:t>
            </a:r>
            <a:r>
              <a:rPr lang="en-US" altLang="zh-CN" dirty="0" smtClean="0"/>
              <a:t>74138</a:t>
            </a:r>
            <a:r>
              <a:rPr lang="zh-CN" altLang="en-US" dirty="0" smtClean="0"/>
              <a:t>构成</a:t>
            </a:r>
            <a:r>
              <a:rPr lang="en-US" altLang="zh-CN" dirty="0" smtClean="0"/>
              <a:t>4-16</a:t>
            </a:r>
            <a:r>
              <a:rPr lang="zh-CN" altLang="en-US" dirty="0" smtClean="0"/>
              <a:t>译码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35" y="1103402"/>
            <a:ext cx="6455488" cy="545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8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31515"/>
                <a:ext cx="7886700" cy="59714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5-9   (1)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𝟖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𝟓𝟏𝟐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den>
                    </m:f>
                  </m:oMath>
                </a14:m>
                <a:r>
                  <a:rPr lang="en-US" altLang="zh-CN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=16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4=64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片，需要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16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组芯片组，共需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13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条寻址线，每片需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9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条寻址线。</a:t>
                </a:r>
                <a:endParaRPr lang="en-US" altLang="zh-CN" b="1" dirty="0" smtClean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	(2)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𝟔𝟒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den>
                    </m:f>
                  </m:oMath>
                </a14:m>
                <a:r>
                  <a:rPr lang="en-US" altLang="zh-CN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=64</a:t>
                </a:r>
                <a:r>
                  <a:rPr lang="en-US" altLang="zh-CN" b="1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=128</a:t>
                </a:r>
                <a:r>
                  <a:rPr lang="zh-CN" altLang="en-US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片</a:t>
                </a:r>
                <a:r>
                  <a:rPr lang="zh-CN" altLang="en-US" b="1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，</a:t>
                </a:r>
                <a:r>
                  <a:rPr lang="zh-CN" altLang="en-US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需要</a:t>
                </a:r>
                <a:r>
                  <a:rPr lang="en-US" altLang="zh-CN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64</a:t>
                </a:r>
                <a:r>
                  <a:rPr lang="zh-CN" altLang="en-US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组</a:t>
                </a:r>
                <a:r>
                  <a:rPr lang="zh-CN" altLang="en-US" b="1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芯片组，共需</a:t>
                </a:r>
                <a:r>
                  <a:rPr lang="en-US" altLang="zh-CN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16</a:t>
                </a:r>
                <a:r>
                  <a:rPr lang="zh-CN" altLang="en-US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条</a:t>
                </a:r>
                <a:r>
                  <a:rPr lang="zh-CN" altLang="en-US" b="1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寻址线，每片</a:t>
                </a:r>
                <a:r>
                  <a:rPr lang="zh-CN" altLang="en-US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需</a:t>
                </a:r>
                <a:r>
                  <a:rPr lang="en-US" altLang="zh-CN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10</a:t>
                </a:r>
                <a:r>
                  <a:rPr lang="zh-CN" altLang="en-US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条</a:t>
                </a:r>
                <a:r>
                  <a:rPr lang="zh-CN" altLang="en-US" b="1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寻址线</a:t>
                </a:r>
                <a:r>
                  <a:rPr lang="zh-CN" altLang="en-US" b="1" dirty="0" smtClean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。</a:t>
                </a:r>
                <a:endParaRPr lang="en-US" altLang="zh-CN" b="1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5-10  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需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32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片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RAM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芯片，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13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根地址线，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8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组芯片组。</a:t>
                </a:r>
                <a:endParaRPr lang="en-US" altLang="zh-CN" b="1" dirty="0" smtClean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5-11 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每片需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8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条地址线，共需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12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根地址线，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32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块芯片，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16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组芯片组。</a:t>
                </a:r>
                <a:endParaRPr lang="zh-CN" altLang="en-US" b="1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31515"/>
                <a:ext cx="7886700" cy="5971480"/>
              </a:xfrm>
              <a:blipFill rotWithShape="0">
                <a:blip r:embed="rId2"/>
                <a:stretch>
                  <a:fillRect l="-1391" r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98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431515"/>
            <a:ext cx="8166029" cy="5971480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5-12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采用线选法，需要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4×2=8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片芯片，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组芯片组，每组需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条地址线。共需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根地址线。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5-13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参见答案，注意改正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	18FFH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改为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1800H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28FFH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改为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2800H</a:t>
            </a: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5-15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数据区的地址位于最低端，为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2^17=128KB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，地址分配范围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00000H~1FFFFH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；程序区的地址位于最高端，两片共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2×2^15KB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，两片地址分配范围分别为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0F8000H~0FFFFFH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0F0000H~0F7FFFH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。原理电路图见下页</a:t>
            </a:r>
            <a:endParaRPr lang="zh-CN" altLang="en-US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15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41" y="92466"/>
            <a:ext cx="6643730" cy="673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63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5909" y="431515"/>
            <a:ext cx="8330416" cy="59714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5-17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由片选信号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CS1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指定的基地址范围为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0F000H~0FFFFH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；由片选信号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CS2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指定的基地址范围为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0000H~0FFFH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5-18 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开机后，微机系统常需要检测主存储器是否正常。例如，可以先向所有存储单元写入数据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55H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（或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00H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）、然后读出看是否还是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55H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（或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00H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）；接着再向所有存储单元写入数据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AAH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（或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FFH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）、然后读出看是否还是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AAH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（或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FFH</a:t>
            </a:r>
            <a:r>
              <a:rPr lang="zh-CN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）。利用两个二进制各位互反的“花样”数据的反复写入、读出和比较就能够识别出有故障的存储单元。利用获得的有故障存储单元所在的物理地址，如果能够分析出该存储单元所在的存储器芯片，就可以实现芯片级的维修。</a:t>
            </a: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24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0932" y="209334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试利用汇编语言编写一个检测常规主存最高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64KB</a:t>
            </a:r>
            <a:r>
              <a:rPr lang="zh-CN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（逻辑地址从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9000H</a:t>
            </a:r>
            <a:r>
              <a:rPr lang="zh-CN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0000H</a:t>
            </a:r>
            <a:r>
              <a:rPr lang="zh-CN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9000H</a:t>
            </a:r>
            <a:r>
              <a:rPr lang="zh-CN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FFFFH</a:t>
            </a:r>
            <a:r>
              <a:rPr lang="zh-CN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）的程序，如果发现错误请显示其逻辑地址。</a:t>
            </a:r>
            <a:endParaRPr lang="zh-CN" altLang="en-US" sz="24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3330" y="1599759"/>
            <a:ext cx="7886700" cy="4351338"/>
          </a:xfrm>
        </p:spPr>
        <p:txBody>
          <a:bodyPr>
            <a:noAutofit/>
          </a:bodyPr>
          <a:lstStyle/>
          <a:p>
            <a:pPr algn="just">
              <a:lnSpc>
                <a:spcPts val="1800"/>
              </a:lnSpc>
              <a:spcAft>
                <a:spcPts val="0"/>
              </a:spcAft>
              <a:tabLst>
                <a:tab pos="540385" algn="l"/>
                <a:tab pos="1620520" algn="l"/>
              </a:tabLst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 </a:t>
            </a:r>
            <a:r>
              <a:rPr lang="zh-CN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代码段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</a:t>
            </a: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MOV AX,9000H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MOV DS,AX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MOV AH,55H	; </a:t>
            </a:r>
            <a:r>
              <a:rPr lang="zh-CN" altLang="zh-CN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 Unicode MS" panose="020B0604020202020204" pitchFamily="34" charset="-122"/>
              </a:rPr>
              <a:t>先用</a:t>
            </a:r>
            <a:r>
              <a:rPr lang="en-US" altLang="zh-CN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 Unicode MS" panose="020B0604020202020204" pitchFamily="34" charset="-122"/>
              </a:rPr>
              <a:t>55H</a:t>
            </a:r>
            <a:endParaRPr lang="zh-CN" altLang="zh-CN" b="1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PUSH AX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AGAIN:	MOV BX,0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MOV AL,AH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AGAIN1:	MOV [BX],AL	; </a:t>
            </a:r>
            <a:r>
              <a:rPr lang="zh-CN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写入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DEC BX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JNZ AGAIN1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AGAIN2:	MOV AL,[BX]	; </a:t>
            </a:r>
            <a:r>
              <a:rPr lang="zh-CN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读出</a:t>
            </a:r>
          </a:p>
          <a:p>
            <a:pPr marL="0" indent="0" algn="just">
              <a:lnSpc>
                <a:spcPts val="18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CMP AL,AH	; </a:t>
            </a:r>
            <a:r>
              <a:rPr lang="zh-CN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检测</a:t>
            </a:r>
          </a:p>
          <a:p>
            <a:pPr marL="0" indent="0" algn="just">
              <a:lnSpc>
                <a:spcPts val="1800"/>
              </a:lnSpc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JZ NEXT2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lvl="0" indent="0" algn="just">
              <a:lnSpc>
                <a:spcPts val="1800"/>
              </a:lnSpc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DISPCRLF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右中括号 4"/>
          <p:cNvSpPr/>
          <p:nvPr/>
        </p:nvSpPr>
        <p:spPr>
          <a:xfrm>
            <a:off x="4978468" y="4094720"/>
            <a:ext cx="164387" cy="842481"/>
          </a:xfrm>
          <a:prstGeom prst="rightBracket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05787" y="4238003"/>
            <a:ext cx="2280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将</a:t>
            </a:r>
            <a:r>
              <a:rPr lang="en-US" altLang="zh-CN" b="1" dirty="0" smtClean="0">
                <a:solidFill>
                  <a:srgbClr val="FF0000"/>
                </a:solidFill>
              </a:rPr>
              <a:t>55H</a:t>
            </a:r>
            <a:r>
              <a:rPr lang="zh-CN" altLang="en-US" b="1" dirty="0" smtClean="0">
                <a:solidFill>
                  <a:srgbClr val="FF0000"/>
                </a:solidFill>
              </a:rPr>
              <a:t>或</a:t>
            </a:r>
            <a:r>
              <a:rPr lang="en-US" altLang="zh-CN" b="1" dirty="0" smtClean="0">
                <a:solidFill>
                  <a:srgbClr val="FF0000"/>
                </a:solidFill>
              </a:rPr>
              <a:t>AAH</a:t>
            </a:r>
            <a:r>
              <a:rPr lang="zh-CN" altLang="en-US" b="1" dirty="0" smtClean="0">
                <a:solidFill>
                  <a:srgbClr val="FF0000"/>
                </a:solidFill>
              </a:rPr>
              <a:t>写入各个存储单元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右中括号 6"/>
          <p:cNvSpPr/>
          <p:nvPr/>
        </p:nvSpPr>
        <p:spPr>
          <a:xfrm>
            <a:off x="5031767" y="5133054"/>
            <a:ext cx="164387" cy="842481"/>
          </a:xfrm>
          <a:prstGeom prst="rightBracket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55549" y="5092629"/>
            <a:ext cx="3076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将各个存储单元读出检测是否写入的</a:t>
            </a:r>
            <a:r>
              <a:rPr lang="en-US" altLang="zh-CN" b="1" dirty="0" smtClean="0">
                <a:solidFill>
                  <a:srgbClr val="FF0000"/>
                </a:solidFill>
              </a:rPr>
              <a:t>55H</a:t>
            </a:r>
            <a:r>
              <a:rPr lang="zh-CN" altLang="en-US" b="1" dirty="0" smtClean="0">
                <a:solidFill>
                  <a:srgbClr val="FF0000"/>
                </a:solidFill>
              </a:rPr>
              <a:t>或</a:t>
            </a:r>
            <a:r>
              <a:rPr lang="en-US" altLang="zh-CN" b="1" dirty="0" smtClean="0">
                <a:solidFill>
                  <a:srgbClr val="FF0000"/>
                </a:solidFill>
              </a:rPr>
              <a:t>AAH</a:t>
            </a:r>
            <a:r>
              <a:rPr lang="zh-CN" altLang="en-US" b="1" dirty="0" smtClean="0">
                <a:solidFill>
                  <a:srgbClr val="FF0000"/>
                </a:solidFill>
              </a:rPr>
              <a:t>，如果是继续检测下一个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56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701" y="238483"/>
            <a:ext cx="7886700" cy="648299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</a:t>
            </a: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PUSH 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AX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MOV AX,DS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CALL DISPHW	; </a:t>
            </a:r>
            <a:r>
              <a:rPr lang="zh-CN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显示段地址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MOV AL,':'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CALL DISPC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MOV AX,BX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CALL DISPHW	; </a:t>
            </a:r>
            <a:r>
              <a:rPr lang="zh-CN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显示偏移地址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POP AX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NEXT2:	DEC BX</a:t>
            </a:r>
            <a:r>
              <a:rPr lang="zh-CN" altLang="en-US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r>
              <a:rPr lang="zh-CN" altLang="en-US" sz="2000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修改地址指针指向下一个存储单元</a:t>
            </a:r>
            <a:endParaRPr lang="zh-CN" altLang="zh-CN" sz="2000" dirty="0" smtClean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JNZ AGAIN2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POP AX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CMP AH,0AAH	; 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 Unicode MS" panose="020B0604020202020204" pitchFamily="34" charset="-122"/>
              </a:rPr>
              <a:t>检测是否对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 Unicode MS" panose="020B0604020202020204" pitchFamily="34" charset="-122"/>
              </a:rPr>
              <a:t>AAH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 Unicode MS" panose="020B0604020202020204" pitchFamily="34" charset="-122"/>
              </a:rPr>
              <a:t>已比较过？</a:t>
            </a:r>
            <a:endParaRPr lang="zh-CN" altLang="zh-CN" sz="2000" b="1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JZ DONE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MOV AH,0AAH </a:t>
            </a:r>
            <a:r>
              <a:rPr lang="zh-CN" altLang="en-US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 Unicode MS" panose="020B0604020202020204" pitchFamily="34" charset="-122"/>
              </a:rPr>
              <a:t>后用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 Unicode MS" panose="020B0604020202020204" pitchFamily="34" charset="-122"/>
              </a:rPr>
              <a:t>0AAH</a:t>
            </a:r>
            <a:endParaRPr lang="zh-CN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JMP AGAIN</a:t>
            </a:r>
            <a:endParaRPr lang="zh-CN" altLang="zh-CN" sz="20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40385" algn="l"/>
                <a:tab pos="1620520" algn="l"/>
              </a:tabLst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DONE: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3931" y="1219273"/>
            <a:ext cx="3076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如果</a:t>
            </a:r>
            <a:r>
              <a:rPr lang="zh-CN" altLang="en-US" b="1" dirty="0">
                <a:solidFill>
                  <a:srgbClr val="FF0000"/>
                </a:solidFill>
              </a:rPr>
              <a:t>各个存储单元</a:t>
            </a:r>
            <a:r>
              <a:rPr lang="zh-CN" altLang="en-US" b="1" dirty="0" smtClean="0">
                <a:solidFill>
                  <a:srgbClr val="FF0000"/>
                </a:solidFill>
              </a:rPr>
              <a:t>读出的值不是写入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55H</a:t>
            </a:r>
            <a:r>
              <a:rPr lang="zh-CN" altLang="en-US" b="1" dirty="0">
                <a:solidFill>
                  <a:srgbClr val="FF0000"/>
                </a:solidFill>
              </a:rPr>
              <a:t>或</a:t>
            </a:r>
            <a:r>
              <a:rPr lang="en-US" altLang="zh-CN" b="1" dirty="0" smtClean="0">
                <a:solidFill>
                  <a:srgbClr val="FF0000"/>
                </a:solidFill>
              </a:rPr>
              <a:t>AAH</a:t>
            </a:r>
            <a:r>
              <a:rPr lang="zh-CN" altLang="en-US" b="1" dirty="0" smtClean="0">
                <a:solidFill>
                  <a:srgbClr val="FF0000"/>
                </a:solidFill>
              </a:rPr>
              <a:t>，存段地址和偏移地址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右中括号 5"/>
          <p:cNvSpPr/>
          <p:nvPr/>
        </p:nvSpPr>
        <p:spPr>
          <a:xfrm>
            <a:off x="5250094" y="297950"/>
            <a:ext cx="143837" cy="2938410"/>
          </a:xfrm>
          <a:prstGeom prst="rightBracket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525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6862" y="431515"/>
            <a:ext cx="8618091" cy="597148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5-18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程序参考答案。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5-19 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见答案。将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0FAFFH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改为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0FAFFFH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7-2 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微机总线按总线所处位置分为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种：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CPU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总线、元件级总线、系统总线、局部总线、通信总线。</a:t>
            </a: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7-3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见答案。</a:t>
            </a: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8-1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见答案。</a:t>
            </a: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2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6862" y="431515"/>
                <a:ext cx="8618091" cy="597148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补充题：用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16K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8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位的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DRAM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芯片构成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64K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32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位存储器，画出该存储器组成逻辑结构图。</a:t>
                </a:r>
                <a:endParaRPr lang="en-US" altLang="zh-CN" b="1" dirty="0" smtClean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  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需要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𝟔𝟒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𝟑𝟐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𝟏𝟔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𝑲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den>
                    </m:f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=4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4=16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个芯片，其中每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4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片为一组，构成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16K</a:t>
                </a:r>
                <a:r>
                  <a:rPr lang="en-US" altLang="zh-C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32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位，即位扩展：一组内的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4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个芯片只有数据线串联，分别接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D</a:t>
                </a:r>
                <a:r>
                  <a:rPr lang="en-US" altLang="zh-CN" b="1" baseline="-25000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0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~D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7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、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 D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8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~D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15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、</a:t>
                </a:r>
                <a:r>
                  <a:rPr lang="en-US" altLang="zh-CN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D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16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~D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23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、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 D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24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~D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31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，其余的同名引脚线并联，低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14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位地址线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A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0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~A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13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作为片内地址；然后进行地址扩展，用高两位地址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A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14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、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A</a:t>
                </a:r>
                <a:r>
                  <a:rPr lang="en-US" altLang="zh-CN" b="1" baseline="-25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15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通过</a:t>
                </a:r>
                <a:r>
                  <a:rPr lang="en-US" altLang="zh-CN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2-4</a:t>
                </a:r>
                <a:r>
                  <a:rPr lang="zh-CN" altLang="en-US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译码器进行片选。逻辑图见下页。</a:t>
                </a:r>
                <a:endParaRPr lang="en-US" altLang="zh-CN" b="1" dirty="0" smtClean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862" y="431515"/>
                <a:ext cx="8618091" cy="5971480"/>
              </a:xfrm>
              <a:blipFill rotWithShape="0">
                <a:blip r:embed="rId2"/>
                <a:stretch>
                  <a:fillRect l="-1274" r="-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44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内容占位符 5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7651" y="562928"/>
            <a:ext cx="8534561" cy="533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90041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1271</TotalTime>
  <Words>640</Words>
  <Application>Microsoft Office PowerPoint</Application>
  <PresentationFormat>全屏显示(4:3)</PresentationFormat>
  <Paragraphs>95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 Unicode MS</vt:lpstr>
      <vt:lpstr>等线</vt:lpstr>
      <vt:lpstr>华文行楷</vt:lpstr>
      <vt:lpstr>华文新魏</vt:lpstr>
      <vt:lpstr>隶书</vt:lpstr>
      <vt:lpstr>宋体</vt:lpstr>
      <vt:lpstr>Arial</vt:lpstr>
      <vt:lpstr>Calibri</vt:lpstr>
      <vt:lpstr>Calibri Light</vt:lpstr>
      <vt:lpstr>Cambria Math</vt:lpstr>
      <vt:lpstr>Tahoma</vt:lpstr>
      <vt:lpstr>Wingdings</vt:lpstr>
      <vt:lpstr>1_Office 主题</vt:lpstr>
      <vt:lpstr>第五章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利用74138构成5-32译码</vt:lpstr>
      <vt:lpstr>PowerPoint 演示文稿</vt:lpstr>
      <vt:lpstr>利用74138构成4-16译码</vt:lpstr>
      <vt:lpstr>PowerPoint 演示文稿</vt:lpstr>
      <vt:lpstr>PowerPoint 演示文稿</vt:lpstr>
      <vt:lpstr>PowerPoint 演示文稿</vt:lpstr>
      <vt:lpstr>PowerPoint 演示文稿</vt:lpstr>
      <vt:lpstr>试利用汇编语言编写一个检测常规主存最高64KB（逻辑地址从9000H∶0000H到9000H∶FFFFH）的程序，如果发现错误请显示其逻辑地址。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</dc:title>
  <dc:creator>Ren</dc:creator>
  <cp:lastModifiedBy>Ren</cp:lastModifiedBy>
  <cp:revision>43</cp:revision>
  <dcterms:created xsi:type="dcterms:W3CDTF">2018-05-26T02:53:25Z</dcterms:created>
  <dcterms:modified xsi:type="dcterms:W3CDTF">2018-05-28T15:48:25Z</dcterms:modified>
</cp:coreProperties>
</file>