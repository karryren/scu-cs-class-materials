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395" r:id="rId3"/>
    <p:sldId id="396" r:id="rId4"/>
    <p:sldId id="274" r:id="rId5"/>
    <p:sldId id="277" r:id="rId6"/>
    <p:sldId id="279" r:id="rId7"/>
    <p:sldId id="280" r:id="rId8"/>
    <p:sldId id="284" r:id="rId9"/>
    <p:sldId id="501" r:id="rId10"/>
    <p:sldId id="382" r:id="rId11"/>
    <p:sldId id="381" r:id="rId12"/>
    <p:sldId id="374" r:id="rId13"/>
    <p:sldId id="291" r:id="rId14"/>
    <p:sldId id="397" r:id="rId15"/>
    <p:sldId id="365" r:id="rId16"/>
    <p:sldId id="366" r:id="rId17"/>
    <p:sldId id="290" r:id="rId18"/>
    <p:sldId id="292" r:id="rId19"/>
    <p:sldId id="302" r:id="rId20"/>
    <p:sldId id="502" r:id="rId21"/>
    <p:sldId id="503" r:id="rId22"/>
    <p:sldId id="504" r:id="rId23"/>
    <p:sldId id="401" r:id="rId24"/>
    <p:sldId id="385" r:id="rId25"/>
    <p:sldId id="399" r:id="rId26"/>
    <p:sldId id="398" r:id="rId27"/>
    <p:sldId id="499" r:id="rId28"/>
    <p:sldId id="298" r:id="rId29"/>
    <p:sldId id="266" r:id="rId30"/>
    <p:sldId id="297" r:id="rId31"/>
    <p:sldId id="400" r:id="rId32"/>
    <p:sldId id="500" r:id="rId33"/>
    <p:sldId id="336" r:id="rId34"/>
    <p:sldId id="264" r:id="rId35"/>
    <p:sldId id="388" r:id="rId36"/>
    <p:sldId id="535" r:id="rId37"/>
    <p:sldId id="536" r:id="rId38"/>
    <p:sldId id="537" r:id="rId39"/>
    <p:sldId id="488" r:id="rId40"/>
    <p:sldId id="538" r:id="rId41"/>
    <p:sldId id="539" r:id="rId42"/>
    <p:sldId id="540" r:id="rId43"/>
    <p:sldId id="541" r:id="rId44"/>
    <p:sldId id="392" r:id="rId45"/>
    <p:sldId id="348" r:id="rId46"/>
    <p:sldId id="349" r:id="rId47"/>
    <p:sldId id="542" r:id="rId48"/>
    <p:sldId id="543" r:id="rId49"/>
    <p:sldId id="544" r:id="rId50"/>
    <p:sldId id="545" r:id="rId51"/>
    <p:sldId id="546" r:id="rId52"/>
    <p:sldId id="547" r:id="rId53"/>
    <p:sldId id="548" r:id="rId54"/>
    <p:sldId id="549" r:id="rId55"/>
    <p:sldId id="550" r:id="rId56"/>
    <p:sldId id="551" r:id="rId57"/>
    <p:sldId id="552" r:id="rId58"/>
    <p:sldId id="553" r:id="rId59"/>
    <p:sldId id="554" r:id="rId60"/>
    <p:sldId id="555" r:id="rId61"/>
    <p:sldId id="508" r:id="rId62"/>
    <p:sldId id="276" r:id="rId63"/>
    <p:sldId id="272" r:id="rId6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06600"/>
    <a:srgbClr val="A50021"/>
    <a:srgbClr val="FF0066"/>
    <a:srgbClr val="0033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2" autoAdjust="0"/>
    <p:restoredTop sz="94576" autoAdjust="0"/>
  </p:normalViewPr>
  <p:slideViewPr>
    <p:cSldViewPr showGuides="1">
      <p:cViewPr>
        <p:scale>
          <a:sx n="60" d="100"/>
          <a:sy n="60" d="100"/>
        </p:scale>
        <p:origin x="60" y="8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notesMaster" Target="notesMasters/notesMaster1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44.xml"/><Relationship Id="rId8" Type="http://schemas.openxmlformats.org/officeDocument/2006/relationships/slide" Target="slides/slide43.xml"/><Relationship Id="rId7" Type="http://schemas.openxmlformats.org/officeDocument/2006/relationships/slide" Target="slides/slide38.xml"/><Relationship Id="rId6" Type="http://schemas.openxmlformats.org/officeDocument/2006/relationships/slide" Target="slides/slide34.xml"/><Relationship Id="rId5" Type="http://schemas.openxmlformats.org/officeDocument/2006/relationships/slide" Target="slides/slide33.xml"/><Relationship Id="rId4" Type="http://schemas.openxmlformats.org/officeDocument/2006/relationships/slide" Target="slides/slide29.xml"/><Relationship Id="rId3" Type="http://schemas.openxmlformats.org/officeDocument/2006/relationships/slide" Target="slides/slide25.xml"/><Relationship Id="rId2" Type="http://schemas.openxmlformats.org/officeDocument/2006/relationships/slide" Target="slides/slide24.xml"/><Relationship Id="rId10" Type="http://schemas.openxmlformats.org/officeDocument/2006/relationships/slide" Target="slides/slide45.xml"/><Relationship Id="rId1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3CD2E-BDAA-41AA-AA4B-067D94B8ED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7D473-5D73-48F0-89B5-5358331814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2C9A-9CE7-44E2-9705-4E2F9A31536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371600"/>
            <a:ext cx="3886200" cy="3263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0" cy="3263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1880663"/>
            <a:ext cx="3867150" cy="27603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663"/>
            <a:ext cx="3886201" cy="27603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16C9-E1C6-436B-BE5A-E79E29440D25}" type="slidenum">
              <a:rPr lang="en-US" altLang="zh-CN" smtClean="0"/>
            </a:fld>
            <a:endParaRPr lang="en-US" altLang="zh-C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1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0272"/>
            <a:ext cx="5800725" cy="43588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5A863DF-B9E4-4586-93FD-95547E6FD0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6B931-9FE5-4530-B16B-DC33AD6A337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jpeg"/><Relationship Id="rId1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GIF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GIF"/><Relationship Id="rId1" Type="http://schemas.openxmlformats.org/officeDocument/2006/relationships/image" Target="../media/image25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GIF"/><Relationship Id="rId1" Type="http://schemas.openxmlformats.org/officeDocument/2006/relationships/image" Target="../media/image25.GI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GIF"/><Relationship Id="rId1" Type="http://schemas.openxmlformats.org/officeDocument/2006/relationships/image" Target="../media/image25.GI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GI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GI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GIF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GI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GI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GI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GI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微型计算机系统概述</a:t>
            </a:r>
            <a:endParaRPr lang="zh-CN" altLang="en-US" dirty="0"/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微型计算机系统概述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/>
            <a:r>
              <a:rPr lang="zh-CN" altLang="en-US" sz="4800" b="0" u="sng" dirty="0">
                <a:solidFill>
                  <a:srgbClr val="663300"/>
                </a:solidFill>
                <a:ea typeface="隶书" panose="02010509060101010101" pitchFamily="49" charset="-122"/>
              </a:rPr>
              <a:t>教学重点</a:t>
            </a:r>
            <a:endParaRPr lang="zh-CN" altLang="en-US" sz="4800" b="0" dirty="0">
              <a:solidFill>
                <a:srgbClr val="663300"/>
              </a:solidFill>
              <a:ea typeface="幼圆" panose="02010509060101010101" pitchFamily="49" charset="-122"/>
            </a:endParaRPr>
          </a:p>
          <a:p>
            <a:pPr algn="l" eaLnBrk="1" hangingPunct="1">
              <a:spcBef>
                <a:spcPct val="80000"/>
              </a:spcBef>
              <a:buFont typeface="Wingdings" panose="05000000000000000000" pitchFamily="2" charset="2"/>
              <a:buChar char="n"/>
            </a:pPr>
            <a:r>
              <a:rPr lang="zh-CN" altLang="en-US" b="0" dirty="0"/>
              <a:t>  </a:t>
            </a:r>
            <a:r>
              <a:rPr lang="zh-CN" altLang="en-US" dirty="0"/>
              <a:t>微型计算机的系统组成</a:t>
            </a:r>
            <a:endParaRPr lang="zh-CN" altLang="en-US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zh-CN" altLang="en-US" dirty="0"/>
              <a:t>  </a:t>
            </a:r>
            <a:r>
              <a:rPr lang="en-US" altLang="zh-CN" dirty="0"/>
              <a:t>IBM PC</a:t>
            </a:r>
            <a:r>
              <a:rPr lang="zh-CN" altLang="en-US" dirty="0"/>
              <a:t>系列机的主机板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1.1  </a:t>
            </a:r>
            <a:r>
              <a:rPr lang="zh-CN" altLang="en-US"/>
              <a:t>微型计算机的发展和应用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563638"/>
            <a:ext cx="7696200" cy="2863900"/>
          </a:xfrm>
        </p:spPr>
        <p:txBody>
          <a:bodyPr/>
          <a:lstStyle/>
          <a:p>
            <a:pPr eaLnBrk="1" hangingPunct="1"/>
            <a:r>
              <a:rPr lang="en-US" altLang="zh-CN" dirty="0"/>
              <a:t>1946</a:t>
            </a:r>
            <a:r>
              <a:rPr lang="zh-CN" altLang="en-US" dirty="0"/>
              <a:t>年，世界上出现第一台数字式电子计算机</a:t>
            </a:r>
            <a:r>
              <a:rPr lang="en-US" altLang="zh-CN" u="sng" dirty="0">
                <a:solidFill>
                  <a:schemeClr val="accent1"/>
                </a:solidFill>
              </a:rPr>
              <a:t>ENIAC</a:t>
            </a:r>
            <a:r>
              <a:rPr lang="zh-CN" altLang="en-US" dirty="0"/>
              <a:t>（电子数据和计算器）</a:t>
            </a:r>
            <a:endParaRPr lang="zh-CN" altLang="en-US" dirty="0"/>
          </a:p>
          <a:p>
            <a:pPr eaLnBrk="1" hangingPunct="1"/>
            <a:r>
              <a:rPr lang="zh-CN" altLang="en-US" dirty="0"/>
              <a:t>发展到以大规模集成电路为主要部件的第四代，产生了</a:t>
            </a:r>
            <a:r>
              <a:rPr lang="zh-CN" altLang="en-US" u="sng" dirty="0">
                <a:solidFill>
                  <a:schemeClr val="accent1"/>
                </a:solidFill>
              </a:rPr>
              <a:t>微型计算机</a:t>
            </a:r>
            <a:endParaRPr lang="zh-CN" altLang="en-US" u="sng" dirty="0">
              <a:solidFill>
                <a:schemeClr val="accent1"/>
              </a:solidFill>
            </a:endParaRPr>
          </a:p>
          <a:p>
            <a:pPr eaLnBrk="1" hangingPunct="1"/>
            <a:r>
              <a:rPr lang="en-US" altLang="zh-CN" dirty="0"/>
              <a:t>1971</a:t>
            </a:r>
            <a:r>
              <a:rPr lang="zh-CN" altLang="en-US" dirty="0"/>
              <a:t>年，</a:t>
            </a:r>
            <a:r>
              <a:rPr lang="en-US" altLang="zh-CN" dirty="0"/>
              <a:t>Intel</a:t>
            </a:r>
            <a:r>
              <a:rPr lang="zh-CN" altLang="en-US" dirty="0"/>
              <a:t>公司设计了世界上第一个微处理器芯片</a:t>
            </a:r>
            <a:r>
              <a:rPr lang="en-US" altLang="zh-CN" u="sng" dirty="0">
                <a:solidFill>
                  <a:schemeClr val="accent1"/>
                </a:solidFill>
              </a:rPr>
              <a:t>Intel4004</a:t>
            </a:r>
            <a:r>
              <a:rPr lang="zh-CN" altLang="en-US" dirty="0"/>
              <a:t>，开创了一个全新的计算机时代</a:t>
            </a:r>
            <a:endParaRPr lang="zh-CN" altLang="en-US" dirty="0"/>
          </a:p>
        </p:txBody>
      </p:sp>
      <p:pic>
        <p:nvPicPr>
          <p:cNvPr id="16388" name="Picture 4" descr="54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716463"/>
            <a:ext cx="8382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55">
            <a:hlinkClick r:id="" action="ppaction://hlinkshowjump?jump=previousslide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86300"/>
            <a:ext cx="8763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4067944" y="3291829"/>
            <a:ext cx="2592288" cy="1723083"/>
            <a:chOff x="6227763" y="1049338"/>
            <a:chExt cx="2139950" cy="1479550"/>
          </a:xfrm>
        </p:grpSpPr>
        <p:pic>
          <p:nvPicPr>
            <p:cNvPr id="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2563" y="1049338"/>
              <a:ext cx="1425575" cy="1235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6227763" y="2192338"/>
              <a:ext cx="18510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/>
              <a:r>
                <a:rPr kumimoji="1" lang="zh-CN" altLang="en-US" sz="1600" b="0">
                  <a:solidFill>
                    <a:schemeClr val="tx2"/>
                  </a:solidFill>
                </a:rPr>
                <a:t>采用</a:t>
              </a:r>
              <a:r>
                <a:rPr kumimoji="1" lang="en-US" altLang="zh-CN" sz="1600" b="0">
                  <a:solidFill>
                    <a:schemeClr val="tx2"/>
                  </a:solidFill>
                </a:rPr>
                <a:t>4004</a:t>
              </a:r>
              <a:r>
                <a:rPr kumimoji="1" lang="zh-CN" altLang="en-US" sz="1600" b="0">
                  <a:solidFill>
                    <a:schemeClr val="tx2"/>
                  </a:solidFill>
                </a:rPr>
                <a:t>的计算器</a:t>
              </a:r>
              <a:endParaRPr kumimoji="1" lang="zh-CN" altLang="en-US" sz="1600" b="0">
                <a:solidFill>
                  <a:schemeClr val="tx2"/>
                </a:solidFill>
              </a:endParaRPr>
            </a:p>
          </p:txBody>
        </p:sp>
        <p:sp>
          <p:nvSpPr>
            <p:cNvPr id="5" name="Text Box 8"/>
            <p:cNvSpPr txBox="1">
              <a:spLocks noChangeArrowheads="1"/>
            </p:cNvSpPr>
            <p:nvPr/>
          </p:nvSpPr>
          <p:spPr bwMode="auto">
            <a:xfrm>
              <a:off x="7294563" y="1049338"/>
              <a:ext cx="107315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/>
              <a:r>
                <a:rPr kumimoji="1" lang="en-US" altLang="zh-CN" sz="1600" b="0" dirty="0">
                  <a:solidFill>
                    <a:schemeClr val="tx2"/>
                  </a:solidFill>
                </a:rPr>
                <a:t>Intel 4004</a:t>
              </a:r>
              <a:endParaRPr kumimoji="1" lang="en-US" altLang="zh-CN" sz="1600" b="0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16216" y="439068"/>
            <a:ext cx="1929631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zh-CN" altLang="en-US" sz="1000" dirty="0"/>
              <a:t>什么是微机？</a:t>
            </a:r>
            <a:endParaRPr lang="en-US" altLang="zh-CN" sz="1000" dirty="0"/>
          </a:p>
          <a:p>
            <a:pPr eaLnBrk="1" hangingPunct="1"/>
            <a:r>
              <a:rPr lang="zh-CN" altLang="en-US" sz="1000" dirty="0"/>
              <a:t>以大规模、超大规模集成电路为主要部件，以集成了计算机主要部件</a:t>
            </a:r>
            <a:r>
              <a:rPr lang="en-US" altLang="zh-CN" sz="1000" dirty="0">
                <a:latin typeface="Times New Roman" panose="02020603050405020304" pitchFamily="18" charset="0"/>
              </a:rPr>
              <a:t>——</a:t>
            </a:r>
            <a:r>
              <a:rPr lang="zh-CN" altLang="en-US" sz="1000" dirty="0"/>
              <a:t>控制器和运算器的微处理器为核心所构造出的计算机系统。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1.1.1  </a:t>
            </a:r>
            <a:r>
              <a:rPr lang="zh-CN" altLang="en-US"/>
              <a:t>微型计算机的发展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143000"/>
            <a:ext cx="8382000" cy="328453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1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4</a:t>
            </a:r>
            <a:r>
              <a:rPr lang="zh-CN" altLang="en-US" sz="2400" dirty="0"/>
              <a:t>位和低档</a:t>
            </a:r>
            <a:r>
              <a:rPr lang="en-US" altLang="zh-CN" sz="2400" dirty="0"/>
              <a:t>8</a:t>
            </a:r>
            <a:r>
              <a:rPr lang="zh-CN" altLang="en-US" sz="2400" dirty="0"/>
              <a:t>位微机</a:t>
            </a:r>
            <a:endParaRPr lang="zh-CN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4004→4040→8008</a:t>
            </a:r>
            <a:endParaRPr lang="en-US" altLang="zh-CN" sz="2400" dirty="0"/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2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：中高档</a:t>
            </a:r>
            <a:r>
              <a:rPr lang="en-US" altLang="zh-CN" sz="2400" dirty="0"/>
              <a:t>8</a:t>
            </a:r>
            <a:r>
              <a:rPr lang="zh-CN" altLang="en-US" sz="2400" dirty="0"/>
              <a:t>位微机</a:t>
            </a:r>
            <a:endParaRPr lang="zh-CN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Z80</a:t>
            </a:r>
            <a:r>
              <a:rPr lang="zh-CN" altLang="en-US" sz="2400" dirty="0"/>
              <a:t>、</a:t>
            </a:r>
            <a:r>
              <a:rPr lang="en-US" altLang="zh-CN" sz="2400" dirty="0"/>
              <a:t>I8085</a:t>
            </a:r>
            <a:r>
              <a:rPr lang="zh-CN" altLang="en-US" sz="2400" dirty="0"/>
              <a:t>、</a:t>
            </a:r>
            <a:r>
              <a:rPr lang="en-US" altLang="zh-CN" sz="2400" dirty="0"/>
              <a:t>M6800</a:t>
            </a:r>
            <a:r>
              <a:rPr lang="zh-CN" altLang="en-US" sz="2400" dirty="0"/>
              <a:t>，</a:t>
            </a:r>
            <a:r>
              <a:rPr lang="en-US" altLang="zh-CN" sz="2400" u="sng" dirty="0">
                <a:solidFill>
                  <a:schemeClr val="accent1"/>
                </a:solidFill>
              </a:rPr>
              <a:t>Apple-II</a:t>
            </a:r>
            <a:r>
              <a:rPr lang="zh-CN" altLang="en-US" sz="2400" dirty="0"/>
              <a:t>微机</a:t>
            </a:r>
            <a:endParaRPr lang="zh-CN" altLang="en-US" sz="2400" dirty="0"/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3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16</a:t>
            </a:r>
            <a:r>
              <a:rPr lang="zh-CN" altLang="en-US" sz="2400" dirty="0"/>
              <a:t>位微机</a:t>
            </a:r>
            <a:endParaRPr lang="zh-CN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8086→8088→80286</a:t>
            </a:r>
            <a:r>
              <a:rPr lang="zh-CN" altLang="en-US" sz="2400" dirty="0"/>
              <a:t>，</a:t>
            </a:r>
            <a:r>
              <a:rPr lang="en-US" altLang="zh-CN" sz="2400" u="sng" dirty="0">
                <a:solidFill>
                  <a:schemeClr val="accent1"/>
                </a:solidFill>
              </a:rPr>
              <a:t>IBM PC</a:t>
            </a:r>
            <a:r>
              <a:rPr lang="zh-CN" altLang="en-US" sz="2400" u="sng" dirty="0">
                <a:solidFill>
                  <a:schemeClr val="accent1"/>
                </a:solidFill>
              </a:rPr>
              <a:t>系列机</a:t>
            </a:r>
            <a:endParaRPr lang="en-US" altLang="zh-CN" sz="2400" u="sng" dirty="0">
              <a:solidFill>
                <a:schemeClr val="accent1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(IBM PC/XT</a:t>
            </a:r>
            <a:r>
              <a:rPr lang="zh-CN" altLang="en-US" sz="2400" dirty="0"/>
              <a:t>采用</a:t>
            </a:r>
            <a:r>
              <a:rPr lang="en-US" altLang="zh-CN" sz="2400" dirty="0"/>
              <a:t>8088</a:t>
            </a:r>
            <a:r>
              <a:rPr lang="zh-CN" altLang="en-US" sz="2400" dirty="0"/>
              <a:t>作为微处理器，</a:t>
            </a:r>
            <a:r>
              <a:rPr lang="en-US" altLang="zh-CN" sz="2400" dirty="0"/>
              <a:t> IBM PC/AT</a:t>
            </a:r>
            <a:r>
              <a:rPr lang="zh-CN" altLang="en-US" sz="2400" dirty="0"/>
              <a:t>采用</a:t>
            </a:r>
            <a:r>
              <a:rPr lang="en-US" altLang="zh-CN" sz="2400" dirty="0"/>
              <a:t>80286</a:t>
            </a:r>
            <a:r>
              <a:rPr lang="zh-CN" altLang="en-US" sz="2400" dirty="0"/>
              <a:t>作为微处理器。现在，</a:t>
            </a:r>
            <a:r>
              <a:rPr lang="en-US" altLang="zh-CN" sz="2400" dirty="0"/>
              <a:t> IBM PC/XT/AT</a:t>
            </a:r>
            <a:r>
              <a:rPr lang="zh-CN" altLang="en-US" sz="2400" dirty="0"/>
              <a:t>统称为</a:t>
            </a:r>
            <a:r>
              <a:rPr lang="en-US" altLang="zh-CN" sz="2400" dirty="0"/>
              <a:t>IBM PC</a:t>
            </a:r>
            <a:r>
              <a:rPr lang="zh-CN" altLang="en-US" sz="2400" dirty="0"/>
              <a:t>系列机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pic>
        <p:nvPicPr>
          <p:cNvPr id="17412" name="Picture 4" descr="54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716463"/>
            <a:ext cx="8382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 descr="55">
            <a:hlinkClick r:id="" action="ppaction://hlinkshowjump?jump=previousslide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86300"/>
            <a:ext cx="8763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Apple</a:t>
            </a:r>
            <a:r>
              <a:rPr lang="zh-CN" altLang="en-US"/>
              <a:t>微型计算机</a:t>
            </a:r>
            <a:endParaRPr lang="zh-CN" altLang="en-US"/>
          </a:p>
        </p:txBody>
      </p:sp>
      <p:pic>
        <p:nvPicPr>
          <p:cNvPr id="80899" name="Picture 4" descr="Apple-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25146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0" name="Picture 5" descr="Apple-I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485900"/>
            <a:ext cx="24384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6" descr="Apple-I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914650"/>
            <a:ext cx="2819400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2" name="Text Box 7"/>
          <p:cNvSpPr txBox="1">
            <a:spLocks noChangeArrowheads="1"/>
          </p:cNvSpPr>
          <p:nvPr/>
        </p:nvSpPr>
        <p:spPr bwMode="auto">
          <a:xfrm>
            <a:off x="6689725" y="1663700"/>
            <a:ext cx="1495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Apple-I</a:t>
            </a:r>
            <a:endParaRPr lang="en-US" altLang="zh-CN" sz="3200">
              <a:solidFill>
                <a:srgbClr val="663300"/>
              </a:solidFill>
            </a:endParaRPr>
          </a:p>
        </p:txBody>
      </p:sp>
      <p:sp>
        <p:nvSpPr>
          <p:cNvPr id="80903" name="Text Box 8"/>
          <p:cNvSpPr txBox="1">
            <a:spLocks noChangeArrowheads="1"/>
          </p:cNvSpPr>
          <p:nvPr/>
        </p:nvSpPr>
        <p:spPr bwMode="auto">
          <a:xfrm>
            <a:off x="4267200" y="3486150"/>
            <a:ext cx="1676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Apple-II</a:t>
            </a:r>
            <a:endParaRPr lang="en-US" altLang="zh-CN" sz="3200">
              <a:solidFill>
                <a:srgbClr val="663300"/>
              </a:solidFill>
            </a:endParaRPr>
          </a:p>
        </p:txBody>
      </p:sp>
    </p:spTree>
  </p:cSld>
  <p:clrMapOvr>
    <a:masterClrMapping/>
  </p:clrMapOvr>
  <p:transition spd="slow" advClick="0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IBM PC</a:t>
            </a:r>
            <a:r>
              <a:rPr lang="zh-CN" altLang="en-US"/>
              <a:t>系列机</a:t>
            </a:r>
            <a:endParaRPr lang="zh-CN" altLang="en-US"/>
          </a:p>
        </p:txBody>
      </p:sp>
      <p:pic>
        <p:nvPicPr>
          <p:cNvPr id="81923" name="Picture 4" descr="8088CP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00150"/>
            <a:ext cx="19050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4" name="Picture 5" descr="IBM PC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28750"/>
            <a:ext cx="29718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6" descr="IBM PC-AT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514600"/>
            <a:ext cx="32004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6" name="Text Box 7"/>
          <p:cNvSpPr txBox="1">
            <a:spLocks noChangeArrowheads="1"/>
          </p:cNvSpPr>
          <p:nvPr/>
        </p:nvSpPr>
        <p:spPr bwMode="auto">
          <a:xfrm>
            <a:off x="7010400" y="1543050"/>
            <a:ext cx="1824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8088CPU</a:t>
            </a:r>
            <a:endParaRPr lang="en-US" altLang="zh-CN" sz="3200">
              <a:solidFill>
                <a:srgbClr val="663300"/>
              </a:solidFill>
            </a:endParaRPr>
          </a:p>
        </p:txBody>
      </p:sp>
      <p:sp>
        <p:nvSpPr>
          <p:cNvPr id="81927" name="Text Box 8"/>
          <p:cNvSpPr txBox="1">
            <a:spLocks noChangeArrowheads="1"/>
          </p:cNvSpPr>
          <p:nvPr/>
        </p:nvSpPr>
        <p:spPr bwMode="auto">
          <a:xfrm>
            <a:off x="609600" y="3143250"/>
            <a:ext cx="1909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  <a:endParaRPr lang="zh-CN" altLang="en-US" sz="3200" b="1">
              <a:solidFill>
                <a:srgbClr val="663300"/>
              </a:solidFill>
            </a:endParaRPr>
          </a:p>
        </p:txBody>
      </p:sp>
      <p:sp>
        <p:nvSpPr>
          <p:cNvPr id="81928" name="Text Box 9"/>
          <p:cNvSpPr txBox="1">
            <a:spLocks noChangeArrowheads="1"/>
          </p:cNvSpPr>
          <p:nvPr/>
        </p:nvSpPr>
        <p:spPr bwMode="auto">
          <a:xfrm>
            <a:off x="1219200" y="4286250"/>
            <a:ext cx="2530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PC/AT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  <a:endParaRPr lang="zh-CN" altLang="en-US" sz="3200" b="1">
              <a:solidFill>
                <a:srgbClr val="663300"/>
              </a:solidFill>
            </a:endParaRPr>
          </a:p>
        </p:txBody>
      </p:sp>
      <p:sp>
        <p:nvSpPr>
          <p:cNvPr id="81929" name="Text Box 10"/>
          <p:cNvSpPr txBox="1">
            <a:spLocks noChangeArrowheads="1"/>
          </p:cNvSpPr>
          <p:nvPr/>
        </p:nvSpPr>
        <p:spPr bwMode="auto">
          <a:xfrm>
            <a:off x="784225" y="3697288"/>
            <a:ext cx="25463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PC/XT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  <a:endParaRPr lang="zh-CN" altLang="en-US" sz="3200" b="1">
              <a:solidFill>
                <a:srgbClr val="663300"/>
              </a:solidFill>
            </a:endParaRPr>
          </a:p>
        </p:txBody>
      </p:sp>
    </p:spTree>
  </p:cSld>
  <p:clrMapOvr>
    <a:masterClrMapping/>
  </p:clrMapOvr>
  <p:transition spd="slow" advClick="0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1.1.1  </a:t>
            </a:r>
            <a:r>
              <a:rPr lang="zh-CN" altLang="en-US"/>
              <a:t>微型计算机的发展</a:t>
            </a:r>
            <a:r>
              <a:rPr lang="zh-CN" altLang="en-US" sz="3200"/>
              <a:t>（续）</a:t>
            </a:r>
            <a:endParaRPr lang="zh-CN" altLang="en-US" sz="320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71563"/>
            <a:ext cx="8382000" cy="3284537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4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32</a:t>
            </a:r>
            <a:r>
              <a:rPr lang="zh-CN" altLang="en-US" sz="2400" dirty="0"/>
              <a:t>位微机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80386→80486→Pentium→Pentium II →Pentium III →</a:t>
            </a:r>
            <a:r>
              <a:rPr lang="en-US" altLang="zh-CN" sz="2400" u="sng" dirty="0">
                <a:solidFill>
                  <a:schemeClr val="accent1"/>
                </a:solidFill>
              </a:rPr>
              <a:t>Pentium 4</a:t>
            </a:r>
            <a:endParaRPr lang="en-US" altLang="zh-CN" sz="2400" u="sng" dirty="0">
              <a:solidFill>
                <a:schemeClr val="accent1"/>
              </a:solidFill>
            </a:endParaRPr>
          </a:p>
          <a:p>
            <a:pPr lvl="1" eaLnBrk="1" hangingPunct="1"/>
            <a:r>
              <a:rPr lang="en-US" altLang="zh-CN" sz="2400" dirty="0"/>
              <a:t>32</a:t>
            </a:r>
            <a:r>
              <a:rPr lang="zh-CN" altLang="en-US" sz="2400" dirty="0"/>
              <a:t>位</a:t>
            </a:r>
            <a:r>
              <a:rPr lang="en-US" altLang="zh-CN" sz="2400" dirty="0"/>
              <a:t>PC</a:t>
            </a:r>
            <a:r>
              <a:rPr lang="zh-CN" altLang="en-US" sz="2400" dirty="0"/>
              <a:t>机、</a:t>
            </a:r>
            <a:r>
              <a:rPr lang="en-US" altLang="zh-CN" sz="2400" dirty="0"/>
              <a:t>Macintosh</a:t>
            </a:r>
            <a:r>
              <a:rPr lang="zh-CN" altLang="en-US" sz="2400" dirty="0"/>
              <a:t>机、</a:t>
            </a:r>
            <a:r>
              <a:rPr lang="en-US" altLang="zh-CN" sz="2400" dirty="0"/>
              <a:t>PS/2</a:t>
            </a:r>
            <a:r>
              <a:rPr lang="zh-CN" altLang="en-US" sz="2400" dirty="0"/>
              <a:t>机</a:t>
            </a:r>
            <a:endParaRPr lang="zh-CN" altLang="en-US" sz="2400" dirty="0"/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第</a:t>
            </a:r>
            <a:r>
              <a:rPr lang="en-US" altLang="zh-CN" sz="2400" dirty="0">
                <a:solidFill>
                  <a:schemeClr val="tx2"/>
                </a:solidFill>
              </a:rPr>
              <a:t>5</a:t>
            </a:r>
            <a:r>
              <a:rPr lang="zh-CN" altLang="en-US" sz="2400" dirty="0">
                <a:solidFill>
                  <a:schemeClr val="tx2"/>
                </a:solidFill>
              </a:rPr>
              <a:t>代</a:t>
            </a:r>
            <a:r>
              <a:rPr lang="zh-CN" altLang="en-US" sz="2400" dirty="0"/>
              <a:t>：</a:t>
            </a:r>
            <a:r>
              <a:rPr lang="en-US" altLang="zh-CN" sz="2400" dirty="0"/>
              <a:t>64</a:t>
            </a:r>
            <a:r>
              <a:rPr lang="zh-CN" altLang="en-US" sz="2400" dirty="0"/>
              <a:t>位微机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IA-64</a:t>
            </a:r>
            <a:r>
              <a:rPr lang="zh-CN" altLang="en-US" sz="2400" dirty="0"/>
              <a:t>结构：</a:t>
            </a:r>
            <a:r>
              <a:rPr lang="en-US" altLang="zh-CN" sz="2400" dirty="0"/>
              <a:t>Itanium</a:t>
            </a:r>
            <a:r>
              <a:rPr lang="zh-CN" altLang="en-US" sz="2400" dirty="0"/>
              <a:t>（安腾）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x86</a:t>
            </a:r>
            <a:r>
              <a:rPr lang="zh-CN" altLang="en-US" sz="2400" dirty="0"/>
              <a:t>结构：</a:t>
            </a:r>
            <a:r>
              <a:rPr lang="en-US" altLang="zh-CN" sz="2400" dirty="0"/>
              <a:t>AMD</a:t>
            </a:r>
            <a:r>
              <a:rPr lang="zh-CN" altLang="en-US" sz="2400" dirty="0"/>
              <a:t>的</a:t>
            </a:r>
            <a:r>
              <a:rPr lang="en-US" altLang="zh-CN" sz="2400" dirty="0"/>
              <a:t>64</a:t>
            </a:r>
            <a:r>
              <a:rPr lang="zh-CN" altLang="en-US" sz="2400" dirty="0"/>
              <a:t>位处理器、</a:t>
            </a:r>
            <a:r>
              <a:rPr lang="en-US" altLang="zh-CN" sz="2400" dirty="0"/>
              <a:t>Intel 64</a:t>
            </a:r>
            <a:r>
              <a:rPr lang="zh-CN" altLang="en-US" sz="2400" dirty="0"/>
              <a:t>处理器</a:t>
            </a:r>
            <a:endParaRPr lang="zh-CN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pic>
        <p:nvPicPr>
          <p:cNvPr id="18436" name="Picture 4" descr="54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716463"/>
            <a:ext cx="8382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 descr="55">
            <a:hlinkClick r:id="" action="ppaction://hlinkshowjump?jump=previousslide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86300"/>
            <a:ext cx="8763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232" y="1173921"/>
            <a:ext cx="1209675" cy="14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英特尔微处理器芯片</a:t>
            </a:r>
            <a:endParaRPr lang="zh-CN" altLang="en-US" dirty="0"/>
          </a:p>
        </p:txBody>
      </p:sp>
      <p:pic>
        <p:nvPicPr>
          <p:cNvPr id="15" name="Picture 4" descr="i386-pga-pack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657600"/>
            <a:ext cx="22860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 descr="APU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86050"/>
            <a:ext cx="2065338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 descr="pentium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85900"/>
            <a:ext cx="23622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7" descr="inte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57200"/>
            <a:ext cx="1314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8" descr="p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14500"/>
            <a:ext cx="1211263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9" descr="itaniu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143000"/>
            <a:ext cx="2171700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5257800" y="3200400"/>
            <a:ext cx="1306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80386</a:t>
            </a:r>
            <a:endParaRPr lang="en-US" altLang="zh-CN" sz="3200">
              <a:solidFill>
                <a:srgbClr val="663300"/>
              </a:solidFill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381000" y="3714750"/>
            <a:ext cx="1652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Pentium</a:t>
            </a:r>
            <a:endParaRPr lang="en-US" altLang="zh-CN" sz="3200">
              <a:solidFill>
                <a:srgbClr val="663300"/>
              </a:solidFill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429000" y="1143000"/>
            <a:ext cx="2006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Pentium 4</a:t>
            </a:r>
            <a:endParaRPr lang="en-US" altLang="zh-CN" sz="3200">
              <a:solidFill>
                <a:srgbClr val="6633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  <a:r>
              <a:rPr lang="zh-CN" altLang="en-US"/>
              <a:t>摩尔定律</a:t>
            </a:r>
            <a:endParaRPr lang="zh-CN" altLang="en-US"/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>
          <a:xfrm>
            <a:off x="468313" y="736600"/>
            <a:ext cx="8229600" cy="3902075"/>
          </a:xfrm>
          <a:noFill/>
        </p:spPr>
        <p:txBody>
          <a:bodyPr/>
          <a:lstStyle/>
          <a:p>
            <a:endParaRPr lang="en-US" altLang="zh-CN" sz="2800" dirty="0"/>
          </a:p>
          <a:p>
            <a:r>
              <a:rPr lang="zh-CN" altLang="en-US" sz="2000" b="0" dirty="0"/>
              <a:t>集成电路</a:t>
            </a:r>
            <a:r>
              <a:rPr lang="zh-CN" altLang="en-US" sz="2000" dirty="0"/>
              <a:t>生产技术推动了计算机的飞速发展</a:t>
            </a:r>
            <a:endParaRPr lang="zh-CN" altLang="en-US" sz="2000" dirty="0"/>
          </a:p>
          <a:p>
            <a:r>
              <a:rPr lang="zh-CN" altLang="en-US" sz="2000" dirty="0"/>
              <a:t>摩尔定律（</a:t>
            </a:r>
            <a:r>
              <a:rPr lang="en-US" altLang="zh-CN" sz="2000" dirty="0"/>
              <a:t>Moore's Law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lvl="1"/>
            <a:r>
              <a:rPr lang="zh-CN" altLang="en-US" sz="2000" dirty="0"/>
              <a:t>集成电路上晶体管密度每年将翻倍</a:t>
            </a:r>
            <a:endParaRPr lang="zh-CN" altLang="en-US" sz="2000" dirty="0"/>
          </a:p>
          <a:p>
            <a:pPr lvl="1"/>
            <a:r>
              <a:rPr lang="zh-CN" altLang="en-US" sz="2000" dirty="0"/>
              <a:t>每隔</a:t>
            </a:r>
            <a:r>
              <a:rPr lang="en-US" altLang="zh-CN" sz="2000" dirty="0"/>
              <a:t>18</a:t>
            </a:r>
            <a:r>
              <a:rPr lang="zh-CN" altLang="en-US" sz="2000" dirty="0"/>
              <a:t>个月硅片密度（晶体管容量）将翻倍</a:t>
            </a:r>
            <a:endParaRPr lang="zh-CN" altLang="en-US" sz="2000" dirty="0"/>
          </a:p>
          <a:p>
            <a:pPr lvl="1"/>
            <a:r>
              <a:rPr lang="zh-CN" altLang="en-US" sz="2000" dirty="0"/>
              <a:t>每</a:t>
            </a:r>
            <a:r>
              <a:rPr lang="en-US" altLang="zh-CN" sz="2000" dirty="0"/>
              <a:t>18</a:t>
            </a:r>
            <a:r>
              <a:rPr lang="zh-CN" altLang="en-US" sz="2000" dirty="0"/>
              <a:t>个月，集成电路的性能将提高一倍，而其价格将降低一半</a:t>
            </a:r>
            <a:endParaRPr lang="zh-CN" altLang="en-US" sz="2000" dirty="0"/>
          </a:p>
          <a:p>
            <a:r>
              <a:rPr lang="zh-CN" altLang="en-US" sz="2000" dirty="0"/>
              <a:t>摩尔定律不会永远持续</a:t>
            </a:r>
            <a:endParaRPr lang="zh-CN" altLang="en-US" sz="2000" dirty="0"/>
          </a:p>
          <a:p>
            <a:pPr lvl="1"/>
            <a:r>
              <a:rPr lang="zh-CN" altLang="en-US" sz="2000" dirty="0"/>
              <a:t>今后，性能提高更多地得益于计算机系统结构的革新</a:t>
            </a:r>
            <a:endParaRPr lang="zh-CN" altLang="en-US" sz="2000" dirty="0"/>
          </a:p>
          <a:p>
            <a:pPr lvl="1"/>
            <a:r>
              <a:rPr lang="zh-CN" altLang="en-US" sz="2000" dirty="0"/>
              <a:t>现在，多核处理器使得摩尔定律延续</a:t>
            </a:r>
            <a:endParaRPr lang="zh-CN" altLang="en-US" sz="2000" dirty="0"/>
          </a:p>
        </p:txBody>
      </p:sp>
      <p:sp>
        <p:nvSpPr>
          <p:cNvPr id="21508" name="Freeform 6"/>
          <p:cNvSpPr/>
          <p:nvPr/>
        </p:nvSpPr>
        <p:spPr bwMode="auto">
          <a:xfrm>
            <a:off x="5384800" y="2954338"/>
            <a:ext cx="3429000" cy="1543050"/>
          </a:xfrm>
          <a:custGeom>
            <a:avLst/>
            <a:gdLst>
              <a:gd name="T0" fmla="*/ 0 w 2204"/>
              <a:gd name="T1" fmla="*/ 2147483647 h 2204"/>
              <a:gd name="T2" fmla="*/ 2147483647 w 2204"/>
              <a:gd name="T3" fmla="*/ 2147483647 h 2204"/>
              <a:gd name="T4" fmla="*/ 2147483647 w 2204"/>
              <a:gd name="T5" fmla="*/ 2147483647 h 2204"/>
              <a:gd name="T6" fmla="*/ 2147483647 w 2204"/>
              <a:gd name="T7" fmla="*/ 0 h 2204"/>
              <a:gd name="T8" fmla="*/ 0 60000 65536"/>
              <a:gd name="T9" fmla="*/ 0 60000 65536"/>
              <a:gd name="T10" fmla="*/ 0 60000 65536"/>
              <a:gd name="T11" fmla="*/ 0 60000 65536"/>
              <a:gd name="T12" fmla="*/ 0 w 2204"/>
              <a:gd name="T13" fmla="*/ 0 h 2204"/>
              <a:gd name="T14" fmla="*/ 2204 w 2204"/>
              <a:gd name="T15" fmla="*/ 2204 h 22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4" h="2204">
                <a:moveTo>
                  <a:pt x="0" y="2204"/>
                </a:moveTo>
                <a:cubicBezTo>
                  <a:pt x="190" y="2119"/>
                  <a:pt x="901" y="2014"/>
                  <a:pt x="1151" y="1697"/>
                </a:cubicBezTo>
                <a:cubicBezTo>
                  <a:pt x="1401" y="1380"/>
                  <a:pt x="1325" y="585"/>
                  <a:pt x="1500" y="302"/>
                </a:cubicBezTo>
                <a:cubicBezTo>
                  <a:pt x="1675" y="19"/>
                  <a:pt x="2057" y="63"/>
                  <a:pt x="2204" y="0"/>
                </a:cubicBezTo>
              </a:path>
            </a:pathLst>
          </a:custGeom>
          <a:noFill/>
          <a:ln w="76200" cmpd="sng">
            <a:solidFill>
              <a:srgbClr val="808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214313" y="571500"/>
            <a:ext cx="8629650" cy="401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Blip>
                <a:blip r:embed="rId1"/>
              </a:buBlip>
            </a:pPr>
            <a:endParaRPr lang="en-US" altLang="zh-CN" dirty="0">
              <a:solidFill>
                <a:schemeClr val="accent2"/>
              </a:solidFill>
              <a:ea typeface="幼圆" panose="02010509060101010101" pitchFamily="49" charset="-122"/>
            </a:endParaRPr>
          </a:p>
          <a:p>
            <a:pPr algn="just" eaLnBrk="1" hangingPunct="1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单片机（微控制器，嵌入式控制器，</a:t>
            </a:r>
            <a:r>
              <a:rPr lang="en-US" altLang="zh-CN" sz="2000" dirty="0">
                <a:solidFill>
                  <a:schemeClr val="accent2"/>
                </a:solidFill>
                <a:ea typeface="幼圆" panose="02010509060101010101" pitchFamily="49" charset="-122"/>
              </a:rPr>
              <a:t>MCU</a:t>
            </a: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）</a:t>
            </a:r>
            <a:endParaRPr lang="zh-CN" altLang="en-US" sz="2000" dirty="0">
              <a:solidFill>
                <a:schemeClr val="accent2"/>
              </a:solidFill>
              <a:ea typeface="幼圆" panose="02010509060101010101" pitchFamily="49" charset="-122"/>
            </a:endParaRP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000" dirty="0"/>
              <a:t>Intel</a:t>
            </a:r>
            <a:r>
              <a:rPr lang="zh-CN" altLang="en-US" sz="2000" dirty="0"/>
              <a:t>的</a:t>
            </a:r>
            <a:r>
              <a:rPr lang="en-US" altLang="zh-CN" sz="2000" dirty="0"/>
              <a:t>MCS-48</a:t>
            </a:r>
            <a:r>
              <a:rPr lang="zh-CN" altLang="en-US" sz="2000" dirty="0"/>
              <a:t>，</a:t>
            </a:r>
            <a:r>
              <a:rPr lang="en-US" altLang="zh-CN" sz="2000" dirty="0"/>
              <a:t>MCS-51</a:t>
            </a:r>
            <a:r>
              <a:rPr lang="zh-CN" altLang="en-US" sz="2000" dirty="0"/>
              <a:t>，</a:t>
            </a:r>
            <a:r>
              <a:rPr lang="en-US" altLang="zh-CN" sz="2000" dirty="0"/>
              <a:t>MCS-96/98</a:t>
            </a:r>
            <a:r>
              <a:rPr lang="zh-CN" altLang="en-US" sz="2000" dirty="0"/>
              <a:t>系列</a:t>
            </a:r>
            <a:endParaRPr lang="zh-CN" altLang="en-US" sz="2000" dirty="0"/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sz="2000" dirty="0"/>
              <a:t>爱特梅尔（</a:t>
            </a:r>
            <a:r>
              <a:rPr lang="en-US" altLang="zh-CN" sz="2000" dirty="0" err="1"/>
              <a:t>Atml</a:t>
            </a:r>
            <a:r>
              <a:rPr lang="zh-CN" altLang="en-US" sz="2000" dirty="0"/>
              <a:t>）公司的</a:t>
            </a:r>
            <a:r>
              <a:rPr lang="en-US" altLang="zh-CN" sz="2000" dirty="0"/>
              <a:t>AT89</a:t>
            </a:r>
            <a:r>
              <a:rPr lang="zh-CN" altLang="en-US" sz="2000" dirty="0"/>
              <a:t>系列（与</a:t>
            </a:r>
            <a:r>
              <a:rPr lang="en-US" altLang="zh-CN" sz="2000" dirty="0"/>
              <a:t>MCS-51</a:t>
            </a:r>
            <a:r>
              <a:rPr lang="zh-CN" altLang="en-US" sz="2000" dirty="0"/>
              <a:t>兼容），</a:t>
            </a:r>
            <a:r>
              <a:rPr lang="en-US" altLang="zh-CN" sz="2000" dirty="0"/>
              <a:t>AT91</a:t>
            </a:r>
            <a:r>
              <a:rPr lang="zh-CN" altLang="en-US" sz="2000" dirty="0"/>
              <a:t>系列（基于</a:t>
            </a:r>
            <a:r>
              <a:rPr lang="en-US" altLang="zh-CN" sz="2000" dirty="0"/>
              <a:t>ARM</a:t>
            </a:r>
            <a:r>
              <a:rPr lang="zh-CN" altLang="en-US" sz="2000" dirty="0"/>
              <a:t>内核）</a:t>
            </a:r>
            <a:endParaRPr lang="zh-CN" altLang="en-US" sz="2000" dirty="0"/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2000" dirty="0"/>
              <a:t>Microchip Technology</a:t>
            </a:r>
            <a:r>
              <a:rPr lang="zh-CN" altLang="en-US" sz="2000" dirty="0"/>
              <a:t>公司的</a:t>
            </a:r>
            <a:r>
              <a:rPr lang="en-US" altLang="zh-CN" sz="2000" dirty="0"/>
              <a:t>PIC</a:t>
            </a:r>
            <a:r>
              <a:rPr lang="zh-CN" altLang="en-US" sz="2000" dirty="0"/>
              <a:t>系列</a:t>
            </a:r>
            <a:endParaRPr lang="zh-CN" altLang="en-US" sz="2000" dirty="0"/>
          </a:p>
          <a:p>
            <a:pPr algn="just" eaLnBrk="1" hangingPunct="1">
              <a:spcBef>
                <a:spcPct val="20000"/>
              </a:spcBef>
              <a:buFontTx/>
              <a:buBlip>
                <a:blip r:embed="rId1"/>
              </a:buBlip>
            </a:pP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数字信号处理器（</a:t>
            </a:r>
            <a:r>
              <a:rPr lang="en-US" altLang="zh-CN" sz="2000" dirty="0">
                <a:solidFill>
                  <a:schemeClr val="accent2"/>
                </a:solidFill>
                <a:ea typeface="幼圆" panose="02010509060101010101" pitchFamily="49" charset="-122"/>
              </a:rPr>
              <a:t>DSP</a:t>
            </a: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）</a:t>
            </a:r>
            <a:endParaRPr lang="zh-CN" altLang="en-US" sz="2000" dirty="0">
              <a:solidFill>
                <a:schemeClr val="accent2"/>
              </a:solidFill>
              <a:ea typeface="幼圆" panose="02010509060101010101" pitchFamily="49" charset="-122"/>
            </a:endParaRPr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sz="2000" dirty="0"/>
              <a:t>专注于数字信号的高速处理</a:t>
            </a:r>
            <a:endParaRPr lang="zh-CN" altLang="en-US" sz="2000" dirty="0"/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sz="2000" dirty="0"/>
              <a:t>美国德州仪器</a:t>
            </a:r>
            <a:r>
              <a:rPr lang="en-US" altLang="zh-CN" sz="2000" dirty="0"/>
              <a:t>TI</a:t>
            </a:r>
            <a:r>
              <a:rPr lang="zh-CN" altLang="en-US" sz="2000" dirty="0"/>
              <a:t>公司</a:t>
            </a:r>
            <a:r>
              <a:rPr lang="en-US" altLang="zh-CN" sz="2000" dirty="0"/>
              <a:t>TMS320</a:t>
            </a:r>
            <a:r>
              <a:rPr lang="zh-CN" altLang="en-US" sz="2000" dirty="0"/>
              <a:t>各代产品</a:t>
            </a:r>
            <a:endParaRPr lang="zh-CN" altLang="en-US" sz="2000" dirty="0"/>
          </a:p>
          <a:p>
            <a:pPr lvl="1" algn="just" eaLnBrk="1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CN" altLang="en-US" sz="2000" dirty="0"/>
              <a:t>主要应用于通信、消费类电子产品和计算机</a:t>
            </a:r>
            <a:endParaRPr lang="zh-CN" altLang="en-US" sz="2000" dirty="0"/>
          </a:p>
          <a:p>
            <a:pPr marL="0" indent="0" algn="just" eaLnBrk="1" hangingPunct="1"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ea typeface="幼圆" panose="02010509060101010101" pitchFamily="49" charset="-122"/>
              </a:rPr>
              <a:t>主要应用形式：嵌入式系统</a:t>
            </a:r>
            <a:endParaRPr lang="zh-CN" altLang="en-US" sz="2000" dirty="0">
              <a:solidFill>
                <a:schemeClr val="accent2"/>
              </a:solidFill>
              <a:ea typeface="幼圆" panose="02010509060101010101" pitchFamily="49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专用微处理器</a:t>
            </a:r>
            <a:endParaRPr lang="zh-CN" altLang="en-US"/>
          </a:p>
        </p:txBody>
      </p:sp>
      <p:sp>
        <p:nvSpPr>
          <p:cNvPr id="2" name="AutoShape 6"/>
          <p:cNvSpPr>
            <a:spLocks noChangeArrowheads="1"/>
          </p:cNvSpPr>
          <p:nvPr/>
        </p:nvSpPr>
        <p:spPr bwMode="auto">
          <a:xfrm>
            <a:off x="5796136" y="483518"/>
            <a:ext cx="3240360" cy="1091281"/>
          </a:xfrm>
          <a:prstGeom prst="wedgeRoundRectCallout">
            <a:avLst>
              <a:gd name="adj1" fmla="val -55773"/>
              <a:gd name="adj2" fmla="val 19505"/>
              <a:gd name="adj3" fmla="val 16667"/>
            </a:avLst>
          </a:prstGeom>
          <a:solidFill>
            <a:schemeClr val="bg1"/>
          </a:solidFill>
          <a:ln w="38100">
            <a:solidFill>
              <a:schemeClr val="tx2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663300"/>
                </a:solidFill>
              </a:rPr>
              <a:t>将</a:t>
            </a:r>
            <a:r>
              <a:rPr lang="en-US" altLang="zh-CN" sz="1600" b="1" dirty="0">
                <a:solidFill>
                  <a:srgbClr val="663300"/>
                </a:solidFill>
              </a:rPr>
              <a:t>CPU</a:t>
            </a:r>
            <a:r>
              <a:rPr lang="zh-CN" altLang="en-US" sz="1600" b="1" dirty="0">
                <a:solidFill>
                  <a:srgbClr val="663300"/>
                </a:solidFill>
              </a:rPr>
              <a:t>以及其他主要部件（如</a:t>
            </a:r>
            <a:r>
              <a:rPr lang="en-US" altLang="zh-CN" sz="1600" b="1" dirty="0">
                <a:solidFill>
                  <a:srgbClr val="663300"/>
                </a:solidFill>
              </a:rPr>
              <a:t>ROM</a:t>
            </a:r>
            <a:r>
              <a:rPr lang="zh-CN" altLang="en-US" sz="1600" b="1" dirty="0">
                <a:solidFill>
                  <a:srgbClr val="663300"/>
                </a:solidFill>
              </a:rPr>
              <a:t>、</a:t>
            </a:r>
            <a:r>
              <a:rPr lang="en-US" altLang="zh-CN" sz="1600" b="1" dirty="0">
                <a:solidFill>
                  <a:srgbClr val="663300"/>
                </a:solidFill>
              </a:rPr>
              <a:t>RAM</a:t>
            </a:r>
            <a:r>
              <a:rPr lang="zh-CN" altLang="en-US" sz="1600" b="1" dirty="0">
                <a:solidFill>
                  <a:srgbClr val="663300"/>
                </a:solidFill>
              </a:rPr>
              <a:t>、</a:t>
            </a:r>
            <a:r>
              <a:rPr lang="en-US" altLang="zh-CN" sz="1600" b="1" dirty="0">
                <a:solidFill>
                  <a:srgbClr val="663300"/>
                </a:solidFill>
              </a:rPr>
              <a:t>I/O</a:t>
            </a:r>
            <a:r>
              <a:rPr lang="zh-CN" altLang="en-US" sz="1600" b="1" dirty="0">
                <a:solidFill>
                  <a:srgbClr val="663300"/>
                </a:solidFill>
              </a:rPr>
              <a:t>接口）都集成在一个微处理器芯片中</a:t>
            </a:r>
            <a:endParaRPr lang="en-US" altLang="zh-CN" sz="1600" dirty="0">
              <a:solidFill>
                <a:srgbClr val="6633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处理器的基本性能指标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23456" y="1071563"/>
            <a:ext cx="8307820" cy="32845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/>
              <a:t>字长（</a:t>
            </a:r>
            <a:r>
              <a:rPr lang="en-US" altLang="zh-CN" sz="2000" dirty="0"/>
              <a:t>Word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处理器每个时间单位处理的二进制数据位数</a:t>
            </a:r>
            <a:endParaRPr lang="zh-CN" altLang="en-US" sz="20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sz="2000" dirty="0"/>
              <a:t>（例如一次进行运算、传输的位数）</a:t>
            </a:r>
            <a:endParaRPr lang="zh-CN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指示处理器的数据处理能力</a:t>
            </a:r>
            <a:endParaRPr lang="zh-CN" altLang="en-US" sz="2000" dirty="0"/>
          </a:p>
          <a:p>
            <a:pPr>
              <a:lnSpc>
                <a:spcPct val="90000"/>
              </a:lnSpc>
            </a:pPr>
            <a:r>
              <a:rPr lang="zh-CN" altLang="en-US" sz="2000" dirty="0"/>
              <a:t>时钟频率</a:t>
            </a:r>
            <a:endParaRPr lang="zh-CN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处理器的处理速度</a:t>
            </a:r>
            <a:endParaRPr lang="zh-CN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反映处理器的基本时间单位</a:t>
            </a:r>
            <a:endParaRPr lang="zh-CN" altLang="en-US" sz="2000" dirty="0"/>
          </a:p>
          <a:p>
            <a:pPr>
              <a:lnSpc>
                <a:spcPct val="90000"/>
              </a:lnSpc>
            </a:pPr>
            <a:r>
              <a:rPr lang="zh-CN" altLang="en-US" sz="2000" dirty="0"/>
              <a:t>集成度</a:t>
            </a:r>
            <a:endParaRPr lang="zh-CN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芯片上集成的晶体管数量</a:t>
            </a:r>
            <a:endParaRPr lang="zh-CN" altLang="en-US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表明处理器的生产工艺水平</a:t>
            </a:r>
            <a:endParaRPr lang="zh-CN" altLang="en-US" sz="2000" dirty="0"/>
          </a:p>
        </p:txBody>
      </p:sp>
      <p:sp>
        <p:nvSpPr>
          <p:cNvPr id="114692" name="AutoShape 4"/>
          <p:cNvSpPr>
            <a:spLocks noChangeArrowheads="1"/>
          </p:cNvSpPr>
          <p:nvPr/>
        </p:nvSpPr>
        <p:spPr bwMode="auto">
          <a:xfrm>
            <a:off x="3307340" y="1064339"/>
            <a:ext cx="38862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bg2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  <a:defRPr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16</a:t>
            </a:r>
            <a:r>
              <a:rPr lang="zh-CN" altLang="en-US" dirty="0"/>
              <a:t>、</a:t>
            </a:r>
            <a:r>
              <a:rPr lang="en-US" altLang="zh-CN" dirty="0"/>
              <a:t>32</a:t>
            </a:r>
            <a:r>
              <a:rPr lang="zh-CN" altLang="en-US" dirty="0"/>
              <a:t>、</a:t>
            </a:r>
            <a:r>
              <a:rPr lang="en-US" altLang="zh-CN" dirty="0"/>
              <a:t>64</a:t>
            </a:r>
            <a:r>
              <a:rPr lang="zh-CN" altLang="en-US" dirty="0"/>
              <a:t>、</a:t>
            </a:r>
            <a:r>
              <a:rPr lang="en-US" altLang="zh-CN" dirty="0"/>
              <a:t>128</a:t>
            </a:r>
            <a:endParaRPr lang="en-US" altLang="zh-CN" dirty="0"/>
          </a:p>
        </p:txBody>
      </p:sp>
      <p:sp>
        <p:nvSpPr>
          <p:cNvPr id="114693" name="AutoShape 5"/>
          <p:cNvSpPr>
            <a:spLocks noChangeArrowheads="1"/>
          </p:cNvSpPr>
          <p:nvPr/>
        </p:nvSpPr>
        <p:spPr bwMode="auto">
          <a:xfrm>
            <a:off x="4644008" y="2859782"/>
            <a:ext cx="3581400" cy="2857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bg2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spcBef>
                <a:spcPct val="20000"/>
              </a:spcBef>
              <a:defRPr/>
            </a:pPr>
            <a:r>
              <a:rPr lang="en-US" altLang="zh-CN" dirty="0"/>
              <a:t>Hz</a:t>
            </a:r>
            <a:r>
              <a:rPr lang="zh-CN" altLang="en-US" dirty="0"/>
              <a:t>、</a:t>
            </a:r>
            <a:r>
              <a:rPr lang="en-US" altLang="zh-CN" dirty="0"/>
              <a:t>kHz</a:t>
            </a:r>
            <a:r>
              <a:rPr lang="zh-CN" altLang="en-US" dirty="0"/>
              <a:t>、</a:t>
            </a:r>
            <a:r>
              <a:rPr lang="en-US" altLang="zh-CN" dirty="0"/>
              <a:t>MHz</a:t>
            </a:r>
            <a:r>
              <a:rPr lang="zh-CN" altLang="en-US" dirty="0"/>
              <a:t>、</a:t>
            </a:r>
            <a:r>
              <a:rPr lang="en-US" altLang="zh-CN" dirty="0"/>
              <a:t>GHz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  </a:t>
            </a:r>
            <a:r>
              <a:rPr lang="zh-CN" altLang="en-US"/>
              <a:t>微型计算机的系统组成</a:t>
            </a:r>
            <a:endParaRPr lang="zh-CN" altLang="en-US"/>
          </a:p>
        </p:txBody>
      </p:sp>
      <p:grpSp>
        <p:nvGrpSpPr>
          <p:cNvPr id="25605" name="Group 17"/>
          <p:cNvGrpSpPr/>
          <p:nvPr/>
        </p:nvGrpSpPr>
        <p:grpSpPr bwMode="auto">
          <a:xfrm>
            <a:off x="228600" y="1074738"/>
            <a:ext cx="8001000" cy="3783012"/>
            <a:chOff x="144" y="902"/>
            <a:chExt cx="5040" cy="3178"/>
          </a:xfrm>
        </p:grpSpPr>
        <p:sp>
          <p:nvSpPr>
            <p:cNvPr id="25607" name="Oval 5"/>
            <p:cNvSpPr>
              <a:spLocks noChangeArrowheads="1"/>
            </p:cNvSpPr>
            <p:nvPr/>
          </p:nvSpPr>
          <p:spPr bwMode="auto">
            <a:xfrm>
              <a:off x="672" y="1440"/>
              <a:ext cx="4080" cy="2640"/>
            </a:xfrm>
            <a:prstGeom prst="ellipse">
              <a:avLst/>
            </a:prstGeom>
            <a:solidFill>
              <a:srgbClr val="969696"/>
            </a:solidFill>
            <a:ln w="12700">
              <a:solidFill>
                <a:srgbClr val="A50021"/>
              </a:solidFill>
              <a:rou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1344" y="1680"/>
              <a:ext cx="2832" cy="1776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rgbClr val="A50021"/>
              </a:solidFill>
              <a:rou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1872" y="1824"/>
              <a:ext cx="1776" cy="816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rgbClr val="A50021"/>
              </a:solidFill>
              <a:rou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10" name="Text Box 8"/>
            <p:cNvSpPr txBox="1">
              <a:spLocks noChangeArrowheads="1"/>
            </p:cNvSpPr>
            <p:nvPr/>
          </p:nvSpPr>
          <p:spPr bwMode="auto">
            <a:xfrm>
              <a:off x="2112" y="1968"/>
              <a:ext cx="1344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运算器</a:t>
              </a: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      </a:t>
              </a: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控制器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      寄存器组</a:t>
              </a: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        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5611" name="Text Box 9"/>
            <p:cNvSpPr txBox="1">
              <a:spLocks noChangeArrowheads="1"/>
            </p:cNvSpPr>
            <p:nvPr/>
          </p:nvSpPr>
          <p:spPr bwMode="auto">
            <a:xfrm>
              <a:off x="1488" y="2592"/>
              <a:ext cx="2736" cy="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内存储器                                        总线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输入输出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接口电路</a:t>
              </a:r>
              <a:endParaRPr lang="zh-CN" altLang="en-US" sz="1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2" name="Text Box 10"/>
            <p:cNvSpPr txBox="1">
              <a:spLocks noChangeArrowheads="1"/>
            </p:cNvSpPr>
            <p:nvPr/>
          </p:nvSpPr>
          <p:spPr bwMode="auto">
            <a:xfrm>
              <a:off x="1488" y="3408"/>
              <a:ext cx="259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外部设备                    软件</a:t>
              </a:r>
              <a:endPara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613" name="Line 11"/>
            <p:cNvSpPr>
              <a:spLocks noChangeShapeType="1"/>
            </p:cNvSpPr>
            <p:nvPr/>
          </p:nvSpPr>
          <p:spPr bwMode="auto">
            <a:xfrm flipV="1">
              <a:off x="3360" y="1440"/>
              <a:ext cx="1296" cy="62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sm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4" name="Text Box 12"/>
            <p:cNvSpPr txBox="1">
              <a:spLocks noChangeArrowheads="1"/>
            </p:cNvSpPr>
            <p:nvPr/>
          </p:nvSpPr>
          <p:spPr bwMode="auto">
            <a:xfrm>
              <a:off x="4272" y="1152"/>
              <a:ext cx="91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微处理器</a:t>
              </a:r>
              <a:endPara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5615" name="Line 13"/>
            <p:cNvSpPr>
              <a:spLocks noChangeShapeType="1"/>
            </p:cNvSpPr>
            <p:nvPr/>
          </p:nvSpPr>
          <p:spPr bwMode="auto">
            <a:xfrm flipH="1" flipV="1">
              <a:off x="624" y="1632"/>
              <a:ext cx="1056" cy="617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6" name="Text Box 14"/>
            <p:cNvSpPr txBox="1">
              <a:spLocks noChangeArrowheads="1"/>
            </p:cNvSpPr>
            <p:nvPr/>
          </p:nvSpPr>
          <p:spPr bwMode="auto">
            <a:xfrm>
              <a:off x="144" y="1334"/>
              <a:ext cx="96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微型计算机</a:t>
              </a:r>
              <a:endPara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5617" name="Line 15"/>
            <p:cNvSpPr>
              <a:spLocks noChangeShapeType="1"/>
            </p:cNvSpPr>
            <p:nvPr/>
          </p:nvSpPr>
          <p:spPr bwMode="auto">
            <a:xfrm flipV="1">
              <a:off x="2640" y="1200"/>
              <a:ext cx="0" cy="38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8" name="Text Box 16"/>
            <p:cNvSpPr txBox="1">
              <a:spLocks noChangeArrowheads="1"/>
            </p:cNvSpPr>
            <p:nvPr/>
          </p:nvSpPr>
          <p:spPr bwMode="auto">
            <a:xfrm>
              <a:off x="1920" y="902"/>
              <a:ext cx="14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微型计算机系统</a:t>
              </a:r>
              <a:endPara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628650" y="699542"/>
            <a:ext cx="7886700" cy="39604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zh-CN" altLang="en-US" sz="2800" b="1" dirty="0"/>
              <a:t>微处理器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Microprocessor</a:t>
            </a:r>
            <a:r>
              <a:rPr kumimoji="0" lang="zh-CN" altLang="en-US" sz="2800" dirty="0"/>
              <a:t>）</a:t>
            </a:r>
            <a:endParaRPr kumimoji="0" lang="zh-CN" altLang="en-US" sz="28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一个大规模集成电路芯片</a:t>
            </a:r>
            <a:endParaRPr kumimoji="0" lang="zh-CN" altLang="en-US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内含控制器、运算器和寄存器等</a:t>
            </a:r>
            <a:endParaRPr kumimoji="0" lang="zh-CN" altLang="en-US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微机中的核心芯片</a:t>
            </a:r>
            <a:endParaRPr kumimoji="0" lang="zh-CN" altLang="en-US" dirty="0"/>
          </a:p>
          <a:p>
            <a:pPr fontAlgn="auto">
              <a:spcAft>
                <a:spcPts val="0"/>
              </a:spcAft>
            </a:pPr>
            <a:r>
              <a:rPr kumimoji="0" lang="zh-CN" altLang="en-US" sz="2800" b="1" dirty="0"/>
              <a:t>微型计算机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Microcomputer</a:t>
            </a:r>
            <a:r>
              <a:rPr kumimoji="0" lang="zh-CN" altLang="en-US" sz="2800" dirty="0"/>
              <a:t>）</a:t>
            </a:r>
            <a:endParaRPr kumimoji="0" lang="zh-CN" altLang="en-US" sz="28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通常指微型计算机的硬件系统</a:t>
            </a:r>
            <a:endParaRPr kumimoji="0" lang="zh-CN" altLang="en-US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还有一般的说法：</a:t>
            </a:r>
            <a:r>
              <a:rPr kumimoji="0" lang="zh-CN" altLang="en-US" b="1" dirty="0"/>
              <a:t>微机、微型机</a:t>
            </a:r>
            <a:endParaRPr kumimoji="0" lang="zh-CN" altLang="en-US" b="1" dirty="0"/>
          </a:p>
          <a:p>
            <a:pPr fontAlgn="auto">
              <a:spcAft>
                <a:spcPts val="0"/>
              </a:spcAft>
            </a:pPr>
            <a:r>
              <a:rPr kumimoji="0" lang="zh-CN" altLang="en-US" sz="2800" b="1" dirty="0"/>
              <a:t>微型计算机系统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Microcomputer system</a:t>
            </a:r>
            <a:r>
              <a:rPr kumimoji="0" lang="zh-CN" altLang="en-US" sz="2800" dirty="0"/>
              <a:t>）</a:t>
            </a:r>
            <a:endParaRPr kumimoji="0" lang="zh-CN" altLang="en-US" sz="28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dirty="0"/>
              <a:t>指由硬件和软件共同组成的完整的计算机系统</a:t>
            </a:r>
            <a:endParaRPr kumimoji="0" lang="zh-CN" altLang="en-US" dirty="0"/>
          </a:p>
        </p:txBody>
      </p:sp>
    </p:spTree>
  </p:cSld>
  <p:clrMapOvr>
    <a:masterClrMapping/>
  </p:clrMapOvr>
  <p:transition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1.2.1 </a:t>
            </a:r>
            <a:r>
              <a:rPr lang="zh-CN" altLang="en-US"/>
              <a:t>冯</a:t>
            </a:r>
            <a:r>
              <a:rPr lang="en-US" altLang="zh-CN"/>
              <a:t>·</a:t>
            </a:r>
            <a:r>
              <a:rPr lang="zh-CN" altLang="en-US"/>
              <a:t>诺依曼计算机结构</a:t>
            </a:r>
            <a:endParaRPr lang="zh-CN" altLang="en-US"/>
          </a:p>
        </p:txBody>
      </p:sp>
      <p:pic>
        <p:nvPicPr>
          <p:cNvPr id="26627" name="Picture 4" descr="第一台电子计算机ENIA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54" y="1090845"/>
            <a:ext cx="5998982" cy="389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5976938" y="4686300"/>
            <a:ext cx="1044575" cy="46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ENIAC</a:t>
            </a:r>
            <a:endParaRPr lang="en-US" altLang="zh-CN">
              <a:solidFill>
                <a:schemeClr val="tx2"/>
              </a:solidFill>
            </a:endParaRPr>
          </a:p>
        </p:txBody>
      </p:sp>
      <p:pic>
        <p:nvPicPr>
          <p:cNvPr id="26629" name="Picture 6" descr="冯诺依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915566"/>
            <a:ext cx="1977613" cy="198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7452320" y="2897111"/>
            <a:ext cx="1522413" cy="46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dirty="0">
                <a:solidFill>
                  <a:schemeClr val="tx2"/>
                </a:solidFill>
              </a:rPr>
              <a:t>冯·</a:t>
            </a:r>
            <a:r>
              <a:rPr lang="zh-CN" altLang="en-US" dirty="0">
                <a:solidFill>
                  <a:schemeClr val="tx2"/>
                </a:solidFill>
              </a:rPr>
              <a:t>诺伊曼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冯</a:t>
            </a:r>
            <a:r>
              <a:rPr lang="en-US" altLang="zh-CN"/>
              <a:t>·</a:t>
            </a:r>
            <a:r>
              <a:rPr lang="zh-CN" altLang="en-US"/>
              <a:t>诺伊曼计算机的基本思想</a:t>
            </a: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1071563"/>
            <a:ext cx="8574087" cy="3284537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采用二进制形式表示数据和指令。指令由操作码和地址码组成。</a:t>
            </a:r>
            <a:endParaRPr lang="zh-CN" altLang="en-US" sz="2400" dirty="0"/>
          </a:p>
          <a:p>
            <a:r>
              <a:rPr lang="zh-CN" altLang="en-US" sz="2400" dirty="0"/>
              <a:t>将程序和数据存放在存储器中，计算机在工作时从存储器取出指令加以执行，自动完成计算任务。这就是</a:t>
            </a:r>
            <a:r>
              <a:rPr lang="zh-CN" altLang="en-US" sz="2400" b="1" dirty="0">
                <a:solidFill>
                  <a:srgbClr val="FF0000"/>
                </a:solidFill>
              </a:rPr>
              <a:t>“存储程序”</a:t>
            </a:r>
            <a:r>
              <a:rPr lang="zh-CN" altLang="en-US" sz="2400" dirty="0"/>
              <a:t>和“程序控制”（简称存储程序控制）的概念。</a:t>
            </a:r>
            <a:endParaRPr lang="zh-CN" altLang="en-US" sz="2400" dirty="0"/>
          </a:p>
          <a:p>
            <a:r>
              <a:rPr lang="zh-CN" altLang="en-US" sz="2400" dirty="0"/>
              <a:t>指令的执行是顺序的，即一般按照指令在存储器中存放的顺序执行，程序分支由转移指令实现。</a:t>
            </a:r>
            <a:endParaRPr lang="zh-CN" altLang="en-US" sz="2400" dirty="0"/>
          </a:p>
          <a:p>
            <a:r>
              <a:rPr lang="zh-CN" altLang="en-US" sz="2400" dirty="0"/>
              <a:t>计算机由存储器、运算器、控制器、输入设备和输出设备五大基本部件组成，并规定了</a:t>
            </a:r>
            <a:r>
              <a:rPr lang="en-US" altLang="zh-CN" sz="2400" dirty="0"/>
              <a:t>5</a:t>
            </a:r>
            <a:r>
              <a:rPr lang="zh-CN" altLang="en-US" sz="2400" dirty="0"/>
              <a:t>部分的基本功能。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37"/>
          <p:cNvGrpSpPr/>
          <p:nvPr/>
        </p:nvGrpSpPr>
        <p:grpSpPr bwMode="auto">
          <a:xfrm>
            <a:off x="971550" y="1225550"/>
            <a:ext cx="7486650" cy="3689350"/>
            <a:chOff x="612" y="1029"/>
            <a:chExt cx="4716" cy="3099"/>
          </a:xfrm>
        </p:grpSpPr>
        <p:sp>
          <p:nvSpPr>
            <p:cNvPr id="34823" name="Rectangle 9"/>
            <p:cNvSpPr>
              <a:spLocks noChangeArrowheads="1"/>
            </p:cNvSpPr>
            <p:nvPr/>
          </p:nvSpPr>
          <p:spPr bwMode="auto">
            <a:xfrm>
              <a:off x="1488" y="3762"/>
              <a:ext cx="27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图</a:t>
              </a:r>
              <a:r>
                <a:rPr kumimoji="0"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1.1 </a:t>
              </a:r>
              <a:r>
                <a:rPr kumimoji="0"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微型计算机的系统组成</a:t>
              </a:r>
              <a:endPara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824" name="Rectangle 10"/>
            <p:cNvSpPr>
              <a:spLocks noChangeArrowheads="1"/>
            </p:cNvSpPr>
            <p:nvPr/>
          </p:nvSpPr>
          <p:spPr bwMode="auto">
            <a:xfrm>
              <a:off x="4210" y="1846"/>
              <a:ext cx="1118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控制总线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CB</a:t>
              </a:r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5" name="Rectangle 11"/>
            <p:cNvSpPr>
              <a:spLocks noChangeArrowheads="1"/>
            </p:cNvSpPr>
            <p:nvPr/>
          </p:nvSpPr>
          <p:spPr bwMode="auto">
            <a:xfrm>
              <a:off x="4210" y="1533"/>
              <a:ext cx="1118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数据总线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DB</a:t>
              </a:r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6" name="Rectangle 12"/>
            <p:cNvSpPr>
              <a:spLocks noChangeArrowheads="1"/>
            </p:cNvSpPr>
            <p:nvPr/>
          </p:nvSpPr>
          <p:spPr bwMode="auto">
            <a:xfrm>
              <a:off x="4210" y="1238"/>
              <a:ext cx="111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地址总线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AB</a:t>
              </a:r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7" name="Rectangle 13"/>
            <p:cNvSpPr>
              <a:spLocks noChangeArrowheads="1"/>
            </p:cNvSpPr>
            <p:nvPr/>
          </p:nvSpPr>
          <p:spPr bwMode="auto">
            <a:xfrm>
              <a:off x="1410" y="1295"/>
              <a:ext cx="312" cy="1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系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统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总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线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形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成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8" name="Rectangle 14"/>
            <p:cNvSpPr>
              <a:spLocks noChangeArrowheads="1"/>
            </p:cNvSpPr>
            <p:nvPr/>
          </p:nvSpPr>
          <p:spPr bwMode="auto">
            <a:xfrm>
              <a:off x="701" y="1314"/>
              <a:ext cx="311" cy="1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处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理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器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子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系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统</a:t>
              </a:r>
              <a:endParaRPr kumimoji="0" lang="zh-CN" altLang="en-US" b="1">
                <a:latin typeface="Times New Roman" panose="02020603050405020304" pitchFamily="18" charset="0"/>
              </a:endParaRPr>
            </a:p>
            <a:p>
              <a:pPr algn="ctr"/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29" name="Rectangle 15"/>
            <p:cNvSpPr>
              <a:spLocks noChangeArrowheads="1"/>
            </p:cNvSpPr>
            <p:nvPr/>
          </p:nvSpPr>
          <p:spPr bwMode="auto">
            <a:xfrm>
              <a:off x="3072" y="3166"/>
              <a:ext cx="764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b="1">
                  <a:latin typeface="Times New Roman" panose="02020603050405020304" pitchFamily="18" charset="0"/>
                </a:rPr>
                <a:t>I/O</a:t>
              </a:r>
              <a:r>
                <a:rPr kumimoji="0" lang="zh-CN" altLang="en-US" b="1">
                  <a:latin typeface="Times New Roman" panose="02020603050405020304" pitchFamily="18" charset="0"/>
                </a:rPr>
                <a:t>设备</a:t>
              </a:r>
              <a:endParaRPr kumimoji="0"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34830" name="Rectangle 16"/>
            <p:cNvSpPr>
              <a:spLocks noChangeArrowheads="1"/>
            </p:cNvSpPr>
            <p:nvPr/>
          </p:nvSpPr>
          <p:spPr bwMode="auto">
            <a:xfrm>
              <a:off x="3120" y="2393"/>
              <a:ext cx="716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b="1">
                  <a:latin typeface="Times New Roman" panose="02020603050405020304" pitchFamily="18" charset="0"/>
                </a:rPr>
                <a:t>I/O</a:t>
              </a:r>
              <a:r>
                <a:rPr kumimoji="0" lang="zh-CN" altLang="en-US" b="1">
                  <a:latin typeface="Times New Roman" panose="02020603050405020304" pitchFamily="18" charset="0"/>
                </a:rPr>
                <a:t>接口</a:t>
              </a:r>
              <a:endParaRPr kumimoji="0"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34831" name="Rectangle 17"/>
            <p:cNvSpPr>
              <a:spLocks noChangeArrowheads="1"/>
            </p:cNvSpPr>
            <p:nvPr/>
          </p:nvSpPr>
          <p:spPr bwMode="auto">
            <a:xfrm>
              <a:off x="2015" y="2393"/>
              <a:ext cx="668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存储器</a:t>
              </a:r>
              <a:endParaRPr kumimoji="0"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34832" name="Rectangle 18"/>
            <p:cNvSpPr>
              <a:spLocks noChangeArrowheads="1"/>
            </p:cNvSpPr>
            <p:nvPr/>
          </p:nvSpPr>
          <p:spPr bwMode="auto">
            <a:xfrm>
              <a:off x="2370" y="1029"/>
              <a:ext cx="1215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b="1">
                  <a:latin typeface="Times New Roman" panose="02020603050405020304" pitchFamily="18" charset="0"/>
                </a:rPr>
                <a:t>系统总线</a:t>
              </a:r>
              <a:r>
                <a:rPr kumimoji="0" lang="en-US" altLang="zh-CN" b="1">
                  <a:latin typeface="Times New Roman" panose="02020603050405020304" pitchFamily="18" charset="0"/>
                </a:rPr>
                <a:t>BUS</a:t>
              </a:r>
              <a:endParaRPr kumimoji="0"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4833" name="Rectangle 19"/>
            <p:cNvSpPr>
              <a:spLocks noChangeArrowheads="1"/>
            </p:cNvSpPr>
            <p:nvPr/>
          </p:nvSpPr>
          <p:spPr bwMode="auto">
            <a:xfrm>
              <a:off x="3037" y="2271"/>
              <a:ext cx="890" cy="132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4" name="Rectangle 20"/>
            <p:cNvSpPr>
              <a:spLocks noChangeArrowheads="1"/>
            </p:cNvSpPr>
            <p:nvPr/>
          </p:nvSpPr>
          <p:spPr bwMode="auto">
            <a:xfrm>
              <a:off x="612" y="1038"/>
              <a:ext cx="459" cy="21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5" name="Rectangle 21"/>
            <p:cNvSpPr>
              <a:spLocks noChangeArrowheads="1"/>
            </p:cNvSpPr>
            <p:nvPr/>
          </p:nvSpPr>
          <p:spPr bwMode="auto">
            <a:xfrm>
              <a:off x="1381" y="1038"/>
              <a:ext cx="326" cy="217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36" name="Line 22"/>
            <p:cNvSpPr>
              <a:spLocks noChangeShapeType="1"/>
            </p:cNvSpPr>
            <p:nvPr/>
          </p:nvSpPr>
          <p:spPr bwMode="auto">
            <a:xfrm>
              <a:off x="1721" y="1387"/>
              <a:ext cx="239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Line 23"/>
            <p:cNvSpPr>
              <a:spLocks noChangeShapeType="1"/>
            </p:cNvSpPr>
            <p:nvPr/>
          </p:nvSpPr>
          <p:spPr bwMode="auto">
            <a:xfrm>
              <a:off x="1721" y="1663"/>
              <a:ext cx="239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Line 24"/>
            <p:cNvSpPr>
              <a:spLocks noChangeShapeType="1"/>
            </p:cNvSpPr>
            <p:nvPr/>
          </p:nvSpPr>
          <p:spPr bwMode="auto">
            <a:xfrm>
              <a:off x="1721" y="1921"/>
              <a:ext cx="239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Rectangle 25"/>
            <p:cNvSpPr>
              <a:spLocks noChangeArrowheads="1"/>
            </p:cNvSpPr>
            <p:nvPr/>
          </p:nvSpPr>
          <p:spPr bwMode="auto">
            <a:xfrm>
              <a:off x="3081" y="2363"/>
              <a:ext cx="785" cy="36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40" name="Line 26"/>
            <p:cNvSpPr>
              <a:spLocks noChangeShapeType="1"/>
            </p:cNvSpPr>
            <p:nvPr/>
          </p:nvSpPr>
          <p:spPr bwMode="auto">
            <a:xfrm>
              <a:off x="3480" y="2750"/>
              <a:ext cx="1" cy="36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27"/>
            <p:cNvSpPr>
              <a:spLocks noChangeShapeType="1"/>
            </p:cNvSpPr>
            <p:nvPr/>
          </p:nvSpPr>
          <p:spPr bwMode="auto">
            <a:xfrm flipH="1">
              <a:off x="1078" y="1672"/>
              <a:ext cx="297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Line 28"/>
            <p:cNvSpPr>
              <a:spLocks noChangeShapeType="1"/>
            </p:cNvSpPr>
            <p:nvPr/>
          </p:nvSpPr>
          <p:spPr bwMode="auto">
            <a:xfrm>
              <a:off x="3259" y="1406"/>
              <a:ext cx="1" cy="93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29"/>
            <p:cNvSpPr>
              <a:spLocks noChangeShapeType="1"/>
            </p:cNvSpPr>
            <p:nvPr/>
          </p:nvSpPr>
          <p:spPr bwMode="auto">
            <a:xfrm>
              <a:off x="3481" y="1699"/>
              <a:ext cx="1" cy="6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Line 30"/>
            <p:cNvSpPr>
              <a:spLocks noChangeShapeType="1"/>
            </p:cNvSpPr>
            <p:nvPr/>
          </p:nvSpPr>
          <p:spPr bwMode="auto">
            <a:xfrm>
              <a:off x="3702" y="1965"/>
              <a:ext cx="1" cy="3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Rectangle 31"/>
            <p:cNvSpPr>
              <a:spLocks noChangeArrowheads="1"/>
            </p:cNvSpPr>
            <p:nvPr/>
          </p:nvSpPr>
          <p:spPr bwMode="auto">
            <a:xfrm>
              <a:off x="1952" y="2319"/>
              <a:ext cx="784" cy="36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46" name="Rectangle 32"/>
            <p:cNvSpPr>
              <a:spLocks noChangeArrowheads="1"/>
            </p:cNvSpPr>
            <p:nvPr/>
          </p:nvSpPr>
          <p:spPr bwMode="auto">
            <a:xfrm>
              <a:off x="3081" y="3136"/>
              <a:ext cx="785" cy="37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847" name="Line 33"/>
            <p:cNvSpPr>
              <a:spLocks noChangeShapeType="1"/>
            </p:cNvSpPr>
            <p:nvPr/>
          </p:nvSpPr>
          <p:spPr bwMode="auto">
            <a:xfrm>
              <a:off x="2135" y="1376"/>
              <a:ext cx="1" cy="9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Line 34"/>
            <p:cNvSpPr>
              <a:spLocks noChangeShapeType="1"/>
            </p:cNvSpPr>
            <p:nvPr/>
          </p:nvSpPr>
          <p:spPr bwMode="auto">
            <a:xfrm>
              <a:off x="2357" y="1670"/>
              <a:ext cx="1" cy="6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Line 35"/>
            <p:cNvSpPr>
              <a:spLocks noChangeShapeType="1"/>
            </p:cNvSpPr>
            <p:nvPr/>
          </p:nvSpPr>
          <p:spPr bwMode="auto">
            <a:xfrm>
              <a:off x="2578" y="1936"/>
              <a:ext cx="1" cy="3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1.2.2 </a:t>
            </a:r>
            <a:r>
              <a:rPr lang="zh-CN" altLang="en-US"/>
              <a:t>微型计算机的硬件组成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6347059" y="75036"/>
            <a:ext cx="2605534" cy="1356471"/>
          </a:xfrm>
          <a:solidFill>
            <a:schemeClr val="bg1"/>
          </a:solidFill>
          <a:ln w="76200" cmpd="tri">
            <a:solidFill>
              <a:schemeClr val="tx2"/>
            </a:solidFill>
            <a:miter lim="800000"/>
          </a:ln>
        </p:spPr>
        <p:txBody>
          <a:bodyPr>
            <a:normAutofit fontScale="70000" lnSpcReduction="20000"/>
          </a:bodyPr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微处理器子系统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存储器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接口</a:t>
            </a:r>
            <a:endParaRPr lang="en-US" altLang="zh-CN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系统总线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291059" y="3172376"/>
            <a:ext cx="1572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所有的外部设备都通过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I/O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接口与主机系统进行信息交换。</a:t>
            </a:r>
            <a:endParaRPr lang="en-US" altLang="zh-CN" sz="16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系统总线</a:t>
            </a:r>
            <a:endParaRPr lang="zh-CN" alt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总线是传送信息的公共通道</a:t>
            </a:r>
            <a:endParaRPr lang="zh-CN" altLang="en-US" dirty="0"/>
          </a:p>
          <a:p>
            <a:pPr eaLnBrk="1" hangingPunct="1"/>
            <a:r>
              <a:rPr lang="zh-CN" altLang="en-US" dirty="0"/>
              <a:t>微机系统采用总线结构连接系统功能部件</a:t>
            </a:r>
            <a:endParaRPr lang="zh-CN" altLang="en-US" dirty="0"/>
          </a:p>
          <a:p>
            <a:pPr eaLnBrk="1" hangingPunct="1"/>
            <a:r>
              <a:rPr lang="zh-CN" altLang="en-US" dirty="0"/>
              <a:t>总线信号可分成三组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地址总线</a:t>
            </a:r>
            <a:r>
              <a:rPr lang="en-US" altLang="zh-CN" dirty="0"/>
              <a:t>AB</a:t>
            </a:r>
            <a:r>
              <a:rPr lang="zh-CN" altLang="en-US" dirty="0"/>
              <a:t>：传送地址信息</a:t>
            </a:r>
            <a:endParaRPr lang="zh-CN" altLang="en-US" dirty="0">
              <a:hlinkClick r:id="" action="ppaction://noaction"/>
            </a:endParaRPr>
          </a:p>
          <a:p>
            <a:pPr lvl="1" eaLnBrk="1" hangingPunct="1"/>
            <a:r>
              <a:rPr lang="zh-CN" altLang="en-US" dirty="0"/>
              <a:t>数据总线</a:t>
            </a:r>
            <a:r>
              <a:rPr lang="en-US" altLang="zh-CN" dirty="0"/>
              <a:t>DB </a:t>
            </a:r>
            <a:r>
              <a:rPr lang="zh-CN" altLang="en-US" dirty="0"/>
              <a:t>：传送数据信息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控制总线</a:t>
            </a:r>
            <a:r>
              <a:rPr lang="en-US" altLang="zh-CN" dirty="0"/>
              <a:t>CB </a:t>
            </a:r>
            <a:r>
              <a:rPr lang="zh-CN" altLang="en-US" dirty="0"/>
              <a:t>：传送控制信息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总线信号</a:t>
            </a:r>
            <a:endParaRPr lang="zh-CN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33844" y="1314450"/>
            <a:ext cx="8321243" cy="32845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地址总线</a:t>
            </a:r>
            <a:r>
              <a:rPr lang="en-US" altLang="zh-CN" sz="2000" dirty="0"/>
              <a:t>AB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输出将要访问的内存单元或</a:t>
            </a:r>
            <a:r>
              <a:rPr lang="en-US" altLang="zh-CN" sz="2000" dirty="0"/>
              <a:t>I/O</a:t>
            </a:r>
            <a:r>
              <a:rPr lang="zh-CN" altLang="en-US" sz="2000" dirty="0"/>
              <a:t>端口的地址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地址线的多少决定了系统</a:t>
            </a:r>
            <a:r>
              <a:rPr lang="zh-CN" altLang="en-US" sz="2000" u="sng" dirty="0"/>
              <a:t>直接寻址</a:t>
            </a:r>
            <a:r>
              <a:rPr lang="zh-CN" altLang="en-US" sz="2000" dirty="0"/>
              <a:t>存储器的范围</a:t>
            </a:r>
            <a:endParaRPr lang="zh-CN" altLang="en-US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数据总线</a:t>
            </a:r>
            <a:r>
              <a:rPr lang="en-US" altLang="zh-CN" sz="2000" dirty="0"/>
              <a:t>DB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CPU</a:t>
            </a:r>
            <a:r>
              <a:rPr lang="zh-CN" altLang="en-US" sz="2000" dirty="0"/>
              <a:t>读操作时，外部数据通过数据总线送往</a:t>
            </a:r>
            <a:r>
              <a:rPr lang="en-US" altLang="zh-CN" sz="2000" dirty="0"/>
              <a:t>CPU 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CPU</a:t>
            </a:r>
            <a:r>
              <a:rPr lang="zh-CN" altLang="en-US" sz="2000" dirty="0"/>
              <a:t>写操作时，</a:t>
            </a:r>
            <a:r>
              <a:rPr lang="en-US" altLang="zh-CN" sz="2000" dirty="0"/>
              <a:t>CPU</a:t>
            </a:r>
            <a:r>
              <a:rPr lang="zh-CN" altLang="en-US" sz="2000" dirty="0"/>
              <a:t>数据通过数据总线送往外部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数据线的多少决定了一次能够传送数据的位数</a:t>
            </a:r>
            <a:endParaRPr lang="zh-CN" altLang="en-US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控制总线</a:t>
            </a:r>
            <a:r>
              <a:rPr lang="en-US" altLang="zh-CN" sz="2000" dirty="0"/>
              <a:t>CB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协调系统中各部件的操作，有输出控制、输入状态等信号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/>
              <a:t>控制总线决定了系统总线的特点，例如功能、适应性等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33845" y="274320"/>
            <a:ext cx="7886700" cy="994172"/>
          </a:xfrm>
        </p:spPr>
        <p:txBody>
          <a:bodyPr/>
          <a:lstStyle/>
          <a:p>
            <a:pPr eaLnBrk="1" hangingPunct="1"/>
            <a:r>
              <a:rPr lang="en-US" altLang="zh-CN" dirty="0"/>
              <a:t>Intel 80x86CPU</a:t>
            </a:r>
            <a:r>
              <a:rPr lang="zh-CN" altLang="en-US" dirty="0"/>
              <a:t>的地址线条数</a:t>
            </a:r>
            <a:endParaRPr lang="zh-CN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68400"/>
            <a:ext cx="8574088" cy="356393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tabLst>
                <a:tab pos="3232150" algn="l"/>
                <a:tab pos="5737225" algn="l"/>
              </a:tabLst>
            </a:pPr>
            <a:r>
              <a:rPr lang="en-US" altLang="zh-CN" sz="3600" dirty="0"/>
              <a:t>Intel80x86	</a:t>
            </a:r>
            <a:r>
              <a:rPr lang="zh-CN" altLang="en-US" sz="3600" dirty="0"/>
              <a:t>地址条数	存储容量</a:t>
            </a:r>
            <a:endParaRPr lang="zh-CN" altLang="en-US" sz="3600" dirty="0"/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8086	20	1MB</a:t>
            </a:r>
            <a:endParaRPr lang="en-US" altLang="zh-CN" dirty="0"/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8088	20	1MB</a:t>
            </a:r>
            <a:endParaRPr lang="en-US" altLang="zh-CN" dirty="0"/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80286	24	16MB</a:t>
            </a:r>
            <a:endParaRPr lang="en-US" altLang="zh-CN" dirty="0"/>
          </a:p>
          <a:p>
            <a:pPr marL="0" indent="0" eaLnBrk="1" hangingPunct="1">
              <a:tabLst>
                <a:tab pos="3232150" algn="l"/>
                <a:tab pos="5737225" algn="l"/>
              </a:tabLst>
            </a:pPr>
            <a:r>
              <a:rPr lang="en-US" altLang="zh-CN" dirty="0"/>
              <a:t>80386	32	4GB</a:t>
            </a:r>
            <a:endParaRPr lang="en-US" altLang="zh-CN" dirty="0"/>
          </a:p>
          <a:p>
            <a:pPr marL="0" indent="0" eaLnBrk="1" hangingPunct="1">
              <a:buFont typeface="Wingdings" panose="05000000000000000000" pitchFamily="2" charset="2"/>
              <a:buNone/>
              <a:tabLst>
                <a:tab pos="3232150" algn="l"/>
                <a:tab pos="5737225" algn="l"/>
              </a:tabLst>
            </a:pPr>
            <a:r>
              <a:rPr lang="en-US" altLang="zh-CN" dirty="0"/>
              <a:t>~Pentium4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33845" y="274320"/>
            <a:ext cx="7886700" cy="994172"/>
          </a:xfrm>
        </p:spPr>
        <p:txBody>
          <a:bodyPr/>
          <a:lstStyle/>
          <a:p>
            <a:pPr eaLnBrk="1" hangingPunct="1"/>
            <a:r>
              <a:rPr lang="en-US" altLang="zh-CN"/>
              <a:t>Intel 80x86CPU</a:t>
            </a:r>
            <a:r>
              <a:rPr lang="zh-CN" altLang="en-US"/>
              <a:t>的数据线条数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68400"/>
            <a:ext cx="8574088" cy="356393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tabLst>
                <a:tab pos="5386070" algn="l"/>
              </a:tabLst>
            </a:pPr>
            <a:r>
              <a:rPr lang="en-US" altLang="zh-CN" sz="3600"/>
              <a:t>Intel 80x86	</a:t>
            </a:r>
            <a:r>
              <a:rPr lang="zh-CN" altLang="en-US" sz="3600"/>
              <a:t>数据位数</a:t>
            </a:r>
            <a:endParaRPr lang="zh-CN" altLang="en-US" sz="3600"/>
          </a:p>
          <a:p>
            <a:pPr marL="0" indent="0" eaLnBrk="1" hangingPunct="1">
              <a:tabLst>
                <a:tab pos="5386070" algn="l"/>
              </a:tabLst>
            </a:pPr>
            <a:r>
              <a:rPr lang="en-US" altLang="zh-CN" sz="3600"/>
              <a:t>8086	16</a:t>
            </a:r>
            <a:endParaRPr lang="en-US" altLang="zh-CN" sz="3600"/>
          </a:p>
          <a:p>
            <a:pPr marL="0" indent="0" eaLnBrk="1" hangingPunct="1">
              <a:tabLst>
                <a:tab pos="5386070" algn="l"/>
              </a:tabLst>
            </a:pPr>
            <a:r>
              <a:rPr lang="en-US" altLang="zh-CN" sz="3600"/>
              <a:t>8088	8</a:t>
            </a:r>
            <a:endParaRPr lang="en-US" altLang="zh-CN" sz="3600"/>
          </a:p>
          <a:p>
            <a:pPr marL="0" indent="0" eaLnBrk="1" hangingPunct="1">
              <a:tabLst>
                <a:tab pos="5386070" algn="l"/>
              </a:tabLst>
            </a:pPr>
            <a:r>
              <a:rPr lang="en-US" altLang="zh-CN" sz="3600"/>
              <a:t>80286	16</a:t>
            </a:r>
            <a:endParaRPr lang="en-US" altLang="zh-CN" sz="3600"/>
          </a:p>
          <a:p>
            <a:pPr marL="0" indent="0" eaLnBrk="1" hangingPunct="1">
              <a:tabLst>
                <a:tab pos="5386070" algn="l"/>
              </a:tabLst>
            </a:pPr>
            <a:r>
              <a:rPr lang="en-US" altLang="zh-CN" sz="3600"/>
              <a:t>80386~Pentium 4	32</a:t>
            </a:r>
            <a:endParaRPr lang="en-US" altLang="zh-CN"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33845" y="274320"/>
            <a:ext cx="7886700" cy="994172"/>
          </a:xfrm>
        </p:spPr>
        <p:txBody>
          <a:bodyPr/>
          <a:lstStyle/>
          <a:p>
            <a:pPr eaLnBrk="1" hangingPunct="1"/>
            <a:r>
              <a:rPr lang="zh-CN" altLang="en-US"/>
              <a:t>系统总线的使用特点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68400"/>
            <a:ext cx="8574088" cy="3563938"/>
          </a:xfrm>
        </p:spPr>
        <p:txBody>
          <a:bodyPr/>
          <a:lstStyle/>
          <a:p>
            <a:pPr marL="0" indent="0" eaLnBrk="1" hangingPunct="1">
              <a:tabLst>
                <a:tab pos="5386070" algn="l"/>
              </a:tabLst>
            </a:pPr>
            <a:r>
              <a:rPr lang="zh-CN" altLang="en-US" sz="2800"/>
              <a:t>除了</a:t>
            </a:r>
            <a:r>
              <a:rPr lang="en-US" altLang="zh-CN" sz="2800"/>
              <a:t>CPU</a:t>
            </a:r>
            <a:r>
              <a:rPr lang="zh-CN" altLang="en-US" sz="2800"/>
              <a:t>外，还有</a:t>
            </a:r>
            <a:r>
              <a:rPr lang="en-US" altLang="zh-CN" sz="2800"/>
              <a:t>DMA</a:t>
            </a:r>
            <a:r>
              <a:rPr lang="zh-CN" altLang="en-US" sz="2800"/>
              <a:t>控制器和协处理器都具有控制系统总线的能力。它们被称为</a:t>
            </a:r>
            <a:r>
              <a:rPr lang="zh-CN" altLang="en-US" sz="2800">
                <a:latin typeface="Times New Roman" panose="02020603050405020304" pitchFamily="18" charset="0"/>
              </a:rPr>
              <a:t>“</a:t>
            </a:r>
            <a:r>
              <a:rPr lang="zh-CN" altLang="en-US" sz="2800"/>
              <a:t>总线主控设备</a:t>
            </a:r>
            <a:r>
              <a:rPr lang="zh-CN" altLang="en-US" sz="2800">
                <a:latin typeface="Times New Roman" panose="02020603050405020304" pitchFamily="18" charset="0"/>
              </a:rPr>
              <a:t>”</a:t>
            </a:r>
            <a:endParaRPr lang="zh-CN" altLang="en-US" sz="2800"/>
          </a:p>
          <a:p>
            <a:pPr marL="0" indent="0" eaLnBrk="1" hangingPunct="1">
              <a:tabLst>
                <a:tab pos="5386070" algn="l"/>
              </a:tabLst>
            </a:pPr>
            <a:r>
              <a:rPr lang="zh-CN" altLang="en-US" sz="2800"/>
              <a:t>在某一个时刻，只能由一个总线主控设备来控制系统总线</a:t>
            </a:r>
            <a:endParaRPr lang="zh-CN" altLang="en-US" sz="2800"/>
          </a:p>
          <a:p>
            <a:pPr marL="0" indent="0" eaLnBrk="1" hangingPunct="1">
              <a:tabLst>
                <a:tab pos="5386070" algn="l"/>
              </a:tabLst>
            </a:pPr>
            <a:r>
              <a:rPr lang="zh-CN" altLang="en-US" sz="2800"/>
              <a:t>在连接系统总线的各个设备中，某一个时刻只能有一个发送者向总线发送信号；但可以有多个设备从总线上同时获得信号</a:t>
            </a:r>
            <a:endParaRPr lang="zh-CN" altLang="en-US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8" descr="ISA&amp;PC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7494"/>
            <a:ext cx="4936306" cy="4501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9" descr="USB接口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834" y="238919"/>
            <a:ext cx="1140810" cy="129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6628986" y="3467895"/>
            <a:ext cx="1387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PCI</a:t>
            </a:r>
            <a:r>
              <a:rPr lang="zh-CN" altLang="en-US" b="1" dirty="0"/>
              <a:t>总线</a:t>
            </a:r>
            <a:endParaRPr lang="zh-CN" altLang="en-US" b="1" dirty="0"/>
          </a:p>
        </p:txBody>
      </p:sp>
      <p:sp>
        <p:nvSpPr>
          <p:cNvPr id="18" name="Line 42"/>
          <p:cNvSpPr>
            <a:spLocks noChangeShapeType="1"/>
          </p:cNvSpPr>
          <p:nvPr/>
        </p:nvSpPr>
        <p:spPr bwMode="auto">
          <a:xfrm flipH="1" flipV="1">
            <a:off x="4211958" y="1995687"/>
            <a:ext cx="2122984" cy="1275224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 flipH="1" flipV="1">
            <a:off x="4211959" y="3147813"/>
            <a:ext cx="2122983" cy="14184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Text Box 44"/>
          <p:cNvSpPr txBox="1">
            <a:spLocks noChangeArrowheads="1"/>
          </p:cNvSpPr>
          <p:nvPr/>
        </p:nvSpPr>
        <p:spPr bwMode="auto">
          <a:xfrm>
            <a:off x="6552491" y="4610895"/>
            <a:ext cx="1384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ISA</a:t>
            </a:r>
            <a:r>
              <a:rPr lang="zh-CN" altLang="en-US" b="1"/>
              <a:t>总线</a:t>
            </a:r>
            <a:endParaRPr lang="zh-CN" altLang="en-US" b="1"/>
          </a:p>
        </p:txBody>
      </p:sp>
      <p:sp>
        <p:nvSpPr>
          <p:cNvPr id="21" name="Line 45"/>
          <p:cNvSpPr>
            <a:spLocks noChangeShapeType="1"/>
          </p:cNvSpPr>
          <p:nvPr/>
        </p:nvSpPr>
        <p:spPr bwMode="auto">
          <a:xfrm flipH="1" flipV="1">
            <a:off x="7940762" y="1667668"/>
            <a:ext cx="70581" cy="497581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7323022" y="2401095"/>
            <a:ext cx="1467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USB</a:t>
            </a:r>
            <a:r>
              <a:rPr lang="zh-CN" altLang="en-US" b="1"/>
              <a:t>总线</a:t>
            </a:r>
            <a:endParaRPr lang="zh-CN" altLang="en-US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I/O</a:t>
            </a:r>
            <a:r>
              <a:rPr lang="zh-CN" altLang="en-US" dirty="0"/>
              <a:t>接口和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zh-CN" alt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dirty="0"/>
              <a:t>I/O</a:t>
            </a:r>
            <a:r>
              <a:rPr lang="zh-CN" altLang="en-US" sz="2000" dirty="0"/>
              <a:t>设备</a:t>
            </a:r>
            <a:r>
              <a:rPr lang="en-US" altLang="zh-CN" sz="2000" dirty="0"/>
              <a:t>(Peripheral</a:t>
            </a:r>
            <a:r>
              <a:rPr lang="zh-CN" altLang="en-US" sz="2000" dirty="0"/>
              <a:t>）：用户与微机交互</a:t>
            </a:r>
            <a:endParaRPr lang="zh-CN" altLang="en-US" sz="2000" dirty="0"/>
          </a:p>
          <a:p>
            <a:pPr lvl="1"/>
            <a:r>
              <a:rPr lang="zh-CN" altLang="en-US" sz="2000" dirty="0"/>
              <a:t>输入（</a:t>
            </a:r>
            <a:r>
              <a:rPr lang="en-US" altLang="zh-CN" sz="2000" dirty="0"/>
              <a:t>Input</a:t>
            </a:r>
            <a:r>
              <a:rPr lang="zh-CN" altLang="en-US" sz="2000" dirty="0"/>
              <a:t>）设备</a:t>
            </a:r>
            <a:endParaRPr lang="zh-CN" altLang="en-US" sz="2000" dirty="0"/>
          </a:p>
          <a:p>
            <a:pPr lvl="2"/>
            <a:r>
              <a:rPr lang="zh-CN" altLang="en-US" sz="2000" dirty="0"/>
              <a:t>标准输入设备：键盘</a:t>
            </a:r>
            <a:endParaRPr lang="zh-CN" altLang="en-US" sz="2000" dirty="0"/>
          </a:p>
          <a:p>
            <a:pPr lvl="1"/>
            <a:r>
              <a:rPr lang="zh-CN" altLang="en-US" sz="2000" dirty="0"/>
              <a:t>输出（</a:t>
            </a:r>
            <a:r>
              <a:rPr lang="en-US" altLang="zh-CN" sz="2000" dirty="0"/>
              <a:t>Output</a:t>
            </a:r>
            <a:r>
              <a:rPr lang="zh-CN" altLang="en-US" sz="2000" dirty="0"/>
              <a:t>）设备</a:t>
            </a:r>
            <a:endParaRPr lang="zh-CN" altLang="en-US" sz="2000" dirty="0"/>
          </a:p>
          <a:p>
            <a:pPr lvl="2"/>
            <a:r>
              <a:rPr lang="zh-CN" altLang="en-US" sz="2000" dirty="0"/>
              <a:t>标准输出设备：显示器</a:t>
            </a:r>
            <a:endParaRPr lang="zh-CN" altLang="en-US" sz="2000" dirty="0"/>
          </a:p>
          <a:p>
            <a:r>
              <a:rPr lang="en-US" altLang="zh-CN" sz="2000" dirty="0"/>
              <a:t>I/O</a:t>
            </a:r>
            <a:r>
              <a:rPr lang="zh-CN" altLang="en-US" sz="2000" dirty="0"/>
              <a:t>接口</a:t>
            </a:r>
            <a:r>
              <a:rPr lang="en-US" altLang="zh-CN" sz="2000" dirty="0"/>
              <a:t>(Interface)</a:t>
            </a:r>
            <a:r>
              <a:rPr lang="zh-CN" altLang="en-US" sz="2000" dirty="0"/>
              <a:t>：外设和主机间的桥梁</a:t>
            </a:r>
            <a:endParaRPr lang="zh-CN" altLang="en-US" sz="2000" dirty="0"/>
          </a:p>
          <a:p>
            <a:pPr lvl="1"/>
            <a:r>
              <a:rPr lang="zh-CN" altLang="en-US" sz="2000" dirty="0"/>
              <a:t>完成信号变换、数据缓冲、联络控制等工作</a:t>
            </a:r>
            <a:endParaRPr lang="zh-CN" altLang="en-US" sz="2000" dirty="0"/>
          </a:p>
          <a:p>
            <a:pPr lvl="1"/>
            <a:r>
              <a:rPr lang="zh-CN" altLang="en-US" sz="2000" dirty="0"/>
              <a:t>较简单的</a:t>
            </a:r>
            <a:r>
              <a:rPr lang="en-US" altLang="zh-CN" sz="2000" dirty="0"/>
              <a:t>I/O</a:t>
            </a:r>
            <a:r>
              <a:rPr lang="zh-CN" altLang="en-US" sz="2000" dirty="0"/>
              <a:t>接口电路与主板一体</a:t>
            </a:r>
            <a:endParaRPr lang="zh-CN" altLang="en-US" sz="2000" dirty="0"/>
          </a:p>
          <a:p>
            <a:pPr lvl="1"/>
            <a:r>
              <a:rPr lang="zh-CN" altLang="en-US" sz="2000" dirty="0"/>
              <a:t>较复杂的</a:t>
            </a:r>
            <a:r>
              <a:rPr lang="en-US" altLang="zh-CN" sz="2000" dirty="0"/>
              <a:t>I/O</a:t>
            </a:r>
            <a:r>
              <a:rPr lang="zh-CN" altLang="en-US" sz="2000" dirty="0"/>
              <a:t>接口电路制成独立的电路板（接口卡</a:t>
            </a:r>
            <a:r>
              <a:rPr lang="en-US" altLang="zh-CN" sz="2000" dirty="0"/>
              <a:t>Card</a:t>
            </a:r>
            <a:r>
              <a:rPr lang="zh-CN" altLang="en-US" sz="2000" dirty="0"/>
              <a:t>），例如显卡。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11"/>
          <p:cNvGrpSpPr/>
          <p:nvPr/>
        </p:nvGrpSpPr>
        <p:grpSpPr bwMode="auto">
          <a:xfrm>
            <a:off x="357188" y="1071563"/>
            <a:ext cx="8534400" cy="3771900"/>
            <a:chOff x="192" y="912"/>
            <a:chExt cx="5376" cy="3168"/>
          </a:xfrm>
        </p:grpSpPr>
        <p:sp>
          <p:nvSpPr>
            <p:cNvPr id="46087" name="Rectangle 12"/>
            <p:cNvSpPr>
              <a:spLocks noChangeArrowheads="1"/>
            </p:cNvSpPr>
            <p:nvPr/>
          </p:nvSpPr>
          <p:spPr bwMode="auto">
            <a:xfrm>
              <a:off x="669" y="1666"/>
              <a:ext cx="354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8088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微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处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理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88" name="Rectangle 13"/>
            <p:cNvSpPr>
              <a:spLocks noChangeArrowheads="1"/>
            </p:cNvSpPr>
            <p:nvPr/>
          </p:nvSpPr>
          <p:spPr bwMode="auto">
            <a:xfrm>
              <a:off x="203" y="1666"/>
              <a:ext cx="354" cy="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8087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协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处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理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89" name="Rectangle 14"/>
            <p:cNvSpPr>
              <a:spLocks noChangeArrowheads="1"/>
            </p:cNvSpPr>
            <p:nvPr/>
          </p:nvSpPr>
          <p:spPr bwMode="auto">
            <a:xfrm>
              <a:off x="1235" y="2572"/>
              <a:ext cx="720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8288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总线控制器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90" name="Rectangle 15"/>
            <p:cNvSpPr>
              <a:spLocks noChangeArrowheads="1"/>
            </p:cNvSpPr>
            <p:nvPr/>
          </p:nvSpPr>
          <p:spPr bwMode="auto">
            <a:xfrm>
              <a:off x="5362" y="1550"/>
              <a:ext cx="206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I/O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通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道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91" name="Rectangle 16"/>
            <p:cNvSpPr>
              <a:spLocks noChangeArrowheads="1"/>
            </p:cNvSpPr>
            <p:nvPr/>
          </p:nvSpPr>
          <p:spPr bwMode="auto">
            <a:xfrm>
              <a:off x="4059" y="919"/>
              <a:ext cx="657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8259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中断控制器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92" name="Rectangle 17"/>
            <p:cNvSpPr>
              <a:spLocks noChangeArrowheads="1"/>
            </p:cNvSpPr>
            <p:nvPr/>
          </p:nvSpPr>
          <p:spPr bwMode="auto">
            <a:xfrm>
              <a:off x="3169" y="929"/>
              <a:ext cx="661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随机存储器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RAM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93" name="Rectangle 18"/>
            <p:cNvSpPr>
              <a:spLocks noChangeArrowheads="1"/>
            </p:cNvSpPr>
            <p:nvPr/>
          </p:nvSpPr>
          <p:spPr bwMode="auto">
            <a:xfrm>
              <a:off x="1271" y="2577"/>
              <a:ext cx="661" cy="38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4" name="Rectangle 19"/>
            <p:cNvSpPr>
              <a:spLocks noChangeArrowheads="1"/>
            </p:cNvSpPr>
            <p:nvPr/>
          </p:nvSpPr>
          <p:spPr bwMode="auto">
            <a:xfrm>
              <a:off x="5328" y="912"/>
              <a:ext cx="240" cy="234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5" name="Rectangle 20"/>
            <p:cNvSpPr>
              <a:spLocks noChangeArrowheads="1"/>
            </p:cNvSpPr>
            <p:nvPr/>
          </p:nvSpPr>
          <p:spPr bwMode="auto">
            <a:xfrm>
              <a:off x="192" y="1538"/>
              <a:ext cx="377" cy="119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6" name="Rectangle 21"/>
            <p:cNvSpPr>
              <a:spLocks noChangeArrowheads="1"/>
            </p:cNvSpPr>
            <p:nvPr/>
          </p:nvSpPr>
          <p:spPr bwMode="auto">
            <a:xfrm>
              <a:off x="646" y="1538"/>
              <a:ext cx="377" cy="119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7" name="Rectangle 22"/>
            <p:cNvSpPr>
              <a:spLocks noChangeArrowheads="1"/>
            </p:cNvSpPr>
            <p:nvPr/>
          </p:nvSpPr>
          <p:spPr bwMode="auto">
            <a:xfrm>
              <a:off x="1215" y="1396"/>
              <a:ext cx="774" cy="1693"/>
            </a:xfrm>
            <a:prstGeom prst="rect">
              <a:avLst/>
            </a:prstGeom>
            <a:noFill/>
            <a:ln w="28575" cap="rnd">
              <a:solidFill>
                <a:srgbClr val="00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098" name="Rectangle 23"/>
            <p:cNvSpPr>
              <a:spLocks noChangeArrowheads="1"/>
            </p:cNvSpPr>
            <p:nvPr/>
          </p:nvSpPr>
          <p:spPr bwMode="auto">
            <a:xfrm>
              <a:off x="2283" y="929"/>
              <a:ext cx="660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只读存储器</a:t>
              </a:r>
              <a:r>
                <a:rPr kumimoji="0" lang="en-US" altLang="zh-CN" sz="1600" b="1">
                  <a:latin typeface="Times New Roman" panose="02020603050405020304" pitchFamily="18" charset="0"/>
                </a:rPr>
                <a:t>ROM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099" name="Rectangle 24"/>
            <p:cNvSpPr>
              <a:spLocks noChangeArrowheads="1"/>
            </p:cNvSpPr>
            <p:nvPr/>
          </p:nvSpPr>
          <p:spPr bwMode="auto">
            <a:xfrm>
              <a:off x="2222" y="912"/>
              <a:ext cx="761" cy="39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0" name="Rectangle 25"/>
            <p:cNvSpPr>
              <a:spLocks noChangeArrowheads="1"/>
            </p:cNvSpPr>
            <p:nvPr/>
          </p:nvSpPr>
          <p:spPr bwMode="auto">
            <a:xfrm>
              <a:off x="3108" y="912"/>
              <a:ext cx="761" cy="39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1" name="Rectangle 26"/>
            <p:cNvSpPr>
              <a:spLocks noChangeArrowheads="1"/>
            </p:cNvSpPr>
            <p:nvPr/>
          </p:nvSpPr>
          <p:spPr bwMode="auto">
            <a:xfrm>
              <a:off x="4006" y="912"/>
              <a:ext cx="733" cy="39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2" name="Rectangle 27"/>
            <p:cNvSpPr>
              <a:spLocks noChangeArrowheads="1"/>
            </p:cNvSpPr>
            <p:nvPr/>
          </p:nvSpPr>
          <p:spPr bwMode="auto">
            <a:xfrm>
              <a:off x="3088" y="2773"/>
              <a:ext cx="752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8253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定时控制器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03" name="Rectangle 28"/>
            <p:cNvSpPr>
              <a:spLocks noChangeArrowheads="1"/>
            </p:cNvSpPr>
            <p:nvPr/>
          </p:nvSpPr>
          <p:spPr bwMode="auto">
            <a:xfrm>
              <a:off x="2233" y="2783"/>
              <a:ext cx="762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4" name="Rectangle 29"/>
            <p:cNvSpPr>
              <a:spLocks noChangeArrowheads="1"/>
            </p:cNvSpPr>
            <p:nvPr/>
          </p:nvSpPr>
          <p:spPr bwMode="auto">
            <a:xfrm>
              <a:off x="2264" y="2773"/>
              <a:ext cx="736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8237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DMA</a:t>
              </a:r>
              <a:r>
                <a:rPr kumimoji="0" lang="zh-CN" altLang="en-US" sz="1600" b="1">
                  <a:latin typeface="Times New Roman" panose="02020603050405020304" pitchFamily="18" charset="0"/>
                </a:rPr>
                <a:t>控制器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05" name="Rectangle 30"/>
            <p:cNvSpPr>
              <a:spLocks noChangeArrowheads="1"/>
            </p:cNvSpPr>
            <p:nvPr/>
          </p:nvSpPr>
          <p:spPr bwMode="auto">
            <a:xfrm>
              <a:off x="3112" y="2783"/>
              <a:ext cx="759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6" name="Rectangle 31"/>
            <p:cNvSpPr>
              <a:spLocks noChangeArrowheads="1"/>
            </p:cNvSpPr>
            <p:nvPr/>
          </p:nvSpPr>
          <p:spPr bwMode="auto">
            <a:xfrm>
              <a:off x="4047" y="2773"/>
              <a:ext cx="635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8255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并行接口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07" name="Rectangle 32"/>
            <p:cNvSpPr>
              <a:spLocks noChangeArrowheads="1"/>
            </p:cNvSpPr>
            <p:nvPr/>
          </p:nvSpPr>
          <p:spPr bwMode="auto">
            <a:xfrm>
              <a:off x="3983" y="2783"/>
              <a:ext cx="761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08" name="Rectangle 33"/>
            <p:cNvSpPr>
              <a:spLocks noChangeArrowheads="1"/>
            </p:cNvSpPr>
            <p:nvPr/>
          </p:nvSpPr>
          <p:spPr bwMode="auto">
            <a:xfrm>
              <a:off x="4564" y="2105"/>
              <a:ext cx="62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控制总线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09" name="Rectangle 34"/>
            <p:cNvSpPr>
              <a:spLocks noChangeArrowheads="1"/>
            </p:cNvSpPr>
            <p:nvPr/>
          </p:nvSpPr>
          <p:spPr bwMode="auto">
            <a:xfrm>
              <a:off x="4564" y="1792"/>
              <a:ext cx="62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数据总线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10" name="Rectangle 35"/>
            <p:cNvSpPr>
              <a:spLocks noChangeArrowheads="1"/>
            </p:cNvSpPr>
            <p:nvPr/>
          </p:nvSpPr>
          <p:spPr bwMode="auto">
            <a:xfrm>
              <a:off x="4564" y="1479"/>
              <a:ext cx="629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地址总线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11" name="Rectangle 36"/>
            <p:cNvSpPr>
              <a:spLocks noChangeArrowheads="1"/>
            </p:cNvSpPr>
            <p:nvPr/>
          </p:nvSpPr>
          <p:spPr bwMode="auto">
            <a:xfrm>
              <a:off x="1251" y="1604"/>
              <a:ext cx="71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地址锁存器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12" name="Rectangle 37"/>
            <p:cNvSpPr>
              <a:spLocks noChangeArrowheads="1"/>
            </p:cNvSpPr>
            <p:nvPr/>
          </p:nvSpPr>
          <p:spPr bwMode="auto">
            <a:xfrm>
              <a:off x="1251" y="1936"/>
              <a:ext cx="71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数据收发器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13" name="Line 38"/>
            <p:cNvSpPr>
              <a:spLocks noChangeShapeType="1"/>
            </p:cNvSpPr>
            <p:nvPr/>
          </p:nvSpPr>
          <p:spPr bwMode="auto">
            <a:xfrm>
              <a:off x="1942" y="2050"/>
              <a:ext cx="33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Line 39"/>
            <p:cNvSpPr>
              <a:spLocks noChangeShapeType="1"/>
            </p:cNvSpPr>
            <p:nvPr/>
          </p:nvSpPr>
          <p:spPr bwMode="auto">
            <a:xfrm>
              <a:off x="1942" y="1723"/>
              <a:ext cx="33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Line 40"/>
            <p:cNvSpPr>
              <a:spLocks noChangeShapeType="1"/>
            </p:cNvSpPr>
            <p:nvPr/>
          </p:nvSpPr>
          <p:spPr bwMode="auto">
            <a:xfrm>
              <a:off x="1033" y="2363"/>
              <a:ext cx="42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Rectangle 41"/>
            <p:cNvSpPr>
              <a:spLocks noChangeArrowheads="1"/>
            </p:cNvSpPr>
            <p:nvPr/>
          </p:nvSpPr>
          <p:spPr bwMode="auto">
            <a:xfrm>
              <a:off x="1264" y="1908"/>
              <a:ext cx="668" cy="27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7" name="Rectangle 42"/>
            <p:cNvSpPr>
              <a:spLocks noChangeArrowheads="1"/>
            </p:cNvSpPr>
            <p:nvPr/>
          </p:nvSpPr>
          <p:spPr bwMode="auto">
            <a:xfrm>
              <a:off x="1264" y="1581"/>
              <a:ext cx="668" cy="27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18" name="Line 43"/>
            <p:cNvSpPr>
              <a:spLocks noChangeShapeType="1"/>
            </p:cNvSpPr>
            <p:nvPr/>
          </p:nvSpPr>
          <p:spPr bwMode="auto">
            <a:xfrm>
              <a:off x="1033" y="2050"/>
              <a:ext cx="22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Line 44"/>
            <p:cNvSpPr>
              <a:spLocks noChangeShapeType="1"/>
            </p:cNvSpPr>
            <p:nvPr/>
          </p:nvSpPr>
          <p:spPr bwMode="auto">
            <a:xfrm>
              <a:off x="1033" y="1723"/>
              <a:ext cx="22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0" name="Rectangle 45"/>
            <p:cNvSpPr>
              <a:spLocks noChangeArrowheads="1"/>
            </p:cNvSpPr>
            <p:nvPr/>
          </p:nvSpPr>
          <p:spPr bwMode="auto">
            <a:xfrm>
              <a:off x="3256" y="3587"/>
              <a:ext cx="48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扬声器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接口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21" name="Line 46"/>
            <p:cNvSpPr>
              <a:spLocks noChangeShapeType="1"/>
            </p:cNvSpPr>
            <p:nvPr/>
          </p:nvSpPr>
          <p:spPr bwMode="auto">
            <a:xfrm flipV="1">
              <a:off x="3498" y="3200"/>
              <a:ext cx="2" cy="3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2" name="Rectangle 47"/>
            <p:cNvSpPr>
              <a:spLocks noChangeArrowheads="1"/>
            </p:cNvSpPr>
            <p:nvPr/>
          </p:nvSpPr>
          <p:spPr bwMode="auto">
            <a:xfrm>
              <a:off x="3210" y="3509"/>
              <a:ext cx="563" cy="48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3" name="Rectangle 48"/>
            <p:cNvSpPr>
              <a:spLocks noChangeArrowheads="1"/>
            </p:cNvSpPr>
            <p:nvPr/>
          </p:nvSpPr>
          <p:spPr bwMode="auto">
            <a:xfrm>
              <a:off x="275" y="3117"/>
              <a:ext cx="669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600" b="1">
                  <a:latin typeface="Times New Roman" panose="02020603050405020304" pitchFamily="18" charset="0"/>
                </a:rPr>
                <a:t>8284</a:t>
              </a:r>
              <a:endParaRPr kumimoji="0" lang="en-US" altLang="zh-CN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时钟发生器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24" name="Line 49"/>
            <p:cNvSpPr>
              <a:spLocks noChangeShapeType="1"/>
            </p:cNvSpPr>
            <p:nvPr/>
          </p:nvSpPr>
          <p:spPr bwMode="auto">
            <a:xfrm>
              <a:off x="381" y="2762"/>
              <a:ext cx="0" cy="2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Line 50"/>
            <p:cNvSpPr>
              <a:spLocks noChangeShapeType="1"/>
            </p:cNvSpPr>
            <p:nvPr/>
          </p:nvSpPr>
          <p:spPr bwMode="auto">
            <a:xfrm>
              <a:off x="813" y="2762"/>
              <a:ext cx="0" cy="2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6" name="Line 51"/>
            <p:cNvSpPr>
              <a:spLocks noChangeShapeType="1"/>
            </p:cNvSpPr>
            <p:nvPr/>
          </p:nvSpPr>
          <p:spPr bwMode="auto">
            <a:xfrm>
              <a:off x="385" y="2961"/>
              <a:ext cx="445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7" name="Rectangle 52"/>
            <p:cNvSpPr>
              <a:spLocks noChangeArrowheads="1"/>
            </p:cNvSpPr>
            <p:nvPr/>
          </p:nvSpPr>
          <p:spPr bwMode="auto">
            <a:xfrm>
              <a:off x="283" y="3103"/>
              <a:ext cx="649" cy="41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28" name="Rectangle 53"/>
            <p:cNvSpPr>
              <a:spLocks noChangeArrowheads="1"/>
            </p:cNvSpPr>
            <p:nvPr/>
          </p:nvSpPr>
          <p:spPr bwMode="auto">
            <a:xfrm>
              <a:off x="3998" y="3561"/>
              <a:ext cx="343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键盘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接口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29" name="Rectangle 54"/>
            <p:cNvSpPr>
              <a:spLocks noChangeArrowheads="1"/>
            </p:cNvSpPr>
            <p:nvPr/>
          </p:nvSpPr>
          <p:spPr bwMode="auto">
            <a:xfrm>
              <a:off x="3987" y="3487"/>
              <a:ext cx="343" cy="59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30" name="Rectangle 55"/>
            <p:cNvSpPr>
              <a:spLocks noChangeArrowheads="1"/>
            </p:cNvSpPr>
            <p:nvPr/>
          </p:nvSpPr>
          <p:spPr bwMode="auto">
            <a:xfrm>
              <a:off x="4432" y="3485"/>
              <a:ext cx="307" cy="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600" b="1">
                  <a:latin typeface="Times New Roman" panose="02020603050405020304" pitchFamily="18" charset="0"/>
                </a:rPr>
                <a:t>系统配置开关</a:t>
              </a:r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endParaRPr kumimoji="0" lang="zh-CN" altLang="en-US" sz="1600" b="1">
                <a:latin typeface="Times New Roman" panose="02020603050405020304" pitchFamily="18" charset="0"/>
              </a:endParaRPr>
            </a:p>
            <a:p>
              <a:pPr algn="ctr"/>
              <a:endParaRPr kumimoji="0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6131" name="Rectangle 56"/>
            <p:cNvSpPr>
              <a:spLocks noChangeArrowheads="1"/>
            </p:cNvSpPr>
            <p:nvPr/>
          </p:nvSpPr>
          <p:spPr bwMode="auto">
            <a:xfrm>
              <a:off x="4407" y="3487"/>
              <a:ext cx="345" cy="59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132" name="Line 57"/>
            <p:cNvSpPr>
              <a:spLocks noChangeShapeType="1"/>
            </p:cNvSpPr>
            <p:nvPr/>
          </p:nvSpPr>
          <p:spPr bwMode="auto">
            <a:xfrm flipV="1">
              <a:off x="607" y="2961"/>
              <a:ext cx="0" cy="1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  <p:sp>
          <p:nvSpPr>
            <p:cNvPr id="46133" name="Line 58"/>
            <p:cNvSpPr>
              <a:spLocks noChangeShapeType="1"/>
            </p:cNvSpPr>
            <p:nvPr/>
          </p:nvSpPr>
          <p:spPr bwMode="auto">
            <a:xfrm flipV="1">
              <a:off x="4180" y="3200"/>
              <a:ext cx="2" cy="2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Line 59"/>
            <p:cNvSpPr>
              <a:spLocks noChangeShapeType="1"/>
            </p:cNvSpPr>
            <p:nvPr/>
          </p:nvSpPr>
          <p:spPr bwMode="auto">
            <a:xfrm flipV="1">
              <a:off x="4572" y="3200"/>
              <a:ext cx="0" cy="2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35" name="Group 60"/>
            <p:cNvGrpSpPr/>
            <p:nvPr/>
          </p:nvGrpSpPr>
          <p:grpSpPr bwMode="auto">
            <a:xfrm>
              <a:off x="2406" y="1310"/>
              <a:ext cx="399" cy="1480"/>
              <a:chOff x="4668" y="1980"/>
              <a:chExt cx="528" cy="1560"/>
            </a:xfrm>
          </p:grpSpPr>
          <p:sp>
            <p:nvSpPr>
              <p:cNvPr id="46151" name="Line 61"/>
              <p:cNvSpPr>
                <a:spLocks noChangeShapeType="1"/>
              </p:cNvSpPr>
              <p:nvPr/>
            </p:nvSpPr>
            <p:spPr bwMode="auto">
              <a:xfrm>
                <a:off x="4668" y="1980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2" name="Line 62"/>
              <p:cNvSpPr>
                <a:spLocks noChangeShapeType="1"/>
              </p:cNvSpPr>
              <p:nvPr/>
            </p:nvSpPr>
            <p:spPr bwMode="auto">
              <a:xfrm>
                <a:off x="4932" y="198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3" name="Line 63"/>
              <p:cNvSpPr>
                <a:spLocks noChangeShapeType="1"/>
              </p:cNvSpPr>
              <p:nvPr/>
            </p:nvSpPr>
            <p:spPr bwMode="auto">
              <a:xfrm flipV="1">
                <a:off x="4671" y="3096"/>
                <a:ext cx="1" cy="4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54" name="Line 64"/>
              <p:cNvSpPr>
                <a:spLocks noChangeShapeType="1"/>
              </p:cNvSpPr>
              <p:nvPr/>
            </p:nvSpPr>
            <p:spPr bwMode="auto">
              <a:xfrm>
                <a:off x="4932" y="276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5" name="Line 65"/>
              <p:cNvSpPr>
                <a:spLocks noChangeShapeType="1"/>
              </p:cNvSpPr>
              <p:nvPr/>
            </p:nvSpPr>
            <p:spPr bwMode="auto">
              <a:xfrm>
                <a:off x="5196" y="1980"/>
                <a:ext cx="0" cy="15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6136" name="Group 66"/>
            <p:cNvGrpSpPr/>
            <p:nvPr/>
          </p:nvGrpSpPr>
          <p:grpSpPr bwMode="auto">
            <a:xfrm>
              <a:off x="3288" y="1310"/>
              <a:ext cx="400" cy="1480"/>
              <a:chOff x="4668" y="1980"/>
              <a:chExt cx="528" cy="1560"/>
            </a:xfrm>
          </p:grpSpPr>
          <p:sp>
            <p:nvSpPr>
              <p:cNvPr id="46146" name="Line 67"/>
              <p:cNvSpPr>
                <a:spLocks noChangeShapeType="1"/>
              </p:cNvSpPr>
              <p:nvPr/>
            </p:nvSpPr>
            <p:spPr bwMode="auto">
              <a:xfrm>
                <a:off x="4668" y="1980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7" name="Line 68"/>
              <p:cNvSpPr>
                <a:spLocks noChangeShapeType="1"/>
              </p:cNvSpPr>
              <p:nvPr/>
            </p:nvSpPr>
            <p:spPr bwMode="auto">
              <a:xfrm>
                <a:off x="4932" y="198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8" name="Line 69"/>
              <p:cNvSpPr>
                <a:spLocks noChangeShapeType="1"/>
              </p:cNvSpPr>
              <p:nvPr/>
            </p:nvSpPr>
            <p:spPr bwMode="auto">
              <a:xfrm flipV="1">
                <a:off x="4671" y="3096"/>
                <a:ext cx="1" cy="4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49" name="Line 70"/>
              <p:cNvSpPr>
                <a:spLocks noChangeShapeType="1"/>
              </p:cNvSpPr>
              <p:nvPr/>
            </p:nvSpPr>
            <p:spPr bwMode="auto">
              <a:xfrm>
                <a:off x="4932" y="276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50" name="Line 71"/>
              <p:cNvSpPr>
                <a:spLocks noChangeShapeType="1"/>
              </p:cNvSpPr>
              <p:nvPr/>
            </p:nvSpPr>
            <p:spPr bwMode="auto">
              <a:xfrm>
                <a:off x="5196" y="1980"/>
                <a:ext cx="0" cy="15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6137" name="Group 72"/>
            <p:cNvGrpSpPr/>
            <p:nvPr/>
          </p:nvGrpSpPr>
          <p:grpSpPr bwMode="auto">
            <a:xfrm>
              <a:off x="4161" y="1310"/>
              <a:ext cx="400" cy="1480"/>
              <a:chOff x="4668" y="1980"/>
              <a:chExt cx="528" cy="1560"/>
            </a:xfrm>
          </p:grpSpPr>
          <p:sp>
            <p:nvSpPr>
              <p:cNvPr id="46141" name="Line 73"/>
              <p:cNvSpPr>
                <a:spLocks noChangeShapeType="1"/>
              </p:cNvSpPr>
              <p:nvPr/>
            </p:nvSpPr>
            <p:spPr bwMode="auto">
              <a:xfrm>
                <a:off x="4668" y="1980"/>
                <a:ext cx="0" cy="11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2" name="Line 74"/>
              <p:cNvSpPr>
                <a:spLocks noChangeShapeType="1"/>
              </p:cNvSpPr>
              <p:nvPr/>
            </p:nvSpPr>
            <p:spPr bwMode="auto">
              <a:xfrm>
                <a:off x="4932" y="198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3" name="Line 75"/>
              <p:cNvSpPr>
                <a:spLocks noChangeShapeType="1"/>
              </p:cNvSpPr>
              <p:nvPr/>
            </p:nvSpPr>
            <p:spPr bwMode="auto">
              <a:xfrm flipV="1">
                <a:off x="4671" y="3096"/>
                <a:ext cx="1" cy="4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44" name="Line 76"/>
              <p:cNvSpPr>
                <a:spLocks noChangeShapeType="1"/>
              </p:cNvSpPr>
              <p:nvPr/>
            </p:nvSpPr>
            <p:spPr bwMode="auto">
              <a:xfrm>
                <a:off x="4932" y="2760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  <p:sp>
            <p:nvSpPr>
              <p:cNvPr id="46145" name="Line 77"/>
              <p:cNvSpPr>
                <a:spLocks noChangeShapeType="1"/>
              </p:cNvSpPr>
              <p:nvPr/>
            </p:nvSpPr>
            <p:spPr bwMode="auto">
              <a:xfrm>
                <a:off x="5196" y="1980"/>
                <a:ext cx="0" cy="15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6138" name="Line 78"/>
            <p:cNvSpPr>
              <a:spLocks noChangeShapeType="1"/>
            </p:cNvSpPr>
            <p:nvPr/>
          </p:nvSpPr>
          <p:spPr bwMode="auto">
            <a:xfrm flipV="1">
              <a:off x="1608" y="2358"/>
              <a:ext cx="0" cy="2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9" name="Line 79"/>
            <p:cNvSpPr>
              <a:spLocks noChangeShapeType="1"/>
            </p:cNvSpPr>
            <p:nvPr/>
          </p:nvSpPr>
          <p:spPr bwMode="auto">
            <a:xfrm>
              <a:off x="2072" y="2368"/>
              <a:ext cx="0" cy="42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Line 80"/>
            <p:cNvSpPr>
              <a:spLocks noChangeShapeType="1"/>
            </p:cNvSpPr>
            <p:nvPr/>
          </p:nvSpPr>
          <p:spPr bwMode="auto">
            <a:xfrm>
              <a:off x="1934" y="2790"/>
              <a:ext cx="1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kumimoji="0" lang="en-US" altLang="zh-CN" dirty="0"/>
              <a:t>1.3</a:t>
            </a:r>
            <a:r>
              <a:rPr kumimoji="0" lang="zh-CN" altLang="en-US" dirty="0"/>
              <a:t>基于</a:t>
            </a:r>
            <a:r>
              <a:rPr kumimoji="0" lang="en-US" altLang="zh-CN" dirty="0"/>
              <a:t>8088CPU</a:t>
            </a:r>
            <a:r>
              <a:rPr kumimoji="0" lang="zh-CN" altLang="en-US" dirty="0"/>
              <a:t>的</a:t>
            </a:r>
            <a:r>
              <a:rPr kumimoji="0" lang="en-US" altLang="zh-CN" dirty="0"/>
              <a:t>PC</a:t>
            </a:r>
            <a:r>
              <a:rPr kumimoji="0" lang="zh-CN" altLang="en-US" dirty="0"/>
              <a:t>微机系统结构</a:t>
            </a:r>
            <a:endParaRPr kumimoji="0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</a:pPr>
            <a:r>
              <a:rPr kumimoji="0" lang="en-US" altLang="zh-CN" dirty="0"/>
              <a:t>1.3</a:t>
            </a:r>
            <a:r>
              <a:rPr kumimoji="0" lang="zh-CN" altLang="en-US" dirty="0"/>
              <a:t>基于</a:t>
            </a:r>
            <a:r>
              <a:rPr kumimoji="0" lang="en-US" altLang="zh-CN" dirty="0"/>
              <a:t>8088CPU</a:t>
            </a:r>
            <a:r>
              <a:rPr kumimoji="0" lang="zh-CN" altLang="en-US" dirty="0"/>
              <a:t>的</a:t>
            </a:r>
            <a:r>
              <a:rPr kumimoji="0" lang="en-US" altLang="zh-CN" dirty="0"/>
              <a:t>PC</a:t>
            </a:r>
            <a:r>
              <a:rPr kumimoji="0" lang="zh-CN" altLang="en-US" dirty="0"/>
              <a:t>微机系统结构</a:t>
            </a:r>
            <a:endParaRPr kumimoji="0" lang="zh-CN" altLang="en-US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976745" y="1185862"/>
            <a:ext cx="7543800" cy="57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0" lang="en-US" altLang="zh-CN" dirty="0"/>
              <a:t>16</a:t>
            </a:r>
            <a:r>
              <a:rPr kumimoji="0" lang="zh-CN" altLang="en-US" dirty="0"/>
              <a:t>位</a:t>
            </a:r>
            <a:r>
              <a:rPr kumimoji="0" lang="en-US" altLang="zh-CN" dirty="0"/>
              <a:t>IBM PC</a:t>
            </a:r>
            <a:r>
              <a:rPr kumimoji="0" lang="zh-CN" altLang="en-US" dirty="0"/>
              <a:t>系列机是</a:t>
            </a:r>
            <a:r>
              <a:rPr kumimoji="0" lang="en-US" altLang="zh-CN" dirty="0"/>
              <a:t>32</a:t>
            </a:r>
            <a:r>
              <a:rPr kumimoji="0" lang="zh-CN" altLang="en-US" dirty="0"/>
              <a:t>位微机的基础</a:t>
            </a:r>
            <a:endParaRPr kumimoji="0" lang="zh-CN" altLang="en-US" dirty="0"/>
          </a:p>
        </p:txBody>
      </p:sp>
      <p:pic>
        <p:nvPicPr>
          <p:cNvPr id="26" name="Picture 6" descr="8088CP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66900"/>
            <a:ext cx="19050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7" descr="IBM PC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89125"/>
            <a:ext cx="29718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8" descr="IBM PC-AT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65450"/>
            <a:ext cx="32004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6040438" y="1981200"/>
            <a:ext cx="1808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8088CPU</a:t>
            </a:r>
            <a:endParaRPr lang="en-US" altLang="zh-CN" sz="3200">
              <a:solidFill>
                <a:srgbClr val="663300"/>
              </a:solidFill>
            </a:endParaRP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762000" y="3741738"/>
            <a:ext cx="1909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  <a:endParaRPr lang="zh-CN" altLang="en-US" sz="3200" b="1">
              <a:solidFill>
                <a:srgbClr val="663300"/>
              </a:solidFill>
            </a:endParaRP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1371600" y="4575175"/>
            <a:ext cx="25304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PC/AT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  <a:endParaRPr lang="zh-CN" altLang="en-US" sz="3200" b="1">
              <a:solidFill>
                <a:srgbClr val="663300"/>
              </a:solidFill>
            </a:endParaRP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936625" y="4159250"/>
            <a:ext cx="2546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663300"/>
                </a:solidFill>
              </a:rPr>
              <a:t>IBM PC/XT</a:t>
            </a:r>
            <a:r>
              <a:rPr lang="zh-CN" altLang="en-US" sz="3200" b="1">
                <a:solidFill>
                  <a:srgbClr val="663300"/>
                </a:solidFill>
              </a:rPr>
              <a:t>机</a:t>
            </a:r>
            <a:endParaRPr lang="zh-CN" altLang="en-US" sz="3200" b="1">
              <a:solidFill>
                <a:srgbClr val="6633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1059" y="2508676"/>
            <a:ext cx="1572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8088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内部寄存器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16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位，外部数据总线</a:t>
            </a:r>
            <a:r>
              <a:rPr lang="en-US" altLang="zh-CN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8</a:t>
            </a:r>
            <a:r>
              <a:rPr lang="zh-CN" altLang="en-US" sz="16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位。</a:t>
            </a:r>
            <a:endParaRPr lang="en-US" altLang="zh-CN" sz="16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60B11D-9E40-46C7-8419-D7AA8A578BDF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8088</a:t>
            </a:r>
            <a:r>
              <a:rPr lang="zh-CN" altLang="en-US" sz="4000"/>
              <a:t>的引脚图</a:t>
            </a:r>
            <a:endParaRPr lang="zh-CN" altLang="en-US" sz="4000"/>
          </a:p>
        </p:txBody>
      </p:sp>
      <p:pic>
        <p:nvPicPr>
          <p:cNvPr id="50182" name="Picture 52" descr="8088CP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0"/>
            <a:ext cx="24384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内容占位符 3" descr="c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071563"/>
            <a:ext cx="5173663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1.3.1  </a:t>
            </a:r>
            <a:r>
              <a:rPr lang="zh-CN" altLang="en-US" dirty="0"/>
              <a:t>主机板组成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325474"/>
            <a:ext cx="7886700" cy="3263503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微处理器子系统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8088</a:t>
            </a:r>
            <a:r>
              <a:rPr lang="zh-CN" altLang="en-US" dirty="0"/>
              <a:t>：</a:t>
            </a:r>
            <a:r>
              <a:rPr lang="en-US" altLang="zh-CN" dirty="0"/>
              <a:t>16</a:t>
            </a:r>
            <a:r>
              <a:rPr lang="zh-CN" altLang="en-US" dirty="0"/>
              <a:t>位内部结构、</a:t>
            </a:r>
            <a:r>
              <a:rPr lang="en-US" altLang="zh-CN" dirty="0"/>
              <a:t>8</a:t>
            </a:r>
            <a:r>
              <a:rPr lang="zh-CN" altLang="en-US" dirty="0"/>
              <a:t>位数据总线、</a:t>
            </a:r>
            <a:r>
              <a:rPr lang="en-US" altLang="zh-CN" dirty="0"/>
              <a:t>20</a:t>
            </a:r>
            <a:r>
              <a:rPr lang="zh-CN" altLang="en-US" dirty="0"/>
              <a:t>位地址总线、</a:t>
            </a:r>
            <a:r>
              <a:rPr lang="en-US" altLang="zh-CN" dirty="0"/>
              <a:t>4.77MHz</a:t>
            </a:r>
            <a:r>
              <a:rPr lang="zh-CN" altLang="en-US" dirty="0"/>
              <a:t>主频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存储器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ROM-BIOS</a:t>
            </a:r>
            <a:r>
              <a:rPr lang="zh-CN" altLang="en-US" dirty="0"/>
              <a:t>、主体为</a:t>
            </a:r>
            <a:r>
              <a:rPr lang="en-US" altLang="zh-CN" dirty="0"/>
              <a:t>RAM</a:t>
            </a:r>
            <a:endParaRPr lang="en-US" altLang="zh-CN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接口控制电路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8259A</a:t>
            </a:r>
            <a:r>
              <a:rPr lang="zh-CN" altLang="en-US" dirty="0"/>
              <a:t>、</a:t>
            </a:r>
            <a:r>
              <a:rPr lang="en-US" altLang="zh-CN" dirty="0"/>
              <a:t>8253</a:t>
            </a:r>
            <a:r>
              <a:rPr lang="zh-CN" altLang="en-US" dirty="0"/>
              <a:t>、</a:t>
            </a:r>
            <a:r>
              <a:rPr lang="en-US" altLang="zh-CN" dirty="0"/>
              <a:t>8237A</a:t>
            </a:r>
            <a:r>
              <a:rPr lang="zh-CN" altLang="en-US" dirty="0"/>
              <a:t>、</a:t>
            </a:r>
            <a:r>
              <a:rPr lang="en-US" altLang="zh-CN" dirty="0"/>
              <a:t>8255</a:t>
            </a:r>
            <a:r>
              <a:rPr lang="zh-CN" altLang="en-US" dirty="0"/>
              <a:t>等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I/O</a:t>
            </a:r>
            <a:r>
              <a:rPr lang="zh-CN" altLang="en-US" dirty="0"/>
              <a:t>通道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62</a:t>
            </a:r>
            <a:r>
              <a:rPr lang="zh-CN" altLang="en-US" dirty="0"/>
              <a:t>线的</a:t>
            </a:r>
            <a:r>
              <a:rPr lang="en-US" altLang="zh-CN" dirty="0"/>
              <a:t>IBM PC</a:t>
            </a:r>
            <a:r>
              <a:rPr lang="zh-CN" altLang="en-US" dirty="0"/>
              <a:t>总线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1.3.2  I/O</a:t>
            </a:r>
            <a:r>
              <a:rPr lang="zh-CN" altLang="en-US" dirty="0"/>
              <a:t>空间的分配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endParaRPr lang="en-US" altLang="zh-CN" dirty="0"/>
          </a:p>
          <a:p>
            <a:pPr marL="457200" indent="-457200"/>
            <a:r>
              <a:rPr lang="en-US" altLang="zh-CN" dirty="0"/>
              <a:t>80x86</a:t>
            </a:r>
            <a:r>
              <a:rPr lang="zh-CN" altLang="en-US" dirty="0"/>
              <a:t>访问外设时，只使用低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A</a:t>
            </a:r>
            <a:r>
              <a:rPr lang="en-US" altLang="zh-CN" baseline="-25000" dirty="0"/>
              <a:t>15</a:t>
            </a:r>
            <a:r>
              <a:rPr lang="zh-CN" altLang="en-US" dirty="0"/>
              <a:t>，寻址</a:t>
            </a:r>
            <a:r>
              <a:rPr lang="en-US" altLang="zh-CN" dirty="0"/>
              <a:t>64K</a:t>
            </a:r>
            <a:r>
              <a:rPr lang="zh-CN" altLang="en-US" dirty="0"/>
              <a:t>个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I/O</a:t>
            </a:r>
            <a:r>
              <a:rPr lang="zh-CN" altLang="en-US" dirty="0"/>
              <a:t>端口</a:t>
            </a:r>
            <a:endParaRPr lang="en-US" altLang="zh-CN" dirty="0"/>
          </a:p>
          <a:p>
            <a:pPr marL="457200" indent="-457200"/>
            <a:endParaRPr lang="zh-CN" altLang="en-US" dirty="0"/>
          </a:p>
          <a:p>
            <a:pPr marL="457200" indent="-457200"/>
            <a:r>
              <a:rPr lang="en-US" altLang="zh-CN" dirty="0"/>
              <a:t>PC</a:t>
            </a:r>
            <a:r>
              <a:rPr lang="zh-CN" altLang="en-US" dirty="0"/>
              <a:t>机仅使用低</a:t>
            </a:r>
            <a:r>
              <a:rPr lang="en-US" altLang="zh-CN" dirty="0"/>
              <a:t>10</a:t>
            </a:r>
            <a:r>
              <a:rPr lang="zh-CN" altLang="en-US" dirty="0"/>
              <a:t>位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A</a:t>
            </a:r>
            <a:r>
              <a:rPr lang="en-US" altLang="zh-CN" baseline="-25000" dirty="0"/>
              <a:t>9</a:t>
            </a:r>
            <a:r>
              <a:rPr lang="zh-CN" altLang="en-US" dirty="0"/>
              <a:t>，寻址</a:t>
            </a:r>
            <a:r>
              <a:rPr lang="en-US" altLang="zh-CN" dirty="0"/>
              <a:t>1024</a:t>
            </a:r>
            <a:r>
              <a:rPr lang="zh-CN" altLang="en-US" dirty="0"/>
              <a:t>个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I/O</a:t>
            </a:r>
            <a:r>
              <a:rPr lang="zh-CN" altLang="en-US" dirty="0"/>
              <a:t>端口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7"/>
          <p:cNvGrpSpPr/>
          <p:nvPr/>
        </p:nvGrpSpPr>
        <p:grpSpPr bwMode="auto">
          <a:xfrm>
            <a:off x="714375" y="1071563"/>
            <a:ext cx="5029200" cy="3886200"/>
            <a:chOff x="-4" y="-4"/>
            <a:chExt cx="1280" cy="2125"/>
          </a:xfrm>
        </p:grpSpPr>
        <p:grpSp>
          <p:nvGrpSpPr>
            <p:cNvPr id="48136" name="Group 125"/>
            <p:cNvGrpSpPr/>
            <p:nvPr/>
          </p:nvGrpSpPr>
          <p:grpSpPr bwMode="auto">
            <a:xfrm>
              <a:off x="0" y="0"/>
              <a:ext cx="1272" cy="2117"/>
              <a:chOff x="0" y="0"/>
              <a:chExt cx="1272" cy="2117"/>
            </a:xfrm>
          </p:grpSpPr>
          <p:grpSp>
            <p:nvGrpSpPr>
              <p:cNvPr id="48138" name="Group 114"/>
              <p:cNvGrpSpPr/>
              <p:nvPr/>
            </p:nvGrpSpPr>
            <p:grpSpPr bwMode="auto">
              <a:xfrm>
                <a:off x="0" y="0"/>
                <a:ext cx="194" cy="958"/>
                <a:chOff x="0" y="0"/>
                <a:chExt cx="194" cy="958"/>
              </a:xfrm>
            </p:grpSpPr>
            <p:sp>
              <p:nvSpPr>
                <p:cNvPr id="48154" name="Rectangle 107"/>
                <p:cNvSpPr>
                  <a:spLocks noChangeArrowheads="1"/>
                </p:cNvSpPr>
                <p:nvPr/>
              </p:nvSpPr>
              <p:spPr bwMode="auto">
                <a:xfrm>
                  <a:off x="11" y="0"/>
                  <a:ext cx="172" cy="9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系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统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板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16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5" name="Rectangle 11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94" cy="958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39" name="Group 116"/>
              <p:cNvGrpSpPr/>
              <p:nvPr/>
            </p:nvGrpSpPr>
            <p:grpSpPr bwMode="auto">
              <a:xfrm>
                <a:off x="194" y="0"/>
                <a:ext cx="380" cy="958"/>
                <a:chOff x="194" y="0"/>
                <a:chExt cx="380" cy="958"/>
              </a:xfrm>
            </p:grpSpPr>
            <p:sp>
              <p:nvSpPr>
                <p:cNvPr id="48152" name="Rectangle 108"/>
                <p:cNvSpPr>
                  <a:spLocks noChangeArrowheads="1"/>
                </p:cNvSpPr>
                <p:nvPr/>
              </p:nvSpPr>
              <p:spPr bwMode="auto">
                <a:xfrm>
                  <a:off x="205" y="0"/>
                  <a:ext cx="358" cy="9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b="1">
                      <a:latin typeface="Times New Roman" panose="02020603050405020304" pitchFamily="18" charset="0"/>
                    </a:rPr>
                    <a:t>000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01F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020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03F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040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05F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060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07F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080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09F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0A0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0BF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0C0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0DF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0E0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0FF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3" name="Rectangle 115"/>
                <p:cNvSpPr>
                  <a:spLocks noChangeArrowheads="1"/>
                </p:cNvSpPr>
                <p:nvPr/>
              </p:nvSpPr>
              <p:spPr bwMode="auto">
                <a:xfrm>
                  <a:off x="194" y="0"/>
                  <a:ext cx="380" cy="958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0" name="Group 118"/>
              <p:cNvGrpSpPr/>
              <p:nvPr/>
            </p:nvGrpSpPr>
            <p:grpSpPr bwMode="auto">
              <a:xfrm>
                <a:off x="574" y="0"/>
                <a:ext cx="698" cy="958"/>
                <a:chOff x="574" y="0"/>
                <a:chExt cx="698" cy="958"/>
              </a:xfrm>
            </p:grpSpPr>
            <p:sp>
              <p:nvSpPr>
                <p:cNvPr id="48150" name="Rectangle 109"/>
                <p:cNvSpPr>
                  <a:spLocks noChangeArrowheads="1"/>
                </p:cNvSpPr>
                <p:nvPr/>
              </p:nvSpPr>
              <p:spPr bwMode="auto">
                <a:xfrm>
                  <a:off x="585" y="0"/>
                  <a:ext cx="676" cy="9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b="1">
                      <a:latin typeface="Times New Roman" panose="02020603050405020304" pitchFamily="18" charset="0"/>
                    </a:rPr>
                    <a:t>DMA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控制器</a:t>
                  </a:r>
                  <a:r>
                    <a:rPr lang="en-US" altLang="zh-CN" sz="1200" b="1"/>
                    <a:t>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中断控制器</a:t>
                  </a:r>
                  <a:r>
                    <a:rPr lang="en-US" altLang="zh-CN" sz="1200" b="1"/>
                    <a:t>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定时计数器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并行接口电路</a:t>
                  </a:r>
                  <a:endParaRPr lang="zh-CN" altLang="en-US" sz="1200" b="1"/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DMA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页面寄存器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中断控制器</a:t>
                  </a:r>
                  <a:r>
                    <a:rPr lang="en-US" altLang="zh-CN" sz="1200" b="1"/>
                    <a:t>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DMA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控制器</a:t>
                  </a:r>
                  <a:r>
                    <a:rPr lang="en-US" altLang="zh-CN" sz="1200" b="1"/>
                    <a:t>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协处理器</a:t>
                  </a:r>
                  <a:endParaRPr lang="zh-CN" altLang="en-US" sz="1200" b="1"/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51" name="Rectangle 117"/>
                <p:cNvSpPr>
                  <a:spLocks noChangeArrowheads="1"/>
                </p:cNvSpPr>
                <p:nvPr/>
              </p:nvSpPr>
              <p:spPr bwMode="auto">
                <a:xfrm>
                  <a:off x="574" y="0"/>
                  <a:ext cx="698" cy="958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1" name="Group 120"/>
              <p:cNvGrpSpPr/>
              <p:nvPr/>
            </p:nvGrpSpPr>
            <p:grpSpPr bwMode="auto">
              <a:xfrm>
                <a:off x="0" y="958"/>
                <a:ext cx="194" cy="1159"/>
                <a:chOff x="0" y="958"/>
                <a:chExt cx="194" cy="1159"/>
              </a:xfrm>
            </p:grpSpPr>
            <p:sp>
              <p:nvSpPr>
                <p:cNvPr id="48148" name="Rectangle 110"/>
                <p:cNvSpPr>
                  <a:spLocks noChangeArrowheads="1"/>
                </p:cNvSpPr>
                <p:nvPr/>
              </p:nvSpPr>
              <p:spPr bwMode="auto">
                <a:xfrm>
                  <a:off x="11" y="958"/>
                  <a:ext cx="172" cy="1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I/O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600" b="1">
                      <a:latin typeface="Times New Roman" panose="02020603050405020304" pitchFamily="18" charset="0"/>
                    </a:rPr>
                    <a:t> </a:t>
                  </a:r>
                  <a:endParaRPr lang="en-US" altLang="zh-CN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通</a:t>
                  </a:r>
                  <a:endParaRPr lang="zh-CN" altLang="en-US" sz="1600" b="1"/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 </a:t>
                  </a:r>
                  <a:endParaRPr lang="zh-CN" altLang="en-US" sz="16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600" b="1">
                      <a:latin typeface="Times New Roman" panose="02020603050405020304" pitchFamily="18" charset="0"/>
                    </a:rPr>
                    <a:t>道</a:t>
                  </a:r>
                  <a:endParaRPr lang="zh-CN" altLang="en-US" sz="1600" b="1"/>
                </a:p>
                <a:p>
                  <a:pPr algn="ctr"/>
                  <a:endParaRPr lang="en-US" altLang="zh-CN" sz="16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49" name="Rectangle 119"/>
                <p:cNvSpPr>
                  <a:spLocks noChangeArrowheads="1"/>
                </p:cNvSpPr>
                <p:nvPr/>
              </p:nvSpPr>
              <p:spPr bwMode="auto">
                <a:xfrm>
                  <a:off x="0" y="958"/>
                  <a:ext cx="194" cy="1159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2" name="Group 122"/>
              <p:cNvGrpSpPr/>
              <p:nvPr/>
            </p:nvGrpSpPr>
            <p:grpSpPr bwMode="auto">
              <a:xfrm>
                <a:off x="194" y="958"/>
                <a:ext cx="380" cy="1159"/>
                <a:chOff x="194" y="958"/>
                <a:chExt cx="380" cy="1159"/>
              </a:xfrm>
            </p:grpSpPr>
            <p:sp>
              <p:nvSpPr>
                <p:cNvPr id="48146" name="Rectangle 111"/>
                <p:cNvSpPr>
                  <a:spLocks noChangeArrowheads="1"/>
                </p:cNvSpPr>
                <p:nvPr/>
              </p:nvSpPr>
              <p:spPr bwMode="auto">
                <a:xfrm>
                  <a:off x="205" y="958"/>
                  <a:ext cx="358" cy="1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200" b="1">
                      <a:latin typeface="Times New Roman" panose="02020603050405020304" pitchFamily="18" charset="0"/>
                    </a:rPr>
                    <a:t>1F0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1F8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200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207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278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27F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2F8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2FF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378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37F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380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38F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3A0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3AF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3B0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3BF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3D0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3DF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3F0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3F7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3F8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1200" b="1"/>
                    <a:t>3FF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2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47" name="Rectangle 121"/>
                <p:cNvSpPr>
                  <a:spLocks noChangeArrowheads="1"/>
                </p:cNvSpPr>
                <p:nvPr/>
              </p:nvSpPr>
              <p:spPr bwMode="auto">
                <a:xfrm>
                  <a:off x="194" y="958"/>
                  <a:ext cx="380" cy="1159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48143" name="Group 124"/>
              <p:cNvGrpSpPr/>
              <p:nvPr/>
            </p:nvGrpSpPr>
            <p:grpSpPr bwMode="auto">
              <a:xfrm>
                <a:off x="574" y="958"/>
                <a:ext cx="698" cy="1159"/>
                <a:chOff x="574" y="958"/>
                <a:chExt cx="698" cy="1159"/>
              </a:xfrm>
            </p:grpSpPr>
            <p:sp>
              <p:nvSpPr>
                <p:cNvPr id="48144" name="Rectangle 112"/>
                <p:cNvSpPr>
                  <a:spLocks noChangeArrowheads="1"/>
                </p:cNvSpPr>
                <p:nvPr/>
              </p:nvSpPr>
              <p:spPr bwMode="auto">
                <a:xfrm>
                  <a:off x="585" y="958"/>
                  <a:ext cx="676" cy="1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>
                      <a:latin typeface="Times New Roman" panose="02020603050405020304" pitchFamily="18" charset="0"/>
                    </a:rPr>
                    <a:t>硬盘适配器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游戏接口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并行打印机接口</a:t>
                  </a:r>
                  <a:r>
                    <a:rPr lang="en-US" altLang="zh-CN" sz="1200" b="1"/>
                    <a:t>LPT2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串行通信接口</a:t>
                  </a:r>
                  <a:r>
                    <a:rPr lang="en-US" altLang="zh-CN" sz="1200" b="1"/>
                    <a:t>COM2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并行打印机接口</a:t>
                  </a:r>
                  <a:r>
                    <a:rPr lang="en-US" altLang="zh-CN" sz="1200" b="1"/>
                    <a:t>LPT1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SDLC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通信接口</a:t>
                  </a:r>
                  <a:endParaRPr lang="zh-CN" altLang="en-US" sz="1200" b="1"/>
                </a:p>
                <a:p>
                  <a:pPr algn="ctr"/>
                  <a:r>
                    <a:rPr lang="en-US" altLang="zh-CN" sz="1200" b="1">
                      <a:latin typeface="Times New Roman" panose="02020603050405020304" pitchFamily="18" charset="0"/>
                    </a:rPr>
                    <a:t>BSC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通信接口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单色显示</a:t>
                  </a:r>
                  <a:r>
                    <a:rPr lang="en-US" altLang="zh-CN" sz="1200" b="1"/>
                    <a:t>/</a:t>
                  </a:r>
                  <a:r>
                    <a:rPr lang="zh-CN" altLang="en-US" sz="1200" b="1">
                      <a:latin typeface="Times New Roman" panose="02020603050405020304" pitchFamily="18" charset="0"/>
                    </a:rPr>
                    <a:t>打印机适配器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彩色图形适配器</a:t>
                  </a:r>
                  <a:r>
                    <a:rPr lang="en-US" altLang="zh-CN" sz="1200" b="1"/>
                    <a:t>CGA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软盘适配器</a:t>
                  </a:r>
                  <a:endParaRPr lang="zh-CN" altLang="en-US" sz="1200" b="1"/>
                </a:p>
                <a:p>
                  <a:pPr algn="ctr"/>
                  <a:r>
                    <a:rPr lang="zh-CN" altLang="en-US" sz="1200" b="1">
                      <a:latin typeface="Times New Roman" panose="02020603050405020304" pitchFamily="18" charset="0"/>
                    </a:rPr>
                    <a:t>串行通信接口</a:t>
                  </a:r>
                  <a:r>
                    <a:rPr lang="en-US" altLang="zh-CN" sz="1200" b="1"/>
                    <a:t>COM1</a:t>
                  </a:r>
                  <a:endParaRPr lang="en-US" altLang="zh-CN" sz="1200" b="1">
                    <a:latin typeface="Times New Roman" panose="02020603050405020304" pitchFamily="18" charset="0"/>
                  </a:endParaRPr>
                </a:p>
                <a:p>
                  <a:pPr algn="ctr"/>
                  <a:endParaRPr lang="en-US" altLang="zh-CN" sz="1400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145" name="Rectangle 123"/>
                <p:cNvSpPr>
                  <a:spLocks noChangeArrowheads="1"/>
                </p:cNvSpPr>
                <p:nvPr/>
              </p:nvSpPr>
              <p:spPr bwMode="auto">
                <a:xfrm>
                  <a:off x="574" y="958"/>
                  <a:ext cx="698" cy="1159"/>
                </a:xfrm>
                <a:prstGeom prst="rect">
                  <a:avLst/>
                </a:prstGeom>
                <a:noFill/>
                <a:ln w="28575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48137" name="Rectangle 126"/>
            <p:cNvSpPr>
              <a:spLocks noChangeArrowheads="1"/>
            </p:cNvSpPr>
            <p:nvPr/>
          </p:nvSpPr>
          <p:spPr bwMode="auto">
            <a:xfrm>
              <a:off x="-4" y="-4"/>
              <a:ext cx="1280" cy="2125"/>
            </a:xfrm>
            <a:prstGeom prst="rect">
              <a:avLst/>
            </a:prstGeom>
            <a:noFill/>
            <a:ln w="28575">
              <a:solidFill>
                <a:srgbClr val="A0A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1.3.2  I/O</a:t>
            </a:r>
            <a:r>
              <a:rPr lang="zh-CN" altLang="en-US" dirty="0"/>
              <a:t>空间的分配</a:t>
            </a:r>
            <a:endParaRPr lang="zh-CN" altLang="en-US" dirty="0"/>
          </a:p>
        </p:txBody>
      </p:sp>
      <p:sp>
        <p:nvSpPr>
          <p:cNvPr id="48133" name="Rectangle 39"/>
          <p:cNvSpPr>
            <a:spLocks noChangeArrowheads="1"/>
          </p:cNvSpPr>
          <p:nvPr/>
        </p:nvSpPr>
        <p:spPr bwMode="auto">
          <a:xfrm>
            <a:off x="2782888" y="4235450"/>
            <a:ext cx="3343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1000">
                <a:latin typeface="Times New Roman" panose="02020603050405020304" pitchFamily="18" charset="0"/>
              </a:rPr>
              <a:t> </a:t>
            </a:r>
            <a:endParaRPr lang="en-US" altLang="zh-CN" sz="1000">
              <a:latin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FF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467544" y="915566"/>
            <a:ext cx="7886700" cy="18984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/>
              <a:t>从功能分成两个单元：</a:t>
            </a:r>
            <a:endParaRPr kumimoji="0" lang="zh-CN" altLang="en-US" sz="24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sz="2400" b="1" dirty="0"/>
              <a:t>总线接口单元</a:t>
            </a:r>
            <a:r>
              <a:rPr kumimoji="0" lang="en-US" altLang="zh-CN" sz="2400" b="1" dirty="0"/>
              <a:t>BIU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——</a:t>
            </a:r>
            <a:r>
              <a:rPr kumimoji="0" lang="zh-CN" altLang="en-US" sz="2400" dirty="0"/>
              <a:t>管理</a:t>
            </a:r>
            <a:r>
              <a:rPr kumimoji="0" lang="en-US" altLang="zh-CN" sz="2400" dirty="0"/>
              <a:t>8088</a:t>
            </a:r>
            <a:r>
              <a:rPr kumimoji="0" lang="zh-CN" altLang="en-US" sz="2400" dirty="0"/>
              <a:t>与系统总线的接口，负责</a:t>
            </a:r>
            <a:r>
              <a:rPr kumimoji="0" lang="en-US" altLang="zh-CN" sz="2400" dirty="0"/>
              <a:t>CPU</a:t>
            </a:r>
            <a:r>
              <a:rPr kumimoji="0" lang="zh-CN" altLang="en-US" sz="2400" dirty="0"/>
              <a:t>对存储器和外设进行访问（</a:t>
            </a:r>
            <a:r>
              <a:rPr lang="zh-CN" altLang="en-US" sz="2400" dirty="0"/>
              <a:t>负责与内存或</a:t>
            </a:r>
            <a:r>
              <a:rPr lang="en-US" altLang="zh-CN" sz="2400" dirty="0"/>
              <a:t>I/O</a:t>
            </a:r>
            <a:r>
              <a:rPr lang="zh-CN" altLang="en-US" sz="2400" dirty="0"/>
              <a:t>端口传送指令或数据</a:t>
            </a:r>
            <a:r>
              <a:rPr kumimoji="0" lang="zh-CN" altLang="en-US" sz="2400" dirty="0"/>
              <a:t>）</a:t>
            </a:r>
            <a:endParaRPr kumimoji="0" lang="zh-CN" altLang="en-US" sz="2400" dirty="0"/>
          </a:p>
          <a:p>
            <a:pPr lvl="1" fontAlgn="auto">
              <a:spcAft>
                <a:spcPts val="0"/>
              </a:spcAft>
            </a:pPr>
            <a:r>
              <a:rPr kumimoji="0" lang="zh-CN" altLang="en-US" sz="2400" b="1" dirty="0"/>
              <a:t>执行单元</a:t>
            </a:r>
            <a:r>
              <a:rPr kumimoji="0" lang="en-US" altLang="zh-CN" sz="2400" b="1" dirty="0"/>
              <a:t>EU</a:t>
            </a:r>
            <a:r>
              <a:rPr kumimoji="0" lang="en-US" altLang="zh-CN" sz="2400" dirty="0">
                <a:latin typeface="Times New Roman" panose="02020603050405020304" pitchFamily="18" charset="0"/>
              </a:rPr>
              <a:t>——</a:t>
            </a:r>
            <a:r>
              <a:rPr kumimoji="0" lang="zh-CN" altLang="en-US" sz="2400" dirty="0"/>
              <a:t>负责指令的译码、执行和数据的运算</a:t>
            </a:r>
            <a:endParaRPr kumimoji="0"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713254"/>
          </a:xfrm>
        </p:spPr>
        <p:txBody>
          <a:bodyPr/>
          <a:lstStyle/>
          <a:p>
            <a:r>
              <a:rPr lang="en-US" altLang="zh-CN" dirty="0"/>
              <a:t>1.3.3 8088</a:t>
            </a:r>
            <a:r>
              <a:rPr lang="zh-CN" altLang="en-US" dirty="0"/>
              <a:t>内部结构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36993" y="2860628"/>
            <a:ext cx="35283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EU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的功能：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执行指令（</a:t>
            </a:r>
            <a:r>
              <a:rPr lang="en-US" altLang="zh-CN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ALU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）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分析指令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暂存计算结果（通用寄存器组）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保留运算结果的特征（标志寄存器）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856322" y="2855077"/>
            <a:ext cx="3528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BIU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访问内存或</a:t>
            </a:r>
            <a:r>
              <a:rPr lang="en-US" altLang="zh-CN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I/O</a:t>
            </a: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接口</a:t>
            </a:r>
            <a:r>
              <a:rPr lang="en-US" altLang="zh-CN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: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指令队列实现指令预取</a:t>
            </a:r>
            <a:endParaRPr lang="zh-CN" altLang="en-US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accent5"/>
                </a:solidFill>
                <a:latin typeface="仿宋" panose="02010609060101010101" charset="-122"/>
                <a:ea typeface="仿宋" panose="02010609060101010101" charset="-122"/>
              </a:rPr>
              <a:t>地址加法器算出访问的地址（段寄存器和指令中的地址）</a:t>
            </a:r>
            <a:endParaRPr lang="en-US" altLang="zh-CN" sz="1800" dirty="0">
              <a:solidFill>
                <a:schemeClr val="accent5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6914813" y="483518"/>
            <a:ext cx="1982044" cy="424847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200" dirty="0"/>
              <a:t> </a:t>
            </a:r>
            <a:r>
              <a:rPr lang="zh-CN" altLang="en-US" sz="1600" dirty="0"/>
              <a:t>①</a:t>
            </a:r>
            <a:r>
              <a:rPr lang="en-US" altLang="zh-CN" sz="1600" dirty="0"/>
              <a:t>BIU</a:t>
            </a:r>
            <a:r>
              <a:rPr lang="zh-CN" altLang="en-US" sz="1600" dirty="0"/>
              <a:t>从内存取指令送到指令队列</a:t>
            </a:r>
            <a:endParaRPr lang="zh-CN" altLang="en-US" sz="16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600" dirty="0"/>
              <a:t> ②当</a:t>
            </a:r>
            <a:r>
              <a:rPr lang="en-US" altLang="zh-CN" sz="1600" dirty="0"/>
              <a:t>EU</a:t>
            </a:r>
            <a:r>
              <a:rPr lang="zh-CN" altLang="en-US" sz="1600" dirty="0"/>
              <a:t>执行指令时，</a:t>
            </a:r>
            <a:r>
              <a:rPr lang="en-US" altLang="zh-CN" sz="1600" dirty="0"/>
              <a:t>BIU</a:t>
            </a:r>
            <a:r>
              <a:rPr lang="zh-CN" altLang="en-US" sz="1600" dirty="0"/>
              <a:t>要配合</a:t>
            </a:r>
            <a:r>
              <a:rPr lang="en-US" altLang="zh-CN" sz="1600" dirty="0"/>
              <a:t>EU</a:t>
            </a:r>
            <a:r>
              <a:rPr lang="zh-CN" altLang="en-US" sz="1600" dirty="0"/>
              <a:t>从指定的内存单元或</a:t>
            </a:r>
            <a:r>
              <a:rPr lang="en-US" altLang="zh-CN" sz="1600" dirty="0"/>
              <a:t>I/O</a:t>
            </a:r>
            <a:r>
              <a:rPr lang="zh-CN" altLang="en-US" sz="1600" dirty="0"/>
              <a:t>端口中读取数据，或者把</a:t>
            </a:r>
            <a:r>
              <a:rPr lang="en-US" altLang="zh-CN" sz="1600" dirty="0"/>
              <a:t>EU</a:t>
            </a:r>
            <a:r>
              <a:rPr lang="zh-CN" altLang="en-US" sz="1600" dirty="0"/>
              <a:t>的操作结果送到指定的内存单元或</a:t>
            </a:r>
            <a:r>
              <a:rPr lang="en-US" altLang="zh-CN" sz="1600" dirty="0"/>
              <a:t>I/O</a:t>
            </a:r>
            <a:r>
              <a:rPr lang="zh-CN" altLang="en-US" sz="1600" dirty="0"/>
              <a:t>端口去。</a:t>
            </a:r>
            <a:endParaRPr lang="en-US" altLang="zh-CN" sz="1600" dirty="0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1600" dirty="0"/>
          </a:p>
          <a:p>
            <a:pPr fontAlgn="auto">
              <a:spcAft>
                <a:spcPts val="0"/>
              </a:spcAft>
            </a:pPr>
            <a:r>
              <a:rPr kumimoji="0" lang="zh-CN" altLang="en-US" sz="1600" dirty="0"/>
              <a:t>两个单元相互独立，分别完成各自操作</a:t>
            </a:r>
            <a:endParaRPr kumimoji="0" lang="zh-CN" altLang="en-US" sz="1600" dirty="0"/>
          </a:p>
          <a:p>
            <a:pPr fontAlgn="auto">
              <a:spcAft>
                <a:spcPts val="0"/>
              </a:spcAft>
            </a:pPr>
            <a:r>
              <a:rPr kumimoji="0" lang="zh-CN" altLang="en-US" sz="1600" dirty="0"/>
              <a:t>两个单元可以并行执行，实现指令取指和执行的流水线操作</a:t>
            </a:r>
            <a:endParaRPr kumimoji="0" lang="zh-CN" altLang="en-US" sz="1600" dirty="0"/>
          </a:p>
        </p:txBody>
      </p:sp>
      <p:pic>
        <p:nvPicPr>
          <p:cNvPr id="2" name="内容占位符 4" descr="cs2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8320"/>
            <a:ext cx="6375261" cy="460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704055"/>
            <a:ext cx="8726488" cy="2920207"/>
          </a:xfrm>
        </p:spPr>
        <p:txBody>
          <a:bodyPr/>
          <a:lstStyle/>
          <a:p>
            <a:r>
              <a:rPr lang="zh-CN" altLang="en-US" sz="1800" dirty="0"/>
              <a:t>早期的</a:t>
            </a:r>
            <a:r>
              <a:rPr kumimoji="0" lang="en-US" altLang="zh-CN" sz="1800" dirty="0"/>
              <a:t>CPU</a:t>
            </a:r>
            <a:r>
              <a:rPr kumimoji="0" lang="zh-CN" altLang="en-US" sz="1800" dirty="0"/>
              <a:t>执行指令的过程是：取指令－</a:t>
            </a:r>
            <a:r>
              <a:rPr kumimoji="0" lang="en-US" altLang="zh-CN" sz="1800" dirty="0"/>
              <a:t>&gt;</a:t>
            </a:r>
            <a:r>
              <a:rPr kumimoji="0" lang="zh-CN" altLang="en-US" sz="1800" dirty="0"/>
              <a:t>执行指令－</a:t>
            </a:r>
            <a:r>
              <a:rPr kumimoji="0" lang="en-US" altLang="zh-CN" sz="1800" dirty="0"/>
              <a:t>&gt;</a:t>
            </a:r>
            <a:r>
              <a:rPr kumimoji="0" lang="zh-CN" altLang="en-US" sz="1800" dirty="0"/>
              <a:t>再取指令－</a:t>
            </a:r>
            <a:r>
              <a:rPr kumimoji="0" lang="en-US" altLang="zh-CN" sz="1800" dirty="0"/>
              <a:t>&gt;</a:t>
            </a:r>
            <a:r>
              <a:rPr kumimoji="0" lang="en-US" altLang="zh-CN" sz="1800" dirty="0">
                <a:latin typeface="Times New Roman" panose="02020603050405020304" pitchFamily="18" charset="0"/>
              </a:rPr>
              <a:t>……</a:t>
            </a:r>
            <a:r>
              <a:rPr kumimoji="0" lang="zh-CN" altLang="en-US" sz="1800" dirty="0"/>
              <a:t>，串行执行。</a:t>
            </a:r>
            <a:r>
              <a:rPr lang="en-US" altLang="zh-CN" sz="1800" dirty="0"/>
              <a:t>CPU</a:t>
            </a:r>
            <a:r>
              <a:rPr lang="zh-CN" altLang="en-US" sz="1800" dirty="0"/>
              <a:t>效率较低。</a:t>
            </a:r>
            <a:endParaRPr lang="zh-CN" altLang="en-US" sz="1800" dirty="0"/>
          </a:p>
          <a:p>
            <a:pPr eaLnBrk="1" hangingPunct="1"/>
            <a:endParaRPr lang="zh-CN" altLang="en-US" sz="2000" dirty="0"/>
          </a:p>
          <a:p>
            <a:pPr eaLnBrk="1" hangingPunct="1"/>
            <a:endParaRPr lang="zh-CN" altLang="en-US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endParaRPr lang="en-US" altLang="zh-CN" sz="2000" dirty="0"/>
          </a:p>
          <a:p>
            <a:pPr eaLnBrk="1" hangingPunct="1"/>
            <a:r>
              <a:rPr lang="zh-CN" altLang="en-US" sz="1800" dirty="0"/>
              <a:t>在流水线方式下，</a:t>
            </a:r>
            <a:r>
              <a:rPr lang="en-US" altLang="zh-CN" sz="1800" dirty="0"/>
              <a:t>BIU</a:t>
            </a:r>
            <a:r>
              <a:rPr lang="zh-CN" altLang="en-US" sz="1800" dirty="0"/>
              <a:t>与</a:t>
            </a:r>
            <a:r>
              <a:rPr lang="en-US" altLang="zh-CN" sz="1800" dirty="0"/>
              <a:t>EU</a:t>
            </a:r>
            <a:r>
              <a:rPr lang="zh-CN" altLang="en-US" sz="1800" dirty="0"/>
              <a:t>同时动作（并行）完成指令周期，</a:t>
            </a:r>
            <a:r>
              <a:rPr kumimoji="0" lang="zh-CN" altLang="en-US" sz="1800" dirty="0"/>
              <a:t>使得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“</a:t>
            </a:r>
            <a:r>
              <a:rPr kumimoji="0" lang="zh-CN" altLang="en-US" sz="1800" dirty="0"/>
              <a:t>取指令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”</a:t>
            </a:r>
            <a:r>
              <a:rPr kumimoji="0" lang="zh-CN" altLang="en-US" sz="1800" dirty="0"/>
              <a:t>和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“</a:t>
            </a:r>
            <a:r>
              <a:rPr kumimoji="0" lang="zh-CN" altLang="en-US" sz="1800" dirty="0"/>
              <a:t>执行指令</a:t>
            </a:r>
            <a:r>
              <a:rPr kumimoji="0" lang="zh-CN" altLang="en-US" sz="1800" dirty="0">
                <a:latin typeface="Times New Roman" panose="02020603050405020304" pitchFamily="18" charset="0"/>
              </a:rPr>
              <a:t>”</a:t>
            </a:r>
            <a:r>
              <a:rPr kumimoji="0" lang="zh-CN" altLang="en-US" sz="1800" dirty="0"/>
              <a:t>的操作在时间上是并行的，</a:t>
            </a:r>
            <a:r>
              <a:rPr lang="en-US" altLang="zh-CN" sz="1800" dirty="0"/>
              <a:t>CPU</a:t>
            </a:r>
            <a:r>
              <a:rPr lang="zh-CN" altLang="en-US" sz="1800" dirty="0"/>
              <a:t>效率高。</a:t>
            </a:r>
            <a:endParaRPr lang="zh-CN" altLang="en-US" sz="1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918642" y="1635646"/>
            <a:ext cx="7086600" cy="800100"/>
            <a:chOff x="1012304" y="1218406"/>
            <a:chExt cx="7086600" cy="800100"/>
          </a:xfrm>
        </p:grpSpPr>
        <p:sp>
          <p:nvSpPr>
            <p:cNvPr id="71684" name="Rectangle 4"/>
            <p:cNvSpPr>
              <a:spLocks noChangeArrowheads="1"/>
            </p:cNvSpPr>
            <p:nvPr/>
          </p:nvSpPr>
          <p:spPr bwMode="auto">
            <a:xfrm>
              <a:off x="1012304" y="121840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1</a:t>
              </a:r>
              <a:endParaRPr kumimoji="0" lang="en-US" altLang="zh-CN" sz="1800" b="1"/>
            </a:p>
          </p:txBody>
        </p:sp>
        <p:grpSp>
          <p:nvGrpSpPr>
            <p:cNvPr id="71685" name="Group 5"/>
            <p:cNvGrpSpPr/>
            <p:nvPr/>
          </p:nvGrpSpPr>
          <p:grpSpPr bwMode="auto">
            <a:xfrm>
              <a:off x="2231504" y="1218406"/>
              <a:ext cx="914400" cy="285750"/>
              <a:chOff x="1440" y="1632"/>
              <a:chExt cx="576" cy="240"/>
            </a:xfrm>
          </p:grpSpPr>
          <p:sp>
            <p:nvSpPr>
              <p:cNvPr id="71756" name="Rectangle 6"/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57" name="Line 7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8" name="Line 8"/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9" name="Line 9"/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0" name="Line 10"/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1" name="Line 11"/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2" name="Line 12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3" name="Line 13"/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86" name="Rectangle 14"/>
            <p:cNvSpPr>
              <a:spLocks noChangeArrowheads="1"/>
            </p:cNvSpPr>
            <p:nvPr/>
          </p:nvSpPr>
          <p:spPr bwMode="auto">
            <a:xfrm>
              <a:off x="3450704" y="121840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2</a:t>
              </a:r>
              <a:endParaRPr kumimoji="0" lang="en-US" altLang="zh-CN" sz="1800" b="1"/>
            </a:p>
          </p:txBody>
        </p:sp>
        <p:grpSp>
          <p:nvGrpSpPr>
            <p:cNvPr id="71687" name="Group 15"/>
            <p:cNvGrpSpPr/>
            <p:nvPr/>
          </p:nvGrpSpPr>
          <p:grpSpPr bwMode="auto">
            <a:xfrm>
              <a:off x="4746104" y="1218406"/>
              <a:ext cx="914400" cy="285750"/>
              <a:chOff x="1440" y="1632"/>
              <a:chExt cx="576" cy="240"/>
            </a:xfrm>
          </p:grpSpPr>
          <p:sp>
            <p:nvSpPr>
              <p:cNvPr id="71748" name="Rectangle 16"/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49" name="Line 17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0" name="Line 18"/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1" name="Line 19"/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2" name="Line 20"/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3" name="Line 21"/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4" name="Line 22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55" name="Line 23"/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88" name="Rectangle 24"/>
            <p:cNvSpPr>
              <a:spLocks noChangeArrowheads="1"/>
            </p:cNvSpPr>
            <p:nvPr/>
          </p:nvSpPr>
          <p:spPr bwMode="auto">
            <a:xfrm>
              <a:off x="5965304" y="121840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grpSp>
          <p:nvGrpSpPr>
            <p:cNvPr id="71689" name="Group 25"/>
            <p:cNvGrpSpPr/>
            <p:nvPr/>
          </p:nvGrpSpPr>
          <p:grpSpPr bwMode="auto">
            <a:xfrm>
              <a:off x="1012304" y="1732756"/>
              <a:ext cx="914400" cy="285750"/>
              <a:chOff x="1440" y="1632"/>
              <a:chExt cx="576" cy="240"/>
            </a:xfrm>
          </p:grpSpPr>
          <p:sp>
            <p:nvSpPr>
              <p:cNvPr id="71740" name="Rectangle 26"/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41" name="Line 27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2" name="Line 28"/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3" name="Line 29"/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4" name="Line 30"/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5" name="Line 31"/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6" name="Line 32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47" name="Line 33"/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71690" name="Rectangle 34"/>
            <p:cNvSpPr>
              <a:spLocks noChangeArrowheads="1"/>
            </p:cNvSpPr>
            <p:nvPr/>
          </p:nvSpPr>
          <p:spPr bwMode="auto">
            <a:xfrm>
              <a:off x="2231504" y="173275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1</a:t>
              </a:r>
              <a:endParaRPr kumimoji="0" lang="en-US" altLang="zh-CN" sz="1800" b="1"/>
            </a:p>
          </p:txBody>
        </p:sp>
        <p:grpSp>
          <p:nvGrpSpPr>
            <p:cNvPr id="71691" name="Group 35"/>
            <p:cNvGrpSpPr/>
            <p:nvPr/>
          </p:nvGrpSpPr>
          <p:grpSpPr bwMode="auto">
            <a:xfrm>
              <a:off x="3450704" y="1732756"/>
              <a:ext cx="914400" cy="285750"/>
              <a:chOff x="1440" y="1632"/>
              <a:chExt cx="576" cy="240"/>
            </a:xfrm>
          </p:grpSpPr>
          <p:sp>
            <p:nvSpPr>
              <p:cNvPr id="71732" name="Rectangle 36"/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33" name="Line 37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4" name="Line 38"/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5" name="Line 39"/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6" name="Line 40"/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7" name="Line 41"/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8" name="Line 42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9" name="Line 43"/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92" name="Rectangle 44"/>
            <p:cNvSpPr>
              <a:spLocks noChangeArrowheads="1"/>
            </p:cNvSpPr>
            <p:nvPr/>
          </p:nvSpPr>
          <p:spPr bwMode="auto">
            <a:xfrm>
              <a:off x="4746104" y="173275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2</a:t>
              </a:r>
              <a:endParaRPr kumimoji="0" lang="en-US" altLang="zh-CN" sz="1800" b="1"/>
            </a:p>
          </p:txBody>
        </p:sp>
        <p:grpSp>
          <p:nvGrpSpPr>
            <p:cNvPr id="71693" name="Group 45"/>
            <p:cNvGrpSpPr/>
            <p:nvPr/>
          </p:nvGrpSpPr>
          <p:grpSpPr bwMode="auto">
            <a:xfrm>
              <a:off x="5965304" y="1732756"/>
              <a:ext cx="914400" cy="285750"/>
              <a:chOff x="1440" y="1632"/>
              <a:chExt cx="576" cy="240"/>
            </a:xfrm>
          </p:grpSpPr>
          <p:sp>
            <p:nvSpPr>
              <p:cNvPr id="71724" name="Rectangle 46"/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25" name="Line 47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6" name="Line 48"/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7" name="Line 49"/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8" name="Line 50"/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9" name="Line 51"/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0" name="Line 52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31" name="Line 53"/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694" name="Rectangle 54"/>
            <p:cNvSpPr>
              <a:spLocks noChangeArrowheads="1"/>
            </p:cNvSpPr>
            <p:nvPr/>
          </p:nvSpPr>
          <p:spPr bwMode="auto">
            <a:xfrm>
              <a:off x="7184504" y="1732756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71695" name="Line 55"/>
            <p:cNvSpPr>
              <a:spLocks noChangeShapeType="1"/>
            </p:cNvSpPr>
            <p:nvPr/>
          </p:nvSpPr>
          <p:spPr bwMode="auto">
            <a:xfrm>
              <a:off x="19267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6" name="Line 56"/>
            <p:cNvSpPr>
              <a:spLocks noChangeShapeType="1"/>
            </p:cNvSpPr>
            <p:nvPr/>
          </p:nvSpPr>
          <p:spPr bwMode="auto">
            <a:xfrm flipV="1">
              <a:off x="31459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7" name="Line 57"/>
            <p:cNvSpPr>
              <a:spLocks noChangeShapeType="1"/>
            </p:cNvSpPr>
            <p:nvPr/>
          </p:nvSpPr>
          <p:spPr bwMode="auto">
            <a:xfrm>
              <a:off x="4365104" y="1504156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8" name="Line 58"/>
            <p:cNvSpPr>
              <a:spLocks noChangeShapeType="1"/>
            </p:cNvSpPr>
            <p:nvPr/>
          </p:nvSpPr>
          <p:spPr bwMode="auto">
            <a:xfrm flipV="1">
              <a:off x="56605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9" name="Line 59"/>
            <p:cNvSpPr>
              <a:spLocks noChangeShapeType="1"/>
            </p:cNvSpPr>
            <p:nvPr/>
          </p:nvSpPr>
          <p:spPr bwMode="auto">
            <a:xfrm>
              <a:off x="6879704" y="1504156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99592" y="3639344"/>
            <a:ext cx="7040562" cy="884238"/>
            <a:chOff x="996058" y="2396331"/>
            <a:chExt cx="7040562" cy="884238"/>
          </a:xfrm>
        </p:grpSpPr>
        <p:sp>
          <p:nvSpPr>
            <p:cNvPr id="71700" name="Rectangle 60"/>
            <p:cNvSpPr>
              <a:spLocks noChangeArrowheads="1"/>
            </p:cNvSpPr>
            <p:nvPr/>
          </p:nvSpPr>
          <p:spPr bwMode="auto">
            <a:xfrm>
              <a:off x="18707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1</a:t>
              </a:r>
              <a:endParaRPr kumimoji="0" lang="en-US" altLang="zh-CN" sz="1800" b="1"/>
            </a:p>
          </p:txBody>
        </p:sp>
        <p:grpSp>
          <p:nvGrpSpPr>
            <p:cNvPr id="71701" name="Group 61"/>
            <p:cNvGrpSpPr/>
            <p:nvPr/>
          </p:nvGrpSpPr>
          <p:grpSpPr bwMode="auto">
            <a:xfrm>
              <a:off x="1870770" y="2910681"/>
              <a:ext cx="914400" cy="285750"/>
              <a:chOff x="1440" y="1632"/>
              <a:chExt cx="576" cy="240"/>
            </a:xfrm>
          </p:grpSpPr>
          <p:sp>
            <p:nvSpPr>
              <p:cNvPr id="71716" name="Rectangle 62"/>
              <p:cNvSpPr>
                <a:spLocks noChangeArrowheads="1"/>
              </p:cNvSpPr>
              <p:nvPr/>
            </p:nvSpPr>
            <p:spPr bwMode="auto">
              <a:xfrm>
                <a:off x="1440" y="1632"/>
                <a:ext cx="576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717" name="Line 63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18" name="Line 64"/>
              <p:cNvSpPr>
                <a:spLocks noChangeShapeType="1"/>
              </p:cNvSpPr>
              <p:nvPr/>
            </p:nvSpPr>
            <p:spPr bwMode="auto">
              <a:xfrm flipH="1">
                <a:off x="1824" y="168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19" name="Line 65"/>
              <p:cNvSpPr>
                <a:spLocks noChangeShapeType="1"/>
              </p:cNvSpPr>
              <p:nvPr/>
            </p:nvSpPr>
            <p:spPr bwMode="auto">
              <a:xfrm flipH="1">
                <a:off x="1728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0" name="Line 66"/>
              <p:cNvSpPr>
                <a:spLocks noChangeShapeType="1"/>
              </p:cNvSpPr>
              <p:nvPr/>
            </p:nvSpPr>
            <p:spPr bwMode="auto">
              <a:xfrm flipH="1">
                <a:off x="1632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1" name="Line 67"/>
              <p:cNvSpPr>
                <a:spLocks noChangeShapeType="1"/>
              </p:cNvSpPr>
              <p:nvPr/>
            </p:nvSpPr>
            <p:spPr bwMode="auto">
              <a:xfrm flipH="1">
                <a:off x="1536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2" name="Line 68"/>
              <p:cNvSpPr>
                <a:spLocks noChangeShapeType="1"/>
              </p:cNvSpPr>
              <p:nvPr/>
            </p:nvSpPr>
            <p:spPr bwMode="auto">
              <a:xfrm flipH="1">
                <a:off x="1440" y="1632"/>
                <a:ext cx="240" cy="24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3" name="Line 69"/>
              <p:cNvSpPr>
                <a:spLocks noChangeShapeType="1"/>
              </p:cNvSpPr>
              <p:nvPr/>
            </p:nvSpPr>
            <p:spPr bwMode="auto">
              <a:xfrm flipH="1">
                <a:off x="1920" y="177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702" name="Rectangle 70"/>
            <p:cNvSpPr>
              <a:spLocks noChangeArrowheads="1"/>
            </p:cNvSpPr>
            <p:nvPr/>
          </p:nvSpPr>
          <p:spPr bwMode="auto">
            <a:xfrm>
              <a:off x="3089970" y="291068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1</a:t>
              </a:r>
              <a:endParaRPr kumimoji="0" lang="en-US" altLang="zh-CN" sz="1800" b="1"/>
            </a:p>
          </p:txBody>
        </p:sp>
        <p:sp>
          <p:nvSpPr>
            <p:cNvPr id="71703" name="Rectangle 71"/>
            <p:cNvSpPr>
              <a:spLocks noChangeArrowheads="1"/>
            </p:cNvSpPr>
            <p:nvPr/>
          </p:nvSpPr>
          <p:spPr bwMode="auto">
            <a:xfrm>
              <a:off x="30899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 dirty="0"/>
                <a:t>取指</a:t>
              </a:r>
              <a:r>
                <a:rPr kumimoji="0" lang="en-US" altLang="zh-CN" sz="1800" b="1" dirty="0"/>
                <a:t>2</a:t>
              </a:r>
              <a:endParaRPr kumimoji="0" lang="en-US" altLang="zh-CN" sz="1800" b="1" dirty="0"/>
            </a:p>
          </p:txBody>
        </p:sp>
        <p:sp>
          <p:nvSpPr>
            <p:cNvPr id="71704" name="Rectangle 72"/>
            <p:cNvSpPr>
              <a:spLocks noChangeArrowheads="1"/>
            </p:cNvSpPr>
            <p:nvPr/>
          </p:nvSpPr>
          <p:spPr bwMode="auto">
            <a:xfrm>
              <a:off x="43091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3</a:t>
              </a:r>
              <a:endParaRPr kumimoji="0" lang="en-US" altLang="zh-CN" sz="1800" b="1"/>
            </a:p>
          </p:txBody>
        </p:sp>
        <p:sp>
          <p:nvSpPr>
            <p:cNvPr id="71705" name="Rectangle 73"/>
            <p:cNvSpPr>
              <a:spLocks noChangeArrowheads="1"/>
            </p:cNvSpPr>
            <p:nvPr/>
          </p:nvSpPr>
          <p:spPr bwMode="auto">
            <a:xfrm>
              <a:off x="4309170" y="291068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执行</a:t>
              </a:r>
              <a:r>
                <a:rPr kumimoji="0" lang="en-US" altLang="zh-CN" sz="1800" b="1"/>
                <a:t>2</a:t>
              </a:r>
              <a:endParaRPr kumimoji="0" lang="en-US" altLang="zh-CN" sz="1800" b="1"/>
            </a:p>
          </p:txBody>
        </p:sp>
        <p:sp>
          <p:nvSpPr>
            <p:cNvPr id="71706" name="Rectangle 74"/>
            <p:cNvSpPr>
              <a:spLocks noChangeArrowheads="1"/>
            </p:cNvSpPr>
            <p:nvPr/>
          </p:nvSpPr>
          <p:spPr bwMode="auto">
            <a:xfrm>
              <a:off x="5604570" y="291068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 dirty="0"/>
                <a:t>执行</a:t>
              </a:r>
              <a:r>
                <a:rPr kumimoji="0" lang="en-US" altLang="zh-CN" sz="1800" b="1" dirty="0"/>
                <a:t>3</a:t>
              </a:r>
              <a:endParaRPr kumimoji="0" lang="en-US" altLang="zh-CN" sz="1800" b="1" dirty="0"/>
            </a:p>
          </p:txBody>
        </p:sp>
        <p:sp>
          <p:nvSpPr>
            <p:cNvPr id="71707" name="Rectangle 75"/>
            <p:cNvSpPr>
              <a:spLocks noChangeArrowheads="1"/>
            </p:cNvSpPr>
            <p:nvPr/>
          </p:nvSpPr>
          <p:spPr bwMode="auto">
            <a:xfrm>
              <a:off x="5604570" y="2396331"/>
              <a:ext cx="914400" cy="285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取指</a:t>
              </a:r>
              <a:r>
                <a:rPr kumimoji="0" lang="en-US" altLang="zh-CN" sz="1800" b="1"/>
                <a:t>4</a:t>
              </a:r>
              <a:endParaRPr kumimoji="0" lang="en-US" altLang="zh-CN" sz="1800" b="1"/>
            </a:p>
          </p:txBody>
        </p:sp>
        <p:sp>
          <p:nvSpPr>
            <p:cNvPr id="71708" name="Text Box 76"/>
            <p:cNvSpPr txBox="1">
              <a:spLocks noChangeArrowheads="1"/>
            </p:cNvSpPr>
            <p:nvPr/>
          </p:nvSpPr>
          <p:spPr bwMode="auto">
            <a:xfrm>
              <a:off x="6630095" y="2396331"/>
              <a:ext cx="1406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/>
                <a:t>• • • • • •</a:t>
              </a:r>
              <a:endParaRPr kumimoji="0" lang="en-US" altLang="zh-CN" sz="1800" b="1"/>
            </a:p>
          </p:txBody>
        </p:sp>
        <p:sp>
          <p:nvSpPr>
            <p:cNvPr id="71709" name="Text Box 77"/>
            <p:cNvSpPr txBox="1">
              <a:spLocks noChangeArrowheads="1"/>
            </p:cNvSpPr>
            <p:nvPr/>
          </p:nvSpPr>
          <p:spPr bwMode="auto">
            <a:xfrm>
              <a:off x="6630095" y="2910681"/>
              <a:ext cx="1406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/>
                <a:t>• • • • • •</a:t>
              </a:r>
              <a:endParaRPr kumimoji="0" lang="en-US" altLang="zh-CN" sz="1800" b="1"/>
            </a:p>
          </p:txBody>
        </p:sp>
        <p:sp>
          <p:nvSpPr>
            <p:cNvPr id="71710" name="Text Box 78"/>
            <p:cNvSpPr txBox="1">
              <a:spLocks noChangeArrowheads="1"/>
            </p:cNvSpPr>
            <p:nvPr/>
          </p:nvSpPr>
          <p:spPr bwMode="auto">
            <a:xfrm>
              <a:off x="996058" y="2453481"/>
              <a:ext cx="6270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 dirty="0"/>
                <a:t>BIU</a:t>
              </a:r>
              <a:endParaRPr kumimoji="0" lang="en-US" altLang="zh-CN" sz="1800" b="1" dirty="0"/>
            </a:p>
          </p:txBody>
        </p:sp>
        <p:sp>
          <p:nvSpPr>
            <p:cNvPr id="71711" name="Text Box 79"/>
            <p:cNvSpPr txBox="1">
              <a:spLocks noChangeArrowheads="1"/>
            </p:cNvSpPr>
            <p:nvPr/>
          </p:nvSpPr>
          <p:spPr bwMode="auto">
            <a:xfrm>
              <a:off x="1015108" y="2910681"/>
              <a:ext cx="4968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 dirty="0"/>
                <a:t>EU</a:t>
              </a:r>
              <a:endParaRPr kumimoji="0" lang="en-US" altLang="zh-CN" sz="1800" b="1" dirty="0"/>
            </a:p>
          </p:txBody>
        </p:sp>
        <p:sp>
          <p:nvSpPr>
            <p:cNvPr id="71712" name="Line 80"/>
            <p:cNvSpPr>
              <a:spLocks noChangeShapeType="1"/>
            </p:cNvSpPr>
            <p:nvPr/>
          </p:nvSpPr>
          <p:spPr bwMode="auto">
            <a:xfrm>
              <a:off x="2785170" y="2682081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3" name="Line 81"/>
            <p:cNvSpPr>
              <a:spLocks noChangeShapeType="1"/>
            </p:cNvSpPr>
            <p:nvPr/>
          </p:nvSpPr>
          <p:spPr bwMode="auto">
            <a:xfrm>
              <a:off x="4004370" y="2682081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4" name="Line 82"/>
            <p:cNvSpPr>
              <a:spLocks noChangeShapeType="1"/>
            </p:cNvSpPr>
            <p:nvPr/>
          </p:nvSpPr>
          <p:spPr bwMode="auto">
            <a:xfrm>
              <a:off x="5223570" y="2682081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5" name="Line 83"/>
            <p:cNvSpPr>
              <a:spLocks noChangeShapeType="1"/>
            </p:cNvSpPr>
            <p:nvPr/>
          </p:nvSpPr>
          <p:spPr bwMode="auto">
            <a:xfrm>
              <a:off x="6518970" y="2682081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8088/8086</a:t>
            </a:r>
            <a:r>
              <a:rPr lang="zh-CN" altLang="en-US" dirty="0"/>
              <a:t>的寄存器结构	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1185741"/>
            <a:ext cx="6172200" cy="1890066"/>
          </a:xfrm>
        </p:spPr>
        <p:txBody>
          <a:bodyPr/>
          <a:lstStyle/>
          <a:p>
            <a:pPr lvl="1"/>
            <a:r>
              <a:rPr lang="en-US" altLang="zh-CN" dirty="0"/>
              <a:t>8</a:t>
            </a:r>
            <a:r>
              <a:rPr lang="zh-CN" altLang="en-US" dirty="0"/>
              <a:t>个通用寄存器</a:t>
            </a:r>
            <a:endParaRPr lang="zh-CN" altLang="en-US" dirty="0"/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个段寄存器</a:t>
            </a:r>
            <a:endParaRPr lang="zh-CN" altLang="en-US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个标志寄存器</a:t>
            </a:r>
            <a:endParaRPr lang="zh-CN" altLang="en-US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个指令指针寄存器</a:t>
            </a:r>
            <a:endParaRPr lang="zh-CN" altLang="en-US" dirty="0"/>
          </a:p>
          <a:p>
            <a:pPr algn="ctr">
              <a:buFontTx/>
              <a:buNone/>
            </a:pPr>
            <a:r>
              <a:rPr lang="zh-CN" altLang="en-US" sz="2700" dirty="0">
                <a:latin typeface="隶书" panose="02010509060101010101" pitchFamily="49" charset="-122"/>
                <a:ea typeface="隶书" panose="02010509060101010101" pitchFamily="49" charset="-122"/>
              </a:rPr>
              <a:t>它们均为</a:t>
            </a:r>
            <a:r>
              <a:rPr lang="en-US" altLang="zh-CN" sz="2700" dirty="0">
                <a:latin typeface="隶书" panose="02010509060101010101" pitchFamily="49" charset="-122"/>
                <a:ea typeface="隶书" panose="02010509060101010101" pitchFamily="49" charset="-122"/>
              </a:rPr>
              <a:t>16</a:t>
            </a:r>
            <a:r>
              <a:rPr lang="zh-CN" altLang="en-US" sz="2700" dirty="0">
                <a:latin typeface="隶书" panose="02010509060101010101" pitchFamily="49" charset="-122"/>
                <a:ea typeface="隶书" panose="02010509060101010101" pitchFamily="49" charset="-122"/>
              </a:rPr>
              <a:t>位</a:t>
            </a:r>
            <a:r>
              <a:rPr lang="en-US" altLang="zh-CN" sz="2700" dirty="0">
                <a:latin typeface="隶书" panose="02010509060101010101" pitchFamily="49" charset="-122"/>
                <a:ea typeface="隶书" panose="02010509060101010101" pitchFamily="49" charset="-122"/>
              </a:rPr>
              <a:t>!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1752" name="AutoShape 8"/>
          <p:cNvSpPr>
            <a:spLocks noChangeArrowheads="1"/>
          </p:cNvSpPr>
          <p:nvPr/>
        </p:nvSpPr>
        <p:spPr bwMode="auto">
          <a:xfrm>
            <a:off x="1362075" y="3429002"/>
            <a:ext cx="6419850" cy="897731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</a:rPr>
              <a:t>汇编语言程序员看到的处理器，就是寄存器。</a:t>
            </a:r>
            <a:endParaRPr lang="zh-CN" altLang="en-US" sz="1800" b="1" dirty="0">
              <a:solidFill>
                <a:schemeClr val="accent2"/>
              </a:solidFill>
            </a:endParaRPr>
          </a:p>
          <a:p>
            <a:pPr algn="ctr"/>
            <a:r>
              <a:rPr lang="zh-CN" altLang="en-US" sz="1800" b="1" dirty="0">
                <a:solidFill>
                  <a:schemeClr val="accent2"/>
                </a:solidFill>
              </a:rPr>
              <a:t>所以，一定要熟悉这些寄存器的名称和作用。</a:t>
            </a:r>
            <a:endParaRPr lang="zh-CN" altLang="en-US" sz="1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2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 </a:t>
            </a:r>
            <a:r>
              <a:rPr lang="zh-CN" altLang="en-US"/>
              <a:t>通用寄存器</a:t>
            </a:r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585845" algn="l"/>
              </a:tabLst>
            </a:pPr>
            <a:r>
              <a:rPr lang="en-US" altLang="zh-CN" sz="2400" dirty="0"/>
              <a:t>8088</a:t>
            </a:r>
            <a:r>
              <a:rPr lang="zh-CN" altLang="en-US" sz="2400" dirty="0"/>
              <a:t>有</a:t>
            </a:r>
            <a:r>
              <a:rPr lang="en-US" altLang="zh-CN" sz="2400" dirty="0"/>
              <a:t>8</a:t>
            </a:r>
            <a:r>
              <a:rPr lang="zh-CN" altLang="en-US" sz="2400" dirty="0"/>
              <a:t>个通用的</a:t>
            </a:r>
            <a:r>
              <a:rPr lang="en-US" altLang="zh-CN" sz="2400" dirty="0"/>
              <a:t>16</a:t>
            </a:r>
            <a:r>
              <a:rPr lang="zh-CN" altLang="en-US" sz="2400" dirty="0"/>
              <a:t>位寄存器</a:t>
            </a:r>
            <a:endParaRPr lang="zh-CN" altLang="en-US" sz="2400" dirty="0"/>
          </a:p>
          <a:p>
            <a:pPr lvl="1">
              <a:buNone/>
              <a:tabLst>
                <a:tab pos="3585845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）数据寄存器</a:t>
            </a:r>
            <a:r>
              <a:rPr lang="en-US" altLang="zh-CN" sz="2400" dirty="0">
                <a:solidFill>
                  <a:schemeClr val="accent2"/>
                </a:solidFill>
              </a:rPr>
              <a:t>: </a:t>
            </a:r>
            <a:r>
              <a:rPr lang="en-US" altLang="zh-CN" sz="2400" dirty="0"/>
              <a:t> AX  BX  CX  DX</a:t>
            </a:r>
            <a:endParaRPr lang="en-US" altLang="zh-CN" sz="2400" dirty="0"/>
          </a:p>
          <a:p>
            <a:pPr lvl="1">
              <a:buNone/>
              <a:tabLst>
                <a:tab pos="3585845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2</a:t>
            </a:r>
            <a:r>
              <a:rPr lang="zh-CN" altLang="en-US" sz="2400" dirty="0">
                <a:solidFill>
                  <a:schemeClr val="accent2"/>
                </a:solidFill>
              </a:rPr>
              <a:t>）变址寄存器</a:t>
            </a:r>
            <a:r>
              <a:rPr lang="en-US" altLang="zh-CN" sz="2400" dirty="0">
                <a:solidFill>
                  <a:schemeClr val="accent2"/>
                </a:solidFill>
              </a:rPr>
              <a:t>:</a:t>
            </a:r>
            <a:r>
              <a:rPr lang="en-US" altLang="zh-CN" sz="2400" dirty="0"/>
              <a:t>  SI  DI</a:t>
            </a:r>
            <a:endParaRPr lang="en-US" altLang="zh-CN" sz="2400" dirty="0"/>
          </a:p>
          <a:p>
            <a:pPr lvl="1">
              <a:buNone/>
              <a:tabLst>
                <a:tab pos="3585845" algn="l"/>
              </a:tabLst>
            </a:pP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3</a:t>
            </a:r>
            <a:r>
              <a:rPr lang="zh-CN" altLang="en-US" sz="2400" dirty="0">
                <a:solidFill>
                  <a:schemeClr val="accent2"/>
                </a:solidFill>
              </a:rPr>
              <a:t>）指针寄存器</a:t>
            </a:r>
            <a:r>
              <a:rPr lang="en-US" altLang="zh-CN" sz="2400" dirty="0">
                <a:solidFill>
                  <a:schemeClr val="accent2"/>
                </a:solidFill>
              </a:rPr>
              <a:t>:</a:t>
            </a:r>
            <a:r>
              <a:rPr lang="en-US" altLang="zh-CN" sz="2400" dirty="0"/>
              <a:t>  BP  SP</a:t>
            </a:r>
            <a:endParaRPr lang="en-US" altLang="zh-CN" sz="2400" dirty="0"/>
          </a:p>
          <a:p>
            <a:pPr>
              <a:tabLst>
                <a:tab pos="3585845" algn="l"/>
              </a:tabLst>
            </a:pPr>
            <a:r>
              <a:rPr lang="en-US" altLang="zh-CN" sz="2400" dirty="0"/>
              <a:t>4</a:t>
            </a:r>
            <a:r>
              <a:rPr lang="zh-CN" altLang="en-US" sz="2400" dirty="0"/>
              <a:t>个数据寄存器还可以分成高</a:t>
            </a:r>
            <a:r>
              <a:rPr lang="en-US" altLang="zh-CN" sz="2400" dirty="0"/>
              <a:t>8</a:t>
            </a:r>
            <a:r>
              <a:rPr lang="zh-CN" altLang="en-US" sz="2400" dirty="0"/>
              <a:t>位和低</a:t>
            </a:r>
            <a:r>
              <a:rPr lang="en-US" altLang="zh-CN" sz="2400" dirty="0"/>
              <a:t>8</a:t>
            </a:r>
            <a:r>
              <a:rPr lang="zh-CN" altLang="en-US" sz="2400" dirty="0"/>
              <a:t>位两个独立的寄存器，这样又形成</a:t>
            </a:r>
            <a:r>
              <a:rPr lang="en-US" altLang="zh-CN" sz="2400" dirty="0"/>
              <a:t>8</a:t>
            </a:r>
            <a:r>
              <a:rPr lang="zh-CN" altLang="en-US" sz="2400" dirty="0"/>
              <a:t>个通用的</a:t>
            </a:r>
            <a:r>
              <a:rPr lang="en-US" altLang="zh-CN" sz="2400" dirty="0"/>
              <a:t>8</a:t>
            </a:r>
            <a:r>
              <a:rPr lang="zh-CN" altLang="en-US" sz="2400" dirty="0"/>
              <a:t>位寄存器</a:t>
            </a:r>
            <a:endParaRPr lang="zh-CN" altLang="en-US" sz="2400" dirty="0"/>
          </a:p>
          <a:p>
            <a:pPr lvl="1">
              <a:buNone/>
              <a:tabLst>
                <a:tab pos="3585845" algn="l"/>
              </a:tabLst>
            </a:pPr>
            <a:r>
              <a:rPr lang="en-US" altLang="zh-CN" sz="2400" dirty="0"/>
              <a:t>AX</a:t>
            </a:r>
            <a:r>
              <a:rPr lang="zh-CN" altLang="en-US" sz="2400" dirty="0"/>
              <a:t>： </a:t>
            </a:r>
            <a:r>
              <a:rPr lang="en-US" altLang="zh-CN" sz="2400" dirty="0"/>
              <a:t>AH  AL	BX</a:t>
            </a:r>
            <a:r>
              <a:rPr lang="zh-CN" altLang="en-US" sz="2400" dirty="0"/>
              <a:t>： </a:t>
            </a:r>
            <a:r>
              <a:rPr lang="en-US" altLang="zh-CN" sz="2400" dirty="0"/>
              <a:t>BH  BL</a:t>
            </a:r>
            <a:endParaRPr lang="en-US" altLang="zh-CN" sz="2400" dirty="0"/>
          </a:p>
          <a:p>
            <a:pPr lvl="1">
              <a:buNone/>
              <a:tabLst>
                <a:tab pos="3585845" algn="l"/>
              </a:tabLst>
            </a:pPr>
            <a:r>
              <a:rPr lang="en-US" altLang="zh-CN" sz="2400" dirty="0"/>
              <a:t>CX</a:t>
            </a:r>
            <a:r>
              <a:rPr lang="zh-CN" altLang="en-US" sz="2400" dirty="0"/>
              <a:t>： </a:t>
            </a:r>
            <a:r>
              <a:rPr lang="en-US" altLang="zh-CN" sz="2400" dirty="0"/>
              <a:t>CH  CL	DX</a:t>
            </a:r>
            <a:r>
              <a:rPr lang="zh-CN" altLang="en-US" sz="2400" dirty="0"/>
              <a:t>： </a:t>
            </a:r>
            <a:r>
              <a:rPr lang="en-US" altLang="zh-CN" sz="2400" dirty="0"/>
              <a:t>DH  DL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）数据寄存器</a:t>
            </a:r>
            <a:endParaRPr lang="zh-CN" altLang="en-US"/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455" y="1059583"/>
            <a:ext cx="7886700" cy="3263503"/>
          </a:xfrm>
        </p:spPr>
        <p:txBody>
          <a:bodyPr/>
          <a:lstStyle/>
          <a:p>
            <a:r>
              <a:rPr lang="en-US" altLang="zh-CN" dirty="0"/>
              <a:t>AX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chemeClr val="hlink"/>
                </a:solidFill>
              </a:rPr>
              <a:t>累加器</a:t>
            </a:r>
            <a:r>
              <a:rPr lang="zh-CN" altLang="en-US" dirty="0"/>
              <a:t>（</a:t>
            </a:r>
            <a:r>
              <a:rPr lang="en-US" altLang="zh-CN" dirty="0"/>
              <a:t>Accumulator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70535" lvl="1" indent="0">
              <a:buNone/>
            </a:pPr>
            <a:r>
              <a:rPr lang="zh-CN" altLang="en-US" dirty="0"/>
              <a:t>使用频度最高。用于算术、逻辑运算以及与外设传送信息等</a:t>
            </a:r>
            <a:endParaRPr lang="zh-CN" altLang="en-US" dirty="0"/>
          </a:p>
          <a:p>
            <a:r>
              <a:rPr lang="en-US" altLang="zh-CN" dirty="0"/>
              <a:t>BX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chemeClr val="hlink"/>
                </a:solidFill>
              </a:rPr>
              <a:t>基址寄存器</a:t>
            </a:r>
            <a:r>
              <a:rPr lang="zh-CN" altLang="en-US" dirty="0"/>
              <a:t>（</a:t>
            </a:r>
            <a:r>
              <a:rPr lang="en-US" altLang="zh-CN" dirty="0"/>
              <a:t>Base address Register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70535" lvl="1" indent="0">
              <a:buNone/>
            </a:pPr>
            <a:r>
              <a:rPr lang="zh-CN" altLang="en-US" dirty="0"/>
              <a:t>常用做存放存储器地址</a:t>
            </a:r>
            <a:endParaRPr lang="zh-CN" altLang="en-US" dirty="0"/>
          </a:p>
          <a:p>
            <a:r>
              <a:rPr lang="en-US" altLang="zh-CN" dirty="0"/>
              <a:t>CX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chemeClr val="hlink"/>
                </a:solidFill>
              </a:rPr>
              <a:t>计数器</a:t>
            </a:r>
            <a:r>
              <a:rPr lang="zh-CN" altLang="en-US" dirty="0"/>
              <a:t>（</a:t>
            </a:r>
            <a:r>
              <a:rPr lang="en-US" altLang="zh-CN" dirty="0"/>
              <a:t>Counter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70535" lvl="1" indent="0">
              <a:buNone/>
            </a:pPr>
            <a:r>
              <a:rPr lang="zh-CN" altLang="en-US" dirty="0"/>
              <a:t>作为循环和串操作等指令中的隐含计数器</a:t>
            </a:r>
            <a:endParaRPr lang="zh-CN" altLang="en-US" dirty="0"/>
          </a:p>
          <a:p>
            <a:r>
              <a:rPr lang="en-US" altLang="zh-CN" dirty="0"/>
              <a:t>DX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chemeClr val="hlink"/>
                </a:solidFill>
              </a:rPr>
              <a:t>数据寄存器</a:t>
            </a:r>
            <a:r>
              <a:rPr lang="zh-CN" altLang="en-US" dirty="0"/>
              <a:t>（</a:t>
            </a:r>
            <a:r>
              <a:rPr lang="en-US" altLang="zh-CN" dirty="0"/>
              <a:t>Data register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70535" lvl="1" indent="0">
              <a:buNone/>
            </a:pPr>
            <a:r>
              <a:rPr lang="zh-CN" altLang="en-US" dirty="0"/>
              <a:t>常用来存放双字长数据的高</a:t>
            </a:r>
            <a:r>
              <a:rPr lang="en-US" altLang="zh-CN" dirty="0"/>
              <a:t>16</a:t>
            </a:r>
            <a:r>
              <a:rPr lang="zh-CN" altLang="en-US" dirty="0"/>
              <a:t>位，或存放外设端口地址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）变址寄存器</a:t>
            </a:r>
            <a:endParaRPr lang="zh-CN" alt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268492"/>
            <a:ext cx="6172200" cy="2455387"/>
          </a:xfrm>
        </p:spPr>
        <p:txBody>
          <a:bodyPr>
            <a:normAutofit/>
          </a:bodyPr>
          <a:lstStyle/>
          <a:p>
            <a:r>
              <a:rPr lang="en-US" altLang="zh-CN" dirty="0"/>
              <a:t>16</a:t>
            </a:r>
            <a:r>
              <a:rPr lang="zh-CN" altLang="en-US" dirty="0"/>
              <a:t>位变址寄存器</a:t>
            </a:r>
            <a:r>
              <a:rPr lang="en-US" altLang="zh-CN" dirty="0"/>
              <a:t>SI</a:t>
            </a:r>
            <a:r>
              <a:rPr lang="zh-CN" altLang="en-US" dirty="0"/>
              <a:t>和</a:t>
            </a:r>
            <a:r>
              <a:rPr lang="en-US" altLang="zh-CN" dirty="0"/>
              <a:t>DI</a:t>
            </a:r>
            <a:endParaRPr lang="en-US" altLang="zh-CN" dirty="0"/>
          </a:p>
          <a:p>
            <a:r>
              <a:rPr lang="zh-CN" altLang="en-US" dirty="0"/>
              <a:t>常用于存储器变址寻址方式时提供地址</a:t>
            </a:r>
            <a:endParaRPr lang="zh-CN" altLang="en-US" dirty="0"/>
          </a:p>
          <a:p>
            <a:pPr lvl="1"/>
            <a:r>
              <a:rPr lang="en-US" altLang="zh-CN" dirty="0"/>
              <a:t>SI</a:t>
            </a:r>
            <a:r>
              <a:rPr lang="zh-CN" altLang="en-US" dirty="0">
                <a:solidFill>
                  <a:schemeClr val="accent2"/>
                </a:solidFill>
              </a:rPr>
              <a:t>是源地址寄存器（</a:t>
            </a:r>
            <a:r>
              <a:rPr lang="en-US" altLang="zh-CN" dirty="0">
                <a:solidFill>
                  <a:schemeClr val="accent2"/>
                </a:solidFill>
              </a:rPr>
              <a:t>Source Index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r>
              <a:rPr lang="zh-CN" altLang="en-US" dirty="0"/>
              <a:t>，</a:t>
            </a:r>
            <a:r>
              <a:rPr lang="en-US" altLang="zh-CN" dirty="0"/>
              <a:t>DS</a:t>
            </a:r>
            <a:r>
              <a:rPr lang="zh-CN" altLang="en-US" dirty="0"/>
              <a:t>与</a:t>
            </a:r>
            <a:r>
              <a:rPr lang="en-US" altLang="zh-CN" dirty="0"/>
              <a:t>SI</a:t>
            </a:r>
            <a:r>
              <a:rPr lang="zh-CN" altLang="en-US" dirty="0"/>
              <a:t>联用寻址数据段中的源操作数。</a:t>
            </a:r>
            <a:endParaRPr lang="zh-CN" altLang="en-US" dirty="0"/>
          </a:p>
          <a:p>
            <a:pPr lvl="1"/>
            <a:r>
              <a:rPr lang="en-US" altLang="zh-CN" dirty="0"/>
              <a:t>DI</a:t>
            </a:r>
            <a:r>
              <a:rPr lang="zh-CN" altLang="en-US" dirty="0">
                <a:solidFill>
                  <a:schemeClr val="accent2"/>
                </a:solidFill>
              </a:rPr>
              <a:t>是目的地址寄存器（</a:t>
            </a:r>
            <a:r>
              <a:rPr lang="en-US" altLang="zh-CN" dirty="0">
                <a:solidFill>
                  <a:schemeClr val="accent2"/>
                </a:solidFill>
              </a:rPr>
              <a:t>Destination Index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ES</a:t>
            </a:r>
            <a:r>
              <a:rPr lang="zh-CN" altLang="en-US" dirty="0"/>
              <a:t>与</a:t>
            </a:r>
            <a:r>
              <a:rPr lang="en-US" altLang="zh-CN" dirty="0"/>
              <a:t>DI</a:t>
            </a:r>
            <a:r>
              <a:rPr lang="zh-CN" altLang="en-US" dirty="0"/>
              <a:t>联用寻址附加段中的目的操作数。</a:t>
            </a:r>
            <a:endParaRPr lang="zh-CN" altLang="en-US" dirty="0">
              <a:solidFill>
                <a:schemeClr val="accent2"/>
              </a:solidFill>
            </a:endParaRPr>
          </a:p>
          <a:p>
            <a:r>
              <a:rPr lang="zh-CN" altLang="en-US" dirty="0"/>
              <a:t>在串操作类指令中，</a:t>
            </a:r>
            <a:r>
              <a:rPr lang="en-US" altLang="zh-CN" dirty="0"/>
              <a:t>SI</a:t>
            </a:r>
            <a:r>
              <a:rPr lang="zh-CN" altLang="en-US" dirty="0"/>
              <a:t>、</a:t>
            </a:r>
            <a:r>
              <a:rPr lang="en-US" altLang="zh-CN" dirty="0"/>
              <a:t>DI</a:t>
            </a:r>
            <a:r>
              <a:rPr lang="zh-CN" altLang="en-US" dirty="0"/>
              <a:t>还有较特殊的用法</a:t>
            </a:r>
            <a:endParaRPr lang="zh-CN" altLang="en-US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）指针寄存器</a:t>
            </a:r>
            <a:endParaRPr lang="zh-CN" alt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5" y="1131591"/>
            <a:ext cx="7886700" cy="3503513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指针寄存器用于寻址内存</a:t>
            </a:r>
            <a:r>
              <a:rPr lang="zh-CN" altLang="en-US" dirty="0">
                <a:solidFill>
                  <a:srgbClr val="009900"/>
                </a:solidFill>
                <a:latin typeface="宋体" panose="02010600030101010101" pitchFamily="2" charset="-122"/>
              </a:rPr>
              <a:t>堆栈</a:t>
            </a:r>
            <a:r>
              <a:rPr lang="zh-CN" altLang="en-US" dirty="0">
                <a:latin typeface="宋体" panose="02010600030101010101" pitchFamily="2" charset="-122"/>
              </a:rPr>
              <a:t>内的数据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</a:rPr>
              <a:t>SP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为堆栈指针寄存器（</a:t>
            </a:r>
            <a:r>
              <a:rPr lang="en-US" altLang="zh-CN" dirty="0">
                <a:solidFill>
                  <a:schemeClr val="accent2"/>
                </a:solidFill>
              </a:rPr>
              <a:t>Stack Pointer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指示堆栈段栈顶的位置（偏移地址）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</a:rPr>
              <a:t>BP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为基址指针寄存器（</a:t>
            </a:r>
            <a:r>
              <a:rPr lang="en-US" altLang="zh-CN" dirty="0">
                <a:solidFill>
                  <a:schemeClr val="accent2"/>
                </a:solidFill>
              </a:rPr>
              <a:t>Base Pointer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），表示数据在堆栈段中的基地址</a:t>
            </a:r>
            <a:endParaRPr lang="zh-CN" altLang="en-US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SP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</a:rPr>
              <a:t>BP</a:t>
            </a:r>
            <a:r>
              <a:rPr lang="zh-CN" altLang="en-US" dirty="0">
                <a:latin typeface="宋体" panose="02010600030101010101" pitchFamily="2" charset="-122"/>
              </a:rPr>
              <a:t>寄存器与</a:t>
            </a:r>
            <a:r>
              <a:rPr lang="en-US" altLang="zh-CN" dirty="0">
                <a:latin typeface="宋体" panose="02010600030101010101" pitchFamily="2" charset="-122"/>
              </a:rPr>
              <a:t>SS</a:t>
            </a:r>
            <a:r>
              <a:rPr lang="zh-CN" altLang="en-US" dirty="0">
                <a:latin typeface="宋体" panose="02010600030101010101" pitchFamily="2" charset="-122"/>
              </a:rPr>
              <a:t>段寄存器联合使用以确定堆栈段中的存储单元地址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22884" name="AutoShape 4"/>
          <p:cNvSpPr>
            <a:spLocks noChangeArrowheads="1"/>
          </p:cNvSpPr>
          <p:nvPr/>
        </p:nvSpPr>
        <p:spPr bwMode="auto">
          <a:xfrm>
            <a:off x="3131841" y="2931791"/>
            <a:ext cx="5185693" cy="2084314"/>
          </a:xfrm>
          <a:prstGeom prst="flowChartPunchedCard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indent="7099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81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6078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zh-CN" altLang="en-US" sz="2100" b="1" dirty="0">
                <a:solidFill>
                  <a:schemeClr val="accent2"/>
                </a:solidFill>
              </a:rPr>
              <a:t>用</a:t>
            </a:r>
            <a:r>
              <a:rPr lang="en-US" altLang="zh-CN" sz="2100" b="1" dirty="0">
                <a:solidFill>
                  <a:schemeClr val="accent2"/>
                </a:solidFill>
              </a:rPr>
              <a:t>8088/8086</a:t>
            </a:r>
            <a:r>
              <a:rPr lang="zh-CN" altLang="en-US" sz="2100" b="1" dirty="0">
                <a:solidFill>
                  <a:schemeClr val="accent2"/>
                </a:solidFill>
              </a:rPr>
              <a:t>形成的微机系统中，堆栈区域设置在主存中，被称为堆栈段。</a:t>
            </a:r>
            <a:endParaRPr lang="zh-CN" altLang="en-US" sz="2100" b="1" dirty="0">
              <a:solidFill>
                <a:schemeClr val="accent2"/>
              </a:solidFill>
            </a:endParaRPr>
          </a:p>
          <a:p>
            <a:pPr algn="just">
              <a:spcBef>
                <a:spcPct val="20000"/>
              </a:spcBef>
            </a:pPr>
            <a:r>
              <a:rPr lang="zh-CN" altLang="en-US" sz="2100" b="1" dirty="0">
                <a:solidFill>
                  <a:srgbClr val="009900"/>
                </a:solidFill>
              </a:rPr>
              <a:t>堆栈</a:t>
            </a:r>
            <a:r>
              <a:rPr lang="zh-CN" altLang="en-US" sz="2100" b="1" dirty="0">
                <a:solidFill>
                  <a:schemeClr val="accent2"/>
                </a:solidFill>
              </a:rPr>
              <a:t>（</a:t>
            </a:r>
            <a:r>
              <a:rPr lang="en-US" altLang="zh-CN" sz="2100" b="1" dirty="0"/>
              <a:t>Stack</a:t>
            </a:r>
            <a:r>
              <a:rPr lang="zh-CN" altLang="en-US" sz="2100" b="1" dirty="0">
                <a:solidFill>
                  <a:schemeClr val="accent2"/>
                </a:solidFill>
              </a:rPr>
              <a:t>）是主存中一个特殊的区域，采用“先进后出”或“后进先出”存取操作方式、而不是随机存取方式。</a:t>
            </a:r>
            <a:endParaRPr lang="zh-CN" altLang="en-US" sz="21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uiExpand="1" build="p"/>
      <p:bldP spid="12288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段寄存器</a:t>
            </a:r>
            <a:endParaRPr lang="zh-CN" altLang="en-US" dirty="0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31640" y="1235826"/>
            <a:ext cx="6097860" cy="29194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CC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rgbClr val="3333CC"/>
                </a:solidFill>
              </a:rPr>
              <a:t>8088</a:t>
            </a:r>
            <a:r>
              <a:rPr lang="zh-CN" altLang="en-US" dirty="0">
                <a:solidFill>
                  <a:srgbClr val="3333CC"/>
                </a:solidFill>
              </a:rPr>
              <a:t>有</a:t>
            </a:r>
            <a:r>
              <a:rPr lang="en-US" altLang="zh-CN" dirty="0">
                <a:solidFill>
                  <a:srgbClr val="3333CC"/>
                </a:solidFill>
              </a:rPr>
              <a:t>4</a:t>
            </a:r>
            <a:r>
              <a:rPr lang="zh-CN" altLang="en-US" dirty="0">
                <a:solidFill>
                  <a:srgbClr val="3333CC"/>
                </a:solidFill>
              </a:rPr>
              <a:t>个</a:t>
            </a:r>
            <a:r>
              <a:rPr lang="en-US" altLang="zh-CN" dirty="0">
                <a:solidFill>
                  <a:srgbClr val="3333CC"/>
                </a:solidFill>
              </a:rPr>
              <a:t>16</a:t>
            </a:r>
            <a:r>
              <a:rPr lang="zh-CN" altLang="en-US" dirty="0">
                <a:solidFill>
                  <a:srgbClr val="3333CC"/>
                </a:solidFill>
              </a:rPr>
              <a:t>位段寄存器</a:t>
            </a:r>
            <a:endParaRPr lang="zh-CN" altLang="en-US" dirty="0">
              <a:solidFill>
                <a:srgbClr val="3333CC"/>
              </a:solidFill>
            </a:endParaRPr>
          </a:p>
          <a:p>
            <a:pPr lvl="1"/>
            <a:r>
              <a:rPr lang="en-US" altLang="zh-CN" dirty="0"/>
              <a:t>CS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代码段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/>
            <a:r>
              <a:rPr lang="en-US" altLang="zh-CN" dirty="0"/>
              <a:t>SS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堆栈段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/>
            <a:r>
              <a:rPr lang="en-US" altLang="zh-CN" dirty="0"/>
              <a:t>DS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数据段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/>
            <a:r>
              <a:rPr lang="en-US" altLang="zh-CN" dirty="0"/>
              <a:t>ES</a:t>
            </a:r>
            <a:r>
              <a:rPr lang="zh-CN" altLang="en-US" dirty="0">
                <a:solidFill>
                  <a:schemeClr val="accent2"/>
                </a:solidFill>
              </a:rPr>
              <a:t>指明</a:t>
            </a:r>
            <a:r>
              <a:rPr lang="zh-CN" altLang="en-US" dirty="0"/>
              <a:t>附加段</a:t>
            </a:r>
            <a:r>
              <a:rPr lang="zh-CN" altLang="en-US" dirty="0">
                <a:solidFill>
                  <a:schemeClr val="accent2"/>
                </a:solidFill>
              </a:rPr>
              <a:t>的起始地址</a:t>
            </a:r>
            <a:endParaRPr lang="zh-CN" altLang="en-US" dirty="0">
              <a:solidFill>
                <a:schemeClr val="accent2"/>
              </a:solidFill>
            </a:endParaRPr>
          </a:p>
          <a:p>
            <a:r>
              <a:rPr lang="zh-CN" altLang="en-US" dirty="0">
                <a:solidFill>
                  <a:srgbClr val="3333CC"/>
                </a:solidFill>
              </a:rPr>
              <a:t>每个段寄存器用来确定一个逻辑段的起始地址，每种逻辑段均有各自的用途</a:t>
            </a:r>
            <a:endParaRPr lang="zh-CN" altLang="en-US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代码段寄存器</a:t>
            </a:r>
            <a:r>
              <a:rPr lang="en-US" altLang="zh-CN"/>
              <a:t>CS</a:t>
            </a:r>
            <a:r>
              <a:rPr lang="zh-CN" altLang="en-US"/>
              <a:t>（</a:t>
            </a:r>
            <a:r>
              <a:rPr lang="en-US" altLang="zh-CN"/>
              <a:t>Code Segment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347614"/>
            <a:ext cx="6172200" cy="3276774"/>
          </a:xfrm>
        </p:spPr>
        <p:txBody>
          <a:bodyPr/>
          <a:lstStyle/>
          <a:p>
            <a:r>
              <a:rPr lang="zh-CN" altLang="en-US" dirty="0"/>
              <a:t>代码段用来存放程序的指令序列</a:t>
            </a:r>
            <a:endParaRPr lang="zh-CN" altLang="en-US" dirty="0"/>
          </a:p>
          <a:p>
            <a:pPr lvl="1"/>
            <a:r>
              <a:rPr lang="zh-CN" altLang="en-US" dirty="0"/>
              <a:t>代码段寄存器</a:t>
            </a:r>
            <a:r>
              <a:rPr lang="en-US" altLang="zh-CN" dirty="0"/>
              <a:t>CS</a:t>
            </a:r>
            <a:r>
              <a:rPr lang="zh-CN" altLang="en-US" dirty="0"/>
              <a:t>存放代码段的段地址</a:t>
            </a:r>
            <a:endParaRPr lang="zh-CN" altLang="en-US" dirty="0"/>
          </a:p>
          <a:p>
            <a:pPr lvl="1"/>
            <a:r>
              <a:rPr lang="zh-CN" altLang="en-US" dirty="0"/>
              <a:t>指令指针寄存器</a:t>
            </a:r>
            <a:r>
              <a:rPr lang="en-US" altLang="zh-CN" dirty="0"/>
              <a:t>IP</a:t>
            </a:r>
            <a:r>
              <a:rPr lang="zh-CN" altLang="en-US" dirty="0"/>
              <a:t>指示下条指令的偏移地址</a:t>
            </a:r>
            <a:endParaRPr lang="zh-CN" altLang="en-US" dirty="0"/>
          </a:p>
          <a:p>
            <a:r>
              <a:rPr lang="zh-CN" altLang="en-US" dirty="0"/>
              <a:t>处理器利用</a:t>
            </a:r>
            <a:r>
              <a:rPr lang="en-US" altLang="zh-CN" dirty="0"/>
              <a:t>CS:IP</a:t>
            </a:r>
            <a:r>
              <a:rPr lang="zh-CN" altLang="en-US" dirty="0"/>
              <a:t>取得下一条要执行的指令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堆栈段寄存器</a:t>
            </a:r>
            <a:r>
              <a:rPr lang="en-US" altLang="zh-CN"/>
              <a:t>SS</a:t>
            </a:r>
            <a:r>
              <a:rPr lang="zh-CN" altLang="en-US"/>
              <a:t>（</a:t>
            </a:r>
            <a:r>
              <a:rPr lang="en-US" altLang="zh-CN"/>
              <a:t>Stack Segment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347614"/>
            <a:ext cx="6172200" cy="3276774"/>
          </a:xfrm>
        </p:spPr>
        <p:txBody>
          <a:bodyPr/>
          <a:lstStyle/>
          <a:p>
            <a:r>
              <a:rPr lang="zh-CN" altLang="en-US" dirty="0"/>
              <a:t>堆栈段确定堆栈所在的主存区域</a:t>
            </a:r>
            <a:endParaRPr lang="zh-CN" altLang="en-US" dirty="0"/>
          </a:p>
          <a:p>
            <a:pPr lvl="1"/>
            <a:r>
              <a:rPr lang="zh-CN" altLang="en-US" dirty="0"/>
              <a:t>堆栈段寄存器</a:t>
            </a:r>
            <a:r>
              <a:rPr lang="en-US" altLang="zh-CN" dirty="0"/>
              <a:t>SS</a:t>
            </a:r>
            <a:r>
              <a:rPr lang="zh-CN" altLang="en-US" dirty="0"/>
              <a:t>存放堆栈段的段地址</a:t>
            </a:r>
            <a:endParaRPr lang="zh-CN" altLang="en-US" dirty="0"/>
          </a:p>
          <a:p>
            <a:pPr lvl="1"/>
            <a:r>
              <a:rPr lang="zh-CN" altLang="en-US" dirty="0"/>
              <a:t>堆栈指针寄存器</a:t>
            </a:r>
            <a:r>
              <a:rPr lang="en-US" altLang="zh-CN" dirty="0"/>
              <a:t>SP</a:t>
            </a:r>
            <a:r>
              <a:rPr lang="zh-CN" altLang="en-US" dirty="0"/>
              <a:t>指示堆栈栈顶的偏移地址</a:t>
            </a:r>
            <a:endParaRPr lang="zh-CN" altLang="en-US" dirty="0"/>
          </a:p>
          <a:p>
            <a:r>
              <a:rPr lang="zh-CN" altLang="en-US" dirty="0"/>
              <a:t>处理器利用</a:t>
            </a:r>
            <a:r>
              <a:rPr lang="en-US" altLang="zh-CN" dirty="0"/>
              <a:t>SS:SP</a:t>
            </a:r>
            <a:r>
              <a:rPr lang="zh-CN" altLang="en-US" dirty="0"/>
              <a:t>操作堆栈顶的数据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数据段寄存器</a:t>
            </a:r>
            <a:r>
              <a:rPr lang="en-US" altLang="zh-CN"/>
              <a:t>DS</a:t>
            </a:r>
            <a:r>
              <a:rPr lang="zh-CN" altLang="en-US"/>
              <a:t>（</a:t>
            </a:r>
            <a:r>
              <a:rPr lang="en-US" altLang="zh-CN"/>
              <a:t>Data Segment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419623"/>
            <a:ext cx="6172200" cy="3204766"/>
          </a:xfrm>
        </p:spPr>
        <p:txBody>
          <a:bodyPr/>
          <a:lstStyle/>
          <a:p>
            <a:r>
              <a:rPr lang="zh-CN" altLang="en-US" dirty="0"/>
              <a:t>数据段存放运行程序所用的数据</a:t>
            </a:r>
            <a:endParaRPr lang="zh-CN" altLang="en-US" dirty="0"/>
          </a:p>
          <a:p>
            <a:pPr lvl="1"/>
            <a:r>
              <a:rPr lang="zh-CN" altLang="en-US" dirty="0"/>
              <a:t>数据段寄存器</a:t>
            </a:r>
            <a:r>
              <a:rPr lang="en-US" altLang="zh-CN" dirty="0"/>
              <a:t>DS</a:t>
            </a:r>
            <a:r>
              <a:rPr lang="zh-CN" altLang="en-US" dirty="0"/>
              <a:t>存放数据段的段地址</a:t>
            </a:r>
            <a:endParaRPr lang="zh-CN" altLang="en-US" dirty="0"/>
          </a:p>
          <a:p>
            <a:pPr lvl="1"/>
            <a:r>
              <a:rPr lang="zh-CN" altLang="en-US" dirty="0"/>
              <a:t>各种主存寻址方式（有效地址</a:t>
            </a:r>
            <a:r>
              <a:rPr lang="en-US" altLang="zh-CN" dirty="0"/>
              <a:t>EA</a:t>
            </a:r>
            <a:r>
              <a:rPr lang="zh-CN" altLang="en-US" dirty="0"/>
              <a:t>）得到存储器中操作数的偏移地址</a:t>
            </a:r>
            <a:endParaRPr lang="zh-CN" altLang="en-US" dirty="0"/>
          </a:p>
          <a:p>
            <a:r>
              <a:rPr lang="zh-CN" altLang="en-US" dirty="0"/>
              <a:t>处理器利用</a:t>
            </a:r>
            <a:r>
              <a:rPr lang="en-US" altLang="zh-CN" dirty="0"/>
              <a:t>DS:EA</a:t>
            </a:r>
            <a:r>
              <a:rPr lang="zh-CN" altLang="en-US" dirty="0"/>
              <a:t>存取数据段中的数据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附加段寄存器</a:t>
            </a:r>
            <a:r>
              <a:rPr lang="en-US" altLang="zh-CN"/>
              <a:t>ES</a:t>
            </a:r>
            <a:r>
              <a:rPr lang="zh-CN" altLang="en-US"/>
              <a:t>（</a:t>
            </a:r>
            <a:r>
              <a:rPr lang="en-US" altLang="zh-CN"/>
              <a:t>Extra Segment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268492"/>
            <a:ext cx="6172200" cy="3355896"/>
          </a:xfrm>
        </p:spPr>
        <p:txBody>
          <a:bodyPr/>
          <a:lstStyle/>
          <a:p>
            <a:r>
              <a:rPr lang="zh-CN" altLang="en-US" dirty="0"/>
              <a:t>附加段是附加的数据段，也保存数据：</a:t>
            </a:r>
            <a:endParaRPr lang="zh-CN" altLang="en-US" dirty="0"/>
          </a:p>
          <a:p>
            <a:pPr lvl="1"/>
            <a:r>
              <a:rPr lang="zh-CN" altLang="en-US" dirty="0"/>
              <a:t>附加段寄存器</a:t>
            </a:r>
            <a:r>
              <a:rPr lang="en-US" altLang="zh-CN" dirty="0"/>
              <a:t>ES</a:t>
            </a:r>
            <a:r>
              <a:rPr lang="zh-CN" altLang="en-US" dirty="0"/>
              <a:t>存放附加段的段地址</a:t>
            </a:r>
            <a:endParaRPr lang="zh-CN" altLang="en-US" dirty="0"/>
          </a:p>
          <a:p>
            <a:pPr lvl="1"/>
            <a:r>
              <a:rPr lang="zh-CN" altLang="en-US" dirty="0"/>
              <a:t>各种主存寻址方式（有效地址</a:t>
            </a:r>
            <a:r>
              <a:rPr lang="en-US" altLang="zh-CN" dirty="0"/>
              <a:t>EA</a:t>
            </a:r>
            <a:r>
              <a:rPr lang="zh-CN" altLang="en-US" dirty="0"/>
              <a:t>）得到存储器中操作数的偏移地址</a:t>
            </a:r>
            <a:endParaRPr lang="zh-CN" altLang="en-US" dirty="0"/>
          </a:p>
          <a:p>
            <a:r>
              <a:rPr lang="zh-CN" altLang="en-US" dirty="0"/>
              <a:t>处理器利用</a:t>
            </a:r>
            <a:r>
              <a:rPr lang="en-US" altLang="zh-CN" dirty="0"/>
              <a:t>ES:EA</a:t>
            </a:r>
            <a:r>
              <a:rPr lang="zh-CN" altLang="en-US" dirty="0"/>
              <a:t>存取附加段中的数据</a:t>
            </a:r>
            <a:endParaRPr lang="zh-CN" altLang="en-US" dirty="0"/>
          </a:p>
          <a:p>
            <a:r>
              <a:rPr lang="zh-CN" altLang="en-US" dirty="0"/>
              <a:t>串操作指令将附加段作为其目的操作数的存放区域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 </a:t>
            </a:r>
            <a:r>
              <a:rPr lang="zh-CN" altLang="en-US" dirty="0"/>
              <a:t>指令指针寄存器</a:t>
            </a:r>
            <a:endParaRPr lang="zh-CN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（</a:t>
            </a:r>
            <a:r>
              <a:rPr lang="en-US" altLang="zh-CN" dirty="0"/>
              <a:t>Instruction Pointer</a:t>
            </a:r>
            <a:r>
              <a:rPr lang="zh-CN" altLang="en-US" dirty="0"/>
              <a:t>）为指令指针寄存器，指示主存储器指令的位置</a:t>
            </a:r>
            <a:endParaRPr lang="zh-CN" altLang="en-US" dirty="0"/>
          </a:p>
          <a:p>
            <a:r>
              <a:rPr lang="zh-CN" altLang="en-US" dirty="0"/>
              <a:t>随着指令的执行，</a:t>
            </a:r>
            <a:r>
              <a:rPr lang="en-US" altLang="zh-CN" dirty="0"/>
              <a:t>IP</a:t>
            </a:r>
            <a:r>
              <a:rPr lang="zh-CN" altLang="en-US" dirty="0"/>
              <a:t>将自动修改以指示下一条指令所在的存储器位置</a:t>
            </a:r>
            <a:endParaRPr lang="zh-CN" altLang="en-US" dirty="0">
              <a:solidFill>
                <a:srgbClr val="CC0099"/>
              </a:solidFill>
            </a:endParaRPr>
          </a:p>
          <a:p>
            <a:r>
              <a:rPr lang="en-US" altLang="zh-CN" dirty="0"/>
              <a:t>IP</a:t>
            </a:r>
            <a:r>
              <a:rPr lang="zh-CN" altLang="en-US" dirty="0"/>
              <a:t>寄存器是一个</a:t>
            </a:r>
            <a:r>
              <a:rPr lang="zh-CN" altLang="en-US" dirty="0">
                <a:solidFill>
                  <a:srgbClr val="C00000"/>
                </a:solidFill>
              </a:rPr>
              <a:t>专用</a:t>
            </a:r>
            <a:r>
              <a:rPr lang="zh-CN" altLang="en-US" dirty="0"/>
              <a:t>寄存器</a:t>
            </a:r>
            <a:endParaRPr lang="zh-CN" altLang="en-US" dirty="0"/>
          </a:p>
          <a:p>
            <a:r>
              <a:rPr lang="en-US" altLang="zh-CN" dirty="0">
                <a:latin typeface="宋体" panose="02010600030101010101" pitchFamily="2" charset="-122"/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寄存器与</a:t>
            </a:r>
            <a:r>
              <a:rPr lang="en-US" altLang="zh-CN" dirty="0">
                <a:latin typeface="宋体" panose="02010600030101010101" pitchFamily="2" charset="-122"/>
              </a:rPr>
              <a:t>CS</a:t>
            </a:r>
            <a:r>
              <a:rPr lang="zh-CN" altLang="en-US" dirty="0">
                <a:latin typeface="宋体" panose="02010600030101010101" pitchFamily="2" charset="-122"/>
              </a:rPr>
              <a:t>段寄存器联合使用以确定下一条指令的存储单元地址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 </a:t>
            </a:r>
            <a:r>
              <a:rPr lang="zh-CN" altLang="en-US" dirty="0"/>
              <a:t>标志寄存器</a:t>
            </a:r>
            <a:endParaRPr lang="zh-CN" altLang="en-US" dirty="0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66888" y="1347614"/>
            <a:ext cx="5543550" cy="1721817"/>
          </a:xfrm>
          <a:noFill/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标志</a:t>
            </a:r>
            <a:r>
              <a:rPr lang="zh-CN" altLang="en-US" dirty="0"/>
              <a:t>（</a:t>
            </a:r>
            <a:r>
              <a:rPr lang="en-US" altLang="zh-CN" dirty="0"/>
              <a:t>Flag</a:t>
            </a:r>
            <a:r>
              <a:rPr lang="zh-CN" altLang="en-US" dirty="0"/>
              <a:t>）用于反映指令执行结果或控制指令执行形式</a:t>
            </a:r>
            <a:endParaRPr lang="zh-CN" altLang="en-US" dirty="0"/>
          </a:p>
          <a:p>
            <a:r>
              <a:rPr lang="en-US" altLang="zh-CN" dirty="0"/>
              <a:t>8088</a:t>
            </a:r>
            <a:r>
              <a:rPr lang="zh-CN" altLang="en-US" dirty="0"/>
              <a:t>处理器的各种标志形成了一个</a:t>
            </a:r>
            <a:r>
              <a:rPr lang="en-US" altLang="zh-CN" dirty="0"/>
              <a:t>16</a:t>
            </a:r>
            <a:r>
              <a:rPr lang="zh-CN" altLang="en-US" dirty="0"/>
              <a:t>位的标志寄存器</a:t>
            </a:r>
            <a:r>
              <a:rPr lang="en-US" altLang="zh-CN" dirty="0">
                <a:solidFill>
                  <a:schemeClr val="tx1"/>
                </a:solidFill>
              </a:rPr>
              <a:t>FLAGS</a:t>
            </a:r>
            <a:r>
              <a:rPr lang="zh-CN" altLang="en-US" dirty="0"/>
              <a:t>（程序状态字</a:t>
            </a:r>
            <a:r>
              <a:rPr lang="en-US" altLang="zh-CN" dirty="0"/>
              <a:t>PSW</a:t>
            </a:r>
            <a:r>
              <a:rPr lang="zh-CN" altLang="en-US" dirty="0"/>
              <a:t>寄存器</a:t>
            </a:r>
            <a:r>
              <a:rPr lang="zh-CN" altLang="zh-CN" dirty="0"/>
              <a:t>）</a:t>
            </a:r>
            <a:endParaRPr lang="zh-CN" altLang="en-US" dirty="0"/>
          </a:p>
        </p:txBody>
      </p:sp>
      <p:sp>
        <p:nvSpPr>
          <p:cNvPr id="123936" name="AutoShape 32"/>
          <p:cNvSpPr>
            <a:spLocks noChangeArrowheads="1"/>
          </p:cNvSpPr>
          <p:nvPr/>
        </p:nvSpPr>
        <p:spPr bwMode="auto">
          <a:xfrm>
            <a:off x="2056210" y="3445669"/>
            <a:ext cx="4914900" cy="685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sz="1800" b="1" dirty="0">
                <a:solidFill>
                  <a:schemeClr val="accent2"/>
                </a:solidFill>
              </a:rPr>
              <a:t>程序设计需要利用标志的状态。</a:t>
            </a:r>
            <a:endParaRPr lang="zh-CN" altLang="en-US" sz="1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23478"/>
            <a:ext cx="7886700" cy="994172"/>
          </a:xfrm>
        </p:spPr>
        <p:txBody>
          <a:bodyPr/>
          <a:lstStyle/>
          <a:p>
            <a:r>
              <a:rPr lang="zh-CN" altLang="en-US"/>
              <a:t>标志寄存器</a:t>
            </a:r>
            <a:r>
              <a:rPr lang="en-US" altLang="zh-CN"/>
              <a:t>-</a:t>
            </a:r>
            <a:r>
              <a:rPr lang="zh-CN" altLang="en-US"/>
              <a:t>分类</a:t>
            </a:r>
            <a:endParaRPr lang="zh-CN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844" y="879442"/>
            <a:ext cx="6769125" cy="1620481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状态标志－－用来记录程序运行结果的状态信息，许多指令的执行都将相应地设置它</a:t>
            </a:r>
            <a:endParaRPr lang="zh-CN" altLang="en-US" sz="1600" dirty="0"/>
          </a:p>
          <a:p>
            <a:pPr lvl="1">
              <a:buFontTx/>
              <a:buNone/>
            </a:pPr>
            <a:r>
              <a:rPr lang="en-US" altLang="zh-CN" sz="1600" dirty="0">
                <a:solidFill>
                  <a:srgbClr val="339933"/>
                </a:solidFill>
              </a:rPr>
              <a:t>CF  ZF  SF  PF  OF  AF</a:t>
            </a:r>
            <a:endParaRPr lang="en-US" altLang="zh-CN" sz="1600" dirty="0">
              <a:solidFill>
                <a:srgbClr val="339933"/>
              </a:solidFill>
            </a:endParaRPr>
          </a:p>
          <a:p>
            <a:r>
              <a:rPr lang="zh-CN" altLang="en-US" sz="1600" dirty="0"/>
              <a:t>控制标志－－可由程序根据需要用指令设置，用于控制处理器执行指令的方式</a:t>
            </a:r>
            <a:endParaRPr lang="zh-CN" altLang="en-US" sz="1600" dirty="0"/>
          </a:p>
          <a:p>
            <a:pPr lvl="1">
              <a:buFontTx/>
              <a:buNone/>
            </a:pPr>
            <a:r>
              <a:rPr lang="en-US" altLang="zh-CN" sz="1600" dirty="0"/>
              <a:t>DF   IF   TF</a:t>
            </a:r>
            <a:endParaRPr lang="en-US" altLang="zh-CN" sz="1600" dirty="0"/>
          </a:p>
        </p:txBody>
      </p:sp>
      <p:graphicFrame>
        <p:nvGraphicFramePr>
          <p:cNvPr id="124928" name="Group 4"/>
          <p:cNvGraphicFramePr>
            <a:graphicFrameLocks noGrp="1"/>
          </p:cNvGraphicFramePr>
          <p:nvPr/>
        </p:nvGraphicFramePr>
        <p:xfrm>
          <a:off x="750581" y="2564925"/>
          <a:ext cx="6629400" cy="561976"/>
        </p:xfrm>
        <a:graphic>
          <a:graphicData uri="http://schemas.openxmlformats.org/drawingml/2006/table">
            <a:tbl>
              <a:tblPr/>
              <a:tblGrid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</a:tblGrid>
              <a:tr h="265113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OF</a:t>
                      </a:r>
                      <a:endParaRPr kumimoji="1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DF</a:t>
                      </a:r>
                      <a:endParaRPr kumimoji="1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IF</a:t>
                      </a:r>
                      <a:endParaRPr kumimoji="1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TF</a:t>
                      </a:r>
                      <a:endParaRPr kumimoji="1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SF</a:t>
                      </a:r>
                      <a:endParaRPr kumimoji="1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ZF</a:t>
                      </a:r>
                      <a:endParaRPr kumimoji="1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AF</a:t>
                      </a:r>
                      <a:endParaRPr kumimoji="1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PF</a:t>
                      </a:r>
                      <a:endParaRPr kumimoji="1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just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just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just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just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algn="just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CF</a:t>
                      </a:r>
                      <a:endParaRPr kumimoji="1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4929" name="Text Box 74"/>
          <p:cNvSpPr txBox="1">
            <a:spLocks noChangeArrowheads="1"/>
          </p:cNvSpPr>
          <p:nvPr/>
        </p:nvSpPr>
        <p:spPr bwMode="auto">
          <a:xfrm>
            <a:off x="8566142" y="3479324"/>
            <a:ext cx="46166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1800" b="1">
                <a:solidFill>
                  <a:schemeClr val="hlink"/>
                </a:solidFill>
              </a:rPr>
              <a:t>状态标志</a:t>
            </a:r>
            <a:endParaRPr kumimoji="0" lang="zh-CN" altLang="en-US" sz="1800" b="1">
              <a:solidFill>
                <a:schemeClr val="hlink"/>
              </a:solidFill>
            </a:endParaRPr>
          </a:p>
        </p:txBody>
      </p:sp>
      <p:grpSp>
        <p:nvGrpSpPr>
          <p:cNvPr id="124932" name="Group 75"/>
          <p:cNvGrpSpPr/>
          <p:nvPr/>
        </p:nvGrpSpPr>
        <p:grpSpPr bwMode="auto">
          <a:xfrm>
            <a:off x="595007" y="3136424"/>
            <a:ext cx="7927976" cy="1911349"/>
            <a:chOff x="334" y="2256"/>
            <a:chExt cx="4994" cy="1606"/>
          </a:xfrm>
        </p:grpSpPr>
        <p:sp>
          <p:nvSpPr>
            <p:cNvPr id="124933" name="Text Box 76"/>
            <p:cNvSpPr txBox="1">
              <a:spLocks noChangeArrowheads="1"/>
            </p:cNvSpPr>
            <p:nvPr/>
          </p:nvSpPr>
          <p:spPr bwMode="auto">
            <a:xfrm>
              <a:off x="811" y="2448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方向标志</a:t>
              </a:r>
              <a:endParaRPr kumimoji="0" lang="zh-CN" altLang="en-US" sz="1800" b="1"/>
            </a:p>
          </p:txBody>
        </p:sp>
        <p:sp>
          <p:nvSpPr>
            <p:cNvPr id="124934" name="Text Box 77"/>
            <p:cNvSpPr txBox="1">
              <a:spLocks noChangeArrowheads="1"/>
            </p:cNvSpPr>
            <p:nvPr/>
          </p:nvSpPr>
          <p:spPr bwMode="auto">
            <a:xfrm>
              <a:off x="768" y="2688"/>
              <a:ext cx="81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 dirty="0"/>
                <a:t>中断标志</a:t>
              </a:r>
              <a:endParaRPr kumimoji="0" lang="zh-CN" altLang="en-US" sz="1800" b="1" dirty="0"/>
            </a:p>
          </p:txBody>
        </p:sp>
        <p:sp>
          <p:nvSpPr>
            <p:cNvPr id="124935" name="Text Box 78"/>
            <p:cNvSpPr txBox="1">
              <a:spLocks noChangeArrowheads="1"/>
            </p:cNvSpPr>
            <p:nvPr/>
          </p:nvSpPr>
          <p:spPr bwMode="auto">
            <a:xfrm>
              <a:off x="811" y="2928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跟踪标志</a:t>
              </a:r>
              <a:endParaRPr kumimoji="0" lang="zh-CN" altLang="en-US" sz="1800" b="1"/>
            </a:p>
          </p:txBody>
        </p:sp>
        <p:sp>
          <p:nvSpPr>
            <p:cNvPr id="124937" name="Text Box 80"/>
            <p:cNvSpPr txBox="1">
              <a:spLocks noChangeArrowheads="1"/>
            </p:cNvSpPr>
            <p:nvPr/>
          </p:nvSpPr>
          <p:spPr bwMode="auto">
            <a:xfrm>
              <a:off x="334" y="2536"/>
              <a:ext cx="291" cy="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>
                  <a:solidFill>
                    <a:schemeClr val="hlink"/>
                  </a:solidFill>
                </a:rPr>
                <a:t>控制标志</a:t>
              </a:r>
              <a:endParaRPr kumimoji="0" lang="zh-CN" altLang="en-US" sz="1800" b="1">
                <a:solidFill>
                  <a:schemeClr val="hlink"/>
                </a:solidFill>
              </a:endParaRPr>
            </a:p>
          </p:txBody>
        </p:sp>
        <p:sp>
          <p:nvSpPr>
            <p:cNvPr id="124938" name="AutoShape 81"/>
            <p:cNvSpPr/>
            <p:nvPr/>
          </p:nvSpPr>
          <p:spPr bwMode="auto">
            <a:xfrm>
              <a:off x="624" y="2496"/>
              <a:ext cx="192" cy="677"/>
            </a:xfrm>
            <a:prstGeom prst="leftBrace">
              <a:avLst>
                <a:gd name="adj1" fmla="val 39583"/>
                <a:gd name="adj2" fmla="val 50000"/>
              </a:avLst>
            </a:prstGeom>
            <a:noFill/>
            <a:ln w="95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4939" name="Text Box 82"/>
            <p:cNvSpPr txBox="1">
              <a:spLocks noChangeArrowheads="1"/>
            </p:cNvSpPr>
            <p:nvPr/>
          </p:nvSpPr>
          <p:spPr bwMode="auto">
            <a:xfrm>
              <a:off x="4411" y="2400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进位标志</a:t>
              </a:r>
              <a:endParaRPr kumimoji="0" lang="zh-CN" altLang="en-US" sz="1800" b="1"/>
            </a:p>
          </p:txBody>
        </p:sp>
        <p:sp>
          <p:nvSpPr>
            <p:cNvPr id="124940" name="Text Box 83"/>
            <p:cNvSpPr txBox="1">
              <a:spLocks noChangeArrowheads="1"/>
            </p:cNvSpPr>
            <p:nvPr/>
          </p:nvSpPr>
          <p:spPr bwMode="auto">
            <a:xfrm>
              <a:off x="4410" y="2640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奇偶标志</a:t>
              </a:r>
              <a:endParaRPr kumimoji="0" lang="zh-CN" altLang="en-US" sz="1800" b="1"/>
            </a:p>
          </p:txBody>
        </p:sp>
        <p:sp>
          <p:nvSpPr>
            <p:cNvPr id="124941" name="Text Box 84"/>
            <p:cNvSpPr txBox="1">
              <a:spLocks noChangeArrowheads="1"/>
            </p:cNvSpPr>
            <p:nvPr/>
          </p:nvSpPr>
          <p:spPr bwMode="auto">
            <a:xfrm>
              <a:off x="4368" y="2880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半进位标志</a:t>
              </a:r>
              <a:endParaRPr kumimoji="0" lang="zh-CN" altLang="en-US" sz="1800" b="1"/>
            </a:p>
          </p:txBody>
        </p:sp>
        <p:sp>
          <p:nvSpPr>
            <p:cNvPr id="124942" name="Text Box 85"/>
            <p:cNvSpPr txBox="1">
              <a:spLocks noChangeArrowheads="1"/>
            </p:cNvSpPr>
            <p:nvPr/>
          </p:nvSpPr>
          <p:spPr bwMode="auto">
            <a:xfrm>
              <a:off x="4414" y="3120"/>
              <a:ext cx="5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零标志</a:t>
              </a:r>
              <a:endParaRPr kumimoji="0" lang="zh-CN" altLang="en-US" sz="1800" b="1"/>
            </a:p>
          </p:txBody>
        </p:sp>
        <p:sp>
          <p:nvSpPr>
            <p:cNvPr id="124943" name="Text Box 86"/>
            <p:cNvSpPr txBox="1">
              <a:spLocks noChangeArrowheads="1"/>
            </p:cNvSpPr>
            <p:nvPr/>
          </p:nvSpPr>
          <p:spPr bwMode="auto">
            <a:xfrm>
              <a:off x="4411" y="3360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符号标志</a:t>
              </a:r>
              <a:endParaRPr kumimoji="0" lang="zh-CN" altLang="en-US" sz="1800" b="1"/>
            </a:p>
          </p:txBody>
        </p:sp>
        <p:sp>
          <p:nvSpPr>
            <p:cNvPr id="124944" name="Text Box 87"/>
            <p:cNvSpPr txBox="1">
              <a:spLocks noChangeArrowheads="1"/>
            </p:cNvSpPr>
            <p:nvPr/>
          </p:nvSpPr>
          <p:spPr bwMode="auto">
            <a:xfrm>
              <a:off x="4411" y="3552"/>
              <a:ext cx="70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1800" b="1"/>
                <a:t>溢出标志</a:t>
              </a:r>
              <a:endParaRPr kumimoji="0" lang="zh-CN" altLang="en-US" sz="1800" b="1"/>
            </a:p>
          </p:txBody>
        </p:sp>
        <p:sp>
          <p:nvSpPr>
            <p:cNvPr id="124945" name="AutoShape 88"/>
            <p:cNvSpPr/>
            <p:nvPr/>
          </p:nvSpPr>
          <p:spPr bwMode="auto">
            <a:xfrm>
              <a:off x="5088" y="2496"/>
              <a:ext cx="240" cy="1200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zh-CN" sz="1800" b="1">
                <a:solidFill>
                  <a:schemeClr val="hlink"/>
                </a:solidFill>
              </a:endParaRPr>
            </a:p>
          </p:txBody>
        </p:sp>
        <p:sp>
          <p:nvSpPr>
            <p:cNvPr id="124946" name="Line 89"/>
            <p:cNvSpPr>
              <a:spLocks noChangeShapeType="1"/>
            </p:cNvSpPr>
            <p:nvPr/>
          </p:nvSpPr>
          <p:spPr bwMode="auto">
            <a:xfrm>
              <a:off x="1440" y="25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47" name="Line 90"/>
            <p:cNvSpPr>
              <a:spLocks noChangeShapeType="1"/>
            </p:cNvSpPr>
            <p:nvPr/>
          </p:nvSpPr>
          <p:spPr bwMode="auto">
            <a:xfrm flipV="1">
              <a:off x="1872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48" name="Line 91"/>
            <p:cNvSpPr>
              <a:spLocks noChangeShapeType="1"/>
            </p:cNvSpPr>
            <p:nvPr/>
          </p:nvSpPr>
          <p:spPr bwMode="auto">
            <a:xfrm>
              <a:off x="1440" y="278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49" name="Line 92"/>
            <p:cNvSpPr>
              <a:spLocks noChangeShapeType="1"/>
            </p:cNvSpPr>
            <p:nvPr/>
          </p:nvSpPr>
          <p:spPr bwMode="auto">
            <a:xfrm flipV="1">
              <a:off x="2112" y="225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0" name="Line 93"/>
            <p:cNvSpPr>
              <a:spLocks noChangeShapeType="1"/>
            </p:cNvSpPr>
            <p:nvPr/>
          </p:nvSpPr>
          <p:spPr bwMode="auto">
            <a:xfrm>
              <a:off x="1440" y="307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1" name="Line 94"/>
            <p:cNvSpPr>
              <a:spLocks noChangeShapeType="1"/>
            </p:cNvSpPr>
            <p:nvPr/>
          </p:nvSpPr>
          <p:spPr bwMode="auto">
            <a:xfrm flipV="1">
              <a:off x="2400" y="225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2" name="Line 95"/>
            <p:cNvSpPr>
              <a:spLocks noChangeShapeType="1"/>
            </p:cNvSpPr>
            <p:nvPr/>
          </p:nvSpPr>
          <p:spPr bwMode="auto">
            <a:xfrm flipV="1">
              <a:off x="2640" y="2256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3" name="Line 96"/>
            <p:cNvSpPr>
              <a:spLocks noChangeShapeType="1"/>
            </p:cNvSpPr>
            <p:nvPr/>
          </p:nvSpPr>
          <p:spPr bwMode="auto">
            <a:xfrm flipV="1">
              <a:off x="2928" y="2256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4" name="Line 97"/>
            <p:cNvSpPr>
              <a:spLocks noChangeShapeType="1"/>
            </p:cNvSpPr>
            <p:nvPr/>
          </p:nvSpPr>
          <p:spPr bwMode="auto">
            <a:xfrm flipV="1">
              <a:off x="3408" y="225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5" name="Line 98"/>
            <p:cNvSpPr>
              <a:spLocks noChangeShapeType="1"/>
            </p:cNvSpPr>
            <p:nvPr/>
          </p:nvSpPr>
          <p:spPr bwMode="auto">
            <a:xfrm flipV="1">
              <a:off x="3984" y="225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6" name="Line 99"/>
            <p:cNvSpPr>
              <a:spLocks noChangeShapeType="1"/>
            </p:cNvSpPr>
            <p:nvPr/>
          </p:nvSpPr>
          <p:spPr bwMode="auto">
            <a:xfrm flipV="1">
              <a:off x="4416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7" name="Line 100"/>
            <p:cNvSpPr>
              <a:spLocks noChangeShapeType="1"/>
            </p:cNvSpPr>
            <p:nvPr/>
          </p:nvSpPr>
          <p:spPr bwMode="auto">
            <a:xfrm flipV="1">
              <a:off x="1584" y="22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58" name="Line 101"/>
            <p:cNvSpPr>
              <a:spLocks noChangeShapeType="1"/>
            </p:cNvSpPr>
            <p:nvPr/>
          </p:nvSpPr>
          <p:spPr bwMode="auto">
            <a:xfrm>
              <a:off x="1584" y="369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0" name="Line 102"/>
            <p:cNvSpPr>
              <a:spLocks noChangeShapeType="1"/>
            </p:cNvSpPr>
            <p:nvPr/>
          </p:nvSpPr>
          <p:spPr bwMode="auto">
            <a:xfrm>
              <a:off x="2640" y="345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1" name="Line 103"/>
            <p:cNvSpPr>
              <a:spLocks noChangeShapeType="1"/>
            </p:cNvSpPr>
            <p:nvPr/>
          </p:nvSpPr>
          <p:spPr bwMode="auto">
            <a:xfrm>
              <a:off x="3408" y="2976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2" name="Line 104"/>
            <p:cNvSpPr>
              <a:spLocks noChangeShapeType="1"/>
            </p:cNvSpPr>
            <p:nvPr/>
          </p:nvSpPr>
          <p:spPr bwMode="auto">
            <a:xfrm>
              <a:off x="3984" y="27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3" name="Line 105"/>
            <p:cNvSpPr>
              <a:spLocks noChangeShapeType="1"/>
            </p:cNvSpPr>
            <p:nvPr/>
          </p:nvSpPr>
          <p:spPr bwMode="auto">
            <a:xfrm flipV="1">
              <a:off x="2928" y="3216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4964" name="Line 106"/>
            <p:cNvSpPr>
              <a:spLocks noChangeShapeType="1"/>
            </p:cNvSpPr>
            <p:nvPr/>
          </p:nvSpPr>
          <p:spPr bwMode="auto">
            <a:xfrm>
              <a:off x="4416" y="254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进位标志</a:t>
            </a:r>
            <a:r>
              <a:rPr lang="en-US" altLang="zh-CN"/>
              <a:t>CF</a:t>
            </a:r>
            <a:r>
              <a:rPr lang="zh-CN" altLang="en-US"/>
              <a:t>（</a:t>
            </a:r>
            <a:r>
              <a:rPr lang="en-US" altLang="zh-CN"/>
              <a:t>Carry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514476" y="921544"/>
            <a:ext cx="5775722" cy="1257300"/>
          </a:xfrm>
          <a:noFill/>
        </p:spPr>
        <p:txBody>
          <a:bodyPr/>
          <a:lstStyle/>
          <a:p>
            <a:r>
              <a:rPr lang="zh-CN" altLang="en-US"/>
              <a:t>当运算结果的最高有效位有进位（加法）或借位（减法）时，进位标志置</a:t>
            </a:r>
            <a:r>
              <a:rPr lang="en-US" altLang="zh-CN"/>
              <a:t>1</a:t>
            </a:r>
            <a:r>
              <a:rPr lang="zh-CN" altLang="en-US"/>
              <a:t>，即</a:t>
            </a:r>
            <a:r>
              <a:rPr lang="en-US" altLang="zh-CN"/>
              <a:t>CF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；</a:t>
            </a:r>
            <a:endParaRPr lang="zh-CN" altLang="en-US"/>
          </a:p>
          <a:p>
            <a:pPr>
              <a:buFontTx/>
              <a:buNone/>
            </a:pPr>
            <a:r>
              <a:rPr lang="zh-CN" altLang="en-US"/>
              <a:t>    否则</a:t>
            </a:r>
            <a:r>
              <a:rPr lang="en-US" altLang="zh-CN"/>
              <a:t>CF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1600200" y="2838450"/>
            <a:ext cx="60007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just">
              <a:spcBef>
                <a:spcPct val="20000"/>
              </a:spcBef>
              <a:buBlip>
                <a:blip r:embed="rId1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algn="just">
              <a:spcBef>
                <a:spcPct val="20000"/>
              </a:spcBef>
              <a:buBlip>
                <a:blip r:embed="rId2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None/>
            </a:pPr>
            <a:r>
              <a:rPr lang="en-US" altLang="zh-CN" sz="2100">
                <a:solidFill>
                  <a:srgbClr val="0000CC"/>
                </a:solidFill>
              </a:rPr>
              <a:t>3AH + 7CH</a:t>
            </a:r>
            <a:r>
              <a:rPr lang="zh-CN" altLang="en-US" sz="2100">
                <a:solidFill>
                  <a:srgbClr val="0000CC"/>
                </a:solidFill>
              </a:rPr>
              <a:t>＝</a:t>
            </a:r>
            <a:r>
              <a:rPr lang="en-US" altLang="zh-CN" sz="2100">
                <a:solidFill>
                  <a:srgbClr val="0000CC"/>
                </a:solidFill>
              </a:rPr>
              <a:t>B6H</a:t>
            </a:r>
            <a:r>
              <a:rPr lang="zh-CN" altLang="en-US" sz="2100">
                <a:solidFill>
                  <a:srgbClr val="0000CC"/>
                </a:solidFill>
              </a:rPr>
              <a:t>，没有进位：</a:t>
            </a:r>
            <a:r>
              <a:rPr lang="en-US" altLang="zh-CN" sz="2100">
                <a:solidFill>
                  <a:srgbClr val="0000CC"/>
                </a:solidFill>
              </a:rPr>
              <a:t>CF = 0</a:t>
            </a:r>
            <a:endParaRPr lang="en-US" altLang="zh-CN" sz="2100">
              <a:solidFill>
                <a:srgbClr val="0000CC"/>
              </a:solidFill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zh-CN" sz="2100">
                <a:solidFill>
                  <a:srgbClr val="0000CC"/>
                </a:solidFill>
              </a:rPr>
              <a:t>AAH + 7CH</a:t>
            </a:r>
            <a:r>
              <a:rPr lang="zh-CN" altLang="en-US" sz="2100">
                <a:solidFill>
                  <a:srgbClr val="0000CC"/>
                </a:solidFill>
              </a:rPr>
              <a:t>＝（</a:t>
            </a:r>
            <a:r>
              <a:rPr lang="en-US" altLang="zh-CN" sz="2100">
                <a:solidFill>
                  <a:srgbClr val="0000CC"/>
                </a:solidFill>
              </a:rPr>
              <a:t>1</a:t>
            </a:r>
            <a:r>
              <a:rPr lang="zh-CN" altLang="en-US" sz="2100">
                <a:solidFill>
                  <a:srgbClr val="0000CC"/>
                </a:solidFill>
              </a:rPr>
              <a:t>）</a:t>
            </a:r>
            <a:r>
              <a:rPr lang="en-US" altLang="zh-CN" sz="2100">
                <a:solidFill>
                  <a:srgbClr val="0000CC"/>
                </a:solidFill>
              </a:rPr>
              <a:t>26H</a:t>
            </a:r>
            <a:r>
              <a:rPr lang="zh-CN" altLang="en-US" sz="2100">
                <a:solidFill>
                  <a:srgbClr val="0000CC"/>
                </a:solidFill>
              </a:rPr>
              <a:t>，有进位：</a:t>
            </a:r>
            <a:r>
              <a:rPr lang="en-US" altLang="zh-CN" sz="2100">
                <a:solidFill>
                  <a:srgbClr val="0000CC"/>
                </a:solidFill>
              </a:rPr>
              <a:t>CF = 1</a:t>
            </a:r>
            <a:endParaRPr lang="en-US" altLang="zh-CN" sz="2400"/>
          </a:p>
        </p:txBody>
      </p:sp>
      <p:pic>
        <p:nvPicPr>
          <p:cNvPr id="125958" name="Picture 6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518173"/>
            <a:ext cx="6506765" cy="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零标志</a:t>
            </a:r>
            <a:r>
              <a:rPr lang="en-US" altLang="zh-CN"/>
              <a:t>ZF</a:t>
            </a:r>
            <a:r>
              <a:rPr lang="zh-CN" altLang="en-US"/>
              <a:t>（</a:t>
            </a:r>
            <a:r>
              <a:rPr lang="en-US" altLang="zh-CN"/>
              <a:t>Zero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85951" y="1085850"/>
            <a:ext cx="5193506" cy="1143000"/>
          </a:xfrm>
          <a:noFill/>
        </p:spPr>
        <p:txBody>
          <a:bodyPr/>
          <a:lstStyle/>
          <a:p>
            <a:pPr marL="0" indent="292735"/>
            <a:r>
              <a:rPr lang="zh-CN" altLang="en-US"/>
              <a:t>若运算结果为</a:t>
            </a:r>
            <a:r>
              <a:rPr lang="en-US" altLang="zh-CN"/>
              <a:t>0</a:t>
            </a:r>
            <a:r>
              <a:rPr lang="zh-CN" altLang="en-US"/>
              <a:t>，则</a:t>
            </a:r>
            <a:r>
              <a:rPr lang="en-US" altLang="zh-CN"/>
              <a:t>ZF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；</a:t>
            </a:r>
            <a:endParaRPr lang="zh-CN" altLang="en-US"/>
          </a:p>
          <a:p>
            <a:pPr marL="0" indent="292735">
              <a:buNone/>
            </a:pPr>
            <a:r>
              <a:rPr lang="zh-CN" altLang="en-US"/>
              <a:t>否则</a:t>
            </a:r>
            <a:r>
              <a:rPr lang="en-US" altLang="zh-CN"/>
              <a:t>ZF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126981" name="Picture 5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518173"/>
            <a:ext cx="6506765" cy="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982" name="Rectangle 6"/>
          <p:cNvSpPr>
            <a:spLocks noChangeArrowheads="1"/>
          </p:cNvSpPr>
          <p:nvPr/>
        </p:nvSpPr>
        <p:spPr bwMode="auto">
          <a:xfrm>
            <a:off x="1314450" y="3086100"/>
            <a:ext cx="651510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indent="390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81025" indent="27495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2781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0055" indent="205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4730" indent="76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1930" indent="76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99130" indent="76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6330" indent="76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3530" indent="76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CC"/>
                </a:solidFill>
              </a:rPr>
              <a:t>3AH</a:t>
            </a:r>
            <a:r>
              <a:rPr lang="zh-CN" altLang="en-US" sz="1800" b="1">
                <a:solidFill>
                  <a:srgbClr val="0000CC"/>
                </a:solidFill>
              </a:rPr>
              <a:t>＋</a:t>
            </a:r>
            <a:r>
              <a:rPr lang="en-US" altLang="zh-CN" sz="1800" b="1">
                <a:solidFill>
                  <a:srgbClr val="0000CC"/>
                </a:solidFill>
              </a:rPr>
              <a:t>7CH</a:t>
            </a:r>
            <a:r>
              <a:rPr lang="zh-CN" altLang="en-US" sz="1800" b="1">
                <a:solidFill>
                  <a:srgbClr val="0000CC"/>
                </a:solidFill>
              </a:rPr>
              <a:t>＝</a:t>
            </a:r>
            <a:r>
              <a:rPr lang="en-US" altLang="zh-CN" sz="1800" b="1">
                <a:solidFill>
                  <a:srgbClr val="0000CC"/>
                </a:solidFill>
              </a:rPr>
              <a:t>B6H</a:t>
            </a:r>
            <a:r>
              <a:rPr lang="zh-CN" altLang="en-US" sz="1800" b="1">
                <a:solidFill>
                  <a:srgbClr val="0000CC"/>
                </a:solidFill>
              </a:rPr>
              <a:t>，结果不是零：</a:t>
            </a:r>
            <a:r>
              <a:rPr lang="en-US" altLang="zh-CN" sz="1800" b="1">
                <a:solidFill>
                  <a:srgbClr val="0000CC"/>
                </a:solidFill>
              </a:rPr>
              <a:t>ZF</a:t>
            </a:r>
            <a:r>
              <a:rPr lang="zh-CN" altLang="en-US" sz="1800" b="1">
                <a:solidFill>
                  <a:srgbClr val="0000CC"/>
                </a:solidFill>
              </a:rPr>
              <a:t>＝</a:t>
            </a:r>
            <a:r>
              <a:rPr lang="en-US" altLang="zh-CN" sz="1800" b="1">
                <a:solidFill>
                  <a:srgbClr val="0000CC"/>
                </a:solidFill>
              </a:rPr>
              <a:t>0</a:t>
            </a:r>
            <a:endParaRPr lang="en-US" altLang="zh-CN" sz="1800" b="1">
              <a:solidFill>
                <a:srgbClr val="0000CC"/>
              </a:solidFill>
            </a:endParaRPr>
          </a:p>
          <a:p>
            <a:pPr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0000CC"/>
                </a:solidFill>
              </a:rPr>
              <a:t>84H</a:t>
            </a:r>
            <a:r>
              <a:rPr lang="zh-CN" altLang="en-US" sz="1800" b="1">
                <a:solidFill>
                  <a:srgbClr val="0000CC"/>
                </a:solidFill>
              </a:rPr>
              <a:t>＋</a:t>
            </a:r>
            <a:r>
              <a:rPr lang="en-US" altLang="zh-CN" sz="1800" b="1">
                <a:solidFill>
                  <a:srgbClr val="0000CC"/>
                </a:solidFill>
              </a:rPr>
              <a:t>7CH</a:t>
            </a:r>
            <a:r>
              <a:rPr lang="zh-CN" altLang="en-US" sz="1800" b="1">
                <a:solidFill>
                  <a:srgbClr val="0000CC"/>
                </a:solidFill>
              </a:rPr>
              <a:t>＝（</a:t>
            </a:r>
            <a:r>
              <a:rPr lang="en-US" altLang="zh-CN" sz="1800" b="1">
                <a:solidFill>
                  <a:srgbClr val="0000CC"/>
                </a:solidFill>
              </a:rPr>
              <a:t>1</a:t>
            </a:r>
            <a:r>
              <a:rPr lang="zh-CN" altLang="en-US" sz="1800" b="1">
                <a:solidFill>
                  <a:srgbClr val="0000CC"/>
                </a:solidFill>
              </a:rPr>
              <a:t>）</a:t>
            </a:r>
            <a:r>
              <a:rPr lang="en-US" altLang="zh-CN" sz="1800" b="1">
                <a:solidFill>
                  <a:srgbClr val="0000CC"/>
                </a:solidFill>
              </a:rPr>
              <a:t>00H</a:t>
            </a:r>
            <a:r>
              <a:rPr lang="zh-CN" altLang="en-US" sz="1800" b="1">
                <a:solidFill>
                  <a:srgbClr val="0000CC"/>
                </a:solidFill>
              </a:rPr>
              <a:t>，结果是零：</a:t>
            </a:r>
            <a:r>
              <a:rPr lang="en-US" altLang="zh-CN" sz="1800" b="1">
                <a:solidFill>
                  <a:srgbClr val="0000CC"/>
                </a:solidFill>
              </a:rPr>
              <a:t>ZF</a:t>
            </a:r>
            <a:r>
              <a:rPr lang="zh-CN" altLang="en-US" sz="1800" b="1">
                <a:solidFill>
                  <a:srgbClr val="0000CC"/>
                </a:solidFill>
              </a:rPr>
              <a:t>＝</a:t>
            </a:r>
            <a:r>
              <a:rPr lang="en-US" altLang="zh-CN" sz="1800" b="1">
                <a:solidFill>
                  <a:srgbClr val="0000CC"/>
                </a:solidFill>
              </a:rPr>
              <a:t>1</a:t>
            </a:r>
            <a:endParaRPr lang="en-US" altLang="zh-CN" sz="1800" b="1">
              <a:solidFill>
                <a:srgbClr val="0000CC"/>
              </a:solidFill>
            </a:endParaRPr>
          </a:p>
        </p:txBody>
      </p:sp>
      <p:sp>
        <p:nvSpPr>
          <p:cNvPr id="126983" name="AutoShape 7"/>
          <p:cNvSpPr>
            <a:spLocks noChangeArrowheads="1"/>
          </p:cNvSpPr>
          <p:nvPr/>
        </p:nvSpPr>
        <p:spPr bwMode="auto">
          <a:xfrm>
            <a:off x="2171700" y="2171700"/>
            <a:ext cx="4457700" cy="685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algn="ctr">
              <a:buFontTx/>
              <a:buBlip>
                <a:blip r:embed="rId2"/>
              </a:buBlip>
            </a:pPr>
            <a:r>
              <a:rPr lang="en-US" altLang="zh-CN" sz="1800" b="1">
                <a:solidFill>
                  <a:schemeClr val="accent2"/>
                </a:solidFill>
              </a:rPr>
              <a:t> </a:t>
            </a:r>
            <a:r>
              <a:rPr lang="zh-CN" altLang="en-US" sz="1800" b="1">
                <a:solidFill>
                  <a:schemeClr val="accent2"/>
                </a:solidFill>
              </a:rPr>
              <a:t>注意：</a:t>
            </a:r>
            <a:r>
              <a:rPr lang="en-US" altLang="zh-CN" sz="1800" b="1">
                <a:solidFill>
                  <a:schemeClr val="accent2"/>
                </a:solidFill>
              </a:rPr>
              <a:t>ZF</a:t>
            </a:r>
            <a:r>
              <a:rPr lang="zh-CN" altLang="en-US" sz="1800" b="1">
                <a:solidFill>
                  <a:schemeClr val="accent2"/>
                </a:solidFill>
              </a:rPr>
              <a:t>为</a:t>
            </a:r>
            <a:r>
              <a:rPr lang="en-US" altLang="zh-CN" sz="1800" b="1">
                <a:solidFill>
                  <a:schemeClr val="accent2"/>
                </a:solidFill>
              </a:rPr>
              <a:t>1</a:t>
            </a:r>
            <a:r>
              <a:rPr lang="zh-CN" altLang="en-US" sz="1800" b="1">
                <a:solidFill>
                  <a:schemeClr val="accent2"/>
                </a:solidFill>
              </a:rPr>
              <a:t>表示的结果是</a:t>
            </a:r>
            <a:r>
              <a:rPr lang="en-US" altLang="zh-CN" sz="1800" b="1">
                <a:solidFill>
                  <a:schemeClr val="accent2"/>
                </a:solidFill>
              </a:rPr>
              <a:t>0</a:t>
            </a:r>
            <a:endParaRPr lang="en-US" altLang="zh-CN" sz="1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3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符号标志</a:t>
            </a:r>
            <a:r>
              <a:rPr lang="en-US" altLang="zh-CN"/>
              <a:t>SF</a:t>
            </a:r>
            <a:r>
              <a:rPr lang="zh-CN" altLang="en-US"/>
              <a:t>（</a:t>
            </a:r>
            <a:r>
              <a:rPr lang="en-US" altLang="zh-CN"/>
              <a:t>Sign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45469" y="1006079"/>
            <a:ext cx="5543550" cy="1028700"/>
          </a:xfrm>
          <a:noFill/>
        </p:spPr>
        <p:txBody>
          <a:bodyPr/>
          <a:lstStyle/>
          <a:p>
            <a:r>
              <a:rPr lang="zh-CN" altLang="en-US"/>
              <a:t>运算结果最高位为</a:t>
            </a:r>
            <a:r>
              <a:rPr lang="en-US" altLang="zh-CN"/>
              <a:t>1</a:t>
            </a:r>
            <a:r>
              <a:rPr lang="zh-CN" altLang="en-US"/>
              <a:t>，则</a:t>
            </a:r>
            <a:r>
              <a:rPr lang="en-US" altLang="zh-CN"/>
              <a:t>SF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；</a:t>
            </a:r>
            <a:endParaRPr lang="zh-CN" altLang="en-US"/>
          </a:p>
          <a:p>
            <a:pPr>
              <a:buFontTx/>
              <a:buNone/>
            </a:pPr>
            <a:r>
              <a:rPr lang="zh-CN" altLang="en-US"/>
              <a:t>    否则</a:t>
            </a:r>
            <a:r>
              <a:rPr lang="en-US" altLang="zh-CN"/>
              <a:t>SF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128005" name="Picture 5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543" y="2569370"/>
            <a:ext cx="6506765" cy="3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006" name="Rectangle 6"/>
          <p:cNvSpPr>
            <a:spLocks noChangeArrowheads="1"/>
          </p:cNvSpPr>
          <p:nvPr/>
        </p:nvSpPr>
        <p:spPr bwMode="auto">
          <a:xfrm>
            <a:off x="1674019" y="3115866"/>
            <a:ext cx="577215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100" b="1">
                <a:solidFill>
                  <a:srgbClr val="0000CC"/>
                </a:solidFill>
              </a:rPr>
              <a:t>3AH</a:t>
            </a:r>
            <a:r>
              <a:rPr lang="zh-CN" altLang="en-US" sz="2100" b="1">
                <a:solidFill>
                  <a:srgbClr val="0000CC"/>
                </a:solidFill>
              </a:rPr>
              <a:t>＋</a:t>
            </a:r>
            <a:r>
              <a:rPr lang="en-US" altLang="zh-CN" sz="2100" b="1">
                <a:solidFill>
                  <a:srgbClr val="0000CC"/>
                </a:solidFill>
              </a:rPr>
              <a:t>7CH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B6H</a:t>
            </a:r>
            <a:r>
              <a:rPr lang="zh-CN" altLang="en-US" sz="2100" b="1">
                <a:solidFill>
                  <a:srgbClr val="0000CC"/>
                </a:solidFill>
              </a:rPr>
              <a:t>，最高位</a:t>
            </a:r>
            <a:r>
              <a:rPr lang="en-US" altLang="zh-CN" sz="2100" b="1">
                <a:solidFill>
                  <a:srgbClr val="0000CC"/>
                </a:solidFill>
              </a:rPr>
              <a:t>D</a:t>
            </a:r>
            <a:r>
              <a:rPr lang="en-US" altLang="zh-CN" sz="2100" b="1" baseline="-25000">
                <a:solidFill>
                  <a:srgbClr val="0000CC"/>
                </a:solidFill>
              </a:rPr>
              <a:t>7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1</a:t>
            </a:r>
            <a:r>
              <a:rPr lang="zh-CN" altLang="en-US" sz="2100" b="1">
                <a:solidFill>
                  <a:srgbClr val="0000CC"/>
                </a:solidFill>
              </a:rPr>
              <a:t>：</a:t>
            </a:r>
            <a:r>
              <a:rPr lang="en-US" altLang="zh-CN" sz="2100" b="1">
                <a:solidFill>
                  <a:srgbClr val="0000CC"/>
                </a:solidFill>
              </a:rPr>
              <a:t>SF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1</a:t>
            </a:r>
            <a:endParaRPr lang="en-US" altLang="zh-CN" sz="2100" b="1">
              <a:solidFill>
                <a:srgbClr val="0000CC"/>
              </a:solidFill>
            </a:endParaRPr>
          </a:p>
          <a:p>
            <a:pPr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100" b="1">
                <a:solidFill>
                  <a:srgbClr val="0000CC"/>
                </a:solidFill>
              </a:rPr>
              <a:t>84H</a:t>
            </a:r>
            <a:r>
              <a:rPr lang="zh-CN" altLang="en-US" sz="2100" b="1">
                <a:solidFill>
                  <a:srgbClr val="0000CC"/>
                </a:solidFill>
              </a:rPr>
              <a:t>＋</a:t>
            </a:r>
            <a:r>
              <a:rPr lang="en-US" altLang="zh-CN" sz="2100" b="1">
                <a:solidFill>
                  <a:srgbClr val="0000CC"/>
                </a:solidFill>
              </a:rPr>
              <a:t>7CH</a:t>
            </a:r>
            <a:r>
              <a:rPr lang="zh-CN" altLang="en-US" sz="2100" b="1">
                <a:solidFill>
                  <a:srgbClr val="0000CC"/>
                </a:solidFill>
              </a:rPr>
              <a:t>＝（</a:t>
            </a:r>
            <a:r>
              <a:rPr lang="en-US" altLang="zh-CN" sz="2100" b="1">
                <a:solidFill>
                  <a:srgbClr val="0000CC"/>
                </a:solidFill>
              </a:rPr>
              <a:t>1</a:t>
            </a:r>
            <a:r>
              <a:rPr lang="zh-CN" altLang="en-US" sz="2100" b="1">
                <a:solidFill>
                  <a:srgbClr val="0000CC"/>
                </a:solidFill>
              </a:rPr>
              <a:t>）</a:t>
            </a:r>
            <a:r>
              <a:rPr lang="en-US" altLang="zh-CN" sz="2100" b="1">
                <a:solidFill>
                  <a:srgbClr val="0000CC"/>
                </a:solidFill>
              </a:rPr>
              <a:t>00H</a:t>
            </a:r>
            <a:r>
              <a:rPr lang="zh-CN" altLang="en-US" sz="2100" b="1">
                <a:solidFill>
                  <a:srgbClr val="0000CC"/>
                </a:solidFill>
              </a:rPr>
              <a:t>，最高位</a:t>
            </a:r>
            <a:r>
              <a:rPr lang="en-US" altLang="zh-CN" sz="2100" b="1">
                <a:solidFill>
                  <a:srgbClr val="0000CC"/>
                </a:solidFill>
              </a:rPr>
              <a:t>D</a:t>
            </a:r>
            <a:r>
              <a:rPr lang="en-US" altLang="zh-CN" sz="2100" b="1" baseline="-25000">
                <a:solidFill>
                  <a:srgbClr val="0000CC"/>
                </a:solidFill>
              </a:rPr>
              <a:t>7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0</a:t>
            </a:r>
            <a:r>
              <a:rPr lang="zh-CN" altLang="en-US" sz="2100" b="1">
                <a:solidFill>
                  <a:srgbClr val="0000CC"/>
                </a:solidFill>
              </a:rPr>
              <a:t>：</a:t>
            </a:r>
            <a:r>
              <a:rPr lang="en-US" altLang="zh-CN" sz="2100" b="1">
                <a:solidFill>
                  <a:srgbClr val="0000CC"/>
                </a:solidFill>
              </a:rPr>
              <a:t>SF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0</a:t>
            </a:r>
            <a:endParaRPr lang="en-US" altLang="zh-CN" sz="2100" b="1"/>
          </a:p>
        </p:txBody>
      </p:sp>
      <p:sp>
        <p:nvSpPr>
          <p:cNvPr id="128007" name="AutoShape 7"/>
          <p:cNvSpPr>
            <a:spLocks noChangeArrowheads="1"/>
          </p:cNvSpPr>
          <p:nvPr/>
        </p:nvSpPr>
        <p:spPr bwMode="auto">
          <a:xfrm>
            <a:off x="1502569" y="2087166"/>
            <a:ext cx="6000750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algn="just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1800" b="1" dirty="0">
                <a:solidFill>
                  <a:schemeClr val="accent2"/>
                </a:solidFill>
              </a:rPr>
              <a:t> </a:t>
            </a:r>
            <a:r>
              <a:rPr lang="zh-CN" altLang="en-US" sz="1800" b="1" dirty="0">
                <a:solidFill>
                  <a:schemeClr val="accent2"/>
                </a:solidFill>
              </a:rPr>
              <a:t>有符号数据用最高有效位表示数据的符号</a:t>
            </a:r>
            <a:endParaRPr lang="zh-CN" altLang="en-US" sz="1800" b="1" dirty="0">
              <a:solidFill>
                <a:schemeClr val="accent2"/>
              </a:solidFill>
            </a:endParaRPr>
          </a:p>
          <a:p>
            <a:pPr algn="just">
              <a:spcBef>
                <a:spcPct val="20000"/>
              </a:spcBef>
            </a:pPr>
            <a:r>
              <a:rPr lang="zh-CN" altLang="en-US" sz="1800" b="1" dirty="0">
                <a:solidFill>
                  <a:schemeClr val="accent2"/>
                </a:solidFill>
              </a:rPr>
              <a:t>所以，最高有效位就是符号标志的状态</a:t>
            </a:r>
            <a:endParaRPr lang="zh-CN" altLang="en-US" sz="1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7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奇偶标志</a:t>
            </a:r>
            <a:r>
              <a:rPr lang="en-US" altLang="zh-CN"/>
              <a:t>PF</a:t>
            </a:r>
            <a:r>
              <a:rPr lang="zh-CN" altLang="en-US"/>
              <a:t>（</a:t>
            </a:r>
            <a:r>
              <a:rPr lang="en-US" altLang="zh-CN"/>
              <a:t>Parity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85950" y="951310"/>
            <a:ext cx="5543550" cy="1085850"/>
          </a:xfrm>
          <a:noFill/>
        </p:spPr>
        <p:txBody>
          <a:bodyPr/>
          <a:lstStyle/>
          <a:p>
            <a:r>
              <a:rPr lang="zh-CN" altLang="en-US"/>
              <a:t>当运算结果最低字节中“</a:t>
            </a:r>
            <a:r>
              <a:rPr lang="en-US" altLang="zh-CN"/>
              <a:t>1”</a:t>
            </a:r>
            <a:r>
              <a:rPr lang="zh-CN" altLang="en-US"/>
              <a:t>的个数为零或偶数时，</a:t>
            </a:r>
            <a:r>
              <a:rPr lang="en-US" altLang="zh-CN"/>
              <a:t>PF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；否则</a:t>
            </a:r>
            <a:r>
              <a:rPr lang="en-US" altLang="zh-CN"/>
              <a:t>PF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129029" name="Picture 5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466976"/>
            <a:ext cx="6506765" cy="3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030" name="Rectangle 6"/>
          <p:cNvSpPr>
            <a:spLocks noChangeArrowheads="1"/>
          </p:cNvSpPr>
          <p:nvPr/>
        </p:nvSpPr>
        <p:spPr bwMode="auto">
          <a:xfrm>
            <a:off x="1828800" y="3037285"/>
            <a:ext cx="554355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0000CC"/>
                </a:solidFill>
              </a:rPr>
              <a:t>3AH</a:t>
            </a:r>
            <a:r>
              <a:rPr lang="zh-CN" altLang="en-US" sz="1800" b="1" dirty="0">
                <a:solidFill>
                  <a:srgbClr val="0000CC"/>
                </a:solidFill>
              </a:rPr>
              <a:t>＋</a:t>
            </a:r>
            <a:r>
              <a:rPr lang="en-US" altLang="zh-CN" sz="1800" b="1" dirty="0">
                <a:solidFill>
                  <a:srgbClr val="0000CC"/>
                </a:solidFill>
              </a:rPr>
              <a:t>7CH</a:t>
            </a:r>
            <a:r>
              <a:rPr lang="zh-CN" altLang="en-US" sz="1800" b="1" dirty="0">
                <a:solidFill>
                  <a:srgbClr val="0000CC"/>
                </a:solidFill>
              </a:rPr>
              <a:t>＝</a:t>
            </a:r>
            <a:r>
              <a:rPr lang="en-US" altLang="zh-CN" sz="1800" b="1" dirty="0">
                <a:solidFill>
                  <a:srgbClr val="0000CC"/>
                </a:solidFill>
              </a:rPr>
              <a:t>B6H</a:t>
            </a:r>
            <a:r>
              <a:rPr lang="zh-CN" altLang="en-US" sz="1800" b="1" dirty="0">
                <a:solidFill>
                  <a:srgbClr val="0000CC"/>
                </a:solidFill>
              </a:rPr>
              <a:t>＝</a:t>
            </a:r>
            <a:r>
              <a:rPr lang="en-US" altLang="zh-CN" sz="1800" b="1" dirty="0">
                <a:solidFill>
                  <a:srgbClr val="0000CC"/>
                </a:solidFill>
              </a:rPr>
              <a:t>10110110B</a:t>
            </a:r>
            <a:endParaRPr lang="en-US" altLang="zh-CN" sz="1800" b="1" dirty="0">
              <a:solidFill>
                <a:srgbClr val="0000CC"/>
              </a:solidFill>
            </a:endParaRPr>
          </a:p>
          <a:p>
            <a:pPr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CC"/>
                </a:solidFill>
              </a:rPr>
              <a:t>结果中有</a:t>
            </a:r>
            <a:r>
              <a:rPr lang="en-US" altLang="zh-CN" sz="1800" b="1" dirty="0">
                <a:solidFill>
                  <a:srgbClr val="0000CC"/>
                </a:solidFill>
              </a:rPr>
              <a:t>5</a:t>
            </a:r>
            <a:r>
              <a:rPr lang="zh-CN" altLang="en-US" sz="1800" b="1" dirty="0">
                <a:solidFill>
                  <a:srgbClr val="0000CC"/>
                </a:solidFill>
              </a:rPr>
              <a:t>个“</a:t>
            </a:r>
            <a:r>
              <a:rPr lang="zh-CN" altLang="zh-CN" sz="1800" b="1" dirty="0">
                <a:solidFill>
                  <a:srgbClr val="0000CC"/>
                </a:solidFill>
              </a:rPr>
              <a:t>1</a:t>
            </a:r>
            <a:r>
              <a:rPr lang="en-US" altLang="zh-CN" sz="1800" b="1" dirty="0">
                <a:solidFill>
                  <a:srgbClr val="0000CC"/>
                </a:solidFill>
              </a:rPr>
              <a:t>”</a:t>
            </a:r>
            <a:r>
              <a:rPr lang="zh-CN" altLang="zh-CN" sz="1800" b="1" dirty="0">
                <a:solidFill>
                  <a:srgbClr val="0000CC"/>
                </a:solidFill>
              </a:rPr>
              <a:t>，</a:t>
            </a:r>
            <a:r>
              <a:rPr lang="zh-CN" altLang="en-US" sz="1800" b="1" dirty="0">
                <a:solidFill>
                  <a:srgbClr val="0000CC"/>
                </a:solidFill>
              </a:rPr>
              <a:t>是奇数：</a:t>
            </a:r>
            <a:r>
              <a:rPr lang="en-US" altLang="zh-CN" sz="1800" b="1" dirty="0">
                <a:solidFill>
                  <a:srgbClr val="0000CC"/>
                </a:solidFill>
              </a:rPr>
              <a:t>PF</a:t>
            </a:r>
            <a:r>
              <a:rPr lang="zh-CN" altLang="en-US" sz="1800" b="1" dirty="0">
                <a:solidFill>
                  <a:srgbClr val="0000CC"/>
                </a:solidFill>
              </a:rPr>
              <a:t>＝</a:t>
            </a:r>
            <a:r>
              <a:rPr lang="en-US" altLang="zh-CN" sz="1800" b="1" dirty="0">
                <a:solidFill>
                  <a:srgbClr val="0000CC"/>
                </a:solidFill>
              </a:rPr>
              <a:t>0</a:t>
            </a:r>
            <a:endParaRPr lang="en-US" altLang="zh-CN" sz="2700" b="1" dirty="0"/>
          </a:p>
        </p:txBody>
      </p:sp>
      <p:sp>
        <p:nvSpPr>
          <p:cNvPr id="129031" name="AutoShape 7"/>
          <p:cNvSpPr>
            <a:spLocks noChangeArrowheads="1"/>
          </p:cNvSpPr>
          <p:nvPr/>
        </p:nvSpPr>
        <p:spPr bwMode="auto">
          <a:xfrm>
            <a:off x="1828800" y="2044304"/>
            <a:ext cx="5600700" cy="914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algn="just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CN" sz="1800" b="1">
                <a:solidFill>
                  <a:schemeClr val="accent2"/>
                </a:solidFill>
              </a:rPr>
              <a:t> PF</a:t>
            </a:r>
            <a:r>
              <a:rPr lang="zh-CN" altLang="en-US" sz="1800" b="1">
                <a:solidFill>
                  <a:schemeClr val="accent2"/>
                </a:solidFill>
              </a:rPr>
              <a:t>标志仅反映最低</a:t>
            </a:r>
            <a:r>
              <a:rPr lang="en-US" altLang="zh-CN" sz="1800" b="1">
                <a:solidFill>
                  <a:schemeClr val="accent2"/>
                </a:solidFill>
              </a:rPr>
              <a:t>8</a:t>
            </a:r>
            <a:r>
              <a:rPr lang="zh-CN" altLang="en-US" sz="1800" b="1">
                <a:solidFill>
                  <a:schemeClr val="accent2"/>
                </a:solidFill>
              </a:rPr>
              <a:t>位中“</a:t>
            </a:r>
            <a:r>
              <a:rPr lang="en-US" altLang="zh-CN" sz="1800" b="1">
                <a:solidFill>
                  <a:schemeClr val="accent2"/>
                </a:solidFill>
              </a:rPr>
              <a:t>1”</a:t>
            </a:r>
            <a:r>
              <a:rPr lang="zh-CN" altLang="en-US" sz="1800" b="1">
                <a:solidFill>
                  <a:schemeClr val="accent2"/>
                </a:solidFill>
              </a:rPr>
              <a:t>的个数是</a:t>
            </a:r>
            <a:br>
              <a:rPr lang="zh-CN" altLang="en-US" sz="1800" b="1">
                <a:solidFill>
                  <a:schemeClr val="accent2"/>
                </a:solidFill>
              </a:rPr>
            </a:br>
            <a:r>
              <a:rPr lang="zh-CN" altLang="en-US" sz="1800" b="1">
                <a:solidFill>
                  <a:schemeClr val="accent2"/>
                </a:solidFill>
              </a:rPr>
              <a:t>偶或奇，即使是进行</a:t>
            </a:r>
            <a:r>
              <a:rPr lang="en-US" altLang="zh-CN" sz="1800" b="1">
                <a:solidFill>
                  <a:schemeClr val="accent2"/>
                </a:solidFill>
              </a:rPr>
              <a:t>16</a:t>
            </a:r>
            <a:r>
              <a:rPr lang="zh-CN" altLang="en-US" sz="1800" b="1">
                <a:solidFill>
                  <a:schemeClr val="accent2"/>
                </a:solidFill>
              </a:rPr>
              <a:t>位字操作</a:t>
            </a:r>
            <a:endParaRPr lang="zh-CN" altLang="en-US" sz="1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溢出标志</a:t>
            </a:r>
            <a:r>
              <a:rPr lang="en-US" altLang="zh-CN"/>
              <a:t>OF</a:t>
            </a:r>
            <a:r>
              <a:rPr lang="zh-CN" altLang="en-US"/>
              <a:t>（</a:t>
            </a:r>
            <a:r>
              <a:rPr lang="en-US" altLang="zh-CN"/>
              <a:t>Overflow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58554" y="1085850"/>
            <a:ext cx="5670947" cy="1028700"/>
          </a:xfrm>
          <a:noFill/>
        </p:spPr>
        <p:txBody>
          <a:bodyPr/>
          <a:lstStyle/>
          <a:p>
            <a:r>
              <a:rPr lang="zh-CN" altLang="en-US"/>
              <a:t>若算术运算的结果有溢出，则</a:t>
            </a:r>
            <a:r>
              <a:rPr lang="en-US" altLang="zh-CN"/>
              <a:t>OF</a:t>
            </a:r>
            <a:r>
              <a:rPr lang="zh-CN" altLang="en-US"/>
              <a:t>＝</a:t>
            </a:r>
            <a:r>
              <a:rPr lang="en-US" altLang="zh-CN"/>
              <a:t>1</a:t>
            </a:r>
            <a:r>
              <a:rPr lang="zh-CN" altLang="en-US"/>
              <a:t>；</a:t>
            </a:r>
            <a:endParaRPr lang="zh-CN" altLang="en-US"/>
          </a:p>
          <a:p>
            <a:pPr>
              <a:buFontTx/>
              <a:buNone/>
            </a:pPr>
            <a:r>
              <a:rPr lang="zh-CN" altLang="en-US"/>
              <a:t>    否则 </a:t>
            </a:r>
            <a:r>
              <a:rPr lang="en-US" altLang="zh-CN"/>
              <a:t>OF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130053" name="Picture 5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280048"/>
            <a:ext cx="6506765" cy="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1828800" y="2828925"/>
            <a:ext cx="55435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100" b="1">
                <a:solidFill>
                  <a:srgbClr val="0000CC"/>
                </a:solidFill>
              </a:rPr>
              <a:t>3AH + 7CH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B6H</a:t>
            </a:r>
            <a:r>
              <a:rPr lang="zh-CN" altLang="en-US" sz="2100" b="1">
                <a:solidFill>
                  <a:srgbClr val="0000CC"/>
                </a:solidFill>
              </a:rPr>
              <a:t>，产生溢出：</a:t>
            </a:r>
            <a:r>
              <a:rPr lang="en-US" altLang="zh-CN" sz="2100" b="1">
                <a:solidFill>
                  <a:srgbClr val="0000CC"/>
                </a:solidFill>
              </a:rPr>
              <a:t>OF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1</a:t>
            </a:r>
            <a:endParaRPr lang="en-US" altLang="zh-CN" sz="2100" b="1">
              <a:solidFill>
                <a:srgbClr val="0000CC"/>
              </a:solidFill>
            </a:endParaRPr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100" b="1">
                <a:solidFill>
                  <a:srgbClr val="0000CC"/>
                </a:solidFill>
              </a:rPr>
              <a:t>AAH + 7CH</a:t>
            </a:r>
            <a:r>
              <a:rPr lang="zh-CN" altLang="en-US" sz="2100" b="1">
                <a:solidFill>
                  <a:srgbClr val="0000CC"/>
                </a:solidFill>
              </a:rPr>
              <a:t>＝（</a:t>
            </a:r>
            <a:r>
              <a:rPr lang="en-US" altLang="zh-CN" sz="2100" b="1">
                <a:solidFill>
                  <a:srgbClr val="0000CC"/>
                </a:solidFill>
              </a:rPr>
              <a:t>1</a:t>
            </a:r>
            <a:r>
              <a:rPr lang="zh-CN" altLang="en-US" sz="2100" b="1">
                <a:solidFill>
                  <a:srgbClr val="0000CC"/>
                </a:solidFill>
              </a:rPr>
              <a:t>）</a:t>
            </a:r>
            <a:r>
              <a:rPr lang="en-US" altLang="zh-CN" sz="2100" b="1">
                <a:solidFill>
                  <a:srgbClr val="0000CC"/>
                </a:solidFill>
              </a:rPr>
              <a:t>26H</a:t>
            </a:r>
            <a:r>
              <a:rPr lang="zh-CN" altLang="en-US" sz="2100" b="1">
                <a:solidFill>
                  <a:srgbClr val="0000CC"/>
                </a:solidFill>
              </a:rPr>
              <a:t>，没有溢出：</a:t>
            </a:r>
            <a:r>
              <a:rPr lang="en-US" altLang="zh-CN" sz="2100" b="1">
                <a:solidFill>
                  <a:srgbClr val="0000CC"/>
                </a:solidFill>
              </a:rPr>
              <a:t>OF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0</a:t>
            </a:r>
            <a:endParaRPr lang="en-US" altLang="zh-CN" sz="2100" b="1">
              <a:solidFill>
                <a:srgbClr val="0000CC"/>
              </a:solidFill>
            </a:endParaRPr>
          </a:p>
        </p:txBody>
      </p:sp>
      <p:sp>
        <p:nvSpPr>
          <p:cNvPr id="130055" name="WordArt 7"/>
          <p:cNvSpPr>
            <a:spLocks noChangeArrowheads="1" noChangeShapeType="1" noTextEdit="1"/>
          </p:cNvSpPr>
          <p:nvPr/>
        </p:nvSpPr>
        <p:spPr bwMode="auto">
          <a:xfrm>
            <a:off x="6912769" y="2563418"/>
            <a:ext cx="571500" cy="59293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4500" kern="10">
                <a:ln w="12700">
                  <a:solidFill>
                    <a:schemeClr val="tx1"/>
                  </a:solidFill>
                  <a:rou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？</a:t>
            </a:r>
            <a:endParaRPr lang="zh-CN" altLang="en-US" sz="4500" kern="10">
              <a:ln w="12700">
                <a:solidFill>
                  <a:schemeClr val="tx1"/>
                </a:solidFill>
                <a:rou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什么是溢出</a:t>
            </a:r>
            <a:endParaRPr lang="zh-CN" altLang="en-US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85950" y="897731"/>
            <a:ext cx="5543550" cy="1838325"/>
          </a:xfrm>
          <a:noFill/>
        </p:spPr>
        <p:txBody>
          <a:bodyPr>
            <a:normAutofit fontScale="92500"/>
          </a:bodyPr>
          <a:lstStyle/>
          <a:p>
            <a:pPr marL="0" indent="292735">
              <a:lnSpc>
                <a:spcPct val="80000"/>
              </a:lnSpc>
            </a:pPr>
            <a:r>
              <a:rPr lang="zh-CN" altLang="en-US"/>
              <a:t>处理器内部以补码表示有符号数</a:t>
            </a:r>
            <a:endParaRPr lang="zh-CN" altLang="en-US"/>
          </a:p>
          <a:p>
            <a:pPr marL="0" indent="292735">
              <a:lnSpc>
                <a:spcPct val="80000"/>
              </a:lnSpc>
            </a:pPr>
            <a:r>
              <a:rPr lang="en-US" altLang="zh-CN"/>
              <a:t>8</a:t>
            </a:r>
            <a:r>
              <a:rPr lang="zh-CN" altLang="en-US"/>
              <a:t>位表达的整数范围是：＋</a:t>
            </a:r>
            <a:r>
              <a:rPr lang="en-US" altLang="zh-CN"/>
              <a:t>127 ~ </a:t>
            </a:r>
            <a:r>
              <a:rPr lang="zh-CN" altLang="en-US"/>
              <a:t>－</a:t>
            </a:r>
            <a:r>
              <a:rPr lang="en-US" altLang="zh-CN"/>
              <a:t>128</a:t>
            </a:r>
            <a:endParaRPr lang="en-US" altLang="zh-CN"/>
          </a:p>
          <a:p>
            <a:pPr marL="0" indent="292735">
              <a:lnSpc>
                <a:spcPct val="80000"/>
              </a:lnSpc>
            </a:pPr>
            <a:r>
              <a:rPr lang="en-US" altLang="zh-CN"/>
              <a:t>16</a:t>
            </a:r>
            <a:r>
              <a:rPr lang="zh-CN" altLang="en-US"/>
              <a:t>位表达的范围是：＋</a:t>
            </a:r>
            <a:r>
              <a:rPr lang="en-US" altLang="zh-CN"/>
              <a:t>32767 ~ </a:t>
            </a:r>
            <a:r>
              <a:rPr lang="zh-CN" altLang="en-US"/>
              <a:t>－</a:t>
            </a:r>
            <a:r>
              <a:rPr lang="en-US" altLang="zh-CN"/>
              <a:t>32768</a:t>
            </a:r>
            <a:endParaRPr lang="en-US" altLang="zh-CN"/>
          </a:p>
          <a:p>
            <a:pPr marL="0" indent="292735">
              <a:lnSpc>
                <a:spcPct val="80000"/>
              </a:lnSpc>
            </a:pPr>
            <a:r>
              <a:rPr lang="zh-CN" altLang="en-US"/>
              <a:t>如果运算结果超出这个范围，就产生了溢出</a:t>
            </a:r>
            <a:endParaRPr lang="zh-CN" altLang="en-US"/>
          </a:p>
          <a:p>
            <a:pPr marL="0" indent="292735">
              <a:lnSpc>
                <a:spcPct val="80000"/>
              </a:lnSpc>
            </a:pPr>
            <a:r>
              <a:rPr lang="zh-CN" altLang="en-US"/>
              <a:t>有溢出，说明有符号数的运算结果不正确</a:t>
            </a:r>
            <a:endParaRPr lang="zh-CN" altLang="zh-CN"/>
          </a:p>
        </p:txBody>
      </p:sp>
      <p:pic>
        <p:nvPicPr>
          <p:cNvPr id="131077" name="Picture 5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781301"/>
            <a:ext cx="6506765" cy="3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1404939" y="3055145"/>
            <a:ext cx="6474619" cy="102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sz="2100" b="1">
                <a:solidFill>
                  <a:srgbClr val="0000CC"/>
                </a:solidFill>
              </a:rPr>
              <a:t>3AH</a:t>
            </a:r>
            <a:r>
              <a:rPr lang="zh-CN" altLang="en-US" sz="2100" b="1">
                <a:solidFill>
                  <a:srgbClr val="0000CC"/>
                </a:solidFill>
              </a:rPr>
              <a:t>＋</a:t>
            </a:r>
            <a:r>
              <a:rPr lang="en-US" altLang="zh-CN" sz="2100" b="1">
                <a:solidFill>
                  <a:srgbClr val="0000CC"/>
                </a:solidFill>
              </a:rPr>
              <a:t>7CH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B6H</a:t>
            </a:r>
            <a:r>
              <a:rPr lang="zh-CN" altLang="en-US" sz="2100" b="1">
                <a:solidFill>
                  <a:srgbClr val="0000CC"/>
                </a:solidFill>
              </a:rPr>
              <a:t>，就是</a:t>
            </a:r>
            <a:r>
              <a:rPr lang="en-US" altLang="zh-CN" sz="2100" b="1">
                <a:solidFill>
                  <a:srgbClr val="0000CC"/>
                </a:solidFill>
              </a:rPr>
              <a:t>58</a:t>
            </a:r>
            <a:r>
              <a:rPr lang="zh-CN" altLang="en-US" sz="2100" b="1">
                <a:solidFill>
                  <a:srgbClr val="0000CC"/>
                </a:solidFill>
              </a:rPr>
              <a:t>＋</a:t>
            </a:r>
            <a:r>
              <a:rPr lang="en-US" altLang="zh-CN" sz="2100" b="1">
                <a:solidFill>
                  <a:srgbClr val="0000CC"/>
                </a:solidFill>
              </a:rPr>
              <a:t>124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182</a:t>
            </a:r>
            <a:r>
              <a:rPr lang="zh-CN" altLang="en-US" sz="2100" b="1">
                <a:solidFill>
                  <a:srgbClr val="0000CC"/>
                </a:solidFill>
              </a:rPr>
              <a:t>，</a:t>
            </a:r>
            <a:endParaRPr lang="zh-CN" altLang="en-US" sz="2100" b="1">
              <a:solidFill>
                <a:srgbClr val="0000CC"/>
              </a:solidFill>
            </a:endParaRPr>
          </a:p>
          <a:p>
            <a:r>
              <a:rPr lang="zh-CN" altLang="en-US" sz="2100" b="1">
                <a:solidFill>
                  <a:srgbClr val="0000CC"/>
                </a:solidFill>
              </a:rPr>
              <a:t>已经超出－</a:t>
            </a:r>
            <a:r>
              <a:rPr lang="en-US" altLang="zh-CN" sz="2100" b="1">
                <a:solidFill>
                  <a:srgbClr val="0000CC"/>
                </a:solidFill>
              </a:rPr>
              <a:t>128</a:t>
            </a:r>
            <a:r>
              <a:rPr lang="zh-CN" altLang="en-US" sz="2100" b="1">
                <a:solidFill>
                  <a:srgbClr val="0000CC"/>
                </a:solidFill>
              </a:rPr>
              <a:t>～＋</a:t>
            </a:r>
            <a:r>
              <a:rPr lang="en-US" altLang="zh-CN" sz="2100" b="1">
                <a:solidFill>
                  <a:srgbClr val="0000CC"/>
                </a:solidFill>
              </a:rPr>
              <a:t>127</a:t>
            </a:r>
            <a:r>
              <a:rPr lang="zh-CN" altLang="en-US" sz="2100" b="1">
                <a:solidFill>
                  <a:srgbClr val="0000CC"/>
                </a:solidFill>
              </a:rPr>
              <a:t>范围，产生溢出，故</a:t>
            </a:r>
            <a:r>
              <a:rPr lang="en-US" altLang="zh-CN" sz="2100" b="1">
                <a:solidFill>
                  <a:srgbClr val="0000CC"/>
                </a:solidFill>
              </a:rPr>
              <a:t>OF</a:t>
            </a:r>
            <a:r>
              <a:rPr lang="zh-CN" altLang="en-US" sz="2100" b="1">
                <a:solidFill>
                  <a:srgbClr val="0000CC"/>
                </a:solidFill>
              </a:rPr>
              <a:t>＝</a:t>
            </a:r>
            <a:r>
              <a:rPr lang="en-US" altLang="zh-CN" sz="2100" b="1">
                <a:solidFill>
                  <a:srgbClr val="0000CC"/>
                </a:solidFill>
              </a:rPr>
              <a:t>1</a:t>
            </a:r>
            <a:r>
              <a:rPr lang="zh-CN" altLang="en-US" sz="2100" b="1">
                <a:solidFill>
                  <a:srgbClr val="0000CC"/>
                </a:solidFill>
              </a:rPr>
              <a:t>；补码</a:t>
            </a:r>
            <a:r>
              <a:rPr lang="en-US" altLang="zh-CN" sz="2100" b="1">
                <a:solidFill>
                  <a:srgbClr val="0000CC"/>
                </a:solidFill>
              </a:rPr>
              <a:t>B6H</a:t>
            </a:r>
            <a:r>
              <a:rPr lang="zh-CN" altLang="en-US" sz="2100" b="1">
                <a:solidFill>
                  <a:srgbClr val="0000CC"/>
                </a:solidFill>
              </a:rPr>
              <a:t>表达真值是－</a:t>
            </a:r>
            <a:r>
              <a:rPr lang="en-US" altLang="zh-CN" sz="2100" b="1">
                <a:solidFill>
                  <a:srgbClr val="0000CC"/>
                </a:solidFill>
              </a:rPr>
              <a:t>74</a:t>
            </a:r>
            <a:r>
              <a:rPr lang="zh-CN" altLang="en-US" sz="2100" b="1">
                <a:solidFill>
                  <a:srgbClr val="0000CC"/>
                </a:solidFill>
              </a:rPr>
              <a:t>，显然运算结果也不正确</a:t>
            </a:r>
            <a:endParaRPr lang="zh-CN" altLang="en-US" sz="2100" b="1">
              <a:solidFill>
                <a:srgbClr val="0000CC"/>
              </a:solidFill>
            </a:endParaRPr>
          </a:p>
        </p:txBody>
      </p:sp>
      <p:sp>
        <p:nvSpPr>
          <p:cNvPr id="131079" name="AutoShape 7"/>
          <p:cNvSpPr>
            <a:spLocks noChangeArrowheads="1"/>
          </p:cNvSpPr>
          <p:nvPr/>
        </p:nvSpPr>
        <p:spPr bwMode="auto">
          <a:xfrm>
            <a:off x="1607345" y="1116808"/>
            <a:ext cx="6032897" cy="2607071"/>
          </a:xfrm>
          <a:prstGeom prst="flowChartAlternate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zh-CN" sz="1800" b="1" dirty="0"/>
              <a:t> B6H</a:t>
            </a:r>
            <a:r>
              <a:rPr lang="zh-CN" altLang="en-US" sz="1800" b="1" dirty="0"/>
              <a:t>＝</a:t>
            </a:r>
            <a:r>
              <a:rPr lang="en-US" altLang="zh-CN" sz="1800" b="1" dirty="0"/>
              <a:t>10110110B</a:t>
            </a:r>
            <a:r>
              <a:rPr lang="zh-CN" altLang="en-US" sz="1800" b="1" dirty="0"/>
              <a:t>，最高位为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</a:t>
            </a:r>
            <a:endParaRPr lang="zh-CN" altLang="en-US" sz="1800" b="1" dirty="0"/>
          </a:p>
          <a:p>
            <a:pPr algn="just"/>
            <a:r>
              <a:rPr lang="zh-CN" altLang="en-US" sz="1800" b="1" dirty="0"/>
              <a:t>作为有符号数是负数</a:t>
            </a:r>
            <a:endParaRPr lang="zh-CN" altLang="en-US" sz="1800" b="1" dirty="0"/>
          </a:p>
          <a:p>
            <a:pPr algn="just">
              <a:spcBef>
                <a:spcPct val="20000"/>
              </a:spcBef>
              <a:buFontTx/>
              <a:buChar char="•"/>
            </a:pPr>
            <a:r>
              <a:rPr lang="zh-CN" altLang="en-US" sz="1800" b="1" dirty="0"/>
              <a:t> 对</a:t>
            </a:r>
            <a:r>
              <a:rPr lang="en-US" altLang="zh-CN" sz="1800" b="1" dirty="0"/>
              <a:t>B6H</a:t>
            </a:r>
            <a:r>
              <a:rPr lang="zh-CN" altLang="en-US" sz="1800" b="1" dirty="0"/>
              <a:t>求反加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等于：</a:t>
            </a:r>
            <a:endParaRPr lang="zh-CN" altLang="en-US" sz="1800" b="1" dirty="0"/>
          </a:p>
          <a:p>
            <a:pPr algn="just"/>
            <a:r>
              <a:rPr lang="en-US" altLang="zh-CN" sz="1800" b="1" dirty="0"/>
              <a:t>01001001B</a:t>
            </a:r>
            <a:r>
              <a:rPr lang="zh-CN" altLang="en-US" sz="1800" b="1" dirty="0"/>
              <a:t>＋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＝</a:t>
            </a:r>
            <a:r>
              <a:rPr lang="en-US" altLang="zh-CN" sz="1800" b="1" dirty="0"/>
              <a:t>01001010B</a:t>
            </a:r>
            <a:r>
              <a:rPr lang="zh-CN" altLang="en-US" sz="1800" b="1" dirty="0"/>
              <a:t>＝</a:t>
            </a:r>
            <a:r>
              <a:rPr lang="en-US" altLang="zh-CN" sz="1800" b="1" dirty="0"/>
              <a:t>4AH</a:t>
            </a:r>
            <a:r>
              <a:rPr lang="zh-CN" altLang="en-US" sz="1800" b="1" dirty="0"/>
              <a:t>＝</a:t>
            </a:r>
            <a:r>
              <a:rPr lang="en-US" altLang="zh-CN" sz="1800" b="1" dirty="0"/>
              <a:t>74</a:t>
            </a:r>
            <a:endParaRPr lang="en-US" altLang="zh-CN" sz="1800" b="1" dirty="0"/>
          </a:p>
          <a:p>
            <a:pPr algn="just">
              <a:spcBef>
                <a:spcPct val="20000"/>
              </a:spcBef>
              <a:buFontTx/>
              <a:buChar char="•"/>
            </a:pPr>
            <a:r>
              <a:rPr lang="en-US" altLang="zh-CN" sz="1800" b="1" dirty="0"/>
              <a:t> </a:t>
            </a:r>
            <a:r>
              <a:rPr lang="zh-CN" altLang="en-US" sz="1800" b="1" dirty="0"/>
              <a:t>所以，</a:t>
            </a:r>
            <a:r>
              <a:rPr lang="en-US" altLang="zh-CN" sz="1800" b="1" dirty="0">
                <a:solidFill>
                  <a:srgbClr val="0000FF"/>
                </a:solidFill>
              </a:rPr>
              <a:t>B6H</a:t>
            </a:r>
            <a:r>
              <a:rPr lang="zh-CN" altLang="en-US" sz="1800" b="1" dirty="0">
                <a:solidFill>
                  <a:srgbClr val="0000FF"/>
                </a:solidFill>
              </a:rPr>
              <a:t>表达有符号数的真值为－</a:t>
            </a:r>
            <a:r>
              <a:rPr lang="en-US" altLang="zh-CN" sz="1800" b="1" dirty="0">
                <a:solidFill>
                  <a:srgbClr val="0000FF"/>
                </a:solidFill>
              </a:rPr>
              <a:t>74</a:t>
            </a:r>
            <a:endParaRPr lang="en-US" altLang="zh-CN" sz="1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30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溢出和进位的区别</a:t>
            </a:r>
            <a:endParaRPr lang="zh-CN" altLang="en-US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85951" y="1085851"/>
            <a:ext cx="5578079" cy="2519363"/>
          </a:xfrm>
          <a:noFill/>
        </p:spPr>
        <p:txBody>
          <a:bodyPr/>
          <a:lstStyle/>
          <a:p>
            <a:r>
              <a:rPr lang="zh-CN" altLang="en-US"/>
              <a:t>溢出标志</a:t>
            </a:r>
            <a:r>
              <a:rPr lang="en-US" altLang="zh-CN"/>
              <a:t>OF</a:t>
            </a:r>
            <a:r>
              <a:rPr lang="zh-CN" altLang="en-US"/>
              <a:t>和进位标志</a:t>
            </a:r>
            <a:r>
              <a:rPr lang="en-US" altLang="zh-CN"/>
              <a:t>CF</a:t>
            </a:r>
            <a:r>
              <a:rPr lang="zh-CN" altLang="en-US"/>
              <a:t>是两个意义不同的标志</a:t>
            </a:r>
            <a:endParaRPr lang="zh-CN" altLang="en-US"/>
          </a:p>
          <a:p>
            <a:r>
              <a:rPr lang="zh-CN" altLang="en-US"/>
              <a:t>进位标志表示无符号数运算结果是否超出范围，运算结果仍然正确</a:t>
            </a:r>
            <a:endParaRPr lang="zh-CN" altLang="en-US"/>
          </a:p>
          <a:p>
            <a:r>
              <a:rPr lang="zh-CN" altLang="en-US"/>
              <a:t>溢出标志表示有符号数运算结果是否超出范围，运算结果已经不正确</a:t>
            </a:r>
            <a:endParaRPr lang="zh-CN" altLang="zh-CN"/>
          </a:p>
        </p:txBody>
      </p:sp>
      <p:sp>
        <p:nvSpPr>
          <p:cNvPr id="132103" name="WordArt 7"/>
          <p:cNvSpPr>
            <a:spLocks noChangeArrowheads="1" noChangeShapeType="1" noTextEdit="1"/>
          </p:cNvSpPr>
          <p:nvPr/>
        </p:nvSpPr>
        <p:spPr bwMode="auto">
          <a:xfrm>
            <a:off x="7074694" y="3598070"/>
            <a:ext cx="571500" cy="59293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4500" kern="10">
                <a:ln w="12700">
                  <a:solidFill>
                    <a:schemeClr val="tx1"/>
                  </a:solidFill>
                  <a:rou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？</a:t>
            </a:r>
            <a:endParaRPr lang="zh-CN" altLang="en-US" sz="4500" kern="10">
              <a:ln w="12700">
                <a:solidFill>
                  <a:schemeClr val="tx1"/>
                </a:solidFill>
                <a:rou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溢出和进位的对比</a:t>
            </a:r>
            <a:endParaRPr lang="zh-CN" altLang="en-US"/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1374577" y="1041078"/>
            <a:ext cx="5238750" cy="181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indent="390525" algn="just">
              <a:spcBef>
                <a:spcPct val="20000"/>
              </a:spcBef>
              <a:buBlip>
                <a:blip r:embed="rId1"/>
              </a:buBlip>
              <a:tabLst>
                <a:tab pos="3041650" algn="l"/>
              </a:tabLst>
              <a:defRPr sz="3200" b="1">
                <a:solidFill>
                  <a:schemeClr val="accent2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581025" indent="274955" algn="just">
              <a:spcBef>
                <a:spcPct val="20000"/>
              </a:spcBef>
              <a:buBlip>
                <a:blip r:embed="rId2"/>
              </a:buBlip>
              <a:tabLst>
                <a:tab pos="3041650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278130" algn="just">
              <a:spcBef>
                <a:spcPct val="20000"/>
              </a:spcBef>
              <a:buChar char="•"/>
              <a:tabLst>
                <a:tab pos="3041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0055" indent="205105" algn="just">
              <a:spcBef>
                <a:spcPct val="20000"/>
              </a:spcBef>
              <a:buChar char="–"/>
              <a:tabLst>
                <a:tab pos="3041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4730" indent="76200" algn="just">
              <a:spcBef>
                <a:spcPct val="20000"/>
              </a:spcBef>
              <a:buChar char="»"/>
              <a:tabLst>
                <a:tab pos="3041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19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3041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991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3041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63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3041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35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3041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例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</a:rPr>
              <a:t>3AH</a:t>
            </a:r>
            <a:r>
              <a:rPr lang="zh-CN" altLang="en-US" sz="2400" dirty="0">
                <a:solidFill>
                  <a:schemeClr val="tx1"/>
                </a:solidFill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</a:rPr>
              <a:t>7CH</a:t>
            </a:r>
            <a:r>
              <a:rPr lang="zh-CN" altLang="en-US" sz="2400" dirty="0">
                <a:solidFill>
                  <a:schemeClr val="tx1"/>
                </a:solidFill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</a:rPr>
              <a:t>B6H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无符号数运算：	</a:t>
            </a:r>
            <a:r>
              <a:rPr lang="en-US" altLang="zh-CN" sz="2100" dirty="0">
                <a:solidFill>
                  <a:srgbClr val="0000CC"/>
                </a:solidFill>
              </a:rPr>
              <a:t>58</a:t>
            </a:r>
            <a:r>
              <a:rPr lang="zh-CN" altLang="en-US" sz="2100" dirty="0">
                <a:solidFill>
                  <a:srgbClr val="0000CC"/>
                </a:solidFill>
              </a:rPr>
              <a:t>＋</a:t>
            </a:r>
            <a:r>
              <a:rPr lang="en-US" altLang="zh-CN" sz="2100" dirty="0">
                <a:solidFill>
                  <a:srgbClr val="0000CC"/>
                </a:solidFill>
              </a:rPr>
              <a:t>124</a:t>
            </a:r>
            <a:r>
              <a:rPr lang="zh-CN" altLang="en-US" sz="2100" dirty="0">
                <a:solidFill>
                  <a:srgbClr val="0000CC"/>
                </a:solidFill>
              </a:rPr>
              <a:t>＝</a:t>
            </a:r>
            <a:r>
              <a:rPr lang="en-US" altLang="zh-CN" sz="2100" dirty="0">
                <a:solidFill>
                  <a:srgbClr val="0000CC"/>
                </a:solidFill>
              </a:rPr>
              <a:t>182</a:t>
            </a:r>
            <a:endParaRPr lang="en-US" altLang="zh-CN" sz="2100" dirty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solidFill>
                  <a:srgbClr val="0000CC"/>
                </a:solidFill>
              </a:rPr>
              <a:t>	</a:t>
            </a:r>
            <a:r>
              <a:rPr lang="zh-CN" altLang="en-US" sz="2100" dirty="0">
                <a:solidFill>
                  <a:srgbClr val="0000CC"/>
                </a:solidFill>
              </a:rPr>
              <a:t>范围内，无进位</a:t>
            </a:r>
            <a:endParaRPr lang="zh-CN" altLang="en-US" sz="2100" dirty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100" dirty="0">
                <a:solidFill>
                  <a:srgbClr val="0000CC"/>
                </a:solidFill>
              </a:rPr>
              <a:t>有符号数运算： 	</a:t>
            </a:r>
            <a:r>
              <a:rPr lang="en-US" altLang="zh-CN" sz="2100" dirty="0">
                <a:solidFill>
                  <a:srgbClr val="0000CC"/>
                </a:solidFill>
              </a:rPr>
              <a:t>58</a:t>
            </a:r>
            <a:r>
              <a:rPr lang="zh-CN" altLang="en-US" sz="2100" dirty="0">
                <a:solidFill>
                  <a:srgbClr val="0000CC"/>
                </a:solidFill>
              </a:rPr>
              <a:t>＋</a:t>
            </a:r>
            <a:r>
              <a:rPr lang="en-US" altLang="zh-CN" sz="2100" dirty="0">
                <a:solidFill>
                  <a:srgbClr val="0000CC"/>
                </a:solidFill>
              </a:rPr>
              <a:t>124</a:t>
            </a:r>
            <a:r>
              <a:rPr lang="zh-CN" altLang="en-US" sz="2100" dirty="0">
                <a:solidFill>
                  <a:srgbClr val="0000CC"/>
                </a:solidFill>
              </a:rPr>
              <a:t>＝</a:t>
            </a:r>
            <a:r>
              <a:rPr lang="en-US" altLang="zh-CN" sz="2100" dirty="0">
                <a:solidFill>
                  <a:srgbClr val="0000CC"/>
                </a:solidFill>
              </a:rPr>
              <a:t>182</a:t>
            </a:r>
            <a:endParaRPr lang="en-US" altLang="zh-CN" sz="2100" dirty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solidFill>
                  <a:srgbClr val="0000CC"/>
                </a:solidFill>
              </a:rPr>
              <a:t>	</a:t>
            </a:r>
            <a:r>
              <a:rPr lang="zh-CN" altLang="en-US" sz="2100" dirty="0">
                <a:solidFill>
                  <a:srgbClr val="0000CC"/>
                </a:solidFill>
              </a:rPr>
              <a:t>范围外，有溢出</a:t>
            </a:r>
            <a:endParaRPr lang="zh-CN" altLang="zh-CN" sz="2100" dirty="0">
              <a:solidFill>
                <a:srgbClr val="0000CC"/>
              </a:solidFill>
            </a:endParaRPr>
          </a:p>
        </p:txBody>
      </p:sp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1494682" y="2985367"/>
            <a:ext cx="5990183" cy="1777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indent="390525"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81025" indent="274955"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278130"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0055" indent="205105"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4730" indent="76200"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1930" indent="76200" fontAlgn="base">
              <a:spcBef>
                <a:spcPct val="0"/>
              </a:spcBef>
              <a:spcAft>
                <a:spcPct val="0"/>
              </a:spcAft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99130" indent="76200" fontAlgn="base">
              <a:spcBef>
                <a:spcPct val="0"/>
              </a:spcBef>
              <a:spcAft>
                <a:spcPct val="0"/>
              </a:spcAft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6330" indent="76200" fontAlgn="base">
              <a:spcBef>
                <a:spcPct val="0"/>
              </a:spcBef>
              <a:spcAft>
                <a:spcPct val="0"/>
              </a:spcAft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3530" indent="76200" fontAlgn="base">
              <a:spcBef>
                <a:spcPct val="0"/>
              </a:spcBef>
              <a:spcAft>
                <a:spcPct val="0"/>
              </a:spcAft>
              <a:tabLst>
                <a:tab pos="3041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1800" b="1" dirty="0"/>
              <a:t>例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AAH</a:t>
            </a:r>
            <a:r>
              <a:rPr lang="zh-CN" altLang="en-US" sz="1800" b="1" dirty="0"/>
              <a:t>＋</a:t>
            </a:r>
            <a:r>
              <a:rPr lang="en-US" altLang="zh-CN" sz="1800" b="1" dirty="0"/>
              <a:t>7CH</a:t>
            </a:r>
            <a:r>
              <a:rPr lang="zh-CN" altLang="en-US" sz="1800" b="1" dirty="0"/>
              <a:t>＝（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26H</a:t>
            </a:r>
            <a:endParaRPr lang="en-US" altLang="zh-CN" sz="1800" b="1" dirty="0"/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100" b="1" dirty="0">
                <a:solidFill>
                  <a:srgbClr val="0000CC"/>
                </a:solidFill>
              </a:rPr>
              <a:t>无符号数运算：	</a:t>
            </a:r>
            <a:r>
              <a:rPr lang="en-US" altLang="zh-CN" sz="2100" b="1" dirty="0">
                <a:solidFill>
                  <a:srgbClr val="0000CC"/>
                </a:solidFill>
              </a:rPr>
              <a:t>170</a:t>
            </a:r>
            <a:r>
              <a:rPr lang="zh-CN" altLang="en-US" sz="2100" b="1" dirty="0">
                <a:solidFill>
                  <a:srgbClr val="0000CC"/>
                </a:solidFill>
              </a:rPr>
              <a:t>＋</a:t>
            </a:r>
            <a:r>
              <a:rPr lang="en-US" altLang="zh-CN" sz="2100" b="1" dirty="0">
                <a:solidFill>
                  <a:srgbClr val="0000CC"/>
                </a:solidFill>
              </a:rPr>
              <a:t>124</a:t>
            </a:r>
            <a:r>
              <a:rPr lang="zh-CN" altLang="en-US" sz="2100" b="1" dirty="0">
                <a:solidFill>
                  <a:srgbClr val="0000CC"/>
                </a:solidFill>
              </a:rPr>
              <a:t>＝</a:t>
            </a:r>
            <a:r>
              <a:rPr lang="en-US" altLang="zh-CN" sz="2100" b="1" dirty="0">
                <a:solidFill>
                  <a:srgbClr val="0000CC"/>
                </a:solidFill>
              </a:rPr>
              <a:t>294</a:t>
            </a:r>
            <a:endParaRPr lang="en-US" altLang="zh-CN" sz="2100" b="1" dirty="0">
              <a:solidFill>
                <a:srgbClr val="0000CC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</a:rPr>
              <a:t>	</a:t>
            </a:r>
            <a:r>
              <a:rPr lang="zh-CN" altLang="en-US" sz="2100" b="1" dirty="0">
                <a:solidFill>
                  <a:srgbClr val="0000CC"/>
                </a:solidFill>
              </a:rPr>
              <a:t>范围外，有进位</a:t>
            </a:r>
            <a:endParaRPr lang="zh-CN" altLang="en-US" sz="2100" b="1" dirty="0">
              <a:solidFill>
                <a:srgbClr val="0000CC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100" b="1" dirty="0">
                <a:solidFill>
                  <a:srgbClr val="0000CC"/>
                </a:solidFill>
              </a:rPr>
              <a:t>有符号数运算：	－</a:t>
            </a:r>
            <a:r>
              <a:rPr lang="en-US" altLang="zh-CN" sz="2100" b="1" dirty="0">
                <a:solidFill>
                  <a:srgbClr val="0000CC"/>
                </a:solidFill>
              </a:rPr>
              <a:t>86</a:t>
            </a:r>
            <a:r>
              <a:rPr lang="zh-CN" altLang="en-US" sz="2100" b="1" dirty="0">
                <a:solidFill>
                  <a:srgbClr val="0000CC"/>
                </a:solidFill>
              </a:rPr>
              <a:t>＋</a:t>
            </a:r>
            <a:r>
              <a:rPr lang="en-US" altLang="zh-CN" sz="2100" b="1" dirty="0">
                <a:solidFill>
                  <a:srgbClr val="0000CC"/>
                </a:solidFill>
              </a:rPr>
              <a:t>124</a:t>
            </a:r>
            <a:r>
              <a:rPr lang="zh-CN" altLang="en-US" sz="2100" b="1" dirty="0">
                <a:solidFill>
                  <a:srgbClr val="0000CC"/>
                </a:solidFill>
              </a:rPr>
              <a:t>＝</a:t>
            </a:r>
            <a:r>
              <a:rPr lang="en-US" altLang="zh-CN" sz="2100" b="1" dirty="0">
                <a:solidFill>
                  <a:srgbClr val="0000CC"/>
                </a:solidFill>
              </a:rPr>
              <a:t>28</a:t>
            </a:r>
            <a:endParaRPr lang="en-US" altLang="zh-CN" sz="2100" b="1" dirty="0">
              <a:solidFill>
                <a:srgbClr val="0000CC"/>
              </a:solidFill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sz="2100" b="1" dirty="0">
                <a:solidFill>
                  <a:srgbClr val="0000CC"/>
                </a:solidFill>
              </a:rPr>
              <a:t>	</a:t>
            </a:r>
            <a:r>
              <a:rPr lang="zh-CN" altLang="en-US" sz="2100" b="1" dirty="0">
                <a:solidFill>
                  <a:srgbClr val="0000CC"/>
                </a:solidFill>
              </a:rPr>
              <a:t>范围内，无溢出</a:t>
            </a:r>
            <a:endParaRPr lang="zh-CN" altLang="zh-CN" sz="2100" b="1" dirty="0">
              <a:solidFill>
                <a:srgbClr val="0000CC"/>
              </a:solidFill>
            </a:endParaRPr>
          </a:p>
        </p:txBody>
      </p:sp>
      <p:pic>
        <p:nvPicPr>
          <p:cNvPr id="133126" name="Picture 6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617" y="2931791"/>
            <a:ext cx="6506766" cy="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溢出和进位的应用场合</a:t>
            </a:r>
            <a:endParaRPr lang="zh-CN" altLang="en-US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203599"/>
            <a:ext cx="6172200" cy="3420790"/>
          </a:xfrm>
        </p:spPr>
        <p:txBody>
          <a:bodyPr/>
          <a:lstStyle/>
          <a:p>
            <a:r>
              <a:rPr lang="zh-CN" altLang="en-US" dirty="0"/>
              <a:t>处理器对两个操作数进行运算时，按照无符号数求得结果，并相应设置进位标志</a:t>
            </a:r>
            <a:r>
              <a:rPr lang="en-US" altLang="zh-CN" dirty="0"/>
              <a:t>CF</a:t>
            </a:r>
            <a:r>
              <a:rPr lang="zh-CN" altLang="en-US" dirty="0"/>
              <a:t>；同时，根据是否超出有符号数的范围设置溢出标志</a:t>
            </a:r>
            <a:r>
              <a:rPr lang="en-US" altLang="zh-CN" dirty="0"/>
              <a:t>OF</a:t>
            </a:r>
            <a:endParaRPr lang="en-US" altLang="zh-CN" dirty="0"/>
          </a:p>
          <a:p>
            <a:r>
              <a:rPr lang="zh-CN" altLang="en-US" dirty="0"/>
              <a:t>应该利用哪个标志，则</a:t>
            </a:r>
            <a:r>
              <a:rPr lang="zh-CN" altLang="en-US" dirty="0">
                <a:solidFill>
                  <a:schemeClr val="accent5"/>
                </a:solidFill>
              </a:rPr>
              <a:t>由程序员来决定</a:t>
            </a:r>
            <a:r>
              <a:rPr lang="zh-CN" altLang="en-US" dirty="0"/>
              <a:t>。也就是说，如果将参加运算的操作数认为是无符号数，就应该关心进位；认为是有符号数，则要注意是否溢出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溢出的判断</a:t>
            </a:r>
            <a:endParaRPr lang="zh-CN" altLang="en-US"/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1131591"/>
            <a:ext cx="6172200" cy="2184301"/>
          </a:xfrm>
        </p:spPr>
        <p:txBody>
          <a:bodyPr/>
          <a:lstStyle/>
          <a:p>
            <a:r>
              <a:rPr lang="zh-CN" altLang="en-US" dirty="0"/>
              <a:t>判断运算结果是否溢出有一个简单的规则：</a:t>
            </a:r>
            <a:endParaRPr lang="zh-CN" altLang="en-US" dirty="0"/>
          </a:p>
          <a:p>
            <a:r>
              <a:rPr lang="zh-CN" altLang="en-US" dirty="0"/>
              <a:t>只有当两个相同符号数相加（包括不同符号数相减），而运算结果的符号与原数据符号相反时，产生溢出；因为，此时的运算结果显然不正确</a:t>
            </a:r>
            <a:endParaRPr lang="zh-CN" altLang="en-US" dirty="0"/>
          </a:p>
          <a:p>
            <a:r>
              <a:rPr lang="zh-CN" altLang="en-US" dirty="0"/>
              <a:t>其他情况下，则不会产生溢出</a:t>
            </a:r>
            <a:endParaRPr lang="zh-CN" altLang="en-US" dirty="0"/>
          </a:p>
        </p:txBody>
      </p:sp>
      <p:sp>
        <p:nvSpPr>
          <p:cNvPr id="292868" name="Rectangle 4"/>
          <p:cNvSpPr>
            <a:spLocks noChangeArrowheads="1"/>
          </p:cNvSpPr>
          <p:nvPr/>
        </p:nvSpPr>
        <p:spPr bwMode="auto">
          <a:xfrm>
            <a:off x="633846" y="2987278"/>
            <a:ext cx="7610563" cy="143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indent="390525" algn="just">
              <a:spcBef>
                <a:spcPct val="20000"/>
              </a:spcBef>
              <a:buBlip>
                <a:blip r:embed="rId1"/>
              </a:buBlip>
              <a:tabLst>
                <a:tab pos="6362700" algn="l"/>
              </a:tabLst>
              <a:defRPr sz="3200" b="1">
                <a:solidFill>
                  <a:schemeClr val="accent2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581025" indent="274955" algn="just">
              <a:spcBef>
                <a:spcPct val="20000"/>
              </a:spcBef>
              <a:buBlip>
                <a:blip r:embed="rId2"/>
              </a:buBlip>
              <a:tabLst>
                <a:tab pos="6362700" algn="l"/>
              </a:tabLs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2525" indent="278130" algn="just">
              <a:spcBef>
                <a:spcPct val="20000"/>
              </a:spcBef>
              <a:buChar char="•"/>
              <a:tabLst>
                <a:tab pos="6362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0055" indent="205105" algn="just">
              <a:spcBef>
                <a:spcPct val="20000"/>
              </a:spcBef>
              <a:buChar char="–"/>
              <a:tabLst>
                <a:tab pos="6362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4730" indent="76200" algn="just">
              <a:spcBef>
                <a:spcPct val="20000"/>
              </a:spcBef>
              <a:buChar char="»"/>
              <a:tabLst>
                <a:tab pos="6362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19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6362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991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6362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63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6362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3530" indent="76200" algn="just" fontAlgn="base">
              <a:spcBef>
                <a:spcPct val="20000"/>
              </a:spcBef>
              <a:spcAft>
                <a:spcPct val="0"/>
              </a:spcAft>
              <a:buChar char="»"/>
              <a:tabLst>
                <a:tab pos="6362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例</a:t>
            </a:r>
            <a:r>
              <a:rPr lang="en-US" altLang="zh-CN" sz="2100" dirty="0">
                <a:solidFill>
                  <a:schemeClr val="tx1"/>
                </a:solidFill>
              </a:rPr>
              <a:t>1</a:t>
            </a:r>
            <a:r>
              <a:rPr lang="zh-CN" altLang="en-US" sz="2100" dirty="0">
                <a:solidFill>
                  <a:schemeClr val="tx1"/>
                </a:solidFill>
              </a:rPr>
              <a:t>：</a:t>
            </a:r>
            <a:r>
              <a:rPr lang="en-US" altLang="zh-CN" sz="2100" dirty="0">
                <a:solidFill>
                  <a:schemeClr val="tx1"/>
                </a:solidFill>
              </a:rPr>
              <a:t>3AH</a:t>
            </a:r>
            <a:r>
              <a:rPr lang="zh-CN" altLang="en-US" sz="2100" dirty="0">
                <a:solidFill>
                  <a:schemeClr val="tx1"/>
                </a:solidFill>
              </a:rPr>
              <a:t>＋</a:t>
            </a:r>
            <a:r>
              <a:rPr lang="en-US" altLang="zh-CN" sz="2100" dirty="0">
                <a:solidFill>
                  <a:schemeClr val="tx1"/>
                </a:solidFill>
              </a:rPr>
              <a:t>7CH</a:t>
            </a:r>
            <a:r>
              <a:rPr lang="zh-CN" altLang="en-US" sz="2100" dirty="0">
                <a:solidFill>
                  <a:schemeClr val="tx1"/>
                </a:solidFill>
              </a:rPr>
              <a:t>＝</a:t>
            </a:r>
            <a:r>
              <a:rPr lang="en-US" altLang="zh-CN" sz="2100" dirty="0">
                <a:solidFill>
                  <a:schemeClr val="tx1"/>
                </a:solidFill>
              </a:rPr>
              <a:t>B6H	</a:t>
            </a:r>
            <a:r>
              <a:rPr lang="zh-CN" altLang="en-US" sz="2100" dirty="0">
                <a:solidFill>
                  <a:srgbClr val="0000CC"/>
                </a:solidFill>
              </a:rPr>
              <a:t>溢出</a:t>
            </a:r>
            <a:endParaRPr lang="zh-CN" altLang="en-US" sz="2100" dirty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例</a:t>
            </a:r>
            <a:r>
              <a:rPr lang="en-US" altLang="zh-CN" sz="2100" dirty="0">
                <a:solidFill>
                  <a:schemeClr val="tx1"/>
                </a:solidFill>
              </a:rPr>
              <a:t>2</a:t>
            </a:r>
            <a:r>
              <a:rPr lang="zh-CN" altLang="en-US" sz="2100" dirty="0">
                <a:solidFill>
                  <a:schemeClr val="tx1"/>
                </a:solidFill>
              </a:rPr>
              <a:t>：</a:t>
            </a:r>
            <a:r>
              <a:rPr lang="en-US" altLang="zh-CN" sz="2100" dirty="0">
                <a:solidFill>
                  <a:schemeClr val="tx1"/>
                </a:solidFill>
              </a:rPr>
              <a:t>AAH</a:t>
            </a:r>
            <a:r>
              <a:rPr lang="zh-CN" altLang="en-US" sz="2100" dirty="0">
                <a:solidFill>
                  <a:schemeClr val="tx1"/>
                </a:solidFill>
              </a:rPr>
              <a:t>＋</a:t>
            </a:r>
            <a:r>
              <a:rPr lang="en-US" altLang="zh-CN" sz="2100" dirty="0">
                <a:solidFill>
                  <a:schemeClr val="tx1"/>
                </a:solidFill>
              </a:rPr>
              <a:t>7CH	</a:t>
            </a:r>
            <a:r>
              <a:rPr lang="zh-CN" altLang="en-US" sz="2100" dirty="0">
                <a:solidFill>
                  <a:srgbClr val="0000CC"/>
                </a:solidFill>
              </a:rPr>
              <a:t>无溢出</a:t>
            </a:r>
            <a:endParaRPr lang="zh-CN" altLang="en-US" sz="2100" dirty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例</a:t>
            </a:r>
            <a:r>
              <a:rPr lang="en-US" altLang="zh-CN" sz="2100" dirty="0">
                <a:solidFill>
                  <a:schemeClr val="tx1"/>
                </a:solidFill>
              </a:rPr>
              <a:t>3</a:t>
            </a:r>
            <a:r>
              <a:rPr lang="zh-CN" altLang="en-US" sz="2100" dirty="0">
                <a:solidFill>
                  <a:schemeClr val="tx1"/>
                </a:solidFill>
              </a:rPr>
              <a:t>：</a:t>
            </a:r>
            <a:r>
              <a:rPr lang="en-US" altLang="zh-CN" sz="2100" dirty="0">
                <a:solidFill>
                  <a:schemeClr val="tx1"/>
                </a:solidFill>
              </a:rPr>
              <a:t>3AH</a:t>
            </a:r>
            <a:r>
              <a:rPr lang="zh-CN" altLang="en-US" sz="2100" dirty="0">
                <a:solidFill>
                  <a:schemeClr val="tx1"/>
                </a:solidFill>
              </a:rPr>
              <a:t>－</a:t>
            </a:r>
            <a:r>
              <a:rPr lang="en-US" altLang="zh-CN" sz="2100" dirty="0">
                <a:solidFill>
                  <a:schemeClr val="tx1"/>
                </a:solidFill>
              </a:rPr>
              <a:t>7CH	</a:t>
            </a:r>
            <a:r>
              <a:rPr lang="zh-CN" altLang="en-US" sz="2100" dirty="0">
                <a:solidFill>
                  <a:srgbClr val="0000CC"/>
                </a:solidFill>
              </a:rPr>
              <a:t>无溢出</a:t>
            </a:r>
            <a:endParaRPr lang="zh-CN" altLang="en-US" sz="2100" dirty="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100" dirty="0">
                <a:solidFill>
                  <a:schemeClr val="tx1"/>
                </a:solidFill>
              </a:rPr>
              <a:t>例</a:t>
            </a:r>
            <a:r>
              <a:rPr lang="en-US" altLang="zh-CN" sz="2100" dirty="0">
                <a:solidFill>
                  <a:schemeClr val="tx1"/>
                </a:solidFill>
              </a:rPr>
              <a:t>4</a:t>
            </a:r>
            <a:r>
              <a:rPr lang="zh-CN" altLang="en-US" sz="2100" dirty="0">
                <a:solidFill>
                  <a:schemeClr val="tx1"/>
                </a:solidFill>
              </a:rPr>
              <a:t>：</a:t>
            </a:r>
            <a:r>
              <a:rPr lang="en-US" altLang="zh-CN" sz="2100" dirty="0">
                <a:solidFill>
                  <a:schemeClr val="tx1"/>
                </a:solidFill>
              </a:rPr>
              <a:t>AAH</a:t>
            </a:r>
            <a:r>
              <a:rPr lang="zh-CN" altLang="en-US" sz="2100" dirty="0">
                <a:solidFill>
                  <a:schemeClr val="tx1"/>
                </a:solidFill>
              </a:rPr>
              <a:t>－</a:t>
            </a:r>
            <a:r>
              <a:rPr lang="en-US" altLang="zh-CN" sz="2100" dirty="0">
                <a:solidFill>
                  <a:schemeClr val="tx1"/>
                </a:solidFill>
              </a:rPr>
              <a:t>7CH</a:t>
            </a:r>
            <a:r>
              <a:rPr lang="zh-CN" altLang="en-US" sz="2100" dirty="0">
                <a:solidFill>
                  <a:schemeClr val="tx1"/>
                </a:solidFill>
              </a:rPr>
              <a:t>＝</a:t>
            </a:r>
            <a:r>
              <a:rPr lang="en-US" altLang="zh-CN" sz="2100" dirty="0">
                <a:solidFill>
                  <a:schemeClr val="tx1"/>
                </a:solidFill>
              </a:rPr>
              <a:t>2DH	</a:t>
            </a:r>
            <a:r>
              <a:rPr lang="zh-CN" altLang="en-US" sz="2100" dirty="0">
                <a:solidFill>
                  <a:srgbClr val="0000CC"/>
                </a:solidFill>
              </a:rPr>
              <a:t>溢出</a:t>
            </a:r>
            <a:endParaRPr lang="zh-CN" altLang="zh-CN" sz="21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51" name="Picture 7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593182"/>
            <a:ext cx="6506765" cy="3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辅助进位标志</a:t>
            </a:r>
            <a:r>
              <a:rPr lang="en-US" altLang="zh-CN"/>
              <a:t>AF</a:t>
            </a:r>
            <a:r>
              <a:rPr lang="zh-CN" altLang="en-US"/>
              <a:t>（</a:t>
            </a:r>
            <a:r>
              <a:rPr lang="en-US" altLang="zh-CN"/>
              <a:t>Auxiliary Carry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85938" y="3303985"/>
            <a:ext cx="5543550" cy="742950"/>
          </a:xfrm>
          <a:noFill/>
        </p:spPr>
        <p:txBody>
          <a:bodyPr/>
          <a:lstStyle/>
          <a:p>
            <a:pPr>
              <a:lnSpc>
                <a:spcPct val="170000"/>
              </a:lnSpc>
              <a:buFontTx/>
              <a:buNone/>
            </a:pPr>
            <a:r>
              <a:rPr lang="en-US" altLang="zh-CN"/>
              <a:t>3AH</a:t>
            </a:r>
            <a:r>
              <a:rPr lang="zh-CN" altLang="en-US"/>
              <a:t>＋</a:t>
            </a:r>
            <a:r>
              <a:rPr lang="en-US" altLang="zh-CN"/>
              <a:t>7CH</a:t>
            </a:r>
            <a:r>
              <a:rPr lang="zh-CN" altLang="en-US"/>
              <a:t>＝</a:t>
            </a:r>
            <a:r>
              <a:rPr lang="en-US" altLang="zh-CN"/>
              <a:t>B6H</a:t>
            </a:r>
            <a:r>
              <a:rPr lang="zh-CN" altLang="en-US"/>
              <a:t>，</a:t>
            </a:r>
            <a:r>
              <a:rPr lang="en-US" altLang="zh-CN"/>
              <a:t>D3</a:t>
            </a:r>
            <a:r>
              <a:rPr lang="zh-CN" altLang="en-US"/>
              <a:t>有进位：</a:t>
            </a:r>
            <a:r>
              <a:rPr lang="en-US" altLang="zh-CN"/>
              <a:t>AF</a:t>
            </a:r>
            <a:r>
              <a:rPr lang="zh-CN" altLang="en-US"/>
              <a:t>＝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4149" name="Rectangle 5"/>
          <p:cNvSpPr>
            <a:spLocks noChangeArrowheads="1"/>
          </p:cNvSpPr>
          <p:nvPr/>
        </p:nvSpPr>
        <p:spPr bwMode="auto">
          <a:xfrm>
            <a:off x="1619672" y="1268492"/>
            <a:ext cx="55435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宋体" panose="02010600030101010101" pitchFamily="2" charset="-122"/>
              </a:rPr>
              <a:t>运算时</a:t>
            </a:r>
            <a:r>
              <a:rPr lang="en-US" altLang="zh-CN" sz="2700" b="1" dirty="0">
                <a:latin typeface="宋体" panose="02010600030101010101" pitchFamily="2" charset="-122"/>
              </a:rPr>
              <a:t>D</a:t>
            </a:r>
            <a:r>
              <a:rPr lang="en-US" altLang="zh-CN" sz="2700" b="1" baseline="-25000" dirty="0">
                <a:latin typeface="宋体" panose="02010600030101010101" pitchFamily="2" charset="-122"/>
              </a:rPr>
              <a:t>3</a:t>
            </a:r>
            <a:r>
              <a:rPr lang="zh-CN" altLang="en-US" sz="2700" b="1" dirty="0">
                <a:latin typeface="宋体" panose="02010600030101010101" pitchFamily="2" charset="-122"/>
              </a:rPr>
              <a:t>位（低半字节）有进位或借位时，</a:t>
            </a:r>
            <a:r>
              <a:rPr lang="en-US" altLang="zh-CN" sz="2700" b="1" dirty="0">
                <a:latin typeface="宋体" panose="02010600030101010101" pitchFamily="2" charset="-122"/>
              </a:rPr>
              <a:t>AF</a:t>
            </a:r>
            <a:r>
              <a:rPr lang="zh-CN" altLang="en-US" sz="2700" b="1" dirty="0">
                <a:latin typeface="宋体" panose="02010600030101010101" pitchFamily="2" charset="-122"/>
              </a:rPr>
              <a:t>＝</a:t>
            </a:r>
            <a:r>
              <a:rPr lang="en-US" altLang="zh-CN" sz="2700" b="1" dirty="0">
                <a:latin typeface="宋体" panose="02010600030101010101" pitchFamily="2" charset="-122"/>
              </a:rPr>
              <a:t>1</a:t>
            </a:r>
            <a:r>
              <a:rPr lang="zh-CN" altLang="en-US" sz="2700" b="1" dirty="0">
                <a:latin typeface="宋体" panose="02010600030101010101" pitchFamily="2" charset="-122"/>
              </a:rPr>
              <a:t>；否则</a:t>
            </a:r>
            <a:r>
              <a:rPr lang="en-US" altLang="zh-CN" sz="2700" b="1" dirty="0">
                <a:latin typeface="宋体" panose="02010600030101010101" pitchFamily="2" charset="-122"/>
              </a:rPr>
              <a:t>AF</a:t>
            </a:r>
            <a:r>
              <a:rPr lang="zh-CN" altLang="en-US" sz="2700" b="1" dirty="0">
                <a:latin typeface="宋体" panose="02010600030101010101" pitchFamily="2" charset="-122"/>
              </a:rPr>
              <a:t>＝</a:t>
            </a:r>
            <a:r>
              <a:rPr lang="en-US" altLang="zh-CN" sz="2700" b="1" dirty="0">
                <a:latin typeface="宋体" panose="02010600030101010101" pitchFamily="2" charset="-122"/>
              </a:rPr>
              <a:t>0</a:t>
            </a:r>
            <a:endParaRPr lang="en-US" altLang="zh-CN" sz="27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方向标志</a:t>
            </a:r>
            <a:r>
              <a:rPr lang="en-US" altLang="zh-CN"/>
              <a:t>DF</a:t>
            </a:r>
            <a:r>
              <a:rPr lang="zh-CN" altLang="en-US"/>
              <a:t>（</a:t>
            </a:r>
            <a:r>
              <a:rPr lang="en-US" altLang="zh-CN"/>
              <a:t>Direction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37098" y="1170385"/>
            <a:ext cx="6217444" cy="1257300"/>
          </a:xfrm>
          <a:noFill/>
        </p:spPr>
        <p:txBody>
          <a:bodyPr/>
          <a:lstStyle/>
          <a:p>
            <a:r>
              <a:rPr lang="zh-CN" altLang="en-US" dirty="0"/>
              <a:t>用于串操作指令中，控制地址的变化方向：</a:t>
            </a:r>
            <a:endParaRPr lang="zh-CN" altLang="en-US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/>
              <a:t>DF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，存储器地址自动增加；</a:t>
            </a:r>
            <a:endParaRPr lang="zh-CN" altLang="en-US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/>
              <a:t>DF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，存储器地址自动减少</a:t>
            </a:r>
            <a:endParaRPr lang="zh-CN" altLang="en-US" dirty="0"/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138363" y="2605088"/>
            <a:ext cx="491490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sz="1800" b="1">
                <a:solidFill>
                  <a:srgbClr val="339933"/>
                </a:solidFill>
                <a:latin typeface="宋体" panose="02010600030101010101" pitchFamily="2" charset="-122"/>
              </a:rPr>
              <a:t>CLD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指令复位方向标志：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DF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0</a:t>
            </a:r>
            <a:endParaRPr lang="en-US" altLang="zh-CN" sz="1800" b="1">
              <a:solidFill>
                <a:srgbClr val="0000CC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sz="1800" b="1">
                <a:solidFill>
                  <a:srgbClr val="339933"/>
                </a:solidFill>
                <a:latin typeface="宋体" panose="02010600030101010101" pitchFamily="2" charset="-122"/>
              </a:rPr>
              <a:t>STD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指令置位方向标志：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DF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1</a:t>
            </a:r>
            <a:endParaRPr lang="en-US" altLang="zh-CN" sz="1800" b="1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pic>
        <p:nvPicPr>
          <p:cNvPr id="135174" name="Picture 6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36" y="2355057"/>
            <a:ext cx="6506765" cy="3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中断允许标志</a:t>
            </a:r>
            <a:r>
              <a:rPr lang="en-US" altLang="zh-CN"/>
              <a:t>IF</a:t>
            </a:r>
            <a:r>
              <a:rPr lang="zh-CN" altLang="en-US"/>
              <a:t>（</a:t>
            </a:r>
            <a:r>
              <a:rPr lang="en-US" altLang="zh-CN"/>
              <a:t>Interrupt-enable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408510" y="1268493"/>
            <a:ext cx="6393656" cy="1123474"/>
          </a:xfrm>
          <a:noFill/>
        </p:spPr>
        <p:txBody>
          <a:bodyPr/>
          <a:lstStyle/>
          <a:p>
            <a:r>
              <a:rPr lang="zh-CN" altLang="en-US" dirty="0"/>
              <a:t>控制可屏蔽中断是否可以被处理器响应：</a:t>
            </a:r>
            <a:endParaRPr lang="zh-CN" altLang="en-US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/>
              <a:t>IF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，则允许中断；</a:t>
            </a:r>
            <a:endParaRPr lang="zh-CN" altLang="en-US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/>
              <a:t>IF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，则禁止中断</a:t>
            </a:r>
            <a:endParaRPr lang="zh-CN" altLang="en-US" dirty="0"/>
          </a:p>
        </p:txBody>
      </p:sp>
      <p:pic>
        <p:nvPicPr>
          <p:cNvPr id="136197" name="Picture 5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118" y="2537223"/>
            <a:ext cx="6506765" cy="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198" name="Rectangle 6"/>
          <p:cNvSpPr>
            <a:spLocks noChangeArrowheads="1"/>
          </p:cNvSpPr>
          <p:nvPr/>
        </p:nvSpPr>
        <p:spPr bwMode="auto">
          <a:xfrm>
            <a:off x="2087166" y="2784872"/>
            <a:ext cx="49149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CLI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指令复位中断标志：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IF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0</a:t>
            </a:r>
            <a:endParaRPr lang="en-US" altLang="zh-CN" sz="1800" b="1">
              <a:solidFill>
                <a:srgbClr val="0000CC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STI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指令置位中断标志：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IF</a:t>
            </a:r>
            <a:r>
              <a:rPr lang="zh-CN" altLang="en-US" sz="1800" b="1">
                <a:solidFill>
                  <a:srgbClr val="0000CC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800" b="1">
                <a:solidFill>
                  <a:srgbClr val="0000CC"/>
                </a:solidFill>
                <a:latin typeface="宋体" panose="02010600030101010101" pitchFamily="2" charset="-122"/>
              </a:rPr>
              <a:t>1</a:t>
            </a:r>
            <a:endParaRPr lang="en-US" altLang="zh-CN" sz="1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陷阱标志</a:t>
            </a:r>
            <a:r>
              <a:rPr lang="en-US" altLang="zh-CN"/>
              <a:t>TF</a:t>
            </a:r>
            <a:r>
              <a:rPr lang="zh-CN" altLang="en-US"/>
              <a:t>（</a:t>
            </a:r>
            <a:r>
              <a:rPr lang="en-US" altLang="zh-CN"/>
              <a:t>Trap Flag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85950" y="1059583"/>
            <a:ext cx="5543550" cy="1107356"/>
          </a:xfrm>
          <a:noFill/>
        </p:spPr>
        <p:txBody>
          <a:bodyPr/>
          <a:lstStyle/>
          <a:p>
            <a:r>
              <a:rPr lang="zh-CN" altLang="en-US" dirty="0"/>
              <a:t>用于控制处理器进入单步操作方式：</a:t>
            </a:r>
            <a:endParaRPr lang="zh-CN" altLang="en-US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/>
              <a:t>TF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，处理器正常工作；</a:t>
            </a:r>
            <a:endParaRPr lang="zh-CN" altLang="en-US" dirty="0"/>
          </a:p>
          <a:p>
            <a:pPr lvl="1"/>
            <a:r>
              <a:rPr lang="zh-CN" altLang="en-US" dirty="0"/>
              <a:t>设置</a:t>
            </a:r>
            <a:r>
              <a:rPr lang="en-US" altLang="zh-CN" dirty="0"/>
              <a:t>TF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，处理器</a:t>
            </a:r>
            <a:r>
              <a:rPr lang="zh-CN" altLang="en-US" dirty="0">
                <a:solidFill>
                  <a:srgbClr val="0000FF"/>
                </a:solidFill>
              </a:rPr>
              <a:t>单步执行指令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1187625" y="2311004"/>
            <a:ext cx="6768752" cy="231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单步执行指令</a:t>
            </a:r>
            <a:r>
              <a:rPr lang="en-US" altLang="zh-CN" sz="2100" b="1" dirty="0">
                <a:solidFill>
                  <a:schemeClr val="accent2"/>
                </a:solidFill>
              </a:rPr>
              <a:t>——</a:t>
            </a:r>
            <a:r>
              <a:rPr lang="zh-CN" altLang="en-US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处理器在每条指令执行结束时，便产生一个编号为</a:t>
            </a:r>
            <a:r>
              <a:rPr lang="en-US" altLang="zh-CN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的内部中断</a:t>
            </a:r>
            <a:endParaRPr lang="zh-CN" altLang="en-US" sz="21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100" b="1" dirty="0">
                <a:latin typeface="宋体" panose="02010600030101010101" pitchFamily="2" charset="-122"/>
              </a:rPr>
              <a:t>这种内部中断称为</a:t>
            </a:r>
            <a:r>
              <a:rPr lang="zh-CN" altLang="en-US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单步中断</a:t>
            </a:r>
            <a:endParaRPr lang="zh-CN" altLang="en-US" sz="21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Ø"/>
            </a:pPr>
            <a:r>
              <a:rPr lang="zh-CN" altLang="en-US" sz="2100" b="1" dirty="0">
                <a:latin typeface="宋体" panose="02010600030101010101" pitchFamily="2" charset="-122"/>
              </a:rPr>
              <a:t>所以</a:t>
            </a:r>
            <a:r>
              <a:rPr lang="en-US" altLang="zh-CN" sz="2100" b="1" dirty="0">
                <a:latin typeface="宋体" panose="02010600030101010101" pitchFamily="2" charset="-122"/>
              </a:rPr>
              <a:t>TF</a:t>
            </a:r>
            <a:r>
              <a:rPr lang="zh-CN" altLang="en-US" sz="2100" b="1" dirty="0">
                <a:latin typeface="宋体" panose="02010600030101010101" pitchFamily="2" charset="-122"/>
              </a:rPr>
              <a:t>也称为</a:t>
            </a:r>
            <a:r>
              <a:rPr lang="zh-CN" altLang="en-US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单步标志</a:t>
            </a: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100" b="1" dirty="0">
                <a:latin typeface="宋体" panose="02010600030101010101" pitchFamily="2" charset="-122"/>
              </a:rPr>
              <a:t>利用单步中断可对程序进行逐条指令的调试</a:t>
            </a:r>
            <a:endParaRPr lang="zh-CN" altLang="en-US" sz="2100" b="1" dirty="0">
              <a:latin typeface="宋体" panose="02010600030101010101" pitchFamily="2" charset="-122"/>
            </a:endParaRPr>
          </a:p>
          <a:p>
            <a:pPr algn="just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100" b="1" dirty="0">
                <a:latin typeface="宋体" panose="02010600030101010101" pitchFamily="2" charset="-122"/>
              </a:rPr>
              <a:t>这种逐条指令调试程序的方法就是</a:t>
            </a:r>
            <a:r>
              <a:rPr lang="zh-CN" altLang="en-US" sz="2100" b="1" dirty="0">
                <a:solidFill>
                  <a:schemeClr val="accent2"/>
                </a:solidFill>
                <a:latin typeface="宋体" panose="02010600030101010101" pitchFamily="2" charset="-122"/>
              </a:rPr>
              <a:t>单步调试</a:t>
            </a: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pic>
        <p:nvPicPr>
          <p:cNvPr id="137222" name="Picture 6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024" y="2132411"/>
            <a:ext cx="6506765" cy="3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42522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8088</a:t>
            </a:r>
            <a:r>
              <a:rPr lang="zh-CN" altLang="en-US" sz="2400" dirty="0"/>
              <a:t>的指令执行过程       例：</a:t>
            </a:r>
            <a:r>
              <a:rPr lang="en-US" altLang="zh-CN" sz="2400" dirty="0"/>
              <a:t>ADD  DS:[BX+0100H], AL</a:t>
            </a:r>
            <a:endParaRPr lang="zh-CN" altLang="en-US" sz="2400" dirty="0"/>
          </a:p>
        </p:txBody>
      </p:sp>
      <p:pic>
        <p:nvPicPr>
          <p:cNvPr id="20483" name="Picture 4" descr="E:\李征的资料\教学资料\2008年教学资料\微机原理与接口技术\自己的课件\图片\指令执行过程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71550"/>
            <a:ext cx="6573440" cy="419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7236296" y="1059582"/>
            <a:ext cx="1783110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）取指令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2</a:t>
            </a:r>
            <a:r>
              <a:rPr lang="zh-CN" altLang="en-US" sz="1400" dirty="0"/>
              <a:t>）读取操作数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3</a:t>
            </a:r>
            <a:r>
              <a:rPr lang="zh-CN" altLang="en-US" sz="1400" dirty="0"/>
              <a:t>）完成运算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4</a:t>
            </a:r>
            <a:r>
              <a:rPr lang="zh-CN" altLang="en-US" sz="1400" dirty="0"/>
              <a:t>）写入运算结果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633845" y="915566"/>
            <a:ext cx="7886700" cy="3719537"/>
          </a:xfrm>
        </p:spPr>
        <p:txBody>
          <a:bodyPr/>
          <a:lstStyle/>
          <a:p>
            <a:pPr eaLnBrk="1" hangingPunct="1"/>
            <a:r>
              <a:rPr lang="zh-CN" altLang="en-US" dirty="0"/>
              <a:t>请复习</a:t>
            </a:r>
            <a:r>
              <a:rPr lang="en-US" altLang="zh-CN" dirty="0"/>
              <a:t>8086/8088</a:t>
            </a:r>
            <a:r>
              <a:rPr lang="zh-CN" altLang="en-US" dirty="0"/>
              <a:t>指令系统、汇编语言源程序格式</a:t>
            </a:r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本课程是</a:t>
            </a:r>
            <a:r>
              <a:rPr lang="zh-CN" altLang="en-US" dirty="0">
                <a:latin typeface="Times New Roman" panose="02020603050405020304" pitchFamily="18" charset="0"/>
              </a:rPr>
              <a:t>“</a:t>
            </a:r>
            <a:r>
              <a:rPr lang="zh-CN" altLang="en-US" dirty="0"/>
              <a:t>汇编语言</a:t>
            </a:r>
            <a:r>
              <a:rPr lang="zh-CN" altLang="en-US" dirty="0">
                <a:latin typeface="Times New Roman" panose="02020603050405020304" pitchFamily="18" charset="0"/>
              </a:rPr>
              <a:t>”</a:t>
            </a:r>
            <a:r>
              <a:rPr lang="zh-CN" altLang="en-US" dirty="0"/>
              <a:t>的继续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加强程序设计能力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实践</a:t>
            </a:r>
            <a:r>
              <a:rPr lang="en-US" altLang="zh-CN" dirty="0"/>
              <a:t>I/O</a:t>
            </a:r>
            <a:r>
              <a:rPr lang="zh-CN" altLang="en-US" dirty="0"/>
              <a:t>程序设计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672" y="434538"/>
            <a:ext cx="5105400" cy="5715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章教学要求</a:t>
            </a:r>
            <a:endParaRPr lang="zh-CN" altLang="en-US" sz="4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85813" y="1275606"/>
            <a:ext cx="7696200" cy="3467844"/>
          </a:xfrm>
        </p:spPr>
        <p:txBody>
          <a:bodyPr>
            <a:normAutofit fontScale="85000" lnSpcReduction="10000"/>
          </a:bodyPr>
          <a:lstStyle/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1.</a:t>
            </a:r>
            <a:r>
              <a:rPr lang="en-US" altLang="zh-CN" sz="2800" b="0" dirty="0"/>
              <a:t> </a:t>
            </a:r>
            <a:r>
              <a:rPr lang="zh-CN" altLang="en-US" sz="2800" dirty="0"/>
              <a:t>了解微机发展概况、熟悉典型微处理器和微机系统；</a:t>
            </a:r>
            <a:endParaRPr lang="zh-CN" altLang="en-US" sz="2800" dirty="0"/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明确微机两个应用方向、区别通用微机（</a:t>
            </a:r>
            <a:r>
              <a:rPr lang="en-US" altLang="zh-CN" sz="2800" dirty="0"/>
              <a:t>PC</a:t>
            </a:r>
            <a:r>
              <a:rPr lang="zh-CN" altLang="en-US" sz="2800" dirty="0"/>
              <a:t>机）和控制专用微机（单片机）；</a:t>
            </a:r>
            <a:endParaRPr lang="zh-CN" altLang="en-US" sz="2800" dirty="0"/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3.</a:t>
            </a:r>
            <a:r>
              <a:rPr lang="en-US" altLang="zh-CN" sz="2800" dirty="0"/>
              <a:t> </a:t>
            </a:r>
            <a:r>
              <a:rPr lang="zh-CN" altLang="en-US" sz="2800" dirty="0"/>
              <a:t>了解微机的硬件组成，理解总线及其应用特点、掌握地址、数据、控制总线的概念；</a:t>
            </a:r>
            <a:endParaRPr lang="en-US" altLang="zh-CN" sz="2800" dirty="0"/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4.</a:t>
            </a:r>
            <a:r>
              <a:rPr lang="en-US" altLang="zh-CN" sz="2800" dirty="0"/>
              <a:t> </a:t>
            </a:r>
            <a:r>
              <a:rPr lang="zh-CN" altLang="en-US" sz="2800" dirty="0"/>
              <a:t>熟悉</a:t>
            </a:r>
            <a:r>
              <a:rPr lang="en-US" altLang="zh-CN" sz="2800" dirty="0"/>
              <a:t>PC</a:t>
            </a:r>
            <a:r>
              <a:rPr lang="zh-CN" altLang="en-US" sz="2800" dirty="0"/>
              <a:t>系列机的主机板、存储空间分配和</a:t>
            </a:r>
            <a:r>
              <a:rPr lang="en-US" altLang="zh-CN" sz="2800" dirty="0"/>
              <a:t>I/O</a:t>
            </a:r>
            <a:r>
              <a:rPr lang="zh-CN" altLang="en-US" sz="2800" dirty="0"/>
              <a:t>空间分配；</a:t>
            </a:r>
            <a:endParaRPr lang="zh-CN" altLang="en-US" sz="2800" dirty="0"/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5.</a:t>
            </a:r>
            <a:r>
              <a:rPr lang="en-US" altLang="zh-CN" sz="2800" dirty="0"/>
              <a:t> </a:t>
            </a:r>
            <a:r>
              <a:rPr lang="zh-CN" altLang="en-US" sz="2800" dirty="0"/>
              <a:t>了解微处理器基本结构、</a:t>
            </a:r>
            <a:r>
              <a:rPr lang="en-US" altLang="zh-CN" sz="2800" dirty="0"/>
              <a:t>8088/8086</a:t>
            </a:r>
            <a:r>
              <a:rPr lang="zh-CN" altLang="en-US" sz="2800" dirty="0"/>
              <a:t>的内部功能结构；</a:t>
            </a:r>
            <a:endParaRPr lang="zh-CN" altLang="en-US" sz="2800" dirty="0"/>
          </a:p>
          <a:p>
            <a:pPr algn="just" eaLnBrk="1" hangingPunct="1"/>
            <a:r>
              <a:rPr lang="en-US" altLang="zh-CN" sz="2800" dirty="0">
                <a:solidFill>
                  <a:schemeClr val="tx2"/>
                </a:solidFill>
              </a:rPr>
              <a:t>6. </a:t>
            </a:r>
            <a:r>
              <a:rPr lang="zh-CN" altLang="en-US" sz="2800" dirty="0"/>
              <a:t>复习汇编语言源程序格式。</a:t>
            </a:r>
            <a:endParaRPr lang="zh-CN" altLang="en-US" sz="2800" dirty="0"/>
          </a:p>
          <a:p>
            <a:pPr algn="just" eaLnBrk="1" hangingPunct="1"/>
            <a:endParaRPr lang="zh-CN" altLang="en-US" sz="2800" dirty="0"/>
          </a:p>
        </p:txBody>
      </p:sp>
    </p:spTree>
  </p:cSld>
  <p:clrMapOvr>
    <a:masterClrMapping/>
  </p:clrMapOvr>
  <p:transition spd="slow">
    <p:random/>
  </p:transition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7870</Words>
  <Application>WPS 演示</Application>
  <PresentationFormat>全屏显示(16:9)</PresentationFormat>
  <Paragraphs>827</Paragraphs>
  <Slides>62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80" baseType="lpstr">
      <vt:lpstr>Arial</vt:lpstr>
      <vt:lpstr>宋体</vt:lpstr>
      <vt:lpstr>Wingdings</vt:lpstr>
      <vt:lpstr>Tahoma</vt:lpstr>
      <vt:lpstr>Wingdings 2</vt:lpstr>
      <vt:lpstr>隶书</vt:lpstr>
      <vt:lpstr>幼圆</vt:lpstr>
      <vt:lpstr>Times New Roman</vt:lpstr>
      <vt:lpstr>Calibri Light</vt:lpstr>
      <vt:lpstr>微软雅黑</vt:lpstr>
      <vt:lpstr>Arial Unicode MS</vt:lpstr>
      <vt:lpstr>Calibri</vt:lpstr>
      <vt:lpstr>等线</vt:lpstr>
      <vt:lpstr>仿宋_GB2312</vt:lpstr>
      <vt:lpstr>仿宋</vt:lpstr>
      <vt:lpstr>黑体</vt:lpstr>
      <vt:lpstr>华文彩云</vt:lpstr>
      <vt:lpstr>HDOfficeLightV0</vt:lpstr>
      <vt:lpstr>第1章  微型计算机系统概述</vt:lpstr>
      <vt:lpstr>第1章 微型计算机系统概述</vt:lpstr>
      <vt:lpstr>1.1  微型计算机的发展和应用</vt:lpstr>
      <vt:lpstr>1.1.1  微型计算机的发展</vt:lpstr>
      <vt:lpstr>Apple微型计算机</vt:lpstr>
      <vt:lpstr>IBM PC系列机</vt:lpstr>
      <vt:lpstr>1.1.1  微型计算机的发展（续）</vt:lpstr>
      <vt:lpstr>英特尔微处理器芯片</vt:lpstr>
      <vt:lpstr> 摩尔定律</vt:lpstr>
      <vt:lpstr>专用微处理器</vt:lpstr>
      <vt:lpstr>处理器的基本性能指标</vt:lpstr>
      <vt:lpstr>1.2  微型计算机的系统组成</vt:lpstr>
      <vt:lpstr>PowerPoint 演示文稿</vt:lpstr>
      <vt:lpstr>1.2.1 冯·诺依曼计算机结构</vt:lpstr>
      <vt:lpstr>冯·诺伊曼计算机的基本思想</vt:lpstr>
      <vt:lpstr>1.2.2 微型计算机的硬件组成</vt:lpstr>
      <vt:lpstr>系统总线</vt:lpstr>
      <vt:lpstr>总线信号</vt:lpstr>
      <vt:lpstr>Intel 80x86CPU的地址线条数</vt:lpstr>
      <vt:lpstr>Intel 80x86CPU的数据线条数</vt:lpstr>
      <vt:lpstr>系统总线的使用特点</vt:lpstr>
      <vt:lpstr>PowerPoint 演示文稿</vt:lpstr>
      <vt:lpstr>I/O接口和I/O设备</vt:lpstr>
      <vt:lpstr>1.3基于8088CPU的PC微机系统结构</vt:lpstr>
      <vt:lpstr>1.3基于8088CPU的PC微机系统结构</vt:lpstr>
      <vt:lpstr>8088的引脚图</vt:lpstr>
      <vt:lpstr>1.3.1  主机板组成</vt:lpstr>
      <vt:lpstr>1.3.2  I/O空间的分配</vt:lpstr>
      <vt:lpstr>1.3.2  I/O空间的分配</vt:lpstr>
      <vt:lpstr>1.3.3 8088内部结构</vt:lpstr>
      <vt:lpstr>PowerPoint 演示文稿</vt:lpstr>
      <vt:lpstr>PowerPoint 演示文稿</vt:lpstr>
      <vt:lpstr>8088/8086的寄存器结构	</vt:lpstr>
      <vt:lpstr>1.  通用寄存器</vt:lpstr>
      <vt:lpstr>（1）数据寄存器</vt:lpstr>
      <vt:lpstr>（2）变址寄存器</vt:lpstr>
      <vt:lpstr>（3）指针寄存器</vt:lpstr>
      <vt:lpstr>2. 段寄存器</vt:lpstr>
      <vt:lpstr>代码段寄存器CS（Code Segment）</vt:lpstr>
      <vt:lpstr>堆栈段寄存器SS（Stack Segment）</vt:lpstr>
      <vt:lpstr>数据段寄存器DS（Data Segment）</vt:lpstr>
      <vt:lpstr>附加段寄存器ES（Extra Segment）</vt:lpstr>
      <vt:lpstr>3.  指令指针寄存器</vt:lpstr>
      <vt:lpstr>4.  标志寄存器</vt:lpstr>
      <vt:lpstr>标志寄存器-分类</vt:lpstr>
      <vt:lpstr>进位标志CF（Carry Flag）</vt:lpstr>
      <vt:lpstr>零标志ZF（Zero Flag）</vt:lpstr>
      <vt:lpstr>符号标志SF（Sign Flag）</vt:lpstr>
      <vt:lpstr>奇偶标志PF（Parity Flag）</vt:lpstr>
      <vt:lpstr>溢出标志OF（Overflow Flag）</vt:lpstr>
      <vt:lpstr>什么是溢出</vt:lpstr>
      <vt:lpstr>溢出和进位的区别</vt:lpstr>
      <vt:lpstr>溢出和进位的对比</vt:lpstr>
      <vt:lpstr>溢出和进位的应用场合</vt:lpstr>
      <vt:lpstr>溢出的判断</vt:lpstr>
      <vt:lpstr>辅助进位标志AF（Auxiliary Carry Flag）</vt:lpstr>
      <vt:lpstr>方向标志DF（Direction Flag）</vt:lpstr>
      <vt:lpstr>中断允许标志IF（Interrupt-enable Flag）</vt:lpstr>
      <vt:lpstr>陷阱标志TF（Trap Flag）</vt:lpstr>
      <vt:lpstr>8088的指令执行过程       例：ADD  DS:[BX+0100H], AL</vt:lpstr>
      <vt:lpstr>PowerPoint 演示文稿</vt:lpstr>
      <vt:lpstr>第1章教学要求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微机原理及接口技术第01章</dc:title>
  <dc:creator/>
  <cp:lastModifiedBy>Lenovo</cp:lastModifiedBy>
  <cp:revision>185</cp:revision>
  <dcterms:created xsi:type="dcterms:W3CDTF">2002-02-18T14:33:00Z</dcterms:created>
  <dcterms:modified xsi:type="dcterms:W3CDTF">2025-02-28T08:46:34Z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CE003E52F7524077895EC1E9771668E9_12</vt:lpwstr>
  </property>
  <property fmtid="{D5CDD505-2E9C-101B-9397-08002B2CF9AE}" pid="3" name="KSOProductBuildVer">
    <vt:lpwstr>2052-12.1.0.19770</vt:lpwstr>
  </property>
</Properties>
</file>