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43"/>
  </p:notesMasterIdLst>
  <p:sldIdLst>
    <p:sldId id="395" r:id="rId2"/>
    <p:sldId id="396" r:id="rId3"/>
    <p:sldId id="274" r:id="rId4"/>
    <p:sldId id="277" r:id="rId5"/>
    <p:sldId id="279" r:id="rId6"/>
    <p:sldId id="280" r:id="rId7"/>
    <p:sldId id="284" r:id="rId8"/>
    <p:sldId id="501" r:id="rId9"/>
    <p:sldId id="382" r:id="rId10"/>
    <p:sldId id="381" r:id="rId11"/>
    <p:sldId id="374" r:id="rId12"/>
    <p:sldId id="291" r:id="rId13"/>
    <p:sldId id="397" r:id="rId14"/>
    <p:sldId id="365" r:id="rId15"/>
    <p:sldId id="366" r:id="rId16"/>
    <p:sldId id="290" r:id="rId17"/>
    <p:sldId id="292" r:id="rId18"/>
    <p:sldId id="302" r:id="rId19"/>
    <p:sldId id="502" r:id="rId20"/>
    <p:sldId id="503" r:id="rId21"/>
    <p:sldId id="504" r:id="rId22"/>
    <p:sldId id="401" r:id="rId23"/>
    <p:sldId id="385" r:id="rId24"/>
    <p:sldId id="399" r:id="rId25"/>
    <p:sldId id="398" r:id="rId26"/>
    <p:sldId id="499" r:id="rId27"/>
    <p:sldId id="298" r:id="rId28"/>
    <p:sldId id="266" r:id="rId29"/>
    <p:sldId id="297" r:id="rId30"/>
    <p:sldId id="400" r:id="rId31"/>
    <p:sldId id="500" r:id="rId32"/>
    <p:sldId id="336" r:id="rId33"/>
    <p:sldId id="264" r:id="rId34"/>
    <p:sldId id="388" r:id="rId35"/>
    <p:sldId id="488" r:id="rId36"/>
    <p:sldId id="392" r:id="rId37"/>
    <p:sldId id="348" r:id="rId38"/>
    <p:sldId id="349" r:id="rId39"/>
    <p:sldId id="508" r:id="rId40"/>
    <p:sldId id="276" r:id="rId41"/>
    <p:sldId id="272" r:id="rId4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06600"/>
    <a:srgbClr val="A50021"/>
    <a:srgbClr val="FF0066"/>
    <a:srgbClr val="0033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2" autoAdjust="0"/>
    <p:restoredTop sz="94576" autoAdjust="0"/>
  </p:normalViewPr>
  <p:slideViewPr>
    <p:cSldViewPr>
      <p:cViewPr>
        <p:scale>
          <a:sx n="60" d="100"/>
          <a:sy n="60" d="100"/>
        </p:scale>
        <p:origin x="60" y="8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6.xml"/><Relationship Id="rId3" Type="http://schemas.openxmlformats.org/officeDocument/2006/relationships/slide" Target="slides/slide25.xml"/><Relationship Id="rId7" Type="http://schemas.openxmlformats.org/officeDocument/2006/relationships/slide" Target="slides/slide35.xml"/><Relationship Id="rId2" Type="http://schemas.openxmlformats.org/officeDocument/2006/relationships/slide" Target="slides/slide24.xml"/><Relationship Id="rId1" Type="http://schemas.openxmlformats.org/officeDocument/2006/relationships/slide" Target="slides/slide16.xml"/><Relationship Id="rId6" Type="http://schemas.openxmlformats.org/officeDocument/2006/relationships/slide" Target="slides/slide34.xml"/><Relationship Id="rId5" Type="http://schemas.openxmlformats.org/officeDocument/2006/relationships/slide" Target="slides/slide33.xml"/><Relationship Id="rId10" Type="http://schemas.openxmlformats.org/officeDocument/2006/relationships/slide" Target="slides/slide38.xml"/><Relationship Id="rId4" Type="http://schemas.openxmlformats.org/officeDocument/2006/relationships/slide" Target="slides/slide29.xml"/><Relationship Id="rId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3CD2E-BDAA-41AA-AA4B-067D94B8EDE7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7D473-5D73-48F0-89B5-5358331814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287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2C9A-9CE7-44E2-9705-4E2F9A31536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34616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54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82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371600"/>
            <a:ext cx="3886200" cy="3263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0" cy="3263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90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1880663"/>
            <a:ext cx="3867150" cy="27603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663"/>
            <a:ext cx="3886201" cy="27603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53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6C9-E1C6-436B-BE5A-E79E29440D2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52984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50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39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85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7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1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0272"/>
            <a:ext cx="5800725" cy="43588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65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5A863DF-B9E4-4586-93FD-95547E6FD0DC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38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B64D9-91C2-6DA3-502F-8FDD88402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微型计算机系统概述</a:t>
            </a:r>
          </a:p>
        </p:txBody>
      </p:sp>
    </p:spTree>
    <p:extLst>
      <p:ext uri="{BB962C8B-B14F-4D97-AF65-F5344CB8AC3E}">
        <p14:creationId xmlns:p14="http://schemas.microsoft.com/office/powerpoint/2010/main" val="2000133145"/>
      </p:ext>
    </p:extLst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63F49-3C61-59E9-977D-97691D91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微型计算机系统概述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D22EE-C975-6EE9-EAD7-ECDB5A7C9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/>
            <a:r>
              <a:rPr lang="zh-CN" altLang="en-US" sz="4800" b="0" u="sng" dirty="0">
                <a:solidFill>
                  <a:srgbClr val="663300"/>
                </a:solidFill>
                <a:ea typeface="隶书" panose="02010509060101010101" pitchFamily="49" charset="-122"/>
              </a:rPr>
              <a:t>教学重点</a:t>
            </a:r>
            <a:endParaRPr lang="zh-CN" altLang="en-US" sz="4800" b="0" dirty="0">
              <a:solidFill>
                <a:srgbClr val="663300"/>
              </a:solidFill>
              <a:ea typeface="幼圆" panose="02010509060101010101" pitchFamily="49" charset="-122"/>
            </a:endParaRPr>
          </a:p>
          <a:p>
            <a:pPr algn="l" eaLnBrk="1" hangingPunct="1">
              <a:spcBef>
                <a:spcPct val="80000"/>
              </a:spcBef>
              <a:buFont typeface="Wingdings" pitchFamily="2" charset="2"/>
              <a:buChar char="n"/>
            </a:pPr>
            <a:r>
              <a:rPr lang="zh-CN" altLang="en-US" b="0" dirty="0"/>
              <a:t>  </a:t>
            </a:r>
            <a:r>
              <a:rPr lang="zh-CN" altLang="en-US" dirty="0"/>
              <a:t>微型计算机的系统组成</a:t>
            </a:r>
          </a:p>
          <a:p>
            <a:pPr algn="l" eaLnBrk="1" hangingPunct="1">
              <a:buFont typeface="Wingdings" pitchFamily="2" charset="2"/>
              <a:buChar char="n"/>
            </a:pPr>
            <a:r>
              <a:rPr lang="zh-CN" altLang="en-US" dirty="0"/>
              <a:t>  </a:t>
            </a:r>
            <a:r>
              <a:rPr lang="en-US" altLang="zh-CN" dirty="0"/>
              <a:t>IBM PC</a:t>
            </a:r>
            <a:r>
              <a:rPr lang="zh-CN" altLang="en-US" dirty="0"/>
              <a:t>系列机的主机板</a:t>
            </a:r>
          </a:p>
        </p:txBody>
      </p:sp>
    </p:spTree>
    <p:extLst>
      <p:ext uri="{BB962C8B-B14F-4D97-AF65-F5344CB8AC3E}">
        <p14:creationId xmlns:p14="http://schemas.microsoft.com/office/powerpoint/2010/main" val="108527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E1D2167-DB6F-6BAF-25DE-C275776BA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1.1  </a:t>
            </a:r>
            <a:r>
              <a:rPr lang="zh-CN" altLang="en-US"/>
              <a:t>微型计算机的发展和应用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D8361B3-987C-7CD9-80A7-853BA97FA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5750" y="1563638"/>
            <a:ext cx="7696200" cy="2863900"/>
          </a:xfrm>
        </p:spPr>
        <p:txBody>
          <a:bodyPr/>
          <a:lstStyle/>
          <a:p>
            <a:pPr eaLnBrk="1" hangingPunct="1"/>
            <a:r>
              <a:rPr lang="en-US" altLang="zh-CN" dirty="0"/>
              <a:t>1946</a:t>
            </a:r>
            <a:r>
              <a:rPr lang="zh-CN" altLang="en-US" dirty="0"/>
              <a:t>年，世界上出现第一台数字式电子计算机</a:t>
            </a:r>
            <a:r>
              <a:rPr lang="en-US" altLang="zh-CN" u="sng" dirty="0">
                <a:solidFill>
                  <a:schemeClr val="accent1"/>
                </a:solidFill>
              </a:rPr>
              <a:t>ENIAC</a:t>
            </a:r>
            <a:r>
              <a:rPr lang="zh-CN" altLang="en-US" dirty="0"/>
              <a:t>（电子数据和计算器）</a:t>
            </a:r>
          </a:p>
          <a:p>
            <a:pPr eaLnBrk="1" hangingPunct="1"/>
            <a:r>
              <a:rPr lang="zh-CN" altLang="en-US" dirty="0"/>
              <a:t>发展到以大规模集成电路为主要部件的第四代，产生了</a:t>
            </a:r>
            <a:r>
              <a:rPr lang="zh-CN" altLang="en-US" u="sng" dirty="0">
                <a:solidFill>
                  <a:schemeClr val="accent1"/>
                </a:solidFill>
              </a:rPr>
              <a:t>微型计算机</a:t>
            </a:r>
          </a:p>
          <a:p>
            <a:pPr eaLnBrk="1" hangingPunct="1"/>
            <a:r>
              <a:rPr lang="en-US" altLang="zh-CN" dirty="0"/>
              <a:t>1971</a:t>
            </a:r>
            <a:r>
              <a:rPr lang="zh-CN" altLang="en-US" dirty="0"/>
              <a:t>年，</a:t>
            </a:r>
            <a:r>
              <a:rPr lang="en-US" altLang="zh-CN" dirty="0"/>
              <a:t>Intel</a:t>
            </a:r>
            <a:r>
              <a:rPr lang="zh-CN" altLang="en-US" dirty="0"/>
              <a:t>公司设计了世界上第一个微处理器芯片</a:t>
            </a:r>
            <a:r>
              <a:rPr lang="en-US" altLang="zh-CN" u="sng" dirty="0">
                <a:solidFill>
                  <a:schemeClr val="accent1"/>
                </a:solidFill>
              </a:rPr>
              <a:t>Intel4004</a:t>
            </a:r>
            <a:r>
              <a:rPr lang="zh-CN" altLang="en-US" dirty="0"/>
              <a:t>，开创了一个全新的计算机时代</a:t>
            </a:r>
          </a:p>
        </p:txBody>
      </p:sp>
      <p:pic>
        <p:nvPicPr>
          <p:cNvPr id="16388" name="Picture 4" descr="5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481CBCA-A58E-C99B-4DC8-CE07120D7B3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716463"/>
            <a:ext cx="8382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5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9E000DD-BD27-D7BA-55CB-45B6D5893DE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86300"/>
            <a:ext cx="8763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C4C23CAB-216E-608D-A6DB-C517CE245D3D}"/>
              </a:ext>
            </a:extLst>
          </p:cNvPr>
          <p:cNvGrpSpPr/>
          <p:nvPr/>
        </p:nvGrpSpPr>
        <p:grpSpPr>
          <a:xfrm>
            <a:off x="4067944" y="3291829"/>
            <a:ext cx="2592288" cy="1723083"/>
            <a:chOff x="6227763" y="1049338"/>
            <a:chExt cx="2139950" cy="1479550"/>
          </a:xfrm>
        </p:grpSpPr>
        <p:pic>
          <p:nvPicPr>
            <p:cNvPr id="3" name="Picture 5">
              <a:extLst>
                <a:ext uri="{FF2B5EF4-FFF2-40B4-BE49-F238E27FC236}">
                  <a16:creationId xmlns:a16="http://schemas.microsoft.com/office/drawing/2014/main" id="{F4FA0D6A-6A25-A1F4-FE0F-1FA74C06AE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2563" y="1049338"/>
              <a:ext cx="1425575" cy="1235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054E87B2-3004-77B8-3DB0-3B545D904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7763" y="2192338"/>
              <a:ext cx="1851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/>
              <a:r>
                <a:rPr kumimoji="1" lang="zh-CN" altLang="en-US" sz="1600" b="0">
                  <a:solidFill>
                    <a:schemeClr val="tx2"/>
                  </a:solidFill>
                </a:rPr>
                <a:t>采用</a:t>
              </a:r>
              <a:r>
                <a:rPr kumimoji="1" lang="en-US" altLang="zh-CN" sz="1600" b="0">
                  <a:solidFill>
                    <a:schemeClr val="tx2"/>
                  </a:solidFill>
                </a:rPr>
                <a:t>4004</a:t>
              </a:r>
              <a:r>
                <a:rPr kumimoji="1" lang="zh-CN" altLang="en-US" sz="1600" b="0">
                  <a:solidFill>
                    <a:schemeClr val="tx2"/>
                  </a:solidFill>
                </a:rPr>
                <a:t>的计算器</a:t>
              </a:r>
            </a:p>
          </p:txBody>
        </p:sp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616B4E9C-50BD-6B70-B4AA-E7071268F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4563" y="1049338"/>
              <a:ext cx="10731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/>
              <a:r>
                <a:rPr kumimoji="1" lang="en-US" altLang="zh-CN" sz="1600" b="0" dirty="0">
                  <a:solidFill>
                    <a:schemeClr val="tx2"/>
                  </a:solidFill>
                </a:rPr>
                <a:t>Intel 4004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D91F1DD-0FEA-A6CC-4788-8142932A6CFE}"/>
              </a:ext>
            </a:extLst>
          </p:cNvPr>
          <p:cNvSpPr/>
          <p:nvPr/>
        </p:nvSpPr>
        <p:spPr>
          <a:xfrm>
            <a:off x="6516216" y="439068"/>
            <a:ext cx="1929631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1000" dirty="0"/>
              <a:t>什么是微机？</a:t>
            </a:r>
            <a:endParaRPr lang="en-US" altLang="zh-CN" sz="1000" dirty="0"/>
          </a:p>
          <a:p>
            <a:pPr eaLnBrk="1" hangingPunct="1"/>
            <a:r>
              <a:rPr lang="zh-CN" altLang="en-US" sz="1000" dirty="0"/>
              <a:t>以大规模、超大规模集成电路为主要部件，以集成了计算机主要部件</a:t>
            </a:r>
            <a:r>
              <a:rPr lang="en-US" altLang="zh-CN" sz="1000" dirty="0">
                <a:latin typeface="Times New Roman" panose="02020603050405020304" pitchFamily="18" charset="0"/>
              </a:rPr>
              <a:t>——</a:t>
            </a:r>
            <a:r>
              <a:rPr lang="zh-CN" altLang="en-US" sz="1000" dirty="0"/>
              <a:t>控制器和运算器的微处理器为核心所构造出的计算机系统。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705147E-1877-284A-6111-C0F883AC1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1.1.1  </a:t>
            </a:r>
            <a:r>
              <a:rPr lang="zh-CN" altLang="en-US"/>
              <a:t>微型计算机的发展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C0AB818-C99F-D578-C59E-234C8842B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7188" y="1143000"/>
            <a:ext cx="8382000" cy="328453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1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4</a:t>
            </a:r>
            <a:r>
              <a:rPr lang="zh-CN" altLang="en-US" sz="2400" dirty="0"/>
              <a:t>位和低档</a:t>
            </a:r>
            <a:r>
              <a:rPr lang="en-US" altLang="zh-CN" sz="2400" dirty="0"/>
              <a:t>8</a:t>
            </a:r>
            <a:r>
              <a:rPr lang="zh-CN" altLang="en-US" sz="2400" dirty="0"/>
              <a:t>位微机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4004→4040→8008</a:t>
            </a: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2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：中高档</a:t>
            </a:r>
            <a:r>
              <a:rPr lang="en-US" altLang="zh-CN" sz="2400" dirty="0"/>
              <a:t>8</a:t>
            </a:r>
            <a:r>
              <a:rPr lang="zh-CN" altLang="en-US" sz="2400" dirty="0"/>
              <a:t>位微机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Z80</a:t>
            </a:r>
            <a:r>
              <a:rPr lang="zh-CN" altLang="en-US" sz="2400" dirty="0"/>
              <a:t>、</a:t>
            </a:r>
            <a:r>
              <a:rPr lang="en-US" altLang="zh-CN" sz="2400" dirty="0"/>
              <a:t>I8085</a:t>
            </a:r>
            <a:r>
              <a:rPr lang="zh-CN" altLang="en-US" sz="2400" dirty="0"/>
              <a:t>、</a:t>
            </a:r>
            <a:r>
              <a:rPr lang="en-US" altLang="zh-CN" sz="2400" dirty="0"/>
              <a:t>M6800</a:t>
            </a:r>
            <a:r>
              <a:rPr lang="zh-CN" altLang="en-US" sz="2400" dirty="0"/>
              <a:t>，</a:t>
            </a:r>
            <a:r>
              <a:rPr lang="en-US" altLang="zh-CN" sz="2400" u="sng" dirty="0">
                <a:solidFill>
                  <a:schemeClr val="accent1"/>
                </a:solidFill>
              </a:rPr>
              <a:t>Apple-II</a:t>
            </a:r>
            <a:r>
              <a:rPr lang="zh-CN" altLang="en-US" sz="2400" dirty="0"/>
              <a:t>微机</a:t>
            </a: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3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16</a:t>
            </a:r>
            <a:r>
              <a:rPr lang="zh-CN" altLang="en-US" sz="2400" dirty="0"/>
              <a:t>位微机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8086→8088→80286</a:t>
            </a:r>
            <a:r>
              <a:rPr lang="zh-CN" altLang="en-US" sz="2400" dirty="0"/>
              <a:t>，</a:t>
            </a:r>
            <a:r>
              <a:rPr lang="en-US" altLang="zh-CN" sz="2400" u="sng" dirty="0">
                <a:solidFill>
                  <a:schemeClr val="accent1"/>
                </a:solidFill>
              </a:rPr>
              <a:t>IBM PC</a:t>
            </a:r>
            <a:r>
              <a:rPr lang="zh-CN" altLang="en-US" sz="2400" u="sng" dirty="0">
                <a:solidFill>
                  <a:schemeClr val="accent1"/>
                </a:solidFill>
              </a:rPr>
              <a:t>系列机</a:t>
            </a:r>
            <a:endParaRPr lang="en-US" altLang="zh-CN" sz="2400" u="sng" dirty="0">
              <a:solidFill>
                <a:schemeClr val="accent1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(IBM PC/XT</a:t>
            </a:r>
            <a:r>
              <a:rPr lang="zh-CN" altLang="en-US" sz="2400" dirty="0"/>
              <a:t>采用</a:t>
            </a:r>
            <a:r>
              <a:rPr lang="en-US" altLang="zh-CN" sz="2400" dirty="0"/>
              <a:t>8088</a:t>
            </a:r>
            <a:r>
              <a:rPr lang="zh-CN" altLang="en-US" sz="2400" dirty="0"/>
              <a:t>作为微处理器，</a:t>
            </a:r>
            <a:r>
              <a:rPr lang="en-US" altLang="zh-CN" sz="2400" dirty="0"/>
              <a:t> IBM PC/AT</a:t>
            </a:r>
            <a:r>
              <a:rPr lang="zh-CN" altLang="en-US" sz="2400" dirty="0"/>
              <a:t>采用</a:t>
            </a:r>
            <a:r>
              <a:rPr lang="en-US" altLang="zh-CN" sz="2400" dirty="0"/>
              <a:t>80286</a:t>
            </a:r>
            <a:r>
              <a:rPr lang="zh-CN" altLang="en-US" sz="2400" dirty="0"/>
              <a:t>作为微处理器。现在，</a:t>
            </a:r>
            <a:r>
              <a:rPr lang="en-US" altLang="zh-CN" sz="2400" dirty="0"/>
              <a:t> IBM PC/XT/AT</a:t>
            </a:r>
            <a:r>
              <a:rPr lang="zh-CN" altLang="en-US" sz="2400" dirty="0"/>
              <a:t>统称为</a:t>
            </a:r>
            <a:r>
              <a:rPr lang="en-US" altLang="zh-CN" sz="2400" dirty="0"/>
              <a:t>IBM PC</a:t>
            </a:r>
            <a:r>
              <a:rPr lang="zh-CN" altLang="en-US" sz="2400" dirty="0"/>
              <a:t>系列机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pic>
        <p:nvPicPr>
          <p:cNvPr id="17412" name="Picture 4" descr="5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C66554B-9AF7-9025-3D53-ED7C5288904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716463"/>
            <a:ext cx="8382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 descr="5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970CA4D-F744-E3B5-E202-94C5DAC2CC1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86300"/>
            <a:ext cx="8763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008C6DF5-8BBD-23B1-53D6-707075B9B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Apple</a:t>
            </a:r>
            <a:r>
              <a:rPr lang="zh-CN" altLang="en-US"/>
              <a:t>微型计算机</a:t>
            </a:r>
          </a:p>
        </p:txBody>
      </p:sp>
      <p:pic>
        <p:nvPicPr>
          <p:cNvPr id="80899" name="Picture 4" descr="Apple-I">
            <a:extLst>
              <a:ext uri="{FF2B5EF4-FFF2-40B4-BE49-F238E27FC236}">
                <a16:creationId xmlns:a16="http://schemas.microsoft.com/office/drawing/2014/main" id="{F4040B2C-2E0F-0ECD-241B-F21EBC148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25146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0" name="Picture 5" descr="Apple-I-2">
            <a:extLst>
              <a:ext uri="{FF2B5EF4-FFF2-40B4-BE49-F238E27FC236}">
                <a16:creationId xmlns:a16="http://schemas.microsoft.com/office/drawing/2014/main" id="{B57CE21E-B149-B2A3-10E9-A3B00B37E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485900"/>
            <a:ext cx="24384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6" descr="Apple-II">
            <a:extLst>
              <a:ext uri="{FF2B5EF4-FFF2-40B4-BE49-F238E27FC236}">
                <a16:creationId xmlns:a16="http://schemas.microsoft.com/office/drawing/2014/main" id="{2046A053-F945-B9D4-5C4F-E5A467296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914650"/>
            <a:ext cx="2819400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2" name="Text Box 7">
            <a:extLst>
              <a:ext uri="{FF2B5EF4-FFF2-40B4-BE49-F238E27FC236}">
                <a16:creationId xmlns:a16="http://schemas.microsoft.com/office/drawing/2014/main" id="{128C3C0A-46A7-40F6-F3F8-55AF66FF6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1663700"/>
            <a:ext cx="1495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Apple-I</a:t>
            </a:r>
          </a:p>
        </p:txBody>
      </p:sp>
      <p:sp>
        <p:nvSpPr>
          <p:cNvPr id="80903" name="Text Box 8">
            <a:extLst>
              <a:ext uri="{FF2B5EF4-FFF2-40B4-BE49-F238E27FC236}">
                <a16:creationId xmlns:a16="http://schemas.microsoft.com/office/drawing/2014/main" id="{8D7F19CD-5E2D-1565-7BE5-EA36BFE21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486150"/>
            <a:ext cx="1676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Apple-II</a:t>
            </a:r>
          </a:p>
        </p:txBody>
      </p:sp>
    </p:spTree>
    <p:extLst>
      <p:ext uri="{BB962C8B-B14F-4D97-AF65-F5344CB8AC3E}">
        <p14:creationId xmlns:p14="http://schemas.microsoft.com/office/powerpoint/2010/main" val="802299518"/>
      </p:ext>
    </p:extLst>
  </p:cSld>
  <p:clrMapOvr>
    <a:masterClrMapping/>
  </p:clrMapOvr>
  <p:transition spd="slow" advClick="0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FAE4ACA-7211-D769-F8EA-3B3998F8D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</a:t>
            </a:r>
            <a:r>
              <a:rPr lang="zh-CN" altLang="en-US"/>
              <a:t>系列机</a:t>
            </a:r>
          </a:p>
        </p:txBody>
      </p:sp>
      <p:pic>
        <p:nvPicPr>
          <p:cNvPr id="81923" name="Picture 4" descr="8088CPU">
            <a:extLst>
              <a:ext uri="{FF2B5EF4-FFF2-40B4-BE49-F238E27FC236}">
                <a16:creationId xmlns:a16="http://schemas.microsoft.com/office/drawing/2014/main" id="{E3B14A54-478A-5D95-4469-2EDEB6C47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00150"/>
            <a:ext cx="19050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4" name="Picture 5" descr="IBM PC机">
            <a:extLst>
              <a:ext uri="{FF2B5EF4-FFF2-40B4-BE49-F238E27FC236}">
                <a16:creationId xmlns:a16="http://schemas.microsoft.com/office/drawing/2014/main" id="{9EA9024D-9392-C928-E175-50438BA72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28750"/>
            <a:ext cx="29718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6" descr="IBM PC-AT机">
            <a:extLst>
              <a:ext uri="{FF2B5EF4-FFF2-40B4-BE49-F238E27FC236}">
                <a16:creationId xmlns:a16="http://schemas.microsoft.com/office/drawing/2014/main" id="{4D33D8F6-6CC8-BB2F-7CCB-1F313C7C5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514600"/>
            <a:ext cx="32004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6" name="Text Box 7">
            <a:extLst>
              <a:ext uri="{FF2B5EF4-FFF2-40B4-BE49-F238E27FC236}">
                <a16:creationId xmlns:a16="http://schemas.microsoft.com/office/drawing/2014/main" id="{7FD895E4-3756-F250-EF93-CDF609973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543050"/>
            <a:ext cx="1824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8088CPU</a:t>
            </a:r>
          </a:p>
        </p:txBody>
      </p:sp>
      <p:sp>
        <p:nvSpPr>
          <p:cNvPr id="81927" name="Text Box 8">
            <a:extLst>
              <a:ext uri="{FF2B5EF4-FFF2-40B4-BE49-F238E27FC236}">
                <a16:creationId xmlns:a16="http://schemas.microsoft.com/office/drawing/2014/main" id="{C116B2D0-3C20-C5F2-62E9-CDA5281CC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43250"/>
            <a:ext cx="1909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</a:p>
        </p:txBody>
      </p:sp>
      <p:sp>
        <p:nvSpPr>
          <p:cNvPr id="81928" name="Text Box 9">
            <a:extLst>
              <a:ext uri="{FF2B5EF4-FFF2-40B4-BE49-F238E27FC236}">
                <a16:creationId xmlns:a16="http://schemas.microsoft.com/office/drawing/2014/main" id="{72D83885-893A-3018-65CB-69B897FE8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286250"/>
            <a:ext cx="2530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PC/AT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</a:p>
        </p:txBody>
      </p:sp>
      <p:sp>
        <p:nvSpPr>
          <p:cNvPr id="81929" name="Text Box 10">
            <a:extLst>
              <a:ext uri="{FF2B5EF4-FFF2-40B4-BE49-F238E27FC236}">
                <a16:creationId xmlns:a16="http://schemas.microsoft.com/office/drawing/2014/main" id="{01E047C7-5F7F-EBAE-0DBC-0F64B64AD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3697288"/>
            <a:ext cx="25463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PC/XT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</a:p>
        </p:txBody>
      </p:sp>
    </p:spTree>
    <p:extLst>
      <p:ext uri="{BB962C8B-B14F-4D97-AF65-F5344CB8AC3E}">
        <p14:creationId xmlns:p14="http://schemas.microsoft.com/office/powerpoint/2010/main" val="2485755832"/>
      </p:ext>
    </p:extLst>
  </p:cSld>
  <p:clrMapOvr>
    <a:masterClrMapping/>
  </p:clrMapOvr>
  <p:transition spd="slow" advClick="0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16ACD16-6F7D-C653-B47B-AE3C2A7D3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1.1.1  </a:t>
            </a:r>
            <a:r>
              <a:rPr lang="zh-CN" altLang="en-US"/>
              <a:t>微型计算机的发展</a:t>
            </a:r>
            <a:r>
              <a:rPr lang="zh-CN" altLang="en-US" sz="3200"/>
              <a:t>（续）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88C8C89-AACE-909A-C587-2982C36BE5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8625" y="1071563"/>
            <a:ext cx="8382000" cy="3284537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4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32</a:t>
            </a:r>
            <a:r>
              <a:rPr lang="zh-CN" altLang="en-US" sz="2400" dirty="0"/>
              <a:t>位微机</a:t>
            </a:r>
          </a:p>
          <a:p>
            <a:pPr lvl="1" eaLnBrk="1" hangingPunct="1"/>
            <a:r>
              <a:rPr lang="en-US" altLang="zh-CN" sz="2400" dirty="0"/>
              <a:t>80386→80486→Pentium→Pentium II →Pentium III →</a:t>
            </a:r>
            <a:r>
              <a:rPr lang="en-US" altLang="zh-CN" sz="2400" u="sng" dirty="0">
                <a:solidFill>
                  <a:schemeClr val="accent1"/>
                </a:solidFill>
              </a:rPr>
              <a:t>Pentium 4</a:t>
            </a:r>
          </a:p>
          <a:p>
            <a:pPr lvl="1" eaLnBrk="1" hangingPunct="1"/>
            <a:r>
              <a:rPr lang="en-US" altLang="zh-CN" sz="2400" dirty="0"/>
              <a:t>32</a:t>
            </a:r>
            <a:r>
              <a:rPr lang="zh-CN" altLang="en-US" sz="2400" dirty="0"/>
              <a:t>位</a:t>
            </a:r>
            <a:r>
              <a:rPr lang="en-US" altLang="zh-CN" sz="2400" dirty="0"/>
              <a:t>PC</a:t>
            </a:r>
            <a:r>
              <a:rPr lang="zh-CN" altLang="en-US" sz="2400" dirty="0"/>
              <a:t>机、</a:t>
            </a:r>
            <a:r>
              <a:rPr lang="en-US" altLang="zh-CN" sz="2400" dirty="0"/>
              <a:t>Macintosh</a:t>
            </a:r>
            <a:r>
              <a:rPr lang="zh-CN" altLang="en-US" sz="2400" dirty="0"/>
              <a:t>机、</a:t>
            </a:r>
            <a:r>
              <a:rPr lang="en-US" altLang="zh-CN" sz="2400" dirty="0"/>
              <a:t>PS/2</a:t>
            </a:r>
            <a:r>
              <a:rPr lang="zh-CN" altLang="en-US" sz="2400" dirty="0"/>
              <a:t>机</a:t>
            </a: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5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64</a:t>
            </a:r>
            <a:r>
              <a:rPr lang="zh-CN" altLang="en-US" sz="2400" dirty="0"/>
              <a:t>位微机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IA-64</a:t>
            </a:r>
            <a:r>
              <a:rPr lang="zh-CN" altLang="en-US" sz="2400" dirty="0"/>
              <a:t>结构：</a:t>
            </a:r>
            <a:r>
              <a:rPr lang="en-US" altLang="zh-CN" sz="2400" dirty="0"/>
              <a:t>Itanium</a:t>
            </a:r>
            <a:r>
              <a:rPr lang="zh-CN" altLang="en-US" sz="2400" dirty="0"/>
              <a:t>（安腾）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x86</a:t>
            </a:r>
            <a:r>
              <a:rPr lang="zh-CN" altLang="en-US" sz="2400" dirty="0"/>
              <a:t>结构：</a:t>
            </a:r>
            <a:r>
              <a:rPr lang="en-US" altLang="zh-CN" sz="2400" dirty="0"/>
              <a:t>AMD</a:t>
            </a:r>
            <a:r>
              <a:rPr lang="zh-CN" altLang="en-US" sz="2400" dirty="0"/>
              <a:t>的</a:t>
            </a:r>
            <a:r>
              <a:rPr lang="en-US" altLang="zh-CN" sz="2400" dirty="0"/>
              <a:t>64</a:t>
            </a:r>
            <a:r>
              <a:rPr lang="zh-CN" altLang="en-US" sz="2400" dirty="0"/>
              <a:t>位处理器、</a:t>
            </a:r>
            <a:r>
              <a:rPr lang="en-US" altLang="zh-CN" sz="2400" dirty="0"/>
              <a:t>Intel 64</a:t>
            </a:r>
            <a:r>
              <a:rPr lang="zh-CN" altLang="en-US" sz="2400" dirty="0"/>
              <a:t>处理器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pic>
        <p:nvPicPr>
          <p:cNvPr id="18436" name="Picture 4" descr="5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E6C569-5FBC-8A53-B120-C7EC38711B2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716463"/>
            <a:ext cx="8382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 descr="5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6E4D2FF-D923-591D-597D-7BE21F76C0E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86300"/>
            <a:ext cx="8763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C18A501F-AFDF-4E33-E8B6-6FE390E90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232" y="1173921"/>
            <a:ext cx="1209675" cy="14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4A88C-F022-B954-FC7C-C562B6C6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英特尔微处理器芯片</a:t>
            </a:r>
          </a:p>
        </p:txBody>
      </p:sp>
      <p:pic>
        <p:nvPicPr>
          <p:cNvPr id="15" name="Picture 4" descr="i386-pga-package">
            <a:extLst>
              <a:ext uri="{FF2B5EF4-FFF2-40B4-BE49-F238E27FC236}">
                <a16:creationId xmlns:a16="http://schemas.microsoft.com/office/drawing/2014/main" id="{626A5E8F-DBBB-1D6E-EA33-2E9F5C07F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657600"/>
            <a:ext cx="22860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 descr="APU">
            <a:extLst>
              <a:ext uri="{FF2B5EF4-FFF2-40B4-BE49-F238E27FC236}">
                <a16:creationId xmlns:a16="http://schemas.microsoft.com/office/drawing/2014/main" id="{2E4D5CFD-68BE-85F0-16D8-62394C05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86050"/>
            <a:ext cx="2065338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 descr="pentium4">
            <a:extLst>
              <a:ext uri="{FF2B5EF4-FFF2-40B4-BE49-F238E27FC236}">
                <a16:creationId xmlns:a16="http://schemas.microsoft.com/office/drawing/2014/main" id="{36F12480-A405-0980-7099-3C12B7534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85900"/>
            <a:ext cx="23622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7" descr="intel">
            <a:extLst>
              <a:ext uri="{FF2B5EF4-FFF2-40B4-BE49-F238E27FC236}">
                <a16:creationId xmlns:a16="http://schemas.microsoft.com/office/drawing/2014/main" id="{2992B400-E83B-147A-2E78-3D1C0F7A9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57200"/>
            <a:ext cx="1314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8" descr="p3">
            <a:extLst>
              <a:ext uri="{FF2B5EF4-FFF2-40B4-BE49-F238E27FC236}">
                <a16:creationId xmlns:a16="http://schemas.microsoft.com/office/drawing/2014/main" id="{571FF6EF-E9E6-FAA7-0C47-BD2B028C3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14500"/>
            <a:ext cx="1211263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9" descr="itanium">
            <a:extLst>
              <a:ext uri="{FF2B5EF4-FFF2-40B4-BE49-F238E27FC236}">
                <a16:creationId xmlns:a16="http://schemas.microsoft.com/office/drawing/2014/main" id="{464A2122-D935-AC35-8DC1-24D760F7D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143000"/>
            <a:ext cx="2171700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11">
            <a:extLst>
              <a:ext uri="{FF2B5EF4-FFF2-40B4-BE49-F238E27FC236}">
                <a16:creationId xmlns:a16="http://schemas.microsoft.com/office/drawing/2014/main" id="{21B6063A-0D91-8348-27DE-D61EFC22F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00400"/>
            <a:ext cx="1306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80386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8B26B12F-210A-77A9-CB1B-80023EAC5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14750"/>
            <a:ext cx="1652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Pentium</a:t>
            </a:r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49A1B23F-8DB0-F748-A576-05289BC07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143000"/>
            <a:ext cx="2006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Pentium 4</a:t>
            </a:r>
          </a:p>
        </p:txBody>
      </p:sp>
    </p:spTree>
    <p:extLst>
      <p:ext uri="{BB962C8B-B14F-4D97-AF65-F5344CB8AC3E}">
        <p14:creationId xmlns:p14="http://schemas.microsoft.com/office/powerpoint/2010/main" val="359516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EB0793F9-EC2C-6B20-E9BA-8AE6FDDC6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摩尔定律</a:t>
            </a:r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D7A928AE-955A-F0B1-4A4D-3DE0CBEBBA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736600"/>
            <a:ext cx="8229600" cy="3902075"/>
          </a:xfrm>
          <a:noFill/>
        </p:spPr>
        <p:txBody>
          <a:bodyPr/>
          <a:lstStyle/>
          <a:p>
            <a:endParaRPr lang="en-US" altLang="zh-CN" sz="2800" dirty="0"/>
          </a:p>
          <a:p>
            <a:r>
              <a:rPr lang="zh-CN" altLang="en-US" sz="2000" b="0" dirty="0"/>
              <a:t>集成电路</a:t>
            </a:r>
            <a:r>
              <a:rPr lang="zh-CN" altLang="en-US" sz="2000" dirty="0"/>
              <a:t>生产技术推动了计算机的飞速发展</a:t>
            </a:r>
          </a:p>
          <a:p>
            <a:r>
              <a:rPr lang="zh-CN" altLang="en-US" sz="2000" dirty="0"/>
              <a:t>摩尔定律（</a:t>
            </a:r>
            <a:r>
              <a:rPr lang="en-US" altLang="zh-CN" sz="2000" dirty="0"/>
              <a:t>Moore's Law</a:t>
            </a:r>
            <a:r>
              <a:rPr lang="zh-CN" altLang="en-US" sz="2000" dirty="0"/>
              <a:t>）</a:t>
            </a:r>
          </a:p>
          <a:p>
            <a:pPr lvl="1"/>
            <a:r>
              <a:rPr lang="zh-CN" altLang="en-US" sz="2000" dirty="0"/>
              <a:t>集成电路上晶体管密度每年将翻倍</a:t>
            </a:r>
          </a:p>
          <a:p>
            <a:pPr lvl="1"/>
            <a:r>
              <a:rPr lang="zh-CN" altLang="en-US" sz="2000" dirty="0"/>
              <a:t>每隔</a:t>
            </a:r>
            <a:r>
              <a:rPr lang="en-US" altLang="zh-CN" sz="2000" dirty="0"/>
              <a:t>18</a:t>
            </a:r>
            <a:r>
              <a:rPr lang="zh-CN" altLang="en-US" sz="2000" dirty="0"/>
              <a:t>个月硅片密度（晶体管容量）将翻倍</a:t>
            </a:r>
          </a:p>
          <a:p>
            <a:pPr lvl="1"/>
            <a:r>
              <a:rPr lang="zh-CN" altLang="en-US" sz="2000" dirty="0"/>
              <a:t>每</a:t>
            </a:r>
            <a:r>
              <a:rPr lang="en-US" altLang="zh-CN" sz="2000" dirty="0"/>
              <a:t>18</a:t>
            </a:r>
            <a:r>
              <a:rPr lang="zh-CN" altLang="en-US" sz="2000" dirty="0"/>
              <a:t>个月，集成电路的性能将提高一倍，而其价格将降低一半</a:t>
            </a:r>
          </a:p>
          <a:p>
            <a:r>
              <a:rPr lang="zh-CN" altLang="en-US" sz="2000" dirty="0"/>
              <a:t>摩尔定律不会永远持续</a:t>
            </a:r>
          </a:p>
          <a:p>
            <a:pPr lvl="1"/>
            <a:r>
              <a:rPr lang="zh-CN" altLang="en-US" sz="2000" dirty="0"/>
              <a:t>今后，性能提高更多地得益于计算机系统结构的革新</a:t>
            </a:r>
          </a:p>
          <a:p>
            <a:pPr lvl="1"/>
            <a:r>
              <a:rPr lang="zh-CN" altLang="en-US" sz="2000" dirty="0"/>
              <a:t>现在，多核处理器使得摩尔定律延续</a:t>
            </a:r>
          </a:p>
        </p:txBody>
      </p:sp>
      <p:sp>
        <p:nvSpPr>
          <p:cNvPr id="21508" name="Freeform 6">
            <a:extLst>
              <a:ext uri="{FF2B5EF4-FFF2-40B4-BE49-F238E27FC236}">
                <a16:creationId xmlns:a16="http://schemas.microsoft.com/office/drawing/2014/main" id="{E8C4231E-D493-714A-C0AD-D71938C49777}"/>
              </a:ext>
            </a:extLst>
          </p:cNvPr>
          <p:cNvSpPr>
            <a:spLocks/>
          </p:cNvSpPr>
          <p:nvPr/>
        </p:nvSpPr>
        <p:spPr bwMode="auto">
          <a:xfrm>
            <a:off x="5384800" y="2954338"/>
            <a:ext cx="3429000" cy="1543050"/>
          </a:xfrm>
          <a:custGeom>
            <a:avLst/>
            <a:gdLst>
              <a:gd name="T0" fmla="*/ 0 w 2204"/>
              <a:gd name="T1" fmla="*/ 2147483647 h 2204"/>
              <a:gd name="T2" fmla="*/ 2147483647 w 2204"/>
              <a:gd name="T3" fmla="*/ 2147483647 h 2204"/>
              <a:gd name="T4" fmla="*/ 2147483647 w 2204"/>
              <a:gd name="T5" fmla="*/ 2147483647 h 2204"/>
              <a:gd name="T6" fmla="*/ 2147483647 w 2204"/>
              <a:gd name="T7" fmla="*/ 0 h 2204"/>
              <a:gd name="T8" fmla="*/ 0 60000 65536"/>
              <a:gd name="T9" fmla="*/ 0 60000 65536"/>
              <a:gd name="T10" fmla="*/ 0 60000 65536"/>
              <a:gd name="T11" fmla="*/ 0 60000 65536"/>
              <a:gd name="T12" fmla="*/ 0 w 2204"/>
              <a:gd name="T13" fmla="*/ 0 h 2204"/>
              <a:gd name="T14" fmla="*/ 2204 w 2204"/>
              <a:gd name="T15" fmla="*/ 2204 h 22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4" h="2204">
                <a:moveTo>
                  <a:pt x="0" y="2204"/>
                </a:moveTo>
                <a:cubicBezTo>
                  <a:pt x="190" y="2119"/>
                  <a:pt x="901" y="2014"/>
                  <a:pt x="1151" y="1697"/>
                </a:cubicBezTo>
                <a:cubicBezTo>
                  <a:pt x="1401" y="1380"/>
                  <a:pt x="1325" y="585"/>
                  <a:pt x="1500" y="302"/>
                </a:cubicBezTo>
                <a:cubicBezTo>
                  <a:pt x="1675" y="19"/>
                  <a:pt x="2057" y="63"/>
                  <a:pt x="2204" y="0"/>
                </a:cubicBezTo>
              </a:path>
            </a:pathLst>
          </a:custGeom>
          <a:noFill/>
          <a:ln w="76200" cmpd="sng">
            <a:solidFill>
              <a:srgbClr val="808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16F39F11-3F0C-56AA-C221-3A4AFB848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571500"/>
            <a:ext cx="8629650" cy="401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endParaRPr lang="en-US" altLang="zh-CN" dirty="0">
              <a:solidFill>
                <a:schemeClr val="accent2"/>
              </a:solidFill>
              <a:ea typeface="幼圆" panose="02010509060101010101" pitchFamily="49" charset="-122"/>
            </a:endParaRPr>
          </a:p>
          <a:p>
            <a:pPr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单片机（微控制器，嵌入式控制器，</a:t>
            </a:r>
            <a:r>
              <a:rPr lang="en-US" altLang="zh-CN" sz="2000" dirty="0">
                <a:solidFill>
                  <a:schemeClr val="accent2"/>
                </a:solidFill>
                <a:ea typeface="幼圆" panose="02010509060101010101" pitchFamily="49" charset="-122"/>
              </a:rPr>
              <a:t>MCU</a:t>
            </a: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）</a:t>
            </a: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 sz="2000" dirty="0"/>
              <a:t>Intel</a:t>
            </a:r>
            <a:r>
              <a:rPr lang="zh-CN" altLang="en-US" sz="2000" dirty="0"/>
              <a:t>的</a:t>
            </a:r>
            <a:r>
              <a:rPr lang="en-US" altLang="zh-CN" sz="2000" dirty="0"/>
              <a:t>MCS-48</a:t>
            </a:r>
            <a:r>
              <a:rPr lang="zh-CN" altLang="en-US" sz="2000" dirty="0"/>
              <a:t>，</a:t>
            </a:r>
            <a:r>
              <a:rPr lang="en-US" altLang="zh-CN" sz="2000" dirty="0"/>
              <a:t>MCS-51</a:t>
            </a:r>
            <a:r>
              <a:rPr lang="zh-CN" altLang="en-US" sz="2000" dirty="0"/>
              <a:t>，</a:t>
            </a:r>
            <a:r>
              <a:rPr lang="en-US" altLang="zh-CN" sz="2000" dirty="0"/>
              <a:t>MCS-96/98</a:t>
            </a:r>
            <a:r>
              <a:rPr lang="zh-CN" altLang="en-US" sz="2000" dirty="0"/>
              <a:t>系列</a:t>
            </a: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000" dirty="0"/>
              <a:t>爱特梅尔（</a:t>
            </a:r>
            <a:r>
              <a:rPr lang="en-US" altLang="zh-CN" sz="2000" dirty="0" err="1"/>
              <a:t>Atml</a:t>
            </a:r>
            <a:r>
              <a:rPr lang="zh-CN" altLang="en-US" sz="2000" dirty="0"/>
              <a:t>）公司的</a:t>
            </a:r>
            <a:r>
              <a:rPr lang="en-US" altLang="zh-CN" sz="2000" dirty="0"/>
              <a:t>AT89</a:t>
            </a:r>
            <a:r>
              <a:rPr lang="zh-CN" altLang="en-US" sz="2000" dirty="0"/>
              <a:t>系列（与</a:t>
            </a:r>
            <a:r>
              <a:rPr lang="en-US" altLang="zh-CN" sz="2000" dirty="0"/>
              <a:t>MCS-51</a:t>
            </a:r>
            <a:r>
              <a:rPr lang="zh-CN" altLang="en-US" sz="2000" dirty="0"/>
              <a:t>兼容），</a:t>
            </a:r>
            <a:r>
              <a:rPr lang="en-US" altLang="zh-CN" sz="2000" dirty="0"/>
              <a:t>AT91</a:t>
            </a:r>
            <a:r>
              <a:rPr lang="zh-CN" altLang="en-US" sz="2000" dirty="0"/>
              <a:t>系列（基于</a:t>
            </a:r>
            <a:r>
              <a:rPr lang="en-US" altLang="zh-CN" sz="2000" dirty="0"/>
              <a:t>ARM</a:t>
            </a:r>
            <a:r>
              <a:rPr lang="zh-CN" altLang="en-US" sz="2000" dirty="0"/>
              <a:t>内核）</a:t>
            </a: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 sz="2000" dirty="0"/>
              <a:t>Microchip Technology</a:t>
            </a:r>
            <a:r>
              <a:rPr lang="zh-CN" altLang="en-US" sz="2000" dirty="0"/>
              <a:t>公司的</a:t>
            </a:r>
            <a:r>
              <a:rPr lang="en-US" altLang="zh-CN" sz="2000" dirty="0"/>
              <a:t>PIC</a:t>
            </a:r>
            <a:r>
              <a:rPr lang="zh-CN" altLang="en-US" sz="2000" dirty="0"/>
              <a:t>系列</a:t>
            </a:r>
          </a:p>
          <a:p>
            <a:pPr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数字信号处理器（</a:t>
            </a:r>
            <a:r>
              <a:rPr lang="en-US" altLang="zh-CN" sz="2000" dirty="0">
                <a:solidFill>
                  <a:schemeClr val="accent2"/>
                </a:solidFill>
                <a:ea typeface="幼圆" panose="02010509060101010101" pitchFamily="49" charset="-122"/>
              </a:rPr>
              <a:t>DSP</a:t>
            </a: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）</a:t>
            </a: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000" dirty="0"/>
              <a:t>专注于数字信号的高速处理</a:t>
            </a: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000" dirty="0"/>
              <a:t>美国德州仪器</a:t>
            </a:r>
            <a:r>
              <a:rPr lang="en-US" altLang="zh-CN" sz="2000" dirty="0"/>
              <a:t>TI</a:t>
            </a:r>
            <a:r>
              <a:rPr lang="zh-CN" altLang="en-US" sz="2000" dirty="0"/>
              <a:t>公司</a:t>
            </a:r>
            <a:r>
              <a:rPr lang="en-US" altLang="zh-CN" sz="2000" dirty="0"/>
              <a:t>TMS320</a:t>
            </a:r>
            <a:r>
              <a:rPr lang="zh-CN" altLang="en-US" sz="2000" dirty="0"/>
              <a:t>各代产品</a:t>
            </a: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000" dirty="0"/>
              <a:t>主要应用于通信、消费类电子产品和计算机</a:t>
            </a:r>
          </a:p>
          <a:p>
            <a:pPr marL="0" indent="0" algn="just" eaLnBrk="1" hangingPunct="1"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主要应用形式：嵌入式系统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E81064A-69D7-7030-AAA9-513931634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专用微处理器</a:t>
            </a:r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32A11A39-55E9-6BCF-9926-4D2584EFB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483518"/>
            <a:ext cx="3240360" cy="1091281"/>
          </a:xfrm>
          <a:prstGeom prst="wedgeRoundRectCallout">
            <a:avLst>
              <a:gd name="adj1" fmla="val -55773"/>
              <a:gd name="adj2" fmla="val 1950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663300"/>
                </a:solidFill>
              </a:rPr>
              <a:t>将</a:t>
            </a:r>
            <a:r>
              <a:rPr lang="en-US" altLang="zh-CN" sz="1600" b="1" dirty="0">
                <a:solidFill>
                  <a:srgbClr val="663300"/>
                </a:solidFill>
              </a:rPr>
              <a:t>CPU</a:t>
            </a:r>
            <a:r>
              <a:rPr lang="zh-CN" altLang="en-US" sz="1600" b="1" dirty="0">
                <a:solidFill>
                  <a:srgbClr val="663300"/>
                </a:solidFill>
              </a:rPr>
              <a:t>以及其他主要部件（如</a:t>
            </a:r>
            <a:r>
              <a:rPr lang="en-US" altLang="zh-CN" sz="1600" b="1" dirty="0">
                <a:solidFill>
                  <a:srgbClr val="663300"/>
                </a:solidFill>
              </a:rPr>
              <a:t>ROM</a:t>
            </a:r>
            <a:r>
              <a:rPr lang="zh-CN" altLang="en-US" sz="1600" b="1" dirty="0">
                <a:solidFill>
                  <a:srgbClr val="663300"/>
                </a:solidFill>
              </a:rPr>
              <a:t>、</a:t>
            </a:r>
            <a:r>
              <a:rPr lang="en-US" altLang="zh-CN" sz="1600" b="1" dirty="0">
                <a:solidFill>
                  <a:srgbClr val="663300"/>
                </a:solidFill>
              </a:rPr>
              <a:t>RAM</a:t>
            </a:r>
            <a:r>
              <a:rPr lang="zh-CN" altLang="en-US" sz="1600" b="1" dirty="0">
                <a:solidFill>
                  <a:srgbClr val="663300"/>
                </a:solidFill>
              </a:rPr>
              <a:t>、</a:t>
            </a:r>
            <a:r>
              <a:rPr lang="en-US" altLang="zh-CN" sz="1600" b="1" dirty="0">
                <a:solidFill>
                  <a:srgbClr val="663300"/>
                </a:solidFill>
              </a:rPr>
              <a:t>I/O</a:t>
            </a:r>
            <a:r>
              <a:rPr lang="zh-CN" altLang="en-US" sz="1600" b="1" dirty="0">
                <a:solidFill>
                  <a:srgbClr val="663300"/>
                </a:solidFill>
              </a:rPr>
              <a:t>接口）都集成在一个微处理器芯片中</a:t>
            </a:r>
            <a:endParaRPr lang="en-US" altLang="zh-CN" sz="1600" dirty="0">
              <a:solidFill>
                <a:srgbClr val="6633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D5A118A-B009-7B0F-678B-5E00088E1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处理器的基本性能指标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144FC33-F3C9-31E2-AFAB-4980F9C187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3456" y="1071563"/>
            <a:ext cx="8307820" cy="32845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/>
              <a:t>字长（</a:t>
            </a:r>
            <a:r>
              <a:rPr lang="en-US" altLang="zh-CN" sz="2000" dirty="0"/>
              <a:t>Word</a:t>
            </a:r>
            <a:r>
              <a:rPr lang="zh-CN" altLang="en-US" sz="2000" dirty="0"/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处理器每个时间单位处理的二进制数据位数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sz="2000" dirty="0"/>
              <a:t>（例如一次进行运算、传输的位数）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指示处理器的数据处理能力</a:t>
            </a:r>
          </a:p>
          <a:p>
            <a:pPr>
              <a:lnSpc>
                <a:spcPct val="90000"/>
              </a:lnSpc>
            </a:pPr>
            <a:r>
              <a:rPr lang="zh-CN" altLang="en-US" sz="2000" dirty="0"/>
              <a:t>时钟频率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处理器的处理速度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反映处理器的基本时间单位</a:t>
            </a:r>
          </a:p>
          <a:p>
            <a:pPr>
              <a:lnSpc>
                <a:spcPct val="90000"/>
              </a:lnSpc>
            </a:pPr>
            <a:r>
              <a:rPr lang="zh-CN" altLang="en-US" sz="2000" dirty="0"/>
              <a:t>集成度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芯片上集成的晶体管数量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表明处理器的生产工艺水平</a:t>
            </a:r>
          </a:p>
        </p:txBody>
      </p:sp>
      <p:sp>
        <p:nvSpPr>
          <p:cNvPr id="114692" name="AutoShape 4">
            <a:extLst>
              <a:ext uri="{FF2B5EF4-FFF2-40B4-BE49-F238E27FC236}">
                <a16:creationId xmlns:a16="http://schemas.microsoft.com/office/drawing/2014/main" id="{466E00AC-05A3-39CF-E6FF-2AB0FBB2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340" y="1064339"/>
            <a:ext cx="38862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  <a:defRPr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16</a:t>
            </a:r>
            <a:r>
              <a:rPr lang="zh-CN" altLang="en-US" dirty="0"/>
              <a:t>、</a:t>
            </a:r>
            <a:r>
              <a:rPr lang="en-US" altLang="zh-CN" dirty="0"/>
              <a:t>32</a:t>
            </a:r>
            <a:r>
              <a:rPr lang="zh-CN" altLang="en-US" dirty="0"/>
              <a:t>、</a:t>
            </a:r>
            <a:r>
              <a:rPr lang="en-US" altLang="zh-CN" dirty="0"/>
              <a:t>64</a:t>
            </a:r>
            <a:r>
              <a:rPr lang="zh-CN" altLang="en-US" dirty="0"/>
              <a:t>、</a:t>
            </a:r>
            <a:r>
              <a:rPr lang="en-US" altLang="zh-CN" dirty="0"/>
              <a:t>128</a:t>
            </a:r>
          </a:p>
        </p:txBody>
      </p:sp>
      <p:sp>
        <p:nvSpPr>
          <p:cNvPr id="114693" name="AutoShape 5">
            <a:extLst>
              <a:ext uri="{FF2B5EF4-FFF2-40B4-BE49-F238E27FC236}">
                <a16:creationId xmlns:a16="http://schemas.microsoft.com/office/drawing/2014/main" id="{AF1A041D-18D0-3E49-A17F-3C9980295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2859782"/>
            <a:ext cx="35814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  <a:defRPr/>
            </a:pPr>
            <a:r>
              <a:rPr lang="en-US" altLang="zh-CN" dirty="0"/>
              <a:t>Hz</a:t>
            </a:r>
            <a:r>
              <a:rPr lang="zh-CN" altLang="en-US" dirty="0"/>
              <a:t>、</a:t>
            </a:r>
            <a:r>
              <a:rPr lang="en-US" altLang="zh-CN" dirty="0"/>
              <a:t>kHz</a:t>
            </a:r>
            <a:r>
              <a:rPr lang="zh-CN" altLang="en-US" dirty="0"/>
              <a:t>、</a:t>
            </a:r>
            <a:r>
              <a:rPr lang="en-US" altLang="zh-CN" dirty="0"/>
              <a:t>MHz</a:t>
            </a:r>
            <a:r>
              <a:rPr lang="zh-CN" altLang="en-US" dirty="0"/>
              <a:t>、</a:t>
            </a:r>
            <a:r>
              <a:rPr lang="en-US" altLang="zh-CN" dirty="0"/>
              <a:t>GHz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7068D21-D9BA-4D90-5DB6-DA4041C45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  </a:t>
            </a:r>
            <a:r>
              <a:rPr lang="zh-CN" altLang="en-US"/>
              <a:t>微型计算机的系统组成</a:t>
            </a:r>
          </a:p>
        </p:txBody>
      </p:sp>
      <p:grpSp>
        <p:nvGrpSpPr>
          <p:cNvPr id="25605" name="Group 17">
            <a:extLst>
              <a:ext uri="{FF2B5EF4-FFF2-40B4-BE49-F238E27FC236}">
                <a16:creationId xmlns:a16="http://schemas.microsoft.com/office/drawing/2014/main" id="{9C8F93AF-B400-BC54-03B7-1BF92DF07FB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074738"/>
            <a:ext cx="8001000" cy="3783012"/>
            <a:chOff x="144" y="902"/>
            <a:chExt cx="5040" cy="3178"/>
          </a:xfrm>
        </p:grpSpPr>
        <p:sp>
          <p:nvSpPr>
            <p:cNvPr id="25607" name="Oval 5">
              <a:extLst>
                <a:ext uri="{FF2B5EF4-FFF2-40B4-BE49-F238E27FC236}">
                  <a16:creationId xmlns:a16="http://schemas.microsoft.com/office/drawing/2014/main" id="{248C11C4-EF86-FFDD-88AA-858DC23AC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440"/>
              <a:ext cx="4080" cy="2640"/>
            </a:xfrm>
            <a:prstGeom prst="ellipse">
              <a:avLst/>
            </a:prstGeom>
            <a:solidFill>
              <a:srgbClr val="969696"/>
            </a:solidFill>
            <a:ln w="12700">
              <a:solidFill>
                <a:srgbClr val="A50021"/>
              </a:solidFill>
              <a:round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08" name="Oval 6">
              <a:extLst>
                <a:ext uri="{FF2B5EF4-FFF2-40B4-BE49-F238E27FC236}">
                  <a16:creationId xmlns:a16="http://schemas.microsoft.com/office/drawing/2014/main" id="{014CEA1D-5A90-C78A-789D-9328BF3A8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80"/>
              <a:ext cx="2832" cy="1776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rgbClr val="A50021"/>
              </a:solidFill>
              <a:round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5609" name="Oval 7">
              <a:extLst>
                <a:ext uri="{FF2B5EF4-FFF2-40B4-BE49-F238E27FC236}">
                  <a16:creationId xmlns:a16="http://schemas.microsoft.com/office/drawing/2014/main" id="{94A430C7-D9A9-D0FA-A267-01967A73E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24"/>
              <a:ext cx="1776" cy="816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rgbClr val="A50021"/>
              </a:solidFill>
              <a:round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0" name="Text Box 8">
              <a:extLst>
                <a:ext uri="{FF2B5EF4-FFF2-40B4-BE49-F238E27FC236}">
                  <a16:creationId xmlns:a16="http://schemas.microsoft.com/office/drawing/2014/main" id="{D5D9E939-A006-4E61-AFBB-22E643B8F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968"/>
              <a:ext cx="1344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运算器</a:t>
              </a: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      </a:t>
              </a: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控制器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      寄存器组</a:t>
              </a: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       </a:t>
              </a:r>
            </a:p>
          </p:txBody>
        </p:sp>
        <p:sp>
          <p:nvSpPr>
            <p:cNvPr id="25611" name="Text Box 9">
              <a:extLst>
                <a:ext uri="{FF2B5EF4-FFF2-40B4-BE49-F238E27FC236}">
                  <a16:creationId xmlns:a16="http://schemas.microsoft.com/office/drawing/2014/main" id="{F5151D01-995D-BE9A-B93E-17CEFDA56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592"/>
              <a:ext cx="2736" cy="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内存储器                                        总线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输入输出</a:t>
              </a: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接口电路</a:t>
              </a:r>
            </a:p>
          </p:txBody>
        </p:sp>
        <p:sp>
          <p:nvSpPr>
            <p:cNvPr id="25612" name="Text Box 10">
              <a:extLst>
                <a:ext uri="{FF2B5EF4-FFF2-40B4-BE49-F238E27FC236}">
                  <a16:creationId xmlns:a16="http://schemas.microsoft.com/office/drawing/2014/main" id="{96761DB7-9BBB-1F26-9C04-A3E3B47FD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08"/>
              <a:ext cx="25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外部设备                    软件</a:t>
              </a:r>
            </a:p>
          </p:txBody>
        </p:sp>
        <p:sp>
          <p:nvSpPr>
            <p:cNvPr id="25613" name="Line 11">
              <a:extLst>
                <a:ext uri="{FF2B5EF4-FFF2-40B4-BE49-F238E27FC236}">
                  <a16:creationId xmlns:a16="http://schemas.microsoft.com/office/drawing/2014/main" id="{39ADC192-403E-00CE-56BB-734780AD2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440"/>
              <a:ext cx="1296" cy="62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sm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4" name="Text Box 12">
              <a:extLst>
                <a:ext uri="{FF2B5EF4-FFF2-40B4-BE49-F238E27FC236}">
                  <a16:creationId xmlns:a16="http://schemas.microsoft.com/office/drawing/2014/main" id="{E4C70A48-89BA-5116-DA3D-2B78D954F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152"/>
              <a:ext cx="91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微处理器</a:t>
              </a:r>
            </a:p>
          </p:txBody>
        </p:sp>
        <p:sp>
          <p:nvSpPr>
            <p:cNvPr id="25615" name="Line 13">
              <a:extLst>
                <a:ext uri="{FF2B5EF4-FFF2-40B4-BE49-F238E27FC236}">
                  <a16:creationId xmlns:a16="http://schemas.microsoft.com/office/drawing/2014/main" id="{D341B02A-C1D1-E98E-593D-53635919C8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4" y="1632"/>
              <a:ext cx="1056" cy="617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6" name="Text Box 14">
              <a:extLst>
                <a:ext uri="{FF2B5EF4-FFF2-40B4-BE49-F238E27FC236}">
                  <a16:creationId xmlns:a16="http://schemas.microsoft.com/office/drawing/2014/main" id="{E10D2D4A-A310-2EBB-0FC5-5867FBAEE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334"/>
              <a:ext cx="96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微型计算机</a:t>
              </a:r>
              <a:endPara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5617" name="Line 15">
              <a:extLst>
                <a:ext uri="{FF2B5EF4-FFF2-40B4-BE49-F238E27FC236}">
                  <a16:creationId xmlns:a16="http://schemas.microsoft.com/office/drawing/2014/main" id="{ACCEA7D8-CF2A-8662-F6D4-21E7C35DA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1200"/>
              <a:ext cx="0" cy="38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8" name="Text Box 16">
              <a:extLst>
                <a:ext uri="{FF2B5EF4-FFF2-40B4-BE49-F238E27FC236}">
                  <a16:creationId xmlns:a16="http://schemas.microsoft.com/office/drawing/2014/main" id="{346853D5-EC17-B6EB-F85A-4B8EDEFB4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902"/>
              <a:ext cx="14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微型计算机系统</a:t>
              </a:r>
            </a:p>
          </p:txBody>
        </p:sp>
      </p:grpSp>
    </p:spTree>
  </p:cSld>
  <p:clrMapOvr>
    <a:masterClrMapping/>
  </p:clrMapOvr>
  <p:transition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EA70E-1DA8-F946-FC1F-54A31D6A0B64}"/>
              </a:ext>
            </a:extLst>
          </p:cNvPr>
          <p:cNvSpPr txBox="1">
            <a:spLocks/>
          </p:cNvSpPr>
          <p:nvPr/>
        </p:nvSpPr>
        <p:spPr>
          <a:xfrm>
            <a:off x="628650" y="699542"/>
            <a:ext cx="7886700" cy="39604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zh-CN" altLang="en-US" sz="2800" b="1" dirty="0"/>
              <a:t>微处理器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Microprocessor</a:t>
            </a:r>
            <a:r>
              <a:rPr kumimoji="0" lang="zh-CN" altLang="en-US" sz="2800" dirty="0"/>
              <a:t>）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一个大规模集成电路芯片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内含控制器、运算器和寄存器等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微机中的核心芯片</a:t>
            </a:r>
          </a:p>
          <a:p>
            <a:pPr fontAlgn="auto">
              <a:spcAft>
                <a:spcPts val="0"/>
              </a:spcAft>
            </a:pPr>
            <a:r>
              <a:rPr kumimoji="0" lang="zh-CN" altLang="en-US" sz="2800" b="1" dirty="0"/>
              <a:t>微型计算机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Microcomputer</a:t>
            </a:r>
            <a:r>
              <a:rPr kumimoji="0" lang="zh-CN" altLang="en-US" sz="2800" dirty="0"/>
              <a:t>）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通常指微型计算机的硬件系统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还有一般的说法：</a:t>
            </a:r>
            <a:r>
              <a:rPr kumimoji="0" lang="zh-CN" altLang="en-US" b="1" dirty="0"/>
              <a:t>微机、微型机</a:t>
            </a:r>
          </a:p>
          <a:p>
            <a:pPr fontAlgn="auto">
              <a:spcAft>
                <a:spcPts val="0"/>
              </a:spcAft>
            </a:pPr>
            <a:r>
              <a:rPr kumimoji="0" lang="zh-CN" altLang="en-US" sz="2800" b="1" dirty="0"/>
              <a:t>微型计算机系统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Microcomputer system</a:t>
            </a:r>
            <a:r>
              <a:rPr kumimoji="0" lang="zh-CN" altLang="en-US" sz="2800" dirty="0"/>
              <a:t>）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指由硬件和软件共同组成的完整的计算机系统</a:t>
            </a:r>
          </a:p>
        </p:txBody>
      </p:sp>
    </p:spTree>
    <p:extLst>
      <p:ext uri="{BB962C8B-B14F-4D97-AF65-F5344CB8AC3E}">
        <p14:creationId xmlns:p14="http://schemas.microsoft.com/office/powerpoint/2010/main" val="3921145294"/>
      </p:ext>
    </p:extLst>
  </p:cSld>
  <p:clrMapOvr>
    <a:masterClrMapping/>
  </p:clrMapOvr>
  <p:transition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3222987-221D-AD51-485F-FA3E77DF5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1.2.1 </a:t>
            </a:r>
            <a:r>
              <a:rPr lang="zh-CN" altLang="en-US"/>
              <a:t>冯</a:t>
            </a:r>
            <a:r>
              <a:rPr lang="en-US" altLang="zh-CN"/>
              <a:t>·</a:t>
            </a:r>
            <a:r>
              <a:rPr lang="zh-CN" altLang="en-US"/>
              <a:t>诺依曼计算机结构</a:t>
            </a:r>
          </a:p>
        </p:txBody>
      </p:sp>
      <p:pic>
        <p:nvPicPr>
          <p:cNvPr id="26627" name="Picture 4" descr="第一台电子计算机ENIAC">
            <a:extLst>
              <a:ext uri="{FF2B5EF4-FFF2-40B4-BE49-F238E27FC236}">
                <a16:creationId xmlns:a16="http://schemas.microsoft.com/office/drawing/2014/main" id="{BF79C473-7933-4740-09DA-CFF150D62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54" y="1090845"/>
            <a:ext cx="5998982" cy="389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5">
            <a:extLst>
              <a:ext uri="{FF2B5EF4-FFF2-40B4-BE49-F238E27FC236}">
                <a16:creationId xmlns:a16="http://schemas.microsoft.com/office/drawing/2014/main" id="{52B00C7F-2936-C543-718E-48D91CDF2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4686300"/>
            <a:ext cx="1044575" cy="46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ENIAC</a:t>
            </a:r>
          </a:p>
        </p:txBody>
      </p:sp>
      <p:pic>
        <p:nvPicPr>
          <p:cNvPr id="26629" name="Picture 6" descr="冯诺依曼">
            <a:extLst>
              <a:ext uri="{FF2B5EF4-FFF2-40B4-BE49-F238E27FC236}">
                <a16:creationId xmlns:a16="http://schemas.microsoft.com/office/drawing/2014/main" id="{CC695F62-F5D1-0503-66E6-CACD5B8FD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915566"/>
            <a:ext cx="1977613" cy="198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>
            <a:extLst>
              <a:ext uri="{FF2B5EF4-FFF2-40B4-BE49-F238E27FC236}">
                <a16:creationId xmlns:a16="http://schemas.microsoft.com/office/drawing/2014/main" id="{7D944426-76FA-1500-FC30-FD37721D5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2320" y="2897111"/>
            <a:ext cx="1522413" cy="46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冯·</a:t>
            </a:r>
            <a:r>
              <a:rPr lang="zh-CN" altLang="en-US" dirty="0">
                <a:solidFill>
                  <a:schemeClr val="tx2"/>
                </a:solidFill>
              </a:rPr>
              <a:t>诺伊曼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E59F2D1-29CE-836C-DE57-C549EA7F7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冯</a:t>
            </a:r>
            <a:r>
              <a:rPr lang="en-US" altLang="zh-CN"/>
              <a:t>·</a:t>
            </a:r>
            <a:r>
              <a:rPr lang="zh-CN" altLang="en-US"/>
              <a:t>诺伊曼计算机的基本思想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B40559A-D03F-A752-D2BA-CD6C639E4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7188" y="1071563"/>
            <a:ext cx="8574087" cy="3284537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采用二进制形式表示数据和指令。指令由操作码和地址码组成。</a:t>
            </a:r>
          </a:p>
          <a:p>
            <a:r>
              <a:rPr lang="zh-CN" altLang="en-US" sz="2400" dirty="0"/>
              <a:t>将程序和数据存放在存储器中，计算机在工作时从存储器取出指令加以执行，自动完成计算任务。这就是</a:t>
            </a:r>
            <a:r>
              <a:rPr lang="zh-CN" altLang="en-US" sz="2400" b="1" dirty="0">
                <a:solidFill>
                  <a:srgbClr val="FF0000"/>
                </a:solidFill>
              </a:rPr>
              <a:t>“存储程序”</a:t>
            </a:r>
            <a:r>
              <a:rPr lang="zh-CN" altLang="en-US" sz="2400" dirty="0"/>
              <a:t>和“程序控制”（简称存储程序控制）的概念。</a:t>
            </a:r>
          </a:p>
          <a:p>
            <a:r>
              <a:rPr lang="zh-CN" altLang="en-US" sz="2400" dirty="0"/>
              <a:t>指令的执行是顺序的，即一般按照指令在存储器中存放的顺序执行，程序分支由转移指令实现。</a:t>
            </a:r>
          </a:p>
          <a:p>
            <a:r>
              <a:rPr lang="zh-CN" altLang="en-US" sz="2400" dirty="0"/>
              <a:t>计算机由存储器、运算器、控制器、输入设备和输出设备五大基本部件组成，并规定了</a:t>
            </a:r>
            <a:r>
              <a:rPr lang="en-US" altLang="zh-CN" sz="2400" dirty="0"/>
              <a:t>5</a:t>
            </a:r>
            <a:r>
              <a:rPr lang="zh-CN" altLang="en-US" sz="2400" dirty="0"/>
              <a:t>部分的基本功能。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37">
            <a:extLst>
              <a:ext uri="{FF2B5EF4-FFF2-40B4-BE49-F238E27FC236}">
                <a16:creationId xmlns:a16="http://schemas.microsoft.com/office/drawing/2014/main" id="{8387300A-E20F-25D2-1ADA-7DE3E4A202DB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225550"/>
            <a:ext cx="7486650" cy="3689350"/>
            <a:chOff x="612" y="1029"/>
            <a:chExt cx="4716" cy="3099"/>
          </a:xfrm>
        </p:grpSpPr>
        <p:sp>
          <p:nvSpPr>
            <p:cNvPr id="34823" name="Rectangle 9">
              <a:extLst>
                <a:ext uri="{FF2B5EF4-FFF2-40B4-BE49-F238E27FC236}">
                  <a16:creationId xmlns:a16="http://schemas.microsoft.com/office/drawing/2014/main" id="{B88CFFD2-C93A-1ADF-0872-7AEE09710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762"/>
              <a:ext cx="27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图</a:t>
              </a:r>
              <a:r>
                <a:rPr kumimoji="0"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1.1 </a:t>
              </a:r>
              <a:r>
                <a:rPr kumimoji="0"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微型计算机的系统组成</a:t>
              </a:r>
            </a:p>
          </p:txBody>
        </p:sp>
        <p:sp>
          <p:nvSpPr>
            <p:cNvPr id="34824" name="Rectangle 10">
              <a:extLst>
                <a:ext uri="{FF2B5EF4-FFF2-40B4-BE49-F238E27FC236}">
                  <a16:creationId xmlns:a16="http://schemas.microsoft.com/office/drawing/2014/main" id="{FF1505B3-5685-E26E-BFC3-8F430E3BC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1846"/>
              <a:ext cx="1118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控制总线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CB</a:t>
              </a:r>
            </a:p>
          </p:txBody>
        </p:sp>
        <p:sp>
          <p:nvSpPr>
            <p:cNvPr id="34825" name="Rectangle 11">
              <a:extLst>
                <a:ext uri="{FF2B5EF4-FFF2-40B4-BE49-F238E27FC236}">
                  <a16:creationId xmlns:a16="http://schemas.microsoft.com/office/drawing/2014/main" id="{7B793B65-05DA-4D81-9B6B-F14759358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1533"/>
              <a:ext cx="1118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数据总线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DB</a:t>
              </a:r>
            </a:p>
          </p:txBody>
        </p:sp>
        <p:sp>
          <p:nvSpPr>
            <p:cNvPr id="34826" name="Rectangle 12">
              <a:extLst>
                <a:ext uri="{FF2B5EF4-FFF2-40B4-BE49-F238E27FC236}">
                  <a16:creationId xmlns:a16="http://schemas.microsoft.com/office/drawing/2014/main" id="{8D7D4AA7-C08B-2A16-3200-FDC9C77D9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1238"/>
              <a:ext cx="111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地址总线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34827" name="Rectangle 13">
              <a:extLst>
                <a:ext uri="{FF2B5EF4-FFF2-40B4-BE49-F238E27FC236}">
                  <a16:creationId xmlns:a16="http://schemas.microsoft.com/office/drawing/2014/main" id="{66BB9543-50FB-16BA-97A5-A802A11B5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1295"/>
              <a:ext cx="312" cy="1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系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统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总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线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形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成</a:t>
              </a:r>
            </a:p>
            <a:p>
              <a:pPr algn="ctr"/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8" name="Rectangle 14">
              <a:extLst>
                <a:ext uri="{FF2B5EF4-FFF2-40B4-BE49-F238E27FC236}">
                  <a16:creationId xmlns:a16="http://schemas.microsoft.com/office/drawing/2014/main" id="{30779076-FBFA-75FC-A488-B9BF4F01F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" y="1314"/>
              <a:ext cx="311" cy="1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处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理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器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子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系</a:t>
              </a: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统</a:t>
              </a:r>
            </a:p>
            <a:p>
              <a:pPr algn="ctr"/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9" name="Rectangle 15">
              <a:extLst>
                <a:ext uri="{FF2B5EF4-FFF2-40B4-BE49-F238E27FC236}">
                  <a16:creationId xmlns:a16="http://schemas.microsoft.com/office/drawing/2014/main" id="{7ADD3E3F-0CB8-BEF5-0535-C1FB5B87C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66"/>
              <a:ext cx="764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b="1">
                  <a:latin typeface="Times New Roman" panose="02020603050405020304" pitchFamily="18" charset="0"/>
                </a:rPr>
                <a:t>I/O</a:t>
              </a:r>
              <a:r>
                <a:rPr kumimoji="0" lang="zh-CN" altLang="en-US" b="1">
                  <a:latin typeface="Times New Roman" panose="02020603050405020304" pitchFamily="18" charset="0"/>
                </a:rPr>
                <a:t>设备</a:t>
              </a:r>
            </a:p>
          </p:txBody>
        </p:sp>
        <p:sp>
          <p:nvSpPr>
            <p:cNvPr id="34830" name="Rectangle 16">
              <a:extLst>
                <a:ext uri="{FF2B5EF4-FFF2-40B4-BE49-F238E27FC236}">
                  <a16:creationId xmlns:a16="http://schemas.microsoft.com/office/drawing/2014/main" id="{962B069B-86BB-DBEA-8E79-418C9D875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393"/>
              <a:ext cx="716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b="1">
                  <a:latin typeface="Times New Roman" panose="02020603050405020304" pitchFamily="18" charset="0"/>
                </a:rPr>
                <a:t>I/O</a:t>
              </a:r>
              <a:r>
                <a:rPr kumimoji="0" lang="zh-CN" altLang="en-US" b="1">
                  <a:latin typeface="Times New Roman" panose="02020603050405020304" pitchFamily="18" charset="0"/>
                </a:rPr>
                <a:t>接口</a:t>
              </a:r>
            </a:p>
          </p:txBody>
        </p:sp>
        <p:sp>
          <p:nvSpPr>
            <p:cNvPr id="34831" name="Rectangle 17">
              <a:extLst>
                <a:ext uri="{FF2B5EF4-FFF2-40B4-BE49-F238E27FC236}">
                  <a16:creationId xmlns:a16="http://schemas.microsoft.com/office/drawing/2014/main" id="{FB41A1A0-CB20-5063-63D5-36263D24F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" y="2393"/>
              <a:ext cx="66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存储器</a:t>
              </a:r>
            </a:p>
          </p:txBody>
        </p:sp>
        <p:sp>
          <p:nvSpPr>
            <p:cNvPr id="34832" name="Rectangle 18">
              <a:extLst>
                <a:ext uri="{FF2B5EF4-FFF2-40B4-BE49-F238E27FC236}">
                  <a16:creationId xmlns:a16="http://schemas.microsoft.com/office/drawing/2014/main" id="{13EBDB18-4164-B165-FC83-B667371F8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1029"/>
              <a:ext cx="1215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系统总线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BUS</a:t>
              </a:r>
            </a:p>
          </p:txBody>
        </p:sp>
        <p:sp>
          <p:nvSpPr>
            <p:cNvPr id="34833" name="Rectangle 19">
              <a:extLst>
                <a:ext uri="{FF2B5EF4-FFF2-40B4-BE49-F238E27FC236}">
                  <a16:creationId xmlns:a16="http://schemas.microsoft.com/office/drawing/2014/main" id="{867F30F6-0F19-D49C-F796-C8A2F7E42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7" y="2271"/>
              <a:ext cx="890" cy="132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4" name="Rectangle 20">
              <a:extLst>
                <a:ext uri="{FF2B5EF4-FFF2-40B4-BE49-F238E27FC236}">
                  <a16:creationId xmlns:a16="http://schemas.microsoft.com/office/drawing/2014/main" id="{0BFF78BA-5A38-BDAF-B9E8-5FE87EDC4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038"/>
              <a:ext cx="459" cy="21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5" name="Rectangle 21">
              <a:extLst>
                <a:ext uri="{FF2B5EF4-FFF2-40B4-BE49-F238E27FC236}">
                  <a16:creationId xmlns:a16="http://schemas.microsoft.com/office/drawing/2014/main" id="{3138B73E-FB17-5FE6-87E8-4F5C85CF2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" y="1038"/>
              <a:ext cx="326" cy="21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6" name="Line 22">
              <a:extLst>
                <a:ext uri="{FF2B5EF4-FFF2-40B4-BE49-F238E27FC236}">
                  <a16:creationId xmlns:a16="http://schemas.microsoft.com/office/drawing/2014/main" id="{5F6BA464-2068-9646-CB09-792222917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" y="1387"/>
              <a:ext cx="239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Line 23">
              <a:extLst>
                <a:ext uri="{FF2B5EF4-FFF2-40B4-BE49-F238E27FC236}">
                  <a16:creationId xmlns:a16="http://schemas.microsoft.com/office/drawing/2014/main" id="{0C79629C-3C4E-393B-AEDF-6B0E29BA9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" y="1663"/>
              <a:ext cx="239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Line 24">
              <a:extLst>
                <a:ext uri="{FF2B5EF4-FFF2-40B4-BE49-F238E27FC236}">
                  <a16:creationId xmlns:a16="http://schemas.microsoft.com/office/drawing/2014/main" id="{77EB1FBF-312F-6EAD-F7D9-E8440AAEA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" y="1921"/>
              <a:ext cx="239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Rectangle 25">
              <a:extLst>
                <a:ext uri="{FF2B5EF4-FFF2-40B4-BE49-F238E27FC236}">
                  <a16:creationId xmlns:a16="http://schemas.microsoft.com/office/drawing/2014/main" id="{E99416E3-42C0-6E4F-E0F0-54965529A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2363"/>
              <a:ext cx="785" cy="36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40" name="Line 26">
              <a:extLst>
                <a:ext uri="{FF2B5EF4-FFF2-40B4-BE49-F238E27FC236}">
                  <a16:creationId xmlns:a16="http://schemas.microsoft.com/office/drawing/2014/main" id="{60BBE093-EF0B-31FD-0839-6A9CC893D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0" y="2750"/>
              <a:ext cx="1" cy="36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27">
              <a:extLst>
                <a:ext uri="{FF2B5EF4-FFF2-40B4-BE49-F238E27FC236}">
                  <a16:creationId xmlns:a16="http://schemas.microsoft.com/office/drawing/2014/main" id="{8A809615-3C20-4EDC-E7EC-972283897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8" y="1672"/>
              <a:ext cx="297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Line 28">
              <a:extLst>
                <a:ext uri="{FF2B5EF4-FFF2-40B4-BE49-F238E27FC236}">
                  <a16:creationId xmlns:a16="http://schemas.microsoft.com/office/drawing/2014/main" id="{4D5F71F6-DE52-750B-C0C6-F514D3B47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9" y="1406"/>
              <a:ext cx="1" cy="9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29">
              <a:extLst>
                <a:ext uri="{FF2B5EF4-FFF2-40B4-BE49-F238E27FC236}">
                  <a16:creationId xmlns:a16="http://schemas.microsoft.com/office/drawing/2014/main" id="{83F5BCF8-683B-AD7A-FED9-0E27609DD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1" y="1699"/>
              <a:ext cx="1" cy="6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Line 30">
              <a:extLst>
                <a:ext uri="{FF2B5EF4-FFF2-40B4-BE49-F238E27FC236}">
                  <a16:creationId xmlns:a16="http://schemas.microsoft.com/office/drawing/2014/main" id="{FABB5C5F-59BF-3F9E-B657-2B5132715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965"/>
              <a:ext cx="1" cy="3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Rectangle 31">
              <a:extLst>
                <a:ext uri="{FF2B5EF4-FFF2-40B4-BE49-F238E27FC236}">
                  <a16:creationId xmlns:a16="http://schemas.microsoft.com/office/drawing/2014/main" id="{2A491A38-82E7-D89E-ADD5-DE3C6975A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2319"/>
              <a:ext cx="784" cy="36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46" name="Rectangle 32">
              <a:extLst>
                <a:ext uri="{FF2B5EF4-FFF2-40B4-BE49-F238E27FC236}">
                  <a16:creationId xmlns:a16="http://schemas.microsoft.com/office/drawing/2014/main" id="{9DAB8BC2-13EF-0205-C880-571A07328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3136"/>
              <a:ext cx="785" cy="37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47" name="Line 33">
              <a:extLst>
                <a:ext uri="{FF2B5EF4-FFF2-40B4-BE49-F238E27FC236}">
                  <a16:creationId xmlns:a16="http://schemas.microsoft.com/office/drawing/2014/main" id="{A7C95ECF-8AF5-0CC7-30C3-201C72172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1376"/>
              <a:ext cx="1" cy="9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Line 34">
              <a:extLst>
                <a:ext uri="{FF2B5EF4-FFF2-40B4-BE49-F238E27FC236}">
                  <a16:creationId xmlns:a16="http://schemas.microsoft.com/office/drawing/2014/main" id="{EC872F0B-7E6A-2CCB-AE20-749DC5FA2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670"/>
              <a:ext cx="1" cy="6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Line 35">
              <a:extLst>
                <a:ext uri="{FF2B5EF4-FFF2-40B4-BE49-F238E27FC236}">
                  <a16:creationId xmlns:a16="http://schemas.microsoft.com/office/drawing/2014/main" id="{A3A1B180-7084-63A8-94E8-1EB15C6CF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8" y="1936"/>
              <a:ext cx="1" cy="3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CEC9B83-30FC-3E51-92B0-1EA7DF4B6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1.2.2 </a:t>
            </a:r>
            <a:r>
              <a:rPr lang="zh-CN" altLang="en-US"/>
              <a:t>微型计算机的硬件组成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77E3020-F6DC-6170-747F-C8F36E06BA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47059" y="75036"/>
            <a:ext cx="2605534" cy="1356471"/>
          </a:xfrm>
          <a:solidFill>
            <a:schemeClr val="bg1"/>
          </a:solidFill>
          <a:ln w="76200" cmpd="tri">
            <a:solidFill>
              <a:schemeClr val="tx2"/>
            </a:solidFill>
            <a:miter lim="800000"/>
            <a:headEnd/>
            <a:tailEnd/>
          </a:ln>
        </p:spPr>
        <p:txBody>
          <a:bodyPr>
            <a:normAutofit fontScale="70000" lnSpcReduction="20000"/>
          </a:bodyPr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微处理器子系统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存储器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接口</a:t>
            </a:r>
            <a:endParaRPr lang="en-US" altLang="zh-CN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设备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系统总线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047A23-17FB-7BFD-2676-B05DCD600CD2}"/>
              </a:ext>
            </a:extLst>
          </p:cNvPr>
          <p:cNvSpPr txBox="1"/>
          <p:nvPr/>
        </p:nvSpPr>
        <p:spPr>
          <a:xfrm>
            <a:off x="7291059" y="3172376"/>
            <a:ext cx="1572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所有的外部设备都通过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I/O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接口与主机系统进行信息交换。</a:t>
            </a:r>
            <a:endParaRPr lang="en-US" altLang="zh-CN" sz="16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EF88CB6-CFF6-CA7A-FEE0-8C10728FF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系统总线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ED15CA6-6BCC-4196-6077-0085AFCF19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总线是传送信息的公共通道</a:t>
            </a:r>
          </a:p>
          <a:p>
            <a:pPr eaLnBrk="1" hangingPunct="1"/>
            <a:r>
              <a:rPr lang="zh-CN" altLang="en-US" dirty="0"/>
              <a:t>微机系统采用总线结构连接系统功能部件</a:t>
            </a:r>
          </a:p>
          <a:p>
            <a:pPr eaLnBrk="1" hangingPunct="1"/>
            <a:r>
              <a:rPr lang="zh-CN" altLang="en-US" dirty="0"/>
              <a:t>总线信号可分成三组</a:t>
            </a:r>
          </a:p>
          <a:p>
            <a:pPr lvl="1" eaLnBrk="1" hangingPunct="1"/>
            <a:r>
              <a:rPr lang="zh-CN" altLang="en-US" dirty="0"/>
              <a:t>地址总线</a:t>
            </a:r>
            <a:r>
              <a:rPr lang="en-US" altLang="zh-CN" dirty="0"/>
              <a:t>AB</a:t>
            </a:r>
            <a:r>
              <a:rPr lang="zh-CN" altLang="en-US" dirty="0"/>
              <a:t>：传送地址信息</a:t>
            </a:r>
            <a:endParaRPr lang="zh-CN" altLang="en-US" dirty="0">
              <a:hlinkClick r:id="" action="ppaction://noaction"/>
            </a:endParaRPr>
          </a:p>
          <a:p>
            <a:pPr lvl="1" eaLnBrk="1" hangingPunct="1"/>
            <a:r>
              <a:rPr lang="zh-CN" altLang="en-US" dirty="0"/>
              <a:t>数据总线</a:t>
            </a:r>
            <a:r>
              <a:rPr lang="en-US" altLang="zh-CN" dirty="0"/>
              <a:t>DB </a:t>
            </a:r>
            <a:r>
              <a:rPr lang="zh-CN" altLang="en-US" dirty="0"/>
              <a:t>：传送数据信息</a:t>
            </a:r>
          </a:p>
          <a:p>
            <a:pPr lvl="1" eaLnBrk="1" hangingPunct="1"/>
            <a:r>
              <a:rPr lang="zh-CN" altLang="en-US" dirty="0"/>
              <a:t>控制总线</a:t>
            </a:r>
            <a:r>
              <a:rPr lang="en-US" altLang="zh-CN" dirty="0"/>
              <a:t>CB </a:t>
            </a:r>
            <a:r>
              <a:rPr lang="zh-CN" altLang="en-US" dirty="0"/>
              <a:t>：传送控制信息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9181E1C-B46C-7D63-5F28-AE249C7D7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总线信号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C808ED7-F14B-C19F-245D-16C903C209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3844" y="1314450"/>
            <a:ext cx="8321243" cy="32845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地址总线</a:t>
            </a:r>
            <a:r>
              <a:rPr lang="en-US" altLang="zh-CN" sz="2000" dirty="0"/>
              <a:t>AB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输出将要访问的内存单元或</a:t>
            </a:r>
            <a:r>
              <a:rPr lang="en-US" altLang="zh-CN" sz="2000" dirty="0"/>
              <a:t>I/O</a:t>
            </a:r>
            <a:r>
              <a:rPr lang="zh-CN" altLang="en-US" sz="2000" dirty="0"/>
              <a:t>端口的地址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地址线的多少决定了系统</a:t>
            </a:r>
            <a:r>
              <a:rPr lang="zh-CN" altLang="en-US" sz="2000" u="sng" dirty="0"/>
              <a:t>直接寻址</a:t>
            </a:r>
            <a:r>
              <a:rPr lang="zh-CN" altLang="en-US" sz="2000" dirty="0"/>
              <a:t>存储器的范围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数据总线</a:t>
            </a:r>
            <a:r>
              <a:rPr lang="en-US" altLang="zh-CN" sz="2000" dirty="0"/>
              <a:t>DB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CPU</a:t>
            </a:r>
            <a:r>
              <a:rPr lang="zh-CN" altLang="en-US" sz="2000" dirty="0"/>
              <a:t>读操作时，外部数据通过数据总线送往</a:t>
            </a:r>
            <a:r>
              <a:rPr lang="en-US" altLang="zh-CN" sz="2000" dirty="0"/>
              <a:t>CPU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CPU</a:t>
            </a:r>
            <a:r>
              <a:rPr lang="zh-CN" altLang="en-US" sz="2000" dirty="0"/>
              <a:t>写操作时，</a:t>
            </a:r>
            <a:r>
              <a:rPr lang="en-US" altLang="zh-CN" sz="2000" dirty="0"/>
              <a:t>CPU</a:t>
            </a:r>
            <a:r>
              <a:rPr lang="zh-CN" altLang="en-US" sz="2000" dirty="0"/>
              <a:t>数据通过数据总线送往外部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数据线的多少决定了一次能够传送数据的位数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控制总线</a:t>
            </a:r>
            <a:r>
              <a:rPr lang="en-US" altLang="zh-CN" sz="2000" dirty="0"/>
              <a:t>CB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协调系统中各部件的操作，有输出控制、输入状态等信号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控制总线决定了系统总线的特点，例如功能、适应性等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D2B9897-5A54-DE8C-340C-7E9325A37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3845" y="274320"/>
            <a:ext cx="7886700" cy="994172"/>
          </a:xfrm>
        </p:spPr>
        <p:txBody>
          <a:bodyPr/>
          <a:lstStyle/>
          <a:p>
            <a:pPr eaLnBrk="1" hangingPunct="1"/>
            <a:r>
              <a:rPr lang="en-US" altLang="zh-CN" dirty="0"/>
              <a:t>Intel 80x86CPU</a:t>
            </a:r>
            <a:r>
              <a:rPr lang="zh-CN" altLang="en-US" dirty="0"/>
              <a:t>的地址线条数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1C16DED-CB64-4B3D-F877-E70FB64B61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68400"/>
            <a:ext cx="8574088" cy="356393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tabLst>
                <a:tab pos="3232150" algn="l"/>
                <a:tab pos="5737225" algn="l"/>
              </a:tabLst>
            </a:pPr>
            <a:r>
              <a:rPr lang="en-US" altLang="zh-CN" sz="3600" dirty="0"/>
              <a:t>Intel80x86	</a:t>
            </a:r>
            <a:r>
              <a:rPr lang="zh-CN" altLang="en-US" sz="3600" dirty="0"/>
              <a:t>地址条数	存储容量</a:t>
            </a:r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8086	20	1MB</a:t>
            </a:r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8088	20	1MB</a:t>
            </a:r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80286	24	16MB</a:t>
            </a:r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80386	32	4GB</a:t>
            </a:r>
          </a:p>
          <a:p>
            <a:pPr marL="0" indent="0" eaLnBrk="1" hangingPunct="1">
              <a:buFont typeface="Wingdings" panose="05000000000000000000" pitchFamily="2" charset="2"/>
              <a:buNone/>
              <a:tabLst>
                <a:tab pos="3232150" algn="l"/>
                <a:tab pos="5737225" algn="l"/>
              </a:tabLst>
            </a:pPr>
            <a:r>
              <a:rPr lang="en-US" altLang="zh-CN" dirty="0"/>
              <a:t>~Pentium4</a:t>
            </a:r>
          </a:p>
        </p:txBody>
      </p:sp>
    </p:spTree>
    <p:extLst>
      <p:ext uri="{BB962C8B-B14F-4D97-AF65-F5344CB8AC3E}">
        <p14:creationId xmlns:p14="http://schemas.microsoft.com/office/powerpoint/2010/main" val="463262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660AFBC-B05E-F6B0-CB17-ECE80C316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3845" y="274320"/>
            <a:ext cx="7886700" cy="994172"/>
          </a:xfrm>
        </p:spPr>
        <p:txBody>
          <a:bodyPr/>
          <a:lstStyle/>
          <a:p>
            <a:pPr eaLnBrk="1" hangingPunct="1"/>
            <a:r>
              <a:rPr lang="en-US" altLang="zh-CN"/>
              <a:t>Intel 80x86CPU</a:t>
            </a:r>
            <a:r>
              <a:rPr lang="zh-CN" altLang="en-US"/>
              <a:t>的数据线条数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F314AF-A007-CF15-64A8-605C18C4D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68400"/>
            <a:ext cx="8574088" cy="356393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tabLst>
                <a:tab pos="5386388" algn="l"/>
              </a:tabLst>
            </a:pPr>
            <a:r>
              <a:rPr lang="en-US" altLang="zh-CN" sz="3600"/>
              <a:t>Intel 80x86	</a:t>
            </a:r>
            <a:r>
              <a:rPr lang="zh-CN" altLang="en-US" sz="3600"/>
              <a:t>数据位数</a:t>
            </a:r>
          </a:p>
          <a:p>
            <a:pPr marL="0" indent="0" eaLnBrk="1" hangingPunct="1">
              <a:tabLst>
                <a:tab pos="5386388" algn="l"/>
              </a:tabLst>
            </a:pPr>
            <a:r>
              <a:rPr lang="en-US" altLang="zh-CN" sz="3600"/>
              <a:t>8086	16</a:t>
            </a:r>
          </a:p>
          <a:p>
            <a:pPr marL="0" indent="0" eaLnBrk="1" hangingPunct="1">
              <a:tabLst>
                <a:tab pos="5386388" algn="l"/>
              </a:tabLst>
            </a:pPr>
            <a:r>
              <a:rPr lang="en-US" altLang="zh-CN" sz="3600"/>
              <a:t>8088	8</a:t>
            </a:r>
          </a:p>
          <a:p>
            <a:pPr marL="0" indent="0" eaLnBrk="1" hangingPunct="1">
              <a:tabLst>
                <a:tab pos="5386388" algn="l"/>
              </a:tabLst>
            </a:pPr>
            <a:r>
              <a:rPr lang="en-US" altLang="zh-CN" sz="3600"/>
              <a:t>80286	16</a:t>
            </a:r>
          </a:p>
          <a:p>
            <a:pPr marL="0" indent="0" eaLnBrk="1" hangingPunct="1">
              <a:tabLst>
                <a:tab pos="5386388" algn="l"/>
              </a:tabLst>
            </a:pPr>
            <a:r>
              <a:rPr lang="en-US" altLang="zh-CN" sz="3600"/>
              <a:t>80386~Pentium 4	32</a:t>
            </a:r>
          </a:p>
        </p:txBody>
      </p:sp>
    </p:spTree>
    <p:extLst>
      <p:ext uri="{BB962C8B-B14F-4D97-AF65-F5344CB8AC3E}">
        <p14:creationId xmlns:p14="http://schemas.microsoft.com/office/powerpoint/2010/main" val="2173981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1C5C5C6-606C-1455-1E50-577EE5329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3845" y="274320"/>
            <a:ext cx="7886700" cy="994172"/>
          </a:xfrm>
        </p:spPr>
        <p:txBody>
          <a:bodyPr/>
          <a:lstStyle/>
          <a:p>
            <a:pPr eaLnBrk="1" hangingPunct="1"/>
            <a:r>
              <a:rPr lang="zh-CN" altLang="en-US"/>
              <a:t>系统总线的使用特点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360222F-41B6-EC0D-FB9A-A2EFE2E4FA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68400"/>
            <a:ext cx="8574088" cy="3563938"/>
          </a:xfrm>
        </p:spPr>
        <p:txBody>
          <a:bodyPr/>
          <a:lstStyle/>
          <a:p>
            <a:pPr marL="0" indent="0" eaLnBrk="1" hangingPunct="1">
              <a:tabLst>
                <a:tab pos="5386388" algn="l"/>
              </a:tabLst>
            </a:pPr>
            <a:r>
              <a:rPr lang="zh-CN" altLang="en-US" sz="2800"/>
              <a:t>除了</a:t>
            </a:r>
            <a:r>
              <a:rPr lang="en-US" altLang="zh-CN" sz="2800"/>
              <a:t>CPU</a:t>
            </a:r>
            <a:r>
              <a:rPr lang="zh-CN" altLang="en-US" sz="2800"/>
              <a:t>外，还有</a:t>
            </a:r>
            <a:r>
              <a:rPr lang="en-US" altLang="zh-CN" sz="2800"/>
              <a:t>DMA</a:t>
            </a:r>
            <a:r>
              <a:rPr lang="zh-CN" altLang="en-US" sz="2800"/>
              <a:t>控制器和协处理器都具有控制系统总线的能力。它们被称为</a:t>
            </a:r>
            <a:r>
              <a:rPr lang="zh-CN" altLang="en-US" sz="2800">
                <a:latin typeface="Times New Roman" panose="02020603050405020304" pitchFamily="18" charset="0"/>
              </a:rPr>
              <a:t>“</a:t>
            </a:r>
            <a:r>
              <a:rPr lang="zh-CN" altLang="en-US" sz="2800"/>
              <a:t>总线主控设备</a:t>
            </a:r>
            <a:r>
              <a:rPr lang="zh-CN" altLang="en-US" sz="2800">
                <a:latin typeface="Times New Roman" panose="02020603050405020304" pitchFamily="18" charset="0"/>
              </a:rPr>
              <a:t>”</a:t>
            </a:r>
            <a:endParaRPr lang="zh-CN" altLang="en-US" sz="2800"/>
          </a:p>
          <a:p>
            <a:pPr marL="0" indent="0" eaLnBrk="1" hangingPunct="1">
              <a:tabLst>
                <a:tab pos="5386388" algn="l"/>
              </a:tabLst>
            </a:pPr>
            <a:r>
              <a:rPr lang="zh-CN" altLang="en-US" sz="2800"/>
              <a:t>在某一个时刻，只能由一个总线主控设备来控制系统总线</a:t>
            </a:r>
          </a:p>
          <a:p>
            <a:pPr marL="0" indent="0" eaLnBrk="1" hangingPunct="1">
              <a:tabLst>
                <a:tab pos="5386388" algn="l"/>
              </a:tabLst>
            </a:pPr>
            <a:r>
              <a:rPr lang="zh-CN" altLang="en-US" sz="2800"/>
              <a:t>在连接系统总线的各个设备中，某一个时刻只能有一个发送者向总线发送信号；但可以有多个设备从总线上同时获得信号</a:t>
            </a:r>
          </a:p>
        </p:txBody>
      </p:sp>
    </p:spTree>
    <p:extLst>
      <p:ext uri="{BB962C8B-B14F-4D97-AF65-F5344CB8AC3E}">
        <p14:creationId xmlns:p14="http://schemas.microsoft.com/office/powerpoint/2010/main" val="306979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8" descr="ISA&amp;PCI">
            <a:extLst>
              <a:ext uri="{FF2B5EF4-FFF2-40B4-BE49-F238E27FC236}">
                <a16:creationId xmlns:a16="http://schemas.microsoft.com/office/drawing/2014/main" id="{6BB7D8B7-E6C6-C563-979E-063F08E92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7494"/>
            <a:ext cx="4936306" cy="4501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9" descr="USB接口">
            <a:extLst>
              <a:ext uri="{FF2B5EF4-FFF2-40B4-BE49-F238E27FC236}">
                <a16:creationId xmlns:a16="http://schemas.microsoft.com/office/drawing/2014/main" id="{0B897EEE-A633-6DFB-EF89-3C2F8F187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834" y="238919"/>
            <a:ext cx="1140810" cy="129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0">
            <a:extLst>
              <a:ext uri="{FF2B5EF4-FFF2-40B4-BE49-F238E27FC236}">
                <a16:creationId xmlns:a16="http://schemas.microsoft.com/office/drawing/2014/main" id="{CF27D176-023B-AC75-E017-626E164FB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986" y="3467895"/>
            <a:ext cx="1387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PCI</a:t>
            </a:r>
            <a:r>
              <a:rPr lang="zh-CN" altLang="en-US" b="1" dirty="0"/>
              <a:t>总线</a:t>
            </a:r>
          </a:p>
        </p:txBody>
      </p:sp>
      <p:sp>
        <p:nvSpPr>
          <p:cNvPr id="18" name="Line 42">
            <a:extLst>
              <a:ext uri="{FF2B5EF4-FFF2-40B4-BE49-F238E27FC236}">
                <a16:creationId xmlns:a16="http://schemas.microsoft.com/office/drawing/2014/main" id="{249D066F-B2B9-E1A3-07D4-E96A89CDC2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1958" y="1995687"/>
            <a:ext cx="2122984" cy="1275224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43">
            <a:extLst>
              <a:ext uri="{FF2B5EF4-FFF2-40B4-BE49-F238E27FC236}">
                <a16:creationId xmlns:a16="http://schemas.microsoft.com/office/drawing/2014/main" id="{AB754160-18AB-61EA-3C33-807D4FC039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1959" y="3147813"/>
            <a:ext cx="2122983" cy="14184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Text Box 44">
            <a:extLst>
              <a:ext uri="{FF2B5EF4-FFF2-40B4-BE49-F238E27FC236}">
                <a16:creationId xmlns:a16="http://schemas.microsoft.com/office/drawing/2014/main" id="{B097AEBA-7766-5AF3-F2F8-B9CC90FEF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2491" y="4610895"/>
            <a:ext cx="1384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ISA</a:t>
            </a:r>
            <a:r>
              <a:rPr lang="zh-CN" altLang="en-US" b="1"/>
              <a:t>总线</a:t>
            </a:r>
          </a:p>
        </p:txBody>
      </p:sp>
      <p:sp>
        <p:nvSpPr>
          <p:cNvPr id="21" name="Line 45">
            <a:extLst>
              <a:ext uri="{FF2B5EF4-FFF2-40B4-BE49-F238E27FC236}">
                <a16:creationId xmlns:a16="http://schemas.microsoft.com/office/drawing/2014/main" id="{D5C6E9F6-1D77-FDC4-7F5B-9678B630FE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40762" y="1667668"/>
            <a:ext cx="70581" cy="497581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Text Box 46">
            <a:extLst>
              <a:ext uri="{FF2B5EF4-FFF2-40B4-BE49-F238E27FC236}">
                <a16:creationId xmlns:a16="http://schemas.microsoft.com/office/drawing/2014/main" id="{95BD31D5-3F8A-D705-31EE-4EB9DCD83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3022" y="2401095"/>
            <a:ext cx="1467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USB</a:t>
            </a:r>
            <a:r>
              <a:rPr lang="zh-CN" altLang="en-US" b="1"/>
              <a:t>总线</a:t>
            </a:r>
          </a:p>
        </p:txBody>
      </p:sp>
    </p:spTree>
    <p:extLst>
      <p:ext uri="{BB962C8B-B14F-4D97-AF65-F5344CB8AC3E}">
        <p14:creationId xmlns:p14="http://schemas.microsoft.com/office/powerpoint/2010/main" val="1509191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1B850EB-0A23-C27E-8FB7-BAA71D154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I/O</a:t>
            </a:r>
            <a:r>
              <a:rPr lang="zh-CN" altLang="en-US" dirty="0"/>
              <a:t>接口和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883621A-B51C-758C-8D38-1FC241545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dirty="0"/>
              <a:t>I/O</a:t>
            </a:r>
            <a:r>
              <a:rPr lang="zh-CN" altLang="en-US" sz="2000" dirty="0"/>
              <a:t>设备</a:t>
            </a:r>
            <a:r>
              <a:rPr lang="en-US" altLang="zh-CN" sz="2000" dirty="0"/>
              <a:t>(Peripheral</a:t>
            </a:r>
            <a:r>
              <a:rPr lang="zh-CN" altLang="en-US" sz="2000" dirty="0"/>
              <a:t>）：用户与微机交互</a:t>
            </a:r>
          </a:p>
          <a:p>
            <a:pPr lvl="1"/>
            <a:r>
              <a:rPr lang="zh-CN" altLang="en-US" sz="2000" dirty="0"/>
              <a:t>输入（</a:t>
            </a:r>
            <a:r>
              <a:rPr lang="en-US" altLang="zh-CN" sz="2000" dirty="0"/>
              <a:t>Input</a:t>
            </a:r>
            <a:r>
              <a:rPr lang="zh-CN" altLang="en-US" sz="2000" dirty="0"/>
              <a:t>）设备</a:t>
            </a:r>
          </a:p>
          <a:p>
            <a:pPr lvl="2"/>
            <a:r>
              <a:rPr lang="zh-CN" altLang="en-US" sz="2000" dirty="0"/>
              <a:t>标准输入设备：键盘</a:t>
            </a:r>
          </a:p>
          <a:p>
            <a:pPr lvl="1"/>
            <a:r>
              <a:rPr lang="zh-CN" altLang="en-US" sz="2000" dirty="0"/>
              <a:t>输出（</a:t>
            </a:r>
            <a:r>
              <a:rPr lang="en-US" altLang="zh-CN" sz="2000" dirty="0"/>
              <a:t>Output</a:t>
            </a:r>
            <a:r>
              <a:rPr lang="zh-CN" altLang="en-US" sz="2000" dirty="0"/>
              <a:t>）设备</a:t>
            </a:r>
          </a:p>
          <a:p>
            <a:pPr lvl="2"/>
            <a:r>
              <a:rPr lang="zh-CN" altLang="en-US" sz="2000" dirty="0"/>
              <a:t>标准输出设备：显示器</a:t>
            </a:r>
          </a:p>
          <a:p>
            <a:r>
              <a:rPr lang="en-US" altLang="zh-CN" sz="2000" dirty="0"/>
              <a:t>I/O</a:t>
            </a:r>
            <a:r>
              <a:rPr lang="zh-CN" altLang="en-US" sz="2000" dirty="0"/>
              <a:t>接口</a:t>
            </a:r>
            <a:r>
              <a:rPr lang="en-US" altLang="zh-CN" sz="2000" dirty="0"/>
              <a:t>(Interface)</a:t>
            </a:r>
            <a:r>
              <a:rPr lang="zh-CN" altLang="en-US" sz="2000" dirty="0"/>
              <a:t>：外设和主机间的桥梁</a:t>
            </a:r>
          </a:p>
          <a:p>
            <a:pPr lvl="1"/>
            <a:r>
              <a:rPr lang="zh-CN" altLang="en-US" sz="2000" dirty="0"/>
              <a:t>完成信号变换、数据缓冲、联络控制等工作</a:t>
            </a:r>
          </a:p>
          <a:p>
            <a:pPr lvl="1"/>
            <a:r>
              <a:rPr lang="zh-CN" altLang="en-US" sz="2000" dirty="0"/>
              <a:t>较简单的</a:t>
            </a:r>
            <a:r>
              <a:rPr lang="en-US" altLang="zh-CN" sz="2000" dirty="0"/>
              <a:t>I/O</a:t>
            </a:r>
            <a:r>
              <a:rPr lang="zh-CN" altLang="en-US" sz="2000" dirty="0"/>
              <a:t>接口电路与主板一体</a:t>
            </a:r>
          </a:p>
          <a:p>
            <a:pPr lvl="1"/>
            <a:r>
              <a:rPr lang="zh-CN" altLang="en-US" sz="2000" dirty="0"/>
              <a:t>较复杂的</a:t>
            </a:r>
            <a:r>
              <a:rPr lang="en-US" altLang="zh-CN" sz="2000" dirty="0"/>
              <a:t>I/O</a:t>
            </a:r>
            <a:r>
              <a:rPr lang="zh-CN" altLang="en-US" sz="2000" dirty="0"/>
              <a:t>接口电路制成独立的电路板（接口卡</a:t>
            </a:r>
            <a:r>
              <a:rPr lang="en-US" altLang="zh-CN" sz="2000" dirty="0"/>
              <a:t>Card</a:t>
            </a:r>
            <a:r>
              <a:rPr lang="zh-CN" altLang="en-US" sz="2000" dirty="0"/>
              <a:t>），例如显卡。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11">
            <a:extLst>
              <a:ext uri="{FF2B5EF4-FFF2-40B4-BE49-F238E27FC236}">
                <a16:creationId xmlns:a16="http://schemas.microsoft.com/office/drawing/2014/main" id="{A31EA3BF-9129-6893-97DC-427CFAEE04B4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1071563"/>
            <a:ext cx="8534400" cy="3771900"/>
            <a:chOff x="192" y="912"/>
            <a:chExt cx="5376" cy="3168"/>
          </a:xfrm>
        </p:grpSpPr>
        <p:sp>
          <p:nvSpPr>
            <p:cNvPr id="46087" name="Rectangle 12">
              <a:extLst>
                <a:ext uri="{FF2B5EF4-FFF2-40B4-BE49-F238E27FC236}">
                  <a16:creationId xmlns:a16="http://schemas.microsoft.com/office/drawing/2014/main" id="{F2CFB43E-4AAF-7B34-AB84-7A8280539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" y="1666"/>
              <a:ext cx="354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8088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微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处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理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器</a:t>
              </a:r>
            </a:p>
          </p:txBody>
        </p:sp>
        <p:sp>
          <p:nvSpPr>
            <p:cNvPr id="46088" name="Rectangle 13">
              <a:extLst>
                <a:ext uri="{FF2B5EF4-FFF2-40B4-BE49-F238E27FC236}">
                  <a16:creationId xmlns:a16="http://schemas.microsoft.com/office/drawing/2014/main" id="{6D27DA13-603A-6D02-E262-D24FFA10C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" y="1666"/>
              <a:ext cx="354" cy="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8087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协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处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理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器</a:t>
              </a:r>
            </a:p>
          </p:txBody>
        </p:sp>
        <p:sp>
          <p:nvSpPr>
            <p:cNvPr id="46089" name="Rectangle 14">
              <a:extLst>
                <a:ext uri="{FF2B5EF4-FFF2-40B4-BE49-F238E27FC236}">
                  <a16:creationId xmlns:a16="http://schemas.microsoft.com/office/drawing/2014/main" id="{B40DEB60-5810-5AEF-5E9B-9B7657EAB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2572"/>
              <a:ext cx="720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8288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总线控制器</a:t>
              </a:r>
            </a:p>
          </p:txBody>
        </p:sp>
        <p:sp>
          <p:nvSpPr>
            <p:cNvPr id="46090" name="Rectangle 15">
              <a:extLst>
                <a:ext uri="{FF2B5EF4-FFF2-40B4-BE49-F238E27FC236}">
                  <a16:creationId xmlns:a16="http://schemas.microsoft.com/office/drawing/2014/main" id="{C7807E97-6FBC-799B-AA77-B97ADEDB2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2" y="1550"/>
              <a:ext cx="206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I/O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通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道</a:t>
              </a:r>
            </a:p>
          </p:txBody>
        </p:sp>
        <p:sp>
          <p:nvSpPr>
            <p:cNvPr id="46091" name="Rectangle 16">
              <a:extLst>
                <a:ext uri="{FF2B5EF4-FFF2-40B4-BE49-F238E27FC236}">
                  <a16:creationId xmlns:a16="http://schemas.microsoft.com/office/drawing/2014/main" id="{7144BCD8-DA4E-CF88-71F5-C1E691F9D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919"/>
              <a:ext cx="657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8259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中断控制器</a:t>
              </a:r>
            </a:p>
          </p:txBody>
        </p:sp>
        <p:sp>
          <p:nvSpPr>
            <p:cNvPr id="46092" name="Rectangle 17">
              <a:extLst>
                <a:ext uri="{FF2B5EF4-FFF2-40B4-BE49-F238E27FC236}">
                  <a16:creationId xmlns:a16="http://schemas.microsoft.com/office/drawing/2014/main" id="{6FF32A65-B3B8-5A60-2A53-6E01460D6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9" y="929"/>
              <a:ext cx="661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随机存储器</a:t>
              </a:r>
            </a:p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RAM</a:t>
              </a:r>
            </a:p>
          </p:txBody>
        </p:sp>
        <p:sp>
          <p:nvSpPr>
            <p:cNvPr id="46093" name="Rectangle 18">
              <a:extLst>
                <a:ext uri="{FF2B5EF4-FFF2-40B4-BE49-F238E27FC236}">
                  <a16:creationId xmlns:a16="http://schemas.microsoft.com/office/drawing/2014/main" id="{2F2D6DBE-E4F7-B38C-F283-95DE699B2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1" y="2577"/>
              <a:ext cx="661" cy="38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4" name="Rectangle 19">
              <a:extLst>
                <a:ext uri="{FF2B5EF4-FFF2-40B4-BE49-F238E27FC236}">
                  <a16:creationId xmlns:a16="http://schemas.microsoft.com/office/drawing/2014/main" id="{82615B6E-067C-01B2-6AA9-B4BE613C4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912"/>
              <a:ext cx="240" cy="234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5" name="Rectangle 20">
              <a:extLst>
                <a:ext uri="{FF2B5EF4-FFF2-40B4-BE49-F238E27FC236}">
                  <a16:creationId xmlns:a16="http://schemas.microsoft.com/office/drawing/2014/main" id="{4767F004-FF75-EB44-B4C1-693BBBE57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538"/>
              <a:ext cx="377" cy="119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6" name="Rectangle 21">
              <a:extLst>
                <a:ext uri="{FF2B5EF4-FFF2-40B4-BE49-F238E27FC236}">
                  <a16:creationId xmlns:a16="http://schemas.microsoft.com/office/drawing/2014/main" id="{595B8B72-8420-A7CF-31D9-A5F4A8363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1538"/>
              <a:ext cx="377" cy="119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7" name="Rectangle 22">
              <a:extLst>
                <a:ext uri="{FF2B5EF4-FFF2-40B4-BE49-F238E27FC236}">
                  <a16:creationId xmlns:a16="http://schemas.microsoft.com/office/drawing/2014/main" id="{F92C7FAB-1006-8751-9C94-5E8B563EE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" y="1396"/>
              <a:ext cx="774" cy="1693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8" name="Rectangle 23">
              <a:extLst>
                <a:ext uri="{FF2B5EF4-FFF2-40B4-BE49-F238E27FC236}">
                  <a16:creationId xmlns:a16="http://schemas.microsoft.com/office/drawing/2014/main" id="{53B71F62-9F43-58C2-7794-7E8AB283D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929"/>
              <a:ext cx="660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只读存储器</a:t>
              </a:r>
              <a:r>
                <a:rPr kumimoji="0" lang="en-US" altLang="zh-CN" sz="1600" b="1">
                  <a:latin typeface="Times New Roman" panose="02020603050405020304" pitchFamily="18" charset="0"/>
                </a:rPr>
                <a:t>ROM</a:t>
              </a:r>
            </a:p>
          </p:txBody>
        </p:sp>
        <p:sp>
          <p:nvSpPr>
            <p:cNvPr id="46099" name="Rectangle 24">
              <a:extLst>
                <a:ext uri="{FF2B5EF4-FFF2-40B4-BE49-F238E27FC236}">
                  <a16:creationId xmlns:a16="http://schemas.microsoft.com/office/drawing/2014/main" id="{3A5B95C6-23C5-B204-1B59-E68ECA904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912"/>
              <a:ext cx="761" cy="39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0" name="Rectangle 25">
              <a:extLst>
                <a:ext uri="{FF2B5EF4-FFF2-40B4-BE49-F238E27FC236}">
                  <a16:creationId xmlns:a16="http://schemas.microsoft.com/office/drawing/2014/main" id="{81303C13-0EEB-BE18-CBCC-FDB6C49BB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912"/>
              <a:ext cx="761" cy="39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1" name="Rectangle 26">
              <a:extLst>
                <a:ext uri="{FF2B5EF4-FFF2-40B4-BE49-F238E27FC236}">
                  <a16:creationId xmlns:a16="http://schemas.microsoft.com/office/drawing/2014/main" id="{0F1AB301-EA8F-14F6-1002-DD77DA0B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912"/>
              <a:ext cx="733" cy="39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2" name="Rectangle 27">
              <a:extLst>
                <a:ext uri="{FF2B5EF4-FFF2-40B4-BE49-F238E27FC236}">
                  <a16:creationId xmlns:a16="http://schemas.microsoft.com/office/drawing/2014/main" id="{F785DF38-9CE6-F620-864B-8182EB9CD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8" y="2773"/>
              <a:ext cx="752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8253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定时控制器</a:t>
              </a:r>
            </a:p>
          </p:txBody>
        </p:sp>
        <p:sp>
          <p:nvSpPr>
            <p:cNvPr id="46103" name="Rectangle 28">
              <a:extLst>
                <a:ext uri="{FF2B5EF4-FFF2-40B4-BE49-F238E27FC236}">
                  <a16:creationId xmlns:a16="http://schemas.microsoft.com/office/drawing/2014/main" id="{868D4B5D-62BA-501B-88E2-866529ABE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2783"/>
              <a:ext cx="762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4" name="Rectangle 29">
              <a:extLst>
                <a:ext uri="{FF2B5EF4-FFF2-40B4-BE49-F238E27FC236}">
                  <a16:creationId xmlns:a16="http://schemas.microsoft.com/office/drawing/2014/main" id="{DE06D926-7037-1487-7EC4-8B63EBDC4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2773"/>
              <a:ext cx="736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8237</a:t>
              </a:r>
            </a:p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DMA</a:t>
              </a:r>
              <a:r>
                <a:rPr kumimoji="0" lang="zh-CN" altLang="en-US" sz="1600" b="1">
                  <a:latin typeface="Times New Roman" panose="02020603050405020304" pitchFamily="18" charset="0"/>
                </a:rPr>
                <a:t>控制器</a:t>
              </a:r>
            </a:p>
          </p:txBody>
        </p:sp>
        <p:sp>
          <p:nvSpPr>
            <p:cNvPr id="46105" name="Rectangle 30">
              <a:extLst>
                <a:ext uri="{FF2B5EF4-FFF2-40B4-BE49-F238E27FC236}">
                  <a16:creationId xmlns:a16="http://schemas.microsoft.com/office/drawing/2014/main" id="{EACFDD4B-BD41-9588-FB78-7CCC3B1D4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2783"/>
              <a:ext cx="759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6" name="Rectangle 31">
              <a:extLst>
                <a:ext uri="{FF2B5EF4-FFF2-40B4-BE49-F238E27FC236}">
                  <a16:creationId xmlns:a16="http://schemas.microsoft.com/office/drawing/2014/main" id="{F4B817CF-78D2-F61F-C47D-96E5D8398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2773"/>
              <a:ext cx="63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8255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并行接口</a:t>
              </a:r>
            </a:p>
          </p:txBody>
        </p:sp>
        <p:sp>
          <p:nvSpPr>
            <p:cNvPr id="46107" name="Rectangle 32">
              <a:extLst>
                <a:ext uri="{FF2B5EF4-FFF2-40B4-BE49-F238E27FC236}">
                  <a16:creationId xmlns:a16="http://schemas.microsoft.com/office/drawing/2014/main" id="{331E7DFF-03EE-87AF-95E5-582D988D9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783"/>
              <a:ext cx="761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8" name="Rectangle 33">
              <a:extLst>
                <a:ext uri="{FF2B5EF4-FFF2-40B4-BE49-F238E27FC236}">
                  <a16:creationId xmlns:a16="http://schemas.microsoft.com/office/drawing/2014/main" id="{6C41B091-E9BE-B878-5B7F-0B81098D6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2105"/>
              <a:ext cx="62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控制总线</a:t>
              </a:r>
            </a:p>
          </p:txBody>
        </p:sp>
        <p:sp>
          <p:nvSpPr>
            <p:cNvPr id="46109" name="Rectangle 34">
              <a:extLst>
                <a:ext uri="{FF2B5EF4-FFF2-40B4-BE49-F238E27FC236}">
                  <a16:creationId xmlns:a16="http://schemas.microsoft.com/office/drawing/2014/main" id="{0F98C134-0BFE-57E4-CF13-6CAD69EBF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792"/>
              <a:ext cx="62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数据总线</a:t>
              </a:r>
            </a:p>
          </p:txBody>
        </p:sp>
        <p:sp>
          <p:nvSpPr>
            <p:cNvPr id="46110" name="Rectangle 35">
              <a:extLst>
                <a:ext uri="{FF2B5EF4-FFF2-40B4-BE49-F238E27FC236}">
                  <a16:creationId xmlns:a16="http://schemas.microsoft.com/office/drawing/2014/main" id="{5B4B2ADB-A00D-EA2A-A141-39549FDF6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479"/>
              <a:ext cx="62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地址总线</a:t>
              </a:r>
            </a:p>
          </p:txBody>
        </p:sp>
        <p:sp>
          <p:nvSpPr>
            <p:cNvPr id="46111" name="Rectangle 36">
              <a:extLst>
                <a:ext uri="{FF2B5EF4-FFF2-40B4-BE49-F238E27FC236}">
                  <a16:creationId xmlns:a16="http://schemas.microsoft.com/office/drawing/2014/main" id="{33CEE008-8EF9-0CCB-9545-E1D43D7DF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1604"/>
              <a:ext cx="71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地址锁存器</a:t>
              </a:r>
            </a:p>
          </p:txBody>
        </p:sp>
        <p:sp>
          <p:nvSpPr>
            <p:cNvPr id="46112" name="Rectangle 37">
              <a:extLst>
                <a:ext uri="{FF2B5EF4-FFF2-40B4-BE49-F238E27FC236}">
                  <a16:creationId xmlns:a16="http://schemas.microsoft.com/office/drawing/2014/main" id="{CF55B37E-EA65-EA50-3504-1832D8BED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1936"/>
              <a:ext cx="71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数据收发器</a:t>
              </a:r>
            </a:p>
          </p:txBody>
        </p:sp>
        <p:sp>
          <p:nvSpPr>
            <p:cNvPr id="46113" name="Line 38">
              <a:extLst>
                <a:ext uri="{FF2B5EF4-FFF2-40B4-BE49-F238E27FC236}">
                  <a16:creationId xmlns:a16="http://schemas.microsoft.com/office/drawing/2014/main" id="{29934832-3167-096D-965D-5672E19FA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2050"/>
              <a:ext cx="33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Line 39">
              <a:extLst>
                <a:ext uri="{FF2B5EF4-FFF2-40B4-BE49-F238E27FC236}">
                  <a16:creationId xmlns:a16="http://schemas.microsoft.com/office/drawing/2014/main" id="{2A71D027-49D4-CA0D-1241-D5FB5D3BD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1723"/>
              <a:ext cx="33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Line 40">
              <a:extLst>
                <a:ext uri="{FF2B5EF4-FFF2-40B4-BE49-F238E27FC236}">
                  <a16:creationId xmlns:a16="http://schemas.microsoft.com/office/drawing/2014/main" id="{CE506999-9EBC-E0FD-62E0-B51FC43E9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2363"/>
              <a:ext cx="42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Rectangle 41">
              <a:extLst>
                <a:ext uri="{FF2B5EF4-FFF2-40B4-BE49-F238E27FC236}">
                  <a16:creationId xmlns:a16="http://schemas.microsoft.com/office/drawing/2014/main" id="{0C3B692E-F0F5-B598-B9FC-57D0320DB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1908"/>
              <a:ext cx="668" cy="27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7" name="Rectangle 42">
              <a:extLst>
                <a:ext uri="{FF2B5EF4-FFF2-40B4-BE49-F238E27FC236}">
                  <a16:creationId xmlns:a16="http://schemas.microsoft.com/office/drawing/2014/main" id="{646F81D6-A7BF-7A58-DB88-E8769D70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1581"/>
              <a:ext cx="668" cy="27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8" name="Line 43">
              <a:extLst>
                <a:ext uri="{FF2B5EF4-FFF2-40B4-BE49-F238E27FC236}">
                  <a16:creationId xmlns:a16="http://schemas.microsoft.com/office/drawing/2014/main" id="{D3653B4C-96B4-5E0D-CF27-B533F9350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2050"/>
              <a:ext cx="22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Line 44">
              <a:extLst>
                <a:ext uri="{FF2B5EF4-FFF2-40B4-BE49-F238E27FC236}">
                  <a16:creationId xmlns:a16="http://schemas.microsoft.com/office/drawing/2014/main" id="{5204527B-555D-7286-9F55-9EA34242E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723"/>
              <a:ext cx="22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0" name="Rectangle 45">
              <a:extLst>
                <a:ext uri="{FF2B5EF4-FFF2-40B4-BE49-F238E27FC236}">
                  <a16:creationId xmlns:a16="http://schemas.microsoft.com/office/drawing/2014/main" id="{04F2A84E-7BB8-88B9-97F9-5A5AF8202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587"/>
              <a:ext cx="4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扬声器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接口</a:t>
              </a:r>
            </a:p>
          </p:txBody>
        </p:sp>
        <p:sp>
          <p:nvSpPr>
            <p:cNvPr id="46121" name="Line 46">
              <a:extLst>
                <a:ext uri="{FF2B5EF4-FFF2-40B4-BE49-F238E27FC236}">
                  <a16:creationId xmlns:a16="http://schemas.microsoft.com/office/drawing/2014/main" id="{D0C27DDC-7687-771C-6EE1-855EC05D2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" y="3200"/>
              <a:ext cx="2" cy="3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2" name="Rectangle 47">
              <a:extLst>
                <a:ext uri="{FF2B5EF4-FFF2-40B4-BE49-F238E27FC236}">
                  <a16:creationId xmlns:a16="http://schemas.microsoft.com/office/drawing/2014/main" id="{C642A77B-CCCD-5A76-57D6-BC2AA5266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0" y="3509"/>
              <a:ext cx="563" cy="4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3" name="Rectangle 48">
              <a:extLst>
                <a:ext uri="{FF2B5EF4-FFF2-40B4-BE49-F238E27FC236}">
                  <a16:creationId xmlns:a16="http://schemas.microsoft.com/office/drawing/2014/main" id="{98B90E81-EF33-B519-35E0-F97DE7202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" y="3117"/>
              <a:ext cx="669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8284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时钟发生器</a:t>
              </a:r>
            </a:p>
          </p:txBody>
        </p:sp>
        <p:sp>
          <p:nvSpPr>
            <p:cNvPr id="46124" name="Line 49">
              <a:extLst>
                <a:ext uri="{FF2B5EF4-FFF2-40B4-BE49-F238E27FC236}">
                  <a16:creationId xmlns:a16="http://schemas.microsoft.com/office/drawing/2014/main" id="{C2CC0249-5787-6CC7-D5E9-D1C8FEF6B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762"/>
              <a:ext cx="0" cy="2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Line 50">
              <a:extLst>
                <a:ext uri="{FF2B5EF4-FFF2-40B4-BE49-F238E27FC236}">
                  <a16:creationId xmlns:a16="http://schemas.microsoft.com/office/drawing/2014/main" id="{B8188929-2377-CD25-73D1-5D13A5B34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" y="2762"/>
              <a:ext cx="0" cy="2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6" name="Line 51">
              <a:extLst>
                <a:ext uri="{FF2B5EF4-FFF2-40B4-BE49-F238E27FC236}">
                  <a16:creationId xmlns:a16="http://schemas.microsoft.com/office/drawing/2014/main" id="{B611BEB0-84C8-3205-9CC8-74882B735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61"/>
              <a:ext cx="445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7" name="Rectangle 52">
              <a:extLst>
                <a:ext uri="{FF2B5EF4-FFF2-40B4-BE49-F238E27FC236}">
                  <a16:creationId xmlns:a16="http://schemas.microsoft.com/office/drawing/2014/main" id="{5DB65C9D-80C5-838E-56B8-BA9D72011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" y="3103"/>
              <a:ext cx="649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8" name="Rectangle 53">
              <a:extLst>
                <a:ext uri="{FF2B5EF4-FFF2-40B4-BE49-F238E27FC236}">
                  <a16:creationId xmlns:a16="http://schemas.microsoft.com/office/drawing/2014/main" id="{3D469062-5E25-CB93-BF5A-4F85ACD01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3561"/>
              <a:ext cx="343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键盘</a:t>
              </a: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接口</a:t>
              </a:r>
            </a:p>
          </p:txBody>
        </p:sp>
        <p:sp>
          <p:nvSpPr>
            <p:cNvPr id="46129" name="Rectangle 54">
              <a:extLst>
                <a:ext uri="{FF2B5EF4-FFF2-40B4-BE49-F238E27FC236}">
                  <a16:creationId xmlns:a16="http://schemas.microsoft.com/office/drawing/2014/main" id="{B02D76C3-667D-6595-BCD4-2AD6C8DB4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3487"/>
              <a:ext cx="343" cy="59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30" name="Rectangle 55">
              <a:extLst>
                <a:ext uri="{FF2B5EF4-FFF2-40B4-BE49-F238E27FC236}">
                  <a16:creationId xmlns:a16="http://schemas.microsoft.com/office/drawing/2014/main" id="{58FFE1C3-59FC-C5B8-9D0C-07DBCBE00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3485"/>
              <a:ext cx="307" cy="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系统配置开关</a:t>
              </a:r>
            </a:p>
            <a:p>
              <a:pPr algn="ctr"/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endParaRPr kumimoji="0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31" name="Rectangle 56">
              <a:extLst>
                <a:ext uri="{FF2B5EF4-FFF2-40B4-BE49-F238E27FC236}">
                  <a16:creationId xmlns:a16="http://schemas.microsoft.com/office/drawing/2014/main" id="{E7271532-922F-FEC8-17A4-C9222E816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3487"/>
              <a:ext cx="345" cy="59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32" name="Line 57">
              <a:extLst>
                <a:ext uri="{FF2B5EF4-FFF2-40B4-BE49-F238E27FC236}">
                  <a16:creationId xmlns:a16="http://schemas.microsoft.com/office/drawing/2014/main" id="{F2403A56-AE7C-CF92-8E4D-D212EA585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7" y="2961"/>
              <a:ext cx="0" cy="1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  <p:sp>
          <p:nvSpPr>
            <p:cNvPr id="46133" name="Line 58">
              <a:extLst>
                <a:ext uri="{FF2B5EF4-FFF2-40B4-BE49-F238E27FC236}">
                  <a16:creationId xmlns:a16="http://schemas.microsoft.com/office/drawing/2014/main" id="{69B9D637-96FF-529E-4DCA-6F443F9FB9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0" y="3200"/>
              <a:ext cx="2" cy="2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Line 59">
              <a:extLst>
                <a:ext uri="{FF2B5EF4-FFF2-40B4-BE49-F238E27FC236}">
                  <a16:creationId xmlns:a16="http://schemas.microsoft.com/office/drawing/2014/main" id="{6C0B0956-6684-F351-2AF6-8D7808972A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" y="3200"/>
              <a:ext cx="0" cy="2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35" name="Group 60">
              <a:extLst>
                <a:ext uri="{FF2B5EF4-FFF2-40B4-BE49-F238E27FC236}">
                  <a16:creationId xmlns:a16="http://schemas.microsoft.com/office/drawing/2014/main" id="{01C5BB38-4558-BF5C-61FA-90D5E10D0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6" y="1310"/>
              <a:ext cx="399" cy="1480"/>
              <a:chOff x="4668" y="1980"/>
              <a:chExt cx="528" cy="1560"/>
            </a:xfrm>
          </p:grpSpPr>
          <p:sp>
            <p:nvSpPr>
              <p:cNvPr id="46151" name="Line 61">
                <a:extLst>
                  <a:ext uri="{FF2B5EF4-FFF2-40B4-BE49-F238E27FC236}">
                    <a16:creationId xmlns:a16="http://schemas.microsoft.com/office/drawing/2014/main" id="{3E07E0DC-A989-2450-7B88-621C7B4A6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8" y="1980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2" name="Line 62">
                <a:extLst>
                  <a:ext uri="{FF2B5EF4-FFF2-40B4-BE49-F238E27FC236}">
                    <a16:creationId xmlns:a16="http://schemas.microsoft.com/office/drawing/2014/main" id="{F127706F-4021-3EA0-E505-5297BEE344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198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3" name="Line 63">
                <a:extLst>
                  <a:ext uri="{FF2B5EF4-FFF2-40B4-BE49-F238E27FC236}">
                    <a16:creationId xmlns:a16="http://schemas.microsoft.com/office/drawing/2014/main" id="{259A493B-311B-C785-AC2E-BD06E5375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1" y="3096"/>
                <a:ext cx="1" cy="4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54" name="Line 64">
                <a:extLst>
                  <a:ext uri="{FF2B5EF4-FFF2-40B4-BE49-F238E27FC236}">
                    <a16:creationId xmlns:a16="http://schemas.microsoft.com/office/drawing/2014/main" id="{BDF2D02B-DB2E-3762-255A-B6C96965B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276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5" name="Line 65">
                <a:extLst>
                  <a:ext uri="{FF2B5EF4-FFF2-40B4-BE49-F238E27FC236}">
                    <a16:creationId xmlns:a16="http://schemas.microsoft.com/office/drawing/2014/main" id="{57A6D113-1CDD-3A99-2862-85923D429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6" y="1980"/>
                <a:ext cx="0" cy="15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6136" name="Group 66">
              <a:extLst>
                <a:ext uri="{FF2B5EF4-FFF2-40B4-BE49-F238E27FC236}">
                  <a16:creationId xmlns:a16="http://schemas.microsoft.com/office/drawing/2014/main" id="{9AF9F310-D15C-38D6-3230-20DD574BF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1310"/>
              <a:ext cx="400" cy="1480"/>
              <a:chOff x="4668" y="1980"/>
              <a:chExt cx="528" cy="1560"/>
            </a:xfrm>
          </p:grpSpPr>
          <p:sp>
            <p:nvSpPr>
              <p:cNvPr id="46146" name="Line 67">
                <a:extLst>
                  <a:ext uri="{FF2B5EF4-FFF2-40B4-BE49-F238E27FC236}">
                    <a16:creationId xmlns:a16="http://schemas.microsoft.com/office/drawing/2014/main" id="{13FD4A99-CCF0-CC54-3061-8FC2D7C8D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8" y="1980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7" name="Line 68">
                <a:extLst>
                  <a:ext uri="{FF2B5EF4-FFF2-40B4-BE49-F238E27FC236}">
                    <a16:creationId xmlns:a16="http://schemas.microsoft.com/office/drawing/2014/main" id="{E0496599-72E2-9A54-983F-CF82A6441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198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8" name="Line 69">
                <a:extLst>
                  <a:ext uri="{FF2B5EF4-FFF2-40B4-BE49-F238E27FC236}">
                    <a16:creationId xmlns:a16="http://schemas.microsoft.com/office/drawing/2014/main" id="{81202984-643E-BE82-17C7-72119D482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1" y="3096"/>
                <a:ext cx="1" cy="4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49" name="Line 70">
                <a:extLst>
                  <a:ext uri="{FF2B5EF4-FFF2-40B4-BE49-F238E27FC236}">
                    <a16:creationId xmlns:a16="http://schemas.microsoft.com/office/drawing/2014/main" id="{235A4F91-D5CC-32A5-7289-2B1E98C5E8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276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0" name="Line 71">
                <a:extLst>
                  <a:ext uri="{FF2B5EF4-FFF2-40B4-BE49-F238E27FC236}">
                    <a16:creationId xmlns:a16="http://schemas.microsoft.com/office/drawing/2014/main" id="{ACBF0E76-C8B1-E148-E425-76528A0CA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6" y="1980"/>
                <a:ext cx="0" cy="15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6137" name="Group 72">
              <a:extLst>
                <a:ext uri="{FF2B5EF4-FFF2-40B4-BE49-F238E27FC236}">
                  <a16:creationId xmlns:a16="http://schemas.microsoft.com/office/drawing/2014/main" id="{169903B5-5D26-2F64-1D0B-E3F2C007BC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1" y="1310"/>
              <a:ext cx="400" cy="1480"/>
              <a:chOff x="4668" y="1980"/>
              <a:chExt cx="528" cy="1560"/>
            </a:xfrm>
          </p:grpSpPr>
          <p:sp>
            <p:nvSpPr>
              <p:cNvPr id="46141" name="Line 73">
                <a:extLst>
                  <a:ext uri="{FF2B5EF4-FFF2-40B4-BE49-F238E27FC236}">
                    <a16:creationId xmlns:a16="http://schemas.microsoft.com/office/drawing/2014/main" id="{1D769FBF-4F66-1035-2567-D16941B58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8" y="1980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2" name="Line 74">
                <a:extLst>
                  <a:ext uri="{FF2B5EF4-FFF2-40B4-BE49-F238E27FC236}">
                    <a16:creationId xmlns:a16="http://schemas.microsoft.com/office/drawing/2014/main" id="{98263896-86D5-DC73-6C41-082C208D68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198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3" name="Line 75">
                <a:extLst>
                  <a:ext uri="{FF2B5EF4-FFF2-40B4-BE49-F238E27FC236}">
                    <a16:creationId xmlns:a16="http://schemas.microsoft.com/office/drawing/2014/main" id="{54181241-0145-CDB0-700C-1ADA1E0C53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1" y="3096"/>
                <a:ext cx="1" cy="4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44" name="Line 76">
                <a:extLst>
                  <a:ext uri="{FF2B5EF4-FFF2-40B4-BE49-F238E27FC236}">
                    <a16:creationId xmlns:a16="http://schemas.microsoft.com/office/drawing/2014/main" id="{B9B295B1-14E7-0D47-BAF3-9412C06E6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276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5" name="Line 77">
                <a:extLst>
                  <a:ext uri="{FF2B5EF4-FFF2-40B4-BE49-F238E27FC236}">
                    <a16:creationId xmlns:a16="http://schemas.microsoft.com/office/drawing/2014/main" id="{5FF3ABC7-8D7B-AEE0-CFEC-851AB0DBB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6" y="1980"/>
                <a:ext cx="0" cy="15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6138" name="Line 78">
              <a:extLst>
                <a:ext uri="{FF2B5EF4-FFF2-40B4-BE49-F238E27FC236}">
                  <a16:creationId xmlns:a16="http://schemas.microsoft.com/office/drawing/2014/main" id="{E3CAA757-F220-CA0C-170A-133A1E8E84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8" y="2358"/>
              <a:ext cx="0" cy="2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9" name="Line 79">
              <a:extLst>
                <a:ext uri="{FF2B5EF4-FFF2-40B4-BE49-F238E27FC236}">
                  <a16:creationId xmlns:a16="http://schemas.microsoft.com/office/drawing/2014/main" id="{7027A57B-C03C-2C83-1D0A-E7240E393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2368"/>
              <a:ext cx="0" cy="42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Line 80">
              <a:extLst>
                <a:ext uri="{FF2B5EF4-FFF2-40B4-BE49-F238E27FC236}">
                  <a16:creationId xmlns:a16="http://schemas.microsoft.com/office/drawing/2014/main" id="{CD325CE4-B0D4-1B79-A728-107F587A7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" y="279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03AC4DF-F29E-6F01-BE45-A65AE7F5F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kumimoji="0" lang="en-US" altLang="zh-CN" dirty="0"/>
              <a:t>1.3</a:t>
            </a:r>
            <a:r>
              <a:rPr kumimoji="0" lang="zh-CN" altLang="en-US" dirty="0"/>
              <a:t>基于</a:t>
            </a:r>
            <a:r>
              <a:rPr kumimoji="0" lang="en-US" altLang="zh-CN" dirty="0"/>
              <a:t>8088CPU</a:t>
            </a:r>
            <a:r>
              <a:rPr kumimoji="0" lang="zh-CN" altLang="en-US" dirty="0"/>
              <a:t>的</a:t>
            </a:r>
            <a:r>
              <a:rPr kumimoji="0" lang="en-US" altLang="zh-CN" dirty="0"/>
              <a:t>PC</a:t>
            </a:r>
            <a:r>
              <a:rPr kumimoji="0" lang="zh-CN" altLang="en-US" dirty="0"/>
              <a:t>微机系统结构</a:t>
            </a:r>
          </a:p>
        </p:txBody>
      </p:sp>
    </p:spTree>
    <p:extLst>
      <p:ext uri="{BB962C8B-B14F-4D97-AF65-F5344CB8AC3E}">
        <p14:creationId xmlns:p14="http://schemas.microsoft.com/office/powerpoint/2010/main" val="208719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003AC4DF-F29E-6F01-BE45-A65AE7F5F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kumimoji="0" lang="en-US" altLang="zh-CN" dirty="0"/>
              <a:t>1.3</a:t>
            </a:r>
            <a:r>
              <a:rPr kumimoji="0" lang="zh-CN" altLang="en-US" dirty="0"/>
              <a:t>基于</a:t>
            </a:r>
            <a:r>
              <a:rPr kumimoji="0" lang="en-US" altLang="zh-CN" dirty="0"/>
              <a:t>8088CPU</a:t>
            </a:r>
            <a:r>
              <a:rPr kumimoji="0" lang="zh-CN" altLang="en-US" dirty="0"/>
              <a:t>的</a:t>
            </a:r>
            <a:r>
              <a:rPr kumimoji="0" lang="en-US" altLang="zh-CN" dirty="0"/>
              <a:t>PC</a:t>
            </a:r>
            <a:r>
              <a:rPr kumimoji="0" lang="zh-CN" altLang="en-US" dirty="0"/>
              <a:t>微机系统结构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30144BC-3119-FE6C-0596-BDC04393C8C6}"/>
              </a:ext>
            </a:extLst>
          </p:cNvPr>
          <p:cNvSpPr txBox="1">
            <a:spLocks noChangeArrowheads="1"/>
          </p:cNvSpPr>
          <p:nvPr/>
        </p:nvSpPr>
        <p:spPr>
          <a:xfrm>
            <a:off x="976745" y="1185862"/>
            <a:ext cx="7543800" cy="57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0" lang="en-US" altLang="zh-CN" dirty="0"/>
              <a:t>16</a:t>
            </a:r>
            <a:r>
              <a:rPr kumimoji="0" lang="zh-CN" altLang="en-US" dirty="0"/>
              <a:t>位</a:t>
            </a:r>
            <a:r>
              <a:rPr kumimoji="0" lang="en-US" altLang="zh-CN" dirty="0"/>
              <a:t>IBM PC</a:t>
            </a:r>
            <a:r>
              <a:rPr kumimoji="0" lang="zh-CN" altLang="en-US" dirty="0"/>
              <a:t>系列机是</a:t>
            </a:r>
            <a:r>
              <a:rPr kumimoji="0" lang="en-US" altLang="zh-CN" dirty="0"/>
              <a:t>32</a:t>
            </a:r>
            <a:r>
              <a:rPr kumimoji="0" lang="zh-CN" altLang="en-US" dirty="0"/>
              <a:t>位微机的基础</a:t>
            </a:r>
          </a:p>
        </p:txBody>
      </p:sp>
      <p:pic>
        <p:nvPicPr>
          <p:cNvPr id="26" name="Picture 6" descr="8088CPU">
            <a:extLst>
              <a:ext uri="{FF2B5EF4-FFF2-40B4-BE49-F238E27FC236}">
                <a16:creationId xmlns:a16="http://schemas.microsoft.com/office/drawing/2014/main" id="{4735E3E0-497A-8016-34CE-5B0595A9E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66900"/>
            <a:ext cx="19050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7" descr="IBM PC机">
            <a:extLst>
              <a:ext uri="{FF2B5EF4-FFF2-40B4-BE49-F238E27FC236}">
                <a16:creationId xmlns:a16="http://schemas.microsoft.com/office/drawing/2014/main" id="{30F5BA03-B00C-7F60-5AB6-867FD6FD6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89125"/>
            <a:ext cx="29718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8" descr="IBM PC-AT机">
            <a:extLst>
              <a:ext uri="{FF2B5EF4-FFF2-40B4-BE49-F238E27FC236}">
                <a16:creationId xmlns:a16="http://schemas.microsoft.com/office/drawing/2014/main" id="{A9BF0D1F-4334-F575-6AB4-881CC28F0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65450"/>
            <a:ext cx="32004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 Box 9">
            <a:extLst>
              <a:ext uri="{FF2B5EF4-FFF2-40B4-BE49-F238E27FC236}">
                <a16:creationId xmlns:a16="http://schemas.microsoft.com/office/drawing/2014/main" id="{88223BF3-01C4-0D95-E277-F18ADE1FE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438" y="1981200"/>
            <a:ext cx="1808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8088CPU</a:t>
            </a:r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41F12796-6E11-6F4F-80D5-DF593CC5A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41738"/>
            <a:ext cx="1909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BB3FF687-F357-CB51-B25C-0961D84F6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575175"/>
            <a:ext cx="25304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PC/AT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5009C03C-5760-909E-5B0A-11F03D0CD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4159250"/>
            <a:ext cx="2546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PC/XT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AD40F5-742A-CF23-298B-1EF6A3F6616C}"/>
              </a:ext>
            </a:extLst>
          </p:cNvPr>
          <p:cNvSpPr txBox="1"/>
          <p:nvPr/>
        </p:nvSpPr>
        <p:spPr>
          <a:xfrm>
            <a:off x="7291059" y="2508676"/>
            <a:ext cx="1572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8088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内部寄存器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位，外部数据总线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位。</a:t>
            </a:r>
            <a:endParaRPr lang="en-US" altLang="zh-CN" sz="16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746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>
            <a:extLst>
              <a:ext uri="{FF2B5EF4-FFF2-40B4-BE49-F238E27FC236}">
                <a16:creationId xmlns:a16="http://schemas.microsoft.com/office/drawing/2014/main" id="{1B5661EC-7B41-ACCF-3B56-8B29BF3B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60B11D-9E40-46C7-8419-D7AA8A578BDF}" type="slidenum">
              <a:rPr kumimoji="0" lang="en-US" altLang="zh-CN" sz="1400"/>
              <a:pPr eaLnBrk="1" hangingPunct="1"/>
              <a:t>26</a:t>
            </a:fld>
            <a:endParaRPr kumimoji="0" lang="en-US" altLang="zh-CN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45F2462-3367-162C-620B-6F29BA7C5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8088</a:t>
            </a:r>
            <a:r>
              <a:rPr lang="zh-CN" altLang="en-US" sz="4000"/>
              <a:t>的引脚图</a:t>
            </a:r>
          </a:p>
        </p:txBody>
      </p:sp>
      <p:pic>
        <p:nvPicPr>
          <p:cNvPr id="50182" name="Picture 52" descr="8088CPU">
            <a:extLst>
              <a:ext uri="{FF2B5EF4-FFF2-40B4-BE49-F238E27FC236}">
                <a16:creationId xmlns:a16="http://schemas.microsoft.com/office/drawing/2014/main" id="{F4E5B6DA-E9A0-8CA6-7187-8D2B7B7B9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0"/>
            <a:ext cx="24384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内容占位符 3" descr="cs.jpg">
            <a:extLst>
              <a:ext uri="{FF2B5EF4-FFF2-40B4-BE49-F238E27FC236}">
                <a16:creationId xmlns:a16="http://schemas.microsoft.com/office/drawing/2014/main" id="{0DCF2800-942C-D67E-6315-5E07BD5A0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071563"/>
            <a:ext cx="5173663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7B14370-93AF-BBA8-7C71-FBDC6CE33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1.3.1  </a:t>
            </a:r>
            <a:r>
              <a:rPr lang="zh-CN" altLang="en-US" dirty="0"/>
              <a:t>主机板组成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7D5C3-C299-8687-5ECE-7E92E3476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5474"/>
            <a:ext cx="7886700" cy="3263503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微处理器子系统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8088</a:t>
            </a:r>
            <a:r>
              <a:rPr lang="zh-CN" altLang="en-US" dirty="0"/>
              <a:t>：</a:t>
            </a:r>
            <a:r>
              <a:rPr lang="en-US" altLang="zh-CN" dirty="0"/>
              <a:t>16</a:t>
            </a:r>
            <a:r>
              <a:rPr lang="zh-CN" altLang="en-US" dirty="0"/>
              <a:t>位内部结构、</a:t>
            </a:r>
            <a:r>
              <a:rPr lang="en-US" altLang="zh-CN" dirty="0"/>
              <a:t>8</a:t>
            </a:r>
            <a:r>
              <a:rPr lang="zh-CN" altLang="en-US" dirty="0"/>
              <a:t>位数据总线、</a:t>
            </a:r>
            <a:r>
              <a:rPr lang="en-US" altLang="zh-CN" dirty="0"/>
              <a:t>20</a:t>
            </a:r>
            <a:r>
              <a:rPr lang="zh-CN" altLang="en-US" dirty="0"/>
              <a:t>位地址总线、</a:t>
            </a:r>
            <a:r>
              <a:rPr lang="en-US" altLang="zh-CN" dirty="0"/>
              <a:t>4.77MHz</a:t>
            </a:r>
            <a:r>
              <a:rPr lang="zh-CN" altLang="en-US" dirty="0"/>
              <a:t>主频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存储器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ROM-BIOS</a:t>
            </a:r>
            <a:r>
              <a:rPr lang="zh-CN" altLang="en-US" dirty="0"/>
              <a:t>、主体为</a:t>
            </a:r>
            <a:r>
              <a:rPr lang="en-US" altLang="zh-CN" dirty="0"/>
              <a:t>RAM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接口控制电路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8259A</a:t>
            </a:r>
            <a:r>
              <a:rPr lang="zh-CN" altLang="en-US" dirty="0"/>
              <a:t>、</a:t>
            </a:r>
            <a:r>
              <a:rPr lang="en-US" altLang="zh-CN" dirty="0"/>
              <a:t>8253</a:t>
            </a:r>
            <a:r>
              <a:rPr lang="zh-CN" altLang="en-US" dirty="0"/>
              <a:t>、</a:t>
            </a:r>
            <a:r>
              <a:rPr lang="en-US" altLang="zh-CN" dirty="0"/>
              <a:t>8237A</a:t>
            </a:r>
            <a:r>
              <a:rPr lang="zh-CN" altLang="en-US" dirty="0"/>
              <a:t>、</a:t>
            </a:r>
            <a:r>
              <a:rPr lang="en-US" altLang="zh-CN" dirty="0"/>
              <a:t>8255</a:t>
            </a:r>
            <a:r>
              <a:rPr lang="zh-CN" altLang="en-US" dirty="0"/>
              <a:t>等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通道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62</a:t>
            </a:r>
            <a:r>
              <a:rPr lang="zh-CN" altLang="en-US" dirty="0"/>
              <a:t>线的</a:t>
            </a:r>
            <a:r>
              <a:rPr lang="en-US" altLang="zh-CN" dirty="0"/>
              <a:t>IBM PC</a:t>
            </a:r>
            <a:r>
              <a:rPr lang="zh-CN" altLang="en-US" dirty="0"/>
              <a:t>总线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371DFEE5-1610-D0A0-84E6-725BC5E3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1.3.2  I/O</a:t>
            </a:r>
            <a:r>
              <a:rPr lang="zh-CN" altLang="en-US" dirty="0"/>
              <a:t>空间的分配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385A2F3E-C76E-5DE4-DA7D-FA99D4227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endParaRPr lang="en-US" altLang="zh-CN" dirty="0"/>
          </a:p>
          <a:p>
            <a:pPr marL="457200" indent="-457200"/>
            <a:r>
              <a:rPr lang="en-US" altLang="zh-CN" dirty="0"/>
              <a:t>80x86</a:t>
            </a:r>
            <a:r>
              <a:rPr lang="zh-CN" altLang="en-US" dirty="0"/>
              <a:t>访问外设时，只使用低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A</a:t>
            </a:r>
            <a:r>
              <a:rPr lang="en-US" altLang="zh-CN" baseline="-25000" dirty="0"/>
              <a:t>15</a:t>
            </a:r>
            <a:r>
              <a:rPr lang="zh-CN" altLang="en-US" dirty="0"/>
              <a:t>，寻址</a:t>
            </a:r>
            <a:r>
              <a:rPr lang="en-US" altLang="zh-CN" dirty="0"/>
              <a:t>64K</a:t>
            </a:r>
            <a:r>
              <a:rPr lang="zh-CN" altLang="en-US" dirty="0"/>
              <a:t>个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I/O</a:t>
            </a:r>
            <a:r>
              <a:rPr lang="zh-CN" altLang="en-US" dirty="0"/>
              <a:t>端口</a:t>
            </a:r>
            <a:endParaRPr lang="en-US" altLang="zh-CN" dirty="0"/>
          </a:p>
          <a:p>
            <a:pPr marL="457200" indent="-457200"/>
            <a:endParaRPr lang="zh-CN" altLang="en-US" dirty="0"/>
          </a:p>
          <a:p>
            <a:pPr marL="457200" indent="-457200"/>
            <a:r>
              <a:rPr lang="en-US" altLang="zh-CN" dirty="0"/>
              <a:t>PC</a:t>
            </a:r>
            <a:r>
              <a:rPr lang="zh-CN" altLang="en-US" dirty="0"/>
              <a:t>机仅使用低</a:t>
            </a:r>
            <a:r>
              <a:rPr lang="en-US" altLang="zh-CN" dirty="0"/>
              <a:t>10</a:t>
            </a:r>
            <a:r>
              <a:rPr lang="zh-CN" altLang="en-US" dirty="0"/>
              <a:t>位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A</a:t>
            </a:r>
            <a:r>
              <a:rPr lang="en-US" altLang="zh-CN" baseline="-25000" dirty="0"/>
              <a:t>9</a:t>
            </a:r>
            <a:r>
              <a:rPr lang="zh-CN" altLang="en-US" dirty="0"/>
              <a:t>，寻址</a:t>
            </a:r>
            <a:r>
              <a:rPr lang="en-US" altLang="zh-CN" dirty="0"/>
              <a:t>1024</a:t>
            </a:r>
            <a:r>
              <a:rPr lang="zh-CN" altLang="en-US" dirty="0"/>
              <a:t>个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I/O</a:t>
            </a:r>
            <a:r>
              <a:rPr lang="zh-CN" altLang="en-US" dirty="0"/>
              <a:t>端口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7">
            <a:extLst>
              <a:ext uri="{FF2B5EF4-FFF2-40B4-BE49-F238E27FC236}">
                <a16:creationId xmlns:a16="http://schemas.microsoft.com/office/drawing/2014/main" id="{9137AC8A-4F26-BAF9-015A-2FAB11DB5300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1071563"/>
            <a:ext cx="5029200" cy="3886200"/>
            <a:chOff x="-4" y="-4"/>
            <a:chExt cx="1280" cy="2125"/>
          </a:xfrm>
        </p:grpSpPr>
        <p:grpSp>
          <p:nvGrpSpPr>
            <p:cNvPr id="48136" name="Group 125">
              <a:extLst>
                <a:ext uri="{FF2B5EF4-FFF2-40B4-BE49-F238E27FC236}">
                  <a16:creationId xmlns:a16="http://schemas.microsoft.com/office/drawing/2014/main" id="{87450555-1606-22F6-52B7-61AB03B9B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272" cy="2117"/>
              <a:chOff x="0" y="0"/>
              <a:chExt cx="1272" cy="2117"/>
            </a:xfrm>
          </p:grpSpPr>
          <p:grpSp>
            <p:nvGrpSpPr>
              <p:cNvPr id="48138" name="Group 114">
                <a:extLst>
                  <a:ext uri="{FF2B5EF4-FFF2-40B4-BE49-F238E27FC236}">
                    <a16:creationId xmlns:a16="http://schemas.microsoft.com/office/drawing/2014/main" id="{6AFF6DE9-F2EF-E268-0635-9D07780B2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94" cy="958"/>
                <a:chOff x="0" y="0"/>
                <a:chExt cx="194" cy="958"/>
              </a:xfrm>
            </p:grpSpPr>
            <p:sp>
              <p:nvSpPr>
                <p:cNvPr id="48154" name="Rectangle 107">
                  <a:extLst>
                    <a:ext uri="{FF2B5EF4-FFF2-40B4-BE49-F238E27FC236}">
                      <a16:creationId xmlns:a16="http://schemas.microsoft.com/office/drawing/2014/main" id="{03A5BA1E-C8DF-9848-6A15-FB6C78AEA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" y="0"/>
                  <a:ext cx="172" cy="9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系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统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板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5" name="Rectangle 113">
                  <a:extLst>
                    <a:ext uri="{FF2B5EF4-FFF2-40B4-BE49-F238E27FC236}">
                      <a16:creationId xmlns:a16="http://schemas.microsoft.com/office/drawing/2014/main" id="{38DCBB2F-F824-1963-2738-80027FCBA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94" cy="958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39" name="Group 116">
                <a:extLst>
                  <a:ext uri="{FF2B5EF4-FFF2-40B4-BE49-F238E27FC236}">
                    <a16:creationId xmlns:a16="http://schemas.microsoft.com/office/drawing/2014/main" id="{517DC261-D363-EB46-B35F-18C83BF1EF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" y="0"/>
                <a:ext cx="380" cy="958"/>
                <a:chOff x="194" y="0"/>
                <a:chExt cx="380" cy="958"/>
              </a:xfrm>
            </p:grpSpPr>
            <p:sp>
              <p:nvSpPr>
                <p:cNvPr id="48152" name="Rectangle 108">
                  <a:extLst>
                    <a:ext uri="{FF2B5EF4-FFF2-40B4-BE49-F238E27FC236}">
                      <a16:creationId xmlns:a16="http://schemas.microsoft.com/office/drawing/2014/main" id="{F931AD11-D293-3CB0-4200-AEB578D6A9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" y="0"/>
                  <a:ext cx="358" cy="9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b="1">
                      <a:latin typeface="Times New Roman" panose="02020603050405020304" pitchFamily="18" charset="0"/>
                    </a:rPr>
                    <a:t>000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01F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020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03F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040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05F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060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07F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080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09F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0A0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0BF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0C0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0DF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0E0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0FF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3" name="Rectangle 115">
                  <a:extLst>
                    <a:ext uri="{FF2B5EF4-FFF2-40B4-BE49-F238E27FC236}">
                      <a16:creationId xmlns:a16="http://schemas.microsoft.com/office/drawing/2014/main" id="{CB47B492-48BB-1C63-6620-71E46410A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" y="0"/>
                  <a:ext cx="380" cy="958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0" name="Group 118">
                <a:extLst>
                  <a:ext uri="{FF2B5EF4-FFF2-40B4-BE49-F238E27FC236}">
                    <a16:creationId xmlns:a16="http://schemas.microsoft.com/office/drawing/2014/main" id="{452475CF-EC82-5420-43D6-930FF5D7B5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4" y="0"/>
                <a:ext cx="698" cy="958"/>
                <a:chOff x="574" y="0"/>
                <a:chExt cx="698" cy="958"/>
              </a:xfrm>
            </p:grpSpPr>
            <p:sp>
              <p:nvSpPr>
                <p:cNvPr id="48150" name="Rectangle 109">
                  <a:extLst>
                    <a:ext uri="{FF2B5EF4-FFF2-40B4-BE49-F238E27FC236}">
                      <a16:creationId xmlns:a16="http://schemas.microsoft.com/office/drawing/2014/main" id="{0A370A8A-D9A4-4722-F527-37D4E81FA0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5" y="0"/>
                  <a:ext cx="676" cy="9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b="1">
                      <a:latin typeface="Times New Roman" panose="02020603050405020304" pitchFamily="18" charset="0"/>
                    </a:rPr>
                    <a:t>DMA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控制器</a:t>
                  </a:r>
                  <a:r>
                    <a:rPr lang="en-US" altLang="zh-CN" sz="1200" b="1"/>
                    <a:t>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中断控制器</a:t>
                  </a:r>
                  <a:r>
                    <a:rPr lang="en-US" altLang="zh-CN" sz="1200" b="1"/>
                    <a:t>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定时计数器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并行接口电路</a:t>
                  </a:r>
                  <a:endParaRPr lang="zh-CN" altLang="en-US" sz="1200" b="1"/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DMA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页面寄存器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中断控制器</a:t>
                  </a:r>
                  <a:r>
                    <a:rPr lang="en-US" altLang="zh-CN" sz="1200" b="1"/>
                    <a:t>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DMA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控制器</a:t>
                  </a:r>
                  <a:r>
                    <a:rPr lang="en-US" altLang="zh-CN" sz="1200" b="1"/>
                    <a:t>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协处理器</a:t>
                  </a:r>
                  <a:endParaRPr lang="zh-CN" altLang="en-US" sz="1200" b="1"/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1" name="Rectangle 117">
                  <a:extLst>
                    <a:ext uri="{FF2B5EF4-FFF2-40B4-BE49-F238E27FC236}">
                      <a16:creationId xmlns:a16="http://schemas.microsoft.com/office/drawing/2014/main" id="{801883AF-75BE-EDB9-28A7-775D852DA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4" y="0"/>
                  <a:ext cx="698" cy="958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1" name="Group 120">
                <a:extLst>
                  <a:ext uri="{FF2B5EF4-FFF2-40B4-BE49-F238E27FC236}">
                    <a16:creationId xmlns:a16="http://schemas.microsoft.com/office/drawing/2014/main" id="{44774BBD-AA44-0C6A-CDC6-B26D0F4383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58"/>
                <a:ext cx="194" cy="1159"/>
                <a:chOff x="0" y="958"/>
                <a:chExt cx="194" cy="1159"/>
              </a:xfrm>
            </p:grpSpPr>
            <p:sp>
              <p:nvSpPr>
                <p:cNvPr id="48148" name="Rectangle 110">
                  <a:extLst>
                    <a:ext uri="{FF2B5EF4-FFF2-40B4-BE49-F238E27FC236}">
                      <a16:creationId xmlns:a16="http://schemas.microsoft.com/office/drawing/2014/main" id="{2FE82C38-0244-090A-79CD-9AEC3EED6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" y="958"/>
                  <a:ext cx="172" cy="1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I/O</a:t>
                  </a: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通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道</a:t>
                  </a:r>
                  <a:endParaRPr lang="zh-CN" altLang="en-US" sz="1600" b="1"/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49" name="Rectangle 119">
                  <a:extLst>
                    <a:ext uri="{FF2B5EF4-FFF2-40B4-BE49-F238E27FC236}">
                      <a16:creationId xmlns:a16="http://schemas.microsoft.com/office/drawing/2014/main" id="{82DCDBAD-2B13-2E56-3902-113C94358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58"/>
                  <a:ext cx="194" cy="1159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2" name="Group 122">
                <a:extLst>
                  <a:ext uri="{FF2B5EF4-FFF2-40B4-BE49-F238E27FC236}">
                    <a16:creationId xmlns:a16="http://schemas.microsoft.com/office/drawing/2014/main" id="{07AF3D1C-6636-2ED8-26FA-32A634F29A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" y="958"/>
                <a:ext cx="380" cy="1159"/>
                <a:chOff x="194" y="958"/>
                <a:chExt cx="380" cy="1159"/>
              </a:xfrm>
            </p:grpSpPr>
            <p:sp>
              <p:nvSpPr>
                <p:cNvPr id="48146" name="Rectangle 111">
                  <a:extLst>
                    <a:ext uri="{FF2B5EF4-FFF2-40B4-BE49-F238E27FC236}">
                      <a16:creationId xmlns:a16="http://schemas.microsoft.com/office/drawing/2014/main" id="{E00CE13F-49D7-57E0-E895-AAA4475452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" y="958"/>
                  <a:ext cx="358" cy="1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b="1">
                      <a:latin typeface="Times New Roman" panose="02020603050405020304" pitchFamily="18" charset="0"/>
                    </a:rPr>
                    <a:t>1F0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1F8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200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207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278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27F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2F8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2FF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378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37F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380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38F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3A0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3AF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3B0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3BF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3D0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3DF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3F0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3F7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3F8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3FF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2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47" name="Rectangle 121">
                  <a:extLst>
                    <a:ext uri="{FF2B5EF4-FFF2-40B4-BE49-F238E27FC236}">
                      <a16:creationId xmlns:a16="http://schemas.microsoft.com/office/drawing/2014/main" id="{5A71FB7B-893D-994B-FF9E-64D61007F8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" y="958"/>
                  <a:ext cx="380" cy="1159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3" name="Group 124">
                <a:extLst>
                  <a:ext uri="{FF2B5EF4-FFF2-40B4-BE49-F238E27FC236}">
                    <a16:creationId xmlns:a16="http://schemas.microsoft.com/office/drawing/2014/main" id="{0311E1B0-DFC8-FCEB-1DF9-E22D0832F5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4" y="958"/>
                <a:ext cx="698" cy="1159"/>
                <a:chOff x="574" y="958"/>
                <a:chExt cx="698" cy="1159"/>
              </a:xfrm>
            </p:grpSpPr>
            <p:sp>
              <p:nvSpPr>
                <p:cNvPr id="48144" name="Rectangle 112">
                  <a:extLst>
                    <a:ext uri="{FF2B5EF4-FFF2-40B4-BE49-F238E27FC236}">
                      <a16:creationId xmlns:a16="http://schemas.microsoft.com/office/drawing/2014/main" id="{81F5D5D8-AD53-40EC-BC78-A7E39CFFAD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5" y="958"/>
                  <a:ext cx="676" cy="1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>
                      <a:latin typeface="Times New Roman" panose="02020603050405020304" pitchFamily="18" charset="0"/>
                    </a:rPr>
                    <a:t>硬盘适配器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游戏接口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并行打印机接口</a:t>
                  </a:r>
                  <a:r>
                    <a:rPr lang="en-US" altLang="zh-CN" sz="1200" b="1"/>
                    <a:t>LPT2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串行通信接口</a:t>
                  </a:r>
                  <a:r>
                    <a:rPr lang="en-US" altLang="zh-CN" sz="1200" b="1"/>
                    <a:t>COM2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并行打印机接口</a:t>
                  </a:r>
                  <a:r>
                    <a:rPr lang="en-US" altLang="zh-CN" sz="1200" b="1"/>
                    <a:t>LPT1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SDLC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通信接口</a:t>
                  </a:r>
                  <a:endParaRPr lang="zh-CN" altLang="en-US" sz="1200" b="1"/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BSC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通信接口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单色显示</a:t>
                  </a:r>
                  <a:r>
                    <a:rPr lang="en-US" altLang="zh-CN" sz="1200" b="1"/>
                    <a:t>/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打印机适配器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彩色图形适配器</a:t>
                  </a:r>
                  <a:r>
                    <a:rPr lang="en-US" altLang="zh-CN" sz="1200" b="1"/>
                    <a:t>CGA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软盘适配器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串行通信接口</a:t>
                  </a:r>
                  <a:r>
                    <a:rPr lang="en-US" altLang="zh-CN" sz="1200" b="1"/>
                    <a:t>COM1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45" name="Rectangle 123">
                  <a:extLst>
                    <a:ext uri="{FF2B5EF4-FFF2-40B4-BE49-F238E27FC236}">
                      <a16:creationId xmlns:a16="http://schemas.microsoft.com/office/drawing/2014/main" id="{49B9AE6B-2BC6-8734-6B76-E0D347E07A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4" y="958"/>
                  <a:ext cx="698" cy="1159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48137" name="Rectangle 126">
              <a:extLst>
                <a:ext uri="{FF2B5EF4-FFF2-40B4-BE49-F238E27FC236}">
                  <a16:creationId xmlns:a16="http://schemas.microsoft.com/office/drawing/2014/main" id="{D2089098-7A9A-A4E7-0C95-01C799ACB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" y="-4"/>
              <a:ext cx="1280" cy="2125"/>
            </a:xfrm>
            <a:prstGeom prst="rect">
              <a:avLst/>
            </a:prstGeom>
            <a:noFill/>
            <a:ln w="2857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94959D1-2D36-0CC2-AF92-6CC2B58A4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1.3.2  I/O</a:t>
            </a:r>
            <a:r>
              <a:rPr lang="zh-CN" altLang="en-US" dirty="0"/>
              <a:t>空间的分配</a:t>
            </a:r>
          </a:p>
        </p:txBody>
      </p:sp>
      <p:sp>
        <p:nvSpPr>
          <p:cNvPr id="48133" name="Rectangle 39">
            <a:extLst>
              <a:ext uri="{FF2B5EF4-FFF2-40B4-BE49-F238E27FC236}">
                <a16:creationId xmlns:a16="http://schemas.microsoft.com/office/drawing/2014/main" id="{471C10AF-531F-7815-88B1-282C004E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4235450"/>
            <a:ext cx="3343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1000">
                <a:latin typeface="Times New Roman" panose="02020603050405020304" pitchFamily="18" charset="0"/>
              </a:rPr>
              <a:t> </a:t>
            </a:r>
          </a:p>
          <a:p>
            <a:pPr algn="just"/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FF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871A08-F988-9687-1A40-FB5F40DBF84B}"/>
              </a:ext>
            </a:extLst>
          </p:cNvPr>
          <p:cNvSpPr txBox="1">
            <a:spLocks/>
          </p:cNvSpPr>
          <p:nvPr/>
        </p:nvSpPr>
        <p:spPr>
          <a:xfrm>
            <a:off x="467544" y="915566"/>
            <a:ext cx="7886700" cy="18984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从功能分成两个单元：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sz="2400" b="1" dirty="0"/>
              <a:t>总线接口单元</a:t>
            </a:r>
            <a:r>
              <a:rPr kumimoji="0" lang="en-US" altLang="zh-CN" sz="2400" b="1" dirty="0"/>
              <a:t>BIU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——</a:t>
            </a:r>
            <a:r>
              <a:rPr kumimoji="0" lang="zh-CN" altLang="en-US" sz="2400" dirty="0"/>
              <a:t>管理</a:t>
            </a:r>
            <a:r>
              <a:rPr kumimoji="0" lang="en-US" altLang="zh-CN" sz="2400" dirty="0"/>
              <a:t>8088</a:t>
            </a:r>
            <a:r>
              <a:rPr kumimoji="0" lang="zh-CN" altLang="en-US" sz="2400" dirty="0"/>
              <a:t>与系统总线的接口，负责</a:t>
            </a:r>
            <a:r>
              <a:rPr kumimoji="0" lang="en-US" altLang="zh-CN" sz="2400" dirty="0"/>
              <a:t>CPU</a:t>
            </a:r>
            <a:r>
              <a:rPr kumimoji="0" lang="zh-CN" altLang="en-US" sz="2400" dirty="0"/>
              <a:t>对存储器和外设进行访问（</a:t>
            </a:r>
            <a:r>
              <a:rPr lang="zh-CN" altLang="en-US" sz="2400" dirty="0"/>
              <a:t>负责与内存或</a:t>
            </a:r>
            <a:r>
              <a:rPr lang="en-US" altLang="zh-CN" sz="2400" dirty="0"/>
              <a:t>I/O</a:t>
            </a:r>
            <a:r>
              <a:rPr lang="zh-CN" altLang="en-US" sz="2400" dirty="0"/>
              <a:t>端口传送指令或数据</a:t>
            </a:r>
            <a:r>
              <a:rPr kumimoji="0" lang="zh-CN" altLang="en-US" sz="2400" dirty="0"/>
              <a:t>）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sz="2400" b="1" dirty="0"/>
              <a:t>执行单元</a:t>
            </a:r>
            <a:r>
              <a:rPr kumimoji="0" lang="en-US" altLang="zh-CN" sz="2400" b="1" dirty="0"/>
              <a:t>EU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——</a:t>
            </a:r>
            <a:r>
              <a:rPr kumimoji="0" lang="zh-CN" altLang="en-US" sz="2400" dirty="0"/>
              <a:t>负责指令的译码、执行和数据的运算</a:t>
            </a:r>
            <a:endParaRPr kumimoji="0"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8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18DBA7-D4F6-68EE-FA0D-2840FE9F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713254"/>
          </a:xfrm>
        </p:spPr>
        <p:txBody>
          <a:bodyPr/>
          <a:lstStyle/>
          <a:p>
            <a:r>
              <a:rPr lang="en-US" altLang="zh-CN" dirty="0"/>
              <a:t>1.3.3 8088</a:t>
            </a:r>
            <a:r>
              <a:rPr lang="zh-CN" altLang="en-US" dirty="0"/>
              <a:t>内部结构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B5F6CD-8DEA-A955-5C78-6C4229359CD8}"/>
              </a:ext>
            </a:extLst>
          </p:cNvPr>
          <p:cNvSpPr txBox="1"/>
          <p:nvPr/>
        </p:nvSpPr>
        <p:spPr>
          <a:xfrm>
            <a:off x="4736993" y="2860628"/>
            <a:ext cx="35283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EU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的功能：</a:t>
            </a:r>
            <a:endParaRPr lang="en-US" altLang="zh-CN" sz="18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执行指令（</a:t>
            </a:r>
            <a:r>
              <a:rPr lang="en-US" altLang="zh-CN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ALU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18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分析指令</a:t>
            </a:r>
            <a:endParaRPr lang="en-US" altLang="zh-CN" sz="18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暂存计算结果（通用寄存器组）</a:t>
            </a:r>
            <a:endParaRPr lang="en-US" altLang="zh-CN" sz="18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保留运算结果的特征（标志寄存器）</a:t>
            </a:r>
            <a:endParaRPr lang="en-US" altLang="zh-CN" sz="18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2A3149-0C4E-0663-4C5F-6CC855C1C0D8}"/>
              </a:ext>
            </a:extLst>
          </p:cNvPr>
          <p:cNvSpPr txBox="1"/>
          <p:nvPr/>
        </p:nvSpPr>
        <p:spPr>
          <a:xfrm>
            <a:off x="856322" y="2855077"/>
            <a:ext cx="3528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访问内存或</a:t>
            </a:r>
            <a:r>
              <a:rPr lang="en-US" altLang="zh-CN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I/O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接口</a:t>
            </a:r>
            <a:r>
              <a:rPr lang="en-US" altLang="zh-CN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指令队列实现指令预取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地址加法器算出访问的地址（段寄存器和指令中的地址）</a:t>
            </a:r>
            <a:endParaRPr lang="en-US" altLang="zh-CN" sz="1800" dirty="0">
              <a:solidFill>
                <a:schemeClr val="accent5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8709308"/>
      </p:ext>
    </p:extLst>
  </p:cSld>
  <p:clrMapOvr>
    <a:masterClrMapping/>
  </p:clrMapOvr>
  <p:transition spd="slow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871A08-F988-9687-1A40-FB5F40DBF84B}"/>
              </a:ext>
            </a:extLst>
          </p:cNvPr>
          <p:cNvSpPr txBox="1">
            <a:spLocks/>
          </p:cNvSpPr>
          <p:nvPr/>
        </p:nvSpPr>
        <p:spPr>
          <a:xfrm>
            <a:off x="6914813" y="483518"/>
            <a:ext cx="1982044" cy="424847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200" dirty="0"/>
              <a:t> </a:t>
            </a:r>
            <a:r>
              <a:rPr lang="zh-CN" altLang="en-US" sz="1600" dirty="0"/>
              <a:t>①</a:t>
            </a:r>
            <a:r>
              <a:rPr lang="en-US" altLang="zh-CN" sz="1600" dirty="0"/>
              <a:t>BIU</a:t>
            </a:r>
            <a:r>
              <a:rPr lang="zh-CN" altLang="en-US" sz="1600" dirty="0"/>
              <a:t>从内存取指令送到指令队列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600" dirty="0"/>
              <a:t> ②当</a:t>
            </a:r>
            <a:r>
              <a:rPr lang="en-US" altLang="zh-CN" sz="1600" dirty="0"/>
              <a:t>EU</a:t>
            </a:r>
            <a:r>
              <a:rPr lang="zh-CN" altLang="en-US" sz="1600" dirty="0"/>
              <a:t>执行指令时，</a:t>
            </a:r>
            <a:r>
              <a:rPr lang="en-US" altLang="zh-CN" sz="1600" dirty="0"/>
              <a:t>BIU</a:t>
            </a:r>
            <a:r>
              <a:rPr lang="zh-CN" altLang="en-US" sz="1600" dirty="0"/>
              <a:t>要配合</a:t>
            </a:r>
            <a:r>
              <a:rPr lang="en-US" altLang="zh-CN" sz="1600" dirty="0"/>
              <a:t>EU</a:t>
            </a:r>
            <a:r>
              <a:rPr lang="zh-CN" altLang="en-US" sz="1600" dirty="0"/>
              <a:t>从指定的内存单元或</a:t>
            </a:r>
            <a:r>
              <a:rPr lang="en-US" altLang="zh-CN" sz="1600" dirty="0"/>
              <a:t>I/O</a:t>
            </a:r>
            <a:r>
              <a:rPr lang="zh-CN" altLang="en-US" sz="1600" dirty="0"/>
              <a:t>端口中读取数据，或者把</a:t>
            </a:r>
            <a:r>
              <a:rPr lang="en-US" altLang="zh-CN" sz="1600" dirty="0"/>
              <a:t>EU</a:t>
            </a:r>
            <a:r>
              <a:rPr lang="zh-CN" altLang="en-US" sz="1600" dirty="0"/>
              <a:t>的操作结果送到指定的内存单元或</a:t>
            </a:r>
            <a:r>
              <a:rPr lang="en-US" altLang="zh-CN" sz="1600" dirty="0"/>
              <a:t>I/O</a:t>
            </a:r>
            <a:r>
              <a:rPr lang="zh-CN" altLang="en-US" sz="1600" dirty="0"/>
              <a:t>端口去。</a:t>
            </a:r>
            <a:endParaRPr lang="en-US" altLang="zh-CN" sz="1600" dirty="0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1600" dirty="0"/>
          </a:p>
          <a:p>
            <a:pPr fontAlgn="auto">
              <a:spcAft>
                <a:spcPts val="0"/>
              </a:spcAft>
            </a:pPr>
            <a:r>
              <a:rPr kumimoji="0" lang="zh-CN" altLang="en-US" sz="1600" dirty="0"/>
              <a:t>两个单元相互独立，分别完成各自操作</a:t>
            </a:r>
          </a:p>
          <a:p>
            <a:pPr fontAlgn="auto">
              <a:spcAft>
                <a:spcPts val="0"/>
              </a:spcAft>
            </a:pPr>
            <a:r>
              <a:rPr kumimoji="0" lang="zh-CN" altLang="en-US" sz="1600" dirty="0"/>
              <a:t>两个单元可以并行执行，实现指令取指和执行的流水线操作</a:t>
            </a:r>
          </a:p>
        </p:txBody>
      </p:sp>
      <p:pic>
        <p:nvPicPr>
          <p:cNvPr id="2" name="内容占位符 4" descr="cs2.jpg">
            <a:extLst>
              <a:ext uri="{FF2B5EF4-FFF2-40B4-BE49-F238E27FC236}">
                <a16:creationId xmlns:a16="http://schemas.microsoft.com/office/drawing/2014/main" id="{3454D74E-63BB-A350-834C-2EEC79A34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8320"/>
            <a:ext cx="6375261" cy="460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2207873"/>
      </p:ext>
    </p:extLst>
  </p:cSld>
  <p:clrMapOvr>
    <a:masterClrMapping/>
  </p:clrMapOvr>
  <p:transition spd="slow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>
            <a:extLst>
              <a:ext uri="{FF2B5EF4-FFF2-40B4-BE49-F238E27FC236}">
                <a16:creationId xmlns:a16="http://schemas.microsoft.com/office/drawing/2014/main" id="{C64EAA82-F30D-2A30-86F2-635948BBD3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704055"/>
            <a:ext cx="8726488" cy="2920207"/>
          </a:xfrm>
        </p:spPr>
        <p:txBody>
          <a:bodyPr/>
          <a:lstStyle/>
          <a:p>
            <a:r>
              <a:rPr lang="zh-CN" altLang="en-US" sz="1800" dirty="0"/>
              <a:t>早期的</a:t>
            </a:r>
            <a:r>
              <a:rPr kumimoji="0" lang="en-US" altLang="zh-CN" sz="1800" dirty="0"/>
              <a:t>CPU</a:t>
            </a:r>
            <a:r>
              <a:rPr kumimoji="0" lang="zh-CN" altLang="en-US" sz="1800" dirty="0"/>
              <a:t>执行指令的过程是：取指令－</a:t>
            </a:r>
            <a:r>
              <a:rPr kumimoji="0" lang="en-US" altLang="zh-CN" sz="1800" dirty="0"/>
              <a:t>&gt;</a:t>
            </a:r>
            <a:r>
              <a:rPr kumimoji="0" lang="zh-CN" altLang="en-US" sz="1800" dirty="0"/>
              <a:t>执行指令－</a:t>
            </a:r>
            <a:r>
              <a:rPr kumimoji="0" lang="en-US" altLang="zh-CN" sz="1800" dirty="0"/>
              <a:t>&gt;</a:t>
            </a:r>
            <a:r>
              <a:rPr kumimoji="0" lang="zh-CN" altLang="en-US" sz="1800" dirty="0"/>
              <a:t>再取指令－</a:t>
            </a:r>
            <a:r>
              <a:rPr kumimoji="0" lang="en-US" altLang="zh-CN" sz="1800" dirty="0"/>
              <a:t>&gt;</a:t>
            </a:r>
            <a:r>
              <a:rPr kumimoji="0" lang="en-US" altLang="zh-CN" sz="1800" dirty="0">
                <a:latin typeface="Times New Roman" panose="02020603050405020304" pitchFamily="18" charset="0"/>
              </a:rPr>
              <a:t>……</a:t>
            </a:r>
            <a:r>
              <a:rPr kumimoji="0" lang="zh-CN" altLang="en-US" sz="1800" dirty="0"/>
              <a:t>，串行执行。</a:t>
            </a:r>
            <a:r>
              <a:rPr lang="en-US" altLang="zh-CN" sz="1800" dirty="0"/>
              <a:t>CPU</a:t>
            </a:r>
            <a:r>
              <a:rPr lang="zh-CN" altLang="en-US" sz="1800" dirty="0"/>
              <a:t>效率较低。</a:t>
            </a:r>
          </a:p>
          <a:p>
            <a:pPr eaLnBrk="1" hangingPunct="1"/>
            <a:endParaRPr lang="zh-CN" altLang="en-US" sz="2000" dirty="0"/>
          </a:p>
          <a:p>
            <a:pPr eaLnBrk="1" hangingPunct="1"/>
            <a:endParaRPr lang="zh-CN" altLang="en-US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r>
              <a:rPr lang="zh-CN" altLang="en-US" sz="1800" dirty="0"/>
              <a:t>在流水线方式下，</a:t>
            </a:r>
            <a:r>
              <a:rPr lang="en-US" altLang="zh-CN" sz="1800" dirty="0"/>
              <a:t>BIU</a:t>
            </a:r>
            <a:r>
              <a:rPr lang="zh-CN" altLang="en-US" sz="1800" dirty="0"/>
              <a:t>与</a:t>
            </a:r>
            <a:r>
              <a:rPr lang="en-US" altLang="zh-CN" sz="1800" dirty="0"/>
              <a:t>EU</a:t>
            </a:r>
            <a:r>
              <a:rPr lang="zh-CN" altLang="en-US" sz="1800" dirty="0"/>
              <a:t>同时动作（并行）完成指令周期，</a:t>
            </a:r>
            <a:r>
              <a:rPr kumimoji="0" lang="zh-CN" altLang="en-US" sz="1800" dirty="0"/>
              <a:t>使得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“</a:t>
            </a:r>
            <a:r>
              <a:rPr kumimoji="0" lang="zh-CN" altLang="en-US" sz="1800" dirty="0"/>
              <a:t>取指令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”</a:t>
            </a:r>
            <a:r>
              <a:rPr kumimoji="0" lang="zh-CN" altLang="en-US" sz="1800" dirty="0"/>
              <a:t>和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“</a:t>
            </a:r>
            <a:r>
              <a:rPr kumimoji="0" lang="zh-CN" altLang="en-US" sz="1800" dirty="0"/>
              <a:t>执行指令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”</a:t>
            </a:r>
            <a:r>
              <a:rPr kumimoji="0" lang="zh-CN" altLang="en-US" sz="1800" dirty="0"/>
              <a:t>的操作在时间上是并行的，</a:t>
            </a:r>
            <a:r>
              <a:rPr lang="en-US" altLang="zh-CN" sz="1800" dirty="0"/>
              <a:t>CPU</a:t>
            </a:r>
            <a:r>
              <a:rPr lang="zh-CN" altLang="en-US" sz="1800" dirty="0"/>
              <a:t>效率高。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7A02573-A8AA-BE2A-C5A1-61790401EC40}"/>
              </a:ext>
            </a:extLst>
          </p:cNvPr>
          <p:cNvGrpSpPr/>
          <p:nvPr/>
        </p:nvGrpSpPr>
        <p:grpSpPr>
          <a:xfrm>
            <a:off x="918642" y="1635646"/>
            <a:ext cx="7086600" cy="800100"/>
            <a:chOff x="1012304" y="1218406"/>
            <a:chExt cx="7086600" cy="800100"/>
          </a:xfrm>
        </p:grpSpPr>
        <p:sp>
          <p:nvSpPr>
            <p:cNvPr id="71684" name="Rectangle 4">
              <a:extLst>
                <a:ext uri="{FF2B5EF4-FFF2-40B4-BE49-F238E27FC236}">
                  <a16:creationId xmlns:a16="http://schemas.microsoft.com/office/drawing/2014/main" id="{1D0A1029-B661-FB6C-A3F4-CC4D6043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304" y="121840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1</a:t>
              </a:r>
            </a:p>
          </p:txBody>
        </p:sp>
        <p:grpSp>
          <p:nvGrpSpPr>
            <p:cNvPr id="71685" name="Group 5">
              <a:extLst>
                <a:ext uri="{FF2B5EF4-FFF2-40B4-BE49-F238E27FC236}">
                  <a16:creationId xmlns:a16="http://schemas.microsoft.com/office/drawing/2014/main" id="{4AF14A9E-AD70-032A-1EC9-FF4E6F1CD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504" y="1218406"/>
              <a:ext cx="914400" cy="285750"/>
              <a:chOff x="1440" y="1632"/>
              <a:chExt cx="576" cy="240"/>
            </a:xfrm>
          </p:grpSpPr>
          <p:sp>
            <p:nvSpPr>
              <p:cNvPr id="71756" name="Rectangle 6">
                <a:extLst>
                  <a:ext uri="{FF2B5EF4-FFF2-40B4-BE49-F238E27FC236}">
                    <a16:creationId xmlns:a16="http://schemas.microsoft.com/office/drawing/2014/main" id="{69B7F520-E1DB-A1D3-1B8F-2D305E6D4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57" name="Line 7">
                <a:extLst>
                  <a:ext uri="{FF2B5EF4-FFF2-40B4-BE49-F238E27FC236}">
                    <a16:creationId xmlns:a16="http://schemas.microsoft.com/office/drawing/2014/main" id="{26F940AB-D2B3-2A69-6FC7-2720D4D54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8" name="Line 8">
                <a:extLst>
                  <a:ext uri="{FF2B5EF4-FFF2-40B4-BE49-F238E27FC236}">
                    <a16:creationId xmlns:a16="http://schemas.microsoft.com/office/drawing/2014/main" id="{013E54E1-8A08-D708-463F-D44D94E7E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9" name="Line 9">
                <a:extLst>
                  <a:ext uri="{FF2B5EF4-FFF2-40B4-BE49-F238E27FC236}">
                    <a16:creationId xmlns:a16="http://schemas.microsoft.com/office/drawing/2014/main" id="{AFA9C253-2E74-D129-EE13-3FCB863DD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0" name="Line 10">
                <a:extLst>
                  <a:ext uri="{FF2B5EF4-FFF2-40B4-BE49-F238E27FC236}">
                    <a16:creationId xmlns:a16="http://schemas.microsoft.com/office/drawing/2014/main" id="{463DF385-C517-B755-F8C7-707F4C546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1" name="Line 11">
                <a:extLst>
                  <a:ext uri="{FF2B5EF4-FFF2-40B4-BE49-F238E27FC236}">
                    <a16:creationId xmlns:a16="http://schemas.microsoft.com/office/drawing/2014/main" id="{46FB2B76-76AC-EBE9-BE94-B14D10A12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2" name="Line 12">
                <a:extLst>
                  <a:ext uri="{FF2B5EF4-FFF2-40B4-BE49-F238E27FC236}">
                    <a16:creationId xmlns:a16="http://schemas.microsoft.com/office/drawing/2014/main" id="{7E37BDA5-38D4-C738-3F4D-D373A466D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3" name="Line 13">
                <a:extLst>
                  <a:ext uri="{FF2B5EF4-FFF2-40B4-BE49-F238E27FC236}">
                    <a16:creationId xmlns:a16="http://schemas.microsoft.com/office/drawing/2014/main" id="{C0B4D254-BE4C-FFF8-6BD7-81AFB3183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86" name="Rectangle 14">
              <a:extLst>
                <a:ext uri="{FF2B5EF4-FFF2-40B4-BE49-F238E27FC236}">
                  <a16:creationId xmlns:a16="http://schemas.microsoft.com/office/drawing/2014/main" id="{4DA097E9-2B51-4A53-6298-6970FD0D5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704" y="121840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2</a:t>
              </a:r>
            </a:p>
          </p:txBody>
        </p:sp>
        <p:grpSp>
          <p:nvGrpSpPr>
            <p:cNvPr id="71687" name="Group 15">
              <a:extLst>
                <a:ext uri="{FF2B5EF4-FFF2-40B4-BE49-F238E27FC236}">
                  <a16:creationId xmlns:a16="http://schemas.microsoft.com/office/drawing/2014/main" id="{91D649D7-A1BD-5428-039C-7B5C3DC704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6104" y="1218406"/>
              <a:ext cx="914400" cy="285750"/>
              <a:chOff x="1440" y="1632"/>
              <a:chExt cx="576" cy="240"/>
            </a:xfrm>
          </p:grpSpPr>
          <p:sp>
            <p:nvSpPr>
              <p:cNvPr id="71748" name="Rectangle 16">
                <a:extLst>
                  <a:ext uri="{FF2B5EF4-FFF2-40B4-BE49-F238E27FC236}">
                    <a16:creationId xmlns:a16="http://schemas.microsoft.com/office/drawing/2014/main" id="{7B2774D4-AF29-7F55-0A3E-CF60A2927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49" name="Line 17">
                <a:extLst>
                  <a:ext uri="{FF2B5EF4-FFF2-40B4-BE49-F238E27FC236}">
                    <a16:creationId xmlns:a16="http://schemas.microsoft.com/office/drawing/2014/main" id="{3BE8C754-EE6E-36F3-D985-200692646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0" name="Line 18">
                <a:extLst>
                  <a:ext uri="{FF2B5EF4-FFF2-40B4-BE49-F238E27FC236}">
                    <a16:creationId xmlns:a16="http://schemas.microsoft.com/office/drawing/2014/main" id="{87786D2C-60DD-F678-F1A6-D961225EB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1" name="Line 19">
                <a:extLst>
                  <a:ext uri="{FF2B5EF4-FFF2-40B4-BE49-F238E27FC236}">
                    <a16:creationId xmlns:a16="http://schemas.microsoft.com/office/drawing/2014/main" id="{E317F173-D4E3-0DC7-467D-9EBCEED64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2" name="Line 20">
                <a:extLst>
                  <a:ext uri="{FF2B5EF4-FFF2-40B4-BE49-F238E27FC236}">
                    <a16:creationId xmlns:a16="http://schemas.microsoft.com/office/drawing/2014/main" id="{253EC148-D630-4089-9229-31F9AA5A0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3" name="Line 21">
                <a:extLst>
                  <a:ext uri="{FF2B5EF4-FFF2-40B4-BE49-F238E27FC236}">
                    <a16:creationId xmlns:a16="http://schemas.microsoft.com/office/drawing/2014/main" id="{29A968E2-F436-B03B-F1C6-5B8148F30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4" name="Line 22">
                <a:extLst>
                  <a:ext uri="{FF2B5EF4-FFF2-40B4-BE49-F238E27FC236}">
                    <a16:creationId xmlns:a16="http://schemas.microsoft.com/office/drawing/2014/main" id="{C27F2317-C286-12FF-A5F2-D85C1DD2E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5" name="Line 23">
                <a:extLst>
                  <a:ext uri="{FF2B5EF4-FFF2-40B4-BE49-F238E27FC236}">
                    <a16:creationId xmlns:a16="http://schemas.microsoft.com/office/drawing/2014/main" id="{631A4925-B8CF-537D-C9E4-32084B59E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88" name="Rectangle 24">
              <a:extLst>
                <a:ext uri="{FF2B5EF4-FFF2-40B4-BE49-F238E27FC236}">
                  <a16:creationId xmlns:a16="http://schemas.microsoft.com/office/drawing/2014/main" id="{DFDE62DC-F011-BE14-5E11-358BCE2D8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304" y="121840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3</a:t>
              </a:r>
            </a:p>
          </p:txBody>
        </p:sp>
        <p:grpSp>
          <p:nvGrpSpPr>
            <p:cNvPr id="71689" name="Group 25">
              <a:extLst>
                <a:ext uri="{FF2B5EF4-FFF2-40B4-BE49-F238E27FC236}">
                  <a16:creationId xmlns:a16="http://schemas.microsoft.com/office/drawing/2014/main" id="{9BA7DE7C-D799-9570-246F-5B2845902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2304" y="1732756"/>
              <a:ext cx="914400" cy="285750"/>
              <a:chOff x="1440" y="1632"/>
              <a:chExt cx="576" cy="240"/>
            </a:xfrm>
          </p:grpSpPr>
          <p:sp>
            <p:nvSpPr>
              <p:cNvPr id="71740" name="Rectangle 26">
                <a:extLst>
                  <a:ext uri="{FF2B5EF4-FFF2-40B4-BE49-F238E27FC236}">
                    <a16:creationId xmlns:a16="http://schemas.microsoft.com/office/drawing/2014/main" id="{F4BEA18C-5E24-E202-610A-50194E672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41" name="Line 27">
                <a:extLst>
                  <a:ext uri="{FF2B5EF4-FFF2-40B4-BE49-F238E27FC236}">
                    <a16:creationId xmlns:a16="http://schemas.microsoft.com/office/drawing/2014/main" id="{66A0A2A5-562F-DA23-D9AD-B7FEC8B09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2" name="Line 28">
                <a:extLst>
                  <a:ext uri="{FF2B5EF4-FFF2-40B4-BE49-F238E27FC236}">
                    <a16:creationId xmlns:a16="http://schemas.microsoft.com/office/drawing/2014/main" id="{FB9F8206-FD7A-2994-21F6-4A3F07E44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3" name="Line 29">
                <a:extLst>
                  <a:ext uri="{FF2B5EF4-FFF2-40B4-BE49-F238E27FC236}">
                    <a16:creationId xmlns:a16="http://schemas.microsoft.com/office/drawing/2014/main" id="{7B0E3950-7A01-E3F0-F962-CB79080DA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4" name="Line 30">
                <a:extLst>
                  <a:ext uri="{FF2B5EF4-FFF2-40B4-BE49-F238E27FC236}">
                    <a16:creationId xmlns:a16="http://schemas.microsoft.com/office/drawing/2014/main" id="{D7E8CF2C-E3F4-FDCC-E6EE-A2BE259CC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5" name="Line 31">
                <a:extLst>
                  <a:ext uri="{FF2B5EF4-FFF2-40B4-BE49-F238E27FC236}">
                    <a16:creationId xmlns:a16="http://schemas.microsoft.com/office/drawing/2014/main" id="{D9DAE955-F323-E8E2-7BB0-6786DD395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6" name="Line 32">
                <a:extLst>
                  <a:ext uri="{FF2B5EF4-FFF2-40B4-BE49-F238E27FC236}">
                    <a16:creationId xmlns:a16="http://schemas.microsoft.com/office/drawing/2014/main" id="{C5B31E29-5873-4A6A-4A41-2DF515348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7" name="Line 33">
                <a:extLst>
                  <a:ext uri="{FF2B5EF4-FFF2-40B4-BE49-F238E27FC236}">
                    <a16:creationId xmlns:a16="http://schemas.microsoft.com/office/drawing/2014/main" id="{AC0B1B15-0633-A21F-A25B-868538DF83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71690" name="Rectangle 34">
              <a:extLst>
                <a:ext uri="{FF2B5EF4-FFF2-40B4-BE49-F238E27FC236}">
                  <a16:creationId xmlns:a16="http://schemas.microsoft.com/office/drawing/2014/main" id="{91230196-7E30-EA04-B8CE-067060054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1504" y="173275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1</a:t>
              </a:r>
            </a:p>
          </p:txBody>
        </p:sp>
        <p:grpSp>
          <p:nvGrpSpPr>
            <p:cNvPr id="71691" name="Group 35">
              <a:extLst>
                <a:ext uri="{FF2B5EF4-FFF2-40B4-BE49-F238E27FC236}">
                  <a16:creationId xmlns:a16="http://schemas.microsoft.com/office/drawing/2014/main" id="{9268C280-394F-E95E-6AC0-CF0F1F5585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0704" y="1732756"/>
              <a:ext cx="914400" cy="285750"/>
              <a:chOff x="1440" y="1632"/>
              <a:chExt cx="576" cy="240"/>
            </a:xfrm>
          </p:grpSpPr>
          <p:sp>
            <p:nvSpPr>
              <p:cNvPr id="71732" name="Rectangle 36">
                <a:extLst>
                  <a:ext uri="{FF2B5EF4-FFF2-40B4-BE49-F238E27FC236}">
                    <a16:creationId xmlns:a16="http://schemas.microsoft.com/office/drawing/2014/main" id="{003EC850-3DD4-5D6C-881D-AEF74D744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33" name="Line 37">
                <a:extLst>
                  <a:ext uri="{FF2B5EF4-FFF2-40B4-BE49-F238E27FC236}">
                    <a16:creationId xmlns:a16="http://schemas.microsoft.com/office/drawing/2014/main" id="{68B68CC0-E25D-4112-0B60-E4F446ECF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4" name="Line 38">
                <a:extLst>
                  <a:ext uri="{FF2B5EF4-FFF2-40B4-BE49-F238E27FC236}">
                    <a16:creationId xmlns:a16="http://schemas.microsoft.com/office/drawing/2014/main" id="{7AE98593-2884-8748-9FB4-599733A0D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5" name="Line 39">
                <a:extLst>
                  <a:ext uri="{FF2B5EF4-FFF2-40B4-BE49-F238E27FC236}">
                    <a16:creationId xmlns:a16="http://schemas.microsoft.com/office/drawing/2014/main" id="{BCBA0FA1-3AAE-EA92-7F26-43C351528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6" name="Line 40">
                <a:extLst>
                  <a:ext uri="{FF2B5EF4-FFF2-40B4-BE49-F238E27FC236}">
                    <a16:creationId xmlns:a16="http://schemas.microsoft.com/office/drawing/2014/main" id="{636AB7F4-D7CA-EE0D-91D1-FAB608D8A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7" name="Line 41">
                <a:extLst>
                  <a:ext uri="{FF2B5EF4-FFF2-40B4-BE49-F238E27FC236}">
                    <a16:creationId xmlns:a16="http://schemas.microsoft.com/office/drawing/2014/main" id="{BDA1BCDE-C941-8C31-893A-2417C89194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8" name="Line 42">
                <a:extLst>
                  <a:ext uri="{FF2B5EF4-FFF2-40B4-BE49-F238E27FC236}">
                    <a16:creationId xmlns:a16="http://schemas.microsoft.com/office/drawing/2014/main" id="{2A76D162-E2FA-809C-67A6-A9C5B48E2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9" name="Line 43">
                <a:extLst>
                  <a:ext uri="{FF2B5EF4-FFF2-40B4-BE49-F238E27FC236}">
                    <a16:creationId xmlns:a16="http://schemas.microsoft.com/office/drawing/2014/main" id="{32610CDB-7364-C748-167F-F046691A0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92" name="Rectangle 44">
              <a:extLst>
                <a:ext uri="{FF2B5EF4-FFF2-40B4-BE49-F238E27FC236}">
                  <a16:creationId xmlns:a16="http://schemas.microsoft.com/office/drawing/2014/main" id="{4B69D73C-EE3E-6492-85AC-4D231FD3E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104" y="173275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2</a:t>
              </a:r>
            </a:p>
          </p:txBody>
        </p:sp>
        <p:grpSp>
          <p:nvGrpSpPr>
            <p:cNvPr id="71693" name="Group 45">
              <a:extLst>
                <a:ext uri="{FF2B5EF4-FFF2-40B4-BE49-F238E27FC236}">
                  <a16:creationId xmlns:a16="http://schemas.microsoft.com/office/drawing/2014/main" id="{2C13A88F-8BC1-F71E-E178-8AB7E3688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5304" y="1732756"/>
              <a:ext cx="914400" cy="285750"/>
              <a:chOff x="1440" y="1632"/>
              <a:chExt cx="576" cy="240"/>
            </a:xfrm>
          </p:grpSpPr>
          <p:sp>
            <p:nvSpPr>
              <p:cNvPr id="71724" name="Rectangle 46">
                <a:extLst>
                  <a:ext uri="{FF2B5EF4-FFF2-40B4-BE49-F238E27FC236}">
                    <a16:creationId xmlns:a16="http://schemas.microsoft.com/office/drawing/2014/main" id="{E38A0C49-463E-70FD-9509-1D67F6B59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25" name="Line 47">
                <a:extLst>
                  <a:ext uri="{FF2B5EF4-FFF2-40B4-BE49-F238E27FC236}">
                    <a16:creationId xmlns:a16="http://schemas.microsoft.com/office/drawing/2014/main" id="{83D687C6-E37F-0992-052E-B52972135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6" name="Line 48">
                <a:extLst>
                  <a:ext uri="{FF2B5EF4-FFF2-40B4-BE49-F238E27FC236}">
                    <a16:creationId xmlns:a16="http://schemas.microsoft.com/office/drawing/2014/main" id="{D92E0F50-11BA-F03C-D7CB-BE518F608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7" name="Line 49">
                <a:extLst>
                  <a:ext uri="{FF2B5EF4-FFF2-40B4-BE49-F238E27FC236}">
                    <a16:creationId xmlns:a16="http://schemas.microsoft.com/office/drawing/2014/main" id="{BF46429F-4D4B-1892-A00E-CBFF1246F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8" name="Line 50">
                <a:extLst>
                  <a:ext uri="{FF2B5EF4-FFF2-40B4-BE49-F238E27FC236}">
                    <a16:creationId xmlns:a16="http://schemas.microsoft.com/office/drawing/2014/main" id="{B9CB1B5E-F44F-48AB-9511-4845942D5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9" name="Line 51">
                <a:extLst>
                  <a:ext uri="{FF2B5EF4-FFF2-40B4-BE49-F238E27FC236}">
                    <a16:creationId xmlns:a16="http://schemas.microsoft.com/office/drawing/2014/main" id="{2921AC0C-3560-AE9E-E188-EB96880A7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0" name="Line 52">
                <a:extLst>
                  <a:ext uri="{FF2B5EF4-FFF2-40B4-BE49-F238E27FC236}">
                    <a16:creationId xmlns:a16="http://schemas.microsoft.com/office/drawing/2014/main" id="{C6079822-8F59-C79C-CCB5-8B0971488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1" name="Line 53">
                <a:extLst>
                  <a:ext uri="{FF2B5EF4-FFF2-40B4-BE49-F238E27FC236}">
                    <a16:creationId xmlns:a16="http://schemas.microsoft.com/office/drawing/2014/main" id="{BBBBEDAC-1C66-EEB9-6578-2ADE47B73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94" name="Rectangle 54">
              <a:extLst>
                <a:ext uri="{FF2B5EF4-FFF2-40B4-BE49-F238E27FC236}">
                  <a16:creationId xmlns:a16="http://schemas.microsoft.com/office/drawing/2014/main" id="{6FFC5A4F-F8A8-47E7-743E-518F5A4D9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4504" y="173275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3</a:t>
              </a:r>
            </a:p>
          </p:txBody>
        </p:sp>
        <p:sp>
          <p:nvSpPr>
            <p:cNvPr id="71695" name="Line 55">
              <a:extLst>
                <a:ext uri="{FF2B5EF4-FFF2-40B4-BE49-F238E27FC236}">
                  <a16:creationId xmlns:a16="http://schemas.microsoft.com/office/drawing/2014/main" id="{A38ABA86-6C17-A3AC-92DE-D2546E121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67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6" name="Line 56">
              <a:extLst>
                <a:ext uri="{FF2B5EF4-FFF2-40B4-BE49-F238E27FC236}">
                  <a16:creationId xmlns:a16="http://schemas.microsoft.com/office/drawing/2014/main" id="{1918A32B-3BD4-FEE4-56A8-E7067A62F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59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7" name="Line 57">
              <a:extLst>
                <a:ext uri="{FF2B5EF4-FFF2-40B4-BE49-F238E27FC236}">
                  <a16:creationId xmlns:a16="http://schemas.microsoft.com/office/drawing/2014/main" id="{A9710784-3F67-FA55-34CC-B10F7457C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5104" y="1504156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8" name="Line 58">
              <a:extLst>
                <a:ext uri="{FF2B5EF4-FFF2-40B4-BE49-F238E27FC236}">
                  <a16:creationId xmlns:a16="http://schemas.microsoft.com/office/drawing/2014/main" id="{41A6BFB4-1883-86B1-012F-2F95460F1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605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9" name="Line 59">
              <a:extLst>
                <a:ext uri="{FF2B5EF4-FFF2-40B4-BE49-F238E27FC236}">
                  <a16:creationId xmlns:a16="http://schemas.microsoft.com/office/drawing/2014/main" id="{8E56C60E-5416-9EAF-1E79-110E97928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97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C2098DE-04CD-ECBA-5EE6-34519315C770}"/>
              </a:ext>
            </a:extLst>
          </p:cNvPr>
          <p:cNvGrpSpPr/>
          <p:nvPr/>
        </p:nvGrpSpPr>
        <p:grpSpPr>
          <a:xfrm>
            <a:off x="899592" y="3639344"/>
            <a:ext cx="7040562" cy="884238"/>
            <a:chOff x="996058" y="2396331"/>
            <a:chExt cx="7040562" cy="884238"/>
          </a:xfrm>
        </p:grpSpPr>
        <p:sp>
          <p:nvSpPr>
            <p:cNvPr id="71700" name="Rectangle 60">
              <a:extLst>
                <a:ext uri="{FF2B5EF4-FFF2-40B4-BE49-F238E27FC236}">
                  <a16:creationId xmlns:a16="http://schemas.microsoft.com/office/drawing/2014/main" id="{64576C1A-8948-EA82-2676-3D4A1D153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7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1</a:t>
              </a:r>
            </a:p>
          </p:txBody>
        </p:sp>
        <p:grpSp>
          <p:nvGrpSpPr>
            <p:cNvPr id="71701" name="Group 61">
              <a:extLst>
                <a:ext uri="{FF2B5EF4-FFF2-40B4-BE49-F238E27FC236}">
                  <a16:creationId xmlns:a16="http://schemas.microsoft.com/office/drawing/2014/main" id="{63110E65-A754-7E81-C010-1D2E5DE7F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0770" y="2910681"/>
              <a:ext cx="914400" cy="285750"/>
              <a:chOff x="1440" y="1632"/>
              <a:chExt cx="576" cy="240"/>
            </a:xfrm>
          </p:grpSpPr>
          <p:sp>
            <p:nvSpPr>
              <p:cNvPr id="71716" name="Rectangle 62">
                <a:extLst>
                  <a:ext uri="{FF2B5EF4-FFF2-40B4-BE49-F238E27FC236}">
                    <a16:creationId xmlns:a16="http://schemas.microsoft.com/office/drawing/2014/main" id="{669E09DF-53E1-E82C-A5D2-BA25A7207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17" name="Line 63">
                <a:extLst>
                  <a:ext uri="{FF2B5EF4-FFF2-40B4-BE49-F238E27FC236}">
                    <a16:creationId xmlns:a16="http://schemas.microsoft.com/office/drawing/2014/main" id="{F88A7032-8B16-E20A-E7BA-84EE40F12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18" name="Line 64">
                <a:extLst>
                  <a:ext uri="{FF2B5EF4-FFF2-40B4-BE49-F238E27FC236}">
                    <a16:creationId xmlns:a16="http://schemas.microsoft.com/office/drawing/2014/main" id="{B473F454-ECDF-0C2B-69DC-721127FA4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19" name="Line 65">
                <a:extLst>
                  <a:ext uri="{FF2B5EF4-FFF2-40B4-BE49-F238E27FC236}">
                    <a16:creationId xmlns:a16="http://schemas.microsoft.com/office/drawing/2014/main" id="{40975156-316E-B959-8CC6-96E3EFB46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0" name="Line 66">
                <a:extLst>
                  <a:ext uri="{FF2B5EF4-FFF2-40B4-BE49-F238E27FC236}">
                    <a16:creationId xmlns:a16="http://schemas.microsoft.com/office/drawing/2014/main" id="{DF61DFB9-7928-7048-ACC8-751A1BA4C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1" name="Line 67">
                <a:extLst>
                  <a:ext uri="{FF2B5EF4-FFF2-40B4-BE49-F238E27FC236}">
                    <a16:creationId xmlns:a16="http://schemas.microsoft.com/office/drawing/2014/main" id="{29B7AB37-8726-220B-D84F-C8B7AB098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2" name="Line 68">
                <a:extLst>
                  <a:ext uri="{FF2B5EF4-FFF2-40B4-BE49-F238E27FC236}">
                    <a16:creationId xmlns:a16="http://schemas.microsoft.com/office/drawing/2014/main" id="{63DDE19E-E294-E629-6D3B-69AACED700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3" name="Line 69">
                <a:extLst>
                  <a:ext uri="{FF2B5EF4-FFF2-40B4-BE49-F238E27FC236}">
                    <a16:creationId xmlns:a16="http://schemas.microsoft.com/office/drawing/2014/main" id="{6BDAEC66-EC35-6986-8D48-978E9A097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702" name="Rectangle 70">
              <a:extLst>
                <a:ext uri="{FF2B5EF4-FFF2-40B4-BE49-F238E27FC236}">
                  <a16:creationId xmlns:a16="http://schemas.microsoft.com/office/drawing/2014/main" id="{AB2167FD-793C-A7B1-A6D0-AA8E73BCF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970" y="291068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1</a:t>
              </a:r>
            </a:p>
          </p:txBody>
        </p:sp>
        <p:sp>
          <p:nvSpPr>
            <p:cNvPr id="71703" name="Rectangle 71">
              <a:extLst>
                <a:ext uri="{FF2B5EF4-FFF2-40B4-BE49-F238E27FC236}">
                  <a16:creationId xmlns:a16="http://schemas.microsoft.com/office/drawing/2014/main" id="{B36253F9-12AD-E3BC-9E2A-17755A03B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9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 dirty="0"/>
                <a:t>取指</a:t>
              </a:r>
              <a:r>
                <a:rPr kumimoji="0" lang="en-US" altLang="zh-CN" sz="1800" b="1" dirty="0"/>
                <a:t>2</a:t>
              </a:r>
            </a:p>
          </p:txBody>
        </p:sp>
        <p:sp>
          <p:nvSpPr>
            <p:cNvPr id="71704" name="Rectangle 72">
              <a:extLst>
                <a:ext uri="{FF2B5EF4-FFF2-40B4-BE49-F238E27FC236}">
                  <a16:creationId xmlns:a16="http://schemas.microsoft.com/office/drawing/2014/main" id="{DD7DA9EE-A690-CDC7-3531-A6D0E5C2D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1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3</a:t>
              </a:r>
            </a:p>
          </p:txBody>
        </p:sp>
        <p:sp>
          <p:nvSpPr>
            <p:cNvPr id="71705" name="Rectangle 73">
              <a:extLst>
                <a:ext uri="{FF2B5EF4-FFF2-40B4-BE49-F238E27FC236}">
                  <a16:creationId xmlns:a16="http://schemas.microsoft.com/office/drawing/2014/main" id="{D8A72B27-BC91-3690-F893-26E446428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170" y="291068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2</a:t>
              </a:r>
            </a:p>
          </p:txBody>
        </p:sp>
        <p:sp>
          <p:nvSpPr>
            <p:cNvPr id="71706" name="Rectangle 74">
              <a:extLst>
                <a:ext uri="{FF2B5EF4-FFF2-40B4-BE49-F238E27FC236}">
                  <a16:creationId xmlns:a16="http://schemas.microsoft.com/office/drawing/2014/main" id="{B0A2AF85-B25C-FB0F-75FF-1A73D725C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4570" y="291068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 dirty="0"/>
                <a:t>执行</a:t>
              </a:r>
              <a:r>
                <a:rPr kumimoji="0" lang="en-US" altLang="zh-CN" sz="1800" b="1" dirty="0"/>
                <a:t>3</a:t>
              </a:r>
            </a:p>
          </p:txBody>
        </p:sp>
        <p:sp>
          <p:nvSpPr>
            <p:cNvPr id="71707" name="Rectangle 75">
              <a:extLst>
                <a:ext uri="{FF2B5EF4-FFF2-40B4-BE49-F238E27FC236}">
                  <a16:creationId xmlns:a16="http://schemas.microsoft.com/office/drawing/2014/main" id="{A462CB25-F8DB-E03A-B95C-8E94D963E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45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4</a:t>
              </a:r>
            </a:p>
          </p:txBody>
        </p:sp>
        <p:sp>
          <p:nvSpPr>
            <p:cNvPr id="71708" name="Text Box 76">
              <a:extLst>
                <a:ext uri="{FF2B5EF4-FFF2-40B4-BE49-F238E27FC236}">
                  <a16:creationId xmlns:a16="http://schemas.microsoft.com/office/drawing/2014/main" id="{0039C4E9-629F-DFFB-91F8-F05B4D302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0095" y="2396331"/>
              <a:ext cx="1406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/>
                <a:t>• • • • • •</a:t>
              </a:r>
            </a:p>
          </p:txBody>
        </p:sp>
        <p:sp>
          <p:nvSpPr>
            <p:cNvPr id="71709" name="Text Box 77">
              <a:extLst>
                <a:ext uri="{FF2B5EF4-FFF2-40B4-BE49-F238E27FC236}">
                  <a16:creationId xmlns:a16="http://schemas.microsoft.com/office/drawing/2014/main" id="{8EAA46FB-946B-AEAD-458B-24E632F55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0095" y="2910681"/>
              <a:ext cx="1406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/>
                <a:t>• • • • • •</a:t>
              </a:r>
            </a:p>
          </p:txBody>
        </p:sp>
        <p:sp>
          <p:nvSpPr>
            <p:cNvPr id="71710" name="Text Box 78">
              <a:extLst>
                <a:ext uri="{FF2B5EF4-FFF2-40B4-BE49-F238E27FC236}">
                  <a16:creationId xmlns:a16="http://schemas.microsoft.com/office/drawing/2014/main" id="{475E7AF4-FC47-21AB-D3F7-550441A0E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058" y="2453481"/>
              <a:ext cx="6270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 dirty="0"/>
                <a:t>BIU</a:t>
              </a:r>
            </a:p>
          </p:txBody>
        </p:sp>
        <p:sp>
          <p:nvSpPr>
            <p:cNvPr id="71711" name="Text Box 79">
              <a:extLst>
                <a:ext uri="{FF2B5EF4-FFF2-40B4-BE49-F238E27FC236}">
                  <a16:creationId xmlns:a16="http://schemas.microsoft.com/office/drawing/2014/main" id="{1FD47BB7-17FC-13F2-B609-84E9D90A4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5108" y="2910681"/>
              <a:ext cx="4968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 dirty="0"/>
                <a:t>EU</a:t>
              </a:r>
            </a:p>
          </p:txBody>
        </p:sp>
        <p:sp>
          <p:nvSpPr>
            <p:cNvPr id="71712" name="Line 80">
              <a:extLst>
                <a:ext uri="{FF2B5EF4-FFF2-40B4-BE49-F238E27FC236}">
                  <a16:creationId xmlns:a16="http://schemas.microsoft.com/office/drawing/2014/main" id="{BE2A2184-99E1-E603-C8B1-97515DA78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170" y="2682081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3" name="Line 81">
              <a:extLst>
                <a:ext uri="{FF2B5EF4-FFF2-40B4-BE49-F238E27FC236}">
                  <a16:creationId xmlns:a16="http://schemas.microsoft.com/office/drawing/2014/main" id="{3845D211-63E8-7406-9AAE-0A77290CA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370" y="2682081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4" name="Line 82">
              <a:extLst>
                <a:ext uri="{FF2B5EF4-FFF2-40B4-BE49-F238E27FC236}">
                  <a16:creationId xmlns:a16="http://schemas.microsoft.com/office/drawing/2014/main" id="{80E1AD0A-6B68-47DA-DF91-F8EB64405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570" y="2682081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5" name="Line 83">
              <a:extLst>
                <a:ext uri="{FF2B5EF4-FFF2-40B4-BE49-F238E27FC236}">
                  <a16:creationId xmlns:a16="http://schemas.microsoft.com/office/drawing/2014/main" id="{D54CD79E-E409-1D25-C555-A547D01B7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8970" y="2682081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8984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7B02216-9186-EAAD-E092-327440006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8088/8086</a:t>
            </a:r>
            <a:r>
              <a:rPr lang="zh-CN" altLang="en-US" dirty="0"/>
              <a:t>的寄存器结构	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D14B0A9-24AC-F36D-4FB3-631A35269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5616" y="1185741"/>
            <a:ext cx="6172200" cy="1890066"/>
          </a:xfrm>
        </p:spPr>
        <p:txBody>
          <a:bodyPr/>
          <a:lstStyle/>
          <a:p>
            <a:pPr lvl="1"/>
            <a:r>
              <a:rPr lang="en-US" altLang="zh-CN" dirty="0"/>
              <a:t>8</a:t>
            </a:r>
            <a:r>
              <a:rPr lang="zh-CN" altLang="en-US" dirty="0"/>
              <a:t>个通用寄存器</a:t>
            </a:r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个段寄存器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个标志寄存器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个指令指针寄存器</a:t>
            </a:r>
          </a:p>
          <a:p>
            <a:pPr algn="ctr">
              <a:buFontTx/>
              <a:buNone/>
            </a:pPr>
            <a:r>
              <a:rPr lang="zh-CN" altLang="en-US" sz="2700" dirty="0">
                <a:latin typeface="隶书" panose="02010509060101010101" pitchFamily="49" charset="-122"/>
                <a:ea typeface="隶书" panose="02010509060101010101" pitchFamily="49" charset="-122"/>
              </a:rPr>
              <a:t>它们均为</a:t>
            </a:r>
            <a:r>
              <a:rPr lang="en-US" altLang="zh-CN" sz="2700" dirty="0">
                <a:latin typeface="隶书" panose="02010509060101010101" pitchFamily="49" charset="-122"/>
                <a:ea typeface="隶书" panose="02010509060101010101" pitchFamily="49" charset="-122"/>
              </a:rPr>
              <a:t>16</a:t>
            </a:r>
            <a:r>
              <a:rPr lang="zh-CN" altLang="en-US" sz="2700" dirty="0">
                <a:latin typeface="隶书" panose="02010509060101010101" pitchFamily="49" charset="-122"/>
                <a:ea typeface="隶书" panose="02010509060101010101" pitchFamily="49" charset="-122"/>
              </a:rPr>
              <a:t>位</a:t>
            </a:r>
            <a:r>
              <a:rPr lang="en-US" altLang="zh-CN" sz="2700" dirty="0">
                <a:latin typeface="隶书" panose="02010509060101010101" pitchFamily="49" charset="-122"/>
                <a:ea typeface="隶书" panose="02010509060101010101" pitchFamily="49" charset="-122"/>
              </a:rPr>
              <a:t>!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1752" name="AutoShape 8">
            <a:extLst>
              <a:ext uri="{FF2B5EF4-FFF2-40B4-BE49-F238E27FC236}">
                <a16:creationId xmlns:a16="http://schemas.microsoft.com/office/drawing/2014/main" id="{BB3B9F05-ADA6-6F91-5E76-68E3D5636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3429002"/>
            <a:ext cx="6419850" cy="897731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</a:rPr>
              <a:t>汇编语言程序员看到的处理器，就是寄存器。</a:t>
            </a:r>
          </a:p>
          <a:p>
            <a:pPr algn="ctr"/>
            <a:r>
              <a:rPr lang="zh-CN" altLang="en-US" sz="1800" b="1" dirty="0">
                <a:solidFill>
                  <a:schemeClr val="accent2"/>
                </a:solidFill>
              </a:rPr>
              <a:t>所以，一定要熟悉这些寄存器的名称和作用。</a:t>
            </a:r>
          </a:p>
        </p:txBody>
      </p:sp>
    </p:spTree>
    <p:extLst>
      <p:ext uri="{BB962C8B-B14F-4D97-AF65-F5344CB8AC3E}">
        <p14:creationId xmlns:p14="http://schemas.microsoft.com/office/powerpoint/2010/main" val="223020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2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0445913-D1C6-6456-E3FA-7F89C908B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 </a:t>
            </a:r>
            <a:r>
              <a:rPr lang="zh-CN" altLang="en-US"/>
              <a:t>通用寄存器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F8B7DCD-62DC-DB7A-CB4D-EF356C7DB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586073" algn="l"/>
              </a:tabLst>
            </a:pPr>
            <a:r>
              <a:rPr lang="en-US" altLang="zh-CN" sz="2400" dirty="0"/>
              <a:t>8088</a:t>
            </a:r>
            <a:r>
              <a:rPr lang="zh-CN" altLang="en-US" sz="2400" dirty="0"/>
              <a:t>有</a:t>
            </a:r>
            <a:r>
              <a:rPr lang="en-US" altLang="zh-CN" sz="2400" dirty="0"/>
              <a:t>8</a:t>
            </a:r>
            <a:r>
              <a:rPr lang="zh-CN" altLang="en-US" sz="2400" dirty="0"/>
              <a:t>个通用的</a:t>
            </a:r>
            <a:r>
              <a:rPr lang="en-US" altLang="zh-CN" sz="2400" dirty="0"/>
              <a:t>16</a:t>
            </a:r>
            <a:r>
              <a:rPr lang="zh-CN" altLang="en-US" sz="2400" dirty="0"/>
              <a:t>位寄存器</a:t>
            </a:r>
          </a:p>
          <a:p>
            <a:pPr lvl="1">
              <a:buNone/>
              <a:tabLst>
                <a:tab pos="3586073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）数据寄存器</a:t>
            </a:r>
            <a:r>
              <a:rPr lang="en-US" altLang="zh-CN" sz="2400" dirty="0">
                <a:solidFill>
                  <a:schemeClr val="accent2"/>
                </a:solidFill>
              </a:rPr>
              <a:t>: </a:t>
            </a:r>
            <a:r>
              <a:rPr lang="en-US" altLang="zh-CN" sz="2400" dirty="0"/>
              <a:t> AX  BX  CX  DX</a:t>
            </a:r>
          </a:p>
          <a:p>
            <a:pPr lvl="1">
              <a:buNone/>
              <a:tabLst>
                <a:tab pos="3586073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2</a:t>
            </a:r>
            <a:r>
              <a:rPr lang="zh-CN" altLang="en-US" sz="2400" dirty="0">
                <a:solidFill>
                  <a:schemeClr val="accent2"/>
                </a:solidFill>
              </a:rPr>
              <a:t>）变址寄存器</a:t>
            </a:r>
            <a:r>
              <a:rPr lang="en-US" altLang="zh-CN" sz="2400" dirty="0">
                <a:solidFill>
                  <a:schemeClr val="accent2"/>
                </a:solidFill>
              </a:rPr>
              <a:t>:</a:t>
            </a:r>
            <a:r>
              <a:rPr lang="en-US" altLang="zh-CN" sz="2400" dirty="0"/>
              <a:t>  SI  DI</a:t>
            </a:r>
          </a:p>
          <a:p>
            <a:pPr lvl="1">
              <a:buNone/>
              <a:tabLst>
                <a:tab pos="3586073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3</a:t>
            </a:r>
            <a:r>
              <a:rPr lang="zh-CN" altLang="en-US" sz="2400" dirty="0">
                <a:solidFill>
                  <a:schemeClr val="accent2"/>
                </a:solidFill>
              </a:rPr>
              <a:t>）指针寄存器</a:t>
            </a:r>
            <a:r>
              <a:rPr lang="en-US" altLang="zh-CN" sz="2400" dirty="0">
                <a:solidFill>
                  <a:schemeClr val="accent2"/>
                </a:solidFill>
              </a:rPr>
              <a:t>:</a:t>
            </a:r>
            <a:r>
              <a:rPr lang="en-US" altLang="zh-CN" sz="2400" dirty="0"/>
              <a:t>  BP  SP</a:t>
            </a:r>
          </a:p>
          <a:p>
            <a:pPr>
              <a:tabLst>
                <a:tab pos="3586073" algn="l"/>
              </a:tabLst>
            </a:pPr>
            <a:r>
              <a:rPr lang="en-US" altLang="zh-CN" sz="2400" dirty="0"/>
              <a:t>4</a:t>
            </a:r>
            <a:r>
              <a:rPr lang="zh-CN" altLang="en-US" sz="2400" dirty="0"/>
              <a:t>个数据寄存器还可以分成高</a:t>
            </a:r>
            <a:r>
              <a:rPr lang="en-US" altLang="zh-CN" sz="2400" dirty="0"/>
              <a:t>8</a:t>
            </a:r>
            <a:r>
              <a:rPr lang="zh-CN" altLang="en-US" sz="2400" dirty="0"/>
              <a:t>位和低</a:t>
            </a:r>
            <a:r>
              <a:rPr lang="en-US" altLang="zh-CN" sz="2400" dirty="0"/>
              <a:t>8</a:t>
            </a:r>
            <a:r>
              <a:rPr lang="zh-CN" altLang="en-US" sz="2400" dirty="0"/>
              <a:t>位两个独立的寄存器，这样又形成</a:t>
            </a:r>
            <a:r>
              <a:rPr lang="en-US" altLang="zh-CN" sz="2400" dirty="0"/>
              <a:t>8</a:t>
            </a:r>
            <a:r>
              <a:rPr lang="zh-CN" altLang="en-US" sz="2400" dirty="0"/>
              <a:t>个通用的</a:t>
            </a:r>
            <a:r>
              <a:rPr lang="en-US" altLang="zh-CN" sz="2400" dirty="0"/>
              <a:t>8</a:t>
            </a:r>
            <a:r>
              <a:rPr lang="zh-CN" altLang="en-US" sz="2400" dirty="0"/>
              <a:t>位寄存器</a:t>
            </a:r>
          </a:p>
          <a:p>
            <a:pPr lvl="1">
              <a:buNone/>
              <a:tabLst>
                <a:tab pos="3586073" algn="l"/>
              </a:tabLst>
            </a:pPr>
            <a:r>
              <a:rPr lang="en-US" altLang="zh-CN" sz="2400" dirty="0"/>
              <a:t>AX</a:t>
            </a:r>
            <a:r>
              <a:rPr lang="zh-CN" altLang="en-US" sz="2400" dirty="0"/>
              <a:t>： </a:t>
            </a:r>
            <a:r>
              <a:rPr lang="en-US" altLang="zh-CN" sz="2400" dirty="0"/>
              <a:t>AH  AL	BX</a:t>
            </a:r>
            <a:r>
              <a:rPr lang="zh-CN" altLang="en-US" sz="2400" dirty="0"/>
              <a:t>： </a:t>
            </a:r>
            <a:r>
              <a:rPr lang="en-US" altLang="zh-CN" sz="2400" dirty="0"/>
              <a:t>BH  BL</a:t>
            </a:r>
          </a:p>
          <a:p>
            <a:pPr lvl="1">
              <a:buNone/>
              <a:tabLst>
                <a:tab pos="3586073" algn="l"/>
              </a:tabLst>
            </a:pPr>
            <a:r>
              <a:rPr lang="en-US" altLang="zh-CN" sz="2400" dirty="0"/>
              <a:t>CX</a:t>
            </a:r>
            <a:r>
              <a:rPr lang="zh-CN" altLang="en-US" sz="2400" dirty="0"/>
              <a:t>： </a:t>
            </a:r>
            <a:r>
              <a:rPr lang="en-US" altLang="zh-CN" sz="2400" dirty="0"/>
              <a:t>CH  CL	DX</a:t>
            </a:r>
            <a:r>
              <a:rPr lang="zh-CN" altLang="en-US" sz="2400" dirty="0"/>
              <a:t>： </a:t>
            </a:r>
            <a:r>
              <a:rPr lang="en-US" altLang="zh-CN" sz="2400" dirty="0"/>
              <a:t>DH  DL</a:t>
            </a:r>
          </a:p>
        </p:txBody>
      </p:sp>
    </p:spTree>
    <p:extLst>
      <p:ext uri="{BB962C8B-B14F-4D97-AF65-F5344CB8AC3E}">
        <p14:creationId xmlns:p14="http://schemas.microsoft.com/office/powerpoint/2010/main" val="4111711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680CC651-DF69-CFB6-B266-7BA97186A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段寄存器</a:t>
            </a:r>
          </a:p>
        </p:txBody>
      </p:sp>
      <p:sp>
        <p:nvSpPr>
          <p:cNvPr id="154629" name="Rectangle 5">
            <a:extLst>
              <a:ext uri="{FF2B5EF4-FFF2-40B4-BE49-F238E27FC236}">
                <a16:creationId xmlns:a16="http://schemas.microsoft.com/office/drawing/2014/main" id="{E78E1C93-1200-20AF-AF96-466730C8E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640" y="1235826"/>
            <a:ext cx="6097860" cy="291945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CC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3333CC"/>
                </a:solidFill>
              </a:rPr>
              <a:t>8088</a:t>
            </a:r>
            <a:r>
              <a:rPr lang="zh-CN" altLang="en-US" dirty="0">
                <a:solidFill>
                  <a:srgbClr val="3333CC"/>
                </a:solidFill>
              </a:rPr>
              <a:t>有</a:t>
            </a:r>
            <a:r>
              <a:rPr lang="en-US" altLang="zh-CN" dirty="0">
                <a:solidFill>
                  <a:srgbClr val="3333CC"/>
                </a:solidFill>
              </a:rPr>
              <a:t>4</a:t>
            </a:r>
            <a:r>
              <a:rPr lang="zh-CN" altLang="en-US" dirty="0">
                <a:solidFill>
                  <a:srgbClr val="3333CC"/>
                </a:solidFill>
              </a:rPr>
              <a:t>个</a:t>
            </a:r>
            <a:r>
              <a:rPr lang="en-US" altLang="zh-CN" dirty="0">
                <a:solidFill>
                  <a:srgbClr val="3333CC"/>
                </a:solidFill>
              </a:rPr>
              <a:t>16</a:t>
            </a:r>
            <a:r>
              <a:rPr lang="zh-CN" altLang="en-US" dirty="0">
                <a:solidFill>
                  <a:srgbClr val="3333CC"/>
                </a:solidFill>
              </a:rPr>
              <a:t>位段寄存器</a:t>
            </a:r>
          </a:p>
          <a:p>
            <a:pPr lvl="1"/>
            <a:r>
              <a:rPr lang="en-US" altLang="zh-CN" dirty="0"/>
              <a:t>CS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代码段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</a:p>
          <a:p>
            <a:pPr lvl="1"/>
            <a:r>
              <a:rPr lang="en-US" altLang="zh-CN" dirty="0"/>
              <a:t>SS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堆栈段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</a:p>
          <a:p>
            <a:pPr lvl="1"/>
            <a:r>
              <a:rPr lang="en-US" altLang="zh-CN" dirty="0"/>
              <a:t>DS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数据段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</a:p>
          <a:p>
            <a:pPr lvl="1"/>
            <a:r>
              <a:rPr lang="en-US" altLang="zh-CN" dirty="0"/>
              <a:t>ES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附加段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</a:p>
          <a:p>
            <a:r>
              <a:rPr lang="zh-CN" altLang="en-US" dirty="0">
                <a:solidFill>
                  <a:srgbClr val="3333CC"/>
                </a:solidFill>
              </a:rPr>
              <a:t>每个段寄存器用来确定一个逻辑段的起始地址，每种逻辑段均有各自的用途</a:t>
            </a:r>
          </a:p>
        </p:txBody>
      </p:sp>
    </p:spTree>
    <p:extLst>
      <p:ext uri="{BB962C8B-B14F-4D97-AF65-F5344CB8AC3E}">
        <p14:creationId xmlns:p14="http://schemas.microsoft.com/office/powerpoint/2010/main" val="3552891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4B2B597-F6D6-EC5E-6F54-07FB49DF6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指令指针寄存器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727DDB7-4524-59BB-56CA-D8FC3CD47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（</a:t>
            </a:r>
            <a:r>
              <a:rPr lang="en-US" altLang="zh-CN" dirty="0"/>
              <a:t>Instruction Pointer</a:t>
            </a:r>
            <a:r>
              <a:rPr lang="zh-CN" altLang="en-US" dirty="0"/>
              <a:t>）为指令指针寄存器，指示主存储器指令的位置</a:t>
            </a:r>
          </a:p>
          <a:p>
            <a:r>
              <a:rPr lang="zh-CN" altLang="en-US" dirty="0"/>
              <a:t>随着指令的执行，</a:t>
            </a:r>
            <a:r>
              <a:rPr lang="en-US" altLang="zh-CN" dirty="0"/>
              <a:t>IP</a:t>
            </a:r>
            <a:r>
              <a:rPr lang="zh-CN" altLang="en-US" dirty="0"/>
              <a:t>将自动修改以指示下一条指令所在的存储器位置</a:t>
            </a:r>
            <a:endParaRPr lang="zh-CN" altLang="en-US" dirty="0">
              <a:solidFill>
                <a:srgbClr val="CC0099"/>
              </a:solidFill>
            </a:endParaRPr>
          </a:p>
          <a:p>
            <a:r>
              <a:rPr lang="en-US" altLang="zh-CN" dirty="0"/>
              <a:t>IP</a:t>
            </a:r>
            <a:r>
              <a:rPr lang="zh-CN" altLang="en-US" dirty="0"/>
              <a:t>寄存器是一个</a:t>
            </a:r>
            <a:r>
              <a:rPr lang="zh-CN" altLang="en-US" dirty="0">
                <a:solidFill>
                  <a:srgbClr val="C00000"/>
                </a:solidFill>
              </a:rPr>
              <a:t>专用</a:t>
            </a:r>
            <a:r>
              <a:rPr lang="zh-CN" altLang="en-US" dirty="0"/>
              <a:t>寄存器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寄存器与</a:t>
            </a:r>
            <a:r>
              <a:rPr lang="en-US" altLang="zh-CN" dirty="0">
                <a:latin typeface="宋体" panose="02010600030101010101" pitchFamily="2" charset="-122"/>
              </a:rPr>
              <a:t>CS</a:t>
            </a:r>
            <a:r>
              <a:rPr lang="zh-CN" altLang="en-US" dirty="0">
                <a:latin typeface="宋体" panose="02010600030101010101" pitchFamily="2" charset="-122"/>
              </a:rPr>
              <a:t>段寄存器联合使用以确定下一条指令的存储单元地址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519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D43B17A8-ED69-AAAE-AB88-5BCE0D1887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 </a:t>
            </a:r>
            <a:r>
              <a:rPr lang="zh-CN" altLang="en-US" dirty="0"/>
              <a:t>标志寄存器</a:t>
            </a:r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311070CF-15CF-9689-9003-52B665C3D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6888" y="1347614"/>
            <a:ext cx="5543550" cy="1721817"/>
          </a:xfrm>
          <a:noFill/>
          <a:ln/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标志</a:t>
            </a:r>
            <a:r>
              <a:rPr lang="zh-CN" altLang="en-US" dirty="0"/>
              <a:t>（</a:t>
            </a:r>
            <a:r>
              <a:rPr lang="en-US" altLang="zh-CN" dirty="0"/>
              <a:t>Flag</a:t>
            </a:r>
            <a:r>
              <a:rPr lang="zh-CN" altLang="en-US" dirty="0"/>
              <a:t>）用于反映指令执行结果或控制指令执行形式</a:t>
            </a:r>
          </a:p>
          <a:p>
            <a:r>
              <a:rPr lang="en-US" altLang="zh-CN" dirty="0"/>
              <a:t>8088</a:t>
            </a:r>
            <a:r>
              <a:rPr lang="zh-CN" altLang="en-US" dirty="0"/>
              <a:t>处理器的各种标志形成了一个</a:t>
            </a:r>
            <a:r>
              <a:rPr lang="en-US" altLang="zh-CN" dirty="0"/>
              <a:t>16</a:t>
            </a:r>
            <a:r>
              <a:rPr lang="zh-CN" altLang="en-US" dirty="0"/>
              <a:t>位的标志寄存器</a:t>
            </a:r>
            <a:r>
              <a:rPr lang="en-US" altLang="zh-CN" dirty="0">
                <a:solidFill>
                  <a:schemeClr val="tx1"/>
                </a:solidFill>
              </a:rPr>
              <a:t>FLAGS</a:t>
            </a:r>
            <a:r>
              <a:rPr lang="zh-CN" altLang="en-US" dirty="0"/>
              <a:t>（程序状态字</a:t>
            </a:r>
            <a:r>
              <a:rPr lang="en-US" altLang="zh-CN" dirty="0"/>
              <a:t>PSW</a:t>
            </a:r>
            <a:r>
              <a:rPr lang="zh-CN" altLang="en-US" dirty="0"/>
              <a:t>寄存器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123936" name="AutoShape 32">
            <a:extLst>
              <a:ext uri="{FF2B5EF4-FFF2-40B4-BE49-F238E27FC236}">
                <a16:creationId xmlns:a16="http://schemas.microsoft.com/office/drawing/2014/main" id="{0B634F6E-40EB-5240-69E7-F37F4C63E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210" y="3445669"/>
            <a:ext cx="4914900" cy="685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</a:rPr>
              <a:t>程序设计需要利用标志的状态。</a:t>
            </a:r>
          </a:p>
        </p:txBody>
      </p:sp>
    </p:spTree>
    <p:extLst>
      <p:ext uri="{BB962C8B-B14F-4D97-AF65-F5344CB8AC3E}">
        <p14:creationId xmlns:p14="http://schemas.microsoft.com/office/powerpoint/2010/main" val="3959804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542BD45-DD76-E5E6-C888-0DDB0207E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123478"/>
            <a:ext cx="7886700" cy="994172"/>
          </a:xfrm>
        </p:spPr>
        <p:txBody>
          <a:bodyPr/>
          <a:lstStyle/>
          <a:p>
            <a:r>
              <a:rPr lang="zh-CN" altLang="en-US"/>
              <a:t>标志寄存器</a:t>
            </a:r>
            <a:r>
              <a:rPr lang="en-US" altLang="zh-CN"/>
              <a:t>-</a:t>
            </a:r>
            <a:r>
              <a:rPr lang="zh-CN" altLang="en-US"/>
              <a:t>分类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C881F6D-4AD3-F44B-AF46-9257998DC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9844" y="879442"/>
            <a:ext cx="6769125" cy="1620481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状态标志－－用来记录程序运行结果的状态信息，许多指令的执行都将相应地设置它</a:t>
            </a:r>
          </a:p>
          <a:p>
            <a:pPr lvl="1">
              <a:buFontTx/>
              <a:buNone/>
            </a:pPr>
            <a:r>
              <a:rPr lang="en-US" altLang="zh-CN" sz="1600" dirty="0">
                <a:solidFill>
                  <a:srgbClr val="339933"/>
                </a:solidFill>
              </a:rPr>
              <a:t>CF  ZF  SF  PF  OF  AF</a:t>
            </a:r>
          </a:p>
          <a:p>
            <a:r>
              <a:rPr lang="zh-CN" altLang="en-US" sz="1600" dirty="0"/>
              <a:t>控制标志－－可由程序根据需要用指令设置，用于控制处理器执行指令的方式</a:t>
            </a:r>
          </a:p>
          <a:p>
            <a:pPr lvl="1">
              <a:buFontTx/>
              <a:buNone/>
            </a:pPr>
            <a:r>
              <a:rPr lang="en-US" altLang="zh-CN" sz="1600" dirty="0"/>
              <a:t>DF   IF   TF</a:t>
            </a:r>
          </a:p>
        </p:txBody>
      </p:sp>
      <p:graphicFrame>
        <p:nvGraphicFramePr>
          <p:cNvPr id="124928" name="Group 4">
            <a:extLst>
              <a:ext uri="{FF2B5EF4-FFF2-40B4-BE49-F238E27FC236}">
                <a16:creationId xmlns:a16="http://schemas.microsoft.com/office/drawing/2014/main" id="{9365969F-B1EA-43DC-996B-C74A1F08A6DB}"/>
              </a:ext>
            </a:extLst>
          </p:cNvPr>
          <p:cNvGraphicFramePr>
            <a:graphicFrameLocks noGrp="1"/>
          </p:cNvGraphicFramePr>
          <p:nvPr/>
        </p:nvGraphicFramePr>
        <p:xfrm>
          <a:off x="750581" y="2564925"/>
          <a:ext cx="6629400" cy="56197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62528807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108352747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3966515735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529020470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396180234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300337928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35466975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172943734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1308924907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599813366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3323016931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62957096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356211235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919640115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36748444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895353924"/>
                    </a:ext>
                  </a:extLst>
                </a:gridCol>
              </a:tblGrid>
              <a:tr h="265113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89954"/>
                  </a:ext>
                </a:extLst>
              </a:tr>
              <a:tr h="296863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CF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374627"/>
                  </a:ext>
                </a:extLst>
              </a:tr>
            </a:tbl>
          </a:graphicData>
        </a:graphic>
      </p:graphicFrame>
      <p:sp>
        <p:nvSpPr>
          <p:cNvPr id="124929" name="Text Box 74">
            <a:extLst>
              <a:ext uri="{FF2B5EF4-FFF2-40B4-BE49-F238E27FC236}">
                <a16:creationId xmlns:a16="http://schemas.microsoft.com/office/drawing/2014/main" id="{593F886D-680F-58A3-F05E-474930C51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142" y="3479324"/>
            <a:ext cx="46166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1800" b="1">
                <a:solidFill>
                  <a:schemeClr val="hlink"/>
                </a:solidFill>
              </a:rPr>
              <a:t>状态标志</a:t>
            </a:r>
          </a:p>
        </p:txBody>
      </p:sp>
      <p:grpSp>
        <p:nvGrpSpPr>
          <p:cNvPr id="124932" name="Group 75">
            <a:extLst>
              <a:ext uri="{FF2B5EF4-FFF2-40B4-BE49-F238E27FC236}">
                <a16:creationId xmlns:a16="http://schemas.microsoft.com/office/drawing/2014/main" id="{A939EB27-0F53-4DF1-FE6E-2C2600A9D352}"/>
              </a:ext>
            </a:extLst>
          </p:cNvPr>
          <p:cNvGrpSpPr>
            <a:grpSpLocks/>
          </p:cNvGrpSpPr>
          <p:nvPr/>
        </p:nvGrpSpPr>
        <p:grpSpPr bwMode="auto">
          <a:xfrm>
            <a:off x="595007" y="3136424"/>
            <a:ext cx="7927976" cy="1911349"/>
            <a:chOff x="334" y="2256"/>
            <a:chExt cx="4994" cy="1606"/>
          </a:xfrm>
        </p:grpSpPr>
        <p:sp>
          <p:nvSpPr>
            <p:cNvPr id="124933" name="Text Box 76">
              <a:extLst>
                <a:ext uri="{FF2B5EF4-FFF2-40B4-BE49-F238E27FC236}">
                  <a16:creationId xmlns:a16="http://schemas.microsoft.com/office/drawing/2014/main" id="{AE53144D-9F18-9FD6-4915-0891F12EA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448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方向标志</a:t>
              </a:r>
            </a:p>
          </p:txBody>
        </p:sp>
        <p:sp>
          <p:nvSpPr>
            <p:cNvPr id="124934" name="Text Box 77">
              <a:extLst>
                <a:ext uri="{FF2B5EF4-FFF2-40B4-BE49-F238E27FC236}">
                  <a16:creationId xmlns:a16="http://schemas.microsoft.com/office/drawing/2014/main" id="{18204C56-D965-DE97-73A0-B1999CFFE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688"/>
              <a:ext cx="81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 dirty="0"/>
                <a:t>中断标志</a:t>
              </a:r>
            </a:p>
          </p:txBody>
        </p:sp>
        <p:sp>
          <p:nvSpPr>
            <p:cNvPr id="124935" name="Text Box 78">
              <a:extLst>
                <a:ext uri="{FF2B5EF4-FFF2-40B4-BE49-F238E27FC236}">
                  <a16:creationId xmlns:a16="http://schemas.microsoft.com/office/drawing/2014/main" id="{A5706D8A-1E92-AEE3-1CE0-8111DC56A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928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跟踪标志</a:t>
              </a:r>
            </a:p>
          </p:txBody>
        </p:sp>
        <p:sp>
          <p:nvSpPr>
            <p:cNvPr id="124937" name="Text Box 80">
              <a:extLst>
                <a:ext uri="{FF2B5EF4-FFF2-40B4-BE49-F238E27FC236}">
                  <a16:creationId xmlns:a16="http://schemas.microsoft.com/office/drawing/2014/main" id="{4DD44C18-C5F5-DDF1-1AF3-EB7D923FA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" y="2536"/>
              <a:ext cx="291" cy="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>
                  <a:solidFill>
                    <a:schemeClr val="hlink"/>
                  </a:solidFill>
                </a:rPr>
                <a:t>控制标志</a:t>
              </a:r>
            </a:p>
          </p:txBody>
        </p:sp>
        <p:sp>
          <p:nvSpPr>
            <p:cNvPr id="124938" name="AutoShape 81">
              <a:extLst>
                <a:ext uri="{FF2B5EF4-FFF2-40B4-BE49-F238E27FC236}">
                  <a16:creationId xmlns:a16="http://schemas.microsoft.com/office/drawing/2014/main" id="{85BC1B78-7D15-7C69-B58B-5322CD9B3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2496"/>
              <a:ext cx="192" cy="677"/>
            </a:xfrm>
            <a:prstGeom prst="leftBrace">
              <a:avLst>
                <a:gd name="adj1" fmla="val 39583"/>
                <a:gd name="adj2" fmla="val 50000"/>
              </a:avLst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4939" name="Text Box 82">
              <a:extLst>
                <a:ext uri="{FF2B5EF4-FFF2-40B4-BE49-F238E27FC236}">
                  <a16:creationId xmlns:a16="http://schemas.microsoft.com/office/drawing/2014/main" id="{8D94FA5E-30AD-FB0B-8FA9-22F896487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400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进位标志</a:t>
              </a:r>
            </a:p>
          </p:txBody>
        </p:sp>
        <p:sp>
          <p:nvSpPr>
            <p:cNvPr id="124940" name="Text Box 83">
              <a:extLst>
                <a:ext uri="{FF2B5EF4-FFF2-40B4-BE49-F238E27FC236}">
                  <a16:creationId xmlns:a16="http://schemas.microsoft.com/office/drawing/2014/main" id="{DF30333E-EB15-1576-AC89-505E77F9F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2640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奇偶标志</a:t>
              </a:r>
            </a:p>
          </p:txBody>
        </p:sp>
        <p:sp>
          <p:nvSpPr>
            <p:cNvPr id="124941" name="Text Box 84">
              <a:extLst>
                <a:ext uri="{FF2B5EF4-FFF2-40B4-BE49-F238E27FC236}">
                  <a16:creationId xmlns:a16="http://schemas.microsoft.com/office/drawing/2014/main" id="{29EA1F58-30DD-E778-6430-002ADC359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880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半进位标志</a:t>
              </a:r>
            </a:p>
          </p:txBody>
        </p:sp>
        <p:sp>
          <p:nvSpPr>
            <p:cNvPr id="124942" name="Text Box 85">
              <a:extLst>
                <a:ext uri="{FF2B5EF4-FFF2-40B4-BE49-F238E27FC236}">
                  <a16:creationId xmlns:a16="http://schemas.microsoft.com/office/drawing/2014/main" id="{81E8398E-9E2C-16CE-62BB-A768116A3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4" y="3120"/>
              <a:ext cx="5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零标志</a:t>
              </a:r>
            </a:p>
          </p:txBody>
        </p:sp>
        <p:sp>
          <p:nvSpPr>
            <p:cNvPr id="124943" name="Text Box 86">
              <a:extLst>
                <a:ext uri="{FF2B5EF4-FFF2-40B4-BE49-F238E27FC236}">
                  <a16:creationId xmlns:a16="http://schemas.microsoft.com/office/drawing/2014/main" id="{D963668D-FE53-3D59-09D6-9348B7212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3360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符号标志</a:t>
              </a:r>
            </a:p>
          </p:txBody>
        </p:sp>
        <p:sp>
          <p:nvSpPr>
            <p:cNvPr id="124944" name="Text Box 87">
              <a:extLst>
                <a:ext uri="{FF2B5EF4-FFF2-40B4-BE49-F238E27FC236}">
                  <a16:creationId xmlns:a16="http://schemas.microsoft.com/office/drawing/2014/main" id="{78B99D5A-DF56-7FFD-E375-A31AE0131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3552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溢出标志</a:t>
              </a:r>
            </a:p>
          </p:txBody>
        </p:sp>
        <p:sp>
          <p:nvSpPr>
            <p:cNvPr id="124945" name="AutoShape 88">
              <a:extLst>
                <a:ext uri="{FF2B5EF4-FFF2-40B4-BE49-F238E27FC236}">
                  <a16:creationId xmlns:a16="http://schemas.microsoft.com/office/drawing/2014/main" id="{4A2E20DB-FCB2-990D-DF89-5A9019A4D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" y="2496"/>
              <a:ext cx="240" cy="1200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zh-CN" sz="1800" b="1">
                <a:solidFill>
                  <a:schemeClr val="hlink"/>
                </a:solidFill>
              </a:endParaRPr>
            </a:p>
          </p:txBody>
        </p:sp>
        <p:sp>
          <p:nvSpPr>
            <p:cNvPr id="124946" name="Line 89">
              <a:extLst>
                <a:ext uri="{FF2B5EF4-FFF2-40B4-BE49-F238E27FC236}">
                  <a16:creationId xmlns:a16="http://schemas.microsoft.com/office/drawing/2014/main" id="{7FFA0ECA-CA17-D638-8721-363440F83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47" name="Line 90">
              <a:extLst>
                <a:ext uri="{FF2B5EF4-FFF2-40B4-BE49-F238E27FC236}">
                  <a16:creationId xmlns:a16="http://schemas.microsoft.com/office/drawing/2014/main" id="{2C72DAFE-BF64-1444-E6D4-3C717B43F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48" name="Line 91">
              <a:extLst>
                <a:ext uri="{FF2B5EF4-FFF2-40B4-BE49-F238E27FC236}">
                  <a16:creationId xmlns:a16="http://schemas.microsoft.com/office/drawing/2014/main" id="{A33BD353-8A3D-AAA0-E54F-02895B6A1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78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49" name="Line 92">
              <a:extLst>
                <a:ext uri="{FF2B5EF4-FFF2-40B4-BE49-F238E27FC236}">
                  <a16:creationId xmlns:a16="http://schemas.microsoft.com/office/drawing/2014/main" id="{83E6805D-C7E0-1D85-CA0A-9AF3C81A6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225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0" name="Line 93">
              <a:extLst>
                <a:ext uri="{FF2B5EF4-FFF2-40B4-BE49-F238E27FC236}">
                  <a16:creationId xmlns:a16="http://schemas.microsoft.com/office/drawing/2014/main" id="{957BE552-928A-C700-7F42-C02723442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07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1" name="Line 94">
              <a:extLst>
                <a:ext uri="{FF2B5EF4-FFF2-40B4-BE49-F238E27FC236}">
                  <a16:creationId xmlns:a16="http://schemas.microsoft.com/office/drawing/2014/main" id="{9F9CB3AB-5CF4-0A8A-87A6-6CE9E61EE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225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2" name="Line 95">
              <a:extLst>
                <a:ext uri="{FF2B5EF4-FFF2-40B4-BE49-F238E27FC236}">
                  <a16:creationId xmlns:a16="http://schemas.microsoft.com/office/drawing/2014/main" id="{6F9E637E-7391-48ED-7987-4FE1C9DAF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256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3" name="Line 96">
              <a:extLst>
                <a:ext uri="{FF2B5EF4-FFF2-40B4-BE49-F238E27FC236}">
                  <a16:creationId xmlns:a16="http://schemas.microsoft.com/office/drawing/2014/main" id="{E3F4B9C0-ABE8-BFB7-5D9C-745242F6A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256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4" name="Line 97">
              <a:extLst>
                <a:ext uri="{FF2B5EF4-FFF2-40B4-BE49-F238E27FC236}">
                  <a16:creationId xmlns:a16="http://schemas.microsoft.com/office/drawing/2014/main" id="{EAEB514D-534F-8E33-042D-EB4F22ED86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25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5" name="Line 98">
              <a:extLst>
                <a:ext uri="{FF2B5EF4-FFF2-40B4-BE49-F238E27FC236}">
                  <a16:creationId xmlns:a16="http://schemas.microsoft.com/office/drawing/2014/main" id="{38367319-410B-FCEE-2367-9EE6F8B23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25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6" name="Line 99">
              <a:extLst>
                <a:ext uri="{FF2B5EF4-FFF2-40B4-BE49-F238E27FC236}">
                  <a16:creationId xmlns:a16="http://schemas.microsoft.com/office/drawing/2014/main" id="{9A12D62C-CB3C-F013-DEC1-B2BC92418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7" name="Line 100">
              <a:extLst>
                <a:ext uri="{FF2B5EF4-FFF2-40B4-BE49-F238E27FC236}">
                  <a16:creationId xmlns:a16="http://schemas.microsoft.com/office/drawing/2014/main" id="{021D47BD-54F4-B2DE-9381-D7E52556A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2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8" name="Line 101">
              <a:extLst>
                <a:ext uri="{FF2B5EF4-FFF2-40B4-BE49-F238E27FC236}">
                  <a16:creationId xmlns:a16="http://schemas.microsoft.com/office/drawing/2014/main" id="{8E59173D-CB23-69C6-C8C3-126CFA095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69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0" name="Line 102">
              <a:extLst>
                <a:ext uri="{FF2B5EF4-FFF2-40B4-BE49-F238E27FC236}">
                  <a16:creationId xmlns:a16="http://schemas.microsoft.com/office/drawing/2014/main" id="{09AFB589-E82B-4C00-FAB2-CB1575388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45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1" name="Line 103">
              <a:extLst>
                <a:ext uri="{FF2B5EF4-FFF2-40B4-BE49-F238E27FC236}">
                  <a16:creationId xmlns:a16="http://schemas.microsoft.com/office/drawing/2014/main" id="{176D86CC-6BC1-6A03-ACAE-D9FEB9956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2" name="Line 104">
              <a:extLst>
                <a:ext uri="{FF2B5EF4-FFF2-40B4-BE49-F238E27FC236}">
                  <a16:creationId xmlns:a16="http://schemas.microsoft.com/office/drawing/2014/main" id="{E60DDCE7-A63B-C4A0-8579-5F2179B6F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7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3" name="Line 105">
              <a:extLst>
                <a:ext uri="{FF2B5EF4-FFF2-40B4-BE49-F238E27FC236}">
                  <a16:creationId xmlns:a16="http://schemas.microsoft.com/office/drawing/2014/main" id="{2D0DB2CE-4281-60DF-2EE4-858B3B6D8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321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4" name="Line 106">
              <a:extLst>
                <a:ext uri="{FF2B5EF4-FFF2-40B4-BE49-F238E27FC236}">
                  <a16:creationId xmlns:a16="http://schemas.microsoft.com/office/drawing/2014/main" id="{7DBEECD3-A6AF-93B8-15E0-44C32CE3D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54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42012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221E735D-81D4-B4DC-EE97-237518E5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42522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8088</a:t>
            </a:r>
            <a:r>
              <a:rPr lang="zh-CN" altLang="en-US" sz="2400" dirty="0"/>
              <a:t>的指令执行过程       例：</a:t>
            </a:r>
            <a:r>
              <a:rPr lang="en-US" altLang="zh-CN" sz="2400" dirty="0"/>
              <a:t>ADD  DS:[BX+0100H], AL</a:t>
            </a:r>
            <a:endParaRPr lang="zh-CN" altLang="en-US" sz="2400" dirty="0"/>
          </a:p>
        </p:txBody>
      </p:sp>
      <p:pic>
        <p:nvPicPr>
          <p:cNvPr id="20483" name="Picture 4" descr="E:\李征的资料\教学资料\2008年教学资料\微机原理与接口技术\自己的课件\图片\指令执行过程.bmp">
            <a:extLst>
              <a:ext uri="{FF2B5EF4-FFF2-40B4-BE49-F238E27FC236}">
                <a16:creationId xmlns:a16="http://schemas.microsoft.com/office/drawing/2014/main" id="{04A259FC-D9F1-9A92-4563-4C5D1394D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71550"/>
            <a:ext cx="6573440" cy="419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300AD6B-7D23-2BDB-6018-EE9127188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6296" y="1059582"/>
            <a:ext cx="1783110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）取指令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2</a:t>
            </a:r>
            <a:r>
              <a:rPr lang="zh-CN" altLang="en-US" sz="1400" dirty="0"/>
              <a:t>）读取操作数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3</a:t>
            </a:r>
            <a:r>
              <a:rPr lang="zh-CN" altLang="en-US" sz="1400" dirty="0"/>
              <a:t>）完成运算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4</a:t>
            </a:r>
            <a:r>
              <a:rPr lang="zh-CN" altLang="en-US" sz="1400" dirty="0"/>
              <a:t>）写入运算结果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04BFDE21-8D14-8E0E-8283-BF45B987E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45" y="915566"/>
            <a:ext cx="7886700" cy="3719537"/>
          </a:xfrm>
        </p:spPr>
        <p:txBody>
          <a:bodyPr/>
          <a:lstStyle/>
          <a:p>
            <a:pPr eaLnBrk="1" hangingPunct="1"/>
            <a:r>
              <a:rPr lang="zh-CN" altLang="en-US" dirty="0"/>
              <a:t>请复习</a:t>
            </a:r>
            <a:r>
              <a:rPr lang="en-US" altLang="zh-CN" dirty="0"/>
              <a:t>8086/8088</a:t>
            </a:r>
            <a:r>
              <a:rPr lang="zh-CN" altLang="en-US" dirty="0"/>
              <a:t>指令系统、汇编语言源程序格式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本课程是</a:t>
            </a:r>
            <a:r>
              <a:rPr lang="zh-CN" altLang="en-US" dirty="0">
                <a:latin typeface="Times New Roman" panose="02020603050405020304" pitchFamily="18" charset="0"/>
              </a:rPr>
              <a:t>“</a:t>
            </a:r>
            <a:r>
              <a:rPr lang="zh-CN" altLang="en-US" dirty="0"/>
              <a:t>汇编语言</a:t>
            </a:r>
            <a:r>
              <a:rPr lang="zh-CN" altLang="en-US" dirty="0">
                <a:latin typeface="Times New Roman" panose="02020603050405020304" pitchFamily="18" charset="0"/>
              </a:rPr>
              <a:t>”</a:t>
            </a:r>
            <a:r>
              <a:rPr lang="zh-CN" altLang="en-US" dirty="0"/>
              <a:t>的继续</a:t>
            </a:r>
          </a:p>
          <a:p>
            <a:pPr lvl="1" eaLnBrk="1" hangingPunct="1"/>
            <a:r>
              <a:rPr lang="zh-CN" altLang="en-US" dirty="0"/>
              <a:t>加强程序设计能力</a:t>
            </a:r>
          </a:p>
          <a:p>
            <a:pPr lvl="1" eaLnBrk="1" hangingPunct="1"/>
            <a:r>
              <a:rPr lang="zh-CN" altLang="en-US" dirty="0"/>
              <a:t>实践</a:t>
            </a:r>
            <a:r>
              <a:rPr lang="en-US" altLang="zh-CN" dirty="0"/>
              <a:t>I/O</a:t>
            </a:r>
            <a:r>
              <a:rPr lang="zh-CN" altLang="en-US" dirty="0"/>
              <a:t>程序设计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E969535-3DD5-0470-704C-8BD68267A4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19672" y="434538"/>
            <a:ext cx="5105400" cy="5715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zh-CN" altLang="en-US" sz="4800" b="1" dirty="0"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4800" b="1" dirty="0">
                <a:latin typeface="隶书" pitchFamily="49" charset="-122"/>
                <a:ea typeface="隶书" pitchFamily="49" charset="-122"/>
              </a:rPr>
              <a:t>章教学要求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8E7CD74-2D89-B467-D2F2-1C1B05D237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85813" y="1275606"/>
            <a:ext cx="7696200" cy="3467844"/>
          </a:xfrm>
        </p:spPr>
        <p:txBody>
          <a:bodyPr>
            <a:normAutofit fontScale="85000" lnSpcReduction="10000"/>
          </a:bodyPr>
          <a:lstStyle/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1.</a:t>
            </a:r>
            <a:r>
              <a:rPr lang="en-US" altLang="zh-CN" sz="2800" b="0" dirty="0"/>
              <a:t> </a:t>
            </a:r>
            <a:r>
              <a:rPr lang="zh-CN" altLang="en-US" sz="2800" dirty="0"/>
              <a:t>了解微机发展概况、熟悉典型微处理器和微机系统；</a:t>
            </a:r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明确微机两个应用方向、区别通用微机（</a:t>
            </a:r>
            <a:r>
              <a:rPr lang="en-US" altLang="zh-CN" sz="2800" dirty="0"/>
              <a:t>PC</a:t>
            </a:r>
            <a:r>
              <a:rPr lang="zh-CN" altLang="en-US" sz="2800" dirty="0"/>
              <a:t>机）和控制专用微机（单片机）；</a:t>
            </a:r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3.</a:t>
            </a:r>
            <a:r>
              <a:rPr lang="en-US" altLang="zh-CN" sz="2800" dirty="0"/>
              <a:t> </a:t>
            </a:r>
            <a:r>
              <a:rPr lang="zh-CN" altLang="en-US" sz="2800" dirty="0"/>
              <a:t>了解微机的硬件组成，理解总线及其应用特点、掌握地址、数据、控制总线的概念；</a:t>
            </a:r>
            <a:endParaRPr lang="en-US" altLang="zh-CN" sz="2800" dirty="0"/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4.</a:t>
            </a:r>
            <a:r>
              <a:rPr lang="en-US" altLang="zh-CN" sz="2800" dirty="0"/>
              <a:t> </a:t>
            </a:r>
            <a:r>
              <a:rPr lang="zh-CN" altLang="en-US" sz="2800" dirty="0"/>
              <a:t>熟悉</a:t>
            </a:r>
            <a:r>
              <a:rPr lang="en-US" altLang="zh-CN" sz="2800" dirty="0"/>
              <a:t>PC</a:t>
            </a:r>
            <a:r>
              <a:rPr lang="zh-CN" altLang="en-US" sz="2800" dirty="0"/>
              <a:t>系列机的主机板、存储空间分配和</a:t>
            </a:r>
            <a:r>
              <a:rPr lang="en-US" altLang="zh-CN" sz="2800" dirty="0"/>
              <a:t>I/O</a:t>
            </a:r>
            <a:r>
              <a:rPr lang="zh-CN" altLang="en-US" sz="2800" dirty="0"/>
              <a:t>空间分配；</a:t>
            </a:r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5.</a:t>
            </a:r>
            <a:r>
              <a:rPr lang="en-US" altLang="zh-CN" sz="2800" dirty="0"/>
              <a:t> </a:t>
            </a:r>
            <a:r>
              <a:rPr lang="zh-CN" altLang="en-US" sz="2800" dirty="0"/>
              <a:t>了解微处理器基本结构、</a:t>
            </a:r>
            <a:r>
              <a:rPr lang="en-US" altLang="zh-CN" sz="2800" dirty="0"/>
              <a:t>8088/8086</a:t>
            </a:r>
            <a:r>
              <a:rPr lang="zh-CN" altLang="en-US" sz="2800" dirty="0"/>
              <a:t>的内部功能结构；</a:t>
            </a:r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6. </a:t>
            </a:r>
            <a:r>
              <a:rPr lang="zh-CN" altLang="en-US" sz="2800" dirty="0"/>
              <a:t>复习汇编语言源程序格式。</a:t>
            </a:r>
          </a:p>
          <a:p>
            <a:pPr algn="just" eaLnBrk="1" hangingPunct="1"/>
            <a:endParaRPr lang="zh-CN" altLang="en-US" sz="2800" dirty="0"/>
          </a:p>
        </p:txBody>
      </p:sp>
    </p:spTree>
  </p:cSld>
  <p:clrMapOvr>
    <a:masterClrMapping/>
  </p:clrMapOvr>
  <p:transition spd="slow">
    <p:random/>
  </p:transition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7770</TotalTime>
  <Words>2423</Words>
  <Application>Microsoft Office PowerPoint</Application>
  <PresentationFormat>全屏显示(16:9)</PresentationFormat>
  <Paragraphs>426</Paragraphs>
  <Slides>41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等线</vt:lpstr>
      <vt:lpstr>仿宋</vt:lpstr>
      <vt:lpstr>黑体</vt:lpstr>
      <vt:lpstr>隶书</vt:lpstr>
      <vt:lpstr>宋体</vt:lpstr>
      <vt:lpstr>幼圆</vt:lpstr>
      <vt:lpstr>Arial</vt:lpstr>
      <vt:lpstr>Calibri</vt:lpstr>
      <vt:lpstr>Calibri Light</vt:lpstr>
      <vt:lpstr>Tahoma</vt:lpstr>
      <vt:lpstr>Times New Roman</vt:lpstr>
      <vt:lpstr>Wingdings</vt:lpstr>
      <vt:lpstr>Wingdings 2</vt:lpstr>
      <vt:lpstr>HDOfficeLightV0</vt:lpstr>
      <vt:lpstr>第1章  微型计算机系统概述</vt:lpstr>
      <vt:lpstr>第1章 微型计算机系统概述</vt:lpstr>
      <vt:lpstr>1.1  微型计算机的发展和应用</vt:lpstr>
      <vt:lpstr>1.1.1  微型计算机的发展</vt:lpstr>
      <vt:lpstr>Apple微型计算机</vt:lpstr>
      <vt:lpstr>IBM PC系列机</vt:lpstr>
      <vt:lpstr>1.1.1  微型计算机的发展（续）</vt:lpstr>
      <vt:lpstr>英特尔微处理器芯片</vt:lpstr>
      <vt:lpstr> 摩尔定律</vt:lpstr>
      <vt:lpstr>专用微处理器</vt:lpstr>
      <vt:lpstr>处理器的基本性能指标</vt:lpstr>
      <vt:lpstr>1.2  微型计算机的系统组成</vt:lpstr>
      <vt:lpstr>PowerPoint 演示文稿</vt:lpstr>
      <vt:lpstr>1.2.1 冯·诺依曼计算机结构</vt:lpstr>
      <vt:lpstr>冯·诺伊曼计算机的基本思想</vt:lpstr>
      <vt:lpstr>1.2.2 微型计算机的硬件组成</vt:lpstr>
      <vt:lpstr>系统总线</vt:lpstr>
      <vt:lpstr>总线信号</vt:lpstr>
      <vt:lpstr>Intel 80x86CPU的地址线条数</vt:lpstr>
      <vt:lpstr>Intel 80x86CPU的数据线条数</vt:lpstr>
      <vt:lpstr>系统总线的使用特点</vt:lpstr>
      <vt:lpstr>PowerPoint 演示文稿</vt:lpstr>
      <vt:lpstr>I/O接口和I/O设备</vt:lpstr>
      <vt:lpstr>1.3基于8088CPU的PC微机系统结构</vt:lpstr>
      <vt:lpstr>1.3基于8088CPU的PC微机系统结构</vt:lpstr>
      <vt:lpstr>8088的引脚图</vt:lpstr>
      <vt:lpstr>1.3.1  主机板组成</vt:lpstr>
      <vt:lpstr>1.3.2  I/O空间的分配</vt:lpstr>
      <vt:lpstr>1.3.2  I/O空间的分配</vt:lpstr>
      <vt:lpstr>1.3.3 8088内部结构</vt:lpstr>
      <vt:lpstr>PowerPoint 演示文稿</vt:lpstr>
      <vt:lpstr>PowerPoint 演示文稿</vt:lpstr>
      <vt:lpstr>8088/8086的寄存器结构 </vt:lpstr>
      <vt:lpstr>1.  通用寄存器</vt:lpstr>
      <vt:lpstr>2. 段寄存器</vt:lpstr>
      <vt:lpstr>3.  指令指针寄存器</vt:lpstr>
      <vt:lpstr>4.  标志寄存器</vt:lpstr>
      <vt:lpstr>标志寄存器-分类</vt:lpstr>
      <vt:lpstr>8088的指令执行过程       例：ADD  DS:[BX+0100H], AL</vt:lpstr>
      <vt:lpstr>PowerPoint 演示文稿</vt:lpstr>
      <vt:lpstr>第1章教学要求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微机原理及接口技术第01章</dc:title>
  <cp:lastModifiedBy>Qin Li</cp:lastModifiedBy>
  <cp:revision>184</cp:revision>
  <dcterms:created xsi:type="dcterms:W3CDTF">2002-02-18T14:33:22Z</dcterms:created>
  <dcterms:modified xsi:type="dcterms:W3CDTF">2025-02-22T15:43:46Z</dcterms:modified>
</cp:coreProperties>
</file>