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9" r:id="rId1"/>
  </p:sldMasterIdLst>
  <p:notesMasterIdLst>
    <p:notesMasterId r:id="rId115"/>
  </p:notesMasterIdLst>
  <p:sldIdLst>
    <p:sldId id="441" r:id="rId2"/>
    <p:sldId id="257" r:id="rId3"/>
    <p:sldId id="258" r:id="rId4"/>
    <p:sldId id="259" r:id="rId5"/>
    <p:sldId id="271" r:id="rId6"/>
    <p:sldId id="452" r:id="rId7"/>
    <p:sldId id="453" r:id="rId8"/>
    <p:sldId id="454" r:id="rId9"/>
    <p:sldId id="455" r:id="rId10"/>
    <p:sldId id="530" r:id="rId11"/>
    <p:sldId id="456" r:id="rId12"/>
    <p:sldId id="442" r:id="rId13"/>
    <p:sldId id="459" r:id="rId14"/>
    <p:sldId id="274" r:id="rId15"/>
    <p:sldId id="464" r:id="rId16"/>
    <p:sldId id="276" r:id="rId17"/>
    <p:sldId id="277" r:id="rId18"/>
    <p:sldId id="279" r:id="rId19"/>
    <p:sldId id="282" r:id="rId20"/>
    <p:sldId id="465" r:id="rId21"/>
    <p:sldId id="469" r:id="rId22"/>
    <p:sldId id="285" r:id="rId23"/>
    <p:sldId id="298" r:id="rId24"/>
    <p:sldId id="302" r:id="rId25"/>
    <p:sldId id="303" r:id="rId26"/>
    <p:sldId id="305" r:id="rId27"/>
    <p:sldId id="310" r:id="rId28"/>
    <p:sldId id="317" r:id="rId29"/>
    <p:sldId id="483" r:id="rId30"/>
    <p:sldId id="318" r:id="rId31"/>
    <p:sldId id="319" r:id="rId32"/>
    <p:sldId id="327" r:id="rId33"/>
    <p:sldId id="352" r:id="rId34"/>
    <p:sldId id="353" r:id="rId35"/>
    <p:sldId id="354" r:id="rId36"/>
    <p:sldId id="355" r:id="rId37"/>
    <p:sldId id="360" r:id="rId38"/>
    <p:sldId id="287" r:id="rId39"/>
    <p:sldId id="531" r:id="rId40"/>
    <p:sldId id="289" r:id="rId41"/>
    <p:sldId id="290" r:id="rId42"/>
    <p:sldId id="400" r:id="rId43"/>
    <p:sldId id="401" r:id="rId44"/>
    <p:sldId id="502" r:id="rId45"/>
    <p:sldId id="402" r:id="rId46"/>
    <p:sldId id="292" r:id="rId47"/>
    <p:sldId id="491" r:id="rId48"/>
    <p:sldId id="493" r:id="rId49"/>
    <p:sldId id="494" r:id="rId50"/>
    <p:sldId id="495" r:id="rId51"/>
    <p:sldId id="294" r:id="rId52"/>
    <p:sldId id="395" r:id="rId53"/>
    <p:sldId id="541" r:id="rId54"/>
    <p:sldId id="297" r:id="rId55"/>
    <p:sldId id="501" r:id="rId56"/>
    <p:sldId id="299" r:id="rId57"/>
    <p:sldId id="301" r:id="rId58"/>
    <p:sldId id="532" r:id="rId59"/>
    <p:sldId id="536" r:id="rId60"/>
    <p:sldId id="466" r:id="rId61"/>
    <p:sldId id="525" r:id="rId62"/>
    <p:sldId id="542" r:id="rId63"/>
    <p:sldId id="306" r:id="rId64"/>
    <p:sldId id="308" r:id="rId65"/>
    <p:sldId id="312" r:id="rId66"/>
    <p:sldId id="314" r:id="rId67"/>
    <p:sldId id="315" r:id="rId68"/>
    <p:sldId id="316" r:id="rId69"/>
    <p:sldId id="533" r:id="rId70"/>
    <p:sldId id="320" r:id="rId71"/>
    <p:sldId id="406" r:id="rId72"/>
    <p:sldId id="534" r:id="rId73"/>
    <p:sldId id="326" r:id="rId74"/>
    <p:sldId id="543" r:id="rId75"/>
    <p:sldId id="520" r:id="rId76"/>
    <p:sldId id="504" r:id="rId77"/>
    <p:sldId id="521" r:id="rId78"/>
    <p:sldId id="505" r:id="rId79"/>
    <p:sldId id="522" r:id="rId80"/>
    <p:sldId id="506" r:id="rId81"/>
    <p:sldId id="544" r:id="rId82"/>
    <p:sldId id="523" r:id="rId83"/>
    <p:sldId id="507" r:id="rId84"/>
    <p:sldId id="329" r:id="rId85"/>
    <p:sldId id="330" r:id="rId86"/>
    <p:sldId id="331" r:id="rId87"/>
    <p:sldId id="332" r:id="rId88"/>
    <p:sldId id="333" r:id="rId89"/>
    <p:sldId id="336" r:id="rId90"/>
    <p:sldId id="407" r:id="rId91"/>
    <p:sldId id="408" r:id="rId92"/>
    <p:sldId id="412" r:id="rId93"/>
    <p:sldId id="413" r:id="rId94"/>
    <p:sldId id="414" r:id="rId95"/>
    <p:sldId id="416" r:id="rId96"/>
    <p:sldId id="420" r:id="rId97"/>
    <p:sldId id="421" r:id="rId98"/>
    <p:sldId id="422" r:id="rId99"/>
    <p:sldId id="423" r:id="rId100"/>
    <p:sldId id="425" r:id="rId101"/>
    <p:sldId id="427" r:id="rId102"/>
    <p:sldId id="428" r:id="rId103"/>
    <p:sldId id="431" r:id="rId104"/>
    <p:sldId id="443" r:id="rId105"/>
    <p:sldId id="444" r:id="rId106"/>
    <p:sldId id="450" r:id="rId107"/>
    <p:sldId id="445" r:id="rId108"/>
    <p:sldId id="451" r:id="rId109"/>
    <p:sldId id="537" r:id="rId110"/>
    <p:sldId id="538" r:id="rId111"/>
    <p:sldId id="540" r:id="rId112"/>
    <p:sldId id="446" r:id="rId113"/>
    <p:sldId id="535" r:id="rId114"/>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a:srgbClr val="660066"/>
    <a:srgbClr val="FF0066"/>
    <a:srgbClr val="9900CC"/>
    <a:srgbClr val="0000FF"/>
    <a:srgbClr val="CC0099"/>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horzBarState="maximized">
    <p:restoredLeft sz="17289" autoAdjust="0"/>
    <p:restoredTop sz="94702" autoAdjust="0"/>
  </p:normalViewPr>
  <p:slideViewPr>
    <p:cSldViewPr>
      <p:cViewPr varScale="1">
        <p:scale>
          <a:sx n="88" d="100"/>
          <a:sy n="88" d="100"/>
        </p:scale>
        <p:origin x="1124" y="64"/>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Lst>
  </p:outlineViewPr>
  <p:notesTextViewPr>
    <p:cViewPr>
      <p:scale>
        <a:sx n="100" d="100"/>
        <a:sy n="100" d="100"/>
      </p:scale>
      <p:origin x="0" y="0"/>
    </p:cViewPr>
  </p:notesTextViewPr>
  <p:sorterViewPr>
    <p:cViewPr>
      <p:scale>
        <a:sx n="100" d="100"/>
        <a:sy n="100" d="100"/>
      </p:scale>
      <p:origin x="0" y="46872"/>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viewProps" Target="view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_rels/viewProps.xml.rels><?xml version="1.0" encoding="UTF-8" standalone="yes"?>
<Relationships xmlns="http://schemas.openxmlformats.org/package/2006/relationships"><Relationship Id="rId8" Type="http://schemas.openxmlformats.org/officeDocument/2006/relationships/slide" Target="slides/slide17.xml"/><Relationship Id="rId13" Type="http://schemas.openxmlformats.org/officeDocument/2006/relationships/slide" Target="slides/slide22.xml"/><Relationship Id="rId18" Type="http://schemas.openxmlformats.org/officeDocument/2006/relationships/slide" Target="slides/slide28.xml"/><Relationship Id="rId26" Type="http://schemas.openxmlformats.org/officeDocument/2006/relationships/slide" Target="slides/slide37.xml"/><Relationship Id="rId3" Type="http://schemas.openxmlformats.org/officeDocument/2006/relationships/slide" Target="slides/slide4.xml"/><Relationship Id="rId21" Type="http://schemas.openxmlformats.org/officeDocument/2006/relationships/slide" Target="slides/slide32.xml"/><Relationship Id="rId7" Type="http://schemas.openxmlformats.org/officeDocument/2006/relationships/slide" Target="slides/slide16.xml"/><Relationship Id="rId12" Type="http://schemas.openxmlformats.org/officeDocument/2006/relationships/slide" Target="slides/slide21.xml"/><Relationship Id="rId17" Type="http://schemas.openxmlformats.org/officeDocument/2006/relationships/slide" Target="slides/slide26.xml"/><Relationship Id="rId25" Type="http://schemas.openxmlformats.org/officeDocument/2006/relationships/slide" Target="slides/slide36.xml"/><Relationship Id="rId2" Type="http://schemas.openxmlformats.org/officeDocument/2006/relationships/slide" Target="slides/slide3.xml"/><Relationship Id="rId16" Type="http://schemas.openxmlformats.org/officeDocument/2006/relationships/slide" Target="slides/slide25.xml"/><Relationship Id="rId20" Type="http://schemas.openxmlformats.org/officeDocument/2006/relationships/slide" Target="slides/slide31.xml"/><Relationship Id="rId29" Type="http://schemas.openxmlformats.org/officeDocument/2006/relationships/slide" Target="slides/slide40.xml"/><Relationship Id="rId1" Type="http://schemas.openxmlformats.org/officeDocument/2006/relationships/slide" Target="slides/slide2.xml"/><Relationship Id="rId6" Type="http://schemas.openxmlformats.org/officeDocument/2006/relationships/slide" Target="slides/slide15.xml"/><Relationship Id="rId11" Type="http://schemas.openxmlformats.org/officeDocument/2006/relationships/slide" Target="slides/slide20.xml"/><Relationship Id="rId24" Type="http://schemas.openxmlformats.org/officeDocument/2006/relationships/slide" Target="slides/slide35.xml"/><Relationship Id="rId5" Type="http://schemas.openxmlformats.org/officeDocument/2006/relationships/slide" Target="slides/slide14.xml"/><Relationship Id="rId15" Type="http://schemas.openxmlformats.org/officeDocument/2006/relationships/slide" Target="slides/slide24.xml"/><Relationship Id="rId23" Type="http://schemas.openxmlformats.org/officeDocument/2006/relationships/slide" Target="slides/slide34.xml"/><Relationship Id="rId28" Type="http://schemas.openxmlformats.org/officeDocument/2006/relationships/slide" Target="slides/slide39.xml"/><Relationship Id="rId10" Type="http://schemas.openxmlformats.org/officeDocument/2006/relationships/slide" Target="slides/slide19.xml"/><Relationship Id="rId19" Type="http://schemas.openxmlformats.org/officeDocument/2006/relationships/slide" Target="slides/slide29.xml"/><Relationship Id="rId31" Type="http://schemas.openxmlformats.org/officeDocument/2006/relationships/slide" Target="slides/slide51.xml"/><Relationship Id="rId4" Type="http://schemas.openxmlformats.org/officeDocument/2006/relationships/slide" Target="slides/slide5.xml"/><Relationship Id="rId9" Type="http://schemas.openxmlformats.org/officeDocument/2006/relationships/slide" Target="slides/slide18.xml"/><Relationship Id="rId14" Type="http://schemas.openxmlformats.org/officeDocument/2006/relationships/slide" Target="slides/slide23.xml"/><Relationship Id="rId22" Type="http://schemas.openxmlformats.org/officeDocument/2006/relationships/slide" Target="slides/slide33.xml"/><Relationship Id="rId27" Type="http://schemas.openxmlformats.org/officeDocument/2006/relationships/slide" Target="slides/slide38.xml"/><Relationship Id="rId30"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5D58D1-AFCC-4B5C-B61A-C054C944FAEB}" type="datetimeFigureOut">
              <a:rPr lang="zh-CN" altLang="en-US" smtClean="0"/>
              <a:t>2024/3/1</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2D0EF2-4FAD-4E19-A164-3F8401EFE13F}" type="slidenum">
              <a:rPr lang="zh-CN" altLang="en-US" smtClean="0"/>
              <a:t>‹#›</a:t>
            </a:fld>
            <a:endParaRPr lang="zh-CN" altLang="en-US"/>
          </a:p>
        </p:txBody>
      </p:sp>
    </p:spTree>
    <p:extLst>
      <p:ext uri="{BB962C8B-B14F-4D97-AF65-F5344CB8AC3E}">
        <p14:creationId xmlns:p14="http://schemas.microsoft.com/office/powerpoint/2010/main" val="739864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02D0720-5E74-368F-E074-E0F279BBA057}"/>
              </a:ext>
            </a:extLst>
          </p:cNvPr>
          <p:cNvSpPr>
            <a:spLocks noGrp="1" noChangeArrowheads="1"/>
          </p:cNvSpPr>
          <p:nvPr>
            <p:ph type="sldNum" sz="quarter" idx="5"/>
          </p:nvPr>
        </p:nvSpPr>
        <p:spPr>
          <a:ln/>
        </p:spPr>
        <p:txBody>
          <a:bodyPr/>
          <a:lstStyle/>
          <a:p>
            <a:fld id="{5100D6EC-C235-4541-A4C5-25D47C320497}" type="slidenum">
              <a:rPr lang="en-US" altLang="zh-CN"/>
              <a:pPr/>
              <a:t>52</a:t>
            </a:fld>
            <a:endParaRPr lang="en-US" altLang="zh-CN"/>
          </a:p>
        </p:txBody>
      </p:sp>
      <p:sp>
        <p:nvSpPr>
          <p:cNvPr id="186370" name="Rectangle 2">
            <a:extLst>
              <a:ext uri="{FF2B5EF4-FFF2-40B4-BE49-F238E27FC236}">
                <a16:creationId xmlns:a16="http://schemas.microsoft.com/office/drawing/2014/main" id="{66F36DD8-E34F-0F1B-308A-01E9B0325C9D}"/>
              </a:ext>
            </a:extLst>
          </p:cNvPr>
          <p:cNvSpPr>
            <a:spLocks noGrp="1" noRot="1" noChangeAspect="1" noChangeArrowheads="1" noTextEdit="1"/>
          </p:cNvSpPr>
          <p:nvPr>
            <p:ph type="sldImg"/>
          </p:nvPr>
        </p:nvSpPr>
        <p:spPr>
          <a:ln/>
        </p:spPr>
      </p:sp>
      <p:sp>
        <p:nvSpPr>
          <p:cNvPr id="186371" name="Rectangle 3">
            <a:extLst>
              <a:ext uri="{FF2B5EF4-FFF2-40B4-BE49-F238E27FC236}">
                <a16:creationId xmlns:a16="http://schemas.microsoft.com/office/drawing/2014/main" id="{2F17E66A-EBC1-02AE-9047-86FC02F5994A}"/>
              </a:ext>
            </a:extLst>
          </p:cNvPr>
          <p:cNvSpPr>
            <a:spLocks noGrp="1" noChangeArrowheads="1"/>
          </p:cNvSpPr>
          <p:nvPr>
            <p:ph type="body" idx="1"/>
          </p:nvPr>
        </p:nvSpPr>
        <p:spPr/>
        <p:txBody>
          <a:bodyPr/>
          <a:lstStyle/>
          <a:p>
            <a:endParaRPr lang="zh-CN" altLang="zh-CN" sz="10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E2F763DF-B491-02CA-DF50-DEEDD606EE8E}"/>
              </a:ext>
            </a:extLst>
          </p:cNvPr>
          <p:cNvSpPr>
            <a:spLocks noGrp="1" noChangeArrowheads="1"/>
          </p:cNvSpPr>
          <p:nvPr>
            <p:ph type="subTitle" idx="1"/>
          </p:nvPr>
        </p:nvSpPr>
        <p:spPr>
          <a:xfrm>
            <a:off x="1371600" y="2924175"/>
            <a:ext cx="6400800" cy="1225550"/>
          </a:xfrm>
        </p:spPr>
        <p:txBody>
          <a:bodyPr/>
          <a:lstStyle>
            <a:lvl1pPr marL="0" indent="0" algn="ctr">
              <a:buFontTx/>
              <a:buNone/>
              <a:defRPr/>
            </a:lvl1pPr>
          </a:lstStyle>
          <a:p>
            <a:pPr lvl="0"/>
            <a:r>
              <a:rPr lang="zh-CN" altLang="en-US" noProof="0"/>
              <a:t>请使用艺术字做标题</a:t>
            </a:r>
          </a:p>
        </p:txBody>
      </p:sp>
      <p:sp>
        <p:nvSpPr>
          <p:cNvPr id="22531" name="Rectangle 3">
            <a:extLst>
              <a:ext uri="{FF2B5EF4-FFF2-40B4-BE49-F238E27FC236}">
                <a16:creationId xmlns:a16="http://schemas.microsoft.com/office/drawing/2014/main" id="{3C3C5BC2-5D6D-ACF8-29C6-E22FE029908F}"/>
              </a:ext>
            </a:extLst>
          </p:cNvPr>
          <p:cNvSpPr>
            <a:spLocks noGrp="1" noChangeArrowheads="1"/>
          </p:cNvSpPr>
          <p:nvPr>
            <p:ph type="ctrTitle"/>
          </p:nvPr>
        </p:nvSpPr>
        <p:spPr>
          <a:xfrm>
            <a:off x="684213" y="549275"/>
            <a:ext cx="5903912" cy="431800"/>
          </a:xfrm>
        </p:spPr>
        <p:txBody>
          <a:bodyPr/>
          <a:lstStyle>
            <a:lvl1pPr>
              <a:defRPr sz="3200">
                <a:solidFill>
                  <a:srgbClr val="9900CC"/>
                </a:solidFill>
              </a:defRPr>
            </a:lvl1pPr>
          </a:lstStyle>
          <a:p>
            <a:pPr lvl="0"/>
            <a:r>
              <a:rPr lang="zh-CN" altLang="en-US" noProof="0"/>
              <a:t>微机原理及接口技术</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nodeType="withEffect">
                                  <p:stCondLst>
                                    <p:cond delay="0"/>
                                  </p:stCondLst>
                                  <p:iterate type="lt">
                                    <p:tmPct val="5000"/>
                                  </p:iterate>
                                  <p:childTnLst>
                                    <p:set>
                                      <p:cBhvr>
                                        <p:cTn id="6" dur="1" fill="hold">
                                          <p:stCondLst>
                                            <p:cond delay="0"/>
                                          </p:stCondLst>
                                        </p:cTn>
                                        <p:tgtEl>
                                          <p:spTgt spid="22531"/>
                                        </p:tgtEl>
                                        <p:attrNameLst>
                                          <p:attrName>style.visibility</p:attrName>
                                        </p:attrNameLst>
                                      </p:cBhvr>
                                      <p:to>
                                        <p:strVal val="visible"/>
                                      </p:to>
                                    </p:set>
                                    <p:anim calcmode="lin" valueType="num">
                                      <p:cBhvr>
                                        <p:cTn id="7" dur="1000" fill="hold"/>
                                        <p:tgtEl>
                                          <p:spTgt spid="22531"/>
                                        </p:tgtEl>
                                        <p:attrNameLst>
                                          <p:attrName>ppt_w</p:attrName>
                                        </p:attrNameLst>
                                      </p:cBhvr>
                                      <p:tavLst>
                                        <p:tav tm="0">
                                          <p:val>
                                            <p:fltVal val="0"/>
                                          </p:val>
                                        </p:tav>
                                        <p:tav tm="100000">
                                          <p:val>
                                            <p:strVal val="#ppt_w"/>
                                          </p:val>
                                        </p:tav>
                                      </p:tavLst>
                                    </p:anim>
                                    <p:anim calcmode="lin" valueType="num">
                                      <p:cBhvr>
                                        <p:cTn id="8" dur="1000" fill="hold"/>
                                        <p:tgtEl>
                                          <p:spTgt spid="22531"/>
                                        </p:tgtEl>
                                        <p:attrNameLst>
                                          <p:attrName>ppt_h</p:attrName>
                                        </p:attrNameLst>
                                      </p:cBhvr>
                                      <p:tavLst>
                                        <p:tav tm="0">
                                          <p:val>
                                            <p:fltVal val="0"/>
                                          </p:val>
                                        </p:tav>
                                        <p:tav tm="100000">
                                          <p:val>
                                            <p:strVal val="#ppt_h"/>
                                          </p:val>
                                        </p:tav>
                                      </p:tavLst>
                                    </p:anim>
                                    <p:anim calcmode="lin" valueType="num">
                                      <p:cBhvr>
                                        <p:cTn id="9" dur="1000" fill="hold"/>
                                        <p:tgtEl>
                                          <p:spTgt spid="22531"/>
                                        </p:tgtEl>
                                        <p:attrNameLst>
                                          <p:attrName>style.rotation</p:attrName>
                                        </p:attrNameLst>
                                      </p:cBhvr>
                                      <p:tavLst>
                                        <p:tav tm="0">
                                          <p:val>
                                            <p:fltVal val="90"/>
                                          </p:val>
                                        </p:tav>
                                        <p:tav tm="100000">
                                          <p:val>
                                            <p:fltVal val="0"/>
                                          </p:val>
                                        </p:tav>
                                      </p:tavLst>
                                    </p:anim>
                                    <p:animEffect transition="in" filter="fade">
                                      <p:cBhvr>
                                        <p:cTn id="10" dur="1000"/>
                                        <p:tgtEl>
                                          <p:spTgt spid="22531"/>
                                        </p:tgtEl>
                                      </p:cBhvr>
                                    </p:animEffect>
                                  </p:childTnLst>
                                </p:cTn>
                              </p:par>
                              <p:par>
                                <p:cTn id="11" presetID="56" presetClass="entr" presetSubtype="0" fill="hold" nodeType="withEffect">
                                  <p:stCondLst>
                                    <p:cond delay="0"/>
                                  </p:stCondLst>
                                  <p:iterate type="lt">
                                    <p:tmPct val="10000"/>
                                  </p:iterate>
                                  <p:childTnLst>
                                    <p:set>
                                      <p:cBhvr>
                                        <p:cTn id="12" dur="1" fill="hold">
                                          <p:stCondLst>
                                            <p:cond delay="0"/>
                                          </p:stCondLst>
                                        </p:cTn>
                                        <p:tgtEl>
                                          <p:spTgt spid="22531"/>
                                        </p:tgtEl>
                                        <p:attrNameLst>
                                          <p:attrName>style.visibility</p:attrName>
                                        </p:attrNameLst>
                                      </p:cBhvr>
                                      <p:to>
                                        <p:strVal val="visible"/>
                                      </p:to>
                                    </p:set>
                                    <p:anim by="(-#ppt_w*2)" calcmode="lin" valueType="num">
                                      <p:cBhvr rctx="PPT">
                                        <p:cTn id="13" dur="500" autoRev="1" fill="hold">
                                          <p:stCondLst>
                                            <p:cond delay="0"/>
                                          </p:stCondLst>
                                        </p:cTn>
                                        <p:tgtEl>
                                          <p:spTgt spid="22531"/>
                                        </p:tgtEl>
                                        <p:attrNameLst>
                                          <p:attrName>ppt_w</p:attrName>
                                        </p:attrNameLst>
                                      </p:cBhvr>
                                    </p:anim>
                                    <p:anim by="(#ppt_w*0.50)" calcmode="lin" valueType="num">
                                      <p:cBhvr>
                                        <p:cTn id="14" dur="500" decel="50000" autoRev="1" fill="hold">
                                          <p:stCondLst>
                                            <p:cond delay="0"/>
                                          </p:stCondLst>
                                        </p:cTn>
                                        <p:tgtEl>
                                          <p:spTgt spid="22531"/>
                                        </p:tgtEl>
                                        <p:attrNameLst>
                                          <p:attrName>ppt_x</p:attrName>
                                        </p:attrNameLst>
                                      </p:cBhvr>
                                    </p:anim>
                                    <p:anim from="(-#ppt_h/2)" to="(#ppt_y)" calcmode="lin" valueType="num">
                                      <p:cBhvr>
                                        <p:cTn id="15" dur="1000" fill="hold">
                                          <p:stCondLst>
                                            <p:cond delay="0"/>
                                          </p:stCondLst>
                                        </p:cTn>
                                        <p:tgtEl>
                                          <p:spTgt spid="22531"/>
                                        </p:tgtEl>
                                        <p:attrNameLst>
                                          <p:attrName>ppt_y</p:attrName>
                                        </p:attrNameLst>
                                      </p:cBhvr>
                                    </p:anim>
                                    <p:animRot by="21600000">
                                      <p:cBhvr>
                                        <p:cTn id="16" dur="1000" fill="hold">
                                          <p:stCondLst>
                                            <p:cond delay="0"/>
                                          </p:stCondLst>
                                        </p:cTn>
                                        <p:tgtEl>
                                          <p:spTgt spid="2253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p:bldP spid="22531" grpId="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34DFCD-D772-AD9F-B369-5D25D5BE66A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C59374F-D2EB-6795-61F5-7FD5F987806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010693022"/>
      </p:ext>
    </p:extLst>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AF6060-69D5-AC63-54CF-26D1F76F2361}"/>
              </a:ext>
            </a:extLst>
          </p:cNvPr>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6F771E0-9947-5EDA-E9C7-54ED9144C7CE}"/>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Tree>
    <p:extLst>
      <p:ext uri="{BB962C8B-B14F-4D97-AF65-F5344CB8AC3E}">
        <p14:creationId xmlns:p14="http://schemas.microsoft.com/office/powerpoint/2010/main" val="1796473316"/>
      </p:ext>
    </p:extLst>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D3DFAF-CF2E-21E4-C342-D764AA3AE6E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880AFB4-9115-9BB9-28A1-5E730EEC5817}"/>
              </a:ext>
            </a:extLst>
          </p:cNvPr>
          <p:cNvSpPr>
            <a:spLocks noGrp="1"/>
          </p:cNvSpPr>
          <p:nvPr>
            <p:ph sz="half" idx="1"/>
          </p:nvPr>
        </p:nvSpPr>
        <p:spPr>
          <a:xfrm>
            <a:off x="468313" y="981075"/>
            <a:ext cx="4038600" cy="518477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6D76550-544D-E9EF-1104-23AFDB6642D1}"/>
              </a:ext>
            </a:extLst>
          </p:cNvPr>
          <p:cNvSpPr>
            <a:spLocks noGrp="1"/>
          </p:cNvSpPr>
          <p:nvPr>
            <p:ph sz="half" idx="2"/>
          </p:nvPr>
        </p:nvSpPr>
        <p:spPr>
          <a:xfrm>
            <a:off x="4659313" y="981075"/>
            <a:ext cx="4038600" cy="518477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507501059"/>
      </p:ext>
    </p:extLst>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AA7230-A078-5873-1E28-05D83236F2ED}"/>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2F8B7B1-2308-ECF6-0A19-951D0469912B}"/>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F24B4D1-2BC5-2B39-CD5D-92DA445ABC95}"/>
              </a:ext>
            </a:extLst>
          </p:cNvPr>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FE3AE0F9-D2DA-AFFA-0A80-2A59C3FFBBCD}"/>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226D705-3F35-771C-8DFE-E58715B52DF8}"/>
              </a:ext>
            </a:extLst>
          </p:cNvPr>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903957293"/>
      </p:ext>
    </p:extLst>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0C0953-165E-B9AB-EB83-BA0F7F1B295B}"/>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710482841"/>
      </p:ext>
    </p:extLst>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6508631"/>
      </p:ext>
    </p:extLst>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0BB6C1-A851-8BCB-517D-B371231C8C16}"/>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382B673-858F-8FC8-8F66-604DC6AEFB5F}"/>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3C774DD-03A9-7AEB-7F94-06952E8CA10D}"/>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717207499"/>
      </p:ext>
    </p:extLst>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51CCC6-0FD7-20C5-4059-20BFFA636A44}"/>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E28018FF-B18E-C7E0-D85C-CED585F5C09B}"/>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E9D07517-A552-1D26-AD93-B6121F7CA70A}"/>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3652769552"/>
      </p:ext>
    </p:extLst>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506C7E-CB6D-1EE1-5FBE-9A72DD230DE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C2630F6-0927-B9E5-FCBA-8DDBAF834CA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3605407133"/>
      </p:ext>
    </p:extLst>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456BFDA-84C0-8321-B4D6-6435AA0C7432}"/>
              </a:ext>
            </a:extLst>
          </p:cNvPr>
          <p:cNvSpPr>
            <a:spLocks noGrp="1"/>
          </p:cNvSpPr>
          <p:nvPr>
            <p:ph type="title" orient="vert"/>
          </p:nvPr>
        </p:nvSpPr>
        <p:spPr>
          <a:xfrm>
            <a:off x="6640513" y="260350"/>
            <a:ext cx="2057400" cy="5905500"/>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F3CA852-C646-42B5-6F38-E888C773BAB4}"/>
              </a:ext>
            </a:extLst>
          </p:cNvPr>
          <p:cNvSpPr>
            <a:spLocks noGrp="1"/>
          </p:cNvSpPr>
          <p:nvPr>
            <p:ph type="body" orient="vert" idx="1"/>
          </p:nvPr>
        </p:nvSpPr>
        <p:spPr>
          <a:xfrm>
            <a:off x="468313" y="260350"/>
            <a:ext cx="6019800" cy="59055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974424883"/>
      </p:ext>
    </p:extLst>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AndObj" preserve="1">
  <p:cSld name="标题，文本与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9BEB7C-39A2-8498-44AD-49CC95F2AA33}"/>
              </a:ext>
            </a:extLst>
          </p:cNvPr>
          <p:cNvSpPr>
            <a:spLocks noGrp="1"/>
          </p:cNvSpPr>
          <p:nvPr>
            <p:ph type="title"/>
          </p:nvPr>
        </p:nvSpPr>
        <p:spPr>
          <a:xfrm>
            <a:off x="468313" y="260350"/>
            <a:ext cx="8229600" cy="504825"/>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F443681-F313-9CAD-0283-7042CE8C7F04}"/>
              </a:ext>
            </a:extLst>
          </p:cNvPr>
          <p:cNvSpPr>
            <a:spLocks noGrp="1"/>
          </p:cNvSpPr>
          <p:nvPr>
            <p:ph type="body" sz="half" idx="1"/>
          </p:nvPr>
        </p:nvSpPr>
        <p:spPr>
          <a:xfrm>
            <a:off x="468313" y="981075"/>
            <a:ext cx="4038600" cy="518477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028E6201-34EB-A28B-AA2F-B4AEB4B4FB2E}"/>
              </a:ext>
            </a:extLst>
          </p:cNvPr>
          <p:cNvSpPr>
            <a:spLocks noGrp="1"/>
          </p:cNvSpPr>
          <p:nvPr>
            <p:ph sz="half" idx="2"/>
          </p:nvPr>
        </p:nvSpPr>
        <p:spPr>
          <a:xfrm>
            <a:off x="4659313" y="981075"/>
            <a:ext cx="4038600" cy="518477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667881609"/>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51732C86-6E75-9493-F1F0-AD0F85382B73}"/>
              </a:ext>
            </a:extLst>
          </p:cNvPr>
          <p:cNvSpPr>
            <a:spLocks noGrp="1" noChangeArrowheads="1"/>
          </p:cNvSpPr>
          <p:nvPr>
            <p:ph type="body" idx="1"/>
          </p:nvPr>
        </p:nvSpPr>
        <p:spPr bwMode="auto">
          <a:xfrm>
            <a:off x="468313" y="981075"/>
            <a:ext cx="8229600" cy="51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微机原理及接口技术</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1509" name="Rectangle 5">
            <a:extLst>
              <a:ext uri="{FF2B5EF4-FFF2-40B4-BE49-F238E27FC236}">
                <a16:creationId xmlns:a16="http://schemas.microsoft.com/office/drawing/2014/main" id="{551BF52E-5D3A-F83C-015A-134E8F836719}"/>
              </a:ext>
            </a:extLst>
          </p:cNvPr>
          <p:cNvSpPr>
            <a:spLocks noGrp="1" noChangeArrowheads="1"/>
          </p:cNvSpPr>
          <p:nvPr>
            <p:ph type="title"/>
          </p:nvPr>
        </p:nvSpPr>
        <p:spPr bwMode="auto">
          <a:xfrm>
            <a:off x="468313" y="260350"/>
            <a:ext cx="82296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微机原理及接口技术</a:t>
            </a:r>
          </a:p>
        </p:txBody>
      </p:sp>
      <p:pic>
        <p:nvPicPr>
          <p:cNvPr id="21512" name="Picture 8">
            <a:hlinkClick r:id="" action="ppaction://hlinkshowjump?jump=previousslide" tooltip="上一页"/>
            <a:extLst>
              <a:ext uri="{FF2B5EF4-FFF2-40B4-BE49-F238E27FC236}">
                <a16:creationId xmlns:a16="http://schemas.microsoft.com/office/drawing/2014/main" id="{0CD79906-922B-7BE6-85D8-FED0ED6E330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948488" y="6453188"/>
            <a:ext cx="558800" cy="238125"/>
          </a:xfrm>
          <a:prstGeom prst="rect">
            <a:avLst/>
          </a:prstGeom>
          <a:noFill/>
          <a:extLst>
            <a:ext uri="{909E8E84-426E-40DD-AFC4-6F175D3DCCD1}">
              <a14:hiddenFill xmlns:a14="http://schemas.microsoft.com/office/drawing/2010/main">
                <a:solidFill>
                  <a:srgbClr val="FFFFFF"/>
                </a:solidFill>
              </a14:hiddenFill>
            </a:ext>
          </a:extLst>
        </p:spPr>
      </p:pic>
      <p:pic>
        <p:nvPicPr>
          <p:cNvPr id="21513" name="Picture 9">
            <a:hlinkClick r:id="" action="ppaction://hlinkshowjump?jump=nextslide" tooltip="下一页"/>
            <a:extLst>
              <a:ext uri="{FF2B5EF4-FFF2-40B4-BE49-F238E27FC236}">
                <a16:creationId xmlns:a16="http://schemas.microsoft.com/office/drawing/2014/main" id="{A357E91A-38D7-275B-D149-03DF558882B0}"/>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883525" y="6453188"/>
            <a:ext cx="558800" cy="238125"/>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transition>
    <p:random/>
  </p:transition>
  <p:txStyles>
    <p:titleStyle>
      <a:lvl1pPr algn="l" rtl="0" fontAlgn="base">
        <a:spcBef>
          <a:spcPct val="0"/>
        </a:spcBef>
        <a:spcAft>
          <a:spcPct val="0"/>
        </a:spcAft>
        <a:defRPr sz="2800" b="1" kern="1200">
          <a:solidFill>
            <a:schemeClr val="accent2"/>
          </a:solidFill>
          <a:latin typeface="+mj-lt"/>
          <a:ea typeface="+mj-ea"/>
          <a:cs typeface="+mj-cs"/>
        </a:defRPr>
      </a:lvl1pPr>
      <a:lvl2pPr algn="l" rtl="0" fontAlgn="base">
        <a:spcBef>
          <a:spcPct val="0"/>
        </a:spcBef>
        <a:spcAft>
          <a:spcPct val="0"/>
        </a:spcAft>
        <a:defRPr sz="2800" b="1">
          <a:solidFill>
            <a:schemeClr val="accent2"/>
          </a:solidFill>
          <a:latin typeface="Arial" panose="020B0604020202020204" pitchFamily="34" charset="0"/>
          <a:ea typeface="宋体" panose="02010600030101010101" pitchFamily="2" charset="-122"/>
        </a:defRPr>
      </a:lvl2pPr>
      <a:lvl3pPr algn="l" rtl="0" fontAlgn="base">
        <a:spcBef>
          <a:spcPct val="0"/>
        </a:spcBef>
        <a:spcAft>
          <a:spcPct val="0"/>
        </a:spcAft>
        <a:defRPr sz="2800" b="1">
          <a:solidFill>
            <a:schemeClr val="accent2"/>
          </a:solidFill>
          <a:latin typeface="Arial" panose="020B0604020202020204" pitchFamily="34" charset="0"/>
          <a:ea typeface="宋体" panose="02010600030101010101" pitchFamily="2" charset="-122"/>
        </a:defRPr>
      </a:lvl3pPr>
      <a:lvl4pPr algn="l" rtl="0" fontAlgn="base">
        <a:spcBef>
          <a:spcPct val="0"/>
        </a:spcBef>
        <a:spcAft>
          <a:spcPct val="0"/>
        </a:spcAft>
        <a:defRPr sz="2800" b="1">
          <a:solidFill>
            <a:schemeClr val="accent2"/>
          </a:solidFill>
          <a:latin typeface="Arial" panose="020B0604020202020204" pitchFamily="34" charset="0"/>
          <a:ea typeface="宋体" panose="02010600030101010101" pitchFamily="2" charset="-122"/>
        </a:defRPr>
      </a:lvl4pPr>
      <a:lvl5pPr algn="l" rtl="0" fontAlgn="base">
        <a:spcBef>
          <a:spcPct val="0"/>
        </a:spcBef>
        <a:spcAft>
          <a:spcPct val="0"/>
        </a:spcAft>
        <a:defRPr sz="2800" b="1">
          <a:solidFill>
            <a:schemeClr val="accent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2800" b="1">
          <a:solidFill>
            <a:schemeClr val="accent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2800" b="1">
          <a:solidFill>
            <a:schemeClr val="accent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2800" b="1">
          <a:solidFill>
            <a:schemeClr val="accent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2800" b="1">
          <a:solidFill>
            <a:schemeClr val="accent2"/>
          </a:solidFill>
          <a:latin typeface="Arial" panose="020B0604020202020204" pitchFamily="34" charset="0"/>
          <a:ea typeface="宋体" panose="02010600030101010101" pitchFamily="2" charset="-122"/>
        </a:defRPr>
      </a:lvl9pPr>
    </p:titleStyle>
    <p:bodyStyle>
      <a:lvl1pPr marL="342900" indent="-342900" algn="just" rtl="0" fontAlgn="base">
        <a:spcBef>
          <a:spcPct val="20000"/>
        </a:spcBef>
        <a:spcAft>
          <a:spcPct val="0"/>
        </a:spcAft>
        <a:buBlip>
          <a:blip r:embed="rId16"/>
        </a:buBlip>
        <a:defRPr sz="3200" b="1" kern="1200">
          <a:solidFill>
            <a:schemeClr val="accent2"/>
          </a:solidFill>
          <a:latin typeface="+mn-lt"/>
          <a:ea typeface="+mn-ea"/>
          <a:cs typeface="+mn-cs"/>
        </a:defRPr>
      </a:lvl1pPr>
      <a:lvl2pPr marL="742950" indent="-285750" algn="just" rtl="0" fontAlgn="base">
        <a:spcBef>
          <a:spcPct val="20000"/>
        </a:spcBef>
        <a:spcAft>
          <a:spcPct val="0"/>
        </a:spcAft>
        <a:buBlip>
          <a:blip r:embed="rId17"/>
        </a:buBlip>
        <a:defRPr sz="2800" b="1" kern="1200">
          <a:solidFill>
            <a:schemeClr val="tx1"/>
          </a:solidFill>
          <a:latin typeface="+mn-lt"/>
          <a:ea typeface="+mj-ea"/>
          <a:cs typeface="+mn-cs"/>
        </a:defRPr>
      </a:lvl2pPr>
      <a:lvl3pPr marL="1143000" indent="-228600" algn="just" rtl="0" fontAlgn="base">
        <a:spcBef>
          <a:spcPct val="20000"/>
        </a:spcBef>
        <a:spcAft>
          <a:spcPct val="0"/>
        </a:spcAft>
        <a:buChar char="•"/>
        <a:defRPr sz="2400" kern="1200">
          <a:solidFill>
            <a:schemeClr val="tx1"/>
          </a:solidFill>
          <a:latin typeface="+mn-lt"/>
          <a:ea typeface="+mj-ea"/>
          <a:cs typeface="+mn-cs"/>
        </a:defRPr>
      </a:lvl3pPr>
      <a:lvl4pPr marL="1600200" indent="-228600" algn="just" rtl="0" fontAlgn="base">
        <a:spcBef>
          <a:spcPct val="20000"/>
        </a:spcBef>
        <a:spcAft>
          <a:spcPct val="0"/>
        </a:spcAft>
        <a:buChar char="–"/>
        <a:defRPr sz="2000" kern="1200">
          <a:solidFill>
            <a:schemeClr val="tx1"/>
          </a:solidFill>
          <a:latin typeface="+mn-lt"/>
          <a:ea typeface="+mj-ea"/>
          <a:cs typeface="+mn-cs"/>
        </a:defRPr>
      </a:lvl4pPr>
      <a:lvl5pPr marL="2057400" indent="-228600" algn="just" rtl="0" fontAlgn="base">
        <a:spcBef>
          <a:spcPct val="20000"/>
        </a:spcBef>
        <a:spcAft>
          <a:spcPct val="0"/>
        </a:spcAft>
        <a:buChar char="»"/>
        <a:defRPr sz="2000" kern="1200">
          <a:solidFill>
            <a:schemeClr val="tx1"/>
          </a:solidFill>
          <a:latin typeface="+mn-lt"/>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5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slide" Target="slide6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3.gif"/></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3.gif"/></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3.gif"/></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3.gif"/></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3.gif"/></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 Target="slide48.xml"/><Relationship Id="rId1" Type="http://schemas.openxmlformats.org/officeDocument/2006/relationships/slideLayout" Target="../slideLayouts/slideLayout2.xml"/><Relationship Id="rId4" Type="http://schemas.openxmlformats.org/officeDocument/2006/relationships/image" Target="../media/image13.gif"/></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slide" Target="slide40.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16070" name="Rectangle 6">
            <a:extLst>
              <a:ext uri="{FF2B5EF4-FFF2-40B4-BE49-F238E27FC236}">
                <a16:creationId xmlns:a16="http://schemas.microsoft.com/office/drawing/2014/main" id="{BFD60256-2777-A7F8-6D16-68E918121C1A}"/>
              </a:ext>
            </a:extLst>
          </p:cNvPr>
          <p:cNvSpPr>
            <a:spLocks noGrp="1" noChangeArrowheads="1"/>
          </p:cNvSpPr>
          <p:nvPr>
            <p:ph type="title"/>
          </p:nvPr>
        </p:nvSpPr>
        <p:spPr>
          <a:xfrm>
            <a:off x="1042988" y="1484313"/>
            <a:ext cx="6553348" cy="2448743"/>
          </a:xfrm>
        </p:spPr>
        <p:txBody>
          <a:bodyPr/>
          <a:lstStyle/>
          <a:p>
            <a:r>
              <a:rPr lang="zh-CN" altLang="en-US" sz="6000" i="1" dirty="0">
                <a:solidFill>
                  <a:schemeClr val="folHlink"/>
                </a:solidFill>
                <a:latin typeface="华文彩云" panose="02010800040101010101" pitchFamily="2" charset="-122"/>
                <a:ea typeface="华文彩云" panose="02010800040101010101" pitchFamily="2" charset="-122"/>
              </a:rPr>
              <a:t>汇编语言程序设计</a:t>
            </a:r>
            <a:br>
              <a:rPr lang="en-US" altLang="zh-CN" sz="6000" i="1" dirty="0">
                <a:solidFill>
                  <a:schemeClr val="folHlink"/>
                </a:solidFill>
                <a:latin typeface="华文彩云" panose="02010800040101010101" pitchFamily="2" charset="-122"/>
                <a:ea typeface="华文彩云" panose="02010800040101010101" pitchFamily="2" charset="-122"/>
              </a:rPr>
            </a:br>
            <a:r>
              <a:rPr lang="zh-CN" altLang="en-US" sz="6000" i="1" dirty="0">
                <a:solidFill>
                  <a:schemeClr val="folHlink"/>
                </a:solidFill>
                <a:latin typeface="华文彩云" panose="02010800040101010101" pitchFamily="2" charset="-122"/>
                <a:ea typeface="华文彩云" panose="02010800040101010101" pitchFamily="2" charset="-122"/>
              </a:rPr>
              <a:t>复习</a:t>
            </a:r>
          </a:p>
        </p:txBody>
      </p:sp>
    </p:spTree>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31D34D37-EBBA-BD37-3D9A-36BBFA2C9400}"/>
              </a:ext>
            </a:extLst>
          </p:cNvPr>
          <p:cNvSpPr>
            <a:spLocks noGrp="1" noChangeArrowheads="1"/>
          </p:cNvSpPr>
          <p:nvPr>
            <p:ph type="title"/>
          </p:nvPr>
        </p:nvSpPr>
        <p:spPr/>
        <p:txBody>
          <a:bodyPr/>
          <a:lstStyle/>
          <a:p>
            <a:r>
              <a:rPr lang="zh-CN" altLang="en-US"/>
              <a:t>汇编语言的特点</a:t>
            </a:r>
          </a:p>
        </p:txBody>
      </p:sp>
      <p:sp>
        <p:nvSpPr>
          <p:cNvPr id="3075" name="Rectangle 3">
            <a:extLst>
              <a:ext uri="{FF2B5EF4-FFF2-40B4-BE49-F238E27FC236}">
                <a16:creationId xmlns:a16="http://schemas.microsoft.com/office/drawing/2014/main" id="{3280056C-E348-B8D6-3A84-E570D246EBD0}"/>
              </a:ext>
            </a:extLst>
          </p:cNvPr>
          <p:cNvSpPr>
            <a:spLocks noGrp="1" noChangeArrowheads="1"/>
          </p:cNvSpPr>
          <p:nvPr>
            <p:ph type="body" idx="1"/>
          </p:nvPr>
        </p:nvSpPr>
        <p:spPr/>
        <p:txBody>
          <a:bodyPr/>
          <a:lstStyle/>
          <a:p>
            <a:r>
              <a:rPr lang="zh-CN" altLang="en-US" sz="2800"/>
              <a:t>汇编语言是一种以处理器指令系统为基础的低级程序设计语言，它采用助记符表达指令操作码，采用标识符号表示指令操作数</a:t>
            </a:r>
          </a:p>
          <a:p>
            <a:r>
              <a:rPr lang="zh-CN" altLang="en-US" sz="2800"/>
              <a:t>利用汇编语言编写程序的主要优点是可以直接、有效地控制计算机硬件，因而容易创建代码序列短小、运行快速的可执行程序</a:t>
            </a:r>
          </a:p>
          <a:p>
            <a:r>
              <a:rPr lang="zh-CN" altLang="en-US" sz="2800"/>
              <a:t>在有些应用领域，汇编语言的作用是不容置疑和无可替代的</a:t>
            </a:r>
          </a:p>
          <a:p>
            <a:r>
              <a:rPr lang="zh-CN" altLang="en-US" sz="2800"/>
              <a:t>汇编程序设计的过程是与其他高级语言程序设计大致相同</a:t>
            </a:r>
          </a:p>
        </p:txBody>
      </p:sp>
    </p:spTree>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DAED320F-E4E5-7EFD-278B-494AF4075797}"/>
              </a:ext>
            </a:extLst>
          </p:cNvPr>
          <p:cNvSpPr>
            <a:spLocks noGrp="1" noChangeArrowheads="1"/>
          </p:cNvSpPr>
          <p:nvPr>
            <p:ph type="title"/>
          </p:nvPr>
        </p:nvSpPr>
        <p:spPr/>
        <p:txBody>
          <a:bodyPr/>
          <a:lstStyle/>
          <a:p>
            <a:r>
              <a:rPr lang="zh-CN" altLang="en-US"/>
              <a:t>第</a:t>
            </a:r>
            <a:r>
              <a:rPr lang="en-US" altLang="zh-CN"/>
              <a:t>3</a:t>
            </a:r>
            <a:r>
              <a:rPr lang="zh-CN" altLang="en-US"/>
              <a:t>章：汇编语言程序设计</a:t>
            </a:r>
          </a:p>
        </p:txBody>
      </p:sp>
      <p:sp>
        <p:nvSpPr>
          <p:cNvPr id="24579" name="Rectangle 3">
            <a:extLst>
              <a:ext uri="{FF2B5EF4-FFF2-40B4-BE49-F238E27FC236}">
                <a16:creationId xmlns:a16="http://schemas.microsoft.com/office/drawing/2014/main" id="{6E6BC413-B228-8FDA-DE1B-C744E72336F3}"/>
              </a:ext>
            </a:extLst>
          </p:cNvPr>
          <p:cNvSpPr>
            <a:spLocks noGrp="1" noChangeArrowheads="1"/>
          </p:cNvSpPr>
          <p:nvPr>
            <p:ph type="body" idx="1"/>
          </p:nvPr>
        </p:nvSpPr>
        <p:spPr>
          <a:xfrm>
            <a:off x="1187450" y="908050"/>
            <a:ext cx="7345363" cy="5617294"/>
          </a:xfrm>
        </p:spPr>
        <p:txBody>
          <a:bodyPr/>
          <a:lstStyle/>
          <a:p>
            <a:pPr>
              <a:buFontTx/>
              <a:buNone/>
            </a:pPr>
            <a:r>
              <a:rPr lang="zh-CN" altLang="en-US" sz="6600" b="0" u="sng" dirty="0">
                <a:solidFill>
                  <a:srgbClr val="663300"/>
                </a:solidFill>
                <a:ea typeface="隶书" panose="02010509060101010101" pitchFamily="49" charset="-122"/>
              </a:rPr>
              <a:t>教学重点</a:t>
            </a:r>
            <a:endParaRPr lang="zh-CN" altLang="en-US" dirty="0"/>
          </a:p>
          <a:p>
            <a:r>
              <a:rPr lang="zh-CN" altLang="en-US" dirty="0"/>
              <a:t>汇编语言源程序格式与开发</a:t>
            </a:r>
          </a:p>
          <a:p>
            <a:r>
              <a:rPr lang="zh-CN" altLang="en-US" dirty="0"/>
              <a:t>常量、变量和标号</a:t>
            </a:r>
          </a:p>
          <a:p>
            <a:r>
              <a:rPr lang="zh-CN" altLang="en-US" dirty="0"/>
              <a:t>汇编语言程序设计方法</a:t>
            </a:r>
          </a:p>
          <a:p>
            <a:pPr lvl="1"/>
            <a:r>
              <a:rPr lang="zh-CN" altLang="en-US" dirty="0"/>
              <a:t>顺序程序设计</a:t>
            </a:r>
          </a:p>
          <a:p>
            <a:pPr lvl="1"/>
            <a:r>
              <a:rPr lang="zh-CN" altLang="en-US" dirty="0"/>
              <a:t>分支程序设计</a:t>
            </a:r>
          </a:p>
          <a:p>
            <a:pPr lvl="1"/>
            <a:r>
              <a:rPr lang="zh-CN" altLang="en-US" dirty="0"/>
              <a:t>循环程序设计</a:t>
            </a:r>
          </a:p>
          <a:p>
            <a:pPr lvl="1"/>
            <a:r>
              <a:rPr lang="zh-CN" altLang="en-US" dirty="0"/>
              <a:t>子程序设计</a:t>
            </a:r>
            <a:endParaRPr lang="en-US" altLang="zh-CN" dirty="0"/>
          </a:p>
          <a:p>
            <a:pPr marL="342900" lvl="1" indent="-342900">
              <a:buBlip>
                <a:blip r:embed="rId2"/>
              </a:buBlip>
            </a:pPr>
            <a:r>
              <a:rPr lang="zh-CN" altLang="en-US" sz="3200" dirty="0">
                <a:solidFill>
                  <a:schemeClr val="accent2"/>
                </a:solidFill>
                <a:ea typeface="+mn-ea"/>
              </a:rPr>
              <a:t>基本指令</a:t>
            </a:r>
            <a:endParaRPr lang="en-US" altLang="zh-CN" sz="3200" dirty="0">
              <a:solidFill>
                <a:schemeClr val="accent2"/>
              </a:solidFill>
              <a:ea typeface="+mn-ea"/>
            </a:endParaRPr>
          </a:p>
        </p:txBody>
      </p:sp>
    </p:spTree>
  </p:cSld>
  <p:clrMapOvr>
    <a:masterClrMapping/>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8ABED7F0-A125-4ABD-E0FE-66CAC18CEC50}"/>
              </a:ext>
            </a:extLst>
          </p:cNvPr>
          <p:cNvSpPr>
            <a:spLocks noGrp="1" noChangeArrowheads="1"/>
          </p:cNvSpPr>
          <p:nvPr>
            <p:ph type="title"/>
          </p:nvPr>
        </p:nvSpPr>
        <p:spPr/>
        <p:txBody>
          <a:bodyPr/>
          <a:lstStyle/>
          <a:p>
            <a:r>
              <a:rPr lang="en-US" altLang="zh-CN" dirty="0"/>
              <a:t>3.1  </a:t>
            </a:r>
            <a:r>
              <a:rPr lang="zh-CN" altLang="en-US" dirty="0"/>
              <a:t>汇编语言源程序格式</a:t>
            </a:r>
          </a:p>
        </p:txBody>
      </p:sp>
      <p:sp>
        <p:nvSpPr>
          <p:cNvPr id="25603" name="Rectangle 3">
            <a:extLst>
              <a:ext uri="{FF2B5EF4-FFF2-40B4-BE49-F238E27FC236}">
                <a16:creationId xmlns:a16="http://schemas.microsoft.com/office/drawing/2014/main" id="{DFB14A7E-CD63-5EA6-9CB8-882092681AC4}"/>
              </a:ext>
            </a:extLst>
          </p:cNvPr>
          <p:cNvSpPr>
            <a:spLocks noGrp="1" noChangeArrowheads="1"/>
          </p:cNvSpPr>
          <p:nvPr>
            <p:ph type="body" idx="1"/>
          </p:nvPr>
        </p:nvSpPr>
        <p:spPr>
          <a:xfrm>
            <a:off x="5220072" y="908721"/>
            <a:ext cx="3621856" cy="5261460"/>
          </a:xfrm>
        </p:spPr>
        <p:txBody>
          <a:bodyPr/>
          <a:lstStyle/>
          <a:p>
            <a:r>
              <a:rPr lang="zh-CN" altLang="en-US" sz="2000" dirty="0"/>
              <a:t>完整的汇编语言源程序由段组成</a:t>
            </a:r>
          </a:p>
          <a:p>
            <a:r>
              <a:rPr lang="zh-CN" altLang="en-US" sz="2000" dirty="0"/>
              <a:t>一个汇编语言源程序可以包含若干个代码段、数据段、附加段或堆栈段，段与段之间的顺序可随意排列</a:t>
            </a:r>
          </a:p>
          <a:p>
            <a:r>
              <a:rPr lang="zh-CN" altLang="en-US" sz="2000" dirty="0"/>
              <a:t>需独立运行的程序</a:t>
            </a:r>
            <a:r>
              <a:rPr lang="zh-CN" altLang="en-US" sz="2000" dirty="0">
                <a:solidFill>
                  <a:schemeClr val="accent4">
                    <a:lumMod val="50000"/>
                    <a:lumOff val="50000"/>
                  </a:schemeClr>
                </a:solidFill>
              </a:rPr>
              <a:t>必须包含一个代码段，并指示程序执行的起始点</a:t>
            </a:r>
            <a:r>
              <a:rPr lang="zh-CN" altLang="en-US" sz="2000" dirty="0"/>
              <a:t>，一个程序只有一个起始点</a:t>
            </a:r>
          </a:p>
          <a:p>
            <a:r>
              <a:rPr lang="zh-CN" altLang="en-US" sz="2000" dirty="0"/>
              <a:t>所有的可执行性语句必须位于某一个代码段内，说明性语句可根据需要位于任一段内</a:t>
            </a:r>
          </a:p>
          <a:p>
            <a:r>
              <a:rPr lang="zh-CN" altLang="en-US" sz="2000" dirty="0"/>
              <a:t>通常，程序还需要一个堆栈段</a:t>
            </a:r>
          </a:p>
        </p:txBody>
      </p:sp>
      <p:sp>
        <p:nvSpPr>
          <p:cNvPr id="2" name="内容占位符 2">
            <a:extLst>
              <a:ext uri="{FF2B5EF4-FFF2-40B4-BE49-F238E27FC236}">
                <a16:creationId xmlns:a16="http://schemas.microsoft.com/office/drawing/2014/main" id="{F261EBE4-0EC0-AB93-B356-0E1BCD364F64}"/>
              </a:ext>
            </a:extLst>
          </p:cNvPr>
          <p:cNvSpPr txBox="1">
            <a:spLocks/>
          </p:cNvSpPr>
          <p:nvPr/>
        </p:nvSpPr>
        <p:spPr bwMode="auto">
          <a:xfrm>
            <a:off x="468313" y="981075"/>
            <a:ext cx="4679751" cy="5184775"/>
          </a:xfrm>
          <a:prstGeom prst="rect">
            <a:avLst/>
          </a:prstGeom>
          <a:solidFill>
            <a:schemeClr val="bg2">
              <a:lumMod val="60000"/>
              <a:lumOff val="4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just" rtl="0" fontAlgn="base">
              <a:spcBef>
                <a:spcPct val="20000"/>
              </a:spcBef>
              <a:spcAft>
                <a:spcPct val="0"/>
              </a:spcAft>
              <a:buBlip>
                <a:blip r:embed="rId2"/>
              </a:buBlip>
              <a:defRPr sz="3200" b="1" kern="1200">
                <a:solidFill>
                  <a:schemeClr val="accent2"/>
                </a:solidFill>
                <a:latin typeface="+mn-lt"/>
                <a:ea typeface="+mn-ea"/>
                <a:cs typeface="+mn-cs"/>
              </a:defRPr>
            </a:lvl1pPr>
            <a:lvl2pPr marL="742950" indent="-285750" algn="just" rtl="0" fontAlgn="base">
              <a:spcBef>
                <a:spcPct val="20000"/>
              </a:spcBef>
              <a:spcAft>
                <a:spcPct val="0"/>
              </a:spcAft>
              <a:buBlip>
                <a:blip r:embed="rId3"/>
              </a:buBlip>
              <a:defRPr sz="2800" b="1" kern="1200">
                <a:solidFill>
                  <a:schemeClr val="tx1"/>
                </a:solidFill>
                <a:latin typeface="+mn-lt"/>
                <a:ea typeface="+mj-ea"/>
                <a:cs typeface="+mn-cs"/>
              </a:defRPr>
            </a:lvl2pPr>
            <a:lvl3pPr marL="1143000" indent="-228600" algn="just" rtl="0" fontAlgn="base">
              <a:spcBef>
                <a:spcPct val="20000"/>
              </a:spcBef>
              <a:spcAft>
                <a:spcPct val="0"/>
              </a:spcAft>
              <a:buChar char="•"/>
              <a:defRPr sz="2400" kern="1200">
                <a:solidFill>
                  <a:schemeClr val="tx1"/>
                </a:solidFill>
                <a:latin typeface="+mn-lt"/>
                <a:ea typeface="+mj-ea"/>
                <a:cs typeface="+mn-cs"/>
              </a:defRPr>
            </a:lvl3pPr>
            <a:lvl4pPr marL="1600200" indent="-228600" algn="just" rtl="0" fontAlgn="base">
              <a:spcBef>
                <a:spcPct val="20000"/>
              </a:spcBef>
              <a:spcAft>
                <a:spcPct val="0"/>
              </a:spcAft>
              <a:buChar char="–"/>
              <a:defRPr sz="2000" kern="1200">
                <a:solidFill>
                  <a:schemeClr val="tx1"/>
                </a:solidFill>
                <a:latin typeface="+mn-lt"/>
                <a:ea typeface="+mj-ea"/>
                <a:cs typeface="+mn-cs"/>
              </a:defRPr>
            </a:lvl4pPr>
            <a:lvl5pPr marL="2057400" indent="-228600" algn="just" rtl="0" fontAlgn="base">
              <a:spcBef>
                <a:spcPct val="20000"/>
              </a:spcBef>
              <a:spcAft>
                <a:spcPct val="0"/>
              </a:spcAft>
              <a:buChar char="»"/>
              <a:defRPr sz="2000" kern="1200">
                <a:solidFill>
                  <a:schemeClr val="tx1"/>
                </a:solidFill>
                <a:latin typeface="+mn-lt"/>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Tx/>
              <a:buNone/>
            </a:pPr>
            <a:r>
              <a:rPr lang="en-US" altLang="zh-CN" sz="1800" dirty="0">
                <a:effectLst/>
              </a:rPr>
              <a:t>stack segment stack	;</a:t>
            </a:r>
            <a:r>
              <a:rPr lang="zh-CN" altLang="en-US" sz="1800" dirty="0">
                <a:effectLst/>
              </a:rPr>
              <a:t>堆栈段</a:t>
            </a:r>
            <a:endParaRPr lang="en-US" altLang="zh-CN" sz="1800" dirty="0">
              <a:effectLst/>
            </a:endParaRPr>
          </a:p>
          <a:p>
            <a:pPr marL="0" indent="0">
              <a:buFontTx/>
              <a:buNone/>
            </a:pPr>
            <a:r>
              <a:rPr lang="en-US" altLang="zh-CN" sz="1800" dirty="0">
                <a:effectLst/>
              </a:rPr>
              <a:t>          DW 40h dup(0)</a:t>
            </a:r>
          </a:p>
          <a:p>
            <a:pPr marL="0" indent="0">
              <a:buFontTx/>
              <a:buNone/>
            </a:pPr>
            <a:r>
              <a:rPr lang="en-US" altLang="zh-CN" sz="1800" dirty="0">
                <a:effectLst/>
              </a:rPr>
              <a:t>stack ends</a:t>
            </a:r>
          </a:p>
          <a:p>
            <a:pPr marL="0" indent="0">
              <a:buFontTx/>
              <a:buNone/>
            </a:pPr>
            <a:endParaRPr lang="en-US" altLang="zh-CN" sz="1800" dirty="0">
              <a:effectLst/>
            </a:endParaRPr>
          </a:p>
          <a:p>
            <a:pPr marL="0" indent="0">
              <a:buFontTx/>
              <a:buNone/>
            </a:pPr>
            <a:r>
              <a:rPr lang="en-US" altLang="zh-CN" sz="1800" dirty="0">
                <a:effectLst/>
              </a:rPr>
              <a:t>data segment		;</a:t>
            </a:r>
            <a:r>
              <a:rPr lang="zh-CN" altLang="en-US" sz="1800" dirty="0">
                <a:effectLst/>
              </a:rPr>
              <a:t>数据段</a:t>
            </a:r>
            <a:endParaRPr lang="en-US" altLang="zh-CN" sz="1800" dirty="0">
              <a:effectLst/>
            </a:endParaRPr>
          </a:p>
          <a:p>
            <a:pPr marL="0" indent="0">
              <a:buFontTx/>
              <a:buNone/>
            </a:pPr>
            <a:r>
              <a:rPr lang="en-US" altLang="zh-CN" sz="1800" dirty="0">
                <a:effectLst/>
              </a:rPr>
              <a:t>          ;&lt;</a:t>
            </a:r>
            <a:r>
              <a:rPr lang="zh-CN" altLang="en-US" sz="1800" dirty="0">
                <a:effectLst/>
              </a:rPr>
              <a:t>变量定义</a:t>
            </a:r>
            <a:r>
              <a:rPr lang="en-US" altLang="zh-CN" sz="1800" dirty="0">
                <a:effectLst/>
              </a:rPr>
              <a:t>&gt;</a:t>
            </a:r>
          </a:p>
          <a:p>
            <a:pPr marL="0" indent="0">
              <a:buFontTx/>
              <a:buNone/>
            </a:pPr>
            <a:r>
              <a:rPr lang="en-US" altLang="zh-CN" sz="1800" dirty="0">
                <a:effectLst/>
              </a:rPr>
              <a:t>data ends</a:t>
            </a:r>
          </a:p>
          <a:p>
            <a:pPr marL="0" indent="0">
              <a:buFontTx/>
              <a:buNone/>
            </a:pPr>
            <a:endParaRPr lang="en-US" altLang="zh-CN" sz="1800" dirty="0">
              <a:effectLst/>
            </a:endParaRPr>
          </a:p>
          <a:p>
            <a:pPr marL="0" indent="0">
              <a:buFontTx/>
              <a:buNone/>
            </a:pPr>
            <a:r>
              <a:rPr lang="en-US" altLang="zh-CN" sz="1800" dirty="0">
                <a:effectLst/>
              </a:rPr>
              <a:t>code segment		;</a:t>
            </a:r>
            <a:r>
              <a:rPr lang="zh-CN" altLang="en-US" sz="1800" dirty="0">
                <a:effectLst/>
              </a:rPr>
              <a:t>代码段</a:t>
            </a:r>
            <a:endParaRPr lang="en-US" altLang="zh-CN" sz="1800" dirty="0">
              <a:effectLst/>
            </a:endParaRPr>
          </a:p>
          <a:p>
            <a:pPr marL="0" indent="0">
              <a:buFontTx/>
              <a:buNone/>
            </a:pPr>
            <a:r>
              <a:rPr lang="en-US" altLang="zh-CN" sz="1800" dirty="0">
                <a:effectLst/>
              </a:rPr>
              <a:t>         assume </a:t>
            </a:r>
            <a:r>
              <a:rPr lang="en-US" altLang="zh-CN" sz="1800" dirty="0" err="1">
                <a:effectLst/>
              </a:rPr>
              <a:t>cs:code</a:t>
            </a:r>
            <a:r>
              <a:rPr lang="en-US" altLang="zh-CN" sz="1800" dirty="0">
                <a:effectLst/>
              </a:rPr>
              <a:t>, </a:t>
            </a:r>
            <a:r>
              <a:rPr lang="en-US" altLang="zh-CN" sz="1800" dirty="0" err="1">
                <a:effectLst/>
              </a:rPr>
              <a:t>ds:data</a:t>
            </a:r>
            <a:r>
              <a:rPr lang="en-US" altLang="zh-CN" sz="1800" dirty="0">
                <a:effectLst/>
              </a:rPr>
              <a:t>, </a:t>
            </a:r>
            <a:r>
              <a:rPr lang="en-US" altLang="zh-CN" sz="1800" dirty="0" err="1">
                <a:effectLst/>
              </a:rPr>
              <a:t>ss:stack</a:t>
            </a:r>
            <a:endParaRPr lang="en-US" altLang="zh-CN" sz="1800" dirty="0">
              <a:effectLst/>
            </a:endParaRPr>
          </a:p>
          <a:p>
            <a:pPr marL="0" indent="0">
              <a:buFontTx/>
              <a:buNone/>
            </a:pPr>
            <a:r>
              <a:rPr lang="en-US" altLang="zh-CN" sz="1800" dirty="0">
                <a:effectLst/>
              </a:rPr>
              <a:t>start:</a:t>
            </a:r>
            <a:r>
              <a:rPr lang="zh-CN" altLang="en-US" sz="1800" dirty="0">
                <a:effectLst/>
              </a:rPr>
              <a:t> </a:t>
            </a:r>
            <a:r>
              <a:rPr lang="en-US" altLang="zh-CN" sz="1800" dirty="0">
                <a:effectLst/>
              </a:rPr>
              <a:t>mov</a:t>
            </a:r>
            <a:r>
              <a:rPr lang="zh-CN" altLang="en-US" sz="1800" dirty="0">
                <a:effectLst/>
              </a:rPr>
              <a:t> </a:t>
            </a:r>
            <a:r>
              <a:rPr lang="en-US" altLang="zh-CN" sz="1800" dirty="0" err="1">
                <a:effectLst/>
              </a:rPr>
              <a:t>ax,data</a:t>
            </a:r>
            <a:r>
              <a:rPr lang="en-US" altLang="zh-CN" sz="1800" dirty="0">
                <a:effectLst/>
              </a:rPr>
              <a:t>	;ds</a:t>
            </a:r>
            <a:r>
              <a:rPr lang="zh-CN" altLang="en-US" sz="1800" dirty="0">
                <a:effectLst/>
              </a:rPr>
              <a:t>指向数据段</a:t>
            </a:r>
            <a:endParaRPr lang="en-US" altLang="zh-CN" sz="1800" dirty="0">
              <a:effectLst/>
            </a:endParaRPr>
          </a:p>
          <a:p>
            <a:pPr marL="0" indent="0">
              <a:buFontTx/>
              <a:buNone/>
            </a:pPr>
            <a:r>
              <a:rPr lang="en-US" altLang="zh-CN" sz="1800" dirty="0">
                <a:effectLst/>
              </a:rPr>
              <a:t>          mov </a:t>
            </a:r>
            <a:r>
              <a:rPr lang="en-US" altLang="zh-CN" sz="1800" dirty="0" err="1">
                <a:effectLst/>
              </a:rPr>
              <a:t>ds,ax</a:t>
            </a:r>
            <a:endParaRPr lang="en-US" altLang="zh-CN" sz="1800" dirty="0">
              <a:effectLst/>
            </a:endParaRPr>
          </a:p>
          <a:p>
            <a:pPr marL="0" indent="0">
              <a:buFontTx/>
              <a:buNone/>
            </a:pPr>
            <a:r>
              <a:rPr lang="en-US" altLang="zh-CN" sz="1800" dirty="0">
                <a:effectLst/>
              </a:rPr>
              <a:t>          ;&lt;</a:t>
            </a:r>
            <a:r>
              <a:rPr lang="zh-CN" altLang="en-US" sz="1800" dirty="0">
                <a:effectLst/>
              </a:rPr>
              <a:t>执行代码</a:t>
            </a:r>
            <a:r>
              <a:rPr lang="en-US" altLang="zh-CN" sz="1800" dirty="0">
                <a:effectLst/>
              </a:rPr>
              <a:t>&gt;</a:t>
            </a:r>
          </a:p>
          <a:p>
            <a:pPr marL="0" indent="0">
              <a:buFontTx/>
              <a:buNone/>
            </a:pPr>
            <a:r>
              <a:rPr lang="en-US" altLang="zh-CN" sz="1800" dirty="0">
                <a:effectLst/>
              </a:rPr>
              <a:t>code ends</a:t>
            </a:r>
          </a:p>
          <a:p>
            <a:pPr marL="0" indent="0">
              <a:buFontTx/>
              <a:buNone/>
            </a:pPr>
            <a:r>
              <a:rPr lang="en-US" altLang="zh-CN" sz="1800" dirty="0">
                <a:effectLst/>
              </a:rPr>
              <a:t>end start</a:t>
            </a:r>
          </a:p>
        </p:txBody>
      </p:sp>
      <p:sp>
        <p:nvSpPr>
          <p:cNvPr id="4" name="对话气泡: 矩形 3">
            <a:extLst>
              <a:ext uri="{FF2B5EF4-FFF2-40B4-BE49-F238E27FC236}">
                <a16:creationId xmlns:a16="http://schemas.microsoft.com/office/drawing/2014/main" id="{59A2DDBF-D314-1C06-4903-EDB56890FFD8}"/>
              </a:ext>
            </a:extLst>
          </p:cNvPr>
          <p:cNvSpPr/>
          <p:nvPr/>
        </p:nvSpPr>
        <p:spPr bwMode="auto">
          <a:xfrm>
            <a:off x="3203848" y="4725144"/>
            <a:ext cx="1584176" cy="503709"/>
          </a:xfrm>
          <a:prstGeom prst="wedgeRectCallout">
            <a:avLst>
              <a:gd name="adj1" fmla="val -21846"/>
              <a:gd name="adj2" fmla="val -75025"/>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r>
              <a:rPr kumimoji="0" lang="en-US" altLang="zh-CN" sz="1400" b="1" i="0" u="none" strike="noStrike" normalizeH="0" baseline="0" dirty="0">
                <a:ln w="10160">
                  <a:noFill/>
                  <a:prstDash val="solid"/>
                </a:ln>
                <a:effectLst/>
                <a:latin typeface="Arial" panose="020B0604020202020204" pitchFamily="34" charset="0"/>
                <a:ea typeface="宋体" panose="02010600030101010101" pitchFamily="2" charset="-122"/>
              </a:rPr>
              <a:t>Why</a:t>
            </a:r>
            <a:r>
              <a:rPr kumimoji="0" lang="zh-CN" altLang="en-US" sz="1400" b="1" i="0" u="none" strike="noStrike" normalizeH="0" baseline="0" dirty="0">
                <a:ln w="10160">
                  <a:noFill/>
                  <a:prstDash val="solid"/>
                </a:ln>
                <a:effectLst/>
                <a:latin typeface="Arial" panose="020B0604020202020204" pitchFamily="34" charset="0"/>
                <a:ea typeface="宋体" panose="02010600030101010101" pitchFamily="2" charset="-122"/>
              </a:rPr>
              <a:t>？段寄存器不能接受立即数。</a:t>
            </a:r>
          </a:p>
        </p:txBody>
      </p:sp>
      <p:sp>
        <p:nvSpPr>
          <p:cNvPr id="5" name="对话气泡: 矩形 4">
            <a:extLst>
              <a:ext uri="{FF2B5EF4-FFF2-40B4-BE49-F238E27FC236}">
                <a16:creationId xmlns:a16="http://schemas.microsoft.com/office/drawing/2014/main" id="{8580E246-EE34-4196-5B11-E07E3930C23D}"/>
              </a:ext>
            </a:extLst>
          </p:cNvPr>
          <p:cNvSpPr/>
          <p:nvPr/>
        </p:nvSpPr>
        <p:spPr bwMode="auto">
          <a:xfrm>
            <a:off x="3791025" y="3177145"/>
            <a:ext cx="1584176" cy="503709"/>
          </a:xfrm>
          <a:prstGeom prst="wedgeRectCallout">
            <a:avLst>
              <a:gd name="adj1" fmla="val -22721"/>
              <a:gd name="adj2" fmla="val 121636"/>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r>
              <a:rPr kumimoji="0" lang="zh-CN" altLang="en-US" sz="1400" b="1" i="0" u="none" strike="noStrike" normalizeH="0" baseline="0" dirty="0">
                <a:ln w="10160">
                  <a:noFill/>
                  <a:prstDash val="solid"/>
                </a:ln>
                <a:effectLst/>
                <a:latin typeface="Arial" panose="020B0604020202020204" pitchFamily="34" charset="0"/>
                <a:ea typeface="宋体" panose="02010600030101010101" pitchFamily="2" charset="-122"/>
              </a:rPr>
              <a:t>为每段分配不同的段寄存器。</a:t>
            </a:r>
          </a:p>
        </p:txBody>
      </p:sp>
    </p:spTree>
  </p:cSld>
  <p:clrMapOvr>
    <a:masterClrMapping/>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4318705D-863C-BF86-CC43-838232C9483B}"/>
              </a:ext>
            </a:extLst>
          </p:cNvPr>
          <p:cNvSpPr>
            <a:spLocks noGrp="1" noChangeArrowheads="1"/>
          </p:cNvSpPr>
          <p:nvPr>
            <p:ph type="title"/>
          </p:nvPr>
        </p:nvSpPr>
        <p:spPr/>
        <p:txBody>
          <a:bodyPr/>
          <a:lstStyle/>
          <a:p>
            <a:r>
              <a:rPr lang="en-US" altLang="zh-CN" dirty="0"/>
              <a:t>end</a:t>
            </a:r>
            <a:r>
              <a:rPr lang="zh-CN" altLang="en-US" dirty="0"/>
              <a:t>汇编结束</a:t>
            </a:r>
          </a:p>
        </p:txBody>
      </p:sp>
      <p:sp>
        <p:nvSpPr>
          <p:cNvPr id="41987" name="Rectangle 3">
            <a:extLst>
              <a:ext uri="{FF2B5EF4-FFF2-40B4-BE49-F238E27FC236}">
                <a16:creationId xmlns:a16="http://schemas.microsoft.com/office/drawing/2014/main" id="{C3B13C23-81B6-42A6-06EA-F58CCF4F9778}"/>
              </a:ext>
            </a:extLst>
          </p:cNvPr>
          <p:cNvSpPr>
            <a:spLocks noGrp="1" noChangeArrowheads="1"/>
          </p:cNvSpPr>
          <p:nvPr>
            <p:ph type="body" idx="1"/>
          </p:nvPr>
        </p:nvSpPr>
        <p:spPr>
          <a:xfrm>
            <a:off x="250825" y="981075"/>
            <a:ext cx="8229600" cy="3887788"/>
          </a:xfrm>
        </p:spPr>
        <p:txBody>
          <a:bodyPr/>
          <a:lstStyle/>
          <a:p>
            <a:r>
              <a:rPr lang="zh-CN" altLang="en-US" dirty="0"/>
              <a:t>汇编结束表示汇编程序到此结束将源程序翻译成目标模块代码的过程</a:t>
            </a:r>
          </a:p>
          <a:p>
            <a:r>
              <a:rPr lang="zh-CN" altLang="en-US" dirty="0"/>
              <a:t>源程序的最后必须有一条</a:t>
            </a:r>
            <a:r>
              <a:rPr lang="en-US" altLang="zh-CN" dirty="0"/>
              <a:t>END</a:t>
            </a:r>
            <a:r>
              <a:rPr lang="zh-CN" altLang="en-US" dirty="0"/>
              <a:t>伪指令</a:t>
            </a:r>
          </a:p>
          <a:p>
            <a:pPr>
              <a:buFontTx/>
              <a:buNone/>
            </a:pPr>
            <a:r>
              <a:rPr lang="zh-CN" altLang="en-US" dirty="0"/>
              <a:t>		</a:t>
            </a:r>
            <a:r>
              <a:rPr lang="en-US" altLang="zh-CN" dirty="0">
                <a:solidFill>
                  <a:schemeClr val="tx1"/>
                </a:solidFill>
              </a:rPr>
              <a:t>END [</a:t>
            </a:r>
            <a:r>
              <a:rPr lang="zh-CN" altLang="en-US" dirty="0">
                <a:solidFill>
                  <a:schemeClr val="tx1"/>
                </a:solidFill>
              </a:rPr>
              <a:t>标号</a:t>
            </a:r>
            <a:r>
              <a:rPr lang="en-US" altLang="zh-CN" dirty="0">
                <a:solidFill>
                  <a:schemeClr val="tx1"/>
                </a:solidFill>
              </a:rPr>
              <a:t>]</a:t>
            </a:r>
          </a:p>
          <a:p>
            <a:r>
              <a:rPr lang="zh-CN" altLang="en-US" dirty="0"/>
              <a:t>可选的“标号”参数指定程序开始执行点，连接程序据此设置</a:t>
            </a:r>
            <a:r>
              <a:rPr lang="en-US" altLang="zh-CN" dirty="0"/>
              <a:t>CS</a:t>
            </a:r>
            <a:r>
              <a:rPr lang="zh-CN" altLang="en-US" dirty="0"/>
              <a:t>和</a:t>
            </a:r>
            <a:r>
              <a:rPr lang="en-US" altLang="zh-CN" dirty="0"/>
              <a:t>IP</a:t>
            </a:r>
            <a:r>
              <a:rPr lang="zh-CN" altLang="en-US" dirty="0"/>
              <a:t>值（上页采用了</a:t>
            </a:r>
            <a:r>
              <a:rPr lang="en-US" altLang="zh-CN" dirty="0">
                <a:solidFill>
                  <a:schemeClr val="tx1"/>
                </a:solidFill>
              </a:rPr>
              <a:t>start</a:t>
            </a:r>
            <a:r>
              <a:rPr lang="zh-CN" altLang="en-US" dirty="0"/>
              <a:t>标识符） </a:t>
            </a:r>
          </a:p>
        </p:txBody>
      </p:sp>
    </p:spTree>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0882" name="Rectangle 2">
            <a:extLst>
              <a:ext uri="{FF2B5EF4-FFF2-40B4-BE49-F238E27FC236}">
                <a16:creationId xmlns:a16="http://schemas.microsoft.com/office/drawing/2014/main" id="{A007A823-2E11-996A-4772-E5A493D34B4F}"/>
              </a:ext>
            </a:extLst>
          </p:cNvPr>
          <p:cNvSpPr>
            <a:spLocks noGrp="1" noChangeArrowheads="1"/>
          </p:cNvSpPr>
          <p:nvPr>
            <p:ph type="title"/>
          </p:nvPr>
        </p:nvSpPr>
        <p:spPr/>
        <p:txBody>
          <a:bodyPr/>
          <a:lstStyle/>
          <a:p>
            <a:r>
              <a:rPr lang="zh-CN" altLang="en-US"/>
              <a:t>硬指令与伪指令</a:t>
            </a:r>
          </a:p>
        </p:txBody>
      </p:sp>
      <p:sp>
        <p:nvSpPr>
          <p:cNvPr id="250883" name="Rectangle 3">
            <a:extLst>
              <a:ext uri="{FF2B5EF4-FFF2-40B4-BE49-F238E27FC236}">
                <a16:creationId xmlns:a16="http://schemas.microsoft.com/office/drawing/2014/main" id="{52D1E65E-7C24-4063-EE35-9902705C8EFC}"/>
              </a:ext>
            </a:extLst>
          </p:cNvPr>
          <p:cNvSpPr>
            <a:spLocks noGrp="1" noChangeArrowheads="1"/>
          </p:cNvSpPr>
          <p:nvPr>
            <p:ph type="body" idx="1"/>
          </p:nvPr>
        </p:nvSpPr>
        <p:spPr>
          <a:xfrm>
            <a:off x="468313" y="981075"/>
            <a:ext cx="8229600" cy="4103688"/>
          </a:xfrm>
        </p:spPr>
        <p:txBody>
          <a:bodyPr/>
          <a:lstStyle/>
          <a:p>
            <a:r>
              <a:rPr lang="zh-CN" altLang="en-US" sz="2800" dirty="0"/>
              <a:t>硬指令（</a:t>
            </a:r>
            <a:r>
              <a:rPr lang="en-US" altLang="zh-CN" sz="2800" dirty="0"/>
              <a:t>Instruction</a:t>
            </a:r>
            <a:r>
              <a:rPr lang="zh-CN" altLang="en-US" sz="2800" dirty="0"/>
              <a:t>）</a:t>
            </a:r>
            <a:r>
              <a:rPr lang="en-US" altLang="zh-CN" sz="2800" dirty="0"/>
              <a:t>——</a:t>
            </a:r>
            <a:r>
              <a:rPr lang="zh-CN" altLang="en-US" sz="2800" dirty="0"/>
              <a:t>使</a:t>
            </a:r>
            <a:r>
              <a:rPr lang="en-US" altLang="zh-CN" sz="2800" dirty="0"/>
              <a:t>CPU</a:t>
            </a:r>
            <a:r>
              <a:rPr lang="zh-CN" altLang="en-US" sz="2800" dirty="0"/>
              <a:t>产生动作、并在程序执行时才处理的指令</a:t>
            </a:r>
          </a:p>
          <a:p>
            <a:pPr>
              <a:buFontTx/>
              <a:buNone/>
            </a:pPr>
            <a:r>
              <a:rPr lang="zh-CN" altLang="en-US" sz="2800" dirty="0"/>
              <a:t>	与具体的处理器有关、与汇编程序无关。</a:t>
            </a:r>
          </a:p>
          <a:p>
            <a:r>
              <a:rPr lang="zh-CN" altLang="en-US" sz="2800" dirty="0"/>
              <a:t>伪指令（</a:t>
            </a:r>
            <a:r>
              <a:rPr lang="en-US" altLang="zh-CN" sz="2800" dirty="0"/>
              <a:t>Directive</a:t>
            </a:r>
            <a:r>
              <a:rPr lang="zh-CN" altLang="en-US" sz="2800" dirty="0"/>
              <a:t>）</a:t>
            </a:r>
            <a:r>
              <a:rPr lang="en-US" altLang="zh-CN" sz="2800" dirty="0"/>
              <a:t>——</a:t>
            </a:r>
            <a:r>
              <a:rPr lang="zh-CN" altLang="en-US" sz="2800" dirty="0"/>
              <a:t>不产生</a:t>
            </a:r>
            <a:r>
              <a:rPr lang="en-US" altLang="zh-CN" sz="2800" dirty="0"/>
              <a:t>CPU</a:t>
            </a:r>
            <a:r>
              <a:rPr lang="zh-CN" altLang="en-US" sz="2800" dirty="0"/>
              <a:t>动作、在程序执行前由汇编程序处理的说明性指令</a:t>
            </a:r>
          </a:p>
          <a:p>
            <a:pPr>
              <a:buFontTx/>
              <a:buNone/>
            </a:pPr>
            <a:r>
              <a:rPr lang="zh-CN" altLang="en-US" sz="2800" dirty="0"/>
              <a:t>	伪指令与具体的处理器类型无关，但与汇编程序有关。不同版本的汇编程序支持不同的伪指令。</a:t>
            </a:r>
          </a:p>
        </p:txBody>
      </p:sp>
    </p:spTree>
  </p:cSld>
  <p:clrMapOvr>
    <a:masterClrMapping/>
  </p:clrMapOvr>
  <p:transition>
    <p:random/>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1906" name="Rectangle 2">
            <a:extLst>
              <a:ext uri="{FF2B5EF4-FFF2-40B4-BE49-F238E27FC236}">
                <a16:creationId xmlns:a16="http://schemas.microsoft.com/office/drawing/2014/main" id="{FCD23C06-7973-6893-3EB5-DE4004F9E850}"/>
              </a:ext>
            </a:extLst>
          </p:cNvPr>
          <p:cNvSpPr>
            <a:spLocks noGrp="1" noChangeArrowheads="1"/>
          </p:cNvSpPr>
          <p:nvPr>
            <p:ph type="title"/>
          </p:nvPr>
        </p:nvSpPr>
        <p:spPr/>
        <p:txBody>
          <a:bodyPr/>
          <a:lstStyle/>
          <a:p>
            <a:r>
              <a:rPr lang="zh-CN" altLang="en-US" dirty="0"/>
              <a:t>标识符与保留字</a:t>
            </a:r>
          </a:p>
        </p:txBody>
      </p:sp>
      <p:sp>
        <p:nvSpPr>
          <p:cNvPr id="251907" name="Rectangle 3">
            <a:extLst>
              <a:ext uri="{FF2B5EF4-FFF2-40B4-BE49-F238E27FC236}">
                <a16:creationId xmlns:a16="http://schemas.microsoft.com/office/drawing/2014/main" id="{049C6145-DE7F-6344-556D-266167EF8891}"/>
              </a:ext>
            </a:extLst>
          </p:cNvPr>
          <p:cNvSpPr>
            <a:spLocks noGrp="1" noChangeArrowheads="1"/>
          </p:cNvSpPr>
          <p:nvPr>
            <p:ph type="body" idx="1"/>
          </p:nvPr>
        </p:nvSpPr>
        <p:spPr/>
        <p:txBody>
          <a:bodyPr/>
          <a:lstStyle/>
          <a:p>
            <a:r>
              <a:rPr lang="zh-CN" altLang="en-US" sz="2800" dirty="0"/>
              <a:t>指令语句和伪指令语句的符号统称</a:t>
            </a:r>
            <a:r>
              <a:rPr lang="zh-CN" altLang="en-US" sz="2800" dirty="0">
                <a:solidFill>
                  <a:schemeClr val="tx1"/>
                </a:solidFill>
              </a:rPr>
              <a:t>标识符</a:t>
            </a:r>
            <a:endParaRPr lang="en-US" altLang="zh-CN" sz="2800" dirty="0">
              <a:solidFill>
                <a:schemeClr val="tx1"/>
              </a:solidFill>
            </a:endParaRPr>
          </a:p>
          <a:p>
            <a:pPr marL="0" indent="0">
              <a:buNone/>
            </a:pPr>
            <a:endParaRPr lang="en-US" altLang="zh-CN" sz="2800" dirty="0"/>
          </a:p>
          <a:p>
            <a:r>
              <a:rPr lang="zh-CN" altLang="en-US" sz="2800" dirty="0"/>
              <a:t>标识符一般最多由</a:t>
            </a:r>
            <a:r>
              <a:rPr lang="en-US" altLang="zh-CN" sz="2800" dirty="0"/>
              <a:t>31</a:t>
            </a:r>
            <a:r>
              <a:rPr lang="zh-CN" altLang="en-US" sz="2800" dirty="0"/>
              <a:t>个字母、数字及规定的特殊符号（如 </a:t>
            </a:r>
            <a:r>
              <a:rPr lang="en-US" altLang="zh-CN" sz="2800" dirty="0"/>
              <a:t>_</a:t>
            </a:r>
            <a:r>
              <a:rPr lang="zh-CN" altLang="en-US" sz="2800" dirty="0"/>
              <a:t>、</a:t>
            </a:r>
            <a:r>
              <a:rPr lang="en-US" altLang="zh-CN" sz="2800" dirty="0"/>
              <a:t>$</a:t>
            </a:r>
            <a:r>
              <a:rPr lang="zh-CN" altLang="en-US" sz="2800" dirty="0"/>
              <a:t>、</a:t>
            </a:r>
            <a:r>
              <a:rPr lang="en-US" altLang="zh-CN" sz="2800" dirty="0"/>
              <a:t>?</a:t>
            </a:r>
            <a:r>
              <a:rPr lang="zh-CN" altLang="en-US" sz="2800" dirty="0"/>
              <a:t>、</a:t>
            </a:r>
            <a:r>
              <a:rPr lang="en-US" altLang="zh-CN" sz="2800" dirty="0"/>
              <a:t>@</a:t>
            </a:r>
            <a:r>
              <a:rPr lang="zh-CN" altLang="en-US" sz="2800" dirty="0"/>
              <a:t>）组成，不能以数字开头。默认情况下，汇编程序不区别标识符中的字母大小写</a:t>
            </a:r>
            <a:endParaRPr lang="en-US" altLang="zh-CN" sz="2800" dirty="0"/>
          </a:p>
          <a:p>
            <a:pPr marL="0" indent="0">
              <a:buNone/>
            </a:pPr>
            <a:endParaRPr lang="zh-CN" altLang="en-US" sz="2800" dirty="0"/>
          </a:p>
          <a:p>
            <a:r>
              <a:rPr lang="zh-CN" altLang="en-US" sz="2800" dirty="0"/>
              <a:t>一个源程序中，每个标识符的定义是唯一的，还不能是汇编语言采用的</a:t>
            </a:r>
            <a:r>
              <a:rPr lang="zh-CN" altLang="en-US" sz="2800" dirty="0">
                <a:solidFill>
                  <a:schemeClr val="tx1"/>
                </a:solidFill>
              </a:rPr>
              <a:t>保留字</a:t>
            </a:r>
          </a:p>
        </p:txBody>
      </p:sp>
    </p:spTree>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2930" name="Rectangle 2">
            <a:extLst>
              <a:ext uri="{FF2B5EF4-FFF2-40B4-BE49-F238E27FC236}">
                <a16:creationId xmlns:a16="http://schemas.microsoft.com/office/drawing/2014/main" id="{A060C37E-2552-2AD3-872D-5A7B3A260859}"/>
              </a:ext>
            </a:extLst>
          </p:cNvPr>
          <p:cNvSpPr>
            <a:spLocks noGrp="1" noChangeArrowheads="1"/>
          </p:cNvSpPr>
          <p:nvPr>
            <p:ph type="title"/>
          </p:nvPr>
        </p:nvSpPr>
        <p:spPr/>
        <p:txBody>
          <a:bodyPr/>
          <a:lstStyle/>
          <a:p>
            <a:r>
              <a:rPr lang="zh-CN" altLang="en-US"/>
              <a:t>保留字</a:t>
            </a:r>
          </a:p>
        </p:txBody>
      </p:sp>
      <p:sp>
        <p:nvSpPr>
          <p:cNvPr id="252931" name="Rectangle 3">
            <a:extLst>
              <a:ext uri="{FF2B5EF4-FFF2-40B4-BE49-F238E27FC236}">
                <a16:creationId xmlns:a16="http://schemas.microsoft.com/office/drawing/2014/main" id="{82D791AC-F389-3141-092B-A00CE8D0AB3D}"/>
              </a:ext>
            </a:extLst>
          </p:cNvPr>
          <p:cNvSpPr>
            <a:spLocks noGrp="1" noChangeArrowheads="1"/>
          </p:cNvSpPr>
          <p:nvPr>
            <p:ph type="body" idx="1"/>
          </p:nvPr>
        </p:nvSpPr>
        <p:spPr>
          <a:xfrm>
            <a:off x="250825" y="981075"/>
            <a:ext cx="8569325" cy="5184775"/>
          </a:xfrm>
        </p:spPr>
        <p:txBody>
          <a:bodyPr/>
          <a:lstStyle/>
          <a:p>
            <a:pPr marL="0" indent="0">
              <a:buNone/>
            </a:pPr>
            <a:r>
              <a:rPr lang="zh-CN" altLang="en-US" dirty="0"/>
              <a:t>保留字（</a:t>
            </a:r>
            <a:r>
              <a:rPr lang="en-US" altLang="zh-CN" dirty="0"/>
              <a:t>Reserved Word</a:t>
            </a:r>
            <a:r>
              <a:rPr lang="zh-CN" altLang="en-US" dirty="0"/>
              <a:t>）是汇编程序已经利用的标识符（也称为关键字），主要有：</a:t>
            </a:r>
          </a:p>
          <a:p>
            <a:r>
              <a:rPr lang="zh-CN" altLang="en-US" dirty="0"/>
              <a:t>硬指令助记符</a:t>
            </a:r>
            <a:r>
              <a:rPr lang="en-US" altLang="zh-CN" dirty="0"/>
              <a:t>——</a:t>
            </a:r>
            <a:r>
              <a:rPr lang="zh-CN" altLang="en-US" dirty="0"/>
              <a:t>例如：</a:t>
            </a:r>
            <a:r>
              <a:rPr lang="en-US" altLang="zh-CN" dirty="0">
                <a:solidFill>
                  <a:schemeClr val="tx1"/>
                </a:solidFill>
              </a:rPr>
              <a:t>MOV</a:t>
            </a:r>
            <a:r>
              <a:rPr lang="zh-CN" altLang="en-US" dirty="0">
                <a:solidFill>
                  <a:schemeClr val="tx1"/>
                </a:solidFill>
              </a:rPr>
              <a:t>、</a:t>
            </a:r>
            <a:r>
              <a:rPr lang="en-US" altLang="zh-CN" dirty="0">
                <a:solidFill>
                  <a:schemeClr val="tx1"/>
                </a:solidFill>
              </a:rPr>
              <a:t>ADD</a:t>
            </a:r>
          </a:p>
          <a:p>
            <a:r>
              <a:rPr lang="zh-CN" altLang="en-US" dirty="0"/>
              <a:t>伪指令助记符</a:t>
            </a:r>
            <a:r>
              <a:rPr lang="en-US" altLang="zh-CN" dirty="0"/>
              <a:t>——</a:t>
            </a:r>
            <a:r>
              <a:rPr lang="zh-CN" altLang="en-US" dirty="0"/>
              <a:t>例如：</a:t>
            </a:r>
            <a:r>
              <a:rPr lang="en-US" altLang="zh-CN" dirty="0">
                <a:solidFill>
                  <a:schemeClr val="tx1"/>
                </a:solidFill>
              </a:rPr>
              <a:t>DB</a:t>
            </a:r>
            <a:r>
              <a:rPr lang="zh-CN" altLang="en-US" dirty="0">
                <a:solidFill>
                  <a:schemeClr val="tx1"/>
                </a:solidFill>
              </a:rPr>
              <a:t>、</a:t>
            </a:r>
            <a:r>
              <a:rPr lang="en-US" altLang="zh-CN" dirty="0">
                <a:solidFill>
                  <a:schemeClr val="tx1"/>
                </a:solidFill>
              </a:rPr>
              <a:t>DW</a:t>
            </a:r>
          </a:p>
          <a:p>
            <a:r>
              <a:rPr lang="zh-CN" altLang="en-US" dirty="0"/>
              <a:t>操作符</a:t>
            </a:r>
            <a:r>
              <a:rPr lang="en-US" altLang="zh-CN" dirty="0"/>
              <a:t>——</a:t>
            </a:r>
            <a:r>
              <a:rPr lang="zh-CN" altLang="en-US" dirty="0"/>
              <a:t>例如：</a:t>
            </a:r>
            <a:r>
              <a:rPr lang="en-US" altLang="zh-CN" dirty="0">
                <a:solidFill>
                  <a:schemeClr val="tx1"/>
                </a:solidFill>
              </a:rPr>
              <a:t>OFFSET</a:t>
            </a:r>
            <a:r>
              <a:rPr lang="zh-CN" altLang="en-US" dirty="0">
                <a:solidFill>
                  <a:schemeClr val="tx1"/>
                </a:solidFill>
              </a:rPr>
              <a:t>、</a:t>
            </a:r>
            <a:r>
              <a:rPr lang="en-US" altLang="zh-CN" dirty="0">
                <a:solidFill>
                  <a:schemeClr val="tx1"/>
                </a:solidFill>
              </a:rPr>
              <a:t>PTR</a:t>
            </a:r>
          </a:p>
          <a:p>
            <a:r>
              <a:rPr lang="zh-CN" altLang="en-US" dirty="0"/>
              <a:t>寄存器名</a:t>
            </a:r>
            <a:r>
              <a:rPr lang="en-US" altLang="zh-CN" dirty="0"/>
              <a:t>——</a:t>
            </a:r>
            <a:r>
              <a:rPr lang="zh-CN" altLang="en-US" dirty="0"/>
              <a:t>例如：</a:t>
            </a:r>
            <a:r>
              <a:rPr lang="en-US" altLang="zh-CN" dirty="0">
                <a:solidFill>
                  <a:schemeClr val="tx1"/>
                </a:solidFill>
              </a:rPr>
              <a:t>AX</a:t>
            </a:r>
            <a:r>
              <a:rPr lang="zh-CN" altLang="en-US" dirty="0">
                <a:solidFill>
                  <a:schemeClr val="tx1"/>
                </a:solidFill>
              </a:rPr>
              <a:t>、</a:t>
            </a:r>
            <a:r>
              <a:rPr lang="en-US" altLang="zh-CN" dirty="0">
                <a:solidFill>
                  <a:schemeClr val="tx1"/>
                </a:solidFill>
              </a:rPr>
              <a:t>CS</a:t>
            </a:r>
          </a:p>
          <a:p>
            <a:r>
              <a:rPr lang="zh-CN" altLang="en-US" dirty="0"/>
              <a:t>预定义符号</a:t>
            </a:r>
            <a:r>
              <a:rPr lang="en-US" altLang="zh-CN" dirty="0"/>
              <a:t>——</a:t>
            </a:r>
            <a:r>
              <a:rPr lang="zh-CN" altLang="en-US" dirty="0"/>
              <a:t>例如：</a:t>
            </a:r>
            <a:r>
              <a:rPr lang="en-US" altLang="zh-CN" dirty="0">
                <a:solidFill>
                  <a:schemeClr val="tx1"/>
                </a:solidFill>
              </a:rPr>
              <a:t>@data</a:t>
            </a:r>
          </a:p>
        </p:txBody>
      </p:sp>
      <p:sp>
        <p:nvSpPr>
          <p:cNvPr id="252932" name="AutoShape 4">
            <a:extLst>
              <a:ext uri="{FF2B5EF4-FFF2-40B4-BE49-F238E27FC236}">
                <a16:creationId xmlns:a16="http://schemas.microsoft.com/office/drawing/2014/main" id="{D1F98B2C-1F07-613F-DD67-92FC8F034C3B}"/>
              </a:ext>
            </a:extLst>
          </p:cNvPr>
          <p:cNvSpPr>
            <a:spLocks noChangeArrowheads="1"/>
          </p:cNvSpPr>
          <p:nvPr/>
        </p:nvSpPr>
        <p:spPr bwMode="auto">
          <a:xfrm>
            <a:off x="4284663" y="5445125"/>
            <a:ext cx="4238625" cy="431800"/>
          </a:xfrm>
          <a:prstGeom prst="roundRect">
            <a:avLst>
              <a:gd name="adj" fmla="val 16667"/>
            </a:avLst>
          </a:prstGeom>
          <a:blipFill dpi="0" rotWithShape="0">
            <a:blip r:embed="rId2"/>
            <a:srcRect/>
            <a:tile tx="0" ty="0" sx="100000" sy="100000" flip="none" algn="tl"/>
          </a:blip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just">
              <a:buFontTx/>
              <a:buBlip>
                <a:blip r:embed="rId3"/>
              </a:buBlip>
            </a:pPr>
            <a:r>
              <a:rPr kumimoji="1" lang="en-US" altLang="zh-CN" sz="2800" b="1">
                <a:solidFill>
                  <a:schemeClr val="accent2"/>
                </a:solidFill>
                <a:effectLst/>
              </a:rPr>
              <a:t> </a:t>
            </a:r>
            <a:r>
              <a:rPr kumimoji="1" lang="zh-CN" altLang="en-US" sz="2800">
                <a:solidFill>
                  <a:schemeClr val="accent2"/>
                </a:solidFill>
                <a:effectLst/>
                <a:latin typeface="Times New Roman" panose="02020603050405020304" pitchFamily="18" charset="0"/>
                <a:ea typeface="隶书" panose="02010509060101010101" pitchFamily="49" charset="-122"/>
              </a:rPr>
              <a:t>汇编语言大小写不敏感</a:t>
            </a:r>
            <a:endParaRPr kumimoji="1" lang="zh-CN" altLang="en-US" sz="2800" b="1">
              <a:solidFill>
                <a:schemeClr val="accent2"/>
              </a:solidFill>
              <a:effectLst/>
            </a:endParaRPr>
          </a:p>
        </p:txBody>
      </p:sp>
    </p:spTree>
  </p:cSld>
  <p:clrMapOvr>
    <a:masterClrMapping/>
  </p:clrMapOvr>
  <p:transition>
    <p:random/>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3954" name="Rectangle 2">
            <a:extLst>
              <a:ext uri="{FF2B5EF4-FFF2-40B4-BE49-F238E27FC236}">
                <a16:creationId xmlns:a16="http://schemas.microsoft.com/office/drawing/2014/main" id="{062BD570-2770-C9BB-25CB-B0BCECBC8BF2}"/>
              </a:ext>
            </a:extLst>
          </p:cNvPr>
          <p:cNvSpPr>
            <a:spLocks noGrp="1" noChangeArrowheads="1"/>
          </p:cNvSpPr>
          <p:nvPr>
            <p:ph type="title"/>
          </p:nvPr>
        </p:nvSpPr>
        <p:spPr/>
        <p:txBody>
          <a:bodyPr/>
          <a:lstStyle/>
          <a:p>
            <a:r>
              <a:rPr lang="zh-CN" altLang="en-US" dirty="0"/>
              <a:t>操作数</a:t>
            </a:r>
          </a:p>
        </p:txBody>
      </p:sp>
      <p:sp>
        <p:nvSpPr>
          <p:cNvPr id="253955" name="Rectangle 3">
            <a:extLst>
              <a:ext uri="{FF2B5EF4-FFF2-40B4-BE49-F238E27FC236}">
                <a16:creationId xmlns:a16="http://schemas.microsoft.com/office/drawing/2014/main" id="{2A758517-37CF-CBCF-9913-E68FD0717130}"/>
              </a:ext>
            </a:extLst>
          </p:cNvPr>
          <p:cNvSpPr>
            <a:spLocks noGrp="1" noChangeArrowheads="1"/>
          </p:cNvSpPr>
          <p:nvPr>
            <p:ph type="body" idx="1"/>
          </p:nvPr>
        </p:nvSpPr>
        <p:spPr>
          <a:xfrm>
            <a:off x="250825" y="836713"/>
            <a:ext cx="8569325" cy="1080119"/>
          </a:xfrm>
        </p:spPr>
        <p:txBody>
          <a:bodyPr/>
          <a:lstStyle/>
          <a:p>
            <a:r>
              <a:rPr lang="zh-CN" altLang="en-US" dirty="0"/>
              <a:t>处理器指令的</a:t>
            </a:r>
            <a:r>
              <a:rPr lang="zh-CN" altLang="en-US" dirty="0">
                <a:solidFill>
                  <a:schemeClr val="tx1"/>
                </a:solidFill>
              </a:rPr>
              <a:t>操作数</a:t>
            </a:r>
            <a:r>
              <a:rPr lang="zh-CN" altLang="en-US" dirty="0"/>
              <a:t>可以是立即数、寄存器和存储单元</a:t>
            </a:r>
          </a:p>
        </p:txBody>
      </p:sp>
      <p:sp>
        <p:nvSpPr>
          <p:cNvPr id="2" name="内容占位符 2">
            <a:extLst>
              <a:ext uri="{FF2B5EF4-FFF2-40B4-BE49-F238E27FC236}">
                <a16:creationId xmlns:a16="http://schemas.microsoft.com/office/drawing/2014/main" id="{44DE417E-0ACC-E5FF-2282-5C1BC9F30F69}"/>
              </a:ext>
            </a:extLst>
          </p:cNvPr>
          <p:cNvSpPr txBox="1">
            <a:spLocks/>
          </p:cNvSpPr>
          <p:nvPr/>
        </p:nvSpPr>
        <p:spPr bwMode="auto">
          <a:xfrm>
            <a:off x="539552" y="2097476"/>
            <a:ext cx="7872214" cy="44647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just" rtl="0" fontAlgn="base">
              <a:spcBef>
                <a:spcPct val="20000"/>
              </a:spcBef>
              <a:spcAft>
                <a:spcPct val="0"/>
              </a:spcAft>
              <a:buBlip>
                <a:blip r:embed="rId2"/>
              </a:buBlip>
              <a:defRPr sz="3200" b="1" kern="1200">
                <a:solidFill>
                  <a:schemeClr val="accent2"/>
                </a:solidFill>
                <a:latin typeface="+mn-lt"/>
                <a:ea typeface="+mn-ea"/>
                <a:cs typeface="+mn-cs"/>
              </a:defRPr>
            </a:lvl1pPr>
            <a:lvl2pPr marL="742950" indent="-285750" algn="just" rtl="0" fontAlgn="base">
              <a:spcBef>
                <a:spcPct val="20000"/>
              </a:spcBef>
              <a:spcAft>
                <a:spcPct val="0"/>
              </a:spcAft>
              <a:buBlip>
                <a:blip r:embed="rId3"/>
              </a:buBlip>
              <a:defRPr sz="2800" b="1" kern="1200">
                <a:solidFill>
                  <a:schemeClr val="tx1"/>
                </a:solidFill>
                <a:latin typeface="+mn-lt"/>
                <a:ea typeface="+mj-ea"/>
                <a:cs typeface="+mn-cs"/>
              </a:defRPr>
            </a:lvl2pPr>
            <a:lvl3pPr marL="1143000" indent="-228600" algn="just" rtl="0" fontAlgn="base">
              <a:spcBef>
                <a:spcPct val="20000"/>
              </a:spcBef>
              <a:spcAft>
                <a:spcPct val="0"/>
              </a:spcAft>
              <a:buChar char="•"/>
              <a:defRPr sz="2400" kern="1200">
                <a:solidFill>
                  <a:schemeClr val="tx1"/>
                </a:solidFill>
                <a:latin typeface="+mn-lt"/>
                <a:ea typeface="+mj-ea"/>
                <a:cs typeface="+mn-cs"/>
              </a:defRPr>
            </a:lvl3pPr>
            <a:lvl4pPr marL="1600200" indent="-228600" algn="just" rtl="0" fontAlgn="base">
              <a:spcBef>
                <a:spcPct val="20000"/>
              </a:spcBef>
              <a:spcAft>
                <a:spcPct val="0"/>
              </a:spcAft>
              <a:buChar char="–"/>
              <a:defRPr sz="2000" kern="1200">
                <a:solidFill>
                  <a:schemeClr val="tx1"/>
                </a:solidFill>
                <a:latin typeface="+mn-lt"/>
                <a:ea typeface="+mj-ea"/>
                <a:cs typeface="+mn-cs"/>
              </a:defRPr>
            </a:lvl4pPr>
            <a:lvl5pPr marL="2057400" indent="-228600" algn="just" rtl="0" fontAlgn="base">
              <a:spcBef>
                <a:spcPct val="20000"/>
              </a:spcBef>
              <a:spcAft>
                <a:spcPct val="0"/>
              </a:spcAft>
              <a:buChar char="»"/>
              <a:defRPr sz="2000" kern="1200">
                <a:solidFill>
                  <a:schemeClr val="tx1"/>
                </a:solidFill>
                <a:latin typeface="+mn-lt"/>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u"/>
            </a:pPr>
            <a:r>
              <a:rPr lang="zh-CN" altLang="en-US" sz="2800" dirty="0">
                <a:effectLst/>
              </a:rPr>
              <a:t>立即数寻址方式</a:t>
            </a:r>
            <a:endParaRPr lang="en-US" altLang="zh-CN" sz="2800" dirty="0">
              <a:effectLst/>
            </a:endParaRPr>
          </a:p>
          <a:p>
            <a:pPr>
              <a:buFont typeface="Wingdings" panose="05000000000000000000" pitchFamily="2" charset="2"/>
              <a:buChar char="u"/>
            </a:pPr>
            <a:endParaRPr lang="zh-CN" altLang="en-US" sz="2800" dirty="0">
              <a:effectLst/>
            </a:endParaRPr>
          </a:p>
          <a:p>
            <a:pPr>
              <a:buFont typeface="Wingdings" panose="05000000000000000000" pitchFamily="2" charset="2"/>
              <a:buChar char="u"/>
            </a:pPr>
            <a:r>
              <a:rPr lang="zh-CN" altLang="en-US" sz="2800" dirty="0">
                <a:effectLst/>
              </a:rPr>
              <a:t>寄存器寻址方式</a:t>
            </a:r>
            <a:endParaRPr lang="en-US" altLang="zh-CN" sz="2800" dirty="0">
              <a:effectLst/>
            </a:endParaRPr>
          </a:p>
          <a:p>
            <a:pPr>
              <a:buFont typeface="Wingdings" panose="05000000000000000000" pitchFamily="2" charset="2"/>
              <a:buChar char="u"/>
            </a:pPr>
            <a:endParaRPr lang="en-US" altLang="zh-CN" sz="2800" dirty="0">
              <a:effectLst/>
            </a:endParaRPr>
          </a:p>
          <a:p>
            <a:pPr>
              <a:buFont typeface="Wingdings" panose="05000000000000000000" pitchFamily="2" charset="2"/>
              <a:buChar char="u"/>
            </a:pPr>
            <a:r>
              <a:rPr lang="zh-CN" altLang="en-US" sz="2800" dirty="0">
                <a:effectLst/>
              </a:rPr>
              <a:t>存储器寻址方式</a:t>
            </a:r>
          </a:p>
          <a:p>
            <a:pPr lvl="1">
              <a:buFontTx/>
              <a:buNone/>
            </a:pPr>
            <a:r>
              <a:rPr lang="en-US" altLang="zh-CN" sz="2000" dirty="0">
                <a:effectLst/>
              </a:rPr>
              <a:t>1</a:t>
            </a:r>
            <a:r>
              <a:rPr lang="zh-CN" altLang="en-US" sz="2000" dirty="0">
                <a:effectLst/>
              </a:rPr>
              <a:t>、直接寻址方式</a:t>
            </a:r>
          </a:p>
          <a:p>
            <a:pPr lvl="1">
              <a:buFontTx/>
              <a:buNone/>
            </a:pPr>
            <a:r>
              <a:rPr lang="en-US" altLang="zh-CN" sz="2000" dirty="0">
                <a:effectLst/>
              </a:rPr>
              <a:t>2</a:t>
            </a:r>
            <a:r>
              <a:rPr lang="zh-CN" altLang="en-US" sz="2000" dirty="0">
                <a:effectLst/>
              </a:rPr>
              <a:t>、寄存器间接寻址方式</a:t>
            </a:r>
          </a:p>
          <a:p>
            <a:pPr lvl="1">
              <a:buFontTx/>
              <a:buNone/>
            </a:pPr>
            <a:r>
              <a:rPr lang="en-US" altLang="zh-CN" sz="2000" dirty="0">
                <a:effectLst/>
              </a:rPr>
              <a:t>3</a:t>
            </a:r>
            <a:r>
              <a:rPr lang="zh-CN" altLang="en-US" sz="2000" dirty="0">
                <a:effectLst/>
              </a:rPr>
              <a:t>、寄存器相对寻址方式</a:t>
            </a:r>
          </a:p>
          <a:p>
            <a:pPr lvl="1">
              <a:buFontTx/>
              <a:buNone/>
            </a:pPr>
            <a:r>
              <a:rPr lang="en-US" altLang="zh-CN" sz="2000" dirty="0">
                <a:effectLst/>
              </a:rPr>
              <a:t>4</a:t>
            </a:r>
            <a:r>
              <a:rPr lang="zh-CN" altLang="en-US" sz="2000" dirty="0">
                <a:effectLst/>
              </a:rPr>
              <a:t>、基址变址寻址方式</a:t>
            </a:r>
          </a:p>
          <a:p>
            <a:pPr lvl="1">
              <a:buFontTx/>
              <a:buNone/>
            </a:pPr>
            <a:r>
              <a:rPr lang="en-US" altLang="zh-CN" sz="2000" dirty="0">
                <a:effectLst/>
              </a:rPr>
              <a:t>5</a:t>
            </a:r>
            <a:r>
              <a:rPr lang="zh-CN" altLang="en-US" sz="2000" dirty="0">
                <a:effectLst/>
              </a:rPr>
              <a:t>、相对基址变址寻址方式</a:t>
            </a:r>
          </a:p>
          <a:p>
            <a:endParaRPr lang="zh-CN" altLang="en-US" dirty="0">
              <a:effectLst/>
            </a:endParaRPr>
          </a:p>
        </p:txBody>
      </p:sp>
      <p:sp>
        <p:nvSpPr>
          <p:cNvPr id="3" name="AutoShape 6">
            <a:extLst>
              <a:ext uri="{FF2B5EF4-FFF2-40B4-BE49-F238E27FC236}">
                <a16:creationId xmlns:a16="http://schemas.microsoft.com/office/drawing/2014/main" id="{EE977155-D7AB-19A7-6C50-19F8A95587B8}"/>
              </a:ext>
            </a:extLst>
          </p:cNvPr>
          <p:cNvSpPr>
            <a:spLocks noChangeArrowheads="1"/>
          </p:cNvSpPr>
          <p:nvPr/>
        </p:nvSpPr>
        <p:spPr bwMode="auto">
          <a:xfrm>
            <a:off x="1112290" y="2619417"/>
            <a:ext cx="6942138" cy="506412"/>
          </a:xfrm>
          <a:prstGeom prst="flowChartAlternateProcess">
            <a:avLst/>
          </a:prstGeom>
          <a:blipFill dpi="0" rotWithShape="1">
            <a:blip r:embed="rId4"/>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tabLst>
                <a:tab pos="3592513" algn="l"/>
              </a:tabLst>
              <a:defRPr>
                <a:solidFill>
                  <a:schemeClr val="tx1"/>
                </a:solidFill>
                <a:latin typeface="Arial" panose="020B0604020202020204" pitchFamily="34" charset="0"/>
                <a:ea typeface="宋体" panose="02010600030101010101" pitchFamily="2" charset="-122"/>
              </a:defRPr>
            </a:lvl1pPr>
            <a:lvl2pPr>
              <a:tabLst>
                <a:tab pos="3592513" algn="l"/>
              </a:tabLst>
              <a:defRPr>
                <a:solidFill>
                  <a:schemeClr val="tx1"/>
                </a:solidFill>
                <a:latin typeface="Arial" panose="020B0604020202020204" pitchFamily="34" charset="0"/>
                <a:ea typeface="宋体" panose="02010600030101010101" pitchFamily="2" charset="-122"/>
              </a:defRPr>
            </a:lvl2pPr>
            <a:lvl3pPr>
              <a:tabLst>
                <a:tab pos="3592513" algn="l"/>
              </a:tabLst>
              <a:defRPr>
                <a:solidFill>
                  <a:schemeClr val="tx1"/>
                </a:solidFill>
                <a:latin typeface="Arial" panose="020B0604020202020204" pitchFamily="34" charset="0"/>
                <a:ea typeface="宋体" panose="02010600030101010101" pitchFamily="2" charset="-122"/>
              </a:defRPr>
            </a:lvl3pPr>
            <a:lvl4pPr>
              <a:tabLst>
                <a:tab pos="3592513" algn="l"/>
              </a:tabLst>
              <a:defRPr>
                <a:solidFill>
                  <a:schemeClr val="tx1"/>
                </a:solidFill>
                <a:latin typeface="Arial" panose="020B0604020202020204" pitchFamily="34" charset="0"/>
                <a:ea typeface="宋体" panose="02010600030101010101" pitchFamily="2" charset="-122"/>
              </a:defRPr>
            </a:lvl4pPr>
            <a:lvl5pPr>
              <a:tabLst>
                <a:tab pos="3592513"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3592513"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3592513"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3592513"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3592513" algn="l"/>
              </a:tabLst>
              <a:defRPr>
                <a:solidFill>
                  <a:schemeClr val="tx1"/>
                </a:solidFill>
                <a:latin typeface="Arial" panose="020B0604020202020204" pitchFamily="34" charset="0"/>
                <a:ea typeface="宋体" panose="02010600030101010101" pitchFamily="2" charset="-122"/>
              </a:defRPr>
            </a:lvl9pPr>
          </a:lstStyle>
          <a:p>
            <a:pPr algn="just"/>
            <a:r>
              <a:rPr lang="en-US" altLang="zh-CN" sz="3200" b="1" dirty="0">
                <a:solidFill>
                  <a:srgbClr val="3333CC"/>
                </a:solidFill>
                <a:effectLst/>
                <a:ea typeface="幼圆" panose="02010509060101010101" pitchFamily="49" charset="-122"/>
              </a:rPr>
              <a:t>MOV AX, 0102H	</a:t>
            </a:r>
            <a:r>
              <a:rPr lang="zh-CN" altLang="en-US" sz="3200" b="1" dirty="0">
                <a:solidFill>
                  <a:srgbClr val="3333CC"/>
                </a:solidFill>
                <a:effectLst/>
                <a:ea typeface="幼圆" panose="02010509060101010101" pitchFamily="49" charset="-122"/>
              </a:rPr>
              <a:t>；</a:t>
            </a:r>
            <a:r>
              <a:rPr lang="en-US" altLang="zh-CN" sz="3200" b="1" dirty="0">
                <a:solidFill>
                  <a:srgbClr val="3333CC"/>
                </a:solidFill>
                <a:effectLst/>
                <a:ea typeface="幼圆" panose="02010509060101010101" pitchFamily="49" charset="-122"/>
              </a:rPr>
              <a:t>AX←0102H</a:t>
            </a:r>
            <a:endParaRPr lang="en-US" altLang="zh-CN" sz="3200" b="1" dirty="0">
              <a:solidFill>
                <a:srgbClr val="339933"/>
              </a:solidFill>
              <a:effectLst/>
            </a:endParaRPr>
          </a:p>
        </p:txBody>
      </p:sp>
      <p:sp>
        <p:nvSpPr>
          <p:cNvPr id="4" name="矩形 3">
            <a:extLst>
              <a:ext uri="{FF2B5EF4-FFF2-40B4-BE49-F238E27FC236}">
                <a16:creationId xmlns:a16="http://schemas.microsoft.com/office/drawing/2014/main" id="{EAE394D7-B980-13EA-446D-3B52834CF9E5}"/>
              </a:ext>
            </a:extLst>
          </p:cNvPr>
          <p:cNvSpPr/>
          <p:nvPr/>
        </p:nvSpPr>
        <p:spPr bwMode="auto">
          <a:xfrm>
            <a:off x="6083399" y="2169136"/>
            <a:ext cx="2232248" cy="360164"/>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立即数存储在哪里？</a:t>
            </a:r>
          </a:p>
        </p:txBody>
      </p:sp>
      <p:sp>
        <p:nvSpPr>
          <p:cNvPr id="5" name="AutoShape 5">
            <a:extLst>
              <a:ext uri="{FF2B5EF4-FFF2-40B4-BE49-F238E27FC236}">
                <a16:creationId xmlns:a16="http://schemas.microsoft.com/office/drawing/2014/main" id="{7680D542-641D-0DAC-1A13-7AE47C2465B5}"/>
              </a:ext>
            </a:extLst>
          </p:cNvPr>
          <p:cNvSpPr>
            <a:spLocks noChangeArrowheads="1"/>
          </p:cNvSpPr>
          <p:nvPr/>
        </p:nvSpPr>
        <p:spPr bwMode="auto">
          <a:xfrm>
            <a:off x="1112290" y="3681082"/>
            <a:ext cx="6942138" cy="506412"/>
          </a:xfrm>
          <a:prstGeom prst="flowChartAlternateProcess">
            <a:avLst/>
          </a:prstGeom>
          <a:blipFill dpi="0" rotWithShape="1">
            <a:blip r:embed="rId4"/>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tabLst>
                <a:tab pos="2873375" algn="l"/>
              </a:tabLst>
              <a:defRPr>
                <a:solidFill>
                  <a:schemeClr val="tx1"/>
                </a:solidFill>
                <a:latin typeface="Arial" panose="020B0604020202020204" pitchFamily="34" charset="0"/>
                <a:ea typeface="宋体" panose="02010600030101010101" pitchFamily="2" charset="-122"/>
              </a:defRPr>
            </a:lvl1pPr>
            <a:lvl2pPr>
              <a:tabLst>
                <a:tab pos="2873375" algn="l"/>
              </a:tabLst>
              <a:defRPr>
                <a:solidFill>
                  <a:schemeClr val="tx1"/>
                </a:solidFill>
                <a:latin typeface="Arial" panose="020B0604020202020204" pitchFamily="34" charset="0"/>
                <a:ea typeface="宋体" panose="02010600030101010101" pitchFamily="2" charset="-122"/>
              </a:defRPr>
            </a:lvl2pPr>
            <a:lvl3pPr>
              <a:tabLst>
                <a:tab pos="2873375" algn="l"/>
              </a:tabLst>
              <a:defRPr>
                <a:solidFill>
                  <a:schemeClr val="tx1"/>
                </a:solidFill>
                <a:latin typeface="Arial" panose="020B0604020202020204" pitchFamily="34" charset="0"/>
                <a:ea typeface="宋体" panose="02010600030101010101" pitchFamily="2" charset="-122"/>
              </a:defRPr>
            </a:lvl3pPr>
            <a:lvl4pPr>
              <a:tabLst>
                <a:tab pos="2873375" algn="l"/>
              </a:tabLst>
              <a:defRPr>
                <a:solidFill>
                  <a:schemeClr val="tx1"/>
                </a:solidFill>
                <a:latin typeface="Arial" panose="020B0604020202020204" pitchFamily="34" charset="0"/>
                <a:ea typeface="宋体" panose="02010600030101010101" pitchFamily="2" charset="-122"/>
              </a:defRPr>
            </a:lvl4pPr>
            <a:lvl5pPr>
              <a:tabLst>
                <a:tab pos="2873375"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2873375"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2873375"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2873375"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2873375" algn="l"/>
              </a:tabLst>
              <a:defRPr>
                <a:solidFill>
                  <a:schemeClr val="tx1"/>
                </a:solidFill>
                <a:latin typeface="Arial" panose="020B0604020202020204" pitchFamily="34" charset="0"/>
                <a:ea typeface="宋体" panose="02010600030101010101" pitchFamily="2" charset="-122"/>
              </a:defRPr>
            </a:lvl9pPr>
          </a:lstStyle>
          <a:p>
            <a:pPr algn="just"/>
            <a:r>
              <a:rPr lang="en-US" altLang="zh-CN" sz="3200" b="1" dirty="0">
                <a:solidFill>
                  <a:srgbClr val="3333CC"/>
                </a:solidFill>
                <a:effectLst/>
                <a:ea typeface="幼圆" panose="02010509060101010101" pitchFamily="49" charset="-122"/>
              </a:rPr>
              <a:t>MOV AX, BX	</a:t>
            </a:r>
            <a:r>
              <a:rPr lang="zh-CN" altLang="en-US" sz="3200" b="1" dirty="0">
                <a:solidFill>
                  <a:srgbClr val="3333CC"/>
                </a:solidFill>
                <a:effectLst/>
                <a:ea typeface="幼圆" panose="02010509060101010101" pitchFamily="49" charset="-122"/>
              </a:rPr>
              <a:t>；</a:t>
            </a:r>
            <a:r>
              <a:rPr lang="en-US" altLang="zh-CN" sz="3200" b="1" dirty="0">
                <a:solidFill>
                  <a:srgbClr val="3333CC"/>
                </a:solidFill>
                <a:effectLst/>
                <a:ea typeface="幼圆" panose="02010509060101010101" pitchFamily="49" charset="-122"/>
              </a:rPr>
              <a:t>AX←BX</a:t>
            </a:r>
            <a:endParaRPr lang="en-US" altLang="zh-CN" sz="3200" b="1" dirty="0">
              <a:solidFill>
                <a:srgbClr val="339933"/>
              </a:solidFill>
              <a:effectLst/>
            </a:endParaRPr>
          </a:p>
        </p:txBody>
      </p:sp>
    </p:spTree>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012FB2A-AB40-4870-4C66-861374D17B4A}"/>
              </a:ext>
            </a:extLst>
          </p:cNvPr>
          <p:cNvSpPr>
            <a:spLocks noGrp="1"/>
          </p:cNvSpPr>
          <p:nvPr>
            <p:ph idx="1"/>
          </p:nvPr>
        </p:nvSpPr>
        <p:spPr>
          <a:xfrm>
            <a:off x="143310" y="7045"/>
            <a:ext cx="8432044" cy="5761186"/>
          </a:xfrm>
        </p:spPr>
        <p:txBody>
          <a:bodyPr/>
          <a:lstStyle/>
          <a:p>
            <a:pPr lvl="1">
              <a:buFontTx/>
              <a:buNone/>
            </a:pPr>
            <a:r>
              <a:rPr lang="en-US" altLang="zh-CN" dirty="0"/>
              <a:t>1</a:t>
            </a:r>
            <a:r>
              <a:rPr lang="zh-CN" altLang="en-US" dirty="0"/>
              <a:t>、直接寻址方式</a:t>
            </a:r>
            <a:endParaRPr lang="en-US" altLang="zh-CN" dirty="0"/>
          </a:p>
          <a:p>
            <a:pPr lvl="1">
              <a:buFontTx/>
              <a:buNone/>
            </a:pPr>
            <a:endParaRPr lang="zh-CN" altLang="en-US" dirty="0"/>
          </a:p>
          <a:p>
            <a:pPr lvl="1">
              <a:buFontTx/>
              <a:buNone/>
            </a:pPr>
            <a:r>
              <a:rPr lang="en-US" altLang="zh-CN" dirty="0"/>
              <a:t>2</a:t>
            </a:r>
            <a:r>
              <a:rPr lang="zh-CN" altLang="en-US" dirty="0"/>
              <a:t>、寄存器间接寻址方式</a:t>
            </a:r>
            <a:endParaRPr lang="en-US" altLang="zh-CN" dirty="0"/>
          </a:p>
          <a:p>
            <a:pPr lvl="1">
              <a:buFontTx/>
              <a:buNone/>
            </a:pPr>
            <a:endParaRPr lang="zh-CN" altLang="en-US" dirty="0"/>
          </a:p>
          <a:p>
            <a:pPr lvl="1">
              <a:buFontTx/>
              <a:buNone/>
            </a:pPr>
            <a:r>
              <a:rPr lang="en-US" altLang="zh-CN" dirty="0"/>
              <a:t>3</a:t>
            </a:r>
            <a:r>
              <a:rPr lang="zh-CN" altLang="en-US" dirty="0"/>
              <a:t>、寄存器相对寻址方式</a:t>
            </a:r>
            <a:endParaRPr lang="en-US" altLang="zh-CN" dirty="0"/>
          </a:p>
          <a:p>
            <a:pPr lvl="1">
              <a:buFontTx/>
              <a:buNone/>
            </a:pPr>
            <a:endParaRPr lang="en-US" altLang="zh-CN" dirty="0"/>
          </a:p>
          <a:p>
            <a:pPr lvl="1">
              <a:buFontTx/>
              <a:buNone/>
            </a:pPr>
            <a:endParaRPr lang="zh-CN" altLang="en-US" dirty="0"/>
          </a:p>
          <a:p>
            <a:pPr lvl="1">
              <a:buFontTx/>
              <a:buNone/>
            </a:pPr>
            <a:r>
              <a:rPr lang="en-US" altLang="zh-CN" dirty="0"/>
              <a:t>4</a:t>
            </a:r>
            <a:r>
              <a:rPr lang="zh-CN" altLang="en-US" dirty="0"/>
              <a:t>、基址变址寻址方式</a:t>
            </a:r>
            <a:endParaRPr lang="en-US" altLang="zh-CN" dirty="0"/>
          </a:p>
          <a:p>
            <a:pPr lvl="1">
              <a:buFontTx/>
              <a:buNone/>
            </a:pPr>
            <a:endParaRPr lang="en-US" altLang="zh-CN" dirty="0"/>
          </a:p>
          <a:p>
            <a:pPr lvl="1">
              <a:buFontTx/>
              <a:buNone/>
            </a:pPr>
            <a:endParaRPr lang="zh-CN" altLang="en-US" dirty="0"/>
          </a:p>
          <a:p>
            <a:pPr lvl="1">
              <a:buFontTx/>
              <a:buNone/>
            </a:pPr>
            <a:r>
              <a:rPr lang="en-US" altLang="zh-CN" dirty="0"/>
              <a:t>5</a:t>
            </a:r>
            <a:r>
              <a:rPr lang="zh-CN" altLang="en-US" dirty="0"/>
              <a:t>、相对基址变址寻址方式</a:t>
            </a:r>
          </a:p>
        </p:txBody>
      </p:sp>
      <p:sp>
        <p:nvSpPr>
          <p:cNvPr id="7" name="AutoShape 9">
            <a:extLst>
              <a:ext uri="{FF2B5EF4-FFF2-40B4-BE49-F238E27FC236}">
                <a16:creationId xmlns:a16="http://schemas.microsoft.com/office/drawing/2014/main" id="{F32DD537-57EA-C2F6-8FE4-03E9D7BEE726}"/>
              </a:ext>
            </a:extLst>
          </p:cNvPr>
          <p:cNvSpPr>
            <a:spLocks noChangeArrowheads="1"/>
          </p:cNvSpPr>
          <p:nvPr/>
        </p:nvSpPr>
        <p:spPr bwMode="auto">
          <a:xfrm>
            <a:off x="345754" y="511100"/>
            <a:ext cx="8069262" cy="506413"/>
          </a:xfrm>
          <a:prstGeom prst="flowChartAlternateProcess">
            <a:avLst/>
          </a:prstGeom>
          <a:blipFill dpi="0" rotWithShape="1">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tabLst>
                <a:tab pos="4121150" algn="l"/>
              </a:tabLst>
              <a:defRPr>
                <a:solidFill>
                  <a:schemeClr val="tx1"/>
                </a:solidFill>
                <a:latin typeface="Arial" panose="020B0604020202020204" pitchFamily="34" charset="0"/>
                <a:ea typeface="宋体" panose="02010600030101010101" pitchFamily="2" charset="-122"/>
              </a:defRPr>
            </a:lvl1pPr>
            <a:lvl2pPr>
              <a:tabLst>
                <a:tab pos="4121150" algn="l"/>
              </a:tabLst>
              <a:defRPr>
                <a:solidFill>
                  <a:schemeClr val="tx1"/>
                </a:solidFill>
                <a:latin typeface="Arial" panose="020B0604020202020204" pitchFamily="34" charset="0"/>
                <a:ea typeface="宋体" panose="02010600030101010101" pitchFamily="2" charset="-122"/>
              </a:defRPr>
            </a:lvl2pPr>
            <a:lvl3pPr>
              <a:tabLst>
                <a:tab pos="4121150" algn="l"/>
              </a:tabLst>
              <a:defRPr>
                <a:solidFill>
                  <a:schemeClr val="tx1"/>
                </a:solidFill>
                <a:latin typeface="Arial" panose="020B0604020202020204" pitchFamily="34" charset="0"/>
                <a:ea typeface="宋体" panose="02010600030101010101" pitchFamily="2" charset="-122"/>
              </a:defRPr>
            </a:lvl3pPr>
            <a:lvl4pPr>
              <a:tabLst>
                <a:tab pos="4121150" algn="l"/>
              </a:tabLst>
              <a:defRPr>
                <a:solidFill>
                  <a:schemeClr val="tx1"/>
                </a:solidFill>
                <a:latin typeface="Arial" panose="020B0604020202020204" pitchFamily="34" charset="0"/>
                <a:ea typeface="宋体" panose="02010600030101010101" pitchFamily="2" charset="-122"/>
              </a:defRPr>
            </a:lvl4pPr>
            <a:lvl5pPr>
              <a:tabLst>
                <a:tab pos="4121150"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4121150"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4121150"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4121150"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4121150" algn="l"/>
              </a:tabLst>
              <a:defRPr>
                <a:solidFill>
                  <a:schemeClr val="tx1"/>
                </a:solidFill>
                <a:latin typeface="Arial" panose="020B0604020202020204" pitchFamily="34" charset="0"/>
                <a:ea typeface="宋体" panose="02010600030101010101" pitchFamily="2" charset="-122"/>
              </a:defRPr>
            </a:lvl9pPr>
          </a:lstStyle>
          <a:p>
            <a:pPr algn="just"/>
            <a:r>
              <a:rPr lang="en-US" altLang="zh-CN" sz="3200" b="1" dirty="0">
                <a:solidFill>
                  <a:srgbClr val="3333CC"/>
                </a:solidFill>
                <a:effectLst/>
                <a:ea typeface="幼圆" panose="02010509060101010101" pitchFamily="49" charset="-122"/>
              </a:rPr>
              <a:t>MOV AX, [2000H]	</a:t>
            </a:r>
            <a:r>
              <a:rPr lang="zh-CN" altLang="en-US" sz="3200" b="1" dirty="0">
                <a:solidFill>
                  <a:srgbClr val="3333CC"/>
                </a:solidFill>
                <a:effectLst/>
                <a:ea typeface="幼圆" panose="02010509060101010101" pitchFamily="49" charset="-122"/>
              </a:rPr>
              <a:t>；</a:t>
            </a:r>
            <a:r>
              <a:rPr lang="en-US" altLang="zh-CN" sz="3200" b="1" dirty="0">
                <a:solidFill>
                  <a:srgbClr val="3333CC"/>
                </a:solidFill>
                <a:effectLst/>
                <a:ea typeface="幼圆" panose="02010509060101010101" pitchFamily="49" charset="-122"/>
              </a:rPr>
              <a:t>AX←DS:[2000H]</a:t>
            </a:r>
          </a:p>
        </p:txBody>
      </p:sp>
      <p:sp>
        <p:nvSpPr>
          <p:cNvPr id="8" name="AutoShape 9">
            <a:extLst>
              <a:ext uri="{FF2B5EF4-FFF2-40B4-BE49-F238E27FC236}">
                <a16:creationId xmlns:a16="http://schemas.microsoft.com/office/drawing/2014/main" id="{7F84EDCB-C894-90CE-C784-704ABD94BEAB}"/>
              </a:ext>
            </a:extLst>
          </p:cNvPr>
          <p:cNvSpPr>
            <a:spLocks noChangeArrowheads="1"/>
          </p:cNvSpPr>
          <p:nvPr/>
        </p:nvSpPr>
        <p:spPr bwMode="auto">
          <a:xfrm>
            <a:off x="323528" y="1493681"/>
            <a:ext cx="8069262" cy="506413"/>
          </a:xfrm>
          <a:prstGeom prst="flowChartAlternateProcess">
            <a:avLst/>
          </a:prstGeom>
          <a:blipFill dpi="0" rotWithShape="1">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tabLst>
                <a:tab pos="3225800" algn="l"/>
              </a:tabLst>
              <a:defRPr>
                <a:solidFill>
                  <a:schemeClr val="tx1"/>
                </a:solidFill>
                <a:latin typeface="Arial" panose="020B0604020202020204" pitchFamily="34" charset="0"/>
                <a:ea typeface="宋体" panose="02010600030101010101" pitchFamily="2" charset="-122"/>
              </a:defRPr>
            </a:lvl1pPr>
            <a:lvl2pPr>
              <a:tabLst>
                <a:tab pos="3225800" algn="l"/>
              </a:tabLst>
              <a:defRPr>
                <a:solidFill>
                  <a:schemeClr val="tx1"/>
                </a:solidFill>
                <a:latin typeface="Arial" panose="020B0604020202020204" pitchFamily="34" charset="0"/>
                <a:ea typeface="宋体" panose="02010600030101010101" pitchFamily="2" charset="-122"/>
              </a:defRPr>
            </a:lvl2pPr>
            <a:lvl3pPr>
              <a:tabLst>
                <a:tab pos="3225800" algn="l"/>
              </a:tabLst>
              <a:defRPr>
                <a:solidFill>
                  <a:schemeClr val="tx1"/>
                </a:solidFill>
                <a:latin typeface="Arial" panose="020B0604020202020204" pitchFamily="34" charset="0"/>
                <a:ea typeface="宋体" panose="02010600030101010101" pitchFamily="2" charset="-122"/>
              </a:defRPr>
            </a:lvl3pPr>
            <a:lvl4pPr>
              <a:tabLst>
                <a:tab pos="3225800" algn="l"/>
              </a:tabLst>
              <a:defRPr>
                <a:solidFill>
                  <a:schemeClr val="tx1"/>
                </a:solidFill>
                <a:latin typeface="Arial" panose="020B0604020202020204" pitchFamily="34" charset="0"/>
                <a:ea typeface="宋体" panose="02010600030101010101" pitchFamily="2" charset="-122"/>
              </a:defRPr>
            </a:lvl4pPr>
            <a:lvl5pPr>
              <a:tabLst>
                <a:tab pos="3225800"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3225800"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3225800"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3225800"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3225800" algn="l"/>
              </a:tabLst>
              <a:defRPr>
                <a:solidFill>
                  <a:schemeClr val="tx1"/>
                </a:solidFill>
                <a:latin typeface="Arial" panose="020B0604020202020204" pitchFamily="34" charset="0"/>
                <a:ea typeface="宋体" panose="02010600030101010101" pitchFamily="2" charset="-122"/>
              </a:defRPr>
            </a:lvl9pPr>
          </a:lstStyle>
          <a:p>
            <a:pPr algn="just"/>
            <a:r>
              <a:rPr lang="en-US" altLang="zh-CN" sz="3200" b="1" dirty="0">
                <a:solidFill>
                  <a:srgbClr val="3333CC"/>
                </a:solidFill>
                <a:effectLst/>
                <a:ea typeface="幼圆" panose="02010509060101010101" pitchFamily="49" charset="-122"/>
              </a:rPr>
              <a:t>MOV AX, [BX]	</a:t>
            </a:r>
            <a:r>
              <a:rPr lang="zh-CN" altLang="en-US" sz="3200" b="1" dirty="0">
                <a:solidFill>
                  <a:srgbClr val="3333CC"/>
                </a:solidFill>
                <a:effectLst/>
                <a:ea typeface="幼圆" panose="02010509060101010101" pitchFamily="49" charset="-122"/>
              </a:rPr>
              <a:t>；</a:t>
            </a:r>
            <a:r>
              <a:rPr lang="en-US" altLang="zh-CN" sz="3200" b="1" dirty="0">
                <a:solidFill>
                  <a:srgbClr val="3333CC"/>
                </a:solidFill>
                <a:effectLst/>
                <a:ea typeface="幼圆" panose="02010509060101010101" pitchFamily="49" charset="-122"/>
              </a:rPr>
              <a:t>AX←DS:[BX]</a:t>
            </a:r>
          </a:p>
        </p:txBody>
      </p:sp>
      <p:sp>
        <p:nvSpPr>
          <p:cNvPr id="10" name="文本框 9">
            <a:extLst>
              <a:ext uri="{FF2B5EF4-FFF2-40B4-BE49-F238E27FC236}">
                <a16:creationId xmlns:a16="http://schemas.microsoft.com/office/drawing/2014/main" id="{9E56E88D-664C-6D40-8FD2-15F912476EAE}"/>
              </a:ext>
            </a:extLst>
          </p:cNvPr>
          <p:cNvSpPr txBox="1"/>
          <p:nvPr/>
        </p:nvSpPr>
        <p:spPr>
          <a:xfrm>
            <a:off x="5580111" y="1040996"/>
            <a:ext cx="3420579" cy="646331"/>
          </a:xfrm>
          <a:prstGeom prst="rect">
            <a:avLst/>
          </a:prstGeom>
          <a:noFill/>
        </p:spPr>
        <p:txBody>
          <a:bodyPr wrap="square">
            <a:spAutoFit/>
          </a:bodyPr>
          <a:lstStyle/>
          <a:p>
            <a:r>
              <a:rPr lang="zh-CN" altLang="en-US" dirty="0">
                <a:effectLst/>
              </a:rPr>
              <a:t>有效地址存放在基址寄存器</a:t>
            </a:r>
            <a:r>
              <a:rPr lang="en-US" altLang="zh-CN" dirty="0">
                <a:effectLst/>
              </a:rPr>
              <a:t>BX</a:t>
            </a:r>
            <a:r>
              <a:rPr lang="zh-CN" altLang="en-US" dirty="0">
                <a:effectLst/>
              </a:rPr>
              <a:t>或变址寄存器</a:t>
            </a:r>
            <a:r>
              <a:rPr lang="en-US" altLang="zh-CN" dirty="0">
                <a:effectLst/>
              </a:rPr>
              <a:t>SI</a:t>
            </a:r>
            <a:r>
              <a:rPr lang="zh-CN" altLang="en-US" dirty="0">
                <a:effectLst/>
              </a:rPr>
              <a:t>、</a:t>
            </a:r>
            <a:r>
              <a:rPr lang="en-US" altLang="zh-CN" dirty="0">
                <a:effectLst/>
              </a:rPr>
              <a:t>DI</a:t>
            </a:r>
            <a:r>
              <a:rPr lang="zh-CN" altLang="en-US" dirty="0">
                <a:effectLst/>
              </a:rPr>
              <a:t>中</a:t>
            </a:r>
          </a:p>
        </p:txBody>
      </p:sp>
      <p:sp>
        <p:nvSpPr>
          <p:cNvPr id="12" name="文本框 11">
            <a:extLst>
              <a:ext uri="{FF2B5EF4-FFF2-40B4-BE49-F238E27FC236}">
                <a16:creationId xmlns:a16="http://schemas.microsoft.com/office/drawing/2014/main" id="{42C9ED3F-51DA-1122-37E7-99DE334F6479}"/>
              </a:ext>
            </a:extLst>
          </p:cNvPr>
          <p:cNvSpPr txBox="1"/>
          <p:nvPr/>
        </p:nvSpPr>
        <p:spPr>
          <a:xfrm>
            <a:off x="5745585" y="171944"/>
            <a:ext cx="3150096" cy="369332"/>
          </a:xfrm>
          <a:prstGeom prst="rect">
            <a:avLst/>
          </a:prstGeom>
          <a:noFill/>
        </p:spPr>
        <p:txBody>
          <a:bodyPr wrap="square">
            <a:spAutoFit/>
          </a:bodyPr>
          <a:lstStyle/>
          <a:p>
            <a:r>
              <a:rPr lang="zh-CN" altLang="en-US" sz="1800">
                <a:solidFill>
                  <a:srgbClr val="339933"/>
                </a:solidFill>
                <a:effectLst/>
              </a:rPr>
              <a:t>默认的</a:t>
            </a:r>
            <a:r>
              <a:rPr lang="zh-CN" altLang="en-US" sz="1800">
                <a:effectLst/>
              </a:rPr>
              <a:t>段地址在</a:t>
            </a:r>
            <a:r>
              <a:rPr lang="en-US" altLang="zh-CN" sz="1800">
                <a:effectLst/>
              </a:rPr>
              <a:t>DS</a:t>
            </a:r>
            <a:r>
              <a:rPr lang="zh-CN" altLang="en-US" sz="1800">
                <a:effectLst/>
              </a:rPr>
              <a:t>段寄存器</a:t>
            </a:r>
            <a:endParaRPr lang="zh-CN" altLang="en-US" dirty="0">
              <a:effectLst/>
            </a:endParaRPr>
          </a:p>
        </p:txBody>
      </p:sp>
      <p:sp>
        <p:nvSpPr>
          <p:cNvPr id="13" name="AutoShape 5">
            <a:extLst>
              <a:ext uri="{FF2B5EF4-FFF2-40B4-BE49-F238E27FC236}">
                <a16:creationId xmlns:a16="http://schemas.microsoft.com/office/drawing/2014/main" id="{287CA7F9-00EB-BCFB-1190-325B5F9E4739}"/>
              </a:ext>
            </a:extLst>
          </p:cNvPr>
          <p:cNvSpPr>
            <a:spLocks noChangeArrowheads="1"/>
          </p:cNvSpPr>
          <p:nvPr/>
        </p:nvSpPr>
        <p:spPr bwMode="auto">
          <a:xfrm>
            <a:off x="345754" y="2540156"/>
            <a:ext cx="8069262" cy="506413"/>
          </a:xfrm>
          <a:prstGeom prst="flowChartAlternateProcess">
            <a:avLst/>
          </a:prstGeom>
          <a:blipFill dpi="0" rotWithShape="1">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tabLst>
                <a:tab pos="4121150" algn="l"/>
              </a:tabLst>
              <a:defRPr>
                <a:solidFill>
                  <a:schemeClr val="tx1"/>
                </a:solidFill>
                <a:latin typeface="Arial" panose="020B0604020202020204" pitchFamily="34" charset="0"/>
                <a:ea typeface="宋体" panose="02010600030101010101" pitchFamily="2" charset="-122"/>
              </a:defRPr>
            </a:lvl1pPr>
            <a:lvl2pPr>
              <a:tabLst>
                <a:tab pos="4121150" algn="l"/>
              </a:tabLst>
              <a:defRPr>
                <a:solidFill>
                  <a:schemeClr val="tx1"/>
                </a:solidFill>
                <a:latin typeface="Arial" panose="020B0604020202020204" pitchFamily="34" charset="0"/>
                <a:ea typeface="宋体" panose="02010600030101010101" pitchFamily="2" charset="-122"/>
              </a:defRPr>
            </a:lvl2pPr>
            <a:lvl3pPr>
              <a:tabLst>
                <a:tab pos="4121150" algn="l"/>
              </a:tabLst>
              <a:defRPr>
                <a:solidFill>
                  <a:schemeClr val="tx1"/>
                </a:solidFill>
                <a:latin typeface="Arial" panose="020B0604020202020204" pitchFamily="34" charset="0"/>
                <a:ea typeface="宋体" panose="02010600030101010101" pitchFamily="2" charset="-122"/>
              </a:defRPr>
            </a:lvl3pPr>
            <a:lvl4pPr>
              <a:tabLst>
                <a:tab pos="4121150" algn="l"/>
              </a:tabLst>
              <a:defRPr>
                <a:solidFill>
                  <a:schemeClr val="tx1"/>
                </a:solidFill>
                <a:latin typeface="Arial" panose="020B0604020202020204" pitchFamily="34" charset="0"/>
                <a:ea typeface="宋体" panose="02010600030101010101" pitchFamily="2" charset="-122"/>
              </a:defRPr>
            </a:lvl4pPr>
            <a:lvl5pPr>
              <a:tabLst>
                <a:tab pos="4121150"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4121150"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4121150"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4121150"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4121150" algn="l"/>
              </a:tabLst>
              <a:defRPr>
                <a:solidFill>
                  <a:schemeClr val="tx1"/>
                </a:solidFill>
                <a:latin typeface="Arial" panose="020B0604020202020204" pitchFamily="34" charset="0"/>
                <a:ea typeface="宋体" panose="02010600030101010101" pitchFamily="2" charset="-122"/>
              </a:defRPr>
            </a:lvl9pPr>
          </a:lstStyle>
          <a:p>
            <a:pPr algn="just"/>
            <a:r>
              <a:rPr lang="en-US" altLang="zh-CN" sz="3200" b="1">
                <a:solidFill>
                  <a:srgbClr val="3333CC"/>
                </a:solidFill>
                <a:effectLst/>
                <a:ea typeface="幼圆" panose="02010509060101010101" pitchFamily="49" charset="-122"/>
              </a:rPr>
              <a:t>MOV AX, [SI+06H]	</a:t>
            </a:r>
            <a:r>
              <a:rPr lang="zh-CN" altLang="en-US" sz="3200" b="1">
                <a:solidFill>
                  <a:srgbClr val="3333CC"/>
                </a:solidFill>
                <a:effectLst/>
                <a:ea typeface="幼圆" panose="02010509060101010101" pitchFamily="49" charset="-122"/>
              </a:rPr>
              <a:t>；</a:t>
            </a:r>
            <a:r>
              <a:rPr lang="en-US" altLang="zh-CN" sz="3200" b="1">
                <a:solidFill>
                  <a:srgbClr val="3333CC"/>
                </a:solidFill>
                <a:effectLst/>
                <a:ea typeface="幼圆" panose="02010509060101010101" pitchFamily="49" charset="-122"/>
              </a:rPr>
              <a:t>AX←DS:[SI+06H]</a:t>
            </a:r>
          </a:p>
        </p:txBody>
      </p:sp>
      <p:sp>
        <p:nvSpPr>
          <p:cNvPr id="14" name="AutoShape 6">
            <a:extLst>
              <a:ext uri="{FF2B5EF4-FFF2-40B4-BE49-F238E27FC236}">
                <a16:creationId xmlns:a16="http://schemas.microsoft.com/office/drawing/2014/main" id="{D70EB1D5-7275-E278-D65E-9A9BC9E68753}"/>
              </a:ext>
            </a:extLst>
          </p:cNvPr>
          <p:cNvSpPr>
            <a:spLocks noChangeArrowheads="1"/>
          </p:cNvSpPr>
          <p:nvPr/>
        </p:nvSpPr>
        <p:spPr bwMode="auto">
          <a:xfrm>
            <a:off x="345754" y="3102234"/>
            <a:ext cx="8069262" cy="506413"/>
          </a:xfrm>
          <a:prstGeom prst="flowChartAlternateProcess">
            <a:avLst/>
          </a:prstGeom>
          <a:blipFill dpi="0" rotWithShape="1">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tabLst>
                <a:tab pos="4121150" algn="l"/>
              </a:tabLst>
              <a:defRPr>
                <a:solidFill>
                  <a:schemeClr val="tx1"/>
                </a:solidFill>
                <a:latin typeface="Arial" panose="020B0604020202020204" pitchFamily="34" charset="0"/>
                <a:ea typeface="宋体" panose="02010600030101010101" pitchFamily="2" charset="-122"/>
              </a:defRPr>
            </a:lvl1pPr>
            <a:lvl2pPr>
              <a:tabLst>
                <a:tab pos="4121150" algn="l"/>
              </a:tabLst>
              <a:defRPr>
                <a:solidFill>
                  <a:schemeClr val="tx1"/>
                </a:solidFill>
                <a:latin typeface="Arial" panose="020B0604020202020204" pitchFamily="34" charset="0"/>
                <a:ea typeface="宋体" panose="02010600030101010101" pitchFamily="2" charset="-122"/>
              </a:defRPr>
            </a:lvl2pPr>
            <a:lvl3pPr>
              <a:tabLst>
                <a:tab pos="4121150" algn="l"/>
              </a:tabLst>
              <a:defRPr>
                <a:solidFill>
                  <a:schemeClr val="tx1"/>
                </a:solidFill>
                <a:latin typeface="Arial" panose="020B0604020202020204" pitchFamily="34" charset="0"/>
                <a:ea typeface="宋体" panose="02010600030101010101" pitchFamily="2" charset="-122"/>
              </a:defRPr>
            </a:lvl3pPr>
            <a:lvl4pPr>
              <a:tabLst>
                <a:tab pos="4121150" algn="l"/>
              </a:tabLst>
              <a:defRPr>
                <a:solidFill>
                  <a:schemeClr val="tx1"/>
                </a:solidFill>
                <a:latin typeface="Arial" panose="020B0604020202020204" pitchFamily="34" charset="0"/>
                <a:ea typeface="宋体" panose="02010600030101010101" pitchFamily="2" charset="-122"/>
              </a:defRPr>
            </a:lvl4pPr>
            <a:lvl5pPr>
              <a:tabLst>
                <a:tab pos="4121150"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4121150"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4121150"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4121150"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4121150" algn="l"/>
              </a:tabLst>
              <a:defRPr>
                <a:solidFill>
                  <a:schemeClr val="tx1"/>
                </a:solidFill>
                <a:latin typeface="Arial" panose="020B0604020202020204" pitchFamily="34" charset="0"/>
                <a:ea typeface="宋体" panose="02010600030101010101" pitchFamily="2" charset="-122"/>
              </a:defRPr>
            </a:lvl9pPr>
          </a:lstStyle>
          <a:p>
            <a:pPr algn="just"/>
            <a:r>
              <a:rPr lang="en-US" altLang="zh-CN" sz="3200" b="1">
                <a:solidFill>
                  <a:srgbClr val="3333CC"/>
                </a:solidFill>
                <a:effectLst/>
                <a:ea typeface="幼圆" panose="02010509060101010101" pitchFamily="49" charset="-122"/>
              </a:rPr>
              <a:t>MOV AX, 06H[SI]	</a:t>
            </a:r>
            <a:r>
              <a:rPr lang="zh-CN" altLang="en-US" sz="3200" b="1">
                <a:solidFill>
                  <a:srgbClr val="3333CC"/>
                </a:solidFill>
                <a:effectLst/>
                <a:ea typeface="幼圆" panose="02010509060101010101" pitchFamily="49" charset="-122"/>
              </a:rPr>
              <a:t>；</a:t>
            </a:r>
            <a:r>
              <a:rPr lang="en-US" altLang="zh-CN" sz="3200" b="1">
                <a:solidFill>
                  <a:srgbClr val="3333CC"/>
                </a:solidFill>
                <a:effectLst/>
                <a:ea typeface="幼圆" panose="02010509060101010101" pitchFamily="49" charset="-122"/>
              </a:rPr>
              <a:t>AX←DS:[SI+06H]</a:t>
            </a:r>
          </a:p>
        </p:txBody>
      </p:sp>
      <p:sp>
        <p:nvSpPr>
          <p:cNvPr id="15" name="AutoShape 5">
            <a:extLst>
              <a:ext uri="{FF2B5EF4-FFF2-40B4-BE49-F238E27FC236}">
                <a16:creationId xmlns:a16="http://schemas.microsoft.com/office/drawing/2014/main" id="{7C2B67C3-46A9-0AD2-B589-C19B80C53900}"/>
              </a:ext>
            </a:extLst>
          </p:cNvPr>
          <p:cNvSpPr>
            <a:spLocks noChangeArrowheads="1"/>
          </p:cNvSpPr>
          <p:nvPr/>
        </p:nvSpPr>
        <p:spPr bwMode="auto">
          <a:xfrm>
            <a:off x="345754" y="4038493"/>
            <a:ext cx="8069262" cy="506413"/>
          </a:xfrm>
          <a:prstGeom prst="flowChartAlternateProcess">
            <a:avLst/>
          </a:prstGeom>
          <a:blipFill dpi="0" rotWithShape="1">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tabLst>
                <a:tab pos="4121150" algn="l"/>
              </a:tabLst>
              <a:defRPr>
                <a:solidFill>
                  <a:schemeClr val="tx1"/>
                </a:solidFill>
                <a:latin typeface="Arial" panose="020B0604020202020204" pitchFamily="34" charset="0"/>
                <a:ea typeface="宋体" panose="02010600030101010101" pitchFamily="2" charset="-122"/>
              </a:defRPr>
            </a:lvl1pPr>
            <a:lvl2pPr>
              <a:tabLst>
                <a:tab pos="4121150" algn="l"/>
              </a:tabLst>
              <a:defRPr>
                <a:solidFill>
                  <a:schemeClr val="tx1"/>
                </a:solidFill>
                <a:latin typeface="Arial" panose="020B0604020202020204" pitchFamily="34" charset="0"/>
                <a:ea typeface="宋体" panose="02010600030101010101" pitchFamily="2" charset="-122"/>
              </a:defRPr>
            </a:lvl2pPr>
            <a:lvl3pPr>
              <a:tabLst>
                <a:tab pos="4121150" algn="l"/>
              </a:tabLst>
              <a:defRPr>
                <a:solidFill>
                  <a:schemeClr val="tx1"/>
                </a:solidFill>
                <a:latin typeface="Arial" panose="020B0604020202020204" pitchFamily="34" charset="0"/>
                <a:ea typeface="宋体" panose="02010600030101010101" pitchFamily="2" charset="-122"/>
              </a:defRPr>
            </a:lvl3pPr>
            <a:lvl4pPr>
              <a:tabLst>
                <a:tab pos="4121150" algn="l"/>
              </a:tabLst>
              <a:defRPr>
                <a:solidFill>
                  <a:schemeClr val="tx1"/>
                </a:solidFill>
                <a:latin typeface="Arial" panose="020B0604020202020204" pitchFamily="34" charset="0"/>
                <a:ea typeface="宋体" panose="02010600030101010101" pitchFamily="2" charset="-122"/>
              </a:defRPr>
            </a:lvl4pPr>
            <a:lvl5pPr>
              <a:tabLst>
                <a:tab pos="4121150"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4121150"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4121150"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4121150"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4121150" algn="l"/>
              </a:tabLst>
              <a:defRPr>
                <a:solidFill>
                  <a:schemeClr val="tx1"/>
                </a:solidFill>
                <a:latin typeface="Arial" panose="020B0604020202020204" pitchFamily="34" charset="0"/>
                <a:ea typeface="宋体" panose="02010600030101010101" pitchFamily="2" charset="-122"/>
              </a:defRPr>
            </a:lvl9pPr>
          </a:lstStyle>
          <a:p>
            <a:pPr algn="just"/>
            <a:r>
              <a:rPr lang="en-US" altLang="zh-CN" sz="3200" b="1">
                <a:solidFill>
                  <a:srgbClr val="3333CC"/>
                </a:solidFill>
                <a:effectLst/>
                <a:ea typeface="幼圆" panose="02010509060101010101" pitchFamily="49" charset="-122"/>
              </a:rPr>
              <a:t>MOV AX, [BX+SI]	</a:t>
            </a:r>
            <a:r>
              <a:rPr lang="zh-CN" altLang="en-US" sz="3200" b="1">
                <a:solidFill>
                  <a:srgbClr val="3333CC"/>
                </a:solidFill>
                <a:effectLst/>
                <a:ea typeface="幼圆" panose="02010509060101010101" pitchFamily="49" charset="-122"/>
              </a:rPr>
              <a:t>；</a:t>
            </a:r>
            <a:r>
              <a:rPr lang="en-US" altLang="zh-CN" sz="3200" b="1">
                <a:solidFill>
                  <a:srgbClr val="3333CC"/>
                </a:solidFill>
                <a:effectLst/>
                <a:ea typeface="幼圆" panose="02010509060101010101" pitchFamily="49" charset="-122"/>
              </a:rPr>
              <a:t>AX←DS:[BX+SI]</a:t>
            </a:r>
          </a:p>
        </p:txBody>
      </p:sp>
      <p:sp>
        <p:nvSpPr>
          <p:cNvPr id="16" name="AutoShape 8">
            <a:extLst>
              <a:ext uri="{FF2B5EF4-FFF2-40B4-BE49-F238E27FC236}">
                <a16:creationId xmlns:a16="http://schemas.microsoft.com/office/drawing/2014/main" id="{0D71FA59-DFCB-8C1C-DD5E-BC773150A1DA}"/>
              </a:ext>
            </a:extLst>
          </p:cNvPr>
          <p:cNvSpPr>
            <a:spLocks noChangeArrowheads="1"/>
          </p:cNvSpPr>
          <p:nvPr/>
        </p:nvSpPr>
        <p:spPr bwMode="auto">
          <a:xfrm>
            <a:off x="345754" y="4650155"/>
            <a:ext cx="8069262" cy="506413"/>
          </a:xfrm>
          <a:prstGeom prst="flowChartAlternateProcess">
            <a:avLst/>
          </a:prstGeom>
          <a:blipFill dpi="0" rotWithShape="1">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tabLst>
                <a:tab pos="4121150" algn="l"/>
              </a:tabLst>
              <a:defRPr>
                <a:solidFill>
                  <a:schemeClr val="tx1"/>
                </a:solidFill>
                <a:latin typeface="Arial" panose="020B0604020202020204" pitchFamily="34" charset="0"/>
                <a:ea typeface="宋体" panose="02010600030101010101" pitchFamily="2" charset="-122"/>
              </a:defRPr>
            </a:lvl1pPr>
            <a:lvl2pPr>
              <a:tabLst>
                <a:tab pos="4121150" algn="l"/>
              </a:tabLst>
              <a:defRPr>
                <a:solidFill>
                  <a:schemeClr val="tx1"/>
                </a:solidFill>
                <a:latin typeface="Arial" panose="020B0604020202020204" pitchFamily="34" charset="0"/>
                <a:ea typeface="宋体" panose="02010600030101010101" pitchFamily="2" charset="-122"/>
              </a:defRPr>
            </a:lvl2pPr>
            <a:lvl3pPr>
              <a:tabLst>
                <a:tab pos="4121150" algn="l"/>
              </a:tabLst>
              <a:defRPr>
                <a:solidFill>
                  <a:schemeClr val="tx1"/>
                </a:solidFill>
                <a:latin typeface="Arial" panose="020B0604020202020204" pitchFamily="34" charset="0"/>
                <a:ea typeface="宋体" panose="02010600030101010101" pitchFamily="2" charset="-122"/>
              </a:defRPr>
            </a:lvl3pPr>
            <a:lvl4pPr>
              <a:tabLst>
                <a:tab pos="4121150" algn="l"/>
              </a:tabLst>
              <a:defRPr>
                <a:solidFill>
                  <a:schemeClr val="tx1"/>
                </a:solidFill>
                <a:latin typeface="Arial" panose="020B0604020202020204" pitchFamily="34" charset="0"/>
                <a:ea typeface="宋体" panose="02010600030101010101" pitchFamily="2" charset="-122"/>
              </a:defRPr>
            </a:lvl4pPr>
            <a:lvl5pPr>
              <a:tabLst>
                <a:tab pos="4121150"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4121150"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4121150"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4121150"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4121150" algn="l"/>
              </a:tabLst>
              <a:defRPr>
                <a:solidFill>
                  <a:schemeClr val="tx1"/>
                </a:solidFill>
                <a:latin typeface="Arial" panose="020B0604020202020204" pitchFamily="34" charset="0"/>
                <a:ea typeface="宋体" panose="02010600030101010101" pitchFamily="2" charset="-122"/>
              </a:defRPr>
            </a:lvl9pPr>
          </a:lstStyle>
          <a:p>
            <a:pPr algn="just"/>
            <a:r>
              <a:rPr lang="en-US" altLang="zh-CN" sz="3200" b="1">
                <a:solidFill>
                  <a:srgbClr val="3333CC"/>
                </a:solidFill>
                <a:effectLst/>
                <a:ea typeface="幼圆" panose="02010509060101010101" pitchFamily="49" charset="-122"/>
              </a:rPr>
              <a:t>MOV AX, [BX][SI]	</a:t>
            </a:r>
            <a:r>
              <a:rPr lang="zh-CN" altLang="en-US" sz="3200" b="1">
                <a:solidFill>
                  <a:srgbClr val="3333CC"/>
                </a:solidFill>
                <a:effectLst/>
                <a:ea typeface="幼圆" panose="02010509060101010101" pitchFamily="49" charset="-122"/>
              </a:rPr>
              <a:t>；</a:t>
            </a:r>
            <a:r>
              <a:rPr lang="en-US" altLang="zh-CN" sz="3200" b="1">
                <a:solidFill>
                  <a:srgbClr val="3333CC"/>
                </a:solidFill>
                <a:effectLst/>
                <a:ea typeface="幼圆" panose="02010509060101010101" pitchFamily="49" charset="-122"/>
              </a:rPr>
              <a:t>AX←DS:[BX+SI]</a:t>
            </a:r>
            <a:endParaRPr lang="en-US" altLang="zh-CN" sz="3200" b="1" dirty="0">
              <a:solidFill>
                <a:srgbClr val="3333CC"/>
              </a:solidFill>
              <a:effectLst/>
              <a:ea typeface="幼圆" panose="02010509060101010101" pitchFamily="49" charset="-122"/>
            </a:endParaRPr>
          </a:p>
        </p:txBody>
      </p:sp>
      <p:sp>
        <p:nvSpPr>
          <p:cNvPr id="18" name="文本框 17">
            <a:extLst>
              <a:ext uri="{FF2B5EF4-FFF2-40B4-BE49-F238E27FC236}">
                <a16:creationId xmlns:a16="http://schemas.microsoft.com/office/drawing/2014/main" id="{98B8DEA5-B849-BECC-82D7-ED64C1CA22A3}"/>
              </a:ext>
            </a:extLst>
          </p:cNvPr>
          <p:cNvSpPr txBox="1"/>
          <p:nvPr/>
        </p:nvSpPr>
        <p:spPr>
          <a:xfrm>
            <a:off x="4233417" y="2187047"/>
            <a:ext cx="4878288" cy="369332"/>
          </a:xfrm>
          <a:prstGeom prst="rect">
            <a:avLst/>
          </a:prstGeom>
          <a:noFill/>
        </p:spPr>
        <p:txBody>
          <a:bodyPr wrap="square">
            <a:spAutoFit/>
          </a:bodyPr>
          <a:lstStyle/>
          <a:p>
            <a:pPr lvl="1">
              <a:buFontTx/>
              <a:buNone/>
            </a:pPr>
            <a:r>
              <a:rPr lang="zh-CN" altLang="en-US" dirty="0">
                <a:effectLst/>
                <a:latin typeface="华文细黑" panose="02010600040101010101" pitchFamily="2" charset="-122"/>
                <a:ea typeface="华文细黑" panose="02010600040101010101" pitchFamily="2" charset="-122"/>
              </a:rPr>
              <a:t>有效地址＝</a:t>
            </a:r>
            <a:r>
              <a:rPr lang="en-US" altLang="zh-CN" dirty="0">
                <a:effectLst/>
                <a:latin typeface="华文细黑" panose="02010600040101010101" pitchFamily="2" charset="-122"/>
                <a:ea typeface="华文细黑" panose="02010600040101010101" pitchFamily="2" charset="-122"/>
              </a:rPr>
              <a:t>BX/BP/SI/DI</a:t>
            </a:r>
            <a:r>
              <a:rPr lang="zh-CN" altLang="en-US" dirty="0">
                <a:effectLst/>
                <a:latin typeface="华文细黑" panose="02010600040101010101" pitchFamily="2" charset="-122"/>
                <a:ea typeface="华文细黑" panose="02010600040101010101" pitchFamily="2" charset="-122"/>
              </a:rPr>
              <a:t>＋</a:t>
            </a:r>
            <a:r>
              <a:rPr lang="en-US" altLang="zh-CN" dirty="0">
                <a:effectLst/>
                <a:latin typeface="华文细黑" panose="02010600040101010101" pitchFamily="2" charset="-122"/>
                <a:ea typeface="华文细黑" panose="02010600040101010101" pitchFamily="2" charset="-122"/>
              </a:rPr>
              <a:t>8/16</a:t>
            </a:r>
            <a:r>
              <a:rPr lang="zh-CN" altLang="en-US" dirty="0">
                <a:effectLst/>
                <a:latin typeface="华文细黑" panose="02010600040101010101" pitchFamily="2" charset="-122"/>
                <a:ea typeface="华文细黑" panose="02010600040101010101" pitchFamily="2" charset="-122"/>
              </a:rPr>
              <a:t>位位移量</a:t>
            </a:r>
          </a:p>
        </p:txBody>
      </p:sp>
      <p:sp>
        <p:nvSpPr>
          <p:cNvPr id="20" name="文本框 19">
            <a:extLst>
              <a:ext uri="{FF2B5EF4-FFF2-40B4-BE49-F238E27FC236}">
                <a16:creationId xmlns:a16="http://schemas.microsoft.com/office/drawing/2014/main" id="{11C375FB-CB76-D71C-9202-40C90F6BB854}"/>
              </a:ext>
            </a:extLst>
          </p:cNvPr>
          <p:cNvSpPr txBox="1"/>
          <p:nvPr/>
        </p:nvSpPr>
        <p:spPr>
          <a:xfrm>
            <a:off x="4233417" y="3705201"/>
            <a:ext cx="4369764" cy="369332"/>
          </a:xfrm>
          <a:prstGeom prst="rect">
            <a:avLst/>
          </a:prstGeom>
          <a:noFill/>
        </p:spPr>
        <p:txBody>
          <a:bodyPr wrap="square">
            <a:spAutoFit/>
          </a:bodyPr>
          <a:lstStyle/>
          <a:p>
            <a:pPr lvl="1">
              <a:buFontTx/>
              <a:buNone/>
            </a:pPr>
            <a:r>
              <a:rPr lang="zh-CN" altLang="en-US" dirty="0">
                <a:effectLst/>
              </a:rPr>
              <a:t>有效地址＝</a:t>
            </a:r>
            <a:r>
              <a:rPr lang="en-US" altLang="zh-CN" dirty="0">
                <a:effectLst/>
              </a:rPr>
              <a:t>BX/BP</a:t>
            </a:r>
            <a:r>
              <a:rPr lang="zh-CN" altLang="en-US" dirty="0">
                <a:effectLst/>
              </a:rPr>
              <a:t>＋</a:t>
            </a:r>
            <a:r>
              <a:rPr lang="en-US" altLang="zh-CN" dirty="0">
                <a:effectLst/>
              </a:rPr>
              <a:t>SI/DI</a:t>
            </a:r>
          </a:p>
        </p:txBody>
      </p:sp>
      <p:sp>
        <p:nvSpPr>
          <p:cNvPr id="21" name="AutoShape 5">
            <a:extLst>
              <a:ext uri="{FF2B5EF4-FFF2-40B4-BE49-F238E27FC236}">
                <a16:creationId xmlns:a16="http://schemas.microsoft.com/office/drawing/2014/main" id="{42FBAF65-6292-B94D-F5D1-9D5428803288}"/>
              </a:ext>
            </a:extLst>
          </p:cNvPr>
          <p:cNvSpPr>
            <a:spLocks noChangeArrowheads="1"/>
          </p:cNvSpPr>
          <p:nvPr/>
        </p:nvSpPr>
        <p:spPr bwMode="auto">
          <a:xfrm>
            <a:off x="345754" y="5610964"/>
            <a:ext cx="8275637" cy="493713"/>
          </a:xfrm>
          <a:prstGeom prst="flowChartAlternateProcess">
            <a:avLst/>
          </a:prstGeom>
          <a:blipFill dpi="0" rotWithShape="1">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tabLst>
                <a:tab pos="4121150" algn="l"/>
              </a:tabLst>
              <a:defRPr>
                <a:solidFill>
                  <a:schemeClr val="tx1"/>
                </a:solidFill>
                <a:latin typeface="Arial" panose="020B0604020202020204" pitchFamily="34" charset="0"/>
                <a:ea typeface="宋体" panose="02010600030101010101" pitchFamily="2" charset="-122"/>
              </a:defRPr>
            </a:lvl1pPr>
            <a:lvl2pPr>
              <a:tabLst>
                <a:tab pos="4121150" algn="l"/>
              </a:tabLst>
              <a:defRPr>
                <a:solidFill>
                  <a:schemeClr val="tx1"/>
                </a:solidFill>
                <a:latin typeface="Arial" panose="020B0604020202020204" pitchFamily="34" charset="0"/>
                <a:ea typeface="宋体" panose="02010600030101010101" pitchFamily="2" charset="-122"/>
              </a:defRPr>
            </a:lvl2pPr>
            <a:lvl3pPr>
              <a:tabLst>
                <a:tab pos="4121150" algn="l"/>
              </a:tabLst>
              <a:defRPr>
                <a:solidFill>
                  <a:schemeClr val="tx1"/>
                </a:solidFill>
                <a:latin typeface="Arial" panose="020B0604020202020204" pitchFamily="34" charset="0"/>
                <a:ea typeface="宋体" panose="02010600030101010101" pitchFamily="2" charset="-122"/>
              </a:defRPr>
            </a:lvl3pPr>
            <a:lvl4pPr>
              <a:tabLst>
                <a:tab pos="4121150" algn="l"/>
              </a:tabLst>
              <a:defRPr>
                <a:solidFill>
                  <a:schemeClr val="tx1"/>
                </a:solidFill>
                <a:latin typeface="Arial" panose="020B0604020202020204" pitchFamily="34" charset="0"/>
                <a:ea typeface="宋体" panose="02010600030101010101" pitchFamily="2" charset="-122"/>
              </a:defRPr>
            </a:lvl4pPr>
            <a:lvl5pPr>
              <a:tabLst>
                <a:tab pos="4121150"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4121150"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4121150"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4121150"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4121150" algn="l"/>
              </a:tabLst>
              <a:defRPr>
                <a:solidFill>
                  <a:schemeClr val="tx1"/>
                </a:solidFill>
                <a:latin typeface="Arial" panose="020B0604020202020204" pitchFamily="34" charset="0"/>
                <a:ea typeface="宋体" panose="02010600030101010101" pitchFamily="2" charset="-122"/>
              </a:defRPr>
            </a:lvl9pPr>
          </a:lstStyle>
          <a:p>
            <a:pPr algn="just"/>
            <a:r>
              <a:rPr lang="en-US" altLang="zh-CN" sz="3200" b="1" dirty="0">
                <a:solidFill>
                  <a:srgbClr val="3333CC"/>
                </a:solidFill>
                <a:effectLst/>
                <a:ea typeface="幼圆" panose="02010509060101010101" pitchFamily="49" charset="-122"/>
              </a:rPr>
              <a:t>MOV AX, [BX+DI+6]	</a:t>
            </a:r>
            <a:r>
              <a:rPr lang="zh-CN" altLang="en-US" sz="3200" b="1" dirty="0">
                <a:solidFill>
                  <a:srgbClr val="3333CC"/>
                </a:solidFill>
                <a:effectLst/>
                <a:ea typeface="幼圆" panose="02010509060101010101" pitchFamily="49" charset="-122"/>
              </a:rPr>
              <a:t>；</a:t>
            </a:r>
            <a:r>
              <a:rPr lang="en-US" altLang="zh-CN" sz="3200" b="1" dirty="0">
                <a:solidFill>
                  <a:srgbClr val="3333CC"/>
                </a:solidFill>
                <a:effectLst/>
                <a:ea typeface="幼圆" panose="02010509060101010101" pitchFamily="49" charset="-122"/>
              </a:rPr>
              <a:t>AX←DS:[BX+DI+6]</a:t>
            </a:r>
          </a:p>
        </p:txBody>
      </p:sp>
      <p:sp>
        <p:nvSpPr>
          <p:cNvPr id="22" name="AutoShape 6">
            <a:extLst>
              <a:ext uri="{FF2B5EF4-FFF2-40B4-BE49-F238E27FC236}">
                <a16:creationId xmlns:a16="http://schemas.microsoft.com/office/drawing/2014/main" id="{F8D012CD-51FB-1AF4-11C0-7AEC9B1EBD26}"/>
              </a:ext>
            </a:extLst>
          </p:cNvPr>
          <p:cNvSpPr>
            <a:spLocks noChangeArrowheads="1"/>
          </p:cNvSpPr>
          <p:nvPr/>
        </p:nvSpPr>
        <p:spPr bwMode="auto">
          <a:xfrm>
            <a:off x="363979" y="6221102"/>
            <a:ext cx="3962400" cy="506413"/>
          </a:xfrm>
          <a:prstGeom prst="flowChartAlternateProcess">
            <a:avLst/>
          </a:prstGeom>
          <a:blipFill dpi="0" rotWithShape="1">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tabLst>
                <a:tab pos="4121150" algn="l"/>
              </a:tabLst>
              <a:defRPr>
                <a:solidFill>
                  <a:schemeClr val="tx1"/>
                </a:solidFill>
                <a:latin typeface="Arial" panose="020B0604020202020204" pitchFamily="34" charset="0"/>
                <a:ea typeface="宋体" panose="02010600030101010101" pitchFamily="2" charset="-122"/>
              </a:defRPr>
            </a:lvl1pPr>
            <a:lvl2pPr>
              <a:tabLst>
                <a:tab pos="4121150" algn="l"/>
              </a:tabLst>
              <a:defRPr>
                <a:solidFill>
                  <a:schemeClr val="tx1"/>
                </a:solidFill>
                <a:latin typeface="Arial" panose="020B0604020202020204" pitchFamily="34" charset="0"/>
                <a:ea typeface="宋体" panose="02010600030101010101" pitchFamily="2" charset="-122"/>
              </a:defRPr>
            </a:lvl2pPr>
            <a:lvl3pPr>
              <a:tabLst>
                <a:tab pos="4121150" algn="l"/>
              </a:tabLst>
              <a:defRPr>
                <a:solidFill>
                  <a:schemeClr val="tx1"/>
                </a:solidFill>
                <a:latin typeface="Arial" panose="020B0604020202020204" pitchFamily="34" charset="0"/>
                <a:ea typeface="宋体" panose="02010600030101010101" pitchFamily="2" charset="-122"/>
              </a:defRPr>
            </a:lvl3pPr>
            <a:lvl4pPr>
              <a:tabLst>
                <a:tab pos="4121150" algn="l"/>
              </a:tabLst>
              <a:defRPr>
                <a:solidFill>
                  <a:schemeClr val="tx1"/>
                </a:solidFill>
                <a:latin typeface="Arial" panose="020B0604020202020204" pitchFamily="34" charset="0"/>
                <a:ea typeface="宋体" panose="02010600030101010101" pitchFamily="2" charset="-122"/>
              </a:defRPr>
            </a:lvl4pPr>
            <a:lvl5pPr>
              <a:tabLst>
                <a:tab pos="4121150"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4121150"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4121150"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4121150"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4121150" algn="l"/>
              </a:tabLst>
              <a:defRPr>
                <a:solidFill>
                  <a:schemeClr val="tx1"/>
                </a:solidFill>
                <a:latin typeface="Arial" panose="020B0604020202020204" pitchFamily="34" charset="0"/>
                <a:ea typeface="宋体" panose="02010600030101010101" pitchFamily="2" charset="-122"/>
              </a:defRPr>
            </a:lvl9pPr>
          </a:lstStyle>
          <a:p>
            <a:pPr algn="just"/>
            <a:r>
              <a:rPr lang="en-US" altLang="zh-CN" sz="3200" b="1" dirty="0">
                <a:solidFill>
                  <a:srgbClr val="3333CC"/>
                </a:solidFill>
                <a:effectLst/>
                <a:ea typeface="幼圆" panose="02010509060101010101" pitchFamily="49" charset="-122"/>
              </a:rPr>
              <a:t>MOV AX, 6[BX+DI]</a:t>
            </a:r>
          </a:p>
        </p:txBody>
      </p:sp>
      <p:sp>
        <p:nvSpPr>
          <p:cNvPr id="23" name="AutoShape 8">
            <a:extLst>
              <a:ext uri="{FF2B5EF4-FFF2-40B4-BE49-F238E27FC236}">
                <a16:creationId xmlns:a16="http://schemas.microsoft.com/office/drawing/2014/main" id="{A4F99EE6-9F9A-9157-6410-92530DD70EC6}"/>
              </a:ext>
            </a:extLst>
          </p:cNvPr>
          <p:cNvSpPr>
            <a:spLocks noChangeArrowheads="1"/>
          </p:cNvSpPr>
          <p:nvPr/>
        </p:nvSpPr>
        <p:spPr bwMode="auto">
          <a:xfrm>
            <a:off x="4572503" y="6234956"/>
            <a:ext cx="3962400" cy="506412"/>
          </a:xfrm>
          <a:prstGeom prst="flowChartAlternateProcess">
            <a:avLst/>
          </a:prstGeom>
          <a:blipFill dpi="0" rotWithShape="1">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tabLst>
                <a:tab pos="4121150" algn="l"/>
              </a:tabLst>
              <a:defRPr>
                <a:solidFill>
                  <a:schemeClr val="tx1"/>
                </a:solidFill>
                <a:latin typeface="Arial" panose="020B0604020202020204" pitchFamily="34" charset="0"/>
                <a:ea typeface="宋体" panose="02010600030101010101" pitchFamily="2" charset="-122"/>
              </a:defRPr>
            </a:lvl1pPr>
            <a:lvl2pPr>
              <a:tabLst>
                <a:tab pos="4121150" algn="l"/>
              </a:tabLst>
              <a:defRPr>
                <a:solidFill>
                  <a:schemeClr val="tx1"/>
                </a:solidFill>
                <a:latin typeface="Arial" panose="020B0604020202020204" pitchFamily="34" charset="0"/>
                <a:ea typeface="宋体" panose="02010600030101010101" pitchFamily="2" charset="-122"/>
              </a:defRPr>
            </a:lvl2pPr>
            <a:lvl3pPr>
              <a:tabLst>
                <a:tab pos="4121150" algn="l"/>
              </a:tabLst>
              <a:defRPr>
                <a:solidFill>
                  <a:schemeClr val="tx1"/>
                </a:solidFill>
                <a:latin typeface="Arial" panose="020B0604020202020204" pitchFamily="34" charset="0"/>
                <a:ea typeface="宋体" panose="02010600030101010101" pitchFamily="2" charset="-122"/>
              </a:defRPr>
            </a:lvl3pPr>
            <a:lvl4pPr>
              <a:tabLst>
                <a:tab pos="4121150" algn="l"/>
              </a:tabLst>
              <a:defRPr>
                <a:solidFill>
                  <a:schemeClr val="tx1"/>
                </a:solidFill>
                <a:latin typeface="Arial" panose="020B0604020202020204" pitchFamily="34" charset="0"/>
                <a:ea typeface="宋体" panose="02010600030101010101" pitchFamily="2" charset="-122"/>
              </a:defRPr>
            </a:lvl4pPr>
            <a:lvl5pPr>
              <a:tabLst>
                <a:tab pos="4121150"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4121150"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4121150"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4121150"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4121150" algn="l"/>
              </a:tabLst>
              <a:defRPr>
                <a:solidFill>
                  <a:schemeClr val="tx1"/>
                </a:solidFill>
                <a:latin typeface="Arial" panose="020B0604020202020204" pitchFamily="34" charset="0"/>
                <a:ea typeface="宋体" panose="02010600030101010101" pitchFamily="2" charset="-122"/>
              </a:defRPr>
            </a:lvl9pPr>
          </a:lstStyle>
          <a:p>
            <a:pPr algn="just"/>
            <a:r>
              <a:rPr lang="en-US" altLang="zh-CN" sz="3200" b="1">
                <a:solidFill>
                  <a:srgbClr val="3333CC"/>
                </a:solidFill>
                <a:effectLst/>
                <a:ea typeface="幼圆" panose="02010509060101010101" pitchFamily="49" charset="-122"/>
              </a:rPr>
              <a:t>MOV AX, 6[BX][DI]</a:t>
            </a:r>
          </a:p>
        </p:txBody>
      </p:sp>
      <p:sp>
        <p:nvSpPr>
          <p:cNvPr id="25" name="文本框 24">
            <a:extLst>
              <a:ext uri="{FF2B5EF4-FFF2-40B4-BE49-F238E27FC236}">
                <a16:creationId xmlns:a16="http://schemas.microsoft.com/office/drawing/2014/main" id="{F2B9CB4D-A812-604E-635D-F438471918D1}"/>
              </a:ext>
            </a:extLst>
          </p:cNvPr>
          <p:cNvSpPr txBox="1"/>
          <p:nvPr/>
        </p:nvSpPr>
        <p:spPr>
          <a:xfrm>
            <a:off x="4405002" y="5199075"/>
            <a:ext cx="4789860" cy="369332"/>
          </a:xfrm>
          <a:prstGeom prst="rect">
            <a:avLst/>
          </a:prstGeom>
          <a:noFill/>
        </p:spPr>
        <p:txBody>
          <a:bodyPr wrap="square">
            <a:spAutoFit/>
          </a:bodyPr>
          <a:lstStyle/>
          <a:p>
            <a:pPr lvl="1">
              <a:buFontTx/>
              <a:buNone/>
            </a:pPr>
            <a:r>
              <a:rPr lang="zh-CN" altLang="en-US" dirty="0">
                <a:effectLst/>
              </a:rPr>
              <a:t>有效地址＝</a:t>
            </a:r>
            <a:r>
              <a:rPr lang="en-US" altLang="zh-CN" dirty="0">
                <a:effectLst/>
              </a:rPr>
              <a:t>BX/BP</a:t>
            </a:r>
            <a:r>
              <a:rPr lang="zh-CN" altLang="en-US" dirty="0">
                <a:effectLst/>
              </a:rPr>
              <a:t>＋</a:t>
            </a:r>
            <a:r>
              <a:rPr lang="en-US" altLang="zh-CN" dirty="0">
                <a:effectLst/>
              </a:rPr>
              <a:t>SI/DI</a:t>
            </a:r>
            <a:r>
              <a:rPr lang="zh-CN" altLang="en-US" dirty="0">
                <a:effectLst/>
              </a:rPr>
              <a:t>＋</a:t>
            </a:r>
            <a:r>
              <a:rPr lang="en-US" altLang="zh-CN" dirty="0">
                <a:effectLst/>
              </a:rPr>
              <a:t>8/16</a:t>
            </a:r>
            <a:r>
              <a:rPr lang="zh-CN" altLang="en-US" dirty="0">
                <a:effectLst/>
              </a:rPr>
              <a:t>位位移量</a:t>
            </a:r>
          </a:p>
        </p:txBody>
      </p:sp>
    </p:spTree>
    <p:extLst>
      <p:ext uri="{BB962C8B-B14F-4D97-AF65-F5344CB8AC3E}">
        <p14:creationId xmlns:p14="http://schemas.microsoft.com/office/powerpoint/2010/main" val="1379198854"/>
      </p:ext>
    </p:extLst>
  </p:cSld>
  <p:clrMapOvr>
    <a:masterClrMapping/>
  </p:clrMapOvr>
  <p:transition>
    <p:random/>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4978" name="Rectangle 2">
            <a:extLst>
              <a:ext uri="{FF2B5EF4-FFF2-40B4-BE49-F238E27FC236}">
                <a16:creationId xmlns:a16="http://schemas.microsoft.com/office/drawing/2014/main" id="{A9E06680-C723-3548-47EF-0F86CF94A777}"/>
              </a:ext>
            </a:extLst>
          </p:cNvPr>
          <p:cNvSpPr>
            <a:spLocks noGrp="1" noChangeArrowheads="1"/>
          </p:cNvSpPr>
          <p:nvPr>
            <p:ph type="title"/>
          </p:nvPr>
        </p:nvSpPr>
        <p:spPr/>
        <p:txBody>
          <a:bodyPr/>
          <a:lstStyle/>
          <a:p>
            <a:r>
              <a:rPr lang="zh-CN" altLang="en-US"/>
              <a:t>注释</a:t>
            </a:r>
          </a:p>
        </p:txBody>
      </p:sp>
      <p:sp>
        <p:nvSpPr>
          <p:cNvPr id="254979" name="Rectangle 3">
            <a:extLst>
              <a:ext uri="{FF2B5EF4-FFF2-40B4-BE49-F238E27FC236}">
                <a16:creationId xmlns:a16="http://schemas.microsoft.com/office/drawing/2014/main" id="{579BD1E2-49B5-233F-3421-A5A3574B1E8A}"/>
              </a:ext>
            </a:extLst>
          </p:cNvPr>
          <p:cNvSpPr>
            <a:spLocks noGrp="1" noChangeArrowheads="1"/>
          </p:cNvSpPr>
          <p:nvPr>
            <p:ph type="body" idx="1"/>
          </p:nvPr>
        </p:nvSpPr>
        <p:spPr>
          <a:xfrm>
            <a:off x="250825" y="981075"/>
            <a:ext cx="8569325" cy="5184775"/>
          </a:xfrm>
        </p:spPr>
        <p:txBody>
          <a:bodyPr/>
          <a:lstStyle/>
          <a:p>
            <a:r>
              <a:rPr lang="zh-CN" altLang="en-US"/>
              <a:t>语句中由分号“；”开始的部分为注释内容，用以增加源程序的可读性</a:t>
            </a:r>
          </a:p>
          <a:p>
            <a:r>
              <a:rPr lang="zh-CN" altLang="en-US"/>
              <a:t>必要时，一个语句行也可以由分号开始作为阶段性注释</a:t>
            </a:r>
          </a:p>
          <a:p>
            <a:r>
              <a:rPr lang="zh-CN" altLang="en-US"/>
              <a:t>汇编程序在翻译源程序时将跳过该部分，不对它们做任何处理</a:t>
            </a:r>
          </a:p>
        </p:txBody>
      </p:sp>
    </p:spTree>
  </p:cSld>
  <p:clrMapOvr>
    <a:masterClrMapping/>
  </p:clrMapOvr>
  <p:transition>
    <p:random/>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8115" name="Rectangle 3">
            <a:extLst>
              <a:ext uri="{FF2B5EF4-FFF2-40B4-BE49-F238E27FC236}">
                <a16:creationId xmlns:a16="http://schemas.microsoft.com/office/drawing/2014/main" id="{154F46FE-9224-F4AC-8BD1-C9259DF5FABB}"/>
              </a:ext>
            </a:extLst>
          </p:cNvPr>
          <p:cNvSpPr>
            <a:spLocks noGrp="1" noChangeArrowheads="1"/>
          </p:cNvSpPr>
          <p:nvPr>
            <p:ph type="title"/>
          </p:nvPr>
        </p:nvSpPr>
        <p:spPr>
          <a:xfrm>
            <a:off x="15875" y="6350"/>
            <a:ext cx="6356350" cy="476250"/>
          </a:xfrm>
          <a:blipFill dpi="0" rotWithShape="0">
            <a:blip r:embed="rId2"/>
            <a:srcRect/>
            <a:tile tx="0" ty="0" sx="100000" sy="100000" flip="none" algn="tl"/>
          </a:blipFill>
          <a:ln/>
        </p:spPr>
        <p:txBody>
          <a:bodyPr/>
          <a:lstStyle/>
          <a:p>
            <a:pPr>
              <a:lnSpc>
                <a:spcPct val="80000"/>
              </a:lnSpc>
            </a:pPr>
            <a:r>
              <a:rPr lang="zh-CN" altLang="en-US"/>
              <a:t>汇编语言程序的开发过程（附录</a:t>
            </a:r>
            <a:r>
              <a:rPr lang="en-US" altLang="zh-CN"/>
              <a:t>B</a:t>
            </a:r>
            <a:r>
              <a:rPr lang="zh-CN" altLang="en-US"/>
              <a:t>）</a:t>
            </a:r>
          </a:p>
        </p:txBody>
      </p:sp>
      <p:grpSp>
        <p:nvGrpSpPr>
          <p:cNvPr id="218117" name="Group 5">
            <a:extLst>
              <a:ext uri="{FF2B5EF4-FFF2-40B4-BE49-F238E27FC236}">
                <a16:creationId xmlns:a16="http://schemas.microsoft.com/office/drawing/2014/main" id="{E96C74F5-0652-0B70-6CA1-76AE790D4677}"/>
              </a:ext>
            </a:extLst>
          </p:cNvPr>
          <p:cNvGrpSpPr>
            <a:grpSpLocks/>
          </p:cNvGrpSpPr>
          <p:nvPr/>
        </p:nvGrpSpPr>
        <p:grpSpPr bwMode="auto">
          <a:xfrm>
            <a:off x="1246188" y="742950"/>
            <a:ext cx="5692775" cy="762000"/>
            <a:chOff x="1109" y="624"/>
            <a:chExt cx="3586" cy="480"/>
          </a:xfrm>
        </p:grpSpPr>
        <p:sp>
          <p:nvSpPr>
            <p:cNvPr id="218118" name="Text Box 6">
              <a:extLst>
                <a:ext uri="{FF2B5EF4-FFF2-40B4-BE49-F238E27FC236}">
                  <a16:creationId xmlns:a16="http://schemas.microsoft.com/office/drawing/2014/main" id="{17BFB585-12A3-892E-C018-79508B3DF088}"/>
                </a:ext>
              </a:extLst>
            </p:cNvPr>
            <p:cNvSpPr txBox="1">
              <a:spLocks noChangeArrowheads="1"/>
            </p:cNvSpPr>
            <p:nvPr/>
          </p:nvSpPr>
          <p:spPr bwMode="auto">
            <a:xfrm>
              <a:off x="4349" y="648"/>
              <a:ext cx="346" cy="4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eaVert">
              <a:spAutoFit/>
            </a:bodyPr>
            <a:lstStyle/>
            <a:p>
              <a:pPr>
                <a:spcBef>
                  <a:spcPct val="50000"/>
                </a:spcBef>
              </a:pPr>
              <a:r>
                <a:rPr kumimoji="1" lang="zh-CN" altLang="en-US" sz="2400" b="1">
                  <a:effectLst/>
                  <a:latin typeface="Times New Roman" panose="02020603050405020304" pitchFamily="18" charset="0"/>
                </a:rPr>
                <a:t>编辑</a:t>
              </a:r>
            </a:p>
          </p:txBody>
        </p:sp>
        <p:sp>
          <p:nvSpPr>
            <p:cNvPr id="218119" name="Line 7">
              <a:extLst>
                <a:ext uri="{FF2B5EF4-FFF2-40B4-BE49-F238E27FC236}">
                  <a16:creationId xmlns:a16="http://schemas.microsoft.com/office/drawing/2014/main" id="{82AC6792-789D-64D5-0378-187FFAEA69BF}"/>
                </a:ext>
              </a:extLst>
            </p:cNvPr>
            <p:cNvSpPr>
              <a:spLocks noChangeShapeType="1"/>
            </p:cNvSpPr>
            <p:nvPr/>
          </p:nvSpPr>
          <p:spPr bwMode="auto">
            <a:xfrm>
              <a:off x="4337" y="624"/>
              <a:ext cx="0" cy="48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8120" name="AutoShape 8">
              <a:extLst>
                <a:ext uri="{FF2B5EF4-FFF2-40B4-BE49-F238E27FC236}">
                  <a16:creationId xmlns:a16="http://schemas.microsoft.com/office/drawing/2014/main" id="{3ED62A8E-2CF9-ECDE-FF53-A433C0434B13}"/>
                </a:ext>
              </a:extLst>
            </p:cNvPr>
            <p:cNvSpPr>
              <a:spLocks/>
            </p:cNvSpPr>
            <p:nvPr/>
          </p:nvSpPr>
          <p:spPr bwMode="auto">
            <a:xfrm>
              <a:off x="1109" y="766"/>
              <a:ext cx="2578" cy="294"/>
            </a:xfrm>
            <a:prstGeom prst="accentCallout1">
              <a:avLst>
                <a:gd name="adj1" fmla="val 24491"/>
                <a:gd name="adj2" fmla="val 101861"/>
                <a:gd name="adj3" fmla="val 26870"/>
                <a:gd name="adj4" fmla="val 121449"/>
              </a:avLst>
            </a:prstGeom>
            <a:solidFill>
              <a:schemeClr val="accent1"/>
            </a:solidFill>
            <a:ln w="9525">
              <a:solidFill>
                <a:schemeClr val="tx1"/>
              </a:solidFill>
              <a:miter lim="800000"/>
              <a:headEnd/>
              <a:tailEnd/>
            </a:ln>
          </p:spPr>
          <p:txBody>
            <a:bodyPr>
              <a:spAutoFit/>
            </a:bodyPr>
            <a:lstStyle/>
            <a:p>
              <a:r>
                <a:rPr kumimoji="1" lang="zh-CN" altLang="en-US" sz="2400" b="1" dirty="0">
                  <a:effectLst/>
                  <a:latin typeface="Times New Roman" panose="02020603050405020304" pitchFamily="18" charset="0"/>
                </a:rPr>
                <a:t>文本编辑器</a:t>
              </a:r>
              <a:endParaRPr kumimoji="1" lang="en-US" altLang="zh-CN" sz="2400" b="1" dirty="0">
                <a:effectLst/>
                <a:latin typeface="Times New Roman" panose="02020603050405020304" pitchFamily="18" charset="0"/>
              </a:endParaRPr>
            </a:p>
          </p:txBody>
        </p:sp>
      </p:grpSp>
      <p:sp>
        <p:nvSpPr>
          <p:cNvPr id="218121" name="AutoShape 9">
            <a:extLst>
              <a:ext uri="{FF2B5EF4-FFF2-40B4-BE49-F238E27FC236}">
                <a16:creationId xmlns:a16="http://schemas.microsoft.com/office/drawing/2014/main" id="{882875FF-8B18-845D-34DC-550995190F8F}"/>
              </a:ext>
            </a:extLst>
          </p:cNvPr>
          <p:cNvSpPr>
            <a:spLocks noChangeArrowheads="1"/>
          </p:cNvSpPr>
          <p:nvPr/>
        </p:nvSpPr>
        <p:spPr bwMode="auto">
          <a:xfrm>
            <a:off x="4414838" y="1495425"/>
            <a:ext cx="3883025" cy="650875"/>
          </a:xfrm>
          <a:prstGeom prst="flowChartPreparation">
            <a:avLst/>
          </a:prstGeom>
          <a:solidFill>
            <a:schemeClr val="folHlink"/>
          </a:solidFill>
          <a:ln w="9525">
            <a:solidFill>
              <a:srgbClr val="0000FF"/>
            </a:solidFill>
            <a:miter lim="800000"/>
            <a:headEnd/>
            <a:tailEnd/>
          </a:ln>
        </p:spPr>
        <p:txBody>
          <a:bodyPr wrap="none" anchor="ctr"/>
          <a:lstStyle/>
          <a:p>
            <a:endParaRPr lang="zh-CN" altLang="en-US"/>
          </a:p>
        </p:txBody>
      </p:sp>
      <p:sp>
        <p:nvSpPr>
          <p:cNvPr id="218122" name="Text Box 10">
            <a:extLst>
              <a:ext uri="{FF2B5EF4-FFF2-40B4-BE49-F238E27FC236}">
                <a16:creationId xmlns:a16="http://schemas.microsoft.com/office/drawing/2014/main" id="{41AA64AA-E9C3-5D8D-3569-F001790B3D6B}"/>
              </a:ext>
            </a:extLst>
          </p:cNvPr>
          <p:cNvSpPr txBox="1">
            <a:spLocks noChangeArrowheads="1"/>
          </p:cNvSpPr>
          <p:nvPr/>
        </p:nvSpPr>
        <p:spPr bwMode="auto">
          <a:xfrm>
            <a:off x="4757738" y="1589088"/>
            <a:ext cx="32893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ctr">
              <a:spcBef>
                <a:spcPct val="50000"/>
              </a:spcBef>
            </a:pPr>
            <a:r>
              <a:rPr kumimoji="1" lang="zh-CN" altLang="en-US" sz="2400" b="1">
                <a:effectLst/>
                <a:latin typeface="Times New Roman" panose="02020603050405020304" pitchFamily="18" charset="0"/>
              </a:rPr>
              <a:t>源程序：文件名</a:t>
            </a:r>
            <a:r>
              <a:rPr kumimoji="1" lang="en-US" altLang="zh-CN" sz="2400" b="1">
                <a:effectLst/>
                <a:latin typeface="Times New Roman" panose="02020603050405020304" pitchFamily="18" charset="0"/>
              </a:rPr>
              <a:t>.asm</a:t>
            </a:r>
          </a:p>
        </p:txBody>
      </p:sp>
      <p:grpSp>
        <p:nvGrpSpPr>
          <p:cNvPr id="218123" name="Group 11">
            <a:extLst>
              <a:ext uri="{FF2B5EF4-FFF2-40B4-BE49-F238E27FC236}">
                <a16:creationId xmlns:a16="http://schemas.microsoft.com/office/drawing/2014/main" id="{166E5226-781E-3CFA-AFA9-C90B63C23F41}"/>
              </a:ext>
            </a:extLst>
          </p:cNvPr>
          <p:cNvGrpSpPr>
            <a:grpSpLocks/>
          </p:cNvGrpSpPr>
          <p:nvPr/>
        </p:nvGrpSpPr>
        <p:grpSpPr bwMode="auto">
          <a:xfrm>
            <a:off x="1246188" y="2152650"/>
            <a:ext cx="5692775" cy="762000"/>
            <a:chOff x="1109" y="624"/>
            <a:chExt cx="3586" cy="480"/>
          </a:xfrm>
        </p:grpSpPr>
        <p:sp>
          <p:nvSpPr>
            <p:cNvPr id="218124" name="Text Box 12">
              <a:extLst>
                <a:ext uri="{FF2B5EF4-FFF2-40B4-BE49-F238E27FC236}">
                  <a16:creationId xmlns:a16="http://schemas.microsoft.com/office/drawing/2014/main" id="{500873C5-0DD7-C766-6753-1CD555E8DB7A}"/>
                </a:ext>
              </a:extLst>
            </p:cNvPr>
            <p:cNvSpPr txBox="1">
              <a:spLocks noChangeArrowheads="1"/>
            </p:cNvSpPr>
            <p:nvPr/>
          </p:nvSpPr>
          <p:spPr bwMode="auto">
            <a:xfrm>
              <a:off x="4349" y="648"/>
              <a:ext cx="346" cy="4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eaVert">
              <a:spAutoFit/>
            </a:bodyPr>
            <a:lstStyle/>
            <a:p>
              <a:pPr>
                <a:spcBef>
                  <a:spcPct val="50000"/>
                </a:spcBef>
              </a:pPr>
              <a:r>
                <a:rPr kumimoji="1" lang="zh-CN" altLang="en-US" sz="2400" b="1">
                  <a:effectLst/>
                  <a:latin typeface="Times New Roman" panose="02020603050405020304" pitchFamily="18" charset="0"/>
                </a:rPr>
                <a:t>汇编</a:t>
              </a:r>
            </a:p>
          </p:txBody>
        </p:sp>
        <p:sp>
          <p:nvSpPr>
            <p:cNvPr id="218125" name="Line 13">
              <a:extLst>
                <a:ext uri="{FF2B5EF4-FFF2-40B4-BE49-F238E27FC236}">
                  <a16:creationId xmlns:a16="http://schemas.microsoft.com/office/drawing/2014/main" id="{442D50BD-2854-276F-6EA2-88898D1C29D3}"/>
                </a:ext>
              </a:extLst>
            </p:cNvPr>
            <p:cNvSpPr>
              <a:spLocks noChangeShapeType="1"/>
            </p:cNvSpPr>
            <p:nvPr/>
          </p:nvSpPr>
          <p:spPr bwMode="auto">
            <a:xfrm>
              <a:off x="4337" y="624"/>
              <a:ext cx="0" cy="48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8126" name="AutoShape 14">
              <a:extLst>
                <a:ext uri="{FF2B5EF4-FFF2-40B4-BE49-F238E27FC236}">
                  <a16:creationId xmlns:a16="http://schemas.microsoft.com/office/drawing/2014/main" id="{0FE559D0-D530-8304-7C5A-EBF91BE65C57}"/>
                </a:ext>
              </a:extLst>
            </p:cNvPr>
            <p:cNvSpPr>
              <a:spLocks/>
            </p:cNvSpPr>
            <p:nvPr/>
          </p:nvSpPr>
          <p:spPr bwMode="auto">
            <a:xfrm>
              <a:off x="1109" y="766"/>
              <a:ext cx="2578" cy="294"/>
            </a:xfrm>
            <a:prstGeom prst="accentCallout1">
              <a:avLst>
                <a:gd name="adj1" fmla="val 24491"/>
                <a:gd name="adj2" fmla="val 101861"/>
                <a:gd name="adj3" fmla="val 26870"/>
                <a:gd name="adj4" fmla="val 121449"/>
              </a:avLst>
            </a:prstGeom>
            <a:solidFill>
              <a:schemeClr val="accent1"/>
            </a:solidFill>
            <a:ln w="9525">
              <a:solidFill>
                <a:schemeClr val="tx1"/>
              </a:solidFill>
              <a:miter lim="800000"/>
              <a:headEnd/>
              <a:tailEnd/>
            </a:ln>
          </p:spPr>
          <p:txBody>
            <a:bodyPr>
              <a:spAutoFit/>
            </a:bodyPr>
            <a:lstStyle/>
            <a:p>
              <a:r>
                <a:rPr kumimoji="1" lang="zh-CN" altLang="en-US" sz="2400" b="1" dirty="0">
                  <a:effectLst/>
                  <a:latin typeface="Times New Roman" panose="02020603050405020304" pitchFamily="18" charset="0"/>
                </a:rPr>
                <a:t>汇编程序</a:t>
              </a:r>
              <a:endParaRPr kumimoji="1" lang="en-US" altLang="zh-CN" sz="2400" b="1" dirty="0">
                <a:effectLst/>
                <a:latin typeface="Times New Roman" panose="02020603050405020304" pitchFamily="18" charset="0"/>
              </a:endParaRPr>
            </a:p>
          </p:txBody>
        </p:sp>
      </p:grpSp>
      <p:sp>
        <p:nvSpPr>
          <p:cNvPr id="218127" name="AutoShape 15">
            <a:extLst>
              <a:ext uri="{FF2B5EF4-FFF2-40B4-BE49-F238E27FC236}">
                <a16:creationId xmlns:a16="http://schemas.microsoft.com/office/drawing/2014/main" id="{21B8F16A-8702-29D1-6CE4-D6F44D826C2D}"/>
              </a:ext>
            </a:extLst>
          </p:cNvPr>
          <p:cNvSpPr>
            <a:spLocks noChangeArrowheads="1"/>
          </p:cNvSpPr>
          <p:nvPr/>
        </p:nvSpPr>
        <p:spPr bwMode="auto">
          <a:xfrm>
            <a:off x="4414838" y="2905125"/>
            <a:ext cx="3883025" cy="650875"/>
          </a:xfrm>
          <a:prstGeom prst="flowChartPreparation">
            <a:avLst/>
          </a:prstGeom>
          <a:solidFill>
            <a:schemeClr val="folHlink"/>
          </a:solidFill>
          <a:ln w="9525">
            <a:solidFill>
              <a:srgbClr val="0000FF"/>
            </a:solidFill>
            <a:miter lim="800000"/>
            <a:headEnd/>
            <a:tailEnd/>
          </a:ln>
        </p:spPr>
        <p:txBody>
          <a:bodyPr wrap="none" anchor="ctr"/>
          <a:lstStyle/>
          <a:p>
            <a:endParaRPr lang="zh-CN" altLang="en-US"/>
          </a:p>
        </p:txBody>
      </p:sp>
      <p:sp>
        <p:nvSpPr>
          <p:cNvPr id="218128" name="Text Box 16">
            <a:extLst>
              <a:ext uri="{FF2B5EF4-FFF2-40B4-BE49-F238E27FC236}">
                <a16:creationId xmlns:a16="http://schemas.microsoft.com/office/drawing/2014/main" id="{C824EBF8-967E-443E-8121-5D26B233C2FB}"/>
              </a:ext>
            </a:extLst>
          </p:cNvPr>
          <p:cNvSpPr txBox="1">
            <a:spLocks noChangeArrowheads="1"/>
          </p:cNvSpPr>
          <p:nvPr/>
        </p:nvSpPr>
        <p:spPr bwMode="auto">
          <a:xfrm>
            <a:off x="4683125" y="3001963"/>
            <a:ext cx="32893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ctr">
              <a:spcBef>
                <a:spcPct val="50000"/>
              </a:spcBef>
            </a:pPr>
            <a:r>
              <a:rPr kumimoji="1" lang="zh-CN" altLang="en-US" sz="2400" b="1">
                <a:effectLst/>
                <a:latin typeface="Times New Roman" panose="02020603050405020304" pitchFamily="18" charset="0"/>
              </a:rPr>
              <a:t>目标模块：文件名</a:t>
            </a:r>
            <a:r>
              <a:rPr kumimoji="1" lang="en-US" altLang="zh-CN" sz="2400" b="1">
                <a:effectLst/>
                <a:latin typeface="Times New Roman" panose="02020603050405020304" pitchFamily="18" charset="0"/>
              </a:rPr>
              <a:t>.obj</a:t>
            </a:r>
          </a:p>
        </p:txBody>
      </p:sp>
      <p:grpSp>
        <p:nvGrpSpPr>
          <p:cNvPr id="218129" name="Group 17">
            <a:extLst>
              <a:ext uri="{FF2B5EF4-FFF2-40B4-BE49-F238E27FC236}">
                <a16:creationId xmlns:a16="http://schemas.microsoft.com/office/drawing/2014/main" id="{E5C230E9-AE52-BC22-36FD-93B39ACED604}"/>
              </a:ext>
            </a:extLst>
          </p:cNvPr>
          <p:cNvGrpSpPr>
            <a:grpSpLocks/>
          </p:cNvGrpSpPr>
          <p:nvPr/>
        </p:nvGrpSpPr>
        <p:grpSpPr bwMode="auto">
          <a:xfrm>
            <a:off x="1246188" y="3562350"/>
            <a:ext cx="5692775" cy="762000"/>
            <a:chOff x="1109" y="624"/>
            <a:chExt cx="3586" cy="480"/>
          </a:xfrm>
        </p:grpSpPr>
        <p:sp>
          <p:nvSpPr>
            <p:cNvPr id="218130" name="Text Box 18">
              <a:extLst>
                <a:ext uri="{FF2B5EF4-FFF2-40B4-BE49-F238E27FC236}">
                  <a16:creationId xmlns:a16="http://schemas.microsoft.com/office/drawing/2014/main" id="{72CDDE70-A307-5F9E-45A1-D778A47CD7FD}"/>
                </a:ext>
              </a:extLst>
            </p:cNvPr>
            <p:cNvSpPr txBox="1">
              <a:spLocks noChangeArrowheads="1"/>
            </p:cNvSpPr>
            <p:nvPr/>
          </p:nvSpPr>
          <p:spPr bwMode="auto">
            <a:xfrm>
              <a:off x="4349" y="648"/>
              <a:ext cx="346" cy="4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eaVert">
              <a:spAutoFit/>
            </a:bodyPr>
            <a:lstStyle/>
            <a:p>
              <a:pPr>
                <a:spcBef>
                  <a:spcPct val="50000"/>
                </a:spcBef>
              </a:pPr>
              <a:r>
                <a:rPr kumimoji="1" lang="zh-CN" altLang="en-US" sz="2400" b="1">
                  <a:effectLst/>
                  <a:latin typeface="Times New Roman" panose="02020603050405020304" pitchFamily="18" charset="0"/>
                </a:rPr>
                <a:t>连接</a:t>
              </a:r>
            </a:p>
          </p:txBody>
        </p:sp>
        <p:sp>
          <p:nvSpPr>
            <p:cNvPr id="218131" name="Line 19">
              <a:extLst>
                <a:ext uri="{FF2B5EF4-FFF2-40B4-BE49-F238E27FC236}">
                  <a16:creationId xmlns:a16="http://schemas.microsoft.com/office/drawing/2014/main" id="{83AEBEC2-D62C-6815-4CBB-A1AC8AFE720D}"/>
                </a:ext>
              </a:extLst>
            </p:cNvPr>
            <p:cNvSpPr>
              <a:spLocks noChangeShapeType="1"/>
            </p:cNvSpPr>
            <p:nvPr/>
          </p:nvSpPr>
          <p:spPr bwMode="auto">
            <a:xfrm>
              <a:off x="4337" y="624"/>
              <a:ext cx="0" cy="48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8132" name="AutoShape 20">
              <a:extLst>
                <a:ext uri="{FF2B5EF4-FFF2-40B4-BE49-F238E27FC236}">
                  <a16:creationId xmlns:a16="http://schemas.microsoft.com/office/drawing/2014/main" id="{23778688-638B-74E8-860B-AA706BB97FC5}"/>
                </a:ext>
              </a:extLst>
            </p:cNvPr>
            <p:cNvSpPr>
              <a:spLocks/>
            </p:cNvSpPr>
            <p:nvPr/>
          </p:nvSpPr>
          <p:spPr bwMode="auto">
            <a:xfrm>
              <a:off x="1109" y="766"/>
              <a:ext cx="2578" cy="294"/>
            </a:xfrm>
            <a:prstGeom prst="accentCallout1">
              <a:avLst>
                <a:gd name="adj1" fmla="val 24491"/>
                <a:gd name="adj2" fmla="val 101861"/>
                <a:gd name="adj3" fmla="val 26870"/>
                <a:gd name="adj4" fmla="val 121449"/>
              </a:avLst>
            </a:prstGeom>
            <a:solidFill>
              <a:schemeClr val="accent1"/>
            </a:solidFill>
            <a:ln w="9525">
              <a:solidFill>
                <a:schemeClr val="tx1"/>
              </a:solidFill>
              <a:miter lim="800000"/>
              <a:headEnd/>
              <a:tailEnd/>
            </a:ln>
          </p:spPr>
          <p:txBody>
            <a:bodyPr>
              <a:spAutoFit/>
            </a:bodyPr>
            <a:lstStyle/>
            <a:p>
              <a:r>
                <a:rPr kumimoji="1" lang="zh-CN" altLang="en-US" sz="2400" b="1" dirty="0">
                  <a:effectLst/>
                  <a:latin typeface="Times New Roman" panose="02020603050405020304" pitchFamily="18" charset="0"/>
                </a:rPr>
                <a:t>连接程序</a:t>
              </a:r>
              <a:endParaRPr kumimoji="1" lang="en-US" altLang="zh-CN" sz="2400" b="1" dirty="0">
                <a:effectLst/>
                <a:latin typeface="Times New Roman" panose="02020603050405020304" pitchFamily="18" charset="0"/>
              </a:endParaRPr>
            </a:p>
          </p:txBody>
        </p:sp>
      </p:grpSp>
      <p:sp>
        <p:nvSpPr>
          <p:cNvPr id="218133" name="AutoShape 21">
            <a:extLst>
              <a:ext uri="{FF2B5EF4-FFF2-40B4-BE49-F238E27FC236}">
                <a16:creationId xmlns:a16="http://schemas.microsoft.com/office/drawing/2014/main" id="{F006C7CB-DE80-0DA0-3456-F70D48B57E37}"/>
              </a:ext>
            </a:extLst>
          </p:cNvPr>
          <p:cNvSpPr>
            <a:spLocks noChangeArrowheads="1"/>
          </p:cNvSpPr>
          <p:nvPr/>
        </p:nvSpPr>
        <p:spPr bwMode="auto">
          <a:xfrm>
            <a:off x="4414838" y="4314825"/>
            <a:ext cx="3883025" cy="650875"/>
          </a:xfrm>
          <a:prstGeom prst="flowChartPreparation">
            <a:avLst/>
          </a:prstGeom>
          <a:solidFill>
            <a:schemeClr val="folHlink"/>
          </a:solidFill>
          <a:ln w="9525">
            <a:solidFill>
              <a:srgbClr val="0000FF"/>
            </a:solidFill>
            <a:miter lim="800000"/>
            <a:headEnd/>
            <a:tailEnd/>
          </a:ln>
        </p:spPr>
        <p:txBody>
          <a:bodyPr wrap="none" anchor="ctr"/>
          <a:lstStyle/>
          <a:p>
            <a:endParaRPr lang="zh-CN" altLang="en-US"/>
          </a:p>
        </p:txBody>
      </p:sp>
      <p:sp>
        <p:nvSpPr>
          <p:cNvPr id="218134" name="Text Box 22">
            <a:extLst>
              <a:ext uri="{FF2B5EF4-FFF2-40B4-BE49-F238E27FC236}">
                <a16:creationId xmlns:a16="http://schemas.microsoft.com/office/drawing/2014/main" id="{63AB2FED-00B1-8A8C-DDC3-F3041398F757}"/>
              </a:ext>
            </a:extLst>
          </p:cNvPr>
          <p:cNvSpPr txBox="1">
            <a:spLocks noChangeArrowheads="1"/>
          </p:cNvSpPr>
          <p:nvPr/>
        </p:nvSpPr>
        <p:spPr bwMode="auto">
          <a:xfrm>
            <a:off x="4543425" y="4411663"/>
            <a:ext cx="3697288"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ctr">
              <a:spcBef>
                <a:spcPct val="50000"/>
              </a:spcBef>
            </a:pPr>
            <a:r>
              <a:rPr kumimoji="1" lang="zh-CN" altLang="en-US" sz="2400" b="1">
                <a:effectLst/>
                <a:latin typeface="Times New Roman" panose="02020603050405020304" pitchFamily="18" charset="0"/>
              </a:rPr>
              <a:t>可执行文件：文件名</a:t>
            </a:r>
            <a:r>
              <a:rPr kumimoji="1" lang="en-US" altLang="zh-CN" sz="2400" b="1">
                <a:effectLst/>
                <a:latin typeface="Times New Roman" panose="02020603050405020304" pitchFamily="18" charset="0"/>
              </a:rPr>
              <a:t>.exe</a:t>
            </a:r>
          </a:p>
        </p:txBody>
      </p:sp>
      <p:grpSp>
        <p:nvGrpSpPr>
          <p:cNvPr id="218135" name="Group 23">
            <a:extLst>
              <a:ext uri="{FF2B5EF4-FFF2-40B4-BE49-F238E27FC236}">
                <a16:creationId xmlns:a16="http://schemas.microsoft.com/office/drawing/2014/main" id="{A2116727-F7F4-9C74-51F9-F0367B79F3E7}"/>
              </a:ext>
            </a:extLst>
          </p:cNvPr>
          <p:cNvGrpSpPr>
            <a:grpSpLocks/>
          </p:cNvGrpSpPr>
          <p:nvPr/>
        </p:nvGrpSpPr>
        <p:grpSpPr bwMode="auto">
          <a:xfrm>
            <a:off x="1220788" y="4975225"/>
            <a:ext cx="5692775" cy="762000"/>
            <a:chOff x="1109" y="624"/>
            <a:chExt cx="3586" cy="480"/>
          </a:xfrm>
        </p:grpSpPr>
        <p:sp>
          <p:nvSpPr>
            <p:cNvPr id="218136" name="Text Box 24">
              <a:extLst>
                <a:ext uri="{FF2B5EF4-FFF2-40B4-BE49-F238E27FC236}">
                  <a16:creationId xmlns:a16="http://schemas.microsoft.com/office/drawing/2014/main" id="{2E8C7A80-36A3-B94A-588C-9802835B5DFA}"/>
                </a:ext>
              </a:extLst>
            </p:cNvPr>
            <p:cNvSpPr txBox="1">
              <a:spLocks noChangeArrowheads="1"/>
            </p:cNvSpPr>
            <p:nvPr/>
          </p:nvSpPr>
          <p:spPr bwMode="auto">
            <a:xfrm>
              <a:off x="4349" y="648"/>
              <a:ext cx="346" cy="4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eaVert">
              <a:spAutoFit/>
            </a:bodyPr>
            <a:lstStyle/>
            <a:p>
              <a:pPr>
                <a:spcBef>
                  <a:spcPct val="50000"/>
                </a:spcBef>
              </a:pPr>
              <a:r>
                <a:rPr kumimoji="1" lang="zh-CN" altLang="en-US" sz="2400" b="1">
                  <a:effectLst/>
                  <a:latin typeface="Times New Roman" panose="02020603050405020304" pitchFamily="18" charset="0"/>
                </a:rPr>
                <a:t>调试</a:t>
              </a:r>
            </a:p>
          </p:txBody>
        </p:sp>
        <p:sp>
          <p:nvSpPr>
            <p:cNvPr id="218137" name="Line 25">
              <a:extLst>
                <a:ext uri="{FF2B5EF4-FFF2-40B4-BE49-F238E27FC236}">
                  <a16:creationId xmlns:a16="http://schemas.microsoft.com/office/drawing/2014/main" id="{345AF6FD-A843-19AA-47B7-6162FF37687D}"/>
                </a:ext>
              </a:extLst>
            </p:cNvPr>
            <p:cNvSpPr>
              <a:spLocks noChangeShapeType="1"/>
            </p:cNvSpPr>
            <p:nvPr/>
          </p:nvSpPr>
          <p:spPr bwMode="auto">
            <a:xfrm>
              <a:off x="4337" y="624"/>
              <a:ext cx="0" cy="48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8138" name="AutoShape 26">
              <a:extLst>
                <a:ext uri="{FF2B5EF4-FFF2-40B4-BE49-F238E27FC236}">
                  <a16:creationId xmlns:a16="http://schemas.microsoft.com/office/drawing/2014/main" id="{BC34345F-FFC7-13BE-BAEC-A4F93E0E2AEC}"/>
                </a:ext>
              </a:extLst>
            </p:cNvPr>
            <p:cNvSpPr>
              <a:spLocks/>
            </p:cNvSpPr>
            <p:nvPr/>
          </p:nvSpPr>
          <p:spPr bwMode="auto">
            <a:xfrm>
              <a:off x="1109" y="766"/>
              <a:ext cx="2578" cy="294"/>
            </a:xfrm>
            <a:prstGeom prst="accentCallout1">
              <a:avLst>
                <a:gd name="adj1" fmla="val 24491"/>
                <a:gd name="adj2" fmla="val 101861"/>
                <a:gd name="adj3" fmla="val 26870"/>
                <a:gd name="adj4" fmla="val 121449"/>
              </a:avLst>
            </a:prstGeom>
            <a:solidFill>
              <a:schemeClr val="accent1"/>
            </a:solidFill>
            <a:ln w="9525">
              <a:solidFill>
                <a:schemeClr val="tx1"/>
              </a:solidFill>
              <a:miter lim="800000"/>
              <a:headEnd/>
              <a:tailEnd/>
            </a:ln>
          </p:spPr>
          <p:txBody>
            <a:bodyPr>
              <a:spAutoFit/>
            </a:bodyPr>
            <a:lstStyle/>
            <a:p>
              <a:r>
                <a:rPr kumimoji="1" lang="zh-CN" altLang="en-US" sz="2400" b="1" dirty="0">
                  <a:effectLst/>
                  <a:latin typeface="Times New Roman" panose="02020603050405020304" pitchFamily="18" charset="0"/>
                </a:rPr>
                <a:t>调试程序</a:t>
              </a:r>
              <a:endParaRPr kumimoji="1" lang="en-US" altLang="zh-CN" sz="2400" b="1" dirty="0">
                <a:effectLst/>
                <a:latin typeface="Times New Roman" panose="02020603050405020304" pitchFamily="18" charset="0"/>
              </a:endParaRPr>
            </a:p>
          </p:txBody>
        </p:sp>
      </p:grpSp>
      <p:grpSp>
        <p:nvGrpSpPr>
          <p:cNvPr id="218139" name="Group 27">
            <a:extLst>
              <a:ext uri="{FF2B5EF4-FFF2-40B4-BE49-F238E27FC236}">
                <a16:creationId xmlns:a16="http://schemas.microsoft.com/office/drawing/2014/main" id="{16BFD84E-AE35-BF17-1516-C071569C402A}"/>
              </a:ext>
            </a:extLst>
          </p:cNvPr>
          <p:cNvGrpSpPr>
            <a:grpSpLocks/>
          </p:cNvGrpSpPr>
          <p:nvPr/>
        </p:nvGrpSpPr>
        <p:grpSpPr bwMode="auto">
          <a:xfrm>
            <a:off x="5416550" y="5741988"/>
            <a:ext cx="1820863" cy="742950"/>
            <a:chOff x="3412" y="3617"/>
            <a:chExt cx="1147" cy="468"/>
          </a:xfrm>
        </p:grpSpPr>
        <p:sp>
          <p:nvSpPr>
            <p:cNvPr id="218140" name="AutoShape 28">
              <a:extLst>
                <a:ext uri="{FF2B5EF4-FFF2-40B4-BE49-F238E27FC236}">
                  <a16:creationId xmlns:a16="http://schemas.microsoft.com/office/drawing/2014/main" id="{4585AED9-3510-E038-FDCA-D0EC92F3D615}"/>
                </a:ext>
              </a:extLst>
            </p:cNvPr>
            <p:cNvSpPr>
              <a:spLocks noChangeArrowheads="1"/>
            </p:cNvSpPr>
            <p:nvPr/>
          </p:nvSpPr>
          <p:spPr bwMode="auto">
            <a:xfrm>
              <a:off x="3412" y="3617"/>
              <a:ext cx="1147" cy="468"/>
            </a:xfrm>
            <a:prstGeom prst="flowChartAlternateProcess">
              <a:avLst/>
            </a:prstGeom>
            <a:solidFill>
              <a:schemeClr val="accent1">
                <a:alpha val="50000"/>
              </a:schemeClr>
            </a:solidFill>
            <a:ln w="9525">
              <a:solidFill>
                <a:srgbClr val="0000FF"/>
              </a:solidFill>
              <a:miter lim="800000"/>
              <a:headEnd/>
              <a:tailEnd/>
            </a:ln>
          </p:spPr>
          <p:txBody>
            <a:bodyPr wrap="none" anchor="ctr"/>
            <a:lstStyle/>
            <a:p>
              <a:endParaRPr lang="zh-CN" altLang="en-US"/>
            </a:p>
          </p:txBody>
        </p:sp>
        <p:sp>
          <p:nvSpPr>
            <p:cNvPr id="218141" name="Text Box 29">
              <a:extLst>
                <a:ext uri="{FF2B5EF4-FFF2-40B4-BE49-F238E27FC236}">
                  <a16:creationId xmlns:a16="http://schemas.microsoft.com/office/drawing/2014/main" id="{94171DA3-82BD-28E7-B5AF-D949FDA21F7D}"/>
                </a:ext>
              </a:extLst>
            </p:cNvPr>
            <p:cNvSpPr txBox="1">
              <a:spLocks noChangeArrowheads="1"/>
            </p:cNvSpPr>
            <p:nvPr/>
          </p:nvSpPr>
          <p:spPr bwMode="auto">
            <a:xfrm>
              <a:off x="3486" y="3691"/>
              <a:ext cx="1053"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Lst>
          </p:spPr>
          <p:txBody>
            <a:bodyPr>
              <a:spAutoFit/>
            </a:bodyPr>
            <a:lstStyle/>
            <a:p>
              <a:pPr algn="ctr">
                <a:spcBef>
                  <a:spcPct val="50000"/>
                </a:spcBef>
              </a:pPr>
              <a:r>
                <a:rPr kumimoji="1" lang="zh-CN" altLang="en-US" sz="2400" b="1">
                  <a:effectLst/>
                  <a:latin typeface="Times New Roman" panose="02020603050405020304" pitchFamily="18" charset="0"/>
                </a:rPr>
                <a:t>应用程序</a:t>
              </a:r>
            </a:p>
          </p:txBody>
        </p:sp>
      </p:grpSp>
      <p:sp>
        <p:nvSpPr>
          <p:cNvPr id="218142" name="Line 30">
            <a:extLst>
              <a:ext uri="{FF2B5EF4-FFF2-40B4-BE49-F238E27FC236}">
                <a16:creationId xmlns:a16="http://schemas.microsoft.com/office/drawing/2014/main" id="{0F1AD9EA-3B16-9CC5-5982-30F8AA3C3C9C}"/>
              </a:ext>
            </a:extLst>
          </p:cNvPr>
          <p:cNvSpPr>
            <a:spLocks noChangeShapeType="1"/>
          </p:cNvSpPr>
          <p:nvPr/>
        </p:nvSpPr>
        <p:spPr bwMode="auto">
          <a:xfrm>
            <a:off x="8774113" y="742950"/>
            <a:ext cx="0" cy="5335588"/>
          </a:xfrm>
          <a:prstGeom prst="line">
            <a:avLst/>
          </a:prstGeom>
          <a:noFill/>
          <a:ln w="9525">
            <a:solidFill>
              <a:schemeClr val="tx1"/>
            </a:solidFill>
            <a:round/>
            <a:headEnd type="arrow"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8143" name="Line 31">
            <a:extLst>
              <a:ext uri="{FF2B5EF4-FFF2-40B4-BE49-F238E27FC236}">
                <a16:creationId xmlns:a16="http://schemas.microsoft.com/office/drawing/2014/main" id="{9F520FA3-5EC3-76E6-0D1D-D73F6B80F4A3}"/>
              </a:ext>
            </a:extLst>
          </p:cNvPr>
          <p:cNvSpPr>
            <a:spLocks noChangeShapeType="1"/>
          </p:cNvSpPr>
          <p:nvPr/>
        </p:nvSpPr>
        <p:spPr bwMode="auto">
          <a:xfrm>
            <a:off x="6373813" y="742950"/>
            <a:ext cx="2397125" cy="0"/>
          </a:xfrm>
          <a:prstGeom prst="line">
            <a:avLst/>
          </a:prstGeom>
          <a:noFill/>
          <a:ln w="9525">
            <a:solidFill>
              <a:schemeClr val="tx1"/>
            </a:solidFill>
            <a:round/>
            <a:headEnd type="arrow"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8144" name="Line 32">
            <a:extLst>
              <a:ext uri="{FF2B5EF4-FFF2-40B4-BE49-F238E27FC236}">
                <a16:creationId xmlns:a16="http://schemas.microsoft.com/office/drawing/2014/main" id="{1D8BFD14-1681-93E2-1A24-4CB2A451CFF0}"/>
              </a:ext>
            </a:extLst>
          </p:cNvPr>
          <p:cNvSpPr>
            <a:spLocks noChangeShapeType="1"/>
          </p:cNvSpPr>
          <p:nvPr/>
        </p:nvSpPr>
        <p:spPr bwMode="auto">
          <a:xfrm>
            <a:off x="7213600" y="6080125"/>
            <a:ext cx="1541463" cy="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8145" name="Text Box 33">
            <a:extLst>
              <a:ext uri="{FF2B5EF4-FFF2-40B4-BE49-F238E27FC236}">
                <a16:creationId xmlns:a16="http://schemas.microsoft.com/office/drawing/2014/main" id="{594BD2E5-DA7F-15FD-3DD3-6EE705DBB4F8}"/>
              </a:ext>
            </a:extLst>
          </p:cNvPr>
          <p:cNvSpPr txBox="1">
            <a:spLocks noChangeArrowheads="1"/>
          </p:cNvSpPr>
          <p:nvPr/>
        </p:nvSpPr>
        <p:spPr bwMode="auto">
          <a:xfrm>
            <a:off x="7534275" y="5695950"/>
            <a:ext cx="835025"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ctr">
              <a:spcBef>
                <a:spcPct val="50000"/>
              </a:spcBef>
            </a:pPr>
            <a:r>
              <a:rPr kumimoji="1" lang="zh-CN" altLang="en-US" sz="2000" b="1">
                <a:solidFill>
                  <a:srgbClr val="006600"/>
                </a:solidFill>
                <a:effectLst/>
                <a:latin typeface="Times New Roman" panose="02020603050405020304" pitchFamily="18" charset="0"/>
              </a:rPr>
              <a:t>错误</a:t>
            </a:r>
            <a:endParaRPr kumimoji="1" lang="zh-CN" altLang="en-US" sz="2400" b="1">
              <a:solidFill>
                <a:srgbClr val="006600"/>
              </a:solidFill>
              <a:effectLst/>
              <a:latin typeface="Times New Roman" panose="02020603050405020304" pitchFamily="18" charset="0"/>
            </a:endParaRPr>
          </a:p>
        </p:txBody>
      </p:sp>
      <p:grpSp>
        <p:nvGrpSpPr>
          <p:cNvPr id="218146" name="Group 34">
            <a:extLst>
              <a:ext uri="{FF2B5EF4-FFF2-40B4-BE49-F238E27FC236}">
                <a16:creationId xmlns:a16="http://schemas.microsoft.com/office/drawing/2014/main" id="{EDD6A979-2779-A8F8-630C-7550E12960CC}"/>
              </a:ext>
            </a:extLst>
          </p:cNvPr>
          <p:cNvGrpSpPr>
            <a:grpSpLocks/>
          </p:cNvGrpSpPr>
          <p:nvPr/>
        </p:nvGrpSpPr>
        <p:grpSpPr bwMode="auto">
          <a:xfrm>
            <a:off x="8035925" y="4189413"/>
            <a:ext cx="835025" cy="458787"/>
            <a:chOff x="5062" y="2639"/>
            <a:chExt cx="526" cy="289"/>
          </a:xfrm>
        </p:grpSpPr>
        <p:sp>
          <p:nvSpPr>
            <p:cNvPr id="218147" name="Line 35">
              <a:extLst>
                <a:ext uri="{FF2B5EF4-FFF2-40B4-BE49-F238E27FC236}">
                  <a16:creationId xmlns:a16="http://schemas.microsoft.com/office/drawing/2014/main" id="{9856D57C-2046-4C0E-9B98-EAE105CBFF46}"/>
                </a:ext>
              </a:extLst>
            </p:cNvPr>
            <p:cNvSpPr>
              <a:spLocks noChangeShapeType="1"/>
            </p:cNvSpPr>
            <p:nvPr/>
          </p:nvSpPr>
          <p:spPr bwMode="auto">
            <a:xfrm>
              <a:off x="5188" y="2928"/>
              <a:ext cx="315" cy="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8148" name="Text Box 36">
              <a:extLst>
                <a:ext uri="{FF2B5EF4-FFF2-40B4-BE49-F238E27FC236}">
                  <a16:creationId xmlns:a16="http://schemas.microsoft.com/office/drawing/2014/main" id="{5B9C7337-6DB4-864A-DA04-DB7FBC10CD16}"/>
                </a:ext>
              </a:extLst>
            </p:cNvPr>
            <p:cNvSpPr txBox="1">
              <a:spLocks noChangeArrowheads="1"/>
            </p:cNvSpPr>
            <p:nvPr/>
          </p:nvSpPr>
          <p:spPr bwMode="auto">
            <a:xfrm>
              <a:off x="5062" y="2639"/>
              <a:ext cx="526"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ctr">
                <a:spcBef>
                  <a:spcPct val="50000"/>
                </a:spcBef>
              </a:pPr>
              <a:r>
                <a:rPr kumimoji="1" lang="zh-CN" altLang="en-US" sz="2000" b="1">
                  <a:solidFill>
                    <a:srgbClr val="006600"/>
                  </a:solidFill>
                  <a:effectLst/>
                  <a:latin typeface="Times New Roman" panose="02020603050405020304" pitchFamily="18" charset="0"/>
                </a:rPr>
                <a:t>错误</a:t>
              </a:r>
              <a:endParaRPr kumimoji="1" lang="zh-CN" altLang="en-US" sz="2400" b="1">
                <a:solidFill>
                  <a:srgbClr val="006600"/>
                </a:solidFill>
                <a:effectLst/>
                <a:latin typeface="Times New Roman" panose="02020603050405020304" pitchFamily="18" charset="0"/>
              </a:endParaRPr>
            </a:p>
          </p:txBody>
        </p:sp>
      </p:grpSp>
      <p:grpSp>
        <p:nvGrpSpPr>
          <p:cNvPr id="218149" name="Group 37">
            <a:extLst>
              <a:ext uri="{FF2B5EF4-FFF2-40B4-BE49-F238E27FC236}">
                <a16:creationId xmlns:a16="http://schemas.microsoft.com/office/drawing/2014/main" id="{E3DD210A-85F4-2C20-57DA-7D3C6C2D1072}"/>
              </a:ext>
            </a:extLst>
          </p:cNvPr>
          <p:cNvGrpSpPr>
            <a:grpSpLocks/>
          </p:cNvGrpSpPr>
          <p:nvPr/>
        </p:nvGrpSpPr>
        <p:grpSpPr bwMode="auto">
          <a:xfrm>
            <a:off x="8054975" y="2779713"/>
            <a:ext cx="835025" cy="458787"/>
            <a:chOff x="5062" y="2639"/>
            <a:chExt cx="526" cy="289"/>
          </a:xfrm>
        </p:grpSpPr>
        <p:sp>
          <p:nvSpPr>
            <p:cNvPr id="218150" name="Line 38">
              <a:extLst>
                <a:ext uri="{FF2B5EF4-FFF2-40B4-BE49-F238E27FC236}">
                  <a16:creationId xmlns:a16="http://schemas.microsoft.com/office/drawing/2014/main" id="{25764662-F4B7-AB46-BC0F-E64FD53E00E2}"/>
                </a:ext>
              </a:extLst>
            </p:cNvPr>
            <p:cNvSpPr>
              <a:spLocks noChangeShapeType="1"/>
            </p:cNvSpPr>
            <p:nvPr/>
          </p:nvSpPr>
          <p:spPr bwMode="auto">
            <a:xfrm>
              <a:off x="5188" y="2928"/>
              <a:ext cx="315" cy="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8151" name="Text Box 39">
              <a:extLst>
                <a:ext uri="{FF2B5EF4-FFF2-40B4-BE49-F238E27FC236}">
                  <a16:creationId xmlns:a16="http://schemas.microsoft.com/office/drawing/2014/main" id="{93889A4F-016F-F1CE-D610-5097688F3557}"/>
                </a:ext>
              </a:extLst>
            </p:cNvPr>
            <p:cNvSpPr txBox="1">
              <a:spLocks noChangeArrowheads="1"/>
            </p:cNvSpPr>
            <p:nvPr/>
          </p:nvSpPr>
          <p:spPr bwMode="auto">
            <a:xfrm>
              <a:off x="5062" y="2639"/>
              <a:ext cx="526"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ctr">
                <a:spcBef>
                  <a:spcPct val="50000"/>
                </a:spcBef>
              </a:pPr>
              <a:r>
                <a:rPr kumimoji="1" lang="zh-CN" altLang="en-US" sz="2000" b="1">
                  <a:solidFill>
                    <a:srgbClr val="006600"/>
                  </a:solidFill>
                  <a:effectLst/>
                  <a:latin typeface="Times New Roman" panose="02020603050405020304" pitchFamily="18" charset="0"/>
                </a:rPr>
                <a:t>错误</a:t>
              </a:r>
              <a:endParaRPr kumimoji="1" lang="zh-CN" altLang="en-US" sz="2400" b="1">
                <a:solidFill>
                  <a:srgbClr val="006600"/>
                </a:solidFill>
                <a:effectLst/>
                <a:latin typeface="Times New Roman" panose="02020603050405020304" pitchFamily="18" charset="0"/>
              </a:endParaRPr>
            </a:p>
          </p:txBody>
        </p:sp>
      </p:grpSp>
      <p:grpSp>
        <p:nvGrpSpPr>
          <p:cNvPr id="218152" name="Group 40">
            <a:extLst>
              <a:ext uri="{FF2B5EF4-FFF2-40B4-BE49-F238E27FC236}">
                <a16:creationId xmlns:a16="http://schemas.microsoft.com/office/drawing/2014/main" id="{4D709B6B-4AA0-723B-D5E3-126762FF2B65}"/>
              </a:ext>
            </a:extLst>
          </p:cNvPr>
          <p:cNvGrpSpPr>
            <a:grpSpLocks/>
          </p:cNvGrpSpPr>
          <p:nvPr/>
        </p:nvGrpSpPr>
        <p:grpSpPr bwMode="auto">
          <a:xfrm>
            <a:off x="8054975" y="1370013"/>
            <a:ext cx="835025" cy="458787"/>
            <a:chOff x="5062" y="2639"/>
            <a:chExt cx="526" cy="289"/>
          </a:xfrm>
        </p:grpSpPr>
        <p:sp>
          <p:nvSpPr>
            <p:cNvPr id="218153" name="Line 41">
              <a:extLst>
                <a:ext uri="{FF2B5EF4-FFF2-40B4-BE49-F238E27FC236}">
                  <a16:creationId xmlns:a16="http://schemas.microsoft.com/office/drawing/2014/main" id="{F534B821-DD7A-BD36-7BB2-6B52DC29A1A5}"/>
                </a:ext>
              </a:extLst>
            </p:cNvPr>
            <p:cNvSpPr>
              <a:spLocks noChangeShapeType="1"/>
            </p:cNvSpPr>
            <p:nvPr/>
          </p:nvSpPr>
          <p:spPr bwMode="auto">
            <a:xfrm>
              <a:off x="5188" y="2928"/>
              <a:ext cx="315" cy="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8154" name="Text Box 42">
              <a:extLst>
                <a:ext uri="{FF2B5EF4-FFF2-40B4-BE49-F238E27FC236}">
                  <a16:creationId xmlns:a16="http://schemas.microsoft.com/office/drawing/2014/main" id="{9598C542-D279-36C3-4977-186B78970F34}"/>
                </a:ext>
              </a:extLst>
            </p:cNvPr>
            <p:cNvSpPr txBox="1">
              <a:spLocks noChangeArrowheads="1"/>
            </p:cNvSpPr>
            <p:nvPr/>
          </p:nvSpPr>
          <p:spPr bwMode="auto">
            <a:xfrm>
              <a:off x="5062" y="2639"/>
              <a:ext cx="526"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ctr">
                <a:spcBef>
                  <a:spcPct val="50000"/>
                </a:spcBef>
              </a:pPr>
              <a:r>
                <a:rPr kumimoji="1" lang="zh-CN" altLang="en-US" sz="2000" b="1">
                  <a:solidFill>
                    <a:srgbClr val="006600"/>
                  </a:solidFill>
                  <a:effectLst/>
                  <a:latin typeface="Times New Roman" panose="02020603050405020304" pitchFamily="18" charset="0"/>
                </a:rPr>
                <a:t>错误</a:t>
              </a:r>
              <a:endParaRPr kumimoji="1" lang="zh-CN" altLang="en-US" sz="2400" b="1">
                <a:solidFill>
                  <a:srgbClr val="006600"/>
                </a:solidFill>
                <a:effectLst/>
                <a:latin typeface="Times New Roman" panose="02020603050405020304" pitchFamily="18" charset="0"/>
              </a:endParaRPr>
            </a:p>
          </p:txBody>
        </p:sp>
      </p:grpSp>
    </p:spTree>
  </p:cSld>
  <p:clrMapOvr>
    <a:masterClrMapping/>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8050" name="Rectangle 2">
            <a:extLst>
              <a:ext uri="{FF2B5EF4-FFF2-40B4-BE49-F238E27FC236}">
                <a16:creationId xmlns:a16="http://schemas.microsoft.com/office/drawing/2014/main" id="{53EE2DF2-29F3-0918-964D-1E2F4F8EE204}"/>
              </a:ext>
            </a:extLst>
          </p:cNvPr>
          <p:cNvSpPr>
            <a:spLocks noGrp="1" noChangeArrowheads="1"/>
          </p:cNvSpPr>
          <p:nvPr>
            <p:ph type="title"/>
          </p:nvPr>
        </p:nvSpPr>
        <p:spPr/>
        <p:txBody>
          <a:bodyPr/>
          <a:lstStyle/>
          <a:p>
            <a:r>
              <a:rPr lang="en-US" altLang="zh-CN" dirty="0"/>
              <a:t>3.2  </a:t>
            </a:r>
            <a:r>
              <a:rPr lang="zh-CN" altLang="en-US" dirty="0"/>
              <a:t>常量和变量 </a:t>
            </a:r>
          </a:p>
        </p:txBody>
      </p:sp>
      <p:sp>
        <p:nvSpPr>
          <p:cNvPr id="258051" name="Rectangle 3">
            <a:extLst>
              <a:ext uri="{FF2B5EF4-FFF2-40B4-BE49-F238E27FC236}">
                <a16:creationId xmlns:a16="http://schemas.microsoft.com/office/drawing/2014/main" id="{A46F76E0-8CCA-8CAB-9989-DEDCD09F26EC}"/>
              </a:ext>
            </a:extLst>
          </p:cNvPr>
          <p:cNvSpPr>
            <a:spLocks noGrp="1" noChangeArrowheads="1"/>
          </p:cNvSpPr>
          <p:nvPr>
            <p:ph type="body" idx="1"/>
          </p:nvPr>
        </p:nvSpPr>
        <p:spPr>
          <a:xfrm>
            <a:off x="395288" y="1052513"/>
            <a:ext cx="8351837" cy="5184775"/>
          </a:xfrm>
        </p:spPr>
        <p:txBody>
          <a:bodyPr/>
          <a:lstStyle/>
          <a:p>
            <a:r>
              <a:rPr lang="zh-CN" altLang="en-US" dirty="0"/>
              <a:t>汇编语言的数据可以简单分为常量和变量</a:t>
            </a:r>
          </a:p>
          <a:p>
            <a:r>
              <a:rPr lang="zh-CN" altLang="en-US" dirty="0">
                <a:solidFill>
                  <a:schemeClr val="tx1"/>
                </a:solidFill>
              </a:rPr>
              <a:t>常量</a:t>
            </a:r>
            <a:r>
              <a:rPr lang="zh-CN" altLang="en-US" dirty="0"/>
              <a:t>可以作为硬指令的立即数或伪指令的参数，</a:t>
            </a:r>
            <a:r>
              <a:rPr lang="zh-CN" altLang="en-US" dirty="0">
                <a:solidFill>
                  <a:schemeClr val="tx1"/>
                </a:solidFill>
              </a:rPr>
              <a:t>变量</a:t>
            </a:r>
            <a:r>
              <a:rPr lang="zh-CN" altLang="en-US" dirty="0"/>
              <a:t>主要作为存储器操作数</a:t>
            </a:r>
          </a:p>
        </p:txBody>
      </p:sp>
    </p:spTree>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02DE7BB2-294F-2215-22CE-12E3E7AEDAD6}"/>
              </a:ext>
            </a:extLst>
          </p:cNvPr>
          <p:cNvSpPr>
            <a:spLocks noGrp="1" noChangeArrowheads="1"/>
          </p:cNvSpPr>
          <p:nvPr>
            <p:ph type="title"/>
          </p:nvPr>
        </p:nvSpPr>
        <p:spPr/>
        <p:txBody>
          <a:bodyPr/>
          <a:lstStyle/>
          <a:p>
            <a:r>
              <a:rPr lang="en-US" altLang="zh-CN"/>
              <a:t>3.2.1 </a:t>
            </a:r>
            <a:r>
              <a:rPr lang="zh-CN" altLang="en-US"/>
              <a:t>常量</a:t>
            </a:r>
          </a:p>
        </p:txBody>
      </p:sp>
      <p:sp>
        <p:nvSpPr>
          <p:cNvPr id="45059" name="Rectangle 3">
            <a:extLst>
              <a:ext uri="{FF2B5EF4-FFF2-40B4-BE49-F238E27FC236}">
                <a16:creationId xmlns:a16="http://schemas.microsoft.com/office/drawing/2014/main" id="{105C71E4-E17E-4959-D9B6-E14095FFE6C2}"/>
              </a:ext>
            </a:extLst>
          </p:cNvPr>
          <p:cNvSpPr>
            <a:spLocks noGrp="1" noChangeArrowheads="1"/>
          </p:cNvSpPr>
          <p:nvPr>
            <p:ph type="body" idx="1"/>
          </p:nvPr>
        </p:nvSpPr>
        <p:spPr>
          <a:xfrm>
            <a:off x="684213" y="1484313"/>
            <a:ext cx="7632700" cy="4103687"/>
          </a:xfrm>
        </p:spPr>
        <p:txBody>
          <a:bodyPr/>
          <a:lstStyle/>
          <a:p>
            <a:pPr marL="609600" indent="-609600">
              <a:buFontTx/>
              <a:buNone/>
            </a:pPr>
            <a:r>
              <a:rPr lang="zh-CN" altLang="en-US" sz="2800"/>
              <a:t>常量表示一个固定的数值，它又分成多种形式</a:t>
            </a:r>
          </a:p>
          <a:p>
            <a:pPr marL="609600" indent="-609600">
              <a:buFontTx/>
              <a:buAutoNum type="arabicPeriod"/>
            </a:pPr>
            <a:r>
              <a:rPr lang="zh-CN" altLang="en-US" sz="3600" b="0">
                <a:solidFill>
                  <a:schemeClr val="tx1"/>
                </a:solidFill>
                <a:latin typeface="隶书" panose="02010509060101010101" pitchFamily="49" charset="-122"/>
                <a:ea typeface="隶书" panose="02010509060101010101" pitchFamily="49" charset="-122"/>
              </a:rPr>
              <a:t>常数</a:t>
            </a:r>
          </a:p>
          <a:p>
            <a:pPr marL="609600" indent="-609600">
              <a:buFontTx/>
              <a:buAutoNum type="arabicPeriod"/>
            </a:pPr>
            <a:r>
              <a:rPr lang="zh-CN" altLang="en-US" sz="3600" b="0">
                <a:solidFill>
                  <a:schemeClr val="tx1"/>
                </a:solidFill>
                <a:latin typeface="隶书" panose="02010509060101010101" pitchFamily="49" charset="-122"/>
                <a:ea typeface="隶书" panose="02010509060101010101" pitchFamily="49" charset="-122"/>
              </a:rPr>
              <a:t>字符串</a:t>
            </a:r>
          </a:p>
          <a:p>
            <a:pPr marL="609600" indent="-609600">
              <a:buFontTx/>
              <a:buAutoNum type="arabicPeriod"/>
            </a:pPr>
            <a:r>
              <a:rPr lang="zh-CN" altLang="en-US" sz="3600" b="0">
                <a:solidFill>
                  <a:schemeClr val="tx1"/>
                </a:solidFill>
                <a:latin typeface="隶书" panose="02010509060101010101" pitchFamily="49" charset="-122"/>
                <a:ea typeface="隶书" panose="02010509060101010101" pitchFamily="49" charset="-122"/>
              </a:rPr>
              <a:t>符合常量</a:t>
            </a:r>
          </a:p>
          <a:p>
            <a:pPr marL="609600" indent="-609600">
              <a:buFontTx/>
              <a:buAutoNum type="arabicPeriod"/>
            </a:pPr>
            <a:r>
              <a:rPr lang="zh-CN" altLang="en-US" sz="3600" b="0">
                <a:solidFill>
                  <a:schemeClr val="tx1"/>
                </a:solidFill>
                <a:latin typeface="隶书" panose="02010509060101010101" pitchFamily="49" charset="-122"/>
                <a:ea typeface="隶书" panose="02010509060101010101" pitchFamily="49" charset="-122"/>
              </a:rPr>
              <a:t>数值表达式</a:t>
            </a:r>
          </a:p>
        </p:txBody>
      </p:sp>
    </p:spTree>
  </p:cSld>
  <p:clrMapOvr>
    <a:masterClrMapping/>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3170" name="Rectangle 2">
            <a:extLst>
              <a:ext uri="{FF2B5EF4-FFF2-40B4-BE49-F238E27FC236}">
                <a16:creationId xmlns:a16="http://schemas.microsoft.com/office/drawing/2014/main" id="{DE0EBFDE-F199-98BC-9F7B-F6A4484089F2}"/>
              </a:ext>
            </a:extLst>
          </p:cNvPr>
          <p:cNvSpPr>
            <a:spLocks noGrp="1" noChangeArrowheads="1"/>
          </p:cNvSpPr>
          <p:nvPr>
            <p:ph type="title"/>
          </p:nvPr>
        </p:nvSpPr>
        <p:spPr/>
        <p:txBody>
          <a:bodyPr/>
          <a:lstStyle/>
          <a:p>
            <a:r>
              <a:rPr lang="en-US" altLang="zh-CN"/>
              <a:t>1. </a:t>
            </a:r>
            <a:r>
              <a:rPr lang="zh-CN" altLang="en-US"/>
              <a:t>常数</a:t>
            </a:r>
          </a:p>
        </p:txBody>
      </p:sp>
      <p:sp>
        <p:nvSpPr>
          <p:cNvPr id="263171" name="Rectangle 3">
            <a:extLst>
              <a:ext uri="{FF2B5EF4-FFF2-40B4-BE49-F238E27FC236}">
                <a16:creationId xmlns:a16="http://schemas.microsoft.com/office/drawing/2014/main" id="{25F502C0-CA45-F4A9-62D0-27DAE90AB35E}"/>
              </a:ext>
            </a:extLst>
          </p:cNvPr>
          <p:cNvSpPr>
            <a:spLocks noGrp="1" noChangeArrowheads="1"/>
          </p:cNvSpPr>
          <p:nvPr>
            <p:ph type="body" idx="1"/>
          </p:nvPr>
        </p:nvSpPr>
        <p:spPr>
          <a:xfrm>
            <a:off x="250825" y="981075"/>
            <a:ext cx="8229600" cy="1439863"/>
          </a:xfrm>
        </p:spPr>
        <p:txBody>
          <a:bodyPr/>
          <a:lstStyle/>
          <a:p>
            <a:r>
              <a:rPr lang="zh-CN" altLang="en-US" sz="2800"/>
              <a:t>指由</a:t>
            </a:r>
            <a:r>
              <a:rPr lang="en-US" altLang="zh-CN" sz="2800"/>
              <a:t>10</a:t>
            </a:r>
            <a:r>
              <a:rPr lang="zh-CN" altLang="en-US" sz="2800"/>
              <a:t>、</a:t>
            </a:r>
            <a:r>
              <a:rPr lang="en-US" altLang="zh-CN" sz="2800"/>
              <a:t>16</a:t>
            </a:r>
            <a:r>
              <a:rPr lang="zh-CN" altLang="en-US" sz="2800"/>
              <a:t>、</a:t>
            </a:r>
            <a:r>
              <a:rPr lang="en-US" altLang="zh-CN" sz="2800"/>
              <a:t>2</a:t>
            </a:r>
            <a:r>
              <a:rPr lang="zh-CN" altLang="en-US" sz="2800"/>
              <a:t>和</a:t>
            </a:r>
            <a:r>
              <a:rPr lang="en-US" altLang="zh-CN" sz="2800"/>
              <a:t>8</a:t>
            </a:r>
            <a:r>
              <a:rPr lang="zh-CN" altLang="en-US" sz="2800"/>
              <a:t>进制形式表达的数值，各种进制的数据以后缀字母区分，默认不加后缀字母的是十进制数</a:t>
            </a:r>
            <a:endParaRPr lang="zh-CN" altLang="en-US" sz="2800">
              <a:solidFill>
                <a:srgbClr val="CC0099"/>
              </a:solidFill>
            </a:endParaRPr>
          </a:p>
        </p:txBody>
      </p:sp>
      <p:graphicFrame>
        <p:nvGraphicFramePr>
          <p:cNvPr id="263211" name="Group 43">
            <a:extLst>
              <a:ext uri="{FF2B5EF4-FFF2-40B4-BE49-F238E27FC236}">
                <a16:creationId xmlns:a16="http://schemas.microsoft.com/office/drawing/2014/main" id="{4222822C-77C7-4A47-C835-E057F11D6234}"/>
              </a:ext>
            </a:extLst>
          </p:cNvPr>
          <p:cNvGraphicFramePr>
            <a:graphicFrameLocks noGrp="1"/>
          </p:cNvGraphicFramePr>
          <p:nvPr/>
        </p:nvGraphicFramePr>
        <p:xfrm>
          <a:off x="468313" y="2565400"/>
          <a:ext cx="8424862" cy="2948305"/>
        </p:xfrm>
        <a:graphic>
          <a:graphicData uri="http://schemas.openxmlformats.org/drawingml/2006/table">
            <a:tbl>
              <a:tblPr/>
              <a:tblGrid>
                <a:gridCol w="1511300">
                  <a:extLst>
                    <a:ext uri="{9D8B030D-6E8A-4147-A177-3AD203B41FA5}">
                      <a16:colId xmlns:a16="http://schemas.microsoft.com/office/drawing/2014/main" val="3363579341"/>
                    </a:ext>
                  </a:extLst>
                </a:gridCol>
                <a:gridCol w="5041900">
                  <a:extLst>
                    <a:ext uri="{9D8B030D-6E8A-4147-A177-3AD203B41FA5}">
                      <a16:colId xmlns:a16="http://schemas.microsoft.com/office/drawing/2014/main" val="3450747673"/>
                    </a:ext>
                  </a:extLst>
                </a:gridCol>
                <a:gridCol w="1871662">
                  <a:extLst>
                    <a:ext uri="{9D8B030D-6E8A-4147-A177-3AD203B41FA5}">
                      <a16:colId xmlns:a16="http://schemas.microsoft.com/office/drawing/2014/main" val="3624505503"/>
                    </a:ext>
                  </a:extLst>
                </a:gridCol>
              </a:tblGrid>
              <a:tr h="936625">
                <a:tc>
                  <a:txBody>
                    <a:bodyPr/>
                    <a:lstStyle>
                      <a:lvl1pPr algn="just">
                        <a:spcBef>
                          <a:spcPct val="20000"/>
                        </a:spcBef>
                        <a:defRPr sz="2800" b="1">
                          <a:solidFill>
                            <a:schemeClr val="accent2"/>
                          </a:solidFill>
                          <a:latin typeface="Arial" panose="020B0604020202020204" pitchFamily="34" charset="0"/>
                          <a:ea typeface="幼圆" panose="02010509060101010101" pitchFamily="49" charset="-122"/>
                        </a:defRPr>
                      </a:lvl1pPr>
                      <a:lvl2pPr algn="just">
                        <a:spcBef>
                          <a:spcPct val="20000"/>
                        </a:spcBef>
                        <a:defRPr sz="2400" b="1">
                          <a:solidFill>
                            <a:schemeClr val="tx1"/>
                          </a:solidFill>
                          <a:latin typeface="Arial" panose="020B0604020202020204" pitchFamily="34" charset="0"/>
                          <a:ea typeface="宋体" panose="02010600030101010101" pitchFamily="2" charset="-122"/>
                        </a:defRPr>
                      </a:lvl2pPr>
                      <a:lvl3pPr algn="just">
                        <a:spcBef>
                          <a:spcPct val="20000"/>
                        </a:spcBef>
                        <a:defRPr sz="2000">
                          <a:solidFill>
                            <a:schemeClr val="tx1"/>
                          </a:solidFill>
                          <a:latin typeface="Arial" panose="020B0604020202020204" pitchFamily="34" charset="0"/>
                          <a:ea typeface="宋体" panose="02010600030101010101" pitchFamily="2" charset="-122"/>
                        </a:defRPr>
                      </a:lvl3pPr>
                      <a:lvl4pPr algn="just">
                        <a:spcBef>
                          <a:spcPct val="20000"/>
                        </a:spcBef>
                        <a:defRPr>
                          <a:solidFill>
                            <a:schemeClr val="tx1"/>
                          </a:solidFill>
                          <a:latin typeface="Arial" panose="020B0604020202020204" pitchFamily="34" charset="0"/>
                          <a:ea typeface="宋体" panose="02010600030101010101" pitchFamily="2" charset="-122"/>
                        </a:defRPr>
                      </a:lvl4pPr>
                      <a:lvl5pPr algn="just">
                        <a:spcBef>
                          <a:spcPct val="20000"/>
                        </a:spcBef>
                        <a:defRPr>
                          <a:solidFill>
                            <a:schemeClr val="tx1"/>
                          </a:solidFill>
                          <a:latin typeface="Arial" panose="020B0604020202020204" pitchFamily="34" charset="0"/>
                          <a:ea typeface="宋体" panose="02010600030101010101" pitchFamily="2" charset="-122"/>
                        </a:defRPr>
                      </a:lvl5pPr>
                      <a:lvl6pPr algn="just"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algn="just"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algn="just"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algn="just"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a:ln>
                            <a:noFill/>
                          </a:ln>
                          <a:solidFill>
                            <a:schemeClr val="tx1"/>
                          </a:solidFill>
                          <a:effectLst/>
                          <a:latin typeface="Arial" panose="020B0604020202020204" pitchFamily="34" charset="0"/>
                          <a:ea typeface="幼圆" panose="02010509060101010101" pitchFamily="49" charset="-122"/>
                        </a:rPr>
                        <a:t>十进制</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Arial" panose="020B0604020202020204" pitchFamily="34" charset="0"/>
                          <a:ea typeface="幼圆" panose="02010509060101010101" pitchFamily="49" charset="-122"/>
                        </a:defRPr>
                      </a:lvl1pPr>
                      <a:lvl2pPr algn="just">
                        <a:spcBef>
                          <a:spcPct val="20000"/>
                        </a:spcBef>
                        <a:defRPr sz="2400" b="1">
                          <a:solidFill>
                            <a:schemeClr val="tx1"/>
                          </a:solidFill>
                          <a:latin typeface="Arial" panose="020B0604020202020204" pitchFamily="34" charset="0"/>
                          <a:ea typeface="宋体" panose="02010600030101010101" pitchFamily="2" charset="-122"/>
                        </a:defRPr>
                      </a:lvl2pPr>
                      <a:lvl3pPr algn="just">
                        <a:spcBef>
                          <a:spcPct val="20000"/>
                        </a:spcBef>
                        <a:defRPr sz="2000">
                          <a:solidFill>
                            <a:schemeClr val="tx1"/>
                          </a:solidFill>
                          <a:latin typeface="Arial" panose="020B0604020202020204" pitchFamily="34" charset="0"/>
                          <a:ea typeface="宋体" panose="02010600030101010101" pitchFamily="2" charset="-122"/>
                        </a:defRPr>
                      </a:lvl3pPr>
                      <a:lvl4pPr algn="just">
                        <a:spcBef>
                          <a:spcPct val="20000"/>
                        </a:spcBef>
                        <a:defRPr>
                          <a:solidFill>
                            <a:schemeClr val="tx1"/>
                          </a:solidFill>
                          <a:latin typeface="Arial" panose="020B0604020202020204" pitchFamily="34" charset="0"/>
                          <a:ea typeface="宋体" panose="02010600030101010101" pitchFamily="2" charset="-122"/>
                        </a:defRPr>
                      </a:lvl4pPr>
                      <a:lvl5pPr algn="just">
                        <a:spcBef>
                          <a:spcPct val="20000"/>
                        </a:spcBef>
                        <a:defRPr>
                          <a:solidFill>
                            <a:schemeClr val="tx1"/>
                          </a:solidFill>
                          <a:latin typeface="Arial" panose="020B0604020202020204" pitchFamily="34" charset="0"/>
                          <a:ea typeface="宋体" panose="02010600030101010101" pitchFamily="2" charset="-122"/>
                        </a:defRPr>
                      </a:lvl5pPr>
                      <a:lvl6pPr algn="just"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algn="just"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algn="just"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algn="just"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a:ln>
                            <a:noFill/>
                          </a:ln>
                          <a:solidFill>
                            <a:schemeClr val="accent2"/>
                          </a:solidFill>
                          <a:effectLst/>
                          <a:latin typeface="Arial" panose="020B0604020202020204" pitchFamily="34" charset="0"/>
                          <a:ea typeface="幼圆" panose="02010509060101010101" pitchFamily="49" charset="-122"/>
                        </a:rPr>
                        <a:t>由</a:t>
                      </a:r>
                      <a:r>
                        <a:rPr kumimoji="0" lang="en-US" altLang="zh-CN" sz="2400" b="1" i="0" u="none" strike="noStrike" cap="none" normalizeH="0" baseline="0">
                          <a:ln>
                            <a:noFill/>
                          </a:ln>
                          <a:solidFill>
                            <a:schemeClr val="accent2"/>
                          </a:solidFill>
                          <a:effectLst/>
                          <a:latin typeface="Arial" panose="020B0604020202020204" pitchFamily="34" charset="0"/>
                          <a:ea typeface="幼圆" panose="02010509060101010101" pitchFamily="49" charset="-122"/>
                        </a:rPr>
                        <a:t>0 ~ 9</a:t>
                      </a:r>
                      <a:r>
                        <a:rPr kumimoji="0" lang="zh-CN" altLang="en-US" sz="2400" b="1" i="0" u="none" strike="noStrike" cap="none" normalizeH="0" baseline="0">
                          <a:ln>
                            <a:noFill/>
                          </a:ln>
                          <a:solidFill>
                            <a:schemeClr val="accent2"/>
                          </a:solidFill>
                          <a:effectLst/>
                          <a:latin typeface="Arial" panose="020B0604020202020204" pitchFamily="34" charset="0"/>
                          <a:ea typeface="幼圆" panose="02010509060101010101" pitchFamily="49" charset="-122"/>
                        </a:rPr>
                        <a:t>数字组成，以字母</a:t>
                      </a:r>
                      <a:r>
                        <a:rPr kumimoji="0" lang="en-US" altLang="zh-CN" sz="2400" b="1" i="0" u="none" strike="noStrike" cap="none" normalizeH="0" baseline="0">
                          <a:ln>
                            <a:noFill/>
                          </a:ln>
                          <a:solidFill>
                            <a:schemeClr val="accent2"/>
                          </a:solidFill>
                          <a:effectLst/>
                          <a:latin typeface="Arial" panose="020B0604020202020204" pitchFamily="34" charset="0"/>
                          <a:ea typeface="幼圆" panose="02010509060101010101" pitchFamily="49" charset="-122"/>
                        </a:rPr>
                        <a:t>D</a:t>
                      </a:r>
                      <a:r>
                        <a:rPr kumimoji="0" lang="zh-CN" altLang="en-US" sz="2400" b="1" i="0" u="none" strike="noStrike" cap="none" normalizeH="0" baseline="0">
                          <a:ln>
                            <a:noFill/>
                          </a:ln>
                          <a:solidFill>
                            <a:schemeClr val="accent2"/>
                          </a:solidFill>
                          <a:effectLst/>
                          <a:latin typeface="Arial" panose="020B0604020202020204" pitchFamily="34" charset="0"/>
                          <a:ea typeface="幼圆" panose="02010509060101010101" pitchFamily="49" charset="-122"/>
                        </a:rPr>
                        <a:t>（</a:t>
                      </a:r>
                      <a:r>
                        <a:rPr kumimoji="0" lang="en-US" altLang="zh-CN" sz="2400" b="1" i="0" u="none" strike="noStrike" cap="none" normalizeH="0" baseline="0">
                          <a:ln>
                            <a:noFill/>
                          </a:ln>
                          <a:solidFill>
                            <a:schemeClr val="accent2"/>
                          </a:solidFill>
                          <a:effectLst/>
                          <a:latin typeface="Arial" panose="020B0604020202020204" pitchFamily="34" charset="0"/>
                          <a:ea typeface="幼圆" panose="02010509060101010101" pitchFamily="49" charset="-122"/>
                        </a:rPr>
                        <a:t>d</a:t>
                      </a:r>
                      <a:r>
                        <a:rPr kumimoji="0" lang="zh-CN" altLang="en-US" sz="2400" b="1" i="0" u="none" strike="noStrike" cap="none" normalizeH="0" baseline="0">
                          <a:ln>
                            <a:noFill/>
                          </a:ln>
                          <a:solidFill>
                            <a:schemeClr val="accent2"/>
                          </a:solidFill>
                          <a:effectLst/>
                          <a:latin typeface="Arial" panose="020B0604020202020204" pitchFamily="34" charset="0"/>
                          <a:ea typeface="幼圆" panose="02010509060101010101" pitchFamily="49" charset="-122"/>
                        </a:rPr>
                        <a:t>）结尾（缺省情况可以省略）</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Arial" panose="020B0604020202020204" pitchFamily="34" charset="0"/>
                          <a:ea typeface="幼圆" panose="02010509060101010101" pitchFamily="49" charset="-122"/>
                        </a:defRPr>
                      </a:lvl1pPr>
                      <a:lvl2pPr algn="just">
                        <a:spcBef>
                          <a:spcPct val="20000"/>
                        </a:spcBef>
                        <a:defRPr sz="2400" b="1">
                          <a:solidFill>
                            <a:schemeClr val="tx1"/>
                          </a:solidFill>
                          <a:latin typeface="Arial" panose="020B0604020202020204" pitchFamily="34" charset="0"/>
                          <a:ea typeface="宋体" panose="02010600030101010101" pitchFamily="2" charset="-122"/>
                        </a:defRPr>
                      </a:lvl2pPr>
                      <a:lvl3pPr algn="just">
                        <a:spcBef>
                          <a:spcPct val="20000"/>
                        </a:spcBef>
                        <a:defRPr sz="2000">
                          <a:solidFill>
                            <a:schemeClr val="tx1"/>
                          </a:solidFill>
                          <a:latin typeface="Arial" panose="020B0604020202020204" pitchFamily="34" charset="0"/>
                          <a:ea typeface="宋体" panose="02010600030101010101" pitchFamily="2" charset="-122"/>
                        </a:defRPr>
                      </a:lvl3pPr>
                      <a:lvl4pPr algn="just">
                        <a:spcBef>
                          <a:spcPct val="20000"/>
                        </a:spcBef>
                        <a:defRPr>
                          <a:solidFill>
                            <a:schemeClr val="tx1"/>
                          </a:solidFill>
                          <a:latin typeface="Arial" panose="020B0604020202020204" pitchFamily="34" charset="0"/>
                          <a:ea typeface="宋体" panose="02010600030101010101" pitchFamily="2" charset="-122"/>
                        </a:defRPr>
                      </a:lvl4pPr>
                      <a:lvl5pPr algn="just">
                        <a:spcBef>
                          <a:spcPct val="20000"/>
                        </a:spcBef>
                        <a:defRPr>
                          <a:solidFill>
                            <a:schemeClr val="tx1"/>
                          </a:solidFill>
                          <a:latin typeface="Arial" panose="020B0604020202020204" pitchFamily="34" charset="0"/>
                          <a:ea typeface="宋体" panose="02010600030101010101" pitchFamily="2" charset="-122"/>
                        </a:defRPr>
                      </a:lvl5pPr>
                      <a:lvl6pPr algn="just"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algn="just"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algn="just"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algn="just"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1"/>
                          </a:solidFill>
                          <a:effectLst/>
                          <a:latin typeface="Arial" panose="020B0604020202020204" pitchFamily="34" charset="0"/>
                          <a:ea typeface="幼圆" panose="02010509060101010101" pitchFamily="49" charset="-122"/>
                        </a:rPr>
                        <a:t>100</a:t>
                      </a:r>
                      <a:r>
                        <a:rPr kumimoji="0" lang="zh-CN" altLang="en-US" sz="2400" b="1" i="0" u="none" strike="noStrike" cap="none" normalizeH="0" baseline="0">
                          <a:ln>
                            <a:noFill/>
                          </a:ln>
                          <a:solidFill>
                            <a:schemeClr val="tx1"/>
                          </a:solidFill>
                          <a:effectLst/>
                          <a:latin typeface="Arial" panose="020B0604020202020204" pitchFamily="34" charset="0"/>
                          <a:ea typeface="幼圆" panose="02010509060101010101" pitchFamily="49" charset="-122"/>
                        </a:rPr>
                        <a:t>，</a:t>
                      </a:r>
                      <a:r>
                        <a:rPr kumimoji="0" lang="en-US" altLang="zh-CN" sz="2400" b="1" i="0" u="none" strike="noStrike" cap="none" normalizeH="0" baseline="0">
                          <a:ln>
                            <a:noFill/>
                          </a:ln>
                          <a:solidFill>
                            <a:schemeClr val="tx1"/>
                          </a:solidFill>
                          <a:effectLst/>
                          <a:latin typeface="Arial" panose="020B0604020202020204" pitchFamily="34" charset="0"/>
                          <a:ea typeface="幼圆" panose="02010509060101010101" pitchFamily="49" charset="-122"/>
                        </a:rPr>
                        <a:t>255D</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30847247"/>
                  </a:ext>
                </a:extLst>
              </a:tr>
              <a:tr h="863600">
                <a:tc>
                  <a:txBody>
                    <a:bodyPr/>
                    <a:lstStyle>
                      <a:lvl1pPr algn="just">
                        <a:spcBef>
                          <a:spcPct val="20000"/>
                        </a:spcBef>
                        <a:defRPr sz="2800" b="1">
                          <a:solidFill>
                            <a:schemeClr val="accent2"/>
                          </a:solidFill>
                          <a:latin typeface="Arial" panose="020B0604020202020204" pitchFamily="34" charset="0"/>
                          <a:ea typeface="幼圆" panose="02010509060101010101" pitchFamily="49" charset="-122"/>
                        </a:defRPr>
                      </a:lvl1pPr>
                      <a:lvl2pPr algn="just">
                        <a:spcBef>
                          <a:spcPct val="20000"/>
                        </a:spcBef>
                        <a:defRPr sz="2400" b="1">
                          <a:solidFill>
                            <a:schemeClr val="tx1"/>
                          </a:solidFill>
                          <a:latin typeface="Arial" panose="020B0604020202020204" pitchFamily="34" charset="0"/>
                          <a:ea typeface="宋体" panose="02010600030101010101" pitchFamily="2" charset="-122"/>
                        </a:defRPr>
                      </a:lvl2pPr>
                      <a:lvl3pPr algn="just">
                        <a:spcBef>
                          <a:spcPct val="20000"/>
                        </a:spcBef>
                        <a:defRPr sz="2000">
                          <a:solidFill>
                            <a:schemeClr val="tx1"/>
                          </a:solidFill>
                          <a:latin typeface="Arial" panose="020B0604020202020204" pitchFamily="34" charset="0"/>
                          <a:ea typeface="宋体" panose="02010600030101010101" pitchFamily="2" charset="-122"/>
                        </a:defRPr>
                      </a:lvl3pPr>
                      <a:lvl4pPr algn="just">
                        <a:spcBef>
                          <a:spcPct val="20000"/>
                        </a:spcBef>
                        <a:defRPr>
                          <a:solidFill>
                            <a:schemeClr val="tx1"/>
                          </a:solidFill>
                          <a:latin typeface="Arial" panose="020B0604020202020204" pitchFamily="34" charset="0"/>
                          <a:ea typeface="宋体" panose="02010600030101010101" pitchFamily="2" charset="-122"/>
                        </a:defRPr>
                      </a:lvl4pPr>
                      <a:lvl5pPr algn="just">
                        <a:spcBef>
                          <a:spcPct val="20000"/>
                        </a:spcBef>
                        <a:defRPr>
                          <a:solidFill>
                            <a:schemeClr val="tx1"/>
                          </a:solidFill>
                          <a:latin typeface="Arial" panose="020B0604020202020204" pitchFamily="34" charset="0"/>
                          <a:ea typeface="宋体" panose="02010600030101010101" pitchFamily="2" charset="-122"/>
                        </a:defRPr>
                      </a:lvl5pPr>
                      <a:lvl6pPr algn="just"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algn="just"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algn="just"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algn="just"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a:ln>
                            <a:noFill/>
                          </a:ln>
                          <a:solidFill>
                            <a:schemeClr val="tx1"/>
                          </a:solidFill>
                          <a:effectLst/>
                          <a:latin typeface="Arial" panose="020B0604020202020204" pitchFamily="34" charset="0"/>
                          <a:ea typeface="幼圆" panose="02010509060101010101" pitchFamily="49" charset="-122"/>
                        </a:rPr>
                        <a:t>十六进制</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Arial" panose="020B0604020202020204" pitchFamily="34" charset="0"/>
                          <a:ea typeface="幼圆" panose="02010509060101010101" pitchFamily="49" charset="-122"/>
                        </a:defRPr>
                      </a:lvl1pPr>
                      <a:lvl2pPr algn="just">
                        <a:spcBef>
                          <a:spcPct val="20000"/>
                        </a:spcBef>
                        <a:defRPr sz="2400" b="1">
                          <a:solidFill>
                            <a:schemeClr val="tx1"/>
                          </a:solidFill>
                          <a:latin typeface="Arial" panose="020B0604020202020204" pitchFamily="34" charset="0"/>
                          <a:ea typeface="宋体" panose="02010600030101010101" pitchFamily="2" charset="-122"/>
                        </a:defRPr>
                      </a:lvl2pPr>
                      <a:lvl3pPr algn="just">
                        <a:spcBef>
                          <a:spcPct val="20000"/>
                        </a:spcBef>
                        <a:defRPr sz="2000">
                          <a:solidFill>
                            <a:schemeClr val="tx1"/>
                          </a:solidFill>
                          <a:latin typeface="Arial" panose="020B0604020202020204" pitchFamily="34" charset="0"/>
                          <a:ea typeface="宋体" panose="02010600030101010101" pitchFamily="2" charset="-122"/>
                        </a:defRPr>
                      </a:lvl3pPr>
                      <a:lvl4pPr algn="just">
                        <a:spcBef>
                          <a:spcPct val="20000"/>
                        </a:spcBef>
                        <a:defRPr>
                          <a:solidFill>
                            <a:schemeClr val="tx1"/>
                          </a:solidFill>
                          <a:latin typeface="Arial" panose="020B0604020202020204" pitchFamily="34" charset="0"/>
                          <a:ea typeface="宋体" panose="02010600030101010101" pitchFamily="2" charset="-122"/>
                        </a:defRPr>
                      </a:lvl4pPr>
                      <a:lvl5pPr algn="just">
                        <a:spcBef>
                          <a:spcPct val="20000"/>
                        </a:spcBef>
                        <a:defRPr>
                          <a:solidFill>
                            <a:schemeClr val="tx1"/>
                          </a:solidFill>
                          <a:latin typeface="Arial" panose="020B0604020202020204" pitchFamily="34" charset="0"/>
                          <a:ea typeface="宋体" panose="02010600030101010101" pitchFamily="2" charset="-122"/>
                        </a:defRPr>
                      </a:lvl5pPr>
                      <a:lvl6pPr algn="just"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algn="just"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algn="just"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algn="just"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a:ln>
                            <a:noFill/>
                          </a:ln>
                          <a:solidFill>
                            <a:schemeClr val="accent2"/>
                          </a:solidFill>
                          <a:effectLst/>
                          <a:latin typeface="Arial" panose="020B0604020202020204" pitchFamily="34" charset="0"/>
                          <a:ea typeface="幼圆" panose="02010509060101010101" pitchFamily="49" charset="-122"/>
                        </a:rPr>
                        <a:t>由</a:t>
                      </a:r>
                      <a:r>
                        <a:rPr kumimoji="0" lang="en-US" altLang="zh-CN" sz="2400" b="1" i="0" u="none" strike="noStrike" cap="none" normalizeH="0" baseline="0">
                          <a:ln>
                            <a:noFill/>
                          </a:ln>
                          <a:solidFill>
                            <a:schemeClr val="accent2"/>
                          </a:solidFill>
                          <a:effectLst/>
                          <a:latin typeface="Arial" panose="020B0604020202020204" pitchFamily="34" charset="0"/>
                          <a:ea typeface="幼圆" panose="02010509060101010101" pitchFamily="49" charset="-122"/>
                        </a:rPr>
                        <a:t>0 ~ 9</a:t>
                      </a:r>
                      <a:r>
                        <a:rPr kumimoji="0" lang="zh-CN" altLang="en-US" sz="2400" b="1" i="0" u="none" strike="noStrike" cap="none" normalizeH="0" baseline="0">
                          <a:ln>
                            <a:noFill/>
                          </a:ln>
                          <a:solidFill>
                            <a:schemeClr val="accent2"/>
                          </a:solidFill>
                          <a:effectLst/>
                          <a:latin typeface="Arial" panose="020B0604020202020204" pitchFamily="34" charset="0"/>
                          <a:ea typeface="幼圆" panose="02010509060101010101" pitchFamily="49" charset="-122"/>
                        </a:rPr>
                        <a:t>、</a:t>
                      </a:r>
                      <a:r>
                        <a:rPr kumimoji="0" lang="en-US" altLang="zh-CN" sz="2400" b="1" i="0" u="none" strike="noStrike" cap="none" normalizeH="0" baseline="0">
                          <a:ln>
                            <a:noFill/>
                          </a:ln>
                          <a:solidFill>
                            <a:schemeClr val="accent2"/>
                          </a:solidFill>
                          <a:effectLst/>
                          <a:latin typeface="Arial" panose="020B0604020202020204" pitchFamily="34" charset="0"/>
                          <a:ea typeface="幼圆" panose="02010509060101010101" pitchFamily="49" charset="-122"/>
                        </a:rPr>
                        <a:t>A ~ F</a:t>
                      </a:r>
                      <a:r>
                        <a:rPr kumimoji="0" lang="zh-CN" altLang="en-US" sz="2400" b="1" i="0" u="none" strike="noStrike" cap="none" normalizeH="0" baseline="0">
                          <a:ln>
                            <a:noFill/>
                          </a:ln>
                          <a:solidFill>
                            <a:schemeClr val="accent2"/>
                          </a:solidFill>
                          <a:effectLst/>
                          <a:latin typeface="Arial" panose="020B0604020202020204" pitchFamily="34" charset="0"/>
                          <a:ea typeface="幼圆" panose="02010509060101010101" pitchFamily="49" charset="-122"/>
                        </a:rPr>
                        <a:t>数字组成，以字母</a:t>
                      </a:r>
                      <a:r>
                        <a:rPr kumimoji="0" lang="en-US" altLang="zh-CN" sz="2400" b="1" i="0" u="none" strike="noStrike" cap="none" normalizeH="0" baseline="0">
                          <a:ln>
                            <a:noFill/>
                          </a:ln>
                          <a:solidFill>
                            <a:schemeClr val="accent2"/>
                          </a:solidFill>
                          <a:effectLst/>
                          <a:latin typeface="Arial" panose="020B0604020202020204" pitchFamily="34" charset="0"/>
                          <a:ea typeface="幼圆" panose="02010509060101010101" pitchFamily="49" charset="-122"/>
                        </a:rPr>
                        <a:t>H</a:t>
                      </a:r>
                      <a:r>
                        <a:rPr kumimoji="0" lang="zh-CN" altLang="en-US" sz="2400" b="1" i="0" u="none" strike="noStrike" cap="none" normalizeH="0" baseline="0">
                          <a:ln>
                            <a:noFill/>
                          </a:ln>
                          <a:solidFill>
                            <a:schemeClr val="accent2"/>
                          </a:solidFill>
                          <a:effectLst/>
                          <a:latin typeface="Arial" panose="020B0604020202020204" pitchFamily="34" charset="0"/>
                          <a:ea typeface="幼圆" panose="02010509060101010101" pitchFamily="49" charset="-122"/>
                        </a:rPr>
                        <a:t>（</a:t>
                      </a:r>
                      <a:r>
                        <a:rPr kumimoji="0" lang="en-US" altLang="zh-CN" sz="2400" b="1" i="0" u="none" strike="noStrike" cap="none" normalizeH="0" baseline="0">
                          <a:ln>
                            <a:noFill/>
                          </a:ln>
                          <a:solidFill>
                            <a:schemeClr val="accent2"/>
                          </a:solidFill>
                          <a:effectLst/>
                          <a:latin typeface="Arial" panose="020B0604020202020204" pitchFamily="34" charset="0"/>
                          <a:ea typeface="幼圆" panose="02010509060101010101" pitchFamily="49" charset="-122"/>
                        </a:rPr>
                        <a:t>h</a:t>
                      </a:r>
                      <a:r>
                        <a:rPr kumimoji="0" lang="zh-CN" altLang="en-US" sz="2400" b="1" i="0" u="none" strike="noStrike" cap="none" normalizeH="0" baseline="0">
                          <a:ln>
                            <a:noFill/>
                          </a:ln>
                          <a:solidFill>
                            <a:schemeClr val="accent2"/>
                          </a:solidFill>
                          <a:effectLst/>
                          <a:latin typeface="Arial" panose="020B0604020202020204" pitchFamily="34" charset="0"/>
                          <a:ea typeface="幼圆" panose="02010509060101010101" pitchFamily="49" charset="-122"/>
                        </a:rPr>
                        <a:t>）结尾，以字母开头的常数需要加一个前导</a:t>
                      </a:r>
                      <a:r>
                        <a:rPr kumimoji="0" lang="en-US" altLang="zh-CN" sz="2400" b="1" i="0" u="none" strike="noStrike" cap="none" normalizeH="0" baseline="0">
                          <a:ln>
                            <a:noFill/>
                          </a:ln>
                          <a:solidFill>
                            <a:schemeClr val="accent2"/>
                          </a:solidFill>
                          <a:effectLst/>
                          <a:latin typeface="Arial" panose="020B0604020202020204" pitchFamily="34" charset="0"/>
                          <a:ea typeface="幼圆" panose="020105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Arial" panose="020B0604020202020204" pitchFamily="34" charset="0"/>
                          <a:ea typeface="幼圆" panose="02010509060101010101" pitchFamily="49" charset="-122"/>
                        </a:defRPr>
                      </a:lvl1pPr>
                      <a:lvl2pPr algn="just">
                        <a:spcBef>
                          <a:spcPct val="20000"/>
                        </a:spcBef>
                        <a:defRPr sz="2400" b="1">
                          <a:solidFill>
                            <a:schemeClr val="tx1"/>
                          </a:solidFill>
                          <a:latin typeface="Arial" panose="020B0604020202020204" pitchFamily="34" charset="0"/>
                          <a:ea typeface="宋体" panose="02010600030101010101" pitchFamily="2" charset="-122"/>
                        </a:defRPr>
                      </a:lvl2pPr>
                      <a:lvl3pPr algn="just">
                        <a:spcBef>
                          <a:spcPct val="20000"/>
                        </a:spcBef>
                        <a:defRPr sz="2000">
                          <a:solidFill>
                            <a:schemeClr val="tx1"/>
                          </a:solidFill>
                          <a:latin typeface="Arial" panose="020B0604020202020204" pitchFamily="34" charset="0"/>
                          <a:ea typeface="宋体" panose="02010600030101010101" pitchFamily="2" charset="-122"/>
                        </a:defRPr>
                      </a:lvl3pPr>
                      <a:lvl4pPr algn="just">
                        <a:spcBef>
                          <a:spcPct val="20000"/>
                        </a:spcBef>
                        <a:defRPr>
                          <a:solidFill>
                            <a:schemeClr val="tx1"/>
                          </a:solidFill>
                          <a:latin typeface="Arial" panose="020B0604020202020204" pitchFamily="34" charset="0"/>
                          <a:ea typeface="宋体" panose="02010600030101010101" pitchFamily="2" charset="-122"/>
                        </a:defRPr>
                      </a:lvl4pPr>
                      <a:lvl5pPr algn="just">
                        <a:spcBef>
                          <a:spcPct val="20000"/>
                        </a:spcBef>
                        <a:defRPr>
                          <a:solidFill>
                            <a:schemeClr val="tx1"/>
                          </a:solidFill>
                          <a:latin typeface="Arial" panose="020B0604020202020204" pitchFamily="34" charset="0"/>
                          <a:ea typeface="宋体" panose="02010600030101010101" pitchFamily="2" charset="-122"/>
                        </a:defRPr>
                      </a:lvl5pPr>
                      <a:lvl6pPr algn="just"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algn="just"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algn="just"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algn="just"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1"/>
                          </a:solidFill>
                          <a:effectLst/>
                          <a:latin typeface="Arial" panose="020B0604020202020204" pitchFamily="34" charset="0"/>
                          <a:ea typeface="幼圆" panose="02010509060101010101" pitchFamily="49" charset="-122"/>
                        </a:rPr>
                        <a:t>64H</a:t>
                      </a:r>
                      <a:r>
                        <a:rPr kumimoji="0" lang="zh-CN" altLang="en-US" sz="2400" b="1" i="0" u="none" strike="noStrike" cap="none" normalizeH="0" baseline="0">
                          <a:ln>
                            <a:noFill/>
                          </a:ln>
                          <a:solidFill>
                            <a:schemeClr val="tx1"/>
                          </a:solidFill>
                          <a:effectLst/>
                          <a:latin typeface="Arial" panose="020B0604020202020204" pitchFamily="34" charset="0"/>
                          <a:ea typeface="幼圆" panose="02010509060101010101" pitchFamily="49" charset="-122"/>
                        </a:rPr>
                        <a:t>，</a:t>
                      </a:r>
                      <a:r>
                        <a:rPr kumimoji="0" lang="en-US" altLang="zh-CN" sz="2400" b="1" i="0" u="none" strike="noStrike" cap="none" normalizeH="0" baseline="0">
                          <a:ln>
                            <a:noFill/>
                          </a:ln>
                          <a:solidFill>
                            <a:schemeClr val="tx1"/>
                          </a:solidFill>
                          <a:effectLst/>
                          <a:latin typeface="Arial" panose="020B0604020202020204" pitchFamily="34" charset="0"/>
                          <a:ea typeface="幼圆" panose="02010509060101010101" pitchFamily="49" charset="-122"/>
                        </a:rPr>
                        <a:t>0FFH</a:t>
                      </a:r>
                    </a:p>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1"/>
                          </a:solidFill>
                          <a:effectLst/>
                          <a:latin typeface="Arial" panose="020B0604020202020204" pitchFamily="34" charset="0"/>
                          <a:ea typeface="幼圆" panose="02010509060101010101" pitchFamily="49" charset="-122"/>
                        </a:rPr>
                        <a:t>0B800H</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91374362"/>
                  </a:ext>
                </a:extLst>
              </a:tr>
              <a:tr h="758825">
                <a:tc>
                  <a:txBody>
                    <a:bodyPr/>
                    <a:lstStyle>
                      <a:lvl1pPr algn="just">
                        <a:spcBef>
                          <a:spcPct val="20000"/>
                        </a:spcBef>
                        <a:defRPr sz="2800" b="1">
                          <a:solidFill>
                            <a:schemeClr val="accent2"/>
                          </a:solidFill>
                          <a:latin typeface="Arial" panose="020B0604020202020204" pitchFamily="34" charset="0"/>
                          <a:ea typeface="幼圆" panose="02010509060101010101" pitchFamily="49" charset="-122"/>
                        </a:defRPr>
                      </a:lvl1pPr>
                      <a:lvl2pPr algn="just">
                        <a:spcBef>
                          <a:spcPct val="20000"/>
                        </a:spcBef>
                        <a:defRPr sz="2400" b="1">
                          <a:solidFill>
                            <a:schemeClr val="tx1"/>
                          </a:solidFill>
                          <a:latin typeface="Arial" panose="020B0604020202020204" pitchFamily="34" charset="0"/>
                          <a:ea typeface="宋体" panose="02010600030101010101" pitchFamily="2" charset="-122"/>
                        </a:defRPr>
                      </a:lvl2pPr>
                      <a:lvl3pPr algn="just">
                        <a:spcBef>
                          <a:spcPct val="20000"/>
                        </a:spcBef>
                        <a:defRPr sz="2000">
                          <a:solidFill>
                            <a:schemeClr val="tx1"/>
                          </a:solidFill>
                          <a:latin typeface="Arial" panose="020B0604020202020204" pitchFamily="34" charset="0"/>
                          <a:ea typeface="宋体" panose="02010600030101010101" pitchFamily="2" charset="-122"/>
                        </a:defRPr>
                      </a:lvl3pPr>
                      <a:lvl4pPr algn="just">
                        <a:spcBef>
                          <a:spcPct val="20000"/>
                        </a:spcBef>
                        <a:defRPr>
                          <a:solidFill>
                            <a:schemeClr val="tx1"/>
                          </a:solidFill>
                          <a:latin typeface="Arial" panose="020B0604020202020204" pitchFamily="34" charset="0"/>
                          <a:ea typeface="宋体" panose="02010600030101010101" pitchFamily="2" charset="-122"/>
                        </a:defRPr>
                      </a:lvl4pPr>
                      <a:lvl5pPr algn="just">
                        <a:spcBef>
                          <a:spcPct val="20000"/>
                        </a:spcBef>
                        <a:defRPr>
                          <a:solidFill>
                            <a:schemeClr val="tx1"/>
                          </a:solidFill>
                          <a:latin typeface="Arial" panose="020B0604020202020204" pitchFamily="34" charset="0"/>
                          <a:ea typeface="宋体" panose="02010600030101010101" pitchFamily="2" charset="-122"/>
                        </a:defRPr>
                      </a:lvl5pPr>
                      <a:lvl6pPr algn="just"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algn="just"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algn="just"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algn="just"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a:ln>
                            <a:noFill/>
                          </a:ln>
                          <a:solidFill>
                            <a:schemeClr val="tx1"/>
                          </a:solidFill>
                          <a:effectLst/>
                          <a:latin typeface="Arial" panose="020B0604020202020204" pitchFamily="34" charset="0"/>
                          <a:ea typeface="幼圆" panose="02010509060101010101" pitchFamily="49" charset="-122"/>
                        </a:rPr>
                        <a:t>二进制</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Arial" panose="020B0604020202020204" pitchFamily="34" charset="0"/>
                          <a:ea typeface="幼圆" panose="02010509060101010101" pitchFamily="49" charset="-122"/>
                        </a:defRPr>
                      </a:lvl1pPr>
                      <a:lvl2pPr algn="just">
                        <a:spcBef>
                          <a:spcPct val="20000"/>
                        </a:spcBef>
                        <a:defRPr sz="2400" b="1">
                          <a:solidFill>
                            <a:schemeClr val="tx1"/>
                          </a:solidFill>
                          <a:latin typeface="Arial" panose="020B0604020202020204" pitchFamily="34" charset="0"/>
                          <a:ea typeface="宋体" panose="02010600030101010101" pitchFamily="2" charset="-122"/>
                        </a:defRPr>
                      </a:lvl2pPr>
                      <a:lvl3pPr algn="just">
                        <a:spcBef>
                          <a:spcPct val="20000"/>
                        </a:spcBef>
                        <a:defRPr sz="2000">
                          <a:solidFill>
                            <a:schemeClr val="tx1"/>
                          </a:solidFill>
                          <a:latin typeface="Arial" panose="020B0604020202020204" pitchFamily="34" charset="0"/>
                          <a:ea typeface="宋体" panose="02010600030101010101" pitchFamily="2" charset="-122"/>
                        </a:defRPr>
                      </a:lvl3pPr>
                      <a:lvl4pPr algn="just">
                        <a:spcBef>
                          <a:spcPct val="20000"/>
                        </a:spcBef>
                        <a:defRPr>
                          <a:solidFill>
                            <a:schemeClr val="tx1"/>
                          </a:solidFill>
                          <a:latin typeface="Arial" panose="020B0604020202020204" pitchFamily="34" charset="0"/>
                          <a:ea typeface="宋体" panose="02010600030101010101" pitchFamily="2" charset="-122"/>
                        </a:defRPr>
                      </a:lvl4pPr>
                      <a:lvl5pPr algn="just">
                        <a:spcBef>
                          <a:spcPct val="20000"/>
                        </a:spcBef>
                        <a:defRPr>
                          <a:solidFill>
                            <a:schemeClr val="tx1"/>
                          </a:solidFill>
                          <a:latin typeface="Arial" panose="020B0604020202020204" pitchFamily="34" charset="0"/>
                          <a:ea typeface="宋体" panose="02010600030101010101" pitchFamily="2" charset="-122"/>
                        </a:defRPr>
                      </a:lvl5pPr>
                      <a:lvl6pPr algn="just"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algn="just"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algn="just"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algn="just"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a:ln>
                            <a:noFill/>
                          </a:ln>
                          <a:solidFill>
                            <a:schemeClr val="accent2"/>
                          </a:solidFill>
                          <a:effectLst/>
                          <a:latin typeface="Arial" panose="020B0604020202020204" pitchFamily="34" charset="0"/>
                          <a:ea typeface="幼圆" panose="02010509060101010101" pitchFamily="49" charset="-122"/>
                        </a:rPr>
                        <a:t>由</a:t>
                      </a:r>
                      <a:r>
                        <a:rPr kumimoji="0" lang="en-US" altLang="zh-CN" sz="2400" b="1" i="0" u="none" strike="noStrike" cap="none" normalizeH="0" baseline="0">
                          <a:ln>
                            <a:noFill/>
                          </a:ln>
                          <a:solidFill>
                            <a:schemeClr val="accent2"/>
                          </a:solidFill>
                          <a:effectLst/>
                          <a:latin typeface="Arial" panose="020B0604020202020204" pitchFamily="34" charset="0"/>
                          <a:ea typeface="幼圆" panose="02010509060101010101" pitchFamily="49" charset="-122"/>
                        </a:rPr>
                        <a:t>0</a:t>
                      </a:r>
                      <a:r>
                        <a:rPr kumimoji="0" lang="zh-CN" altLang="en-US" sz="2400" b="1" i="0" u="none" strike="noStrike" cap="none" normalizeH="0" baseline="0">
                          <a:ln>
                            <a:noFill/>
                          </a:ln>
                          <a:solidFill>
                            <a:schemeClr val="accent2"/>
                          </a:solidFill>
                          <a:effectLst/>
                          <a:latin typeface="Arial" panose="020B0604020202020204" pitchFamily="34" charset="0"/>
                          <a:ea typeface="幼圆" panose="02010509060101010101" pitchFamily="49" charset="-122"/>
                        </a:rPr>
                        <a:t>和</a:t>
                      </a:r>
                      <a:r>
                        <a:rPr kumimoji="0" lang="en-US" altLang="zh-CN" sz="2400" b="1" i="0" u="none" strike="noStrike" cap="none" normalizeH="0" baseline="0">
                          <a:ln>
                            <a:noFill/>
                          </a:ln>
                          <a:solidFill>
                            <a:schemeClr val="accent2"/>
                          </a:solidFill>
                          <a:effectLst/>
                          <a:latin typeface="Arial" panose="020B0604020202020204" pitchFamily="34" charset="0"/>
                          <a:ea typeface="幼圆" panose="02010509060101010101" pitchFamily="49" charset="-122"/>
                        </a:rPr>
                        <a:t>1</a:t>
                      </a:r>
                      <a:r>
                        <a:rPr kumimoji="0" lang="zh-CN" altLang="en-US" sz="2400" b="1" i="0" u="none" strike="noStrike" cap="none" normalizeH="0" baseline="0">
                          <a:ln>
                            <a:noFill/>
                          </a:ln>
                          <a:solidFill>
                            <a:schemeClr val="accent2"/>
                          </a:solidFill>
                          <a:effectLst/>
                          <a:latin typeface="Arial" panose="020B0604020202020204" pitchFamily="34" charset="0"/>
                          <a:ea typeface="幼圆" panose="02010509060101010101" pitchFamily="49" charset="-122"/>
                        </a:rPr>
                        <a:t>两个数字组成，以字母</a:t>
                      </a:r>
                      <a:r>
                        <a:rPr kumimoji="0" lang="en-US" altLang="zh-CN" sz="2400" b="1" i="0" u="none" strike="noStrike" cap="none" normalizeH="0" baseline="0">
                          <a:ln>
                            <a:noFill/>
                          </a:ln>
                          <a:solidFill>
                            <a:schemeClr val="accent2"/>
                          </a:solidFill>
                          <a:effectLst/>
                          <a:latin typeface="Arial" panose="020B0604020202020204" pitchFamily="34" charset="0"/>
                          <a:ea typeface="幼圆" panose="02010509060101010101" pitchFamily="49" charset="-122"/>
                        </a:rPr>
                        <a:t>B</a:t>
                      </a:r>
                      <a:r>
                        <a:rPr kumimoji="0" lang="zh-CN" altLang="en-US" sz="2400" b="1" i="0" u="none" strike="noStrike" cap="none" normalizeH="0" baseline="0">
                          <a:ln>
                            <a:noFill/>
                          </a:ln>
                          <a:solidFill>
                            <a:schemeClr val="accent2"/>
                          </a:solidFill>
                          <a:effectLst/>
                          <a:latin typeface="Arial" panose="020B0604020202020204" pitchFamily="34" charset="0"/>
                          <a:ea typeface="幼圆" panose="02010509060101010101" pitchFamily="49" charset="-122"/>
                        </a:rPr>
                        <a:t>（</a:t>
                      </a:r>
                      <a:r>
                        <a:rPr kumimoji="0" lang="en-US" altLang="zh-CN" sz="2400" b="1" i="0" u="none" strike="noStrike" cap="none" normalizeH="0" baseline="0">
                          <a:ln>
                            <a:noFill/>
                          </a:ln>
                          <a:solidFill>
                            <a:schemeClr val="accent2"/>
                          </a:solidFill>
                          <a:effectLst/>
                          <a:latin typeface="Arial" panose="020B0604020202020204" pitchFamily="34" charset="0"/>
                          <a:ea typeface="幼圆" panose="02010509060101010101" pitchFamily="49" charset="-122"/>
                        </a:rPr>
                        <a:t>b</a:t>
                      </a:r>
                      <a:r>
                        <a:rPr kumimoji="0" lang="zh-CN" altLang="en-US" sz="2400" b="1" i="0" u="none" strike="noStrike" cap="none" normalizeH="0" baseline="0">
                          <a:ln>
                            <a:noFill/>
                          </a:ln>
                          <a:solidFill>
                            <a:schemeClr val="accent2"/>
                          </a:solidFill>
                          <a:effectLst/>
                          <a:latin typeface="Arial" panose="020B0604020202020204" pitchFamily="34" charset="0"/>
                          <a:ea typeface="幼圆" panose="02010509060101010101" pitchFamily="49" charset="-122"/>
                        </a:rPr>
                        <a:t>）结尾</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Arial" panose="020B0604020202020204" pitchFamily="34" charset="0"/>
                          <a:ea typeface="幼圆" panose="02010509060101010101" pitchFamily="49" charset="-122"/>
                        </a:defRPr>
                      </a:lvl1pPr>
                      <a:lvl2pPr algn="just">
                        <a:spcBef>
                          <a:spcPct val="20000"/>
                        </a:spcBef>
                        <a:defRPr sz="2400" b="1">
                          <a:solidFill>
                            <a:schemeClr val="tx1"/>
                          </a:solidFill>
                          <a:latin typeface="Arial" panose="020B0604020202020204" pitchFamily="34" charset="0"/>
                          <a:ea typeface="宋体" panose="02010600030101010101" pitchFamily="2" charset="-122"/>
                        </a:defRPr>
                      </a:lvl2pPr>
                      <a:lvl3pPr algn="just">
                        <a:spcBef>
                          <a:spcPct val="20000"/>
                        </a:spcBef>
                        <a:defRPr sz="2000">
                          <a:solidFill>
                            <a:schemeClr val="tx1"/>
                          </a:solidFill>
                          <a:latin typeface="Arial" panose="020B0604020202020204" pitchFamily="34" charset="0"/>
                          <a:ea typeface="宋体" panose="02010600030101010101" pitchFamily="2" charset="-122"/>
                        </a:defRPr>
                      </a:lvl3pPr>
                      <a:lvl4pPr algn="just">
                        <a:spcBef>
                          <a:spcPct val="20000"/>
                        </a:spcBef>
                        <a:defRPr>
                          <a:solidFill>
                            <a:schemeClr val="tx1"/>
                          </a:solidFill>
                          <a:latin typeface="Arial" panose="020B0604020202020204" pitchFamily="34" charset="0"/>
                          <a:ea typeface="宋体" panose="02010600030101010101" pitchFamily="2" charset="-122"/>
                        </a:defRPr>
                      </a:lvl4pPr>
                      <a:lvl5pPr algn="just">
                        <a:spcBef>
                          <a:spcPct val="20000"/>
                        </a:spcBef>
                        <a:defRPr>
                          <a:solidFill>
                            <a:schemeClr val="tx1"/>
                          </a:solidFill>
                          <a:latin typeface="Arial" panose="020B0604020202020204" pitchFamily="34" charset="0"/>
                          <a:ea typeface="宋体" panose="02010600030101010101" pitchFamily="2" charset="-122"/>
                        </a:defRPr>
                      </a:lvl5pPr>
                      <a:lvl6pPr algn="just"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algn="just"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algn="just"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algn="just"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1"/>
                          </a:solidFill>
                          <a:effectLst/>
                          <a:latin typeface="Arial" panose="020B0604020202020204" pitchFamily="34" charset="0"/>
                          <a:ea typeface="幼圆" panose="02010509060101010101" pitchFamily="49" charset="-122"/>
                        </a:rPr>
                        <a:t>01100100B</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10745850"/>
                  </a:ext>
                </a:extLst>
              </a:tr>
            </a:tbl>
          </a:graphicData>
        </a:graphic>
      </p:graphicFrame>
    </p:spTree>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0095C91B-8220-2D31-B2E8-4186D2842D2C}"/>
              </a:ext>
            </a:extLst>
          </p:cNvPr>
          <p:cNvSpPr>
            <a:spLocks noGrp="1" noChangeArrowheads="1"/>
          </p:cNvSpPr>
          <p:nvPr>
            <p:ph type="title"/>
          </p:nvPr>
        </p:nvSpPr>
        <p:spPr/>
        <p:txBody>
          <a:bodyPr/>
          <a:lstStyle/>
          <a:p>
            <a:r>
              <a:rPr lang="en-US" altLang="zh-CN"/>
              <a:t>2. </a:t>
            </a:r>
            <a:r>
              <a:rPr lang="zh-CN" altLang="en-US"/>
              <a:t>字符串</a:t>
            </a:r>
          </a:p>
        </p:txBody>
      </p:sp>
      <p:sp>
        <p:nvSpPr>
          <p:cNvPr id="47107" name="Rectangle 3">
            <a:extLst>
              <a:ext uri="{FF2B5EF4-FFF2-40B4-BE49-F238E27FC236}">
                <a16:creationId xmlns:a16="http://schemas.microsoft.com/office/drawing/2014/main" id="{DD79ACCF-5E36-CBED-4CBC-2F5773F6D75F}"/>
              </a:ext>
            </a:extLst>
          </p:cNvPr>
          <p:cNvSpPr>
            <a:spLocks noGrp="1" noChangeArrowheads="1"/>
          </p:cNvSpPr>
          <p:nvPr>
            <p:ph type="body" idx="1"/>
          </p:nvPr>
        </p:nvSpPr>
        <p:spPr/>
        <p:txBody>
          <a:bodyPr/>
          <a:lstStyle/>
          <a:p>
            <a:r>
              <a:rPr lang="zh-CN" altLang="en-US"/>
              <a:t>字符串常量是用单引号或双引号括起来的单个字符或多个字符</a:t>
            </a:r>
          </a:p>
          <a:p>
            <a:r>
              <a:rPr lang="zh-CN" altLang="en-US"/>
              <a:t>其</a:t>
            </a:r>
            <a:r>
              <a:rPr lang="zh-CN" altLang="en-US">
                <a:solidFill>
                  <a:schemeClr val="tx1"/>
                </a:solidFill>
              </a:rPr>
              <a:t>数值是每个字符对应的</a:t>
            </a:r>
            <a:r>
              <a:rPr lang="en-US" altLang="zh-CN">
                <a:solidFill>
                  <a:schemeClr val="tx1"/>
                </a:solidFill>
              </a:rPr>
              <a:t>ASCII</a:t>
            </a:r>
            <a:r>
              <a:rPr lang="zh-CN" altLang="en-US">
                <a:solidFill>
                  <a:schemeClr val="tx1"/>
                </a:solidFill>
              </a:rPr>
              <a:t>码值</a:t>
            </a:r>
          </a:p>
          <a:p>
            <a:r>
              <a:rPr lang="zh-CN" altLang="en-US"/>
              <a:t>例如：</a:t>
            </a:r>
          </a:p>
          <a:p>
            <a:pPr>
              <a:buFontTx/>
              <a:buNone/>
            </a:pPr>
            <a:r>
              <a:rPr lang="zh-CN" altLang="en-US"/>
              <a:t>	</a:t>
            </a:r>
            <a:r>
              <a:rPr lang="zh-CN" altLang="en-US">
                <a:solidFill>
                  <a:schemeClr val="tx1"/>
                </a:solidFill>
              </a:rPr>
              <a:t>‘</a:t>
            </a:r>
            <a:r>
              <a:rPr lang="en-US" altLang="zh-CN">
                <a:solidFill>
                  <a:schemeClr val="tx1"/>
                </a:solidFill>
              </a:rPr>
              <a:t>d’</a:t>
            </a:r>
            <a:r>
              <a:rPr lang="zh-CN" altLang="en-US"/>
              <a:t>（等于</a:t>
            </a:r>
            <a:r>
              <a:rPr lang="en-US" altLang="zh-CN"/>
              <a:t>64H</a:t>
            </a:r>
            <a:r>
              <a:rPr lang="zh-CN" altLang="en-US"/>
              <a:t>）</a:t>
            </a:r>
          </a:p>
          <a:p>
            <a:pPr>
              <a:buFontTx/>
              <a:buNone/>
            </a:pPr>
            <a:r>
              <a:rPr lang="zh-CN" altLang="en-US"/>
              <a:t>	</a:t>
            </a:r>
            <a:r>
              <a:rPr lang="zh-CN" altLang="en-US">
                <a:solidFill>
                  <a:schemeClr val="tx1"/>
                </a:solidFill>
              </a:rPr>
              <a:t>‘</a:t>
            </a:r>
            <a:r>
              <a:rPr lang="en-US" altLang="zh-CN">
                <a:solidFill>
                  <a:schemeClr val="tx1"/>
                </a:solidFill>
              </a:rPr>
              <a:t>AB’</a:t>
            </a:r>
            <a:r>
              <a:rPr lang="zh-CN" altLang="en-US"/>
              <a:t>（等于</a:t>
            </a:r>
            <a:r>
              <a:rPr lang="en-US" altLang="zh-CN"/>
              <a:t>4142H</a:t>
            </a:r>
            <a:r>
              <a:rPr lang="zh-CN" altLang="en-US"/>
              <a:t>）</a:t>
            </a:r>
          </a:p>
          <a:p>
            <a:pPr>
              <a:buFontTx/>
              <a:buNone/>
            </a:pPr>
            <a:r>
              <a:rPr lang="zh-CN" altLang="en-US"/>
              <a:t>	</a:t>
            </a:r>
            <a:r>
              <a:rPr lang="zh-CN" altLang="en-US">
                <a:solidFill>
                  <a:schemeClr val="tx1"/>
                </a:solidFill>
              </a:rPr>
              <a:t>‘</a:t>
            </a:r>
            <a:r>
              <a:rPr lang="en-US" altLang="zh-CN">
                <a:solidFill>
                  <a:schemeClr val="tx1"/>
                </a:solidFill>
              </a:rPr>
              <a:t>Hello, Assembly !’</a:t>
            </a:r>
          </a:p>
        </p:txBody>
      </p:sp>
    </p:spTree>
  </p:cSld>
  <p:clrMapOvr>
    <a:masterClrMapping/>
  </p:clrMapOvr>
  <p:transition>
    <p:random/>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338707EA-B069-6986-11C3-437DB92C827B}"/>
              </a:ext>
            </a:extLst>
          </p:cNvPr>
          <p:cNvSpPr>
            <a:spLocks noGrp="1" noChangeArrowheads="1"/>
          </p:cNvSpPr>
          <p:nvPr>
            <p:ph type="title"/>
          </p:nvPr>
        </p:nvSpPr>
        <p:spPr/>
        <p:txBody>
          <a:bodyPr/>
          <a:lstStyle/>
          <a:p>
            <a:r>
              <a:rPr lang="en-US" altLang="zh-CN"/>
              <a:t>3. </a:t>
            </a:r>
            <a:r>
              <a:rPr lang="zh-CN" altLang="en-US"/>
              <a:t>符号常量</a:t>
            </a:r>
          </a:p>
        </p:txBody>
      </p:sp>
      <p:sp>
        <p:nvSpPr>
          <p:cNvPr id="48131" name="Rectangle 3">
            <a:extLst>
              <a:ext uri="{FF2B5EF4-FFF2-40B4-BE49-F238E27FC236}">
                <a16:creationId xmlns:a16="http://schemas.microsoft.com/office/drawing/2014/main" id="{D8D8E3B0-9D6A-D1FA-F759-B1DC1BA50FA0}"/>
              </a:ext>
            </a:extLst>
          </p:cNvPr>
          <p:cNvSpPr>
            <a:spLocks noGrp="1" noChangeArrowheads="1"/>
          </p:cNvSpPr>
          <p:nvPr>
            <p:ph type="body" idx="1"/>
          </p:nvPr>
        </p:nvSpPr>
        <p:spPr>
          <a:xfrm>
            <a:off x="468313" y="836613"/>
            <a:ext cx="8229600" cy="5184775"/>
          </a:xfrm>
        </p:spPr>
        <p:txBody>
          <a:bodyPr/>
          <a:lstStyle/>
          <a:p>
            <a:r>
              <a:rPr lang="zh-CN" altLang="en-US" sz="2800" dirty="0"/>
              <a:t>符号常量使用标识符表达一个数值</a:t>
            </a:r>
          </a:p>
          <a:p>
            <a:endParaRPr lang="en-US" altLang="zh-CN" sz="2800" dirty="0"/>
          </a:p>
          <a:p>
            <a:r>
              <a:rPr lang="zh-CN" altLang="en-US" sz="2800" dirty="0"/>
              <a:t>符号定义伪指令有“</a:t>
            </a:r>
            <a:r>
              <a:rPr lang="zh-CN" altLang="en-US" sz="2800" dirty="0">
                <a:solidFill>
                  <a:schemeClr val="tx1"/>
                </a:solidFill>
              </a:rPr>
              <a:t>等价</a:t>
            </a:r>
            <a:r>
              <a:rPr lang="en-US" altLang="zh-CN" sz="2800" dirty="0">
                <a:solidFill>
                  <a:schemeClr val="tx1"/>
                </a:solidFill>
              </a:rPr>
              <a:t>EQU</a:t>
            </a:r>
            <a:r>
              <a:rPr lang="en-US" altLang="zh-CN" sz="2800" dirty="0"/>
              <a:t>”</a:t>
            </a:r>
            <a:r>
              <a:rPr lang="zh-CN" altLang="en-US" sz="2800" dirty="0"/>
              <a:t>和“</a:t>
            </a:r>
            <a:r>
              <a:rPr lang="zh-CN" altLang="en-US" sz="2800" dirty="0">
                <a:solidFill>
                  <a:schemeClr val="tx1"/>
                </a:solidFill>
              </a:rPr>
              <a:t>等号＝</a:t>
            </a:r>
            <a:r>
              <a:rPr lang="zh-CN" altLang="en-US" sz="2800" dirty="0"/>
              <a:t>”：</a:t>
            </a:r>
          </a:p>
          <a:p>
            <a:pPr>
              <a:buFontTx/>
              <a:buNone/>
            </a:pPr>
            <a:r>
              <a:rPr lang="zh-CN" altLang="en-US" sz="2800" dirty="0"/>
              <a:t>		符号名 </a:t>
            </a:r>
            <a:r>
              <a:rPr lang="en-US" altLang="zh-CN" sz="2800" dirty="0">
                <a:solidFill>
                  <a:schemeClr val="tx1"/>
                </a:solidFill>
              </a:rPr>
              <a:t>EQU</a:t>
            </a:r>
            <a:r>
              <a:rPr lang="en-US" altLang="zh-CN" sz="2800" dirty="0"/>
              <a:t> </a:t>
            </a:r>
            <a:r>
              <a:rPr lang="zh-CN" altLang="en-US" sz="2800" dirty="0"/>
              <a:t>数值表达式</a:t>
            </a:r>
          </a:p>
          <a:p>
            <a:pPr>
              <a:buFontTx/>
              <a:buNone/>
            </a:pPr>
            <a:r>
              <a:rPr lang="zh-CN" altLang="en-US" sz="2800" dirty="0"/>
              <a:t>		符号名 </a:t>
            </a:r>
            <a:r>
              <a:rPr lang="en-US" altLang="zh-CN" sz="2800" dirty="0"/>
              <a:t>EQU &lt;</a:t>
            </a:r>
            <a:r>
              <a:rPr lang="zh-CN" altLang="en-US" sz="2800" dirty="0"/>
              <a:t>字符串</a:t>
            </a:r>
            <a:r>
              <a:rPr lang="en-US" altLang="zh-CN" sz="2800" dirty="0"/>
              <a:t>&gt;</a:t>
            </a:r>
            <a:endParaRPr lang="en-US" altLang="zh-CN" sz="2400" dirty="0"/>
          </a:p>
          <a:p>
            <a:pPr>
              <a:buFontTx/>
              <a:buNone/>
            </a:pPr>
            <a:r>
              <a:rPr lang="en-US" altLang="zh-CN" sz="2800" dirty="0"/>
              <a:t>		</a:t>
            </a:r>
            <a:r>
              <a:rPr lang="zh-CN" altLang="en-US" sz="2800" dirty="0"/>
              <a:t>符号名 </a:t>
            </a:r>
            <a:r>
              <a:rPr lang="zh-CN" altLang="en-US" sz="2800" dirty="0">
                <a:solidFill>
                  <a:schemeClr val="tx1"/>
                </a:solidFill>
              </a:rPr>
              <a:t>＝</a:t>
            </a:r>
            <a:r>
              <a:rPr lang="zh-CN" altLang="en-US" sz="2800" dirty="0"/>
              <a:t> 数值表达式</a:t>
            </a:r>
          </a:p>
          <a:p>
            <a:r>
              <a:rPr lang="en-US" altLang="zh-CN" dirty="0"/>
              <a:t>EQU</a:t>
            </a:r>
            <a:r>
              <a:rPr lang="zh-CN" altLang="en-US" dirty="0"/>
              <a:t>用于数值等价时不能重复定义符号名，但“＝”允许有重复赋值。例如：</a:t>
            </a:r>
          </a:p>
          <a:p>
            <a:pPr lvl="1">
              <a:buFontTx/>
              <a:buNone/>
            </a:pPr>
            <a:r>
              <a:rPr lang="zh-CN" altLang="en-US" dirty="0"/>
              <a:t>	</a:t>
            </a:r>
            <a:r>
              <a:rPr lang="en-US" altLang="zh-CN" dirty="0"/>
              <a:t>X	= 7		</a:t>
            </a:r>
            <a:r>
              <a:rPr lang="zh-CN" altLang="en-US" dirty="0"/>
              <a:t>；等效于：</a:t>
            </a:r>
            <a:r>
              <a:rPr lang="en-US" altLang="zh-CN" dirty="0"/>
              <a:t>X </a:t>
            </a:r>
            <a:r>
              <a:rPr lang="en-US" altLang="zh-CN" dirty="0" err="1"/>
              <a:t>qeu</a:t>
            </a:r>
            <a:r>
              <a:rPr lang="en-US" altLang="zh-CN" dirty="0"/>
              <a:t> 7</a:t>
            </a:r>
          </a:p>
          <a:p>
            <a:pPr lvl="1">
              <a:buFontTx/>
              <a:buNone/>
            </a:pPr>
            <a:r>
              <a:rPr lang="en-US" altLang="zh-CN" dirty="0"/>
              <a:t>	X	= X+5	</a:t>
            </a:r>
            <a:r>
              <a:rPr lang="zh-CN" altLang="en-US" dirty="0"/>
              <a:t>；“</a:t>
            </a:r>
            <a:r>
              <a:rPr lang="en-US" altLang="zh-CN" dirty="0"/>
              <a:t>X EQU X+5”</a:t>
            </a:r>
            <a:r>
              <a:rPr lang="zh-CN" altLang="en-US" dirty="0"/>
              <a:t>是错误的</a:t>
            </a:r>
          </a:p>
        </p:txBody>
      </p:sp>
    </p:spTree>
  </p:cSld>
  <p:clrMapOvr>
    <a:masterClrMapping/>
  </p:clrMapOvr>
  <p:transition>
    <p:random/>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035E2FE4-4379-5CB9-2EF6-15234A0105AC}"/>
              </a:ext>
            </a:extLst>
          </p:cNvPr>
          <p:cNvSpPr>
            <a:spLocks noGrp="1" noChangeArrowheads="1"/>
          </p:cNvSpPr>
          <p:nvPr>
            <p:ph type="title"/>
          </p:nvPr>
        </p:nvSpPr>
        <p:spPr/>
        <p:txBody>
          <a:bodyPr/>
          <a:lstStyle/>
          <a:p>
            <a:r>
              <a:rPr lang="en-US" altLang="zh-CN"/>
              <a:t>4. </a:t>
            </a:r>
            <a:r>
              <a:rPr lang="zh-CN" altLang="en-US"/>
              <a:t>数值表达式</a:t>
            </a:r>
          </a:p>
        </p:txBody>
      </p:sp>
      <p:sp>
        <p:nvSpPr>
          <p:cNvPr id="50179" name="Rectangle 3">
            <a:extLst>
              <a:ext uri="{FF2B5EF4-FFF2-40B4-BE49-F238E27FC236}">
                <a16:creationId xmlns:a16="http://schemas.microsoft.com/office/drawing/2014/main" id="{5A8E9FE6-E0DD-57EB-0892-4FE7B4269B46}"/>
              </a:ext>
            </a:extLst>
          </p:cNvPr>
          <p:cNvSpPr>
            <a:spLocks noGrp="1" noChangeArrowheads="1"/>
          </p:cNvSpPr>
          <p:nvPr>
            <p:ph type="body" idx="1"/>
          </p:nvPr>
        </p:nvSpPr>
        <p:spPr/>
        <p:txBody>
          <a:bodyPr/>
          <a:lstStyle/>
          <a:p>
            <a:r>
              <a:rPr lang="zh-CN" altLang="en-US" sz="2800" dirty="0"/>
              <a:t>数值表达式一般是指由</a:t>
            </a:r>
            <a:r>
              <a:rPr lang="zh-CN" altLang="en-US" sz="2800" dirty="0">
                <a:solidFill>
                  <a:srgbClr val="006600"/>
                </a:solidFill>
              </a:rPr>
              <a:t>运算符</a:t>
            </a:r>
            <a:r>
              <a:rPr lang="zh-CN" altLang="en-US" sz="2800" dirty="0"/>
              <a:t>连接的各种常量所构成的表达式</a:t>
            </a:r>
          </a:p>
          <a:p>
            <a:r>
              <a:rPr lang="zh-CN" altLang="en-US" sz="2800" dirty="0"/>
              <a:t>汇编程序在汇编过程中计算表达式，最终得到一个确定的数值，所以也是常量</a:t>
            </a:r>
          </a:p>
          <a:p>
            <a:r>
              <a:rPr lang="zh-CN" altLang="en-US" sz="2800" dirty="0"/>
              <a:t>表达式的数值</a:t>
            </a:r>
            <a:r>
              <a:rPr lang="zh-CN" altLang="en-US" sz="2800" dirty="0">
                <a:highlight>
                  <a:srgbClr val="FFFF00"/>
                </a:highlight>
              </a:rPr>
              <a:t>在程序运行前的汇编阶段计算</a:t>
            </a:r>
            <a:r>
              <a:rPr lang="zh-CN" altLang="en-US" sz="2800" dirty="0"/>
              <a:t>，所以组成表达式的各部分必须在汇编时就能确定</a:t>
            </a:r>
          </a:p>
          <a:p>
            <a:r>
              <a:rPr lang="zh-CN" altLang="en-US" sz="2800" dirty="0"/>
              <a:t>我们经常使用的是加减乘除（</a:t>
            </a:r>
            <a:r>
              <a:rPr lang="zh-CN" altLang="en-US" sz="2800" dirty="0">
                <a:solidFill>
                  <a:schemeClr val="tx1"/>
                </a:solidFill>
              </a:rPr>
              <a:t>＋ －  *  </a:t>
            </a:r>
            <a:r>
              <a:rPr lang="en-US" altLang="zh-CN" sz="2800" dirty="0">
                <a:solidFill>
                  <a:schemeClr val="tx1"/>
                </a:solidFill>
              </a:rPr>
              <a:t>/</a:t>
            </a:r>
            <a:r>
              <a:rPr lang="en-US" altLang="zh-CN" sz="2800" dirty="0"/>
              <a:t>  </a:t>
            </a:r>
            <a:r>
              <a:rPr lang="zh-CN" altLang="en-US" sz="2800" dirty="0"/>
              <a:t>）</a:t>
            </a:r>
          </a:p>
          <a:p>
            <a:pPr marL="0" indent="0">
              <a:buNone/>
            </a:pPr>
            <a:endParaRPr lang="en-US" altLang="zh-CN" sz="2800" dirty="0"/>
          </a:p>
          <a:p>
            <a:pPr marL="0" indent="0">
              <a:buNone/>
            </a:pPr>
            <a:r>
              <a:rPr lang="zh-CN" altLang="en-US" sz="2800" dirty="0"/>
              <a:t>例如：</a:t>
            </a:r>
          </a:p>
          <a:p>
            <a:pPr lvl="1">
              <a:buFontTx/>
              <a:buNone/>
            </a:pPr>
            <a:r>
              <a:rPr lang="en-US" altLang="zh-CN" sz="2400" dirty="0"/>
              <a:t>mov ax,3*4+5	</a:t>
            </a:r>
            <a:r>
              <a:rPr lang="zh-CN" altLang="en-US" sz="2400" dirty="0"/>
              <a:t>；等价于：</a:t>
            </a:r>
            <a:r>
              <a:rPr lang="en-US" altLang="zh-CN" sz="2400" dirty="0"/>
              <a:t>mov ax,17</a:t>
            </a:r>
          </a:p>
        </p:txBody>
      </p:sp>
    </p:spTree>
  </p:cSld>
  <p:clrMapOvr>
    <a:masterClrMapping/>
  </p:clrMapOvr>
  <p:transition>
    <p:random/>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461A0499-FF6D-9316-F587-70AC19C0DE83}"/>
              </a:ext>
            </a:extLst>
          </p:cNvPr>
          <p:cNvSpPr>
            <a:spLocks noGrp="1" noChangeArrowheads="1"/>
          </p:cNvSpPr>
          <p:nvPr>
            <p:ph type="title"/>
          </p:nvPr>
        </p:nvSpPr>
        <p:spPr/>
        <p:txBody>
          <a:bodyPr/>
          <a:lstStyle/>
          <a:p>
            <a:r>
              <a:rPr lang="en-US" altLang="zh-CN"/>
              <a:t>3.2.2 </a:t>
            </a:r>
            <a:r>
              <a:rPr lang="zh-CN" altLang="en-US"/>
              <a:t>变量 </a:t>
            </a:r>
          </a:p>
        </p:txBody>
      </p:sp>
      <p:sp>
        <p:nvSpPr>
          <p:cNvPr id="53251" name="Rectangle 3">
            <a:extLst>
              <a:ext uri="{FF2B5EF4-FFF2-40B4-BE49-F238E27FC236}">
                <a16:creationId xmlns:a16="http://schemas.microsoft.com/office/drawing/2014/main" id="{F1A94205-5AEF-322F-867C-922CB5DA1AE4}"/>
              </a:ext>
            </a:extLst>
          </p:cNvPr>
          <p:cNvSpPr>
            <a:spLocks noGrp="1" noChangeArrowheads="1"/>
          </p:cNvSpPr>
          <p:nvPr>
            <p:ph type="body" idx="1"/>
          </p:nvPr>
        </p:nvSpPr>
        <p:spPr/>
        <p:txBody>
          <a:bodyPr/>
          <a:lstStyle/>
          <a:p>
            <a:r>
              <a:rPr lang="zh-CN" altLang="en-US" sz="2800" dirty="0">
                <a:solidFill>
                  <a:schemeClr val="tx1"/>
                </a:solidFill>
              </a:rPr>
              <a:t>变量</a:t>
            </a:r>
            <a:r>
              <a:rPr lang="zh-CN" altLang="en-US" sz="2800" dirty="0"/>
              <a:t>实质上是指主存单元的数据，虽然内存单元地址不变，但其中存放的数据可以改变</a:t>
            </a:r>
          </a:p>
          <a:p>
            <a:r>
              <a:rPr lang="zh-CN" altLang="en-US" sz="2800" dirty="0"/>
              <a:t>变量需要事先定义才能使用</a:t>
            </a:r>
          </a:p>
          <a:p>
            <a:r>
              <a:rPr lang="zh-CN" altLang="en-US" sz="2800" dirty="0"/>
              <a:t>变量定义（</a:t>
            </a:r>
            <a:r>
              <a:rPr lang="en-US" altLang="zh-CN" sz="2800" dirty="0"/>
              <a:t>Define</a:t>
            </a:r>
            <a:r>
              <a:rPr lang="zh-CN" altLang="en-US" sz="2800" dirty="0"/>
              <a:t>）伪指令为变量申请固定长度为单位的存储空间，并可以同时将相应的存储单元初始化</a:t>
            </a:r>
          </a:p>
          <a:p>
            <a:r>
              <a:rPr lang="zh-CN" altLang="en-US" sz="2800" dirty="0"/>
              <a:t>定义后的变量可以利用变量名等方法引用其中的数据，即变量的数值</a:t>
            </a:r>
            <a:endParaRPr lang="zh-CN" altLang="en-US" sz="2800" dirty="0">
              <a:solidFill>
                <a:srgbClr val="CC0099"/>
              </a:solidFill>
            </a:endParaRPr>
          </a:p>
        </p:txBody>
      </p:sp>
    </p:spTree>
  </p:cSld>
  <p:clrMapOvr>
    <a:masterClrMapping/>
  </p:clrMapOvr>
  <p:transition>
    <p:random/>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4194" name="Rectangle 2">
            <a:extLst>
              <a:ext uri="{FF2B5EF4-FFF2-40B4-BE49-F238E27FC236}">
                <a16:creationId xmlns:a16="http://schemas.microsoft.com/office/drawing/2014/main" id="{70C0AEB5-46C1-8A24-D849-0B2E6B02D987}"/>
              </a:ext>
            </a:extLst>
          </p:cNvPr>
          <p:cNvSpPr>
            <a:spLocks noGrp="1" noChangeArrowheads="1"/>
          </p:cNvSpPr>
          <p:nvPr>
            <p:ph type="title"/>
          </p:nvPr>
        </p:nvSpPr>
        <p:spPr/>
        <p:txBody>
          <a:bodyPr/>
          <a:lstStyle/>
          <a:p>
            <a:r>
              <a:rPr lang="en-US" altLang="zh-CN"/>
              <a:t>1. </a:t>
            </a:r>
            <a:r>
              <a:rPr lang="zh-CN" altLang="en-US"/>
              <a:t>变量的定义 </a:t>
            </a:r>
          </a:p>
        </p:txBody>
      </p:sp>
      <p:sp>
        <p:nvSpPr>
          <p:cNvPr id="264195" name="Rectangle 3">
            <a:extLst>
              <a:ext uri="{FF2B5EF4-FFF2-40B4-BE49-F238E27FC236}">
                <a16:creationId xmlns:a16="http://schemas.microsoft.com/office/drawing/2014/main" id="{AA3D279D-0139-2579-AB7B-0DDB83F22428}"/>
              </a:ext>
            </a:extLst>
          </p:cNvPr>
          <p:cNvSpPr>
            <a:spLocks noGrp="1" noChangeArrowheads="1"/>
          </p:cNvSpPr>
          <p:nvPr>
            <p:ph type="body" idx="1"/>
          </p:nvPr>
        </p:nvSpPr>
        <p:spPr/>
        <p:txBody>
          <a:bodyPr/>
          <a:lstStyle/>
          <a:p>
            <a:pPr>
              <a:lnSpc>
                <a:spcPct val="90000"/>
              </a:lnSpc>
            </a:pPr>
            <a:r>
              <a:rPr lang="zh-CN" altLang="en-US" sz="2800" dirty="0"/>
              <a:t>变量定义的汇编语言格式为：</a:t>
            </a:r>
          </a:p>
          <a:p>
            <a:pPr>
              <a:lnSpc>
                <a:spcPct val="90000"/>
              </a:lnSpc>
              <a:buFontTx/>
              <a:buNone/>
            </a:pPr>
            <a:r>
              <a:rPr lang="zh-CN" altLang="en-US" sz="2800" dirty="0"/>
              <a:t>		</a:t>
            </a:r>
            <a:r>
              <a:rPr lang="zh-CN" altLang="en-US" sz="2800" dirty="0">
                <a:solidFill>
                  <a:schemeClr val="tx1"/>
                </a:solidFill>
              </a:rPr>
              <a:t>变量名  伪指令  初值表</a:t>
            </a:r>
          </a:p>
          <a:p>
            <a:pPr>
              <a:lnSpc>
                <a:spcPct val="90000"/>
              </a:lnSpc>
            </a:pPr>
            <a:r>
              <a:rPr lang="zh-CN" altLang="en-US" sz="2800" dirty="0">
                <a:solidFill>
                  <a:schemeClr val="tx1"/>
                </a:solidFill>
              </a:rPr>
              <a:t>变量名</a:t>
            </a:r>
            <a:r>
              <a:rPr lang="zh-CN" altLang="en-US" sz="2800" dirty="0"/>
              <a:t>为用户自定义标识符。变量名也可以没有</a:t>
            </a:r>
          </a:p>
          <a:p>
            <a:pPr>
              <a:lnSpc>
                <a:spcPct val="90000"/>
              </a:lnSpc>
            </a:pPr>
            <a:r>
              <a:rPr lang="zh-CN" altLang="en-US" sz="2800" dirty="0">
                <a:solidFill>
                  <a:schemeClr val="tx1"/>
                </a:solidFill>
              </a:rPr>
              <a:t>初值表</a:t>
            </a:r>
            <a:r>
              <a:rPr lang="zh-CN" altLang="en-US" sz="2800" dirty="0"/>
              <a:t>是用逗号分隔的参数</a:t>
            </a:r>
            <a:r>
              <a:rPr lang="en-US" altLang="zh-CN" sz="2800" dirty="0"/>
              <a:t>,</a:t>
            </a:r>
            <a:r>
              <a:rPr lang="zh-CN" altLang="en-US" sz="2800" dirty="0"/>
              <a:t>主要由常量、数值表达式或“？”组成。其中“</a:t>
            </a:r>
            <a:r>
              <a:rPr lang="zh-CN" altLang="en-US" sz="2800" dirty="0">
                <a:solidFill>
                  <a:schemeClr val="tx1"/>
                </a:solidFill>
              </a:rPr>
              <a:t>？</a:t>
            </a:r>
            <a:r>
              <a:rPr lang="zh-CN" altLang="en-US" sz="2800" dirty="0"/>
              <a:t>”表示未赋初值</a:t>
            </a:r>
          </a:p>
          <a:p>
            <a:pPr>
              <a:lnSpc>
                <a:spcPct val="90000"/>
              </a:lnSpc>
            </a:pPr>
            <a:r>
              <a:rPr lang="zh-CN" altLang="en-US" sz="2800" dirty="0"/>
              <a:t>多个存储单元如果初值相同，可以用复制操作符</a:t>
            </a:r>
            <a:r>
              <a:rPr lang="en-US" altLang="zh-CN" sz="2800" dirty="0">
                <a:solidFill>
                  <a:schemeClr val="tx1"/>
                </a:solidFill>
              </a:rPr>
              <a:t>DUP</a:t>
            </a:r>
            <a:r>
              <a:rPr lang="zh-CN" altLang="en-US" sz="2800" dirty="0"/>
              <a:t>进行定义：</a:t>
            </a:r>
          </a:p>
          <a:p>
            <a:pPr>
              <a:lnSpc>
                <a:spcPct val="90000"/>
              </a:lnSpc>
              <a:buFontTx/>
              <a:buNone/>
            </a:pPr>
            <a:r>
              <a:rPr lang="zh-CN" altLang="en-US" sz="2800" dirty="0"/>
              <a:t>		</a:t>
            </a:r>
            <a:r>
              <a:rPr lang="zh-CN" altLang="en-US" sz="2800" dirty="0">
                <a:solidFill>
                  <a:schemeClr val="tx1"/>
                </a:solidFill>
              </a:rPr>
              <a:t>重复次数  </a:t>
            </a:r>
            <a:r>
              <a:rPr lang="en-US" altLang="zh-CN" sz="2800" dirty="0">
                <a:solidFill>
                  <a:schemeClr val="tx1"/>
                </a:solidFill>
              </a:rPr>
              <a:t>DUP(</a:t>
            </a:r>
            <a:r>
              <a:rPr lang="zh-CN" altLang="en-US" sz="2800" dirty="0">
                <a:solidFill>
                  <a:schemeClr val="tx1"/>
                </a:solidFill>
              </a:rPr>
              <a:t>重复参数</a:t>
            </a:r>
            <a:r>
              <a:rPr lang="en-US" altLang="zh-CN" sz="2800" dirty="0">
                <a:solidFill>
                  <a:schemeClr val="tx1"/>
                </a:solidFill>
              </a:rPr>
              <a:t>)</a:t>
            </a:r>
          </a:p>
          <a:p>
            <a:pPr>
              <a:lnSpc>
                <a:spcPct val="90000"/>
              </a:lnSpc>
              <a:spcBef>
                <a:spcPct val="10000"/>
              </a:spcBef>
            </a:pPr>
            <a:r>
              <a:rPr lang="zh-CN" altLang="en-US" sz="2800" dirty="0"/>
              <a:t>变量定义伪指令有</a:t>
            </a:r>
            <a:r>
              <a:rPr lang="en-US" altLang="zh-CN" sz="2800" dirty="0"/>
              <a:t>DB</a:t>
            </a:r>
            <a:r>
              <a:rPr lang="zh-CN" altLang="en-US" sz="2800" dirty="0"/>
              <a:t>、</a:t>
            </a:r>
            <a:r>
              <a:rPr lang="en-US" altLang="zh-CN" sz="2800" dirty="0"/>
              <a:t>DW</a:t>
            </a:r>
            <a:r>
              <a:rPr lang="zh-CN" altLang="en-US" sz="2800" dirty="0"/>
              <a:t>、</a:t>
            </a:r>
            <a:r>
              <a:rPr lang="en-US" altLang="zh-CN" sz="2800" dirty="0"/>
              <a:t>DD</a:t>
            </a:r>
            <a:r>
              <a:rPr lang="zh-CN" altLang="en-US" sz="2800" dirty="0"/>
              <a:t>等</a:t>
            </a:r>
          </a:p>
        </p:txBody>
      </p:sp>
    </p:spTree>
  </p:cSld>
  <p:clrMapOvr>
    <a:masterClrMapping/>
  </p:clrMapOvr>
  <p:transition>
    <p:random/>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8290" name="Rectangle 2">
            <a:extLst>
              <a:ext uri="{FF2B5EF4-FFF2-40B4-BE49-F238E27FC236}">
                <a16:creationId xmlns:a16="http://schemas.microsoft.com/office/drawing/2014/main" id="{81B5FE14-2162-A964-A0B6-DD61C41109D7}"/>
              </a:ext>
            </a:extLst>
          </p:cNvPr>
          <p:cNvSpPr>
            <a:spLocks noGrp="1" noChangeArrowheads="1"/>
          </p:cNvSpPr>
          <p:nvPr>
            <p:ph type="title"/>
          </p:nvPr>
        </p:nvSpPr>
        <p:spPr>
          <a:xfrm>
            <a:off x="5435600" y="549275"/>
            <a:ext cx="3168650" cy="719138"/>
          </a:xfrm>
        </p:spPr>
        <p:txBody>
          <a:bodyPr/>
          <a:lstStyle/>
          <a:p>
            <a:r>
              <a:rPr lang="zh-CN" altLang="en-US"/>
              <a:t>字节变量定义实例</a:t>
            </a:r>
          </a:p>
        </p:txBody>
      </p:sp>
      <p:sp>
        <p:nvSpPr>
          <p:cNvPr id="268292" name="Rectangle 4">
            <a:extLst>
              <a:ext uri="{FF2B5EF4-FFF2-40B4-BE49-F238E27FC236}">
                <a16:creationId xmlns:a16="http://schemas.microsoft.com/office/drawing/2014/main" id="{2B6C8C25-32BF-AFB9-F8C8-82DCBE36629C}"/>
              </a:ext>
            </a:extLst>
          </p:cNvPr>
          <p:cNvSpPr>
            <a:spLocks noGrp="1" noChangeArrowheads="1"/>
          </p:cNvSpPr>
          <p:nvPr>
            <p:ph type="body" idx="1"/>
          </p:nvPr>
        </p:nvSpPr>
        <p:spPr>
          <a:xfrm>
            <a:off x="371475" y="388938"/>
            <a:ext cx="4344988" cy="1744662"/>
          </a:xfrm>
          <a:solidFill>
            <a:schemeClr val="bg1"/>
          </a:solidFill>
          <a:ln>
            <a:solidFill>
              <a:schemeClr val="accent1"/>
            </a:solidFill>
            <a:miter lim="800000"/>
            <a:headEnd/>
            <a:tailEnd/>
          </a:ln>
        </p:spPr>
        <p:txBody>
          <a:bodyPr/>
          <a:lstStyle/>
          <a:p>
            <a:pPr marL="0" indent="0" defTabSz="990600">
              <a:lnSpc>
                <a:spcPct val="80000"/>
              </a:lnSpc>
              <a:buFontTx/>
              <a:buNone/>
              <a:tabLst>
                <a:tab pos="1152525" algn="l"/>
                <a:tab pos="3141663" algn="l"/>
              </a:tabLst>
            </a:pPr>
            <a:r>
              <a:rPr lang="zh-CN" altLang="en-US" sz="2400"/>
              <a:t>；数据段</a:t>
            </a:r>
          </a:p>
          <a:p>
            <a:pPr marL="0" indent="0" defTabSz="990600">
              <a:lnSpc>
                <a:spcPct val="80000"/>
              </a:lnSpc>
              <a:buFontTx/>
              <a:buNone/>
              <a:tabLst>
                <a:tab pos="1152525" algn="l"/>
                <a:tab pos="3141663" algn="l"/>
              </a:tabLst>
            </a:pPr>
            <a:r>
              <a:rPr lang="en-US" altLang="zh-CN" sz="2800"/>
              <a:t>X	db 'a',-5</a:t>
            </a:r>
          </a:p>
          <a:p>
            <a:pPr marL="0" indent="0" defTabSz="990600">
              <a:lnSpc>
                <a:spcPct val="80000"/>
              </a:lnSpc>
              <a:buFontTx/>
              <a:buNone/>
              <a:tabLst>
                <a:tab pos="1152525" algn="l"/>
                <a:tab pos="3141663" algn="l"/>
              </a:tabLst>
            </a:pPr>
            <a:r>
              <a:rPr lang="en-US" altLang="zh-CN" sz="2800"/>
              <a:t>	db 2 dup(100),?</a:t>
            </a:r>
          </a:p>
          <a:p>
            <a:pPr marL="0" indent="0" defTabSz="990600">
              <a:lnSpc>
                <a:spcPct val="80000"/>
              </a:lnSpc>
              <a:buFontTx/>
              <a:buNone/>
              <a:tabLst>
                <a:tab pos="1152525" algn="l"/>
                <a:tab pos="3141663" algn="l"/>
              </a:tabLst>
            </a:pPr>
            <a:r>
              <a:rPr lang="en-US" altLang="zh-CN" sz="2800"/>
              <a:t>Y	db 'ABC'</a:t>
            </a:r>
          </a:p>
        </p:txBody>
      </p:sp>
      <p:pic>
        <p:nvPicPr>
          <p:cNvPr id="268293" name="Picture 5">
            <a:extLst>
              <a:ext uri="{FF2B5EF4-FFF2-40B4-BE49-F238E27FC236}">
                <a16:creationId xmlns:a16="http://schemas.microsoft.com/office/drawing/2014/main" id="{779F653F-5568-6DEB-46A3-94B86D1BCA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2275" y="2151063"/>
            <a:ext cx="7092950" cy="4216400"/>
          </a:xfrm>
          <a:prstGeom prst="rect">
            <a:avLst/>
          </a:prstGeom>
          <a:solidFill>
            <a:schemeClr val="bg1"/>
          </a:solidFill>
          <a:ln w="9525"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random/>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D0809BFE-0F4B-56B0-6442-338FA57A8D5D}"/>
              </a:ext>
            </a:extLst>
          </p:cNvPr>
          <p:cNvSpPr>
            <a:spLocks noGrp="1" noChangeArrowheads="1"/>
          </p:cNvSpPr>
          <p:nvPr>
            <p:ph type="title"/>
          </p:nvPr>
        </p:nvSpPr>
        <p:spPr/>
        <p:txBody>
          <a:bodyPr/>
          <a:lstStyle/>
          <a:p>
            <a:r>
              <a:rPr lang="en-US" altLang="zh-CN"/>
              <a:t>2. </a:t>
            </a:r>
            <a:r>
              <a:rPr lang="zh-CN" altLang="en-US"/>
              <a:t>变量的应用</a:t>
            </a:r>
          </a:p>
        </p:txBody>
      </p:sp>
      <p:sp>
        <p:nvSpPr>
          <p:cNvPr id="56323" name="Rectangle 3">
            <a:extLst>
              <a:ext uri="{FF2B5EF4-FFF2-40B4-BE49-F238E27FC236}">
                <a16:creationId xmlns:a16="http://schemas.microsoft.com/office/drawing/2014/main" id="{D9BB7201-7C20-7D71-32F0-52A96D8D2D70}"/>
              </a:ext>
            </a:extLst>
          </p:cNvPr>
          <p:cNvSpPr>
            <a:spLocks noGrp="1" noChangeArrowheads="1"/>
          </p:cNvSpPr>
          <p:nvPr>
            <p:ph type="body" idx="1"/>
          </p:nvPr>
        </p:nvSpPr>
        <p:spPr/>
        <p:txBody>
          <a:bodyPr/>
          <a:lstStyle/>
          <a:p>
            <a:r>
              <a:rPr lang="zh-CN" altLang="en-US">
                <a:solidFill>
                  <a:schemeClr val="tx1"/>
                </a:solidFill>
              </a:rPr>
              <a:t>变量</a:t>
            </a:r>
            <a:r>
              <a:rPr lang="zh-CN" altLang="en-US"/>
              <a:t>具有存储单元的逻辑地址</a:t>
            </a:r>
          </a:p>
          <a:p>
            <a:r>
              <a:rPr lang="zh-CN" altLang="en-US"/>
              <a:t>程序代码中</a:t>
            </a:r>
          </a:p>
          <a:p>
            <a:pPr lvl="1"/>
            <a:r>
              <a:rPr lang="zh-CN" altLang="en-US"/>
              <a:t>通过变量名引用其指向的首个数据</a:t>
            </a:r>
          </a:p>
          <a:p>
            <a:pPr lvl="1"/>
            <a:r>
              <a:rPr lang="zh-CN" altLang="en-US"/>
              <a:t>通过变量名加减位移量存取以首个数据为基地址的前后数据 </a:t>
            </a:r>
          </a:p>
          <a:p>
            <a:endParaRPr lang="zh-CN" altLang="en-US"/>
          </a:p>
          <a:p>
            <a:pPr>
              <a:buFontTx/>
              <a:buNone/>
            </a:pPr>
            <a:endParaRPr lang="en-US" altLang="zh-CN"/>
          </a:p>
        </p:txBody>
      </p:sp>
    </p:spTree>
  </p:cSld>
  <p:clrMapOvr>
    <a:masterClrMapping/>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064A5203-7EA5-9FC5-B1DD-63971B3A735B}"/>
              </a:ext>
            </a:extLst>
          </p:cNvPr>
          <p:cNvSpPr>
            <a:spLocks noGrp="1" noChangeArrowheads="1"/>
          </p:cNvSpPr>
          <p:nvPr>
            <p:ph type="title"/>
          </p:nvPr>
        </p:nvSpPr>
        <p:spPr/>
        <p:txBody>
          <a:bodyPr/>
          <a:lstStyle/>
          <a:p>
            <a:r>
              <a:rPr lang="en-US" altLang="zh-CN"/>
              <a:t>3.3 </a:t>
            </a:r>
            <a:r>
              <a:rPr lang="zh-CN" altLang="en-US"/>
              <a:t>顺序程序设计</a:t>
            </a:r>
          </a:p>
        </p:txBody>
      </p:sp>
      <p:sp>
        <p:nvSpPr>
          <p:cNvPr id="69635" name="Rectangle 3">
            <a:extLst>
              <a:ext uri="{FF2B5EF4-FFF2-40B4-BE49-F238E27FC236}">
                <a16:creationId xmlns:a16="http://schemas.microsoft.com/office/drawing/2014/main" id="{087B1916-EE6D-2B1D-4692-8023161B7E1C}"/>
              </a:ext>
            </a:extLst>
          </p:cNvPr>
          <p:cNvSpPr>
            <a:spLocks noGrp="1" noChangeArrowheads="1"/>
          </p:cNvSpPr>
          <p:nvPr>
            <p:ph type="body" idx="1"/>
          </p:nvPr>
        </p:nvSpPr>
        <p:spPr>
          <a:xfrm>
            <a:off x="468313" y="981075"/>
            <a:ext cx="8229600" cy="3024188"/>
          </a:xfrm>
        </p:spPr>
        <p:txBody>
          <a:bodyPr/>
          <a:lstStyle/>
          <a:p>
            <a:r>
              <a:rPr lang="zh-CN" altLang="en-US"/>
              <a:t>没有分支、循环等转移指令的程序，会按指令书写的前后顺利依次执行，这就是顺序程序</a:t>
            </a:r>
          </a:p>
          <a:p>
            <a:r>
              <a:rPr lang="zh-CN" altLang="en-US"/>
              <a:t>顺序结构是最基本的程序结构</a:t>
            </a:r>
          </a:p>
          <a:p>
            <a:r>
              <a:rPr lang="zh-CN" altLang="en-US"/>
              <a:t>完全采用顺序结构编写的程序并不多见</a:t>
            </a:r>
          </a:p>
        </p:txBody>
      </p:sp>
    </p:spTree>
  </p:cSld>
  <p:clrMapOvr>
    <a:masterClrMapping/>
  </p:clrMapOvr>
  <p:transition>
    <p:random/>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302D7D23-9EA8-F606-D0A1-875DAFED65BB}"/>
              </a:ext>
            </a:extLst>
          </p:cNvPr>
          <p:cNvSpPr>
            <a:spLocks noGrp="1" noChangeArrowheads="1"/>
          </p:cNvSpPr>
          <p:nvPr>
            <p:ph type="title"/>
          </p:nvPr>
        </p:nvSpPr>
        <p:spPr/>
        <p:txBody>
          <a:bodyPr/>
          <a:lstStyle/>
          <a:p>
            <a:r>
              <a:rPr lang="en-US" altLang="zh-CN"/>
              <a:t>3.4 </a:t>
            </a:r>
            <a:r>
              <a:rPr lang="zh-CN" altLang="en-US"/>
              <a:t>分支程序设计</a:t>
            </a:r>
          </a:p>
        </p:txBody>
      </p:sp>
      <p:sp>
        <p:nvSpPr>
          <p:cNvPr id="73731" name="Rectangle 3">
            <a:extLst>
              <a:ext uri="{FF2B5EF4-FFF2-40B4-BE49-F238E27FC236}">
                <a16:creationId xmlns:a16="http://schemas.microsoft.com/office/drawing/2014/main" id="{E16F0EF9-F401-C442-5E8A-1A361D83FF33}"/>
              </a:ext>
            </a:extLst>
          </p:cNvPr>
          <p:cNvSpPr>
            <a:spLocks noGrp="1" noChangeArrowheads="1"/>
          </p:cNvSpPr>
          <p:nvPr>
            <p:ph type="body" idx="1"/>
          </p:nvPr>
        </p:nvSpPr>
        <p:spPr/>
        <p:txBody>
          <a:bodyPr/>
          <a:lstStyle/>
          <a:p>
            <a:r>
              <a:rPr lang="zh-CN" altLang="en-US"/>
              <a:t>分支程序根据条件是真或假决定执行与否</a:t>
            </a:r>
          </a:p>
          <a:p>
            <a:r>
              <a:rPr lang="zh-CN" altLang="en-US"/>
              <a:t>判断的条件是各种指令，如</a:t>
            </a:r>
            <a:r>
              <a:rPr lang="en-US" altLang="zh-CN"/>
              <a:t>CMP</a:t>
            </a:r>
            <a:r>
              <a:rPr lang="zh-CN" altLang="en-US"/>
              <a:t>、</a:t>
            </a:r>
            <a:r>
              <a:rPr lang="en-US" altLang="zh-CN"/>
              <a:t>TEST</a:t>
            </a:r>
            <a:r>
              <a:rPr lang="zh-CN" altLang="en-US"/>
              <a:t>等执行后形成的状态标志</a:t>
            </a:r>
          </a:p>
          <a:p>
            <a:r>
              <a:rPr lang="zh-CN" altLang="en-US"/>
              <a:t>转移指令</a:t>
            </a:r>
            <a:r>
              <a:rPr lang="en-US" altLang="zh-CN"/>
              <a:t>Jcc</a:t>
            </a:r>
            <a:r>
              <a:rPr lang="zh-CN" altLang="en-US"/>
              <a:t>和</a:t>
            </a:r>
            <a:r>
              <a:rPr lang="en-US" altLang="zh-CN"/>
              <a:t>JMP</a:t>
            </a:r>
            <a:r>
              <a:rPr lang="zh-CN" altLang="en-US"/>
              <a:t>可以实现分支控制</a:t>
            </a:r>
          </a:p>
          <a:p>
            <a:r>
              <a:rPr lang="zh-CN" altLang="en-US"/>
              <a:t>分支结构有</a:t>
            </a:r>
          </a:p>
          <a:p>
            <a:pPr lvl="1"/>
            <a:r>
              <a:rPr lang="zh-CN" altLang="en-US"/>
              <a:t>单分支结构</a:t>
            </a:r>
          </a:p>
          <a:p>
            <a:pPr lvl="1"/>
            <a:r>
              <a:rPr lang="zh-CN" altLang="en-US"/>
              <a:t>双分支结构</a:t>
            </a:r>
          </a:p>
          <a:p>
            <a:pPr lvl="1"/>
            <a:r>
              <a:rPr lang="zh-CN" altLang="en-US"/>
              <a:t>多分支结构</a:t>
            </a:r>
          </a:p>
        </p:txBody>
      </p:sp>
      <p:sp>
        <p:nvSpPr>
          <p:cNvPr id="73732" name="Line 4">
            <a:extLst>
              <a:ext uri="{FF2B5EF4-FFF2-40B4-BE49-F238E27FC236}">
                <a16:creationId xmlns:a16="http://schemas.microsoft.com/office/drawing/2014/main" id="{9FE7FB9F-0A82-B5F8-0FEC-91EEA302CCA3}"/>
              </a:ext>
            </a:extLst>
          </p:cNvPr>
          <p:cNvSpPr>
            <a:spLocks noChangeShapeType="1"/>
          </p:cNvSpPr>
          <p:nvPr/>
        </p:nvSpPr>
        <p:spPr bwMode="auto">
          <a:xfrm>
            <a:off x="7351713" y="3836988"/>
            <a:ext cx="0" cy="914400"/>
          </a:xfrm>
          <a:prstGeom prst="line">
            <a:avLst/>
          </a:prstGeom>
          <a:noFill/>
          <a:ln w="76200" cmpd="tri">
            <a:solidFill>
              <a:srgbClr val="0066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33" name="Line 5">
            <a:extLst>
              <a:ext uri="{FF2B5EF4-FFF2-40B4-BE49-F238E27FC236}">
                <a16:creationId xmlns:a16="http://schemas.microsoft.com/office/drawing/2014/main" id="{84E6C29A-DF3A-0B6E-49DC-8C7D39B3A393}"/>
              </a:ext>
            </a:extLst>
          </p:cNvPr>
          <p:cNvSpPr>
            <a:spLocks noChangeShapeType="1"/>
          </p:cNvSpPr>
          <p:nvPr/>
        </p:nvSpPr>
        <p:spPr bwMode="auto">
          <a:xfrm flipH="1">
            <a:off x="6799263" y="4751388"/>
            <a:ext cx="457200" cy="838200"/>
          </a:xfrm>
          <a:prstGeom prst="line">
            <a:avLst/>
          </a:prstGeom>
          <a:noFill/>
          <a:ln w="76200" cmpd="tri">
            <a:solidFill>
              <a:srgbClr val="0066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34" name="Line 6">
            <a:extLst>
              <a:ext uri="{FF2B5EF4-FFF2-40B4-BE49-F238E27FC236}">
                <a16:creationId xmlns:a16="http://schemas.microsoft.com/office/drawing/2014/main" id="{E431DD4E-8B0A-705A-8C91-BEF37204738B}"/>
              </a:ext>
            </a:extLst>
          </p:cNvPr>
          <p:cNvSpPr>
            <a:spLocks noChangeShapeType="1"/>
          </p:cNvSpPr>
          <p:nvPr/>
        </p:nvSpPr>
        <p:spPr bwMode="auto">
          <a:xfrm>
            <a:off x="7427913" y="4751388"/>
            <a:ext cx="457200" cy="838200"/>
          </a:xfrm>
          <a:prstGeom prst="line">
            <a:avLst/>
          </a:prstGeom>
          <a:noFill/>
          <a:ln w="76200" cmpd="tri">
            <a:solidFill>
              <a:srgbClr val="0066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nodeType="afterEffect">
                                  <p:stCondLst>
                                    <p:cond delay="0"/>
                                  </p:stCondLst>
                                  <p:childTnLst>
                                    <p:set>
                                      <p:cBhvr>
                                        <p:cTn id="6" dur="1" fill="hold">
                                          <p:stCondLst>
                                            <p:cond delay="0"/>
                                          </p:stCondLst>
                                        </p:cTn>
                                        <p:tgtEl>
                                          <p:spTgt spid="73732"/>
                                        </p:tgtEl>
                                        <p:attrNameLst>
                                          <p:attrName>style.visibility</p:attrName>
                                        </p:attrNameLst>
                                      </p:cBhvr>
                                      <p:to>
                                        <p:strVal val="visible"/>
                                      </p:to>
                                    </p:set>
                                    <p:anim calcmode="lin" valueType="num">
                                      <p:cBhvr additive="base">
                                        <p:cTn id="7" dur="500" fill="hold"/>
                                        <p:tgtEl>
                                          <p:spTgt spid="73732"/>
                                        </p:tgtEl>
                                        <p:attrNameLst>
                                          <p:attrName>ppt_x</p:attrName>
                                        </p:attrNameLst>
                                      </p:cBhvr>
                                      <p:tavLst>
                                        <p:tav tm="0">
                                          <p:val>
                                            <p:strVal val="#ppt_x"/>
                                          </p:val>
                                        </p:tav>
                                        <p:tav tm="100000">
                                          <p:val>
                                            <p:strVal val="#ppt_x"/>
                                          </p:val>
                                        </p:tav>
                                      </p:tavLst>
                                    </p:anim>
                                    <p:anim calcmode="lin" valueType="num">
                                      <p:cBhvr additive="base">
                                        <p:cTn id="8" dur="500" fill="hold"/>
                                        <p:tgtEl>
                                          <p:spTgt spid="73732"/>
                                        </p:tgtEl>
                                        <p:attrNameLst>
                                          <p:attrName>ppt_y</p:attrName>
                                        </p:attrNameLst>
                                      </p:cBhvr>
                                      <p:tavLst>
                                        <p:tav tm="0">
                                          <p:val>
                                            <p:strVal val="0-#ppt_h/2"/>
                                          </p:val>
                                        </p:tav>
                                        <p:tav tm="100000">
                                          <p:val>
                                            <p:strVal val="#ppt_y"/>
                                          </p:val>
                                        </p:tav>
                                      </p:tavLst>
                                    </p:anim>
                                  </p:childTnLst>
                                </p:cTn>
                              </p:par>
                            </p:childTnLst>
                          </p:cTn>
                        </p:par>
                        <p:par>
                          <p:cTn id="9" fill="hold" nodeType="afterGroup">
                            <p:stCondLst>
                              <p:cond delay="500"/>
                            </p:stCondLst>
                            <p:childTnLst>
                              <p:par>
                                <p:cTn id="10" presetID="17" presetClass="entr" presetSubtype="1" fill="hold" nodeType="afterEffect">
                                  <p:stCondLst>
                                    <p:cond delay="0"/>
                                  </p:stCondLst>
                                  <p:childTnLst>
                                    <p:set>
                                      <p:cBhvr>
                                        <p:cTn id="11" dur="1" fill="hold">
                                          <p:stCondLst>
                                            <p:cond delay="0"/>
                                          </p:stCondLst>
                                        </p:cTn>
                                        <p:tgtEl>
                                          <p:spTgt spid="73733"/>
                                        </p:tgtEl>
                                        <p:attrNameLst>
                                          <p:attrName>style.visibility</p:attrName>
                                        </p:attrNameLst>
                                      </p:cBhvr>
                                      <p:to>
                                        <p:strVal val="visible"/>
                                      </p:to>
                                    </p:set>
                                    <p:anim calcmode="lin" valueType="num">
                                      <p:cBhvr>
                                        <p:cTn id="12" dur="500" fill="hold"/>
                                        <p:tgtEl>
                                          <p:spTgt spid="73733"/>
                                        </p:tgtEl>
                                        <p:attrNameLst>
                                          <p:attrName>ppt_x</p:attrName>
                                        </p:attrNameLst>
                                      </p:cBhvr>
                                      <p:tavLst>
                                        <p:tav tm="0">
                                          <p:val>
                                            <p:strVal val="#ppt_x"/>
                                          </p:val>
                                        </p:tav>
                                        <p:tav tm="100000">
                                          <p:val>
                                            <p:strVal val="#ppt_x"/>
                                          </p:val>
                                        </p:tav>
                                      </p:tavLst>
                                    </p:anim>
                                    <p:anim calcmode="lin" valueType="num">
                                      <p:cBhvr>
                                        <p:cTn id="13" dur="500" fill="hold"/>
                                        <p:tgtEl>
                                          <p:spTgt spid="73733"/>
                                        </p:tgtEl>
                                        <p:attrNameLst>
                                          <p:attrName>ppt_y</p:attrName>
                                        </p:attrNameLst>
                                      </p:cBhvr>
                                      <p:tavLst>
                                        <p:tav tm="0">
                                          <p:val>
                                            <p:strVal val="#ppt_y-#ppt_h/2"/>
                                          </p:val>
                                        </p:tav>
                                        <p:tav tm="100000">
                                          <p:val>
                                            <p:strVal val="#ppt_y"/>
                                          </p:val>
                                        </p:tav>
                                      </p:tavLst>
                                    </p:anim>
                                    <p:anim calcmode="lin" valueType="num">
                                      <p:cBhvr>
                                        <p:cTn id="14" dur="500" fill="hold"/>
                                        <p:tgtEl>
                                          <p:spTgt spid="73733"/>
                                        </p:tgtEl>
                                        <p:attrNameLst>
                                          <p:attrName>ppt_w</p:attrName>
                                        </p:attrNameLst>
                                      </p:cBhvr>
                                      <p:tavLst>
                                        <p:tav tm="0">
                                          <p:val>
                                            <p:strVal val="#ppt_w"/>
                                          </p:val>
                                        </p:tav>
                                        <p:tav tm="100000">
                                          <p:val>
                                            <p:strVal val="#ppt_w"/>
                                          </p:val>
                                        </p:tav>
                                      </p:tavLst>
                                    </p:anim>
                                    <p:anim calcmode="lin" valueType="num">
                                      <p:cBhvr>
                                        <p:cTn id="15" dur="500" fill="hold"/>
                                        <p:tgtEl>
                                          <p:spTgt spid="73733"/>
                                        </p:tgtEl>
                                        <p:attrNameLst>
                                          <p:attrName>ppt_h</p:attrName>
                                        </p:attrNameLst>
                                      </p:cBhvr>
                                      <p:tavLst>
                                        <p:tav tm="0">
                                          <p:val>
                                            <p:fltVal val="0"/>
                                          </p:val>
                                        </p:tav>
                                        <p:tav tm="100000">
                                          <p:val>
                                            <p:strVal val="#ppt_h"/>
                                          </p:val>
                                        </p:tav>
                                      </p:tavLst>
                                    </p:anim>
                                  </p:childTnLst>
                                </p:cTn>
                              </p:par>
                            </p:childTnLst>
                          </p:cTn>
                        </p:par>
                        <p:par>
                          <p:cTn id="16" fill="hold" nodeType="afterGroup">
                            <p:stCondLst>
                              <p:cond delay="1000"/>
                            </p:stCondLst>
                            <p:childTnLst>
                              <p:par>
                                <p:cTn id="17" presetID="17" presetClass="entr" presetSubtype="1" fill="hold" nodeType="afterEffect">
                                  <p:stCondLst>
                                    <p:cond delay="0"/>
                                  </p:stCondLst>
                                  <p:childTnLst>
                                    <p:set>
                                      <p:cBhvr>
                                        <p:cTn id="18" dur="1" fill="hold">
                                          <p:stCondLst>
                                            <p:cond delay="0"/>
                                          </p:stCondLst>
                                        </p:cTn>
                                        <p:tgtEl>
                                          <p:spTgt spid="73734"/>
                                        </p:tgtEl>
                                        <p:attrNameLst>
                                          <p:attrName>style.visibility</p:attrName>
                                        </p:attrNameLst>
                                      </p:cBhvr>
                                      <p:to>
                                        <p:strVal val="visible"/>
                                      </p:to>
                                    </p:set>
                                    <p:anim calcmode="lin" valueType="num">
                                      <p:cBhvr>
                                        <p:cTn id="19" dur="500" fill="hold"/>
                                        <p:tgtEl>
                                          <p:spTgt spid="73734"/>
                                        </p:tgtEl>
                                        <p:attrNameLst>
                                          <p:attrName>ppt_x</p:attrName>
                                        </p:attrNameLst>
                                      </p:cBhvr>
                                      <p:tavLst>
                                        <p:tav tm="0">
                                          <p:val>
                                            <p:strVal val="#ppt_x"/>
                                          </p:val>
                                        </p:tav>
                                        <p:tav tm="100000">
                                          <p:val>
                                            <p:strVal val="#ppt_x"/>
                                          </p:val>
                                        </p:tav>
                                      </p:tavLst>
                                    </p:anim>
                                    <p:anim calcmode="lin" valueType="num">
                                      <p:cBhvr>
                                        <p:cTn id="20" dur="500" fill="hold"/>
                                        <p:tgtEl>
                                          <p:spTgt spid="73734"/>
                                        </p:tgtEl>
                                        <p:attrNameLst>
                                          <p:attrName>ppt_y</p:attrName>
                                        </p:attrNameLst>
                                      </p:cBhvr>
                                      <p:tavLst>
                                        <p:tav tm="0">
                                          <p:val>
                                            <p:strVal val="#ppt_y-#ppt_h/2"/>
                                          </p:val>
                                        </p:tav>
                                        <p:tav tm="100000">
                                          <p:val>
                                            <p:strVal val="#ppt_y"/>
                                          </p:val>
                                        </p:tav>
                                      </p:tavLst>
                                    </p:anim>
                                    <p:anim calcmode="lin" valueType="num">
                                      <p:cBhvr>
                                        <p:cTn id="21" dur="500" fill="hold"/>
                                        <p:tgtEl>
                                          <p:spTgt spid="73734"/>
                                        </p:tgtEl>
                                        <p:attrNameLst>
                                          <p:attrName>ppt_w</p:attrName>
                                        </p:attrNameLst>
                                      </p:cBhvr>
                                      <p:tavLst>
                                        <p:tav tm="0">
                                          <p:val>
                                            <p:strVal val="#ppt_w"/>
                                          </p:val>
                                        </p:tav>
                                        <p:tav tm="100000">
                                          <p:val>
                                            <p:strVal val="#ppt_w"/>
                                          </p:val>
                                        </p:tav>
                                      </p:tavLst>
                                    </p:anim>
                                    <p:anim calcmode="lin" valueType="num">
                                      <p:cBhvr>
                                        <p:cTn id="22" dur="500" fill="hold"/>
                                        <p:tgtEl>
                                          <p:spTgt spid="7373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97CCA94E-E4FE-C3B6-DB9E-E70AA913F9B5}"/>
              </a:ext>
            </a:extLst>
          </p:cNvPr>
          <p:cNvSpPr>
            <a:spLocks noGrp="1" noChangeArrowheads="1"/>
          </p:cNvSpPr>
          <p:nvPr>
            <p:ph type="title"/>
          </p:nvPr>
        </p:nvSpPr>
        <p:spPr/>
        <p:txBody>
          <a:bodyPr/>
          <a:lstStyle/>
          <a:p>
            <a:r>
              <a:rPr lang="zh-CN" altLang="en-US"/>
              <a:t>单分支结构 </a:t>
            </a:r>
          </a:p>
        </p:txBody>
      </p:sp>
      <p:sp>
        <p:nvSpPr>
          <p:cNvPr id="74755" name="Rectangle 3">
            <a:extLst>
              <a:ext uri="{FF2B5EF4-FFF2-40B4-BE49-F238E27FC236}">
                <a16:creationId xmlns:a16="http://schemas.microsoft.com/office/drawing/2014/main" id="{20FDAAEC-A33D-2292-AE6A-D2861780F507}"/>
              </a:ext>
            </a:extLst>
          </p:cNvPr>
          <p:cNvSpPr>
            <a:spLocks noGrp="1" noChangeArrowheads="1"/>
          </p:cNvSpPr>
          <p:nvPr>
            <p:ph type="body" idx="1"/>
          </p:nvPr>
        </p:nvSpPr>
        <p:spPr>
          <a:xfrm>
            <a:off x="468313" y="981075"/>
            <a:ext cx="4103687" cy="2879725"/>
          </a:xfrm>
        </p:spPr>
        <p:txBody>
          <a:bodyPr/>
          <a:lstStyle/>
          <a:p>
            <a:pPr>
              <a:lnSpc>
                <a:spcPct val="90000"/>
              </a:lnSpc>
            </a:pPr>
            <a:r>
              <a:rPr lang="zh-CN" altLang="en-US"/>
              <a:t>条件成立跳转，否则顺序执行分支语句体</a:t>
            </a:r>
          </a:p>
          <a:p>
            <a:pPr>
              <a:lnSpc>
                <a:spcPct val="90000"/>
              </a:lnSpc>
            </a:pPr>
            <a:r>
              <a:rPr lang="zh-CN" altLang="en-US"/>
              <a:t>注意选择正确的条件转移指令和转移目标地址</a:t>
            </a:r>
          </a:p>
        </p:txBody>
      </p:sp>
      <p:pic>
        <p:nvPicPr>
          <p:cNvPr id="74756" name="Picture 4">
            <a:extLst>
              <a:ext uri="{FF2B5EF4-FFF2-40B4-BE49-F238E27FC236}">
                <a16:creationId xmlns:a16="http://schemas.microsoft.com/office/drawing/2014/main" id="{3DB77C61-F9A5-7043-78E7-6588F16F5A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8050" y="1412875"/>
            <a:ext cx="4232275" cy="4537075"/>
          </a:xfrm>
          <a:prstGeom prst="rect">
            <a:avLst/>
          </a:prstGeom>
          <a:noFill/>
          <a:extLst>
            <a:ext uri="{909E8E84-426E-40DD-AFC4-6F175D3DCCD1}">
              <a14:hiddenFill xmlns:a14="http://schemas.microsoft.com/office/drawing/2010/main">
                <a:solidFill>
                  <a:srgbClr val="FFFFFF"/>
                </a:solidFill>
              </a14:hiddenFill>
            </a:ext>
          </a:extLst>
        </p:spPr>
      </p:pic>
      <p:sp>
        <p:nvSpPr>
          <p:cNvPr id="74757" name="AutoShape 5">
            <a:hlinkClick r:id="" action="ppaction://noaction" highlightClick="1"/>
            <a:extLst>
              <a:ext uri="{FF2B5EF4-FFF2-40B4-BE49-F238E27FC236}">
                <a16:creationId xmlns:a16="http://schemas.microsoft.com/office/drawing/2014/main" id="{ADDDEB37-9F20-5B31-D69D-14C3D67D5671}"/>
              </a:ext>
            </a:extLst>
          </p:cNvPr>
          <p:cNvSpPr>
            <a:spLocks noChangeArrowheads="1"/>
          </p:cNvSpPr>
          <p:nvPr/>
        </p:nvSpPr>
        <p:spPr bwMode="auto">
          <a:xfrm>
            <a:off x="1331913" y="4797425"/>
            <a:ext cx="2303462" cy="431800"/>
          </a:xfrm>
          <a:prstGeom prst="actionButtonBlank">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sz="2400" b="1">
                <a:effectLst/>
              </a:rPr>
              <a:t>实例：求绝对值</a:t>
            </a:r>
          </a:p>
        </p:txBody>
      </p:sp>
    </p:spTree>
  </p:cSld>
  <p:clrMapOvr>
    <a:masterClrMapping/>
  </p:clrMapOvr>
  <p:transition>
    <p:random/>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C03FEABE-3531-D363-F25D-B2F0088838D0}"/>
              </a:ext>
            </a:extLst>
          </p:cNvPr>
          <p:cNvSpPr>
            <a:spLocks noGrp="1" noChangeArrowheads="1"/>
          </p:cNvSpPr>
          <p:nvPr>
            <p:ph type="title"/>
          </p:nvPr>
        </p:nvSpPr>
        <p:spPr/>
        <p:txBody>
          <a:bodyPr/>
          <a:lstStyle/>
          <a:p>
            <a:r>
              <a:rPr lang="zh-CN" altLang="en-US"/>
              <a:t>双分支结构</a:t>
            </a:r>
          </a:p>
        </p:txBody>
      </p:sp>
      <p:sp>
        <p:nvSpPr>
          <p:cNvPr id="76805" name="Rectangle 5">
            <a:extLst>
              <a:ext uri="{FF2B5EF4-FFF2-40B4-BE49-F238E27FC236}">
                <a16:creationId xmlns:a16="http://schemas.microsoft.com/office/drawing/2014/main" id="{9B9FC9AA-1A0D-101A-3FB6-4B9395210235}"/>
              </a:ext>
            </a:extLst>
          </p:cNvPr>
          <p:cNvSpPr>
            <a:spLocks noGrp="1" noChangeArrowheads="1"/>
          </p:cNvSpPr>
          <p:nvPr>
            <p:ph type="body" idx="1"/>
          </p:nvPr>
        </p:nvSpPr>
        <p:spPr>
          <a:xfrm>
            <a:off x="611188" y="1149350"/>
            <a:ext cx="4176712" cy="3719513"/>
          </a:xfrm>
          <a:noFill/>
          <a:ln/>
        </p:spPr>
        <p:txBody>
          <a:bodyPr/>
          <a:lstStyle/>
          <a:p>
            <a:pPr marL="0" indent="0">
              <a:lnSpc>
                <a:spcPct val="110000"/>
              </a:lnSpc>
              <a:buFontTx/>
              <a:buNone/>
            </a:pPr>
            <a:r>
              <a:rPr lang="zh-CN" altLang="en-US" sz="2800"/>
              <a:t>条件成立跳转执行第</a:t>
            </a:r>
            <a:r>
              <a:rPr lang="en-US" altLang="zh-CN" sz="2800"/>
              <a:t>2</a:t>
            </a:r>
            <a:r>
              <a:rPr lang="zh-CN" altLang="en-US" sz="2800"/>
              <a:t>个分支语句体，否则顺序执行第</a:t>
            </a:r>
            <a:r>
              <a:rPr lang="en-US" altLang="zh-CN" sz="2800"/>
              <a:t>1</a:t>
            </a:r>
            <a:r>
              <a:rPr lang="zh-CN" altLang="en-US" sz="2800"/>
              <a:t>个分支语句体</a:t>
            </a:r>
          </a:p>
          <a:p>
            <a:pPr marL="0" indent="0">
              <a:lnSpc>
                <a:spcPct val="110000"/>
              </a:lnSpc>
              <a:buFontTx/>
              <a:buNone/>
            </a:pPr>
            <a:r>
              <a:rPr lang="zh-CN" altLang="en-US" sz="2800"/>
              <a:t>注意第</a:t>
            </a:r>
            <a:r>
              <a:rPr lang="en-US" altLang="zh-CN" sz="2800"/>
              <a:t>1</a:t>
            </a:r>
            <a:r>
              <a:rPr lang="zh-CN" altLang="en-US" sz="2800"/>
              <a:t>个分支体后一定要有一个</a:t>
            </a:r>
            <a:r>
              <a:rPr lang="en-US" altLang="zh-CN" sz="2800"/>
              <a:t>JMP</a:t>
            </a:r>
            <a:r>
              <a:rPr lang="zh-CN" altLang="en-US" sz="2800"/>
              <a:t>指令跳到第</a:t>
            </a:r>
            <a:r>
              <a:rPr lang="en-US" altLang="zh-CN" sz="2800"/>
              <a:t>2</a:t>
            </a:r>
            <a:r>
              <a:rPr lang="zh-CN" altLang="en-US" sz="2800"/>
              <a:t>个分支体后</a:t>
            </a:r>
          </a:p>
        </p:txBody>
      </p:sp>
      <p:pic>
        <p:nvPicPr>
          <p:cNvPr id="76806" name="Picture 6">
            <a:extLst>
              <a:ext uri="{FF2B5EF4-FFF2-40B4-BE49-F238E27FC236}">
                <a16:creationId xmlns:a16="http://schemas.microsoft.com/office/drawing/2014/main" id="{FDAE0DA5-C86A-E724-CC4B-BCBEF6C2FF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8263" y="1052513"/>
            <a:ext cx="3597275" cy="50403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FE6014A7-FFBA-59C0-8CC4-8AF9A72DBADC}"/>
              </a:ext>
            </a:extLst>
          </p:cNvPr>
          <p:cNvSpPr>
            <a:spLocks noGrp="1" noChangeArrowheads="1"/>
          </p:cNvSpPr>
          <p:nvPr>
            <p:ph type="title"/>
          </p:nvPr>
        </p:nvSpPr>
        <p:spPr/>
        <p:txBody>
          <a:bodyPr/>
          <a:lstStyle/>
          <a:p>
            <a:r>
              <a:rPr lang="zh-CN" altLang="en-US"/>
              <a:t>多分支结构</a:t>
            </a:r>
          </a:p>
        </p:txBody>
      </p:sp>
      <p:sp>
        <p:nvSpPr>
          <p:cNvPr id="81925" name="Text Box 5">
            <a:extLst>
              <a:ext uri="{FF2B5EF4-FFF2-40B4-BE49-F238E27FC236}">
                <a16:creationId xmlns:a16="http://schemas.microsoft.com/office/drawing/2014/main" id="{520232E5-0AAF-1D85-6A7D-C42F33914FE2}"/>
              </a:ext>
            </a:extLst>
          </p:cNvPr>
          <p:cNvSpPr txBox="1">
            <a:spLocks noChangeArrowheads="1"/>
          </p:cNvSpPr>
          <p:nvPr/>
        </p:nvSpPr>
        <p:spPr bwMode="auto">
          <a:xfrm>
            <a:off x="539750" y="1052513"/>
            <a:ext cx="3960813" cy="162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90000"/>
              </a:lnSpc>
              <a:spcBef>
                <a:spcPct val="10000"/>
              </a:spcBef>
            </a:pPr>
            <a:r>
              <a:rPr lang="zh-CN" altLang="en-US" sz="2800" b="1">
                <a:solidFill>
                  <a:schemeClr val="accent2"/>
                </a:solidFill>
                <a:effectLst/>
              </a:rPr>
              <a:t>多分支结构是多个条件对应各自的分支语句体，哪个条件成立就转入相应分支体执行</a:t>
            </a:r>
          </a:p>
        </p:txBody>
      </p:sp>
      <p:grpSp>
        <p:nvGrpSpPr>
          <p:cNvPr id="81926" name="Group 6">
            <a:extLst>
              <a:ext uri="{FF2B5EF4-FFF2-40B4-BE49-F238E27FC236}">
                <a16:creationId xmlns:a16="http://schemas.microsoft.com/office/drawing/2014/main" id="{3B2CD6E4-0D6C-0805-17CB-2E76BDFFDD8A}"/>
              </a:ext>
            </a:extLst>
          </p:cNvPr>
          <p:cNvGrpSpPr>
            <a:grpSpLocks/>
          </p:cNvGrpSpPr>
          <p:nvPr/>
        </p:nvGrpSpPr>
        <p:grpSpPr bwMode="auto">
          <a:xfrm>
            <a:off x="4572000" y="1125538"/>
            <a:ext cx="4038600" cy="4838700"/>
            <a:chOff x="3012" y="960"/>
            <a:chExt cx="2544" cy="2304"/>
          </a:xfrm>
        </p:grpSpPr>
        <p:sp>
          <p:nvSpPr>
            <p:cNvPr id="81927" name="Line 7">
              <a:extLst>
                <a:ext uri="{FF2B5EF4-FFF2-40B4-BE49-F238E27FC236}">
                  <a16:creationId xmlns:a16="http://schemas.microsoft.com/office/drawing/2014/main" id="{E27333BC-DBEE-42B6-8ADF-D0DB8B5CD986}"/>
                </a:ext>
              </a:extLst>
            </p:cNvPr>
            <p:cNvSpPr>
              <a:spLocks noChangeShapeType="1"/>
            </p:cNvSpPr>
            <p:nvPr/>
          </p:nvSpPr>
          <p:spPr bwMode="auto">
            <a:xfrm>
              <a:off x="3600" y="960"/>
              <a:ext cx="0" cy="28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1928" name="Group 8">
              <a:extLst>
                <a:ext uri="{FF2B5EF4-FFF2-40B4-BE49-F238E27FC236}">
                  <a16:creationId xmlns:a16="http://schemas.microsoft.com/office/drawing/2014/main" id="{93BF3383-1FDE-E902-A72E-4C475ED6FB62}"/>
                </a:ext>
              </a:extLst>
            </p:cNvPr>
            <p:cNvGrpSpPr>
              <a:grpSpLocks/>
            </p:cNvGrpSpPr>
            <p:nvPr/>
          </p:nvGrpSpPr>
          <p:grpSpPr bwMode="auto">
            <a:xfrm>
              <a:off x="3012" y="1200"/>
              <a:ext cx="2544" cy="720"/>
              <a:chOff x="3024" y="1200"/>
              <a:chExt cx="2544" cy="720"/>
            </a:xfrm>
          </p:grpSpPr>
          <p:sp>
            <p:nvSpPr>
              <p:cNvPr id="81929" name="AutoShape 9">
                <a:extLst>
                  <a:ext uri="{FF2B5EF4-FFF2-40B4-BE49-F238E27FC236}">
                    <a16:creationId xmlns:a16="http://schemas.microsoft.com/office/drawing/2014/main" id="{6BFA5988-3B42-2196-45F4-6FCAE4687CB4}"/>
                  </a:ext>
                </a:extLst>
              </p:cNvPr>
              <p:cNvSpPr>
                <a:spLocks noChangeArrowheads="1"/>
              </p:cNvSpPr>
              <p:nvPr/>
            </p:nvSpPr>
            <p:spPr bwMode="auto">
              <a:xfrm>
                <a:off x="3024" y="1248"/>
                <a:ext cx="1152" cy="384"/>
              </a:xfrm>
              <a:prstGeom prst="flowChartDecision">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30" name="Text Box 10">
                <a:extLst>
                  <a:ext uri="{FF2B5EF4-FFF2-40B4-BE49-F238E27FC236}">
                    <a16:creationId xmlns:a16="http://schemas.microsoft.com/office/drawing/2014/main" id="{1BF0FB8E-BADD-D45F-E053-095F092B4644}"/>
                  </a:ext>
                </a:extLst>
              </p:cNvPr>
              <p:cNvSpPr txBox="1">
                <a:spLocks noChangeArrowheads="1"/>
              </p:cNvSpPr>
              <p:nvPr/>
            </p:nvSpPr>
            <p:spPr bwMode="auto">
              <a:xfrm>
                <a:off x="3264" y="1296"/>
                <a:ext cx="672" cy="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en-US" altLang="zh-CN" sz="2400">
                    <a:effectLst/>
                    <a:latin typeface="Times New Roman" panose="02020603050405020304" pitchFamily="18" charset="0"/>
                  </a:rPr>
                  <a:t>AH=0</a:t>
                </a:r>
              </a:p>
            </p:txBody>
          </p:sp>
          <p:sp>
            <p:nvSpPr>
              <p:cNvPr id="81931" name="AutoShape 11">
                <a:extLst>
                  <a:ext uri="{FF2B5EF4-FFF2-40B4-BE49-F238E27FC236}">
                    <a16:creationId xmlns:a16="http://schemas.microsoft.com/office/drawing/2014/main" id="{72E8C539-8703-EBDF-FA5B-34FC04C8E597}"/>
                  </a:ext>
                </a:extLst>
              </p:cNvPr>
              <p:cNvSpPr>
                <a:spLocks noChangeArrowheads="1"/>
              </p:cNvSpPr>
              <p:nvPr/>
            </p:nvSpPr>
            <p:spPr bwMode="auto">
              <a:xfrm>
                <a:off x="4464" y="1260"/>
                <a:ext cx="1104" cy="336"/>
              </a:xfrm>
              <a:prstGeom prst="flowChartPredefined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32" name="Line 12">
                <a:extLst>
                  <a:ext uri="{FF2B5EF4-FFF2-40B4-BE49-F238E27FC236}">
                    <a16:creationId xmlns:a16="http://schemas.microsoft.com/office/drawing/2014/main" id="{5541FFCA-305D-69CE-A4C9-BD42DC59A870}"/>
                  </a:ext>
                </a:extLst>
              </p:cNvPr>
              <p:cNvSpPr>
                <a:spLocks noChangeShapeType="1"/>
              </p:cNvSpPr>
              <p:nvPr/>
            </p:nvSpPr>
            <p:spPr bwMode="auto">
              <a:xfrm rot="-5400000">
                <a:off x="4320" y="1296"/>
                <a:ext cx="0" cy="28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33" name="Text Box 13">
                <a:extLst>
                  <a:ext uri="{FF2B5EF4-FFF2-40B4-BE49-F238E27FC236}">
                    <a16:creationId xmlns:a16="http://schemas.microsoft.com/office/drawing/2014/main" id="{2DCB5002-066E-772A-CEB6-0C7D9343A55D}"/>
                  </a:ext>
                </a:extLst>
              </p:cNvPr>
              <p:cNvSpPr txBox="1">
                <a:spLocks noChangeArrowheads="1"/>
              </p:cNvSpPr>
              <p:nvPr/>
            </p:nvSpPr>
            <p:spPr bwMode="auto">
              <a:xfrm>
                <a:off x="4512" y="1284"/>
                <a:ext cx="1056" cy="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en-US" altLang="zh-CN" sz="2400">
                    <a:effectLst/>
                    <a:latin typeface="Times New Roman" panose="02020603050405020304" pitchFamily="18" charset="0"/>
                  </a:rPr>
                  <a:t>fuction0</a:t>
                </a:r>
              </a:p>
            </p:txBody>
          </p:sp>
          <p:sp>
            <p:nvSpPr>
              <p:cNvPr id="81934" name="Line 14">
                <a:extLst>
                  <a:ext uri="{FF2B5EF4-FFF2-40B4-BE49-F238E27FC236}">
                    <a16:creationId xmlns:a16="http://schemas.microsoft.com/office/drawing/2014/main" id="{61C9EF3B-BDEC-235A-C80A-840F9CD537CB}"/>
                  </a:ext>
                </a:extLst>
              </p:cNvPr>
              <p:cNvSpPr>
                <a:spLocks noChangeShapeType="1"/>
              </p:cNvSpPr>
              <p:nvPr/>
            </p:nvSpPr>
            <p:spPr bwMode="auto">
              <a:xfrm>
                <a:off x="3600" y="1632"/>
                <a:ext cx="0" cy="28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35" name="Text Box 15">
                <a:extLst>
                  <a:ext uri="{FF2B5EF4-FFF2-40B4-BE49-F238E27FC236}">
                    <a16:creationId xmlns:a16="http://schemas.microsoft.com/office/drawing/2014/main" id="{5D5E0DB2-E17D-0993-9C48-18C50248A5C4}"/>
                  </a:ext>
                </a:extLst>
              </p:cNvPr>
              <p:cNvSpPr txBox="1">
                <a:spLocks noChangeArrowheads="1"/>
              </p:cNvSpPr>
              <p:nvPr/>
            </p:nvSpPr>
            <p:spPr bwMode="auto">
              <a:xfrm>
                <a:off x="4032" y="1200"/>
                <a:ext cx="480" cy="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en-US" altLang="zh-CN" sz="2400">
                    <a:effectLst/>
                    <a:latin typeface="Times New Roman" panose="02020603050405020304" pitchFamily="18" charset="0"/>
                  </a:rPr>
                  <a:t>Y</a:t>
                </a:r>
              </a:p>
            </p:txBody>
          </p:sp>
          <p:sp>
            <p:nvSpPr>
              <p:cNvPr id="81936" name="Text Box 16">
                <a:extLst>
                  <a:ext uri="{FF2B5EF4-FFF2-40B4-BE49-F238E27FC236}">
                    <a16:creationId xmlns:a16="http://schemas.microsoft.com/office/drawing/2014/main" id="{F0E43708-3214-EC84-8936-3F026125261B}"/>
                  </a:ext>
                </a:extLst>
              </p:cNvPr>
              <p:cNvSpPr txBox="1">
                <a:spLocks noChangeArrowheads="1"/>
              </p:cNvSpPr>
              <p:nvPr/>
            </p:nvSpPr>
            <p:spPr bwMode="auto">
              <a:xfrm>
                <a:off x="3504" y="1584"/>
                <a:ext cx="480" cy="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en-US" altLang="zh-CN" sz="2400">
                    <a:effectLst/>
                    <a:latin typeface="Times New Roman" panose="02020603050405020304" pitchFamily="18" charset="0"/>
                  </a:rPr>
                  <a:t>N</a:t>
                </a:r>
              </a:p>
            </p:txBody>
          </p:sp>
        </p:grpSp>
        <p:grpSp>
          <p:nvGrpSpPr>
            <p:cNvPr id="81937" name="Group 17">
              <a:extLst>
                <a:ext uri="{FF2B5EF4-FFF2-40B4-BE49-F238E27FC236}">
                  <a16:creationId xmlns:a16="http://schemas.microsoft.com/office/drawing/2014/main" id="{9D047CB0-F6B7-6719-4897-BBF1F4335F14}"/>
                </a:ext>
              </a:extLst>
            </p:cNvPr>
            <p:cNvGrpSpPr>
              <a:grpSpLocks/>
            </p:cNvGrpSpPr>
            <p:nvPr/>
          </p:nvGrpSpPr>
          <p:grpSpPr bwMode="auto">
            <a:xfrm>
              <a:off x="3012" y="1872"/>
              <a:ext cx="2544" cy="720"/>
              <a:chOff x="3024" y="1200"/>
              <a:chExt cx="2544" cy="720"/>
            </a:xfrm>
          </p:grpSpPr>
          <p:sp>
            <p:nvSpPr>
              <p:cNvPr id="81938" name="AutoShape 18">
                <a:extLst>
                  <a:ext uri="{FF2B5EF4-FFF2-40B4-BE49-F238E27FC236}">
                    <a16:creationId xmlns:a16="http://schemas.microsoft.com/office/drawing/2014/main" id="{5F078D21-65B6-98AD-A547-E443A534FAD5}"/>
                  </a:ext>
                </a:extLst>
              </p:cNvPr>
              <p:cNvSpPr>
                <a:spLocks noChangeArrowheads="1"/>
              </p:cNvSpPr>
              <p:nvPr/>
            </p:nvSpPr>
            <p:spPr bwMode="auto">
              <a:xfrm>
                <a:off x="3024" y="1248"/>
                <a:ext cx="1152" cy="384"/>
              </a:xfrm>
              <a:prstGeom prst="flowChartDecision">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39" name="Text Box 19">
                <a:extLst>
                  <a:ext uri="{FF2B5EF4-FFF2-40B4-BE49-F238E27FC236}">
                    <a16:creationId xmlns:a16="http://schemas.microsoft.com/office/drawing/2014/main" id="{E9049195-BBE3-336C-3B69-FE7C2827BE02}"/>
                  </a:ext>
                </a:extLst>
              </p:cNvPr>
              <p:cNvSpPr txBox="1">
                <a:spLocks noChangeArrowheads="1"/>
              </p:cNvSpPr>
              <p:nvPr/>
            </p:nvSpPr>
            <p:spPr bwMode="auto">
              <a:xfrm>
                <a:off x="3264" y="1296"/>
                <a:ext cx="672" cy="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en-US" altLang="zh-CN" sz="2400">
                    <a:effectLst/>
                    <a:latin typeface="Times New Roman" panose="02020603050405020304" pitchFamily="18" charset="0"/>
                  </a:rPr>
                  <a:t>AH=1</a:t>
                </a:r>
              </a:p>
            </p:txBody>
          </p:sp>
          <p:sp>
            <p:nvSpPr>
              <p:cNvPr id="81940" name="AutoShape 20">
                <a:extLst>
                  <a:ext uri="{FF2B5EF4-FFF2-40B4-BE49-F238E27FC236}">
                    <a16:creationId xmlns:a16="http://schemas.microsoft.com/office/drawing/2014/main" id="{34BD7BC4-590C-A34B-6138-92FFADB1F5D2}"/>
                  </a:ext>
                </a:extLst>
              </p:cNvPr>
              <p:cNvSpPr>
                <a:spLocks noChangeArrowheads="1"/>
              </p:cNvSpPr>
              <p:nvPr/>
            </p:nvSpPr>
            <p:spPr bwMode="auto">
              <a:xfrm>
                <a:off x="4464" y="1260"/>
                <a:ext cx="1104" cy="336"/>
              </a:xfrm>
              <a:prstGeom prst="flowChartPredefined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41" name="Line 21">
                <a:extLst>
                  <a:ext uri="{FF2B5EF4-FFF2-40B4-BE49-F238E27FC236}">
                    <a16:creationId xmlns:a16="http://schemas.microsoft.com/office/drawing/2014/main" id="{D80ABB74-A6EF-2780-F6E2-6B76361B8007}"/>
                  </a:ext>
                </a:extLst>
              </p:cNvPr>
              <p:cNvSpPr>
                <a:spLocks noChangeShapeType="1"/>
              </p:cNvSpPr>
              <p:nvPr/>
            </p:nvSpPr>
            <p:spPr bwMode="auto">
              <a:xfrm rot="-5400000">
                <a:off x="4320" y="1296"/>
                <a:ext cx="0" cy="28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42" name="Text Box 22">
                <a:extLst>
                  <a:ext uri="{FF2B5EF4-FFF2-40B4-BE49-F238E27FC236}">
                    <a16:creationId xmlns:a16="http://schemas.microsoft.com/office/drawing/2014/main" id="{8AC6CD51-D4CD-141F-B5E9-0E49A3182F81}"/>
                  </a:ext>
                </a:extLst>
              </p:cNvPr>
              <p:cNvSpPr txBox="1">
                <a:spLocks noChangeArrowheads="1"/>
              </p:cNvSpPr>
              <p:nvPr/>
            </p:nvSpPr>
            <p:spPr bwMode="auto">
              <a:xfrm>
                <a:off x="4512" y="1284"/>
                <a:ext cx="1056" cy="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en-US" altLang="zh-CN" sz="2400">
                    <a:effectLst/>
                    <a:latin typeface="Times New Roman" panose="02020603050405020304" pitchFamily="18" charset="0"/>
                  </a:rPr>
                  <a:t>fuction1</a:t>
                </a:r>
              </a:p>
            </p:txBody>
          </p:sp>
          <p:sp>
            <p:nvSpPr>
              <p:cNvPr id="81943" name="Line 23">
                <a:extLst>
                  <a:ext uri="{FF2B5EF4-FFF2-40B4-BE49-F238E27FC236}">
                    <a16:creationId xmlns:a16="http://schemas.microsoft.com/office/drawing/2014/main" id="{5B03CBB8-49B1-F008-0BA6-7BD454DD0F5D}"/>
                  </a:ext>
                </a:extLst>
              </p:cNvPr>
              <p:cNvSpPr>
                <a:spLocks noChangeShapeType="1"/>
              </p:cNvSpPr>
              <p:nvPr/>
            </p:nvSpPr>
            <p:spPr bwMode="auto">
              <a:xfrm>
                <a:off x="3600" y="1632"/>
                <a:ext cx="0" cy="28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44" name="Text Box 24">
                <a:extLst>
                  <a:ext uri="{FF2B5EF4-FFF2-40B4-BE49-F238E27FC236}">
                    <a16:creationId xmlns:a16="http://schemas.microsoft.com/office/drawing/2014/main" id="{FAD08775-58DA-1926-B59A-33154E2403BC}"/>
                  </a:ext>
                </a:extLst>
              </p:cNvPr>
              <p:cNvSpPr txBox="1">
                <a:spLocks noChangeArrowheads="1"/>
              </p:cNvSpPr>
              <p:nvPr/>
            </p:nvSpPr>
            <p:spPr bwMode="auto">
              <a:xfrm>
                <a:off x="4032" y="1200"/>
                <a:ext cx="480" cy="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en-US" altLang="zh-CN" sz="2400">
                    <a:effectLst/>
                    <a:latin typeface="Times New Roman" panose="02020603050405020304" pitchFamily="18" charset="0"/>
                  </a:rPr>
                  <a:t>Y</a:t>
                </a:r>
              </a:p>
            </p:txBody>
          </p:sp>
          <p:sp>
            <p:nvSpPr>
              <p:cNvPr id="81945" name="Text Box 25">
                <a:extLst>
                  <a:ext uri="{FF2B5EF4-FFF2-40B4-BE49-F238E27FC236}">
                    <a16:creationId xmlns:a16="http://schemas.microsoft.com/office/drawing/2014/main" id="{C8DB0FB6-4875-DF3F-1279-BE2D46E84618}"/>
                  </a:ext>
                </a:extLst>
              </p:cNvPr>
              <p:cNvSpPr txBox="1">
                <a:spLocks noChangeArrowheads="1"/>
              </p:cNvSpPr>
              <p:nvPr/>
            </p:nvSpPr>
            <p:spPr bwMode="auto">
              <a:xfrm>
                <a:off x="3504" y="1584"/>
                <a:ext cx="480" cy="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en-US" altLang="zh-CN" sz="2400">
                    <a:effectLst/>
                    <a:latin typeface="Times New Roman" panose="02020603050405020304" pitchFamily="18" charset="0"/>
                  </a:rPr>
                  <a:t>N</a:t>
                </a:r>
              </a:p>
            </p:txBody>
          </p:sp>
        </p:grpSp>
        <p:grpSp>
          <p:nvGrpSpPr>
            <p:cNvPr id="81946" name="Group 26">
              <a:extLst>
                <a:ext uri="{FF2B5EF4-FFF2-40B4-BE49-F238E27FC236}">
                  <a16:creationId xmlns:a16="http://schemas.microsoft.com/office/drawing/2014/main" id="{678A396F-BEDA-491F-AFCD-10224DFF0B5A}"/>
                </a:ext>
              </a:extLst>
            </p:cNvPr>
            <p:cNvGrpSpPr>
              <a:grpSpLocks/>
            </p:cNvGrpSpPr>
            <p:nvPr/>
          </p:nvGrpSpPr>
          <p:grpSpPr bwMode="auto">
            <a:xfrm>
              <a:off x="3012" y="2544"/>
              <a:ext cx="2544" cy="720"/>
              <a:chOff x="3024" y="1200"/>
              <a:chExt cx="2544" cy="720"/>
            </a:xfrm>
          </p:grpSpPr>
          <p:sp>
            <p:nvSpPr>
              <p:cNvPr id="81947" name="AutoShape 27">
                <a:extLst>
                  <a:ext uri="{FF2B5EF4-FFF2-40B4-BE49-F238E27FC236}">
                    <a16:creationId xmlns:a16="http://schemas.microsoft.com/office/drawing/2014/main" id="{4D441F0C-7BB3-A278-3DF1-7EA3C04A3C99}"/>
                  </a:ext>
                </a:extLst>
              </p:cNvPr>
              <p:cNvSpPr>
                <a:spLocks noChangeArrowheads="1"/>
              </p:cNvSpPr>
              <p:nvPr/>
            </p:nvSpPr>
            <p:spPr bwMode="auto">
              <a:xfrm>
                <a:off x="3024" y="1248"/>
                <a:ext cx="1152" cy="384"/>
              </a:xfrm>
              <a:prstGeom prst="flowChartDecision">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48" name="Text Box 28">
                <a:extLst>
                  <a:ext uri="{FF2B5EF4-FFF2-40B4-BE49-F238E27FC236}">
                    <a16:creationId xmlns:a16="http://schemas.microsoft.com/office/drawing/2014/main" id="{838DD14C-A003-1222-867D-B796CDD7D3FE}"/>
                  </a:ext>
                </a:extLst>
              </p:cNvPr>
              <p:cNvSpPr txBox="1">
                <a:spLocks noChangeArrowheads="1"/>
              </p:cNvSpPr>
              <p:nvPr/>
            </p:nvSpPr>
            <p:spPr bwMode="auto">
              <a:xfrm>
                <a:off x="3264" y="1296"/>
                <a:ext cx="672" cy="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en-US" altLang="zh-CN" sz="2400">
                    <a:effectLst/>
                    <a:latin typeface="Times New Roman" panose="02020603050405020304" pitchFamily="18" charset="0"/>
                  </a:rPr>
                  <a:t>AH=2</a:t>
                </a:r>
              </a:p>
            </p:txBody>
          </p:sp>
          <p:sp>
            <p:nvSpPr>
              <p:cNvPr id="81949" name="AutoShape 29">
                <a:extLst>
                  <a:ext uri="{FF2B5EF4-FFF2-40B4-BE49-F238E27FC236}">
                    <a16:creationId xmlns:a16="http://schemas.microsoft.com/office/drawing/2014/main" id="{3CCD3BDE-C151-49E8-1E46-EDFBFCCBCECF}"/>
                  </a:ext>
                </a:extLst>
              </p:cNvPr>
              <p:cNvSpPr>
                <a:spLocks noChangeArrowheads="1"/>
              </p:cNvSpPr>
              <p:nvPr/>
            </p:nvSpPr>
            <p:spPr bwMode="auto">
              <a:xfrm>
                <a:off x="4464" y="1260"/>
                <a:ext cx="1104" cy="336"/>
              </a:xfrm>
              <a:prstGeom prst="flowChartPredefined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50" name="Line 30">
                <a:extLst>
                  <a:ext uri="{FF2B5EF4-FFF2-40B4-BE49-F238E27FC236}">
                    <a16:creationId xmlns:a16="http://schemas.microsoft.com/office/drawing/2014/main" id="{6E5D09C2-94E9-EACF-051A-DD4931EC974A}"/>
                  </a:ext>
                </a:extLst>
              </p:cNvPr>
              <p:cNvSpPr>
                <a:spLocks noChangeShapeType="1"/>
              </p:cNvSpPr>
              <p:nvPr/>
            </p:nvSpPr>
            <p:spPr bwMode="auto">
              <a:xfrm rot="-5400000">
                <a:off x="4320" y="1296"/>
                <a:ext cx="0" cy="28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51" name="Text Box 31">
                <a:extLst>
                  <a:ext uri="{FF2B5EF4-FFF2-40B4-BE49-F238E27FC236}">
                    <a16:creationId xmlns:a16="http://schemas.microsoft.com/office/drawing/2014/main" id="{FCB383A6-B19F-42F3-8CA4-67204C4DE730}"/>
                  </a:ext>
                </a:extLst>
              </p:cNvPr>
              <p:cNvSpPr txBox="1">
                <a:spLocks noChangeArrowheads="1"/>
              </p:cNvSpPr>
              <p:nvPr/>
            </p:nvSpPr>
            <p:spPr bwMode="auto">
              <a:xfrm>
                <a:off x="4512" y="1284"/>
                <a:ext cx="1056" cy="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en-US" altLang="zh-CN" sz="2400">
                    <a:effectLst/>
                    <a:latin typeface="Times New Roman" panose="02020603050405020304" pitchFamily="18" charset="0"/>
                  </a:rPr>
                  <a:t>fuction2</a:t>
                </a:r>
              </a:p>
            </p:txBody>
          </p:sp>
          <p:sp>
            <p:nvSpPr>
              <p:cNvPr id="81952" name="Line 32">
                <a:extLst>
                  <a:ext uri="{FF2B5EF4-FFF2-40B4-BE49-F238E27FC236}">
                    <a16:creationId xmlns:a16="http://schemas.microsoft.com/office/drawing/2014/main" id="{87AE465E-A54A-A388-6D3D-E05CBD0F07F0}"/>
                  </a:ext>
                </a:extLst>
              </p:cNvPr>
              <p:cNvSpPr>
                <a:spLocks noChangeShapeType="1"/>
              </p:cNvSpPr>
              <p:nvPr/>
            </p:nvSpPr>
            <p:spPr bwMode="auto">
              <a:xfrm>
                <a:off x="3600" y="1632"/>
                <a:ext cx="0" cy="28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53" name="Text Box 33">
                <a:extLst>
                  <a:ext uri="{FF2B5EF4-FFF2-40B4-BE49-F238E27FC236}">
                    <a16:creationId xmlns:a16="http://schemas.microsoft.com/office/drawing/2014/main" id="{36BAFE18-5829-17E6-08A2-1D8485359847}"/>
                  </a:ext>
                </a:extLst>
              </p:cNvPr>
              <p:cNvSpPr txBox="1">
                <a:spLocks noChangeArrowheads="1"/>
              </p:cNvSpPr>
              <p:nvPr/>
            </p:nvSpPr>
            <p:spPr bwMode="auto">
              <a:xfrm>
                <a:off x="4032" y="1200"/>
                <a:ext cx="480" cy="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en-US" altLang="zh-CN" sz="2400">
                    <a:effectLst/>
                    <a:latin typeface="Times New Roman" panose="02020603050405020304" pitchFamily="18" charset="0"/>
                  </a:rPr>
                  <a:t>Y</a:t>
                </a:r>
              </a:p>
            </p:txBody>
          </p:sp>
          <p:sp>
            <p:nvSpPr>
              <p:cNvPr id="81954" name="Text Box 34">
                <a:extLst>
                  <a:ext uri="{FF2B5EF4-FFF2-40B4-BE49-F238E27FC236}">
                    <a16:creationId xmlns:a16="http://schemas.microsoft.com/office/drawing/2014/main" id="{5F10106F-F22B-3D42-F9C2-CB905132C6CF}"/>
                  </a:ext>
                </a:extLst>
              </p:cNvPr>
              <p:cNvSpPr txBox="1">
                <a:spLocks noChangeArrowheads="1"/>
              </p:cNvSpPr>
              <p:nvPr/>
            </p:nvSpPr>
            <p:spPr bwMode="auto">
              <a:xfrm>
                <a:off x="3504" y="1584"/>
                <a:ext cx="480" cy="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en-US" altLang="zh-CN" sz="2400">
                    <a:effectLst/>
                    <a:latin typeface="Times New Roman" panose="02020603050405020304" pitchFamily="18" charset="0"/>
                  </a:rPr>
                  <a:t>N</a:t>
                </a:r>
              </a:p>
            </p:txBody>
          </p:sp>
        </p:grpSp>
      </p:grpSp>
      <p:sp>
        <p:nvSpPr>
          <p:cNvPr id="81955" name="Text Box 35">
            <a:extLst>
              <a:ext uri="{FF2B5EF4-FFF2-40B4-BE49-F238E27FC236}">
                <a16:creationId xmlns:a16="http://schemas.microsoft.com/office/drawing/2014/main" id="{BBE31BEF-3FB8-A7E1-8B9D-93AD6A379F22}"/>
              </a:ext>
            </a:extLst>
          </p:cNvPr>
          <p:cNvSpPr txBox="1">
            <a:spLocks noChangeArrowheads="1"/>
          </p:cNvSpPr>
          <p:nvPr/>
        </p:nvSpPr>
        <p:spPr bwMode="auto">
          <a:xfrm>
            <a:off x="468314" y="3078163"/>
            <a:ext cx="3875085" cy="2438400"/>
          </a:xfrm>
          <a:prstGeom prst="rect">
            <a:avLst/>
          </a:prstGeom>
          <a:solidFill>
            <a:schemeClr val="bg1"/>
          </a:solidFill>
          <a:ln w="9525">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tabLst>
                <a:tab pos="1530350" algn="l"/>
              </a:tabLst>
              <a:defRPr>
                <a:solidFill>
                  <a:schemeClr val="tx1"/>
                </a:solidFill>
                <a:latin typeface="Arial" panose="020B0604020202020204" pitchFamily="34" charset="0"/>
                <a:ea typeface="宋体" panose="02010600030101010101" pitchFamily="2" charset="-122"/>
              </a:defRPr>
            </a:lvl1pPr>
            <a:lvl2pPr>
              <a:tabLst>
                <a:tab pos="1530350" algn="l"/>
              </a:tabLst>
              <a:defRPr>
                <a:solidFill>
                  <a:schemeClr val="tx1"/>
                </a:solidFill>
                <a:latin typeface="Arial" panose="020B0604020202020204" pitchFamily="34" charset="0"/>
                <a:ea typeface="宋体" panose="02010600030101010101" pitchFamily="2" charset="-122"/>
              </a:defRPr>
            </a:lvl2pPr>
            <a:lvl3pPr>
              <a:tabLst>
                <a:tab pos="1530350" algn="l"/>
              </a:tabLst>
              <a:defRPr>
                <a:solidFill>
                  <a:schemeClr val="tx1"/>
                </a:solidFill>
                <a:latin typeface="Arial" panose="020B0604020202020204" pitchFamily="34" charset="0"/>
                <a:ea typeface="宋体" panose="02010600030101010101" pitchFamily="2" charset="-122"/>
              </a:defRPr>
            </a:lvl3pPr>
            <a:lvl4pPr>
              <a:tabLst>
                <a:tab pos="1530350" algn="l"/>
              </a:tabLst>
              <a:defRPr>
                <a:solidFill>
                  <a:schemeClr val="tx1"/>
                </a:solidFill>
                <a:latin typeface="Arial" panose="020B0604020202020204" pitchFamily="34" charset="0"/>
                <a:ea typeface="宋体" panose="02010600030101010101" pitchFamily="2" charset="-122"/>
              </a:defRPr>
            </a:lvl4pPr>
            <a:lvl5pPr>
              <a:tabLst>
                <a:tab pos="1530350"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1530350"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1530350"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1530350"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1530350" algn="l"/>
              </a:tabLst>
              <a:defRPr>
                <a:solidFill>
                  <a:schemeClr val="tx1"/>
                </a:solidFill>
                <a:latin typeface="Arial" panose="020B0604020202020204" pitchFamily="34" charset="0"/>
                <a:ea typeface="宋体" panose="02010600030101010101" pitchFamily="2" charset="-122"/>
              </a:defRPr>
            </a:lvl9pPr>
          </a:lstStyle>
          <a:p>
            <a:pPr algn="just">
              <a:lnSpc>
                <a:spcPct val="90000"/>
              </a:lnSpc>
              <a:spcBef>
                <a:spcPct val="20000"/>
              </a:spcBef>
            </a:pPr>
            <a:r>
              <a:rPr lang="en-US" altLang="zh-CN" sz="2400" b="1" dirty="0">
                <a:effectLst/>
              </a:rPr>
              <a:t>or </a:t>
            </a:r>
            <a:r>
              <a:rPr lang="en-US" altLang="zh-CN" sz="2400" b="1" dirty="0" err="1">
                <a:effectLst/>
              </a:rPr>
              <a:t>ah,ah</a:t>
            </a:r>
            <a:r>
              <a:rPr lang="en-US" altLang="zh-CN" sz="2400" b="1" dirty="0">
                <a:effectLst/>
              </a:rPr>
              <a:t>	</a:t>
            </a:r>
            <a:r>
              <a:rPr lang="zh-CN" altLang="en-US" sz="2400" b="1" dirty="0">
                <a:effectLst/>
              </a:rPr>
              <a:t>；＝</a:t>
            </a:r>
            <a:r>
              <a:rPr lang="en-US" altLang="zh-CN" sz="2400" b="1" dirty="0" err="1">
                <a:effectLst/>
              </a:rPr>
              <a:t>cmp</a:t>
            </a:r>
            <a:r>
              <a:rPr lang="en-US" altLang="zh-CN" sz="2400" b="1" dirty="0">
                <a:effectLst/>
              </a:rPr>
              <a:t> ah,0</a:t>
            </a:r>
          </a:p>
          <a:p>
            <a:pPr algn="just">
              <a:lnSpc>
                <a:spcPct val="90000"/>
              </a:lnSpc>
              <a:spcBef>
                <a:spcPct val="20000"/>
              </a:spcBef>
            </a:pPr>
            <a:r>
              <a:rPr lang="en-US" altLang="zh-CN" sz="2400" b="1" dirty="0" err="1">
                <a:effectLst/>
              </a:rPr>
              <a:t>jz</a:t>
            </a:r>
            <a:r>
              <a:rPr lang="en-US" altLang="zh-CN" sz="2400" b="1" dirty="0">
                <a:effectLst/>
              </a:rPr>
              <a:t> function0</a:t>
            </a:r>
          </a:p>
          <a:p>
            <a:pPr algn="just">
              <a:lnSpc>
                <a:spcPct val="90000"/>
              </a:lnSpc>
              <a:spcBef>
                <a:spcPct val="20000"/>
              </a:spcBef>
            </a:pPr>
            <a:r>
              <a:rPr lang="en-US" altLang="zh-CN" sz="2400" b="1" dirty="0">
                <a:effectLst/>
              </a:rPr>
              <a:t>dec ah	</a:t>
            </a:r>
            <a:r>
              <a:rPr lang="zh-CN" altLang="en-US" sz="2400" b="1" dirty="0">
                <a:effectLst/>
              </a:rPr>
              <a:t>；＝</a:t>
            </a:r>
            <a:r>
              <a:rPr lang="en-US" altLang="zh-CN" sz="2400" b="1" dirty="0" err="1">
                <a:effectLst/>
              </a:rPr>
              <a:t>cmp</a:t>
            </a:r>
            <a:r>
              <a:rPr lang="en-US" altLang="zh-CN" sz="2400" b="1" dirty="0">
                <a:effectLst/>
              </a:rPr>
              <a:t> ah,1</a:t>
            </a:r>
          </a:p>
          <a:p>
            <a:pPr algn="just">
              <a:lnSpc>
                <a:spcPct val="90000"/>
              </a:lnSpc>
              <a:spcBef>
                <a:spcPct val="20000"/>
              </a:spcBef>
            </a:pPr>
            <a:r>
              <a:rPr lang="en-US" altLang="zh-CN" sz="2400" b="1" dirty="0" err="1">
                <a:effectLst/>
              </a:rPr>
              <a:t>jz</a:t>
            </a:r>
            <a:r>
              <a:rPr lang="en-US" altLang="zh-CN" sz="2400" b="1" dirty="0">
                <a:effectLst/>
              </a:rPr>
              <a:t> function0</a:t>
            </a:r>
          </a:p>
          <a:p>
            <a:pPr algn="just">
              <a:lnSpc>
                <a:spcPct val="90000"/>
              </a:lnSpc>
              <a:spcBef>
                <a:spcPct val="20000"/>
              </a:spcBef>
            </a:pPr>
            <a:r>
              <a:rPr lang="en-US" altLang="zh-CN" sz="2400" b="1" dirty="0">
                <a:effectLst/>
              </a:rPr>
              <a:t>dec ah	</a:t>
            </a:r>
            <a:r>
              <a:rPr lang="zh-CN" altLang="en-US" sz="2400" b="1" dirty="0">
                <a:effectLst/>
              </a:rPr>
              <a:t>；＝</a:t>
            </a:r>
            <a:r>
              <a:rPr lang="en-US" altLang="zh-CN" sz="2400" b="1" dirty="0" err="1">
                <a:effectLst/>
              </a:rPr>
              <a:t>cmp</a:t>
            </a:r>
            <a:r>
              <a:rPr lang="en-US" altLang="zh-CN" sz="2400" b="1" dirty="0">
                <a:effectLst/>
              </a:rPr>
              <a:t> ah,2</a:t>
            </a:r>
          </a:p>
          <a:p>
            <a:pPr algn="just">
              <a:lnSpc>
                <a:spcPct val="90000"/>
              </a:lnSpc>
              <a:spcBef>
                <a:spcPct val="20000"/>
              </a:spcBef>
            </a:pPr>
            <a:r>
              <a:rPr lang="en-US" altLang="zh-CN" sz="2400" b="1" dirty="0" err="1">
                <a:effectLst/>
              </a:rPr>
              <a:t>jz</a:t>
            </a:r>
            <a:r>
              <a:rPr lang="en-US" altLang="zh-CN" sz="2400" b="1" dirty="0">
                <a:effectLst/>
              </a:rPr>
              <a:t> function0</a:t>
            </a:r>
          </a:p>
        </p:txBody>
      </p:sp>
    </p:spTree>
  </p:cSld>
  <p:clrMapOvr>
    <a:masterClrMapping/>
  </p:clrMapOvr>
  <p:transition>
    <p:random/>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20F7E500-88A8-CBD4-69D5-D0E9B8DEA52E}"/>
              </a:ext>
            </a:extLst>
          </p:cNvPr>
          <p:cNvSpPr>
            <a:spLocks noGrp="1" noChangeArrowheads="1"/>
          </p:cNvSpPr>
          <p:nvPr>
            <p:ph type="title"/>
          </p:nvPr>
        </p:nvSpPr>
        <p:spPr/>
        <p:txBody>
          <a:bodyPr/>
          <a:lstStyle/>
          <a:p>
            <a:r>
              <a:rPr lang="en-US" altLang="zh-CN" dirty="0"/>
              <a:t>3.5 </a:t>
            </a:r>
            <a:r>
              <a:rPr lang="zh-CN" altLang="en-US" dirty="0"/>
              <a:t>循环程序设计</a:t>
            </a:r>
          </a:p>
        </p:txBody>
      </p:sp>
      <p:sp>
        <p:nvSpPr>
          <p:cNvPr id="89091" name="Rectangle 3">
            <a:extLst>
              <a:ext uri="{FF2B5EF4-FFF2-40B4-BE49-F238E27FC236}">
                <a16:creationId xmlns:a16="http://schemas.microsoft.com/office/drawing/2014/main" id="{BCE01CDF-A9BA-80B8-53AB-5B546F3A1DF7}"/>
              </a:ext>
            </a:extLst>
          </p:cNvPr>
          <p:cNvSpPr>
            <a:spLocks noGrp="1" noChangeArrowheads="1"/>
          </p:cNvSpPr>
          <p:nvPr>
            <p:ph type="body" idx="1"/>
          </p:nvPr>
        </p:nvSpPr>
        <p:spPr/>
        <p:txBody>
          <a:bodyPr/>
          <a:lstStyle/>
          <a:p>
            <a:r>
              <a:rPr lang="zh-CN" altLang="en-US">
                <a:solidFill>
                  <a:schemeClr val="tx1"/>
                </a:solidFill>
              </a:rPr>
              <a:t>循环程序结构</a:t>
            </a:r>
            <a:r>
              <a:rPr lang="zh-CN" altLang="en-US"/>
              <a:t>是满足一定条件的情况下，重复执行某段程序</a:t>
            </a:r>
          </a:p>
          <a:p>
            <a:r>
              <a:rPr lang="zh-CN" altLang="en-US"/>
              <a:t>循环结构的程序通常有</a:t>
            </a:r>
            <a:r>
              <a:rPr lang="en-US" altLang="zh-CN"/>
              <a:t>3</a:t>
            </a:r>
            <a:r>
              <a:rPr lang="zh-CN" altLang="en-US"/>
              <a:t>个部分：</a:t>
            </a:r>
          </a:p>
          <a:p>
            <a:pPr lvl="1"/>
            <a:r>
              <a:rPr lang="zh-CN" altLang="en-US"/>
              <a:t> 循环初始部分</a:t>
            </a:r>
            <a:r>
              <a:rPr lang="en-US" altLang="zh-CN"/>
              <a:t>——</a:t>
            </a:r>
            <a:r>
              <a:rPr lang="zh-CN" altLang="en-US"/>
              <a:t>为开始循环准备必要的条件，如循环次数、循环体需要的数值等</a:t>
            </a:r>
          </a:p>
          <a:p>
            <a:pPr lvl="1"/>
            <a:r>
              <a:rPr lang="zh-CN" altLang="en-US"/>
              <a:t> 循环体部分</a:t>
            </a:r>
            <a:r>
              <a:rPr lang="en-US" altLang="zh-CN"/>
              <a:t>——</a:t>
            </a:r>
            <a:r>
              <a:rPr lang="zh-CN" altLang="en-US"/>
              <a:t>指重复执行的程序部分，其中包括对循环条件等的修改程序段</a:t>
            </a:r>
          </a:p>
          <a:p>
            <a:pPr lvl="1"/>
            <a:r>
              <a:rPr lang="zh-CN" altLang="en-US"/>
              <a:t>循环控制部分</a:t>
            </a:r>
            <a:r>
              <a:rPr lang="en-US" altLang="zh-CN"/>
              <a:t>——</a:t>
            </a:r>
            <a:r>
              <a:rPr lang="zh-CN" altLang="en-US"/>
              <a:t>判断循环条件是否成立，决定是否继续循环</a:t>
            </a:r>
          </a:p>
        </p:txBody>
      </p:sp>
      <p:sp>
        <p:nvSpPr>
          <p:cNvPr id="89095" name="WordArt 7">
            <a:extLst>
              <a:ext uri="{FF2B5EF4-FFF2-40B4-BE49-F238E27FC236}">
                <a16:creationId xmlns:a16="http://schemas.microsoft.com/office/drawing/2014/main" id="{896E5149-8002-FA52-B5DD-5C4A2C2A5F0E}"/>
              </a:ext>
            </a:extLst>
          </p:cNvPr>
          <p:cNvSpPr>
            <a:spLocks noChangeArrowheads="1" noChangeShapeType="1" noTextEdit="1"/>
          </p:cNvSpPr>
          <p:nvPr/>
        </p:nvSpPr>
        <p:spPr bwMode="auto">
          <a:xfrm>
            <a:off x="6084888" y="5516563"/>
            <a:ext cx="1828800" cy="482600"/>
          </a:xfrm>
          <a:prstGeom prst="rect">
            <a:avLst/>
          </a:prstGeom>
        </p:spPr>
        <p:txBody>
          <a:bodyPr wrap="none" fromWordArt="1">
            <a:prstTxWarp prst="textPlain">
              <a:avLst>
                <a:gd name="adj" fmla="val 50000"/>
              </a:avLst>
            </a:prstTxWarp>
          </a:bodyPr>
          <a:lstStyle/>
          <a:p>
            <a:pPr algn="ctr"/>
            <a:r>
              <a:rPr lang="zh-CN" altLang="en-US" sz="3600" kern="10" dirty="0">
                <a:ln w="12700">
                  <a:solidFill>
                    <a:schemeClr val="tx1"/>
                  </a:solidFill>
                  <a:round/>
                  <a:headEnd/>
                  <a:tailEnd/>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80000"/>
                    </a:srgbClr>
                  </a:outerShdw>
                </a:effectLst>
                <a:latin typeface="华文彩云" panose="02010800040101010101" pitchFamily="2" charset="-122"/>
                <a:ea typeface="华文彩云" panose="02010800040101010101" pitchFamily="2" charset="-122"/>
              </a:rPr>
              <a:t>关键是什么？</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nodeType="clickEffect">
                                  <p:stCondLst>
                                    <p:cond delay="0"/>
                                  </p:stCondLst>
                                  <p:childTnLst>
                                    <p:set>
                                      <p:cBhvr>
                                        <p:cTn id="6" dur="1" fill="hold">
                                          <p:stCondLst>
                                            <p:cond delay="0"/>
                                          </p:stCondLst>
                                        </p:cTn>
                                        <p:tgtEl>
                                          <p:spTgt spid="89095"/>
                                        </p:tgtEl>
                                        <p:attrNameLst>
                                          <p:attrName>style.visibility</p:attrName>
                                        </p:attrNameLst>
                                      </p:cBhvr>
                                      <p:to>
                                        <p:strVal val="visible"/>
                                      </p:to>
                                    </p:set>
                                    <p:animEffect transition="in" filter="wipe(down)">
                                      <p:cBhvr>
                                        <p:cTn id="7" dur="290">
                                          <p:stCondLst>
                                            <p:cond delay="0"/>
                                          </p:stCondLst>
                                        </p:cTn>
                                        <p:tgtEl>
                                          <p:spTgt spid="89095"/>
                                        </p:tgtEl>
                                      </p:cBhvr>
                                    </p:animEffect>
                                    <p:anim calcmode="lin" valueType="num">
                                      <p:cBhvr>
                                        <p:cTn id="8" dur="911" tmFilter="0,0; 0.14,0.36; 0.43,0.73; 0.71,0.91; 1.0,1.0">
                                          <p:stCondLst>
                                            <p:cond delay="0"/>
                                          </p:stCondLst>
                                        </p:cTn>
                                        <p:tgtEl>
                                          <p:spTgt spid="89095"/>
                                        </p:tgtEl>
                                        <p:attrNameLst>
                                          <p:attrName>ppt_x</p:attrName>
                                        </p:attrNameLst>
                                      </p:cBhvr>
                                      <p:tavLst>
                                        <p:tav tm="0">
                                          <p:val>
                                            <p:strVal val="#ppt_x-0.25"/>
                                          </p:val>
                                        </p:tav>
                                        <p:tav tm="100000">
                                          <p:val>
                                            <p:strVal val="#ppt_x"/>
                                          </p:val>
                                        </p:tav>
                                      </p:tavLst>
                                    </p:anim>
                                    <p:anim calcmode="lin" valueType="num">
                                      <p:cBhvr>
                                        <p:cTn id="9" dur="332" tmFilter="0.0,0.0; 0.25,0.07; 0.50,0.2; 0.75,0.467; 1.0,1.0">
                                          <p:stCondLst>
                                            <p:cond delay="0"/>
                                          </p:stCondLst>
                                        </p:cTn>
                                        <p:tgtEl>
                                          <p:spTgt spid="89095"/>
                                        </p:tgtEl>
                                        <p:attrNameLst>
                                          <p:attrName>ppt_y</p:attrName>
                                        </p:attrNameLst>
                                      </p:cBhvr>
                                      <p:tavLst>
                                        <p:tav tm="0" fmla="#ppt_y-sin(pi*$)/3">
                                          <p:val>
                                            <p:fltVal val="0.5"/>
                                          </p:val>
                                        </p:tav>
                                        <p:tav tm="100000">
                                          <p:val>
                                            <p:fltVal val="1"/>
                                          </p:val>
                                        </p:tav>
                                      </p:tavLst>
                                    </p:anim>
                                    <p:anim calcmode="lin" valueType="num">
                                      <p:cBhvr>
                                        <p:cTn id="10" dur="332" tmFilter="0, 0; 0.125,0.2665; 0.25,0.4; 0.375,0.465; 0.5,0.5;  0.625,0.535; 0.75,0.6; 0.875,0.7335; 1,1">
                                          <p:stCondLst>
                                            <p:cond delay="332"/>
                                          </p:stCondLst>
                                        </p:cTn>
                                        <p:tgtEl>
                                          <p:spTgt spid="89095"/>
                                        </p:tgtEl>
                                        <p:attrNameLst>
                                          <p:attrName>ppt_y</p:attrName>
                                        </p:attrNameLst>
                                      </p:cBhvr>
                                      <p:tavLst>
                                        <p:tav tm="0" fmla="#ppt_y-sin(pi*$)/9">
                                          <p:val>
                                            <p:fltVal val="0"/>
                                          </p:val>
                                        </p:tav>
                                        <p:tav tm="100000">
                                          <p:val>
                                            <p:fltVal val="1"/>
                                          </p:val>
                                        </p:tav>
                                      </p:tavLst>
                                    </p:anim>
                                    <p:anim calcmode="lin" valueType="num">
                                      <p:cBhvr>
                                        <p:cTn id="11" dur="166" tmFilter="0, 0; 0.125,0.2665; 0.25,0.4; 0.375,0.465; 0.5,0.5;  0.625,0.535; 0.75,0.6; 0.875,0.7335; 1,1">
                                          <p:stCondLst>
                                            <p:cond delay="662"/>
                                          </p:stCondLst>
                                        </p:cTn>
                                        <p:tgtEl>
                                          <p:spTgt spid="89095"/>
                                        </p:tgtEl>
                                        <p:attrNameLst>
                                          <p:attrName>ppt_y</p:attrName>
                                        </p:attrNameLst>
                                      </p:cBhvr>
                                      <p:tavLst>
                                        <p:tav tm="0" fmla="#ppt_y-sin(pi*$)/27">
                                          <p:val>
                                            <p:fltVal val="0"/>
                                          </p:val>
                                        </p:tav>
                                        <p:tav tm="100000">
                                          <p:val>
                                            <p:fltVal val="1"/>
                                          </p:val>
                                        </p:tav>
                                      </p:tavLst>
                                    </p:anim>
                                    <p:anim calcmode="lin" valueType="num">
                                      <p:cBhvr>
                                        <p:cTn id="12" dur="82" tmFilter="0, 0; 0.125,0.2665; 0.25,0.4; 0.375,0.465; 0.5,0.5;  0.625,0.535; 0.75,0.6; 0.875,0.7335; 1,1">
                                          <p:stCondLst>
                                            <p:cond delay="828"/>
                                          </p:stCondLst>
                                        </p:cTn>
                                        <p:tgtEl>
                                          <p:spTgt spid="89095"/>
                                        </p:tgtEl>
                                        <p:attrNameLst>
                                          <p:attrName>ppt_y</p:attrName>
                                        </p:attrNameLst>
                                      </p:cBhvr>
                                      <p:tavLst>
                                        <p:tav tm="0" fmla="#ppt_y-sin(pi*$)/81">
                                          <p:val>
                                            <p:fltVal val="0"/>
                                          </p:val>
                                        </p:tav>
                                        <p:tav tm="100000">
                                          <p:val>
                                            <p:fltVal val="1"/>
                                          </p:val>
                                        </p:tav>
                                      </p:tavLst>
                                    </p:anim>
                                    <p:animScale>
                                      <p:cBhvr>
                                        <p:cTn id="13" dur="13">
                                          <p:stCondLst>
                                            <p:cond delay="325"/>
                                          </p:stCondLst>
                                        </p:cTn>
                                        <p:tgtEl>
                                          <p:spTgt spid="89095"/>
                                        </p:tgtEl>
                                      </p:cBhvr>
                                      <p:to x="100000" y="60000"/>
                                    </p:animScale>
                                    <p:animScale>
                                      <p:cBhvr>
                                        <p:cTn id="14" dur="83" decel="50000">
                                          <p:stCondLst>
                                            <p:cond delay="338"/>
                                          </p:stCondLst>
                                        </p:cTn>
                                        <p:tgtEl>
                                          <p:spTgt spid="89095"/>
                                        </p:tgtEl>
                                      </p:cBhvr>
                                      <p:to x="100000" y="100000"/>
                                    </p:animScale>
                                    <p:animScale>
                                      <p:cBhvr>
                                        <p:cTn id="15" dur="13">
                                          <p:stCondLst>
                                            <p:cond delay="656"/>
                                          </p:stCondLst>
                                        </p:cTn>
                                        <p:tgtEl>
                                          <p:spTgt spid="89095"/>
                                        </p:tgtEl>
                                      </p:cBhvr>
                                      <p:to x="100000" y="80000"/>
                                    </p:animScale>
                                    <p:animScale>
                                      <p:cBhvr>
                                        <p:cTn id="16" dur="83" decel="50000">
                                          <p:stCondLst>
                                            <p:cond delay="669"/>
                                          </p:stCondLst>
                                        </p:cTn>
                                        <p:tgtEl>
                                          <p:spTgt spid="89095"/>
                                        </p:tgtEl>
                                      </p:cBhvr>
                                      <p:to x="100000" y="100000"/>
                                    </p:animScale>
                                    <p:animScale>
                                      <p:cBhvr>
                                        <p:cTn id="17" dur="13">
                                          <p:stCondLst>
                                            <p:cond delay="821"/>
                                          </p:stCondLst>
                                        </p:cTn>
                                        <p:tgtEl>
                                          <p:spTgt spid="89095"/>
                                        </p:tgtEl>
                                      </p:cBhvr>
                                      <p:to x="100000" y="90000"/>
                                    </p:animScale>
                                    <p:animScale>
                                      <p:cBhvr>
                                        <p:cTn id="18" dur="83" decel="50000">
                                          <p:stCondLst>
                                            <p:cond delay="834"/>
                                          </p:stCondLst>
                                        </p:cTn>
                                        <p:tgtEl>
                                          <p:spTgt spid="89095"/>
                                        </p:tgtEl>
                                      </p:cBhvr>
                                      <p:to x="100000" y="100000"/>
                                    </p:animScale>
                                    <p:animScale>
                                      <p:cBhvr>
                                        <p:cTn id="19" dur="13">
                                          <p:stCondLst>
                                            <p:cond delay="904"/>
                                          </p:stCondLst>
                                        </p:cTn>
                                        <p:tgtEl>
                                          <p:spTgt spid="89095"/>
                                        </p:tgtEl>
                                      </p:cBhvr>
                                      <p:to x="100000" y="95000"/>
                                    </p:animScale>
                                    <p:animScale>
                                      <p:cBhvr>
                                        <p:cTn id="20" dur="83" decel="50000">
                                          <p:stCondLst>
                                            <p:cond delay="917"/>
                                          </p:stCondLst>
                                        </p:cTn>
                                        <p:tgtEl>
                                          <p:spTgt spid="8909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2626" name="Rectangle 2">
            <a:extLst>
              <a:ext uri="{FF2B5EF4-FFF2-40B4-BE49-F238E27FC236}">
                <a16:creationId xmlns:a16="http://schemas.microsoft.com/office/drawing/2014/main" id="{9331FE36-FC9D-2EE9-0EFB-A2382FB8E977}"/>
              </a:ext>
            </a:extLst>
          </p:cNvPr>
          <p:cNvSpPr>
            <a:spLocks noGrp="1" noChangeArrowheads="1"/>
          </p:cNvSpPr>
          <p:nvPr>
            <p:ph type="title"/>
          </p:nvPr>
        </p:nvSpPr>
        <p:spPr/>
        <p:txBody>
          <a:bodyPr/>
          <a:lstStyle/>
          <a:p>
            <a:r>
              <a:rPr lang="zh-CN" altLang="en-US"/>
              <a:t>循环控制</a:t>
            </a:r>
          </a:p>
        </p:txBody>
      </p:sp>
      <p:sp>
        <p:nvSpPr>
          <p:cNvPr id="282627" name="Rectangle 3">
            <a:extLst>
              <a:ext uri="{FF2B5EF4-FFF2-40B4-BE49-F238E27FC236}">
                <a16:creationId xmlns:a16="http://schemas.microsoft.com/office/drawing/2014/main" id="{1501C9FB-B4C8-92D6-210D-36812F6A146E}"/>
              </a:ext>
            </a:extLst>
          </p:cNvPr>
          <p:cNvSpPr>
            <a:spLocks noGrp="1" noChangeArrowheads="1"/>
          </p:cNvSpPr>
          <p:nvPr>
            <p:ph type="body" idx="1"/>
          </p:nvPr>
        </p:nvSpPr>
        <p:spPr/>
        <p:txBody>
          <a:bodyPr/>
          <a:lstStyle/>
          <a:p>
            <a:r>
              <a:rPr lang="zh-CN" altLang="en-US">
                <a:solidFill>
                  <a:schemeClr val="tx1"/>
                </a:solidFill>
              </a:rPr>
              <a:t>循环结构程序</a:t>
            </a:r>
            <a:r>
              <a:rPr lang="zh-CN" altLang="en-US"/>
              <a:t>的设计关键是循环控制部分</a:t>
            </a:r>
          </a:p>
          <a:p>
            <a:r>
              <a:rPr lang="zh-CN" altLang="en-US"/>
              <a:t>循环控制可以在进入循环之前进行，也可以在循环体后进行，于是形成两种结构：</a:t>
            </a:r>
          </a:p>
          <a:p>
            <a:pPr lvl="1"/>
            <a:r>
              <a:rPr lang="zh-CN" altLang="en-US"/>
              <a:t>“先判断、后循环”结构</a:t>
            </a:r>
          </a:p>
          <a:p>
            <a:pPr lvl="1"/>
            <a:r>
              <a:rPr lang="zh-CN" altLang="en-US"/>
              <a:t>“先循环、后判断”结构</a:t>
            </a:r>
          </a:p>
          <a:p>
            <a:r>
              <a:rPr lang="zh-CN" altLang="en-US"/>
              <a:t>循环结束的控制可以用循环次数，还可以用特定条件等，于是又有：</a:t>
            </a:r>
          </a:p>
          <a:p>
            <a:pPr lvl="1"/>
            <a:r>
              <a:rPr lang="zh-CN" altLang="en-US"/>
              <a:t>计数控制循环</a:t>
            </a:r>
          </a:p>
          <a:p>
            <a:pPr lvl="1"/>
            <a:r>
              <a:rPr lang="zh-CN" altLang="en-US"/>
              <a:t>条件控制循环</a:t>
            </a:r>
          </a:p>
        </p:txBody>
      </p:sp>
    </p:spTree>
  </p:cSld>
  <p:clrMapOvr>
    <a:masterClrMapping/>
  </p:clrMapOvr>
  <p:transition>
    <p:random/>
  </p:transition>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5ABBDAB7-95CF-5D90-E316-3969F5ED41F3}"/>
              </a:ext>
            </a:extLst>
          </p:cNvPr>
          <p:cNvSpPr>
            <a:spLocks noGrp="1" noChangeArrowheads="1"/>
          </p:cNvSpPr>
          <p:nvPr>
            <p:ph type="title"/>
          </p:nvPr>
        </p:nvSpPr>
        <p:spPr/>
        <p:txBody>
          <a:bodyPr/>
          <a:lstStyle/>
          <a:p>
            <a:r>
              <a:rPr lang="zh-CN" altLang="en-US"/>
              <a:t>先循环后判断的循环结构</a:t>
            </a:r>
          </a:p>
        </p:txBody>
      </p:sp>
      <p:grpSp>
        <p:nvGrpSpPr>
          <p:cNvPr id="90117" name="Group 5">
            <a:extLst>
              <a:ext uri="{FF2B5EF4-FFF2-40B4-BE49-F238E27FC236}">
                <a16:creationId xmlns:a16="http://schemas.microsoft.com/office/drawing/2014/main" id="{A77879DB-89CD-AC79-6552-5EABE609047A}"/>
              </a:ext>
            </a:extLst>
          </p:cNvPr>
          <p:cNvGrpSpPr>
            <a:grpSpLocks/>
          </p:cNvGrpSpPr>
          <p:nvPr/>
        </p:nvGrpSpPr>
        <p:grpSpPr bwMode="auto">
          <a:xfrm>
            <a:off x="1547813" y="903288"/>
            <a:ext cx="5573712" cy="5199062"/>
            <a:chOff x="816" y="864"/>
            <a:chExt cx="3511" cy="3275"/>
          </a:xfrm>
        </p:grpSpPr>
        <p:sp>
          <p:nvSpPr>
            <p:cNvPr id="90118" name="Rectangle 6">
              <a:extLst>
                <a:ext uri="{FF2B5EF4-FFF2-40B4-BE49-F238E27FC236}">
                  <a16:creationId xmlns:a16="http://schemas.microsoft.com/office/drawing/2014/main" id="{6C80710A-0DF3-F59F-444F-C6C5A1840007}"/>
                </a:ext>
              </a:extLst>
            </p:cNvPr>
            <p:cNvSpPr>
              <a:spLocks noChangeArrowheads="1"/>
            </p:cNvSpPr>
            <p:nvPr/>
          </p:nvSpPr>
          <p:spPr bwMode="auto">
            <a:xfrm>
              <a:off x="1421" y="960"/>
              <a:ext cx="669" cy="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p>
              <a:endParaRPr lang="zh-CN" altLang="en-US"/>
            </a:p>
          </p:txBody>
        </p:sp>
        <p:sp>
          <p:nvSpPr>
            <p:cNvPr id="90119" name="Rectangle 7">
              <a:extLst>
                <a:ext uri="{FF2B5EF4-FFF2-40B4-BE49-F238E27FC236}">
                  <a16:creationId xmlns:a16="http://schemas.microsoft.com/office/drawing/2014/main" id="{60C2DEF6-7DA9-6E8F-6935-1E7ECCD981F7}"/>
                </a:ext>
              </a:extLst>
            </p:cNvPr>
            <p:cNvSpPr>
              <a:spLocks noChangeArrowheads="1"/>
            </p:cNvSpPr>
            <p:nvPr/>
          </p:nvSpPr>
          <p:spPr bwMode="auto">
            <a:xfrm>
              <a:off x="1640" y="1040"/>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pPr algn="just" eaLnBrk="0" hangingPunct="0"/>
              <a:r>
                <a:rPr kumimoji="1" lang="en-US" altLang="zh-CN" sz="2400">
                  <a:solidFill>
                    <a:srgbClr val="000000"/>
                  </a:solidFill>
                  <a:effectLst/>
                  <a:latin typeface="Times New Roman" panose="02020603050405020304" pitchFamily="18" charset="0"/>
                  <a:ea typeface="楷体_GB2312" pitchFamily="49" charset="-122"/>
                </a:rPr>
                <a:t>  </a:t>
              </a:r>
              <a:endParaRPr kumimoji="1" lang="en-US" altLang="zh-CN" sz="2400" b="1" i="1">
                <a:effectLst/>
                <a:latin typeface="Times New Roman" panose="02020603050405020304" pitchFamily="18" charset="0"/>
                <a:ea typeface="楷体_GB2312" pitchFamily="49" charset="-122"/>
              </a:endParaRPr>
            </a:p>
          </p:txBody>
        </p:sp>
        <p:sp>
          <p:nvSpPr>
            <p:cNvPr id="90120" name="Rectangle 8">
              <a:extLst>
                <a:ext uri="{FF2B5EF4-FFF2-40B4-BE49-F238E27FC236}">
                  <a16:creationId xmlns:a16="http://schemas.microsoft.com/office/drawing/2014/main" id="{C0FA2EEF-F857-2A5E-BEF3-626D24626F21}"/>
                </a:ext>
              </a:extLst>
            </p:cNvPr>
            <p:cNvSpPr>
              <a:spLocks noChangeArrowheads="1"/>
            </p:cNvSpPr>
            <p:nvPr/>
          </p:nvSpPr>
          <p:spPr bwMode="auto">
            <a:xfrm>
              <a:off x="1421" y="3521"/>
              <a:ext cx="669"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p>
              <a:endParaRPr lang="zh-CN" altLang="en-US"/>
            </a:p>
          </p:txBody>
        </p:sp>
        <p:sp>
          <p:nvSpPr>
            <p:cNvPr id="90121" name="Rectangle 9">
              <a:extLst>
                <a:ext uri="{FF2B5EF4-FFF2-40B4-BE49-F238E27FC236}">
                  <a16:creationId xmlns:a16="http://schemas.microsoft.com/office/drawing/2014/main" id="{CE6ED13C-5B0F-79C7-49FC-B52200524459}"/>
                </a:ext>
              </a:extLst>
            </p:cNvPr>
            <p:cNvSpPr>
              <a:spLocks noChangeArrowheads="1"/>
            </p:cNvSpPr>
            <p:nvPr/>
          </p:nvSpPr>
          <p:spPr bwMode="auto">
            <a:xfrm>
              <a:off x="1488" y="3888"/>
              <a:ext cx="38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pPr algn="just" eaLnBrk="0" hangingPunct="0"/>
              <a:r>
                <a:rPr kumimoji="1" lang="zh-CN" altLang="en-US" sz="2400" b="1">
                  <a:solidFill>
                    <a:srgbClr val="000000"/>
                  </a:solidFill>
                  <a:effectLst/>
                  <a:latin typeface="宋体" panose="02010600030101010101" pitchFamily="2" charset="-122"/>
                </a:rPr>
                <a:t>结束</a:t>
              </a:r>
              <a:endParaRPr kumimoji="1" lang="zh-CN" altLang="en-US" sz="2400" b="1" i="1">
                <a:effectLst/>
                <a:latin typeface="Times New Roman" panose="02020603050405020304" pitchFamily="18" charset="0"/>
                <a:ea typeface="楷体_GB2312" pitchFamily="49" charset="-122"/>
              </a:endParaRPr>
            </a:p>
          </p:txBody>
        </p:sp>
        <p:sp>
          <p:nvSpPr>
            <p:cNvPr id="90122" name="Rectangle 10">
              <a:extLst>
                <a:ext uri="{FF2B5EF4-FFF2-40B4-BE49-F238E27FC236}">
                  <a16:creationId xmlns:a16="http://schemas.microsoft.com/office/drawing/2014/main" id="{BBE05E8C-8BAA-4C1C-9035-3B0204F951B0}"/>
                </a:ext>
              </a:extLst>
            </p:cNvPr>
            <p:cNvSpPr>
              <a:spLocks noChangeArrowheads="1"/>
            </p:cNvSpPr>
            <p:nvPr/>
          </p:nvSpPr>
          <p:spPr bwMode="auto">
            <a:xfrm>
              <a:off x="1640" y="3599"/>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pPr algn="just" eaLnBrk="0" hangingPunct="0"/>
              <a:r>
                <a:rPr kumimoji="1" lang="en-US" altLang="zh-CN" sz="2400">
                  <a:solidFill>
                    <a:srgbClr val="000000"/>
                  </a:solidFill>
                  <a:effectLst/>
                  <a:latin typeface="Times New Roman" panose="02020603050405020304" pitchFamily="18" charset="0"/>
                  <a:ea typeface="楷体_GB2312" pitchFamily="49" charset="-122"/>
                </a:rPr>
                <a:t>  </a:t>
              </a:r>
              <a:endParaRPr kumimoji="1" lang="en-US" altLang="zh-CN" sz="2400" b="1" i="1">
                <a:effectLst/>
                <a:latin typeface="Times New Roman" panose="02020603050405020304" pitchFamily="18" charset="0"/>
                <a:ea typeface="楷体_GB2312" pitchFamily="49" charset="-122"/>
              </a:endParaRPr>
            </a:p>
          </p:txBody>
        </p:sp>
        <p:sp>
          <p:nvSpPr>
            <p:cNvPr id="90123" name="Freeform 11">
              <a:extLst>
                <a:ext uri="{FF2B5EF4-FFF2-40B4-BE49-F238E27FC236}">
                  <a16:creationId xmlns:a16="http://schemas.microsoft.com/office/drawing/2014/main" id="{956807BB-8548-2A66-0DE8-858A8429EC0C}"/>
                </a:ext>
              </a:extLst>
            </p:cNvPr>
            <p:cNvSpPr>
              <a:spLocks/>
            </p:cNvSpPr>
            <p:nvPr/>
          </p:nvSpPr>
          <p:spPr bwMode="auto">
            <a:xfrm>
              <a:off x="1421" y="3874"/>
              <a:ext cx="519" cy="265"/>
            </a:xfrm>
            <a:custGeom>
              <a:avLst/>
              <a:gdLst>
                <a:gd name="T0" fmla="*/ 29 w 519"/>
                <a:gd name="T1" fmla="*/ 0 h 265"/>
                <a:gd name="T2" fmla="*/ 17 w 519"/>
                <a:gd name="T3" fmla="*/ 3 h 265"/>
                <a:gd name="T4" fmla="*/ 9 w 519"/>
                <a:gd name="T5" fmla="*/ 10 h 265"/>
                <a:gd name="T6" fmla="*/ 3 w 519"/>
                <a:gd name="T7" fmla="*/ 20 h 265"/>
                <a:gd name="T8" fmla="*/ 0 w 519"/>
                <a:gd name="T9" fmla="*/ 33 h 265"/>
                <a:gd name="T10" fmla="*/ 0 w 519"/>
                <a:gd name="T11" fmla="*/ 232 h 265"/>
                <a:gd name="T12" fmla="*/ 3 w 519"/>
                <a:gd name="T13" fmla="*/ 245 h 265"/>
                <a:gd name="T14" fmla="*/ 9 w 519"/>
                <a:gd name="T15" fmla="*/ 255 h 265"/>
                <a:gd name="T16" fmla="*/ 17 w 519"/>
                <a:gd name="T17" fmla="*/ 262 h 265"/>
                <a:gd name="T18" fmla="*/ 29 w 519"/>
                <a:gd name="T19" fmla="*/ 265 h 265"/>
                <a:gd name="T20" fmla="*/ 489 w 519"/>
                <a:gd name="T21" fmla="*/ 265 h 265"/>
                <a:gd name="T22" fmla="*/ 501 w 519"/>
                <a:gd name="T23" fmla="*/ 262 h 265"/>
                <a:gd name="T24" fmla="*/ 510 w 519"/>
                <a:gd name="T25" fmla="*/ 255 h 265"/>
                <a:gd name="T26" fmla="*/ 516 w 519"/>
                <a:gd name="T27" fmla="*/ 245 h 265"/>
                <a:gd name="T28" fmla="*/ 519 w 519"/>
                <a:gd name="T29" fmla="*/ 232 h 265"/>
                <a:gd name="T30" fmla="*/ 519 w 519"/>
                <a:gd name="T31" fmla="*/ 33 h 265"/>
                <a:gd name="T32" fmla="*/ 516 w 519"/>
                <a:gd name="T33" fmla="*/ 20 h 265"/>
                <a:gd name="T34" fmla="*/ 510 w 519"/>
                <a:gd name="T35" fmla="*/ 10 h 265"/>
                <a:gd name="T36" fmla="*/ 501 w 519"/>
                <a:gd name="T37" fmla="*/ 3 h 265"/>
                <a:gd name="T38" fmla="*/ 489 w 519"/>
                <a:gd name="T39" fmla="*/ 0 h 265"/>
                <a:gd name="T40" fmla="*/ 29 w 519"/>
                <a:gd name="T41" fmla="*/ 0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19" h="265">
                  <a:moveTo>
                    <a:pt x="29" y="0"/>
                  </a:moveTo>
                  <a:lnTo>
                    <a:pt x="17" y="3"/>
                  </a:lnTo>
                  <a:lnTo>
                    <a:pt x="9" y="10"/>
                  </a:lnTo>
                  <a:lnTo>
                    <a:pt x="3" y="20"/>
                  </a:lnTo>
                  <a:lnTo>
                    <a:pt x="0" y="33"/>
                  </a:lnTo>
                  <a:lnTo>
                    <a:pt x="0" y="232"/>
                  </a:lnTo>
                  <a:lnTo>
                    <a:pt x="3" y="245"/>
                  </a:lnTo>
                  <a:lnTo>
                    <a:pt x="9" y="255"/>
                  </a:lnTo>
                  <a:lnTo>
                    <a:pt x="17" y="262"/>
                  </a:lnTo>
                  <a:lnTo>
                    <a:pt x="29" y="265"/>
                  </a:lnTo>
                  <a:lnTo>
                    <a:pt x="489" y="265"/>
                  </a:lnTo>
                  <a:lnTo>
                    <a:pt x="501" y="262"/>
                  </a:lnTo>
                  <a:lnTo>
                    <a:pt x="510" y="255"/>
                  </a:lnTo>
                  <a:lnTo>
                    <a:pt x="516" y="245"/>
                  </a:lnTo>
                  <a:lnTo>
                    <a:pt x="519" y="232"/>
                  </a:lnTo>
                  <a:lnTo>
                    <a:pt x="519" y="33"/>
                  </a:lnTo>
                  <a:lnTo>
                    <a:pt x="516" y="20"/>
                  </a:lnTo>
                  <a:lnTo>
                    <a:pt x="510" y="10"/>
                  </a:lnTo>
                  <a:lnTo>
                    <a:pt x="501" y="3"/>
                  </a:lnTo>
                  <a:lnTo>
                    <a:pt x="489" y="0"/>
                  </a:lnTo>
                  <a:lnTo>
                    <a:pt x="29" y="0"/>
                  </a:lnTo>
                  <a:close/>
                </a:path>
              </a:pathLst>
            </a:custGeom>
            <a:noFill/>
            <a:ln w="285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0124" name="Rectangle 12">
              <a:extLst>
                <a:ext uri="{FF2B5EF4-FFF2-40B4-BE49-F238E27FC236}">
                  <a16:creationId xmlns:a16="http://schemas.microsoft.com/office/drawing/2014/main" id="{C134F3AC-A395-E1AE-59B3-C26D4546011A}"/>
                </a:ext>
              </a:extLst>
            </p:cNvPr>
            <p:cNvSpPr>
              <a:spLocks noChangeArrowheads="1"/>
            </p:cNvSpPr>
            <p:nvPr/>
          </p:nvSpPr>
          <p:spPr bwMode="auto">
            <a:xfrm>
              <a:off x="1087" y="1607"/>
              <a:ext cx="1003" cy="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p>
              <a:endParaRPr lang="zh-CN" altLang="en-US"/>
            </a:p>
          </p:txBody>
        </p:sp>
        <p:sp>
          <p:nvSpPr>
            <p:cNvPr id="90125" name="Rectangle 13">
              <a:extLst>
                <a:ext uri="{FF2B5EF4-FFF2-40B4-BE49-F238E27FC236}">
                  <a16:creationId xmlns:a16="http://schemas.microsoft.com/office/drawing/2014/main" id="{CD7120BB-2D79-1327-FDC9-C9250DE909DD}"/>
                </a:ext>
              </a:extLst>
            </p:cNvPr>
            <p:cNvSpPr>
              <a:spLocks noChangeArrowheads="1"/>
            </p:cNvSpPr>
            <p:nvPr/>
          </p:nvSpPr>
          <p:spPr bwMode="auto">
            <a:xfrm>
              <a:off x="1176" y="1687"/>
              <a:ext cx="19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pPr algn="just" eaLnBrk="0" hangingPunct="0"/>
              <a:r>
                <a:rPr kumimoji="1" lang="en-US" altLang="zh-CN" sz="2400">
                  <a:solidFill>
                    <a:srgbClr val="000000"/>
                  </a:solidFill>
                  <a:effectLst/>
                  <a:latin typeface="Times New Roman" panose="02020603050405020304" pitchFamily="18" charset="0"/>
                  <a:ea typeface="楷体_GB2312" pitchFamily="49" charset="-122"/>
                </a:rPr>
                <a:t>    </a:t>
              </a:r>
              <a:endParaRPr kumimoji="1" lang="en-US" altLang="zh-CN" sz="2400" b="1" i="1">
                <a:effectLst/>
                <a:latin typeface="Times New Roman" panose="02020603050405020304" pitchFamily="18" charset="0"/>
                <a:ea typeface="楷体_GB2312" pitchFamily="49" charset="-122"/>
              </a:endParaRPr>
            </a:p>
          </p:txBody>
        </p:sp>
        <p:sp>
          <p:nvSpPr>
            <p:cNvPr id="90126" name="Rectangle 14">
              <a:extLst>
                <a:ext uri="{FF2B5EF4-FFF2-40B4-BE49-F238E27FC236}">
                  <a16:creationId xmlns:a16="http://schemas.microsoft.com/office/drawing/2014/main" id="{377E94E9-0091-D06C-A320-40901346EC9B}"/>
                </a:ext>
              </a:extLst>
            </p:cNvPr>
            <p:cNvSpPr>
              <a:spLocks noChangeArrowheads="1"/>
            </p:cNvSpPr>
            <p:nvPr/>
          </p:nvSpPr>
          <p:spPr bwMode="auto">
            <a:xfrm>
              <a:off x="1386" y="1200"/>
              <a:ext cx="57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pPr algn="just" eaLnBrk="0" hangingPunct="0"/>
              <a:r>
                <a:rPr kumimoji="1" lang="zh-CN" altLang="en-US" sz="2400" b="1">
                  <a:solidFill>
                    <a:srgbClr val="000000"/>
                  </a:solidFill>
                  <a:effectLst/>
                  <a:latin typeface="宋体" panose="02010600030101010101" pitchFamily="2" charset="-122"/>
                </a:rPr>
                <a:t>初始化</a:t>
              </a:r>
              <a:endParaRPr kumimoji="1" lang="zh-CN" altLang="en-US" sz="2400" b="1" i="1">
                <a:effectLst/>
                <a:latin typeface="Times New Roman" panose="02020603050405020304" pitchFamily="18" charset="0"/>
                <a:ea typeface="楷体_GB2312" pitchFamily="49" charset="-122"/>
              </a:endParaRPr>
            </a:p>
          </p:txBody>
        </p:sp>
        <p:sp>
          <p:nvSpPr>
            <p:cNvPr id="90127" name="Rectangle 15">
              <a:extLst>
                <a:ext uri="{FF2B5EF4-FFF2-40B4-BE49-F238E27FC236}">
                  <a16:creationId xmlns:a16="http://schemas.microsoft.com/office/drawing/2014/main" id="{12DEE422-09C6-8029-0E14-C1FF391B1D15}"/>
                </a:ext>
              </a:extLst>
            </p:cNvPr>
            <p:cNvSpPr>
              <a:spLocks noChangeArrowheads="1"/>
            </p:cNvSpPr>
            <p:nvPr/>
          </p:nvSpPr>
          <p:spPr bwMode="auto">
            <a:xfrm>
              <a:off x="1566" y="1687"/>
              <a:ext cx="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pPr algn="just" eaLnBrk="0" hangingPunct="0"/>
              <a:r>
                <a:rPr kumimoji="1" lang="en-US" altLang="zh-CN" sz="2400">
                  <a:solidFill>
                    <a:srgbClr val="000000"/>
                  </a:solidFill>
                  <a:effectLst/>
                  <a:latin typeface="Times New Roman" panose="02020603050405020304" pitchFamily="18" charset="0"/>
                  <a:ea typeface="楷体_GB2312" pitchFamily="49" charset="-122"/>
                </a:rPr>
                <a:t> </a:t>
              </a:r>
              <a:endParaRPr kumimoji="1" lang="en-US" altLang="zh-CN" sz="2400" b="1" i="1">
                <a:effectLst/>
                <a:latin typeface="Times New Roman" panose="02020603050405020304" pitchFamily="18" charset="0"/>
                <a:ea typeface="楷体_GB2312" pitchFamily="49" charset="-122"/>
              </a:endParaRPr>
            </a:p>
          </p:txBody>
        </p:sp>
        <p:sp>
          <p:nvSpPr>
            <p:cNvPr id="90128" name="Rectangle 16">
              <a:extLst>
                <a:ext uri="{FF2B5EF4-FFF2-40B4-BE49-F238E27FC236}">
                  <a16:creationId xmlns:a16="http://schemas.microsoft.com/office/drawing/2014/main" id="{CAD0F9F9-7973-D2A7-497C-7E9D34E247FA}"/>
                </a:ext>
              </a:extLst>
            </p:cNvPr>
            <p:cNvSpPr>
              <a:spLocks noChangeArrowheads="1"/>
            </p:cNvSpPr>
            <p:nvPr/>
          </p:nvSpPr>
          <p:spPr bwMode="auto">
            <a:xfrm>
              <a:off x="1762" y="1687"/>
              <a:ext cx="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pPr algn="just" eaLnBrk="0" hangingPunct="0"/>
              <a:r>
                <a:rPr kumimoji="1" lang="en-US" altLang="zh-CN" sz="2400">
                  <a:solidFill>
                    <a:srgbClr val="000000"/>
                  </a:solidFill>
                  <a:effectLst/>
                  <a:latin typeface="Times New Roman" panose="02020603050405020304" pitchFamily="18" charset="0"/>
                  <a:ea typeface="楷体_GB2312" pitchFamily="49" charset="-122"/>
                </a:rPr>
                <a:t> </a:t>
              </a:r>
              <a:endParaRPr kumimoji="1" lang="en-US" altLang="zh-CN" sz="2400" b="1" i="1">
                <a:effectLst/>
                <a:latin typeface="Times New Roman" panose="02020603050405020304" pitchFamily="18" charset="0"/>
                <a:ea typeface="楷体_GB2312" pitchFamily="49" charset="-122"/>
              </a:endParaRPr>
            </a:p>
          </p:txBody>
        </p:sp>
        <p:sp>
          <p:nvSpPr>
            <p:cNvPr id="90129" name="Rectangle 17">
              <a:extLst>
                <a:ext uri="{FF2B5EF4-FFF2-40B4-BE49-F238E27FC236}">
                  <a16:creationId xmlns:a16="http://schemas.microsoft.com/office/drawing/2014/main" id="{CBE713DF-3A4F-29D3-CB7C-569D1F2E6290}"/>
                </a:ext>
              </a:extLst>
            </p:cNvPr>
            <p:cNvSpPr>
              <a:spLocks noChangeArrowheads="1"/>
            </p:cNvSpPr>
            <p:nvPr/>
          </p:nvSpPr>
          <p:spPr bwMode="auto">
            <a:xfrm>
              <a:off x="2976" y="1200"/>
              <a:ext cx="135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pPr algn="just" eaLnBrk="0" hangingPunct="0"/>
              <a:r>
                <a:rPr kumimoji="1" lang="zh-CN" altLang="en-US" sz="2400" b="1">
                  <a:solidFill>
                    <a:srgbClr val="000000"/>
                  </a:solidFill>
                  <a:effectLst/>
                  <a:latin typeface="宋体" panose="02010600030101010101" pitchFamily="2" charset="-122"/>
                </a:rPr>
                <a:t>循环的初始状态</a:t>
              </a:r>
              <a:endParaRPr kumimoji="1" lang="zh-CN" altLang="en-US" sz="2400" b="1" i="1">
                <a:effectLst/>
                <a:latin typeface="Times New Roman" panose="02020603050405020304" pitchFamily="18" charset="0"/>
                <a:ea typeface="楷体_GB2312" pitchFamily="49" charset="-122"/>
              </a:endParaRPr>
            </a:p>
          </p:txBody>
        </p:sp>
        <p:sp>
          <p:nvSpPr>
            <p:cNvPr id="90130" name="Rectangle 18">
              <a:extLst>
                <a:ext uri="{FF2B5EF4-FFF2-40B4-BE49-F238E27FC236}">
                  <a16:creationId xmlns:a16="http://schemas.microsoft.com/office/drawing/2014/main" id="{AD63FEE9-0394-D975-D4F0-BE9A899EB29D}"/>
                </a:ext>
              </a:extLst>
            </p:cNvPr>
            <p:cNvSpPr>
              <a:spLocks noChangeArrowheads="1"/>
            </p:cNvSpPr>
            <p:nvPr/>
          </p:nvSpPr>
          <p:spPr bwMode="auto">
            <a:xfrm>
              <a:off x="1176" y="2333"/>
              <a:ext cx="19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pPr algn="just" eaLnBrk="0" hangingPunct="0"/>
              <a:r>
                <a:rPr kumimoji="1" lang="en-US" altLang="zh-CN" sz="2400">
                  <a:solidFill>
                    <a:srgbClr val="000000"/>
                  </a:solidFill>
                  <a:effectLst/>
                  <a:latin typeface="Times New Roman" panose="02020603050405020304" pitchFamily="18" charset="0"/>
                  <a:ea typeface="楷体_GB2312" pitchFamily="49" charset="-122"/>
                </a:rPr>
                <a:t>    </a:t>
              </a:r>
              <a:endParaRPr kumimoji="1" lang="en-US" altLang="zh-CN" sz="2400" b="1" i="1">
                <a:effectLst/>
                <a:latin typeface="Times New Roman" panose="02020603050405020304" pitchFamily="18" charset="0"/>
                <a:ea typeface="楷体_GB2312" pitchFamily="49" charset="-122"/>
              </a:endParaRPr>
            </a:p>
          </p:txBody>
        </p:sp>
        <p:sp>
          <p:nvSpPr>
            <p:cNvPr id="90131" name="Rectangle 19">
              <a:extLst>
                <a:ext uri="{FF2B5EF4-FFF2-40B4-BE49-F238E27FC236}">
                  <a16:creationId xmlns:a16="http://schemas.microsoft.com/office/drawing/2014/main" id="{C51B3B62-567E-537B-2D6F-15204A225BE3}"/>
                </a:ext>
              </a:extLst>
            </p:cNvPr>
            <p:cNvSpPr>
              <a:spLocks noChangeArrowheads="1"/>
            </p:cNvSpPr>
            <p:nvPr/>
          </p:nvSpPr>
          <p:spPr bwMode="auto">
            <a:xfrm>
              <a:off x="1392" y="1824"/>
              <a:ext cx="57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pPr algn="just" eaLnBrk="0" hangingPunct="0"/>
              <a:r>
                <a:rPr kumimoji="1" lang="zh-CN" altLang="en-US" sz="2400" b="1">
                  <a:solidFill>
                    <a:srgbClr val="000000"/>
                  </a:solidFill>
                  <a:effectLst/>
                  <a:latin typeface="宋体" panose="02010600030101010101" pitchFamily="2" charset="-122"/>
                </a:rPr>
                <a:t>循环体</a:t>
              </a:r>
              <a:endParaRPr kumimoji="1" lang="zh-CN" altLang="en-US" sz="2400" b="1" i="1">
                <a:effectLst/>
                <a:latin typeface="Times New Roman" panose="02020603050405020304" pitchFamily="18" charset="0"/>
                <a:ea typeface="楷体_GB2312" pitchFamily="49" charset="-122"/>
              </a:endParaRPr>
            </a:p>
          </p:txBody>
        </p:sp>
        <p:sp>
          <p:nvSpPr>
            <p:cNvPr id="90132" name="Rectangle 20">
              <a:extLst>
                <a:ext uri="{FF2B5EF4-FFF2-40B4-BE49-F238E27FC236}">
                  <a16:creationId xmlns:a16="http://schemas.microsoft.com/office/drawing/2014/main" id="{E083D72C-10DF-8B2D-3D5C-004C6B6AA7C9}"/>
                </a:ext>
              </a:extLst>
            </p:cNvPr>
            <p:cNvSpPr>
              <a:spLocks noChangeArrowheads="1"/>
            </p:cNvSpPr>
            <p:nvPr/>
          </p:nvSpPr>
          <p:spPr bwMode="auto">
            <a:xfrm>
              <a:off x="1566" y="2333"/>
              <a:ext cx="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pPr algn="just" eaLnBrk="0" hangingPunct="0"/>
              <a:r>
                <a:rPr kumimoji="1" lang="en-US" altLang="zh-CN" sz="2400">
                  <a:solidFill>
                    <a:srgbClr val="000000"/>
                  </a:solidFill>
                  <a:effectLst/>
                  <a:latin typeface="Times New Roman" panose="02020603050405020304" pitchFamily="18" charset="0"/>
                  <a:ea typeface="楷体_GB2312" pitchFamily="49" charset="-122"/>
                </a:rPr>
                <a:t> </a:t>
              </a:r>
              <a:endParaRPr kumimoji="1" lang="en-US" altLang="zh-CN" sz="2400" b="1" i="1">
                <a:effectLst/>
                <a:latin typeface="Times New Roman" panose="02020603050405020304" pitchFamily="18" charset="0"/>
                <a:ea typeface="楷体_GB2312" pitchFamily="49" charset="-122"/>
              </a:endParaRPr>
            </a:p>
          </p:txBody>
        </p:sp>
        <p:sp>
          <p:nvSpPr>
            <p:cNvPr id="90133" name="Rectangle 21">
              <a:extLst>
                <a:ext uri="{FF2B5EF4-FFF2-40B4-BE49-F238E27FC236}">
                  <a16:creationId xmlns:a16="http://schemas.microsoft.com/office/drawing/2014/main" id="{897649F0-EE6C-063F-168A-3DE3E8171E9C}"/>
                </a:ext>
              </a:extLst>
            </p:cNvPr>
            <p:cNvSpPr>
              <a:spLocks noChangeArrowheads="1"/>
            </p:cNvSpPr>
            <p:nvPr/>
          </p:nvSpPr>
          <p:spPr bwMode="auto">
            <a:xfrm>
              <a:off x="1762" y="2333"/>
              <a:ext cx="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pPr algn="just" eaLnBrk="0" hangingPunct="0"/>
              <a:r>
                <a:rPr kumimoji="1" lang="en-US" altLang="zh-CN" sz="2400">
                  <a:solidFill>
                    <a:srgbClr val="000000"/>
                  </a:solidFill>
                  <a:effectLst/>
                  <a:latin typeface="Times New Roman" panose="02020603050405020304" pitchFamily="18" charset="0"/>
                  <a:ea typeface="楷体_GB2312" pitchFamily="49" charset="-122"/>
                </a:rPr>
                <a:t> </a:t>
              </a:r>
              <a:endParaRPr kumimoji="1" lang="en-US" altLang="zh-CN" sz="2400" b="1" i="1">
                <a:effectLst/>
                <a:latin typeface="Times New Roman" panose="02020603050405020304" pitchFamily="18" charset="0"/>
                <a:ea typeface="楷体_GB2312" pitchFamily="49" charset="-122"/>
              </a:endParaRPr>
            </a:p>
          </p:txBody>
        </p:sp>
        <p:sp>
          <p:nvSpPr>
            <p:cNvPr id="90134" name="Rectangle 22">
              <a:extLst>
                <a:ext uri="{FF2B5EF4-FFF2-40B4-BE49-F238E27FC236}">
                  <a16:creationId xmlns:a16="http://schemas.microsoft.com/office/drawing/2014/main" id="{5863210C-E4F3-271D-B856-B1BCBD818104}"/>
                </a:ext>
              </a:extLst>
            </p:cNvPr>
            <p:cNvSpPr>
              <a:spLocks noChangeArrowheads="1"/>
            </p:cNvSpPr>
            <p:nvPr/>
          </p:nvSpPr>
          <p:spPr bwMode="auto">
            <a:xfrm>
              <a:off x="2976" y="2160"/>
              <a:ext cx="1351"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pPr algn="just" eaLnBrk="0" hangingPunct="0"/>
              <a:r>
                <a:rPr kumimoji="1" lang="zh-CN" altLang="en-US" sz="2400" b="1">
                  <a:solidFill>
                    <a:srgbClr val="000000"/>
                  </a:solidFill>
                  <a:effectLst/>
                  <a:latin typeface="宋体" panose="02010600030101010101" pitchFamily="2" charset="-122"/>
                </a:rPr>
                <a:t>循环的工作部分</a:t>
              </a:r>
            </a:p>
            <a:p>
              <a:pPr algn="just" eaLnBrk="0" hangingPunct="0"/>
              <a:r>
                <a:rPr kumimoji="1" lang="zh-CN" altLang="en-US" sz="2400" b="1">
                  <a:solidFill>
                    <a:srgbClr val="000000"/>
                  </a:solidFill>
                  <a:effectLst/>
                  <a:latin typeface="宋体" panose="02010600030101010101" pitchFamily="2" charset="-122"/>
                </a:rPr>
                <a:t>及修改部分</a:t>
              </a:r>
              <a:endParaRPr kumimoji="1" lang="zh-CN" altLang="en-US" sz="2400" b="1" i="1">
                <a:effectLst/>
                <a:latin typeface="Times New Roman" panose="02020603050405020304" pitchFamily="18" charset="0"/>
                <a:ea typeface="楷体_GB2312" pitchFamily="49" charset="-122"/>
              </a:endParaRPr>
            </a:p>
          </p:txBody>
        </p:sp>
        <p:sp>
          <p:nvSpPr>
            <p:cNvPr id="90135" name="Rectangle 23">
              <a:extLst>
                <a:ext uri="{FF2B5EF4-FFF2-40B4-BE49-F238E27FC236}">
                  <a16:creationId xmlns:a16="http://schemas.microsoft.com/office/drawing/2014/main" id="{60D904E6-331D-4474-045C-69AB06A61BC1}"/>
                </a:ext>
              </a:extLst>
            </p:cNvPr>
            <p:cNvSpPr>
              <a:spLocks noChangeArrowheads="1"/>
            </p:cNvSpPr>
            <p:nvPr/>
          </p:nvSpPr>
          <p:spPr bwMode="auto">
            <a:xfrm>
              <a:off x="975" y="2900"/>
              <a:ext cx="1449" cy="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p>
              <a:endParaRPr lang="zh-CN" altLang="en-US"/>
            </a:p>
          </p:txBody>
        </p:sp>
        <p:sp>
          <p:nvSpPr>
            <p:cNvPr id="90136" name="Rectangle 24">
              <a:extLst>
                <a:ext uri="{FF2B5EF4-FFF2-40B4-BE49-F238E27FC236}">
                  <a16:creationId xmlns:a16="http://schemas.microsoft.com/office/drawing/2014/main" id="{A0982144-53C2-B837-7EF5-50A8FBEBEAFD}"/>
                </a:ext>
              </a:extLst>
            </p:cNvPr>
            <p:cNvSpPr>
              <a:spLocks noChangeArrowheads="1"/>
            </p:cNvSpPr>
            <p:nvPr/>
          </p:nvSpPr>
          <p:spPr bwMode="auto">
            <a:xfrm>
              <a:off x="1065" y="2978"/>
              <a:ext cx="28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pPr algn="just" eaLnBrk="0" hangingPunct="0"/>
              <a:r>
                <a:rPr kumimoji="1" lang="en-US" altLang="zh-CN" sz="2400">
                  <a:solidFill>
                    <a:srgbClr val="000000"/>
                  </a:solidFill>
                  <a:effectLst/>
                  <a:latin typeface="Times New Roman" panose="02020603050405020304" pitchFamily="18" charset="0"/>
                  <a:ea typeface="楷体_GB2312" pitchFamily="49" charset="-122"/>
                </a:rPr>
                <a:t>      </a:t>
              </a:r>
              <a:endParaRPr kumimoji="1" lang="en-US" altLang="zh-CN" sz="2400" b="1" i="1">
                <a:effectLst/>
                <a:latin typeface="Times New Roman" panose="02020603050405020304" pitchFamily="18" charset="0"/>
                <a:ea typeface="楷体_GB2312" pitchFamily="49" charset="-122"/>
              </a:endParaRPr>
            </a:p>
          </p:txBody>
        </p:sp>
        <p:sp>
          <p:nvSpPr>
            <p:cNvPr id="90137" name="Rectangle 25">
              <a:extLst>
                <a:ext uri="{FF2B5EF4-FFF2-40B4-BE49-F238E27FC236}">
                  <a16:creationId xmlns:a16="http://schemas.microsoft.com/office/drawing/2014/main" id="{811BC5B9-A778-1DF1-7128-4B49016C2193}"/>
                </a:ext>
              </a:extLst>
            </p:cNvPr>
            <p:cNvSpPr>
              <a:spLocks noChangeArrowheads="1"/>
            </p:cNvSpPr>
            <p:nvPr/>
          </p:nvSpPr>
          <p:spPr bwMode="auto">
            <a:xfrm>
              <a:off x="3108" y="3092"/>
              <a:ext cx="1158"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pPr algn="just" eaLnBrk="0" hangingPunct="0"/>
              <a:r>
                <a:rPr kumimoji="1" lang="zh-CN" altLang="en-US" sz="2400" b="1">
                  <a:solidFill>
                    <a:srgbClr val="000000"/>
                  </a:solidFill>
                  <a:effectLst/>
                  <a:latin typeface="宋体" panose="02010600030101010101" pitchFamily="2" charset="-122"/>
                </a:rPr>
                <a:t>计数控制循环</a:t>
              </a:r>
            </a:p>
            <a:p>
              <a:pPr algn="just" eaLnBrk="0" hangingPunct="0"/>
              <a:r>
                <a:rPr kumimoji="1" lang="zh-CN" altLang="en-US" sz="2400" b="1">
                  <a:solidFill>
                    <a:srgbClr val="000000"/>
                  </a:solidFill>
                  <a:effectLst/>
                  <a:latin typeface="宋体" panose="02010600030101010101" pitchFamily="2" charset="-122"/>
                </a:rPr>
                <a:t>条件控制循环</a:t>
              </a:r>
              <a:endParaRPr kumimoji="1" lang="zh-CN" altLang="en-US" sz="2400" b="1" i="1">
                <a:effectLst/>
                <a:latin typeface="Times New Roman" panose="02020603050405020304" pitchFamily="18" charset="0"/>
                <a:ea typeface="楷体_GB2312" pitchFamily="49" charset="-122"/>
              </a:endParaRPr>
            </a:p>
          </p:txBody>
        </p:sp>
        <p:sp>
          <p:nvSpPr>
            <p:cNvPr id="90138" name="Rectangle 26">
              <a:extLst>
                <a:ext uri="{FF2B5EF4-FFF2-40B4-BE49-F238E27FC236}">
                  <a16:creationId xmlns:a16="http://schemas.microsoft.com/office/drawing/2014/main" id="{9DBAF03C-8C7E-6CC0-2345-C2FD4B74E9E4}"/>
                </a:ext>
              </a:extLst>
            </p:cNvPr>
            <p:cNvSpPr>
              <a:spLocks noChangeArrowheads="1"/>
            </p:cNvSpPr>
            <p:nvPr/>
          </p:nvSpPr>
          <p:spPr bwMode="auto">
            <a:xfrm>
              <a:off x="1283" y="1152"/>
              <a:ext cx="781" cy="325"/>
            </a:xfrm>
            <a:prstGeom prst="rect">
              <a:avLst/>
            </a:prstGeom>
            <a:noFill/>
            <a:ln w="2857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0139" name="Rectangle 27">
              <a:extLst>
                <a:ext uri="{FF2B5EF4-FFF2-40B4-BE49-F238E27FC236}">
                  <a16:creationId xmlns:a16="http://schemas.microsoft.com/office/drawing/2014/main" id="{F3CBA429-BB17-5614-02B9-32F5ACE4D328}"/>
                </a:ext>
              </a:extLst>
            </p:cNvPr>
            <p:cNvSpPr>
              <a:spLocks noChangeArrowheads="1"/>
            </p:cNvSpPr>
            <p:nvPr/>
          </p:nvSpPr>
          <p:spPr bwMode="auto">
            <a:xfrm>
              <a:off x="1296" y="1787"/>
              <a:ext cx="781" cy="325"/>
            </a:xfrm>
            <a:prstGeom prst="rect">
              <a:avLst/>
            </a:prstGeom>
            <a:noFill/>
            <a:ln w="2857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0140" name="Freeform 28">
              <a:extLst>
                <a:ext uri="{FF2B5EF4-FFF2-40B4-BE49-F238E27FC236}">
                  <a16:creationId xmlns:a16="http://schemas.microsoft.com/office/drawing/2014/main" id="{62DC675D-A5A6-3237-981F-4C98D5106BB5}"/>
                </a:ext>
              </a:extLst>
            </p:cNvPr>
            <p:cNvSpPr>
              <a:spLocks/>
            </p:cNvSpPr>
            <p:nvPr/>
          </p:nvSpPr>
          <p:spPr bwMode="auto">
            <a:xfrm>
              <a:off x="1104" y="3072"/>
              <a:ext cx="1128" cy="497"/>
            </a:xfrm>
            <a:custGeom>
              <a:avLst/>
              <a:gdLst>
                <a:gd name="T0" fmla="*/ 501 w 1001"/>
                <a:gd name="T1" fmla="*/ 0 h 323"/>
                <a:gd name="T2" fmla="*/ 0 w 1001"/>
                <a:gd name="T3" fmla="*/ 160 h 323"/>
                <a:gd name="T4" fmla="*/ 501 w 1001"/>
                <a:gd name="T5" fmla="*/ 323 h 323"/>
                <a:gd name="T6" fmla="*/ 1001 w 1001"/>
                <a:gd name="T7" fmla="*/ 160 h 323"/>
                <a:gd name="T8" fmla="*/ 501 w 1001"/>
                <a:gd name="T9" fmla="*/ 0 h 323"/>
              </a:gdLst>
              <a:ahLst/>
              <a:cxnLst>
                <a:cxn ang="0">
                  <a:pos x="T0" y="T1"/>
                </a:cxn>
                <a:cxn ang="0">
                  <a:pos x="T2" y="T3"/>
                </a:cxn>
                <a:cxn ang="0">
                  <a:pos x="T4" y="T5"/>
                </a:cxn>
                <a:cxn ang="0">
                  <a:pos x="T6" y="T7"/>
                </a:cxn>
                <a:cxn ang="0">
                  <a:pos x="T8" y="T9"/>
                </a:cxn>
              </a:cxnLst>
              <a:rect l="0" t="0" r="r" b="b"/>
              <a:pathLst>
                <a:path w="1001" h="323">
                  <a:moveTo>
                    <a:pt x="501" y="0"/>
                  </a:moveTo>
                  <a:lnTo>
                    <a:pt x="0" y="160"/>
                  </a:lnTo>
                  <a:lnTo>
                    <a:pt x="501" y="323"/>
                  </a:lnTo>
                  <a:lnTo>
                    <a:pt x="1001" y="160"/>
                  </a:lnTo>
                  <a:lnTo>
                    <a:pt x="501" y="0"/>
                  </a:lnTo>
                  <a:close/>
                </a:path>
              </a:pathLst>
            </a:custGeom>
            <a:noFill/>
            <a:ln w="2857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0141" name="Line 29">
              <a:extLst>
                <a:ext uri="{FF2B5EF4-FFF2-40B4-BE49-F238E27FC236}">
                  <a16:creationId xmlns:a16="http://schemas.microsoft.com/office/drawing/2014/main" id="{361D3AD3-9AD6-E260-DAF5-C7FCB0F28B6F}"/>
                </a:ext>
              </a:extLst>
            </p:cNvPr>
            <p:cNvSpPr>
              <a:spLocks noChangeShapeType="1"/>
            </p:cNvSpPr>
            <p:nvPr/>
          </p:nvSpPr>
          <p:spPr bwMode="auto">
            <a:xfrm flipH="1">
              <a:off x="816" y="3312"/>
              <a:ext cx="288"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142" name="Line 30">
              <a:extLst>
                <a:ext uri="{FF2B5EF4-FFF2-40B4-BE49-F238E27FC236}">
                  <a16:creationId xmlns:a16="http://schemas.microsoft.com/office/drawing/2014/main" id="{3B1E50C5-2F6C-F859-D5C2-DCECBC87D0DD}"/>
                </a:ext>
              </a:extLst>
            </p:cNvPr>
            <p:cNvSpPr>
              <a:spLocks noChangeShapeType="1"/>
            </p:cNvSpPr>
            <p:nvPr/>
          </p:nvSpPr>
          <p:spPr bwMode="auto">
            <a:xfrm flipV="1">
              <a:off x="816" y="1584"/>
              <a:ext cx="0" cy="172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143" name="Line 31">
              <a:extLst>
                <a:ext uri="{FF2B5EF4-FFF2-40B4-BE49-F238E27FC236}">
                  <a16:creationId xmlns:a16="http://schemas.microsoft.com/office/drawing/2014/main" id="{0D5ECDAB-1590-377D-BA09-2B8237F1A611}"/>
                </a:ext>
              </a:extLst>
            </p:cNvPr>
            <p:cNvSpPr>
              <a:spLocks noChangeShapeType="1"/>
            </p:cNvSpPr>
            <p:nvPr/>
          </p:nvSpPr>
          <p:spPr bwMode="auto">
            <a:xfrm>
              <a:off x="816" y="1583"/>
              <a:ext cx="864" cy="1"/>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0144" name="AutoShape 32">
              <a:extLst>
                <a:ext uri="{FF2B5EF4-FFF2-40B4-BE49-F238E27FC236}">
                  <a16:creationId xmlns:a16="http://schemas.microsoft.com/office/drawing/2014/main" id="{EDB72F5A-B04B-8A5D-F73E-C29885B4E643}"/>
                </a:ext>
              </a:extLst>
            </p:cNvPr>
            <p:cNvSpPr>
              <a:spLocks/>
            </p:cNvSpPr>
            <p:nvPr/>
          </p:nvSpPr>
          <p:spPr bwMode="auto">
            <a:xfrm>
              <a:off x="2976" y="3072"/>
              <a:ext cx="48" cy="480"/>
            </a:xfrm>
            <a:prstGeom prst="leftBrace">
              <a:avLst>
                <a:gd name="adj1" fmla="val 83333"/>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90145" name="Rectangle 33">
              <a:extLst>
                <a:ext uri="{FF2B5EF4-FFF2-40B4-BE49-F238E27FC236}">
                  <a16:creationId xmlns:a16="http://schemas.microsoft.com/office/drawing/2014/main" id="{256387B6-BF6C-DA77-0375-6265E19D191C}"/>
                </a:ext>
              </a:extLst>
            </p:cNvPr>
            <p:cNvSpPr>
              <a:spLocks noChangeArrowheads="1"/>
            </p:cNvSpPr>
            <p:nvPr/>
          </p:nvSpPr>
          <p:spPr bwMode="auto">
            <a:xfrm>
              <a:off x="1296" y="2459"/>
              <a:ext cx="781" cy="325"/>
            </a:xfrm>
            <a:prstGeom prst="rect">
              <a:avLst/>
            </a:prstGeom>
            <a:noFill/>
            <a:ln w="2857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0146" name="Rectangle 34">
              <a:extLst>
                <a:ext uri="{FF2B5EF4-FFF2-40B4-BE49-F238E27FC236}">
                  <a16:creationId xmlns:a16="http://schemas.microsoft.com/office/drawing/2014/main" id="{64D4B963-1C5C-1D3A-CFB4-CC80D027E5B4}"/>
                </a:ext>
              </a:extLst>
            </p:cNvPr>
            <p:cNvSpPr>
              <a:spLocks noChangeArrowheads="1"/>
            </p:cNvSpPr>
            <p:nvPr/>
          </p:nvSpPr>
          <p:spPr bwMode="auto">
            <a:xfrm>
              <a:off x="1296" y="2496"/>
              <a:ext cx="77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pPr algn="just" eaLnBrk="0" hangingPunct="0"/>
              <a:r>
                <a:rPr kumimoji="1" lang="zh-CN" altLang="en-US" sz="2400" b="1">
                  <a:effectLst/>
                  <a:latin typeface="Times New Roman" panose="02020603050405020304" pitchFamily="18" charset="0"/>
                </a:rPr>
                <a:t>修改部分</a:t>
              </a:r>
            </a:p>
          </p:txBody>
        </p:sp>
        <p:sp>
          <p:nvSpPr>
            <p:cNvPr id="90147" name="Rectangle 35">
              <a:extLst>
                <a:ext uri="{FF2B5EF4-FFF2-40B4-BE49-F238E27FC236}">
                  <a16:creationId xmlns:a16="http://schemas.microsoft.com/office/drawing/2014/main" id="{755A47BF-A8F3-4BD3-166D-16D46EA7F2D9}"/>
                </a:ext>
              </a:extLst>
            </p:cNvPr>
            <p:cNvSpPr>
              <a:spLocks noChangeArrowheads="1"/>
            </p:cNvSpPr>
            <p:nvPr/>
          </p:nvSpPr>
          <p:spPr bwMode="auto">
            <a:xfrm>
              <a:off x="1296" y="3216"/>
              <a:ext cx="77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pPr algn="ctr" eaLnBrk="0" hangingPunct="0"/>
              <a:r>
                <a:rPr kumimoji="1" lang="zh-CN" altLang="en-US" sz="2400" b="1">
                  <a:solidFill>
                    <a:srgbClr val="000000"/>
                  </a:solidFill>
                  <a:effectLst/>
                  <a:latin typeface="宋体" panose="02010600030101010101" pitchFamily="2" charset="-122"/>
                </a:rPr>
                <a:t>控制条件</a:t>
              </a:r>
              <a:endParaRPr kumimoji="1" lang="zh-CN" altLang="en-US" sz="2400" b="1" i="1">
                <a:effectLst/>
                <a:latin typeface="Times New Roman" panose="02020603050405020304" pitchFamily="18" charset="0"/>
                <a:ea typeface="楷体_GB2312" pitchFamily="49" charset="-122"/>
              </a:endParaRPr>
            </a:p>
          </p:txBody>
        </p:sp>
        <p:sp>
          <p:nvSpPr>
            <p:cNvPr id="90148" name="Rectangle 36">
              <a:extLst>
                <a:ext uri="{FF2B5EF4-FFF2-40B4-BE49-F238E27FC236}">
                  <a16:creationId xmlns:a16="http://schemas.microsoft.com/office/drawing/2014/main" id="{B1BA3E41-23A6-85FB-9D4D-8E4CA6847450}"/>
                </a:ext>
              </a:extLst>
            </p:cNvPr>
            <p:cNvSpPr>
              <a:spLocks noChangeArrowheads="1"/>
            </p:cNvSpPr>
            <p:nvPr/>
          </p:nvSpPr>
          <p:spPr bwMode="auto">
            <a:xfrm>
              <a:off x="960" y="3072"/>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pPr algn="just" eaLnBrk="0" hangingPunct="0"/>
              <a:r>
                <a:rPr kumimoji="1" lang="en-US" altLang="zh-CN" sz="2400" b="1">
                  <a:solidFill>
                    <a:srgbClr val="000000"/>
                  </a:solidFill>
                  <a:effectLst/>
                  <a:latin typeface="宋体" panose="02010600030101010101" pitchFamily="2" charset="-122"/>
                </a:rPr>
                <a:t>Y</a:t>
              </a:r>
              <a:endParaRPr kumimoji="1" lang="en-US" altLang="zh-CN" sz="2400" b="1" i="1">
                <a:effectLst/>
                <a:latin typeface="Times New Roman" panose="02020603050405020304" pitchFamily="18" charset="0"/>
                <a:ea typeface="楷体_GB2312" pitchFamily="49" charset="-122"/>
              </a:endParaRPr>
            </a:p>
          </p:txBody>
        </p:sp>
        <p:sp>
          <p:nvSpPr>
            <p:cNvPr id="90149" name="Rectangle 37">
              <a:extLst>
                <a:ext uri="{FF2B5EF4-FFF2-40B4-BE49-F238E27FC236}">
                  <a16:creationId xmlns:a16="http://schemas.microsoft.com/office/drawing/2014/main" id="{01E7EBFA-B53B-4A6F-DD39-6FC1173AAAD0}"/>
                </a:ext>
              </a:extLst>
            </p:cNvPr>
            <p:cNvSpPr>
              <a:spLocks noChangeArrowheads="1"/>
            </p:cNvSpPr>
            <p:nvPr/>
          </p:nvSpPr>
          <p:spPr bwMode="auto">
            <a:xfrm>
              <a:off x="1728" y="3552"/>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pPr algn="just" eaLnBrk="0" hangingPunct="0"/>
              <a:r>
                <a:rPr kumimoji="1" lang="en-US" altLang="zh-CN" sz="2400" b="1">
                  <a:solidFill>
                    <a:srgbClr val="000000"/>
                  </a:solidFill>
                  <a:effectLst/>
                  <a:latin typeface="宋体" panose="02010600030101010101" pitchFamily="2" charset="-122"/>
                </a:rPr>
                <a:t>N</a:t>
              </a:r>
              <a:endParaRPr kumimoji="1" lang="en-US" altLang="zh-CN" sz="2400" b="1" i="1">
                <a:effectLst/>
                <a:latin typeface="Times New Roman" panose="02020603050405020304" pitchFamily="18" charset="0"/>
                <a:ea typeface="楷体_GB2312" pitchFamily="49" charset="-122"/>
              </a:endParaRPr>
            </a:p>
          </p:txBody>
        </p:sp>
        <p:sp>
          <p:nvSpPr>
            <p:cNvPr id="90150" name="Line 38">
              <a:extLst>
                <a:ext uri="{FF2B5EF4-FFF2-40B4-BE49-F238E27FC236}">
                  <a16:creationId xmlns:a16="http://schemas.microsoft.com/office/drawing/2014/main" id="{3E90E259-3DC8-8A5E-338A-144FC961F8F9}"/>
                </a:ext>
              </a:extLst>
            </p:cNvPr>
            <p:cNvSpPr>
              <a:spLocks noChangeShapeType="1"/>
            </p:cNvSpPr>
            <p:nvPr/>
          </p:nvSpPr>
          <p:spPr bwMode="auto">
            <a:xfrm>
              <a:off x="1698" y="864"/>
              <a:ext cx="0" cy="288"/>
            </a:xfrm>
            <a:prstGeom prst="line">
              <a:avLst/>
            </a:prstGeom>
            <a:noFill/>
            <a:ln w="2857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151" name="Line 39">
              <a:extLst>
                <a:ext uri="{FF2B5EF4-FFF2-40B4-BE49-F238E27FC236}">
                  <a16:creationId xmlns:a16="http://schemas.microsoft.com/office/drawing/2014/main" id="{8AD87904-CBA3-F862-935C-E0F7FEC6C86D}"/>
                </a:ext>
              </a:extLst>
            </p:cNvPr>
            <p:cNvSpPr>
              <a:spLocks noChangeShapeType="1"/>
            </p:cNvSpPr>
            <p:nvPr/>
          </p:nvSpPr>
          <p:spPr bwMode="auto">
            <a:xfrm>
              <a:off x="1680" y="1488"/>
              <a:ext cx="0" cy="288"/>
            </a:xfrm>
            <a:prstGeom prst="line">
              <a:avLst/>
            </a:prstGeom>
            <a:noFill/>
            <a:ln w="2857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152" name="Line 40">
              <a:extLst>
                <a:ext uri="{FF2B5EF4-FFF2-40B4-BE49-F238E27FC236}">
                  <a16:creationId xmlns:a16="http://schemas.microsoft.com/office/drawing/2014/main" id="{A2511435-B2B1-DBFC-8844-658BF8D1D548}"/>
                </a:ext>
              </a:extLst>
            </p:cNvPr>
            <p:cNvSpPr>
              <a:spLocks noChangeShapeType="1"/>
            </p:cNvSpPr>
            <p:nvPr/>
          </p:nvSpPr>
          <p:spPr bwMode="auto">
            <a:xfrm>
              <a:off x="1680" y="2112"/>
              <a:ext cx="0" cy="336"/>
            </a:xfrm>
            <a:prstGeom prst="line">
              <a:avLst/>
            </a:prstGeom>
            <a:noFill/>
            <a:ln w="2857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153" name="Line 41">
              <a:extLst>
                <a:ext uri="{FF2B5EF4-FFF2-40B4-BE49-F238E27FC236}">
                  <a16:creationId xmlns:a16="http://schemas.microsoft.com/office/drawing/2014/main" id="{F64DE8C9-897A-DEFE-B973-3C1BB3176819}"/>
                </a:ext>
              </a:extLst>
            </p:cNvPr>
            <p:cNvSpPr>
              <a:spLocks noChangeShapeType="1"/>
            </p:cNvSpPr>
            <p:nvPr/>
          </p:nvSpPr>
          <p:spPr bwMode="auto">
            <a:xfrm>
              <a:off x="1680" y="2784"/>
              <a:ext cx="0" cy="288"/>
            </a:xfrm>
            <a:prstGeom prst="line">
              <a:avLst/>
            </a:prstGeom>
            <a:noFill/>
            <a:ln w="2857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154" name="Line 42">
              <a:extLst>
                <a:ext uri="{FF2B5EF4-FFF2-40B4-BE49-F238E27FC236}">
                  <a16:creationId xmlns:a16="http://schemas.microsoft.com/office/drawing/2014/main" id="{27D868E8-ABDD-90A8-88FF-C9A02183324B}"/>
                </a:ext>
              </a:extLst>
            </p:cNvPr>
            <p:cNvSpPr>
              <a:spLocks noChangeShapeType="1"/>
            </p:cNvSpPr>
            <p:nvPr/>
          </p:nvSpPr>
          <p:spPr bwMode="auto">
            <a:xfrm>
              <a:off x="1680" y="3552"/>
              <a:ext cx="0" cy="288"/>
            </a:xfrm>
            <a:prstGeom prst="line">
              <a:avLst/>
            </a:prstGeom>
            <a:noFill/>
            <a:ln w="2857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ransition>
    <p:random/>
  </p:transition>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1DB9DD71-53E4-F6A0-029B-1479024571C6}"/>
              </a:ext>
            </a:extLst>
          </p:cNvPr>
          <p:cNvSpPr>
            <a:spLocks noGrp="1" noChangeArrowheads="1"/>
          </p:cNvSpPr>
          <p:nvPr>
            <p:ph type="title"/>
          </p:nvPr>
        </p:nvSpPr>
        <p:spPr/>
        <p:txBody>
          <a:bodyPr/>
          <a:lstStyle/>
          <a:p>
            <a:r>
              <a:rPr lang="en-US" altLang="zh-CN"/>
              <a:t>3.5.1 </a:t>
            </a:r>
            <a:r>
              <a:rPr lang="zh-CN" altLang="en-US"/>
              <a:t>计数控制循环 </a:t>
            </a:r>
          </a:p>
        </p:txBody>
      </p:sp>
      <p:sp>
        <p:nvSpPr>
          <p:cNvPr id="91139" name="Rectangle 3">
            <a:extLst>
              <a:ext uri="{FF2B5EF4-FFF2-40B4-BE49-F238E27FC236}">
                <a16:creationId xmlns:a16="http://schemas.microsoft.com/office/drawing/2014/main" id="{615853EA-B23B-47AC-295A-18AC5E5A1161}"/>
              </a:ext>
            </a:extLst>
          </p:cNvPr>
          <p:cNvSpPr>
            <a:spLocks noGrp="1" noChangeArrowheads="1"/>
          </p:cNvSpPr>
          <p:nvPr>
            <p:ph type="body" idx="1"/>
          </p:nvPr>
        </p:nvSpPr>
        <p:spPr>
          <a:xfrm>
            <a:off x="468313" y="1268413"/>
            <a:ext cx="5975350" cy="4392612"/>
          </a:xfrm>
        </p:spPr>
        <p:txBody>
          <a:bodyPr/>
          <a:lstStyle/>
          <a:p>
            <a:pPr>
              <a:lnSpc>
                <a:spcPct val="90000"/>
              </a:lnSpc>
            </a:pPr>
            <a:r>
              <a:rPr lang="zh-CN" altLang="en-US" dirty="0">
                <a:solidFill>
                  <a:schemeClr val="tx1"/>
                </a:solidFill>
              </a:rPr>
              <a:t>计数控制循环</a:t>
            </a:r>
            <a:r>
              <a:rPr lang="zh-CN" altLang="en-US" dirty="0"/>
              <a:t>利用</a:t>
            </a:r>
            <a:r>
              <a:rPr lang="zh-CN" altLang="en-US" dirty="0">
                <a:solidFill>
                  <a:srgbClr val="006600"/>
                </a:solidFill>
              </a:rPr>
              <a:t>循环次数</a:t>
            </a:r>
            <a:r>
              <a:rPr lang="zh-CN" altLang="en-US" dirty="0"/>
              <a:t>作为控制条件</a:t>
            </a:r>
          </a:p>
          <a:p>
            <a:pPr>
              <a:lnSpc>
                <a:spcPct val="90000"/>
              </a:lnSpc>
            </a:pPr>
            <a:r>
              <a:rPr lang="zh-CN" altLang="en-US" dirty="0"/>
              <a:t>易于采用循环指令</a:t>
            </a:r>
            <a:r>
              <a:rPr lang="en-US" altLang="zh-CN" dirty="0">
                <a:solidFill>
                  <a:srgbClr val="006600"/>
                </a:solidFill>
              </a:rPr>
              <a:t>LOOP</a:t>
            </a:r>
            <a:r>
              <a:rPr lang="zh-CN" altLang="en-US" dirty="0"/>
              <a:t>和</a:t>
            </a:r>
            <a:r>
              <a:rPr lang="en-US" altLang="zh-CN" dirty="0">
                <a:solidFill>
                  <a:srgbClr val="006600"/>
                </a:solidFill>
              </a:rPr>
              <a:t>JCXZ</a:t>
            </a:r>
            <a:r>
              <a:rPr lang="zh-CN" altLang="en-US" dirty="0"/>
              <a:t>实现</a:t>
            </a:r>
          </a:p>
          <a:p>
            <a:pPr lvl="1">
              <a:lnSpc>
                <a:spcPct val="90000"/>
              </a:lnSpc>
            </a:pPr>
            <a:r>
              <a:rPr lang="zh-CN" altLang="en-US" dirty="0"/>
              <a:t>初始化：将循环次数或最大循环次数置入</a:t>
            </a:r>
            <a:r>
              <a:rPr lang="en-US" altLang="zh-CN" dirty="0">
                <a:solidFill>
                  <a:srgbClr val="006600"/>
                </a:solidFill>
              </a:rPr>
              <a:t>CX</a:t>
            </a:r>
          </a:p>
          <a:p>
            <a:pPr lvl="1">
              <a:lnSpc>
                <a:spcPct val="90000"/>
              </a:lnSpc>
            </a:pPr>
            <a:r>
              <a:rPr lang="zh-CN" altLang="en-US" dirty="0"/>
              <a:t>循环体</a:t>
            </a:r>
          </a:p>
          <a:p>
            <a:pPr lvl="1">
              <a:lnSpc>
                <a:spcPct val="90000"/>
              </a:lnSpc>
            </a:pPr>
            <a:r>
              <a:rPr lang="zh-CN" altLang="en-US" dirty="0"/>
              <a:t>循环控制：用</a:t>
            </a:r>
            <a:r>
              <a:rPr lang="en-US" altLang="zh-CN" dirty="0"/>
              <a:t>LOOP</a:t>
            </a:r>
            <a:r>
              <a:rPr lang="zh-CN" altLang="en-US" dirty="0"/>
              <a:t>指令对</a:t>
            </a:r>
            <a:r>
              <a:rPr lang="en-US" altLang="zh-CN" dirty="0"/>
              <a:t>CX</a:t>
            </a:r>
            <a:r>
              <a:rPr lang="zh-CN" altLang="en-US" dirty="0"/>
              <a:t>减</a:t>
            </a:r>
            <a:r>
              <a:rPr lang="en-US" altLang="zh-CN" dirty="0"/>
              <a:t>1</a:t>
            </a:r>
            <a:r>
              <a:rPr lang="zh-CN" altLang="en-US" dirty="0"/>
              <a:t>、并判断是否为</a:t>
            </a:r>
            <a:r>
              <a:rPr lang="en-US" altLang="zh-CN" dirty="0"/>
              <a:t>0</a:t>
            </a:r>
          </a:p>
        </p:txBody>
      </p:sp>
      <p:sp>
        <p:nvSpPr>
          <p:cNvPr id="91143" name="Line 7">
            <a:extLst>
              <a:ext uri="{FF2B5EF4-FFF2-40B4-BE49-F238E27FC236}">
                <a16:creationId xmlns:a16="http://schemas.microsoft.com/office/drawing/2014/main" id="{3B074622-AC95-EB3E-B587-18E8471E5B8D}"/>
              </a:ext>
            </a:extLst>
          </p:cNvPr>
          <p:cNvSpPr>
            <a:spLocks noChangeShapeType="1"/>
          </p:cNvSpPr>
          <p:nvPr/>
        </p:nvSpPr>
        <p:spPr bwMode="auto">
          <a:xfrm>
            <a:off x="8096250" y="3527425"/>
            <a:ext cx="0" cy="1447800"/>
          </a:xfrm>
          <a:prstGeom prst="line">
            <a:avLst/>
          </a:prstGeom>
          <a:noFill/>
          <a:ln w="76200" cmpd="tri">
            <a:solidFill>
              <a:srgbClr val="0066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1144" name="Group 8">
            <a:extLst>
              <a:ext uri="{FF2B5EF4-FFF2-40B4-BE49-F238E27FC236}">
                <a16:creationId xmlns:a16="http://schemas.microsoft.com/office/drawing/2014/main" id="{AC3D1635-7E01-6D24-758E-D1F824D8A5A5}"/>
              </a:ext>
            </a:extLst>
          </p:cNvPr>
          <p:cNvGrpSpPr>
            <a:grpSpLocks/>
          </p:cNvGrpSpPr>
          <p:nvPr/>
        </p:nvGrpSpPr>
        <p:grpSpPr bwMode="auto">
          <a:xfrm>
            <a:off x="7391400" y="3527425"/>
            <a:ext cx="685800" cy="1447800"/>
            <a:chOff x="4656" y="2688"/>
            <a:chExt cx="432" cy="912"/>
          </a:xfrm>
        </p:grpSpPr>
        <p:sp>
          <p:nvSpPr>
            <p:cNvPr id="91145" name="Line 9">
              <a:extLst>
                <a:ext uri="{FF2B5EF4-FFF2-40B4-BE49-F238E27FC236}">
                  <a16:creationId xmlns:a16="http://schemas.microsoft.com/office/drawing/2014/main" id="{7BE8E1FC-2E28-73DF-D7D9-2A3C74AA06F2}"/>
                </a:ext>
              </a:extLst>
            </p:cNvPr>
            <p:cNvSpPr>
              <a:spLocks noChangeShapeType="1"/>
            </p:cNvSpPr>
            <p:nvPr/>
          </p:nvSpPr>
          <p:spPr bwMode="auto">
            <a:xfrm flipH="1">
              <a:off x="4656" y="3600"/>
              <a:ext cx="43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46" name="Line 10">
              <a:extLst>
                <a:ext uri="{FF2B5EF4-FFF2-40B4-BE49-F238E27FC236}">
                  <a16:creationId xmlns:a16="http://schemas.microsoft.com/office/drawing/2014/main" id="{65E3060F-E959-911A-B2E6-CF8D53C4200C}"/>
                </a:ext>
              </a:extLst>
            </p:cNvPr>
            <p:cNvSpPr>
              <a:spLocks noChangeShapeType="1"/>
            </p:cNvSpPr>
            <p:nvPr/>
          </p:nvSpPr>
          <p:spPr bwMode="auto">
            <a:xfrm flipV="1">
              <a:off x="4656" y="2688"/>
              <a:ext cx="0" cy="9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47" name="Line 11">
              <a:extLst>
                <a:ext uri="{FF2B5EF4-FFF2-40B4-BE49-F238E27FC236}">
                  <a16:creationId xmlns:a16="http://schemas.microsoft.com/office/drawing/2014/main" id="{BC184D2B-FB50-7DEC-A899-4BEDE0E3543B}"/>
                </a:ext>
              </a:extLst>
            </p:cNvPr>
            <p:cNvSpPr>
              <a:spLocks noChangeShapeType="1"/>
            </p:cNvSpPr>
            <p:nvPr/>
          </p:nvSpPr>
          <p:spPr bwMode="auto">
            <a:xfrm>
              <a:off x="4656" y="2688"/>
              <a:ext cx="384"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1148" name="Line 12">
            <a:extLst>
              <a:ext uri="{FF2B5EF4-FFF2-40B4-BE49-F238E27FC236}">
                <a16:creationId xmlns:a16="http://schemas.microsoft.com/office/drawing/2014/main" id="{BFB686C4-DA6D-48A2-04D8-016527BA5831}"/>
              </a:ext>
            </a:extLst>
          </p:cNvPr>
          <p:cNvSpPr>
            <a:spLocks noChangeShapeType="1"/>
          </p:cNvSpPr>
          <p:nvPr/>
        </p:nvSpPr>
        <p:spPr bwMode="auto">
          <a:xfrm>
            <a:off x="8096250" y="5013325"/>
            <a:ext cx="0" cy="647700"/>
          </a:xfrm>
          <a:prstGeom prst="line">
            <a:avLst/>
          </a:prstGeom>
          <a:noFill/>
          <a:ln w="57150">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nodeType="afterEffect">
                                  <p:stCondLst>
                                    <p:cond delay="0"/>
                                  </p:stCondLst>
                                  <p:childTnLst>
                                    <p:set>
                                      <p:cBhvr>
                                        <p:cTn id="6" dur="1" fill="hold">
                                          <p:stCondLst>
                                            <p:cond delay="0"/>
                                          </p:stCondLst>
                                        </p:cTn>
                                        <p:tgtEl>
                                          <p:spTgt spid="91143"/>
                                        </p:tgtEl>
                                        <p:attrNameLst>
                                          <p:attrName>style.visibility</p:attrName>
                                        </p:attrNameLst>
                                      </p:cBhvr>
                                      <p:to>
                                        <p:strVal val="visible"/>
                                      </p:to>
                                    </p:set>
                                    <p:animEffect transition="in" filter="slide(fromTop)">
                                      <p:cBhvr>
                                        <p:cTn id="7" dur="500"/>
                                        <p:tgtEl>
                                          <p:spTgt spid="91143"/>
                                        </p:tgtEl>
                                      </p:cBhvr>
                                    </p:animEffect>
                                  </p:childTnLst>
                                </p:cTn>
                              </p:par>
                            </p:childTnLst>
                          </p:cTn>
                        </p:par>
                        <p:par>
                          <p:cTn id="8" fill="hold" nodeType="afterGroup">
                            <p:stCondLst>
                              <p:cond delay="500"/>
                            </p:stCondLst>
                            <p:childTnLst>
                              <p:par>
                                <p:cTn id="9" presetID="17" presetClass="entr" presetSubtype="4" fill="hold" nodeType="afterEffect">
                                  <p:stCondLst>
                                    <p:cond delay="0"/>
                                  </p:stCondLst>
                                  <p:childTnLst>
                                    <p:set>
                                      <p:cBhvr>
                                        <p:cTn id="10" dur="1" fill="hold">
                                          <p:stCondLst>
                                            <p:cond delay="0"/>
                                          </p:stCondLst>
                                        </p:cTn>
                                        <p:tgtEl>
                                          <p:spTgt spid="91144"/>
                                        </p:tgtEl>
                                        <p:attrNameLst>
                                          <p:attrName>style.visibility</p:attrName>
                                        </p:attrNameLst>
                                      </p:cBhvr>
                                      <p:to>
                                        <p:strVal val="visible"/>
                                      </p:to>
                                    </p:set>
                                    <p:anim calcmode="lin" valueType="num">
                                      <p:cBhvr>
                                        <p:cTn id="11" dur="500" fill="hold"/>
                                        <p:tgtEl>
                                          <p:spTgt spid="91144"/>
                                        </p:tgtEl>
                                        <p:attrNameLst>
                                          <p:attrName>ppt_x</p:attrName>
                                        </p:attrNameLst>
                                      </p:cBhvr>
                                      <p:tavLst>
                                        <p:tav tm="0">
                                          <p:val>
                                            <p:strVal val="#ppt_x"/>
                                          </p:val>
                                        </p:tav>
                                        <p:tav tm="100000">
                                          <p:val>
                                            <p:strVal val="#ppt_x"/>
                                          </p:val>
                                        </p:tav>
                                      </p:tavLst>
                                    </p:anim>
                                    <p:anim calcmode="lin" valueType="num">
                                      <p:cBhvr>
                                        <p:cTn id="12" dur="500" fill="hold"/>
                                        <p:tgtEl>
                                          <p:spTgt spid="91144"/>
                                        </p:tgtEl>
                                        <p:attrNameLst>
                                          <p:attrName>ppt_y</p:attrName>
                                        </p:attrNameLst>
                                      </p:cBhvr>
                                      <p:tavLst>
                                        <p:tav tm="0">
                                          <p:val>
                                            <p:strVal val="#ppt_y+#ppt_h/2"/>
                                          </p:val>
                                        </p:tav>
                                        <p:tav tm="100000">
                                          <p:val>
                                            <p:strVal val="#ppt_y"/>
                                          </p:val>
                                        </p:tav>
                                      </p:tavLst>
                                    </p:anim>
                                    <p:anim calcmode="lin" valueType="num">
                                      <p:cBhvr>
                                        <p:cTn id="13" dur="500" fill="hold"/>
                                        <p:tgtEl>
                                          <p:spTgt spid="91144"/>
                                        </p:tgtEl>
                                        <p:attrNameLst>
                                          <p:attrName>ppt_w</p:attrName>
                                        </p:attrNameLst>
                                      </p:cBhvr>
                                      <p:tavLst>
                                        <p:tav tm="0">
                                          <p:val>
                                            <p:strVal val="#ppt_w"/>
                                          </p:val>
                                        </p:tav>
                                        <p:tav tm="100000">
                                          <p:val>
                                            <p:strVal val="#ppt_w"/>
                                          </p:val>
                                        </p:tav>
                                      </p:tavLst>
                                    </p:anim>
                                    <p:anim calcmode="lin" valueType="num">
                                      <p:cBhvr>
                                        <p:cTn id="14" dur="500" fill="hold"/>
                                        <p:tgtEl>
                                          <p:spTgt spid="91144"/>
                                        </p:tgtEl>
                                        <p:attrNameLst>
                                          <p:attrName>ppt_h</p:attrName>
                                        </p:attrNameLst>
                                      </p:cBhvr>
                                      <p:tavLst>
                                        <p:tav tm="0">
                                          <p:val>
                                            <p:fltVal val="0"/>
                                          </p:val>
                                        </p:tav>
                                        <p:tav tm="100000">
                                          <p:val>
                                            <p:strVal val="#ppt_h"/>
                                          </p:val>
                                        </p:tav>
                                      </p:tavLst>
                                    </p:anim>
                                  </p:childTnLst>
                                </p:cTn>
                              </p:par>
                            </p:childTnLst>
                          </p:cTn>
                        </p:par>
                        <p:par>
                          <p:cTn id="15" fill="hold" nodeType="afterGroup">
                            <p:stCondLst>
                              <p:cond delay="1000"/>
                            </p:stCondLst>
                            <p:childTnLst>
                              <p:par>
                                <p:cTn id="16" presetID="7" presetClass="entr" presetSubtype="1" fill="hold" nodeType="afterEffect">
                                  <p:stCondLst>
                                    <p:cond delay="0"/>
                                  </p:stCondLst>
                                  <p:childTnLst>
                                    <p:set>
                                      <p:cBhvr>
                                        <p:cTn id="17" dur="1" fill="hold">
                                          <p:stCondLst>
                                            <p:cond delay="0"/>
                                          </p:stCondLst>
                                        </p:cTn>
                                        <p:tgtEl>
                                          <p:spTgt spid="91148"/>
                                        </p:tgtEl>
                                        <p:attrNameLst>
                                          <p:attrName>style.visibility</p:attrName>
                                        </p:attrNameLst>
                                      </p:cBhvr>
                                      <p:to>
                                        <p:strVal val="visible"/>
                                      </p:to>
                                    </p:set>
                                    <p:anim calcmode="lin" valueType="num">
                                      <p:cBhvr additive="base">
                                        <p:cTn id="18" dur="1000" fill="hold"/>
                                        <p:tgtEl>
                                          <p:spTgt spid="91148"/>
                                        </p:tgtEl>
                                        <p:attrNameLst>
                                          <p:attrName>ppt_x</p:attrName>
                                        </p:attrNameLst>
                                      </p:cBhvr>
                                      <p:tavLst>
                                        <p:tav tm="0">
                                          <p:val>
                                            <p:strVal val="#ppt_x"/>
                                          </p:val>
                                        </p:tav>
                                        <p:tav tm="100000">
                                          <p:val>
                                            <p:strVal val="#ppt_x"/>
                                          </p:val>
                                        </p:tav>
                                      </p:tavLst>
                                    </p:anim>
                                    <p:anim calcmode="lin" valueType="num">
                                      <p:cBhvr additive="base">
                                        <p:cTn id="19" dur="1000" fill="hold"/>
                                        <p:tgtEl>
                                          <p:spTgt spid="9114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1678B70A-3402-F303-FD62-C4F53BAF0CC7}"/>
              </a:ext>
            </a:extLst>
          </p:cNvPr>
          <p:cNvSpPr>
            <a:spLocks noGrp="1" noChangeArrowheads="1"/>
          </p:cNvSpPr>
          <p:nvPr>
            <p:ph type="title"/>
          </p:nvPr>
        </p:nvSpPr>
        <p:spPr/>
        <p:txBody>
          <a:bodyPr/>
          <a:lstStyle/>
          <a:p>
            <a:r>
              <a:rPr lang="en-US" altLang="zh-CN"/>
              <a:t>3.5.2 </a:t>
            </a:r>
            <a:r>
              <a:rPr lang="zh-CN" altLang="en-US"/>
              <a:t>条件控制循环</a:t>
            </a:r>
          </a:p>
        </p:txBody>
      </p:sp>
      <p:sp>
        <p:nvSpPr>
          <p:cNvPr id="99331" name="Rectangle 3">
            <a:extLst>
              <a:ext uri="{FF2B5EF4-FFF2-40B4-BE49-F238E27FC236}">
                <a16:creationId xmlns:a16="http://schemas.microsoft.com/office/drawing/2014/main" id="{47CF1FB1-6C9F-5288-B551-41614536BF8A}"/>
              </a:ext>
            </a:extLst>
          </p:cNvPr>
          <p:cNvSpPr>
            <a:spLocks noGrp="1" noChangeArrowheads="1"/>
          </p:cNvSpPr>
          <p:nvPr>
            <p:ph type="body" idx="1"/>
          </p:nvPr>
        </p:nvSpPr>
        <p:spPr>
          <a:xfrm>
            <a:off x="468313" y="981075"/>
            <a:ext cx="5903912" cy="4464050"/>
          </a:xfrm>
        </p:spPr>
        <p:txBody>
          <a:bodyPr/>
          <a:lstStyle/>
          <a:p>
            <a:r>
              <a:rPr lang="zh-CN" altLang="en-US" sz="2800" dirty="0"/>
              <a:t>条件控制循环需要利用特定条件判断循环是否结束</a:t>
            </a:r>
          </a:p>
          <a:p>
            <a:r>
              <a:rPr lang="zh-CN" altLang="en-US" sz="2800" dirty="0"/>
              <a:t>条件控制循环用条件转移指令判断循环条件</a:t>
            </a:r>
          </a:p>
          <a:p>
            <a:r>
              <a:rPr lang="zh-CN" altLang="en-US" sz="2800" dirty="0"/>
              <a:t>转移指令可以指定目的标号来改变程序的运行顺序，如果目的标号指向一个重复执行的语句体的开始或结束，便构成了循环控制结构</a:t>
            </a:r>
          </a:p>
        </p:txBody>
      </p:sp>
      <p:sp>
        <p:nvSpPr>
          <p:cNvPr id="99334" name="Line 6">
            <a:extLst>
              <a:ext uri="{FF2B5EF4-FFF2-40B4-BE49-F238E27FC236}">
                <a16:creationId xmlns:a16="http://schemas.microsoft.com/office/drawing/2014/main" id="{19C3E12D-16BE-83F5-923B-F762DC86E534}"/>
              </a:ext>
            </a:extLst>
          </p:cNvPr>
          <p:cNvSpPr>
            <a:spLocks noChangeShapeType="1"/>
          </p:cNvSpPr>
          <p:nvPr/>
        </p:nvSpPr>
        <p:spPr bwMode="auto">
          <a:xfrm>
            <a:off x="8096250" y="3527425"/>
            <a:ext cx="0" cy="1447800"/>
          </a:xfrm>
          <a:prstGeom prst="line">
            <a:avLst/>
          </a:prstGeom>
          <a:noFill/>
          <a:ln w="76200" cmpd="tri">
            <a:solidFill>
              <a:srgbClr val="0066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9335" name="Group 7">
            <a:extLst>
              <a:ext uri="{FF2B5EF4-FFF2-40B4-BE49-F238E27FC236}">
                <a16:creationId xmlns:a16="http://schemas.microsoft.com/office/drawing/2014/main" id="{56C1F23B-5B6C-8C9C-848C-E184DD8F7C58}"/>
              </a:ext>
            </a:extLst>
          </p:cNvPr>
          <p:cNvGrpSpPr>
            <a:grpSpLocks/>
          </p:cNvGrpSpPr>
          <p:nvPr/>
        </p:nvGrpSpPr>
        <p:grpSpPr bwMode="auto">
          <a:xfrm>
            <a:off x="7391400" y="3527425"/>
            <a:ext cx="685800" cy="1447800"/>
            <a:chOff x="4656" y="2688"/>
            <a:chExt cx="432" cy="912"/>
          </a:xfrm>
        </p:grpSpPr>
        <p:sp>
          <p:nvSpPr>
            <p:cNvPr id="99336" name="Line 8">
              <a:extLst>
                <a:ext uri="{FF2B5EF4-FFF2-40B4-BE49-F238E27FC236}">
                  <a16:creationId xmlns:a16="http://schemas.microsoft.com/office/drawing/2014/main" id="{9D30ABC9-9534-0415-8263-B06072B1D905}"/>
                </a:ext>
              </a:extLst>
            </p:cNvPr>
            <p:cNvSpPr>
              <a:spLocks noChangeShapeType="1"/>
            </p:cNvSpPr>
            <p:nvPr/>
          </p:nvSpPr>
          <p:spPr bwMode="auto">
            <a:xfrm flipH="1">
              <a:off x="4656" y="3600"/>
              <a:ext cx="43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337" name="Line 9">
              <a:extLst>
                <a:ext uri="{FF2B5EF4-FFF2-40B4-BE49-F238E27FC236}">
                  <a16:creationId xmlns:a16="http://schemas.microsoft.com/office/drawing/2014/main" id="{399E4E8D-2A83-7274-96A9-062EE24A166E}"/>
                </a:ext>
              </a:extLst>
            </p:cNvPr>
            <p:cNvSpPr>
              <a:spLocks noChangeShapeType="1"/>
            </p:cNvSpPr>
            <p:nvPr/>
          </p:nvSpPr>
          <p:spPr bwMode="auto">
            <a:xfrm flipV="1">
              <a:off x="4656" y="2688"/>
              <a:ext cx="0" cy="9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338" name="Line 10">
              <a:extLst>
                <a:ext uri="{FF2B5EF4-FFF2-40B4-BE49-F238E27FC236}">
                  <a16:creationId xmlns:a16="http://schemas.microsoft.com/office/drawing/2014/main" id="{6D71D2D2-E70D-453F-6D17-B811CB5D2242}"/>
                </a:ext>
              </a:extLst>
            </p:cNvPr>
            <p:cNvSpPr>
              <a:spLocks noChangeShapeType="1"/>
            </p:cNvSpPr>
            <p:nvPr/>
          </p:nvSpPr>
          <p:spPr bwMode="auto">
            <a:xfrm>
              <a:off x="4656" y="2688"/>
              <a:ext cx="384"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9339" name="Line 11">
            <a:extLst>
              <a:ext uri="{FF2B5EF4-FFF2-40B4-BE49-F238E27FC236}">
                <a16:creationId xmlns:a16="http://schemas.microsoft.com/office/drawing/2014/main" id="{A5C3FC5D-C663-97F6-57CF-ABC7E65A9B92}"/>
              </a:ext>
            </a:extLst>
          </p:cNvPr>
          <p:cNvSpPr>
            <a:spLocks noChangeShapeType="1"/>
          </p:cNvSpPr>
          <p:nvPr/>
        </p:nvSpPr>
        <p:spPr bwMode="auto">
          <a:xfrm>
            <a:off x="8096250" y="5013325"/>
            <a:ext cx="0" cy="647700"/>
          </a:xfrm>
          <a:prstGeom prst="line">
            <a:avLst/>
          </a:prstGeom>
          <a:noFill/>
          <a:ln w="57150">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nodeType="afterEffect">
                                  <p:stCondLst>
                                    <p:cond delay="0"/>
                                  </p:stCondLst>
                                  <p:childTnLst>
                                    <p:set>
                                      <p:cBhvr>
                                        <p:cTn id="6" dur="1" fill="hold">
                                          <p:stCondLst>
                                            <p:cond delay="0"/>
                                          </p:stCondLst>
                                        </p:cTn>
                                        <p:tgtEl>
                                          <p:spTgt spid="99334"/>
                                        </p:tgtEl>
                                        <p:attrNameLst>
                                          <p:attrName>style.visibility</p:attrName>
                                        </p:attrNameLst>
                                      </p:cBhvr>
                                      <p:to>
                                        <p:strVal val="visible"/>
                                      </p:to>
                                    </p:set>
                                    <p:animEffect transition="in" filter="slide(fromTop)">
                                      <p:cBhvr>
                                        <p:cTn id="7" dur="500"/>
                                        <p:tgtEl>
                                          <p:spTgt spid="99334"/>
                                        </p:tgtEl>
                                      </p:cBhvr>
                                    </p:animEffect>
                                  </p:childTnLst>
                                </p:cTn>
                              </p:par>
                            </p:childTnLst>
                          </p:cTn>
                        </p:par>
                        <p:par>
                          <p:cTn id="8" fill="hold" nodeType="afterGroup">
                            <p:stCondLst>
                              <p:cond delay="500"/>
                            </p:stCondLst>
                            <p:childTnLst>
                              <p:par>
                                <p:cTn id="9" presetID="17" presetClass="entr" presetSubtype="4" fill="hold" nodeType="afterEffect">
                                  <p:stCondLst>
                                    <p:cond delay="0"/>
                                  </p:stCondLst>
                                  <p:childTnLst>
                                    <p:set>
                                      <p:cBhvr>
                                        <p:cTn id="10" dur="1" fill="hold">
                                          <p:stCondLst>
                                            <p:cond delay="0"/>
                                          </p:stCondLst>
                                        </p:cTn>
                                        <p:tgtEl>
                                          <p:spTgt spid="99335"/>
                                        </p:tgtEl>
                                        <p:attrNameLst>
                                          <p:attrName>style.visibility</p:attrName>
                                        </p:attrNameLst>
                                      </p:cBhvr>
                                      <p:to>
                                        <p:strVal val="visible"/>
                                      </p:to>
                                    </p:set>
                                    <p:anim calcmode="lin" valueType="num">
                                      <p:cBhvr>
                                        <p:cTn id="11" dur="500" fill="hold"/>
                                        <p:tgtEl>
                                          <p:spTgt spid="99335"/>
                                        </p:tgtEl>
                                        <p:attrNameLst>
                                          <p:attrName>ppt_x</p:attrName>
                                        </p:attrNameLst>
                                      </p:cBhvr>
                                      <p:tavLst>
                                        <p:tav tm="0">
                                          <p:val>
                                            <p:strVal val="#ppt_x"/>
                                          </p:val>
                                        </p:tav>
                                        <p:tav tm="100000">
                                          <p:val>
                                            <p:strVal val="#ppt_x"/>
                                          </p:val>
                                        </p:tav>
                                      </p:tavLst>
                                    </p:anim>
                                    <p:anim calcmode="lin" valueType="num">
                                      <p:cBhvr>
                                        <p:cTn id="12" dur="500" fill="hold"/>
                                        <p:tgtEl>
                                          <p:spTgt spid="99335"/>
                                        </p:tgtEl>
                                        <p:attrNameLst>
                                          <p:attrName>ppt_y</p:attrName>
                                        </p:attrNameLst>
                                      </p:cBhvr>
                                      <p:tavLst>
                                        <p:tav tm="0">
                                          <p:val>
                                            <p:strVal val="#ppt_y+#ppt_h/2"/>
                                          </p:val>
                                        </p:tav>
                                        <p:tav tm="100000">
                                          <p:val>
                                            <p:strVal val="#ppt_y"/>
                                          </p:val>
                                        </p:tav>
                                      </p:tavLst>
                                    </p:anim>
                                    <p:anim calcmode="lin" valueType="num">
                                      <p:cBhvr>
                                        <p:cTn id="13" dur="500" fill="hold"/>
                                        <p:tgtEl>
                                          <p:spTgt spid="99335"/>
                                        </p:tgtEl>
                                        <p:attrNameLst>
                                          <p:attrName>ppt_w</p:attrName>
                                        </p:attrNameLst>
                                      </p:cBhvr>
                                      <p:tavLst>
                                        <p:tav tm="0">
                                          <p:val>
                                            <p:strVal val="#ppt_w"/>
                                          </p:val>
                                        </p:tav>
                                        <p:tav tm="100000">
                                          <p:val>
                                            <p:strVal val="#ppt_w"/>
                                          </p:val>
                                        </p:tav>
                                      </p:tavLst>
                                    </p:anim>
                                    <p:anim calcmode="lin" valueType="num">
                                      <p:cBhvr>
                                        <p:cTn id="14" dur="500" fill="hold"/>
                                        <p:tgtEl>
                                          <p:spTgt spid="99335"/>
                                        </p:tgtEl>
                                        <p:attrNameLst>
                                          <p:attrName>ppt_h</p:attrName>
                                        </p:attrNameLst>
                                      </p:cBhvr>
                                      <p:tavLst>
                                        <p:tav tm="0">
                                          <p:val>
                                            <p:fltVal val="0"/>
                                          </p:val>
                                        </p:tav>
                                        <p:tav tm="100000">
                                          <p:val>
                                            <p:strVal val="#ppt_h"/>
                                          </p:val>
                                        </p:tav>
                                      </p:tavLst>
                                    </p:anim>
                                  </p:childTnLst>
                                </p:cTn>
                              </p:par>
                            </p:childTnLst>
                          </p:cTn>
                        </p:par>
                        <p:par>
                          <p:cTn id="15" fill="hold" nodeType="afterGroup">
                            <p:stCondLst>
                              <p:cond delay="1000"/>
                            </p:stCondLst>
                            <p:childTnLst>
                              <p:par>
                                <p:cTn id="16" presetID="7" presetClass="entr" presetSubtype="1" fill="hold" nodeType="afterEffect">
                                  <p:stCondLst>
                                    <p:cond delay="0"/>
                                  </p:stCondLst>
                                  <p:childTnLst>
                                    <p:set>
                                      <p:cBhvr>
                                        <p:cTn id="17" dur="1" fill="hold">
                                          <p:stCondLst>
                                            <p:cond delay="0"/>
                                          </p:stCondLst>
                                        </p:cTn>
                                        <p:tgtEl>
                                          <p:spTgt spid="99339"/>
                                        </p:tgtEl>
                                        <p:attrNameLst>
                                          <p:attrName>style.visibility</p:attrName>
                                        </p:attrNameLst>
                                      </p:cBhvr>
                                      <p:to>
                                        <p:strVal val="visible"/>
                                      </p:to>
                                    </p:set>
                                    <p:anim calcmode="lin" valueType="num">
                                      <p:cBhvr additive="base">
                                        <p:cTn id="18" dur="1000" fill="hold"/>
                                        <p:tgtEl>
                                          <p:spTgt spid="99339"/>
                                        </p:tgtEl>
                                        <p:attrNameLst>
                                          <p:attrName>ppt_x</p:attrName>
                                        </p:attrNameLst>
                                      </p:cBhvr>
                                      <p:tavLst>
                                        <p:tav tm="0">
                                          <p:val>
                                            <p:strVal val="#ppt_x"/>
                                          </p:val>
                                        </p:tav>
                                        <p:tav tm="100000">
                                          <p:val>
                                            <p:strVal val="#ppt_x"/>
                                          </p:val>
                                        </p:tav>
                                      </p:tavLst>
                                    </p:anim>
                                    <p:anim calcmode="lin" valueType="num">
                                      <p:cBhvr additive="base">
                                        <p:cTn id="19" dur="1000" fill="hold"/>
                                        <p:tgtEl>
                                          <p:spTgt spid="9933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a:extLst>
              <a:ext uri="{FF2B5EF4-FFF2-40B4-BE49-F238E27FC236}">
                <a16:creationId xmlns:a16="http://schemas.microsoft.com/office/drawing/2014/main" id="{8D2EF4BA-7E21-A37C-A340-C3BEEA98D735}"/>
              </a:ext>
            </a:extLst>
          </p:cNvPr>
          <p:cNvSpPr>
            <a:spLocks noGrp="1" noChangeArrowheads="1"/>
          </p:cNvSpPr>
          <p:nvPr>
            <p:ph type="title"/>
          </p:nvPr>
        </p:nvSpPr>
        <p:spPr/>
        <p:txBody>
          <a:bodyPr/>
          <a:lstStyle/>
          <a:p>
            <a:r>
              <a:rPr lang="en-US" altLang="zh-CN"/>
              <a:t>3.6 </a:t>
            </a:r>
            <a:r>
              <a:rPr lang="zh-CN" altLang="en-US"/>
              <a:t>子程序设计 </a:t>
            </a:r>
          </a:p>
        </p:txBody>
      </p:sp>
      <p:sp>
        <p:nvSpPr>
          <p:cNvPr id="124931" name="Rectangle 3">
            <a:extLst>
              <a:ext uri="{FF2B5EF4-FFF2-40B4-BE49-F238E27FC236}">
                <a16:creationId xmlns:a16="http://schemas.microsoft.com/office/drawing/2014/main" id="{F9F0FE00-6024-0BFB-2428-17BA9E148C92}"/>
              </a:ext>
            </a:extLst>
          </p:cNvPr>
          <p:cNvSpPr>
            <a:spLocks noGrp="1" noChangeArrowheads="1"/>
          </p:cNvSpPr>
          <p:nvPr>
            <p:ph type="body" idx="1"/>
          </p:nvPr>
        </p:nvSpPr>
        <p:spPr/>
        <p:txBody>
          <a:bodyPr/>
          <a:lstStyle/>
          <a:p>
            <a:r>
              <a:rPr lang="zh-CN" altLang="en-US" dirty="0"/>
              <a:t>把功能相对独立的程序段单独编写和调试，作为一个相对独立的模块供程序使用，就形成</a:t>
            </a:r>
            <a:r>
              <a:rPr lang="zh-CN" altLang="en-US" dirty="0">
                <a:solidFill>
                  <a:schemeClr val="tx1"/>
                </a:solidFill>
              </a:rPr>
              <a:t>子程序</a:t>
            </a:r>
          </a:p>
          <a:p>
            <a:r>
              <a:rPr lang="zh-CN" altLang="en-US" dirty="0"/>
              <a:t>子程序可以实现源程序的</a:t>
            </a:r>
            <a:r>
              <a:rPr lang="zh-CN" altLang="en-US" dirty="0">
                <a:solidFill>
                  <a:schemeClr val="tx1"/>
                </a:solidFill>
              </a:rPr>
              <a:t>模块化</a:t>
            </a:r>
            <a:r>
              <a:rPr lang="zh-CN" altLang="en-US" dirty="0"/>
              <a:t>，可简化源程序结构，可以提高编程效率</a:t>
            </a:r>
          </a:p>
        </p:txBody>
      </p:sp>
    </p:spTree>
  </p:cSld>
  <p:clrMapOvr>
    <a:masterClrMapping/>
  </p:clrMapOvr>
  <p:transition>
    <p:rand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a:extLst>
              <a:ext uri="{FF2B5EF4-FFF2-40B4-BE49-F238E27FC236}">
                <a16:creationId xmlns:a16="http://schemas.microsoft.com/office/drawing/2014/main" id="{1D109BE8-B446-15B4-7FBA-C01A0C8A706D}"/>
              </a:ext>
            </a:extLst>
          </p:cNvPr>
          <p:cNvSpPr>
            <a:spLocks noGrp="1" noChangeArrowheads="1"/>
          </p:cNvSpPr>
          <p:nvPr>
            <p:ph type="title"/>
          </p:nvPr>
        </p:nvSpPr>
        <p:spPr/>
        <p:txBody>
          <a:bodyPr/>
          <a:lstStyle/>
          <a:p>
            <a:r>
              <a:rPr lang="en-US" altLang="zh-CN" dirty="0"/>
              <a:t>3.6.1 </a:t>
            </a:r>
            <a:r>
              <a:rPr lang="zh-CN" altLang="en-US" dirty="0"/>
              <a:t>过程定义和子程序编写</a:t>
            </a:r>
          </a:p>
        </p:txBody>
      </p:sp>
      <p:sp>
        <p:nvSpPr>
          <p:cNvPr id="125955" name="Rectangle 3">
            <a:extLst>
              <a:ext uri="{FF2B5EF4-FFF2-40B4-BE49-F238E27FC236}">
                <a16:creationId xmlns:a16="http://schemas.microsoft.com/office/drawing/2014/main" id="{CBB7B184-DD3A-A63F-A641-9B13DD38EEAE}"/>
              </a:ext>
            </a:extLst>
          </p:cNvPr>
          <p:cNvSpPr>
            <a:spLocks noGrp="1" noChangeArrowheads="1"/>
          </p:cNvSpPr>
          <p:nvPr>
            <p:ph type="body" idx="1"/>
          </p:nvPr>
        </p:nvSpPr>
        <p:spPr>
          <a:xfrm>
            <a:off x="468313" y="1052513"/>
            <a:ext cx="8229600" cy="4968875"/>
          </a:xfrm>
        </p:spPr>
        <p:txBody>
          <a:bodyPr/>
          <a:lstStyle/>
          <a:p>
            <a:pPr>
              <a:lnSpc>
                <a:spcPct val="90000"/>
              </a:lnSpc>
            </a:pPr>
            <a:r>
              <a:rPr lang="zh-CN" altLang="en-US" sz="2800"/>
              <a:t>汇编语言中，子程序要用一对过程伪指令</a:t>
            </a:r>
            <a:r>
              <a:rPr lang="en-US" altLang="zh-CN" sz="2800"/>
              <a:t>PROC</a:t>
            </a:r>
            <a:r>
              <a:rPr lang="zh-CN" altLang="en-US" sz="2800"/>
              <a:t>和</a:t>
            </a:r>
            <a:r>
              <a:rPr lang="en-US" altLang="zh-CN" sz="2800"/>
              <a:t>ENDP</a:t>
            </a:r>
            <a:r>
              <a:rPr lang="zh-CN" altLang="en-US" sz="2800"/>
              <a:t>声明，格式如下：</a:t>
            </a:r>
          </a:p>
          <a:p>
            <a:pPr>
              <a:lnSpc>
                <a:spcPct val="90000"/>
              </a:lnSpc>
              <a:buFontTx/>
              <a:buNone/>
            </a:pPr>
            <a:r>
              <a:rPr lang="zh-CN" altLang="en-US" sz="2800"/>
              <a:t>	</a:t>
            </a:r>
            <a:r>
              <a:rPr lang="zh-CN" altLang="en-US" sz="2800">
                <a:solidFill>
                  <a:schemeClr val="tx1"/>
                </a:solidFill>
              </a:rPr>
              <a:t>过程名</a:t>
            </a:r>
            <a:r>
              <a:rPr lang="zh-CN" altLang="en-US" sz="2800"/>
              <a:t>	</a:t>
            </a:r>
            <a:r>
              <a:rPr lang="en-US" altLang="zh-CN" sz="2800">
                <a:solidFill>
                  <a:schemeClr val="tx1"/>
                </a:solidFill>
              </a:rPr>
              <a:t>PROC</a:t>
            </a:r>
            <a:r>
              <a:rPr lang="en-US" altLang="zh-CN" sz="2800"/>
              <a:t> </a:t>
            </a:r>
            <a:r>
              <a:rPr lang="en-US" altLang="zh-CN" sz="2800">
                <a:solidFill>
                  <a:srgbClr val="006600"/>
                </a:solidFill>
              </a:rPr>
              <a:t>[NEAR|FAR]</a:t>
            </a:r>
          </a:p>
          <a:p>
            <a:pPr>
              <a:lnSpc>
                <a:spcPct val="90000"/>
              </a:lnSpc>
              <a:buFontTx/>
              <a:buNone/>
            </a:pPr>
            <a:r>
              <a:rPr lang="en-US" altLang="zh-CN" sz="2800"/>
              <a:t>			……		</a:t>
            </a:r>
            <a:r>
              <a:rPr lang="zh-CN" altLang="en-US" sz="2800"/>
              <a:t>；</a:t>
            </a:r>
            <a:r>
              <a:rPr lang="zh-CN" altLang="en-US" sz="2800">
                <a:solidFill>
                  <a:srgbClr val="006600"/>
                </a:solidFill>
              </a:rPr>
              <a:t>过程体</a:t>
            </a:r>
          </a:p>
          <a:p>
            <a:pPr>
              <a:lnSpc>
                <a:spcPct val="90000"/>
              </a:lnSpc>
              <a:buFontTx/>
              <a:buNone/>
            </a:pPr>
            <a:r>
              <a:rPr lang="zh-CN" altLang="en-US" sz="2800"/>
              <a:t>	</a:t>
            </a:r>
            <a:r>
              <a:rPr lang="zh-CN" altLang="en-US" sz="2800">
                <a:solidFill>
                  <a:schemeClr val="tx1"/>
                </a:solidFill>
              </a:rPr>
              <a:t>过程名</a:t>
            </a:r>
            <a:r>
              <a:rPr lang="zh-CN" altLang="en-US" sz="2800"/>
              <a:t>	</a:t>
            </a:r>
            <a:r>
              <a:rPr lang="en-US" altLang="zh-CN" sz="2800">
                <a:solidFill>
                  <a:schemeClr val="tx1"/>
                </a:solidFill>
              </a:rPr>
              <a:t>ENDP</a:t>
            </a:r>
          </a:p>
          <a:p>
            <a:pPr>
              <a:lnSpc>
                <a:spcPct val="90000"/>
              </a:lnSpc>
            </a:pPr>
            <a:r>
              <a:rPr lang="zh-CN" altLang="en-US" sz="2800"/>
              <a:t>可选的参数指定过程的调用属性。没有指定过程属性，则采用默认属性</a:t>
            </a:r>
          </a:p>
          <a:p>
            <a:pPr lvl="1">
              <a:lnSpc>
                <a:spcPct val="90000"/>
              </a:lnSpc>
            </a:pPr>
            <a:r>
              <a:rPr lang="en-US" altLang="zh-CN">
                <a:solidFill>
                  <a:srgbClr val="006600"/>
                </a:solidFill>
                <a:latin typeface="宋体" panose="02010600030101010101" pitchFamily="2" charset="-122"/>
              </a:rPr>
              <a:t>NEAR</a:t>
            </a:r>
            <a:r>
              <a:rPr lang="zh-CN" altLang="en-US">
                <a:latin typeface="宋体" panose="02010600030101010101" pitchFamily="2" charset="-122"/>
              </a:rPr>
              <a:t>属性（段内近调用）的过程只能被相同代码段的其他程序调用</a:t>
            </a:r>
          </a:p>
          <a:p>
            <a:pPr lvl="1">
              <a:lnSpc>
                <a:spcPct val="90000"/>
              </a:lnSpc>
            </a:pPr>
            <a:r>
              <a:rPr lang="en-US" altLang="zh-CN">
                <a:solidFill>
                  <a:srgbClr val="006600"/>
                </a:solidFill>
                <a:latin typeface="宋体" panose="02010600030101010101" pitchFamily="2" charset="-122"/>
              </a:rPr>
              <a:t>FAR</a:t>
            </a:r>
            <a:r>
              <a:rPr lang="zh-CN" altLang="en-US">
                <a:latin typeface="宋体" panose="02010600030101010101" pitchFamily="2" charset="-122"/>
              </a:rPr>
              <a:t>属性（段间远调用）的过程可以被相同或不同代码段的程序调用</a:t>
            </a:r>
            <a:endParaRPr lang="zh-CN" altLang="en-US" sz="2400"/>
          </a:p>
        </p:txBody>
      </p:sp>
    </p:spTree>
  </p:cSld>
  <p:clrMapOvr>
    <a:masterClrMapping/>
  </p:clrMapOvr>
  <p:transition>
    <p:rand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04BC96C8-6606-B520-14A5-67E0196BA56F}"/>
              </a:ext>
            </a:extLst>
          </p:cNvPr>
          <p:cNvSpPr>
            <a:spLocks noGrp="1" noChangeArrowheads="1"/>
          </p:cNvSpPr>
          <p:nvPr>
            <p:ph type="title"/>
          </p:nvPr>
        </p:nvSpPr>
        <p:spPr/>
        <p:txBody>
          <a:bodyPr/>
          <a:lstStyle/>
          <a:p>
            <a:r>
              <a:rPr lang="zh-CN" altLang="en-US"/>
              <a:t>子程序编写注意事项</a:t>
            </a:r>
          </a:p>
        </p:txBody>
      </p:sp>
      <p:sp>
        <p:nvSpPr>
          <p:cNvPr id="126979" name="Rectangle 3">
            <a:extLst>
              <a:ext uri="{FF2B5EF4-FFF2-40B4-BE49-F238E27FC236}">
                <a16:creationId xmlns:a16="http://schemas.microsoft.com/office/drawing/2014/main" id="{25FE7B18-FBAA-7C96-C45F-6F4A94FCB68C}"/>
              </a:ext>
            </a:extLst>
          </p:cNvPr>
          <p:cNvSpPr>
            <a:spLocks noGrp="1" noChangeArrowheads="1"/>
          </p:cNvSpPr>
          <p:nvPr>
            <p:ph type="body" idx="1"/>
          </p:nvPr>
        </p:nvSpPr>
        <p:spPr/>
        <p:txBody>
          <a:bodyPr/>
          <a:lstStyle/>
          <a:p>
            <a:pPr>
              <a:buFontTx/>
              <a:buNone/>
            </a:pPr>
            <a:r>
              <a:rPr lang="en-US" altLang="zh-CN" sz="2800" dirty="0"/>
              <a:t>⑴</a:t>
            </a:r>
            <a:r>
              <a:rPr lang="zh-CN" altLang="en-US" sz="2800" dirty="0"/>
              <a:t>子程序要利用过程定义伪指令声明</a:t>
            </a:r>
          </a:p>
          <a:p>
            <a:pPr>
              <a:buFontTx/>
              <a:buNone/>
            </a:pPr>
            <a:r>
              <a:rPr lang="zh-CN" altLang="en-US" sz="2800" dirty="0"/>
              <a:t>⑵子程序最后利用</a:t>
            </a:r>
            <a:r>
              <a:rPr lang="en-US" altLang="zh-CN" sz="2800" dirty="0"/>
              <a:t>RET</a:t>
            </a:r>
            <a:r>
              <a:rPr lang="zh-CN" altLang="en-US" sz="2800" dirty="0"/>
              <a:t>指令返回主程序，主程序执行</a:t>
            </a:r>
            <a:r>
              <a:rPr lang="en-US" altLang="zh-CN" sz="2800" dirty="0"/>
              <a:t>CALL</a:t>
            </a:r>
            <a:r>
              <a:rPr lang="zh-CN" altLang="en-US" sz="2800" dirty="0"/>
              <a:t>指令调用子程序</a:t>
            </a:r>
          </a:p>
          <a:p>
            <a:pPr>
              <a:buFontTx/>
              <a:buNone/>
            </a:pPr>
            <a:r>
              <a:rPr lang="zh-CN" altLang="en-US" sz="2800" dirty="0"/>
              <a:t>⑶子程序中</a:t>
            </a:r>
            <a:r>
              <a:rPr lang="zh-CN" altLang="en-US" sz="2800" dirty="0">
                <a:highlight>
                  <a:srgbClr val="FFFF00"/>
                </a:highlight>
              </a:rPr>
              <a:t>对堆栈的压入和弹出操作要成对使用，保持堆栈的平衡</a:t>
            </a:r>
          </a:p>
          <a:p>
            <a:pPr>
              <a:buFontTx/>
              <a:buNone/>
            </a:pPr>
            <a:r>
              <a:rPr lang="zh-CN" altLang="en-US" sz="2800" dirty="0"/>
              <a:t>⑷子程序</a:t>
            </a:r>
            <a:r>
              <a:rPr lang="zh-CN" altLang="en-US" sz="2800" dirty="0">
                <a:highlight>
                  <a:srgbClr val="FFFF00"/>
                </a:highlight>
              </a:rPr>
              <a:t>开始应该保护使用到的寄存器内容，子程序返回前相应进行恢复</a:t>
            </a:r>
          </a:p>
          <a:p>
            <a:pPr>
              <a:buFontTx/>
              <a:buNone/>
            </a:pPr>
            <a:r>
              <a:rPr lang="zh-CN" altLang="en-US" sz="2800" dirty="0"/>
              <a:t>⑸子程序应安排在代码段的主程序之外，最好放在主程序执行终止后的位置（返回</a:t>
            </a:r>
            <a:r>
              <a:rPr lang="en-US" altLang="zh-CN" sz="2800" dirty="0"/>
              <a:t>DOS</a:t>
            </a:r>
            <a:r>
              <a:rPr lang="zh-CN" altLang="en-US" sz="2800" dirty="0"/>
              <a:t>后、汇编结束</a:t>
            </a:r>
            <a:r>
              <a:rPr lang="en-US" altLang="zh-CN" sz="2800" dirty="0"/>
              <a:t>END</a:t>
            </a:r>
            <a:r>
              <a:rPr lang="zh-CN" altLang="en-US" sz="2800" dirty="0"/>
              <a:t>伪指令前</a:t>
            </a:r>
            <a:r>
              <a:rPr lang="en-US" altLang="zh-CN" sz="2800" dirty="0"/>
              <a:t>,</a:t>
            </a:r>
            <a:r>
              <a:rPr lang="zh-CN" altLang="en-US" sz="2800" dirty="0"/>
              <a:t>例如</a:t>
            </a:r>
            <a:r>
              <a:rPr lang="en-US" altLang="zh-CN" sz="2800" dirty="0"/>
              <a:t>end start</a:t>
            </a:r>
            <a:r>
              <a:rPr lang="zh-CN" altLang="en-US" sz="2800" dirty="0"/>
              <a:t>），也可以放在主程序开始执行之前的位置</a:t>
            </a:r>
          </a:p>
        </p:txBody>
      </p:sp>
    </p:spTree>
  </p:cSld>
  <p:clrMapOvr>
    <a:masterClrMapping/>
  </p:clrMapOvr>
  <p:transition>
    <p:rand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a:extLst>
              <a:ext uri="{FF2B5EF4-FFF2-40B4-BE49-F238E27FC236}">
                <a16:creationId xmlns:a16="http://schemas.microsoft.com/office/drawing/2014/main" id="{83AA180B-102F-6E68-5CE7-E271F311A74F}"/>
              </a:ext>
            </a:extLst>
          </p:cNvPr>
          <p:cNvSpPr>
            <a:spLocks noGrp="1" noChangeArrowheads="1"/>
          </p:cNvSpPr>
          <p:nvPr>
            <p:ph type="title"/>
          </p:nvPr>
        </p:nvSpPr>
        <p:spPr/>
        <p:txBody>
          <a:bodyPr/>
          <a:lstStyle/>
          <a:p>
            <a:r>
              <a:rPr lang="zh-CN" altLang="en-US"/>
              <a:t>子程序编写注意事项（续）</a:t>
            </a:r>
          </a:p>
        </p:txBody>
      </p:sp>
      <p:sp>
        <p:nvSpPr>
          <p:cNvPr id="128003" name="Rectangle 3">
            <a:extLst>
              <a:ext uri="{FF2B5EF4-FFF2-40B4-BE49-F238E27FC236}">
                <a16:creationId xmlns:a16="http://schemas.microsoft.com/office/drawing/2014/main" id="{DE448A55-BF1B-A138-D973-2631DFB75B58}"/>
              </a:ext>
            </a:extLst>
          </p:cNvPr>
          <p:cNvSpPr>
            <a:spLocks noGrp="1" noChangeArrowheads="1"/>
          </p:cNvSpPr>
          <p:nvPr>
            <p:ph type="body" idx="1"/>
          </p:nvPr>
        </p:nvSpPr>
        <p:spPr/>
        <p:txBody>
          <a:bodyPr/>
          <a:lstStyle/>
          <a:p>
            <a:pPr>
              <a:buFontTx/>
              <a:buNone/>
            </a:pPr>
            <a:r>
              <a:rPr lang="en-US" altLang="zh-CN" sz="2800" dirty="0"/>
              <a:t>⑹</a:t>
            </a:r>
            <a:r>
              <a:rPr lang="zh-CN" altLang="en-US" sz="2800" dirty="0"/>
              <a:t>子程序允许嵌套和递归</a:t>
            </a:r>
          </a:p>
          <a:p>
            <a:pPr>
              <a:buFontTx/>
              <a:buNone/>
            </a:pPr>
            <a:r>
              <a:rPr lang="zh-CN" altLang="en-US" sz="2800" dirty="0"/>
              <a:t>⑺子程序可以与主程序共用一个数据段，也可以使用不同的数据段（注意修改</a:t>
            </a:r>
            <a:r>
              <a:rPr lang="en-US" altLang="zh-CN" sz="2800" dirty="0"/>
              <a:t>DS</a:t>
            </a:r>
            <a:r>
              <a:rPr lang="zh-CN" altLang="en-US" sz="2800" dirty="0"/>
              <a:t>），还可以在子程序最后设置数据区（利用</a:t>
            </a:r>
            <a:r>
              <a:rPr lang="en-US" altLang="zh-CN" sz="2800" dirty="0"/>
              <a:t>CS</a:t>
            </a:r>
            <a:r>
              <a:rPr lang="zh-CN" altLang="en-US" sz="2800" dirty="0"/>
              <a:t>寻址）</a:t>
            </a:r>
          </a:p>
          <a:p>
            <a:pPr>
              <a:buFontTx/>
              <a:buNone/>
            </a:pPr>
            <a:r>
              <a:rPr lang="zh-CN" altLang="en-US" sz="2800" dirty="0"/>
              <a:t>⑻子程序的编写可以很灵活，例如具有多个出口（多个</a:t>
            </a:r>
            <a:r>
              <a:rPr lang="en-US" altLang="zh-CN" sz="2800" dirty="0"/>
              <a:t>RET</a:t>
            </a:r>
            <a:r>
              <a:rPr lang="zh-CN" altLang="en-US" sz="2800" dirty="0"/>
              <a:t>指令）和入口，但一定要保证堆栈操作的正确性</a:t>
            </a:r>
          </a:p>
          <a:p>
            <a:pPr>
              <a:buFontTx/>
              <a:buNone/>
            </a:pPr>
            <a:r>
              <a:rPr lang="zh-CN" altLang="en-US" sz="2800" dirty="0"/>
              <a:t>⑼处理好子程序与主程序间的参数传递问题</a:t>
            </a:r>
          </a:p>
          <a:p>
            <a:pPr>
              <a:buFontTx/>
              <a:buNone/>
            </a:pPr>
            <a:r>
              <a:rPr lang="zh-CN" altLang="en-US" sz="2800" dirty="0"/>
              <a:t>⑽提供必要的子程序说明信息</a:t>
            </a:r>
          </a:p>
        </p:txBody>
      </p:sp>
    </p:spTree>
  </p:cSld>
  <p:clrMapOvr>
    <a:masterClrMapping/>
  </p:clrMapOvr>
  <p:transition>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a:extLst>
              <a:ext uri="{FF2B5EF4-FFF2-40B4-BE49-F238E27FC236}">
                <a16:creationId xmlns:a16="http://schemas.microsoft.com/office/drawing/2014/main" id="{3F16D2C6-FBFD-547C-195E-93188FA84205}"/>
              </a:ext>
            </a:extLst>
          </p:cNvPr>
          <p:cNvSpPr>
            <a:spLocks noGrp="1" noChangeArrowheads="1"/>
          </p:cNvSpPr>
          <p:nvPr>
            <p:ph type="title"/>
          </p:nvPr>
        </p:nvSpPr>
        <p:spPr/>
        <p:txBody>
          <a:bodyPr/>
          <a:lstStyle/>
          <a:p>
            <a:r>
              <a:rPr lang="zh-CN" altLang="en-US"/>
              <a:t>参数传递</a:t>
            </a:r>
          </a:p>
        </p:txBody>
      </p:sp>
      <p:sp>
        <p:nvSpPr>
          <p:cNvPr id="133123" name="Rectangle 3">
            <a:extLst>
              <a:ext uri="{FF2B5EF4-FFF2-40B4-BE49-F238E27FC236}">
                <a16:creationId xmlns:a16="http://schemas.microsoft.com/office/drawing/2014/main" id="{6CBBB7FC-7FA0-9C23-78BC-E0039A9DF3DF}"/>
              </a:ext>
            </a:extLst>
          </p:cNvPr>
          <p:cNvSpPr>
            <a:spLocks noGrp="1" noChangeArrowheads="1"/>
          </p:cNvSpPr>
          <p:nvPr>
            <p:ph type="body" idx="1"/>
          </p:nvPr>
        </p:nvSpPr>
        <p:spPr>
          <a:xfrm>
            <a:off x="684213" y="981075"/>
            <a:ext cx="7848600" cy="5184775"/>
          </a:xfrm>
        </p:spPr>
        <p:txBody>
          <a:bodyPr/>
          <a:lstStyle/>
          <a:p>
            <a:pPr>
              <a:lnSpc>
                <a:spcPct val="90000"/>
              </a:lnSpc>
            </a:pPr>
            <a:r>
              <a:rPr lang="zh-CN" altLang="en-US" sz="2800" dirty="0"/>
              <a:t>主程序与子程序间一个主要问题是参数传递</a:t>
            </a:r>
          </a:p>
          <a:p>
            <a:pPr lvl="1">
              <a:lnSpc>
                <a:spcPct val="90000"/>
              </a:lnSpc>
            </a:pPr>
            <a:r>
              <a:rPr lang="zh-CN" altLang="en-US" sz="2400" dirty="0"/>
              <a:t>入口参数（输入参数） ：主程序调用子程序时，提供给子程序的参数</a:t>
            </a:r>
          </a:p>
          <a:p>
            <a:pPr lvl="1">
              <a:lnSpc>
                <a:spcPct val="90000"/>
              </a:lnSpc>
            </a:pPr>
            <a:r>
              <a:rPr lang="zh-CN" altLang="en-US" sz="2400" dirty="0"/>
              <a:t>出口参数（输出参数） ：子程序执行结束返回给主程序的参数</a:t>
            </a:r>
          </a:p>
          <a:p>
            <a:pPr>
              <a:lnSpc>
                <a:spcPct val="90000"/>
              </a:lnSpc>
            </a:pPr>
            <a:r>
              <a:rPr lang="zh-CN" altLang="en-US" sz="2800" dirty="0"/>
              <a:t>参数的具体内容</a:t>
            </a:r>
          </a:p>
          <a:p>
            <a:pPr lvl="1">
              <a:lnSpc>
                <a:spcPct val="90000"/>
              </a:lnSpc>
            </a:pPr>
            <a:r>
              <a:rPr lang="zh-CN" altLang="en-US" sz="2400" dirty="0"/>
              <a:t>传数值：传送数据本身</a:t>
            </a:r>
          </a:p>
          <a:p>
            <a:pPr lvl="1">
              <a:lnSpc>
                <a:spcPct val="90000"/>
              </a:lnSpc>
            </a:pPr>
            <a:r>
              <a:rPr lang="zh-CN" altLang="en-US" sz="2400" dirty="0"/>
              <a:t>传地址：传送数据的主存地址</a:t>
            </a:r>
          </a:p>
          <a:p>
            <a:pPr>
              <a:lnSpc>
                <a:spcPct val="90000"/>
              </a:lnSpc>
            </a:pPr>
            <a:r>
              <a:rPr lang="zh-CN" altLang="en-US" sz="2800" dirty="0"/>
              <a:t>常用的参数传递方法</a:t>
            </a:r>
          </a:p>
          <a:p>
            <a:pPr lvl="1">
              <a:lnSpc>
                <a:spcPct val="90000"/>
              </a:lnSpc>
            </a:pPr>
            <a:r>
              <a:rPr lang="zh-CN" altLang="en-US" sz="2400" dirty="0"/>
              <a:t>寄存器</a:t>
            </a:r>
          </a:p>
          <a:p>
            <a:pPr lvl="1">
              <a:lnSpc>
                <a:spcPct val="90000"/>
              </a:lnSpc>
            </a:pPr>
            <a:r>
              <a:rPr lang="zh-CN" altLang="en-US" sz="2400" dirty="0"/>
              <a:t>共享变量</a:t>
            </a:r>
          </a:p>
          <a:p>
            <a:pPr lvl="1">
              <a:lnSpc>
                <a:spcPct val="90000"/>
              </a:lnSpc>
            </a:pPr>
            <a:r>
              <a:rPr lang="zh-CN" altLang="en-US" sz="2400" dirty="0"/>
              <a:t>堆栈</a:t>
            </a:r>
          </a:p>
        </p:txBody>
      </p:sp>
    </p:spTree>
  </p:cSld>
  <p:clrMapOvr>
    <a:masterClrMapping/>
  </p:clrMapOvr>
  <p:transition>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5180DE42-FA1A-4B10-DE89-EF36CEA03987}"/>
              </a:ext>
            </a:extLst>
          </p:cNvPr>
          <p:cNvSpPr>
            <a:spLocks noGrp="1" noChangeArrowheads="1"/>
          </p:cNvSpPr>
          <p:nvPr>
            <p:ph type="title"/>
          </p:nvPr>
        </p:nvSpPr>
        <p:spPr/>
        <p:txBody>
          <a:bodyPr/>
          <a:lstStyle/>
          <a:p>
            <a:r>
              <a:rPr lang="en-US" altLang="zh-CN" dirty="0"/>
              <a:t>3.7 </a:t>
            </a:r>
            <a:r>
              <a:rPr lang="zh-CN" altLang="en-US" dirty="0"/>
              <a:t>基本指令</a:t>
            </a:r>
          </a:p>
        </p:txBody>
      </p:sp>
      <p:sp>
        <p:nvSpPr>
          <p:cNvPr id="56323" name="Rectangle 3">
            <a:extLst>
              <a:ext uri="{FF2B5EF4-FFF2-40B4-BE49-F238E27FC236}">
                <a16:creationId xmlns:a16="http://schemas.microsoft.com/office/drawing/2014/main" id="{20816A00-0244-4F63-9A8C-27C97CCEE10E}"/>
              </a:ext>
            </a:extLst>
          </p:cNvPr>
          <p:cNvSpPr>
            <a:spLocks noGrp="1" noChangeArrowheads="1"/>
          </p:cNvSpPr>
          <p:nvPr>
            <p:ph type="body" idx="1"/>
          </p:nvPr>
        </p:nvSpPr>
        <p:spPr>
          <a:xfrm>
            <a:off x="468313" y="981075"/>
            <a:ext cx="8229600" cy="3295650"/>
          </a:xfrm>
        </p:spPr>
        <p:txBody>
          <a:bodyPr/>
          <a:lstStyle/>
          <a:p>
            <a:r>
              <a:rPr lang="zh-CN" altLang="en-US" sz="2800" dirty="0">
                <a:latin typeface="宋体" panose="02010600030101010101" pitchFamily="2" charset="-122"/>
              </a:rPr>
              <a:t>数据传送类指令</a:t>
            </a:r>
            <a:endParaRPr lang="en-US" altLang="zh-CN" sz="2800" dirty="0">
              <a:latin typeface="宋体" panose="02010600030101010101" pitchFamily="2" charset="-122"/>
            </a:endParaRPr>
          </a:p>
          <a:p>
            <a:r>
              <a:rPr lang="zh-CN" altLang="en-US" sz="2800" dirty="0">
                <a:latin typeface="宋体" panose="02010600030101010101" pitchFamily="2" charset="-122"/>
              </a:rPr>
              <a:t>算术运算类指令</a:t>
            </a:r>
            <a:endParaRPr lang="en-US" altLang="zh-CN" sz="2800" dirty="0">
              <a:latin typeface="宋体" panose="02010600030101010101" pitchFamily="2" charset="-122"/>
            </a:endParaRPr>
          </a:p>
          <a:p>
            <a:r>
              <a:rPr lang="zh-CN" altLang="en-US" sz="2800" dirty="0">
                <a:latin typeface="宋体" panose="02010600030101010101" pitchFamily="2" charset="-122"/>
              </a:rPr>
              <a:t>位操作类指令</a:t>
            </a:r>
            <a:endParaRPr lang="en-US" altLang="zh-CN" sz="2800" dirty="0">
              <a:latin typeface="宋体" panose="02010600030101010101" pitchFamily="2" charset="-122"/>
            </a:endParaRPr>
          </a:p>
          <a:p>
            <a:r>
              <a:rPr lang="zh-CN" altLang="en-US" sz="2800" dirty="0">
                <a:latin typeface="宋体" panose="02010600030101010101" pitchFamily="2" charset="-122"/>
              </a:rPr>
              <a:t>控制转移类指令</a:t>
            </a:r>
            <a:endParaRPr lang="en-US" altLang="zh-CN" sz="2800" dirty="0">
              <a:latin typeface="宋体" panose="02010600030101010101" pitchFamily="2" charset="-122"/>
            </a:endParaRPr>
          </a:p>
          <a:p>
            <a:r>
              <a:rPr lang="zh-CN" altLang="en-US" sz="2800" dirty="0">
                <a:latin typeface="宋体" panose="02010600030101010101" pitchFamily="2" charset="-122"/>
              </a:rPr>
              <a:t>处理器控制类指令</a:t>
            </a:r>
            <a:endParaRPr lang="en-US" altLang="zh-CN" sz="2800" dirty="0">
              <a:latin typeface="宋体" panose="02010600030101010101" pitchFamily="2" charset="-122"/>
            </a:endParaRPr>
          </a:p>
          <a:p>
            <a:endParaRPr lang="en-US" altLang="zh-CN" dirty="0"/>
          </a:p>
        </p:txBody>
      </p:sp>
    </p:spTree>
  </p:cSld>
  <p:clrMapOvr>
    <a:masterClrMapping/>
  </p:clrMapOvr>
  <p:transition>
    <p:rand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5180DE42-FA1A-4B10-DE89-EF36CEA03987}"/>
              </a:ext>
            </a:extLst>
          </p:cNvPr>
          <p:cNvSpPr>
            <a:spLocks noGrp="1" noChangeArrowheads="1"/>
          </p:cNvSpPr>
          <p:nvPr>
            <p:ph type="title"/>
          </p:nvPr>
        </p:nvSpPr>
        <p:spPr/>
        <p:txBody>
          <a:bodyPr/>
          <a:lstStyle/>
          <a:p>
            <a:r>
              <a:rPr lang="en-US" altLang="zh-CN" dirty="0"/>
              <a:t>3.7.1 </a:t>
            </a:r>
            <a:r>
              <a:rPr lang="zh-CN" altLang="en-US" dirty="0"/>
              <a:t>数据传送类指令</a:t>
            </a:r>
          </a:p>
        </p:txBody>
      </p:sp>
      <p:sp>
        <p:nvSpPr>
          <p:cNvPr id="56323" name="Rectangle 3">
            <a:extLst>
              <a:ext uri="{FF2B5EF4-FFF2-40B4-BE49-F238E27FC236}">
                <a16:creationId xmlns:a16="http://schemas.microsoft.com/office/drawing/2014/main" id="{20816A00-0244-4F63-9A8C-27C97CCEE10E}"/>
              </a:ext>
            </a:extLst>
          </p:cNvPr>
          <p:cNvSpPr>
            <a:spLocks noGrp="1" noChangeArrowheads="1"/>
          </p:cNvSpPr>
          <p:nvPr>
            <p:ph type="body" idx="1"/>
          </p:nvPr>
        </p:nvSpPr>
        <p:spPr>
          <a:xfrm>
            <a:off x="468313" y="981075"/>
            <a:ext cx="8229600" cy="3295650"/>
          </a:xfrm>
        </p:spPr>
        <p:txBody>
          <a:bodyPr/>
          <a:lstStyle/>
          <a:p>
            <a:r>
              <a:rPr lang="zh-CN" altLang="en-US" sz="2800" dirty="0">
                <a:latin typeface="宋体" panose="02010600030101010101" pitchFamily="2" charset="-122"/>
              </a:rPr>
              <a:t>数据传送是计算机中最基本、最重要的一种操作</a:t>
            </a:r>
            <a:r>
              <a:rPr lang="en-US" altLang="zh-CN" sz="2800" dirty="0">
                <a:latin typeface="宋体" panose="02010600030101010101" pitchFamily="2" charset="-122"/>
              </a:rPr>
              <a:t>,</a:t>
            </a:r>
            <a:r>
              <a:rPr lang="zh-CN" altLang="en-US" sz="2800" dirty="0">
                <a:latin typeface="宋体" panose="02010600030101010101" pitchFamily="2" charset="-122"/>
              </a:rPr>
              <a:t>传送指令也是最常使用的一类指令</a:t>
            </a:r>
          </a:p>
          <a:p>
            <a:r>
              <a:rPr lang="zh-CN" altLang="en-US" sz="2800" dirty="0">
                <a:latin typeface="宋体" panose="02010600030101010101" pitchFamily="2" charset="-122"/>
              </a:rPr>
              <a:t>传送指令把数据从一个位置传送到另一个位置</a:t>
            </a:r>
          </a:p>
          <a:p>
            <a:r>
              <a:rPr lang="zh-CN" altLang="en-US" sz="2800" dirty="0">
                <a:latin typeface="宋体" panose="02010600030101010101" pitchFamily="2" charset="-122"/>
              </a:rPr>
              <a:t>除标志寄存器传送指令外，均不影响标志位</a:t>
            </a:r>
            <a:endParaRPr lang="zh-CN" altLang="en-US" sz="2800" dirty="0"/>
          </a:p>
          <a:p>
            <a:pPr>
              <a:lnSpc>
                <a:spcPct val="130000"/>
              </a:lnSpc>
            </a:pPr>
            <a:r>
              <a:rPr lang="zh-CN" altLang="en-US" sz="2800" dirty="0">
                <a:solidFill>
                  <a:schemeClr val="tx1"/>
                </a:solidFill>
              </a:rPr>
              <a:t>重点掌握</a:t>
            </a:r>
          </a:p>
          <a:p>
            <a:pPr lvl="1">
              <a:lnSpc>
                <a:spcPct val="130000"/>
              </a:lnSpc>
              <a:buFontTx/>
              <a:buNone/>
            </a:pPr>
            <a:r>
              <a:rPr lang="en-US" altLang="zh-CN" sz="2400" dirty="0">
                <a:solidFill>
                  <a:srgbClr val="339933"/>
                </a:solidFill>
              </a:rPr>
              <a:t>MOV  XCHG  XLAT  PUSH  POP  LEA</a:t>
            </a:r>
          </a:p>
          <a:p>
            <a:pPr lvl="1">
              <a:lnSpc>
                <a:spcPct val="130000"/>
              </a:lnSpc>
              <a:buFontTx/>
              <a:buNone/>
            </a:pPr>
            <a:r>
              <a:rPr lang="en-US" altLang="zh-CN" sz="2400" dirty="0">
                <a:solidFill>
                  <a:srgbClr val="339933"/>
                </a:solidFill>
                <a:highlight>
                  <a:srgbClr val="FFFF00"/>
                </a:highlight>
              </a:rPr>
              <a:t>IN OUT</a:t>
            </a:r>
            <a:endParaRPr lang="en-US" altLang="zh-CN" dirty="0">
              <a:highlight>
                <a:srgbClr val="FFFF00"/>
              </a:highlight>
            </a:endParaRPr>
          </a:p>
        </p:txBody>
      </p:sp>
    </p:spTree>
  </p:cSld>
  <p:clrMapOvr>
    <a:masterClrMapping/>
  </p:clrMapOvr>
  <p:transition>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32D9DD47-B9C6-CBA6-5913-676EFA868DA0}"/>
              </a:ext>
            </a:extLst>
          </p:cNvPr>
          <p:cNvSpPr>
            <a:spLocks noGrp="1" noChangeArrowheads="1"/>
          </p:cNvSpPr>
          <p:nvPr>
            <p:ph type="title"/>
          </p:nvPr>
        </p:nvSpPr>
        <p:spPr/>
        <p:txBody>
          <a:bodyPr/>
          <a:lstStyle/>
          <a:p>
            <a:r>
              <a:rPr lang="en-US" altLang="zh-CN"/>
              <a:t>1. </a:t>
            </a:r>
            <a:r>
              <a:rPr lang="zh-CN" altLang="en-US"/>
              <a:t>传送指令</a:t>
            </a:r>
            <a:r>
              <a:rPr lang="en-US" altLang="zh-CN"/>
              <a:t>MOV</a:t>
            </a:r>
            <a:r>
              <a:rPr lang="zh-CN" altLang="en-US"/>
              <a:t>（</a:t>
            </a:r>
            <a:r>
              <a:rPr lang="en-US" altLang="zh-CN"/>
              <a:t>move</a:t>
            </a:r>
            <a:r>
              <a:rPr lang="zh-CN" altLang="en-US"/>
              <a:t>）</a:t>
            </a:r>
            <a:endParaRPr lang="zh-CN" altLang="en-US" sz="2000" b="0">
              <a:solidFill>
                <a:schemeClr val="tx1"/>
              </a:solidFill>
            </a:endParaRPr>
          </a:p>
        </p:txBody>
      </p:sp>
      <p:sp>
        <p:nvSpPr>
          <p:cNvPr id="58372" name="Rectangle 4">
            <a:extLst>
              <a:ext uri="{FF2B5EF4-FFF2-40B4-BE49-F238E27FC236}">
                <a16:creationId xmlns:a16="http://schemas.microsoft.com/office/drawing/2014/main" id="{23C85724-C0AD-0EF9-FD84-2B9ED74F1256}"/>
              </a:ext>
            </a:extLst>
          </p:cNvPr>
          <p:cNvSpPr>
            <a:spLocks noGrp="1" noChangeArrowheads="1"/>
          </p:cNvSpPr>
          <p:nvPr>
            <p:ph type="body" idx="1"/>
          </p:nvPr>
        </p:nvSpPr>
        <p:spPr>
          <a:xfrm>
            <a:off x="684213" y="1174750"/>
            <a:ext cx="7391400" cy="1143000"/>
          </a:xfrm>
          <a:noFill/>
          <a:ln/>
        </p:spPr>
        <p:txBody>
          <a:bodyPr/>
          <a:lstStyle/>
          <a:p>
            <a:r>
              <a:rPr lang="zh-CN" altLang="en-US">
                <a:solidFill>
                  <a:srgbClr val="339933"/>
                </a:solidFill>
              </a:rPr>
              <a:t>把一个字节或字的操作数从源地址传送至目的地址</a:t>
            </a:r>
          </a:p>
        </p:txBody>
      </p:sp>
      <p:sp>
        <p:nvSpPr>
          <p:cNvPr id="58373" name="AutoShape 5">
            <a:extLst>
              <a:ext uri="{FF2B5EF4-FFF2-40B4-BE49-F238E27FC236}">
                <a16:creationId xmlns:a16="http://schemas.microsoft.com/office/drawing/2014/main" id="{0ACDF2F7-F9E0-4FB2-8164-089975CBAA28}"/>
              </a:ext>
            </a:extLst>
          </p:cNvPr>
          <p:cNvSpPr>
            <a:spLocks noChangeArrowheads="1"/>
          </p:cNvSpPr>
          <p:nvPr/>
        </p:nvSpPr>
        <p:spPr bwMode="auto">
          <a:xfrm>
            <a:off x="1330325" y="2466975"/>
            <a:ext cx="5827713" cy="1108075"/>
          </a:xfrm>
          <a:prstGeom prst="flowChartAlternateProcess">
            <a:avLst/>
          </a:prstGeom>
          <a:blipFill dpi="0" rotWithShape="0">
            <a:blip r:embed="rId2"/>
            <a:srcRect/>
            <a:stretch>
              <a:fillRect/>
            </a:stretch>
          </a:blipFill>
          <a:ln>
            <a:noFill/>
          </a:ln>
          <a:effectLst>
            <a:prstShdw prst="shdw13" dist="53882" dir="13500000">
              <a:srgbClr val="808080"/>
            </a:prstShdw>
          </a:effectLst>
          <a:extLst>
            <a:ext uri="{91240B29-F687-4F45-9708-019B960494DF}">
              <a14:hiddenLine xmlns:a14="http://schemas.microsoft.com/office/drawing/2010/main" w="12700" cap="sq">
                <a:solidFill>
                  <a:srgbClr val="808000"/>
                </a:solidFill>
                <a:miter lim="800000"/>
                <a:headEnd type="none" w="sm" len="sm"/>
                <a:tailEnd type="none" w="sm" len="sm"/>
              </a14:hiddenLine>
            </a:ext>
          </a:extLst>
        </p:spPr>
        <p:txBody>
          <a:bodyPr>
            <a:spAutoFit/>
          </a:bodyPr>
          <a:lstStyle>
            <a:lvl1pPr>
              <a:tabLst>
                <a:tab pos="3141663" algn="l"/>
              </a:tabLst>
              <a:defRPr>
                <a:solidFill>
                  <a:schemeClr val="tx1"/>
                </a:solidFill>
                <a:latin typeface="Arial" panose="020B0604020202020204" pitchFamily="34" charset="0"/>
                <a:ea typeface="宋体" panose="02010600030101010101" pitchFamily="2" charset="-122"/>
              </a:defRPr>
            </a:lvl1pPr>
            <a:lvl2pPr>
              <a:tabLst>
                <a:tab pos="3141663" algn="l"/>
              </a:tabLst>
              <a:defRPr>
                <a:solidFill>
                  <a:schemeClr val="tx1"/>
                </a:solidFill>
                <a:latin typeface="Arial" panose="020B0604020202020204" pitchFamily="34" charset="0"/>
                <a:ea typeface="宋体" panose="02010600030101010101" pitchFamily="2" charset="-122"/>
              </a:defRPr>
            </a:lvl2pPr>
            <a:lvl3pPr>
              <a:tabLst>
                <a:tab pos="3141663" algn="l"/>
              </a:tabLst>
              <a:defRPr>
                <a:solidFill>
                  <a:schemeClr val="tx1"/>
                </a:solidFill>
                <a:latin typeface="Arial" panose="020B0604020202020204" pitchFamily="34" charset="0"/>
                <a:ea typeface="宋体" panose="02010600030101010101" pitchFamily="2" charset="-122"/>
              </a:defRPr>
            </a:lvl3pPr>
            <a:lvl4pPr>
              <a:tabLst>
                <a:tab pos="3141663" algn="l"/>
              </a:tabLst>
              <a:defRPr>
                <a:solidFill>
                  <a:schemeClr val="tx1"/>
                </a:solidFill>
                <a:latin typeface="Arial" panose="020B0604020202020204" pitchFamily="34" charset="0"/>
                <a:ea typeface="宋体" panose="02010600030101010101" pitchFamily="2" charset="-122"/>
              </a:defRPr>
            </a:lvl4pPr>
            <a:lvl5pPr>
              <a:tabLst>
                <a:tab pos="3141663"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3141663"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3141663"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3141663"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3141663" algn="l"/>
              </a:tabLs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800" b="1">
                <a:solidFill>
                  <a:srgbClr val="3366FF"/>
                </a:solidFill>
                <a:effectLst/>
                <a:latin typeface="宋体" panose="02010600030101010101" pitchFamily="2" charset="-122"/>
              </a:rPr>
              <a:t>MOV reg/mem,imm</a:t>
            </a:r>
          </a:p>
          <a:p>
            <a:pPr algn="r">
              <a:spcBef>
                <a:spcPct val="20000"/>
              </a:spcBef>
            </a:pPr>
            <a:r>
              <a:rPr lang="zh-CN" altLang="en-US" sz="2800" b="1">
                <a:solidFill>
                  <a:schemeClr val="accent2"/>
                </a:solidFill>
                <a:effectLst/>
                <a:latin typeface="宋体" panose="02010600030101010101" pitchFamily="2" charset="-122"/>
              </a:rPr>
              <a:t>；立即数送寄存器或主存</a:t>
            </a:r>
          </a:p>
        </p:txBody>
      </p:sp>
      <p:sp>
        <p:nvSpPr>
          <p:cNvPr id="58375" name="AutoShape 7">
            <a:extLst>
              <a:ext uri="{FF2B5EF4-FFF2-40B4-BE49-F238E27FC236}">
                <a16:creationId xmlns:a16="http://schemas.microsoft.com/office/drawing/2014/main" id="{1B66AAD9-5C75-8851-D6DB-B7367C4EBB89}"/>
              </a:ext>
            </a:extLst>
          </p:cNvPr>
          <p:cNvSpPr>
            <a:spLocks noChangeArrowheads="1"/>
          </p:cNvSpPr>
          <p:nvPr/>
        </p:nvSpPr>
        <p:spPr bwMode="auto">
          <a:xfrm>
            <a:off x="1328738" y="3160713"/>
            <a:ext cx="5830887" cy="1108075"/>
          </a:xfrm>
          <a:prstGeom prst="flowChartAlternateProcess">
            <a:avLst/>
          </a:prstGeom>
          <a:blipFill dpi="0" rotWithShape="0">
            <a:blip r:embed="rId2"/>
            <a:srcRect/>
            <a:stretch>
              <a:fillRect/>
            </a:stretch>
          </a:blipFill>
          <a:ln>
            <a:noFill/>
          </a:ln>
          <a:effectLst>
            <a:prstShdw prst="shdw13" dist="53882" dir="13500000">
              <a:srgbClr val="808080"/>
            </a:prstShdw>
          </a:effectLst>
          <a:extLst>
            <a:ext uri="{91240B29-F687-4F45-9708-019B960494DF}">
              <a14:hiddenLine xmlns:a14="http://schemas.microsoft.com/office/drawing/2010/main" w="12700" cap="sq">
                <a:solidFill>
                  <a:srgbClr val="808000"/>
                </a:solidFill>
                <a:miter lim="800000"/>
                <a:headEnd type="none" w="sm" len="sm"/>
                <a:tailEnd type="none" w="sm" len="sm"/>
              </a14:hiddenLine>
            </a:ext>
          </a:extLst>
        </p:spPr>
        <p:txBody>
          <a:bodyPr>
            <a:spAutoFit/>
          </a:bodyPr>
          <a:lstStyle>
            <a:lvl1pPr>
              <a:tabLst>
                <a:tab pos="3141663" algn="l"/>
              </a:tabLst>
              <a:defRPr>
                <a:solidFill>
                  <a:schemeClr val="tx1"/>
                </a:solidFill>
                <a:latin typeface="Arial" panose="020B0604020202020204" pitchFamily="34" charset="0"/>
                <a:ea typeface="宋体" panose="02010600030101010101" pitchFamily="2" charset="-122"/>
              </a:defRPr>
            </a:lvl1pPr>
            <a:lvl2pPr>
              <a:tabLst>
                <a:tab pos="3141663" algn="l"/>
              </a:tabLst>
              <a:defRPr>
                <a:solidFill>
                  <a:schemeClr val="tx1"/>
                </a:solidFill>
                <a:latin typeface="Arial" panose="020B0604020202020204" pitchFamily="34" charset="0"/>
                <a:ea typeface="宋体" panose="02010600030101010101" pitchFamily="2" charset="-122"/>
              </a:defRPr>
            </a:lvl2pPr>
            <a:lvl3pPr>
              <a:tabLst>
                <a:tab pos="3141663" algn="l"/>
              </a:tabLst>
              <a:defRPr>
                <a:solidFill>
                  <a:schemeClr val="tx1"/>
                </a:solidFill>
                <a:latin typeface="Arial" panose="020B0604020202020204" pitchFamily="34" charset="0"/>
                <a:ea typeface="宋体" panose="02010600030101010101" pitchFamily="2" charset="-122"/>
              </a:defRPr>
            </a:lvl3pPr>
            <a:lvl4pPr>
              <a:tabLst>
                <a:tab pos="3141663" algn="l"/>
              </a:tabLst>
              <a:defRPr>
                <a:solidFill>
                  <a:schemeClr val="tx1"/>
                </a:solidFill>
                <a:latin typeface="Arial" panose="020B0604020202020204" pitchFamily="34" charset="0"/>
                <a:ea typeface="宋体" panose="02010600030101010101" pitchFamily="2" charset="-122"/>
              </a:defRPr>
            </a:lvl4pPr>
            <a:lvl5pPr>
              <a:tabLst>
                <a:tab pos="3141663"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3141663"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3141663"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3141663"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3141663" algn="l"/>
              </a:tabLs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800" b="1" dirty="0">
                <a:solidFill>
                  <a:srgbClr val="3366FF"/>
                </a:solidFill>
                <a:effectLst/>
                <a:latin typeface="宋体" panose="02010600030101010101" pitchFamily="2" charset="-122"/>
              </a:rPr>
              <a:t>MOV reg/mem/</a:t>
            </a:r>
            <a:r>
              <a:rPr lang="en-US" altLang="zh-CN" sz="2800" b="1" dirty="0" err="1">
                <a:solidFill>
                  <a:srgbClr val="3366FF"/>
                </a:solidFill>
                <a:effectLst/>
                <a:latin typeface="宋体" panose="02010600030101010101" pitchFamily="2" charset="-122"/>
              </a:rPr>
              <a:t>seg,reg</a:t>
            </a:r>
            <a:endParaRPr lang="en-US" altLang="zh-CN" sz="2800" b="1" dirty="0">
              <a:solidFill>
                <a:srgbClr val="3366FF"/>
              </a:solidFill>
              <a:effectLst/>
              <a:latin typeface="宋体" panose="02010600030101010101" pitchFamily="2" charset="-122"/>
            </a:endParaRPr>
          </a:p>
          <a:p>
            <a:pPr algn="r">
              <a:spcBef>
                <a:spcPct val="20000"/>
              </a:spcBef>
            </a:pPr>
            <a:r>
              <a:rPr lang="zh-CN" altLang="en-US" sz="2800" b="1" dirty="0">
                <a:solidFill>
                  <a:schemeClr val="accent2"/>
                </a:solidFill>
                <a:effectLst/>
                <a:latin typeface="宋体" panose="02010600030101010101" pitchFamily="2" charset="-122"/>
              </a:rPr>
              <a:t>；寄存器送（段）寄存器或主存</a:t>
            </a:r>
          </a:p>
        </p:txBody>
      </p:sp>
      <p:sp>
        <p:nvSpPr>
          <p:cNvPr id="58376" name="AutoShape 8">
            <a:extLst>
              <a:ext uri="{FF2B5EF4-FFF2-40B4-BE49-F238E27FC236}">
                <a16:creationId xmlns:a16="http://schemas.microsoft.com/office/drawing/2014/main" id="{81723B0D-ECC0-FFB8-0004-9B46B4E3A33C}"/>
              </a:ext>
            </a:extLst>
          </p:cNvPr>
          <p:cNvSpPr>
            <a:spLocks noChangeArrowheads="1"/>
          </p:cNvSpPr>
          <p:nvPr/>
        </p:nvSpPr>
        <p:spPr bwMode="auto">
          <a:xfrm>
            <a:off x="1327150" y="3862388"/>
            <a:ext cx="5834063" cy="1108075"/>
          </a:xfrm>
          <a:prstGeom prst="flowChartAlternateProcess">
            <a:avLst/>
          </a:prstGeom>
          <a:blipFill dpi="0" rotWithShape="0">
            <a:blip r:embed="rId2"/>
            <a:srcRect/>
            <a:stretch>
              <a:fillRect/>
            </a:stretch>
          </a:blipFill>
          <a:ln>
            <a:noFill/>
          </a:ln>
          <a:effectLst>
            <a:prstShdw prst="shdw13" dist="53882" dir="13500000">
              <a:srgbClr val="808080"/>
            </a:prstShdw>
          </a:effectLst>
          <a:extLst>
            <a:ext uri="{91240B29-F687-4F45-9708-019B960494DF}">
              <a14:hiddenLine xmlns:a14="http://schemas.microsoft.com/office/drawing/2010/main" w="12700" cap="sq">
                <a:solidFill>
                  <a:srgbClr val="808000"/>
                </a:solidFill>
                <a:miter lim="800000"/>
                <a:headEnd type="none" w="sm" len="sm"/>
                <a:tailEnd type="none" w="sm" len="sm"/>
              </a14:hiddenLine>
            </a:ext>
          </a:extLst>
        </p:spPr>
        <p:txBody>
          <a:bodyPr>
            <a:spAutoFit/>
          </a:bodyPr>
          <a:lstStyle>
            <a:lvl1pPr>
              <a:tabLst>
                <a:tab pos="3141663" algn="l"/>
              </a:tabLst>
              <a:defRPr>
                <a:solidFill>
                  <a:schemeClr val="tx1"/>
                </a:solidFill>
                <a:latin typeface="Arial" panose="020B0604020202020204" pitchFamily="34" charset="0"/>
                <a:ea typeface="宋体" panose="02010600030101010101" pitchFamily="2" charset="-122"/>
              </a:defRPr>
            </a:lvl1pPr>
            <a:lvl2pPr>
              <a:tabLst>
                <a:tab pos="3141663" algn="l"/>
              </a:tabLst>
              <a:defRPr>
                <a:solidFill>
                  <a:schemeClr val="tx1"/>
                </a:solidFill>
                <a:latin typeface="Arial" panose="020B0604020202020204" pitchFamily="34" charset="0"/>
                <a:ea typeface="宋体" panose="02010600030101010101" pitchFamily="2" charset="-122"/>
              </a:defRPr>
            </a:lvl2pPr>
            <a:lvl3pPr>
              <a:tabLst>
                <a:tab pos="3141663" algn="l"/>
              </a:tabLst>
              <a:defRPr>
                <a:solidFill>
                  <a:schemeClr val="tx1"/>
                </a:solidFill>
                <a:latin typeface="Arial" panose="020B0604020202020204" pitchFamily="34" charset="0"/>
                <a:ea typeface="宋体" panose="02010600030101010101" pitchFamily="2" charset="-122"/>
              </a:defRPr>
            </a:lvl3pPr>
            <a:lvl4pPr>
              <a:tabLst>
                <a:tab pos="3141663" algn="l"/>
              </a:tabLst>
              <a:defRPr>
                <a:solidFill>
                  <a:schemeClr val="tx1"/>
                </a:solidFill>
                <a:latin typeface="Arial" panose="020B0604020202020204" pitchFamily="34" charset="0"/>
                <a:ea typeface="宋体" panose="02010600030101010101" pitchFamily="2" charset="-122"/>
              </a:defRPr>
            </a:lvl4pPr>
            <a:lvl5pPr>
              <a:tabLst>
                <a:tab pos="3141663"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3141663"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3141663"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3141663"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3141663" algn="l"/>
              </a:tabLs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800" b="1">
                <a:solidFill>
                  <a:srgbClr val="3366FF"/>
                </a:solidFill>
                <a:effectLst/>
                <a:latin typeface="宋体" panose="02010600030101010101" pitchFamily="2" charset="-122"/>
              </a:rPr>
              <a:t>MOV reg/seg,mem</a:t>
            </a:r>
          </a:p>
          <a:p>
            <a:pPr algn="r">
              <a:spcBef>
                <a:spcPct val="20000"/>
              </a:spcBef>
            </a:pPr>
            <a:r>
              <a:rPr lang="zh-CN" altLang="en-US" sz="2800" b="1">
                <a:solidFill>
                  <a:schemeClr val="accent2"/>
                </a:solidFill>
                <a:effectLst/>
                <a:latin typeface="宋体" panose="02010600030101010101" pitchFamily="2" charset="-122"/>
              </a:rPr>
              <a:t>；主存送（段）寄存器</a:t>
            </a:r>
          </a:p>
        </p:txBody>
      </p:sp>
      <p:sp>
        <p:nvSpPr>
          <p:cNvPr id="58377" name="AutoShape 9">
            <a:extLst>
              <a:ext uri="{FF2B5EF4-FFF2-40B4-BE49-F238E27FC236}">
                <a16:creationId xmlns:a16="http://schemas.microsoft.com/office/drawing/2014/main" id="{BF2D6163-756C-043A-2D1A-F814138F9891}"/>
              </a:ext>
            </a:extLst>
          </p:cNvPr>
          <p:cNvSpPr>
            <a:spLocks noChangeArrowheads="1"/>
          </p:cNvSpPr>
          <p:nvPr/>
        </p:nvSpPr>
        <p:spPr bwMode="auto">
          <a:xfrm>
            <a:off x="1327150" y="4548188"/>
            <a:ext cx="5834063" cy="1108075"/>
          </a:xfrm>
          <a:prstGeom prst="flowChartAlternateProcess">
            <a:avLst/>
          </a:prstGeom>
          <a:blipFill dpi="0" rotWithShape="0">
            <a:blip r:embed="rId2"/>
            <a:srcRect/>
            <a:stretch>
              <a:fillRect/>
            </a:stretch>
          </a:blipFill>
          <a:ln>
            <a:noFill/>
          </a:ln>
          <a:effectLst>
            <a:prstShdw prst="shdw13" dist="53882" dir="13500000">
              <a:srgbClr val="808080"/>
            </a:prstShdw>
          </a:effectLst>
          <a:extLst>
            <a:ext uri="{91240B29-F687-4F45-9708-019B960494DF}">
              <a14:hiddenLine xmlns:a14="http://schemas.microsoft.com/office/drawing/2010/main" w="12700" cap="sq">
                <a:solidFill>
                  <a:srgbClr val="808000"/>
                </a:solidFill>
                <a:miter lim="800000"/>
                <a:headEnd type="none" w="sm" len="sm"/>
                <a:tailEnd type="none" w="sm" len="sm"/>
              </a14:hiddenLine>
            </a:ext>
          </a:extLst>
        </p:spPr>
        <p:txBody>
          <a:bodyPr>
            <a:spAutoFit/>
          </a:bodyPr>
          <a:lstStyle>
            <a:lvl1pPr>
              <a:tabLst>
                <a:tab pos="3141663" algn="l"/>
              </a:tabLst>
              <a:defRPr>
                <a:solidFill>
                  <a:schemeClr val="tx1"/>
                </a:solidFill>
                <a:latin typeface="Arial" panose="020B0604020202020204" pitchFamily="34" charset="0"/>
                <a:ea typeface="宋体" panose="02010600030101010101" pitchFamily="2" charset="-122"/>
              </a:defRPr>
            </a:lvl1pPr>
            <a:lvl2pPr>
              <a:tabLst>
                <a:tab pos="3141663" algn="l"/>
              </a:tabLst>
              <a:defRPr>
                <a:solidFill>
                  <a:schemeClr val="tx1"/>
                </a:solidFill>
                <a:latin typeface="Arial" panose="020B0604020202020204" pitchFamily="34" charset="0"/>
                <a:ea typeface="宋体" panose="02010600030101010101" pitchFamily="2" charset="-122"/>
              </a:defRPr>
            </a:lvl2pPr>
            <a:lvl3pPr>
              <a:tabLst>
                <a:tab pos="3141663" algn="l"/>
              </a:tabLst>
              <a:defRPr>
                <a:solidFill>
                  <a:schemeClr val="tx1"/>
                </a:solidFill>
                <a:latin typeface="Arial" panose="020B0604020202020204" pitchFamily="34" charset="0"/>
                <a:ea typeface="宋体" panose="02010600030101010101" pitchFamily="2" charset="-122"/>
              </a:defRPr>
            </a:lvl3pPr>
            <a:lvl4pPr>
              <a:tabLst>
                <a:tab pos="3141663" algn="l"/>
              </a:tabLst>
              <a:defRPr>
                <a:solidFill>
                  <a:schemeClr val="tx1"/>
                </a:solidFill>
                <a:latin typeface="Arial" panose="020B0604020202020204" pitchFamily="34" charset="0"/>
                <a:ea typeface="宋体" panose="02010600030101010101" pitchFamily="2" charset="-122"/>
              </a:defRPr>
            </a:lvl4pPr>
            <a:lvl5pPr>
              <a:tabLst>
                <a:tab pos="3141663"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3141663"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3141663"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3141663"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3141663" algn="l"/>
              </a:tabLs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800" b="1">
                <a:solidFill>
                  <a:srgbClr val="3366FF"/>
                </a:solidFill>
                <a:effectLst/>
                <a:latin typeface="宋体" panose="02010600030101010101" pitchFamily="2" charset="-122"/>
              </a:rPr>
              <a:t>MOV reg/mem,seg</a:t>
            </a:r>
          </a:p>
          <a:p>
            <a:pPr algn="r">
              <a:spcBef>
                <a:spcPct val="20000"/>
              </a:spcBef>
            </a:pPr>
            <a:r>
              <a:rPr lang="zh-CN" altLang="en-US" sz="2800" b="1">
                <a:solidFill>
                  <a:schemeClr val="accent2"/>
                </a:solidFill>
                <a:effectLst/>
                <a:latin typeface="宋体" panose="02010600030101010101" pitchFamily="2" charset="-122"/>
              </a:rPr>
              <a:t>；段寄存器送寄存器或主存</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37" fill="hold" nodeType="clickEffect">
                                  <p:stCondLst>
                                    <p:cond delay="0"/>
                                  </p:stCondLst>
                                  <p:childTnLst>
                                    <p:set>
                                      <p:cBhvr>
                                        <p:cTn id="6" dur="1" fill="hold">
                                          <p:stCondLst>
                                            <p:cond delay="0"/>
                                          </p:stCondLst>
                                        </p:cTn>
                                        <p:tgtEl>
                                          <p:spTgt spid="58373"/>
                                        </p:tgtEl>
                                        <p:attrNameLst>
                                          <p:attrName>style.visibility</p:attrName>
                                        </p:attrNameLst>
                                      </p:cBhvr>
                                      <p:to>
                                        <p:strVal val="visible"/>
                                      </p:to>
                                    </p:set>
                                    <p:animEffect transition="in" filter="barn(outVertical)">
                                      <p:cBhvr>
                                        <p:cTn id="7" dur="500"/>
                                        <p:tgtEl>
                                          <p:spTgt spid="5837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37" fill="hold" nodeType="clickEffect">
                                  <p:stCondLst>
                                    <p:cond delay="0"/>
                                  </p:stCondLst>
                                  <p:childTnLst>
                                    <p:set>
                                      <p:cBhvr>
                                        <p:cTn id="11" dur="1" fill="hold">
                                          <p:stCondLst>
                                            <p:cond delay="0"/>
                                          </p:stCondLst>
                                        </p:cTn>
                                        <p:tgtEl>
                                          <p:spTgt spid="58375"/>
                                        </p:tgtEl>
                                        <p:attrNameLst>
                                          <p:attrName>style.visibility</p:attrName>
                                        </p:attrNameLst>
                                      </p:cBhvr>
                                      <p:to>
                                        <p:strVal val="visible"/>
                                      </p:to>
                                    </p:set>
                                    <p:animEffect transition="in" filter="barn(outVertical)">
                                      <p:cBhvr>
                                        <p:cTn id="12" dur="500"/>
                                        <p:tgtEl>
                                          <p:spTgt spid="5837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37" fill="hold" nodeType="clickEffect">
                                  <p:stCondLst>
                                    <p:cond delay="0"/>
                                  </p:stCondLst>
                                  <p:childTnLst>
                                    <p:set>
                                      <p:cBhvr>
                                        <p:cTn id="16" dur="1" fill="hold">
                                          <p:stCondLst>
                                            <p:cond delay="0"/>
                                          </p:stCondLst>
                                        </p:cTn>
                                        <p:tgtEl>
                                          <p:spTgt spid="58376"/>
                                        </p:tgtEl>
                                        <p:attrNameLst>
                                          <p:attrName>style.visibility</p:attrName>
                                        </p:attrNameLst>
                                      </p:cBhvr>
                                      <p:to>
                                        <p:strVal val="visible"/>
                                      </p:to>
                                    </p:set>
                                    <p:animEffect transition="in" filter="barn(outVertical)">
                                      <p:cBhvr>
                                        <p:cTn id="17" dur="500"/>
                                        <p:tgtEl>
                                          <p:spTgt spid="5837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37" fill="hold" nodeType="clickEffect">
                                  <p:stCondLst>
                                    <p:cond delay="0"/>
                                  </p:stCondLst>
                                  <p:childTnLst>
                                    <p:set>
                                      <p:cBhvr>
                                        <p:cTn id="21" dur="1" fill="hold">
                                          <p:stCondLst>
                                            <p:cond delay="0"/>
                                          </p:stCondLst>
                                        </p:cTn>
                                        <p:tgtEl>
                                          <p:spTgt spid="58377"/>
                                        </p:tgtEl>
                                        <p:attrNameLst>
                                          <p:attrName>style.visibility</p:attrName>
                                        </p:attrNameLst>
                                      </p:cBhvr>
                                      <p:to>
                                        <p:strVal val="visible"/>
                                      </p:to>
                                    </p:set>
                                    <p:animEffect transition="in" filter="barn(outVertical)">
                                      <p:cBhvr>
                                        <p:cTn id="22" dur="500"/>
                                        <p:tgtEl>
                                          <p:spTgt spid="583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3" grpId="0" animBg="1" autoUpdateAnimBg="0"/>
      <p:bldP spid="58375" grpId="0" animBg="1" autoUpdateAnimBg="0"/>
      <p:bldP spid="58376" grpId="0" animBg="1" autoUpdateAnimBg="0"/>
      <p:bldP spid="58377" grpId="0" animBg="1"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23E2D6B4-6205-3995-9F03-CF31AE33C7F3}"/>
              </a:ext>
            </a:extLst>
          </p:cNvPr>
          <p:cNvSpPr>
            <a:spLocks noGrp="1" noChangeArrowheads="1"/>
          </p:cNvSpPr>
          <p:nvPr>
            <p:ph type="title"/>
          </p:nvPr>
        </p:nvSpPr>
        <p:spPr/>
        <p:txBody>
          <a:bodyPr/>
          <a:lstStyle/>
          <a:p>
            <a:r>
              <a:rPr lang="en-US" altLang="zh-CN"/>
              <a:t>MOV</a:t>
            </a:r>
            <a:r>
              <a:rPr lang="zh-CN" altLang="en-US"/>
              <a:t>指令－－立即数传送</a:t>
            </a:r>
          </a:p>
        </p:txBody>
      </p:sp>
      <p:sp>
        <p:nvSpPr>
          <p:cNvPr id="6147" name="Rectangle 3">
            <a:extLst>
              <a:ext uri="{FF2B5EF4-FFF2-40B4-BE49-F238E27FC236}">
                <a16:creationId xmlns:a16="http://schemas.microsoft.com/office/drawing/2014/main" id="{A67EFEDE-4798-FF92-568F-706427B86B54}"/>
              </a:ext>
            </a:extLst>
          </p:cNvPr>
          <p:cNvSpPr>
            <a:spLocks noGrp="1" noChangeArrowheads="1"/>
          </p:cNvSpPr>
          <p:nvPr>
            <p:ph idx="1"/>
          </p:nvPr>
        </p:nvSpPr>
        <p:spPr>
          <a:xfrm>
            <a:off x="455613" y="1417638"/>
            <a:ext cx="8121650" cy="3744912"/>
          </a:xfrm>
        </p:spPr>
        <p:txBody>
          <a:bodyPr/>
          <a:lstStyle/>
          <a:p>
            <a:pPr>
              <a:buSzPct val="90000"/>
              <a:buFont typeface="Wingdings" panose="05000000000000000000" pitchFamily="2" charset="2"/>
              <a:buNone/>
            </a:pPr>
            <a:r>
              <a:rPr kumimoji="1" lang="en-US" altLang="zh-CN" sz="2800">
                <a:solidFill>
                  <a:srgbClr val="3333CC"/>
                </a:solidFill>
              </a:rPr>
              <a:t>mov cl,4	</a:t>
            </a:r>
            <a:r>
              <a:rPr kumimoji="1" lang="zh-CN" altLang="en-US" sz="2800">
                <a:solidFill>
                  <a:srgbClr val="000000"/>
                </a:solidFill>
                <a:latin typeface="宋体" panose="02010600030101010101" pitchFamily="2" charset="-122"/>
              </a:rPr>
              <a:t>；</a:t>
            </a:r>
            <a:r>
              <a:rPr kumimoji="1" lang="en-US" altLang="zh-CN" sz="2800">
                <a:solidFill>
                  <a:srgbClr val="000000"/>
                </a:solidFill>
                <a:latin typeface="宋体" panose="02010600030101010101" pitchFamily="2" charset="-122"/>
              </a:rPr>
              <a:t>cl←4</a:t>
            </a:r>
            <a:r>
              <a:rPr kumimoji="1" lang="zh-CN" altLang="en-US" sz="2800">
                <a:solidFill>
                  <a:srgbClr val="000000"/>
                </a:solidFill>
                <a:latin typeface="宋体" panose="02010600030101010101" pitchFamily="2" charset="-122"/>
              </a:rPr>
              <a:t>，字节传送</a:t>
            </a:r>
          </a:p>
          <a:p>
            <a:pPr>
              <a:buSzPct val="90000"/>
              <a:buFont typeface="Wingdings" panose="05000000000000000000" pitchFamily="2" charset="2"/>
              <a:buNone/>
            </a:pPr>
            <a:r>
              <a:rPr kumimoji="1" lang="en-US" altLang="zh-CN" sz="2800">
                <a:solidFill>
                  <a:srgbClr val="3333CC"/>
                </a:solidFill>
              </a:rPr>
              <a:t>mov dx,</a:t>
            </a:r>
            <a:r>
              <a:rPr kumimoji="1" lang="en-US" altLang="zh-CN" sz="2800">
                <a:solidFill>
                  <a:srgbClr val="006600"/>
                </a:solidFill>
              </a:rPr>
              <a:t>0</a:t>
            </a:r>
            <a:r>
              <a:rPr kumimoji="1" lang="en-US" altLang="zh-CN" sz="2800">
                <a:solidFill>
                  <a:srgbClr val="3333CC"/>
                </a:solidFill>
              </a:rPr>
              <a:t>ffh</a:t>
            </a:r>
            <a:r>
              <a:rPr kumimoji="1" lang="en-US" altLang="zh-CN" sz="2800">
                <a:solidFill>
                  <a:srgbClr val="3333CC"/>
                </a:solidFill>
                <a:latin typeface="宋体" panose="02010600030101010101" pitchFamily="2" charset="-122"/>
              </a:rPr>
              <a:t>	</a:t>
            </a:r>
            <a:r>
              <a:rPr kumimoji="1" lang="zh-CN" altLang="en-US" sz="2800">
                <a:solidFill>
                  <a:srgbClr val="000000"/>
                </a:solidFill>
                <a:latin typeface="宋体" panose="02010600030101010101" pitchFamily="2" charset="-122"/>
              </a:rPr>
              <a:t>；</a:t>
            </a:r>
            <a:r>
              <a:rPr kumimoji="1" lang="en-US" altLang="zh-CN" sz="2800">
                <a:solidFill>
                  <a:srgbClr val="000000"/>
                </a:solidFill>
                <a:latin typeface="宋体" panose="02010600030101010101" pitchFamily="2" charset="-122"/>
              </a:rPr>
              <a:t>dx←00ffh</a:t>
            </a:r>
            <a:r>
              <a:rPr kumimoji="1" lang="zh-CN" altLang="en-US" sz="2800">
                <a:solidFill>
                  <a:srgbClr val="000000"/>
                </a:solidFill>
                <a:latin typeface="宋体" panose="02010600030101010101" pitchFamily="2" charset="-122"/>
              </a:rPr>
              <a:t>，字传送</a:t>
            </a:r>
          </a:p>
          <a:p>
            <a:pPr>
              <a:buSzPct val="90000"/>
              <a:buFont typeface="Wingdings" panose="05000000000000000000" pitchFamily="2" charset="2"/>
              <a:buNone/>
            </a:pPr>
            <a:r>
              <a:rPr kumimoji="1" lang="en-US" altLang="zh-CN" sz="2800">
                <a:solidFill>
                  <a:srgbClr val="3333CC"/>
                </a:solidFill>
              </a:rPr>
              <a:t>mov si,200h</a:t>
            </a:r>
            <a:r>
              <a:rPr kumimoji="1" lang="en-US" altLang="zh-CN" sz="2800">
                <a:solidFill>
                  <a:srgbClr val="3333CC"/>
                </a:solidFill>
                <a:latin typeface="宋体" panose="02010600030101010101" pitchFamily="2" charset="-122"/>
              </a:rPr>
              <a:t>	</a:t>
            </a:r>
            <a:r>
              <a:rPr kumimoji="1" lang="zh-CN" altLang="en-US" sz="2800">
                <a:solidFill>
                  <a:srgbClr val="000000"/>
                </a:solidFill>
                <a:latin typeface="宋体" panose="02010600030101010101" pitchFamily="2" charset="-122"/>
              </a:rPr>
              <a:t>；</a:t>
            </a:r>
            <a:r>
              <a:rPr kumimoji="1" lang="en-US" altLang="zh-CN" sz="2800">
                <a:solidFill>
                  <a:srgbClr val="000000"/>
                </a:solidFill>
                <a:latin typeface="宋体" panose="02010600030101010101" pitchFamily="2" charset="-122"/>
              </a:rPr>
              <a:t>si←0200h</a:t>
            </a:r>
            <a:r>
              <a:rPr kumimoji="1" lang="zh-CN" altLang="en-US" sz="2800">
                <a:solidFill>
                  <a:srgbClr val="000000"/>
                </a:solidFill>
                <a:latin typeface="宋体" panose="02010600030101010101" pitchFamily="2" charset="-122"/>
              </a:rPr>
              <a:t>，字传送</a:t>
            </a:r>
          </a:p>
          <a:p>
            <a:pPr>
              <a:buSzPct val="90000"/>
              <a:buFont typeface="Wingdings" panose="05000000000000000000" pitchFamily="2" charset="2"/>
              <a:buNone/>
            </a:pPr>
            <a:r>
              <a:rPr kumimoji="1" lang="en-US" altLang="zh-CN" sz="2800">
                <a:solidFill>
                  <a:srgbClr val="3333CC"/>
                </a:solidFill>
              </a:rPr>
              <a:t>mov bvar,</a:t>
            </a:r>
            <a:r>
              <a:rPr kumimoji="1" lang="en-US" altLang="zh-CN" sz="2800">
                <a:solidFill>
                  <a:srgbClr val="006600"/>
                </a:solidFill>
              </a:rPr>
              <a:t>0ah</a:t>
            </a:r>
            <a:r>
              <a:rPr kumimoji="1" lang="en-US" altLang="zh-CN" sz="2800">
                <a:solidFill>
                  <a:srgbClr val="CC0000"/>
                </a:solidFill>
                <a:latin typeface="宋体" panose="02010600030101010101" pitchFamily="2" charset="-122"/>
              </a:rPr>
              <a:t>	</a:t>
            </a:r>
            <a:r>
              <a:rPr kumimoji="1" lang="zh-CN" altLang="en-US" sz="2800">
                <a:latin typeface="宋体" panose="02010600030101010101" pitchFamily="2" charset="-122"/>
              </a:rPr>
              <a:t>；</a:t>
            </a:r>
            <a:r>
              <a:rPr kumimoji="1" lang="zh-CN" altLang="en-US" sz="2800">
                <a:solidFill>
                  <a:srgbClr val="000000"/>
                </a:solidFill>
                <a:latin typeface="宋体" panose="02010600030101010101" pitchFamily="2" charset="-122"/>
              </a:rPr>
              <a:t>字节传送</a:t>
            </a:r>
            <a:endParaRPr kumimoji="1" lang="zh-CN" altLang="en-US" sz="2800">
              <a:solidFill>
                <a:srgbClr val="CC0000"/>
              </a:solidFill>
              <a:latin typeface="宋体" panose="02010600030101010101" pitchFamily="2" charset="-122"/>
            </a:endParaRPr>
          </a:p>
          <a:p>
            <a:pPr>
              <a:buSzPct val="90000"/>
              <a:buFont typeface="Wingdings" panose="05000000000000000000" pitchFamily="2" charset="2"/>
              <a:buNone/>
            </a:pPr>
            <a:r>
              <a:rPr kumimoji="1" lang="zh-CN" altLang="en-US" sz="2400">
                <a:solidFill>
                  <a:srgbClr val="000000"/>
                </a:solidFill>
                <a:latin typeface="宋体" panose="02010600030101010101" pitchFamily="2" charset="-122"/>
              </a:rPr>
              <a:t>；假设</a:t>
            </a:r>
            <a:r>
              <a:rPr kumimoji="1" lang="en-US" altLang="zh-CN" sz="2800">
                <a:solidFill>
                  <a:srgbClr val="000000"/>
                </a:solidFill>
                <a:latin typeface="宋体" panose="02010600030101010101" pitchFamily="2" charset="-122"/>
              </a:rPr>
              <a:t>bvar</a:t>
            </a:r>
            <a:r>
              <a:rPr kumimoji="1" lang="zh-CN" altLang="en-US" sz="2400">
                <a:solidFill>
                  <a:srgbClr val="000000"/>
                </a:solidFill>
                <a:latin typeface="宋体" panose="02010600030101010101" pitchFamily="2" charset="-122"/>
              </a:rPr>
              <a:t>是一个字节变量，定义如下：</a:t>
            </a:r>
            <a:r>
              <a:rPr kumimoji="1" lang="en-US" altLang="zh-CN" sz="2400">
                <a:solidFill>
                  <a:srgbClr val="000000"/>
                </a:solidFill>
                <a:latin typeface="宋体" panose="02010600030101010101" pitchFamily="2" charset="-122"/>
              </a:rPr>
              <a:t>bvar  </a:t>
            </a:r>
            <a:r>
              <a:rPr kumimoji="1" lang="en-US" altLang="zh-CN" sz="2400">
                <a:latin typeface="宋体" panose="02010600030101010101" pitchFamily="2" charset="-122"/>
              </a:rPr>
              <a:t>db</a:t>
            </a:r>
            <a:r>
              <a:rPr kumimoji="1" lang="en-US" altLang="zh-CN" sz="2400">
                <a:solidFill>
                  <a:srgbClr val="000000"/>
                </a:solidFill>
                <a:latin typeface="宋体" panose="02010600030101010101" pitchFamily="2" charset="-122"/>
              </a:rPr>
              <a:t> 0</a:t>
            </a:r>
          </a:p>
          <a:p>
            <a:pPr>
              <a:buSzPct val="90000"/>
              <a:buFont typeface="Wingdings" panose="05000000000000000000" pitchFamily="2" charset="2"/>
              <a:buNone/>
            </a:pPr>
            <a:r>
              <a:rPr kumimoji="1" lang="en-US" altLang="zh-CN" sz="2800">
                <a:solidFill>
                  <a:srgbClr val="3333CC"/>
                </a:solidFill>
              </a:rPr>
              <a:t>mov wvar,</a:t>
            </a:r>
            <a:r>
              <a:rPr kumimoji="1" lang="en-US" altLang="zh-CN" sz="2800">
                <a:solidFill>
                  <a:srgbClr val="006600"/>
                </a:solidFill>
              </a:rPr>
              <a:t>0bh</a:t>
            </a:r>
            <a:r>
              <a:rPr kumimoji="1" lang="en-US" altLang="zh-CN" sz="2800">
                <a:solidFill>
                  <a:srgbClr val="CC0000"/>
                </a:solidFill>
                <a:latin typeface="宋体" panose="02010600030101010101" pitchFamily="2" charset="-122"/>
              </a:rPr>
              <a:t>	</a:t>
            </a:r>
            <a:r>
              <a:rPr kumimoji="1" lang="zh-CN" altLang="en-US" sz="2800">
                <a:latin typeface="宋体" panose="02010600030101010101" pitchFamily="2" charset="-122"/>
              </a:rPr>
              <a:t>；</a:t>
            </a:r>
            <a:r>
              <a:rPr kumimoji="1" lang="zh-CN" altLang="en-US" sz="2800">
                <a:solidFill>
                  <a:srgbClr val="000000"/>
                </a:solidFill>
                <a:latin typeface="宋体" panose="02010600030101010101" pitchFamily="2" charset="-122"/>
              </a:rPr>
              <a:t>字传送</a:t>
            </a:r>
            <a:endParaRPr kumimoji="1" lang="zh-CN" altLang="en-US" sz="2800">
              <a:solidFill>
                <a:srgbClr val="CC0000"/>
              </a:solidFill>
              <a:latin typeface="宋体" panose="02010600030101010101" pitchFamily="2" charset="-122"/>
            </a:endParaRPr>
          </a:p>
          <a:p>
            <a:pPr>
              <a:buSzPct val="90000"/>
              <a:buFont typeface="Wingdings" panose="05000000000000000000" pitchFamily="2" charset="2"/>
              <a:buNone/>
            </a:pPr>
            <a:r>
              <a:rPr kumimoji="1" lang="zh-CN" altLang="en-US" sz="2400">
                <a:solidFill>
                  <a:srgbClr val="000000"/>
                </a:solidFill>
                <a:latin typeface="宋体" panose="02010600030101010101" pitchFamily="2" charset="-122"/>
              </a:rPr>
              <a:t>；假设</a:t>
            </a:r>
            <a:r>
              <a:rPr kumimoji="1" lang="en-US" altLang="zh-CN" sz="2800">
                <a:solidFill>
                  <a:srgbClr val="000000"/>
                </a:solidFill>
                <a:latin typeface="宋体" panose="02010600030101010101" pitchFamily="2" charset="-122"/>
              </a:rPr>
              <a:t>wvar</a:t>
            </a:r>
            <a:r>
              <a:rPr kumimoji="1" lang="zh-CN" altLang="en-US" sz="2400">
                <a:solidFill>
                  <a:srgbClr val="000000"/>
                </a:solidFill>
                <a:latin typeface="宋体" panose="02010600030101010101" pitchFamily="2" charset="-122"/>
              </a:rPr>
              <a:t>是一个字变量，定义如下：</a:t>
            </a:r>
            <a:r>
              <a:rPr kumimoji="1" lang="en-US" altLang="zh-CN" sz="2400">
                <a:solidFill>
                  <a:srgbClr val="000000"/>
                </a:solidFill>
                <a:latin typeface="宋体" panose="02010600030101010101" pitchFamily="2" charset="-122"/>
              </a:rPr>
              <a:t>wvar  </a:t>
            </a:r>
            <a:r>
              <a:rPr kumimoji="1" lang="en-US" altLang="zh-CN" sz="2400">
                <a:latin typeface="宋体" panose="02010600030101010101" pitchFamily="2" charset="-122"/>
              </a:rPr>
              <a:t>dw</a:t>
            </a:r>
            <a:r>
              <a:rPr kumimoji="1" lang="en-US" altLang="zh-CN" sz="2400">
                <a:solidFill>
                  <a:srgbClr val="000000"/>
                </a:solidFill>
                <a:latin typeface="宋体" panose="02010600030101010101" pitchFamily="2" charset="-122"/>
              </a:rPr>
              <a:t> 0</a:t>
            </a:r>
          </a:p>
        </p:txBody>
      </p:sp>
      <p:sp>
        <p:nvSpPr>
          <p:cNvPr id="6148" name="AutoShape 4">
            <a:extLst>
              <a:ext uri="{FF2B5EF4-FFF2-40B4-BE49-F238E27FC236}">
                <a16:creationId xmlns:a16="http://schemas.microsoft.com/office/drawing/2014/main" id="{C5712205-2369-456D-F5CF-2E3F297C46BF}"/>
              </a:ext>
            </a:extLst>
          </p:cNvPr>
          <p:cNvSpPr>
            <a:spLocks noChangeArrowheads="1"/>
          </p:cNvSpPr>
          <p:nvPr/>
        </p:nvSpPr>
        <p:spPr bwMode="auto">
          <a:xfrm>
            <a:off x="2976563" y="5907088"/>
            <a:ext cx="5711825" cy="561975"/>
          </a:xfrm>
          <a:prstGeom prst="roundRect">
            <a:avLst>
              <a:gd name="adj" fmla="val 16667"/>
            </a:avLst>
          </a:prstGeom>
          <a:blipFill dpi="0" rotWithShape="0">
            <a:blip r:embed="rId2"/>
            <a:srcRect/>
            <a:tile tx="0" ty="0" sx="100000" sy="100000" flip="none" algn="tl"/>
          </a:blip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gn="ctr" eaLnBrk="1" hangingPunct="1">
              <a:buFontTx/>
              <a:buBlip>
                <a:blip r:embed="rId3"/>
              </a:buBlip>
            </a:pPr>
            <a:r>
              <a:rPr kumimoji="1" lang="zh-CN" altLang="en-US" sz="2800" b="1"/>
              <a:t>明确指令是字节操作还是字操作</a:t>
            </a:r>
          </a:p>
        </p:txBody>
      </p:sp>
      <p:grpSp>
        <p:nvGrpSpPr>
          <p:cNvPr id="59407" name="Group 15">
            <a:extLst>
              <a:ext uri="{FF2B5EF4-FFF2-40B4-BE49-F238E27FC236}">
                <a16:creationId xmlns:a16="http://schemas.microsoft.com/office/drawing/2014/main" id="{8AA6EE35-C193-8DBC-5EDD-476910E44225}"/>
              </a:ext>
            </a:extLst>
          </p:cNvPr>
          <p:cNvGrpSpPr>
            <a:grpSpLocks/>
          </p:cNvGrpSpPr>
          <p:nvPr/>
        </p:nvGrpSpPr>
        <p:grpSpPr bwMode="auto">
          <a:xfrm>
            <a:off x="268288" y="2471738"/>
            <a:ext cx="5224462" cy="3278187"/>
            <a:chOff x="150" y="1197"/>
            <a:chExt cx="3291" cy="2065"/>
          </a:xfrm>
        </p:grpSpPr>
        <p:sp>
          <p:nvSpPr>
            <p:cNvPr id="59397" name="Oval 5">
              <a:extLst>
                <a:ext uri="{FF2B5EF4-FFF2-40B4-BE49-F238E27FC236}">
                  <a16:creationId xmlns:a16="http://schemas.microsoft.com/office/drawing/2014/main" id="{0C918263-8345-B2B2-95EF-61E4481CAC77}"/>
                </a:ext>
              </a:extLst>
            </p:cNvPr>
            <p:cNvSpPr>
              <a:spLocks noChangeArrowheads="1"/>
            </p:cNvSpPr>
            <p:nvPr/>
          </p:nvSpPr>
          <p:spPr bwMode="auto">
            <a:xfrm>
              <a:off x="150" y="2850"/>
              <a:ext cx="3291" cy="412"/>
            </a:xfrm>
            <a:prstGeom prst="ellipse">
              <a:avLst/>
            </a:prstGeom>
            <a:solidFill>
              <a:schemeClr val="accent1"/>
            </a:solidFill>
            <a:ln w="9525">
              <a:solidFill>
                <a:srgbClr val="009900"/>
              </a:solidFill>
              <a:round/>
              <a:headEnd/>
              <a:tailEnd/>
            </a:ln>
            <a:effectLst/>
          </p:spPr>
          <p:txBody>
            <a:bodyPr wrap="none" anchor="ctr"/>
            <a:lstStyle/>
            <a:p>
              <a:pPr algn="ctr" eaLnBrk="1" hangingPunct="1">
                <a:defRPr/>
              </a:pPr>
              <a:r>
                <a:rPr lang="zh-CN" altLang="en-US" sz="2800" b="1">
                  <a:effectLst>
                    <a:outerShdw blurRad="38100" dist="38100" dir="2700000" algn="tl">
                      <a:srgbClr val="FFFFFF"/>
                    </a:outerShdw>
                  </a:effectLst>
                  <a:latin typeface="宋体" panose="02010600030101010101" pitchFamily="2" charset="-122"/>
                </a:rPr>
                <a:t>以字母开头的常数要有前导</a:t>
              </a:r>
              <a:r>
                <a:rPr lang="en-US" altLang="zh-CN" sz="2800" b="1">
                  <a:effectLst>
                    <a:outerShdw blurRad="38100" dist="38100" dir="2700000" algn="tl">
                      <a:srgbClr val="FFFFFF"/>
                    </a:outerShdw>
                  </a:effectLst>
                  <a:latin typeface="宋体" panose="02010600030101010101" pitchFamily="2" charset="-122"/>
                </a:rPr>
                <a:t>0</a:t>
              </a:r>
            </a:p>
          </p:txBody>
        </p:sp>
        <p:grpSp>
          <p:nvGrpSpPr>
            <p:cNvPr id="6151" name="Group 14">
              <a:extLst>
                <a:ext uri="{FF2B5EF4-FFF2-40B4-BE49-F238E27FC236}">
                  <a16:creationId xmlns:a16="http://schemas.microsoft.com/office/drawing/2014/main" id="{08366D58-4857-CFC2-6E09-61010E08C3A1}"/>
                </a:ext>
              </a:extLst>
            </p:cNvPr>
            <p:cNvGrpSpPr>
              <a:grpSpLocks/>
            </p:cNvGrpSpPr>
            <p:nvPr/>
          </p:nvGrpSpPr>
          <p:grpSpPr bwMode="auto">
            <a:xfrm>
              <a:off x="1130" y="1197"/>
              <a:ext cx="658" cy="1205"/>
              <a:chOff x="1130" y="1197"/>
              <a:chExt cx="658" cy="1205"/>
            </a:xfrm>
          </p:grpSpPr>
          <p:sp>
            <p:nvSpPr>
              <p:cNvPr id="59403" name="Line 11">
                <a:extLst>
                  <a:ext uri="{FF2B5EF4-FFF2-40B4-BE49-F238E27FC236}">
                    <a16:creationId xmlns:a16="http://schemas.microsoft.com/office/drawing/2014/main" id="{6EC234A4-80D0-5C16-4DDB-20CC79C88254}"/>
                  </a:ext>
                </a:extLst>
              </p:cNvPr>
              <p:cNvSpPr>
                <a:spLocks noChangeShapeType="1"/>
              </p:cNvSpPr>
              <p:nvPr/>
            </p:nvSpPr>
            <p:spPr bwMode="auto">
              <a:xfrm>
                <a:off x="1130" y="1197"/>
                <a:ext cx="471" cy="0"/>
              </a:xfrm>
              <a:prstGeom prst="line">
                <a:avLst/>
              </a:prstGeom>
              <a:noFill/>
              <a:ln w="38100">
                <a:solidFill>
                  <a:srgbClr val="009900"/>
                </a:solidFill>
                <a:round/>
                <a:headEnd/>
                <a:tailEnd/>
              </a:ln>
              <a:effec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59404" name="Line 12">
                <a:extLst>
                  <a:ext uri="{FF2B5EF4-FFF2-40B4-BE49-F238E27FC236}">
                    <a16:creationId xmlns:a16="http://schemas.microsoft.com/office/drawing/2014/main" id="{AB2D144D-B1B6-3EAE-F241-338F126D30C3}"/>
                  </a:ext>
                </a:extLst>
              </p:cNvPr>
              <p:cNvSpPr>
                <a:spLocks noChangeShapeType="1"/>
              </p:cNvSpPr>
              <p:nvPr/>
            </p:nvSpPr>
            <p:spPr bwMode="auto">
              <a:xfrm>
                <a:off x="1287" y="1788"/>
                <a:ext cx="471" cy="0"/>
              </a:xfrm>
              <a:prstGeom prst="line">
                <a:avLst/>
              </a:prstGeom>
              <a:noFill/>
              <a:ln w="38100">
                <a:solidFill>
                  <a:srgbClr val="009900"/>
                </a:solidFill>
                <a:round/>
                <a:headEnd/>
                <a:tailEnd/>
              </a:ln>
              <a:effec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59405" name="Line 13">
                <a:extLst>
                  <a:ext uri="{FF2B5EF4-FFF2-40B4-BE49-F238E27FC236}">
                    <a16:creationId xmlns:a16="http://schemas.microsoft.com/office/drawing/2014/main" id="{F79BBF59-B4FC-3982-7230-F5F365908B73}"/>
                  </a:ext>
                </a:extLst>
              </p:cNvPr>
              <p:cNvSpPr>
                <a:spLocks noChangeShapeType="1"/>
              </p:cNvSpPr>
              <p:nvPr/>
            </p:nvSpPr>
            <p:spPr bwMode="auto">
              <a:xfrm>
                <a:off x="1317" y="2402"/>
                <a:ext cx="471" cy="0"/>
              </a:xfrm>
              <a:prstGeom prst="line">
                <a:avLst/>
              </a:prstGeom>
              <a:noFill/>
              <a:ln w="38100">
                <a:solidFill>
                  <a:srgbClr val="009900"/>
                </a:solidFill>
                <a:round/>
                <a:headEnd/>
                <a:tailEnd/>
              </a:ln>
              <a:effectLst/>
            </p:spPr>
            <p:txBody>
              <a:bodyPr/>
              <a:lstStyle/>
              <a:p>
                <a:pPr eaLnBrk="1" hangingPunct="1">
                  <a:defRPr/>
                </a:pPr>
                <a:endParaRPr lang="zh-CN" altLang="en-US">
                  <a:effectLst>
                    <a:outerShdw blurRad="38100" dist="38100" dir="2700000" algn="tl">
                      <a:srgbClr val="000000">
                        <a:alpha val="43137"/>
                      </a:srgbClr>
                    </a:outerShdw>
                  </a:effectLst>
                </a:endParaRPr>
              </a:p>
            </p:txBody>
          </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59407"/>
                                        </p:tgtEl>
                                        <p:attrNameLst>
                                          <p:attrName>style.visibility</p:attrName>
                                        </p:attrNameLst>
                                      </p:cBhvr>
                                      <p:to>
                                        <p:strVal val="visible"/>
                                      </p:to>
                                    </p:set>
                                    <p:anim calcmode="lin" valueType="num">
                                      <p:cBhvr additive="base">
                                        <p:cTn id="7" dur="2000" fill="hold"/>
                                        <p:tgtEl>
                                          <p:spTgt spid="59407"/>
                                        </p:tgtEl>
                                        <p:attrNameLst>
                                          <p:attrName>ppt_x</p:attrName>
                                        </p:attrNameLst>
                                      </p:cBhvr>
                                      <p:tavLst>
                                        <p:tav tm="0">
                                          <p:val>
                                            <p:strVal val="1+#ppt_w/2"/>
                                          </p:val>
                                        </p:tav>
                                        <p:tav tm="100000">
                                          <p:val>
                                            <p:strVal val="#ppt_x"/>
                                          </p:val>
                                        </p:tav>
                                      </p:tavLst>
                                    </p:anim>
                                    <p:anim calcmode="lin" valueType="num">
                                      <p:cBhvr additive="base">
                                        <p:cTn id="8" dur="2000" fill="hold"/>
                                        <p:tgtEl>
                                          <p:spTgt spid="5940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xit" presetSubtype="8" fill="hold" nodeType="clickEffect">
                                  <p:stCondLst>
                                    <p:cond delay="0"/>
                                  </p:stCondLst>
                                  <p:childTnLst>
                                    <p:anim calcmode="lin" valueType="num">
                                      <p:cBhvr additive="base">
                                        <p:cTn id="12" dur="500"/>
                                        <p:tgtEl>
                                          <p:spTgt spid="59407"/>
                                        </p:tgtEl>
                                        <p:attrNameLst>
                                          <p:attrName>ppt_x</p:attrName>
                                        </p:attrNameLst>
                                      </p:cBhvr>
                                      <p:tavLst>
                                        <p:tav tm="0">
                                          <p:val>
                                            <p:strVal val="ppt_x"/>
                                          </p:val>
                                        </p:tav>
                                        <p:tav tm="100000">
                                          <p:val>
                                            <p:strVal val="0-ppt_w/2"/>
                                          </p:val>
                                        </p:tav>
                                      </p:tavLst>
                                    </p:anim>
                                    <p:anim calcmode="lin" valueType="num">
                                      <p:cBhvr additive="base">
                                        <p:cTn id="13" dur="500"/>
                                        <p:tgtEl>
                                          <p:spTgt spid="59407"/>
                                        </p:tgtEl>
                                        <p:attrNameLst>
                                          <p:attrName>ppt_y</p:attrName>
                                        </p:attrNameLst>
                                      </p:cBhvr>
                                      <p:tavLst>
                                        <p:tav tm="0">
                                          <p:val>
                                            <p:strVal val="ppt_y"/>
                                          </p:val>
                                        </p:tav>
                                        <p:tav tm="100000">
                                          <p:val>
                                            <p:strVal val="ppt_y"/>
                                          </p:val>
                                        </p:tav>
                                      </p:tavLst>
                                    </p:anim>
                                    <p:set>
                                      <p:cBhvr>
                                        <p:cTn id="14" dur="1" fill="hold">
                                          <p:stCondLst>
                                            <p:cond delay="499"/>
                                          </p:stCondLst>
                                        </p:cTn>
                                        <p:tgtEl>
                                          <p:spTgt spid="5940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9D34685F-8DEE-FF1D-050F-F8040FAA6FB3}"/>
              </a:ext>
            </a:extLst>
          </p:cNvPr>
          <p:cNvSpPr>
            <a:spLocks noGrp="1" noChangeArrowheads="1"/>
          </p:cNvSpPr>
          <p:nvPr>
            <p:ph type="title"/>
          </p:nvPr>
        </p:nvSpPr>
        <p:spPr/>
        <p:txBody>
          <a:bodyPr/>
          <a:lstStyle/>
          <a:p>
            <a:r>
              <a:rPr lang="en-US" altLang="zh-CN"/>
              <a:t>MOV</a:t>
            </a:r>
            <a:r>
              <a:rPr lang="zh-CN" altLang="en-US"/>
              <a:t>指令－－寄存器传送</a:t>
            </a:r>
          </a:p>
        </p:txBody>
      </p:sp>
      <p:sp>
        <p:nvSpPr>
          <p:cNvPr id="7171" name="Rectangle 3">
            <a:extLst>
              <a:ext uri="{FF2B5EF4-FFF2-40B4-BE49-F238E27FC236}">
                <a16:creationId xmlns:a16="http://schemas.microsoft.com/office/drawing/2014/main" id="{18D4C6D7-6330-C2BE-1CA7-9EEA6722904A}"/>
              </a:ext>
            </a:extLst>
          </p:cNvPr>
          <p:cNvSpPr>
            <a:spLocks noGrp="1" noChangeArrowheads="1"/>
          </p:cNvSpPr>
          <p:nvPr>
            <p:ph idx="1"/>
          </p:nvPr>
        </p:nvSpPr>
        <p:spPr>
          <a:xfrm>
            <a:off x="457200" y="1517650"/>
            <a:ext cx="8229600" cy="3101975"/>
          </a:xfrm>
        </p:spPr>
        <p:txBody>
          <a:bodyPr/>
          <a:lstStyle/>
          <a:p>
            <a:pPr>
              <a:buFontTx/>
              <a:buNone/>
            </a:pPr>
            <a:r>
              <a:rPr lang="en-US" altLang="zh-CN"/>
              <a:t>mov ah,al	</a:t>
            </a:r>
            <a:r>
              <a:rPr lang="zh-CN" altLang="en-US"/>
              <a:t>；</a:t>
            </a:r>
            <a:r>
              <a:rPr lang="en-US" altLang="zh-CN"/>
              <a:t>ah←al</a:t>
            </a:r>
            <a:r>
              <a:rPr lang="zh-CN" altLang="en-US"/>
              <a:t>，字节传送</a:t>
            </a:r>
          </a:p>
          <a:p>
            <a:pPr>
              <a:buFontTx/>
              <a:buNone/>
            </a:pPr>
            <a:r>
              <a:rPr lang="en-US" altLang="zh-CN"/>
              <a:t>mov bvar,ch	</a:t>
            </a:r>
            <a:r>
              <a:rPr lang="zh-CN" altLang="en-US"/>
              <a:t>；</a:t>
            </a:r>
            <a:r>
              <a:rPr lang="en-US" altLang="zh-CN"/>
              <a:t>bvar←ch </a:t>
            </a:r>
            <a:r>
              <a:rPr lang="zh-CN" altLang="en-US"/>
              <a:t>，字节传送</a:t>
            </a:r>
          </a:p>
          <a:p>
            <a:pPr>
              <a:buFontTx/>
              <a:buNone/>
            </a:pPr>
            <a:r>
              <a:rPr lang="en-US" altLang="zh-CN"/>
              <a:t>mov ax,bx	</a:t>
            </a:r>
            <a:r>
              <a:rPr lang="zh-CN" altLang="en-US"/>
              <a:t>；</a:t>
            </a:r>
            <a:r>
              <a:rPr lang="en-US" altLang="zh-CN"/>
              <a:t>ax←bx</a:t>
            </a:r>
            <a:r>
              <a:rPr lang="zh-CN" altLang="en-US"/>
              <a:t>，字传送</a:t>
            </a:r>
          </a:p>
          <a:p>
            <a:pPr>
              <a:buFontTx/>
              <a:buNone/>
            </a:pPr>
            <a:r>
              <a:rPr lang="en-US" altLang="zh-CN"/>
              <a:t>mov ds,ax	</a:t>
            </a:r>
            <a:r>
              <a:rPr lang="zh-CN" altLang="en-US"/>
              <a:t>；</a:t>
            </a:r>
            <a:r>
              <a:rPr lang="en-US" altLang="zh-CN"/>
              <a:t>ds←ax</a:t>
            </a:r>
            <a:r>
              <a:rPr lang="zh-CN" altLang="en-US"/>
              <a:t>，字传送</a:t>
            </a:r>
          </a:p>
          <a:p>
            <a:pPr>
              <a:buFontTx/>
              <a:buNone/>
            </a:pPr>
            <a:r>
              <a:rPr lang="en-US" altLang="zh-CN"/>
              <a:t>mov [bx],al	</a:t>
            </a:r>
            <a:r>
              <a:rPr lang="zh-CN" altLang="en-US"/>
              <a:t>；</a:t>
            </a:r>
            <a:r>
              <a:rPr lang="en-US" altLang="zh-CN"/>
              <a:t>[bx]←al</a:t>
            </a:r>
            <a:r>
              <a:rPr lang="zh-CN" altLang="en-US"/>
              <a:t>，字节传送</a:t>
            </a:r>
          </a:p>
        </p:txBody>
      </p:sp>
      <p:sp>
        <p:nvSpPr>
          <p:cNvPr id="7172" name="AutoShape 4">
            <a:extLst>
              <a:ext uri="{FF2B5EF4-FFF2-40B4-BE49-F238E27FC236}">
                <a16:creationId xmlns:a16="http://schemas.microsoft.com/office/drawing/2014/main" id="{277AD72B-413B-4173-6ACD-DF25B5A0C1AD}"/>
              </a:ext>
            </a:extLst>
          </p:cNvPr>
          <p:cNvSpPr>
            <a:spLocks noChangeArrowheads="1"/>
          </p:cNvSpPr>
          <p:nvPr/>
        </p:nvSpPr>
        <p:spPr bwMode="auto">
          <a:xfrm>
            <a:off x="2679700" y="4899025"/>
            <a:ext cx="5815013" cy="561975"/>
          </a:xfrm>
          <a:prstGeom prst="roundRect">
            <a:avLst>
              <a:gd name="adj" fmla="val 16667"/>
            </a:avLst>
          </a:prstGeom>
          <a:blipFill dpi="0" rotWithShape="0">
            <a:blip r:embed="rId2"/>
            <a:srcRect/>
            <a:tile tx="0" ty="0" sx="100000" sy="100000" flip="none" algn="tl"/>
          </a:blip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gn="just" eaLnBrk="1" hangingPunct="1">
              <a:buFontTx/>
              <a:buBlip>
                <a:blip r:embed="rId3"/>
              </a:buBlip>
            </a:pPr>
            <a:r>
              <a:rPr kumimoji="1" lang="en-US" altLang="zh-CN" sz="2800" b="1"/>
              <a:t> </a:t>
            </a:r>
            <a:r>
              <a:rPr kumimoji="1" lang="zh-CN" altLang="en-US" sz="2800" b="1"/>
              <a:t>寄存器具有明确的字节和字类型</a:t>
            </a:r>
          </a:p>
        </p:txBody>
      </p:sp>
    </p:spTree>
  </p:cSld>
  <p:clrMapOvr>
    <a:masterClrMapping/>
  </p:clrMapOvr>
  <p:transition>
    <p:rand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36E7648E-5E0E-362D-23DA-7F4C4003F07F}"/>
              </a:ext>
            </a:extLst>
          </p:cNvPr>
          <p:cNvSpPr>
            <a:spLocks noGrp="1" noChangeArrowheads="1"/>
          </p:cNvSpPr>
          <p:nvPr>
            <p:ph type="title"/>
          </p:nvPr>
        </p:nvSpPr>
        <p:spPr/>
        <p:txBody>
          <a:bodyPr/>
          <a:lstStyle/>
          <a:p>
            <a:r>
              <a:rPr lang="en-US" altLang="zh-CN"/>
              <a:t>MOV</a:t>
            </a:r>
            <a:r>
              <a:rPr lang="zh-CN" altLang="en-US"/>
              <a:t>指令－－存储器传送</a:t>
            </a:r>
          </a:p>
        </p:txBody>
      </p:sp>
      <p:sp>
        <p:nvSpPr>
          <p:cNvPr id="8195" name="Rectangle 3">
            <a:extLst>
              <a:ext uri="{FF2B5EF4-FFF2-40B4-BE49-F238E27FC236}">
                <a16:creationId xmlns:a16="http://schemas.microsoft.com/office/drawing/2014/main" id="{A86CEBF6-6C20-72A0-D076-279E636C38C5}"/>
              </a:ext>
            </a:extLst>
          </p:cNvPr>
          <p:cNvSpPr>
            <a:spLocks noGrp="1" noChangeArrowheads="1"/>
          </p:cNvSpPr>
          <p:nvPr>
            <p:ph idx="1"/>
          </p:nvPr>
        </p:nvSpPr>
        <p:spPr>
          <a:xfrm>
            <a:off x="458788" y="1538288"/>
            <a:ext cx="8229600" cy="2632075"/>
          </a:xfrm>
        </p:spPr>
        <p:txBody>
          <a:bodyPr/>
          <a:lstStyle/>
          <a:p>
            <a:pPr>
              <a:buFontTx/>
              <a:buNone/>
            </a:pPr>
            <a:r>
              <a:rPr lang="en-US" altLang="zh-CN"/>
              <a:t>mov al,[bx]		</a:t>
            </a:r>
            <a:r>
              <a:rPr lang="zh-CN" altLang="en-US"/>
              <a:t>；</a:t>
            </a:r>
            <a:r>
              <a:rPr lang="en-US" altLang="zh-CN"/>
              <a:t>al←ds:[bx]</a:t>
            </a:r>
          </a:p>
          <a:p>
            <a:pPr>
              <a:buFontTx/>
              <a:buNone/>
            </a:pPr>
            <a:r>
              <a:rPr lang="en-US" altLang="zh-CN"/>
              <a:t>mov dx,[bp]		</a:t>
            </a:r>
            <a:r>
              <a:rPr lang="zh-CN" altLang="en-US"/>
              <a:t>；</a:t>
            </a:r>
            <a:r>
              <a:rPr lang="en-US" altLang="zh-CN"/>
              <a:t>dx←ss:[bp+0]</a:t>
            </a:r>
          </a:p>
          <a:p>
            <a:pPr>
              <a:buFontTx/>
              <a:buNone/>
            </a:pPr>
            <a:r>
              <a:rPr lang="en-US" altLang="zh-CN"/>
              <a:t>mov dx,[bp+4]	</a:t>
            </a:r>
            <a:r>
              <a:rPr lang="zh-CN" altLang="en-US"/>
              <a:t>；</a:t>
            </a:r>
            <a:r>
              <a:rPr lang="en-US" altLang="zh-CN"/>
              <a:t>dx←ss:[bp+4]</a:t>
            </a:r>
          </a:p>
          <a:p>
            <a:pPr>
              <a:buFontTx/>
              <a:buNone/>
            </a:pPr>
            <a:r>
              <a:rPr lang="en-US" altLang="zh-CN"/>
              <a:t>mov es,[si]		</a:t>
            </a:r>
            <a:r>
              <a:rPr lang="zh-CN" altLang="en-US"/>
              <a:t>；</a:t>
            </a:r>
            <a:r>
              <a:rPr lang="en-US" altLang="zh-CN"/>
              <a:t>es←ds:[si]</a:t>
            </a:r>
          </a:p>
        </p:txBody>
      </p:sp>
      <p:sp>
        <p:nvSpPr>
          <p:cNvPr id="8196" name="AutoShape 4">
            <a:extLst>
              <a:ext uri="{FF2B5EF4-FFF2-40B4-BE49-F238E27FC236}">
                <a16:creationId xmlns:a16="http://schemas.microsoft.com/office/drawing/2014/main" id="{401553AC-318A-AE88-9CA7-6DB09F31FBBE}"/>
              </a:ext>
            </a:extLst>
          </p:cNvPr>
          <p:cNvSpPr>
            <a:spLocks noChangeArrowheads="1"/>
          </p:cNvSpPr>
          <p:nvPr/>
        </p:nvSpPr>
        <p:spPr bwMode="auto">
          <a:xfrm>
            <a:off x="2052638" y="4592638"/>
            <a:ext cx="6038850" cy="573087"/>
          </a:xfrm>
          <a:prstGeom prst="roundRect">
            <a:avLst>
              <a:gd name="adj" fmla="val 16667"/>
            </a:avLst>
          </a:prstGeom>
          <a:blipFill dpi="0" rotWithShape="0">
            <a:blip r:embed="rId2"/>
            <a:srcRect/>
            <a:tile tx="0" ty="0" sx="100000" sy="100000" flip="none" algn="tl"/>
          </a:blip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gn="just" eaLnBrk="1" hangingPunct="1">
              <a:buFontTx/>
              <a:buBlip>
                <a:blip r:embed="rId3"/>
              </a:buBlip>
            </a:pPr>
            <a:r>
              <a:rPr kumimoji="1" lang="en-US" altLang="zh-CN" sz="2800" b="1"/>
              <a:t> </a:t>
            </a:r>
            <a:r>
              <a:rPr kumimoji="1" lang="zh-CN" altLang="en-US" sz="2800" b="1"/>
              <a:t>不存在存储器向存储器的传送指令</a:t>
            </a:r>
          </a:p>
        </p:txBody>
      </p:sp>
    </p:spTree>
  </p:cSld>
  <p:clrMapOvr>
    <a:masterClrMapping/>
  </p:clrMapOvr>
  <p:transition>
    <p:rand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3E73421-5DB5-DF03-31D0-2A232C293EED}"/>
              </a:ext>
            </a:extLst>
          </p:cNvPr>
          <p:cNvSpPr>
            <a:spLocks noGrp="1"/>
          </p:cNvSpPr>
          <p:nvPr>
            <p:ph idx="1"/>
          </p:nvPr>
        </p:nvSpPr>
        <p:spPr>
          <a:xfrm>
            <a:off x="458788" y="620688"/>
            <a:ext cx="8229600" cy="5184775"/>
          </a:xfrm>
        </p:spPr>
        <p:txBody>
          <a:bodyPr/>
          <a:lstStyle/>
          <a:p>
            <a:pPr>
              <a:defRPr/>
            </a:pPr>
            <a:r>
              <a:rPr lang="zh-CN" altLang="en-US" dirty="0"/>
              <a:t>注意：双操作数指令中只能有一个内存操作数出现，若要实现两个内存单元的数据传送，则需使用两条</a:t>
            </a:r>
            <a:r>
              <a:rPr lang="en-US" altLang="zh-CN" dirty="0"/>
              <a:t>MOV</a:t>
            </a:r>
            <a:r>
              <a:rPr lang="zh-CN" altLang="en-US" dirty="0"/>
              <a:t>指令，并通过通用寄存器中转才能实现。</a:t>
            </a:r>
            <a:endParaRPr lang="en-US" altLang="zh-CN" dirty="0"/>
          </a:p>
          <a:p>
            <a:pPr marL="0" indent="0">
              <a:buFontTx/>
              <a:buNone/>
              <a:defRPr/>
            </a:pPr>
            <a:endParaRPr lang="en-US" altLang="zh-CN" dirty="0"/>
          </a:p>
          <a:p>
            <a:pPr marL="393700" lvl="1" indent="0">
              <a:buFontTx/>
              <a:buNone/>
              <a:defRPr/>
            </a:pPr>
            <a:r>
              <a:rPr lang="zh-CN" altLang="en-US" sz="2800" dirty="0"/>
              <a:t>例：将字节内存单元</a:t>
            </a:r>
            <a:r>
              <a:rPr lang="en-US" altLang="zh-CN" sz="2800" dirty="0"/>
              <a:t>VA1</a:t>
            </a:r>
            <a:r>
              <a:rPr lang="zh-CN" altLang="en-US" sz="2800" dirty="0"/>
              <a:t>中的数据传送至字节内存单元</a:t>
            </a:r>
            <a:r>
              <a:rPr lang="en-US" altLang="zh-CN" sz="2800" dirty="0"/>
              <a:t>VA2</a:t>
            </a:r>
            <a:r>
              <a:rPr lang="zh-CN" altLang="en-US" sz="2800" dirty="0"/>
              <a:t>中保存。</a:t>
            </a:r>
            <a:endParaRPr lang="en-US" altLang="zh-CN" sz="2800" dirty="0"/>
          </a:p>
          <a:p>
            <a:pPr marL="787400" lvl="2" indent="0">
              <a:buFontTx/>
              <a:buNone/>
              <a:defRPr/>
            </a:pPr>
            <a:r>
              <a:rPr lang="en-US" altLang="zh-CN" sz="2800" dirty="0">
                <a:solidFill>
                  <a:srgbClr val="0000FF"/>
                </a:solidFill>
              </a:rPr>
              <a:t>MOV AL,VA1</a:t>
            </a:r>
          </a:p>
          <a:p>
            <a:pPr marL="787400" lvl="2" indent="0">
              <a:buFontTx/>
              <a:buNone/>
              <a:defRPr/>
            </a:pPr>
            <a:r>
              <a:rPr lang="en-US" altLang="zh-CN" sz="2800" dirty="0">
                <a:solidFill>
                  <a:srgbClr val="0000FF"/>
                </a:solidFill>
              </a:rPr>
              <a:t>MOV VA2,AL</a:t>
            </a:r>
          </a:p>
        </p:txBody>
      </p:sp>
      <p:sp>
        <p:nvSpPr>
          <p:cNvPr id="4" name="灯片编号占位符 3">
            <a:extLst>
              <a:ext uri="{FF2B5EF4-FFF2-40B4-BE49-F238E27FC236}">
                <a16:creationId xmlns:a16="http://schemas.microsoft.com/office/drawing/2014/main" id="{B8CFFEC2-48B5-19D4-5729-ED94CC190B82}"/>
              </a:ext>
            </a:extLst>
          </p:cNvPr>
          <p:cNvSpPr>
            <a:spLocks noGrp="1"/>
          </p:cNvSpPr>
          <p:nvPr>
            <p:ph type="sldNum" sz="quarter" idx="12"/>
          </p:nvPr>
        </p:nvSpPr>
        <p:spPr bwMode="auto">
          <a:xfrm>
            <a:off x="6554788" y="6245225"/>
            <a:ext cx="2133600" cy="476250"/>
          </a:xfrm>
          <a:prstGeom prst="rect">
            <a:avLst/>
          </a:prstGeom>
          <a:noFill/>
          <a:ln w="9525">
            <a:noFill/>
            <a:miter lim="800000"/>
            <a:headEnd/>
            <a:tailEnd/>
          </a:ln>
          <a:effectLst/>
        </p:spPr>
        <p:txBody>
          <a:bodyPr vert="horz" wrap="square" lIns="88459" tIns="44230" rIns="88459" bIns="44230" numCol="1" anchor="t" anchorCtr="0" compatLnSpc="1">
            <a:prstTxWarp prst="textNoShape">
              <a:avLst/>
            </a:prstTxWarp>
          </a:bodyPr>
          <a:lstStyle>
            <a:defPPr>
              <a:defRPr lang="zh-CN"/>
            </a:defPPr>
            <a:lvl1pPr algn="r" rtl="0" eaLnBrk="1" fontAlgn="base" hangingPunct="1">
              <a:spcBef>
                <a:spcPct val="0"/>
              </a:spcBef>
              <a:spcAft>
                <a:spcPct val="0"/>
              </a:spcAft>
              <a:defRPr sz="1422" kern="1200">
                <a:solidFill>
                  <a:schemeClr val="tx1"/>
                </a:solidFill>
                <a:effectLst>
                  <a:outerShdw blurRad="38100" dist="38100" dir="2700000" algn="tl">
                    <a:srgbClr val="000000">
                      <a:alpha val="43137"/>
                    </a:srgbClr>
                  </a:outerShdw>
                </a:effectLst>
                <a:latin typeface="Arial" panose="020B0604020202020204" pitchFamily="34" charset="0"/>
                <a:ea typeface="宋体" pitchFamily="2" charset="-122"/>
                <a:cs typeface="+mn-cs"/>
              </a:defRPr>
            </a:lvl1pPr>
            <a:lvl2pPr marL="4572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9pPr>
          </a:lstStyle>
          <a:p>
            <a:pPr>
              <a:defRPr/>
            </a:pPr>
            <a:fld id="{F0EFB59D-B93E-4402-AB54-F88AE1ECAB64}" type="slidenum">
              <a:rPr lang="en-US" altLang="zh-CN" smtClean="0"/>
              <a:pPr>
                <a:defRPr/>
              </a:pPr>
              <a:t>44</a:t>
            </a:fld>
            <a:endParaRPr lang="en-US" altLang="zh-CN"/>
          </a:p>
        </p:txBody>
      </p:sp>
    </p:spTree>
  </p:cSld>
  <p:clrMapOvr>
    <a:masterClrMapping/>
  </p:clrMapOvr>
  <p:transition>
    <p:rand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1A978C53-8C97-F145-C718-59D705264169}"/>
              </a:ext>
            </a:extLst>
          </p:cNvPr>
          <p:cNvSpPr>
            <a:spLocks noGrp="1" noChangeArrowheads="1"/>
          </p:cNvSpPr>
          <p:nvPr>
            <p:ph type="title"/>
          </p:nvPr>
        </p:nvSpPr>
        <p:spPr>
          <a:xfrm>
            <a:off x="458788" y="404664"/>
            <a:ext cx="8229600" cy="504825"/>
          </a:xfrm>
        </p:spPr>
        <p:txBody>
          <a:bodyPr/>
          <a:lstStyle/>
          <a:p>
            <a:r>
              <a:rPr lang="en-US" altLang="zh-CN" dirty="0"/>
              <a:t>MOV</a:t>
            </a:r>
            <a:r>
              <a:rPr lang="zh-CN" altLang="en-US" dirty="0"/>
              <a:t>指令－－段寄存器传送</a:t>
            </a:r>
          </a:p>
        </p:txBody>
      </p:sp>
      <p:sp>
        <p:nvSpPr>
          <p:cNvPr id="10243" name="Rectangle 3">
            <a:extLst>
              <a:ext uri="{FF2B5EF4-FFF2-40B4-BE49-F238E27FC236}">
                <a16:creationId xmlns:a16="http://schemas.microsoft.com/office/drawing/2014/main" id="{8696CE36-50EC-BC9E-146A-B576B6B5C3F4}"/>
              </a:ext>
            </a:extLst>
          </p:cNvPr>
          <p:cNvSpPr>
            <a:spLocks noGrp="1" noChangeArrowheads="1"/>
          </p:cNvSpPr>
          <p:nvPr>
            <p:ph idx="1"/>
          </p:nvPr>
        </p:nvSpPr>
        <p:spPr>
          <a:xfrm>
            <a:off x="458788" y="1774825"/>
            <a:ext cx="8229600" cy="1982788"/>
          </a:xfrm>
        </p:spPr>
        <p:txBody>
          <a:bodyPr/>
          <a:lstStyle/>
          <a:p>
            <a:pPr>
              <a:buSzPct val="90000"/>
              <a:buFont typeface="Wingdings" panose="05000000000000000000" pitchFamily="2" charset="2"/>
              <a:buNone/>
            </a:pPr>
            <a:r>
              <a:rPr kumimoji="1" lang="en-US" altLang="zh-CN" dirty="0">
                <a:solidFill>
                  <a:srgbClr val="3333CC"/>
                </a:solidFill>
              </a:rPr>
              <a:t>MOV AX,1100H</a:t>
            </a:r>
          </a:p>
          <a:p>
            <a:pPr>
              <a:buSzPct val="90000"/>
              <a:buFont typeface="Wingdings" panose="05000000000000000000" pitchFamily="2" charset="2"/>
              <a:buNone/>
            </a:pPr>
            <a:r>
              <a:rPr kumimoji="1" lang="en-US" altLang="zh-CN" dirty="0">
                <a:solidFill>
                  <a:srgbClr val="3333CC"/>
                </a:solidFill>
              </a:rPr>
              <a:t>MOV DS,AX</a:t>
            </a:r>
          </a:p>
          <a:p>
            <a:pPr>
              <a:buSzPct val="90000"/>
              <a:buFont typeface="Wingdings" panose="05000000000000000000" pitchFamily="2" charset="2"/>
              <a:buNone/>
            </a:pPr>
            <a:r>
              <a:rPr kumimoji="1" lang="en-US" altLang="zh-CN" dirty="0">
                <a:solidFill>
                  <a:srgbClr val="3333CC"/>
                </a:solidFill>
              </a:rPr>
              <a:t>MOV ES,AX</a:t>
            </a:r>
            <a:endParaRPr lang="en-US" altLang="zh-CN" dirty="0"/>
          </a:p>
        </p:txBody>
      </p:sp>
      <p:sp>
        <p:nvSpPr>
          <p:cNvPr id="10244" name="AutoShape 5">
            <a:extLst>
              <a:ext uri="{FF2B5EF4-FFF2-40B4-BE49-F238E27FC236}">
                <a16:creationId xmlns:a16="http://schemas.microsoft.com/office/drawing/2014/main" id="{B9F727DA-9ABD-B099-4F50-2AE0A4DF0DE4}"/>
              </a:ext>
            </a:extLst>
          </p:cNvPr>
          <p:cNvSpPr>
            <a:spLocks noChangeArrowheads="1"/>
          </p:cNvSpPr>
          <p:nvPr/>
        </p:nvSpPr>
        <p:spPr bwMode="auto">
          <a:xfrm>
            <a:off x="1679575" y="4543425"/>
            <a:ext cx="6188075" cy="581025"/>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gn="just" eaLnBrk="1" hangingPunct="1">
              <a:buFontTx/>
              <a:buBlip>
                <a:blip r:embed="rId2"/>
              </a:buBlip>
            </a:pPr>
            <a:r>
              <a:rPr kumimoji="1" lang="en-US" altLang="zh-CN" sz="2400" b="1" dirty="0"/>
              <a:t> </a:t>
            </a:r>
            <a:r>
              <a:rPr kumimoji="1" lang="zh-CN" altLang="en-US" sz="2400" b="1" dirty="0"/>
              <a:t>对段寄存器的操作不灵活，不能对段寄存器直接传送立即数，需通过通用寄存器中转，也不能在两个段寄存器直接传递数据</a:t>
            </a:r>
            <a:r>
              <a:rPr kumimoji="1" lang="zh-CN" altLang="en-US" sz="2800" b="1" dirty="0"/>
              <a:t>。</a:t>
            </a:r>
          </a:p>
        </p:txBody>
      </p:sp>
    </p:spTree>
  </p:cSld>
  <p:clrMapOvr>
    <a:masterClrMapping/>
  </p:clrMapOvr>
  <p:transition>
    <p:rand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13B7AC8D-8C07-AE2C-59F9-BBCEF864076D}"/>
              </a:ext>
            </a:extLst>
          </p:cNvPr>
          <p:cNvSpPr>
            <a:spLocks noGrp="1" noChangeArrowheads="1"/>
          </p:cNvSpPr>
          <p:nvPr>
            <p:ph type="title"/>
          </p:nvPr>
        </p:nvSpPr>
        <p:spPr/>
        <p:txBody>
          <a:bodyPr/>
          <a:lstStyle/>
          <a:p>
            <a:r>
              <a:rPr lang="en-US" altLang="zh-CN"/>
              <a:t>MOV</a:t>
            </a:r>
            <a:r>
              <a:rPr lang="zh-CN" altLang="en-US"/>
              <a:t>指令传送功能图解</a:t>
            </a:r>
          </a:p>
        </p:txBody>
      </p:sp>
      <p:sp>
        <p:nvSpPr>
          <p:cNvPr id="61466" name="Rectangle 26">
            <a:extLst>
              <a:ext uri="{FF2B5EF4-FFF2-40B4-BE49-F238E27FC236}">
                <a16:creationId xmlns:a16="http://schemas.microsoft.com/office/drawing/2014/main" id="{57C7572B-87F1-8EB6-D631-4829C3294637}"/>
              </a:ext>
            </a:extLst>
          </p:cNvPr>
          <p:cNvSpPr>
            <a:spLocks noGrp="1" noChangeArrowheads="1"/>
          </p:cNvSpPr>
          <p:nvPr>
            <p:ph idx="1"/>
          </p:nvPr>
        </p:nvSpPr>
        <p:spPr>
          <a:xfrm>
            <a:off x="4351338" y="1117600"/>
            <a:ext cx="4395787" cy="555625"/>
          </a:xfrm>
          <a:extLst>
            <a:ext uri="{909E8E84-426E-40DD-AFC4-6F175D3DCCD1}">
              <a14:hiddenFill xmlns:a14="http://schemas.microsoft.com/office/drawing/2010/main">
                <a:solidFill>
                  <a:srgbClr val="CCCC00"/>
                </a:solidFill>
              </a14:hiddenFill>
            </a:ext>
          </a:extLst>
        </p:spPr>
        <p:txBody>
          <a:bodyPr/>
          <a:lstStyle/>
          <a:p>
            <a:pPr>
              <a:buFontTx/>
              <a:buNone/>
            </a:pPr>
            <a:r>
              <a:rPr lang="en-US" altLang="zh-CN" sz="2800"/>
              <a:t>MOV</a:t>
            </a:r>
            <a:r>
              <a:rPr lang="zh-CN" altLang="en-US" sz="2800"/>
              <a:t>指令也并非任意传送</a:t>
            </a:r>
            <a:r>
              <a:rPr lang="en-US" altLang="zh-CN" sz="2800"/>
              <a:t>!</a:t>
            </a:r>
          </a:p>
        </p:txBody>
      </p:sp>
      <p:grpSp>
        <p:nvGrpSpPr>
          <p:cNvPr id="11268" name="Group 27">
            <a:extLst>
              <a:ext uri="{FF2B5EF4-FFF2-40B4-BE49-F238E27FC236}">
                <a16:creationId xmlns:a16="http://schemas.microsoft.com/office/drawing/2014/main" id="{1C13F86B-4723-AF28-84A5-097F5EBCA134}"/>
              </a:ext>
            </a:extLst>
          </p:cNvPr>
          <p:cNvGrpSpPr>
            <a:grpSpLocks/>
          </p:cNvGrpSpPr>
          <p:nvPr/>
        </p:nvGrpSpPr>
        <p:grpSpPr bwMode="auto">
          <a:xfrm>
            <a:off x="261938" y="1574800"/>
            <a:ext cx="5168900" cy="3708400"/>
            <a:chOff x="1056" y="864"/>
            <a:chExt cx="3256" cy="2336"/>
          </a:xfrm>
        </p:grpSpPr>
        <p:sp>
          <p:nvSpPr>
            <p:cNvPr id="61468" name="Rectangle 28">
              <a:extLst>
                <a:ext uri="{FF2B5EF4-FFF2-40B4-BE49-F238E27FC236}">
                  <a16:creationId xmlns:a16="http://schemas.microsoft.com/office/drawing/2014/main" id="{3EE624C8-C24E-F19A-509C-D7FDB83DE162}"/>
                </a:ext>
              </a:extLst>
            </p:cNvPr>
            <p:cNvSpPr>
              <a:spLocks noChangeArrowheads="1"/>
            </p:cNvSpPr>
            <p:nvPr/>
          </p:nvSpPr>
          <p:spPr bwMode="auto">
            <a:xfrm>
              <a:off x="1795" y="864"/>
              <a:ext cx="786" cy="353"/>
            </a:xfrm>
            <a:prstGeom prst="rect">
              <a:avLst/>
            </a:prstGeom>
            <a:noFill/>
            <a:ln w="38100">
              <a:solidFill>
                <a:srgbClr val="3333CC"/>
              </a:solidFill>
              <a:miter lim="800000"/>
              <a:headEnd/>
              <a:tailEnd/>
            </a:ln>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61469" name="Rectangle 29">
              <a:extLst>
                <a:ext uri="{FF2B5EF4-FFF2-40B4-BE49-F238E27FC236}">
                  <a16:creationId xmlns:a16="http://schemas.microsoft.com/office/drawing/2014/main" id="{041A9733-ADEE-F0BF-579B-EAD84A85C695}"/>
                </a:ext>
              </a:extLst>
            </p:cNvPr>
            <p:cNvSpPr>
              <a:spLocks noChangeArrowheads="1"/>
            </p:cNvSpPr>
            <p:nvPr/>
          </p:nvSpPr>
          <p:spPr bwMode="auto">
            <a:xfrm>
              <a:off x="1056" y="1453"/>
              <a:ext cx="337" cy="802"/>
            </a:xfrm>
            <a:prstGeom prst="rect">
              <a:avLst/>
            </a:prstGeom>
            <a:noFill/>
            <a:ln w="38100">
              <a:solidFill>
                <a:srgbClr val="3333CC"/>
              </a:solidFill>
              <a:miter lim="800000"/>
              <a:headEnd/>
              <a:tailEnd/>
            </a:ln>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61470" name="Rectangle 30">
              <a:extLst>
                <a:ext uri="{FF2B5EF4-FFF2-40B4-BE49-F238E27FC236}">
                  <a16:creationId xmlns:a16="http://schemas.microsoft.com/office/drawing/2014/main" id="{E0F3C01B-2E5D-F326-6FAD-1BD56AD2282D}"/>
                </a:ext>
              </a:extLst>
            </p:cNvPr>
            <p:cNvSpPr>
              <a:spLocks noChangeArrowheads="1"/>
            </p:cNvSpPr>
            <p:nvPr/>
          </p:nvSpPr>
          <p:spPr bwMode="auto">
            <a:xfrm>
              <a:off x="2852" y="1453"/>
              <a:ext cx="1235" cy="802"/>
            </a:xfrm>
            <a:prstGeom prst="rect">
              <a:avLst/>
            </a:prstGeom>
            <a:noFill/>
            <a:ln w="38100">
              <a:solidFill>
                <a:srgbClr val="3333CC"/>
              </a:solidFill>
              <a:miter lim="800000"/>
              <a:headEnd/>
              <a:tailEnd/>
            </a:ln>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61471" name="Rectangle 31">
              <a:extLst>
                <a:ext uri="{FF2B5EF4-FFF2-40B4-BE49-F238E27FC236}">
                  <a16:creationId xmlns:a16="http://schemas.microsoft.com/office/drawing/2014/main" id="{0ED9F38F-B5E3-5911-3FEE-5A6A2BB90047}"/>
                </a:ext>
              </a:extLst>
            </p:cNvPr>
            <p:cNvSpPr>
              <a:spLocks noChangeArrowheads="1"/>
            </p:cNvSpPr>
            <p:nvPr/>
          </p:nvSpPr>
          <p:spPr bwMode="auto">
            <a:xfrm>
              <a:off x="1617" y="2587"/>
              <a:ext cx="1235" cy="613"/>
            </a:xfrm>
            <a:prstGeom prst="rect">
              <a:avLst/>
            </a:prstGeom>
            <a:noFill/>
            <a:ln w="38100">
              <a:solidFill>
                <a:srgbClr val="3333CC"/>
              </a:solidFill>
              <a:miter lim="800000"/>
              <a:headEnd/>
              <a:tailEnd/>
            </a:ln>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61472" name="Line 32">
              <a:extLst>
                <a:ext uri="{FF2B5EF4-FFF2-40B4-BE49-F238E27FC236}">
                  <a16:creationId xmlns:a16="http://schemas.microsoft.com/office/drawing/2014/main" id="{5B999D57-814E-585A-133E-00CC0428F778}"/>
                </a:ext>
              </a:extLst>
            </p:cNvPr>
            <p:cNvSpPr>
              <a:spLocks noChangeShapeType="1"/>
            </p:cNvSpPr>
            <p:nvPr/>
          </p:nvSpPr>
          <p:spPr bwMode="auto">
            <a:xfrm>
              <a:off x="1954" y="1229"/>
              <a:ext cx="0" cy="319"/>
            </a:xfrm>
            <a:prstGeom prst="line">
              <a:avLst/>
            </a:prstGeom>
            <a:noFill/>
            <a:ln w="38100">
              <a:solidFill>
                <a:srgbClr val="3333CC"/>
              </a:solidFill>
              <a:round/>
              <a:headEnd/>
              <a:tailEnd/>
            </a:ln>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61473" name="Line 33">
              <a:extLst>
                <a:ext uri="{FF2B5EF4-FFF2-40B4-BE49-F238E27FC236}">
                  <a16:creationId xmlns:a16="http://schemas.microsoft.com/office/drawing/2014/main" id="{46C9CB6E-6FEF-8BAE-1CDE-45B6991B050F}"/>
                </a:ext>
              </a:extLst>
            </p:cNvPr>
            <p:cNvSpPr>
              <a:spLocks noChangeShapeType="1"/>
            </p:cNvSpPr>
            <p:nvPr/>
          </p:nvSpPr>
          <p:spPr bwMode="auto">
            <a:xfrm flipH="1">
              <a:off x="1393" y="1548"/>
              <a:ext cx="561" cy="0"/>
            </a:xfrm>
            <a:prstGeom prst="line">
              <a:avLst/>
            </a:prstGeom>
            <a:noFill/>
            <a:ln w="38100">
              <a:solidFill>
                <a:srgbClr val="3333CC"/>
              </a:solidFill>
              <a:round/>
              <a:headEnd type="none" w="sm" len="lg"/>
              <a:tailEnd type="stealth" w="med" len="lg"/>
            </a:ln>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61474" name="Line 34">
              <a:extLst>
                <a:ext uri="{FF2B5EF4-FFF2-40B4-BE49-F238E27FC236}">
                  <a16:creationId xmlns:a16="http://schemas.microsoft.com/office/drawing/2014/main" id="{DFEF9E9B-6D2E-19BD-D01F-083B3F6C6C81}"/>
                </a:ext>
              </a:extLst>
            </p:cNvPr>
            <p:cNvSpPr>
              <a:spLocks noChangeShapeType="1"/>
            </p:cNvSpPr>
            <p:nvPr/>
          </p:nvSpPr>
          <p:spPr bwMode="auto">
            <a:xfrm>
              <a:off x="1393" y="1785"/>
              <a:ext cx="1459" cy="0"/>
            </a:xfrm>
            <a:prstGeom prst="line">
              <a:avLst/>
            </a:prstGeom>
            <a:noFill/>
            <a:ln w="38100">
              <a:solidFill>
                <a:srgbClr val="3333CC"/>
              </a:solidFill>
              <a:round/>
              <a:headEnd type="stealth" w="med" len="lg"/>
              <a:tailEnd type="stealth" w="med" len="lg"/>
            </a:ln>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61475" name="Line 35">
              <a:extLst>
                <a:ext uri="{FF2B5EF4-FFF2-40B4-BE49-F238E27FC236}">
                  <a16:creationId xmlns:a16="http://schemas.microsoft.com/office/drawing/2014/main" id="{87FF9862-2D5B-5CD4-47EF-F699423559EF}"/>
                </a:ext>
              </a:extLst>
            </p:cNvPr>
            <p:cNvSpPr>
              <a:spLocks noChangeShapeType="1"/>
            </p:cNvSpPr>
            <p:nvPr/>
          </p:nvSpPr>
          <p:spPr bwMode="auto">
            <a:xfrm flipH="1">
              <a:off x="1393" y="2019"/>
              <a:ext cx="561" cy="0"/>
            </a:xfrm>
            <a:prstGeom prst="line">
              <a:avLst/>
            </a:prstGeom>
            <a:noFill/>
            <a:ln w="38100">
              <a:solidFill>
                <a:srgbClr val="3333CC"/>
              </a:solidFill>
              <a:round/>
              <a:headEnd type="none" w="sm" len="lg"/>
              <a:tailEnd type="stealth" w="med" len="lg"/>
            </a:ln>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61476" name="Line 36">
              <a:extLst>
                <a:ext uri="{FF2B5EF4-FFF2-40B4-BE49-F238E27FC236}">
                  <a16:creationId xmlns:a16="http://schemas.microsoft.com/office/drawing/2014/main" id="{B3CA402A-C43E-73E2-2B37-8E49AF0A3F4A}"/>
                </a:ext>
              </a:extLst>
            </p:cNvPr>
            <p:cNvSpPr>
              <a:spLocks noChangeShapeType="1"/>
            </p:cNvSpPr>
            <p:nvPr/>
          </p:nvSpPr>
          <p:spPr bwMode="auto">
            <a:xfrm>
              <a:off x="2403" y="1229"/>
              <a:ext cx="0" cy="319"/>
            </a:xfrm>
            <a:prstGeom prst="line">
              <a:avLst/>
            </a:prstGeom>
            <a:noFill/>
            <a:ln w="38100">
              <a:solidFill>
                <a:srgbClr val="3333CC"/>
              </a:solidFill>
              <a:round/>
              <a:headEnd/>
              <a:tailEnd/>
            </a:ln>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61477" name="Line 37">
              <a:extLst>
                <a:ext uri="{FF2B5EF4-FFF2-40B4-BE49-F238E27FC236}">
                  <a16:creationId xmlns:a16="http://schemas.microsoft.com/office/drawing/2014/main" id="{73617B01-53CE-721B-67C7-DCE8F5B6881B}"/>
                </a:ext>
              </a:extLst>
            </p:cNvPr>
            <p:cNvSpPr>
              <a:spLocks noChangeShapeType="1"/>
            </p:cNvSpPr>
            <p:nvPr/>
          </p:nvSpPr>
          <p:spPr bwMode="auto">
            <a:xfrm>
              <a:off x="2403" y="1548"/>
              <a:ext cx="449" cy="0"/>
            </a:xfrm>
            <a:prstGeom prst="line">
              <a:avLst/>
            </a:prstGeom>
            <a:noFill/>
            <a:ln w="38100">
              <a:solidFill>
                <a:srgbClr val="3333CC"/>
              </a:solidFill>
              <a:round/>
              <a:headEnd type="none" w="sm" len="lg"/>
              <a:tailEnd type="stealth" w="med" len="lg"/>
            </a:ln>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61478" name="Line 38">
              <a:extLst>
                <a:ext uri="{FF2B5EF4-FFF2-40B4-BE49-F238E27FC236}">
                  <a16:creationId xmlns:a16="http://schemas.microsoft.com/office/drawing/2014/main" id="{546DB748-E568-01A5-DA98-4598C61EFB7C}"/>
                </a:ext>
              </a:extLst>
            </p:cNvPr>
            <p:cNvSpPr>
              <a:spLocks noChangeShapeType="1"/>
            </p:cNvSpPr>
            <p:nvPr/>
          </p:nvSpPr>
          <p:spPr bwMode="auto">
            <a:xfrm>
              <a:off x="1954" y="2020"/>
              <a:ext cx="0" cy="588"/>
            </a:xfrm>
            <a:prstGeom prst="line">
              <a:avLst/>
            </a:prstGeom>
            <a:noFill/>
            <a:ln w="38100">
              <a:solidFill>
                <a:srgbClr val="3333CC"/>
              </a:solidFill>
              <a:round/>
              <a:headEnd type="none" w="sm" len="lg"/>
              <a:tailEnd type="stealth" w="med" len="lg"/>
            </a:ln>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61479" name="Line 39">
              <a:extLst>
                <a:ext uri="{FF2B5EF4-FFF2-40B4-BE49-F238E27FC236}">
                  <a16:creationId xmlns:a16="http://schemas.microsoft.com/office/drawing/2014/main" id="{5B37135A-2539-840A-7191-ED02BC2CB5DE}"/>
                </a:ext>
              </a:extLst>
            </p:cNvPr>
            <p:cNvSpPr>
              <a:spLocks noChangeShapeType="1"/>
            </p:cNvSpPr>
            <p:nvPr/>
          </p:nvSpPr>
          <p:spPr bwMode="auto">
            <a:xfrm>
              <a:off x="2403" y="2019"/>
              <a:ext cx="449" cy="0"/>
            </a:xfrm>
            <a:prstGeom prst="line">
              <a:avLst/>
            </a:prstGeom>
            <a:noFill/>
            <a:ln w="38100">
              <a:solidFill>
                <a:srgbClr val="3333CC"/>
              </a:solidFill>
              <a:round/>
              <a:headEnd/>
              <a:tailEnd type="stealth" w="med" len="lg"/>
            </a:ln>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61480" name="Line 40">
              <a:extLst>
                <a:ext uri="{FF2B5EF4-FFF2-40B4-BE49-F238E27FC236}">
                  <a16:creationId xmlns:a16="http://schemas.microsoft.com/office/drawing/2014/main" id="{1E3A1CA5-69F3-7A76-D82C-E46E92A77D05}"/>
                </a:ext>
              </a:extLst>
            </p:cNvPr>
            <p:cNvSpPr>
              <a:spLocks noChangeShapeType="1"/>
            </p:cNvSpPr>
            <p:nvPr/>
          </p:nvSpPr>
          <p:spPr bwMode="auto">
            <a:xfrm>
              <a:off x="4087" y="1548"/>
              <a:ext cx="225" cy="0"/>
            </a:xfrm>
            <a:prstGeom prst="line">
              <a:avLst/>
            </a:prstGeom>
            <a:noFill/>
            <a:ln w="38100">
              <a:solidFill>
                <a:srgbClr val="3333CC"/>
              </a:solidFill>
              <a:round/>
              <a:headEnd type="stealth" w="med" len="lg"/>
              <a:tailEnd/>
            </a:ln>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61481" name="Line 41">
              <a:extLst>
                <a:ext uri="{FF2B5EF4-FFF2-40B4-BE49-F238E27FC236}">
                  <a16:creationId xmlns:a16="http://schemas.microsoft.com/office/drawing/2014/main" id="{3C1D65CD-D67A-3EDC-CC7B-C4E7DD480AA3}"/>
                </a:ext>
              </a:extLst>
            </p:cNvPr>
            <p:cNvSpPr>
              <a:spLocks noChangeShapeType="1"/>
            </p:cNvSpPr>
            <p:nvPr/>
          </p:nvSpPr>
          <p:spPr bwMode="auto">
            <a:xfrm>
              <a:off x="4087" y="2019"/>
              <a:ext cx="225" cy="0"/>
            </a:xfrm>
            <a:prstGeom prst="line">
              <a:avLst/>
            </a:prstGeom>
            <a:noFill/>
            <a:ln w="38100">
              <a:solidFill>
                <a:srgbClr val="3333CC"/>
              </a:solidFill>
              <a:round/>
              <a:headEnd type="stealth" w="med" len="lg"/>
              <a:tailEnd/>
            </a:ln>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61482" name="Line 42">
              <a:extLst>
                <a:ext uri="{FF2B5EF4-FFF2-40B4-BE49-F238E27FC236}">
                  <a16:creationId xmlns:a16="http://schemas.microsoft.com/office/drawing/2014/main" id="{453F614B-6349-E259-A352-051A9199B54D}"/>
                </a:ext>
              </a:extLst>
            </p:cNvPr>
            <p:cNvSpPr>
              <a:spLocks noChangeShapeType="1"/>
            </p:cNvSpPr>
            <p:nvPr/>
          </p:nvSpPr>
          <p:spPr bwMode="auto">
            <a:xfrm>
              <a:off x="4303" y="1548"/>
              <a:ext cx="0" cy="471"/>
            </a:xfrm>
            <a:prstGeom prst="line">
              <a:avLst/>
            </a:prstGeom>
            <a:noFill/>
            <a:ln w="38100">
              <a:solidFill>
                <a:srgbClr val="3333CC"/>
              </a:solidFill>
              <a:round/>
              <a:headEnd/>
              <a:tailEnd/>
            </a:ln>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61483" name="Line 43">
              <a:extLst>
                <a:ext uri="{FF2B5EF4-FFF2-40B4-BE49-F238E27FC236}">
                  <a16:creationId xmlns:a16="http://schemas.microsoft.com/office/drawing/2014/main" id="{6D198898-9F78-0995-D0A6-ACCDE73A15D1}"/>
                </a:ext>
              </a:extLst>
            </p:cNvPr>
            <p:cNvSpPr>
              <a:spLocks noChangeShapeType="1"/>
            </p:cNvSpPr>
            <p:nvPr/>
          </p:nvSpPr>
          <p:spPr bwMode="auto">
            <a:xfrm>
              <a:off x="2403" y="2020"/>
              <a:ext cx="0" cy="588"/>
            </a:xfrm>
            <a:prstGeom prst="line">
              <a:avLst/>
            </a:prstGeom>
            <a:noFill/>
            <a:ln w="38100">
              <a:solidFill>
                <a:srgbClr val="3333CC"/>
              </a:solidFill>
              <a:round/>
              <a:headEnd type="none" w="sm" len="lg"/>
              <a:tailEnd type="stealth" w="med" len="lg"/>
            </a:ln>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11286" name="Text Box 44">
              <a:extLst>
                <a:ext uri="{FF2B5EF4-FFF2-40B4-BE49-F238E27FC236}">
                  <a16:creationId xmlns:a16="http://schemas.microsoft.com/office/drawing/2014/main" id="{633646EE-454D-7399-3F77-A8EEF6ECF50C}"/>
                </a:ext>
              </a:extLst>
            </p:cNvPr>
            <p:cNvSpPr txBox="1">
              <a:spLocks noChangeArrowheads="1"/>
            </p:cNvSpPr>
            <p:nvPr/>
          </p:nvSpPr>
          <p:spPr bwMode="auto">
            <a:xfrm>
              <a:off x="1824" y="864"/>
              <a:ext cx="69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50000"/>
                </a:spcBef>
              </a:pPr>
              <a:r>
                <a:rPr kumimoji="1" lang="zh-CN" altLang="en-US" sz="2400" b="1">
                  <a:solidFill>
                    <a:srgbClr val="006600"/>
                  </a:solidFill>
                  <a:latin typeface="Times New Roman" panose="02020603050405020304" pitchFamily="18" charset="0"/>
                  <a:ea typeface="黑体" panose="02010609060101010101" pitchFamily="49" charset="-122"/>
                </a:rPr>
                <a:t>立即数</a:t>
              </a:r>
            </a:p>
          </p:txBody>
        </p:sp>
        <p:sp>
          <p:nvSpPr>
            <p:cNvPr id="11287" name="Text Box 45">
              <a:extLst>
                <a:ext uri="{FF2B5EF4-FFF2-40B4-BE49-F238E27FC236}">
                  <a16:creationId xmlns:a16="http://schemas.microsoft.com/office/drawing/2014/main" id="{3B5FA095-DE25-332D-869F-6E79894581F2}"/>
                </a:ext>
              </a:extLst>
            </p:cNvPr>
            <p:cNvSpPr txBox="1">
              <a:spLocks noChangeArrowheads="1"/>
            </p:cNvSpPr>
            <p:nvPr/>
          </p:nvSpPr>
          <p:spPr bwMode="auto">
            <a:xfrm>
              <a:off x="1632" y="2592"/>
              <a:ext cx="1201" cy="5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50000"/>
                </a:spcBef>
              </a:pPr>
              <a:r>
                <a:rPr kumimoji="1" lang="zh-CN" altLang="en-US" sz="2400" b="1">
                  <a:solidFill>
                    <a:srgbClr val="006600"/>
                  </a:solidFill>
                  <a:latin typeface="Times New Roman" panose="02020603050405020304" pitchFamily="18" charset="0"/>
                  <a:ea typeface="黑体" panose="02010609060101010101" pitchFamily="49" charset="-122"/>
                </a:rPr>
                <a:t>段寄存器</a:t>
              </a:r>
            </a:p>
            <a:p>
              <a:pPr>
                <a:lnSpc>
                  <a:spcPct val="60000"/>
                </a:lnSpc>
                <a:spcBef>
                  <a:spcPct val="50000"/>
                </a:spcBef>
              </a:pPr>
              <a:r>
                <a:rPr kumimoji="1" lang="en-US" altLang="zh-CN" sz="2400" b="1">
                  <a:solidFill>
                    <a:srgbClr val="006600"/>
                  </a:solidFill>
                  <a:latin typeface="黑体" panose="02010609060101010101" pitchFamily="49" charset="-122"/>
                  <a:ea typeface="黑体" panose="02010609060101010101" pitchFamily="49" charset="-122"/>
                </a:rPr>
                <a:t>CS DS ES SS</a:t>
              </a:r>
            </a:p>
          </p:txBody>
        </p:sp>
        <p:sp>
          <p:nvSpPr>
            <p:cNvPr id="11288" name="Text Box 46">
              <a:extLst>
                <a:ext uri="{FF2B5EF4-FFF2-40B4-BE49-F238E27FC236}">
                  <a16:creationId xmlns:a16="http://schemas.microsoft.com/office/drawing/2014/main" id="{680F61C7-4F2F-7EAA-4E03-3ED5F241C98F}"/>
                </a:ext>
              </a:extLst>
            </p:cNvPr>
            <p:cNvSpPr txBox="1">
              <a:spLocks noChangeArrowheads="1"/>
            </p:cNvSpPr>
            <p:nvPr/>
          </p:nvSpPr>
          <p:spPr bwMode="auto">
            <a:xfrm>
              <a:off x="2862" y="1488"/>
              <a:ext cx="1218" cy="7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50000"/>
                </a:spcBef>
              </a:pPr>
              <a:r>
                <a:rPr kumimoji="1" lang="zh-CN" altLang="en-US" sz="2400" b="1">
                  <a:solidFill>
                    <a:srgbClr val="006600"/>
                  </a:solidFill>
                  <a:latin typeface="Times New Roman" panose="02020603050405020304" pitchFamily="18" charset="0"/>
                  <a:ea typeface="黑体" panose="02010609060101010101" pitchFamily="49" charset="-122"/>
                </a:rPr>
                <a:t>通用寄存器</a:t>
              </a:r>
            </a:p>
            <a:p>
              <a:pPr>
                <a:lnSpc>
                  <a:spcPct val="50000"/>
                </a:lnSpc>
                <a:spcBef>
                  <a:spcPct val="50000"/>
                </a:spcBef>
              </a:pPr>
              <a:r>
                <a:rPr kumimoji="1" lang="en-US" altLang="zh-CN" sz="2400" b="1">
                  <a:solidFill>
                    <a:srgbClr val="006600"/>
                  </a:solidFill>
                  <a:latin typeface="黑体" panose="02010609060101010101" pitchFamily="49" charset="-122"/>
                  <a:ea typeface="黑体" panose="02010609060101010101" pitchFamily="49" charset="-122"/>
                </a:rPr>
                <a:t>AX BX CX DX</a:t>
              </a:r>
            </a:p>
            <a:p>
              <a:pPr>
                <a:lnSpc>
                  <a:spcPct val="50000"/>
                </a:lnSpc>
                <a:spcBef>
                  <a:spcPct val="50000"/>
                </a:spcBef>
              </a:pPr>
              <a:r>
                <a:rPr kumimoji="1" lang="en-US" altLang="zh-CN" sz="2400" b="1">
                  <a:solidFill>
                    <a:srgbClr val="006600"/>
                  </a:solidFill>
                  <a:latin typeface="黑体" panose="02010609060101010101" pitchFamily="49" charset="-122"/>
                  <a:ea typeface="黑体" panose="02010609060101010101" pitchFamily="49" charset="-122"/>
                </a:rPr>
                <a:t>BP SP SI DI</a:t>
              </a:r>
            </a:p>
          </p:txBody>
        </p:sp>
        <p:sp>
          <p:nvSpPr>
            <p:cNvPr id="11289" name="Text Box 47">
              <a:extLst>
                <a:ext uri="{FF2B5EF4-FFF2-40B4-BE49-F238E27FC236}">
                  <a16:creationId xmlns:a16="http://schemas.microsoft.com/office/drawing/2014/main" id="{2A919371-32DC-935A-C47A-E2DC88CD265B}"/>
                </a:ext>
              </a:extLst>
            </p:cNvPr>
            <p:cNvSpPr txBox="1">
              <a:spLocks noChangeArrowheads="1"/>
            </p:cNvSpPr>
            <p:nvPr/>
          </p:nvSpPr>
          <p:spPr bwMode="auto">
            <a:xfrm>
              <a:off x="1056" y="1497"/>
              <a:ext cx="271" cy="7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nSpc>
                  <a:spcPct val="60000"/>
                </a:lnSpc>
                <a:spcBef>
                  <a:spcPct val="50000"/>
                </a:spcBef>
              </a:pPr>
              <a:r>
                <a:rPr kumimoji="1" lang="zh-CN" altLang="en-US" sz="2400" b="1">
                  <a:solidFill>
                    <a:srgbClr val="006600"/>
                  </a:solidFill>
                  <a:latin typeface="Times New Roman" panose="02020603050405020304" pitchFamily="18" charset="0"/>
                  <a:ea typeface="黑体" panose="02010609060101010101" pitchFamily="49" charset="-122"/>
                </a:rPr>
                <a:t>存</a:t>
              </a:r>
            </a:p>
            <a:p>
              <a:pPr>
                <a:lnSpc>
                  <a:spcPct val="60000"/>
                </a:lnSpc>
                <a:spcBef>
                  <a:spcPct val="50000"/>
                </a:spcBef>
              </a:pPr>
              <a:r>
                <a:rPr kumimoji="1" lang="zh-CN" altLang="en-US" sz="2400" b="1">
                  <a:solidFill>
                    <a:srgbClr val="006600"/>
                  </a:solidFill>
                  <a:latin typeface="Times New Roman" panose="02020603050405020304" pitchFamily="18" charset="0"/>
                  <a:ea typeface="黑体" panose="02010609060101010101" pitchFamily="49" charset="-122"/>
                </a:rPr>
                <a:t>储</a:t>
              </a:r>
            </a:p>
            <a:p>
              <a:pPr>
                <a:lnSpc>
                  <a:spcPct val="60000"/>
                </a:lnSpc>
                <a:spcBef>
                  <a:spcPct val="50000"/>
                </a:spcBef>
              </a:pPr>
              <a:r>
                <a:rPr kumimoji="1" lang="zh-CN" altLang="en-US" sz="2400" b="1">
                  <a:solidFill>
                    <a:srgbClr val="006600"/>
                  </a:solidFill>
                  <a:latin typeface="Times New Roman" panose="02020603050405020304" pitchFamily="18" charset="0"/>
                  <a:ea typeface="黑体" panose="02010609060101010101" pitchFamily="49" charset="-122"/>
                </a:rPr>
                <a:t>器</a:t>
              </a:r>
            </a:p>
          </p:txBody>
        </p:sp>
      </p:grpSp>
      <p:sp>
        <p:nvSpPr>
          <p:cNvPr id="61488" name="Rectangle 48">
            <a:extLst>
              <a:ext uri="{FF2B5EF4-FFF2-40B4-BE49-F238E27FC236}">
                <a16:creationId xmlns:a16="http://schemas.microsoft.com/office/drawing/2014/main" id="{70E5ADE7-C791-C033-15D3-35C9120F73C6}"/>
              </a:ext>
            </a:extLst>
          </p:cNvPr>
          <p:cNvSpPr>
            <a:spLocks noChangeArrowheads="1"/>
          </p:cNvSpPr>
          <p:nvPr/>
        </p:nvSpPr>
        <p:spPr bwMode="auto">
          <a:xfrm>
            <a:off x="3270250" y="4062413"/>
            <a:ext cx="5819775" cy="2795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1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19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19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ea typeface="宋体" panose="02010600030101010101" pitchFamily="2" charset="-122"/>
              </a:defRPr>
            </a:lvl9pPr>
          </a:lstStyle>
          <a:p>
            <a:pPr algn="just" eaLnBrk="1" hangingPunct="1">
              <a:buFontTx/>
              <a:buNone/>
            </a:pPr>
            <a:r>
              <a:rPr lang="zh-CN" altLang="en-US" sz="2800" b="1">
                <a:ea typeface="幼圆" panose="02010509060101010101" pitchFamily="49" charset="-122"/>
              </a:rPr>
              <a:t>非法指令的主要现象：</a:t>
            </a:r>
          </a:p>
          <a:p>
            <a:pPr algn="just" eaLnBrk="1" hangingPunct="1">
              <a:buFontTx/>
              <a:buBlip>
                <a:blip r:embed="rId2"/>
              </a:buBlip>
            </a:pPr>
            <a:r>
              <a:rPr lang="zh-CN" altLang="en-US" sz="2800" b="1">
                <a:solidFill>
                  <a:schemeClr val="accent2"/>
                </a:solidFill>
                <a:ea typeface="幼圆" panose="02010509060101010101" pitchFamily="49" charset="-122"/>
              </a:rPr>
              <a:t>两个操作数的类型不一致</a:t>
            </a:r>
          </a:p>
          <a:p>
            <a:pPr algn="just" eaLnBrk="1" hangingPunct="1">
              <a:buFontTx/>
              <a:buBlip>
                <a:blip r:embed="rId2"/>
              </a:buBlip>
            </a:pPr>
            <a:r>
              <a:rPr lang="zh-CN" altLang="en-US" sz="2800" b="1">
                <a:solidFill>
                  <a:schemeClr val="accent2"/>
                </a:solidFill>
                <a:ea typeface="幼圆" panose="02010509060101010101" pitchFamily="49" charset="-122"/>
              </a:rPr>
              <a:t>无法确定是字节量还是字量操作</a:t>
            </a:r>
          </a:p>
          <a:p>
            <a:pPr algn="just" eaLnBrk="1" hangingPunct="1">
              <a:buFontTx/>
              <a:buBlip>
                <a:blip r:embed="rId2"/>
              </a:buBlip>
            </a:pPr>
            <a:r>
              <a:rPr lang="zh-CN" altLang="en-US" sz="2800" b="1">
                <a:solidFill>
                  <a:schemeClr val="accent2"/>
                </a:solidFill>
                <a:ea typeface="幼圆" panose="02010509060101010101" pitchFamily="49" charset="-122"/>
              </a:rPr>
              <a:t>两个操作数都是存储器</a:t>
            </a:r>
          </a:p>
          <a:p>
            <a:pPr algn="just" eaLnBrk="1" hangingPunct="1">
              <a:buFontTx/>
              <a:buBlip>
                <a:blip r:embed="rId2"/>
              </a:buBlip>
            </a:pPr>
            <a:r>
              <a:rPr lang="zh-CN" altLang="en-US" sz="2800" b="1">
                <a:solidFill>
                  <a:schemeClr val="accent2"/>
                </a:solidFill>
                <a:ea typeface="幼圆" panose="02010509060101010101" pitchFamily="49" charset="-122"/>
              </a:rPr>
              <a:t>段寄存器的操作有一些限制</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61466">
                                            <p:txEl>
                                              <p:pRg st="0" end="0"/>
                                            </p:txEl>
                                          </p:spTgt>
                                        </p:tgtEl>
                                        <p:attrNameLst>
                                          <p:attrName>style.visibility</p:attrName>
                                        </p:attrNameLst>
                                      </p:cBhvr>
                                      <p:to>
                                        <p:strVal val="visible"/>
                                      </p:to>
                                    </p:set>
                                    <p:anim calcmode="lin" valueType="num">
                                      <p:cBhvr additive="base">
                                        <p:cTn id="7" dur="500" fill="hold"/>
                                        <p:tgtEl>
                                          <p:spTgt spid="6146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1466">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30" presetClass="entr" presetSubtype="0" fill="hold" nodeType="afterEffect">
                                  <p:stCondLst>
                                    <p:cond delay="0"/>
                                  </p:stCondLst>
                                  <p:childTnLst>
                                    <p:set>
                                      <p:cBhvr>
                                        <p:cTn id="11" dur="1" fill="hold">
                                          <p:stCondLst>
                                            <p:cond delay="0"/>
                                          </p:stCondLst>
                                        </p:cTn>
                                        <p:tgtEl>
                                          <p:spTgt spid="61488"/>
                                        </p:tgtEl>
                                        <p:attrNameLst>
                                          <p:attrName>style.visibility</p:attrName>
                                        </p:attrNameLst>
                                      </p:cBhvr>
                                      <p:to>
                                        <p:strVal val="visible"/>
                                      </p:to>
                                    </p:set>
                                    <p:animEffect transition="in" filter="fade">
                                      <p:cBhvr>
                                        <p:cTn id="12" dur="1600" decel="100000"/>
                                        <p:tgtEl>
                                          <p:spTgt spid="61488"/>
                                        </p:tgtEl>
                                      </p:cBhvr>
                                    </p:animEffect>
                                    <p:anim calcmode="lin" valueType="num">
                                      <p:cBhvr>
                                        <p:cTn id="13" dur="1600" decel="100000" fill="hold"/>
                                        <p:tgtEl>
                                          <p:spTgt spid="61488"/>
                                        </p:tgtEl>
                                        <p:attrNameLst>
                                          <p:attrName>style.rotation</p:attrName>
                                        </p:attrNameLst>
                                      </p:cBhvr>
                                      <p:tavLst>
                                        <p:tav tm="0">
                                          <p:val>
                                            <p:fltVal val="-90"/>
                                          </p:val>
                                        </p:tav>
                                        <p:tav tm="100000">
                                          <p:val>
                                            <p:fltVal val="0"/>
                                          </p:val>
                                        </p:tav>
                                      </p:tavLst>
                                    </p:anim>
                                    <p:anim calcmode="lin" valueType="num">
                                      <p:cBhvr>
                                        <p:cTn id="14" dur="1600" decel="100000" fill="hold"/>
                                        <p:tgtEl>
                                          <p:spTgt spid="61488"/>
                                        </p:tgtEl>
                                        <p:attrNameLst>
                                          <p:attrName>ppt_x</p:attrName>
                                        </p:attrNameLst>
                                      </p:cBhvr>
                                      <p:tavLst>
                                        <p:tav tm="0">
                                          <p:val>
                                            <p:strVal val="#ppt_x+0.4"/>
                                          </p:val>
                                        </p:tav>
                                        <p:tav tm="100000">
                                          <p:val>
                                            <p:strVal val="#ppt_x-0.05"/>
                                          </p:val>
                                        </p:tav>
                                      </p:tavLst>
                                    </p:anim>
                                    <p:anim calcmode="lin" valueType="num">
                                      <p:cBhvr>
                                        <p:cTn id="15" dur="1600" decel="100000" fill="hold"/>
                                        <p:tgtEl>
                                          <p:spTgt spid="61488"/>
                                        </p:tgtEl>
                                        <p:attrNameLst>
                                          <p:attrName>ppt_y</p:attrName>
                                        </p:attrNameLst>
                                      </p:cBhvr>
                                      <p:tavLst>
                                        <p:tav tm="0">
                                          <p:val>
                                            <p:strVal val="#ppt_y-0.4"/>
                                          </p:val>
                                        </p:tav>
                                        <p:tav tm="100000">
                                          <p:val>
                                            <p:strVal val="#ppt_y+0.1"/>
                                          </p:val>
                                        </p:tav>
                                      </p:tavLst>
                                    </p:anim>
                                    <p:anim calcmode="lin" valueType="num">
                                      <p:cBhvr>
                                        <p:cTn id="16" dur="400" accel="100000" fill="hold">
                                          <p:stCondLst>
                                            <p:cond delay="1600"/>
                                          </p:stCondLst>
                                        </p:cTn>
                                        <p:tgtEl>
                                          <p:spTgt spid="61488"/>
                                        </p:tgtEl>
                                        <p:attrNameLst>
                                          <p:attrName>ppt_x</p:attrName>
                                        </p:attrNameLst>
                                      </p:cBhvr>
                                      <p:tavLst>
                                        <p:tav tm="0">
                                          <p:val>
                                            <p:strVal val="#ppt_x-0.05"/>
                                          </p:val>
                                        </p:tav>
                                        <p:tav tm="100000">
                                          <p:val>
                                            <p:strVal val="#ppt_x"/>
                                          </p:val>
                                        </p:tav>
                                      </p:tavLst>
                                    </p:anim>
                                    <p:anim calcmode="lin" valueType="num">
                                      <p:cBhvr>
                                        <p:cTn id="17" dur="400" accel="100000" fill="hold">
                                          <p:stCondLst>
                                            <p:cond delay="1600"/>
                                          </p:stCondLst>
                                        </p:cTn>
                                        <p:tgtEl>
                                          <p:spTgt spid="61488"/>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6" grpId="0" build="p" autoUpdateAnimBg="0"/>
      <p:bldP spid="6148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62CD61DF-DA61-7375-E17F-09B4E8E05BA7}"/>
              </a:ext>
            </a:extLst>
          </p:cNvPr>
          <p:cNvSpPr>
            <a:spLocks noGrp="1" noChangeArrowheads="1"/>
          </p:cNvSpPr>
          <p:nvPr>
            <p:ph type="title"/>
          </p:nvPr>
        </p:nvSpPr>
        <p:spPr>
          <a:xfrm>
            <a:off x="457200" y="627063"/>
            <a:ext cx="8466138" cy="1143000"/>
          </a:xfrm>
        </p:spPr>
        <p:txBody>
          <a:bodyPr/>
          <a:lstStyle/>
          <a:p>
            <a:r>
              <a:rPr lang="zh-CN" altLang="en-US" sz="4000"/>
              <a:t>非法指令－两个操作数类型不一致</a:t>
            </a:r>
          </a:p>
        </p:txBody>
      </p:sp>
      <p:sp>
        <p:nvSpPr>
          <p:cNvPr id="12291" name="Rectangle 3">
            <a:extLst>
              <a:ext uri="{FF2B5EF4-FFF2-40B4-BE49-F238E27FC236}">
                <a16:creationId xmlns:a16="http://schemas.microsoft.com/office/drawing/2014/main" id="{8178AFE9-7B11-E2D6-D1F8-9323BA35F90F}"/>
              </a:ext>
            </a:extLst>
          </p:cNvPr>
          <p:cNvSpPr>
            <a:spLocks noGrp="1" noChangeArrowheads="1"/>
          </p:cNvSpPr>
          <p:nvPr>
            <p:ph idx="1"/>
          </p:nvPr>
        </p:nvSpPr>
        <p:spPr>
          <a:xfrm>
            <a:off x="457200" y="2216150"/>
            <a:ext cx="8229600" cy="4525963"/>
          </a:xfrm>
        </p:spPr>
        <p:txBody>
          <a:bodyPr/>
          <a:lstStyle/>
          <a:p>
            <a:pPr>
              <a:buSzPct val="90000"/>
              <a:buFont typeface="Wingdings" panose="05000000000000000000" pitchFamily="2" charset="2"/>
              <a:buChar char="Ø"/>
              <a:tabLst>
                <a:tab pos="3944938" algn="l"/>
              </a:tabLst>
            </a:pPr>
            <a:r>
              <a:rPr kumimoji="1" lang="zh-CN" altLang="en-US" sz="2800">
                <a:solidFill>
                  <a:srgbClr val="000000"/>
                </a:solidFill>
              </a:rPr>
              <a:t>在绝大多数双操作数指令中，目的操作数和源操作数必须具有一致的数据类型，或者同为字量，或者同为字节量，否则为非法指令</a:t>
            </a:r>
          </a:p>
          <a:p>
            <a:pPr>
              <a:buSzPct val="90000"/>
              <a:buFont typeface="Wingdings" panose="05000000000000000000" pitchFamily="2" charset="2"/>
              <a:buNone/>
              <a:tabLst>
                <a:tab pos="3944938" algn="l"/>
              </a:tabLst>
            </a:pPr>
            <a:r>
              <a:rPr kumimoji="1" lang="zh-CN" altLang="en-US" sz="2800">
                <a:solidFill>
                  <a:srgbClr val="000000"/>
                </a:solidFill>
              </a:rPr>
              <a:t>	</a:t>
            </a:r>
            <a:r>
              <a:rPr kumimoji="1" lang="en-US" altLang="zh-CN" sz="2800">
                <a:solidFill>
                  <a:srgbClr val="000000"/>
                </a:solidFill>
              </a:rPr>
              <a:t>MOV AL, 050AH	</a:t>
            </a:r>
            <a:r>
              <a:rPr kumimoji="1" lang="zh-CN" altLang="en-US" sz="2800">
                <a:solidFill>
                  <a:srgbClr val="000000"/>
                </a:solidFill>
              </a:rPr>
              <a:t>；非法指令，</a:t>
            </a:r>
            <a:r>
              <a:rPr kumimoji="1" lang="zh-CN" altLang="en-US" sz="2800">
                <a:solidFill>
                  <a:srgbClr val="006600"/>
                </a:solidFill>
              </a:rPr>
              <a:t>修正：</a:t>
            </a:r>
          </a:p>
          <a:p>
            <a:pPr>
              <a:buSzPct val="90000"/>
              <a:buFont typeface="Wingdings" panose="05000000000000000000" pitchFamily="2" charset="2"/>
              <a:buNone/>
              <a:tabLst>
                <a:tab pos="3944938" algn="l"/>
              </a:tabLst>
            </a:pPr>
            <a:r>
              <a:rPr kumimoji="1" lang="zh-CN" altLang="en-US" sz="2800">
                <a:solidFill>
                  <a:srgbClr val="006600"/>
                </a:solidFill>
              </a:rPr>
              <a:t>	；</a:t>
            </a:r>
            <a:r>
              <a:rPr kumimoji="1" lang="en-US" altLang="zh-CN" sz="2800">
                <a:solidFill>
                  <a:srgbClr val="006600"/>
                </a:solidFill>
              </a:rPr>
              <a:t>mov ax,050ah</a:t>
            </a:r>
          </a:p>
          <a:p>
            <a:pPr>
              <a:buSzPct val="90000"/>
              <a:buFont typeface="Wingdings" panose="05000000000000000000" pitchFamily="2" charset="2"/>
              <a:buNone/>
              <a:tabLst>
                <a:tab pos="3944938" algn="l"/>
              </a:tabLst>
            </a:pPr>
            <a:r>
              <a:rPr kumimoji="1" lang="en-US" altLang="zh-CN" sz="2800">
                <a:solidFill>
                  <a:srgbClr val="000000"/>
                </a:solidFill>
              </a:rPr>
              <a:t>	MOV SI, DL	</a:t>
            </a:r>
            <a:r>
              <a:rPr kumimoji="1" lang="zh-CN" altLang="en-US" sz="2800">
                <a:solidFill>
                  <a:srgbClr val="000000"/>
                </a:solidFill>
              </a:rPr>
              <a:t>；非法指令</a:t>
            </a:r>
            <a:endParaRPr kumimoji="1" lang="zh-CN" altLang="en-US" sz="2800">
              <a:solidFill>
                <a:srgbClr val="006600"/>
              </a:solidFill>
            </a:endParaRPr>
          </a:p>
          <a:p>
            <a:pPr>
              <a:buSzPct val="90000"/>
              <a:buFont typeface="Wingdings" panose="05000000000000000000" pitchFamily="2" charset="2"/>
              <a:buNone/>
              <a:tabLst>
                <a:tab pos="3944938" algn="l"/>
              </a:tabLst>
            </a:pPr>
            <a:r>
              <a:rPr kumimoji="1" lang="zh-CN" altLang="en-US" sz="2800">
                <a:solidFill>
                  <a:srgbClr val="006600"/>
                </a:solidFill>
              </a:rPr>
              <a:t>	</a:t>
            </a:r>
            <a:endParaRPr kumimoji="1" lang="en-US" altLang="zh-CN" sz="2800">
              <a:solidFill>
                <a:srgbClr val="006600"/>
              </a:solidFill>
            </a:endParaRPr>
          </a:p>
        </p:txBody>
      </p:sp>
    </p:spTree>
  </p:cSld>
  <p:clrMapOvr>
    <a:masterClrMapping/>
  </p:clrMapOvr>
  <p:transition>
    <p:rand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F4E2D9FA-ED01-F95D-CAD3-FAEA3C4B8EBB}"/>
              </a:ext>
            </a:extLst>
          </p:cNvPr>
          <p:cNvSpPr>
            <a:spLocks noGrp="1" noChangeArrowheads="1"/>
          </p:cNvSpPr>
          <p:nvPr>
            <p:ph type="title"/>
          </p:nvPr>
        </p:nvSpPr>
        <p:spPr>
          <a:xfrm>
            <a:off x="457200" y="644525"/>
            <a:ext cx="8229600" cy="1143000"/>
          </a:xfrm>
        </p:spPr>
        <p:txBody>
          <a:bodyPr/>
          <a:lstStyle/>
          <a:p>
            <a:pPr algn="l"/>
            <a:r>
              <a:rPr lang="zh-CN" altLang="en-US" sz="4000"/>
              <a:t>非法指令－无法确定是字节量还是字量操作</a:t>
            </a:r>
          </a:p>
        </p:txBody>
      </p:sp>
      <p:sp>
        <p:nvSpPr>
          <p:cNvPr id="13315" name="Rectangle 3">
            <a:extLst>
              <a:ext uri="{FF2B5EF4-FFF2-40B4-BE49-F238E27FC236}">
                <a16:creationId xmlns:a16="http://schemas.microsoft.com/office/drawing/2014/main" id="{E3AC2133-EF9A-50F7-ED3C-7BD1ADBBBC2E}"/>
              </a:ext>
            </a:extLst>
          </p:cNvPr>
          <p:cNvSpPr>
            <a:spLocks noGrp="1" noChangeArrowheads="1"/>
          </p:cNvSpPr>
          <p:nvPr>
            <p:ph idx="1"/>
          </p:nvPr>
        </p:nvSpPr>
        <p:spPr>
          <a:xfrm>
            <a:off x="458788" y="2057400"/>
            <a:ext cx="8229600" cy="4525963"/>
          </a:xfrm>
        </p:spPr>
        <p:txBody>
          <a:bodyPr/>
          <a:lstStyle/>
          <a:p>
            <a:pPr>
              <a:buSzPct val="90000"/>
              <a:buFont typeface="Wingdings" panose="05000000000000000000" pitchFamily="2" charset="2"/>
              <a:buChar char="Ø"/>
              <a:tabLst>
                <a:tab pos="3944938" algn="l"/>
              </a:tabLst>
            </a:pPr>
            <a:r>
              <a:rPr kumimoji="1" lang="zh-CN" altLang="en-US" sz="2800">
                <a:solidFill>
                  <a:srgbClr val="000000"/>
                </a:solidFill>
              </a:rPr>
              <a:t>当无法通过任一个操作数确定是操作类型时，需要利用汇编语言的操作符显式指明</a:t>
            </a:r>
          </a:p>
          <a:p>
            <a:pPr>
              <a:buSzPct val="90000"/>
              <a:buFont typeface="Wingdings" panose="05000000000000000000" pitchFamily="2" charset="2"/>
              <a:buNone/>
              <a:tabLst>
                <a:tab pos="3944938" algn="l"/>
              </a:tabLst>
            </a:pPr>
            <a:r>
              <a:rPr kumimoji="1" lang="zh-CN" altLang="en-US" sz="2800">
                <a:solidFill>
                  <a:srgbClr val="000000"/>
                </a:solidFill>
              </a:rPr>
              <a:t>	</a:t>
            </a:r>
            <a:r>
              <a:rPr kumimoji="1" lang="en-US" altLang="zh-CN" sz="2800">
                <a:solidFill>
                  <a:srgbClr val="000000"/>
                </a:solidFill>
              </a:rPr>
              <a:t>MOV [BX+SI], 255	</a:t>
            </a:r>
            <a:r>
              <a:rPr kumimoji="1" lang="zh-CN" altLang="en-US" sz="2800">
                <a:solidFill>
                  <a:srgbClr val="000000"/>
                </a:solidFill>
              </a:rPr>
              <a:t>；非法指令，</a:t>
            </a:r>
            <a:r>
              <a:rPr kumimoji="1" lang="zh-CN" altLang="en-US" sz="2800">
                <a:solidFill>
                  <a:srgbClr val="006600"/>
                </a:solidFill>
              </a:rPr>
              <a:t>修正：</a:t>
            </a:r>
          </a:p>
          <a:p>
            <a:pPr>
              <a:buSzPct val="90000"/>
              <a:buFont typeface="Wingdings" panose="05000000000000000000" pitchFamily="2" charset="2"/>
              <a:buNone/>
              <a:tabLst>
                <a:tab pos="3944938" algn="l"/>
              </a:tabLst>
            </a:pPr>
            <a:r>
              <a:rPr kumimoji="1" lang="zh-CN" altLang="en-US">
                <a:solidFill>
                  <a:srgbClr val="006600"/>
                </a:solidFill>
              </a:rPr>
              <a:t>	；</a:t>
            </a:r>
            <a:r>
              <a:rPr kumimoji="1" lang="en-US" altLang="zh-CN">
                <a:solidFill>
                  <a:srgbClr val="006600"/>
                </a:solidFill>
              </a:rPr>
              <a:t>mov</a:t>
            </a:r>
            <a:r>
              <a:rPr kumimoji="1" lang="en-US" altLang="zh-CN">
                <a:solidFill>
                  <a:srgbClr val="009900"/>
                </a:solidFill>
              </a:rPr>
              <a:t> </a:t>
            </a:r>
            <a:r>
              <a:rPr kumimoji="1" lang="en-US" altLang="zh-CN">
                <a:latin typeface="宋体" panose="02010600030101010101" pitchFamily="2" charset="-122"/>
              </a:rPr>
              <a:t>byte ptr [bx+si]</a:t>
            </a:r>
            <a:r>
              <a:rPr kumimoji="1" lang="en-US" altLang="zh-CN"/>
              <a:t>,</a:t>
            </a:r>
            <a:r>
              <a:rPr kumimoji="1" lang="en-US" altLang="zh-CN">
                <a:solidFill>
                  <a:srgbClr val="006600"/>
                </a:solidFill>
              </a:rPr>
              <a:t>255</a:t>
            </a:r>
          </a:p>
          <a:p>
            <a:pPr>
              <a:buSzPct val="90000"/>
              <a:buFont typeface="Wingdings" panose="05000000000000000000" pitchFamily="2" charset="2"/>
              <a:buNone/>
              <a:tabLst>
                <a:tab pos="3944938" algn="l"/>
              </a:tabLst>
            </a:pPr>
            <a:r>
              <a:rPr kumimoji="1" lang="en-US" altLang="zh-CN">
                <a:solidFill>
                  <a:srgbClr val="000000"/>
                </a:solidFill>
                <a:latin typeface="宋体" panose="02010600030101010101" pitchFamily="2" charset="-122"/>
              </a:rPr>
              <a:t>	</a:t>
            </a:r>
            <a:r>
              <a:rPr kumimoji="1" lang="zh-CN" altLang="en-US">
                <a:solidFill>
                  <a:srgbClr val="000000"/>
                </a:solidFill>
                <a:latin typeface="宋体" panose="02010600030101010101" pitchFamily="2" charset="-122"/>
              </a:rPr>
              <a:t>；</a:t>
            </a:r>
            <a:r>
              <a:rPr kumimoji="1" lang="en-US" altLang="zh-CN">
                <a:solidFill>
                  <a:srgbClr val="000000"/>
                </a:solidFill>
                <a:latin typeface="宋体" panose="02010600030101010101" pitchFamily="2" charset="-122"/>
              </a:rPr>
              <a:t>byte ptr </a:t>
            </a:r>
            <a:r>
              <a:rPr kumimoji="1" lang="zh-CN" altLang="en-US">
                <a:solidFill>
                  <a:srgbClr val="000000"/>
                </a:solidFill>
                <a:latin typeface="宋体" panose="02010600030101010101" pitchFamily="2" charset="-122"/>
              </a:rPr>
              <a:t>说明是字节操作</a:t>
            </a:r>
          </a:p>
          <a:p>
            <a:pPr>
              <a:buSzPct val="90000"/>
              <a:buFont typeface="Wingdings" panose="05000000000000000000" pitchFamily="2" charset="2"/>
              <a:buNone/>
              <a:tabLst>
                <a:tab pos="3944938" algn="l"/>
              </a:tabLst>
            </a:pPr>
            <a:r>
              <a:rPr kumimoji="1" lang="zh-CN" altLang="en-US">
                <a:solidFill>
                  <a:srgbClr val="009900"/>
                </a:solidFill>
              </a:rPr>
              <a:t>	</a:t>
            </a:r>
            <a:r>
              <a:rPr kumimoji="1" lang="zh-CN" altLang="en-US">
                <a:solidFill>
                  <a:srgbClr val="006600"/>
                </a:solidFill>
              </a:rPr>
              <a:t>；</a:t>
            </a:r>
            <a:r>
              <a:rPr kumimoji="1" lang="en-US" altLang="zh-CN">
                <a:solidFill>
                  <a:srgbClr val="006600"/>
                </a:solidFill>
              </a:rPr>
              <a:t>mov</a:t>
            </a:r>
            <a:r>
              <a:rPr kumimoji="1" lang="en-US" altLang="zh-CN">
                <a:solidFill>
                  <a:srgbClr val="009900"/>
                </a:solidFill>
              </a:rPr>
              <a:t> </a:t>
            </a:r>
            <a:r>
              <a:rPr kumimoji="1" lang="en-US" altLang="zh-CN">
                <a:latin typeface="宋体" panose="02010600030101010101" pitchFamily="2" charset="-122"/>
              </a:rPr>
              <a:t>word ptr [bx+si]</a:t>
            </a:r>
            <a:r>
              <a:rPr kumimoji="1" lang="en-US" altLang="zh-CN"/>
              <a:t>,</a:t>
            </a:r>
            <a:r>
              <a:rPr kumimoji="1" lang="en-US" altLang="zh-CN">
                <a:solidFill>
                  <a:srgbClr val="006600"/>
                </a:solidFill>
              </a:rPr>
              <a:t>255</a:t>
            </a:r>
          </a:p>
          <a:p>
            <a:pPr>
              <a:buSzPct val="90000"/>
              <a:buFont typeface="Wingdings" panose="05000000000000000000" pitchFamily="2" charset="2"/>
              <a:buNone/>
              <a:tabLst>
                <a:tab pos="3944938" algn="l"/>
              </a:tabLst>
            </a:pPr>
            <a:r>
              <a:rPr kumimoji="1" lang="en-US" altLang="zh-CN">
                <a:solidFill>
                  <a:srgbClr val="000000"/>
                </a:solidFill>
                <a:latin typeface="宋体" panose="02010600030101010101" pitchFamily="2" charset="-122"/>
              </a:rPr>
              <a:t>	</a:t>
            </a:r>
            <a:r>
              <a:rPr kumimoji="1" lang="zh-CN" altLang="en-US">
                <a:solidFill>
                  <a:srgbClr val="000000"/>
                </a:solidFill>
                <a:latin typeface="宋体" panose="02010600030101010101" pitchFamily="2" charset="-122"/>
              </a:rPr>
              <a:t>；</a:t>
            </a:r>
            <a:r>
              <a:rPr kumimoji="1" lang="en-US" altLang="zh-CN">
                <a:solidFill>
                  <a:srgbClr val="000000"/>
                </a:solidFill>
                <a:latin typeface="宋体" panose="02010600030101010101" pitchFamily="2" charset="-122"/>
              </a:rPr>
              <a:t>word ptr </a:t>
            </a:r>
            <a:r>
              <a:rPr kumimoji="1" lang="zh-CN" altLang="en-US">
                <a:solidFill>
                  <a:srgbClr val="000000"/>
                </a:solidFill>
                <a:latin typeface="宋体" panose="02010600030101010101" pitchFamily="2" charset="-122"/>
              </a:rPr>
              <a:t>说明是字操作</a:t>
            </a:r>
          </a:p>
        </p:txBody>
      </p:sp>
    </p:spTree>
  </p:cSld>
  <p:clrMapOvr>
    <a:masterClrMapping/>
  </p:clrMapOvr>
  <p:transition>
    <p:rand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9623B3E9-254A-5C3C-BD83-64F6E1E74B15}"/>
              </a:ext>
            </a:extLst>
          </p:cNvPr>
          <p:cNvSpPr>
            <a:spLocks noGrp="1" noChangeArrowheads="1"/>
          </p:cNvSpPr>
          <p:nvPr>
            <p:ph type="title"/>
          </p:nvPr>
        </p:nvSpPr>
        <p:spPr/>
        <p:txBody>
          <a:bodyPr/>
          <a:lstStyle/>
          <a:p>
            <a:r>
              <a:rPr lang="zh-CN" altLang="en-US" sz="4000"/>
              <a:t>非法指令－两个操作数都是存储器</a:t>
            </a:r>
          </a:p>
        </p:txBody>
      </p:sp>
      <p:sp>
        <p:nvSpPr>
          <p:cNvPr id="14339" name="Rectangle 3">
            <a:extLst>
              <a:ext uri="{FF2B5EF4-FFF2-40B4-BE49-F238E27FC236}">
                <a16:creationId xmlns:a16="http://schemas.microsoft.com/office/drawing/2014/main" id="{D3F23CD2-E093-064C-FCF5-20D3036269B9}"/>
              </a:ext>
            </a:extLst>
          </p:cNvPr>
          <p:cNvSpPr>
            <a:spLocks noGrp="1" noChangeArrowheads="1"/>
          </p:cNvSpPr>
          <p:nvPr>
            <p:ph idx="1"/>
          </p:nvPr>
        </p:nvSpPr>
        <p:spPr/>
        <p:txBody>
          <a:bodyPr/>
          <a:lstStyle/>
          <a:p>
            <a:pPr>
              <a:buSzPct val="90000"/>
              <a:buFont typeface="Wingdings" panose="05000000000000000000" pitchFamily="2" charset="2"/>
              <a:buChar char="Ø"/>
              <a:tabLst>
                <a:tab pos="3944938" algn="l"/>
              </a:tabLst>
            </a:pPr>
            <a:r>
              <a:rPr kumimoji="1" lang="en-US" altLang="zh-CN" sz="2800">
                <a:solidFill>
                  <a:srgbClr val="000000"/>
                </a:solidFill>
              </a:rPr>
              <a:t>8088</a:t>
            </a:r>
            <a:r>
              <a:rPr kumimoji="1" lang="zh-CN" altLang="en-US" sz="2800">
                <a:solidFill>
                  <a:srgbClr val="000000"/>
                </a:solidFill>
              </a:rPr>
              <a:t>指令系统除串操作指令外，不允许两个操作数都是存储单元（存储器操作数）</a:t>
            </a:r>
          </a:p>
          <a:p>
            <a:pPr>
              <a:buSzPct val="90000"/>
              <a:buFont typeface="Wingdings" panose="05000000000000000000" pitchFamily="2" charset="2"/>
              <a:buNone/>
              <a:tabLst>
                <a:tab pos="3944938" algn="l"/>
              </a:tabLst>
            </a:pPr>
            <a:r>
              <a:rPr kumimoji="1" lang="zh-CN" altLang="en-US" sz="2800">
                <a:solidFill>
                  <a:srgbClr val="000000"/>
                </a:solidFill>
              </a:rPr>
              <a:t>	</a:t>
            </a:r>
            <a:r>
              <a:rPr kumimoji="1" lang="en-US" altLang="zh-CN" sz="2800">
                <a:solidFill>
                  <a:srgbClr val="000000"/>
                </a:solidFill>
              </a:rPr>
              <a:t>MOV buf2, buf1	</a:t>
            </a:r>
            <a:r>
              <a:rPr kumimoji="1" lang="zh-CN" altLang="en-US" sz="2800">
                <a:solidFill>
                  <a:srgbClr val="000000"/>
                </a:solidFill>
              </a:rPr>
              <a:t>；非法指令，</a:t>
            </a:r>
            <a:r>
              <a:rPr kumimoji="1" lang="zh-CN" altLang="en-US" sz="2800">
                <a:solidFill>
                  <a:srgbClr val="006600"/>
                </a:solidFill>
              </a:rPr>
              <a:t>修正：</a:t>
            </a:r>
          </a:p>
          <a:p>
            <a:pPr>
              <a:buSzPct val="90000"/>
              <a:buFont typeface="Wingdings" panose="05000000000000000000" pitchFamily="2" charset="2"/>
              <a:buNone/>
              <a:tabLst>
                <a:tab pos="3944938" algn="l"/>
              </a:tabLst>
            </a:pPr>
            <a:r>
              <a:rPr kumimoji="1" lang="zh-CN" altLang="en-US" sz="2800">
                <a:solidFill>
                  <a:srgbClr val="009900"/>
                </a:solidFill>
              </a:rPr>
              <a:t>	</a:t>
            </a:r>
            <a:r>
              <a:rPr kumimoji="1" lang="zh-CN" altLang="en-US" sz="2800">
                <a:solidFill>
                  <a:srgbClr val="000000"/>
                </a:solidFill>
                <a:latin typeface="宋体" panose="02010600030101010101" pitchFamily="2" charset="-122"/>
              </a:rPr>
              <a:t>；假设</a:t>
            </a:r>
            <a:r>
              <a:rPr kumimoji="1" lang="en-US" altLang="zh-CN" sz="2800">
                <a:solidFill>
                  <a:srgbClr val="000000"/>
                </a:solidFill>
              </a:rPr>
              <a:t>buf2</a:t>
            </a:r>
            <a:r>
              <a:rPr kumimoji="1" lang="zh-CN" altLang="en-US" sz="2800">
                <a:solidFill>
                  <a:srgbClr val="000000"/>
                </a:solidFill>
              </a:rPr>
              <a:t>和</a:t>
            </a:r>
            <a:r>
              <a:rPr kumimoji="1" lang="en-US" altLang="zh-CN" sz="2800">
                <a:solidFill>
                  <a:srgbClr val="000000"/>
                </a:solidFill>
              </a:rPr>
              <a:t>buf1</a:t>
            </a:r>
            <a:r>
              <a:rPr kumimoji="1" lang="zh-CN" altLang="en-US" sz="2800">
                <a:solidFill>
                  <a:srgbClr val="000000"/>
                </a:solidFill>
              </a:rPr>
              <a:t>是两个字变量</a:t>
            </a:r>
          </a:p>
          <a:p>
            <a:pPr>
              <a:buSzPct val="90000"/>
              <a:buFont typeface="Wingdings" panose="05000000000000000000" pitchFamily="2" charset="2"/>
              <a:buNone/>
              <a:tabLst>
                <a:tab pos="3944938" algn="l"/>
              </a:tabLst>
            </a:pPr>
            <a:r>
              <a:rPr kumimoji="1" lang="zh-CN" altLang="en-US" sz="2800">
                <a:solidFill>
                  <a:srgbClr val="000000"/>
                </a:solidFill>
              </a:rPr>
              <a:t>	</a:t>
            </a:r>
            <a:r>
              <a:rPr kumimoji="1" lang="zh-CN" altLang="en-US" sz="2800">
                <a:solidFill>
                  <a:srgbClr val="006600"/>
                </a:solidFill>
              </a:rPr>
              <a:t>；</a:t>
            </a:r>
            <a:r>
              <a:rPr kumimoji="1" lang="en-US" altLang="zh-CN" sz="2800">
                <a:solidFill>
                  <a:srgbClr val="006600"/>
                </a:solidFill>
              </a:rPr>
              <a:t>mov ax,buf1</a:t>
            </a:r>
          </a:p>
          <a:p>
            <a:pPr>
              <a:buSzPct val="90000"/>
              <a:buFont typeface="Wingdings" panose="05000000000000000000" pitchFamily="2" charset="2"/>
              <a:buNone/>
              <a:tabLst>
                <a:tab pos="3944938" algn="l"/>
              </a:tabLst>
            </a:pPr>
            <a:r>
              <a:rPr kumimoji="1" lang="en-US" altLang="zh-CN" sz="2800">
                <a:solidFill>
                  <a:srgbClr val="006600"/>
                </a:solidFill>
              </a:rPr>
              <a:t>	</a:t>
            </a:r>
            <a:r>
              <a:rPr kumimoji="1" lang="zh-CN" altLang="en-US" sz="2800">
                <a:solidFill>
                  <a:srgbClr val="006600"/>
                </a:solidFill>
              </a:rPr>
              <a:t>；</a:t>
            </a:r>
            <a:r>
              <a:rPr kumimoji="1" lang="en-US" altLang="zh-CN" sz="2800">
                <a:solidFill>
                  <a:srgbClr val="006600"/>
                </a:solidFill>
              </a:rPr>
              <a:t>mov buf2,ax</a:t>
            </a:r>
          </a:p>
          <a:p>
            <a:pPr>
              <a:buSzPct val="90000"/>
              <a:buFont typeface="Wingdings" panose="05000000000000000000" pitchFamily="2" charset="2"/>
              <a:buNone/>
              <a:tabLst>
                <a:tab pos="3944938" algn="l"/>
              </a:tabLst>
            </a:pPr>
            <a:r>
              <a:rPr kumimoji="1" lang="en-US" altLang="zh-CN" sz="2800">
                <a:solidFill>
                  <a:srgbClr val="009900"/>
                </a:solidFill>
              </a:rPr>
              <a:t>	</a:t>
            </a:r>
            <a:r>
              <a:rPr kumimoji="1" lang="zh-CN" altLang="en-US" sz="2800">
                <a:solidFill>
                  <a:srgbClr val="000000"/>
                </a:solidFill>
                <a:latin typeface="宋体" panose="02010600030101010101" pitchFamily="2" charset="-122"/>
              </a:rPr>
              <a:t>；假设</a:t>
            </a:r>
            <a:r>
              <a:rPr kumimoji="1" lang="en-US" altLang="zh-CN" sz="2800">
                <a:solidFill>
                  <a:srgbClr val="000000"/>
                </a:solidFill>
              </a:rPr>
              <a:t>buf2</a:t>
            </a:r>
            <a:r>
              <a:rPr kumimoji="1" lang="zh-CN" altLang="en-US" sz="2800">
                <a:solidFill>
                  <a:srgbClr val="000000"/>
                </a:solidFill>
              </a:rPr>
              <a:t>和</a:t>
            </a:r>
            <a:r>
              <a:rPr kumimoji="1" lang="en-US" altLang="zh-CN" sz="2800">
                <a:solidFill>
                  <a:srgbClr val="000000"/>
                </a:solidFill>
              </a:rPr>
              <a:t>buf1</a:t>
            </a:r>
            <a:r>
              <a:rPr kumimoji="1" lang="zh-CN" altLang="en-US" sz="2800">
                <a:solidFill>
                  <a:srgbClr val="000000"/>
                </a:solidFill>
              </a:rPr>
              <a:t>是两个字节变量</a:t>
            </a:r>
          </a:p>
          <a:p>
            <a:pPr>
              <a:buSzPct val="90000"/>
              <a:buFont typeface="Wingdings" panose="05000000000000000000" pitchFamily="2" charset="2"/>
              <a:buNone/>
              <a:tabLst>
                <a:tab pos="3944938" algn="l"/>
              </a:tabLst>
            </a:pPr>
            <a:r>
              <a:rPr kumimoji="1" lang="zh-CN" altLang="en-US" sz="2800">
                <a:solidFill>
                  <a:srgbClr val="000000"/>
                </a:solidFill>
              </a:rPr>
              <a:t>	</a:t>
            </a:r>
            <a:r>
              <a:rPr kumimoji="1" lang="zh-CN" altLang="en-US" sz="2800">
                <a:solidFill>
                  <a:srgbClr val="006600"/>
                </a:solidFill>
              </a:rPr>
              <a:t>；</a:t>
            </a:r>
            <a:r>
              <a:rPr kumimoji="1" lang="en-US" altLang="zh-CN" sz="2800">
                <a:solidFill>
                  <a:srgbClr val="006600"/>
                </a:solidFill>
              </a:rPr>
              <a:t>mov al,buf1</a:t>
            </a:r>
          </a:p>
          <a:p>
            <a:pPr>
              <a:buSzPct val="90000"/>
              <a:buFont typeface="Wingdings" panose="05000000000000000000" pitchFamily="2" charset="2"/>
              <a:buNone/>
              <a:tabLst>
                <a:tab pos="3944938" algn="l"/>
              </a:tabLst>
            </a:pPr>
            <a:r>
              <a:rPr kumimoji="1" lang="en-US" altLang="zh-CN" sz="2800">
                <a:solidFill>
                  <a:srgbClr val="006600"/>
                </a:solidFill>
              </a:rPr>
              <a:t>	</a:t>
            </a:r>
            <a:r>
              <a:rPr kumimoji="1" lang="zh-CN" altLang="en-US" sz="2800">
                <a:solidFill>
                  <a:srgbClr val="006600"/>
                </a:solidFill>
              </a:rPr>
              <a:t>；</a:t>
            </a:r>
            <a:r>
              <a:rPr kumimoji="1" lang="en-US" altLang="zh-CN" sz="2800">
                <a:solidFill>
                  <a:srgbClr val="006600"/>
                </a:solidFill>
              </a:rPr>
              <a:t>mov buf2,al</a:t>
            </a:r>
            <a:endParaRPr kumimoji="1" lang="en-US" altLang="zh-CN" sz="2800">
              <a:solidFill>
                <a:srgbClr val="006600"/>
              </a:solidFill>
              <a:latin typeface="宋体" panose="02010600030101010101" pitchFamily="2" charset="-122"/>
            </a:endParaRPr>
          </a:p>
        </p:txBody>
      </p:sp>
    </p:spTree>
  </p:cSld>
  <p:clrMapOvr>
    <a:masterClrMapping/>
  </p:clrMapOvr>
  <p:transition>
    <p:rand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37AD098C-C25F-4ED2-037A-30D41EFD164A}"/>
              </a:ext>
            </a:extLst>
          </p:cNvPr>
          <p:cNvSpPr>
            <a:spLocks noGrp="1" noChangeArrowheads="1"/>
          </p:cNvSpPr>
          <p:nvPr>
            <p:ph type="title"/>
          </p:nvPr>
        </p:nvSpPr>
        <p:spPr>
          <a:xfrm>
            <a:off x="457200" y="661988"/>
            <a:ext cx="8229600" cy="1143000"/>
          </a:xfrm>
        </p:spPr>
        <p:txBody>
          <a:bodyPr/>
          <a:lstStyle/>
          <a:p>
            <a:pPr algn="l"/>
            <a:r>
              <a:rPr lang="zh-CN" altLang="en-US" sz="4000"/>
              <a:t>非法指令－段寄存器的操作有一些限制</a:t>
            </a:r>
          </a:p>
        </p:txBody>
      </p:sp>
      <p:sp>
        <p:nvSpPr>
          <p:cNvPr id="15363" name="Rectangle 3">
            <a:extLst>
              <a:ext uri="{FF2B5EF4-FFF2-40B4-BE49-F238E27FC236}">
                <a16:creationId xmlns:a16="http://schemas.microsoft.com/office/drawing/2014/main" id="{C315728E-81ED-04D4-A922-25428D45321C}"/>
              </a:ext>
            </a:extLst>
          </p:cNvPr>
          <p:cNvSpPr>
            <a:spLocks noGrp="1" noChangeArrowheads="1"/>
          </p:cNvSpPr>
          <p:nvPr>
            <p:ph idx="1"/>
          </p:nvPr>
        </p:nvSpPr>
        <p:spPr>
          <a:xfrm>
            <a:off x="457200" y="1952625"/>
            <a:ext cx="8229600" cy="4525963"/>
          </a:xfrm>
        </p:spPr>
        <p:txBody>
          <a:bodyPr/>
          <a:lstStyle/>
          <a:p>
            <a:pPr>
              <a:buSzPct val="90000"/>
              <a:buFont typeface="Wingdings" panose="05000000000000000000" pitchFamily="2" charset="2"/>
              <a:buChar char="Ø"/>
              <a:tabLst>
                <a:tab pos="3944938" algn="l"/>
              </a:tabLst>
            </a:pPr>
            <a:r>
              <a:rPr kumimoji="1" lang="en-US" altLang="zh-CN" sz="2800" dirty="0">
                <a:solidFill>
                  <a:srgbClr val="000000"/>
                </a:solidFill>
              </a:rPr>
              <a:t>8088</a:t>
            </a:r>
            <a:r>
              <a:rPr kumimoji="1" lang="zh-CN" altLang="en-US" sz="2800" dirty="0">
                <a:solidFill>
                  <a:srgbClr val="000000"/>
                </a:solidFill>
              </a:rPr>
              <a:t>指令系统中，能直接对段寄存器操作的指令只有</a:t>
            </a:r>
            <a:r>
              <a:rPr kumimoji="1" lang="en-US" altLang="zh-CN" sz="2800" dirty="0">
                <a:solidFill>
                  <a:srgbClr val="000000"/>
                </a:solidFill>
              </a:rPr>
              <a:t>MOV</a:t>
            </a:r>
            <a:r>
              <a:rPr kumimoji="1" lang="zh-CN" altLang="en-US" sz="2800" dirty="0">
                <a:solidFill>
                  <a:srgbClr val="000000"/>
                </a:solidFill>
              </a:rPr>
              <a:t>等个别传送指令，并且不灵活</a:t>
            </a:r>
          </a:p>
          <a:p>
            <a:pPr>
              <a:buSzPct val="90000"/>
              <a:buFont typeface="Wingdings" panose="05000000000000000000" pitchFamily="2" charset="2"/>
              <a:buNone/>
              <a:tabLst>
                <a:tab pos="3944938" algn="l"/>
              </a:tabLst>
            </a:pPr>
            <a:r>
              <a:rPr kumimoji="1" lang="zh-CN" altLang="en-US" sz="2800" dirty="0">
                <a:solidFill>
                  <a:srgbClr val="000000"/>
                </a:solidFill>
              </a:rPr>
              <a:t>	</a:t>
            </a:r>
            <a:r>
              <a:rPr kumimoji="1" lang="en-US" altLang="zh-CN" sz="2800" dirty="0">
                <a:solidFill>
                  <a:srgbClr val="000000"/>
                </a:solidFill>
              </a:rPr>
              <a:t>MOV DS, ES	</a:t>
            </a:r>
            <a:r>
              <a:rPr kumimoji="1" lang="zh-CN" altLang="en-US" sz="2800" dirty="0">
                <a:solidFill>
                  <a:srgbClr val="000000"/>
                </a:solidFill>
              </a:rPr>
              <a:t>；非法指令，</a:t>
            </a:r>
            <a:r>
              <a:rPr kumimoji="1" lang="zh-CN" altLang="en-US" sz="2800" dirty="0">
                <a:solidFill>
                  <a:srgbClr val="006600"/>
                </a:solidFill>
              </a:rPr>
              <a:t>修正：</a:t>
            </a:r>
          </a:p>
          <a:p>
            <a:pPr>
              <a:lnSpc>
                <a:spcPct val="90000"/>
              </a:lnSpc>
              <a:buSzPct val="90000"/>
              <a:buFont typeface="Wingdings" panose="05000000000000000000" pitchFamily="2" charset="2"/>
              <a:buNone/>
              <a:tabLst>
                <a:tab pos="3944938" algn="l"/>
              </a:tabLst>
            </a:pPr>
            <a:r>
              <a:rPr kumimoji="1" lang="zh-CN" altLang="en-US" sz="2800" dirty="0">
                <a:solidFill>
                  <a:srgbClr val="006600"/>
                </a:solidFill>
              </a:rPr>
              <a:t>	；</a:t>
            </a:r>
            <a:r>
              <a:rPr kumimoji="1" lang="en-US" altLang="zh-CN" sz="2800" dirty="0">
                <a:solidFill>
                  <a:srgbClr val="006600"/>
                </a:solidFill>
              </a:rPr>
              <a:t>mov </a:t>
            </a:r>
            <a:r>
              <a:rPr kumimoji="1" lang="en-US" altLang="zh-CN" sz="2800" dirty="0" err="1">
                <a:solidFill>
                  <a:srgbClr val="006600"/>
                </a:solidFill>
              </a:rPr>
              <a:t>ax,es</a:t>
            </a:r>
            <a:endParaRPr kumimoji="1" lang="en-US" altLang="zh-CN" sz="2800" dirty="0">
              <a:solidFill>
                <a:srgbClr val="006600"/>
              </a:solidFill>
            </a:endParaRPr>
          </a:p>
          <a:p>
            <a:pPr>
              <a:lnSpc>
                <a:spcPct val="90000"/>
              </a:lnSpc>
              <a:buSzPct val="90000"/>
              <a:buFont typeface="Wingdings" panose="05000000000000000000" pitchFamily="2" charset="2"/>
              <a:buNone/>
              <a:tabLst>
                <a:tab pos="3944938" algn="l"/>
              </a:tabLst>
            </a:pPr>
            <a:r>
              <a:rPr kumimoji="1" lang="en-US" altLang="zh-CN" sz="2800" dirty="0">
                <a:solidFill>
                  <a:srgbClr val="006600"/>
                </a:solidFill>
              </a:rPr>
              <a:t>	</a:t>
            </a:r>
            <a:r>
              <a:rPr kumimoji="1" lang="zh-CN" altLang="en-US" sz="2800" dirty="0">
                <a:solidFill>
                  <a:srgbClr val="006600"/>
                </a:solidFill>
              </a:rPr>
              <a:t>；</a:t>
            </a:r>
            <a:r>
              <a:rPr kumimoji="1" lang="en-US" altLang="zh-CN" sz="2800" dirty="0">
                <a:solidFill>
                  <a:srgbClr val="006600"/>
                </a:solidFill>
              </a:rPr>
              <a:t>mov </a:t>
            </a:r>
            <a:r>
              <a:rPr kumimoji="1" lang="en-US" altLang="zh-CN" sz="2800" dirty="0" err="1">
                <a:solidFill>
                  <a:srgbClr val="006600"/>
                </a:solidFill>
              </a:rPr>
              <a:t>ds,ax</a:t>
            </a:r>
            <a:endParaRPr kumimoji="1" lang="en-US" altLang="zh-CN" sz="2800" dirty="0">
              <a:solidFill>
                <a:srgbClr val="006600"/>
              </a:solidFill>
            </a:endParaRPr>
          </a:p>
          <a:p>
            <a:pPr>
              <a:buSzPct val="90000"/>
              <a:buFont typeface="Wingdings" panose="05000000000000000000" pitchFamily="2" charset="2"/>
              <a:buNone/>
              <a:tabLst>
                <a:tab pos="3944938" algn="l"/>
              </a:tabLst>
            </a:pPr>
            <a:r>
              <a:rPr kumimoji="1" lang="en-US" altLang="zh-CN" sz="2800" dirty="0">
                <a:solidFill>
                  <a:srgbClr val="000000"/>
                </a:solidFill>
              </a:rPr>
              <a:t>	MOV DS, 100H	</a:t>
            </a:r>
            <a:r>
              <a:rPr kumimoji="1" lang="zh-CN" altLang="en-US" sz="2800" dirty="0">
                <a:solidFill>
                  <a:srgbClr val="000000"/>
                </a:solidFill>
              </a:rPr>
              <a:t>；非法指令，</a:t>
            </a:r>
            <a:r>
              <a:rPr kumimoji="1" lang="zh-CN" altLang="en-US" sz="2800" dirty="0">
                <a:solidFill>
                  <a:srgbClr val="006600"/>
                </a:solidFill>
              </a:rPr>
              <a:t>修正：</a:t>
            </a:r>
          </a:p>
          <a:p>
            <a:pPr>
              <a:lnSpc>
                <a:spcPct val="90000"/>
              </a:lnSpc>
              <a:buSzPct val="90000"/>
              <a:buFont typeface="Wingdings" panose="05000000000000000000" pitchFamily="2" charset="2"/>
              <a:buNone/>
              <a:tabLst>
                <a:tab pos="3944938" algn="l"/>
              </a:tabLst>
            </a:pPr>
            <a:r>
              <a:rPr kumimoji="1" lang="zh-CN" altLang="en-US" sz="2800" dirty="0">
                <a:solidFill>
                  <a:srgbClr val="006600"/>
                </a:solidFill>
              </a:rPr>
              <a:t>	；</a:t>
            </a:r>
            <a:r>
              <a:rPr kumimoji="1" lang="en-US" altLang="zh-CN" sz="2800" dirty="0">
                <a:solidFill>
                  <a:srgbClr val="006600"/>
                </a:solidFill>
              </a:rPr>
              <a:t>mov ax,100h</a:t>
            </a:r>
          </a:p>
          <a:p>
            <a:pPr>
              <a:lnSpc>
                <a:spcPct val="90000"/>
              </a:lnSpc>
              <a:buSzPct val="90000"/>
              <a:buFont typeface="Wingdings" panose="05000000000000000000" pitchFamily="2" charset="2"/>
              <a:buNone/>
              <a:tabLst>
                <a:tab pos="3944938" algn="l"/>
              </a:tabLst>
            </a:pPr>
            <a:r>
              <a:rPr kumimoji="1" lang="en-US" altLang="zh-CN" sz="2800" dirty="0">
                <a:solidFill>
                  <a:srgbClr val="006600"/>
                </a:solidFill>
              </a:rPr>
              <a:t>	</a:t>
            </a:r>
            <a:r>
              <a:rPr kumimoji="1" lang="zh-CN" altLang="en-US" sz="2800" dirty="0">
                <a:solidFill>
                  <a:srgbClr val="006600"/>
                </a:solidFill>
              </a:rPr>
              <a:t>；</a:t>
            </a:r>
            <a:r>
              <a:rPr kumimoji="1" lang="en-US" altLang="zh-CN" sz="2800" dirty="0">
                <a:solidFill>
                  <a:srgbClr val="006600"/>
                </a:solidFill>
              </a:rPr>
              <a:t>mov </a:t>
            </a:r>
            <a:r>
              <a:rPr kumimoji="1" lang="en-US" altLang="zh-CN" sz="2800" dirty="0" err="1">
                <a:solidFill>
                  <a:srgbClr val="006600"/>
                </a:solidFill>
              </a:rPr>
              <a:t>ds,ax</a:t>
            </a:r>
            <a:endParaRPr kumimoji="1" lang="en-US" altLang="zh-CN" sz="2800" dirty="0">
              <a:solidFill>
                <a:srgbClr val="006600"/>
              </a:solidFill>
            </a:endParaRPr>
          </a:p>
          <a:p>
            <a:pPr>
              <a:buSzPct val="90000"/>
              <a:buFont typeface="Wingdings" panose="05000000000000000000" pitchFamily="2" charset="2"/>
              <a:buNone/>
              <a:tabLst>
                <a:tab pos="3944938" algn="l"/>
              </a:tabLst>
            </a:pPr>
            <a:r>
              <a:rPr kumimoji="1" lang="en-US" altLang="zh-CN" sz="2800" dirty="0">
                <a:solidFill>
                  <a:srgbClr val="000000"/>
                </a:solidFill>
                <a:latin typeface="宋体" panose="02010600030101010101" pitchFamily="2" charset="-122"/>
              </a:rPr>
              <a:t>	 </a:t>
            </a:r>
            <a:r>
              <a:rPr kumimoji="1" lang="en-US" altLang="zh-CN" sz="2800" dirty="0">
                <a:solidFill>
                  <a:srgbClr val="000000"/>
                </a:solidFill>
              </a:rPr>
              <a:t>MOV CS, [SI]	</a:t>
            </a:r>
            <a:r>
              <a:rPr kumimoji="1" lang="zh-CN" altLang="en-US" sz="2800" dirty="0">
                <a:solidFill>
                  <a:srgbClr val="000000"/>
                </a:solidFill>
              </a:rPr>
              <a:t>；非法指令</a:t>
            </a:r>
          </a:p>
          <a:p>
            <a:pPr>
              <a:buSzPct val="90000"/>
              <a:buFont typeface="Wingdings" panose="05000000000000000000" pitchFamily="2" charset="2"/>
              <a:buNone/>
              <a:tabLst>
                <a:tab pos="3944938" algn="l"/>
              </a:tabLst>
            </a:pPr>
            <a:r>
              <a:rPr kumimoji="1" lang="zh-CN" altLang="en-US" sz="2800" dirty="0">
                <a:solidFill>
                  <a:srgbClr val="000000"/>
                </a:solidFill>
              </a:rPr>
              <a:t>		；指令存在，但不能执行</a:t>
            </a:r>
            <a:endParaRPr kumimoji="1" lang="zh-CN" altLang="en-US" sz="2800" dirty="0">
              <a:solidFill>
                <a:srgbClr val="009900"/>
              </a:solidFill>
            </a:endParaRPr>
          </a:p>
        </p:txBody>
      </p:sp>
    </p:spTree>
  </p:cSld>
  <p:clrMapOvr>
    <a:masterClrMapping/>
  </p:clrMapOvr>
  <p:transition>
    <p:rand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4DA98347-3B0E-A6A7-AA2B-78F138AFC666}"/>
              </a:ext>
            </a:extLst>
          </p:cNvPr>
          <p:cNvSpPr>
            <a:spLocks noGrp="1" noChangeArrowheads="1"/>
          </p:cNvSpPr>
          <p:nvPr>
            <p:ph type="title"/>
          </p:nvPr>
        </p:nvSpPr>
        <p:spPr/>
        <p:txBody>
          <a:bodyPr/>
          <a:lstStyle/>
          <a:p>
            <a:r>
              <a:rPr lang="en-US" altLang="zh-CN"/>
              <a:t>2. </a:t>
            </a:r>
            <a:r>
              <a:rPr lang="zh-CN" altLang="en-US"/>
              <a:t>交换指令</a:t>
            </a:r>
            <a:r>
              <a:rPr lang="en-US" altLang="zh-CN"/>
              <a:t>XCHG</a:t>
            </a:r>
            <a:r>
              <a:rPr lang="zh-CN" altLang="en-US"/>
              <a:t>（</a:t>
            </a:r>
            <a:r>
              <a:rPr lang="en-US" altLang="zh-CN"/>
              <a:t>exchange</a:t>
            </a:r>
            <a:r>
              <a:rPr lang="zh-CN" altLang="en-US"/>
              <a:t>）</a:t>
            </a:r>
          </a:p>
        </p:txBody>
      </p:sp>
      <p:sp>
        <p:nvSpPr>
          <p:cNvPr id="63492" name="Rectangle 4">
            <a:extLst>
              <a:ext uri="{FF2B5EF4-FFF2-40B4-BE49-F238E27FC236}">
                <a16:creationId xmlns:a16="http://schemas.microsoft.com/office/drawing/2014/main" id="{A3D8FCA5-730C-1A32-585E-1D81F889CA52}"/>
              </a:ext>
            </a:extLst>
          </p:cNvPr>
          <p:cNvSpPr>
            <a:spLocks noGrp="1" noChangeArrowheads="1"/>
          </p:cNvSpPr>
          <p:nvPr>
            <p:ph type="body" idx="1"/>
          </p:nvPr>
        </p:nvSpPr>
        <p:spPr>
          <a:xfrm>
            <a:off x="1212850" y="1125538"/>
            <a:ext cx="7391400" cy="685800"/>
          </a:xfrm>
          <a:noFill/>
          <a:ln/>
        </p:spPr>
        <p:txBody>
          <a:bodyPr/>
          <a:lstStyle/>
          <a:p>
            <a:r>
              <a:rPr lang="zh-CN" altLang="en-US"/>
              <a:t>把两个地方的数据进行互换</a:t>
            </a:r>
          </a:p>
        </p:txBody>
      </p:sp>
      <p:sp>
        <p:nvSpPr>
          <p:cNvPr id="63493" name="Rectangle 5">
            <a:extLst>
              <a:ext uri="{FF2B5EF4-FFF2-40B4-BE49-F238E27FC236}">
                <a16:creationId xmlns:a16="http://schemas.microsoft.com/office/drawing/2014/main" id="{013A7AB0-1B71-B79C-650A-E9A4FB5970FC}"/>
              </a:ext>
            </a:extLst>
          </p:cNvPr>
          <p:cNvSpPr>
            <a:spLocks noChangeArrowheads="1"/>
          </p:cNvSpPr>
          <p:nvPr/>
        </p:nvSpPr>
        <p:spPr bwMode="auto">
          <a:xfrm>
            <a:off x="679450" y="3563938"/>
            <a:ext cx="7848600"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lvl1pPr marL="342900" indent="-342900" algn="just">
              <a:spcBef>
                <a:spcPct val="20000"/>
              </a:spcBef>
              <a:buBlip>
                <a:blip r:embed="rId2"/>
              </a:buBlip>
              <a:defRPr sz="3200" b="1">
                <a:solidFill>
                  <a:schemeClr val="accent2"/>
                </a:solidFill>
                <a:latin typeface="Arial" panose="020B0604020202020204" pitchFamily="34" charset="0"/>
                <a:ea typeface="幼圆" panose="02010509060101010101" pitchFamily="49" charset="-122"/>
              </a:defRPr>
            </a:lvl1pPr>
            <a:lvl2pPr marL="742950" indent="-285750" algn="just">
              <a:spcBef>
                <a:spcPct val="20000"/>
              </a:spcBef>
              <a:buBlip>
                <a:blip r:embed="rId3"/>
              </a:buBlip>
              <a:defRPr sz="2800" b="1">
                <a:solidFill>
                  <a:schemeClr val="tx1"/>
                </a:solidFill>
                <a:latin typeface="Arial" panose="020B0604020202020204" pitchFamily="34" charset="0"/>
                <a:ea typeface="宋体" panose="02010600030101010101" pitchFamily="2" charset="-122"/>
              </a:defRPr>
            </a:lvl2pPr>
            <a:lvl3pPr marL="1143000" indent="-228600" algn="just">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gn="just">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just">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algn="just"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algn="just"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algn="just"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algn="just"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30000"/>
              </a:lnSpc>
            </a:pPr>
            <a:r>
              <a:rPr lang="zh-CN" altLang="en-US" sz="2800" dirty="0">
                <a:effectLst/>
                <a:latin typeface="宋体" panose="02010600030101010101" pitchFamily="2" charset="-122"/>
              </a:rPr>
              <a:t>寄存器与寄存器之间对换数据</a:t>
            </a:r>
          </a:p>
          <a:p>
            <a:pPr>
              <a:lnSpc>
                <a:spcPct val="130000"/>
              </a:lnSpc>
            </a:pPr>
            <a:r>
              <a:rPr lang="zh-CN" altLang="en-US" sz="2800" dirty="0">
                <a:effectLst/>
                <a:latin typeface="宋体" panose="02010600030101010101" pitchFamily="2" charset="-122"/>
              </a:rPr>
              <a:t>寄存器与存储器之间对换数据</a:t>
            </a:r>
          </a:p>
          <a:p>
            <a:pPr>
              <a:lnSpc>
                <a:spcPct val="130000"/>
              </a:lnSpc>
            </a:pPr>
            <a:r>
              <a:rPr lang="zh-CN" altLang="en-US" sz="2800" dirty="0">
                <a:effectLst/>
                <a:latin typeface="宋体" panose="02010600030101010101" pitchFamily="2" charset="-122"/>
              </a:rPr>
              <a:t>不能在存储器与存储器之间对换数据</a:t>
            </a:r>
          </a:p>
        </p:txBody>
      </p:sp>
      <p:sp>
        <p:nvSpPr>
          <p:cNvPr id="63494" name="AutoShape 6">
            <a:extLst>
              <a:ext uri="{FF2B5EF4-FFF2-40B4-BE49-F238E27FC236}">
                <a16:creationId xmlns:a16="http://schemas.microsoft.com/office/drawing/2014/main" id="{50104B68-49FF-A363-A8BD-D25306386655}"/>
              </a:ext>
            </a:extLst>
          </p:cNvPr>
          <p:cNvSpPr>
            <a:spLocks noChangeArrowheads="1"/>
          </p:cNvSpPr>
          <p:nvPr/>
        </p:nvSpPr>
        <p:spPr bwMode="auto">
          <a:xfrm>
            <a:off x="1593850" y="2019300"/>
            <a:ext cx="5834063" cy="1062038"/>
          </a:xfrm>
          <a:prstGeom prst="flowChartAlternateProcess">
            <a:avLst/>
          </a:prstGeom>
          <a:blipFill dpi="0" rotWithShape="0">
            <a:blip r:embed="rId4"/>
            <a:srcRect/>
            <a:stretch>
              <a:fillRect/>
            </a:stretch>
          </a:blipFill>
          <a:ln>
            <a:noFill/>
          </a:ln>
          <a:effectLst>
            <a:prstShdw prst="shdw13" dist="53882" dir="13500000">
              <a:srgbClr val="808080"/>
            </a:prstShdw>
          </a:effectLst>
          <a:extLst>
            <a:ext uri="{91240B29-F687-4F45-9708-019B960494DF}">
              <a14:hiddenLine xmlns:a14="http://schemas.microsoft.com/office/drawing/2010/main" w="12700" cap="sq">
                <a:solidFill>
                  <a:srgbClr val="808000"/>
                </a:solidFill>
                <a:miter lim="800000"/>
                <a:headEnd type="none" w="sm" len="sm"/>
                <a:tailEnd type="none" w="sm" len="sm"/>
              </a14:hiddenLine>
            </a:ext>
          </a:extLst>
        </p:spPr>
        <p:txBody>
          <a:bodyPr>
            <a:spAutoFit/>
          </a:bodyPr>
          <a:lstStyle>
            <a:lvl1pPr>
              <a:tabLst>
                <a:tab pos="3141663" algn="l"/>
              </a:tabLst>
              <a:defRPr>
                <a:solidFill>
                  <a:schemeClr val="tx1"/>
                </a:solidFill>
                <a:latin typeface="Arial" panose="020B0604020202020204" pitchFamily="34" charset="0"/>
                <a:ea typeface="宋体" panose="02010600030101010101" pitchFamily="2" charset="-122"/>
              </a:defRPr>
            </a:lvl1pPr>
            <a:lvl2pPr>
              <a:tabLst>
                <a:tab pos="3141663" algn="l"/>
              </a:tabLst>
              <a:defRPr>
                <a:solidFill>
                  <a:schemeClr val="tx1"/>
                </a:solidFill>
                <a:latin typeface="Arial" panose="020B0604020202020204" pitchFamily="34" charset="0"/>
                <a:ea typeface="宋体" panose="02010600030101010101" pitchFamily="2" charset="-122"/>
              </a:defRPr>
            </a:lvl2pPr>
            <a:lvl3pPr>
              <a:tabLst>
                <a:tab pos="3141663" algn="l"/>
              </a:tabLst>
              <a:defRPr>
                <a:solidFill>
                  <a:schemeClr val="tx1"/>
                </a:solidFill>
                <a:latin typeface="Arial" panose="020B0604020202020204" pitchFamily="34" charset="0"/>
                <a:ea typeface="宋体" panose="02010600030101010101" pitchFamily="2" charset="-122"/>
              </a:defRPr>
            </a:lvl3pPr>
            <a:lvl4pPr>
              <a:tabLst>
                <a:tab pos="3141663" algn="l"/>
              </a:tabLst>
              <a:defRPr>
                <a:solidFill>
                  <a:schemeClr val="tx1"/>
                </a:solidFill>
                <a:latin typeface="Arial" panose="020B0604020202020204" pitchFamily="34" charset="0"/>
                <a:ea typeface="宋体" panose="02010600030101010101" pitchFamily="2" charset="-122"/>
              </a:defRPr>
            </a:lvl4pPr>
            <a:lvl5pPr>
              <a:tabLst>
                <a:tab pos="3141663"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3141663"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3141663"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3141663"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3141663" algn="l"/>
              </a:tabLs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800" b="1">
                <a:solidFill>
                  <a:srgbClr val="0000FF"/>
                </a:solidFill>
                <a:effectLst/>
                <a:latin typeface="宋体" panose="02010600030101010101" pitchFamily="2" charset="-122"/>
              </a:rPr>
              <a:t>XCHG reg,reg/mem</a:t>
            </a:r>
          </a:p>
          <a:p>
            <a:pPr algn="r">
              <a:spcBef>
                <a:spcPct val="10000"/>
              </a:spcBef>
            </a:pPr>
            <a:r>
              <a:rPr lang="zh-CN" altLang="en-US" sz="2800" b="1">
                <a:solidFill>
                  <a:schemeClr val="accent2"/>
                </a:solidFill>
                <a:effectLst/>
                <a:latin typeface="宋体" panose="02010600030101010101" pitchFamily="2" charset="-122"/>
              </a:rPr>
              <a:t>；</a:t>
            </a:r>
            <a:r>
              <a:rPr lang="en-US" altLang="zh-CN" sz="2800" b="1">
                <a:solidFill>
                  <a:schemeClr val="accent2"/>
                </a:solidFill>
                <a:effectLst/>
                <a:latin typeface="宋体" panose="02010600030101010101" pitchFamily="2" charset="-122"/>
              </a:rPr>
              <a:t>reg </a:t>
            </a:r>
            <a:r>
              <a:rPr lang="en-US" altLang="zh-CN" sz="2800" b="1">
                <a:solidFill>
                  <a:schemeClr val="accent2"/>
                </a:solidFill>
                <a:effectLst/>
                <a:latin typeface="宋体" panose="02010600030101010101" pitchFamily="2" charset="-122"/>
                <a:sym typeface="Symbol" panose="05050102010706020507" pitchFamily="18" charset="2"/>
              </a:rPr>
              <a:t> </a:t>
            </a:r>
            <a:r>
              <a:rPr lang="en-US" altLang="zh-CN" sz="2800" b="1">
                <a:solidFill>
                  <a:schemeClr val="accent2"/>
                </a:solidFill>
                <a:effectLst/>
                <a:latin typeface="宋体" panose="02010600030101010101" pitchFamily="2" charset="-122"/>
              </a:rPr>
              <a:t>reg/mem</a:t>
            </a:r>
          </a:p>
        </p:txBody>
      </p:sp>
    </p:spTree>
  </p:cSld>
  <p:clrMapOvr>
    <a:masterClrMapping/>
  </p:clrMapOvr>
  <p:transition>
    <p:rand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a:extLst>
              <a:ext uri="{FF2B5EF4-FFF2-40B4-BE49-F238E27FC236}">
                <a16:creationId xmlns:a16="http://schemas.microsoft.com/office/drawing/2014/main" id="{A980ADAE-A415-DF89-C876-4EA8B1C534D2}"/>
              </a:ext>
            </a:extLst>
          </p:cNvPr>
          <p:cNvSpPr>
            <a:spLocks noGrp="1" noChangeArrowheads="1"/>
          </p:cNvSpPr>
          <p:nvPr>
            <p:ph type="title"/>
          </p:nvPr>
        </p:nvSpPr>
        <p:spPr/>
        <p:txBody>
          <a:bodyPr/>
          <a:lstStyle/>
          <a:p>
            <a:r>
              <a:rPr lang="en-US" altLang="zh-CN" dirty="0"/>
              <a:t>3. </a:t>
            </a:r>
            <a:r>
              <a:rPr lang="zh-CN" altLang="en-US" dirty="0"/>
              <a:t>换码指令</a:t>
            </a:r>
            <a:r>
              <a:rPr lang="en-US" altLang="zh-CN" dirty="0"/>
              <a:t>XLAT</a:t>
            </a:r>
            <a:r>
              <a:rPr lang="zh-CN" altLang="en-US" dirty="0"/>
              <a:t>（</a:t>
            </a:r>
            <a:r>
              <a:rPr lang="en-US" altLang="zh-CN" dirty="0"/>
              <a:t>translate</a:t>
            </a:r>
            <a:r>
              <a:rPr lang="zh-CN" altLang="en-US" dirty="0"/>
              <a:t>）</a:t>
            </a:r>
          </a:p>
        </p:txBody>
      </p:sp>
      <p:sp>
        <p:nvSpPr>
          <p:cNvPr id="185347" name="Rectangle 3">
            <a:extLst>
              <a:ext uri="{FF2B5EF4-FFF2-40B4-BE49-F238E27FC236}">
                <a16:creationId xmlns:a16="http://schemas.microsoft.com/office/drawing/2014/main" id="{5D404A81-3399-29D6-AEBC-2D1F226D9EE4}"/>
              </a:ext>
            </a:extLst>
          </p:cNvPr>
          <p:cNvSpPr>
            <a:spLocks noGrp="1" noChangeArrowheads="1"/>
          </p:cNvSpPr>
          <p:nvPr>
            <p:ph type="body" idx="1"/>
          </p:nvPr>
        </p:nvSpPr>
        <p:spPr>
          <a:xfrm>
            <a:off x="468313" y="981075"/>
            <a:ext cx="8229600" cy="1101725"/>
          </a:xfrm>
        </p:spPr>
        <p:txBody>
          <a:bodyPr/>
          <a:lstStyle/>
          <a:p>
            <a:r>
              <a:rPr lang="zh-CN" altLang="en-US" sz="2800"/>
              <a:t>将</a:t>
            </a:r>
            <a:r>
              <a:rPr lang="en-US" altLang="zh-CN" sz="2800"/>
              <a:t>BX</a:t>
            </a:r>
            <a:r>
              <a:rPr lang="zh-CN" altLang="en-US" sz="2800"/>
              <a:t>指定的缓冲区中、</a:t>
            </a:r>
            <a:r>
              <a:rPr lang="en-US" altLang="zh-CN" sz="2800"/>
              <a:t>AL</a:t>
            </a:r>
            <a:r>
              <a:rPr lang="zh-CN" altLang="en-US" sz="2800"/>
              <a:t>指定的位移处的一个字节数据取出赋给</a:t>
            </a:r>
            <a:r>
              <a:rPr lang="en-US" altLang="zh-CN" sz="2800"/>
              <a:t>AL</a:t>
            </a:r>
            <a:endParaRPr lang="en-US" altLang="zh-CN"/>
          </a:p>
        </p:txBody>
      </p:sp>
      <p:sp>
        <p:nvSpPr>
          <p:cNvPr id="185348" name="Rectangle 4">
            <a:extLst>
              <a:ext uri="{FF2B5EF4-FFF2-40B4-BE49-F238E27FC236}">
                <a16:creationId xmlns:a16="http://schemas.microsoft.com/office/drawing/2014/main" id="{7EB89941-F7CF-8CA0-9569-F92567BFA09E}"/>
              </a:ext>
            </a:extLst>
          </p:cNvPr>
          <p:cNvSpPr>
            <a:spLocks noChangeArrowheads="1"/>
          </p:cNvSpPr>
          <p:nvPr/>
        </p:nvSpPr>
        <p:spPr bwMode="auto">
          <a:xfrm>
            <a:off x="304800" y="3328988"/>
            <a:ext cx="84582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lvl1pPr marL="342900" indent="-342900" algn="just">
              <a:spcBef>
                <a:spcPct val="20000"/>
              </a:spcBef>
              <a:buBlip>
                <a:blip r:embed="rId3"/>
              </a:buBlip>
              <a:defRPr sz="3200" b="1">
                <a:solidFill>
                  <a:schemeClr val="accent2"/>
                </a:solidFill>
                <a:latin typeface="Arial" panose="020B0604020202020204" pitchFamily="34" charset="0"/>
                <a:ea typeface="幼圆" panose="02010509060101010101" pitchFamily="49" charset="-122"/>
              </a:defRPr>
            </a:lvl1pPr>
            <a:lvl2pPr marL="742950" indent="-285750" algn="just">
              <a:spcBef>
                <a:spcPct val="20000"/>
              </a:spcBef>
              <a:buBlip>
                <a:blip r:embed="rId4"/>
              </a:buBlip>
              <a:defRPr sz="2800" b="1">
                <a:solidFill>
                  <a:schemeClr val="tx1"/>
                </a:solidFill>
                <a:latin typeface="Arial" panose="020B0604020202020204" pitchFamily="34" charset="0"/>
                <a:ea typeface="宋体" panose="02010600030101010101" pitchFamily="2" charset="-122"/>
              </a:defRPr>
            </a:lvl2pPr>
            <a:lvl3pPr marL="1143000" indent="-228600" algn="just">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gn="just">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just">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algn="just"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algn="just"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algn="just"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algn="just"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r>
              <a:rPr lang="zh-CN" altLang="en-US" sz="2800" dirty="0">
                <a:effectLst/>
                <a:latin typeface="宋体" panose="02010600030101010101" pitchFamily="2" charset="-122"/>
              </a:rPr>
              <a:t>换码指令执行前：</a:t>
            </a:r>
          </a:p>
          <a:p>
            <a:pPr lvl="1">
              <a:buFontTx/>
              <a:buNone/>
            </a:pPr>
            <a:r>
              <a:rPr lang="zh-CN" altLang="en-US" sz="2400" dirty="0">
                <a:effectLst/>
                <a:latin typeface="宋体" panose="02010600030101010101" pitchFamily="2" charset="-122"/>
              </a:rPr>
              <a:t>在主存建立一个</a:t>
            </a:r>
            <a:r>
              <a:rPr lang="zh-CN" altLang="en-US" sz="2400" dirty="0">
                <a:solidFill>
                  <a:schemeClr val="accent2"/>
                </a:solidFill>
                <a:effectLst/>
                <a:latin typeface="宋体" panose="02010600030101010101" pitchFamily="2" charset="-122"/>
              </a:rPr>
              <a:t>字节量表格</a:t>
            </a:r>
            <a:r>
              <a:rPr lang="zh-CN" altLang="en-US" sz="2400" dirty="0">
                <a:effectLst/>
                <a:latin typeface="宋体" panose="02010600030101010101" pitchFamily="2" charset="-122"/>
              </a:rPr>
              <a:t>，内含要转换成的目的代码</a:t>
            </a:r>
          </a:p>
          <a:p>
            <a:pPr lvl="1">
              <a:buFontTx/>
              <a:buNone/>
            </a:pPr>
            <a:r>
              <a:rPr lang="zh-CN" altLang="en-US" sz="2400" dirty="0">
                <a:solidFill>
                  <a:schemeClr val="accent2"/>
                </a:solidFill>
                <a:effectLst/>
                <a:latin typeface="宋体" panose="02010600030101010101" pitchFamily="2" charset="-122"/>
              </a:rPr>
              <a:t>表格首地址</a:t>
            </a:r>
            <a:r>
              <a:rPr lang="zh-CN" altLang="en-US" sz="2400" dirty="0">
                <a:effectLst/>
                <a:latin typeface="宋体" panose="02010600030101010101" pitchFamily="2" charset="-122"/>
              </a:rPr>
              <a:t>存放于</a:t>
            </a:r>
            <a:r>
              <a:rPr lang="en-US" altLang="zh-CN" sz="2400" dirty="0">
                <a:solidFill>
                  <a:srgbClr val="006600"/>
                </a:solidFill>
                <a:effectLst/>
                <a:latin typeface="宋体" panose="02010600030101010101" pitchFamily="2" charset="-122"/>
              </a:rPr>
              <a:t>BX</a:t>
            </a:r>
            <a:r>
              <a:rPr lang="zh-CN" altLang="en-US" sz="2400" dirty="0">
                <a:effectLst/>
                <a:latin typeface="宋体" panose="02010600030101010101" pitchFamily="2" charset="-122"/>
              </a:rPr>
              <a:t>，</a:t>
            </a:r>
            <a:r>
              <a:rPr lang="en-US" altLang="zh-CN" sz="2400" dirty="0">
                <a:solidFill>
                  <a:srgbClr val="006600"/>
                </a:solidFill>
                <a:effectLst/>
                <a:latin typeface="宋体" panose="02010600030101010101" pitchFamily="2" charset="-122"/>
              </a:rPr>
              <a:t>AL</a:t>
            </a:r>
            <a:r>
              <a:rPr lang="zh-CN" altLang="en-US" sz="2400" dirty="0">
                <a:effectLst/>
                <a:latin typeface="宋体" panose="02010600030101010101" pitchFamily="2" charset="-122"/>
              </a:rPr>
              <a:t>存放相对表格首地址的</a:t>
            </a:r>
            <a:r>
              <a:rPr lang="zh-CN" altLang="en-US" sz="2400" dirty="0">
                <a:solidFill>
                  <a:schemeClr val="accent2"/>
                </a:solidFill>
                <a:effectLst/>
                <a:latin typeface="宋体" panose="02010600030101010101" pitchFamily="2" charset="-122"/>
              </a:rPr>
              <a:t>位移量</a:t>
            </a:r>
          </a:p>
          <a:p>
            <a:r>
              <a:rPr lang="zh-CN" altLang="en-US" sz="2800" dirty="0">
                <a:effectLst/>
                <a:latin typeface="宋体" panose="02010600030101010101" pitchFamily="2" charset="-122"/>
              </a:rPr>
              <a:t>换码指令执行后：</a:t>
            </a:r>
          </a:p>
          <a:p>
            <a:pPr lvl="1">
              <a:buFontTx/>
              <a:buNone/>
            </a:pPr>
            <a:r>
              <a:rPr lang="zh-CN" altLang="en-US" sz="2400" dirty="0">
                <a:effectLst/>
                <a:latin typeface="宋体" panose="02010600030101010101" pitchFamily="2" charset="-122"/>
              </a:rPr>
              <a:t>将</a:t>
            </a:r>
            <a:r>
              <a:rPr lang="en-US" altLang="zh-CN" sz="2400" dirty="0">
                <a:solidFill>
                  <a:srgbClr val="006600"/>
                </a:solidFill>
                <a:effectLst/>
                <a:latin typeface="宋体" panose="02010600030101010101" pitchFamily="2" charset="-122"/>
              </a:rPr>
              <a:t>AL</a:t>
            </a:r>
            <a:r>
              <a:rPr lang="zh-CN" altLang="en-US" sz="2400" dirty="0">
                <a:effectLst/>
                <a:latin typeface="宋体" panose="02010600030101010101" pitchFamily="2" charset="-122"/>
              </a:rPr>
              <a:t>寄存器的内容转换为</a:t>
            </a:r>
            <a:r>
              <a:rPr lang="zh-CN" altLang="en-US" sz="2400" dirty="0">
                <a:solidFill>
                  <a:srgbClr val="006600"/>
                </a:solidFill>
                <a:effectLst/>
                <a:latin typeface="宋体" panose="02010600030101010101" pitchFamily="2" charset="-122"/>
              </a:rPr>
              <a:t>目标代码</a:t>
            </a:r>
            <a:endParaRPr lang="en-US" altLang="zh-CN" sz="2400" dirty="0">
              <a:solidFill>
                <a:srgbClr val="006600"/>
              </a:solidFill>
              <a:effectLst/>
              <a:latin typeface="宋体" panose="02010600030101010101" pitchFamily="2" charset="-122"/>
            </a:endParaRPr>
          </a:p>
          <a:p>
            <a:pPr lvl="1">
              <a:buNone/>
            </a:pPr>
            <a:r>
              <a:rPr lang="zh-CN" altLang="en-US" sz="2400" b="1" dirty="0">
                <a:solidFill>
                  <a:srgbClr val="006600"/>
                </a:solidFill>
                <a:latin typeface="宋体" panose="02010600030101010101" pitchFamily="2" charset="-122"/>
              </a:rPr>
              <a:t>换码指令常用于将一种代码转换为另一种代码。如键盘位置码</a:t>
            </a:r>
            <a:r>
              <a:rPr lang="en-US" altLang="zh-CN" sz="2400" b="1" dirty="0">
                <a:solidFill>
                  <a:srgbClr val="006600"/>
                </a:solidFill>
                <a:latin typeface="宋体" panose="02010600030101010101" pitchFamily="2" charset="-122"/>
              </a:rPr>
              <a:t>-&gt;ASCII</a:t>
            </a:r>
            <a:r>
              <a:rPr lang="zh-CN" altLang="en-US" sz="2400" b="1" dirty="0">
                <a:solidFill>
                  <a:srgbClr val="006600"/>
                </a:solidFill>
                <a:latin typeface="宋体" panose="02010600030101010101" pitchFamily="2" charset="-122"/>
              </a:rPr>
              <a:t>码，数字</a:t>
            </a:r>
            <a:r>
              <a:rPr lang="en-US" altLang="zh-CN" sz="2400" b="1" dirty="0">
                <a:solidFill>
                  <a:srgbClr val="006600"/>
                </a:solidFill>
                <a:latin typeface="宋体" panose="02010600030101010101" pitchFamily="2" charset="-122"/>
              </a:rPr>
              <a:t>0~9-&gt;7</a:t>
            </a:r>
            <a:r>
              <a:rPr lang="zh-CN" altLang="en-US" sz="2400" b="1" dirty="0">
                <a:solidFill>
                  <a:srgbClr val="006600"/>
                </a:solidFill>
                <a:latin typeface="宋体" panose="02010600030101010101" pitchFamily="2" charset="-122"/>
              </a:rPr>
              <a:t>段显示码</a:t>
            </a:r>
          </a:p>
        </p:txBody>
      </p:sp>
      <p:sp>
        <p:nvSpPr>
          <p:cNvPr id="185351" name="AutoShape 7">
            <a:extLst>
              <a:ext uri="{FF2B5EF4-FFF2-40B4-BE49-F238E27FC236}">
                <a16:creationId xmlns:a16="http://schemas.microsoft.com/office/drawing/2014/main" id="{C3AFD55A-A3A1-6890-C40B-E85E227A676B}"/>
              </a:ext>
            </a:extLst>
          </p:cNvPr>
          <p:cNvSpPr>
            <a:spLocks noChangeArrowheads="1"/>
          </p:cNvSpPr>
          <p:nvPr/>
        </p:nvSpPr>
        <p:spPr bwMode="auto">
          <a:xfrm>
            <a:off x="1206500" y="2271713"/>
            <a:ext cx="5786438" cy="554037"/>
          </a:xfrm>
          <a:prstGeom prst="flowChartAlternateProcess">
            <a:avLst/>
          </a:prstGeom>
          <a:blipFill dpi="0" rotWithShape="0">
            <a:blip r:embed="rId5"/>
            <a:srcRect/>
            <a:stretch>
              <a:fillRect/>
            </a:stretch>
          </a:blipFill>
          <a:ln>
            <a:noFill/>
          </a:ln>
          <a:effectLst>
            <a:prstShdw prst="shdw13" dist="53882" dir="13500000">
              <a:srgbClr val="808080"/>
            </a:prstShdw>
          </a:effectLst>
          <a:extLst>
            <a:ext uri="{91240B29-F687-4F45-9708-019B960494DF}">
              <a14:hiddenLine xmlns:a14="http://schemas.microsoft.com/office/drawing/2010/main" w="12700" cap="sq">
                <a:solidFill>
                  <a:srgbClr val="808000"/>
                </a:solidFill>
                <a:miter lim="800000"/>
                <a:headEnd type="none" w="sm" len="sm"/>
                <a:tailEnd type="none" w="sm" len="sm"/>
              </a14:hiddenLine>
            </a:ext>
          </a:extLst>
        </p:spPr>
        <p:txBody>
          <a:bodyPr>
            <a:spAutoFit/>
          </a:bodyPr>
          <a:lstStyle>
            <a:lvl1pPr>
              <a:tabLst>
                <a:tab pos="2289175" algn="l"/>
              </a:tabLst>
              <a:defRPr>
                <a:solidFill>
                  <a:schemeClr val="tx1"/>
                </a:solidFill>
                <a:latin typeface="Arial" panose="020B0604020202020204" pitchFamily="34" charset="0"/>
                <a:ea typeface="宋体" panose="02010600030101010101" pitchFamily="2" charset="-122"/>
              </a:defRPr>
            </a:lvl1pPr>
            <a:lvl2pPr>
              <a:tabLst>
                <a:tab pos="2289175" algn="l"/>
              </a:tabLst>
              <a:defRPr>
                <a:solidFill>
                  <a:schemeClr val="tx1"/>
                </a:solidFill>
                <a:latin typeface="Arial" panose="020B0604020202020204" pitchFamily="34" charset="0"/>
                <a:ea typeface="宋体" panose="02010600030101010101" pitchFamily="2" charset="-122"/>
              </a:defRPr>
            </a:lvl2pPr>
            <a:lvl3pPr>
              <a:tabLst>
                <a:tab pos="2289175" algn="l"/>
              </a:tabLst>
              <a:defRPr>
                <a:solidFill>
                  <a:schemeClr val="tx1"/>
                </a:solidFill>
                <a:latin typeface="Arial" panose="020B0604020202020204" pitchFamily="34" charset="0"/>
                <a:ea typeface="宋体" panose="02010600030101010101" pitchFamily="2" charset="-122"/>
              </a:defRPr>
            </a:lvl3pPr>
            <a:lvl4pPr>
              <a:tabLst>
                <a:tab pos="2289175" algn="l"/>
              </a:tabLst>
              <a:defRPr>
                <a:solidFill>
                  <a:schemeClr val="tx1"/>
                </a:solidFill>
                <a:latin typeface="Arial" panose="020B0604020202020204" pitchFamily="34" charset="0"/>
                <a:ea typeface="宋体" panose="02010600030101010101" pitchFamily="2" charset="-122"/>
              </a:defRPr>
            </a:lvl4pPr>
            <a:lvl5pPr>
              <a:tabLst>
                <a:tab pos="2289175"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2289175"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2289175"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2289175"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2289175" algn="l"/>
              </a:tabLs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800" b="1">
                <a:effectLst/>
                <a:latin typeface="宋体" panose="02010600030101010101" pitchFamily="2" charset="-122"/>
              </a:rPr>
              <a:t>XLAT</a:t>
            </a:r>
            <a:r>
              <a:rPr lang="en-US" altLang="zh-CN" sz="2800" b="1">
                <a:solidFill>
                  <a:schemeClr val="bg2"/>
                </a:solidFill>
                <a:effectLst/>
                <a:latin typeface="宋体" panose="02010600030101010101" pitchFamily="2" charset="-122"/>
              </a:rPr>
              <a:t>	</a:t>
            </a:r>
            <a:r>
              <a:rPr lang="zh-CN" altLang="en-US" sz="2800" b="1">
                <a:solidFill>
                  <a:schemeClr val="accent2"/>
                </a:solidFill>
                <a:effectLst/>
                <a:latin typeface="宋体" panose="02010600030101010101" pitchFamily="2" charset="-122"/>
              </a:rPr>
              <a:t>；</a:t>
            </a:r>
            <a:r>
              <a:rPr lang="en-US" altLang="zh-CN" sz="2800" b="1">
                <a:solidFill>
                  <a:schemeClr val="accent2"/>
                </a:solidFill>
                <a:effectLst/>
                <a:latin typeface="宋体" panose="02010600030101010101" pitchFamily="2" charset="-122"/>
              </a:rPr>
              <a:t>al←ds:[bx+al]</a:t>
            </a:r>
          </a:p>
        </p:txBody>
      </p:sp>
    </p:spTree>
  </p:cSld>
  <p:clrMapOvr>
    <a:masterClrMapping/>
  </p:clrMapOvr>
  <p:transition>
    <p:rand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8D9AD30-CF20-D3DE-D50E-F8155FD84832}"/>
              </a:ext>
            </a:extLst>
          </p:cNvPr>
          <p:cNvSpPr>
            <a:spLocks noGrp="1"/>
          </p:cNvSpPr>
          <p:nvPr>
            <p:ph idx="1"/>
          </p:nvPr>
        </p:nvSpPr>
        <p:spPr/>
        <p:txBody>
          <a:bodyPr/>
          <a:lstStyle/>
          <a:p>
            <a:pPr marL="0" indent="0">
              <a:buNone/>
            </a:pPr>
            <a:r>
              <a:rPr lang="zh-CN" altLang="en-US" dirty="0"/>
              <a:t>例  将首地址为</a:t>
            </a:r>
            <a:r>
              <a:rPr lang="en-US" altLang="zh-CN" dirty="0"/>
              <a:t>400H</a:t>
            </a:r>
            <a:r>
              <a:rPr lang="zh-CN" altLang="en-US" dirty="0"/>
              <a:t>的表格中的</a:t>
            </a:r>
            <a:r>
              <a:rPr lang="en-US" altLang="zh-CN" dirty="0"/>
              <a:t>3</a:t>
            </a:r>
            <a:r>
              <a:rPr lang="zh-CN" altLang="en-US" dirty="0"/>
              <a:t>号数据（假设为</a:t>
            </a:r>
            <a:r>
              <a:rPr lang="en-US" altLang="zh-CN" dirty="0"/>
              <a:t>46H</a:t>
            </a:r>
            <a:r>
              <a:rPr lang="zh-CN" altLang="en-US" dirty="0"/>
              <a:t>）取出。</a:t>
            </a:r>
            <a:endParaRPr lang="en-US" altLang="zh-CN" dirty="0"/>
          </a:p>
          <a:p>
            <a:pPr marL="0" indent="0">
              <a:buNone/>
            </a:pPr>
            <a:endParaRPr lang="en-US" altLang="zh-CN" dirty="0"/>
          </a:p>
          <a:p>
            <a:pPr marL="0" indent="0">
              <a:buNone/>
            </a:pPr>
            <a:r>
              <a:rPr lang="en-US" altLang="zh-CN" dirty="0"/>
              <a:t>mov bx,400h  ;BX &lt;- 400H</a:t>
            </a:r>
          </a:p>
          <a:p>
            <a:pPr marL="0" indent="0">
              <a:buNone/>
            </a:pPr>
            <a:r>
              <a:rPr lang="en-US" altLang="zh-CN" dirty="0"/>
              <a:t>mov al,03h     ;AL &lt;- 03H</a:t>
            </a:r>
          </a:p>
          <a:p>
            <a:pPr marL="0" indent="0">
              <a:buNone/>
            </a:pPr>
            <a:r>
              <a:rPr lang="en-US" altLang="zh-CN" dirty="0" err="1"/>
              <a:t>xlat</a:t>
            </a:r>
            <a:r>
              <a:rPr lang="en-US" altLang="zh-CN" dirty="0"/>
              <a:t>                  ;AL &lt;- 46H</a:t>
            </a:r>
            <a:endParaRPr lang="zh-CN" altLang="en-US" dirty="0"/>
          </a:p>
        </p:txBody>
      </p:sp>
    </p:spTree>
    <p:extLst>
      <p:ext uri="{BB962C8B-B14F-4D97-AF65-F5344CB8AC3E}">
        <p14:creationId xmlns:p14="http://schemas.microsoft.com/office/powerpoint/2010/main" val="3802445126"/>
      </p:ext>
    </p:extLst>
  </p:cSld>
  <p:clrMapOvr>
    <a:masterClrMapping/>
  </p:clrMapOvr>
  <p:transition>
    <p:random/>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9" name="Rectangle 9">
            <a:extLst>
              <a:ext uri="{FF2B5EF4-FFF2-40B4-BE49-F238E27FC236}">
                <a16:creationId xmlns:a16="http://schemas.microsoft.com/office/drawing/2014/main" id="{D207C699-71C0-0E06-2EE6-087E83281194}"/>
              </a:ext>
            </a:extLst>
          </p:cNvPr>
          <p:cNvSpPr>
            <a:spLocks noGrp="1" noChangeArrowheads="1"/>
          </p:cNvSpPr>
          <p:nvPr>
            <p:ph type="title"/>
          </p:nvPr>
        </p:nvSpPr>
        <p:spPr/>
        <p:txBody>
          <a:bodyPr/>
          <a:lstStyle/>
          <a:p>
            <a:r>
              <a:rPr lang="en-US" altLang="zh-CN" dirty="0"/>
              <a:t>4.</a:t>
            </a:r>
            <a:r>
              <a:rPr lang="zh-CN" altLang="en-US" dirty="0"/>
              <a:t>进栈指令</a:t>
            </a:r>
            <a:r>
              <a:rPr lang="en-US" altLang="zh-CN" dirty="0"/>
              <a:t>PUSH</a:t>
            </a:r>
          </a:p>
        </p:txBody>
      </p:sp>
      <p:sp>
        <p:nvSpPr>
          <p:cNvPr id="66570" name="Rectangle 10">
            <a:extLst>
              <a:ext uri="{FF2B5EF4-FFF2-40B4-BE49-F238E27FC236}">
                <a16:creationId xmlns:a16="http://schemas.microsoft.com/office/drawing/2014/main" id="{4A9019E0-A27E-44A5-47DB-CD13EA1C10C8}"/>
              </a:ext>
            </a:extLst>
          </p:cNvPr>
          <p:cNvSpPr>
            <a:spLocks noGrp="1" noChangeArrowheads="1"/>
          </p:cNvSpPr>
          <p:nvPr>
            <p:ph type="body" idx="1"/>
          </p:nvPr>
        </p:nvSpPr>
        <p:spPr>
          <a:xfrm>
            <a:off x="468313" y="981075"/>
            <a:ext cx="8229600" cy="1165225"/>
          </a:xfrm>
        </p:spPr>
        <p:txBody>
          <a:bodyPr/>
          <a:lstStyle/>
          <a:p>
            <a:r>
              <a:rPr lang="zh-CN" altLang="en-US"/>
              <a:t>进栈指令先使堆栈指针</a:t>
            </a:r>
            <a:r>
              <a:rPr lang="en-US" altLang="zh-CN"/>
              <a:t>SP</a:t>
            </a:r>
            <a:r>
              <a:rPr lang="zh-CN" altLang="en-US"/>
              <a:t>减</a:t>
            </a:r>
            <a:r>
              <a:rPr lang="en-US" altLang="zh-CN"/>
              <a:t>2</a:t>
            </a:r>
            <a:r>
              <a:rPr lang="zh-CN" altLang="en-US"/>
              <a:t>，然后把一个字操作数存入堆栈顶部</a:t>
            </a:r>
          </a:p>
        </p:txBody>
      </p:sp>
      <p:sp>
        <p:nvSpPr>
          <p:cNvPr id="66566" name="AutoShape 6">
            <a:extLst>
              <a:ext uri="{FF2B5EF4-FFF2-40B4-BE49-F238E27FC236}">
                <a16:creationId xmlns:a16="http://schemas.microsoft.com/office/drawing/2014/main" id="{6E0F5FA1-28B6-CC97-4726-A5C0351BC9E9}"/>
              </a:ext>
            </a:extLst>
          </p:cNvPr>
          <p:cNvSpPr>
            <a:spLocks noChangeArrowheads="1"/>
          </p:cNvSpPr>
          <p:nvPr/>
        </p:nvSpPr>
        <p:spPr bwMode="auto">
          <a:xfrm>
            <a:off x="742950" y="2451100"/>
            <a:ext cx="6978650" cy="1474788"/>
          </a:xfrm>
          <a:prstGeom prst="flowChartAlternateProcess">
            <a:avLst/>
          </a:prstGeom>
          <a:blipFill dpi="0" rotWithShape="0">
            <a:blip r:embed="rId2"/>
            <a:srcRect/>
            <a:stretch>
              <a:fillRect/>
            </a:stretch>
          </a:blipFill>
          <a:ln>
            <a:noFill/>
          </a:ln>
          <a:effectLst>
            <a:prstShdw prst="shdw13" dist="53882" dir="13500000">
              <a:srgbClr val="808080"/>
            </a:prstShdw>
          </a:effectLst>
          <a:extLst>
            <a:ext uri="{91240B29-F687-4F45-9708-019B960494DF}">
              <a14:hiddenLine xmlns:a14="http://schemas.microsoft.com/office/drawing/2010/main" w="12700" cap="sq">
                <a:solidFill>
                  <a:srgbClr val="808000"/>
                </a:solidFill>
                <a:miter lim="800000"/>
                <a:headEnd type="none" w="sm" len="sm"/>
                <a:tailEnd type="none" w="sm" len="sm"/>
              </a14:hiddenLine>
            </a:ext>
          </a:extLst>
        </p:spPr>
        <p:txBody>
          <a:bodyPr>
            <a:spAutoFit/>
          </a:bodyPr>
          <a:lstStyle>
            <a:lvl1pPr>
              <a:tabLst>
                <a:tab pos="2289175" algn="l"/>
              </a:tabLst>
              <a:defRPr>
                <a:solidFill>
                  <a:schemeClr val="tx1"/>
                </a:solidFill>
                <a:latin typeface="Arial" panose="020B0604020202020204" pitchFamily="34" charset="0"/>
                <a:ea typeface="宋体" panose="02010600030101010101" pitchFamily="2" charset="-122"/>
              </a:defRPr>
            </a:lvl1pPr>
            <a:lvl2pPr>
              <a:tabLst>
                <a:tab pos="2289175" algn="l"/>
              </a:tabLst>
              <a:defRPr>
                <a:solidFill>
                  <a:schemeClr val="tx1"/>
                </a:solidFill>
                <a:latin typeface="Arial" panose="020B0604020202020204" pitchFamily="34" charset="0"/>
                <a:ea typeface="宋体" panose="02010600030101010101" pitchFamily="2" charset="-122"/>
              </a:defRPr>
            </a:lvl2pPr>
            <a:lvl3pPr>
              <a:tabLst>
                <a:tab pos="2289175" algn="l"/>
              </a:tabLst>
              <a:defRPr>
                <a:solidFill>
                  <a:schemeClr val="tx1"/>
                </a:solidFill>
                <a:latin typeface="Arial" panose="020B0604020202020204" pitchFamily="34" charset="0"/>
                <a:ea typeface="宋体" panose="02010600030101010101" pitchFamily="2" charset="-122"/>
              </a:defRPr>
            </a:lvl3pPr>
            <a:lvl4pPr>
              <a:tabLst>
                <a:tab pos="2289175" algn="l"/>
              </a:tabLst>
              <a:defRPr>
                <a:solidFill>
                  <a:schemeClr val="tx1"/>
                </a:solidFill>
                <a:latin typeface="Arial" panose="020B0604020202020204" pitchFamily="34" charset="0"/>
                <a:ea typeface="宋体" panose="02010600030101010101" pitchFamily="2" charset="-122"/>
              </a:defRPr>
            </a:lvl4pPr>
            <a:lvl5pPr>
              <a:tabLst>
                <a:tab pos="2289175"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2289175"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2289175"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2289175"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2289175" algn="l"/>
              </a:tabLs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800" b="1">
                <a:effectLst/>
                <a:latin typeface="宋体" panose="02010600030101010101" pitchFamily="2" charset="-122"/>
              </a:rPr>
              <a:t>PUSH r16/m16/seg</a:t>
            </a:r>
          </a:p>
          <a:p>
            <a:pPr>
              <a:lnSpc>
                <a:spcPct val="80000"/>
              </a:lnSpc>
              <a:spcBef>
                <a:spcPct val="40000"/>
              </a:spcBef>
            </a:pPr>
            <a:r>
              <a:rPr lang="en-US" altLang="zh-CN" sz="2800" b="1">
                <a:solidFill>
                  <a:schemeClr val="accent2"/>
                </a:solidFill>
                <a:effectLst/>
                <a:latin typeface="宋体" panose="02010600030101010101" pitchFamily="2" charset="-122"/>
              </a:rPr>
              <a:t>	</a:t>
            </a:r>
            <a:r>
              <a:rPr lang="zh-CN" altLang="en-US" sz="2800" b="1">
                <a:solidFill>
                  <a:schemeClr val="accent2"/>
                </a:solidFill>
                <a:effectLst/>
                <a:latin typeface="宋体" panose="02010600030101010101" pitchFamily="2" charset="-122"/>
              </a:rPr>
              <a:t>；</a:t>
            </a:r>
            <a:r>
              <a:rPr lang="en-US" altLang="zh-CN" sz="2800" b="1">
                <a:solidFill>
                  <a:schemeClr val="accent2"/>
                </a:solidFill>
                <a:effectLst/>
                <a:latin typeface="宋体" panose="02010600030101010101" pitchFamily="2" charset="-122"/>
              </a:rPr>
              <a:t>SP←SP</a:t>
            </a:r>
            <a:r>
              <a:rPr lang="zh-CN" altLang="en-US" sz="2800" b="1">
                <a:solidFill>
                  <a:schemeClr val="accent2"/>
                </a:solidFill>
                <a:effectLst/>
                <a:latin typeface="宋体" panose="02010600030101010101" pitchFamily="2" charset="-122"/>
              </a:rPr>
              <a:t>－</a:t>
            </a:r>
            <a:r>
              <a:rPr lang="en-US" altLang="zh-CN" sz="2800" b="1">
                <a:solidFill>
                  <a:schemeClr val="accent2"/>
                </a:solidFill>
                <a:effectLst/>
                <a:latin typeface="宋体" panose="02010600030101010101" pitchFamily="2" charset="-122"/>
              </a:rPr>
              <a:t>2</a:t>
            </a:r>
          </a:p>
          <a:p>
            <a:pPr>
              <a:lnSpc>
                <a:spcPct val="60000"/>
              </a:lnSpc>
              <a:spcBef>
                <a:spcPct val="20000"/>
              </a:spcBef>
            </a:pPr>
            <a:r>
              <a:rPr lang="en-US" altLang="zh-CN" sz="2800" b="1">
                <a:solidFill>
                  <a:schemeClr val="accent2"/>
                </a:solidFill>
                <a:effectLst/>
                <a:latin typeface="宋体" panose="02010600030101010101" pitchFamily="2" charset="-122"/>
              </a:rPr>
              <a:t>	</a:t>
            </a:r>
            <a:r>
              <a:rPr lang="zh-CN" altLang="en-US" sz="2800" b="1">
                <a:solidFill>
                  <a:schemeClr val="accent2"/>
                </a:solidFill>
                <a:effectLst/>
                <a:latin typeface="宋体" panose="02010600030101010101" pitchFamily="2" charset="-122"/>
              </a:rPr>
              <a:t>；</a:t>
            </a:r>
            <a:r>
              <a:rPr lang="en-US" altLang="zh-CN" sz="2800" b="1">
                <a:solidFill>
                  <a:schemeClr val="accent2"/>
                </a:solidFill>
                <a:effectLst/>
                <a:latin typeface="宋体" panose="02010600030101010101" pitchFamily="2" charset="-122"/>
              </a:rPr>
              <a:t>SS:[SP]←r16/m16/seg</a:t>
            </a:r>
          </a:p>
        </p:txBody>
      </p:sp>
      <p:sp>
        <p:nvSpPr>
          <p:cNvPr id="66571" name="Rectangle 11">
            <a:extLst>
              <a:ext uri="{FF2B5EF4-FFF2-40B4-BE49-F238E27FC236}">
                <a16:creationId xmlns:a16="http://schemas.microsoft.com/office/drawing/2014/main" id="{D9203DC5-F717-97DB-399D-4584ED6A1BD8}"/>
              </a:ext>
            </a:extLst>
          </p:cNvPr>
          <p:cNvSpPr>
            <a:spLocks noChangeArrowheads="1"/>
          </p:cNvSpPr>
          <p:nvPr/>
        </p:nvSpPr>
        <p:spPr bwMode="auto">
          <a:xfrm>
            <a:off x="3414713" y="4362450"/>
            <a:ext cx="3744912"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a:spcBef>
                <a:spcPct val="20000"/>
              </a:spcBef>
              <a:buBlip>
                <a:blip r:embed="rId3"/>
              </a:buBlip>
              <a:defRPr sz="3200" b="1">
                <a:solidFill>
                  <a:schemeClr val="accent2"/>
                </a:solidFill>
                <a:latin typeface="Arial" panose="020B0604020202020204" pitchFamily="34" charset="0"/>
                <a:ea typeface="幼圆" panose="02010509060101010101" pitchFamily="49" charset="-122"/>
              </a:defRPr>
            </a:lvl1pPr>
            <a:lvl2pPr marL="742950" indent="-285750" algn="just">
              <a:spcBef>
                <a:spcPct val="20000"/>
              </a:spcBef>
              <a:buBlip>
                <a:blip r:embed="rId4"/>
              </a:buBlip>
              <a:defRPr sz="2800" b="1">
                <a:solidFill>
                  <a:schemeClr val="tx1"/>
                </a:solidFill>
                <a:latin typeface="Arial" panose="020B0604020202020204" pitchFamily="34" charset="0"/>
                <a:ea typeface="宋体" panose="02010600030101010101" pitchFamily="2" charset="-122"/>
              </a:defRPr>
            </a:lvl2pPr>
            <a:lvl3pPr marL="1143000" indent="-228600" algn="just">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gn="just">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just">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algn="just"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algn="just"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algn="just"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algn="just"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FontTx/>
              <a:buNone/>
            </a:pPr>
            <a:r>
              <a:rPr lang="en-US" altLang="zh-CN">
                <a:effectLst/>
              </a:rPr>
              <a:t>push ax</a:t>
            </a:r>
          </a:p>
          <a:p>
            <a:pPr>
              <a:buFontTx/>
              <a:buNone/>
            </a:pPr>
            <a:r>
              <a:rPr lang="en-US" altLang="zh-CN">
                <a:effectLst/>
              </a:rPr>
              <a:t>push [2000h]</a:t>
            </a:r>
          </a:p>
        </p:txBody>
      </p:sp>
    </p:spTree>
  </p:cSld>
  <p:clrMapOvr>
    <a:masterClrMapping/>
  </p:clrMapOvr>
  <p:transition>
    <p:rand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2">
            <a:extLst>
              <a:ext uri="{FF2B5EF4-FFF2-40B4-BE49-F238E27FC236}">
                <a16:creationId xmlns:a16="http://schemas.microsoft.com/office/drawing/2014/main" id="{FABF7A11-F818-B235-DDDB-D5F3B1396B3C}"/>
              </a:ext>
            </a:extLst>
          </p:cNvPr>
          <p:cNvSpPr>
            <a:spLocks noGrp="1" noChangeArrowheads="1"/>
          </p:cNvSpPr>
          <p:nvPr>
            <p:ph type="title"/>
          </p:nvPr>
        </p:nvSpPr>
        <p:spPr/>
        <p:txBody>
          <a:bodyPr/>
          <a:lstStyle/>
          <a:p>
            <a:r>
              <a:rPr lang="en-US" altLang="zh-CN" dirty="0"/>
              <a:t>5.</a:t>
            </a:r>
            <a:r>
              <a:rPr lang="zh-CN" altLang="en-US" dirty="0"/>
              <a:t>出栈指令</a:t>
            </a:r>
            <a:r>
              <a:rPr lang="en-US" altLang="zh-CN" dirty="0"/>
              <a:t>POP</a:t>
            </a:r>
          </a:p>
        </p:txBody>
      </p:sp>
      <p:sp>
        <p:nvSpPr>
          <p:cNvPr id="325635" name="Rectangle 3">
            <a:extLst>
              <a:ext uri="{FF2B5EF4-FFF2-40B4-BE49-F238E27FC236}">
                <a16:creationId xmlns:a16="http://schemas.microsoft.com/office/drawing/2014/main" id="{F0854451-C2CB-9D5C-79EA-72E4C3317F23}"/>
              </a:ext>
            </a:extLst>
          </p:cNvPr>
          <p:cNvSpPr>
            <a:spLocks noGrp="1" noChangeArrowheads="1"/>
          </p:cNvSpPr>
          <p:nvPr>
            <p:ph type="body" idx="1"/>
          </p:nvPr>
        </p:nvSpPr>
        <p:spPr>
          <a:xfrm>
            <a:off x="468313" y="981075"/>
            <a:ext cx="8229600" cy="1165225"/>
          </a:xfrm>
        </p:spPr>
        <p:txBody>
          <a:bodyPr/>
          <a:lstStyle/>
          <a:p>
            <a:r>
              <a:rPr lang="zh-CN" altLang="en-US"/>
              <a:t>出栈指令把栈顶的一个字传送至指定的目的操作数，然后堆栈指针</a:t>
            </a:r>
            <a:r>
              <a:rPr lang="en-US" altLang="zh-CN"/>
              <a:t>SP</a:t>
            </a:r>
            <a:r>
              <a:rPr lang="zh-CN" altLang="en-US"/>
              <a:t>加</a:t>
            </a:r>
            <a:r>
              <a:rPr lang="en-US" altLang="zh-CN"/>
              <a:t>2</a:t>
            </a:r>
          </a:p>
        </p:txBody>
      </p:sp>
      <p:sp>
        <p:nvSpPr>
          <p:cNvPr id="325636" name="AutoShape 4">
            <a:extLst>
              <a:ext uri="{FF2B5EF4-FFF2-40B4-BE49-F238E27FC236}">
                <a16:creationId xmlns:a16="http://schemas.microsoft.com/office/drawing/2014/main" id="{61D6A931-EECA-CC10-570C-A33033FEDDA7}"/>
              </a:ext>
            </a:extLst>
          </p:cNvPr>
          <p:cNvSpPr>
            <a:spLocks noChangeArrowheads="1"/>
          </p:cNvSpPr>
          <p:nvPr/>
        </p:nvSpPr>
        <p:spPr bwMode="auto">
          <a:xfrm>
            <a:off x="736600" y="2443163"/>
            <a:ext cx="6991350" cy="1658937"/>
          </a:xfrm>
          <a:prstGeom prst="flowChartAlternateProcess">
            <a:avLst/>
          </a:prstGeom>
          <a:blipFill dpi="0" rotWithShape="0">
            <a:blip r:embed="rId2"/>
            <a:srcRect/>
            <a:stretch>
              <a:fillRect/>
            </a:stretch>
          </a:blipFill>
          <a:ln>
            <a:noFill/>
          </a:ln>
          <a:effectLst>
            <a:prstShdw prst="shdw13" dist="53882" dir="13500000">
              <a:srgbClr val="808080"/>
            </a:prstShdw>
          </a:effectLst>
          <a:extLst>
            <a:ext uri="{91240B29-F687-4F45-9708-019B960494DF}">
              <a14:hiddenLine xmlns:a14="http://schemas.microsoft.com/office/drawing/2010/main" w="12700" cap="sq">
                <a:solidFill>
                  <a:srgbClr val="808000"/>
                </a:solidFill>
                <a:miter lim="800000"/>
                <a:headEnd type="none" w="sm" len="sm"/>
                <a:tailEnd type="none" w="sm" len="sm"/>
              </a14:hiddenLine>
            </a:ext>
          </a:extLst>
        </p:spPr>
        <p:txBody>
          <a:bodyPr>
            <a:spAutoFit/>
          </a:bodyPr>
          <a:lstStyle>
            <a:lvl1pPr>
              <a:tabLst>
                <a:tab pos="2289175" algn="l"/>
              </a:tabLst>
              <a:defRPr>
                <a:solidFill>
                  <a:schemeClr val="tx1"/>
                </a:solidFill>
                <a:latin typeface="Arial" panose="020B0604020202020204" pitchFamily="34" charset="0"/>
                <a:ea typeface="宋体" panose="02010600030101010101" pitchFamily="2" charset="-122"/>
              </a:defRPr>
            </a:lvl1pPr>
            <a:lvl2pPr>
              <a:tabLst>
                <a:tab pos="2289175" algn="l"/>
              </a:tabLst>
              <a:defRPr>
                <a:solidFill>
                  <a:schemeClr val="tx1"/>
                </a:solidFill>
                <a:latin typeface="Arial" panose="020B0604020202020204" pitchFamily="34" charset="0"/>
                <a:ea typeface="宋体" panose="02010600030101010101" pitchFamily="2" charset="-122"/>
              </a:defRPr>
            </a:lvl2pPr>
            <a:lvl3pPr>
              <a:tabLst>
                <a:tab pos="2289175" algn="l"/>
              </a:tabLst>
              <a:defRPr>
                <a:solidFill>
                  <a:schemeClr val="tx1"/>
                </a:solidFill>
                <a:latin typeface="Arial" panose="020B0604020202020204" pitchFamily="34" charset="0"/>
                <a:ea typeface="宋体" panose="02010600030101010101" pitchFamily="2" charset="-122"/>
              </a:defRPr>
            </a:lvl3pPr>
            <a:lvl4pPr>
              <a:tabLst>
                <a:tab pos="2289175" algn="l"/>
              </a:tabLst>
              <a:defRPr>
                <a:solidFill>
                  <a:schemeClr val="tx1"/>
                </a:solidFill>
                <a:latin typeface="Arial" panose="020B0604020202020204" pitchFamily="34" charset="0"/>
                <a:ea typeface="宋体" panose="02010600030101010101" pitchFamily="2" charset="-122"/>
              </a:defRPr>
            </a:lvl4pPr>
            <a:lvl5pPr>
              <a:tabLst>
                <a:tab pos="2289175"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2289175"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2289175"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2289175"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2289175" algn="l"/>
              </a:tabLs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800" b="1">
                <a:effectLst/>
                <a:latin typeface="宋体" panose="02010600030101010101" pitchFamily="2" charset="-122"/>
              </a:rPr>
              <a:t>POP r16/m16/seg</a:t>
            </a:r>
          </a:p>
          <a:p>
            <a:pPr>
              <a:lnSpc>
                <a:spcPct val="80000"/>
              </a:lnSpc>
              <a:spcBef>
                <a:spcPct val="40000"/>
              </a:spcBef>
            </a:pPr>
            <a:r>
              <a:rPr lang="en-US" altLang="zh-CN" sz="2800" b="1">
                <a:solidFill>
                  <a:schemeClr val="accent2"/>
                </a:solidFill>
                <a:effectLst/>
                <a:latin typeface="宋体" panose="02010600030101010101" pitchFamily="2" charset="-122"/>
              </a:rPr>
              <a:t>	</a:t>
            </a:r>
            <a:r>
              <a:rPr lang="zh-CN" altLang="en-US" sz="2800" b="1">
                <a:solidFill>
                  <a:schemeClr val="accent2"/>
                </a:solidFill>
                <a:effectLst/>
                <a:latin typeface="宋体" panose="02010600030101010101" pitchFamily="2" charset="-122"/>
              </a:rPr>
              <a:t>； </a:t>
            </a:r>
            <a:r>
              <a:rPr lang="en-US" altLang="zh-CN" sz="2800" b="1">
                <a:solidFill>
                  <a:schemeClr val="accent2"/>
                </a:solidFill>
                <a:effectLst/>
                <a:latin typeface="宋体" panose="02010600030101010101" pitchFamily="2" charset="-122"/>
              </a:rPr>
              <a:t>r16/m16/seg←SS:[SP]</a:t>
            </a:r>
          </a:p>
          <a:p>
            <a:pPr>
              <a:lnSpc>
                <a:spcPct val="80000"/>
              </a:lnSpc>
              <a:spcBef>
                <a:spcPct val="40000"/>
              </a:spcBef>
            </a:pPr>
            <a:r>
              <a:rPr lang="en-US" altLang="zh-CN" sz="2800" b="1">
                <a:solidFill>
                  <a:schemeClr val="accent2"/>
                </a:solidFill>
                <a:effectLst/>
                <a:latin typeface="宋体" panose="02010600030101010101" pitchFamily="2" charset="-122"/>
              </a:rPr>
              <a:t>	</a:t>
            </a:r>
            <a:r>
              <a:rPr lang="zh-CN" altLang="en-US" sz="2800" b="1">
                <a:solidFill>
                  <a:schemeClr val="accent2"/>
                </a:solidFill>
                <a:effectLst/>
                <a:latin typeface="宋体" panose="02010600030101010101" pitchFamily="2" charset="-122"/>
              </a:rPr>
              <a:t>；</a:t>
            </a:r>
            <a:r>
              <a:rPr lang="en-US" altLang="zh-CN" sz="2800" b="1">
                <a:solidFill>
                  <a:schemeClr val="accent2"/>
                </a:solidFill>
                <a:effectLst/>
                <a:latin typeface="宋体" panose="02010600030101010101" pitchFamily="2" charset="-122"/>
              </a:rPr>
              <a:t>SP←SP</a:t>
            </a:r>
            <a:r>
              <a:rPr lang="zh-CN" altLang="en-US" sz="2800" b="1">
                <a:solidFill>
                  <a:schemeClr val="accent2"/>
                </a:solidFill>
                <a:effectLst/>
                <a:latin typeface="宋体" panose="02010600030101010101" pitchFamily="2" charset="-122"/>
              </a:rPr>
              <a:t>＋</a:t>
            </a:r>
            <a:r>
              <a:rPr lang="en-US" altLang="zh-CN" sz="2800" b="1">
                <a:solidFill>
                  <a:schemeClr val="accent2"/>
                </a:solidFill>
                <a:effectLst/>
                <a:latin typeface="宋体" panose="02010600030101010101" pitchFamily="2" charset="-122"/>
              </a:rPr>
              <a:t>2</a:t>
            </a:r>
          </a:p>
        </p:txBody>
      </p:sp>
      <p:sp>
        <p:nvSpPr>
          <p:cNvPr id="325638" name="Rectangle 6">
            <a:extLst>
              <a:ext uri="{FF2B5EF4-FFF2-40B4-BE49-F238E27FC236}">
                <a16:creationId xmlns:a16="http://schemas.microsoft.com/office/drawing/2014/main" id="{FE1260E3-ABBC-6A63-1A95-BCBC1327F224}"/>
              </a:ext>
            </a:extLst>
          </p:cNvPr>
          <p:cNvSpPr>
            <a:spLocks noChangeArrowheads="1"/>
          </p:cNvSpPr>
          <p:nvPr/>
        </p:nvSpPr>
        <p:spPr bwMode="auto">
          <a:xfrm>
            <a:off x="3414713" y="4362450"/>
            <a:ext cx="3744912"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a:spcBef>
                <a:spcPct val="20000"/>
              </a:spcBef>
              <a:buBlip>
                <a:blip r:embed="rId3"/>
              </a:buBlip>
              <a:defRPr sz="3200" b="1">
                <a:solidFill>
                  <a:schemeClr val="accent2"/>
                </a:solidFill>
                <a:latin typeface="Arial" panose="020B0604020202020204" pitchFamily="34" charset="0"/>
                <a:ea typeface="幼圆" panose="02010509060101010101" pitchFamily="49" charset="-122"/>
              </a:defRPr>
            </a:lvl1pPr>
            <a:lvl2pPr marL="742950" indent="-285750" algn="just">
              <a:spcBef>
                <a:spcPct val="20000"/>
              </a:spcBef>
              <a:buBlip>
                <a:blip r:embed="rId4"/>
              </a:buBlip>
              <a:defRPr sz="2800" b="1">
                <a:solidFill>
                  <a:schemeClr val="tx1"/>
                </a:solidFill>
                <a:latin typeface="Arial" panose="020B0604020202020204" pitchFamily="34" charset="0"/>
                <a:ea typeface="宋体" panose="02010600030101010101" pitchFamily="2" charset="-122"/>
              </a:defRPr>
            </a:lvl2pPr>
            <a:lvl3pPr marL="1143000" indent="-228600" algn="just">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gn="just">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just">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algn="just"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algn="just"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algn="just"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algn="just"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FontTx/>
              <a:buNone/>
            </a:pPr>
            <a:r>
              <a:rPr lang="en-US" altLang="zh-CN">
                <a:effectLst/>
              </a:rPr>
              <a:t>pop ax</a:t>
            </a:r>
          </a:p>
          <a:p>
            <a:pPr>
              <a:buFontTx/>
              <a:buNone/>
            </a:pPr>
            <a:r>
              <a:rPr lang="en-US" altLang="zh-CN">
                <a:effectLst/>
              </a:rPr>
              <a:t>pop wvar</a:t>
            </a:r>
          </a:p>
        </p:txBody>
      </p:sp>
    </p:spTree>
  </p:cSld>
  <p:clrMapOvr>
    <a:masterClrMapping/>
  </p:clrMapOvr>
  <p:transition>
    <p:random/>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5894D794-9C07-7AAB-3CFE-61B73D7E2B54}"/>
              </a:ext>
            </a:extLst>
          </p:cNvPr>
          <p:cNvSpPr>
            <a:spLocks noGrp="1" noChangeArrowheads="1"/>
          </p:cNvSpPr>
          <p:nvPr>
            <p:ph type="title"/>
          </p:nvPr>
        </p:nvSpPr>
        <p:spPr/>
        <p:txBody>
          <a:bodyPr/>
          <a:lstStyle/>
          <a:p>
            <a:r>
              <a:rPr lang="zh-CN" altLang="en-US"/>
              <a:t>堆栈操作的特点</a:t>
            </a:r>
          </a:p>
        </p:txBody>
      </p:sp>
      <p:sp>
        <p:nvSpPr>
          <p:cNvPr id="68611" name="Rectangle 3">
            <a:extLst>
              <a:ext uri="{FF2B5EF4-FFF2-40B4-BE49-F238E27FC236}">
                <a16:creationId xmlns:a16="http://schemas.microsoft.com/office/drawing/2014/main" id="{5D1B21BF-EAAC-795B-4961-2B2F6659F840}"/>
              </a:ext>
            </a:extLst>
          </p:cNvPr>
          <p:cNvSpPr>
            <a:spLocks noGrp="1" noChangeArrowheads="1"/>
          </p:cNvSpPr>
          <p:nvPr>
            <p:ph type="body" idx="1"/>
          </p:nvPr>
        </p:nvSpPr>
        <p:spPr>
          <a:xfrm>
            <a:off x="468313" y="1057275"/>
            <a:ext cx="8229600" cy="4502150"/>
          </a:xfrm>
        </p:spPr>
        <p:txBody>
          <a:bodyPr/>
          <a:lstStyle/>
          <a:p>
            <a:pPr>
              <a:buSzPct val="90000"/>
              <a:buFont typeface="Wingdings" panose="05000000000000000000" pitchFamily="2" charset="2"/>
              <a:buChar char="Ø"/>
            </a:pPr>
            <a:r>
              <a:rPr kumimoji="1" lang="zh-CN" altLang="en-US" sz="2800" dirty="0">
                <a:solidFill>
                  <a:srgbClr val="000000"/>
                </a:solidFill>
                <a:ea typeface="宋体" panose="02010600030101010101" pitchFamily="2" charset="-122"/>
              </a:rPr>
              <a:t>堆栈操作的单位是字，进栈和出栈只对字量</a:t>
            </a:r>
          </a:p>
          <a:p>
            <a:pPr>
              <a:buSzPct val="90000"/>
              <a:buFont typeface="Wingdings" panose="05000000000000000000" pitchFamily="2" charset="2"/>
              <a:buChar char="Ø"/>
            </a:pPr>
            <a:r>
              <a:rPr kumimoji="1" lang="zh-CN" altLang="en-US" sz="2800" dirty="0">
                <a:solidFill>
                  <a:srgbClr val="000000"/>
                </a:solidFill>
                <a:ea typeface="宋体" panose="02010600030101010101" pitchFamily="2" charset="-122"/>
              </a:rPr>
              <a:t>字量数据从栈顶压入和弹出时，都是低地址字节送低字节，高地址字节送高字节</a:t>
            </a:r>
          </a:p>
          <a:p>
            <a:pPr>
              <a:buSzPct val="90000"/>
              <a:buFont typeface="Wingdings" panose="05000000000000000000" pitchFamily="2" charset="2"/>
              <a:buChar char="Ø"/>
            </a:pPr>
            <a:r>
              <a:rPr kumimoji="1" lang="zh-CN" altLang="en-US" sz="2800" dirty="0">
                <a:solidFill>
                  <a:srgbClr val="000000"/>
                </a:solidFill>
                <a:ea typeface="宋体" panose="02010600030101010101" pitchFamily="2" charset="-122"/>
              </a:rPr>
              <a:t>堆栈操作遵循先进后出原则，但可用存储器寻址方式随机存取堆栈中的数据（</a:t>
            </a:r>
            <a:r>
              <a:rPr kumimoji="1" lang="en-US" altLang="zh-CN" sz="2800" dirty="0">
                <a:solidFill>
                  <a:srgbClr val="000000"/>
                </a:solidFill>
                <a:ea typeface="宋体" panose="02010600030101010101" pitchFamily="2" charset="-122"/>
              </a:rPr>
              <a:t>BP</a:t>
            </a:r>
            <a:r>
              <a:rPr kumimoji="1" lang="zh-CN" altLang="en-US" sz="2800" dirty="0">
                <a:solidFill>
                  <a:srgbClr val="000000"/>
                </a:solidFill>
                <a:ea typeface="宋体" panose="02010600030101010101" pitchFamily="2" charset="-122"/>
              </a:rPr>
              <a:t>寄存器采用随机存取方式读写堆栈段中的数据）</a:t>
            </a:r>
          </a:p>
          <a:p>
            <a:pPr>
              <a:buSzPct val="90000"/>
              <a:buFont typeface="Wingdings" panose="05000000000000000000" pitchFamily="2" charset="2"/>
              <a:buChar char="Ø"/>
            </a:pPr>
            <a:r>
              <a:rPr kumimoji="1" lang="zh-CN" altLang="en-US" sz="2800" dirty="0">
                <a:solidFill>
                  <a:srgbClr val="000000"/>
                </a:solidFill>
                <a:ea typeface="宋体" panose="02010600030101010101" pitchFamily="2" charset="-122"/>
              </a:rPr>
              <a:t>堆栈段是程序中不可或缺的一个内存区，常用来</a:t>
            </a:r>
          </a:p>
          <a:p>
            <a:pPr lvl="1">
              <a:buSzPct val="75000"/>
              <a:buFont typeface="Wingdings" panose="05000000000000000000" pitchFamily="2" charset="2"/>
              <a:buChar char="n"/>
            </a:pPr>
            <a:r>
              <a:rPr kumimoji="1" lang="zh-CN" altLang="en-US" sz="2400" dirty="0">
                <a:solidFill>
                  <a:srgbClr val="000000"/>
                </a:solidFill>
              </a:rPr>
              <a:t>临时存放数据</a:t>
            </a:r>
          </a:p>
          <a:p>
            <a:pPr lvl="1">
              <a:buSzPct val="75000"/>
              <a:buFont typeface="Wingdings" panose="05000000000000000000" pitchFamily="2" charset="2"/>
              <a:buChar char="n"/>
            </a:pPr>
            <a:r>
              <a:rPr kumimoji="1" lang="zh-CN" altLang="en-US" sz="2400" dirty="0">
                <a:solidFill>
                  <a:srgbClr val="000000"/>
                </a:solidFill>
              </a:rPr>
              <a:t>传递参数</a:t>
            </a:r>
          </a:p>
          <a:p>
            <a:pPr lvl="1">
              <a:buSzPct val="75000"/>
              <a:buFont typeface="Wingdings" panose="05000000000000000000" pitchFamily="2" charset="2"/>
              <a:buChar char="n"/>
            </a:pPr>
            <a:r>
              <a:rPr kumimoji="1" lang="zh-CN" altLang="en-US" sz="2400" dirty="0"/>
              <a:t>保存和恢复寄存器</a:t>
            </a:r>
            <a:endParaRPr lang="zh-CN" altLang="en-US" dirty="0"/>
          </a:p>
        </p:txBody>
      </p:sp>
    </p:spTree>
  </p:cSld>
  <p:clrMapOvr>
    <a:masterClrMapping/>
  </p:clrMapOvr>
  <p:transition>
    <p:rand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9EEB4620-85F6-4A77-0B04-245CAE6F1594}"/>
              </a:ext>
            </a:extLst>
          </p:cNvPr>
          <p:cNvSpPr>
            <a:spLocks noGrp="1" noChangeArrowheads="1"/>
          </p:cNvSpPr>
          <p:nvPr>
            <p:ph type="title"/>
          </p:nvPr>
        </p:nvSpPr>
        <p:spPr/>
        <p:txBody>
          <a:bodyPr/>
          <a:lstStyle/>
          <a:p>
            <a:r>
              <a:rPr lang="en-US" altLang="zh-CN" dirty="0"/>
              <a:t>6.</a:t>
            </a:r>
            <a:r>
              <a:rPr lang="zh-CN" altLang="en-US" dirty="0"/>
              <a:t>标志操作指令</a:t>
            </a:r>
          </a:p>
        </p:txBody>
      </p:sp>
      <p:sp>
        <p:nvSpPr>
          <p:cNvPr id="70659" name="Rectangle 3">
            <a:extLst>
              <a:ext uri="{FF2B5EF4-FFF2-40B4-BE49-F238E27FC236}">
                <a16:creationId xmlns:a16="http://schemas.microsoft.com/office/drawing/2014/main" id="{2C2C0B87-C39D-D16C-FDF6-EDC6CAA2F76D}"/>
              </a:ext>
            </a:extLst>
          </p:cNvPr>
          <p:cNvSpPr>
            <a:spLocks noGrp="1" noChangeArrowheads="1"/>
          </p:cNvSpPr>
          <p:nvPr>
            <p:ph type="body" idx="1"/>
          </p:nvPr>
        </p:nvSpPr>
        <p:spPr/>
        <p:txBody>
          <a:bodyPr/>
          <a:lstStyle/>
          <a:p>
            <a:pPr marL="990600" lvl="1" indent="-533400">
              <a:lnSpc>
                <a:spcPct val="90000"/>
              </a:lnSpc>
              <a:buFontTx/>
              <a:buNone/>
              <a:tabLst>
                <a:tab pos="1609725" algn="l"/>
              </a:tabLst>
            </a:pPr>
            <a:r>
              <a:rPr lang="en-US" altLang="zh-CN" dirty="0">
                <a:solidFill>
                  <a:srgbClr val="006600"/>
                </a:solidFill>
              </a:rPr>
              <a:t>CLC</a:t>
            </a:r>
            <a:r>
              <a:rPr lang="en-US" altLang="zh-CN" dirty="0">
                <a:solidFill>
                  <a:srgbClr val="CC0066"/>
                </a:solidFill>
              </a:rPr>
              <a:t>	</a:t>
            </a:r>
            <a:r>
              <a:rPr lang="zh-CN" altLang="en-US" dirty="0"/>
              <a:t>；复位进位标志：</a:t>
            </a:r>
            <a:r>
              <a:rPr lang="en-US" altLang="zh-CN" dirty="0"/>
              <a:t>CF←0</a:t>
            </a:r>
          </a:p>
          <a:p>
            <a:pPr marL="990600" lvl="1" indent="-533400">
              <a:lnSpc>
                <a:spcPct val="90000"/>
              </a:lnSpc>
              <a:buFontTx/>
              <a:buNone/>
              <a:tabLst>
                <a:tab pos="1609725" algn="l"/>
              </a:tabLst>
            </a:pPr>
            <a:r>
              <a:rPr lang="en-US" altLang="zh-CN" dirty="0">
                <a:solidFill>
                  <a:srgbClr val="006600"/>
                </a:solidFill>
              </a:rPr>
              <a:t>STC</a:t>
            </a:r>
            <a:r>
              <a:rPr lang="en-US" altLang="zh-CN" dirty="0">
                <a:solidFill>
                  <a:srgbClr val="CC0066"/>
                </a:solidFill>
              </a:rPr>
              <a:t>	</a:t>
            </a:r>
            <a:r>
              <a:rPr lang="zh-CN" altLang="en-US" dirty="0"/>
              <a:t>；置位进位标志：</a:t>
            </a:r>
            <a:r>
              <a:rPr lang="en-US" altLang="zh-CN" dirty="0"/>
              <a:t>CF←1</a:t>
            </a:r>
          </a:p>
          <a:p>
            <a:pPr marL="990600" lvl="1" indent="-533400">
              <a:lnSpc>
                <a:spcPct val="90000"/>
              </a:lnSpc>
              <a:buFontTx/>
              <a:buNone/>
              <a:tabLst>
                <a:tab pos="1609725" algn="l"/>
              </a:tabLst>
            </a:pPr>
            <a:r>
              <a:rPr lang="en-US" altLang="zh-CN" dirty="0">
                <a:solidFill>
                  <a:srgbClr val="006600"/>
                </a:solidFill>
              </a:rPr>
              <a:t>CMC</a:t>
            </a:r>
            <a:r>
              <a:rPr lang="en-US" altLang="zh-CN" dirty="0">
                <a:solidFill>
                  <a:srgbClr val="CC0066"/>
                </a:solidFill>
              </a:rPr>
              <a:t>	</a:t>
            </a:r>
            <a:r>
              <a:rPr lang="zh-CN" altLang="en-US" dirty="0"/>
              <a:t>；求反进位标志：</a:t>
            </a:r>
            <a:r>
              <a:rPr lang="en-US" altLang="zh-CN" dirty="0"/>
              <a:t>CF←~CF</a:t>
            </a:r>
          </a:p>
          <a:p>
            <a:pPr marL="990600" lvl="1" indent="-533400">
              <a:lnSpc>
                <a:spcPct val="90000"/>
              </a:lnSpc>
              <a:buFontTx/>
              <a:buNone/>
              <a:tabLst>
                <a:tab pos="1609725" algn="l"/>
              </a:tabLst>
            </a:pPr>
            <a:r>
              <a:rPr lang="en-US" altLang="zh-CN" dirty="0">
                <a:solidFill>
                  <a:srgbClr val="006600"/>
                </a:solidFill>
              </a:rPr>
              <a:t>CLD</a:t>
            </a:r>
            <a:r>
              <a:rPr lang="en-US" altLang="zh-CN" dirty="0">
                <a:solidFill>
                  <a:srgbClr val="CC0066"/>
                </a:solidFill>
              </a:rPr>
              <a:t>	</a:t>
            </a:r>
            <a:r>
              <a:rPr lang="zh-CN" altLang="en-US" dirty="0"/>
              <a:t>；复位方向标志：</a:t>
            </a:r>
            <a:r>
              <a:rPr lang="en-US" altLang="zh-CN" dirty="0"/>
              <a:t>DF←0</a:t>
            </a:r>
          </a:p>
          <a:p>
            <a:pPr marL="990600" lvl="1" indent="-533400">
              <a:lnSpc>
                <a:spcPct val="90000"/>
              </a:lnSpc>
              <a:buFontTx/>
              <a:buNone/>
              <a:tabLst>
                <a:tab pos="1609725" algn="l"/>
              </a:tabLst>
            </a:pPr>
            <a:r>
              <a:rPr lang="en-US" altLang="zh-CN" dirty="0">
                <a:solidFill>
                  <a:srgbClr val="006600"/>
                </a:solidFill>
              </a:rPr>
              <a:t>STD</a:t>
            </a:r>
            <a:r>
              <a:rPr lang="en-US" altLang="zh-CN" dirty="0">
                <a:solidFill>
                  <a:srgbClr val="CC0066"/>
                </a:solidFill>
              </a:rPr>
              <a:t>	</a:t>
            </a:r>
            <a:r>
              <a:rPr lang="zh-CN" altLang="en-US" dirty="0"/>
              <a:t>；置位方向标志：</a:t>
            </a:r>
            <a:r>
              <a:rPr lang="en-US" altLang="zh-CN" dirty="0"/>
              <a:t>DF←1</a:t>
            </a:r>
          </a:p>
          <a:p>
            <a:pPr marL="990600" lvl="1" indent="-533400">
              <a:lnSpc>
                <a:spcPct val="90000"/>
              </a:lnSpc>
              <a:buFontTx/>
              <a:buNone/>
              <a:tabLst>
                <a:tab pos="1609725" algn="l"/>
              </a:tabLst>
            </a:pPr>
            <a:r>
              <a:rPr lang="en-US" altLang="zh-CN" dirty="0">
                <a:solidFill>
                  <a:srgbClr val="006600"/>
                </a:solidFill>
              </a:rPr>
              <a:t>CLI</a:t>
            </a:r>
            <a:r>
              <a:rPr lang="en-US" altLang="zh-CN" dirty="0">
                <a:solidFill>
                  <a:srgbClr val="CC0066"/>
                </a:solidFill>
              </a:rPr>
              <a:t>	</a:t>
            </a:r>
            <a:r>
              <a:rPr lang="zh-CN" altLang="en-US" dirty="0"/>
              <a:t>；复位中断标志：</a:t>
            </a:r>
            <a:r>
              <a:rPr lang="en-US" altLang="zh-CN" dirty="0"/>
              <a:t>IF←0</a:t>
            </a:r>
          </a:p>
          <a:p>
            <a:pPr marL="990600" lvl="1" indent="-533400">
              <a:lnSpc>
                <a:spcPct val="90000"/>
              </a:lnSpc>
              <a:buFontTx/>
              <a:buNone/>
              <a:tabLst>
                <a:tab pos="1609725" algn="l"/>
              </a:tabLst>
            </a:pPr>
            <a:r>
              <a:rPr lang="en-US" altLang="zh-CN" dirty="0">
                <a:solidFill>
                  <a:srgbClr val="006600"/>
                </a:solidFill>
              </a:rPr>
              <a:t>STI</a:t>
            </a:r>
            <a:r>
              <a:rPr lang="en-US" altLang="zh-CN" dirty="0">
                <a:solidFill>
                  <a:srgbClr val="CC0066"/>
                </a:solidFill>
              </a:rPr>
              <a:t>	</a:t>
            </a:r>
            <a:r>
              <a:rPr lang="zh-CN" altLang="en-US" dirty="0"/>
              <a:t>；置位中断标志：</a:t>
            </a:r>
            <a:r>
              <a:rPr lang="en-US" altLang="zh-CN" dirty="0"/>
              <a:t>IF←1</a:t>
            </a:r>
          </a:p>
        </p:txBody>
      </p:sp>
    </p:spTree>
  </p:cSld>
  <p:clrMapOvr>
    <a:masterClrMapping/>
  </p:clrMapOvr>
  <p:transition>
    <p:rand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3">
            <a:extLst>
              <a:ext uri="{FF2B5EF4-FFF2-40B4-BE49-F238E27FC236}">
                <a16:creationId xmlns:a16="http://schemas.microsoft.com/office/drawing/2014/main" id="{D3C2AD23-4CCF-3492-7097-8AC728A9B232}"/>
              </a:ext>
            </a:extLst>
          </p:cNvPr>
          <p:cNvSpPr>
            <a:spLocks noGrp="1" noChangeArrowheads="1"/>
          </p:cNvSpPr>
          <p:nvPr>
            <p:ph type="body" idx="1"/>
          </p:nvPr>
        </p:nvSpPr>
        <p:spPr>
          <a:xfrm>
            <a:off x="468313" y="981075"/>
            <a:ext cx="8229600" cy="1090613"/>
          </a:xfrm>
        </p:spPr>
        <p:txBody>
          <a:bodyPr/>
          <a:lstStyle/>
          <a:p>
            <a:pPr>
              <a:lnSpc>
                <a:spcPct val="90000"/>
              </a:lnSpc>
            </a:pPr>
            <a:r>
              <a:rPr lang="zh-CN" altLang="en-US" sz="2800">
                <a:solidFill>
                  <a:srgbClr val="006600"/>
                </a:solidFill>
                <a:ea typeface="宋体" panose="02010600030101010101" pitchFamily="2" charset="-122"/>
              </a:rPr>
              <a:t>将存储器操作数的有效地址送至指定的</a:t>
            </a:r>
            <a:r>
              <a:rPr lang="en-US" altLang="zh-CN" sz="2800">
                <a:solidFill>
                  <a:srgbClr val="006600"/>
                </a:solidFill>
                <a:ea typeface="宋体" panose="02010600030101010101" pitchFamily="2" charset="-122"/>
              </a:rPr>
              <a:t>16</a:t>
            </a:r>
            <a:r>
              <a:rPr lang="zh-CN" altLang="en-US" sz="2800">
                <a:solidFill>
                  <a:srgbClr val="006600"/>
                </a:solidFill>
                <a:ea typeface="宋体" panose="02010600030101010101" pitchFamily="2" charset="-122"/>
              </a:rPr>
              <a:t>位通用寄存器</a:t>
            </a:r>
            <a:endParaRPr lang="zh-CN" altLang="en-US" sz="2800">
              <a:solidFill>
                <a:srgbClr val="006600"/>
              </a:solidFill>
            </a:endParaRPr>
          </a:p>
        </p:txBody>
      </p:sp>
      <p:sp>
        <p:nvSpPr>
          <p:cNvPr id="72706" name="Rectangle 2">
            <a:extLst>
              <a:ext uri="{FF2B5EF4-FFF2-40B4-BE49-F238E27FC236}">
                <a16:creationId xmlns:a16="http://schemas.microsoft.com/office/drawing/2014/main" id="{2B4FEDF7-C5E1-8239-9D86-0C02B2A1F679}"/>
              </a:ext>
            </a:extLst>
          </p:cNvPr>
          <p:cNvSpPr>
            <a:spLocks noGrp="1" noChangeArrowheads="1"/>
          </p:cNvSpPr>
          <p:nvPr>
            <p:ph type="title"/>
          </p:nvPr>
        </p:nvSpPr>
        <p:spPr/>
        <p:txBody>
          <a:bodyPr/>
          <a:lstStyle/>
          <a:p>
            <a:r>
              <a:rPr lang="en-US" altLang="zh-CN" dirty="0"/>
              <a:t>7.</a:t>
            </a:r>
            <a:r>
              <a:rPr lang="zh-CN" altLang="en-US" dirty="0"/>
              <a:t>有效地址传送指令</a:t>
            </a:r>
            <a:r>
              <a:rPr lang="en-US" altLang="zh-CN" dirty="0"/>
              <a:t>LEA</a:t>
            </a:r>
            <a:r>
              <a:rPr lang="zh-CN" altLang="en-US" dirty="0"/>
              <a:t>（</a:t>
            </a:r>
            <a:r>
              <a:rPr lang="en-US" altLang="zh-CN" dirty="0"/>
              <a:t>load effective address</a:t>
            </a:r>
            <a:r>
              <a:rPr lang="zh-CN" altLang="en-US" dirty="0"/>
              <a:t>）</a:t>
            </a:r>
          </a:p>
        </p:txBody>
      </p:sp>
      <p:sp>
        <p:nvSpPr>
          <p:cNvPr id="72711" name="AutoShape 7">
            <a:extLst>
              <a:ext uri="{FF2B5EF4-FFF2-40B4-BE49-F238E27FC236}">
                <a16:creationId xmlns:a16="http://schemas.microsoft.com/office/drawing/2014/main" id="{68D60CF2-5C78-60D3-B7CA-50957587E06C}"/>
              </a:ext>
            </a:extLst>
          </p:cNvPr>
          <p:cNvSpPr>
            <a:spLocks noChangeArrowheads="1"/>
          </p:cNvSpPr>
          <p:nvPr/>
        </p:nvSpPr>
        <p:spPr bwMode="auto">
          <a:xfrm>
            <a:off x="2303463" y="2101850"/>
            <a:ext cx="6276975" cy="1062038"/>
          </a:xfrm>
          <a:prstGeom prst="flowChartAlternateProcess">
            <a:avLst/>
          </a:prstGeom>
          <a:blipFill dpi="0" rotWithShape="0">
            <a:blip r:embed="rId2"/>
            <a:srcRect/>
            <a:stretch>
              <a:fillRect/>
            </a:stretch>
          </a:blipFill>
          <a:ln>
            <a:noFill/>
          </a:ln>
          <a:effectLst>
            <a:prstShdw prst="shdw13" dist="53882" dir="13500000">
              <a:srgbClr val="808080"/>
            </a:prstShdw>
          </a:effectLst>
          <a:extLst>
            <a:ext uri="{91240B29-F687-4F45-9708-019B960494DF}">
              <a14:hiddenLine xmlns:a14="http://schemas.microsoft.com/office/drawing/2010/main" w="12700" cap="sq">
                <a:solidFill>
                  <a:srgbClr val="808000"/>
                </a:solidFill>
                <a:miter lim="800000"/>
                <a:headEnd type="none" w="sm" len="sm"/>
                <a:tailEnd type="none" w="sm" len="sm"/>
              </a14:hiddenLine>
            </a:ext>
          </a:extLst>
        </p:spPr>
        <p:txBody>
          <a:bodyPr>
            <a:spAutoFit/>
          </a:bodyPr>
          <a:lstStyle>
            <a:lvl1pPr>
              <a:tabLst>
                <a:tab pos="3141663" algn="l"/>
              </a:tabLst>
              <a:defRPr>
                <a:solidFill>
                  <a:schemeClr val="tx1"/>
                </a:solidFill>
                <a:latin typeface="Arial" panose="020B0604020202020204" pitchFamily="34" charset="0"/>
                <a:ea typeface="宋体" panose="02010600030101010101" pitchFamily="2" charset="-122"/>
              </a:defRPr>
            </a:lvl1pPr>
            <a:lvl2pPr>
              <a:tabLst>
                <a:tab pos="3141663" algn="l"/>
              </a:tabLst>
              <a:defRPr>
                <a:solidFill>
                  <a:schemeClr val="tx1"/>
                </a:solidFill>
                <a:latin typeface="Arial" panose="020B0604020202020204" pitchFamily="34" charset="0"/>
                <a:ea typeface="宋体" panose="02010600030101010101" pitchFamily="2" charset="-122"/>
              </a:defRPr>
            </a:lvl2pPr>
            <a:lvl3pPr>
              <a:tabLst>
                <a:tab pos="3141663" algn="l"/>
              </a:tabLst>
              <a:defRPr>
                <a:solidFill>
                  <a:schemeClr val="tx1"/>
                </a:solidFill>
                <a:latin typeface="Arial" panose="020B0604020202020204" pitchFamily="34" charset="0"/>
                <a:ea typeface="宋体" panose="02010600030101010101" pitchFamily="2" charset="-122"/>
              </a:defRPr>
            </a:lvl3pPr>
            <a:lvl4pPr>
              <a:tabLst>
                <a:tab pos="3141663" algn="l"/>
              </a:tabLst>
              <a:defRPr>
                <a:solidFill>
                  <a:schemeClr val="tx1"/>
                </a:solidFill>
                <a:latin typeface="Arial" panose="020B0604020202020204" pitchFamily="34" charset="0"/>
                <a:ea typeface="宋体" panose="02010600030101010101" pitchFamily="2" charset="-122"/>
              </a:defRPr>
            </a:lvl4pPr>
            <a:lvl5pPr>
              <a:tabLst>
                <a:tab pos="3141663"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3141663"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3141663"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3141663"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3141663" algn="l"/>
              </a:tabLs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800" b="1">
                <a:effectLst/>
              </a:rPr>
              <a:t>LEA r16, mem</a:t>
            </a:r>
          </a:p>
          <a:p>
            <a:pPr algn="r">
              <a:spcBef>
                <a:spcPct val="10000"/>
              </a:spcBef>
            </a:pPr>
            <a:r>
              <a:rPr lang="zh-CN" altLang="en-US" sz="2800" b="1">
                <a:solidFill>
                  <a:schemeClr val="accent2"/>
                </a:solidFill>
                <a:effectLst/>
              </a:rPr>
              <a:t>；</a:t>
            </a:r>
            <a:r>
              <a:rPr lang="en-US" altLang="zh-CN" sz="2800" b="1">
                <a:solidFill>
                  <a:schemeClr val="accent2"/>
                </a:solidFill>
                <a:effectLst/>
              </a:rPr>
              <a:t>r16←mem</a:t>
            </a:r>
            <a:r>
              <a:rPr lang="zh-CN" altLang="en-US" sz="2800" b="1">
                <a:solidFill>
                  <a:schemeClr val="accent2"/>
                </a:solidFill>
                <a:effectLst/>
              </a:rPr>
              <a:t>的有效地址</a:t>
            </a:r>
            <a:r>
              <a:rPr lang="en-US" altLang="zh-CN" sz="2800" b="1">
                <a:solidFill>
                  <a:schemeClr val="accent2"/>
                </a:solidFill>
                <a:effectLst/>
              </a:rPr>
              <a:t>EA</a:t>
            </a:r>
          </a:p>
        </p:txBody>
      </p:sp>
      <p:sp>
        <p:nvSpPr>
          <p:cNvPr id="72712" name="Rectangle 8">
            <a:extLst>
              <a:ext uri="{FF2B5EF4-FFF2-40B4-BE49-F238E27FC236}">
                <a16:creationId xmlns:a16="http://schemas.microsoft.com/office/drawing/2014/main" id="{B1554F82-C864-720A-608B-ECC2C73179B7}"/>
              </a:ext>
            </a:extLst>
          </p:cNvPr>
          <p:cNvSpPr>
            <a:spLocks noChangeArrowheads="1"/>
          </p:cNvSpPr>
          <p:nvPr/>
        </p:nvSpPr>
        <p:spPr bwMode="auto">
          <a:xfrm>
            <a:off x="725488" y="3452813"/>
            <a:ext cx="7470775" cy="2700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a:spcBef>
                <a:spcPct val="20000"/>
              </a:spcBef>
              <a:buBlip>
                <a:blip r:embed="rId3"/>
              </a:buBlip>
              <a:defRPr sz="3200" b="1">
                <a:solidFill>
                  <a:schemeClr val="accent2"/>
                </a:solidFill>
                <a:latin typeface="Arial" panose="020B0604020202020204" pitchFamily="34" charset="0"/>
                <a:ea typeface="幼圆" panose="02010509060101010101" pitchFamily="49" charset="-122"/>
              </a:defRPr>
            </a:lvl1pPr>
            <a:lvl2pPr marL="742950" indent="-285750" algn="just">
              <a:spcBef>
                <a:spcPct val="20000"/>
              </a:spcBef>
              <a:buBlip>
                <a:blip r:embed="rId4"/>
              </a:buBlip>
              <a:defRPr sz="2800" b="1">
                <a:solidFill>
                  <a:schemeClr val="tx1"/>
                </a:solidFill>
                <a:latin typeface="Arial" panose="020B0604020202020204" pitchFamily="34" charset="0"/>
                <a:ea typeface="宋体" panose="02010600030101010101" pitchFamily="2" charset="-122"/>
              </a:defRPr>
            </a:lvl2pPr>
            <a:lvl3pPr marL="1143000" indent="-228600" algn="just">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gn="just">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just">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algn="just"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algn="just"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algn="just"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algn="just"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FontTx/>
              <a:buNone/>
            </a:pPr>
            <a:r>
              <a:rPr lang="zh-CN" altLang="en-US" sz="2800" dirty="0">
                <a:solidFill>
                  <a:srgbClr val="006600"/>
                </a:solidFill>
                <a:effectLst/>
              </a:rPr>
              <a:t>例题</a:t>
            </a:r>
            <a:r>
              <a:rPr lang="en-US" altLang="zh-CN" sz="2800" dirty="0">
                <a:solidFill>
                  <a:srgbClr val="006600"/>
                </a:solidFill>
                <a:effectLst/>
              </a:rPr>
              <a:t>2.5</a:t>
            </a:r>
            <a:r>
              <a:rPr lang="en-US" altLang="zh-CN" sz="2800" dirty="0">
                <a:solidFill>
                  <a:srgbClr val="0000FF"/>
                </a:solidFill>
                <a:effectLst/>
              </a:rPr>
              <a:t>  </a:t>
            </a:r>
            <a:r>
              <a:rPr lang="zh-CN" altLang="en-US" sz="2800" dirty="0">
                <a:solidFill>
                  <a:srgbClr val="0000FF"/>
                </a:solidFill>
                <a:effectLst/>
              </a:rPr>
              <a:t>有效地址的获取</a:t>
            </a:r>
          </a:p>
          <a:p>
            <a:pPr>
              <a:buFontTx/>
              <a:buNone/>
            </a:pPr>
            <a:r>
              <a:rPr lang="zh-CN" altLang="en-US" sz="2800" dirty="0">
                <a:effectLst/>
              </a:rPr>
              <a:t>	</a:t>
            </a:r>
            <a:r>
              <a:rPr lang="en-US" altLang="zh-CN" sz="2800" dirty="0">
                <a:effectLst/>
              </a:rPr>
              <a:t>mov bx,400h</a:t>
            </a:r>
          </a:p>
          <a:p>
            <a:pPr>
              <a:buFontTx/>
              <a:buNone/>
            </a:pPr>
            <a:r>
              <a:rPr lang="en-US" altLang="zh-CN" sz="2800" dirty="0">
                <a:effectLst/>
              </a:rPr>
              <a:t>	mov si,3ch</a:t>
            </a:r>
          </a:p>
          <a:p>
            <a:pPr>
              <a:buFontTx/>
              <a:buNone/>
            </a:pPr>
            <a:r>
              <a:rPr lang="en-US" altLang="zh-CN" sz="2800" dirty="0">
                <a:effectLst/>
              </a:rPr>
              <a:t>	lea bx,[bx+si+0f62h]</a:t>
            </a:r>
          </a:p>
          <a:p>
            <a:pPr>
              <a:buFontTx/>
              <a:buNone/>
            </a:pPr>
            <a:r>
              <a:rPr lang="en-US" altLang="zh-CN" sz="2800" dirty="0">
                <a:effectLst/>
              </a:rPr>
              <a:t>	</a:t>
            </a:r>
            <a:r>
              <a:rPr lang="zh-CN" altLang="en-US" sz="2800" dirty="0">
                <a:effectLst/>
              </a:rPr>
              <a:t>；</a:t>
            </a:r>
            <a:r>
              <a:rPr lang="en-US" altLang="zh-CN" sz="2800" dirty="0">
                <a:effectLst/>
              </a:rPr>
              <a:t>BX←400H</a:t>
            </a:r>
            <a:r>
              <a:rPr lang="zh-CN" altLang="en-US" sz="2800" dirty="0">
                <a:effectLst/>
              </a:rPr>
              <a:t>＋</a:t>
            </a:r>
            <a:r>
              <a:rPr lang="en-US" altLang="zh-CN" sz="2800" dirty="0">
                <a:effectLst/>
              </a:rPr>
              <a:t>3CH</a:t>
            </a:r>
            <a:r>
              <a:rPr lang="zh-CN" altLang="en-US" sz="2800" dirty="0">
                <a:effectLst/>
              </a:rPr>
              <a:t>＋</a:t>
            </a:r>
            <a:r>
              <a:rPr lang="en-US" altLang="zh-CN" sz="2800" dirty="0">
                <a:effectLst/>
              </a:rPr>
              <a:t>0F62H</a:t>
            </a:r>
            <a:r>
              <a:rPr lang="zh-CN" altLang="en-US" sz="2800" dirty="0">
                <a:effectLst/>
              </a:rPr>
              <a:t>＝</a:t>
            </a:r>
            <a:r>
              <a:rPr lang="en-US" altLang="zh-CN" sz="2800" dirty="0">
                <a:effectLst/>
              </a:rPr>
              <a:t>139EH</a:t>
            </a:r>
          </a:p>
        </p:txBody>
      </p:sp>
    </p:spTree>
  </p:cSld>
  <p:clrMapOvr>
    <a:masterClrMapping/>
  </p:clrMapOvr>
  <p:transition>
    <p:random/>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a:extLst>
              <a:ext uri="{FF2B5EF4-FFF2-40B4-BE49-F238E27FC236}">
                <a16:creationId xmlns:a16="http://schemas.microsoft.com/office/drawing/2014/main" id="{BB7E555C-201A-D89E-7FAD-4533D77A6417}"/>
              </a:ext>
            </a:extLst>
          </p:cNvPr>
          <p:cNvSpPr>
            <a:spLocks noGrp="1" noChangeArrowheads="1"/>
          </p:cNvSpPr>
          <p:nvPr>
            <p:ph type="title"/>
          </p:nvPr>
        </p:nvSpPr>
        <p:spPr/>
        <p:txBody>
          <a:bodyPr/>
          <a:lstStyle/>
          <a:p>
            <a:r>
              <a:rPr lang="en-US" altLang="zh-CN" dirty="0">
                <a:highlight>
                  <a:srgbClr val="FFFF00"/>
                </a:highlight>
              </a:rPr>
              <a:t>8. </a:t>
            </a:r>
            <a:r>
              <a:rPr lang="zh-CN" altLang="en-US" dirty="0">
                <a:highlight>
                  <a:srgbClr val="FFFF00"/>
                </a:highlight>
              </a:rPr>
              <a:t>输入输出指令</a:t>
            </a:r>
          </a:p>
        </p:txBody>
      </p:sp>
      <p:sp>
        <p:nvSpPr>
          <p:cNvPr id="3" name="内容占位符 2">
            <a:extLst>
              <a:ext uri="{FF2B5EF4-FFF2-40B4-BE49-F238E27FC236}">
                <a16:creationId xmlns:a16="http://schemas.microsoft.com/office/drawing/2014/main" id="{2576560E-E8EF-88CC-CAB0-77F9920C6956}"/>
              </a:ext>
            </a:extLst>
          </p:cNvPr>
          <p:cNvSpPr>
            <a:spLocks noGrp="1"/>
          </p:cNvSpPr>
          <p:nvPr>
            <p:ph idx="1"/>
          </p:nvPr>
        </p:nvSpPr>
        <p:spPr/>
        <p:txBody>
          <a:bodyPr/>
          <a:lstStyle/>
          <a:p>
            <a:pPr>
              <a:defRPr/>
            </a:pPr>
            <a:r>
              <a:rPr lang="zh-CN" altLang="en-US" dirty="0"/>
              <a:t>接口电路中的寄存器称为</a:t>
            </a:r>
            <a:r>
              <a:rPr lang="en-US" altLang="zh-CN" dirty="0"/>
              <a:t>I/O</a:t>
            </a:r>
            <a:r>
              <a:rPr lang="zh-CN" altLang="en-US" dirty="0"/>
              <a:t>端口，当</a:t>
            </a:r>
            <a:r>
              <a:rPr lang="en-US" altLang="zh-CN" dirty="0"/>
              <a:t>CPU</a:t>
            </a:r>
            <a:r>
              <a:rPr lang="zh-CN" altLang="en-US" dirty="0"/>
              <a:t>要与外设交换信息或对外设进行某种控制时，便借助访问端口来完成。（一个外设可以有多个</a:t>
            </a:r>
            <a:r>
              <a:rPr lang="en-US" altLang="zh-CN" dirty="0"/>
              <a:t>I/O</a:t>
            </a:r>
            <a:r>
              <a:rPr lang="zh-CN" altLang="en-US" dirty="0"/>
              <a:t>端口）</a:t>
            </a:r>
            <a:endParaRPr lang="en-US" altLang="zh-CN" dirty="0"/>
          </a:p>
          <a:p>
            <a:pPr>
              <a:defRPr/>
            </a:pPr>
            <a:r>
              <a:rPr lang="zh-CN" altLang="en-US" dirty="0"/>
              <a:t>输入指令</a:t>
            </a:r>
            <a:endParaRPr lang="en-US" altLang="zh-CN" dirty="0"/>
          </a:p>
          <a:p>
            <a:pPr marL="0" indent="0">
              <a:buFontTx/>
              <a:buNone/>
              <a:defRPr/>
            </a:pPr>
            <a:r>
              <a:rPr lang="en-US" altLang="zh-CN" dirty="0"/>
              <a:t>    </a:t>
            </a:r>
            <a:r>
              <a:rPr lang="en-US" altLang="zh-CN" dirty="0">
                <a:solidFill>
                  <a:srgbClr val="0000FF"/>
                </a:solidFill>
              </a:rPr>
              <a:t>IN    ACC</a:t>
            </a:r>
            <a:r>
              <a:rPr lang="zh-CN" altLang="en-US" dirty="0">
                <a:solidFill>
                  <a:srgbClr val="0000FF"/>
                </a:solidFill>
              </a:rPr>
              <a:t>，</a:t>
            </a:r>
            <a:r>
              <a:rPr lang="en-US" altLang="zh-CN" dirty="0">
                <a:solidFill>
                  <a:srgbClr val="0000FF"/>
                </a:solidFill>
              </a:rPr>
              <a:t>PORT</a:t>
            </a:r>
          </a:p>
          <a:p>
            <a:pPr marL="0" indent="0">
              <a:buFontTx/>
              <a:buNone/>
              <a:defRPr/>
            </a:pPr>
            <a:r>
              <a:rPr lang="en-US" altLang="zh-CN" dirty="0"/>
              <a:t> </a:t>
            </a:r>
            <a:r>
              <a:rPr lang="zh-CN" altLang="en-US" dirty="0"/>
              <a:t>   </a:t>
            </a:r>
            <a:r>
              <a:rPr lang="zh-CN" altLang="en-US" sz="2000" dirty="0"/>
              <a:t>其中，</a:t>
            </a:r>
            <a:r>
              <a:rPr lang="en-US" altLang="zh-CN" sz="2000" dirty="0"/>
              <a:t>ACC</a:t>
            </a:r>
            <a:r>
              <a:rPr lang="zh-CN" altLang="en-US" sz="2000" dirty="0"/>
              <a:t>为</a:t>
            </a:r>
            <a:r>
              <a:rPr lang="en-US" altLang="zh-CN" sz="2000" dirty="0"/>
              <a:t>AX</a:t>
            </a:r>
            <a:r>
              <a:rPr lang="zh-CN" altLang="en-US" sz="2000" dirty="0"/>
              <a:t>或</a:t>
            </a:r>
            <a:r>
              <a:rPr lang="en-US" altLang="zh-CN" sz="2000" dirty="0"/>
              <a:t>AL</a:t>
            </a:r>
            <a:r>
              <a:rPr lang="zh-CN" altLang="en-US" sz="2000" dirty="0"/>
              <a:t>寄存器，</a:t>
            </a:r>
            <a:r>
              <a:rPr lang="en-US" altLang="zh-CN" sz="2000" dirty="0"/>
              <a:t>PORT</a:t>
            </a:r>
            <a:r>
              <a:rPr lang="zh-CN" altLang="en-US" sz="2000" dirty="0"/>
              <a:t>为输入端口地址</a:t>
            </a:r>
          </a:p>
        </p:txBody>
      </p:sp>
      <p:sp>
        <p:nvSpPr>
          <p:cNvPr id="4" name="灯片编号占位符 3">
            <a:extLst>
              <a:ext uri="{FF2B5EF4-FFF2-40B4-BE49-F238E27FC236}">
                <a16:creationId xmlns:a16="http://schemas.microsoft.com/office/drawing/2014/main" id="{26C61D16-57EF-38E8-DF78-6B39EEC18CD2}"/>
              </a:ext>
            </a:extLst>
          </p:cNvPr>
          <p:cNvSpPr>
            <a:spLocks noGrp="1"/>
          </p:cNvSpPr>
          <p:nvPr>
            <p:ph type="sldNum" sz="quarter" idx="12"/>
          </p:nvPr>
        </p:nvSpPr>
        <p:spPr bwMode="auto">
          <a:xfrm>
            <a:off x="6554788" y="6245225"/>
            <a:ext cx="2133600" cy="476250"/>
          </a:xfrm>
          <a:prstGeom prst="rect">
            <a:avLst/>
          </a:prstGeom>
          <a:noFill/>
          <a:ln w="9525">
            <a:noFill/>
            <a:miter lim="800000"/>
            <a:headEnd/>
            <a:tailEnd/>
          </a:ln>
          <a:effectLst/>
        </p:spPr>
        <p:txBody>
          <a:bodyPr vert="horz" wrap="square" lIns="88459" tIns="44230" rIns="88459" bIns="44230" numCol="1" anchor="t" anchorCtr="0" compatLnSpc="1">
            <a:prstTxWarp prst="textNoShape">
              <a:avLst/>
            </a:prstTxWarp>
          </a:bodyPr>
          <a:lstStyle>
            <a:defPPr>
              <a:defRPr lang="zh-CN"/>
            </a:defPPr>
            <a:lvl1pPr algn="r" rtl="0" eaLnBrk="1" fontAlgn="base" hangingPunct="1">
              <a:spcBef>
                <a:spcPct val="0"/>
              </a:spcBef>
              <a:spcAft>
                <a:spcPct val="0"/>
              </a:spcAft>
              <a:defRPr sz="1422" kern="1200">
                <a:solidFill>
                  <a:schemeClr val="tx1"/>
                </a:solidFill>
                <a:effectLst>
                  <a:outerShdw blurRad="38100" dist="38100" dir="2700000" algn="tl">
                    <a:srgbClr val="000000">
                      <a:alpha val="43137"/>
                    </a:srgbClr>
                  </a:outerShdw>
                </a:effectLst>
                <a:latin typeface="Arial" panose="020B0604020202020204" pitchFamily="34" charset="0"/>
                <a:ea typeface="宋体" pitchFamily="2" charset="-122"/>
                <a:cs typeface="+mn-cs"/>
              </a:defRPr>
            </a:lvl1pPr>
            <a:lvl2pPr marL="4572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9pPr>
          </a:lstStyle>
          <a:p>
            <a:pPr>
              <a:defRPr/>
            </a:pPr>
            <a:fld id="{3484B766-0A4D-4CC0-8350-9912DE68FDA1}" type="slidenum">
              <a:rPr lang="en-US" altLang="zh-CN" smtClean="0"/>
              <a:pPr>
                <a:defRPr/>
              </a:pPr>
              <a:t>59</a:t>
            </a:fld>
            <a:endParaRPr lang="en-US" altLang="zh-CN"/>
          </a:p>
        </p:txBody>
      </p:sp>
    </p:spTree>
  </p:cSld>
  <p:clrMapOvr>
    <a:masterClrMapping/>
  </p:clrMapOvr>
  <p:transition>
    <p:random/>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a:extLst>
              <a:ext uri="{FF2B5EF4-FFF2-40B4-BE49-F238E27FC236}">
                <a16:creationId xmlns:a16="http://schemas.microsoft.com/office/drawing/2014/main" id="{E57E0315-CFCA-3AB3-6A41-48AF5C03FB5B}"/>
              </a:ext>
            </a:extLst>
          </p:cNvPr>
          <p:cNvSpPr>
            <a:spLocks noGrp="1" noChangeArrowheads="1"/>
          </p:cNvSpPr>
          <p:nvPr>
            <p:ph type="title"/>
          </p:nvPr>
        </p:nvSpPr>
        <p:spPr/>
        <p:txBody>
          <a:bodyPr/>
          <a:lstStyle/>
          <a:p>
            <a:r>
              <a:rPr lang="en-US" altLang="zh-CN" dirty="0">
                <a:highlight>
                  <a:srgbClr val="FFFF00"/>
                </a:highlight>
              </a:rPr>
              <a:t>8. </a:t>
            </a:r>
            <a:r>
              <a:rPr lang="zh-CN" altLang="en-US" dirty="0">
                <a:highlight>
                  <a:srgbClr val="FFFF00"/>
                </a:highlight>
              </a:rPr>
              <a:t>输入输出指令</a:t>
            </a:r>
          </a:p>
        </p:txBody>
      </p:sp>
      <p:sp>
        <p:nvSpPr>
          <p:cNvPr id="3" name="内容占位符 2">
            <a:extLst>
              <a:ext uri="{FF2B5EF4-FFF2-40B4-BE49-F238E27FC236}">
                <a16:creationId xmlns:a16="http://schemas.microsoft.com/office/drawing/2014/main" id="{7FB4D0BA-1162-73F7-958E-5A91B40F44DE}"/>
              </a:ext>
            </a:extLst>
          </p:cNvPr>
          <p:cNvSpPr>
            <a:spLocks noGrp="1"/>
          </p:cNvSpPr>
          <p:nvPr>
            <p:ph idx="1"/>
          </p:nvPr>
        </p:nvSpPr>
        <p:spPr>
          <a:xfrm>
            <a:off x="458788" y="1417637"/>
            <a:ext cx="8229600" cy="4827587"/>
          </a:xfrm>
        </p:spPr>
        <p:txBody>
          <a:bodyPr/>
          <a:lstStyle/>
          <a:p>
            <a:pPr>
              <a:defRPr/>
            </a:pPr>
            <a:r>
              <a:rPr lang="zh-CN" altLang="en-US" dirty="0"/>
              <a:t>输出指令</a:t>
            </a:r>
            <a:endParaRPr lang="en-US" altLang="zh-CN" dirty="0"/>
          </a:p>
          <a:p>
            <a:pPr marL="0" indent="0">
              <a:buFontTx/>
              <a:buNone/>
              <a:defRPr/>
            </a:pPr>
            <a:r>
              <a:rPr lang="en-US" altLang="zh-CN" dirty="0"/>
              <a:t>     </a:t>
            </a:r>
            <a:r>
              <a:rPr lang="en-US" altLang="zh-CN" dirty="0">
                <a:solidFill>
                  <a:srgbClr val="0000FF"/>
                </a:solidFill>
              </a:rPr>
              <a:t>OUT    PORT,ACC</a:t>
            </a:r>
          </a:p>
          <a:p>
            <a:pPr marL="0" indent="0">
              <a:buFontTx/>
              <a:buNone/>
              <a:defRPr/>
            </a:pPr>
            <a:r>
              <a:rPr lang="zh-CN" altLang="en-US" sz="2000" dirty="0"/>
              <a:t>      其中，</a:t>
            </a:r>
            <a:r>
              <a:rPr lang="en-US" altLang="zh-CN" sz="2000" dirty="0"/>
              <a:t>ACC</a:t>
            </a:r>
            <a:r>
              <a:rPr lang="zh-CN" altLang="en-US" sz="2000" dirty="0"/>
              <a:t>为</a:t>
            </a:r>
            <a:r>
              <a:rPr lang="en-US" altLang="zh-CN" sz="2000" dirty="0"/>
              <a:t>AX</a:t>
            </a:r>
            <a:r>
              <a:rPr lang="zh-CN" altLang="en-US" sz="2000" dirty="0"/>
              <a:t>或</a:t>
            </a:r>
            <a:r>
              <a:rPr lang="en-US" altLang="zh-CN" sz="2000" dirty="0"/>
              <a:t>AL</a:t>
            </a:r>
            <a:r>
              <a:rPr lang="zh-CN" altLang="en-US" sz="2000" dirty="0"/>
              <a:t>寄存器，</a:t>
            </a:r>
            <a:r>
              <a:rPr lang="en-US" altLang="zh-CN" sz="2000" dirty="0"/>
              <a:t>PORT</a:t>
            </a:r>
            <a:r>
              <a:rPr lang="zh-CN" altLang="en-US" sz="2000" dirty="0"/>
              <a:t>为输入端口地址</a:t>
            </a:r>
            <a:endParaRPr lang="en-US" altLang="zh-CN" sz="2000" dirty="0"/>
          </a:p>
          <a:p>
            <a:pPr marL="0" indent="0">
              <a:buFontTx/>
              <a:buNone/>
              <a:defRPr/>
            </a:pPr>
            <a:endParaRPr lang="en-US" altLang="zh-CN" sz="2000" dirty="0"/>
          </a:p>
          <a:p>
            <a:pPr>
              <a:defRPr/>
            </a:pPr>
            <a:r>
              <a:rPr lang="en-US" altLang="zh-CN" dirty="0"/>
              <a:t>I/O</a:t>
            </a:r>
            <a:r>
              <a:rPr lang="zh-CN" altLang="en-US" dirty="0"/>
              <a:t>端口的寻址方式</a:t>
            </a:r>
            <a:r>
              <a:rPr lang="en-US" altLang="zh-CN" dirty="0"/>
              <a:t>---</a:t>
            </a:r>
            <a:r>
              <a:rPr lang="zh-CN" altLang="en-US" dirty="0"/>
              <a:t>直接（指令中直接给出端口地址，</a:t>
            </a:r>
            <a:r>
              <a:rPr lang="en-US" altLang="zh-CN" dirty="0"/>
              <a:t>n=0-255</a:t>
            </a:r>
            <a:r>
              <a:rPr lang="zh-CN" altLang="en-US" dirty="0"/>
              <a:t>）、间接（用寄存器</a:t>
            </a:r>
            <a:r>
              <a:rPr lang="en-US" altLang="zh-CN" dirty="0"/>
              <a:t>DX</a:t>
            </a:r>
            <a:r>
              <a:rPr lang="zh-CN" altLang="en-US" dirty="0"/>
              <a:t>的内容来指定端口地址）</a:t>
            </a:r>
            <a:endParaRPr lang="en-US" altLang="zh-CN" dirty="0"/>
          </a:p>
          <a:p>
            <a:pPr>
              <a:defRPr/>
            </a:pPr>
            <a:endParaRPr lang="en-US" altLang="zh-CN" dirty="0"/>
          </a:p>
          <a:p>
            <a:pPr marL="0" indent="0">
              <a:buFontTx/>
              <a:buNone/>
              <a:defRPr/>
            </a:pPr>
            <a:r>
              <a:rPr lang="zh-CN" altLang="en-US" sz="2000" dirty="0"/>
              <a:t>     注意：在</a:t>
            </a:r>
            <a:r>
              <a:rPr lang="en-US" altLang="zh-CN" sz="2000" dirty="0"/>
              <a:t>IBM-PC</a:t>
            </a:r>
            <a:r>
              <a:rPr lang="zh-CN" altLang="en-US" sz="2000" dirty="0"/>
              <a:t>系统中，实际上我们只可能使用间接</a:t>
            </a:r>
            <a:r>
              <a:rPr lang="en-US" altLang="zh-CN" sz="2000" dirty="0"/>
              <a:t>I/O</a:t>
            </a:r>
            <a:r>
              <a:rPr lang="zh-CN" altLang="en-US" sz="2000" dirty="0"/>
              <a:t>寻址方式去访问外部设备接口，因为低地址端口已经被系统使用了。</a:t>
            </a:r>
            <a:endParaRPr lang="en-US" altLang="zh-CN" sz="2000" dirty="0"/>
          </a:p>
          <a:p>
            <a:pPr>
              <a:defRPr/>
            </a:pPr>
            <a:endParaRPr lang="en-US" altLang="zh-CN" dirty="0"/>
          </a:p>
          <a:p>
            <a:pPr marL="0" indent="0">
              <a:buFontTx/>
              <a:buNone/>
              <a:defRPr/>
            </a:pPr>
            <a:endParaRPr lang="en-US" altLang="zh-CN" dirty="0"/>
          </a:p>
          <a:p>
            <a:pPr marL="0" indent="0">
              <a:buFontTx/>
              <a:buNone/>
              <a:defRPr/>
            </a:pPr>
            <a:endParaRPr lang="en-US" altLang="zh-CN" dirty="0"/>
          </a:p>
          <a:p>
            <a:pPr marL="0" indent="0">
              <a:buFontTx/>
              <a:buNone/>
              <a:defRPr/>
            </a:pPr>
            <a:endParaRPr lang="en-US" altLang="zh-CN" dirty="0"/>
          </a:p>
        </p:txBody>
      </p:sp>
      <p:sp>
        <p:nvSpPr>
          <p:cNvPr id="4" name="灯片编号占位符 3">
            <a:extLst>
              <a:ext uri="{FF2B5EF4-FFF2-40B4-BE49-F238E27FC236}">
                <a16:creationId xmlns:a16="http://schemas.microsoft.com/office/drawing/2014/main" id="{C139417D-E5EA-F5B5-6639-8C9AA3DDDE12}"/>
              </a:ext>
            </a:extLst>
          </p:cNvPr>
          <p:cNvSpPr>
            <a:spLocks noGrp="1"/>
          </p:cNvSpPr>
          <p:nvPr>
            <p:ph type="sldNum" sz="quarter" idx="12"/>
          </p:nvPr>
        </p:nvSpPr>
        <p:spPr bwMode="auto">
          <a:xfrm>
            <a:off x="6554788" y="6245225"/>
            <a:ext cx="2133600" cy="476250"/>
          </a:xfrm>
          <a:prstGeom prst="rect">
            <a:avLst/>
          </a:prstGeom>
          <a:noFill/>
          <a:ln w="9525">
            <a:noFill/>
            <a:miter lim="800000"/>
            <a:headEnd/>
            <a:tailEnd/>
          </a:ln>
          <a:effectLst/>
        </p:spPr>
        <p:txBody>
          <a:bodyPr vert="horz" wrap="square" lIns="88459" tIns="44230" rIns="88459" bIns="44230" numCol="1" anchor="t" anchorCtr="0" compatLnSpc="1">
            <a:prstTxWarp prst="textNoShape">
              <a:avLst/>
            </a:prstTxWarp>
          </a:bodyPr>
          <a:lstStyle>
            <a:defPPr>
              <a:defRPr lang="zh-CN"/>
            </a:defPPr>
            <a:lvl1pPr algn="r" rtl="0" eaLnBrk="1" fontAlgn="base" hangingPunct="1">
              <a:spcBef>
                <a:spcPct val="0"/>
              </a:spcBef>
              <a:spcAft>
                <a:spcPct val="0"/>
              </a:spcAft>
              <a:defRPr sz="1422" kern="1200">
                <a:solidFill>
                  <a:schemeClr val="tx1"/>
                </a:solidFill>
                <a:effectLst>
                  <a:outerShdw blurRad="38100" dist="38100" dir="2700000" algn="tl">
                    <a:srgbClr val="000000">
                      <a:alpha val="43137"/>
                    </a:srgbClr>
                  </a:outerShdw>
                </a:effectLst>
                <a:latin typeface="Arial" panose="020B0604020202020204" pitchFamily="34" charset="0"/>
                <a:ea typeface="宋体" pitchFamily="2" charset="-122"/>
                <a:cs typeface="+mn-cs"/>
              </a:defRPr>
            </a:lvl1pPr>
            <a:lvl2pPr marL="4572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9pPr>
          </a:lstStyle>
          <a:p>
            <a:pPr>
              <a:defRPr/>
            </a:pPr>
            <a:fld id="{3484B766-0A4D-4CC0-8350-9912DE68FDA1}" type="slidenum">
              <a:rPr lang="en-US" altLang="zh-CN" smtClean="0"/>
              <a:pPr>
                <a:defRPr/>
              </a:pPr>
              <a:t>60</a:t>
            </a:fld>
            <a:endParaRPr lang="en-US" altLang="zh-CN"/>
          </a:p>
        </p:txBody>
      </p:sp>
    </p:spTree>
  </p:cSld>
  <p:clrMapOvr>
    <a:masterClrMapping/>
  </p:clrMapOvr>
  <p:transition>
    <p:random/>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14E2871-1A3D-8899-14CD-DA99826D5ABD}"/>
              </a:ext>
            </a:extLst>
          </p:cNvPr>
          <p:cNvSpPr>
            <a:spLocks noGrp="1"/>
          </p:cNvSpPr>
          <p:nvPr>
            <p:ph idx="1"/>
          </p:nvPr>
        </p:nvSpPr>
        <p:spPr/>
        <p:txBody>
          <a:bodyPr/>
          <a:lstStyle/>
          <a:p>
            <a:pPr>
              <a:defRPr/>
            </a:pPr>
            <a:r>
              <a:rPr lang="zh-CN" altLang="en-US" dirty="0"/>
              <a:t>例：假设</a:t>
            </a:r>
            <a:r>
              <a:rPr lang="en-US" altLang="zh-CN" dirty="0"/>
              <a:t>35H</a:t>
            </a:r>
            <a:r>
              <a:rPr lang="zh-CN" altLang="en-US" dirty="0"/>
              <a:t>端口的每一个</a:t>
            </a:r>
            <a:r>
              <a:rPr lang="en-US" altLang="zh-CN" dirty="0"/>
              <a:t>bit</a:t>
            </a:r>
            <a:r>
              <a:rPr lang="zh-CN" altLang="en-US" dirty="0"/>
              <a:t>外接一个</a:t>
            </a:r>
            <a:r>
              <a:rPr lang="en-US" altLang="zh-CN" dirty="0"/>
              <a:t>LED</a:t>
            </a:r>
            <a:r>
              <a:rPr lang="zh-CN" altLang="en-US" dirty="0"/>
              <a:t>灯，要求点亮第二位的</a:t>
            </a:r>
            <a:r>
              <a:rPr lang="en-US" altLang="zh-CN" dirty="0"/>
              <a:t>LED</a:t>
            </a:r>
            <a:r>
              <a:rPr lang="zh-CN" altLang="en-US" dirty="0"/>
              <a:t>灯，其他灯不受影响。</a:t>
            </a:r>
            <a:endParaRPr lang="en-US" altLang="zh-CN" dirty="0"/>
          </a:p>
          <a:p>
            <a:pPr marL="393700" lvl="1" indent="0">
              <a:buFontTx/>
              <a:buNone/>
              <a:defRPr/>
            </a:pPr>
            <a:r>
              <a:rPr lang="en-US" altLang="zh-CN" dirty="0"/>
              <a:t> IN     AL,35H</a:t>
            </a:r>
          </a:p>
          <a:p>
            <a:pPr marL="393700" lvl="1" indent="0">
              <a:buFontTx/>
              <a:buNone/>
              <a:defRPr/>
            </a:pPr>
            <a:r>
              <a:rPr lang="en-US" altLang="zh-CN" dirty="0"/>
              <a:t>OR    AL,02H</a:t>
            </a:r>
          </a:p>
          <a:p>
            <a:pPr marL="393700" lvl="1" indent="0">
              <a:buFontTx/>
              <a:buNone/>
              <a:defRPr/>
            </a:pPr>
            <a:r>
              <a:rPr lang="en-US" altLang="zh-CN" dirty="0"/>
              <a:t>OUT  35H,AL</a:t>
            </a:r>
          </a:p>
          <a:p>
            <a:pPr marL="393700" lvl="1" indent="0">
              <a:buFontTx/>
              <a:buNone/>
              <a:defRPr/>
            </a:pPr>
            <a:r>
              <a:rPr lang="zh-CN" altLang="en-US" sz="2400" dirty="0">
                <a:highlight>
                  <a:srgbClr val="FFFF00"/>
                </a:highlight>
              </a:rPr>
              <a:t>注意：</a:t>
            </a:r>
            <a:r>
              <a:rPr lang="en-US" altLang="zh-CN" sz="2400" dirty="0">
                <a:highlight>
                  <a:srgbClr val="FFFF00"/>
                </a:highlight>
              </a:rPr>
              <a:t>MOV</a:t>
            </a:r>
            <a:r>
              <a:rPr lang="zh-CN" altLang="en-US" sz="2400" dirty="0">
                <a:highlight>
                  <a:srgbClr val="FFFF00"/>
                </a:highlight>
              </a:rPr>
              <a:t>指令不能访问端口，</a:t>
            </a:r>
            <a:r>
              <a:rPr lang="en-US" altLang="zh-CN" sz="2400" dirty="0">
                <a:highlight>
                  <a:srgbClr val="FFFF00"/>
                </a:highlight>
              </a:rPr>
              <a:t>IN</a:t>
            </a:r>
            <a:r>
              <a:rPr lang="zh-CN" altLang="en-US" sz="2400" dirty="0">
                <a:highlight>
                  <a:srgbClr val="FFFF00"/>
                </a:highlight>
              </a:rPr>
              <a:t>指令不能访问内存，访问端口的只有</a:t>
            </a:r>
            <a:r>
              <a:rPr lang="en-US" altLang="zh-CN" sz="2400" dirty="0">
                <a:highlight>
                  <a:srgbClr val="FFFF00"/>
                </a:highlight>
              </a:rPr>
              <a:t>IN</a:t>
            </a:r>
            <a:r>
              <a:rPr lang="zh-CN" altLang="en-US" sz="2400" dirty="0">
                <a:highlight>
                  <a:srgbClr val="FFFF00"/>
                </a:highlight>
              </a:rPr>
              <a:t>，</a:t>
            </a:r>
            <a:r>
              <a:rPr lang="en-US" altLang="zh-CN" sz="2400" dirty="0">
                <a:highlight>
                  <a:srgbClr val="FFFF00"/>
                </a:highlight>
              </a:rPr>
              <a:t>OUT</a:t>
            </a:r>
            <a:r>
              <a:rPr lang="zh-CN" altLang="en-US" sz="2400" dirty="0">
                <a:highlight>
                  <a:srgbClr val="FFFF00"/>
                </a:highlight>
              </a:rPr>
              <a:t>两条指令。</a:t>
            </a:r>
            <a:endParaRPr lang="en-US" altLang="zh-CN" sz="2400" dirty="0">
              <a:highlight>
                <a:srgbClr val="FFFF00"/>
              </a:highlight>
            </a:endParaRPr>
          </a:p>
          <a:p>
            <a:pPr marL="0" indent="0">
              <a:buFontTx/>
              <a:buNone/>
              <a:defRPr/>
            </a:pPr>
            <a:endParaRPr lang="zh-CN" altLang="en-US" dirty="0"/>
          </a:p>
        </p:txBody>
      </p:sp>
      <p:sp>
        <p:nvSpPr>
          <p:cNvPr id="4" name="灯片编号占位符 3">
            <a:extLst>
              <a:ext uri="{FF2B5EF4-FFF2-40B4-BE49-F238E27FC236}">
                <a16:creationId xmlns:a16="http://schemas.microsoft.com/office/drawing/2014/main" id="{DE7130F4-9287-CE40-18CC-9126C0B210EF}"/>
              </a:ext>
            </a:extLst>
          </p:cNvPr>
          <p:cNvSpPr>
            <a:spLocks noGrp="1"/>
          </p:cNvSpPr>
          <p:nvPr>
            <p:ph type="sldNum" sz="quarter" idx="12"/>
          </p:nvPr>
        </p:nvSpPr>
        <p:spPr bwMode="auto">
          <a:xfrm>
            <a:off x="6554788" y="6245225"/>
            <a:ext cx="2133600" cy="476250"/>
          </a:xfrm>
          <a:prstGeom prst="rect">
            <a:avLst/>
          </a:prstGeom>
          <a:noFill/>
          <a:ln w="9525">
            <a:noFill/>
            <a:miter lim="800000"/>
            <a:headEnd/>
            <a:tailEnd/>
          </a:ln>
          <a:effectLst/>
        </p:spPr>
        <p:txBody>
          <a:bodyPr vert="horz" wrap="square" lIns="88459" tIns="44230" rIns="88459" bIns="44230" numCol="1" anchor="t" anchorCtr="0" compatLnSpc="1">
            <a:prstTxWarp prst="textNoShape">
              <a:avLst/>
            </a:prstTxWarp>
          </a:bodyPr>
          <a:lstStyle>
            <a:defPPr>
              <a:defRPr lang="zh-CN"/>
            </a:defPPr>
            <a:lvl1pPr algn="r" rtl="0" eaLnBrk="1" fontAlgn="base" hangingPunct="1">
              <a:spcBef>
                <a:spcPct val="0"/>
              </a:spcBef>
              <a:spcAft>
                <a:spcPct val="0"/>
              </a:spcAft>
              <a:defRPr sz="1422" kern="1200">
                <a:solidFill>
                  <a:schemeClr val="tx1"/>
                </a:solidFill>
                <a:effectLst>
                  <a:outerShdw blurRad="38100" dist="38100" dir="2700000" algn="tl">
                    <a:srgbClr val="000000">
                      <a:alpha val="43137"/>
                    </a:srgbClr>
                  </a:outerShdw>
                </a:effectLst>
                <a:latin typeface="Arial" panose="020B0604020202020204" pitchFamily="34" charset="0"/>
                <a:ea typeface="宋体" pitchFamily="2" charset="-122"/>
                <a:cs typeface="+mn-cs"/>
              </a:defRPr>
            </a:lvl1pPr>
            <a:lvl2pPr marL="4572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9pPr>
          </a:lstStyle>
          <a:p>
            <a:pPr>
              <a:defRPr/>
            </a:pPr>
            <a:fld id="{3484B766-0A4D-4CC0-8350-9912DE68FDA1}" type="slidenum">
              <a:rPr lang="en-US" altLang="zh-CN" smtClean="0"/>
              <a:pPr>
                <a:defRPr/>
              </a:pPr>
              <a:t>61</a:t>
            </a:fld>
            <a:endParaRPr lang="en-US" altLang="zh-CN"/>
          </a:p>
        </p:txBody>
      </p:sp>
    </p:spTree>
  </p:cSld>
  <p:clrMapOvr>
    <a:masterClrMapping/>
  </p:clrMapOvr>
  <p:transition>
    <p:random/>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9EFDF-5F46-2A42-0888-A9A1005C4DDD}"/>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F2D4D54A-FAE8-C4B2-3A89-3994B353A425}"/>
              </a:ext>
            </a:extLst>
          </p:cNvPr>
          <p:cNvSpPr>
            <a:spLocks noGrp="1"/>
          </p:cNvSpPr>
          <p:nvPr>
            <p:ph idx="1"/>
          </p:nvPr>
        </p:nvSpPr>
        <p:spPr/>
        <p:txBody>
          <a:bodyPr/>
          <a:lstStyle/>
          <a:p>
            <a:pPr>
              <a:defRPr/>
            </a:pPr>
            <a:r>
              <a:rPr lang="zh-CN" altLang="en-US" dirty="0"/>
              <a:t>例：将</a:t>
            </a:r>
            <a:r>
              <a:rPr lang="en-US" altLang="zh-CN" dirty="0"/>
              <a:t>AL</a:t>
            </a:r>
            <a:r>
              <a:rPr lang="zh-CN" altLang="en-US" dirty="0"/>
              <a:t>中的字节数据输出到</a:t>
            </a:r>
            <a:r>
              <a:rPr lang="en-US" altLang="zh-CN" dirty="0"/>
              <a:t>DX</a:t>
            </a:r>
            <a:r>
              <a:rPr lang="zh-CN" altLang="en-US" dirty="0"/>
              <a:t>指定的</a:t>
            </a:r>
            <a:r>
              <a:rPr lang="en-US" altLang="zh-CN" dirty="0"/>
              <a:t>I/O</a:t>
            </a:r>
            <a:r>
              <a:rPr lang="zh-CN" altLang="en-US" dirty="0"/>
              <a:t>端口。</a:t>
            </a:r>
            <a:endParaRPr lang="en-US" altLang="zh-CN" dirty="0"/>
          </a:p>
          <a:p>
            <a:pPr marL="393700" lvl="1" indent="0">
              <a:buFontTx/>
              <a:buNone/>
              <a:defRPr/>
            </a:pPr>
            <a:r>
              <a:rPr lang="en-US" altLang="zh-CN" dirty="0"/>
              <a:t> IN     AL,21H</a:t>
            </a:r>
          </a:p>
          <a:p>
            <a:pPr marL="393700" lvl="1" indent="0">
              <a:buFontTx/>
              <a:buNone/>
              <a:defRPr/>
            </a:pPr>
            <a:r>
              <a:rPr lang="en-US" altLang="zh-CN" dirty="0"/>
              <a:t>MOV   DX,300H</a:t>
            </a:r>
          </a:p>
          <a:p>
            <a:pPr marL="393700" lvl="1" indent="0">
              <a:buFontTx/>
              <a:buNone/>
              <a:defRPr/>
            </a:pPr>
            <a:r>
              <a:rPr lang="en-US" altLang="zh-CN" dirty="0"/>
              <a:t>OUT  DX,AL</a:t>
            </a:r>
          </a:p>
        </p:txBody>
      </p:sp>
      <p:sp>
        <p:nvSpPr>
          <p:cNvPr id="4" name="灯片编号占位符 3">
            <a:extLst>
              <a:ext uri="{FF2B5EF4-FFF2-40B4-BE49-F238E27FC236}">
                <a16:creationId xmlns:a16="http://schemas.microsoft.com/office/drawing/2014/main" id="{422C6774-06DF-15C5-4E0B-F4B396F8A489}"/>
              </a:ext>
            </a:extLst>
          </p:cNvPr>
          <p:cNvSpPr>
            <a:spLocks noGrp="1"/>
          </p:cNvSpPr>
          <p:nvPr>
            <p:ph type="sldNum" sz="quarter" idx="12"/>
          </p:nvPr>
        </p:nvSpPr>
        <p:spPr bwMode="auto">
          <a:xfrm>
            <a:off x="6554788" y="6245225"/>
            <a:ext cx="2133600" cy="476250"/>
          </a:xfrm>
          <a:prstGeom prst="rect">
            <a:avLst/>
          </a:prstGeom>
          <a:noFill/>
          <a:ln w="9525">
            <a:noFill/>
            <a:miter lim="800000"/>
            <a:headEnd/>
            <a:tailEnd/>
          </a:ln>
          <a:effectLst/>
        </p:spPr>
        <p:txBody>
          <a:bodyPr vert="horz" wrap="square" lIns="88459" tIns="44230" rIns="88459" bIns="44230" numCol="1" anchor="t" anchorCtr="0" compatLnSpc="1">
            <a:prstTxWarp prst="textNoShape">
              <a:avLst/>
            </a:prstTxWarp>
          </a:bodyPr>
          <a:lstStyle>
            <a:defPPr>
              <a:defRPr lang="zh-CN"/>
            </a:defPPr>
            <a:lvl1pPr algn="r" rtl="0" eaLnBrk="1" fontAlgn="base" hangingPunct="1">
              <a:spcBef>
                <a:spcPct val="0"/>
              </a:spcBef>
              <a:spcAft>
                <a:spcPct val="0"/>
              </a:spcAft>
              <a:defRPr sz="1422" kern="1200">
                <a:solidFill>
                  <a:schemeClr val="tx1"/>
                </a:solidFill>
                <a:effectLst>
                  <a:outerShdw blurRad="38100" dist="38100" dir="2700000" algn="tl">
                    <a:srgbClr val="000000">
                      <a:alpha val="43137"/>
                    </a:srgbClr>
                  </a:outerShdw>
                </a:effectLst>
                <a:latin typeface="Arial" panose="020B0604020202020204" pitchFamily="34" charset="0"/>
                <a:ea typeface="宋体" pitchFamily="2" charset="-122"/>
                <a:cs typeface="+mn-cs"/>
              </a:defRPr>
            </a:lvl1pPr>
            <a:lvl2pPr marL="4572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9pPr>
          </a:lstStyle>
          <a:p>
            <a:pPr>
              <a:defRPr/>
            </a:pPr>
            <a:fld id="{3484B766-0A4D-4CC0-8350-9912DE68FDA1}" type="slidenum">
              <a:rPr lang="en-US" altLang="zh-CN" smtClean="0"/>
              <a:pPr>
                <a:defRPr/>
              </a:pPr>
              <a:t>62</a:t>
            </a:fld>
            <a:endParaRPr lang="en-US" altLang="zh-CN"/>
          </a:p>
        </p:txBody>
      </p:sp>
    </p:spTree>
    <p:extLst>
      <p:ext uri="{BB962C8B-B14F-4D97-AF65-F5344CB8AC3E}">
        <p14:creationId xmlns:p14="http://schemas.microsoft.com/office/powerpoint/2010/main" val="1854494303"/>
      </p:ext>
    </p:extLst>
  </p:cSld>
  <p:clrMapOvr>
    <a:masterClrMapping/>
  </p:clrMapOvr>
  <p:transition>
    <p:random/>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41A2678D-4EB5-52B1-477C-E4BC543B05AA}"/>
              </a:ext>
            </a:extLst>
          </p:cNvPr>
          <p:cNvSpPr>
            <a:spLocks noGrp="1" noChangeArrowheads="1"/>
          </p:cNvSpPr>
          <p:nvPr>
            <p:ph type="title"/>
          </p:nvPr>
        </p:nvSpPr>
        <p:spPr/>
        <p:txBody>
          <a:bodyPr/>
          <a:lstStyle/>
          <a:p>
            <a:r>
              <a:rPr lang="en-US" altLang="zh-CN" dirty="0"/>
              <a:t>3.7.2  </a:t>
            </a:r>
            <a:r>
              <a:rPr lang="zh-CN" altLang="en-US" dirty="0"/>
              <a:t>算术运算类指令</a:t>
            </a:r>
          </a:p>
        </p:txBody>
      </p:sp>
      <p:sp>
        <p:nvSpPr>
          <p:cNvPr id="75779" name="Rectangle 3">
            <a:extLst>
              <a:ext uri="{FF2B5EF4-FFF2-40B4-BE49-F238E27FC236}">
                <a16:creationId xmlns:a16="http://schemas.microsoft.com/office/drawing/2014/main" id="{1E0B2987-1D34-9B0F-22C0-DADC1FEDDC00}"/>
              </a:ext>
            </a:extLst>
          </p:cNvPr>
          <p:cNvSpPr>
            <a:spLocks noGrp="1" noChangeArrowheads="1"/>
          </p:cNvSpPr>
          <p:nvPr>
            <p:ph type="body" idx="1"/>
          </p:nvPr>
        </p:nvSpPr>
        <p:spPr>
          <a:xfrm>
            <a:off x="468313" y="1093788"/>
            <a:ext cx="8229600" cy="5072062"/>
          </a:xfrm>
        </p:spPr>
        <p:txBody>
          <a:bodyPr/>
          <a:lstStyle/>
          <a:p>
            <a:r>
              <a:rPr lang="zh-CN" altLang="en-US" dirty="0"/>
              <a:t>算术运算类指令用来执行二进制的算术运算：</a:t>
            </a:r>
            <a:r>
              <a:rPr lang="zh-CN" altLang="en-US" dirty="0">
                <a:solidFill>
                  <a:schemeClr val="tx1"/>
                </a:solidFill>
              </a:rPr>
              <a:t>加减乘除</a:t>
            </a:r>
            <a:r>
              <a:rPr lang="zh-CN" altLang="en-US" dirty="0"/>
              <a:t>。</a:t>
            </a:r>
          </a:p>
          <a:p>
            <a:r>
              <a:rPr lang="zh-CN" altLang="en-US" dirty="0"/>
              <a:t>这类指令会根据运算结果影响</a:t>
            </a:r>
            <a:r>
              <a:rPr lang="zh-CN" altLang="en-US" dirty="0">
                <a:solidFill>
                  <a:srgbClr val="006600"/>
                </a:solidFill>
              </a:rPr>
              <a:t>状态标志</a:t>
            </a:r>
            <a:r>
              <a:rPr lang="zh-CN" altLang="en-US" dirty="0"/>
              <a:t>，有时要利用某些标志才能得到正确的结果；使用他们时请留心有关状态标志</a:t>
            </a:r>
            <a:r>
              <a:rPr lang="en-US" altLang="zh-CN" dirty="0">
                <a:highlight>
                  <a:srgbClr val="FFFF00"/>
                </a:highlight>
              </a:rPr>
              <a:t>(</a:t>
            </a:r>
            <a:r>
              <a:rPr lang="zh-CN" altLang="en-US" dirty="0">
                <a:highlight>
                  <a:srgbClr val="FFFF00"/>
                </a:highlight>
              </a:rPr>
              <a:t>除</a:t>
            </a:r>
            <a:r>
              <a:rPr lang="en-US" altLang="zh-CN" dirty="0">
                <a:highlight>
                  <a:srgbClr val="FFFF00"/>
                </a:highlight>
              </a:rPr>
              <a:t>INC</a:t>
            </a:r>
            <a:r>
              <a:rPr lang="zh-CN" altLang="en-US" dirty="0">
                <a:highlight>
                  <a:srgbClr val="FFFF00"/>
                </a:highlight>
              </a:rPr>
              <a:t>和</a:t>
            </a:r>
            <a:r>
              <a:rPr lang="en-US" altLang="zh-CN" dirty="0">
                <a:highlight>
                  <a:srgbClr val="FFFF00"/>
                </a:highlight>
              </a:rPr>
              <a:t>DEC</a:t>
            </a:r>
            <a:r>
              <a:rPr lang="zh-CN" altLang="en-US" dirty="0">
                <a:highlight>
                  <a:srgbClr val="FFFF00"/>
                </a:highlight>
              </a:rPr>
              <a:t>不影响</a:t>
            </a:r>
            <a:r>
              <a:rPr lang="en-US" altLang="zh-CN" dirty="0">
                <a:highlight>
                  <a:srgbClr val="FFFF00"/>
                </a:highlight>
              </a:rPr>
              <a:t>CF</a:t>
            </a:r>
            <a:r>
              <a:rPr lang="zh-CN" altLang="en-US" dirty="0">
                <a:highlight>
                  <a:srgbClr val="FFFF00"/>
                </a:highlight>
              </a:rPr>
              <a:t>标志外，其他按定义影响全部状态标志位</a:t>
            </a:r>
            <a:r>
              <a:rPr lang="en-US" altLang="zh-CN" dirty="0">
                <a:highlight>
                  <a:srgbClr val="FFFF00"/>
                </a:highlight>
              </a:rPr>
              <a:t>)</a:t>
            </a:r>
            <a:endParaRPr lang="zh-CN" altLang="en-US" dirty="0">
              <a:highlight>
                <a:srgbClr val="FFFF00"/>
              </a:highlight>
            </a:endParaRPr>
          </a:p>
          <a:p>
            <a:r>
              <a:rPr lang="zh-CN" altLang="en-US" dirty="0"/>
              <a:t>重点掌握</a:t>
            </a:r>
          </a:p>
          <a:p>
            <a:pPr lvl="1">
              <a:buFontTx/>
              <a:buNone/>
            </a:pPr>
            <a:r>
              <a:rPr lang="zh-CN" altLang="en-US" dirty="0"/>
              <a:t>加法指令：</a:t>
            </a:r>
            <a:r>
              <a:rPr lang="en-US" altLang="zh-CN" dirty="0"/>
              <a:t>ADD</a:t>
            </a:r>
            <a:r>
              <a:rPr lang="zh-CN" altLang="en-US" dirty="0"/>
              <a:t>、</a:t>
            </a:r>
            <a:r>
              <a:rPr lang="en-US" altLang="zh-CN" dirty="0"/>
              <a:t>ADC</a:t>
            </a:r>
            <a:r>
              <a:rPr lang="zh-CN" altLang="en-US" dirty="0"/>
              <a:t>、</a:t>
            </a:r>
            <a:r>
              <a:rPr lang="en-US" altLang="zh-CN" dirty="0"/>
              <a:t>INC </a:t>
            </a:r>
          </a:p>
          <a:p>
            <a:pPr lvl="1">
              <a:buFontTx/>
              <a:buNone/>
            </a:pPr>
            <a:r>
              <a:rPr lang="zh-CN" altLang="en-US" dirty="0"/>
              <a:t>减法指令：</a:t>
            </a:r>
            <a:r>
              <a:rPr lang="en-US" altLang="zh-CN" dirty="0"/>
              <a:t>SUB </a:t>
            </a:r>
            <a:r>
              <a:rPr lang="zh-CN" altLang="en-US" dirty="0"/>
              <a:t>、</a:t>
            </a:r>
            <a:r>
              <a:rPr lang="en-US" altLang="zh-CN" dirty="0"/>
              <a:t>SBB</a:t>
            </a:r>
            <a:r>
              <a:rPr lang="zh-CN" altLang="en-US" dirty="0"/>
              <a:t>、</a:t>
            </a:r>
            <a:r>
              <a:rPr lang="en-US" altLang="zh-CN" dirty="0"/>
              <a:t>DEC</a:t>
            </a:r>
            <a:r>
              <a:rPr lang="zh-CN" altLang="en-US" dirty="0"/>
              <a:t>、</a:t>
            </a:r>
            <a:r>
              <a:rPr lang="en-US" altLang="zh-CN" dirty="0"/>
              <a:t>CMP</a:t>
            </a:r>
            <a:r>
              <a:rPr lang="zh-CN" altLang="en-US" dirty="0"/>
              <a:t>、</a:t>
            </a:r>
            <a:r>
              <a:rPr lang="en-US" altLang="zh-CN" dirty="0"/>
              <a:t>NEG</a:t>
            </a:r>
          </a:p>
        </p:txBody>
      </p:sp>
    </p:spTree>
  </p:cSld>
  <p:clrMapOvr>
    <a:masterClrMapping/>
  </p:clrMapOvr>
  <p:transition>
    <p:random/>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B8B17A4D-F59A-B6FB-2A53-E869AE9B2558}"/>
              </a:ext>
            </a:extLst>
          </p:cNvPr>
          <p:cNvSpPr>
            <a:spLocks noGrp="1" noChangeArrowheads="1"/>
          </p:cNvSpPr>
          <p:nvPr>
            <p:ph type="title"/>
          </p:nvPr>
        </p:nvSpPr>
        <p:spPr/>
        <p:txBody>
          <a:bodyPr/>
          <a:lstStyle/>
          <a:p>
            <a:r>
              <a:rPr lang="en-US" altLang="zh-CN"/>
              <a:t>1. </a:t>
            </a:r>
            <a:r>
              <a:rPr lang="zh-CN" altLang="en-US"/>
              <a:t>加和减指令 </a:t>
            </a:r>
          </a:p>
        </p:txBody>
      </p:sp>
      <p:sp>
        <p:nvSpPr>
          <p:cNvPr id="77827" name="Rectangle 3">
            <a:extLst>
              <a:ext uri="{FF2B5EF4-FFF2-40B4-BE49-F238E27FC236}">
                <a16:creationId xmlns:a16="http://schemas.microsoft.com/office/drawing/2014/main" id="{A6347ECF-B676-929D-3743-E9A05B54CFC8}"/>
              </a:ext>
            </a:extLst>
          </p:cNvPr>
          <p:cNvSpPr>
            <a:spLocks noGrp="1" noChangeArrowheads="1"/>
          </p:cNvSpPr>
          <p:nvPr>
            <p:ph type="body" idx="1"/>
          </p:nvPr>
        </p:nvSpPr>
        <p:spPr/>
        <p:txBody>
          <a:bodyPr/>
          <a:lstStyle/>
          <a:p>
            <a:pPr>
              <a:buFontTx/>
              <a:buNone/>
              <a:tabLst>
                <a:tab pos="1439863" algn="l"/>
              </a:tabLst>
            </a:pPr>
            <a:r>
              <a:rPr lang="en-US" altLang="zh-CN"/>
              <a:t>	</a:t>
            </a:r>
            <a:r>
              <a:rPr lang="en-US" altLang="zh-CN">
                <a:solidFill>
                  <a:schemeClr val="tx1"/>
                </a:solidFill>
              </a:rPr>
              <a:t>ADD</a:t>
            </a:r>
            <a:r>
              <a:rPr lang="en-US" altLang="zh-CN"/>
              <a:t> </a:t>
            </a:r>
            <a:r>
              <a:rPr lang="en-US" altLang="zh-CN">
                <a:solidFill>
                  <a:srgbClr val="006600"/>
                </a:solidFill>
              </a:rPr>
              <a:t>dest,src</a:t>
            </a:r>
            <a:r>
              <a:rPr lang="en-US" altLang="zh-CN"/>
              <a:t>	</a:t>
            </a:r>
          </a:p>
          <a:p>
            <a:pPr>
              <a:buFontTx/>
              <a:buNone/>
              <a:tabLst>
                <a:tab pos="1439863" algn="l"/>
              </a:tabLst>
            </a:pPr>
            <a:r>
              <a:rPr lang="en-US" altLang="zh-CN"/>
              <a:t>		</a:t>
            </a:r>
            <a:r>
              <a:rPr lang="zh-CN" altLang="en-US"/>
              <a:t>；</a:t>
            </a:r>
            <a:r>
              <a:rPr lang="zh-CN" altLang="en-US" sz="2800"/>
              <a:t>加法：</a:t>
            </a:r>
            <a:r>
              <a:rPr lang="en-US" altLang="zh-CN"/>
              <a:t>dest←dest</a:t>
            </a:r>
            <a:r>
              <a:rPr lang="zh-CN" altLang="en-US"/>
              <a:t>＋</a:t>
            </a:r>
            <a:r>
              <a:rPr lang="en-US" altLang="zh-CN"/>
              <a:t>src</a:t>
            </a:r>
          </a:p>
          <a:p>
            <a:pPr>
              <a:buFontTx/>
              <a:buNone/>
              <a:tabLst>
                <a:tab pos="1439863" algn="l"/>
              </a:tabLst>
            </a:pPr>
            <a:r>
              <a:rPr lang="en-US" altLang="zh-CN" sz="2800">
                <a:solidFill>
                  <a:schemeClr val="tx1"/>
                </a:solidFill>
              </a:rPr>
              <a:t>		</a:t>
            </a:r>
            <a:r>
              <a:rPr lang="zh-CN" altLang="en-US" sz="2800">
                <a:solidFill>
                  <a:schemeClr val="tx1"/>
                </a:solidFill>
              </a:rPr>
              <a:t>；</a:t>
            </a:r>
            <a:r>
              <a:rPr lang="en-US" altLang="zh-CN" sz="2800">
                <a:solidFill>
                  <a:schemeClr val="tx1"/>
                </a:solidFill>
              </a:rPr>
              <a:t>ADD</a:t>
            </a:r>
            <a:r>
              <a:rPr lang="zh-CN" altLang="en-US" sz="2800">
                <a:solidFill>
                  <a:schemeClr val="tx1"/>
                </a:solidFill>
              </a:rPr>
              <a:t>指令使目的操作数加上源操作数，和的结果送到目的操作数</a:t>
            </a:r>
          </a:p>
          <a:p>
            <a:pPr>
              <a:buFontTx/>
              <a:buNone/>
              <a:tabLst>
                <a:tab pos="1439863" algn="l"/>
              </a:tabLst>
            </a:pPr>
            <a:endParaRPr lang="zh-CN" altLang="en-US" sz="2800">
              <a:solidFill>
                <a:schemeClr val="tx1"/>
              </a:solidFill>
            </a:endParaRPr>
          </a:p>
          <a:p>
            <a:pPr>
              <a:buFontTx/>
              <a:buNone/>
              <a:tabLst>
                <a:tab pos="1439863" algn="l"/>
              </a:tabLst>
            </a:pPr>
            <a:r>
              <a:rPr lang="zh-CN" altLang="en-US">
                <a:solidFill>
                  <a:schemeClr val="tx1"/>
                </a:solidFill>
              </a:rPr>
              <a:t>	</a:t>
            </a:r>
            <a:r>
              <a:rPr lang="en-US" altLang="zh-CN">
                <a:solidFill>
                  <a:schemeClr val="tx1"/>
                </a:solidFill>
              </a:rPr>
              <a:t>SUB</a:t>
            </a:r>
            <a:r>
              <a:rPr lang="en-US" altLang="zh-CN"/>
              <a:t> </a:t>
            </a:r>
            <a:r>
              <a:rPr lang="en-US" altLang="zh-CN">
                <a:solidFill>
                  <a:srgbClr val="006600"/>
                </a:solidFill>
              </a:rPr>
              <a:t>dest,src</a:t>
            </a:r>
            <a:r>
              <a:rPr lang="en-US" altLang="zh-CN"/>
              <a:t>	</a:t>
            </a:r>
          </a:p>
          <a:p>
            <a:pPr>
              <a:buFontTx/>
              <a:buNone/>
              <a:tabLst>
                <a:tab pos="1439863" algn="l"/>
              </a:tabLst>
            </a:pPr>
            <a:r>
              <a:rPr lang="en-US" altLang="zh-CN"/>
              <a:t>		</a:t>
            </a:r>
            <a:r>
              <a:rPr lang="zh-CN" altLang="en-US"/>
              <a:t>；</a:t>
            </a:r>
            <a:r>
              <a:rPr lang="zh-CN" altLang="en-US" sz="2800"/>
              <a:t>减法：</a:t>
            </a:r>
            <a:r>
              <a:rPr lang="en-US" altLang="zh-CN"/>
              <a:t>dest←dest</a:t>
            </a:r>
            <a:r>
              <a:rPr lang="zh-CN" altLang="en-US"/>
              <a:t>－</a:t>
            </a:r>
            <a:r>
              <a:rPr lang="en-US" altLang="zh-CN"/>
              <a:t>src</a:t>
            </a:r>
          </a:p>
          <a:p>
            <a:pPr>
              <a:buFontTx/>
              <a:buNone/>
              <a:tabLst>
                <a:tab pos="1439863" algn="l"/>
              </a:tabLst>
            </a:pPr>
            <a:r>
              <a:rPr lang="en-US" altLang="zh-CN" sz="2800">
                <a:solidFill>
                  <a:schemeClr val="tx1"/>
                </a:solidFill>
              </a:rPr>
              <a:t>		</a:t>
            </a:r>
            <a:r>
              <a:rPr lang="zh-CN" altLang="en-US" sz="2800">
                <a:solidFill>
                  <a:schemeClr val="tx1"/>
                </a:solidFill>
              </a:rPr>
              <a:t>；</a:t>
            </a:r>
            <a:r>
              <a:rPr lang="en-US" altLang="zh-CN" sz="2800">
                <a:solidFill>
                  <a:schemeClr val="tx1"/>
                </a:solidFill>
              </a:rPr>
              <a:t>SUB</a:t>
            </a:r>
            <a:r>
              <a:rPr lang="zh-CN" altLang="en-US" sz="2800">
                <a:solidFill>
                  <a:schemeClr val="tx1"/>
                </a:solidFill>
              </a:rPr>
              <a:t>指令使目的操作数减去源操作数，差的结果送到目的操作数</a:t>
            </a:r>
          </a:p>
        </p:txBody>
      </p:sp>
      <p:pic>
        <p:nvPicPr>
          <p:cNvPr id="77829" name="Picture 5">
            <a:extLst>
              <a:ext uri="{FF2B5EF4-FFF2-40B4-BE49-F238E27FC236}">
                <a16:creationId xmlns:a16="http://schemas.microsoft.com/office/drawing/2014/main" id="{DFE146BC-93BA-4EDE-FCA2-7EFD62598C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0" y="3405188"/>
            <a:ext cx="9124950" cy="460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random/>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AA36BADD-EE91-9276-B0E4-750D41CF6FE9}"/>
              </a:ext>
            </a:extLst>
          </p:cNvPr>
          <p:cNvSpPr>
            <a:spLocks noGrp="1" noChangeArrowheads="1"/>
          </p:cNvSpPr>
          <p:nvPr>
            <p:ph type="title"/>
          </p:nvPr>
        </p:nvSpPr>
        <p:spPr/>
        <p:txBody>
          <a:bodyPr/>
          <a:lstStyle/>
          <a:p>
            <a:r>
              <a:rPr lang="en-US" altLang="zh-CN"/>
              <a:t>2. </a:t>
            </a:r>
            <a:r>
              <a:rPr lang="zh-CN" altLang="en-US"/>
              <a:t>带进位加和减指令 </a:t>
            </a:r>
          </a:p>
        </p:txBody>
      </p:sp>
      <p:sp>
        <p:nvSpPr>
          <p:cNvPr id="81923" name="Rectangle 3">
            <a:extLst>
              <a:ext uri="{FF2B5EF4-FFF2-40B4-BE49-F238E27FC236}">
                <a16:creationId xmlns:a16="http://schemas.microsoft.com/office/drawing/2014/main" id="{0A491F66-D5C5-ABA8-2BB6-006B77211B85}"/>
              </a:ext>
            </a:extLst>
          </p:cNvPr>
          <p:cNvSpPr>
            <a:spLocks noGrp="1" noChangeArrowheads="1"/>
          </p:cNvSpPr>
          <p:nvPr>
            <p:ph type="body" idx="1"/>
          </p:nvPr>
        </p:nvSpPr>
        <p:spPr/>
        <p:txBody>
          <a:bodyPr/>
          <a:lstStyle/>
          <a:p>
            <a:pPr>
              <a:buFontTx/>
              <a:buNone/>
              <a:tabLst>
                <a:tab pos="1439863" algn="l"/>
              </a:tabLst>
            </a:pPr>
            <a:r>
              <a:rPr lang="en-US" altLang="zh-CN">
                <a:solidFill>
                  <a:schemeClr val="tx1"/>
                </a:solidFill>
              </a:rPr>
              <a:t>ADC</a:t>
            </a:r>
            <a:r>
              <a:rPr lang="en-US" altLang="zh-CN"/>
              <a:t> </a:t>
            </a:r>
            <a:r>
              <a:rPr lang="en-US" altLang="zh-CN">
                <a:solidFill>
                  <a:srgbClr val="006600"/>
                </a:solidFill>
              </a:rPr>
              <a:t>dest,src</a:t>
            </a:r>
          </a:p>
          <a:p>
            <a:pPr>
              <a:buFontTx/>
              <a:buNone/>
              <a:tabLst>
                <a:tab pos="1439863" algn="l"/>
              </a:tabLst>
            </a:pPr>
            <a:r>
              <a:rPr lang="en-US" altLang="zh-CN">
                <a:solidFill>
                  <a:srgbClr val="009900"/>
                </a:solidFill>
              </a:rPr>
              <a:t>	</a:t>
            </a:r>
            <a:r>
              <a:rPr lang="en-US" altLang="zh-CN" sz="2800">
                <a:solidFill>
                  <a:schemeClr val="tx1"/>
                </a:solidFill>
              </a:rPr>
              <a:t>	</a:t>
            </a:r>
            <a:r>
              <a:rPr lang="zh-CN" altLang="en-US" sz="2800">
                <a:solidFill>
                  <a:schemeClr val="tx1"/>
                </a:solidFill>
              </a:rPr>
              <a:t>；加法：</a:t>
            </a:r>
            <a:r>
              <a:rPr lang="en-US" altLang="zh-CN" sz="2800">
                <a:solidFill>
                  <a:schemeClr val="tx1"/>
                </a:solidFill>
              </a:rPr>
              <a:t>dest←dest</a:t>
            </a:r>
            <a:r>
              <a:rPr lang="zh-CN" altLang="en-US" sz="2800">
                <a:solidFill>
                  <a:schemeClr val="tx1"/>
                </a:solidFill>
              </a:rPr>
              <a:t>＋</a:t>
            </a:r>
            <a:r>
              <a:rPr lang="en-US" altLang="zh-CN" sz="2800">
                <a:solidFill>
                  <a:schemeClr val="tx1"/>
                </a:solidFill>
              </a:rPr>
              <a:t>src</a:t>
            </a:r>
            <a:r>
              <a:rPr lang="zh-CN" altLang="en-US" sz="2800">
                <a:solidFill>
                  <a:schemeClr val="tx1"/>
                </a:solidFill>
              </a:rPr>
              <a:t>＋</a:t>
            </a:r>
            <a:r>
              <a:rPr lang="en-US" altLang="zh-CN" sz="2800">
                <a:solidFill>
                  <a:schemeClr val="tx1"/>
                </a:solidFill>
              </a:rPr>
              <a:t>CF</a:t>
            </a:r>
          </a:p>
          <a:p>
            <a:pPr>
              <a:buFontTx/>
              <a:buNone/>
              <a:tabLst>
                <a:tab pos="1439863" algn="l"/>
              </a:tabLst>
            </a:pPr>
            <a:r>
              <a:rPr lang="en-US" altLang="zh-CN" sz="2800"/>
              <a:t>		</a:t>
            </a:r>
            <a:r>
              <a:rPr lang="zh-CN" altLang="en-US" sz="2800"/>
              <a:t>；</a:t>
            </a:r>
            <a:r>
              <a:rPr lang="en-US" altLang="zh-CN" sz="2800"/>
              <a:t>ADC</a:t>
            </a:r>
            <a:r>
              <a:rPr lang="zh-CN" altLang="en-US" sz="2800"/>
              <a:t>指令除完成</a:t>
            </a:r>
            <a:r>
              <a:rPr lang="en-US" altLang="zh-CN" sz="2800"/>
              <a:t>ADD</a:t>
            </a:r>
            <a:r>
              <a:rPr lang="zh-CN" altLang="en-US" sz="2800"/>
              <a:t>加法运算外，还要加上进位</a:t>
            </a:r>
            <a:r>
              <a:rPr lang="en-US" altLang="zh-CN" sz="2800"/>
              <a:t>CF</a:t>
            </a:r>
            <a:r>
              <a:rPr lang="zh-CN" altLang="en-US" sz="2800"/>
              <a:t>，结果送到目的操作数</a:t>
            </a:r>
          </a:p>
          <a:p>
            <a:pPr>
              <a:buFontTx/>
              <a:buNone/>
              <a:tabLst>
                <a:tab pos="1439863" algn="l"/>
              </a:tabLst>
            </a:pPr>
            <a:endParaRPr lang="zh-CN" altLang="en-US" sz="2800"/>
          </a:p>
          <a:p>
            <a:pPr>
              <a:buFontTx/>
              <a:buNone/>
              <a:tabLst>
                <a:tab pos="1439863" algn="l"/>
              </a:tabLst>
            </a:pPr>
            <a:r>
              <a:rPr lang="en-US" altLang="zh-CN">
                <a:solidFill>
                  <a:schemeClr val="tx1"/>
                </a:solidFill>
              </a:rPr>
              <a:t>SBB</a:t>
            </a:r>
            <a:r>
              <a:rPr lang="en-US" altLang="zh-CN"/>
              <a:t> </a:t>
            </a:r>
            <a:r>
              <a:rPr lang="en-US" altLang="zh-CN">
                <a:solidFill>
                  <a:srgbClr val="006600"/>
                </a:solidFill>
              </a:rPr>
              <a:t>dest,src</a:t>
            </a:r>
          </a:p>
          <a:p>
            <a:pPr>
              <a:buFontTx/>
              <a:buNone/>
              <a:tabLst>
                <a:tab pos="1439863" algn="l"/>
              </a:tabLst>
            </a:pPr>
            <a:r>
              <a:rPr lang="en-US" altLang="zh-CN" sz="2800"/>
              <a:t>		</a:t>
            </a:r>
            <a:r>
              <a:rPr lang="zh-CN" altLang="en-US" sz="2800"/>
              <a:t>；</a:t>
            </a:r>
            <a:r>
              <a:rPr lang="zh-CN" altLang="en-US" sz="2800">
                <a:solidFill>
                  <a:schemeClr val="tx1"/>
                </a:solidFill>
              </a:rPr>
              <a:t>减法：</a:t>
            </a:r>
            <a:r>
              <a:rPr lang="en-US" altLang="zh-CN" sz="2800">
                <a:solidFill>
                  <a:schemeClr val="tx1"/>
                </a:solidFill>
              </a:rPr>
              <a:t>dest←dest</a:t>
            </a:r>
            <a:r>
              <a:rPr lang="zh-CN" altLang="en-US" sz="2800">
                <a:solidFill>
                  <a:schemeClr val="tx1"/>
                </a:solidFill>
              </a:rPr>
              <a:t>－</a:t>
            </a:r>
            <a:r>
              <a:rPr lang="en-US" altLang="zh-CN" sz="2800">
                <a:solidFill>
                  <a:schemeClr val="tx1"/>
                </a:solidFill>
              </a:rPr>
              <a:t>src</a:t>
            </a:r>
            <a:r>
              <a:rPr lang="zh-CN" altLang="en-US" sz="2800">
                <a:solidFill>
                  <a:schemeClr val="tx1"/>
                </a:solidFill>
              </a:rPr>
              <a:t>－</a:t>
            </a:r>
            <a:r>
              <a:rPr lang="en-US" altLang="zh-CN" sz="2800">
                <a:solidFill>
                  <a:schemeClr val="tx1"/>
                </a:solidFill>
              </a:rPr>
              <a:t>CF</a:t>
            </a:r>
          </a:p>
          <a:p>
            <a:pPr>
              <a:buFontTx/>
              <a:buNone/>
              <a:tabLst>
                <a:tab pos="1439863" algn="l"/>
              </a:tabLst>
            </a:pPr>
            <a:r>
              <a:rPr lang="en-US" altLang="zh-CN" sz="2800"/>
              <a:t>		</a:t>
            </a:r>
            <a:r>
              <a:rPr lang="zh-CN" altLang="en-US" sz="2800"/>
              <a:t>；</a:t>
            </a:r>
            <a:r>
              <a:rPr lang="en-US" altLang="zh-CN" sz="2800"/>
              <a:t>SBB</a:t>
            </a:r>
            <a:r>
              <a:rPr lang="zh-CN" altLang="en-US" sz="2800"/>
              <a:t>指令除完成</a:t>
            </a:r>
            <a:r>
              <a:rPr lang="en-US" altLang="zh-CN" sz="2800"/>
              <a:t>SUB</a:t>
            </a:r>
            <a:r>
              <a:rPr lang="zh-CN" altLang="en-US" sz="2800"/>
              <a:t>减法运算外，还要减去借位</a:t>
            </a:r>
            <a:r>
              <a:rPr lang="en-US" altLang="zh-CN" sz="2800"/>
              <a:t>CF</a:t>
            </a:r>
            <a:r>
              <a:rPr lang="zh-CN" altLang="en-US" sz="2800"/>
              <a:t>，结果送到目的操作数</a:t>
            </a:r>
          </a:p>
        </p:txBody>
      </p:sp>
      <p:pic>
        <p:nvPicPr>
          <p:cNvPr id="81925" name="Picture 5">
            <a:extLst>
              <a:ext uri="{FF2B5EF4-FFF2-40B4-BE49-F238E27FC236}">
                <a16:creationId xmlns:a16="http://schemas.microsoft.com/office/drawing/2014/main" id="{B9115C6D-D7BC-6966-44C0-E718F1A8AE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0" y="3405188"/>
            <a:ext cx="9124950" cy="460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random/>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2F552F9A-221A-33E6-3D85-02551273FBE2}"/>
              </a:ext>
            </a:extLst>
          </p:cNvPr>
          <p:cNvSpPr>
            <a:spLocks noGrp="1" noChangeArrowheads="1"/>
          </p:cNvSpPr>
          <p:nvPr>
            <p:ph type="title"/>
          </p:nvPr>
        </p:nvSpPr>
        <p:spPr/>
        <p:txBody>
          <a:bodyPr/>
          <a:lstStyle/>
          <a:p>
            <a:r>
              <a:rPr lang="en-US" altLang="zh-CN"/>
              <a:t>3. </a:t>
            </a:r>
            <a:r>
              <a:rPr lang="zh-CN" altLang="en-US"/>
              <a:t>比较指令</a:t>
            </a:r>
            <a:r>
              <a:rPr lang="en-US" altLang="zh-CN"/>
              <a:t>CMP</a:t>
            </a:r>
            <a:r>
              <a:rPr lang="zh-CN" altLang="en-US"/>
              <a:t>（</a:t>
            </a:r>
            <a:r>
              <a:rPr lang="en-US" altLang="zh-CN"/>
              <a:t>compare</a:t>
            </a:r>
            <a:r>
              <a:rPr lang="zh-CN" altLang="en-US"/>
              <a:t>）</a:t>
            </a:r>
          </a:p>
        </p:txBody>
      </p:sp>
      <p:sp>
        <p:nvSpPr>
          <p:cNvPr id="83971" name="Rectangle 3">
            <a:extLst>
              <a:ext uri="{FF2B5EF4-FFF2-40B4-BE49-F238E27FC236}">
                <a16:creationId xmlns:a16="http://schemas.microsoft.com/office/drawing/2014/main" id="{16EA677C-392C-BFCC-2E90-36162C73504E}"/>
              </a:ext>
            </a:extLst>
          </p:cNvPr>
          <p:cNvSpPr>
            <a:spLocks noGrp="1" noChangeArrowheads="1"/>
          </p:cNvSpPr>
          <p:nvPr>
            <p:ph type="body" idx="1"/>
          </p:nvPr>
        </p:nvSpPr>
        <p:spPr>
          <a:xfrm>
            <a:off x="468313" y="981075"/>
            <a:ext cx="8229600" cy="4984750"/>
          </a:xfrm>
        </p:spPr>
        <p:txBody>
          <a:bodyPr/>
          <a:lstStyle/>
          <a:p>
            <a:pPr>
              <a:buFontTx/>
              <a:buNone/>
              <a:tabLst>
                <a:tab pos="1077913" algn="l"/>
              </a:tabLst>
            </a:pPr>
            <a:r>
              <a:rPr lang="en-US" altLang="zh-CN" dirty="0">
                <a:solidFill>
                  <a:schemeClr val="tx1"/>
                </a:solidFill>
              </a:rPr>
              <a:t>CMP</a:t>
            </a:r>
            <a:r>
              <a:rPr lang="en-US" altLang="zh-CN" dirty="0"/>
              <a:t> </a:t>
            </a:r>
            <a:r>
              <a:rPr lang="en-US" altLang="zh-CN" dirty="0" err="1">
                <a:solidFill>
                  <a:srgbClr val="006600"/>
                </a:solidFill>
              </a:rPr>
              <a:t>dest,src</a:t>
            </a:r>
            <a:r>
              <a:rPr lang="en-US" altLang="zh-CN" dirty="0">
                <a:solidFill>
                  <a:srgbClr val="006600"/>
                </a:solidFill>
              </a:rPr>
              <a:t>	</a:t>
            </a:r>
          </a:p>
          <a:p>
            <a:pPr>
              <a:buFontTx/>
              <a:buNone/>
              <a:tabLst>
                <a:tab pos="1077913" algn="l"/>
              </a:tabLst>
            </a:pPr>
            <a:r>
              <a:rPr lang="en-US" altLang="zh-CN" sz="2800" dirty="0">
                <a:solidFill>
                  <a:schemeClr val="tx1"/>
                </a:solidFill>
              </a:rPr>
              <a:t>		</a:t>
            </a:r>
            <a:r>
              <a:rPr lang="zh-CN" altLang="en-US" sz="2800" dirty="0">
                <a:solidFill>
                  <a:schemeClr val="tx1"/>
                </a:solidFill>
              </a:rPr>
              <a:t>；做减法运算：</a:t>
            </a:r>
            <a:r>
              <a:rPr lang="en-US" altLang="zh-CN" sz="2800" dirty="0" err="1">
                <a:solidFill>
                  <a:schemeClr val="tx1"/>
                </a:solidFill>
              </a:rPr>
              <a:t>dest</a:t>
            </a:r>
            <a:r>
              <a:rPr lang="zh-CN" altLang="en-US" sz="2800" dirty="0">
                <a:solidFill>
                  <a:schemeClr val="tx1"/>
                </a:solidFill>
              </a:rPr>
              <a:t>－</a:t>
            </a:r>
            <a:r>
              <a:rPr lang="en-US" altLang="zh-CN" sz="2800" dirty="0" err="1">
                <a:solidFill>
                  <a:schemeClr val="tx1"/>
                </a:solidFill>
              </a:rPr>
              <a:t>src</a:t>
            </a:r>
            <a:endParaRPr lang="en-US" altLang="zh-CN" sz="2800" dirty="0">
              <a:solidFill>
                <a:schemeClr val="tx1"/>
              </a:solidFill>
            </a:endParaRPr>
          </a:p>
          <a:p>
            <a:pPr>
              <a:buFontTx/>
              <a:buNone/>
              <a:tabLst>
                <a:tab pos="1077913" algn="l"/>
              </a:tabLst>
            </a:pPr>
            <a:r>
              <a:rPr lang="en-US" altLang="zh-CN" dirty="0"/>
              <a:t>		</a:t>
            </a:r>
            <a:r>
              <a:rPr lang="zh-CN" altLang="en-US" dirty="0"/>
              <a:t>；</a:t>
            </a:r>
            <a:r>
              <a:rPr lang="en-US" altLang="zh-CN" sz="2800" dirty="0"/>
              <a:t>CMP</a:t>
            </a:r>
            <a:r>
              <a:rPr lang="zh-CN" altLang="en-US" sz="2800" dirty="0"/>
              <a:t>指令将目的操作数减去源操作数，但差值</a:t>
            </a:r>
            <a:r>
              <a:rPr lang="zh-CN" altLang="en-US" sz="2800" dirty="0">
                <a:solidFill>
                  <a:srgbClr val="006600"/>
                </a:solidFill>
                <a:highlight>
                  <a:srgbClr val="FFFF00"/>
                </a:highlight>
              </a:rPr>
              <a:t>不回送</a:t>
            </a:r>
            <a:r>
              <a:rPr lang="zh-CN" altLang="en-US" sz="2800" dirty="0">
                <a:highlight>
                  <a:srgbClr val="FFFF00"/>
                </a:highlight>
              </a:rPr>
              <a:t>目的操作数</a:t>
            </a:r>
          </a:p>
          <a:p>
            <a:pPr>
              <a:tabLst>
                <a:tab pos="1077913" algn="l"/>
              </a:tabLst>
            </a:pPr>
            <a:r>
              <a:rPr lang="zh-CN" altLang="en-US" dirty="0"/>
              <a:t>比较指令通过减法运算</a:t>
            </a:r>
            <a:r>
              <a:rPr lang="zh-CN" altLang="en-US" dirty="0">
                <a:highlight>
                  <a:srgbClr val="FFFF00"/>
                </a:highlight>
              </a:rPr>
              <a:t>影响</a:t>
            </a:r>
            <a:r>
              <a:rPr lang="zh-CN" altLang="en-US" dirty="0">
                <a:solidFill>
                  <a:srgbClr val="006600"/>
                </a:solidFill>
                <a:highlight>
                  <a:srgbClr val="FFFF00"/>
                </a:highlight>
              </a:rPr>
              <a:t>状态标志</a:t>
            </a:r>
            <a:r>
              <a:rPr lang="zh-CN" altLang="en-US" dirty="0"/>
              <a:t>，用于比较两个操作数的大小关系</a:t>
            </a:r>
          </a:p>
        </p:txBody>
      </p:sp>
      <p:sp>
        <p:nvSpPr>
          <p:cNvPr id="83972" name="AutoShape 4">
            <a:extLst>
              <a:ext uri="{FF2B5EF4-FFF2-40B4-BE49-F238E27FC236}">
                <a16:creationId xmlns:a16="http://schemas.microsoft.com/office/drawing/2014/main" id="{F2B88598-32DD-1B85-7B2E-7EB376C2E3D7}"/>
              </a:ext>
            </a:extLst>
          </p:cNvPr>
          <p:cNvSpPr>
            <a:spLocks noChangeArrowheads="1"/>
          </p:cNvSpPr>
          <p:nvPr/>
        </p:nvSpPr>
        <p:spPr bwMode="auto">
          <a:xfrm>
            <a:off x="5788025" y="4659313"/>
            <a:ext cx="2428875" cy="1003300"/>
          </a:xfrm>
          <a:prstGeom prst="roundRect">
            <a:avLst>
              <a:gd name="adj" fmla="val 16667"/>
            </a:avLst>
          </a:prstGeom>
          <a:solidFill>
            <a:schemeClr val="bg1"/>
          </a:solidFill>
          <a:ln w="9525">
            <a:solidFill>
              <a:srgbClr val="009900"/>
            </a:solidFill>
            <a:round/>
            <a:headEnd/>
            <a:tailEnd/>
          </a:ln>
          <a:effectLst>
            <a:outerShdw dist="35921" dir="2700000" algn="ctr" rotWithShape="0">
              <a:schemeClr val="bg2"/>
            </a:outerShdw>
          </a:effectLst>
        </p:spPr>
        <p:txBody>
          <a:bodyPr wrap="none" anchor="ctr"/>
          <a:lstStyle/>
          <a:p>
            <a:pPr algn="just"/>
            <a:r>
              <a:rPr lang="en-US" altLang="zh-CN" sz="2800" b="1">
                <a:effectLst/>
              </a:rPr>
              <a:t>cmp ax,bx</a:t>
            </a:r>
          </a:p>
          <a:p>
            <a:pPr algn="just"/>
            <a:r>
              <a:rPr lang="en-US" altLang="zh-CN" sz="2800" b="1">
                <a:effectLst/>
              </a:rPr>
              <a:t>cmp al,100</a:t>
            </a:r>
          </a:p>
        </p:txBody>
      </p:sp>
    </p:spTree>
  </p:cSld>
  <p:clrMapOvr>
    <a:masterClrMapping/>
  </p:clrMapOvr>
  <p:transition>
    <p:random/>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7BF246A6-D293-F1D3-691D-EBD0D7E218A2}"/>
              </a:ext>
            </a:extLst>
          </p:cNvPr>
          <p:cNvSpPr>
            <a:spLocks noGrp="1" noChangeArrowheads="1"/>
          </p:cNvSpPr>
          <p:nvPr>
            <p:ph type="title"/>
          </p:nvPr>
        </p:nvSpPr>
        <p:spPr/>
        <p:txBody>
          <a:bodyPr/>
          <a:lstStyle/>
          <a:p>
            <a:r>
              <a:rPr lang="en-US" altLang="zh-CN"/>
              <a:t>4. </a:t>
            </a:r>
            <a:r>
              <a:rPr lang="zh-CN" altLang="en-US"/>
              <a:t>增量和减量指令</a:t>
            </a:r>
          </a:p>
        </p:txBody>
      </p:sp>
      <p:sp>
        <p:nvSpPr>
          <p:cNvPr id="84995" name="Rectangle 3">
            <a:extLst>
              <a:ext uri="{FF2B5EF4-FFF2-40B4-BE49-F238E27FC236}">
                <a16:creationId xmlns:a16="http://schemas.microsoft.com/office/drawing/2014/main" id="{831EADEE-BC68-F360-D7CD-5B8A014D4547}"/>
              </a:ext>
            </a:extLst>
          </p:cNvPr>
          <p:cNvSpPr>
            <a:spLocks noGrp="1" noChangeArrowheads="1"/>
          </p:cNvSpPr>
          <p:nvPr>
            <p:ph type="body" idx="1"/>
          </p:nvPr>
        </p:nvSpPr>
        <p:spPr>
          <a:xfrm>
            <a:off x="468313" y="981075"/>
            <a:ext cx="8229600" cy="3732213"/>
          </a:xfrm>
        </p:spPr>
        <p:txBody>
          <a:bodyPr/>
          <a:lstStyle/>
          <a:p>
            <a:pPr>
              <a:buFontTx/>
              <a:buNone/>
            </a:pPr>
            <a:r>
              <a:rPr lang="en-US" altLang="zh-CN">
                <a:solidFill>
                  <a:schemeClr val="tx1"/>
                </a:solidFill>
              </a:rPr>
              <a:t>INC reg/mem</a:t>
            </a:r>
            <a:r>
              <a:rPr lang="en-US" altLang="zh-CN"/>
              <a:t>	</a:t>
            </a:r>
          </a:p>
          <a:p>
            <a:pPr>
              <a:buFontTx/>
              <a:buNone/>
            </a:pPr>
            <a:r>
              <a:rPr lang="en-US" altLang="zh-CN" sz="2800">
                <a:solidFill>
                  <a:srgbClr val="009900"/>
                </a:solidFill>
              </a:rPr>
              <a:t>	</a:t>
            </a:r>
            <a:r>
              <a:rPr lang="en-US" altLang="zh-CN" sz="2800">
                <a:solidFill>
                  <a:srgbClr val="006600"/>
                </a:solidFill>
              </a:rPr>
              <a:t>	</a:t>
            </a:r>
            <a:r>
              <a:rPr lang="zh-CN" altLang="en-US" sz="2800">
                <a:solidFill>
                  <a:srgbClr val="006600"/>
                </a:solidFill>
              </a:rPr>
              <a:t>；增量（加</a:t>
            </a:r>
            <a:r>
              <a:rPr lang="en-US" altLang="zh-CN" sz="2800">
                <a:solidFill>
                  <a:srgbClr val="006600"/>
                </a:solidFill>
              </a:rPr>
              <a:t>1</a:t>
            </a:r>
            <a:r>
              <a:rPr lang="zh-CN" altLang="en-US" sz="2800">
                <a:solidFill>
                  <a:srgbClr val="006600"/>
                </a:solidFill>
              </a:rPr>
              <a:t>）：</a:t>
            </a:r>
            <a:r>
              <a:rPr lang="en-US" altLang="zh-CN" sz="2800">
                <a:solidFill>
                  <a:srgbClr val="006600"/>
                </a:solidFill>
              </a:rPr>
              <a:t>reg/mem←reg/mem</a:t>
            </a:r>
            <a:r>
              <a:rPr lang="zh-CN" altLang="en-US" sz="2800">
                <a:solidFill>
                  <a:srgbClr val="006600"/>
                </a:solidFill>
              </a:rPr>
              <a:t>＋</a:t>
            </a:r>
            <a:r>
              <a:rPr lang="en-US" altLang="zh-CN" sz="2800">
                <a:solidFill>
                  <a:srgbClr val="006600"/>
                </a:solidFill>
              </a:rPr>
              <a:t>1</a:t>
            </a:r>
          </a:p>
          <a:p>
            <a:pPr>
              <a:buFontTx/>
              <a:buNone/>
            </a:pPr>
            <a:r>
              <a:rPr lang="en-US" altLang="zh-CN">
                <a:solidFill>
                  <a:schemeClr val="tx1"/>
                </a:solidFill>
              </a:rPr>
              <a:t>DEC reg/mem</a:t>
            </a:r>
            <a:r>
              <a:rPr lang="en-US" altLang="zh-CN"/>
              <a:t>	</a:t>
            </a:r>
          </a:p>
          <a:p>
            <a:pPr>
              <a:buFontTx/>
              <a:buNone/>
            </a:pPr>
            <a:r>
              <a:rPr lang="en-US" altLang="zh-CN" sz="2800">
                <a:solidFill>
                  <a:srgbClr val="009900"/>
                </a:solidFill>
              </a:rPr>
              <a:t>	</a:t>
            </a:r>
            <a:r>
              <a:rPr lang="en-US" altLang="zh-CN" sz="2800">
                <a:solidFill>
                  <a:srgbClr val="006600"/>
                </a:solidFill>
              </a:rPr>
              <a:t>	</a:t>
            </a:r>
            <a:r>
              <a:rPr lang="zh-CN" altLang="en-US" sz="2800">
                <a:solidFill>
                  <a:srgbClr val="006600"/>
                </a:solidFill>
              </a:rPr>
              <a:t>；减量（减</a:t>
            </a:r>
            <a:r>
              <a:rPr lang="en-US" altLang="zh-CN" sz="2800">
                <a:solidFill>
                  <a:srgbClr val="006600"/>
                </a:solidFill>
              </a:rPr>
              <a:t>1</a:t>
            </a:r>
            <a:r>
              <a:rPr lang="zh-CN" altLang="en-US" sz="2800">
                <a:solidFill>
                  <a:srgbClr val="006600"/>
                </a:solidFill>
              </a:rPr>
              <a:t>）：</a:t>
            </a:r>
            <a:r>
              <a:rPr lang="en-US" altLang="zh-CN" sz="2800">
                <a:solidFill>
                  <a:srgbClr val="006600"/>
                </a:solidFill>
              </a:rPr>
              <a:t>reg/mem←reg/mem</a:t>
            </a:r>
            <a:r>
              <a:rPr lang="zh-CN" altLang="en-US" sz="2800">
                <a:solidFill>
                  <a:srgbClr val="006600"/>
                </a:solidFill>
              </a:rPr>
              <a:t>－</a:t>
            </a:r>
            <a:r>
              <a:rPr lang="en-US" altLang="zh-CN" sz="2800">
                <a:solidFill>
                  <a:srgbClr val="006600"/>
                </a:solidFill>
              </a:rPr>
              <a:t>1</a:t>
            </a:r>
          </a:p>
          <a:p>
            <a:r>
              <a:rPr lang="en-US" altLang="zh-CN" sz="2800"/>
              <a:t>INC</a:t>
            </a:r>
            <a:r>
              <a:rPr lang="zh-CN" altLang="en-US" sz="2800"/>
              <a:t>指令和</a:t>
            </a:r>
            <a:r>
              <a:rPr lang="en-US" altLang="zh-CN" sz="2800"/>
              <a:t>DEC</a:t>
            </a:r>
            <a:r>
              <a:rPr lang="zh-CN" altLang="en-US" sz="2800"/>
              <a:t>指令是单操作数指令</a:t>
            </a:r>
          </a:p>
          <a:p>
            <a:r>
              <a:rPr lang="zh-CN" altLang="en-US" sz="2800"/>
              <a:t>与加法和减法指令实现的加</a:t>
            </a:r>
            <a:r>
              <a:rPr lang="en-US" altLang="zh-CN" sz="2800"/>
              <a:t>1</a:t>
            </a:r>
            <a:r>
              <a:rPr lang="zh-CN" altLang="en-US" sz="2800"/>
              <a:t>和减</a:t>
            </a:r>
            <a:r>
              <a:rPr lang="en-US" altLang="zh-CN" sz="2800"/>
              <a:t>1</a:t>
            </a:r>
            <a:r>
              <a:rPr lang="zh-CN" altLang="en-US" sz="2800"/>
              <a:t>不同的是：</a:t>
            </a:r>
            <a:r>
              <a:rPr lang="en-US" altLang="zh-CN" sz="2800"/>
              <a:t>INC</a:t>
            </a:r>
            <a:r>
              <a:rPr lang="zh-CN" altLang="en-US" sz="2800"/>
              <a:t>和</a:t>
            </a:r>
            <a:r>
              <a:rPr lang="en-US" altLang="zh-CN" sz="2800"/>
              <a:t>DEC</a:t>
            </a:r>
            <a:r>
              <a:rPr lang="zh-CN" altLang="en-US" sz="2800"/>
              <a:t>不影响</a:t>
            </a:r>
            <a:r>
              <a:rPr lang="en-US" altLang="zh-CN" sz="2800"/>
              <a:t>CF</a:t>
            </a:r>
            <a:r>
              <a:rPr lang="zh-CN" altLang="en-US" sz="2800"/>
              <a:t>标志</a:t>
            </a:r>
          </a:p>
        </p:txBody>
      </p:sp>
      <p:sp>
        <p:nvSpPr>
          <p:cNvPr id="84996" name="AutoShape 4">
            <a:extLst>
              <a:ext uri="{FF2B5EF4-FFF2-40B4-BE49-F238E27FC236}">
                <a16:creationId xmlns:a16="http://schemas.microsoft.com/office/drawing/2014/main" id="{A8A50389-E066-0050-5D4C-E6BBD8D0DBE9}"/>
              </a:ext>
            </a:extLst>
          </p:cNvPr>
          <p:cNvSpPr>
            <a:spLocks noChangeArrowheads="1"/>
          </p:cNvSpPr>
          <p:nvPr/>
        </p:nvSpPr>
        <p:spPr bwMode="auto">
          <a:xfrm>
            <a:off x="2605088" y="4972050"/>
            <a:ext cx="6226175" cy="1003300"/>
          </a:xfrm>
          <a:prstGeom prst="roundRect">
            <a:avLst>
              <a:gd name="adj" fmla="val 16667"/>
            </a:avLst>
          </a:prstGeom>
          <a:solidFill>
            <a:schemeClr val="bg1"/>
          </a:solidFill>
          <a:ln w="9525">
            <a:solidFill>
              <a:srgbClr val="009900"/>
            </a:solidFill>
            <a:round/>
            <a:headEnd/>
            <a:tailEnd/>
          </a:ln>
          <a:effectLst>
            <a:outerShdw dist="35921" dir="2700000" algn="ctr" rotWithShape="0">
              <a:schemeClr val="bg2"/>
            </a:outerShdw>
          </a:effectLst>
        </p:spPr>
        <p:txBody>
          <a:bodyPr wrap="none" anchor="ctr"/>
          <a:lstStyle>
            <a:lvl1pPr>
              <a:tabLst>
                <a:tab pos="3043238" algn="l"/>
              </a:tabLst>
              <a:defRPr>
                <a:solidFill>
                  <a:schemeClr val="tx1"/>
                </a:solidFill>
                <a:latin typeface="Arial" panose="020B0604020202020204" pitchFamily="34" charset="0"/>
                <a:ea typeface="宋体" panose="02010600030101010101" pitchFamily="2" charset="-122"/>
              </a:defRPr>
            </a:lvl1pPr>
            <a:lvl2pPr>
              <a:tabLst>
                <a:tab pos="3043238" algn="l"/>
              </a:tabLst>
              <a:defRPr>
                <a:solidFill>
                  <a:schemeClr val="tx1"/>
                </a:solidFill>
                <a:latin typeface="Arial" panose="020B0604020202020204" pitchFamily="34" charset="0"/>
                <a:ea typeface="宋体" panose="02010600030101010101" pitchFamily="2" charset="-122"/>
              </a:defRPr>
            </a:lvl2pPr>
            <a:lvl3pPr>
              <a:tabLst>
                <a:tab pos="3043238" algn="l"/>
              </a:tabLst>
              <a:defRPr>
                <a:solidFill>
                  <a:schemeClr val="tx1"/>
                </a:solidFill>
                <a:latin typeface="Arial" panose="020B0604020202020204" pitchFamily="34" charset="0"/>
                <a:ea typeface="宋体" panose="02010600030101010101" pitchFamily="2" charset="-122"/>
              </a:defRPr>
            </a:lvl3pPr>
            <a:lvl4pPr>
              <a:tabLst>
                <a:tab pos="3043238" algn="l"/>
              </a:tabLst>
              <a:defRPr>
                <a:solidFill>
                  <a:schemeClr val="tx1"/>
                </a:solidFill>
                <a:latin typeface="Arial" panose="020B0604020202020204" pitchFamily="34" charset="0"/>
                <a:ea typeface="宋体" panose="02010600030101010101" pitchFamily="2" charset="-122"/>
              </a:defRPr>
            </a:lvl4pPr>
            <a:lvl5pPr>
              <a:tabLst>
                <a:tab pos="3043238"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3043238"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3043238"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3043238"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3043238" algn="l"/>
              </a:tabLst>
              <a:defRPr>
                <a:solidFill>
                  <a:schemeClr val="tx1"/>
                </a:solidFill>
                <a:latin typeface="Arial" panose="020B0604020202020204" pitchFamily="34" charset="0"/>
                <a:ea typeface="宋体" panose="02010600030101010101" pitchFamily="2" charset="-122"/>
              </a:defRPr>
            </a:lvl9pPr>
          </a:lstStyle>
          <a:p>
            <a:pPr algn="just"/>
            <a:r>
              <a:rPr lang="en-US" altLang="zh-CN" sz="2800" b="1">
                <a:effectLst/>
              </a:rPr>
              <a:t>inc si	</a:t>
            </a:r>
            <a:r>
              <a:rPr lang="zh-CN" altLang="en-US" sz="2800" b="1">
                <a:effectLst/>
              </a:rPr>
              <a:t>；</a:t>
            </a:r>
            <a:r>
              <a:rPr lang="en-US" altLang="zh-CN" sz="2800" b="1">
                <a:effectLst/>
              </a:rPr>
              <a:t>si←si</a:t>
            </a:r>
            <a:r>
              <a:rPr lang="zh-CN" altLang="en-US" sz="2800" b="1">
                <a:effectLst/>
              </a:rPr>
              <a:t>＋</a:t>
            </a:r>
            <a:r>
              <a:rPr lang="en-US" altLang="zh-CN" sz="2800" b="1">
                <a:effectLst/>
              </a:rPr>
              <a:t>1</a:t>
            </a:r>
          </a:p>
          <a:p>
            <a:pPr algn="just"/>
            <a:r>
              <a:rPr lang="en-US" altLang="zh-CN" sz="2800" b="1">
                <a:effectLst/>
              </a:rPr>
              <a:t>dec byte ptr [si]	</a:t>
            </a:r>
            <a:r>
              <a:rPr lang="zh-CN" altLang="en-US" sz="2800" b="1">
                <a:effectLst/>
              </a:rPr>
              <a:t>；</a:t>
            </a:r>
            <a:r>
              <a:rPr lang="en-US" altLang="zh-CN" sz="2800" b="1">
                <a:effectLst/>
              </a:rPr>
              <a:t>[si]←[si]</a:t>
            </a:r>
            <a:r>
              <a:rPr lang="zh-CN" altLang="en-US" sz="2800" b="1">
                <a:effectLst/>
              </a:rPr>
              <a:t>－</a:t>
            </a:r>
            <a:r>
              <a:rPr lang="en-US" altLang="zh-CN" sz="2800" b="1">
                <a:effectLst/>
              </a:rPr>
              <a:t>1</a:t>
            </a:r>
          </a:p>
        </p:txBody>
      </p:sp>
    </p:spTree>
  </p:cSld>
  <p:clrMapOvr>
    <a:masterClrMapping/>
  </p:clrMapOvr>
  <p:transition>
    <p:random/>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EAF7B4B4-4DB8-20DC-FB4F-4B1DF79903BA}"/>
              </a:ext>
            </a:extLst>
          </p:cNvPr>
          <p:cNvSpPr>
            <a:spLocks noGrp="1" noChangeArrowheads="1"/>
          </p:cNvSpPr>
          <p:nvPr>
            <p:ph type="title"/>
          </p:nvPr>
        </p:nvSpPr>
        <p:spPr/>
        <p:txBody>
          <a:bodyPr/>
          <a:lstStyle/>
          <a:p>
            <a:r>
              <a:rPr lang="en-US" altLang="zh-CN"/>
              <a:t>5. </a:t>
            </a:r>
            <a:r>
              <a:rPr lang="zh-CN" altLang="en-US"/>
              <a:t>求补指令</a:t>
            </a:r>
            <a:r>
              <a:rPr lang="en-US" altLang="zh-CN"/>
              <a:t>NEG</a:t>
            </a:r>
            <a:r>
              <a:rPr lang="zh-CN" altLang="en-US"/>
              <a:t>（</a:t>
            </a:r>
            <a:r>
              <a:rPr lang="en-US" altLang="zh-CN"/>
              <a:t>negtive</a:t>
            </a:r>
            <a:r>
              <a:rPr lang="zh-CN" altLang="en-US"/>
              <a:t>）</a:t>
            </a:r>
          </a:p>
        </p:txBody>
      </p:sp>
      <p:sp>
        <p:nvSpPr>
          <p:cNvPr id="86019" name="Rectangle 3">
            <a:extLst>
              <a:ext uri="{FF2B5EF4-FFF2-40B4-BE49-F238E27FC236}">
                <a16:creationId xmlns:a16="http://schemas.microsoft.com/office/drawing/2014/main" id="{059DE8B7-3797-F9AE-1A52-C4A0952F25A2}"/>
              </a:ext>
            </a:extLst>
          </p:cNvPr>
          <p:cNvSpPr>
            <a:spLocks noGrp="1" noChangeArrowheads="1"/>
          </p:cNvSpPr>
          <p:nvPr>
            <p:ph type="body" idx="1"/>
          </p:nvPr>
        </p:nvSpPr>
        <p:spPr/>
        <p:txBody>
          <a:bodyPr/>
          <a:lstStyle/>
          <a:p>
            <a:pPr>
              <a:buFontTx/>
              <a:buNone/>
            </a:pPr>
            <a:r>
              <a:rPr lang="en-US" altLang="zh-CN" dirty="0">
                <a:solidFill>
                  <a:schemeClr val="tx1"/>
                </a:solidFill>
              </a:rPr>
              <a:t>NEG reg/mem</a:t>
            </a:r>
            <a:r>
              <a:rPr lang="en-US" altLang="zh-CN" dirty="0"/>
              <a:t>	</a:t>
            </a:r>
          </a:p>
          <a:p>
            <a:pPr>
              <a:buFontTx/>
              <a:buNone/>
            </a:pPr>
            <a:r>
              <a:rPr lang="en-US" altLang="zh-CN" dirty="0"/>
              <a:t>		</a:t>
            </a:r>
            <a:r>
              <a:rPr lang="zh-CN" altLang="en-US" dirty="0">
                <a:solidFill>
                  <a:srgbClr val="006600"/>
                </a:solidFill>
              </a:rPr>
              <a:t>；</a:t>
            </a:r>
            <a:r>
              <a:rPr lang="en-US" altLang="zh-CN" dirty="0">
                <a:solidFill>
                  <a:srgbClr val="006600"/>
                </a:solidFill>
              </a:rPr>
              <a:t>reg/mem←0</a:t>
            </a:r>
            <a:r>
              <a:rPr lang="zh-CN" altLang="en-US" dirty="0">
                <a:solidFill>
                  <a:srgbClr val="006600"/>
                </a:solidFill>
              </a:rPr>
              <a:t>－</a:t>
            </a:r>
            <a:r>
              <a:rPr lang="en-US" altLang="zh-CN" dirty="0">
                <a:solidFill>
                  <a:srgbClr val="006600"/>
                </a:solidFill>
              </a:rPr>
              <a:t>reg/mem</a:t>
            </a:r>
          </a:p>
          <a:p>
            <a:r>
              <a:rPr lang="en-US" altLang="zh-CN" dirty="0"/>
              <a:t>NEG</a:t>
            </a:r>
            <a:r>
              <a:rPr lang="zh-CN" altLang="en-US" dirty="0"/>
              <a:t>指令对操作数执行</a:t>
            </a:r>
            <a:r>
              <a:rPr lang="zh-CN" altLang="en-US" dirty="0">
                <a:solidFill>
                  <a:srgbClr val="006600"/>
                </a:solidFill>
              </a:rPr>
              <a:t>求补运算</a:t>
            </a:r>
            <a:r>
              <a:rPr lang="zh-CN" altLang="en-US" dirty="0"/>
              <a:t>，即用零减去操作数，然后结果返回操作数</a:t>
            </a:r>
          </a:p>
          <a:p>
            <a:r>
              <a:rPr lang="zh-CN" altLang="en-US" dirty="0"/>
              <a:t>求补运算也可以表达成：</a:t>
            </a:r>
            <a:r>
              <a:rPr lang="zh-CN" altLang="en-US" dirty="0">
                <a:solidFill>
                  <a:srgbClr val="0000FF"/>
                </a:solidFill>
              </a:rPr>
              <a:t>将操作数按位取反后加</a:t>
            </a:r>
            <a:r>
              <a:rPr lang="en-US" altLang="zh-CN" dirty="0">
                <a:solidFill>
                  <a:srgbClr val="0000FF"/>
                </a:solidFill>
              </a:rPr>
              <a:t>1</a:t>
            </a:r>
          </a:p>
          <a:p>
            <a:r>
              <a:rPr lang="en-US" altLang="zh-CN" dirty="0"/>
              <a:t>NEG</a:t>
            </a:r>
            <a:r>
              <a:rPr lang="zh-CN" altLang="en-US" dirty="0"/>
              <a:t>指令对标志的影响与用零作减法的</a:t>
            </a:r>
            <a:r>
              <a:rPr lang="en-US" altLang="zh-CN" dirty="0"/>
              <a:t>SUB</a:t>
            </a:r>
            <a:r>
              <a:rPr lang="zh-CN" altLang="en-US" dirty="0"/>
              <a:t>指令一样</a:t>
            </a:r>
          </a:p>
          <a:p>
            <a:r>
              <a:rPr lang="en-US" altLang="zh-CN" dirty="0"/>
              <a:t>NEG</a:t>
            </a:r>
            <a:r>
              <a:rPr lang="zh-CN" altLang="en-US" dirty="0"/>
              <a:t>指令也是一个单操作数指令</a:t>
            </a:r>
          </a:p>
        </p:txBody>
      </p:sp>
    </p:spTree>
  </p:cSld>
  <p:clrMapOvr>
    <a:masterClrMapping/>
  </p:clrMapOvr>
  <p:transition>
    <p:random/>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E6BE5CC0-049B-65E9-564C-E1E7FD30F06F}"/>
              </a:ext>
            </a:extLst>
          </p:cNvPr>
          <p:cNvSpPr>
            <a:spLocks noGrp="1" noChangeArrowheads="1"/>
          </p:cNvSpPr>
          <p:nvPr>
            <p:ph type="title"/>
          </p:nvPr>
        </p:nvSpPr>
        <p:spPr/>
        <p:txBody>
          <a:bodyPr/>
          <a:lstStyle/>
          <a:p>
            <a:r>
              <a:rPr lang="en-US" altLang="zh-CN" dirty="0"/>
              <a:t>6.</a:t>
            </a:r>
            <a:r>
              <a:rPr lang="zh-CN" altLang="en-US" dirty="0"/>
              <a:t>符号扩展指令</a:t>
            </a:r>
          </a:p>
        </p:txBody>
      </p:sp>
      <p:sp>
        <p:nvSpPr>
          <p:cNvPr id="88067" name="Rectangle 3">
            <a:extLst>
              <a:ext uri="{FF2B5EF4-FFF2-40B4-BE49-F238E27FC236}">
                <a16:creationId xmlns:a16="http://schemas.microsoft.com/office/drawing/2014/main" id="{4E466296-79D6-847F-667B-F22FED95870E}"/>
              </a:ext>
            </a:extLst>
          </p:cNvPr>
          <p:cNvSpPr>
            <a:spLocks noGrp="1" noChangeArrowheads="1"/>
          </p:cNvSpPr>
          <p:nvPr>
            <p:ph type="body" idx="1"/>
          </p:nvPr>
        </p:nvSpPr>
        <p:spPr>
          <a:xfrm>
            <a:off x="468313" y="981075"/>
            <a:ext cx="8229600" cy="4470400"/>
          </a:xfrm>
        </p:spPr>
        <p:txBody>
          <a:bodyPr/>
          <a:lstStyle/>
          <a:p>
            <a:pPr>
              <a:tabLst>
                <a:tab pos="2154238" algn="l"/>
              </a:tabLst>
            </a:pPr>
            <a:r>
              <a:rPr lang="zh-CN" altLang="en-US" sz="2800"/>
              <a:t>符号扩展是指用一个操作数的符号位（最高位）形成另一个操作数，后一个操作数的高位是全</a:t>
            </a:r>
            <a:r>
              <a:rPr lang="en-US" altLang="zh-CN" sz="2800"/>
              <a:t>0</a:t>
            </a:r>
            <a:r>
              <a:rPr lang="zh-CN" altLang="en-US" sz="2800"/>
              <a:t>（正数）或全</a:t>
            </a:r>
            <a:r>
              <a:rPr lang="en-US" altLang="zh-CN" sz="2800"/>
              <a:t>1</a:t>
            </a:r>
            <a:r>
              <a:rPr lang="zh-CN" altLang="en-US" sz="2800"/>
              <a:t>（负数）</a:t>
            </a:r>
          </a:p>
          <a:p>
            <a:pPr>
              <a:tabLst>
                <a:tab pos="2154238" algn="l"/>
              </a:tabLst>
            </a:pPr>
            <a:r>
              <a:rPr lang="zh-CN" altLang="en-US" sz="2800"/>
              <a:t>符号扩展虽然使数据位数加长，但数据大小并没有改变，扩展的高部分仅是低部分的符号扩展</a:t>
            </a:r>
          </a:p>
          <a:p>
            <a:pPr>
              <a:tabLst>
                <a:tab pos="2154238" algn="l"/>
              </a:tabLst>
            </a:pPr>
            <a:r>
              <a:rPr lang="zh-CN" altLang="en-US" sz="2800"/>
              <a:t>符号扩展指令有两条，用来将字节转换为字，字转换为双字</a:t>
            </a:r>
          </a:p>
          <a:p>
            <a:pPr>
              <a:buFontTx/>
              <a:buNone/>
              <a:tabLst>
                <a:tab pos="2154238" algn="l"/>
              </a:tabLst>
            </a:pPr>
            <a:r>
              <a:rPr lang="zh-CN" altLang="en-US" sz="2800">
                <a:solidFill>
                  <a:srgbClr val="CC0099"/>
                </a:solidFill>
              </a:rPr>
              <a:t>	</a:t>
            </a:r>
            <a:r>
              <a:rPr lang="en-US" altLang="zh-CN" sz="2800">
                <a:solidFill>
                  <a:schemeClr val="tx1"/>
                </a:solidFill>
              </a:rPr>
              <a:t>CBW</a:t>
            </a:r>
            <a:r>
              <a:rPr lang="en-US" altLang="zh-CN" sz="2800"/>
              <a:t>	</a:t>
            </a:r>
            <a:r>
              <a:rPr lang="zh-CN" altLang="en-US" sz="2800">
                <a:solidFill>
                  <a:srgbClr val="006600"/>
                </a:solidFill>
              </a:rPr>
              <a:t>；</a:t>
            </a:r>
            <a:r>
              <a:rPr lang="en-US" altLang="zh-CN" sz="2800">
                <a:solidFill>
                  <a:srgbClr val="006600"/>
                </a:solidFill>
              </a:rPr>
              <a:t>AL</a:t>
            </a:r>
            <a:r>
              <a:rPr lang="zh-CN" altLang="en-US" sz="2800">
                <a:solidFill>
                  <a:srgbClr val="006600"/>
                </a:solidFill>
              </a:rPr>
              <a:t>符号扩展成</a:t>
            </a:r>
            <a:r>
              <a:rPr lang="en-US" altLang="zh-CN" sz="2800">
                <a:solidFill>
                  <a:srgbClr val="006600"/>
                </a:solidFill>
              </a:rPr>
              <a:t>AX</a:t>
            </a:r>
          </a:p>
          <a:p>
            <a:pPr>
              <a:buFontTx/>
              <a:buNone/>
              <a:tabLst>
                <a:tab pos="2154238" algn="l"/>
              </a:tabLst>
            </a:pPr>
            <a:r>
              <a:rPr lang="en-US" altLang="zh-CN" sz="2800">
                <a:solidFill>
                  <a:srgbClr val="CC0099"/>
                </a:solidFill>
              </a:rPr>
              <a:t>	</a:t>
            </a:r>
            <a:r>
              <a:rPr lang="en-US" altLang="zh-CN" sz="2800">
                <a:solidFill>
                  <a:schemeClr val="tx1"/>
                </a:solidFill>
              </a:rPr>
              <a:t>CWD</a:t>
            </a:r>
            <a:r>
              <a:rPr lang="en-US" altLang="zh-CN" sz="2800"/>
              <a:t>	</a:t>
            </a:r>
            <a:r>
              <a:rPr lang="zh-CN" altLang="en-US" sz="2800">
                <a:solidFill>
                  <a:srgbClr val="006600"/>
                </a:solidFill>
              </a:rPr>
              <a:t>；</a:t>
            </a:r>
            <a:r>
              <a:rPr lang="en-US" altLang="zh-CN" sz="2800">
                <a:solidFill>
                  <a:srgbClr val="006600"/>
                </a:solidFill>
              </a:rPr>
              <a:t>AX</a:t>
            </a:r>
            <a:r>
              <a:rPr lang="zh-CN" altLang="en-US" sz="2800">
                <a:solidFill>
                  <a:srgbClr val="006600"/>
                </a:solidFill>
              </a:rPr>
              <a:t>符号扩展成</a:t>
            </a:r>
            <a:r>
              <a:rPr lang="en-US" altLang="zh-CN" sz="2800">
                <a:solidFill>
                  <a:srgbClr val="006600"/>
                </a:solidFill>
              </a:rPr>
              <a:t>DX</a:t>
            </a:r>
          </a:p>
        </p:txBody>
      </p:sp>
    </p:spTree>
  </p:cSld>
  <p:clrMapOvr>
    <a:masterClrMapping/>
  </p:clrMapOvr>
  <p:transition>
    <p:random/>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520A6210-CCE8-41D7-555E-F89BFD77E70A}"/>
              </a:ext>
            </a:extLst>
          </p:cNvPr>
          <p:cNvSpPr>
            <a:spLocks noGrp="1" noChangeArrowheads="1"/>
          </p:cNvSpPr>
          <p:nvPr>
            <p:ph type="title"/>
          </p:nvPr>
        </p:nvSpPr>
        <p:spPr/>
        <p:txBody>
          <a:bodyPr/>
          <a:lstStyle/>
          <a:p>
            <a:r>
              <a:rPr lang="en-US" altLang="zh-CN" dirty="0"/>
              <a:t>7. </a:t>
            </a:r>
            <a:r>
              <a:rPr lang="zh-CN" altLang="en-US" dirty="0"/>
              <a:t>乘法和除法指令</a:t>
            </a:r>
          </a:p>
        </p:txBody>
      </p:sp>
      <p:sp>
        <p:nvSpPr>
          <p:cNvPr id="90115" name="Rectangle 3">
            <a:extLst>
              <a:ext uri="{FF2B5EF4-FFF2-40B4-BE49-F238E27FC236}">
                <a16:creationId xmlns:a16="http://schemas.microsoft.com/office/drawing/2014/main" id="{4C38243A-A46D-D1AF-F083-EC32D0015E18}"/>
              </a:ext>
            </a:extLst>
          </p:cNvPr>
          <p:cNvSpPr>
            <a:spLocks noGrp="1" noChangeArrowheads="1"/>
          </p:cNvSpPr>
          <p:nvPr>
            <p:ph type="body" idx="1"/>
          </p:nvPr>
        </p:nvSpPr>
        <p:spPr>
          <a:xfrm>
            <a:off x="430213" y="1193800"/>
            <a:ext cx="8229600" cy="3530600"/>
          </a:xfrm>
        </p:spPr>
        <p:txBody>
          <a:bodyPr/>
          <a:lstStyle/>
          <a:p>
            <a:pPr>
              <a:tabLst>
                <a:tab pos="3582988" algn="l"/>
              </a:tabLst>
            </a:pPr>
            <a:r>
              <a:rPr lang="zh-CN" altLang="en-US"/>
              <a:t>乘法指令分</a:t>
            </a:r>
            <a:r>
              <a:rPr lang="zh-CN" altLang="en-US">
                <a:solidFill>
                  <a:srgbClr val="006600"/>
                </a:solidFill>
              </a:rPr>
              <a:t>无符号</a:t>
            </a:r>
            <a:r>
              <a:rPr lang="zh-CN" altLang="en-US"/>
              <a:t>和</a:t>
            </a:r>
            <a:r>
              <a:rPr lang="zh-CN" altLang="en-US">
                <a:solidFill>
                  <a:srgbClr val="006600"/>
                </a:solidFill>
              </a:rPr>
              <a:t>有符号</a:t>
            </a:r>
            <a:r>
              <a:rPr lang="zh-CN" altLang="en-US"/>
              <a:t>乘法指令</a:t>
            </a:r>
          </a:p>
          <a:p>
            <a:pPr lvl="1">
              <a:buFontTx/>
              <a:buNone/>
              <a:tabLst>
                <a:tab pos="3582988" algn="l"/>
              </a:tabLst>
            </a:pPr>
            <a:r>
              <a:rPr lang="en-US" altLang="zh-CN"/>
              <a:t>MUL reg/mem	</a:t>
            </a:r>
            <a:r>
              <a:rPr lang="zh-CN" altLang="en-US"/>
              <a:t>；无符号乘法</a:t>
            </a:r>
            <a:endParaRPr lang="zh-CN" altLang="en-US">
              <a:hlinkClick r:id="rId2" action="ppaction://hlinksldjump"/>
            </a:endParaRPr>
          </a:p>
          <a:p>
            <a:pPr lvl="1">
              <a:buFontTx/>
              <a:buNone/>
              <a:tabLst>
                <a:tab pos="3582988" algn="l"/>
              </a:tabLst>
            </a:pPr>
            <a:r>
              <a:rPr lang="en-US" altLang="zh-CN"/>
              <a:t>IMUL reg/mem	</a:t>
            </a:r>
            <a:r>
              <a:rPr lang="zh-CN" altLang="en-US"/>
              <a:t>；有符号乘法</a:t>
            </a:r>
            <a:endParaRPr lang="zh-CN" altLang="en-US">
              <a:hlinkClick r:id="rId2" action="ppaction://hlinksldjump"/>
            </a:endParaRPr>
          </a:p>
          <a:p>
            <a:pPr>
              <a:tabLst>
                <a:tab pos="3582988" algn="l"/>
              </a:tabLst>
            </a:pPr>
            <a:r>
              <a:rPr lang="zh-CN" altLang="en-US"/>
              <a:t>除法指令分</a:t>
            </a:r>
            <a:r>
              <a:rPr lang="zh-CN" altLang="en-US">
                <a:solidFill>
                  <a:srgbClr val="006600"/>
                </a:solidFill>
              </a:rPr>
              <a:t>无符号</a:t>
            </a:r>
            <a:r>
              <a:rPr lang="zh-CN" altLang="en-US"/>
              <a:t>和</a:t>
            </a:r>
            <a:r>
              <a:rPr lang="zh-CN" altLang="en-US">
                <a:solidFill>
                  <a:srgbClr val="006600"/>
                </a:solidFill>
              </a:rPr>
              <a:t>有符号</a:t>
            </a:r>
            <a:r>
              <a:rPr lang="zh-CN" altLang="en-US"/>
              <a:t>除法指令</a:t>
            </a:r>
          </a:p>
          <a:p>
            <a:pPr lvl="1">
              <a:buFontTx/>
              <a:buNone/>
              <a:tabLst>
                <a:tab pos="3582988" algn="l"/>
              </a:tabLst>
            </a:pPr>
            <a:r>
              <a:rPr lang="en-US" altLang="zh-CN"/>
              <a:t>DIV reg/mem	</a:t>
            </a:r>
            <a:r>
              <a:rPr lang="zh-CN" altLang="en-US"/>
              <a:t>；无符号除法</a:t>
            </a:r>
            <a:endParaRPr lang="zh-CN" altLang="en-US">
              <a:hlinkClick r:id="rId2" action="ppaction://hlinksldjump"/>
            </a:endParaRPr>
          </a:p>
          <a:p>
            <a:pPr lvl="1">
              <a:buFontTx/>
              <a:buNone/>
              <a:tabLst>
                <a:tab pos="3582988" algn="l"/>
              </a:tabLst>
            </a:pPr>
            <a:r>
              <a:rPr lang="en-US" altLang="zh-CN"/>
              <a:t>IDIV reg/mem	</a:t>
            </a:r>
            <a:r>
              <a:rPr lang="zh-CN" altLang="en-US"/>
              <a:t>；有符号</a:t>
            </a:r>
            <a:r>
              <a:rPr lang="zh-CN" altLang="zh-CN"/>
              <a:t>除</a:t>
            </a:r>
            <a:r>
              <a:rPr lang="zh-CN" altLang="en-US"/>
              <a:t>法</a:t>
            </a:r>
          </a:p>
        </p:txBody>
      </p:sp>
    </p:spTree>
  </p:cSld>
  <p:clrMapOvr>
    <a:masterClrMapping/>
  </p:clrMapOvr>
  <p:transition>
    <p:random/>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a:extLst>
              <a:ext uri="{FF2B5EF4-FFF2-40B4-BE49-F238E27FC236}">
                <a16:creationId xmlns:a16="http://schemas.microsoft.com/office/drawing/2014/main" id="{110F1663-ACC3-911F-E5C1-A39B11323F79}"/>
              </a:ext>
            </a:extLst>
          </p:cNvPr>
          <p:cNvSpPr>
            <a:spLocks noGrp="1" noChangeArrowheads="1"/>
          </p:cNvSpPr>
          <p:nvPr>
            <p:ph type="title"/>
          </p:nvPr>
        </p:nvSpPr>
        <p:spPr/>
        <p:txBody>
          <a:bodyPr/>
          <a:lstStyle/>
          <a:p>
            <a:r>
              <a:rPr lang="en-US" altLang="zh-CN" dirty="0"/>
              <a:t>8. </a:t>
            </a:r>
            <a:r>
              <a:rPr lang="zh-CN" altLang="en-US" dirty="0"/>
              <a:t>十进制调整指令 </a:t>
            </a:r>
          </a:p>
        </p:txBody>
      </p:sp>
      <p:sp>
        <p:nvSpPr>
          <p:cNvPr id="207875" name="Rectangle 3">
            <a:extLst>
              <a:ext uri="{FF2B5EF4-FFF2-40B4-BE49-F238E27FC236}">
                <a16:creationId xmlns:a16="http://schemas.microsoft.com/office/drawing/2014/main" id="{AE2B397B-8B83-ABA7-BEDC-43FB7608DCCD}"/>
              </a:ext>
            </a:extLst>
          </p:cNvPr>
          <p:cNvSpPr>
            <a:spLocks noGrp="1" noChangeArrowheads="1"/>
          </p:cNvSpPr>
          <p:nvPr>
            <p:ph type="body" idx="1"/>
          </p:nvPr>
        </p:nvSpPr>
        <p:spPr/>
        <p:txBody>
          <a:bodyPr/>
          <a:lstStyle/>
          <a:p>
            <a:r>
              <a:rPr lang="zh-CN" altLang="en-US" dirty="0">
                <a:latin typeface="宋体" panose="02010600030101010101" pitchFamily="2" charset="-122"/>
              </a:rPr>
              <a:t>十进制数调整指令对二进制运算的结果进行十进制调整，以得到十进制的运算结果，以此实现十进制</a:t>
            </a:r>
            <a:r>
              <a:rPr lang="en-US" altLang="zh-CN" dirty="0">
                <a:latin typeface="宋体" panose="02010600030101010101" pitchFamily="2" charset="-122"/>
              </a:rPr>
              <a:t>BCD</a:t>
            </a:r>
            <a:r>
              <a:rPr lang="zh-CN" altLang="en-US" dirty="0">
                <a:latin typeface="宋体" panose="02010600030101010101" pitchFamily="2" charset="-122"/>
              </a:rPr>
              <a:t>码运算</a:t>
            </a:r>
          </a:p>
          <a:p>
            <a:r>
              <a:rPr lang="en-US" altLang="zh-CN" dirty="0">
                <a:latin typeface="宋体" panose="02010600030101010101" pitchFamily="2" charset="-122"/>
              </a:rPr>
              <a:t>8088</a:t>
            </a:r>
            <a:r>
              <a:rPr lang="zh-CN" altLang="en-US" dirty="0">
                <a:latin typeface="宋体" panose="02010600030101010101" pitchFamily="2" charset="-122"/>
              </a:rPr>
              <a:t>指令系统支持两种</a:t>
            </a:r>
            <a:r>
              <a:rPr lang="en-US" altLang="zh-CN" dirty="0">
                <a:latin typeface="宋体" panose="02010600030101010101" pitchFamily="2" charset="-122"/>
              </a:rPr>
              <a:t>BCD</a:t>
            </a:r>
            <a:r>
              <a:rPr lang="zh-CN" altLang="en-US" dirty="0">
                <a:latin typeface="宋体" panose="02010600030101010101" pitchFamily="2" charset="-122"/>
              </a:rPr>
              <a:t>码调整运算</a:t>
            </a:r>
          </a:p>
          <a:p>
            <a:pPr lvl="1">
              <a:buClr>
                <a:schemeClr val="bg2"/>
              </a:buClr>
              <a:buFont typeface="Wingdings" panose="05000000000000000000" pitchFamily="2" charset="2"/>
              <a:buChar char="q"/>
            </a:pPr>
            <a:r>
              <a:rPr lang="zh-CN" altLang="en-US" dirty="0">
                <a:solidFill>
                  <a:srgbClr val="006600"/>
                </a:solidFill>
              </a:rPr>
              <a:t>压缩</a:t>
            </a:r>
            <a:r>
              <a:rPr lang="en-US" altLang="zh-CN" dirty="0">
                <a:solidFill>
                  <a:srgbClr val="006600"/>
                </a:solidFill>
              </a:rPr>
              <a:t>BCD</a:t>
            </a:r>
            <a:r>
              <a:rPr lang="zh-CN" altLang="en-US" dirty="0">
                <a:solidFill>
                  <a:srgbClr val="006600"/>
                </a:solidFill>
              </a:rPr>
              <a:t>码</a:t>
            </a:r>
            <a:r>
              <a:rPr lang="zh-CN" altLang="en-US" dirty="0">
                <a:solidFill>
                  <a:schemeClr val="tx2"/>
                </a:solidFill>
              </a:rPr>
              <a:t>就是通常的</a:t>
            </a:r>
            <a:r>
              <a:rPr lang="en-US" altLang="zh-CN" dirty="0">
                <a:solidFill>
                  <a:schemeClr val="tx2"/>
                </a:solidFill>
              </a:rPr>
              <a:t>8421</a:t>
            </a:r>
            <a:r>
              <a:rPr lang="zh-CN" altLang="en-US" dirty="0">
                <a:solidFill>
                  <a:schemeClr val="tx2"/>
                </a:solidFill>
              </a:rPr>
              <a:t>码；它用</a:t>
            </a:r>
            <a:r>
              <a:rPr lang="en-US" altLang="zh-CN" dirty="0">
                <a:solidFill>
                  <a:schemeClr val="tx2"/>
                </a:solidFill>
              </a:rPr>
              <a:t>4</a:t>
            </a:r>
            <a:r>
              <a:rPr lang="zh-CN" altLang="en-US" dirty="0">
                <a:solidFill>
                  <a:schemeClr val="tx2"/>
                </a:solidFill>
              </a:rPr>
              <a:t>个二进制位表示一个十进制位，一个字节可以表示两个十进制位，即</a:t>
            </a:r>
            <a:r>
              <a:rPr lang="en-US" altLang="zh-CN" dirty="0">
                <a:solidFill>
                  <a:schemeClr val="tx2"/>
                </a:solidFill>
              </a:rPr>
              <a:t>00</a:t>
            </a:r>
            <a:r>
              <a:rPr lang="zh-CN" altLang="en-US" dirty="0">
                <a:solidFill>
                  <a:schemeClr val="tx2"/>
                </a:solidFill>
              </a:rPr>
              <a:t>～</a:t>
            </a:r>
            <a:r>
              <a:rPr lang="en-US" altLang="zh-CN" dirty="0">
                <a:solidFill>
                  <a:schemeClr val="tx2"/>
                </a:solidFill>
              </a:rPr>
              <a:t>99</a:t>
            </a:r>
          </a:p>
          <a:p>
            <a:pPr lvl="1">
              <a:buClr>
                <a:schemeClr val="bg2"/>
              </a:buClr>
              <a:buFont typeface="Wingdings" panose="05000000000000000000" pitchFamily="2" charset="2"/>
              <a:buChar char="q"/>
            </a:pPr>
            <a:r>
              <a:rPr lang="zh-CN" altLang="en-US" dirty="0">
                <a:solidFill>
                  <a:srgbClr val="006600"/>
                </a:solidFill>
              </a:rPr>
              <a:t>非压缩</a:t>
            </a:r>
            <a:r>
              <a:rPr lang="en-US" altLang="zh-CN" dirty="0">
                <a:solidFill>
                  <a:srgbClr val="006600"/>
                </a:solidFill>
              </a:rPr>
              <a:t>BCD</a:t>
            </a:r>
            <a:r>
              <a:rPr lang="zh-CN" altLang="en-US" dirty="0">
                <a:solidFill>
                  <a:srgbClr val="006600"/>
                </a:solidFill>
              </a:rPr>
              <a:t>码</a:t>
            </a:r>
            <a:r>
              <a:rPr lang="zh-CN" altLang="en-US" dirty="0">
                <a:solidFill>
                  <a:schemeClr val="tx2"/>
                </a:solidFill>
              </a:rPr>
              <a:t>用</a:t>
            </a:r>
            <a:r>
              <a:rPr lang="en-US" altLang="zh-CN" dirty="0">
                <a:solidFill>
                  <a:schemeClr val="tx2"/>
                </a:solidFill>
              </a:rPr>
              <a:t>8</a:t>
            </a:r>
            <a:r>
              <a:rPr lang="zh-CN" altLang="en-US" dirty="0">
                <a:solidFill>
                  <a:schemeClr val="tx2"/>
                </a:solidFill>
              </a:rPr>
              <a:t>个二进制位表示一个十进制位，只用低</a:t>
            </a:r>
            <a:r>
              <a:rPr lang="en-US" altLang="zh-CN" dirty="0">
                <a:solidFill>
                  <a:schemeClr val="tx2"/>
                </a:solidFill>
              </a:rPr>
              <a:t>4</a:t>
            </a:r>
            <a:r>
              <a:rPr lang="zh-CN" altLang="en-US" dirty="0">
                <a:solidFill>
                  <a:schemeClr val="tx2"/>
                </a:solidFill>
              </a:rPr>
              <a:t>个二进制位表示一个十进制位</a:t>
            </a:r>
            <a:r>
              <a:rPr lang="en-US" altLang="zh-CN" dirty="0">
                <a:solidFill>
                  <a:schemeClr val="tx2"/>
                </a:solidFill>
              </a:rPr>
              <a:t>0</a:t>
            </a:r>
            <a:r>
              <a:rPr lang="zh-CN" altLang="en-US" dirty="0">
                <a:solidFill>
                  <a:schemeClr val="tx2"/>
                </a:solidFill>
              </a:rPr>
              <a:t>～</a:t>
            </a:r>
            <a:r>
              <a:rPr lang="en-US" altLang="zh-CN" dirty="0">
                <a:solidFill>
                  <a:schemeClr val="tx2"/>
                </a:solidFill>
              </a:rPr>
              <a:t>9</a:t>
            </a:r>
            <a:r>
              <a:rPr lang="zh-CN" altLang="en-US" dirty="0">
                <a:solidFill>
                  <a:schemeClr val="tx2"/>
                </a:solidFill>
              </a:rPr>
              <a:t>，高</a:t>
            </a:r>
            <a:r>
              <a:rPr lang="en-US" altLang="zh-CN" dirty="0">
                <a:solidFill>
                  <a:schemeClr val="tx2"/>
                </a:solidFill>
              </a:rPr>
              <a:t>4</a:t>
            </a:r>
            <a:r>
              <a:rPr lang="zh-CN" altLang="en-US" dirty="0">
                <a:solidFill>
                  <a:schemeClr val="tx2"/>
                </a:solidFill>
              </a:rPr>
              <a:t>位任意，通常默认为</a:t>
            </a:r>
            <a:r>
              <a:rPr lang="en-US" altLang="zh-CN" dirty="0">
                <a:solidFill>
                  <a:schemeClr val="tx2"/>
                </a:solidFill>
              </a:rPr>
              <a:t>0</a:t>
            </a:r>
            <a:endParaRPr lang="en-US" altLang="zh-CN" dirty="0">
              <a:latin typeface="宋体" panose="02010600030101010101" pitchFamily="2" charset="-122"/>
            </a:endParaRPr>
          </a:p>
        </p:txBody>
      </p:sp>
    </p:spTree>
  </p:cSld>
  <p:clrMapOvr>
    <a:masterClrMapping/>
  </p:clrMapOvr>
  <p:transition>
    <p:random/>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2">
            <a:extLst>
              <a:ext uri="{FF2B5EF4-FFF2-40B4-BE49-F238E27FC236}">
                <a16:creationId xmlns:a16="http://schemas.microsoft.com/office/drawing/2014/main" id="{58C4F999-7A8B-4EB0-7497-B7AE46BB7473}"/>
              </a:ext>
            </a:extLst>
          </p:cNvPr>
          <p:cNvSpPr>
            <a:spLocks noGrp="1" noChangeArrowheads="1"/>
          </p:cNvSpPr>
          <p:nvPr>
            <p:ph type="title"/>
          </p:nvPr>
        </p:nvSpPr>
        <p:spPr/>
        <p:txBody>
          <a:bodyPr/>
          <a:lstStyle/>
          <a:p>
            <a:r>
              <a:rPr lang="en-US" altLang="zh-CN" dirty="0"/>
              <a:t>3.7.3</a:t>
            </a:r>
            <a:r>
              <a:rPr lang="zh-CN" altLang="en-US" dirty="0"/>
              <a:t>位操作类指令 </a:t>
            </a:r>
          </a:p>
        </p:txBody>
      </p:sp>
      <p:sp>
        <p:nvSpPr>
          <p:cNvPr id="326659" name="Rectangle 3">
            <a:extLst>
              <a:ext uri="{FF2B5EF4-FFF2-40B4-BE49-F238E27FC236}">
                <a16:creationId xmlns:a16="http://schemas.microsoft.com/office/drawing/2014/main" id="{2F4A32A5-B2EB-B1BC-1D3F-912A1C2932EC}"/>
              </a:ext>
            </a:extLst>
          </p:cNvPr>
          <p:cNvSpPr>
            <a:spLocks noGrp="1" noChangeArrowheads="1"/>
          </p:cNvSpPr>
          <p:nvPr>
            <p:ph type="body" idx="1"/>
          </p:nvPr>
        </p:nvSpPr>
        <p:spPr/>
        <p:txBody>
          <a:bodyPr/>
          <a:lstStyle/>
          <a:p>
            <a:r>
              <a:rPr lang="zh-CN" altLang="en-US" sz="2800"/>
              <a:t>位操作类指令以</a:t>
            </a:r>
            <a:r>
              <a:rPr lang="zh-CN" altLang="en-US" sz="2800">
                <a:solidFill>
                  <a:schemeClr val="tx1"/>
                </a:solidFill>
              </a:rPr>
              <a:t>二进制位</a:t>
            </a:r>
            <a:r>
              <a:rPr lang="zh-CN" altLang="en-US" sz="2800"/>
              <a:t>为基本单位进行数据的操作</a:t>
            </a:r>
          </a:p>
          <a:p>
            <a:r>
              <a:rPr lang="zh-CN" altLang="en-US" sz="2800"/>
              <a:t>当需要对字节或字数据中的各个二进制位操作时，可以考虑采用位操作类指令</a:t>
            </a:r>
          </a:p>
          <a:p>
            <a:r>
              <a:rPr lang="zh-CN" altLang="en-US" sz="2800"/>
              <a:t>注意这些指令对标志位的影响</a:t>
            </a:r>
          </a:p>
          <a:p>
            <a:pPr lvl="1">
              <a:buFontTx/>
              <a:buNone/>
            </a:pPr>
            <a:r>
              <a:rPr lang="en-US" altLang="zh-CN" sz="2400">
                <a:solidFill>
                  <a:srgbClr val="006600"/>
                </a:solidFill>
              </a:rPr>
              <a:t>1. </a:t>
            </a:r>
            <a:r>
              <a:rPr lang="zh-CN" altLang="en-US" sz="2400">
                <a:solidFill>
                  <a:srgbClr val="006600"/>
                </a:solidFill>
              </a:rPr>
              <a:t>逻辑运算指令</a:t>
            </a:r>
          </a:p>
          <a:p>
            <a:pPr lvl="1">
              <a:buFontTx/>
              <a:buNone/>
            </a:pPr>
            <a:r>
              <a:rPr lang="en-US" altLang="zh-CN" sz="2400"/>
              <a:t>AND  OR  XOR  NOT   TEST</a:t>
            </a:r>
          </a:p>
          <a:p>
            <a:pPr lvl="1">
              <a:buFontTx/>
              <a:buNone/>
            </a:pPr>
            <a:r>
              <a:rPr lang="en-US" altLang="zh-CN" sz="2400">
                <a:solidFill>
                  <a:srgbClr val="006600"/>
                </a:solidFill>
              </a:rPr>
              <a:t>2. </a:t>
            </a:r>
            <a:r>
              <a:rPr lang="zh-CN" altLang="en-US" sz="2400">
                <a:solidFill>
                  <a:srgbClr val="006600"/>
                </a:solidFill>
              </a:rPr>
              <a:t>移位指令</a:t>
            </a:r>
          </a:p>
          <a:p>
            <a:pPr lvl="1">
              <a:buFontTx/>
              <a:buNone/>
            </a:pPr>
            <a:r>
              <a:rPr lang="en-US" altLang="zh-CN" sz="2400"/>
              <a:t>SHL  SHR  SAR</a:t>
            </a:r>
          </a:p>
          <a:p>
            <a:pPr lvl="1">
              <a:buFontTx/>
              <a:buNone/>
            </a:pPr>
            <a:r>
              <a:rPr lang="en-US" altLang="zh-CN" sz="2400">
                <a:solidFill>
                  <a:srgbClr val="006600"/>
                </a:solidFill>
              </a:rPr>
              <a:t>3. </a:t>
            </a:r>
            <a:r>
              <a:rPr lang="zh-CN" altLang="en-US" sz="2400">
                <a:solidFill>
                  <a:srgbClr val="006600"/>
                </a:solidFill>
              </a:rPr>
              <a:t>循环移位指令</a:t>
            </a:r>
          </a:p>
          <a:p>
            <a:pPr lvl="1">
              <a:buFontTx/>
              <a:buNone/>
            </a:pPr>
            <a:r>
              <a:rPr lang="en-US" altLang="zh-CN" sz="2400"/>
              <a:t>ROL  ROR  RCL  RCR</a:t>
            </a:r>
          </a:p>
        </p:txBody>
      </p:sp>
    </p:spTree>
  </p:cSld>
  <p:clrMapOvr>
    <a:masterClrMapping/>
  </p:clrMapOvr>
  <p:transition>
    <p:random/>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2CDDB74A-E798-654B-EED0-BF4E6F9B1ED8}"/>
              </a:ext>
            </a:extLst>
          </p:cNvPr>
          <p:cNvSpPr>
            <a:spLocks noGrp="1" noChangeArrowheads="1"/>
          </p:cNvSpPr>
          <p:nvPr>
            <p:ph type="title"/>
          </p:nvPr>
        </p:nvSpPr>
        <p:spPr/>
        <p:txBody>
          <a:bodyPr/>
          <a:lstStyle/>
          <a:p>
            <a:r>
              <a:rPr lang="en-US" altLang="zh-CN" dirty="0"/>
              <a:t>1.  </a:t>
            </a:r>
            <a:r>
              <a:rPr lang="zh-CN" altLang="en-US" dirty="0"/>
              <a:t>逻辑运算指令</a:t>
            </a:r>
          </a:p>
        </p:txBody>
      </p:sp>
      <p:sp>
        <p:nvSpPr>
          <p:cNvPr id="96259" name="Rectangle 3">
            <a:extLst>
              <a:ext uri="{FF2B5EF4-FFF2-40B4-BE49-F238E27FC236}">
                <a16:creationId xmlns:a16="http://schemas.microsoft.com/office/drawing/2014/main" id="{6715698E-AEA4-E38F-72D7-E294A5B53A79}"/>
              </a:ext>
            </a:extLst>
          </p:cNvPr>
          <p:cNvSpPr>
            <a:spLocks noGrp="1" noChangeArrowheads="1"/>
          </p:cNvSpPr>
          <p:nvPr>
            <p:ph type="body" idx="1"/>
          </p:nvPr>
        </p:nvSpPr>
        <p:spPr/>
        <p:txBody>
          <a:bodyPr/>
          <a:lstStyle/>
          <a:p>
            <a:r>
              <a:rPr lang="zh-CN" altLang="en-US" dirty="0"/>
              <a:t>双操作数逻辑指令</a:t>
            </a:r>
            <a:r>
              <a:rPr lang="en-US" altLang="zh-CN" dirty="0">
                <a:solidFill>
                  <a:srgbClr val="006600"/>
                </a:solidFill>
              </a:rPr>
              <a:t>AND</a:t>
            </a:r>
            <a:r>
              <a:rPr lang="zh-CN" altLang="en-US" dirty="0">
                <a:solidFill>
                  <a:srgbClr val="006600"/>
                </a:solidFill>
              </a:rPr>
              <a:t>、</a:t>
            </a:r>
            <a:r>
              <a:rPr lang="en-US" altLang="zh-CN" dirty="0">
                <a:solidFill>
                  <a:srgbClr val="006600"/>
                </a:solidFill>
              </a:rPr>
              <a:t>OR</a:t>
            </a:r>
            <a:r>
              <a:rPr lang="zh-CN" altLang="en-US" dirty="0">
                <a:solidFill>
                  <a:srgbClr val="006600"/>
                </a:solidFill>
              </a:rPr>
              <a:t>、</a:t>
            </a:r>
            <a:r>
              <a:rPr lang="en-US" altLang="zh-CN" dirty="0">
                <a:solidFill>
                  <a:srgbClr val="006600"/>
                </a:solidFill>
              </a:rPr>
              <a:t>XOR</a:t>
            </a:r>
            <a:r>
              <a:rPr lang="zh-CN" altLang="en-US" dirty="0"/>
              <a:t>和</a:t>
            </a:r>
            <a:r>
              <a:rPr lang="en-US" altLang="zh-CN" dirty="0">
                <a:solidFill>
                  <a:srgbClr val="006600"/>
                </a:solidFill>
              </a:rPr>
              <a:t>TEST</a:t>
            </a:r>
            <a:r>
              <a:rPr lang="zh-CN" altLang="en-US" dirty="0"/>
              <a:t>设置</a:t>
            </a:r>
            <a:r>
              <a:rPr lang="en-US" altLang="zh-CN" dirty="0"/>
              <a:t>CF</a:t>
            </a:r>
            <a:r>
              <a:rPr lang="zh-CN" altLang="en-US" dirty="0"/>
              <a:t>＝</a:t>
            </a:r>
            <a:r>
              <a:rPr lang="en-US" altLang="zh-CN" dirty="0"/>
              <a:t>OF</a:t>
            </a:r>
            <a:r>
              <a:rPr lang="zh-CN" altLang="en-US" dirty="0"/>
              <a:t>＝</a:t>
            </a:r>
            <a:r>
              <a:rPr lang="en-US" altLang="zh-CN" dirty="0"/>
              <a:t>0</a:t>
            </a:r>
            <a:r>
              <a:rPr lang="zh-CN" altLang="en-US" dirty="0"/>
              <a:t>，根据结果设置</a:t>
            </a:r>
            <a:r>
              <a:rPr lang="en-US" altLang="zh-CN" dirty="0"/>
              <a:t>SF</a:t>
            </a:r>
            <a:r>
              <a:rPr lang="zh-CN" altLang="en-US" dirty="0"/>
              <a:t>、</a:t>
            </a:r>
            <a:r>
              <a:rPr lang="en-US" altLang="zh-CN" dirty="0"/>
              <a:t>ZF</a:t>
            </a:r>
            <a:r>
              <a:rPr lang="zh-CN" altLang="en-US" dirty="0"/>
              <a:t>和</a:t>
            </a:r>
            <a:r>
              <a:rPr lang="en-US" altLang="zh-CN" dirty="0"/>
              <a:t>PF</a:t>
            </a:r>
            <a:r>
              <a:rPr lang="zh-CN" altLang="en-US" dirty="0"/>
              <a:t>状态，而对</a:t>
            </a:r>
            <a:r>
              <a:rPr lang="en-US" altLang="zh-CN" dirty="0"/>
              <a:t>AF</a:t>
            </a:r>
            <a:r>
              <a:rPr lang="zh-CN" altLang="en-US" dirty="0"/>
              <a:t>未定义；它们的操作数组合与</a:t>
            </a:r>
            <a:r>
              <a:rPr lang="en-US" altLang="zh-CN" dirty="0"/>
              <a:t>ADD</a:t>
            </a:r>
            <a:r>
              <a:rPr lang="zh-CN" altLang="en-US" dirty="0"/>
              <a:t>、</a:t>
            </a:r>
            <a:r>
              <a:rPr lang="en-US" altLang="zh-CN" dirty="0"/>
              <a:t>SUB</a:t>
            </a:r>
            <a:r>
              <a:rPr lang="zh-CN" altLang="en-US" dirty="0"/>
              <a:t>等一样：</a:t>
            </a:r>
          </a:p>
          <a:p>
            <a:pPr lvl="1">
              <a:buFontTx/>
              <a:buNone/>
            </a:pPr>
            <a:r>
              <a:rPr lang="zh-CN" altLang="en-US" dirty="0"/>
              <a:t>运算指令助记符  </a:t>
            </a:r>
            <a:r>
              <a:rPr lang="en-US" altLang="zh-CN" dirty="0"/>
              <a:t>reg, </a:t>
            </a:r>
            <a:r>
              <a:rPr lang="en-US" altLang="zh-CN" dirty="0" err="1"/>
              <a:t>imm</a:t>
            </a:r>
            <a:r>
              <a:rPr lang="en-US" altLang="zh-CN" dirty="0"/>
              <a:t>/reg/mem</a:t>
            </a:r>
          </a:p>
          <a:p>
            <a:pPr lvl="1">
              <a:buFontTx/>
              <a:buNone/>
            </a:pPr>
            <a:r>
              <a:rPr lang="zh-CN" altLang="en-US" dirty="0"/>
              <a:t>运算指令助记符  </a:t>
            </a:r>
            <a:r>
              <a:rPr lang="en-US" altLang="zh-CN" dirty="0"/>
              <a:t>mem, </a:t>
            </a:r>
            <a:r>
              <a:rPr lang="en-US" altLang="zh-CN" dirty="0" err="1"/>
              <a:t>imm</a:t>
            </a:r>
            <a:r>
              <a:rPr lang="en-US" altLang="zh-CN" dirty="0"/>
              <a:t>/reg</a:t>
            </a:r>
            <a:r>
              <a:rPr lang="en-US" altLang="zh-CN" sz="3200" dirty="0">
                <a:solidFill>
                  <a:srgbClr val="CC0099"/>
                </a:solidFill>
              </a:rPr>
              <a:t> </a:t>
            </a:r>
          </a:p>
          <a:p>
            <a:r>
              <a:rPr lang="zh-CN" altLang="en-US" dirty="0"/>
              <a:t>单操作数逻辑指令</a:t>
            </a:r>
            <a:r>
              <a:rPr lang="en-US" altLang="zh-CN" dirty="0">
                <a:solidFill>
                  <a:srgbClr val="006600"/>
                </a:solidFill>
              </a:rPr>
              <a:t>NOT</a:t>
            </a:r>
            <a:r>
              <a:rPr lang="zh-CN" altLang="en-US" dirty="0"/>
              <a:t>不影响标志位，操作数与</a:t>
            </a:r>
            <a:r>
              <a:rPr lang="en-US" altLang="zh-CN" dirty="0"/>
              <a:t>INC</a:t>
            </a:r>
            <a:r>
              <a:rPr lang="zh-CN" altLang="en-US" dirty="0"/>
              <a:t>、</a:t>
            </a:r>
            <a:r>
              <a:rPr lang="en-US" altLang="zh-CN" dirty="0"/>
              <a:t>DEC</a:t>
            </a:r>
            <a:r>
              <a:rPr lang="zh-CN" altLang="en-US" dirty="0"/>
              <a:t>和</a:t>
            </a:r>
            <a:r>
              <a:rPr lang="en-US" altLang="zh-CN" dirty="0"/>
              <a:t>NEG</a:t>
            </a:r>
            <a:r>
              <a:rPr lang="zh-CN" altLang="en-US" dirty="0"/>
              <a:t>一样：</a:t>
            </a:r>
          </a:p>
          <a:p>
            <a:pPr lvl="1">
              <a:buFontTx/>
              <a:buNone/>
            </a:pPr>
            <a:r>
              <a:rPr lang="en-US" altLang="zh-CN" sz="3200" dirty="0"/>
              <a:t>NOT reg/mem</a:t>
            </a:r>
          </a:p>
        </p:txBody>
      </p:sp>
    </p:spTree>
  </p:cSld>
  <p:clrMapOvr>
    <a:masterClrMapping/>
  </p:clrMapOvr>
  <p:transition>
    <p:rand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BE11ABA3-D697-D5F6-B84B-12D60CCA74E0}"/>
              </a:ext>
            </a:extLst>
          </p:cNvPr>
          <p:cNvSpPr>
            <a:spLocks noGrp="1" noChangeArrowheads="1"/>
          </p:cNvSpPr>
          <p:nvPr>
            <p:ph type="title"/>
          </p:nvPr>
        </p:nvSpPr>
        <p:spPr/>
        <p:txBody>
          <a:bodyPr/>
          <a:lstStyle/>
          <a:p>
            <a:r>
              <a:rPr lang="zh-CN" altLang="en-US"/>
              <a:t>逻辑与指令</a:t>
            </a:r>
            <a:r>
              <a:rPr lang="en-US" altLang="zh-CN"/>
              <a:t>AND</a:t>
            </a:r>
          </a:p>
        </p:txBody>
      </p:sp>
      <p:sp>
        <p:nvSpPr>
          <p:cNvPr id="19459" name="Rectangle 3">
            <a:extLst>
              <a:ext uri="{FF2B5EF4-FFF2-40B4-BE49-F238E27FC236}">
                <a16:creationId xmlns:a16="http://schemas.microsoft.com/office/drawing/2014/main" id="{33EC6EC4-899F-D1D9-ACFF-7B03A0065411}"/>
              </a:ext>
            </a:extLst>
          </p:cNvPr>
          <p:cNvSpPr>
            <a:spLocks noGrp="1" noChangeArrowheads="1"/>
          </p:cNvSpPr>
          <p:nvPr>
            <p:ph idx="1"/>
          </p:nvPr>
        </p:nvSpPr>
        <p:spPr>
          <a:xfrm>
            <a:off x="454025" y="1181100"/>
            <a:ext cx="8428038" cy="611188"/>
          </a:xfrm>
        </p:spPr>
        <p:txBody>
          <a:bodyPr/>
          <a:lstStyle/>
          <a:p>
            <a:pPr>
              <a:buFontTx/>
              <a:buNone/>
            </a:pPr>
            <a:r>
              <a:rPr lang="zh-CN" altLang="en-US" sz="2800"/>
              <a:t>对两个操作数执行逻辑与运算，结果送目的操作数</a:t>
            </a:r>
          </a:p>
        </p:txBody>
      </p:sp>
      <p:sp>
        <p:nvSpPr>
          <p:cNvPr id="19460" name="AutoShape 5">
            <a:extLst>
              <a:ext uri="{FF2B5EF4-FFF2-40B4-BE49-F238E27FC236}">
                <a16:creationId xmlns:a16="http://schemas.microsoft.com/office/drawing/2014/main" id="{8BC801B4-8B8D-5562-F7F0-AA691D5BF0B5}"/>
              </a:ext>
            </a:extLst>
          </p:cNvPr>
          <p:cNvSpPr>
            <a:spLocks noChangeArrowheads="1"/>
          </p:cNvSpPr>
          <p:nvPr/>
        </p:nvSpPr>
        <p:spPr bwMode="auto">
          <a:xfrm>
            <a:off x="508000" y="2141538"/>
            <a:ext cx="8153400" cy="579437"/>
          </a:xfrm>
          <a:prstGeom prst="flowChartAlternateProcess">
            <a:avLst/>
          </a:prstGeom>
          <a:blipFill dpi="0" rotWithShape="0">
            <a:blip r:embed="rId2"/>
            <a:srcRect/>
            <a:stretch>
              <a:fillRect/>
            </a:stretch>
          </a:blipFill>
          <a:ln>
            <a:noFill/>
          </a:ln>
          <a:effectLst>
            <a:prstShdw prst="shdw13" dist="53882" dir="13500000">
              <a:srgbClr val="808080"/>
            </a:prstShdw>
          </a:effectLst>
          <a:extLst>
            <a:ext uri="{91240B29-F687-4F45-9708-019B960494DF}">
              <a14:hiddenLine xmlns:a14="http://schemas.microsoft.com/office/drawing/2010/main" w="12700" cap="sq">
                <a:solidFill>
                  <a:srgbClr val="808000"/>
                </a:solidFill>
                <a:miter lim="800000"/>
                <a:headEnd type="none" w="sm" len="sm"/>
                <a:tailEnd type="none" w="sm" len="sm"/>
              </a14:hiddenLine>
            </a:ext>
          </a:extLst>
        </p:spPr>
        <p:txBody>
          <a:bodyPr/>
          <a:lstStyle>
            <a:lvl1pPr>
              <a:tabLst>
                <a:tab pos="3233738" algn="l"/>
              </a:tabLst>
              <a:defRPr sz="2000">
                <a:solidFill>
                  <a:schemeClr val="tx1"/>
                </a:solidFill>
                <a:latin typeface="Arial" panose="020B0604020202020204" pitchFamily="34" charset="0"/>
                <a:ea typeface="宋体" panose="02010600030101010101" pitchFamily="2" charset="-122"/>
              </a:defRPr>
            </a:lvl1pPr>
            <a:lvl2pPr marL="742950" indent="-285750">
              <a:tabLst>
                <a:tab pos="3233738" algn="l"/>
              </a:tabLst>
              <a:defRPr sz="2000">
                <a:solidFill>
                  <a:schemeClr val="tx1"/>
                </a:solidFill>
                <a:latin typeface="Arial" panose="020B0604020202020204" pitchFamily="34" charset="0"/>
                <a:ea typeface="宋体" panose="02010600030101010101" pitchFamily="2" charset="-122"/>
              </a:defRPr>
            </a:lvl2pPr>
            <a:lvl3pPr marL="1143000" indent="-228600">
              <a:tabLst>
                <a:tab pos="3233738" algn="l"/>
              </a:tabLst>
              <a:defRPr sz="2000">
                <a:solidFill>
                  <a:schemeClr val="tx1"/>
                </a:solidFill>
                <a:latin typeface="Arial" panose="020B0604020202020204" pitchFamily="34" charset="0"/>
                <a:ea typeface="宋体" panose="02010600030101010101" pitchFamily="2" charset="-122"/>
              </a:defRPr>
            </a:lvl3pPr>
            <a:lvl4pPr marL="1600200" indent="-228600">
              <a:tabLst>
                <a:tab pos="3233738" algn="l"/>
              </a:tabLst>
              <a:defRPr sz="2000">
                <a:solidFill>
                  <a:schemeClr val="tx1"/>
                </a:solidFill>
                <a:latin typeface="Arial" panose="020B0604020202020204" pitchFamily="34" charset="0"/>
                <a:ea typeface="宋体" panose="02010600030101010101" pitchFamily="2" charset="-122"/>
              </a:defRPr>
            </a:lvl4pPr>
            <a:lvl5pPr marL="2057400" indent="-228600">
              <a:tabLst>
                <a:tab pos="3233738" algn="l"/>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3233738" algn="l"/>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3233738" algn="l"/>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3233738" algn="l"/>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3233738" algn="l"/>
              </a:tabLst>
              <a:defRPr sz="2000">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800" b="1">
                <a:latin typeface="宋体" panose="02010600030101010101" pitchFamily="2" charset="-122"/>
              </a:rPr>
              <a:t>AND dest,src</a:t>
            </a:r>
            <a:r>
              <a:rPr lang="en-US" altLang="zh-CN" sz="2800" b="1">
                <a:solidFill>
                  <a:schemeClr val="bg2"/>
                </a:solidFill>
                <a:latin typeface="宋体" panose="02010600030101010101" pitchFamily="2" charset="-122"/>
              </a:rPr>
              <a:t>	</a:t>
            </a:r>
            <a:r>
              <a:rPr lang="zh-CN" altLang="en-US" sz="2800" b="1">
                <a:solidFill>
                  <a:schemeClr val="accent2"/>
                </a:solidFill>
                <a:latin typeface="宋体" panose="02010600030101010101" pitchFamily="2" charset="-122"/>
              </a:rPr>
              <a:t>；</a:t>
            </a:r>
            <a:r>
              <a:rPr lang="en-US" altLang="zh-CN" sz="2800" b="1">
                <a:solidFill>
                  <a:schemeClr val="accent2"/>
                </a:solidFill>
                <a:latin typeface="宋体" panose="02010600030101010101" pitchFamily="2" charset="-122"/>
              </a:rPr>
              <a:t>dest←dest</a:t>
            </a:r>
            <a:r>
              <a:rPr lang="en-US" altLang="zh-CN" sz="2800" b="1">
                <a:solidFill>
                  <a:srgbClr val="006600"/>
                </a:solidFill>
                <a:latin typeface="宋体" panose="02010600030101010101" pitchFamily="2" charset="-122"/>
              </a:rPr>
              <a:t>∧</a:t>
            </a:r>
            <a:r>
              <a:rPr lang="en-US" altLang="zh-CN" sz="2800" b="1">
                <a:solidFill>
                  <a:schemeClr val="accent2"/>
                </a:solidFill>
                <a:latin typeface="宋体" panose="02010600030101010101" pitchFamily="2" charset="-122"/>
              </a:rPr>
              <a:t>src</a:t>
            </a:r>
          </a:p>
        </p:txBody>
      </p:sp>
      <p:sp>
        <p:nvSpPr>
          <p:cNvPr id="19461" name="AutoShape 7">
            <a:extLst>
              <a:ext uri="{FF2B5EF4-FFF2-40B4-BE49-F238E27FC236}">
                <a16:creationId xmlns:a16="http://schemas.microsoft.com/office/drawing/2014/main" id="{F1335AF0-C0D1-88B3-B56B-2F51E3ACAF1A}"/>
              </a:ext>
            </a:extLst>
          </p:cNvPr>
          <p:cNvSpPr>
            <a:spLocks noChangeArrowheads="1"/>
          </p:cNvSpPr>
          <p:nvPr/>
        </p:nvSpPr>
        <p:spPr bwMode="auto">
          <a:xfrm>
            <a:off x="331788" y="3297238"/>
            <a:ext cx="4822825" cy="1949450"/>
          </a:xfrm>
          <a:prstGeom prst="roundRect">
            <a:avLst>
              <a:gd name="adj" fmla="val 16667"/>
            </a:avLst>
          </a:prstGeom>
          <a:blipFill dpi="0" rotWithShape="0">
            <a:blip r:embed="rId3"/>
            <a:srcRect/>
            <a:tile tx="0" ty="0" sx="100000" sy="100000" flip="none" algn="tl"/>
          </a:blip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gn="just" eaLnBrk="1" hangingPunct="1">
              <a:buFontTx/>
              <a:buBlip>
                <a:blip r:embed="rId4"/>
              </a:buBlip>
            </a:pPr>
            <a:r>
              <a:rPr kumimoji="1" lang="en-US" altLang="zh-CN" sz="3200" b="1">
                <a:solidFill>
                  <a:schemeClr val="accent2"/>
                </a:solidFill>
              </a:rPr>
              <a:t> </a:t>
            </a:r>
            <a:r>
              <a:rPr kumimoji="1" lang="zh-CN" altLang="en-US" sz="3200" b="1">
                <a:solidFill>
                  <a:schemeClr val="accent2"/>
                </a:solidFill>
              </a:rPr>
              <a:t>只有相“与”的两位都是</a:t>
            </a:r>
            <a:r>
              <a:rPr kumimoji="1" lang="en-US" altLang="zh-CN" sz="3200" b="1">
                <a:solidFill>
                  <a:schemeClr val="accent2"/>
                </a:solidFill>
              </a:rPr>
              <a:t>1</a:t>
            </a:r>
            <a:r>
              <a:rPr kumimoji="1" lang="zh-CN" altLang="en-US" sz="3200" b="1">
                <a:solidFill>
                  <a:schemeClr val="accent2"/>
                </a:solidFill>
              </a:rPr>
              <a:t>，结果才是</a:t>
            </a:r>
            <a:r>
              <a:rPr kumimoji="1" lang="en-US" altLang="zh-CN" sz="3200" b="1">
                <a:solidFill>
                  <a:schemeClr val="accent2"/>
                </a:solidFill>
              </a:rPr>
              <a:t>1</a:t>
            </a:r>
            <a:r>
              <a:rPr kumimoji="1" lang="zh-CN" altLang="en-US" sz="3200" b="1">
                <a:solidFill>
                  <a:schemeClr val="accent2"/>
                </a:solidFill>
              </a:rPr>
              <a:t>；否则，“与”的结果为</a:t>
            </a:r>
            <a:r>
              <a:rPr kumimoji="1" lang="en-US" altLang="zh-CN" sz="3200" b="1">
                <a:solidFill>
                  <a:schemeClr val="accent2"/>
                </a:solidFill>
              </a:rPr>
              <a:t>0</a:t>
            </a:r>
          </a:p>
        </p:txBody>
      </p:sp>
      <p:grpSp>
        <p:nvGrpSpPr>
          <p:cNvPr id="19462" name="Group 8">
            <a:extLst>
              <a:ext uri="{FF2B5EF4-FFF2-40B4-BE49-F238E27FC236}">
                <a16:creationId xmlns:a16="http://schemas.microsoft.com/office/drawing/2014/main" id="{F46A2484-27A1-B466-3CBD-CC4517DBA2FC}"/>
              </a:ext>
            </a:extLst>
          </p:cNvPr>
          <p:cNvGrpSpPr>
            <a:grpSpLocks/>
          </p:cNvGrpSpPr>
          <p:nvPr/>
        </p:nvGrpSpPr>
        <p:grpSpPr bwMode="auto">
          <a:xfrm>
            <a:off x="3303588" y="1074738"/>
            <a:ext cx="1247775" cy="2235200"/>
            <a:chOff x="3024" y="816"/>
            <a:chExt cx="912" cy="1728"/>
          </a:xfrm>
        </p:grpSpPr>
        <p:sp>
          <p:nvSpPr>
            <p:cNvPr id="328713" name="Oval 9">
              <a:extLst>
                <a:ext uri="{FF2B5EF4-FFF2-40B4-BE49-F238E27FC236}">
                  <a16:creationId xmlns:a16="http://schemas.microsoft.com/office/drawing/2014/main" id="{C644A1CE-1935-137A-4F7F-DA9A2FF64CFB}"/>
                </a:ext>
              </a:extLst>
            </p:cNvPr>
            <p:cNvSpPr>
              <a:spLocks noChangeArrowheads="1"/>
            </p:cNvSpPr>
            <p:nvPr/>
          </p:nvSpPr>
          <p:spPr bwMode="auto">
            <a:xfrm>
              <a:off x="3024" y="816"/>
              <a:ext cx="912" cy="528"/>
            </a:xfrm>
            <a:prstGeom prst="ellipse">
              <a:avLst/>
            </a:prstGeom>
            <a:noFill/>
            <a:ln w="38100">
              <a:solidFill>
                <a:schemeClr val="tx2"/>
              </a:solidFill>
              <a:round/>
              <a:headEnd/>
              <a:tailEnd/>
            </a:ln>
            <a:effectLst/>
          </p:spPr>
          <p:txBody>
            <a:bodyPr wrap="none" anchor="ctr"/>
            <a:lstStyle/>
            <a:p>
              <a:pPr eaLnBrk="1" hangingPunct="1">
                <a:defRPr/>
              </a:pPr>
              <a:endParaRPr lang="zh-CN" altLang="en-US">
                <a:effectLst>
                  <a:outerShdw blurRad="38100" dist="38100" dir="2700000" algn="tl">
                    <a:srgbClr val="000000">
                      <a:alpha val="43137"/>
                    </a:srgbClr>
                  </a:outerShdw>
                </a:effectLst>
              </a:endParaRPr>
            </a:p>
          </p:txBody>
        </p:sp>
        <p:sp>
          <p:nvSpPr>
            <p:cNvPr id="328714" name="Line 10">
              <a:extLst>
                <a:ext uri="{FF2B5EF4-FFF2-40B4-BE49-F238E27FC236}">
                  <a16:creationId xmlns:a16="http://schemas.microsoft.com/office/drawing/2014/main" id="{BC4A3712-8027-2902-FB1B-DE0C1EE53A1F}"/>
                </a:ext>
              </a:extLst>
            </p:cNvPr>
            <p:cNvSpPr>
              <a:spLocks noChangeShapeType="1"/>
            </p:cNvSpPr>
            <p:nvPr/>
          </p:nvSpPr>
          <p:spPr bwMode="auto">
            <a:xfrm flipH="1">
              <a:off x="3264" y="1344"/>
              <a:ext cx="240" cy="1200"/>
            </a:xfrm>
            <a:prstGeom prst="line">
              <a:avLst/>
            </a:prstGeom>
            <a:noFill/>
            <a:ln w="38100">
              <a:solidFill>
                <a:schemeClr val="tx2"/>
              </a:solidFill>
              <a:round/>
              <a:headEnd/>
              <a:tailEnd type="triangle" w="med" len="med"/>
            </a:ln>
            <a:effectLst/>
          </p:spPr>
          <p:txBody>
            <a:bodyPr/>
            <a:lstStyle/>
            <a:p>
              <a:pPr eaLnBrk="1" hangingPunct="1">
                <a:defRPr/>
              </a:pPr>
              <a:endParaRPr lang="zh-CN" altLang="en-US">
                <a:effectLst>
                  <a:outerShdw blurRad="38100" dist="38100" dir="2700000" algn="tl">
                    <a:srgbClr val="000000">
                      <a:alpha val="43137"/>
                    </a:srgbClr>
                  </a:outerShdw>
                </a:effectLst>
              </a:endParaRPr>
            </a:p>
          </p:txBody>
        </p:sp>
      </p:grpSp>
      <p:pic>
        <p:nvPicPr>
          <p:cNvPr id="19463" name="Picture 12">
            <a:extLst>
              <a:ext uri="{FF2B5EF4-FFF2-40B4-BE49-F238E27FC236}">
                <a16:creationId xmlns:a16="http://schemas.microsoft.com/office/drawing/2014/main" id="{8ACB60B9-E19C-A365-2FC0-D3576C377D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81625" y="4194175"/>
            <a:ext cx="3452813" cy="163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EDA3E04-7512-56A4-C836-46121C6B3C22}"/>
              </a:ext>
            </a:extLst>
          </p:cNvPr>
          <p:cNvSpPr>
            <a:spLocks noGrp="1"/>
          </p:cNvSpPr>
          <p:nvPr>
            <p:ph idx="1"/>
          </p:nvPr>
        </p:nvSpPr>
        <p:spPr/>
        <p:txBody>
          <a:bodyPr/>
          <a:lstStyle/>
          <a:p>
            <a:pPr>
              <a:defRPr/>
            </a:pPr>
            <a:r>
              <a:rPr lang="zh-CN" altLang="en-US" dirty="0">
                <a:highlight>
                  <a:srgbClr val="FFFF00"/>
                </a:highlight>
              </a:rPr>
              <a:t>取位操作</a:t>
            </a:r>
            <a:r>
              <a:rPr lang="zh-CN" altLang="en-US" dirty="0"/>
              <a:t>：将指定的二进制数位从字节或字数据中分离</a:t>
            </a:r>
            <a:endParaRPr lang="en-US" altLang="zh-CN" dirty="0"/>
          </a:p>
          <a:p>
            <a:pPr marL="0" indent="0">
              <a:buFontTx/>
              <a:buNone/>
              <a:defRPr/>
            </a:pPr>
            <a:r>
              <a:rPr lang="en-US" altLang="zh-CN" dirty="0"/>
              <a:t>     AND AL,00000010B</a:t>
            </a:r>
          </a:p>
          <a:p>
            <a:pPr marL="393700" lvl="1" indent="0">
              <a:buFontTx/>
              <a:buNone/>
              <a:defRPr/>
            </a:pPr>
            <a:r>
              <a:rPr lang="zh-CN" altLang="en-US" sz="2000" dirty="0"/>
              <a:t>    </a:t>
            </a:r>
            <a:r>
              <a:rPr lang="zh-CN" altLang="en-US" sz="2000" dirty="0">
                <a:solidFill>
                  <a:srgbClr val="0000FF"/>
                </a:solidFill>
              </a:rPr>
              <a:t>在程序设计中分离状态端口不同的状态位，再分别加以判断</a:t>
            </a:r>
            <a:endParaRPr lang="en-US" altLang="zh-CN" sz="2000" dirty="0">
              <a:solidFill>
                <a:srgbClr val="0000FF"/>
              </a:solidFill>
            </a:endParaRPr>
          </a:p>
          <a:p>
            <a:pPr marL="393700" lvl="1" indent="0">
              <a:buFontTx/>
              <a:buNone/>
              <a:defRPr/>
            </a:pPr>
            <a:endParaRPr lang="en-US" altLang="zh-CN" sz="2000" dirty="0">
              <a:solidFill>
                <a:srgbClr val="0000FF"/>
              </a:solidFill>
            </a:endParaRPr>
          </a:p>
          <a:p>
            <a:pPr>
              <a:defRPr/>
            </a:pPr>
            <a:r>
              <a:rPr lang="zh-CN" altLang="en-US" dirty="0">
                <a:highlight>
                  <a:srgbClr val="FFFF00"/>
                </a:highlight>
              </a:rPr>
              <a:t>清零操作</a:t>
            </a:r>
            <a:r>
              <a:rPr lang="zh-CN" altLang="en-US" dirty="0"/>
              <a:t>：将指定的二进制位清零。</a:t>
            </a:r>
            <a:endParaRPr lang="en-US" altLang="zh-CN" dirty="0"/>
          </a:p>
          <a:p>
            <a:pPr marL="0" indent="0">
              <a:buFontTx/>
              <a:buNone/>
              <a:defRPr/>
            </a:pPr>
            <a:r>
              <a:rPr lang="en-US" altLang="zh-CN" dirty="0"/>
              <a:t>     AND AL,11111101B</a:t>
            </a:r>
          </a:p>
          <a:p>
            <a:pPr marL="0" indent="0">
              <a:buFontTx/>
              <a:buNone/>
              <a:defRPr/>
            </a:pPr>
            <a:r>
              <a:rPr lang="zh-CN" altLang="en-US" sz="2000" dirty="0">
                <a:solidFill>
                  <a:srgbClr val="0000FF"/>
                </a:solidFill>
              </a:rPr>
              <a:t>        用于将控制端口中指定的控制位清零，达到相应的控制目的。</a:t>
            </a:r>
          </a:p>
        </p:txBody>
      </p:sp>
      <p:sp>
        <p:nvSpPr>
          <p:cNvPr id="4" name="灯片编号占位符 3">
            <a:extLst>
              <a:ext uri="{FF2B5EF4-FFF2-40B4-BE49-F238E27FC236}">
                <a16:creationId xmlns:a16="http://schemas.microsoft.com/office/drawing/2014/main" id="{8D74F7D7-A5E6-EB06-6A2B-5F710D1F1056}"/>
              </a:ext>
            </a:extLst>
          </p:cNvPr>
          <p:cNvSpPr>
            <a:spLocks noGrp="1"/>
          </p:cNvSpPr>
          <p:nvPr>
            <p:ph type="sldNum" sz="quarter" idx="12"/>
          </p:nvPr>
        </p:nvSpPr>
        <p:spPr bwMode="auto">
          <a:xfrm>
            <a:off x="6554788" y="6245225"/>
            <a:ext cx="2133600" cy="476250"/>
          </a:xfrm>
          <a:prstGeom prst="rect">
            <a:avLst/>
          </a:prstGeom>
          <a:noFill/>
          <a:ln w="9525">
            <a:noFill/>
            <a:miter lim="800000"/>
            <a:headEnd/>
            <a:tailEnd/>
          </a:ln>
          <a:effectLst/>
        </p:spPr>
        <p:txBody>
          <a:bodyPr vert="horz" wrap="square" lIns="88459" tIns="44230" rIns="88459" bIns="44230" numCol="1" anchor="t" anchorCtr="0" compatLnSpc="1">
            <a:prstTxWarp prst="textNoShape">
              <a:avLst/>
            </a:prstTxWarp>
          </a:bodyPr>
          <a:lstStyle>
            <a:defPPr>
              <a:defRPr lang="zh-CN"/>
            </a:defPPr>
            <a:lvl1pPr algn="r" rtl="0" eaLnBrk="1" fontAlgn="base" hangingPunct="1">
              <a:spcBef>
                <a:spcPct val="0"/>
              </a:spcBef>
              <a:spcAft>
                <a:spcPct val="0"/>
              </a:spcAft>
              <a:defRPr sz="1422" kern="1200">
                <a:solidFill>
                  <a:schemeClr val="tx1"/>
                </a:solidFill>
                <a:effectLst>
                  <a:outerShdw blurRad="38100" dist="38100" dir="2700000" algn="tl">
                    <a:srgbClr val="000000">
                      <a:alpha val="43137"/>
                    </a:srgbClr>
                  </a:outerShdw>
                </a:effectLst>
                <a:latin typeface="Arial" panose="020B0604020202020204" pitchFamily="34" charset="0"/>
                <a:ea typeface="宋体" pitchFamily="2" charset="-122"/>
                <a:cs typeface="+mn-cs"/>
              </a:defRPr>
            </a:lvl1pPr>
            <a:lvl2pPr marL="4572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9pPr>
          </a:lstStyle>
          <a:p>
            <a:pPr>
              <a:defRPr/>
            </a:pPr>
            <a:fld id="{DCC68147-CA70-4044-A530-6F581D0EC877}" type="slidenum">
              <a:rPr lang="en-US" altLang="zh-CN" smtClean="0"/>
              <a:pPr>
                <a:defRPr/>
              </a:pPr>
              <a:t>75</a:t>
            </a:fld>
            <a:endParaRPr lang="en-US" altLang="zh-CN"/>
          </a:p>
        </p:txBody>
      </p:sp>
    </p:spTree>
  </p:cSld>
  <p:clrMapOvr>
    <a:masterClrMapping/>
  </p:clrMapOvr>
  <p:transition>
    <p:random/>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0DBD29-1A57-973B-08F6-FEB751025FD5}"/>
              </a:ext>
            </a:extLst>
          </p:cNvPr>
          <p:cNvSpPr>
            <a:spLocks noGrp="1" noChangeArrowheads="1"/>
          </p:cNvSpPr>
          <p:nvPr>
            <p:ph type="title"/>
          </p:nvPr>
        </p:nvSpPr>
        <p:spPr/>
        <p:txBody>
          <a:bodyPr/>
          <a:lstStyle/>
          <a:p>
            <a:r>
              <a:rPr lang="zh-CN" altLang="en-US"/>
              <a:t>逻辑或指令</a:t>
            </a:r>
            <a:r>
              <a:rPr lang="en-US" altLang="zh-CN"/>
              <a:t>OR</a:t>
            </a:r>
          </a:p>
        </p:txBody>
      </p:sp>
      <p:sp>
        <p:nvSpPr>
          <p:cNvPr id="21507" name="Rectangle 3">
            <a:extLst>
              <a:ext uri="{FF2B5EF4-FFF2-40B4-BE49-F238E27FC236}">
                <a16:creationId xmlns:a16="http://schemas.microsoft.com/office/drawing/2014/main" id="{361A054F-3486-F003-6EED-29D3A0402E53}"/>
              </a:ext>
            </a:extLst>
          </p:cNvPr>
          <p:cNvSpPr>
            <a:spLocks noGrp="1" noChangeArrowheads="1"/>
          </p:cNvSpPr>
          <p:nvPr>
            <p:ph idx="1"/>
          </p:nvPr>
        </p:nvSpPr>
        <p:spPr>
          <a:xfrm>
            <a:off x="454025" y="1181100"/>
            <a:ext cx="8428038" cy="611188"/>
          </a:xfrm>
        </p:spPr>
        <p:txBody>
          <a:bodyPr/>
          <a:lstStyle/>
          <a:p>
            <a:pPr>
              <a:buFontTx/>
              <a:buNone/>
            </a:pPr>
            <a:r>
              <a:rPr lang="zh-CN" altLang="en-US" sz="2800"/>
              <a:t>对两个操作数执行逻辑或运算，结果送目的操作数</a:t>
            </a:r>
          </a:p>
        </p:txBody>
      </p:sp>
      <p:sp>
        <p:nvSpPr>
          <p:cNvPr id="21508" name="AutoShape 4">
            <a:extLst>
              <a:ext uri="{FF2B5EF4-FFF2-40B4-BE49-F238E27FC236}">
                <a16:creationId xmlns:a16="http://schemas.microsoft.com/office/drawing/2014/main" id="{E2673199-5CB9-3DCD-4D3B-58C68EDEECC5}"/>
              </a:ext>
            </a:extLst>
          </p:cNvPr>
          <p:cNvSpPr>
            <a:spLocks noChangeArrowheads="1"/>
          </p:cNvSpPr>
          <p:nvPr/>
        </p:nvSpPr>
        <p:spPr bwMode="auto">
          <a:xfrm>
            <a:off x="544513" y="2006600"/>
            <a:ext cx="8153400" cy="579438"/>
          </a:xfrm>
          <a:prstGeom prst="flowChartAlternateProcess">
            <a:avLst/>
          </a:prstGeom>
          <a:blipFill dpi="0" rotWithShape="0">
            <a:blip r:embed="rId2"/>
            <a:srcRect/>
            <a:stretch>
              <a:fillRect/>
            </a:stretch>
          </a:blipFill>
          <a:ln>
            <a:noFill/>
          </a:ln>
          <a:effectLst>
            <a:prstShdw prst="shdw13" dist="53882" dir="13500000">
              <a:srgbClr val="808080"/>
            </a:prstShdw>
          </a:effectLst>
          <a:extLst>
            <a:ext uri="{91240B29-F687-4F45-9708-019B960494DF}">
              <a14:hiddenLine xmlns:a14="http://schemas.microsoft.com/office/drawing/2010/main" w="12700" cap="sq">
                <a:solidFill>
                  <a:srgbClr val="808000"/>
                </a:solidFill>
                <a:miter lim="800000"/>
                <a:headEnd type="none" w="sm" len="sm"/>
                <a:tailEnd type="none" w="sm" len="sm"/>
              </a14:hiddenLine>
            </a:ext>
          </a:extLst>
        </p:spPr>
        <p:txBody>
          <a:bodyPr/>
          <a:lstStyle>
            <a:lvl1pPr>
              <a:tabLst>
                <a:tab pos="3233738" algn="l"/>
              </a:tabLst>
              <a:defRPr sz="2000">
                <a:solidFill>
                  <a:schemeClr val="tx1"/>
                </a:solidFill>
                <a:latin typeface="Arial" panose="020B0604020202020204" pitchFamily="34" charset="0"/>
                <a:ea typeface="宋体" panose="02010600030101010101" pitchFamily="2" charset="-122"/>
              </a:defRPr>
            </a:lvl1pPr>
            <a:lvl2pPr marL="742950" indent="-285750">
              <a:tabLst>
                <a:tab pos="3233738" algn="l"/>
              </a:tabLst>
              <a:defRPr sz="2000">
                <a:solidFill>
                  <a:schemeClr val="tx1"/>
                </a:solidFill>
                <a:latin typeface="Arial" panose="020B0604020202020204" pitchFamily="34" charset="0"/>
                <a:ea typeface="宋体" panose="02010600030101010101" pitchFamily="2" charset="-122"/>
              </a:defRPr>
            </a:lvl2pPr>
            <a:lvl3pPr marL="1143000" indent="-228600">
              <a:tabLst>
                <a:tab pos="3233738" algn="l"/>
              </a:tabLst>
              <a:defRPr sz="2000">
                <a:solidFill>
                  <a:schemeClr val="tx1"/>
                </a:solidFill>
                <a:latin typeface="Arial" panose="020B0604020202020204" pitchFamily="34" charset="0"/>
                <a:ea typeface="宋体" panose="02010600030101010101" pitchFamily="2" charset="-122"/>
              </a:defRPr>
            </a:lvl3pPr>
            <a:lvl4pPr marL="1600200" indent="-228600">
              <a:tabLst>
                <a:tab pos="3233738" algn="l"/>
              </a:tabLst>
              <a:defRPr sz="2000">
                <a:solidFill>
                  <a:schemeClr val="tx1"/>
                </a:solidFill>
                <a:latin typeface="Arial" panose="020B0604020202020204" pitchFamily="34" charset="0"/>
                <a:ea typeface="宋体" panose="02010600030101010101" pitchFamily="2" charset="-122"/>
              </a:defRPr>
            </a:lvl4pPr>
            <a:lvl5pPr marL="2057400" indent="-228600">
              <a:tabLst>
                <a:tab pos="3233738" algn="l"/>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3233738" algn="l"/>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3233738" algn="l"/>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3233738" algn="l"/>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3233738" algn="l"/>
              </a:tabLst>
              <a:defRPr sz="2000">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800" b="1">
                <a:latin typeface="宋体" panose="02010600030101010101" pitchFamily="2" charset="-122"/>
              </a:rPr>
              <a:t>OR dest,src</a:t>
            </a:r>
            <a:r>
              <a:rPr lang="en-US" altLang="zh-CN" sz="2800" b="1">
                <a:solidFill>
                  <a:schemeClr val="bg2"/>
                </a:solidFill>
                <a:latin typeface="宋体" panose="02010600030101010101" pitchFamily="2" charset="-122"/>
              </a:rPr>
              <a:t>	</a:t>
            </a:r>
            <a:r>
              <a:rPr lang="zh-CN" altLang="en-US" sz="2800" b="1">
                <a:solidFill>
                  <a:schemeClr val="accent2"/>
                </a:solidFill>
                <a:latin typeface="宋体" panose="02010600030101010101" pitchFamily="2" charset="-122"/>
              </a:rPr>
              <a:t>；</a:t>
            </a:r>
            <a:r>
              <a:rPr lang="en-US" altLang="zh-CN" sz="2800" b="1">
                <a:solidFill>
                  <a:schemeClr val="accent2"/>
                </a:solidFill>
                <a:latin typeface="宋体" panose="02010600030101010101" pitchFamily="2" charset="-122"/>
              </a:rPr>
              <a:t>dest←dest</a:t>
            </a:r>
            <a:r>
              <a:rPr lang="en-US" altLang="zh-CN" sz="2800" b="1">
                <a:solidFill>
                  <a:srgbClr val="006600"/>
                </a:solidFill>
                <a:latin typeface="宋体" panose="02010600030101010101" pitchFamily="2" charset="-122"/>
              </a:rPr>
              <a:t>∨</a:t>
            </a:r>
            <a:r>
              <a:rPr lang="en-US" altLang="zh-CN" sz="2800" b="1">
                <a:solidFill>
                  <a:schemeClr val="accent2"/>
                </a:solidFill>
                <a:latin typeface="宋体" panose="02010600030101010101" pitchFamily="2" charset="-122"/>
              </a:rPr>
              <a:t>src</a:t>
            </a:r>
          </a:p>
        </p:txBody>
      </p:sp>
      <p:sp>
        <p:nvSpPr>
          <p:cNvPr id="21509" name="AutoShape 5">
            <a:extLst>
              <a:ext uri="{FF2B5EF4-FFF2-40B4-BE49-F238E27FC236}">
                <a16:creationId xmlns:a16="http://schemas.microsoft.com/office/drawing/2014/main" id="{F2005B7D-2733-512C-D721-2B634EDCC555}"/>
              </a:ext>
            </a:extLst>
          </p:cNvPr>
          <p:cNvSpPr>
            <a:spLocks noChangeArrowheads="1"/>
          </p:cNvSpPr>
          <p:nvPr/>
        </p:nvSpPr>
        <p:spPr bwMode="auto">
          <a:xfrm>
            <a:off x="257175" y="3194050"/>
            <a:ext cx="4483100" cy="1789113"/>
          </a:xfrm>
          <a:prstGeom prst="roundRect">
            <a:avLst>
              <a:gd name="adj" fmla="val 16667"/>
            </a:avLst>
          </a:prstGeom>
          <a:blipFill dpi="0" rotWithShape="0">
            <a:blip r:embed="rId3"/>
            <a:srcRect/>
            <a:tile tx="0" ty="0" sx="100000" sy="100000" flip="none" algn="tl"/>
          </a:blip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gn="just" eaLnBrk="1" hangingPunct="1">
              <a:buFontTx/>
              <a:buBlip>
                <a:blip r:embed="rId4"/>
              </a:buBlip>
            </a:pPr>
            <a:r>
              <a:rPr kumimoji="1" lang="zh-CN" altLang="zh-CN" sz="3200" b="1">
                <a:solidFill>
                  <a:schemeClr val="accent2"/>
                </a:solidFill>
              </a:rPr>
              <a:t>只要相“或”的两位有一位是1，结果就是1；否则，结果为0</a:t>
            </a:r>
            <a:endParaRPr kumimoji="1" lang="en-US" altLang="zh-CN" sz="3200" b="1">
              <a:solidFill>
                <a:schemeClr val="accent2"/>
              </a:solidFill>
            </a:endParaRPr>
          </a:p>
        </p:txBody>
      </p:sp>
      <p:grpSp>
        <p:nvGrpSpPr>
          <p:cNvPr id="21510" name="Group 6">
            <a:extLst>
              <a:ext uri="{FF2B5EF4-FFF2-40B4-BE49-F238E27FC236}">
                <a16:creationId xmlns:a16="http://schemas.microsoft.com/office/drawing/2014/main" id="{2676147F-5E4C-2656-651E-8EECFF834E46}"/>
              </a:ext>
            </a:extLst>
          </p:cNvPr>
          <p:cNvGrpSpPr>
            <a:grpSpLocks/>
          </p:cNvGrpSpPr>
          <p:nvPr/>
        </p:nvGrpSpPr>
        <p:grpSpPr bwMode="auto">
          <a:xfrm>
            <a:off x="3303588" y="1158875"/>
            <a:ext cx="1247775" cy="1947863"/>
            <a:chOff x="3024" y="816"/>
            <a:chExt cx="912" cy="1728"/>
          </a:xfrm>
        </p:grpSpPr>
        <p:sp>
          <p:nvSpPr>
            <p:cNvPr id="329735" name="Oval 7">
              <a:extLst>
                <a:ext uri="{FF2B5EF4-FFF2-40B4-BE49-F238E27FC236}">
                  <a16:creationId xmlns:a16="http://schemas.microsoft.com/office/drawing/2014/main" id="{07CE9664-BEFD-46BA-1C6A-233DA3737E8B}"/>
                </a:ext>
              </a:extLst>
            </p:cNvPr>
            <p:cNvSpPr>
              <a:spLocks noChangeArrowheads="1"/>
            </p:cNvSpPr>
            <p:nvPr/>
          </p:nvSpPr>
          <p:spPr bwMode="auto">
            <a:xfrm>
              <a:off x="3024" y="816"/>
              <a:ext cx="912" cy="528"/>
            </a:xfrm>
            <a:prstGeom prst="ellipse">
              <a:avLst/>
            </a:prstGeom>
            <a:noFill/>
            <a:ln w="38100">
              <a:solidFill>
                <a:schemeClr val="tx2"/>
              </a:solidFill>
              <a:round/>
              <a:headEnd/>
              <a:tailEnd/>
            </a:ln>
            <a:effectLst/>
          </p:spPr>
          <p:txBody>
            <a:bodyPr wrap="none" anchor="ctr"/>
            <a:lstStyle/>
            <a:p>
              <a:pPr eaLnBrk="1" hangingPunct="1">
                <a:defRPr/>
              </a:pPr>
              <a:endParaRPr lang="zh-CN" altLang="en-US">
                <a:effectLst>
                  <a:outerShdw blurRad="38100" dist="38100" dir="2700000" algn="tl">
                    <a:srgbClr val="000000">
                      <a:alpha val="43137"/>
                    </a:srgbClr>
                  </a:outerShdw>
                </a:effectLst>
              </a:endParaRPr>
            </a:p>
          </p:txBody>
        </p:sp>
        <p:sp>
          <p:nvSpPr>
            <p:cNvPr id="329736" name="Line 8">
              <a:extLst>
                <a:ext uri="{FF2B5EF4-FFF2-40B4-BE49-F238E27FC236}">
                  <a16:creationId xmlns:a16="http://schemas.microsoft.com/office/drawing/2014/main" id="{89A71FF9-A7B9-4118-7FF5-44C5594E9362}"/>
                </a:ext>
              </a:extLst>
            </p:cNvPr>
            <p:cNvSpPr>
              <a:spLocks noChangeShapeType="1"/>
            </p:cNvSpPr>
            <p:nvPr/>
          </p:nvSpPr>
          <p:spPr bwMode="auto">
            <a:xfrm flipH="1">
              <a:off x="3264" y="1344"/>
              <a:ext cx="240" cy="1200"/>
            </a:xfrm>
            <a:prstGeom prst="line">
              <a:avLst/>
            </a:prstGeom>
            <a:noFill/>
            <a:ln w="38100">
              <a:solidFill>
                <a:schemeClr val="tx2"/>
              </a:solidFill>
              <a:round/>
              <a:headEnd/>
              <a:tailEnd type="triangle" w="med" len="med"/>
            </a:ln>
            <a:effectLst/>
          </p:spPr>
          <p:txBody>
            <a:bodyPr/>
            <a:lstStyle/>
            <a:p>
              <a:pPr eaLnBrk="1" hangingPunct="1">
                <a:defRPr/>
              </a:pPr>
              <a:endParaRPr lang="zh-CN" altLang="en-US">
                <a:effectLst>
                  <a:outerShdw blurRad="38100" dist="38100" dir="2700000" algn="tl">
                    <a:srgbClr val="000000">
                      <a:alpha val="43137"/>
                    </a:srgbClr>
                  </a:outerShdw>
                </a:effectLst>
              </a:endParaRPr>
            </a:p>
          </p:txBody>
        </p:sp>
      </p:grpSp>
      <p:pic>
        <p:nvPicPr>
          <p:cNvPr id="21511" name="Picture 10">
            <a:extLst>
              <a:ext uri="{FF2B5EF4-FFF2-40B4-BE49-F238E27FC236}">
                <a16:creationId xmlns:a16="http://schemas.microsoft.com/office/drawing/2014/main" id="{4DB4E26D-E4A6-D29D-B2B5-929E4429467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18113" y="4227513"/>
            <a:ext cx="3330575" cy="157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4D6E9DC-C39C-3F60-93C3-FB727116561F}"/>
              </a:ext>
            </a:extLst>
          </p:cNvPr>
          <p:cNvSpPr>
            <a:spLocks noGrp="1"/>
          </p:cNvSpPr>
          <p:nvPr>
            <p:ph idx="1"/>
          </p:nvPr>
        </p:nvSpPr>
        <p:spPr/>
        <p:txBody>
          <a:bodyPr/>
          <a:lstStyle/>
          <a:p>
            <a:pPr>
              <a:defRPr/>
            </a:pPr>
            <a:r>
              <a:rPr lang="zh-CN" altLang="en-US" dirty="0">
                <a:highlight>
                  <a:srgbClr val="FFFF00"/>
                </a:highlight>
              </a:rPr>
              <a:t>置位操作</a:t>
            </a:r>
            <a:endParaRPr lang="en-US" altLang="zh-CN" dirty="0">
              <a:highlight>
                <a:srgbClr val="FFFF00"/>
              </a:highlight>
            </a:endParaRPr>
          </a:p>
          <a:p>
            <a:pPr marL="0" indent="0">
              <a:buFontTx/>
              <a:buNone/>
              <a:defRPr/>
            </a:pPr>
            <a:r>
              <a:rPr lang="en-US" altLang="zh-CN" dirty="0"/>
              <a:t>   OR AL,00000001B</a:t>
            </a:r>
          </a:p>
          <a:p>
            <a:pPr marL="0" indent="0">
              <a:buFontTx/>
              <a:buNone/>
              <a:defRPr/>
            </a:pPr>
            <a:endParaRPr lang="en-US" altLang="zh-CN" dirty="0"/>
          </a:p>
          <a:p>
            <a:pPr marL="0" indent="0">
              <a:buFontTx/>
              <a:buNone/>
              <a:defRPr/>
            </a:pPr>
            <a:r>
              <a:rPr lang="zh-CN" altLang="en-US" dirty="0">
                <a:solidFill>
                  <a:srgbClr val="0000FF"/>
                </a:solidFill>
              </a:rPr>
              <a:t>     用于将控制端口中指定的控制位置</a:t>
            </a:r>
            <a:r>
              <a:rPr lang="en-US" altLang="zh-CN" dirty="0">
                <a:solidFill>
                  <a:srgbClr val="0000FF"/>
                </a:solidFill>
              </a:rPr>
              <a:t>1</a:t>
            </a:r>
            <a:r>
              <a:rPr lang="zh-CN" altLang="en-US" dirty="0">
                <a:solidFill>
                  <a:srgbClr val="0000FF"/>
                </a:solidFill>
              </a:rPr>
              <a:t>，达到相应的控制目的。</a:t>
            </a:r>
          </a:p>
        </p:txBody>
      </p:sp>
      <p:sp>
        <p:nvSpPr>
          <p:cNvPr id="4" name="灯片编号占位符 3">
            <a:extLst>
              <a:ext uri="{FF2B5EF4-FFF2-40B4-BE49-F238E27FC236}">
                <a16:creationId xmlns:a16="http://schemas.microsoft.com/office/drawing/2014/main" id="{AD3B3929-2784-F038-A454-8BE2C47165AB}"/>
              </a:ext>
            </a:extLst>
          </p:cNvPr>
          <p:cNvSpPr>
            <a:spLocks noGrp="1"/>
          </p:cNvSpPr>
          <p:nvPr>
            <p:ph type="sldNum" sz="quarter" idx="12"/>
          </p:nvPr>
        </p:nvSpPr>
        <p:spPr bwMode="auto">
          <a:xfrm>
            <a:off x="6554788" y="6245225"/>
            <a:ext cx="2133600" cy="476250"/>
          </a:xfrm>
          <a:prstGeom prst="rect">
            <a:avLst/>
          </a:prstGeom>
          <a:noFill/>
          <a:ln w="9525">
            <a:noFill/>
            <a:miter lim="800000"/>
            <a:headEnd/>
            <a:tailEnd/>
          </a:ln>
          <a:effectLst/>
        </p:spPr>
        <p:txBody>
          <a:bodyPr vert="horz" wrap="square" lIns="88459" tIns="44230" rIns="88459" bIns="44230" numCol="1" anchor="t" anchorCtr="0" compatLnSpc="1">
            <a:prstTxWarp prst="textNoShape">
              <a:avLst/>
            </a:prstTxWarp>
          </a:bodyPr>
          <a:lstStyle>
            <a:defPPr>
              <a:defRPr lang="zh-CN"/>
            </a:defPPr>
            <a:lvl1pPr algn="r" rtl="0" eaLnBrk="1" fontAlgn="base" hangingPunct="1">
              <a:spcBef>
                <a:spcPct val="0"/>
              </a:spcBef>
              <a:spcAft>
                <a:spcPct val="0"/>
              </a:spcAft>
              <a:defRPr sz="1422" kern="1200">
                <a:solidFill>
                  <a:schemeClr val="tx1"/>
                </a:solidFill>
                <a:effectLst>
                  <a:outerShdw blurRad="38100" dist="38100" dir="2700000" algn="tl">
                    <a:srgbClr val="000000">
                      <a:alpha val="43137"/>
                    </a:srgbClr>
                  </a:outerShdw>
                </a:effectLst>
                <a:latin typeface="Arial" panose="020B0604020202020204" pitchFamily="34" charset="0"/>
                <a:ea typeface="宋体" pitchFamily="2" charset="-122"/>
                <a:cs typeface="+mn-cs"/>
              </a:defRPr>
            </a:lvl1pPr>
            <a:lvl2pPr marL="4572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9pPr>
          </a:lstStyle>
          <a:p>
            <a:pPr>
              <a:defRPr/>
            </a:pPr>
            <a:fld id="{DCC68147-CA70-4044-A530-6F581D0EC877}" type="slidenum">
              <a:rPr lang="en-US" altLang="zh-CN" smtClean="0"/>
              <a:pPr>
                <a:defRPr/>
              </a:pPr>
              <a:t>77</a:t>
            </a:fld>
            <a:endParaRPr lang="en-US" altLang="zh-CN"/>
          </a:p>
        </p:txBody>
      </p:sp>
    </p:spTree>
  </p:cSld>
  <p:clrMapOvr>
    <a:masterClrMapping/>
  </p:clrMapOvr>
  <p:transition>
    <p:random/>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74E48E42-D427-6BCD-58D5-C3B3EAE0B2CD}"/>
              </a:ext>
            </a:extLst>
          </p:cNvPr>
          <p:cNvSpPr>
            <a:spLocks noGrp="1" noChangeArrowheads="1"/>
          </p:cNvSpPr>
          <p:nvPr>
            <p:ph type="title"/>
          </p:nvPr>
        </p:nvSpPr>
        <p:spPr/>
        <p:txBody>
          <a:bodyPr/>
          <a:lstStyle/>
          <a:p>
            <a:r>
              <a:rPr lang="zh-CN" altLang="en-US"/>
              <a:t>逻辑异或指令</a:t>
            </a:r>
            <a:r>
              <a:rPr lang="en-US" altLang="zh-CN"/>
              <a:t>XOR</a:t>
            </a:r>
          </a:p>
        </p:txBody>
      </p:sp>
      <p:sp>
        <p:nvSpPr>
          <p:cNvPr id="23555" name="Rectangle 3">
            <a:extLst>
              <a:ext uri="{FF2B5EF4-FFF2-40B4-BE49-F238E27FC236}">
                <a16:creationId xmlns:a16="http://schemas.microsoft.com/office/drawing/2014/main" id="{727842B6-5ABC-86E3-ABB2-E49A9A59AE9C}"/>
              </a:ext>
            </a:extLst>
          </p:cNvPr>
          <p:cNvSpPr>
            <a:spLocks noGrp="1" noChangeArrowheads="1"/>
          </p:cNvSpPr>
          <p:nvPr>
            <p:ph idx="1"/>
          </p:nvPr>
        </p:nvSpPr>
        <p:spPr>
          <a:xfrm>
            <a:off x="454025" y="1181100"/>
            <a:ext cx="8428038" cy="611188"/>
          </a:xfrm>
        </p:spPr>
        <p:txBody>
          <a:bodyPr/>
          <a:lstStyle/>
          <a:p>
            <a:pPr>
              <a:buFontTx/>
              <a:buNone/>
            </a:pPr>
            <a:r>
              <a:rPr lang="zh-CN" altLang="en-US" sz="2800"/>
              <a:t>对两个操作数执行逻辑异或运算，结果送目的操作数</a:t>
            </a:r>
          </a:p>
        </p:txBody>
      </p:sp>
      <p:sp>
        <p:nvSpPr>
          <p:cNvPr id="23556" name="AutoShape 4">
            <a:extLst>
              <a:ext uri="{FF2B5EF4-FFF2-40B4-BE49-F238E27FC236}">
                <a16:creationId xmlns:a16="http://schemas.microsoft.com/office/drawing/2014/main" id="{EA54650F-0FD3-BFD6-C552-B5CD4197D98E}"/>
              </a:ext>
            </a:extLst>
          </p:cNvPr>
          <p:cNvSpPr>
            <a:spLocks noChangeArrowheads="1"/>
          </p:cNvSpPr>
          <p:nvPr/>
        </p:nvSpPr>
        <p:spPr bwMode="auto">
          <a:xfrm>
            <a:off x="542925" y="2098675"/>
            <a:ext cx="8153400" cy="579438"/>
          </a:xfrm>
          <a:prstGeom prst="flowChartAlternateProcess">
            <a:avLst/>
          </a:prstGeom>
          <a:blipFill dpi="0" rotWithShape="0">
            <a:blip r:embed="rId2"/>
            <a:srcRect/>
            <a:stretch>
              <a:fillRect/>
            </a:stretch>
          </a:blipFill>
          <a:ln>
            <a:noFill/>
          </a:ln>
          <a:effectLst>
            <a:prstShdw prst="shdw13" dist="53882" dir="13500000">
              <a:srgbClr val="808080"/>
            </a:prstShdw>
          </a:effectLst>
          <a:extLst>
            <a:ext uri="{91240B29-F687-4F45-9708-019B960494DF}">
              <a14:hiddenLine xmlns:a14="http://schemas.microsoft.com/office/drawing/2010/main" w="12700" cap="sq">
                <a:solidFill>
                  <a:srgbClr val="808000"/>
                </a:solidFill>
                <a:miter lim="800000"/>
                <a:headEnd type="none" w="sm" len="sm"/>
                <a:tailEnd type="none" w="sm" len="sm"/>
              </a14:hiddenLine>
            </a:ext>
          </a:extLst>
        </p:spPr>
        <p:txBody>
          <a:bodyPr/>
          <a:lstStyle>
            <a:lvl1pPr>
              <a:tabLst>
                <a:tab pos="3233738" algn="l"/>
              </a:tabLst>
              <a:defRPr sz="2000">
                <a:solidFill>
                  <a:schemeClr val="tx1"/>
                </a:solidFill>
                <a:latin typeface="Arial" panose="020B0604020202020204" pitchFamily="34" charset="0"/>
                <a:ea typeface="宋体" panose="02010600030101010101" pitchFamily="2" charset="-122"/>
              </a:defRPr>
            </a:lvl1pPr>
            <a:lvl2pPr marL="742950" indent="-285750">
              <a:tabLst>
                <a:tab pos="3233738" algn="l"/>
              </a:tabLst>
              <a:defRPr sz="2000">
                <a:solidFill>
                  <a:schemeClr val="tx1"/>
                </a:solidFill>
                <a:latin typeface="Arial" panose="020B0604020202020204" pitchFamily="34" charset="0"/>
                <a:ea typeface="宋体" panose="02010600030101010101" pitchFamily="2" charset="-122"/>
              </a:defRPr>
            </a:lvl2pPr>
            <a:lvl3pPr marL="1143000" indent="-228600">
              <a:tabLst>
                <a:tab pos="3233738" algn="l"/>
              </a:tabLst>
              <a:defRPr sz="2000">
                <a:solidFill>
                  <a:schemeClr val="tx1"/>
                </a:solidFill>
                <a:latin typeface="Arial" panose="020B0604020202020204" pitchFamily="34" charset="0"/>
                <a:ea typeface="宋体" panose="02010600030101010101" pitchFamily="2" charset="-122"/>
              </a:defRPr>
            </a:lvl3pPr>
            <a:lvl4pPr marL="1600200" indent="-228600">
              <a:tabLst>
                <a:tab pos="3233738" algn="l"/>
              </a:tabLst>
              <a:defRPr sz="2000">
                <a:solidFill>
                  <a:schemeClr val="tx1"/>
                </a:solidFill>
                <a:latin typeface="Arial" panose="020B0604020202020204" pitchFamily="34" charset="0"/>
                <a:ea typeface="宋体" panose="02010600030101010101" pitchFamily="2" charset="-122"/>
              </a:defRPr>
            </a:lvl4pPr>
            <a:lvl5pPr marL="2057400" indent="-228600">
              <a:tabLst>
                <a:tab pos="3233738" algn="l"/>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3233738" algn="l"/>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3233738" algn="l"/>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3233738" algn="l"/>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3233738" algn="l"/>
              </a:tabLst>
              <a:defRPr sz="2000">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800" b="1">
                <a:latin typeface="宋体" panose="02010600030101010101" pitchFamily="2" charset="-122"/>
              </a:rPr>
              <a:t>XOR dest,src</a:t>
            </a:r>
            <a:r>
              <a:rPr lang="en-US" altLang="zh-CN" sz="2800" b="1">
                <a:solidFill>
                  <a:schemeClr val="bg2"/>
                </a:solidFill>
                <a:latin typeface="宋体" panose="02010600030101010101" pitchFamily="2" charset="-122"/>
              </a:rPr>
              <a:t>	</a:t>
            </a:r>
            <a:r>
              <a:rPr lang="zh-CN" altLang="en-US" sz="2800" b="1">
                <a:solidFill>
                  <a:schemeClr val="accent2"/>
                </a:solidFill>
                <a:latin typeface="宋体" panose="02010600030101010101" pitchFamily="2" charset="-122"/>
              </a:rPr>
              <a:t>；</a:t>
            </a:r>
            <a:r>
              <a:rPr lang="en-US" altLang="zh-CN" sz="2800" b="1">
                <a:solidFill>
                  <a:schemeClr val="accent2"/>
                </a:solidFill>
                <a:latin typeface="宋体" panose="02010600030101010101" pitchFamily="2" charset="-122"/>
              </a:rPr>
              <a:t>dest←dest</a:t>
            </a:r>
            <a:r>
              <a:rPr lang="en-US" altLang="zh-CN" sz="2800" b="1">
                <a:solidFill>
                  <a:srgbClr val="006600"/>
                </a:solidFill>
                <a:latin typeface="宋体" panose="02010600030101010101" pitchFamily="2" charset="-122"/>
              </a:rPr>
              <a:t>⊕</a:t>
            </a:r>
            <a:r>
              <a:rPr lang="en-US" altLang="zh-CN" sz="2800" b="1">
                <a:solidFill>
                  <a:schemeClr val="accent2"/>
                </a:solidFill>
                <a:latin typeface="宋体" panose="02010600030101010101" pitchFamily="2" charset="-122"/>
              </a:rPr>
              <a:t>src</a:t>
            </a:r>
          </a:p>
        </p:txBody>
      </p:sp>
      <p:sp>
        <p:nvSpPr>
          <p:cNvPr id="23557" name="AutoShape 5">
            <a:extLst>
              <a:ext uri="{FF2B5EF4-FFF2-40B4-BE49-F238E27FC236}">
                <a16:creationId xmlns:a16="http://schemas.microsoft.com/office/drawing/2014/main" id="{61E7F188-8AA5-3AFD-9DB9-234E9B58A332}"/>
              </a:ext>
            </a:extLst>
          </p:cNvPr>
          <p:cNvSpPr>
            <a:spLocks noChangeArrowheads="1"/>
          </p:cNvSpPr>
          <p:nvPr/>
        </p:nvSpPr>
        <p:spPr bwMode="auto">
          <a:xfrm>
            <a:off x="344488" y="3119438"/>
            <a:ext cx="4446587" cy="1627187"/>
          </a:xfrm>
          <a:prstGeom prst="roundRect">
            <a:avLst>
              <a:gd name="adj" fmla="val 16667"/>
            </a:avLst>
          </a:prstGeom>
          <a:blipFill dpi="0" rotWithShape="0">
            <a:blip r:embed="rId3"/>
            <a:srcRect/>
            <a:tile tx="0" ty="0" sx="100000" sy="100000" flip="none" algn="tl"/>
          </a:blip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gn="just" eaLnBrk="1" hangingPunct="1">
              <a:buFontTx/>
              <a:buBlip>
                <a:blip r:embed="rId4"/>
              </a:buBlip>
            </a:pPr>
            <a:r>
              <a:rPr kumimoji="1" lang="zh-CN" altLang="zh-CN" sz="3200" b="1">
                <a:solidFill>
                  <a:schemeClr val="accent2"/>
                </a:solidFill>
              </a:rPr>
              <a:t>只有相“异或”的两位不相同，结果才是1；否则，结果为0</a:t>
            </a:r>
            <a:endParaRPr kumimoji="1" lang="en-US" altLang="zh-CN" sz="3200" b="1">
              <a:solidFill>
                <a:schemeClr val="accent2"/>
              </a:solidFill>
            </a:endParaRPr>
          </a:p>
        </p:txBody>
      </p:sp>
      <p:grpSp>
        <p:nvGrpSpPr>
          <p:cNvPr id="23558" name="Group 6">
            <a:extLst>
              <a:ext uri="{FF2B5EF4-FFF2-40B4-BE49-F238E27FC236}">
                <a16:creationId xmlns:a16="http://schemas.microsoft.com/office/drawing/2014/main" id="{9C6158AD-4A83-C4FD-7FA2-900A22CD8670}"/>
              </a:ext>
            </a:extLst>
          </p:cNvPr>
          <p:cNvGrpSpPr>
            <a:grpSpLocks/>
          </p:cNvGrpSpPr>
          <p:nvPr/>
        </p:nvGrpSpPr>
        <p:grpSpPr bwMode="auto">
          <a:xfrm>
            <a:off x="3303588" y="1162050"/>
            <a:ext cx="1619250" cy="2003425"/>
            <a:chOff x="3024" y="816"/>
            <a:chExt cx="912" cy="1728"/>
          </a:xfrm>
        </p:grpSpPr>
        <p:sp>
          <p:nvSpPr>
            <p:cNvPr id="330759" name="Oval 7">
              <a:extLst>
                <a:ext uri="{FF2B5EF4-FFF2-40B4-BE49-F238E27FC236}">
                  <a16:creationId xmlns:a16="http://schemas.microsoft.com/office/drawing/2014/main" id="{23CB2450-FF5A-076B-B0DA-87980A59FF8C}"/>
                </a:ext>
              </a:extLst>
            </p:cNvPr>
            <p:cNvSpPr>
              <a:spLocks noChangeArrowheads="1"/>
            </p:cNvSpPr>
            <p:nvPr/>
          </p:nvSpPr>
          <p:spPr bwMode="auto">
            <a:xfrm>
              <a:off x="3024" y="816"/>
              <a:ext cx="912" cy="529"/>
            </a:xfrm>
            <a:prstGeom prst="ellipse">
              <a:avLst/>
            </a:prstGeom>
            <a:noFill/>
            <a:ln w="38100">
              <a:solidFill>
                <a:schemeClr val="tx2"/>
              </a:solidFill>
              <a:round/>
              <a:headEnd/>
              <a:tailEnd/>
            </a:ln>
            <a:effectLst/>
          </p:spPr>
          <p:txBody>
            <a:bodyPr wrap="none" anchor="ctr"/>
            <a:lstStyle/>
            <a:p>
              <a:pPr eaLnBrk="1" hangingPunct="1">
                <a:defRPr/>
              </a:pPr>
              <a:endParaRPr lang="zh-CN" altLang="en-US">
                <a:effectLst>
                  <a:outerShdw blurRad="38100" dist="38100" dir="2700000" algn="tl">
                    <a:srgbClr val="000000">
                      <a:alpha val="43137"/>
                    </a:srgbClr>
                  </a:outerShdw>
                </a:effectLst>
              </a:endParaRPr>
            </a:p>
          </p:txBody>
        </p:sp>
        <p:sp>
          <p:nvSpPr>
            <p:cNvPr id="330760" name="Line 8">
              <a:extLst>
                <a:ext uri="{FF2B5EF4-FFF2-40B4-BE49-F238E27FC236}">
                  <a16:creationId xmlns:a16="http://schemas.microsoft.com/office/drawing/2014/main" id="{0EC99951-FA02-4861-AA8B-6C7CE881DBB1}"/>
                </a:ext>
              </a:extLst>
            </p:cNvPr>
            <p:cNvSpPr>
              <a:spLocks noChangeShapeType="1"/>
            </p:cNvSpPr>
            <p:nvPr/>
          </p:nvSpPr>
          <p:spPr bwMode="auto">
            <a:xfrm flipH="1">
              <a:off x="3264" y="1345"/>
              <a:ext cx="241" cy="1199"/>
            </a:xfrm>
            <a:prstGeom prst="line">
              <a:avLst/>
            </a:prstGeom>
            <a:noFill/>
            <a:ln w="38100">
              <a:solidFill>
                <a:schemeClr val="tx2"/>
              </a:solidFill>
              <a:round/>
              <a:headEnd/>
              <a:tailEnd type="triangle" w="med" len="med"/>
            </a:ln>
            <a:effectLst/>
          </p:spPr>
          <p:txBody>
            <a:bodyPr/>
            <a:lstStyle/>
            <a:p>
              <a:pPr eaLnBrk="1" hangingPunct="1">
                <a:defRPr/>
              </a:pPr>
              <a:endParaRPr lang="zh-CN" altLang="en-US">
                <a:effectLst>
                  <a:outerShdw blurRad="38100" dist="38100" dir="2700000" algn="tl">
                    <a:srgbClr val="000000">
                      <a:alpha val="43137"/>
                    </a:srgbClr>
                  </a:outerShdw>
                </a:effectLst>
              </a:endParaRPr>
            </a:p>
          </p:txBody>
        </p:sp>
      </p:grpSp>
      <p:pic>
        <p:nvPicPr>
          <p:cNvPr id="23559" name="Picture 10">
            <a:extLst>
              <a:ext uri="{FF2B5EF4-FFF2-40B4-BE49-F238E27FC236}">
                <a16:creationId xmlns:a16="http://schemas.microsoft.com/office/drawing/2014/main" id="{140B494F-FCFA-F69F-E5C8-59B76DB9F6E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30788" y="4132263"/>
            <a:ext cx="3481387" cy="164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44EE10F-32FA-1EA9-25CB-8439476F754B}"/>
              </a:ext>
            </a:extLst>
          </p:cNvPr>
          <p:cNvSpPr>
            <a:spLocks noGrp="1"/>
          </p:cNvSpPr>
          <p:nvPr>
            <p:ph idx="1"/>
          </p:nvPr>
        </p:nvSpPr>
        <p:spPr/>
        <p:txBody>
          <a:bodyPr/>
          <a:lstStyle/>
          <a:p>
            <a:pPr>
              <a:defRPr/>
            </a:pPr>
            <a:r>
              <a:rPr lang="zh-CN" altLang="en-US" dirty="0">
                <a:highlight>
                  <a:srgbClr val="FFFF00"/>
                </a:highlight>
              </a:rPr>
              <a:t>置位操作</a:t>
            </a:r>
            <a:endParaRPr lang="en-US" altLang="zh-CN" dirty="0">
              <a:highlight>
                <a:srgbClr val="FFFF00"/>
              </a:highlight>
            </a:endParaRPr>
          </a:p>
          <a:p>
            <a:pPr marL="0" indent="0">
              <a:buFontTx/>
              <a:buNone/>
              <a:defRPr/>
            </a:pPr>
            <a:r>
              <a:rPr lang="en-US" altLang="zh-CN" dirty="0"/>
              <a:t>   XOR AL,10000000B</a:t>
            </a:r>
          </a:p>
          <a:p>
            <a:pPr marL="0" indent="0">
              <a:buFontTx/>
              <a:buNone/>
              <a:defRPr/>
            </a:pPr>
            <a:endParaRPr lang="en-US" altLang="zh-CN" dirty="0"/>
          </a:p>
          <a:p>
            <a:pPr marL="0" indent="0">
              <a:buFontTx/>
              <a:buNone/>
              <a:defRPr/>
            </a:pPr>
            <a:r>
              <a:rPr lang="zh-CN" altLang="en-US" dirty="0">
                <a:solidFill>
                  <a:srgbClr val="0000FF"/>
                </a:solidFill>
              </a:rPr>
              <a:t>      用于将控制端口中指定的控制位置变反，达到相应的控制目的。</a:t>
            </a:r>
          </a:p>
        </p:txBody>
      </p:sp>
      <p:sp>
        <p:nvSpPr>
          <p:cNvPr id="4" name="灯片编号占位符 3">
            <a:extLst>
              <a:ext uri="{FF2B5EF4-FFF2-40B4-BE49-F238E27FC236}">
                <a16:creationId xmlns:a16="http://schemas.microsoft.com/office/drawing/2014/main" id="{73CFD182-00B0-B598-F424-D7AA65014EAF}"/>
              </a:ext>
            </a:extLst>
          </p:cNvPr>
          <p:cNvSpPr>
            <a:spLocks noGrp="1"/>
          </p:cNvSpPr>
          <p:nvPr>
            <p:ph type="sldNum" sz="quarter" idx="12"/>
          </p:nvPr>
        </p:nvSpPr>
        <p:spPr bwMode="auto">
          <a:xfrm>
            <a:off x="6554788" y="6245225"/>
            <a:ext cx="2133600" cy="476250"/>
          </a:xfrm>
          <a:prstGeom prst="rect">
            <a:avLst/>
          </a:prstGeom>
          <a:noFill/>
          <a:ln w="9525">
            <a:noFill/>
            <a:miter lim="800000"/>
            <a:headEnd/>
            <a:tailEnd/>
          </a:ln>
          <a:effectLst/>
        </p:spPr>
        <p:txBody>
          <a:bodyPr vert="horz" wrap="square" lIns="88459" tIns="44230" rIns="88459" bIns="44230" numCol="1" anchor="t" anchorCtr="0" compatLnSpc="1">
            <a:prstTxWarp prst="textNoShape">
              <a:avLst/>
            </a:prstTxWarp>
          </a:bodyPr>
          <a:lstStyle>
            <a:defPPr>
              <a:defRPr lang="zh-CN"/>
            </a:defPPr>
            <a:lvl1pPr algn="r" rtl="0" eaLnBrk="1" fontAlgn="base" hangingPunct="1">
              <a:spcBef>
                <a:spcPct val="0"/>
              </a:spcBef>
              <a:spcAft>
                <a:spcPct val="0"/>
              </a:spcAft>
              <a:defRPr sz="1422" kern="1200">
                <a:solidFill>
                  <a:schemeClr val="tx1"/>
                </a:solidFill>
                <a:effectLst>
                  <a:outerShdw blurRad="38100" dist="38100" dir="2700000" algn="tl">
                    <a:srgbClr val="000000">
                      <a:alpha val="43137"/>
                    </a:srgbClr>
                  </a:outerShdw>
                </a:effectLst>
                <a:latin typeface="Arial" panose="020B0604020202020204" pitchFamily="34" charset="0"/>
                <a:ea typeface="宋体" pitchFamily="2" charset="-122"/>
                <a:cs typeface="+mn-cs"/>
              </a:defRPr>
            </a:lvl1pPr>
            <a:lvl2pPr marL="4572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9pPr>
          </a:lstStyle>
          <a:p>
            <a:pPr>
              <a:defRPr/>
            </a:pPr>
            <a:fld id="{DCC68147-CA70-4044-A530-6F581D0EC877}" type="slidenum">
              <a:rPr lang="en-US" altLang="zh-CN" smtClean="0"/>
              <a:pPr>
                <a:defRPr/>
              </a:pPr>
              <a:t>79</a:t>
            </a:fld>
            <a:endParaRPr lang="en-US" altLang="zh-CN"/>
          </a:p>
        </p:txBody>
      </p:sp>
    </p:spTree>
  </p:cSld>
  <p:clrMapOvr>
    <a:masterClrMapping/>
  </p:clrMapOvr>
  <p:transition>
    <p:random/>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FC64432A-9A64-F67A-87A1-A79AABA5FC8C}"/>
              </a:ext>
            </a:extLst>
          </p:cNvPr>
          <p:cNvSpPr>
            <a:spLocks noGrp="1" noChangeArrowheads="1"/>
          </p:cNvSpPr>
          <p:nvPr>
            <p:ph type="title"/>
          </p:nvPr>
        </p:nvSpPr>
        <p:spPr/>
        <p:txBody>
          <a:bodyPr/>
          <a:lstStyle/>
          <a:p>
            <a:r>
              <a:rPr lang="zh-CN" altLang="en-US"/>
              <a:t>测试指令</a:t>
            </a:r>
            <a:r>
              <a:rPr lang="en-US" altLang="zh-CN"/>
              <a:t>TEST</a:t>
            </a:r>
          </a:p>
        </p:txBody>
      </p:sp>
      <p:sp>
        <p:nvSpPr>
          <p:cNvPr id="25603" name="Rectangle 3">
            <a:extLst>
              <a:ext uri="{FF2B5EF4-FFF2-40B4-BE49-F238E27FC236}">
                <a16:creationId xmlns:a16="http://schemas.microsoft.com/office/drawing/2014/main" id="{5416DBD3-093A-2B0A-3FB6-F9525AD0097B}"/>
              </a:ext>
            </a:extLst>
          </p:cNvPr>
          <p:cNvSpPr>
            <a:spLocks noGrp="1" noChangeArrowheads="1"/>
          </p:cNvSpPr>
          <p:nvPr>
            <p:ph idx="1"/>
          </p:nvPr>
        </p:nvSpPr>
        <p:spPr>
          <a:xfrm>
            <a:off x="454025" y="1181100"/>
            <a:ext cx="8428038" cy="1095375"/>
          </a:xfrm>
        </p:spPr>
        <p:txBody>
          <a:bodyPr/>
          <a:lstStyle/>
          <a:p>
            <a:r>
              <a:rPr lang="zh-CN" altLang="en-US"/>
              <a:t>对两个操作数执行逻辑与运算，结果并不送目的操作数，仅按</a:t>
            </a:r>
            <a:r>
              <a:rPr lang="en-US" altLang="zh-CN"/>
              <a:t>AND</a:t>
            </a:r>
            <a:r>
              <a:rPr lang="zh-CN" altLang="en-US"/>
              <a:t>指令影响标志</a:t>
            </a:r>
          </a:p>
        </p:txBody>
      </p:sp>
      <p:sp>
        <p:nvSpPr>
          <p:cNvPr id="25604" name="AutoShape 4">
            <a:extLst>
              <a:ext uri="{FF2B5EF4-FFF2-40B4-BE49-F238E27FC236}">
                <a16:creationId xmlns:a16="http://schemas.microsoft.com/office/drawing/2014/main" id="{EFF9FDD1-6293-6CCF-2921-1747749EC722}"/>
              </a:ext>
            </a:extLst>
          </p:cNvPr>
          <p:cNvSpPr>
            <a:spLocks noChangeArrowheads="1"/>
          </p:cNvSpPr>
          <p:nvPr/>
        </p:nvSpPr>
        <p:spPr bwMode="auto">
          <a:xfrm>
            <a:off x="508000" y="2924175"/>
            <a:ext cx="8153400" cy="579438"/>
          </a:xfrm>
          <a:prstGeom prst="flowChartAlternateProcess">
            <a:avLst/>
          </a:prstGeom>
          <a:blipFill dpi="0" rotWithShape="0">
            <a:blip r:embed="rId2"/>
            <a:srcRect/>
            <a:stretch>
              <a:fillRect/>
            </a:stretch>
          </a:blipFill>
          <a:ln>
            <a:noFill/>
          </a:ln>
          <a:effectLst>
            <a:prstShdw prst="shdw13" dist="53882" dir="13500000">
              <a:srgbClr val="808080"/>
            </a:prstShdw>
          </a:effectLst>
          <a:extLst>
            <a:ext uri="{91240B29-F687-4F45-9708-019B960494DF}">
              <a14:hiddenLine xmlns:a14="http://schemas.microsoft.com/office/drawing/2010/main" w="12700" cap="sq">
                <a:solidFill>
                  <a:srgbClr val="808000"/>
                </a:solidFill>
                <a:miter lim="800000"/>
                <a:headEnd type="none" w="sm" len="sm"/>
                <a:tailEnd type="none" w="sm" len="sm"/>
              </a14:hiddenLine>
            </a:ext>
          </a:extLst>
        </p:spPr>
        <p:txBody>
          <a:bodyPr/>
          <a:lstStyle>
            <a:lvl1pPr>
              <a:tabLst>
                <a:tab pos="3233738" algn="l"/>
              </a:tabLst>
              <a:defRPr sz="2000">
                <a:solidFill>
                  <a:schemeClr val="tx1"/>
                </a:solidFill>
                <a:latin typeface="Arial" panose="020B0604020202020204" pitchFamily="34" charset="0"/>
                <a:ea typeface="宋体" panose="02010600030101010101" pitchFamily="2" charset="-122"/>
              </a:defRPr>
            </a:lvl1pPr>
            <a:lvl2pPr marL="742950" indent="-285750">
              <a:tabLst>
                <a:tab pos="3233738" algn="l"/>
              </a:tabLst>
              <a:defRPr sz="2000">
                <a:solidFill>
                  <a:schemeClr val="tx1"/>
                </a:solidFill>
                <a:latin typeface="Arial" panose="020B0604020202020204" pitchFamily="34" charset="0"/>
                <a:ea typeface="宋体" panose="02010600030101010101" pitchFamily="2" charset="-122"/>
              </a:defRPr>
            </a:lvl2pPr>
            <a:lvl3pPr marL="1143000" indent="-228600">
              <a:tabLst>
                <a:tab pos="3233738" algn="l"/>
              </a:tabLst>
              <a:defRPr sz="2000">
                <a:solidFill>
                  <a:schemeClr val="tx1"/>
                </a:solidFill>
                <a:latin typeface="Arial" panose="020B0604020202020204" pitchFamily="34" charset="0"/>
                <a:ea typeface="宋体" panose="02010600030101010101" pitchFamily="2" charset="-122"/>
              </a:defRPr>
            </a:lvl3pPr>
            <a:lvl4pPr marL="1600200" indent="-228600">
              <a:tabLst>
                <a:tab pos="3233738" algn="l"/>
              </a:tabLst>
              <a:defRPr sz="2000">
                <a:solidFill>
                  <a:schemeClr val="tx1"/>
                </a:solidFill>
                <a:latin typeface="Arial" panose="020B0604020202020204" pitchFamily="34" charset="0"/>
                <a:ea typeface="宋体" panose="02010600030101010101" pitchFamily="2" charset="-122"/>
              </a:defRPr>
            </a:lvl4pPr>
            <a:lvl5pPr marL="2057400" indent="-228600">
              <a:tabLst>
                <a:tab pos="3233738" algn="l"/>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3233738" algn="l"/>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3233738" algn="l"/>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3233738" algn="l"/>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3233738" algn="l"/>
              </a:tabLst>
              <a:defRPr sz="2000">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800" b="1">
                <a:latin typeface="宋体" panose="02010600030101010101" pitchFamily="2" charset="-122"/>
              </a:rPr>
              <a:t>TEST dest,src</a:t>
            </a:r>
            <a:r>
              <a:rPr lang="en-US" altLang="zh-CN" sz="2800" b="1">
                <a:solidFill>
                  <a:schemeClr val="bg2"/>
                </a:solidFill>
                <a:latin typeface="宋体" panose="02010600030101010101" pitchFamily="2" charset="-122"/>
              </a:rPr>
              <a:t>	</a:t>
            </a:r>
            <a:r>
              <a:rPr lang="zh-CN" altLang="en-US" sz="2800" b="1">
                <a:solidFill>
                  <a:schemeClr val="accent2"/>
                </a:solidFill>
                <a:latin typeface="宋体" panose="02010600030101010101" pitchFamily="2" charset="-122"/>
              </a:rPr>
              <a:t>；</a:t>
            </a:r>
            <a:r>
              <a:rPr lang="en-US" altLang="zh-CN" sz="2800" b="1">
                <a:solidFill>
                  <a:schemeClr val="accent2"/>
                </a:solidFill>
                <a:latin typeface="宋体" panose="02010600030101010101" pitchFamily="2" charset="-122"/>
              </a:rPr>
              <a:t>dest</a:t>
            </a:r>
            <a:r>
              <a:rPr lang="en-US" altLang="zh-CN" sz="2800" b="1">
                <a:solidFill>
                  <a:srgbClr val="006600"/>
                </a:solidFill>
                <a:latin typeface="宋体" panose="02010600030101010101" pitchFamily="2" charset="-122"/>
              </a:rPr>
              <a:t>∧</a:t>
            </a:r>
            <a:r>
              <a:rPr lang="en-US" altLang="zh-CN" sz="2800" b="1">
                <a:solidFill>
                  <a:schemeClr val="accent2"/>
                </a:solidFill>
                <a:latin typeface="宋体" panose="02010600030101010101" pitchFamily="2" charset="-122"/>
              </a:rPr>
              <a:t>src</a:t>
            </a:r>
          </a:p>
        </p:txBody>
      </p:sp>
      <p:sp>
        <p:nvSpPr>
          <p:cNvPr id="25605" name="AutoShape 5">
            <a:extLst>
              <a:ext uri="{FF2B5EF4-FFF2-40B4-BE49-F238E27FC236}">
                <a16:creationId xmlns:a16="http://schemas.microsoft.com/office/drawing/2014/main" id="{823528DE-834D-C85A-8BE3-BCE87F200B5B}"/>
              </a:ext>
            </a:extLst>
          </p:cNvPr>
          <p:cNvSpPr>
            <a:spLocks noChangeArrowheads="1"/>
          </p:cNvSpPr>
          <p:nvPr/>
        </p:nvSpPr>
        <p:spPr bwMode="auto">
          <a:xfrm>
            <a:off x="2387600" y="4068763"/>
            <a:ext cx="6167438" cy="1143000"/>
          </a:xfrm>
          <a:prstGeom prst="roundRect">
            <a:avLst>
              <a:gd name="adj" fmla="val 16667"/>
            </a:avLst>
          </a:prstGeom>
          <a:blipFill dpi="0" rotWithShape="0">
            <a:blip r:embed="rId3"/>
            <a:srcRect/>
            <a:tile tx="0" ty="0" sx="100000" sy="100000" flip="none" algn="tl"/>
          </a:blip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gn="just" eaLnBrk="1" hangingPunct="1">
              <a:buFontTx/>
              <a:buBlip>
                <a:blip r:embed="rId4"/>
              </a:buBlip>
            </a:pPr>
            <a:r>
              <a:rPr kumimoji="1" lang="en-US" altLang="zh-CN" sz="3200" b="1">
                <a:solidFill>
                  <a:schemeClr val="accent2"/>
                </a:solidFill>
              </a:rPr>
              <a:t> </a:t>
            </a:r>
            <a:r>
              <a:rPr kumimoji="1" lang="en-US" altLang="zh-CN" sz="3200" b="1"/>
              <a:t>AND</a:t>
            </a:r>
            <a:r>
              <a:rPr kumimoji="1" lang="zh-CN" altLang="en-US" sz="3200" b="1">
                <a:solidFill>
                  <a:schemeClr val="accent2"/>
                </a:solidFill>
              </a:rPr>
              <a:t>与</a:t>
            </a:r>
            <a:r>
              <a:rPr kumimoji="1" lang="en-US" altLang="zh-CN" sz="3200" b="1"/>
              <a:t>TEST</a:t>
            </a:r>
            <a:r>
              <a:rPr kumimoji="1" lang="zh-CN" altLang="en-US" sz="3200" b="1">
                <a:solidFill>
                  <a:schemeClr val="accent2"/>
                </a:solidFill>
              </a:rPr>
              <a:t>指令的关系，</a:t>
            </a:r>
          </a:p>
          <a:p>
            <a:pPr algn="just" eaLnBrk="1" hangingPunct="1"/>
            <a:r>
              <a:rPr kumimoji="1" lang="zh-CN" altLang="en-US" sz="3200" b="1">
                <a:solidFill>
                  <a:schemeClr val="accent2"/>
                </a:solidFill>
              </a:rPr>
              <a:t>同</a:t>
            </a:r>
            <a:r>
              <a:rPr kumimoji="1" lang="en-US" altLang="zh-CN" sz="3200" b="1">
                <a:solidFill>
                  <a:schemeClr val="hlink"/>
                </a:solidFill>
              </a:rPr>
              <a:t>SUB</a:t>
            </a:r>
            <a:r>
              <a:rPr kumimoji="1" lang="zh-CN" altLang="en-US" sz="3200" b="1">
                <a:solidFill>
                  <a:schemeClr val="accent2"/>
                </a:solidFill>
              </a:rPr>
              <a:t>与</a:t>
            </a:r>
            <a:r>
              <a:rPr kumimoji="1" lang="en-US" altLang="zh-CN" sz="3200" b="1">
                <a:solidFill>
                  <a:schemeClr val="hlink"/>
                </a:solidFill>
              </a:rPr>
              <a:t>CMP</a:t>
            </a:r>
            <a:r>
              <a:rPr kumimoji="1" lang="zh-CN" altLang="en-US" sz="3200" b="1">
                <a:solidFill>
                  <a:schemeClr val="accent2"/>
                </a:solidFill>
              </a:rPr>
              <a:t>指令的关系一样</a:t>
            </a:r>
          </a:p>
        </p:txBody>
      </p:sp>
    </p:spTree>
  </p:cSld>
  <p:clrMapOvr>
    <a:masterClrMapping/>
  </p:clrMapOvr>
  <p:transition>
    <p:random/>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231968C-C344-B210-DE0E-C58E76E91191}"/>
              </a:ext>
            </a:extLst>
          </p:cNvPr>
          <p:cNvSpPr>
            <a:spLocks noGrp="1"/>
          </p:cNvSpPr>
          <p:nvPr>
            <p:ph idx="1"/>
          </p:nvPr>
        </p:nvSpPr>
        <p:spPr>
          <a:xfrm>
            <a:off x="457200" y="404664"/>
            <a:ext cx="8229600" cy="5184775"/>
          </a:xfrm>
        </p:spPr>
        <p:txBody>
          <a:bodyPr/>
          <a:lstStyle/>
          <a:p>
            <a:pPr>
              <a:defRPr/>
            </a:pPr>
            <a:r>
              <a:rPr lang="zh-CN" altLang="en-US" dirty="0"/>
              <a:t>测试某一个位是</a:t>
            </a:r>
            <a:r>
              <a:rPr lang="en-US" altLang="zh-CN" dirty="0"/>
              <a:t>0</a:t>
            </a:r>
            <a:r>
              <a:rPr lang="zh-CN" altLang="en-US" dirty="0"/>
              <a:t>还是</a:t>
            </a:r>
            <a:r>
              <a:rPr lang="en-US" altLang="zh-CN" dirty="0"/>
              <a:t>1</a:t>
            </a:r>
          </a:p>
          <a:p>
            <a:pPr marL="0" indent="0">
              <a:buNone/>
              <a:defRPr/>
            </a:pPr>
            <a:r>
              <a:rPr lang="en-US" altLang="zh-CN" dirty="0"/>
              <a:t>TEST AL, 00000010B</a:t>
            </a:r>
            <a:endParaRPr lang="zh-CN" altLang="en-US" dirty="0"/>
          </a:p>
          <a:p>
            <a:pPr marL="0" indent="0">
              <a:buNone/>
              <a:defRPr/>
            </a:pPr>
            <a:r>
              <a:rPr lang="en-US" altLang="zh-CN" dirty="0"/>
              <a:t>JNZ label</a:t>
            </a:r>
            <a:endParaRPr lang="zh-CN" altLang="en-US" dirty="0"/>
          </a:p>
          <a:p>
            <a:pPr marL="0" indent="0">
              <a:buNone/>
              <a:defRPr/>
            </a:pPr>
            <a:r>
              <a:rPr lang="zh-CN" altLang="en-US" sz="2800" dirty="0">
                <a:solidFill>
                  <a:srgbClr val="0000FF"/>
                </a:solidFill>
              </a:rPr>
              <a:t>如果</a:t>
            </a:r>
            <a:r>
              <a:rPr lang="en-US" altLang="zh-CN" sz="2800" dirty="0">
                <a:solidFill>
                  <a:srgbClr val="0000FF"/>
                </a:solidFill>
              </a:rPr>
              <a:t>al</a:t>
            </a:r>
            <a:r>
              <a:rPr lang="zh-CN" altLang="en-US" sz="2800" dirty="0">
                <a:solidFill>
                  <a:srgbClr val="0000FF"/>
                </a:solidFill>
              </a:rPr>
              <a:t>第二位为</a:t>
            </a:r>
            <a:r>
              <a:rPr lang="en-US" altLang="zh-CN" sz="2800" dirty="0">
                <a:solidFill>
                  <a:srgbClr val="0000FF"/>
                </a:solidFill>
              </a:rPr>
              <a:t>1</a:t>
            </a:r>
            <a:r>
              <a:rPr lang="zh-CN" altLang="en-US" sz="2800" dirty="0">
                <a:solidFill>
                  <a:srgbClr val="0000FF"/>
                </a:solidFill>
              </a:rPr>
              <a:t>，设置</a:t>
            </a:r>
            <a:r>
              <a:rPr lang="en-US" altLang="zh-CN" sz="2800" dirty="0">
                <a:solidFill>
                  <a:srgbClr val="0000FF"/>
                </a:solidFill>
              </a:rPr>
              <a:t>ZF=0</a:t>
            </a:r>
            <a:r>
              <a:rPr lang="zh-CN" altLang="en-US" sz="2800" dirty="0">
                <a:solidFill>
                  <a:srgbClr val="0000FF"/>
                </a:solidFill>
              </a:rPr>
              <a:t>，</a:t>
            </a:r>
            <a:r>
              <a:rPr lang="en-US" altLang="zh-CN" sz="2800" dirty="0">
                <a:solidFill>
                  <a:srgbClr val="0000FF"/>
                </a:solidFill>
              </a:rPr>
              <a:t>JNF</a:t>
            </a:r>
            <a:r>
              <a:rPr lang="zh-CN" altLang="en-US" sz="2800" dirty="0">
                <a:solidFill>
                  <a:srgbClr val="0000FF"/>
                </a:solidFill>
              </a:rPr>
              <a:t>将会跳转。</a:t>
            </a:r>
          </a:p>
          <a:p>
            <a:pPr>
              <a:defRPr/>
            </a:pPr>
            <a:endParaRPr lang="en-US" altLang="zh-CN" dirty="0"/>
          </a:p>
          <a:p>
            <a:pPr>
              <a:defRPr/>
            </a:pPr>
            <a:r>
              <a:rPr lang="zh-CN" altLang="en-US" dirty="0"/>
              <a:t>测试寄存器是否为空</a:t>
            </a:r>
          </a:p>
          <a:p>
            <a:pPr marL="0" indent="0">
              <a:buNone/>
              <a:defRPr/>
            </a:pPr>
            <a:r>
              <a:rPr lang="en-US" altLang="zh-CN" dirty="0"/>
              <a:t>TEST AL,AL</a:t>
            </a:r>
          </a:p>
          <a:p>
            <a:pPr marL="0" indent="0">
              <a:buNone/>
              <a:defRPr/>
            </a:pPr>
            <a:r>
              <a:rPr lang="en-US" altLang="zh-CN" dirty="0"/>
              <a:t>JZ label</a:t>
            </a:r>
          </a:p>
          <a:p>
            <a:pPr marL="0" indent="0">
              <a:buNone/>
              <a:defRPr/>
            </a:pPr>
            <a:r>
              <a:rPr lang="zh-CN" altLang="en-US" sz="2800" dirty="0">
                <a:solidFill>
                  <a:srgbClr val="0000FF"/>
                </a:solidFill>
              </a:rPr>
              <a:t>如果</a:t>
            </a:r>
            <a:r>
              <a:rPr lang="en-US" altLang="zh-CN" sz="2800" dirty="0">
                <a:solidFill>
                  <a:srgbClr val="0000FF"/>
                </a:solidFill>
              </a:rPr>
              <a:t>al</a:t>
            </a:r>
            <a:r>
              <a:rPr lang="zh-CN" altLang="en-US" sz="2800" dirty="0">
                <a:solidFill>
                  <a:srgbClr val="0000FF"/>
                </a:solidFill>
              </a:rPr>
              <a:t>为零，设置</a:t>
            </a:r>
            <a:r>
              <a:rPr lang="en-US" altLang="zh-CN" sz="2800" dirty="0">
                <a:solidFill>
                  <a:srgbClr val="0000FF"/>
                </a:solidFill>
              </a:rPr>
              <a:t>ZF=1</a:t>
            </a:r>
            <a:r>
              <a:rPr lang="zh-CN" altLang="en-US" sz="2800" dirty="0">
                <a:solidFill>
                  <a:srgbClr val="0000FF"/>
                </a:solidFill>
              </a:rPr>
              <a:t>，</a:t>
            </a:r>
            <a:r>
              <a:rPr lang="en-US" altLang="zh-CN" sz="2800" dirty="0">
                <a:solidFill>
                  <a:srgbClr val="0000FF"/>
                </a:solidFill>
              </a:rPr>
              <a:t>JZ</a:t>
            </a:r>
            <a:r>
              <a:rPr lang="zh-CN" altLang="en-US" sz="2800" dirty="0">
                <a:solidFill>
                  <a:srgbClr val="0000FF"/>
                </a:solidFill>
              </a:rPr>
              <a:t>跳转。</a:t>
            </a:r>
          </a:p>
          <a:p>
            <a:endParaRPr lang="zh-CN" altLang="en-US" sz="2800" dirty="0"/>
          </a:p>
        </p:txBody>
      </p:sp>
    </p:spTree>
    <p:extLst>
      <p:ext uri="{BB962C8B-B14F-4D97-AF65-F5344CB8AC3E}">
        <p14:creationId xmlns:p14="http://schemas.microsoft.com/office/powerpoint/2010/main" val="84736156"/>
      </p:ext>
    </p:extLst>
  </p:cSld>
  <p:clrMapOvr>
    <a:masterClrMapping/>
  </p:clrMapOvr>
  <p:transition>
    <p:random/>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D17A5D1-F372-7A87-B3F3-2D533666CF7C}"/>
              </a:ext>
            </a:extLst>
          </p:cNvPr>
          <p:cNvSpPr>
            <a:spLocks noGrp="1"/>
          </p:cNvSpPr>
          <p:nvPr>
            <p:ph idx="1"/>
          </p:nvPr>
        </p:nvSpPr>
        <p:spPr/>
        <p:txBody>
          <a:bodyPr/>
          <a:lstStyle/>
          <a:p>
            <a:pPr>
              <a:defRPr/>
            </a:pPr>
            <a:r>
              <a:rPr lang="en-US" altLang="zh-CN" dirty="0"/>
              <a:t>TEST</a:t>
            </a:r>
            <a:r>
              <a:rPr lang="zh-CN" altLang="en-US" dirty="0"/>
              <a:t>指令通常可用于测试状态端口中指定状态位，并结合条件转移指令根据当前状态实现分支或循环处理。</a:t>
            </a:r>
            <a:endParaRPr lang="en-US" altLang="zh-CN" dirty="0"/>
          </a:p>
          <a:p>
            <a:pPr>
              <a:defRPr/>
            </a:pPr>
            <a:r>
              <a:rPr lang="zh-CN" altLang="en-US" dirty="0"/>
              <a:t>也可用于对寄存器、内存单元指定数据位进行测试，根据不同的取值作不同的处理。</a:t>
            </a:r>
            <a:endParaRPr lang="en-US" altLang="zh-CN" dirty="0"/>
          </a:p>
          <a:p>
            <a:pPr marL="0" indent="0">
              <a:buFontTx/>
              <a:buNone/>
              <a:defRPr/>
            </a:pPr>
            <a:r>
              <a:rPr lang="zh-CN" altLang="en-US" dirty="0"/>
              <a:t>   </a:t>
            </a:r>
          </a:p>
        </p:txBody>
      </p:sp>
      <p:sp>
        <p:nvSpPr>
          <p:cNvPr id="4" name="灯片编号占位符 3">
            <a:extLst>
              <a:ext uri="{FF2B5EF4-FFF2-40B4-BE49-F238E27FC236}">
                <a16:creationId xmlns:a16="http://schemas.microsoft.com/office/drawing/2014/main" id="{408B98F4-676F-5957-90D3-EAC4B1039CA3}"/>
              </a:ext>
            </a:extLst>
          </p:cNvPr>
          <p:cNvSpPr>
            <a:spLocks noGrp="1"/>
          </p:cNvSpPr>
          <p:nvPr>
            <p:ph type="sldNum" sz="quarter" idx="12"/>
          </p:nvPr>
        </p:nvSpPr>
        <p:spPr bwMode="auto">
          <a:xfrm>
            <a:off x="6554788" y="6245225"/>
            <a:ext cx="2133600" cy="476250"/>
          </a:xfrm>
          <a:prstGeom prst="rect">
            <a:avLst/>
          </a:prstGeom>
          <a:noFill/>
          <a:ln w="9525">
            <a:noFill/>
            <a:miter lim="800000"/>
            <a:headEnd/>
            <a:tailEnd/>
          </a:ln>
          <a:effectLst/>
        </p:spPr>
        <p:txBody>
          <a:bodyPr vert="horz" wrap="square" lIns="88459" tIns="44230" rIns="88459" bIns="44230" numCol="1" anchor="t" anchorCtr="0" compatLnSpc="1">
            <a:prstTxWarp prst="textNoShape">
              <a:avLst/>
            </a:prstTxWarp>
          </a:bodyPr>
          <a:lstStyle>
            <a:defPPr>
              <a:defRPr lang="zh-CN"/>
            </a:defPPr>
            <a:lvl1pPr algn="r" rtl="0" eaLnBrk="1" fontAlgn="base" hangingPunct="1">
              <a:spcBef>
                <a:spcPct val="0"/>
              </a:spcBef>
              <a:spcAft>
                <a:spcPct val="0"/>
              </a:spcAft>
              <a:defRPr sz="1422" kern="1200">
                <a:solidFill>
                  <a:schemeClr val="tx1"/>
                </a:solidFill>
                <a:effectLst>
                  <a:outerShdw blurRad="38100" dist="38100" dir="2700000" algn="tl">
                    <a:srgbClr val="000000">
                      <a:alpha val="43137"/>
                    </a:srgbClr>
                  </a:outerShdw>
                </a:effectLst>
                <a:latin typeface="Arial" panose="020B0604020202020204" pitchFamily="34" charset="0"/>
                <a:ea typeface="宋体" pitchFamily="2" charset="-122"/>
                <a:cs typeface="+mn-cs"/>
              </a:defRPr>
            </a:lvl1pPr>
            <a:lvl2pPr marL="4572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9pPr>
          </a:lstStyle>
          <a:p>
            <a:pPr>
              <a:defRPr/>
            </a:pPr>
            <a:fld id="{DCC68147-CA70-4044-A530-6F581D0EC877}" type="slidenum">
              <a:rPr lang="en-US" altLang="zh-CN" smtClean="0"/>
              <a:pPr>
                <a:defRPr/>
              </a:pPr>
              <a:t>82</a:t>
            </a:fld>
            <a:endParaRPr lang="en-US" altLang="zh-CN"/>
          </a:p>
        </p:txBody>
      </p:sp>
    </p:spTree>
  </p:cSld>
  <p:clrMapOvr>
    <a:masterClrMapping/>
  </p:clrMapOvr>
  <p:transition>
    <p:random/>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3C077D5E-2179-DC9A-9107-CD1AFAD90013}"/>
              </a:ext>
            </a:extLst>
          </p:cNvPr>
          <p:cNvSpPr>
            <a:spLocks noGrp="1" noChangeArrowheads="1"/>
          </p:cNvSpPr>
          <p:nvPr>
            <p:ph type="title"/>
          </p:nvPr>
        </p:nvSpPr>
        <p:spPr/>
        <p:txBody>
          <a:bodyPr/>
          <a:lstStyle/>
          <a:p>
            <a:r>
              <a:rPr lang="zh-CN" altLang="en-US"/>
              <a:t>逻辑非指令</a:t>
            </a:r>
            <a:r>
              <a:rPr lang="en-US" altLang="zh-CN"/>
              <a:t>NOT</a:t>
            </a:r>
          </a:p>
        </p:txBody>
      </p:sp>
      <p:sp>
        <p:nvSpPr>
          <p:cNvPr id="27651" name="Rectangle 3">
            <a:extLst>
              <a:ext uri="{FF2B5EF4-FFF2-40B4-BE49-F238E27FC236}">
                <a16:creationId xmlns:a16="http://schemas.microsoft.com/office/drawing/2014/main" id="{CFD45606-75C1-3803-CE23-666B5A21894D}"/>
              </a:ext>
            </a:extLst>
          </p:cNvPr>
          <p:cNvSpPr>
            <a:spLocks noGrp="1" noChangeArrowheads="1"/>
          </p:cNvSpPr>
          <p:nvPr>
            <p:ph idx="1"/>
          </p:nvPr>
        </p:nvSpPr>
        <p:spPr>
          <a:xfrm>
            <a:off x="454025" y="1181100"/>
            <a:ext cx="8428038" cy="611188"/>
          </a:xfrm>
        </p:spPr>
        <p:txBody>
          <a:bodyPr/>
          <a:lstStyle/>
          <a:p>
            <a:pPr>
              <a:buFontTx/>
              <a:buNone/>
            </a:pPr>
            <a:r>
              <a:rPr lang="zh-CN" altLang="en-US"/>
              <a:t>对一个操作数执行逻辑非运算</a:t>
            </a:r>
          </a:p>
        </p:txBody>
      </p:sp>
      <p:sp>
        <p:nvSpPr>
          <p:cNvPr id="27652" name="AutoShape 4">
            <a:extLst>
              <a:ext uri="{FF2B5EF4-FFF2-40B4-BE49-F238E27FC236}">
                <a16:creationId xmlns:a16="http://schemas.microsoft.com/office/drawing/2014/main" id="{6B5B5662-866E-8D24-67CD-37B38CF886B3}"/>
              </a:ext>
            </a:extLst>
          </p:cNvPr>
          <p:cNvSpPr>
            <a:spLocks noChangeArrowheads="1"/>
          </p:cNvSpPr>
          <p:nvPr/>
        </p:nvSpPr>
        <p:spPr bwMode="auto">
          <a:xfrm>
            <a:off x="561975" y="2174875"/>
            <a:ext cx="8153400" cy="579438"/>
          </a:xfrm>
          <a:prstGeom prst="flowChartAlternateProcess">
            <a:avLst/>
          </a:prstGeom>
          <a:blipFill dpi="0" rotWithShape="0">
            <a:blip r:embed="rId2"/>
            <a:srcRect/>
            <a:stretch>
              <a:fillRect/>
            </a:stretch>
          </a:blipFill>
          <a:ln>
            <a:noFill/>
          </a:ln>
          <a:effectLst>
            <a:prstShdw prst="shdw13" dist="53882" dir="13500000">
              <a:srgbClr val="808080"/>
            </a:prstShdw>
          </a:effectLst>
          <a:extLst>
            <a:ext uri="{91240B29-F687-4F45-9708-019B960494DF}">
              <a14:hiddenLine xmlns:a14="http://schemas.microsoft.com/office/drawing/2010/main" w="12700" cap="sq">
                <a:solidFill>
                  <a:srgbClr val="808000"/>
                </a:solidFill>
                <a:miter lim="800000"/>
                <a:headEnd type="none" w="sm" len="sm"/>
                <a:tailEnd type="none" w="sm" len="sm"/>
              </a14:hiddenLine>
            </a:ext>
          </a:extLst>
        </p:spPr>
        <p:txBody>
          <a:bodyPr/>
          <a:lstStyle>
            <a:lvl1pPr>
              <a:tabLst>
                <a:tab pos="3233738" algn="l"/>
              </a:tabLst>
              <a:defRPr sz="2000">
                <a:solidFill>
                  <a:schemeClr val="tx1"/>
                </a:solidFill>
                <a:latin typeface="Arial" panose="020B0604020202020204" pitchFamily="34" charset="0"/>
                <a:ea typeface="宋体" panose="02010600030101010101" pitchFamily="2" charset="-122"/>
              </a:defRPr>
            </a:lvl1pPr>
            <a:lvl2pPr marL="742950" indent="-285750">
              <a:tabLst>
                <a:tab pos="3233738" algn="l"/>
              </a:tabLst>
              <a:defRPr sz="2000">
                <a:solidFill>
                  <a:schemeClr val="tx1"/>
                </a:solidFill>
                <a:latin typeface="Arial" panose="020B0604020202020204" pitchFamily="34" charset="0"/>
                <a:ea typeface="宋体" panose="02010600030101010101" pitchFamily="2" charset="-122"/>
              </a:defRPr>
            </a:lvl2pPr>
            <a:lvl3pPr marL="1143000" indent="-228600">
              <a:tabLst>
                <a:tab pos="3233738" algn="l"/>
              </a:tabLst>
              <a:defRPr sz="2000">
                <a:solidFill>
                  <a:schemeClr val="tx1"/>
                </a:solidFill>
                <a:latin typeface="Arial" panose="020B0604020202020204" pitchFamily="34" charset="0"/>
                <a:ea typeface="宋体" panose="02010600030101010101" pitchFamily="2" charset="-122"/>
              </a:defRPr>
            </a:lvl3pPr>
            <a:lvl4pPr marL="1600200" indent="-228600">
              <a:tabLst>
                <a:tab pos="3233738" algn="l"/>
              </a:tabLst>
              <a:defRPr sz="2000">
                <a:solidFill>
                  <a:schemeClr val="tx1"/>
                </a:solidFill>
                <a:latin typeface="Arial" panose="020B0604020202020204" pitchFamily="34" charset="0"/>
                <a:ea typeface="宋体" panose="02010600030101010101" pitchFamily="2" charset="-122"/>
              </a:defRPr>
            </a:lvl4pPr>
            <a:lvl5pPr marL="2057400" indent="-228600">
              <a:tabLst>
                <a:tab pos="3233738" algn="l"/>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3233738" algn="l"/>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3233738" algn="l"/>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3233738" algn="l"/>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3233738" algn="l"/>
              </a:tabLst>
              <a:defRPr sz="2000">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800" b="1">
                <a:latin typeface="宋体" panose="02010600030101010101" pitchFamily="2" charset="-122"/>
              </a:rPr>
              <a:t>NOT reg/mem</a:t>
            </a:r>
            <a:r>
              <a:rPr lang="en-US" altLang="zh-CN" sz="2800" b="1">
                <a:solidFill>
                  <a:schemeClr val="bg2"/>
                </a:solidFill>
                <a:latin typeface="宋体" panose="02010600030101010101" pitchFamily="2" charset="-122"/>
              </a:rPr>
              <a:t>	</a:t>
            </a:r>
            <a:r>
              <a:rPr lang="zh-CN" altLang="en-US" sz="2800" b="1">
                <a:solidFill>
                  <a:schemeClr val="accent2"/>
                </a:solidFill>
                <a:latin typeface="宋体" panose="02010600030101010101" pitchFamily="2" charset="-122"/>
              </a:rPr>
              <a:t>；</a:t>
            </a:r>
            <a:r>
              <a:rPr lang="en-US" altLang="zh-CN" sz="2800" b="1">
                <a:solidFill>
                  <a:schemeClr val="accent2"/>
                </a:solidFill>
                <a:latin typeface="宋体" panose="02010600030101010101" pitchFamily="2" charset="-122"/>
              </a:rPr>
              <a:t>reg/mem←</a:t>
            </a:r>
            <a:r>
              <a:rPr lang="zh-CN" altLang="en-US" sz="2800" b="1">
                <a:solidFill>
                  <a:srgbClr val="006600"/>
                </a:solidFill>
              </a:rPr>
              <a:t>～</a:t>
            </a:r>
            <a:r>
              <a:rPr lang="en-US" altLang="zh-CN" sz="2800" b="1">
                <a:solidFill>
                  <a:schemeClr val="accent2"/>
                </a:solidFill>
                <a:latin typeface="宋体" panose="02010600030101010101" pitchFamily="2" charset="-122"/>
              </a:rPr>
              <a:t>reg/mem</a:t>
            </a:r>
          </a:p>
        </p:txBody>
      </p:sp>
      <p:sp>
        <p:nvSpPr>
          <p:cNvPr id="27653" name="AutoShape 5">
            <a:extLst>
              <a:ext uri="{FF2B5EF4-FFF2-40B4-BE49-F238E27FC236}">
                <a16:creationId xmlns:a16="http://schemas.microsoft.com/office/drawing/2014/main" id="{0EB853C1-049D-2CFA-EA98-708FE1FF8E92}"/>
              </a:ext>
            </a:extLst>
          </p:cNvPr>
          <p:cNvSpPr>
            <a:spLocks noChangeArrowheads="1"/>
          </p:cNvSpPr>
          <p:nvPr/>
        </p:nvSpPr>
        <p:spPr bwMode="auto">
          <a:xfrm>
            <a:off x="773113" y="3263900"/>
            <a:ext cx="3908425" cy="2074863"/>
          </a:xfrm>
          <a:prstGeom prst="roundRect">
            <a:avLst>
              <a:gd name="adj" fmla="val 16667"/>
            </a:avLst>
          </a:prstGeom>
          <a:blipFill dpi="0" rotWithShape="0">
            <a:blip r:embed="rId3"/>
            <a:srcRect/>
            <a:tile tx="0" ty="0" sx="100000" sy="100000" flip="none" algn="tl"/>
          </a:blip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gn="just" eaLnBrk="1" hangingPunct="1">
              <a:buFontTx/>
              <a:buBlip>
                <a:blip r:embed="rId4"/>
              </a:buBlip>
            </a:pPr>
            <a:r>
              <a:rPr kumimoji="1" lang="en-US" altLang="zh-CN" sz="3200" b="1">
                <a:solidFill>
                  <a:schemeClr val="accent2"/>
                </a:solidFill>
              </a:rPr>
              <a:t> </a:t>
            </a:r>
            <a:r>
              <a:rPr kumimoji="1" lang="zh-CN" altLang="zh-CN" sz="3200" b="1">
                <a:solidFill>
                  <a:schemeClr val="accent2"/>
                </a:solidFill>
              </a:rPr>
              <a:t>按位取反，原来是“0”的位变为“1”；原来是“1”的位变为“0”</a:t>
            </a:r>
            <a:endParaRPr kumimoji="1" lang="en-US" altLang="zh-CN" sz="3200" b="1">
              <a:solidFill>
                <a:schemeClr val="accent2"/>
              </a:solidFill>
            </a:endParaRPr>
          </a:p>
        </p:txBody>
      </p:sp>
      <p:grpSp>
        <p:nvGrpSpPr>
          <p:cNvPr id="27654" name="Group 6">
            <a:extLst>
              <a:ext uri="{FF2B5EF4-FFF2-40B4-BE49-F238E27FC236}">
                <a16:creationId xmlns:a16="http://schemas.microsoft.com/office/drawing/2014/main" id="{0452AC37-B9E4-2E30-18C7-A99480202550}"/>
              </a:ext>
            </a:extLst>
          </p:cNvPr>
          <p:cNvGrpSpPr>
            <a:grpSpLocks/>
          </p:cNvGrpSpPr>
          <p:nvPr/>
        </p:nvGrpSpPr>
        <p:grpSpPr bwMode="auto">
          <a:xfrm>
            <a:off x="3787775" y="1177925"/>
            <a:ext cx="1247775" cy="2090738"/>
            <a:chOff x="3024" y="816"/>
            <a:chExt cx="912" cy="1728"/>
          </a:xfrm>
        </p:grpSpPr>
        <p:sp>
          <p:nvSpPr>
            <p:cNvPr id="332807" name="Oval 7">
              <a:extLst>
                <a:ext uri="{FF2B5EF4-FFF2-40B4-BE49-F238E27FC236}">
                  <a16:creationId xmlns:a16="http://schemas.microsoft.com/office/drawing/2014/main" id="{D69C9987-5677-1570-F292-62CA2748EFEC}"/>
                </a:ext>
              </a:extLst>
            </p:cNvPr>
            <p:cNvSpPr>
              <a:spLocks noChangeArrowheads="1"/>
            </p:cNvSpPr>
            <p:nvPr/>
          </p:nvSpPr>
          <p:spPr bwMode="auto">
            <a:xfrm>
              <a:off x="3024" y="816"/>
              <a:ext cx="912" cy="527"/>
            </a:xfrm>
            <a:prstGeom prst="ellipse">
              <a:avLst/>
            </a:prstGeom>
            <a:noFill/>
            <a:ln w="38100">
              <a:solidFill>
                <a:schemeClr val="tx2"/>
              </a:solidFill>
              <a:round/>
              <a:headEnd/>
              <a:tailEnd/>
            </a:ln>
            <a:effectLst/>
          </p:spPr>
          <p:txBody>
            <a:bodyPr wrap="none" anchor="ctr"/>
            <a:lstStyle/>
            <a:p>
              <a:pPr eaLnBrk="1" hangingPunct="1">
                <a:defRPr/>
              </a:pPr>
              <a:endParaRPr lang="zh-CN" altLang="en-US">
                <a:effectLst>
                  <a:outerShdw blurRad="38100" dist="38100" dir="2700000" algn="tl">
                    <a:srgbClr val="000000">
                      <a:alpha val="43137"/>
                    </a:srgbClr>
                  </a:outerShdw>
                </a:effectLst>
              </a:endParaRPr>
            </a:p>
          </p:txBody>
        </p:sp>
        <p:sp>
          <p:nvSpPr>
            <p:cNvPr id="332808" name="Line 8">
              <a:extLst>
                <a:ext uri="{FF2B5EF4-FFF2-40B4-BE49-F238E27FC236}">
                  <a16:creationId xmlns:a16="http://schemas.microsoft.com/office/drawing/2014/main" id="{427C0145-12CB-8527-83B1-E8B88EFD0322}"/>
                </a:ext>
              </a:extLst>
            </p:cNvPr>
            <p:cNvSpPr>
              <a:spLocks noChangeShapeType="1"/>
            </p:cNvSpPr>
            <p:nvPr/>
          </p:nvSpPr>
          <p:spPr bwMode="auto">
            <a:xfrm flipH="1">
              <a:off x="3264" y="1343"/>
              <a:ext cx="240" cy="1201"/>
            </a:xfrm>
            <a:prstGeom prst="line">
              <a:avLst/>
            </a:prstGeom>
            <a:noFill/>
            <a:ln w="38100">
              <a:solidFill>
                <a:schemeClr val="tx2"/>
              </a:solidFill>
              <a:round/>
              <a:headEnd/>
              <a:tailEnd type="triangle" w="med" len="med"/>
            </a:ln>
            <a:effectLst/>
          </p:spPr>
          <p:txBody>
            <a:bodyPr/>
            <a:lstStyle/>
            <a:p>
              <a:pPr eaLnBrk="1" hangingPunct="1">
                <a:defRPr/>
              </a:pPr>
              <a:endParaRPr lang="zh-CN" altLang="en-US">
                <a:effectLst>
                  <a:outerShdw blurRad="38100" dist="38100" dir="2700000" algn="tl">
                    <a:srgbClr val="000000">
                      <a:alpha val="43137"/>
                    </a:srgbClr>
                  </a:outerShdw>
                </a:effectLst>
              </a:endParaRPr>
            </a:p>
          </p:txBody>
        </p:sp>
      </p:grpSp>
      <p:pic>
        <p:nvPicPr>
          <p:cNvPr id="27655" name="Picture 10">
            <a:extLst>
              <a:ext uri="{FF2B5EF4-FFF2-40B4-BE49-F238E27FC236}">
                <a16:creationId xmlns:a16="http://schemas.microsoft.com/office/drawing/2014/main" id="{5D676C78-E778-C1C2-A02E-4FB3E353E2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26050" y="4595813"/>
            <a:ext cx="3387725" cy="116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7BCD3EB4-1564-99E3-77F0-660ED254BB68}"/>
              </a:ext>
            </a:extLst>
          </p:cNvPr>
          <p:cNvSpPr>
            <a:spLocks noGrp="1" noChangeArrowheads="1"/>
          </p:cNvSpPr>
          <p:nvPr>
            <p:ph type="title"/>
          </p:nvPr>
        </p:nvSpPr>
        <p:spPr/>
        <p:txBody>
          <a:bodyPr/>
          <a:lstStyle/>
          <a:p>
            <a:r>
              <a:rPr lang="en-US" altLang="zh-CN" dirty="0"/>
              <a:t>2.  </a:t>
            </a:r>
            <a:r>
              <a:rPr lang="zh-CN" altLang="en-US" dirty="0"/>
              <a:t>移位指令</a:t>
            </a:r>
          </a:p>
        </p:txBody>
      </p:sp>
      <p:sp>
        <p:nvSpPr>
          <p:cNvPr id="99331" name="Rectangle 3">
            <a:extLst>
              <a:ext uri="{FF2B5EF4-FFF2-40B4-BE49-F238E27FC236}">
                <a16:creationId xmlns:a16="http://schemas.microsoft.com/office/drawing/2014/main" id="{700748A5-3659-B036-8BC9-63A9A604CA2D}"/>
              </a:ext>
            </a:extLst>
          </p:cNvPr>
          <p:cNvSpPr>
            <a:spLocks noGrp="1" noChangeArrowheads="1"/>
          </p:cNvSpPr>
          <p:nvPr>
            <p:ph type="body" idx="1"/>
          </p:nvPr>
        </p:nvSpPr>
        <p:spPr/>
        <p:txBody>
          <a:bodyPr/>
          <a:lstStyle/>
          <a:p>
            <a:r>
              <a:rPr lang="zh-CN" altLang="en-US"/>
              <a:t>将操作数移动一位或多位，分成逻辑移位和算术移位，分别具有左移或右移操作</a:t>
            </a:r>
          </a:p>
          <a:p>
            <a:r>
              <a:rPr lang="zh-CN" altLang="en-US"/>
              <a:t>移位指令的</a:t>
            </a:r>
            <a:r>
              <a:rPr lang="zh-CN" altLang="en-US">
                <a:solidFill>
                  <a:srgbClr val="006600"/>
                </a:solidFill>
              </a:rPr>
              <a:t>第一个操作数</a:t>
            </a:r>
            <a:r>
              <a:rPr lang="zh-CN" altLang="en-US"/>
              <a:t>是指定的被移位的操作数，可以是寄存器或存储单元；</a:t>
            </a:r>
            <a:r>
              <a:rPr lang="zh-CN" altLang="en-US">
                <a:solidFill>
                  <a:srgbClr val="006600"/>
                </a:solidFill>
              </a:rPr>
              <a:t>后一个操作数</a:t>
            </a:r>
            <a:r>
              <a:rPr lang="zh-CN" altLang="en-US"/>
              <a:t>表示移位位数：</a:t>
            </a:r>
          </a:p>
          <a:p>
            <a:pPr lvl="1"/>
            <a:r>
              <a:rPr lang="zh-CN" altLang="en-US"/>
              <a:t>该操作数</a:t>
            </a:r>
            <a:r>
              <a:rPr lang="zh-CN" altLang="en-US">
                <a:solidFill>
                  <a:schemeClr val="accent2"/>
                </a:solidFill>
              </a:rPr>
              <a:t>为</a:t>
            </a:r>
            <a:r>
              <a:rPr lang="en-US" altLang="zh-CN">
                <a:solidFill>
                  <a:schemeClr val="accent2"/>
                </a:solidFill>
              </a:rPr>
              <a:t>1</a:t>
            </a:r>
            <a:r>
              <a:rPr lang="zh-CN" altLang="en-US"/>
              <a:t>，表示移动一位</a:t>
            </a:r>
          </a:p>
          <a:p>
            <a:pPr lvl="1"/>
            <a:r>
              <a:rPr lang="zh-CN" altLang="en-US"/>
              <a:t>该操作数</a:t>
            </a:r>
            <a:r>
              <a:rPr lang="zh-CN" altLang="en-US">
                <a:solidFill>
                  <a:schemeClr val="accent2"/>
                </a:solidFill>
              </a:rPr>
              <a:t>为</a:t>
            </a:r>
            <a:r>
              <a:rPr lang="en-US" altLang="zh-CN">
                <a:solidFill>
                  <a:schemeClr val="accent2"/>
                </a:solidFill>
              </a:rPr>
              <a:t>CL</a:t>
            </a:r>
            <a:r>
              <a:rPr lang="zh-CN" altLang="en-US"/>
              <a:t>，</a:t>
            </a:r>
            <a:r>
              <a:rPr lang="en-US" altLang="zh-CN"/>
              <a:t>CL</a:t>
            </a:r>
            <a:r>
              <a:rPr lang="zh-CN" altLang="en-US"/>
              <a:t>寄存器值表示移位位数 （移位位数</a:t>
            </a:r>
            <a:r>
              <a:rPr lang="zh-CN" altLang="en-US">
                <a:solidFill>
                  <a:schemeClr val="accent2"/>
                </a:solidFill>
              </a:rPr>
              <a:t>大于</a:t>
            </a:r>
            <a:r>
              <a:rPr lang="en-US" altLang="zh-CN">
                <a:solidFill>
                  <a:schemeClr val="accent2"/>
                </a:solidFill>
              </a:rPr>
              <a:t>1</a:t>
            </a:r>
            <a:r>
              <a:rPr lang="zh-CN" altLang="en-US">
                <a:solidFill>
                  <a:schemeClr val="accent2"/>
                </a:solidFill>
              </a:rPr>
              <a:t>只能</a:t>
            </a:r>
            <a:r>
              <a:rPr lang="en-US" altLang="zh-CN">
                <a:solidFill>
                  <a:schemeClr val="accent2"/>
                </a:solidFill>
              </a:rPr>
              <a:t>CL</a:t>
            </a:r>
            <a:r>
              <a:rPr lang="zh-CN" altLang="en-US">
                <a:solidFill>
                  <a:schemeClr val="accent2"/>
                </a:solidFill>
              </a:rPr>
              <a:t>表示</a:t>
            </a:r>
            <a:r>
              <a:rPr lang="zh-CN" altLang="en-US"/>
              <a:t>）</a:t>
            </a:r>
            <a:endParaRPr lang="zh-CN" altLang="en-US">
              <a:solidFill>
                <a:schemeClr val="bg2"/>
              </a:solidFill>
            </a:endParaRPr>
          </a:p>
          <a:p>
            <a:r>
              <a:rPr lang="zh-CN" altLang="en-US"/>
              <a:t>按照移入的位设置进位标志</a:t>
            </a:r>
            <a:r>
              <a:rPr lang="en-US" altLang="zh-CN"/>
              <a:t>CF</a:t>
            </a:r>
            <a:r>
              <a:rPr lang="zh-CN" altLang="en-US"/>
              <a:t>，根据移位后的结果影响</a:t>
            </a:r>
            <a:r>
              <a:rPr lang="en-US" altLang="zh-CN"/>
              <a:t>SF</a:t>
            </a:r>
            <a:r>
              <a:rPr lang="zh-CN" altLang="en-US"/>
              <a:t>、</a:t>
            </a:r>
            <a:r>
              <a:rPr lang="en-US" altLang="zh-CN"/>
              <a:t>ZF</a:t>
            </a:r>
            <a:r>
              <a:rPr lang="zh-CN" altLang="en-US"/>
              <a:t>、</a:t>
            </a:r>
            <a:r>
              <a:rPr lang="en-US" altLang="zh-CN"/>
              <a:t>PF</a:t>
            </a:r>
          </a:p>
        </p:txBody>
      </p:sp>
    </p:spTree>
  </p:cSld>
  <p:clrMapOvr>
    <a:masterClrMapping/>
  </p:clrMapOvr>
  <p:transition>
    <p:random/>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B82C78B1-FE42-2505-18BA-8AC600656B66}"/>
              </a:ext>
            </a:extLst>
          </p:cNvPr>
          <p:cNvSpPr>
            <a:spLocks noGrp="1" noChangeArrowheads="1"/>
          </p:cNvSpPr>
          <p:nvPr>
            <p:ph type="title"/>
          </p:nvPr>
        </p:nvSpPr>
        <p:spPr/>
        <p:txBody>
          <a:bodyPr/>
          <a:lstStyle/>
          <a:p>
            <a:r>
              <a:rPr lang="zh-CN" altLang="en-US"/>
              <a:t>逻辑左移指令</a:t>
            </a:r>
            <a:r>
              <a:rPr lang="en-US" altLang="zh-CN"/>
              <a:t>SHL</a:t>
            </a:r>
          </a:p>
        </p:txBody>
      </p:sp>
      <p:sp>
        <p:nvSpPr>
          <p:cNvPr id="100355" name="Rectangle 3">
            <a:extLst>
              <a:ext uri="{FF2B5EF4-FFF2-40B4-BE49-F238E27FC236}">
                <a16:creationId xmlns:a16="http://schemas.microsoft.com/office/drawing/2014/main" id="{DE0F36A0-B216-D8A1-B53B-227F60F534E4}"/>
              </a:ext>
            </a:extLst>
          </p:cNvPr>
          <p:cNvSpPr>
            <a:spLocks noGrp="1" noChangeArrowheads="1"/>
          </p:cNvSpPr>
          <p:nvPr>
            <p:ph type="body" idx="1"/>
          </p:nvPr>
        </p:nvSpPr>
        <p:spPr>
          <a:xfrm>
            <a:off x="468313" y="981075"/>
            <a:ext cx="8229600" cy="1957388"/>
          </a:xfrm>
        </p:spPr>
        <p:txBody>
          <a:bodyPr/>
          <a:lstStyle/>
          <a:p>
            <a:pPr>
              <a:buFontTx/>
              <a:buNone/>
              <a:tabLst>
                <a:tab pos="1436688" algn="l"/>
              </a:tabLst>
            </a:pPr>
            <a:r>
              <a:rPr lang="en-US" altLang="zh-CN">
                <a:solidFill>
                  <a:schemeClr val="tx1"/>
                </a:solidFill>
              </a:rPr>
              <a:t>SHL</a:t>
            </a:r>
            <a:r>
              <a:rPr lang="en-US" altLang="zh-CN"/>
              <a:t> reg/mem,1/CL</a:t>
            </a:r>
            <a:endParaRPr lang="en-US" altLang="zh-CN">
              <a:solidFill>
                <a:srgbClr val="009900"/>
              </a:solidFill>
            </a:endParaRPr>
          </a:p>
          <a:p>
            <a:pPr>
              <a:buFontTx/>
              <a:buNone/>
              <a:tabLst>
                <a:tab pos="1436688" algn="l"/>
              </a:tabLst>
            </a:pPr>
            <a:r>
              <a:rPr lang="en-US" altLang="zh-CN"/>
              <a:t>		</a:t>
            </a:r>
            <a:r>
              <a:rPr lang="zh-CN" altLang="en-US"/>
              <a:t>；</a:t>
            </a:r>
            <a:r>
              <a:rPr lang="en-US" altLang="zh-CN"/>
              <a:t>reg/mem</a:t>
            </a:r>
            <a:r>
              <a:rPr lang="zh-CN" altLang="en-US"/>
              <a:t>左移</a:t>
            </a:r>
            <a:r>
              <a:rPr lang="en-US" altLang="zh-CN"/>
              <a:t>1</a:t>
            </a:r>
            <a:r>
              <a:rPr lang="zh-CN" altLang="en-US"/>
              <a:t>或</a:t>
            </a:r>
            <a:r>
              <a:rPr lang="en-US" altLang="zh-CN"/>
              <a:t>CL</a:t>
            </a:r>
            <a:r>
              <a:rPr lang="zh-CN" altLang="en-US"/>
              <a:t>位</a:t>
            </a:r>
          </a:p>
          <a:p>
            <a:pPr>
              <a:buFontTx/>
              <a:buNone/>
              <a:tabLst>
                <a:tab pos="1436688" algn="l"/>
              </a:tabLst>
            </a:pPr>
            <a:r>
              <a:rPr lang="zh-CN" altLang="en-US"/>
              <a:t>		；最低位补</a:t>
            </a:r>
            <a:r>
              <a:rPr lang="en-US" altLang="zh-CN"/>
              <a:t>0</a:t>
            </a:r>
            <a:r>
              <a:rPr lang="zh-CN" altLang="en-US"/>
              <a:t>，最高位进入</a:t>
            </a:r>
            <a:r>
              <a:rPr lang="en-US" altLang="zh-CN"/>
              <a:t>CF</a:t>
            </a:r>
          </a:p>
        </p:txBody>
      </p:sp>
      <p:pic>
        <p:nvPicPr>
          <p:cNvPr id="100356" name="Picture 4">
            <a:extLst>
              <a:ext uri="{FF2B5EF4-FFF2-40B4-BE49-F238E27FC236}">
                <a16:creationId xmlns:a16="http://schemas.microsoft.com/office/drawing/2014/main" id="{F459567C-35A3-2E68-0214-CC60B2517B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3425825"/>
            <a:ext cx="7632700" cy="24511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random/>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69B8B22C-38EB-73B2-7036-D3669C6E96DE}"/>
              </a:ext>
            </a:extLst>
          </p:cNvPr>
          <p:cNvSpPr>
            <a:spLocks noGrp="1" noChangeArrowheads="1"/>
          </p:cNvSpPr>
          <p:nvPr>
            <p:ph type="title"/>
          </p:nvPr>
        </p:nvSpPr>
        <p:spPr/>
        <p:txBody>
          <a:bodyPr/>
          <a:lstStyle/>
          <a:p>
            <a:r>
              <a:rPr lang="zh-CN" altLang="en-US"/>
              <a:t>逻辑右移指令</a:t>
            </a:r>
            <a:r>
              <a:rPr lang="en-US" altLang="zh-CN"/>
              <a:t>SHR</a:t>
            </a:r>
          </a:p>
        </p:txBody>
      </p:sp>
      <p:sp>
        <p:nvSpPr>
          <p:cNvPr id="101379" name="Rectangle 3">
            <a:extLst>
              <a:ext uri="{FF2B5EF4-FFF2-40B4-BE49-F238E27FC236}">
                <a16:creationId xmlns:a16="http://schemas.microsoft.com/office/drawing/2014/main" id="{A65260F2-9FC9-9BB3-4ED3-C8AFDFB6101B}"/>
              </a:ext>
            </a:extLst>
          </p:cNvPr>
          <p:cNvSpPr>
            <a:spLocks noGrp="1" noChangeArrowheads="1"/>
          </p:cNvSpPr>
          <p:nvPr>
            <p:ph type="body" idx="1"/>
          </p:nvPr>
        </p:nvSpPr>
        <p:spPr>
          <a:xfrm>
            <a:off x="468313" y="981075"/>
            <a:ext cx="8229600" cy="2049463"/>
          </a:xfrm>
        </p:spPr>
        <p:txBody>
          <a:bodyPr/>
          <a:lstStyle/>
          <a:p>
            <a:pPr>
              <a:buFontTx/>
              <a:buNone/>
              <a:tabLst>
                <a:tab pos="2071688" algn="l"/>
              </a:tabLst>
            </a:pPr>
            <a:r>
              <a:rPr lang="en-US" altLang="zh-CN">
                <a:solidFill>
                  <a:schemeClr val="tx1"/>
                </a:solidFill>
              </a:rPr>
              <a:t>SHR</a:t>
            </a:r>
            <a:r>
              <a:rPr lang="en-US" altLang="zh-CN"/>
              <a:t> reg/mem,1/CL</a:t>
            </a:r>
            <a:endParaRPr lang="en-US" altLang="zh-CN">
              <a:solidFill>
                <a:srgbClr val="009900"/>
              </a:solidFill>
            </a:endParaRPr>
          </a:p>
          <a:p>
            <a:pPr>
              <a:buFontTx/>
              <a:buNone/>
              <a:tabLst>
                <a:tab pos="2071688" algn="l"/>
              </a:tabLst>
            </a:pPr>
            <a:r>
              <a:rPr lang="en-US" altLang="zh-CN"/>
              <a:t>		</a:t>
            </a:r>
            <a:r>
              <a:rPr lang="zh-CN" altLang="en-US"/>
              <a:t>；</a:t>
            </a:r>
            <a:r>
              <a:rPr lang="en-US" altLang="zh-CN"/>
              <a:t>reg/mem</a:t>
            </a:r>
            <a:r>
              <a:rPr lang="zh-CN" altLang="en-US"/>
              <a:t>右移</a:t>
            </a:r>
            <a:r>
              <a:rPr lang="en-US" altLang="zh-CN"/>
              <a:t>1/CL</a:t>
            </a:r>
            <a:r>
              <a:rPr lang="zh-CN" altLang="en-US"/>
              <a:t>位</a:t>
            </a:r>
          </a:p>
          <a:p>
            <a:pPr>
              <a:buFontTx/>
              <a:buNone/>
              <a:tabLst>
                <a:tab pos="2071688" algn="l"/>
              </a:tabLst>
            </a:pPr>
            <a:r>
              <a:rPr lang="zh-CN" altLang="en-US"/>
              <a:t>		；最高位补</a:t>
            </a:r>
            <a:r>
              <a:rPr lang="en-US" altLang="zh-CN"/>
              <a:t>0</a:t>
            </a:r>
            <a:r>
              <a:rPr lang="zh-CN" altLang="en-US"/>
              <a:t>，最低位进入</a:t>
            </a:r>
            <a:r>
              <a:rPr lang="en-US" altLang="zh-CN"/>
              <a:t>CF</a:t>
            </a:r>
          </a:p>
        </p:txBody>
      </p:sp>
      <p:pic>
        <p:nvPicPr>
          <p:cNvPr id="101380" name="Picture 4">
            <a:extLst>
              <a:ext uri="{FF2B5EF4-FFF2-40B4-BE49-F238E27FC236}">
                <a16:creationId xmlns:a16="http://schemas.microsoft.com/office/drawing/2014/main" id="{754C085E-F558-DC6E-F05F-46094B8FB9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3165475"/>
            <a:ext cx="8496300" cy="27844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random/>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D0CD9244-E7B3-7576-31F6-9A36EC93C0EE}"/>
              </a:ext>
            </a:extLst>
          </p:cNvPr>
          <p:cNvSpPr>
            <a:spLocks noGrp="1" noChangeArrowheads="1"/>
          </p:cNvSpPr>
          <p:nvPr>
            <p:ph type="title"/>
          </p:nvPr>
        </p:nvSpPr>
        <p:spPr/>
        <p:txBody>
          <a:bodyPr/>
          <a:lstStyle/>
          <a:p>
            <a:r>
              <a:rPr lang="zh-CN" altLang="en-US"/>
              <a:t>算术左移指令</a:t>
            </a:r>
            <a:r>
              <a:rPr lang="en-US" altLang="zh-CN"/>
              <a:t>SAL</a:t>
            </a:r>
          </a:p>
        </p:txBody>
      </p:sp>
      <p:sp>
        <p:nvSpPr>
          <p:cNvPr id="102403" name="Rectangle 3">
            <a:extLst>
              <a:ext uri="{FF2B5EF4-FFF2-40B4-BE49-F238E27FC236}">
                <a16:creationId xmlns:a16="http://schemas.microsoft.com/office/drawing/2014/main" id="{8ADF0D06-FEDC-889D-F45D-47C9A916E7FC}"/>
              </a:ext>
            </a:extLst>
          </p:cNvPr>
          <p:cNvSpPr>
            <a:spLocks noGrp="1" noChangeArrowheads="1"/>
          </p:cNvSpPr>
          <p:nvPr>
            <p:ph type="body" idx="1"/>
          </p:nvPr>
        </p:nvSpPr>
        <p:spPr>
          <a:xfrm>
            <a:off x="468313" y="981075"/>
            <a:ext cx="8229600" cy="1770063"/>
          </a:xfrm>
        </p:spPr>
        <p:txBody>
          <a:bodyPr/>
          <a:lstStyle/>
          <a:p>
            <a:pPr>
              <a:buFontTx/>
              <a:buNone/>
              <a:tabLst>
                <a:tab pos="2146300" algn="l"/>
              </a:tabLst>
            </a:pPr>
            <a:r>
              <a:rPr lang="en-US" altLang="zh-CN">
                <a:solidFill>
                  <a:schemeClr val="tx1"/>
                </a:solidFill>
              </a:rPr>
              <a:t>SAL</a:t>
            </a:r>
            <a:r>
              <a:rPr lang="en-US" altLang="zh-CN"/>
              <a:t> reg/mem,1/CL	</a:t>
            </a:r>
            <a:endParaRPr lang="en-US" altLang="zh-CN">
              <a:solidFill>
                <a:srgbClr val="009900"/>
              </a:solidFill>
            </a:endParaRPr>
          </a:p>
          <a:p>
            <a:pPr>
              <a:buFontTx/>
              <a:buNone/>
              <a:tabLst>
                <a:tab pos="2146300" algn="l"/>
              </a:tabLst>
            </a:pPr>
            <a:r>
              <a:rPr lang="en-US" altLang="zh-CN"/>
              <a:t>		</a:t>
            </a:r>
            <a:r>
              <a:rPr lang="zh-CN" altLang="en-US"/>
              <a:t>；与</a:t>
            </a:r>
            <a:r>
              <a:rPr lang="en-US" altLang="zh-CN"/>
              <a:t>SHL</a:t>
            </a:r>
            <a:r>
              <a:rPr lang="zh-CN" altLang="en-US"/>
              <a:t>是同一条指令</a:t>
            </a:r>
          </a:p>
        </p:txBody>
      </p:sp>
      <p:pic>
        <p:nvPicPr>
          <p:cNvPr id="102404" name="Picture 4">
            <a:extLst>
              <a:ext uri="{FF2B5EF4-FFF2-40B4-BE49-F238E27FC236}">
                <a16:creationId xmlns:a16="http://schemas.microsoft.com/office/drawing/2014/main" id="{C9FFCF75-6BF9-28BC-BAD3-15E53535B9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2617788"/>
            <a:ext cx="8353425" cy="26828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random/>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287C5B4F-E997-BAC6-BD18-928FFE572458}"/>
              </a:ext>
            </a:extLst>
          </p:cNvPr>
          <p:cNvSpPr>
            <a:spLocks noGrp="1" noChangeArrowheads="1"/>
          </p:cNvSpPr>
          <p:nvPr>
            <p:ph type="title"/>
          </p:nvPr>
        </p:nvSpPr>
        <p:spPr/>
        <p:txBody>
          <a:bodyPr/>
          <a:lstStyle/>
          <a:p>
            <a:r>
              <a:rPr lang="zh-CN" altLang="en-US"/>
              <a:t>算术右移指令</a:t>
            </a:r>
            <a:r>
              <a:rPr lang="en-US" altLang="zh-CN"/>
              <a:t>SAR</a:t>
            </a:r>
          </a:p>
        </p:txBody>
      </p:sp>
      <p:sp>
        <p:nvSpPr>
          <p:cNvPr id="103427" name="Rectangle 3">
            <a:extLst>
              <a:ext uri="{FF2B5EF4-FFF2-40B4-BE49-F238E27FC236}">
                <a16:creationId xmlns:a16="http://schemas.microsoft.com/office/drawing/2014/main" id="{75AA8744-26FF-0ABD-5F85-BAB2FD065FEA}"/>
              </a:ext>
            </a:extLst>
          </p:cNvPr>
          <p:cNvSpPr>
            <a:spLocks noGrp="1" noChangeArrowheads="1"/>
          </p:cNvSpPr>
          <p:nvPr>
            <p:ph type="body" idx="1"/>
          </p:nvPr>
        </p:nvSpPr>
        <p:spPr>
          <a:xfrm>
            <a:off x="468313" y="981075"/>
            <a:ext cx="8229600" cy="1938338"/>
          </a:xfrm>
        </p:spPr>
        <p:txBody>
          <a:bodyPr/>
          <a:lstStyle/>
          <a:p>
            <a:pPr>
              <a:buFontTx/>
              <a:buNone/>
              <a:tabLst>
                <a:tab pos="2146300" algn="l"/>
              </a:tabLst>
            </a:pPr>
            <a:r>
              <a:rPr lang="en-US" altLang="zh-CN">
                <a:solidFill>
                  <a:schemeClr val="tx1"/>
                </a:solidFill>
              </a:rPr>
              <a:t>SAR</a:t>
            </a:r>
            <a:r>
              <a:rPr lang="en-US" altLang="zh-CN"/>
              <a:t> reg/mem,1/CL</a:t>
            </a:r>
            <a:endParaRPr lang="en-US" altLang="zh-CN">
              <a:solidFill>
                <a:srgbClr val="009900"/>
              </a:solidFill>
            </a:endParaRPr>
          </a:p>
          <a:p>
            <a:pPr>
              <a:buFontTx/>
              <a:buNone/>
              <a:tabLst>
                <a:tab pos="2146300" algn="l"/>
              </a:tabLst>
            </a:pPr>
            <a:r>
              <a:rPr lang="en-US" altLang="zh-CN"/>
              <a:t>		</a:t>
            </a:r>
            <a:r>
              <a:rPr lang="zh-CN" altLang="en-US"/>
              <a:t>；</a:t>
            </a:r>
            <a:r>
              <a:rPr lang="en-US" altLang="zh-CN"/>
              <a:t>reg/mem</a:t>
            </a:r>
            <a:r>
              <a:rPr lang="zh-CN" altLang="en-US"/>
              <a:t>右移</a:t>
            </a:r>
            <a:r>
              <a:rPr lang="en-US" altLang="zh-CN"/>
              <a:t>1/CL</a:t>
            </a:r>
            <a:r>
              <a:rPr lang="zh-CN" altLang="en-US"/>
              <a:t>位</a:t>
            </a:r>
          </a:p>
          <a:p>
            <a:pPr>
              <a:buFontTx/>
              <a:buNone/>
              <a:tabLst>
                <a:tab pos="2146300" algn="l"/>
              </a:tabLst>
            </a:pPr>
            <a:r>
              <a:rPr lang="zh-CN" altLang="en-US"/>
              <a:t>		；最高位不变，最低位进入</a:t>
            </a:r>
            <a:r>
              <a:rPr lang="en-US" altLang="zh-CN"/>
              <a:t>CF</a:t>
            </a:r>
          </a:p>
        </p:txBody>
      </p:sp>
      <p:pic>
        <p:nvPicPr>
          <p:cNvPr id="103428" name="Picture 4">
            <a:extLst>
              <a:ext uri="{FF2B5EF4-FFF2-40B4-BE49-F238E27FC236}">
                <a16:creationId xmlns:a16="http://schemas.microsoft.com/office/drawing/2014/main" id="{F4D3001E-B2F9-A9BD-837A-441A530343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2954338"/>
            <a:ext cx="8496300" cy="28511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random/>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D3C4A922-A300-2EE1-0523-5387A559BE23}"/>
              </a:ext>
            </a:extLst>
          </p:cNvPr>
          <p:cNvSpPr>
            <a:spLocks noGrp="1" noChangeArrowheads="1"/>
          </p:cNvSpPr>
          <p:nvPr>
            <p:ph type="title"/>
          </p:nvPr>
        </p:nvSpPr>
        <p:spPr/>
        <p:txBody>
          <a:bodyPr/>
          <a:lstStyle/>
          <a:p>
            <a:r>
              <a:rPr lang="en-US" altLang="zh-CN" dirty="0"/>
              <a:t>3.  </a:t>
            </a:r>
            <a:r>
              <a:rPr lang="zh-CN" altLang="en-US" dirty="0"/>
              <a:t>循环移位指令</a:t>
            </a:r>
          </a:p>
        </p:txBody>
      </p:sp>
      <p:sp>
        <p:nvSpPr>
          <p:cNvPr id="106499" name="Rectangle 3">
            <a:extLst>
              <a:ext uri="{FF2B5EF4-FFF2-40B4-BE49-F238E27FC236}">
                <a16:creationId xmlns:a16="http://schemas.microsoft.com/office/drawing/2014/main" id="{B7012D2A-99F8-4B3A-2163-CB118F610AA8}"/>
              </a:ext>
            </a:extLst>
          </p:cNvPr>
          <p:cNvSpPr>
            <a:spLocks noGrp="1" noChangeArrowheads="1"/>
          </p:cNvSpPr>
          <p:nvPr>
            <p:ph type="body" idx="1"/>
          </p:nvPr>
        </p:nvSpPr>
        <p:spPr/>
        <p:txBody>
          <a:bodyPr/>
          <a:lstStyle/>
          <a:p>
            <a:pPr>
              <a:tabLst>
                <a:tab pos="4310063" algn="l"/>
              </a:tabLst>
            </a:pPr>
            <a:r>
              <a:rPr lang="zh-CN" altLang="en-US"/>
              <a:t>循环移位指令类似移位指令，但要将从一端移出的位返回到另一端形成循环。分为</a:t>
            </a:r>
            <a:r>
              <a:rPr lang="en-US" altLang="zh-CN"/>
              <a:t>:</a:t>
            </a:r>
          </a:p>
          <a:p>
            <a:pPr lvl="1">
              <a:buFontTx/>
              <a:buNone/>
              <a:tabLst>
                <a:tab pos="4310063" algn="l"/>
              </a:tabLst>
            </a:pPr>
            <a:r>
              <a:rPr lang="en-US" altLang="zh-CN"/>
              <a:t>ROL reg/mem,1/CL</a:t>
            </a:r>
            <a:r>
              <a:rPr lang="en-US" altLang="zh-CN">
                <a:solidFill>
                  <a:srgbClr val="FF00FF"/>
                </a:solidFill>
              </a:rPr>
              <a:t>	</a:t>
            </a:r>
            <a:r>
              <a:rPr lang="en-US" altLang="zh-CN"/>
              <a:t>;</a:t>
            </a:r>
            <a:r>
              <a:rPr lang="zh-CN" altLang="en-US">
                <a:solidFill>
                  <a:srgbClr val="006600"/>
                </a:solidFill>
              </a:rPr>
              <a:t>不带进位循环左移</a:t>
            </a:r>
          </a:p>
          <a:p>
            <a:pPr lvl="1">
              <a:buFontTx/>
              <a:buNone/>
              <a:tabLst>
                <a:tab pos="4310063" algn="l"/>
              </a:tabLst>
            </a:pPr>
            <a:r>
              <a:rPr lang="en-US" altLang="zh-CN"/>
              <a:t>ROR reg/mem,1/CL</a:t>
            </a:r>
            <a:r>
              <a:rPr lang="en-US" altLang="zh-CN">
                <a:solidFill>
                  <a:srgbClr val="FF00FF"/>
                </a:solidFill>
              </a:rPr>
              <a:t>	</a:t>
            </a:r>
            <a:r>
              <a:rPr lang="en-US" altLang="zh-CN"/>
              <a:t>;</a:t>
            </a:r>
            <a:r>
              <a:rPr lang="zh-CN" altLang="en-US">
                <a:solidFill>
                  <a:srgbClr val="006600"/>
                </a:solidFill>
              </a:rPr>
              <a:t>不带进位循环右移</a:t>
            </a:r>
          </a:p>
          <a:p>
            <a:pPr lvl="1">
              <a:buFontTx/>
              <a:buNone/>
              <a:tabLst>
                <a:tab pos="4310063" algn="l"/>
              </a:tabLst>
            </a:pPr>
            <a:r>
              <a:rPr lang="en-US" altLang="zh-CN"/>
              <a:t>RCL reg/mem,1/CL	;</a:t>
            </a:r>
            <a:r>
              <a:rPr lang="zh-CN" altLang="en-US">
                <a:solidFill>
                  <a:srgbClr val="006600"/>
                </a:solidFill>
              </a:rPr>
              <a:t>带进位循环左移</a:t>
            </a:r>
          </a:p>
          <a:p>
            <a:pPr lvl="1">
              <a:buFontTx/>
              <a:buNone/>
              <a:tabLst>
                <a:tab pos="4310063" algn="l"/>
              </a:tabLst>
            </a:pPr>
            <a:r>
              <a:rPr lang="en-US" altLang="zh-CN"/>
              <a:t>RCR reg/mem,1/CL	;</a:t>
            </a:r>
            <a:r>
              <a:rPr lang="zh-CN" altLang="en-US">
                <a:solidFill>
                  <a:srgbClr val="006600"/>
                </a:solidFill>
              </a:rPr>
              <a:t>带进位循环右移</a:t>
            </a:r>
          </a:p>
          <a:p>
            <a:pPr>
              <a:tabLst>
                <a:tab pos="4310063" algn="l"/>
              </a:tabLst>
            </a:pPr>
            <a:r>
              <a:rPr lang="zh-CN" altLang="en-US"/>
              <a:t>循环移位指令的操作数形式与移位指令相同，按指令功能设置进位标志</a:t>
            </a:r>
            <a:r>
              <a:rPr lang="en-US" altLang="zh-CN">
                <a:solidFill>
                  <a:srgbClr val="006600"/>
                </a:solidFill>
              </a:rPr>
              <a:t>CF</a:t>
            </a:r>
            <a:r>
              <a:rPr lang="zh-CN" altLang="en-US"/>
              <a:t>，但不影响</a:t>
            </a:r>
            <a:r>
              <a:rPr lang="en-US" altLang="zh-CN"/>
              <a:t>SF</a:t>
            </a:r>
            <a:r>
              <a:rPr lang="zh-CN" altLang="en-US"/>
              <a:t>、</a:t>
            </a:r>
            <a:r>
              <a:rPr lang="en-US" altLang="zh-CN"/>
              <a:t>ZF</a:t>
            </a:r>
            <a:r>
              <a:rPr lang="zh-CN" altLang="en-US"/>
              <a:t>、</a:t>
            </a:r>
            <a:r>
              <a:rPr lang="en-US" altLang="zh-CN"/>
              <a:t>PF</a:t>
            </a:r>
            <a:r>
              <a:rPr lang="zh-CN" altLang="en-US"/>
              <a:t>、</a:t>
            </a:r>
            <a:r>
              <a:rPr lang="en-US" altLang="zh-CN"/>
              <a:t>AF</a:t>
            </a:r>
            <a:r>
              <a:rPr lang="zh-CN" altLang="en-US"/>
              <a:t>标志</a:t>
            </a:r>
            <a:endParaRPr lang="zh-CN" altLang="en-US" sz="2800"/>
          </a:p>
        </p:txBody>
      </p:sp>
    </p:spTree>
  </p:cSld>
  <p:clrMapOvr>
    <a:masterClrMapping/>
  </p:clrMapOvr>
  <p:transition>
    <p:random/>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a:extLst>
              <a:ext uri="{FF2B5EF4-FFF2-40B4-BE49-F238E27FC236}">
                <a16:creationId xmlns:a16="http://schemas.microsoft.com/office/drawing/2014/main" id="{E471E05C-738A-ACD5-1DE7-C2EEABA0280F}"/>
              </a:ext>
            </a:extLst>
          </p:cNvPr>
          <p:cNvSpPr>
            <a:spLocks noGrp="1" noChangeArrowheads="1"/>
          </p:cNvSpPr>
          <p:nvPr>
            <p:ph type="title"/>
          </p:nvPr>
        </p:nvSpPr>
        <p:spPr/>
        <p:txBody>
          <a:bodyPr/>
          <a:lstStyle/>
          <a:p>
            <a:r>
              <a:rPr lang="en-US" altLang="zh-CN" dirty="0"/>
              <a:t>3.7.4 </a:t>
            </a:r>
            <a:r>
              <a:rPr lang="zh-CN" altLang="en-US" dirty="0"/>
              <a:t>控制转移类指令 </a:t>
            </a:r>
          </a:p>
        </p:txBody>
      </p:sp>
      <p:sp>
        <p:nvSpPr>
          <p:cNvPr id="208900" name="Rectangle 4">
            <a:extLst>
              <a:ext uri="{FF2B5EF4-FFF2-40B4-BE49-F238E27FC236}">
                <a16:creationId xmlns:a16="http://schemas.microsoft.com/office/drawing/2014/main" id="{0D50CA13-D8AF-1AE2-D57C-E22FB0BF85D8}"/>
              </a:ext>
            </a:extLst>
          </p:cNvPr>
          <p:cNvSpPr>
            <a:spLocks noGrp="1" noChangeArrowheads="1"/>
          </p:cNvSpPr>
          <p:nvPr>
            <p:ph type="body" idx="1"/>
          </p:nvPr>
        </p:nvSpPr>
        <p:spPr>
          <a:xfrm>
            <a:off x="900113" y="981075"/>
            <a:ext cx="7391400" cy="3429000"/>
          </a:xfrm>
          <a:noFill/>
          <a:ln/>
        </p:spPr>
        <p:txBody>
          <a:bodyPr/>
          <a:lstStyle/>
          <a:p>
            <a:r>
              <a:rPr lang="zh-CN" altLang="en-US" dirty="0"/>
              <a:t>控制转移类指令用于实现分支、循环、过程等程序结构，是仅次于传送指令的常用指令</a:t>
            </a:r>
          </a:p>
          <a:p>
            <a:r>
              <a:rPr lang="zh-CN" altLang="en-US" dirty="0"/>
              <a:t>重点掌握：</a:t>
            </a:r>
          </a:p>
          <a:p>
            <a:pPr lvl="1"/>
            <a:r>
              <a:rPr lang="zh-CN" altLang="en-US" dirty="0">
                <a:solidFill>
                  <a:srgbClr val="009900"/>
                </a:solidFill>
              </a:rPr>
              <a:t> </a:t>
            </a:r>
            <a:r>
              <a:rPr lang="en-US" altLang="zh-CN" dirty="0">
                <a:solidFill>
                  <a:srgbClr val="006600"/>
                </a:solidFill>
              </a:rPr>
              <a:t>JMP</a:t>
            </a:r>
            <a:r>
              <a:rPr lang="en-US" altLang="zh-CN" dirty="0"/>
              <a:t>/</a:t>
            </a:r>
            <a:r>
              <a:rPr lang="en-US" altLang="zh-CN" dirty="0" err="1">
                <a:solidFill>
                  <a:srgbClr val="006600"/>
                </a:solidFill>
              </a:rPr>
              <a:t>Jcc</a:t>
            </a:r>
            <a:r>
              <a:rPr lang="en-US" altLang="zh-CN" dirty="0"/>
              <a:t>/</a:t>
            </a:r>
            <a:r>
              <a:rPr lang="en-US" altLang="zh-CN" dirty="0">
                <a:solidFill>
                  <a:srgbClr val="006600"/>
                </a:solidFill>
              </a:rPr>
              <a:t>LOOP</a:t>
            </a:r>
            <a:r>
              <a:rPr lang="en-US" altLang="zh-CN" dirty="0"/>
              <a:t>/</a:t>
            </a:r>
            <a:r>
              <a:rPr lang="en-US" altLang="zh-CN" dirty="0">
                <a:solidFill>
                  <a:srgbClr val="006600"/>
                </a:solidFill>
              </a:rPr>
              <a:t>JCXZ</a:t>
            </a:r>
            <a:r>
              <a:rPr lang="en-US" altLang="zh-CN" dirty="0"/>
              <a:t>  </a:t>
            </a:r>
            <a:r>
              <a:rPr lang="en-US" altLang="zh-CN" dirty="0">
                <a:solidFill>
                  <a:srgbClr val="006600"/>
                </a:solidFill>
              </a:rPr>
              <a:t>CALL</a:t>
            </a:r>
            <a:r>
              <a:rPr lang="en-US" altLang="zh-CN" dirty="0"/>
              <a:t>/</a:t>
            </a:r>
            <a:r>
              <a:rPr lang="en-US" altLang="zh-CN" dirty="0">
                <a:solidFill>
                  <a:srgbClr val="006600"/>
                </a:solidFill>
              </a:rPr>
              <a:t>RET</a:t>
            </a:r>
          </a:p>
          <a:p>
            <a:pPr lvl="1"/>
            <a:r>
              <a:rPr lang="en-US" altLang="zh-CN" dirty="0">
                <a:solidFill>
                  <a:srgbClr val="009900"/>
                </a:solidFill>
              </a:rPr>
              <a:t> </a:t>
            </a:r>
            <a:r>
              <a:rPr lang="en-US" altLang="zh-CN" dirty="0">
                <a:solidFill>
                  <a:srgbClr val="006600"/>
                </a:solidFill>
              </a:rPr>
              <a:t>INT</a:t>
            </a:r>
            <a:r>
              <a:rPr lang="en-US" altLang="zh-CN" dirty="0">
                <a:solidFill>
                  <a:srgbClr val="009900"/>
                </a:solidFill>
              </a:rPr>
              <a:t> </a:t>
            </a:r>
            <a:r>
              <a:rPr lang="en-US" altLang="zh-CN" dirty="0">
                <a:solidFill>
                  <a:srgbClr val="006600"/>
                </a:solidFill>
              </a:rPr>
              <a:t>n</a:t>
            </a:r>
            <a:r>
              <a:rPr lang="en-US" altLang="zh-CN" dirty="0"/>
              <a:t>/</a:t>
            </a:r>
            <a:r>
              <a:rPr lang="en-US" altLang="zh-CN" dirty="0">
                <a:solidFill>
                  <a:srgbClr val="006600"/>
                </a:solidFill>
              </a:rPr>
              <a:t>IRET</a:t>
            </a:r>
            <a:r>
              <a:rPr lang="en-US" altLang="zh-CN" dirty="0"/>
              <a:t>  </a:t>
            </a:r>
            <a:r>
              <a:rPr lang="zh-CN" altLang="en-US" dirty="0"/>
              <a:t>常用系统功能调用</a:t>
            </a:r>
          </a:p>
        </p:txBody>
      </p:sp>
      <p:sp>
        <p:nvSpPr>
          <p:cNvPr id="208901" name="AutoShape 5">
            <a:extLst>
              <a:ext uri="{FF2B5EF4-FFF2-40B4-BE49-F238E27FC236}">
                <a16:creationId xmlns:a16="http://schemas.microsoft.com/office/drawing/2014/main" id="{F328618B-AADA-930B-788D-5E0FFBBEE82B}"/>
              </a:ext>
            </a:extLst>
          </p:cNvPr>
          <p:cNvSpPr>
            <a:spLocks noChangeArrowheads="1"/>
          </p:cNvSpPr>
          <p:nvPr/>
        </p:nvSpPr>
        <p:spPr bwMode="auto">
          <a:xfrm>
            <a:off x="1114425" y="4646613"/>
            <a:ext cx="7342188" cy="1216025"/>
          </a:xfrm>
          <a:prstGeom prst="roundRect">
            <a:avLst>
              <a:gd name="adj" fmla="val 16667"/>
            </a:avLst>
          </a:prstGeom>
          <a:blipFill dpi="0" rotWithShape="0">
            <a:blip r:embed="rId2"/>
            <a:srcRect/>
            <a:tile tx="0" ty="0" sx="100000" sy="100000" flip="none" algn="tl"/>
          </a:blip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just">
              <a:buFontTx/>
              <a:buBlip>
                <a:blip r:embed="rId3"/>
              </a:buBlip>
            </a:pPr>
            <a:r>
              <a:rPr kumimoji="1" lang="en-US" altLang="zh-CN" sz="2800" b="1">
                <a:solidFill>
                  <a:schemeClr val="accent2"/>
                </a:solidFill>
                <a:effectLst/>
              </a:rPr>
              <a:t> </a:t>
            </a:r>
            <a:r>
              <a:rPr kumimoji="1" lang="zh-CN" altLang="en-US" sz="2800" b="1">
                <a:solidFill>
                  <a:schemeClr val="accent2"/>
                </a:solidFill>
                <a:effectLst/>
              </a:rPr>
              <a:t>控制转移类指令通过</a:t>
            </a:r>
            <a:r>
              <a:rPr kumimoji="1" lang="zh-CN" altLang="en-US" sz="2800" b="1">
                <a:effectLst/>
              </a:rPr>
              <a:t>改变</a:t>
            </a:r>
            <a:r>
              <a:rPr kumimoji="1" lang="en-US" altLang="zh-CN" sz="2800" b="1">
                <a:effectLst/>
              </a:rPr>
              <a:t>IP</a:t>
            </a:r>
            <a:r>
              <a:rPr kumimoji="1" lang="zh-CN" altLang="en-US" sz="2800" b="1">
                <a:effectLst/>
              </a:rPr>
              <a:t>（和</a:t>
            </a:r>
            <a:r>
              <a:rPr kumimoji="1" lang="en-US" altLang="zh-CN" sz="2800" b="1">
                <a:effectLst/>
              </a:rPr>
              <a:t>CS</a:t>
            </a:r>
            <a:r>
              <a:rPr kumimoji="1" lang="zh-CN" altLang="en-US" sz="2800" b="1">
                <a:effectLst/>
              </a:rPr>
              <a:t>）</a:t>
            </a:r>
            <a:r>
              <a:rPr kumimoji="1" lang="zh-CN" altLang="en-US" sz="2800" b="1">
                <a:solidFill>
                  <a:schemeClr val="accent2"/>
                </a:solidFill>
                <a:effectLst/>
              </a:rPr>
              <a:t>值，实现程序执行顺序的改变</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nodeType="clickEffect">
                                  <p:stCondLst>
                                    <p:cond delay="0"/>
                                  </p:stCondLst>
                                  <p:childTnLst>
                                    <p:set>
                                      <p:cBhvr>
                                        <p:cTn id="6" dur="1" fill="hold">
                                          <p:stCondLst>
                                            <p:cond delay="0"/>
                                          </p:stCondLst>
                                        </p:cTn>
                                        <p:tgtEl>
                                          <p:spTgt spid="208901"/>
                                        </p:tgtEl>
                                        <p:attrNameLst>
                                          <p:attrName>style.visibility</p:attrName>
                                        </p:attrNameLst>
                                      </p:cBhvr>
                                      <p:to>
                                        <p:strVal val="visible"/>
                                      </p:to>
                                    </p:set>
                                    <p:anim calcmode="lin" valueType="num">
                                      <p:cBhvr>
                                        <p:cTn id="7" dur="1000" fill="hold"/>
                                        <p:tgtEl>
                                          <p:spTgt spid="208901"/>
                                        </p:tgtEl>
                                        <p:attrNameLst>
                                          <p:attrName>ppt_x</p:attrName>
                                        </p:attrNameLst>
                                      </p:cBhvr>
                                      <p:tavLst>
                                        <p:tav tm="0">
                                          <p:val>
                                            <p:strVal val="#ppt_x-#ppt_w/2"/>
                                          </p:val>
                                        </p:tav>
                                        <p:tav tm="100000">
                                          <p:val>
                                            <p:strVal val="#ppt_x"/>
                                          </p:val>
                                        </p:tav>
                                      </p:tavLst>
                                    </p:anim>
                                    <p:anim calcmode="lin" valueType="num">
                                      <p:cBhvr>
                                        <p:cTn id="8" dur="1000" fill="hold"/>
                                        <p:tgtEl>
                                          <p:spTgt spid="208901"/>
                                        </p:tgtEl>
                                        <p:attrNameLst>
                                          <p:attrName>ppt_y</p:attrName>
                                        </p:attrNameLst>
                                      </p:cBhvr>
                                      <p:tavLst>
                                        <p:tav tm="0">
                                          <p:val>
                                            <p:strVal val="#ppt_y"/>
                                          </p:val>
                                        </p:tav>
                                        <p:tav tm="100000">
                                          <p:val>
                                            <p:strVal val="#ppt_y"/>
                                          </p:val>
                                        </p:tav>
                                      </p:tavLst>
                                    </p:anim>
                                    <p:anim calcmode="lin" valueType="num">
                                      <p:cBhvr>
                                        <p:cTn id="9" dur="1000" fill="hold"/>
                                        <p:tgtEl>
                                          <p:spTgt spid="208901"/>
                                        </p:tgtEl>
                                        <p:attrNameLst>
                                          <p:attrName>ppt_w</p:attrName>
                                        </p:attrNameLst>
                                      </p:cBhvr>
                                      <p:tavLst>
                                        <p:tav tm="0">
                                          <p:val>
                                            <p:fltVal val="0"/>
                                          </p:val>
                                        </p:tav>
                                        <p:tav tm="100000">
                                          <p:val>
                                            <p:strVal val="#ppt_w"/>
                                          </p:val>
                                        </p:tav>
                                      </p:tavLst>
                                    </p:anim>
                                    <p:anim calcmode="lin" valueType="num">
                                      <p:cBhvr>
                                        <p:cTn id="10" dur="1000" fill="hold"/>
                                        <p:tgtEl>
                                          <p:spTgt spid="20890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901" grpId="0" animBg="1"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2634BDC0-6635-270F-E67D-7EEE2B597F73}"/>
              </a:ext>
            </a:extLst>
          </p:cNvPr>
          <p:cNvSpPr>
            <a:spLocks noGrp="1" noChangeArrowheads="1"/>
          </p:cNvSpPr>
          <p:nvPr>
            <p:ph type="title"/>
          </p:nvPr>
        </p:nvSpPr>
        <p:spPr/>
        <p:txBody>
          <a:bodyPr/>
          <a:lstStyle/>
          <a:p>
            <a:r>
              <a:rPr lang="en-US" altLang="zh-CN" dirty="0"/>
              <a:t>1. </a:t>
            </a:r>
            <a:r>
              <a:rPr lang="zh-CN" altLang="en-US" dirty="0"/>
              <a:t>无条件转移指令</a:t>
            </a:r>
          </a:p>
        </p:txBody>
      </p:sp>
      <p:sp>
        <p:nvSpPr>
          <p:cNvPr id="7171" name="Rectangle 6">
            <a:extLst>
              <a:ext uri="{FF2B5EF4-FFF2-40B4-BE49-F238E27FC236}">
                <a16:creationId xmlns:a16="http://schemas.microsoft.com/office/drawing/2014/main" id="{A5CE7D86-0F17-0CFB-742D-A44732F951B0}"/>
              </a:ext>
            </a:extLst>
          </p:cNvPr>
          <p:cNvSpPr>
            <a:spLocks noGrp="1" noChangeArrowheads="1"/>
          </p:cNvSpPr>
          <p:nvPr>
            <p:ph idx="1"/>
          </p:nvPr>
        </p:nvSpPr>
        <p:spPr>
          <a:xfrm>
            <a:off x="458788" y="2232025"/>
            <a:ext cx="8229600" cy="4249738"/>
          </a:xfrm>
        </p:spPr>
        <p:txBody>
          <a:bodyPr/>
          <a:lstStyle/>
          <a:p>
            <a:r>
              <a:rPr lang="zh-CN" altLang="en-US" sz="2800"/>
              <a:t>只要执行无条件转移指令</a:t>
            </a:r>
            <a:r>
              <a:rPr lang="en-US" altLang="zh-CN" sz="2800"/>
              <a:t>JMP</a:t>
            </a:r>
            <a:r>
              <a:rPr lang="zh-CN" altLang="en-US" sz="2800"/>
              <a:t>，就使程序转到指定的目标地址，从目标地址处开始执行指令</a:t>
            </a:r>
          </a:p>
          <a:p>
            <a:r>
              <a:rPr lang="zh-CN" altLang="en-US" sz="2800"/>
              <a:t>操作数</a:t>
            </a:r>
            <a:r>
              <a:rPr lang="en-US" altLang="zh-CN" sz="2800"/>
              <a:t>label</a:t>
            </a:r>
            <a:r>
              <a:rPr lang="zh-CN" altLang="en-US" sz="2800"/>
              <a:t>是要转移到的目标地址（目的地址、转移地址）</a:t>
            </a:r>
          </a:p>
          <a:p>
            <a:r>
              <a:rPr lang="en-US" altLang="zh-CN" sz="2800"/>
              <a:t>JMP</a:t>
            </a:r>
            <a:r>
              <a:rPr lang="zh-CN" altLang="en-US" sz="2800"/>
              <a:t>指令分成</a:t>
            </a:r>
            <a:r>
              <a:rPr lang="en-US" altLang="zh-CN" sz="2800"/>
              <a:t>4</a:t>
            </a:r>
            <a:r>
              <a:rPr lang="zh-CN" altLang="en-US" sz="2800"/>
              <a:t>种类型：</a:t>
            </a:r>
          </a:p>
          <a:p>
            <a:pPr lvl="2">
              <a:buFontTx/>
              <a:buNone/>
            </a:pPr>
            <a:r>
              <a:rPr lang="zh-CN" altLang="en-US" b="1"/>
              <a:t>⑴  段内转移、相对寻址</a:t>
            </a:r>
          </a:p>
          <a:p>
            <a:pPr lvl="2">
              <a:buFontTx/>
              <a:buNone/>
            </a:pPr>
            <a:r>
              <a:rPr lang="zh-CN" altLang="en-US" b="1"/>
              <a:t>⑵  段内转移、间接寻址</a:t>
            </a:r>
          </a:p>
          <a:p>
            <a:pPr lvl="2">
              <a:buFontTx/>
              <a:buNone/>
            </a:pPr>
            <a:r>
              <a:rPr lang="zh-CN" altLang="en-US" b="1"/>
              <a:t>⑶  段间转移、直接寻址</a:t>
            </a:r>
          </a:p>
          <a:p>
            <a:pPr lvl="2">
              <a:buFontTx/>
              <a:buNone/>
            </a:pPr>
            <a:r>
              <a:rPr lang="zh-CN" altLang="en-US" b="1"/>
              <a:t>⑷  段间转移、间接寻址</a:t>
            </a:r>
            <a:endParaRPr lang="zh-CN" altLang="en-US" sz="1800"/>
          </a:p>
        </p:txBody>
      </p:sp>
      <p:sp>
        <p:nvSpPr>
          <p:cNvPr id="7172" name="AutoShape 7">
            <a:extLst>
              <a:ext uri="{FF2B5EF4-FFF2-40B4-BE49-F238E27FC236}">
                <a16:creationId xmlns:a16="http://schemas.microsoft.com/office/drawing/2014/main" id="{62DAEC79-D2D3-2D68-042A-31BA3978BD2A}"/>
              </a:ext>
            </a:extLst>
          </p:cNvPr>
          <p:cNvSpPr>
            <a:spLocks noChangeArrowheads="1"/>
          </p:cNvSpPr>
          <p:nvPr/>
        </p:nvSpPr>
        <p:spPr bwMode="auto">
          <a:xfrm>
            <a:off x="769938" y="1362075"/>
            <a:ext cx="7604125" cy="554038"/>
          </a:xfrm>
          <a:prstGeom prst="flowChartAlternateProcess">
            <a:avLst/>
          </a:prstGeom>
          <a:blipFill dpi="0" rotWithShape="0">
            <a:blip r:embed="rId2"/>
            <a:srcRect/>
            <a:tile tx="0" ty="0" sx="100000" sy="100000" flip="none" algn="tl"/>
          </a:blipFill>
          <a:ln>
            <a:noFill/>
          </a:ln>
          <a:effectLst>
            <a:prstShdw prst="shdw13" dist="53882" dir="13500000">
              <a:srgbClr val="808080"/>
            </a:prstShdw>
          </a:effectLst>
          <a:extLst>
            <a:ext uri="{91240B29-F687-4F45-9708-019B960494DF}">
              <a14:hiddenLine xmlns:a14="http://schemas.microsoft.com/office/drawing/2010/main" w="12700" cap="sq">
                <a:solidFill>
                  <a:srgbClr val="808000"/>
                </a:solidFill>
                <a:miter lim="800000"/>
                <a:headEnd type="none" w="sm" len="sm"/>
                <a:tailEnd type="none" w="sm" len="sm"/>
              </a14:hiddenLine>
            </a:ext>
          </a:extLst>
        </p:spPr>
        <p:txBody>
          <a:bodyPr>
            <a:spAutoFit/>
          </a:bodyPr>
          <a:lstStyle>
            <a:lvl1pPr>
              <a:tabLst>
                <a:tab pos="2089150" algn="l"/>
              </a:tabLst>
              <a:defRPr sz="2000">
                <a:solidFill>
                  <a:schemeClr val="tx1"/>
                </a:solidFill>
                <a:latin typeface="Arial" panose="020B0604020202020204" pitchFamily="34" charset="0"/>
                <a:ea typeface="宋体" panose="02010600030101010101" pitchFamily="2" charset="-122"/>
              </a:defRPr>
            </a:lvl1pPr>
            <a:lvl2pPr marL="742950" indent="-285750">
              <a:tabLst>
                <a:tab pos="2089150" algn="l"/>
              </a:tabLst>
              <a:defRPr sz="2000">
                <a:solidFill>
                  <a:schemeClr val="tx1"/>
                </a:solidFill>
                <a:latin typeface="Arial" panose="020B0604020202020204" pitchFamily="34" charset="0"/>
                <a:ea typeface="宋体" panose="02010600030101010101" pitchFamily="2" charset="-122"/>
              </a:defRPr>
            </a:lvl2pPr>
            <a:lvl3pPr marL="1143000" indent="-228600">
              <a:tabLst>
                <a:tab pos="2089150" algn="l"/>
              </a:tabLst>
              <a:defRPr sz="2000">
                <a:solidFill>
                  <a:schemeClr val="tx1"/>
                </a:solidFill>
                <a:latin typeface="Arial" panose="020B0604020202020204" pitchFamily="34" charset="0"/>
                <a:ea typeface="宋体" panose="02010600030101010101" pitchFamily="2" charset="-122"/>
              </a:defRPr>
            </a:lvl3pPr>
            <a:lvl4pPr marL="1600200" indent="-228600">
              <a:tabLst>
                <a:tab pos="2089150" algn="l"/>
              </a:tabLst>
              <a:defRPr sz="2000">
                <a:solidFill>
                  <a:schemeClr val="tx1"/>
                </a:solidFill>
                <a:latin typeface="Arial" panose="020B0604020202020204" pitchFamily="34" charset="0"/>
                <a:ea typeface="宋体" panose="02010600030101010101" pitchFamily="2" charset="-122"/>
              </a:defRPr>
            </a:lvl4pPr>
            <a:lvl5pPr marL="2057400" indent="-228600">
              <a:tabLst>
                <a:tab pos="2089150" algn="l"/>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2089150" algn="l"/>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2089150" algn="l"/>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2089150" algn="l"/>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2089150" algn="l"/>
              </a:tabLst>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latin typeface="宋体" panose="02010600030101010101" pitchFamily="2" charset="-122"/>
              </a:rPr>
              <a:t>JMP label</a:t>
            </a:r>
            <a:r>
              <a:rPr lang="en-US" altLang="zh-CN" sz="2800" b="1">
                <a:solidFill>
                  <a:srgbClr val="CC0099"/>
                </a:solidFill>
                <a:latin typeface="宋体" panose="02010600030101010101" pitchFamily="2" charset="-122"/>
              </a:rPr>
              <a:t>	</a:t>
            </a:r>
            <a:r>
              <a:rPr lang="zh-CN" altLang="en-US" sz="2800" b="1">
                <a:solidFill>
                  <a:schemeClr val="accent2"/>
                </a:solidFill>
                <a:latin typeface="宋体" panose="02010600030101010101" pitchFamily="2" charset="-122"/>
              </a:rPr>
              <a:t>；程序转向</a:t>
            </a:r>
            <a:r>
              <a:rPr lang="en-US" altLang="zh-CN" sz="2800" b="1">
                <a:solidFill>
                  <a:schemeClr val="accent2"/>
                </a:solidFill>
                <a:latin typeface="宋体" panose="02010600030101010101" pitchFamily="2" charset="-122"/>
              </a:rPr>
              <a:t>label</a:t>
            </a:r>
            <a:r>
              <a:rPr lang="zh-CN" altLang="en-US" sz="2800" b="1">
                <a:solidFill>
                  <a:schemeClr val="accent2"/>
                </a:solidFill>
                <a:latin typeface="宋体" panose="02010600030101010101" pitchFamily="2" charset="-122"/>
              </a:rPr>
              <a:t>标号指定的地址</a:t>
            </a:r>
          </a:p>
        </p:txBody>
      </p:sp>
    </p:spTree>
  </p:cSld>
  <p:clrMapOvr>
    <a:masterClrMapping/>
  </p:clrMapOvr>
  <p:transition>
    <p:random/>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478B3FF9-BB3C-BDC1-8599-E1B1B25E3BA8}"/>
              </a:ext>
            </a:extLst>
          </p:cNvPr>
          <p:cNvSpPr>
            <a:spLocks noGrp="1" noChangeArrowheads="1"/>
          </p:cNvSpPr>
          <p:nvPr>
            <p:ph type="title"/>
          </p:nvPr>
        </p:nvSpPr>
        <p:spPr/>
        <p:txBody>
          <a:bodyPr/>
          <a:lstStyle/>
          <a:p>
            <a:r>
              <a:rPr lang="zh-CN" altLang="en-US"/>
              <a:t>无条件转移指令</a:t>
            </a:r>
            <a:r>
              <a:rPr lang="en-US" altLang="zh-CN"/>
              <a:t>JMP</a:t>
            </a:r>
            <a:r>
              <a:rPr lang="zh-CN" altLang="en-US"/>
              <a:t>（</a:t>
            </a:r>
            <a:r>
              <a:rPr lang="en-US" altLang="zh-CN"/>
              <a:t>jump</a:t>
            </a:r>
            <a:r>
              <a:rPr lang="zh-CN" altLang="en-US"/>
              <a:t>） </a:t>
            </a:r>
          </a:p>
        </p:txBody>
      </p:sp>
      <p:sp>
        <p:nvSpPr>
          <p:cNvPr id="8195" name="Rectangle 3">
            <a:extLst>
              <a:ext uri="{FF2B5EF4-FFF2-40B4-BE49-F238E27FC236}">
                <a16:creationId xmlns:a16="http://schemas.microsoft.com/office/drawing/2014/main" id="{769BEA71-249A-8C09-0E83-2DD13A8B4D1F}"/>
              </a:ext>
            </a:extLst>
          </p:cNvPr>
          <p:cNvSpPr>
            <a:spLocks noGrp="1" noChangeArrowheads="1"/>
          </p:cNvSpPr>
          <p:nvPr>
            <p:ph idx="1"/>
          </p:nvPr>
        </p:nvSpPr>
        <p:spPr>
          <a:xfrm>
            <a:off x="455613" y="1398588"/>
            <a:ext cx="8424862" cy="5184775"/>
          </a:xfrm>
        </p:spPr>
        <p:txBody>
          <a:bodyPr/>
          <a:lstStyle/>
          <a:p>
            <a:pPr>
              <a:buFontTx/>
              <a:buNone/>
            </a:pPr>
            <a:r>
              <a:rPr lang="en-US" altLang="zh-CN"/>
              <a:t>JMP label		</a:t>
            </a:r>
            <a:r>
              <a:rPr lang="en-US" altLang="zh-CN" sz="2800"/>
              <a:t>;</a:t>
            </a:r>
            <a:r>
              <a:rPr lang="zh-CN" altLang="en-US" sz="2800"/>
              <a:t>段内转移、相对寻址</a:t>
            </a:r>
          </a:p>
          <a:p>
            <a:pPr>
              <a:buFontTx/>
              <a:buNone/>
            </a:pPr>
            <a:r>
              <a:rPr lang="zh-CN" altLang="en-US" sz="2800"/>
              <a:t>		</a:t>
            </a:r>
            <a:r>
              <a:rPr lang="en-US" altLang="zh-CN" sz="2800">
                <a:solidFill>
                  <a:srgbClr val="006600"/>
                </a:solidFill>
              </a:rPr>
              <a:t>;IP←IP</a:t>
            </a:r>
            <a:r>
              <a:rPr lang="zh-CN" altLang="en-US" sz="2800">
                <a:solidFill>
                  <a:srgbClr val="006600"/>
                </a:solidFill>
              </a:rPr>
              <a:t>＋位移量</a:t>
            </a:r>
            <a:r>
              <a:rPr lang="zh-CN" altLang="en-US"/>
              <a:t> </a:t>
            </a:r>
          </a:p>
          <a:p>
            <a:pPr>
              <a:buFontTx/>
              <a:buNone/>
            </a:pPr>
            <a:r>
              <a:rPr lang="en-US" altLang="zh-CN"/>
              <a:t>JMP r16/m16		</a:t>
            </a:r>
            <a:r>
              <a:rPr lang="en-US" altLang="zh-CN" sz="2800"/>
              <a:t>;</a:t>
            </a:r>
            <a:r>
              <a:rPr lang="zh-CN" altLang="en-US" sz="2800"/>
              <a:t>段内转移、间接寻址</a:t>
            </a:r>
          </a:p>
          <a:p>
            <a:pPr>
              <a:buFontTx/>
              <a:buNone/>
            </a:pPr>
            <a:r>
              <a:rPr lang="zh-CN" altLang="en-US" sz="2800"/>
              <a:t>		</a:t>
            </a:r>
            <a:r>
              <a:rPr lang="en-US" altLang="zh-CN" sz="2800">
                <a:solidFill>
                  <a:srgbClr val="006600"/>
                </a:solidFill>
              </a:rPr>
              <a:t>;IP←r16/m16</a:t>
            </a:r>
            <a:r>
              <a:rPr lang="en-US" altLang="zh-CN" sz="2800"/>
              <a:t> </a:t>
            </a:r>
          </a:p>
          <a:p>
            <a:pPr>
              <a:buFontTx/>
              <a:buNone/>
            </a:pPr>
            <a:r>
              <a:rPr lang="en-US" altLang="zh-CN"/>
              <a:t>JMP far ptr label	</a:t>
            </a:r>
            <a:r>
              <a:rPr lang="en-US" altLang="zh-CN" sz="2800"/>
              <a:t>;</a:t>
            </a:r>
            <a:r>
              <a:rPr lang="zh-CN" altLang="en-US" sz="2800"/>
              <a:t>段间转移、直接寻址</a:t>
            </a:r>
          </a:p>
          <a:p>
            <a:pPr>
              <a:buFontTx/>
              <a:buNone/>
            </a:pPr>
            <a:r>
              <a:rPr lang="zh-CN" altLang="en-US" sz="2800"/>
              <a:t>		</a:t>
            </a:r>
            <a:r>
              <a:rPr lang="en-US" altLang="zh-CN" sz="2800">
                <a:solidFill>
                  <a:srgbClr val="006600"/>
                </a:solidFill>
              </a:rPr>
              <a:t>;IP←</a:t>
            </a:r>
            <a:r>
              <a:rPr lang="zh-CN" altLang="en-US" sz="2800">
                <a:solidFill>
                  <a:srgbClr val="006600"/>
                </a:solidFill>
              </a:rPr>
              <a:t>偏移地址</a:t>
            </a:r>
            <a:r>
              <a:rPr lang="en-US" altLang="zh-CN" sz="2800">
                <a:solidFill>
                  <a:srgbClr val="006600"/>
                </a:solidFill>
              </a:rPr>
              <a:t>,CS←</a:t>
            </a:r>
            <a:r>
              <a:rPr lang="zh-CN" altLang="en-US" sz="2800">
                <a:solidFill>
                  <a:srgbClr val="006600"/>
                </a:solidFill>
              </a:rPr>
              <a:t>段地址</a:t>
            </a:r>
            <a:r>
              <a:rPr lang="zh-CN" altLang="en-US"/>
              <a:t> </a:t>
            </a:r>
          </a:p>
          <a:p>
            <a:pPr>
              <a:buFontTx/>
              <a:buNone/>
            </a:pPr>
            <a:r>
              <a:rPr lang="en-US" altLang="zh-CN"/>
              <a:t>JMP far ptr mem	</a:t>
            </a:r>
            <a:r>
              <a:rPr lang="en-US" altLang="zh-CN" sz="2800"/>
              <a:t>;</a:t>
            </a:r>
            <a:r>
              <a:rPr lang="zh-CN" altLang="en-US" sz="2800"/>
              <a:t>段间转移，间接寻址</a:t>
            </a:r>
          </a:p>
          <a:p>
            <a:pPr>
              <a:buFontTx/>
              <a:buNone/>
            </a:pPr>
            <a:r>
              <a:rPr lang="zh-CN" altLang="en-US" sz="2800"/>
              <a:t>		</a:t>
            </a:r>
            <a:r>
              <a:rPr lang="en-US" altLang="zh-CN" sz="2800">
                <a:solidFill>
                  <a:srgbClr val="006600"/>
                </a:solidFill>
              </a:rPr>
              <a:t>;IP←[mem],CS←[mem</a:t>
            </a:r>
            <a:r>
              <a:rPr lang="zh-CN" altLang="en-US" sz="2800">
                <a:solidFill>
                  <a:srgbClr val="006600"/>
                </a:solidFill>
              </a:rPr>
              <a:t>＋</a:t>
            </a:r>
            <a:r>
              <a:rPr lang="en-US" altLang="zh-CN" sz="2800">
                <a:solidFill>
                  <a:srgbClr val="006600"/>
                </a:solidFill>
              </a:rPr>
              <a:t>2]</a:t>
            </a:r>
          </a:p>
        </p:txBody>
      </p:sp>
    </p:spTree>
  </p:cSld>
  <p:clrMapOvr>
    <a:masterClrMapping/>
  </p:clrMapOvr>
  <p:transition>
    <p:random/>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4D859508-8056-F88F-4EBF-F310AF00FF80}"/>
              </a:ext>
            </a:extLst>
          </p:cNvPr>
          <p:cNvSpPr>
            <a:spLocks noGrp="1" noChangeArrowheads="1"/>
          </p:cNvSpPr>
          <p:nvPr>
            <p:ph type="title"/>
          </p:nvPr>
        </p:nvSpPr>
        <p:spPr/>
        <p:txBody>
          <a:bodyPr/>
          <a:lstStyle/>
          <a:p>
            <a:r>
              <a:rPr lang="en-US" altLang="zh-CN" dirty="0"/>
              <a:t>2. </a:t>
            </a:r>
            <a:r>
              <a:rPr lang="zh-CN" altLang="en-US" dirty="0"/>
              <a:t>条件转移指令</a:t>
            </a:r>
          </a:p>
        </p:txBody>
      </p:sp>
      <p:sp>
        <p:nvSpPr>
          <p:cNvPr id="9219" name="Rectangle 3">
            <a:extLst>
              <a:ext uri="{FF2B5EF4-FFF2-40B4-BE49-F238E27FC236}">
                <a16:creationId xmlns:a16="http://schemas.microsoft.com/office/drawing/2014/main" id="{14773E73-703E-7C96-B2C5-E3E3B3C17FB8}"/>
              </a:ext>
            </a:extLst>
          </p:cNvPr>
          <p:cNvSpPr>
            <a:spLocks noGrp="1" noChangeArrowheads="1"/>
          </p:cNvSpPr>
          <p:nvPr>
            <p:ph idx="1"/>
          </p:nvPr>
        </p:nvSpPr>
        <p:spPr/>
        <p:txBody>
          <a:bodyPr/>
          <a:lstStyle/>
          <a:p>
            <a:r>
              <a:rPr lang="zh-CN" altLang="en-US"/>
              <a:t>条件转移指令</a:t>
            </a:r>
            <a:r>
              <a:rPr lang="en-US" altLang="zh-CN"/>
              <a:t>Jcc</a:t>
            </a:r>
            <a:r>
              <a:rPr lang="zh-CN" altLang="en-US"/>
              <a:t>根据指定的条件确定程序是否发生转移。其通用格式为：</a:t>
            </a:r>
          </a:p>
          <a:p>
            <a:pPr>
              <a:spcBef>
                <a:spcPct val="50000"/>
              </a:spcBef>
              <a:buFontTx/>
              <a:buNone/>
            </a:pPr>
            <a:r>
              <a:rPr lang="zh-CN" altLang="en-US"/>
              <a:t>	</a:t>
            </a:r>
            <a:r>
              <a:rPr lang="en-US" altLang="zh-CN"/>
              <a:t>Jcc  label	</a:t>
            </a:r>
            <a:r>
              <a:rPr lang="zh-CN" altLang="en-US" sz="2800"/>
              <a:t>；条件满足</a:t>
            </a:r>
            <a:r>
              <a:rPr lang="en-US" altLang="zh-CN" sz="2800"/>
              <a:t>,</a:t>
            </a:r>
            <a:r>
              <a:rPr lang="zh-CN" altLang="en-US" sz="2800"/>
              <a:t>发生转移</a:t>
            </a:r>
          </a:p>
          <a:p>
            <a:pPr>
              <a:buFontTx/>
              <a:buNone/>
            </a:pPr>
            <a:r>
              <a:rPr lang="zh-CN" altLang="en-US" sz="2800"/>
              <a:t>				；</a:t>
            </a:r>
            <a:r>
              <a:rPr lang="en-US" altLang="zh-CN" sz="2800"/>
              <a:t>IP←IP</a:t>
            </a:r>
            <a:r>
              <a:rPr lang="zh-CN" altLang="en-US" sz="2800"/>
              <a:t>＋</a:t>
            </a:r>
            <a:r>
              <a:rPr lang="en-US" altLang="zh-CN" sz="2800"/>
              <a:t>8</a:t>
            </a:r>
            <a:r>
              <a:rPr lang="zh-CN" altLang="en-US" sz="2800"/>
              <a:t>位位移量；</a:t>
            </a:r>
          </a:p>
          <a:p>
            <a:pPr>
              <a:buFontTx/>
              <a:buNone/>
            </a:pPr>
            <a:r>
              <a:rPr lang="zh-CN" altLang="en-US" sz="2800"/>
              <a:t>				；否则，顺序执行</a:t>
            </a:r>
          </a:p>
          <a:p>
            <a:pPr>
              <a:spcBef>
                <a:spcPct val="50000"/>
              </a:spcBef>
            </a:pPr>
            <a:r>
              <a:rPr lang="en-US" altLang="zh-CN" sz="2800"/>
              <a:t>label</a:t>
            </a:r>
            <a:r>
              <a:rPr lang="zh-CN" altLang="en-US" sz="2800"/>
              <a:t>是一个标号、一个</a:t>
            </a:r>
            <a:r>
              <a:rPr lang="en-US" altLang="zh-CN" sz="2800"/>
              <a:t>8</a:t>
            </a:r>
            <a:r>
              <a:rPr lang="zh-CN" altLang="en-US" sz="2800"/>
              <a:t>位位移量，表示</a:t>
            </a:r>
            <a:r>
              <a:rPr lang="en-US" altLang="zh-CN" sz="2800"/>
              <a:t>Jcc</a:t>
            </a:r>
            <a:r>
              <a:rPr lang="zh-CN" altLang="en-US" sz="2800"/>
              <a:t>指令后的那条指令的偏移地址，到目标指令的偏移地址的地址位移</a:t>
            </a:r>
          </a:p>
          <a:p>
            <a:r>
              <a:rPr lang="en-US" altLang="zh-CN" sz="2800"/>
              <a:t>label</a:t>
            </a:r>
            <a:r>
              <a:rPr lang="zh-CN" altLang="en-US" sz="2800"/>
              <a:t>只支持短转移的相对寻址方式</a:t>
            </a:r>
          </a:p>
        </p:txBody>
      </p:sp>
    </p:spTree>
  </p:cSld>
  <p:clrMapOvr>
    <a:masterClrMapping/>
  </p:clrMapOvr>
  <p:transition>
    <p:random/>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82739146-0F3F-0003-EDB2-6943A19DAC22}"/>
              </a:ext>
            </a:extLst>
          </p:cNvPr>
          <p:cNvSpPr>
            <a:spLocks noGrp="1" noChangeArrowheads="1"/>
          </p:cNvSpPr>
          <p:nvPr>
            <p:ph type="title"/>
          </p:nvPr>
        </p:nvSpPr>
        <p:spPr/>
        <p:txBody>
          <a:bodyPr/>
          <a:lstStyle/>
          <a:p>
            <a:r>
              <a:rPr lang="en-US" altLang="zh-CN"/>
              <a:t>Jcc</a:t>
            </a:r>
            <a:r>
              <a:rPr lang="zh-CN" altLang="en-US"/>
              <a:t>指令的分类</a:t>
            </a:r>
          </a:p>
        </p:txBody>
      </p:sp>
      <p:sp>
        <p:nvSpPr>
          <p:cNvPr id="10243" name="Rectangle 3">
            <a:extLst>
              <a:ext uri="{FF2B5EF4-FFF2-40B4-BE49-F238E27FC236}">
                <a16:creationId xmlns:a16="http://schemas.microsoft.com/office/drawing/2014/main" id="{84CEF73E-BE3F-2B56-9B55-0E8307177C94}"/>
              </a:ext>
            </a:extLst>
          </p:cNvPr>
          <p:cNvSpPr>
            <a:spLocks noGrp="1" noChangeArrowheads="1"/>
          </p:cNvSpPr>
          <p:nvPr>
            <p:ph idx="1"/>
          </p:nvPr>
        </p:nvSpPr>
        <p:spPr>
          <a:xfrm>
            <a:off x="457200" y="1417638"/>
            <a:ext cx="8229600" cy="2655887"/>
          </a:xfrm>
        </p:spPr>
        <p:txBody>
          <a:bodyPr/>
          <a:lstStyle/>
          <a:p>
            <a:pPr>
              <a:lnSpc>
                <a:spcPct val="90000"/>
              </a:lnSpc>
            </a:pPr>
            <a:r>
              <a:rPr lang="en-US" altLang="zh-CN" sz="2800"/>
              <a:t>Jcc</a:t>
            </a:r>
            <a:r>
              <a:rPr lang="zh-CN" altLang="en-US" sz="2800"/>
              <a:t>指令不影响标志，但要利用标志（</a:t>
            </a:r>
            <a:r>
              <a:rPr lang="zh-CN" altLang="en-US" sz="2800">
                <a:hlinkClick r:id="rId2" action="ppaction://hlinksldjump"/>
              </a:rPr>
              <a:t>表</a:t>
            </a:r>
            <a:r>
              <a:rPr lang="en-US" altLang="zh-CN" sz="2800">
                <a:hlinkClick r:id="rId2" action="ppaction://hlinksldjump"/>
              </a:rPr>
              <a:t>2-3</a:t>
            </a:r>
            <a:r>
              <a:rPr lang="zh-CN" altLang="en-US" sz="2800"/>
              <a:t>）</a:t>
            </a:r>
          </a:p>
          <a:p>
            <a:pPr>
              <a:lnSpc>
                <a:spcPct val="90000"/>
              </a:lnSpc>
            </a:pPr>
            <a:r>
              <a:rPr lang="zh-CN" altLang="en-US" sz="2800"/>
              <a:t>根据利用的标志位不同，分成三种情况：</a:t>
            </a:r>
          </a:p>
          <a:p>
            <a:pPr lvl="1">
              <a:lnSpc>
                <a:spcPct val="90000"/>
              </a:lnSpc>
              <a:spcBef>
                <a:spcPct val="50000"/>
              </a:spcBef>
              <a:buFontTx/>
              <a:buNone/>
            </a:pPr>
            <a:r>
              <a:rPr lang="zh-CN" altLang="en-US">
                <a:solidFill>
                  <a:srgbClr val="006600"/>
                </a:solidFill>
              </a:rPr>
              <a:t>⑴  判断单个标志位状态</a:t>
            </a:r>
          </a:p>
          <a:p>
            <a:pPr lvl="1">
              <a:lnSpc>
                <a:spcPct val="90000"/>
              </a:lnSpc>
              <a:buFontTx/>
              <a:buNone/>
            </a:pPr>
            <a:r>
              <a:rPr lang="zh-CN" altLang="en-US">
                <a:solidFill>
                  <a:srgbClr val="006600"/>
                </a:solidFill>
              </a:rPr>
              <a:t>⑵  比较无符号数高低</a:t>
            </a:r>
          </a:p>
          <a:p>
            <a:pPr lvl="1">
              <a:lnSpc>
                <a:spcPct val="90000"/>
              </a:lnSpc>
              <a:buFontTx/>
              <a:buNone/>
            </a:pPr>
            <a:r>
              <a:rPr lang="zh-CN" altLang="en-US">
                <a:solidFill>
                  <a:srgbClr val="006600"/>
                </a:solidFill>
              </a:rPr>
              <a:t>⑶  比较有符号数大小</a:t>
            </a:r>
          </a:p>
        </p:txBody>
      </p:sp>
      <p:sp>
        <p:nvSpPr>
          <p:cNvPr id="216068" name="AutoShape 4">
            <a:extLst>
              <a:ext uri="{FF2B5EF4-FFF2-40B4-BE49-F238E27FC236}">
                <a16:creationId xmlns:a16="http://schemas.microsoft.com/office/drawing/2014/main" id="{94027E58-CC06-7708-7CDE-26EEA89F6501}"/>
              </a:ext>
            </a:extLst>
          </p:cNvPr>
          <p:cNvSpPr>
            <a:spLocks noChangeArrowheads="1"/>
          </p:cNvSpPr>
          <p:nvPr/>
        </p:nvSpPr>
        <p:spPr bwMode="auto">
          <a:xfrm>
            <a:off x="533400" y="4195763"/>
            <a:ext cx="8231188" cy="1219200"/>
          </a:xfrm>
          <a:prstGeom prst="roundRect">
            <a:avLst>
              <a:gd name="adj" fmla="val 16667"/>
            </a:avLst>
          </a:prstGeom>
          <a:blipFill dpi="0" rotWithShape="0">
            <a:blip r:embed="rId3"/>
            <a:srcRect/>
            <a:tile tx="0" ty="0" sx="100000" sy="100000" flip="none" algn="tl"/>
          </a:blip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gn="just" eaLnBrk="1" hangingPunct="1">
              <a:buFontTx/>
              <a:buBlip>
                <a:blip r:embed="rId4"/>
              </a:buBlip>
            </a:pPr>
            <a:r>
              <a:rPr kumimoji="1" lang="en-US" altLang="zh-CN" sz="2800" b="1">
                <a:solidFill>
                  <a:schemeClr val="accent2"/>
                </a:solidFill>
              </a:rPr>
              <a:t> Jcc</a:t>
            </a:r>
            <a:r>
              <a:rPr kumimoji="1" lang="zh-CN" altLang="en-US" sz="2800" b="1">
                <a:solidFill>
                  <a:schemeClr val="accent2"/>
                </a:solidFill>
              </a:rPr>
              <a:t>指令实际虽然只有</a:t>
            </a:r>
            <a:r>
              <a:rPr kumimoji="1" lang="en-US" altLang="zh-CN" sz="2800" b="1">
                <a:solidFill>
                  <a:schemeClr val="accent2"/>
                </a:solidFill>
              </a:rPr>
              <a:t>16</a:t>
            </a:r>
            <a:r>
              <a:rPr kumimoji="1" lang="zh-CN" altLang="en-US" sz="2800" b="1">
                <a:solidFill>
                  <a:schemeClr val="accent2"/>
                </a:solidFill>
              </a:rPr>
              <a:t>条，但却有</a:t>
            </a:r>
            <a:r>
              <a:rPr kumimoji="1" lang="en-US" altLang="zh-CN" sz="2800" b="1">
                <a:solidFill>
                  <a:schemeClr val="accent2"/>
                </a:solidFill>
              </a:rPr>
              <a:t>30</a:t>
            </a:r>
            <a:r>
              <a:rPr kumimoji="1" lang="zh-CN" altLang="en-US" sz="2800" b="1">
                <a:solidFill>
                  <a:schemeClr val="accent2"/>
                </a:solidFill>
              </a:rPr>
              <a:t>个助记符</a:t>
            </a:r>
          </a:p>
          <a:p>
            <a:pPr algn="just" eaLnBrk="1" hangingPunct="1">
              <a:lnSpc>
                <a:spcPct val="120000"/>
              </a:lnSpc>
              <a:buFontTx/>
              <a:buBlip>
                <a:blip r:embed="rId4"/>
              </a:buBlip>
            </a:pPr>
            <a:r>
              <a:rPr kumimoji="1" lang="zh-CN" altLang="en-US" sz="2800" b="1">
                <a:solidFill>
                  <a:schemeClr val="accent2"/>
                </a:solidFill>
              </a:rPr>
              <a:t> 采用多个助记符，目的是为了方便记忆和使用</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nodeType="clickEffect">
                                  <p:stCondLst>
                                    <p:cond delay="0"/>
                                  </p:stCondLst>
                                  <p:childTnLst>
                                    <p:set>
                                      <p:cBhvr>
                                        <p:cTn id="6" dur="1" fill="hold">
                                          <p:stCondLst>
                                            <p:cond delay="0"/>
                                          </p:stCondLst>
                                        </p:cTn>
                                        <p:tgtEl>
                                          <p:spTgt spid="216068"/>
                                        </p:tgtEl>
                                        <p:attrNameLst>
                                          <p:attrName>style.visibility</p:attrName>
                                        </p:attrNameLst>
                                      </p:cBhvr>
                                      <p:to>
                                        <p:strVal val="visible"/>
                                      </p:to>
                                    </p:set>
                                    <p:anim calcmode="lin" valueType="num">
                                      <p:cBhvr>
                                        <p:cTn id="7" dur="1000" fill="hold"/>
                                        <p:tgtEl>
                                          <p:spTgt spid="216068"/>
                                        </p:tgtEl>
                                        <p:attrNameLst>
                                          <p:attrName>ppt_x</p:attrName>
                                        </p:attrNameLst>
                                      </p:cBhvr>
                                      <p:tavLst>
                                        <p:tav tm="0">
                                          <p:val>
                                            <p:strVal val="#ppt_x-#ppt_w/2"/>
                                          </p:val>
                                        </p:tav>
                                        <p:tav tm="100000">
                                          <p:val>
                                            <p:strVal val="#ppt_x"/>
                                          </p:val>
                                        </p:tav>
                                      </p:tavLst>
                                    </p:anim>
                                    <p:anim calcmode="lin" valueType="num">
                                      <p:cBhvr>
                                        <p:cTn id="8" dur="1000" fill="hold"/>
                                        <p:tgtEl>
                                          <p:spTgt spid="216068"/>
                                        </p:tgtEl>
                                        <p:attrNameLst>
                                          <p:attrName>ppt_y</p:attrName>
                                        </p:attrNameLst>
                                      </p:cBhvr>
                                      <p:tavLst>
                                        <p:tav tm="0">
                                          <p:val>
                                            <p:strVal val="#ppt_y"/>
                                          </p:val>
                                        </p:tav>
                                        <p:tav tm="100000">
                                          <p:val>
                                            <p:strVal val="#ppt_y"/>
                                          </p:val>
                                        </p:tav>
                                      </p:tavLst>
                                    </p:anim>
                                    <p:anim calcmode="lin" valueType="num">
                                      <p:cBhvr>
                                        <p:cTn id="9" dur="1000" fill="hold"/>
                                        <p:tgtEl>
                                          <p:spTgt spid="216068"/>
                                        </p:tgtEl>
                                        <p:attrNameLst>
                                          <p:attrName>ppt_w</p:attrName>
                                        </p:attrNameLst>
                                      </p:cBhvr>
                                      <p:tavLst>
                                        <p:tav tm="0">
                                          <p:val>
                                            <p:fltVal val="0"/>
                                          </p:val>
                                        </p:tav>
                                        <p:tav tm="100000">
                                          <p:val>
                                            <p:strVal val="#ppt_w"/>
                                          </p:val>
                                        </p:tav>
                                      </p:tavLst>
                                    </p:anim>
                                    <p:anim calcmode="lin" valueType="num">
                                      <p:cBhvr>
                                        <p:cTn id="10" dur="1000" fill="hold"/>
                                        <p:tgtEl>
                                          <p:spTgt spid="21606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68" grpId="0" animBg="1" autoUpdateAnimBg="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64CE7085-E748-BD75-BD0D-274EA17AD726}"/>
              </a:ext>
            </a:extLst>
          </p:cNvPr>
          <p:cNvSpPr>
            <a:spLocks noGrp="1" noChangeArrowheads="1"/>
          </p:cNvSpPr>
          <p:nvPr>
            <p:ph type="title"/>
          </p:nvPr>
        </p:nvSpPr>
        <p:spPr/>
        <p:txBody>
          <a:bodyPr/>
          <a:lstStyle/>
          <a:p>
            <a:pPr marL="457200" indent="-457200">
              <a:buFont typeface="Wingdings" panose="05000000000000000000" pitchFamily="2" charset="2"/>
              <a:buChar char="u"/>
            </a:pPr>
            <a:r>
              <a:rPr lang="zh-CN" altLang="en-US" dirty="0"/>
              <a:t>判断单个标志位状态</a:t>
            </a:r>
          </a:p>
        </p:txBody>
      </p:sp>
      <p:sp>
        <p:nvSpPr>
          <p:cNvPr id="11267" name="Rectangle 3">
            <a:extLst>
              <a:ext uri="{FF2B5EF4-FFF2-40B4-BE49-F238E27FC236}">
                <a16:creationId xmlns:a16="http://schemas.microsoft.com/office/drawing/2014/main" id="{E5352F8E-A8A0-0EB7-FB69-696F070B31B5}"/>
              </a:ext>
            </a:extLst>
          </p:cNvPr>
          <p:cNvSpPr>
            <a:spLocks noGrp="1" noChangeArrowheads="1"/>
          </p:cNvSpPr>
          <p:nvPr>
            <p:ph idx="1"/>
          </p:nvPr>
        </p:nvSpPr>
        <p:spPr>
          <a:xfrm>
            <a:off x="381000" y="1314450"/>
            <a:ext cx="8675688" cy="5184775"/>
          </a:xfrm>
        </p:spPr>
        <p:txBody>
          <a:bodyPr/>
          <a:lstStyle/>
          <a:p>
            <a:pPr>
              <a:lnSpc>
                <a:spcPct val="90000"/>
              </a:lnSpc>
              <a:buSzPct val="90000"/>
              <a:buFont typeface="Wingdings" panose="05000000000000000000" pitchFamily="2" charset="2"/>
              <a:buNone/>
            </a:pPr>
            <a:r>
              <a:rPr kumimoji="1" lang="zh-CN" altLang="zh-CN" sz="2800">
                <a:solidFill>
                  <a:srgbClr val="000000"/>
                </a:solidFill>
              </a:rPr>
              <a:t>⑴</a:t>
            </a:r>
            <a:r>
              <a:rPr kumimoji="1" lang="en-US" altLang="zh-CN" sz="2800">
                <a:solidFill>
                  <a:srgbClr val="000000"/>
                </a:solidFill>
              </a:rPr>
              <a:t> </a:t>
            </a:r>
            <a:r>
              <a:rPr kumimoji="1" lang="en-US" altLang="zh-CN" sz="2800">
                <a:solidFill>
                  <a:srgbClr val="006600"/>
                </a:solidFill>
              </a:rPr>
              <a:t>JZ</a:t>
            </a:r>
            <a:r>
              <a:rPr kumimoji="1" lang="en-US" altLang="zh-CN" sz="2800">
                <a:solidFill>
                  <a:srgbClr val="000000"/>
                </a:solidFill>
              </a:rPr>
              <a:t>/</a:t>
            </a:r>
            <a:r>
              <a:rPr kumimoji="1" lang="en-US" altLang="zh-CN" sz="2800">
                <a:solidFill>
                  <a:srgbClr val="006600"/>
                </a:solidFill>
              </a:rPr>
              <a:t>JE</a:t>
            </a:r>
            <a:r>
              <a:rPr kumimoji="1" lang="zh-CN" altLang="en-US" sz="2800">
                <a:solidFill>
                  <a:srgbClr val="000000"/>
                </a:solidFill>
              </a:rPr>
              <a:t>和</a:t>
            </a:r>
            <a:r>
              <a:rPr kumimoji="1" lang="en-US" altLang="zh-CN" sz="2800">
                <a:solidFill>
                  <a:srgbClr val="006600"/>
                </a:solidFill>
              </a:rPr>
              <a:t>JNZ</a:t>
            </a:r>
            <a:r>
              <a:rPr kumimoji="1" lang="en-US" altLang="zh-CN" sz="2800">
                <a:solidFill>
                  <a:srgbClr val="000000"/>
                </a:solidFill>
              </a:rPr>
              <a:t>/</a:t>
            </a:r>
            <a:r>
              <a:rPr kumimoji="1" lang="en-US" altLang="zh-CN" sz="2800">
                <a:solidFill>
                  <a:srgbClr val="006600"/>
                </a:solidFill>
              </a:rPr>
              <a:t>JNE</a:t>
            </a:r>
          </a:p>
          <a:p>
            <a:pPr>
              <a:lnSpc>
                <a:spcPct val="90000"/>
              </a:lnSpc>
              <a:buSzPct val="90000"/>
              <a:buFont typeface="Wingdings" panose="05000000000000000000" pitchFamily="2" charset="2"/>
              <a:buNone/>
            </a:pPr>
            <a:r>
              <a:rPr kumimoji="1" lang="en-US" altLang="zh-CN" sz="2800">
                <a:solidFill>
                  <a:srgbClr val="000000"/>
                </a:solidFill>
              </a:rPr>
              <a:t>	</a:t>
            </a:r>
            <a:r>
              <a:rPr kumimoji="1" lang="zh-CN" altLang="en-US" sz="2800">
                <a:solidFill>
                  <a:srgbClr val="000000"/>
                </a:solidFill>
              </a:rPr>
              <a:t>利用零标志</a:t>
            </a:r>
            <a:r>
              <a:rPr kumimoji="1" lang="en-US" altLang="zh-CN" sz="2800">
                <a:solidFill>
                  <a:srgbClr val="3333CC"/>
                </a:solidFill>
              </a:rPr>
              <a:t>ZF</a:t>
            </a:r>
            <a:r>
              <a:rPr kumimoji="1" lang="zh-CN" altLang="en-US" sz="2800">
                <a:solidFill>
                  <a:srgbClr val="000000"/>
                </a:solidFill>
              </a:rPr>
              <a:t>，判断结果是否为零（或相等）</a:t>
            </a:r>
          </a:p>
          <a:p>
            <a:pPr>
              <a:lnSpc>
                <a:spcPct val="90000"/>
              </a:lnSpc>
              <a:buSzPct val="90000"/>
              <a:buFont typeface="Wingdings" panose="05000000000000000000" pitchFamily="2" charset="2"/>
              <a:buNone/>
            </a:pPr>
            <a:r>
              <a:rPr kumimoji="1" lang="zh-CN" altLang="en-US" sz="2800">
                <a:solidFill>
                  <a:srgbClr val="000000"/>
                </a:solidFill>
              </a:rPr>
              <a:t>⑵ </a:t>
            </a:r>
            <a:r>
              <a:rPr kumimoji="1" lang="en-US" altLang="zh-CN" sz="2800">
                <a:solidFill>
                  <a:srgbClr val="006600"/>
                </a:solidFill>
              </a:rPr>
              <a:t>JS</a:t>
            </a:r>
            <a:r>
              <a:rPr kumimoji="1" lang="zh-CN" altLang="en-US" sz="2800">
                <a:solidFill>
                  <a:srgbClr val="000000"/>
                </a:solidFill>
              </a:rPr>
              <a:t>和</a:t>
            </a:r>
            <a:r>
              <a:rPr kumimoji="1" lang="en-US" altLang="zh-CN" sz="2800">
                <a:solidFill>
                  <a:srgbClr val="006600"/>
                </a:solidFill>
              </a:rPr>
              <a:t>JNS</a:t>
            </a:r>
          </a:p>
          <a:p>
            <a:pPr>
              <a:lnSpc>
                <a:spcPct val="90000"/>
              </a:lnSpc>
              <a:buSzPct val="90000"/>
              <a:buFont typeface="Wingdings" panose="05000000000000000000" pitchFamily="2" charset="2"/>
              <a:buNone/>
            </a:pPr>
            <a:r>
              <a:rPr kumimoji="1" lang="en-US" altLang="zh-CN" sz="2800">
                <a:solidFill>
                  <a:srgbClr val="000000"/>
                </a:solidFill>
              </a:rPr>
              <a:t>	</a:t>
            </a:r>
            <a:r>
              <a:rPr kumimoji="1" lang="zh-CN" altLang="en-US" sz="2800">
                <a:solidFill>
                  <a:srgbClr val="000000"/>
                </a:solidFill>
              </a:rPr>
              <a:t>利用符号标志</a:t>
            </a:r>
            <a:r>
              <a:rPr kumimoji="1" lang="en-US" altLang="zh-CN" sz="2800">
                <a:solidFill>
                  <a:srgbClr val="3333CC"/>
                </a:solidFill>
              </a:rPr>
              <a:t>SF</a:t>
            </a:r>
            <a:r>
              <a:rPr kumimoji="1" lang="zh-CN" altLang="en-US" sz="2800">
                <a:solidFill>
                  <a:srgbClr val="000000"/>
                </a:solidFill>
              </a:rPr>
              <a:t>，判断结果是正是负</a:t>
            </a:r>
          </a:p>
          <a:p>
            <a:pPr>
              <a:lnSpc>
                <a:spcPct val="90000"/>
              </a:lnSpc>
              <a:buSzPct val="90000"/>
              <a:buFont typeface="Wingdings" panose="05000000000000000000" pitchFamily="2" charset="2"/>
              <a:buNone/>
            </a:pPr>
            <a:r>
              <a:rPr kumimoji="1" lang="zh-CN" altLang="en-US" sz="2800">
                <a:solidFill>
                  <a:srgbClr val="000000"/>
                </a:solidFill>
              </a:rPr>
              <a:t>⑶ </a:t>
            </a:r>
            <a:r>
              <a:rPr kumimoji="1" lang="en-US" altLang="zh-CN" sz="2800">
                <a:solidFill>
                  <a:srgbClr val="006600"/>
                </a:solidFill>
              </a:rPr>
              <a:t>JO</a:t>
            </a:r>
            <a:r>
              <a:rPr kumimoji="1" lang="zh-CN" altLang="en-US" sz="2800">
                <a:solidFill>
                  <a:srgbClr val="000000"/>
                </a:solidFill>
              </a:rPr>
              <a:t>和</a:t>
            </a:r>
            <a:r>
              <a:rPr kumimoji="1" lang="en-US" altLang="zh-CN" sz="2800">
                <a:solidFill>
                  <a:srgbClr val="006600"/>
                </a:solidFill>
              </a:rPr>
              <a:t>JNO</a:t>
            </a:r>
          </a:p>
          <a:p>
            <a:pPr>
              <a:lnSpc>
                <a:spcPct val="90000"/>
              </a:lnSpc>
              <a:buSzPct val="90000"/>
              <a:buFont typeface="Wingdings" panose="05000000000000000000" pitchFamily="2" charset="2"/>
              <a:buNone/>
            </a:pPr>
            <a:r>
              <a:rPr kumimoji="1" lang="en-US" altLang="zh-CN" sz="2800">
                <a:solidFill>
                  <a:srgbClr val="000000"/>
                </a:solidFill>
              </a:rPr>
              <a:t>	</a:t>
            </a:r>
            <a:r>
              <a:rPr kumimoji="1" lang="zh-CN" altLang="en-US" sz="2800">
                <a:solidFill>
                  <a:srgbClr val="000000"/>
                </a:solidFill>
              </a:rPr>
              <a:t>利用溢出标志</a:t>
            </a:r>
            <a:r>
              <a:rPr kumimoji="1" lang="en-US" altLang="zh-CN" sz="2800">
                <a:solidFill>
                  <a:srgbClr val="3333CC"/>
                </a:solidFill>
              </a:rPr>
              <a:t>OF</a:t>
            </a:r>
            <a:r>
              <a:rPr kumimoji="1" lang="zh-CN" altLang="en-US" sz="2800">
                <a:solidFill>
                  <a:srgbClr val="000000"/>
                </a:solidFill>
              </a:rPr>
              <a:t>，判断结果是否产生溢出</a:t>
            </a:r>
          </a:p>
          <a:p>
            <a:pPr>
              <a:lnSpc>
                <a:spcPct val="90000"/>
              </a:lnSpc>
              <a:buSzPct val="90000"/>
              <a:buFont typeface="Wingdings" panose="05000000000000000000" pitchFamily="2" charset="2"/>
              <a:buNone/>
            </a:pPr>
            <a:r>
              <a:rPr kumimoji="1" lang="zh-CN" altLang="en-US" sz="2800">
                <a:solidFill>
                  <a:srgbClr val="000000"/>
                </a:solidFill>
              </a:rPr>
              <a:t>⑷ </a:t>
            </a:r>
            <a:r>
              <a:rPr kumimoji="1" lang="en-US" altLang="zh-CN" sz="2800">
                <a:solidFill>
                  <a:srgbClr val="006600"/>
                </a:solidFill>
              </a:rPr>
              <a:t>JP</a:t>
            </a:r>
            <a:r>
              <a:rPr kumimoji="1" lang="en-US" altLang="zh-CN" sz="2800">
                <a:solidFill>
                  <a:srgbClr val="000000"/>
                </a:solidFill>
              </a:rPr>
              <a:t>/</a:t>
            </a:r>
            <a:r>
              <a:rPr kumimoji="1" lang="en-US" altLang="zh-CN" sz="2800">
                <a:solidFill>
                  <a:srgbClr val="006600"/>
                </a:solidFill>
              </a:rPr>
              <a:t>JPE</a:t>
            </a:r>
            <a:r>
              <a:rPr kumimoji="1" lang="zh-CN" altLang="en-US" sz="2800">
                <a:solidFill>
                  <a:srgbClr val="000000"/>
                </a:solidFill>
              </a:rPr>
              <a:t>和</a:t>
            </a:r>
            <a:r>
              <a:rPr kumimoji="1" lang="en-US" altLang="zh-CN" sz="2800">
                <a:solidFill>
                  <a:srgbClr val="006600"/>
                </a:solidFill>
              </a:rPr>
              <a:t>JNP</a:t>
            </a:r>
            <a:r>
              <a:rPr kumimoji="1" lang="en-US" altLang="zh-CN" sz="2800">
                <a:solidFill>
                  <a:srgbClr val="000000"/>
                </a:solidFill>
              </a:rPr>
              <a:t>/</a:t>
            </a:r>
            <a:r>
              <a:rPr kumimoji="1" lang="en-US" altLang="zh-CN" sz="2800">
                <a:solidFill>
                  <a:srgbClr val="006600"/>
                </a:solidFill>
              </a:rPr>
              <a:t>JPO</a:t>
            </a:r>
          </a:p>
          <a:p>
            <a:pPr>
              <a:lnSpc>
                <a:spcPct val="90000"/>
              </a:lnSpc>
              <a:buSzPct val="90000"/>
              <a:buFont typeface="Wingdings" panose="05000000000000000000" pitchFamily="2" charset="2"/>
              <a:buNone/>
            </a:pPr>
            <a:r>
              <a:rPr kumimoji="1" lang="en-US" altLang="zh-CN" sz="2800">
                <a:solidFill>
                  <a:srgbClr val="000000"/>
                </a:solidFill>
              </a:rPr>
              <a:t>	</a:t>
            </a:r>
            <a:r>
              <a:rPr kumimoji="1" lang="zh-CN" altLang="en-US" sz="2800">
                <a:solidFill>
                  <a:srgbClr val="000000"/>
                </a:solidFill>
              </a:rPr>
              <a:t>利用奇偶标志</a:t>
            </a:r>
            <a:r>
              <a:rPr kumimoji="1" lang="en-US" altLang="zh-CN" sz="2800">
                <a:solidFill>
                  <a:srgbClr val="3333CC"/>
                </a:solidFill>
              </a:rPr>
              <a:t>PF</a:t>
            </a:r>
            <a:r>
              <a:rPr kumimoji="1" lang="zh-CN" altLang="en-US" sz="2800">
                <a:solidFill>
                  <a:srgbClr val="000000"/>
                </a:solidFill>
              </a:rPr>
              <a:t>，判断结果中“</a:t>
            </a:r>
            <a:r>
              <a:rPr kumimoji="1" lang="en-US" altLang="zh-CN" sz="2800">
                <a:solidFill>
                  <a:srgbClr val="000000"/>
                </a:solidFill>
              </a:rPr>
              <a:t>1”</a:t>
            </a:r>
            <a:r>
              <a:rPr kumimoji="1" lang="zh-CN" altLang="en-US" sz="2800">
                <a:solidFill>
                  <a:srgbClr val="000000"/>
                </a:solidFill>
              </a:rPr>
              <a:t>的个数是偶是奇</a:t>
            </a:r>
          </a:p>
          <a:p>
            <a:pPr>
              <a:lnSpc>
                <a:spcPct val="90000"/>
              </a:lnSpc>
              <a:buSzPct val="90000"/>
              <a:buFont typeface="Wingdings" panose="05000000000000000000" pitchFamily="2" charset="2"/>
              <a:buNone/>
            </a:pPr>
            <a:r>
              <a:rPr kumimoji="1" lang="zh-CN" altLang="en-US" sz="2800">
                <a:solidFill>
                  <a:srgbClr val="000000"/>
                </a:solidFill>
              </a:rPr>
              <a:t>⑸ </a:t>
            </a:r>
            <a:r>
              <a:rPr kumimoji="1" lang="en-US" altLang="zh-CN" sz="2800">
                <a:solidFill>
                  <a:srgbClr val="006600"/>
                </a:solidFill>
              </a:rPr>
              <a:t>JC</a:t>
            </a:r>
            <a:r>
              <a:rPr kumimoji="1" lang="en-US" altLang="zh-CN" sz="2800">
                <a:solidFill>
                  <a:srgbClr val="000000"/>
                </a:solidFill>
              </a:rPr>
              <a:t>/</a:t>
            </a:r>
            <a:r>
              <a:rPr kumimoji="1" lang="en-US" altLang="zh-CN" sz="2800">
                <a:solidFill>
                  <a:srgbClr val="006600"/>
                </a:solidFill>
              </a:rPr>
              <a:t>JB</a:t>
            </a:r>
            <a:r>
              <a:rPr kumimoji="1" lang="en-US" altLang="zh-CN" sz="2800">
                <a:solidFill>
                  <a:srgbClr val="000000"/>
                </a:solidFill>
              </a:rPr>
              <a:t>/</a:t>
            </a:r>
            <a:r>
              <a:rPr kumimoji="1" lang="en-US" altLang="zh-CN" sz="2800">
                <a:solidFill>
                  <a:srgbClr val="006600"/>
                </a:solidFill>
              </a:rPr>
              <a:t>JNAE</a:t>
            </a:r>
            <a:r>
              <a:rPr kumimoji="1" lang="zh-CN" altLang="en-US" sz="2800">
                <a:solidFill>
                  <a:srgbClr val="000000"/>
                </a:solidFill>
              </a:rPr>
              <a:t>和</a:t>
            </a:r>
            <a:r>
              <a:rPr kumimoji="1" lang="en-US" altLang="zh-CN" sz="2800">
                <a:solidFill>
                  <a:srgbClr val="006600"/>
                </a:solidFill>
              </a:rPr>
              <a:t>JNC</a:t>
            </a:r>
            <a:r>
              <a:rPr kumimoji="1" lang="en-US" altLang="zh-CN" sz="2800">
                <a:solidFill>
                  <a:srgbClr val="000000"/>
                </a:solidFill>
              </a:rPr>
              <a:t>/</a:t>
            </a:r>
            <a:r>
              <a:rPr kumimoji="1" lang="en-US" altLang="zh-CN" sz="2800">
                <a:solidFill>
                  <a:srgbClr val="006600"/>
                </a:solidFill>
              </a:rPr>
              <a:t>JNB</a:t>
            </a:r>
            <a:r>
              <a:rPr kumimoji="1" lang="en-US" altLang="zh-CN" sz="2800">
                <a:solidFill>
                  <a:srgbClr val="000000"/>
                </a:solidFill>
              </a:rPr>
              <a:t>/</a:t>
            </a:r>
            <a:r>
              <a:rPr kumimoji="1" lang="en-US" altLang="zh-CN" sz="2800">
                <a:solidFill>
                  <a:srgbClr val="006600"/>
                </a:solidFill>
              </a:rPr>
              <a:t>JAE</a:t>
            </a:r>
          </a:p>
          <a:p>
            <a:pPr>
              <a:lnSpc>
                <a:spcPct val="90000"/>
              </a:lnSpc>
              <a:buSzPct val="90000"/>
              <a:buFont typeface="Wingdings" panose="05000000000000000000" pitchFamily="2" charset="2"/>
              <a:buNone/>
            </a:pPr>
            <a:r>
              <a:rPr kumimoji="1" lang="en-US" altLang="zh-CN" sz="2800">
                <a:solidFill>
                  <a:srgbClr val="000000"/>
                </a:solidFill>
              </a:rPr>
              <a:t>	</a:t>
            </a:r>
            <a:r>
              <a:rPr kumimoji="1" lang="zh-CN" altLang="en-US" sz="2800">
                <a:solidFill>
                  <a:srgbClr val="000000"/>
                </a:solidFill>
              </a:rPr>
              <a:t>利用进位标志</a:t>
            </a:r>
            <a:r>
              <a:rPr kumimoji="1" lang="en-US" altLang="zh-CN" sz="2800">
                <a:solidFill>
                  <a:srgbClr val="3333CC"/>
                </a:solidFill>
              </a:rPr>
              <a:t>CF</a:t>
            </a:r>
            <a:r>
              <a:rPr kumimoji="1" lang="zh-CN" altLang="en-US" sz="2800">
                <a:solidFill>
                  <a:srgbClr val="000000"/>
                </a:solidFill>
              </a:rPr>
              <a:t>，判断结果是否进位或借位</a:t>
            </a:r>
            <a:endParaRPr lang="zh-CN" altLang="en-US"/>
          </a:p>
        </p:txBody>
      </p:sp>
    </p:spTree>
  </p:cSld>
  <p:clrMapOvr>
    <a:masterClrMapping/>
  </p:clrMapOvr>
  <p:transition>
    <p:random/>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190FC6B7-464B-16EB-FC0E-58E184C8FCA9}"/>
              </a:ext>
            </a:extLst>
          </p:cNvPr>
          <p:cNvSpPr>
            <a:spLocks noGrp="1" noChangeArrowheads="1"/>
          </p:cNvSpPr>
          <p:nvPr>
            <p:ph type="title"/>
          </p:nvPr>
        </p:nvSpPr>
        <p:spPr>
          <a:xfrm>
            <a:off x="457200" y="260648"/>
            <a:ext cx="8229600" cy="1143000"/>
          </a:xfrm>
        </p:spPr>
        <p:txBody>
          <a:bodyPr/>
          <a:lstStyle/>
          <a:p>
            <a:pPr marL="457200" indent="-457200" algn="l">
              <a:buFont typeface="Wingdings" panose="05000000000000000000" pitchFamily="2" charset="2"/>
              <a:buChar char="u"/>
            </a:pPr>
            <a:r>
              <a:rPr lang="zh-CN" altLang="en-US" dirty="0"/>
              <a:t>比较数值大小：无符号数的高低</a:t>
            </a:r>
          </a:p>
        </p:txBody>
      </p:sp>
      <p:sp>
        <p:nvSpPr>
          <p:cNvPr id="12291" name="Rectangle 3">
            <a:extLst>
              <a:ext uri="{FF2B5EF4-FFF2-40B4-BE49-F238E27FC236}">
                <a16:creationId xmlns:a16="http://schemas.microsoft.com/office/drawing/2014/main" id="{BFB8F503-7217-0B7B-D160-25D0F6237667}"/>
              </a:ext>
            </a:extLst>
          </p:cNvPr>
          <p:cNvSpPr>
            <a:spLocks noGrp="1" noChangeArrowheads="1"/>
          </p:cNvSpPr>
          <p:nvPr>
            <p:ph idx="1"/>
          </p:nvPr>
        </p:nvSpPr>
        <p:spPr>
          <a:xfrm>
            <a:off x="458788" y="1656060"/>
            <a:ext cx="8229600" cy="4525963"/>
          </a:xfrm>
        </p:spPr>
        <p:txBody>
          <a:bodyPr/>
          <a:lstStyle/>
          <a:p>
            <a:r>
              <a:rPr lang="zh-CN" altLang="en-US" sz="2800" dirty="0"/>
              <a:t>无符号数的大小用高（</a:t>
            </a:r>
            <a:r>
              <a:rPr lang="en-US" altLang="zh-CN" sz="2800" dirty="0"/>
              <a:t>Above</a:t>
            </a:r>
            <a:r>
              <a:rPr lang="zh-CN" altLang="en-US" sz="2800" dirty="0"/>
              <a:t>）、低（</a:t>
            </a:r>
            <a:r>
              <a:rPr lang="en-US" altLang="zh-CN" sz="2800" dirty="0"/>
              <a:t>Below</a:t>
            </a:r>
            <a:r>
              <a:rPr lang="zh-CN" altLang="en-US" sz="2800" dirty="0"/>
              <a:t>）表示，需要利用</a:t>
            </a:r>
            <a:r>
              <a:rPr lang="en-US" altLang="zh-CN" sz="2800" dirty="0"/>
              <a:t>CF</a:t>
            </a:r>
            <a:r>
              <a:rPr lang="zh-CN" altLang="en-US" sz="2800" dirty="0"/>
              <a:t>确定高低、利用</a:t>
            </a:r>
            <a:r>
              <a:rPr lang="en-US" altLang="zh-CN" sz="2800" dirty="0"/>
              <a:t>ZF</a:t>
            </a:r>
            <a:r>
              <a:rPr lang="zh-CN" altLang="en-US" sz="2800" dirty="0"/>
              <a:t>标志确定相等（</a:t>
            </a:r>
            <a:r>
              <a:rPr lang="en-US" altLang="zh-CN" sz="2800" dirty="0"/>
              <a:t>Equal</a:t>
            </a:r>
            <a:r>
              <a:rPr lang="zh-CN" altLang="en-US" sz="2800" dirty="0"/>
              <a:t>）</a:t>
            </a:r>
          </a:p>
          <a:p>
            <a:r>
              <a:rPr lang="zh-CN" altLang="en-US" sz="2800" dirty="0"/>
              <a:t>两数的高低分成</a:t>
            </a:r>
            <a:r>
              <a:rPr lang="en-US" altLang="zh-CN" sz="2800" dirty="0"/>
              <a:t>4</a:t>
            </a:r>
            <a:r>
              <a:rPr lang="zh-CN" altLang="en-US" sz="2800" dirty="0"/>
              <a:t>种关系，对应</a:t>
            </a:r>
            <a:r>
              <a:rPr lang="en-US" altLang="zh-CN" sz="2800" dirty="0"/>
              <a:t>4</a:t>
            </a:r>
            <a:r>
              <a:rPr lang="zh-CN" altLang="en-US" sz="2800" dirty="0"/>
              <a:t>条指令</a:t>
            </a:r>
          </a:p>
          <a:p>
            <a:pPr>
              <a:spcBef>
                <a:spcPct val="50000"/>
              </a:spcBef>
              <a:buFontTx/>
              <a:buNone/>
            </a:pPr>
            <a:r>
              <a:rPr lang="en-US" altLang="zh-CN" sz="2400" dirty="0"/>
              <a:t>JB</a:t>
            </a:r>
            <a:r>
              <a:rPr lang="zh-CN" altLang="en-US" sz="2400" dirty="0"/>
              <a:t>（</a:t>
            </a:r>
            <a:r>
              <a:rPr lang="en-US" altLang="zh-CN" sz="2400" dirty="0"/>
              <a:t>JNAE</a:t>
            </a:r>
            <a:r>
              <a:rPr lang="zh-CN" altLang="en-US" sz="2400" dirty="0"/>
              <a:t>）：目的操作数低于（不高于等于）源操作数</a:t>
            </a:r>
          </a:p>
          <a:p>
            <a:pPr>
              <a:spcBef>
                <a:spcPct val="50000"/>
              </a:spcBef>
              <a:buFontTx/>
              <a:buNone/>
            </a:pPr>
            <a:r>
              <a:rPr lang="en-US" altLang="zh-CN" sz="2400" dirty="0"/>
              <a:t>JNB</a:t>
            </a:r>
            <a:r>
              <a:rPr lang="zh-CN" altLang="en-US" sz="2400" dirty="0"/>
              <a:t>（</a:t>
            </a:r>
            <a:r>
              <a:rPr lang="en-US" altLang="zh-CN" sz="2400" dirty="0"/>
              <a:t>JAE</a:t>
            </a:r>
            <a:r>
              <a:rPr lang="zh-CN" altLang="en-US" sz="2400" dirty="0"/>
              <a:t>）：目的操作数不低于（高于等于）源操作数</a:t>
            </a:r>
          </a:p>
          <a:p>
            <a:pPr>
              <a:spcBef>
                <a:spcPct val="50000"/>
              </a:spcBef>
              <a:buFontTx/>
              <a:buNone/>
            </a:pPr>
            <a:r>
              <a:rPr lang="en-US" altLang="zh-CN" sz="2400" dirty="0"/>
              <a:t>JBE</a:t>
            </a:r>
            <a:r>
              <a:rPr lang="zh-CN" altLang="en-US" sz="2400" dirty="0"/>
              <a:t>（</a:t>
            </a:r>
            <a:r>
              <a:rPr lang="en-US" altLang="zh-CN" sz="2400" dirty="0"/>
              <a:t>JNA</a:t>
            </a:r>
            <a:r>
              <a:rPr lang="zh-CN" altLang="en-US" sz="2400" dirty="0"/>
              <a:t>）：目的操作数低于等于（不高于）源操作数</a:t>
            </a:r>
          </a:p>
          <a:p>
            <a:pPr>
              <a:spcBef>
                <a:spcPct val="50000"/>
              </a:spcBef>
              <a:buFontTx/>
              <a:buNone/>
            </a:pPr>
            <a:r>
              <a:rPr lang="en-US" altLang="zh-CN" sz="2400" dirty="0"/>
              <a:t>JNBE</a:t>
            </a:r>
            <a:r>
              <a:rPr lang="zh-CN" altLang="en-US" sz="2400" dirty="0"/>
              <a:t>（</a:t>
            </a:r>
            <a:r>
              <a:rPr lang="en-US" altLang="zh-CN" sz="2400" dirty="0"/>
              <a:t>JA</a:t>
            </a:r>
            <a:r>
              <a:rPr lang="zh-CN" altLang="en-US" sz="2400" dirty="0"/>
              <a:t>）：目的操作数不低于等于（高于）源操作数</a:t>
            </a:r>
          </a:p>
        </p:txBody>
      </p:sp>
    </p:spTree>
  </p:cSld>
  <p:clrMapOvr>
    <a:masterClrMapping/>
  </p:clrMapOvr>
  <p:transition>
    <p:random/>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70909C49-FA21-CA63-E9B8-D21B539C42B5}"/>
              </a:ext>
            </a:extLst>
          </p:cNvPr>
          <p:cNvSpPr>
            <a:spLocks noGrp="1" noChangeArrowheads="1"/>
          </p:cNvSpPr>
          <p:nvPr>
            <p:ph type="title"/>
          </p:nvPr>
        </p:nvSpPr>
        <p:spPr>
          <a:xfrm>
            <a:off x="457200" y="332656"/>
            <a:ext cx="8229600" cy="1143000"/>
          </a:xfrm>
        </p:spPr>
        <p:txBody>
          <a:bodyPr/>
          <a:lstStyle/>
          <a:p>
            <a:pPr marL="457200" indent="-457200" algn="l">
              <a:buFont typeface="Wingdings" panose="05000000000000000000" pitchFamily="2" charset="2"/>
              <a:buChar char="u"/>
            </a:pPr>
            <a:r>
              <a:rPr lang="zh-CN" altLang="en-US" dirty="0"/>
              <a:t>比较数值大小：有符号数的大小</a:t>
            </a:r>
          </a:p>
        </p:txBody>
      </p:sp>
      <p:sp>
        <p:nvSpPr>
          <p:cNvPr id="13315" name="Rectangle 3">
            <a:extLst>
              <a:ext uri="{FF2B5EF4-FFF2-40B4-BE49-F238E27FC236}">
                <a16:creationId xmlns:a16="http://schemas.microsoft.com/office/drawing/2014/main" id="{48788E2F-1B1E-EB0D-6E71-044733AF8C47}"/>
              </a:ext>
            </a:extLst>
          </p:cNvPr>
          <p:cNvSpPr>
            <a:spLocks noGrp="1" noChangeArrowheads="1"/>
          </p:cNvSpPr>
          <p:nvPr>
            <p:ph idx="1"/>
          </p:nvPr>
        </p:nvSpPr>
        <p:spPr>
          <a:xfrm>
            <a:off x="458788" y="1755056"/>
            <a:ext cx="8229600" cy="4525963"/>
          </a:xfrm>
        </p:spPr>
        <p:txBody>
          <a:bodyPr/>
          <a:lstStyle/>
          <a:p>
            <a:r>
              <a:rPr lang="zh-CN" altLang="en-US" sz="2800" dirty="0"/>
              <a:t>判断有符号数的大（</a:t>
            </a:r>
            <a:r>
              <a:rPr lang="en-US" altLang="zh-CN" sz="2800" dirty="0"/>
              <a:t>Greater</a:t>
            </a:r>
            <a:r>
              <a:rPr lang="zh-CN" altLang="en-US" sz="2800" dirty="0"/>
              <a:t>）、小（</a:t>
            </a:r>
            <a:r>
              <a:rPr lang="en-US" altLang="zh-CN" sz="2800" dirty="0"/>
              <a:t>Less</a:t>
            </a:r>
            <a:r>
              <a:rPr lang="zh-CN" altLang="en-US" sz="2800" dirty="0"/>
              <a:t>），需要组合</a:t>
            </a:r>
            <a:r>
              <a:rPr lang="en-US" altLang="zh-CN" sz="2800" dirty="0"/>
              <a:t>OF</a:t>
            </a:r>
            <a:r>
              <a:rPr lang="zh-CN" altLang="en-US" sz="2800" dirty="0"/>
              <a:t>、</a:t>
            </a:r>
            <a:r>
              <a:rPr lang="en-US" altLang="zh-CN" sz="2800" dirty="0"/>
              <a:t>SF</a:t>
            </a:r>
            <a:r>
              <a:rPr lang="zh-CN" altLang="en-US" sz="2800" dirty="0"/>
              <a:t>标志、并利用</a:t>
            </a:r>
            <a:r>
              <a:rPr lang="en-US" altLang="zh-CN" sz="2800" dirty="0"/>
              <a:t>ZF</a:t>
            </a:r>
            <a:r>
              <a:rPr lang="zh-CN" altLang="en-US" sz="2800" dirty="0"/>
              <a:t>标志确定相等与否</a:t>
            </a:r>
          </a:p>
          <a:p>
            <a:r>
              <a:rPr lang="zh-CN" altLang="en-US" sz="2800" dirty="0"/>
              <a:t>两数的大小分成</a:t>
            </a:r>
            <a:r>
              <a:rPr lang="en-US" altLang="zh-CN" sz="2800" dirty="0"/>
              <a:t>4</a:t>
            </a:r>
            <a:r>
              <a:rPr lang="zh-CN" altLang="en-US" sz="2800" dirty="0"/>
              <a:t>种关系，分别对应</a:t>
            </a:r>
            <a:r>
              <a:rPr lang="en-US" altLang="zh-CN" sz="2800" dirty="0"/>
              <a:t>4</a:t>
            </a:r>
            <a:r>
              <a:rPr lang="zh-CN" altLang="en-US" sz="2800" dirty="0"/>
              <a:t>条指令</a:t>
            </a:r>
          </a:p>
          <a:p>
            <a:pPr>
              <a:spcBef>
                <a:spcPct val="50000"/>
              </a:spcBef>
              <a:buFontTx/>
              <a:buNone/>
            </a:pPr>
            <a:r>
              <a:rPr lang="en-US" altLang="zh-CN" sz="2400" dirty="0"/>
              <a:t>JL</a:t>
            </a:r>
            <a:r>
              <a:rPr lang="zh-CN" altLang="en-US" sz="2400" dirty="0"/>
              <a:t>（</a:t>
            </a:r>
            <a:r>
              <a:rPr lang="en-US" altLang="zh-CN" sz="2400" dirty="0"/>
              <a:t>JNGE</a:t>
            </a:r>
            <a:r>
              <a:rPr lang="zh-CN" altLang="en-US" sz="2400" dirty="0"/>
              <a:t>）：目的操作数小于（不大于等于）源操作数</a:t>
            </a:r>
          </a:p>
          <a:p>
            <a:pPr>
              <a:spcBef>
                <a:spcPct val="50000"/>
              </a:spcBef>
              <a:buFontTx/>
              <a:buNone/>
            </a:pPr>
            <a:r>
              <a:rPr lang="en-US" altLang="zh-CN" sz="2400" dirty="0"/>
              <a:t>JNL</a:t>
            </a:r>
            <a:r>
              <a:rPr lang="zh-CN" altLang="en-US" sz="2400" dirty="0"/>
              <a:t>（</a:t>
            </a:r>
            <a:r>
              <a:rPr lang="en-US" altLang="zh-CN" sz="2400" dirty="0"/>
              <a:t>JGE</a:t>
            </a:r>
            <a:r>
              <a:rPr lang="zh-CN" altLang="en-US" sz="2400" dirty="0"/>
              <a:t>）：目的操作数不小于（大于等于）源操作数</a:t>
            </a:r>
          </a:p>
          <a:p>
            <a:pPr>
              <a:spcBef>
                <a:spcPct val="50000"/>
              </a:spcBef>
              <a:buFontTx/>
              <a:buNone/>
            </a:pPr>
            <a:r>
              <a:rPr lang="en-US" altLang="zh-CN" sz="2400" dirty="0"/>
              <a:t>JLE</a:t>
            </a:r>
            <a:r>
              <a:rPr lang="zh-CN" altLang="en-US" sz="2400" dirty="0"/>
              <a:t>（</a:t>
            </a:r>
            <a:r>
              <a:rPr lang="en-US" altLang="zh-CN" sz="2400" dirty="0"/>
              <a:t>JNG</a:t>
            </a:r>
            <a:r>
              <a:rPr lang="zh-CN" altLang="en-US" sz="2400" dirty="0"/>
              <a:t>）：目的操作数小于等于（不大于）源操作数</a:t>
            </a:r>
          </a:p>
          <a:p>
            <a:pPr>
              <a:spcBef>
                <a:spcPct val="50000"/>
              </a:spcBef>
              <a:buFontTx/>
              <a:buNone/>
            </a:pPr>
            <a:r>
              <a:rPr lang="en-US" altLang="zh-CN" sz="2400" dirty="0"/>
              <a:t>JNLE</a:t>
            </a:r>
            <a:r>
              <a:rPr lang="zh-CN" altLang="en-US" sz="2400" dirty="0"/>
              <a:t>（</a:t>
            </a:r>
            <a:r>
              <a:rPr lang="en-US" altLang="zh-CN" sz="2400" dirty="0"/>
              <a:t>JG</a:t>
            </a:r>
            <a:r>
              <a:rPr lang="zh-CN" altLang="en-US" sz="2400" dirty="0"/>
              <a:t>）：目的操作数不小于等于（大于）源操作数</a:t>
            </a:r>
          </a:p>
        </p:txBody>
      </p:sp>
    </p:spTree>
  </p:cSld>
  <p:clrMapOvr>
    <a:masterClrMapping/>
  </p:clrMapOvr>
  <p:transition>
    <p:random/>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9E17FCD2-1555-1BFB-72A9-CDD78E4AF32E}"/>
              </a:ext>
            </a:extLst>
          </p:cNvPr>
          <p:cNvSpPr>
            <a:spLocks noGrp="1" noChangeArrowheads="1"/>
          </p:cNvSpPr>
          <p:nvPr>
            <p:ph type="title"/>
          </p:nvPr>
        </p:nvSpPr>
        <p:spPr/>
        <p:txBody>
          <a:bodyPr/>
          <a:lstStyle/>
          <a:p>
            <a:r>
              <a:rPr lang="zh-CN" altLang="en-US"/>
              <a:t>例</a:t>
            </a:r>
            <a:r>
              <a:rPr lang="en-US" altLang="zh-CN"/>
              <a:t>2.22  </a:t>
            </a:r>
            <a:r>
              <a:rPr lang="zh-CN" altLang="en-US"/>
              <a:t>求较大值</a:t>
            </a:r>
          </a:p>
        </p:txBody>
      </p:sp>
      <p:sp>
        <p:nvSpPr>
          <p:cNvPr id="14339" name="Rectangle 3">
            <a:extLst>
              <a:ext uri="{FF2B5EF4-FFF2-40B4-BE49-F238E27FC236}">
                <a16:creationId xmlns:a16="http://schemas.microsoft.com/office/drawing/2014/main" id="{D9586BD4-069F-C746-A25F-B4F5EC53B604}"/>
              </a:ext>
            </a:extLst>
          </p:cNvPr>
          <p:cNvSpPr>
            <a:spLocks noGrp="1" noChangeArrowheads="1"/>
          </p:cNvSpPr>
          <p:nvPr>
            <p:ph idx="1"/>
          </p:nvPr>
        </p:nvSpPr>
        <p:spPr>
          <a:xfrm>
            <a:off x="457200" y="1417638"/>
            <a:ext cx="8229600" cy="2405062"/>
          </a:xfrm>
        </p:spPr>
        <p:txBody>
          <a:bodyPr/>
          <a:lstStyle/>
          <a:p>
            <a:pPr marL="0" indent="0">
              <a:buFontTx/>
              <a:buNone/>
              <a:tabLst>
                <a:tab pos="1343025" algn="l"/>
              </a:tabLst>
            </a:pPr>
            <a:r>
              <a:rPr lang="en-US" altLang="zh-CN"/>
              <a:t>	cmp ax,bx	</a:t>
            </a:r>
            <a:r>
              <a:rPr lang="zh-CN" altLang="en-US">
                <a:solidFill>
                  <a:srgbClr val="006600"/>
                </a:solidFill>
              </a:rPr>
              <a:t>；比较</a:t>
            </a:r>
            <a:r>
              <a:rPr lang="en-US" altLang="zh-CN">
                <a:solidFill>
                  <a:srgbClr val="006600"/>
                </a:solidFill>
              </a:rPr>
              <a:t>AX</a:t>
            </a:r>
            <a:r>
              <a:rPr lang="zh-CN" altLang="en-US">
                <a:solidFill>
                  <a:srgbClr val="006600"/>
                </a:solidFill>
              </a:rPr>
              <a:t>和</a:t>
            </a:r>
            <a:r>
              <a:rPr lang="en-US" altLang="zh-CN">
                <a:solidFill>
                  <a:srgbClr val="006600"/>
                </a:solidFill>
              </a:rPr>
              <a:t>BX</a:t>
            </a:r>
          </a:p>
          <a:p>
            <a:pPr marL="0" indent="0">
              <a:buFontTx/>
              <a:buNone/>
              <a:tabLst>
                <a:tab pos="1343025" algn="l"/>
              </a:tabLst>
            </a:pPr>
            <a:r>
              <a:rPr lang="en-US" altLang="zh-CN"/>
              <a:t>	jae next	</a:t>
            </a:r>
            <a:r>
              <a:rPr lang="zh-CN" altLang="en-US">
                <a:solidFill>
                  <a:srgbClr val="006600"/>
                </a:solidFill>
              </a:rPr>
              <a:t>；若</a:t>
            </a:r>
            <a:r>
              <a:rPr lang="en-US" altLang="zh-CN">
                <a:solidFill>
                  <a:srgbClr val="006600"/>
                </a:solidFill>
              </a:rPr>
              <a:t>AX≥BX</a:t>
            </a:r>
            <a:r>
              <a:rPr lang="zh-CN" altLang="en-US">
                <a:solidFill>
                  <a:srgbClr val="006600"/>
                </a:solidFill>
              </a:rPr>
              <a:t>，转移</a:t>
            </a:r>
          </a:p>
          <a:p>
            <a:pPr marL="0" indent="0">
              <a:buFontTx/>
              <a:buNone/>
              <a:tabLst>
                <a:tab pos="1343025" algn="l"/>
              </a:tabLst>
            </a:pPr>
            <a:r>
              <a:rPr lang="zh-CN" altLang="en-US"/>
              <a:t>	</a:t>
            </a:r>
            <a:r>
              <a:rPr lang="en-US" altLang="zh-CN"/>
              <a:t>xchg ax,bx	</a:t>
            </a:r>
            <a:r>
              <a:rPr lang="zh-CN" altLang="en-US">
                <a:solidFill>
                  <a:srgbClr val="006600"/>
                </a:solidFill>
              </a:rPr>
              <a:t>；若</a:t>
            </a:r>
            <a:r>
              <a:rPr lang="en-US" altLang="zh-CN">
                <a:solidFill>
                  <a:srgbClr val="006600"/>
                </a:solidFill>
              </a:rPr>
              <a:t>AX</a:t>
            </a:r>
            <a:r>
              <a:rPr lang="zh-CN" altLang="en-US">
                <a:solidFill>
                  <a:srgbClr val="006600"/>
                </a:solidFill>
              </a:rPr>
              <a:t>＜</a:t>
            </a:r>
            <a:r>
              <a:rPr lang="en-US" altLang="zh-CN">
                <a:solidFill>
                  <a:srgbClr val="006600"/>
                </a:solidFill>
              </a:rPr>
              <a:t>BX</a:t>
            </a:r>
            <a:r>
              <a:rPr lang="zh-CN" altLang="en-US">
                <a:solidFill>
                  <a:srgbClr val="006600"/>
                </a:solidFill>
              </a:rPr>
              <a:t>，交换</a:t>
            </a:r>
          </a:p>
          <a:p>
            <a:pPr marL="0" indent="0">
              <a:buFontTx/>
              <a:buNone/>
              <a:tabLst>
                <a:tab pos="1343025" algn="l"/>
              </a:tabLst>
            </a:pPr>
            <a:r>
              <a:rPr lang="en-US" altLang="zh-CN">
                <a:solidFill>
                  <a:srgbClr val="0000FF"/>
                </a:solidFill>
              </a:rPr>
              <a:t>next:	</a:t>
            </a:r>
            <a:r>
              <a:rPr lang="en-US" altLang="zh-CN"/>
              <a:t>mov wmax,ax</a:t>
            </a:r>
            <a:endParaRPr lang="en-US" altLang="zh-CN" sz="2800"/>
          </a:p>
        </p:txBody>
      </p:sp>
      <p:sp>
        <p:nvSpPr>
          <p:cNvPr id="224261" name="AutoShape 5">
            <a:extLst>
              <a:ext uri="{FF2B5EF4-FFF2-40B4-BE49-F238E27FC236}">
                <a16:creationId xmlns:a16="http://schemas.microsoft.com/office/drawing/2014/main" id="{E91B7201-4548-0DFE-C83C-FEFE9C540700}"/>
              </a:ext>
            </a:extLst>
          </p:cNvPr>
          <p:cNvSpPr>
            <a:spLocks noChangeArrowheads="1"/>
          </p:cNvSpPr>
          <p:nvPr/>
        </p:nvSpPr>
        <p:spPr bwMode="auto">
          <a:xfrm>
            <a:off x="2398713" y="4452938"/>
            <a:ext cx="5902325" cy="1204912"/>
          </a:xfrm>
          <a:prstGeom prst="wedgeRoundRectCallout">
            <a:avLst>
              <a:gd name="adj1" fmla="val -53792"/>
              <a:gd name="adj2" fmla="val -212185"/>
              <a:gd name="adj3" fmla="val 16667"/>
            </a:avLst>
          </a:prstGeom>
          <a:solidFill>
            <a:schemeClr val="accent1"/>
          </a:solidFill>
          <a:ln w="9525">
            <a:solidFill>
              <a:srgbClr val="7AA3DA"/>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20000"/>
              </a:spcBef>
            </a:pPr>
            <a:r>
              <a:rPr kumimoji="1" lang="zh-CN" altLang="en-US" sz="2800" b="1">
                <a:solidFill>
                  <a:srgbClr val="663300"/>
                </a:solidFill>
              </a:rPr>
              <a:t>如果</a:t>
            </a:r>
            <a:r>
              <a:rPr kumimoji="1" lang="en-US" altLang="zh-CN" sz="2800" b="1">
                <a:solidFill>
                  <a:srgbClr val="663300"/>
                </a:solidFill>
              </a:rPr>
              <a:t>AX</a:t>
            </a:r>
            <a:r>
              <a:rPr kumimoji="1" lang="zh-CN" altLang="en-US" sz="2800" b="1">
                <a:solidFill>
                  <a:srgbClr val="663300"/>
                </a:solidFill>
              </a:rPr>
              <a:t>和</a:t>
            </a:r>
            <a:r>
              <a:rPr kumimoji="1" lang="en-US" altLang="zh-CN" sz="2800" b="1">
                <a:solidFill>
                  <a:srgbClr val="663300"/>
                </a:solidFill>
              </a:rPr>
              <a:t>BX</a:t>
            </a:r>
            <a:r>
              <a:rPr kumimoji="1" lang="zh-CN" altLang="en-US" sz="2800" b="1">
                <a:solidFill>
                  <a:srgbClr val="663300"/>
                </a:solidFill>
              </a:rPr>
              <a:t>存放的是有符号数，</a:t>
            </a:r>
          </a:p>
          <a:p>
            <a:pPr algn="just" eaLnBrk="1" hangingPunct="1">
              <a:spcBef>
                <a:spcPct val="20000"/>
              </a:spcBef>
            </a:pPr>
            <a:r>
              <a:rPr kumimoji="1" lang="zh-CN" altLang="en-US" sz="2800" b="1">
                <a:solidFill>
                  <a:srgbClr val="663300"/>
                </a:solidFill>
              </a:rPr>
              <a:t>则条件转移指令应采用</a:t>
            </a:r>
            <a:r>
              <a:rPr kumimoji="1" lang="en-US" altLang="zh-CN" sz="2800" b="1"/>
              <a:t>JGE</a:t>
            </a:r>
            <a:r>
              <a:rPr kumimoji="1" lang="zh-CN" altLang="en-US" sz="2800" b="1">
                <a:solidFill>
                  <a:srgbClr val="663300"/>
                </a:solidFill>
              </a:rPr>
              <a:t>指令</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224261"/>
                                        </p:tgtEl>
                                        <p:attrNameLst>
                                          <p:attrName>style.visibility</p:attrName>
                                        </p:attrNameLst>
                                      </p:cBhvr>
                                      <p:to>
                                        <p:strVal val="visible"/>
                                      </p:to>
                                    </p:set>
                                    <p:animEffect transition="in" filter="slide(fromTop)">
                                      <p:cBhvr>
                                        <p:cTn id="7" dur="500"/>
                                        <p:tgtEl>
                                          <p:spTgt spid="2242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61" grpId="0" animBg="1" autoUpdateAnimBg="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A871A13E-770D-CAC9-2839-060F6025830F}"/>
              </a:ext>
            </a:extLst>
          </p:cNvPr>
          <p:cNvSpPr>
            <a:spLocks noGrp="1" noChangeArrowheads="1"/>
          </p:cNvSpPr>
          <p:nvPr>
            <p:ph type="title"/>
          </p:nvPr>
        </p:nvSpPr>
        <p:spPr/>
        <p:txBody>
          <a:bodyPr/>
          <a:lstStyle/>
          <a:p>
            <a:r>
              <a:rPr lang="en-US" altLang="zh-CN" dirty="0"/>
              <a:t>3. </a:t>
            </a:r>
            <a:r>
              <a:rPr lang="zh-CN" altLang="en-US" dirty="0"/>
              <a:t>循环指令</a:t>
            </a:r>
          </a:p>
        </p:txBody>
      </p:sp>
      <p:sp>
        <p:nvSpPr>
          <p:cNvPr id="15363" name="Rectangle 3">
            <a:extLst>
              <a:ext uri="{FF2B5EF4-FFF2-40B4-BE49-F238E27FC236}">
                <a16:creationId xmlns:a16="http://schemas.microsoft.com/office/drawing/2014/main" id="{6F7CA64A-D644-F6FA-6C10-2B20D501ABA7}"/>
              </a:ext>
            </a:extLst>
          </p:cNvPr>
          <p:cNvSpPr>
            <a:spLocks noGrp="1" noChangeArrowheads="1"/>
          </p:cNvSpPr>
          <p:nvPr>
            <p:ph idx="1"/>
          </p:nvPr>
        </p:nvSpPr>
        <p:spPr/>
        <p:txBody>
          <a:bodyPr/>
          <a:lstStyle/>
          <a:p>
            <a:r>
              <a:rPr lang="zh-CN" altLang="en-US" sz="2800" dirty="0"/>
              <a:t>一段代码序列多次重复执行就是循环</a:t>
            </a:r>
          </a:p>
          <a:p>
            <a:r>
              <a:rPr lang="en-US" altLang="zh-CN" sz="2800" dirty="0"/>
              <a:t>8088</a:t>
            </a:r>
            <a:r>
              <a:rPr lang="zh-CN" altLang="en-US" sz="2800" dirty="0"/>
              <a:t>设计有针对</a:t>
            </a:r>
            <a:r>
              <a:rPr lang="en-US" altLang="zh-CN" sz="2800" dirty="0"/>
              <a:t>CX</a:t>
            </a:r>
            <a:r>
              <a:rPr lang="zh-CN" altLang="en-US" sz="2800" dirty="0"/>
              <a:t>计数器的计数循环指令</a:t>
            </a:r>
          </a:p>
          <a:p>
            <a:pPr>
              <a:buFontTx/>
              <a:buNone/>
            </a:pPr>
            <a:r>
              <a:rPr lang="zh-CN" altLang="en-US" sz="2800" dirty="0"/>
              <a:t>	</a:t>
            </a:r>
            <a:r>
              <a:rPr lang="en-US" altLang="zh-CN" sz="2800" dirty="0"/>
              <a:t>LOOP label	</a:t>
            </a:r>
            <a:r>
              <a:rPr lang="zh-CN" altLang="en-US" sz="2800" dirty="0"/>
              <a:t>；</a:t>
            </a:r>
            <a:r>
              <a:rPr lang="zh-CN" altLang="en-US" sz="2400" dirty="0"/>
              <a:t>循环指令</a:t>
            </a:r>
          </a:p>
          <a:p>
            <a:pPr>
              <a:buFontTx/>
              <a:buNone/>
            </a:pPr>
            <a:r>
              <a:rPr lang="zh-CN" altLang="en-US" sz="2400" dirty="0"/>
              <a:t>		；首先</a:t>
            </a:r>
            <a:r>
              <a:rPr lang="en-US" altLang="zh-CN" sz="2400" dirty="0"/>
              <a:t>CX←CX</a:t>
            </a:r>
            <a:r>
              <a:rPr lang="zh-CN" altLang="en-US" sz="2400" dirty="0"/>
              <a:t>－</a:t>
            </a:r>
            <a:r>
              <a:rPr lang="en-US" altLang="zh-CN" sz="2400" dirty="0"/>
              <a:t>1</a:t>
            </a:r>
            <a:r>
              <a:rPr lang="zh-CN" altLang="en-US" sz="2400" dirty="0"/>
              <a:t>；然后判断；若</a:t>
            </a:r>
            <a:r>
              <a:rPr lang="en-US" altLang="zh-CN" sz="2400" dirty="0"/>
              <a:t>CX≠0</a:t>
            </a:r>
            <a:r>
              <a:rPr lang="zh-CN" altLang="en-US" sz="2400" dirty="0"/>
              <a:t>，转移</a:t>
            </a:r>
          </a:p>
          <a:p>
            <a:pPr>
              <a:buFontTx/>
              <a:buNone/>
            </a:pPr>
            <a:r>
              <a:rPr lang="zh-CN" altLang="en-US" sz="2800" dirty="0"/>
              <a:t>	</a:t>
            </a:r>
            <a:r>
              <a:rPr lang="en-US" altLang="zh-CN" sz="2800" dirty="0"/>
              <a:t>JCXZ label	</a:t>
            </a:r>
            <a:r>
              <a:rPr lang="zh-CN" altLang="en-US" sz="2800" dirty="0"/>
              <a:t>；</a:t>
            </a:r>
            <a:r>
              <a:rPr lang="zh-CN" altLang="en-US" sz="2400" dirty="0"/>
              <a:t>为</a:t>
            </a:r>
            <a:r>
              <a:rPr lang="en-US" altLang="zh-CN" sz="2400" dirty="0"/>
              <a:t>0</a:t>
            </a:r>
            <a:r>
              <a:rPr lang="zh-CN" altLang="en-US" sz="2400" dirty="0"/>
              <a:t>循环指令</a:t>
            </a:r>
          </a:p>
          <a:p>
            <a:pPr>
              <a:buFontTx/>
              <a:buNone/>
            </a:pPr>
            <a:r>
              <a:rPr lang="zh-CN" altLang="en-US" sz="2400" dirty="0"/>
              <a:t>		：如果</a:t>
            </a:r>
            <a:r>
              <a:rPr lang="en-US" altLang="zh-CN" sz="2400" dirty="0"/>
              <a:t>CX</a:t>
            </a:r>
            <a:r>
              <a:rPr lang="zh-CN" altLang="en-US" sz="2400" dirty="0"/>
              <a:t>＝</a:t>
            </a:r>
            <a:r>
              <a:rPr lang="en-US" altLang="zh-CN" sz="2400" dirty="0"/>
              <a:t>0</a:t>
            </a:r>
            <a:r>
              <a:rPr lang="zh-CN" altLang="en-US" sz="2400" dirty="0"/>
              <a:t>，则转移</a:t>
            </a:r>
          </a:p>
          <a:p>
            <a:r>
              <a:rPr lang="en-US" altLang="zh-CN" sz="2800" dirty="0"/>
              <a:t>label</a:t>
            </a:r>
            <a:r>
              <a:rPr lang="zh-CN" altLang="en-US" sz="2800" dirty="0"/>
              <a:t>操作数采用相对短寻址方式</a:t>
            </a:r>
          </a:p>
          <a:p>
            <a:r>
              <a:rPr lang="zh-CN" altLang="en-US" sz="2800" dirty="0"/>
              <a:t>还有</a:t>
            </a:r>
            <a:r>
              <a:rPr lang="en-US" altLang="zh-CN" sz="2800" dirty="0"/>
              <a:t>LOOPZ/LOOPE</a:t>
            </a:r>
            <a:r>
              <a:rPr lang="zh-CN" altLang="en-US" sz="2800" dirty="0"/>
              <a:t>和</a:t>
            </a:r>
            <a:r>
              <a:rPr lang="en-US" altLang="zh-CN" sz="2800" dirty="0"/>
              <a:t>LOOPNZ/LOOPNE</a:t>
            </a:r>
            <a:r>
              <a:rPr lang="zh-CN" altLang="en-US" sz="2800" dirty="0"/>
              <a:t>两条指令</a:t>
            </a:r>
          </a:p>
        </p:txBody>
      </p:sp>
      <p:grpSp>
        <p:nvGrpSpPr>
          <p:cNvPr id="225288" name="Group 8">
            <a:extLst>
              <a:ext uri="{FF2B5EF4-FFF2-40B4-BE49-F238E27FC236}">
                <a16:creationId xmlns:a16="http://schemas.microsoft.com/office/drawing/2014/main" id="{F6CBBF70-5FA9-F3D6-B3B4-D006C6410320}"/>
              </a:ext>
            </a:extLst>
          </p:cNvPr>
          <p:cNvGrpSpPr>
            <a:grpSpLocks/>
          </p:cNvGrpSpPr>
          <p:nvPr/>
        </p:nvGrpSpPr>
        <p:grpSpPr bwMode="auto">
          <a:xfrm>
            <a:off x="251520" y="2924944"/>
            <a:ext cx="3800475" cy="3586163"/>
            <a:chOff x="102" y="1581"/>
            <a:chExt cx="2394" cy="2259"/>
          </a:xfrm>
        </p:grpSpPr>
        <p:sp>
          <p:nvSpPr>
            <p:cNvPr id="15365" name="Rectangle 6">
              <a:extLst>
                <a:ext uri="{FF2B5EF4-FFF2-40B4-BE49-F238E27FC236}">
                  <a16:creationId xmlns:a16="http://schemas.microsoft.com/office/drawing/2014/main" id="{38488ED4-4A8F-5697-41E0-DE25AB033561}"/>
                </a:ext>
              </a:extLst>
            </p:cNvPr>
            <p:cNvSpPr>
              <a:spLocks noChangeArrowheads="1"/>
            </p:cNvSpPr>
            <p:nvPr/>
          </p:nvSpPr>
          <p:spPr bwMode="auto">
            <a:xfrm>
              <a:off x="1296" y="3264"/>
              <a:ext cx="1200" cy="57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indent="184150">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sz="2800" b="1"/>
                <a:t>dec cx</a:t>
              </a:r>
            </a:p>
            <a:p>
              <a:pPr algn="just" eaLnBrk="1" hangingPunct="1"/>
              <a:r>
                <a:rPr kumimoji="1" lang="en-US" altLang="zh-CN" sz="2800" b="1"/>
                <a:t>jnz label</a:t>
              </a:r>
            </a:p>
          </p:txBody>
        </p:sp>
        <p:sp>
          <p:nvSpPr>
            <p:cNvPr id="225287" name="Freeform 7">
              <a:extLst>
                <a:ext uri="{FF2B5EF4-FFF2-40B4-BE49-F238E27FC236}">
                  <a16:creationId xmlns:a16="http://schemas.microsoft.com/office/drawing/2014/main" id="{EB453B07-D1C5-4F13-3926-5D93C9033900}"/>
                </a:ext>
              </a:extLst>
            </p:cNvPr>
            <p:cNvSpPr>
              <a:spLocks/>
            </p:cNvSpPr>
            <p:nvPr/>
          </p:nvSpPr>
          <p:spPr bwMode="auto">
            <a:xfrm>
              <a:off x="102" y="1581"/>
              <a:ext cx="1163" cy="2011"/>
            </a:xfrm>
            <a:custGeom>
              <a:avLst/>
              <a:gdLst>
                <a:gd name="T0" fmla="*/ 1152 w 1163"/>
                <a:gd name="T1" fmla="*/ 0 h 2011"/>
                <a:gd name="T2" fmla="*/ 0 w 1163"/>
                <a:gd name="T3" fmla="*/ 0 h 2011"/>
                <a:gd name="T4" fmla="*/ 0 w 1163"/>
                <a:gd name="T5" fmla="*/ 2011 h 2011"/>
                <a:gd name="T6" fmla="*/ 1163 w 1163"/>
                <a:gd name="T7" fmla="*/ 2011 h 2011"/>
              </a:gdLst>
              <a:ahLst/>
              <a:cxnLst>
                <a:cxn ang="0">
                  <a:pos x="T0" y="T1"/>
                </a:cxn>
                <a:cxn ang="0">
                  <a:pos x="T2" y="T3"/>
                </a:cxn>
                <a:cxn ang="0">
                  <a:pos x="T4" y="T5"/>
                </a:cxn>
                <a:cxn ang="0">
                  <a:pos x="T6" y="T7"/>
                </a:cxn>
              </a:cxnLst>
              <a:rect l="0" t="0" r="r" b="b"/>
              <a:pathLst>
                <a:path w="1163" h="2011">
                  <a:moveTo>
                    <a:pt x="1152" y="0"/>
                  </a:moveTo>
                  <a:lnTo>
                    <a:pt x="0" y="0"/>
                  </a:lnTo>
                  <a:lnTo>
                    <a:pt x="0" y="2011"/>
                  </a:lnTo>
                  <a:lnTo>
                    <a:pt x="1163" y="2011"/>
                  </a:lnTo>
                </a:path>
              </a:pathLst>
            </a:custGeom>
            <a:noFill/>
            <a:ln w="28575" cmpd="sng">
              <a:solidFill>
                <a:schemeClr val="bg2"/>
              </a:solidFill>
              <a:round/>
              <a:headEnd type="none" w="med" len="med"/>
              <a:tailEnd type="triangle" w="med" len="med"/>
            </a:ln>
            <a:effectLst/>
          </p:spPr>
          <p:txBody>
            <a:bodyPr/>
            <a:lstStyle/>
            <a:p>
              <a:pPr eaLnBrk="1" hangingPunct="1">
                <a:defRPr/>
              </a:pPr>
              <a:endParaRPr lang="zh-CN" altLang="en-US">
                <a:effectLst>
                  <a:outerShdw blurRad="38100" dist="38100" dir="2700000" algn="tl">
                    <a:srgbClr val="000000">
                      <a:alpha val="43137"/>
                    </a:srgbClr>
                  </a:outerShdw>
                </a:effectLst>
              </a:endParaRP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8" presetClass="entr" presetSubtype="0" accel="100000" fill="hold" nodeType="clickEffect">
                                  <p:stCondLst>
                                    <p:cond delay="0"/>
                                  </p:stCondLst>
                                  <p:childTnLst>
                                    <p:set>
                                      <p:cBhvr>
                                        <p:cTn id="6" dur="1" fill="hold">
                                          <p:stCondLst>
                                            <p:cond delay="0"/>
                                          </p:stCondLst>
                                        </p:cTn>
                                        <p:tgtEl>
                                          <p:spTgt spid="225288"/>
                                        </p:tgtEl>
                                        <p:attrNameLst>
                                          <p:attrName>style.visibility</p:attrName>
                                        </p:attrNameLst>
                                      </p:cBhvr>
                                      <p:to>
                                        <p:strVal val="visible"/>
                                      </p:to>
                                    </p:set>
                                    <p:anim calcmode="lin" valueType="num">
                                      <p:cBhvr>
                                        <p:cTn id="7" dur="2000" fill="hold"/>
                                        <p:tgtEl>
                                          <p:spTgt spid="225288"/>
                                        </p:tgtEl>
                                        <p:attrNameLst>
                                          <p:attrName>ppt_w</p:attrName>
                                        </p:attrNameLst>
                                      </p:cBhvr>
                                      <p:tavLst>
                                        <p:tav tm="0">
                                          <p:val>
                                            <p:strVal val="#ppt_w*2.5"/>
                                          </p:val>
                                        </p:tav>
                                        <p:tav tm="100000">
                                          <p:val>
                                            <p:strVal val="#ppt_w"/>
                                          </p:val>
                                        </p:tav>
                                      </p:tavLst>
                                    </p:anim>
                                    <p:anim calcmode="lin" valueType="num">
                                      <p:cBhvr>
                                        <p:cTn id="8" dur="2000" fill="hold"/>
                                        <p:tgtEl>
                                          <p:spTgt spid="225288"/>
                                        </p:tgtEl>
                                        <p:attrNameLst>
                                          <p:attrName>ppt_h</p:attrName>
                                        </p:attrNameLst>
                                      </p:cBhvr>
                                      <p:tavLst>
                                        <p:tav tm="0">
                                          <p:val>
                                            <p:strVal val="#ppt_h*0.01"/>
                                          </p:val>
                                        </p:tav>
                                        <p:tav tm="100000">
                                          <p:val>
                                            <p:strVal val="#ppt_h"/>
                                          </p:val>
                                        </p:tav>
                                      </p:tavLst>
                                    </p:anim>
                                    <p:anim calcmode="lin" valueType="num">
                                      <p:cBhvr>
                                        <p:cTn id="9" dur="2000" fill="hold"/>
                                        <p:tgtEl>
                                          <p:spTgt spid="225288"/>
                                        </p:tgtEl>
                                        <p:attrNameLst>
                                          <p:attrName>ppt_x</p:attrName>
                                        </p:attrNameLst>
                                      </p:cBhvr>
                                      <p:tavLst>
                                        <p:tav tm="0">
                                          <p:val>
                                            <p:strVal val="#ppt_x"/>
                                          </p:val>
                                        </p:tav>
                                        <p:tav tm="100000">
                                          <p:val>
                                            <p:strVal val="#ppt_x"/>
                                          </p:val>
                                        </p:tav>
                                      </p:tavLst>
                                    </p:anim>
                                    <p:anim calcmode="lin" valueType="num">
                                      <p:cBhvr>
                                        <p:cTn id="10" dur="2000" fill="hold"/>
                                        <p:tgtEl>
                                          <p:spTgt spid="225288"/>
                                        </p:tgtEl>
                                        <p:attrNameLst>
                                          <p:attrName>ppt_y</p:attrName>
                                        </p:attrNameLst>
                                      </p:cBhvr>
                                      <p:tavLst>
                                        <p:tav tm="0">
                                          <p:val>
                                            <p:strVal val="#ppt_h+1"/>
                                          </p:val>
                                        </p:tav>
                                        <p:tav tm="100000">
                                          <p:val>
                                            <p:strVal val="#ppt_y"/>
                                          </p:val>
                                        </p:tav>
                                      </p:tavLst>
                                    </p:anim>
                                    <p:animEffect transition="in" filter="fade">
                                      <p:cBhvr>
                                        <p:cTn id="11" dur="2000"/>
                                        <p:tgtEl>
                                          <p:spTgt spid="2252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B6C886CF-C5D5-6347-E312-CA47C37182CA}"/>
              </a:ext>
            </a:extLst>
          </p:cNvPr>
          <p:cNvSpPr>
            <a:spLocks noGrp="1" noChangeArrowheads="1"/>
          </p:cNvSpPr>
          <p:nvPr>
            <p:ph type="title"/>
          </p:nvPr>
        </p:nvSpPr>
        <p:spPr/>
        <p:txBody>
          <a:bodyPr/>
          <a:lstStyle/>
          <a:p>
            <a:r>
              <a:rPr lang="en-US" altLang="zh-CN" dirty="0"/>
              <a:t>4.  </a:t>
            </a:r>
            <a:r>
              <a:rPr lang="zh-CN" altLang="en-US" dirty="0"/>
              <a:t>子程序指令</a:t>
            </a:r>
          </a:p>
        </p:txBody>
      </p:sp>
      <p:sp>
        <p:nvSpPr>
          <p:cNvPr id="19459" name="Rectangle 4">
            <a:extLst>
              <a:ext uri="{FF2B5EF4-FFF2-40B4-BE49-F238E27FC236}">
                <a16:creationId xmlns:a16="http://schemas.microsoft.com/office/drawing/2014/main" id="{6F5B5831-0293-9748-3355-C0EC082EFBF3}"/>
              </a:ext>
            </a:extLst>
          </p:cNvPr>
          <p:cNvSpPr>
            <a:spLocks noGrp="1" noChangeArrowheads="1"/>
          </p:cNvSpPr>
          <p:nvPr>
            <p:ph idx="1"/>
          </p:nvPr>
        </p:nvSpPr>
        <p:spPr>
          <a:xfrm>
            <a:off x="342900" y="1138238"/>
            <a:ext cx="8528050" cy="3429000"/>
          </a:xfrm>
        </p:spPr>
        <p:txBody>
          <a:bodyPr/>
          <a:lstStyle/>
          <a:p>
            <a:r>
              <a:rPr lang="zh-CN" altLang="en-US"/>
              <a:t>子程序是完成特定功能的一段程序</a:t>
            </a:r>
          </a:p>
          <a:p>
            <a:r>
              <a:rPr lang="zh-CN" altLang="en-US"/>
              <a:t>当主程序（调用程序）需要执行这个功能时，采用</a:t>
            </a:r>
            <a:r>
              <a:rPr lang="en-US" altLang="zh-CN"/>
              <a:t>CALL</a:t>
            </a:r>
            <a:r>
              <a:rPr lang="zh-CN" altLang="en-US"/>
              <a:t>调用指令转移到该子程序的起始处执行</a:t>
            </a:r>
          </a:p>
          <a:p>
            <a:r>
              <a:rPr lang="zh-CN" altLang="en-US"/>
              <a:t>当运行完子程序功能后，采用</a:t>
            </a:r>
            <a:r>
              <a:rPr lang="en-US" altLang="zh-CN"/>
              <a:t>RET</a:t>
            </a:r>
            <a:r>
              <a:rPr lang="zh-CN" altLang="en-US"/>
              <a:t>返回指令回到主程序继续执行</a:t>
            </a:r>
          </a:p>
        </p:txBody>
      </p:sp>
      <p:sp>
        <p:nvSpPr>
          <p:cNvPr id="227334" name="AutoShape 6">
            <a:extLst>
              <a:ext uri="{FF2B5EF4-FFF2-40B4-BE49-F238E27FC236}">
                <a16:creationId xmlns:a16="http://schemas.microsoft.com/office/drawing/2014/main" id="{89DF8591-20EC-EE6B-F9D3-586F124B9E79}"/>
              </a:ext>
            </a:extLst>
          </p:cNvPr>
          <p:cNvSpPr>
            <a:spLocks noChangeArrowheads="1"/>
          </p:cNvSpPr>
          <p:nvPr/>
        </p:nvSpPr>
        <p:spPr bwMode="auto">
          <a:xfrm>
            <a:off x="4081463" y="4530725"/>
            <a:ext cx="4784725" cy="1536700"/>
          </a:xfrm>
          <a:prstGeom prst="roundRect">
            <a:avLst>
              <a:gd name="adj" fmla="val 16667"/>
            </a:avLst>
          </a:prstGeom>
          <a:blipFill dpi="0" rotWithShape="0">
            <a:blip r:embed="rId2"/>
            <a:srcRect/>
            <a:tile tx="0" ty="0" sx="100000" sy="100000" flip="none" algn="tl"/>
          </a:blip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buFontTx/>
              <a:buBlip>
                <a:blip r:embed="rId3"/>
              </a:buBlip>
            </a:pPr>
            <a:r>
              <a:rPr kumimoji="1" lang="en-US" altLang="zh-CN" sz="2800" b="1">
                <a:solidFill>
                  <a:schemeClr val="accent2"/>
                </a:solidFill>
              </a:rPr>
              <a:t> </a:t>
            </a:r>
            <a:r>
              <a:rPr kumimoji="1" lang="zh-CN" altLang="en-US" sz="2800" b="1"/>
              <a:t>转移</a:t>
            </a:r>
            <a:r>
              <a:rPr kumimoji="1" lang="zh-CN" altLang="en-US" sz="2800" b="1">
                <a:solidFill>
                  <a:schemeClr val="accent2"/>
                </a:solidFill>
              </a:rPr>
              <a:t>指令</a:t>
            </a:r>
            <a:r>
              <a:rPr kumimoji="1" lang="zh-CN" altLang="en-US" sz="2800" b="1"/>
              <a:t>有去无回</a:t>
            </a:r>
          </a:p>
          <a:p>
            <a:pPr algn="just" eaLnBrk="1" hangingPunct="1">
              <a:spcBef>
                <a:spcPct val="20000"/>
              </a:spcBef>
              <a:buFontTx/>
              <a:buBlip>
                <a:blip r:embed="rId3"/>
              </a:buBlip>
            </a:pPr>
            <a:r>
              <a:rPr kumimoji="1" lang="zh-CN" altLang="en-US" sz="2800" b="1">
                <a:solidFill>
                  <a:schemeClr val="accent2"/>
                </a:solidFill>
              </a:rPr>
              <a:t> 子程序</a:t>
            </a:r>
            <a:r>
              <a:rPr kumimoji="1" lang="zh-CN" altLang="en-US" sz="2800" b="1"/>
              <a:t>调用需要返回</a:t>
            </a:r>
            <a:r>
              <a:rPr kumimoji="1" lang="zh-CN" altLang="en-US" sz="2800" b="1">
                <a:solidFill>
                  <a:schemeClr val="accent2"/>
                </a:solidFill>
              </a:rPr>
              <a:t>，</a:t>
            </a:r>
          </a:p>
          <a:p>
            <a:pPr algn="just" eaLnBrk="1" hangingPunct="1"/>
            <a:r>
              <a:rPr kumimoji="1" lang="zh-CN" altLang="en-US" sz="2800" b="1">
                <a:solidFill>
                  <a:schemeClr val="accent2"/>
                </a:solidFill>
              </a:rPr>
              <a:t>其中利用堆栈保存返回地址</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nodeType="clickEffect">
                                  <p:stCondLst>
                                    <p:cond delay="0"/>
                                  </p:stCondLst>
                                  <p:childTnLst>
                                    <p:set>
                                      <p:cBhvr>
                                        <p:cTn id="6" dur="1" fill="hold">
                                          <p:stCondLst>
                                            <p:cond delay="0"/>
                                          </p:stCondLst>
                                        </p:cTn>
                                        <p:tgtEl>
                                          <p:spTgt spid="227334"/>
                                        </p:tgtEl>
                                        <p:attrNameLst>
                                          <p:attrName>style.visibility</p:attrName>
                                        </p:attrNameLst>
                                      </p:cBhvr>
                                      <p:to>
                                        <p:strVal val="visible"/>
                                      </p:to>
                                    </p:set>
                                    <p:anim calcmode="lin" valueType="num">
                                      <p:cBhvr>
                                        <p:cTn id="7" dur="1000" fill="hold"/>
                                        <p:tgtEl>
                                          <p:spTgt spid="227334"/>
                                        </p:tgtEl>
                                        <p:attrNameLst>
                                          <p:attrName>ppt_x</p:attrName>
                                        </p:attrNameLst>
                                      </p:cBhvr>
                                      <p:tavLst>
                                        <p:tav tm="0">
                                          <p:val>
                                            <p:strVal val="#ppt_x-#ppt_w/2"/>
                                          </p:val>
                                        </p:tav>
                                        <p:tav tm="100000">
                                          <p:val>
                                            <p:strVal val="#ppt_x"/>
                                          </p:val>
                                        </p:tav>
                                      </p:tavLst>
                                    </p:anim>
                                    <p:anim calcmode="lin" valueType="num">
                                      <p:cBhvr>
                                        <p:cTn id="8" dur="1000" fill="hold"/>
                                        <p:tgtEl>
                                          <p:spTgt spid="227334"/>
                                        </p:tgtEl>
                                        <p:attrNameLst>
                                          <p:attrName>ppt_y</p:attrName>
                                        </p:attrNameLst>
                                      </p:cBhvr>
                                      <p:tavLst>
                                        <p:tav tm="0">
                                          <p:val>
                                            <p:strVal val="#ppt_y"/>
                                          </p:val>
                                        </p:tav>
                                        <p:tav tm="100000">
                                          <p:val>
                                            <p:strVal val="#ppt_y"/>
                                          </p:val>
                                        </p:tav>
                                      </p:tavLst>
                                    </p:anim>
                                    <p:anim calcmode="lin" valueType="num">
                                      <p:cBhvr>
                                        <p:cTn id="9" dur="1000" fill="hold"/>
                                        <p:tgtEl>
                                          <p:spTgt spid="227334"/>
                                        </p:tgtEl>
                                        <p:attrNameLst>
                                          <p:attrName>ppt_w</p:attrName>
                                        </p:attrNameLst>
                                      </p:cBhvr>
                                      <p:tavLst>
                                        <p:tav tm="0">
                                          <p:val>
                                            <p:fltVal val="0"/>
                                          </p:val>
                                        </p:tav>
                                        <p:tav tm="100000">
                                          <p:val>
                                            <p:strVal val="#ppt_w"/>
                                          </p:val>
                                        </p:tav>
                                      </p:tavLst>
                                    </p:anim>
                                    <p:anim calcmode="lin" valueType="num">
                                      <p:cBhvr>
                                        <p:cTn id="10" dur="1000" fill="hold"/>
                                        <p:tgtEl>
                                          <p:spTgt spid="22733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4" grpId="0" animBg="1" autoUpdateAnimBg="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9361EE0E-C2BF-5AF0-68DA-7422105BAD26}"/>
              </a:ext>
            </a:extLst>
          </p:cNvPr>
          <p:cNvSpPr>
            <a:spLocks noGrp="1" noChangeArrowheads="1"/>
          </p:cNvSpPr>
          <p:nvPr>
            <p:ph type="title"/>
          </p:nvPr>
        </p:nvSpPr>
        <p:spPr/>
        <p:txBody>
          <a:bodyPr/>
          <a:lstStyle/>
          <a:p>
            <a:pPr marL="457200" indent="-457200">
              <a:buFont typeface="Wingdings" panose="05000000000000000000" pitchFamily="2" charset="2"/>
              <a:buChar char="u"/>
            </a:pPr>
            <a:r>
              <a:rPr lang="zh-CN" altLang="en-US" dirty="0"/>
              <a:t>子程序调用指令</a:t>
            </a:r>
            <a:r>
              <a:rPr lang="en-US" altLang="zh-CN" dirty="0"/>
              <a:t>CALL</a:t>
            </a:r>
          </a:p>
        </p:txBody>
      </p:sp>
      <p:sp>
        <p:nvSpPr>
          <p:cNvPr id="20483" name="Rectangle 3">
            <a:extLst>
              <a:ext uri="{FF2B5EF4-FFF2-40B4-BE49-F238E27FC236}">
                <a16:creationId xmlns:a16="http://schemas.microsoft.com/office/drawing/2014/main" id="{37AB32E4-A45F-5190-B7CD-D9DA53092951}"/>
              </a:ext>
            </a:extLst>
          </p:cNvPr>
          <p:cNvSpPr>
            <a:spLocks noGrp="1" noChangeArrowheads="1"/>
          </p:cNvSpPr>
          <p:nvPr>
            <p:ph idx="1"/>
          </p:nvPr>
        </p:nvSpPr>
        <p:spPr>
          <a:xfrm>
            <a:off x="457200" y="1344613"/>
            <a:ext cx="8229600" cy="5129212"/>
          </a:xfrm>
        </p:spPr>
        <p:txBody>
          <a:bodyPr/>
          <a:lstStyle/>
          <a:p>
            <a:pPr>
              <a:lnSpc>
                <a:spcPct val="90000"/>
              </a:lnSpc>
              <a:buSzPct val="90000"/>
              <a:buFont typeface="Wingdings" panose="05000000000000000000" pitchFamily="2" charset="2"/>
              <a:buChar char="Ø"/>
            </a:pPr>
            <a:r>
              <a:rPr kumimoji="1" lang="en-US" altLang="zh-CN">
                <a:solidFill>
                  <a:srgbClr val="000000"/>
                </a:solidFill>
              </a:rPr>
              <a:t>CALL</a:t>
            </a:r>
            <a:r>
              <a:rPr kumimoji="1" lang="zh-CN" altLang="en-US">
                <a:solidFill>
                  <a:srgbClr val="000000"/>
                </a:solidFill>
              </a:rPr>
              <a:t>指令分成</a:t>
            </a:r>
            <a:r>
              <a:rPr kumimoji="1" lang="en-US" altLang="zh-CN">
                <a:solidFill>
                  <a:srgbClr val="000000"/>
                </a:solidFill>
              </a:rPr>
              <a:t>4</a:t>
            </a:r>
            <a:r>
              <a:rPr kumimoji="1" lang="zh-CN" altLang="en-US">
                <a:solidFill>
                  <a:srgbClr val="000000"/>
                </a:solidFill>
              </a:rPr>
              <a:t>种类型（类似</a:t>
            </a:r>
            <a:r>
              <a:rPr kumimoji="1" lang="en-US" altLang="zh-CN">
                <a:solidFill>
                  <a:srgbClr val="000000"/>
                </a:solidFill>
              </a:rPr>
              <a:t>JMP</a:t>
            </a:r>
            <a:r>
              <a:rPr kumimoji="1" lang="zh-CN" altLang="en-US">
                <a:solidFill>
                  <a:srgbClr val="000000"/>
                </a:solidFill>
              </a:rPr>
              <a:t>）</a:t>
            </a:r>
          </a:p>
          <a:p>
            <a:pPr lvl="1">
              <a:lnSpc>
                <a:spcPct val="80000"/>
              </a:lnSpc>
              <a:buSzPct val="75000"/>
              <a:buFont typeface="Wingdings" panose="05000000000000000000" pitchFamily="2" charset="2"/>
              <a:buNone/>
            </a:pPr>
            <a:r>
              <a:rPr kumimoji="1" lang="en-US" altLang="zh-CN">
                <a:solidFill>
                  <a:srgbClr val="006600"/>
                </a:solidFill>
              </a:rPr>
              <a:t>CALL label</a:t>
            </a:r>
            <a:r>
              <a:rPr kumimoji="1" lang="en-US" altLang="zh-CN">
                <a:solidFill>
                  <a:srgbClr val="000000"/>
                </a:solidFill>
              </a:rPr>
              <a:t>		</a:t>
            </a:r>
            <a:r>
              <a:rPr kumimoji="1" lang="zh-CN" altLang="en-US">
                <a:solidFill>
                  <a:srgbClr val="000000"/>
                </a:solidFill>
              </a:rPr>
              <a:t>；段内调用、直接寻址</a:t>
            </a:r>
          </a:p>
          <a:p>
            <a:pPr lvl="1">
              <a:lnSpc>
                <a:spcPct val="80000"/>
              </a:lnSpc>
              <a:buSzPct val="75000"/>
              <a:buFont typeface="Wingdings" panose="05000000000000000000" pitchFamily="2" charset="2"/>
              <a:buNone/>
            </a:pPr>
            <a:r>
              <a:rPr kumimoji="1" lang="en-US" altLang="zh-CN">
                <a:solidFill>
                  <a:srgbClr val="006600"/>
                </a:solidFill>
              </a:rPr>
              <a:t>CALL r16/m16</a:t>
            </a:r>
            <a:r>
              <a:rPr kumimoji="1" lang="en-US" altLang="zh-CN">
                <a:solidFill>
                  <a:srgbClr val="000000"/>
                </a:solidFill>
              </a:rPr>
              <a:t>	</a:t>
            </a:r>
            <a:r>
              <a:rPr kumimoji="1" lang="zh-CN" altLang="en-US">
                <a:solidFill>
                  <a:srgbClr val="000000"/>
                </a:solidFill>
              </a:rPr>
              <a:t>；段内调用、间接寻址</a:t>
            </a:r>
          </a:p>
          <a:p>
            <a:pPr lvl="1">
              <a:lnSpc>
                <a:spcPct val="80000"/>
              </a:lnSpc>
              <a:buSzPct val="75000"/>
              <a:buFont typeface="Wingdings" panose="05000000000000000000" pitchFamily="2" charset="2"/>
              <a:buNone/>
            </a:pPr>
            <a:r>
              <a:rPr kumimoji="1" lang="en-US" altLang="zh-CN">
                <a:solidFill>
                  <a:srgbClr val="006600"/>
                </a:solidFill>
              </a:rPr>
              <a:t>CALL far ptr label</a:t>
            </a:r>
            <a:r>
              <a:rPr kumimoji="1" lang="en-US" altLang="zh-CN">
                <a:solidFill>
                  <a:srgbClr val="000000"/>
                </a:solidFill>
              </a:rPr>
              <a:t>	</a:t>
            </a:r>
            <a:r>
              <a:rPr kumimoji="1" lang="zh-CN" altLang="en-US">
                <a:solidFill>
                  <a:srgbClr val="000000"/>
                </a:solidFill>
              </a:rPr>
              <a:t>；段间调用、直接寻址</a:t>
            </a:r>
          </a:p>
          <a:p>
            <a:pPr lvl="1">
              <a:lnSpc>
                <a:spcPct val="80000"/>
              </a:lnSpc>
              <a:buSzPct val="75000"/>
              <a:buFont typeface="Wingdings" panose="05000000000000000000" pitchFamily="2" charset="2"/>
              <a:buNone/>
            </a:pPr>
            <a:r>
              <a:rPr kumimoji="1" lang="en-US" altLang="zh-CN">
                <a:solidFill>
                  <a:srgbClr val="006600"/>
                </a:solidFill>
              </a:rPr>
              <a:t>CALL far ptr mem</a:t>
            </a:r>
            <a:r>
              <a:rPr kumimoji="1" lang="en-US" altLang="zh-CN">
                <a:solidFill>
                  <a:srgbClr val="000000"/>
                </a:solidFill>
              </a:rPr>
              <a:t>	</a:t>
            </a:r>
            <a:r>
              <a:rPr kumimoji="1" lang="zh-CN" altLang="en-US">
                <a:solidFill>
                  <a:srgbClr val="000000"/>
                </a:solidFill>
              </a:rPr>
              <a:t>；段间调用、间接寻址</a:t>
            </a:r>
          </a:p>
          <a:p>
            <a:pPr>
              <a:lnSpc>
                <a:spcPct val="90000"/>
              </a:lnSpc>
              <a:buSzPct val="90000"/>
              <a:buFont typeface="Wingdings" panose="05000000000000000000" pitchFamily="2" charset="2"/>
              <a:buChar char="Ø"/>
            </a:pPr>
            <a:r>
              <a:rPr kumimoji="1" lang="en-US" altLang="zh-CN">
                <a:solidFill>
                  <a:srgbClr val="000000"/>
                </a:solidFill>
              </a:rPr>
              <a:t>CALL</a:t>
            </a:r>
            <a:r>
              <a:rPr kumimoji="1" lang="zh-CN" altLang="en-US">
                <a:solidFill>
                  <a:srgbClr val="000000"/>
                </a:solidFill>
              </a:rPr>
              <a:t>指令需要保存返回地址：</a:t>
            </a:r>
          </a:p>
          <a:p>
            <a:pPr lvl="1">
              <a:lnSpc>
                <a:spcPct val="90000"/>
              </a:lnSpc>
              <a:buSzPct val="75000"/>
              <a:buFont typeface="Wingdings" panose="05000000000000000000" pitchFamily="2" charset="2"/>
              <a:buChar char="n"/>
            </a:pPr>
            <a:r>
              <a:rPr kumimoji="1" lang="zh-CN" altLang="en-US">
                <a:solidFill>
                  <a:srgbClr val="3333CC"/>
                </a:solidFill>
              </a:rPr>
              <a:t>段内调用</a:t>
            </a:r>
            <a:r>
              <a:rPr kumimoji="1" lang="en-US" altLang="zh-CN">
                <a:solidFill>
                  <a:srgbClr val="000000"/>
                </a:solidFill>
              </a:rPr>
              <a:t>——</a:t>
            </a:r>
            <a:r>
              <a:rPr kumimoji="1" lang="zh-CN" altLang="en-US">
                <a:solidFill>
                  <a:srgbClr val="000000"/>
                </a:solidFill>
              </a:rPr>
              <a:t>入栈偏移地址</a:t>
            </a:r>
            <a:r>
              <a:rPr kumimoji="1" lang="en-US" altLang="zh-CN">
                <a:solidFill>
                  <a:srgbClr val="000000"/>
                </a:solidFill>
              </a:rPr>
              <a:t>IP</a:t>
            </a:r>
          </a:p>
          <a:p>
            <a:pPr lvl="1">
              <a:lnSpc>
                <a:spcPct val="80000"/>
              </a:lnSpc>
              <a:buSzPct val="75000"/>
              <a:buFont typeface="Wingdings" panose="05000000000000000000" pitchFamily="2" charset="2"/>
              <a:buNone/>
            </a:pPr>
            <a:r>
              <a:rPr kumimoji="1" lang="en-US" altLang="zh-CN">
                <a:solidFill>
                  <a:srgbClr val="000000"/>
                </a:solidFill>
              </a:rPr>
              <a:t>SP←SP</a:t>
            </a:r>
            <a:r>
              <a:rPr kumimoji="1" lang="zh-CN" altLang="en-US">
                <a:solidFill>
                  <a:srgbClr val="000000"/>
                </a:solidFill>
              </a:rPr>
              <a:t>－</a:t>
            </a:r>
            <a:r>
              <a:rPr kumimoji="1" lang="en-US" altLang="zh-CN">
                <a:solidFill>
                  <a:srgbClr val="000000"/>
                </a:solidFill>
              </a:rPr>
              <a:t>2</a:t>
            </a:r>
            <a:r>
              <a:rPr kumimoji="1" lang="zh-CN" altLang="en-US">
                <a:solidFill>
                  <a:srgbClr val="000000"/>
                </a:solidFill>
              </a:rPr>
              <a:t>，</a:t>
            </a:r>
            <a:r>
              <a:rPr kumimoji="1" lang="en-US" altLang="zh-CN">
                <a:solidFill>
                  <a:srgbClr val="000000"/>
                </a:solidFill>
              </a:rPr>
              <a:t>SS:[SP]←IP</a:t>
            </a:r>
          </a:p>
          <a:p>
            <a:pPr lvl="1">
              <a:lnSpc>
                <a:spcPct val="90000"/>
              </a:lnSpc>
              <a:buSzPct val="75000"/>
              <a:buFont typeface="Wingdings" panose="05000000000000000000" pitchFamily="2" charset="2"/>
              <a:buChar char="n"/>
            </a:pPr>
            <a:r>
              <a:rPr kumimoji="1" lang="zh-CN" altLang="en-US">
                <a:solidFill>
                  <a:srgbClr val="3333CC"/>
                </a:solidFill>
              </a:rPr>
              <a:t>段间调用</a:t>
            </a:r>
            <a:r>
              <a:rPr kumimoji="1" lang="en-US" altLang="zh-CN">
                <a:solidFill>
                  <a:srgbClr val="000000"/>
                </a:solidFill>
              </a:rPr>
              <a:t>——</a:t>
            </a:r>
            <a:r>
              <a:rPr kumimoji="1" lang="zh-CN" altLang="en-US">
                <a:solidFill>
                  <a:srgbClr val="000000"/>
                </a:solidFill>
              </a:rPr>
              <a:t>入栈偏移地址</a:t>
            </a:r>
            <a:r>
              <a:rPr kumimoji="1" lang="en-US" altLang="zh-CN">
                <a:solidFill>
                  <a:srgbClr val="000000"/>
                </a:solidFill>
              </a:rPr>
              <a:t>IP</a:t>
            </a:r>
            <a:r>
              <a:rPr kumimoji="1" lang="zh-CN" altLang="en-US">
                <a:solidFill>
                  <a:srgbClr val="000000"/>
                </a:solidFill>
              </a:rPr>
              <a:t>和段地址</a:t>
            </a:r>
            <a:r>
              <a:rPr kumimoji="1" lang="en-US" altLang="zh-CN">
                <a:solidFill>
                  <a:srgbClr val="000000"/>
                </a:solidFill>
              </a:rPr>
              <a:t>CS</a:t>
            </a:r>
          </a:p>
          <a:p>
            <a:pPr lvl="1">
              <a:lnSpc>
                <a:spcPct val="80000"/>
              </a:lnSpc>
              <a:buSzPct val="75000"/>
              <a:buFont typeface="Wingdings" panose="05000000000000000000" pitchFamily="2" charset="2"/>
              <a:buNone/>
            </a:pPr>
            <a:r>
              <a:rPr kumimoji="1" lang="en-US" altLang="zh-CN">
                <a:solidFill>
                  <a:srgbClr val="000000"/>
                </a:solidFill>
              </a:rPr>
              <a:t>SP←SP</a:t>
            </a:r>
            <a:r>
              <a:rPr kumimoji="1" lang="zh-CN" altLang="en-US">
                <a:solidFill>
                  <a:srgbClr val="000000"/>
                </a:solidFill>
              </a:rPr>
              <a:t>－</a:t>
            </a:r>
            <a:r>
              <a:rPr kumimoji="1" lang="en-US" altLang="zh-CN">
                <a:solidFill>
                  <a:srgbClr val="000000"/>
                </a:solidFill>
              </a:rPr>
              <a:t>2</a:t>
            </a:r>
            <a:r>
              <a:rPr kumimoji="1" lang="zh-CN" altLang="en-US">
                <a:solidFill>
                  <a:srgbClr val="000000"/>
                </a:solidFill>
              </a:rPr>
              <a:t>，</a:t>
            </a:r>
            <a:r>
              <a:rPr kumimoji="1" lang="en-US" altLang="zh-CN">
                <a:solidFill>
                  <a:srgbClr val="000000"/>
                </a:solidFill>
              </a:rPr>
              <a:t>SS:[SP]←CS</a:t>
            </a:r>
          </a:p>
          <a:p>
            <a:pPr lvl="1">
              <a:lnSpc>
                <a:spcPct val="80000"/>
              </a:lnSpc>
              <a:buSzPct val="75000"/>
              <a:buFont typeface="Wingdings" panose="05000000000000000000" pitchFamily="2" charset="2"/>
              <a:buNone/>
            </a:pPr>
            <a:r>
              <a:rPr kumimoji="1" lang="en-US" altLang="zh-CN">
                <a:solidFill>
                  <a:srgbClr val="000000"/>
                </a:solidFill>
              </a:rPr>
              <a:t>SP←SP</a:t>
            </a:r>
            <a:r>
              <a:rPr kumimoji="1" lang="zh-CN" altLang="en-US">
                <a:solidFill>
                  <a:srgbClr val="000000"/>
                </a:solidFill>
              </a:rPr>
              <a:t>－</a:t>
            </a:r>
            <a:r>
              <a:rPr kumimoji="1" lang="en-US" altLang="zh-CN">
                <a:solidFill>
                  <a:srgbClr val="000000"/>
                </a:solidFill>
              </a:rPr>
              <a:t>2</a:t>
            </a:r>
            <a:r>
              <a:rPr kumimoji="1" lang="zh-CN" altLang="en-US">
                <a:solidFill>
                  <a:srgbClr val="000000"/>
                </a:solidFill>
              </a:rPr>
              <a:t>，</a:t>
            </a:r>
            <a:r>
              <a:rPr kumimoji="1" lang="en-US" altLang="zh-CN">
                <a:solidFill>
                  <a:srgbClr val="000000"/>
                </a:solidFill>
              </a:rPr>
              <a:t>SS:[SP]←IP</a:t>
            </a:r>
          </a:p>
        </p:txBody>
      </p:sp>
    </p:spTree>
  </p:cSld>
  <p:clrMapOvr>
    <a:masterClrMapping/>
  </p:clrMapOvr>
  <p:transition>
    <p:random/>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331C4390-1516-DA8F-C037-CF99A1B376B8}"/>
              </a:ext>
            </a:extLst>
          </p:cNvPr>
          <p:cNvSpPr>
            <a:spLocks noGrp="1" noChangeArrowheads="1"/>
          </p:cNvSpPr>
          <p:nvPr>
            <p:ph type="title"/>
          </p:nvPr>
        </p:nvSpPr>
        <p:spPr/>
        <p:txBody>
          <a:bodyPr/>
          <a:lstStyle/>
          <a:p>
            <a:pPr marL="457200" indent="-457200">
              <a:buFont typeface="Wingdings" panose="05000000000000000000" pitchFamily="2" charset="2"/>
              <a:buChar char="u"/>
            </a:pPr>
            <a:r>
              <a:rPr lang="zh-CN" altLang="en-US" dirty="0"/>
              <a:t>子程序返回指令</a:t>
            </a:r>
            <a:r>
              <a:rPr lang="en-US" altLang="zh-CN" dirty="0"/>
              <a:t>RET</a:t>
            </a:r>
          </a:p>
        </p:txBody>
      </p:sp>
      <p:sp>
        <p:nvSpPr>
          <p:cNvPr id="21507" name="Rectangle 3">
            <a:extLst>
              <a:ext uri="{FF2B5EF4-FFF2-40B4-BE49-F238E27FC236}">
                <a16:creationId xmlns:a16="http://schemas.microsoft.com/office/drawing/2014/main" id="{75F1157D-7953-126C-48E9-C2EF65484E7B}"/>
              </a:ext>
            </a:extLst>
          </p:cNvPr>
          <p:cNvSpPr>
            <a:spLocks noGrp="1" noChangeArrowheads="1"/>
          </p:cNvSpPr>
          <p:nvPr>
            <p:ph idx="1"/>
          </p:nvPr>
        </p:nvSpPr>
        <p:spPr>
          <a:xfrm>
            <a:off x="458788" y="1417638"/>
            <a:ext cx="8229600" cy="4525962"/>
          </a:xfrm>
        </p:spPr>
        <p:txBody>
          <a:bodyPr/>
          <a:lstStyle/>
          <a:p>
            <a:pPr>
              <a:lnSpc>
                <a:spcPct val="90000"/>
              </a:lnSpc>
              <a:buSzPct val="90000"/>
              <a:buFont typeface="Wingdings" panose="05000000000000000000" pitchFamily="2" charset="2"/>
              <a:buChar char="Ø"/>
            </a:pPr>
            <a:r>
              <a:rPr kumimoji="1" lang="zh-CN" altLang="en-US">
                <a:solidFill>
                  <a:srgbClr val="000000"/>
                </a:solidFill>
              </a:rPr>
              <a:t>根据段内和段间、有无参数，分成</a:t>
            </a:r>
            <a:r>
              <a:rPr kumimoji="1" lang="en-US" altLang="zh-CN">
                <a:solidFill>
                  <a:srgbClr val="000000"/>
                </a:solidFill>
              </a:rPr>
              <a:t>4</a:t>
            </a:r>
            <a:r>
              <a:rPr kumimoji="1" lang="zh-CN" altLang="en-US">
                <a:solidFill>
                  <a:srgbClr val="000000"/>
                </a:solidFill>
              </a:rPr>
              <a:t>种类型</a:t>
            </a:r>
          </a:p>
          <a:p>
            <a:pPr lvl="1">
              <a:lnSpc>
                <a:spcPct val="80000"/>
              </a:lnSpc>
              <a:buSzPct val="75000"/>
              <a:buFont typeface="Wingdings" panose="05000000000000000000" pitchFamily="2" charset="2"/>
              <a:buNone/>
            </a:pPr>
            <a:r>
              <a:rPr kumimoji="1" lang="en-US" altLang="zh-CN">
                <a:solidFill>
                  <a:srgbClr val="006600"/>
                </a:solidFill>
              </a:rPr>
              <a:t>RET</a:t>
            </a:r>
            <a:r>
              <a:rPr kumimoji="1" lang="en-US" altLang="zh-CN">
                <a:solidFill>
                  <a:srgbClr val="000000"/>
                </a:solidFill>
              </a:rPr>
              <a:t>		</a:t>
            </a:r>
            <a:r>
              <a:rPr kumimoji="1" lang="zh-CN" altLang="en-US">
                <a:solidFill>
                  <a:srgbClr val="000000"/>
                </a:solidFill>
              </a:rPr>
              <a:t>；无参数段内返回</a:t>
            </a:r>
          </a:p>
          <a:p>
            <a:pPr lvl="1">
              <a:lnSpc>
                <a:spcPct val="80000"/>
              </a:lnSpc>
              <a:buSzPct val="75000"/>
              <a:buFont typeface="Wingdings" panose="05000000000000000000" pitchFamily="2" charset="2"/>
              <a:buNone/>
            </a:pPr>
            <a:r>
              <a:rPr kumimoji="1" lang="en-US" altLang="zh-CN">
                <a:solidFill>
                  <a:srgbClr val="006600"/>
                </a:solidFill>
              </a:rPr>
              <a:t>RET i16</a:t>
            </a:r>
            <a:r>
              <a:rPr kumimoji="1" lang="en-US" altLang="zh-CN">
                <a:solidFill>
                  <a:srgbClr val="000000"/>
                </a:solidFill>
              </a:rPr>
              <a:t>		</a:t>
            </a:r>
            <a:r>
              <a:rPr kumimoji="1" lang="zh-CN" altLang="en-US">
                <a:solidFill>
                  <a:srgbClr val="000000"/>
                </a:solidFill>
              </a:rPr>
              <a:t>；有参数段内返回</a:t>
            </a:r>
          </a:p>
          <a:p>
            <a:pPr lvl="1">
              <a:lnSpc>
                <a:spcPct val="80000"/>
              </a:lnSpc>
              <a:buSzPct val="75000"/>
              <a:buFont typeface="Wingdings" panose="05000000000000000000" pitchFamily="2" charset="2"/>
              <a:buNone/>
            </a:pPr>
            <a:r>
              <a:rPr kumimoji="1" lang="en-US" altLang="zh-CN">
                <a:solidFill>
                  <a:srgbClr val="006600"/>
                </a:solidFill>
              </a:rPr>
              <a:t>RET</a:t>
            </a:r>
            <a:r>
              <a:rPr kumimoji="1" lang="en-US" altLang="zh-CN">
                <a:solidFill>
                  <a:srgbClr val="000000"/>
                </a:solidFill>
              </a:rPr>
              <a:t>		</a:t>
            </a:r>
            <a:r>
              <a:rPr kumimoji="1" lang="zh-CN" altLang="en-US">
                <a:solidFill>
                  <a:srgbClr val="000000"/>
                </a:solidFill>
              </a:rPr>
              <a:t>；无参数段间返回</a:t>
            </a:r>
          </a:p>
          <a:p>
            <a:pPr lvl="1">
              <a:lnSpc>
                <a:spcPct val="80000"/>
              </a:lnSpc>
              <a:buSzPct val="75000"/>
              <a:buFont typeface="Wingdings" panose="05000000000000000000" pitchFamily="2" charset="2"/>
              <a:buNone/>
            </a:pPr>
            <a:r>
              <a:rPr kumimoji="1" lang="en-US" altLang="zh-CN">
                <a:solidFill>
                  <a:srgbClr val="006600"/>
                </a:solidFill>
              </a:rPr>
              <a:t>RET i16</a:t>
            </a:r>
            <a:r>
              <a:rPr kumimoji="1" lang="en-US" altLang="zh-CN">
                <a:solidFill>
                  <a:srgbClr val="000000"/>
                </a:solidFill>
              </a:rPr>
              <a:t>		</a:t>
            </a:r>
            <a:r>
              <a:rPr kumimoji="1" lang="zh-CN" altLang="en-US">
                <a:solidFill>
                  <a:srgbClr val="000000"/>
                </a:solidFill>
              </a:rPr>
              <a:t>；有参数段间返回</a:t>
            </a:r>
          </a:p>
          <a:p>
            <a:pPr>
              <a:lnSpc>
                <a:spcPct val="90000"/>
              </a:lnSpc>
              <a:buSzPct val="90000"/>
              <a:buFont typeface="Wingdings" panose="05000000000000000000" pitchFamily="2" charset="2"/>
              <a:buChar char="Ø"/>
            </a:pPr>
            <a:r>
              <a:rPr kumimoji="1" lang="zh-CN" altLang="en-US">
                <a:solidFill>
                  <a:srgbClr val="000000"/>
                </a:solidFill>
              </a:rPr>
              <a:t>需要弹出</a:t>
            </a:r>
            <a:r>
              <a:rPr kumimoji="1" lang="en-US" altLang="zh-CN">
                <a:solidFill>
                  <a:srgbClr val="000000"/>
                </a:solidFill>
              </a:rPr>
              <a:t>CALL</a:t>
            </a:r>
            <a:r>
              <a:rPr kumimoji="1" lang="zh-CN" altLang="en-US">
                <a:solidFill>
                  <a:srgbClr val="000000"/>
                </a:solidFill>
              </a:rPr>
              <a:t>指令压入堆栈的返回地址</a:t>
            </a:r>
          </a:p>
          <a:p>
            <a:pPr lvl="1">
              <a:lnSpc>
                <a:spcPct val="90000"/>
              </a:lnSpc>
              <a:buSzPct val="75000"/>
              <a:buFont typeface="Wingdings" panose="05000000000000000000" pitchFamily="2" charset="2"/>
              <a:buChar char="n"/>
            </a:pPr>
            <a:r>
              <a:rPr kumimoji="1" lang="zh-CN" altLang="en-US">
                <a:solidFill>
                  <a:srgbClr val="3333CC"/>
                </a:solidFill>
              </a:rPr>
              <a:t>段内返回</a:t>
            </a:r>
            <a:r>
              <a:rPr kumimoji="1" lang="en-US" altLang="zh-CN">
                <a:solidFill>
                  <a:srgbClr val="000000"/>
                </a:solidFill>
              </a:rPr>
              <a:t>——</a:t>
            </a:r>
            <a:r>
              <a:rPr kumimoji="1" lang="zh-CN" altLang="en-US">
                <a:solidFill>
                  <a:srgbClr val="000000"/>
                </a:solidFill>
              </a:rPr>
              <a:t>出栈偏移地址</a:t>
            </a:r>
            <a:r>
              <a:rPr kumimoji="1" lang="en-US" altLang="zh-CN">
                <a:solidFill>
                  <a:srgbClr val="000000"/>
                </a:solidFill>
              </a:rPr>
              <a:t>IP</a:t>
            </a:r>
          </a:p>
          <a:p>
            <a:pPr lvl="1">
              <a:lnSpc>
                <a:spcPct val="80000"/>
              </a:lnSpc>
              <a:buSzPct val="75000"/>
              <a:buFont typeface="Wingdings" panose="05000000000000000000" pitchFamily="2" charset="2"/>
              <a:buNone/>
            </a:pPr>
            <a:r>
              <a:rPr kumimoji="1" lang="en-US" altLang="zh-CN">
                <a:solidFill>
                  <a:srgbClr val="000000"/>
                </a:solidFill>
              </a:rPr>
              <a:t>IP←SS:[SP]</a:t>
            </a:r>
            <a:r>
              <a:rPr kumimoji="1" lang="zh-CN" altLang="en-US">
                <a:solidFill>
                  <a:srgbClr val="000000"/>
                </a:solidFill>
              </a:rPr>
              <a:t>， </a:t>
            </a:r>
            <a:r>
              <a:rPr kumimoji="1" lang="en-US" altLang="zh-CN">
                <a:solidFill>
                  <a:srgbClr val="000000"/>
                </a:solidFill>
              </a:rPr>
              <a:t>SP←SP</a:t>
            </a:r>
            <a:r>
              <a:rPr kumimoji="1" lang="zh-CN" altLang="en-US">
                <a:solidFill>
                  <a:srgbClr val="000000"/>
                </a:solidFill>
              </a:rPr>
              <a:t>＋</a:t>
            </a:r>
            <a:r>
              <a:rPr kumimoji="1" lang="en-US" altLang="zh-CN">
                <a:solidFill>
                  <a:srgbClr val="000000"/>
                </a:solidFill>
              </a:rPr>
              <a:t>2</a:t>
            </a:r>
          </a:p>
          <a:p>
            <a:pPr lvl="1">
              <a:lnSpc>
                <a:spcPct val="90000"/>
              </a:lnSpc>
              <a:buSzPct val="75000"/>
              <a:buFont typeface="Wingdings" panose="05000000000000000000" pitchFamily="2" charset="2"/>
              <a:buChar char="n"/>
            </a:pPr>
            <a:r>
              <a:rPr kumimoji="1" lang="zh-CN" altLang="en-US">
                <a:solidFill>
                  <a:srgbClr val="3333CC"/>
                </a:solidFill>
              </a:rPr>
              <a:t>段间返回</a:t>
            </a:r>
            <a:r>
              <a:rPr kumimoji="1" lang="en-US" altLang="zh-CN">
                <a:solidFill>
                  <a:srgbClr val="000000"/>
                </a:solidFill>
              </a:rPr>
              <a:t>——</a:t>
            </a:r>
            <a:r>
              <a:rPr kumimoji="1" lang="zh-CN" altLang="en-US">
                <a:solidFill>
                  <a:srgbClr val="000000"/>
                </a:solidFill>
              </a:rPr>
              <a:t>出栈偏移地址</a:t>
            </a:r>
            <a:r>
              <a:rPr kumimoji="1" lang="en-US" altLang="zh-CN">
                <a:solidFill>
                  <a:srgbClr val="000000"/>
                </a:solidFill>
              </a:rPr>
              <a:t>IP</a:t>
            </a:r>
            <a:r>
              <a:rPr kumimoji="1" lang="zh-CN" altLang="en-US">
                <a:solidFill>
                  <a:srgbClr val="000000"/>
                </a:solidFill>
              </a:rPr>
              <a:t>和段地址</a:t>
            </a:r>
            <a:r>
              <a:rPr kumimoji="1" lang="en-US" altLang="zh-CN">
                <a:solidFill>
                  <a:srgbClr val="000000"/>
                </a:solidFill>
              </a:rPr>
              <a:t>CS</a:t>
            </a:r>
          </a:p>
          <a:p>
            <a:pPr lvl="1">
              <a:lnSpc>
                <a:spcPct val="80000"/>
              </a:lnSpc>
              <a:buSzPct val="75000"/>
              <a:buFont typeface="Wingdings" panose="05000000000000000000" pitchFamily="2" charset="2"/>
              <a:buNone/>
            </a:pPr>
            <a:r>
              <a:rPr kumimoji="1" lang="en-US" altLang="zh-CN">
                <a:solidFill>
                  <a:srgbClr val="000000"/>
                </a:solidFill>
              </a:rPr>
              <a:t>IP←SS:[SP]</a:t>
            </a:r>
            <a:r>
              <a:rPr kumimoji="1" lang="zh-CN" altLang="en-US">
                <a:solidFill>
                  <a:srgbClr val="000000"/>
                </a:solidFill>
              </a:rPr>
              <a:t>，</a:t>
            </a:r>
            <a:r>
              <a:rPr kumimoji="1" lang="en-US" altLang="zh-CN">
                <a:solidFill>
                  <a:srgbClr val="000000"/>
                </a:solidFill>
              </a:rPr>
              <a:t>SP←SP</a:t>
            </a:r>
            <a:r>
              <a:rPr kumimoji="1" lang="zh-CN" altLang="en-US">
                <a:solidFill>
                  <a:srgbClr val="000000"/>
                </a:solidFill>
              </a:rPr>
              <a:t>＋</a:t>
            </a:r>
            <a:r>
              <a:rPr kumimoji="1" lang="en-US" altLang="zh-CN">
                <a:solidFill>
                  <a:srgbClr val="000000"/>
                </a:solidFill>
              </a:rPr>
              <a:t>2</a:t>
            </a:r>
          </a:p>
          <a:p>
            <a:pPr lvl="1">
              <a:lnSpc>
                <a:spcPct val="80000"/>
              </a:lnSpc>
              <a:buSzPct val="75000"/>
              <a:buFont typeface="Wingdings" panose="05000000000000000000" pitchFamily="2" charset="2"/>
              <a:buNone/>
            </a:pPr>
            <a:r>
              <a:rPr kumimoji="1" lang="en-US" altLang="zh-CN">
                <a:solidFill>
                  <a:srgbClr val="000000"/>
                </a:solidFill>
              </a:rPr>
              <a:t>CS←SS:[SP]</a:t>
            </a:r>
            <a:r>
              <a:rPr kumimoji="1" lang="zh-CN" altLang="en-US">
                <a:solidFill>
                  <a:srgbClr val="000000"/>
                </a:solidFill>
              </a:rPr>
              <a:t>，</a:t>
            </a:r>
            <a:r>
              <a:rPr kumimoji="1" lang="en-US" altLang="zh-CN">
                <a:solidFill>
                  <a:srgbClr val="000000"/>
                </a:solidFill>
              </a:rPr>
              <a:t>SP←SP</a:t>
            </a:r>
            <a:r>
              <a:rPr kumimoji="1" lang="zh-CN" altLang="en-US">
                <a:solidFill>
                  <a:srgbClr val="000000"/>
                </a:solidFill>
              </a:rPr>
              <a:t>＋</a:t>
            </a:r>
            <a:r>
              <a:rPr kumimoji="1" lang="en-US" altLang="zh-CN">
                <a:solidFill>
                  <a:srgbClr val="000000"/>
                </a:solidFill>
              </a:rPr>
              <a:t>2</a:t>
            </a:r>
            <a:endParaRPr lang="en-US" altLang="zh-CN"/>
          </a:p>
        </p:txBody>
      </p:sp>
    </p:spTree>
  </p:cSld>
  <p:clrMapOvr>
    <a:masterClrMapping/>
  </p:clrMapOvr>
  <p:transition>
    <p:random/>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CCA3676B-7D6D-5B9E-9DE3-021C3768F6A9}"/>
              </a:ext>
            </a:extLst>
          </p:cNvPr>
          <p:cNvSpPr>
            <a:spLocks noGrp="1" noChangeArrowheads="1"/>
          </p:cNvSpPr>
          <p:nvPr>
            <p:ph type="title"/>
          </p:nvPr>
        </p:nvSpPr>
        <p:spPr/>
        <p:txBody>
          <a:bodyPr/>
          <a:lstStyle/>
          <a:p>
            <a:r>
              <a:rPr lang="en-US" altLang="zh-CN" dirty="0"/>
              <a:t>5. </a:t>
            </a:r>
            <a:r>
              <a:rPr lang="zh-CN" altLang="en-US" dirty="0"/>
              <a:t>中断指令和系统功能调用</a:t>
            </a:r>
          </a:p>
        </p:txBody>
      </p:sp>
      <p:sp>
        <p:nvSpPr>
          <p:cNvPr id="22531" name="Rectangle 3">
            <a:extLst>
              <a:ext uri="{FF2B5EF4-FFF2-40B4-BE49-F238E27FC236}">
                <a16:creationId xmlns:a16="http://schemas.microsoft.com/office/drawing/2014/main" id="{A88935FD-432F-9A69-8588-1E572639A810}"/>
              </a:ext>
            </a:extLst>
          </p:cNvPr>
          <p:cNvSpPr>
            <a:spLocks noGrp="1" noChangeArrowheads="1"/>
          </p:cNvSpPr>
          <p:nvPr>
            <p:ph idx="1"/>
          </p:nvPr>
        </p:nvSpPr>
        <p:spPr/>
        <p:txBody>
          <a:bodyPr/>
          <a:lstStyle/>
          <a:p>
            <a:r>
              <a:rPr lang="zh-CN" altLang="en-US" dirty="0">
                <a:hlinkClick r:id="rId2" action="ppaction://hlinksldjump"/>
              </a:rPr>
              <a:t>中断</a:t>
            </a:r>
            <a:r>
              <a:rPr lang="zh-CN" altLang="en-US" dirty="0"/>
              <a:t>（</a:t>
            </a:r>
            <a:r>
              <a:rPr lang="en-US" altLang="zh-CN" dirty="0"/>
              <a:t>Interrupt</a:t>
            </a:r>
            <a:r>
              <a:rPr lang="zh-CN" altLang="en-US" dirty="0"/>
              <a:t>）是又一种改变程序执行顺序的方法</a:t>
            </a:r>
          </a:p>
          <a:p>
            <a:r>
              <a:rPr lang="en-US" altLang="zh-CN" dirty="0"/>
              <a:t>8088CPU</a:t>
            </a:r>
            <a:r>
              <a:rPr lang="zh-CN" altLang="en-US" dirty="0"/>
              <a:t>支持</a:t>
            </a:r>
            <a:r>
              <a:rPr lang="en-US" altLang="zh-CN" dirty="0"/>
              <a:t>256</a:t>
            </a:r>
            <a:r>
              <a:rPr lang="zh-CN" altLang="en-US" dirty="0"/>
              <a:t>个中断，每个中断用一个编号（中断向量号）区别</a:t>
            </a:r>
          </a:p>
          <a:p>
            <a:r>
              <a:rPr lang="zh-CN" altLang="en-US" dirty="0"/>
              <a:t>中断指令有</a:t>
            </a:r>
            <a:r>
              <a:rPr lang="en-US" altLang="zh-CN" dirty="0"/>
              <a:t>3</a:t>
            </a:r>
            <a:r>
              <a:rPr lang="zh-CN" altLang="en-US" dirty="0"/>
              <a:t>条：</a:t>
            </a:r>
          </a:p>
          <a:p>
            <a:pPr>
              <a:buFontTx/>
              <a:buNone/>
            </a:pPr>
            <a:r>
              <a:rPr lang="zh-CN" altLang="en-US" dirty="0"/>
              <a:t>	</a:t>
            </a:r>
            <a:r>
              <a:rPr lang="en-US" altLang="zh-CN" dirty="0"/>
              <a:t>INT i8        IRET        INTO</a:t>
            </a:r>
          </a:p>
          <a:p>
            <a:r>
              <a:rPr lang="zh-CN" altLang="en-US" dirty="0"/>
              <a:t>本节主要掌握类似子程序调用指令的中断调用指令</a:t>
            </a:r>
            <a:r>
              <a:rPr lang="en-US" altLang="zh-CN" dirty="0"/>
              <a:t>INT i8</a:t>
            </a:r>
            <a:r>
              <a:rPr lang="zh-CN" altLang="en-US" dirty="0"/>
              <a:t>，进而掌握系统功能调用</a:t>
            </a:r>
          </a:p>
        </p:txBody>
      </p:sp>
    </p:spTree>
  </p:cSld>
  <p:clrMapOvr>
    <a:masterClrMapping/>
  </p:clrMapOvr>
  <p:transition>
    <p:random/>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C9AAC28E-23AA-B585-48D8-7BA056902C5B}"/>
              </a:ext>
            </a:extLst>
          </p:cNvPr>
          <p:cNvSpPr>
            <a:spLocks noGrp="1" noChangeArrowheads="1"/>
          </p:cNvSpPr>
          <p:nvPr>
            <p:ph type="title"/>
          </p:nvPr>
        </p:nvSpPr>
        <p:spPr/>
        <p:txBody>
          <a:bodyPr/>
          <a:lstStyle/>
          <a:p>
            <a:r>
              <a:rPr lang="zh-CN" altLang="en-US" dirty="0"/>
              <a:t>中断指令</a:t>
            </a:r>
          </a:p>
        </p:txBody>
      </p:sp>
      <p:sp>
        <p:nvSpPr>
          <p:cNvPr id="23555" name="Rectangle 3">
            <a:extLst>
              <a:ext uri="{FF2B5EF4-FFF2-40B4-BE49-F238E27FC236}">
                <a16:creationId xmlns:a16="http://schemas.microsoft.com/office/drawing/2014/main" id="{66BD595C-9E92-6DA3-B807-1E2A668148FF}"/>
              </a:ext>
            </a:extLst>
          </p:cNvPr>
          <p:cNvSpPr>
            <a:spLocks noGrp="1" noChangeArrowheads="1"/>
          </p:cNvSpPr>
          <p:nvPr>
            <p:ph idx="1"/>
          </p:nvPr>
        </p:nvSpPr>
        <p:spPr/>
        <p:txBody>
          <a:bodyPr/>
          <a:lstStyle/>
          <a:p>
            <a:pPr>
              <a:buFontTx/>
              <a:buNone/>
            </a:pPr>
            <a:r>
              <a:rPr lang="en-US" altLang="zh-CN" sz="3600" dirty="0">
                <a:latin typeface="宋体" panose="02010600030101010101" pitchFamily="2" charset="-122"/>
              </a:rPr>
              <a:t>INT i8</a:t>
            </a:r>
          </a:p>
          <a:p>
            <a:pPr>
              <a:buFontTx/>
              <a:buNone/>
            </a:pPr>
            <a:r>
              <a:rPr lang="zh-CN" altLang="en-US" dirty="0">
                <a:latin typeface="宋体" panose="02010600030101010101" pitchFamily="2" charset="-122"/>
              </a:rPr>
              <a:t>；中断调用指令：产生</a:t>
            </a:r>
            <a:r>
              <a:rPr lang="en-US" altLang="zh-CN" dirty="0">
                <a:latin typeface="宋体" panose="02010600030101010101" pitchFamily="2" charset="-122"/>
              </a:rPr>
              <a:t>i8</a:t>
            </a:r>
            <a:r>
              <a:rPr lang="zh-CN" altLang="en-US" dirty="0">
                <a:latin typeface="宋体" panose="02010600030101010101" pitchFamily="2" charset="-122"/>
              </a:rPr>
              <a:t>号中断</a:t>
            </a:r>
          </a:p>
          <a:p>
            <a:pPr>
              <a:buFontTx/>
              <a:buNone/>
            </a:pPr>
            <a:r>
              <a:rPr lang="zh-CN" altLang="en-US" dirty="0">
                <a:latin typeface="宋体" panose="02010600030101010101" pitchFamily="2" charset="-122"/>
              </a:rPr>
              <a:t>；主程序使用，其中</a:t>
            </a:r>
            <a:r>
              <a:rPr lang="en-US" altLang="zh-CN" dirty="0">
                <a:latin typeface="宋体" panose="02010600030101010101" pitchFamily="2" charset="-122"/>
              </a:rPr>
              <a:t>i8</a:t>
            </a:r>
            <a:r>
              <a:rPr lang="zh-CN" altLang="en-US" dirty="0">
                <a:latin typeface="宋体" panose="02010600030101010101" pitchFamily="2" charset="-122"/>
              </a:rPr>
              <a:t>表示中断向量号</a:t>
            </a:r>
          </a:p>
          <a:p>
            <a:pPr>
              <a:spcBef>
                <a:spcPct val="50000"/>
              </a:spcBef>
              <a:buFontTx/>
              <a:buNone/>
            </a:pPr>
            <a:r>
              <a:rPr lang="en-US" altLang="zh-CN" sz="3600" dirty="0">
                <a:latin typeface="宋体" panose="02010600030101010101" pitchFamily="2" charset="-122"/>
              </a:rPr>
              <a:t>IRET</a:t>
            </a:r>
          </a:p>
          <a:p>
            <a:pPr>
              <a:buFontTx/>
              <a:buNone/>
            </a:pPr>
            <a:r>
              <a:rPr lang="zh-CN" altLang="en-US" dirty="0">
                <a:latin typeface="宋体" panose="02010600030101010101" pitchFamily="2" charset="-122"/>
              </a:rPr>
              <a:t>；中断返回指令：实现中断返回</a:t>
            </a:r>
          </a:p>
          <a:p>
            <a:pPr>
              <a:buFontTx/>
              <a:buNone/>
            </a:pPr>
            <a:r>
              <a:rPr lang="zh-CN" altLang="en-US" dirty="0">
                <a:latin typeface="宋体" panose="02010600030101010101" pitchFamily="2" charset="-122"/>
              </a:rPr>
              <a:t>；中断服务程序使用</a:t>
            </a:r>
            <a:endParaRPr lang="zh-CN" altLang="en-US" dirty="0"/>
          </a:p>
        </p:txBody>
      </p:sp>
    </p:spTree>
  </p:cSld>
  <p:clrMapOvr>
    <a:masterClrMapping/>
  </p:clrMapOvr>
  <p:transition>
    <p:random/>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E46D9FDA-1582-01D4-E57D-E9C9BCC9AFB0}"/>
              </a:ext>
            </a:extLst>
          </p:cNvPr>
          <p:cNvSpPr>
            <a:spLocks noGrp="1" noChangeArrowheads="1"/>
          </p:cNvSpPr>
          <p:nvPr>
            <p:ph type="title"/>
          </p:nvPr>
        </p:nvSpPr>
        <p:spPr/>
        <p:txBody>
          <a:bodyPr/>
          <a:lstStyle/>
          <a:p>
            <a:r>
              <a:rPr lang="zh-CN" altLang="en-US" dirty="0"/>
              <a:t>系统功能调用方法</a:t>
            </a:r>
          </a:p>
        </p:txBody>
      </p:sp>
      <p:sp>
        <p:nvSpPr>
          <p:cNvPr id="24579" name="Rectangle 3">
            <a:extLst>
              <a:ext uri="{FF2B5EF4-FFF2-40B4-BE49-F238E27FC236}">
                <a16:creationId xmlns:a16="http://schemas.microsoft.com/office/drawing/2014/main" id="{F2A37AA2-7019-2BA6-453D-E763EB9FB695}"/>
              </a:ext>
            </a:extLst>
          </p:cNvPr>
          <p:cNvSpPr>
            <a:spLocks noGrp="1" noChangeArrowheads="1"/>
          </p:cNvSpPr>
          <p:nvPr>
            <p:ph idx="1"/>
          </p:nvPr>
        </p:nvSpPr>
        <p:spPr>
          <a:xfrm>
            <a:off x="484188" y="1047750"/>
            <a:ext cx="3898900" cy="4375150"/>
          </a:xfrm>
        </p:spPr>
        <p:txBody>
          <a:bodyPr/>
          <a:lstStyle/>
          <a:p>
            <a:r>
              <a:rPr lang="zh-CN" altLang="en-US" sz="2800"/>
              <a:t>汇编程序提供给汇编语言程序员的功能非常有限</a:t>
            </a:r>
          </a:p>
          <a:p>
            <a:r>
              <a:rPr lang="zh-CN" altLang="en-US" sz="2800"/>
              <a:t>程序员需要利用</a:t>
            </a:r>
            <a:r>
              <a:rPr lang="en-US" altLang="zh-CN" sz="2800"/>
              <a:t>ROM-BIOS</a:t>
            </a:r>
            <a:r>
              <a:rPr lang="zh-CN" altLang="en-US" sz="2800"/>
              <a:t>和操作系统提供的资源</a:t>
            </a:r>
          </a:p>
          <a:p>
            <a:r>
              <a:rPr lang="zh-CN" altLang="en-US" sz="2800"/>
              <a:t>系统功能调用是程序设计的一个重要方面</a:t>
            </a:r>
          </a:p>
        </p:txBody>
      </p:sp>
      <p:grpSp>
        <p:nvGrpSpPr>
          <p:cNvPr id="24580" name="Group 4">
            <a:extLst>
              <a:ext uri="{FF2B5EF4-FFF2-40B4-BE49-F238E27FC236}">
                <a16:creationId xmlns:a16="http://schemas.microsoft.com/office/drawing/2014/main" id="{3AC2CA59-9271-7927-BC71-6C7896B3362B}"/>
              </a:ext>
            </a:extLst>
          </p:cNvPr>
          <p:cNvGrpSpPr>
            <a:grpSpLocks/>
          </p:cNvGrpSpPr>
          <p:nvPr/>
        </p:nvGrpSpPr>
        <p:grpSpPr bwMode="auto">
          <a:xfrm>
            <a:off x="4759325" y="2617788"/>
            <a:ext cx="4038600" cy="3276600"/>
            <a:chOff x="2880" y="1344"/>
            <a:chExt cx="2544" cy="2064"/>
          </a:xfrm>
        </p:grpSpPr>
        <p:sp>
          <p:nvSpPr>
            <p:cNvPr id="358405" name="Oval 5">
              <a:extLst>
                <a:ext uri="{FF2B5EF4-FFF2-40B4-BE49-F238E27FC236}">
                  <a16:creationId xmlns:a16="http://schemas.microsoft.com/office/drawing/2014/main" id="{25184B61-794D-06BA-7821-90AB74CCE3C4}"/>
                </a:ext>
              </a:extLst>
            </p:cNvPr>
            <p:cNvSpPr>
              <a:spLocks noChangeArrowheads="1"/>
            </p:cNvSpPr>
            <p:nvPr/>
          </p:nvSpPr>
          <p:spPr bwMode="auto">
            <a:xfrm>
              <a:off x="3648" y="1872"/>
              <a:ext cx="1776" cy="1536"/>
            </a:xfrm>
            <a:prstGeom prst="ellipse">
              <a:avLst/>
            </a:prstGeom>
            <a:solidFill>
              <a:schemeClr val="folHlink"/>
            </a:solidFill>
            <a:ln w="28575" cap="sq">
              <a:solidFill>
                <a:srgbClr val="7AA3DA"/>
              </a:solidFill>
              <a:round/>
              <a:headEnd type="none" w="sm" len="sm"/>
              <a:tailEnd type="none" w="sm" len="sm"/>
            </a:ln>
            <a:effectLst/>
          </p:spPr>
          <p:txBody>
            <a:bodyPr wrap="none" anchor="ctr"/>
            <a:lstStyle/>
            <a:p>
              <a:pPr eaLnBrk="1" hangingPunct="1">
                <a:defRPr/>
              </a:pPr>
              <a:endParaRPr lang="zh-CN" altLang="en-US">
                <a:effectLst>
                  <a:outerShdw blurRad="38100" dist="38100" dir="2700000" algn="tl">
                    <a:srgbClr val="000000">
                      <a:alpha val="43137"/>
                    </a:srgbClr>
                  </a:outerShdw>
                </a:effectLst>
              </a:endParaRPr>
            </a:p>
          </p:txBody>
        </p:sp>
        <p:sp>
          <p:nvSpPr>
            <p:cNvPr id="358406" name="Oval 6">
              <a:extLst>
                <a:ext uri="{FF2B5EF4-FFF2-40B4-BE49-F238E27FC236}">
                  <a16:creationId xmlns:a16="http://schemas.microsoft.com/office/drawing/2014/main" id="{49957ACF-5910-FF72-476B-3724C847114F}"/>
                </a:ext>
              </a:extLst>
            </p:cNvPr>
            <p:cNvSpPr>
              <a:spLocks noChangeArrowheads="1"/>
            </p:cNvSpPr>
            <p:nvPr/>
          </p:nvSpPr>
          <p:spPr bwMode="auto">
            <a:xfrm>
              <a:off x="3960" y="2340"/>
              <a:ext cx="1104" cy="912"/>
            </a:xfrm>
            <a:prstGeom prst="ellipse">
              <a:avLst/>
            </a:prstGeom>
            <a:solidFill>
              <a:srgbClr val="996600"/>
            </a:solidFill>
            <a:ln w="28575" cap="sq">
              <a:solidFill>
                <a:srgbClr val="7AA3DA"/>
              </a:solidFill>
              <a:round/>
              <a:headEnd type="none" w="sm" len="sm"/>
              <a:tailEnd type="none" w="sm" len="sm"/>
            </a:ln>
            <a:effectLst/>
          </p:spPr>
          <p:txBody>
            <a:bodyPr wrap="none" anchor="ctr"/>
            <a:lstStyle/>
            <a:p>
              <a:pPr eaLnBrk="1" hangingPunct="1">
                <a:defRPr/>
              </a:pPr>
              <a:endParaRPr lang="zh-CN" altLang="en-US">
                <a:effectLst>
                  <a:outerShdw blurRad="38100" dist="38100" dir="2700000" algn="tl">
                    <a:srgbClr val="000000">
                      <a:alpha val="43137"/>
                    </a:srgbClr>
                  </a:outerShdw>
                </a:effectLst>
              </a:endParaRPr>
            </a:p>
          </p:txBody>
        </p:sp>
        <p:sp>
          <p:nvSpPr>
            <p:cNvPr id="358407" name="Oval 7">
              <a:extLst>
                <a:ext uri="{FF2B5EF4-FFF2-40B4-BE49-F238E27FC236}">
                  <a16:creationId xmlns:a16="http://schemas.microsoft.com/office/drawing/2014/main" id="{BD4BCBAE-C6EA-E92F-8E5F-652E49AE3FB7}"/>
                </a:ext>
              </a:extLst>
            </p:cNvPr>
            <p:cNvSpPr>
              <a:spLocks noChangeArrowheads="1"/>
            </p:cNvSpPr>
            <p:nvPr/>
          </p:nvSpPr>
          <p:spPr bwMode="auto">
            <a:xfrm>
              <a:off x="4296" y="2736"/>
              <a:ext cx="432" cy="336"/>
            </a:xfrm>
            <a:prstGeom prst="ellipse">
              <a:avLst/>
            </a:prstGeom>
            <a:solidFill>
              <a:schemeClr val="accent1"/>
            </a:solidFill>
            <a:ln w="19050" cap="sq">
              <a:solidFill>
                <a:srgbClr val="7AA3DA"/>
              </a:solidFill>
              <a:round/>
              <a:headEnd type="none" w="sm" len="sm"/>
              <a:tailEnd type="none" w="sm" len="sm"/>
            </a:ln>
            <a:effectLst/>
          </p:spPr>
          <p:txBody>
            <a:bodyPr wrap="none" anchor="ctr"/>
            <a:lstStyle/>
            <a:p>
              <a:pPr eaLnBrk="1" hangingPunct="1">
                <a:defRPr/>
              </a:pPr>
              <a:endParaRPr lang="zh-CN" altLang="en-US">
                <a:effectLst>
                  <a:outerShdw blurRad="38100" dist="38100" dir="2700000" algn="tl">
                    <a:srgbClr val="000000">
                      <a:alpha val="43137"/>
                    </a:srgbClr>
                  </a:outerShdw>
                </a:effectLst>
              </a:endParaRPr>
            </a:p>
          </p:txBody>
        </p:sp>
        <p:sp>
          <p:nvSpPr>
            <p:cNvPr id="24584" name="Text Box 8">
              <a:extLst>
                <a:ext uri="{FF2B5EF4-FFF2-40B4-BE49-F238E27FC236}">
                  <a16:creationId xmlns:a16="http://schemas.microsoft.com/office/drawing/2014/main" id="{ABEED778-5CE2-0EB5-C6C8-0CCF4477EBFE}"/>
                </a:ext>
              </a:extLst>
            </p:cNvPr>
            <p:cNvSpPr txBox="1">
              <a:spLocks noChangeArrowheads="1"/>
            </p:cNvSpPr>
            <p:nvPr/>
          </p:nvSpPr>
          <p:spPr bwMode="auto">
            <a:xfrm>
              <a:off x="4200" y="2784"/>
              <a:ext cx="62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b="1">
                  <a:latin typeface="Times New Roman" panose="02020603050405020304" pitchFamily="18" charset="0"/>
                </a:rPr>
                <a:t>裸机</a:t>
              </a:r>
              <a:endParaRPr kumimoji="1" lang="zh-CN" altLang="en-US" sz="2400" b="1">
                <a:latin typeface="Times New Roman" panose="02020603050405020304" pitchFamily="18" charset="0"/>
              </a:endParaRPr>
            </a:p>
          </p:txBody>
        </p:sp>
        <p:sp>
          <p:nvSpPr>
            <p:cNvPr id="24585" name="WordArt 9">
              <a:extLst>
                <a:ext uri="{FF2B5EF4-FFF2-40B4-BE49-F238E27FC236}">
                  <a16:creationId xmlns:a16="http://schemas.microsoft.com/office/drawing/2014/main" id="{630A17D2-9BAA-29EB-A515-B3FA6F030F21}"/>
                </a:ext>
              </a:extLst>
            </p:cNvPr>
            <p:cNvSpPr>
              <a:spLocks noChangeArrowheads="1" noChangeShapeType="1" noTextEdit="1"/>
            </p:cNvSpPr>
            <p:nvPr/>
          </p:nvSpPr>
          <p:spPr bwMode="auto">
            <a:xfrm>
              <a:off x="4224" y="2532"/>
              <a:ext cx="577" cy="384"/>
            </a:xfrm>
            <a:prstGeom prst="rect">
              <a:avLst/>
            </a:prstGeom>
          </p:spPr>
          <p:txBody>
            <a:bodyPr spcFirstLastPara="1" wrap="none" fromWordArt="1">
              <a:prstTxWarp prst="textArchUp">
                <a:avLst>
                  <a:gd name="adj" fmla="val 10800000"/>
                </a:avLst>
              </a:prstTxWarp>
            </a:bodyPr>
            <a:lstStyle/>
            <a:p>
              <a:pPr algn="ctr"/>
              <a:r>
                <a:rPr lang="en-US" altLang="zh-CN" sz="2400" kern="10">
                  <a:ln w="9525" cap="sq">
                    <a:solidFill>
                      <a:srgbClr val="0000FF"/>
                    </a:solidFill>
                    <a:round/>
                    <a:headEnd type="none" w="sm" len="sm"/>
                    <a:tailEnd type="none" w="sm" len="sm"/>
                  </a:ln>
                  <a:solidFill>
                    <a:srgbClr val="0000FF"/>
                  </a:solidFill>
                  <a:latin typeface="宋体" panose="02010600030101010101" pitchFamily="2" charset="-122"/>
                </a:rPr>
                <a:t>ROM-BIOS</a:t>
              </a:r>
              <a:endParaRPr lang="zh-CN" altLang="en-US" sz="2400" kern="10">
                <a:ln w="9525" cap="sq">
                  <a:solidFill>
                    <a:srgbClr val="0000FF"/>
                  </a:solidFill>
                  <a:round/>
                  <a:headEnd type="none" w="sm" len="sm"/>
                  <a:tailEnd type="none" w="sm" len="sm"/>
                </a:ln>
                <a:solidFill>
                  <a:srgbClr val="0000FF"/>
                </a:solidFill>
                <a:latin typeface="宋体" panose="02010600030101010101" pitchFamily="2" charset="-122"/>
              </a:endParaRPr>
            </a:p>
          </p:txBody>
        </p:sp>
        <p:sp>
          <p:nvSpPr>
            <p:cNvPr id="358410" name="WordArt 10">
              <a:extLst>
                <a:ext uri="{FF2B5EF4-FFF2-40B4-BE49-F238E27FC236}">
                  <a16:creationId xmlns:a16="http://schemas.microsoft.com/office/drawing/2014/main" id="{62421C53-96A8-6D07-B633-2D950CBB561D}"/>
                </a:ext>
              </a:extLst>
            </p:cNvPr>
            <p:cNvSpPr>
              <a:spLocks noChangeArrowheads="1" noChangeShapeType="1" noTextEdit="1"/>
            </p:cNvSpPr>
            <p:nvPr/>
          </p:nvSpPr>
          <p:spPr bwMode="auto">
            <a:xfrm>
              <a:off x="4008" y="2064"/>
              <a:ext cx="1008" cy="528"/>
            </a:xfrm>
            <a:prstGeom prst="rect">
              <a:avLst/>
            </a:prstGeom>
          </p:spPr>
          <p:txBody>
            <a:bodyPr spcFirstLastPara="1" wrap="none" fromWordArt="1">
              <a:prstTxWarp prst="textArchUp">
                <a:avLst>
                  <a:gd name="adj" fmla="val 11109055"/>
                </a:avLst>
              </a:prstTxWarp>
            </a:bodyPr>
            <a:lstStyle/>
            <a:p>
              <a:pPr algn="ctr" eaLnBrk="1" hangingPunct="1">
                <a:defRPr/>
              </a:pPr>
              <a:r>
                <a:rPr lang="en-US" altLang="zh-CN" sz="2800" kern="10">
                  <a:ln w="9525" cap="sq">
                    <a:solidFill>
                      <a:srgbClr val="993300"/>
                    </a:solidFill>
                    <a:round/>
                    <a:headEnd type="none" w="sm" len="sm"/>
                    <a:tailEnd type="none" w="sm" len="sm"/>
                  </a:ln>
                  <a:solidFill>
                    <a:srgbClr val="993300"/>
                  </a:solidFill>
                  <a:latin typeface="宋体" panose="02010600030101010101" pitchFamily="2" charset="-122"/>
                </a:rPr>
                <a:t>DOS</a:t>
              </a:r>
              <a:r>
                <a:rPr lang="zh-CN" altLang="en-US" sz="2800" kern="10">
                  <a:ln w="9525" cap="sq">
                    <a:solidFill>
                      <a:srgbClr val="993300"/>
                    </a:solidFill>
                    <a:round/>
                    <a:headEnd type="none" w="sm" len="sm"/>
                    <a:tailEnd type="none" w="sm" len="sm"/>
                  </a:ln>
                  <a:solidFill>
                    <a:srgbClr val="993300"/>
                  </a:solidFill>
                  <a:latin typeface="宋体" panose="02010600030101010101" pitchFamily="2" charset="-122"/>
                </a:rPr>
                <a:t>功能调用</a:t>
              </a:r>
            </a:p>
          </p:txBody>
        </p:sp>
        <p:sp>
          <p:nvSpPr>
            <p:cNvPr id="24587" name="Text Box 11">
              <a:extLst>
                <a:ext uri="{FF2B5EF4-FFF2-40B4-BE49-F238E27FC236}">
                  <a16:creationId xmlns:a16="http://schemas.microsoft.com/office/drawing/2014/main" id="{98417932-477B-4639-0662-C0B83B71FA05}"/>
                </a:ext>
              </a:extLst>
            </p:cNvPr>
            <p:cNvSpPr txBox="1">
              <a:spLocks noChangeArrowheads="1"/>
            </p:cNvSpPr>
            <p:nvPr/>
          </p:nvSpPr>
          <p:spPr bwMode="auto">
            <a:xfrm>
              <a:off x="2880" y="1344"/>
              <a:ext cx="1344" cy="306"/>
            </a:xfrm>
            <a:prstGeom prst="rect">
              <a:avLst/>
            </a:prstGeom>
            <a:noFill/>
            <a:ln w="28575" cap="sq">
              <a:solidFill>
                <a:srgbClr val="0000CC"/>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a:latin typeface="Times New Roman" panose="02020603050405020304" pitchFamily="18" charset="0"/>
                  <a:ea typeface="黑体" panose="02010609060101010101" pitchFamily="49" charset="-122"/>
                </a:rPr>
                <a:t>汇编语言程序</a:t>
              </a:r>
              <a:endParaRPr kumimoji="1" lang="zh-CN" altLang="en-US" sz="2400">
                <a:latin typeface="Times New Roman" panose="02020603050405020304" pitchFamily="18" charset="0"/>
              </a:endParaRPr>
            </a:p>
          </p:txBody>
        </p:sp>
        <p:sp>
          <p:nvSpPr>
            <p:cNvPr id="358412" name="Line 12">
              <a:extLst>
                <a:ext uri="{FF2B5EF4-FFF2-40B4-BE49-F238E27FC236}">
                  <a16:creationId xmlns:a16="http://schemas.microsoft.com/office/drawing/2014/main" id="{C875DF4B-63E8-F8A8-9765-F7562039621C}"/>
                </a:ext>
              </a:extLst>
            </p:cNvPr>
            <p:cNvSpPr>
              <a:spLocks noChangeShapeType="1"/>
            </p:cNvSpPr>
            <p:nvPr/>
          </p:nvSpPr>
          <p:spPr bwMode="auto">
            <a:xfrm>
              <a:off x="3648" y="1680"/>
              <a:ext cx="672" cy="288"/>
            </a:xfrm>
            <a:prstGeom prst="line">
              <a:avLst/>
            </a:prstGeom>
            <a:noFill/>
            <a:ln w="19050" cap="sq">
              <a:solidFill>
                <a:srgbClr val="0000CC"/>
              </a:solidFill>
              <a:round/>
              <a:headEnd type="none" w="sm" len="sm"/>
              <a:tailEnd type="triangle" w="med" len="med"/>
            </a:ln>
            <a:effectLst/>
          </p:spPr>
          <p:txBody>
            <a:bodyPr wrap="none" anchor="ctr"/>
            <a:lstStyle/>
            <a:p>
              <a:pPr eaLnBrk="1" hangingPunct="1">
                <a:defRPr/>
              </a:pPr>
              <a:endParaRPr lang="zh-CN" altLang="en-US">
                <a:effectLst>
                  <a:outerShdw blurRad="38100" dist="38100" dir="2700000" algn="tl">
                    <a:srgbClr val="000000">
                      <a:alpha val="43137"/>
                    </a:srgbClr>
                  </a:outerShdw>
                </a:effectLst>
              </a:endParaRPr>
            </a:p>
          </p:txBody>
        </p:sp>
        <p:sp>
          <p:nvSpPr>
            <p:cNvPr id="358413" name="Line 13">
              <a:extLst>
                <a:ext uri="{FF2B5EF4-FFF2-40B4-BE49-F238E27FC236}">
                  <a16:creationId xmlns:a16="http://schemas.microsoft.com/office/drawing/2014/main" id="{F98BD358-BC12-1E4E-347F-661D84BE21F9}"/>
                </a:ext>
              </a:extLst>
            </p:cNvPr>
            <p:cNvSpPr>
              <a:spLocks noChangeShapeType="1"/>
            </p:cNvSpPr>
            <p:nvPr/>
          </p:nvSpPr>
          <p:spPr bwMode="auto">
            <a:xfrm>
              <a:off x="3600" y="1680"/>
              <a:ext cx="528" cy="912"/>
            </a:xfrm>
            <a:prstGeom prst="line">
              <a:avLst/>
            </a:prstGeom>
            <a:noFill/>
            <a:ln w="19050" cap="sq">
              <a:solidFill>
                <a:srgbClr val="0000CC"/>
              </a:solidFill>
              <a:round/>
              <a:headEnd type="none" w="sm" len="sm"/>
              <a:tailEnd type="triangle" w="med" len="med"/>
            </a:ln>
            <a:effectLst/>
          </p:spPr>
          <p:txBody>
            <a:bodyPr wrap="none" anchor="ctr"/>
            <a:lstStyle/>
            <a:p>
              <a:pPr eaLnBrk="1" hangingPunct="1">
                <a:defRPr/>
              </a:pPr>
              <a:endParaRPr lang="zh-CN" altLang="en-US">
                <a:effectLst>
                  <a:outerShdw blurRad="38100" dist="38100" dir="2700000" algn="tl">
                    <a:srgbClr val="000000">
                      <a:alpha val="43137"/>
                    </a:srgbClr>
                  </a:outerShdw>
                </a:effectLst>
              </a:endParaRPr>
            </a:p>
          </p:txBody>
        </p:sp>
      </p:grpSp>
    </p:spTree>
  </p:cSld>
  <p:clrMapOvr>
    <a:masterClrMapping/>
  </p:clrMapOvr>
  <p:transition>
    <p:random/>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31777244-C623-9A8B-AB31-6777FE87C85B}"/>
              </a:ext>
            </a:extLst>
          </p:cNvPr>
          <p:cNvSpPr>
            <a:spLocks noGrp="1" noChangeArrowheads="1"/>
          </p:cNvSpPr>
          <p:nvPr>
            <p:ph type="title"/>
          </p:nvPr>
        </p:nvSpPr>
        <p:spPr/>
        <p:txBody>
          <a:bodyPr/>
          <a:lstStyle/>
          <a:p>
            <a:r>
              <a:rPr lang="zh-CN" altLang="en-US"/>
              <a:t>系统功能调用步骤</a:t>
            </a:r>
          </a:p>
        </p:txBody>
      </p:sp>
      <p:sp>
        <p:nvSpPr>
          <p:cNvPr id="25603" name="Rectangle 3">
            <a:extLst>
              <a:ext uri="{FF2B5EF4-FFF2-40B4-BE49-F238E27FC236}">
                <a16:creationId xmlns:a16="http://schemas.microsoft.com/office/drawing/2014/main" id="{0287B4AC-5FB6-A6FA-A095-6A686058A4BE}"/>
              </a:ext>
            </a:extLst>
          </p:cNvPr>
          <p:cNvSpPr>
            <a:spLocks noGrp="1" noChangeArrowheads="1"/>
          </p:cNvSpPr>
          <p:nvPr>
            <p:ph idx="1"/>
          </p:nvPr>
        </p:nvSpPr>
        <p:spPr>
          <a:xfrm>
            <a:off x="484188" y="1047750"/>
            <a:ext cx="8177212" cy="4375150"/>
          </a:xfrm>
        </p:spPr>
        <p:txBody>
          <a:bodyPr/>
          <a:lstStyle/>
          <a:p>
            <a:r>
              <a:rPr lang="zh-CN" altLang="en-US" dirty="0"/>
              <a:t>通常按照如下</a:t>
            </a:r>
            <a:r>
              <a:rPr lang="en-US" altLang="zh-CN" dirty="0"/>
              <a:t>4</a:t>
            </a:r>
            <a:r>
              <a:rPr lang="zh-CN" altLang="en-US" dirty="0"/>
              <a:t>个步骤进行：</a:t>
            </a:r>
          </a:p>
          <a:p>
            <a:pPr>
              <a:spcBef>
                <a:spcPct val="50000"/>
              </a:spcBef>
              <a:buFontTx/>
              <a:buNone/>
            </a:pPr>
            <a:r>
              <a:rPr lang="zh-CN" altLang="en-US" sz="2800" dirty="0"/>
              <a:t>	⑴ 在</a:t>
            </a:r>
            <a:r>
              <a:rPr lang="en-US" altLang="zh-CN" sz="2800" dirty="0"/>
              <a:t>AH</a:t>
            </a:r>
            <a:r>
              <a:rPr lang="zh-CN" altLang="en-US" sz="2800" dirty="0"/>
              <a:t>寄存器中设置系统功能调用号</a:t>
            </a:r>
          </a:p>
          <a:p>
            <a:pPr>
              <a:buFontTx/>
              <a:buNone/>
            </a:pPr>
            <a:r>
              <a:rPr lang="zh-CN" altLang="en-US" sz="2800" dirty="0"/>
              <a:t>	⑵ 在指定寄存器中设置入口参数</a:t>
            </a:r>
          </a:p>
          <a:p>
            <a:pPr>
              <a:buFontTx/>
              <a:buNone/>
            </a:pPr>
            <a:r>
              <a:rPr lang="zh-CN" altLang="en-US" sz="2800" dirty="0"/>
              <a:t>	⑶ 用中断调用指令（ </a:t>
            </a:r>
            <a:r>
              <a:rPr lang="en-US" altLang="zh-CN" sz="2800" dirty="0"/>
              <a:t>INT i8</a:t>
            </a:r>
            <a:r>
              <a:rPr lang="zh-CN" altLang="en-US" sz="2800" dirty="0"/>
              <a:t>）执行功能调用</a:t>
            </a:r>
          </a:p>
          <a:p>
            <a:pPr>
              <a:buFontTx/>
              <a:buNone/>
            </a:pPr>
            <a:r>
              <a:rPr lang="zh-CN" altLang="en-US" sz="2800" dirty="0"/>
              <a:t>	⑷</a:t>
            </a:r>
            <a:r>
              <a:rPr lang="zh-CN" altLang="en-US" sz="2800" dirty="0">
                <a:solidFill>
                  <a:srgbClr val="CC0099"/>
                </a:solidFill>
              </a:rPr>
              <a:t> </a:t>
            </a:r>
            <a:r>
              <a:rPr lang="zh-CN" altLang="en-US" sz="2800" dirty="0"/>
              <a:t>根据出口参数分析功能调用执行情况</a:t>
            </a:r>
          </a:p>
        </p:txBody>
      </p:sp>
    </p:spTree>
  </p:cSld>
  <p:clrMapOvr>
    <a:masterClrMapping/>
  </p:clrMapOvr>
  <p:transition>
    <p:random/>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19208A66-E77D-4584-FBC9-4CAB2D6200D8}"/>
              </a:ext>
            </a:extLst>
          </p:cNvPr>
          <p:cNvSpPr>
            <a:spLocks noGrp="1" noChangeArrowheads="1"/>
          </p:cNvSpPr>
          <p:nvPr>
            <p:ph type="title"/>
          </p:nvPr>
        </p:nvSpPr>
        <p:spPr/>
        <p:txBody>
          <a:bodyPr/>
          <a:lstStyle/>
          <a:p>
            <a:r>
              <a:rPr lang="en-US" altLang="zh-CN" dirty="0"/>
              <a:t>DOS</a:t>
            </a:r>
            <a:r>
              <a:rPr lang="zh-CN" altLang="en-US" dirty="0"/>
              <a:t>输入输出功能调用</a:t>
            </a:r>
          </a:p>
        </p:txBody>
      </p:sp>
      <p:sp>
        <p:nvSpPr>
          <p:cNvPr id="26627" name="Rectangle 3">
            <a:extLst>
              <a:ext uri="{FF2B5EF4-FFF2-40B4-BE49-F238E27FC236}">
                <a16:creationId xmlns:a16="http://schemas.microsoft.com/office/drawing/2014/main" id="{0C23B54E-9F33-7384-1DC1-1CC86324472D}"/>
              </a:ext>
            </a:extLst>
          </p:cNvPr>
          <p:cNvSpPr>
            <a:spLocks noGrp="1" noChangeArrowheads="1"/>
          </p:cNvSpPr>
          <p:nvPr>
            <p:ph idx="1"/>
          </p:nvPr>
        </p:nvSpPr>
        <p:spPr/>
        <p:txBody>
          <a:bodyPr/>
          <a:lstStyle/>
          <a:p>
            <a:r>
              <a:rPr lang="en-US" altLang="zh-CN" dirty="0"/>
              <a:t>DOS</a:t>
            </a:r>
            <a:r>
              <a:rPr lang="zh-CN" altLang="en-US" dirty="0"/>
              <a:t>利用</a:t>
            </a:r>
            <a:r>
              <a:rPr lang="zh-CN" altLang="zh-CN" dirty="0"/>
              <a:t>21</a:t>
            </a:r>
            <a:r>
              <a:rPr lang="en-US" altLang="zh-CN" dirty="0"/>
              <a:t>H</a:t>
            </a:r>
            <a:r>
              <a:rPr lang="zh-CN" altLang="en-US" dirty="0"/>
              <a:t>号中断提供给用户近百个系统功能，主要包括设备管理、目录管理和文件管理三个方面的功能</a:t>
            </a:r>
          </a:p>
          <a:p>
            <a:r>
              <a:rPr lang="zh-CN" altLang="en-US" dirty="0"/>
              <a:t>重点掌握：</a:t>
            </a:r>
          </a:p>
          <a:p>
            <a:pPr lvl="1"/>
            <a:r>
              <a:rPr lang="zh-CN" altLang="en-US" dirty="0"/>
              <a:t>输出一个字符，</a:t>
            </a:r>
            <a:r>
              <a:rPr lang="en-US" altLang="zh-CN" dirty="0"/>
              <a:t>02H</a:t>
            </a:r>
            <a:r>
              <a:rPr lang="zh-CN" altLang="en-US" dirty="0"/>
              <a:t>号功能调用</a:t>
            </a:r>
          </a:p>
          <a:p>
            <a:pPr lvl="1"/>
            <a:r>
              <a:rPr lang="zh-CN" altLang="en-US" dirty="0"/>
              <a:t>输出一个字符串，</a:t>
            </a:r>
            <a:r>
              <a:rPr lang="en-US" altLang="zh-CN" dirty="0"/>
              <a:t>09H</a:t>
            </a:r>
            <a:r>
              <a:rPr lang="zh-CN" altLang="en-US" dirty="0"/>
              <a:t>号功能调用</a:t>
            </a:r>
            <a:endParaRPr lang="en-US" altLang="zh-CN" dirty="0"/>
          </a:p>
          <a:p>
            <a:pPr lvl="1"/>
            <a:r>
              <a:rPr lang="zh-CN" altLang="en-US" dirty="0"/>
              <a:t>程序结束，</a:t>
            </a:r>
            <a:r>
              <a:rPr lang="en-US" altLang="zh-CN" dirty="0"/>
              <a:t>4CH</a:t>
            </a:r>
            <a:r>
              <a:rPr lang="zh-CN" altLang="en-US" dirty="0"/>
              <a:t>号功能调用</a:t>
            </a:r>
          </a:p>
        </p:txBody>
      </p:sp>
    </p:spTree>
  </p:cSld>
  <p:clrMapOvr>
    <a:masterClrMapping/>
  </p:clrMapOvr>
  <p:transition>
    <p:random/>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2DA201B9-6763-C783-52E7-46B6B718C71F}"/>
              </a:ext>
            </a:extLst>
          </p:cNvPr>
          <p:cNvSpPr>
            <a:spLocks noGrp="1" noChangeArrowheads="1"/>
          </p:cNvSpPr>
          <p:nvPr>
            <p:ph type="title"/>
          </p:nvPr>
        </p:nvSpPr>
        <p:spPr/>
        <p:txBody>
          <a:bodyPr/>
          <a:lstStyle/>
          <a:p>
            <a:r>
              <a:rPr lang="en-US" altLang="zh-CN" dirty="0"/>
              <a:t>02H</a:t>
            </a:r>
            <a:r>
              <a:rPr lang="zh-CN" altLang="en-US" dirty="0"/>
              <a:t>号</a:t>
            </a:r>
            <a:r>
              <a:rPr lang="en-US" altLang="zh-CN" dirty="0"/>
              <a:t>DOS</a:t>
            </a:r>
            <a:r>
              <a:rPr lang="zh-CN" altLang="en-US" dirty="0"/>
              <a:t>功能调用</a:t>
            </a:r>
          </a:p>
        </p:txBody>
      </p:sp>
      <p:sp>
        <p:nvSpPr>
          <p:cNvPr id="27651" name="Rectangle 3">
            <a:extLst>
              <a:ext uri="{FF2B5EF4-FFF2-40B4-BE49-F238E27FC236}">
                <a16:creationId xmlns:a16="http://schemas.microsoft.com/office/drawing/2014/main" id="{10DA674A-E69A-8315-593C-604D57A1D7FD}"/>
              </a:ext>
            </a:extLst>
          </p:cNvPr>
          <p:cNvSpPr>
            <a:spLocks noGrp="1" noChangeArrowheads="1"/>
          </p:cNvSpPr>
          <p:nvPr>
            <p:ph idx="1"/>
          </p:nvPr>
        </p:nvSpPr>
        <p:spPr/>
        <p:txBody>
          <a:bodyPr/>
          <a:lstStyle/>
          <a:p>
            <a:r>
              <a:rPr lang="zh-CN" altLang="en-US" dirty="0"/>
              <a:t>输出一个字符</a:t>
            </a:r>
          </a:p>
          <a:p>
            <a:pPr>
              <a:buFontTx/>
              <a:buNone/>
            </a:pPr>
            <a:r>
              <a:rPr lang="zh-CN" altLang="en-US" sz="2800" dirty="0"/>
              <a:t>⑴ 功能调用号：</a:t>
            </a:r>
            <a:r>
              <a:rPr lang="en-US" altLang="zh-CN" sz="2800" dirty="0"/>
              <a:t>AH</a:t>
            </a:r>
            <a:r>
              <a:rPr lang="zh-CN" altLang="en-US" sz="2800" dirty="0"/>
              <a:t>＝</a:t>
            </a:r>
            <a:r>
              <a:rPr lang="en-US" altLang="zh-CN" sz="2800" dirty="0"/>
              <a:t>02H</a:t>
            </a:r>
          </a:p>
          <a:p>
            <a:pPr>
              <a:buFontTx/>
              <a:buNone/>
            </a:pPr>
            <a:r>
              <a:rPr lang="en-US" altLang="zh-CN" sz="2800" dirty="0"/>
              <a:t>⑵</a:t>
            </a:r>
            <a:r>
              <a:rPr lang="en-US" altLang="zh-CN" sz="2800" dirty="0">
                <a:solidFill>
                  <a:srgbClr val="CC0099"/>
                </a:solidFill>
              </a:rPr>
              <a:t> </a:t>
            </a:r>
            <a:r>
              <a:rPr lang="zh-CN" altLang="en-US" sz="2800" dirty="0"/>
              <a:t>入口参数：</a:t>
            </a:r>
            <a:r>
              <a:rPr lang="en-US" altLang="zh-CN" sz="2800" dirty="0"/>
              <a:t>DL</a:t>
            </a:r>
            <a:r>
              <a:rPr lang="zh-CN" altLang="en-US" sz="2800" dirty="0"/>
              <a:t>＝欲显示字符的</a:t>
            </a:r>
            <a:r>
              <a:rPr lang="en-US" altLang="zh-CN" sz="2800" dirty="0"/>
              <a:t>ASCII</a:t>
            </a:r>
            <a:r>
              <a:rPr lang="zh-CN" altLang="en-US" sz="2800" dirty="0"/>
              <a:t>码</a:t>
            </a:r>
          </a:p>
          <a:p>
            <a:pPr>
              <a:buFontTx/>
              <a:buNone/>
            </a:pPr>
            <a:r>
              <a:rPr lang="zh-CN" altLang="en-US" sz="2800" dirty="0"/>
              <a:t>⑶ 功能调用：</a:t>
            </a:r>
            <a:r>
              <a:rPr lang="en-US" altLang="zh-CN" sz="2800" dirty="0"/>
              <a:t>INT 21H</a:t>
            </a:r>
          </a:p>
          <a:p>
            <a:pPr>
              <a:buFontTx/>
              <a:buNone/>
            </a:pPr>
            <a:r>
              <a:rPr lang="en-US" altLang="zh-CN" sz="2800" dirty="0"/>
              <a:t>⑷ </a:t>
            </a:r>
            <a:r>
              <a:rPr lang="zh-CN" altLang="en-US" sz="2800" dirty="0"/>
              <a:t>出口参数：无</a:t>
            </a:r>
          </a:p>
        </p:txBody>
      </p:sp>
      <p:sp>
        <p:nvSpPr>
          <p:cNvPr id="365572" name="Rectangle 4">
            <a:extLst>
              <a:ext uri="{FF2B5EF4-FFF2-40B4-BE49-F238E27FC236}">
                <a16:creationId xmlns:a16="http://schemas.microsoft.com/office/drawing/2014/main" id="{D4114F73-F209-0CA1-34C4-516A82633D70}"/>
              </a:ext>
            </a:extLst>
          </p:cNvPr>
          <p:cNvSpPr>
            <a:spLocks noChangeArrowheads="1"/>
          </p:cNvSpPr>
          <p:nvPr/>
        </p:nvSpPr>
        <p:spPr bwMode="auto">
          <a:xfrm>
            <a:off x="2974975" y="3924300"/>
            <a:ext cx="5375275" cy="18303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indent="184150">
              <a:tabLst>
                <a:tab pos="2509838" algn="l"/>
              </a:tabLst>
              <a:defRPr sz="2000">
                <a:solidFill>
                  <a:schemeClr val="tx1"/>
                </a:solidFill>
                <a:latin typeface="Arial" panose="020B0604020202020204" pitchFamily="34" charset="0"/>
                <a:ea typeface="宋体" panose="02010600030101010101" pitchFamily="2" charset="-122"/>
              </a:defRPr>
            </a:lvl1pPr>
            <a:lvl2pPr marL="742950" indent="-285750">
              <a:tabLst>
                <a:tab pos="2509838" algn="l"/>
              </a:tabLst>
              <a:defRPr sz="2000">
                <a:solidFill>
                  <a:schemeClr val="tx1"/>
                </a:solidFill>
                <a:latin typeface="Arial" panose="020B0604020202020204" pitchFamily="34" charset="0"/>
                <a:ea typeface="宋体" panose="02010600030101010101" pitchFamily="2" charset="-122"/>
              </a:defRPr>
            </a:lvl2pPr>
            <a:lvl3pPr marL="1143000" indent="-228600">
              <a:tabLst>
                <a:tab pos="2509838" algn="l"/>
              </a:tabLst>
              <a:defRPr sz="2000">
                <a:solidFill>
                  <a:schemeClr val="tx1"/>
                </a:solidFill>
                <a:latin typeface="Arial" panose="020B0604020202020204" pitchFamily="34" charset="0"/>
                <a:ea typeface="宋体" panose="02010600030101010101" pitchFamily="2" charset="-122"/>
              </a:defRPr>
            </a:lvl3pPr>
            <a:lvl4pPr marL="1600200" indent="-228600">
              <a:tabLst>
                <a:tab pos="2509838" algn="l"/>
              </a:tabLst>
              <a:defRPr sz="2000">
                <a:solidFill>
                  <a:schemeClr val="tx1"/>
                </a:solidFill>
                <a:latin typeface="Arial" panose="020B0604020202020204" pitchFamily="34" charset="0"/>
                <a:ea typeface="宋体" panose="02010600030101010101" pitchFamily="2" charset="-122"/>
              </a:defRPr>
            </a:lvl4pPr>
            <a:lvl5pPr marL="2057400" indent="-228600">
              <a:tabLst>
                <a:tab pos="2509838" algn="l"/>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2509838" algn="l"/>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2509838" algn="l"/>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2509838" algn="l"/>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2509838" algn="l"/>
              </a:tabLst>
              <a:defRPr sz="2000">
                <a:solidFill>
                  <a:schemeClr val="tx1"/>
                </a:solidFill>
                <a:latin typeface="Arial" panose="020B0604020202020204" pitchFamily="34" charset="0"/>
                <a:ea typeface="宋体" panose="02010600030101010101" pitchFamily="2" charset="-122"/>
              </a:defRPr>
            </a:lvl9pPr>
          </a:lstStyle>
          <a:p>
            <a:pPr algn="just" eaLnBrk="1" hangingPunct="1"/>
            <a:r>
              <a:rPr kumimoji="1" lang="zh-CN" altLang="en-US" sz="2400" b="1" dirty="0"/>
              <a:t>；显示一个问号</a:t>
            </a:r>
            <a:r>
              <a:rPr kumimoji="1" lang="zh-CN" altLang="en-US" sz="2400" b="1" dirty="0">
                <a:latin typeface="Times New Roman" panose="02020603050405020304" pitchFamily="18" charset="0"/>
              </a:rPr>
              <a:t>“</a:t>
            </a:r>
            <a:r>
              <a:rPr kumimoji="1" lang="zh-CN" altLang="en-US" sz="2400" b="1" dirty="0"/>
              <a:t> ？</a:t>
            </a:r>
            <a:r>
              <a:rPr kumimoji="1" lang="zh-CN" altLang="en-US" sz="2400" b="1" dirty="0">
                <a:latin typeface="Times New Roman" panose="02020603050405020304" pitchFamily="18" charset="0"/>
              </a:rPr>
              <a:t>”</a:t>
            </a:r>
            <a:endParaRPr kumimoji="1" lang="zh-CN" altLang="en-US" sz="2400" b="1" dirty="0"/>
          </a:p>
          <a:p>
            <a:pPr algn="just" eaLnBrk="1" hangingPunct="1"/>
            <a:r>
              <a:rPr kumimoji="1" lang="en-US" altLang="zh-CN" sz="2800" b="1" dirty="0">
                <a:solidFill>
                  <a:schemeClr val="accent2"/>
                </a:solidFill>
              </a:rPr>
              <a:t>mov ah,02h</a:t>
            </a:r>
            <a:r>
              <a:rPr kumimoji="1" lang="en-US" altLang="zh-CN" sz="2400" b="1" dirty="0">
                <a:solidFill>
                  <a:srgbClr val="339933"/>
                </a:solidFill>
              </a:rPr>
              <a:t>	</a:t>
            </a:r>
            <a:r>
              <a:rPr kumimoji="1" lang="zh-CN" altLang="en-US" sz="2400" b="1" dirty="0">
                <a:solidFill>
                  <a:srgbClr val="006600"/>
                </a:solidFill>
              </a:rPr>
              <a:t>；设置功能调用号</a:t>
            </a:r>
          </a:p>
          <a:p>
            <a:pPr algn="just" eaLnBrk="1" hangingPunct="1"/>
            <a:r>
              <a:rPr kumimoji="1" lang="en-US" altLang="zh-CN" sz="2800" b="1" dirty="0">
                <a:solidFill>
                  <a:schemeClr val="accent2"/>
                </a:solidFill>
              </a:rPr>
              <a:t>mov dl,</a:t>
            </a:r>
            <a:r>
              <a:rPr kumimoji="1" lang="en-US" altLang="zh-CN" sz="2800" b="1" dirty="0">
                <a:solidFill>
                  <a:schemeClr val="accent2"/>
                </a:solidFill>
                <a:latin typeface="Times New Roman" panose="02020603050405020304" pitchFamily="18" charset="0"/>
              </a:rPr>
              <a:t>’</a:t>
            </a:r>
            <a:r>
              <a:rPr kumimoji="1" lang="en-US" altLang="zh-CN" sz="2800" b="1" dirty="0">
                <a:solidFill>
                  <a:schemeClr val="accent2"/>
                </a:solidFill>
              </a:rPr>
              <a:t>?</a:t>
            </a:r>
            <a:r>
              <a:rPr kumimoji="1" lang="en-US" altLang="zh-CN" sz="2800" b="1" dirty="0">
                <a:solidFill>
                  <a:schemeClr val="accent2"/>
                </a:solidFill>
                <a:latin typeface="Times New Roman" panose="02020603050405020304" pitchFamily="18" charset="0"/>
              </a:rPr>
              <a:t>’</a:t>
            </a:r>
            <a:r>
              <a:rPr kumimoji="1" lang="en-US" altLang="zh-CN" sz="2400" b="1" dirty="0">
                <a:solidFill>
                  <a:srgbClr val="339933"/>
                </a:solidFill>
              </a:rPr>
              <a:t>	</a:t>
            </a:r>
            <a:r>
              <a:rPr kumimoji="1" lang="zh-CN" altLang="en-US" sz="2400" b="1" dirty="0">
                <a:solidFill>
                  <a:srgbClr val="006600"/>
                </a:solidFill>
              </a:rPr>
              <a:t>；设置入口参数</a:t>
            </a:r>
          </a:p>
          <a:p>
            <a:pPr algn="just" eaLnBrk="1" hangingPunct="1"/>
            <a:r>
              <a:rPr kumimoji="1" lang="en-US" altLang="zh-CN" sz="2800" b="1" dirty="0"/>
              <a:t>int 21h</a:t>
            </a:r>
            <a:r>
              <a:rPr kumimoji="1" lang="en-US" altLang="zh-CN" sz="2400" b="1" dirty="0">
                <a:solidFill>
                  <a:srgbClr val="339933"/>
                </a:solidFill>
              </a:rPr>
              <a:t>	</a:t>
            </a:r>
            <a:r>
              <a:rPr kumimoji="1" lang="zh-CN" altLang="en-US" sz="2400" b="1" dirty="0">
                <a:solidFill>
                  <a:srgbClr val="006600"/>
                </a:solidFill>
              </a:rPr>
              <a:t>；功能调用</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8" presetClass="entr" presetSubtype="0" accel="100000" fill="hold" nodeType="clickEffect">
                                  <p:stCondLst>
                                    <p:cond delay="0"/>
                                  </p:stCondLst>
                                  <p:childTnLst>
                                    <p:set>
                                      <p:cBhvr>
                                        <p:cTn id="6" dur="1" fill="hold">
                                          <p:stCondLst>
                                            <p:cond delay="0"/>
                                          </p:stCondLst>
                                        </p:cTn>
                                        <p:tgtEl>
                                          <p:spTgt spid="365572"/>
                                        </p:tgtEl>
                                        <p:attrNameLst>
                                          <p:attrName>style.visibility</p:attrName>
                                        </p:attrNameLst>
                                      </p:cBhvr>
                                      <p:to>
                                        <p:strVal val="visible"/>
                                      </p:to>
                                    </p:set>
                                    <p:anim calcmode="lin" valueType="num">
                                      <p:cBhvr>
                                        <p:cTn id="7" dur="1000" fill="hold"/>
                                        <p:tgtEl>
                                          <p:spTgt spid="365572"/>
                                        </p:tgtEl>
                                        <p:attrNameLst>
                                          <p:attrName>ppt_w</p:attrName>
                                        </p:attrNameLst>
                                      </p:cBhvr>
                                      <p:tavLst>
                                        <p:tav tm="0">
                                          <p:val>
                                            <p:strVal val="#ppt_w*2.5"/>
                                          </p:val>
                                        </p:tav>
                                        <p:tav tm="100000">
                                          <p:val>
                                            <p:strVal val="#ppt_w"/>
                                          </p:val>
                                        </p:tav>
                                      </p:tavLst>
                                    </p:anim>
                                    <p:anim calcmode="lin" valueType="num">
                                      <p:cBhvr>
                                        <p:cTn id="8" dur="1000" fill="hold"/>
                                        <p:tgtEl>
                                          <p:spTgt spid="365572"/>
                                        </p:tgtEl>
                                        <p:attrNameLst>
                                          <p:attrName>ppt_h</p:attrName>
                                        </p:attrNameLst>
                                      </p:cBhvr>
                                      <p:tavLst>
                                        <p:tav tm="0">
                                          <p:val>
                                            <p:strVal val="#ppt_h*0.01"/>
                                          </p:val>
                                        </p:tav>
                                        <p:tav tm="100000">
                                          <p:val>
                                            <p:strVal val="#ppt_h"/>
                                          </p:val>
                                        </p:tav>
                                      </p:tavLst>
                                    </p:anim>
                                    <p:anim calcmode="lin" valueType="num">
                                      <p:cBhvr>
                                        <p:cTn id="9" dur="1000" fill="hold"/>
                                        <p:tgtEl>
                                          <p:spTgt spid="365572"/>
                                        </p:tgtEl>
                                        <p:attrNameLst>
                                          <p:attrName>ppt_x</p:attrName>
                                        </p:attrNameLst>
                                      </p:cBhvr>
                                      <p:tavLst>
                                        <p:tav tm="0">
                                          <p:val>
                                            <p:strVal val="#ppt_x"/>
                                          </p:val>
                                        </p:tav>
                                        <p:tav tm="100000">
                                          <p:val>
                                            <p:strVal val="#ppt_x"/>
                                          </p:val>
                                        </p:tav>
                                      </p:tavLst>
                                    </p:anim>
                                    <p:anim calcmode="lin" valueType="num">
                                      <p:cBhvr>
                                        <p:cTn id="10" dur="1000" fill="hold"/>
                                        <p:tgtEl>
                                          <p:spTgt spid="365572"/>
                                        </p:tgtEl>
                                        <p:attrNameLst>
                                          <p:attrName>ppt_y</p:attrName>
                                        </p:attrNameLst>
                                      </p:cBhvr>
                                      <p:tavLst>
                                        <p:tav tm="0">
                                          <p:val>
                                            <p:strVal val="#ppt_h+1"/>
                                          </p:val>
                                        </p:tav>
                                        <p:tav tm="100000">
                                          <p:val>
                                            <p:strVal val="#ppt_y"/>
                                          </p:val>
                                        </p:tav>
                                      </p:tavLst>
                                    </p:anim>
                                    <p:animEffect transition="in" filter="fade">
                                      <p:cBhvr>
                                        <p:cTn id="11" dur="1000"/>
                                        <p:tgtEl>
                                          <p:spTgt spid="3655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5572"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2EA20D1D-EBB9-D528-3463-C08C00AB6151}"/>
              </a:ext>
            </a:extLst>
          </p:cNvPr>
          <p:cNvSpPr>
            <a:spLocks noGrp="1" noChangeArrowheads="1"/>
          </p:cNvSpPr>
          <p:nvPr>
            <p:ph type="title"/>
          </p:nvPr>
        </p:nvSpPr>
        <p:spPr/>
        <p:txBody>
          <a:bodyPr/>
          <a:lstStyle/>
          <a:p>
            <a:r>
              <a:rPr lang="en-US" altLang="zh-CN" dirty="0"/>
              <a:t>09H</a:t>
            </a:r>
            <a:r>
              <a:rPr lang="zh-CN" altLang="en-US" dirty="0"/>
              <a:t>号</a:t>
            </a:r>
            <a:r>
              <a:rPr lang="en-US" altLang="zh-CN" dirty="0"/>
              <a:t>DOS</a:t>
            </a:r>
            <a:r>
              <a:rPr lang="zh-CN" altLang="en-US" dirty="0"/>
              <a:t>功能调用</a:t>
            </a:r>
          </a:p>
        </p:txBody>
      </p:sp>
      <p:sp>
        <p:nvSpPr>
          <p:cNvPr id="28675" name="Rectangle 3">
            <a:extLst>
              <a:ext uri="{FF2B5EF4-FFF2-40B4-BE49-F238E27FC236}">
                <a16:creationId xmlns:a16="http://schemas.microsoft.com/office/drawing/2014/main" id="{F52B7236-F324-A2A7-A68F-E7CDC207EA39}"/>
              </a:ext>
            </a:extLst>
          </p:cNvPr>
          <p:cNvSpPr>
            <a:spLocks noGrp="1" noChangeArrowheads="1"/>
          </p:cNvSpPr>
          <p:nvPr>
            <p:ph idx="1"/>
          </p:nvPr>
        </p:nvSpPr>
        <p:spPr/>
        <p:txBody>
          <a:bodyPr/>
          <a:lstStyle/>
          <a:p>
            <a:r>
              <a:rPr lang="zh-CN" altLang="en-US" dirty="0"/>
              <a:t>输出一个字符串</a:t>
            </a:r>
          </a:p>
          <a:p>
            <a:pPr>
              <a:buFontTx/>
              <a:buNone/>
            </a:pPr>
            <a:r>
              <a:rPr lang="zh-CN" altLang="en-US" sz="2800" dirty="0"/>
              <a:t>⑴ 功能调用号：</a:t>
            </a:r>
            <a:r>
              <a:rPr lang="en-US" altLang="zh-CN" sz="2800" dirty="0"/>
              <a:t>AH</a:t>
            </a:r>
            <a:r>
              <a:rPr lang="zh-CN" altLang="en-US" sz="2800" dirty="0"/>
              <a:t>＝</a:t>
            </a:r>
            <a:r>
              <a:rPr lang="en-US" altLang="zh-CN" sz="2800" dirty="0"/>
              <a:t>09H</a:t>
            </a:r>
          </a:p>
          <a:p>
            <a:pPr>
              <a:buFontTx/>
              <a:buNone/>
            </a:pPr>
            <a:r>
              <a:rPr lang="en-US" altLang="zh-CN" sz="2800" dirty="0"/>
              <a:t>⑵ </a:t>
            </a:r>
            <a:r>
              <a:rPr lang="zh-CN" altLang="en-US" sz="2800" dirty="0"/>
              <a:t>入口参数：</a:t>
            </a:r>
          </a:p>
          <a:p>
            <a:pPr>
              <a:buFontTx/>
              <a:buNone/>
            </a:pPr>
            <a:r>
              <a:rPr lang="zh-CN" altLang="en-US" sz="2800" dirty="0"/>
              <a:t>	</a:t>
            </a:r>
            <a:r>
              <a:rPr lang="en-US" altLang="zh-CN" sz="2800" dirty="0"/>
              <a:t>DS:DX</a:t>
            </a:r>
            <a:r>
              <a:rPr lang="zh-CN" altLang="en-US" sz="2800" dirty="0"/>
              <a:t>＝欲显示字符串在内存中的首地址（逻辑地址形式：</a:t>
            </a:r>
            <a:r>
              <a:rPr lang="en-US" altLang="zh-CN" sz="2800" dirty="0"/>
              <a:t>DS</a:t>
            </a:r>
            <a:r>
              <a:rPr lang="zh-CN" altLang="en-US" sz="2800" dirty="0"/>
              <a:t>＝段地址，</a:t>
            </a:r>
            <a:r>
              <a:rPr lang="en-US" altLang="zh-CN" sz="2800" dirty="0"/>
              <a:t>DX</a:t>
            </a:r>
            <a:r>
              <a:rPr lang="zh-CN" altLang="en-US" sz="2800" dirty="0"/>
              <a:t>＝偏移地址）</a:t>
            </a:r>
          </a:p>
          <a:p>
            <a:pPr>
              <a:buFontTx/>
              <a:buNone/>
            </a:pPr>
            <a:r>
              <a:rPr lang="zh-CN" altLang="en-US" sz="2800" dirty="0"/>
              <a:t>	内存中的字符串以</a:t>
            </a:r>
            <a:r>
              <a:rPr lang="en-US" altLang="zh-CN" sz="2800" dirty="0"/>
              <a:t>ASCII</a:t>
            </a:r>
            <a:r>
              <a:rPr lang="zh-CN" altLang="en-US" sz="2800" dirty="0"/>
              <a:t>码形式保存，最后必须添加一个“</a:t>
            </a:r>
            <a:r>
              <a:rPr lang="en-US" altLang="zh-CN" sz="2800" dirty="0"/>
              <a:t>$”</a:t>
            </a:r>
            <a:r>
              <a:rPr lang="zh-CN" altLang="en-US" sz="2800" dirty="0"/>
              <a:t>结尾（并不显示）</a:t>
            </a:r>
          </a:p>
          <a:p>
            <a:pPr>
              <a:buFontTx/>
              <a:buNone/>
            </a:pPr>
            <a:r>
              <a:rPr lang="zh-CN" altLang="en-US" sz="2800" dirty="0"/>
              <a:t>⑶ 功能调用：</a:t>
            </a:r>
            <a:r>
              <a:rPr lang="en-US" altLang="zh-CN" sz="2800" dirty="0"/>
              <a:t>INT 21H</a:t>
            </a:r>
          </a:p>
          <a:p>
            <a:pPr>
              <a:buFontTx/>
              <a:buNone/>
            </a:pPr>
            <a:r>
              <a:rPr lang="en-US" altLang="zh-CN" sz="2800" dirty="0"/>
              <a:t>⑷ </a:t>
            </a:r>
            <a:r>
              <a:rPr lang="zh-CN" altLang="en-US" sz="2800" dirty="0"/>
              <a:t>出口参数：无</a:t>
            </a:r>
          </a:p>
        </p:txBody>
      </p:sp>
    </p:spTree>
  </p:cSld>
  <p:clrMapOvr>
    <a:masterClrMapping/>
  </p:clrMapOvr>
  <p:transition>
    <p:random/>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AB3DE731-BCA0-8604-CDF3-D00B12B2DE59}"/>
              </a:ext>
            </a:extLst>
          </p:cNvPr>
          <p:cNvSpPr>
            <a:spLocks noGrp="1" noChangeArrowheads="1"/>
          </p:cNvSpPr>
          <p:nvPr>
            <p:ph type="title"/>
          </p:nvPr>
        </p:nvSpPr>
        <p:spPr/>
        <p:txBody>
          <a:bodyPr/>
          <a:lstStyle/>
          <a:p>
            <a:r>
              <a:rPr lang="zh-CN" altLang="en-US" dirty="0"/>
              <a:t>例</a:t>
            </a:r>
            <a:r>
              <a:rPr lang="en-US" altLang="zh-CN" dirty="0"/>
              <a:t> </a:t>
            </a:r>
            <a:r>
              <a:rPr lang="zh-CN" altLang="en-US" dirty="0"/>
              <a:t>提示按任意键继续</a:t>
            </a:r>
          </a:p>
        </p:txBody>
      </p:sp>
      <p:sp>
        <p:nvSpPr>
          <p:cNvPr id="29699" name="Rectangle 3">
            <a:extLst>
              <a:ext uri="{FF2B5EF4-FFF2-40B4-BE49-F238E27FC236}">
                <a16:creationId xmlns:a16="http://schemas.microsoft.com/office/drawing/2014/main" id="{3D0BC4B0-F74D-A36B-3E66-1ABB722D3CEB}"/>
              </a:ext>
            </a:extLst>
          </p:cNvPr>
          <p:cNvSpPr>
            <a:spLocks noGrp="1" noChangeArrowheads="1"/>
          </p:cNvSpPr>
          <p:nvPr>
            <p:ph idx="1"/>
          </p:nvPr>
        </p:nvSpPr>
        <p:spPr/>
        <p:txBody>
          <a:bodyPr/>
          <a:lstStyle/>
          <a:p>
            <a:pPr marL="0" indent="0">
              <a:buFontTx/>
              <a:buNone/>
              <a:tabLst>
                <a:tab pos="1612900" algn="l"/>
              </a:tabLst>
            </a:pPr>
            <a:r>
              <a:rPr lang="en-US" altLang="zh-CN" sz="2800" dirty="0">
                <a:solidFill>
                  <a:srgbClr val="339933"/>
                </a:solidFill>
              </a:rPr>
              <a:t>	</a:t>
            </a:r>
            <a:r>
              <a:rPr lang="zh-CN" altLang="en-US" sz="2800" dirty="0">
                <a:solidFill>
                  <a:srgbClr val="006600"/>
                </a:solidFill>
              </a:rPr>
              <a:t>；在数据段定义要显示的字符串</a:t>
            </a:r>
          </a:p>
          <a:p>
            <a:pPr marL="0" indent="0">
              <a:buFontTx/>
              <a:buNone/>
              <a:tabLst>
                <a:tab pos="1612900" algn="l"/>
              </a:tabLst>
            </a:pPr>
            <a:r>
              <a:rPr lang="en-US" altLang="zh-CN" sz="2800" dirty="0" err="1"/>
              <a:t>msgkey</a:t>
            </a:r>
            <a:r>
              <a:rPr lang="en-US" altLang="zh-CN" sz="2800" dirty="0"/>
              <a:t>	</a:t>
            </a:r>
            <a:r>
              <a:rPr lang="en-US" altLang="zh-CN" sz="2800" dirty="0" err="1"/>
              <a:t>db</a:t>
            </a:r>
            <a:r>
              <a:rPr lang="en-US" altLang="zh-CN" sz="2800" dirty="0"/>
              <a:t> ‘Press any key to </a:t>
            </a:r>
            <a:r>
              <a:rPr lang="en-US" altLang="zh-CN" sz="2800" dirty="0" err="1"/>
              <a:t>contiune</a:t>
            </a:r>
            <a:r>
              <a:rPr lang="en-US" altLang="zh-CN" sz="2800" dirty="0"/>
              <a:t>…’,’$’</a:t>
            </a:r>
          </a:p>
          <a:p>
            <a:pPr marL="0" indent="0">
              <a:buFontTx/>
              <a:buNone/>
              <a:tabLst>
                <a:tab pos="1612900" algn="l"/>
              </a:tabLst>
            </a:pPr>
            <a:r>
              <a:rPr lang="en-US" altLang="zh-CN" sz="2800" dirty="0">
                <a:solidFill>
                  <a:srgbClr val="339933"/>
                </a:solidFill>
              </a:rPr>
              <a:t>	</a:t>
            </a:r>
            <a:r>
              <a:rPr lang="zh-CN" altLang="en-US" sz="2800" dirty="0">
                <a:solidFill>
                  <a:srgbClr val="006600"/>
                </a:solidFill>
              </a:rPr>
              <a:t>；在代码段编写程序</a:t>
            </a:r>
          </a:p>
          <a:p>
            <a:pPr marL="0" indent="0">
              <a:buFontTx/>
              <a:buNone/>
              <a:tabLst>
                <a:tab pos="1612900" algn="l"/>
              </a:tabLst>
            </a:pPr>
            <a:r>
              <a:rPr lang="zh-CN" altLang="en-US" sz="2800" dirty="0"/>
              <a:t>	</a:t>
            </a:r>
            <a:r>
              <a:rPr lang="en-US" altLang="zh-CN" sz="2800" dirty="0"/>
              <a:t>mov ah,9</a:t>
            </a:r>
          </a:p>
          <a:p>
            <a:pPr marL="0" indent="0">
              <a:buFontTx/>
              <a:buNone/>
              <a:tabLst>
                <a:tab pos="1612900" algn="l"/>
              </a:tabLst>
            </a:pPr>
            <a:r>
              <a:rPr lang="en-US" altLang="zh-CN" sz="2800" dirty="0"/>
              <a:t>	mov </a:t>
            </a:r>
            <a:r>
              <a:rPr lang="en-US" altLang="zh-CN" sz="2800" dirty="0" err="1"/>
              <a:t>dx,offset</a:t>
            </a:r>
            <a:r>
              <a:rPr lang="en-US" altLang="zh-CN" sz="2800" dirty="0"/>
              <a:t> </a:t>
            </a:r>
            <a:r>
              <a:rPr lang="en-US" altLang="zh-CN" sz="2800" dirty="0" err="1"/>
              <a:t>msgkey</a:t>
            </a:r>
            <a:endParaRPr lang="en-US" altLang="zh-CN" sz="2800" dirty="0"/>
          </a:p>
          <a:p>
            <a:pPr marL="0" indent="0">
              <a:buFontTx/>
              <a:buNone/>
              <a:tabLst>
                <a:tab pos="1612900" algn="l"/>
              </a:tabLst>
            </a:pPr>
            <a:r>
              <a:rPr lang="en-US" altLang="zh-CN" sz="2800" dirty="0">
                <a:solidFill>
                  <a:srgbClr val="339933"/>
                </a:solidFill>
              </a:rPr>
              <a:t>	</a:t>
            </a:r>
            <a:r>
              <a:rPr lang="zh-CN" altLang="en-US" sz="2800" dirty="0">
                <a:solidFill>
                  <a:srgbClr val="006600"/>
                </a:solidFill>
              </a:rPr>
              <a:t>；设置入口参数：</a:t>
            </a:r>
          </a:p>
          <a:p>
            <a:pPr marL="0" indent="0">
              <a:buFontTx/>
              <a:buNone/>
              <a:tabLst>
                <a:tab pos="1612900" algn="l"/>
              </a:tabLst>
            </a:pPr>
            <a:r>
              <a:rPr lang="zh-CN" altLang="en-US" sz="2800" dirty="0">
                <a:solidFill>
                  <a:srgbClr val="006600"/>
                </a:solidFill>
              </a:rPr>
              <a:t>	；</a:t>
            </a:r>
            <a:r>
              <a:rPr lang="en-US" altLang="zh-CN" sz="2800" dirty="0">
                <a:solidFill>
                  <a:srgbClr val="006600"/>
                </a:solidFill>
              </a:rPr>
              <a:t>DS</a:t>
            </a:r>
            <a:r>
              <a:rPr lang="zh-CN" altLang="en-US" sz="2800" dirty="0">
                <a:solidFill>
                  <a:srgbClr val="006600"/>
                </a:solidFill>
              </a:rPr>
              <a:t>＝数据段地址（假设已经设置好）</a:t>
            </a:r>
          </a:p>
          <a:p>
            <a:pPr marL="0" indent="0">
              <a:buFontTx/>
              <a:buNone/>
              <a:tabLst>
                <a:tab pos="1612900" algn="l"/>
              </a:tabLst>
            </a:pPr>
            <a:r>
              <a:rPr lang="zh-CN" altLang="en-US" sz="2800" dirty="0">
                <a:solidFill>
                  <a:srgbClr val="006600"/>
                </a:solidFill>
              </a:rPr>
              <a:t>	；</a:t>
            </a:r>
            <a:r>
              <a:rPr lang="en-US" altLang="zh-CN" sz="2800" dirty="0">
                <a:solidFill>
                  <a:srgbClr val="006600"/>
                </a:solidFill>
              </a:rPr>
              <a:t>DX</a:t>
            </a:r>
            <a:r>
              <a:rPr lang="zh-CN" altLang="en-US" sz="2800" dirty="0">
                <a:solidFill>
                  <a:srgbClr val="006600"/>
                </a:solidFill>
              </a:rPr>
              <a:t>＝字符串的偏移地址</a:t>
            </a:r>
          </a:p>
          <a:p>
            <a:pPr marL="0" indent="0">
              <a:buFontTx/>
              <a:buNone/>
              <a:tabLst>
                <a:tab pos="1612900" algn="l"/>
              </a:tabLst>
            </a:pPr>
            <a:r>
              <a:rPr lang="zh-CN" altLang="en-US" sz="2800" dirty="0"/>
              <a:t>	</a:t>
            </a:r>
            <a:r>
              <a:rPr lang="en-US" altLang="zh-CN" sz="2800" dirty="0"/>
              <a:t>int 21h</a:t>
            </a:r>
          </a:p>
        </p:txBody>
      </p:sp>
    </p:spTree>
  </p:cSld>
  <p:clrMapOvr>
    <a:masterClrMapping/>
  </p:clrMapOvr>
  <p:transition>
    <p:random/>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BDCF3-509F-86AD-BCDA-5A94530968FA}"/>
            </a:ext>
          </a:extLst>
        </p:cNvPr>
        <p:cNvGrpSpPr/>
        <p:nvPr/>
      </p:nvGrpSpPr>
      <p:grpSpPr>
        <a:xfrm>
          <a:off x="0" y="0"/>
          <a:ext cx="0" cy="0"/>
          <a:chOff x="0" y="0"/>
          <a:chExt cx="0" cy="0"/>
        </a:xfrm>
      </p:grpSpPr>
      <p:sp>
        <p:nvSpPr>
          <p:cNvPr id="27650" name="Rectangle 2">
            <a:extLst>
              <a:ext uri="{FF2B5EF4-FFF2-40B4-BE49-F238E27FC236}">
                <a16:creationId xmlns:a16="http://schemas.microsoft.com/office/drawing/2014/main" id="{69DAFD93-676A-57F4-F67D-9BB8BE99F5DD}"/>
              </a:ext>
            </a:extLst>
          </p:cNvPr>
          <p:cNvSpPr>
            <a:spLocks noGrp="1" noChangeArrowheads="1"/>
          </p:cNvSpPr>
          <p:nvPr>
            <p:ph type="title"/>
          </p:nvPr>
        </p:nvSpPr>
        <p:spPr/>
        <p:txBody>
          <a:bodyPr/>
          <a:lstStyle/>
          <a:p>
            <a:r>
              <a:rPr lang="en-US" altLang="zh-CN" dirty="0"/>
              <a:t>4CH</a:t>
            </a:r>
            <a:r>
              <a:rPr lang="zh-CN" altLang="en-US" dirty="0"/>
              <a:t>号</a:t>
            </a:r>
            <a:r>
              <a:rPr lang="en-US" altLang="zh-CN" dirty="0"/>
              <a:t>DOS</a:t>
            </a:r>
            <a:r>
              <a:rPr lang="zh-CN" altLang="en-US" dirty="0"/>
              <a:t>功能调用</a:t>
            </a:r>
          </a:p>
        </p:txBody>
      </p:sp>
      <p:sp>
        <p:nvSpPr>
          <p:cNvPr id="27651" name="Rectangle 3">
            <a:extLst>
              <a:ext uri="{FF2B5EF4-FFF2-40B4-BE49-F238E27FC236}">
                <a16:creationId xmlns:a16="http://schemas.microsoft.com/office/drawing/2014/main" id="{423E72E2-EA26-A3E2-C3E5-9051BADE84B5}"/>
              </a:ext>
            </a:extLst>
          </p:cNvPr>
          <p:cNvSpPr>
            <a:spLocks noGrp="1" noChangeArrowheads="1"/>
          </p:cNvSpPr>
          <p:nvPr>
            <p:ph idx="1"/>
          </p:nvPr>
        </p:nvSpPr>
        <p:spPr/>
        <p:txBody>
          <a:bodyPr/>
          <a:lstStyle/>
          <a:p>
            <a:r>
              <a:rPr lang="zh-CN" altLang="en-US" dirty="0"/>
              <a:t>程序终止</a:t>
            </a:r>
            <a:endParaRPr lang="en-US" altLang="zh-CN" dirty="0"/>
          </a:p>
          <a:p>
            <a:pPr marL="0" indent="0">
              <a:buNone/>
            </a:pPr>
            <a:r>
              <a:rPr lang="zh-CN" altLang="en-US" sz="2800" dirty="0"/>
              <a:t>应用程序执行结束，将控制权交还操作系统。</a:t>
            </a:r>
            <a:endParaRPr lang="en-US" altLang="zh-CN" sz="2800" dirty="0"/>
          </a:p>
          <a:p>
            <a:pPr marL="0" indent="0">
              <a:buNone/>
            </a:pPr>
            <a:r>
              <a:rPr lang="zh-CN" altLang="en-US" sz="2800" dirty="0"/>
              <a:t>⑴ 功能调用号：</a:t>
            </a:r>
            <a:r>
              <a:rPr lang="en-US" altLang="zh-CN" sz="2800" dirty="0"/>
              <a:t>AH</a:t>
            </a:r>
            <a:r>
              <a:rPr lang="zh-CN" altLang="en-US" sz="2800" dirty="0"/>
              <a:t>＝</a:t>
            </a:r>
            <a:r>
              <a:rPr lang="en-US" altLang="zh-CN" sz="2800" dirty="0"/>
              <a:t>4CH</a:t>
            </a:r>
          </a:p>
          <a:p>
            <a:pPr>
              <a:buFontTx/>
              <a:buNone/>
            </a:pPr>
            <a:r>
              <a:rPr lang="en-US" altLang="zh-CN" sz="2800" dirty="0"/>
              <a:t>⑵</a:t>
            </a:r>
            <a:r>
              <a:rPr lang="en-US" altLang="zh-CN" sz="2800" dirty="0">
                <a:solidFill>
                  <a:srgbClr val="CC0099"/>
                </a:solidFill>
              </a:rPr>
              <a:t> </a:t>
            </a:r>
            <a:r>
              <a:rPr lang="zh-CN" altLang="en-US" sz="2800" dirty="0"/>
              <a:t>入口参数：无</a:t>
            </a:r>
            <a:endParaRPr lang="en-US" altLang="zh-CN" sz="2800" dirty="0"/>
          </a:p>
          <a:p>
            <a:pPr>
              <a:buFontTx/>
              <a:buNone/>
            </a:pPr>
            <a:r>
              <a:rPr lang="zh-CN" altLang="en-US" sz="2800" dirty="0"/>
              <a:t>⑶ 功能调用：</a:t>
            </a:r>
            <a:r>
              <a:rPr lang="en-US" altLang="zh-CN" sz="2800" dirty="0"/>
              <a:t>INT 21H</a:t>
            </a:r>
          </a:p>
          <a:p>
            <a:pPr>
              <a:buFontTx/>
              <a:buNone/>
            </a:pPr>
            <a:r>
              <a:rPr lang="en-US" altLang="zh-CN" sz="2800" dirty="0"/>
              <a:t>⑷ </a:t>
            </a:r>
            <a:r>
              <a:rPr lang="zh-CN" altLang="en-US" sz="2800" dirty="0"/>
              <a:t>出口参数：</a:t>
            </a:r>
            <a:r>
              <a:rPr lang="en-US" altLang="zh-CN" sz="2800" dirty="0"/>
              <a:t>AL=</a:t>
            </a:r>
            <a:r>
              <a:rPr lang="zh-CN" altLang="en-US" sz="2800" dirty="0"/>
              <a:t>返回码（通常用</a:t>
            </a:r>
            <a:r>
              <a:rPr lang="en-US" altLang="zh-CN" sz="2800" dirty="0"/>
              <a:t>0</a:t>
            </a:r>
            <a:r>
              <a:rPr lang="zh-CN" altLang="en-US" sz="2800" dirty="0"/>
              <a:t>表示程序没有错误）</a:t>
            </a:r>
          </a:p>
        </p:txBody>
      </p:sp>
      <p:sp>
        <p:nvSpPr>
          <p:cNvPr id="365572" name="Rectangle 4">
            <a:extLst>
              <a:ext uri="{FF2B5EF4-FFF2-40B4-BE49-F238E27FC236}">
                <a16:creationId xmlns:a16="http://schemas.microsoft.com/office/drawing/2014/main" id="{63F4F79A-61BB-8444-AFC8-4321E7E074E6}"/>
              </a:ext>
            </a:extLst>
          </p:cNvPr>
          <p:cNvSpPr>
            <a:spLocks noChangeArrowheads="1"/>
          </p:cNvSpPr>
          <p:nvPr/>
        </p:nvSpPr>
        <p:spPr bwMode="auto">
          <a:xfrm>
            <a:off x="2123728" y="4653136"/>
            <a:ext cx="6646193" cy="13895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indent="184150">
              <a:tabLst>
                <a:tab pos="2509838" algn="l"/>
              </a:tabLst>
              <a:defRPr sz="2000">
                <a:solidFill>
                  <a:schemeClr val="tx1"/>
                </a:solidFill>
                <a:latin typeface="Arial" panose="020B0604020202020204" pitchFamily="34" charset="0"/>
                <a:ea typeface="宋体" panose="02010600030101010101" pitchFamily="2" charset="-122"/>
              </a:defRPr>
            </a:lvl1pPr>
            <a:lvl2pPr marL="742950" indent="-285750">
              <a:tabLst>
                <a:tab pos="2509838" algn="l"/>
              </a:tabLst>
              <a:defRPr sz="2000">
                <a:solidFill>
                  <a:schemeClr val="tx1"/>
                </a:solidFill>
                <a:latin typeface="Arial" panose="020B0604020202020204" pitchFamily="34" charset="0"/>
                <a:ea typeface="宋体" panose="02010600030101010101" pitchFamily="2" charset="-122"/>
              </a:defRPr>
            </a:lvl2pPr>
            <a:lvl3pPr marL="1143000" indent="-228600">
              <a:tabLst>
                <a:tab pos="2509838" algn="l"/>
              </a:tabLst>
              <a:defRPr sz="2000">
                <a:solidFill>
                  <a:schemeClr val="tx1"/>
                </a:solidFill>
                <a:latin typeface="Arial" panose="020B0604020202020204" pitchFamily="34" charset="0"/>
                <a:ea typeface="宋体" panose="02010600030101010101" pitchFamily="2" charset="-122"/>
              </a:defRPr>
            </a:lvl3pPr>
            <a:lvl4pPr marL="1600200" indent="-228600">
              <a:tabLst>
                <a:tab pos="2509838" algn="l"/>
              </a:tabLst>
              <a:defRPr sz="2000">
                <a:solidFill>
                  <a:schemeClr val="tx1"/>
                </a:solidFill>
                <a:latin typeface="Arial" panose="020B0604020202020204" pitchFamily="34" charset="0"/>
                <a:ea typeface="宋体" panose="02010600030101010101" pitchFamily="2" charset="-122"/>
              </a:defRPr>
            </a:lvl4pPr>
            <a:lvl5pPr marL="2057400" indent="-228600">
              <a:tabLst>
                <a:tab pos="2509838" algn="l"/>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2509838" algn="l"/>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2509838" algn="l"/>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2509838" algn="l"/>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2509838" algn="l"/>
              </a:tabLst>
              <a:defRPr sz="2000">
                <a:solidFill>
                  <a:schemeClr val="tx1"/>
                </a:solidFill>
                <a:latin typeface="Arial" panose="020B0604020202020204" pitchFamily="34" charset="0"/>
                <a:ea typeface="宋体" panose="02010600030101010101" pitchFamily="2" charset="-122"/>
              </a:defRPr>
            </a:lvl9pPr>
          </a:lstStyle>
          <a:p>
            <a:pPr algn="just" eaLnBrk="1" hangingPunct="1"/>
            <a:r>
              <a:rPr kumimoji="1" lang="zh-CN" altLang="en-US" sz="2400" b="1" dirty="0"/>
              <a:t>；</a:t>
            </a:r>
            <a:r>
              <a:rPr kumimoji="1" lang="zh-CN" altLang="en-US" sz="2400" b="1" dirty="0">
                <a:latin typeface="Times New Roman" panose="02020603050405020304" pitchFamily="18" charset="0"/>
              </a:rPr>
              <a:t>程序终止</a:t>
            </a:r>
            <a:endParaRPr kumimoji="1" lang="zh-CN" altLang="en-US" sz="2400" b="1" dirty="0"/>
          </a:p>
          <a:p>
            <a:pPr algn="just" eaLnBrk="1" hangingPunct="1"/>
            <a:r>
              <a:rPr kumimoji="1" lang="en-US" altLang="zh-CN" sz="2800" b="1" dirty="0">
                <a:solidFill>
                  <a:schemeClr val="accent2"/>
                </a:solidFill>
              </a:rPr>
              <a:t>mov ax,4c00h</a:t>
            </a:r>
            <a:r>
              <a:rPr kumimoji="1" lang="en-US" altLang="zh-CN" sz="2400" b="1" dirty="0">
                <a:solidFill>
                  <a:srgbClr val="339933"/>
                </a:solidFill>
              </a:rPr>
              <a:t>	</a:t>
            </a:r>
            <a:r>
              <a:rPr kumimoji="1" lang="zh-CN" altLang="en-US" sz="2400" b="1" dirty="0">
                <a:solidFill>
                  <a:srgbClr val="006600"/>
                </a:solidFill>
              </a:rPr>
              <a:t>；设置功能调用号和返回码</a:t>
            </a:r>
          </a:p>
          <a:p>
            <a:pPr algn="just" eaLnBrk="1" hangingPunct="1"/>
            <a:r>
              <a:rPr kumimoji="1" lang="en-US" altLang="zh-CN" sz="2800" b="1" dirty="0"/>
              <a:t>int 21h</a:t>
            </a:r>
            <a:r>
              <a:rPr kumimoji="1" lang="en-US" altLang="zh-CN" sz="2400" b="1" dirty="0">
                <a:solidFill>
                  <a:srgbClr val="339933"/>
                </a:solidFill>
              </a:rPr>
              <a:t>	</a:t>
            </a:r>
            <a:r>
              <a:rPr kumimoji="1" lang="zh-CN" altLang="en-US" sz="2400" b="1" dirty="0">
                <a:solidFill>
                  <a:srgbClr val="006600"/>
                </a:solidFill>
              </a:rPr>
              <a:t>；功能调用</a:t>
            </a:r>
          </a:p>
        </p:txBody>
      </p:sp>
    </p:spTree>
    <p:extLst>
      <p:ext uri="{BB962C8B-B14F-4D97-AF65-F5344CB8AC3E}">
        <p14:creationId xmlns:p14="http://schemas.microsoft.com/office/powerpoint/2010/main" val="2988872121"/>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8" presetClass="entr" presetSubtype="0" accel="100000" fill="hold" nodeType="clickEffect">
                                  <p:stCondLst>
                                    <p:cond delay="0"/>
                                  </p:stCondLst>
                                  <p:childTnLst>
                                    <p:set>
                                      <p:cBhvr>
                                        <p:cTn id="6" dur="1" fill="hold">
                                          <p:stCondLst>
                                            <p:cond delay="0"/>
                                          </p:stCondLst>
                                        </p:cTn>
                                        <p:tgtEl>
                                          <p:spTgt spid="365572"/>
                                        </p:tgtEl>
                                        <p:attrNameLst>
                                          <p:attrName>style.visibility</p:attrName>
                                        </p:attrNameLst>
                                      </p:cBhvr>
                                      <p:to>
                                        <p:strVal val="visible"/>
                                      </p:to>
                                    </p:set>
                                    <p:anim calcmode="lin" valueType="num">
                                      <p:cBhvr>
                                        <p:cTn id="7" dur="1000" fill="hold"/>
                                        <p:tgtEl>
                                          <p:spTgt spid="365572"/>
                                        </p:tgtEl>
                                        <p:attrNameLst>
                                          <p:attrName>ppt_w</p:attrName>
                                        </p:attrNameLst>
                                      </p:cBhvr>
                                      <p:tavLst>
                                        <p:tav tm="0">
                                          <p:val>
                                            <p:strVal val="#ppt_w*2.5"/>
                                          </p:val>
                                        </p:tav>
                                        <p:tav tm="100000">
                                          <p:val>
                                            <p:strVal val="#ppt_w"/>
                                          </p:val>
                                        </p:tav>
                                      </p:tavLst>
                                    </p:anim>
                                    <p:anim calcmode="lin" valueType="num">
                                      <p:cBhvr>
                                        <p:cTn id="8" dur="1000" fill="hold"/>
                                        <p:tgtEl>
                                          <p:spTgt spid="365572"/>
                                        </p:tgtEl>
                                        <p:attrNameLst>
                                          <p:attrName>ppt_h</p:attrName>
                                        </p:attrNameLst>
                                      </p:cBhvr>
                                      <p:tavLst>
                                        <p:tav tm="0">
                                          <p:val>
                                            <p:strVal val="#ppt_h*0.01"/>
                                          </p:val>
                                        </p:tav>
                                        <p:tav tm="100000">
                                          <p:val>
                                            <p:strVal val="#ppt_h"/>
                                          </p:val>
                                        </p:tav>
                                      </p:tavLst>
                                    </p:anim>
                                    <p:anim calcmode="lin" valueType="num">
                                      <p:cBhvr>
                                        <p:cTn id="9" dur="1000" fill="hold"/>
                                        <p:tgtEl>
                                          <p:spTgt spid="365572"/>
                                        </p:tgtEl>
                                        <p:attrNameLst>
                                          <p:attrName>ppt_x</p:attrName>
                                        </p:attrNameLst>
                                      </p:cBhvr>
                                      <p:tavLst>
                                        <p:tav tm="0">
                                          <p:val>
                                            <p:strVal val="#ppt_x"/>
                                          </p:val>
                                        </p:tav>
                                        <p:tav tm="100000">
                                          <p:val>
                                            <p:strVal val="#ppt_x"/>
                                          </p:val>
                                        </p:tav>
                                      </p:tavLst>
                                    </p:anim>
                                    <p:anim calcmode="lin" valueType="num">
                                      <p:cBhvr>
                                        <p:cTn id="10" dur="1000" fill="hold"/>
                                        <p:tgtEl>
                                          <p:spTgt spid="365572"/>
                                        </p:tgtEl>
                                        <p:attrNameLst>
                                          <p:attrName>ppt_y</p:attrName>
                                        </p:attrNameLst>
                                      </p:cBhvr>
                                      <p:tavLst>
                                        <p:tav tm="0">
                                          <p:val>
                                            <p:strVal val="#ppt_h+1"/>
                                          </p:val>
                                        </p:tav>
                                        <p:tav tm="100000">
                                          <p:val>
                                            <p:strVal val="#ppt_y"/>
                                          </p:val>
                                        </p:tav>
                                      </p:tavLst>
                                    </p:anim>
                                    <p:animEffect transition="in" filter="fade">
                                      <p:cBhvr>
                                        <p:cTn id="11" dur="1000"/>
                                        <p:tgtEl>
                                          <p:spTgt spid="3655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5572"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9B559911-1600-2FC1-2E95-B62EF53617CD}"/>
              </a:ext>
            </a:extLst>
          </p:cNvPr>
          <p:cNvSpPr>
            <a:spLocks noGrp="1" noChangeArrowheads="1"/>
          </p:cNvSpPr>
          <p:nvPr>
            <p:ph type="title"/>
          </p:nvPr>
        </p:nvSpPr>
        <p:spPr/>
        <p:txBody>
          <a:bodyPr/>
          <a:lstStyle/>
          <a:p>
            <a:r>
              <a:rPr lang="en-US" altLang="zh-CN" dirty="0"/>
              <a:t>ROM-BIOS</a:t>
            </a:r>
            <a:r>
              <a:rPr lang="zh-CN" altLang="en-US" dirty="0"/>
              <a:t>输入输出功能调用</a:t>
            </a:r>
          </a:p>
        </p:txBody>
      </p:sp>
      <p:sp>
        <p:nvSpPr>
          <p:cNvPr id="30723" name="Rectangle 3">
            <a:extLst>
              <a:ext uri="{FF2B5EF4-FFF2-40B4-BE49-F238E27FC236}">
                <a16:creationId xmlns:a16="http://schemas.microsoft.com/office/drawing/2014/main" id="{CFE4FC1B-3CC5-83F8-49AC-D7123473DEC1}"/>
              </a:ext>
            </a:extLst>
          </p:cNvPr>
          <p:cNvSpPr>
            <a:spLocks noGrp="1" noChangeArrowheads="1"/>
          </p:cNvSpPr>
          <p:nvPr>
            <p:ph idx="1"/>
          </p:nvPr>
        </p:nvSpPr>
        <p:spPr/>
        <p:txBody>
          <a:bodyPr/>
          <a:lstStyle/>
          <a:p>
            <a:pPr>
              <a:lnSpc>
                <a:spcPct val="90000"/>
              </a:lnSpc>
            </a:pPr>
            <a:r>
              <a:rPr lang="en-US" altLang="zh-CN" sz="2800" dirty="0"/>
              <a:t>ROM-BIOS</a:t>
            </a:r>
            <a:r>
              <a:rPr lang="zh-CN" altLang="en-US" sz="2800" dirty="0"/>
              <a:t>也以中断服务程序的形式，向程序员提供系统的基本输入输出程序</a:t>
            </a:r>
          </a:p>
          <a:p>
            <a:pPr>
              <a:lnSpc>
                <a:spcPct val="90000"/>
              </a:lnSpc>
            </a:pPr>
            <a:r>
              <a:rPr lang="en-US" altLang="zh-CN" sz="2800" dirty="0"/>
              <a:t>ROM-BIOS</a:t>
            </a:r>
            <a:r>
              <a:rPr lang="zh-CN" altLang="en-US" sz="2800" dirty="0"/>
              <a:t>功能更加基本，且与操作系统无关</a:t>
            </a:r>
          </a:p>
          <a:p>
            <a:pPr>
              <a:lnSpc>
                <a:spcPct val="90000"/>
              </a:lnSpc>
            </a:pPr>
            <a:r>
              <a:rPr lang="zh-CN" altLang="en-US" sz="2800" dirty="0"/>
              <a:t>当</a:t>
            </a:r>
            <a:r>
              <a:rPr lang="en-US" altLang="zh-CN" sz="2800" dirty="0"/>
              <a:t>DOS</a:t>
            </a:r>
            <a:r>
              <a:rPr lang="zh-CN" altLang="en-US" sz="2800" dirty="0"/>
              <a:t>没有启动或不允许使用</a:t>
            </a:r>
            <a:r>
              <a:rPr lang="en-US" altLang="zh-CN" sz="2800" dirty="0"/>
              <a:t>DOS</a:t>
            </a:r>
            <a:r>
              <a:rPr lang="zh-CN" altLang="en-US" sz="2800" dirty="0"/>
              <a:t>功能调用时，可以使用</a:t>
            </a:r>
            <a:r>
              <a:rPr lang="en-US" altLang="zh-CN" sz="2800" dirty="0"/>
              <a:t>ROM-BIOS</a:t>
            </a:r>
            <a:r>
              <a:rPr lang="zh-CN" altLang="en-US" sz="2800" dirty="0"/>
              <a:t>功能调用</a:t>
            </a:r>
          </a:p>
          <a:p>
            <a:pPr>
              <a:lnSpc>
                <a:spcPct val="90000"/>
              </a:lnSpc>
            </a:pPr>
            <a:r>
              <a:rPr lang="zh-CN" altLang="en-US" sz="2800" dirty="0"/>
              <a:t>熟悉输出一个字符：</a:t>
            </a:r>
          </a:p>
          <a:p>
            <a:pPr lvl="1">
              <a:lnSpc>
                <a:spcPct val="90000"/>
              </a:lnSpc>
              <a:spcBef>
                <a:spcPct val="50000"/>
              </a:spcBef>
              <a:buFontTx/>
              <a:buNone/>
            </a:pPr>
            <a:r>
              <a:rPr lang="zh-CN" altLang="en-US" dirty="0"/>
              <a:t>⑴ 功能调用号：</a:t>
            </a:r>
            <a:r>
              <a:rPr lang="en-US" altLang="zh-CN" dirty="0"/>
              <a:t>AH</a:t>
            </a:r>
            <a:r>
              <a:rPr lang="zh-CN" altLang="en-US" dirty="0"/>
              <a:t>＝</a:t>
            </a:r>
            <a:r>
              <a:rPr lang="en-US" altLang="zh-CN" dirty="0"/>
              <a:t>0EH</a:t>
            </a:r>
          </a:p>
          <a:p>
            <a:pPr lvl="1">
              <a:lnSpc>
                <a:spcPct val="90000"/>
              </a:lnSpc>
              <a:buFontTx/>
              <a:buNone/>
            </a:pPr>
            <a:r>
              <a:rPr lang="en-US" altLang="zh-CN" dirty="0"/>
              <a:t>⑵ </a:t>
            </a:r>
            <a:r>
              <a:rPr lang="zh-CN" altLang="en-US" dirty="0"/>
              <a:t>入口参数：</a:t>
            </a:r>
            <a:r>
              <a:rPr lang="en-US" altLang="zh-CN" dirty="0"/>
              <a:t>AL</a:t>
            </a:r>
            <a:r>
              <a:rPr lang="zh-CN" altLang="en-US" dirty="0"/>
              <a:t>＝欲显示字符的</a:t>
            </a:r>
            <a:r>
              <a:rPr lang="en-US" altLang="zh-CN" dirty="0"/>
              <a:t>ASCII</a:t>
            </a:r>
            <a:r>
              <a:rPr lang="zh-CN" altLang="en-US" dirty="0"/>
              <a:t>码</a:t>
            </a:r>
          </a:p>
          <a:p>
            <a:pPr lvl="1">
              <a:lnSpc>
                <a:spcPct val="90000"/>
              </a:lnSpc>
              <a:buFontTx/>
              <a:buNone/>
            </a:pPr>
            <a:r>
              <a:rPr lang="zh-CN" altLang="en-US" dirty="0"/>
              <a:t>通常</a:t>
            </a:r>
            <a:r>
              <a:rPr lang="en-US" altLang="zh-CN" dirty="0"/>
              <a:t>BX</a:t>
            </a:r>
            <a:r>
              <a:rPr lang="zh-CN" altLang="en-US" dirty="0"/>
              <a:t>＝</a:t>
            </a:r>
            <a:r>
              <a:rPr lang="en-US" altLang="zh-CN" dirty="0"/>
              <a:t>0</a:t>
            </a:r>
          </a:p>
          <a:p>
            <a:pPr lvl="1">
              <a:lnSpc>
                <a:spcPct val="90000"/>
              </a:lnSpc>
              <a:buFontTx/>
              <a:buNone/>
            </a:pPr>
            <a:r>
              <a:rPr lang="en-US" altLang="zh-CN" dirty="0"/>
              <a:t>⑶ </a:t>
            </a:r>
            <a:r>
              <a:rPr lang="zh-CN" altLang="en-US" dirty="0"/>
              <a:t>功能调用：</a:t>
            </a:r>
            <a:r>
              <a:rPr lang="en-US" altLang="zh-CN" dirty="0"/>
              <a:t>INT 10H</a:t>
            </a:r>
          </a:p>
          <a:p>
            <a:pPr lvl="1">
              <a:lnSpc>
                <a:spcPct val="90000"/>
              </a:lnSpc>
              <a:buFontTx/>
              <a:buNone/>
            </a:pPr>
            <a:r>
              <a:rPr lang="en-US" altLang="zh-CN" dirty="0"/>
              <a:t>⑷ </a:t>
            </a:r>
            <a:r>
              <a:rPr lang="zh-CN" altLang="en-US" dirty="0"/>
              <a:t>出口参数：无</a:t>
            </a:r>
            <a:endParaRPr lang="zh-CN" altLang="en-US" sz="2400" dirty="0"/>
          </a:p>
        </p:txBody>
      </p:sp>
    </p:spTree>
  </p:cSld>
  <p:clrMapOvr>
    <a:masterClrMapping/>
  </p:clrMapOvr>
  <p:transition>
    <p:random/>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Rectangle 2">
            <a:extLst>
              <a:ext uri="{FF2B5EF4-FFF2-40B4-BE49-F238E27FC236}">
                <a16:creationId xmlns:a16="http://schemas.microsoft.com/office/drawing/2014/main" id="{DECCFAEA-E3BF-26F4-B876-CBAC5EF71CFD}"/>
              </a:ext>
            </a:extLst>
          </p:cNvPr>
          <p:cNvSpPr>
            <a:spLocks noGrp="1" noChangeArrowheads="1"/>
          </p:cNvSpPr>
          <p:nvPr>
            <p:ph type="title"/>
          </p:nvPr>
        </p:nvSpPr>
        <p:spPr/>
        <p:txBody>
          <a:bodyPr/>
          <a:lstStyle/>
          <a:p>
            <a:r>
              <a:rPr lang="en-US" altLang="zh-CN" dirty="0"/>
              <a:t>3.7.5 </a:t>
            </a:r>
            <a:r>
              <a:rPr lang="zh-CN" altLang="en-US" dirty="0"/>
              <a:t>处理器控制类指令</a:t>
            </a:r>
          </a:p>
        </p:txBody>
      </p:sp>
      <p:sp>
        <p:nvSpPr>
          <p:cNvPr id="368643" name="Rectangle 3">
            <a:extLst>
              <a:ext uri="{FF2B5EF4-FFF2-40B4-BE49-F238E27FC236}">
                <a16:creationId xmlns:a16="http://schemas.microsoft.com/office/drawing/2014/main" id="{558D3227-286C-FF9C-0CE0-61AABA3D1ECF}"/>
              </a:ext>
            </a:extLst>
          </p:cNvPr>
          <p:cNvSpPr>
            <a:spLocks noGrp="1" noChangeArrowheads="1"/>
          </p:cNvSpPr>
          <p:nvPr>
            <p:ph type="body" idx="1"/>
          </p:nvPr>
        </p:nvSpPr>
        <p:spPr>
          <a:xfrm>
            <a:off x="468313" y="1177925"/>
            <a:ext cx="8140700" cy="4987925"/>
          </a:xfrm>
        </p:spPr>
        <p:txBody>
          <a:bodyPr/>
          <a:lstStyle/>
          <a:p>
            <a:pPr>
              <a:tabLst>
                <a:tab pos="1076325" algn="l"/>
              </a:tabLst>
            </a:pPr>
            <a:r>
              <a:rPr lang="zh-CN" altLang="en-US" sz="2800"/>
              <a:t>处理器控制类指令用来控制</a:t>
            </a:r>
            <a:r>
              <a:rPr lang="en-US" altLang="zh-CN" sz="2800"/>
              <a:t>CPU</a:t>
            </a:r>
            <a:r>
              <a:rPr lang="zh-CN" altLang="en-US" sz="2800"/>
              <a:t>的状态，使</a:t>
            </a:r>
            <a:r>
              <a:rPr lang="en-US" altLang="zh-CN" sz="2800"/>
              <a:t>CPU</a:t>
            </a:r>
            <a:r>
              <a:rPr lang="zh-CN" altLang="en-US" sz="2800"/>
              <a:t>暂停、等待或空操作等</a:t>
            </a:r>
          </a:p>
          <a:p>
            <a:pPr>
              <a:spcBef>
                <a:spcPct val="50000"/>
              </a:spcBef>
              <a:buFontTx/>
              <a:buNone/>
              <a:tabLst>
                <a:tab pos="1076325" algn="l"/>
              </a:tabLst>
            </a:pPr>
            <a:r>
              <a:rPr lang="en-US" altLang="zh-CN" sz="2800">
                <a:solidFill>
                  <a:schemeClr val="tx1"/>
                </a:solidFill>
              </a:rPr>
              <a:t>NOP</a:t>
            </a:r>
            <a:r>
              <a:rPr lang="en-US" altLang="zh-CN" sz="2800"/>
              <a:t>	</a:t>
            </a:r>
            <a:r>
              <a:rPr lang="zh-CN" altLang="en-US" sz="2800"/>
              <a:t>；空操作指令，等同于“</a:t>
            </a:r>
            <a:r>
              <a:rPr lang="en-US" altLang="zh-CN" sz="2800">
                <a:solidFill>
                  <a:schemeClr val="tx1"/>
                </a:solidFill>
              </a:rPr>
              <a:t>xchg ax,ax</a:t>
            </a:r>
            <a:r>
              <a:rPr lang="en-US" altLang="zh-CN" sz="2800"/>
              <a:t>”</a:t>
            </a:r>
            <a:r>
              <a:rPr lang="zh-CN" altLang="en-US" sz="2800"/>
              <a:t>指令</a:t>
            </a:r>
          </a:p>
          <a:p>
            <a:pPr>
              <a:spcBef>
                <a:spcPct val="50000"/>
              </a:spcBef>
              <a:buFontTx/>
              <a:buNone/>
              <a:tabLst>
                <a:tab pos="1076325" algn="l"/>
              </a:tabLst>
            </a:pPr>
            <a:r>
              <a:rPr lang="en-US" altLang="zh-CN" sz="2800">
                <a:solidFill>
                  <a:schemeClr val="tx1"/>
                </a:solidFill>
              </a:rPr>
              <a:t>SEG:</a:t>
            </a:r>
            <a:r>
              <a:rPr lang="en-US" altLang="zh-CN" sz="2800"/>
              <a:t>	</a:t>
            </a:r>
            <a:r>
              <a:rPr lang="zh-CN" altLang="en-US" sz="2800"/>
              <a:t>；段超越前缀指令：</a:t>
            </a:r>
            <a:r>
              <a:rPr lang="en-US" altLang="zh-CN" sz="2800">
                <a:solidFill>
                  <a:schemeClr val="tx1"/>
                </a:solidFill>
              </a:rPr>
              <a:t>CS:</a:t>
            </a:r>
            <a:r>
              <a:rPr lang="zh-CN" altLang="en-US" sz="2800">
                <a:solidFill>
                  <a:schemeClr val="tx1"/>
                </a:solidFill>
              </a:rPr>
              <a:t>，</a:t>
            </a:r>
            <a:r>
              <a:rPr lang="en-US" altLang="zh-CN" sz="2800">
                <a:solidFill>
                  <a:schemeClr val="tx1"/>
                </a:solidFill>
              </a:rPr>
              <a:t>SS:</a:t>
            </a:r>
            <a:r>
              <a:rPr lang="zh-CN" altLang="en-US" sz="2800">
                <a:solidFill>
                  <a:schemeClr val="tx1"/>
                </a:solidFill>
              </a:rPr>
              <a:t>，</a:t>
            </a:r>
            <a:r>
              <a:rPr lang="en-US" altLang="zh-CN" sz="2800">
                <a:solidFill>
                  <a:schemeClr val="tx1"/>
                </a:solidFill>
              </a:rPr>
              <a:t>DS:</a:t>
            </a:r>
            <a:r>
              <a:rPr lang="zh-CN" altLang="en-US" sz="2800">
                <a:solidFill>
                  <a:schemeClr val="tx1"/>
                </a:solidFill>
              </a:rPr>
              <a:t>，</a:t>
            </a:r>
            <a:r>
              <a:rPr lang="en-US" altLang="zh-CN" sz="2800">
                <a:solidFill>
                  <a:schemeClr val="tx1"/>
                </a:solidFill>
              </a:rPr>
              <a:t>ES:</a:t>
            </a:r>
          </a:p>
          <a:p>
            <a:pPr>
              <a:spcBef>
                <a:spcPct val="50000"/>
              </a:spcBef>
              <a:buFontTx/>
              <a:buNone/>
              <a:tabLst>
                <a:tab pos="1076325" algn="l"/>
              </a:tabLst>
            </a:pPr>
            <a:r>
              <a:rPr lang="en-US" altLang="zh-CN" sz="2800">
                <a:solidFill>
                  <a:schemeClr val="tx1"/>
                </a:solidFill>
              </a:rPr>
              <a:t>HLT</a:t>
            </a:r>
            <a:r>
              <a:rPr lang="en-US" altLang="zh-CN" sz="2800"/>
              <a:t>	</a:t>
            </a:r>
            <a:r>
              <a:rPr lang="zh-CN" altLang="en-US" sz="2800"/>
              <a:t>；暂停指令：</a:t>
            </a:r>
            <a:r>
              <a:rPr lang="en-US" altLang="zh-CN" sz="2800"/>
              <a:t>CPU</a:t>
            </a:r>
            <a:r>
              <a:rPr lang="zh-CN" altLang="en-US" sz="2800"/>
              <a:t>进入暂停状态</a:t>
            </a:r>
          </a:p>
          <a:p>
            <a:pPr>
              <a:tabLst>
                <a:tab pos="1076325" algn="l"/>
              </a:tabLst>
            </a:pPr>
            <a:r>
              <a:rPr lang="zh-CN" altLang="en-US" sz="2800"/>
              <a:t>还有其他指令：</a:t>
            </a:r>
          </a:p>
          <a:p>
            <a:pPr>
              <a:buFontTx/>
              <a:buNone/>
              <a:tabLst>
                <a:tab pos="1076325" algn="l"/>
              </a:tabLst>
            </a:pPr>
            <a:r>
              <a:rPr lang="zh-CN" altLang="en-US" sz="2800">
                <a:solidFill>
                  <a:srgbClr val="FF0066"/>
                </a:solidFill>
              </a:rPr>
              <a:t>	</a:t>
            </a:r>
            <a:r>
              <a:rPr lang="en-US" altLang="zh-CN" sz="2800">
                <a:solidFill>
                  <a:schemeClr val="tx1"/>
                </a:solidFill>
              </a:rPr>
              <a:t>LOCK    ESC    WAIT</a:t>
            </a:r>
          </a:p>
        </p:txBody>
      </p:sp>
    </p:spTree>
  </p:cSld>
  <p:clrMapOvr>
    <a:masterClrMapping/>
  </p:clrMapOvr>
  <p:transition>
    <p:random/>
  </p:transition>
</p:sld>
</file>

<file path=ppt/theme/theme1.xml><?xml version="1.0" encoding="utf-8"?>
<a:theme xmlns:a="http://schemas.openxmlformats.org/drawingml/2006/main" name="015">
  <a:themeElements>
    <a:clrScheme name="015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015">
      <a:majorFont>
        <a:latin typeface="Arial"/>
        <a:ea typeface="宋体"/>
        <a:cs typeface=""/>
      </a:majorFont>
      <a:minorFont>
        <a:latin typeface="Arial"/>
        <a:ea typeface="幼圆"/>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defRPr>
        </a:defPPr>
      </a:lstStyle>
    </a:lnDef>
  </a:objectDefaults>
  <a:extraClrSchemeLst>
    <a:extraClrScheme>
      <a:clrScheme name="015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015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015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015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015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015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015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015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015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015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015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015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3503</TotalTime>
  <Words>8004</Words>
  <Application>Microsoft Office PowerPoint</Application>
  <PresentationFormat>全屏显示(4:3)</PresentationFormat>
  <Paragraphs>867</Paragraphs>
  <Slides>113</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113</vt:i4>
      </vt:variant>
    </vt:vector>
  </HeadingPairs>
  <TitlesOfParts>
    <vt:vector size="124" baseType="lpstr">
      <vt:lpstr>等线</vt:lpstr>
      <vt:lpstr>黑体</vt:lpstr>
      <vt:lpstr>华文彩云</vt:lpstr>
      <vt:lpstr>华文细黑</vt:lpstr>
      <vt:lpstr>隶书</vt:lpstr>
      <vt:lpstr>宋体</vt:lpstr>
      <vt:lpstr>幼圆</vt:lpstr>
      <vt:lpstr>Arial</vt:lpstr>
      <vt:lpstr>Times New Roman</vt:lpstr>
      <vt:lpstr>Wingdings</vt:lpstr>
      <vt:lpstr>015</vt:lpstr>
      <vt:lpstr>汇编语言程序设计 复习</vt:lpstr>
      <vt:lpstr>汇编语言的特点</vt:lpstr>
      <vt:lpstr>第3章：汇编语言程序设计</vt:lpstr>
      <vt:lpstr>3.1  汇编语言源程序格式</vt:lpstr>
      <vt:lpstr>end汇编结束</vt:lpstr>
      <vt:lpstr>硬指令与伪指令</vt:lpstr>
      <vt:lpstr>标识符与保留字</vt:lpstr>
      <vt:lpstr>保留字</vt:lpstr>
      <vt:lpstr>操作数</vt:lpstr>
      <vt:lpstr>PowerPoint 演示文稿</vt:lpstr>
      <vt:lpstr>注释</vt:lpstr>
      <vt:lpstr>汇编语言程序的开发过程（附录B）</vt:lpstr>
      <vt:lpstr>3.2  常量和变量 </vt:lpstr>
      <vt:lpstr>3.2.1 常量</vt:lpstr>
      <vt:lpstr>1. 常数</vt:lpstr>
      <vt:lpstr>2. 字符串</vt:lpstr>
      <vt:lpstr>3. 符号常量</vt:lpstr>
      <vt:lpstr>4. 数值表达式</vt:lpstr>
      <vt:lpstr>3.2.2 变量 </vt:lpstr>
      <vt:lpstr>1. 变量的定义 </vt:lpstr>
      <vt:lpstr>字节变量定义实例</vt:lpstr>
      <vt:lpstr>2. 变量的应用</vt:lpstr>
      <vt:lpstr>3.3 顺序程序设计</vt:lpstr>
      <vt:lpstr>3.4 分支程序设计</vt:lpstr>
      <vt:lpstr>单分支结构 </vt:lpstr>
      <vt:lpstr>双分支结构</vt:lpstr>
      <vt:lpstr>多分支结构</vt:lpstr>
      <vt:lpstr>3.5 循环程序设计</vt:lpstr>
      <vt:lpstr>循环控制</vt:lpstr>
      <vt:lpstr>先循环后判断的循环结构</vt:lpstr>
      <vt:lpstr>3.5.1 计数控制循环 </vt:lpstr>
      <vt:lpstr>3.5.2 条件控制循环</vt:lpstr>
      <vt:lpstr>3.6 子程序设计 </vt:lpstr>
      <vt:lpstr>3.6.1 过程定义和子程序编写</vt:lpstr>
      <vt:lpstr>子程序编写注意事项</vt:lpstr>
      <vt:lpstr>子程序编写注意事项（续）</vt:lpstr>
      <vt:lpstr>参数传递</vt:lpstr>
      <vt:lpstr>3.7 基本指令</vt:lpstr>
      <vt:lpstr>3.7.1 数据传送类指令</vt:lpstr>
      <vt:lpstr>1. 传送指令MOV（move）</vt:lpstr>
      <vt:lpstr>MOV指令－－立即数传送</vt:lpstr>
      <vt:lpstr>MOV指令－－寄存器传送</vt:lpstr>
      <vt:lpstr>MOV指令－－存储器传送</vt:lpstr>
      <vt:lpstr>PowerPoint 演示文稿</vt:lpstr>
      <vt:lpstr>MOV指令－－段寄存器传送</vt:lpstr>
      <vt:lpstr>MOV指令传送功能图解</vt:lpstr>
      <vt:lpstr>非法指令－两个操作数类型不一致</vt:lpstr>
      <vt:lpstr>非法指令－无法确定是字节量还是字量操作</vt:lpstr>
      <vt:lpstr>非法指令－两个操作数都是存储器</vt:lpstr>
      <vt:lpstr>非法指令－段寄存器的操作有一些限制</vt:lpstr>
      <vt:lpstr>2. 交换指令XCHG（exchange）</vt:lpstr>
      <vt:lpstr>3. 换码指令XLAT（translate）</vt:lpstr>
      <vt:lpstr>PowerPoint 演示文稿</vt:lpstr>
      <vt:lpstr>4.进栈指令PUSH</vt:lpstr>
      <vt:lpstr>5.出栈指令POP</vt:lpstr>
      <vt:lpstr>堆栈操作的特点</vt:lpstr>
      <vt:lpstr>6.标志操作指令</vt:lpstr>
      <vt:lpstr>7.有效地址传送指令LEA（load effective address）</vt:lpstr>
      <vt:lpstr>8. 输入输出指令</vt:lpstr>
      <vt:lpstr>8. 输入输出指令</vt:lpstr>
      <vt:lpstr>PowerPoint 演示文稿</vt:lpstr>
      <vt:lpstr>PowerPoint 演示文稿</vt:lpstr>
      <vt:lpstr>3.7.2  算术运算类指令</vt:lpstr>
      <vt:lpstr>1. 加和减指令 </vt:lpstr>
      <vt:lpstr>2. 带进位加和减指令 </vt:lpstr>
      <vt:lpstr>3. 比较指令CMP（compare）</vt:lpstr>
      <vt:lpstr>4. 增量和减量指令</vt:lpstr>
      <vt:lpstr>5. 求补指令NEG（negtive）</vt:lpstr>
      <vt:lpstr>6.符号扩展指令</vt:lpstr>
      <vt:lpstr>7. 乘法和除法指令</vt:lpstr>
      <vt:lpstr>8. 十进制调整指令 </vt:lpstr>
      <vt:lpstr>3.7.3位操作类指令 </vt:lpstr>
      <vt:lpstr>1.  逻辑运算指令</vt:lpstr>
      <vt:lpstr>逻辑与指令AND</vt:lpstr>
      <vt:lpstr>PowerPoint 演示文稿</vt:lpstr>
      <vt:lpstr>逻辑或指令OR</vt:lpstr>
      <vt:lpstr>PowerPoint 演示文稿</vt:lpstr>
      <vt:lpstr>逻辑异或指令XOR</vt:lpstr>
      <vt:lpstr>PowerPoint 演示文稿</vt:lpstr>
      <vt:lpstr>测试指令TEST</vt:lpstr>
      <vt:lpstr>PowerPoint 演示文稿</vt:lpstr>
      <vt:lpstr>PowerPoint 演示文稿</vt:lpstr>
      <vt:lpstr>逻辑非指令NOT</vt:lpstr>
      <vt:lpstr>2.  移位指令</vt:lpstr>
      <vt:lpstr>逻辑左移指令SHL</vt:lpstr>
      <vt:lpstr>逻辑右移指令SHR</vt:lpstr>
      <vt:lpstr>算术左移指令SAL</vt:lpstr>
      <vt:lpstr>算术右移指令SAR</vt:lpstr>
      <vt:lpstr>3.  循环移位指令</vt:lpstr>
      <vt:lpstr>3.7.4 控制转移类指令 </vt:lpstr>
      <vt:lpstr>1. 无条件转移指令</vt:lpstr>
      <vt:lpstr>无条件转移指令JMP（jump） </vt:lpstr>
      <vt:lpstr>2. 条件转移指令</vt:lpstr>
      <vt:lpstr>Jcc指令的分类</vt:lpstr>
      <vt:lpstr>判断单个标志位状态</vt:lpstr>
      <vt:lpstr>比较数值大小：无符号数的高低</vt:lpstr>
      <vt:lpstr>比较数值大小：有符号数的大小</vt:lpstr>
      <vt:lpstr>例2.22  求较大值</vt:lpstr>
      <vt:lpstr>3. 循环指令</vt:lpstr>
      <vt:lpstr>4.  子程序指令</vt:lpstr>
      <vt:lpstr>子程序调用指令CALL</vt:lpstr>
      <vt:lpstr>子程序返回指令RET</vt:lpstr>
      <vt:lpstr>5. 中断指令和系统功能调用</vt:lpstr>
      <vt:lpstr>中断指令</vt:lpstr>
      <vt:lpstr>系统功能调用方法</vt:lpstr>
      <vt:lpstr>系统功能调用步骤</vt:lpstr>
      <vt:lpstr>DOS输入输出功能调用</vt:lpstr>
      <vt:lpstr>02H号DOS功能调用</vt:lpstr>
      <vt:lpstr>09H号DOS功能调用</vt:lpstr>
      <vt:lpstr>例 提示按任意键继续</vt:lpstr>
      <vt:lpstr>4CH号DOS功能调用</vt:lpstr>
      <vt:lpstr>ROM-BIOS输入输出功能调用</vt:lpstr>
      <vt:lpstr>3.7.5 处理器控制类指令</vt:lpstr>
    </vt:vector>
  </TitlesOfParts>
  <Company>zzu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第3章 汇编语言程序设计</dc:title>
  <cp:lastModifiedBy>Qin Li</cp:lastModifiedBy>
  <cp:revision>396</cp:revision>
  <dcterms:created xsi:type="dcterms:W3CDTF">2003-04-30T14:16:35Z</dcterms:created>
  <dcterms:modified xsi:type="dcterms:W3CDTF">2024-03-01T08:44:39Z</dcterms:modified>
</cp:coreProperties>
</file>