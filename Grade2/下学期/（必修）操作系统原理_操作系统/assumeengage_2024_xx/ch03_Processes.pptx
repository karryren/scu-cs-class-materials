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75"/>
  </p:handoutMasterIdLst>
  <p:sldIdLst>
    <p:sldId id="330" r:id="rId3"/>
    <p:sldId id="411" r:id="rId5"/>
    <p:sldId id="412" r:id="rId6"/>
    <p:sldId id="413" r:id="rId7"/>
    <p:sldId id="468" r:id="rId8"/>
    <p:sldId id="414" r:id="rId9"/>
    <p:sldId id="499" r:id="rId10"/>
    <p:sldId id="415" r:id="rId11"/>
    <p:sldId id="416" r:id="rId12"/>
    <p:sldId id="417" r:id="rId13"/>
    <p:sldId id="419" r:id="rId14"/>
    <p:sldId id="469" r:id="rId15"/>
    <p:sldId id="421" r:id="rId16"/>
    <p:sldId id="422" r:id="rId17"/>
    <p:sldId id="423" r:id="rId18"/>
    <p:sldId id="500" r:id="rId19"/>
    <p:sldId id="501" r:id="rId20"/>
    <p:sldId id="426" r:id="rId21"/>
    <p:sldId id="428" r:id="rId22"/>
    <p:sldId id="429" r:id="rId23"/>
    <p:sldId id="431" r:id="rId24"/>
    <p:sldId id="430" r:id="rId25"/>
    <p:sldId id="432" r:id="rId26"/>
    <p:sldId id="478" r:id="rId27"/>
    <p:sldId id="434" r:id="rId28"/>
    <p:sldId id="471" r:id="rId29"/>
    <p:sldId id="502" r:id="rId30"/>
    <p:sldId id="435" r:id="rId31"/>
    <p:sldId id="436" r:id="rId32"/>
    <p:sldId id="437" r:id="rId33"/>
    <p:sldId id="516" r:id="rId34"/>
    <p:sldId id="503" r:id="rId35"/>
    <p:sldId id="490" r:id="rId36"/>
    <p:sldId id="491" r:id="rId37"/>
    <p:sldId id="492" r:id="rId38"/>
    <p:sldId id="521" r:id="rId39"/>
    <p:sldId id="522" r:id="rId40"/>
    <p:sldId id="523" r:id="rId41"/>
    <p:sldId id="524" r:id="rId42"/>
    <p:sldId id="525" r:id="rId43"/>
    <p:sldId id="479" r:id="rId44"/>
    <p:sldId id="473" r:id="rId45"/>
    <p:sldId id="476" r:id="rId46"/>
    <p:sldId id="445" r:id="rId47"/>
    <p:sldId id="446" r:id="rId48"/>
    <p:sldId id="447" r:id="rId49"/>
    <p:sldId id="448" r:id="rId50"/>
    <p:sldId id="518" r:id="rId51"/>
    <p:sldId id="520" r:id="rId52"/>
    <p:sldId id="451" r:id="rId53"/>
    <p:sldId id="496" r:id="rId54"/>
    <p:sldId id="497" r:id="rId55"/>
    <p:sldId id="498" r:id="rId56"/>
    <p:sldId id="455" r:id="rId57"/>
    <p:sldId id="507" r:id="rId58"/>
    <p:sldId id="508" r:id="rId59"/>
    <p:sldId id="509" r:id="rId60"/>
    <p:sldId id="510" r:id="rId61"/>
    <p:sldId id="457" r:id="rId62"/>
    <p:sldId id="511" r:id="rId63"/>
    <p:sldId id="512" r:id="rId64"/>
    <p:sldId id="513" r:id="rId65"/>
    <p:sldId id="458" r:id="rId66"/>
    <p:sldId id="459" r:id="rId67"/>
    <p:sldId id="460" r:id="rId68"/>
    <p:sldId id="461" r:id="rId69"/>
    <p:sldId id="514" r:id="rId70"/>
    <p:sldId id="462" r:id="rId71"/>
    <p:sldId id="477" r:id="rId72"/>
    <p:sldId id="463" r:id="rId73"/>
    <p:sldId id="467" r:id="rId74"/>
  </p:sldIdLst>
  <p:sldSz cx="9144000" cy="6858000" type="screen4x3"/>
  <p:notesSz cx="7010400" cy="9296400"/>
  <p:custDataLst>
    <p:tags r:id="rId7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 autoAdjust="0"/>
    <p:restoredTop sz="94635"/>
  </p:normalViewPr>
  <p:slideViewPr>
    <p:cSldViewPr snapToGrid="0">
      <p:cViewPr varScale="1">
        <p:scale>
          <a:sx n="75" d="100"/>
          <a:sy n="75" d="100"/>
        </p:scale>
        <p:origin x="974" y="4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4" d="100"/>
        <a:sy n="94" d="100"/>
      </p:scale>
      <p:origin x="0" y="-905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9" Type="http://schemas.openxmlformats.org/officeDocument/2006/relationships/tags" Target="tags/tag1.xml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handoutMaster" Target="handoutMasters/handoutMaster1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ctr" anchorCtr="0" compatLnSpc="1"/>
          <a:lstStyle>
            <a:lvl1pPr defTabSz="882650">
              <a:defRPr sz="1100">
                <a:latin typeface="Helvetic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ctr" anchorCtr="0" compatLnSpc="1"/>
          <a:lstStyle>
            <a:lvl1pPr algn="r" defTabSz="882650">
              <a:defRPr sz="1100">
                <a:latin typeface="Helvetic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b" anchorCtr="0" compatLnSpc="1"/>
          <a:lstStyle>
            <a:lvl1pPr defTabSz="882650">
              <a:defRPr sz="1100">
                <a:latin typeface="Helvetic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b" anchorCtr="0" compatLnSpc="1"/>
          <a:lstStyle>
            <a:lvl1pPr algn="r" defTabSz="882650">
              <a:defRPr sz="1100">
                <a:latin typeface="Helvetica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ctr" anchorCtr="0" compatLnSpc="1"/>
          <a:lstStyle>
            <a:lvl1pPr defTabSz="930275">
              <a:defRPr sz="1200">
                <a:latin typeface="Times New Roman" panose="0202060305040502030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ctr" anchorCtr="0" compatLnSpc="1"/>
          <a:lstStyle>
            <a:lvl1pPr algn="r" defTabSz="930275">
              <a:defRPr sz="1200">
                <a:latin typeface="Times New Roman" panose="0202060305040502030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b" anchorCtr="0" compatLnSpc="1"/>
          <a:lstStyle>
            <a:lvl1pPr defTabSz="930275">
              <a:defRPr sz="1200">
                <a:latin typeface="Times New Roman" panose="0202060305040502030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b" anchorCtr="0" compatLnSpc="1"/>
          <a:lstStyle>
            <a:lvl1pPr algn="r" defTabSz="930275">
              <a:defRPr sz="1200">
                <a:latin typeface="Times New Roman" panose="0202060305040502030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charset="0"/>
              </a:rPr>
            </a:fld>
            <a:endParaRPr lang="en-US" altLang="en-US">
              <a:latin typeface="Times New Roman" panose="0202060305040502030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284F21-9F1A-4F22-8037-297481AD2DC1}" type="slidenum">
              <a:rPr lang="en-US" altLang="en-US" smtClean="0">
                <a:latin typeface="Times New Roman" panose="02020603050405020304" charset="0"/>
              </a:rPr>
            </a:fld>
            <a:endParaRPr lang="en-US" altLang="en-US">
              <a:latin typeface="Times New Roman" panose="02020603050405020304" charset="0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29CD1A-AE72-4F61-8821-1DA62212AA59}" type="slidenum">
              <a:rPr lang="en-US" altLang="en-US" smtClean="0">
                <a:latin typeface="Times New Roman" panose="02020603050405020304" charset="0"/>
              </a:rPr>
            </a:fld>
            <a:endParaRPr lang="en-US" altLang="en-US">
              <a:latin typeface="Times New Roman" panose="02020603050405020304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BF11701-DA1F-421D-A56C-66611BA250E3}" type="slidenum">
              <a:rPr lang="en-US" altLang="en-US" smtClean="0">
                <a:latin typeface="Times New Roman" panose="02020603050405020304" charset="0"/>
              </a:rPr>
            </a:fld>
            <a:endParaRPr lang="en-US" altLang="en-US">
              <a:latin typeface="Times New Roman" panose="02020603050405020304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charset="0"/>
              </a:rPr>
            </a:fld>
            <a:endParaRPr lang="en-US" altLang="en-US">
              <a:latin typeface="Times New Roman" panose="02020603050405020304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charset="0"/>
              </a:rPr>
            </a:fld>
            <a:endParaRPr lang="en-US" altLang="en-US">
              <a:latin typeface="Times New Roman" panose="02020603050405020304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charset="0"/>
              </a:rPr>
              <a:t>Silberschatz, Galvin and Gagne ©2018</a:t>
            </a:r>
            <a:endParaRPr lang="en-US" sz="1000" b="1" dirty="0">
              <a:solidFill>
                <a:srgbClr val="336699"/>
              </a:solidFill>
              <a:latin typeface="Helvetica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charset="0"/>
              </a:rPr>
              <a:t> Edition</a:t>
            </a:r>
            <a:endParaRPr lang="en-US" sz="1000" b="1" dirty="0">
              <a:solidFill>
                <a:srgbClr val="336699"/>
              </a:solidFill>
              <a:latin typeface="Helvetica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panose="02020603050405020304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panose="0202060305040502030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panose="02020603050405020304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charset="0"/>
              </a:rPr>
              <a:t>Silberschatz, Galvin and Gagne ©2018</a:t>
            </a:r>
            <a:endParaRPr 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charset="0"/>
              </a:rPr>
              <a:t> Edition</a:t>
            </a:r>
            <a:endParaRPr 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644650" y="228600"/>
            <a:ext cx="63801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1688" y="1149350"/>
            <a:ext cx="7791450" cy="3822700"/>
          </a:xfrm>
        </p:spPr>
        <p:txBody>
          <a:bodyPr/>
          <a:lstStyle/>
          <a:p>
            <a:r>
              <a:rPr lang="en-US" altLang="en-US" dirty="0"/>
              <a:t>Process Concept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进程概念</a:t>
            </a:r>
            <a:endParaRPr lang="en-US" altLang="en-US" dirty="0"/>
          </a:p>
          <a:p>
            <a:r>
              <a:rPr lang="en-US" altLang="en-US" dirty="0"/>
              <a:t>Process Scheduling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进程调度</a:t>
            </a:r>
            <a:endParaRPr lang="en-US" altLang="en-US" dirty="0"/>
          </a:p>
          <a:p>
            <a:r>
              <a:rPr lang="en-US" altLang="en-US" dirty="0"/>
              <a:t>Operations on Processes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进程中的操作</a:t>
            </a:r>
            <a:endParaRPr lang="en-US" altLang="en-US" dirty="0"/>
          </a:p>
          <a:p>
            <a:r>
              <a:rPr lang="en-US" altLang="en-US" dirty="0"/>
              <a:t>Interprocess Communication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进程间通讯</a:t>
            </a:r>
            <a:endParaRPr lang="en-US" altLang="en-US" dirty="0"/>
          </a:p>
          <a:p>
            <a:r>
              <a:rPr lang="en-US" altLang="en-US" dirty="0"/>
              <a:t>IPC in Shared-Memory Systems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共享内存</a:t>
            </a:r>
            <a:endParaRPr lang="en-US" altLang="en-US" dirty="0"/>
          </a:p>
          <a:p>
            <a:r>
              <a:rPr lang="en-US" altLang="en-US" dirty="0"/>
              <a:t>IPC in Message-Passing Systems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消息传递</a:t>
            </a:r>
            <a:endParaRPr lang="en-US" altLang="en-US" dirty="0"/>
          </a:p>
          <a:p>
            <a:r>
              <a:rPr lang="en-US" altLang="en-US" dirty="0"/>
              <a:t>Examples of IPC Systems</a:t>
            </a:r>
            <a:endParaRPr lang="en-US" altLang="en-US" dirty="0"/>
          </a:p>
          <a:p>
            <a:r>
              <a:rPr lang="en-US" altLang="en-US" dirty="0"/>
              <a:t>Communication in Client-Server Systems</a:t>
            </a: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921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01688" y="1138238"/>
            <a:ext cx="7745412" cy="4530725"/>
          </a:xfrm>
        </p:spPr>
        <p:txBody>
          <a:bodyPr/>
          <a:lstStyle/>
          <a:p>
            <a:r>
              <a:rPr lang="en-US" altLang="en-US" dirty="0"/>
              <a:t>Identify the separate components of a process and illustrate how they are represented and scheduled in an operating system.</a:t>
            </a:r>
            <a:endParaRPr lang="en-US" altLang="en-US" dirty="0"/>
          </a:p>
          <a:p>
            <a:r>
              <a:rPr lang="en-US" altLang="en-US" dirty="0"/>
              <a:t>Describe how processes are created and terminated in an operating system, including developing programs using the appropriate system calls that perform these operations.</a:t>
            </a:r>
            <a:endParaRPr lang="en-US" altLang="en-US" dirty="0"/>
          </a:p>
          <a:p>
            <a:r>
              <a:rPr lang="en-US" altLang="en-US" dirty="0"/>
              <a:t>Describe and contrast 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 using shared memory and message passing.</a:t>
            </a:r>
            <a:endParaRPr lang="en-US" altLang="en-US" dirty="0"/>
          </a:p>
          <a:p>
            <a:r>
              <a:rPr lang="en-US" altLang="en-US" dirty="0"/>
              <a:t>Design programs that uses pipes and POSIX shared memory to perform 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communication.</a:t>
            </a:r>
            <a:endParaRPr lang="en-US" altLang="en-US" dirty="0"/>
          </a:p>
          <a:p>
            <a:r>
              <a:rPr lang="en-US" altLang="en-US" dirty="0"/>
              <a:t>Describe client-server communication using sockets and remote procedure calls.</a:t>
            </a:r>
            <a:endParaRPr lang="en-US" altLang="en-US" dirty="0"/>
          </a:p>
          <a:p>
            <a:r>
              <a:rPr lang="en-US" altLang="en-US" dirty="0"/>
              <a:t>Design kernel modules that interact with the Linux operating system.</a:t>
            </a: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6388" y="222250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  <a:endParaRPr lang="en-US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0" y="1206500"/>
            <a:ext cx="7624536" cy="47588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operating system executes a variety of programs that run as a process.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dirty="0"/>
              <a:t> – a program in execution; process execution must progress in sequential fashion. No parallel execution of instructions of a  single process</a:t>
            </a:r>
            <a:endParaRPr lang="en-US" altLang="en-US" dirty="0"/>
          </a:p>
          <a:p>
            <a:r>
              <a:rPr lang="en-US" altLang="en-US" dirty="0"/>
              <a:t>Multiple parts</a:t>
            </a:r>
            <a:endParaRPr lang="en-US" altLang="en-US" dirty="0"/>
          </a:p>
          <a:p>
            <a:pPr lvl="1"/>
            <a:r>
              <a:rPr lang="en-US" altLang="en-US" dirty="0"/>
              <a:t>The program code, 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 </a:t>
            </a:r>
            <a:r>
              <a:rPr lang="zh-CN" altLang="en-US" b="1" dirty="0">
                <a:solidFill>
                  <a:srgbClr val="0066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代码段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Current activity including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program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counter </a:t>
            </a:r>
            <a:r>
              <a:rPr lang="zh-CN" altLang="en-US" sz="1800" b="1" dirty="0">
                <a:solidFill>
                  <a:srgbClr val="0066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程序计数器</a:t>
            </a:r>
            <a:r>
              <a:rPr lang="en-US" altLang="en-US" dirty="0"/>
              <a:t>, processor registers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b="1" dirty="0"/>
              <a:t> </a:t>
            </a:r>
            <a:r>
              <a:rPr lang="zh-CN" altLang="en-US" sz="1800" b="1" dirty="0">
                <a:solidFill>
                  <a:srgbClr val="0066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栈</a:t>
            </a:r>
            <a:r>
              <a:rPr lang="en-US" altLang="zh-CN" b="1" dirty="0"/>
              <a:t> </a:t>
            </a:r>
            <a:r>
              <a:rPr lang="en-US" altLang="en-US" dirty="0"/>
              <a:t>containing temporary data</a:t>
            </a:r>
            <a:endParaRPr lang="en-US" altLang="en-US" dirty="0"/>
          </a:p>
          <a:p>
            <a:pPr lvl="2"/>
            <a:r>
              <a:rPr lang="en-US" altLang="en-US" dirty="0"/>
              <a:t>Function parameters, return addresses, local variables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  <a:r>
              <a:rPr lang="en-US" altLang="en-US" b="1" dirty="0"/>
              <a:t> </a:t>
            </a:r>
            <a:r>
              <a:rPr lang="zh-CN" altLang="en-US" sz="1800" b="1" dirty="0">
                <a:solidFill>
                  <a:srgbClr val="0066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数据段</a:t>
            </a:r>
            <a:r>
              <a:rPr lang="en-US" altLang="zh-CN" b="1" dirty="0"/>
              <a:t> </a:t>
            </a:r>
            <a:r>
              <a:rPr lang="en-US" altLang="en-US" dirty="0"/>
              <a:t>containing global variables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Heap</a:t>
            </a:r>
            <a:r>
              <a:rPr lang="en-US" altLang="en-US" b="1" dirty="0"/>
              <a:t> </a:t>
            </a:r>
            <a:r>
              <a:rPr lang="zh-CN" altLang="en-US" sz="1800" b="1" dirty="0">
                <a:solidFill>
                  <a:srgbClr val="0066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堆</a:t>
            </a:r>
            <a:r>
              <a:rPr lang="en-US" altLang="zh-CN" b="1" dirty="0"/>
              <a:t> </a:t>
            </a:r>
            <a:r>
              <a:rPr lang="en-US" altLang="en-US" dirty="0"/>
              <a:t>containing memory dynamically allocated during run time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76388" y="230188"/>
            <a:ext cx="6107112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Concept (Cont.)</a:t>
            </a:r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0" y="1203325"/>
            <a:ext cx="6949621" cy="4595132"/>
          </a:xfrm>
        </p:spPr>
        <p:txBody>
          <a:bodyPr/>
          <a:lstStyle/>
          <a:p>
            <a:pPr algn="l"/>
            <a:r>
              <a:rPr lang="en-US" altLang="en-US" dirty="0"/>
              <a:t>Program is </a:t>
            </a:r>
            <a:r>
              <a:rPr lang="en-US" altLang="en-US" b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dirty="0"/>
              <a:t>); process is </a:t>
            </a:r>
            <a:r>
              <a:rPr lang="en-US" altLang="en-US" b="1" dirty="0"/>
              <a:t>active</a:t>
            </a:r>
            <a:r>
              <a:rPr lang="en-US" altLang="en-US" b="1" i="1" dirty="0"/>
              <a:t> </a:t>
            </a:r>
            <a:r>
              <a:rPr lang="en-US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活动的</a:t>
            </a:r>
            <a:endParaRPr lang="en-US" altLang="en-US" sz="1800" b="1" dirty="0"/>
          </a:p>
          <a:p>
            <a:pPr lvl="1"/>
            <a:r>
              <a:rPr lang="en-US" altLang="en-US" dirty="0"/>
              <a:t>Program becomes process when an executable file is loaded into memory</a:t>
            </a:r>
            <a:endParaRPr lang="en-US" altLang="en-US" dirty="0"/>
          </a:p>
          <a:p>
            <a:r>
              <a:rPr lang="en-US" altLang="en-US" dirty="0"/>
              <a:t>Execution of program started via GUI mouse clicks, command line entry of its name, etc.</a:t>
            </a:r>
            <a:endParaRPr lang="en-US" altLang="en-US" dirty="0"/>
          </a:p>
          <a:p>
            <a:r>
              <a:rPr lang="en-US" altLang="en-US" dirty="0"/>
              <a:t>One program can be several processes</a:t>
            </a:r>
            <a:endParaRPr lang="en-US" altLang="en-US" dirty="0"/>
          </a:p>
          <a:p>
            <a:pPr lvl="1"/>
            <a:r>
              <a:rPr lang="en-US" altLang="en-US" dirty="0"/>
              <a:t>Consider multiple users executing the same program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in Memory</a:t>
            </a:r>
            <a:endParaRPr lang="en-US" altLang="en-US"/>
          </a:p>
        </p:txBody>
      </p:sp>
      <p:pic>
        <p:nvPicPr>
          <p:cNvPr id="15363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595438"/>
            <a:ext cx="26558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 noChangeArrowheads="1"/>
          </p:cNvSpPr>
          <p:nvPr>
            <p:ph type="title"/>
          </p:nvPr>
        </p:nvSpPr>
        <p:spPr>
          <a:xfrm>
            <a:off x="1074057" y="196397"/>
            <a:ext cx="8077200" cy="576263"/>
          </a:xfrm>
        </p:spPr>
        <p:txBody>
          <a:bodyPr/>
          <a:lstStyle/>
          <a:p>
            <a:r>
              <a:rPr lang="en-US" altLang="en-US" dirty="0"/>
              <a:t>Memory Layout of a C Program</a:t>
            </a:r>
            <a:endParaRPr lang="en-US" altLang="en-US" dirty="0"/>
          </a:p>
        </p:txBody>
      </p:sp>
      <p:pic>
        <p:nvPicPr>
          <p:cNvPr id="17411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701800"/>
            <a:ext cx="7227888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228600"/>
            <a:ext cx="6251575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State</a:t>
            </a:r>
            <a:endParaRPr lang="en-US" alt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46188"/>
            <a:ext cx="7370763" cy="3254375"/>
          </a:xfrm>
        </p:spPr>
        <p:txBody>
          <a:bodyPr/>
          <a:lstStyle/>
          <a:p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  <a:endParaRPr lang="en-US" altLang="en-US" dirty="0"/>
          </a:p>
          <a:p>
            <a:pPr lvl="1"/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  <a:endParaRPr lang="en-US" altLang="en-US" dirty="0"/>
          </a:p>
          <a:p>
            <a:pPr lvl="1"/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  <a:endParaRPr lang="en-US" altLang="en-US" dirty="0"/>
          </a:p>
          <a:p>
            <a:pPr lvl="1"/>
            <a:r>
              <a:rPr lang="en-US" altLang="en-US" b="1" dirty="0"/>
              <a:t>Ready</a:t>
            </a:r>
            <a:r>
              <a:rPr lang="en-US" altLang="en-US" dirty="0"/>
              <a:t>: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就绪</a:t>
            </a:r>
            <a:r>
              <a:rPr lang="en-US" altLang="zh-CN" dirty="0"/>
              <a:t> </a:t>
            </a:r>
            <a:r>
              <a:rPr lang="en-US" altLang="en-US" dirty="0"/>
              <a:t>The process is waiting to be assigned to a processor</a:t>
            </a:r>
            <a:endParaRPr lang="en-US" altLang="en-US" dirty="0"/>
          </a:p>
          <a:p>
            <a:pPr lvl="1"/>
            <a:r>
              <a:rPr lang="en-US" altLang="en-US" b="1" dirty="0"/>
              <a:t>Terminated</a:t>
            </a:r>
            <a:r>
              <a:rPr lang="en-US" altLang="en-US" dirty="0"/>
              <a:t>: 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已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终止</a:t>
            </a:r>
            <a:r>
              <a:rPr lang="en-US" altLang="zh-CN" dirty="0"/>
              <a:t> </a:t>
            </a:r>
            <a:r>
              <a:rPr lang="en-US" altLang="en-US" dirty="0"/>
              <a:t>The process has finished execution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228600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/>
              <a:t>Diagram of Process State</a:t>
            </a:r>
            <a:endParaRPr lang="en-US" altLang="en-US"/>
          </a:p>
        </p:txBody>
      </p:sp>
      <p:pic>
        <p:nvPicPr>
          <p:cNvPr id="20483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2238375"/>
            <a:ext cx="5591175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66813" y="193903"/>
            <a:ext cx="75199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Control Block (PCB)</a:t>
            </a:r>
            <a:endParaRPr lang="zh-CN" alt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991" y="1823222"/>
            <a:ext cx="5616122" cy="4417927"/>
          </a:xfrm>
        </p:spPr>
        <p:txBody>
          <a:bodyPr/>
          <a:lstStyle/>
          <a:p>
            <a:r>
              <a:rPr lang="en-US" altLang="en-US" sz="1700" dirty="0"/>
              <a:t>Process state – running, waiting, etc.</a:t>
            </a:r>
            <a:endParaRPr lang="en-US" altLang="en-US" sz="1700" dirty="0"/>
          </a:p>
          <a:p>
            <a:r>
              <a:rPr lang="en-US" altLang="en-US" sz="1700" dirty="0"/>
              <a:t>Program counter – location of instruction to next execute</a:t>
            </a:r>
            <a:endParaRPr lang="en-US" altLang="en-US" sz="1700" dirty="0"/>
          </a:p>
          <a:p>
            <a:r>
              <a:rPr lang="en-US" altLang="en-US" sz="1700" dirty="0"/>
              <a:t>CPU registers – contents of all process-centric registers</a:t>
            </a:r>
            <a:endParaRPr lang="en-US" altLang="en-US" sz="1700" dirty="0"/>
          </a:p>
          <a:p>
            <a:r>
              <a:rPr lang="en-US" altLang="en-US" sz="1700" dirty="0"/>
              <a:t>CPU scheduling information- priorities, scheduling queue pointers</a:t>
            </a:r>
            <a:endParaRPr lang="en-US" altLang="en-US" sz="1700" dirty="0"/>
          </a:p>
          <a:p>
            <a:r>
              <a:rPr lang="en-US" altLang="en-US" sz="1700" dirty="0"/>
              <a:t>Memory-management information – memory allocated to the process</a:t>
            </a:r>
            <a:endParaRPr lang="en-US" altLang="en-US" sz="1700" dirty="0"/>
          </a:p>
          <a:p>
            <a:r>
              <a:rPr lang="en-US" altLang="en-US" sz="1700" dirty="0"/>
              <a:t>Accounting information – CPU used, clock time elapsed since start, time limits</a:t>
            </a:r>
            <a:endParaRPr lang="en-US" altLang="en-US" sz="1700" dirty="0"/>
          </a:p>
          <a:p>
            <a:r>
              <a:rPr lang="en-US" altLang="en-US" sz="1700" dirty="0"/>
              <a:t>I/O status information – I/O devices allocated to process, list of open files</a:t>
            </a:r>
            <a:endParaRPr lang="en-US" altLang="en-US" sz="1700" dirty="0"/>
          </a:p>
          <a:p>
            <a:endParaRPr lang="en-US" altLang="en-US" dirty="0"/>
          </a:p>
        </p:txBody>
      </p:sp>
      <p:pic>
        <p:nvPicPr>
          <p:cNvPr id="2253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729" y="2121125"/>
            <a:ext cx="18542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69490" y="1110345"/>
            <a:ext cx="6874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Information associated with each process(also called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task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sz="1700" dirty="0"/>
              <a:t>)</a:t>
            </a:r>
            <a:endParaRPr lang="en-US" altLang="en-US" sz="1700" dirty="0"/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</a:t>
            </a: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230188"/>
            <a:ext cx="7383463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Threads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线程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1" y="1059091"/>
            <a:ext cx="7116536" cy="4013652"/>
          </a:xfrm>
        </p:spPr>
        <p:txBody>
          <a:bodyPr/>
          <a:lstStyle/>
          <a:p>
            <a:r>
              <a:rPr lang="en-US" altLang="en-US" dirty="0"/>
              <a:t>So far, process has a single thread of execution</a:t>
            </a:r>
            <a:endParaRPr lang="en-US" altLang="en-US" dirty="0"/>
          </a:p>
          <a:p>
            <a:r>
              <a:rPr lang="en-US" altLang="en-US" dirty="0"/>
              <a:t>Consider having multiple program counters per process</a:t>
            </a:r>
            <a:endParaRPr lang="en-US" altLang="en-US" dirty="0"/>
          </a:p>
          <a:p>
            <a:pPr lvl="1"/>
            <a:r>
              <a:rPr lang="en-US" altLang="en-US" dirty="0"/>
              <a:t>Multiple locations can execute at once</a:t>
            </a:r>
            <a:endParaRPr lang="en-US" altLang="en-US" dirty="0"/>
          </a:p>
          <a:p>
            <a:pPr lvl="2"/>
            <a:r>
              <a:rPr lang="en-US" altLang="en-US" dirty="0"/>
              <a:t>Multiple threads of control -&gt;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threads</a:t>
            </a:r>
            <a:endParaRPr lang="en-US" altLang="en-US" b="1" kern="1200" dirty="0">
              <a:solidFill>
                <a:srgbClr val="006699"/>
              </a:solidFill>
              <a:latin typeface="+mj-lt"/>
              <a:cs typeface="+mn-cs"/>
            </a:endParaRPr>
          </a:p>
          <a:p>
            <a:r>
              <a:rPr lang="en-US" altLang="en-US" dirty="0"/>
              <a:t>Must then have storage for thread details, multiple program counters in PCB</a:t>
            </a:r>
            <a:endParaRPr lang="en-US" altLang="en-US" dirty="0"/>
          </a:p>
          <a:p>
            <a:r>
              <a:rPr lang="en-US" altLang="en-US" dirty="0"/>
              <a:t>Explore in detail in Chapter 4</a:t>
            </a: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 noChangeArrowheads="1"/>
          </p:cNvSpPr>
          <p:nvPr>
            <p:ph type="title"/>
          </p:nvPr>
        </p:nvSpPr>
        <p:spPr>
          <a:xfrm>
            <a:off x="960438" y="228600"/>
            <a:ext cx="8005762" cy="576263"/>
          </a:xfrm>
        </p:spPr>
        <p:txBody>
          <a:bodyPr/>
          <a:lstStyle/>
          <a:p>
            <a:r>
              <a:rPr lang="en-US" altLang="en-US"/>
              <a:t>Process Representation in Linux</a:t>
            </a:r>
            <a:endParaRPr lang="en-US" altLang="en-US"/>
          </a:p>
        </p:txBody>
      </p:sp>
      <p:sp>
        <p:nvSpPr>
          <p:cNvPr id="2662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/>
              <a:t>Represented by the C structure </a:t>
            </a:r>
            <a:r>
              <a:rPr lang="en-US" altLang="en-US">
                <a:latin typeface="Courier New" panose="02070309020205020404" pitchFamily="49" charset="0"/>
              </a:rPr>
              <a:t>task_struct</a:t>
            </a:r>
            <a:endParaRPr lang="en-US" altLang="en-US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pid t_pid; 			/* process identifier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long state; 			/* state of the process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unsigned int time_slice 	/* scheduling information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struct task_struct *parent;/*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parent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list_head children; 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children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files_struct *files;/* list of open files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mm_struct *mm; 	/* address space of this process */</a:t>
            </a:r>
            <a:endParaRPr lang="en-US" altLang="en-US" sz="1600">
              <a:latin typeface="Courier New" panose="02070309020205020404" pitchFamily="49" charset="0"/>
            </a:endParaRPr>
          </a:p>
        </p:txBody>
      </p:sp>
      <p:pic>
        <p:nvPicPr>
          <p:cNvPr id="26628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4075113"/>
            <a:ext cx="4578350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0" y="172132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Scheduling</a:t>
            </a:r>
            <a:endParaRPr lang="en-US" altLang="en-US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0738" y="1119417"/>
            <a:ext cx="6456362" cy="3839445"/>
          </a:xfrm>
        </p:spPr>
        <p:txBody>
          <a:bodyPr/>
          <a:lstStyle/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scheduler </a:t>
            </a:r>
            <a:r>
              <a:rPr lang="zh-CN" altLang="en-US" b="1" kern="1200" dirty="0">
                <a:solidFill>
                  <a:srgbClr val="0066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进程调度器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selects among available processes for next execution on CPU core</a:t>
            </a:r>
            <a:endParaRPr lang="en-US" altLang="en-US" dirty="0"/>
          </a:p>
          <a:p>
            <a:r>
              <a:rPr lang="en-US" altLang="en-US" dirty="0"/>
              <a:t>Goal -- Maximize CPU use, quickly switch processes onto CPU core</a:t>
            </a:r>
            <a:endParaRPr lang="en-US" altLang="en-US" dirty="0"/>
          </a:p>
          <a:p>
            <a:r>
              <a:rPr lang="en-US" altLang="en-US" dirty="0"/>
              <a:t>Maintains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 </a:t>
            </a:r>
            <a:r>
              <a:rPr lang="zh-CN" altLang="en-US" b="1" kern="1200" dirty="0">
                <a:solidFill>
                  <a:srgbClr val="0066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调度队列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processes</a:t>
            </a:r>
            <a:endParaRPr lang="en-US" altLang="en-US" dirty="0"/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zh-CN" altLang="en-US" sz="1800" b="1" kern="1200" dirty="0">
                <a:solidFill>
                  <a:srgbClr val="0066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就绪队列</a:t>
            </a:r>
            <a:r>
              <a:rPr lang="en-US" altLang="en-US" dirty="0"/>
              <a:t>– set of all processes residing in main memory, ready and waiting to execute</a:t>
            </a:r>
            <a:endParaRPr lang="en-US" altLang="en-US" dirty="0"/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Wait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zh-CN" altLang="en-US" sz="1800" b="1" kern="1200" dirty="0">
                <a:solidFill>
                  <a:srgbClr val="0066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等待队列</a:t>
            </a:r>
            <a:r>
              <a:rPr lang="en-US" altLang="en-US" dirty="0"/>
              <a:t>– set of processes waiting for an event (i.e., I/O)</a:t>
            </a:r>
            <a:endParaRPr lang="en-US" altLang="en-US" dirty="0"/>
          </a:p>
          <a:p>
            <a:pPr lvl="1"/>
            <a:r>
              <a:rPr lang="en-US" altLang="en-US" dirty="0"/>
              <a:t>Processes migrate among the various queues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974725" y="349250"/>
            <a:ext cx="7591425" cy="457200"/>
          </a:xfrm>
        </p:spPr>
        <p:txBody>
          <a:bodyPr/>
          <a:lstStyle/>
          <a:p>
            <a:pPr eaLnBrk="1" hangingPunct="1"/>
            <a:r>
              <a:rPr lang="en-US" altLang="en-US"/>
              <a:t>Ready and Wait Queues</a:t>
            </a:r>
            <a:endParaRPr lang="en-US" altLang="en-US"/>
          </a:p>
        </p:txBody>
      </p:sp>
      <p:pic>
        <p:nvPicPr>
          <p:cNvPr id="29699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5" y="1863725"/>
            <a:ext cx="4897438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87413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Representation of Process Scheduling</a:t>
            </a:r>
            <a:endParaRPr lang="en-US" altLang="en-US"/>
          </a:p>
        </p:txBody>
      </p:sp>
      <p:pic>
        <p:nvPicPr>
          <p:cNvPr id="31747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1897063"/>
            <a:ext cx="5229225" cy="301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429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  <a:endParaRPr lang="en-US" altLang="en-US"/>
          </a:p>
        </p:txBody>
      </p:sp>
      <p:sp>
        <p:nvSpPr>
          <p:cNvPr id="33795" name="TextBox 1"/>
          <p:cNvSpPr txBox="1">
            <a:spLocks noChangeArrowheads="1"/>
          </p:cNvSpPr>
          <p:nvPr/>
        </p:nvSpPr>
        <p:spPr bwMode="auto">
          <a:xfrm>
            <a:off x="1278542" y="979488"/>
            <a:ext cx="6853953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Verdana" panose="020B0604030504040204" pitchFamily="34" charset="0"/>
              </a:rPr>
              <a:t>A </a:t>
            </a:r>
            <a:r>
              <a:rPr kumimoji="0" lang="en-US" altLang="en-US" b="1" dirty="0">
                <a:latin typeface="Verdana" panose="020B0604030504040204" pitchFamily="34" charset="0"/>
              </a:rPr>
              <a:t>context switch </a:t>
            </a:r>
            <a:r>
              <a:rPr kumimoji="0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上下文切换</a:t>
            </a:r>
            <a:r>
              <a:rPr kumimoji="0" lang="en-US" altLang="en-US" b="1" dirty="0">
                <a:latin typeface="Verdana" panose="020B0604030504040204" pitchFamily="34" charset="0"/>
              </a:rPr>
              <a:t> </a:t>
            </a:r>
            <a:r>
              <a:rPr kumimoji="0" lang="en-US" altLang="en-US" dirty="0">
                <a:latin typeface="Verdana" panose="020B0604030504040204" pitchFamily="34" charset="0"/>
              </a:rPr>
              <a:t>occurs when the CPU  switches from one process to another.</a:t>
            </a:r>
            <a:endParaRPr kumimoji="0" lang="en-US" altLang="en-US" dirty="0">
              <a:latin typeface="Verdana" panose="020B0604030504040204" pitchFamily="34" charset="0"/>
            </a:endParaRPr>
          </a:p>
        </p:txBody>
      </p:sp>
      <p:pic>
        <p:nvPicPr>
          <p:cNvPr id="33796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083" y="1780486"/>
            <a:ext cx="5185155" cy="4237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63538" y="2317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Context Switch</a:t>
            </a:r>
            <a:endParaRPr lang="en-US" alt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6" y="1108075"/>
            <a:ext cx="6648693" cy="4413494"/>
          </a:xfrm>
        </p:spPr>
        <p:txBody>
          <a:bodyPr/>
          <a:lstStyle/>
          <a:p>
            <a:r>
              <a:rPr lang="en-US" altLang="en-US" dirty="0"/>
              <a:t>When CPU switches to another process, the system must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zh-CN" altLang="en-US" b="1" dirty="0">
                <a:solidFill>
                  <a:srgbClr val="33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保存状态</a:t>
            </a:r>
            <a:r>
              <a:rPr lang="en-US" altLang="zh-CN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old process and load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the new process via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switch</a:t>
            </a:r>
            <a:endParaRPr lang="en-US" altLang="en-US" b="1" kern="1200" dirty="0">
              <a:solidFill>
                <a:srgbClr val="006699"/>
              </a:solidFill>
              <a:latin typeface="+mj-lt"/>
              <a:cs typeface="+mn-cs"/>
            </a:endParaRPr>
          </a:p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a process represented in the PCB</a:t>
            </a:r>
            <a:endParaRPr lang="en-US" altLang="en-US" dirty="0"/>
          </a:p>
          <a:p>
            <a:r>
              <a:rPr lang="en-US" altLang="en-US" dirty="0"/>
              <a:t>Context-switch time is pure overhead; the system does no useful work while switching</a:t>
            </a:r>
            <a:endParaRPr lang="en-US" altLang="en-US" dirty="0"/>
          </a:p>
          <a:p>
            <a:pPr lvl="1"/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anose="05000000000000000000" pitchFamily="2" charset="2"/>
              </a:rPr>
              <a:t> the </a:t>
            </a:r>
            <a:r>
              <a:rPr lang="en-US" altLang="en-US" dirty="0"/>
              <a:t>longer the context switch</a:t>
            </a:r>
            <a:endParaRPr lang="en-US" altLang="en-US" dirty="0"/>
          </a:p>
          <a:p>
            <a:r>
              <a:rPr lang="en-US" altLang="en-US" dirty="0"/>
              <a:t>Time dependent on hardware support</a:t>
            </a:r>
            <a:endParaRPr lang="en-US" altLang="en-US" dirty="0"/>
          </a:p>
          <a:p>
            <a:pPr lvl="1"/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multiple contexts loaded at once</a:t>
            </a: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11137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Multitasking in Mobile Systems</a:t>
            </a:r>
            <a:endParaRPr lang="en-US" alt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22363"/>
            <a:ext cx="7359650" cy="4448175"/>
          </a:xfrm>
        </p:spPr>
        <p:txBody>
          <a:bodyPr/>
          <a:lstStyle/>
          <a:p>
            <a:r>
              <a:rPr lang="en-US" altLang="en-US" dirty="0"/>
              <a:t>Some mobile systems (e.g., early version of iOS)  allow only one process to run, others suspended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挂起</a:t>
            </a:r>
            <a:endParaRPr lang="en-US" altLang="en-US" dirty="0"/>
          </a:p>
          <a:p>
            <a:r>
              <a:rPr lang="en-US" altLang="en-US" dirty="0"/>
              <a:t>Due to screen real estate, user interface limits iOS provides for a </a:t>
            </a:r>
            <a:endParaRPr lang="en-US" altLang="en-US" dirty="0"/>
          </a:p>
          <a:p>
            <a:pPr lvl="1"/>
            <a:r>
              <a:rPr lang="en-US" altLang="en-US" dirty="0"/>
              <a:t>Single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foreground</a:t>
            </a:r>
            <a:r>
              <a:rPr lang="en-US" altLang="en-US" dirty="0"/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前台</a:t>
            </a:r>
            <a:r>
              <a:rPr lang="en-US" altLang="zh-CN" dirty="0"/>
              <a:t> </a:t>
            </a:r>
            <a:r>
              <a:rPr lang="en-US" altLang="en-US" dirty="0"/>
              <a:t>process- controlled via user interface</a:t>
            </a:r>
            <a:endParaRPr lang="en-US" altLang="en-US" dirty="0"/>
          </a:p>
          <a:p>
            <a:pPr lvl="1"/>
            <a:r>
              <a:rPr lang="en-US" altLang="en-US" dirty="0"/>
              <a:t>Multiple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background</a:t>
            </a:r>
            <a:r>
              <a:rPr lang="en-US" altLang="en-US" dirty="0"/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后台</a:t>
            </a:r>
            <a:r>
              <a:rPr lang="en-US" altLang="zh-CN" dirty="0"/>
              <a:t> </a:t>
            </a:r>
            <a:r>
              <a:rPr lang="en-US" altLang="en-US" dirty="0"/>
              <a:t>processes– in memory, running, but not on the display, and with limits</a:t>
            </a:r>
            <a:endParaRPr lang="en-US" altLang="en-US" dirty="0"/>
          </a:p>
          <a:p>
            <a:pPr lvl="1"/>
            <a:r>
              <a:rPr lang="en-US" altLang="en-US" dirty="0"/>
              <a:t>Limits include single, short task, receiving notification of events, specific long-running tasks like audio playback</a:t>
            </a:r>
            <a:endParaRPr lang="en-US" altLang="en-US" dirty="0"/>
          </a:p>
          <a:p>
            <a:r>
              <a:rPr lang="en-US" altLang="en-US" dirty="0"/>
              <a:t>Android runs foreground and background, with fewer limits</a:t>
            </a:r>
            <a:endParaRPr lang="en-US" altLang="en-US" dirty="0"/>
          </a:p>
          <a:p>
            <a:pPr lvl="1"/>
            <a:r>
              <a:rPr lang="en-US" altLang="en-US" dirty="0"/>
              <a:t>Background process uses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service</a:t>
            </a:r>
            <a:r>
              <a:rPr lang="en-US" altLang="en-US" dirty="0"/>
              <a:t> to perform tasks</a:t>
            </a:r>
            <a:endParaRPr lang="en-US" altLang="en-US" dirty="0"/>
          </a:p>
          <a:p>
            <a:pPr lvl="1"/>
            <a:r>
              <a:rPr lang="en-US" altLang="en-US" dirty="0"/>
              <a:t>Service can keep running even if background process is suspended</a:t>
            </a:r>
            <a:endParaRPr lang="en-US" altLang="en-US" dirty="0"/>
          </a:p>
          <a:p>
            <a:pPr lvl="1"/>
            <a:r>
              <a:rPr lang="en-US" altLang="en-US" dirty="0"/>
              <a:t>Service has no user interface, small memory use</a:t>
            </a:r>
            <a:endParaRPr lang="en-US" altLang="en-US" dirty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Operations on Processes</a:t>
            </a:r>
            <a:endParaRPr lang="en-US" alt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313" y="1233488"/>
            <a:ext cx="7381875" cy="4448175"/>
          </a:xfrm>
        </p:spPr>
        <p:txBody>
          <a:bodyPr/>
          <a:lstStyle/>
          <a:p>
            <a:r>
              <a:rPr lang="en-US" altLang="en-US" dirty="0"/>
              <a:t>System must provide mechanisms for:</a:t>
            </a:r>
            <a:endParaRPr lang="en-US" altLang="en-US" dirty="0"/>
          </a:p>
          <a:p>
            <a:pPr lvl="1"/>
            <a:r>
              <a:rPr lang="en-US" altLang="en-US" dirty="0"/>
              <a:t> Process creation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进程创建</a:t>
            </a:r>
            <a:endParaRPr lang="en-US" altLang="en-US" dirty="0"/>
          </a:p>
          <a:p>
            <a:pPr lvl="1"/>
            <a:r>
              <a:rPr lang="en-US" altLang="en-US" dirty="0"/>
              <a:t> Process termination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进程终止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71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</a:t>
            </a:r>
            <a:endParaRPr lang="en-US" alt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69988"/>
            <a:ext cx="6824540" cy="498462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r>
              <a:rPr lang="en-US" altLang="en-US" dirty="0"/>
              <a:t>Generally, process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pid</a:t>
            </a:r>
            <a:r>
              <a:rPr lang="en-US" altLang="en-US" dirty="0"/>
              <a:t>)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进程标识</a:t>
            </a:r>
            <a:endParaRPr lang="en-US" altLang="en-US" sz="800" dirty="0"/>
          </a:p>
          <a:p>
            <a:r>
              <a:rPr lang="en-US" altLang="en-US" dirty="0"/>
              <a:t>Resource sharing options</a:t>
            </a:r>
            <a:endParaRPr lang="en-US" altLang="en-US" dirty="0"/>
          </a:p>
          <a:p>
            <a:pPr lvl="1"/>
            <a:r>
              <a:rPr lang="en-US" altLang="en-US" dirty="0"/>
              <a:t>Parent and children share all resources</a:t>
            </a:r>
            <a:endParaRPr lang="en-US" altLang="en-US" dirty="0"/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  <a:endParaRPr lang="en-US" altLang="ja-JP" dirty="0"/>
          </a:p>
          <a:p>
            <a:pPr lvl="1"/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r>
              <a:rPr lang="en-US" altLang="en-US" dirty="0"/>
              <a:t>Execution options</a:t>
            </a:r>
            <a:endParaRPr lang="en-US" altLang="en-US" dirty="0"/>
          </a:p>
          <a:p>
            <a:pPr lvl="1"/>
            <a:r>
              <a:rPr lang="en-US" altLang="en-US" dirty="0"/>
              <a:t>Parent and children execute concurrently</a:t>
            </a:r>
            <a:endParaRPr lang="en-US" altLang="en-US" dirty="0"/>
          </a:p>
          <a:p>
            <a:pPr lvl="1"/>
            <a:r>
              <a:rPr lang="en-US" altLang="en-US" dirty="0"/>
              <a:t>Parent waits until children terminate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  <a:endParaRPr lang="en-US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213" y="1060450"/>
            <a:ext cx="7800975" cy="5627688"/>
          </a:xfrm>
        </p:spPr>
        <p:txBody>
          <a:bodyPr/>
          <a:lstStyle/>
          <a:p>
            <a:r>
              <a:rPr lang="en-US" altLang="en-US" dirty="0"/>
              <a:t>Address space</a:t>
            </a:r>
            <a:endParaRPr lang="en-US" altLang="en-US" dirty="0"/>
          </a:p>
          <a:p>
            <a:pPr lvl="1"/>
            <a:r>
              <a:rPr lang="en-US" altLang="en-US" dirty="0"/>
              <a:t>Child duplicate of parent</a:t>
            </a:r>
            <a:endParaRPr lang="en-US" altLang="en-US" dirty="0"/>
          </a:p>
          <a:p>
            <a:pPr lvl="1"/>
            <a:r>
              <a:rPr lang="en-US" altLang="en-US" dirty="0"/>
              <a:t>Child has a program loaded into it</a:t>
            </a:r>
            <a:endParaRPr lang="en-US" altLang="en-US" dirty="0"/>
          </a:p>
          <a:p>
            <a:r>
              <a:rPr lang="en-US" altLang="en-US" dirty="0"/>
              <a:t>UNIX examples</a:t>
            </a:r>
            <a:endParaRPr lang="en-US" altLang="en-US" dirty="0"/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  <a:endParaRPr lang="en-US" altLang="en-US" dirty="0"/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</a:t>
            </a:r>
            <a:r>
              <a:rPr lang="en-US" altLang="en-US" dirty="0"/>
              <a:t>to replace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  <a:endParaRPr lang="en-US" altLang="ja-JP" dirty="0"/>
          </a:p>
          <a:p>
            <a:pPr lvl="1"/>
            <a:r>
              <a:rPr lang="en-US" altLang="en-US" dirty="0"/>
              <a:t>Parent process calls </a:t>
            </a:r>
            <a:r>
              <a:rPr lang="en-US" altLang="en-US" sz="2000" b="1" dirty="0"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waiting for the child to terminate</a:t>
            </a:r>
            <a:endParaRPr lang="en-US" altLang="en-US" dirty="0"/>
          </a:p>
        </p:txBody>
      </p:sp>
      <p:pic>
        <p:nvPicPr>
          <p:cNvPr id="46084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4392613"/>
            <a:ext cx="57467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96988" y="222250"/>
            <a:ext cx="7259637" cy="576263"/>
          </a:xfrm>
        </p:spPr>
        <p:txBody>
          <a:bodyPr/>
          <a:lstStyle/>
          <a:p>
            <a:pPr eaLnBrk="1" hangingPunct="1"/>
            <a:r>
              <a:rPr lang="en-US" altLang="en-US"/>
              <a:t>A Tree of Processes in Linux</a:t>
            </a:r>
            <a:endParaRPr lang="en-US" altLang="en-US"/>
          </a:p>
        </p:txBody>
      </p:sp>
      <p:pic>
        <p:nvPicPr>
          <p:cNvPr id="44035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701800"/>
            <a:ext cx="7985125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99695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  <a:endParaRPr lang="en-US" altLang="en-US"/>
          </a:p>
        </p:txBody>
      </p:sp>
      <p:pic>
        <p:nvPicPr>
          <p:cNvPr id="48131" name="Picture 5" descr="Screen Shot 2012-12-04 at 11.21.10 A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969963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Creating a Separate Process via Windows API</a:t>
            </a:r>
            <a:endParaRPr lang="en-US" altLang="en-US" sz="2800"/>
          </a:p>
        </p:txBody>
      </p:sp>
      <p:pic>
        <p:nvPicPr>
          <p:cNvPr id="50179" name="Picture 1" descr="Screen Shot 2012-12-04 at 11.23.48 A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963613"/>
            <a:ext cx="4365625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</a:t>
            </a:r>
            <a:endParaRPr lang="en-US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0738" y="1127981"/>
            <a:ext cx="7303354" cy="4463927"/>
          </a:xfrm>
        </p:spPr>
        <p:txBody>
          <a:bodyPr/>
          <a:lstStyle/>
          <a:p>
            <a:r>
              <a:rPr lang="en-US" altLang="en-US" dirty="0"/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exit()</a:t>
            </a:r>
            <a:r>
              <a:rPr lang="en-US" altLang="en-US" sz="2000" dirty="0"/>
              <a:t> </a:t>
            </a:r>
            <a:r>
              <a:rPr lang="en-US" altLang="en-US" dirty="0"/>
              <a:t>system call.</a:t>
            </a:r>
            <a:endParaRPr lang="en-US" altLang="en-US" dirty="0"/>
          </a:p>
          <a:p>
            <a:pPr lvl="1"/>
            <a:r>
              <a:rPr lang="en-US" altLang="en-US" dirty="0"/>
              <a:t>Returns  status data from child to parent (via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Process</a:t>
            </a:r>
            <a:r>
              <a:rPr lang="ja-JP" altLang="en-US" dirty="0"/>
              <a:t>’</a:t>
            </a:r>
            <a:r>
              <a:rPr lang="en-US" altLang="ja-JP" dirty="0"/>
              <a:t> resources are deallocated by operating system</a:t>
            </a:r>
            <a:endParaRPr lang="en-US" altLang="en-US" dirty="0"/>
          </a:p>
          <a:p>
            <a:r>
              <a:rPr lang="en-US" altLang="en-US" dirty="0"/>
              <a:t>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abort()</a:t>
            </a:r>
            <a:r>
              <a:rPr lang="en-US" altLang="en-US" sz="2000" dirty="0"/>
              <a:t> </a:t>
            </a:r>
            <a:r>
              <a:rPr lang="en-US" altLang="en-US" dirty="0"/>
              <a:t>system call.  Some reasons for doing so:</a:t>
            </a:r>
            <a:endParaRPr lang="en-US" altLang="en-US" dirty="0"/>
          </a:p>
          <a:p>
            <a:pPr lvl="1"/>
            <a:r>
              <a:rPr lang="en-US" altLang="en-US" dirty="0"/>
              <a:t>Child has exceeded allocated resources</a:t>
            </a:r>
            <a:endParaRPr lang="en-US" altLang="en-US" dirty="0"/>
          </a:p>
          <a:p>
            <a:pPr lvl="1"/>
            <a:r>
              <a:rPr lang="en-US" altLang="en-US" dirty="0"/>
              <a:t>Task assigned to child is no longer required</a:t>
            </a:r>
            <a:endParaRPr lang="en-US" altLang="en-US" dirty="0"/>
          </a:p>
          <a:p>
            <a:pPr lvl="1"/>
            <a:r>
              <a:rPr lang="en-US" altLang="en-US" dirty="0"/>
              <a:t>The parent is exiting, and the operating systems does not allow  a child to continue if its parent terminates</a:t>
            </a: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481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Termination</a:t>
            </a:r>
            <a:endParaRPr lang="en-US" altLang="en-US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5908" y="781417"/>
            <a:ext cx="7033724" cy="4787045"/>
          </a:xfrm>
        </p:spPr>
        <p:txBody>
          <a:bodyPr/>
          <a:lstStyle/>
          <a:p>
            <a:pPr marL="457200" lvl="1" indent="0">
              <a:buNone/>
            </a:pPr>
            <a:endParaRPr lang="en-US" altLang="en-US" sz="800" dirty="0"/>
          </a:p>
          <a:p>
            <a:r>
              <a:rPr lang="en-US" altLang="en-US" dirty="0"/>
              <a:t>Some operating systems do not allow child to exists if its parent has terminated.  If a process terminates, then all its children must also be terminated.</a:t>
            </a:r>
            <a:endParaRPr lang="en-US" altLang="en-US" dirty="0"/>
          </a:p>
          <a:p>
            <a:pPr lvl="1"/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etc.,  are  terminated.</a:t>
            </a:r>
            <a:endParaRPr lang="en-US" altLang="en-US" b="1" dirty="0"/>
          </a:p>
          <a:p>
            <a:pPr lvl="1"/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pid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pid = wait(&amp;status); 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 process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zombie </a:t>
            </a:r>
            <a:r>
              <a:rPr lang="zh-CN" altLang="en-US" b="1" dirty="0">
                <a:solidFill>
                  <a:srgbClr val="0066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僵尸进程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, process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orphan </a:t>
            </a:r>
            <a:r>
              <a:rPr lang="zh-CN" altLang="en-US" b="1" dirty="0">
                <a:solidFill>
                  <a:srgbClr val="0066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孤儿进程</a:t>
            </a:r>
            <a:endParaRPr lang="zh-CN" altLang="en-US" b="1" dirty="0">
              <a:solidFill>
                <a:srgbClr val="0066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 noChangeArrowheads="1"/>
          </p:cNvSpPr>
          <p:nvPr>
            <p:ph type="title"/>
          </p:nvPr>
        </p:nvSpPr>
        <p:spPr>
          <a:xfrm>
            <a:off x="1455123" y="119918"/>
            <a:ext cx="7743825" cy="576263"/>
          </a:xfrm>
        </p:spPr>
        <p:txBody>
          <a:bodyPr/>
          <a:lstStyle/>
          <a:p>
            <a:r>
              <a:rPr lang="en-US" altLang="en-US" sz="3000" dirty="0"/>
              <a:t>Android Process Importance Hierarchy</a:t>
            </a:r>
            <a:endParaRPr lang="en-US" altLang="en-US" sz="3000" dirty="0"/>
          </a:p>
        </p:txBody>
      </p:sp>
      <p:sp>
        <p:nvSpPr>
          <p:cNvPr id="5632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19150" y="1100968"/>
            <a:ext cx="7743825" cy="4530725"/>
          </a:xfrm>
        </p:spPr>
        <p:txBody>
          <a:bodyPr/>
          <a:lstStyle/>
          <a:p>
            <a:r>
              <a:rPr lang="en-US" altLang="en-US" dirty="0"/>
              <a:t>Mobile operating systems often have to terminate processes to reclaim system resources such as memory. From </a:t>
            </a:r>
            <a:r>
              <a:rPr lang="en-US" altLang="en-US" b="1" dirty="0"/>
              <a:t>most</a:t>
            </a:r>
            <a:r>
              <a:rPr lang="en-US" altLang="en-US" dirty="0"/>
              <a:t> to </a:t>
            </a:r>
            <a:r>
              <a:rPr lang="en-US" altLang="en-US" b="1" dirty="0"/>
              <a:t>least</a:t>
            </a:r>
            <a:r>
              <a:rPr lang="en-US" altLang="en-US" dirty="0"/>
              <a:t> important:</a:t>
            </a:r>
            <a:endParaRPr lang="en-US" altLang="en-US" dirty="0"/>
          </a:p>
          <a:p>
            <a:pPr lvl="1"/>
            <a:r>
              <a:rPr lang="en-US" altLang="en-US" dirty="0"/>
              <a:t>Foreground process</a:t>
            </a:r>
            <a:endParaRPr lang="en-US" altLang="en-US" dirty="0"/>
          </a:p>
          <a:p>
            <a:pPr lvl="1"/>
            <a:r>
              <a:rPr lang="en-US" altLang="en-US" dirty="0"/>
              <a:t>Visible process</a:t>
            </a:r>
            <a:endParaRPr lang="en-US" altLang="en-US" dirty="0"/>
          </a:p>
          <a:p>
            <a:pPr lvl="1"/>
            <a:r>
              <a:rPr lang="en-US" altLang="en-US" dirty="0"/>
              <a:t>Service process</a:t>
            </a:r>
            <a:endParaRPr lang="en-US" altLang="en-US" dirty="0"/>
          </a:p>
          <a:p>
            <a:pPr lvl="1"/>
            <a:r>
              <a:rPr lang="en-US" altLang="en-US" dirty="0"/>
              <a:t>Background process</a:t>
            </a:r>
            <a:endParaRPr lang="en-US" altLang="en-US" dirty="0"/>
          </a:p>
          <a:p>
            <a:pPr lvl="1"/>
            <a:r>
              <a:rPr lang="en-US" altLang="en-US" dirty="0"/>
              <a:t>Empty process</a:t>
            </a:r>
            <a:endParaRPr lang="en-US" altLang="en-US" dirty="0"/>
          </a:p>
          <a:p>
            <a:r>
              <a:rPr lang="en-US" altLang="en-US" dirty="0"/>
              <a:t>Android will begin terminating processes that are least important.</a:t>
            </a:r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 noChangeArrowheads="1"/>
          </p:cNvSpPr>
          <p:nvPr>
            <p:ph type="title"/>
          </p:nvPr>
        </p:nvSpPr>
        <p:spPr>
          <a:xfrm>
            <a:off x="1202347" y="143364"/>
            <a:ext cx="7997825" cy="576263"/>
          </a:xfrm>
        </p:spPr>
        <p:txBody>
          <a:bodyPr/>
          <a:lstStyle/>
          <a:p>
            <a:r>
              <a:rPr lang="en-US" altLang="en-US" sz="2800" dirty="0" err="1"/>
              <a:t>Multiprocess</a:t>
            </a:r>
            <a:r>
              <a:rPr lang="en-US" altLang="en-US" sz="2800" dirty="0"/>
              <a:t> Architecture – Chrome Browser</a:t>
            </a:r>
            <a:endParaRPr lang="en-US" altLang="en-US" sz="2800" dirty="0"/>
          </a:p>
        </p:txBody>
      </p:sp>
      <p:sp>
        <p:nvSpPr>
          <p:cNvPr id="5734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15975" y="1073426"/>
            <a:ext cx="7805738" cy="4478752"/>
          </a:xfrm>
        </p:spPr>
        <p:txBody>
          <a:bodyPr/>
          <a:lstStyle/>
          <a:p>
            <a:r>
              <a:rPr lang="en-US" altLang="en-US" dirty="0"/>
              <a:t>Many web browsers ran as single process (some still do)</a:t>
            </a:r>
            <a:endParaRPr lang="en-US" altLang="en-US" dirty="0"/>
          </a:p>
          <a:p>
            <a:pPr lvl="1"/>
            <a:r>
              <a:rPr lang="en-US" altLang="en-US" dirty="0"/>
              <a:t>If one web site causes trouble, entire browser can hang or crash</a:t>
            </a:r>
            <a:endParaRPr lang="en-US" altLang="en-US" dirty="0"/>
          </a:p>
          <a:p>
            <a:r>
              <a:rPr lang="en-US" altLang="en-US" dirty="0"/>
              <a:t>Google Chrome Browser is </a:t>
            </a:r>
            <a:r>
              <a:rPr lang="en-US" altLang="en-US" dirty="0" err="1"/>
              <a:t>multiprocess</a:t>
            </a:r>
            <a:r>
              <a:rPr lang="en-US" altLang="en-US" dirty="0"/>
              <a:t> with 3 different types of processes: 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Browser</a:t>
            </a:r>
            <a:r>
              <a:rPr lang="en-US" altLang="en-US" dirty="0"/>
              <a:t> process manages user interface, disk and network I/O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Renderer</a:t>
            </a:r>
            <a:r>
              <a:rPr lang="en-US" altLang="en-US" dirty="0"/>
              <a:t> process renders web pages, deals with HTML, </a:t>
            </a:r>
            <a:r>
              <a:rPr lang="en-US" altLang="en-US" dirty="0" err="1"/>
              <a:t>Javascript</a:t>
            </a:r>
            <a:r>
              <a:rPr lang="en-US" altLang="en-US" dirty="0"/>
              <a:t>. A new renderer created for each website opened</a:t>
            </a:r>
            <a:endParaRPr lang="en-US" altLang="en-US" dirty="0"/>
          </a:p>
          <a:p>
            <a:pPr lvl="2"/>
            <a:r>
              <a:rPr lang="en-US" altLang="en-US" dirty="0"/>
              <a:t>Runs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sandbox</a:t>
            </a:r>
            <a:r>
              <a:rPr lang="en-US" altLang="en-US" dirty="0"/>
              <a:t> restricting disk and network I/O, minimizing effect of security exploits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Plug-in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process for each type of plug-in</a:t>
            </a: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57348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949" y="4591123"/>
            <a:ext cx="6278563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 noChangeArrowheads="1"/>
          </p:cNvSpPr>
          <p:nvPr>
            <p:ph type="title"/>
          </p:nvPr>
        </p:nvSpPr>
        <p:spPr>
          <a:xfrm>
            <a:off x="1001713" y="130054"/>
            <a:ext cx="7485062" cy="576262"/>
          </a:xfrm>
        </p:spPr>
        <p:txBody>
          <a:bodyPr/>
          <a:lstStyle/>
          <a:p>
            <a:r>
              <a:rPr lang="en-US" altLang="en-US" dirty="0"/>
              <a:t>Interprocess Communication</a:t>
            </a:r>
            <a:endParaRPr lang="en-US" altLang="en-US" dirty="0"/>
          </a:p>
        </p:txBody>
      </p:sp>
      <p:sp>
        <p:nvSpPr>
          <p:cNvPr id="5939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11213" y="1154113"/>
            <a:ext cx="7675562" cy="4530725"/>
          </a:xfrm>
        </p:spPr>
        <p:txBody>
          <a:bodyPr/>
          <a:lstStyle/>
          <a:p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 </a:t>
            </a:r>
            <a:r>
              <a:rPr lang="zh-CN" altLang="en-US" b="1" i="1" dirty="0">
                <a:latin typeface="宋体" panose="02010600030101010101" pitchFamily="2" charset="-122"/>
                <a:ea typeface="宋体" panose="02010600030101010101" pitchFamily="2" charset="-122"/>
              </a:rPr>
              <a:t>独立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i="1" dirty="0"/>
              <a:t>cooperating </a:t>
            </a:r>
            <a:r>
              <a:rPr lang="zh-CN" altLang="en-US" sz="1800" b="1" i="1" dirty="0">
                <a:latin typeface="宋体" panose="02010600030101010101" pitchFamily="2" charset="-122"/>
                <a:ea typeface="宋体" panose="02010600030101010101" pitchFamily="2" charset="-122"/>
              </a:rPr>
              <a:t>协作</a:t>
            </a:r>
            <a:endParaRPr lang="en-US" altLang="en-US" b="1" i="1" dirty="0"/>
          </a:p>
          <a:p>
            <a:r>
              <a:rPr lang="en-US" altLang="en-US" dirty="0"/>
              <a:t>Cooperating process can affect or be affected by other processes, including sharing data</a:t>
            </a:r>
            <a:endParaRPr lang="en-US" altLang="en-US" dirty="0"/>
          </a:p>
          <a:p>
            <a:r>
              <a:rPr lang="en-US" altLang="en-US" dirty="0"/>
              <a:t>Reasons for cooperating processes:</a:t>
            </a:r>
            <a:endParaRPr lang="en-US" altLang="en-US" dirty="0"/>
          </a:p>
          <a:p>
            <a:pPr lvl="1"/>
            <a:r>
              <a:rPr lang="en-US" altLang="en-US" dirty="0"/>
              <a:t>Information sharing</a:t>
            </a:r>
            <a:endParaRPr lang="en-US" altLang="en-US" dirty="0"/>
          </a:p>
          <a:p>
            <a:pPr lvl="1"/>
            <a:r>
              <a:rPr lang="en-US" altLang="en-US" dirty="0"/>
              <a:t>Computation speedup</a:t>
            </a:r>
            <a:endParaRPr lang="en-US" altLang="en-US" dirty="0"/>
          </a:p>
          <a:p>
            <a:pPr lvl="1"/>
            <a:r>
              <a:rPr lang="en-US" altLang="en-US" dirty="0"/>
              <a:t>Modularity</a:t>
            </a:r>
            <a:endParaRPr lang="en-US" altLang="en-US" dirty="0"/>
          </a:p>
          <a:p>
            <a:pPr lvl="1"/>
            <a:r>
              <a:rPr lang="en-US" altLang="en-US" dirty="0"/>
              <a:t>Convenience	</a:t>
            </a:r>
            <a:endParaRPr lang="en-US" altLang="en-US" dirty="0"/>
          </a:p>
          <a:p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IPC</a:t>
            </a:r>
            <a:r>
              <a:rPr lang="en-US" altLang="en-US" dirty="0"/>
              <a:t>)</a:t>
            </a:r>
            <a:endParaRPr lang="en-US" altLang="en-US" dirty="0"/>
          </a:p>
          <a:p>
            <a:r>
              <a:rPr lang="en-US" altLang="en-US" dirty="0"/>
              <a:t>Two models of IPC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 </a:t>
            </a:r>
            <a:r>
              <a:rPr lang="zh-CN" altLang="en-US" sz="1800" b="1" dirty="0">
                <a:solidFill>
                  <a:srgbClr val="0066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共享内存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 passing </a:t>
            </a:r>
            <a:r>
              <a:rPr lang="zh-CN" altLang="en-US" b="1" dirty="0">
                <a:solidFill>
                  <a:srgbClr val="0066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消息传递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  <a:endParaRPr lang="en-US" altLang="en-US"/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1487488" y="1150938"/>
            <a:ext cx="6372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(a) Shared memory.  		(b) Message passing. </a:t>
            </a:r>
            <a:r>
              <a:rPr kumimoji="0" lang="en-US" altLang="en-US">
                <a:latin typeface="Arial" panose="020B0604020202020204" pitchFamily="34" charset="0"/>
              </a:rPr>
              <a:t> </a:t>
            </a:r>
            <a:endParaRPr kumimoji="0" lang="en-US" altLang="en-US">
              <a:latin typeface="Arial" panose="020B0604020202020204" pitchFamily="34" charset="0"/>
            </a:endParaRPr>
          </a:p>
        </p:txBody>
      </p:sp>
      <p:pic>
        <p:nvPicPr>
          <p:cNvPr id="61444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2016125"/>
            <a:ext cx="6246813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28600"/>
            <a:ext cx="7937500" cy="933450"/>
          </a:xfrm>
        </p:spPr>
        <p:txBody>
          <a:bodyPr/>
          <a:lstStyle/>
          <a:p>
            <a:pPr eaLnBrk="1" hangingPunct="1"/>
            <a:r>
              <a:rPr lang="en-US" altLang="en-US"/>
              <a:t>Producer-Consumer Problem</a:t>
            </a:r>
            <a:br>
              <a:rPr lang="en-US" altLang="en-US"/>
            </a:b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生产者消费者问题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214438"/>
            <a:ext cx="6825665" cy="4344151"/>
          </a:xfrm>
        </p:spPr>
        <p:txBody>
          <a:bodyPr/>
          <a:lstStyle/>
          <a:p>
            <a:r>
              <a:rPr lang="en-US" altLang="en-US" dirty="0"/>
              <a:t>Paradigm for cooperating processes:</a:t>
            </a:r>
            <a:endParaRPr lang="en-US" altLang="en-US" dirty="0"/>
          </a:p>
          <a:p>
            <a:pPr lvl="1"/>
            <a:r>
              <a:rPr lang="en-US" altLang="en-US" i="1" dirty="0"/>
              <a:t>producer</a:t>
            </a:r>
            <a:r>
              <a:rPr lang="en-US" altLang="en-US" dirty="0"/>
              <a:t> process produces information that is consumed by a </a:t>
            </a:r>
            <a:r>
              <a:rPr lang="en-US" altLang="en-US" i="1" dirty="0"/>
              <a:t>consumer</a:t>
            </a:r>
            <a:r>
              <a:rPr lang="en-US" altLang="en-US" dirty="0"/>
              <a:t> process</a:t>
            </a:r>
            <a:endParaRPr lang="en-US" altLang="en-US" dirty="0"/>
          </a:p>
          <a:p>
            <a:r>
              <a:rPr lang="en-US" altLang="en-US" dirty="0"/>
              <a:t>Two variations: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unbounded-buffer </a:t>
            </a:r>
            <a:r>
              <a:rPr lang="zh-CN" altLang="en-US" b="1" dirty="0">
                <a:solidFill>
                  <a:srgbClr val="006699"/>
                </a:solidFill>
                <a:latin typeface="+mj-lt"/>
              </a:rPr>
              <a:t>无限缓冲区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places no practical limit on the size of the buffer:</a:t>
            </a:r>
            <a:endParaRPr lang="en-US" altLang="en-US" dirty="0"/>
          </a:p>
          <a:p>
            <a:pPr lvl="2"/>
            <a:r>
              <a:rPr lang="en-US" altLang="en-US" dirty="0"/>
              <a:t>Producer never waits</a:t>
            </a:r>
            <a:endParaRPr lang="en-US" altLang="en-US" dirty="0"/>
          </a:p>
          <a:p>
            <a:pPr lvl="2"/>
            <a:r>
              <a:rPr lang="en-US" altLang="en-US" dirty="0"/>
              <a:t>Consumer waits if there is no buffer to consume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zh-CN" altLang="en-US" b="1" dirty="0">
                <a:solidFill>
                  <a:srgbClr val="3366FF"/>
                </a:solidFill>
              </a:rPr>
              <a:t>有限缓冲区</a:t>
            </a:r>
            <a:r>
              <a:rPr lang="en-US" altLang="en-US" dirty="0"/>
              <a:t>assumes that there is a fixed buffer size</a:t>
            </a:r>
            <a:endParaRPr lang="en-US" altLang="en-US" dirty="0"/>
          </a:p>
          <a:p>
            <a:pPr lvl="2"/>
            <a:r>
              <a:rPr lang="en-US" altLang="en-US" dirty="0"/>
              <a:t>Producer must wait if all buffers are full</a:t>
            </a:r>
            <a:endParaRPr lang="en-US" altLang="en-US" dirty="0"/>
          </a:p>
          <a:p>
            <a:pPr lvl="2"/>
            <a:r>
              <a:rPr lang="en-US" altLang="en-US" dirty="0"/>
              <a:t>Consumer waits if there is no buffer to consume</a:t>
            </a: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920585" y="95580"/>
            <a:ext cx="8426450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IPC – Shared Memory</a:t>
            </a:r>
            <a:endParaRPr lang="en-US" altLang="en-US" sz="2600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1233488"/>
            <a:ext cx="7239751" cy="43852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area of memory shared among the processes that wish to communicate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The communication is under the control of the users processes not the operating system.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Major issues is to provide mechanism that will allow the user processes to synchronize their actions when they access shared memory. 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Synchronization is discussed in great details in Chapters 6 &amp; 7.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3" y="265946"/>
            <a:ext cx="8074025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Bounded-Buffer – Shared-Memory Solution</a:t>
            </a:r>
            <a:endParaRPr lang="en-US" altLang="en-US" sz="2800" dirty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88" y="1203325"/>
            <a:ext cx="7486650" cy="4700588"/>
          </a:xfrm>
        </p:spPr>
        <p:txBody>
          <a:bodyPr/>
          <a:lstStyle/>
          <a:p>
            <a:r>
              <a:rPr lang="en-US" altLang="en-US"/>
              <a:t>Shared data</a:t>
            </a:r>
            <a:endParaRPr lang="en-US" altLang="en-US"/>
          </a:p>
          <a:p>
            <a:pPr marL="1598930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#define BUFFER_SIZE 10</a:t>
            </a:r>
            <a:endParaRPr lang="en-US" altLang="en-US" b="1">
              <a:latin typeface="Courier New" panose="02070309020205020404" pitchFamily="49" charset="0"/>
            </a:endParaRPr>
          </a:p>
          <a:p>
            <a:pPr marL="1598930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typedef struct {</a:t>
            </a:r>
            <a:endParaRPr lang="en-US" altLang="en-US" b="1">
              <a:latin typeface="Courier New" panose="02070309020205020404" pitchFamily="49" charset="0"/>
            </a:endParaRPr>
          </a:p>
          <a:p>
            <a:pPr marL="1598930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. . .</a:t>
            </a:r>
            <a:endParaRPr lang="en-US" altLang="en-US" b="1">
              <a:latin typeface="Courier New" panose="02070309020205020404" pitchFamily="49" charset="0"/>
            </a:endParaRPr>
          </a:p>
          <a:p>
            <a:pPr marL="1598930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 item;</a:t>
            </a:r>
            <a:endParaRPr lang="en-US" altLang="en-US" b="1">
              <a:latin typeface="Courier New" panose="02070309020205020404" pitchFamily="49" charset="0"/>
            </a:endParaRPr>
          </a:p>
          <a:p>
            <a:pPr marL="1598930" lvl="3"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marL="1598930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item buffer[BUFFER_SIZE];</a:t>
            </a:r>
            <a:endParaRPr lang="en-US" altLang="en-US" b="1">
              <a:latin typeface="Courier New" panose="02070309020205020404" pitchFamily="49" charset="0"/>
            </a:endParaRPr>
          </a:p>
          <a:p>
            <a:pPr marL="1598930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in = 0;</a:t>
            </a:r>
            <a:endParaRPr lang="en-US" altLang="en-US" b="1">
              <a:latin typeface="Courier New" panose="02070309020205020404" pitchFamily="49" charset="0"/>
            </a:endParaRPr>
          </a:p>
          <a:p>
            <a:pPr marL="1598930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out = 0;</a:t>
            </a:r>
            <a:endParaRPr lang="en-US" altLang="en-US" b="1">
              <a:latin typeface="Courier New" panose="02070309020205020404" pitchFamily="49" charset="0"/>
            </a:endParaRPr>
          </a:p>
          <a:p>
            <a:pPr marL="1598930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count = 0;</a:t>
            </a:r>
            <a:endParaRPr lang="en-US" altLang="en-US" b="1">
              <a:latin typeface="Courier New" panose="02070309020205020404" pitchFamily="49" charset="0"/>
            </a:endParaRPr>
          </a:p>
          <a:p>
            <a:pPr marL="1598930" lvl="3">
              <a:buFontTx/>
              <a:buNone/>
            </a:pPr>
            <a:endParaRPr lang="en-US" altLang="en-US"/>
          </a:p>
          <a:p>
            <a:r>
              <a:rPr lang="en-US" altLang="en-US"/>
              <a:t>Solution is correct, but can only use </a:t>
            </a:r>
            <a:r>
              <a:rPr lang="en-US" altLang="en-US" b="1">
                <a:latin typeface="Courier New" panose="02070309020205020404" pitchFamily="49" charset="0"/>
              </a:rPr>
              <a:t>BUFFER_SIZE-1</a:t>
            </a:r>
            <a:r>
              <a:rPr lang="en-US" altLang="en-US"/>
              <a:t> elements</a:t>
            </a:r>
            <a:endParaRPr lang="en-US" altLang="en-US"/>
          </a:p>
          <a:p>
            <a:pPr marL="1598930" lvl="3">
              <a:buFontTx/>
              <a:buNone/>
            </a:pPr>
            <a:endParaRPr lang="en-US" altLang="en-US" sz="2000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7600" y="222250"/>
            <a:ext cx="75692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Process – Shared Memory</a:t>
            </a:r>
            <a:endParaRPr lang="en-US" altLang="en-US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75" y="1014413"/>
            <a:ext cx="6940550" cy="44831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>
              <a:latin typeface="Monaco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item next_produced; 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while (true) { </a:t>
            </a: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/* produce an item in next produced */ </a:t>
            </a: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while (count == BUFFER_SIZE) </a:t>
            </a: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; /* do nothing */ </a:t>
            </a: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buffer[in] = next_produced; </a:t>
            </a: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in = (in + 1) % BUFFER_SIZE; </a:t>
            </a: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 count++;</a:t>
            </a: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  <a:r>
              <a:rPr lang="en-US" altLang="en-US" sz="1600">
                <a:latin typeface="Courier New" panose="02070309020205020404" pitchFamily="49" charset="0"/>
              </a:rPr>
              <a:t> </a:t>
            </a:r>
            <a:endParaRPr lang="en-US" altLang="en-US" sz="160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sz="200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/>
          </a:p>
          <a:p>
            <a:pPr>
              <a:buFont typeface="Monotype Sorts" pitchFamily="-84" charset="2"/>
              <a:buNone/>
            </a:pPr>
            <a:r>
              <a:rPr lang="en-US" altLang="en-US" sz="1400"/>
              <a:t>	</a:t>
            </a:r>
            <a:endParaRPr lang="en-US" altLang="en-US" sz="1400"/>
          </a:p>
          <a:p>
            <a:pPr marL="7167880" lvl="4">
              <a:buFontTx/>
              <a:buNone/>
            </a:pPr>
            <a:endParaRPr lang="en-US" alt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2835" y="204535"/>
            <a:ext cx="7594600" cy="545850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 Process – Shared Memory</a:t>
            </a:r>
            <a:endParaRPr lang="en-US" altLang="en-US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49413" y="1219200"/>
            <a:ext cx="6894512" cy="44116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item next_consumed; 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while (true) {</a:t>
            </a:r>
            <a:br>
              <a:rPr lang="en-US" altLang="en-US" sz="1600" b="1">
                <a:latin typeface="Courier New" panose="02070309020205020404" pitchFamily="49" charset="0"/>
              </a:rPr>
            </a:br>
            <a:r>
              <a:rPr lang="en-US" altLang="en-US" sz="1600" b="1">
                <a:latin typeface="Courier New" panose="02070309020205020404" pitchFamily="49" charset="0"/>
              </a:rPr>
              <a:t>	while (ccount == 0) </a:t>
            </a: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; /* do nothing */</a:t>
            </a:r>
            <a:br>
              <a:rPr lang="en-US" altLang="en-US" sz="1600" b="1">
                <a:latin typeface="Courier New" panose="02070309020205020404" pitchFamily="49" charset="0"/>
              </a:rPr>
            </a:br>
            <a:r>
              <a:rPr lang="en-US" altLang="en-US" sz="1600" b="1">
                <a:latin typeface="Courier New" panose="02070309020205020404" pitchFamily="49" charset="0"/>
              </a:rPr>
              <a:t>	next_consumed = buffer[out]; </a:t>
            </a: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out = (out + 1) % BUFFER_SIZE;</a:t>
            </a:r>
            <a:br>
              <a:rPr lang="en-US" altLang="en-US" sz="1600" b="1">
                <a:latin typeface="Courier New" panose="02070309020205020404" pitchFamily="49" charset="0"/>
              </a:rPr>
            </a:br>
            <a:r>
              <a:rPr lang="en-US" altLang="en-US" sz="1600" b="1">
                <a:latin typeface="Courier New" panose="02070309020205020404" pitchFamily="49" charset="0"/>
              </a:rPr>
              <a:t>	count--;</a:t>
            </a: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/* consume the item in next consumed */ </a:t>
            </a: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 </a:t>
            </a:r>
            <a:endParaRPr lang="en-US" altLang="en-US" sz="16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/>
          <p:cNvSpPr>
            <a:spLocks noGrp="1" noChangeArrowheads="1"/>
          </p:cNvSpPr>
          <p:nvPr>
            <p:ph type="title"/>
          </p:nvPr>
        </p:nvSpPr>
        <p:spPr>
          <a:xfrm>
            <a:off x="938127" y="215318"/>
            <a:ext cx="787088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What about Filling all the Buffers?</a:t>
            </a:r>
            <a:endParaRPr lang="en-US" altLang="en-US" dirty="0"/>
          </a:p>
        </p:txBody>
      </p:sp>
      <p:sp>
        <p:nvSpPr>
          <p:cNvPr id="1126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588" y="1144200"/>
            <a:ext cx="7029677" cy="4762529"/>
          </a:xfrm>
        </p:spPr>
        <p:txBody>
          <a:bodyPr/>
          <a:lstStyle/>
          <a:p>
            <a:r>
              <a:rPr lang="en-US" altLang="en-US" dirty="0"/>
              <a:t>Suppose that we wanted to provide a solution to the consumer-producer problem that fills </a:t>
            </a:r>
            <a:r>
              <a:rPr lang="en-US" altLang="en-US" b="1" dirty="0">
                <a:solidFill>
                  <a:srgbClr val="000000"/>
                </a:solidFill>
              </a:rPr>
              <a:t>all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the buffers. </a:t>
            </a:r>
            <a:endParaRPr lang="en-US" altLang="en-US" dirty="0"/>
          </a:p>
          <a:p>
            <a:r>
              <a:rPr lang="en-US" altLang="en-US" dirty="0"/>
              <a:t>We can do so by having an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that keeps track of the number of full buffers.  </a:t>
            </a:r>
            <a:endParaRPr lang="en-US" altLang="en-US" dirty="0"/>
          </a:p>
          <a:p>
            <a:r>
              <a:rPr lang="en-US" altLang="en-US" dirty="0"/>
              <a:t>Initially,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>
                <a:latin typeface="Courier" pitchFamily="-84" charset="0"/>
              </a:rPr>
              <a:t> </a:t>
            </a:r>
            <a:r>
              <a:rPr lang="en-US" altLang="en-US" dirty="0"/>
              <a:t>is set to 0. </a:t>
            </a:r>
            <a:endParaRPr lang="en-US" altLang="en-US" dirty="0"/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incremented by the producer after it produces a new buffer.</a:t>
            </a:r>
            <a:endParaRPr lang="en-US" altLang="en-US" dirty="0"/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and is decremented by the consumer after it consumes a buffer.</a:t>
            </a:r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531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</a:t>
            </a:r>
            <a:endParaRPr lang="en-US" alt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258888"/>
            <a:ext cx="6999288" cy="4557712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while (true) {</a:t>
            </a:r>
            <a:br>
              <a:rPr lang="en-US" altLang="en-US" sz="1700" dirty="0">
                <a:latin typeface="Courier New" panose="02070309020205020404" pitchFamily="49" charset="0"/>
              </a:rPr>
            </a:br>
            <a:r>
              <a:rPr lang="en-US" altLang="en-US" sz="1700" dirty="0">
                <a:latin typeface="Courier New" panose="02070309020205020404" pitchFamily="49" charset="0"/>
              </a:rPr>
              <a:t>	/* produce an item in next produced */ </a:t>
            </a:r>
            <a:endParaRPr lang="en-US" altLang="en-US" sz="1700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</a:t>
            </a:r>
            <a:endParaRPr lang="en-US" altLang="en-US" sz="1700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while (counter == BUFFER_SIZE)  </a:t>
            </a:r>
            <a:endParaRPr lang="en-US" altLang="en-US" sz="1700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	; /* do nothing */ </a:t>
            </a:r>
            <a:endParaRPr lang="en-US" altLang="en-US" sz="1700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buffer[in] = </a:t>
            </a:r>
            <a:r>
              <a:rPr lang="en-US" altLang="en-US" sz="1700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1700" dirty="0">
                <a:latin typeface="Courier New" panose="02070309020205020404" pitchFamily="49" charset="0"/>
              </a:rPr>
              <a:t>; </a:t>
            </a:r>
            <a:endParaRPr lang="en-US" altLang="en-US" sz="1700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in = (in + 1) % BUFFER_SIZE; </a:t>
            </a:r>
            <a:endParaRPr lang="en-US" altLang="en-US" sz="1700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counter++; </a:t>
            </a:r>
            <a:endParaRPr lang="en-US" altLang="en-US" sz="1700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} </a:t>
            </a:r>
            <a:endParaRPr lang="en-US" altLang="en-US" sz="17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487363" y="2081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</a:t>
            </a:r>
            <a:endParaRPr lang="en-US" alt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731" y="1262063"/>
            <a:ext cx="6931219" cy="4860925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while (true) {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while (counter == 0) 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	; /* do nothing */ 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</a:t>
            </a:r>
            <a:r>
              <a:rPr lang="en-US" altLang="en-US" sz="1600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1600" dirty="0">
                <a:latin typeface="Courier New" panose="02070309020205020404" pitchFamily="49" charset="0"/>
              </a:rPr>
              <a:t> = buffer[out]; 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out = (out + 1) % BUFFER_SIZE; 	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counter--; 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/* consume the item in next consumed */ 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} </a:t>
            </a:r>
            <a:endParaRPr lang="en-US" altLang="en-US" sz="16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竞争条件</a:t>
            </a:r>
            <a:endParaRPr lang="en-US" altLang="en-US" dirty="0"/>
          </a:p>
        </p:txBody>
      </p:sp>
      <p:sp>
        <p:nvSpPr>
          <p:cNvPr id="17410" name="Rectangle 1027"/>
          <p:cNvSpPr>
            <a:spLocks noGrp="1" noChangeArrowheads="1"/>
          </p:cNvSpPr>
          <p:nvPr>
            <p:ph idx="1"/>
          </p:nvPr>
        </p:nvSpPr>
        <p:spPr>
          <a:xfrm>
            <a:off x="805640" y="1177925"/>
            <a:ext cx="7685216" cy="51736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counter++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register1 = register1 + 1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counter = register1</a:t>
            </a:r>
            <a:endParaRPr lang="en-US" altLang="en-US" sz="8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counter--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register2 = register2 - 1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counter = register2</a:t>
            </a:r>
            <a:endParaRPr lang="en-US" altLang="en-US" sz="1600" b="1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1600" dirty="0"/>
              <a:t>Consider this execution interleaving with </a:t>
            </a:r>
            <a:r>
              <a:rPr lang="ja-JP" altLang="en-US" sz="1600" dirty="0"/>
              <a:t>“</a:t>
            </a:r>
            <a:r>
              <a:rPr lang="en-US" altLang="ja-JP" sz="1600" dirty="0"/>
              <a:t>count = 5</a:t>
            </a:r>
            <a:r>
              <a:rPr lang="ja-JP" altLang="en-US" sz="1600" dirty="0"/>
              <a:t>”</a:t>
            </a:r>
            <a:r>
              <a:rPr lang="en-US" altLang="ja-JP" sz="1600" dirty="0"/>
              <a:t> initially:</a:t>
            </a:r>
            <a:endParaRPr lang="en-US" altLang="ja-JP" sz="16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/>
              <a:t>	S0: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 </a:t>
            </a:r>
            <a:r>
              <a:rPr lang="en-US" altLang="en-US" sz="1600" dirty="0"/>
              <a:t>{register1 = 5}</a:t>
            </a:r>
            <a:br>
              <a:rPr lang="en-US" altLang="en-US" sz="1600" dirty="0"/>
            </a:br>
            <a:r>
              <a:rPr lang="en-US" altLang="en-US" sz="1600" dirty="0"/>
              <a:t>S1: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register1 + 1   </a:t>
            </a:r>
            <a:r>
              <a:rPr lang="en-US" altLang="en-US" sz="1600" dirty="0"/>
              <a:t>{register1 = 6} </a:t>
            </a:r>
            <a:br>
              <a:rPr lang="en-US" altLang="en-US" sz="1600" dirty="0"/>
            </a:br>
            <a:r>
              <a:rPr lang="en-US" altLang="en-US" sz="1600" dirty="0"/>
              <a:t>S2: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en-US" sz="1600" dirty="0"/>
              <a:t>{register2 = 5} </a:t>
            </a:r>
            <a:br>
              <a:rPr lang="en-US" altLang="en-US" sz="1600" dirty="0"/>
            </a:br>
            <a:r>
              <a:rPr lang="en-US" altLang="en-US" sz="1600" dirty="0"/>
              <a:t>S3: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register2 – 1  </a:t>
            </a:r>
            <a:r>
              <a:rPr lang="en-US" altLang="en-US" sz="1600" dirty="0"/>
              <a:t>{register2 = 4} </a:t>
            </a:r>
            <a:br>
              <a:rPr lang="en-US" altLang="en-US" sz="1600" dirty="0"/>
            </a:br>
            <a:r>
              <a:rPr lang="en-US" altLang="en-US" sz="1600" dirty="0"/>
              <a:t>S4: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counter = register1         </a:t>
            </a:r>
            <a:r>
              <a:rPr lang="en-US" altLang="en-US" sz="1600" dirty="0"/>
              <a:t>{counter = 6 } </a:t>
            </a:r>
            <a:br>
              <a:rPr lang="en-US" altLang="en-US" sz="1600" dirty="0"/>
            </a:br>
            <a:r>
              <a:rPr lang="en-US" altLang="en-US" sz="1600" dirty="0"/>
              <a:t>S5: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counter = register2        </a:t>
            </a:r>
            <a:r>
              <a:rPr lang="en-US" altLang="en-US" sz="1600" dirty="0"/>
              <a:t>{counter = 4}</a:t>
            </a:r>
            <a:endParaRPr lang="en-US" altLang="en-US" sz="16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 (Cont.) 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0" name="Rectangle 1027"/>
          <p:cNvSpPr>
            <a:spLocks noGrp="1" noChangeArrowheads="1"/>
          </p:cNvSpPr>
          <p:nvPr>
            <p:ph idx="1"/>
          </p:nvPr>
        </p:nvSpPr>
        <p:spPr>
          <a:xfrm>
            <a:off x="805640" y="1177925"/>
            <a:ext cx="6550503" cy="474520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Question – why was there no race condition in the first solution (where at most N – 1) buffers can be filled?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More in Chapter 6.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222" y="133932"/>
            <a:ext cx="7996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Message Passing</a:t>
            </a:r>
            <a:endParaRPr lang="en-US" altLang="en-US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236870" cy="438091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Processes communicate with each other without resorting to shared variables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IPC facility provides two operations: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  <a:endParaRPr lang="en-US" altLang="en-US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The</a:t>
            </a:r>
            <a:r>
              <a:rPr lang="en-US" altLang="en-US" i="1" dirty="0"/>
              <a:t> message</a:t>
            </a:r>
            <a:r>
              <a:rPr lang="en-US" altLang="en-US" dirty="0"/>
              <a:t> size is either fixed or variable</a:t>
            </a:r>
            <a:endParaRPr lang="en-US" altLang="en-US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6475" y="220663"/>
            <a:ext cx="7997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Message Passing (Cont.)</a:t>
            </a:r>
            <a:endParaRPr lang="en-US" altLang="en-US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016001"/>
            <a:ext cx="7003047" cy="4674936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If processes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wish to communicate, they need to: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Establish a </a:t>
            </a:r>
            <a:r>
              <a:rPr lang="en-US" altLang="en-US" b="1" i="1" dirty="0"/>
              <a:t>communication</a:t>
            </a:r>
            <a:r>
              <a:rPr lang="en-US" altLang="en-US" b="1" dirty="0"/>
              <a:t> </a:t>
            </a:r>
            <a:r>
              <a:rPr lang="en-US" altLang="en-US" b="1" i="1" dirty="0"/>
              <a:t>link</a:t>
            </a:r>
            <a:r>
              <a:rPr lang="en-US" altLang="en-US" b="1" dirty="0"/>
              <a:t> </a:t>
            </a:r>
            <a:r>
              <a:rPr lang="en-US" altLang="en-US" dirty="0"/>
              <a:t>between them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Exchange messages via send/receive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Implementation issues:</a:t>
            </a:r>
            <a:endParaRPr lang="en-US" altLang="en-US" dirty="0"/>
          </a:p>
          <a:p>
            <a:pPr lvl="1"/>
            <a:r>
              <a:rPr lang="en-US" altLang="en-US" dirty="0"/>
              <a:t>How are links established?</a:t>
            </a:r>
            <a:endParaRPr lang="en-US" altLang="en-US" dirty="0"/>
          </a:p>
          <a:p>
            <a:pPr lvl="1"/>
            <a:r>
              <a:rPr lang="en-US" altLang="en-US" dirty="0"/>
              <a:t>Can a link be associated with more than two processes?</a:t>
            </a:r>
            <a:endParaRPr lang="en-US" altLang="en-US" dirty="0"/>
          </a:p>
          <a:p>
            <a:pPr lvl="1"/>
            <a:r>
              <a:rPr lang="en-US" altLang="en-US" dirty="0"/>
              <a:t>How many links can there be between every pair of communicating processes?</a:t>
            </a:r>
            <a:endParaRPr lang="en-US" altLang="en-US" dirty="0"/>
          </a:p>
          <a:p>
            <a:pPr lvl="1"/>
            <a:r>
              <a:rPr lang="en-US" altLang="en-US" dirty="0"/>
              <a:t>What is the capacity of a link?</a:t>
            </a:r>
            <a:endParaRPr lang="en-US" altLang="en-US" dirty="0"/>
          </a:p>
          <a:p>
            <a:pPr lvl="1"/>
            <a:r>
              <a:rPr lang="en-US" altLang="en-US" dirty="0"/>
              <a:t>Is the size of a message that the link can accommodate fixed or variable?</a:t>
            </a:r>
            <a:endParaRPr lang="en-US" altLang="en-US" dirty="0"/>
          </a:p>
          <a:p>
            <a:pPr lvl="1"/>
            <a:r>
              <a:rPr lang="en-US" altLang="en-US" dirty="0"/>
              <a:t>Is a link unidirectional or bi-directional?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979488" y="130757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Implementation of Communication Link</a:t>
            </a:r>
            <a:endParaRPr lang="en-US" altLang="en-US" sz="3000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785813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Physical: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Shared memory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bus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Network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Logical: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 Direct or indirect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 Synchronous or asynchronous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 Automatic or explicit buffering</a:t>
            </a:r>
            <a:endParaRPr lang="en-US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91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直接</a:t>
            </a:r>
            <a:r>
              <a:rPr lang="en-US" altLang="en-US" dirty="0"/>
              <a:t> Communication</a:t>
            </a:r>
            <a:endParaRPr lang="en-US" altLang="en-US" dirty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1138238"/>
            <a:ext cx="7635875" cy="4530725"/>
          </a:xfrm>
        </p:spPr>
        <p:txBody>
          <a:bodyPr/>
          <a:lstStyle/>
          <a:p>
            <a:r>
              <a:rPr lang="en-US" altLang="en-US"/>
              <a:t>Processes must name each other explicitly:</a:t>
            </a:r>
            <a:endParaRPr lang="en-US" altLang="en-US"/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  <a:endParaRPr lang="en-US" altLang="en-US"/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  <a:endParaRPr lang="en-US" altLang="en-US"/>
          </a:p>
          <a:p>
            <a:r>
              <a:rPr lang="en-US" altLang="en-US"/>
              <a:t>Properties of communication link</a:t>
            </a:r>
            <a:endParaRPr lang="en-US" altLang="en-US"/>
          </a:p>
          <a:p>
            <a:pPr lvl="1"/>
            <a:r>
              <a:rPr lang="en-US" altLang="en-US"/>
              <a:t>Links are established automatically</a:t>
            </a:r>
            <a:endParaRPr lang="en-US" altLang="en-US"/>
          </a:p>
          <a:p>
            <a:pPr lvl="1"/>
            <a:r>
              <a:rPr lang="en-US" altLang="en-US"/>
              <a:t>A link is associated with exactly one pair of communicating processes</a:t>
            </a:r>
            <a:endParaRPr lang="en-US" altLang="en-US"/>
          </a:p>
          <a:p>
            <a:pPr lvl="1"/>
            <a:r>
              <a:rPr lang="en-US" altLang="en-US"/>
              <a:t>Between each pair there exists exactly one link</a:t>
            </a:r>
            <a:endParaRPr lang="en-US" altLang="en-US"/>
          </a:p>
          <a:p>
            <a:pPr lvl="1"/>
            <a:r>
              <a:rPr lang="en-US" altLang="en-US"/>
              <a:t>The link may be unidirectional, but is usually bi-directional</a:t>
            </a:r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075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间接</a:t>
            </a:r>
            <a:r>
              <a:rPr lang="en-US" altLang="zh-CN" dirty="0"/>
              <a:t> </a:t>
            </a:r>
            <a:r>
              <a:rPr lang="en-US" altLang="en-US" dirty="0"/>
              <a:t>Communication</a:t>
            </a:r>
            <a:endParaRPr lang="en-US" altLang="en-US" dirty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2175" y="1147763"/>
            <a:ext cx="7397583" cy="4073942"/>
          </a:xfrm>
        </p:spPr>
        <p:txBody>
          <a:bodyPr/>
          <a:lstStyle/>
          <a:p>
            <a:r>
              <a:rPr lang="en-US" altLang="en-US"/>
              <a:t>Messages are directed and received from mailboxes (also referred to as ports)</a:t>
            </a:r>
            <a:endParaRPr lang="en-US" altLang="en-US"/>
          </a:p>
          <a:p>
            <a:pPr lvl="1"/>
            <a:r>
              <a:rPr lang="en-US" altLang="en-US"/>
              <a:t>Each mailbox has a unique id</a:t>
            </a:r>
            <a:endParaRPr lang="en-US" altLang="en-US"/>
          </a:p>
          <a:p>
            <a:pPr lvl="1"/>
            <a:r>
              <a:rPr lang="en-US" altLang="en-US"/>
              <a:t>Processes can communicate only if they share a mailbox</a:t>
            </a:r>
            <a:endParaRPr lang="en-US" altLang="en-US"/>
          </a:p>
          <a:p>
            <a:r>
              <a:rPr lang="en-US" altLang="en-US"/>
              <a:t>Properties of communication link</a:t>
            </a:r>
            <a:endParaRPr lang="en-US" altLang="en-US"/>
          </a:p>
          <a:p>
            <a:pPr lvl="1"/>
            <a:r>
              <a:rPr lang="en-US" altLang="en-US"/>
              <a:t>Link established only if processes share a common mailbox</a:t>
            </a:r>
            <a:endParaRPr lang="en-US" altLang="en-US"/>
          </a:p>
          <a:p>
            <a:pPr lvl="1"/>
            <a:r>
              <a:rPr lang="en-US" altLang="en-US"/>
              <a:t>A link may be associated with many processes</a:t>
            </a:r>
            <a:endParaRPr lang="en-US" altLang="en-US"/>
          </a:p>
          <a:p>
            <a:pPr lvl="1"/>
            <a:r>
              <a:rPr lang="en-US" altLang="en-US"/>
              <a:t>Each pair of processes may share several communication links</a:t>
            </a:r>
            <a:endParaRPr lang="en-US" altLang="en-US"/>
          </a:p>
          <a:p>
            <a:pPr lvl="1"/>
            <a:r>
              <a:rPr lang="en-US" altLang="en-US"/>
              <a:t>Link may be unidirectional or bi-directional</a:t>
            </a:r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35063"/>
            <a:ext cx="7535863" cy="3821112"/>
          </a:xfrm>
        </p:spPr>
        <p:txBody>
          <a:bodyPr/>
          <a:lstStyle/>
          <a:p>
            <a:r>
              <a:rPr lang="en-US" altLang="en-US" dirty="0"/>
              <a:t>Operations</a:t>
            </a:r>
            <a:endParaRPr lang="en-US" altLang="en-US" dirty="0"/>
          </a:p>
          <a:p>
            <a:pPr lvl="1"/>
            <a:r>
              <a:rPr lang="en-US" altLang="en-US" dirty="0"/>
              <a:t>Create a new mailbox (port)</a:t>
            </a:r>
            <a:endParaRPr lang="en-US" altLang="en-US" dirty="0"/>
          </a:p>
          <a:p>
            <a:pPr lvl="1"/>
            <a:r>
              <a:rPr lang="en-US" altLang="en-US" dirty="0"/>
              <a:t>Send and receive messages through mailbox</a:t>
            </a:r>
            <a:endParaRPr lang="en-US" altLang="en-US" dirty="0"/>
          </a:p>
          <a:p>
            <a:pPr lvl="1"/>
            <a:r>
              <a:rPr lang="en-US" altLang="en-US" dirty="0"/>
              <a:t>Delete a mailbox</a:t>
            </a:r>
            <a:endParaRPr lang="en-US" altLang="en-US" dirty="0"/>
          </a:p>
          <a:p>
            <a:r>
              <a:rPr lang="en-US" altLang="en-US" dirty="0"/>
              <a:t>Primitives are defined as:</a:t>
            </a:r>
            <a:endParaRPr lang="en-US" altLang="en-US" dirty="0"/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  <a:endParaRPr lang="en-US" altLang="en-US" dirty="0"/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  <a:endParaRPr lang="en-US" altLang="en-US" dirty="0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>
          <a:xfrm>
            <a:off x="1234572" y="141201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  <a:endParaRPr lang="en-US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/>
              <a:t>Mailbox sharing</a:t>
            </a:r>
            <a:endParaRPr lang="en-US" altLang="en-US"/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 i="1"/>
              <a:t>, P</a:t>
            </a:r>
            <a:r>
              <a:rPr lang="en-US" altLang="en-US" i="1" baseline="-25000"/>
              <a:t>2</a:t>
            </a:r>
            <a:r>
              <a:rPr lang="en-US" altLang="en-US" i="1"/>
              <a:t>,</a:t>
            </a:r>
            <a:r>
              <a:rPr lang="en-US" altLang="en-US"/>
              <a:t> 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share mailbox A</a:t>
            </a:r>
            <a:endParaRPr lang="en-US" altLang="en-US"/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, sends;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receive</a:t>
            </a:r>
            <a:endParaRPr lang="en-US" altLang="en-US"/>
          </a:p>
          <a:p>
            <a:pPr lvl="1"/>
            <a:r>
              <a:rPr lang="en-US" altLang="en-US"/>
              <a:t>Who gets the message?</a:t>
            </a:r>
            <a:endParaRPr lang="en-US" altLang="en-US"/>
          </a:p>
          <a:p>
            <a:r>
              <a:rPr lang="en-US" altLang="en-US"/>
              <a:t>Solutions</a:t>
            </a:r>
            <a:endParaRPr lang="en-US" altLang="en-US"/>
          </a:p>
          <a:p>
            <a:pPr lvl="1"/>
            <a:r>
              <a:rPr lang="en-US" altLang="en-US"/>
              <a:t>Allow a link to be associated with at most two processes</a:t>
            </a:r>
            <a:endParaRPr lang="en-US" altLang="en-US"/>
          </a:p>
          <a:p>
            <a:pPr lvl="1"/>
            <a:r>
              <a:rPr lang="en-US" altLang="en-US"/>
              <a:t>Allow only one process at a time to execute a receive operation</a:t>
            </a:r>
            <a:endParaRPr lang="en-US" altLang="en-US"/>
          </a:p>
          <a:p>
            <a:pPr lvl="1"/>
            <a:r>
              <a:rPr lang="en-US" altLang="en-US"/>
              <a:t>Allow the system to select arbitrarily the receiver.  Sender is notified who the receiver was.</a:t>
            </a:r>
            <a:endParaRPr lang="en-US" altLang="en-US"/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976985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5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Synchronization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同步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0225" y="1588165"/>
            <a:ext cx="7716838" cy="4976891"/>
          </a:xfrm>
        </p:spPr>
        <p:txBody>
          <a:bodyPr/>
          <a:lstStyle/>
          <a:p>
            <a:pPr marL="379730" indent="-379730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dirty="0">
                <a:cs typeface="MS PGothic" panose="020B0600070205080204" pitchFamily="34" charset="-128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MS PGothic" panose="020B0600070205080204" pitchFamily="34" charset="-128"/>
              </a:rPr>
              <a:t>阻塞</a:t>
            </a:r>
            <a:r>
              <a:rPr lang="en-US" altLang="zh-CN" dirty="0">
                <a:cs typeface="MS PGothic" panose="020B0600070205080204" pitchFamily="34" charset="-128"/>
              </a:rPr>
              <a:t> </a:t>
            </a:r>
            <a:r>
              <a:rPr lang="en-US" dirty="0">
                <a:cs typeface="MS PGothic" panose="020B0600070205080204" pitchFamily="34" charset="-128"/>
              </a:rPr>
              <a:t>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synchronous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同步</a:t>
            </a:r>
            <a:endParaRPr lang="en-US" b="1" dirty="0">
              <a:solidFill>
                <a:srgbClr val="006699"/>
              </a:solidFill>
              <a:latin typeface="+mj-lt"/>
            </a:endParaRPr>
          </a:p>
          <a:p>
            <a:pPr marL="798830" lvl="1" indent="-341630"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  <a:endParaRPr lang="en-US" dirty="0"/>
          </a:p>
          <a:p>
            <a:pPr marL="798830" lvl="1" indent="-341630"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  <a:endParaRPr lang="en-US" dirty="0"/>
          </a:p>
          <a:p>
            <a:pPr marL="379730" indent="-379730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Non-blocking</a:t>
            </a:r>
            <a:r>
              <a:rPr lang="en-US" dirty="0">
                <a:cs typeface="MS PGothic" panose="020B0600070205080204" pitchFamily="34" charset="-128"/>
              </a:rPr>
              <a:t>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MS PGothic" panose="020B0600070205080204" pitchFamily="34" charset="-128"/>
              </a:rPr>
              <a:t>非阻塞</a:t>
            </a:r>
            <a:r>
              <a:rPr lang="en-US" altLang="zh-CN" dirty="0">
                <a:cs typeface="MS PGothic" panose="020B0600070205080204" pitchFamily="34" charset="-128"/>
              </a:rPr>
              <a:t> </a:t>
            </a:r>
            <a:r>
              <a:rPr lang="en-US" dirty="0">
                <a:cs typeface="MS PGothic" panose="020B0600070205080204" pitchFamily="34" charset="-128"/>
              </a:rPr>
              <a:t>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asynchronous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异步</a:t>
            </a:r>
            <a:endParaRPr lang="en-US" b="1" dirty="0">
              <a:solidFill>
                <a:srgbClr val="006699"/>
              </a:solidFill>
              <a:latin typeface="+mj-lt"/>
            </a:endParaRPr>
          </a:p>
          <a:p>
            <a:pPr marL="798830" lvl="1" indent="-341630"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  <a:endParaRPr lang="en-US" dirty="0"/>
          </a:p>
          <a:p>
            <a:pPr marL="798830" lvl="1" indent="-341630"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  <a:endParaRPr lang="en-US" dirty="0"/>
          </a:p>
          <a:p>
            <a:pPr marL="1141730" lvl="2" indent="-341630">
              <a:defRPr/>
            </a:pPr>
            <a:r>
              <a:rPr lang="en-US" dirty="0"/>
              <a:t>A valid message,  or </a:t>
            </a:r>
            <a:endParaRPr lang="en-US" dirty="0"/>
          </a:p>
          <a:p>
            <a:pPr marL="1141730" lvl="2" indent="-341630">
              <a:defRPr/>
            </a:pPr>
            <a:r>
              <a:rPr lang="en-US" dirty="0"/>
              <a:t>Null message</a:t>
            </a:r>
            <a:endParaRPr lang="en-US" dirty="0"/>
          </a:p>
          <a:p>
            <a:pPr marL="398780" indent="-341630"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Different combinations possible</a:t>
            </a: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798830" lvl="1" indent="-341630">
              <a:defRPr/>
            </a:pPr>
            <a:r>
              <a:rPr lang="en-US" dirty="0">
                <a:ea typeface="MS PGothic" panose="020B0600070205080204" pitchFamily="34" charset="-128"/>
              </a:rPr>
              <a:t>If both send and receive are blocking, we have 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rendezvous </a:t>
            </a:r>
            <a:r>
              <a:rPr lang="zh-CN" altLang="en-US" b="1" dirty="0">
                <a:solidFill>
                  <a:srgbClr val="0066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会合点</a:t>
            </a:r>
            <a:endParaRPr lang="en-US" b="1" dirty="0">
              <a:solidFill>
                <a:srgbClr val="006699"/>
              </a:solidFill>
              <a:latin typeface="+mj-lt"/>
            </a:endParaRPr>
          </a:p>
          <a:p>
            <a:pPr marL="398780" indent="-341630">
              <a:defRPr/>
            </a:pPr>
            <a:endParaRPr lang="en-US" dirty="0">
              <a:cs typeface="MS PGothic" panose="020B0600070205080204" pitchFamily="34" charset="-128"/>
            </a:endParaRPr>
          </a:p>
          <a:p>
            <a:pPr marL="1141730" lvl="2" indent="-341630">
              <a:buFont typeface="Monotype Sorts" pitchFamily="-84" charset="2"/>
              <a:buChar char="l"/>
              <a:defRPr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66272" y="1091585"/>
            <a:ext cx="747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9730" indent="-379730">
              <a:defRPr/>
            </a:pPr>
            <a:r>
              <a:rPr lang="en-US" dirty="0">
                <a:cs typeface="MS PGothic" panose="020B0600070205080204" pitchFamily="34" charset="-128"/>
              </a:rPr>
              <a:t>Message passing may be either blocking or non-blocking</a:t>
            </a:r>
            <a:endParaRPr lang="en-US" dirty="0">
              <a:cs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 dirty="0"/>
              <a:t>Producer</a:t>
            </a:r>
            <a:endParaRPr lang="en-US" altLang="en-US" dirty="0"/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dirty="0">
                <a:cs typeface="Courier New" panose="02070309020205020404" pitchFamily="49" charset="0"/>
              </a:rPr>
              <a:t>           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produce an item in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send(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endParaRPr kumimoji="0"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kumimoji="0"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Consumer</a:t>
            </a:r>
            <a:endParaRPr lang="en-US" altLang="en-US" dirty="0"/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dirty="0"/>
              <a:t>            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receive(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consume the item in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en-US" dirty="0"/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1013081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Producer-Consumer: Message Passing</a:t>
            </a:r>
            <a:endParaRPr lang="en-US" altLang="en-US" sz="3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Buffering</a:t>
            </a:r>
            <a:endParaRPr lang="en-US" altLang="en-US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7658100" cy="4530725"/>
          </a:xfrm>
        </p:spPr>
        <p:txBody>
          <a:bodyPr/>
          <a:lstStyle/>
          <a:p>
            <a:r>
              <a:rPr lang="en-US" altLang="en-US"/>
              <a:t>Queue of messages attached to the link.</a:t>
            </a:r>
            <a:endParaRPr lang="en-US" altLang="en-US"/>
          </a:p>
          <a:p>
            <a:r>
              <a:rPr lang="en-US" altLang="en-US"/>
              <a:t>Implemented in one of three ways</a:t>
            </a:r>
            <a:endParaRPr lang="en-US" altLang="en-US"/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1.</a:t>
            </a:r>
            <a:r>
              <a:rPr lang="en-US" altLang="en-US"/>
              <a:t>	Zero capacity – no messages are queued on a link.</a:t>
            </a:r>
            <a:br>
              <a:rPr lang="en-US" altLang="en-US"/>
            </a:br>
            <a:r>
              <a:rPr lang="en-US" altLang="en-US"/>
              <a:t>Sender must wait for receiver (rendezvous)</a:t>
            </a:r>
            <a:endParaRPr lang="en-US" altLang="en-US"/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2.</a:t>
            </a:r>
            <a:r>
              <a:rPr lang="en-US" altLang="en-US"/>
              <a:t>	Bounded capacity – finite length of </a:t>
            </a:r>
            <a:r>
              <a:rPr lang="en-US" altLang="en-US" i="1"/>
              <a:t>n</a:t>
            </a:r>
            <a:r>
              <a:rPr lang="en-US" altLang="en-US"/>
              <a:t> messages</a:t>
            </a:r>
            <a:br>
              <a:rPr lang="en-US" altLang="en-US"/>
            </a:br>
            <a:r>
              <a:rPr lang="en-US" altLang="en-US"/>
              <a:t>Sender must wait if link full</a:t>
            </a:r>
            <a:endParaRPr lang="en-US" altLang="en-US"/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3.</a:t>
            </a:r>
            <a:r>
              <a:rPr lang="en-US" altLang="en-US"/>
              <a:t>	Unbounded capacity – infinite length </a:t>
            </a:r>
            <a:br>
              <a:rPr lang="en-US" altLang="en-US"/>
            </a:br>
            <a:r>
              <a:rPr lang="en-US" altLang="en-US"/>
              <a:t>Sender never waits</a:t>
            </a:r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 noChangeArrowheads="1"/>
          </p:cNvSpPr>
          <p:nvPr>
            <p:ph type="title"/>
          </p:nvPr>
        </p:nvSpPr>
        <p:spPr>
          <a:xfrm>
            <a:off x="966788" y="225425"/>
            <a:ext cx="7850187" cy="576263"/>
          </a:xfrm>
        </p:spPr>
        <p:txBody>
          <a:bodyPr/>
          <a:lstStyle/>
          <a:p>
            <a:r>
              <a:rPr lang="en-US" altLang="en-US"/>
              <a:t>Examples of IPC Systems - POSIX</a:t>
            </a:r>
            <a:endParaRPr lang="en-US" altLang="en-US"/>
          </a:p>
        </p:txBody>
      </p:sp>
      <p:sp>
        <p:nvSpPr>
          <p:cNvPr id="9625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11225" y="1233488"/>
            <a:ext cx="7577138" cy="4530725"/>
          </a:xfrm>
        </p:spPr>
        <p:txBody>
          <a:bodyPr/>
          <a:lstStyle/>
          <a:p>
            <a:r>
              <a:rPr lang="en-US" altLang="en-US" dirty="0"/>
              <a:t>POSIX Shared Memory</a:t>
            </a:r>
            <a:endParaRPr lang="en-US" altLang="en-US" dirty="0"/>
          </a:p>
          <a:p>
            <a:pPr lvl="1"/>
            <a:r>
              <a:rPr lang="en-US" altLang="en-US" dirty="0"/>
              <a:t>Process first creates shared memory segment</a:t>
            </a: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shm_open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(name, O CREAT | O RDWR, 0666);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dirty="0"/>
              <a:t>Also used to open an existing segment</a:t>
            </a:r>
            <a:endParaRPr lang="en-US" altLang="en-US" dirty="0"/>
          </a:p>
          <a:p>
            <a:pPr lvl="1"/>
            <a:r>
              <a:rPr lang="en-US" altLang="en-US" dirty="0"/>
              <a:t>Set the size of the object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            </a:t>
            </a:r>
            <a:r>
              <a:rPr lang="en-US" altLang="en-US" b="1" dirty="0" err="1">
                <a:latin typeface="Courier New" panose="02070309020205020404" pitchFamily="49" charset="0"/>
              </a:rPr>
              <a:t>ftruncate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 err="1">
                <a:latin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</a:rPr>
              <a:t>, 4096);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 lvl="1"/>
            <a:r>
              <a:rPr lang="en-US" altLang="en-US" dirty="0"/>
              <a:t>Use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to memory-map a file pointer to the shared memory object</a:t>
            </a:r>
            <a:endParaRPr lang="en-US" altLang="en-US" dirty="0"/>
          </a:p>
          <a:p>
            <a:pPr lvl="1"/>
            <a:r>
              <a:rPr lang="en-US" altLang="en-US" dirty="0"/>
              <a:t>Reading and writing to shared memory is done by using the pointer returned by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.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 noChangeArrowheads="1"/>
          </p:cNvSpPr>
          <p:nvPr>
            <p:ph type="title"/>
          </p:nvPr>
        </p:nvSpPr>
        <p:spPr>
          <a:xfrm>
            <a:off x="936625" y="219075"/>
            <a:ext cx="7850188" cy="576263"/>
          </a:xfrm>
        </p:spPr>
        <p:txBody>
          <a:bodyPr/>
          <a:lstStyle/>
          <a:p>
            <a:r>
              <a:rPr lang="en-US" altLang="en-US"/>
              <a:t>IPC POSIX Producer</a:t>
            </a:r>
            <a:endParaRPr lang="en-US" altLang="en-US"/>
          </a:p>
        </p:txBody>
      </p:sp>
      <p:pic>
        <p:nvPicPr>
          <p:cNvPr id="98307" name="Picture 1" descr="Screen Shot 2013-03-14 at 6.46.57 P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903288"/>
            <a:ext cx="3754437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 noChangeArrowheads="1"/>
          </p:cNvSpPr>
          <p:nvPr>
            <p:ph type="title"/>
          </p:nvPr>
        </p:nvSpPr>
        <p:spPr>
          <a:xfrm>
            <a:off x="936625" y="233363"/>
            <a:ext cx="7850188" cy="576262"/>
          </a:xfrm>
        </p:spPr>
        <p:txBody>
          <a:bodyPr/>
          <a:lstStyle/>
          <a:p>
            <a:r>
              <a:rPr lang="en-US" altLang="en-US"/>
              <a:t>IPC POSIX Consumer</a:t>
            </a:r>
            <a:endParaRPr lang="en-US" altLang="en-US"/>
          </a:p>
        </p:txBody>
      </p:sp>
      <p:pic>
        <p:nvPicPr>
          <p:cNvPr id="100355" name="Picture 1" descr="Screen Shot 2013-03-12 at 1.38.41 P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5" y="892175"/>
            <a:ext cx="4521200" cy="566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 noChangeArrowheads="1"/>
          </p:cNvSpPr>
          <p:nvPr>
            <p:ph type="title"/>
          </p:nvPr>
        </p:nvSpPr>
        <p:spPr>
          <a:xfrm>
            <a:off x="1138238" y="170228"/>
            <a:ext cx="7548562" cy="576262"/>
          </a:xfrm>
        </p:spPr>
        <p:txBody>
          <a:bodyPr/>
          <a:lstStyle/>
          <a:p>
            <a:r>
              <a:rPr lang="en-US" altLang="en-US" dirty="0"/>
              <a:t>Examples of IPC Systems - Mach</a:t>
            </a:r>
            <a:endParaRPr lang="en-US" altLang="en-US" dirty="0"/>
          </a:p>
        </p:txBody>
      </p:sp>
      <p:sp>
        <p:nvSpPr>
          <p:cNvPr id="10240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54075" y="1076325"/>
            <a:ext cx="7645400" cy="4530725"/>
          </a:xfrm>
        </p:spPr>
        <p:txBody>
          <a:bodyPr/>
          <a:lstStyle/>
          <a:p>
            <a:r>
              <a:rPr lang="en-US" altLang="en-US" dirty="0"/>
              <a:t>Mach communication is message based</a:t>
            </a:r>
            <a:endParaRPr lang="en-US" altLang="en-US" dirty="0"/>
          </a:p>
          <a:p>
            <a:pPr lvl="1"/>
            <a:r>
              <a:rPr lang="en-US" altLang="en-US" dirty="0"/>
              <a:t>Even system calls are messages</a:t>
            </a:r>
            <a:endParaRPr lang="en-US" altLang="en-US" dirty="0"/>
          </a:p>
          <a:p>
            <a:pPr lvl="1"/>
            <a:r>
              <a:rPr lang="en-US" altLang="en-US" dirty="0"/>
              <a:t>Each task gets two ports at creation  - Kernel and Notify</a:t>
            </a:r>
            <a:endParaRPr lang="en-US" altLang="en-US" dirty="0"/>
          </a:p>
          <a:p>
            <a:pPr lvl="1"/>
            <a:r>
              <a:rPr lang="en-US" altLang="en-US" dirty="0"/>
              <a:t>Messages are sent and received using the </a:t>
            </a:r>
            <a:r>
              <a:rPr lang="en-US" altLang="en-US" b="1" dirty="0" err="1">
                <a:latin typeface="Courier New" panose="02070309020205020404" pitchFamily="49" charset="0"/>
              </a:rPr>
              <a:t>mach_msg</a:t>
            </a:r>
            <a:r>
              <a:rPr lang="en-US" altLang="en-US" b="1" dirty="0">
                <a:latin typeface="Courier New" panose="02070309020205020404" pitchFamily="49" charset="0"/>
              </a:rPr>
              <a:t>() </a:t>
            </a:r>
            <a:r>
              <a:rPr lang="en-US" altLang="en-US" dirty="0"/>
              <a:t>function</a:t>
            </a:r>
            <a:endParaRPr lang="en-US" altLang="en-US" dirty="0"/>
          </a:p>
          <a:p>
            <a:pPr lvl="1"/>
            <a:r>
              <a:rPr lang="en-US" altLang="en-US" dirty="0"/>
              <a:t>Ports needed for communication, created via</a:t>
            </a:r>
            <a:endParaRPr lang="en-US" altLang="en-US" dirty="0"/>
          </a:p>
          <a:p>
            <a:pPr lvl="1"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      </a:t>
            </a:r>
            <a:r>
              <a:rPr lang="en-US" altLang="en-US" b="1" dirty="0" err="1">
                <a:latin typeface="Courier New" panose="02070309020205020404" pitchFamily="49" charset="0"/>
              </a:rPr>
              <a:t>mach_port_allocate</a:t>
            </a:r>
            <a:r>
              <a:rPr lang="en-US" altLang="en-US" b="1" dirty="0">
                <a:latin typeface="Courier New" panose="02070309020205020404" pitchFamily="49" charset="0"/>
              </a:rPr>
              <a:t>()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 lvl="1"/>
            <a:r>
              <a:rPr lang="en-US" altLang="en-US" dirty="0"/>
              <a:t>Send and receive are flexible; for example four options if mailbox full:</a:t>
            </a:r>
            <a:endParaRPr lang="en-US" altLang="en-US" dirty="0"/>
          </a:p>
          <a:p>
            <a:pPr lvl="2"/>
            <a:r>
              <a:rPr lang="en-US" altLang="en-US" dirty="0"/>
              <a:t>Wait indefinitely</a:t>
            </a:r>
            <a:endParaRPr lang="en-US" altLang="en-US" dirty="0"/>
          </a:p>
          <a:p>
            <a:pPr lvl="2"/>
            <a:r>
              <a:rPr lang="en-US" altLang="en-US" dirty="0"/>
              <a:t>Wait at most n milliseconds</a:t>
            </a:r>
            <a:endParaRPr lang="en-US" altLang="en-US" dirty="0"/>
          </a:p>
          <a:p>
            <a:pPr lvl="2"/>
            <a:r>
              <a:rPr lang="en-US" altLang="en-US" dirty="0"/>
              <a:t>Return immediately</a:t>
            </a:r>
            <a:endParaRPr lang="en-US" altLang="en-US" dirty="0"/>
          </a:p>
          <a:p>
            <a:pPr lvl="2"/>
            <a:r>
              <a:rPr lang="en-US" altLang="en-US" dirty="0"/>
              <a:t>Temporarily cache a message</a:t>
            </a:r>
            <a:endParaRPr lang="en-US" altLang="en-US" dirty="0"/>
          </a:p>
          <a:p>
            <a:pPr lvl="1"/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Mach Messages</a:t>
            </a:r>
            <a:endParaRPr lang="en-US" altLang="en-US"/>
          </a:p>
        </p:txBody>
      </p:sp>
      <p:sp>
        <p:nvSpPr>
          <p:cNvPr id="104451" name="Rectangle 2"/>
          <p:cNvSpPr>
            <a:spLocks noChangeArrowheads="1"/>
          </p:cNvSpPr>
          <p:nvPr/>
        </p:nvSpPr>
        <p:spPr bwMode="auto">
          <a:xfrm>
            <a:off x="2286000" y="2551113"/>
            <a:ext cx="45720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#include&lt;mach/mach.h&gt; </a:t>
            </a:r>
            <a:endParaRPr kumimoji="0" lang="en-US" altLang="en-US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struct message </a:t>
            </a:r>
            <a:r>
              <a:rPr kumimoji="0" lang="en-US" altLang="en-US" sz="1400" b="1">
                <a:latin typeface="Courier New" panose="02070309020205020404" pitchFamily="49" charset="0"/>
              </a:rPr>
              <a:t>{</a:t>
            </a:r>
            <a:br>
              <a:rPr kumimoji="0" lang="en-US" altLang="en-US" sz="1400" b="1">
                <a:latin typeface="Courier New" panose="02070309020205020404" pitchFamily="49" charset="0"/>
              </a:rPr>
            </a:br>
            <a:r>
              <a:rPr kumimoji="0" lang="en-US" altLang="en-US" sz="1400" b="1">
                <a:latin typeface="Courier New" panose="02070309020205020404" pitchFamily="49" charset="0"/>
              </a:rPr>
              <a:t>	</a:t>
            </a:r>
            <a:r>
              <a:rPr kumimoji="0" lang="en-US" altLang="en-US" b="1">
                <a:latin typeface="Courier New" panose="02070309020205020404" pitchFamily="49" charset="0"/>
              </a:rPr>
              <a:t>mach_msg_header_t header; </a:t>
            </a:r>
            <a:endParaRPr kumimoji="0" lang="en-US" altLang="en-US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	int data; </a:t>
            </a:r>
            <a:endParaRPr kumimoji="0" lang="en-US" altLang="en-US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1">
                <a:latin typeface="Courier New" panose="02070309020205020404" pitchFamily="49" charset="0"/>
              </a:rPr>
              <a:t>}</a:t>
            </a:r>
            <a:r>
              <a:rPr kumimoji="0" lang="en-US" altLang="en-US" b="1">
                <a:latin typeface="Courier New" panose="02070309020205020404" pitchFamily="49" charset="0"/>
              </a:rPr>
              <a:t>;</a:t>
            </a:r>
            <a:br>
              <a:rPr kumimoji="0" lang="en-US" altLang="en-US" b="1">
                <a:latin typeface="Courier New" panose="02070309020205020404" pitchFamily="49" charset="0"/>
              </a:rPr>
            </a:br>
            <a:br>
              <a:rPr kumimoji="0" lang="en-US" altLang="en-US" b="1">
                <a:latin typeface="Courier New" panose="02070309020205020404" pitchFamily="49" charset="0"/>
              </a:rPr>
            </a:br>
            <a:r>
              <a:rPr kumimoji="0" lang="en-US" altLang="en-US" b="1">
                <a:latin typeface="Courier New" panose="02070309020205020404" pitchFamily="49" charset="0"/>
              </a:rPr>
              <a:t>mach port t client; </a:t>
            </a:r>
            <a:endParaRPr kumimoji="0" lang="en-US" altLang="en-US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mach port t server;</a:t>
            </a:r>
            <a:br>
              <a:rPr kumimoji="0" lang="en-US" altLang="en-US" b="1">
                <a:latin typeface="Courier New" panose="02070309020205020404" pitchFamily="49" charset="0"/>
              </a:rPr>
            </a:br>
            <a:endParaRPr kumimoji="0" lang="en-US" altLang="en-U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/>
          <p:cNvSpPr>
            <a:spLocks noGrp="1" noChangeArrowheads="1"/>
          </p:cNvSpPr>
          <p:nvPr>
            <p:ph type="title"/>
          </p:nvPr>
        </p:nvSpPr>
        <p:spPr>
          <a:xfrm>
            <a:off x="895350" y="225425"/>
            <a:ext cx="7639050" cy="576263"/>
          </a:xfrm>
        </p:spPr>
        <p:txBody>
          <a:bodyPr/>
          <a:lstStyle/>
          <a:p>
            <a:r>
              <a:rPr lang="en-US" altLang="en-US"/>
              <a:t>Mach Message Passing - Client</a:t>
            </a:r>
            <a:endParaRPr lang="en-US" altLang="en-US"/>
          </a:p>
        </p:txBody>
      </p:sp>
      <p:pic>
        <p:nvPicPr>
          <p:cNvPr id="105475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1143000"/>
            <a:ext cx="66675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/>
          <p:cNvSpPr>
            <a:spLocks noGrp="1" noChangeArrowheads="1"/>
          </p:cNvSpPr>
          <p:nvPr>
            <p:ph type="title"/>
          </p:nvPr>
        </p:nvSpPr>
        <p:spPr>
          <a:xfrm>
            <a:off x="1008063" y="225425"/>
            <a:ext cx="7526337" cy="576263"/>
          </a:xfrm>
        </p:spPr>
        <p:txBody>
          <a:bodyPr/>
          <a:lstStyle/>
          <a:p>
            <a:r>
              <a:rPr lang="en-US" altLang="en-US"/>
              <a:t>Mach Message Passing - Server</a:t>
            </a:r>
            <a:endParaRPr lang="en-US" altLang="en-US"/>
          </a:p>
        </p:txBody>
      </p:sp>
      <p:pic>
        <p:nvPicPr>
          <p:cNvPr id="106499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1633538"/>
            <a:ext cx="69977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/>
          <p:cNvSpPr>
            <a:spLocks noGrp="1" noChangeArrowheads="1"/>
          </p:cNvSpPr>
          <p:nvPr>
            <p:ph type="title"/>
          </p:nvPr>
        </p:nvSpPr>
        <p:spPr>
          <a:xfrm>
            <a:off x="959603" y="170670"/>
            <a:ext cx="8229600" cy="576263"/>
          </a:xfrm>
        </p:spPr>
        <p:txBody>
          <a:bodyPr/>
          <a:lstStyle/>
          <a:p>
            <a:r>
              <a:rPr lang="en-US" altLang="en-US" dirty="0"/>
              <a:t>Examples of IPC Systems – Windows</a:t>
            </a:r>
            <a:endParaRPr lang="en-US" altLang="en-US" dirty="0"/>
          </a:p>
        </p:txBody>
      </p:sp>
      <p:sp>
        <p:nvSpPr>
          <p:cNvPr id="10752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9950" y="1154113"/>
            <a:ext cx="6950075" cy="4530725"/>
          </a:xfrm>
        </p:spPr>
        <p:txBody>
          <a:bodyPr/>
          <a:lstStyle/>
          <a:p>
            <a:r>
              <a:rPr lang="en-US" altLang="en-US" dirty="0"/>
              <a:t>Message-passing centric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advanced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procedure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call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LPC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/>
              <a:t> facility</a:t>
            </a:r>
            <a:endParaRPr lang="en-US" altLang="en-US" dirty="0"/>
          </a:p>
          <a:p>
            <a:pPr lvl="1"/>
            <a:r>
              <a:rPr lang="en-US" altLang="en-US" dirty="0"/>
              <a:t>Only works between processes on the same system</a:t>
            </a:r>
            <a:endParaRPr lang="en-US" altLang="en-US" dirty="0"/>
          </a:p>
          <a:p>
            <a:pPr lvl="1"/>
            <a:r>
              <a:rPr lang="en-US" altLang="en-US" dirty="0"/>
              <a:t>Uses ports (like mailboxes) to establish and maintain communication channels</a:t>
            </a:r>
            <a:endParaRPr lang="en-US" altLang="en-US" dirty="0"/>
          </a:p>
          <a:p>
            <a:pPr lvl="1"/>
            <a:r>
              <a:rPr lang="en-US" altLang="en-US" dirty="0"/>
              <a:t>Communication works as follows:</a:t>
            </a:r>
            <a:endParaRPr lang="en-US" altLang="en-US" dirty="0"/>
          </a:p>
          <a:p>
            <a:pPr lvl="2"/>
            <a:r>
              <a:rPr lang="en-US" altLang="en-US" dirty="0"/>
              <a:t>The client opens a handle to the subsystem’</a:t>
            </a:r>
            <a:r>
              <a:rPr lang="en-US" altLang="ja-JP" dirty="0"/>
              <a:t>s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connection</a:t>
            </a:r>
            <a:r>
              <a:rPr lang="en-US" altLang="ja-JP" b="1" dirty="0">
                <a:solidFill>
                  <a:srgbClr val="0000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ja-JP" dirty="0"/>
              <a:t> object.</a:t>
            </a:r>
            <a:endParaRPr lang="en-US" altLang="ja-JP" dirty="0"/>
          </a:p>
          <a:p>
            <a:pPr lvl="2"/>
            <a:r>
              <a:rPr lang="en-US" altLang="en-US" dirty="0"/>
              <a:t>The client sends a connection request.</a:t>
            </a:r>
            <a:endParaRPr lang="en-US" altLang="en-US" dirty="0"/>
          </a:p>
          <a:p>
            <a:pPr lvl="2"/>
            <a:r>
              <a:rPr lang="en-US" altLang="en-US" dirty="0"/>
              <a:t>The server creates two private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returns the handle to one of them to the client.</a:t>
            </a:r>
            <a:endParaRPr lang="en-US" altLang="en-US" dirty="0"/>
          </a:p>
          <a:p>
            <a:pPr lvl="2"/>
            <a:r>
              <a:rPr lang="en-US" altLang="en-US" dirty="0"/>
              <a:t>The client and server use the corresponding port handle to send messages or callbacks and to listen for replies.</a:t>
            </a:r>
            <a:endParaRPr lang="en-US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/>
          <p:cNvSpPr>
            <a:spLocks noGrp="1" noChangeArrowheads="1"/>
          </p:cNvSpPr>
          <p:nvPr>
            <p:ph type="title"/>
          </p:nvPr>
        </p:nvSpPr>
        <p:spPr>
          <a:xfrm>
            <a:off x="1025525" y="228600"/>
            <a:ext cx="7810500" cy="576263"/>
          </a:xfrm>
        </p:spPr>
        <p:txBody>
          <a:bodyPr/>
          <a:lstStyle/>
          <a:p>
            <a:r>
              <a:rPr lang="en-US" altLang="en-US"/>
              <a:t>Local Procedure Calls in Windows</a:t>
            </a:r>
            <a:endParaRPr lang="en-US" altLang="en-US"/>
          </a:p>
        </p:txBody>
      </p:sp>
      <p:pic>
        <p:nvPicPr>
          <p:cNvPr id="109571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1820863"/>
            <a:ext cx="68897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61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Pipes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管道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4713" y="1154113"/>
            <a:ext cx="7588250" cy="4530725"/>
          </a:xfrm>
        </p:spPr>
        <p:txBody>
          <a:bodyPr/>
          <a:lstStyle/>
          <a:p>
            <a:r>
              <a:rPr lang="en-US" altLang="en-US"/>
              <a:t>Acts as a conduit allowing two processes to communicate</a:t>
            </a:r>
            <a:endParaRPr lang="en-US" altLang="en-US"/>
          </a:p>
          <a:p>
            <a:r>
              <a:rPr lang="en-US" altLang="en-US"/>
              <a:t>Issues:</a:t>
            </a:r>
            <a:endParaRPr lang="en-US" altLang="en-US"/>
          </a:p>
          <a:p>
            <a:pPr lvl="1"/>
            <a:r>
              <a:rPr lang="en-US" altLang="en-US"/>
              <a:t>Is communication unidirectional or bidirectional?</a:t>
            </a:r>
            <a:endParaRPr lang="en-US" altLang="en-US"/>
          </a:p>
          <a:p>
            <a:pPr lvl="1"/>
            <a:r>
              <a:rPr lang="en-US" altLang="en-US"/>
              <a:t>In the case of two-way communication, is it half or full-duplex?</a:t>
            </a:r>
            <a:endParaRPr lang="en-US" altLang="en-US"/>
          </a:p>
          <a:p>
            <a:pPr lvl="1"/>
            <a:r>
              <a:rPr lang="en-US" altLang="en-US"/>
              <a:t>Must there exist a relationship (i.e., </a:t>
            </a:r>
            <a:r>
              <a:rPr lang="en-US" altLang="en-US" b="1" i="1"/>
              <a:t>parent-child</a:t>
            </a:r>
            <a:r>
              <a:rPr lang="en-US" altLang="en-US"/>
              <a:t>) between the communicating processes?</a:t>
            </a:r>
            <a:endParaRPr lang="en-US" altLang="en-US"/>
          </a:p>
          <a:p>
            <a:pPr lvl="1"/>
            <a:r>
              <a:rPr lang="en-US" altLang="en-US"/>
              <a:t>Can the pipes be used over a network?</a:t>
            </a:r>
            <a:endParaRPr lang="en-US" altLang="en-US"/>
          </a:p>
          <a:p>
            <a:r>
              <a:rPr lang="en-US" altLang="en-US" b="1"/>
              <a:t>Ordinary pipes </a:t>
            </a:r>
            <a:r>
              <a:rPr lang="en-US" altLang="en-US"/>
              <a:t>– cannot be accessed  from outside the process that created it. Typically, a parent process creates a pipe and uses it to communicate with a child process that it created. </a:t>
            </a:r>
            <a:endParaRPr lang="en-US" altLang="en-US"/>
          </a:p>
          <a:p>
            <a:r>
              <a:rPr lang="en-US" altLang="en-US" b="1"/>
              <a:t>Named pipes </a:t>
            </a:r>
            <a:r>
              <a:rPr lang="en-US" altLang="en-US"/>
              <a:t>– can be accessed without a parent-child relationship.</a:t>
            </a:r>
            <a:endParaRPr lang="en-US" altLang="en-US"/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/>
          <p:cNvSpPr>
            <a:spLocks noGrp="1" noChangeArrowheads="1"/>
          </p:cNvSpPr>
          <p:nvPr>
            <p:ph type="title"/>
          </p:nvPr>
        </p:nvSpPr>
        <p:spPr>
          <a:xfrm>
            <a:off x="457200" y="163878"/>
            <a:ext cx="8229600" cy="576262"/>
          </a:xfrm>
        </p:spPr>
        <p:txBody>
          <a:bodyPr/>
          <a:lstStyle/>
          <a:p>
            <a:r>
              <a:rPr lang="en-US" altLang="en-US" dirty="0"/>
              <a:t>Ordinary Pipes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普通管道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667" name="Content Placeholder 7"/>
          <p:cNvSpPr>
            <a:spLocks noGrp="1" noChangeArrowheads="1"/>
          </p:cNvSpPr>
          <p:nvPr>
            <p:ph idx="1"/>
          </p:nvPr>
        </p:nvSpPr>
        <p:spPr>
          <a:xfrm>
            <a:off x="868363" y="1138238"/>
            <a:ext cx="7537450" cy="4930775"/>
          </a:xfrm>
        </p:spPr>
        <p:txBody>
          <a:bodyPr/>
          <a:lstStyle/>
          <a:p>
            <a:r>
              <a:rPr lang="en-US" altLang="en-US" dirty="0"/>
              <a:t>Ordinary Pipes</a:t>
            </a:r>
            <a:r>
              <a:rPr lang="en-US" altLang="en-US" b="1" dirty="0"/>
              <a:t> </a:t>
            </a:r>
            <a:r>
              <a:rPr lang="en-US" altLang="en-US" dirty="0"/>
              <a:t>allow communication in standard producer-consumer style</a:t>
            </a:r>
            <a:endParaRPr lang="en-US" altLang="en-US" dirty="0"/>
          </a:p>
          <a:p>
            <a:r>
              <a:rPr lang="en-US" altLang="en-US" dirty="0"/>
              <a:t>Producer writes to one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write-end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of the pipe)</a:t>
            </a:r>
            <a:endParaRPr lang="en-US" altLang="en-US" dirty="0"/>
          </a:p>
          <a:p>
            <a:r>
              <a:rPr lang="en-US" altLang="en-US" dirty="0"/>
              <a:t>Consumer reads from the other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read-end</a:t>
            </a:r>
            <a:r>
              <a:rPr lang="en-US" altLang="en-US" i="1" dirty="0"/>
              <a:t> </a:t>
            </a:r>
            <a:r>
              <a:rPr lang="en-US" altLang="en-US" dirty="0"/>
              <a:t>of the pipe)</a:t>
            </a:r>
            <a:endParaRPr lang="en-US" altLang="en-US" dirty="0"/>
          </a:p>
          <a:p>
            <a:r>
              <a:rPr lang="en-US" altLang="en-US" dirty="0"/>
              <a:t>Ordinary pipes are therefore unidirectional</a:t>
            </a:r>
            <a:endParaRPr lang="en-US" altLang="en-US" dirty="0"/>
          </a:p>
          <a:p>
            <a:r>
              <a:rPr lang="en-US" altLang="en-US" dirty="0"/>
              <a:t>Require parent-child relationship between communicating processes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r>
              <a:rPr lang="en-US" altLang="en-US" dirty="0"/>
              <a:t>Windows calls these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pipes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  <p:pic>
        <p:nvPicPr>
          <p:cNvPr id="113668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3530600"/>
            <a:ext cx="38893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6"/>
          <p:cNvSpPr>
            <a:spLocks noGrp="1" noChangeArrowheads="1"/>
          </p:cNvSpPr>
          <p:nvPr>
            <p:ph type="title"/>
          </p:nvPr>
        </p:nvSpPr>
        <p:spPr>
          <a:xfrm>
            <a:off x="473075" y="217488"/>
            <a:ext cx="8229600" cy="576262"/>
          </a:xfrm>
        </p:spPr>
        <p:txBody>
          <a:bodyPr/>
          <a:lstStyle/>
          <a:p>
            <a:r>
              <a:rPr lang="en-US" altLang="en-US"/>
              <a:t>Named Pipes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命名管道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715" name="Content Placeholder 7"/>
          <p:cNvSpPr>
            <a:spLocks noGrp="1" noChangeArrowheads="1"/>
          </p:cNvSpPr>
          <p:nvPr>
            <p:ph idx="1"/>
          </p:nvPr>
        </p:nvSpPr>
        <p:spPr>
          <a:xfrm>
            <a:off x="885825" y="1233488"/>
            <a:ext cx="7651750" cy="4530725"/>
          </a:xfrm>
        </p:spPr>
        <p:txBody>
          <a:bodyPr/>
          <a:lstStyle/>
          <a:p>
            <a:r>
              <a:rPr lang="en-US" altLang="en-US"/>
              <a:t>Named Pipes are more powerful than ordinary pipes</a:t>
            </a:r>
            <a:endParaRPr lang="en-US" altLang="en-US"/>
          </a:p>
          <a:p>
            <a:r>
              <a:rPr lang="en-US" altLang="en-US"/>
              <a:t>Communication is bidirectional</a:t>
            </a:r>
            <a:endParaRPr lang="en-US" altLang="en-US"/>
          </a:p>
          <a:p>
            <a:r>
              <a:rPr lang="en-US" altLang="en-US"/>
              <a:t>No parent-child relationship is necessary between the communicating processes</a:t>
            </a:r>
            <a:endParaRPr lang="en-US" altLang="en-US"/>
          </a:p>
          <a:p>
            <a:r>
              <a:rPr lang="en-US" altLang="en-US"/>
              <a:t>Several processes can use the named pipe for communication</a:t>
            </a:r>
            <a:endParaRPr lang="en-US" altLang="en-US"/>
          </a:p>
          <a:p>
            <a:r>
              <a:rPr lang="en-US" altLang="en-US"/>
              <a:t>Provided on both UNIX and Windows systems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766763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Communications in Client-Server Systems</a:t>
            </a:r>
            <a:endParaRPr lang="en-US" altLang="en-US" sz="2800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6794500" cy="4530725"/>
          </a:xfrm>
        </p:spPr>
        <p:txBody>
          <a:bodyPr/>
          <a:lstStyle/>
          <a:p>
            <a:r>
              <a:rPr lang="en-US" altLang="en-US"/>
              <a:t>Sockets</a:t>
            </a:r>
            <a:endParaRPr lang="en-US" altLang="en-US"/>
          </a:p>
          <a:p>
            <a:r>
              <a:rPr lang="en-US" altLang="en-US"/>
              <a:t>Remote Procedure Calls</a:t>
            </a:r>
            <a:endParaRPr lang="en-US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套接字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6300" y="1154113"/>
            <a:ext cx="7632700" cy="4530725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socket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is defined as an endpoint for communication</a:t>
            </a:r>
            <a:endParaRPr lang="en-US" altLang="en-US" sz="800" dirty="0"/>
          </a:p>
          <a:p>
            <a:r>
              <a:rPr lang="en-US" altLang="en-US" dirty="0"/>
              <a:t>Concatenation of IP address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en-US" dirty="0"/>
              <a:t> – a number included at start of message packet to differentiate network services on a host</a:t>
            </a:r>
            <a:endParaRPr lang="en-US" altLang="en-US" sz="800" dirty="0"/>
          </a:p>
          <a:p>
            <a:r>
              <a:rPr lang="en-US" altLang="en-US" dirty="0"/>
              <a:t>The socket </a:t>
            </a:r>
            <a:r>
              <a:rPr lang="en-US" altLang="en-US" b="1" dirty="0"/>
              <a:t>161.25.19.8:1625</a:t>
            </a:r>
            <a:r>
              <a:rPr lang="en-US" altLang="en-US" dirty="0"/>
              <a:t> refers to port </a:t>
            </a:r>
            <a:r>
              <a:rPr lang="en-US" altLang="en-US" b="1" dirty="0"/>
              <a:t>1625</a:t>
            </a:r>
            <a:r>
              <a:rPr lang="en-US" altLang="en-US" dirty="0"/>
              <a:t> on host </a:t>
            </a:r>
            <a:r>
              <a:rPr lang="en-US" altLang="en-US" b="1" dirty="0"/>
              <a:t>161.25.19.8</a:t>
            </a:r>
            <a:endParaRPr lang="en-US" altLang="en-US" sz="800" b="1" dirty="0"/>
          </a:p>
          <a:p>
            <a:r>
              <a:rPr lang="en-US" altLang="en-US" dirty="0"/>
              <a:t>Communication consists between a pair of sockets</a:t>
            </a:r>
            <a:endParaRPr lang="en-US" altLang="en-US" sz="800" dirty="0"/>
          </a:p>
          <a:p>
            <a:r>
              <a:rPr lang="en-US" altLang="en-US" dirty="0"/>
              <a:t>All ports below 1024 are </a:t>
            </a:r>
            <a:r>
              <a:rPr lang="en-US" altLang="en-US" b="1" i="1" dirty="0"/>
              <a:t>well known</a:t>
            </a:r>
            <a:r>
              <a:rPr lang="en-US" altLang="en-US" dirty="0"/>
              <a:t>, used for standard services</a:t>
            </a:r>
            <a:endParaRPr lang="en-US" altLang="en-US" sz="800" dirty="0"/>
          </a:p>
          <a:p>
            <a:r>
              <a:rPr lang="en-US" altLang="en-US" dirty="0"/>
              <a:t>Special IP address 127.0.0.1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loopback</a:t>
            </a:r>
            <a:r>
              <a:rPr lang="en-US" altLang="en-US" dirty="0"/>
              <a:t>) to refer to system on which process is running</a:t>
            </a:r>
            <a:endParaRPr lang="en-US" alt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757238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 Communication</a:t>
            </a:r>
            <a:endParaRPr lang="en-US" altLang="en-US"/>
          </a:p>
        </p:txBody>
      </p:sp>
      <p:pic>
        <p:nvPicPr>
          <p:cNvPr id="121859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1676400"/>
            <a:ext cx="5440362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 in Java</a:t>
            </a:r>
            <a:endParaRPr lang="en-US" alt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419475" cy="4530725"/>
          </a:xfrm>
        </p:spPr>
        <p:txBody>
          <a:bodyPr/>
          <a:lstStyle/>
          <a:p>
            <a:r>
              <a:rPr lang="en-US" altLang="en-US" dirty="0"/>
              <a:t>Three types of sockets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Connection-oriented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TCP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Connectionless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UDP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b="1" dirty="0" err="1">
                <a:latin typeface="Courier New" panose="02070309020205020404" pitchFamily="49" charset="0"/>
              </a:rPr>
              <a:t>MulticastSocket</a:t>
            </a:r>
            <a:r>
              <a:rPr lang="en-US" altLang="en-US" dirty="0"/>
              <a:t> class– data can be sent to multiple recipients</a:t>
            </a:r>
            <a:endParaRPr lang="en-US" altLang="en-US" dirty="0"/>
          </a:p>
          <a:p>
            <a:r>
              <a:rPr lang="en-US" altLang="en-US" dirty="0"/>
              <a:t>Consider this “Date” server in Java:</a:t>
            </a:r>
            <a:endParaRPr lang="en-US" altLang="en-US" dirty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pic>
        <p:nvPicPr>
          <p:cNvPr id="123908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925" y="1233488"/>
            <a:ext cx="4740275" cy="472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Sockets in Java</a:t>
            </a:r>
            <a:endParaRPr lang="en-US" altLang="en-US"/>
          </a:p>
        </p:txBody>
      </p:sp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3275013" y="1123950"/>
            <a:ext cx="285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en-US" dirty="0">
                <a:latin typeface="+mn-lt"/>
              </a:rPr>
              <a:t>The equivalent Date client</a:t>
            </a:r>
            <a:endParaRPr kumimoji="0" lang="en-US" altLang="en-US" dirty="0">
              <a:latin typeface="+mn-lt"/>
            </a:endParaRPr>
          </a:p>
        </p:txBody>
      </p:sp>
      <p:pic>
        <p:nvPicPr>
          <p:cNvPr id="125956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1620838"/>
            <a:ext cx="4954588" cy="455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33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远程过程调用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138238"/>
            <a:ext cx="7654925" cy="4867275"/>
          </a:xfrm>
        </p:spPr>
        <p:txBody>
          <a:bodyPr/>
          <a:lstStyle/>
          <a:p>
            <a:r>
              <a:rPr lang="en-US" altLang="en-US" dirty="0"/>
              <a:t>Remote procedure call (RPC) abstracts procedure calls between processes on networked systems</a:t>
            </a:r>
            <a:endParaRPr lang="en-US" altLang="en-US" dirty="0"/>
          </a:p>
          <a:p>
            <a:pPr lvl="1"/>
            <a:r>
              <a:rPr lang="en-US" altLang="en-US" dirty="0"/>
              <a:t>Again uses ports for service differentiation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Stubs</a:t>
            </a:r>
            <a:r>
              <a:rPr lang="en-US" altLang="en-US" dirty="0"/>
              <a:t> – client-side proxy for the actual procedure on the server</a:t>
            </a:r>
            <a:endParaRPr lang="en-US" altLang="en-US" dirty="0"/>
          </a:p>
          <a:p>
            <a:r>
              <a:rPr lang="en-US" altLang="en-US" dirty="0"/>
              <a:t>The client-side stub locates the server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marshalls</a:t>
            </a:r>
            <a:r>
              <a:rPr lang="en-US" altLang="en-US" dirty="0"/>
              <a:t> the parameters</a:t>
            </a:r>
            <a:endParaRPr lang="en-US" altLang="en-US" dirty="0"/>
          </a:p>
          <a:p>
            <a:r>
              <a:rPr lang="en-US" altLang="en-US" dirty="0"/>
              <a:t>The server-side stub receives this message, unpacks the marshalled parameters, and performs the procedure on the server</a:t>
            </a:r>
            <a:endParaRPr lang="en-US" altLang="en-US" dirty="0"/>
          </a:p>
          <a:p>
            <a:r>
              <a:rPr lang="en-US" altLang="en-US" dirty="0"/>
              <a:t>On Windows, stub code compile from specification written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Microsoft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Definition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Language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MIDL</a:t>
            </a:r>
            <a:r>
              <a:rPr lang="en-US" altLang="en-US" dirty="0"/>
              <a:t>)</a:t>
            </a:r>
            <a:endParaRPr lang="en-US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30275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 (Cont.)</a:t>
            </a:r>
            <a:endParaRPr lang="en-US" altLang="en-US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275" y="969963"/>
            <a:ext cx="7672388" cy="4675187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 dirty="0"/>
          </a:p>
          <a:p>
            <a:r>
              <a:rPr lang="en-US" altLang="en-US" dirty="0"/>
              <a:t>Data representation handled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 Data Representation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XDL</a:t>
            </a:r>
            <a:r>
              <a:rPr lang="en-US" altLang="en-US" dirty="0"/>
              <a:t>) format to account for different architectures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Big-endian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little-endian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Remote communication has more failure scenarios than local</a:t>
            </a:r>
            <a:endParaRPr lang="en-US" altLang="en-US" dirty="0"/>
          </a:p>
          <a:p>
            <a:pPr lvl="1"/>
            <a:r>
              <a:rPr lang="en-US" altLang="en-US" dirty="0"/>
              <a:t>Messages can be delivered </a:t>
            </a:r>
            <a:r>
              <a:rPr lang="en-US" altLang="en-US" b="1" i="1" dirty="0"/>
              <a:t>exactly once </a:t>
            </a:r>
            <a:r>
              <a:rPr lang="en-US" altLang="en-US" dirty="0"/>
              <a:t>rather than </a:t>
            </a:r>
            <a:r>
              <a:rPr lang="en-US" altLang="en-US" b="1" i="1" dirty="0"/>
              <a:t>at most once</a:t>
            </a:r>
            <a:endParaRPr lang="en-US" altLang="en-US" b="1" i="1" dirty="0"/>
          </a:p>
          <a:p>
            <a:r>
              <a:rPr lang="en-US" altLang="en-US" dirty="0"/>
              <a:t>OS typically provides a rendezvous (or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matchmaker</a:t>
            </a:r>
            <a:r>
              <a:rPr lang="en-US" altLang="en-US" dirty="0"/>
              <a:t>) service to connect client and server</a:t>
            </a:r>
            <a:endParaRPr lang="en-US" alt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Execution of RPC</a:t>
            </a:r>
            <a:endParaRPr lang="en-US" altLang="en-US"/>
          </a:p>
        </p:txBody>
      </p:sp>
      <p:pic>
        <p:nvPicPr>
          <p:cNvPr id="131075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909638"/>
            <a:ext cx="4419600" cy="531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3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4e81f665-149f-4c51-b39d-16cd43c207e1"/>
  <p:tag name="COMMONDATA" val="eyJoZGlkIjoiMzgwMmY0NTc1NWE0ZWI0NzI4MjdjMjVhY2VhMTkyNzQifQ=="/>
</p:tagLst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19768</Words>
  <Application>WPS 演示</Application>
  <PresentationFormat>On-screen Show (4:3)</PresentationFormat>
  <Paragraphs>592</Paragraphs>
  <Slides>71</Slides>
  <Notes>64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9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Monotype Sorts</vt:lpstr>
      <vt:lpstr>Wingdings</vt:lpstr>
      <vt:lpstr>微软雅黑</vt:lpstr>
      <vt:lpstr>Arial Unicode MS</vt:lpstr>
      <vt:lpstr>Courier New</vt:lpstr>
      <vt:lpstr>Monaco</vt:lpstr>
      <vt:lpstr>Courier</vt:lpstr>
      <vt:lpstr>Segoe Print</vt:lpstr>
      <vt:lpstr>黑体</vt:lpstr>
      <vt:lpstr>os-8</vt:lpstr>
      <vt:lpstr>Chapter 3:  Processes</vt:lpstr>
      <vt:lpstr>Outline</vt:lpstr>
      <vt:lpstr>Objectives</vt:lpstr>
      <vt:lpstr>Process Concept</vt:lpstr>
      <vt:lpstr>Process Concept (Cont.)</vt:lpstr>
      <vt:lpstr>Process in Memory</vt:lpstr>
      <vt:lpstr>Memory Layout of a C Program</vt:lpstr>
      <vt:lpstr>Process State</vt:lpstr>
      <vt:lpstr>Diagram of Process State</vt:lpstr>
      <vt:lpstr>Process Control Block (PCB)</vt:lpstr>
      <vt:lpstr>Threads</vt:lpstr>
      <vt:lpstr>Process Representation in Linux</vt:lpstr>
      <vt:lpstr>Process Scheduling</vt:lpstr>
      <vt:lpstr>Ready and Wait Queues</vt:lpstr>
      <vt:lpstr>Representation of Process Scheduling</vt:lpstr>
      <vt:lpstr>CPU Switch From Process to Process</vt:lpstr>
      <vt:lpstr>Context Switch</vt:lpstr>
      <vt:lpstr>Multitasking in Mobile Systems</vt:lpstr>
      <vt:lpstr>Operations on Processes</vt:lpstr>
      <vt:lpstr>Process Creation</vt:lpstr>
      <vt:lpstr>Process Creation (Cont.)</vt:lpstr>
      <vt:lpstr>A Tree of Processes in Linux</vt:lpstr>
      <vt:lpstr>C Program Forking Separate Process</vt:lpstr>
      <vt:lpstr>Creating a Separate Process via Windows API</vt:lpstr>
      <vt:lpstr>Process Termination</vt:lpstr>
      <vt:lpstr>Process Termination</vt:lpstr>
      <vt:lpstr>Android Process Importance Hierarchy</vt:lpstr>
      <vt:lpstr>Multiprocess Architecture – Chrome Browser</vt:lpstr>
      <vt:lpstr>Interprocess Communication</vt:lpstr>
      <vt:lpstr>Communications Models </vt:lpstr>
      <vt:lpstr>Producer-Consumer Problem</vt:lpstr>
      <vt:lpstr>IPC – Shared Memory</vt:lpstr>
      <vt:lpstr>Bounded-Buffer – Shared-Memory Solution</vt:lpstr>
      <vt:lpstr>Producer Process – Shared Memory</vt:lpstr>
      <vt:lpstr>Consumer Process – Shared Memory</vt:lpstr>
      <vt:lpstr>What about Filling all the Buffers?</vt:lpstr>
      <vt:lpstr>Producer </vt:lpstr>
      <vt:lpstr>Consumer</vt:lpstr>
      <vt:lpstr>Race Condition</vt:lpstr>
      <vt:lpstr>Race Condition (Cont.)</vt:lpstr>
      <vt:lpstr>IPC – Message Passing</vt:lpstr>
      <vt:lpstr>Message Passing (Cont.)</vt:lpstr>
      <vt:lpstr>Implementation of Communication Link</vt:lpstr>
      <vt:lpstr>Direct Communication</vt:lpstr>
      <vt:lpstr>Indirect Communication</vt:lpstr>
      <vt:lpstr>Indirect Communication (Cont.)</vt:lpstr>
      <vt:lpstr>Indirect Communication (Cont.)</vt:lpstr>
      <vt:lpstr>Synchronization</vt:lpstr>
      <vt:lpstr>Producer-Consumer: Message Passing</vt:lpstr>
      <vt:lpstr>Buffering</vt:lpstr>
      <vt:lpstr>Examples of IPC Systems - POSIX</vt:lpstr>
      <vt:lpstr>IPC POSIX Producer</vt:lpstr>
      <vt:lpstr>IPC POSIX Consumer</vt:lpstr>
      <vt:lpstr>Examples of IPC Systems - Mach</vt:lpstr>
      <vt:lpstr>Mach Messages</vt:lpstr>
      <vt:lpstr>Mach Message Passing - Client</vt:lpstr>
      <vt:lpstr>Mach Message Passing - Server</vt:lpstr>
      <vt:lpstr>Examples of IPC Systems – Windows</vt:lpstr>
      <vt:lpstr>Local Procedure Calls in Windows</vt:lpstr>
      <vt:lpstr>Pipes</vt:lpstr>
      <vt:lpstr>Ordinary Pipes</vt:lpstr>
      <vt:lpstr>Named Pipes</vt:lpstr>
      <vt:lpstr>Communications in Client-Server Systems</vt:lpstr>
      <vt:lpstr>Sockets</vt:lpstr>
      <vt:lpstr>Socket Communication</vt:lpstr>
      <vt:lpstr>Sockets in Java</vt:lpstr>
      <vt:lpstr>Sockets in Java</vt:lpstr>
      <vt:lpstr>Remote Procedure Calls</vt:lpstr>
      <vt:lpstr>Remote Procedure Calls (Cont.)</vt:lpstr>
      <vt:lpstr>Execution of RPC</vt:lpstr>
      <vt:lpstr>End of Chapter 3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左劼</cp:lastModifiedBy>
  <cp:revision>379</cp:revision>
  <cp:lastPrinted>2013-10-02T18:16:00Z</cp:lastPrinted>
  <dcterms:created xsi:type="dcterms:W3CDTF">2011-01-13T23:43:00Z</dcterms:created>
  <dcterms:modified xsi:type="dcterms:W3CDTF">2023-03-08T14:20:05Z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7742113FFC034DF7BB04FF3A3ABE930A</vt:lpwstr>
  </property>
</Properties>
</file>