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49"/>
  </p:handoutMasterIdLst>
  <p:sldIdLst>
    <p:sldId id="331" r:id="rId3"/>
    <p:sldId id="332" r:id="rId5"/>
    <p:sldId id="358" r:id="rId6"/>
    <p:sldId id="359" r:id="rId7"/>
    <p:sldId id="360" r:id="rId8"/>
    <p:sldId id="361" r:id="rId9"/>
    <p:sldId id="449" r:id="rId10"/>
    <p:sldId id="450" r:id="rId11"/>
    <p:sldId id="363" r:id="rId12"/>
    <p:sldId id="364" r:id="rId13"/>
    <p:sldId id="365" r:id="rId14"/>
    <p:sldId id="451" r:id="rId15"/>
    <p:sldId id="367" r:id="rId16"/>
    <p:sldId id="374" r:id="rId17"/>
    <p:sldId id="375" r:id="rId18"/>
    <p:sldId id="376" r:id="rId19"/>
    <p:sldId id="384" r:id="rId20"/>
    <p:sldId id="428" r:id="rId21"/>
    <p:sldId id="385" r:id="rId22"/>
    <p:sldId id="429" r:id="rId23"/>
    <p:sldId id="386" r:id="rId24"/>
    <p:sldId id="430" r:id="rId25"/>
    <p:sldId id="431" r:id="rId26"/>
    <p:sldId id="432" r:id="rId27"/>
    <p:sldId id="433" r:id="rId28"/>
    <p:sldId id="434" r:id="rId29"/>
    <p:sldId id="435" r:id="rId30"/>
    <p:sldId id="436" r:id="rId31"/>
    <p:sldId id="437" r:id="rId32"/>
    <p:sldId id="438" r:id="rId33"/>
    <p:sldId id="439" r:id="rId34"/>
    <p:sldId id="440" r:id="rId35"/>
    <p:sldId id="441" r:id="rId36"/>
    <p:sldId id="442" r:id="rId37"/>
    <p:sldId id="443" r:id="rId38"/>
    <p:sldId id="444" r:id="rId39"/>
    <p:sldId id="445" r:id="rId40"/>
    <p:sldId id="446" r:id="rId41"/>
    <p:sldId id="447" r:id="rId42"/>
    <p:sldId id="448" r:id="rId43"/>
    <p:sldId id="423" r:id="rId44"/>
    <p:sldId id="424" r:id="rId45"/>
    <p:sldId id="426" r:id="rId46"/>
    <p:sldId id="427" r:id="rId47"/>
    <p:sldId id="404" r:id="rId48"/>
  </p:sldIdLst>
  <p:sldSz cx="9144000" cy="6858000" type="screen4x3"/>
  <p:notesSz cx="7010400" cy="9296400"/>
  <p:custDataLst>
    <p:tags r:id="rId53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5930" indent="190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3130" indent="190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0330" indent="190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7530" indent="190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4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6"/>
    <p:restoredTop sz="94635"/>
  </p:normalViewPr>
  <p:slideViewPr>
    <p:cSldViewPr snapToGrid="0" showGuides="1">
      <p:cViewPr varScale="1">
        <p:scale>
          <a:sx n="64" d="100"/>
          <a:sy n="64" d="100"/>
        </p:scale>
        <p:origin x="1210" y="7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9" d="100"/>
        <a:sy n="79" d="100"/>
      </p:scale>
      <p:origin x="0" y="-289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3" Type="http://schemas.openxmlformats.org/officeDocument/2006/relationships/tags" Target="tags/tag1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2.xml"/><Relationship Id="rId49" Type="http://schemas.openxmlformats.org/officeDocument/2006/relationships/handoutMaster" Target="handoutMasters/handoutMaster1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61" tIns="44132" rIns="88261" bIns="44132" numCol="1" anchor="ctr" anchorCtr="0" compatLnSpc="1"/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61" tIns="44132" rIns="88261" bIns="44132" numCol="1" anchor="ctr" anchorCtr="0" compatLnSpc="1"/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61" tIns="44132" rIns="88261" bIns="44132" numCol="1" anchor="b" anchorCtr="0" compatLnSpc="1"/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61" tIns="44132" rIns="88261" bIns="44132" numCol="1" anchor="b" anchorCtr="0" compatLnSpc="1"/>
          <a:lstStyle>
            <a:lvl1pPr algn="r" defTabSz="882650">
              <a:defRPr sz="1100">
                <a:latin typeface="Helvetica" panose="020B060402020202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EAED9E23-4007-4CE0-B9FA-1CB7C3B0E505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60" tIns="46580" rIns="93160" bIns="46580" numCol="1" anchor="ctr" anchorCtr="0" compatLnSpc="1"/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60" tIns="46580" rIns="93160" bIns="46580" numCol="1" anchor="ctr" anchorCtr="0" compatLnSpc="1"/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8500"/>
            <a:ext cx="4649788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60" tIns="46580" rIns="93160" bIns="46580" numCol="1" anchor="ctr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60" tIns="46580" rIns="93160" bIns="46580" numCol="1" anchor="b" anchorCtr="0" compatLnSpc="1"/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60" tIns="46580" rIns="93160" bIns="46580" numCol="1" anchor="b" anchorCtr="0" compatLnSpc="1"/>
          <a:lstStyle>
            <a:lvl1pPr algn="r" defTabSz="930275">
              <a:defRPr sz="1200"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0B26353B-46D8-44BD-A369-9C247476639F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6E3CA1B-BF1D-4627-BFE0-E36D1A7C18AA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A8FD42-FB50-4F0E-83DB-032AD89E6B10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68B8218-B419-4C46-9B31-7C5CA16C0958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A3AE300-16A7-43AF-AE1F-1DE14735F1C6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4D748A9-A869-41DD-902B-3C31EC6B06E1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08868E1-D052-4404-8916-164E1D0D0B49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FF6CAB1-B51D-444E-A465-8AF1E0A4B97E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FF6CAB1-B51D-444E-A465-8AF1E0A4B97E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9A8A344-8948-476E-AFBC-AE7944A55FD0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1FD57D9-9ACF-4A83-A909-F49ABBD723C3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9A9972C-A281-4ED9-A13B-A6C6E2D45CB3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FCA2DBE-B6D1-4FB7-B4F4-1496EA4F2FD3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6BCBA1-9824-4D0D-B46E-F77E737E1BD9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5D69A58-CE8A-4061-AAAF-8375D0450CC5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FC2B6B4-BF24-4262-A303-E000472979C4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E74824C-A7EB-42F2-A92A-66C769DAA6C3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A09C59B-F3D6-4643-AE6C-CBF39D40191E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87C58BD-B6B5-4749-B877-32EA3B7DC92D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DEC47CB-D1FE-46D4-980C-88A4D4757783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0DB168C-010A-499F-8D20-CB7A3B7C3C4E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BA9B888-12A0-4F61-88CE-B93C0B69267D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12ACCBA-E8A3-4C2B-8DD9-FC91AE5630D9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E49DC89-6AF6-48E6-B39A-159E5A129758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607D80D-3384-4C2A-A880-A8F1855FF69F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C66A991-FAC4-426F-995C-7D990DB8044B}" type="slidenum">
              <a:rPr lang="en-US" altLang="en-US" smtClean="0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Silberschatz, Galvin and Gagne ©2018</a:t>
            </a:r>
            <a:endParaRPr lang="en-US" altLang="en-US" sz="1000" b="1">
              <a:solidFill>
                <a:srgbClr val="336699"/>
              </a:solidFill>
              <a:latin typeface="Helvetica" panose="020B0604020202020204" pitchFamily="34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 Edition</a:t>
            </a:r>
            <a:endParaRPr lang="en-US" altLang="en-US" sz="1000" b="1">
              <a:solidFill>
                <a:srgbClr val="336699"/>
              </a:solidFill>
              <a:latin typeface="Helvetica" panose="020B0604020202020204" pitchFamily="34" charset="0"/>
            </a:endParaRP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9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9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5"/>
            <a:ext cx="8229600" cy="5762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06450" y="1233491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91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jpeg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975946" y="233853"/>
            <a:ext cx="7710854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b" anchorCtr="0" compatLnSpc="1"/>
          <a:lstStyle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35" tIns="45718" rIns="91435" bIns="45718"/>
          <a:lstStyle/>
          <a:p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 userDrawn="1"/>
        </p:nvSpPr>
        <p:spPr bwMode="auto">
          <a:xfrm>
            <a:off x="4256151" y="6613525"/>
            <a:ext cx="447548" cy="246217"/>
          </a:xfrm>
          <a:prstGeom prst="rect">
            <a:avLst/>
          </a:prstGeom>
          <a:noFill/>
          <a:ln>
            <a:noFill/>
          </a:ln>
        </p:spPr>
        <p:txBody>
          <a:bodyPr wrap="none" lIns="91435" tIns="45718" rIns="91435" bIns="45718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anose="020B0604020202020204" pitchFamily="34" charset="0"/>
              </a:rPr>
              <a:t>7.</a:t>
            </a:r>
            <a:fld id="{888EA06F-A073-4A3C-89BC-89170E3EB8EC}" type="slidenum">
              <a:rPr lang="en-US" altLang="en-US" sz="1000" b="1" smtClean="0">
                <a:solidFill>
                  <a:srgbClr val="006699"/>
                </a:solidFill>
                <a:latin typeface="Helvetica" panose="020B0604020202020204" pitchFamily="34" charset="0"/>
              </a:rPr>
            </a:fld>
            <a:endParaRPr lang="en-US" altLang="en-US" sz="1000" b="1" dirty="0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Silberschatz, Galvin and Gagne ©2018</a:t>
            </a:r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00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 Edition</a:t>
            </a:r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9pPr>
    </p:titleStyle>
    <p:bodyStyle>
      <a:lvl1pPr marL="341630" indent="-34163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1680" indent="-28448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2pPr>
      <a:lvl3pPr marL="1084580" indent="-22733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3pPr>
      <a:lvl4pPr marL="1427480" indent="-22733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4pPr>
      <a:lvl5pPr marL="1770380" indent="-22733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808038"/>
            <a:ext cx="7772400" cy="2128837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7:  Synchronization Examples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ChangeArrowheads="1"/>
          </p:cNvSpPr>
          <p:nvPr>
            <p:ph type="title"/>
          </p:nvPr>
        </p:nvSpPr>
        <p:spPr>
          <a:xfrm>
            <a:off x="1130586" y="162366"/>
            <a:ext cx="77073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  <a:endParaRPr lang="en-US" altLang="en-US" dirty="0"/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802434" y="1225550"/>
            <a:ext cx="7707312" cy="3270250"/>
          </a:xfrm>
        </p:spPr>
        <p:txBody>
          <a:bodyPr/>
          <a:lstStyle/>
          <a:p>
            <a:r>
              <a:rPr lang="en-US" altLang="en-US" dirty="0"/>
              <a:t>Explain the bounded-buffer synchronization problem</a:t>
            </a:r>
            <a:endParaRPr lang="en-US" altLang="en-US" dirty="0"/>
          </a:p>
          <a:p>
            <a:r>
              <a:rPr lang="en-US" altLang="en-US" dirty="0"/>
              <a:t>Explain the readers-writers synchronization problem</a:t>
            </a:r>
            <a:endParaRPr lang="en-US" altLang="en-US" dirty="0"/>
          </a:p>
          <a:p>
            <a:r>
              <a:rPr lang="en-US" altLang="en-US" dirty="0"/>
              <a:t>Explain and dining-philosophers synchronization problems</a:t>
            </a:r>
            <a:endParaRPr lang="en-US" altLang="en-US" dirty="0"/>
          </a:p>
          <a:p>
            <a:r>
              <a:rPr lang="en-US" altLang="en-US" dirty="0"/>
              <a:t>Describe the tools used by Linux and Windows to solve synchronization problems.</a:t>
            </a:r>
            <a:endParaRPr lang="en-US" altLang="en-US" dirty="0"/>
          </a:p>
          <a:p>
            <a:r>
              <a:rPr lang="en-US" altLang="en-US" dirty="0"/>
              <a:t>Illustrate how POSIX and Java can be used to solve process synchronization problems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7171" name="Rectangle 5"/>
          <p:cNvSpPr>
            <a:spLocks noChangeArrowheads="1"/>
          </p:cNvSpPr>
          <p:nvPr/>
        </p:nvSpPr>
        <p:spPr bwMode="auto">
          <a:xfrm>
            <a:off x="2286000" y="5116513"/>
            <a:ext cx="407828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4" rIns="91426" bIns="45714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kumimoji="1" lang="en-US" altLang="en-US">
              <a:latin typeface="Helvetica" panose="020B0604020202020204" pitchFamily="34" charset="0"/>
            </a:endParaRPr>
          </a:p>
          <a:p>
            <a:endParaRPr kumimoji="1" lang="en-US" altLang="en-US">
              <a:latin typeface="Helvetica" panose="020B0604020202020204" pitchFamily="34" charset="0"/>
            </a:endParaRPr>
          </a:p>
          <a:p>
            <a:endParaRPr kumimoji="1" lang="en-US" altLang="en-US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/>
          </p:nvPr>
        </p:nvSpPr>
        <p:spPr>
          <a:xfrm>
            <a:off x="1020720" y="180555"/>
            <a:ext cx="8077200" cy="609600"/>
          </a:xfrm>
        </p:spPr>
        <p:txBody>
          <a:bodyPr/>
          <a:lstStyle/>
          <a:p>
            <a:pPr eaLnBrk="1" hangingPunct="1"/>
            <a:r>
              <a:rPr lang="en-US" altLang="en-US" dirty="0"/>
              <a:t>Classical Problems of Synchronization</a:t>
            </a:r>
            <a:endParaRPr lang="en-US" altLang="en-US" dirty="0"/>
          </a:p>
        </p:txBody>
      </p:sp>
      <p:sp>
        <p:nvSpPr>
          <p:cNvPr id="9218" name="Rectangle 3"/>
          <p:cNvSpPr>
            <a:spLocks noGrp="1" noChangeArrowheads="1"/>
          </p:cNvSpPr>
          <p:nvPr>
            <p:ph idx="1"/>
          </p:nvPr>
        </p:nvSpPr>
        <p:spPr>
          <a:xfrm>
            <a:off x="806449" y="1131891"/>
            <a:ext cx="6726465" cy="4441596"/>
          </a:xfrm>
        </p:spPr>
        <p:txBody>
          <a:bodyPr/>
          <a:lstStyle/>
          <a:p>
            <a:r>
              <a:rPr lang="en-US" altLang="en-US" dirty="0"/>
              <a:t>Classical problems used to test newly-proposed synchronization schemes</a:t>
            </a:r>
            <a:endParaRPr lang="en-US" altLang="en-US" dirty="0"/>
          </a:p>
          <a:p>
            <a:pPr lvl="1"/>
            <a:r>
              <a:rPr lang="en-US" altLang="en-US" dirty="0"/>
              <a:t>Bounded-Buffer Problem </a:t>
            </a:r>
            <a:r>
              <a:rPr lang="zh-CN" altLang="en-US" dirty="0"/>
              <a:t>生产者</a:t>
            </a:r>
            <a:r>
              <a:rPr lang="en-US" altLang="zh-CN" dirty="0"/>
              <a:t>-</a:t>
            </a:r>
            <a:r>
              <a:rPr lang="zh-CN" altLang="en-US" dirty="0"/>
              <a:t>消费者问题</a:t>
            </a:r>
            <a:endParaRPr lang="en-US" altLang="en-US" dirty="0"/>
          </a:p>
          <a:p>
            <a:pPr lvl="1"/>
            <a:r>
              <a:rPr lang="en-US" altLang="en-US" dirty="0"/>
              <a:t>Readers and Writers Problem </a:t>
            </a:r>
            <a:r>
              <a:rPr lang="zh-CN" altLang="en-US" dirty="0"/>
              <a:t>读者</a:t>
            </a:r>
            <a:r>
              <a:rPr lang="en-US" altLang="zh-CN" dirty="0"/>
              <a:t>-</a:t>
            </a:r>
            <a:r>
              <a:rPr lang="zh-CN" altLang="en-US" dirty="0"/>
              <a:t>写者问题</a:t>
            </a:r>
            <a:endParaRPr lang="en-US" altLang="en-US" dirty="0"/>
          </a:p>
          <a:p>
            <a:pPr lvl="1"/>
            <a:r>
              <a:rPr lang="en-US" altLang="en-US" dirty="0"/>
              <a:t>Dining-Philosophers Problem </a:t>
            </a:r>
            <a:r>
              <a:rPr lang="zh-CN" altLang="en-US" dirty="0"/>
              <a:t>哲学家进餐</a:t>
            </a:r>
            <a:r>
              <a:rPr lang="zh-CN" altLang="en-US" dirty="0"/>
              <a:t>问题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ChangeArrowheads="1"/>
          </p:cNvSpPr>
          <p:nvPr>
            <p:ph type="title"/>
          </p:nvPr>
        </p:nvSpPr>
        <p:spPr>
          <a:xfrm>
            <a:off x="923731" y="277813"/>
            <a:ext cx="7763069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Bounded-Buffer Problem</a:t>
            </a:r>
            <a:endParaRPr lang="en-US" altLang="en-US" dirty="0"/>
          </a:p>
        </p:txBody>
      </p:sp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>
          <a:xfrm>
            <a:off x="849083" y="1293813"/>
            <a:ext cx="7210425" cy="3725862"/>
          </a:xfrm>
        </p:spPr>
        <p:txBody>
          <a:bodyPr/>
          <a:lstStyle/>
          <a:p>
            <a:r>
              <a:rPr lang="en-US" altLang="en-US" sz="2000" b="1" i="1" dirty="0"/>
              <a:t>n</a:t>
            </a:r>
            <a:r>
              <a:rPr lang="en-US" altLang="en-US" dirty="0"/>
              <a:t> buffers, each can hold one item</a:t>
            </a:r>
            <a:endParaRPr lang="en-US" altLang="en-US" dirty="0"/>
          </a:p>
          <a:p>
            <a:r>
              <a:rPr lang="en-US" altLang="en-US" dirty="0"/>
              <a:t>Semaphore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mutex</a:t>
            </a:r>
            <a:r>
              <a:rPr lang="en-US" altLang="en-US" dirty="0">
                <a:solidFill>
                  <a:srgbClr val="000000"/>
                </a:solidFill>
              </a:rPr>
              <a:t> i</a:t>
            </a:r>
            <a:r>
              <a:rPr lang="en-US" altLang="en-US" dirty="0"/>
              <a:t>nitialized to the value 1</a:t>
            </a:r>
            <a:endParaRPr lang="en-US" altLang="en-US" dirty="0"/>
          </a:p>
          <a:p>
            <a:r>
              <a:rPr lang="en-US" altLang="en-US" dirty="0">
                <a:solidFill>
                  <a:srgbClr val="000000"/>
                </a:solidFill>
              </a:rPr>
              <a:t>Semaphore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full</a:t>
            </a:r>
            <a:r>
              <a:rPr lang="en-US" altLang="en-US" dirty="0">
                <a:solidFill>
                  <a:srgbClr val="000000"/>
                </a:solidFill>
              </a:rPr>
              <a:t> initialized </a:t>
            </a:r>
            <a:r>
              <a:rPr lang="en-US" altLang="en-US" dirty="0"/>
              <a:t>to the value 0</a:t>
            </a:r>
            <a:endParaRPr lang="en-US" altLang="en-US" dirty="0"/>
          </a:p>
          <a:p>
            <a:r>
              <a:rPr lang="en-US" altLang="en-US" dirty="0"/>
              <a:t>Semaphore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empty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</a:rPr>
              <a:t>initialized </a:t>
            </a:r>
            <a:r>
              <a:rPr lang="en-US" altLang="en-US" dirty="0"/>
              <a:t>to the value n</a:t>
            </a:r>
            <a:endParaRPr lang="en-US" altLang="en-US" dirty="0"/>
          </a:p>
          <a:p>
            <a:endParaRPr lang="en-US" altLang="en-US" dirty="0"/>
          </a:p>
        </p:txBody>
      </p:sp>
      <p:sp>
        <p:nvSpPr>
          <p:cNvPr id="11267" name="Rectangle 5"/>
          <p:cNvSpPr>
            <a:spLocks noChangeArrowheads="1"/>
          </p:cNvSpPr>
          <p:nvPr/>
        </p:nvSpPr>
        <p:spPr bwMode="auto">
          <a:xfrm>
            <a:off x="2492375" y="3246438"/>
            <a:ext cx="184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6" tIns="45714" rIns="91426" bIns="45714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kumimoji="1" lang="en-US" altLang="en-US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>
          <a:xfrm>
            <a:off x="1111250" y="222868"/>
            <a:ext cx="7575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Bounded Buffer Problem (Cont.)</a:t>
            </a:r>
            <a:endParaRPr lang="en-US" alt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>
          <a:xfrm>
            <a:off x="830424" y="1279525"/>
            <a:ext cx="7932576" cy="4876800"/>
          </a:xfrm>
        </p:spPr>
        <p:txBody>
          <a:bodyPr/>
          <a:lstStyle/>
          <a:p>
            <a:r>
              <a:rPr lang="en-US" altLang="en-US" dirty="0"/>
              <a:t>The structure of the producer process</a:t>
            </a: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while (true) { 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...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/* produce an item in </a:t>
            </a:r>
            <a:r>
              <a:rPr lang="en-US" altLang="en-US" b="1" dirty="0" err="1">
                <a:latin typeface="Courier New" panose="02070309020205020404" pitchFamily="49" charset="0"/>
              </a:rPr>
              <a:t>next_produced</a:t>
            </a:r>
            <a:r>
              <a:rPr lang="en-US" altLang="en-US" b="1" dirty="0">
                <a:latin typeface="Courier New" panose="02070309020205020404" pitchFamily="49" charset="0"/>
              </a:rPr>
              <a:t> */ 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... 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wait(empty); 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wait(mutex); 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 ...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/* add next produced to the buffer */ 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 ... 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signal(mutex); 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signal(full); 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}</a:t>
            </a:r>
            <a:br>
              <a:rPr lang="en-US" altLang="en-US" b="1" dirty="0">
                <a:latin typeface="Courier New" panose="02070309020205020404" pitchFamily="49" charset="0"/>
              </a:rPr>
            </a:br>
            <a:endParaRPr lang="en-US" altLang="en-US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>
          <a:xfrm>
            <a:off x="1325175" y="222868"/>
            <a:ext cx="7156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Bounded Buffer Problem (Cont.)</a:t>
            </a:r>
            <a:endParaRPr lang="en-US" altLang="en-US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839788" y="1152525"/>
            <a:ext cx="8156294" cy="4851587"/>
          </a:xfrm>
        </p:spPr>
        <p:txBody>
          <a:bodyPr/>
          <a:lstStyle/>
          <a:p>
            <a:r>
              <a:rPr lang="en-US" altLang="en-US" dirty="0"/>
              <a:t>The structure of the consumer process</a:t>
            </a:r>
            <a:endParaRPr lang="en-US" altLang="en-US" dirty="0"/>
          </a:p>
          <a:p>
            <a:endParaRPr lang="en-US" altLang="en-US" sz="1600" dirty="0"/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while (true) { 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wait(full); 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wait(mutex); 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...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/* remove an item from buffer to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*/ 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... 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signal(mutex); 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signal(empty); 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...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/* consume the item in next consumed */ 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...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endParaRPr lang="en-US" alt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980812" y="230028"/>
            <a:ext cx="75660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Readers-Writers Problem</a:t>
            </a:r>
            <a:endParaRPr lang="en-US" altLang="en-US" dirty="0"/>
          </a:p>
        </p:txBody>
      </p:sp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>
          <a:xfrm>
            <a:off x="860425" y="1111250"/>
            <a:ext cx="7639763" cy="5005388"/>
          </a:xfrm>
        </p:spPr>
        <p:txBody>
          <a:bodyPr/>
          <a:lstStyle/>
          <a:p>
            <a:r>
              <a:rPr lang="en-US" altLang="en-US" dirty="0"/>
              <a:t>A data set is shared among a number of concurrent processes</a:t>
            </a:r>
            <a:endParaRPr lang="en-US" altLang="en-US" dirty="0"/>
          </a:p>
          <a:p>
            <a:pPr lvl="1"/>
            <a:r>
              <a:rPr lang="en-US" altLang="en-US" b="1" dirty="0"/>
              <a:t>Readers</a:t>
            </a:r>
            <a:r>
              <a:rPr lang="en-US" altLang="en-US" dirty="0"/>
              <a:t> – only read the data set; they do </a:t>
            </a:r>
            <a:r>
              <a:rPr lang="en-US" altLang="en-US" b="1" i="1" dirty="0"/>
              <a:t>not</a:t>
            </a:r>
            <a:r>
              <a:rPr lang="en-US" altLang="en-US" b="1" dirty="0"/>
              <a:t> </a:t>
            </a:r>
            <a:r>
              <a:rPr lang="en-US" altLang="en-US" dirty="0"/>
              <a:t>perform any updates</a:t>
            </a:r>
            <a:endParaRPr lang="en-US" altLang="en-US" dirty="0"/>
          </a:p>
          <a:p>
            <a:pPr lvl="1"/>
            <a:r>
              <a:rPr lang="en-US" altLang="en-US" b="1" dirty="0"/>
              <a:t>Writers</a:t>
            </a:r>
            <a:r>
              <a:rPr lang="en-US" altLang="en-US" dirty="0"/>
              <a:t>   – can both read and write</a:t>
            </a:r>
            <a:endParaRPr lang="en-US" altLang="en-US" dirty="0"/>
          </a:p>
          <a:p>
            <a:r>
              <a:rPr lang="en-US" altLang="en-US" dirty="0"/>
              <a:t>Problem – allow multiple readers to read at the same time</a:t>
            </a:r>
            <a:endParaRPr lang="en-US" altLang="en-US" dirty="0"/>
          </a:p>
          <a:p>
            <a:pPr lvl="1"/>
            <a:r>
              <a:rPr lang="en-US" altLang="en-US" dirty="0"/>
              <a:t>Only one single writer can access the shared data at the same time</a:t>
            </a:r>
            <a:endParaRPr lang="en-US" altLang="en-US" dirty="0"/>
          </a:p>
          <a:p>
            <a:r>
              <a:rPr lang="en-US" altLang="en-US" dirty="0"/>
              <a:t>Several variations of how readers and writers are considered  – all involve some form of priorities</a:t>
            </a:r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1041328" y="169512"/>
            <a:ext cx="75660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Readers-Writers Problem (Cont.)</a:t>
            </a:r>
            <a:endParaRPr lang="en-US" altLang="en-US" dirty="0"/>
          </a:p>
        </p:txBody>
      </p:sp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>
          <a:xfrm>
            <a:off x="860425" y="1111250"/>
            <a:ext cx="7639763" cy="5005388"/>
          </a:xfrm>
        </p:spPr>
        <p:txBody>
          <a:bodyPr/>
          <a:lstStyle/>
          <a:p>
            <a:r>
              <a:rPr lang="en-US" altLang="en-US" dirty="0"/>
              <a:t>Shared Data</a:t>
            </a:r>
            <a:endParaRPr lang="en-US" altLang="en-US" dirty="0"/>
          </a:p>
          <a:p>
            <a:pPr lvl="1"/>
            <a:r>
              <a:rPr lang="en-US" altLang="en-US" dirty="0"/>
              <a:t>Data set</a:t>
            </a:r>
            <a:endParaRPr lang="en-US" altLang="en-US" dirty="0"/>
          </a:p>
          <a:p>
            <a:pPr lvl="1"/>
            <a:r>
              <a:rPr lang="en-US" altLang="en-US" dirty="0"/>
              <a:t>Semaphore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rw_mutex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dirty="0"/>
              <a:t>initialized to 1</a:t>
            </a:r>
            <a:endParaRPr lang="en-US" altLang="en-US" dirty="0"/>
          </a:p>
          <a:p>
            <a:pPr lvl="1"/>
            <a:r>
              <a:rPr lang="en-US" altLang="en-US" dirty="0"/>
              <a:t>Semaphore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mutex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dirty="0"/>
              <a:t>initialized to 1</a:t>
            </a:r>
            <a:endParaRPr lang="en-US" altLang="en-US" dirty="0"/>
          </a:p>
          <a:p>
            <a:pPr lvl="1"/>
            <a:r>
              <a:rPr lang="en-US" altLang="en-US" dirty="0"/>
              <a:t>Integer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read_count</a:t>
            </a:r>
            <a:r>
              <a:rPr lang="en-US" altLang="en-US" dirty="0"/>
              <a:t> initialized to 0</a:t>
            </a:r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>
          <a:xfrm>
            <a:off x="1025525" y="227824"/>
            <a:ext cx="76612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Readers-Writers Problem (Cont.)</a:t>
            </a:r>
            <a:endParaRPr lang="en-US" altLang="en-US" dirty="0"/>
          </a:p>
        </p:txBody>
      </p:sp>
      <p:sp>
        <p:nvSpPr>
          <p:cNvPr id="19458" name="Rectangle 3"/>
          <p:cNvSpPr>
            <a:spLocks noGrp="1" noChangeArrowheads="1"/>
          </p:cNvSpPr>
          <p:nvPr>
            <p:ph idx="1"/>
          </p:nvPr>
        </p:nvSpPr>
        <p:spPr>
          <a:xfrm>
            <a:off x="827088" y="1279525"/>
            <a:ext cx="7848600" cy="4876800"/>
          </a:xfrm>
        </p:spPr>
        <p:txBody>
          <a:bodyPr/>
          <a:lstStyle/>
          <a:p>
            <a:r>
              <a:rPr lang="en-US" altLang="en-US" dirty="0"/>
              <a:t>The structure of a writer process</a:t>
            </a:r>
            <a:endParaRPr lang="en-US" altLang="en-US" dirty="0"/>
          </a:p>
          <a:p>
            <a:pPr>
              <a:buFont typeface="Monotype Sorts" pitchFamily="-84" charset="2"/>
              <a:buNone/>
            </a:pPr>
            <a:r>
              <a:rPr lang="en-US" altLang="en-US" dirty="0">
                <a:solidFill>
                  <a:srgbClr val="0000FF"/>
                </a:solidFill>
              </a:rPr>
              <a:t>        </a:t>
            </a:r>
            <a:endParaRPr lang="en-US" altLang="en-US" dirty="0">
              <a:solidFill>
                <a:srgbClr val="0000FF"/>
              </a:solidFill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while (true) {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  wait(</a:t>
            </a:r>
            <a:r>
              <a:rPr lang="en-US" altLang="en-US" b="1" dirty="0" err="1">
                <a:latin typeface="Courier New" panose="02070309020205020404" pitchFamily="49" charset="0"/>
              </a:rPr>
              <a:t>rw_mutex</a:t>
            </a:r>
            <a:r>
              <a:rPr lang="en-US" altLang="en-US" b="1" dirty="0">
                <a:latin typeface="Courier New" panose="02070309020205020404" pitchFamily="49" charset="0"/>
              </a:rPr>
              <a:t>); 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     ...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  /* writing is performed */ 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     ... 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signal(</a:t>
            </a:r>
            <a:r>
              <a:rPr lang="en-US" altLang="en-US" b="1" dirty="0" err="1">
                <a:latin typeface="Courier New" panose="02070309020205020404" pitchFamily="49" charset="0"/>
              </a:rPr>
              <a:t>rw_mutex</a:t>
            </a:r>
            <a:r>
              <a:rPr lang="en-US" altLang="en-US" b="1" dirty="0">
                <a:latin typeface="Courier New" panose="02070309020205020404" pitchFamily="49" charset="0"/>
              </a:rPr>
              <a:t>); 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}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dirty="0">
                <a:solidFill>
                  <a:srgbClr val="0000FF"/>
                </a:solidFill>
              </a:rPr>
              <a:t>       </a:t>
            </a:r>
            <a:endParaRPr lang="en-US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1035050" y="227824"/>
            <a:ext cx="765175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Readers-Writers Problem (Cont.)</a:t>
            </a:r>
            <a:endParaRPr lang="en-US" altLang="en-US" dirty="0"/>
          </a:p>
        </p:txBody>
      </p:sp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>
          <a:xfrm>
            <a:off x="822715" y="1318921"/>
            <a:ext cx="7747000" cy="506571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dirty="0"/>
              <a:t>The structure of a reader process</a:t>
            </a:r>
            <a:endParaRPr lang="en-US" altLang="en-US" sz="1600" dirty="0">
              <a:solidFill>
                <a:srgbClr val="0000FF"/>
              </a:solidFill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while (true){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		wait(mutex);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  	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read_count</a:t>
            </a:r>
            <a:r>
              <a:rPr lang="en-US" altLang="en-US" sz="1600" b="1" dirty="0">
                <a:latin typeface="Courier New" panose="02070309020205020404" pitchFamily="49" charset="0"/>
              </a:rPr>
              <a:t>++;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  	if (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read_count</a:t>
            </a:r>
            <a:r>
              <a:rPr lang="en-US" altLang="en-US" sz="1600" b="1" dirty="0">
                <a:latin typeface="Courier New" panose="02070309020205020404" pitchFamily="49" charset="0"/>
              </a:rPr>
              <a:t> == 1) /* first reader */ </a:t>
            </a:r>
            <a:endParaRPr lang="en-US" altLang="en-US" sz="1600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   	     wait(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rw_mutex</a:t>
            </a:r>
            <a:r>
              <a:rPr lang="en-US" altLang="en-US" sz="1600" b="1" dirty="0">
                <a:latin typeface="Courier New" panose="02070309020205020404" pitchFamily="49" charset="0"/>
              </a:rPr>
              <a:t>); </a:t>
            </a:r>
            <a:endParaRPr lang="en-US" altLang="en-US" sz="1600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	     signal(mutex); </a:t>
            </a:r>
            <a:endParaRPr lang="en-US" altLang="en-US" sz="1600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    ...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     	/* reading is performed */ </a:t>
            </a:r>
            <a:endParaRPr lang="en-US" altLang="en-US" sz="1600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    ... </a:t>
            </a:r>
            <a:endParaRPr lang="en-US" altLang="en-US" sz="1600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	wait(mutex);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     	read count--;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     	if (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read_count</a:t>
            </a:r>
            <a:r>
              <a:rPr lang="en-US" altLang="en-US" sz="1600" b="1" dirty="0">
                <a:latin typeface="Courier New" panose="02070309020205020404" pitchFamily="49" charset="0"/>
              </a:rPr>
              <a:t> == 0) /* last reader */</a:t>
            </a:r>
            <a:endParaRPr lang="en-US" altLang="en-US" sz="1600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		signal(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rw_mutex</a:t>
            </a:r>
            <a:r>
              <a:rPr lang="en-US" altLang="en-US" sz="1600" b="1" dirty="0">
                <a:latin typeface="Courier New" panose="02070309020205020404" pitchFamily="49" charset="0"/>
              </a:rPr>
              <a:t>); </a:t>
            </a:r>
            <a:endParaRPr lang="en-US" altLang="en-US" sz="1600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	signal(mutex); </a:t>
            </a:r>
            <a:endParaRPr lang="en-US" altLang="en-US" sz="1600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}</a:t>
            </a:r>
            <a:br>
              <a:rPr lang="en-US" altLang="en-US" sz="1400" b="1" dirty="0">
                <a:latin typeface="Courier New" panose="02070309020205020404" pitchFamily="49" charset="0"/>
              </a:rPr>
            </a:br>
            <a:endParaRPr lang="en-US" altLang="en-US" sz="14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00FF"/>
                </a:solidFill>
              </a:rPr>
              <a:t>       </a:t>
            </a:r>
            <a:endParaRPr lang="en-US" altLang="en-US" sz="16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>
          <a:xfrm>
            <a:off x="1257778" y="222286"/>
            <a:ext cx="7677150" cy="576262"/>
          </a:xfrm>
        </p:spPr>
        <p:txBody>
          <a:bodyPr/>
          <a:lstStyle/>
          <a:p>
            <a:r>
              <a:rPr lang="en-US" altLang="en-US" dirty="0"/>
              <a:t>Readers-Writers Problem Variations</a:t>
            </a:r>
            <a:endParaRPr lang="en-US" altLang="en-US" dirty="0"/>
          </a:p>
        </p:txBody>
      </p:sp>
      <p:sp>
        <p:nvSpPr>
          <p:cNvPr id="23554" name="Content Placeholder 2"/>
          <p:cNvSpPr>
            <a:spLocks noGrp="1"/>
          </p:cNvSpPr>
          <p:nvPr>
            <p:ph idx="1"/>
          </p:nvPr>
        </p:nvSpPr>
        <p:spPr>
          <a:xfrm>
            <a:off x="830426" y="1323457"/>
            <a:ext cx="6585627" cy="4418437"/>
          </a:xfrm>
        </p:spPr>
        <p:txBody>
          <a:bodyPr/>
          <a:lstStyle/>
          <a:p>
            <a:r>
              <a:rPr lang="en-US" altLang="en-US" dirty="0"/>
              <a:t>The</a:t>
            </a:r>
            <a:r>
              <a:rPr lang="en-US" altLang="en-US" b="1" i="1" dirty="0"/>
              <a:t> </a:t>
            </a:r>
            <a:r>
              <a:rPr lang="en-US" altLang="en-US" dirty="0"/>
              <a:t>solution</a:t>
            </a:r>
            <a:r>
              <a:rPr lang="en-US" altLang="en-US" b="1" i="1" dirty="0"/>
              <a:t> </a:t>
            </a:r>
            <a:r>
              <a:rPr lang="en-US" altLang="en-US" dirty="0"/>
              <a:t>in previous slide can result in a situation where a writer  process never writes.  It is referred to as the “First reader-writer” problem.</a:t>
            </a:r>
            <a:endParaRPr lang="en-US" altLang="en-US" dirty="0"/>
          </a:p>
          <a:p>
            <a:r>
              <a:rPr lang="en-US" altLang="en-US" dirty="0"/>
              <a:t>The “Second reader-writer” problem is  a variation the first reader-writer problem that state:</a:t>
            </a:r>
            <a:endParaRPr lang="en-US" altLang="en-US" dirty="0"/>
          </a:p>
          <a:p>
            <a:pPr lvl="1"/>
            <a:r>
              <a:rPr lang="en-US" altLang="en-US" dirty="0"/>
              <a:t>Once a writer is ready to write, no “newly arrived reader” is allowed  to read.</a:t>
            </a:r>
            <a:endParaRPr lang="en-US" altLang="en-US" dirty="0"/>
          </a:p>
          <a:p>
            <a:r>
              <a:rPr lang="en-US" altLang="en-US" dirty="0"/>
              <a:t>Both the first and second may result in starvation. leading to even more variations</a:t>
            </a:r>
            <a:endParaRPr lang="en-US" altLang="en-US" dirty="0"/>
          </a:p>
          <a:p>
            <a:r>
              <a:rPr lang="en-US" altLang="en-US" dirty="0"/>
              <a:t>Problem is solved on some systems by kernel providing reader-writer locks</a:t>
            </a:r>
            <a:endParaRPr lang="en-US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>
          <a:xfrm>
            <a:off x="1016000" y="222286"/>
            <a:ext cx="76708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Dining-Philosophers Problem</a:t>
            </a:r>
            <a:endParaRPr lang="en-US" altLang="en-US" dirty="0"/>
          </a:p>
        </p:txBody>
      </p:sp>
      <p:sp>
        <p:nvSpPr>
          <p:cNvPr id="24578" name="Rectangle 3"/>
          <p:cNvSpPr>
            <a:spLocks noGrp="1" noChangeArrowheads="1"/>
          </p:cNvSpPr>
          <p:nvPr>
            <p:ph idx="1"/>
          </p:nvPr>
        </p:nvSpPr>
        <p:spPr>
          <a:xfrm>
            <a:off x="867746" y="1057896"/>
            <a:ext cx="7819053" cy="5060516"/>
          </a:xfrm>
        </p:spPr>
        <p:txBody>
          <a:bodyPr/>
          <a:lstStyle/>
          <a:p>
            <a:pPr>
              <a:tabLst>
                <a:tab pos="1365250" algn="l"/>
                <a:tab pos="1537970" algn="l"/>
              </a:tabLst>
            </a:pPr>
            <a:r>
              <a:rPr lang="en-US" altLang="en-US" dirty="0"/>
              <a:t>N philosophers’ sit at a round table with a bowel of rice in the middle.</a:t>
            </a:r>
            <a:endParaRPr lang="en-US" altLang="en-US" dirty="0"/>
          </a:p>
          <a:p>
            <a:pPr>
              <a:tabLst>
                <a:tab pos="1365250" algn="l"/>
                <a:tab pos="1537970" algn="l"/>
              </a:tabLst>
            </a:pPr>
            <a:endParaRPr lang="en-US" altLang="en-US" dirty="0"/>
          </a:p>
          <a:p>
            <a:pPr>
              <a:tabLst>
                <a:tab pos="1365250" algn="l"/>
                <a:tab pos="1537970" algn="l"/>
              </a:tabLst>
            </a:pPr>
            <a:endParaRPr lang="en-US" altLang="en-US" dirty="0"/>
          </a:p>
          <a:p>
            <a:pPr>
              <a:tabLst>
                <a:tab pos="1365250" algn="l"/>
                <a:tab pos="1537970" algn="l"/>
              </a:tabLst>
            </a:pPr>
            <a:endParaRPr lang="en-US" altLang="en-US" dirty="0"/>
          </a:p>
          <a:p>
            <a:pPr>
              <a:tabLst>
                <a:tab pos="1365250" algn="l"/>
                <a:tab pos="1537970" algn="l"/>
              </a:tabLst>
            </a:pPr>
            <a:endParaRPr lang="en-US" altLang="en-US" dirty="0"/>
          </a:p>
          <a:p>
            <a:pPr>
              <a:tabLst>
                <a:tab pos="1365250" algn="l"/>
                <a:tab pos="1537970" algn="l"/>
              </a:tabLst>
            </a:pPr>
            <a:endParaRPr lang="en-US" altLang="en-US" dirty="0"/>
          </a:p>
          <a:p>
            <a:pPr>
              <a:tabLst>
                <a:tab pos="1365250" algn="l"/>
                <a:tab pos="1537970" algn="l"/>
              </a:tabLst>
            </a:pPr>
            <a:r>
              <a:rPr lang="en-US" altLang="en-US" dirty="0"/>
              <a:t>They spend their lives alternating thinking and eating.</a:t>
            </a:r>
            <a:endParaRPr lang="en-US" altLang="en-US" dirty="0"/>
          </a:p>
          <a:p>
            <a:pPr>
              <a:tabLst>
                <a:tab pos="1365250" algn="l"/>
                <a:tab pos="1537970" algn="l"/>
              </a:tabLst>
            </a:pPr>
            <a:r>
              <a:rPr lang="en-US" altLang="en-US" dirty="0"/>
              <a:t>They do not </a:t>
            </a:r>
            <a:r>
              <a:rPr lang="en-US" altLang="ja-JP" dirty="0"/>
              <a:t> interact with their neighbors.</a:t>
            </a:r>
            <a:endParaRPr lang="en-US" altLang="ja-JP" dirty="0"/>
          </a:p>
          <a:p>
            <a:pPr>
              <a:tabLst>
                <a:tab pos="1365250" algn="l"/>
                <a:tab pos="1537970" algn="l"/>
              </a:tabLst>
            </a:pPr>
            <a:r>
              <a:rPr lang="en-US" altLang="ja-JP" dirty="0"/>
              <a:t>Occasionally try to pick up 2 chopsticks (one at a time) to eat from bowl</a:t>
            </a:r>
            <a:endParaRPr lang="en-US" altLang="ja-JP" dirty="0"/>
          </a:p>
          <a:p>
            <a:pPr lvl="1">
              <a:tabLst>
                <a:tab pos="1365250" algn="l"/>
                <a:tab pos="1537970" algn="l"/>
              </a:tabLst>
            </a:pPr>
            <a:r>
              <a:rPr lang="en-US" altLang="en-US" dirty="0"/>
              <a:t>Need both to eat, then release both when done</a:t>
            </a:r>
            <a:endParaRPr lang="en-US" altLang="en-US" dirty="0"/>
          </a:p>
          <a:p>
            <a:pPr>
              <a:tabLst>
                <a:tab pos="1365250" algn="l"/>
                <a:tab pos="1537970" algn="l"/>
              </a:tabLst>
            </a:pPr>
            <a:r>
              <a:rPr lang="en-US" altLang="en-US" dirty="0"/>
              <a:t>In the case of 5 philosophers, the shared data </a:t>
            </a:r>
            <a:endParaRPr lang="en-US" altLang="en-US" dirty="0"/>
          </a:p>
          <a:p>
            <a:pPr lvl="2">
              <a:tabLst>
                <a:tab pos="1365250" algn="l"/>
                <a:tab pos="1537970" algn="l"/>
              </a:tabLst>
            </a:pPr>
            <a:r>
              <a:rPr lang="en-US" altLang="en-US" dirty="0"/>
              <a:t>Bowl of rice (data set)</a:t>
            </a:r>
            <a:endParaRPr lang="en-US" altLang="en-US" dirty="0"/>
          </a:p>
          <a:p>
            <a:pPr lvl="2">
              <a:tabLst>
                <a:tab pos="1365250" algn="l"/>
                <a:tab pos="1537970" algn="l"/>
              </a:tabLst>
            </a:pPr>
            <a:r>
              <a:rPr lang="en-US" altLang="en-US" dirty="0"/>
              <a:t>Semaphore chopstick [5] initialized to 1</a:t>
            </a:r>
            <a:endParaRPr lang="en-US" altLang="en-US" dirty="0"/>
          </a:p>
        </p:txBody>
      </p:sp>
      <p:pic>
        <p:nvPicPr>
          <p:cNvPr id="24579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8794" y="1561607"/>
            <a:ext cx="1532031" cy="1472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>
          <a:xfrm>
            <a:off x="1102994" y="180175"/>
            <a:ext cx="7866063" cy="576263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  Dining-Philosophers Problem Algorithm</a:t>
            </a:r>
            <a:endParaRPr lang="en-US" altLang="en-US" sz="3000" dirty="0"/>
          </a:p>
        </p:txBody>
      </p:sp>
      <p:sp>
        <p:nvSpPr>
          <p:cNvPr id="26626" name="Rectangle 3"/>
          <p:cNvSpPr>
            <a:spLocks noGrp="1" noChangeArrowheads="1"/>
          </p:cNvSpPr>
          <p:nvPr>
            <p:ph idx="1"/>
          </p:nvPr>
        </p:nvSpPr>
        <p:spPr>
          <a:xfrm>
            <a:off x="827088" y="1119188"/>
            <a:ext cx="7107237" cy="4784725"/>
          </a:xfrm>
        </p:spPr>
        <p:txBody>
          <a:bodyPr/>
          <a:lstStyle/>
          <a:p>
            <a:pPr marL="376555" indent="-376555">
              <a:lnSpc>
                <a:spcPct val="90000"/>
              </a:lnSpc>
              <a:tabLst>
                <a:tab pos="1709420" algn="l"/>
                <a:tab pos="2001520" algn="l"/>
                <a:tab pos="2226945" algn="l"/>
                <a:tab pos="2454275" algn="l"/>
              </a:tabLst>
            </a:pPr>
            <a:r>
              <a:rPr lang="en-US" altLang="en-US" dirty="0"/>
              <a:t>Semaphore Solution</a:t>
            </a:r>
            <a:endParaRPr lang="en-US" altLang="en-US" dirty="0"/>
          </a:p>
          <a:p>
            <a:pPr marL="376555" indent="-376555">
              <a:lnSpc>
                <a:spcPct val="90000"/>
              </a:lnSpc>
              <a:tabLst>
                <a:tab pos="1709420" algn="l"/>
                <a:tab pos="2001520" algn="l"/>
                <a:tab pos="2226945" algn="l"/>
                <a:tab pos="2454275" algn="l"/>
              </a:tabLst>
            </a:pPr>
            <a:r>
              <a:rPr lang="en-US" altLang="en-US" dirty="0"/>
              <a:t>The structure of Philosopher</a:t>
            </a:r>
            <a:r>
              <a:rPr lang="en-US" altLang="en-US" i="1" dirty="0">
                <a:solidFill>
                  <a:srgbClr val="0000FF"/>
                </a:solidFill>
              </a:rPr>
              <a:t> </a:t>
            </a:r>
            <a:r>
              <a:rPr lang="en-US" altLang="en-US" dirty="0" err="1">
                <a:solidFill>
                  <a:srgbClr val="006699"/>
                </a:solidFill>
                <a:latin typeface="+mj-lt"/>
              </a:rPr>
              <a:t>i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 </a:t>
            </a:r>
            <a:r>
              <a:rPr lang="en-US" altLang="en-US" dirty="0"/>
              <a:t>:</a:t>
            </a:r>
            <a:endParaRPr lang="en-US" altLang="en-US" dirty="0"/>
          </a:p>
          <a:p>
            <a:pPr marL="1195705" lvl="2" indent="-338455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420" algn="l"/>
                <a:tab pos="2001520" algn="l"/>
                <a:tab pos="2226945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while (true){ 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705" lvl="2" indent="-338455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420" algn="l"/>
                <a:tab pos="2001520" algn="l"/>
                <a:tab pos="2226945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wait (chopstick[i] );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705" lvl="2" indent="-338455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420" algn="l"/>
                <a:tab pos="2001520" algn="l"/>
                <a:tab pos="2226945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wait 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chopStick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[ (i + 1) % 5] );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705" lvl="2" indent="-338455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420" algn="l"/>
                <a:tab pos="2001520" algn="l"/>
                <a:tab pos="2226945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705" lvl="2" indent="-338455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420" algn="l"/>
                <a:tab pos="2001520" algn="l"/>
                <a:tab pos="2226945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/* eat for awhile */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705" lvl="2" indent="-338455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420" algn="l"/>
                <a:tab pos="2001520" algn="l"/>
                <a:tab pos="2226945" algn="l"/>
                <a:tab pos="2454275" algn="l"/>
              </a:tabLst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705" lvl="2" indent="-338455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420" algn="l"/>
                <a:tab pos="2001520" algn="l"/>
                <a:tab pos="2226945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signal (chopstick[i] );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705" lvl="2" indent="-338455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420" algn="l"/>
                <a:tab pos="2001520" algn="l"/>
                <a:tab pos="2226945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signal (chopstick[ (i + 1) % 5] );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705" lvl="2" indent="-338455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420" algn="l"/>
                <a:tab pos="2001520" algn="l"/>
                <a:tab pos="2226945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705" lvl="2" indent="-338455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420" algn="l"/>
                <a:tab pos="2001520" algn="l"/>
                <a:tab pos="2226945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/* think for awhile */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705" lvl="2" indent="-338455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420" algn="l"/>
                <a:tab pos="2001520" algn="l"/>
                <a:tab pos="2226945" algn="l"/>
                <a:tab pos="2454275" algn="l"/>
              </a:tabLst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705" lvl="2" indent="-338455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420" algn="l"/>
                <a:tab pos="2001520" algn="l"/>
                <a:tab pos="2226945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lang="en-US" altLang="en-US" sz="1600" dirty="0">
              <a:solidFill>
                <a:srgbClr val="0000FF"/>
              </a:solidFill>
            </a:endParaRPr>
          </a:p>
          <a:p>
            <a:pPr marL="376555" indent="-376555">
              <a:lnSpc>
                <a:spcPct val="90000"/>
              </a:lnSpc>
              <a:tabLst>
                <a:tab pos="1709420" algn="l"/>
                <a:tab pos="2001520" algn="l"/>
                <a:tab pos="2226945" algn="l"/>
                <a:tab pos="2454275" algn="l"/>
              </a:tabLst>
            </a:pPr>
            <a:r>
              <a:rPr lang="en-US" altLang="en-US" dirty="0"/>
              <a:t>  What is the problem with this algorithm?</a:t>
            </a:r>
            <a:endParaRPr lang="en-US" altLang="en-US" dirty="0"/>
          </a:p>
          <a:p>
            <a:pPr marL="1195705" lvl="2" indent="-338455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420" algn="l"/>
                <a:tab pos="2001520" algn="l"/>
                <a:tab pos="2226945" algn="l"/>
                <a:tab pos="2454275" algn="l"/>
              </a:tabLst>
            </a:pPr>
            <a:endParaRPr lang="en-US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xfrm>
            <a:off x="895031" y="121770"/>
            <a:ext cx="8077200" cy="6096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Monitor Solution to Dining Philosophers</a:t>
            </a:r>
            <a:endParaRPr lang="en-US" altLang="en-US" sz="2800" dirty="0"/>
          </a:p>
        </p:txBody>
      </p:sp>
      <p:sp>
        <p:nvSpPr>
          <p:cNvPr id="28674" name="Rectangle 3"/>
          <p:cNvSpPr>
            <a:spLocks noGrp="1" noChangeArrowheads="1"/>
          </p:cNvSpPr>
          <p:nvPr>
            <p:ph idx="1"/>
          </p:nvPr>
        </p:nvSpPr>
        <p:spPr>
          <a:xfrm>
            <a:off x="1146175" y="979488"/>
            <a:ext cx="7345363" cy="5384800"/>
          </a:xfrm>
        </p:spPr>
        <p:txBody>
          <a:bodyPr/>
          <a:lstStyle/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monitor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DiningPhilosophers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enum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{ THINKING; HUNGRY, EATING) state [5] ;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condition self [5];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void pickup (int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 { 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state[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 = HUNGRY;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test(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if (state[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 != EATING) self[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].wait;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void putdown (int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 { 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state[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 = THINKING;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// test left and right neighbors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test((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+ 4) % 5);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test((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+ 1) % 5);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00FF"/>
                </a:solidFill>
              </a:rPr>
              <a:t>	</a:t>
            </a:r>
            <a:endParaRPr lang="en-US" altLang="en-US" sz="16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>
          <a:xfrm>
            <a:off x="1378805" y="96515"/>
            <a:ext cx="7916862" cy="638175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Solution to Dining Philosophers (Cont.)</a:t>
            </a:r>
            <a:endParaRPr lang="en-US" altLang="en-US" sz="2800" dirty="0"/>
          </a:p>
        </p:txBody>
      </p:sp>
      <p:sp>
        <p:nvSpPr>
          <p:cNvPr id="30722" name="Rectangle 3"/>
          <p:cNvSpPr>
            <a:spLocks noGrp="1" noChangeArrowheads="1"/>
          </p:cNvSpPr>
          <p:nvPr>
            <p:ph idx="1"/>
          </p:nvPr>
        </p:nvSpPr>
        <p:spPr>
          <a:xfrm>
            <a:off x="1160463" y="944563"/>
            <a:ext cx="6908800" cy="5268912"/>
          </a:xfrm>
        </p:spPr>
        <p:txBody>
          <a:bodyPr/>
          <a:lstStyle/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void test (int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 { 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 if ((state[(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+ 4) % 5] != EATING) &amp;&amp;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 (state[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 == HUNGRY) &amp;&amp;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 (state[(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+ 1) % 5] != EATING) ) { 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      state[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 = EATING ;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	    self[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].signal () ;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 }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}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initialization_code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() { 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for (int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0;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&lt; 5;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++)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state[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 = THINKING;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}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3"/>
          <p:cNvSpPr>
            <a:spLocks noGrp="1" noChangeArrowheads="1"/>
          </p:cNvSpPr>
          <p:nvPr>
            <p:ph idx="1"/>
          </p:nvPr>
        </p:nvSpPr>
        <p:spPr>
          <a:xfrm>
            <a:off x="793102" y="1090613"/>
            <a:ext cx="7566673" cy="526891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dirty="0"/>
              <a:t>Each philosopher “</a:t>
            </a:r>
            <a:r>
              <a:rPr lang="en-US" altLang="en-US" dirty="0" err="1"/>
              <a:t>i</a:t>
            </a:r>
            <a:r>
              <a:rPr lang="en-US" altLang="en-US" i="1" dirty="0"/>
              <a:t>” </a:t>
            </a:r>
            <a:r>
              <a:rPr lang="en-US" altLang="en-US" dirty="0"/>
              <a:t>invokes the</a:t>
            </a:r>
            <a:r>
              <a:rPr lang="en-US" altLang="en-US" i="1" dirty="0"/>
              <a:t> </a:t>
            </a:r>
            <a:r>
              <a:rPr lang="en-US" altLang="en-US" dirty="0"/>
              <a:t>operations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pickup()</a:t>
            </a:r>
            <a:r>
              <a:rPr lang="en-US" altLang="en-US" sz="2000" i="1" dirty="0"/>
              <a:t> </a:t>
            </a:r>
            <a:r>
              <a:rPr lang="en-US" altLang="en-US" dirty="0"/>
              <a:t>and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putdown()</a:t>
            </a:r>
            <a:r>
              <a:rPr lang="en-US" altLang="en-US" sz="2000" dirty="0"/>
              <a:t> </a:t>
            </a:r>
            <a:r>
              <a:rPr lang="en-US" altLang="en-US" dirty="0"/>
              <a:t>in the following sequence:</a:t>
            </a:r>
            <a:endParaRPr lang="en-US" altLang="en-US" dirty="0"/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DiningPhilosophers.pickup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(i)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/** EAT **/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DiningPhilosophers.putdown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(i)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dirty="0"/>
              <a:t>No deadlock, but starvation is possible</a:t>
            </a:r>
            <a:endParaRPr lang="en-US" altLang="en-US" dirty="0"/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i="1" dirty="0">
                <a:solidFill>
                  <a:srgbClr val="0000FF"/>
                </a:solidFill>
              </a:rPr>
              <a:t>       </a:t>
            </a:r>
            <a:endParaRPr lang="en-US" altLang="en-US" i="1" dirty="0">
              <a:solidFill>
                <a:srgbClr val="0000FF"/>
              </a:solidFill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029181" y="116688"/>
            <a:ext cx="7916862" cy="638175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Solution to Dining Philosophers (Cont.)</a:t>
            </a:r>
            <a:endParaRPr lang="en-US" alt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1124258" y="171425"/>
            <a:ext cx="76041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Kernel Synchronization - Windows</a:t>
            </a:r>
            <a:endParaRPr lang="en-US" altLang="en-US" dirty="0"/>
          </a:p>
        </p:txBody>
      </p:sp>
      <p:sp>
        <p:nvSpPr>
          <p:cNvPr id="34818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233488"/>
            <a:ext cx="7740390" cy="4530725"/>
          </a:xfrm>
        </p:spPr>
        <p:txBody>
          <a:bodyPr/>
          <a:lstStyle/>
          <a:p>
            <a:r>
              <a:rPr lang="en-US" altLang="en-US" dirty="0"/>
              <a:t>Uses interrupt masks to protect access to global resources on uniprocessor systems</a:t>
            </a:r>
            <a:endParaRPr lang="en-US" altLang="en-US" dirty="0"/>
          </a:p>
          <a:p>
            <a:r>
              <a:rPr lang="en-US" altLang="en-US" dirty="0"/>
              <a:t>Uses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spinlocks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on multiprocessor systems</a:t>
            </a:r>
            <a:endParaRPr lang="en-US" altLang="en-US" dirty="0"/>
          </a:p>
          <a:p>
            <a:pPr lvl="1"/>
            <a:r>
              <a:rPr lang="en-US" altLang="en-US" dirty="0"/>
              <a:t>Spinlocking-thread will never be preempted</a:t>
            </a:r>
            <a:endParaRPr lang="en-US" altLang="en-US" dirty="0"/>
          </a:p>
          <a:p>
            <a:r>
              <a:rPr lang="en-US" altLang="en-US" dirty="0"/>
              <a:t>Also provides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dispatcher objects </a:t>
            </a:r>
            <a:r>
              <a:rPr lang="en-US" altLang="en-US" dirty="0">
                <a:solidFill>
                  <a:srgbClr val="000000"/>
                </a:solidFill>
              </a:rPr>
              <a:t>user-land </a:t>
            </a:r>
            <a:r>
              <a:rPr lang="en-US" altLang="en-US" dirty="0"/>
              <a:t>which may act mutexes, semaphores, events, and timers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Events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2"/>
            <a:r>
              <a:rPr lang="en-US" altLang="en-US" dirty="0"/>
              <a:t>An event acts much like a condition variable</a:t>
            </a:r>
            <a:endParaRPr lang="en-US" altLang="en-US" dirty="0"/>
          </a:p>
          <a:p>
            <a:pPr lvl="1"/>
            <a:r>
              <a:rPr lang="en-US" altLang="en-US" dirty="0"/>
              <a:t>Timers notify one or more thread when time expired</a:t>
            </a:r>
            <a:endParaRPr lang="en-US" altLang="en-US" dirty="0"/>
          </a:p>
          <a:p>
            <a:pPr lvl="1"/>
            <a:r>
              <a:rPr lang="en-US" altLang="en-US" dirty="0"/>
              <a:t>Dispatcher objects either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signaled-state </a:t>
            </a:r>
            <a:r>
              <a:rPr lang="en-US" altLang="en-US" dirty="0"/>
              <a:t>(object available) 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non-signaled state </a:t>
            </a:r>
            <a:r>
              <a:rPr lang="en-US" altLang="en-US" dirty="0"/>
              <a:t>(thread will block)</a:t>
            </a:r>
            <a:endParaRPr lang="en-US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>
          <a:xfrm>
            <a:off x="1082675" y="227824"/>
            <a:ext cx="76041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Kernel Synchronization - Windows</a:t>
            </a:r>
            <a:endParaRPr lang="en-US" altLang="en-US" dirty="0"/>
          </a:p>
        </p:txBody>
      </p:sp>
      <p:sp>
        <p:nvSpPr>
          <p:cNvPr id="36866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233488"/>
            <a:ext cx="6943725" cy="4530725"/>
          </a:xfrm>
        </p:spPr>
        <p:txBody>
          <a:bodyPr/>
          <a:lstStyle/>
          <a:p>
            <a:r>
              <a:rPr lang="en-US" altLang="en-US"/>
              <a:t>Mutex dispatcher object</a:t>
            </a:r>
            <a:endParaRPr lang="en-US" altLang="en-US"/>
          </a:p>
        </p:txBody>
      </p:sp>
      <p:pic>
        <p:nvPicPr>
          <p:cNvPr id="36867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090" y="1801902"/>
            <a:ext cx="5618162" cy="1766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>
          <a:xfrm>
            <a:off x="998538" y="227824"/>
            <a:ext cx="76882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Linux Synchronization</a:t>
            </a:r>
            <a:endParaRPr lang="en-US" altLang="en-US" dirty="0"/>
          </a:p>
        </p:txBody>
      </p:sp>
      <p:sp>
        <p:nvSpPr>
          <p:cNvPr id="38914" name="Rectangle 3"/>
          <p:cNvSpPr>
            <a:spLocks noGrp="1" noChangeArrowheads="1"/>
          </p:cNvSpPr>
          <p:nvPr>
            <p:ph idx="1"/>
          </p:nvPr>
        </p:nvSpPr>
        <p:spPr>
          <a:xfrm>
            <a:off x="783771" y="1117600"/>
            <a:ext cx="7358424" cy="4436035"/>
          </a:xfrm>
        </p:spPr>
        <p:txBody>
          <a:bodyPr/>
          <a:lstStyle/>
          <a:p>
            <a:r>
              <a:rPr lang="en-US" altLang="en-US" dirty="0"/>
              <a:t>Linux:</a:t>
            </a:r>
            <a:endParaRPr lang="en-US" altLang="en-US" dirty="0"/>
          </a:p>
          <a:p>
            <a:pPr lvl="1"/>
            <a:r>
              <a:rPr lang="en-US" altLang="en-US" dirty="0"/>
              <a:t>Prior to kernel Version 2.6, disables interrupts to implement short critical sections</a:t>
            </a:r>
            <a:endParaRPr lang="en-US" altLang="en-US" dirty="0"/>
          </a:p>
          <a:p>
            <a:pPr lvl="1"/>
            <a:r>
              <a:rPr lang="en-US" altLang="en-US" dirty="0"/>
              <a:t>Version 2.6 and later, fully preemptive</a:t>
            </a:r>
            <a:endParaRPr lang="en-US" altLang="en-US" dirty="0"/>
          </a:p>
          <a:p>
            <a:r>
              <a:rPr lang="en-US" altLang="en-US" dirty="0"/>
              <a:t>Linux provides:</a:t>
            </a:r>
            <a:endParaRPr lang="en-US" altLang="en-US" dirty="0"/>
          </a:p>
          <a:p>
            <a:pPr lvl="1"/>
            <a:r>
              <a:rPr lang="en-US" altLang="en-US" dirty="0"/>
              <a:t>Semaphores</a:t>
            </a:r>
            <a:endParaRPr lang="en-US" altLang="en-US" dirty="0"/>
          </a:p>
          <a:p>
            <a:pPr lvl="1"/>
            <a:r>
              <a:rPr lang="en-US" altLang="en-US" dirty="0"/>
              <a:t>Atomic integers</a:t>
            </a:r>
            <a:endParaRPr lang="en-US" altLang="en-US" dirty="0"/>
          </a:p>
          <a:p>
            <a:pPr lvl="1"/>
            <a:r>
              <a:rPr lang="en-US" altLang="en-US" dirty="0"/>
              <a:t>Spinlocks</a:t>
            </a:r>
            <a:endParaRPr lang="en-US" altLang="en-US" dirty="0"/>
          </a:p>
          <a:p>
            <a:pPr lvl="1"/>
            <a:r>
              <a:rPr lang="en-US" altLang="en-US" dirty="0"/>
              <a:t>Reader-writer versions of both</a:t>
            </a:r>
            <a:endParaRPr lang="en-US" altLang="en-US" dirty="0"/>
          </a:p>
          <a:p>
            <a:r>
              <a:rPr lang="en-US" altLang="en-US" dirty="0"/>
              <a:t>On single-CPU system, spinlocks replaced by enabling and disabling kernel preemption</a:t>
            </a:r>
            <a:endParaRPr lang="en-US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>
          <a:xfrm>
            <a:off x="998538" y="117636"/>
            <a:ext cx="76882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Linux Synchronization</a:t>
            </a:r>
            <a:endParaRPr lang="en-US" altLang="en-US" dirty="0"/>
          </a:p>
        </p:txBody>
      </p:sp>
      <p:sp>
        <p:nvSpPr>
          <p:cNvPr id="40962" name="Rectangle 3"/>
          <p:cNvSpPr>
            <a:spLocks noGrp="1" noChangeArrowheads="1"/>
          </p:cNvSpPr>
          <p:nvPr>
            <p:ph idx="1"/>
          </p:nvPr>
        </p:nvSpPr>
        <p:spPr>
          <a:xfrm>
            <a:off x="786187" y="1077912"/>
            <a:ext cx="6781800" cy="4530725"/>
          </a:xfrm>
        </p:spPr>
        <p:txBody>
          <a:bodyPr/>
          <a:lstStyle/>
          <a:p>
            <a:r>
              <a:rPr lang="en-US" altLang="en-US" dirty="0"/>
              <a:t>Atomic variables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atomic_t</a:t>
            </a:r>
            <a:r>
              <a:rPr lang="en-US" altLang="en-US" dirty="0"/>
              <a:t> is the type for atomic integer</a:t>
            </a:r>
            <a:endParaRPr lang="en-US" altLang="en-US" dirty="0"/>
          </a:p>
          <a:p>
            <a:r>
              <a:rPr lang="en-US" altLang="en-US" dirty="0"/>
              <a:t>Consider the variables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atomic_t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counter;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value;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dirty="0"/>
            </a:br>
            <a:endParaRPr lang="en-US" altLang="en-US" dirty="0"/>
          </a:p>
        </p:txBody>
      </p:sp>
      <p:pic>
        <p:nvPicPr>
          <p:cNvPr id="40963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538" y="3514725"/>
            <a:ext cx="6781800" cy="17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>
          <a:xfrm>
            <a:off x="1203325" y="218493"/>
            <a:ext cx="74834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POSIX Synchronization</a:t>
            </a:r>
            <a:endParaRPr lang="en-US" altLang="en-US" dirty="0"/>
          </a:p>
        </p:txBody>
      </p:sp>
      <p:sp>
        <p:nvSpPr>
          <p:cNvPr id="4301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93102" y="1224999"/>
            <a:ext cx="7592608" cy="4613275"/>
          </a:xfrm>
        </p:spPr>
        <p:txBody>
          <a:bodyPr/>
          <a:lstStyle/>
          <a:p>
            <a:r>
              <a:rPr lang="en-US" altLang="en-US" dirty="0"/>
              <a:t>POSIX API provides</a:t>
            </a:r>
            <a:endParaRPr lang="en-US" altLang="en-US" dirty="0"/>
          </a:p>
          <a:p>
            <a:pPr lvl="1"/>
            <a:r>
              <a:rPr lang="en-US" altLang="en-US" dirty="0"/>
              <a:t>mutex locks</a:t>
            </a:r>
            <a:endParaRPr lang="en-US" altLang="en-US" dirty="0"/>
          </a:p>
          <a:p>
            <a:pPr lvl="1"/>
            <a:r>
              <a:rPr lang="en-US" altLang="en-US" dirty="0"/>
              <a:t>semaphores</a:t>
            </a:r>
            <a:endParaRPr lang="en-US" altLang="en-US" dirty="0"/>
          </a:p>
          <a:p>
            <a:pPr lvl="1"/>
            <a:r>
              <a:rPr lang="en-US" altLang="en-US" dirty="0"/>
              <a:t>condition variable</a:t>
            </a:r>
            <a:endParaRPr lang="en-US" altLang="en-US" dirty="0"/>
          </a:p>
          <a:p>
            <a:r>
              <a:rPr lang="en-US" altLang="en-US" dirty="0"/>
              <a:t>Widely used on UNIX, Linux, and macOS</a:t>
            </a:r>
            <a:endParaRPr lang="en-US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POSIX Mutex Locks</a:t>
            </a:r>
            <a:endParaRPr lang="en-US" altLang="en-US" dirty="0"/>
          </a:p>
        </p:txBody>
      </p:sp>
      <p:sp>
        <p:nvSpPr>
          <p:cNvPr id="5632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Creating and initializing the lock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endParaRPr lang="en-US" altLang="en-US"/>
          </a:p>
          <a:p>
            <a:r>
              <a:rPr lang="en-US" altLang="en-US"/>
              <a:t>Acquiring and releasing the lock</a:t>
            </a:r>
            <a:endParaRPr lang="en-US" altLang="en-US"/>
          </a:p>
        </p:txBody>
      </p:sp>
      <p:pic>
        <p:nvPicPr>
          <p:cNvPr id="56323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888" y="1571625"/>
            <a:ext cx="5092700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63" y="3770313"/>
            <a:ext cx="37084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POSIX Semaphores</a:t>
            </a:r>
            <a:endParaRPr lang="en-US" altLang="en-US"/>
          </a:p>
        </p:txBody>
      </p:sp>
      <p:sp>
        <p:nvSpPr>
          <p:cNvPr id="5734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POSIX provides two versions – </a:t>
            </a:r>
            <a:r>
              <a:rPr lang="en-US" altLang="en-US" b="1"/>
              <a:t>named</a:t>
            </a:r>
            <a:r>
              <a:rPr lang="en-US" altLang="en-US"/>
              <a:t> and </a:t>
            </a:r>
            <a:r>
              <a:rPr lang="en-US" altLang="en-US" b="1"/>
              <a:t>unnamed</a:t>
            </a:r>
            <a:r>
              <a:rPr lang="en-US" altLang="en-US"/>
              <a:t>.</a:t>
            </a:r>
            <a:endParaRPr lang="en-US" altLang="en-US"/>
          </a:p>
          <a:p>
            <a:r>
              <a:rPr lang="en-US" altLang="en-US"/>
              <a:t>Named semaphores can be used by unrelated processes, unnamed cannot.</a:t>
            </a:r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POSIX Named Semaphores</a:t>
            </a:r>
            <a:endParaRPr lang="en-US" altLang="en-US" dirty="0"/>
          </a:p>
        </p:txBody>
      </p:sp>
      <p:sp>
        <p:nvSpPr>
          <p:cNvPr id="58370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8229600" cy="5027612"/>
          </a:xfrm>
        </p:spPr>
        <p:txBody>
          <a:bodyPr/>
          <a:lstStyle/>
          <a:p>
            <a:r>
              <a:rPr lang="en-US" altLang="en-US"/>
              <a:t>Creating an initializing the semaphore: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endParaRPr lang="en-US" altLang="en-US"/>
          </a:p>
          <a:p>
            <a:r>
              <a:rPr lang="en-US" altLang="en-US"/>
              <a:t>Another process can access the semaphore by referring to its name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SEM</a:t>
            </a:r>
            <a:r>
              <a:rPr lang="en-US" altLang="en-US"/>
              <a:t>.</a:t>
            </a:r>
            <a:endParaRPr lang="en-US" altLang="en-US"/>
          </a:p>
          <a:p>
            <a:r>
              <a:rPr lang="en-US" altLang="en-US"/>
              <a:t>Acquiring and releasing the semaphore:</a:t>
            </a:r>
            <a:endParaRPr lang="en-US" altLang="en-US"/>
          </a:p>
        </p:txBody>
      </p:sp>
      <p:pic>
        <p:nvPicPr>
          <p:cNvPr id="58371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1597025"/>
            <a:ext cx="6083300" cy="134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2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3843338"/>
            <a:ext cx="3810000" cy="184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POSIX Unnamed Semaphores</a:t>
            </a:r>
            <a:endParaRPr lang="en-US" altLang="en-US" dirty="0"/>
          </a:p>
        </p:txBody>
      </p:sp>
      <p:sp>
        <p:nvSpPr>
          <p:cNvPr id="5939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Creating an initializing the semaphore: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endParaRPr lang="en-US" altLang="en-US"/>
          </a:p>
          <a:p>
            <a:r>
              <a:rPr lang="en-US" altLang="en-US"/>
              <a:t>Acquiring and releasing the semaphore:</a:t>
            </a:r>
            <a:endParaRPr lang="en-US" altLang="en-US"/>
          </a:p>
        </p:txBody>
      </p:sp>
      <p:pic>
        <p:nvPicPr>
          <p:cNvPr id="5939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638" y="1574800"/>
            <a:ext cx="6083300" cy="154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050" y="3729038"/>
            <a:ext cx="4533900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POSIX Condition Variables</a:t>
            </a:r>
            <a:endParaRPr lang="en-US" altLang="en-US"/>
          </a:p>
        </p:txBody>
      </p:sp>
      <p:sp>
        <p:nvSpPr>
          <p:cNvPr id="6041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Since POSIX is typically used in C/C++ and these languages do not provide a monitor, POSIX condition variables are associated with a POSIX mutex lock to provide mutual exclusion: Creating and initializing the condition variable: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</p:txBody>
      </p:sp>
      <p:pic>
        <p:nvPicPr>
          <p:cNvPr id="60419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3013" y="2327275"/>
            <a:ext cx="3962400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POSIX Condition Variables</a:t>
            </a:r>
            <a:endParaRPr lang="en-US" altLang="en-US"/>
          </a:p>
        </p:txBody>
      </p:sp>
      <p:sp>
        <p:nvSpPr>
          <p:cNvPr id="6144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Thread waiting for the condition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a == b </a:t>
            </a:r>
            <a:r>
              <a:rPr lang="en-US" altLang="en-US"/>
              <a:t>to become true: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endParaRPr lang="en-US" altLang="en-US"/>
          </a:p>
          <a:p>
            <a:r>
              <a:rPr lang="en-US" altLang="en-US"/>
              <a:t>Thread signaling another thread waiting on the condition variable: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61443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0550" y="1670050"/>
            <a:ext cx="495300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288" y="4097338"/>
            <a:ext cx="34925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Synchronization</a:t>
            </a:r>
            <a:endParaRPr lang="en-US" altLang="en-US"/>
          </a:p>
        </p:txBody>
      </p:sp>
      <p:sp>
        <p:nvSpPr>
          <p:cNvPr id="6246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Java provides rich set of synchronization features:</a:t>
            </a:r>
            <a:endParaRPr lang="en-US" altLang="en-US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/>
              <a:t>Java monitors</a:t>
            </a:r>
            <a:endParaRPr lang="en-US" altLang="en-US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/>
              <a:t>Reentrant locks</a:t>
            </a:r>
            <a:endParaRPr lang="en-US" altLang="en-US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/>
              <a:t>Semaphores</a:t>
            </a:r>
            <a:endParaRPr lang="en-US" altLang="en-US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/>
              <a:t>Condition variables</a:t>
            </a:r>
            <a:endParaRPr lang="en-US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Monitors</a:t>
            </a:r>
            <a:endParaRPr lang="en-US" altLang="en-US"/>
          </a:p>
        </p:txBody>
      </p:sp>
      <p:sp>
        <p:nvSpPr>
          <p:cNvPr id="6349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Every Java object has associated with it a single lock.</a:t>
            </a:r>
            <a:endParaRPr lang="en-US" altLang="en-US"/>
          </a:p>
          <a:p>
            <a:r>
              <a:rPr lang="en-US" altLang="en-US"/>
              <a:t>If a method is declared as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synchronized</a:t>
            </a:r>
            <a:r>
              <a:rPr lang="en-US" altLang="en-US"/>
              <a:t>, a calling thread must own the lock for the object.</a:t>
            </a:r>
            <a:endParaRPr lang="en-US" altLang="en-US"/>
          </a:p>
          <a:p>
            <a:r>
              <a:rPr lang="en-US" altLang="en-US"/>
              <a:t>If the lock is owned by another thread, the calling thread must wait for the lock until it is released.</a:t>
            </a:r>
            <a:endParaRPr lang="en-US" altLang="en-US"/>
          </a:p>
          <a:p>
            <a:r>
              <a:rPr lang="en-US" altLang="en-US"/>
              <a:t>Locks are released when the owning thread exits the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synchronized</a:t>
            </a:r>
            <a:r>
              <a:rPr lang="en-US" altLang="en-US"/>
              <a:t> method.</a:t>
            </a:r>
            <a:endParaRPr lang="en-US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/>
          <p:cNvSpPr>
            <a:spLocks noGrp="1"/>
          </p:cNvSpPr>
          <p:nvPr>
            <p:ph type="title"/>
          </p:nvPr>
        </p:nvSpPr>
        <p:spPr>
          <a:xfrm>
            <a:off x="1356946" y="170353"/>
            <a:ext cx="7710854" cy="576262"/>
          </a:xfrm>
        </p:spPr>
        <p:txBody>
          <a:bodyPr/>
          <a:lstStyle/>
          <a:p>
            <a:r>
              <a:rPr lang="en-US" altLang="en-US" sz="3000" dirty="0"/>
              <a:t>Bounded Buffer – </a:t>
            </a:r>
            <a:r>
              <a:rPr kumimoji="1" lang="en-US" altLang="en-US" dirty="0"/>
              <a:t>Java</a:t>
            </a:r>
            <a:r>
              <a:rPr lang="en-US" altLang="en-US" sz="3000" dirty="0"/>
              <a:t> Synchronization</a:t>
            </a:r>
            <a:endParaRPr lang="en-US" altLang="en-US" sz="3000" dirty="0"/>
          </a:p>
        </p:txBody>
      </p:sp>
      <p:pic>
        <p:nvPicPr>
          <p:cNvPr id="64514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263" y="1201738"/>
            <a:ext cx="4706937" cy="474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Synchronization</a:t>
            </a:r>
            <a:endParaRPr lang="en-US" altLang="en-US"/>
          </a:p>
        </p:txBody>
      </p:sp>
      <p:sp>
        <p:nvSpPr>
          <p:cNvPr id="6553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 thread that tries to acquire an unavailable lock is placed in the object’s </a:t>
            </a:r>
            <a:r>
              <a:rPr lang="en-US" altLang="en-US" b="1"/>
              <a:t>entry set</a:t>
            </a:r>
            <a:r>
              <a:rPr lang="en-US" altLang="en-US"/>
              <a:t>:</a:t>
            </a:r>
            <a:endParaRPr lang="en-US" altLang="en-US"/>
          </a:p>
        </p:txBody>
      </p:sp>
      <p:pic>
        <p:nvPicPr>
          <p:cNvPr id="65539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9438" y="2400300"/>
            <a:ext cx="5907087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Synchronization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Similarly, each object also has a </a:t>
            </a:r>
            <a:r>
              <a:rPr lang="en-US" b="1" dirty="0"/>
              <a:t>wait set</a:t>
            </a:r>
            <a:r>
              <a:rPr lang="en-US" dirty="0"/>
              <a:t>.</a:t>
            </a:r>
            <a:endParaRPr lang="en-US" dirty="0"/>
          </a:p>
          <a:p>
            <a:pPr>
              <a:defRPr/>
            </a:pPr>
            <a:r>
              <a:rPr lang="en-US" dirty="0"/>
              <a:t>When a thread calls </a:t>
            </a:r>
            <a:r>
              <a:rPr lang="en-US" b="1" dirty="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wait()</a:t>
            </a:r>
            <a:r>
              <a:rPr lang="en-US" dirty="0"/>
              <a:t>:</a:t>
            </a:r>
            <a:endParaRPr lang="en-US" dirty="0"/>
          </a:p>
          <a:p>
            <a:pPr marL="742950" lvl="1" indent="-342900">
              <a:buFont typeface="+mj-lt"/>
              <a:buAutoNum type="arabicPeriod"/>
              <a:defRPr/>
            </a:pPr>
            <a:r>
              <a:rPr lang="en-US" dirty="0"/>
              <a:t>It releases the lock for the object</a:t>
            </a:r>
            <a:endParaRPr lang="en-US" dirty="0"/>
          </a:p>
          <a:p>
            <a:pPr marL="742950" lvl="1" indent="-342900">
              <a:buFont typeface="+mj-lt"/>
              <a:buAutoNum type="arabicPeriod"/>
              <a:defRPr/>
            </a:pPr>
            <a:r>
              <a:rPr lang="en-US" dirty="0"/>
              <a:t>The state of the thread is set to blocked</a:t>
            </a:r>
            <a:endParaRPr lang="en-US" dirty="0"/>
          </a:p>
          <a:p>
            <a:pPr marL="742950" lvl="1" indent="-342900">
              <a:buFont typeface="+mj-lt"/>
              <a:buAutoNum type="arabicPeriod"/>
              <a:defRPr/>
            </a:pPr>
            <a:r>
              <a:rPr lang="en-US" dirty="0"/>
              <a:t>The thread is placed in the wait set for the object</a:t>
            </a:r>
            <a:endParaRPr lang="en-US" dirty="0"/>
          </a:p>
        </p:txBody>
      </p:sp>
      <p:pic>
        <p:nvPicPr>
          <p:cNvPr id="66563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688" y="3613150"/>
            <a:ext cx="6223000" cy="140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Synchronization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 thread typically calls wait() when it is waiting for a condition to  become true.</a:t>
            </a:r>
            <a:endParaRPr lang="en-US" dirty="0"/>
          </a:p>
          <a:p>
            <a:pPr>
              <a:defRPr/>
            </a:pPr>
            <a:r>
              <a:rPr lang="en-US" dirty="0"/>
              <a:t>How does a thread get notified?</a:t>
            </a:r>
            <a:endParaRPr lang="en-US" dirty="0"/>
          </a:p>
          <a:p>
            <a:pPr>
              <a:defRPr/>
            </a:pPr>
            <a:r>
              <a:rPr lang="en-US" dirty="0"/>
              <a:t>When a thread calls </a:t>
            </a:r>
            <a:r>
              <a:rPr lang="en-US" b="1" dirty="0"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notify()</a:t>
            </a:r>
            <a:r>
              <a:rPr lang="en-US" dirty="0"/>
              <a:t>:</a:t>
            </a:r>
            <a:endParaRPr lang="en-US" dirty="0"/>
          </a:p>
          <a:p>
            <a:pPr marL="742950" lvl="1" indent="-342900">
              <a:buFont typeface="+mj-lt"/>
              <a:buAutoNum type="arabicPeriod"/>
              <a:defRPr/>
            </a:pPr>
            <a:r>
              <a:rPr lang="en-US" dirty="0"/>
              <a:t>An arbitrary thread T is selected from the wait set</a:t>
            </a:r>
            <a:endParaRPr lang="en-US" dirty="0"/>
          </a:p>
          <a:p>
            <a:pPr marL="742950" lvl="1" indent="-342900">
              <a:buFont typeface="+mj-lt"/>
              <a:buAutoNum type="arabicPeriod"/>
              <a:defRPr/>
            </a:pPr>
            <a:r>
              <a:rPr lang="en-US" dirty="0"/>
              <a:t>T is moved from the wait set to the entry set</a:t>
            </a:r>
            <a:endParaRPr lang="en-US" dirty="0"/>
          </a:p>
          <a:p>
            <a:pPr marL="742950" lvl="1" indent="-342900">
              <a:buFont typeface="+mj-lt"/>
              <a:buAutoNum type="arabicPeriod"/>
              <a:defRPr/>
            </a:pPr>
            <a:r>
              <a:rPr lang="en-US" dirty="0"/>
              <a:t>Set the state of T from blocked to runnable.</a:t>
            </a:r>
            <a:endParaRPr lang="en-US" dirty="0"/>
          </a:p>
          <a:p>
            <a:pPr>
              <a:defRPr/>
            </a:pPr>
            <a:r>
              <a:rPr lang="en-US" dirty="0"/>
              <a:t>T can now compete for the lock to check if the condition it was waiting for is now true.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/>
          <p:cNvSpPr>
            <a:spLocks noGrp="1"/>
          </p:cNvSpPr>
          <p:nvPr>
            <p:ph type="title"/>
          </p:nvPr>
        </p:nvSpPr>
        <p:spPr>
          <a:xfrm>
            <a:off x="1115909" y="233853"/>
            <a:ext cx="7710854" cy="576262"/>
          </a:xfrm>
        </p:spPr>
        <p:txBody>
          <a:bodyPr/>
          <a:lstStyle/>
          <a:p>
            <a:r>
              <a:rPr lang="en-US" altLang="en-US" dirty="0"/>
              <a:t>Bounded Buffer – Java </a:t>
            </a:r>
            <a:r>
              <a:rPr lang="en-US" altLang="en-US" sz="3000" dirty="0"/>
              <a:t>Synchronization</a:t>
            </a:r>
            <a:endParaRPr lang="en-US" altLang="en-US" sz="3000" dirty="0"/>
          </a:p>
        </p:txBody>
      </p:sp>
      <p:pic>
        <p:nvPicPr>
          <p:cNvPr id="68610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430338"/>
            <a:ext cx="5181600" cy="368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2800" y="1117600"/>
            <a:ext cx="4978400" cy="462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15908" y="233853"/>
            <a:ext cx="7710854" cy="576262"/>
          </a:xfrm>
        </p:spPr>
        <p:txBody>
          <a:bodyPr/>
          <a:lstStyle/>
          <a:p>
            <a:r>
              <a:rPr lang="en-US" altLang="en-US" dirty="0"/>
              <a:t>Bounded Buffer – Java </a:t>
            </a:r>
            <a:r>
              <a:rPr lang="en-US" altLang="en-US" sz="3000" dirty="0"/>
              <a:t>Synchronization</a:t>
            </a:r>
            <a:endParaRPr lang="en-US" altLang="en-US" sz="3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itle 1"/>
          <p:cNvSpPr>
            <a:spLocks noGrp="1"/>
          </p:cNvSpPr>
          <p:nvPr>
            <p:ph type="title"/>
          </p:nvPr>
        </p:nvSpPr>
        <p:spPr>
          <a:xfrm>
            <a:off x="975946" y="224522"/>
            <a:ext cx="7710854" cy="576262"/>
          </a:xfrm>
        </p:spPr>
        <p:txBody>
          <a:bodyPr/>
          <a:lstStyle/>
          <a:p>
            <a:r>
              <a:rPr lang="en-US" altLang="en-US" dirty="0"/>
              <a:t>Java Reentrant Locks</a:t>
            </a:r>
            <a:endParaRPr lang="en-US" altLang="en-US" dirty="0"/>
          </a:p>
        </p:txBody>
      </p:sp>
      <p:sp>
        <p:nvSpPr>
          <p:cNvPr id="7065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Similar to mutex locks</a:t>
            </a:r>
            <a:endParaRPr lang="en-US" altLang="en-US"/>
          </a:p>
          <a:p>
            <a:r>
              <a:rPr lang="en-US" altLang="en-US"/>
              <a:t>The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finally</a:t>
            </a:r>
            <a:r>
              <a:rPr lang="en-US" altLang="en-US"/>
              <a:t> clause ensures the lock will be released in case an exception occurs in the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US" altLang="en-US"/>
              <a:t> block.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70659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900" y="2298700"/>
            <a:ext cx="3886200" cy="226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itle 1"/>
          <p:cNvSpPr>
            <a:spLocks noGrp="1"/>
          </p:cNvSpPr>
          <p:nvPr>
            <p:ph type="title"/>
          </p:nvPr>
        </p:nvSpPr>
        <p:spPr>
          <a:xfrm>
            <a:off x="975946" y="224522"/>
            <a:ext cx="7710854" cy="576262"/>
          </a:xfrm>
        </p:spPr>
        <p:txBody>
          <a:bodyPr/>
          <a:lstStyle/>
          <a:p>
            <a:r>
              <a:rPr lang="en-US" altLang="en-US" dirty="0"/>
              <a:t>Java Semaphores</a:t>
            </a:r>
            <a:endParaRPr lang="en-US" altLang="en-US" dirty="0"/>
          </a:p>
        </p:txBody>
      </p:sp>
      <p:sp>
        <p:nvSpPr>
          <p:cNvPr id="716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Constructor:</a:t>
            </a:r>
            <a:br>
              <a:rPr lang="en-US" altLang="en-US"/>
            </a:br>
            <a:br>
              <a:rPr lang="en-US" altLang="en-US"/>
            </a:br>
            <a:endParaRPr lang="en-US" altLang="en-US"/>
          </a:p>
          <a:p>
            <a:r>
              <a:rPr lang="en-US" altLang="en-US"/>
              <a:t>Usage: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71683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614488"/>
            <a:ext cx="25908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84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350" y="2720975"/>
            <a:ext cx="4838700" cy="255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itle 1"/>
          <p:cNvSpPr>
            <a:spLocks noGrp="1"/>
          </p:cNvSpPr>
          <p:nvPr>
            <p:ph type="title"/>
          </p:nvPr>
        </p:nvSpPr>
        <p:spPr>
          <a:xfrm>
            <a:off x="975946" y="224522"/>
            <a:ext cx="7710854" cy="576262"/>
          </a:xfrm>
        </p:spPr>
        <p:txBody>
          <a:bodyPr/>
          <a:lstStyle/>
          <a:p>
            <a:r>
              <a:rPr lang="en-US" altLang="en-US" dirty="0"/>
              <a:t>Java Condition Variables</a:t>
            </a:r>
            <a:endParaRPr lang="en-US" altLang="en-US" dirty="0"/>
          </a:p>
        </p:txBody>
      </p:sp>
      <p:sp>
        <p:nvSpPr>
          <p:cNvPr id="7270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Condition variables are associated with an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ReentrantLock</a:t>
            </a:r>
            <a:r>
              <a:rPr lang="en-US" altLang="en-US" dirty="0"/>
              <a:t>.</a:t>
            </a:r>
            <a:endParaRPr lang="en-US" altLang="en-US" dirty="0"/>
          </a:p>
          <a:p>
            <a:r>
              <a:rPr lang="en-US" altLang="en-US" dirty="0"/>
              <a:t>Creating a condition variable using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newCondition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dirty="0"/>
              <a:t> method of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ReentrantLock</a:t>
            </a:r>
            <a:r>
              <a:rPr lang="en-US" altLang="en-US" dirty="0"/>
              <a:t>: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A thread waits by calling the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await()</a:t>
            </a:r>
            <a:r>
              <a:rPr lang="en-US" altLang="en-US" dirty="0"/>
              <a:t> method, and signals by calling the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signal()</a:t>
            </a:r>
            <a:r>
              <a:rPr lang="en-US" altLang="en-US" dirty="0"/>
              <a:t> method.</a:t>
            </a:r>
            <a:endParaRPr lang="en-US" altLang="en-US" dirty="0"/>
          </a:p>
          <a:p>
            <a:endParaRPr lang="en-US" altLang="en-US" dirty="0"/>
          </a:p>
        </p:txBody>
      </p:sp>
      <p:pic>
        <p:nvPicPr>
          <p:cNvPr id="72707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663" y="2382838"/>
            <a:ext cx="455930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Java Condition Variables</a:t>
            </a:r>
            <a:endParaRPr lang="en-US" altLang="en-US" dirty="0"/>
          </a:p>
        </p:txBody>
      </p:sp>
      <p:sp>
        <p:nvSpPr>
          <p:cNvPr id="73730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8229600" cy="4837112"/>
          </a:xfrm>
        </p:spPr>
        <p:txBody>
          <a:bodyPr/>
          <a:lstStyle/>
          <a:p>
            <a:r>
              <a:rPr lang="en-US" altLang="en-US"/>
              <a:t>Example:</a:t>
            </a:r>
            <a:endParaRPr lang="en-US" altLang="en-US"/>
          </a:p>
          <a:p>
            <a:r>
              <a:rPr lang="en-US" altLang="en-US"/>
              <a:t>Five threads numbered 0 .. 4</a:t>
            </a:r>
            <a:endParaRPr lang="en-US" altLang="en-US"/>
          </a:p>
          <a:p>
            <a:r>
              <a:rPr lang="en-US" altLang="en-US"/>
              <a:t>Shared variable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turn</a:t>
            </a:r>
            <a:r>
              <a:rPr lang="en-US" altLang="en-US"/>
              <a:t> indicating which thread’s turn it is.</a:t>
            </a:r>
            <a:endParaRPr lang="en-US" altLang="en-US"/>
          </a:p>
          <a:p>
            <a:r>
              <a:rPr lang="en-US" altLang="en-US"/>
              <a:t>Thread calls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doWork()</a:t>
            </a:r>
            <a:r>
              <a:rPr lang="en-US" altLang="en-US"/>
              <a:t> when it wishes to do some work. (But it may only do work if it is their turn.</a:t>
            </a:r>
            <a:endParaRPr lang="en-US" altLang="en-US"/>
          </a:p>
          <a:p>
            <a:r>
              <a:rPr lang="en-US" altLang="en-US"/>
              <a:t>If not their turn, wait</a:t>
            </a:r>
            <a:endParaRPr lang="en-US" altLang="en-US"/>
          </a:p>
          <a:p>
            <a:r>
              <a:rPr lang="en-US" altLang="en-US"/>
              <a:t>If their turn, do some work for awhile </a:t>
            </a:r>
            <a:r>
              <a:rPr lang="is-IS" altLang="en-US"/>
              <a:t>…...</a:t>
            </a:r>
            <a:endParaRPr lang="is-IS" altLang="en-US"/>
          </a:p>
          <a:p>
            <a:r>
              <a:rPr lang="is-IS" altLang="en-US"/>
              <a:t>When completed, notify the thread whose turn is next.</a:t>
            </a:r>
            <a:endParaRPr lang="is-IS" altLang="en-US"/>
          </a:p>
          <a:p>
            <a:r>
              <a:rPr lang="is-IS" altLang="en-US"/>
              <a:t>Necessary data structures:</a:t>
            </a:r>
            <a:br>
              <a:rPr lang="is-IS" altLang="en-US"/>
            </a:br>
            <a:br>
              <a:rPr lang="is-IS" altLang="en-US"/>
            </a:br>
            <a:endParaRPr lang="en-US" altLang="en-US"/>
          </a:p>
          <a:p>
            <a:endParaRPr lang="en-US" altLang="en-US"/>
          </a:p>
        </p:txBody>
      </p:sp>
      <p:pic>
        <p:nvPicPr>
          <p:cNvPr id="73731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125" y="4508500"/>
            <a:ext cx="48895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Condition Variables</a:t>
            </a:r>
            <a:endParaRPr lang="en-US" altLang="en-US"/>
          </a:p>
        </p:txBody>
      </p:sp>
      <p:pic>
        <p:nvPicPr>
          <p:cNvPr id="74754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925" y="933450"/>
            <a:ext cx="6026150" cy="560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>
          <a:xfrm>
            <a:off x="1203325" y="227824"/>
            <a:ext cx="74834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Alternative Approaches</a:t>
            </a:r>
            <a:endParaRPr lang="en-US" altLang="en-US" dirty="0"/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35038" y="1181100"/>
            <a:ext cx="7429500" cy="4613275"/>
          </a:xfrm>
        </p:spPr>
        <p:txBody>
          <a:bodyPr/>
          <a:lstStyle/>
          <a:p>
            <a:r>
              <a:rPr lang="en-US" altLang="en-US" dirty="0"/>
              <a:t>Transactional Memory</a:t>
            </a:r>
            <a:endParaRPr lang="en-US" altLang="en-US" dirty="0"/>
          </a:p>
          <a:p>
            <a:r>
              <a:rPr lang="en-US" altLang="en-US" dirty="0"/>
              <a:t>OpenMP</a:t>
            </a:r>
            <a:endParaRPr lang="en-US" altLang="en-US" dirty="0"/>
          </a:p>
          <a:p>
            <a:r>
              <a:rPr lang="en-US" altLang="en-US" dirty="0"/>
              <a:t>Functional Programming Languages</a:t>
            </a:r>
            <a:endParaRPr lang="en-US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3"/>
          <p:cNvSpPr>
            <a:spLocks noGrp="1" noChangeArrowheads="1"/>
          </p:cNvSpPr>
          <p:nvPr>
            <p:ph idx="1"/>
          </p:nvPr>
        </p:nvSpPr>
        <p:spPr>
          <a:xfrm>
            <a:off x="928688" y="771525"/>
            <a:ext cx="7021512" cy="5678488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en-US" altLang="en-US" dirty="0"/>
          </a:p>
          <a:p>
            <a:r>
              <a:rPr lang="en-US" altLang="en-US" dirty="0"/>
              <a:t>Consider a function update() that must be called atomically. One option is to use mutex locks: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sz="1000" dirty="0"/>
          </a:p>
          <a:p>
            <a:endParaRPr lang="en-US" altLang="en-US" sz="1000" dirty="0"/>
          </a:p>
          <a:p>
            <a:endParaRPr lang="en-US" altLang="en-US" sz="1000" dirty="0"/>
          </a:p>
          <a:p>
            <a:endParaRPr lang="en-US" altLang="en-US" dirty="0"/>
          </a:p>
          <a:p>
            <a:r>
              <a:rPr lang="en-US" altLang="en-US" dirty="0"/>
              <a:t>A </a:t>
            </a:r>
            <a:r>
              <a:rPr lang="en-US" altLang="en-US" b="1" dirty="0"/>
              <a:t>memory transaction </a:t>
            </a:r>
            <a:r>
              <a:rPr lang="en-US" altLang="en-US" dirty="0"/>
              <a:t>is a sequence of read-write operations to memory that are performed atomically. A transaction can be completed by adding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atomic{S}</a:t>
            </a:r>
            <a:r>
              <a:rPr lang="en-US" altLang="en-US" dirty="0"/>
              <a:t> which ensure statements in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en-US" dirty="0"/>
              <a:t> are executed atomically:</a:t>
            </a:r>
            <a:endParaRPr lang="en-US" altLang="en-US" dirty="0"/>
          </a:p>
          <a:p>
            <a:pPr>
              <a:lnSpc>
                <a:spcPct val="80000"/>
              </a:lnSpc>
            </a:pPr>
            <a:endParaRPr lang="en-US" altLang="en-US" dirty="0"/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</a:t>
            </a:r>
            <a:endParaRPr lang="en-US" altLang="en-US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i="1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</p:txBody>
      </p:sp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715733" y="160563"/>
            <a:ext cx="7916863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4" rIns="91426" bIns="45714" anchor="b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 b="1" dirty="0">
                <a:solidFill>
                  <a:srgbClr val="006699"/>
                </a:solidFill>
                <a:latin typeface="Arial" panose="020B0604020202020204" pitchFamily="34" charset="0"/>
              </a:rPr>
              <a:t>Transactional Memory</a:t>
            </a:r>
            <a:endParaRPr lang="en-US" altLang="en-US" sz="3200" b="1" dirty="0">
              <a:solidFill>
                <a:srgbClr val="006699"/>
              </a:solidFill>
              <a:latin typeface="Arial" panose="020B0604020202020204" pitchFamily="34" charset="0"/>
            </a:endParaRPr>
          </a:p>
        </p:txBody>
      </p:sp>
      <p:pic>
        <p:nvPicPr>
          <p:cNvPr id="47107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0963" y="1811450"/>
            <a:ext cx="3373437" cy="197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8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9694" y="5015204"/>
            <a:ext cx="3619500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3"/>
          <p:cNvSpPr>
            <a:spLocks noGrp="1" noChangeArrowheads="1"/>
          </p:cNvSpPr>
          <p:nvPr>
            <p:ph idx="1"/>
          </p:nvPr>
        </p:nvSpPr>
        <p:spPr>
          <a:xfrm>
            <a:off x="928688" y="771525"/>
            <a:ext cx="7021512" cy="5268913"/>
          </a:xfrm>
        </p:spPr>
        <p:txBody>
          <a:bodyPr/>
          <a:lstStyle/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>
              <a:solidFill>
                <a:srgbClr val="0000FF"/>
              </a:solidFill>
            </a:endParaRPr>
          </a:p>
          <a:p>
            <a:r>
              <a:rPr lang="en-US" altLang="en-US" dirty="0"/>
              <a:t>OpenMP is a set of compiler directives and API that support parallel </a:t>
            </a:r>
            <a:r>
              <a:rPr lang="en-US" altLang="en-US" dirty="0" err="1"/>
              <a:t>progamming</a:t>
            </a:r>
            <a:r>
              <a:rPr lang="en-US" altLang="en-US" dirty="0"/>
              <a:t>.</a:t>
            </a:r>
            <a:endParaRPr lang="en-US" altLang="en-US" dirty="0"/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void update(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value)</a:t>
            </a:r>
            <a:endParaRPr lang="en-US" altLang="en-US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			 {</a:t>
            </a:r>
            <a:endParaRPr lang="en-US" altLang="en-US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				#pragma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omp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critical</a:t>
            </a:r>
            <a:endParaRPr lang="en-US" altLang="en-US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				{</a:t>
            </a:r>
            <a:endParaRPr lang="en-US" altLang="en-US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					count += value</a:t>
            </a:r>
            <a:endParaRPr lang="en-US" altLang="en-US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				}</a:t>
            </a:r>
            <a:endParaRPr lang="en-US" altLang="en-US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			  }</a:t>
            </a:r>
            <a:endParaRPr lang="en-US" altLang="en-US" sz="20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r>
              <a:rPr lang="en-US" altLang="en-US" dirty="0"/>
              <a:t>The code contained within the </a:t>
            </a:r>
            <a:r>
              <a:rPr lang="en-US" altLang="en-US" b="1" dirty="0">
                <a:latin typeface="Courier New" panose="02070309020205020404" pitchFamily="49" charset="0"/>
              </a:rPr>
              <a:t>#pragma </a:t>
            </a:r>
            <a:r>
              <a:rPr lang="en-US" altLang="en-US" b="1" dirty="0" err="1">
                <a:latin typeface="Courier New" panose="02070309020205020404" pitchFamily="49" charset="0"/>
              </a:rPr>
              <a:t>omp</a:t>
            </a:r>
            <a:r>
              <a:rPr lang="en-US" altLang="en-US" b="1" dirty="0">
                <a:latin typeface="Courier New" panose="02070309020205020404" pitchFamily="49" charset="0"/>
              </a:rPr>
              <a:t> critical </a:t>
            </a:r>
            <a:r>
              <a:rPr lang="en-US" altLang="en-US" dirty="0"/>
              <a:t>directive is treated as a critical section and performed atomically.</a:t>
            </a:r>
            <a:endParaRPr lang="en-US" altLang="en-US" dirty="0"/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</p:txBody>
      </p:sp>
      <p:sp>
        <p:nvSpPr>
          <p:cNvPr id="49154" name="Rectangle 2"/>
          <p:cNvSpPr>
            <a:spLocks noChangeArrowheads="1"/>
          </p:cNvSpPr>
          <p:nvPr/>
        </p:nvSpPr>
        <p:spPr bwMode="auto">
          <a:xfrm>
            <a:off x="445148" y="160566"/>
            <a:ext cx="7916863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4" rIns="91426" bIns="45714" anchor="b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 b="1" dirty="0">
                <a:solidFill>
                  <a:srgbClr val="006699"/>
                </a:solidFill>
                <a:latin typeface="Arial" panose="020B0604020202020204" pitchFamily="34" charset="0"/>
              </a:rPr>
              <a:t>OpenMP</a:t>
            </a:r>
            <a:endParaRPr lang="en-US" altLang="en-US" sz="3200" b="1" dirty="0">
              <a:solidFill>
                <a:srgbClr val="00669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3"/>
          <p:cNvSpPr>
            <a:spLocks noGrp="1" noChangeArrowheads="1"/>
          </p:cNvSpPr>
          <p:nvPr>
            <p:ph idx="1"/>
          </p:nvPr>
        </p:nvSpPr>
        <p:spPr>
          <a:xfrm>
            <a:off x="892175" y="914400"/>
            <a:ext cx="7021513" cy="5268913"/>
          </a:xfrm>
        </p:spPr>
        <p:txBody>
          <a:bodyPr/>
          <a:lstStyle/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>
              <a:solidFill>
                <a:srgbClr val="0000FF"/>
              </a:solidFill>
            </a:endParaRPr>
          </a:p>
          <a:p>
            <a:r>
              <a:rPr lang="en-US" altLang="en-US" dirty="0"/>
              <a:t>Functional programming languages offer a different paradigm than procedural languages in that they do not maintain state. </a:t>
            </a:r>
            <a:endParaRPr lang="en-US" altLang="en-US" dirty="0"/>
          </a:p>
          <a:p>
            <a:r>
              <a:rPr lang="en-US" altLang="en-US" dirty="0"/>
              <a:t>Variables are treated as immutable and cannot change state once they have been assigned a value.</a:t>
            </a:r>
            <a:endParaRPr lang="en-US" altLang="en-US" dirty="0"/>
          </a:p>
          <a:p>
            <a:r>
              <a:rPr lang="en-US" altLang="en-US" dirty="0"/>
              <a:t>There is increasing interest in functional languages such as Erlang and Scala for their approach in handling data races.</a:t>
            </a: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</a:t>
            </a:r>
            <a:endParaRPr lang="en-US" altLang="en-US" dirty="0">
              <a:solidFill>
                <a:srgbClr val="0000FF"/>
              </a:solidFill>
            </a:endParaRPr>
          </a:p>
        </p:txBody>
      </p:sp>
      <p:sp>
        <p:nvSpPr>
          <p:cNvPr id="51202" name="Rectangle 2"/>
          <p:cNvSpPr>
            <a:spLocks noChangeArrowheads="1"/>
          </p:cNvSpPr>
          <p:nvPr/>
        </p:nvSpPr>
        <p:spPr bwMode="auto">
          <a:xfrm>
            <a:off x="1077976" y="-28540"/>
            <a:ext cx="8213725" cy="739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4" rIns="91426" bIns="45714" anchor="b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 b="1" dirty="0">
                <a:solidFill>
                  <a:srgbClr val="006699"/>
                </a:solidFill>
                <a:latin typeface="Arial" panose="020B0604020202020204" pitchFamily="34" charset="0"/>
              </a:rPr>
              <a:t>Functional Programming Languages</a:t>
            </a:r>
            <a:endParaRPr lang="en-US" altLang="en-US" sz="3200" b="1" dirty="0">
              <a:solidFill>
                <a:srgbClr val="00669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End of Chapter 7</a:t>
            </a:r>
            <a:endParaRPr lang="en-US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84305554-fbce-41c7-aa4a-290971fb18c7"/>
  <p:tag name="COMMONDATA" val="eyJoZGlkIjoiMzgwMmY0NTc1NWE0ZWI0NzI4MjdjMjVhY2VhMTkyNzQifQ=="/>
</p:tagLst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0</TotalTime>
  <Words>10266</Words>
  <Application>WPS 演示</Application>
  <PresentationFormat>On-screen Show (4:3)</PresentationFormat>
  <Paragraphs>393</Paragraphs>
  <Slides>45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9" baseType="lpstr">
      <vt:lpstr>Arial</vt:lpstr>
      <vt:lpstr>宋体</vt:lpstr>
      <vt:lpstr>Wingdings</vt:lpstr>
      <vt:lpstr>Verdana</vt:lpstr>
      <vt:lpstr>MS PGothic</vt:lpstr>
      <vt:lpstr>Times New Roman</vt:lpstr>
      <vt:lpstr>Helvetica</vt:lpstr>
      <vt:lpstr>Webdings</vt:lpstr>
      <vt:lpstr>Courier New</vt:lpstr>
      <vt:lpstr>Monotype Sorts</vt:lpstr>
      <vt:lpstr>Wingdings</vt:lpstr>
      <vt:lpstr>微软雅黑</vt:lpstr>
      <vt:lpstr>Arial Unicode MS</vt:lpstr>
      <vt:lpstr>os-8</vt:lpstr>
      <vt:lpstr>Chapter 7:  Synchronization Examples</vt:lpstr>
      <vt:lpstr>Outline</vt:lpstr>
      <vt:lpstr>Classical Problems of Synchronization</vt:lpstr>
      <vt:lpstr>Bounded-Buffer Problem</vt:lpstr>
      <vt:lpstr>Bounded Buffer Problem (Cont.)</vt:lpstr>
      <vt:lpstr>Bounded Buffer Problem (Cont.)</vt:lpstr>
      <vt:lpstr>Readers-Writers Problem</vt:lpstr>
      <vt:lpstr>Readers-Writers Problem (Cont.)</vt:lpstr>
      <vt:lpstr>Readers-Writers Problem (Cont.)</vt:lpstr>
      <vt:lpstr>Readers-Writers Problem (Cont.)</vt:lpstr>
      <vt:lpstr>Readers-Writers Problem Variations</vt:lpstr>
      <vt:lpstr>Dining-Philosophers Problem</vt:lpstr>
      <vt:lpstr>  Dining-Philosophers Problem Algorithm</vt:lpstr>
      <vt:lpstr>Monitor Solution to Dining Philosophers</vt:lpstr>
      <vt:lpstr>Solution to Dining Philosophers (Cont.)</vt:lpstr>
      <vt:lpstr>Solution to Dining Philosophers (Cont.)</vt:lpstr>
      <vt:lpstr>Kernel Synchronization - Windows</vt:lpstr>
      <vt:lpstr>Kernel Synchronization - Windows</vt:lpstr>
      <vt:lpstr>Linux Synchronization</vt:lpstr>
      <vt:lpstr>Linux Synchronization</vt:lpstr>
      <vt:lpstr>POSIX Synchronization</vt:lpstr>
      <vt:lpstr>POSIX Mutex Locks</vt:lpstr>
      <vt:lpstr>POSIX Semaphores</vt:lpstr>
      <vt:lpstr>POSIX Named Semaphores</vt:lpstr>
      <vt:lpstr>POSIX Unnamed Semaphores</vt:lpstr>
      <vt:lpstr>POSIX Condition Variables</vt:lpstr>
      <vt:lpstr>POSIX Condition Variables</vt:lpstr>
      <vt:lpstr>Java Synchronization</vt:lpstr>
      <vt:lpstr>Java Monitors</vt:lpstr>
      <vt:lpstr>Bounded Buffer – Java Synchronization</vt:lpstr>
      <vt:lpstr>Java Synchronization</vt:lpstr>
      <vt:lpstr>Java Synchronization</vt:lpstr>
      <vt:lpstr>Java Synchronization</vt:lpstr>
      <vt:lpstr>Bounded Buffer – Java Synchronization</vt:lpstr>
      <vt:lpstr>Bounded Buffer – Java Synchronization</vt:lpstr>
      <vt:lpstr>Java Reentrant Locks</vt:lpstr>
      <vt:lpstr>Java Semaphores</vt:lpstr>
      <vt:lpstr>Java Condition Variables</vt:lpstr>
      <vt:lpstr>Java Condition Variables</vt:lpstr>
      <vt:lpstr>Java Condition Variables</vt:lpstr>
      <vt:lpstr>Alternative Approaches</vt:lpstr>
      <vt:lpstr>PowerPoint 演示文稿</vt:lpstr>
      <vt:lpstr>PowerPoint 演示文稿</vt:lpstr>
      <vt:lpstr>PowerPoint 演示文稿</vt:lpstr>
      <vt:lpstr>End of Chapter 7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左劼</cp:lastModifiedBy>
  <cp:revision>269</cp:revision>
  <cp:lastPrinted>2013-09-18T17:45:00Z</cp:lastPrinted>
  <dcterms:created xsi:type="dcterms:W3CDTF">2011-01-13T23:43:00Z</dcterms:created>
  <dcterms:modified xsi:type="dcterms:W3CDTF">2023-03-29T11:20:46Z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699D7C056AA64127A743754226A4ED08</vt:lpwstr>
  </property>
  <property fmtid="{D5CDD505-2E9C-101B-9397-08002B2CF9AE}" pid="3" name="KSOProductBuildVer">
    <vt:lpwstr>2052-11.1.0.13703</vt:lpwstr>
  </property>
</Properties>
</file>