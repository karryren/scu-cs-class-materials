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331" r:id="rId3"/>
    <p:sldId id="332" r:id="rId5"/>
    <p:sldId id="333" r:id="rId6"/>
    <p:sldId id="334" r:id="rId7"/>
    <p:sldId id="377" r:id="rId8"/>
    <p:sldId id="335" r:id="rId9"/>
    <p:sldId id="336" r:id="rId10"/>
    <p:sldId id="337" r:id="rId11"/>
    <p:sldId id="338" r:id="rId12"/>
    <p:sldId id="374" r:id="rId13"/>
    <p:sldId id="378" r:id="rId14"/>
    <p:sldId id="340" r:id="rId15"/>
    <p:sldId id="379" r:id="rId16"/>
    <p:sldId id="341" r:id="rId17"/>
    <p:sldId id="380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81" r:id="rId27"/>
    <p:sldId id="351" r:id="rId28"/>
    <p:sldId id="352" r:id="rId29"/>
    <p:sldId id="353" r:id="rId30"/>
    <p:sldId id="354" r:id="rId31"/>
    <p:sldId id="382" r:id="rId32"/>
    <p:sldId id="383" r:id="rId33"/>
    <p:sldId id="384" r:id="rId34"/>
    <p:sldId id="385" r:id="rId35"/>
    <p:sldId id="357" r:id="rId36"/>
    <p:sldId id="358" r:id="rId37"/>
    <p:sldId id="386" r:id="rId38"/>
    <p:sldId id="387" r:id="rId39"/>
    <p:sldId id="388" r:id="rId40"/>
    <p:sldId id="389" r:id="rId41"/>
    <p:sldId id="390" r:id="rId42"/>
    <p:sldId id="391" r:id="rId43"/>
    <p:sldId id="392" r:id="rId44"/>
    <p:sldId id="394" r:id="rId45"/>
    <p:sldId id="359" r:id="rId46"/>
    <p:sldId id="395" r:id="rId47"/>
    <p:sldId id="360" r:id="rId48"/>
    <p:sldId id="373" r:id="rId49"/>
    <p:sldId id="396" r:id="rId50"/>
    <p:sldId id="397" r:id="rId51"/>
    <p:sldId id="361" r:id="rId52"/>
    <p:sldId id="362" r:id="rId53"/>
    <p:sldId id="363" r:id="rId54"/>
    <p:sldId id="375" r:id="rId55"/>
    <p:sldId id="364" r:id="rId56"/>
    <p:sldId id="365" r:id="rId57"/>
    <p:sldId id="398" r:id="rId58"/>
    <p:sldId id="366" r:id="rId59"/>
    <p:sldId id="367" r:id="rId60"/>
    <p:sldId id="368" r:id="rId61"/>
    <p:sldId id="376" r:id="rId62"/>
    <p:sldId id="369" r:id="rId63"/>
    <p:sldId id="370" r:id="rId64"/>
    <p:sldId id="371" r:id="rId65"/>
    <p:sldId id="372" r:id="rId66"/>
  </p:sldIdLst>
  <p:sldSz cx="9144000" cy="6858000" type="screen4x3"/>
  <p:notesSz cx="7010400" cy="9296400"/>
  <p:custDataLst>
    <p:tags r:id="rId7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 showGuides="1">
      <p:cViewPr varScale="1">
        <p:scale>
          <a:sx n="64" d="100"/>
          <a:sy n="64" d="100"/>
        </p:scale>
        <p:origin x="1166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2650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charset="0"/>
              </a:rPr>
            </a:fld>
            <a:endParaRPr lang="en-US" altLang="en-US" sz="1200">
              <a:latin typeface="Helvetica" charset="0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charset="0"/>
              </a:rPr>
            </a:fld>
            <a:endParaRPr lang="en-US" altLang="en-US">
              <a:latin typeface="Helvetica" charset="0"/>
            </a:endParaRPr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  <a:endParaRPr lang="en-US" altLang="en-US"/>
          </a:p>
          <a:p>
            <a:r>
              <a:rPr lang="en-US" altLang="en-US"/>
              <a:t>Multicore Programming </a:t>
            </a:r>
            <a:r>
              <a:rPr lang="zh-CN" altLang="en-US"/>
              <a:t>多核编程</a:t>
            </a:r>
            <a:endParaRPr lang="en-US" altLang="en-US"/>
          </a:p>
          <a:p>
            <a:r>
              <a:rPr lang="en-US" altLang="en-US"/>
              <a:t>Multithreading Models </a:t>
            </a:r>
            <a:r>
              <a:rPr lang="zh-CN" altLang="en-US"/>
              <a:t>多线程模型</a:t>
            </a:r>
            <a:endParaRPr lang="en-US" altLang="en-US"/>
          </a:p>
          <a:p>
            <a:r>
              <a:rPr lang="en-US" altLang="en-US"/>
              <a:t>Thread Libraries</a:t>
            </a:r>
            <a:endParaRPr lang="en-US" altLang="en-US"/>
          </a:p>
          <a:p>
            <a:r>
              <a:rPr lang="en-US" altLang="en-US"/>
              <a:t>Implicit Threading</a:t>
            </a:r>
            <a:endParaRPr lang="en-US" altLang="en-US"/>
          </a:p>
          <a:p>
            <a:r>
              <a:rPr lang="en-US" altLang="en-US"/>
              <a:t>Threading Issues</a:t>
            </a:r>
            <a:endParaRPr lang="en-US" altLang="en-US"/>
          </a:p>
          <a:p>
            <a:r>
              <a:rPr lang="en-US" altLang="en-US"/>
              <a:t>Operating System Examples</a:t>
            </a: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r>
              <a:rPr lang="en-US" altLang="en-US"/>
              <a:t>Identify the basic components of a thread, and contrast threads and processes</a:t>
            </a:r>
            <a:endParaRPr lang="en-US" altLang="en-US"/>
          </a:p>
          <a:p>
            <a:r>
              <a:rPr lang="en-US" altLang="en-US"/>
              <a:t>Describe the benefits and challenges of designng multithreaded applications</a:t>
            </a:r>
            <a:endParaRPr lang="en-US" altLang="en-US"/>
          </a:p>
          <a:p>
            <a:r>
              <a:rPr lang="en-US" altLang="en-US"/>
              <a:t>Illustrate different approaches to implicit threading including thread pools, fork-join, and Grand Central Dispatch</a:t>
            </a:r>
            <a:endParaRPr lang="en-US" altLang="en-US"/>
          </a:p>
          <a:p>
            <a:r>
              <a:rPr lang="en-US" altLang="en-US"/>
              <a:t>Describe how the Windows and Linux operating systems represent threads</a:t>
            </a:r>
            <a:endParaRPr lang="en-US" altLang="en-US"/>
          </a:p>
          <a:p>
            <a:r>
              <a:rPr lang="en-US" altLang="en-US"/>
              <a:t>Design multithreaded applications using the Pthreads, Java, and Windows threading APIs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  <a:endParaRPr lang="en-US" altLang="en-US" dirty="0"/>
          </a:p>
        </p:txBody>
      </p:sp>
      <p:sp>
        <p:nvSpPr>
          <p:cNvPr id="11266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/>
              <a:t>Most modern applications are multithreaded</a:t>
            </a:r>
            <a:endParaRPr lang="en-US" altLang="en-US"/>
          </a:p>
          <a:p>
            <a:r>
              <a:rPr lang="en-US" altLang="en-US"/>
              <a:t>Threads run within application</a:t>
            </a:r>
            <a:endParaRPr lang="en-US" altLang="en-US"/>
          </a:p>
          <a:p>
            <a:r>
              <a:rPr lang="en-US" altLang="en-US"/>
              <a:t>Multiple tasks with the application can be implemented by separate threads</a:t>
            </a:r>
            <a:endParaRPr lang="en-US" altLang="en-US"/>
          </a:p>
          <a:p>
            <a:pPr lvl="1"/>
            <a:r>
              <a:rPr lang="en-US" altLang="en-US"/>
              <a:t>Update display</a:t>
            </a:r>
            <a:endParaRPr lang="en-US" altLang="en-US"/>
          </a:p>
          <a:p>
            <a:pPr lvl="1"/>
            <a:r>
              <a:rPr lang="en-US" altLang="en-US"/>
              <a:t>Fetch data</a:t>
            </a:r>
            <a:endParaRPr lang="en-US" altLang="en-US"/>
          </a:p>
          <a:p>
            <a:pPr lvl="1"/>
            <a:r>
              <a:rPr lang="en-US" altLang="en-US"/>
              <a:t>Spell checking</a:t>
            </a:r>
            <a:endParaRPr lang="en-US" altLang="en-US"/>
          </a:p>
          <a:p>
            <a:pPr lvl="1"/>
            <a:r>
              <a:rPr lang="en-US" altLang="en-US"/>
              <a:t>Answer a network request</a:t>
            </a:r>
            <a:endParaRPr lang="en-US" altLang="en-US"/>
          </a:p>
          <a:p>
            <a:r>
              <a:rPr lang="en-US" altLang="en-US"/>
              <a:t>Process creation is heavy-weight while thread creation is light-weight</a:t>
            </a:r>
            <a:endParaRPr lang="en-US" altLang="en-US"/>
          </a:p>
          <a:p>
            <a:r>
              <a:rPr lang="en-US" altLang="en-US"/>
              <a:t>Can simplify code, increase efficiency</a:t>
            </a:r>
            <a:endParaRPr lang="en-US" altLang="en-US"/>
          </a:p>
          <a:p>
            <a:r>
              <a:rPr lang="en-US" altLang="en-US"/>
              <a:t>Kernels are generally multithreaded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  <a:endParaRPr lang="en-US" altLang="en-US" dirty="0"/>
          </a:p>
        </p:txBody>
      </p:sp>
      <p:pic>
        <p:nvPicPr>
          <p:cNvPr id="1229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  <a:endParaRPr lang="en-US" altLang="en-US" dirty="0"/>
          </a:p>
        </p:txBody>
      </p:sp>
      <p:pic>
        <p:nvPicPr>
          <p:cNvPr id="1433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  <a:endParaRPr lang="en-US" alt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</a:t>
            </a:r>
            <a:r>
              <a:rPr lang="zh-CN" altLang="en-US" b="1" dirty="0"/>
              <a:t>响应性</a:t>
            </a:r>
            <a:r>
              <a:rPr lang="en-US" altLang="zh-CN" b="1" dirty="0"/>
              <a:t> </a:t>
            </a:r>
            <a:r>
              <a:rPr lang="en-US" altLang="en-US" b="1" dirty="0"/>
              <a:t>– </a:t>
            </a:r>
            <a:r>
              <a:rPr lang="en-US" altLang="en-US" dirty="0"/>
              <a:t>may allow continued execution if part of process is blocked, especially important for user interfaces</a:t>
            </a:r>
            <a:endParaRPr lang="en-US" altLang="en-US" dirty="0"/>
          </a:p>
          <a:p>
            <a:r>
              <a:rPr lang="en-US" altLang="en-US" b="1" dirty="0"/>
              <a:t>Resource Sharing </a:t>
            </a:r>
            <a:r>
              <a:rPr lang="zh-CN" altLang="en-US" b="1" dirty="0"/>
              <a:t>资源共享</a:t>
            </a:r>
            <a:r>
              <a:rPr lang="en-US" altLang="zh-CN" b="1" dirty="0"/>
              <a:t> </a:t>
            </a:r>
            <a:r>
              <a:rPr lang="en-US" altLang="en-US" b="1" dirty="0"/>
              <a:t>– </a:t>
            </a:r>
            <a:r>
              <a:rPr lang="en-US" altLang="en-US" dirty="0"/>
              <a:t>threads share resources of process, easier than shared memory or message passing</a:t>
            </a:r>
            <a:endParaRPr lang="en-US" altLang="en-US" dirty="0"/>
          </a:p>
          <a:p>
            <a:r>
              <a:rPr lang="en-US" altLang="en-US" b="1" dirty="0"/>
              <a:t>Economy </a:t>
            </a:r>
            <a:r>
              <a:rPr lang="zh-CN" altLang="en-US" b="1" dirty="0"/>
              <a:t>经济</a:t>
            </a:r>
            <a:r>
              <a:rPr lang="en-US" altLang="zh-CN" b="1" dirty="0"/>
              <a:t> </a:t>
            </a:r>
            <a:r>
              <a:rPr lang="en-US" altLang="en-US" b="1" dirty="0"/>
              <a:t>– </a:t>
            </a:r>
            <a:r>
              <a:rPr lang="en-US" altLang="en-US" dirty="0"/>
              <a:t>cheaper than process creation, thread switching lower overhead than context switching</a:t>
            </a:r>
            <a:endParaRPr lang="en-US" altLang="en-US" dirty="0"/>
          </a:p>
          <a:p>
            <a:r>
              <a:rPr lang="en-US" altLang="en-US" b="1" dirty="0"/>
              <a:t>Scalability </a:t>
            </a:r>
            <a:r>
              <a:rPr lang="zh-CN" altLang="en-US" b="1" dirty="0"/>
              <a:t>可伸缩性</a:t>
            </a:r>
            <a:r>
              <a:rPr lang="en-US" altLang="en-US" b="1" dirty="0"/>
              <a:t>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  <a:endParaRPr lang="en-US" altLang="en-US" dirty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putting pressure on programmers, challenges include:</a:t>
            </a:r>
            <a:endParaRPr lang="en-US" altLang="en-US" dirty="0"/>
          </a:p>
          <a:p>
            <a:pPr lvl="1"/>
            <a:r>
              <a:rPr lang="en-US" altLang="en-US" b="1" dirty="0"/>
              <a:t>Dividing activities </a:t>
            </a:r>
            <a:r>
              <a:rPr lang="zh-CN" altLang="en-US" b="1" dirty="0"/>
              <a:t>分解任务</a:t>
            </a:r>
            <a:endParaRPr lang="en-US" altLang="en-US" b="1" dirty="0"/>
          </a:p>
          <a:p>
            <a:pPr lvl="1"/>
            <a:r>
              <a:rPr lang="en-US" altLang="en-US" b="1" dirty="0"/>
              <a:t>Balance </a:t>
            </a:r>
            <a:r>
              <a:rPr lang="zh-CN" altLang="en-US" b="1" dirty="0"/>
              <a:t>均衡</a:t>
            </a:r>
            <a:endParaRPr lang="en-US" altLang="en-US" b="1" dirty="0"/>
          </a:p>
          <a:p>
            <a:pPr lvl="1"/>
            <a:r>
              <a:rPr lang="en-US" altLang="en-US" b="1" dirty="0"/>
              <a:t>Data splitting </a:t>
            </a:r>
            <a:r>
              <a:rPr lang="zh-CN" altLang="en-US" b="1" dirty="0"/>
              <a:t>数据划分</a:t>
            </a:r>
            <a:endParaRPr lang="en-US" altLang="en-US" b="1" dirty="0"/>
          </a:p>
          <a:p>
            <a:pPr lvl="1"/>
            <a:r>
              <a:rPr lang="en-US" altLang="en-US" b="1" dirty="0"/>
              <a:t>Data dependency </a:t>
            </a:r>
            <a:r>
              <a:rPr lang="zh-CN" altLang="en-US" b="1" dirty="0"/>
              <a:t>数据依赖</a:t>
            </a:r>
            <a:endParaRPr lang="en-US" altLang="en-US" b="1" dirty="0"/>
          </a:p>
          <a:p>
            <a:pPr lvl="1"/>
            <a:r>
              <a:rPr lang="en-US" altLang="en-US" b="1" dirty="0"/>
              <a:t>Testing and debugging </a:t>
            </a:r>
            <a:r>
              <a:rPr lang="zh-CN" altLang="en-US" b="1" dirty="0"/>
              <a:t>测试与调试</a:t>
            </a:r>
            <a:endParaRPr lang="en-US" altLang="en-US" b="1" dirty="0"/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</a:t>
            </a:r>
            <a:r>
              <a:rPr lang="zh-CN" altLang="en-US" dirty="0"/>
              <a:t>并行</a:t>
            </a:r>
            <a:r>
              <a:rPr lang="en-US" altLang="zh-CN" dirty="0"/>
              <a:t> </a:t>
            </a:r>
            <a:r>
              <a:rPr lang="en-US" altLang="en-US" dirty="0"/>
              <a:t>implies a system can perform more than one task simultaneously</a:t>
            </a:r>
            <a:endParaRPr lang="en-US" altLang="en-US" dirty="0"/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</a:t>
            </a:r>
            <a:r>
              <a:rPr lang="zh-CN" altLang="en-US" dirty="0"/>
              <a:t>并发</a:t>
            </a:r>
            <a:r>
              <a:rPr lang="en-US" altLang="zh-CN" dirty="0"/>
              <a:t> </a:t>
            </a:r>
            <a:r>
              <a:rPr lang="en-US" altLang="en-US" dirty="0"/>
              <a:t>supports more than one task making progress</a:t>
            </a:r>
            <a:endParaRPr lang="en-US" altLang="en-US" dirty="0"/>
          </a:p>
          <a:p>
            <a:pPr lvl="1"/>
            <a:r>
              <a:rPr lang="en-US" altLang="en-US" dirty="0"/>
              <a:t>Single processor / core, scheduler providing concurrency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  <a:endParaRPr lang="en-US" altLang="en-US" dirty="0"/>
          </a:p>
        </p:txBody>
      </p:sp>
      <p:sp>
        <p:nvSpPr>
          <p:cNvPr id="20482" name="Rectangle 3"/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  <a:endParaRPr lang="en-US" altLang="en-US" b="1" dirty="0"/>
          </a:p>
          <a:p>
            <a:endParaRPr lang="en-US" altLang="en-US" b="1" dirty="0"/>
          </a:p>
        </p:txBody>
      </p:sp>
      <p:pic>
        <p:nvPicPr>
          <p:cNvPr id="2048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  <a:endParaRPr lang="en-US" altLang="en-US" dirty="0"/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zh-CN" altLang="en-US" b="1" dirty="0">
                <a:solidFill>
                  <a:srgbClr val="006699"/>
                </a:solidFill>
                <a:latin typeface="+mj-lt"/>
              </a:rPr>
              <a:t>数据并行</a:t>
            </a:r>
            <a:r>
              <a:rPr lang="en-US" altLang="zh-CN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zh-CN" altLang="en-US" b="1" dirty="0">
                <a:solidFill>
                  <a:srgbClr val="006699"/>
                </a:solidFill>
                <a:latin typeface="+mj-lt"/>
              </a:rPr>
              <a:t>任务并行</a:t>
            </a:r>
            <a:r>
              <a:rPr lang="en-US" altLang="zh-CN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– distributing threads across cores, each thread performing unique operation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  <a:endParaRPr lang="en-US" altLang="en-US" dirty="0"/>
          </a:p>
        </p:txBody>
      </p:sp>
      <p:pic>
        <p:nvPicPr>
          <p:cNvPr id="2457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Identifies performance gains from adding additional cores to an application that has both serial and parallel components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i="1" dirty="0">
                <a:cs typeface="MS PGothic" panose="020B0600070205080204" pitchFamily="34" charset="-128"/>
              </a:rPr>
              <a:t>S</a:t>
            </a:r>
            <a:r>
              <a:rPr lang="en-US" altLang="en-US" dirty="0">
                <a:cs typeface="MS PGothic" panose="020B0600070205080204" pitchFamily="34" charset="-128"/>
              </a:rPr>
              <a:t> is serial portion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i="1" dirty="0">
                <a:cs typeface="MS PGothic" panose="020B0600070205080204" pitchFamily="34" charset="-128"/>
              </a:rPr>
              <a:t>N</a:t>
            </a:r>
            <a:r>
              <a:rPr lang="en-US" altLang="en-US" dirty="0">
                <a:cs typeface="MS PGothic" panose="020B0600070205080204" pitchFamily="34" charset="-128"/>
              </a:rPr>
              <a:t> processing cores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That is, if application is 75% parallel / 25% serial, moving from 1 to 2 cores results in speedup of 1.6 times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As </a:t>
            </a:r>
            <a:r>
              <a:rPr lang="en-US" altLang="en-US" i="1" dirty="0">
                <a:cs typeface="MS PGothic" panose="020B0600070205080204" pitchFamily="34" charset="-128"/>
              </a:rPr>
              <a:t>N</a:t>
            </a:r>
            <a:r>
              <a:rPr lang="en-US" altLang="en-US" dirty="0">
                <a:cs typeface="MS PGothic" panose="020B0600070205080204" pitchFamily="34" charset="-128"/>
              </a:rPr>
              <a:t> approaches infinity, speedup approaches 1 / </a:t>
            </a:r>
            <a:r>
              <a:rPr lang="en-US" altLang="en-US" i="1" dirty="0">
                <a:cs typeface="MS PGothic" panose="020B0600070205080204" pitchFamily="34" charset="-128"/>
              </a:rPr>
              <a:t>S</a:t>
            </a:r>
            <a:endParaRPr lang="en-US" altLang="en-US" i="1" dirty="0">
              <a:cs typeface="MS PGothic" panose="020B0600070205080204" pitchFamily="34" charset="-128"/>
            </a:endParaRP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MS PGothic" panose="020B0600070205080204" pitchFamily="34" charset="-128"/>
              </a:rPr>
            </a:br>
            <a:r>
              <a:rPr lang="en-US" altLang="en-US" b="1" dirty="0">
                <a:cs typeface="MS PGothic" panose="020B0600070205080204" pitchFamily="34" charset="-128"/>
              </a:rPr>
              <a:t>Serial portion of an application has disproportionate  effect on performance gained by adding additional cores</a:t>
            </a:r>
            <a:endParaRPr lang="en-US" altLang="en-US" b="1" dirty="0">
              <a:cs typeface="MS PGothic" panose="020B0600070205080204" pitchFamily="34" charset="-128"/>
            </a:endParaRP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But does the law take into account contemporary multicore systems?</a:t>
            </a:r>
            <a:endParaRPr lang="en-US" altLang="en-US" dirty="0">
              <a:cs typeface="MS PGothic" panose="020B0600070205080204" pitchFamily="34" charset="-128"/>
            </a:endParaRPr>
          </a:p>
        </p:txBody>
      </p:sp>
      <p:pic>
        <p:nvPicPr>
          <p:cNvPr id="25603" name="Picture 1" descr="Screen Shot 2012-12-04 at 7.54.07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  <a:endParaRPr lang="en-US" altLang="en-US" dirty="0"/>
          </a:p>
        </p:txBody>
      </p:sp>
      <p:pic>
        <p:nvPicPr>
          <p:cNvPr id="27650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411288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zh-CN" altLang="en-US" b="1" dirty="0">
                <a:solidFill>
                  <a:srgbClr val="006699"/>
                </a:solidFill>
                <a:latin typeface="+mj-lt"/>
              </a:rPr>
              <a:t>用户线程</a:t>
            </a:r>
            <a:r>
              <a:rPr lang="en-US" altLang="zh-CN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- management done by user-level threads library</a:t>
            </a:r>
            <a:endParaRPr lang="en-US" altLang="en-US" dirty="0"/>
          </a:p>
          <a:p>
            <a:r>
              <a:rPr lang="en-US" altLang="en-US" dirty="0"/>
              <a:t>Three primary thread libraries:</a:t>
            </a:r>
            <a:endParaRPr lang="en-US" altLang="en-US" dirty="0"/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  <a:endParaRPr lang="en-US" altLang="en-US" dirty="0"/>
          </a:p>
          <a:p>
            <a:pPr lvl="1"/>
            <a:r>
              <a:rPr lang="en-US" altLang="en-US" dirty="0"/>
              <a:t> Java threads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zh-CN" altLang="en-US" b="1" dirty="0">
                <a:solidFill>
                  <a:srgbClr val="006699"/>
                </a:solidFill>
                <a:latin typeface="+mj-lt"/>
              </a:rPr>
              <a:t>内核线程</a:t>
            </a:r>
            <a:r>
              <a:rPr lang="en-US" altLang="zh-CN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- Supported by the Kernel</a:t>
            </a:r>
            <a:endParaRPr lang="en-US" altLang="en-US" dirty="0"/>
          </a:p>
          <a:p>
            <a:r>
              <a:rPr lang="en-US" altLang="en-US" dirty="0"/>
              <a:t>Examples – virtually all general -purpose operating systems, including:</a:t>
            </a:r>
            <a:endParaRPr lang="en-US" altLang="en-US" dirty="0"/>
          </a:p>
          <a:p>
            <a:pPr lvl="1"/>
            <a:r>
              <a:rPr lang="en-US" altLang="en-US" dirty="0"/>
              <a:t>Windows </a:t>
            </a:r>
            <a:endParaRPr lang="en-US" altLang="en-US" dirty="0"/>
          </a:p>
          <a:p>
            <a:pPr lvl="1"/>
            <a:r>
              <a:rPr lang="en-US" altLang="en-US" dirty="0"/>
              <a:t>Linux</a:t>
            </a:r>
            <a:endParaRPr lang="en-US" altLang="en-US" dirty="0"/>
          </a:p>
          <a:p>
            <a:pPr lvl="1"/>
            <a:r>
              <a:rPr lang="en-US" altLang="en-US" dirty="0"/>
              <a:t>Mac OS X</a:t>
            </a:r>
            <a:endParaRPr lang="en-US" altLang="en-US" dirty="0"/>
          </a:p>
          <a:p>
            <a:pPr lvl="1"/>
            <a:r>
              <a:rPr lang="en-US" altLang="en-US" dirty="0"/>
              <a:t>iOS</a:t>
            </a:r>
            <a:endParaRPr lang="en-US" altLang="en-US" dirty="0"/>
          </a:p>
          <a:p>
            <a:pPr lvl="1"/>
            <a:r>
              <a:rPr lang="en-US" altLang="en-US" dirty="0"/>
              <a:t>Android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  <a:endParaRPr lang="en-US" altLang="en-US"/>
          </a:p>
        </p:txBody>
      </p:sp>
      <p:pic>
        <p:nvPicPr>
          <p:cNvPr id="3072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  <a:endParaRPr lang="en-US" altLang="en-US" dirty="0"/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One-to-One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Many-to-Many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  <a:endParaRPr lang="en-US" altLang="en-US" dirty="0"/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  <a:endParaRPr lang="en-US" altLang="en-US" dirty="0"/>
          </a:p>
          <a:p>
            <a:r>
              <a:rPr lang="en-US" altLang="en-US" dirty="0"/>
              <a:t>One thread blocking causes all to block</a:t>
            </a:r>
            <a:endParaRPr lang="en-US" altLang="en-US" dirty="0"/>
          </a:p>
          <a:p>
            <a:r>
              <a:rPr lang="en-US" altLang="en-US" dirty="0"/>
              <a:t>Multiple threads may not run in parallel on </a:t>
            </a:r>
            <a:r>
              <a:rPr lang="en-US" altLang="en-US" dirty="0" err="1"/>
              <a:t>muticore</a:t>
            </a:r>
            <a:r>
              <a:rPr lang="en-US" altLang="en-US" dirty="0"/>
              <a:t> system because only one may be in kernel at a time</a:t>
            </a:r>
            <a:endParaRPr lang="en-US" altLang="en-US" dirty="0"/>
          </a:p>
          <a:p>
            <a:r>
              <a:rPr lang="en-US" altLang="en-US" dirty="0"/>
              <a:t>Few systems currently use this model</a:t>
            </a:r>
            <a:endParaRPr lang="en-US" altLang="en-US" dirty="0"/>
          </a:p>
          <a:p>
            <a:r>
              <a:rPr lang="en-US" altLang="en-US" dirty="0"/>
              <a:t>Examples: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3379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  <a:endParaRPr lang="en-US" altLang="en-US" dirty="0"/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  <a:endParaRPr lang="en-US" altLang="en-US" dirty="0"/>
          </a:p>
          <a:p>
            <a:r>
              <a:rPr lang="en-US" altLang="en-US" dirty="0"/>
              <a:t>Creating a user-level thread creates a kernel thread</a:t>
            </a:r>
            <a:endParaRPr lang="en-US" altLang="en-US" dirty="0"/>
          </a:p>
          <a:p>
            <a:r>
              <a:rPr lang="en-US" altLang="en-US" dirty="0"/>
              <a:t>More concurrency than many-to-one</a:t>
            </a:r>
            <a:endParaRPr lang="en-US" altLang="en-US" dirty="0"/>
          </a:p>
          <a:p>
            <a:r>
              <a:rPr lang="en-US" altLang="en-US" dirty="0"/>
              <a:t>Number of threads per process sometimes restricted due to overhead</a:t>
            </a:r>
            <a:endParaRPr lang="en-US" altLang="en-US" dirty="0"/>
          </a:p>
          <a:p>
            <a:r>
              <a:rPr lang="en-US" altLang="en-US" dirty="0"/>
              <a:t>Examples</a:t>
            </a:r>
            <a:endParaRPr lang="en-US" altLang="en-US" dirty="0"/>
          </a:p>
          <a:p>
            <a:pPr lvl="1"/>
            <a:r>
              <a:rPr lang="en-US" altLang="en-US" dirty="0"/>
              <a:t>Windows</a:t>
            </a:r>
            <a:endParaRPr lang="en-US" altLang="en-US" dirty="0"/>
          </a:p>
          <a:p>
            <a:pPr lvl="1"/>
            <a:r>
              <a:rPr lang="en-US" altLang="en-US" dirty="0"/>
              <a:t>Linux</a:t>
            </a:r>
            <a:endParaRPr lang="en-US" altLang="en-US" dirty="0"/>
          </a:p>
        </p:txBody>
      </p:sp>
      <p:pic>
        <p:nvPicPr>
          <p:cNvPr id="3584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  <a:endParaRPr lang="en-US" altLang="en-US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  <a:endParaRPr lang="en-US" altLang="en-US" dirty="0"/>
          </a:p>
          <a:p>
            <a:r>
              <a:rPr lang="en-US" altLang="en-US" dirty="0"/>
              <a:t>Allows the  operating system to create a sufficient number of kernel threads</a:t>
            </a:r>
            <a:endParaRPr lang="en-US" altLang="en-US" dirty="0"/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  <a:endParaRPr lang="en-US" altLang="en-US" dirty="0"/>
          </a:p>
          <a:p>
            <a:r>
              <a:rPr lang="en-US" altLang="en-US" dirty="0"/>
              <a:t>Otherwise not very common</a:t>
            </a:r>
            <a:endParaRPr lang="en-US" altLang="en-US" dirty="0"/>
          </a:p>
        </p:txBody>
      </p:sp>
      <p:pic>
        <p:nvPicPr>
          <p:cNvPr id="3789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  <a:endParaRPr lang="en-US" altLang="en-US" dirty="0"/>
          </a:p>
        </p:txBody>
      </p:sp>
      <p:pic>
        <p:nvPicPr>
          <p:cNvPr id="3993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  <a:endParaRPr lang="en-US" altLang="en-US" dirty="0"/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  <a:endParaRPr lang="en-US" altLang="en-US" dirty="0"/>
          </a:p>
          <a:p>
            <a:r>
              <a:rPr lang="en-US" altLang="en-US" dirty="0"/>
              <a:t>Two primary ways of implementing</a:t>
            </a:r>
            <a:endParaRPr lang="en-US" altLang="en-US" dirty="0"/>
          </a:p>
          <a:p>
            <a:pPr lvl="1"/>
            <a:r>
              <a:rPr lang="en-US" altLang="en-US" dirty="0"/>
              <a:t>Library entirely in user space</a:t>
            </a:r>
            <a:endParaRPr lang="en-US" altLang="en-US" dirty="0"/>
          </a:p>
          <a:p>
            <a:pPr lvl="1"/>
            <a:r>
              <a:rPr lang="en-US" altLang="en-US" dirty="0"/>
              <a:t>Kernel-level library supported by the OS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  <a:endParaRPr lang="en-US" altLang="en-US" dirty="0"/>
          </a:p>
          <a:p>
            <a:r>
              <a:rPr lang="en-US" altLang="en-US" dirty="0"/>
              <a:t>A POSIX standard (IEEE 1003.1c) API for thread creation and synchronization </a:t>
            </a:r>
            <a:r>
              <a:rPr lang="zh-CN" altLang="en-US" dirty="0"/>
              <a:t>同步</a:t>
            </a:r>
            <a:endParaRPr lang="en-US" altLang="en-US" dirty="0"/>
          </a:p>
          <a:p>
            <a:r>
              <a:rPr lang="en-US" altLang="en-US" b="1" i="1" dirty="0"/>
              <a:t>Specification </a:t>
            </a:r>
            <a:r>
              <a:rPr lang="zh-CN" altLang="en-US" b="1" i="1" dirty="0"/>
              <a:t>规范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 </a:t>
            </a:r>
            <a:r>
              <a:rPr lang="zh-CN" altLang="en-US" b="1" i="1" dirty="0"/>
              <a:t>实现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  <a:endParaRPr lang="en-US" altLang="en-US" dirty="0"/>
          </a:p>
          <a:p>
            <a:r>
              <a:rPr lang="en-US" altLang="en-US" dirty="0"/>
              <a:t>Common in UNIX operating systems (Linux &amp; Mac OS X)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  <a:endParaRPr lang="en-US" altLang="en-US" dirty="0"/>
          </a:p>
        </p:txBody>
      </p:sp>
      <p:pic>
        <p:nvPicPr>
          <p:cNvPr id="4608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949325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  <a:endParaRPr lang="en-US" altLang="en-US" dirty="0"/>
          </a:p>
        </p:txBody>
      </p:sp>
      <p:pic>
        <p:nvPicPr>
          <p:cNvPr id="47106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  <a:endParaRPr lang="en-US" altLang="en-US" dirty="0"/>
          </a:p>
        </p:txBody>
      </p:sp>
      <p:pic>
        <p:nvPicPr>
          <p:cNvPr id="4813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541176" y="226237"/>
            <a:ext cx="8615524" cy="576262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  <a:endParaRPr lang="en-US" altLang="en-US" dirty="0"/>
          </a:p>
        </p:txBody>
      </p:sp>
      <p:pic>
        <p:nvPicPr>
          <p:cNvPr id="4915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  <a:endParaRPr lang="en-US" altLang="en-US" sz="3000" dirty="0"/>
          </a:p>
        </p:txBody>
      </p:sp>
      <p:pic>
        <p:nvPicPr>
          <p:cNvPr id="5017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893763"/>
            <a:ext cx="6540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  <a:endParaRPr lang="en-US" altLang="en-US" dirty="0"/>
          </a:p>
        </p:txBody>
      </p:sp>
      <p:sp>
        <p:nvSpPr>
          <p:cNvPr id="512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  <a:endParaRPr lang="en-US" altLang="en-US" dirty="0"/>
          </a:p>
          <a:p>
            <a:r>
              <a:rPr lang="en-US" altLang="en-US" dirty="0"/>
              <a:t>Typically implemented using the threads model provided by underlying OS</a:t>
            </a:r>
            <a:endParaRPr lang="en-US" altLang="en-US" dirty="0"/>
          </a:p>
          <a:p>
            <a:r>
              <a:rPr lang="en-US" altLang="en-US" dirty="0"/>
              <a:t>Java threads may be created by:</a:t>
            </a:r>
            <a:endParaRPr lang="en-US" altLang="en-US" dirty="0"/>
          </a:p>
          <a:p>
            <a:pPr lvl="1"/>
            <a:r>
              <a:rPr lang="en-US" altLang="en-US" dirty="0"/>
              <a:t>Extending Thread class</a:t>
            </a:r>
            <a:endParaRPr lang="en-US" altLang="en-US" dirty="0"/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Java Threads</a:t>
            </a:r>
            <a:endParaRPr lang="en-US" altLang="en-US" dirty="0"/>
          </a:p>
        </p:txBody>
      </p:sp>
      <p:sp>
        <p:nvSpPr>
          <p:cNvPr id="53250" name="TextBox 2"/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  <a:endParaRPr kumimoji="0" lang="en-US" altLang="en-US" b="1">
              <a:latin typeface="Verdana" panose="020B0604030504040204" pitchFamily="34" charset="0"/>
            </a:endParaRPr>
          </a:p>
        </p:txBody>
      </p:sp>
      <p:pic>
        <p:nvPicPr>
          <p:cNvPr id="53251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  <a:endParaRPr kumimoji="0" lang="en-US" altLang="en-US" b="1">
              <a:latin typeface="Verdana" panose="020B0604030504040204" pitchFamily="34" charset="0"/>
            </a:endParaRPr>
          </a:p>
        </p:txBody>
      </p:sp>
      <p:pic>
        <p:nvPicPr>
          <p:cNvPr id="5325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  <a:endParaRPr kumimoji="0" lang="en-US" altLang="en-US" b="1">
              <a:latin typeface="Verdana" panose="020B0604030504040204" pitchFamily="34" charset="0"/>
            </a:endParaRPr>
          </a:p>
        </p:txBody>
      </p:sp>
      <p:pic>
        <p:nvPicPr>
          <p:cNvPr id="5325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  <a:endParaRPr lang="en-US" altLang="en-US"/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Rather than explicitly creating threads, Java also allows thread creation around the Executor interface: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The Executor is used as follows: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pic>
        <p:nvPicPr>
          <p:cNvPr id="54275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982788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4083050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  <a:endParaRPr lang="en-US" altLang="en-US"/>
          </a:p>
        </p:txBody>
      </p:sp>
      <p:pic>
        <p:nvPicPr>
          <p:cNvPr id="55298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138906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(Cont.)</a:t>
            </a:r>
            <a:endParaRPr lang="en-US" altLang="en-US" dirty="0"/>
          </a:p>
        </p:txBody>
      </p:sp>
      <p:pic>
        <p:nvPicPr>
          <p:cNvPr id="5632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78000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  <a:endParaRPr lang="en-US" altLang="en-US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  <a:endParaRPr lang="en-US" altLang="en-US" dirty="0"/>
          </a:p>
          <a:p>
            <a:r>
              <a:rPr lang="en-US" altLang="en-US" dirty="0"/>
              <a:t>Creation and management of threads done by compilers and run-time libraries rather than programmers</a:t>
            </a:r>
            <a:endParaRPr lang="en-US" altLang="en-US" dirty="0"/>
          </a:p>
          <a:p>
            <a:r>
              <a:rPr lang="en-US" altLang="en-US" dirty="0"/>
              <a:t>Five methods explored</a:t>
            </a:r>
            <a:endParaRPr lang="en-US" altLang="en-US" dirty="0"/>
          </a:p>
          <a:p>
            <a:pPr lvl="1"/>
            <a:r>
              <a:rPr lang="en-US" altLang="en-US" dirty="0"/>
              <a:t>Thread Pools </a:t>
            </a:r>
            <a:r>
              <a:rPr lang="zh-CN" altLang="en-US" dirty="0"/>
              <a:t>线程池</a:t>
            </a:r>
            <a:endParaRPr lang="en-US" altLang="en-US" dirty="0"/>
          </a:p>
          <a:p>
            <a:pPr lvl="1"/>
            <a:r>
              <a:rPr lang="en-US" altLang="en-US" dirty="0"/>
              <a:t>Fork-Join </a:t>
            </a:r>
            <a:endParaRPr lang="en-US" altLang="en-US" dirty="0"/>
          </a:p>
          <a:p>
            <a:pPr lvl="1"/>
            <a:r>
              <a:rPr lang="en-US" altLang="en-US" dirty="0"/>
              <a:t>OpenMP</a:t>
            </a:r>
            <a:endParaRPr lang="en-US" altLang="en-US" dirty="0"/>
          </a:p>
          <a:p>
            <a:pPr lvl="1"/>
            <a:r>
              <a:rPr lang="en-US" altLang="en-US" dirty="0"/>
              <a:t>Grand Central Dispatch</a:t>
            </a:r>
            <a:endParaRPr lang="en-US" altLang="en-US" dirty="0"/>
          </a:p>
          <a:p>
            <a:pPr lvl="1"/>
            <a:r>
              <a:rPr lang="en-US" altLang="en-US" dirty="0"/>
              <a:t>Intel Threading Building Blocks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  <a:endParaRPr lang="en-US" altLang="en-US" dirty="0"/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49" y="1081088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  <a:endParaRPr lang="en-US" altLang="en-US" dirty="0"/>
          </a:p>
          <a:p>
            <a:r>
              <a:rPr lang="en-US" altLang="en-US" dirty="0"/>
              <a:t>Advantages:</a:t>
            </a:r>
            <a:endParaRPr lang="en-US" altLang="en-US" dirty="0"/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  <a:endParaRPr lang="en-US" altLang="en-US" dirty="0"/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  <a:endParaRPr lang="en-US" altLang="en-US" dirty="0"/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  <a:endParaRPr lang="en-US" altLang="en-US" dirty="0"/>
          </a:p>
          <a:p>
            <a:pPr lvl="2"/>
            <a:r>
              <a:rPr lang="en-US" altLang="en-US" dirty="0" err="1"/>
              <a:t>i.e.,Tasks</a:t>
            </a:r>
            <a:r>
              <a:rPr lang="en-US" altLang="en-US" dirty="0"/>
              <a:t> could be scheduled to run periodically</a:t>
            </a:r>
            <a:endParaRPr lang="en-US" altLang="en-US" dirty="0"/>
          </a:p>
          <a:p>
            <a:r>
              <a:rPr lang="en-US" altLang="en-US" dirty="0"/>
              <a:t>Windows API supports thread pools:</a:t>
            </a:r>
            <a:endParaRPr lang="en-US" altLang="en-US" dirty="0"/>
          </a:p>
        </p:txBody>
      </p:sp>
      <p:pic>
        <p:nvPicPr>
          <p:cNvPr id="59395" name="Picture 1" descr="Screen Shot 2012-12-04 at 9.17.42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Thread Pools</a:t>
            </a:r>
            <a:endParaRPr lang="en-US" altLang="en-US"/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factory methods for creating thread pools in Executors class:</a:t>
            </a:r>
            <a:endParaRPr lang="en-US" altLang="en-US"/>
          </a:p>
        </p:txBody>
      </p:sp>
      <p:pic>
        <p:nvPicPr>
          <p:cNvPr id="6144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36713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(Cont.)</a:t>
            </a:r>
            <a:endParaRPr lang="en-US" altLang="en-US" dirty="0"/>
          </a:p>
        </p:txBody>
      </p:sp>
      <p:pic>
        <p:nvPicPr>
          <p:cNvPr id="62466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010400" cy="425450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</a:t>
            </a:r>
            <a:endParaRPr lang="en-US" altLang="en-US" dirty="0"/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threads (tasks) are </a:t>
            </a:r>
            <a:r>
              <a:rPr lang="en-US" altLang="en-US" b="1"/>
              <a:t>forked</a:t>
            </a:r>
            <a:r>
              <a:rPr lang="en-US" altLang="en-US"/>
              <a:t>, and then </a:t>
            </a:r>
            <a:r>
              <a:rPr lang="en-US" altLang="en-US" b="1"/>
              <a:t>joined</a:t>
            </a:r>
            <a:r>
              <a:rPr lang="en-US" altLang="en-US"/>
              <a:t>.</a:t>
            </a:r>
            <a:endParaRPr lang="en-US" altLang="en-US"/>
          </a:p>
        </p:txBody>
      </p:sp>
      <p:pic>
        <p:nvPicPr>
          <p:cNvPr id="6349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83845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  <a:endParaRPr lang="en-US" altLang="en-US"/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General algorithm for fork-join strategy:</a:t>
            </a:r>
            <a:endParaRPr lang="en-US" altLang="en-US"/>
          </a:p>
        </p:txBody>
      </p:sp>
      <p:pic>
        <p:nvPicPr>
          <p:cNvPr id="64515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  <a:endParaRPr lang="en-US" altLang="en-US"/>
          </a:p>
        </p:txBody>
      </p:sp>
      <p:pic>
        <p:nvPicPr>
          <p:cNvPr id="6553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82725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  <a:endParaRPr lang="en-US" altLang="en-US"/>
          </a:p>
        </p:txBody>
      </p:sp>
      <p:pic>
        <p:nvPicPr>
          <p:cNvPr id="6656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084388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</a:t>
            </a:r>
            <a:endParaRPr lang="en-US" altLang="en-US" dirty="0"/>
          </a:p>
        </p:txBody>
      </p:sp>
      <p:pic>
        <p:nvPicPr>
          <p:cNvPr id="67586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4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  <a:endParaRPr lang="en-US" altLang="en-US"/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712399" cy="1857375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dirty="0"/>
              <a:t> is an abstract base class</a:t>
            </a:r>
            <a:endParaRPr lang="en-US" altLang="en-US" dirty="0"/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anose="02070309020205020404" pitchFamily="49" charset="0"/>
              </a:rPr>
              <a:t>compute() </a:t>
            </a:r>
            <a:r>
              <a:rPr lang="en-US" altLang="en-US" dirty="0"/>
              <a:t>method) </a:t>
            </a:r>
            <a:endParaRPr lang="en-US" altLang="en-US" dirty="0"/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  <a:endParaRPr lang="en-US" altLang="en-US"/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an API for C, C++, FORTRAN </a:t>
            </a:r>
            <a:endParaRPr lang="en-US" altLang="en-US" dirty="0"/>
          </a:p>
          <a:p>
            <a:r>
              <a:rPr lang="en-US" altLang="en-US" dirty="0"/>
              <a:t>Provides support for parallel programming in shared-memory environments</a:t>
            </a:r>
            <a:endParaRPr lang="en-US" altLang="en-US" dirty="0"/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  <a:endParaRPr lang="en-US" altLang="en-US" dirty="0"/>
          </a:p>
        </p:txBody>
      </p:sp>
      <p:pic>
        <p:nvPicPr>
          <p:cNvPr id="69635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0894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Run the for loop in parallel</a:t>
            </a:r>
            <a:endParaRPr lang="en-US" altLang="en-US"/>
          </a:p>
        </p:txBody>
      </p:sp>
      <p:pic>
        <p:nvPicPr>
          <p:cNvPr id="7168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2570163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dirty="0"/>
              <a:t>Apple technology for macOS and iOS operating systems</a:t>
            </a:r>
            <a:endParaRPr lang="en-US" altLang="en-US" dirty="0"/>
          </a:p>
          <a:p>
            <a:r>
              <a:rPr lang="en-US" altLang="en-US" dirty="0"/>
              <a:t>Extensions to C, C++ and Objective-C languages, API, and run-time library</a:t>
            </a:r>
            <a:endParaRPr lang="en-US" altLang="en-US" dirty="0"/>
          </a:p>
          <a:p>
            <a:r>
              <a:rPr lang="en-US" altLang="en-US" dirty="0"/>
              <a:t>Allows identification of parallel sections</a:t>
            </a:r>
            <a:endParaRPr lang="en-US" altLang="en-US" dirty="0"/>
          </a:p>
          <a:p>
            <a:r>
              <a:rPr lang="en-US" altLang="en-US" dirty="0"/>
              <a:t>Manages most of the details of threading</a:t>
            </a:r>
            <a:endParaRPr lang="en-US" altLang="en-US" dirty="0"/>
          </a:p>
          <a:p>
            <a:r>
              <a:rPr lang="en-US" altLang="en-US" dirty="0"/>
              <a:t>Block is in “^{ }” 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anose="02070309020205020404" pitchFamily="49" charset="0"/>
              </a:rPr>
              <a:t>ˆ{ printf("I am a block"); } </a:t>
            </a:r>
            <a:br>
              <a:rPr lang="ro-RO" altLang="en-US" b="1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r>
              <a:rPr lang="en-US" altLang="en-US" dirty="0"/>
              <a:t>Blocks placed in dispatch queue</a:t>
            </a:r>
            <a:endParaRPr lang="en-US" altLang="en-US" dirty="0"/>
          </a:p>
          <a:p>
            <a:pPr lvl="1"/>
            <a:r>
              <a:rPr lang="en-US" altLang="en-US" dirty="0"/>
              <a:t>Assigned to available thread in thread pool when removed from queue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  <a:endParaRPr lang="en-US" altLang="en-US" dirty="0"/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2" y="1203325"/>
            <a:ext cx="7688426" cy="4478338"/>
          </a:xfrm>
        </p:spPr>
        <p:txBody>
          <a:bodyPr/>
          <a:lstStyle/>
          <a:p>
            <a:r>
              <a:rPr lang="en-US" altLang="en-US" dirty="0"/>
              <a:t>Two types of dispatch queues:</a:t>
            </a:r>
            <a:endParaRPr lang="en-US" altLang="en-US" dirty="0"/>
          </a:p>
          <a:p>
            <a:pPr lvl="1"/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 queue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Programmers can create additional serial queues within program</a:t>
            </a:r>
            <a:endParaRPr lang="en-US" altLang="en-US" dirty="0"/>
          </a:p>
          <a:p>
            <a:pPr lvl="1"/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  <a:endParaRPr lang="en-US" altLang="en-US" dirty="0"/>
          </a:p>
          <a:p>
            <a:pPr lvl="2"/>
            <a:r>
              <a:rPr lang="en-US" altLang="en-US" dirty="0"/>
              <a:t>Four system wide queues divided by quality of service:</a:t>
            </a:r>
            <a:endParaRPr lang="en-US" alt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QOS_CLASS_USER_INTERACTIVE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QOS_CLASS_USER_INITIATED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QOS_CLASS_USER_UTILITY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QOS_CLASS_USER_BACKGROUND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</a:t>
            </a:r>
            <a:endParaRPr lang="en-US" altLang="en-US" dirty="0"/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the Swift language a task is defined as a closure – similar to a block, minus the caret</a:t>
            </a:r>
            <a:endParaRPr lang="en-US" altLang="en-US" dirty="0"/>
          </a:p>
          <a:p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anose="02070309020205020404" pitchFamily="49" charset="0"/>
              </a:rPr>
              <a:t>dispatch_async</a:t>
            </a:r>
            <a:r>
              <a:rPr lang="en-US" altLang="en-US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endParaRPr lang="en-US" altLang="en-US" dirty="0"/>
          </a:p>
        </p:txBody>
      </p:sp>
      <p:pic>
        <p:nvPicPr>
          <p:cNvPr id="7680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2432050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  <a:endParaRPr lang="en-US" altLang="en-US" dirty="0"/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Template library for designing parallel C++ programs</a:t>
            </a:r>
            <a:endParaRPr lang="en-US" altLang="en-US" dirty="0"/>
          </a:p>
          <a:p>
            <a:r>
              <a:rPr lang="en-US" altLang="en-US" dirty="0"/>
              <a:t>A serial version of a simple for loop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  <a:endParaRPr lang="en-US" altLang="en-US" dirty="0"/>
          </a:p>
        </p:txBody>
      </p:sp>
      <p:pic>
        <p:nvPicPr>
          <p:cNvPr id="77827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2112963"/>
            <a:ext cx="37211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071938"/>
            <a:ext cx="6642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  <a:endParaRPr lang="en-US" altLang="en-US" dirty="0"/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2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  <a:endParaRPr lang="en-US" altLang="en-US" dirty="0"/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</a:t>
            </a:r>
            <a:r>
              <a:rPr lang="zh-CN" altLang="en-US" dirty="0"/>
              <a:t>线程取消</a:t>
            </a:r>
            <a:r>
              <a:rPr lang="en-US" altLang="en-US" dirty="0"/>
              <a:t> of target thread</a:t>
            </a:r>
            <a:endParaRPr lang="en-US" altLang="en-US" dirty="0"/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 </a:t>
            </a:r>
            <a:r>
              <a:rPr lang="zh-CN" altLang="en-US" dirty="0"/>
              <a:t>线程本地存储</a:t>
            </a:r>
            <a:endParaRPr lang="en-US" altLang="en-US" dirty="0"/>
          </a:p>
          <a:p>
            <a:r>
              <a:rPr lang="en-US" altLang="en-US" dirty="0"/>
              <a:t>Scheduler Activations </a:t>
            </a:r>
            <a:endParaRPr lang="en-US" altLang="en-US" dirty="0"/>
          </a:p>
          <a:p>
            <a:r>
              <a:rPr lang="en-US" altLang="en-US" dirty="0"/>
              <a:t>Thread Safe </a:t>
            </a:r>
            <a:r>
              <a:rPr lang="zh-CN" altLang="en-US" dirty="0"/>
              <a:t>线程安全</a:t>
            </a:r>
            <a:endParaRPr lang="en-US" altLang="en-US" dirty="0"/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  <a:endParaRPr lang="en-US" altLang="en-US" dirty="0"/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  <a:endParaRPr lang="en-US" altLang="en-US"/>
          </a:p>
          <a:p>
            <a:pPr lvl="1"/>
            <a:r>
              <a:rPr lang="en-US" altLang="en-US"/>
              <a:t>Some UNIXes have two versions of fork</a:t>
            </a:r>
            <a:endParaRPr lang="en-US" altLang="en-US"/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are used in UNIX systems to notify a process that a particular event has occurred.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is used to process signals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generated by particular event</a:t>
            </a:r>
            <a:endParaRPr lang="en-US" dirty="0">
              <a:ea typeface="MS PGothic" panose="020B0600070205080204" pitchFamily="34" charset="-128"/>
            </a:endParaRP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delivered to a process</a:t>
            </a:r>
            <a:endParaRPr lang="en-US" dirty="0">
              <a:ea typeface="MS PGothic" panose="020B0600070205080204" pitchFamily="34" charset="-128"/>
            </a:endParaRPr>
          </a:p>
          <a:p>
            <a:pPr marL="798830" lvl="1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Signal is handled by one of two signal handlers:</a:t>
            </a:r>
            <a:endParaRPr lang="en-US" dirty="0">
              <a:ea typeface="MS PGothic" panose="020B0600070205080204" pitchFamily="34" charset="-128"/>
            </a:endParaRPr>
          </a:p>
          <a:p>
            <a:pPr marL="1142365" lvl="2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default</a:t>
            </a:r>
            <a:endParaRPr lang="en-US" dirty="0">
              <a:ea typeface="MS PGothic" panose="020B0600070205080204" pitchFamily="34" charset="-128"/>
            </a:endParaRPr>
          </a:p>
          <a:p>
            <a:pPr marL="1142365" lvl="2" indent="-342265">
              <a:buFont typeface="Webdings" panose="05030102010509060703" charset="0"/>
              <a:buAutoNum type="arabicPeriod"/>
              <a:defRPr/>
            </a:pPr>
            <a:r>
              <a:rPr lang="en-US" dirty="0">
                <a:ea typeface="MS PGothic" panose="020B0600070205080204" pitchFamily="34" charset="-128"/>
              </a:rPr>
              <a:t>user-defined</a:t>
            </a:r>
            <a:endParaRPr 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MS PGothic" panose="020B0600070205080204" pitchFamily="34" charset="-128"/>
                <a:cs typeface="MS PGothic" panose="020B0600070205080204" pitchFamily="34" charset="-128"/>
              </a:rPr>
              <a:t>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that kernel runs when handling signal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80415" lvl="1" indent="-380365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can override default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80415" lvl="1" indent="-380365"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For single-threaded, signal delivered to process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Where should a signal be delivered for multi-threaded? 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the thread to which the signal applies</a:t>
            </a:r>
            <a:endParaRPr lang="en-US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every thread in the process</a:t>
            </a:r>
            <a:endParaRPr lang="en-US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Deliver the signal to certain threads in the process</a:t>
            </a:r>
            <a:endParaRPr lang="en-US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dirty="0">
                <a:ea typeface="MS PGothic" panose="020B0600070205080204" pitchFamily="34" charset="-128"/>
              </a:rPr>
              <a:t>Assign a specific thread to receive all signals for the process</a:t>
            </a:r>
            <a:endParaRPr 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  <a:endParaRPr lang="en-US" altLang="en-US" dirty="0"/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  <a:endParaRPr lang="en-US" altLang="en-US" dirty="0"/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Two general approaches:</a:t>
            </a:r>
            <a:endParaRPr lang="en-US" altLang="en-US" dirty="0"/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  <a:endParaRPr lang="en-US" altLang="en-US" dirty="0"/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  <a:endParaRPr lang="en-US" altLang="en-US" dirty="0"/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4022725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(Cont.)</a:t>
            </a:r>
            <a:endParaRPr lang="en-US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Invoking thread cancellation requests cancellation, but actual cancellation depends on thread state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If thread has cancellation disabled, cancellation remains pending until thread enables it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Default type is deferred</a:t>
            </a:r>
            <a:endParaRPr lang="en-US" altLang="en-US" dirty="0">
              <a:cs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pthread_testcancel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  <a:endParaRPr lang="en-US" altLang="en-US" dirty="0"/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On Linux systems, thread cancellation is handled through signals</a:t>
            </a:r>
            <a:endParaRPr lang="en-US" altLang="en-US" dirty="0">
              <a:cs typeface="MS PGothic" panose="020B0600070205080204" pitchFamily="34" charset="-128"/>
            </a:endParaRPr>
          </a:p>
        </p:txBody>
      </p:sp>
      <p:pic>
        <p:nvPicPr>
          <p:cNvPr id="8909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Cancellation in Java</a:t>
            </a:r>
            <a:endParaRPr lang="en-US" altLang="en-US" dirty="0"/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Deferred cancellation uses the </a:t>
            </a:r>
            <a:r>
              <a:rPr lang="en-US" altLang="en-US" b="1">
                <a:latin typeface="Courier New" panose="02070309020205020404" pitchFamily="49" charset="0"/>
              </a:rPr>
              <a:t>interrupt()</a:t>
            </a:r>
            <a:r>
              <a:rPr lang="en-US" altLang="en-US"/>
              <a:t> method, which sets the interrupted status of a thread.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 thread can then check to see if it has been interrupted:</a:t>
            </a:r>
            <a:endParaRPr lang="en-US" altLang="en-US"/>
          </a:p>
        </p:txBody>
      </p:sp>
      <p:pic>
        <p:nvPicPr>
          <p:cNvPr id="91139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812925"/>
            <a:ext cx="571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4195763"/>
            <a:ext cx="5664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  <a:endParaRPr lang="en-US" altLang="en-US" dirty="0"/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44783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  <a:endParaRPr lang="en-US" altLang="en-US" dirty="0"/>
          </a:p>
          <a:p>
            <a:r>
              <a:rPr lang="en-US" altLang="en-US" dirty="0"/>
              <a:t>Useful when you do not have control over the thread creation process (i.e., when using a thread pool)</a:t>
            </a:r>
            <a:endParaRPr lang="en-US" altLang="en-US" dirty="0"/>
          </a:p>
          <a:p>
            <a:r>
              <a:rPr lang="en-US" altLang="en-US" dirty="0"/>
              <a:t>Different from local variables</a:t>
            </a:r>
            <a:endParaRPr lang="en-US" altLang="en-US" dirty="0"/>
          </a:p>
          <a:p>
            <a:pPr lvl="1"/>
            <a:r>
              <a:rPr lang="en-US" altLang="en-US" dirty="0"/>
              <a:t>Local variables visible only during single function invocation</a:t>
            </a:r>
            <a:endParaRPr lang="en-US" altLang="en-US" dirty="0"/>
          </a:p>
          <a:p>
            <a:pPr lvl="1"/>
            <a:r>
              <a:rPr lang="en-US" altLang="en-US" dirty="0"/>
              <a:t>TLS visible across function invocations</a:t>
            </a:r>
            <a:endParaRPr lang="en-US" altLang="en-US" dirty="0"/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  <a:endParaRPr lang="en-US" altLang="en-US" dirty="0"/>
          </a:p>
          <a:p>
            <a:pPr lvl="1"/>
            <a:r>
              <a:rPr lang="en-US" altLang="en-US" dirty="0"/>
              <a:t>TLS is unique to each thread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  <a:endParaRPr lang="en-US" altLang="en-US" dirty="0"/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  <a:endParaRPr lang="en-US" altLang="en-US" dirty="0"/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  <a:endParaRPr lang="en-US" altLang="en-US" dirty="0"/>
          </a:p>
          <a:p>
            <a:pPr lvl="1"/>
            <a:r>
              <a:rPr lang="en-US" altLang="en-US" dirty="0"/>
              <a:t>Each LWP attached to kernel thread</a:t>
            </a:r>
            <a:endParaRPr lang="en-US" altLang="en-US" dirty="0"/>
          </a:p>
          <a:p>
            <a:pPr lvl="1"/>
            <a:r>
              <a:rPr lang="en-US" altLang="en-US" dirty="0"/>
              <a:t>How many LWPs to create?</a:t>
            </a:r>
            <a:endParaRPr lang="en-US" altLang="en-US" dirty="0"/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  <a:endParaRPr lang="en-US" altLang="en-US" dirty="0"/>
          </a:p>
          <a:p>
            <a:r>
              <a:rPr lang="en-US" altLang="en-US" dirty="0"/>
              <a:t>This communication allows an application to maintain the correct number kernel threads</a:t>
            </a:r>
            <a:endParaRPr lang="en-US" altLang="en-US" dirty="0"/>
          </a:p>
        </p:txBody>
      </p:sp>
      <p:pic>
        <p:nvPicPr>
          <p:cNvPr id="9421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  <a:endParaRPr lang="en-US" altLang="en-US" dirty="0"/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69188" cy="4492625"/>
          </a:xfrm>
        </p:spPr>
        <p:txBody>
          <a:bodyPr/>
          <a:lstStyle/>
          <a:p>
            <a:r>
              <a:rPr lang="en-US" altLang="en-US"/>
              <a:t>Windows Threads</a:t>
            </a:r>
            <a:endParaRPr lang="en-US" altLang="en-US"/>
          </a:p>
          <a:p>
            <a:r>
              <a:rPr lang="en-US" altLang="en-US"/>
              <a:t>Linux Threads</a:t>
            </a:r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</a:t>
            </a:r>
            <a:endParaRPr lang="en-US" altLang="en-US" dirty="0"/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5141913"/>
          </a:xfrm>
        </p:spPr>
        <p:txBody>
          <a:bodyPr/>
          <a:lstStyle/>
          <a:p>
            <a:r>
              <a:rPr lang="en-US" altLang="en-US" dirty="0"/>
              <a:t>Windows API – primary API for Windows applications</a:t>
            </a:r>
            <a:endParaRPr lang="en-US" altLang="en-US" dirty="0"/>
          </a:p>
          <a:p>
            <a:r>
              <a:rPr lang="en-US" altLang="en-US" dirty="0"/>
              <a:t>Implements the one-to-one mapping, kernel-level</a:t>
            </a:r>
            <a:endParaRPr lang="en-US" altLang="en-US" dirty="0"/>
          </a:p>
          <a:p>
            <a:r>
              <a:rPr lang="en-US" altLang="en-US" dirty="0"/>
              <a:t>Each thread contains</a:t>
            </a:r>
            <a:endParaRPr lang="en-US" altLang="en-US" dirty="0"/>
          </a:p>
          <a:p>
            <a:pPr lvl="1"/>
            <a:r>
              <a:rPr lang="en-US" altLang="en-US" dirty="0"/>
              <a:t>A thread id</a:t>
            </a:r>
            <a:endParaRPr lang="en-US" altLang="en-US" dirty="0"/>
          </a:p>
          <a:p>
            <a:pPr lvl="1"/>
            <a:r>
              <a:rPr lang="en-US" altLang="en-US" dirty="0"/>
              <a:t>Register set representing state of processor</a:t>
            </a:r>
            <a:endParaRPr lang="en-US" altLang="en-US" dirty="0"/>
          </a:p>
          <a:p>
            <a:pPr lvl="1"/>
            <a:r>
              <a:rPr lang="en-US" altLang="en-US" dirty="0"/>
              <a:t>Separate user and kernel stacks for when thread runs in user mode or kernel mode</a:t>
            </a:r>
            <a:endParaRPr lang="en-US" altLang="en-US" dirty="0"/>
          </a:p>
          <a:p>
            <a:pPr lvl="1"/>
            <a:r>
              <a:rPr lang="en-US" altLang="en-US" dirty="0"/>
              <a:t>Private data storage area used by run-time libraries and dynamic link libraries (DLLs)</a:t>
            </a:r>
            <a:endParaRPr lang="en-US" altLang="en-US" dirty="0"/>
          </a:p>
          <a:p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(Cont.)</a:t>
            </a:r>
            <a:endParaRPr lang="en-US" altLang="en-US" dirty="0"/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5141913"/>
          </a:xfrm>
        </p:spPr>
        <p:txBody>
          <a:bodyPr/>
          <a:lstStyle/>
          <a:p>
            <a:r>
              <a:rPr lang="en-US" altLang="en-US" dirty="0"/>
              <a:t>The primary data structures of a thread include:</a:t>
            </a:r>
            <a:endParaRPr lang="en-US" altLang="en-US" dirty="0"/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  <a:endParaRPr lang="en-US" altLang="en-US" dirty="0"/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  <a:endParaRPr lang="en-US" altLang="en-US" dirty="0"/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  <a:endParaRPr lang="en-US" altLang="en-US" dirty="0"/>
          </a:p>
        </p:txBody>
      </p:sp>
      <p:pic>
        <p:nvPicPr>
          <p:cNvPr id="10240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498600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Linux refers to them as </a:t>
            </a:r>
            <a:r>
              <a:rPr lang="en-US" altLang="en-US" b="1" i="1" dirty="0">
                <a:cs typeface="MS PGothic" panose="020B0600070205080204" pitchFamily="34" charset="-128"/>
              </a:rPr>
              <a:t>tasks</a:t>
            </a:r>
            <a:r>
              <a:rPr lang="en-US" altLang="en-US" dirty="0">
                <a:cs typeface="MS PGothic" panose="020B0600070205080204" pitchFamily="34" charset="-128"/>
              </a:rPr>
              <a:t> rather than </a:t>
            </a:r>
            <a:r>
              <a:rPr lang="en-US" altLang="en-US" b="1" i="1" dirty="0">
                <a:cs typeface="MS PGothic" panose="020B0600070205080204" pitchFamily="34" charset="-128"/>
              </a:rPr>
              <a:t>threads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cs typeface="MS PGothic" panose="020B0600070205080204" pitchFamily="34" charset="-128"/>
              </a:rPr>
              <a:t>Thread creation is done through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clone()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MS PGothic" panose="020B0600070205080204" pitchFamily="34" charset="-128"/>
              </a:rPr>
              <a:t>system call</a:t>
            </a:r>
            <a:endParaRPr lang="en-US" altLang="en-US" dirty="0">
              <a:cs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clone() </a:t>
            </a:r>
            <a:r>
              <a:rPr lang="en-US" altLang="en-US" dirty="0">
                <a:cs typeface="MS PGothic" panose="020B0600070205080204" pitchFamily="34" charset="-128"/>
              </a:rPr>
              <a:t>allows a child task to share the address space of the parent task (process)</a:t>
            </a:r>
            <a:endParaRPr lang="en-US" altLang="en-US" dirty="0">
              <a:cs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dirty="0"/>
              <a:t>Flags control behavior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Courier New" panose="02070309020205020404" pitchFamily="49" charset="0"/>
              </a:rPr>
              <a:t>points to process data structures (shared or unique)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US" altLang="en-US" dirty="0">
              <a:cs typeface="MS PGothic" panose="020B0600070205080204" pitchFamily="34" charset="-128"/>
            </a:endParaRPr>
          </a:p>
        </p:txBody>
      </p:sp>
      <p:pic>
        <p:nvPicPr>
          <p:cNvPr id="10445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7a39937-dc9b-4c46-b45d-5e5b0913ff31"/>
  <p:tag name="COMMONDATA" val="eyJoZGlkIjoiMzgwMmY0NTc1NWE0ZWI0NzI4MjdjMjVhY2VhMTkyNzQifQ==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12380</Words>
  <Application>WPS 演示</Application>
  <PresentationFormat>On-screen Show (4:3)</PresentationFormat>
  <Paragraphs>439</Paragraphs>
  <Slides>63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8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Wingdings</vt:lpstr>
      <vt:lpstr>微软雅黑</vt:lpstr>
      <vt:lpstr>Arial Unicode MS</vt:lpstr>
      <vt:lpstr>Courier New</vt:lpstr>
      <vt:lpstr>Webdings</vt:lpstr>
      <vt:lpstr>os-8</vt:lpstr>
      <vt:lpstr>Chapter 4:  Threads &amp; Concurrency 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Implicit Threading</vt:lpstr>
      <vt:lpstr>Thread Pools</vt:lpstr>
      <vt:lpstr>Java Thread Pools</vt:lpstr>
      <vt:lpstr>Java Thread Pools (Cont.)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OpenMP</vt:lpstr>
      <vt:lpstr>PowerPoint 演示文稿</vt:lpstr>
      <vt:lpstr>Grand Central Dispatch</vt:lpstr>
      <vt:lpstr>Grand Central Dispatch</vt:lpstr>
      <vt:lpstr>Grand Central Dispatch</vt:lpstr>
      <vt:lpstr>Intel Threading Building Blocks (TBB)</vt:lpstr>
      <vt:lpstr>Threading Issues</vt:lpstr>
      <vt:lpstr>Semantics of fork() and exec()</vt:lpstr>
      <vt:lpstr>Signal Handling</vt:lpstr>
      <vt:lpstr>Signal Handling (Cont.)</vt:lpstr>
      <vt:lpstr>Thread Cancellation</vt:lpstr>
      <vt:lpstr>Thread Cancellation (Cont.)</vt:lpstr>
      <vt:lpstr>Thread Cancellation in Java</vt:lpstr>
      <vt:lpstr>Thread-Local Storage</vt:lpstr>
      <vt:lpstr>Scheduler Activations</vt:lpstr>
      <vt:lpstr>Operating System Examples</vt:lpstr>
      <vt:lpstr>Windows Threads</vt:lpstr>
      <vt:lpstr>Windows Threads (Cont.)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左劼</cp:lastModifiedBy>
  <cp:revision>232</cp:revision>
  <cp:lastPrinted>2013-09-10T17:57:00Z</cp:lastPrinted>
  <dcterms:created xsi:type="dcterms:W3CDTF">2011-01-13T23:43:00Z</dcterms:created>
  <dcterms:modified xsi:type="dcterms:W3CDTF">2023-03-15T10:44:38Z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31B46B2C8D60457D9FE0B2D276D1B42A</vt:lpwstr>
  </property>
  <property fmtid="{D5CDD505-2E9C-101B-9397-08002B2CF9AE}" pid="3" name="KSOProductBuildVer">
    <vt:lpwstr>2052-11.1.0.13703</vt:lpwstr>
  </property>
</Properties>
</file>