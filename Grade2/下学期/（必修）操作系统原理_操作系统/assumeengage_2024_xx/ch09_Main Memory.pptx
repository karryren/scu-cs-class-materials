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71"/>
  </p:handoutMasterIdLst>
  <p:sldIdLst>
    <p:sldId id="331" r:id="rId3"/>
    <p:sldId id="332" r:id="rId5"/>
    <p:sldId id="333" r:id="rId6"/>
    <p:sldId id="334" r:id="rId7"/>
    <p:sldId id="337" r:id="rId8"/>
    <p:sldId id="338" r:id="rId9"/>
    <p:sldId id="339" r:id="rId10"/>
    <p:sldId id="460" r:id="rId11"/>
    <p:sldId id="461" r:id="rId12"/>
    <p:sldId id="340" r:id="rId13"/>
    <p:sldId id="341" r:id="rId14"/>
    <p:sldId id="403" r:id="rId15"/>
    <p:sldId id="404" r:id="rId16"/>
    <p:sldId id="342" r:id="rId17"/>
    <p:sldId id="343" r:id="rId18"/>
    <p:sldId id="348" r:id="rId19"/>
    <p:sldId id="399" r:id="rId20"/>
    <p:sldId id="349" r:id="rId21"/>
    <p:sldId id="350" r:id="rId22"/>
    <p:sldId id="351" r:id="rId23"/>
    <p:sldId id="352" r:id="rId24"/>
    <p:sldId id="353" r:id="rId25"/>
    <p:sldId id="360" r:id="rId26"/>
    <p:sldId id="361" r:id="rId27"/>
    <p:sldId id="362" r:id="rId28"/>
    <p:sldId id="363" r:id="rId29"/>
    <p:sldId id="419" r:id="rId30"/>
    <p:sldId id="365" r:id="rId31"/>
    <p:sldId id="366" r:id="rId32"/>
    <p:sldId id="367" r:id="rId33"/>
    <p:sldId id="400" r:id="rId34"/>
    <p:sldId id="368" r:id="rId35"/>
    <p:sldId id="369" r:id="rId36"/>
    <p:sldId id="370" r:id="rId37"/>
    <p:sldId id="371" r:id="rId38"/>
    <p:sldId id="372" r:id="rId39"/>
    <p:sldId id="373" r:id="rId40"/>
    <p:sldId id="374" r:id="rId41"/>
    <p:sldId id="375" r:id="rId42"/>
    <p:sldId id="376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401" r:id="rId53"/>
    <p:sldId id="431" r:id="rId54"/>
    <p:sldId id="432" r:id="rId55"/>
    <p:sldId id="433" r:id="rId56"/>
    <p:sldId id="434" r:id="rId57"/>
    <p:sldId id="435" r:id="rId58"/>
    <p:sldId id="436" r:id="rId59"/>
    <p:sldId id="437" r:id="rId60"/>
    <p:sldId id="438" r:id="rId61"/>
    <p:sldId id="439" r:id="rId62"/>
    <p:sldId id="440" r:id="rId63"/>
    <p:sldId id="441" r:id="rId64"/>
    <p:sldId id="442" r:id="rId65"/>
    <p:sldId id="443" r:id="rId66"/>
    <p:sldId id="444" r:id="rId67"/>
    <p:sldId id="445" r:id="rId68"/>
    <p:sldId id="446" r:id="rId69"/>
    <p:sldId id="395" r:id="rId70"/>
  </p:sldIdLst>
  <p:sldSz cx="9144000" cy="6858000" type="screen4x3"/>
  <p:notesSz cx="7010400" cy="9296400"/>
  <p:custDataLst>
    <p:tags r:id="rId7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965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tags" Target="tags/tag1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handoutMaster" Target="handoutMasters/handoutMaster1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defTabSz="883285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algn="r" defTabSz="883285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defTabSz="883285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algn="r"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5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  <a:endParaRPr lang="en-US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  <a:endParaRPr lang="en-US" altLang="en-US" dirty="0"/>
          </a:p>
          <a:p>
            <a:r>
              <a:rPr lang="en-US" altLang="en-US" dirty="0"/>
              <a:t>Contiguous Memory Allocation</a:t>
            </a:r>
            <a:endParaRPr lang="en-US" altLang="en-US" dirty="0"/>
          </a:p>
          <a:p>
            <a:r>
              <a:rPr lang="en-US" altLang="en-US" dirty="0"/>
              <a:t>Paging</a:t>
            </a:r>
            <a:endParaRPr lang="en-US" altLang="en-US" dirty="0"/>
          </a:p>
          <a:p>
            <a:r>
              <a:rPr lang="en-US" altLang="en-US" dirty="0"/>
              <a:t>Structure of the Page Table</a:t>
            </a:r>
            <a:endParaRPr lang="en-US" altLang="en-US" dirty="0"/>
          </a:p>
          <a:p>
            <a:r>
              <a:rPr lang="en-US" altLang="en-US" dirty="0"/>
              <a:t>Swapping</a:t>
            </a:r>
            <a:endParaRPr lang="en-US" altLang="en-US" dirty="0"/>
          </a:p>
          <a:p>
            <a:r>
              <a:rPr lang="en-US" altLang="en-US" dirty="0"/>
              <a:t>Example: The Intel 32 and 64-bit Architectures</a:t>
            </a:r>
            <a:endParaRPr lang="en-US" altLang="en-US" dirty="0"/>
          </a:p>
          <a:p>
            <a:r>
              <a:rPr lang="en-US" altLang="en-US" dirty="0"/>
              <a:t>Example: ARMv8 Architecture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6" y="1262063"/>
            <a:ext cx="7735078" cy="4440237"/>
          </a:xfrm>
        </p:spPr>
        <p:txBody>
          <a:bodyPr/>
          <a:lstStyle/>
          <a:p>
            <a:r>
              <a:rPr lang="en-US" altLang="en-US" dirty="0"/>
              <a:t>To provide a detailed description of various ways of organizing memory hardware</a:t>
            </a:r>
            <a:endParaRPr lang="en-US" altLang="en-US" dirty="0"/>
          </a:p>
          <a:p>
            <a:r>
              <a:rPr lang="en-US" altLang="en-US" dirty="0"/>
              <a:t>To discuss various memory-management techniques, </a:t>
            </a:r>
            <a:endParaRPr lang="en-US" altLang="en-US" dirty="0"/>
          </a:p>
          <a:p>
            <a:r>
              <a:rPr lang="en-US" altLang="en-US" dirty="0"/>
              <a:t>To provide a detailed description of the Intel Pentium, which supports both pure segmentation and segmentation with paging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  <a:endParaRPr lang="en-US" altLang="en-US" dirty="0"/>
          </a:p>
        </p:txBody>
      </p:sp>
      <p:sp>
        <p:nvSpPr>
          <p:cNvPr id="61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r>
              <a:rPr lang="en-US" altLang="en-US" dirty="0"/>
              <a:t>Main memory and registers are only storage CPU can access directly</a:t>
            </a:r>
            <a:endParaRPr lang="en-US" altLang="en-US" dirty="0"/>
          </a:p>
          <a:p>
            <a:r>
              <a:rPr lang="en-US" altLang="en-US" dirty="0"/>
              <a:t>Memory unit only sees a stream of:</a:t>
            </a:r>
            <a:endParaRPr lang="en-US" altLang="en-US" dirty="0"/>
          </a:p>
          <a:p>
            <a:pPr lvl="1"/>
            <a:r>
              <a:rPr lang="en-US" altLang="en-US" dirty="0"/>
              <a:t>addresses + read requests, or </a:t>
            </a:r>
            <a:endParaRPr lang="en-US" altLang="en-US" dirty="0"/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dirty="0"/>
              <a:t>Protection of memory required to ensure correct operation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849085" y="1144588"/>
            <a:ext cx="7688424" cy="4926012"/>
          </a:xfrm>
        </p:spPr>
        <p:txBody>
          <a:bodyPr/>
          <a:lstStyle/>
          <a:p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kumimoji="0" lang="en-US" altLang="en-US" dirty="0"/>
              <a:t>Without support, must be loaded into address 0000</a:t>
            </a:r>
            <a:endParaRPr kumimoji="0" lang="en-US" altLang="en-US" dirty="0"/>
          </a:p>
          <a:p>
            <a:r>
              <a:rPr kumimoji="0" lang="en-US" altLang="en-US" dirty="0"/>
              <a:t>Inconvenient to have first user process physical address always at 0000 </a:t>
            </a:r>
            <a:endParaRPr kumimoji="0" lang="en-US" altLang="en-US" dirty="0"/>
          </a:p>
          <a:p>
            <a:pPr lvl="1"/>
            <a:r>
              <a:rPr kumimoji="0" lang="en-US" altLang="en-US" dirty="0"/>
              <a:t>How can it not be?</a:t>
            </a:r>
            <a:endParaRPr lang="en-US" altLang="en-US" dirty="0"/>
          </a:p>
          <a:p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  <a:endParaRPr kumimoji="0" lang="en-US" altLang="ja-JP" dirty="0"/>
          </a:p>
          <a:p>
            <a:pPr lvl="1"/>
            <a:r>
              <a:rPr kumimoji="0" lang="en-US" altLang="en-US" dirty="0"/>
              <a:t>Source code addresses usually symbolic</a:t>
            </a:r>
            <a:endParaRPr kumimoji="0" lang="en-US" altLang="en-US" dirty="0"/>
          </a:p>
          <a:p>
            <a:pPr lvl="1"/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  <a:endParaRPr kumimoji="0" lang="en-US" altLang="en-US" dirty="0"/>
          </a:p>
          <a:p>
            <a:pPr lvl="2"/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/>
            <a:r>
              <a:rPr kumimoji="0" lang="en-US" altLang="en-US" dirty="0"/>
              <a:t>Linker or loader will bind relocatable addresses to absolute addresses</a:t>
            </a:r>
            <a:endParaRPr kumimoji="0" lang="en-US" altLang="en-US" dirty="0"/>
          </a:p>
          <a:p>
            <a:pPr lvl="2"/>
            <a:r>
              <a:rPr kumimoji="0" lang="en-US" altLang="en-US" dirty="0"/>
              <a:t>i.e., 74014</a:t>
            </a:r>
            <a:endParaRPr kumimoji="0" lang="en-US" altLang="en-US" dirty="0"/>
          </a:p>
          <a:p>
            <a:pPr lvl="1"/>
            <a:r>
              <a:rPr kumimoji="0" lang="en-US" altLang="en-US" dirty="0"/>
              <a:t>Each binding maps one address space to another</a:t>
            </a:r>
            <a:endParaRPr kumimoji="0" lang="en-US" altLang="en-US" dirty="0"/>
          </a:p>
          <a:p>
            <a:pPr>
              <a:buFont typeface="Monotype Sorts" pitchFamily="-84" charset="2"/>
              <a:buNone/>
            </a:pPr>
            <a:endParaRPr kumimoji="0" lang="en-US" altLang="en-US" dirty="0"/>
          </a:p>
          <a:p>
            <a:pPr lvl="1"/>
            <a:endParaRPr kumimoji="0"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  <a:endParaRPr lang="en-US" altLang="en-US" sz="28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692" y="1334278"/>
            <a:ext cx="7665488" cy="3860736"/>
          </a:xfrm>
        </p:spPr>
        <p:txBody>
          <a:bodyPr/>
          <a:lstStyle/>
          <a:p>
            <a:r>
              <a:rPr kumimoji="0" lang="en-US" altLang="en-US" dirty="0"/>
              <a:t>Address binding of instructions and data to memory addresses can happen at three different stages</a:t>
            </a:r>
            <a:endParaRPr kumimoji="0" lang="en-US" altLang="en-US" dirty="0"/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  <a:endParaRPr lang="en-US" altLang="en-US" dirty="0"/>
          </a:p>
          <a:p>
            <a:pPr lvl="1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  <a:endParaRPr lang="en-US" altLang="en-US" dirty="0"/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  <a:endParaRPr lang="en-US" altLang="en-US" dirty="0"/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  <a:endParaRPr lang="en-US" altLang="en-US" sz="3000" dirty="0"/>
          </a:p>
        </p:txBody>
      </p:sp>
      <p:pic>
        <p:nvPicPr>
          <p:cNvPr id="11267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436498" cy="1673193"/>
          </a:xfrm>
        </p:spPr>
        <p:txBody>
          <a:bodyPr/>
          <a:lstStyle/>
          <a:p>
            <a:r>
              <a:rPr lang="en-US" altLang="en-US" dirty="0"/>
              <a:t>Need to censure that a process can access only those addresses in its address space.</a:t>
            </a:r>
            <a:endParaRPr lang="en-US" altLang="en-US" dirty="0"/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  <a:endParaRPr lang="en-US" altLang="en-US" dirty="0"/>
          </a:p>
        </p:txBody>
      </p:sp>
      <p:pic>
        <p:nvPicPr>
          <p:cNvPr id="7172" name="Picture 5" descr="W:\os-book\OS10\slide-dir\os-figures\9_0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2725414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  <a:endParaRPr lang="en-US" altLang="en-US" dirty="0"/>
          </a:p>
        </p:txBody>
      </p:sp>
      <p:sp>
        <p:nvSpPr>
          <p:cNvPr id="8195" name="Content Placeholder 3"/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03200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  <a:endParaRPr lang="en-US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  <a:endParaRPr lang="en-US" altLang="en-US" dirty="0"/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  <a:endParaRPr lang="en-US" altLang="en-US" dirty="0"/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  <a:endParaRPr lang="en-US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dirty="0"/>
              <a:t>Consider simple scheme. which is  a generalization of the base-register scheme.</a:t>
            </a:r>
            <a:endParaRPr lang="en-US" altLang="en-US" dirty="0"/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  <a:endParaRPr lang="en-US" altLang="en-US" dirty="0"/>
          </a:p>
        </p:txBody>
      </p:sp>
      <p:pic>
        <p:nvPicPr>
          <p:cNvPr id="15364" name="Picture 2" descr="W:\os-book\OS10\slide-dir\os-figures\9_0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295751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  <a:endParaRPr lang="en-US" altLang="en-US" dirty="0"/>
          </a:p>
        </p:txBody>
      </p:sp>
      <p:sp>
        <p:nvSpPr>
          <p:cNvPr id="16387" name="Rectangle 3"/>
          <p:cNvSpPr txBox="1">
            <a:spLocks noChangeArrowheads="1"/>
          </p:cNvSpPr>
          <p:nvPr/>
        </p:nvSpPr>
        <p:spPr bwMode="auto">
          <a:xfrm>
            <a:off x="886407" y="113506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  <a:endParaRPr lang="en-US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4" y="1062038"/>
            <a:ext cx="7669764" cy="46609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program image</a:t>
            </a:r>
            <a:endParaRPr lang="en-US" altLang="en-US" dirty="0"/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  <a:endParaRPr lang="en-US" altLang="ja-JP" dirty="0"/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libraries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  <a:endParaRPr lang="en-US" altLang="en-US" dirty="0"/>
          </a:p>
        </p:txBody>
      </p:sp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  <a:endParaRPr lang="en-US" altLang="en-US" dirty="0"/>
          </a:p>
          <a:p>
            <a:r>
              <a:rPr lang="en-US" altLang="en-US" dirty="0"/>
              <a:t>Limited resource, must allocate efficiently</a:t>
            </a:r>
            <a:endParaRPr lang="en-US" altLang="en-US" dirty="0"/>
          </a:p>
          <a:p>
            <a:r>
              <a:rPr lang="en-US" altLang="en-US" dirty="0"/>
              <a:t>Contiguous allocation is one early method</a:t>
            </a:r>
            <a:endParaRPr lang="en-US" altLang="en-US" dirty="0"/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  <a:endParaRPr lang="en-US" altLang="en-US" dirty="0"/>
          </a:p>
          <a:p>
            <a:pPr lvl="1"/>
            <a:r>
              <a:rPr lang="en-US" altLang="en-US" dirty="0"/>
              <a:t>Resident operating system, usually held in low memory with interrupt vector</a:t>
            </a:r>
            <a:endParaRPr lang="en-US" altLang="en-US" dirty="0"/>
          </a:p>
          <a:p>
            <a:pPr lvl="1"/>
            <a:r>
              <a:rPr lang="en-US" altLang="en-US" dirty="0"/>
              <a:t>User processes then held in high memory</a:t>
            </a:r>
            <a:endParaRPr lang="en-US" altLang="en-US" dirty="0"/>
          </a:p>
          <a:p>
            <a:pPr lvl="1"/>
            <a:r>
              <a:rPr lang="en-US" altLang="en-US" dirty="0"/>
              <a:t>Each process contained in single contiguous section of memory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  <a:endParaRPr lang="en-US" altLang="en-US" dirty="0"/>
          </a:p>
        </p:txBody>
      </p:sp>
      <p:sp>
        <p:nvSpPr>
          <p:cNvPr id="1945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  <a:endParaRPr lang="en-US" altLang="en-US" dirty="0"/>
          </a:p>
          <a:p>
            <a:pPr lvl="1"/>
            <a:r>
              <a:rPr lang="en-US" altLang="en-US" dirty="0"/>
              <a:t>Base register contains value of smallest physical address</a:t>
            </a:r>
            <a:endParaRPr lang="en-US" altLang="en-US" dirty="0"/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  <a:endParaRPr lang="en-US" altLang="en-US" dirty="0"/>
          </a:p>
          <a:p>
            <a:pPr lvl="1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  <a:endParaRPr lang="en-US" altLang="en-US" i="1" dirty="0"/>
          </a:p>
          <a:p>
            <a:pPr lvl="1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  <a:endParaRPr lang="en-US" altLang="en-US" sz="2400" dirty="0"/>
          </a:p>
        </p:txBody>
      </p:sp>
      <p:pic>
        <p:nvPicPr>
          <p:cNvPr id="20483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  <a:endParaRPr lang="en-US" altLang="en-US" dirty="0"/>
          </a:p>
          <a:p>
            <a:pPr lvl="1"/>
            <a:r>
              <a:rPr lang="en-US" altLang="en-US" sz="1600" dirty="0"/>
              <a:t>Degree of multiprogramming limited by number of partitions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  <a:endParaRPr lang="en-US" altLang="en-US" sz="1600" dirty="0"/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  <a:endParaRPr lang="en-US" altLang="en-US" sz="1600" dirty="0"/>
          </a:p>
          <a:p>
            <a:pPr lvl="1"/>
            <a:r>
              <a:rPr lang="en-US" altLang="en-US" sz="1600" dirty="0"/>
              <a:t>Process exiting frees its partition, adjacent free partitions combined</a:t>
            </a:r>
            <a:endParaRPr lang="en-US" altLang="en-US" sz="1600" dirty="0"/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  <a:endParaRPr lang="en-US" altLang="en-US" sz="1600" dirty="0"/>
          </a:p>
        </p:txBody>
      </p:sp>
      <p:pic>
        <p:nvPicPr>
          <p:cNvPr id="21508" name="Picture 5" descr="W:\os-book\OS10\slide-dir\os-figures\9_07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  <a:endParaRPr lang="en-US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  <a:endParaRPr lang="en-US" altLang="en-US" dirty="0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  <a:endParaRPr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  <a:endParaRPr lang="en-US" altLang="en-US" dirty="0"/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  <a:endParaRPr lang="en-US" altLang="en-US" dirty="0"/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  <a:endParaRPr lang="en-US" altLang="en-US" dirty="0"/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  <a:endParaRPr lang="en-US" altLang="en-US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Shuffle memory contents to place all free memory together in one large block</a:t>
            </a:r>
            <a:endParaRPr lang="en-US" altLang="en-US" dirty="0"/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  <a:endParaRPr lang="en-US" altLang="en-US" dirty="0"/>
          </a:p>
          <a:p>
            <a:pPr lvl="1"/>
            <a:r>
              <a:rPr lang="en-US" altLang="en-US" dirty="0"/>
              <a:t>I/O problem</a:t>
            </a:r>
            <a:endParaRPr lang="en-US" altLang="en-US" dirty="0"/>
          </a:p>
          <a:p>
            <a:pPr lvl="2"/>
            <a:r>
              <a:rPr lang="en-US" altLang="en-US" dirty="0"/>
              <a:t>Latch job in memory while it is involved in I/O</a:t>
            </a:r>
            <a:endParaRPr lang="en-US" altLang="en-US" dirty="0"/>
          </a:p>
          <a:p>
            <a:pPr lvl="2"/>
            <a:r>
              <a:rPr lang="en-US" altLang="en-US" dirty="0"/>
              <a:t>Do I/O only into OS buffers</a:t>
            </a:r>
            <a:endParaRPr lang="en-US" altLang="en-US" dirty="0"/>
          </a:p>
          <a:p>
            <a:r>
              <a:rPr lang="en-US" altLang="en-US" dirty="0"/>
              <a:t>Now consider that backing store has same fragmentation problems</a:t>
            </a: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  <a:endParaRPr lang="en-US" altLang="en-US" dirty="0"/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  <a:endParaRPr lang="en-US" altLang="en-US" dirty="0"/>
          </a:p>
          <a:p>
            <a:pPr lvl="1"/>
            <a:r>
              <a:rPr lang="en-US" altLang="en-US" dirty="0"/>
              <a:t>Avoids external fragmentation</a:t>
            </a:r>
            <a:endParaRPr lang="en-US" altLang="en-US" dirty="0"/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  <a:endParaRPr lang="en-US" altLang="en-US" dirty="0"/>
          </a:p>
          <a:p>
            <a:r>
              <a:rPr lang="en-US" altLang="en-US" dirty="0"/>
              <a:t>Still have Internal fragmentation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  <a:endParaRPr lang="en-US" altLang="en-US" dirty="0"/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  <a:endParaRPr lang="en-US" altLang="en-US" dirty="0"/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  <a:endParaRPr lang="en-US" altLang="en-US" dirty="0"/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  <a:endParaRPr lang="en-US" altLang="en-US" baseline="30000" dirty="0"/>
          </a:p>
        </p:txBody>
      </p:sp>
      <p:pic>
        <p:nvPicPr>
          <p:cNvPr id="26628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  <a:endParaRPr lang="en-US" altLang="en-US" dirty="0"/>
          </a:p>
        </p:txBody>
      </p:sp>
      <p:pic>
        <p:nvPicPr>
          <p:cNvPr id="27651" name="Picture 7" descr="C:\Users\as668\Desktop\9_08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  <a:endParaRPr lang="en-US" altLang="en-US" sz="2600" dirty="0"/>
          </a:p>
        </p:txBody>
      </p:sp>
      <p:pic>
        <p:nvPicPr>
          <p:cNvPr id="28675" name="Picture 103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  <a:endParaRPr lang="en-US" alt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  <a:endParaRPr lang="en-US" altLang="en-US" dirty="0"/>
          </a:p>
        </p:txBody>
      </p:sp>
      <p:pic>
        <p:nvPicPr>
          <p:cNvPr id="2970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  <a:endParaRPr lang="en-US" altLang="en-US" sz="2600" dirty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bytes</a:t>
            </a:r>
            <a:endParaRPr lang="en-US" altLang="en-US" dirty="0"/>
          </a:p>
          <a:p>
            <a:r>
              <a:rPr lang="en-US" altLang="en-US" dirty="0"/>
              <a:t>Process size = 72,766 bytes</a:t>
            </a:r>
            <a:endParaRPr lang="en-US" altLang="en-US" dirty="0"/>
          </a:p>
          <a:p>
            <a:r>
              <a:rPr lang="en-US" altLang="en-US" dirty="0"/>
              <a:t>35 pages + 1,086 bytes</a:t>
            </a:r>
            <a:endParaRPr lang="en-US" altLang="en-US" dirty="0"/>
          </a:p>
          <a:p>
            <a:r>
              <a:rPr lang="en-US" altLang="en-US" dirty="0"/>
              <a:t>Internal fragmentation of 2,048 - 1,086 = 962 bytes</a:t>
            </a:r>
            <a:endParaRPr lang="en-US" altLang="en-US" dirty="0"/>
          </a:p>
          <a:p>
            <a:r>
              <a:rPr lang="en-US" altLang="en-US" dirty="0"/>
              <a:t>Worst case fragmentation = 1 frame – 1 byte</a:t>
            </a:r>
            <a:endParaRPr lang="en-US" altLang="en-US" dirty="0"/>
          </a:p>
          <a:p>
            <a:r>
              <a:rPr lang="en-US" altLang="en-US" dirty="0"/>
              <a:t>On average fragmentation = 1 / 2 frame size</a:t>
            </a:r>
            <a:endParaRPr lang="en-US" altLang="en-US" dirty="0"/>
          </a:p>
          <a:p>
            <a:r>
              <a:rPr lang="en-US" altLang="en-US" dirty="0"/>
              <a:t>So small frame sizes desirable?</a:t>
            </a:r>
            <a:endParaRPr lang="en-US" altLang="en-US" dirty="0"/>
          </a:p>
          <a:p>
            <a:r>
              <a:rPr lang="en-US" altLang="en-US" dirty="0"/>
              <a:t>But each page table entry takes memory to track</a:t>
            </a:r>
            <a:endParaRPr lang="en-US" altLang="en-US" dirty="0"/>
          </a:p>
          <a:p>
            <a:r>
              <a:rPr lang="en-US" altLang="en-US" dirty="0"/>
              <a:t>Page sizes growing over time</a:t>
            </a:r>
            <a:endParaRPr lang="en-US" altLang="en-US" dirty="0"/>
          </a:p>
          <a:p>
            <a:pPr lvl="1"/>
            <a:r>
              <a:rPr lang="en-US" altLang="en-US" dirty="0"/>
              <a:t>Solaris supports two page sizes – 8 KB and 4 MB</a:t>
            </a: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  <a:endParaRPr lang="en-US" altLang="en-US" dirty="0"/>
          </a:p>
        </p:txBody>
      </p:sp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  <a:endParaRPr lang="en-US" altLang="en-US">
              <a:latin typeface="Helvetica" panose="020B0604020202020204" pitchFamily="34" charset="0"/>
            </a:endParaRPr>
          </a:p>
        </p:txBody>
      </p:sp>
      <p:pic>
        <p:nvPicPr>
          <p:cNvPr id="31749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  <a:endParaRPr lang="en-US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  <a:endParaRPr lang="en-US" altLang="en-US" dirty="0"/>
          </a:p>
          <a:p>
            <a:r>
              <a:rPr lang="en-US" altLang="en-US" dirty="0"/>
              <a:t>In this scheme every data/instruction access requires two memory accesses</a:t>
            </a:r>
            <a:endParaRPr lang="en-US" altLang="en-US" dirty="0"/>
          </a:p>
          <a:p>
            <a:pPr lvl="1"/>
            <a:r>
              <a:rPr lang="en-US" altLang="en-US" dirty="0"/>
              <a:t>One for the page table and one for the data / instruction</a:t>
            </a:r>
            <a:endParaRPr lang="en-US" altLang="en-US" dirty="0"/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  <a:endParaRPr lang="en-US" alt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  <a:endParaRPr lang="en-US" altLang="en-US" dirty="0"/>
          </a:p>
          <a:p>
            <a:pPr lvl="1"/>
            <a:r>
              <a:rPr lang="en-US" altLang="en-US" dirty="0"/>
              <a:t>Otherwise need to flush at every context switch</a:t>
            </a:r>
            <a:endParaRPr lang="en-US" altLang="en-US" dirty="0"/>
          </a:p>
          <a:p>
            <a:r>
              <a:rPr lang="en-US" altLang="en-US" dirty="0"/>
              <a:t>TLBs typically small (64 to 1,024 entries)</a:t>
            </a:r>
            <a:endParaRPr lang="en-US" altLang="en-US" dirty="0"/>
          </a:p>
          <a:p>
            <a:r>
              <a:rPr lang="en-US" altLang="en-US" dirty="0"/>
              <a:t>On a TLB miss, value is loaded into the TLB for faster access next time</a:t>
            </a:r>
            <a:endParaRPr lang="en-US" altLang="en-US" dirty="0"/>
          </a:p>
          <a:p>
            <a:pPr lvl="1"/>
            <a:r>
              <a:rPr lang="en-US" altLang="en-US" dirty="0"/>
              <a:t>Replacement policies must be considered</a:t>
            </a:r>
            <a:endParaRPr lang="en-US" altLang="en-US" dirty="0"/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  <a:endParaRPr lang="en-US" altLang="en-US" dirty="0"/>
          </a:p>
        </p:txBody>
      </p:sp>
      <p:sp>
        <p:nvSpPr>
          <p:cNvPr id="34819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dirty="0"/>
              <a:t>Associative memory – parallel search 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  <a:endParaRPr lang="en-US" altLang="en-US" dirty="0"/>
          </a:p>
          <a:p>
            <a:pPr marL="627380" lvl="1"/>
            <a:r>
              <a:rPr lang="en-US" altLang="en-US" dirty="0"/>
              <a:t>If p is in associative register, get frame # out</a:t>
            </a:r>
            <a:endParaRPr lang="en-US" altLang="en-US" dirty="0"/>
          </a:p>
          <a:p>
            <a:pPr marL="627380" lvl="1"/>
            <a:r>
              <a:rPr lang="en-US" altLang="en-US" dirty="0"/>
              <a:t>Otherwise get frame # from page table in memory</a:t>
            </a:r>
            <a:endParaRPr lang="en-US" altLang="en-US" dirty="0"/>
          </a:p>
          <a:p>
            <a:pPr marL="627380" lvl="1"/>
            <a:endParaRPr lang="en-US" altLang="en-US" dirty="0"/>
          </a:p>
        </p:txBody>
      </p:sp>
      <p:pic>
        <p:nvPicPr>
          <p:cNvPr id="34820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  <a:endParaRPr lang="en-US" alt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1845" algn="l"/>
                <a:tab pos="2566670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Hit ratio – percentage of times that a page number is found in the  TLB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anose="05050102010706020507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Suppose that 10 nanoseconds to access memory.  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Otherwise we need two memory access so it is 20 ns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EAT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anose="05050102010706020507" pitchFamily="18" charset="2"/>
              </a:rPr>
              <a:t>0.80 x 10 + 0.20 x 20 = 12 </a:t>
            </a:r>
            <a:r>
              <a:rPr lang="en-US" altLang="en-US" dirty="0"/>
              <a:t> nanoseconds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       implying 20% slowdown in access time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Consider  amore realistic hit ratio of 99%, </a:t>
            </a:r>
            <a:endParaRPr lang="en-US" altLang="en-US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     EAT = 0.99 x 10 + 0.01 x 20 = 10.1ns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      implying  only 1% slowdown in access time.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  <a:endParaRPr lang="en-US" altLang="en-US" dirty="0"/>
          </a:p>
        </p:txBody>
      </p:sp>
      <p:sp>
        <p:nvSpPr>
          <p:cNvPr id="37891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  <a:endParaRPr lang="en-US" altLang="en-US" dirty="0"/>
          </a:p>
          <a:p>
            <a:pPr lvl="1"/>
            <a:r>
              <a:rPr lang="en-US" altLang="en-US" dirty="0"/>
              <a:t>Can also add more bits to indicate page execute-only, and so on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  <a:endParaRPr lang="en-US" altLang="en-US" dirty="0"/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  <a:endParaRPr lang="en-US" altLang="ja-JP" dirty="0"/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  <a:endParaRPr lang="en-US" altLang="ja-JP" dirty="0"/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endParaRPr lang="en-US" altLang="en-US" dirty="0"/>
          </a:p>
          <a:p>
            <a:r>
              <a:rPr lang="en-US" altLang="en-US" dirty="0"/>
              <a:t>Any violations result in a trap to the kernel</a:t>
            </a: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  <a:endParaRPr lang="en-US" altLang="en-US" sz="2800" dirty="0"/>
          </a:p>
        </p:txBody>
      </p:sp>
      <p:pic>
        <p:nvPicPr>
          <p:cNvPr id="3891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  <a:endParaRPr lang="en-US" altLang="en-US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  <a:endParaRPr lang="en-US" altLang="en-US" dirty="0"/>
          </a:p>
          <a:p>
            <a:pPr lvl="1"/>
            <a:r>
              <a:rPr lang="en-US" altLang="en-US" dirty="0"/>
              <a:t>Similar to multiple threads sharing the same process space</a:t>
            </a:r>
            <a:endParaRPr lang="en-US" altLang="en-US" dirty="0"/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endParaRPr lang="en-US" altLang="en-US" dirty="0">
              <a:solidFill>
                <a:srgbClr val="3366FF"/>
              </a:solidFill>
            </a:endParaRPr>
          </a:p>
          <a:p>
            <a:pPr lvl="1"/>
            <a:r>
              <a:rPr lang="en-US" altLang="en-US" dirty="0"/>
              <a:t>Each process keeps a separate copy of the code and data</a:t>
            </a:r>
            <a:endParaRPr lang="en-US" altLang="en-US" dirty="0"/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  <a:endParaRPr lang="en-US" alt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  <a:endParaRPr lang="en-US" altLang="en-US" dirty="0"/>
          </a:p>
          <a:p>
            <a:pPr lvl="1"/>
            <a:r>
              <a:rPr lang="en-US" altLang="en-US" dirty="0"/>
              <a:t>Consider a 32-bit logical address space as on modern computers</a:t>
            </a:r>
            <a:endParaRPr lang="en-US" altLang="en-US" dirty="0"/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  <a:endParaRPr lang="en-US" altLang="en-US" dirty="0"/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  <a:endParaRPr lang="en-US" altLang="ja-JP" dirty="0"/>
          </a:p>
          <a:p>
            <a:pPr lvl="1"/>
            <a:r>
              <a:rPr lang="en-US" altLang="en-US" dirty="0"/>
              <a:t>One simple solution is to divide the page table into smaller units</a:t>
            </a:r>
            <a:endParaRPr lang="en-US" altLang="en-US" dirty="0"/>
          </a:p>
          <a:p>
            <a:pPr lvl="2"/>
            <a:r>
              <a:rPr lang="en-US" altLang="en-US" dirty="0"/>
              <a:t>Hierarchical Paging</a:t>
            </a:r>
            <a:endParaRPr lang="en-US" altLang="en-US" dirty="0"/>
          </a:p>
          <a:p>
            <a:pPr lvl="2"/>
            <a:r>
              <a:rPr lang="en-US" altLang="en-US" dirty="0"/>
              <a:t>Hashed Page Tables</a:t>
            </a:r>
            <a:endParaRPr lang="en-US" altLang="en-US" dirty="0"/>
          </a:p>
          <a:p>
            <a:pPr lvl="2"/>
            <a:r>
              <a:rPr lang="en-US" altLang="en-US" dirty="0"/>
              <a:t>Inverted Page Tables</a:t>
            </a: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  <a:endParaRPr lang="en-US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  <a:endParaRPr lang="en-US" altLang="en-US" dirty="0"/>
          </a:p>
          <a:p>
            <a:r>
              <a:rPr lang="en-US" altLang="en-US" dirty="0"/>
              <a:t>A simple technique is a two-level page table</a:t>
            </a:r>
            <a:endParaRPr lang="en-US" altLang="en-US" dirty="0"/>
          </a:p>
          <a:p>
            <a:r>
              <a:rPr lang="en-US" altLang="en-US" dirty="0"/>
              <a:t>We then page the page table</a:t>
            </a:r>
            <a:endParaRPr lang="en-US" altLang="en-US" dirty="0"/>
          </a:p>
        </p:txBody>
      </p:sp>
      <p:pic>
        <p:nvPicPr>
          <p:cNvPr id="43012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  <a:endParaRPr lang="en-US" alt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 dirty="0"/>
              <a:t>a 10-bit page number 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/>
              <a:t>a 10-bit </a:t>
            </a:r>
            <a:r>
              <a:rPr lang="en-US" altLang="en-US" dirty="0"/>
              <a:t>page offset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  <p:pic>
        <p:nvPicPr>
          <p:cNvPr id="44036" name="Picture 5" descr="W:\os-book\OS10\slide-dir\os-figures\in-9_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  <a:endParaRPr lang="en-US" altLang="en-US" dirty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Address would look like</a:t>
            </a: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  <a:endParaRPr lang="en-US" altLang="en-US" dirty="0"/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  <a:endParaRPr lang="en-US" altLang="en-US" dirty="0"/>
          </a:p>
        </p:txBody>
      </p:sp>
      <p:pic>
        <p:nvPicPr>
          <p:cNvPr id="47107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  <a:endParaRPr lang="en-US" alt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spaces &gt; 32 bits</a:t>
            </a:r>
            <a:endParaRPr lang="en-US" altLang="en-US" dirty="0"/>
          </a:p>
          <a:p>
            <a:r>
              <a:rPr lang="en-US" altLang="en-US" dirty="0"/>
              <a:t>The virtual page number is hashed into a page table</a:t>
            </a:r>
            <a:endParaRPr lang="en-US" altLang="en-US" dirty="0"/>
          </a:p>
          <a:p>
            <a:pPr lvl="1"/>
            <a:r>
              <a:rPr lang="en-US" altLang="en-US" dirty="0"/>
              <a:t>This page table contains a chain of elements hashing to the same location</a:t>
            </a:r>
            <a:endParaRPr lang="en-US" altLang="en-US" dirty="0"/>
          </a:p>
          <a:p>
            <a:r>
              <a:rPr lang="en-US" altLang="en-US" dirty="0"/>
              <a:t>Each element contains (1) the virtual page number (2) the value of the mapped page frame (3) a pointer to the next element</a:t>
            </a:r>
            <a:endParaRPr lang="en-US" altLang="en-US" dirty="0"/>
          </a:p>
          <a:p>
            <a:r>
              <a:rPr lang="en-US" altLang="en-US" dirty="0"/>
              <a:t>Virtual page numbers are compared in this chain searching for a match</a:t>
            </a:r>
            <a:endParaRPr lang="en-US" altLang="en-US" dirty="0"/>
          </a:p>
          <a:p>
            <a:pPr lvl="1"/>
            <a:r>
              <a:rPr lang="en-US" altLang="en-US" dirty="0"/>
              <a:t>If a match is found, the corresponding physical frame is extracted</a:t>
            </a:r>
            <a:endParaRPr lang="en-US" altLang="en-US" dirty="0"/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  <a:endParaRPr lang="en-US" altLang="en-US" dirty="0"/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  <a:endParaRPr lang="en-US" alt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  <a:endParaRPr lang="en-US" altLang="en-US" dirty="0"/>
          </a:p>
          <a:p>
            <a:r>
              <a:rPr lang="en-US" altLang="en-US" dirty="0"/>
              <a:t>One entry for each real page of memory</a:t>
            </a:r>
            <a:endParaRPr lang="en-US" altLang="en-US" dirty="0"/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  <a:endParaRPr lang="en-US" altLang="en-US" dirty="0"/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  <a:endParaRPr lang="en-US" altLang="en-US" dirty="0"/>
          </a:p>
          <a:p>
            <a:r>
              <a:rPr lang="en-US" altLang="en-US" dirty="0"/>
              <a:t>Use hash table to limit the search to one — or at most a few — page-table entries</a:t>
            </a:r>
            <a:endParaRPr lang="en-US" altLang="en-US" dirty="0"/>
          </a:p>
          <a:p>
            <a:pPr lvl="1"/>
            <a:r>
              <a:rPr lang="en-US" altLang="en-US" dirty="0"/>
              <a:t>TLB can accelerate access</a:t>
            </a:r>
            <a:endParaRPr lang="en-US" altLang="en-US" dirty="0"/>
          </a:p>
          <a:p>
            <a:r>
              <a:rPr lang="en-US" altLang="en-US" dirty="0"/>
              <a:t>But how to implement shared memory?</a:t>
            </a:r>
            <a:endParaRPr lang="en-US" altLang="en-US" dirty="0"/>
          </a:p>
          <a:p>
            <a:pPr lvl="1"/>
            <a:r>
              <a:rPr lang="en-US" altLang="en-US" dirty="0"/>
              <a:t>One mapping of a virtual address to the shared physical address</a:t>
            </a:r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  <a:endParaRPr lang="en-US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062538"/>
          </a:xfrm>
        </p:spPr>
        <p:txBody>
          <a:bodyPr/>
          <a:lstStyle/>
          <a:p>
            <a:r>
              <a:rPr lang="en-US" altLang="en-US" dirty="0"/>
              <a:t>Consider modern, 64-bit operating system example with tightly integrated HW</a:t>
            </a:r>
            <a:endParaRPr lang="en-US" altLang="en-US" dirty="0"/>
          </a:p>
          <a:p>
            <a:pPr lvl="1"/>
            <a:r>
              <a:rPr lang="en-US" altLang="en-US" dirty="0"/>
              <a:t>Goals are efficiency, low overhead</a:t>
            </a:r>
            <a:endParaRPr lang="en-US" altLang="en-US" dirty="0"/>
          </a:p>
          <a:p>
            <a:r>
              <a:rPr lang="en-US" altLang="en-US" dirty="0"/>
              <a:t>Based on hashing, but more complex</a:t>
            </a:r>
            <a:endParaRPr lang="en-US" altLang="en-US" dirty="0"/>
          </a:p>
          <a:p>
            <a:r>
              <a:rPr lang="en-US" altLang="en-US" dirty="0"/>
              <a:t>Two hash tables</a:t>
            </a:r>
            <a:endParaRPr lang="en-US" altLang="en-US" dirty="0"/>
          </a:p>
          <a:p>
            <a:pPr lvl="1"/>
            <a:r>
              <a:rPr lang="en-US" altLang="en-US" dirty="0"/>
              <a:t>One kernel and one for all user processes</a:t>
            </a:r>
            <a:endParaRPr lang="en-US" altLang="en-US" dirty="0"/>
          </a:p>
          <a:p>
            <a:pPr lvl="1"/>
            <a:r>
              <a:rPr lang="en-US" altLang="en-US" dirty="0"/>
              <a:t>Each maps memory addresses from virtual to physical memory</a:t>
            </a:r>
            <a:endParaRPr lang="en-US" altLang="en-US" dirty="0"/>
          </a:p>
          <a:p>
            <a:pPr lvl="1"/>
            <a:r>
              <a:rPr lang="en-US" altLang="en-US" dirty="0"/>
              <a:t>Each entry represents a contiguous area of mapped virtual memory,</a:t>
            </a:r>
            <a:endParaRPr lang="en-US" altLang="en-US" dirty="0"/>
          </a:p>
          <a:p>
            <a:pPr lvl="2"/>
            <a:r>
              <a:rPr lang="en-US" altLang="en-US" dirty="0"/>
              <a:t>More efficient than having a separate hash-table entry for each page</a:t>
            </a:r>
            <a:endParaRPr lang="en-US" altLang="en-US" dirty="0"/>
          </a:p>
          <a:p>
            <a:pPr lvl="1"/>
            <a:r>
              <a:rPr lang="en-US" altLang="en-US" dirty="0"/>
              <a:t>Each entry has  base address and  span (indicating the number of pages the entry represents)</a:t>
            </a:r>
            <a:endParaRPr lang="en-US" altLang="en-US" dirty="0"/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  <a:endParaRPr lang="en-US" altLang="en-US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5" y="1096963"/>
            <a:ext cx="7665876" cy="5062537"/>
          </a:xfrm>
        </p:spPr>
        <p:txBody>
          <a:bodyPr/>
          <a:lstStyle/>
          <a:p>
            <a:r>
              <a:rPr lang="en-US" altLang="en-US" dirty="0"/>
              <a:t>TLB holds translation table entries (TTEs) for fast hardware lookups</a:t>
            </a:r>
            <a:endParaRPr lang="en-US" altLang="en-US" dirty="0"/>
          </a:p>
          <a:p>
            <a:pPr lvl="1"/>
            <a:r>
              <a:rPr lang="en-US" altLang="en-US" dirty="0"/>
              <a:t>A cache of TTEs reside in a translation storage buffer (TSB)</a:t>
            </a:r>
            <a:endParaRPr lang="en-US" altLang="en-US" dirty="0"/>
          </a:p>
          <a:p>
            <a:pPr lvl="2"/>
            <a:r>
              <a:rPr lang="en-US" altLang="en-US" dirty="0"/>
              <a:t>Includes an entry per recently accessed page</a:t>
            </a:r>
            <a:endParaRPr lang="en-US" altLang="en-US" dirty="0"/>
          </a:p>
          <a:p>
            <a:r>
              <a:rPr lang="en-US" altLang="en-US" dirty="0"/>
              <a:t>Virtual address reference causes TLB search </a:t>
            </a:r>
            <a:endParaRPr lang="en-US" altLang="en-US" dirty="0"/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  <a:endParaRPr lang="en-US" altLang="en-US" dirty="0"/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  <a:endParaRPr lang="en-US" altLang="en-US" dirty="0"/>
          </a:p>
          <a:p>
            <a:pPr lvl="2"/>
            <a:r>
              <a:rPr lang="en-US" altLang="en-US" dirty="0"/>
              <a:t>If no match found, kernel interrupted to search the hash table</a:t>
            </a:r>
            <a:endParaRPr lang="en-US" altLang="en-US" dirty="0"/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  <a:endParaRPr lang="en-US" alt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5067300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  <a:endParaRPr lang="en-US" altLang="en-US" dirty="0"/>
          </a:p>
          <a:p>
            <a:pPr lvl="1"/>
            <a:r>
              <a:rPr lang="en-US" altLang="en-US" dirty="0"/>
              <a:t>Total physical memory space of processes can exceed physical memory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  <a:endParaRPr lang="en-US" altLang="en-US" dirty="0"/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  <a:endParaRPr lang="en-US" altLang="en-US" dirty="0"/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  <a:endParaRPr lang="en-US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  <a:endParaRPr lang="en-US" altLang="en-US" dirty="0"/>
          </a:p>
          <a:p>
            <a:r>
              <a:rPr lang="en-US" altLang="en-US" dirty="0"/>
              <a:t>Depends on address binding method</a:t>
            </a:r>
            <a:endParaRPr lang="en-US" altLang="en-US" dirty="0"/>
          </a:p>
          <a:p>
            <a:pPr lvl="1"/>
            <a:r>
              <a:rPr lang="en-US" altLang="en-US" dirty="0"/>
              <a:t>Plus consider pending I/O to / from process memory space</a:t>
            </a:r>
            <a:endParaRPr lang="en-US" altLang="en-US" dirty="0"/>
          </a:p>
          <a:p>
            <a:r>
              <a:rPr lang="en-US" altLang="en-US" dirty="0"/>
              <a:t>Modified versions of swapping are found on many systems (i.e., UNIX, Linux, and Windows)</a:t>
            </a:r>
            <a:endParaRPr lang="en-US" altLang="en-US" dirty="0"/>
          </a:p>
          <a:p>
            <a:pPr lvl="1"/>
            <a:r>
              <a:rPr lang="en-US" altLang="en-US" dirty="0"/>
              <a:t>Swapping normally disabled</a:t>
            </a:r>
            <a:endParaRPr lang="en-US" altLang="en-US" dirty="0"/>
          </a:p>
          <a:p>
            <a:pPr lvl="1"/>
            <a:r>
              <a:rPr lang="en-US" altLang="en-US" dirty="0"/>
              <a:t>Started if more than threshold amount of memory allocated</a:t>
            </a:r>
            <a:endParaRPr lang="en-US" altLang="en-US" dirty="0"/>
          </a:p>
          <a:p>
            <a:pPr lvl="1"/>
            <a:r>
              <a:rPr lang="en-US" altLang="en-US" dirty="0"/>
              <a:t>Disabled again once memory demand reduced below threshold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  <a:endParaRPr lang="en-US" altLang="en-US" sz="3000" dirty="0"/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  <a:endParaRPr lang="en-US" altLang="en-US" dirty="0"/>
          </a:p>
          <a:p>
            <a:r>
              <a:rPr lang="en-US" altLang="en-US" dirty="0"/>
              <a:t>Context switch time can then be very high</a:t>
            </a:r>
            <a:endParaRPr lang="en-US" altLang="en-US" dirty="0"/>
          </a:p>
          <a:p>
            <a:r>
              <a:rPr lang="en-US" altLang="en-US" dirty="0"/>
              <a:t>100MB process swapping to hard disk with transfer rate of 50MB/sec</a:t>
            </a:r>
            <a:endParaRPr lang="en-US" altLang="en-US" dirty="0"/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  <a:endParaRPr lang="en-US" altLang="en-US" dirty="0"/>
          </a:p>
          <a:p>
            <a:pPr lvl="1"/>
            <a:r>
              <a:rPr lang="en-US" altLang="en-US" dirty="0"/>
              <a:t>Total context switch swapping component time of 4000ms (4 seconds)</a:t>
            </a:r>
            <a:endParaRPr lang="en-US" altLang="en-US" dirty="0"/>
          </a:p>
          <a:p>
            <a:r>
              <a:rPr lang="en-US" altLang="en-US" dirty="0"/>
              <a:t>Can reduce if reduce size of memory swapped – by knowing how much memory really being used</a:t>
            </a:r>
            <a:endParaRPr lang="en-US" altLang="en-US" dirty="0"/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  <a:endParaRPr lang="en-US" altLang="en-US" sz="2800" dirty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  <a:endParaRPr lang="en-US" altLang="en-US" dirty="0"/>
          </a:p>
          <a:p>
            <a:pPr lvl="1"/>
            <a:r>
              <a:rPr lang="en-US" altLang="en-US" dirty="0"/>
              <a:t>Pending I/O – can’t swap out as I/O would occur to wrong process</a:t>
            </a:r>
            <a:endParaRPr lang="en-US" altLang="en-US" dirty="0"/>
          </a:p>
          <a:p>
            <a:pPr lvl="1"/>
            <a:r>
              <a:rPr lang="en-US" altLang="en-US" dirty="0"/>
              <a:t>Or always transfer I/O to kernel space, then to I/O device</a:t>
            </a:r>
            <a:endParaRPr lang="en-US" altLang="en-US" dirty="0"/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  <a:endParaRPr lang="en-US" altLang="en-US" dirty="0"/>
          </a:p>
          <a:p>
            <a:r>
              <a:rPr lang="en-US" altLang="en-US" dirty="0"/>
              <a:t>Standard swapping not used in modern operating systems</a:t>
            </a:r>
            <a:endParaRPr lang="en-US" altLang="en-US" dirty="0"/>
          </a:p>
          <a:p>
            <a:pPr lvl="1"/>
            <a:r>
              <a:rPr lang="en-US" altLang="en-US" dirty="0"/>
              <a:t>But modified version common</a:t>
            </a:r>
            <a:endParaRPr lang="en-US" altLang="en-US" dirty="0"/>
          </a:p>
          <a:p>
            <a:pPr lvl="2"/>
            <a:r>
              <a:rPr lang="en-US" altLang="en-US" dirty="0"/>
              <a:t>Swap only when free memory extremely low</a:t>
            </a:r>
            <a:endParaRPr lang="en-US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  <a:endParaRPr lang="en-US" altLang="en-US" dirty="0"/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  <a:endParaRPr lang="en-US" altLang="en-US" dirty="0"/>
          </a:p>
          <a:p>
            <a:pPr lvl="1"/>
            <a:r>
              <a:rPr lang="en-US" altLang="en-US" dirty="0"/>
              <a:t>Flash memory based</a:t>
            </a:r>
            <a:endParaRPr lang="en-US" altLang="en-US" dirty="0"/>
          </a:p>
          <a:p>
            <a:pPr lvl="2"/>
            <a:r>
              <a:rPr lang="en-US" altLang="en-US" dirty="0"/>
              <a:t>Small amount of space</a:t>
            </a:r>
            <a:endParaRPr lang="en-US" altLang="en-US" dirty="0"/>
          </a:p>
          <a:p>
            <a:pPr lvl="2"/>
            <a:r>
              <a:rPr lang="en-US" altLang="en-US" dirty="0"/>
              <a:t>Limited number of write cycles</a:t>
            </a:r>
            <a:endParaRPr lang="en-US" altLang="en-US" dirty="0"/>
          </a:p>
          <a:p>
            <a:pPr lvl="2"/>
            <a:r>
              <a:rPr lang="en-US" altLang="en-US" dirty="0"/>
              <a:t>Poor throughput between flash memory and CPU on mobile platform</a:t>
            </a:r>
            <a:endParaRPr lang="en-US" altLang="en-US" dirty="0"/>
          </a:p>
          <a:p>
            <a:r>
              <a:rPr lang="en-US" altLang="en-US" dirty="0"/>
              <a:t>Instead use other methods to free memory if low</a:t>
            </a:r>
            <a:endParaRPr lang="en-US" altLang="en-US" dirty="0"/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  <a:endParaRPr lang="en-US" altLang="en-US" dirty="0"/>
          </a:p>
          <a:p>
            <a:pPr lvl="2"/>
            <a:r>
              <a:rPr lang="en-US" altLang="en-US" dirty="0"/>
              <a:t>Read-only data thrown out and reloaded from flash if needed</a:t>
            </a:r>
            <a:endParaRPr lang="en-US" altLang="en-US" dirty="0"/>
          </a:p>
          <a:p>
            <a:pPr lvl="2"/>
            <a:r>
              <a:rPr lang="en-US" altLang="en-US" dirty="0"/>
              <a:t>Failure to free can result in termination</a:t>
            </a:r>
            <a:endParaRPr lang="en-US" altLang="en-US" dirty="0"/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  <a:endParaRPr lang="en-US" altLang="en-US" dirty="0"/>
          </a:p>
          <a:p>
            <a:pPr lvl="1"/>
            <a:r>
              <a:rPr lang="en-US" altLang="en-US" dirty="0"/>
              <a:t>Both OSes support paging as discussed below</a:t>
            </a:r>
            <a:endParaRPr lang="en-US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  <a:endParaRPr lang="en-US" altLang="en-US" sz="26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dirty="0"/>
              <a:t>Dominant industry chips</a:t>
            </a:r>
            <a:endParaRPr lang="en-US" altLang="en-US" dirty="0"/>
          </a:p>
          <a:p>
            <a:r>
              <a:rPr lang="en-US" altLang="en-US" dirty="0"/>
              <a:t>Pentium CPUs are 32-bit and called IA-32 architecture</a:t>
            </a:r>
            <a:endParaRPr lang="en-US" altLang="en-US" dirty="0"/>
          </a:p>
          <a:p>
            <a:r>
              <a:rPr lang="en-US" altLang="en-US" dirty="0"/>
              <a:t>Current Intel CPUs are 64-bit and called IA-64 architecture</a:t>
            </a:r>
            <a:endParaRPr lang="en-US" altLang="en-US" dirty="0"/>
          </a:p>
          <a:p>
            <a:r>
              <a:rPr lang="en-US" altLang="en-US" dirty="0"/>
              <a:t>Many variations in the chips, cover the main ideas here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  <a:endParaRPr lang="en-US" altLang="en-US" sz="2800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  <a:endParaRPr lang="en-US" altLang="en-US" dirty="0"/>
          </a:p>
          <a:p>
            <a:pPr lvl="1"/>
            <a:r>
              <a:rPr lang="en-US" altLang="en-US" dirty="0"/>
              <a:t>Each segment can be 4 GB</a:t>
            </a:r>
            <a:endParaRPr lang="en-US" altLang="en-US" dirty="0"/>
          </a:p>
          <a:p>
            <a:pPr lvl="1"/>
            <a:r>
              <a:rPr lang="en-US" altLang="en-US" dirty="0"/>
              <a:t>Up to 16 K segments per process</a:t>
            </a:r>
            <a:endParaRPr lang="en-US" altLang="en-US" dirty="0"/>
          </a:p>
          <a:p>
            <a:pPr lvl="1"/>
            <a:r>
              <a:rPr lang="en-US" altLang="en-US" dirty="0"/>
              <a:t>Divided into two partitions</a:t>
            </a:r>
            <a:endParaRPr lang="en-US" altLang="en-US" dirty="0"/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  <a:endParaRPr lang="en-US" altLang="en-US" dirty="0"/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  <a:endParaRPr lang="en-US" altLang="en-US" sz="28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Which produces linear addresses </a:t>
            </a:r>
            <a:endParaRPr lang="en-US" altLang="en-US" dirty="0"/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Pages sizes can be 4 KB or 4 MB</a:t>
            </a:r>
            <a:endParaRPr lang="en-US" altLang="en-US" dirty="0"/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  <a:endParaRPr lang="en-US" altLang="en-US" sz="2400" dirty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  <a:endParaRPr lang="en-US" altLang="en-US" dirty="0"/>
          </a:p>
        </p:txBody>
      </p:sp>
      <p:pic>
        <p:nvPicPr>
          <p:cNvPr id="65539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  <a:endParaRPr lang="en-US" altLang="en-US" dirty="0"/>
          </a:p>
        </p:txBody>
      </p:sp>
      <p:pic>
        <p:nvPicPr>
          <p:cNvPr id="6656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  <a:endParaRPr lang="en-US" altLang="en-US" dirty="0"/>
          </a:p>
        </p:txBody>
      </p:sp>
      <p:pic>
        <p:nvPicPr>
          <p:cNvPr id="67587" name="Picture 1" descr="8_24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/>
          <p:cNvSpPr txBox="1">
            <a:spLocks noChangeArrowheads="1"/>
          </p:cNvSpPr>
          <p:nvPr/>
        </p:nvSpPr>
        <p:spPr bwMode="auto"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endParaRPr kumimoji="1" lang="en-US" altLang="en-US" b="1" dirty="0">
              <a:solidFill>
                <a:srgbClr val="006699"/>
              </a:solidFill>
              <a:latin typeface="+mj-lt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  <a:endParaRPr lang="en-US" altLang="en-US" dirty="0"/>
          </a:p>
        </p:txBody>
      </p:sp>
      <p:sp>
        <p:nvSpPr>
          <p:cNvPr id="68611" name="Rectangle 3"/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  <a:endParaRPr kumimoji="1" lang="en-US" altLang="en-US" dirty="0">
              <a:latin typeface="Helvetica" panose="020B0604020202020204" pitchFamily="34" charset="0"/>
            </a:endParaRPr>
          </a:p>
        </p:txBody>
      </p:sp>
      <p:pic>
        <p:nvPicPr>
          <p:cNvPr id="68612" name="Picture 2" descr="8_25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  <a:endParaRPr lang="en-US" altLang="en-US" dirty="0"/>
          </a:p>
        </p:txBody>
      </p:sp>
      <p:sp>
        <p:nvSpPr>
          <p:cNvPr id="69635" name="Rectangle 3"/>
          <p:cNvSpPr txBox="1">
            <a:spLocks noChangeArrowheads="1"/>
          </p:cNvSpPr>
          <p:nvPr/>
        </p:nvSpPr>
        <p:spPr bwMode="auto">
          <a:xfrm>
            <a:off x="765110" y="1169988"/>
            <a:ext cx="3522728" cy="514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Modern, energy efficient, 32-bit CPU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4 KB and 16 KB pages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1600" dirty="0">
                <a:latin typeface="Helvetica" panose="020B0604020202020204" pitchFamily="34" charset="0"/>
              </a:rPr>
              <a:t>)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One-level paging for sections, two-level for smaller pages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Two levels of TLBs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Outer level has two micro TLBs (one data, one instruction)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Inner is single main TLB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69636" name="Picture 1" descr="8_2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200f6f9f-1aa8-4598-bc85-9c73334984a9"/>
  <p:tag name="COMMONDATA" val="eyJoZGlkIjoiMzgwMmY0NTc1NWE0ZWI0NzI4MjdjMjVhY2VhMTkyNzQifQ=="/>
</p:tagLst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21093</Words>
  <Application>WPS 演示</Application>
  <PresentationFormat>On-screen Show (4:3)</PresentationFormat>
  <Paragraphs>564</Paragraphs>
  <Slides>67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82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微软雅黑</vt:lpstr>
      <vt:lpstr>Arial Unicode MS</vt:lpstr>
      <vt:lpstr>Symbol</vt:lpstr>
      <vt:lpstr>Wingdings</vt:lpstr>
      <vt:lpstr>Courier New</vt:lpstr>
      <vt:lpstr>os-8</vt:lpstr>
      <vt:lpstr>Chapter 9:  Main Memory</vt:lpstr>
      <vt:lpstr>Chapter 9:  Memory Management</vt:lpstr>
      <vt:lpstr>Objectives</vt:lpstr>
      <vt:lpstr>Background</vt:lpstr>
      <vt:lpstr>Address Binding</vt:lpstr>
      <vt:lpstr>Binding of Instructions and Data to Memory</vt:lpstr>
      <vt:lpstr>Multistep Processing of a User Program </vt:lpstr>
      <vt:lpstr>Protection</vt:lpstr>
      <vt:lpstr>Hardware Address Protection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左劼</cp:lastModifiedBy>
  <cp:revision>347</cp:revision>
  <cp:lastPrinted>2013-09-30T19:34:00Z</cp:lastPrinted>
  <dcterms:created xsi:type="dcterms:W3CDTF">2011-01-13T23:43:00Z</dcterms:created>
  <dcterms:modified xsi:type="dcterms:W3CDTF">2023-04-19T06:38:04Z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4EF6D4D143A0430B8B8D4E497D120443_12</vt:lpwstr>
  </property>
  <property fmtid="{D5CDD505-2E9C-101B-9397-08002B2CF9AE}" pid="3" name="KSOProductBuildVer">
    <vt:lpwstr>2052-11.1.0.14036</vt:lpwstr>
  </property>
</Properties>
</file>