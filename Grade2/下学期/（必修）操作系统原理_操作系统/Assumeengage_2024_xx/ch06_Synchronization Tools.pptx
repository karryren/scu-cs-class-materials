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handoutMasterIdLst>
    <p:handoutMasterId r:id="rId63"/>
  </p:handoutMasterIdLst>
  <p:sldIdLst>
    <p:sldId id="331" r:id="rId3"/>
    <p:sldId id="332" r:id="rId5"/>
    <p:sldId id="333" r:id="rId6"/>
    <p:sldId id="420" r:id="rId7"/>
    <p:sldId id="424" r:id="rId8"/>
    <p:sldId id="338" r:id="rId9"/>
    <p:sldId id="339" r:id="rId10"/>
    <p:sldId id="480" r:id="rId11"/>
    <p:sldId id="446" r:id="rId12"/>
    <p:sldId id="453" r:id="rId13"/>
    <p:sldId id="459" r:id="rId14"/>
    <p:sldId id="460" r:id="rId15"/>
    <p:sldId id="458" r:id="rId16"/>
    <p:sldId id="457" r:id="rId17"/>
    <p:sldId id="407" r:id="rId18"/>
    <p:sldId id="427" r:id="rId19"/>
    <p:sldId id="447" r:id="rId20"/>
    <p:sldId id="429" r:id="rId21"/>
    <p:sldId id="456" r:id="rId22"/>
    <p:sldId id="462" r:id="rId23"/>
    <p:sldId id="463" r:id="rId24"/>
    <p:sldId id="464" r:id="rId25"/>
    <p:sldId id="343" r:id="rId26"/>
    <p:sldId id="433" r:id="rId27"/>
    <p:sldId id="448" r:id="rId28"/>
    <p:sldId id="346" r:id="rId29"/>
    <p:sldId id="449" r:id="rId30"/>
    <p:sldId id="348" r:id="rId31"/>
    <p:sldId id="349" r:id="rId32"/>
    <p:sldId id="434" r:id="rId33"/>
    <p:sldId id="435" r:id="rId34"/>
    <p:sldId id="450" r:id="rId35"/>
    <p:sldId id="432" r:id="rId36"/>
    <p:sldId id="352" r:id="rId37"/>
    <p:sldId id="451" r:id="rId38"/>
    <p:sldId id="472" r:id="rId39"/>
    <p:sldId id="354" r:id="rId40"/>
    <p:sldId id="355" r:id="rId41"/>
    <p:sldId id="452" r:id="rId42"/>
    <p:sldId id="356" r:id="rId43"/>
    <p:sldId id="418" r:id="rId44"/>
    <p:sldId id="369" r:id="rId45"/>
    <p:sldId id="370" r:id="rId46"/>
    <p:sldId id="476" r:id="rId47"/>
    <p:sldId id="371" r:id="rId48"/>
    <p:sldId id="372" r:id="rId49"/>
    <p:sldId id="481" r:id="rId50"/>
    <p:sldId id="377" r:id="rId51"/>
    <p:sldId id="378" r:id="rId52"/>
    <p:sldId id="379" r:id="rId53"/>
    <p:sldId id="380" r:id="rId54"/>
    <p:sldId id="419" r:id="rId55"/>
    <p:sldId id="479" r:id="rId56"/>
    <p:sldId id="381" r:id="rId57"/>
    <p:sldId id="475" r:id="rId58"/>
    <p:sldId id="438" r:id="rId59"/>
    <p:sldId id="437" r:id="rId60"/>
    <p:sldId id="439" r:id="rId61"/>
    <p:sldId id="404" r:id="rId62"/>
  </p:sldIdLst>
  <p:sldSz cx="9144000" cy="6858000" type="screen4x3"/>
  <p:notesSz cx="7102475" cy="9388475"/>
  <p:custDataLst>
    <p:tags r:id="rId67"/>
  </p:custDataLst>
  <p:defaultTextStyle>
    <a:defPPr>
      <a:defRPr lang="en-US"/>
    </a:defPPr>
    <a:lvl1pPr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1pPr>
    <a:lvl2pPr marL="4559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2pPr>
    <a:lvl3pPr marL="9131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3pPr>
    <a:lvl4pPr marL="13703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4pPr>
    <a:lvl5pPr marL="1827530" indent="1905" algn="l" rtl="0" eaLnBrk="0" fontAlgn="base" hangingPunct="0">
      <a:spcBef>
        <a:spcPct val="0"/>
      </a:spcBef>
      <a:spcAft>
        <a:spcPct val="0"/>
      </a:spcAft>
      <a:defRPr kern="1200">
        <a:solidFill>
          <a:schemeClr val="tx1"/>
        </a:solidFill>
        <a:latin typeface="Verdana" panose="020B060403050404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Verdana" panose="020B060403050404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816" userDrawn="1">
          <p15:clr>
            <a:srgbClr val="A4A3A4"/>
          </p15:clr>
        </p15:guide>
        <p15:guide id="2" pos="4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99"/>
    <a:srgbClr val="336699"/>
    <a:srgbClr val="0066CC"/>
    <a:srgbClr val="CC6600"/>
    <a:srgbClr val="993300"/>
    <a:srgbClr val="FF0000"/>
    <a:srgbClr val="CCECFF"/>
    <a:srgbClr val="66CCFF"/>
    <a:srgbClr val="CCFF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55"/>
    <p:restoredTop sz="94646"/>
  </p:normalViewPr>
  <p:slideViewPr>
    <p:cSldViewPr snapToGrid="0" showGuides="1">
      <p:cViewPr varScale="1">
        <p:scale>
          <a:sx n="75" d="100"/>
          <a:sy n="75" d="100"/>
        </p:scale>
        <p:origin x="883" y="43"/>
      </p:cViewPr>
      <p:guideLst>
        <p:guide orient="horz" pos="816"/>
        <p:guide pos="4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00" d="100"/>
        <a:sy n="100" d="100"/>
      </p:scale>
      <p:origin x="0" y="-8064"/>
    </p:cViewPr>
  </p:sorter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7" Type="http://schemas.openxmlformats.org/officeDocument/2006/relationships/tags" Target="tags/tag1.xml"/><Relationship Id="rId66" Type="http://schemas.openxmlformats.org/officeDocument/2006/relationships/tableStyles" Target="tableStyles.xml"/><Relationship Id="rId65" Type="http://schemas.openxmlformats.org/officeDocument/2006/relationships/viewProps" Target="viewProps.xml"/><Relationship Id="rId64" Type="http://schemas.openxmlformats.org/officeDocument/2006/relationships/presProps" Target="presProps.xml"/><Relationship Id="rId63" Type="http://schemas.openxmlformats.org/officeDocument/2006/relationships/handoutMaster" Target="handoutMasters/handoutMaster1.xml"/><Relationship Id="rId62" Type="http://schemas.openxmlformats.org/officeDocument/2006/relationships/slide" Target="slides/slide59.xml"/><Relationship Id="rId61" Type="http://schemas.openxmlformats.org/officeDocument/2006/relationships/slide" Target="slides/slide58.xml"/><Relationship Id="rId60" Type="http://schemas.openxmlformats.org/officeDocument/2006/relationships/slide" Target="slides/slide57.xml"/><Relationship Id="rId6" Type="http://schemas.openxmlformats.org/officeDocument/2006/relationships/slide" Target="slides/slide3.xml"/><Relationship Id="rId59" Type="http://schemas.openxmlformats.org/officeDocument/2006/relationships/slide" Target="slides/slide56.xml"/><Relationship Id="rId58" Type="http://schemas.openxmlformats.org/officeDocument/2006/relationships/slide" Target="slides/slide55.xml"/><Relationship Id="rId57" Type="http://schemas.openxmlformats.org/officeDocument/2006/relationships/slide" Target="slides/slide54.xml"/><Relationship Id="rId56" Type="http://schemas.openxmlformats.org/officeDocument/2006/relationships/slide" Target="slides/slide53.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2.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6082" name="Rectangle 2"/>
          <p:cNvSpPr>
            <a:spLocks noGrp="1" noChangeArrowheads="1"/>
          </p:cNvSpPr>
          <p:nvPr>
            <p:ph type="hdr" sz="quarter"/>
          </p:nvPr>
        </p:nvSpPr>
        <p:spPr bwMode="auto">
          <a:xfrm>
            <a:off x="0" y="0"/>
            <a:ext cx="3113766" cy="447300"/>
          </a:xfrm>
          <a:prstGeom prst="rect">
            <a:avLst/>
          </a:prstGeom>
          <a:noFill/>
          <a:ln w="9525">
            <a:noFill/>
            <a:miter lim="800000"/>
          </a:ln>
        </p:spPr>
        <p:txBody>
          <a:bodyPr vert="horz" wrap="none" lIns="89250" tIns="44626" rIns="89250" bIns="44626" numCol="1" anchor="ctr" anchorCtr="0" compatLnSpc="1"/>
          <a:lstStyle>
            <a:lvl1pPr defTabSz="892810">
              <a:defRPr sz="1100">
                <a:latin typeface="Helvetica" panose="020B0604020202020204" pitchFamily="34" charset="0"/>
              </a:defRPr>
            </a:lvl1pPr>
          </a:lstStyle>
          <a:p>
            <a:endParaRPr lang="en-US" altLang="en-US"/>
          </a:p>
        </p:txBody>
      </p:sp>
      <p:sp>
        <p:nvSpPr>
          <p:cNvPr id="46083" name="Rectangle 3"/>
          <p:cNvSpPr>
            <a:spLocks noGrp="1" noChangeArrowheads="1"/>
          </p:cNvSpPr>
          <p:nvPr>
            <p:ph type="dt" sz="quarter" idx="1"/>
          </p:nvPr>
        </p:nvSpPr>
        <p:spPr bwMode="auto">
          <a:xfrm>
            <a:off x="4003185" y="0"/>
            <a:ext cx="3112157" cy="447300"/>
          </a:xfrm>
          <a:prstGeom prst="rect">
            <a:avLst/>
          </a:prstGeom>
          <a:noFill/>
          <a:ln w="9525">
            <a:noFill/>
            <a:miter lim="800000"/>
          </a:ln>
        </p:spPr>
        <p:txBody>
          <a:bodyPr vert="horz" wrap="none" lIns="89250" tIns="44626" rIns="89250" bIns="44626" numCol="1" anchor="ctr" anchorCtr="0" compatLnSpc="1"/>
          <a:lstStyle>
            <a:lvl1pPr algn="r" defTabSz="892810">
              <a:defRPr sz="1100">
                <a:latin typeface="Helvetica" panose="020B0604020202020204" pitchFamily="34" charset="0"/>
              </a:defRPr>
            </a:lvl1pPr>
          </a:lstStyle>
          <a:p>
            <a:endParaRPr lang="en-US" altLang="en-US"/>
          </a:p>
        </p:txBody>
      </p:sp>
      <p:sp>
        <p:nvSpPr>
          <p:cNvPr id="46084" name="Rectangle 4"/>
          <p:cNvSpPr>
            <a:spLocks noGrp="1" noChangeArrowheads="1"/>
          </p:cNvSpPr>
          <p:nvPr>
            <p:ph type="ftr" sz="quarter" idx="2"/>
          </p:nvPr>
        </p:nvSpPr>
        <p:spPr bwMode="auto">
          <a:xfrm>
            <a:off x="0" y="8954002"/>
            <a:ext cx="3113766" cy="447299"/>
          </a:xfrm>
          <a:prstGeom prst="rect">
            <a:avLst/>
          </a:prstGeom>
          <a:noFill/>
          <a:ln w="9525">
            <a:noFill/>
            <a:miter lim="800000"/>
          </a:ln>
        </p:spPr>
        <p:txBody>
          <a:bodyPr vert="horz" wrap="none" lIns="89250" tIns="44626" rIns="89250" bIns="44626" numCol="1" anchor="b" anchorCtr="0" compatLnSpc="1"/>
          <a:lstStyle>
            <a:lvl1pPr defTabSz="892810">
              <a:defRPr sz="1100">
                <a:latin typeface="Helvetica" panose="020B0604020202020204" pitchFamily="34" charset="0"/>
              </a:defRPr>
            </a:lvl1pPr>
          </a:lstStyle>
          <a:p>
            <a:endParaRPr lang="en-US" altLang="en-US"/>
          </a:p>
        </p:txBody>
      </p:sp>
      <p:sp>
        <p:nvSpPr>
          <p:cNvPr id="46085" name="Rectangle 5"/>
          <p:cNvSpPr>
            <a:spLocks noGrp="1" noChangeArrowheads="1"/>
          </p:cNvSpPr>
          <p:nvPr>
            <p:ph type="sldNum" sz="quarter" idx="3"/>
          </p:nvPr>
        </p:nvSpPr>
        <p:spPr bwMode="auto">
          <a:xfrm>
            <a:off x="4003185" y="8954002"/>
            <a:ext cx="3112157" cy="447299"/>
          </a:xfrm>
          <a:prstGeom prst="rect">
            <a:avLst/>
          </a:prstGeom>
          <a:noFill/>
          <a:ln w="9525">
            <a:noFill/>
            <a:miter lim="800000"/>
          </a:ln>
        </p:spPr>
        <p:txBody>
          <a:bodyPr vert="horz" wrap="none" lIns="89250" tIns="44626" rIns="89250" bIns="44626" numCol="1" anchor="b" anchorCtr="0" compatLnSpc="1"/>
          <a:lstStyle>
            <a:lvl1pPr algn="r" defTabSz="892810">
              <a:defRPr sz="1100">
                <a:latin typeface="Helvetica" panose="020B0604020202020204" pitchFamily="34" charset="0"/>
                <a:ea typeface="MS PGothic" panose="020B0600070205080204" pitchFamily="34" charset="-128"/>
              </a:defRPr>
            </a:lvl1pPr>
          </a:lstStyle>
          <a:p>
            <a:pPr>
              <a:defRPr/>
            </a:pPr>
            <a:fld id="{091B1BB8-F100-428B-8F73-BD7D453417A0}" type="slidenum">
              <a:rPr lang="en-US" altLang="en-US"/>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076775" cy="468141"/>
          </a:xfrm>
          <a:prstGeom prst="rect">
            <a:avLst/>
          </a:prstGeom>
          <a:noFill/>
          <a:ln w="9525">
            <a:noFill/>
            <a:miter lim="800000"/>
          </a:ln>
        </p:spPr>
        <p:txBody>
          <a:bodyPr vert="horz" wrap="none" lIns="94203" tIns="47102" rIns="94203" bIns="47102" numCol="1" anchor="ctr" anchorCtr="0" compatLnSpc="1"/>
          <a:lstStyle>
            <a:lvl1pPr defTabSz="940435">
              <a:defRPr sz="1200">
                <a:latin typeface="Times New Roman" panose="02020603050405020304" pitchFamily="18" charset="0"/>
              </a:defRPr>
            </a:lvl1pPr>
          </a:lstStyle>
          <a:p>
            <a:endParaRPr lang="en-US" altLang="en-US"/>
          </a:p>
        </p:txBody>
      </p:sp>
      <p:sp>
        <p:nvSpPr>
          <p:cNvPr id="6147" name="Rectangle 3"/>
          <p:cNvSpPr>
            <a:spLocks noGrp="1" noChangeArrowheads="1"/>
          </p:cNvSpPr>
          <p:nvPr>
            <p:ph type="dt" idx="1"/>
          </p:nvPr>
        </p:nvSpPr>
        <p:spPr bwMode="auto">
          <a:xfrm>
            <a:off x="4025702" y="0"/>
            <a:ext cx="3076774" cy="468141"/>
          </a:xfrm>
          <a:prstGeom prst="rect">
            <a:avLst/>
          </a:prstGeom>
          <a:noFill/>
          <a:ln w="9525">
            <a:noFill/>
            <a:miter lim="800000"/>
          </a:ln>
        </p:spPr>
        <p:txBody>
          <a:bodyPr vert="horz" wrap="none" lIns="94203" tIns="47102" rIns="94203" bIns="47102" numCol="1" anchor="ctr" anchorCtr="0" compatLnSpc="1"/>
          <a:lstStyle>
            <a:lvl1pPr algn="r" defTabSz="940435">
              <a:defRPr sz="1200">
                <a:latin typeface="Times New Roman" panose="02020603050405020304" pitchFamily="18" charset="0"/>
              </a:defRPr>
            </a:lvl1pPr>
          </a:lstStyle>
          <a:p>
            <a:endParaRPr lang="en-US" altLang="en-US"/>
          </a:p>
        </p:txBody>
      </p:sp>
      <p:sp>
        <p:nvSpPr>
          <p:cNvPr id="3076" name="Rectangle 4"/>
          <p:cNvSpPr>
            <a:spLocks noGrp="1" noRot="1" noChangeAspect="1" noChangeArrowheads="1" noTextEdit="1"/>
          </p:cNvSpPr>
          <p:nvPr>
            <p:ph type="sldImg" idx="2"/>
          </p:nvPr>
        </p:nvSpPr>
        <p:spPr bwMode="auto">
          <a:xfrm>
            <a:off x="1204913" y="704850"/>
            <a:ext cx="4694237" cy="3521075"/>
          </a:xfrm>
          <a:prstGeom prst="rect">
            <a:avLst/>
          </a:prstGeom>
          <a:noFill/>
          <a:ln w="9525">
            <a:solidFill>
              <a:srgbClr val="000000"/>
            </a:solidFill>
            <a:miter lim="800000"/>
          </a:ln>
          <a:extLst>
            <a:ext uri="{909E8E84-426E-40DD-AFC4-6F175D3DCCD1}">
              <a14:hiddenFill xmlns:a14="http://schemas.microsoft.com/office/drawing/2010/main">
                <a:solidFill>
                  <a:srgbClr val="FFFFFF"/>
                </a:solidFill>
              </a14:hiddenFill>
            </a:ext>
          </a:extLst>
        </p:spPr>
      </p:sp>
      <p:sp>
        <p:nvSpPr>
          <p:cNvPr id="6149" name="Rectangle 5"/>
          <p:cNvSpPr>
            <a:spLocks noGrp="1" noChangeArrowheads="1"/>
          </p:cNvSpPr>
          <p:nvPr>
            <p:ph type="body" sz="quarter" idx="3"/>
          </p:nvPr>
        </p:nvSpPr>
        <p:spPr bwMode="auto">
          <a:xfrm>
            <a:off x="947320" y="4460167"/>
            <a:ext cx="5207838" cy="4222890"/>
          </a:xfrm>
          <a:prstGeom prst="rect">
            <a:avLst/>
          </a:prstGeom>
          <a:noFill/>
          <a:ln w="9525">
            <a:noFill/>
            <a:miter lim="800000"/>
          </a:ln>
        </p:spPr>
        <p:txBody>
          <a:bodyPr vert="horz" wrap="none" lIns="94203" tIns="47102" rIns="94203" bIns="47102" numCol="1" anchor="ctr" anchorCtr="0" compatLnSpc="1"/>
          <a:lstStyle/>
          <a:p>
            <a:pPr lvl="0"/>
            <a:r>
              <a:rPr lang="en-US" noProof="0"/>
              <a:t>Click to edit Master text styles</a:t>
            </a:r>
            <a:endParaRPr lang="en-US" noProof="0"/>
          </a:p>
          <a:p>
            <a:pPr lvl="1"/>
            <a:r>
              <a:rPr lang="en-US" noProof="0"/>
              <a:t>Second level</a:t>
            </a:r>
            <a:endParaRPr lang="en-US" noProof="0"/>
          </a:p>
          <a:p>
            <a:pPr lvl="2"/>
            <a:r>
              <a:rPr lang="en-US" noProof="0"/>
              <a:t>Third level</a:t>
            </a:r>
            <a:endParaRPr lang="en-US" noProof="0"/>
          </a:p>
          <a:p>
            <a:pPr lvl="3"/>
            <a:r>
              <a:rPr lang="en-US" noProof="0"/>
              <a:t>Fourth level</a:t>
            </a:r>
            <a:endParaRPr lang="en-US" noProof="0"/>
          </a:p>
          <a:p>
            <a:pPr lvl="4"/>
            <a:r>
              <a:rPr lang="en-US" noProof="0"/>
              <a:t>Fifth level</a:t>
            </a:r>
            <a:endParaRPr lang="en-US" noProof="0"/>
          </a:p>
        </p:txBody>
      </p:sp>
      <p:sp>
        <p:nvSpPr>
          <p:cNvPr id="6150" name="Rectangle 6"/>
          <p:cNvSpPr>
            <a:spLocks noGrp="1" noChangeArrowheads="1"/>
          </p:cNvSpPr>
          <p:nvPr>
            <p:ph type="ftr" sz="quarter" idx="4"/>
          </p:nvPr>
        </p:nvSpPr>
        <p:spPr bwMode="auto">
          <a:xfrm>
            <a:off x="0" y="8920334"/>
            <a:ext cx="3076775" cy="468141"/>
          </a:xfrm>
          <a:prstGeom prst="rect">
            <a:avLst/>
          </a:prstGeom>
          <a:noFill/>
          <a:ln w="9525">
            <a:noFill/>
            <a:miter lim="800000"/>
          </a:ln>
        </p:spPr>
        <p:txBody>
          <a:bodyPr vert="horz" wrap="none" lIns="94203" tIns="47102" rIns="94203" bIns="47102" numCol="1" anchor="b" anchorCtr="0" compatLnSpc="1"/>
          <a:lstStyle>
            <a:lvl1pPr defTabSz="940435">
              <a:defRPr sz="1200">
                <a:latin typeface="Times New Roman" panose="02020603050405020304" pitchFamily="18" charset="0"/>
              </a:defRPr>
            </a:lvl1pPr>
          </a:lstStyle>
          <a:p>
            <a:endParaRPr lang="en-US" altLang="en-US"/>
          </a:p>
        </p:txBody>
      </p:sp>
      <p:sp>
        <p:nvSpPr>
          <p:cNvPr id="6151" name="Rectangle 7"/>
          <p:cNvSpPr>
            <a:spLocks noGrp="1" noChangeArrowheads="1"/>
          </p:cNvSpPr>
          <p:nvPr>
            <p:ph type="sldNum" sz="quarter" idx="5"/>
          </p:nvPr>
        </p:nvSpPr>
        <p:spPr bwMode="auto">
          <a:xfrm>
            <a:off x="4025702" y="8920334"/>
            <a:ext cx="3076774" cy="468141"/>
          </a:xfrm>
          <a:prstGeom prst="rect">
            <a:avLst/>
          </a:prstGeom>
          <a:noFill/>
          <a:ln w="9525">
            <a:noFill/>
            <a:miter lim="800000"/>
          </a:ln>
        </p:spPr>
        <p:txBody>
          <a:bodyPr vert="horz" wrap="none" lIns="94203" tIns="47102" rIns="94203" bIns="47102" numCol="1" anchor="b" anchorCtr="0" compatLnSpc="1"/>
          <a:lstStyle>
            <a:lvl1pPr algn="r" defTabSz="940435">
              <a:defRPr sz="1200">
                <a:latin typeface="Times New Roman" panose="02020603050405020304" pitchFamily="18" charset="0"/>
                <a:ea typeface="MS PGothic" panose="020B0600070205080204" pitchFamily="34" charset="-128"/>
              </a:defRPr>
            </a:lvl1pPr>
          </a:lstStyle>
          <a:p>
            <a:pPr>
              <a:defRPr/>
            </a:pPr>
            <a:fld id="{50E8F071-5978-475C-87F0-5ED336049DF7}" type="slidenum">
              <a:rPr lang="en-US" altLang="en-US"/>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1pPr>
    <a:lvl2pPr marL="4559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2pPr>
    <a:lvl3pPr marL="9131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3pPr>
    <a:lvl4pPr marL="13703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4pPr>
    <a:lvl5pPr marL="1827530" algn="l" rtl="0" eaLnBrk="0" fontAlgn="base" hangingPunct="0">
      <a:spcBef>
        <a:spcPct val="30000"/>
      </a:spcBef>
      <a:spcAft>
        <a:spcPct val="0"/>
      </a:spcAft>
      <a:defRPr sz="1200" kern="1200">
        <a:solidFill>
          <a:schemeClr val="tx1"/>
        </a:solidFill>
        <a:latin typeface="Times New Roman" panose="02020603050405020304" pitchFamily="18" charset="0"/>
        <a:ea typeface="MS PGothic" panose="020B0600070205080204" pitchFamily="34" charset="-128"/>
        <a:cs typeface="MS PGothic" panose="020B0600070205080204" pitchFamily="34" charset="-128"/>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2.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4.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5.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2.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3.xml"/></Relationships>
</file>

<file path=ppt/notesSlides/_rels/notesSlide3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4.xml"/></Relationships>
</file>

<file path=ppt/notesSlides/_rels/notesSlide3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5.xml"/></Relationships>
</file>

<file path=ppt/notesSlides/_rels/notesSlide3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7.xml"/></Relationships>
</file>

<file path=ppt/notesSlides/_rels/notesSlide3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8.xml"/></Relationships>
</file>

<file path=ppt/notesSlides/_rels/notesSlide4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904C4C77-1749-414B-A598-D337A43D507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146" name="Rectangle 2"/>
          <p:cNvSpPr>
            <a:spLocks noGrp="1" noRot="1" noChangeAspect="1" noChangeArrowheads="1" noTextEdit="1"/>
          </p:cNvSpPr>
          <p:nvPr>
            <p:ph type="sldImg"/>
          </p:nvPr>
        </p:nvSpPr>
        <p:spPr/>
      </p:sp>
      <p:sp>
        <p:nvSpPr>
          <p:cNvPr id="614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BCBD951-2730-403C-B793-3EAC042D8C1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4" name="Rectangle 2"/>
          <p:cNvSpPr>
            <a:spLocks noGrp="1" noRot="1" noChangeAspect="1" noChangeArrowheads="1" noTextEdit="1"/>
          </p:cNvSpPr>
          <p:nvPr>
            <p:ph type="sldImg"/>
          </p:nvPr>
        </p:nvSpPr>
        <p:spPr/>
      </p:sp>
      <p:sp>
        <p:nvSpPr>
          <p:cNvPr id="819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Rectangle 2"/>
          <p:cNvSpPr>
            <a:spLocks noGrp="1" noRot="1" noChangeAspect="1" noChangeArrowheads="1" noTextEdit="1"/>
          </p:cNvSpPr>
          <p:nvPr>
            <p:ph type="sldImg"/>
          </p:nvPr>
        </p:nvSpPr>
        <p:spPr/>
      </p:sp>
      <p:sp>
        <p:nvSpPr>
          <p:cNvPr id="1024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72284F21-9F1A-4F22-8037-297481AD2DC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12290" name="Rectangle 2"/>
          <p:cNvSpPr>
            <a:spLocks noGrp="1" noRot="1" noChangeAspect="1" noChangeArrowheads="1" noTextEdit="1"/>
          </p:cNvSpPr>
          <p:nvPr>
            <p:ph type="sldImg"/>
          </p:nvPr>
        </p:nvSpPr>
        <p:spPr/>
      </p:sp>
      <p:sp>
        <p:nvSpPr>
          <p:cNvPr id="1229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C2D9CB2-90B3-4921-94FF-0D8482609EB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2530" name="Rectangle 2"/>
          <p:cNvSpPr>
            <a:spLocks noGrp="1" noRot="1" noChangeAspect="1" noChangeArrowheads="1" noTextEdit="1"/>
          </p:cNvSpPr>
          <p:nvPr>
            <p:ph type="sldImg"/>
          </p:nvPr>
        </p:nvSpPr>
        <p:spPr/>
      </p:sp>
      <p:sp>
        <p:nvSpPr>
          <p:cNvPr id="225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898D082-7383-4246-8E8F-663A25F3E07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4578" name="Rectangle 2"/>
          <p:cNvSpPr>
            <a:spLocks noGrp="1" noRot="1" noChangeAspect="1" noChangeArrowheads="1" noTextEdit="1"/>
          </p:cNvSpPr>
          <p:nvPr>
            <p:ph type="sldImg"/>
          </p:nvPr>
        </p:nvSpPr>
        <p:spPr/>
      </p:sp>
      <p:sp>
        <p:nvSpPr>
          <p:cNvPr id="245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A02EEE49-2B2D-494D-8F84-0A6DB2804B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6626" name="Rectangle 2"/>
          <p:cNvSpPr>
            <a:spLocks noGrp="1" noRot="1" noChangeAspect="1" noChangeArrowheads="1" noTextEdit="1"/>
          </p:cNvSpPr>
          <p:nvPr>
            <p:ph type="sldImg"/>
          </p:nvPr>
        </p:nvSpPr>
        <p:spPr/>
      </p:sp>
      <p:sp>
        <p:nvSpPr>
          <p:cNvPr id="266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B9FBAAB-179F-41AC-9AF5-3C3DF7A078A9}"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28674" name="Rectangle 2"/>
          <p:cNvSpPr>
            <a:spLocks noGrp="1" noRot="1" noChangeAspect="1" noChangeArrowheads="1" noTextEdit="1"/>
          </p:cNvSpPr>
          <p:nvPr>
            <p:ph type="sldImg"/>
          </p:nvPr>
        </p:nvSpPr>
        <p:spPr/>
      </p:sp>
      <p:sp>
        <p:nvSpPr>
          <p:cNvPr id="286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6991540-E9B1-402B-A0AC-B1966207FC5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0722" name="Rectangle 2"/>
          <p:cNvSpPr>
            <a:spLocks noGrp="1" noRot="1" noChangeAspect="1" noChangeArrowheads="1" noTextEdit="1"/>
          </p:cNvSpPr>
          <p:nvPr>
            <p:ph type="sldImg"/>
          </p:nvPr>
        </p:nvSpPr>
        <p:spPr/>
      </p:sp>
      <p:sp>
        <p:nvSpPr>
          <p:cNvPr id="307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F578D70-2809-409D-BC06-7ED58CDEDEE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4818" name="Rectangle 2"/>
          <p:cNvSpPr>
            <a:spLocks noGrp="1" noRot="1" noChangeAspect="1" noChangeArrowheads="1" noTextEdit="1"/>
          </p:cNvSpPr>
          <p:nvPr>
            <p:ph type="sldImg"/>
          </p:nvPr>
        </p:nvSpPr>
        <p:spPr/>
      </p:sp>
      <p:sp>
        <p:nvSpPr>
          <p:cNvPr id="348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13573A2-3DB9-4A78-804D-4CB4DAA8CD5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38914" name="Rectangle 2"/>
          <p:cNvSpPr>
            <a:spLocks noGrp="1" noRot="1" noChangeAspect="1" noChangeArrowheads="1" noTextEdit="1"/>
          </p:cNvSpPr>
          <p:nvPr>
            <p:ph type="sldImg"/>
          </p:nvPr>
        </p:nvSpPr>
        <p:spPr/>
      </p:sp>
      <p:sp>
        <p:nvSpPr>
          <p:cNvPr id="389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p:cNvSpPr>
            <a:spLocks noGrp="1" noRot="1" noChangeAspect="1" noChangeArrowheads="1" noTextEdit="1"/>
          </p:cNvSpPr>
          <p:nvPr>
            <p:ph type="sldImg"/>
          </p:nvPr>
        </p:nvSpPr>
        <p:spPr/>
      </p:sp>
      <p:sp>
        <p:nvSpPr>
          <p:cNvPr id="40962"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3B86FDC-C417-482B-A0A4-CC6DE31F668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3010" name="Rectangle 2"/>
          <p:cNvSpPr>
            <a:spLocks noGrp="1" noRot="1" noChangeAspect="1" noChangeArrowheads="1" noTextEdit="1"/>
          </p:cNvSpPr>
          <p:nvPr>
            <p:ph type="sldImg"/>
          </p:nvPr>
        </p:nvSpPr>
        <p:spPr/>
      </p:sp>
      <p:sp>
        <p:nvSpPr>
          <p:cNvPr id="4301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p:cNvSpPr>
            <a:spLocks noGrp="1" noRot="1" noChangeAspect="1" noChangeArrowheads="1" noTextEdit="1"/>
          </p:cNvSpPr>
          <p:nvPr>
            <p:ph type="sldImg"/>
          </p:nvPr>
        </p:nvSpPr>
        <p:spPr/>
      </p:sp>
      <p:sp>
        <p:nvSpPr>
          <p:cNvPr id="4505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5CA5ECF7-60AF-4013-B76C-7210E315072B}"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48130" name="Rectangle 2"/>
          <p:cNvSpPr>
            <a:spLocks noGrp="1" noRot="1" noChangeAspect="1" noChangeArrowheads="1" noTextEdit="1"/>
          </p:cNvSpPr>
          <p:nvPr>
            <p:ph type="sldImg"/>
          </p:nvPr>
        </p:nvSpPr>
        <p:spPr/>
      </p:sp>
      <p:sp>
        <p:nvSpPr>
          <p:cNvPr id="4813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B48E544B-713C-425B-9C97-BF82FAFD58DE}"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2226" name="Rectangle 2"/>
          <p:cNvSpPr>
            <a:spLocks noGrp="1" noRot="1" noChangeAspect="1" noChangeArrowheads="1" noTextEdit="1"/>
          </p:cNvSpPr>
          <p:nvPr>
            <p:ph type="sldImg"/>
          </p:nvPr>
        </p:nvSpPr>
        <p:spPr/>
      </p:sp>
      <p:sp>
        <p:nvSpPr>
          <p:cNvPr id="522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EF9A8F4-F1D6-4272-AED5-590EF7CE35C7}"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4274" name="Rectangle 2"/>
          <p:cNvSpPr>
            <a:spLocks noGrp="1" noRot="1" noChangeAspect="1" noChangeArrowheads="1" noTextEdit="1"/>
          </p:cNvSpPr>
          <p:nvPr>
            <p:ph type="sldImg"/>
          </p:nvPr>
        </p:nvSpPr>
        <p:spPr/>
      </p:sp>
      <p:sp>
        <p:nvSpPr>
          <p:cNvPr id="542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D5B653E-C24A-4F9F-9ED4-52FDB2A091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6322" name="Rectangle 2"/>
          <p:cNvSpPr>
            <a:spLocks noGrp="1" noRot="1" noChangeAspect="1" noChangeArrowheads="1" noTextEdit="1"/>
          </p:cNvSpPr>
          <p:nvPr>
            <p:ph type="sldImg"/>
          </p:nvPr>
        </p:nvSpPr>
        <p:spPr/>
      </p:sp>
      <p:sp>
        <p:nvSpPr>
          <p:cNvPr id="563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82B29415-63C3-4DAE-BA64-18F91B5F9D31}"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0418" name="Rectangle 2"/>
          <p:cNvSpPr>
            <a:spLocks noGrp="1" noRot="1" noChangeAspect="1" noChangeArrowheads="1" noTextEdit="1"/>
          </p:cNvSpPr>
          <p:nvPr>
            <p:ph type="sldImg"/>
          </p:nvPr>
        </p:nvSpPr>
        <p:spPr/>
      </p:sp>
      <p:sp>
        <p:nvSpPr>
          <p:cNvPr id="6041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8A18A-D5C2-41F8-98D7-80F2A4AF2653}"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2466" name="Rectangle 2"/>
          <p:cNvSpPr>
            <a:spLocks noGrp="1" noRot="1" noChangeAspect="1" noChangeArrowheads="1" noTextEdit="1"/>
          </p:cNvSpPr>
          <p:nvPr>
            <p:ph type="sldImg"/>
          </p:nvPr>
        </p:nvSpPr>
        <p:spPr/>
      </p:sp>
      <p:sp>
        <p:nvSpPr>
          <p:cNvPr id="624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4E5FD585-2D3C-4D4C-9C46-95A9B1AAE880}"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4514" name="Rectangle 2"/>
          <p:cNvSpPr>
            <a:spLocks noGrp="1" noRot="1" noChangeAspect="1" noChangeArrowheads="1" noTextEdit="1"/>
          </p:cNvSpPr>
          <p:nvPr>
            <p:ph type="sldImg"/>
          </p:nvPr>
        </p:nvSpPr>
        <p:spPr/>
      </p:sp>
      <p:sp>
        <p:nvSpPr>
          <p:cNvPr id="6451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E892B4D-38DF-4064-9E16-CA90B4DE3B8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66562" name="Rectangle 2"/>
          <p:cNvSpPr>
            <a:spLocks noGrp="1" noRot="1" noChangeAspect="1" noChangeArrowheads="1" noTextEdit="1"/>
          </p:cNvSpPr>
          <p:nvPr>
            <p:ph type="sldImg"/>
          </p:nvPr>
        </p:nvSpPr>
        <p:spPr/>
      </p:sp>
      <p:sp>
        <p:nvSpPr>
          <p:cNvPr id="6656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63B43569-0A7E-4A87-B121-BDA389BA814F}"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0178" name="Rectangle 2"/>
          <p:cNvSpPr>
            <a:spLocks noGrp="1" noRot="1" noChangeAspect="1" noChangeArrowheads="1" noTextEdit="1"/>
          </p:cNvSpPr>
          <p:nvPr>
            <p:ph type="sldImg"/>
          </p:nvPr>
        </p:nvSpPr>
        <p:spPr/>
      </p:sp>
      <p:sp>
        <p:nvSpPr>
          <p:cNvPr id="5017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F512000-0E18-4481-B56B-0DEA762F80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0658" name="Rectangle 2"/>
          <p:cNvSpPr>
            <a:spLocks noGrp="1" noRot="1" noChangeAspect="1" noChangeArrowheads="1" noTextEdit="1"/>
          </p:cNvSpPr>
          <p:nvPr>
            <p:ph type="sldImg"/>
          </p:nvPr>
        </p:nvSpPr>
        <p:spPr/>
      </p:sp>
      <p:sp>
        <p:nvSpPr>
          <p:cNvPr id="70659"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DB137B5-843E-4699-AC99-27F3C83659A6}"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2706" name="Rectangle 2"/>
          <p:cNvSpPr>
            <a:spLocks noGrp="1" noRot="1" noChangeAspect="1" noChangeArrowheads="1" noTextEdit="1"/>
          </p:cNvSpPr>
          <p:nvPr>
            <p:ph type="sldImg"/>
          </p:nvPr>
        </p:nvSpPr>
        <p:spPr/>
      </p:sp>
      <p:sp>
        <p:nvSpPr>
          <p:cNvPr id="7270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36501839-7371-45B1-A86F-4D6848EB5C2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4754" name="Rectangle 2"/>
          <p:cNvSpPr>
            <a:spLocks noGrp="1" noRot="1" noChangeAspect="1" noChangeArrowheads="1" noTextEdit="1"/>
          </p:cNvSpPr>
          <p:nvPr>
            <p:ph type="sldImg"/>
          </p:nvPr>
        </p:nvSpPr>
        <p:spPr/>
      </p:sp>
      <p:sp>
        <p:nvSpPr>
          <p:cNvPr id="7475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1EBD3818-B01B-49DE-A9B4-190047E85F1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7826" name="Rectangle 2"/>
          <p:cNvSpPr>
            <a:spLocks noGrp="1" noRot="1" noChangeAspect="1" noChangeArrowheads="1" noTextEdit="1"/>
          </p:cNvSpPr>
          <p:nvPr>
            <p:ph type="sldImg"/>
          </p:nvPr>
        </p:nvSpPr>
        <p:spPr/>
      </p:sp>
      <p:sp>
        <p:nvSpPr>
          <p:cNvPr id="7782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C80AE906-C0B8-4912-8B43-B6F5DCC2F4F2}"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p:sp>
      <p:sp>
        <p:nvSpPr>
          <p:cNvPr id="79875"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E355255A-768F-4DA6-9FB2-D6327BA5FA1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58370" name="Rectangle 2"/>
          <p:cNvSpPr>
            <a:spLocks noGrp="1" noRot="1" noChangeAspect="1" noChangeArrowheads="1" noTextEdit="1"/>
          </p:cNvSpPr>
          <p:nvPr>
            <p:ph type="sldImg"/>
          </p:nvPr>
        </p:nvSpPr>
        <p:spPr/>
      </p:sp>
      <p:sp>
        <p:nvSpPr>
          <p:cNvPr id="583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1B896F9-4E89-493F-A2B1-A321DE9304A5}"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1922" name="Rectangle 2"/>
          <p:cNvSpPr>
            <a:spLocks noGrp="1" noRot="1" noChangeAspect="1" noChangeArrowheads="1" noTextEdit="1"/>
          </p:cNvSpPr>
          <p:nvPr>
            <p:ph type="sldImg"/>
          </p:nvPr>
        </p:nvSpPr>
        <p:spPr/>
      </p:sp>
      <p:sp>
        <p:nvSpPr>
          <p:cNvPr id="81923"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F94F847D-A7FD-4514-818A-A1873C677874}"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3970" name="Rectangle 2"/>
          <p:cNvSpPr>
            <a:spLocks noGrp="1" noRot="1" noChangeAspect="1" noChangeArrowheads="1" noTextEdit="1"/>
          </p:cNvSpPr>
          <p:nvPr>
            <p:ph type="sldImg"/>
          </p:nvPr>
        </p:nvSpPr>
        <p:spPr/>
      </p:sp>
      <p:sp>
        <p:nvSpPr>
          <p:cNvPr id="83971"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0435">
              <a:defRPr>
                <a:solidFill>
                  <a:schemeClr val="tx1"/>
                </a:solidFill>
                <a:latin typeface="Verdana" panose="020B0604030504040204" pitchFamily="34" charset="0"/>
                <a:ea typeface="MS PGothic" panose="020B0600070205080204" pitchFamily="34" charset="-128"/>
              </a:defRPr>
            </a:lvl1pPr>
            <a:lvl2pPr marL="751205" indent="-288925" defTabSz="940435">
              <a:defRPr>
                <a:solidFill>
                  <a:schemeClr val="tx1"/>
                </a:solidFill>
                <a:latin typeface="Verdana" panose="020B0604030504040204" pitchFamily="34" charset="0"/>
                <a:ea typeface="MS PGothic" panose="020B0600070205080204" pitchFamily="34" charset="-128"/>
              </a:defRPr>
            </a:lvl2pPr>
            <a:lvl3pPr marL="1155700" indent="-231140" defTabSz="940435">
              <a:defRPr>
                <a:solidFill>
                  <a:schemeClr val="tx1"/>
                </a:solidFill>
                <a:latin typeface="Verdana" panose="020B0604030504040204" pitchFamily="34" charset="0"/>
                <a:ea typeface="MS PGothic" panose="020B0600070205080204" pitchFamily="34" charset="-128"/>
              </a:defRPr>
            </a:lvl3pPr>
            <a:lvl4pPr marL="1617980" indent="-231140" defTabSz="940435">
              <a:defRPr>
                <a:solidFill>
                  <a:schemeClr val="tx1"/>
                </a:solidFill>
                <a:latin typeface="Verdana" panose="020B0604030504040204" pitchFamily="34" charset="0"/>
                <a:ea typeface="MS PGothic" panose="020B0600070205080204" pitchFamily="34" charset="-128"/>
              </a:defRPr>
            </a:lvl4pPr>
            <a:lvl5pPr marL="2080260" indent="-231140" defTabSz="940435">
              <a:defRPr>
                <a:solidFill>
                  <a:schemeClr val="tx1"/>
                </a:solidFill>
                <a:latin typeface="Verdana" panose="020B0604030504040204" pitchFamily="34" charset="0"/>
                <a:ea typeface="MS PGothic" panose="020B0600070205080204" pitchFamily="34" charset="-128"/>
              </a:defRPr>
            </a:lvl5pPr>
            <a:lvl6pPr marL="254254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300482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67100"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930015" indent="-231140" defTabSz="940435"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fld id="{D7264869-670A-4456-94F0-35BE1D40917D}" type="slidenum">
              <a:rPr lang="en-US" altLang="en-US" smtClean="0">
                <a:latin typeface="Times New Roman" panose="02020603050405020304" pitchFamily="18" charset="0"/>
              </a:rPr>
            </a:fld>
            <a:endParaRPr lang="en-US" altLang="en-US">
              <a:latin typeface="Times New Roman" panose="02020603050405020304" pitchFamily="18" charset="0"/>
            </a:endParaRPr>
          </a:p>
        </p:txBody>
      </p:sp>
      <p:sp>
        <p:nvSpPr>
          <p:cNvPr id="88066" name="Rectangle 2"/>
          <p:cNvSpPr>
            <a:spLocks noGrp="1" noRot="1" noChangeAspect="1" noChangeArrowheads="1" noTextEdit="1"/>
          </p:cNvSpPr>
          <p:nvPr>
            <p:ph type="sldImg"/>
          </p:nvPr>
        </p:nvSpPr>
        <p:spPr/>
      </p:sp>
      <p:sp>
        <p:nvSpPr>
          <p:cNvPr id="88067"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Times New Roman" panose="02020603050405020304" pitchFamily="18"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3" name="Group 3"/>
          <p:cNvGrpSpPr/>
          <p:nvPr/>
        </p:nvGrpSpPr>
        <p:grpSpPr bwMode="auto">
          <a:xfrm>
            <a:off x="198438" y="2960688"/>
            <a:ext cx="8610600" cy="201612"/>
            <a:chOff x="125" y="1865"/>
            <a:chExt cx="5424" cy="127"/>
          </a:xfrm>
        </p:grpSpPr>
        <p:sp>
          <p:nvSpPr>
            <p:cNvPr id="4" name="Rectangle 4"/>
            <p:cNvSpPr>
              <a:spLocks noChangeArrowheads="1"/>
            </p:cNvSpPr>
            <p:nvPr/>
          </p:nvSpPr>
          <p:spPr bwMode="auto">
            <a:xfrm>
              <a:off x="125"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5" name="Rectangle 5"/>
            <p:cNvSpPr>
              <a:spLocks noChangeArrowheads="1"/>
            </p:cNvSpPr>
            <p:nvPr/>
          </p:nvSpPr>
          <p:spPr bwMode="auto">
            <a:xfrm>
              <a:off x="1933" y="1865"/>
              <a:ext cx="1808" cy="127"/>
            </a:xfrm>
            <a:prstGeom prst="rect">
              <a:avLst/>
            </a:prstGeom>
            <a:solidFill>
              <a:srgbClr val="99CCFF"/>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6" name="Rectangle 6"/>
            <p:cNvSpPr>
              <a:spLocks noChangeArrowheads="1"/>
            </p:cNvSpPr>
            <p:nvPr/>
          </p:nvSpPr>
          <p:spPr bwMode="auto">
            <a:xfrm>
              <a:off x="3741" y="1865"/>
              <a:ext cx="1808" cy="127"/>
            </a:xfrm>
            <a:prstGeom prst="rect">
              <a:avLst/>
            </a:prstGeom>
            <a:solidFill>
              <a:srgbClr val="336699"/>
            </a:solidFill>
            <a:ln>
              <a:noFill/>
            </a:ln>
          </p:spPr>
          <p:txBody>
            <a:bodyPr wrap="none"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grpSp>
      <p:sp>
        <p:nvSpPr>
          <p:cNvPr id="7" name="Text Box 7"/>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336699"/>
                </a:solidFill>
                <a:latin typeface="Helvetica" panose="020B0604020202020204" pitchFamily="34" charset="0"/>
              </a:rPr>
              <a:t>Silberschatz, Galvin and Gagne ©2018</a:t>
            </a:r>
            <a:endParaRPr lang="en-US" altLang="en-US" sz="1000" b="1">
              <a:solidFill>
                <a:srgbClr val="336699"/>
              </a:solidFill>
              <a:latin typeface="Helvetica" panose="020B0604020202020204" pitchFamily="34" charset="0"/>
            </a:endParaRPr>
          </a:p>
        </p:txBody>
      </p:sp>
      <p:sp>
        <p:nvSpPr>
          <p:cNvPr id="8" name="Text Box 8"/>
          <p:cNvSpPr txBox="1">
            <a:spLocks noChangeArrowheads="1"/>
          </p:cNvSpPr>
          <p:nvPr/>
        </p:nvSpPr>
        <p:spPr bwMode="auto">
          <a:xfrm>
            <a:off x="26988" y="6613525"/>
            <a:ext cx="273050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336699"/>
                </a:solidFill>
                <a:latin typeface="Helvetica" panose="020B0604020202020204" pitchFamily="34" charset="0"/>
              </a:rPr>
              <a:t>Operating System Concepts – 10</a:t>
            </a:r>
            <a:r>
              <a:rPr lang="en-US" altLang="en-US" sz="1000" b="1" baseline="30000">
                <a:solidFill>
                  <a:srgbClr val="336699"/>
                </a:solidFill>
                <a:latin typeface="Helvetica" panose="020B0604020202020204" pitchFamily="34" charset="0"/>
              </a:rPr>
              <a:t>th</a:t>
            </a:r>
            <a:r>
              <a:rPr lang="en-US" altLang="en-US" sz="1000" b="1">
                <a:solidFill>
                  <a:srgbClr val="336699"/>
                </a:solidFill>
                <a:latin typeface="Helvetica" panose="020B0604020202020204" pitchFamily="34" charset="0"/>
              </a:rPr>
              <a:t> Edition</a:t>
            </a:r>
            <a:endParaRPr lang="en-US" altLang="en-US" sz="1000" b="1">
              <a:solidFill>
                <a:srgbClr val="336699"/>
              </a:solidFill>
              <a:latin typeface="Helvetica" panose="020B0604020202020204" pitchFamily="34" charset="0"/>
            </a:endParaRPr>
          </a:p>
        </p:txBody>
      </p:sp>
      <p:pic>
        <p:nvPicPr>
          <p:cNvPr id="9" name="Picture 9" descr="dino_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0738" y="4157663"/>
            <a:ext cx="2062162" cy="1593850"/>
          </a:xfrm>
          <a:prstGeom prst="rect">
            <a:avLst/>
          </a:prstGeom>
          <a:noFill/>
          <a:ln w="76200">
            <a:solidFill>
              <a:srgbClr val="336699"/>
            </a:solidFill>
            <a:miter lim="800000"/>
            <a:headEnd/>
            <a:tailEnd/>
          </a:ln>
          <a:extLst>
            <a:ext uri="{909E8E84-426E-40DD-AFC4-6F175D3DCCD1}">
              <a14:hiddenFill xmlns:a14="http://schemas.microsoft.com/office/drawing/2010/main">
                <a:solidFill>
                  <a:srgbClr val="FFFFFF"/>
                </a:solidFill>
              </a14:hiddenFill>
            </a:ext>
          </a:extLst>
        </p:spPr>
      </p:pic>
      <p:sp>
        <p:nvSpPr>
          <p:cNvPr id="10" name="Rectangle 10"/>
          <p:cNvSpPr>
            <a:spLocks noChangeArrowheads="1"/>
          </p:cNvSpPr>
          <p:nvPr/>
        </p:nvSpPr>
        <p:spPr bwMode="auto">
          <a:xfrm>
            <a:off x="3224213" y="4006850"/>
            <a:ext cx="2336800" cy="1887538"/>
          </a:xfrm>
          <a:prstGeom prst="rect">
            <a:avLst/>
          </a:prstGeom>
          <a:noFill/>
          <a:ln w="57150" cmpd="thinThick">
            <a:solidFill>
              <a:srgbClr val="66CCFF"/>
            </a:solidFill>
            <a:miter lim="800000"/>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defRPr/>
            </a:pPr>
            <a:endParaRPr lang="en-US" altLang="en-US"/>
          </a:p>
        </p:txBody>
      </p:sp>
      <p:sp>
        <p:nvSpPr>
          <p:cNvPr id="152578" name="Rectangle 2"/>
          <p:cNvSpPr>
            <a:spLocks noGrp="1" noChangeArrowheads="1"/>
          </p:cNvSpPr>
          <p:nvPr>
            <p:ph type="ctrTitle"/>
          </p:nvPr>
        </p:nvSpPr>
        <p:spPr>
          <a:xfrm>
            <a:off x="685800" y="685800"/>
            <a:ext cx="7772400" cy="2127250"/>
          </a:xfrm>
        </p:spPr>
        <p:txBody>
          <a:bodyPr/>
          <a:lstStyle>
            <a:lvl1pPr>
              <a:defRPr sz="4300"/>
            </a:lvl1pPr>
          </a:lstStyle>
          <a:p>
            <a:r>
              <a:rPr lang="en-US" dirty="0"/>
              <a:t>Click to edit Master title style</a:t>
            </a:r>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06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997450" y="1233489"/>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1"/>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91338" y="277813"/>
            <a:ext cx="2144712" cy="5486400"/>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7813"/>
            <a:ext cx="6281738" cy="5486400"/>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3.jpeg"/><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dino_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 y="0"/>
            <a:ext cx="1195388" cy="908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3"/>
          <p:cNvSpPr>
            <a:spLocks noGrp="1" noChangeArrowheads="1"/>
          </p:cNvSpPr>
          <p:nvPr>
            <p:ph type="title"/>
          </p:nvPr>
        </p:nvSpPr>
        <p:spPr bwMode="auto">
          <a:xfrm>
            <a:off x="457200" y="233853"/>
            <a:ext cx="8229600"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b" anchorCtr="0" compatLnSpc="1"/>
          <a:lstStyle/>
          <a:p>
            <a:pPr lvl="0"/>
            <a:r>
              <a:rPr lang="en-US" altLang="en-US"/>
              <a:t>Click to edit Master title style</a:t>
            </a:r>
            <a:endParaRPr lang="en-US" altLang="en-US"/>
          </a:p>
        </p:txBody>
      </p:sp>
      <p:sp>
        <p:nvSpPr>
          <p:cNvPr id="1028" name="Rectangle 4"/>
          <p:cNvSpPr>
            <a:spLocks noGrp="1" noChangeArrowheads="1"/>
          </p:cNvSpPr>
          <p:nvPr>
            <p:ph type="body" idx="1"/>
          </p:nvPr>
        </p:nvSpPr>
        <p:spPr bwMode="auto">
          <a:xfrm>
            <a:off x="806450" y="1233488"/>
            <a:ext cx="772795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5" tIns="45718" rIns="91435" bIns="45718" numCol="1" anchor="t" anchorCtr="0" compatLnSpc="1"/>
          <a:lstStyle/>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9" name="Rectangle 5"/>
          <p:cNvSpPr>
            <a:spLocks noChangeArrowheads="1"/>
          </p:cNvSpPr>
          <p:nvPr/>
        </p:nvSpPr>
        <p:spPr bwMode="auto">
          <a:xfrm>
            <a:off x="0" y="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0" name="Line 6"/>
          <p:cNvSpPr>
            <a:spLocks noChangeShapeType="1"/>
          </p:cNvSpPr>
          <p:nvPr/>
        </p:nvSpPr>
        <p:spPr bwMode="auto">
          <a:xfrm>
            <a:off x="457200" y="860425"/>
            <a:ext cx="8077200" cy="0"/>
          </a:xfrm>
          <a:prstGeom prst="line">
            <a:avLst/>
          </a:prstGeom>
          <a:noFill/>
          <a:ln w="19050">
            <a:solidFill>
              <a:srgbClr val="336699"/>
            </a:solidFill>
            <a:round/>
          </a:ln>
          <a:extLst>
            <a:ext uri="{909E8E84-426E-40DD-AFC4-6F175D3DCCD1}">
              <a14:hiddenFill xmlns:a14="http://schemas.microsoft.com/office/drawing/2010/main">
                <a:noFill/>
              </a14:hiddenFill>
            </a:ext>
          </a:extLst>
        </p:spPr>
        <p:txBody>
          <a:bodyPr lIns="91435" tIns="45718" rIns="91435" bIns="45718"/>
          <a:lstStyle/>
          <a:p>
            <a:endParaRPr lang="en-US"/>
          </a:p>
        </p:txBody>
      </p:sp>
      <p:sp>
        <p:nvSpPr>
          <p:cNvPr id="1031" name="Rectangle 7"/>
          <p:cNvSpPr>
            <a:spLocks noChangeArrowheads="1"/>
          </p:cNvSpPr>
          <p:nvPr/>
        </p:nvSpPr>
        <p:spPr bwMode="auto">
          <a:xfrm>
            <a:off x="0" y="2286000"/>
            <a:ext cx="228600" cy="2286000"/>
          </a:xfrm>
          <a:prstGeom prst="rect">
            <a:avLst/>
          </a:prstGeom>
          <a:solidFill>
            <a:srgbClr val="99CCFF"/>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2" name="Rectangle 8"/>
          <p:cNvSpPr>
            <a:spLocks noChangeArrowheads="1"/>
          </p:cNvSpPr>
          <p:nvPr/>
        </p:nvSpPr>
        <p:spPr bwMode="auto">
          <a:xfrm>
            <a:off x="0" y="4572000"/>
            <a:ext cx="228600" cy="2286000"/>
          </a:xfrm>
          <a:prstGeom prst="rect">
            <a:avLst/>
          </a:prstGeom>
          <a:solidFill>
            <a:srgbClr val="336699"/>
          </a:solidFill>
          <a:ln>
            <a:noFill/>
          </a:ln>
        </p:spPr>
        <p:txBody>
          <a:bodyPr wrap="none" lIns="91435" tIns="45718" rIns="91435" bIns="45718" anchor="ct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defRPr/>
            </a:pPr>
            <a:endParaRPr lang="en-US" altLang="en-US" sz="2400" dirty="0">
              <a:latin typeface="Times New Roman" panose="02020603050405020304" pitchFamily="18" charset="0"/>
            </a:endParaRPr>
          </a:p>
        </p:txBody>
      </p:sp>
      <p:sp>
        <p:nvSpPr>
          <p:cNvPr id="1033" name="Text Box 9"/>
          <p:cNvSpPr txBox="1">
            <a:spLocks noChangeArrowheads="1"/>
          </p:cNvSpPr>
          <p:nvPr/>
        </p:nvSpPr>
        <p:spPr bwMode="auto">
          <a:xfrm>
            <a:off x="4256088" y="6613525"/>
            <a:ext cx="447675" cy="246063"/>
          </a:xfrm>
          <a:prstGeom prst="rect">
            <a:avLst/>
          </a:prstGeom>
          <a:noFill/>
          <a:ln>
            <a:noFill/>
          </a:ln>
        </p:spPr>
        <p:txBody>
          <a:bodyPr wrap="none" lIns="91435" tIns="45718" rIns="91435" bIns="45718">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a:spcBef>
                <a:spcPct val="50000"/>
              </a:spcBef>
              <a:defRPr/>
            </a:pPr>
            <a:r>
              <a:rPr lang="en-US" altLang="en-US" sz="1000" b="1">
                <a:solidFill>
                  <a:srgbClr val="006699"/>
                </a:solidFill>
                <a:latin typeface="Helvetica" panose="020B0604020202020204" pitchFamily="34" charset="0"/>
              </a:rPr>
              <a:t>6.</a:t>
            </a:r>
            <a:fld id="{B911E7D7-D784-4B10-991E-22AC2D897065}" type="slidenum">
              <a:rPr lang="en-US" altLang="en-US" sz="1000" b="1" smtClean="0">
                <a:solidFill>
                  <a:srgbClr val="006699"/>
                </a:solidFill>
                <a:latin typeface="Helvetica" panose="020B0604020202020204" pitchFamily="34" charset="0"/>
              </a:rPr>
            </a:fld>
            <a:endParaRPr lang="en-US" altLang="en-US" sz="1000" b="1">
              <a:solidFill>
                <a:srgbClr val="006699"/>
              </a:solidFill>
              <a:latin typeface="Helvetica" panose="020B0604020202020204" pitchFamily="34" charset="0"/>
            </a:endParaRPr>
          </a:p>
        </p:txBody>
      </p:sp>
      <p:sp>
        <p:nvSpPr>
          <p:cNvPr id="1034" name="Text Box 10"/>
          <p:cNvSpPr txBox="1">
            <a:spLocks noChangeArrowheads="1"/>
          </p:cNvSpPr>
          <p:nvPr/>
        </p:nvSpPr>
        <p:spPr bwMode="auto">
          <a:xfrm>
            <a:off x="6489700" y="6588125"/>
            <a:ext cx="2713038"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5" tIns="45718" rIns="91435" bIns="45718">
            <a:spAutoFit/>
          </a:bodyPr>
          <a:lstStyle/>
          <a:p>
            <a:pPr algn="ctr">
              <a:spcBef>
                <a:spcPct val="50000"/>
              </a:spcBef>
            </a:pPr>
            <a:r>
              <a:rPr lang="en-US" altLang="en-US" sz="1000" b="1">
                <a:solidFill>
                  <a:srgbClr val="006699"/>
                </a:solidFill>
                <a:latin typeface="Helvetica" panose="020B0604020202020204" pitchFamily="34" charset="0"/>
              </a:rPr>
              <a:t>Silberschatz, Galvin and Gagne ©2018</a:t>
            </a:r>
            <a:endParaRPr lang="en-US" altLang="en-US" sz="1000" b="1">
              <a:solidFill>
                <a:srgbClr val="006699"/>
              </a:solidFill>
              <a:latin typeface="Helvetica" panose="020B0604020202020204" pitchFamily="34" charset="0"/>
            </a:endParaRPr>
          </a:p>
        </p:txBody>
      </p:sp>
      <p:sp>
        <p:nvSpPr>
          <p:cNvPr id="1035" name="Text Box 11"/>
          <p:cNvSpPr txBox="1">
            <a:spLocks noChangeArrowheads="1"/>
          </p:cNvSpPr>
          <p:nvPr/>
        </p:nvSpPr>
        <p:spPr bwMode="auto">
          <a:xfrm>
            <a:off x="185738" y="6621463"/>
            <a:ext cx="2730500" cy="246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5" tIns="45718" rIns="91435" bIns="45718">
            <a:spAutoFit/>
          </a:bodyPr>
          <a:lstStyle/>
          <a:p>
            <a:pPr>
              <a:spcBef>
                <a:spcPct val="50000"/>
              </a:spcBef>
            </a:pPr>
            <a:r>
              <a:rPr lang="en-US" altLang="en-US" sz="1000" b="1">
                <a:solidFill>
                  <a:srgbClr val="006699"/>
                </a:solidFill>
                <a:latin typeface="Helvetica" panose="020B0604020202020204" pitchFamily="34" charset="0"/>
              </a:rPr>
              <a:t>Operating System Concepts – 10</a:t>
            </a:r>
            <a:r>
              <a:rPr lang="en-US" altLang="en-US" sz="1000" b="1" baseline="30000">
                <a:solidFill>
                  <a:srgbClr val="006699"/>
                </a:solidFill>
                <a:latin typeface="Helvetica" panose="020B0604020202020204" pitchFamily="34" charset="0"/>
              </a:rPr>
              <a:t>th</a:t>
            </a:r>
            <a:r>
              <a:rPr lang="en-US" altLang="en-US" sz="1000" b="1">
                <a:solidFill>
                  <a:srgbClr val="006699"/>
                </a:solidFill>
                <a:latin typeface="Helvetica" panose="020B0604020202020204" pitchFamily="34" charset="0"/>
              </a:rPr>
              <a:t> Edition</a:t>
            </a:r>
            <a:endParaRPr lang="en-US" altLang="en-US" sz="1000" b="1">
              <a:solidFill>
                <a:srgbClr val="006699"/>
              </a:solidFill>
              <a:latin typeface="Helvetica" panose="020B0604020202020204" pitchFamily="34" charset="0"/>
            </a:endParaRPr>
          </a:p>
        </p:txBody>
      </p:sp>
      <p:pic>
        <p:nvPicPr>
          <p:cNvPr id="1036" name="Picture 12" descr="dino_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773988" y="5849938"/>
            <a:ext cx="1284287" cy="792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b="1">
          <a:solidFill>
            <a:srgbClr val="006699"/>
          </a:solidFill>
          <a:latin typeface="+mj-lt"/>
          <a:ea typeface="MS PGothic" panose="020B0600070205080204" pitchFamily="34" charset="-128"/>
          <a:cs typeface="MS PGothic" panose="020B0600070205080204" pitchFamily="34" charset="-128"/>
        </a:defRPr>
      </a:lvl1pPr>
      <a:lvl2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2pPr>
      <a:lvl3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3pPr>
      <a:lvl4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4pPr>
      <a:lvl5pPr algn="ctr" rtl="0" eaLnBrk="0" fontAlgn="base" hangingPunct="0">
        <a:spcBef>
          <a:spcPct val="0"/>
        </a:spcBef>
        <a:spcAft>
          <a:spcPct val="0"/>
        </a:spcAft>
        <a:defRPr sz="3200" b="1">
          <a:solidFill>
            <a:srgbClr val="006699"/>
          </a:solidFill>
          <a:latin typeface="Arial" panose="020B0604020202020204" pitchFamily="34" charset="0"/>
          <a:ea typeface="MS PGothic" panose="020B0600070205080204" pitchFamily="34" charset="-128"/>
          <a:cs typeface="MS PGothic" panose="020B0600070205080204" pitchFamily="34" charset="-128"/>
        </a:defRPr>
      </a:lvl5pPr>
      <a:lvl6pPr marL="457200" algn="ctr" rtl="0" fontAlgn="base">
        <a:spcBef>
          <a:spcPct val="0"/>
        </a:spcBef>
        <a:spcAft>
          <a:spcPct val="0"/>
        </a:spcAft>
        <a:defRPr sz="3200" b="1">
          <a:solidFill>
            <a:srgbClr val="006699"/>
          </a:solidFill>
          <a:latin typeface="Arial" panose="020B0604020202020204" pitchFamily="34" charset="0"/>
        </a:defRPr>
      </a:lvl6pPr>
      <a:lvl7pPr marL="914400" algn="ctr" rtl="0" fontAlgn="base">
        <a:spcBef>
          <a:spcPct val="0"/>
        </a:spcBef>
        <a:spcAft>
          <a:spcPct val="0"/>
        </a:spcAft>
        <a:defRPr sz="3200" b="1">
          <a:solidFill>
            <a:srgbClr val="006699"/>
          </a:solidFill>
          <a:latin typeface="Arial" panose="020B0604020202020204" pitchFamily="34" charset="0"/>
        </a:defRPr>
      </a:lvl7pPr>
      <a:lvl8pPr marL="1371600" algn="ctr" rtl="0" fontAlgn="base">
        <a:spcBef>
          <a:spcPct val="0"/>
        </a:spcBef>
        <a:spcAft>
          <a:spcPct val="0"/>
        </a:spcAft>
        <a:defRPr sz="3200" b="1">
          <a:solidFill>
            <a:srgbClr val="006699"/>
          </a:solidFill>
          <a:latin typeface="Arial" panose="020B0604020202020204" pitchFamily="34" charset="0"/>
        </a:defRPr>
      </a:lvl8pPr>
      <a:lvl9pPr marL="1828800" algn="ctr" rtl="0" fontAlgn="base">
        <a:spcBef>
          <a:spcPct val="0"/>
        </a:spcBef>
        <a:spcAft>
          <a:spcPct val="0"/>
        </a:spcAft>
        <a:defRPr sz="3200" b="1">
          <a:solidFill>
            <a:srgbClr val="006699"/>
          </a:solidFill>
          <a:latin typeface="Arial" panose="020B0604020202020204" pitchFamily="34" charset="0"/>
        </a:defRPr>
      </a:lvl9pPr>
    </p:titleStyle>
    <p:bodyStyle>
      <a:lvl1pPr marL="341630" indent="-341630" algn="l" rtl="0" eaLnBrk="0" fontAlgn="base" hangingPunct="0">
        <a:spcBef>
          <a:spcPct val="35000"/>
        </a:spcBef>
        <a:spcAft>
          <a:spcPct val="0"/>
        </a:spcAft>
        <a:buClr>
          <a:srgbClr val="993300"/>
        </a:buClr>
        <a:buSzPct val="110000"/>
        <a:buFont typeface="Wingdings" panose="05000000000000000000" pitchFamily="2" charset="2"/>
        <a:buChar char="§"/>
        <a:defRPr kumimoji="1">
          <a:solidFill>
            <a:schemeClr val="tx1"/>
          </a:solidFill>
          <a:latin typeface="+mn-lt"/>
          <a:ea typeface="MS PGothic" panose="020B0600070205080204" pitchFamily="34" charset="-128"/>
          <a:cs typeface="MS PGothic" panose="020B0600070205080204" pitchFamily="34" charset="-128"/>
        </a:defRPr>
      </a:lvl1pPr>
      <a:lvl2pPr marL="741680" indent="-284480" algn="l" rtl="0" eaLnBrk="0" fontAlgn="base" hangingPunct="0">
        <a:spcBef>
          <a:spcPct val="35000"/>
        </a:spcBef>
        <a:spcAft>
          <a:spcPct val="0"/>
        </a:spcAft>
        <a:buClr>
          <a:srgbClr val="CC6600"/>
        </a:buClr>
        <a:buSzPct val="110000"/>
        <a:buFont typeface="Arial" panose="020B0604020202020204" pitchFamily="34" charset="0"/>
        <a:buChar char="•"/>
        <a:defRPr kumimoji="1">
          <a:solidFill>
            <a:schemeClr val="tx1"/>
          </a:solidFill>
          <a:latin typeface="+mn-lt"/>
          <a:ea typeface="MS PGothic" panose="020B0600070205080204" pitchFamily="34" charset="-128"/>
          <a:cs typeface="MS PGothic" panose="020B0600070205080204" pitchFamily="34" charset="-128"/>
        </a:defRPr>
      </a:lvl2pPr>
      <a:lvl3pPr marL="1084580" indent="-227330" algn="l" rtl="0" eaLnBrk="0" fontAlgn="base" hangingPunct="0">
        <a:spcBef>
          <a:spcPct val="35000"/>
        </a:spcBef>
        <a:spcAft>
          <a:spcPct val="0"/>
        </a:spcAft>
        <a:buClr>
          <a:srgbClr val="009900"/>
        </a:buClr>
        <a:buSzPct val="75000"/>
        <a:buFont typeface="Webdings" panose="05030102010509060703" pitchFamily="18" charset="2"/>
        <a:buChar char="4"/>
        <a:defRPr kumimoji="1">
          <a:solidFill>
            <a:schemeClr val="tx1"/>
          </a:solidFill>
          <a:latin typeface="+mn-lt"/>
          <a:ea typeface="MS PGothic" panose="020B0600070205080204" pitchFamily="34" charset="-128"/>
          <a:cs typeface="MS PGothic" panose="020B0600070205080204" pitchFamily="34" charset="-128"/>
        </a:defRPr>
      </a:lvl3pPr>
      <a:lvl4pPr marL="1427480" indent="-227330" algn="l" rtl="0" eaLnBrk="0" fontAlgn="base" hangingPunct="0">
        <a:spcBef>
          <a:spcPct val="35000"/>
        </a:spcBef>
        <a:spcAft>
          <a:spcPct val="0"/>
        </a:spcAft>
        <a:buClr>
          <a:schemeClr val="hlink"/>
        </a:buClr>
        <a:buSzPct val="75000"/>
        <a:buChar char="–"/>
        <a:defRPr kumimoji="1">
          <a:solidFill>
            <a:schemeClr val="tx1"/>
          </a:solidFill>
          <a:latin typeface="+mn-lt"/>
          <a:ea typeface="MS PGothic" panose="020B0600070205080204" pitchFamily="34" charset="-128"/>
          <a:cs typeface="MS PGothic" panose="020B0600070205080204" pitchFamily="34" charset="-128"/>
        </a:defRPr>
      </a:lvl4pPr>
      <a:lvl5pPr marL="1770380" indent="-22733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cs typeface="MS PGothic" panose="020B0600070205080204" pitchFamily="34" charset="-128"/>
        </a:defRPr>
      </a:lvl5pPr>
      <a:lvl6pPr marL="22288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6pPr>
      <a:lvl7pPr marL="26860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7pPr>
      <a:lvl8pPr marL="31432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8pPr>
      <a:lvl9pPr marL="3600450" indent="-228600" algn="l" rtl="0" eaLnBrk="0" fontAlgn="base" hangingPunct="0">
        <a:spcBef>
          <a:spcPct val="35000"/>
        </a:spcBef>
        <a:spcAft>
          <a:spcPct val="0"/>
        </a:spcAft>
        <a:buClr>
          <a:srgbClr val="FF0066"/>
        </a:buClr>
        <a:buSzPct val="75000"/>
        <a:buChar char="»"/>
        <a:defRPr kumimoji="1">
          <a:solidFill>
            <a:schemeClr val="tx1"/>
          </a:solidFill>
          <a:latin typeface="+mn-lt"/>
          <a:ea typeface="MS PGothic" panose="020B0600070205080204" pitchFamily="34" charset="-128"/>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6.xml"/><Relationship Id="rId1" Type="http://schemas.openxmlformats.org/officeDocument/2006/relationships/image" Target="../media/image7.jpeg"/></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6.xml"/><Relationship Id="rId1" Type="http://schemas.openxmlformats.org/officeDocument/2006/relationships/image" Target="../media/image8.jpe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1" name="Rectangle 2"/>
          <p:cNvSpPr>
            <a:spLocks noGrp="1" noChangeArrowheads="1"/>
          </p:cNvSpPr>
          <p:nvPr>
            <p:ph type="ctrTitle"/>
          </p:nvPr>
        </p:nvSpPr>
        <p:spPr>
          <a:xfrm>
            <a:off x="685800" y="808038"/>
            <a:ext cx="7772400" cy="2128837"/>
          </a:xfrm>
        </p:spPr>
        <p:txBody>
          <a:bodyPr/>
          <a:lstStyle/>
          <a:p>
            <a:pPr eaLnBrk="1" hangingPunct="1"/>
            <a:r>
              <a:rPr lang="en-US" altLang="en-US"/>
              <a:t>Chapter 6:  Synchronization Tools</a:t>
            </a:r>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9" name="Rectangle 2"/>
          <p:cNvSpPr>
            <a:spLocks noGrp="1" noChangeArrowheads="1"/>
          </p:cNvSpPr>
          <p:nvPr>
            <p:ph type="title"/>
          </p:nvPr>
        </p:nvSpPr>
        <p:spPr>
          <a:xfrm>
            <a:off x="1271588" y="220275"/>
            <a:ext cx="7707312" cy="576262"/>
          </a:xfrm>
        </p:spPr>
        <p:txBody>
          <a:bodyPr/>
          <a:lstStyle/>
          <a:p>
            <a:pPr eaLnBrk="1" hangingPunct="1"/>
            <a:r>
              <a:rPr lang="en-US" altLang="en-US" dirty="0"/>
              <a:t>Outline</a:t>
            </a:r>
            <a:endParaRPr lang="en-US" altLang="en-US" dirty="0"/>
          </a:p>
        </p:txBody>
      </p:sp>
      <p:sp>
        <p:nvSpPr>
          <p:cNvPr id="7171" name="Rectangle 3"/>
          <p:cNvSpPr>
            <a:spLocks noGrp="1" noChangeArrowheads="1"/>
          </p:cNvSpPr>
          <p:nvPr>
            <p:ph idx="1"/>
          </p:nvPr>
        </p:nvSpPr>
        <p:spPr>
          <a:xfrm>
            <a:off x="839755" y="1165225"/>
            <a:ext cx="7707311" cy="3270250"/>
          </a:xfrm>
        </p:spPr>
        <p:txBody>
          <a:bodyPr/>
          <a:lstStyle/>
          <a:p>
            <a:pPr>
              <a:lnSpc>
                <a:spcPct val="80000"/>
              </a:lnSpc>
              <a:defRPr/>
            </a:pPr>
            <a:r>
              <a:rPr lang="en-US" altLang="en-US" dirty="0"/>
              <a:t>Background</a:t>
            </a:r>
            <a:endParaRPr lang="en-US" altLang="en-US" dirty="0"/>
          </a:p>
          <a:p>
            <a:pPr>
              <a:lnSpc>
                <a:spcPct val="80000"/>
              </a:lnSpc>
              <a:defRPr/>
            </a:pPr>
            <a:r>
              <a:rPr lang="en-US" altLang="en-US" dirty="0"/>
              <a:t>The Critical-Section Problem </a:t>
            </a:r>
            <a:r>
              <a:rPr lang="zh-CN" altLang="en-US" dirty="0"/>
              <a:t>临界区问题</a:t>
            </a:r>
            <a:endParaRPr lang="en-US" altLang="en-US" dirty="0"/>
          </a:p>
          <a:p>
            <a:pPr>
              <a:lnSpc>
                <a:spcPct val="80000"/>
              </a:lnSpc>
              <a:defRPr/>
            </a:pPr>
            <a:r>
              <a:rPr lang="en-US" altLang="en-US" dirty="0"/>
              <a:t>Peterson</a:t>
            </a:r>
            <a:r>
              <a:rPr lang="ja-JP" altLang="en-US" dirty="0"/>
              <a:t>’</a:t>
            </a:r>
            <a:r>
              <a:rPr lang="en-US" altLang="ja-JP" dirty="0"/>
              <a:t>s Solution</a:t>
            </a:r>
            <a:endParaRPr lang="en-US" altLang="ja-JP" dirty="0"/>
          </a:p>
          <a:p>
            <a:pPr>
              <a:lnSpc>
                <a:spcPct val="80000"/>
              </a:lnSpc>
              <a:defRPr/>
            </a:pPr>
            <a:r>
              <a:rPr lang="en-US" altLang="en-US" dirty="0"/>
              <a:t>Hardware Support for Synchronization </a:t>
            </a:r>
            <a:r>
              <a:rPr lang="zh-CN" altLang="en-US" dirty="0"/>
              <a:t>硬件支持</a:t>
            </a:r>
            <a:endParaRPr lang="en-US" altLang="en-US" dirty="0"/>
          </a:p>
          <a:p>
            <a:pPr>
              <a:lnSpc>
                <a:spcPct val="80000"/>
              </a:lnSpc>
              <a:defRPr/>
            </a:pPr>
            <a:r>
              <a:rPr lang="en-US" altLang="en-US" dirty="0"/>
              <a:t>Mutex Locks </a:t>
            </a:r>
            <a:r>
              <a:rPr lang="zh-CN" altLang="en-US" dirty="0"/>
              <a:t>互斥锁</a:t>
            </a:r>
            <a:endParaRPr lang="en-US" altLang="en-US" dirty="0"/>
          </a:p>
          <a:p>
            <a:pPr>
              <a:lnSpc>
                <a:spcPct val="80000"/>
              </a:lnSpc>
              <a:defRPr/>
            </a:pPr>
            <a:r>
              <a:rPr lang="en-US" altLang="en-US" dirty="0"/>
              <a:t>Semaphores </a:t>
            </a:r>
            <a:r>
              <a:rPr lang="zh-CN" altLang="en-US" dirty="0"/>
              <a:t>信号量</a:t>
            </a:r>
            <a:endParaRPr lang="en-US" altLang="en-US" dirty="0"/>
          </a:p>
          <a:p>
            <a:pPr>
              <a:lnSpc>
                <a:spcPct val="80000"/>
              </a:lnSpc>
              <a:defRPr/>
            </a:pPr>
            <a:r>
              <a:rPr lang="en-US" altLang="en-US" dirty="0"/>
              <a:t>Monitors </a:t>
            </a:r>
            <a:r>
              <a:rPr lang="zh-CN" altLang="en-US" dirty="0"/>
              <a:t>管程</a:t>
            </a:r>
            <a:endParaRPr lang="en-US" altLang="en-US" dirty="0"/>
          </a:p>
          <a:p>
            <a:pPr>
              <a:lnSpc>
                <a:spcPct val="80000"/>
              </a:lnSpc>
              <a:defRPr/>
            </a:pPr>
            <a:r>
              <a:rPr lang="en-US" altLang="en-US" dirty="0"/>
              <a:t>Liveness</a:t>
            </a:r>
            <a:endParaRPr lang="en-US" altLang="en-US" dirty="0"/>
          </a:p>
          <a:p>
            <a:pPr>
              <a:lnSpc>
                <a:spcPct val="80000"/>
              </a:lnSpc>
              <a:defRPr/>
            </a:pPr>
            <a:r>
              <a:rPr lang="en-US" altLang="en-US" dirty="0"/>
              <a:t>Evaluation</a:t>
            </a:r>
            <a:endParaRPr lang="en-US" altLang="en-US" dirty="0"/>
          </a:p>
          <a:p>
            <a:pPr marL="0" indent="0">
              <a:lnSpc>
                <a:spcPct val="80000"/>
              </a:lnSpc>
              <a:buFont typeface="Monotype Sorts" pitchFamily="-84" charset="2"/>
              <a:buNone/>
              <a:defRPr/>
            </a:pPr>
            <a:endParaRPr lang="en-US" altLang="en-US" dirty="0"/>
          </a:p>
        </p:txBody>
      </p:sp>
      <p:sp>
        <p:nvSpPr>
          <p:cNvPr id="2" name="Rectangle 5"/>
          <p:cNvSpPr>
            <a:spLocks noChangeArrowheads="1"/>
          </p:cNvSpPr>
          <p:nvPr/>
        </p:nvSpPr>
        <p:spPr bwMode="auto">
          <a:xfrm>
            <a:off x="2286000" y="5116513"/>
            <a:ext cx="4078288"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spAutoFit/>
          </a:bodyPr>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endParaRPr kumimoji="1" lang="en-US" altLang="en-US">
              <a:latin typeface="Helvetica" panose="020B0604020202020204" pitchFamily="34" charset="0"/>
            </a:endParaRPr>
          </a:p>
          <a:p>
            <a:endParaRPr kumimoji="1" lang="en-US" altLang="en-US">
              <a:latin typeface="Helvetica" panose="020B0604020202020204" pitchFamily="34" charset="0"/>
            </a:endParaRPr>
          </a:p>
          <a:p>
            <a:endParaRPr kumimoji="1" lang="en-US" altLang="en-US">
              <a:latin typeface="Helvetica"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223679"/>
            <a:ext cx="8229600" cy="576263"/>
          </a:xfrm>
        </p:spPr>
        <p:txBody>
          <a:bodyPr/>
          <a:lstStyle/>
          <a:p>
            <a:pPr eaLnBrk="1" hangingPunct="1"/>
            <a:r>
              <a:rPr lang="en-US" altLang="en-US" dirty="0"/>
              <a:t>Objectives</a:t>
            </a:r>
            <a:endParaRPr lang="en-US" altLang="en-US" dirty="0"/>
          </a:p>
        </p:txBody>
      </p:sp>
      <p:sp>
        <p:nvSpPr>
          <p:cNvPr id="9218" name="Content Placeholder 2"/>
          <p:cNvSpPr>
            <a:spLocks noGrp="1"/>
          </p:cNvSpPr>
          <p:nvPr>
            <p:ph idx="1"/>
          </p:nvPr>
        </p:nvSpPr>
        <p:spPr>
          <a:xfrm>
            <a:off x="839756" y="1144588"/>
            <a:ext cx="5905702" cy="4222237"/>
          </a:xfrm>
        </p:spPr>
        <p:txBody>
          <a:bodyPr/>
          <a:lstStyle/>
          <a:p>
            <a:r>
              <a:rPr lang="en-US" altLang="en-US" dirty="0"/>
              <a:t>Describe the critical-section problem and illustrate a race condition</a:t>
            </a:r>
            <a:endParaRPr lang="en-US" altLang="en-US" dirty="0"/>
          </a:p>
          <a:p>
            <a:r>
              <a:rPr lang="en-US" altLang="en-US" dirty="0"/>
              <a:t>Illustrate hardware solutions to the critical-section problem using memory barriers, compare-and-swap operations, and atomic variables</a:t>
            </a:r>
            <a:endParaRPr lang="en-US" altLang="en-US" dirty="0"/>
          </a:p>
          <a:p>
            <a:r>
              <a:rPr lang="en-US" altLang="en-US" dirty="0"/>
              <a:t>Demonstrate how mutex locks, semaphores, monitors, and condition variables can be used to solve the critical section problem</a:t>
            </a:r>
            <a:endParaRPr lang="en-US" altLang="en-US" dirty="0"/>
          </a:p>
          <a:p>
            <a:r>
              <a:rPr lang="en-US" altLang="en-US" dirty="0"/>
              <a:t>Evaluate tools that solve the critical-section problem in low-,  Moderate-, and high-contention scenarios</a:t>
            </a:r>
            <a:endParaRPr lang="en-US"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Rectangle 4"/>
          <p:cNvSpPr>
            <a:spLocks noGrp="1" noChangeArrowheads="1"/>
          </p:cNvSpPr>
          <p:nvPr>
            <p:ph type="title"/>
          </p:nvPr>
        </p:nvSpPr>
        <p:spPr>
          <a:xfrm>
            <a:off x="784225" y="215318"/>
            <a:ext cx="7902575" cy="576263"/>
          </a:xfrm>
        </p:spPr>
        <p:txBody>
          <a:bodyPr/>
          <a:lstStyle/>
          <a:p>
            <a:pPr eaLnBrk="1" hangingPunct="1"/>
            <a:r>
              <a:rPr lang="en-US" altLang="en-US" dirty="0"/>
              <a:t>Background</a:t>
            </a:r>
            <a:endParaRPr lang="en-US" altLang="en-US" dirty="0"/>
          </a:p>
        </p:txBody>
      </p:sp>
      <p:sp>
        <p:nvSpPr>
          <p:cNvPr id="11266" name="Rectangle 5"/>
          <p:cNvSpPr>
            <a:spLocks noGrp="1" noChangeArrowheads="1"/>
          </p:cNvSpPr>
          <p:nvPr>
            <p:ph type="body" idx="1"/>
          </p:nvPr>
        </p:nvSpPr>
        <p:spPr>
          <a:xfrm>
            <a:off x="838588" y="1144200"/>
            <a:ext cx="7191909" cy="4851019"/>
          </a:xfrm>
        </p:spPr>
        <p:txBody>
          <a:bodyPr/>
          <a:lstStyle/>
          <a:p>
            <a:r>
              <a:rPr lang="en-US" altLang="en-US" dirty="0"/>
              <a:t>Processes can execute concurrently</a:t>
            </a:r>
            <a:endParaRPr lang="en-US" altLang="en-US" dirty="0"/>
          </a:p>
          <a:p>
            <a:pPr lvl="1"/>
            <a:r>
              <a:rPr lang="en-US" altLang="en-US" dirty="0"/>
              <a:t>May be interrupted at </a:t>
            </a:r>
            <a:r>
              <a:rPr lang="en-US" altLang="en-US" b="1" dirty="0"/>
              <a:t>any time</a:t>
            </a:r>
            <a:r>
              <a:rPr lang="en-US" altLang="en-US" dirty="0"/>
              <a:t>, partially completing execution</a:t>
            </a:r>
            <a:endParaRPr lang="en-US" altLang="en-US" dirty="0"/>
          </a:p>
          <a:p>
            <a:r>
              <a:rPr lang="en-US" altLang="en-US" dirty="0"/>
              <a:t>Concurrent access to shared data </a:t>
            </a:r>
            <a:r>
              <a:rPr lang="zh-CN" altLang="en-US" dirty="0"/>
              <a:t>共享数据</a:t>
            </a:r>
            <a:r>
              <a:rPr lang="en-US" altLang="en-US" dirty="0"/>
              <a:t> may result in data inconsistency </a:t>
            </a:r>
            <a:r>
              <a:rPr lang="zh-CN" altLang="en-US" dirty="0"/>
              <a:t>不一致</a:t>
            </a:r>
            <a:endParaRPr lang="en-US" altLang="en-US" dirty="0"/>
          </a:p>
          <a:p>
            <a:r>
              <a:rPr lang="en-US" altLang="en-US" dirty="0"/>
              <a:t>Maintaining data consistency requires mechanisms to ensure the orderly execution of cooperating processes</a:t>
            </a:r>
            <a:endParaRPr lang="en-US" altLang="en-US" dirty="0"/>
          </a:p>
          <a:p>
            <a:r>
              <a:rPr lang="en-US" altLang="en-US" dirty="0"/>
              <a:t>We illustrated in chapter 4 the problem when we considered the Bounded Buffer problem with use of a counter that is updated concurrently by the producer and consumer,. Which lead to race condition.</a:t>
            </a:r>
            <a:endParaRPr lang="en-US"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itle 1"/>
          <p:cNvSpPr>
            <a:spLocks noGrp="1"/>
          </p:cNvSpPr>
          <p:nvPr>
            <p:ph type="title"/>
          </p:nvPr>
        </p:nvSpPr>
        <p:spPr>
          <a:xfrm>
            <a:off x="457200" y="224522"/>
            <a:ext cx="8229600" cy="576262"/>
          </a:xfrm>
        </p:spPr>
        <p:txBody>
          <a:bodyPr/>
          <a:lstStyle/>
          <a:p>
            <a:r>
              <a:rPr lang="en-US" altLang="en-US" dirty="0"/>
              <a:t>Race Condition</a:t>
            </a:r>
            <a:endParaRPr lang="en-US" altLang="en-US" dirty="0"/>
          </a:p>
        </p:txBody>
      </p:sp>
      <p:sp>
        <p:nvSpPr>
          <p:cNvPr id="90114" name="Content Placeholder 2"/>
          <p:cNvSpPr>
            <a:spLocks noGrp="1"/>
          </p:cNvSpPr>
          <p:nvPr>
            <p:ph idx="1"/>
          </p:nvPr>
        </p:nvSpPr>
        <p:spPr>
          <a:xfrm>
            <a:off x="806450" y="1137626"/>
            <a:ext cx="7684407" cy="4667250"/>
          </a:xfrm>
        </p:spPr>
        <p:txBody>
          <a:bodyPr/>
          <a:lstStyle/>
          <a:p>
            <a:r>
              <a:rPr lang="en-US" altLang="en-US" dirty="0"/>
              <a:t>Processes P</a:t>
            </a:r>
            <a:r>
              <a:rPr lang="en-US" altLang="en-US" baseline="-25000" dirty="0"/>
              <a:t>0</a:t>
            </a:r>
            <a:r>
              <a:rPr lang="en-US" altLang="en-US" dirty="0"/>
              <a:t> and P</a:t>
            </a:r>
            <a:r>
              <a:rPr lang="en-US" altLang="en-US" baseline="-25000" dirty="0"/>
              <a:t>1</a:t>
            </a:r>
            <a:r>
              <a:rPr lang="en-US" altLang="en-US" dirty="0"/>
              <a:t> are creating child processes using the </a:t>
            </a:r>
            <a:r>
              <a:rPr lang="en-US" altLang="en-US" dirty="0">
                <a:latin typeface="Courier New" panose="02070309020205020404" pitchFamily="49" charset="0"/>
                <a:cs typeface="Courier New" panose="02070309020205020404" pitchFamily="49" charset="0"/>
              </a:rPr>
              <a:t>fork() </a:t>
            </a:r>
            <a:r>
              <a:rPr lang="en-US" altLang="en-US" dirty="0"/>
              <a:t>system call</a:t>
            </a:r>
            <a:endParaRPr lang="en-US" altLang="en-US" dirty="0"/>
          </a:p>
          <a:p>
            <a:r>
              <a:rPr lang="en-US" altLang="en-US" dirty="0"/>
              <a:t>Race condition on kernel variable </a:t>
            </a:r>
            <a:r>
              <a:rPr lang="en-US" altLang="en-US" dirty="0" err="1">
                <a:latin typeface="Courier New" panose="02070309020205020404" pitchFamily="49" charset="0"/>
                <a:cs typeface="Courier New" panose="02070309020205020404" pitchFamily="49" charset="0"/>
              </a:rPr>
              <a:t>next_available_pid</a:t>
            </a:r>
            <a:r>
              <a:rPr lang="en-US" altLang="en-US" dirty="0"/>
              <a:t> which represents the next available process identifier (</a:t>
            </a:r>
            <a:r>
              <a:rPr lang="en-US" altLang="en-US" dirty="0" err="1"/>
              <a:t>pid</a:t>
            </a:r>
            <a:r>
              <a:rPr lang="en-US" altLang="en-US" dirty="0"/>
              <a:t>)</a:t>
            </a: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br>
              <a:rPr lang="en-US" altLang="en-US" dirty="0"/>
            </a:br>
            <a:endParaRPr lang="en-US" altLang="en-US" dirty="0"/>
          </a:p>
          <a:p>
            <a:r>
              <a:rPr lang="en-US" altLang="en-US" dirty="0"/>
              <a:t>Unless there is a mechanism to prevent P</a:t>
            </a:r>
            <a:r>
              <a:rPr lang="en-US" altLang="en-US" baseline="-25000" dirty="0"/>
              <a:t>0</a:t>
            </a:r>
            <a:r>
              <a:rPr lang="en-US" altLang="en-US" dirty="0"/>
              <a:t> and P</a:t>
            </a:r>
            <a:r>
              <a:rPr lang="en-US" altLang="en-US" baseline="-25000" dirty="0"/>
              <a:t>1</a:t>
            </a:r>
            <a:r>
              <a:rPr lang="en-US" altLang="en-US" dirty="0"/>
              <a:t> from accessing  the variable </a:t>
            </a:r>
            <a:r>
              <a:rPr lang="en-US" altLang="en-US" dirty="0" err="1">
                <a:latin typeface="Courier New" panose="02070309020205020404" pitchFamily="49" charset="0"/>
                <a:cs typeface="Courier New" panose="02070309020205020404" pitchFamily="49" charset="0"/>
              </a:rPr>
              <a:t>next_available_pid</a:t>
            </a:r>
            <a:r>
              <a:rPr lang="en-US" altLang="en-US" dirty="0"/>
              <a:t>  the same </a:t>
            </a:r>
            <a:r>
              <a:rPr lang="en-US" altLang="en-US" dirty="0" err="1"/>
              <a:t>pid</a:t>
            </a:r>
            <a:r>
              <a:rPr lang="en-US" altLang="en-US" dirty="0"/>
              <a:t> could be assigned to two different processes!</a:t>
            </a:r>
            <a:endParaRPr lang="en-US" altLang="en-US" dirty="0"/>
          </a:p>
          <a:p>
            <a:endParaRPr lang="en-US" altLang="en-US" dirty="0"/>
          </a:p>
        </p:txBody>
      </p:sp>
      <p:pic>
        <p:nvPicPr>
          <p:cNvPr id="90115"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144778" y="2604342"/>
            <a:ext cx="4238625" cy="2649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457200" y="190694"/>
            <a:ext cx="8229600" cy="576262"/>
          </a:xfrm>
        </p:spPr>
        <p:txBody>
          <a:bodyPr/>
          <a:lstStyle/>
          <a:p>
            <a:r>
              <a:rPr lang="en-US" altLang="en-US" dirty="0"/>
              <a:t>Critical Section </a:t>
            </a:r>
            <a:r>
              <a:rPr lang="zh-CN" altLang="en-US" dirty="0"/>
              <a:t>临界区</a:t>
            </a:r>
            <a:r>
              <a:rPr lang="en-US" altLang="zh-CN" dirty="0"/>
              <a:t> </a:t>
            </a:r>
            <a:r>
              <a:rPr lang="en-US" altLang="en-US" dirty="0"/>
              <a:t>Problem</a:t>
            </a:r>
            <a:endParaRPr lang="en-US" altLang="en-US" dirty="0"/>
          </a:p>
        </p:txBody>
      </p:sp>
      <p:sp>
        <p:nvSpPr>
          <p:cNvPr id="19458" name="Content Placeholder 2"/>
          <p:cNvSpPr>
            <a:spLocks noGrp="1"/>
          </p:cNvSpPr>
          <p:nvPr>
            <p:ph idx="1"/>
          </p:nvPr>
        </p:nvSpPr>
        <p:spPr>
          <a:xfrm>
            <a:off x="811763" y="1159881"/>
            <a:ext cx="7349743" cy="4433523"/>
          </a:xfrm>
        </p:spPr>
        <p:txBody>
          <a:bodyPr/>
          <a:lstStyle/>
          <a:p>
            <a:r>
              <a:rPr lang="en-US" altLang="en-US" dirty="0"/>
              <a:t>Consider system of </a:t>
            </a:r>
            <a:r>
              <a:rPr lang="en-US" altLang="en-US" b="1" i="1" dirty="0"/>
              <a:t>n</a:t>
            </a:r>
            <a:r>
              <a:rPr lang="en-US" altLang="en-US" b="1" dirty="0"/>
              <a:t> </a:t>
            </a:r>
            <a:r>
              <a:rPr lang="en-US" altLang="en-US" dirty="0"/>
              <a:t>processes {</a:t>
            </a:r>
            <a:r>
              <a:rPr lang="en-US" altLang="en-US" b="1" i="1" dirty="0"/>
              <a:t>p</a:t>
            </a:r>
            <a:r>
              <a:rPr lang="en-US" altLang="en-US" b="1" i="1" baseline="-25000" dirty="0"/>
              <a:t>0</a:t>
            </a:r>
            <a:r>
              <a:rPr lang="en-US" altLang="en-US" b="1" i="1" dirty="0"/>
              <a:t>, p</a:t>
            </a:r>
            <a:r>
              <a:rPr lang="en-US" altLang="en-US" b="1" i="1" baseline="-25000" dirty="0"/>
              <a:t>1</a:t>
            </a:r>
            <a:r>
              <a:rPr lang="en-US" altLang="en-US" b="1" i="1" dirty="0"/>
              <a:t>, … p</a:t>
            </a:r>
            <a:r>
              <a:rPr lang="en-US" altLang="en-US" b="1" i="1" baseline="-25000" dirty="0"/>
              <a:t>n-1</a:t>
            </a:r>
            <a:r>
              <a:rPr lang="en-US" altLang="en-US" dirty="0"/>
              <a:t>}</a:t>
            </a:r>
            <a:endParaRPr lang="en-US" altLang="en-US" dirty="0"/>
          </a:p>
          <a:p>
            <a:r>
              <a:rPr lang="en-US" altLang="en-US" dirty="0"/>
              <a:t>Each process has </a:t>
            </a:r>
            <a:r>
              <a:rPr lang="en-US" altLang="en-US" b="1" dirty="0">
                <a:solidFill>
                  <a:srgbClr val="006699"/>
                </a:solidFill>
                <a:latin typeface="+mj-lt"/>
              </a:rPr>
              <a:t>critical section </a:t>
            </a:r>
            <a:r>
              <a:rPr lang="en-US" altLang="en-US" dirty="0"/>
              <a:t>segment of code</a:t>
            </a:r>
            <a:endParaRPr lang="en-US" altLang="en-US" dirty="0"/>
          </a:p>
          <a:p>
            <a:pPr lvl="1"/>
            <a:r>
              <a:rPr lang="en-US" altLang="en-US" dirty="0"/>
              <a:t>Process may be changing common variables, updating table, writing file, etc.</a:t>
            </a:r>
            <a:endParaRPr lang="en-US" altLang="en-US" dirty="0"/>
          </a:p>
          <a:p>
            <a:pPr lvl="1"/>
            <a:r>
              <a:rPr lang="en-US" altLang="en-US" dirty="0"/>
              <a:t>When one process in critical section, no other may be in its critical section</a:t>
            </a:r>
            <a:endParaRPr lang="en-US" altLang="en-US" dirty="0"/>
          </a:p>
          <a:p>
            <a:r>
              <a:rPr lang="en-US" altLang="en-US" b="1" i="1" dirty="0"/>
              <a:t>Critical section problem </a:t>
            </a:r>
            <a:r>
              <a:rPr lang="en-US" altLang="en-US" dirty="0"/>
              <a:t>is to design protocol to solve this</a:t>
            </a:r>
            <a:endParaRPr lang="en-US" altLang="en-US" dirty="0"/>
          </a:p>
          <a:p>
            <a:r>
              <a:rPr lang="en-US" altLang="en-US" dirty="0"/>
              <a:t>Each process must ask permission to enter critical section in </a:t>
            </a:r>
            <a:r>
              <a:rPr lang="en-US" altLang="en-US" b="1" dirty="0">
                <a:solidFill>
                  <a:srgbClr val="006699"/>
                </a:solidFill>
                <a:latin typeface="+mj-lt"/>
              </a:rPr>
              <a:t>entry</a:t>
            </a:r>
            <a:r>
              <a:rPr lang="en-US" altLang="en-US" b="1" dirty="0">
                <a:solidFill>
                  <a:srgbClr val="3366FF"/>
                </a:solidFill>
              </a:rPr>
              <a:t> </a:t>
            </a:r>
            <a:r>
              <a:rPr lang="en-US" altLang="en-US" b="1" dirty="0">
                <a:solidFill>
                  <a:srgbClr val="006699"/>
                </a:solidFill>
                <a:latin typeface="+mj-lt"/>
              </a:rPr>
              <a:t>section</a:t>
            </a:r>
            <a:r>
              <a:rPr lang="en-US" altLang="en-US" dirty="0"/>
              <a:t>, may follow critical section with </a:t>
            </a:r>
            <a:r>
              <a:rPr lang="en-US" altLang="en-US" b="1" dirty="0">
                <a:solidFill>
                  <a:srgbClr val="006699"/>
                </a:solidFill>
                <a:latin typeface="+mj-lt"/>
              </a:rPr>
              <a:t>exit section</a:t>
            </a:r>
            <a:r>
              <a:rPr lang="en-US" altLang="en-US" dirty="0"/>
              <a:t>, then </a:t>
            </a:r>
            <a:r>
              <a:rPr lang="en-US" altLang="en-US" b="1" dirty="0">
                <a:solidFill>
                  <a:srgbClr val="006699"/>
                </a:solidFill>
                <a:latin typeface="+mj-lt"/>
              </a:rPr>
              <a:t>remainder section</a:t>
            </a:r>
            <a:endParaRPr lang="en-US" altLang="en-US" b="1" dirty="0">
              <a:solidFill>
                <a:srgbClr val="006699"/>
              </a:solidFill>
              <a:latin typeface="+mj-lt"/>
            </a:endParaRPr>
          </a:p>
          <a:p>
            <a:endParaRPr lang="en-US" altLang="en-US" b="1" dirty="0">
              <a:solidFill>
                <a:srgbClr val="3366FF"/>
              </a:solidFill>
            </a:endParaRPr>
          </a:p>
          <a:p>
            <a:pPr>
              <a:buFont typeface="Monotype Sorts" pitchFamily="-84" charset="2"/>
              <a:buNone/>
            </a:pPr>
            <a:endParaRPr lang="en-US" altLang="en-US" b="1" dirty="0">
              <a:solidFill>
                <a:srgbClr val="006699"/>
              </a:solidFill>
              <a:latin typeface="+mj-l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16906"/>
            <a:ext cx="8229600" cy="576262"/>
          </a:xfrm>
        </p:spPr>
        <p:txBody>
          <a:bodyPr/>
          <a:lstStyle/>
          <a:p>
            <a:r>
              <a:rPr lang="en-US" altLang="en-US" dirty="0"/>
              <a:t>Critical Section</a:t>
            </a:r>
            <a:endParaRPr lang="en-US" altLang="en-US" dirty="0"/>
          </a:p>
        </p:txBody>
      </p:sp>
      <p:sp>
        <p:nvSpPr>
          <p:cNvPr id="20482" name="Content Placeholder 2"/>
          <p:cNvSpPr>
            <a:spLocks noGrp="1"/>
          </p:cNvSpPr>
          <p:nvPr>
            <p:ph idx="1"/>
          </p:nvPr>
        </p:nvSpPr>
        <p:spPr/>
        <p:txBody>
          <a:bodyPr/>
          <a:lstStyle/>
          <a:p>
            <a:r>
              <a:rPr lang="en-US" altLang="en-US"/>
              <a:t>General structure of process </a:t>
            </a:r>
            <a:r>
              <a:rPr lang="en-US" altLang="en-US" b="1" i="1"/>
              <a:t>P</a:t>
            </a:r>
            <a:r>
              <a:rPr lang="en-US" altLang="en-US" b="1" i="1" baseline="-25000"/>
              <a:t>i  </a:t>
            </a:r>
            <a:endParaRPr lang="en-US" altLang="en-US"/>
          </a:p>
          <a:p>
            <a:endParaRPr lang="en-US" altLang="en-US" b="1">
              <a:solidFill>
                <a:srgbClr val="0000FF"/>
              </a:solidFill>
            </a:endParaRPr>
          </a:p>
        </p:txBody>
      </p:sp>
      <p:pic>
        <p:nvPicPr>
          <p:cNvPr id="3" name="Picture 2" descr="Text&#10;&#10;Description automatically generated"/>
          <p:cNvPicPr>
            <a:picLocks noChangeAspect="1"/>
          </p:cNvPicPr>
          <p:nvPr/>
        </p:nvPicPr>
        <p:blipFill>
          <a:blip r:embed="rId1"/>
          <a:stretch>
            <a:fillRect/>
          </a:stretch>
        </p:blipFill>
        <p:spPr>
          <a:xfrm>
            <a:off x="1979960" y="1943901"/>
            <a:ext cx="2592040" cy="251535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a:xfrm>
            <a:off x="821095" y="223256"/>
            <a:ext cx="8081606" cy="576262"/>
          </a:xfrm>
        </p:spPr>
        <p:txBody>
          <a:bodyPr/>
          <a:lstStyle/>
          <a:p>
            <a:pPr eaLnBrk="1" hangingPunct="1"/>
            <a:r>
              <a:rPr lang="en-US" altLang="en-US" dirty="0"/>
              <a:t>Critical-Section Problem (Cont.)</a:t>
            </a:r>
            <a:endParaRPr lang="en-US" altLang="en-US" dirty="0"/>
          </a:p>
        </p:txBody>
      </p:sp>
      <p:sp>
        <p:nvSpPr>
          <p:cNvPr id="21506" name="Rectangle 3"/>
          <p:cNvSpPr>
            <a:spLocks noGrp="1" noChangeArrowheads="1"/>
          </p:cNvSpPr>
          <p:nvPr>
            <p:ph idx="1"/>
          </p:nvPr>
        </p:nvSpPr>
        <p:spPr>
          <a:xfrm>
            <a:off x="1182429" y="1653516"/>
            <a:ext cx="7688423" cy="4530725"/>
          </a:xfrm>
        </p:spPr>
        <p:txBody>
          <a:bodyPr/>
          <a:lstStyle/>
          <a:p>
            <a:pPr marL="342900" indent="-342900">
              <a:buFont typeface="Monotype Sorts" pitchFamily="-84" charset="2"/>
              <a:buAutoNum type="arabicPeriod"/>
            </a:pPr>
            <a:r>
              <a:rPr lang="en-US" altLang="en-US" b="1" dirty="0">
                <a:solidFill>
                  <a:srgbClr val="006699"/>
                </a:solidFill>
                <a:latin typeface="+mj-lt"/>
              </a:rPr>
              <a:t>Mutual Exclusion </a:t>
            </a:r>
            <a:r>
              <a:rPr lang="zh-CN" altLang="en-US" b="1" dirty="0">
                <a:solidFill>
                  <a:srgbClr val="006699"/>
                </a:solidFill>
                <a:latin typeface="+mj-lt"/>
              </a:rPr>
              <a:t>互斥</a:t>
            </a:r>
            <a:r>
              <a:rPr lang="en-US" altLang="en-US" b="1" dirty="0">
                <a:solidFill>
                  <a:srgbClr val="006699"/>
                </a:solidFill>
                <a:latin typeface="+mj-lt"/>
              </a:rPr>
              <a:t> </a:t>
            </a:r>
            <a:r>
              <a:rPr lang="en-US" altLang="en-US" dirty="0"/>
              <a:t>- If process </a:t>
            </a:r>
            <a:r>
              <a:rPr lang="en-US" altLang="en-US" b="1" i="1" dirty="0"/>
              <a:t>P</a:t>
            </a:r>
            <a:r>
              <a:rPr lang="en-US" altLang="en-US" b="1" i="1" baseline="-25000" dirty="0"/>
              <a:t>i</a:t>
            </a:r>
            <a:r>
              <a:rPr lang="en-US" altLang="en-US" b="1" dirty="0"/>
              <a:t> </a:t>
            </a:r>
            <a:r>
              <a:rPr lang="en-US" altLang="en-US" dirty="0"/>
              <a:t>is executing in its critical section, then no other processes can be executing in their critical sections</a:t>
            </a:r>
            <a:endParaRPr lang="en-US" altLang="en-US" dirty="0"/>
          </a:p>
          <a:p>
            <a:pPr marL="342900" indent="-342900">
              <a:buFont typeface="Monotype Sorts" pitchFamily="-84" charset="2"/>
              <a:buAutoNum type="arabicPeriod"/>
            </a:pPr>
            <a:r>
              <a:rPr lang="en-US" altLang="en-US" b="1" dirty="0">
                <a:solidFill>
                  <a:srgbClr val="006699"/>
                </a:solidFill>
                <a:latin typeface="+mj-lt"/>
              </a:rPr>
              <a:t>Progress</a:t>
            </a:r>
            <a:r>
              <a:rPr lang="en-US" altLang="en-US" b="1" dirty="0"/>
              <a:t> </a:t>
            </a:r>
            <a:r>
              <a:rPr lang="zh-CN" altLang="en-US" b="1" dirty="0"/>
              <a:t>空闲让进</a:t>
            </a:r>
            <a:r>
              <a:rPr lang="en-US" altLang="zh-CN" b="1" dirty="0"/>
              <a:t> </a:t>
            </a:r>
            <a:r>
              <a:rPr lang="en-US" altLang="en-US" dirty="0"/>
              <a:t>- If no process is executing in its critical section and there exist some processes that wish to enter their critical section, then the selection of the process that will enter the critical section next cannot be postponed indefinitely</a:t>
            </a:r>
            <a:endParaRPr lang="en-US" altLang="en-US" dirty="0"/>
          </a:p>
          <a:p>
            <a:pPr marL="342900" indent="-342900">
              <a:buFont typeface="Monotype Sorts" pitchFamily="-84" charset="2"/>
              <a:buAutoNum type="arabicPeriod"/>
            </a:pPr>
            <a:r>
              <a:rPr lang="en-US" altLang="en-US" b="1" dirty="0">
                <a:solidFill>
                  <a:srgbClr val="006699"/>
                </a:solidFill>
              </a:rPr>
              <a:t>Bounded Waiting </a:t>
            </a:r>
            <a:r>
              <a:rPr lang="zh-CN" altLang="en-US" b="1" dirty="0">
                <a:solidFill>
                  <a:srgbClr val="006699"/>
                </a:solidFill>
              </a:rPr>
              <a:t>有限等待</a:t>
            </a:r>
            <a:r>
              <a:rPr lang="en-US" altLang="zh-CN" b="1" dirty="0">
                <a:solidFill>
                  <a:srgbClr val="006699"/>
                </a:solidFill>
              </a:rPr>
              <a:t> </a:t>
            </a:r>
            <a:r>
              <a:rPr lang="en-US" altLang="en-US" dirty="0"/>
              <a:t>- A bound must exist on the number of times that other processes are allowed to enter their critical sections after a process has made a request to enter its critical section and before that request is granted</a:t>
            </a:r>
            <a:r>
              <a:rPr lang="en-US" altLang="en-US" dirty="0">
                <a:solidFill>
                  <a:srgbClr val="993300"/>
                </a:solidFill>
              </a:rPr>
              <a:t> </a:t>
            </a:r>
            <a:endParaRPr lang="en-US" altLang="en-US" dirty="0"/>
          </a:p>
          <a:p>
            <a:pPr lvl="1">
              <a:buSzPct val="125000"/>
            </a:pPr>
            <a:r>
              <a:rPr lang="en-US" altLang="en-US" dirty="0"/>
              <a:t>Assume that each process executes at a nonzero speed </a:t>
            </a:r>
            <a:endParaRPr lang="en-US" altLang="en-US" dirty="0"/>
          </a:p>
          <a:p>
            <a:pPr lvl="1">
              <a:buSzPct val="125000"/>
            </a:pPr>
            <a:r>
              <a:rPr lang="en-US" altLang="en-US" dirty="0"/>
              <a:t>No assumption concerning </a:t>
            </a:r>
            <a:r>
              <a:rPr lang="en-US" altLang="en-US" b="1" dirty="0">
                <a:solidFill>
                  <a:srgbClr val="006699"/>
                </a:solidFill>
                <a:latin typeface="+mj-lt"/>
              </a:rPr>
              <a:t>relative speed </a:t>
            </a:r>
            <a:r>
              <a:rPr lang="en-US" altLang="en-US" dirty="0"/>
              <a:t>of the</a:t>
            </a:r>
            <a:r>
              <a:rPr lang="en-US" altLang="en-US" b="1" dirty="0"/>
              <a:t> </a:t>
            </a:r>
            <a:r>
              <a:rPr lang="en-US" altLang="en-US" b="1" i="1" dirty="0">
                <a:solidFill>
                  <a:srgbClr val="000000"/>
                </a:solidFill>
              </a:rPr>
              <a:t>n</a:t>
            </a:r>
            <a:r>
              <a:rPr lang="en-US" altLang="en-US" b="1" dirty="0">
                <a:solidFill>
                  <a:srgbClr val="000000"/>
                </a:solidFill>
              </a:rPr>
              <a:t> </a:t>
            </a:r>
            <a:r>
              <a:rPr lang="en-US" altLang="en-US" dirty="0"/>
              <a:t>processes</a:t>
            </a:r>
            <a:endParaRPr lang="en-US" altLang="en-US" dirty="0"/>
          </a:p>
        </p:txBody>
      </p:sp>
      <p:sp>
        <p:nvSpPr>
          <p:cNvPr id="2" name="TextBox 1"/>
          <p:cNvSpPr txBox="1"/>
          <p:nvPr/>
        </p:nvSpPr>
        <p:spPr>
          <a:xfrm>
            <a:off x="943902" y="1143003"/>
            <a:ext cx="7197208" cy="369332"/>
          </a:xfrm>
          <a:prstGeom prst="rect">
            <a:avLst/>
          </a:prstGeom>
          <a:noFill/>
        </p:spPr>
        <p:txBody>
          <a:bodyPr wrap="square" rtlCol="0">
            <a:spAutoFit/>
          </a:bodyPr>
          <a:lstStyle/>
          <a:p>
            <a:r>
              <a:rPr lang="en-US" altLang="en-US" dirty="0"/>
              <a:t>Requirements for solution to critical-section problem</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2"/>
          <p:cNvSpPr>
            <a:spLocks noGrp="1" noChangeArrowheads="1"/>
          </p:cNvSpPr>
          <p:nvPr>
            <p:ph type="title"/>
          </p:nvPr>
        </p:nvSpPr>
        <p:spPr>
          <a:xfrm>
            <a:off x="653143" y="160522"/>
            <a:ext cx="8211457" cy="576262"/>
          </a:xfrm>
        </p:spPr>
        <p:txBody>
          <a:bodyPr/>
          <a:lstStyle/>
          <a:p>
            <a:pPr eaLnBrk="1" hangingPunct="1"/>
            <a:r>
              <a:rPr lang="en-US" altLang="en-US" dirty="0"/>
              <a:t>Interrupt-based Solution</a:t>
            </a:r>
            <a:endParaRPr lang="en-US" altLang="en-US" dirty="0"/>
          </a:p>
        </p:txBody>
      </p:sp>
      <p:sp>
        <p:nvSpPr>
          <p:cNvPr id="23554" name="Rectangle 3"/>
          <p:cNvSpPr>
            <a:spLocks noGrp="1" noChangeArrowheads="1"/>
          </p:cNvSpPr>
          <p:nvPr>
            <p:ph idx="1"/>
          </p:nvPr>
        </p:nvSpPr>
        <p:spPr>
          <a:xfrm>
            <a:off x="811762" y="1103614"/>
            <a:ext cx="7724775" cy="1079749"/>
          </a:xfrm>
        </p:spPr>
        <p:txBody>
          <a:bodyPr/>
          <a:lstStyle/>
          <a:p>
            <a:r>
              <a:rPr lang="en-US" altLang="en-US" dirty="0"/>
              <a:t>Entry section:  disable interrupts </a:t>
            </a:r>
            <a:r>
              <a:rPr lang="zh-CN" altLang="en-US" dirty="0"/>
              <a:t>禁止中断</a:t>
            </a:r>
            <a:endParaRPr lang="en-US" altLang="en-US" dirty="0"/>
          </a:p>
          <a:p>
            <a:r>
              <a:rPr lang="en-US" altLang="en-US" dirty="0"/>
              <a:t>Exit section:  enable  interrupts</a:t>
            </a:r>
            <a:endParaRPr lang="en-US" altLang="en-US" dirty="0"/>
          </a:p>
          <a:p>
            <a:r>
              <a:rPr lang="en-US" altLang="en-US" dirty="0"/>
              <a:t>Will this solve the problem?</a:t>
            </a:r>
            <a:endParaRPr lang="en-US" altLang="en-US" dirty="0"/>
          </a:p>
          <a:p>
            <a:pPr marL="0" indent="0">
              <a:buNone/>
            </a:pPr>
            <a:endParaRPr lang="en-US" altLang="en-US" dirty="0"/>
          </a:p>
          <a:p>
            <a:endParaRPr lang="en-US" altLang="en-US" dirty="0"/>
          </a:p>
        </p:txBody>
      </p:sp>
      <p:sp>
        <p:nvSpPr>
          <p:cNvPr id="2" name="TextBox 1"/>
          <p:cNvSpPr txBox="1"/>
          <p:nvPr/>
        </p:nvSpPr>
        <p:spPr>
          <a:xfrm>
            <a:off x="746445" y="2258007"/>
            <a:ext cx="6614631" cy="369332"/>
          </a:xfrm>
          <a:prstGeom prst="rect">
            <a:avLst/>
          </a:prstGeom>
          <a:noFill/>
        </p:spPr>
        <p:txBody>
          <a:bodyPr wrap="non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What if the critical section is code that runs for an hour?</a:t>
            </a:r>
            <a:endParaRPr lang="en-US" altLang="en-US" dirty="0">
              <a:latin typeface="+mn-lt"/>
            </a:endParaRPr>
          </a:p>
        </p:txBody>
      </p:sp>
      <p:sp>
        <p:nvSpPr>
          <p:cNvPr id="3" name="TextBox 2"/>
          <p:cNvSpPr txBox="1"/>
          <p:nvPr/>
        </p:nvSpPr>
        <p:spPr>
          <a:xfrm>
            <a:off x="755776" y="2640562"/>
            <a:ext cx="7307129" cy="369332"/>
          </a:xfrm>
          <a:prstGeom prst="rect">
            <a:avLst/>
          </a:prstGeom>
          <a:noFill/>
        </p:spPr>
        <p:txBody>
          <a:bodyPr wrap="non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Can some processes starve – never enter their critical section.</a:t>
            </a:r>
            <a:endParaRPr lang="en-US" altLang="en-US" dirty="0">
              <a:latin typeface="+mn-lt"/>
            </a:endParaRPr>
          </a:p>
        </p:txBody>
      </p:sp>
      <p:sp>
        <p:nvSpPr>
          <p:cNvPr id="4" name="TextBox 3"/>
          <p:cNvSpPr txBox="1"/>
          <p:nvPr/>
        </p:nvSpPr>
        <p:spPr>
          <a:xfrm>
            <a:off x="755776" y="3051108"/>
            <a:ext cx="4139375" cy="369332"/>
          </a:xfrm>
          <a:prstGeom prst="rect">
            <a:avLst/>
          </a:prstGeom>
          <a:noFill/>
        </p:spPr>
        <p:txBody>
          <a:bodyPr wrap="square" rtlCol="0">
            <a:spAutoFit/>
          </a:bodyPr>
          <a:lstStyle/>
          <a:p>
            <a:pPr marL="741680" lvl="1" indent="-285750">
              <a:buClr>
                <a:srgbClr val="CC6600"/>
              </a:buClr>
              <a:buSzPct val="110000"/>
              <a:buFont typeface="Arial" panose="020B0604020202020204" pitchFamily="34" charset="0"/>
              <a:buChar char="•"/>
            </a:pPr>
            <a:r>
              <a:rPr lang="en-US" altLang="en-US" dirty="0">
                <a:latin typeface="+mn-lt"/>
              </a:rPr>
              <a:t>What if there are two CPUs?</a:t>
            </a:r>
            <a:endParaRPr lang="en-US" alt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355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55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15820" y="223644"/>
            <a:ext cx="8070980" cy="576262"/>
          </a:xfrm>
        </p:spPr>
        <p:txBody>
          <a:bodyPr/>
          <a:lstStyle/>
          <a:p>
            <a:pPr eaLnBrk="1" hangingPunct="1"/>
            <a:r>
              <a:rPr lang="en-US" altLang="ja-JP" dirty="0"/>
              <a:t>Software Solution 1</a:t>
            </a:r>
            <a:endParaRPr lang="en-US" altLang="en-US" dirty="0"/>
          </a:p>
        </p:txBody>
      </p:sp>
      <p:sp>
        <p:nvSpPr>
          <p:cNvPr id="25602" name="Rectangle 3"/>
          <p:cNvSpPr>
            <a:spLocks noGrp="1" noChangeArrowheads="1"/>
          </p:cNvSpPr>
          <p:nvPr>
            <p:ph idx="1"/>
          </p:nvPr>
        </p:nvSpPr>
        <p:spPr>
          <a:xfrm>
            <a:off x="811763" y="1285329"/>
            <a:ext cx="6757437" cy="4131221"/>
          </a:xfrm>
        </p:spPr>
        <p:txBody>
          <a:bodyPr/>
          <a:lstStyle/>
          <a:p>
            <a:pPr>
              <a:lnSpc>
                <a:spcPct val="90000"/>
              </a:lnSpc>
              <a:tabLst>
                <a:tab pos="739775" algn="l"/>
                <a:tab pos="1020445" algn="l"/>
                <a:tab pos="1257300" algn="l"/>
              </a:tabLst>
            </a:pPr>
            <a:r>
              <a:rPr lang="en-US" altLang="en-US" dirty="0"/>
              <a:t>Two process solution</a:t>
            </a:r>
            <a:endParaRPr lang="en-US" altLang="en-US" sz="800" dirty="0"/>
          </a:p>
          <a:p>
            <a:pPr>
              <a:lnSpc>
                <a:spcPct val="90000"/>
              </a:lnSpc>
              <a:tabLst>
                <a:tab pos="739775" algn="l"/>
                <a:tab pos="1020445"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445" algn="l"/>
                <a:tab pos="1257300" algn="l"/>
              </a:tabLst>
            </a:pPr>
            <a:r>
              <a:rPr lang="en-US" altLang="en-US" dirty="0">
                <a:solidFill>
                  <a:srgbClr val="000000"/>
                </a:solidFill>
              </a:rPr>
              <a:t>The two processes share one variable:</a:t>
            </a:r>
            <a:endParaRPr lang="en-US" altLang="en-US" dirty="0">
              <a:solidFill>
                <a:srgbClr val="000000"/>
              </a:solidFill>
            </a:endParaRPr>
          </a:p>
          <a:p>
            <a:pPr lvl="1">
              <a:lnSpc>
                <a:spcPct val="90000"/>
              </a:lnSpc>
              <a:tabLst>
                <a:tab pos="739775" algn="l"/>
                <a:tab pos="1020445" algn="l"/>
                <a:tab pos="1257300" algn="l"/>
              </a:tabLst>
            </a:pPr>
            <a:r>
              <a:rPr lang="en-US" altLang="en-US" sz="2000" b="1" dirty="0">
                <a:latin typeface="Courier New" panose="02070309020205020404" pitchFamily="49" charset="0"/>
              </a:rPr>
              <a:t>int turn</a:t>
            </a:r>
            <a:r>
              <a:rPr lang="en-US" altLang="en-US" sz="1600" b="1" dirty="0">
                <a:latin typeface="Courier New" panose="02070309020205020404" pitchFamily="49" charset="0"/>
              </a:rPr>
              <a:t>; </a:t>
            </a:r>
            <a:endParaRPr lang="en-US" altLang="en-US" sz="800" b="1" dirty="0">
              <a:solidFill>
                <a:srgbClr val="000000"/>
              </a:solidFill>
            </a:endParaRPr>
          </a:p>
          <a:p>
            <a:pPr>
              <a:lnSpc>
                <a:spcPct val="90000"/>
              </a:lnSpc>
              <a:tabLst>
                <a:tab pos="739775" algn="l"/>
                <a:tab pos="1020445"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dirty="0">
              <a:solidFill>
                <a:srgbClr val="000000"/>
              </a:solidFill>
            </a:endParaRPr>
          </a:p>
          <a:p>
            <a:pPr>
              <a:lnSpc>
                <a:spcPct val="90000"/>
              </a:lnSpc>
              <a:tabLst>
                <a:tab pos="739775" algn="l"/>
                <a:tab pos="1020445" algn="l"/>
                <a:tab pos="1257300" algn="l"/>
              </a:tabLst>
            </a:pPr>
            <a:r>
              <a:rPr lang="en-US" altLang="en-US" dirty="0">
                <a:solidFill>
                  <a:srgbClr val="000000"/>
                </a:solidFill>
              </a:rPr>
              <a:t>initially, the value of </a:t>
            </a:r>
            <a:r>
              <a:rPr lang="en-US" altLang="en-US" sz="2000" b="1" dirty="0">
                <a:latin typeface="Courier New" panose="02070309020205020404" pitchFamily="49" charset="0"/>
              </a:rPr>
              <a:t>turn </a:t>
            </a:r>
            <a:r>
              <a:rPr lang="en-US" altLang="en-US" dirty="0">
                <a:solidFill>
                  <a:srgbClr val="000000"/>
                </a:solidFill>
              </a:rPr>
              <a:t>is set to </a:t>
            </a:r>
            <a:r>
              <a:rPr lang="en-US" altLang="en-US" i="1" dirty="0">
                <a:solidFill>
                  <a:srgbClr val="000000"/>
                </a:solidFill>
              </a:rPr>
              <a:t>i </a:t>
            </a:r>
            <a:endParaRPr lang="en-US" altLang="en-US" i="1" dirty="0">
              <a:solidFill>
                <a:srgbClr val="000000"/>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529937" y="134933"/>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p:cNvSpPr>
            <a:spLocks noChangeArrowheads="1"/>
          </p:cNvSpPr>
          <p:nvPr/>
        </p:nvSpPr>
        <p:spPr bwMode="auto">
          <a:xfrm>
            <a:off x="1847850" y="1666875"/>
            <a:ext cx="6027738" cy="3693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while (turn = = j);</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turn = j;</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p:txBody>
      </p:sp>
      <p:sp>
        <p:nvSpPr>
          <p:cNvPr id="91139" name="Rectangle 7"/>
          <p:cNvSpPr>
            <a:spLocks noChangeArrowheads="1"/>
          </p:cNvSpPr>
          <p:nvPr/>
        </p:nvSpPr>
        <p:spPr bwMode="auto">
          <a:xfrm>
            <a:off x="2673350" y="2367682"/>
            <a:ext cx="3505200" cy="682625"/>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p:cNvSpPr>
            <a:spLocks noChangeArrowheads="1"/>
          </p:cNvSpPr>
          <p:nvPr/>
        </p:nvSpPr>
        <p:spPr bwMode="auto">
          <a:xfrm>
            <a:off x="2673350" y="3751114"/>
            <a:ext cx="3505200" cy="510743"/>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526167" y="169872"/>
            <a:ext cx="7586662" cy="576262"/>
          </a:xfrm>
        </p:spPr>
        <p:txBody>
          <a:bodyPr/>
          <a:lstStyle/>
          <a:p>
            <a:pPr eaLnBrk="1" hangingPunct="1"/>
            <a:r>
              <a:rPr lang="en-US" altLang="en-US" dirty="0"/>
              <a:t>Correctness of the Software </a:t>
            </a:r>
            <a:r>
              <a:rPr lang="en-US" altLang="ja-JP" dirty="0"/>
              <a:t>Solution </a:t>
            </a:r>
            <a:endParaRPr lang="en-US" altLang="en-US" dirty="0"/>
          </a:p>
        </p:txBody>
      </p:sp>
      <p:sp>
        <p:nvSpPr>
          <p:cNvPr id="27650" name="Rectangle 3"/>
          <p:cNvSpPr>
            <a:spLocks noGrp="1" noChangeArrowheads="1"/>
          </p:cNvSpPr>
          <p:nvPr>
            <p:ph idx="1"/>
          </p:nvPr>
        </p:nvSpPr>
        <p:spPr>
          <a:xfrm>
            <a:off x="806450" y="1233488"/>
            <a:ext cx="7623175" cy="4422775"/>
          </a:xfrm>
        </p:spPr>
        <p:txBody>
          <a:bodyPr/>
          <a:lstStyle/>
          <a:p>
            <a:r>
              <a:rPr lang="en-US" altLang="en-US" dirty="0">
                <a:solidFill>
                  <a:srgbClr val="000000"/>
                </a:solidFill>
              </a:rPr>
              <a:t>Mutual exclusion is preserved</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critical section only if:</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turn</a:t>
            </a:r>
            <a:r>
              <a:rPr lang="en-US" altLang="en-US" b="1" dirty="0">
                <a:solidFill>
                  <a:srgbClr val="000000"/>
                </a:solidFill>
                <a:latin typeface="Courier New" panose="02070309020205020404" pitchFamily="49" charset="0"/>
              </a:rPr>
              <a:t> = </a:t>
            </a:r>
            <a:r>
              <a:rPr lang="en-US" altLang="en-US" b="1" dirty="0" err="1">
                <a:solidFill>
                  <a:srgbClr val="000000"/>
                </a:solidFill>
                <a:latin typeface="Courier New" panose="02070309020205020404" pitchFamily="49" charset="0"/>
              </a:rPr>
              <a:t>i</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r>
              <a:rPr lang="en-US" altLang="en-US" dirty="0">
                <a:solidFill>
                  <a:srgbClr val="000000"/>
                </a:solidFill>
              </a:rPr>
              <a:t>and </a:t>
            </a:r>
            <a:r>
              <a:rPr lang="en-US" altLang="en-US" sz="2000" b="1" dirty="0">
                <a:solidFill>
                  <a:srgbClr val="000000"/>
                </a:solidFill>
                <a:latin typeface="Courier New" panose="02070309020205020404" pitchFamily="49" charset="0"/>
              </a:rPr>
              <a:t>turn </a:t>
            </a:r>
            <a:r>
              <a:rPr lang="en-US" altLang="en-US" dirty="0">
                <a:solidFill>
                  <a:srgbClr val="000000"/>
                </a:solidFill>
              </a:rPr>
              <a:t>cannot be both 0 and 1 at the same time</a:t>
            </a:r>
            <a:endParaRPr lang="en-US" altLang="en-US" dirty="0">
              <a:solidFill>
                <a:srgbClr val="000000"/>
              </a:solidFill>
            </a:endParaRPr>
          </a:p>
          <a:p>
            <a:r>
              <a:rPr lang="en-US" altLang="en-US" dirty="0">
                <a:solidFill>
                  <a:srgbClr val="000000"/>
                </a:solidFill>
              </a:rPr>
              <a:t>What about the Progress requirement?</a:t>
            </a:r>
            <a:endParaRPr lang="en-US" altLang="en-US" dirty="0">
              <a:solidFill>
                <a:srgbClr val="000000"/>
              </a:solidFill>
            </a:endParaRPr>
          </a:p>
          <a:p>
            <a:r>
              <a:rPr lang="en-US" altLang="en-US" dirty="0">
                <a:solidFill>
                  <a:srgbClr val="000000"/>
                </a:solidFill>
              </a:rPr>
              <a:t>What about the Bounded-waiting requirement?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p:cNvSpPr>
            <a:spLocks noGrp="1" noChangeArrowheads="1"/>
          </p:cNvSpPr>
          <p:nvPr>
            <p:ph type="title"/>
          </p:nvPr>
        </p:nvSpPr>
        <p:spPr>
          <a:xfrm>
            <a:off x="615820" y="223644"/>
            <a:ext cx="8070980" cy="576262"/>
          </a:xfrm>
        </p:spPr>
        <p:txBody>
          <a:bodyPr/>
          <a:lstStyle/>
          <a:p>
            <a:pPr eaLnBrk="1" hangingPunct="1"/>
            <a:r>
              <a:rPr lang="en-US" altLang="en-US" dirty="0"/>
              <a:t>Peterson’</a:t>
            </a:r>
            <a:r>
              <a:rPr lang="en-US" altLang="ja-JP" dirty="0"/>
              <a:t>s Solution</a:t>
            </a:r>
            <a:endParaRPr lang="en-US" altLang="en-US" dirty="0"/>
          </a:p>
        </p:txBody>
      </p:sp>
      <p:sp>
        <p:nvSpPr>
          <p:cNvPr id="25602" name="Rectangle 3"/>
          <p:cNvSpPr>
            <a:spLocks noGrp="1" noChangeArrowheads="1"/>
          </p:cNvSpPr>
          <p:nvPr>
            <p:ph idx="1"/>
          </p:nvPr>
        </p:nvSpPr>
        <p:spPr>
          <a:xfrm>
            <a:off x="811763" y="1139855"/>
            <a:ext cx="6757437" cy="4131221"/>
          </a:xfrm>
        </p:spPr>
        <p:txBody>
          <a:bodyPr/>
          <a:lstStyle/>
          <a:p>
            <a:pPr>
              <a:lnSpc>
                <a:spcPct val="90000"/>
              </a:lnSpc>
              <a:tabLst>
                <a:tab pos="739775" algn="l"/>
                <a:tab pos="1020445" algn="l"/>
                <a:tab pos="1257300" algn="l"/>
              </a:tabLst>
            </a:pPr>
            <a:r>
              <a:rPr lang="en-US" altLang="en-US" dirty="0"/>
              <a:t>Two process solution</a:t>
            </a:r>
            <a:endParaRPr lang="en-US" altLang="en-US" sz="800" dirty="0"/>
          </a:p>
          <a:p>
            <a:pPr>
              <a:lnSpc>
                <a:spcPct val="90000"/>
              </a:lnSpc>
              <a:tabLst>
                <a:tab pos="739775" algn="l"/>
                <a:tab pos="1020445" algn="l"/>
                <a:tab pos="1257300" algn="l"/>
              </a:tabLst>
            </a:pPr>
            <a:r>
              <a:rPr lang="en-US" altLang="en-US" dirty="0"/>
              <a:t>Assume that the </a:t>
            </a:r>
            <a:r>
              <a:rPr lang="en-US" altLang="en-US" sz="2000" b="1" dirty="0">
                <a:latin typeface="Courier New" panose="02070309020205020404" pitchFamily="49" charset="0"/>
              </a:rPr>
              <a:t>load</a:t>
            </a:r>
            <a:r>
              <a:rPr lang="en-US" altLang="en-US" dirty="0">
                <a:latin typeface="Courier New" panose="02070309020205020404" pitchFamily="49" charset="0"/>
              </a:rPr>
              <a:t> </a:t>
            </a:r>
            <a:r>
              <a:rPr lang="en-US" altLang="en-US" dirty="0"/>
              <a:t>and </a:t>
            </a:r>
            <a:r>
              <a:rPr lang="en-US" altLang="en-US" sz="2000" b="1" dirty="0">
                <a:latin typeface="Courier New" panose="02070309020205020404" pitchFamily="49" charset="0"/>
              </a:rPr>
              <a:t>store</a:t>
            </a:r>
            <a:r>
              <a:rPr lang="en-US" altLang="en-US" dirty="0"/>
              <a:t> machine-language instructions are atomic; that is, cannot be interrupted</a:t>
            </a:r>
            <a:endParaRPr lang="en-US" altLang="en-US" sz="800" dirty="0"/>
          </a:p>
          <a:p>
            <a:pPr>
              <a:lnSpc>
                <a:spcPct val="90000"/>
              </a:lnSpc>
              <a:tabLst>
                <a:tab pos="739775" algn="l"/>
                <a:tab pos="1020445" algn="l"/>
                <a:tab pos="1257300" algn="l"/>
              </a:tabLst>
            </a:pPr>
            <a:r>
              <a:rPr lang="en-US" altLang="en-US" dirty="0">
                <a:solidFill>
                  <a:srgbClr val="000000"/>
                </a:solidFill>
              </a:rPr>
              <a:t>The two processes share two variables:</a:t>
            </a:r>
            <a:endParaRPr lang="en-US" altLang="en-US" dirty="0">
              <a:solidFill>
                <a:srgbClr val="000000"/>
              </a:solidFill>
            </a:endParaRPr>
          </a:p>
          <a:p>
            <a:pPr lvl="1">
              <a:lnSpc>
                <a:spcPct val="90000"/>
              </a:lnSpc>
              <a:tabLst>
                <a:tab pos="739775" algn="l"/>
                <a:tab pos="1020445" algn="l"/>
                <a:tab pos="1257300" algn="l"/>
              </a:tabLst>
            </a:pPr>
            <a:r>
              <a:rPr lang="en-US" altLang="en-US" b="1" dirty="0" err="1">
                <a:latin typeface="Courier New" panose="02070309020205020404" pitchFamily="49" charset="0"/>
              </a:rPr>
              <a:t>int</a:t>
            </a:r>
            <a:r>
              <a:rPr lang="en-US" altLang="en-US" b="1" dirty="0">
                <a:latin typeface="Courier New" panose="02070309020205020404" pitchFamily="49" charset="0"/>
              </a:rPr>
              <a:t> turn; </a:t>
            </a:r>
            <a:endParaRPr lang="en-US" altLang="en-US" b="1" dirty="0">
              <a:latin typeface="Courier New" panose="02070309020205020404" pitchFamily="49" charset="0"/>
            </a:endParaRPr>
          </a:p>
          <a:p>
            <a:pPr lvl="1">
              <a:lnSpc>
                <a:spcPct val="90000"/>
              </a:lnSpc>
              <a:tabLst>
                <a:tab pos="739775" algn="l"/>
                <a:tab pos="1020445" algn="l"/>
                <a:tab pos="1257300" algn="l"/>
              </a:tabLst>
            </a:pPr>
            <a:r>
              <a:rPr lang="en-US" altLang="en-US" b="1" dirty="0" err="1">
                <a:latin typeface="Courier New" panose="02070309020205020404" pitchFamily="49" charset="0"/>
              </a:rPr>
              <a:t>boolean</a:t>
            </a:r>
            <a:r>
              <a:rPr lang="en-US" altLang="en-US" b="1" dirty="0">
                <a:latin typeface="Courier New" panose="02070309020205020404" pitchFamily="49" charset="0"/>
              </a:rPr>
              <a:t> flag[2]</a:t>
            </a:r>
            <a:endParaRPr lang="en-US" altLang="en-US" b="1" dirty="0">
              <a:latin typeface="Courier New" panose="02070309020205020404" pitchFamily="49" charset="0"/>
            </a:endParaRPr>
          </a:p>
          <a:p>
            <a:pPr lvl="1">
              <a:lnSpc>
                <a:spcPct val="90000"/>
              </a:lnSpc>
              <a:tabLst>
                <a:tab pos="739775" algn="l"/>
                <a:tab pos="1020445" algn="l"/>
                <a:tab pos="1257300" algn="l"/>
              </a:tabLst>
            </a:pPr>
            <a:endParaRPr lang="en-US" altLang="en-US" sz="800" b="1" dirty="0">
              <a:solidFill>
                <a:srgbClr val="000000"/>
              </a:solidFill>
            </a:endParaRPr>
          </a:p>
          <a:p>
            <a:pPr>
              <a:lnSpc>
                <a:spcPct val="90000"/>
              </a:lnSpc>
              <a:tabLst>
                <a:tab pos="739775" algn="l"/>
                <a:tab pos="1020445" algn="l"/>
                <a:tab pos="1257300" algn="l"/>
              </a:tabLst>
            </a:pPr>
            <a:r>
              <a:rPr lang="en-US" altLang="en-US" dirty="0">
                <a:solidFill>
                  <a:srgbClr val="000000"/>
                </a:solidFill>
              </a:rPr>
              <a:t>The variable </a:t>
            </a:r>
            <a:r>
              <a:rPr lang="en-US" altLang="en-US" sz="2000" b="1" dirty="0">
                <a:latin typeface="Courier New" panose="02070309020205020404" pitchFamily="49" charset="0"/>
              </a:rPr>
              <a:t>turn</a:t>
            </a:r>
            <a:r>
              <a:rPr lang="en-US" altLang="en-US" dirty="0">
                <a:solidFill>
                  <a:srgbClr val="000000"/>
                </a:solidFill>
              </a:rPr>
              <a:t> indicates whose turn it is to enter the critical section</a:t>
            </a:r>
            <a:endParaRPr lang="en-US" altLang="en-US" sz="800" dirty="0">
              <a:solidFill>
                <a:srgbClr val="000000"/>
              </a:solidFill>
            </a:endParaRPr>
          </a:p>
          <a:p>
            <a:pPr>
              <a:lnSpc>
                <a:spcPct val="90000"/>
              </a:lnSpc>
              <a:tabLst>
                <a:tab pos="739775" algn="l"/>
                <a:tab pos="1020445" algn="l"/>
                <a:tab pos="1257300" algn="l"/>
              </a:tabLst>
            </a:pPr>
            <a:r>
              <a:rPr lang="en-US" altLang="en-US" dirty="0">
                <a:solidFill>
                  <a:srgbClr val="000000"/>
                </a:solidFill>
              </a:rPr>
              <a:t>The </a:t>
            </a:r>
            <a:r>
              <a:rPr lang="en-US" altLang="en-US" b="1" dirty="0">
                <a:latin typeface="Courier New" panose="02070309020205020404" pitchFamily="49" charset="0"/>
              </a:rPr>
              <a:t>flag </a:t>
            </a:r>
            <a:r>
              <a:rPr lang="en-US" altLang="en-US" dirty="0">
                <a:solidFill>
                  <a:srgbClr val="000000"/>
                </a:solidFill>
              </a:rPr>
              <a:t>array is used to indicate if a process is ready to enter the critical section. </a:t>
            </a:r>
            <a:endParaRPr lang="en-US" altLang="en-US" dirty="0">
              <a:solidFill>
                <a:srgbClr val="000000"/>
              </a:solidFill>
            </a:endParaRPr>
          </a:p>
          <a:p>
            <a:pPr lvl="1">
              <a:lnSpc>
                <a:spcPct val="90000"/>
              </a:lnSpc>
              <a:tabLst>
                <a:tab pos="739775" algn="l"/>
                <a:tab pos="1020445" algn="l"/>
                <a:tab pos="1257300" algn="l"/>
              </a:tabLst>
            </a:pPr>
            <a:r>
              <a:rPr lang="en-US" altLang="en-US" b="1" dirty="0">
                <a:latin typeface="Courier New" panose="02070309020205020404" pitchFamily="49" charset="0"/>
              </a:rPr>
              <a:t>flag[</a:t>
            </a:r>
            <a:r>
              <a:rPr lang="en-US" altLang="en-US" b="1" dirty="0" err="1">
                <a:latin typeface="Courier New" panose="02070309020205020404" pitchFamily="49" charset="0"/>
              </a:rPr>
              <a:t>i</a:t>
            </a:r>
            <a:r>
              <a:rPr lang="en-US" altLang="en-US" b="1" dirty="0">
                <a:latin typeface="Courier New" panose="02070309020205020404" pitchFamily="49" charset="0"/>
              </a:rPr>
              <a:t>] = </a:t>
            </a:r>
            <a:r>
              <a:rPr lang="en-US" altLang="en-US" b="1" i="1" dirty="0">
                <a:latin typeface="Courier New" panose="02070309020205020404" pitchFamily="49" charset="0"/>
              </a:rPr>
              <a:t>true</a:t>
            </a:r>
            <a:r>
              <a:rPr lang="en-US" altLang="en-US" dirty="0">
                <a:solidFill>
                  <a:srgbClr val="000000"/>
                </a:solidFill>
              </a:rPr>
              <a:t>  implies that process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dirty="0">
                <a:solidFill>
                  <a:srgbClr val="000000"/>
                </a:solidFill>
              </a:rPr>
              <a:t> is ready!</a:t>
            </a:r>
            <a:endParaRPr lang="en-US" altLang="en-US" dirty="0">
              <a:solidFill>
                <a:srgbClr val="000000"/>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Title 1"/>
          <p:cNvSpPr>
            <a:spLocks noGrp="1"/>
          </p:cNvSpPr>
          <p:nvPr>
            <p:ph type="title"/>
          </p:nvPr>
        </p:nvSpPr>
        <p:spPr>
          <a:xfrm>
            <a:off x="457200" y="150725"/>
            <a:ext cx="8229600" cy="576262"/>
          </a:xfrm>
        </p:spPr>
        <p:txBody>
          <a:bodyPr/>
          <a:lstStyle/>
          <a:p>
            <a:r>
              <a:rPr lang="en-US" altLang="en-US" dirty="0"/>
              <a:t>Algorithm for Process </a:t>
            </a:r>
            <a:r>
              <a:rPr lang="en-US" altLang="en-US" i="1" dirty="0"/>
              <a:t>P</a:t>
            </a:r>
            <a:r>
              <a:rPr lang="en-US" altLang="en-US" i="1" baseline="-25000" dirty="0"/>
              <a:t>i</a:t>
            </a:r>
            <a:endParaRPr lang="en-US" altLang="en-US" i="1" dirty="0"/>
          </a:p>
        </p:txBody>
      </p:sp>
      <p:sp>
        <p:nvSpPr>
          <p:cNvPr id="91138" name="Rectangle 3"/>
          <p:cNvSpPr>
            <a:spLocks noChangeArrowheads="1"/>
          </p:cNvSpPr>
          <p:nvPr/>
        </p:nvSpPr>
        <p:spPr bwMode="auto">
          <a:xfrm>
            <a:off x="1847850" y="1344759"/>
            <a:ext cx="5467350" cy="3970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true;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turn = j;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while (flag[j] &amp;&amp; turn = = j)</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critical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flag[</a:t>
            </a:r>
            <a:r>
              <a:rPr lang="en-US" altLang="en-US" b="1" dirty="0" err="1">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 false;</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 remainder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p:txBody>
      </p:sp>
      <p:sp>
        <p:nvSpPr>
          <p:cNvPr id="91139" name="Rectangle 7"/>
          <p:cNvSpPr>
            <a:spLocks noChangeArrowheads="1"/>
          </p:cNvSpPr>
          <p:nvPr/>
        </p:nvSpPr>
        <p:spPr bwMode="auto">
          <a:xfrm>
            <a:off x="2673350" y="1911929"/>
            <a:ext cx="4163868" cy="1091044"/>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a:p>
        </p:txBody>
      </p:sp>
      <p:sp>
        <p:nvSpPr>
          <p:cNvPr id="91140" name="Rectangle 8"/>
          <p:cNvSpPr>
            <a:spLocks noChangeArrowheads="1"/>
          </p:cNvSpPr>
          <p:nvPr/>
        </p:nvSpPr>
        <p:spPr bwMode="auto">
          <a:xfrm>
            <a:off x="2673350" y="3709550"/>
            <a:ext cx="3505200" cy="573088"/>
          </a:xfrm>
          <a:prstGeom prst="rect">
            <a:avLst/>
          </a:prstGeom>
          <a:noFill/>
          <a:ln w="9525">
            <a:solidFill>
              <a:schemeClr val="tx1"/>
            </a:solidFill>
            <a:round/>
          </a:ln>
          <a:extLst>
            <a:ext uri="{909E8E84-426E-40DD-AFC4-6F175D3DCCD1}">
              <a14:hiddenFill xmlns:a14="http://schemas.microsoft.com/office/drawing/2010/main">
                <a:solidFill>
                  <a:srgbClr val="FFFFFF"/>
                </a:solidFill>
              </a14:hiddenFill>
            </a:ext>
          </a:extLst>
        </p:spPr>
        <p:txBody>
          <a:bodyPr wrap="none"/>
          <a:lstStyle/>
          <a:p>
            <a:endParaRPr lang="en-US"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a:spLocks noGrp="1" noChangeArrowheads="1"/>
          </p:cNvSpPr>
          <p:nvPr>
            <p:ph type="title"/>
          </p:nvPr>
        </p:nvSpPr>
        <p:spPr>
          <a:xfrm>
            <a:off x="1505387" y="149090"/>
            <a:ext cx="7586662" cy="576262"/>
          </a:xfrm>
        </p:spPr>
        <p:txBody>
          <a:bodyPr/>
          <a:lstStyle/>
          <a:p>
            <a:pPr eaLnBrk="1" hangingPunct="1"/>
            <a:r>
              <a:rPr lang="en-US" altLang="en-US" dirty="0"/>
              <a:t>Correctness of Peterson’</a:t>
            </a:r>
            <a:r>
              <a:rPr lang="en-US" altLang="ja-JP" dirty="0"/>
              <a:t>s Solution </a:t>
            </a:r>
            <a:endParaRPr lang="en-US" altLang="en-US" dirty="0"/>
          </a:p>
        </p:txBody>
      </p:sp>
      <p:sp>
        <p:nvSpPr>
          <p:cNvPr id="27650" name="Rectangle 3"/>
          <p:cNvSpPr>
            <a:spLocks noGrp="1" noChangeArrowheads="1"/>
          </p:cNvSpPr>
          <p:nvPr>
            <p:ph idx="1"/>
          </p:nvPr>
        </p:nvSpPr>
        <p:spPr>
          <a:xfrm>
            <a:off x="806450" y="1233488"/>
            <a:ext cx="7623175" cy="4422775"/>
          </a:xfrm>
        </p:spPr>
        <p:txBody>
          <a:bodyPr/>
          <a:lstStyle/>
          <a:p>
            <a:r>
              <a:rPr lang="en-US" altLang="en-US" dirty="0">
                <a:solidFill>
                  <a:srgbClr val="000000"/>
                </a:solidFill>
              </a:rPr>
              <a:t>Provable that the three  CS requirement are met:</a:t>
            </a:r>
            <a:endParaRPr lang="en-US" altLang="en-US" dirty="0">
              <a:solidFill>
                <a:srgbClr val="000000"/>
              </a:solidFill>
            </a:endParaRPr>
          </a:p>
          <a:p>
            <a:pPr>
              <a:buFont typeface="Monotype Sorts" pitchFamily="-84" charset="2"/>
              <a:buNone/>
            </a:pPr>
            <a:r>
              <a:rPr lang="en-US" altLang="en-US" dirty="0">
                <a:solidFill>
                  <a:srgbClr val="000000"/>
                </a:solidFill>
              </a:rPr>
              <a:t>        1.   Mutual exclusion is preserved</a:t>
            </a:r>
            <a:endParaRPr lang="en-US" altLang="en-US" dirty="0">
              <a:solidFill>
                <a:srgbClr val="000000"/>
              </a:solidFill>
            </a:endParaRPr>
          </a:p>
          <a:p>
            <a:pPr>
              <a:buFont typeface="Monotype Sorts" pitchFamily="-84" charset="2"/>
              <a:buNone/>
            </a:pPr>
            <a:r>
              <a:rPr lang="en-US" altLang="en-US" dirty="0">
                <a:solidFill>
                  <a:srgbClr val="000000"/>
                </a:solidFill>
              </a:rPr>
              <a:t>                </a:t>
            </a:r>
            <a:r>
              <a:rPr lang="en-US" altLang="en-US" sz="2000" b="1" dirty="0">
                <a:solidFill>
                  <a:srgbClr val="000000"/>
                </a:solidFill>
                <a:latin typeface="Courier New" panose="02070309020205020404" pitchFamily="49" charset="0"/>
              </a:rPr>
              <a:t>P</a:t>
            </a:r>
            <a:r>
              <a:rPr lang="en-US" altLang="en-US" sz="2000" b="1" baseline="-25000" dirty="0">
                <a:solidFill>
                  <a:srgbClr val="000000"/>
                </a:solidFill>
                <a:latin typeface="Courier New" panose="02070309020205020404" pitchFamily="49" charset="0"/>
              </a:rPr>
              <a:t>i</a:t>
            </a:r>
            <a:r>
              <a:rPr lang="en-US" altLang="en-US" b="1" dirty="0">
                <a:solidFill>
                  <a:srgbClr val="000000"/>
                </a:solidFill>
                <a:latin typeface="Courier New" panose="02070309020205020404" pitchFamily="49" charset="0"/>
              </a:rPr>
              <a:t> </a:t>
            </a:r>
            <a:r>
              <a:rPr lang="en-US" altLang="en-US" dirty="0">
                <a:solidFill>
                  <a:srgbClr val="000000"/>
                </a:solidFill>
              </a:rPr>
              <a:t>enters CS only if:</a:t>
            </a:r>
            <a:endParaRPr lang="en-US" altLang="en-US" dirty="0">
              <a:solidFill>
                <a:srgbClr val="000000"/>
              </a:solidFill>
            </a:endParaRPr>
          </a:p>
          <a:p>
            <a:pPr>
              <a:buFont typeface="Monotype Sorts" pitchFamily="-84" charset="2"/>
              <a:buNone/>
            </a:pPr>
            <a:r>
              <a:rPr lang="en-US" altLang="en-US" dirty="0">
                <a:solidFill>
                  <a:srgbClr val="000000"/>
                </a:solidFill>
              </a:rPr>
              <a:t>                      either </a:t>
            </a:r>
            <a:r>
              <a:rPr lang="en-US" altLang="en-US" sz="2000" b="1" dirty="0">
                <a:solidFill>
                  <a:srgbClr val="000000"/>
                </a:solidFill>
                <a:latin typeface="Courier New" panose="02070309020205020404" pitchFamily="49" charset="0"/>
              </a:rPr>
              <a:t>flag[j] = false</a:t>
            </a:r>
            <a:r>
              <a:rPr lang="en-US" altLang="en-US" b="1" dirty="0">
                <a:solidFill>
                  <a:srgbClr val="000000"/>
                </a:solidFill>
                <a:latin typeface="Courier New" panose="02070309020205020404" pitchFamily="49" charset="0"/>
              </a:rPr>
              <a:t> </a:t>
            </a:r>
            <a:r>
              <a:rPr lang="en-US" altLang="en-US" dirty="0">
                <a:solidFill>
                  <a:srgbClr val="000000"/>
                </a:solidFill>
              </a:rPr>
              <a:t>or</a:t>
            </a:r>
            <a:r>
              <a:rPr lang="en-US" altLang="en-US" b="1" dirty="0">
                <a:solidFill>
                  <a:srgbClr val="000000"/>
                </a:solidFill>
                <a:latin typeface="Courier New" panose="02070309020205020404" pitchFamily="49" charset="0"/>
              </a:rPr>
              <a:t> </a:t>
            </a:r>
            <a:r>
              <a:rPr lang="en-US" altLang="en-US" sz="2000" b="1" dirty="0">
                <a:solidFill>
                  <a:srgbClr val="000000"/>
                </a:solidFill>
                <a:latin typeface="Courier New" panose="02070309020205020404" pitchFamily="49" charset="0"/>
              </a:rPr>
              <a:t>turn = i</a:t>
            </a:r>
            <a:endParaRPr lang="en-US" altLang="en-US" sz="2000" dirty="0">
              <a:solidFill>
                <a:srgbClr val="000000"/>
              </a:solidFill>
            </a:endParaRPr>
          </a:p>
          <a:p>
            <a:pPr>
              <a:buFont typeface="Monotype Sorts" pitchFamily="-84" charset="2"/>
              <a:buNone/>
            </a:pPr>
            <a:r>
              <a:rPr lang="en-US" altLang="en-US" dirty="0">
                <a:solidFill>
                  <a:srgbClr val="000000"/>
                </a:solidFill>
              </a:rPr>
              <a:t>        2.   Progress requirement is satisfied</a:t>
            </a:r>
            <a:endParaRPr lang="en-US" altLang="en-US" dirty="0">
              <a:solidFill>
                <a:srgbClr val="000000"/>
              </a:solidFill>
            </a:endParaRPr>
          </a:p>
          <a:p>
            <a:pPr>
              <a:buFont typeface="Monotype Sorts" pitchFamily="-84" charset="2"/>
              <a:buNone/>
            </a:pPr>
            <a:r>
              <a:rPr lang="en-US" altLang="en-US" dirty="0">
                <a:solidFill>
                  <a:srgbClr val="000000"/>
                </a:solidFill>
              </a:rPr>
              <a:t>        3.   Bounded-waiting requirement is met</a:t>
            </a:r>
            <a:endParaRPr lang="en-US" altLang="en-US" sz="1600" dirty="0">
              <a:solidFill>
                <a:srgbClr val="000000"/>
              </a:solidFill>
            </a:endParaRPr>
          </a:p>
          <a:p>
            <a:pPr>
              <a:lnSpc>
                <a:spcPct val="90000"/>
              </a:lnSpc>
            </a:pPr>
            <a:endParaRPr lang="en-US"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Title 1"/>
          <p:cNvSpPr>
            <a:spLocks noGrp="1"/>
          </p:cNvSpPr>
          <p:nvPr>
            <p:ph type="title"/>
          </p:nvPr>
        </p:nvSpPr>
        <p:spPr>
          <a:xfrm>
            <a:off x="832428" y="105026"/>
            <a:ext cx="8229600" cy="576262"/>
          </a:xfrm>
        </p:spPr>
        <p:txBody>
          <a:bodyPr/>
          <a:lstStyle/>
          <a:p>
            <a:r>
              <a:rPr lang="en-US" altLang="en-US" sz="2400" dirty="0"/>
              <a:t>Peterson’s Solution and Modern Architecture</a:t>
            </a:r>
            <a:endParaRPr lang="en-US" altLang="en-US" sz="2400" dirty="0"/>
          </a:p>
        </p:txBody>
      </p:sp>
      <p:sp>
        <p:nvSpPr>
          <p:cNvPr id="92162" name="Content Placeholder 2"/>
          <p:cNvSpPr>
            <a:spLocks noGrp="1"/>
          </p:cNvSpPr>
          <p:nvPr>
            <p:ph idx="1"/>
          </p:nvPr>
        </p:nvSpPr>
        <p:spPr>
          <a:xfrm>
            <a:off x="806450" y="1233488"/>
            <a:ext cx="7275666" cy="4385647"/>
          </a:xfrm>
        </p:spPr>
        <p:txBody>
          <a:bodyPr/>
          <a:lstStyle/>
          <a:p>
            <a:r>
              <a:rPr lang="en-US" altLang="en-US" dirty="0"/>
              <a:t>Although useful for demonstrating an algorithm, Peterson’s Solution is not guaranteed to work on modern architectures.</a:t>
            </a:r>
            <a:endParaRPr lang="en-US" altLang="en-US" dirty="0"/>
          </a:p>
          <a:p>
            <a:pPr lvl="1"/>
            <a:r>
              <a:rPr lang="en-US" altLang="en-US" dirty="0"/>
              <a:t>To improve performance, processors and/or compilers may reorder operations that have no dependencies</a:t>
            </a:r>
            <a:endParaRPr lang="en-US" altLang="en-US" dirty="0"/>
          </a:p>
          <a:p>
            <a:r>
              <a:rPr lang="en-US" altLang="en-US" dirty="0"/>
              <a:t>Understanding why it will not work is useful for better understanding race conditions.</a:t>
            </a:r>
            <a:endParaRPr lang="en-US" altLang="en-US" dirty="0"/>
          </a:p>
          <a:p>
            <a:r>
              <a:rPr lang="en-US" altLang="en-US" dirty="0"/>
              <a:t>For single-threaded this is ok as the result will always be the same.</a:t>
            </a:r>
            <a:endParaRPr lang="en-US" altLang="en-US" dirty="0"/>
          </a:p>
          <a:p>
            <a:r>
              <a:rPr lang="en-US" altLang="en-US" dirty="0"/>
              <a:t>For multithreaded the reordering may produce inconsistent or unexpected results!</a:t>
            </a:r>
            <a:endParaRPr lang="en-US"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Title 1"/>
          <p:cNvSpPr>
            <a:spLocks noGrp="1"/>
          </p:cNvSpPr>
          <p:nvPr>
            <p:ph type="title"/>
          </p:nvPr>
        </p:nvSpPr>
        <p:spPr>
          <a:xfrm>
            <a:off x="457200" y="131003"/>
            <a:ext cx="8229600" cy="576262"/>
          </a:xfrm>
        </p:spPr>
        <p:txBody>
          <a:bodyPr/>
          <a:lstStyle/>
          <a:p>
            <a:r>
              <a:rPr lang="en-US" altLang="en-US" dirty="0"/>
              <a:t>Modern Architecture Example</a:t>
            </a:r>
            <a:endParaRPr lang="en-US" altLang="en-US" dirty="0"/>
          </a:p>
        </p:txBody>
      </p:sp>
      <p:sp>
        <p:nvSpPr>
          <p:cNvPr id="93186" name="Content Placeholder 2"/>
          <p:cNvSpPr>
            <a:spLocks noGrp="1"/>
          </p:cNvSpPr>
          <p:nvPr>
            <p:ph idx="1"/>
          </p:nvPr>
        </p:nvSpPr>
        <p:spPr>
          <a:xfrm>
            <a:off x="806450" y="1233489"/>
            <a:ext cx="7727950" cy="3394496"/>
          </a:xfrm>
        </p:spPr>
        <p:txBody>
          <a:bodyPr/>
          <a:lstStyle/>
          <a:p>
            <a:r>
              <a:rPr lang="en-US" altLang="en-US" dirty="0"/>
              <a:t>Two threads share the data:</a:t>
            </a:r>
            <a:br>
              <a:rPr lang="en-US" altLang="en-US" dirty="0"/>
            </a:br>
            <a:r>
              <a:rPr lang="en-US" altLang="en-US" dirty="0"/>
              <a:t>      </a:t>
            </a:r>
            <a:r>
              <a:rPr lang="en-US" altLang="en-US" dirty="0" err="1">
                <a:latin typeface="Courier New" panose="02070309020205020404" pitchFamily="49" charset="0"/>
                <a:cs typeface="Courier New" panose="02070309020205020404" pitchFamily="49" charset="0"/>
              </a:rPr>
              <a:t>boolean</a:t>
            </a:r>
            <a:r>
              <a:rPr lang="en-US" altLang="en-US" dirty="0">
                <a:latin typeface="Courier New" panose="02070309020205020404" pitchFamily="49" charset="0"/>
                <a:cs typeface="Courier New" panose="02070309020205020404" pitchFamily="49" charset="0"/>
              </a:rPr>
              <a:t> flag = false;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int x = 0;</a:t>
            </a:r>
            <a:endParaRPr lang="en-US" altLang="en-US" dirty="0">
              <a:latin typeface="Courier New" panose="02070309020205020404" pitchFamily="49" charset="0"/>
              <a:cs typeface="Courier New" panose="02070309020205020404" pitchFamily="49" charset="0"/>
            </a:endParaRPr>
          </a:p>
          <a:p>
            <a:r>
              <a:rPr lang="en-US" altLang="en-US" dirty="0"/>
              <a:t>Thread 1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endParaRPr lang="en-US" altLang="en-US" dirty="0">
              <a:latin typeface="Courier New" panose="02070309020205020404" pitchFamily="49" charset="0"/>
              <a:cs typeface="Courier New" panose="02070309020205020404" pitchFamily="49" charset="0"/>
            </a:endParaRPr>
          </a:p>
          <a:p>
            <a:r>
              <a:rPr lang="en-US" altLang="en-US" dirty="0"/>
              <a:t>Thread 2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endParaRPr lang="en-US" altLang="en-US" dirty="0">
              <a:latin typeface="Courier New" panose="02070309020205020404" pitchFamily="49" charset="0"/>
              <a:cs typeface="Courier New" panose="02070309020205020404" pitchFamily="49" charset="0"/>
            </a:endParaRPr>
          </a:p>
          <a:p>
            <a:r>
              <a:rPr lang="en-US" altLang="en-US" dirty="0"/>
              <a:t>What is the expected output?</a:t>
            </a:r>
            <a:endParaRPr lang="en-US" altLang="en-US" dirty="0"/>
          </a:p>
          <a:p>
            <a:pPr marL="0" indent="0">
              <a:buNone/>
            </a:pPr>
            <a:r>
              <a:rPr lang="en-US" altLang="en-US" dirty="0"/>
              <a:t>            </a:t>
            </a:r>
            <a:endParaRPr lang="en-US" altLang="en-US" dirty="0"/>
          </a:p>
          <a:p>
            <a:pPr marL="0" indent="0">
              <a:buNone/>
            </a:pPr>
            <a:r>
              <a:rPr lang="en-US" altLang="en-US" dirty="0"/>
              <a:t>            </a:t>
            </a:r>
            <a:endParaRPr lang="en-US" altLang="en-US" dirty="0"/>
          </a:p>
        </p:txBody>
      </p:sp>
      <p:sp>
        <p:nvSpPr>
          <p:cNvPr id="2" name="TextBox 1"/>
          <p:cNvSpPr txBox="1"/>
          <p:nvPr/>
        </p:nvSpPr>
        <p:spPr>
          <a:xfrm>
            <a:off x="1595537" y="4758607"/>
            <a:ext cx="2733870" cy="369332"/>
          </a:xfrm>
          <a:prstGeom prst="rect">
            <a:avLst/>
          </a:prstGeom>
          <a:noFill/>
        </p:spPr>
        <p:txBody>
          <a:bodyPr wrap="square" rtlCol="0">
            <a:spAutoFit/>
          </a:bodyPr>
          <a:lstStyle/>
          <a:p>
            <a:r>
              <a:rPr lang="en-US" dirty="0">
                <a:latin typeface="+mn-lt"/>
              </a:rPr>
              <a:t>100</a:t>
            </a:r>
            <a:endParaRPr lang="en-US" dirty="0">
              <a:latin typeface="+mn-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318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318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9318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318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1111833" y="182958"/>
            <a:ext cx="8229600" cy="576262"/>
          </a:xfrm>
        </p:spPr>
        <p:txBody>
          <a:bodyPr/>
          <a:lstStyle/>
          <a:p>
            <a:r>
              <a:rPr lang="en-US" altLang="en-US" dirty="0"/>
              <a:t>Modern Architecture Example (Cont.)</a:t>
            </a:r>
            <a:endParaRPr lang="en-US" altLang="en-US" dirty="0"/>
          </a:p>
        </p:txBody>
      </p:sp>
      <p:sp>
        <p:nvSpPr>
          <p:cNvPr id="94210" name="Content Placeholder 2"/>
          <p:cNvSpPr>
            <a:spLocks noGrp="1"/>
          </p:cNvSpPr>
          <p:nvPr>
            <p:ph idx="1"/>
          </p:nvPr>
        </p:nvSpPr>
        <p:spPr>
          <a:xfrm>
            <a:off x="806450" y="1233489"/>
            <a:ext cx="6623050" cy="4294476"/>
          </a:xfrm>
        </p:spPr>
        <p:txBody>
          <a:bodyPr/>
          <a:lstStyle/>
          <a:p>
            <a:r>
              <a:rPr lang="en-US" altLang="en-US" dirty="0"/>
              <a:t>However, since the variables </a:t>
            </a:r>
            <a:r>
              <a:rPr lang="en-US" altLang="en-US" dirty="0">
                <a:latin typeface="Courier New" panose="02070309020205020404" pitchFamily="49" charset="0"/>
                <a:cs typeface="Courier New" panose="02070309020205020404" pitchFamily="49" charset="0"/>
              </a:rPr>
              <a:t>flag</a:t>
            </a:r>
            <a:r>
              <a:rPr lang="en-US" altLang="en-US" dirty="0"/>
              <a:t> and </a:t>
            </a:r>
            <a:r>
              <a:rPr lang="en-US" altLang="en-US" dirty="0">
                <a:latin typeface="Courier New" panose="02070309020205020404" pitchFamily="49" charset="0"/>
                <a:cs typeface="Courier New" panose="02070309020205020404" pitchFamily="49" charset="0"/>
              </a:rPr>
              <a:t>x</a:t>
            </a:r>
            <a:r>
              <a:rPr lang="en-US" altLang="en-US" dirty="0"/>
              <a:t> are independent of each other, the instructions:</a:t>
            </a:r>
            <a:endParaRPr lang="en-US" altLang="en-US" dirty="0"/>
          </a:p>
          <a:p>
            <a:pPr marL="0" indent="0">
              <a:buNone/>
            </a:pP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flag = true;</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x = 100;</a:t>
            </a:r>
            <a:endParaRPr lang="en-US" altLang="en-US" dirty="0">
              <a:latin typeface="Courier New" panose="02070309020205020404" pitchFamily="49" charset="0"/>
              <a:cs typeface="Courier New" panose="02070309020205020404" pitchFamily="49" charset="0"/>
            </a:endParaRPr>
          </a:p>
          <a:p>
            <a:pPr marL="0" indent="0">
              <a:buNone/>
            </a:pPr>
            <a:endParaRPr lang="en-US" altLang="en-US" dirty="0">
              <a:latin typeface="Courier New" panose="02070309020205020404" pitchFamily="49" charset="0"/>
              <a:cs typeface="Courier New" panose="02070309020205020404" pitchFamily="49" charset="0"/>
            </a:endParaRPr>
          </a:p>
          <a:p>
            <a:pPr marL="0" indent="0">
              <a:buNone/>
            </a:pPr>
            <a:r>
              <a:rPr lang="en-US" altLang="en-US" dirty="0">
                <a:latin typeface="Courier New" panose="02070309020205020404" pitchFamily="49" charset="0"/>
                <a:cs typeface="Courier New" panose="02070309020205020404" pitchFamily="49" charset="0"/>
              </a:rPr>
              <a:t>   </a:t>
            </a:r>
            <a:r>
              <a:rPr lang="en-US" altLang="en-US" dirty="0"/>
              <a:t>for Thread 2 may be reordered </a:t>
            </a:r>
            <a:r>
              <a:rPr lang="zh-CN" altLang="en-US" dirty="0"/>
              <a:t>重排序</a:t>
            </a:r>
            <a:endParaRPr lang="en-US" altLang="en-US" dirty="0">
              <a:latin typeface="Courier New" panose="02070309020205020404" pitchFamily="49" charset="0"/>
              <a:cs typeface="Courier New" panose="02070309020205020404" pitchFamily="49" charset="0"/>
            </a:endParaRPr>
          </a:p>
          <a:p>
            <a:r>
              <a:rPr lang="en-US" altLang="en-US" dirty="0"/>
              <a:t>If this occurs, the output may be 0!</a:t>
            </a:r>
            <a:endParaRPr lang="en-US" altLang="en-US" dirty="0"/>
          </a:p>
          <a:p>
            <a:pPr marL="0" indent="0">
              <a:buNone/>
            </a:pPr>
            <a:br>
              <a:rPr lang="en-US" altLang="en-US" dirty="0"/>
            </a:br>
            <a:br>
              <a:rPr lang="en-US" altLang="en-US" dirty="0"/>
            </a:br>
            <a:br>
              <a:rPr lang="en-US" altLang="en-US" dirty="0"/>
            </a:br>
            <a:endParaRPr lang="en-US"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Title 1"/>
          <p:cNvSpPr>
            <a:spLocks noGrp="1"/>
          </p:cNvSpPr>
          <p:nvPr>
            <p:ph type="title"/>
          </p:nvPr>
        </p:nvSpPr>
        <p:spPr>
          <a:xfrm>
            <a:off x="963549" y="182958"/>
            <a:ext cx="8229600" cy="576262"/>
          </a:xfrm>
        </p:spPr>
        <p:txBody>
          <a:bodyPr/>
          <a:lstStyle/>
          <a:p>
            <a:r>
              <a:rPr lang="en-US" altLang="en-US" dirty="0"/>
              <a:t>Peterson’s Solution Revisited</a:t>
            </a:r>
            <a:endParaRPr lang="en-US" altLang="en-US" dirty="0"/>
          </a:p>
        </p:txBody>
      </p:sp>
      <p:sp>
        <p:nvSpPr>
          <p:cNvPr id="94210" name="Content Placeholder 2"/>
          <p:cNvSpPr>
            <a:spLocks noGrp="1"/>
          </p:cNvSpPr>
          <p:nvPr>
            <p:ph idx="1"/>
          </p:nvPr>
        </p:nvSpPr>
        <p:spPr/>
        <p:txBody>
          <a:bodyPr/>
          <a:lstStyle/>
          <a:p>
            <a:r>
              <a:rPr lang="en-US" altLang="en-US" dirty="0"/>
              <a:t>The effects of instruction reordering in Peterson’s Solution</a:t>
            </a:r>
            <a:endParaRPr lang="en-US" altLang="en-US" dirty="0"/>
          </a:p>
          <a:p>
            <a:endParaRPr lang="en-US" altLang="en-US" dirty="0"/>
          </a:p>
          <a:p>
            <a:endParaRPr lang="en-US" altLang="en-US" dirty="0"/>
          </a:p>
          <a:p>
            <a:endParaRPr lang="en-US" altLang="en-US" dirty="0"/>
          </a:p>
          <a:p>
            <a:endParaRPr lang="en-US" altLang="en-US" dirty="0"/>
          </a:p>
          <a:p>
            <a:endParaRPr lang="en-US" altLang="en-US" dirty="0"/>
          </a:p>
          <a:p>
            <a:r>
              <a:rPr lang="en-US" altLang="en-US" dirty="0"/>
              <a:t>This allows both processes to be in their critical section at the same time!</a:t>
            </a:r>
            <a:endParaRPr lang="en-US" altLang="en-US" dirty="0"/>
          </a:p>
          <a:p>
            <a:r>
              <a:rPr lang="en-US" altLang="en-US" dirty="0"/>
              <a:t>To ensure that Peterson’s solution will work correctly on modern computer architecture we must use </a:t>
            </a:r>
            <a:r>
              <a:rPr lang="en-US" altLang="en-US" b="1" dirty="0">
                <a:solidFill>
                  <a:srgbClr val="006699"/>
                </a:solidFill>
                <a:latin typeface="+mj-lt"/>
              </a:rPr>
              <a:t>Memory Barrier </a:t>
            </a:r>
            <a:r>
              <a:rPr lang="zh-CN" altLang="en-US" b="1" dirty="0">
                <a:solidFill>
                  <a:srgbClr val="006699"/>
                </a:solidFill>
                <a:latin typeface="+mj-lt"/>
              </a:rPr>
              <a:t>内存屏障</a:t>
            </a:r>
            <a:r>
              <a:rPr lang="en-US" altLang="en-US" dirty="0"/>
              <a:t>.</a:t>
            </a:r>
            <a:br>
              <a:rPr lang="en-US" altLang="en-US" dirty="0"/>
            </a:br>
            <a:br>
              <a:rPr lang="en-US" altLang="en-US" dirty="0"/>
            </a:br>
            <a:br>
              <a:rPr lang="en-US" altLang="en-US" dirty="0"/>
            </a:br>
            <a:br>
              <a:rPr lang="en-US" altLang="en-US" dirty="0"/>
            </a:br>
            <a:endParaRPr lang="en-US" altLang="en-US" dirty="0"/>
          </a:p>
        </p:txBody>
      </p:sp>
      <p:pic>
        <p:nvPicPr>
          <p:cNvPr id="94211" name="Picture 3"/>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500620" y="1821442"/>
            <a:ext cx="5616575"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224522"/>
            <a:ext cx="8229600" cy="576262"/>
          </a:xfrm>
        </p:spPr>
        <p:txBody>
          <a:bodyPr/>
          <a:lstStyle/>
          <a:p>
            <a:r>
              <a:rPr lang="en-US" altLang="en-US" dirty="0"/>
              <a:t>Memory Barrier</a:t>
            </a:r>
            <a:endParaRPr lang="en-US" altLang="en-US" dirty="0"/>
          </a:p>
        </p:txBody>
      </p:sp>
      <p:sp>
        <p:nvSpPr>
          <p:cNvPr id="95234" name="Content Placeholder 2"/>
          <p:cNvSpPr>
            <a:spLocks noGrp="1"/>
          </p:cNvSpPr>
          <p:nvPr>
            <p:ph idx="1"/>
          </p:nvPr>
        </p:nvSpPr>
        <p:spPr>
          <a:xfrm>
            <a:off x="806450" y="1233488"/>
            <a:ext cx="7162898" cy="4590537"/>
          </a:xfrm>
        </p:spPr>
        <p:txBody>
          <a:bodyPr/>
          <a:lstStyle/>
          <a:p>
            <a:r>
              <a:rPr lang="en-US" altLang="en-US" b="1" dirty="0"/>
              <a:t>Memory model </a:t>
            </a:r>
            <a:r>
              <a:rPr lang="zh-CN" altLang="en-US" b="1" dirty="0"/>
              <a:t>内存模型</a:t>
            </a:r>
            <a:r>
              <a:rPr lang="en-US" altLang="zh-CN" b="1" dirty="0"/>
              <a:t> </a:t>
            </a:r>
            <a:r>
              <a:rPr lang="en-US" altLang="en-US" dirty="0"/>
              <a:t>are the memory guarantees a computer architecture makes to application programs.</a:t>
            </a:r>
            <a:endParaRPr lang="en-US" altLang="en-US" dirty="0"/>
          </a:p>
          <a:p>
            <a:r>
              <a:rPr lang="en-US" altLang="en-US" dirty="0"/>
              <a:t>Memory models may be either:</a:t>
            </a:r>
            <a:endParaRPr lang="en-US" altLang="en-US" dirty="0"/>
          </a:p>
          <a:p>
            <a:pPr lvl="1"/>
            <a:r>
              <a:rPr lang="en-US" altLang="en-US" b="1" dirty="0"/>
              <a:t>Strongly ordered </a:t>
            </a:r>
            <a:r>
              <a:rPr lang="en-US" altLang="en-US" dirty="0"/>
              <a:t>– where a memory modification of one processor is immediately visible to all other processors.</a:t>
            </a:r>
            <a:endParaRPr lang="en-US" altLang="en-US" dirty="0"/>
          </a:p>
          <a:p>
            <a:pPr lvl="1"/>
            <a:r>
              <a:rPr lang="en-US" altLang="en-US" b="1" dirty="0"/>
              <a:t>Weakly ordered  </a:t>
            </a:r>
            <a:r>
              <a:rPr lang="en-US" altLang="en-US" dirty="0"/>
              <a:t>– where a memory modification of one processor may not be immediately visible to all other processors.</a:t>
            </a:r>
            <a:endParaRPr lang="en-US" altLang="en-US" dirty="0"/>
          </a:p>
          <a:p>
            <a:r>
              <a:rPr lang="en-US" altLang="en-US" dirty="0"/>
              <a:t>A </a:t>
            </a:r>
            <a:r>
              <a:rPr lang="en-US" altLang="en-US" b="1" dirty="0"/>
              <a:t>memory barrier </a:t>
            </a:r>
            <a:r>
              <a:rPr lang="en-US" altLang="en-US" dirty="0"/>
              <a:t>is an instruction that forces any change in memory to be propagated (made visible) to all other processors.</a:t>
            </a:r>
            <a:br>
              <a:rPr lang="en-US" altLang="en-US" dirty="0"/>
            </a:br>
            <a:endParaRPr lang="en-US"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Title 1"/>
          <p:cNvSpPr>
            <a:spLocks noGrp="1"/>
          </p:cNvSpPr>
          <p:nvPr>
            <p:ph type="title"/>
          </p:nvPr>
        </p:nvSpPr>
        <p:spPr>
          <a:xfrm>
            <a:off x="457200" y="191570"/>
            <a:ext cx="8229600" cy="576262"/>
          </a:xfrm>
        </p:spPr>
        <p:txBody>
          <a:bodyPr/>
          <a:lstStyle/>
          <a:p>
            <a:r>
              <a:rPr lang="en-US" altLang="en-US" dirty="0"/>
              <a:t>Memory Barrier Instructions</a:t>
            </a:r>
            <a:endParaRPr lang="en-US" altLang="en-US" dirty="0"/>
          </a:p>
        </p:txBody>
      </p:sp>
      <p:sp>
        <p:nvSpPr>
          <p:cNvPr id="95234" name="Content Placeholder 2"/>
          <p:cNvSpPr>
            <a:spLocks noGrp="1"/>
          </p:cNvSpPr>
          <p:nvPr>
            <p:ph idx="1"/>
          </p:nvPr>
        </p:nvSpPr>
        <p:spPr>
          <a:xfrm>
            <a:off x="806450" y="1233488"/>
            <a:ext cx="7162898" cy="4590537"/>
          </a:xfrm>
        </p:spPr>
        <p:txBody>
          <a:bodyPr/>
          <a:lstStyle/>
          <a:p>
            <a:r>
              <a:rPr lang="en-US" altLang="en-US" dirty="0"/>
              <a:t>When a memory barrier instruction is performed, the system ensures that all loads and stores are completed before any subsequent load or store operations are performed.</a:t>
            </a:r>
            <a:endParaRPr lang="en-US" altLang="en-US" dirty="0"/>
          </a:p>
          <a:p>
            <a:r>
              <a:rPr lang="en-US" altLang="en-US" dirty="0"/>
              <a:t>Therefore, even if instructions were reordered, the memory barrier ensures that the store operations are completed in memory and visible to other processors before future load or store operations are performed.</a:t>
            </a:r>
            <a:endParaRPr lang="en-US" altLang="en-US" dirty="0"/>
          </a:p>
          <a:p>
            <a:endParaRPr lang="en-US" alt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le 1"/>
          <p:cNvSpPr>
            <a:spLocks noGrp="1"/>
          </p:cNvSpPr>
          <p:nvPr>
            <p:ph type="title"/>
          </p:nvPr>
        </p:nvSpPr>
        <p:spPr>
          <a:xfrm>
            <a:off x="457200" y="224522"/>
            <a:ext cx="8229600" cy="576262"/>
          </a:xfrm>
        </p:spPr>
        <p:txBody>
          <a:bodyPr/>
          <a:lstStyle/>
          <a:p>
            <a:r>
              <a:rPr lang="en-US" altLang="en-US" dirty="0"/>
              <a:t>Memory Barrier Example</a:t>
            </a:r>
            <a:endParaRPr lang="en-US" altLang="en-US" dirty="0"/>
          </a:p>
        </p:txBody>
      </p:sp>
      <p:sp>
        <p:nvSpPr>
          <p:cNvPr id="96258" name="Content Placeholder 2"/>
          <p:cNvSpPr>
            <a:spLocks noGrp="1"/>
          </p:cNvSpPr>
          <p:nvPr>
            <p:ph idx="1"/>
          </p:nvPr>
        </p:nvSpPr>
        <p:spPr>
          <a:xfrm>
            <a:off x="837622" y="1161866"/>
            <a:ext cx="6726959" cy="4854469"/>
          </a:xfrm>
        </p:spPr>
        <p:txBody>
          <a:bodyPr/>
          <a:lstStyle/>
          <a:p>
            <a:r>
              <a:rPr lang="en-US" altLang="en-US" dirty="0"/>
              <a:t>Returning to the example of slides 6.17 - 6.18</a:t>
            </a:r>
            <a:endParaRPr lang="en-US" altLang="en-US" dirty="0"/>
          </a:p>
          <a:p>
            <a:r>
              <a:rPr lang="en-US" altLang="en-US" dirty="0"/>
              <a:t>We could add a memory barrier to the following instructions to ensure Thread 1 outputs 100:</a:t>
            </a:r>
            <a:endParaRPr lang="en-US" altLang="en-US" dirty="0"/>
          </a:p>
          <a:p>
            <a:r>
              <a:rPr lang="en-US" altLang="en-US" dirty="0"/>
              <a:t>Thread 1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while (!flag)</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print x</a:t>
            </a:r>
            <a:endParaRPr lang="en-US" altLang="en-US" dirty="0">
              <a:latin typeface="Courier New" panose="02070309020205020404" pitchFamily="49" charset="0"/>
              <a:cs typeface="Courier New" panose="02070309020205020404" pitchFamily="49" charset="0"/>
            </a:endParaRPr>
          </a:p>
          <a:p>
            <a:r>
              <a:rPr lang="en-US" altLang="en-US" dirty="0"/>
              <a:t>Thread 2 now performs</a:t>
            </a:r>
            <a:br>
              <a:rPr lang="en-US" altLang="en-US" dirty="0"/>
            </a:br>
            <a:r>
              <a:rPr lang="en-US" altLang="en-US" dirty="0"/>
              <a:t>     </a:t>
            </a:r>
            <a:r>
              <a:rPr lang="en-US" altLang="en-US" dirty="0">
                <a:latin typeface="Courier New" panose="02070309020205020404" pitchFamily="49" charset="0"/>
                <a:cs typeface="Courier New" panose="02070309020205020404" pitchFamily="49" charset="0"/>
              </a:rPr>
              <a:t>x = 100;</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a:t>
            </a:r>
            <a:r>
              <a:rPr lang="en-US" altLang="en-US" dirty="0" err="1">
                <a:latin typeface="Courier New" panose="02070309020205020404" pitchFamily="49" charset="0"/>
                <a:cs typeface="Courier New" panose="02070309020205020404" pitchFamily="49" charset="0"/>
              </a:rPr>
              <a:t>memory_barrier</a:t>
            </a:r>
            <a:r>
              <a:rPr lang="en-US" altLang="en-US" dirty="0">
                <a:latin typeface="Courier New" panose="02070309020205020404" pitchFamily="49" charset="0"/>
                <a:cs typeface="Courier New" panose="02070309020205020404" pitchFamily="49" charset="0"/>
              </a:rPr>
              <a:t>();</a:t>
            </a:r>
            <a:br>
              <a:rPr lang="en-US" altLang="en-US" dirty="0">
                <a:latin typeface="Courier New" panose="02070309020205020404" pitchFamily="49" charset="0"/>
                <a:cs typeface="Courier New" panose="02070309020205020404" pitchFamily="49" charset="0"/>
              </a:rPr>
            </a:br>
            <a:r>
              <a:rPr lang="en-US" altLang="en-US" dirty="0">
                <a:latin typeface="Courier New" panose="02070309020205020404" pitchFamily="49" charset="0"/>
                <a:cs typeface="Courier New" panose="02070309020205020404" pitchFamily="49" charset="0"/>
              </a:rPr>
              <a:t>  flag = true</a:t>
            </a:r>
            <a:endParaRPr lang="en-US" altLang="en-US" dirty="0">
              <a:latin typeface="Courier New" panose="02070309020205020404" pitchFamily="49" charset="0"/>
              <a:cs typeface="Courier New" panose="02070309020205020404" pitchFamily="49" charset="0"/>
            </a:endParaRPr>
          </a:p>
          <a:p>
            <a:r>
              <a:rPr lang="en-US" altLang="en-US" dirty="0"/>
              <a:t>For</a:t>
            </a:r>
            <a:r>
              <a:rPr lang="en-US" altLang="en-US" dirty="0">
                <a:latin typeface="Courier New" panose="02070309020205020404" pitchFamily="49" charset="0"/>
                <a:cs typeface="Courier New" panose="02070309020205020404" pitchFamily="49" charset="0"/>
              </a:rPr>
              <a:t> </a:t>
            </a:r>
            <a:r>
              <a:rPr lang="en-US" altLang="en-US" dirty="0"/>
              <a:t>Thread 1 we are guaranteed that  that the value of </a:t>
            </a:r>
            <a:r>
              <a:rPr lang="en-US" altLang="en-US" dirty="0">
                <a:latin typeface="Courier New" panose="02070309020205020404" pitchFamily="49" charset="0"/>
                <a:cs typeface="Courier New" panose="02070309020205020404" pitchFamily="49" charset="0"/>
              </a:rPr>
              <a:t>flag</a:t>
            </a:r>
            <a:r>
              <a:rPr lang="en-US" altLang="en-US" dirty="0"/>
              <a:t> is loaded before the value of </a:t>
            </a:r>
            <a:r>
              <a:rPr lang="en-US" altLang="en-US" dirty="0">
                <a:latin typeface="Courier New" panose="02070309020205020404" pitchFamily="49" charset="0"/>
                <a:cs typeface="Courier New" panose="02070309020205020404" pitchFamily="49" charset="0"/>
              </a:rPr>
              <a:t>x</a:t>
            </a:r>
            <a:r>
              <a:rPr lang="en-US" altLang="en-US" dirty="0"/>
              <a:t>.</a:t>
            </a:r>
            <a:endParaRPr lang="en-US" altLang="en-US" dirty="0"/>
          </a:p>
          <a:p>
            <a:r>
              <a:rPr lang="en-US" altLang="en-US" dirty="0"/>
              <a:t>For Thread 2 we ensure that the assignment to </a:t>
            </a:r>
            <a:r>
              <a:rPr lang="en-US" altLang="en-US" dirty="0">
                <a:latin typeface="Courier New" panose="02070309020205020404" pitchFamily="49" charset="0"/>
                <a:cs typeface="Courier New" panose="02070309020205020404" pitchFamily="49" charset="0"/>
              </a:rPr>
              <a:t>x</a:t>
            </a:r>
            <a:r>
              <a:rPr lang="en-US" altLang="en-US" dirty="0"/>
              <a:t> occurs before the assignment </a:t>
            </a:r>
            <a:r>
              <a:rPr lang="en-US" altLang="en-US" dirty="0">
                <a:latin typeface="Courier New" panose="02070309020205020404" pitchFamily="49" charset="0"/>
                <a:cs typeface="Courier New" panose="02070309020205020404" pitchFamily="49" charset="0"/>
              </a:rPr>
              <a:t>flag.</a:t>
            </a:r>
            <a:endParaRPr lang="en-US" altLang="en-US" dirty="0">
              <a:latin typeface="Courier New" panose="02070309020205020404" pitchFamily="49" charset="0"/>
              <a:cs typeface="Courier New" panose="02070309020205020404" pitchFamily="49" charset="0"/>
            </a:endParaRPr>
          </a:p>
          <a:p>
            <a:pPr marL="0" indent="0">
              <a:buNone/>
            </a:pPr>
            <a:endParaRPr lang="en-US"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p:cNvSpPr>
            <a:spLocks noGrp="1" noChangeArrowheads="1"/>
          </p:cNvSpPr>
          <p:nvPr>
            <p:ph type="title"/>
          </p:nvPr>
        </p:nvSpPr>
        <p:spPr>
          <a:xfrm>
            <a:off x="1100138" y="221827"/>
            <a:ext cx="7586662" cy="576262"/>
          </a:xfrm>
        </p:spPr>
        <p:txBody>
          <a:bodyPr/>
          <a:lstStyle/>
          <a:p>
            <a:pPr eaLnBrk="1" hangingPunct="1"/>
            <a:r>
              <a:rPr lang="en-US" altLang="en-US" dirty="0"/>
              <a:t>Synchronization Hardware </a:t>
            </a:r>
            <a:r>
              <a:rPr lang="zh-CN" altLang="en-US" dirty="0"/>
              <a:t>同步</a:t>
            </a:r>
            <a:r>
              <a:rPr lang="zh-CN" altLang="en-US" dirty="0"/>
              <a:t>硬件</a:t>
            </a:r>
            <a:endParaRPr lang="zh-CN" altLang="en-US" dirty="0"/>
          </a:p>
        </p:txBody>
      </p:sp>
      <p:sp>
        <p:nvSpPr>
          <p:cNvPr id="29698" name="Rectangle 3"/>
          <p:cNvSpPr>
            <a:spLocks noGrp="1" noChangeArrowheads="1"/>
          </p:cNvSpPr>
          <p:nvPr>
            <p:ph idx="1"/>
          </p:nvPr>
        </p:nvSpPr>
        <p:spPr>
          <a:xfrm>
            <a:off x="821094" y="1233488"/>
            <a:ext cx="7443675" cy="4372487"/>
          </a:xfrm>
        </p:spPr>
        <p:txBody>
          <a:bodyPr/>
          <a:lstStyle/>
          <a:p>
            <a:pPr>
              <a:lnSpc>
                <a:spcPct val="90000"/>
              </a:lnSpc>
              <a:tabLst>
                <a:tab pos="739775" algn="l"/>
                <a:tab pos="1020445" algn="l"/>
                <a:tab pos="1257300" algn="l"/>
              </a:tabLst>
            </a:pPr>
            <a:r>
              <a:rPr lang="en-US" altLang="en-US" dirty="0"/>
              <a:t>Many systems provide hardware support for implementing the critical section code.</a:t>
            </a:r>
            <a:endParaRPr lang="en-US" altLang="en-US" dirty="0"/>
          </a:p>
          <a:p>
            <a:pPr>
              <a:lnSpc>
                <a:spcPct val="90000"/>
              </a:lnSpc>
              <a:tabLst>
                <a:tab pos="739775" algn="l"/>
                <a:tab pos="1020445" algn="l"/>
                <a:tab pos="1257300" algn="l"/>
              </a:tabLst>
            </a:pPr>
            <a:r>
              <a:rPr lang="en-US" altLang="en-US" dirty="0"/>
              <a:t>Uniprocessors – could disable interrupts</a:t>
            </a:r>
            <a:endParaRPr lang="en-US" altLang="en-US" dirty="0"/>
          </a:p>
          <a:p>
            <a:pPr lvl="1">
              <a:lnSpc>
                <a:spcPct val="90000"/>
              </a:lnSpc>
              <a:tabLst>
                <a:tab pos="739775" algn="l"/>
                <a:tab pos="1020445" algn="l"/>
                <a:tab pos="1257300" algn="l"/>
              </a:tabLst>
            </a:pPr>
            <a:r>
              <a:rPr lang="en-US" altLang="en-US" dirty="0"/>
              <a:t>Currently running code would execute without preemption </a:t>
            </a:r>
            <a:r>
              <a:rPr lang="zh-CN" altLang="en-US" dirty="0"/>
              <a:t>抢占</a:t>
            </a:r>
            <a:endParaRPr lang="en-US" altLang="en-US" dirty="0"/>
          </a:p>
          <a:p>
            <a:pPr lvl="1">
              <a:lnSpc>
                <a:spcPct val="90000"/>
              </a:lnSpc>
              <a:tabLst>
                <a:tab pos="739775" algn="l"/>
                <a:tab pos="1020445" algn="l"/>
                <a:tab pos="1257300" algn="l"/>
              </a:tabLst>
            </a:pPr>
            <a:r>
              <a:rPr lang="en-US" altLang="en-US" dirty="0"/>
              <a:t>Generally too inefficient on multiprocessor systems</a:t>
            </a:r>
            <a:endParaRPr lang="en-US" altLang="en-US" dirty="0"/>
          </a:p>
          <a:p>
            <a:pPr lvl="2">
              <a:lnSpc>
                <a:spcPct val="90000"/>
              </a:lnSpc>
              <a:tabLst>
                <a:tab pos="739775" algn="l"/>
                <a:tab pos="1020445" algn="l"/>
                <a:tab pos="1257300" algn="l"/>
              </a:tabLst>
            </a:pPr>
            <a:r>
              <a:rPr lang="en-US" altLang="en-US" dirty="0"/>
              <a:t>Operating systems using this not broadly scalable</a:t>
            </a:r>
            <a:endParaRPr lang="en-US" altLang="en-US" dirty="0"/>
          </a:p>
          <a:p>
            <a:pPr>
              <a:lnSpc>
                <a:spcPct val="90000"/>
              </a:lnSpc>
              <a:tabLst>
                <a:tab pos="739775" algn="l"/>
                <a:tab pos="1020445" algn="l"/>
                <a:tab pos="1257300" algn="l"/>
              </a:tabLst>
            </a:pPr>
            <a:r>
              <a:rPr lang="en-US" altLang="en-US" dirty="0"/>
              <a:t>We will look at three forms of hardware support:</a:t>
            </a:r>
            <a:br>
              <a:rPr lang="en-US" altLang="en-US" dirty="0"/>
            </a:br>
            <a:br>
              <a:rPr lang="en-US" altLang="en-US" dirty="0"/>
            </a:br>
            <a:r>
              <a:rPr lang="en-US" altLang="en-US" dirty="0">
                <a:solidFill>
                  <a:srgbClr val="CC6600"/>
                </a:solidFill>
              </a:rPr>
              <a:t>1.  </a:t>
            </a:r>
            <a:r>
              <a:rPr lang="en-US" altLang="en-US" dirty="0"/>
              <a:t>Hardware instructions </a:t>
            </a:r>
            <a:r>
              <a:rPr lang="zh-CN" altLang="en-US" dirty="0"/>
              <a:t>硬件指令</a:t>
            </a:r>
            <a:br>
              <a:rPr lang="en-US" altLang="en-US" dirty="0"/>
            </a:br>
            <a:br>
              <a:rPr lang="en-US" altLang="en-US" dirty="0"/>
            </a:br>
            <a:r>
              <a:rPr lang="en-US" altLang="en-US" dirty="0">
                <a:solidFill>
                  <a:srgbClr val="CC6600"/>
                </a:solidFill>
              </a:rPr>
              <a:t>2.  </a:t>
            </a:r>
            <a:r>
              <a:rPr lang="en-US" altLang="en-US" dirty="0"/>
              <a:t>Atomic variables </a:t>
            </a:r>
            <a:r>
              <a:rPr lang="zh-CN" altLang="en-US" dirty="0"/>
              <a:t>原子</a:t>
            </a:r>
            <a:r>
              <a:rPr lang="zh-CN" altLang="en-US" dirty="0"/>
              <a:t>变量</a:t>
            </a:r>
            <a:endParaRPr lang="zh-CN"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457200" y="224522"/>
            <a:ext cx="8229600" cy="576262"/>
          </a:xfrm>
        </p:spPr>
        <p:txBody>
          <a:bodyPr/>
          <a:lstStyle/>
          <a:p>
            <a:r>
              <a:rPr lang="en-US" altLang="en-US" dirty="0"/>
              <a:t>Hardware Instructions</a:t>
            </a:r>
            <a:endParaRPr lang="en-US" altLang="en-US" dirty="0"/>
          </a:p>
        </p:txBody>
      </p:sp>
      <p:sp>
        <p:nvSpPr>
          <p:cNvPr id="97282" name="Content Placeholder 2"/>
          <p:cNvSpPr>
            <a:spLocks noGrp="1"/>
          </p:cNvSpPr>
          <p:nvPr>
            <p:ph idx="1"/>
          </p:nvPr>
        </p:nvSpPr>
        <p:spPr>
          <a:xfrm>
            <a:off x="806450" y="1233489"/>
            <a:ext cx="6199261" cy="4147404"/>
          </a:xfrm>
        </p:spPr>
        <p:txBody>
          <a:bodyPr/>
          <a:lstStyle/>
          <a:p>
            <a:r>
              <a:rPr lang="en-US" altLang="en-US" dirty="0"/>
              <a:t>Special hardware instructions that allow us to either </a:t>
            </a:r>
            <a:r>
              <a:rPr lang="en-US" altLang="en-US" i="1" dirty="0"/>
              <a:t>test-and-modify</a:t>
            </a:r>
            <a:r>
              <a:rPr lang="en-US" altLang="en-US" dirty="0"/>
              <a:t> the content of a word, or to </a:t>
            </a:r>
            <a:r>
              <a:rPr lang="en-US" altLang="en-US" i="1" dirty="0"/>
              <a:t>swap</a:t>
            </a:r>
            <a:r>
              <a:rPr lang="en-US" altLang="en-US" dirty="0"/>
              <a:t> the contents of two words atomically (uninterruptedly.)</a:t>
            </a:r>
            <a:endParaRPr lang="en-US" altLang="en-US" dirty="0"/>
          </a:p>
          <a:p>
            <a:pPr lvl="1"/>
            <a:r>
              <a:rPr lang="en-US" altLang="en-US" b="1" dirty="0"/>
              <a:t>Test-and-Set</a:t>
            </a:r>
            <a:r>
              <a:rPr lang="en-US" altLang="en-US" dirty="0"/>
              <a:t> instruction</a:t>
            </a:r>
            <a:endParaRPr lang="en-US" altLang="en-US" dirty="0"/>
          </a:p>
          <a:p>
            <a:pPr lvl="1"/>
            <a:r>
              <a:rPr lang="en-US" altLang="en-US" b="1" dirty="0"/>
              <a:t>Compare-and-Swap</a:t>
            </a:r>
            <a:r>
              <a:rPr lang="en-US" altLang="en-US" dirty="0"/>
              <a:t> instruction</a:t>
            </a:r>
            <a:endParaRPr lang="en-US"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514866" y="161216"/>
            <a:ext cx="8229600" cy="576262"/>
          </a:xfrm>
        </p:spPr>
        <p:txBody>
          <a:bodyPr/>
          <a:lstStyle/>
          <a:p>
            <a:r>
              <a:rPr lang="en-US" altLang="en-US" dirty="0"/>
              <a:t>The test_and_set  Instruction </a:t>
            </a:r>
            <a:endParaRPr lang="en-US" altLang="en-US" dirty="0"/>
          </a:p>
        </p:txBody>
      </p:sp>
      <p:sp>
        <p:nvSpPr>
          <p:cNvPr id="97282" name="Content Placeholder 2"/>
          <p:cNvSpPr>
            <a:spLocks noGrp="1"/>
          </p:cNvSpPr>
          <p:nvPr>
            <p:ph idx="1"/>
          </p:nvPr>
        </p:nvSpPr>
        <p:spPr>
          <a:xfrm>
            <a:off x="806450" y="1233805"/>
            <a:ext cx="6927850" cy="4147185"/>
          </a:xfrm>
        </p:spPr>
        <p:txBody>
          <a:bodyPr/>
          <a:lstStyle/>
          <a:p>
            <a:r>
              <a:rPr lang="en-US" altLang="en-US" dirty="0"/>
              <a:t>Definition</a:t>
            </a:r>
            <a:endParaRPr lang="en-US" altLang="en-US" dirty="0"/>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test_and_set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*target)</a:t>
            </a:r>
            <a:endParaRPr lang="en-US" altLang="en-US" b="1" dirty="0">
              <a:solidFill>
                <a:srgbClr val="00000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boolean</a:t>
            </a: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 = *target;</a:t>
            </a:r>
            <a:endParaRPr lang="en-US" altLang="en-US" b="1" dirty="0">
              <a:solidFill>
                <a:srgbClr val="00000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*target = true;</a:t>
            </a:r>
            <a:endParaRPr lang="en-US" altLang="en-US" b="1" dirty="0">
              <a:solidFill>
                <a:srgbClr val="00000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return </a:t>
            </a:r>
            <a:r>
              <a:rPr lang="en-US" altLang="en-US" b="1" dirty="0" err="1">
                <a:solidFill>
                  <a:srgbClr val="000000"/>
                </a:solidFill>
                <a:latin typeface="Courier New" panose="02070309020205020404" pitchFamily="49" charset="0"/>
              </a:rPr>
              <a:t>rv</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buFont typeface="Monotype Sorts" pitchFamily="-84" charset="2"/>
              <a:buNone/>
              <a:tabLst>
                <a:tab pos="739775" algn="l"/>
                <a:tab pos="1020445" algn="l"/>
                <a:tab pos="1257300" algn="l"/>
              </a:tabLst>
            </a:pPr>
            <a:r>
              <a:rPr lang="en-US" altLang="en-US" b="1" dirty="0">
                <a:solidFill>
                  <a:srgbClr val="000000"/>
                </a:solidFill>
                <a:latin typeface="Courier New" panose="02070309020205020404" pitchFamily="49" charset="0"/>
              </a:rPr>
              <a:t>        }</a:t>
            </a:r>
            <a:endParaRPr lang="en-US" altLang="en-US" dirty="0">
              <a:solidFill>
                <a:srgbClr val="0000FF"/>
              </a:solidFill>
            </a:endParaRPr>
          </a:p>
          <a:p>
            <a:r>
              <a:rPr lang="en-US" altLang="en-US" dirty="0"/>
              <a:t>Properties</a:t>
            </a:r>
            <a:endParaRPr lang="en-US" altLang="en-US" dirty="0"/>
          </a:p>
          <a:p>
            <a:pPr lvl="1"/>
            <a:r>
              <a:rPr lang="en-US" altLang="en-US" dirty="0"/>
              <a:t>Executed atomically</a:t>
            </a:r>
            <a:endParaRPr lang="en-US" altLang="en-US" dirty="0"/>
          </a:p>
          <a:p>
            <a:pPr lvl="1"/>
            <a:r>
              <a:rPr lang="en-US" altLang="en-US" dirty="0"/>
              <a:t>Returns the original value of passed parameter</a:t>
            </a:r>
            <a:endParaRPr lang="en-US" altLang="en-US" dirty="0"/>
          </a:p>
          <a:p>
            <a:pPr lvl="1"/>
            <a:r>
              <a:rPr lang="en-US" altLang="en-US" dirty="0"/>
              <a:t>Set the new value of passed parameter to </a:t>
            </a:r>
            <a:r>
              <a:rPr lang="en-US" altLang="en-US" b="1" dirty="0">
                <a:solidFill>
                  <a:srgbClr val="000000"/>
                </a:solidFill>
                <a:latin typeface="Courier New" panose="02070309020205020404" pitchFamily="49" charset="0"/>
              </a:rPr>
              <a:t>true</a:t>
            </a:r>
            <a:endParaRPr lang="en-US" altLang="en-US" b="1" dirty="0">
              <a:latin typeface="Courier New" panose="02070309020205020404" pitchFamily="49" charset="0"/>
              <a:cs typeface="Courier New" panose="02070309020205020404" pitchFamily="49" charset="0"/>
            </a:endParaRPr>
          </a:p>
          <a:p>
            <a:pPr lvl="1"/>
            <a:endParaRPr lang="en-US"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2"/>
          <p:cNvSpPr>
            <a:spLocks noGrp="1" noChangeArrowheads="1"/>
          </p:cNvSpPr>
          <p:nvPr>
            <p:ph type="title"/>
          </p:nvPr>
        </p:nvSpPr>
        <p:spPr>
          <a:xfrm>
            <a:off x="849313" y="227242"/>
            <a:ext cx="7837487" cy="576263"/>
          </a:xfrm>
        </p:spPr>
        <p:txBody>
          <a:bodyPr/>
          <a:lstStyle/>
          <a:p>
            <a:pPr eaLnBrk="1" hangingPunct="1"/>
            <a:r>
              <a:rPr lang="en-US" altLang="en-US" dirty="0"/>
              <a:t>Solution Using test_and_set()</a:t>
            </a:r>
            <a:endParaRPr lang="en-US" altLang="en-US" dirty="0"/>
          </a:p>
        </p:txBody>
      </p:sp>
      <p:sp>
        <p:nvSpPr>
          <p:cNvPr id="18435" name="Rectangle 3"/>
          <p:cNvSpPr>
            <a:spLocks noGrp="1" noChangeArrowheads="1"/>
          </p:cNvSpPr>
          <p:nvPr>
            <p:ph idx="1"/>
          </p:nvPr>
        </p:nvSpPr>
        <p:spPr>
          <a:xfrm>
            <a:off x="1044575" y="1193800"/>
            <a:ext cx="7054850" cy="5067300"/>
          </a:xfrm>
        </p:spPr>
        <p:txBody>
          <a:bodyPr/>
          <a:lstStyle/>
          <a:p>
            <a:pPr>
              <a:lnSpc>
                <a:spcPct val="90000"/>
              </a:lnSpc>
              <a:tabLst>
                <a:tab pos="741045" algn="l"/>
                <a:tab pos="1022350" algn="l"/>
                <a:tab pos="1258570" algn="l"/>
              </a:tabLst>
            </a:pPr>
            <a:r>
              <a:rPr lang="en-US" altLang="en-US" dirty="0"/>
              <a:t>Shared </a:t>
            </a:r>
            <a:r>
              <a:rPr lang="en-US" altLang="en-US" dirty="0" err="1"/>
              <a:t>boolean</a:t>
            </a:r>
            <a:r>
              <a:rPr lang="en-US" altLang="en-US" dirty="0"/>
              <a:t> variable </a:t>
            </a:r>
            <a:r>
              <a:rPr lang="en-US" altLang="en-US" b="1" dirty="0">
                <a:latin typeface="Courier New" panose="02070309020205020404" pitchFamily="49" charset="0"/>
                <a:cs typeface="Courier New" panose="02070309020205020404" pitchFamily="49" charset="0"/>
              </a:rPr>
              <a:t>lock</a:t>
            </a:r>
            <a:r>
              <a:rPr lang="en-US" altLang="en-US" dirty="0"/>
              <a:t>, initialized to </a:t>
            </a:r>
            <a:r>
              <a:rPr lang="en-US" altLang="en-US" b="1" dirty="0">
                <a:latin typeface="Courier New" panose="02070309020205020404" pitchFamily="49" charset="0"/>
                <a:cs typeface="Courier New" panose="02070309020205020404" pitchFamily="49" charset="0"/>
              </a:rPr>
              <a:t>false</a:t>
            </a:r>
            <a:endParaRPr lang="en-US" altLang="en-US" b="1" dirty="0">
              <a:latin typeface="Courier New" panose="02070309020205020404" pitchFamily="49" charset="0"/>
              <a:cs typeface="Courier New" panose="02070309020205020404" pitchFamily="49" charset="0"/>
            </a:endParaRPr>
          </a:p>
          <a:p>
            <a:pPr>
              <a:lnSpc>
                <a:spcPct val="90000"/>
              </a:lnSpc>
              <a:tabLst>
                <a:tab pos="741045" algn="l"/>
                <a:tab pos="1022350" algn="l"/>
                <a:tab pos="1258570" algn="l"/>
              </a:tabLst>
            </a:pPr>
            <a:r>
              <a:rPr lang="en-US" altLang="en-US" dirty="0"/>
              <a:t>Solution:</a:t>
            </a:r>
            <a:endParaRPr lang="en-US" altLang="en-US" sz="1400" b="1" dirty="0">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cs typeface="Courier New" panose="02070309020205020404" pitchFamily="49" charset="0"/>
              </a:rPr>
              <a:t>       </a:t>
            </a:r>
            <a:r>
              <a:rPr lang="en-US" altLang="en-US" sz="1600" b="1" dirty="0">
                <a:solidFill>
                  <a:srgbClr val="000000"/>
                </a:solidFill>
                <a:latin typeface="Courier New" panose="02070309020205020404" pitchFamily="49" charset="0"/>
                <a:cs typeface="Courier New" panose="02070309020205020404" pitchFamily="49" charset="0"/>
              </a:rPr>
              <a:t>do {</a:t>
            </a:r>
            <a:br>
              <a:rPr lang="en-US" altLang="en-US" sz="1600" b="1" dirty="0">
                <a:solidFill>
                  <a:srgbClr val="000000"/>
                </a:solidFill>
                <a:latin typeface="Courier New" panose="02070309020205020404" pitchFamily="49" charset="0"/>
                <a:cs typeface="Courier New" panose="02070309020205020404" pitchFamily="49" charset="0"/>
              </a:rPr>
            </a:br>
            <a:r>
              <a:rPr lang="en-US" altLang="en-US" sz="1600" b="1" dirty="0">
                <a:solidFill>
                  <a:srgbClr val="000000"/>
                </a:solidFill>
                <a:latin typeface="Courier New" panose="02070309020205020404" pitchFamily="49" charset="0"/>
                <a:cs typeface="Courier New" panose="02070309020205020404" pitchFamily="49" charset="0"/>
              </a:rPr>
              <a:t>          while (test_and_set(&amp;lock)) </a:t>
            </a: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0000"/>
                </a:solidFill>
                <a:latin typeface="Courier New" panose="02070309020205020404" pitchFamily="49" charset="0"/>
                <a:cs typeface="Courier New" panose="02070309020205020404" pitchFamily="49" charset="0"/>
              </a:rPr>
              <a:t>             ; /* do nothing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0000"/>
                </a:solidFill>
                <a:latin typeface="Courier New" panose="02070309020205020404" pitchFamily="49" charset="0"/>
                <a:cs typeface="Courier New" panose="02070309020205020404" pitchFamily="49" charset="0"/>
              </a:rPr>
              <a:t>                 /* critical section */ </a:t>
            </a:r>
            <a:br>
              <a:rPr lang="en-US" altLang="en-US" sz="1600" b="1" dirty="0">
                <a:solidFill>
                  <a:srgbClr val="000000"/>
                </a:solidFill>
                <a:latin typeface="Courier New" panose="02070309020205020404" pitchFamily="49" charset="0"/>
                <a:cs typeface="Courier New" panose="02070309020205020404" pitchFamily="49" charset="0"/>
              </a:rPr>
            </a:b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0000"/>
                </a:solidFill>
                <a:latin typeface="Courier New" panose="02070309020205020404" pitchFamily="49" charset="0"/>
                <a:cs typeface="Courier New" panose="02070309020205020404" pitchFamily="49" charset="0"/>
              </a:rPr>
              <a:t>          lock = false; </a:t>
            </a: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0000"/>
                </a:solidFill>
                <a:latin typeface="Courier New" panose="02070309020205020404" pitchFamily="49" charset="0"/>
                <a:cs typeface="Courier New" panose="02070309020205020404" pitchFamily="49" charset="0"/>
              </a:rPr>
              <a:t>                 /* remainder section */ </a:t>
            </a: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solidFill>
                  <a:srgbClr val="000000"/>
                </a:solidFill>
                <a:latin typeface="Courier New" panose="02070309020205020404" pitchFamily="49" charset="0"/>
                <a:cs typeface="Courier New" panose="02070309020205020404" pitchFamily="49" charset="0"/>
              </a:rPr>
              <a:t>       } while (true);</a:t>
            </a:r>
            <a:endParaRPr lang="en-US" altLang="en-US" sz="1600" b="1" dirty="0">
              <a:solidFill>
                <a:srgbClr val="000000"/>
              </a:solidFill>
              <a:latin typeface="Courier New" panose="02070309020205020404" pitchFamily="49" charset="0"/>
              <a:cs typeface="Courier New" panose="02070309020205020404" pitchFamily="49" charset="0"/>
            </a:endParaRPr>
          </a:p>
          <a:p>
            <a:pPr>
              <a:buFont typeface="Monotype Sorts" pitchFamily="-84" charset="2"/>
              <a:buNone/>
              <a:tabLst>
                <a:tab pos="741045" algn="l"/>
                <a:tab pos="1022350" algn="l"/>
                <a:tab pos="1258570" algn="l"/>
              </a:tabLst>
            </a:pPr>
            <a:endParaRPr lang="en-US" altLang="en-US" sz="1600" b="1" dirty="0">
              <a:solidFill>
                <a:srgbClr val="000000"/>
              </a:solidFill>
              <a:latin typeface="Courier New" panose="02070309020205020404" pitchFamily="49" charset="0"/>
              <a:cs typeface="Courier New" panose="02070309020205020404" pitchFamily="49" charset="0"/>
            </a:endParaRPr>
          </a:p>
          <a:p>
            <a:pPr>
              <a:tabLst>
                <a:tab pos="741045" algn="l"/>
                <a:tab pos="1022350" algn="l"/>
                <a:tab pos="1258570" algn="l"/>
              </a:tabLst>
            </a:pPr>
            <a:r>
              <a:rPr lang="en-US" altLang="en-US" dirty="0"/>
              <a:t>Does it solve the critical-section problem?</a:t>
            </a:r>
            <a:endParaRPr lang="en-US" altLang="en-US" dirty="0"/>
          </a:p>
          <a:p>
            <a:pPr>
              <a:lnSpc>
                <a:spcPct val="90000"/>
              </a:lnSpc>
              <a:buFont typeface="Monotype Sorts" pitchFamily="-84" charset="2"/>
              <a:buNone/>
              <a:tabLst>
                <a:tab pos="741045" algn="l"/>
                <a:tab pos="1022350" algn="l"/>
                <a:tab pos="1258570" algn="l"/>
              </a:tabLst>
            </a:pPr>
            <a:endParaRPr lang="en-US" altLang="en-US" dirty="0"/>
          </a:p>
          <a:p>
            <a:pPr>
              <a:lnSpc>
                <a:spcPct val="90000"/>
              </a:lnSpc>
              <a:buFont typeface="Monotype Sorts" pitchFamily="-84" charset="2"/>
              <a:buNone/>
              <a:tabLst>
                <a:tab pos="741045" algn="l"/>
                <a:tab pos="1022350" algn="l"/>
                <a:tab pos="1258570" algn="l"/>
              </a:tabLst>
            </a:pPr>
            <a:r>
              <a:rPr lang="en-US" altLang="en-US" dirty="0"/>
              <a:t>               </a:t>
            </a:r>
            <a:endParaRPr lang="en-US"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1" name="Title 1"/>
          <p:cNvSpPr>
            <a:spLocks noGrp="1"/>
          </p:cNvSpPr>
          <p:nvPr>
            <p:ph type="title"/>
          </p:nvPr>
        </p:nvSpPr>
        <p:spPr>
          <a:xfrm>
            <a:off x="893622" y="140434"/>
            <a:ext cx="8229600" cy="576262"/>
          </a:xfrm>
        </p:spPr>
        <p:txBody>
          <a:bodyPr/>
          <a:lstStyle/>
          <a:p>
            <a:r>
              <a:rPr lang="en-US" altLang="en-US" dirty="0"/>
              <a:t>The </a:t>
            </a:r>
            <a:r>
              <a:rPr lang="en-US" altLang="en-US" dirty="0" err="1"/>
              <a:t>compare_and_swap</a:t>
            </a:r>
            <a:r>
              <a:rPr lang="en-US" altLang="en-US" dirty="0"/>
              <a:t>  Instruction </a:t>
            </a:r>
            <a:endParaRPr lang="en-US" altLang="en-US" dirty="0"/>
          </a:p>
        </p:txBody>
      </p:sp>
      <p:sp>
        <p:nvSpPr>
          <p:cNvPr id="97282" name="Content Placeholder 2"/>
          <p:cNvSpPr>
            <a:spLocks noGrp="1"/>
          </p:cNvSpPr>
          <p:nvPr>
            <p:ph idx="1"/>
          </p:nvPr>
        </p:nvSpPr>
        <p:spPr>
          <a:xfrm>
            <a:off x="806449" y="1046451"/>
            <a:ext cx="7807615" cy="2663102"/>
          </a:xfrm>
        </p:spPr>
        <p:txBody>
          <a:bodyPr/>
          <a:lstStyle/>
          <a:p>
            <a:r>
              <a:rPr lang="en-US" altLang="en-US" dirty="0"/>
              <a:t>Definition</a:t>
            </a:r>
            <a:endParaRPr lang="en-US" altLang="en-US" dirty="0"/>
          </a:p>
          <a:p>
            <a:pPr>
              <a:buFont typeface="Monotype Sorts" pitchFamily="-84" charset="2"/>
              <a:buNone/>
              <a:tabLst>
                <a:tab pos="741045" algn="l"/>
                <a:tab pos="1022350" algn="l"/>
                <a:tab pos="1258570" algn="l"/>
              </a:tabLst>
            </a:pPr>
            <a:r>
              <a:rPr lang="en-US" altLang="en-US" b="1" dirty="0">
                <a:latin typeface="Courier New" panose="02070309020205020404" pitchFamily="49" charset="0"/>
              </a:rPr>
              <a:t>    </a:t>
            </a:r>
            <a:r>
              <a:rPr lang="en-US" altLang="en-US" sz="1400" b="1" dirty="0">
                <a:latin typeface="Courier New" panose="02070309020205020404" pitchFamily="49" charset="0"/>
              </a:rPr>
              <a:t>int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(int *value, int expected, int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rPr>
              <a:t>      {                  </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rPr>
              <a:t>   </a:t>
            </a:r>
            <a:r>
              <a:rPr lang="en-US" altLang="en-US" b="1" dirty="0">
                <a:latin typeface="Courier New" panose="02070309020205020404" pitchFamily="49" charset="0"/>
              </a:rPr>
              <a:t>    </a:t>
            </a:r>
            <a:r>
              <a:rPr lang="en-US" altLang="en-US" sz="1400" b="1" dirty="0">
                <a:latin typeface="Courier New" panose="02070309020205020404" pitchFamily="49" charset="0"/>
              </a:rPr>
              <a:t>int temp = *value; </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rPr>
              <a:t>        if (*value == expected) </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rPr>
              <a:t>            *value = </a:t>
            </a:r>
            <a:r>
              <a:rPr lang="en-US" altLang="en-US" sz="1400" b="1" dirty="0" err="1">
                <a:latin typeface="Courier New" panose="02070309020205020404" pitchFamily="49" charset="0"/>
              </a:rPr>
              <a:t>new_value</a:t>
            </a:r>
            <a:r>
              <a:rPr lang="en-US" altLang="en-US" sz="1400" b="1" dirty="0">
                <a:latin typeface="Courier New" panose="02070309020205020404" pitchFamily="49" charset="0"/>
              </a:rPr>
              <a:t>; </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400" b="1" dirty="0">
                <a:latin typeface="Courier New" panose="02070309020205020404" pitchFamily="49" charset="0"/>
              </a:rPr>
              <a:t>         return temp; </a:t>
            </a:r>
            <a:endParaRPr lang="en-US" altLang="en-US" sz="14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b="1" dirty="0">
                <a:latin typeface="Courier New" panose="02070309020205020404" pitchFamily="49" charset="0"/>
              </a:rPr>
              <a:t>     } </a:t>
            </a:r>
            <a:endParaRPr lang="en-US" altLang="en-US" dirty="0"/>
          </a:p>
          <a:p>
            <a:r>
              <a:rPr lang="en-US" altLang="en-US" dirty="0"/>
              <a:t>Properties</a:t>
            </a:r>
            <a:endParaRPr lang="en-US" altLang="en-US" dirty="0"/>
          </a:p>
          <a:p>
            <a:pPr lvl="1"/>
            <a:r>
              <a:rPr lang="en-US" altLang="en-US" dirty="0"/>
              <a:t>Executed atomically</a:t>
            </a:r>
            <a:endParaRPr lang="en-US" altLang="en-US" dirty="0"/>
          </a:p>
          <a:p>
            <a:pPr lvl="1"/>
            <a:r>
              <a:rPr lang="en-US" altLang="en-US" dirty="0"/>
              <a:t>Returns the original value of passed parameter </a:t>
            </a:r>
            <a:r>
              <a:rPr lang="en-US" altLang="en-US" b="1" dirty="0">
                <a:latin typeface="Courier New" panose="02070309020205020404" pitchFamily="49" charset="0"/>
                <a:cs typeface="Courier New" panose="02070309020205020404" pitchFamily="49" charset="0"/>
              </a:rPr>
              <a:t>value</a:t>
            </a:r>
            <a:endParaRPr lang="en-US" altLang="en-US" dirty="0"/>
          </a:p>
          <a:p>
            <a:pPr lvl="1"/>
            <a:r>
              <a:rPr lang="en-US" altLang="en-US" dirty="0"/>
              <a:t>Set  the variable </a:t>
            </a:r>
            <a:r>
              <a:rPr lang="en-US" altLang="en-US" b="1" dirty="0">
                <a:latin typeface="Courier New" panose="02070309020205020404" pitchFamily="49" charset="0"/>
                <a:cs typeface="Courier New" panose="02070309020205020404" pitchFamily="49" charset="0"/>
              </a:rPr>
              <a:t>value</a:t>
            </a:r>
            <a:r>
              <a:rPr lang="en-US" altLang="en-US" dirty="0"/>
              <a:t> the value of the passed parameter </a:t>
            </a:r>
            <a:r>
              <a:rPr lang="en-US" altLang="en-US" b="1" dirty="0" err="1">
                <a:latin typeface="Courier New" panose="02070309020205020404" pitchFamily="49" charset="0"/>
                <a:cs typeface="Courier New" panose="02070309020205020404" pitchFamily="49" charset="0"/>
              </a:rPr>
              <a:t>new_value</a:t>
            </a:r>
            <a:r>
              <a:rPr lang="en-US" altLang="en-US" dirty="0"/>
              <a:t> but only if </a:t>
            </a:r>
            <a:r>
              <a:rPr lang="en-US" altLang="en-US" b="1" dirty="0">
                <a:latin typeface="Courier New" panose="02070309020205020404" pitchFamily="49" charset="0"/>
                <a:cs typeface="Courier New" panose="02070309020205020404" pitchFamily="49" charset="0"/>
              </a:rPr>
              <a:t>*value == expected </a:t>
            </a:r>
            <a:r>
              <a:rPr lang="en-US" altLang="en-US" dirty="0"/>
              <a:t>is true. That is, the swap takes place only under this condition.</a:t>
            </a:r>
            <a:endParaRPr lang="en-US" altLang="en-US" dirty="0"/>
          </a:p>
          <a:p>
            <a:pPr lvl="1"/>
            <a:endParaRPr lang="en-US"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2"/>
          <p:cNvSpPr>
            <a:spLocks noGrp="1" noChangeArrowheads="1"/>
          </p:cNvSpPr>
          <p:nvPr>
            <p:ph type="title"/>
          </p:nvPr>
        </p:nvSpPr>
        <p:spPr>
          <a:xfrm>
            <a:off x="1192213" y="219075"/>
            <a:ext cx="7567612" cy="576263"/>
          </a:xfrm>
        </p:spPr>
        <p:txBody>
          <a:bodyPr/>
          <a:lstStyle/>
          <a:p>
            <a:pPr eaLnBrk="1" hangingPunct="1"/>
            <a:r>
              <a:rPr lang="en-US" altLang="en-US" dirty="0"/>
              <a:t>Solution using </a:t>
            </a:r>
            <a:r>
              <a:rPr lang="en-US" altLang="en-US" dirty="0" err="1"/>
              <a:t>compare_and_swap</a:t>
            </a:r>
            <a:endParaRPr lang="en-US" altLang="en-US" dirty="0"/>
          </a:p>
        </p:txBody>
      </p:sp>
      <p:sp>
        <p:nvSpPr>
          <p:cNvPr id="37890" name="Rectangle 3"/>
          <p:cNvSpPr>
            <a:spLocks noGrp="1" noChangeArrowheads="1"/>
          </p:cNvSpPr>
          <p:nvPr>
            <p:ph idx="1"/>
          </p:nvPr>
        </p:nvSpPr>
        <p:spPr>
          <a:xfrm>
            <a:off x="827088" y="1211263"/>
            <a:ext cx="7766050" cy="4333875"/>
          </a:xfrm>
        </p:spPr>
        <p:txBody>
          <a:bodyPr/>
          <a:lstStyle/>
          <a:p>
            <a:pPr>
              <a:lnSpc>
                <a:spcPct val="90000"/>
              </a:lnSpc>
              <a:tabLst>
                <a:tab pos="741045" algn="l"/>
                <a:tab pos="1022350" algn="l"/>
                <a:tab pos="1258570" algn="l"/>
              </a:tabLst>
            </a:pPr>
            <a:r>
              <a:rPr lang="en-US" altLang="en-US" dirty="0"/>
              <a:t>Shared integer  </a:t>
            </a:r>
            <a:r>
              <a:rPr lang="en-US" altLang="ja-JP" b="1" dirty="0">
                <a:latin typeface="Courier New" panose="02070309020205020404" pitchFamily="49" charset="0"/>
                <a:cs typeface="Courier New" panose="02070309020205020404" pitchFamily="49" charset="0"/>
              </a:rPr>
              <a:t>lock</a:t>
            </a:r>
            <a:r>
              <a:rPr lang="en-US" altLang="ja-JP" dirty="0"/>
              <a:t>  initialized to 0; </a:t>
            </a:r>
            <a:endParaRPr lang="en-US" altLang="ja-JP" dirty="0"/>
          </a:p>
          <a:p>
            <a:pPr>
              <a:lnSpc>
                <a:spcPct val="90000"/>
              </a:lnSpc>
              <a:tabLst>
                <a:tab pos="741045" algn="l"/>
                <a:tab pos="1022350" algn="l"/>
                <a:tab pos="1258570" algn="l"/>
              </a:tabLst>
            </a:pPr>
            <a:r>
              <a:rPr lang="en-US" altLang="en-US" dirty="0"/>
              <a:t>Solution:</a:t>
            </a:r>
            <a:endParaRPr lang="en-US" altLang="en-US" dirty="0"/>
          </a:p>
          <a:p>
            <a:pPr>
              <a:buFont typeface="Monotype Sorts" pitchFamily="-84" charset="2"/>
              <a:buNone/>
              <a:tabLst>
                <a:tab pos="741045" algn="l"/>
                <a:tab pos="1022350" algn="l"/>
                <a:tab pos="1258570" algn="l"/>
              </a:tabLst>
            </a:pPr>
            <a:r>
              <a:rPr lang="en-US" altLang="en-US" b="1" dirty="0">
                <a:latin typeface="Courier New" panose="02070309020205020404" pitchFamily="49" charset="0"/>
              </a:rPr>
              <a:t>      </a:t>
            </a:r>
            <a:r>
              <a:rPr lang="en-US" altLang="en-US" sz="1600" b="1" dirty="0">
                <a:latin typeface="Courier New" panose="02070309020205020404" pitchFamily="49" charset="0"/>
              </a:rPr>
              <a:t>while (true){</a:t>
            </a:r>
            <a:br>
              <a:rPr lang="en-US" altLang="en-US" sz="1600" b="1" dirty="0">
                <a:latin typeface="Courier New" panose="02070309020205020404" pitchFamily="49" charset="0"/>
              </a:rPr>
            </a:br>
            <a:r>
              <a:rPr lang="en-US" altLang="en-US" sz="1600" b="1" dirty="0">
                <a:latin typeface="Courier New" panose="02070309020205020404" pitchFamily="49" charset="0"/>
              </a:rPr>
              <a:t>    		while (</a:t>
            </a:r>
            <a:r>
              <a:rPr lang="en-US" altLang="en-US" sz="1600" b="1" dirty="0" err="1">
                <a:latin typeface="Courier New" panose="02070309020205020404" pitchFamily="49" charset="0"/>
              </a:rPr>
              <a:t>compare_and_swap</a:t>
            </a:r>
            <a:r>
              <a:rPr lang="en-US" altLang="en-US" sz="1600" b="1" dirty="0">
                <a:latin typeface="Courier New" panose="02070309020205020404" pitchFamily="49" charset="0"/>
              </a:rPr>
              <a:t>(&amp;lock, 0, 1) != 0) </a:t>
            </a: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latin typeface="Courier New" panose="02070309020205020404" pitchFamily="49" charset="0"/>
              </a:rPr>
              <a:t>            	; /* do nothing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latin typeface="Courier New" panose="02070309020205020404" pitchFamily="49" charset="0"/>
              </a:rPr>
              <a:t>       		/* critical section */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latin typeface="Courier New" panose="02070309020205020404" pitchFamily="49" charset="0"/>
              </a:rPr>
              <a:t>       		lock = 0; </a:t>
            </a:r>
            <a:br>
              <a:rPr lang="en-US" altLang="en-US" sz="1600" b="1" dirty="0">
                <a:latin typeface="Courier New" panose="02070309020205020404" pitchFamily="49" charset="0"/>
              </a:rPr>
            </a:b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latin typeface="Courier New" panose="02070309020205020404" pitchFamily="49" charset="0"/>
              </a:rPr>
              <a:t>          /* remainder section */ </a:t>
            </a: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r>
              <a:rPr lang="en-US" altLang="en-US" sz="1600" b="1" dirty="0">
                <a:latin typeface="Courier New" panose="02070309020205020404" pitchFamily="49" charset="0"/>
              </a:rPr>
              <a:t>      } </a:t>
            </a:r>
            <a:endParaRPr lang="en-US" altLang="en-US" sz="1600" b="1" dirty="0">
              <a:latin typeface="Courier New" panose="02070309020205020404" pitchFamily="49" charset="0"/>
            </a:endParaRPr>
          </a:p>
          <a:p>
            <a:pPr>
              <a:buFont typeface="Monotype Sorts" pitchFamily="-84" charset="2"/>
              <a:buNone/>
              <a:tabLst>
                <a:tab pos="741045" algn="l"/>
                <a:tab pos="1022350" algn="l"/>
                <a:tab pos="1258570" algn="l"/>
              </a:tabLst>
            </a:pPr>
            <a:endParaRPr lang="en-US" altLang="en-US" sz="1600" b="1" dirty="0">
              <a:latin typeface="Courier New" panose="02070309020205020404" pitchFamily="49" charset="0"/>
            </a:endParaRPr>
          </a:p>
          <a:p>
            <a:pPr>
              <a:tabLst>
                <a:tab pos="741045" algn="l"/>
                <a:tab pos="1022350" algn="l"/>
                <a:tab pos="1258570" algn="l"/>
              </a:tabLst>
            </a:pPr>
            <a:r>
              <a:rPr lang="en-US" altLang="en-US" dirty="0"/>
              <a:t>Does it solve the critical-section problem?</a:t>
            </a:r>
            <a:endParaRPr lang="en-US" altLang="en-US" dirty="0"/>
          </a:p>
          <a:p>
            <a:pPr marL="0" indent="0">
              <a:buNone/>
              <a:tabLst>
                <a:tab pos="741045" algn="l"/>
                <a:tab pos="1022350" algn="l"/>
                <a:tab pos="1258570" algn="l"/>
              </a:tabLst>
            </a:pPr>
            <a:endParaRPr lang="en-US" altLang="en-US" sz="1600" b="1" dirty="0">
              <a:latin typeface="Courier New" panose="02070309020205020404" pitchFamily="49" charset="0"/>
            </a:endParaRPr>
          </a:p>
          <a:p>
            <a:pPr>
              <a:lnSpc>
                <a:spcPct val="90000"/>
              </a:lnSpc>
              <a:buFont typeface="Monotype Sorts" pitchFamily="-84" charset="2"/>
              <a:buNone/>
              <a:tabLst>
                <a:tab pos="741045" algn="l"/>
                <a:tab pos="1022350" algn="l"/>
                <a:tab pos="1258570" algn="l"/>
              </a:tabLst>
            </a:pPr>
            <a:r>
              <a:rPr lang="en-US" altLang="en-US" sz="1600" dirty="0"/>
              <a:t>               </a:t>
            </a:r>
            <a:endParaRPr lang="en-US" altLang="en-US" sz="16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a:xfrm>
            <a:off x="1217728" y="132320"/>
            <a:ext cx="7931150" cy="576262"/>
          </a:xfrm>
        </p:spPr>
        <p:txBody>
          <a:bodyPr/>
          <a:lstStyle/>
          <a:p>
            <a:r>
              <a:rPr lang="en-US" altLang="en-US" sz="2800" dirty="0"/>
              <a:t>Bounded-waiting with compare-and-swap</a:t>
            </a:r>
            <a:endParaRPr lang="en-US" altLang="en-US" sz="2800" dirty="0"/>
          </a:p>
        </p:txBody>
      </p:sp>
      <p:sp>
        <p:nvSpPr>
          <p:cNvPr id="39938" name="Content Placeholder 2"/>
          <p:cNvSpPr>
            <a:spLocks noGrp="1"/>
          </p:cNvSpPr>
          <p:nvPr>
            <p:ph idx="1"/>
          </p:nvPr>
        </p:nvSpPr>
        <p:spPr>
          <a:xfrm>
            <a:off x="1068388" y="1233488"/>
            <a:ext cx="6015037" cy="4530725"/>
          </a:xfrm>
        </p:spPr>
        <p:txBody>
          <a:bodyPr/>
          <a:lstStyle/>
          <a:p>
            <a:pPr marL="0" indent="0">
              <a:buFont typeface="Monotype Sorts" pitchFamily="-84" charset="2"/>
              <a:buNone/>
            </a:pPr>
            <a:r>
              <a:rPr lang="en-US" altLang="en-US" sz="1400" b="1" dirty="0">
                <a:latin typeface="Courier New" panose="02070309020205020404" pitchFamily="49" charset="0"/>
              </a:rPr>
              <a:t>while (true) {</a:t>
            </a:r>
            <a:br>
              <a:rPr lang="en-US" altLang="en-US" sz="1400" b="1" dirty="0">
                <a:latin typeface="Courier New" panose="02070309020205020404" pitchFamily="49" charset="0"/>
              </a:rPr>
            </a:b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true;</a:t>
            </a:r>
            <a:br>
              <a:rPr lang="en-US" altLang="en-US" sz="1400" b="1" dirty="0">
                <a:latin typeface="Courier New" panose="02070309020205020404" pitchFamily="49" charset="0"/>
              </a:rPr>
            </a:br>
            <a:r>
              <a:rPr lang="en-US" altLang="en-US" sz="1400" b="1" dirty="0">
                <a:latin typeface="Courier New" panose="02070309020205020404" pitchFamily="49" charset="0"/>
              </a:rPr>
              <a:t>   key = 1;</a:t>
            </a:r>
            <a:br>
              <a:rPr lang="en-US" altLang="en-US" sz="1400" b="1" dirty="0">
                <a:latin typeface="Courier New" panose="02070309020205020404" pitchFamily="49" charset="0"/>
              </a:rPr>
            </a:br>
            <a:r>
              <a:rPr lang="en-US" altLang="en-US" sz="1400" b="1" dirty="0">
                <a:latin typeface="Courier New" panose="02070309020205020404" pitchFamily="49" charset="0"/>
              </a:rPr>
              <a:t>   while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key == 1)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key = </a:t>
            </a:r>
            <a:r>
              <a:rPr lang="en-US" altLang="en-US" sz="1400" b="1" dirty="0" err="1">
                <a:latin typeface="Courier New" panose="02070309020205020404" pitchFamily="49" charset="0"/>
              </a:rPr>
              <a:t>compare_and_swap</a:t>
            </a:r>
            <a:r>
              <a:rPr lang="en-US" altLang="en-US" sz="1400" b="1" dirty="0">
                <a:latin typeface="Courier New" panose="02070309020205020404" pitchFamily="49" charset="0"/>
              </a:rPr>
              <a:t>(&amp;lock,0,1);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waiting[</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false;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 critical section */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+ 1) % n;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while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&amp;&amp; !waiting[j])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j = (j + 1) % n;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if (j == </a:t>
            </a:r>
            <a:r>
              <a:rPr lang="en-US" altLang="en-US" sz="1400" b="1" dirty="0" err="1">
                <a:latin typeface="Courier New" panose="02070309020205020404" pitchFamily="49" charset="0"/>
              </a:rPr>
              <a:t>i</a:t>
            </a:r>
            <a:r>
              <a:rPr lang="en-US" altLang="en-US" sz="1400" b="1" dirty="0">
                <a:latin typeface="Courier New" panose="02070309020205020404" pitchFamily="49" charset="0"/>
              </a:rPr>
              <a:t>)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lock = 0;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else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waiting[j] = false;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   /* remainder section */ </a:t>
            </a:r>
            <a:endParaRPr lang="en-US" altLang="en-US" sz="1400" b="1" dirty="0">
              <a:latin typeface="Courier New" panose="02070309020205020404" pitchFamily="49" charset="0"/>
            </a:endParaRPr>
          </a:p>
          <a:p>
            <a:pPr marL="0" indent="0">
              <a:buFont typeface="Monotype Sorts" pitchFamily="-84" charset="2"/>
              <a:buNone/>
            </a:pPr>
            <a:r>
              <a:rPr lang="en-US" altLang="en-US" sz="1400" b="1" dirty="0">
                <a:latin typeface="Courier New" panose="02070309020205020404" pitchFamily="49" charset="0"/>
              </a:rPr>
              <a:t>}</a:t>
            </a:r>
            <a:endParaRPr lang="en-US" altLang="en-US" sz="1400" b="1" dirty="0">
              <a:latin typeface="Courier New" panose="02070309020205020404" pitchFamily="49" charset="0"/>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Title 1"/>
          <p:cNvSpPr>
            <a:spLocks noGrp="1"/>
          </p:cNvSpPr>
          <p:nvPr>
            <p:ph type="title"/>
          </p:nvPr>
        </p:nvSpPr>
        <p:spPr>
          <a:xfrm>
            <a:off x="457200" y="224522"/>
            <a:ext cx="8229600" cy="576262"/>
          </a:xfrm>
        </p:spPr>
        <p:txBody>
          <a:bodyPr/>
          <a:lstStyle/>
          <a:p>
            <a:r>
              <a:rPr lang="en-US" altLang="en-US" dirty="0"/>
              <a:t>Atomic Variables </a:t>
            </a:r>
            <a:r>
              <a:rPr lang="zh-CN" altLang="en-US" dirty="0"/>
              <a:t>原子</a:t>
            </a:r>
            <a:r>
              <a:rPr lang="zh-CN" altLang="en-US" dirty="0"/>
              <a:t>变量</a:t>
            </a:r>
            <a:endParaRPr lang="zh-CN" altLang="en-US" dirty="0"/>
          </a:p>
        </p:txBody>
      </p:sp>
      <p:sp>
        <p:nvSpPr>
          <p:cNvPr id="98306" name="Content Placeholder 2"/>
          <p:cNvSpPr>
            <a:spLocks noGrp="1"/>
          </p:cNvSpPr>
          <p:nvPr>
            <p:ph idx="1"/>
          </p:nvPr>
        </p:nvSpPr>
        <p:spPr>
          <a:xfrm>
            <a:off x="806450" y="1233488"/>
            <a:ext cx="6724649" cy="4583111"/>
          </a:xfrm>
        </p:spPr>
        <p:txBody>
          <a:bodyPr/>
          <a:lstStyle/>
          <a:p>
            <a:r>
              <a:rPr lang="en-US" altLang="en-US" dirty="0"/>
              <a:t>Typically, instructions such as compare-and-swap are used as building blocks for other synchronization tools.</a:t>
            </a:r>
            <a:endParaRPr lang="en-US" altLang="en-US" dirty="0"/>
          </a:p>
          <a:p>
            <a:r>
              <a:rPr lang="en-US" altLang="en-US" dirty="0"/>
              <a:t>One tool is an </a:t>
            </a:r>
            <a:r>
              <a:rPr lang="en-US" altLang="en-US" b="1" dirty="0"/>
              <a:t>atomic variable </a:t>
            </a:r>
            <a:r>
              <a:rPr lang="en-US" altLang="en-US" dirty="0"/>
              <a:t>that provides </a:t>
            </a:r>
            <a:r>
              <a:rPr lang="en-US" altLang="en-US" i="1" dirty="0"/>
              <a:t>atomic</a:t>
            </a:r>
            <a:r>
              <a:rPr lang="en-US" altLang="en-US" dirty="0"/>
              <a:t> (uninterruptible) updates on basic data types such as integers and </a:t>
            </a:r>
            <a:r>
              <a:rPr lang="en-US" altLang="en-US" dirty="0" err="1"/>
              <a:t>booleans</a:t>
            </a:r>
            <a:r>
              <a:rPr lang="en-US" altLang="en-US" dirty="0"/>
              <a:t>.</a:t>
            </a:r>
            <a:endParaRPr lang="en-US" altLang="en-US" dirty="0"/>
          </a:p>
          <a:p>
            <a:r>
              <a:rPr lang="en-US" altLang="en-US" dirty="0"/>
              <a:t>For example:</a:t>
            </a:r>
            <a:endParaRPr lang="en-US" altLang="en-US" dirty="0"/>
          </a:p>
          <a:p>
            <a:pPr lvl="1"/>
            <a:r>
              <a:rPr lang="en-US" altLang="en-US" dirty="0"/>
              <a:t>Let </a:t>
            </a:r>
            <a:r>
              <a:rPr lang="en-US" altLang="en-US" sz="2000" b="1" dirty="0">
                <a:latin typeface="Courier New" panose="02070309020205020404" pitchFamily="49" charset="0"/>
                <a:cs typeface="Courier New" panose="02070309020205020404" pitchFamily="49" charset="0"/>
              </a:rPr>
              <a:t>sequence </a:t>
            </a:r>
            <a:r>
              <a:rPr lang="en-US" altLang="en-US" dirty="0"/>
              <a:t>be an atomic variable </a:t>
            </a:r>
            <a:endParaRPr lang="en-US" altLang="en-US" dirty="0"/>
          </a:p>
          <a:p>
            <a:pPr lvl="1"/>
            <a:r>
              <a:rPr lang="en-US" altLang="en-US" dirty="0"/>
              <a:t>Let  </a:t>
            </a:r>
            <a:r>
              <a:rPr lang="en-US" altLang="en-US" sz="2000" b="1" dirty="0">
                <a:latin typeface="Courier New" panose="02070309020205020404" pitchFamily="49" charset="0"/>
                <a:cs typeface="Courier New" panose="02070309020205020404" pitchFamily="49" charset="0"/>
              </a:rPr>
              <a:t>increment()</a:t>
            </a:r>
            <a:r>
              <a:rPr lang="en-US" altLang="en-US" dirty="0"/>
              <a:t> be operation on the atomic variable </a:t>
            </a:r>
            <a:r>
              <a:rPr lang="en-US" altLang="en-US" sz="2000" b="1" dirty="0">
                <a:latin typeface="Courier New" panose="02070309020205020404" pitchFamily="49" charset="0"/>
                <a:cs typeface="Courier New" panose="02070309020205020404" pitchFamily="49" charset="0"/>
              </a:rPr>
              <a:t>sequence</a:t>
            </a:r>
            <a:r>
              <a:rPr lang="en-US" altLang="en-US" dirty="0"/>
              <a:t> </a:t>
            </a:r>
            <a:endParaRPr lang="en-US" altLang="en-US" dirty="0"/>
          </a:p>
          <a:p>
            <a:pPr lvl="1"/>
            <a:r>
              <a:rPr lang="en-US" altLang="en-US" dirty="0"/>
              <a:t>The Command:</a:t>
            </a:r>
            <a:endParaRPr lang="en-US" altLang="en-US" dirty="0"/>
          </a:p>
          <a:p>
            <a:pPr marL="457200" lvl="1" indent="0">
              <a:buNone/>
            </a:pPr>
            <a:r>
              <a:rPr lang="en-US" altLang="en-US" b="1" dirty="0">
                <a:latin typeface="Courier New" panose="02070309020205020404" pitchFamily="49" charset="0"/>
                <a:cs typeface="Courier New" panose="02070309020205020404" pitchFamily="49" charset="0"/>
              </a:rPr>
              <a:t>     </a:t>
            </a:r>
            <a:r>
              <a:rPr lang="en-US" altLang="en-US" sz="2000" b="1" dirty="0">
                <a:latin typeface="Courier New" panose="02070309020205020404" pitchFamily="49" charset="0"/>
                <a:cs typeface="Courier New" panose="02070309020205020404" pitchFamily="49" charset="0"/>
              </a:rPr>
              <a:t>increment(&amp;sequence);</a:t>
            </a:r>
            <a:r>
              <a:rPr lang="en-US" altLang="en-US" sz="2000" dirty="0"/>
              <a:t> </a:t>
            </a:r>
            <a:endParaRPr lang="en-US" altLang="en-US" sz="2000" dirty="0"/>
          </a:p>
          <a:p>
            <a:pPr marL="457200" lvl="1" indent="0">
              <a:buNone/>
            </a:pPr>
            <a:r>
              <a:rPr lang="en-US" altLang="en-US" dirty="0"/>
              <a:t>      ensures </a:t>
            </a:r>
            <a:r>
              <a:rPr lang="en-US" altLang="en-US" sz="2000" b="1" dirty="0">
                <a:latin typeface="Courier New" panose="02070309020205020404" pitchFamily="49" charset="0"/>
                <a:cs typeface="Courier New" panose="02070309020205020404" pitchFamily="49" charset="0"/>
              </a:rPr>
              <a:t>sequence</a:t>
            </a:r>
            <a:r>
              <a:rPr lang="en-US" altLang="en-US" dirty="0"/>
              <a:t> is incremented without interruption:</a:t>
            </a:r>
            <a:br>
              <a:rPr lang="en-US" altLang="en-US" dirty="0"/>
            </a:br>
            <a:br>
              <a:rPr lang="en-US" altLang="en-US" dirty="0"/>
            </a:br>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Title 1"/>
          <p:cNvSpPr>
            <a:spLocks noGrp="1"/>
          </p:cNvSpPr>
          <p:nvPr>
            <p:ph type="title"/>
          </p:nvPr>
        </p:nvSpPr>
        <p:spPr>
          <a:xfrm>
            <a:off x="457200" y="224522"/>
            <a:ext cx="8229600" cy="576262"/>
          </a:xfrm>
        </p:spPr>
        <p:txBody>
          <a:bodyPr/>
          <a:lstStyle/>
          <a:p>
            <a:r>
              <a:rPr lang="en-US" altLang="en-US" dirty="0"/>
              <a:t>Atomic Variables</a:t>
            </a:r>
            <a:endParaRPr lang="en-US" altLang="en-US" dirty="0"/>
          </a:p>
        </p:txBody>
      </p:sp>
      <p:sp>
        <p:nvSpPr>
          <p:cNvPr id="99330" name="Content Placeholder 2"/>
          <p:cNvSpPr>
            <a:spLocks noGrp="1"/>
          </p:cNvSpPr>
          <p:nvPr>
            <p:ph idx="1"/>
          </p:nvPr>
        </p:nvSpPr>
        <p:spPr>
          <a:xfrm>
            <a:off x="806450" y="1233488"/>
            <a:ext cx="8229600" cy="5329237"/>
          </a:xfrm>
        </p:spPr>
        <p:txBody>
          <a:bodyPr/>
          <a:lstStyle/>
          <a:p>
            <a:r>
              <a:rPr lang="en-US" altLang="en-US" dirty="0"/>
              <a:t>The </a:t>
            </a:r>
            <a:r>
              <a:rPr lang="en-US" altLang="en-US" b="1" dirty="0">
                <a:latin typeface="Courier New" panose="02070309020205020404" pitchFamily="49" charset="0"/>
                <a:cs typeface="Courier New" panose="02070309020205020404" pitchFamily="49" charset="0"/>
              </a:rPr>
              <a:t>increment()</a:t>
            </a:r>
            <a:r>
              <a:rPr lang="en-US" altLang="en-US" dirty="0"/>
              <a:t> function can be implemented as follows:</a:t>
            </a:r>
            <a:br>
              <a:rPr lang="en-US" altLang="en-US" dirty="0"/>
            </a:br>
            <a:br>
              <a:rPr lang="en-US" altLang="en-US" dirty="0"/>
            </a:br>
            <a:r>
              <a:rPr lang="en-US" altLang="en-US" b="1" dirty="0">
                <a:latin typeface="Courier New" panose="02070309020205020404" pitchFamily="49" charset="0"/>
                <a:cs typeface="Courier New" panose="02070309020205020404" pitchFamily="49" charset="0"/>
              </a:rPr>
              <a:t>void increment(</a:t>
            </a:r>
            <a:r>
              <a:rPr lang="en-US" altLang="en-US" b="1" dirty="0" err="1">
                <a:latin typeface="Courier New" panose="02070309020205020404" pitchFamily="49" charset="0"/>
                <a:cs typeface="Courier New" panose="02070309020205020404" pitchFamily="49" charset="0"/>
              </a:rPr>
              <a:t>atomic_int</a:t>
            </a:r>
            <a:r>
              <a:rPr lang="en-US" altLang="en-US" b="1" dirty="0">
                <a:latin typeface="Courier New" panose="02070309020205020404" pitchFamily="49" charset="0"/>
                <a:cs typeface="Courier New" panose="02070309020205020404" pitchFamily="49" charset="0"/>
              </a:rPr>
              <a:t>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int temp;</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do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temp = *v;</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while (temp != (</a:t>
            </a:r>
            <a:r>
              <a:rPr lang="en-US" altLang="en-US" b="1" dirty="0" err="1">
                <a:latin typeface="Courier New" panose="02070309020205020404" pitchFamily="49" charset="0"/>
                <a:cs typeface="Courier New" panose="02070309020205020404" pitchFamily="49" charset="0"/>
              </a:rPr>
              <a:t>compare_and_swap</a:t>
            </a:r>
            <a:r>
              <a:rPr lang="en-US" altLang="en-US" b="1" dirty="0">
                <a:latin typeface="Courier New" panose="02070309020205020404" pitchFamily="49" charset="0"/>
                <a:cs typeface="Courier New" panose="02070309020205020404" pitchFamily="49" charset="0"/>
              </a:rPr>
              <a:t>(v,temp,temp+1));</a:t>
            </a:r>
            <a:br>
              <a:rPr lang="en-US" altLang="en-US" b="1" dirty="0">
                <a:latin typeface="Courier New" panose="02070309020205020404" pitchFamily="49" charset="0"/>
                <a:cs typeface="Courier New" panose="02070309020205020404" pitchFamily="49" charset="0"/>
              </a:rPr>
            </a:br>
            <a:r>
              <a:rPr lang="en-US" altLang="en-US" b="1" dirty="0">
                <a:latin typeface="Courier New" panose="02070309020205020404" pitchFamily="49" charset="0"/>
                <a:cs typeface="Courier New" panose="02070309020205020404" pitchFamily="49" charset="0"/>
              </a:rPr>
              <a:t>} </a:t>
            </a:r>
            <a:br>
              <a:rPr lang="en-US" altLang="en-US" b="1" dirty="0">
                <a:latin typeface="Courier New" panose="02070309020205020404" pitchFamily="49" charset="0"/>
                <a:cs typeface="Courier New" panose="02070309020205020404" pitchFamily="49" charset="0"/>
              </a:rPr>
            </a:br>
            <a:br>
              <a:rPr lang="en-US" altLang="en-US" dirty="0"/>
            </a:br>
            <a:endParaRPr lang="en-US" alt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2"/>
          <p:cNvSpPr>
            <a:spLocks noGrp="1" noChangeArrowheads="1"/>
          </p:cNvSpPr>
          <p:nvPr>
            <p:ph type="title"/>
          </p:nvPr>
        </p:nvSpPr>
        <p:spPr>
          <a:xfrm>
            <a:off x="457200" y="144696"/>
            <a:ext cx="8229600" cy="576263"/>
          </a:xfrm>
        </p:spPr>
        <p:txBody>
          <a:bodyPr/>
          <a:lstStyle/>
          <a:p>
            <a:pPr eaLnBrk="1" hangingPunct="1"/>
            <a:r>
              <a:rPr lang="en-US" altLang="en-US" dirty="0"/>
              <a:t>Mutex Locks </a:t>
            </a:r>
            <a:r>
              <a:rPr lang="zh-CN" altLang="en-US" dirty="0"/>
              <a:t>互斥锁</a:t>
            </a:r>
            <a:endParaRPr lang="zh-CN" altLang="en-US" dirty="0"/>
          </a:p>
        </p:txBody>
      </p:sp>
      <p:sp>
        <p:nvSpPr>
          <p:cNvPr id="22531" name="Rectangle 3"/>
          <p:cNvSpPr>
            <a:spLocks noGrp="1" noChangeArrowheads="1"/>
          </p:cNvSpPr>
          <p:nvPr>
            <p:ph idx="1"/>
          </p:nvPr>
        </p:nvSpPr>
        <p:spPr>
          <a:xfrm>
            <a:off x="827088" y="1074016"/>
            <a:ext cx="7579158" cy="4931930"/>
          </a:xfrm>
        </p:spPr>
        <p:txBody>
          <a:bodyPr/>
          <a:lstStyle/>
          <a:p>
            <a:pPr>
              <a:lnSpc>
                <a:spcPct val="90000"/>
              </a:lnSpc>
            </a:pPr>
            <a:r>
              <a:rPr lang="en-US" altLang="en-US" dirty="0"/>
              <a:t>Previous solutions are complicated and generally inaccessible to application programmers</a:t>
            </a:r>
            <a:endParaRPr lang="en-US" altLang="en-US" dirty="0"/>
          </a:p>
          <a:p>
            <a:pPr>
              <a:lnSpc>
                <a:spcPct val="90000"/>
              </a:lnSpc>
            </a:pPr>
            <a:r>
              <a:rPr lang="en-US" altLang="en-US" dirty="0"/>
              <a:t>OS designers build software tools to solve critical section problem</a:t>
            </a:r>
            <a:endParaRPr lang="en-US" altLang="en-US" dirty="0"/>
          </a:p>
          <a:p>
            <a:pPr>
              <a:lnSpc>
                <a:spcPct val="90000"/>
              </a:lnSpc>
            </a:pPr>
            <a:r>
              <a:rPr lang="en-US" altLang="en-US" dirty="0"/>
              <a:t>Simplest is </a:t>
            </a:r>
            <a:r>
              <a:rPr lang="en-US" altLang="en-US" sz="2000" dirty="0"/>
              <a:t>mutex</a:t>
            </a:r>
            <a:r>
              <a:rPr lang="en-US" altLang="en-US" dirty="0"/>
              <a:t> lock</a:t>
            </a:r>
            <a:endParaRPr lang="en-US" altLang="en-US" dirty="0"/>
          </a:p>
          <a:p>
            <a:pPr lvl="1">
              <a:lnSpc>
                <a:spcPct val="90000"/>
              </a:lnSpc>
            </a:pPr>
            <a:r>
              <a:rPr lang="en-US" altLang="en-US" dirty="0"/>
              <a:t>Boolean variable indicating if lock is available or not</a:t>
            </a:r>
            <a:endParaRPr lang="en-US" altLang="en-US" dirty="0"/>
          </a:p>
          <a:p>
            <a:pPr>
              <a:lnSpc>
                <a:spcPct val="90000"/>
              </a:lnSpc>
            </a:pPr>
            <a:r>
              <a:rPr lang="en-US" altLang="en-US" dirty="0"/>
              <a:t>Protect a critical section  by </a:t>
            </a:r>
            <a:endParaRPr lang="en-US" altLang="en-US" dirty="0"/>
          </a:p>
          <a:p>
            <a:pPr lvl="1">
              <a:lnSpc>
                <a:spcPct val="90000"/>
              </a:lnSpc>
            </a:pPr>
            <a:r>
              <a:rPr lang="en-US" altLang="en-US" dirty="0"/>
              <a:t>First </a:t>
            </a:r>
            <a:r>
              <a:rPr lang="en-US" altLang="en-US" sz="2000" b="1" dirty="0">
                <a:latin typeface="Courier New" panose="02070309020205020404" pitchFamily="49" charset="0"/>
                <a:cs typeface="Courier New" panose="02070309020205020404" pitchFamily="49" charset="0"/>
              </a:rPr>
              <a:t>acquire()</a:t>
            </a:r>
            <a:r>
              <a:rPr lang="en-US" altLang="en-US" sz="2000" dirty="0"/>
              <a:t> </a:t>
            </a:r>
            <a:r>
              <a:rPr lang="en-US" altLang="en-US" dirty="0"/>
              <a:t>a lock </a:t>
            </a:r>
            <a:endParaRPr lang="en-US" altLang="en-US" dirty="0"/>
          </a:p>
          <a:p>
            <a:pPr lvl="1">
              <a:lnSpc>
                <a:spcPct val="90000"/>
              </a:lnSpc>
            </a:pPr>
            <a:r>
              <a:rPr lang="en-US" altLang="en-US" dirty="0"/>
              <a:t>Then </a:t>
            </a:r>
            <a:r>
              <a:rPr lang="en-US" altLang="en-US" sz="2000" b="1" dirty="0">
                <a:latin typeface="Courier New" panose="02070309020205020404" pitchFamily="49" charset="0"/>
              </a:rPr>
              <a:t>release()</a:t>
            </a:r>
            <a:r>
              <a:rPr lang="en-US" altLang="en-US" sz="2000" dirty="0"/>
              <a:t> </a:t>
            </a:r>
            <a:r>
              <a:rPr lang="en-US" altLang="en-US" dirty="0"/>
              <a:t>the lock</a:t>
            </a:r>
            <a:endParaRPr lang="en-US" altLang="en-US" dirty="0"/>
          </a:p>
          <a:p>
            <a:pPr>
              <a:lnSpc>
                <a:spcPct val="90000"/>
              </a:lnSpc>
            </a:pPr>
            <a:r>
              <a:rPr lang="en-US" altLang="en-US" dirty="0"/>
              <a:t>Calls to </a:t>
            </a:r>
            <a:r>
              <a:rPr lang="en-US" altLang="en-US" sz="2000" b="1" dirty="0">
                <a:latin typeface="Courier New" panose="02070309020205020404" pitchFamily="49" charset="0"/>
              </a:rPr>
              <a:t>acquire()</a:t>
            </a:r>
            <a:r>
              <a:rPr lang="en-US" altLang="en-US" sz="2000" dirty="0"/>
              <a:t> </a:t>
            </a:r>
            <a:r>
              <a:rPr lang="en-US" altLang="en-US" dirty="0"/>
              <a:t>and </a:t>
            </a:r>
            <a:r>
              <a:rPr lang="en-US" altLang="en-US" sz="2000" b="1" dirty="0">
                <a:latin typeface="Courier New" panose="02070309020205020404" pitchFamily="49" charset="0"/>
              </a:rPr>
              <a:t>release()</a:t>
            </a:r>
            <a:r>
              <a:rPr lang="en-US" altLang="en-US" sz="2000" dirty="0"/>
              <a:t> </a:t>
            </a:r>
            <a:r>
              <a:rPr lang="en-US" altLang="en-US" dirty="0"/>
              <a:t>must be </a:t>
            </a:r>
            <a:r>
              <a:rPr lang="en-US" altLang="en-US" b="1" dirty="0">
                <a:solidFill>
                  <a:srgbClr val="006699"/>
                </a:solidFill>
                <a:latin typeface="+mj-lt"/>
              </a:rPr>
              <a:t>atomic</a:t>
            </a:r>
            <a:endParaRPr lang="en-US" altLang="en-US" b="1" dirty="0">
              <a:solidFill>
                <a:srgbClr val="006699"/>
              </a:solidFill>
              <a:latin typeface="+mj-lt"/>
            </a:endParaRPr>
          </a:p>
          <a:p>
            <a:pPr lvl="1">
              <a:lnSpc>
                <a:spcPct val="90000"/>
              </a:lnSpc>
            </a:pPr>
            <a:r>
              <a:rPr lang="en-US" altLang="en-US" dirty="0"/>
              <a:t>Usually implemented via hardware atomic instructions such as compare-and-swap.</a:t>
            </a:r>
            <a:endParaRPr lang="en-US" altLang="en-US" dirty="0"/>
          </a:p>
          <a:p>
            <a:pPr>
              <a:lnSpc>
                <a:spcPct val="90000"/>
              </a:lnSpc>
            </a:pPr>
            <a:r>
              <a:rPr lang="en-US" altLang="en-US" dirty="0"/>
              <a:t>But this solution requires </a:t>
            </a:r>
            <a:r>
              <a:rPr lang="en-US" altLang="en-US" b="1" dirty="0">
                <a:solidFill>
                  <a:srgbClr val="006699"/>
                </a:solidFill>
                <a:latin typeface="+mj-lt"/>
              </a:rPr>
              <a:t>busy waiting </a:t>
            </a:r>
            <a:r>
              <a:rPr lang="zh-CN" altLang="en-US" b="1" dirty="0">
                <a:solidFill>
                  <a:srgbClr val="006699"/>
                </a:solidFill>
                <a:latin typeface="+mj-lt"/>
              </a:rPr>
              <a:t>忙等</a:t>
            </a:r>
            <a:endParaRPr lang="en-US" altLang="en-US" b="1" dirty="0">
              <a:solidFill>
                <a:srgbClr val="006699"/>
              </a:solidFill>
              <a:latin typeface="+mj-lt"/>
            </a:endParaRPr>
          </a:p>
          <a:p>
            <a:pPr lvl="1">
              <a:lnSpc>
                <a:spcPct val="90000"/>
              </a:lnSpc>
            </a:pPr>
            <a:r>
              <a:rPr lang="en-US" altLang="en-US" dirty="0"/>
              <a:t>This lock therefore called a </a:t>
            </a:r>
            <a:r>
              <a:rPr lang="en-US" altLang="en-US" b="1" dirty="0">
                <a:solidFill>
                  <a:srgbClr val="006699"/>
                </a:solidFill>
                <a:latin typeface="+mj-lt"/>
              </a:rPr>
              <a:t>spinlock </a:t>
            </a:r>
            <a:r>
              <a:rPr lang="zh-CN" altLang="en-US" b="1" dirty="0">
                <a:solidFill>
                  <a:srgbClr val="006699"/>
                </a:solidFill>
                <a:latin typeface="+mj-lt"/>
              </a:rPr>
              <a:t>自旋锁</a:t>
            </a:r>
            <a:endParaRPr lang="en-US" altLang="en-US" b="1" dirty="0">
              <a:solidFill>
                <a:srgbClr val="006699"/>
              </a:solidFill>
              <a:latin typeface="+mj-lt"/>
            </a:endParaRPr>
          </a:p>
          <a:p>
            <a:pPr>
              <a:lnSpc>
                <a:spcPct val="90000"/>
              </a:lnSpc>
              <a:buFont typeface="Monotype Sorts" pitchFamily="-84" charset="2"/>
              <a:buNone/>
            </a:pPr>
            <a:endParaRPr lang="en-US" alt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bwMode="auto">
          <a:xfrm>
            <a:off x="3178175" y="2609850"/>
            <a:ext cx="2024063" cy="376238"/>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panose="020B0604030504040204" pitchFamily="34" charset="0"/>
            </a:endParaRPr>
          </a:p>
        </p:txBody>
      </p:sp>
      <p:sp>
        <p:nvSpPr>
          <p:cNvPr id="6" name="Rectangle 5"/>
          <p:cNvSpPr/>
          <p:nvPr/>
        </p:nvSpPr>
        <p:spPr bwMode="auto">
          <a:xfrm>
            <a:off x="3178175" y="3686175"/>
            <a:ext cx="2024063" cy="346075"/>
          </a:xfrm>
          <a:prstGeom prst="rect">
            <a:avLst/>
          </a:prstGeom>
          <a:ln>
            <a:headEnd type="none" w="med" len="med"/>
            <a:tailEnd type="none" w="med" len="med"/>
          </a:ln>
        </p:spPr>
        <p:style>
          <a:lnRef idx="2">
            <a:schemeClr val="accent3">
              <a:shade val="50000"/>
            </a:schemeClr>
          </a:lnRef>
          <a:fillRef idx="1">
            <a:schemeClr val="accent3"/>
          </a:fillRef>
          <a:effectRef idx="0">
            <a:schemeClr val="accent3"/>
          </a:effectRef>
          <a:fontRef idx="minor">
            <a:schemeClr val="lt1"/>
          </a:fontRef>
        </p:style>
        <p:txBody>
          <a:bodyPr wrap="none" lIns="64002" tIns="32001" rIns="64002" bIns="32001"/>
          <a:lstStyle/>
          <a:p>
            <a:pPr>
              <a:defRPr/>
            </a:pPr>
            <a:endParaRPr lang="en-US">
              <a:solidFill>
                <a:schemeClr val="tx1"/>
              </a:solidFill>
              <a:latin typeface="Verdana" panose="020B0604030504040204" pitchFamily="34" charset="0"/>
            </a:endParaRPr>
          </a:p>
        </p:txBody>
      </p:sp>
      <p:sp>
        <p:nvSpPr>
          <p:cNvPr id="44035" name="Title 1"/>
          <p:cNvSpPr>
            <a:spLocks noGrp="1"/>
          </p:cNvSpPr>
          <p:nvPr>
            <p:ph type="title"/>
          </p:nvPr>
        </p:nvSpPr>
        <p:spPr>
          <a:xfrm>
            <a:off x="1017462" y="161266"/>
            <a:ext cx="8190038" cy="576262"/>
          </a:xfrm>
        </p:spPr>
        <p:txBody>
          <a:bodyPr/>
          <a:lstStyle/>
          <a:p>
            <a:r>
              <a:rPr lang="en-US" altLang="en-US" sz="2800" dirty="0"/>
              <a:t>Solution to CS Problem Using Mutex Locks</a:t>
            </a:r>
            <a:endParaRPr lang="en-US" altLang="en-US" sz="2800" dirty="0"/>
          </a:p>
        </p:txBody>
      </p:sp>
      <p:sp>
        <p:nvSpPr>
          <p:cNvPr id="44036" name="Rectangle 2"/>
          <p:cNvSpPr>
            <a:spLocks noChangeArrowheads="1"/>
          </p:cNvSpPr>
          <p:nvPr/>
        </p:nvSpPr>
        <p:spPr bwMode="auto">
          <a:xfrm>
            <a:off x="2286000" y="2274888"/>
            <a:ext cx="4572000" cy="258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buFont typeface="Monotype Sorts" pitchFamily="-84" charset="2"/>
              <a:buNone/>
            </a:pPr>
            <a:r>
              <a:rPr lang="en-US" altLang="en-US" b="1" dirty="0">
                <a:solidFill>
                  <a:srgbClr val="000000"/>
                </a:solidFill>
                <a:latin typeface="Courier New" panose="02070309020205020404" pitchFamily="49" charset="0"/>
              </a:rPr>
              <a:t>while (true) {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acquire lock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critical section </a:t>
            </a:r>
            <a:endParaRPr lang="en-US" altLang="en-US" b="1" dirty="0">
              <a:solidFill>
                <a:srgbClr val="000000"/>
              </a:solidFill>
              <a:latin typeface="Courier New" panose="02070309020205020404" pitchFamily="49" charset="0"/>
            </a:endParaRPr>
          </a:p>
          <a:p>
            <a:pPr>
              <a:buFont typeface="Monotype Sorts" pitchFamily="-84" charset="2"/>
              <a:buNone/>
            </a:pP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release lock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remainder section </a:t>
            </a:r>
            <a:endParaRPr lang="en-US" altLang="en-US" b="1" dirty="0">
              <a:solidFill>
                <a:srgbClr val="000000"/>
              </a:solidFill>
              <a:latin typeface="Courier New" panose="02070309020205020404" pitchFamily="49" charset="0"/>
            </a:endParaRPr>
          </a:p>
          <a:p>
            <a:pPr>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p:cNvSpPr>
            <a:spLocks noGrp="1" noChangeArrowheads="1"/>
          </p:cNvSpPr>
          <p:nvPr>
            <p:ph type="title"/>
          </p:nvPr>
        </p:nvSpPr>
        <p:spPr>
          <a:xfrm>
            <a:off x="457200" y="107983"/>
            <a:ext cx="8229600" cy="576262"/>
          </a:xfrm>
        </p:spPr>
        <p:txBody>
          <a:bodyPr/>
          <a:lstStyle/>
          <a:p>
            <a:pPr eaLnBrk="1" hangingPunct="1"/>
            <a:r>
              <a:rPr lang="en-US" altLang="en-US" dirty="0"/>
              <a:t>Semaphore </a:t>
            </a:r>
            <a:r>
              <a:rPr lang="zh-CN" altLang="en-US" dirty="0"/>
              <a:t>信号量</a:t>
            </a:r>
            <a:endParaRPr lang="zh-CN" altLang="en-US" dirty="0"/>
          </a:p>
        </p:txBody>
      </p:sp>
      <p:sp>
        <p:nvSpPr>
          <p:cNvPr id="47106" name="Rectangle 3"/>
          <p:cNvSpPr>
            <a:spLocks noGrp="1" noChangeArrowheads="1"/>
          </p:cNvSpPr>
          <p:nvPr>
            <p:ph idx="1"/>
          </p:nvPr>
        </p:nvSpPr>
        <p:spPr>
          <a:xfrm>
            <a:off x="827089" y="1163639"/>
            <a:ext cx="6272212" cy="4970462"/>
          </a:xfrm>
        </p:spPr>
        <p:txBody>
          <a:bodyPr/>
          <a:lstStyle/>
          <a:p>
            <a:pPr>
              <a:lnSpc>
                <a:spcPct val="90000"/>
              </a:lnSpc>
            </a:pPr>
            <a:r>
              <a:rPr lang="en-US" altLang="en-US" sz="1600" dirty="0"/>
              <a:t>Synchronization tool that provides more sophisticated ways (than Mutex locks)  for processes to synchronize their activities.</a:t>
            </a:r>
            <a:endParaRPr lang="en-US" altLang="en-US" sz="1600" i="1" dirty="0">
              <a:solidFill>
                <a:schemeClr val="tx2"/>
              </a:solidFill>
            </a:endParaRPr>
          </a:p>
          <a:p>
            <a:pPr>
              <a:lnSpc>
                <a:spcPct val="90000"/>
              </a:lnSpc>
            </a:pPr>
            <a:r>
              <a:rPr lang="en-US" altLang="en-US" sz="1600" dirty="0"/>
              <a:t>Semaphore </a:t>
            </a:r>
            <a:r>
              <a:rPr lang="en-US" altLang="en-US" sz="1600" b="1" i="1" dirty="0"/>
              <a:t>S</a:t>
            </a:r>
            <a:r>
              <a:rPr lang="en-US" altLang="en-US" sz="1600" dirty="0"/>
              <a:t> – integer variable</a:t>
            </a:r>
            <a:endParaRPr lang="en-US" altLang="en-US" sz="1600" dirty="0"/>
          </a:p>
          <a:p>
            <a:pPr>
              <a:lnSpc>
                <a:spcPct val="90000"/>
              </a:lnSpc>
            </a:pPr>
            <a:r>
              <a:rPr lang="en-US" altLang="en-US" sz="1600" dirty="0"/>
              <a:t>Can only be accessed via two indivisible (atomic) operations</a:t>
            </a:r>
            <a:endParaRPr lang="en-US" altLang="en-US" sz="1600" dirty="0"/>
          </a:p>
          <a:p>
            <a:pPr lvl="1">
              <a:lnSpc>
                <a:spcPct val="90000"/>
              </a:lnSpc>
            </a:pPr>
            <a:r>
              <a:rPr lang="en-US" altLang="en-US" b="1" dirty="0">
                <a:solidFill>
                  <a:srgbClr val="000000"/>
                </a:solidFill>
                <a:latin typeface="Courier New" panose="02070309020205020404" pitchFamily="49" charset="0"/>
              </a:rPr>
              <a:t>wait()</a:t>
            </a:r>
            <a:r>
              <a:rPr lang="en-US" altLang="en-US" dirty="0">
                <a:solidFill>
                  <a:srgbClr val="000000"/>
                </a:solidFill>
              </a:rPr>
              <a:t> </a:t>
            </a:r>
            <a:r>
              <a:rPr lang="en-US" altLang="en-US" sz="1600" dirty="0">
                <a:solidFill>
                  <a:srgbClr val="000000"/>
                </a:solidFill>
              </a:rPr>
              <a:t>and </a:t>
            </a:r>
            <a:r>
              <a:rPr lang="en-US" altLang="en-US" b="1" dirty="0">
                <a:solidFill>
                  <a:srgbClr val="000000"/>
                </a:solidFill>
                <a:latin typeface="Courier New" panose="02070309020205020404" pitchFamily="49" charset="0"/>
              </a:rPr>
              <a:t>signal()</a:t>
            </a:r>
            <a:endParaRPr lang="en-US" altLang="en-US" b="1" dirty="0">
              <a:solidFill>
                <a:srgbClr val="000000"/>
              </a:solidFill>
              <a:latin typeface="Courier New" panose="02070309020205020404" pitchFamily="49" charset="0"/>
            </a:endParaRPr>
          </a:p>
          <a:p>
            <a:pPr lvl="2">
              <a:lnSpc>
                <a:spcPct val="90000"/>
              </a:lnSpc>
            </a:pPr>
            <a:r>
              <a:rPr lang="en-US" altLang="en-US" sz="1600" dirty="0"/>
              <a:t>Originally called </a:t>
            </a:r>
            <a:r>
              <a:rPr lang="en-US" altLang="en-US" b="1" dirty="0">
                <a:solidFill>
                  <a:srgbClr val="000000"/>
                </a:solidFill>
                <a:latin typeface="Courier New" panose="02070309020205020404" pitchFamily="49" charset="0"/>
              </a:rPr>
              <a:t>P()</a:t>
            </a:r>
            <a:r>
              <a:rPr lang="en-US" altLang="en-US" dirty="0"/>
              <a:t> </a:t>
            </a:r>
            <a:r>
              <a:rPr lang="en-US" altLang="en-US" sz="1600" dirty="0"/>
              <a:t>and </a:t>
            </a:r>
            <a:r>
              <a:rPr lang="en-US" altLang="en-US" b="1" dirty="0">
                <a:solidFill>
                  <a:srgbClr val="000000"/>
                </a:solidFill>
                <a:latin typeface="Courier New" panose="02070309020205020404" pitchFamily="49" charset="0"/>
              </a:rPr>
              <a:t>V()</a:t>
            </a:r>
            <a:endParaRPr lang="en-US" altLang="en-US" b="1" dirty="0">
              <a:solidFill>
                <a:srgbClr val="000000"/>
              </a:solidFill>
              <a:latin typeface="Courier New" panose="02070309020205020404" pitchFamily="49" charset="0"/>
            </a:endParaRP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wait() operation</a:t>
            </a:r>
            <a:endParaRPr lang="en-US" altLang="en-US" b="1" dirty="0">
              <a:solidFill>
                <a:srgbClr val="000000"/>
              </a:solidFill>
              <a:latin typeface="Courier New" panose="02070309020205020404" pitchFamily="49" charset="0"/>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wait(S)</a:t>
            </a:r>
            <a:r>
              <a:rPr lang="en-US" altLang="en-US" sz="1600" b="1" dirty="0">
                <a:latin typeface="Courier New" panose="02070309020205020404" pitchFamily="49" charset="0"/>
                <a:sym typeface="Symbol" panose="05050102010706020507" pitchFamily="18" charset="2"/>
              </a:rPr>
              <a:t> { </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while (S &lt;= 0)</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 // busy wait</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endParaRPr lang="en-US" altLang="en-US" sz="1600" b="1" dirty="0">
              <a:latin typeface="Courier New" panose="02070309020205020404" pitchFamily="49" charset="0"/>
              <a:sym typeface="Symbol" panose="05050102010706020507" pitchFamily="18" charset="2"/>
            </a:endParaRPr>
          </a:p>
          <a:p>
            <a:pPr>
              <a:lnSpc>
                <a:spcPct val="90000"/>
              </a:lnSpc>
            </a:pPr>
            <a:r>
              <a:rPr lang="en-US" altLang="en-US" sz="1600" dirty="0"/>
              <a:t>Definition of  the </a:t>
            </a:r>
            <a:r>
              <a:rPr lang="en-US" altLang="en-US" b="1" dirty="0">
                <a:solidFill>
                  <a:srgbClr val="000000"/>
                </a:solidFill>
                <a:latin typeface="Courier New" panose="02070309020205020404" pitchFamily="49" charset="0"/>
              </a:rPr>
              <a:t>signal() operation</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b="1" dirty="0">
                <a:latin typeface="Courier New" panose="02070309020205020404" pitchFamily="49" charset="0"/>
                <a:sym typeface="Symbol" panose="05050102010706020507" pitchFamily="18" charset="2"/>
              </a:rPr>
              <a:t>signal(S)</a:t>
            </a:r>
            <a:r>
              <a:rPr lang="en-US" altLang="en-US" sz="1600" b="1" dirty="0">
                <a:latin typeface="Courier New" panose="02070309020205020404" pitchFamily="49" charset="0"/>
                <a:sym typeface="Symbol" panose="05050102010706020507" pitchFamily="18" charset="2"/>
              </a:rPr>
              <a:t> { </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    S++;</a:t>
            </a:r>
            <a:endParaRPr lang="en-US" altLang="en-US" sz="1600" b="1" dirty="0">
              <a:latin typeface="Courier New" panose="02070309020205020404" pitchFamily="49" charset="0"/>
              <a:sym typeface="Symbol" panose="05050102010706020507" pitchFamily="18" charset="2"/>
            </a:endParaRPr>
          </a:p>
          <a:p>
            <a:pPr lvl="1">
              <a:lnSpc>
                <a:spcPct val="90000"/>
              </a:lnSpc>
              <a:buFont typeface="Monotype Sorts" pitchFamily="-84" charset="2"/>
              <a:buNone/>
            </a:pPr>
            <a:r>
              <a:rPr lang="en-US" altLang="en-US" sz="1600" b="1" dirty="0">
                <a:latin typeface="Courier New" panose="02070309020205020404" pitchFamily="49" charset="0"/>
                <a:sym typeface="Symbol" panose="05050102010706020507" pitchFamily="18" charset="2"/>
              </a:rPr>
              <a:t>}</a:t>
            </a:r>
            <a:endParaRPr lang="en-US" altLang="en-US" sz="1600" b="1" dirty="0">
              <a:latin typeface="Courier New" panose="02070309020205020404" pitchFamily="49" charset="0"/>
              <a:sym typeface="Symbol" panose="05050102010706020507" pitchFamily="18" charset="2"/>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561975" y="251392"/>
            <a:ext cx="8534400" cy="457200"/>
          </a:xfrm>
        </p:spPr>
        <p:txBody>
          <a:bodyPr/>
          <a:lstStyle/>
          <a:p>
            <a:pPr eaLnBrk="1" hangingPunct="1"/>
            <a:r>
              <a:rPr lang="en-US" altLang="en-US" dirty="0"/>
              <a:t>Semaphore (Cont.)</a:t>
            </a:r>
            <a:endParaRPr lang="en-US" altLang="en-US" dirty="0"/>
          </a:p>
        </p:txBody>
      </p:sp>
      <p:sp>
        <p:nvSpPr>
          <p:cNvPr id="49154" name="Rectangle 3"/>
          <p:cNvSpPr>
            <a:spLocks noGrp="1" noChangeArrowheads="1"/>
          </p:cNvSpPr>
          <p:nvPr>
            <p:ph idx="1"/>
          </p:nvPr>
        </p:nvSpPr>
        <p:spPr>
          <a:xfrm>
            <a:off x="844549" y="1093789"/>
            <a:ext cx="6165851" cy="4252911"/>
          </a:xfrm>
        </p:spPr>
        <p:txBody>
          <a:bodyPr/>
          <a:lstStyle/>
          <a:p>
            <a:pPr>
              <a:tabLst>
                <a:tab pos="2001520" algn="ctr"/>
                <a:tab pos="4512945" algn="ctr"/>
              </a:tabLst>
            </a:pPr>
            <a:r>
              <a:rPr lang="en-US" altLang="en-US" b="1" dirty="0">
                <a:solidFill>
                  <a:srgbClr val="006699"/>
                </a:solidFill>
                <a:latin typeface="+mj-lt"/>
              </a:rPr>
              <a:t>Counting semaphore </a:t>
            </a:r>
            <a:r>
              <a:rPr lang="zh-CN" altLang="en-US" b="1" dirty="0">
                <a:solidFill>
                  <a:srgbClr val="006699"/>
                </a:solidFill>
                <a:latin typeface="+mj-lt"/>
              </a:rPr>
              <a:t>整型信号量</a:t>
            </a:r>
            <a:r>
              <a:rPr lang="en-US" altLang="en-US" b="1" dirty="0">
                <a:solidFill>
                  <a:srgbClr val="3366FF"/>
                </a:solidFill>
              </a:rPr>
              <a:t> </a:t>
            </a:r>
            <a:r>
              <a:rPr lang="en-US" altLang="en-US" dirty="0"/>
              <a:t>– integer value can range over an unrestricted domain</a:t>
            </a:r>
            <a:endParaRPr lang="en-US" altLang="en-US" dirty="0"/>
          </a:p>
          <a:p>
            <a:pPr>
              <a:tabLst>
                <a:tab pos="2001520" algn="ctr"/>
                <a:tab pos="4512945" algn="ctr"/>
              </a:tabLst>
            </a:pPr>
            <a:r>
              <a:rPr lang="en-US" altLang="en-US" b="1" dirty="0">
                <a:solidFill>
                  <a:srgbClr val="006699"/>
                </a:solidFill>
                <a:latin typeface="+mj-lt"/>
              </a:rPr>
              <a:t>Binary semaphore </a:t>
            </a:r>
            <a:r>
              <a:rPr lang="en-US" altLang="en-US" dirty="0"/>
              <a:t>– integer value can range only between 0 and 1</a:t>
            </a:r>
            <a:endParaRPr lang="en-US" altLang="en-US" dirty="0"/>
          </a:p>
          <a:p>
            <a:pPr lvl="1">
              <a:tabLst>
                <a:tab pos="2001520" algn="ctr"/>
                <a:tab pos="4512945" algn="ctr"/>
              </a:tabLst>
            </a:pPr>
            <a:r>
              <a:rPr lang="en-US" altLang="en-US" dirty="0">
                <a:sym typeface="MT Extra" panose="05050102010205020202" pitchFamily="18" charset="2"/>
              </a:rPr>
              <a:t>Same as a </a:t>
            </a:r>
            <a:r>
              <a:rPr lang="en-US" altLang="en-US" b="1" dirty="0">
                <a:solidFill>
                  <a:srgbClr val="006699"/>
                </a:solidFill>
                <a:latin typeface="+mj-lt"/>
                <a:sym typeface="MT Extra" panose="05050102010205020202" pitchFamily="18" charset="2"/>
              </a:rPr>
              <a:t>mutex lock</a:t>
            </a:r>
            <a:endParaRPr lang="en-US" altLang="en-US" b="1" dirty="0">
              <a:solidFill>
                <a:srgbClr val="006699"/>
              </a:solidFill>
              <a:latin typeface="+mj-lt"/>
              <a:sym typeface="MT Extra" panose="05050102010205020202" pitchFamily="18" charset="2"/>
            </a:endParaRPr>
          </a:p>
          <a:p>
            <a:pPr>
              <a:tabLst>
                <a:tab pos="2001520" algn="ctr"/>
                <a:tab pos="4512945" algn="ctr"/>
              </a:tabLst>
            </a:pPr>
            <a:r>
              <a:rPr lang="en-US" altLang="en-US" dirty="0"/>
              <a:t>Can implement a counting semaphore </a:t>
            </a:r>
            <a:r>
              <a:rPr lang="en-US" altLang="en-US" b="1" i="1" dirty="0">
                <a:solidFill>
                  <a:srgbClr val="000000"/>
                </a:solidFill>
              </a:rPr>
              <a:t>S</a:t>
            </a:r>
            <a:r>
              <a:rPr lang="en-US" altLang="en-US" dirty="0"/>
              <a:t> as a binary semaphore</a:t>
            </a:r>
            <a:endParaRPr lang="en-US" altLang="en-US" b="1" dirty="0">
              <a:solidFill>
                <a:srgbClr val="3366FF"/>
              </a:solidFill>
            </a:endParaRPr>
          </a:p>
          <a:p>
            <a:pPr>
              <a:tabLst>
                <a:tab pos="2001520" algn="ctr"/>
                <a:tab pos="4512945" algn="ctr"/>
              </a:tabLst>
            </a:pPr>
            <a:r>
              <a:rPr lang="en-US" altLang="en-US" dirty="0">
                <a:sym typeface="MT Extra" panose="05050102010205020202" pitchFamily="18" charset="2"/>
              </a:rPr>
              <a:t>With semaphores we can solve various synchronization problems</a:t>
            </a:r>
            <a:endParaRPr lang="en-US" altLang="en-US" dirty="0">
              <a:sym typeface="MT Extra" panose="05050102010205020202" pitchFamily="18" charset="2"/>
            </a:endParaRPr>
          </a:p>
          <a:p>
            <a:pPr marL="0" indent="0">
              <a:buNone/>
              <a:tabLst>
                <a:tab pos="2001520" algn="ctr"/>
                <a:tab pos="4512945" algn="ctr"/>
              </a:tabLst>
            </a:pPr>
            <a:endParaRPr lang="en-US" altLang="en-US" sz="1600" b="1" i="1" baseline="-25000" dirty="0">
              <a:sym typeface="MT Extra" panose="05050102010205020202" pitchFamily="18" charset="2"/>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561975" y="251392"/>
            <a:ext cx="8534400" cy="457200"/>
          </a:xfrm>
        </p:spPr>
        <p:txBody>
          <a:bodyPr/>
          <a:lstStyle/>
          <a:p>
            <a:pPr eaLnBrk="1" hangingPunct="1"/>
            <a:r>
              <a:rPr lang="en-US" altLang="en-US" dirty="0"/>
              <a:t>Semaphore Usage Example</a:t>
            </a:r>
            <a:endParaRPr lang="en-US" altLang="en-US" dirty="0"/>
          </a:p>
        </p:txBody>
      </p:sp>
      <p:sp>
        <p:nvSpPr>
          <p:cNvPr id="49154" name="Rectangle 3"/>
          <p:cNvSpPr>
            <a:spLocks noGrp="1" noChangeArrowheads="1"/>
          </p:cNvSpPr>
          <p:nvPr>
            <p:ph idx="1"/>
          </p:nvPr>
        </p:nvSpPr>
        <p:spPr>
          <a:xfrm>
            <a:off x="844549" y="1093788"/>
            <a:ext cx="6686551" cy="4468811"/>
          </a:xfrm>
        </p:spPr>
        <p:txBody>
          <a:bodyPr/>
          <a:lstStyle/>
          <a:p>
            <a:pPr>
              <a:tabLst>
                <a:tab pos="2001520" algn="ctr"/>
                <a:tab pos="4512945" algn="ctr"/>
              </a:tabLst>
            </a:pPr>
            <a:r>
              <a:rPr lang="en-US" altLang="en-US" dirty="0">
                <a:sym typeface="MT Extra" panose="05050102010205020202" pitchFamily="18" charset="2"/>
              </a:rPr>
              <a:t>Solution to the CS Problem</a:t>
            </a:r>
            <a:endParaRPr lang="en-US" altLang="en-US"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semaphore “</a:t>
            </a:r>
            <a:r>
              <a:rPr lang="en-US" altLang="en-US" b="1" dirty="0">
                <a:solidFill>
                  <a:srgbClr val="000000"/>
                </a:solidFill>
                <a:latin typeface="Courier New" panose="02070309020205020404" pitchFamily="49" charset="0"/>
                <a:sym typeface="MT Extra" panose="05050102010205020202" pitchFamily="18" charset="2"/>
              </a:rPr>
              <a:t>mutex</a:t>
            </a:r>
            <a:r>
              <a:rPr lang="en-US" altLang="en-US" dirty="0">
                <a:sym typeface="MT Extra" panose="05050102010205020202" pitchFamily="18" charset="2"/>
              </a:rPr>
              <a:t>”</a:t>
            </a:r>
            <a:r>
              <a:rPr lang="en-US" altLang="ja-JP" dirty="0">
                <a:sym typeface="MT Extra" panose="05050102010205020202" pitchFamily="18" charset="2"/>
              </a:rPr>
              <a:t> initialized to 1 </a:t>
            </a:r>
            <a:endParaRPr lang="en-US" altLang="ja-JP" dirty="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wait(mutex);</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CS</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signal(mutex)</a:t>
            </a:r>
            <a:r>
              <a:rPr lang="en-US" altLang="en-US" b="1" dirty="0">
                <a:solidFill>
                  <a:srgbClr val="0000FF"/>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520" algn="ctr"/>
                <a:tab pos="4512945" algn="ctr"/>
              </a:tabLst>
            </a:pPr>
            <a:r>
              <a:rPr lang="en-US" altLang="en-US" dirty="0">
                <a:sym typeface="MT Extra" panose="05050102010205020202" pitchFamily="18" charset="2"/>
              </a:rPr>
              <a:t>Consider </a:t>
            </a:r>
            <a:r>
              <a:rPr lang="en-US" altLang="en-US" b="1" i="1" dirty="0">
                <a:sym typeface="MT Extra" panose="05050102010205020202" pitchFamily="18" charset="2"/>
              </a:rPr>
              <a:t>P</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b="1" i="1" dirty="0">
                <a:sym typeface="MT Extra" panose="05050102010205020202" pitchFamily="18" charset="2"/>
              </a:rPr>
              <a:t>P</a:t>
            </a:r>
            <a:r>
              <a:rPr lang="en-US" altLang="en-US" b="1" i="1" baseline="-25000" dirty="0">
                <a:sym typeface="MT Extra" panose="05050102010205020202" pitchFamily="18" charset="2"/>
              </a:rPr>
              <a:t>2</a:t>
            </a:r>
            <a:r>
              <a:rPr lang="en-US" altLang="en-US" dirty="0">
                <a:sym typeface="MT Extra" panose="05050102010205020202" pitchFamily="18" charset="2"/>
              </a:rPr>
              <a:t> that with two statements </a:t>
            </a:r>
            <a:r>
              <a:rPr lang="en-US" altLang="en-US" b="1" i="1" dirty="0">
                <a:sym typeface="MT Extra" panose="05050102010205020202" pitchFamily="18" charset="2"/>
              </a:rPr>
              <a:t>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S</a:t>
            </a:r>
            <a:r>
              <a:rPr lang="en-US" altLang="en-US" b="1" i="1" baseline="-25000" dirty="0">
                <a:sym typeface="MT Extra" panose="05050102010205020202" pitchFamily="18" charset="2"/>
              </a:rPr>
              <a:t>2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S</a:t>
            </a:r>
            <a:r>
              <a:rPr lang="en-US" altLang="en-US" b="1"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b="1" i="1" dirty="0">
                <a:sym typeface="MT Extra" panose="05050102010205020202" pitchFamily="18" charset="2"/>
              </a:rPr>
              <a:t>S</a:t>
            </a:r>
            <a:r>
              <a:rPr lang="en-US" altLang="en-US" b="1" i="1" baseline="-25000" dirty="0">
                <a:sym typeface="MT Extra" panose="05050102010205020202" pitchFamily="18" charset="2"/>
              </a:rPr>
              <a:t>2</a:t>
            </a:r>
            <a:endParaRPr lang="en-US" altLang="en-US" b="1" i="1" baseline="-25000"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semaphore “</a:t>
            </a:r>
            <a:r>
              <a:rPr lang="en-US" altLang="ja-JP" b="1" dirty="0">
                <a:solidFill>
                  <a:srgbClr val="000000"/>
                </a:solidFill>
                <a:latin typeface="Courier New" panose="02070309020205020404" pitchFamily="49" charset="0"/>
                <a:sym typeface="MT Extra" panose="05050102010205020202" pitchFamily="18" charset="2"/>
              </a:rPr>
              <a:t>synch</a:t>
            </a:r>
            <a:r>
              <a:rPr lang="en-US" altLang="en-US" dirty="0">
                <a:sym typeface="MT Extra" panose="05050102010205020202" pitchFamily="18" charset="2"/>
              </a:rPr>
              <a:t>”</a:t>
            </a:r>
            <a:r>
              <a:rPr lang="en-US" altLang="ja-JP" dirty="0">
                <a:sym typeface="MT Extra" panose="05050102010205020202" pitchFamily="18" charset="2"/>
              </a:rPr>
              <a:t> initialized to 0 </a:t>
            </a:r>
            <a:endParaRPr lang="en-US" altLang="ja-JP" dirty="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P1:</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signal(synch);</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P2:</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wait(synch)</a:t>
            </a:r>
            <a:r>
              <a:rPr lang="en-US" altLang="en-US" dirty="0">
                <a:solidFill>
                  <a:srgbClr val="0000FF"/>
                </a:solidFill>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dirty="0">
              <a:sym typeface="MT Extra" panose="05050102010205020202" pitchFamily="18" charset="2"/>
            </a:endParaRPr>
          </a:p>
          <a:p>
            <a:pPr>
              <a:tabLst>
                <a:tab pos="2001520" algn="ctr"/>
                <a:tab pos="4512945" algn="ctr"/>
              </a:tabLst>
            </a:pPr>
            <a:endParaRPr lang="en-US" altLang="en-US" sz="1600" b="1" i="1" baseline="-25000" dirty="0">
              <a:sym typeface="MT Extra" panose="05050102010205020202" pitchFamily="18" charset="2"/>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p:cNvSpPr>
            <a:spLocks noGrp="1" noChangeArrowheads="1"/>
          </p:cNvSpPr>
          <p:nvPr>
            <p:ph type="title"/>
          </p:nvPr>
        </p:nvSpPr>
        <p:spPr>
          <a:xfrm>
            <a:off x="457200" y="227824"/>
            <a:ext cx="8229600" cy="576263"/>
          </a:xfrm>
        </p:spPr>
        <p:txBody>
          <a:bodyPr/>
          <a:lstStyle/>
          <a:p>
            <a:pPr eaLnBrk="1" hangingPunct="1"/>
            <a:r>
              <a:rPr lang="en-US" altLang="en-US" dirty="0"/>
              <a:t>Semaphore Implementation</a:t>
            </a:r>
            <a:endParaRPr lang="en-US" altLang="en-US" dirty="0"/>
          </a:p>
        </p:txBody>
      </p:sp>
      <p:sp>
        <p:nvSpPr>
          <p:cNvPr id="51202" name="Rectangle 3"/>
          <p:cNvSpPr>
            <a:spLocks noGrp="1" noChangeArrowheads="1"/>
          </p:cNvSpPr>
          <p:nvPr>
            <p:ph idx="1"/>
          </p:nvPr>
        </p:nvSpPr>
        <p:spPr>
          <a:xfrm>
            <a:off x="869949" y="1157289"/>
            <a:ext cx="7338869" cy="4422630"/>
          </a:xfrm>
        </p:spPr>
        <p:txBody>
          <a:bodyPr/>
          <a:lstStyle/>
          <a:p>
            <a:r>
              <a:rPr lang="en-US" altLang="en-US" dirty="0"/>
              <a:t>Must guarantee that no two processes can execute  the </a:t>
            </a:r>
            <a:r>
              <a:rPr lang="en-US" altLang="en-US" sz="2000" b="1" dirty="0">
                <a:latin typeface="Courier New" panose="02070309020205020404" pitchFamily="49" charset="0"/>
              </a:rPr>
              <a:t>wait() </a:t>
            </a:r>
            <a:r>
              <a:rPr lang="en-US" altLang="en-US" dirty="0"/>
              <a:t>and </a:t>
            </a:r>
            <a:r>
              <a:rPr lang="en-US" altLang="en-US" sz="2000" b="1" dirty="0">
                <a:latin typeface="Courier New" panose="02070309020205020404" pitchFamily="49" charset="0"/>
              </a:rPr>
              <a:t>signal() </a:t>
            </a:r>
            <a:r>
              <a:rPr lang="en-US" altLang="en-US" dirty="0"/>
              <a:t>on the same semaphore at the same time</a:t>
            </a:r>
            <a:endParaRPr lang="en-US" altLang="en-US" dirty="0"/>
          </a:p>
          <a:p>
            <a:r>
              <a:rPr lang="en-US" altLang="en-US" dirty="0"/>
              <a:t>Thus, the implementation becomes the critical section problem where the </a:t>
            </a:r>
            <a:r>
              <a:rPr lang="en-US" altLang="en-US" sz="2000" b="1" dirty="0">
                <a:latin typeface="Courier New" panose="02070309020205020404" pitchFamily="49" charset="0"/>
              </a:rPr>
              <a:t>wait</a:t>
            </a:r>
            <a:r>
              <a:rPr lang="en-US" altLang="en-US" dirty="0"/>
              <a:t> and </a:t>
            </a:r>
            <a:r>
              <a:rPr lang="en-US" altLang="en-US" sz="2000" b="1" dirty="0">
                <a:latin typeface="Courier New" panose="02070309020205020404" pitchFamily="49" charset="0"/>
              </a:rPr>
              <a:t>signal</a:t>
            </a:r>
            <a:r>
              <a:rPr lang="en-US" altLang="en-US" dirty="0"/>
              <a:t> code are placed in the critical section</a:t>
            </a:r>
            <a:endParaRPr lang="en-US" altLang="en-US" dirty="0"/>
          </a:p>
          <a:p>
            <a:r>
              <a:rPr lang="en-US" altLang="en-US" dirty="0"/>
              <a:t>Could now have </a:t>
            </a:r>
            <a:r>
              <a:rPr lang="en-US" altLang="en-US" b="1" dirty="0">
                <a:solidFill>
                  <a:srgbClr val="006699"/>
                </a:solidFill>
                <a:latin typeface="+mj-lt"/>
              </a:rPr>
              <a:t>busy waiting </a:t>
            </a:r>
            <a:r>
              <a:rPr lang="zh-CN" altLang="en-US" b="1" dirty="0">
                <a:solidFill>
                  <a:srgbClr val="006699"/>
                </a:solidFill>
                <a:latin typeface="+mj-lt"/>
              </a:rPr>
              <a:t>忙等</a:t>
            </a:r>
            <a:r>
              <a:rPr lang="en-US" altLang="en-US" b="1" dirty="0">
                <a:solidFill>
                  <a:srgbClr val="006699"/>
                </a:solidFill>
                <a:latin typeface="+mj-lt"/>
              </a:rPr>
              <a:t> </a:t>
            </a:r>
            <a:r>
              <a:rPr lang="en-US" altLang="en-US" dirty="0"/>
              <a:t>in critical section implementation</a:t>
            </a:r>
            <a:endParaRPr lang="en-US" altLang="en-US" dirty="0"/>
          </a:p>
          <a:p>
            <a:pPr lvl="1"/>
            <a:r>
              <a:rPr lang="en-US" altLang="en-US" dirty="0"/>
              <a:t>But implementation code is short</a:t>
            </a:r>
            <a:endParaRPr lang="en-US" altLang="en-US" dirty="0"/>
          </a:p>
          <a:p>
            <a:pPr lvl="1"/>
            <a:r>
              <a:rPr lang="en-US" altLang="en-US" dirty="0"/>
              <a:t>Little busy waiting if critical section rarely occupied</a:t>
            </a:r>
            <a:endParaRPr lang="en-US" altLang="en-US" dirty="0"/>
          </a:p>
          <a:p>
            <a:r>
              <a:rPr lang="en-US" altLang="en-US" dirty="0"/>
              <a:t>Note that applications may spend lots of time in critical sections and therefore this is not a good solution</a:t>
            </a:r>
            <a:endParaRPr lang="en-US" altLang="en-US" dirty="0"/>
          </a:p>
          <a:p>
            <a:pPr>
              <a:buFont typeface="Monotype Sorts" pitchFamily="-84" charset="2"/>
              <a:buNone/>
            </a:pPr>
            <a:r>
              <a:rPr lang="en-US" altLang="en-US" dirty="0"/>
              <a:t> </a:t>
            </a:r>
            <a:endParaRPr lang="en-US" altLang="en-US" dirty="0"/>
          </a:p>
          <a:p>
            <a:pPr lvl="1">
              <a:buFont typeface="Monotype Sorts" pitchFamily="-84" charset="2"/>
              <a:buNone/>
            </a:pPr>
            <a:endParaRPr lang="en-US" alt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801798" y="52295"/>
            <a:ext cx="8779199" cy="609600"/>
          </a:xfrm>
        </p:spPr>
        <p:txBody>
          <a:bodyPr/>
          <a:lstStyle/>
          <a:p>
            <a:pPr eaLnBrk="1" hangingPunct="1"/>
            <a:r>
              <a:rPr lang="en-US" altLang="en-US" sz="2400" dirty="0"/>
              <a:t>Semaphore Implementation with no Busy waiting </a:t>
            </a:r>
            <a:endParaRPr lang="en-US" altLang="en-US" sz="2400" dirty="0"/>
          </a:p>
        </p:txBody>
      </p:sp>
      <p:sp>
        <p:nvSpPr>
          <p:cNvPr id="53250" name="Rectangle 3"/>
          <p:cNvSpPr>
            <a:spLocks noGrp="1" noChangeArrowheads="1"/>
          </p:cNvSpPr>
          <p:nvPr>
            <p:ph idx="1"/>
          </p:nvPr>
        </p:nvSpPr>
        <p:spPr>
          <a:xfrm>
            <a:off x="861980" y="1078705"/>
            <a:ext cx="7035111" cy="4740203"/>
          </a:xfrm>
        </p:spPr>
        <p:txBody>
          <a:bodyPr/>
          <a:lstStyle/>
          <a:p>
            <a:r>
              <a:rPr lang="en-US" altLang="en-US" dirty="0"/>
              <a:t>With each semaphore there is an associated waiting queue</a:t>
            </a:r>
            <a:endParaRPr lang="en-US" altLang="en-US" dirty="0"/>
          </a:p>
          <a:p>
            <a:r>
              <a:rPr lang="en-US" altLang="en-US" dirty="0"/>
              <a:t>Each entry in a waiting queue has two data items:</a:t>
            </a:r>
            <a:endParaRPr lang="en-US" altLang="en-US" dirty="0"/>
          </a:p>
          <a:p>
            <a:pPr lvl="1"/>
            <a:r>
              <a:rPr lang="en-US" altLang="en-US" dirty="0"/>
              <a:t> Value (of type integer)</a:t>
            </a:r>
            <a:endParaRPr lang="en-US" altLang="en-US" dirty="0"/>
          </a:p>
          <a:p>
            <a:pPr lvl="1"/>
            <a:r>
              <a:rPr lang="en-US" altLang="en-US" dirty="0"/>
              <a:t> Pointer to next record in the list</a:t>
            </a:r>
            <a:endParaRPr lang="en-US" altLang="en-US" dirty="0"/>
          </a:p>
          <a:p>
            <a:r>
              <a:rPr lang="en-US" altLang="en-US" dirty="0"/>
              <a:t>Two operations:</a:t>
            </a:r>
            <a:endParaRPr lang="en-US" altLang="en-US" dirty="0"/>
          </a:p>
          <a:p>
            <a:pPr lvl="1"/>
            <a:r>
              <a:rPr lang="en-US" altLang="en-US" b="1" dirty="0">
                <a:solidFill>
                  <a:srgbClr val="006699"/>
                </a:solidFill>
                <a:latin typeface="+mj-lt"/>
              </a:rPr>
              <a:t>block </a:t>
            </a:r>
            <a:r>
              <a:rPr lang="zh-CN" altLang="en-US" b="1" dirty="0">
                <a:solidFill>
                  <a:srgbClr val="006699"/>
                </a:solidFill>
                <a:latin typeface="+mj-lt"/>
              </a:rPr>
              <a:t>阻塞</a:t>
            </a:r>
            <a:r>
              <a:rPr lang="en-US" altLang="en-US" b="1" dirty="0">
                <a:solidFill>
                  <a:srgbClr val="006699"/>
                </a:solidFill>
                <a:latin typeface="+mj-lt"/>
              </a:rPr>
              <a:t> </a:t>
            </a:r>
            <a:r>
              <a:rPr lang="en-US" altLang="en-US" dirty="0"/>
              <a:t>– place the process invoking the operation on the appropriate waiting queue</a:t>
            </a:r>
            <a:endParaRPr lang="en-US" altLang="en-US" dirty="0"/>
          </a:p>
          <a:p>
            <a:pPr lvl="1"/>
            <a:r>
              <a:rPr lang="en-US" altLang="en-US" b="1" dirty="0">
                <a:solidFill>
                  <a:srgbClr val="006699"/>
                </a:solidFill>
                <a:latin typeface="+mj-lt"/>
              </a:rPr>
              <a:t>wakeup</a:t>
            </a:r>
            <a:r>
              <a:rPr lang="en-US" altLang="en-US" dirty="0">
                <a:solidFill>
                  <a:srgbClr val="3366FF"/>
                </a:solidFill>
              </a:rPr>
              <a:t> </a:t>
            </a:r>
            <a:r>
              <a:rPr lang="zh-CN" altLang="en-US" dirty="0">
                <a:solidFill>
                  <a:srgbClr val="3366FF"/>
                </a:solidFill>
              </a:rPr>
              <a:t>唤醒</a:t>
            </a:r>
            <a:r>
              <a:rPr lang="en-US" altLang="zh-CN" dirty="0">
                <a:solidFill>
                  <a:srgbClr val="3366FF"/>
                </a:solidFill>
              </a:rPr>
              <a:t> </a:t>
            </a:r>
            <a:r>
              <a:rPr lang="en-US" altLang="en-US" dirty="0"/>
              <a:t>– remove one of processes in the waiting queue and place it in the ready queue</a:t>
            </a:r>
            <a:endParaRPr lang="en-US" altLang="en-US" dirty="0"/>
          </a:p>
          <a:p>
            <a:pPr marL="0" indent="0">
              <a:buNone/>
            </a:pPr>
            <a:endParaRPr lang="en-US" altLang="en-US" dirty="0"/>
          </a:p>
          <a:p>
            <a:pPr lvl="1"/>
            <a:endParaRPr lang="en-US" altLang="en-US" dirty="0"/>
          </a:p>
          <a:p>
            <a:pPr>
              <a:buFont typeface="Monotype Sorts" pitchFamily="-84" charset="2"/>
              <a:buNone/>
            </a:pPr>
            <a:r>
              <a:rPr lang="en-US" altLang="en-US" dirty="0">
                <a:solidFill>
                  <a:srgbClr val="0000FF"/>
                </a:solidFill>
              </a:rPr>
              <a:t>                        </a:t>
            </a:r>
            <a:endParaRPr lang="en-US" altLang="en-US" dirty="0">
              <a:solidFill>
                <a:srgbClr val="0000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p:cNvSpPr>
            <a:spLocks noGrp="1" noChangeArrowheads="1"/>
          </p:cNvSpPr>
          <p:nvPr>
            <p:ph type="title"/>
          </p:nvPr>
        </p:nvSpPr>
        <p:spPr>
          <a:xfrm>
            <a:off x="801798" y="135423"/>
            <a:ext cx="8779199" cy="609600"/>
          </a:xfrm>
        </p:spPr>
        <p:txBody>
          <a:bodyPr/>
          <a:lstStyle/>
          <a:p>
            <a:pPr eaLnBrk="1" hangingPunct="1"/>
            <a:r>
              <a:rPr lang="en-US" altLang="en-US" sz="2800" dirty="0"/>
              <a:t>Implementation with no Busy waiting (Cont.)</a:t>
            </a:r>
            <a:endParaRPr lang="en-US" altLang="en-US" sz="2800" dirty="0"/>
          </a:p>
        </p:txBody>
      </p:sp>
      <p:sp>
        <p:nvSpPr>
          <p:cNvPr id="53250" name="Rectangle 3"/>
          <p:cNvSpPr>
            <a:spLocks noGrp="1" noChangeArrowheads="1"/>
          </p:cNvSpPr>
          <p:nvPr>
            <p:ph idx="1"/>
          </p:nvPr>
        </p:nvSpPr>
        <p:spPr>
          <a:xfrm>
            <a:off x="861980" y="1078706"/>
            <a:ext cx="7582224" cy="4700588"/>
          </a:xfrm>
        </p:spPr>
        <p:txBody>
          <a:bodyPr/>
          <a:lstStyle/>
          <a:p>
            <a:endParaRPr lang="en-US" altLang="en-US" dirty="0"/>
          </a:p>
          <a:p>
            <a:r>
              <a:rPr lang="en-US" altLang="en-US" dirty="0"/>
              <a:t>Waiting queue</a:t>
            </a:r>
            <a:endParaRPr lang="en-US" altLang="en-US" dirty="0"/>
          </a:p>
          <a:p>
            <a:pPr marL="0" indent="0">
              <a:buNone/>
            </a:pPr>
            <a:r>
              <a:rPr lang="en-US" altLang="en-US" b="1" dirty="0">
                <a:latin typeface="Courier New" panose="02070309020205020404" pitchFamily="49" charset="0"/>
              </a:rPr>
              <a:t>    typedef struct {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a:t>
            </a:r>
            <a:r>
              <a:rPr lang="en-US" altLang="en-US" b="1" dirty="0" err="1">
                <a:latin typeface="Courier New" panose="02070309020205020404" pitchFamily="49" charset="0"/>
              </a:rPr>
              <a:t>int</a:t>
            </a:r>
            <a:r>
              <a:rPr lang="en-US" altLang="en-US" b="1" dirty="0">
                <a:latin typeface="Courier New" panose="02070309020205020404" pitchFamily="49" charset="0"/>
              </a:rPr>
              <a:t> value;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struct process *list; </a:t>
            </a:r>
            <a:endParaRPr lang="en-US" altLang="en-US" b="1" dirty="0">
              <a:latin typeface="Courier New" panose="02070309020205020404" pitchFamily="49" charset="0"/>
            </a:endParaRPr>
          </a:p>
          <a:p>
            <a:pPr>
              <a:buFont typeface="Monotype Sorts" pitchFamily="-84" charset="2"/>
              <a:buNone/>
            </a:pPr>
            <a:r>
              <a:rPr lang="en-US" altLang="en-US" b="1" dirty="0">
                <a:latin typeface="Courier New" panose="02070309020205020404" pitchFamily="49" charset="0"/>
              </a:rPr>
              <a:t>    } semaphore; </a:t>
            </a:r>
            <a:endParaRPr lang="en-US" altLang="en-US" b="1" dirty="0">
              <a:latin typeface="Courier New" panose="02070309020205020404" pitchFamily="49" charset="0"/>
            </a:endParaRPr>
          </a:p>
          <a:p>
            <a:endParaRPr lang="en-US" altLang="en-US" dirty="0"/>
          </a:p>
          <a:p>
            <a:pPr lvl="1"/>
            <a:endParaRPr lang="en-US" altLang="en-US" dirty="0"/>
          </a:p>
          <a:p>
            <a:pPr>
              <a:buFont typeface="Monotype Sorts" pitchFamily="-84" charset="2"/>
              <a:buNone/>
            </a:pPr>
            <a:r>
              <a:rPr lang="en-US" altLang="en-US" dirty="0">
                <a:solidFill>
                  <a:srgbClr val="0000FF"/>
                </a:solidFill>
              </a:rPr>
              <a:t>                        </a:t>
            </a:r>
            <a:endParaRPr lang="en-US" altLang="en-US" dirty="0">
              <a:solidFill>
                <a:srgbClr val="0000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p:cNvSpPr>
            <a:spLocks noGrp="1" noChangeArrowheads="1"/>
          </p:cNvSpPr>
          <p:nvPr>
            <p:ph type="title"/>
          </p:nvPr>
        </p:nvSpPr>
        <p:spPr>
          <a:xfrm>
            <a:off x="1170528" y="104810"/>
            <a:ext cx="8356600" cy="581025"/>
          </a:xfrm>
        </p:spPr>
        <p:txBody>
          <a:bodyPr/>
          <a:lstStyle/>
          <a:p>
            <a:pPr eaLnBrk="1" hangingPunct="1"/>
            <a:r>
              <a:rPr lang="en-US" altLang="en-US" sz="2800" dirty="0"/>
              <a:t>Implementation with no Busy waiting (Cont.)</a:t>
            </a:r>
            <a:endParaRPr lang="en-US" altLang="en-US" sz="2800" dirty="0"/>
          </a:p>
        </p:txBody>
      </p:sp>
      <p:sp>
        <p:nvSpPr>
          <p:cNvPr id="55298" name="Rectangle 3"/>
          <p:cNvSpPr>
            <a:spLocks noGrp="1" noChangeArrowheads="1"/>
          </p:cNvSpPr>
          <p:nvPr>
            <p:ph idx="1"/>
          </p:nvPr>
        </p:nvSpPr>
        <p:spPr>
          <a:xfrm>
            <a:off x="1154113" y="901700"/>
            <a:ext cx="6122987" cy="5029200"/>
          </a:xfrm>
        </p:spPr>
        <p:txBody>
          <a:bodyPr/>
          <a:lstStyle/>
          <a:p>
            <a:pPr marL="0" indent="0">
              <a:buFont typeface="Monotype Sorts" pitchFamily="-84" charset="2"/>
              <a:buNone/>
            </a:pPr>
            <a:endParaRPr lang="en-US" altLang="en-US" sz="14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wait(semaphore *S)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S-&gt;value--;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add this process to S-&gt;list;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block();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a:t>
            </a:r>
            <a:endParaRPr lang="en-US" altLang="en-US" sz="1600" b="1" dirty="0">
              <a:latin typeface="Courier New" panose="02070309020205020404" pitchFamily="49" charset="0"/>
            </a:endParaRPr>
          </a:p>
          <a:p>
            <a:pPr marL="0" indent="0">
              <a:buFont typeface="Monotype Sorts" pitchFamily="-84" charset="2"/>
              <a:buNone/>
            </a:pP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signal(semaphore *S)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S-&gt;value++;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if (S-&gt;value &lt;= 0) {</a:t>
            </a:r>
            <a:br>
              <a:rPr lang="en-US" altLang="en-US" sz="1600" b="1" dirty="0">
                <a:latin typeface="Courier New" panose="02070309020205020404" pitchFamily="49" charset="0"/>
              </a:rPr>
            </a:br>
            <a:r>
              <a:rPr lang="en-US" altLang="en-US" sz="1600" b="1" dirty="0">
                <a:latin typeface="Courier New" panose="02070309020205020404" pitchFamily="49" charset="0"/>
              </a:rPr>
              <a:t>      remove a process P from S-&gt;list;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wakeup(P);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 </a:t>
            </a:r>
            <a:endParaRPr lang="en-US" altLang="en-US" sz="1600" b="1" dirty="0">
              <a:latin typeface="Courier New" panose="02070309020205020404" pitchFamily="49" charset="0"/>
            </a:endParaRPr>
          </a:p>
          <a:p>
            <a:pPr marL="0" indent="0">
              <a:buFont typeface="Monotype Sorts" pitchFamily="-84" charset="2"/>
              <a:buNone/>
            </a:pPr>
            <a:r>
              <a:rPr lang="en-US" altLang="en-US" sz="1600" b="1" dirty="0">
                <a:latin typeface="Courier New" panose="02070309020205020404" pitchFamily="49" charset="0"/>
              </a:rPr>
              <a:t>} </a:t>
            </a:r>
            <a:endParaRPr lang="en-US" altLang="en-US" sz="1600" b="1" dirty="0">
              <a:latin typeface="Courier New" panose="02070309020205020404" pitchFamily="49" charset="0"/>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923925" y="175869"/>
            <a:ext cx="7762875" cy="576263"/>
          </a:xfrm>
        </p:spPr>
        <p:txBody>
          <a:bodyPr/>
          <a:lstStyle/>
          <a:p>
            <a:pPr eaLnBrk="1" hangingPunct="1"/>
            <a:r>
              <a:rPr lang="en-US" altLang="en-US" dirty="0"/>
              <a:t>Problems with Semaphores</a:t>
            </a:r>
            <a:endParaRPr lang="en-US" altLang="en-US" dirty="0"/>
          </a:p>
        </p:txBody>
      </p:sp>
      <p:sp>
        <p:nvSpPr>
          <p:cNvPr id="57346" name="Rectangle 3"/>
          <p:cNvSpPr>
            <a:spLocks noGrp="1" noChangeArrowheads="1"/>
          </p:cNvSpPr>
          <p:nvPr>
            <p:ph idx="1"/>
          </p:nvPr>
        </p:nvSpPr>
        <p:spPr>
          <a:xfrm>
            <a:off x="827088" y="1282700"/>
            <a:ext cx="6959600" cy="4860925"/>
          </a:xfrm>
        </p:spPr>
        <p:txBody>
          <a:bodyPr/>
          <a:lstStyle/>
          <a:p>
            <a:r>
              <a:rPr lang="en-US" altLang="en-US" dirty="0"/>
              <a:t> Incorrect use of semaphore operations:</a:t>
            </a:r>
            <a:br>
              <a:rPr lang="en-US" altLang="en-US" dirty="0"/>
            </a:b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signal(mutex)  ….  wait(mutex)</a:t>
            </a:r>
            <a:br>
              <a:rPr lang="en-US" altLang="en-US" b="1" dirty="0">
                <a:latin typeface="Courier New" panose="02070309020205020404" pitchFamily="49" charset="0"/>
                <a:cs typeface="Courier New" panose="02070309020205020404" pitchFamily="49" charset="0"/>
              </a:rPr>
            </a:b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wait(mutex)  …  wait(mutex)</a:t>
            </a:r>
            <a:endParaRPr lang="en-US" altLang="en-US" b="1" dirty="0">
              <a:latin typeface="Courier New" panose="02070309020205020404" pitchFamily="49" charset="0"/>
              <a:cs typeface="Courier New" panose="02070309020205020404" pitchFamily="49" charset="0"/>
            </a:endParaRPr>
          </a:p>
          <a:p>
            <a:pPr lvl="1"/>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wait (mutex) </a:t>
            </a:r>
            <a:r>
              <a:rPr lang="en-US" altLang="en-US" dirty="0"/>
              <a:t>and/or </a:t>
            </a:r>
            <a:r>
              <a:rPr lang="en-US" altLang="en-US" b="1" dirty="0">
                <a:latin typeface="Courier New" panose="02070309020205020404" pitchFamily="49" charset="0"/>
                <a:cs typeface="Courier New" panose="02070309020205020404" pitchFamily="49" charset="0"/>
              </a:rPr>
              <a:t>signal (mutex)</a:t>
            </a:r>
            <a:endParaRPr lang="en-US" altLang="en-US" dirty="0"/>
          </a:p>
          <a:p>
            <a:pPr lvl="1"/>
            <a:endParaRPr lang="en-US" altLang="en-US" dirty="0"/>
          </a:p>
          <a:p>
            <a:r>
              <a:rPr lang="en-US" altLang="en-US" dirty="0"/>
              <a:t>These – and others – are examples of what can occur when semaphores and other synchronization tools are used incorrectly.</a:t>
            </a:r>
            <a:endParaRPr lang="en-US" altLang="en-US" dirty="0"/>
          </a:p>
          <a:p>
            <a:endParaRPr lang="en-US" altLang="en-US" dirty="0"/>
          </a:p>
          <a:p>
            <a:endParaRPr lang="en-US" altLang="en-US" dirty="0"/>
          </a:p>
          <a:p>
            <a:endParaRPr lang="en-US" alt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2"/>
          <p:cNvSpPr>
            <a:spLocks noGrp="1" noChangeArrowheads="1"/>
          </p:cNvSpPr>
          <p:nvPr>
            <p:ph type="title"/>
          </p:nvPr>
        </p:nvSpPr>
        <p:spPr>
          <a:xfrm>
            <a:off x="457200" y="222868"/>
            <a:ext cx="8229600" cy="576262"/>
          </a:xfrm>
        </p:spPr>
        <p:txBody>
          <a:bodyPr/>
          <a:lstStyle/>
          <a:p>
            <a:pPr eaLnBrk="1" hangingPunct="1"/>
            <a:r>
              <a:rPr lang="en-US" altLang="en-US" dirty="0"/>
              <a:t>Monitors </a:t>
            </a:r>
            <a:r>
              <a:rPr lang="zh-CN" altLang="en-US" dirty="0"/>
              <a:t>管程</a:t>
            </a:r>
            <a:endParaRPr lang="zh-CN" altLang="en-US" dirty="0"/>
          </a:p>
        </p:txBody>
      </p:sp>
      <p:sp>
        <p:nvSpPr>
          <p:cNvPr id="59394" name="Rectangle 3"/>
          <p:cNvSpPr>
            <a:spLocks noGrp="1" noChangeArrowheads="1"/>
          </p:cNvSpPr>
          <p:nvPr>
            <p:ph idx="1"/>
          </p:nvPr>
        </p:nvSpPr>
        <p:spPr>
          <a:xfrm>
            <a:off x="855663" y="1209675"/>
            <a:ext cx="7691178" cy="4860925"/>
          </a:xfrm>
        </p:spPr>
        <p:txBody>
          <a:bodyPr/>
          <a:lstStyle/>
          <a:p>
            <a:pPr>
              <a:lnSpc>
                <a:spcPct val="80000"/>
              </a:lnSpc>
            </a:pPr>
            <a:r>
              <a:rPr lang="en-US" altLang="en-US" dirty="0"/>
              <a:t>A high-level abstraction that provides a convenient and effective mechanism for process synchronization</a:t>
            </a:r>
            <a:endParaRPr lang="en-US" altLang="en-US" dirty="0"/>
          </a:p>
          <a:p>
            <a:pPr>
              <a:lnSpc>
                <a:spcPct val="80000"/>
              </a:lnSpc>
            </a:pPr>
            <a:r>
              <a:rPr lang="en-US" altLang="en-US" i="1" dirty="0"/>
              <a:t>Abstract data type</a:t>
            </a:r>
            <a:r>
              <a:rPr lang="en-US" altLang="en-US" dirty="0"/>
              <a:t>, internal variables only accessible by code within the procedure</a:t>
            </a:r>
            <a:endParaRPr lang="en-US" altLang="en-US" dirty="0"/>
          </a:p>
          <a:p>
            <a:pPr>
              <a:lnSpc>
                <a:spcPct val="80000"/>
              </a:lnSpc>
            </a:pPr>
            <a:r>
              <a:rPr lang="en-US" altLang="en-US" dirty="0"/>
              <a:t>Only one process may be active within the monitor at a time</a:t>
            </a:r>
            <a:endParaRPr lang="en-US" altLang="en-US" dirty="0"/>
          </a:p>
          <a:p>
            <a:pPr>
              <a:lnSpc>
                <a:spcPct val="80000"/>
              </a:lnSpc>
            </a:pPr>
            <a:r>
              <a:rPr lang="en-US" altLang="en-US" dirty="0"/>
              <a:t>Pseudocode syntax of a monitor:</a:t>
            </a:r>
            <a:endParaRPr lang="en-US" altLang="en-US" dirty="0"/>
          </a:p>
          <a:p>
            <a:pPr lvl="2">
              <a:lnSpc>
                <a:spcPct val="80000"/>
              </a:lnSpc>
              <a:buFont typeface="Webdings" panose="05030102010509060703" pitchFamily="18" charset="2"/>
              <a:buNone/>
            </a:pPr>
            <a:endParaRPr lang="en-US" altLang="en-US" sz="1400" dirty="0">
              <a:solidFill>
                <a:srgbClr val="0000FF"/>
              </a:solidFill>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monitor monitor-name</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 shared variable declarations</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P1 (…) {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P2 (…) { …. }</a:t>
            </a:r>
            <a:br>
              <a:rPr lang="en-US" altLang="en-US" sz="1600" b="1" dirty="0">
                <a:solidFill>
                  <a:srgbClr val="000000"/>
                </a:solidFill>
                <a:latin typeface="Courier New" panose="02070309020205020404" pitchFamily="49" charset="0"/>
              </a:rPr>
            </a:b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procedure </a:t>
            </a:r>
            <a:r>
              <a:rPr lang="en-US" altLang="en-US" sz="1600" b="1" dirty="0" err="1">
                <a:solidFill>
                  <a:srgbClr val="000000"/>
                </a:solidFill>
                <a:latin typeface="Courier New" panose="02070309020205020404" pitchFamily="49" charset="0"/>
              </a:rPr>
              <a:t>Pn</a:t>
            </a: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  initialization code (…) { … }</a:t>
            </a:r>
            <a:endParaRPr lang="en-US" altLang="en-US" sz="1600" b="1" dirty="0">
              <a:solidFill>
                <a:srgbClr val="000000"/>
              </a:solidFill>
              <a:latin typeface="Courier New" panose="02070309020205020404" pitchFamily="49" charset="0"/>
            </a:endParaRPr>
          </a:p>
          <a:p>
            <a:pPr lvl="2">
              <a:lnSpc>
                <a:spcPct val="80000"/>
              </a:lnSpc>
              <a:buFont typeface="Webdings" panose="05030102010509060703" pitchFamily="18" charset="2"/>
              <a:buNone/>
            </a:pPr>
            <a:r>
              <a:rPr lang="en-US" altLang="en-US" sz="1600" b="1" dirty="0">
                <a:solidFill>
                  <a:srgbClr val="000000"/>
                </a:solidFill>
                <a:latin typeface="Courier New" panose="02070309020205020404" pitchFamily="49" charset="0"/>
              </a:rPr>
              <a:t>}</a:t>
            </a:r>
            <a:endParaRPr lang="en-US" altLang="en-US" sz="1600" b="1" dirty="0">
              <a:solidFill>
                <a:srgbClr val="000000"/>
              </a:solidFill>
              <a:latin typeface="Courier New" panose="02070309020205020404" pitchFamily="49" charset="0"/>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p:cNvSpPr>
            <a:spLocks noGrp="1" noChangeArrowheads="1"/>
          </p:cNvSpPr>
          <p:nvPr>
            <p:ph type="title"/>
          </p:nvPr>
        </p:nvSpPr>
        <p:spPr>
          <a:xfrm>
            <a:off x="1222375" y="213537"/>
            <a:ext cx="7464425" cy="576262"/>
          </a:xfrm>
        </p:spPr>
        <p:txBody>
          <a:bodyPr/>
          <a:lstStyle/>
          <a:p>
            <a:pPr eaLnBrk="1" hangingPunct="1"/>
            <a:r>
              <a:rPr lang="en-US" altLang="en-US" dirty="0"/>
              <a:t>Schematic view of a Monitor</a:t>
            </a:r>
            <a:endParaRPr lang="en-US" altLang="en-US" dirty="0"/>
          </a:p>
        </p:txBody>
      </p:sp>
      <p:pic>
        <p:nvPicPr>
          <p:cNvPr id="61442"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2914650" y="1330325"/>
            <a:ext cx="4275138" cy="406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endParaRPr lang="en-US" altLang="en-US" sz="2800" dirty="0"/>
          </a:p>
        </p:txBody>
      </p:sp>
      <p:sp>
        <p:nvSpPr>
          <p:cNvPr id="69634" name="Rectangle 3"/>
          <p:cNvSpPr>
            <a:spLocks noGrp="1" noChangeArrowheads="1"/>
          </p:cNvSpPr>
          <p:nvPr>
            <p:ph idx="1"/>
          </p:nvPr>
        </p:nvSpPr>
        <p:spPr>
          <a:xfrm>
            <a:off x="877077" y="1133475"/>
            <a:ext cx="7733523" cy="5243513"/>
          </a:xfrm>
        </p:spPr>
        <p:txBody>
          <a:bodyPr/>
          <a:lstStyle/>
          <a:p>
            <a:pPr>
              <a:lnSpc>
                <a:spcPct val="80000"/>
              </a:lnSpc>
              <a:tabLst>
                <a:tab pos="1887220" algn="l"/>
                <a:tab pos="2334895" algn="l"/>
                <a:tab pos="2506345" algn="l"/>
              </a:tabLst>
            </a:pPr>
            <a:r>
              <a:rPr lang="en-US" altLang="en-US" dirty="0"/>
              <a:t>Variables </a:t>
            </a:r>
            <a:endParaRPr lang="en-US" altLang="en-US" dirty="0"/>
          </a:p>
          <a:p>
            <a:pPr>
              <a:lnSpc>
                <a:spcPct val="80000"/>
              </a:lnSpc>
              <a:buFont typeface="Monotype Sorts" pitchFamily="-84" charset="2"/>
              <a:buNone/>
              <a:tabLst>
                <a:tab pos="1887220" algn="l"/>
                <a:tab pos="2334895" algn="l"/>
                <a:tab pos="2506345" algn="l"/>
              </a:tabLst>
            </a:pPr>
            <a:endParaRPr lang="en-US" altLang="en-US"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mutex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mutex = 1</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Each procedure </a:t>
            </a:r>
            <a:r>
              <a:rPr lang="en-US" altLang="en-US" b="1" i="1" dirty="0"/>
              <a:t>P</a:t>
            </a:r>
            <a:r>
              <a:rPr lang="en-US" altLang="en-US" dirty="0"/>
              <a:t>  is replaced by</a:t>
            </a:r>
            <a:endParaRPr lang="en-US" altLang="en-US" dirty="0"/>
          </a:p>
          <a:p>
            <a:pPr>
              <a:lnSpc>
                <a:spcPct val="80000"/>
              </a:lnSpc>
              <a:tabLst>
                <a:tab pos="1887220" algn="l"/>
                <a:tab pos="2334895" algn="l"/>
                <a:tab pos="2506345" algn="l"/>
              </a:tabLst>
            </a:pPr>
            <a:endParaRPr lang="en-US" altLang="en-US" sz="1600"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wait(mutex);</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body of P;</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Mutual exclusion within a monitor is ensured</a:t>
            </a:r>
            <a:endParaRPr lang="en-US" alt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4"/>
          <p:cNvSpPr>
            <a:spLocks noGrp="1" noChangeArrowheads="1"/>
          </p:cNvSpPr>
          <p:nvPr>
            <p:ph type="title"/>
          </p:nvPr>
        </p:nvSpPr>
        <p:spPr>
          <a:xfrm>
            <a:off x="1027113" y="217911"/>
            <a:ext cx="7659687" cy="576263"/>
          </a:xfrm>
        </p:spPr>
        <p:txBody>
          <a:bodyPr/>
          <a:lstStyle/>
          <a:p>
            <a:pPr eaLnBrk="1" hangingPunct="1"/>
            <a:r>
              <a:rPr lang="en-US" altLang="en-US" dirty="0"/>
              <a:t>Condition Variables </a:t>
            </a:r>
            <a:r>
              <a:rPr lang="zh-CN" altLang="en-US" dirty="0"/>
              <a:t>条件</a:t>
            </a:r>
            <a:r>
              <a:rPr lang="zh-CN" altLang="en-US" dirty="0"/>
              <a:t>变量</a:t>
            </a:r>
            <a:endParaRPr lang="zh-CN" altLang="en-US" dirty="0"/>
          </a:p>
        </p:txBody>
      </p:sp>
      <p:sp>
        <p:nvSpPr>
          <p:cNvPr id="63490" name="Rectangle 5"/>
          <p:cNvSpPr>
            <a:spLocks noGrp="1" noChangeArrowheads="1"/>
          </p:cNvSpPr>
          <p:nvPr>
            <p:ph idx="1"/>
          </p:nvPr>
        </p:nvSpPr>
        <p:spPr>
          <a:xfrm>
            <a:off x="827088" y="1150938"/>
            <a:ext cx="7659687" cy="4394200"/>
          </a:xfrm>
        </p:spPr>
        <p:txBody>
          <a:bodyPr/>
          <a:lstStyle/>
          <a:p>
            <a:r>
              <a:rPr lang="en-US" altLang="en-US" b="1" dirty="0">
                <a:solidFill>
                  <a:srgbClr val="000000"/>
                </a:solidFill>
                <a:latin typeface="Courier New" panose="02070309020205020404" pitchFamily="49" charset="0"/>
              </a:rPr>
              <a:t>condition x, y;</a:t>
            </a:r>
            <a:endParaRPr lang="en-US" altLang="en-US" dirty="0">
              <a:solidFill>
                <a:srgbClr val="0000FF"/>
              </a:solidFill>
            </a:endParaRPr>
          </a:p>
          <a:p>
            <a:r>
              <a:rPr lang="en-US" altLang="en-US" dirty="0"/>
              <a:t>Two operations are allowed on a condition variable:</a:t>
            </a:r>
            <a:endParaRPr lang="en-US" altLang="en-US" dirty="0"/>
          </a:p>
          <a:p>
            <a:pPr lvl="1"/>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 </a:t>
            </a:r>
            <a:r>
              <a:rPr lang="en-US" altLang="en-US" dirty="0"/>
              <a:t>–  a process that invokes the operation is suspended until </a:t>
            </a:r>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endParaRPr lang="en-US" altLang="en-US" sz="2000" b="1" dirty="0">
              <a:solidFill>
                <a:srgbClr val="000000"/>
              </a:solidFill>
              <a:latin typeface="Courier New" panose="02070309020205020404" pitchFamily="49" charset="0"/>
            </a:endParaRPr>
          </a:p>
          <a:p>
            <a:pPr lvl="1"/>
            <a:r>
              <a:rPr lang="en-US" altLang="en-US" sz="2000" b="1" dirty="0" err="1">
                <a:solidFill>
                  <a:srgbClr val="000000"/>
                </a:solidFill>
                <a:latin typeface="Courier New" panose="02070309020205020404" pitchFamily="49" charset="0"/>
              </a:rPr>
              <a:t>x.signal</a:t>
            </a:r>
            <a:r>
              <a:rPr lang="en-US" altLang="en-US" sz="2000" b="1" dirty="0">
                <a:solidFill>
                  <a:srgbClr val="000000"/>
                </a:solidFill>
                <a:latin typeface="Courier New" panose="02070309020205020404" pitchFamily="49" charset="0"/>
              </a:rPr>
              <a:t>() </a:t>
            </a:r>
            <a:r>
              <a:rPr lang="en-US" altLang="en-US" dirty="0"/>
              <a:t>–</a:t>
            </a:r>
            <a:r>
              <a:rPr lang="en-US" altLang="en-US" dirty="0">
                <a:solidFill>
                  <a:srgbClr val="0000FF"/>
                </a:solidFill>
              </a:rPr>
              <a:t> </a:t>
            </a:r>
            <a:r>
              <a:rPr lang="en-US" altLang="en-US" dirty="0"/>
              <a:t>resumes one of processes</a:t>
            </a:r>
            <a:r>
              <a:rPr lang="en-US" altLang="en-US" dirty="0">
                <a:solidFill>
                  <a:srgbClr val="0000FF"/>
                </a:solidFill>
              </a:rPr>
              <a:t> </a:t>
            </a:r>
            <a:r>
              <a:rPr lang="en-US" altLang="en-US" dirty="0"/>
              <a:t>(if any)</a:t>
            </a:r>
            <a:r>
              <a:rPr lang="en-US" altLang="en-US" dirty="0">
                <a:solidFill>
                  <a:srgbClr val="0000FF"/>
                </a:solidFill>
              </a:rPr>
              <a:t> </a:t>
            </a:r>
            <a:r>
              <a:rPr lang="en-US" altLang="en-US" dirty="0"/>
              <a:t>that</a:t>
            </a:r>
            <a:r>
              <a:rPr lang="en-US" altLang="en-US" dirty="0">
                <a:solidFill>
                  <a:srgbClr val="0000FF"/>
                </a:solidFill>
              </a:rPr>
              <a:t> </a:t>
            </a:r>
            <a:r>
              <a:rPr lang="en-US" altLang="en-US" dirty="0"/>
              <a:t> invoked</a:t>
            </a:r>
            <a:r>
              <a:rPr lang="en-US" altLang="en-US" dirty="0">
                <a:solidFill>
                  <a:srgbClr val="0000FF"/>
                </a:solidFill>
              </a:rPr>
              <a:t>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lvl="2"/>
            <a:r>
              <a:rPr lang="en-US" altLang="en-US" dirty="0"/>
              <a:t>If no </a:t>
            </a:r>
            <a:r>
              <a:rPr lang="en-US" altLang="en-US" sz="2000" b="1" dirty="0" err="1">
                <a:solidFill>
                  <a:srgbClr val="000000"/>
                </a:solidFill>
                <a:latin typeface="Courier New" panose="02070309020205020404" pitchFamily="49" charset="0"/>
              </a:rPr>
              <a:t>x.wait</a:t>
            </a:r>
            <a:r>
              <a:rPr lang="en-US" altLang="en-US" sz="2000" b="1" dirty="0">
                <a:solidFill>
                  <a:srgbClr val="000000"/>
                </a:solidFill>
                <a:latin typeface="Courier New" panose="02070309020205020404" pitchFamily="49" charset="0"/>
              </a:rPr>
              <a:t>()</a:t>
            </a:r>
            <a:r>
              <a:rPr lang="en-US" altLang="en-US" sz="2000" dirty="0">
                <a:solidFill>
                  <a:srgbClr val="0000FF"/>
                </a:solidFill>
              </a:rPr>
              <a:t> </a:t>
            </a:r>
            <a:r>
              <a:rPr lang="en-US" altLang="en-US" dirty="0"/>
              <a:t>on the variable, then it has no effect on the variable</a:t>
            </a:r>
            <a:endParaRPr lang="en-US" alt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p:cNvSpPr>
            <a:spLocks noGrp="1" noChangeArrowheads="1"/>
          </p:cNvSpPr>
          <p:nvPr>
            <p:ph type="title"/>
          </p:nvPr>
        </p:nvSpPr>
        <p:spPr>
          <a:xfrm>
            <a:off x="882650" y="222868"/>
            <a:ext cx="7847013" cy="576262"/>
          </a:xfrm>
        </p:spPr>
        <p:txBody>
          <a:bodyPr/>
          <a:lstStyle/>
          <a:p>
            <a:pPr eaLnBrk="1" hangingPunct="1"/>
            <a:r>
              <a:rPr lang="en-US" altLang="en-US" dirty="0"/>
              <a:t> Monitor with Condition Variables</a:t>
            </a:r>
            <a:endParaRPr lang="en-US" altLang="en-US" dirty="0"/>
          </a:p>
        </p:txBody>
      </p:sp>
      <p:pic>
        <p:nvPicPr>
          <p:cNvPr id="65538" name="Picture 1"/>
          <p:cNvPicPr>
            <a:picLocks noChangeAspect="1"/>
          </p:cNvPicPr>
          <p:nvPr/>
        </p:nvPicPr>
        <p:blipFill>
          <a:blip r:embed="rId1">
            <a:extLst>
              <a:ext uri="{28A0092B-C50C-407E-A947-70E740481C1C}">
                <a14:useLocalDpi xmlns:a14="http://schemas.microsoft.com/office/drawing/2010/main" val="0"/>
              </a:ext>
            </a:extLst>
          </a:blip>
          <a:srcRect/>
          <a:stretch>
            <a:fillRect/>
          </a:stretch>
        </p:blipFill>
        <p:spPr bwMode="auto">
          <a:xfrm>
            <a:off x="1946275" y="1446213"/>
            <a:ext cx="6010275" cy="415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p:cNvSpPr>
            <a:spLocks noGrp="1" noChangeArrowheads="1"/>
          </p:cNvSpPr>
          <p:nvPr>
            <p:ph type="title"/>
          </p:nvPr>
        </p:nvSpPr>
        <p:spPr>
          <a:xfrm>
            <a:off x="709902" y="251392"/>
            <a:ext cx="8642537" cy="457200"/>
          </a:xfrm>
        </p:spPr>
        <p:txBody>
          <a:bodyPr/>
          <a:lstStyle/>
          <a:p>
            <a:pPr eaLnBrk="1" hangingPunct="1"/>
            <a:r>
              <a:rPr lang="en-US" altLang="en-US" dirty="0"/>
              <a:t> Usage of Condition Variable  Example</a:t>
            </a:r>
            <a:endParaRPr lang="en-US" altLang="en-US" dirty="0"/>
          </a:p>
        </p:txBody>
      </p:sp>
      <p:sp>
        <p:nvSpPr>
          <p:cNvPr id="49154" name="Rectangle 3"/>
          <p:cNvSpPr>
            <a:spLocks noGrp="1" noChangeArrowheads="1"/>
          </p:cNvSpPr>
          <p:nvPr>
            <p:ph idx="1"/>
          </p:nvPr>
        </p:nvSpPr>
        <p:spPr>
          <a:xfrm>
            <a:off x="844549" y="1093788"/>
            <a:ext cx="7512798" cy="5044794"/>
          </a:xfrm>
        </p:spPr>
        <p:txBody>
          <a:bodyPr/>
          <a:lstStyle/>
          <a:p>
            <a:pPr>
              <a:tabLst>
                <a:tab pos="2001520" algn="ctr"/>
                <a:tab pos="4512945" algn="ctr"/>
              </a:tabLst>
            </a:pPr>
            <a:r>
              <a:rPr lang="en-US" altLang="en-US" dirty="0">
                <a:sym typeface="MT Extra" panose="05050102010205020202" pitchFamily="18" charset="2"/>
              </a:rPr>
              <a:t>Consider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that that need to execute two statements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i="1" dirty="0">
                <a:sym typeface="MT Extra" panose="05050102010205020202" pitchFamily="18" charset="2"/>
              </a:rPr>
              <a:t> </a:t>
            </a:r>
            <a:r>
              <a:rPr lang="en-US" altLang="en-US" dirty="0">
                <a:sym typeface="MT Extra" panose="05050102010205020202" pitchFamily="18" charset="2"/>
              </a:rPr>
              <a:t>and</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2</a:t>
            </a:r>
            <a:r>
              <a:rPr lang="en-US" altLang="en-US" b="1" i="1" baseline="-25000" dirty="0">
                <a:sym typeface="MT Extra" panose="05050102010205020202" pitchFamily="18" charset="2"/>
              </a:rPr>
              <a:t>   </a:t>
            </a:r>
            <a:r>
              <a:rPr lang="en-US" altLang="en-US" dirty="0">
                <a:sym typeface="MT Extra" panose="05050102010205020202" pitchFamily="18" charset="2"/>
              </a:rPr>
              <a:t>and the requirement </a:t>
            </a:r>
            <a:r>
              <a:rPr lang="en-US" altLang="en-US" b="1" i="1" dirty="0">
                <a:sym typeface="MT Extra" panose="05050102010205020202" pitchFamily="18" charset="2"/>
              </a:rPr>
              <a:t> </a:t>
            </a:r>
            <a:r>
              <a:rPr lang="en-US" altLang="en-US" dirty="0">
                <a:sym typeface="MT Extra" panose="05050102010205020202" pitchFamily="18" charset="2"/>
              </a:rPr>
              <a:t>that</a:t>
            </a:r>
            <a:r>
              <a:rPr lang="en-US" altLang="en-US" b="1" i="1" dirty="0">
                <a:sym typeface="MT Extra" panose="05050102010205020202" pitchFamily="18" charset="2"/>
              </a:rPr>
              <a:t> </a:t>
            </a:r>
            <a:r>
              <a:rPr lang="en-US" altLang="en-US" i="1" dirty="0">
                <a:sym typeface="MT Extra" panose="05050102010205020202" pitchFamily="18" charset="2"/>
              </a:rPr>
              <a:t>S</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to happen before </a:t>
            </a:r>
            <a:r>
              <a:rPr lang="en-US" altLang="en-US" i="1" dirty="0">
                <a:sym typeface="MT Extra" panose="05050102010205020202" pitchFamily="18" charset="2"/>
              </a:rPr>
              <a:t>S</a:t>
            </a:r>
            <a:r>
              <a:rPr lang="en-US" altLang="en-US" i="1" baseline="-25000" dirty="0">
                <a:sym typeface="MT Extra" panose="05050102010205020202" pitchFamily="18" charset="2"/>
              </a:rPr>
              <a:t>2</a:t>
            </a:r>
            <a:endParaRPr lang="en-US" altLang="en-US" i="1" baseline="-25000"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Create a monitor with two procedures </a:t>
            </a:r>
            <a:r>
              <a:rPr lang="en-US" altLang="en-US" i="1" dirty="0">
                <a:sym typeface="MT Extra" panose="05050102010205020202" pitchFamily="18" charset="2"/>
              </a:rPr>
              <a:t>F</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F</a:t>
            </a:r>
            <a:r>
              <a:rPr lang="en-US" altLang="en-US" i="1" baseline="-25000" dirty="0">
                <a:sym typeface="MT Extra" panose="05050102010205020202" pitchFamily="18" charset="2"/>
              </a:rPr>
              <a:t>2</a:t>
            </a:r>
            <a:r>
              <a:rPr lang="en-US" altLang="en-US" dirty="0">
                <a:sym typeface="MT Extra" panose="05050102010205020202" pitchFamily="18" charset="2"/>
              </a:rPr>
              <a:t>  that are invoked by </a:t>
            </a:r>
            <a:r>
              <a:rPr lang="en-US" altLang="en-US" i="1" dirty="0">
                <a:sym typeface="MT Extra" panose="05050102010205020202" pitchFamily="18" charset="2"/>
              </a:rPr>
              <a:t>P</a:t>
            </a:r>
            <a:r>
              <a:rPr lang="en-US" altLang="en-US" i="1" baseline="-25000" dirty="0">
                <a:sym typeface="MT Extra" panose="05050102010205020202" pitchFamily="18" charset="2"/>
              </a:rPr>
              <a:t>1</a:t>
            </a:r>
            <a:r>
              <a:rPr lang="en-US" altLang="en-US" b="1" i="1" dirty="0">
                <a:sym typeface="MT Extra" panose="05050102010205020202" pitchFamily="18" charset="2"/>
              </a:rPr>
              <a:t> </a:t>
            </a:r>
            <a:r>
              <a:rPr lang="en-US" altLang="en-US" dirty="0">
                <a:sym typeface="MT Extra" panose="05050102010205020202" pitchFamily="18" charset="2"/>
              </a:rPr>
              <a:t> and </a:t>
            </a:r>
            <a:r>
              <a:rPr lang="en-US" altLang="en-US" i="1" dirty="0">
                <a:sym typeface="MT Extra" panose="05050102010205020202" pitchFamily="18" charset="2"/>
              </a:rPr>
              <a:t>P</a:t>
            </a:r>
            <a:r>
              <a:rPr lang="en-US" altLang="en-US" i="1" baseline="-25000" dirty="0">
                <a:sym typeface="MT Extra" panose="05050102010205020202" pitchFamily="18" charset="2"/>
              </a:rPr>
              <a:t>2</a:t>
            </a:r>
            <a:r>
              <a:rPr lang="en-US" altLang="en-US" dirty="0">
                <a:sym typeface="MT Extra" panose="05050102010205020202" pitchFamily="18" charset="2"/>
              </a:rPr>
              <a:t>  respectively</a:t>
            </a:r>
            <a:endParaRPr lang="en-US" altLang="en-US" dirty="0">
              <a:sym typeface="MT Extra" panose="05050102010205020202" pitchFamily="18" charset="2"/>
            </a:endParaRPr>
          </a:p>
          <a:p>
            <a:pPr lvl="1">
              <a:tabLst>
                <a:tab pos="2001520" algn="ctr"/>
                <a:tab pos="4512945" algn="ctr"/>
              </a:tabLst>
            </a:pPr>
            <a:r>
              <a:rPr lang="en-US" altLang="en-US" dirty="0">
                <a:sym typeface="MT Extra" panose="05050102010205020202" pitchFamily="18" charset="2"/>
              </a:rPr>
              <a:t>One condition variable “x”</a:t>
            </a:r>
            <a:r>
              <a:rPr lang="en-US" altLang="ja-JP" dirty="0">
                <a:sym typeface="MT Extra" panose="05050102010205020202" pitchFamily="18" charset="2"/>
              </a:rPr>
              <a:t> initialized to 0 </a:t>
            </a:r>
            <a:endParaRPr lang="en-US" altLang="ja-JP" dirty="0">
              <a:sym typeface="MT Extra" panose="05050102010205020202" pitchFamily="18" charset="2"/>
            </a:endParaRPr>
          </a:p>
          <a:p>
            <a:pPr lvl="1">
              <a:tabLst>
                <a:tab pos="2001520" algn="ctr"/>
                <a:tab pos="4512945" algn="ctr"/>
              </a:tabLst>
            </a:pPr>
            <a:r>
              <a:rPr lang="en-US" altLang="ja-JP" dirty="0">
                <a:sym typeface="MT Extra" panose="05050102010205020202" pitchFamily="18" charset="2"/>
              </a:rPr>
              <a:t>One Boolean variable “done”</a:t>
            </a:r>
            <a:endParaRPr lang="en-US" altLang="ja-JP" dirty="0">
              <a:sym typeface="MT Extra" panose="05050102010205020202" pitchFamily="18" charset="2"/>
            </a:endParaRPr>
          </a:p>
          <a:p>
            <a:pPr lvl="1">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F1:</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1</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done = true;</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a:t>
            </a:r>
            <a:r>
              <a:rPr lang="en-US" altLang="en-US" b="1" dirty="0" err="1">
                <a:solidFill>
                  <a:srgbClr val="000000"/>
                </a:solidFill>
                <a:latin typeface="Courier New" panose="02070309020205020404" pitchFamily="49" charset="0"/>
                <a:sym typeface="MT Extra" panose="05050102010205020202" pitchFamily="18" charset="2"/>
              </a:rPr>
              <a:t>x.signal</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1">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F2:</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if done = false</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a:solidFill>
                  <a:srgbClr val="000000"/>
                </a:solidFill>
                <a:latin typeface="Courier New" panose="02070309020205020404" pitchFamily="49" charset="0"/>
                <a:sym typeface="MT Extra" panose="05050102010205020202" pitchFamily="18" charset="2"/>
              </a:rPr>
              <a:t>      x</a:t>
            </a:r>
            <a:r>
              <a:rPr lang="en-US" altLang="en-US" b="1" dirty="0" err="1">
                <a:solidFill>
                  <a:srgbClr val="000000"/>
                </a:solidFill>
                <a:latin typeface="Courier New" panose="02070309020205020404" pitchFamily="49" charset="0"/>
                <a:sym typeface="MT Extra" panose="05050102010205020202" pitchFamily="18" charset="2"/>
              </a:rPr>
              <a:t>.wait</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b="1"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r>
              <a:rPr lang="en-US" altLang="en-US" b="1" dirty="0">
                <a:solidFill>
                  <a:srgbClr val="000000"/>
                </a:solidFill>
                <a:latin typeface="Courier New" panose="02070309020205020404" pitchFamily="49" charset="0"/>
                <a:sym typeface="MT Extra" panose="05050102010205020202" pitchFamily="18" charset="2"/>
              </a:rPr>
              <a:t>   S</a:t>
            </a:r>
            <a:r>
              <a:rPr lang="en-US" altLang="en-US" b="1" baseline="-25000" dirty="0">
                <a:solidFill>
                  <a:srgbClr val="000000"/>
                </a:solidFill>
                <a:latin typeface="Courier New" panose="02070309020205020404" pitchFamily="49" charset="0"/>
                <a:sym typeface="MT Extra" panose="05050102010205020202" pitchFamily="18" charset="2"/>
              </a:rPr>
              <a:t>2</a:t>
            </a:r>
            <a:r>
              <a:rPr lang="en-US" altLang="en-US" b="1" dirty="0">
                <a:solidFill>
                  <a:srgbClr val="000000"/>
                </a:solidFill>
                <a:latin typeface="Courier New" panose="02070309020205020404" pitchFamily="49" charset="0"/>
                <a:sym typeface="MT Extra" panose="05050102010205020202" pitchFamily="18" charset="2"/>
              </a:rPr>
              <a:t>;</a:t>
            </a:r>
            <a:endParaRPr lang="en-US" altLang="en-US" sz="1600" b="1" i="1" baseline="-25000" dirty="0">
              <a:solidFill>
                <a:srgbClr val="000000"/>
              </a:solidFill>
              <a:latin typeface="Courier New" panose="02070309020205020404" pitchFamily="49" charset="0"/>
              <a:sym typeface="MT Extra" panose="05050102010205020202" pitchFamily="18" charset="2"/>
            </a:endParaRPr>
          </a:p>
          <a:p>
            <a:pPr lvl="2">
              <a:buNone/>
              <a:tabLst>
                <a:tab pos="2001520" algn="ctr"/>
                <a:tab pos="4512945" algn="ctr"/>
              </a:tabLst>
            </a:pPr>
            <a:endParaRPr lang="en-US" altLang="en-US" b="1" dirty="0">
              <a:solidFill>
                <a:srgbClr val="000000"/>
              </a:solidFill>
              <a:latin typeface="Courier New" panose="02070309020205020404" pitchFamily="49" charset="0"/>
              <a:sym typeface="MT Extra" panose="05050102010205020202" pitchFamily="18" charset="2"/>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p:cNvSpPr>
            <a:spLocks noGrp="1" noChangeArrowheads="1"/>
          </p:cNvSpPr>
          <p:nvPr>
            <p:ph type="title"/>
          </p:nvPr>
        </p:nvSpPr>
        <p:spPr>
          <a:xfrm>
            <a:off x="997080" y="-147408"/>
            <a:ext cx="8243758" cy="844550"/>
          </a:xfrm>
        </p:spPr>
        <p:txBody>
          <a:bodyPr/>
          <a:lstStyle/>
          <a:p>
            <a:pPr eaLnBrk="1" hangingPunct="1"/>
            <a:r>
              <a:rPr lang="en-US" altLang="en-US" sz="2800" dirty="0"/>
              <a:t>Monitor Implementation Using Semaphores</a:t>
            </a:r>
            <a:endParaRPr lang="en-US" altLang="en-US" sz="2800" dirty="0"/>
          </a:p>
        </p:txBody>
      </p:sp>
      <p:sp>
        <p:nvSpPr>
          <p:cNvPr id="69634" name="Rectangle 3"/>
          <p:cNvSpPr>
            <a:spLocks noGrp="1" noChangeArrowheads="1"/>
          </p:cNvSpPr>
          <p:nvPr>
            <p:ph idx="1"/>
          </p:nvPr>
        </p:nvSpPr>
        <p:spPr>
          <a:xfrm>
            <a:off x="877077" y="1133475"/>
            <a:ext cx="7733523" cy="5243513"/>
          </a:xfrm>
        </p:spPr>
        <p:txBody>
          <a:bodyPr/>
          <a:lstStyle/>
          <a:p>
            <a:pPr>
              <a:lnSpc>
                <a:spcPct val="80000"/>
              </a:lnSpc>
              <a:tabLst>
                <a:tab pos="1887220" algn="l"/>
                <a:tab pos="2334895" algn="l"/>
                <a:tab pos="2506345" algn="l"/>
              </a:tabLst>
            </a:pPr>
            <a:r>
              <a:rPr lang="en-US" altLang="en-US" dirty="0"/>
              <a:t>Variables </a:t>
            </a:r>
            <a:endParaRPr lang="en-US" altLang="en-US" dirty="0"/>
          </a:p>
          <a:p>
            <a:pPr>
              <a:lnSpc>
                <a:spcPct val="80000"/>
              </a:lnSpc>
              <a:buFont typeface="Monotype Sorts" pitchFamily="-84" charset="2"/>
              <a:buNone/>
              <a:tabLst>
                <a:tab pos="1887220" algn="l"/>
                <a:tab pos="2334895" algn="l"/>
                <a:tab pos="2506345" algn="l"/>
              </a:tabLst>
            </a:pPr>
            <a:endParaRPr lang="en-US" altLang="en-US"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mutex;  // (initially  = 1)</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semaphore next;   // (initially  = 0)</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 0; // number of processes waiting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inside the monitor</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Each function </a:t>
            </a:r>
            <a:r>
              <a:rPr lang="en-US" altLang="en-US" b="1" i="1" dirty="0"/>
              <a:t>P</a:t>
            </a:r>
            <a:r>
              <a:rPr lang="en-US" altLang="en-US" dirty="0"/>
              <a:t>  will be replaced by</a:t>
            </a:r>
            <a:endParaRPr lang="en-US" altLang="en-US" dirty="0"/>
          </a:p>
          <a:p>
            <a:pPr>
              <a:lnSpc>
                <a:spcPct val="80000"/>
              </a:lnSpc>
              <a:tabLst>
                <a:tab pos="1887220" algn="l"/>
                <a:tab pos="2334895" algn="l"/>
                <a:tab pos="2506345" algn="l"/>
              </a:tabLst>
            </a:pPr>
            <a:endParaRPr lang="en-US" altLang="en-US" sz="1600" dirty="0"/>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wait(mutex);</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body of P;</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signal(next)</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else </a:t>
            </a:r>
            <a:endParaRPr lang="en-US" altLang="en-US" b="1" dirty="0">
              <a:solidFill>
                <a:srgbClr val="000000"/>
              </a:solidFill>
              <a:latin typeface="Courier New" panose="02070309020205020404" pitchFamily="49" charset="0"/>
            </a:endParaRPr>
          </a:p>
          <a:p>
            <a:pPr>
              <a:lnSpc>
                <a:spcPct val="80000"/>
              </a:lnSpc>
              <a:spcBef>
                <a:spcPct val="15000"/>
              </a:spcBef>
              <a:buFont typeface="Monotype Sorts" pitchFamily="-84" charset="2"/>
              <a:buNone/>
              <a:tabLst>
                <a:tab pos="1887220" algn="l"/>
                <a:tab pos="2334895" algn="l"/>
                <a:tab pos="2506345" algn="l"/>
              </a:tabLst>
            </a:pPr>
            <a:r>
              <a:rPr lang="en-US" altLang="en-US" b="1" dirty="0">
                <a:solidFill>
                  <a:srgbClr val="000000"/>
                </a:solidFill>
                <a:latin typeface="Courier New" panose="02070309020205020404" pitchFamily="49" charset="0"/>
              </a:rPr>
              <a:t>				signal(mutex);</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80000"/>
              </a:lnSpc>
              <a:tabLst>
                <a:tab pos="1887220" algn="l"/>
                <a:tab pos="2334895" algn="l"/>
                <a:tab pos="2506345" algn="l"/>
              </a:tabLst>
            </a:pPr>
            <a:r>
              <a:rPr lang="en-US" altLang="en-US" dirty="0"/>
              <a:t>Mutual exclusion within a monitor is ensured</a:t>
            </a:r>
            <a:endParaRPr lang="en-US"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p:cNvSpPr>
            <a:spLocks noGrp="1" noChangeArrowheads="1"/>
          </p:cNvSpPr>
          <p:nvPr>
            <p:ph type="title"/>
          </p:nvPr>
        </p:nvSpPr>
        <p:spPr>
          <a:xfrm>
            <a:off x="967726" y="173267"/>
            <a:ext cx="8229600" cy="576263"/>
          </a:xfrm>
        </p:spPr>
        <p:txBody>
          <a:bodyPr/>
          <a:lstStyle/>
          <a:p>
            <a:pPr eaLnBrk="1" hangingPunct="1"/>
            <a:r>
              <a:rPr lang="en-US" altLang="en-US" sz="2800" dirty="0"/>
              <a:t> </a:t>
            </a:r>
            <a:r>
              <a:rPr lang="en-US" altLang="en-US" dirty="0"/>
              <a:t>Implementation – Condition Variables</a:t>
            </a:r>
            <a:endParaRPr lang="en-US" altLang="en-US" dirty="0"/>
          </a:p>
        </p:txBody>
      </p:sp>
      <p:sp>
        <p:nvSpPr>
          <p:cNvPr id="71682" name="Rectangle 3"/>
          <p:cNvSpPr>
            <a:spLocks noGrp="1" noChangeArrowheads="1"/>
          </p:cNvSpPr>
          <p:nvPr>
            <p:ph idx="1"/>
          </p:nvPr>
        </p:nvSpPr>
        <p:spPr>
          <a:xfrm>
            <a:off x="893763" y="1190625"/>
            <a:ext cx="7843837" cy="4530725"/>
          </a:xfrm>
        </p:spPr>
        <p:txBody>
          <a:bodyPr/>
          <a:lstStyle/>
          <a:p>
            <a:pPr>
              <a:lnSpc>
                <a:spcPct val="90000"/>
              </a:lnSpc>
              <a:spcBef>
                <a:spcPct val="15000"/>
              </a:spcBef>
              <a:tabLst>
                <a:tab pos="1828800" algn="l"/>
                <a:tab pos="2217420" algn="l"/>
              </a:tabLst>
            </a:pPr>
            <a:r>
              <a:rPr lang="en-US" altLang="en-US" dirty="0"/>
              <a:t>For each condition variable </a:t>
            </a:r>
            <a:r>
              <a:rPr lang="en-US" altLang="en-US" b="1" i="1" dirty="0"/>
              <a:t>x</a:t>
            </a:r>
            <a:r>
              <a:rPr lang="en-US" altLang="en-US" dirty="0"/>
              <a:t>, we  have</a:t>
            </a:r>
            <a:r>
              <a:rPr lang="en-US" altLang="en-US" sz="1600" dirty="0"/>
              <a:t>:</a:t>
            </a:r>
            <a:endParaRPr lang="en-US" altLang="en-US" sz="1600" dirty="0"/>
          </a:p>
          <a:p>
            <a:pPr>
              <a:lnSpc>
                <a:spcPct val="90000"/>
              </a:lnSpc>
              <a:spcBef>
                <a:spcPct val="15000"/>
              </a:spcBef>
              <a:buFont typeface="Monotype Sorts" pitchFamily="-84" charset="2"/>
              <a:buNone/>
              <a:tabLst>
                <a:tab pos="1828800" algn="l"/>
                <a:tab pos="2217420" algn="l"/>
              </a:tabLst>
            </a:pP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semaphore </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 // (initially  = 0)</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int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 = 0;</a:t>
            </a:r>
            <a:br>
              <a:rPr lang="en-US" altLang="en-US" b="1" dirty="0">
                <a:solidFill>
                  <a:srgbClr val="000000"/>
                </a:solidFill>
                <a:latin typeface="Courier New" panose="02070309020205020404" pitchFamily="49" charset="0"/>
              </a:rPr>
            </a:br>
            <a:endParaRPr lang="en-US" altLang="en-US" b="1" dirty="0">
              <a:solidFill>
                <a:srgbClr val="000000"/>
              </a:solidFill>
              <a:latin typeface="Courier New" panose="02070309020205020404" pitchFamily="49" charset="0"/>
            </a:endParaRPr>
          </a:p>
          <a:p>
            <a:pPr>
              <a:lnSpc>
                <a:spcPct val="90000"/>
              </a:lnSpc>
              <a:spcBef>
                <a:spcPct val="15000"/>
              </a:spcBef>
              <a:tabLst>
                <a:tab pos="1828800" algn="l"/>
                <a:tab pos="2217420" algn="l"/>
              </a:tabLst>
            </a:pPr>
            <a:r>
              <a:rPr lang="en-US" altLang="en-US" dirty="0"/>
              <a:t>The operation </a:t>
            </a:r>
            <a:r>
              <a:rPr lang="en-US" altLang="en-US" b="1" dirty="0" err="1">
                <a:latin typeface="Courier New" panose="02070309020205020404" pitchFamily="49" charset="0"/>
                <a:cs typeface="Courier New" panose="02070309020205020404" pitchFamily="49" charset="0"/>
              </a:rPr>
              <a:t>x.wait</a:t>
            </a:r>
            <a:r>
              <a:rPr lang="en-US" altLang="en-US" b="1" dirty="0">
                <a:latin typeface="Courier New" panose="02070309020205020404" pitchFamily="49" charset="0"/>
                <a:cs typeface="Courier New" panose="02070309020205020404" pitchFamily="49" charset="0"/>
              </a:rPr>
              <a:t>() </a:t>
            </a:r>
            <a:r>
              <a:rPr lang="en-US" altLang="en-US" dirty="0"/>
              <a:t>can be implemented as</a:t>
            </a:r>
            <a:r>
              <a:rPr lang="en-US" altLang="en-US" sz="1600" dirty="0"/>
              <a:t>:</a:t>
            </a: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sz="1600" dirty="0"/>
              <a:t>		</a:t>
            </a:r>
            <a:endParaRPr lang="en-US" altLang="en-US" sz="1600" dirty="0"/>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if (</a:t>
            </a:r>
            <a:r>
              <a:rPr lang="en-US" altLang="en-US" b="1" dirty="0" err="1">
                <a:solidFill>
                  <a:srgbClr val="000000"/>
                </a:solidFill>
                <a:latin typeface="Courier New" panose="02070309020205020404" pitchFamily="49" charset="0"/>
              </a:rPr>
              <a:t>next_count</a:t>
            </a:r>
            <a:r>
              <a:rPr lang="en-US" altLang="en-US" b="1" dirty="0">
                <a:solidFill>
                  <a:srgbClr val="000000"/>
                </a:solidFill>
                <a:latin typeface="Courier New" panose="02070309020205020404" pitchFamily="49" charset="0"/>
              </a:rPr>
              <a:t> &gt; 0)</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signal(next);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else</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signal(mutex);</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wait(</a:t>
            </a:r>
            <a:r>
              <a:rPr lang="en-US" altLang="en-US" b="1" dirty="0" err="1">
                <a:solidFill>
                  <a:srgbClr val="000000"/>
                </a:solidFill>
                <a:latin typeface="Courier New" panose="02070309020205020404" pitchFamily="49" charset="0"/>
              </a:rPr>
              <a:t>x_sem</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b="1" dirty="0">
                <a:solidFill>
                  <a:srgbClr val="000000"/>
                </a:solidFill>
                <a:latin typeface="Courier New" panose="02070309020205020404" pitchFamily="49" charset="0"/>
              </a:rPr>
              <a:t>		</a:t>
            </a:r>
            <a:r>
              <a:rPr lang="en-US" altLang="en-US" b="1" dirty="0" err="1">
                <a:solidFill>
                  <a:srgbClr val="000000"/>
                </a:solidFill>
                <a:latin typeface="Courier New" panose="02070309020205020404" pitchFamily="49" charset="0"/>
              </a:rPr>
              <a:t>x_count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90000"/>
              </a:lnSpc>
              <a:spcBef>
                <a:spcPct val="15000"/>
              </a:spcBef>
              <a:buFont typeface="Monotype Sorts" pitchFamily="-84" charset="2"/>
              <a:buNone/>
              <a:tabLst>
                <a:tab pos="1828800" algn="l"/>
                <a:tab pos="2217420" algn="l"/>
              </a:tabLst>
            </a:pPr>
            <a:r>
              <a:rPr lang="en-US" altLang="en-US" sz="1600" b="1" dirty="0"/>
              <a:t>		</a:t>
            </a:r>
            <a:endParaRPr lang="en-US" altLang="en-US" sz="1600" b="1"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p:cNvSpPr>
            <a:spLocks noGrp="1" noChangeArrowheads="1"/>
          </p:cNvSpPr>
          <p:nvPr>
            <p:ph type="title"/>
          </p:nvPr>
        </p:nvSpPr>
        <p:spPr>
          <a:xfrm>
            <a:off x="933450" y="195298"/>
            <a:ext cx="7753350" cy="576263"/>
          </a:xfrm>
        </p:spPr>
        <p:txBody>
          <a:bodyPr/>
          <a:lstStyle/>
          <a:p>
            <a:pPr eaLnBrk="1" hangingPunct="1"/>
            <a:r>
              <a:rPr lang="en-US" altLang="en-US" dirty="0"/>
              <a:t>Implementation (Cont.)</a:t>
            </a:r>
            <a:endParaRPr lang="en-US" altLang="en-US" dirty="0"/>
          </a:p>
        </p:txBody>
      </p:sp>
      <p:sp>
        <p:nvSpPr>
          <p:cNvPr id="73730" name="Rectangle 3"/>
          <p:cNvSpPr>
            <a:spLocks noGrp="1" noChangeArrowheads="1"/>
          </p:cNvSpPr>
          <p:nvPr>
            <p:ph idx="1"/>
          </p:nvPr>
        </p:nvSpPr>
        <p:spPr/>
        <p:txBody>
          <a:bodyPr/>
          <a:lstStyle/>
          <a:p>
            <a:pPr>
              <a:tabLst>
                <a:tab pos="1368425" algn="l"/>
                <a:tab pos="1712595" algn="l"/>
                <a:tab pos="2334895" algn="l"/>
              </a:tabLst>
            </a:pPr>
            <a:r>
              <a:rPr lang="en-US" altLang="en-US"/>
              <a:t>The operation </a:t>
            </a:r>
            <a:r>
              <a:rPr lang="en-US" altLang="en-US" b="1">
                <a:solidFill>
                  <a:srgbClr val="000000"/>
                </a:solidFill>
                <a:latin typeface="Courier New" panose="02070309020205020404" pitchFamily="49" charset="0"/>
              </a:rPr>
              <a:t>x.signal() </a:t>
            </a:r>
            <a:r>
              <a:rPr lang="en-US" altLang="en-US"/>
              <a:t>can be implemented as:</a:t>
            </a:r>
            <a:br>
              <a:rPr lang="en-US" altLang="en-US"/>
            </a:br>
            <a:endParaRPr lang="en-US" altLang="en-US"/>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if (x_count &gt; 0) {</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next_count++;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signal(x_sem);</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wait(next);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next_count--;</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solidFill>
                  <a:srgbClr val="000000"/>
                </a:solidFill>
                <a:latin typeface="Courier New" panose="02070309020205020404" pitchFamily="49" charset="0"/>
              </a:rPr>
              <a:t>		}</a:t>
            </a:r>
            <a:endParaRPr lang="en-US" altLang="en-US" b="1">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b="1"/>
              <a:t>		</a:t>
            </a:r>
            <a:r>
              <a:rPr lang="en-US" altLang="en-US"/>
              <a:t>	</a:t>
            </a:r>
            <a:endParaRPr lang="en-US"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972207" y="197632"/>
            <a:ext cx="8229600" cy="576262"/>
          </a:xfrm>
        </p:spPr>
        <p:txBody>
          <a:bodyPr/>
          <a:lstStyle/>
          <a:p>
            <a:r>
              <a:rPr lang="en-US" altLang="en-US" dirty="0"/>
              <a:t>Resuming Processes within a Monitor</a:t>
            </a:r>
            <a:endParaRPr lang="en-US" altLang="en-US" dirty="0"/>
          </a:p>
        </p:txBody>
      </p:sp>
      <p:sp>
        <p:nvSpPr>
          <p:cNvPr id="75778" name="Content Placeholder 2"/>
          <p:cNvSpPr>
            <a:spLocks noGrp="1"/>
          </p:cNvSpPr>
          <p:nvPr>
            <p:ph idx="1"/>
          </p:nvPr>
        </p:nvSpPr>
        <p:spPr>
          <a:xfrm>
            <a:off x="816069" y="1233488"/>
            <a:ext cx="6181631" cy="4545012"/>
          </a:xfrm>
        </p:spPr>
        <p:txBody>
          <a:bodyPr/>
          <a:lstStyle/>
          <a:p>
            <a:r>
              <a:rPr lang="en-US" altLang="en-US" dirty="0"/>
              <a:t>If several processes queued on condition variable </a:t>
            </a:r>
            <a:r>
              <a:rPr lang="en-US" altLang="en-US" sz="2000" b="1" dirty="0">
                <a:latin typeface="Courier New" panose="02070309020205020404" pitchFamily="49" charset="0"/>
                <a:cs typeface="Courier New" panose="02070309020205020404" pitchFamily="49" charset="0"/>
              </a:rPr>
              <a:t>x</a:t>
            </a:r>
            <a:r>
              <a:rPr lang="en-US" altLang="en-US" dirty="0"/>
              <a:t>, and </a:t>
            </a:r>
            <a:r>
              <a:rPr lang="en-US" altLang="en-US" sz="2000" b="1" dirty="0" err="1">
                <a:latin typeface="Courier New" panose="02070309020205020404" pitchFamily="49" charset="0"/>
                <a:cs typeface="Courier New" panose="02070309020205020404" pitchFamily="49" charset="0"/>
              </a:rPr>
              <a:t>x.signal</a:t>
            </a:r>
            <a:r>
              <a:rPr lang="en-US" altLang="en-US" sz="2000" b="1" dirty="0">
                <a:latin typeface="Courier New" panose="02070309020205020404" pitchFamily="49" charset="0"/>
                <a:cs typeface="Courier New" panose="02070309020205020404" pitchFamily="49" charset="0"/>
              </a:rPr>
              <a:t>() </a:t>
            </a:r>
            <a:r>
              <a:rPr lang="en-US" altLang="en-US" dirty="0"/>
              <a:t>is executed, which process should be resumed?</a:t>
            </a:r>
            <a:endParaRPr lang="en-US" altLang="en-US" dirty="0"/>
          </a:p>
          <a:p>
            <a:r>
              <a:rPr lang="en-US" altLang="en-US" dirty="0"/>
              <a:t>FCFS frequently not adequate </a:t>
            </a:r>
            <a:endParaRPr lang="en-US" altLang="en-US" dirty="0"/>
          </a:p>
          <a:p>
            <a:r>
              <a:rPr lang="en-US" altLang="en-US" dirty="0"/>
              <a:t>Use</a:t>
            </a:r>
            <a:r>
              <a:rPr lang="en-US" altLang="en-US" b="1" dirty="0">
                <a:solidFill>
                  <a:srgbClr val="0000FF"/>
                </a:solidFill>
              </a:rPr>
              <a:t>  </a:t>
            </a:r>
            <a:r>
              <a:rPr lang="en-US" altLang="en-US" dirty="0"/>
              <a:t>the </a:t>
            </a:r>
            <a:r>
              <a:rPr lang="en-US" altLang="en-US" b="1" dirty="0">
                <a:solidFill>
                  <a:srgbClr val="006699"/>
                </a:solidFill>
                <a:latin typeface="+mj-lt"/>
              </a:rPr>
              <a:t>conditional-wait </a:t>
            </a:r>
            <a:r>
              <a:rPr lang="en-US" altLang="en-US" dirty="0"/>
              <a:t>construct of the form   </a:t>
            </a:r>
            <a:endParaRPr lang="en-US" altLang="en-US" dirty="0"/>
          </a:p>
          <a:p>
            <a:pPr marL="0" indent="0">
              <a:buNone/>
            </a:pPr>
            <a:r>
              <a:rPr lang="en-US" altLang="en-US" sz="2000" b="1" dirty="0">
                <a:latin typeface="Courier New" panose="02070309020205020404" pitchFamily="49" charset="0"/>
                <a:cs typeface="Courier New" panose="02070309020205020404" pitchFamily="49" charset="0"/>
              </a:rPr>
              <a:t>        </a:t>
            </a:r>
            <a:r>
              <a:rPr lang="en-US" altLang="en-US" sz="2000" b="1" dirty="0" err="1">
                <a:latin typeface="Courier New" panose="02070309020205020404" pitchFamily="49" charset="0"/>
                <a:cs typeface="Courier New" panose="02070309020205020404" pitchFamily="49" charset="0"/>
              </a:rPr>
              <a:t>x.wait</a:t>
            </a:r>
            <a:r>
              <a:rPr lang="en-US" altLang="en-US" sz="2000" b="1" dirty="0">
                <a:latin typeface="Courier New" panose="02070309020205020404" pitchFamily="49" charset="0"/>
                <a:cs typeface="Courier New" panose="02070309020205020404" pitchFamily="49" charset="0"/>
              </a:rPr>
              <a:t>(c)</a:t>
            </a:r>
            <a:endParaRPr lang="en-US" altLang="en-US" sz="2000" b="1" dirty="0">
              <a:latin typeface="Courier New" panose="02070309020205020404" pitchFamily="49" charset="0"/>
              <a:cs typeface="Courier New" panose="02070309020205020404" pitchFamily="49" charset="0"/>
            </a:endParaRPr>
          </a:p>
          <a:p>
            <a:pPr marL="0" indent="0">
              <a:buNone/>
            </a:pPr>
            <a:r>
              <a:rPr lang="en-US" altLang="en-US" sz="2000" b="1" dirty="0">
                <a:latin typeface="Courier New" panose="02070309020205020404" pitchFamily="49" charset="0"/>
                <a:cs typeface="Courier New" panose="02070309020205020404" pitchFamily="49" charset="0"/>
              </a:rPr>
              <a:t>  </a:t>
            </a:r>
            <a:r>
              <a:rPr lang="en-US" altLang="en-US" dirty="0"/>
              <a:t>where:</a:t>
            </a:r>
            <a:endParaRPr lang="en-US" altLang="en-US" dirty="0"/>
          </a:p>
          <a:p>
            <a:pPr lvl="1"/>
            <a:r>
              <a:rPr lang="en-US" altLang="en-US" sz="2000" b="1" dirty="0">
                <a:latin typeface="Courier New" panose="02070309020205020404" pitchFamily="49" charset="0"/>
                <a:cs typeface="Courier New" panose="02070309020205020404" pitchFamily="49" charset="0"/>
              </a:rPr>
              <a:t>c</a:t>
            </a:r>
            <a:r>
              <a:rPr lang="en-US" altLang="en-US" dirty="0"/>
              <a:t> is an integer (called the priority number)</a:t>
            </a:r>
            <a:endParaRPr lang="en-US" altLang="en-US" b="1" dirty="0">
              <a:solidFill>
                <a:srgbClr val="0000FF"/>
              </a:solidFill>
            </a:endParaRPr>
          </a:p>
          <a:p>
            <a:pPr lvl="1"/>
            <a:r>
              <a:rPr lang="en-US" altLang="en-US" dirty="0"/>
              <a:t>The process with lowest number (highest priority) is scheduled next</a:t>
            </a:r>
            <a:endParaRPr lang="en-US" alt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endParaRPr lang="en-US" altLang="en-US" dirty="0"/>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R is an instance of  type </a:t>
            </a:r>
            <a:r>
              <a:rPr lang="en-US" altLang="en-US" sz="2000" b="1" dirty="0" err="1">
                <a:solidFill>
                  <a:srgbClr val="000000"/>
                </a:solidFill>
                <a:latin typeface="Courier New" panose="02070309020205020404" pitchFamily="49" charset="0"/>
              </a:rPr>
              <a:t>ResourceAllocator</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endParaRPr lang="en-US" altLang="en-US" i="1" dirty="0">
              <a:solidFill>
                <a:srgbClr val="0000FF"/>
              </a:solidFill>
            </a:endParaRPr>
          </a:p>
        </p:txBody>
      </p:sp>
      <p:sp>
        <p:nvSpPr>
          <p:cNvPr id="76802" name="Rectangle 2"/>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endParaRPr lang="en-US" altLang="en-US" sz="3200" b="1" dirty="0">
              <a:solidFill>
                <a:srgbClr val="006699"/>
              </a:solidFill>
              <a:latin typeface="Arial" panose="020B0604020202020204" pitchFamily="34" charset="0"/>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3"/>
          <p:cNvSpPr>
            <a:spLocks noGrp="1" noChangeArrowheads="1"/>
          </p:cNvSpPr>
          <p:nvPr>
            <p:ph idx="1"/>
          </p:nvPr>
        </p:nvSpPr>
        <p:spPr>
          <a:xfrm>
            <a:off x="818362" y="998376"/>
            <a:ext cx="7709816" cy="5042062"/>
          </a:xfrm>
        </p:spPr>
        <p:txBody>
          <a:bodyPr/>
          <a:lstStyle/>
          <a:p>
            <a:pPr>
              <a:lnSpc>
                <a:spcPct val="80000"/>
              </a:lnSpc>
              <a:buFont typeface="Monotype Sorts" pitchFamily="-84" charset="2"/>
              <a:buNone/>
            </a:pPr>
            <a:endParaRPr lang="en-US" altLang="en-US" sz="1600" dirty="0">
              <a:solidFill>
                <a:srgbClr val="0000FF"/>
              </a:solidFill>
            </a:endParaRPr>
          </a:p>
          <a:p>
            <a:pPr>
              <a:lnSpc>
                <a:spcPct val="80000"/>
              </a:lnSpc>
            </a:pPr>
            <a:r>
              <a:rPr lang="en-US" altLang="en-US" dirty="0"/>
              <a:t>Allocate a single resource among competing processes using priority numbers that specifies  the maximum time a process  plans to use the resource</a:t>
            </a:r>
            <a:endParaRPr lang="en-US" altLang="en-US" dirty="0"/>
          </a:p>
          <a:p>
            <a:pPr>
              <a:lnSpc>
                <a:spcPct val="80000"/>
              </a:lnSpc>
            </a:pPr>
            <a:r>
              <a:rPr lang="en-US" altLang="en-US" dirty="0"/>
              <a:t>The process with the shortest time is allocated the resource first</a:t>
            </a:r>
            <a:endParaRPr lang="en-US" altLang="en-US" dirty="0"/>
          </a:p>
          <a:p>
            <a:pPr>
              <a:lnSpc>
                <a:spcPct val="80000"/>
              </a:lnSpc>
            </a:pPr>
            <a:r>
              <a:rPr lang="en-US" altLang="en-US" dirty="0"/>
              <a:t>Let R is an instance of  type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(next slide)</a:t>
            </a:r>
            <a:endParaRPr lang="en-US" altLang="en-US" dirty="0"/>
          </a:p>
          <a:p>
            <a:pPr>
              <a:lnSpc>
                <a:spcPct val="80000"/>
              </a:lnSpc>
            </a:pPr>
            <a:r>
              <a:rPr lang="en-US" altLang="en-US" dirty="0"/>
              <a:t>Access to </a:t>
            </a:r>
            <a:r>
              <a:rPr lang="en-US" altLang="en-US" sz="2000" b="1" dirty="0" err="1">
                <a:solidFill>
                  <a:srgbClr val="000000"/>
                </a:solidFill>
                <a:latin typeface="Courier New" panose="02070309020205020404" pitchFamily="49" charset="0"/>
              </a:rPr>
              <a:t>ResourceAllocator</a:t>
            </a:r>
            <a:r>
              <a:rPr lang="en-US" altLang="en-US" sz="2000" b="1" dirty="0">
                <a:solidFill>
                  <a:srgbClr val="000000"/>
                </a:solidFill>
                <a:latin typeface="Courier New" panose="02070309020205020404" pitchFamily="49" charset="0"/>
              </a:rPr>
              <a:t> </a:t>
            </a:r>
            <a:r>
              <a:rPr lang="en-US" altLang="en-US" dirty="0"/>
              <a:t>is done via:</a:t>
            </a:r>
            <a:endParaRPr lang="en-US" altLang="en-US" dirty="0"/>
          </a:p>
          <a:p>
            <a:pPr>
              <a:lnSpc>
                <a:spcPct val="80000"/>
              </a:lnSpc>
              <a:buFont typeface="Monotype Sorts" pitchFamily="-84" charset="2"/>
              <a:buNone/>
            </a:pPr>
            <a:endParaRPr lang="en-US" altLang="en-US" dirty="0"/>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R.acquire</a:t>
            </a:r>
            <a:r>
              <a:rPr lang="en-US" altLang="en-US" sz="2000" b="1" dirty="0">
                <a:solidFill>
                  <a:srgbClr val="000000"/>
                </a:solidFill>
                <a:latin typeface="Courier New" panose="02070309020205020404" pitchFamily="49" charset="0"/>
              </a:rPr>
              <a:t>(t)</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access the </a:t>
            </a:r>
            <a:r>
              <a:rPr lang="en-US" altLang="en-US" b="1" dirty="0" err="1">
                <a:solidFill>
                  <a:srgbClr val="000000"/>
                </a:solidFill>
                <a:latin typeface="Courier New" panose="02070309020205020404" pitchFamily="49" charset="0"/>
              </a:rPr>
              <a:t>resurce</a:t>
            </a:r>
            <a:r>
              <a:rPr lang="en-US" altLang="en-US" b="1" dirty="0">
                <a:solidFill>
                  <a:srgbClr val="000000"/>
                </a:solidFill>
                <a:latin typeface="Courier New" panose="02070309020205020404" pitchFamily="49" charset="0"/>
              </a:rPr>
              <a:t>;</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endParaRPr lang="en-US" altLang="en-US" b="1" dirty="0">
              <a:solidFill>
                <a:srgbClr val="000000"/>
              </a:solidFill>
              <a:latin typeface="Courier New" panose="02070309020205020404" pitchFamily="49" charset="0"/>
            </a:endParaRPr>
          </a:p>
          <a:p>
            <a:pPr>
              <a:lnSpc>
                <a:spcPct val="80000"/>
              </a:lnSpc>
              <a:buFont typeface="Monotype Sorts" pitchFamily="-84" charset="2"/>
              <a:buNone/>
            </a:pPr>
            <a:r>
              <a:rPr lang="en-US" altLang="en-US" b="1" dirty="0">
                <a:solidFill>
                  <a:srgbClr val="000000"/>
                </a:solidFill>
                <a:latin typeface="Courier New" panose="02070309020205020404" pitchFamily="49" charset="0"/>
              </a:rPr>
              <a:t>              </a:t>
            </a:r>
            <a:r>
              <a:rPr lang="en-US" altLang="en-US" sz="2000" b="1" dirty="0" err="1">
                <a:solidFill>
                  <a:srgbClr val="000000"/>
                </a:solidFill>
                <a:latin typeface="Courier New" panose="02070309020205020404" pitchFamily="49" charset="0"/>
              </a:rPr>
              <a:t>R.release</a:t>
            </a:r>
            <a:r>
              <a:rPr lang="en-US" altLang="en-US" sz="2000" b="1" dirty="0">
                <a:solidFill>
                  <a:srgbClr val="000000"/>
                </a:solidFill>
                <a:latin typeface="Courier New" panose="02070309020205020404" pitchFamily="49" charset="0"/>
              </a:rPr>
              <a:t>;</a:t>
            </a: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pPr>
            <a:r>
              <a:rPr lang="en-US" altLang="en-US" dirty="0"/>
              <a:t>Where </a:t>
            </a:r>
            <a:r>
              <a:rPr lang="en-US" altLang="en-US" sz="2000" b="1" dirty="0">
                <a:solidFill>
                  <a:srgbClr val="000000"/>
                </a:solidFill>
                <a:latin typeface="Courier New" panose="02070309020205020404" pitchFamily="49" charset="0"/>
              </a:rPr>
              <a:t>t</a:t>
            </a:r>
            <a:r>
              <a:rPr lang="en-US" altLang="en-US" dirty="0"/>
              <a:t> is the maximum time a process plans to use the resource</a:t>
            </a:r>
            <a:endParaRPr lang="en-US" altLang="en-US" dirty="0"/>
          </a:p>
          <a:p>
            <a:pPr>
              <a:lnSpc>
                <a:spcPct val="80000"/>
              </a:lnSpc>
            </a:pPr>
            <a:endParaRPr lang="en-US" altLang="en-US" sz="2000" b="1" dirty="0">
              <a:solidFill>
                <a:srgbClr val="000000"/>
              </a:solidFill>
              <a:latin typeface="Courier New" panose="02070309020205020404" pitchFamily="49" charset="0"/>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endParaRPr lang="en-US" altLang="en-US" dirty="0">
              <a:solidFill>
                <a:srgbClr val="0000FF"/>
              </a:solidFill>
            </a:endParaRPr>
          </a:p>
          <a:p>
            <a:pPr>
              <a:lnSpc>
                <a:spcPct val="80000"/>
              </a:lnSpc>
              <a:buFont typeface="Monotype Sorts" pitchFamily="-84" charset="2"/>
              <a:buNone/>
            </a:pPr>
            <a:r>
              <a:rPr lang="en-US" altLang="en-US" i="1" dirty="0">
                <a:solidFill>
                  <a:srgbClr val="0000FF"/>
                </a:solidFill>
              </a:rPr>
              <a:t>       </a:t>
            </a:r>
            <a:endParaRPr lang="en-US" altLang="en-US" i="1" dirty="0">
              <a:solidFill>
                <a:srgbClr val="0000FF"/>
              </a:solidFill>
            </a:endParaRPr>
          </a:p>
        </p:txBody>
      </p:sp>
      <p:sp>
        <p:nvSpPr>
          <p:cNvPr id="76802" name="Rectangle 2"/>
          <p:cNvSpPr>
            <a:spLocks noChangeArrowheads="1"/>
          </p:cNvSpPr>
          <p:nvPr/>
        </p:nvSpPr>
        <p:spPr bwMode="auto">
          <a:xfrm>
            <a:off x="855686" y="133671"/>
            <a:ext cx="7916863"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6" tIns="45714" rIns="91426" bIns="45714" anchor="b"/>
          <a:lstStyle>
            <a:lvl1pPr>
              <a:defRPr>
                <a:solidFill>
                  <a:schemeClr val="tx1"/>
                </a:solidFill>
                <a:latin typeface="Verdana" panose="020B0604030504040204" pitchFamily="34" charset="0"/>
                <a:ea typeface="MS PGothic" panose="020B0600070205080204" pitchFamily="34" charset="-128"/>
              </a:defRPr>
            </a:lvl1pPr>
            <a:lvl2pPr marL="742950" indent="-285750">
              <a:defRPr>
                <a:solidFill>
                  <a:schemeClr val="tx1"/>
                </a:solidFill>
                <a:latin typeface="Verdana" panose="020B0604030504040204" pitchFamily="34" charset="0"/>
                <a:ea typeface="MS PGothic" panose="020B0600070205080204" pitchFamily="34" charset="-128"/>
              </a:defRPr>
            </a:lvl2pPr>
            <a:lvl3pPr marL="1143000" indent="-228600">
              <a:defRPr>
                <a:solidFill>
                  <a:schemeClr val="tx1"/>
                </a:solidFill>
                <a:latin typeface="Verdana" panose="020B0604030504040204" pitchFamily="34" charset="0"/>
                <a:ea typeface="MS PGothic" panose="020B0600070205080204" pitchFamily="34" charset="-128"/>
              </a:defRPr>
            </a:lvl3pPr>
            <a:lvl4pPr marL="1600200" indent="-228600">
              <a:defRPr>
                <a:solidFill>
                  <a:schemeClr val="tx1"/>
                </a:solidFill>
                <a:latin typeface="Verdana" panose="020B0604030504040204" pitchFamily="34" charset="0"/>
                <a:ea typeface="MS PGothic" panose="020B0600070205080204" pitchFamily="34" charset="-128"/>
              </a:defRPr>
            </a:lvl4pPr>
            <a:lvl5pPr marL="2057400" indent="-228600">
              <a:defRPr>
                <a:solidFill>
                  <a:schemeClr val="tx1"/>
                </a:solidFill>
                <a:latin typeface="Verdana" panose="020B0604030504040204" pitchFamily="34" charset="0"/>
                <a:ea typeface="MS PGothic" panose="020B0600070205080204" pitchFamily="34" charset="-128"/>
              </a:defRPr>
            </a:lvl5pPr>
            <a:lvl6pPr marL="25146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6pPr>
            <a:lvl7pPr marL="29718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7pPr>
            <a:lvl8pPr marL="34290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8pPr>
            <a:lvl9pPr marL="3886200" indent="-228600" eaLnBrk="0" fontAlgn="base" hangingPunct="0">
              <a:spcBef>
                <a:spcPct val="0"/>
              </a:spcBef>
              <a:spcAft>
                <a:spcPct val="0"/>
              </a:spcAft>
              <a:defRPr>
                <a:solidFill>
                  <a:schemeClr val="tx1"/>
                </a:solidFill>
                <a:latin typeface="Verdana" panose="020B0604030504040204" pitchFamily="34" charset="0"/>
                <a:ea typeface="MS PGothic" panose="020B0600070205080204" pitchFamily="34" charset="-128"/>
              </a:defRPr>
            </a:lvl9pPr>
          </a:lstStyle>
          <a:p>
            <a:pPr algn="ctr" eaLnBrk="1" hangingPunct="1"/>
            <a:r>
              <a:rPr lang="en-US" altLang="en-US" sz="3200" b="1" dirty="0">
                <a:solidFill>
                  <a:srgbClr val="006699"/>
                </a:solidFill>
                <a:latin typeface="Arial" panose="020B0604020202020204" pitchFamily="34" charset="0"/>
              </a:rPr>
              <a:t>Single Resource allocation </a:t>
            </a:r>
            <a:endParaRPr lang="en-US" altLang="en-US" sz="3200" b="1" dirty="0">
              <a:solidFill>
                <a:srgbClr val="006699"/>
              </a:solidFill>
              <a:latin typeface="Arial" panose="020B0604020202020204" pitchFamily="34" charset="0"/>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p:cNvSpPr>
            <a:spLocks noGrp="1" noChangeArrowheads="1"/>
          </p:cNvSpPr>
          <p:nvPr>
            <p:ph type="title"/>
          </p:nvPr>
        </p:nvSpPr>
        <p:spPr>
          <a:xfrm>
            <a:off x="1299900" y="172650"/>
            <a:ext cx="7729799" cy="576262"/>
          </a:xfrm>
        </p:spPr>
        <p:txBody>
          <a:bodyPr/>
          <a:lstStyle/>
          <a:p>
            <a:pPr eaLnBrk="1" hangingPunct="1"/>
            <a:r>
              <a:rPr lang="en-US" altLang="en-US" dirty="0"/>
              <a:t>A Monitor to Allocate Single Resource</a:t>
            </a:r>
            <a:endParaRPr lang="en-US" altLang="en-US" dirty="0"/>
          </a:p>
        </p:txBody>
      </p:sp>
      <p:sp>
        <p:nvSpPr>
          <p:cNvPr id="78850" name="Rectangle 3"/>
          <p:cNvSpPr>
            <a:spLocks noGrp="1" noChangeArrowheads="1"/>
          </p:cNvSpPr>
          <p:nvPr>
            <p:ph idx="1"/>
          </p:nvPr>
        </p:nvSpPr>
        <p:spPr>
          <a:xfrm>
            <a:off x="1646238" y="766763"/>
            <a:ext cx="6235700" cy="5024437"/>
          </a:xfrm>
        </p:spPr>
        <p:txBody>
          <a:bodyPr/>
          <a:lstStyle/>
          <a:p>
            <a:pPr>
              <a:buFont typeface="Monotype Sorts" pitchFamily="-84" charset="2"/>
              <a:buNone/>
              <a:tabLst>
                <a:tab pos="1368425" algn="l"/>
                <a:tab pos="1712595" algn="l"/>
                <a:tab pos="2334895" algn="l"/>
              </a:tabLst>
            </a:pPr>
            <a:endParaRPr lang="en-US" altLang="en-US" sz="1400" dirty="0"/>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monitor </a:t>
            </a:r>
            <a:r>
              <a:rPr lang="en-US" altLang="en-US" sz="1600" b="1" dirty="0" err="1">
                <a:solidFill>
                  <a:srgbClr val="000000"/>
                </a:solidFill>
                <a:latin typeface="Courier New" panose="02070309020205020404" pitchFamily="49" charset="0"/>
              </a:rPr>
              <a:t>ResourceAllocator</a:t>
            </a:r>
            <a:r>
              <a:rPr lang="en-US" altLang="en-US" sz="1600" b="1" dirty="0">
                <a:solidFill>
                  <a:srgbClr val="000000"/>
                </a:solidFill>
                <a:latin typeface="Courier New" panose="02070309020205020404" pitchFamily="49" charset="0"/>
              </a:rPr>
              <a:t>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boolean</a:t>
            </a:r>
            <a:r>
              <a:rPr lang="en-US" altLang="en-US" sz="1600" b="1" dirty="0">
                <a:solidFill>
                  <a:srgbClr val="000000"/>
                </a:solidFill>
                <a:latin typeface="Courier New" panose="02070309020205020404" pitchFamily="49" charset="0"/>
              </a:rPr>
              <a:t> busy;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condition x;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void acquire(int time) {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if (busy)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x.wait</a:t>
            </a:r>
            <a:r>
              <a:rPr lang="en-US" altLang="en-US" sz="1600" b="1" dirty="0">
                <a:solidFill>
                  <a:srgbClr val="000000"/>
                </a:solidFill>
                <a:latin typeface="Courier New" panose="02070309020205020404" pitchFamily="49" charset="0"/>
              </a:rPr>
              <a:t>(time);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busy = true;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void release() {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busy = false;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a:t>
            </a:r>
            <a:r>
              <a:rPr lang="en-US" altLang="en-US" sz="1600" b="1" dirty="0" err="1">
                <a:solidFill>
                  <a:srgbClr val="000000"/>
                </a:solidFill>
                <a:latin typeface="Courier New" panose="02070309020205020404" pitchFamily="49" charset="0"/>
              </a:rPr>
              <a:t>x.signal</a:t>
            </a:r>
            <a:r>
              <a:rPr lang="en-US" altLang="en-US" sz="1600" b="1" dirty="0">
                <a:solidFill>
                  <a:srgbClr val="000000"/>
                </a:solidFill>
                <a:latin typeface="Courier New" panose="02070309020205020404" pitchFamily="49" charset="0"/>
              </a:rPr>
              <a:t>();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initialization code()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busy = false;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	}</a:t>
            </a:r>
            <a:endParaRPr lang="en-US" altLang="en-US" sz="1600" b="1" dirty="0">
              <a:solidFill>
                <a:srgbClr val="000000"/>
              </a:solidFill>
              <a:latin typeface="Courier New" panose="02070309020205020404" pitchFamily="49" charset="0"/>
            </a:endParaRPr>
          </a:p>
          <a:p>
            <a:pPr>
              <a:spcBef>
                <a:spcPct val="15000"/>
              </a:spcBef>
              <a:buFont typeface="Monotype Sorts" pitchFamily="-84" charset="2"/>
              <a:buNone/>
              <a:tabLst>
                <a:tab pos="1368425" algn="l"/>
                <a:tab pos="1712595" algn="l"/>
                <a:tab pos="2334895" algn="l"/>
              </a:tabLst>
            </a:pPr>
            <a:r>
              <a:rPr lang="en-US" altLang="en-US" sz="1600" b="1" dirty="0">
                <a:solidFill>
                  <a:srgbClr val="000000"/>
                </a:solidFill>
                <a:latin typeface="Courier New" panose="02070309020205020404" pitchFamily="49" charset="0"/>
              </a:rPr>
              <a:t>}</a:t>
            </a:r>
            <a:r>
              <a:rPr lang="en-US" altLang="en-US" sz="1600" b="1" dirty="0"/>
              <a:t>	</a:t>
            </a:r>
            <a:r>
              <a:rPr lang="en-US" altLang="en-US" sz="1400" b="1" dirty="0"/>
              <a:t>	</a:t>
            </a:r>
            <a:r>
              <a:rPr lang="en-US" altLang="en-US" sz="1400" dirty="0"/>
              <a:t>	</a:t>
            </a:r>
            <a:endParaRPr lang="en-US" altLang="en-US" sz="14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p:cNvSpPr>
            <a:spLocks noGrp="1" noChangeArrowheads="1"/>
          </p:cNvSpPr>
          <p:nvPr>
            <p:ph type="title"/>
          </p:nvPr>
        </p:nvSpPr>
        <p:spPr>
          <a:xfrm>
            <a:off x="923925" y="175869"/>
            <a:ext cx="7762875" cy="576263"/>
          </a:xfrm>
        </p:spPr>
        <p:txBody>
          <a:bodyPr/>
          <a:lstStyle/>
          <a:p>
            <a:pPr eaLnBrk="1" hangingPunct="1"/>
            <a:r>
              <a:rPr lang="en-US" altLang="en-US" dirty="0"/>
              <a:t>Single Resource Monitor (Cont.)</a:t>
            </a:r>
            <a:endParaRPr lang="en-US" altLang="en-US" dirty="0"/>
          </a:p>
        </p:txBody>
      </p:sp>
      <p:sp>
        <p:nvSpPr>
          <p:cNvPr id="57346" name="Rectangle 3"/>
          <p:cNvSpPr>
            <a:spLocks noGrp="1" noChangeArrowheads="1"/>
          </p:cNvSpPr>
          <p:nvPr>
            <p:ph idx="1"/>
          </p:nvPr>
        </p:nvSpPr>
        <p:spPr>
          <a:xfrm>
            <a:off x="827088" y="1282700"/>
            <a:ext cx="6959600" cy="4860925"/>
          </a:xfrm>
        </p:spPr>
        <p:txBody>
          <a:bodyPr/>
          <a:lstStyle/>
          <a:p>
            <a:r>
              <a:rPr lang="en-US" altLang="en-US" dirty="0"/>
              <a:t> Usage:</a:t>
            </a:r>
            <a:endParaRPr lang="en-US" altLang="en-US" dirty="0"/>
          </a:p>
          <a:p>
            <a:pPr marL="0" indent="0">
              <a:buNone/>
            </a:pPr>
            <a:r>
              <a:rPr lang="en-US" altLang="en-US" b="1" dirty="0">
                <a:latin typeface="Courier New" panose="02070309020205020404" pitchFamily="49" charset="0"/>
                <a:cs typeface="Courier New" panose="02070309020205020404" pitchFamily="49" charset="0"/>
              </a:rPr>
              <a:t>     acquire</a:t>
            </a:r>
            <a:endParaRPr lang="en-US" altLang="en-US" b="1" dirty="0">
              <a:latin typeface="Courier New" panose="02070309020205020404" pitchFamily="49" charset="0"/>
              <a:cs typeface="Courier New" panose="02070309020205020404" pitchFamily="49" charset="0"/>
            </a:endParaRPr>
          </a:p>
          <a:p>
            <a:pPr marL="0" indent="0">
              <a:buNone/>
            </a:pPr>
            <a:r>
              <a:rPr lang="en-US" altLang="en-US" b="1" dirty="0">
                <a:latin typeface="Courier New" panose="02070309020205020404" pitchFamily="49" charset="0"/>
                <a:cs typeface="Courier New" panose="02070309020205020404" pitchFamily="49" charset="0"/>
              </a:rPr>
              <a:t>      ...</a:t>
            </a:r>
            <a:endParaRPr lang="en-US" altLang="en-US" b="1" dirty="0">
              <a:latin typeface="Courier New" panose="02070309020205020404" pitchFamily="49" charset="0"/>
              <a:cs typeface="Courier New" panose="02070309020205020404" pitchFamily="49" charset="0"/>
            </a:endParaRPr>
          </a:p>
          <a:p>
            <a:pPr marL="0" indent="0">
              <a:buNone/>
            </a:pPr>
            <a:r>
              <a:rPr lang="en-US" altLang="en-US" b="1" dirty="0">
                <a:latin typeface="Courier New" panose="02070309020205020404" pitchFamily="49" charset="0"/>
                <a:cs typeface="Courier New" panose="02070309020205020404" pitchFamily="49" charset="0"/>
              </a:rPr>
              <a:t>     release</a:t>
            </a:r>
            <a:endParaRPr lang="en-US" altLang="en-US" b="1" dirty="0">
              <a:latin typeface="Courier New" panose="02070309020205020404" pitchFamily="49" charset="0"/>
              <a:cs typeface="Courier New" panose="02070309020205020404" pitchFamily="49" charset="0"/>
            </a:endParaRPr>
          </a:p>
          <a:p>
            <a:r>
              <a:rPr lang="en-US" altLang="en-US" b="1" dirty="0">
                <a:latin typeface="Courier New" panose="02070309020205020404" pitchFamily="49" charset="0"/>
                <a:cs typeface="Courier New" panose="02070309020205020404" pitchFamily="49" charset="0"/>
              </a:rPr>
              <a:t> </a:t>
            </a:r>
            <a:r>
              <a:rPr lang="en-US" altLang="en-US" dirty="0"/>
              <a:t>Incorrect use of monitor operations</a:t>
            </a:r>
            <a:endParaRPr lang="en-US" altLang="en-US" dirty="0"/>
          </a:p>
          <a:p>
            <a:pPr lvl="1"/>
            <a:r>
              <a:rPr lang="en-US" altLang="en-US" dirty="0"/>
              <a:t> </a:t>
            </a:r>
            <a:r>
              <a:rPr lang="en-US" altLang="en-US" b="1" dirty="0">
                <a:latin typeface="Courier New" panose="02070309020205020404" pitchFamily="49" charset="0"/>
                <a:cs typeface="Courier New" panose="02070309020205020404" pitchFamily="49" charset="0"/>
              </a:rPr>
              <a:t>release()  …  acquire()</a:t>
            </a:r>
            <a:endParaRPr lang="en-US" altLang="en-US" b="1" dirty="0">
              <a:latin typeface="Courier New" panose="02070309020205020404" pitchFamily="49" charset="0"/>
              <a:cs typeface="Courier New" panose="02070309020205020404" pitchFamily="49" charset="0"/>
            </a:endParaRPr>
          </a:p>
          <a:p>
            <a:pPr lvl="1"/>
            <a:r>
              <a:rPr lang="en-US" altLang="en-US" dirty="0"/>
              <a:t> </a:t>
            </a:r>
            <a:r>
              <a:rPr lang="en-US" altLang="en-US" b="1" dirty="0">
                <a:latin typeface="Courier New" panose="02070309020205020404" pitchFamily="49" charset="0"/>
                <a:cs typeface="Courier New" panose="02070309020205020404" pitchFamily="49" charset="0"/>
              </a:rPr>
              <a:t>acquire()  …  acquire())</a:t>
            </a:r>
            <a:endParaRPr lang="en-US" altLang="en-US" b="1" dirty="0">
              <a:latin typeface="Courier New" panose="02070309020205020404" pitchFamily="49" charset="0"/>
              <a:cs typeface="Courier New" panose="02070309020205020404" pitchFamily="49" charset="0"/>
            </a:endParaRPr>
          </a:p>
          <a:p>
            <a:pPr lvl="1"/>
            <a:r>
              <a:rPr lang="en-US" altLang="en-US" dirty="0"/>
              <a:t> Omitting  of </a:t>
            </a:r>
            <a:r>
              <a:rPr lang="en-US" altLang="en-US" b="1" dirty="0">
                <a:latin typeface="Courier New" panose="02070309020205020404" pitchFamily="49" charset="0"/>
                <a:cs typeface="Courier New" panose="02070309020205020404" pitchFamily="49" charset="0"/>
              </a:rPr>
              <a:t>acquire() </a:t>
            </a:r>
            <a:r>
              <a:rPr lang="en-US" altLang="en-US" dirty="0"/>
              <a:t>and/or </a:t>
            </a:r>
            <a:r>
              <a:rPr lang="en-US" altLang="en-US" b="1" dirty="0">
                <a:latin typeface="Courier New" panose="02070309020205020404" pitchFamily="49" charset="0"/>
                <a:cs typeface="Courier New" panose="02070309020205020404" pitchFamily="49" charset="0"/>
              </a:rPr>
              <a:t>release()</a:t>
            </a:r>
            <a:endParaRPr lang="en-US" altLang="en-US" dirty="0"/>
          </a:p>
          <a:p>
            <a:pPr marL="0" indent="0">
              <a:buNone/>
            </a:pPr>
            <a:endParaRPr lang="en-US" altLang="en-US" dirty="0"/>
          </a:p>
          <a:p>
            <a:endParaRPr lang="en-US" altLang="en-US" dirty="0"/>
          </a:p>
          <a:p>
            <a:endParaRPr lang="en-US" alt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3" name="Title 1"/>
          <p:cNvSpPr>
            <a:spLocks noGrp="1"/>
          </p:cNvSpPr>
          <p:nvPr>
            <p:ph type="title"/>
          </p:nvPr>
        </p:nvSpPr>
        <p:spPr>
          <a:xfrm>
            <a:off x="457200" y="106853"/>
            <a:ext cx="8229600" cy="576262"/>
          </a:xfrm>
        </p:spPr>
        <p:txBody>
          <a:bodyPr/>
          <a:lstStyle/>
          <a:p>
            <a:r>
              <a:rPr lang="en-US" altLang="en-US" dirty="0"/>
              <a:t>Liveness</a:t>
            </a:r>
            <a:endParaRPr lang="en-US" altLang="en-US" dirty="0"/>
          </a:p>
        </p:txBody>
      </p:sp>
      <p:sp>
        <p:nvSpPr>
          <p:cNvPr id="100354" name="Content Placeholder 2"/>
          <p:cNvSpPr>
            <a:spLocks noGrp="1"/>
          </p:cNvSpPr>
          <p:nvPr>
            <p:ph idx="1"/>
          </p:nvPr>
        </p:nvSpPr>
        <p:spPr/>
        <p:txBody>
          <a:bodyPr/>
          <a:lstStyle/>
          <a:p>
            <a:r>
              <a:rPr lang="en-US" altLang="en-US" dirty="0"/>
              <a:t>Processes may have to wait indefinitely while trying to acquire a synchronization tool such as a mutex lock or semaphore.</a:t>
            </a:r>
            <a:endParaRPr lang="en-US" altLang="en-US" dirty="0"/>
          </a:p>
          <a:p>
            <a:r>
              <a:rPr lang="en-US" altLang="en-US" dirty="0"/>
              <a:t>Waiting indefinitely violates the progress and bounded-waiting criteria discussed at the beginning of this chapter.</a:t>
            </a:r>
            <a:endParaRPr lang="en-US" altLang="en-US" dirty="0"/>
          </a:p>
          <a:p>
            <a:r>
              <a:rPr lang="en-US" altLang="en-US" b="1" dirty="0"/>
              <a:t>Liveness</a:t>
            </a:r>
            <a:r>
              <a:rPr lang="en-US" altLang="en-US" dirty="0"/>
              <a:t> refers to a set of properties that a system must satisfy to ensure processes make progress.</a:t>
            </a:r>
            <a:endParaRPr lang="en-US" altLang="en-US" dirty="0"/>
          </a:p>
          <a:p>
            <a:r>
              <a:rPr lang="en-US" altLang="en-US" dirty="0"/>
              <a:t>Indefinite waiting is an example of a liveness failure.</a:t>
            </a:r>
            <a:endParaRPr lang="en-US" alt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3"/>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b="1" dirty="0">
                <a:solidFill>
                  <a:srgbClr val="006699"/>
                </a:solidFill>
                <a:latin typeface="+mj-lt"/>
              </a:rPr>
              <a:t>Deadlock </a:t>
            </a:r>
            <a:r>
              <a:rPr lang="zh-CN" altLang="en-US" b="1" dirty="0">
                <a:solidFill>
                  <a:srgbClr val="006699"/>
                </a:solidFill>
                <a:latin typeface="+mj-lt"/>
              </a:rPr>
              <a:t>死锁</a:t>
            </a:r>
            <a:r>
              <a:rPr lang="en-US" altLang="en-US" b="1" dirty="0">
                <a:solidFill>
                  <a:srgbClr val="3366FF"/>
                </a:solidFill>
              </a:rPr>
              <a:t> </a:t>
            </a:r>
            <a:r>
              <a:rPr lang="en-US" altLang="en-US" dirty="0"/>
              <a:t>– two or more processes are waiting indefinitely for an event that can be caused by only one of the waiting processes</a:t>
            </a:r>
            <a:endParaRPr lang="en-US" altLang="en-US" dirty="0"/>
          </a:p>
          <a:p>
            <a:pPr>
              <a:lnSpc>
                <a:spcPct val="90000"/>
              </a:lnSpc>
              <a:tabLst>
                <a:tab pos="1882775" algn="ctr"/>
                <a:tab pos="4568825" algn="ctr"/>
              </a:tabLst>
            </a:pPr>
            <a:r>
              <a:rPr lang="en-US" altLang="en-US" dirty="0">
                <a:solidFill>
                  <a:srgbClr val="000000"/>
                </a:solidFill>
              </a:rPr>
              <a:t>Let </a:t>
            </a:r>
            <a:r>
              <a:rPr lang="en-US" altLang="en-US" sz="2000" b="1" i="1" dirty="0">
                <a:solidFill>
                  <a:srgbClr val="000000"/>
                </a:solidFill>
                <a:latin typeface="Courier New" panose="02070309020205020404" pitchFamily="49" charset="0"/>
              </a:rPr>
              <a:t>S</a:t>
            </a:r>
            <a:r>
              <a:rPr lang="en-US" altLang="en-US" dirty="0">
                <a:solidFill>
                  <a:srgbClr val="000000"/>
                </a:solidFill>
              </a:rPr>
              <a:t> and</a:t>
            </a:r>
            <a:r>
              <a:rPr lang="en-US" altLang="en-US" sz="1600" b="1" dirty="0">
                <a:solidFill>
                  <a:srgbClr val="000000"/>
                </a:solidFill>
                <a:latin typeface="Courier New" panose="02070309020205020404" pitchFamily="49" charset="0"/>
              </a:rPr>
              <a:t> </a:t>
            </a:r>
            <a:r>
              <a:rPr lang="en-US" altLang="en-US" sz="2000" b="1" i="1" dirty="0">
                <a:solidFill>
                  <a:srgbClr val="000000"/>
                </a:solidFill>
                <a:latin typeface="Courier New" panose="02070309020205020404" pitchFamily="49" charset="0"/>
              </a:rPr>
              <a:t>Q</a:t>
            </a:r>
            <a:r>
              <a:rPr lang="en-US" altLang="en-US" sz="1600" b="1" dirty="0">
                <a:solidFill>
                  <a:srgbClr val="000000"/>
                </a:solidFill>
                <a:latin typeface="Courier New" panose="02070309020205020404" pitchFamily="49" charset="0"/>
              </a:rPr>
              <a:t> </a:t>
            </a:r>
            <a:r>
              <a:rPr lang="en-US" altLang="en-US" dirty="0">
                <a:solidFill>
                  <a:srgbClr val="000000"/>
                </a:solidFill>
              </a:rPr>
              <a:t>be </a:t>
            </a:r>
            <a:r>
              <a:rPr lang="en-US" altLang="en-US" dirty="0"/>
              <a:t>two semaphores initialized to 1</a:t>
            </a:r>
            <a:endParaRPr lang="en-US" altLang="en-US" dirty="0"/>
          </a:p>
          <a:p>
            <a:pPr>
              <a:lnSpc>
                <a:spcPct val="90000"/>
              </a:lnSpc>
              <a:buFont typeface="Monotype Sorts" pitchFamily="-84" charset="2"/>
              <a:buNone/>
              <a:tabLst>
                <a:tab pos="1882775" algn="ctr"/>
                <a:tab pos="4568825" algn="ctr"/>
              </a:tabLst>
            </a:pPr>
            <a:r>
              <a:rPr lang="en-US" altLang="en-US" i="1" dirty="0">
                <a:solidFill>
                  <a:srgbClr val="000000"/>
                </a:solidFill>
              </a:rPr>
              <a:t>		        P</a:t>
            </a:r>
            <a:r>
              <a:rPr lang="en-US" altLang="en-US" baseline="-25000" dirty="0">
                <a:solidFill>
                  <a:srgbClr val="000000"/>
                </a:solidFill>
              </a:rPr>
              <a:t>0</a:t>
            </a:r>
            <a:r>
              <a:rPr lang="en-US" altLang="en-US" dirty="0">
                <a:solidFill>
                  <a:srgbClr val="000000"/>
                </a:solidFill>
              </a:rPr>
              <a:t>	                            </a:t>
            </a:r>
            <a:r>
              <a:rPr lang="en-US" altLang="en-US" i="1" dirty="0">
                <a:solidFill>
                  <a:srgbClr val="000000"/>
                </a:solidFill>
              </a:rPr>
              <a:t>P</a:t>
            </a:r>
            <a:r>
              <a:rPr lang="en-US" altLang="en-US" baseline="-25000" dirty="0">
                <a:solidFill>
                  <a:srgbClr val="000000"/>
                </a:solidFill>
              </a:rPr>
              <a:t>1</a:t>
            </a:r>
            <a:endParaRPr lang="en-US" altLang="en-US" baseline="-25000" dirty="0">
              <a:solidFill>
                <a:srgbClr val="000000"/>
              </a:solidFill>
            </a:endParaRPr>
          </a:p>
          <a:p>
            <a:pPr>
              <a:lnSpc>
                <a:spcPct val="90000"/>
              </a:lnSpc>
              <a:buFont typeface="Monotype Sorts" pitchFamily="-84" charset="2"/>
              <a:buNone/>
              <a:tabLst>
                <a:tab pos="1882775" algn="ctr"/>
                <a:tab pos="4568825" algn="ctr"/>
              </a:tabLst>
            </a:pPr>
            <a:r>
              <a:rPr lang="en-US" altLang="en-US" b="1" dirty="0">
                <a:solidFill>
                  <a:srgbClr val="000000"/>
                </a:solidFill>
                <a:latin typeface="Courier New" panose="02070309020205020404" pitchFamily="49" charset="0"/>
              </a:rPr>
              <a:t>	          </a:t>
            </a:r>
            <a:r>
              <a:rPr lang="en-US" altLang="en-US" sz="1600" b="1" dirty="0">
                <a:solidFill>
                  <a:srgbClr val="000000"/>
                </a:solidFill>
                <a:latin typeface="Courier New" panose="02070309020205020404" pitchFamily="49" charset="0"/>
              </a:rPr>
              <a:t>wait(S); 	              wait(Q);</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wait(Q); 	              wait(S);</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		     ...</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signal(S);                 signal(Q);</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r>
              <a:rPr lang="en-US" altLang="en-US" sz="1600" b="1" dirty="0">
                <a:solidFill>
                  <a:srgbClr val="000000"/>
                </a:solidFill>
                <a:latin typeface="Courier New" panose="02070309020205020404" pitchFamily="49" charset="0"/>
              </a:rPr>
              <a:t>              signal(Q);                 signal(S);</a:t>
            </a:r>
            <a:endParaRPr lang="en-US" altLang="en-US" sz="1600" b="1" dirty="0">
              <a:solidFill>
                <a:srgbClr val="000000"/>
              </a:solidFill>
              <a:latin typeface="Courier New" panose="02070309020205020404" pitchFamily="49" charset="0"/>
            </a:endParaRPr>
          </a:p>
          <a:p>
            <a:pPr>
              <a:lnSpc>
                <a:spcPct val="90000"/>
              </a:lnSpc>
              <a:buFont typeface="Monotype Sorts" pitchFamily="-84" charset="2"/>
              <a:buNone/>
              <a:tabLst>
                <a:tab pos="1882775" algn="ctr"/>
                <a:tab pos="4568825" algn="ctr"/>
              </a:tabLst>
            </a:pPr>
            <a:endParaRPr lang="en-US" altLang="en-US" sz="1600" b="1" dirty="0">
              <a:solidFill>
                <a:srgbClr val="000000"/>
              </a:solidFill>
              <a:latin typeface="Courier New" panose="02070309020205020404" pitchFamily="49" charset="0"/>
            </a:endParaRPr>
          </a:p>
          <a:p>
            <a:pPr>
              <a:lnSpc>
                <a:spcPct val="90000"/>
              </a:lnSpc>
              <a:tabLst>
                <a:tab pos="1882775" algn="ctr"/>
                <a:tab pos="4568825" algn="ctr"/>
              </a:tabLst>
            </a:pPr>
            <a:r>
              <a:rPr lang="en-US" altLang="en-US" dirty="0">
                <a:sym typeface="MT Extra" panose="05050102010205020202" pitchFamily="18" charset="2"/>
              </a:rPr>
              <a:t>Consider if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wait(S) 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wait(Q). When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executes wait(Q), it must wait until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executes signal(Q)</a:t>
            </a:r>
            <a:endParaRPr lang="en-US" altLang="en-US" dirty="0">
              <a:sym typeface="MT Extra" panose="05050102010205020202" pitchFamily="18" charset="2"/>
            </a:endParaRPr>
          </a:p>
          <a:p>
            <a:pPr>
              <a:lnSpc>
                <a:spcPct val="90000"/>
              </a:lnSpc>
              <a:tabLst>
                <a:tab pos="1882775" algn="ctr"/>
                <a:tab pos="4568825" algn="ctr"/>
              </a:tabLst>
            </a:pPr>
            <a:r>
              <a:rPr lang="en-US" altLang="en-US" dirty="0">
                <a:sym typeface="MT Extra" panose="05050102010205020202" pitchFamily="18" charset="2"/>
              </a:rPr>
              <a:t>However,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is waiting until </a:t>
            </a:r>
            <a:r>
              <a:rPr lang="en-US" altLang="en-US" i="1" dirty="0">
                <a:solidFill>
                  <a:srgbClr val="000000"/>
                </a:solidFill>
              </a:rPr>
              <a:t>P</a:t>
            </a:r>
            <a:r>
              <a:rPr lang="en-US" altLang="en-US" baseline="-25000" dirty="0">
                <a:solidFill>
                  <a:srgbClr val="000000"/>
                </a:solidFill>
              </a:rPr>
              <a:t>0</a:t>
            </a:r>
            <a:r>
              <a:rPr lang="en-US" altLang="en-US" dirty="0">
                <a:sym typeface="MT Extra" panose="05050102010205020202" pitchFamily="18" charset="2"/>
              </a:rPr>
              <a:t> execute signal(S).</a:t>
            </a:r>
            <a:endParaRPr lang="en-US" altLang="en-US" dirty="0">
              <a:sym typeface="MT Extra" panose="05050102010205020202" pitchFamily="18" charset="2"/>
            </a:endParaRPr>
          </a:p>
          <a:p>
            <a:pPr>
              <a:lnSpc>
                <a:spcPct val="90000"/>
              </a:lnSpc>
              <a:tabLst>
                <a:tab pos="1882775" algn="ctr"/>
                <a:tab pos="4568825" algn="ctr"/>
              </a:tabLst>
            </a:pPr>
            <a:r>
              <a:rPr lang="en-US" altLang="en-US" dirty="0">
                <a:sym typeface="MT Extra" panose="05050102010205020202" pitchFamily="18" charset="2"/>
              </a:rPr>
              <a:t>Since these signal() operations will never be executed, </a:t>
            </a:r>
            <a:r>
              <a:rPr lang="en-US" altLang="en-US" i="1" dirty="0">
                <a:solidFill>
                  <a:srgbClr val="000000"/>
                </a:solidFill>
              </a:rPr>
              <a:t>P</a:t>
            </a:r>
            <a:r>
              <a:rPr lang="en-US" altLang="en-US" baseline="-25000" dirty="0">
                <a:solidFill>
                  <a:srgbClr val="000000"/>
                </a:solidFill>
              </a:rPr>
              <a:t>0 </a:t>
            </a:r>
            <a:r>
              <a:rPr lang="en-US" altLang="en-US" dirty="0">
                <a:sym typeface="MT Extra" panose="05050102010205020202" pitchFamily="18" charset="2"/>
              </a:rPr>
              <a:t>and </a:t>
            </a:r>
            <a:r>
              <a:rPr lang="en-US" altLang="en-US" i="1" dirty="0">
                <a:solidFill>
                  <a:srgbClr val="000000"/>
                </a:solidFill>
              </a:rPr>
              <a:t>P</a:t>
            </a:r>
            <a:r>
              <a:rPr lang="en-US" altLang="en-US" baseline="-25000" dirty="0">
                <a:solidFill>
                  <a:srgbClr val="000000"/>
                </a:solidFill>
              </a:rPr>
              <a:t>1 </a:t>
            </a:r>
            <a:r>
              <a:rPr lang="en-US" altLang="en-US" dirty="0">
                <a:sym typeface="MT Extra" panose="05050102010205020202" pitchFamily="18" charset="2"/>
              </a:rPr>
              <a:t>are </a:t>
            </a:r>
            <a:r>
              <a:rPr lang="en-US" altLang="en-US" b="1" dirty="0">
                <a:sym typeface="MT Extra" panose="05050102010205020202" pitchFamily="18" charset="2"/>
              </a:rPr>
              <a:t>deadlocked</a:t>
            </a:r>
            <a:r>
              <a:rPr lang="en-US" altLang="en-US" dirty="0">
                <a:sym typeface="MT Extra" panose="05050102010205020202" pitchFamily="18" charset="2"/>
              </a:rPr>
              <a:t>.</a:t>
            </a:r>
            <a:endParaRPr lang="en-US" altLang="en-US" dirty="0">
              <a:sym typeface="MT Extra" panose="05050102010205020202" pitchFamily="18" charset="2"/>
            </a:endParaRPr>
          </a:p>
        </p:txBody>
      </p:sp>
      <p:sp>
        <p:nvSpPr>
          <p:cNvPr id="6" name="Title 1"/>
          <p:cNvSpPr>
            <a:spLocks noGrp="1"/>
          </p:cNvSpPr>
          <p:nvPr>
            <p:ph type="title"/>
          </p:nvPr>
        </p:nvSpPr>
        <p:spPr>
          <a:xfrm>
            <a:off x="457200" y="157653"/>
            <a:ext cx="8229600" cy="576262"/>
          </a:xfrm>
        </p:spPr>
        <p:txBody>
          <a:bodyPr/>
          <a:lstStyle/>
          <a:p>
            <a:r>
              <a:rPr lang="en-US" altLang="en-US" dirty="0"/>
              <a:t>Liveness</a:t>
            </a:r>
            <a:endParaRPr lang="en-US" alt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3"/>
          <p:cNvSpPr>
            <a:spLocks noGrp="1" noChangeArrowheads="1"/>
          </p:cNvSpPr>
          <p:nvPr>
            <p:ph idx="1"/>
          </p:nvPr>
        </p:nvSpPr>
        <p:spPr>
          <a:xfrm>
            <a:off x="820738" y="1073150"/>
            <a:ext cx="7640637" cy="4906963"/>
          </a:xfrm>
        </p:spPr>
        <p:txBody>
          <a:bodyPr/>
          <a:lstStyle/>
          <a:p>
            <a:pPr>
              <a:lnSpc>
                <a:spcPct val="90000"/>
              </a:lnSpc>
              <a:tabLst>
                <a:tab pos="1882775" algn="ctr"/>
                <a:tab pos="4568825" algn="ctr"/>
              </a:tabLst>
            </a:pPr>
            <a:r>
              <a:rPr lang="en-US" altLang="en-US" dirty="0"/>
              <a:t>Other forms of deadlock:</a:t>
            </a:r>
            <a:endParaRPr lang="en-US" altLang="en-US" sz="1600" dirty="0">
              <a:latin typeface="Courier New" panose="02070309020205020404" pitchFamily="49" charset="0"/>
            </a:endParaRPr>
          </a:p>
          <a:p>
            <a:pPr>
              <a:lnSpc>
                <a:spcPct val="90000"/>
              </a:lnSpc>
              <a:tabLst>
                <a:tab pos="1882775" algn="ctr"/>
                <a:tab pos="4568825" algn="ctr"/>
              </a:tabLst>
            </a:pPr>
            <a:r>
              <a:rPr lang="en-US" altLang="en-US" b="1" dirty="0">
                <a:sym typeface="MT Extra" panose="05050102010205020202" pitchFamily="18" charset="2"/>
              </a:rPr>
              <a:t>Starvation </a:t>
            </a:r>
            <a:r>
              <a:rPr lang="zh-CN" altLang="en-US" b="1" dirty="0">
                <a:sym typeface="MT Extra" panose="05050102010205020202" pitchFamily="18" charset="2"/>
              </a:rPr>
              <a:t>饥饿</a:t>
            </a:r>
            <a:r>
              <a:rPr lang="en-US" altLang="en-US" dirty="0">
                <a:sym typeface="MT Extra" panose="05050102010205020202" pitchFamily="18" charset="2"/>
              </a:rPr>
              <a:t> </a:t>
            </a:r>
            <a:r>
              <a:rPr lang="en-US" altLang="en-US" dirty="0"/>
              <a:t>– indefinite blocking  </a:t>
            </a:r>
            <a:endParaRPr lang="en-US" altLang="en-US" dirty="0"/>
          </a:p>
          <a:p>
            <a:pPr lvl="1">
              <a:lnSpc>
                <a:spcPct val="90000"/>
              </a:lnSpc>
              <a:tabLst>
                <a:tab pos="1882775" algn="ctr"/>
                <a:tab pos="4568825" algn="ctr"/>
              </a:tabLst>
            </a:pPr>
            <a:r>
              <a:rPr lang="en-US" altLang="en-US" dirty="0"/>
              <a:t>A process may never be removed from the semaphore queue in which it is suspended</a:t>
            </a:r>
            <a:endParaRPr lang="en-US" altLang="en-US" dirty="0"/>
          </a:p>
          <a:p>
            <a:pPr>
              <a:lnSpc>
                <a:spcPct val="90000"/>
              </a:lnSpc>
              <a:tabLst>
                <a:tab pos="1882775" algn="ctr"/>
                <a:tab pos="4568825" algn="ctr"/>
              </a:tabLst>
            </a:pPr>
            <a:r>
              <a:rPr lang="en-US" altLang="en-US" b="1" dirty="0"/>
              <a:t>Priority Inversion </a:t>
            </a:r>
            <a:r>
              <a:rPr lang="zh-CN" altLang="en-US" b="1" dirty="0"/>
              <a:t>优先级倒置</a:t>
            </a:r>
            <a:r>
              <a:rPr lang="en-US" altLang="en-US" dirty="0"/>
              <a:t> – Scheduling problem when lower-priority process holds a lock needed by higher-priority process</a:t>
            </a:r>
            <a:endParaRPr lang="en-US" altLang="en-US" dirty="0"/>
          </a:p>
          <a:p>
            <a:pPr lvl="1">
              <a:tabLst>
                <a:tab pos="1882775" algn="ctr"/>
                <a:tab pos="4568825" algn="ctr"/>
              </a:tabLst>
            </a:pPr>
            <a:r>
              <a:rPr lang="en-US" altLang="en-US" dirty="0"/>
              <a:t>Solved via </a:t>
            </a:r>
            <a:r>
              <a:rPr lang="en-US" altLang="en-US" b="1" dirty="0"/>
              <a:t>priority-inheritance protocol</a:t>
            </a:r>
            <a:br>
              <a:rPr lang="en-US" altLang="en-US" b="1" dirty="0"/>
            </a:br>
            <a:br>
              <a:rPr lang="en-US" altLang="en-US" b="1" dirty="0"/>
            </a:br>
            <a:endParaRPr lang="en-US" altLang="en-US" b="1" dirty="0"/>
          </a:p>
        </p:txBody>
      </p:sp>
      <p:sp>
        <p:nvSpPr>
          <p:cNvPr id="6" name="Title 1"/>
          <p:cNvSpPr>
            <a:spLocks noGrp="1"/>
          </p:cNvSpPr>
          <p:nvPr>
            <p:ph type="title"/>
          </p:nvPr>
        </p:nvSpPr>
        <p:spPr>
          <a:xfrm>
            <a:off x="457200" y="157653"/>
            <a:ext cx="8229600" cy="576262"/>
          </a:xfrm>
        </p:spPr>
        <p:txBody>
          <a:bodyPr/>
          <a:lstStyle/>
          <a:p>
            <a:r>
              <a:rPr lang="en-US" altLang="en-US" dirty="0"/>
              <a:t>Liveness</a:t>
            </a:r>
            <a:endParaRPr lang="en-US" alt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p:cNvSpPr>
            <a:spLocks noGrp="1" noChangeArrowheads="1"/>
          </p:cNvSpPr>
          <p:nvPr>
            <p:ph type="ctrTitle"/>
          </p:nvPr>
        </p:nvSpPr>
        <p:spPr/>
        <p:txBody>
          <a:bodyPr/>
          <a:lstStyle/>
          <a:p>
            <a:pPr eaLnBrk="1" hangingPunct="1"/>
            <a:r>
              <a:rPr lang="en-US" altLang="en-US"/>
              <a:t>End of Chapter 6</a:t>
            </a:r>
            <a:endParaRPr lang="en-US" altLang="en-US"/>
          </a:p>
        </p:txBody>
      </p:sp>
    </p:spTree>
  </p:cSld>
  <p:clrMapOvr>
    <a:masterClrMapping/>
  </p:clrMapOvr>
</p:sld>
</file>

<file path=ppt/tags/tag1.xml><?xml version="1.0" encoding="utf-8"?>
<p:tagLst xmlns:p="http://schemas.openxmlformats.org/presentationml/2006/main">
  <p:tag name="KSO_WPP_MARK_KEY" val="b2722fe7-c6af-4c0d-a301-13e95e72c8d7"/>
  <p:tag name="COMMONDATA" val="eyJoZGlkIjoiMzgwMmY0NTc1NWE0ZWI0NzI4MjdjMjVhY2VhMTkyNzQifQ=="/>
</p:tagLst>
</file>

<file path=ppt/theme/theme1.xml><?xml version="1.0" encoding="utf-8"?>
<a:theme xmlns:a="http://schemas.openxmlformats.org/drawingml/2006/main" name="os-8">
  <a:themeElements>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os-8">
      <a:majorFont>
        <a:latin typeface="Arial"/>
        <a:ea typeface=""/>
        <a:cs typeface=""/>
      </a:majorFont>
      <a:minorFont>
        <a:latin typeface="Helvetic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non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Tx/>
          <a:buNone/>
          <a:defRPr kumimoji="0" lang="en-US" sz="1800" b="0" i="0" u="none" strike="noStrike" cap="none" normalizeH="0" baseline="0">
            <a:ln>
              <a:noFill/>
            </a:ln>
            <a:solidFill>
              <a:schemeClr val="tx1"/>
            </a:solidFill>
            <a:effectLst/>
            <a:latin typeface="Verdana" panose="020B0604030504040204" pitchFamily="34" charset="0"/>
          </a:defRPr>
        </a:defPPr>
      </a:lstStyle>
    </a:lnDef>
  </a:objectDefaults>
  <a:extraClrSchemeLst>
    <a:extraClrScheme>
      <a:clrScheme name="os-8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os-8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os-8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os-8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os-8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os-8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os-8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OS8</Template>
  <TotalTime>0</TotalTime>
  <Words>19412</Words>
  <Application>WPS 演示</Application>
  <PresentationFormat>On-screen Show (4:3)</PresentationFormat>
  <Paragraphs>679</Paragraphs>
  <Slides>59</Slides>
  <Notes>40</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59</vt:i4>
      </vt:variant>
    </vt:vector>
  </HeadingPairs>
  <TitlesOfParts>
    <vt:vector size="75" baseType="lpstr">
      <vt:lpstr>Arial</vt:lpstr>
      <vt:lpstr>宋体</vt:lpstr>
      <vt:lpstr>Wingdings</vt:lpstr>
      <vt:lpstr>Verdana</vt:lpstr>
      <vt:lpstr>MS PGothic</vt:lpstr>
      <vt:lpstr>Times New Roman</vt:lpstr>
      <vt:lpstr>Helvetica</vt:lpstr>
      <vt:lpstr>Webdings</vt:lpstr>
      <vt:lpstr>Monotype Sorts</vt:lpstr>
      <vt:lpstr>Courier New</vt:lpstr>
      <vt:lpstr>Wingdings</vt:lpstr>
      <vt:lpstr>微软雅黑</vt:lpstr>
      <vt:lpstr>Arial Unicode MS</vt:lpstr>
      <vt:lpstr>Symbol</vt:lpstr>
      <vt:lpstr>MT Extra</vt:lpstr>
      <vt:lpstr>os-8</vt:lpstr>
      <vt:lpstr>Chapter 6:  Synchronization Tools</vt:lpstr>
      <vt:lpstr>Outline</vt:lpstr>
      <vt:lpstr>Objectives</vt:lpstr>
      <vt:lpstr>Background</vt:lpstr>
      <vt:lpstr>Race Condition</vt:lpstr>
      <vt:lpstr>Critical Section 临界区 Problem</vt:lpstr>
      <vt:lpstr>Critical Section</vt:lpstr>
      <vt:lpstr>Critical-Section Problem (Cont.)</vt:lpstr>
      <vt:lpstr>Interrupt-based Solution</vt:lpstr>
      <vt:lpstr>Software Solution 1</vt:lpstr>
      <vt:lpstr>Algorithm for Process Pi</vt:lpstr>
      <vt:lpstr>Correctness of the Software Solution </vt:lpstr>
      <vt:lpstr>Peterson’s Solution</vt:lpstr>
      <vt:lpstr>Algorithm for Process Pi</vt:lpstr>
      <vt:lpstr>Correctness of Peterson’s Solution </vt:lpstr>
      <vt:lpstr>Peterson’s Solution and Modern Architecture</vt:lpstr>
      <vt:lpstr>Modern Architecture Example</vt:lpstr>
      <vt:lpstr>Modern Architecture Example (Cont.)</vt:lpstr>
      <vt:lpstr>Peterson’s Solution Revisited</vt:lpstr>
      <vt:lpstr>Memory Barrier</vt:lpstr>
      <vt:lpstr>Memory Barrier Instructions</vt:lpstr>
      <vt:lpstr>Memory Barrier Example</vt:lpstr>
      <vt:lpstr>Synchronization Hardware 同步硬件</vt:lpstr>
      <vt:lpstr>Hardware Instructions</vt:lpstr>
      <vt:lpstr>The test_and_set  Instruction </vt:lpstr>
      <vt:lpstr>Solution Using test_and_set()</vt:lpstr>
      <vt:lpstr>The compare_and_swap  Instruction </vt:lpstr>
      <vt:lpstr>Solution using compare_and_swap</vt:lpstr>
      <vt:lpstr>Bounded-waiting with compare-and-swap</vt:lpstr>
      <vt:lpstr>Atomic Variables</vt:lpstr>
      <vt:lpstr>Atomic Variables</vt:lpstr>
      <vt:lpstr>Mutex Locks 互斥锁</vt:lpstr>
      <vt:lpstr>Solution to CS Problem Using Mutex Locks</vt:lpstr>
      <vt:lpstr>Semaphore 信号量</vt:lpstr>
      <vt:lpstr>Semaphore (Cont.)</vt:lpstr>
      <vt:lpstr>Semaphore Usage Example</vt:lpstr>
      <vt:lpstr>Semaphore Implementation</vt:lpstr>
      <vt:lpstr>Semaphore Implementation with no Busy waiting </vt:lpstr>
      <vt:lpstr>Implementation with no Busy waiting (Cont.)</vt:lpstr>
      <vt:lpstr>Implementation with no Busy waiting (Cont.)</vt:lpstr>
      <vt:lpstr>Problems with Semaphores</vt:lpstr>
      <vt:lpstr>Monitors 管程</vt:lpstr>
      <vt:lpstr>Schematic view of a Monitor</vt:lpstr>
      <vt:lpstr>Monitor Implementation Using Semaphores</vt:lpstr>
      <vt:lpstr>Condition Variables</vt:lpstr>
      <vt:lpstr> Monitor with Condition Variables</vt:lpstr>
      <vt:lpstr> Usage of Condition Variable  Example</vt:lpstr>
      <vt:lpstr>Monitor Implementation Using Semaphores</vt:lpstr>
      <vt:lpstr> Implementation – Condition Variables</vt:lpstr>
      <vt:lpstr>Implementation (Cont.)</vt:lpstr>
      <vt:lpstr>Resuming Processes within a Monitor</vt:lpstr>
      <vt:lpstr>PowerPoint 演示文稿</vt:lpstr>
      <vt:lpstr>PowerPoint 演示文稿</vt:lpstr>
      <vt:lpstr>A Monitor to Allocate Single Resource</vt:lpstr>
      <vt:lpstr>Single Resource Monitor (Cont.)</vt:lpstr>
      <vt:lpstr>Liveness</vt:lpstr>
      <vt:lpstr>Liveness</vt:lpstr>
      <vt:lpstr>Liveness</vt:lpstr>
      <vt:lpstr>End of Chapter 6</vt:lpstr>
    </vt:vector>
  </TitlesOfParts>
  <Company>Lucent Technologies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2.01</dc:title>
  <dc:creator>Lucent End User</dc:creator>
  <cp:lastModifiedBy>左劼</cp:lastModifiedBy>
  <cp:revision>386</cp:revision>
  <cp:lastPrinted>2020-11-04T14:30:00Z</cp:lastPrinted>
  <dcterms:created xsi:type="dcterms:W3CDTF">2011-01-13T23:43:00Z</dcterms:created>
  <dcterms:modified xsi:type="dcterms:W3CDTF">2023-03-29T11:19:53Z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2052-11.1.0.13703</vt:lpwstr>
  </property>
  <property fmtid="{D5CDD505-2E9C-101B-9397-08002B2CF9AE}" pid="3" name="ICV">
    <vt:lpwstr>A663ABE97969444A8001D407877F2703</vt:lpwstr>
  </property>
</Properties>
</file>