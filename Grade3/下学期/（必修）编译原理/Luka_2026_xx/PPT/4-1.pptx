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1" r:id="rId1"/>
  </p:sldMasterIdLst>
  <p:notesMasterIdLst>
    <p:notesMasterId r:id="rId20"/>
  </p:notesMasterIdLst>
  <p:handoutMasterIdLst>
    <p:handoutMasterId r:id="rId21"/>
  </p:handoutMasterIdLst>
  <p:sldIdLst>
    <p:sldId id="393" r:id="rId2"/>
    <p:sldId id="257" r:id="rId3"/>
    <p:sldId id="415" r:id="rId4"/>
    <p:sldId id="409" r:id="rId5"/>
    <p:sldId id="394" r:id="rId6"/>
    <p:sldId id="396" r:id="rId7"/>
    <p:sldId id="397" r:id="rId8"/>
    <p:sldId id="398" r:id="rId9"/>
    <p:sldId id="404" r:id="rId10"/>
    <p:sldId id="417" r:id="rId11"/>
    <p:sldId id="416" r:id="rId12"/>
    <p:sldId id="410" r:id="rId13"/>
    <p:sldId id="403" r:id="rId14"/>
    <p:sldId id="411" r:id="rId15"/>
    <p:sldId id="413" r:id="rId16"/>
    <p:sldId id="414" r:id="rId17"/>
    <p:sldId id="412" r:id="rId18"/>
    <p:sldId id="418" r:id="rId19"/>
  </p:sldIdLst>
  <p:sldSz cx="12192000" cy="6858000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6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9999FF"/>
    <a:srgbClr val="FFFF99"/>
    <a:srgbClr val="FFCC99"/>
    <a:srgbClr val="FFFFCC"/>
    <a:srgbClr val="3366CC"/>
    <a:srgbClr val="339933"/>
    <a:srgbClr val="3217BB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A107856-5554-42FB-B03E-39F5DBC370BA}" styleName="中度样式 4 - 强调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1058" autoAdjust="0"/>
  </p:normalViewPr>
  <p:slideViewPr>
    <p:cSldViewPr>
      <p:cViewPr varScale="1">
        <p:scale>
          <a:sx n="86" d="100"/>
          <a:sy n="86" d="100"/>
        </p:scale>
        <p:origin x="654" y="96"/>
      </p:cViewPr>
      <p:guideLst>
        <p:guide orient="horz" pos="2886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4740"/>
    </p:cViewPr>
  </p:sorterViewPr>
  <p:notesViewPr>
    <p:cSldViewPr>
      <p:cViewPr varScale="1">
        <p:scale>
          <a:sx n="37" d="100"/>
          <a:sy n="37" d="100"/>
        </p:scale>
        <p:origin x="-1090" y="-5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1"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1"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1"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1" sz="1200">
                <a:latin typeface="Times New Roman" pitchFamily="18" charset="0"/>
              </a:defRPr>
            </a:lvl1pPr>
          </a:lstStyle>
          <a:p>
            <a:pPr>
              <a:defRPr/>
            </a:pPr>
            <a:fld id="{CEBD1789-4991-4012-AA0B-0311859506B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338516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1"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1"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0900" name="Rectangle 4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单击以编辑母版文本样式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1"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1" sz="1200">
                <a:latin typeface="Times New Roman" pitchFamily="18" charset="0"/>
              </a:defRPr>
            </a:lvl1pPr>
          </a:lstStyle>
          <a:p>
            <a:pPr>
              <a:defRPr/>
            </a:pPr>
            <a:fld id="{825CEE83-8A2A-48C4-91B1-F00C976E2AE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3854083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7"/>
          <p:cNvGrpSpPr>
            <a:grpSpLocks/>
          </p:cNvGrpSpPr>
          <p:nvPr/>
        </p:nvGrpSpPr>
        <p:grpSpPr bwMode="auto">
          <a:xfrm>
            <a:off x="-12700" y="2708276"/>
            <a:ext cx="12244917" cy="1501775"/>
            <a:chOff x="-23" y="1319"/>
            <a:chExt cx="5799" cy="946"/>
          </a:xfrm>
        </p:grpSpPr>
        <p:sp>
          <p:nvSpPr>
            <p:cNvPr id="5" name="Freeform 18"/>
            <p:cNvSpPr>
              <a:spLocks/>
            </p:cNvSpPr>
            <p:nvPr/>
          </p:nvSpPr>
          <p:spPr bwMode="gray">
            <a:xfrm>
              <a:off x="-20" y="1319"/>
              <a:ext cx="5779" cy="946"/>
            </a:xfrm>
            <a:custGeom>
              <a:avLst/>
              <a:gdLst>
                <a:gd name="T0" fmla="*/ 6 w 5779"/>
                <a:gd name="T1" fmla="*/ 454 h 946"/>
                <a:gd name="T2" fmla="*/ 355 w 5779"/>
                <a:gd name="T3" fmla="*/ 454 h 946"/>
                <a:gd name="T4" fmla="*/ 757 w 5779"/>
                <a:gd name="T5" fmla="*/ 1 h 946"/>
                <a:gd name="T6" fmla="*/ 2511 w 5779"/>
                <a:gd name="T7" fmla="*/ 0 h 946"/>
                <a:gd name="T8" fmla="*/ 2646 w 5779"/>
                <a:gd name="T9" fmla="*/ 144 h 946"/>
                <a:gd name="T10" fmla="*/ 5779 w 5779"/>
                <a:gd name="T11" fmla="*/ 137 h 946"/>
                <a:gd name="T12" fmla="*/ 5779 w 5779"/>
                <a:gd name="T13" fmla="*/ 772 h 946"/>
                <a:gd name="T14" fmla="*/ 2899 w 5779"/>
                <a:gd name="T15" fmla="*/ 765 h 946"/>
                <a:gd name="T16" fmla="*/ 2757 w 5779"/>
                <a:gd name="T17" fmla="*/ 946 h 946"/>
                <a:gd name="T18" fmla="*/ 1883 w 5779"/>
                <a:gd name="T19" fmla="*/ 946 h 946"/>
                <a:gd name="T20" fmla="*/ 1663 w 5779"/>
                <a:gd name="T21" fmla="*/ 687 h 946"/>
                <a:gd name="T22" fmla="*/ 0 w 5779"/>
                <a:gd name="T23" fmla="*/ 687 h 946"/>
                <a:gd name="T24" fmla="*/ 35 w 5779"/>
                <a:gd name="T25" fmla="*/ 480 h 94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5779" h="946">
                  <a:moveTo>
                    <a:pt x="6" y="454"/>
                  </a:moveTo>
                  <a:lnTo>
                    <a:pt x="355" y="454"/>
                  </a:lnTo>
                  <a:lnTo>
                    <a:pt x="757" y="1"/>
                  </a:lnTo>
                  <a:lnTo>
                    <a:pt x="2511" y="0"/>
                  </a:lnTo>
                  <a:lnTo>
                    <a:pt x="2646" y="144"/>
                  </a:lnTo>
                  <a:lnTo>
                    <a:pt x="5779" y="137"/>
                  </a:lnTo>
                  <a:lnTo>
                    <a:pt x="5779" y="772"/>
                  </a:lnTo>
                  <a:lnTo>
                    <a:pt x="2899" y="765"/>
                  </a:lnTo>
                  <a:lnTo>
                    <a:pt x="2757" y="946"/>
                  </a:lnTo>
                  <a:lnTo>
                    <a:pt x="1883" y="946"/>
                  </a:lnTo>
                  <a:lnTo>
                    <a:pt x="1663" y="687"/>
                  </a:lnTo>
                  <a:lnTo>
                    <a:pt x="0" y="687"/>
                  </a:lnTo>
                  <a:lnTo>
                    <a:pt x="35" y="480"/>
                  </a:lnTo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  <a:effectLst>
              <a:outerShdw dist="77251" dir="4832261" algn="ctr" rotWithShape="0">
                <a:srgbClr val="000066">
                  <a:alpha val="18999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zh-CN" altLang="en-US">
                <a:ea typeface="+mn-ea"/>
              </a:endParaRPr>
            </a:p>
          </p:txBody>
        </p:sp>
        <p:sp>
          <p:nvSpPr>
            <p:cNvPr id="6" name="Freeform 19" descr="01_img(Global Digtal Desigm(imageState)"/>
            <p:cNvSpPr>
              <a:spLocks/>
            </p:cNvSpPr>
            <p:nvPr/>
          </p:nvSpPr>
          <p:spPr bwMode="gray">
            <a:xfrm>
              <a:off x="-23" y="1344"/>
              <a:ext cx="5799" cy="895"/>
            </a:xfrm>
            <a:custGeom>
              <a:avLst/>
              <a:gdLst>
                <a:gd name="T0" fmla="*/ 0 w 5799"/>
                <a:gd name="T1" fmla="*/ 455 h 895"/>
                <a:gd name="T2" fmla="*/ 369 w 5799"/>
                <a:gd name="T3" fmla="*/ 454 h 895"/>
                <a:gd name="T4" fmla="*/ 776 w 5799"/>
                <a:gd name="T5" fmla="*/ 0 h 895"/>
                <a:gd name="T6" fmla="*/ 2496 w 5799"/>
                <a:gd name="T7" fmla="*/ 0 h 895"/>
                <a:gd name="T8" fmla="*/ 2632 w 5799"/>
                <a:gd name="T9" fmla="*/ 136 h 895"/>
                <a:gd name="T10" fmla="*/ 5799 w 5799"/>
                <a:gd name="T11" fmla="*/ 136 h 895"/>
                <a:gd name="T12" fmla="*/ 5788 w 5799"/>
                <a:gd name="T13" fmla="*/ 727 h 895"/>
                <a:gd name="T14" fmla="*/ 2883 w 5799"/>
                <a:gd name="T15" fmla="*/ 708 h 895"/>
                <a:gd name="T16" fmla="*/ 2747 w 5799"/>
                <a:gd name="T17" fmla="*/ 895 h 895"/>
                <a:gd name="T18" fmla="*/ 1899 w 5799"/>
                <a:gd name="T19" fmla="*/ 895 h 895"/>
                <a:gd name="T20" fmla="*/ 1681 w 5799"/>
                <a:gd name="T21" fmla="*/ 635 h 895"/>
                <a:gd name="T22" fmla="*/ 7 w 5799"/>
                <a:gd name="T23" fmla="*/ 635 h 895"/>
                <a:gd name="T24" fmla="*/ 7 w 5799"/>
                <a:gd name="T25" fmla="*/ 454 h 895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5799" h="895">
                  <a:moveTo>
                    <a:pt x="0" y="455"/>
                  </a:moveTo>
                  <a:lnTo>
                    <a:pt x="369" y="454"/>
                  </a:lnTo>
                  <a:lnTo>
                    <a:pt x="776" y="0"/>
                  </a:lnTo>
                  <a:lnTo>
                    <a:pt x="2496" y="0"/>
                  </a:lnTo>
                  <a:lnTo>
                    <a:pt x="2632" y="136"/>
                  </a:lnTo>
                  <a:lnTo>
                    <a:pt x="5799" y="136"/>
                  </a:lnTo>
                  <a:lnTo>
                    <a:pt x="5788" y="727"/>
                  </a:lnTo>
                  <a:lnTo>
                    <a:pt x="2883" y="708"/>
                  </a:lnTo>
                  <a:lnTo>
                    <a:pt x="2747" y="895"/>
                  </a:lnTo>
                  <a:lnTo>
                    <a:pt x="1899" y="895"/>
                  </a:lnTo>
                  <a:lnTo>
                    <a:pt x="1681" y="635"/>
                  </a:lnTo>
                  <a:lnTo>
                    <a:pt x="7" y="635"/>
                  </a:lnTo>
                  <a:lnTo>
                    <a:pt x="7" y="454"/>
                  </a:lnTo>
                </a:path>
              </a:pathLst>
            </a:custGeom>
            <a:blipFill dpi="0" rotWithShape="1">
              <a:blip r:embed="rId2" cstate="print"/>
              <a:srcRect/>
              <a:stretch>
                <a:fillRect/>
              </a:stretch>
            </a:blip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>
                <a:ea typeface="+mn-ea"/>
              </a:endParaRPr>
            </a:p>
          </p:txBody>
        </p:sp>
      </p:grpSp>
      <p:sp>
        <p:nvSpPr>
          <p:cNvPr id="79874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927351" y="4365625"/>
            <a:ext cx="8534400" cy="17526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3200"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79875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00151" y="1196975"/>
            <a:ext cx="10363200" cy="1470025"/>
          </a:xfrm>
        </p:spPr>
        <p:txBody>
          <a:bodyPr/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343025"/>
            <a:ext cx="5384800" cy="51371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343025"/>
            <a:ext cx="5384800" cy="51371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579439"/>
            <a:ext cx="2743200" cy="590073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579439"/>
            <a:ext cx="8026400" cy="590073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2800" y="579438"/>
            <a:ext cx="10464800" cy="56356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343025"/>
            <a:ext cx="5384800" cy="51371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343025"/>
            <a:ext cx="5384800" cy="51371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2800" y="579438"/>
            <a:ext cx="10464800" cy="56356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343025"/>
            <a:ext cx="5384800" cy="51371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343026"/>
            <a:ext cx="5384800" cy="24923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87801"/>
            <a:ext cx="5384800" cy="24923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2800" y="579438"/>
            <a:ext cx="10464800" cy="56356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343025"/>
            <a:ext cx="5384800" cy="51371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343026"/>
            <a:ext cx="5384800" cy="24923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87801"/>
            <a:ext cx="5384800" cy="24923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标题和内容在文本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219200" y="1676400"/>
            <a:ext cx="8839200" cy="1866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219200" y="3695700"/>
            <a:ext cx="8839200" cy="1866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812800" y="579438"/>
            <a:ext cx="10464800" cy="56356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09600" y="1343026"/>
            <a:ext cx="5384800" cy="24923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343026"/>
            <a:ext cx="5384800" cy="24923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09600" y="3987801"/>
            <a:ext cx="5384800" cy="24923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7600" y="3987801"/>
            <a:ext cx="5384800" cy="24923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/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914400" y="1981200"/>
            <a:ext cx="10363200" cy="4114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FC6AE96-43E9-4D4A-B7B7-8F9A2F2ADEFE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9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Freeform 16"/>
          <p:cNvSpPr>
            <a:spLocks/>
          </p:cNvSpPr>
          <p:nvPr/>
        </p:nvSpPr>
        <p:spPr bwMode="gray">
          <a:xfrm>
            <a:off x="1" y="360363"/>
            <a:ext cx="12198351" cy="900112"/>
          </a:xfrm>
          <a:custGeom>
            <a:avLst/>
            <a:gdLst>
              <a:gd name="T0" fmla="*/ 0 w 5763"/>
              <a:gd name="T1" fmla="*/ 584200 h 567"/>
              <a:gd name="T2" fmla="*/ 698500 w 5763"/>
              <a:gd name="T3" fmla="*/ 584200 h 567"/>
              <a:gd name="T4" fmla="*/ 1233488 w 5763"/>
              <a:gd name="T5" fmla="*/ 0 h 567"/>
              <a:gd name="T6" fmla="*/ 3432175 w 5763"/>
              <a:gd name="T7" fmla="*/ 0 h 567"/>
              <a:gd name="T8" fmla="*/ 3595688 w 5763"/>
              <a:gd name="T9" fmla="*/ 184150 h 567"/>
              <a:gd name="T10" fmla="*/ 9137650 w 5763"/>
              <a:gd name="T11" fmla="*/ 177800 h 567"/>
              <a:gd name="T12" fmla="*/ 9148763 w 5763"/>
              <a:gd name="T13" fmla="*/ 900112 h 567"/>
              <a:gd name="T14" fmla="*/ 9525 w 5763"/>
              <a:gd name="T15" fmla="*/ 882650 h 567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5763" h="567">
                <a:moveTo>
                  <a:pt x="0" y="368"/>
                </a:moveTo>
                <a:lnTo>
                  <a:pt x="440" y="368"/>
                </a:lnTo>
                <a:lnTo>
                  <a:pt x="777" y="0"/>
                </a:lnTo>
                <a:lnTo>
                  <a:pt x="2162" y="0"/>
                </a:lnTo>
                <a:lnTo>
                  <a:pt x="2265" y="116"/>
                </a:lnTo>
                <a:lnTo>
                  <a:pt x="5756" y="112"/>
                </a:lnTo>
                <a:lnTo>
                  <a:pt x="5763" y="567"/>
                </a:lnTo>
                <a:lnTo>
                  <a:pt x="6" y="556"/>
                </a:lnTo>
              </a:path>
            </a:pathLst>
          </a:custGeom>
          <a:solidFill>
            <a:schemeClr val="bg2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>
              <a:ea typeface="+mn-ea"/>
            </a:endParaRPr>
          </a:p>
        </p:txBody>
      </p:sp>
      <p:sp>
        <p:nvSpPr>
          <p:cNvPr id="1027" name="Freeform 15" descr="01b_img(Global Digtal Desigm(imageState)"/>
          <p:cNvSpPr>
            <a:spLocks/>
          </p:cNvSpPr>
          <p:nvPr/>
        </p:nvSpPr>
        <p:spPr bwMode="gray">
          <a:xfrm>
            <a:off x="-12700" y="336550"/>
            <a:ext cx="12242800" cy="838200"/>
          </a:xfrm>
          <a:custGeom>
            <a:avLst/>
            <a:gdLst>
              <a:gd name="T0" fmla="*/ 712788 w 5784"/>
              <a:gd name="T1" fmla="*/ 587375 h 528"/>
              <a:gd name="T2" fmla="*/ 1219200 w 5784"/>
              <a:gd name="T3" fmla="*/ 1588 h 528"/>
              <a:gd name="T4" fmla="*/ 3425825 w 5784"/>
              <a:gd name="T5" fmla="*/ 0 h 528"/>
              <a:gd name="T6" fmla="*/ 3584575 w 5784"/>
              <a:gd name="T7" fmla="*/ 182563 h 528"/>
              <a:gd name="T8" fmla="*/ 9182100 w 5784"/>
              <a:gd name="T9" fmla="*/ 182563 h 528"/>
              <a:gd name="T10" fmla="*/ 9174163 w 5784"/>
              <a:gd name="T11" fmla="*/ 838200 h 528"/>
              <a:gd name="T12" fmla="*/ 0 w 5784"/>
              <a:gd name="T13" fmla="*/ 823913 h 528"/>
              <a:gd name="T14" fmla="*/ 0 w 5784"/>
              <a:gd name="T15" fmla="*/ 588963 h 528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5784" h="528">
                <a:moveTo>
                  <a:pt x="449" y="370"/>
                </a:moveTo>
                <a:lnTo>
                  <a:pt x="768" y="1"/>
                </a:lnTo>
                <a:lnTo>
                  <a:pt x="2158" y="0"/>
                </a:lnTo>
                <a:lnTo>
                  <a:pt x="2258" y="115"/>
                </a:lnTo>
                <a:lnTo>
                  <a:pt x="5784" y="115"/>
                </a:lnTo>
                <a:lnTo>
                  <a:pt x="5779" y="528"/>
                </a:lnTo>
                <a:lnTo>
                  <a:pt x="0" y="519"/>
                </a:lnTo>
                <a:lnTo>
                  <a:pt x="0" y="371"/>
                </a:lnTo>
              </a:path>
            </a:pathLst>
          </a:custGeom>
          <a:blipFill dpi="0" rotWithShape="1">
            <a:blip r:embed="rId20" cstate="print"/>
            <a:srcRect/>
            <a:stretch>
              <a:fillRect/>
            </a:stretch>
          </a:blip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>
              <a:ea typeface="+mn-ea"/>
            </a:endParaRPr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343025"/>
            <a:ext cx="10972800" cy="5137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</p:txBody>
      </p:sp>
      <p:sp>
        <p:nvSpPr>
          <p:cNvPr id="5125" name="Rectangle 2"/>
          <p:cNvSpPr>
            <a:spLocks noGrp="1" noChangeArrowheads="1"/>
          </p:cNvSpPr>
          <p:nvPr>
            <p:ph type="title"/>
          </p:nvPr>
        </p:nvSpPr>
        <p:spPr bwMode="white">
          <a:xfrm>
            <a:off x="812800" y="579438"/>
            <a:ext cx="10464800" cy="563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2" r:id="rId17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  <a:ea typeface="黑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  <a:ea typeface="黑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  <a:ea typeface="黑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  <a:ea typeface="黑体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  <a:ea typeface="黑体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  <a:ea typeface="黑体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  <a:ea typeface="黑体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  <a:ea typeface="黑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v"/>
        <a:defRPr sz="28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sz="28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–"/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sz="1600" b="1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sz="1600" b="1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sz="1600" b="1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sz="1600" b="1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sz="16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image" Target="../media/image4.tmp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tags" Target="../tags/tag25.xml"/><Relationship Id="rId13" Type="http://schemas.openxmlformats.org/officeDocument/2006/relationships/tags" Target="../tags/tag30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20.xml"/><Relationship Id="rId7" Type="http://schemas.openxmlformats.org/officeDocument/2006/relationships/tags" Target="../tags/tag24.xml"/><Relationship Id="rId12" Type="http://schemas.openxmlformats.org/officeDocument/2006/relationships/tags" Target="../tags/tag29.xml"/><Relationship Id="rId17" Type="http://schemas.openxmlformats.org/officeDocument/2006/relationships/tags" Target="../tags/tag34.xml"/><Relationship Id="rId2" Type="http://schemas.openxmlformats.org/officeDocument/2006/relationships/tags" Target="../tags/tag19.xml"/><Relationship Id="rId16" Type="http://schemas.openxmlformats.org/officeDocument/2006/relationships/tags" Target="../tags/tag33.xml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11" Type="http://schemas.openxmlformats.org/officeDocument/2006/relationships/tags" Target="../tags/tag28.xml"/><Relationship Id="rId5" Type="http://schemas.openxmlformats.org/officeDocument/2006/relationships/tags" Target="../tags/tag22.xml"/><Relationship Id="rId15" Type="http://schemas.openxmlformats.org/officeDocument/2006/relationships/tags" Target="../tags/tag32.xml"/><Relationship Id="rId10" Type="http://schemas.openxmlformats.org/officeDocument/2006/relationships/tags" Target="../tags/tag27.xml"/><Relationship Id="rId19" Type="http://schemas.openxmlformats.org/officeDocument/2006/relationships/image" Target="../media/image4.tmp"/><Relationship Id="rId4" Type="http://schemas.openxmlformats.org/officeDocument/2006/relationships/tags" Target="../tags/tag21.xml"/><Relationship Id="rId9" Type="http://schemas.openxmlformats.org/officeDocument/2006/relationships/tags" Target="../tags/tag26.xml"/><Relationship Id="rId14" Type="http://schemas.openxmlformats.org/officeDocument/2006/relationships/tags" Target="../tags/tag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标题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第四章 自顶向下的分析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自顶向下的分析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自顶向下</a:t>
            </a:r>
            <a:r>
              <a:rPr lang="en-US" altLang="zh-CN" dirty="0">
                <a:solidFill>
                  <a:srgbClr val="FF0000"/>
                </a:solidFill>
              </a:rPr>
              <a:t>(top-down)</a:t>
            </a:r>
            <a:r>
              <a:rPr lang="zh-CN" altLang="en-US" dirty="0"/>
              <a:t>的分析算法通过在</a:t>
            </a:r>
            <a:r>
              <a:rPr lang="zh-CN" altLang="en-US" dirty="0">
                <a:solidFill>
                  <a:srgbClr val="FF0000"/>
                </a:solidFill>
              </a:rPr>
              <a:t>最左推导</a:t>
            </a:r>
            <a:r>
              <a:rPr lang="zh-CN" altLang="en-US" dirty="0"/>
              <a:t>中描述出来的各个步骤来分析记号串的输入，有时也说</a:t>
            </a:r>
            <a:r>
              <a:rPr lang="zh-CN" altLang="en-US" dirty="0">
                <a:solidFill>
                  <a:srgbClr val="FF0000"/>
                </a:solidFill>
              </a:rPr>
              <a:t>自上而下</a:t>
            </a:r>
            <a:r>
              <a:rPr lang="zh-CN" altLang="en-US" dirty="0"/>
              <a:t>的分析算法。</a:t>
            </a:r>
            <a:endParaRPr lang="en-US" altLang="zh-CN" dirty="0"/>
          </a:p>
          <a:p>
            <a:pPr eaLnBrk="1" hangingPunct="1">
              <a:lnSpc>
                <a:spcPct val="150000"/>
              </a:lnSpc>
            </a:pPr>
            <a:r>
              <a:rPr lang="zh-CN" altLang="en-US" dirty="0"/>
              <a:t>对任意的输入串，自顶向下的分析方法都是从</a:t>
            </a:r>
            <a:r>
              <a:rPr lang="zh-CN" altLang="en-US" dirty="0">
                <a:solidFill>
                  <a:srgbClr val="FF0000"/>
                </a:solidFill>
              </a:rPr>
              <a:t>开始符号</a:t>
            </a:r>
            <a:r>
              <a:rPr lang="zh-CN" altLang="en-US" dirty="0"/>
              <a:t>开始，向下推导，直至生成输入串</a:t>
            </a:r>
            <a:r>
              <a:rPr lang="zh-CN" altLang="en-US" dirty="0">
                <a:solidFill>
                  <a:srgbClr val="FF0000"/>
                </a:solidFill>
              </a:rPr>
              <a:t>句子</a:t>
            </a:r>
            <a:r>
              <a:rPr lang="zh-CN" altLang="en-US" dirty="0"/>
              <a:t>或者发生错误。</a:t>
            </a:r>
            <a:endParaRPr lang="en-US" altLang="zh-CN" dirty="0"/>
          </a:p>
          <a:p>
            <a:pPr eaLnBrk="1" hangingPunct="1">
              <a:lnSpc>
                <a:spcPct val="150000"/>
              </a:lnSpc>
            </a:pPr>
            <a:r>
              <a:rPr lang="zh-CN" altLang="en-US" dirty="0"/>
              <a:t>这意味着分析试图</a:t>
            </a:r>
            <a:r>
              <a:rPr lang="zh-CN" altLang="en-US" dirty="0">
                <a:solidFill>
                  <a:srgbClr val="FF0000"/>
                </a:solidFill>
              </a:rPr>
              <a:t>从根节点开始向叶子节点</a:t>
            </a:r>
            <a:r>
              <a:rPr lang="zh-CN" altLang="en-US" dirty="0"/>
              <a:t>构造一棵语法树。</a:t>
            </a:r>
            <a:endParaRPr lang="en-US" altLang="zh-CN" dirty="0"/>
          </a:p>
          <a:p>
            <a:pPr eaLnBrk="1" hangingPunct="1">
              <a:lnSpc>
                <a:spcPct val="150000"/>
              </a:lnSpc>
            </a:pPr>
            <a:r>
              <a:rPr lang="zh-CN" altLang="en-US" dirty="0"/>
              <a:t>本质上是一种</a:t>
            </a:r>
            <a:r>
              <a:rPr lang="zh-CN" altLang="en-US" dirty="0">
                <a:solidFill>
                  <a:srgbClr val="FF0000"/>
                </a:solidFill>
              </a:rPr>
              <a:t>试探</a:t>
            </a:r>
            <a:r>
              <a:rPr lang="zh-CN" altLang="en-US" dirty="0"/>
              <a:t>的分析过程。</a:t>
            </a:r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7" dur="500"/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2" dur="500"/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7" dur="500"/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" grpId="0" uiExpand="1" build="p" bldLvl="2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自顶向下的分析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sz="2400" dirty="0"/>
              <a:t>自顶向下的分析算法主要分为两类：</a:t>
            </a:r>
            <a:endParaRPr lang="en-US" altLang="zh-CN" sz="2400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sz="2400" dirty="0">
                <a:solidFill>
                  <a:srgbClr val="FF0000"/>
                </a:solidFill>
              </a:rPr>
              <a:t>回溯分析程序</a:t>
            </a:r>
            <a:r>
              <a:rPr lang="en-US" altLang="zh-CN" sz="2400" dirty="0"/>
              <a:t>(backtracking parser)</a:t>
            </a:r>
          </a:p>
          <a:p>
            <a:pPr lvl="1" eaLnBrk="1" hangingPunct="1">
              <a:lnSpc>
                <a:spcPct val="150000"/>
              </a:lnSpc>
            </a:pPr>
            <a:r>
              <a:rPr lang="zh-CN" altLang="en-US" sz="2400" dirty="0">
                <a:solidFill>
                  <a:srgbClr val="FF0000"/>
                </a:solidFill>
              </a:rPr>
              <a:t>预测分析程序</a:t>
            </a:r>
            <a:r>
              <a:rPr lang="en-US" altLang="zh-CN" sz="2400" dirty="0"/>
              <a:t>(predictive parser)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sz="2400" dirty="0"/>
              <a:t>设有文法</a:t>
            </a:r>
            <a:r>
              <a:rPr lang="en-US" altLang="zh-CN" sz="2400" dirty="0">
                <a:solidFill>
                  <a:srgbClr val="0000CC"/>
                </a:solidFill>
              </a:rPr>
              <a:t>S-&gt;</a:t>
            </a:r>
            <a:r>
              <a:rPr lang="en-US" altLang="zh-CN" sz="2400" dirty="0" err="1">
                <a:solidFill>
                  <a:srgbClr val="0000CC"/>
                </a:solidFill>
              </a:rPr>
              <a:t>xAy</a:t>
            </a:r>
            <a:r>
              <a:rPr lang="en-US" altLang="zh-CN" sz="2400" dirty="0">
                <a:solidFill>
                  <a:srgbClr val="0000CC"/>
                </a:solidFill>
              </a:rPr>
              <a:t>   A-&gt;</a:t>
            </a:r>
            <a:r>
              <a:rPr lang="zh-CN" altLang="en-US" sz="2400" dirty="0">
                <a:solidFill>
                  <a:srgbClr val="0000CC"/>
                </a:solidFill>
              </a:rPr>
              <a:t>**</a:t>
            </a:r>
            <a:r>
              <a:rPr lang="en-US" altLang="zh-CN" sz="2400" dirty="0">
                <a:solidFill>
                  <a:srgbClr val="0000CC"/>
                </a:solidFill>
              </a:rPr>
              <a:t>|</a:t>
            </a:r>
            <a:r>
              <a:rPr lang="zh-CN" altLang="en-US" sz="2400" dirty="0">
                <a:solidFill>
                  <a:srgbClr val="0000CC"/>
                </a:solidFill>
              </a:rPr>
              <a:t>*</a:t>
            </a:r>
            <a:r>
              <a:rPr lang="en-US" altLang="zh-CN" sz="2400" dirty="0">
                <a:solidFill>
                  <a:srgbClr val="0000CC"/>
                </a:solidFill>
              </a:rPr>
              <a:t> </a:t>
            </a:r>
            <a:r>
              <a:rPr lang="zh-CN" altLang="en-US" sz="2400" dirty="0"/>
              <a:t>，分析串</a:t>
            </a:r>
            <a:r>
              <a:rPr lang="en-US" altLang="zh-CN" sz="2400" dirty="0">
                <a:solidFill>
                  <a:srgbClr val="0000CC"/>
                </a:solidFill>
              </a:rPr>
              <a:t>x*y</a:t>
            </a:r>
            <a:r>
              <a:rPr lang="zh-CN" altLang="en-US" sz="2400" dirty="0"/>
              <a:t>是不是它能识别的串。</a:t>
            </a:r>
            <a:endParaRPr lang="en-US" altLang="zh-CN" sz="2400" dirty="0"/>
          </a:p>
          <a:p>
            <a:pPr marL="0" indent="0" eaLnBrk="1" hangingPunct="1">
              <a:lnSpc>
                <a:spcPct val="150000"/>
              </a:lnSpc>
              <a:buNone/>
            </a:pPr>
            <a:r>
              <a:rPr lang="en-US" altLang="zh-CN" sz="2400" dirty="0"/>
              <a:t>          </a:t>
            </a:r>
            <a:r>
              <a:rPr lang="en-US" altLang="zh-CN" sz="2400" dirty="0">
                <a:solidFill>
                  <a:srgbClr val="0000CC"/>
                </a:solidFill>
              </a:rPr>
              <a:t>S</a:t>
            </a:r>
            <a:r>
              <a:rPr lang="en-US" altLang="zh-CN" sz="2400" dirty="0">
                <a:solidFill>
                  <a:srgbClr val="0000CC"/>
                </a:solidFill>
                <a:sym typeface="Symbol" panose="05050102010706020507" pitchFamily="18" charset="2"/>
              </a:rPr>
              <a:t> </a:t>
            </a:r>
            <a:r>
              <a:rPr lang="en-US" altLang="zh-CN" sz="2400" dirty="0" err="1">
                <a:solidFill>
                  <a:srgbClr val="0000CC"/>
                </a:solidFill>
                <a:sym typeface="Symbol" panose="05050102010706020507" pitchFamily="18" charset="2"/>
              </a:rPr>
              <a:t>xAy</a:t>
            </a:r>
            <a:r>
              <a:rPr lang="en-US" altLang="zh-CN" sz="2400" dirty="0">
                <a:solidFill>
                  <a:srgbClr val="0000CC"/>
                </a:solidFill>
                <a:sym typeface="Symbol" panose="05050102010706020507" pitchFamily="18" charset="2"/>
              </a:rPr>
              <a:t> x</a:t>
            </a:r>
            <a:r>
              <a:rPr lang="zh-CN" altLang="en-US" sz="2400" dirty="0">
                <a:solidFill>
                  <a:srgbClr val="0000CC"/>
                </a:solidFill>
                <a:sym typeface="Symbol" panose="05050102010706020507" pitchFamily="18" charset="2"/>
              </a:rPr>
              <a:t>**</a:t>
            </a:r>
            <a:r>
              <a:rPr lang="en-US" altLang="zh-CN" sz="2400" dirty="0">
                <a:solidFill>
                  <a:srgbClr val="0000CC"/>
                </a:solidFill>
                <a:sym typeface="Symbol" panose="05050102010706020507" pitchFamily="18" charset="2"/>
              </a:rPr>
              <a:t>y </a:t>
            </a:r>
            <a:r>
              <a:rPr lang="en-US" altLang="zh-CN" sz="2400" dirty="0">
                <a:sym typeface="Symbol" panose="05050102010706020507" pitchFamily="18" charset="2"/>
              </a:rPr>
              <a:t> </a:t>
            </a:r>
            <a:r>
              <a:rPr lang="zh-CN" altLang="en-US" sz="2400" dirty="0">
                <a:sym typeface="Symbol" panose="05050102010706020507" pitchFamily="18" charset="2"/>
              </a:rPr>
              <a:t>发现错误则回溯选用</a:t>
            </a:r>
            <a:r>
              <a:rPr lang="en-US" altLang="zh-CN" sz="2400" dirty="0">
                <a:solidFill>
                  <a:srgbClr val="0000CC"/>
                </a:solidFill>
                <a:sym typeface="Symbol" panose="05050102010706020507" pitchFamily="18" charset="2"/>
              </a:rPr>
              <a:t>A-&gt;</a:t>
            </a:r>
            <a:r>
              <a:rPr lang="zh-CN" altLang="en-US" sz="2400" dirty="0">
                <a:solidFill>
                  <a:srgbClr val="0000CC"/>
                </a:solidFill>
                <a:sym typeface="Symbol" panose="05050102010706020507" pitchFamily="18" charset="2"/>
              </a:rPr>
              <a:t>*</a:t>
            </a:r>
            <a:r>
              <a:rPr lang="zh-CN" altLang="en-US" sz="2400" dirty="0">
                <a:sym typeface="Symbol" panose="05050102010706020507" pitchFamily="18" charset="2"/>
              </a:rPr>
              <a:t>来推导</a:t>
            </a:r>
            <a:endParaRPr lang="en-US" altLang="zh-CN" sz="2400" dirty="0">
              <a:sym typeface="Symbol" panose="05050102010706020507" pitchFamily="18" charset="2"/>
            </a:endParaRPr>
          </a:p>
          <a:p>
            <a:pPr marL="0" indent="0" eaLnBrk="1" hangingPunct="1">
              <a:lnSpc>
                <a:spcPct val="150000"/>
              </a:lnSpc>
              <a:buNone/>
            </a:pPr>
            <a:r>
              <a:rPr lang="en-US" altLang="zh-CN" sz="2400" dirty="0">
                <a:sym typeface="Symbol" panose="05050102010706020507" pitchFamily="18" charset="2"/>
              </a:rPr>
              <a:t>          </a:t>
            </a:r>
            <a:r>
              <a:rPr lang="en-US" altLang="zh-CN" sz="2400" dirty="0">
                <a:solidFill>
                  <a:srgbClr val="0000CC"/>
                </a:solidFill>
              </a:rPr>
              <a:t>S</a:t>
            </a:r>
            <a:r>
              <a:rPr lang="en-US" altLang="zh-CN" sz="2400" dirty="0">
                <a:solidFill>
                  <a:srgbClr val="0000CC"/>
                </a:solidFill>
                <a:sym typeface="Symbol" panose="05050102010706020507" pitchFamily="18" charset="2"/>
              </a:rPr>
              <a:t> </a:t>
            </a:r>
            <a:r>
              <a:rPr lang="en-US" altLang="zh-CN" sz="2400" dirty="0" err="1">
                <a:solidFill>
                  <a:srgbClr val="0000CC"/>
                </a:solidFill>
                <a:sym typeface="Symbol" panose="05050102010706020507" pitchFamily="18" charset="2"/>
              </a:rPr>
              <a:t>xAy</a:t>
            </a:r>
            <a:r>
              <a:rPr lang="en-US" altLang="zh-CN" sz="2400" dirty="0">
                <a:solidFill>
                  <a:srgbClr val="0000CC"/>
                </a:solidFill>
                <a:sym typeface="Symbol" panose="05050102010706020507" pitchFamily="18" charset="2"/>
              </a:rPr>
              <a:t> x*y</a:t>
            </a:r>
            <a:endParaRPr lang="en-US" altLang="zh-CN" sz="2400" dirty="0">
              <a:solidFill>
                <a:srgbClr val="0000CC"/>
              </a:solidFill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2400" dirty="0"/>
              <a:t>回溯分析比预测分析强大，但通常都非常慢，对构造实际的编译器并不合适。本章介绍的都是</a:t>
            </a:r>
            <a:r>
              <a:rPr lang="zh-CN" altLang="en-US" sz="2400" dirty="0">
                <a:solidFill>
                  <a:srgbClr val="FF0000"/>
                </a:solidFill>
              </a:rPr>
              <a:t>预测分析</a:t>
            </a:r>
            <a:r>
              <a:rPr lang="zh-CN" altLang="en-US" sz="2400" dirty="0"/>
              <a:t>方法。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969665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0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0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自顶向下的分析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sz="2400" dirty="0"/>
              <a:t>预测分析方法一般利用</a:t>
            </a:r>
            <a:r>
              <a:rPr lang="zh-CN" altLang="en-US" sz="2400" dirty="0">
                <a:solidFill>
                  <a:srgbClr val="FF0000"/>
                </a:solidFill>
              </a:rPr>
              <a:t>一个或者多个输入记号</a:t>
            </a:r>
            <a:r>
              <a:rPr lang="zh-CN" altLang="en-US" sz="2400" dirty="0"/>
              <a:t>来预测</a:t>
            </a:r>
            <a:r>
              <a:rPr lang="zh-CN" altLang="en-US" sz="2400" dirty="0">
                <a:solidFill>
                  <a:srgbClr val="FF0000"/>
                </a:solidFill>
              </a:rPr>
              <a:t>在多个产生式</a:t>
            </a:r>
            <a:r>
              <a:rPr lang="zh-CN" altLang="en-US" sz="2400" dirty="0"/>
              <a:t>中怎么选择。</a:t>
            </a:r>
            <a:endParaRPr lang="en-US" altLang="zh-CN" sz="2400" dirty="0"/>
          </a:p>
          <a:p>
            <a:pPr eaLnBrk="1" hangingPunct="1">
              <a:lnSpc>
                <a:spcPct val="150000"/>
              </a:lnSpc>
            </a:pPr>
            <a:r>
              <a:rPr lang="zh-CN" altLang="en-US" sz="2400" dirty="0"/>
              <a:t>设有文法</a:t>
            </a:r>
            <a:r>
              <a:rPr lang="en-US" altLang="zh-CN" sz="2400" dirty="0">
                <a:solidFill>
                  <a:srgbClr val="0000CC"/>
                </a:solidFill>
              </a:rPr>
              <a:t>S-&gt;</a:t>
            </a:r>
            <a:r>
              <a:rPr lang="en-US" altLang="zh-CN" sz="2400" dirty="0" err="1">
                <a:solidFill>
                  <a:srgbClr val="0000CC"/>
                </a:solidFill>
              </a:rPr>
              <a:t>xAy</a:t>
            </a:r>
            <a:r>
              <a:rPr lang="en-US" altLang="zh-CN" sz="2400" dirty="0">
                <a:solidFill>
                  <a:srgbClr val="0000CC"/>
                </a:solidFill>
              </a:rPr>
              <a:t>   A-&gt;+|</a:t>
            </a:r>
            <a:r>
              <a:rPr lang="zh-CN" altLang="en-US" sz="2400" dirty="0">
                <a:solidFill>
                  <a:srgbClr val="0000CC"/>
                </a:solidFill>
              </a:rPr>
              <a:t>*</a:t>
            </a:r>
            <a:r>
              <a:rPr lang="zh-CN" altLang="en-US" sz="2400" dirty="0"/>
              <a:t>，分析串</a:t>
            </a:r>
            <a:r>
              <a:rPr lang="en-US" altLang="zh-CN" sz="2400" dirty="0">
                <a:solidFill>
                  <a:srgbClr val="0000CC"/>
                </a:solidFill>
              </a:rPr>
              <a:t>x</a:t>
            </a:r>
            <a:r>
              <a:rPr lang="zh-CN" altLang="en-US" sz="2400" dirty="0">
                <a:solidFill>
                  <a:srgbClr val="0000CC"/>
                </a:solidFill>
              </a:rPr>
              <a:t>*</a:t>
            </a:r>
            <a:r>
              <a:rPr lang="en-US" altLang="zh-CN" sz="2400" dirty="0">
                <a:solidFill>
                  <a:srgbClr val="0000CC"/>
                </a:solidFill>
              </a:rPr>
              <a:t>y</a:t>
            </a:r>
            <a:r>
              <a:rPr lang="zh-CN" altLang="en-US" sz="2400" dirty="0"/>
              <a:t>，当推导出</a:t>
            </a:r>
            <a:r>
              <a:rPr lang="en-US" altLang="zh-CN" sz="2400" dirty="0">
                <a:solidFill>
                  <a:srgbClr val="0000CC"/>
                </a:solidFill>
              </a:rPr>
              <a:t>S</a:t>
            </a:r>
            <a:r>
              <a:rPr lang="en-US" altLang="zh-CN" sz="2400" dirty="0">
                <a:solidFill>
                  <a:srgbClr val="0000CC"/>
                </a:solidFill>
                <a:sym typeface="Symbol" panose="05050102010706020507" pitchFamily="18" charset="2"/>
              </a:rPr>
              <a:t> </a:t>
            </a:r>
            <a:r>
              <a:rPr lang="en-US" altLang="zh-CN" sz="2400" dirty="0" err="1">
                <a:solidFill>
                  <a:srgbClr val="0000CC"/>
                </a:solidFill>
                <a:sym typeface="Symbol" panose="05050102010706020507" pitchFamily="18" charset="2"/>
              </a:rPr>
              <a:t>xAy</a:t>
            </a:r>
            <a:r>
              <a:rPr lang="zh-CN" altLang="en-US" sz="2400" dirty="0">
                <a:sym typeface="Symbol" panose="05050102010706020507" pitchFamily="18" charset="2"/>
              </a:rPr>
              <a:t>时，由于下一个记号是</a:t>
            </a:r>
            <a:r>
              <a:rPr lang="zh-CN" altLang="en-US" sz="2400" dirty="0">
                <a:solidFill>
                  <a:srgbClr val="0000CC"/>
                </a:solidFill>
                <a:sym typeface="Symbol" panose="05050102010706020507" pitchFamily="18" charset="2"/>
              </a:rPr>
              <a:t>*</a:t>
            </a:r>
            <a:r>
              <a:rPr lang="zh-CN" altLang="en-US" sz="2400" dirty="0">
                <a:sym typeface="Symbol" panose="05050102010706020507" pitchFamily="18" charset="2"/>
              </a:rPr>
              <a:t>，那么选择</a:t>
            </a:r>
            <a:r>
              <a:rPr lang="en-US" altLang="zh-CN" sz="2400" dirty="0">
                <a:solidFill>
                  <a:srgbClr val="0000CC"/>
                </a:solidFill>
              </a:rPr>
              <a:t>A-&gt;</a:t>
            </a:r>
            <a:r>
              <a:rPr lang="zh-CN" altLang="en-US" sz="2400" dirty="0">
                <a:solidFill>
                  <a:srgbClr val="0000CC"/>
                </a:solidFill>
              </a:rPr>
              <a:t>*</a:t>
            </a:r>
            <a:r>
              <a:rPr lang="en-US" altLang="zh-CN" sz="2400" dirty="0"/>
              <a:t> </a:t>
            </a:r>
            <a:r>
              <a:rPr lang="zh-CN" altLang="en-US" sz="2400" dirty="0"/>
              <a:t>来替换。</a:t>
            </a:r>
            <a:endParaRPr lang="en-US" altLang="zh-CN" sz="2400" dirty="0"/>
          </a:p>
          <a:p>
            <a:pPr eaLnBrk="1" hangingPunct="1">
              <a:lnSpc>
                <a:spcPct val="150000"/>
              </a:lnSpc>
            </a:pPr>
            <a:r>
              <a:rPr lang="zh-CN" altLang="en-US" sz="2400" dirty="0"/>
              <a:t>接下来要介绍的预测分析方法有两种：</a:t>
            </a:r>
            <a:endParaRPr lang="en-US" altLang="zh-CN" sz="2400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sz="2400" dirty="0">
                <a:solidFill>
                  <a:srgbClr val="FF0000"/>
                </a:solidFill>
              </a:rPr>
              <a:t>递归下降分析</a:t>
            </a:r>
            <a:r>
              <a:rPr lang="en-US" altLang="zh-CN" sz="2400" dirty="0"/>
              <a:t>(recursive-decent </a:t>
            </a:r>
            <a:r>
              <a:rPr lang="en-US" altLang="zh-CN" sz="2400" dirty="0" err="1"/>
              <a:t>pasering</a:t>
            </a:r>
            <a:r>
              <a:rPr lang="en-US" altLang="zh-CN" sz="2400" dirty="0"/>
              <a:t>)</a:t>
            </a:r>
            <a:r>
              <a:rPr lang="zh-CN" altLang="en-US" sz="2400" dirty="0"/>
              <a:t>：适合手工构造分析程序。</a:t>
            </a:r>
            <a:endParaRPr lang="en-US" altLang="zh-CN" sz="2400" dirty="0"/>
          </a:p>
          <a:p>
            <a:pPr lvl="1" eaLnBrk="1" hangingPunct="1">
              <a:lnSpc>
                <a:spcPct val="150000"/>
              </a:lnSpc>
            </a:pPr>
            <a:r>
              <a:rPr lang="en-US" altLang="zh-CN" sz="2400" dirty="0">
                <a:solidFill>
                  <a:srgbClr val="FF0000"/>
                </a:solidFill>
              </a:rPr>
              <a:t>LL(1)</a:t>
            </a:r>
            <a:r>
              <a:rPr lang="zh-CN" altLang="en-US" sz="2400" dirty="0">
                <a:solidFill>
                  <a:srgbClr val="FF0000"/>
                </a:solidFill>
              </a:rPr>
              <a:t>分析</a:t>
            </a:r>
            <a:r>
              <a:rPr lang="en-US" altLang="zh-CN" sz="2400" dirty="0"/>
              <a:t>(LL(1) </a:t>
            </a:r>
            <a:r>
              <a:rPr lang="en-US" altLang="zh-CN" sz="2400" dirty="0" err="1"/>
              <a:t>pasering</a:t>
            </a:r>
            <a:r>
              <a:rPr lang="en-US" altLang="zh-CN" sz="2400" dirty="0"/>
              <a:t>)</a:t>
            </a:r>
            <a:r>
              <a:rPr lang="zh-CN" altLang="en-US" sz="2400" dirty="0"/>
              <a:t>：带有显式栈的分析方法。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1758904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7" dur="500"/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2" dur="500"/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5" dur="500"/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8" dur="500"/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" grpId="0" uiExpand="1" build="p" bldLvl="2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递归下降分析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 marL="609600" indent="-609600" eaLnBrk="1" hangingPunct="1"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递归下降分析</a:t>
            </a:r>
            <a:r>
              <a:rPr lang="zh-CN" altLang="en-US" dirty="0"/>
              <a:t>的概念极为简单：</a:t>
            </a:r>
            <a:r>
              <a:rPr lang="zh-CN" altLang="en-US" dirty="0">
                <a:solidFill>
                  <a:srgbClr val="FF0000"/>
                </a:solidFill>
              </a:rPr>
              <a:t>将一个非终结符的文法规则看作是识别</a:t>
            </a:r>
            <a:r>
              <a:rPr lang="en-US" altLang="zh-CN" dirty="0">
                <a:solidFill>
                  <a:srgbClr val="FF0000"/>
                </a:solidFill>
              </a:rPr>
              <a:t>A</a:t>
            </a:r>
            <a:r>
              <a:rPr lang="zh-CN" altLang="en-US" dirty="0">
                <a:solidFill>
                  <a:srgbClr val="FF0000"/>
                </a:solidFill>
              </a:rPr>
              <a:t>的一个过程的定义</a:t>
            </a:r>
            <a:r>
              <a:rPr lang="zh-CN" altLang="en-US" dirty="0"/>
              <a:t>。</a:t>
            </a:r>
            <a:endParaRPr lang="en-US" altLang="zh-CN" dirty="0"/>
          </a:p>
          <a:p>
            <a:pPr marL="609600" indent="-609600" eaLnBrk="1" hangingPunct="1">
              <a:lnSpc>
                <a:spcPct val="150000"/>
              </a:lnSpc>
            </a:pPr>
            <a:r>
              <a:rPr lang="en-US" altLang="zh-CN" dirty="0"/>
              <a:t>A</a:t>
            </a:r>
            <a:r>
              <a:rPr lang="zh-CN" altLang="en-US" dirty="0"/>
              <a:t>的文法规则的右侧描述了这个过程的代码结构：</a:t>
            </a:r>
            <a:endParaRPr lang="en-US" altLang="zh-CN" dirty="0"/>
          </a:p>
          <a:p>
            <a:pPr marL="1009650" lvl="1" indent="-609600" eaLnBrk="1" hangingPunct="1"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终结符</a:t>
            </a:r>
            <a:r>
              <a:rPr lang="zh-CN" altLang="en-US" dirty="0"/>
              <a:t>对应着输入匹配的检查</a:t>
            </a:r>
            <a:endParaRPr lang="en-US" altLang="zh-CN" dirty="0"/>
          </a:p>
          <a:p>
            <a:pPr marL="1009650" lvl="1" indent="-609600" eaLnBrk="1" hangingPunct="1"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非终结符</a:t>
            </a:r>
            <a:r>
              <a:rPr lang="zh-CN" altLang="en-US" dirty="0"/>
              <a:t>对应着相应实现过程的调用</a:t>
            </a:r>
            <a:endParaRPr lang="en-US" altLang="zh-CN" dirty="0"/>
          </a:p>
          <a:p>
            <a:pPr marL="1009650" lvl="1" indent="-609600" eaLnBrk="1" hangingPunct="1"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选择</a:t>
            </a:r>
            <a:r>
              <a:rPr lang="zh-CN" altLang="en-US" dirty="0"/>
              <a:t>对应着代码中的</a:t>
            </a:r>
            <a:r>
              <a:rPr lang="en-US" altLang="zh-CN" dirty="0"/>
              <a:t>case</a:t>
            </a:r>
            <a:r>
              <a:rPr lang="zh-CN" altLang="en-US" dirty="0"/>
              <a:t>或者</a:t>
            </a:r>
            <a:r>
              <a:rPr lang="en-US" altLang="zh-CN" dirty="0"/>
              <a:t>if</a:t>
            </a:r>
            <a:r>
              <a:rPr lang="zh-CN" altLang="en-US" dirty="0"/>
              <a:t>结构</a:t>
            </a:r>
          </a:p>
          <a:p>
            <a:pPr>
              <a:lnSpc>
                <a:spcPct val="150000"/>
              </a:lnSpc>
            </a:pPr>
            <a:endParaRPr lang="en-US" altLang="zh-CN" dirty="0"/>
          </a:p>
          <a:p>
            <a:pPr>
              <a:lnSpc>
                <a:spcPct val="150000"/>
              </a:lnSpc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09097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示例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83432" y="1196752"/>
            <a:ext cx="5726732" cy="2520280"/>
          </a:xfrm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sz="2400" dirty="0"/>
              <a:t>算术表达式文法</a:t>
            </a:r>
            <a:r>
              <a:rPr lang="en-US" altLang="zh-CN" sz="2400" dirty="0"/>
              <a:t>:</a:t>
            </a:r>
            <a:endParaRPr lang="en-US" altLang="zh-CN" sz="2400" i="1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 → exp </a:t>
            </a:r>
            <a:r>
              <a:rPr lang="en-US" altLang="zh-CN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addop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term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∣</a:t>
            </a:r>
            <a:r>
              <a:rPr lang="en-US" altLang="zh-CN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term</a:t>
            </a:r>
            <a:endParaRPr lang="en-US" altLang="zh-CN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addop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+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∣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term → term </a:t>
            </a:r>
            <a:r>
              <a:rPr lang="en-US" altLang="zh-CN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mulop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factor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∣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factor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mulop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→*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24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factor →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∣ </a:t>
            </a:r>
            <a:r>
              <a:rPr lang="en-US" altLang="zh-CN" sz="24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</a:t>
            </a:r>
            <a:endParaRPr lang="zh-CN" altLang="en-US" sz="2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90550" indent="-533400" eaLnBrk="1" hangingPunct="1">
              <a:lnSpc>
                <a:spcPct val="150000"/>
              </a:lnSpc>
            </a:pPr>
            <a:endParaRPr lang="zh-CN" altLang="en-US" sz="2400" dirty="0"/>
          </a:p>
          <a:p>
            <a:pPr>
              <a:lnSpc>
                <a:spcPct val="150000"/>
              </a:lnSpc>
            </a:pPr>
            <a:endParaRPr lang="en-US" altLang="zh-CN" sz="2400" dirty="0"/>
          </a:p>
          <a:p>
            <a:pPr>
              <a:lnSpc>
                <a:spcPct val="150000"/>
              </a:lnSpc>
            </a:pPr>
            <a:endParaRPr lang="zh-CN" altLang="en-US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9FA78D8-8BF7-4360-865A-5704B222E0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2104" y="1196752"/>
            <a:ext cx="4176464" cy="4536504"/>
          </a:xfrm>
          <a:prstGeom prst="rect">
            <a:avLst/>
          </a:prstGeom>
          <a:solidFill>
            <a:schemeClr val="bg1"/>
          </a:solidFill>
          <a:ln w="28575">
            <a:solidFill>
              <a:srgbClr val="9999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80000"/>
              </a:lnSpc>
              <a:buNone/>
            </a:pPr>
            <a:r>
              <a:rPr lang="en-US" altLang="zh-CN" sz="2400" kern="0" dirty="0">
                <a:solidFill>
                  <a:srgbClr val="FF0000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factor</a:t>
            </a:r>
            <a:r>
              <a:rPr lang="en-US" altLang="zh-CN" sz="2400" kern="0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()</a:t>
            </a:r>
          </a:p>
          <a:p>
            <a:pPr>
              <a:lnSpc>
                <a:spcPct val="80000"/>
              </a:lnSpc>
              <a:buNone/>
            </a:pPr>
            <a:r>
              <a:rPr lang="en-US" altLang="zh-CN" sz="2400" kern="0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{</a:t>
            </a:r>
          </a:p>
          <a:p>
            <a:pPr>
              <a:lnSpc>
                <a:spcPct val="80000"/>
              </a:lnSpc>
              <a:buNone/>
            </a:pPr>
            <a:r>
              <a:rPr lang="en-US" altLang="zh-CN" sz="2400" kern="0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	if  (</a:t>
            </a:r>
            <a:r>
              <a:rPr lang="en-US" altLang="zh-CN" sz="2400" kern="0" dirty="0">
                <a:solidFill>
                  <a:srgbClr val="0000CC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token</a:t>
            </a:r>
            <a:r>
              <a:rPr lang="en-US" altLang="zh-CN" sz="2400" kern="0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== ‘(‘)    </a:t>
            </a:r>
          </a:p>
          <a:p>
            <a:pPr>
              <a:lnSpc>
                <a:spcPct val="80000"/>
              </a:lnSpc>
              <a:buNone/>
            </a:pPr>
            <a:r>
              <a:rPr lang="en-US" altLang="zh-CN" sz="2400" kern="0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   {   </a:t>
            </a:r>
          </a:p>
          <a:p>
            <a:pPr>
              <a:lnSpc>
                <a:spcPct val="80000"/>
              </a:lnSpc>
              <a:buNone/>
            </a:pPr>
            <a:r>
              <a:rPr lang="en-US" altLang="zh-CN" sz="2400" kern="0" dirty="0">
                <a:solidFill>
                  <a:srgbClr val="FF0000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  		match</a:t>
            </a:r>
            <a:r>
              <a:rPr lang="en-US" altLang="zh-CN" sz="2400" kern="0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( ‘</a:t>
            </a:r>
            <a:r>
              <a:rPr lang="en-US" altLang="zh-CN" sz="2400" kern="0" dirty="0">
                <a:solidFill>
                  <a:srgbClr val="0000CC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(‘</a:t>
            </a:r>
            <a:r>
              <a:rPr lang="en-US" altLang="zh-CN" sz="2400" kern="0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);</a:t>
            </a:r>
          </a:p>
          <a:p>
            <a:pPr>
              <a:lnSpc>
                <a:spcPct val="80000"/>
              </a:lnSpc>
              <a:buNone/>
            </a:pPr>
            <a:r>
              <a:rPr lang="en-US" altLang="zh-CN" sz="2400" kern="0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         	</a:t>
            </a:r>
            <a:r>
              <a:rPr lang="en-US" altLang="zh-CN" sz="2400" kern="0" dirty="0">
                <a:solidFill>
                  <a:srgbClr val="FF0000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exp</a:t>
            </a:r>
            <a:r>
              <a:rPr lang="en-US" altLang="zh-CN" sz="2400" kern="0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();</a:t>
            </a:r>
          </a:p>
          <a:p>
            <a:pPr>
              <a:lnSpc>
                <a:spcPct val="80000"/>
              </a:lnSpc>
              <a:buNone/>
            </a:pPr>
            <a:r>
              <a:rPr lang="en-US" altLang="zh-CN" sz="2400" kern="0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        	</a:t>
            </a:r>
            <a:r>
              <a:rPr lang="en-US" altLang="zh-CN" sz="2400" kern="0" dirty="0">
                <a:solidFill>
                  <a:srgbClr val="FF0000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match</a:t>
            </a:r>
            <a:r>
              <a:rPr lang="en-US" altLang="zh-CN" sz="2400" kern="0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( ‘</a:t>
            </a:r>
            <a:r>
              <a:rPr lang="en-US" altLang="zh-CN" sz="2400" kern="0" dirty="0">
                <a:solidFill>
                  <a:srgbClr val="0000CC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)’</a:t>
            </a:r>
            <a:r>
              <a:rPr lang="en-US" altLang="zh-CN" sz="2400" kern="0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);</a:t>
            </a:r>
          </a:p>
          <a:p>
            <a:pPr>
              <a:lnSpc>
                <a:spcPct val="80000"/>
              </a:lnSpc>
              <a:buNone/>
            </a:pPr>
            <a:r>
              <a:rPr lang="en-US" altLang="zh-CN" sz="2400" kern="0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   }</a:t>
            </a:r>
          </a:p>
          <a:p>
            <a:pPr>
              <a:lnSpc>
                <a:spcPct val="80000"/>
              </a:lnSpc>
              <a:buNone/>
            </a:pPr>
            <a:r>
              <a:rPr lang="en-US" altLang="zh-CN" sz="2400" kern="0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   else if  (</a:t>
            </a:r>
            <a:r>
              <a:rPr lang="en-US" altLang="zh-CN" sz="2400" kern="0" dirty="0">
                <a:solidFill>
                  <a:srgbClr val="0000CC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token</a:t>
            </a:r>
            <a:r>
              <a:rPr lang="en-US" altLang="zh-CN" sz="2400" kern="0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== number)        	</a:t>
            </a:r>
            <a:r>
              <a:rPr lang="en-US" altLang="zh-CN" sz="2400" kern="0" dirty="0">
                <a:solidFill>
                  <a:srgbClr val="FF0000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match</a:t>
            </a:r>
            <a:r>
              <a:rPr lang="en-US" altLang="zh-CN" sz="2400" kern="0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(</a:t>
            </a:r>
            <a:r>
              <a:rPr lang="en-US" altLang="zh-CN" sz="2400" kern="0" dirty="0">
                <a:solidFill>
                  <a:srgbClr val="0000CC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number</a:t>
            </a:r>
            <a:r>
              <a:rPr lang="en-US" altLang="zh-CN" sz="2400" kern="0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);</a:t>
            </a:r>
          </a:p>
          <a:p>
            <a:pPr>
              <a:lnSpc>
                <a:spcPct val="80000"/>
              </a:lnSpc>
              <a:buNone/>
            </a:pPr>
            <a:r>
              <a:rPr lang="en-US" altLang="zh-CN" sz="2400" kern="0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   else error();</a:t>
            </a:r>
          </a:p>
          <a:p>
            <a:pPr>
              <a:lnSpc>
                <a:spcPct val="80000"/>
              </a:lnSpc>
              <a:buNone/>
            </a:pPr>
            <a:r>
              <a:rPr lang="en-US" altLang="zh-CN" sz="2400" kern="0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}</a:t>
            </a:r>
            <a:endParaRPr lang="zh-CN" altLang="en-US" sz="2400" kern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9B91196B-CBCC-4435-A4E2-98365699B51D}"/>
              </a:ext>
            </a:extLst>
          </p:cNvPr>
          <p:cNvSpPr txBox="1">
            <a:spLocks/>
          </p:cNvSpPr>
          <p:nvPr/>
        </p:nvSpPr>
        <p:spPr bwMode="auto">
          <a:xfrm>
            <a:off x="983432" y="3914800"/>
            <a:ext cx="5726732" cy="2826568"/>
          </a:xfrm>
          <a:prstGeom prst="rect">
            <a:avLst/>
          </a:prstGeom>
          <a:solidFill>
            <a:schemeClr val="bg1"/>
          </a:solidFill>
          <a:ln w="28575">
            <a:solidFill>
              <a:srgbClr val="9999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90000"/>
              </a:lnSpc>
              <a:buNone/>
            </a:pPr>
            <a:r>
              <a:rPr lang="en-US" altLang="zh-CN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match</a:t>
            </a:r>
            <a:r>
              <a:rPr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( </a:t>
            </a:r>
            <a:r>
              <a:rPr lang="en-US" altLang="zh-CN" sz="2400" dirty="0" err="1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expectedToken</a:t>
            </a:r>
            <a:r>
              <a:rPr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>
              <a:lnSpc>
                <a:spcPct val="90000"/>
              </a:lnSpc>
              <a:buNone/>
            </a:pPr>
            <a:r>
              <a:rPr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{</a:t>
            </a:r>
          </a:p>
          <a:p>
            <a:pPr>
              <a:lnSpc>
                <a:spcPct val="90000"/>
              </a:lnSpc>
              <a:buNone/>
            </a:pPr>
            <a:r>
              <a:rPr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    if (</a:t>
            </a:r>
            <a:r>
              <a:rPr lang="en-US" altLang="zh-CN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token = </a:t>
            </a:r>
            <a:r>
              <a:rPr lang="en-US" altLang="zh-CN" sz="2400" dirty="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expectedToken</a:t>
            </a:r>
            <a:r>
              <a:rPr lang="en-US" altLang="zh-CN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endParaRPr lang="en-US" altLang="zh-CN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2400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 </a:t>
            </a:r>
            <a:r>
              <a:rPr lang="en-US" altLang="zh-CN" sz="2400" dirty="0" err="1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getToken</a:t>
            </a:r>
            <a:r>
              <a:rPr lang="en-US" altLang="zh-CN" sz="2400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()</a:t>
            </a:r>
            <a:r>
              <a:rPr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;</a:t>
            </a:r>
          </a:p>
          <a:p>
            <a:pPr>
              <a:lnSpc>
                <a:spcPct val="90000"/>
              </a:lnSpc>
              <a:buNone/>
            </a:pPr>
            <a:r>
              <a:rPr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    else    error();</a:t>
            </a:r>
          </a:p>
          <a:p>
            <a:pPr>
              <a:lnSpc>
                <a:spcPct val="90000"/>
              </a:lnSpc>
              <a:buNone/>
            </a:pPr>
            <a:r>
              <a:rPr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}</a:t>
            </a:r>
            <a:endParaRPr lang="zh-CN" altLang="en-US" sz="2400" kern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endParaRPr lang="en-US" altLang="zh-CN" sz="2400" kern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endParaRPr lang="zh-CN" altLang="en-US" sz="2400" kern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07E28D0F-2179-4F00-8CAE-C75101162F71}"/>
              </a:ext>
            </a:extLst>
          </p:cNvPr>
          <p:cNvSpPr txBox="1">
            <a:spLocks/>
          </p:cNvSpPr>
          <p:nvPr/>
        </p:nvSpPr>
        <p:spPr bwMode="auto">
          <a:xfrm>
            <a:off x="7025720" y="5877272"/>
            <a:ext cx="4176464" cy="864096"/>
          </a:xfrm>
          <a:prstGeom prst="rect">
            <a:avLst/>
          </a:prstGeom>
          <a:solidFill>
            <a:schemeClr val="bg1"/>
          </a:solidFill>
          <a:ln w="28575">
            <a:solidFill>
              <a:srgbClr val="9999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sz="2400" kern="0" dirty="0"/>
              <a:t>token</a:t>
            </a:r>
            <a:r>
              <a:rPr lang="zh-CN" altLang="en-US" sz="2400" kern="0" dirty="0"/>
              <a:t>里面存放的是下一个待分析记号。</a:t>
            </a:r>
          </a:p>
        </p:txBody>
      </p:sp>
    </p:spTree>
    <p:extLst>
      <p:ext uri="{BB962C8B-B14F-4D97-AF65-F5344CB8AC3E}">
        <p14:creationId xmlns:p14="http://schemas.microsoft.com/office/powerpoint/2010/main" val="3029392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示例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4D4B8008-A0C8-4C55-AC02-6E1533D4F774}"/>
              </a:ext>
            </a:extLst>
          </p:cNvPr>
          <p:cNvSpPr txBox="1">
            <a:spLocks/>
          </p:cNvSpPr>
          <p:nvPr/>
        </p:nvSpPr>
        <p:spPr bwMode="auto">
          <a:xfrm>
            <a:off x="1055440" y="1340768"/>
            <a:ext cx="6120680" cy="3168352"/>
          </a:xfrm>
          <a:prstGeom prst="rect">
            <a:avLst/>
          </a:prstGeom>
          <a:solidFill>
            <a:schemeClr val="bg1"/>
          </a:solidFill>
          <a:ln w="28575">
            <a:solidFill>
              <a:srgbClr val="9999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sz="2400" kern="0" dirty="0"/>
              <a:t>思考能不能用同样的方法写出</a:t>
            </a:r>
            <a:r>
              <a:rPr lang="en-US" altLang="zh-CN" sz="2400" kern="0" dirty="0"/>
              <a:t>term</a:t>
            </a:r>
            <a:r>
              <a:rPr lang="zh-CN" altLang="en-US" sz="2400" kern="0" dirty="0"/>
              <a:t>的识别过程？</a:t>
            </a:r>
            <a:endParaRPr lang="en-US" altLang="zh-CN" sz="2400" i="1" kern="0" dirty="0"/>
          </a:p>
          <a:p>
            <a:pPr lvl="2">
              <a:lnSpc>
                <a:spcPct val="80000"/>
              </a:lnSpc>
              <a:buNone/>
            </a:pPr>
            <a:r>
              <a:rPr lang="en-US" altLang="zh-CN" sz="2400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 → exp </a:t>
            </a:r>
            <a:r>
              <a:rPr lang="en-US" altLang="zh-CN" sz="2400" i="1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addop</a:t>
            </a:r>
            <a:r>
              <a:rPr lang="en-US" altLang="zh-CN" sz="2400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i="1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term</a:t>
            </a:r>
            <a:r>
              <a:rPr lang="en-US" altLang="zh-CN" sz="24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∣</a:t>
            </a:r>
            <a:r>
              <a:rPr lang="en-US" altLang="zh-CN" sz="2400" i="1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term</a:t>
            </a:r>
            <a:endParaRPr lang="en-US" altLang="zh-CN" sz="2400" i="1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lnSpc>
                <a:spcPct val="80000"/>
              </a:lnSpc>
              <a:buNone/>
            </a:pPr>
            <a:r>
              <a:rPr lang="en-US" altLang="zh-CN" sz="2400" i="1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addop</a:t>
            </a:r>
            <a:r>
              <a:rPr lang="en-US" altLang="zh-CN" sz="2400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+ </a:t>
            </a: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∣</a:t>
            </a:r>
            <a:r>
              <a:rPr lang="en-US" altLang="zh-CN" sz="2400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</a:p>
          <a:p>
            <a:pPr lvl="2">
              <a:lnSpc>
                <a:spcPct val="80000"/>
              </a:lnSpc>
              <a:buNone/>
            </a:pPr>
            <a:r>
              <a:rPr lang="en-US" altLang="zh-CN" sz="2400" i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term → term </a:t>
            </a:r>
            <a:r>
              <a:rPr lang="en-US" altLang="zh-CN" sz="2400" i="1" kern="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mulop</a:t>
            </a:r>
            <a:r>
              <a:rPr lang="en-US" altLang="zh-CN" sz="2400" i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factor </a:t>
            </a:r>
            <a:r>
              <a:rPr lang="en-US" altLang="zh-CN" sz="2400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∣</a:t>
            </a:r>
            <a:r>
              <a:rPr lang="en-US" altLang="zh-CN" sz="2400" i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factor</a:t>
            </a:r>
          </a:p>
          <a:p>
            <a:pPr lvl="2">
              <a:lnSpc>
                <a:spcPct val="80000"/>
              </a:lnSpc>
              <a:buNone/>
            </a:pPr>
            <a:r>
              <a:rPr lang="en-US" altLang="zh-CN" sz="2400" i="1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mulop</a:t>
            </a:r>
            <a:r>
              <a:rPr lang="en-US" altLang="zh-CN" sz="2400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→*</a:t>
            </a:r>
          </a:p>
          <a:p>
            <a:pPr lvl="2">
              <a:lnSpc>
                <a:spcPct val="80000"/>
              </a:lnSpc>
              <a:buNone/>
            </a:pPr>
            <a:r>
              <a:rPr lang="en-US" altLang="zh-CN" sz="2400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factor →</a:t>
            </a: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</a:t>
            </a: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∣ </a:t>
            </a:r>
            <a:r>
              <a:rPr lang="en-US" altLang="zh-CN" sz="2400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</a:t>
            </a:r>
            <a:endParaRPr lang="zh-CN" altLang="en-US" sz="2400" i="1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02EE793A-F268-4697-908C-D5B58379F6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80176" y="1340768"/>
            <a:ext cx="3312368" cy="4680520"/>
          </a:xfrm>
          <a:prstGeom prst="rect">
            <a:avLst/>
          </a:prstGeom>
          <a:solidFill>
            <a:schemeClr val="bg1"/>
          </a:solidFill>
          <a:ln w="28575">
            <a:solidFill>
              <a:srgbClr val="9999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80000"/>
              </a:lnSpc>
              <a:buNone/>
            </a:pPr>
            <a:r>
              <a:rPr lang="en-US" altLang="zh-CN" sz="2400" kern="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term</a:t>
            </a:r>
            <a:r>
              <a:rPr lang="en-US" altLang="zh-CN" sz="2400" kern="0" dirty="0">
                <a:latin typeface="Calibri" panose="020F0502020204030204" pitchFamily="34" charset="0"/>
                <a:cs typeface="Calibri" panose="020F0502020204030204" pitchFamily="34" charset="0"/>
              </a:rPr>
              <a:t>()</a:t>
            </a:r>
          </a:p>
          <a:p>
            <a:pPr>
              <a:lnSpc>
                <a:spcPct val="80000"/>
              </a:lnSpc>
              <a:buNone/>
            </a:pPr>
            <a:r>
              <a:rPr lang="en-US" altLang="zh-CN" sz="2400" kern="0" dirty="0">
                <a:latin typeface="Calibri" panose="020F0502020204030204" pitchFamily="34" charset="0"/>
                <a:cs typeface="Calibri" panose="020F0502020204030204" pitchFamily="34" charset="0"/>
              </a:rPr>
              <a:t>{</a:t>
            </a:r>
          </a:p>
          <a:p>
            <a:pPr>
              <a:lnSpc>
                <a:spcPct val="80000"/>
              </a:lnSpc>
              <a:buNone/>
            </a:pPr>
            <a:r>
              <a:rPr lang="en-US" altLang="zh-CN" sz="2400" kern="0" dirty="0">
                <a:latin typeface="Calibri" panose="020F0502020204030204" pitchFamily="34" charset="0"/>
                <a:cs typeface="Calibri" panose="020F0502020204030204" pitchFamily="34" charset="0"/>
              </a:rPr>
              <a:t>     if  ……?</a:t>
            </a:r>
          </a:p>
          <a:p>
            <a:pPr>
              <a:lnSpc>
                <a:spcPct val="80000"/>
              </a:lnSpc>
              <a:buNone/>
            </a:pPr>
            <a:r>
              <a:rPr lang="en-US" altLang="zh-CN" sz="2400" kern="0" dirty="0">
                <a:latin typeface="Calibri" panose="020F0502020204030204" pitchFamily="34" charset="0"/>
                <a:cs typeface="Calibri" panose="020F0502020204030204" pitchFamily="34" charset="0"/>
              </a:rPr>
              <a:t>	 {</a:t>
            </a:r>
          </a:p>
          <a:p>
            <a:pPr>
              <a:lnSpc>
                <a:spcPct val="80000"/>
              </a:lnSpc>
              <a:buNone/>
            </a:pPr>
            <a:r>
              <a:rPr lang="en-US" altLang="zh-CN" sz="2400" kern="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	term()</a:t>
            </a:r>
            <a:r>
              <a:rPr lang="en-US" altLang="zh-CN" sz="2400" kern="0" dirty="0">
                <a:latin typeface="Calibri" panose="020F0502020204030204" pitchFamily="34" charset="0"/>
                <a:cs typeface="Calibri" panose="020F0502020204030204" pitchFamily="34" charset="0"/>
              </a:rPr>
              <a:t> ;</a:t>
            </a:r>
          </a:p>
          <a:p>
            <a:pPr>
              <a:lnSpc>
                <a:spcPct val="80000"/>
              </a:lnSpc>
              <a:buNone/>
            </a:pPr>
            <a:r>
              <a:rPr lang="en-US" altLang="zh-CN" sz="2400" kern="0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	</a:t>
            </a:r>
            <a:r>
              <a:rPr lang="en-US" altLang="zh-CN" sz="2400" kern="0" dirty="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mulop</a:t>
            </a:r>
            <a:r>
              <a:rPr lang="en-US" altLang="zh-CN" sz="2400" kern="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()</a:t>
            </a:r>
            <a:r>
              <a:rPr lang="en-US" altLang="zh-CN" sz="2400" kern="0" dirty="0">
                <a:latin typeface="Calibri" panose="020F0502020204030204" pitchFamily="34" charset="0"/>
                <a:cs typeface="Calibri" panose="020F0502020204030204" pitchFamily="34" charset="0"/>
              </a:rPr>
              <a:t> ;</a:t>
            </a:r>
          </a:p>
          <a:p>
            <a:pPr>
              <a:lnSpc>
                <a:spcPct val="80000"/>
              </a:lnSpc>
              <a:buNone/>
            </a:pPr>
            <a:r>
              <a:rPr lang="en-US" altLang="zh-CN" sz="2400" kern="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	factor()</a:t>
            </a:r>
            <a:r>
              <a:rPr lang="en-US" altLang="zh-CN" sz="2400" kern="0" dirty="0">
                <a:latin typeface="Calibri" panose="020F0502020204030204" pitchFamily="34" charset="0"/>
                <a:cs typeface="Calibri" panose="020F0502020204030204" pitchFamily="34" charset="0"/>
              </a:rPr>
              <a:t>;</a:t>
            </a:r>
          </a:p>
          <a:p>
            <a:pPr>
              <a:lnSpc>
                <a:spcPct val="80000"/>
              </a:lnSpc>
              <a:buNone/>
            </a:pPr>
            <a:r>
              <a:rPr lang="en-US" altLang="zh-CN" sz="2400" kern="0" dirty="0">
                <a:latin typeface="Calibri" panose="020F0502020204030204" pitchFamily="34" charset="0"/>
                <a:cs typeface="Calibri" panose="020F0502020204030204" pitchFamily="34" charset="0"/>
              </a:rPr>
              <a:t>      }</a:t>
            </a:r>
          </a:p>
          <a:p>
            <a:pPr>
              <a:lnSpc>
                <a:spcPct val="80000"/>
              </a:lnSpc>
              <a:buNone/>
            </a:pPr>
            <a:r>
              <a:rPr lang="en-US" altLang="zh-CN" sz="2400" kern="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</a:t>
            </a:r>
            <a:r>
              <a:rPr lang="en-US" altLang="zh-CN" sz="2400" kern="0" dirty="0">
                <a:latin typeface="Calibri" panose="020F0502020204030204" pitchFamily="34" charset="0"/>
                <a:cs typeface="Calibri" panose="020F0502020204030204" pitchFamily="34" charset="0"/>
              </a:rPr>
              <a:t>else</a:t>
            </a:r>
          </a:p>
          <a:p>
            <a:pPr>
              <a:lnSpc>
                <a:spcPct val="80000"/>
              </a:lnSpc>
              <a:buNone/>
            </a:pPr>
            <a:r>
              <a:rPr lang="en-US" altLang="zh-CN" sz="2400" kern="0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	</a:t>
            </a:r>
            <a:r>
              <a:rPr lang="en-US" altLang="zh-CN" sz="2400" kern="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factor()</a:t>
            </a:r>
            <a:r>
              <a:rPr lang="en-US" altLang="zh-CN" sz="2400" kern="0" dirty="0">
                <a:latin typeface="Calibri" panose="020F0502020204030204" pitchFamily="34" charset="0"/>
                <a:cs typeface="Calibri" panose="020F0502020204030204" pitchFamily="34" charset="0"/>
              </a:rPr>
              <a:t>;</a:t>
            </a:r>
          </a:p>
          <a:p>
            <a:pPr>
              <a:lnSpc>
                <a:spcPct val="80000"/>
              </a:lnSpc>
              <a:buNone/>
            </a:pPr>
            <a:r>
              <a:rPr lang="en-US" altLang="zh-CN" sz="2400" kern="0" dirty="0">
                <a:latin typeface="Calibri" panose="020F0502020204030204" pitchFamily="34" charset="0"/>
                <a:cs typeface="Calibri" panose="020F0502020204030204" pitchFamily="34" charset="0"/>
              </a:rPr>
              <a:t>      else error();</a:t>
            </a:r>
          </a:p>
          <a:p>
            <a:pPr>
              <a:lnSpc>
                <a:spcPct val="80000"/>
              </a:lnSpc>
              <a:buNone/>
            </a:pPr>
            <a:r>
              <a:rPr lang="en-US" altLang="zh-CN" sz="2400" kern="0" dirty="0">
                <a:latin typeface="Calibri" panose="020F0502020204030204" pitchFamily="34" charset="0"/>
                <a:cs typeface="Calibri" panose="020F0502020204030204" pitchFamily="34" charset="0"/>
              </a:rPr>
              <a:t>}</a:t>
            </a:r>
            <a:endParaRPr lang="zh-CN" altLang="en-US" sz="2400" kern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8710708C-4E41-4144-ABE1-D2AD807C24B1}"/>
              </a:ext>
            </a:extLst>
          </p:cNvPr>
          <p:cNvSpPr txBox="1">
            <a:spLocks/>
          </p:cNvSpPr>
          <p:nvPr/>
        </p:nvSpPr>
        <p:spPr bwMode="auto">
          <a:xfrm>
            <a:off x="1055440" y="4653136"/>
            <a:ext cx="6120680" cy="1368152"/>
          </a:xfrm>
          <a:prstGeom prst="rect">
            <a:avLst/>
          </a:prstGeom>
          <a:solidFill>
            <a:schemeClr val="bg1"/>
          </a:solidFill>
          <a:ln w="28575">
            <a:solidFill>
              <a:srgbClr val="9999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400" kern="0" dirty="0"/>
              <a:t>if</a:t>
            </a:r>
            <a:r>
              <a:rPr lang="zh-CN" altLang="en-US" sz="2400" kern="0" dirty="0"/>
              <a:t>的判断条件怎么设置？</a:t>
            </a:r>
            <a:endParaRPr lang="en-US" altLang="zh-CN" sz="2400" kern="0" dirty="0"/>
          </a:p>
          <a:p>
            <a:pPr>
              <a:lnSpc>
                <a:spcPct val="150000"/>
              </a:lnSpc>
            </a:pPr>
            <a:r>
              <a:rPr lang="zh-CN" altLang="en-US" sz="2400" kern="0" dirty="0"/>
              <a:t>如果条件设好是不是就能正常工作？</a:t>
            </a:r>
          </a:p>
        </p:txBody>
      </p:sp>
    </p:spTree>
    <p:extLst>
      <p:ext uri="{BB962C8B-B14F-4D97-AF65-F5344CB8AC3E}">
        <p14:creationId xmlns:p14="http://schemas.microsoft.com/office/powerpoint/2010/main" val="574688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示例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BBCB229E-5BEA-4809-B78C-A4A100569A93}"/>
              </a:ext>
            </a:extLst>
          </p:cNvPr>
          <p:cNvSpPr txBox="1">
            <a:spLocks/>
          </p:cNvSpPr>
          <p:nvPr/>
        </p:nvSpPr>
        <p:spPr bwMode="auto">
          <a:xfrm>
            <a:off x="1582910" y="1196752"/>
            <a:ext cx="9001000" cy="2088232"/>
          </a:xfrm>
          <a:prstGeom prst="rect">
            <a:avLst/>
          </a:prstGeom>
          <a:solidFill>
            <a:schemeClr val="bg1"/>
          </a:solidFill>
          <a:ln w="28575">
            <a:solidFill>
              <a:srgbClr val="9999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sz="2400" kern="0" dirty="0"/>
              <a:t>需要使用</a:t>
            </a:r>
            <a:r>
              <a:rPr lang="en-US" altLang="zh-CN" sz="2400" kern="0" dirty="0"/>
              <a:t>EBNF</a:t>
            </a:r>
            <a:r>
              <a:rPr lang="zh-CN" altLang="en-US" sz="2400" kern="0" dirty="0"/>
              <a:t>对文法进行改写</a:t>
            </a:r>
            <a:endParaRPr lang="en-US" altLang="zh-CN" sz="2400" i="1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50000"/>
              </a:lnSpc>
              <a:buNone/>
            </a:pPr>
            <a:r>
              <a:rPr lang="en-US" altLang="zh-CN" sz="2400" i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term → term </a:t>
            </a:r>
            <a:r>
              <a:rPr lang="en-US" altLang="zh-CN" sz="2400" i="1" kern="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mulop</a:t>
            </a:r>
            <a:r>
              <a:rPr lang="en-US" altLang="zh-CN" sz="2400" i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factor </a:t>
            </a:r>
            <a:r>
              <a:rPr lang="en-US" altLang="zh-CN" sz="2400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∣</a:t>
            </a:r>
            <a:r>
              <a:rPr lang="en-US" altLang="zh-CN" sz="2400" i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factor</a:t>
            </a:r>
          </a:p>
          <a:p>
            <a:pPr marL="0" indent="0" eaLnBrk="1" hangingPunct="1">
              <a:lnSpc>
                <a:spcPct val="150000"/>
              </a:lnSpc>
              <a:buNone/>
            </a:pPr>
            <a:r>
              <a:rPr lang="en-US" altLang="zh-CN" sz="2400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term → factor {</a:t>
            </a:r>
            <a:r>
              <a:rPr lang="en-US" altLang="zh-CN" sz="2400" i="1" dirty="0" err="1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mulop</a:t>
            </a:r>
            <a:r>
              <a:rPr lang="en-US" altLang="zh-CN" sz="2400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factor}</a:t>
            </a:r>
          </a:p>
          <a:p>
            <a:pPr eaLnBrk="1" hangingPunct="1">
              <a:lnSpc>
                <a:spcPct val="150000"/>
              </a:lnSpc>
            </a:pPr>
            <a:endParaRPr lang="en-US" altLang="zh-CN" sz="2400" i="1" kern="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箭头: 右弧形 6">
            <a:extLst>
              <a:ext uri="{FF2B5EF4-FFF2-40B4-BE49-F238E27FC236}">
                <a16:creationId xmlns:a16="http://schemas.microsoft.com/office/drawing/2014/main" id="{FB946692-1D41-4DD4-AF2B-CDF1E370CE1A}"/>
              </a:ext>
            </a:extLst>
          </p:cNvPr>
          <p:cNvSpPr/>
          <p:nvPr/>
        </p:nvSpPr>
        <p:spPr bwMode="auto">
          <a:xfrm>
            <a:off x="7680176" y="2191374"/>
            <a:ext cx="648072" cy="792088"/>
          </a:xfrm>
          <a:prstGeom prst="curvedLeftArrow">
            <a:avLst/>
          </a:prstGeom>
          <a:solidFill>
            <a:srgbClr val="FFFF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b="1">
              <a:ea typeface="黑体" pitchFamily="2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0156516-B98B-4C85-9E9C-FF68FA088F66}"/>
              </a:ext>
            </a:extLst>
          </p:cNvPr>
          <p:cNvSpPr/>
          <p:nvPr/>
        </p:nvSpPr>
        <p:spPr>
          <a:xfrm>
            <a:off x="1582910" y="3427423"/>
            <a:ext cx="4752528" cy="3416320"/>
          </a:xfrm>
          <a:prstGeom prst="rect">
            <a:avLst/>
          </a:prstGeom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term</a:t>
            </a:r>
            <a:r>
              <a:rPr lang="en-US" altLang="zh-CN" sz="2400" b="1" dirty="0">
                <a:latin typeface="Calibri" panose="020F0502020204030204" pitchFamily="34" charset="0"/>
                <a:cs typeface="Calibri" panose="020F0502020204030204" pitchFamily="34" charset="0"/>
              </a:rPr>
              <a:t>()</a:t>
            </a:r>
          </a:p>
          <a:p>
            <a:r>
              <a:rPr lang="en-US" altLang="zh-CN" sz="2400" b="1" dirty="0">
                <a:latin typeface="Calibri" panose="020F0502020204030204" pitchFamily="34" charset="0"/>
                <a:cs typeface="Calibri" panose="020F0502020204030204" pitchFamily="34" charset="0"/>
              </a:rPr>
              <a:t>{</a:t>
            </a:r>
          </a:p>
          <a:p>
            <a:r>
              <a:rPr lang="en-US" altLang="zh-CN" sz="2400" b="1" dirty="0">
                <a:latin typeface="Calibri" panose="020F0502020204030204" pitchFamily="34" charset="0"/>
                <a:cs typeface="Calibri" panose="020F0502020204030204" pitchFamily="34" charset="0"/>
              </a:rPr>
              <a:t>           </a:t>
            </a:r>
            <a:r>
              <a:rPr lang="en-US" altLang="zh-CN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factor()</a:t>
            </a:r>
            <a:r>
              <a:rPr lang="en-US" altLang="zh-CN" sz="2400" b="1" dirty="0">
                <a:latin typeface="Calibri" panose="020F0502020204030204" pitchFamily="34" charset="0"/>
                <a:cs typeface="Calibri" panose="020F0502020204030204" pitchFamily="34" charset="0"/>
              </a:rPr>
              <a:t>;</a:t>
            </a:r>
          </a:p>
          <a:p>
            <a:r>
              <a:rPr lang="en-US" altLang="zh-CN" sz="2400" b="1" dirty="0">
                <a:latin typeface="Calibri" panose="020F0502020204030204" pitchFamily="34" charset="0"/>
                <a:cs typeface="Calibri" panose="020F0502020204030204" pitchFamily="34" charset="0"/>
              </a:rPr>
              <a:t>           while (</a:t>
            </a:r>
            <a:r>
              <a:rPr lang="en-US" altLang="zh-CN" sz="2400" b="1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token</a:t>
            </a:r>
            <a:r>
              <a:rPr lang="en-US" altLang="zh-CN" sz="2400" b="1" dirty="0">
                <a:latin typeface="Calibri" panose="020F0502020204030204" pitchFamily="34" charset="0"/>
                <a:cs typeface="Calibri" panose="020F0502020204030204" pitchFamily="34" charset="0"/>
              </a:rPr>
              <a:t> == </a:t>
            </a:r>
            <a:r>
              <a:rPr lang="en-US" altLang="zh-CN" sz="2400" b="1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*)</a:t>
            </a:r>
            <a:r>
              <a:rPr lang="en-US" altLang="zh-CN" sz="24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r>
              <a:rPr lang="en-US" altLang="zh-CN" sz="2400" b="1" dirty="0">
                <a:latin typeface="Calibri" panose="020F0502020204030204" pitchFamily="34" charset="0"/>
                <a:cs typeface="Calibri" panose="020F0502020204030204" pitchFamily="34" charset="0"/>
              </a:rPr>
              <a:t>           {</a:t>
            </a:r>
          </a:p>
          <a:p>
            <a:r>
              <a:rPr lang="en-US" altLang="zh-CN" sz="2400" b="1" dirty="0">
                <a:latin typeface="Calibri" panose="020F0502020204030204" pitchFamily="34" charset="0"/>
                <a:cs typeface="Calibri" panose="020F0502020204030204" pitchFamily="34" charset="0"/>
              </a:rPr>
              <a:t>	    </a:t>
            </a:r>
            <a:r>
              <a:rPr lang="en-US" altLang="zh-CN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match</a:t>
            </a:r>
            <a:r>
              <a:rPr lang="en-US" altLang="zh-CN" sz="2400" b="1" dirty="0">
                <a:latin typeface="Calibri" panose="020F0502020204030204" pitchFamily="34" charset="0"/>
                <a:cs typeface="Calibri" panose="020F0502020204030204" pitchFamily="34" charset="0"/>
              </a:rPr>
              <a:t>(token);</a:t>
            </a:r>
          </a:p>
          <a:p>
            <a:r>
              <a:rPr lang="en-US" altLang="zh-CN" sz="2400" b="1" dirty="0">
                <a:latin typeface="Calibri" panose="020F0502020204030204" pitchFamily="34" charset="0"/>
                <a:cs typeface="Calibri" panose="020F0502020204030204" pitchFamily="34" charset="0"/>
              </a:rPr>
              <a:t>	    </a:t>
            </a:r>
            <a:r>
              <a:rPr lang="en-US" altLang="zh-CN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factor()</a:t>
            </a:r>
            <a:r>
              <a:rPr lang="en-US" altLang="zh-CN" sz="2400" b="1" dirty="0">
                <a:latin typeface="Calibri" panose="020F0502020204030204" pitchFamily="34" charset="0"/>
                <a:cs typeface="Calibri" panose="020F0502020204030204" pitchFamily="34" charset="0"/>
              </a:rPr>
              <a:t>;</a:t>
            </a:r>
          </a:p>
          <a:p>
            <a:r>
              <a:rPr lang="en-US" altLang="zh-CN" sz="2400" b="1" dirty="0">
                <a:latin typeface="Calibri" panose="020F0502020204030204" pitchFamily="34" charset="0"/>
                <a:cs typeface="Calibri" panose="020F0502020204030204" pitchFamily="34" charset="0"/>
              </a:rPr>
              <a:t>           }</a:t>
            </a:r>
          </a:p>
          <a:p>
            <a:r>
              <a:rPr lang="en-US" altLang="zh-CN" sz="2400" b="1" dirty="0">
                <a:latin typeface="Calibri" panose="020F0502020204030204" pitchFamily="34" charset="0"/>
                <a:cs typeface="Calibri" panose="020F0502020204030204" pitchFamily="34" charset="0"/>
              </a:rPr>
              <a:t>}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7394B97-C608-4C47-9E5A-298E0519466D}"/>
              </a:ext>
            </a:extLst>
          </p:cNvPr>
          <p:cNvSpPr/>
          <p:nvPr/>
        </p:nvSpPr>
        <p:spPr>
          <a:xfrm>
            <a:off x="6528048" y="3427423"/>
            <a:ext cx="4055862" cy="3416320"/>
          </a:xfrm>
          <a:prstGeom prst="rect">
            <a:avLst/>
          </a:prstGeom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 wrap="square">
            <a:no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+mn-lt"/>
                <a:ea typeface="+mn-ea"/>
                <a:cs typeface="Times New Roman" panose="02020603050405020304" pitchFamily="18" charset="0"/>
              </a:rPr>
              <a:t>通过改写消除左递归</a:t>
            </a:r>
            <a:endParaRPr lang="en-US" altLang="zh-CN" sz="2400" b="1" dirty="0">
              <a:latin typeface="+mn-lt"/>
              <a:ea typeface="+mn-ea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+mn-lt"/>
                <a:ea typeface="+mn-ea"/>
                <a:cs typeface="Times New Roman" panose="02020603050405020304" pitchFamily="18" charset="0"/>
              </a:rPr>
              <a:t>重复用循环语句实现</a:t>
            </a:r>
            <a:endParaRPr lang="en-US" altLang="zh-CN" sz="2400" b="1" dirty="0">
              <a:latin typeface="+mn-lt"/>
              <a:ea typeface="+mn-ea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b="1" dirty="0" err="1">
                <a:latin typeface="+mn-lt"/>
                <a:ea typeface="+mn-ea"/>
                <a:cs typeface="Times New Roman" panose="02020603050405020304" pitchFamily="18" charset="0"/>
              </a:rPr>
              <a:t>mulop</a:t>
            </a:r>
            <a:r>
              <a:rPr lang="zh-CN" altLang="en-US" sz="2400" b="1" dirty="0">
                <a:latin typeface="+mn-lt"/>
                <a:ea typeface="+mn-ea"/>
                <a:cs typeface="Times New Roman" panose="02020603050405020304" pitchFamily="18" charset="0"/>
              </a:rPr>
              <a:t>因为只含一个终结符因此处理过程合并到</a:t>
            </a:r>
            <a:r>
              <a:rPr lang="en-US" altLang="zh-CN" sz="2400" b="1" dirty="0">
                <a:latin typeface="+mn-lt"/>
                <a:ea typeface="+mn-ea"/>
                <a:cs typeface="Times New Roman" panose="02020603050405020304" pitchFamily="18" charset="0"/>
              </a:rPr>
              <a:t>term</a:t>
            </a:r>
            <a:r>
              <a:rPr lang="zh-CN" altLang="en-US" sz="2400" b="1" dirty="0">
                <a:latin typeface="+mn-lt"/>
                <a:ea typeface="+mn-ea"/>
                <a:cs typeface="Times New Roman" panose="02020603050405020304" pitchFamily="18" charset="0"/>
              </a:rPr>
              <a:t>当中。</a:t>
            </a:r>
            <a:endParaRPr lang="en-US" altLang="zh-CN" sz="2400" b="1" dirty="0">
              <a:latin typeface="+mn-lt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7772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示例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913CE654-2490-443F-89B9-8D0EF7881784}"/>
              </a:ext>
            </a:extLst>
          </p:cNvPr>
          <p:cNvSpPr txBox="1">
            <a:spLocks/>
          </p:cNvSpPr>
          <p:nvPr/>
        </p:nvSpPr>
        <p:spPr bwMode="auto">
          <a:xfrm>
            <a:off x="1703512" y="1196752"/>
            <a:ext cx="9289032" cy="2088232"/>
          </a:xfrm>
          <a:prstGeom prst="rect">
            <a:avLst/>
          </a:prstGeom>
          <a:solidFill>
            <a:schemeClr val="bg1"/>
          </a:solidFill>
          <a:ln w="28575">
            <a:solidFill>
              <a:srgbClr val="9999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sz="2400" kern="0" dirty="0"/>
              <a:t>需要使用</a:t>
            </a:r>
            <a:r>
              <a:rPr lang="en-US" altLang="zh-CN" sz="2400" kern="0" dirty="0"/>
              <a:t>EBNF</a:t>
            </a:r>
            <a:r>
              <a:rPr lang="zh-CN" altLang="en-US" sz="2400" kern="0" dirty="0"/>
              <a:t>对文法进行改写</a:t>
            </a:r>
            <a:endParaRPr lang="en-US" altLang="zh-CN" sz="2400" i="1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50000"/>
              </a:lnSpc>
              <a:buNone/>
            </a:pPr>
            <a:r>
              <a:rPr lang="en-US" altLang="zh-CN" sz="2400" i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exp → exp </a:t>
            </a:r>
            <a:r>
              <a:rPr lang="en-US" altLang="zh-CN" sz="2400" i="1" kern="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addlop</a:t>
            </a:r>
            <a:r>
              <a:rPr lang="en-US" altLang="zh-CN" sz="2400" i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term </a:t>
            </a:r>
            <a:r>
              <a:rPr lang="en-US" altLang="zh-CN" sz="2400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∣</a:t>
            </a:r>
            <a:r>
              <a:rPr lang="en-US" altLang="zh-CN" sz="2400" i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term</a:t>
            </a:r>
          </a:p>
          <a:p>
            <a:pPr marL="0" indent="0" eaLnBrk="1" hangingPunct="1">
              <a:lnSpc>
                <a:spcPct val="150000"/>
              </a:lnSpc>
              <a:buNone/>
            </a:pPr>
            <a:r>
              <a:rPr lang="en-US" altLang="zh-CN" sz="2400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exp → term {</a:t>
            </a:r>
            <a:r>
              <a:rPr lang="en-US" altLang="zh-CN" sz="2400" i="1" dirty="0" err="1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addlop</a:t>
            </a:r>
            <a:r>
              <a:rPr lang="en-US" altLang="zh-CN" sz="2400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term}</a:t>
            </a:r>
          </a:p>
          <a:p>
            <a:pPr eaLnBrk="1" hangingPunct="1">
              <a:lnSpc>
                <a:spcPct val="150000"/>
              </a:lnSpc>
            </a:pPr>
            <a:endParaRPr lang="en-US" altLang="zh-CN" sz="2400" i="1" kern="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箭头: 右弧形 6">
            <a:extLst>
              <a:ext uri="{FF2B5EF4-FFF2-40B4-BE49-F238E27FC236}">
                <a16:creationId xmlns:a16="http://schemas.microsoft.com/office/drawing/2014/main" id="{1351AF89-0889-4590-B644-A83086503A27}"/>
              </a:ext>
            </a:extLst>
          </p:cNvPr>
          <p:cNvSpPr/>
          <p:nvPr/>
        </p:nvSpPr>
        <p:spPr bwMode="auto">
          <a:xfrm>
            <a:off x="6744072" y="2168860"/>
            <a:ext cx="648072" cy="792088"/>
          </a:xfrm>
          <a:prstGeom prst="curvedLeftArrow">
            <a:avLst/>
          </a:prstGeom>
          <a:solidFill>
            <a:srgbClr val="FFFF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b="1">
              <a:ea typeface="黑体" pitchFamily="2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2C8B92A-CADC-48CD-A7B6-AA4B021CC672}"/>
              </a:ext>
            </a:extLst>
          </p:cNvPr>
          <p:cNvSpPr/>
          <p:nvPr/>
        </p:nvSpPr>
        <p:spPr>
          <a:xfrm>
            <a:off x="1703512" y="3356992"/>
            <a:ext cx="9289032" cy="3416320"/>
          </a:xfrm>
          <a:prstGeom prst="rect">
            <a:avLst/>
          </a:prstGeom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exp()</a:t>
            </a:r>
          </a:p>
          <a:p>
            <a:r>
              <a:rPr lang="en-US" altLang="zh-CN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{</a:t>
            </a:r>
            <a:endParaRPr lang="en-US" altLang="zh-CN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term()</a:t>
            </a:r>
            <a:r>
              <a:rPr lang="en-US" altLang="zh-CN" sz="2400" b="1" dirty="0">
                <a:latin typeface="Calibri" panose="020F0502020204030204" pitchFamily="34" charset="0"/>
                <a:cs typeface="Calibri" panose="020F0502020204030204" pitchFamily="34" charset="0"/>
              </a:rPr>
              <a:t>;</a:t>
            </a:r>
          </a:p>
          <a:p>
            <a:r>
              <a:rPr lang="en-US" altLang="zh-CN" sz="2400" b="1" dirty="0">
                <a:latin typeface="Calibri" panose="020F0502020204030204" pitchFamily="34" charset="0"/>
                <a:cs typeface="Calibri" panose="020F0502020204030204" pitchFamily="34" charset="0"/>
              </a:rPr>
              <a:t>           	while (</a:t>
            </a:r>
            <a:r>
              <a:rPr lang="en-US" altLang="zh-CN" sz="2400" b="1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token</a:t>
            </a:r>
            <a:r>
              <a:rPr lang="en-US" altLang="zh-CN" sz="2400" b="1" dirty="0">
                <a:latin typeface="Calibri" panose="020F0502020204030204" pitchFamily="34" charset="0"/>
                <a:cs typeface="Calibri" panose="020F0502020204030204" pitchFamily="34" charset="0"/>
              </a:rPr>
              <a:t> == </a:t>
            </a:r>
            <a:r>
              <a:rPr lang="en-US" altLang="zh-CN" sz="2400" b="1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+ or -</a:t>
            </a:r>
            <a:r>
              <a:rPr lang="en-US" altLang="zh-CN" sz="2400" b="1" dirty="0">
                <a:latin typeface="Calibri" panose="020F0502020204030204" pitchFamily="34" charset="0"/>
                <a:cs typeface="Calibri" panose="020F0502020204030204" pitchFamily="34" charset="0"/>
              </a:rPr>
              <a:t> )</a:t>
            </a:r>
          </a:p>
          <a:p>
            <a:r>
              <a:rPr lang="en-US" altLang="zh-CN" sz="2400" b="1" dirty="0">
                <a:latin typeface="Calibri" panose="020F0502020204030204" pitchFamily="34" charset="0"/>
                <a:cs typeface="Calibri" panose="020F0502020204030204" pitchFamily="34" charset="0"/>
              </a:rPr>
              <a:t>	{</a:t>
            </a:r>
          </a:p>
          <a:p>
            <a:r>
              <a:rPr lang="en-US" altLang="zh-CN" sz="2400" b="1" dirty="0">
                <a:latin typeface="Calibri" panose="020F0502020204030204" pitchFamily="34" charset="0"/>
                <a:cs typeface="Calibri" panose="020F0502020204030204" pitchFamily="34" charset="0"/>
              </a:rPr>
              <a:t>	    	</a:t>
            </a:r>
            <a:r>
              <a:rPr lang="en-US" altLang="zh-CN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match</a:t>
            </a:r>
            <a:r>
              <a:rPr lang="en-US" altLang="zh-CN" sz="2400" b="1" dirty="0">
                <a:latin typeface="Calibri" panose="020F0502020204030204" pitchFamily="34" charset="0"/>
                <a:cs typeface="Calibri" panose="020F0502020204030204" pitchFamily="34" charset="0"/>
              </a:rPr>
              <a:t>(token);</a:t>
            </a:r>
          </a:p>
          <a:p>
            <a:r>
              <a:rPr lang="en-US" altLang="zh-CN" sz="2400" b="1" dirty="0">
                <a:latin typeface="Calibri" panose="020F0502020204030204" pitchFamily="34" charset="0"/>
                <a:cs typeface="Calibri" panose="020F0502020204030204" pitchFamily="34" charset="0"/>
              </a:rPr>
              <a:t>	    	</a:t>
            </a:r>
            <a:r>
              <a:rPr lang="en-US" altLang="zh-CN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term()</a:t>
            </a:r>
            <a:r>
              <a:rPr lang="en-US" altLang="zh-CN" sz="2400" b="1" dirty="0">
                <a:latin typeface="Calibri" panose="020F0502020204030204" pitchFamily="34" charset="0"/>
                <a:cs typeface="Calibri" panose="020F0502020204030204" pitchFamily="34" charset="0"/>
              </a:rPr>
              <a:t>;</a:t>
            </a:r>
          </a:p>
          <a:p>
            <a:r>
              <a:rPr lang="en-US" altLang="zh-CN" sz="2400" b="1" dirty="0">
                <a:latin typeface="Calibri" panose="020F0502020204030204" pitchFamily="34" charset="0"/>
                <a:cs typeface="Calibri" panose="020F0502020204030204" pitchFamily="34" charset="0"/>
              </a:rPr>
              <a:t>           	}</a:t>
            </a:r>
          </a:p>
          <a:p>
            <a:r>
              <a:rPr lang="en-US" altLang="zh-CN" sz="2400" b="1" dirty="0">
                <a:latin typeface="Calibri" panose="020F0502020204030204" pitchFamily="34" charset="0"/>
                <a:cs typeface="Calibri" panose="020F0502020204030204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04432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27581E36-CC4E-0F55-0A77-89EEE6512029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19200" y="1465580"/>
            <a:ext cx="9753600" cy="131254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在递归下降分析中，消除左递归是必要的，因为左递归会导致（ ）。</a:t>
            </a:r>
            <a:endParaRPr lang="zh-CN" altLang="en-US" sz="2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9EC9920-4F6B-252E-0F0C-DFC30B6F51C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400" b="1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分析过程效率降低</a:t>
            </a:r>
            <a:endParaRPr lang="zh-CN" altLang="en-US" sz="2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D85786B-653D-9538-10D4-B188FD34DF36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400" b="1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分析过程产生多义性</a:t>
            </a:r>
            <a:endParaRPr lang="zh-CN" altLang="en-US" sz="2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A48D68C-2246-ACF8-E849-3C2D01EBF483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400" b="1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分析过程产生错误</a:t>
            </a:r>
            <a:endParaRPr lang="zh-CN" altLang="en-US" sz="2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F02811A-DBC4-AF8F-F8ED-AB530D8737BB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400" b="1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分析过程无法终止</a:t>
            </a:r>
            <a:endParaRPr lang="zh-CN" altLang="en-US" sz="2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E6B935D8-6189-AD8E-55C0-615FFABB8D30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prstShdw prst="shdw12">
              <a:schemeClr val="bg2">
                <a:alpha val="50000"/>
              </a:schemeClr>
            </a:prstShdw>
          </a:effectLst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kumimoji="0" lang="zh-CN" altLang="en-US" sz="16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423355B2-96CA-0339-3240-81A2C6F7FF84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prstShdw prst="shdw12">
              <a:schemeClr val="bg2">
                <a:alpha val="50000"/>
              </a:schemeClr>
            </a:prstShdw>
          </a:effectLst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kumimoji="0" lang="zh-CN" altLang="en-US" sz="16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7E2A6399-5BC0-9BD6-BD56-CA8506CFCA91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prstShdw prst="shdw12">
              <a:schemeClr val="bg2">
                <a:alpha val="50000"/>
              </a:schemeClr>
            </a:prstShdw>
          </a:effectLst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kumimoji="0" lang="zh-CN" altLang="en-US" sz="16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3DFDE307-6547-A305-E664-07C35FB064E2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1571625" y="5422106"/>
            <a:ext cx="514350" cy="514350"/>
          </a:xfrm>
          <a:prstGeom prst="ellipse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prstShdw prst="shdw12">
              <a:schemeClr val="bg2">
                <a:alpha val="50000"/>
              </a:schemeClr>
            </a:prstShdw>
          </a:effectLst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kumimoji="0" lang="zh-CN" altLang="en-US" sz="16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2B10EB37-5BD9-A7A6-BAD6-187CBD8C3F33}"/>
              </a:ext>
            </a:extLst>
          </p:cNvPr>
          <p:cNvSpPr/>
          <p:nvPr>
            <p:custDataLst>
              <p:tags r:id="rId11"/>
            </p:custDataLst>
          </p:nvPr>
        </p:nvSpPr>
        <p:spPr bwMode="auto"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prstShdw prst="shdw12">
              <a:schemeClr val="bg2">
                <a:alpha val="50000"/>
              </a:schemeClr>
            </a:prstShdw>
          </a:effectLst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B34FFFA2-304F-A7A1-A42A-6CE8B09A2DFB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6" name="TitleBackground">
              <a:extLst>
                <a:ext uri="{FF2B5EF4-FFF2-40B4-BE49-F238E27FC236}">
                  <a16:creationId xmlns:a16="http://schemas.microsoft.com/office/drawing/2014/main" id="{BA9EF6FF-7DCD-39E9-3D21-132EA0242B4F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 bwMode="auto"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prstShdw prst="shdw12">
                <a:schemeClr val="bg2">
                  <a:alpha val="50000"/>
                </a:schemeClr>
              </a:prstShdw>
            </a:effectLst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黑体" pitchFamily="2" charset="-122"/>
              </a:endParaRPr>
            </a:p>
          </p:txBody>
        </p:sp>
        <p:sp>
          <p:nvSpPr>
            <p:cNvPr id="17" name="ColorBlock">
              <a:extLst>
                <a:ext uri="{FF2B5EF4-FFF2-40B4-BE49-F238E27FC236}">
                  <a16:creationId xmlns:a16="http://schemas.microsoft.com/office/drawing/2014/main" id="{F816BFD1-4494-2637-AD11-33A4553B8F70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prstShdw prst="shdw12">
                <a:schemeClr val="bg2">
                  <a:alpha val="50000"/>
                </a:schemeClr>
              </a:prstShdw>
            </a:effectLst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黑体" pitchFamily="2" charset="-122"/>
              </a:endParaRPr>
            </a:p>
          </p:txBody>
        </p:sp>
        <p:sp>
          <p:nvSpPr>
            <p:cNvPr id="18" name="TypeText">
              <a:extLst>
                <a:ext uri="{FF2B5EF4-FFF2-40B4-BE49-F238E27FC236}">
                  <a16:creationId xmlns:a16="http://schemas.microsoft.com/office/drawing/2014/main" id="{C1B2B175-5891-A2DB-3368-B8605BCCC07A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9" name="TipText">
              <a:extLst>
                <a:ext uri="{FF2B5EF4-FFF2-40B4-BE49-F238E27FC236}">
                  <a16:creationId xmlns:a16="http://schemas.microsoft.com/office/drawing/2014/main" id="{4EAC50F5-642D-0C3E-E84D-D4DED60E1642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0CE0E2BB-E6C6-DCEB-D3A5-29B82356E4D7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148384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练习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zh-CN" altLang="zh-CN" kern="100" dirty="0"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设有文法</a:t>
            </a:r>
            <a:r>
              <a:rPr lang="en-US" altLang="zh-CN" kern="100" dirty="0">
                <a:latin typeface="等线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G(S): </a:t>
            </a:r>
            <a:endParaRPr lang="en-US" altLang="zh-CN" kern="100" dirty="0">
              <a:effectLst/>
              <a:latin typeface="等线" panose="02010600030101010101" pitchFamily="2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altLang="zh-CN" kern="100" dirty="0">
                <a:latin typeface="等线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	</a:t>
            </a:r>
            <a:r>
              <a:rPr lang="en-US" altLang="zh-CN" kern="100" dirty="0"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S-&gt;+SA|*</a:t>
            </a:r>
            <a:r>
              <a:rPr lang="en-US" altLang="zh-CN" kern="100" dirty="0" err="1"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SA|n</a:t>
            </a:r>
            <a:endParaRPr lang="zh-CN" altLang="zh-CN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498475" indent="0" algn="just">
              <a:lnSpc>
                <a:spcPct val="150000"/>
              </a:lnSpc>
              <a:buNone/>
            </a:pPr>
            <a:r>
              <a:rPr lang="en-US" altLang="zh-CN" kern="100" dirty="0">
                <a:latin typeface="等线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		A-&gt;(S)|n</a:t>
            </a:r>
            <a:endParaRPr lang="zh-CN" altLang="zh-CN" kern="100" dirty="0">
              <a:latin typeface="等线" panose="02010600030101010101" pitchFamily="2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dirty="0">
                <a:effectLst/>
                <a:ea typeface="微软雅黑" panose="020B0503020204020204" pitchFamily="34" charset="-122"/>
                <a:cs typeface="Times New Roman" panose="02020603050405020304" pitchFamily="18" charset="0"/>
              </a:rPr>
              <a:t>            </a:t>
            </a:r>
            <a:r>
              <a:rPr lang="zh-CN" altLang="zh-CN" dirty="0">
                <a:effectLst/>
                <a:ea typeface="微软雅黑" panose="020B0503020204020204" pitchFamily="34" charset="-122"/>
                <a:cs typeface="Times New Roman" panose="02020603050405020304" pitchFamily="18" charset="0"/>
              </a:rPr>
              <a:t>请写出递归下降伪代码。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46735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示例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913CE654-2490-443F-89B9-8D0EF7881784}"/>
              </a:ext>
            </a:extLst>
          </p:cNvPr>
          <p:cNvSpPr txBox="1">
            <a:spLocks/>
          </p:cNvSpPr>
          <p:nvPr/>
        </p:nvSpPr>
        <p:spPr bwMode="auto">
          <a:xfrm>
            <a:off x="767408" y="1196752"/>
            <a:ext cx="10657184" cy="1656184"/>
          </a:xfrm>
          <a:prstGeom prst="rect">
            <a:avLst/>
          </a:prstGeom>
          <a:solidFill>
            <a:schemeClr val="bg1"/>
          </a:solidFill>
          <a:ln w="28575">
            <a:solidFill>
              <a:srgbClr val="9999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sz="2400" kern="0" dirty="0"/>
              <a:t>再来考虑</a:t>
            </a:r>
            <a:r>
              <a:rPr lang="en-US" altLang="zh-CN" sz="2400" kern="0" dirty="0"/>
              <a:t>if</a:t>
            </a:r>
            <a:r>
              <a:rPr lang="zh-CN" altLang="en-US" sz="2400" kern="0" dirty="0"/>
              <a:t>语句的文法</a:t>
            </a:r>
            <a:endParaRPr lang="en-US" altLang="zh-CN" sz="2400" i="1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50000"/>
              </a:lnSpc>
              <a:buNone/>
            </a:pPr>
            <a:r>
              <a:rPr lang="en-US" altLang="zh-CN" sz="2400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if-</a:t>
            </a:r>
            <a:r>
              <a:rPr lang="en-US" altLang="zh-CN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stmt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if 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exp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∣ if (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)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else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</a:t>
            </a:r>
          </a:p>
          <a:p>
            <a:pPr eaLnBrk="1" hangingPunct="1">
              <a:lnSpc>
                <a:spcPct val="150000"/>
              </a:lnSpc>
            </a:pPr>
            <a:endParaRPr lang="en-US" altLang="zh-CN" sz="2400" i="1" kern="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2C8B92A-CADC-48CD-A7B6-AA4B021CC672}"/>
              </a:ext>
            </a:extLst>
          </p:cNvPr>
          <p:cNvSpPr/>
          <p:nvPr/>
        </p:nvSpPr>
        <p:spPr>
          <a:xfrm>
            <a:off x="6100091" y="2996952"/>
            <a:ext cx="5328592" cy="3785652"/>
          </a:xfrm>
          <a:prstGeom prst="rect">
            <a:avLst/>
          </a:prstGeom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en-US" altLang="zh-CN" sz="2400" b="1" dirty="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ifstmt</a:t>
            </a:r>
            <a:r>
              <a:rPr lang="en-US" altLang="zh-CN" sz="2400" b="1" dirty="0">
                <a:latin typeface="Calibri" panose="020F0502020204030204" pitchFamily="34" charset="0"/>
                <a:cs typeface="Calibri" panose="020F0502020204030204" pitchFamily="34" charset="0"/>
              </a:rPr>
              <a:t>()</a:t>
            </a:r>
          </a:p>
          <a:p>
            <a:pPr>
              <a:buFontTx/>
              <a:buNone/>
            </a:pPr>
            <a:r>
              <a:rPr lang="en-US" altLang="zh-CN" sz="2400" b="1" dirty="0">
                <a:latin typeface="Calibri" panose="020F0502020204030204" pitchFamily="34" charset="0"/>
                <a:cs typeface="Calibri" panose="020F0502020204030204" pitchFamily="34" charset="0"/>
              </a:rPr>
              <a:t>{</a:t>
            </a:r>
          </a:p>
          <a:p>
            <a:pPr>
              <a:buFontTx/>
              <a:buNone/>
            </a:pPr>
            <a:r>
              <a:rPr lang="en-US" altLang="zh-CN" sz="2400" b="1" dirty="0">
                <a:latin typeface="Calibri" panose="020F0502020204030204" pitchFamily="34" charset="0"/>
                <a:cs typeface="Calibri" panose="020F0502020204030204" pitchFamily="34" charset="0"/>
              </a:rPr>
              <a:t>          </a:t>
            </a:r>
            <a:r>
              <a:rPr lang="en-US" altLang="zh-CN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match</a:t>
            </a:r>
            <a:r>
              <a:rPr lang="en-US" altLang="zh-CN" sz="2400" b="1" dirty="0">
                <a:latin typeface="Calibri" panose="020F0502020204030204" pitchFamily="34" charset="0"/>
                <a:cs typeface="Calibri" panose="020F0502020204030204" pitchFamily="34" charset="0"/>
              </a:rPr>
              <a:t>( </a:t>
            </a:r>
            <a:r>
              <a:rPr lang="en-US" altLang="zh-CN" sz="2400" b="1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if</a:t>
            </a:r>
            <a:r>
              <a:rPr lang="en-US" altLang="zh-CN" sz="2400" b="1" dirty="0">
                <a:latin typeface="Calibri" panose="020F0502020204030204" pitchFamily="34" charset="0"/>
                <a:cs typeface="Calibri" panose="020F0502020204030204" pitchFamily="34" charset="0"/>
              </a:rPr>
              <a:t> ); 	</a:t>
            </a:r>
            <a:r>
              <a:rPr lang="en-US" altLang="zh-CN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match</a:t>
            </a:r>
            <a:r>
              <a:rPr lang="en-US" altLang="zh-CN" sz="2400" b="1" dirty="0">
                <a:latin typeface="Calibri" panose="020F0502020204030204" pitchFamily="34" charset="0"/>
                <a:cs typeface="Calibri" panose="020F0502020204030204" pitchFamily="34" charset="0"/>
              </a:rPr>
              <a:t>( </a:t>
            </a:r>
            <a:r>
              <a:rPr lang="en-US" altLang="zh-CN" sz="2400" b="1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altLang="zh-CN" sz="2400" b="1" dirty="0">
                <a:latin typeface="Calibri" panose="020F0502020204030204" pitchFamily="34" charset="0"/>
                <a:cs typeface="Calibri" panose="020F0502020204030204" pitchFamily="34" charset="0"/>
              </a:rPr>
              <a:t> );          </a:t>
            </a:r>
          </a:p>
          <a:p>
            <a:pPr>
              <a:buFontTx/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exp</a:t>
            </a:r>
            <a:r>
              <a:rPr lang="en-US" altLang="zh-CN" sz="2400" b="1" dirty="0">
                <a:latin typeface="Calibri" panose="020F0502020204030204" pitchFamily="34" charset="0"/>
                <a:cs typeface="Calibri" panose="020F0502020204030204" pitchFamily="34" charset="0"/>
              </a:rPr>
              <a:t>();               	</a:t>
            </a:r>
            <a:r>
              <a:rPr lang="en-US" altLang="zh-CN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match</a:t>
            </a:r>
            <a:r>
              <a:rPr lang="en-US" altLang="zh-CN" sz="2400" b="1" dirty="0">
                <a:latin typeface="Calibri" panose="020F0502020204030204" pitchFamily="34" charset="0"/>
                <a:cs typeface="Calibri" panose="020F0502020204030204" pitchFamily="34" charset="0"/>
              </a:rPr>
              <a:t>( </a:t>
            </a:r>
            <a:r>
              <a:rPr lang="en-US" altLang="zh-CN" sz="2400" b="1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lang="en-US" altLang="zh-CN" sz="2400" b="1" dirty="0">
                <a:latin typeface="Calibri" panose="020F0502020204030204" pitchFamily="34" charset="0"/>
                <a:cs typeface="Calibri" panose="020F0502020204030204" pitchFamily="34" charset="0"/>
              </a:rPr>
              <a:t> );       </a:t>
            </a:r>
          </a:p>
          <a:p>
            <a:pPr>
              <a:buFontTx/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statement</a:t>
            </a:r>
            <a:r>
              <a:rPr lang="en-US" altLang="zh-CN" sz="2400" b="1" dirty="0">
                <a:latin typeface="Calibri" panose="020F0502020204030204" pitchFamily="34" charset="0"/>
                <a:cs typeface="Calibri" panose="020F0502020204030204" pitchFamily="34" charset="0"/>
              </a:rPr>
              <a:t>();</a:t>
            </a:r>
          </a:p>
          <a:p>
            <a:pPr>
              <a:buFontTx/>
              <a:buNone/>
            </a:pPr>
            <a:r>
              <a:rPr lang="en-US" altLang="zh-CN" sz="2400" b="1" dirty="0">
                <a:latin typeface="Calibri" panose="020F0502020204030204" pitchFamily="34" charset="0"/>
                <a:cs typeface="Calibri" panose="020F0502020204030204" pitchFamily="34" charset="0"/>
              </a:rPr>
              <a:t>          if (</a:t>
            </a:r>
            <a:r>
              <a:rPr lang="en-US" altLang="zh-CN" sz="2400" b="1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token</a:t>
            </a:r>
            <a:r>
              <a:rPr lang="en-US" altLang="zh-CN" sz="2400" b="1" dirty="0">
                <a:latin typeface="Calibri" panose="020F0502020204030204" pitchFamily="34" charset="0"/>
                <a:cs typeface="Calibri" panose="020F0502020204030204" pitchFamily="34" charset="0"/>
              </a:rPr>
              <a:t> == </a:t>
            </a:r>
            <a:r>
              <a:rPr lang="en-US" altLang="zh-CN" sz="2400" b="1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else)</a:t>
            </a:r>
          </a:p>
          <a:p>
            <a:pPr>
              <a:buFontTx/>
              <a:buNone/>
            </a:pPr>
            <a:r>
              <a:rPr lang="en-US" altLang="zh-CN" sz="2400" b="1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</a:t>
            </a:r>
            <a:r>
              <a:rPr lang="en-US" altLang="zh-CN" sz="2400" b="1" dirty="0">
                <a:latin typeface="Calibri" panose="020F0502020204030204" pitchFamily="34" charset="0"/>
                <a:cs typeface="Calibri" panose="020F0502020204030204" pitchFamily="34" charset="0"/>
              </a:rPr>
              <a:t>{     </a:t>
            </a:r>
          </a:p>
          <a:p>
            <a:pPr>
              <a:buFontTx/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   match</a:t>
            </a:r>
            <a:r>
              <a:rPr lang="en-US" altLang="zh-CN" sz="2400" b="1" dirty="0"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altLang="zh-CN" sz="2400" b="1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else</a:t>
            </a:r>
            <a:r>
              <a:rPr lang="en-US" altLang="zh-CN" sz="2400" b="1" dirty="0">
                <a:latin typeface="Calibri" panose="020F0502020204030204" pitchFamily="34" charset="0"/>
                <a:cs typeface="Calibri" panose="020F0502020204030204" pitchFamily="34" charset="0"/>
              </a:rPr>
              <a:t>);        </a:t>
            </a:r>
            <a:r>
              <a:rPr lang="en-US" altLang="zh-CN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statement</a:t>
            </a:r>
            <a:r>
              <a:rPr lang="en-US" altLang="zh-CN" sz="2400" b="1" dirty="0">
                <a:latin typeface="Calibri" panose="020F0502020204030204" pitchFamily="34" charset="0"/>
                <a:cs typeface="Calibri" panose="020F0502020204030204" pitchFamily="34" charset="0"/>
              </a:rPr>
              <a:t>();</a:t>
            </a:r>
          </a:p>
          <a:p>
            <a:pPr>
              <a:buFontTx/>
              <a:buNone/>
            </a:pPr>
            <a:r>
              <a:rPr lang="en-US" altLang="zh-CN" sz="2400" b="1" dirty="0">
                <a:latin typeface="Calibri" panose="020F0502020204030204" pitchFamily="34" charset="0"/>
                <a:cs typeface="Calibri" panose="020F0502020204030204" pitchFamily="34" charset="0"/>
              </a:rPr>
              <a:t>          }</a:t>
            </a:r>
          </a:p>
          <a:p>
            <a:pPr>
              <a:buFontTx/>
              <a:buNone/>
            </a:pPr>
            <a:r>
              <a:rPr lang="en-US" altLang="zh-CN" sz="2400" b="1" dirty="0">
                <a:latin typeface="Calibri" panose="020F0502020204030204" pitchFamily="34" charset="0"/>
                <a:cs typeface="Calibri" panose="020F0502020204030204" pitchFamily="34" charset="0"/>
              </a:rPr>
              <a:t>}</a:t>
            </a:r>
            <a:endParaRPr lang="zh-CN" altLang="en-US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6F1E68A-8917-4242-BE8C-68DD273D9FBF}"/>
              </a:ext>
            </a:extLst>
          </p:cNvPr>
          <p:cNvSpPr/>
          <p:nvPr/>
        </p:nvSpPr>
        <p:spPr>
          <a:xfrm>
            <a:off x="767408" y="4943581"/>
            <a:ext cx="5184576" cy="1334981"/>
          </a:xfrm>
          <a:prstGeom prst="rect">
            <a:avLst/>
          </a:prstGeom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 wrap="square">
            <a:no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+mn-lt"/>
                <a:ea typeface="+mn-ea"/>
                <a:cs typeface="Times New Roman" panose="02020603050405020304" pitchFamily="18" charset="0"/>
              </a:rPr>
              <a:t>思考：这个文法是一个二义性文法，这样写程序对吗？</a:t>
            </a:r>
            <a:endParaRPr lang="en-US" altLang="zh-CN" sz="2400" b="1" dirty="0">
              <a:latin typeface="+mn-lt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400" b="1" dirty="0">
              <a:latin typeface="+mn-lt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DA0729D-2304-53C0-A8D4-DFA95D3448DC}"/>
              </a:ext>
            </a:extLst>
          </p:cNvPr>
          <p:cNvSpPr txBox="1"/>
          <p:nvPr/>
        </p:nvSpPr>
        <p:spPr>
          <a:xfrm>
            <a:off x="763317" y="3574178"/>
            <a:ext cx="5184576" cy="861774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EBNF:</a:t>
            </a:r>
          </a:p>
          <a:p>
            <a:pPr eaLnBrk="1" hangingPunct="1"/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if-</a:t>
            </a:r>
            <a:r>
              <a:rPr lang="en-US" altLang="zh-CN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stmt</a:t>
            </a:r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if ( exp ) statement  </a:t>
            </a:r>
            <a:r>
              <a:rPr lang="en-US" altLang="zh-CN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else statement</a:t>
            </a:r>
            <a:r>
              <a:rPr lang="en-US" altLang="zh-CN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1980378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示例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83432" y="1340768"/>
            <a:ext cx="10009112" cy="1080120"/>
          </a:xfrm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 marL="609600" indent="-609600" eaLnBrk="1" hangingPunct="1"/>
            <a:r>
              <a:rPr lang="zh-CN" altLang="en-US" dirty="0"/>
              <a:t>使用</a:t>
            </a:r>
            <a:r>
              <a:rPr lang="en-US" altLang="zh-CN" dirty="0"/>
              <a:t>EBNF</a:t>
            </a:r>
            <a:r>
              <a:rPr lang="zh-CN" altLang="en-US" dirty="0"/>
              <a:t>表示后如何保证左结合性呢？</a:t>
            </a:r>
            <a:endParaRPr lang="en-US" altLang="zh-CN" dirty="0"/>
          </a:p>
          <a:p>
            <a:pPr marL="609600" indent="-609600" eaLnBrk="1" hangingPunct="1"/>
            <a:r>
              <a:rPr lang="zh-CN" altLang="en-US" dirty="0"/>
              <a:t>通过程序处理运算顺序。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C9485BC7-23BA-4789-A81B-8DD7FC405C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3432" y="2564904"/>
            <a:ext cx="4824536" cy="4176464"/>
          </a:xfrm>
          <a:prstGeom prst="rect">
            <a:avLst/>
          </a:prstGeom>
          <a:solidFill>
            <a:schemeClr val="bg1"/>
          </a:solidFill>
          <a:ln w="28575">
            <a:solidFill>
              <a:srgbClr val="9999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buNone/>
            </a:pPr>
            <a:r>
              <a:rPr lang="en-US" altLang="zh-CN" sz="2400" kern="0" dirty="0">
                <a:latin typeface="Calibri" panose="020F0502020204030204" pitchFamily="34" charset="0"/>
                <a:cs typeface="Calibri" panose="020F0502020204030204" pitchFamily="34" charset="0"/>
              </a:rPr>
              <a:t>int </a:t>
            </a:r>
            <a:r>
              <a:rPr lang="en-US" altLang="zh-CN" sz="2400" kern="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exp</a:t>
            </a:r>
            <a:r>
              <a:rPr lang="en-US" altLang="zh-CN" sz="2400" kern="0" dirty="0">
                <a:latin typeface="Calibri" panose="020F0502020204030204" pitchFamily="34" charset="0"/>
                <a:cs typeface="Calibri" panose="020F0502020204030204" pitchFamily="34" charset="0"/>
              </a:rPr>
              <a:t>()</a:t>
            </a:r>
          </a:p>
          <a:p>
            <a:pPr>
              <a:buNone/>
            </a:pPr>
            <a:r>
              <a:rPr lang="en-US" altLang="zh-CN" sz="2400" kern="0" dirty="0">
                <a:latin typeface="Calibri" panose="020F0502020204030204" pitchFamily="34" charset="0"/>
                <a:cs typeface="Calibri" panose="020F0502020204030204" pitchFamily="34" charset="0"/>
              </a:rPr>
              <a:t>{</a:t>
            </a:r>
          </a:p>
          <a:p>
            <a:pPr>
              <a:buNone/>
            </a:pPr>
            <a:r>
              <a:rPr lang="en-US" altLang="zh-CN" sz="2400" kern="0" dirty="0">
                <a:latin typeface="Calibri" panose="020F0502020204030204" pitchFamily="34" charset="0"/>
                <a:cs typeface="Calibri" panose="020F0502020204030204" pitchFamily="34" charset="0"/>
              </a:rPr>
              <a:t>    int </a:t>
            </a:r>
            <a:r>
              <a:rPr lang="en-US" altLang="zh-CN" sz="2400" kern="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temp</a:t>
            </a:r>
            <a:r>
              <a:rPr lang="en-US" altLang="zh-CN" sz="2400" kern="0" dirty="0">
                <a:latin typeface="Calibri" panose="020F0502020204030204" pitchFamily="34" charset="0"/>
                <a:cs typeface="Calibri" panose="020F0502020204030204" pitchFamily="34" charset="0"/>
              </a:rPr>
              <a:t>;</a:t>
            </a:r>
          </a:p>
          <a:p>
            <a:pPr>
              <a:buNone/>
            </a:pPr>
            <a:r>
              <a:rPr lang="en-US" altLang="zh-CN" sz="2400" kern="0" dirty="0">
                <a:latin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US" altLang="zh-CN" sz="2400" kern="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temp = term();</a:t>
            </a:r>
          </a:p>
          <a:p>
            <a:pPr>
              <a:buNone/>
            </a:pPr>
            <a:r>
              <a:rPr lang="en-US" altLang="zh-CN" sz="2400" kern="0" dirty="0">
                <a:latin typeface="Calibri" panose="020F0502020204030204" pitchFamily="34" charset="0"/>
                <a:cs typeface="Calibri" panose="020F0502020204030204" pitchFamily="34" charset="0"/>
              </a:rPr>
              <a:t>    while (token == + or token == - )</a:t>
            </a:r>
          </a:p>
          <a:p>
            <a:pPr>
              <a:buNone/>
            </a:pPr>
            <a:r>
              <a:rPr lang="en-US" altLang="zh-CN" sz="2400" kern="0" dirty="0">
                <a:latin typeface="Calibri" panose="020F0502020204030204" pitchFamily="34" charset="0"/>
                <a:cs typeface="Calibri" panose="020F0502020204030204" pitchFamily="34" charset="0"/>
              </a:rPr>
              <a:t>    {</a:t>
            </a:r>
          </a:p>
          <a:p>
            <a:pPr>
              <a:buNone/>
            </a:pPr>
            <a:r>
              <a:rPr lang="en-US" altLang="zh-CN" sz="2400" kern="0" dirty="0">
                <a:latin typeface="Calibri" panose="020F0502020204030204" pitchFamily="34" charset="0"/>
                <a:cs typeface="Calibri" panose="020F0502020204030204" pitchFamily="34" charset="0"/>
              </a:rPr>
              <a:t>            if (token == +)</a:t>
            </a:r>
          </a:p>
          <a:p>
            <a:pPr>
              <a:buNone/>
            </a:pPr>
            <a:r>
              <a:rPr lang="en-US" altLang="zh-CN" sz="2400" kern="0" dirty="0">
                <a:latin typeface="Calibri" panose="020F0502020204030204" pitchFamily="34" charset="0"/>
                <a:cs typeface="Calibri" panose="020F0502020204030204" pitchFamily="34" charset="0"/>
              </a:rPr>
              <a:t>	       {</a:t>
            </a:r>
          </a:p>
          <a:p>
            <a:pPr>
              <a:buNone/>
            </a:pPr>
            <a:r>
              <a:rPr lang="en-US" altLang="zh-CN" sz="2400" kern="0" dirty="0">
                <a:latin typeface="Calibri" panose="020F0502020204030204" pitchFamily="34" charset="0"/>
                <a:cs typeface="Calibri" panose="020F0502020204030204" pitchFamily="34" charset="0"/>
              </a:rPr>
              <a:t>		      </a:t>
            </a:r>
            <a:r>
              <a:rPr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match(+);</a:t>
            </a:r>
            <a:endParaRPr lang="en-US" altLang="zh-CN" sz="2400" kern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048EBB45-20D3-4466-B7F1-C40768AE45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2564904"/>
            <a:ext cx="4896544" cy="4176464"/>
          </a:xfrm>
          <a:prstGeom prst="rect">
            <a:avLst/>
          </a:prstGeom>
          <a:solidFill>
            <a:schemeClr val="bg1"/>
          </a:solidFill>
          <a:ln w="28575">
            <a:solidFill>
              <a:srgbClr val="9999FF"/>
            </a:solidFill>
          </a:ln>
          <a:effectLst/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lvl="2">
              <a:lnSpc>
                <a:spcPct val="80000"/>
              </a:lnSpc>
              <a:buNone/>
            </a:pPr>
            <a:r>
              <a:rPr lang="en-US" altLang="zh-CN" b="1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</a:p>
          <a:p>
            <a:pPr lvl="2">
              <a:lnSpc>
                <a:spcPct val="80000"/>
              </a:lnSpc>
              <a:buNone/>
            </a:pPr>
            <a:r>
              <a:rPr lang="en-US" altLang="zh-CN" b="1" dirty="0">
                <a:latin typeface="Calibri" panose="020F0502020204030204" pitchFamily="34" charset="0"/>
                <a:cs typeface="Calibri" panose="020F0502020204030204" pitchFamily="34" charset="0"/>
              </a:rPr>
              <a:t>     </a:t>
            </a:r>
            <a:r>
              <a:rPr lang="en-US" altLang="zh-CN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temp = temp + term();</a:t>
            </a:r>
          </a:p>
          <a:p>
            <a:pPr lvl="2">
              <a:lnSpc>
                <a:spcPct val="80000"/>
              </a:lnSpc>
              <a:buNone/>
            </a:pPr>
            <a:r>
              <a:rPr lang="en-US" altLang="zh-CN" b="1" dirty="0">
                <a:latin typeface="Calibri" panose="020F0502020204030204" pitchFamily="34" charset="0"/>
                <a:cs typeface="Calibri" panose="020F0502020204030204" pitchFamily="34" charset="0"/>
              </a:rPr>
              <a:t>}</a:t>
            </a:r>
          </a:p>
          <a:p>
            <a:pPr lvl="2">
              <a:lnSpc>
                <a:spcPct val="80000"/>
              </a:lnSpc>
              <a:buNone/>
            </a:pPr>
            <a:r>
              <a:rPr lang="en-US" altLang="zh-CN" b="1" kern="0" dirty="0">
                <a:latin typeface="Calibri" panose="020F0502020204030204" pitchFamily="34" charset="0"/>
                <a:cs typeface="Calibri" panose="020F0502020204030204" pitchFamily="34" charset="0"/>
              </a:rPr>
              <a:t>else if (token == -)</a:t>
            </a:r>
            <a:r>
              <a:rPr lang="en-US" altLang="zh-CN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lvl="2">
              <a:lnSpc>
                <a:spcPct val="80000"/>
              </a:lnSpc>
              <a:buNone/>
            </a:pPr>
            <a:r>
              <a:rPr lang="en-US" altLang="zh-CN" b="1" dirty="0">
                <a:latin typeface="Calibri" panose="020F0502020204030204" pitchFamily="34" charset="0"/>
                <a:cs typeface="Calibri" panose="020F0502020204030204" pitchFamily="34" charset="0"/>
              </a:rPr>
              <a:t>{</a:t>
            </a:r>
          </a:p>
          <a:p>
            <a:pPr lvl="2">
              <a:lnSpc>
                <a:spcPct val="80000"/>
              </a:lnSpc>
              <a:buNone/>
            </a:pPr>
            <a:r>
              <a:rPr lang="en-US" altLang="zh-CN" b="1" dirty="0">
                <a:latin typeface="Calibri" panose="020F0502020204030204" pitchFamily="34" charset="0"/>
                <a:cs typeface="Calibri" panose="020F0502020204030204" pitchFamily="34" charset="0"/>
              </a:rPr>
              <a:t>       match(-);</a:t>
            </a:r>
          </a:p>
          <a:p>
            <a:pPr lvl="2">
              <a:lnSpc>
                <a:spcPct val="80000"/>
              </a:lnSpc>
              <a:buNone/>
            </a:pPr>
            <a:r>
              <a:rPr lang="en-US" altLang="zh-CN" b="1" dirty="0">
                <a:latin typeface="Calibri" panose="020F0502020204030204" pitchFamily="34" charset="0"/>
                <a:cs typeface="Calibri" panose="020F0502020204030204" pitchFamily="34" charset="0"/>
              </a:rPr>
              <a:t>       </a:t>
            </a:r>
            <a:r>
              <a:rPr lang="en-US" altLang="zh-CN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temp = temp – term();</a:t>
            </a:r>
          </a:p>
          <a:p>
            <a:pPr lvl="2">
              <a:lnSpc>
                <a:spcPct val="80000"/>
              </a:lnSpc>
              <a:buNone/>
            </a:pPr>
            <a:r>
              <a:rPr lang="en-US" altLang="zh-CN" b="1" dirty="0">
                <a:latin typeface="Calibri" panose="020F0502020204030204" pitchFamily="34" charset="0"/>
                <a:cs typeface="Calibri" panose="020F0502020204030204" pitchFamily="34" charset="0"/>
              </a:rPr>
              <a:t>}</a:t>
            </a:r>
            <a:endParaRPr lang="en-US" altLang="zh-CN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lnSpc>
                <a:spcPct val="80000"/>
              </a:lnSpc>
              <a:buNone/>
            </a:pPr>
            <a:r>
              <a:rPr lang="en-US" altLang="zh-CN" sz="2400" b="1" dirty="0">
                <a:latin typeface="Calibri" panose="020F0502020204030204" pitchFamily="34" charset="0"/>
                <a:cs typeface="Calibri" panose="020F0502020204030204" pitchFamily="34" charset="0"/>
              </a:rPr>
              <a:t>}</a:t>
            </a:r>
          </a:p>
          <a:p>
            <a:pPr lvl="1">
              <a:lnSpc>
                <a:spcPct val="80000"/>
              </a:lnSpc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return temp;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2400" b="1" dirty="0">
                <a:latin typeface="Calibri" panose="020F0502020204030204" pitchFamily="34" charset="0"/>
                <a:cs typeface="Calibri" panose="020F0502020204030204" pitchFamily="34" charset="0"/>
              </a:rPr>
              <a:t>}</a:t>
            </a:r>
            <a:endParaRPr lang="zh-CN" altLang="en-US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6710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示例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 marL="609600" indent="-609600" eaLnBrk="1" hangingPunct="1">
              <a:lnSpc>
                <a:spcPct val="150000"/>
              </a:lnSpc>
            </a:pPr>
            <a:r>
              <a:rPr lang="zh-CN" altLang="en-US" dirty="0"/>
              <a:t>思考：如果要实现右结合性呢？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3401004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3">
            <a:extLst>
              <a:ext uri="{FF2B5EF4-FFF2-40B4-BE49-F238E27FC236}">
                <a16:creationId xmlns:a16="http://schemas.microsoft.com/office/drawing/2014/main" id="{38657131-4E0F-4863-A222-001553AD40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2905" y="1385773"/>
            <a:ext cx="5256584" cy="5355595"/>
          </a:xfrm>
          <a:prstGeom prst="rect">
            <a:avLst/>
          </a:prstGeom>
          <a:solidFill>
            <a:schemeClr val="bg1"/>
          </a:solidFill>
          <a:ln w="28575">
            <a:solidFill>
              <a:srgbClr val="9999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90000"/>
              </a:lnSpc>
              <a:buFontTx/>
              <a:buNone/>
            </a:pPr>
            <a:r>
              <a:rPr lang="en-US" altLang="zh-CN" sz="2400" kern="0" dirty="0">
                <a:latin typeface="Calibri" panose="020F0502020204030204" pitchFamily="34" charset="0"/>
                <a:cs typeface="Calibri" panose="020F0502020204030204" pitchFamily="34" charset="0"/>
              </a:rPr>
              <a:t>	      </a:t>
            </a:r>
            <a:r>
              <a:rPr lang="en-US" altLang="zh-CN" sz="2400" kern="0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 </a:t>
            </a:r>
            <a:r>
              <a:rPr lang="en-US" altLang="zh-CN" sz="2400" kern="0" dirty="0">
                <a:latin typeface="Calibri" panose="020F0502020204030204" pitchFamily="34" charset="0"/>
                <a:cs typeface="Calibri" panose="020F0502020204030204" pitchFamily="34" charset="0"/>
              </a:rPr>
              <a:t>: match(-);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400" kern="0" dirty="0">
                <a:latin typeface="Calibri" panose="020F0502020204030204" pitchFamily="34" charset="0"/>
                <a:cs typeface="Calibri" panose="020F0502020204030204" pitchFamily="34" charset="0"/>
              </a:rPr>
              <a:t>   		  </a:t>
            </a:r>
            <a:r>
              <a:rPr lang="en-US" altLang="zh-CN" sz="240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newtemp</a:t>
            </a:r>
            <a:r>
              <a:rPr lang="en-US" altLang="zh-CN" sz="2400" kern="0" dirty="0">
                <a:latin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altLang="zh-CN" sz="2400" kern="0" dirty="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makeOpNode</a:t>
            </a:r>
            <a:r>
              <a:rPr lang="en-US" altLang="zh-CN" sz="2400" kern="0" dirty="0">
                <a:latin typeface="Calibri" panose="020F0502020204030204" pitchFamily="34" charset="0"/>
                <a:cs typeface="Calibri" panose="020F0502020204030204" pitchFamily="34" charset="0"/>
              </a:rPr>
              <a:t>(-);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400" kern="0" dirty="0">
                <a:latin typeface="Calibri" panose="020F0502020204030204" pitchFamily="34" charset="0"/>
                <a:cs typeface="Calibri" panose="020F0502020204030204" pitchFamily="34" charset="0"/>
              </a:rPr>
              <a:t>   		  </a:t>
            </a:r>
            <a:r>
              <a:rPr lang="en-US" altLang="zh-CN" sz="240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newtemp.</a:t>
            </a:r>
            <a:r>
              <a:rPr lang="en-US" altLang="zh-CN" sz="2400" kern="0" dirty="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leftChild</a:t>
            </a:r>
            <a:r>
              <a:rPr lang="en-US" altLang="zh-CN" sz="2400" kern="0" dirty="0">
                <a:latin typeface="Calibri" panose="020F0502020204030204" pitchFamily="34" charset="0"/>
                <a:cs typeface="Calibri" panose="020F0502020204030204" pitchFamily="34" charset="0"/>
              </a:rPr>
              <a:t> = temp;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400" kern="0" dirty="0">
                <a:latin typeface="Calibri" panose="020F0502020204030204" pitchFamily="34" charset="0"/>
                <a:cs typeface="Calibri" panose="020F0502020204030204" pitchFamily="34" charset="0"/>
              </a:rPr>
              <a:t>   		  </a:t>
            </a:r>
            <a:r>
              <a:rPr lang="en-US" altLang="zh-CN" sz="240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newtemp.</a:t>
            </a:r>
            <a:r>
              <a:rPr lang="en-US" altLang="zh-CN" sz="2400" kern="0" dirty="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rightChild</a:t>
            </a:r>
            <a:r>
              <a:rPr lang="en-US" altLang="zh-CN" sz="2400" kern="0" dirty="0">
                <a:latin typeface="Calibri" panose="020F0502020204030204" pitchFamily="34" charset="0"/>
                <a:cs typeface="Calibri" panose="020F0502020204030204" pitchFamily="34" charset="0"/>
              </a:rPr>
              <a:t> = term();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400" kern="0" dirty="0">
                <a:latin typeface="Calibri" panose="020F0502020204030204" pitchFamily="34" charset="0"/>
                <a:cs typeface="Calibri" panose="020F0502020204030204" pitchFamily="34" charset="0"/>
              </a:rPr>
              <a:t>   		  temp = </a:t>
            </a:r>
            <a:r>
              <a:rPr lang="en-US" altLang="zh-CN" sz="240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newtemp</a:t>
            </a:r>
            <a:r>
              <a:rPr lang="en-US" altLang="zh-CN" sz="2400" kern="0" dirty="0">
                <a:latin typeface="Calibri" panose="020F0502020204030204" pitchFamily="34" charset="0"/>
                <a:cs typeface="Calibri" panose="020F0502020204030204" pitchFamily="34" charset="0"/>
              </a:rPr>
              <a:t>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400" kern="0" dirty="0">
                <a:latin typeface="Calibri" panose="020F0502020204030204" pitchFamily="34" charset="0"/>
                <a:cs typeface="Calibri" panose="020F0502020204030204" pitchFamily="34" charset="0"/>
              </a:rPr>
              <a:t>      }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400" kern="0" dirty="0">
                <a:latin typeface="Calibri" panose="020F0502020204030204" pitchFamily="34" charset="0"/>
                <a:cs typeface="Calibri" panose="020F0502020204030204" pitchFamily="34" charset="0"/>
              </a:rPr>
              <a:t>      return temp;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400" kern="0" dirty="0">
                <a:latin typeface="Calibri" panose="020F0502020204030204" pitchFamily="34" charset="0"/>
                <a:cs typeface="Calibri" panose="020F0502020204030204" pitchFamily="34" charset="0"/>
              </a:rPr>
              <a:t>}</a:t>
            </a:r>
            <a:endParaRPr lang="zh-CN" altLang="en-US" sz="2400" kern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构建语法树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3392" y="1385773"/>
            <a:ext cx="5616623" cy="720080"/>
          </a:xfrm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 marL="609600" indent="-609600" eaLnBrk="1" hangingPunct="1">
              <a:lnSpc>
                <a:spcPct val="150000"/>
              </a:lnSpc>
            </a:pPr>
            <a:r>
              <a:rPr lang="zh-CN" altLang="en-US" dirty="0"/>
              <a:t>如何在程序中构建语法树？</a:t>
            </a:r>
            <a:endParaRPr lang="en-US" altLang="zh-CN" dirty="0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9BC55346-501A-43AC-823D-01F3AAE89257}"/>
              </a:ext>
            </a:extLst>
          </p:cNvPr>
          <p:cNvGrpSpPr>
            <a:grpSpLocks/>
          </p:cNvGrpSpPr>
          <p:nvPr/>
        </p:nvGrpSpPr>
        <p:grpSpPr bwMode="auto">
          <a:xfrm>
            <a:off x="8911177" y="4365104"/>
            <a:ext cx="2119064" cy="1656184"/>
            <a:chOff x="3780" y="1284"/>
            <a:chExt cx="2880" cy="2496"/>
          </a:xfrm>
          <a:noFill/>
        </p:grpSpPr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963ACA3E-E9EE-4E2E-AA0D-D9A4372E6F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0" y="1284"/>
              <a:ext cx="180" cy="31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/>
              <a:r>
                <a:rPr lang="en-US" altLang="zh-CN" sz="2400" dirty="0"/>
                <a:t>+</a:t>
              </a:r>
            </a:p>
            <a:p>
              <a:endParaRPr lang="en-US" altLang="zh-CN" sz="2400" dirty="0"/>
            </a:p>
          </p:txBody>
        </p:sp>
        <p:sp>
          <p:nvSpPr>
            <p:cNvPr id="6" name="Line 6">
              <a:extLst>
                <a:ext uri="{FF2B5EF4-FFF2-40B4-BE49-F238E27FC236}">
                  <a16:creationId xmlns:a16="http://schemas.microsoft.com/office/drawing/2014/main" id="{8F8307BC-E1CA-445F-BF02-AA356034E36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60" y="1596"/>
              <a:ext cx="540" cy="624"/>
            </a:xfrm>
            <a:prstGeom prst="line">
              <a:avLst/>
            </a:prstGeom>
            <a:grp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7" name="Line 7">
              <a:extLst>
                <a:ext uri="{FF2B5EF4-FFF2-40B4-BE49-F238E27FC236}">
                  <a16:creationId xmlns:a16="http://schemas.microsoft.com/office/drawing/2014/main" id="{973E4BDF-6F8C-4EA4-8AC3-FDED4C160C0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940" y="1596"/>
              <a:ext cx="540" cy="624"/>
            </a:xfrm>
            <a:prstGeom prst="line">
              <a:avLst/>
            </a:prstGeom>
            <a:grp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8" name="Rectangle 8">
              <a:extLst>
                <a:ext uri="{FF2B5EF4-FFF2-40B4-BE49-F238E27FC236}">
                  <a16:creationId xmlns:a16="http://schemas.microsoft.com/office/drawing/2014/main" id="{01596C0D-A865-4929-A25A-17A307B636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0" y="2376"/>
              <a:ext cx="180" cy="31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/>
              <a:r>
                <a:rPr lang="en-US" altLang="zh-CN" sz="2400" dirty="0"/>
                <a:t>+</a:t>
              </a:r>
            </a:p>
            <a:p>
              <a:endParaRPr lang="en-US" altLang="zh-CN" sz="2400" dirty="0"/>
            </a:p>
          </p:txBody>
        </p:sp>
        <p:sp>
          <p:nvSpPr>
            <p:cNvPr id="9" name="Rectangle 9">
              <a:extLst>
                <a:ext uri="{FF2B5EF4-FFF2-40B4-BE49-F238E27FC236}">
                  <a16:creationId xmlns:a16="http://schemas.microsoft.com/office/drawing/2014/main" id="{A94C4B70-7AA6-4FDC-97A2-1D841F1F55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80" y="2376"/>
              <a:ext cx="180" cy="31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/>
              <a:r>
                <a:rPr lang="en-US" altLang="zh-CN" sz="2400"/>
                <a:t>5</a:t>
              </a:r>
            </a:p>
            <a:p>
              <a:endParaRPr lang="en-US" altLang="zh-CN" sz="2400"/>
            </a:p>
          </p:txBody>
        </p:sp>
        <p:sp>
          <p:nvSpPr>
            <p:cNvPr id="10" name="Line 10">
              <a:extLst>
                <a:ext uri="{FF2B5EF4-FFF2-40B4-BE49-F238E27FC236}">
                  <a16:creationId xmlns:a16="http://schemas.microsoft.com/office/drawing/2014/main" id="{BF41BE08-06C7-4AD4-8202-F1061C80AB4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60" y="2688"/>
              <a:ext cx="540" cy="624"/>
            </a:xfrm>
            <a:prstGeom prst="line">
              <a:avLst/>
            </a:prstGeom>
            <a:grp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11" name="Line 11">
              <a:extLst>
                <a:ext uri="{FF2B5EF4-FFF2-40B4-BE49-F238E27FC236}">
                  <a16:creationId xmlns:a16="http://schemas.microsoft.com/office/drawing/2014/main" id="{D3945AAF-980C-4F72-95FE-1287AFAC3F8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040" y="2688"/>
              <a:ext cx="540" cy="624"/>
            </a:xfrm>
            <a:prstGeom prst="line">
              <a:avLst/>
            </a:prstGeom>
            <a:grp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12" name="Rectangle 12">
              <a:extLst>
                <a:ext uri="{FF2B5EF4-FFF2-40B4-BE49-F238E27FC236}">
                  <a16:creationId xmlns:a16="http://schemas.microsoft.com/office/drawing/2014/main" id="{088EC2DB-F70A-4022-BFF8-4B9C993F9B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0" y="3468"/>
              <a:ext cx="180" cy="31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/>
              <a:r>
                <a:rPr lang="en-US" altLang="zh-CN" sz="2400"/>
                <a:t>3</a:t>
              </a:r>
            </a:p>
            <a:p>
              <a:endParaRPr lang="en-US" altLang="zh-CN" sz="2400"/>
            </a:p>
          </p:txBody>
        </p:sp>
        <p:sp>
          <p:nvSpPr>
            <p:cNvPr id="13" name="Rectangle 13">
              <a:extLst>
                <a:ext uri="{FF2B5EF4-FFF2-40B4-BE49-F238E27FC236}">
                  <a16:creationId xmlns:a16="http://schemas.microsoft.com/office/drawing/2014/main" id="{14926827-1324-4C36-B1A4-8077633E13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0" y="3468"/>
              <a:ext cx="180" cy="31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/>
              <a:r>
                <a:rPr lang="en-US" altLang="zh-CN" sz="2400"/>
                <a:t>4</a:t>
              </a:r>
            </a:p>
            <a:p>
              <a:endParaRPr lang="en-US" altLang="zh-CN" sz="2400"/>
            </a:p>
          </p:txBody>
        </p:sp>
      </p:grpSp>
      <p:sp>
        <p:nvSpPr>
          <p:cNvPr id="14" name="Rectangle 3">
            <a:extLst>
              <a:ext uri="{FF2B5EF4-FFF2-40B4-BE49-F238E27FC236}">
                <a16:creationId xmlns:a16="http://schemas.microsoft.com/office/drawing/2014/main" id="{28416B51-24BD-4533-A7C8-F7B4150192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863" y="2204864"/>
            <a:ext cx="5616623" cy="4536504"/>
          </a:xfrm>
          <a:prstGeom prst="rect">
            <a:avLst/>
          </a:prstGeom>
          <a:solidFill>
            <a:schemeClr val="bg1"/>
          </a:solidFill>
          <a:ln w="28575">
            <a:solidFill>
              <a:srgbClr val="9999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80000"/>
              </a:lnSpc>
              <a:buFontTx/>
              <a:buNone/>
            </a:pPr>
            <a:r>
              <a:rPr lang="en-US" altLang="zh-CN" sz="240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treenode</a:t>
            </a:r>
            <a:r>
              <a:rPr lang="en-US" altLang="zh-CN" sz="2400" kern="0" dirty="0">
                <a:latin typeface="Calibri" panose="020F0502020204030204" pitchFamily="34" charset="0"/>
                <a:cs typeface="Calibri" panose="020F0502020204030204" pitchFamily="34" charset="0"/>
              </a:rPr>
              <a:t> * </a:t>
            </a:r>
            <a:r>
              <a:rPr lang="en-US" altLang="zh-CN" sz="2400" kern="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exp</a:t>
            </a:r>
            <a:r>
              <a:rPr lang="en-US" altLang="zh-CN" sz="2400" kern="0" dirty="0">
                <a:latin typeface="Calibri" panose="020F0502020204030204" pitchFamily="34" charset="0"/>
                <a:cs typeface="Calibri" panose="020F0502020204030204" pitchFamily="34" charset="0"/>
              </a:rPr>
              <a:t>()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2400" kern="0" dirty="0">
                <a:latin typeface="Calibri" panose="020F0502020204030204" pitchFamily="34" charset="0"/>
                <a:cs typeface="Calibri" panose="020F0502020204030204" pitchFamily="34" charset="0"/>
              </a:rPr>
              <a:t>{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2400" kern="0" dirty="0">
                <a:latin typeface="Calibri" panose="020F0502020204030204" pitchFamily="34" charset="0"/>
                <a:cs typeface="Calibri" panose="020F0502020204030204" pitchFamily="34" charset="0"/>
              </a:rPr>
              <a:t>    	</a:t>
            </a:r>
            <a:r>
              <a:rPr lang="en-US" altLang="zh-CN" sz="240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treenode</a:t>
            </a:r>
            <a:r>
              <a:rPr lang="en-US" altLang="zh-CN" sz="2400" kern="0" dirty="0">
                <a:latin typeface="Calibri" panose="020F0502020204030204" pitchFamily="34" charset="0"/>
                <a:cs typeface="Calibri" panose="020F0502020204030204" pitchFamily="34" charset="0"/>
              </a:rPr>
              <a:t> * </a:t>
            </a:r>
            <a:r>
              <a:rPr lang="en-US" altLang="zh-CN" sz="2400" kern="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temp, </a:t>
            </a:r>
            <a:r>
              <a:rPr lang="en-US" altLang="zh-CN" sz="2400" kern="0" dirty="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newtemp</a:t>
            </a:r>
            <a:r>
              <a:rPr lang="en-US" altLang="zh-CN" sz="2400" kern="0" dirty="0">
                <a:latin typeface="Calibri" panose="020F0502020204030204" pitchFamily="34" charset="0"/>
                <a:cs typeface="Calibri" panose="020F0502020204030204" pitchFamily="34" charset="0"/>
              </a:rPr>
              <a:t>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2400" kern="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temp = term()</a:t>
            </a:r>
            <a:r>
              <a:rPr lang="en-US" altLang="zh-CN" sz="2400" kern="0" dirty="0">
                <a:latin typeface="Calibri" panose="020F0502020204030204" pitchFamily="34" charset="0"/>
                <a:cs typeface="Calibri" panose="020F0502020204030204" pitchFamily="34" charset="0"/>
              </a:rPr>
              <a:t>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2400" kern="0" dirty="0">
                <a:latin typeface="Calibri" panose="020F0502020204030204" pitchFamily="34" charset="0"/>
                <a:cs typeface="Calibri" panose="020F0502020204030204" pitchFamily="34" charset="0"/>
              </a:rPr>
              <a:t>     while (token == + or token == - )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2400" kern="0" dirty="0">
                <a:latin typeface="Calibri" panose="020F0502020204030204" pitchFamily="34" charset="0"/>
                <a:cs typeface="Calibri" panose="020F0502020204030204" pitchFamily="34" charset="0"/>
              </a:rPr>
              <a:t>     {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2400" kern="0" dirty="0">
                <a:latin typeface="Calibri" panose="020F0502020204030204" pitchFamily="34" charset="0"/>
                <a:cs typeface="Calibri" panose="020F0502020204030204" pitchFamily="34" charset="0"/>
              </a:rPr>
              <a:t>	       case token of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2400" kern="0" dirty="0">
                <a:latin typeface="Calibri" panose="020F0502020204030204" pitchFamily="34" charset="0"/>
                <a:cs typeface="Calibri" panose="020F0502020204030204" pitchFamily="34" charset="0"/>
              </a:rPr>
              <a:t>		  </a:t>
            </a:r>
            <a:r>
              <a:rPr lang="en-US" altLang="zh-CN" sz="2400" kern="0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+</a:t>
            </a:r>
            <a:r>
              <a:rPr lang="en-US" altLang="zh-CN" sz="2400" kern="0" dirty="0">
                <a:latin typeface="Calibri" panose="020F0502020204030204" pitchFamily="34" charset="0"/>
                <a:cs typeface="Calibri" panose="020F0502020204030204" pitchFamily="34" charset="0"/>
              </a:rPr>
              <a:t> : match(+);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2400" kern="0" dirty="0">
                <a:latin typeface="Calibri" panose="020F0502020204030204" pitchFamily="34" charset="0"/>
                <a:cs typeface="Calibri" panose="020F0502020204030204" pitchFamily="34" charset="0"/>
              </a:rPr>
              <a:t>   		        </a:t>
            </a:r>
            <a:r>
              <a:rPr lang="en-US" altLang="zh-CN" sz="240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newtemp</a:t>
            </a:r>
            <a:r>
              <a:rPr lang="en-US" altLang="zh-CN" sz="2400" kern="0" dirty="0">
                <a:latin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altLang="zh-CN" sz="2400" kern="0" dirty="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makeOpNode</a:t>
            </a:r>
            <a:r>
              <a:rPr lang="en-US" altLang="zh-CN" sz="2400" kern="0" dirty="0">
                <a:latin typeface="Calibri" panose="020F0502020204030204" pitchFamily="34" charset="0"/>
                <a:cs typeface="Calibri" panose="020F0502020204030204" pitchFamily="34" charset="0"/>
              </a:rPr>
              <a:t>(+);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2400" kern="0" dirty="0">
                <a:latin typeface="Calibri" panose="020F0502020204030204" pitchFamily="34" charset="0"/>
                <a:cs typeface="Calibri" panose="020F0502020204030204" pitchFamily="34" charset="0"/>
              </a:rPr>
              <a:t>   		       </a:t>
            </a:r>
            <a:r>
              <a:rPr lang="en-US" altLang="zh-CN" sz="240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newtemp.</a:t>
            </a:r>
            <a:r>
              <a:rPr lang="en-US" altLang="zh-CN" sz="2400" kern="0" dirty="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leftChild</a:t>
            </a:r>
            <a:r>
              <a:rPr lang="en-US" altLang="zh-CN" sz="2400" kern="0" dirty="0">
                <a:latin typeface="Calibri" panose="020F0502020204030204" pitchFamily="34" charset="0"/>
                <a:cs typeface="Calibri" panose="020F0502020204030204" pitchFamily="34" charset="0"/>
              </a:rPr>
              <a:t> = temp;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2400" kern="0" dirty="0">
                <a:latin typeface="Calibri" panose="020F0502020204030204" pitchFamily="34" charset="0"/>
                <a:cs typeface="Calibri" panose="020F0502020204030204" pitchFamily="34" charset="0"/>
              </a:rPr>
              <a:t>   		       </a:t>
            </a:r>
            <a:r>
              <a:rPr lang="en-US" altLang="zh-CN" sz="240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newtemp.</a:t>
            </a:r>
            <a:r>
              <a:rPr lang="en-US" altLang="zh-CN" sz="2400" kern="0" dirty="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rightChild</a:t>
            </a:r>
            <a:r>
              <a:rPr lang="en-US" altLang="zh-CN" sz="2400" kern="0" dirty="0">
                <a:latin typeface="Calibri" panose="020F0502020204030204" pitchFamily="34" charset="0"/>
                <a:cs typeface="Calibri" panose="020F0502020204030204" pitchFamily="34" charset="0"/>
              </a:rPr>
              <a:t> = term();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2400" kern="0" dirty="0">
                <a:latin typeface="Calibri" panose="020F0502020204030204" pitchFamily="34" charset="0"/>
                <a:cs typeface="Calibri" panose="020F0502020204030204" pitchFamily="34" charset="0"/>
              </a:rPr>
              <a:t>   		       temp = </a:t>
            </a:r>
            <a:r>
              <a:rPr lang="en-US" altLang="zh-CN" sz="240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newtemp</a:t>
            </a:r>
            <a:r>
              <a:rPr lang="en-US" altLang="zh-CN" sz="2400" kern="0" dirty="0">
                <a:latin typeface="Calibri" panose="020F0502020204030204" pitchFamily="34" charset="0"/>
                <a:cs typeface="Calibri" panose="020F0502020204030204" pitchFamily="34" charset="0"/>
              </a:rPr>
              <a:t>;</a:t>
            </a:r>
            <a:endParaRPr lang="zh-CN" altLang="en-US" sz="2400" kern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0968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构建语法树</a:t>
            </a: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28416B51-24BD-4533-A7C8-F7B4150192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392" y="1700808"/>
            <a:ext cx="5256584" cy="4577754"/>
          </a:xfrm>
          <a:prstGeom prst="rect">
            <a:avLst/>
          </a:prstGeom>
          <a:solidFill>
            <a:schemeClr val="bg1"/>
          </a:solidFill>
          <a:ln w="28575">
            <a:solidFill>
              <a:srgbClr val="9999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buFontTx/>
              <a:buNone/>
            </a:pPr>
            <a:r>
              <a:rPr lang="en-US" altLang="zh-CN" sz="240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treenode</a:t>
            </a:r>
            <a:r>
              <a:rPr lang="en-US" altLang="zh-CN" sz="2400" kern="0" dirty="0">
                <a:latin typeface="Calibri" panose="020F0502020204030204" pitchFamily="34" charset="0"/>
                <a:cs typeface="Calibri" panose="020F0502020204030204" pitchFamily="34" charset="0"/>
              </a:rPr>
              <a:t> *  </a:t>
            </a:r>
            <a:r>
              <a:rPr lang="en-US" altLang="zh-CN" sz="2400" dirty="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ifstatement</a:t>
            </a:r>
            <a:r>
              <a:rPr lang="en-US" altLang="zh-CN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()</a:t>
            </a:r>
            <a:endParaRPr lang="en-US" altLang="zh-CN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Tx/>
              <a:buNone/>
            </a:pPr>
            <a:r>
              <a:rPr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{</a:t>
            </a:r>
          </a:p>
          <a:p>
            <a:pPr>
              <a:buFontTx/>
              <a:buNone/>
            </a:pPr>
            <a:r>
              <a:rPr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 	</a:t>
            </a:r>
            <a:r>
              <a:rPr lang="en-US" altLang="zh-CN" sz="240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treenode</a:t>
            </a:r>
            <a:r>
              <a:rPr lang="en-US" altLang="zh-CN" sz="2400" kern="0" dirty="0">
                <a:latin typeface="Calibri" panose="020F0502020204030204" pitchFamily="34" charset="0"/>
                <a:cs typeface="Calibri" panose="020F0502020204030204" pitchFamily="34" charset="0"/>
              </a:rPr>
              <a:t> *</a:t>
            </a:r>
            <a:r>
              <a:rPr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 temp;</a:t>
            </a:r>
          </a:p>
          <a:p>
            <a:pPr>
              <a:buFontTx/>
              <a:buNone/>
            </a:pPr>
            <a:r>
              <a:rPr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     </a:t>
            </a:r>
            <a:r>
              <a:rPr lang="en-US" altLang="zh-CN" sz="2400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match</a:t>
            </a:r>
            <a:r>
              <a:rPr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(if);</a:t>
            </a:r>
          </a:p>
          <a:p>
            <a:pPr>
              <a:buFontTx/>
              <a:buNone/>
            </a:pPr>
            <a:r>
              <a:rPr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     </a:t>
            </a:r>
            <a:r>
              <a:rPr lang="en-US" altLang="zh-CN" sz="2400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match</a:t>
            </a:r>
            <a:r>
              <a:rPr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(();</a:t>
            </a:r>
          </a:p>
          <a:p>
            <a:pPr>
              <a:buFontTx/>
              <a:buNone/>
            </a:pPr>
            <a:r>
              <a:rPr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     temp = </a:t>
            </a:r>
            <a:r>
              <a:rPr lang="en-US" altLang="zh-CN" sz="2400" dirty="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makeStmtNode</a:t>
            </a:r>
            <a:r>
              <a:rPr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(if);</a:t>
            </a:r>
          </a:p>
          <a:p>
            <a:pPr>
              <a:buFontTx/>
              <a:buNone/>
            </a:pPr>
            <a:r>
              <a:rPr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     </a:t>
            </a:r>
            <a:r>
              <a:rPr lang="en-US" altLang="zh-CN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temp.</a:t>
            </a:r>
            <a:r>
              <a:rPr lang="en-US" altLang="zh-CN" sz="2400" dirty="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testChild</a:t>
            </a:r>
            <a:r>
              <a:rPr lang="en-US" altLang="zh-CN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= exp();</a:t>
            </a:r>
          </a:p>
          <a:p>
            <a:pPr>
              <a:buFontTx/>
              <a:buNone/>
            </a:pPr>
            <a:r>
              <a:rPr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     </a:t>
            </a:r>
            <a:r>
              <a:rPr lang="en-US" altLang="zh-CN" sz="2400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match</a:t>
            </a:r>
            <a:r>
              <a:rPr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());</a:t>
            </a:r>
          </a:p>
          <a:p>
            <a:pPr>
              <a:buFontTx/>
              <a:buNone/>
            </a:pPr>
            <a:r>
              <a:rPr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     </a:t>
            </a:r>
            <a:r>
              <a:rPr lang="en-US" altLang="zh-CN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temp.</a:t>
            </a:r>
            <a:r>
              <a:rPr lang="en-US" altLang="zh-CN" sz="2400" dirty="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thenChild</a:t>
            </a:r>
            <a:r>
              <a:rPr lang="en-US" altLang="zh-CN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= statement();</a:t>
            </a:r>
          </a:p>
          <a:p>
            <a:pPr>
              <a:buFontTx/>
              <a:buNone/>
            </a:pPr>
            <a:endParaRPr lang="zh-CN" alt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38657131-4E0F-4863-A222-001553AD40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1700808"/>
            <a:ext cx="5688632" cy="4577754"/>
          </a:xfrm>
          <a:prstGeom prst="rect">
            <a:avLst/>
          </a:prstGeom>
          <a:solidFill>
            <a:schemeClr val="bg1"/>
          </a:solidFill>
          <a:ln w="28575">
            <a:solidFill>
              <a:srgbClr val="9999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buFontTx/>
              <a:buNone/>
            </a:pPr>
            <a:r>
              <a:rPr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    if (token == else)</a:t>
            </a:r>
          </a:p>
          <a:p>
            <a:pPr>
              <a:buFontTx/>
              <a:buNone/>
            </a:pPr>
            <a:r>
              <a:rPr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    {</a:t>
            </a:r>
          </a:p>
          <a:p>
            <a:pPr>
              <a:buFontTx/>
              <a:buNone/>
            </a:pPr>
            <a:r>
              <a:rPr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         </a:t>
            </a:r>
            <a:r>
              <a:rPr lang="en-US" altLang="zh-CN" sz="2400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match</a:t>
            </a:r>
            <a:r>
              <a:rPr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(else);          </a:t>
            </a:r>
          </a:p>
          <a:p>
            <a:pPr>
              <a:buFontTx/>
              <a:buNone/>
            </a:pPr>
            <a:r>
              <a:rPr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	    </a:t>
            </a:r>
            <a:r>
              <a:rPr lang="en-US" altLang="zh-CN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temp.</a:t>
            </a:r>
            <a:r>
              <a:rPr lang="en-US" altLang="zh-CN" sz="2400" dirty="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elseChild</a:t>
            </a:r>
            <a:r>
              <a:rPr lang="en-US" altLang="zh-CN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= statement();</a:t>
            </a:r>
          </a:p>
          <a:p>
            <a:pPr>
              <a:buFontTx/>
              <a:buNone/>
            </a:pPr>
            <a:r>
              <a:rPr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    }</a:t>
            </a:r>
          </a:p>
          <a:p>
            <a:pPr>
              <a:buFontTx/>
              <a:buNone/>
            </a:pPr>
            <a:r>
              <a:rPr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    else </a:t>
            </a:r>
            <a:r>
              <a:rPr lang="en-US" altLang="zh-CN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temp.</a:t>
            </a:r>
            <a:r>
              <a:rPr lang="en-US" altLang="zh-CN" sz="2400" dirty="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elseChild</a:t>
            </a:r>
            <a:r>
              <a:rPr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 = null;</a:t>
            </a:r>
          </a:p>
          <a:p>
            <a:pPr>
              <a:buFontTx/>
              <a:buNone/>
            </a:pPr>
            <a:r>
              <a:rPr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     return temp;</a:t>
            </a:r>
          </a:p>
          <a:p>
            <a:pPr>
              <a:buFontTx/>
              <a:buNone/>
            </a:pPr>
            <a:r>
              <a:rPr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}</a:t>
            </a:r>
          </a:p>
          <a:p>
            <a:pPr>
              <a:buFontTx/>
              <a:buNone/>
            </a:pPr>
            <a:r>
              <a:rPr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zh-CN" altLang="en-US" sz="2400" kern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8288" y="4653136"/>
            <a:ext cx="2809875" cy="139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975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D2C364-6818-43C5-A0A9-3A9B4DD54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EBNF</a:t>
            </a:r>
            <a:r>
              <a:rPr lang="zh-CN" altLang="en-US" dirty="0"/>
              <a:t>和递归下降的局限性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64EE6E1-54CB-47F3-919F-1028A03133CF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几个问题：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zh-CN" altLang="en-US" dirty="0"/>
              <a:t>如果有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→α</a:t>
            </a:r>
            <a:r>
              <a:rPr lang="zh-CN" altLang="en-US" dirty="0"/>
              <a:t>和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→β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，其中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zh-CN" altLang="en-US" dirty="0"/>
              <a:t>和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都是非终结符，现在的方法能处理吗？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/>
              <a:t>如果有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→</a:t>
            </a:r>
            <a:r>
              <a:rPr lang="en-US" altLang="zh-CN" dirty="0">
                <a:solidFill>
                  <a:srgbClr val="FF3300"/>
                </a:solidFill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ε</a:t>
            </a:r>
            <a:r>
              <a:rPr lang="en-US" altLang="zh-CN" dirty="0">
                <a:solidFill>
                  <a:srgbClr val="FF3300"/>
                </a:solidFill>
              </a:rPr>
              <a:t>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，现在的方法能处理吗？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5292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580DF0DF-1480-96F0-6BC7-625B7B2B7DED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19200" y="1186180"/>
            <a:ext cx="9753600" cy="159194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400" b="1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以下关于递归下降分析法的说法，错误的是（ ）。</a:t>
            </a:r>
            <a:endParaRPr lang="zh-CN" altLang="en-US" sz="2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5E5DB4B-C0B8-F25A-B499-B67DF9F5ABA3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38400" y="2636912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400" b="1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递归下降分析法是一种预测分析方法。</a:t>
            </a:r>
            <a:endParaRPr lang="zh-CN" altLang="en-US" sz="2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D9494AE-F116-51ED-0049-81301B36FDEC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438400" y="3494162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400" b="1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递归下降分析法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的分析过程对应最右推导。</a:t>
            </a:r>
            <a:endParaRPr lang="zh-CN" altLang="en-US" sz="2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C1DF309-5824-E7D4-5E56-7EDAFB1C6A53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438400" y="4351412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400" b="1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递归下降分析法需要消除左递归。</a:t>
            </a:r>
            <a:endParaRPr lang="zh-CN" altLang="en-US" sz="2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E14E887-3676-CDF2-E9DB-776CB79B2DEB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2438400" y="5208662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400" b="1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递归下降分析法适合手工实现。</a:t>
            </a:r>
            <a:endParaRPr lang="zh-CN" altLang="en-US" sz="2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69176882-AE59-EE18-2213-7A876EF791C3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571625" y="2701205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prstShdw prst="shdw12">
              <a:schemeClr val="bg2">
                <a:alpha val="50000"/>
              </a:schemeClr>
            </a:prstShdw>
          </a:effectLst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kumimoji="0" lang="zh-CN" altLang="en-US" sz="16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E31C660B-3814-C089-1D47-7D7ED7AAB77D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571625" y="3558455"/>
            <a:ext cx="514350" cy="514350"/>
          </a:xfrm>
          <a:prstGeom prst="ellipse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prstShdw prst="shdw12">
              <a:schemeClr val="bg2">
                <a:alpha val="50000"/>
              </a:schemeClr>
            </a:prstShdw>
          </a:effectLst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kumimoji="0" lang="zh-CN" altLang="en-US" sz="16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67C7B15E-3F38-642B-4E35-FA79897FFF3A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571625" y="4415705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prstShdw prst="shdw12">
              <a:schemeClr val="bg2">
                <a:alpha val="50000"/>
              </a:schemeClr>
            </a:prstShdw>
          </a:effectLst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kumimoji="0" lang="zh-CN" altLang="en-US" sz="16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5623CCCE-2198-ACA3-A8F9-14EBF065EC17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1571625" y="5272955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prstShdw prst="shdw12">
              <a:schemeClr val="bg2">
                <a:alpha val="50000"/>
              </a:schemeClr>
            </a:prstShdw>
          </a:effectLst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kumimoji="0" lang="zh-CN" altLang="en-US" sz="16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A3895C78-8442-D87B-4882-D1021140DB7C}"/>
              </a:ext>
            </a:extLst>
          </p:cNvPr>
          <p:cNvSpPr/>
          <p:nvPr>
            <p:custDataLst>
              <p:tags r:id="rId11"/>
            </p:custDataLst>
          </p:nvPr>
        </p:nvSpPr>
        <p:spPr bwMode="auto"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prstShdw prst="shdw12">
              <a:schemeClr val="bg2">
                <a:alpha val="50000"/>
              </a:schemeClr>
            </a:prstShdw>
          </a:effectLst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4E63504D-04BF-EBF3-C813-8B27B0843F3B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6" name="TitleBackground">
              <a:extLst>
                <a:ext uri="{FF2B5EF4-FFF2-40B4-BE49-F238E27FC236}">
                  <a16:creationId xmlns:a16="http://schemas.microsoft.com/office/drawing/2014/main" id="{8BBA22D7-B619-8608-8599-AF5F6B8C7A75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 bwMode="auto"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prstShdw prst="shdw12">
                <a:schemeClr val="bg2">
                  <a:alpha val="50000"/>
                </a:schemeClr>
              </a:prstShdw>
            </a:effectLst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黑体" pitchFamily="2" charset="-122"/>
              </a:endParaRPr>
            </a:p>
          </p:txBody>
        </p:sp>
        <p:sp>
          <p:nvSpPr>
            <p:cNvPr id="17" name="ColorBlock">
              <a:extLst>
                <a:ext uri="{FF2B5EF4-FFF2-40B4-BE49-F238E27FC236}">
                  <a16:creationId xmlns:a16="http://schemas.microsoft.com/office/drawing/2014/main" id="{357CAA79-4653-3EAE-8835-01E4F151FD4E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prstShdw prst="shdw12">
                <a:schemeClr val="bg2">
                  <a:alpha val="50000"/>
                </a:schemeClr>
              </a:prstShdw>
            </a:effectLst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黑体" pitchFamily="2" charset="-122"/>
              </a:endParaRPr>
            </a:p>
          </p:txBody>
        </p:sp>
        <p:sp>
          <p:nvSpPr>
            <p:cNvPr id="18" name="TypeText">
              <a:extLst>
                <a:ext uri="{FF2B5EF4-FFF2-40B4-BE49-F238E27FC236}">
                  <a16:creationId xmlns:a16="http://schemas.microsoft.com/office/drawing/2014/main" id="{1BD2425F-D57A-9A3F-D51E-7887E0C34C06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9" name="TipText">
              <a:extLst>
                <a:ext uri="{FF2B5EF4-FFF2-40B4-BE49-F238E27FC236}">
                  <a16:creationId xmlns:a16="http://schemas.microsoft.com/office/drawing/2014/main" id="{C0A9FE66-3007-EBD2-C6C2-324E045FB463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26FA04BF-55D9-0D2B-8EE8-FF4EAFAD552D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848483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主题4">
  <a:themeElements>
    <a:clrScheme name="">
      <a:dk1>
        <a:srgbClr val="000000"/>
      </a:dk1>
      <a:lt1>
        <a:srgbClr val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FFFFFF"/>
      </a:accent3>
      <a:accent4>
        <a:srgbClr val="000000"/>
      </a:accent4>
      <a:accent5>
        <a:srgbClr val="D8AFB9"/>
      </a:accent5>
      <a:accent6>
        <a:srgbClr val="9B5CA9"/>
      </a:accent6>
      <a:hlink>
        <a:srgbClr val="FFDE66"/>
      </a:hlink>
      <a:folHlink>
        <a:srgbClr val="D490C5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prstShdw prst="shdw12">
            <a:schemeClr val="bg2">
              <a:alpha val="50000"/>
            </a:schemeClr>
          </a:prstShdw>
        </a:effec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黑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prstShdw prst="shdw12">
            <a:schemeClr val="bg2">
              <a:alpha val="50000"/>
            </a:schemeClr>
          </a:prstShdw>
        </a:effec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黑体" pitchFamily="2" charset="-122"/>
          </a:defRPr>
        </a:defPPr>
      </a:lstStyle>
    </a:lnDef>
  </a:objectDefaults>
  <a:extraClrSchemeLst>
    <a:extraClrScheme>
      <a:clrScheme name="1_3 1">
        <a:dk1>
          <a:srgbClr val="1D528D"/>
        </a:dk1>
        <a:lt1>
          <a:srgbClr val="FFFFFF"/>
        </a:lt1>
        <a:dk2>
          <a:srgbClr val="000000"/>
        </a:dk2>
        <a:lt2>
          <a:srgbClr val="C0C0C0"/>
        </a:lt2>
        <a:accent1>
          <a:srgbClr val="4EA693"/>
        </a:accent1>
        <a:accent2>
          <a:srgbClr val="ABA755"/>
        </a:accent2>
        <a:accent3>
          <a:srgbClr val="FFFFFF"/>
        </a:accent3>
        <a:accent4>
          <a:srgbClr val="174578"/>
        </a:accent4>
        <a:accent5>
          <a:srgbClr val="B2D0C8"/>
        </a:accent5>
        <a:accent6>
          <a:srgbClr val="9B974C"/>
        </a:accent6>
        <a:hlink>
          <a:srgbClr val="3981B7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3 2">
        <a:dk1>
          <a:srgbClr val="124B98"/>
        </a:dk1>
        <a:lt1>
          <a:srgbClr val="FFFFFF"/>
        </a:lt1>
        <a:dk2>
          <a:srgbClr val="000000"/>
        </a:dk2>
        <a:lt2>
          <a:srgbClr val="DDDDDD"/>
        </a:lt2>
        <a:accent1>
          <a:srgbClr val="4976D1"/>
        </a:accent1>
        <a:accent2>
          <a:srgbClr val="4CB494"/>
        </a:accent2>
        <a:accent3>
          <a:srgbClr val="FFFFFF"/>
        </a:accent3>
        <a:accent4>
          <a:srgbClr val="0E3F81"/>
        </a:accent4>
        <a:accent5>
          <a:srgbClr val="B1BDE5"/>
        </a:accent5>
        <a:accent6>
          <a:srgbClr val="44A386"/>
        </a:accent6>
        <a:hlink>
          <a:srgbClr val="0099CC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3 3">
        <a:dk1>
          <a:srgbClr val="1D528D"/>
        </a:dk1>
        <a:lt1>
          <a:srgbClr val="FFFFFF"/>
        </a:lt1>
        <a:dk2>
          <a:srgbClr val="000000"/>
        </a:dk2>
        <a:lt2>
          <a:srgbClr val="DDDDDD"/>
        </a:lt2>
        <a:accent1>
          <a:srgbClr val="25B1B1"/>
        </a:accent1>
        <a:accent2>
          <a:srgbClr val="5BACE9"/>
        </a:accent2>
        <a:accent3>
          <a:srgbClr val="FFFFFF"/>
        </a:accent3>
        <a:accent4>
          <a:srgbClr val="174578"/>
        </a:accent4>
        <a:accent5>
          <a:srgbClr val="ACD5D5"/>
        </a:accent5>
        <a:accent6>
          <a:srgbClr val="529BD3"/>
        </a:accent6>
        <a:hlink>
          <a:srgbClr val="6E71F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主题4</Template>
  <TotalTime>7799</TotalTime>
  <Words>1331</Words>
  <Application>Microsoft Office PowerPoint</Application>
  <PresentationFormat>宽屏</PresentationFormat>
  <Paragraphs>223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9" baseType="lpstr">
      <vt:lpstr>等线</vt:lpstr>
      <vt:lpstr>黑体</vt:lpstr>
      <vt:lpstr>Microsoft Yahei</vt:lpstr>
      <vt:lpstr>Microsoft Yahei</vt:lpstr>
      <vt:lpstr>Arial</vt:lpstr>
      <vt:lpstr>Calibri</vt:lpstr>
      <vt:lpstr>Symbol</vt:lpstr>
      <vt:lpstr>Times New Roman</vt:lpstr>
      <vt:lpstr>Verdana</vt:lpstr>
      <vt:lpstr>Wingdings</vt:lpstr>
      <vt:lpstr>主题4</vt:lpstr>
      <vt:lpstr>第四章 自顶向下的分析</vt:lpstr>
      <vt:lpstr>自顶向下的分析</vt:lpstr>
      <vt:lpstr>自顶向下的分析</vt:lpstr>
      <vt:lpstr>自顶向下的分析</vt:lpstr>
      <vt:lpstr>递归下降分析</vt:lpstr>
      <vt:lpstr>示例</vt:lpstr>
      <vt:lpstr>示例</vt:lpstr>
      <vt:lpstr>示例</vt:lpstr>
      <vt:lpstr>示例</vt:lpstr>
      <vt:lpstr>PowerPoint 演示文稿</vt:lpstr>
      <vt:lpstr>练习</vt:lpstr>
      <vt:lpstr>示例</vt:lpstr>
      <vt:lpstr>示例</vt:lpstr>
      <vt:lpstr>示例</vt:lpstr>
      <vt:lpstr>构建语法树</vt:lpstr>
      <vt:lpstr>构建语法树</vt:lpstr>
      <vt:lpstr>EBNF和递归下降的局限性</vt:lpstr>
      <vt:lpstr>PowerPoint 演示文稿</vt:lpstr>
    </vt:vector>
  </TitlesOfParts>
  <Company>csit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没有幻灯片标题</dc:title>
  <dc:creator>wt</dc:creator>
  <cp:lastModifiedBy>薇 潘</cp:lastModifiedBy>
  <cp:revision>413</cp:revision>
  <dcterms:created xsi:type="dcterms:W3CDTF">1999-05-10T08:46:26Z</dcterms:created>
  <dcterms:modified xsi:type="dcterms:W3CDTF">2025-04-10T04:30:58Z</dcterms:modified>
</cp:coreProperties>
</file>