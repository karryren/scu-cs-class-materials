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63"/>
  </p:notesMasterIdLst>
  <p:handoutMasterIdLst>
    <p:handoutMasterId r:id="rId64"/>
  </p:handoutMasterIdLst>
  <p:sldIdLst>
    <p:sldId id="393" r:id="rId2"/>
    <p:sldId id="437" r:id="rId3"/>
    <p:sldId id="409" r:id="rId4"/>
    <p:sldId id="257" r:id="rId5"/>
    <p:sldId id="394" r:id="rId6"/>
    <p:sldId id="414" r:id="rId7"/>
    <p:sldId id="411" r:id="rId8"/>
    <p:sldId id="415" r:id="rId9"/>
    <p:sldId id="412" r:id="rId10"/>
    <p:sldId id="417" r:id="rId11"/>
    <p:sldId id="420" r:id="rId12"/>
    <p:sldId id="418" r:id="rId13"/>
    <p:sldId id="419" r:id="rId14"/>
    <p:sldId id="442" r:id="rId15"/>
    <p:sldId id="459" r:id="rId16"/>
    <p:sldId id="458" r:id="rId17"/>
    <p:sldId id="457" r:id="rId18"/>
    <p:sldId id="456" r:id="rId19"/>
    <p:sldId id="460" r:id="rId20"/>
    <p:sldId id="455" r:id="rId21"/>
    <p:sldId id="462" r:id="rId22"/>
    <p:sldId id="461" r:id="rId23"/>
    <p:sldId id="464" r:id="rId24"/>
    <p:sldId id="465" r:id="rId25"/>
    <p:sldId id="466" r:id="rId26"/>
    <p:sldId id="467" r:id="rId27"/>
    <p:sldId id="468" r:id="rId28"/>
    <p:sldId id="469" r:id="rId29"/>
    <p:sldId id="463" r:id="rId30"/>
    <p:sldId id="471" r:id="rId31"/>
    <p:sldId id="421" r:id="rId32"/>
    <p:sldId id="422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8" r:id="rId41"/>
    <p:sldId id="443" r:id="rId42"/>
    <p:sldId id="472" r:id="rId43"/>
    <p:sldId id="470" r:id="rId44"/>
    <p:sldId id="431" r:id="rId45"/>
    <p:sldId id="432" r:id="rId46"/>
    <p:sldId id="433" r:id="rId47"/>
    <p:sldId id="434" r:id="rId48"/>
    <p:sldId id="435" r:id="rId49"/>
    <p:sldId id="441" r:id="rId50"/>
    <p:sldId id="444" r:id="rId51"/>
    <p:sldId id="445" r:id="rId52"/>
    <p:sldId id="439" r:id="rId53"/>
    <p:sldId id="446" r:id="rId54"/>
    <p:sldId id="447" r:id="rId55"/>
    <p:sldId id="448" r:id="rId56"/>
    <p:sldId id="449" r:id="rId57"/>
    <p:sldId id="440" r:id="rId58"/>
    <p:sldId id="450" r:id="rId59"/>
    <p:sldId id="454" r:id="rId60"/>
    <p:sldId id="452" r:id="rId61"/>
    <p:sldId id="453" r:id="rId6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FF66"/>
    <a:srgbClr val="FFFFCC"/>
    <a:srgbClr val="FFFF99"/>
    <a:srgbClr val="9999FF"/>
    <a:srgbClr val="FFCC99"/>
    <a:srgbClr val="CCCCFF"/>
    <a:srgbClr val="3366CC"/>
    <a:srgbClr val="339933"/>
    <a:srgbClr val="321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1058" autoAdjust="0"/>
  </p:normalViewPr>
  <p:slideViewPr>
    <p:cSldViewPr>
      <p:cViewPr varScale="1">
        <p:scale>
          <a:sx n="66" d="100"/>
          <a:sy n="66" d="100"/>
        </p:scale>
        <p:origin x="66" y="468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85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5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>
              <a:spLocks/>
            </p:cNvSpPr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>
              <a:spLocks/>
            </p:cNvSpPr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>
            <a:spLocks/>
          </p:cNvSpPr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>
            <a:spLocks/>
          </p:cNvSpPr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2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image" Target="../media/image4.tmp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8.png"/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5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image" Target="../media/image94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第四章 自顶向下的分析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23298-5E98-4AA5-8356-4E661E63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610E63-64D8-43FB-A1C1-21061B50D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考虑为下面的文法建立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分析表</a:t>
                </a:r>
                <a:r>
                  <a:rPr lang="en-US" altLang="zh-CN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610E63-64D8-43FB-A1C1-21061B50D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89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First</a:t>
            </a:r>
            <a:r>
              <a:rPr lang="zh-CN" altLang="en-US" dirty="0"/>
              <a:t>集和</a:t>
            </a:r>
            <a:r>
              <a:rPr lang="en-US" altLang="zh-CN" dirty="0"/>
              <a:t>Follow</a:t>
            </a:r>
            <a:r>
              <a:rPr lang="zh-CN" altLang="en-US" dirty="0"/>
              <a:t>集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当文法比较复杂时，使用前面的规则构造分析表比较麻烦。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因此需要引入</a:t>
            </a:r>
            <a:r>
              <a:rPr lang="en-US" altLang="zh-CN" dirty="0">
                <a:solidFill>
                  <a:srgbClr val="FF0000"/>
                </a:solidFill>
              </a:rPr>
              <a:t>First</a:t>
            </a:r>
            <a:r>
              <a:rPr lang="zh-CN" altLang="en-US" dirty="0">
                <a:solidFill>
                  <a:srgbClr val="FF0000"/>
                </a:solidFill>
              </a:rPr>
              <a:t>集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Follow</a:t>
            </a:r>
            <a:r>
              <a:rPr lang="zh-CN" altLang="en-US" dirty="0">
                <a:solidFill>
                  <a:srgbClr val="FF0000"/>
                </a:solidFill>
              </a:rPr>
              <a:t>集</a:t>
            </a:r>
            <a:r>
              <a:rPr lang="zh-CN" altLang="en-US" dirty="0"/>
              <a:t>的概念，来辅助构造分析表。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当产生式</a:t>
            </a:r>
            <a:r>
              <a:rPr lang="zh-CN" altLang="en-US" dirty="0">
                <a:solidFill>
                  <a:srgbClr val="FF0000"/>
                </a:solidFill>
              </a:rPr>
              <a:t>右侧以非终结符开始</a:t>
            </a:r>
            <a:r>
              <a:rPr lang="zh-CN" altLang="en-US" dirty="0"/>
              <a:t>时，我们需要计算</a:t>
            </a:r>
            <a:r>
              <a:rPr lang="en-US" altLang="zh-CN" dirty="0">
                <a:solidFill>
                  <a:srgbClr val="FF0000"/>
                </a:solidFill>
              </a:rPr>
              <a:t>First</a:t>
            </a:r>
            <a:r>
              <a:rPr lang="zh-CN" altLang="en-US" dirty="0">
                <a:solidFill>
                  <a:srgbClr val="FF0000"/>
                </a:solidFill>
              </a:rPr>
              <a:t>集</a:t>
            </a:r>
            <a:r>
              <a:rPr lang="zh-CN" altLang="en-US" dirty="0"/>
              <a:t>，就是计算</a:t>
            </a:r>
            <a:r>
              <a:rPr lang="zh-CN" altLang="en-US" dirty="0">
                <a:solidFill>
                  <a:srgbClr val="0000CC"/>
                </a:solidFill>
              </a:rPr>
              <a:t>产生式右侧可能以哪些终结符开始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当某个非终结符</a:t>
            </a:r>
            <a:r>
              <a:rPr lang="zh-CN" altLang="en-US" dirty="0">
                <a:solidFill>
                  <a:srgbClr val="FF0000"/>
                </a:solidFill>
              </a:rPr>
              <a:t>可以推出空</a:t>
            </a:r>
            <a:r>
              <a:rPr lang="zh-CN" altLang="en-US" dirty="0"/>
              <a:t>时，我们需要计算</a:t>
            </a:r>
            <a:r>
              <a:rPr lang="en-US" altLang="zh-CN" dirty="0">
                <a:solidFill>
                  <a:srgbClr val="FF0000"/>
                </a:solidFill>
              </a:rPr>
              <a:t>Follow</a:t>
            </a:r>
            <a:r>
              <a:rPr lang="zh-CN" altLang="en-US" dirty="0">
                <a:solidFill>
                  <a:srgbClr val="FF0000"/>
                </a:solidFill>
              </a:rPr>
              <a:t>集</a:t>
            </a:r>
            <a:r>
              <a:rPr lang="zh-CN" altLang="en-US" dirty="0"/>
              <a:t>，就是计算</a:t>
            </a:r>
            <a:r>
              <a:rPr lang="zh-CN" altLang="en-US" dirty="0">
                <a:solidFill>
                  <a:srgbClr val="0000CC"/>
                </a:solidFill>
              </a:rPr>
              <a:t>在这个非终结符后面出现哪些终结符时可以使用推出空这个产生式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90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First</a:t>
            </a:r>
            <a:r>
              <a:rPr lang="zh-CN" altLang="en-US" dirty="0"/>
              <a:t>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First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集</a:t>
                </a:r>
                <a:r>
                  <a:rPr lang="zh-CN" altLang="en-US" dirty="0"/>
                  <a:t>定义：令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为一个文法符号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一个终结符或者非终结符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或者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，则集合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包含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所有可能推导的第一个终结符或者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。它的定义如下：</a:t>
                </a:r>
                <a:endParaRPr lang="en-US" altLang="zh-CN" dirty="0"/>
              </a:p>
              <a:p>
                <a:pPr lvl="1" eaLnBrk="1" hangingPunct="1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终结符或者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 eaLnBrk="1" hangingPunct="1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非终结符</a:t>
                </a:r>
                <a:r>
                  <a:rPr lang="zh-CN" altLang="en-US" dirty="0"/>
                  <a:t>，则对于每个产生式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都包含了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lvl="1" eaLnBrk="1" hangingPunct="1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zh-CN" altLang="en-US" dirty="0"/>
                  <a:t>若对于某个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/>
                  <a:t>，集合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都包含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也包含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−{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若所有的集合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都包含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也包含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02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 r="-4155" b="-825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First</a:t>
            </a:r>
            <a:r>
              <a:rPr lang="zh-CN" altLang="en-US" dirty="0"/>
              <a:t>集的方法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non-terminal A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First(A):={ }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while there are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to any First(A)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for each production choice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A→X1X2…</a:t>
            </a:r>
            <a:r>
              <a:rPr lang="en-US" altLang="zh-CN" sz="2400" i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k:=1; 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Continue:=true;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while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Continue= true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k&lt;=n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First(</a:t>
            </a:r>
            <a:r>
              <a:rPr lang="en-US" altLang="zh-CN" sz="2400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i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)-{ε} to First(A)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   if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 is not in First(</a:t>
            </a:r>
            <a:r>
              <a:rPr lang="en-US" altLang="zh-CN" sz="2400" i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i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Continue:= false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   k:=k+1;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    if </a:t>
            </a:r>
            <a:r>
              <a:rPr lang="en-US" altLang="zh-CN" sz="24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 = true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ε to First(A)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0909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计算示例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8416B51-24BD-4533-A7C8-F7B415019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925" y="1611823"/>
            <a:ext cx="5186919" cy="223224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 → exp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term∣term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+|-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term → term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factor ∣ factor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→*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factor →(exp) ∣ 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123" y="2348880"/>
            <a:ext cx="4447213" cy="4032448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(1) exp → exp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term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(2) exp → term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+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-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(5) term → term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factor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(6) term → factor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(7)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→*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(8) factor →(exp) 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(9) factor →n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zh-CN" altLang="en-US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箭头: 直角上 2">
            <a:extLst>
              <a:ext uri="{FF2B5EF4-FFF2-40B4-BE49-F238E27FC236}">
                <a16:creationId xmlns:a16="http://schemas.microsoft.com/office/drawing/2014/main" id="{EE534916-A316-4BC5-9AB7-44991EA7D213}"/>
              </a:ext>
            </a:extLst>
          </p:cNvPr>
          <p:cNvSpPr/>
          <p:nvPr/>
        </p:nvSpPr>
        <p:spPr bwMode="auto">
          <a:xfrm rot="5400000">
            <a:off x="4475820" y="3609020"/>
            <a:ext cx="1152128" cy="2088232"/>
          </a:xfrm>
          <a:prstGeom prst="bentUp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97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98007A0-12B4-44A2-8FCE-479DDE1BE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090504"/>
              </p:ext>
            </p:extLst>
          </p:nvPr>
        </p:nvGraphicFramePr>
        <p:xfrm>
          <a:off x="335360" y="1340768"/>
          <a:ext cx="11593287" cy="521690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87140">
                  <a:extLst>
                    <a:ext uri="{9D8B030D-6E8A-4147-A177-3AD203B41FA5}">
                      <a16:colId xmlns:a16="http://schemas.microsoft.com/office/drawing/2014/main" val="23919380"/>
                    </a:ext>
                  </a:extLst>
                </a:gridCol>
                <a:gridCol w="3168832">
                  <a:extLst>
                    <a:ext uri="{9D8B030D-6E8A-4147-A177-3AD203B41FA5}">
                      <a16:colId xmlns:a16="http://schemas.microsoft.com/office/drawing/2014/main" val="134236169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1171527994"/>
                    </a:ext>
                  </a:extLst>
                </a:gridCol>
                <a:gridCol w="2473235">
                  <a:extLst>
                    <a:ext uri="{9D8B030D-6E8A-4147-A177-3AD203B41FA5}">
                      <a16:colId xmlns:a16="http://schemas.microsoft.com/office/drawing/2014/main" val="2847333176"/>
                    </a:ext>
                  </a:extLst>
                </a:gridCol>
              </a:tblGrid>
              <a:tr h="4055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 Rule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1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2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3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51010"/>
                  </a:ext>
                </a:extLst>
              </a:tr>
              <a:tr h="6083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exp </a:t>
                      </a: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66612"/>
                  </a:ext>
                </a:extLst>
              </a:tr>
              <a:tr h="6083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4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ft(exp)&lt;=ft(term)</a:t>
                      </a:r>
                      <a:endParaRPr lang="zh-CN" sz="28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ft(exp)={(, n}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31666"/>
                  </a:ext>
                </a:extLst>
              </a:tr>
              <a:tr h="4658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</a:t>
                      </a: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)={+}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947029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</a:t>
                      </a: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)={+,-}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2904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 </a:t>
                      </a: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factor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80907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factor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ft(term)&lt;=ft(factor)</a:t>
                      </a:r>
                      <a:endParaRPr lang="zh-CN" sz="24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ft(term)={(, n}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0626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</a:t>
                      </a:r>
                      <a:r>
                        <a:rPr lang="en-US" sz="24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mulop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)={*}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5892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ft(factor)={(}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889310"/>
                  </a:ext>
                </a:extLst>
              </a:tr>
              <a:tr h="6083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</a:t>
                      </a:r>
                      <a:r>
                        <a:rPr lang="zh-CN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ft(factor)={(, n}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4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505266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BF85DE-4099-48FB-A69E-232CE19FA2FE}"/>
              </a:ext>
            </a:extLst>
          </p:cNvPr>
          <p:cNvSpPr/>
          <p:nvPr/>
        </p:nvSpPr>
        <p:spPr bwMode="auto">
          <a:xfrm>
            <a:off x="4151784" y="3042085"/>
            <a:ext cx="2880320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72E445-A6B5-475B-B354-9EDA7F006C7E}"/>
              </a:ext>
            </a:extLst>
          </p:cNvPr>
          <p:cNvSpPr/>
          <p:nvPr/>
        </p:nvSpPr>
        <p:spPr bwMode="auto">
          <a:xfrm>
            <a:off x="4369812" y="3525181"/>
            <a:ext cx="2446267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A508DF-E57A-43BB-BE3F-2A826D871BF6}"/>
              </a:ext>
            </a:extLst>
          </p:cNvPr>
          <p:cNvSpPr/>
          <p:nvPr/>
        </p:nvSpPr>
        <p:spPr bwMode="auto">
          <a:xfrm>
            <a:off x="4475820" y="5058385"/>
            <a:ext cx="2232248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E943C4-A4AA-4299-B886-2943666EA3D4}"/>
              </a:ext>
            </a:extLst>
          </p:cNvPr>
          <p:cNvSpPr/>
          <p:nvPr/>
        </p:nvSpPr>
        <p:spPr bwMode="auto">
          <a:xfrm>
            <a:off x="4398704" y="5517232"/>
            <a:ext cx="2232248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3515E6-71B0-4E3F-AFE0-AC28BA1DCF44}"/>
              </a:ext>
            </a:extLst>
          </p:cNvPr>
          <p:cNvSpPr/>
          <p:nvPr/>
        </p:nvSpPr>
        <p:spPr bwMode="auto">
          <a:xfrm>
            <a:off x="4490436" y="6050138"/>
            <a:ext cx="2613676" cy="40967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B5E4F20-0CAA-4E3B-A62E-5087D855C497}"/>
              </a:ext>
            </a:extLst>
          </p:cNvPr>
          <p:cNvSpPr/>
          <p:nvPr/>
        </p:nvSpPr>
        <p:spPr bwMode="auto">
          <a:xfrm>
            <a:off x="7392144" y="4516302"/>
            <a:ext cx="1944216" cy="41838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670BE9-083F-4AD3-8240-E748F4C6C33F}"/>
              </a:ext>
            </a:extLst>
          </p:cNvPr>
          <p:cNvSpPr/>
          <p:nvPr/>
        </p:nvSpPr>
        <p:spPr bwMode="auto">
          <a:xfrm>
            <a:off x="9768408" y="2420888"/>
            <a:ext cx="1944216" cy="50405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B43CFE2-D333-4151-AA6E-933D00AE1435}"/>
              </a:ext>
            </a:extLst>
          </p:cNvPr>
          <p:cNvSpPr/>
          <p:nvPr/>
        </p:nvSpPr>
        <p:spPr bwMode="auto">
          <a:xfrm>
            <a:off x="4367808" y="2492897"/>
            <a:ext cx="2664296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16A1173-821B-4018-81F2-B1F0709C8335}"/>
              </a:ext>
            </a:extLst>
          </p:cNvPr>
          <p:cNvSpPr/>
          <p:nvPr/>
        </p:nvSpPr>
        <p:spPr bwMode="auto">
          <a:xfrm>
            <a:off x="4282332" y="4574647"/>
            <a:ext cx="2880319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010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所以</a:t>
            </a:r>
            <a:r>
              <a:rPr lang="en-US" altLang="zh-CN" dirty="0"/>
              <a:t>First</a:t>
            </a:r>
            <a:r>
              <a:rPr lang="zh-CN" altLang="en-US" dirty="0"/>
              <a:t>集如下：</a:t>
            </a:r>
            <a:endParaRPr lang="en-US" altLang="zh-CN" dirty="0"/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dirty="0"/>
              <a:t>        First(exp)     = {(,n}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dirty="0"/>
              <a:t>        First(term)   = {(,n}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dirty="0"/>
              <a:t>        First(factor) = {(,n}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dirty="0"/>
              <a:t>        First(</a:t>
            </a:r>
            <a:r>
              <a:rPr lang="en-US" altLang="zh-CN" dirty="0" err="1"/>
              <a:t>addop</a:t>
            </a:r>
            <a:r>
              <a:rPr lang="en-US" altLang="zh-CN" dirty="0"/>
              <a:t>) = {+,-}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dirty="0"/>
              <a:t>        First(</a:t>
            </a:r>
            <a:r>
              <a:rPr lang="en-US" altLang="zh-CN" dirty="0" err="1"/>
              <a:t>mulop</a:t>
            </a:r>
            <a:r>
              <a:rPr lang="en-US" altLang="zh-CN" dirty="0"/>
              <a:t>) = {*}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487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2C364-6818-43C5-A0A9-3A9B4DD5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EE6E1-54CB-47F3-919F-1028A0313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3024"/>
            <a:ext cx="10972800" cy="5254327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tabLst>
                <a:tab pos="1158875" algn="l"/>
              </a:tabLst>
            </a:pPr>
            <a:r>
              <a:rPr lang="zh-CN" altLang="en-US" sz="2400" dirty="0"/>
              <a:t>为</a:t>
            </a:r>
            <a:r>
              <a:rPr lang="en-US" altLang="zh-CN" sz="2400" dirty="0"/>
              <a:t>if</a:t>
            </a:r>
            <a:r>
              <a:rPr lang="zh-CN" altLang="en-US" sz="2400" dirty="0"/>
              <a:t>语句文法计算</a:t>
            </a:r>
            <a:r>
              <a:rPr lang="en-US" altLang="zh-CN" sz="2400" dirty="0"/>
              <a:t>First</a:t>
            </a:r>
            <a:r>
              <a:rPr lang="zh-CN" altLang="en-US" sz="2400" dirty="0"/>
              <a:t>集。</a:t>
            </a:r>
            <a:endParaRPr lang="en-US" altLang="zh-CN" sz="2400" dirty="0"/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/>
              <a:t>           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statement → if-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| other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if-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if (exp) statement else-part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else-part → else statement | ε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exp → 0 | 1</a:t>
            </a:r>
          </a:p>
          <a:p>
            <a:pPr>
              <a:tabLst>
                <a:tab pos="1158875" algn="l"/>
              </a:tabLst>
            </a:pPr>
            <a:r>
              <a:rPr lang="zh-CN" altLang="en-US" sz="2400" dirty="0"/>
              <a:t>展开：</a:t>
            </a:r>
            <a:endParaRPr lang="en-US" altLang="zh-CN" sz="2400" dirty="0"/>
          </a:p>
          <a:p>
            <a:pPr marL="400050" lvl="1" indent="0">
              <a:buNone/>
              <a:tabLst>
                <a:tab pos="1158875" algn="l"/>
              </a:tabLst>
            </a:pPr>
            <a:r>
              <a:rPr lang="en-US" altLang="zh-CN" sz="2400" dirty="0"/>
              <a:t>   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(1) statement → if-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(2) statement → other</a:t>
            </a: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(3) if-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→ if (exp) statement else-part</a:t>
            </a: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(4) else-part → else statement</a:t>
            </a: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(5) else-part →ε</a:t>
            </a: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(6) exp → 0 </a:t>
            </a:r>
          </a:p>
          <a:p>
            <a:pPr lvl="1">
              <a:buNone/>
              <a:tabLst>
                <a:tab pos="1158875" algn="l"/>
              </a:tabLs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   (7) exp → 1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29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98DFED6C-1AEC-4335-BF52-1ED247610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777514"/>
              </p:ext>
            </p:extLst>
          </p:nvPr>
        </p:nvGraphicFramePr>
        <p:xfrm>
          <a:off x="812800" y="1484784"/>
          <a:ext cx="10611790" cy="473935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33340">
                  <a:extLst>
                    <a:ext uri="{9D8B030D-6E8A-4147-A177-3AD203B41FA5}">
                      <a16:colId xmlns:a16="http://schemas.microsoft.com/office/drawing/2014/main" val="1045340364"/>
                    </a:ext>
                  </a:extLst>
                </a:gridCol>
                <a:gridCol w="3709813">
                  <a:extLst>
                    <a:ext uri="{9D8B030D-6E8A-4147-A177-3AD203B41FA5}">
                      <a16:colId xmlns:a16="http://schemas.microsoft.com/office/drawing/2014/main" val="2607549710"/>
                    </a:ext>
                  </a:extLst>
                </a:gridCol>
                <a:gridCol w="3968637">
                  <a:extLst>
                    <a:ext uri="{9D8B030D-6E8A-4147-A177-3AD203B41FA5}">
                      <a16:colId xmlns:a16="http://schemas.microsoft.com/office/drawing/2014/main" val="3863572603"/>
                    </a:ext>
                  </a:extLst>
                </a:gridCol>
              </a:tblGrid>
              <a:tr h="5449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 Rule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2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875457"/>
                  </a:ext>
                </a:extLst>
              </a:tr>
              <a:tr h="6072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if-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ft(statement)&lt;=ft(if-</a:t>
                      </a:r>
                      <a:r>
                        <a:rPr lang="en-US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zh-CN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ft(statement)={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if,other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698049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other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ft(statement)={other}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23480"/>
                  </a:ext>
                </a:extLst>
              </a:tr>
              <a:tr h="8173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if (exp)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 else-part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ft(if-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)={if}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445670"/>
                  </a:ext>
                </a:extLst>
              </a:tr>
              <a:tr h="5507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else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statement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ft(else-part)={else}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24736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→ε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ft(else-part)={else,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2012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ft(exp)={0}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609158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ft(exp)={0,1}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53933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78EC89A-A207-4BAE-9893-22CC41F03AAD}"/>
              </a:ext>
            </a:extLst>
          </p:cNvPr>
          <p:cNvSpPr/>
          <p:nvPr/>
        </p:nvSpPr>
        <p:spPr bwMode="auto">
          <a:xfrm>
            <a:off x="3881083" y="2708921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997AA0C-5F40-475F-B3C0-6F0B02557831}"/>
              </a:ext>
            </a:extLst>
          </p:cNvPr>
          <p:cNvSpPr/>
          <p:nvPr/>
        </p:nvSpPr>
        <p:spPr bwMode="auto">
          <a:xfrm>
            <a:off x="3863752" y="3411479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E1303C-482F-4E8F-A334-DD9561AFFBA3}"/>
              </a:ext>
            </a:extLst>
          </p:cNvPr>
          <p:cNvSpPr/>
          <p:nvPr/>
        </p:nvSpPr>
        <p:spPr bwMode="auto">
          <a:xfrm>
            <a:off x="3851678" y="4149081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1ABC6E8-A800-4BE7-9FC2-0F25D35E1CEA}"/>
              </a:ext>
            </a:extLst>
          </p:cNvPr>
          <p:cNvSpPr/>
          <p:nvPr/>
        </p:nvSpPr>
        <p:spPr bwMode="auto">
          <a:xfrm>
            <a:off x="3884212" y="4706889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172A7FD-E4CB-474C-8CA5-4C03C7899D75}"/>
              </a:ext>
            </a:extLst>
          </p:cNvPr>
          <p:cNvSpPr/>
          <p:nvPr/>
        </p:nvSpPr>
        <p:spPr bwMode="auto">
          <a:xfrm>
            <a:off x="3931508" y="5264697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21374F5-A8B7-4D11-8BDF-092C840F2F63}"/>
              </a:ext>
            </a:extLst>
          </p:cNvPr>
          <p:cNvSpPr/>
          <p:nvPr/>
        </p:nvSpPr>
        <p:spPr bwMode="auto">
          <a:xfrm>
            <a:off x="3845109" y="5740295"/>
            <a:ext cx="3508737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F404A3-95BA-41BC-B3BF-CD9D6AF1D164}"/>
              </a:ext>
            </a:extLst>
          </p:cNvPr>
          <p:cNvSpPr/>
          <p:nvPr/>
        </p:nvSpPr>
        <p:spPr bwMode="auto">
          <a:xfrm>
            <a:off x="7599800" y="2132856"/>
            <a:ext cx="3752784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6E358C-D6C6-4B61-A31B-B8F486004BFE}"/>
              </a:ext>
            </a:extLst>
          </p:cNvPr>
          <p:cNvSpPr/>
          <p:nvPr/>
        </p:nvSpPr>
        <p:spPr bwMode="auto">
          <a:xfrm>
            <a:off x="3876461" y="2116069"/>
            <a:ext cx="3568665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082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所以</a:t>
            </a:r>
            <a:r>
              <a:rPr lang="en-US" altLang="zh-CN" dirty="0"/>
              <a:t>First</a:t>
            </a:r>
            <a:r>
              <a:rPr lang="zh-CN" altLang="en-US" dirty="0"/>
              <a:t>集如下：</a:t>
            </a:r>
            <a:endParaRPr lang="en-US" altLang="zh-CN" dirty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/>
              <a:t>        	        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First(statement) = {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if,other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		First(if-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       = {if}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		First(else-part)   = {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else,ε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		First(exp)            = {0,1}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355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2C364-6818-43C5-A0A9-3A9B4DD5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EE6E1-54CB-47F3-919F-1028A03133C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tabLst>
                <a:tab pos="1158875" algn="l"/>
              </a:tabLst>
            </a:pPr>
            <a:r>
              <a:rPr lang="zh-CN" altLang="en-US" sz="2400" dirty="0"/>
              <a:t>为语句序列文法计算</a:t>
            </a:r>
            <a:r>
              <a:rPr lang="en-US" altLang="zh-CN" sz="2400" dirty="0"/>
              <a:t>First</a:t>
            </a:r>
            <a:r>
              <a:rPr lang="zh-CN" altLang="en-US" sz="2400" dirty="0"/>
              <a:t>集。</a:t>
            </a:r>
            <a:endParaRPr lang="en-US" altLang="zh-CN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/>
              <a:t>        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-sequence →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 →;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stmt-sequence|ε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stmt→s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zh-CN" altLang="en-US" sz="2400" dirty="0"/>
              <a:t>展开：</a:t>
            </a:r>
            <a:endParaRPr lang="en-US" altLang="zh-CN" sz="2400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-sequence →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 →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-sequence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 →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 	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stmt→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altLang="zh-CN" sz="24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/>
              <a:t>First</a:t>
            </a:r>
            <a:r>
              <a:rPr lang="zh-CN" altLang="en-US" sz="2400" dirty="0"/>
              <a:t>集如下</a:t>
            </a:r>
            <a:r>
              <a:rPr lang="en-US" altLang="zh-CN" sz="2400" dirty="0"/>
              <a:t>: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-sequence)={s}</a:t>
            </a:r>
          </a:p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First(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-seq’)={; , ε}</a:t>
            </a:r>
          </a:p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First(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)={s}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  <a:tabLst>
                <a:tab pos="1158875" algn="l"/>
              </a:tabLst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4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写出下面文法的</a:t>
                </a:r>
                <a:r>
                  <a:rPr lang="en-US" altLang="zh-CN" dirty="0"/>
                  <a:t>First</a:t>
                </a:r>
                <a:r>
                  <a:rPr lang="zh-CN" altLang="en-US" dirty="0"/>
                  <a:t>集：</a:t>
                </a:r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34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14579195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14579195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88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43037913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43037913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153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897021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897021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4209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26694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26694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284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6259745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6259745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1645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92878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79197491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79197491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460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542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39877179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39877179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4073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6949532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6949532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745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12463415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12463415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6009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232342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232342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04255" r="-219162" b="-78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7029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6828587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68285874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7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79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04255" r="-219162" b="-78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604255" r="-85316" b="-787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932394" r="-219162" b="-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5729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000075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0000758"/>
                  </p:ext>
                </p:extLst>
              </p:nvPr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4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951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23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04255" r="-219162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604255" r="-85316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932394" r="-219162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932394" r="-85316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2735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 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,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4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951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23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17910" t="-286395" r="-597" b="-123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04255" r="-219162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604255" r="-85316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932394" r="-219162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932394" r="-85316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6719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3512" y="2060848"/>
                <a:ext cx="2088232" cy="1728192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 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,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35760" y="1556792"/>
              <a:ext cx="6480720" cy="4392488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03147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41021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039031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2000" r="-219162" b="-5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162000" r="-219162" b="-48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 = { (, a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344737" r="-219162" b="-540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407229" r="-219162" b="-3951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 = { 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89288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286395" r="-219162" b="-123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ft(T’)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&lt;= ft(S’)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17910" t="-286395" r="-597" b="-123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604255" r="-219162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604255" r="-85316" b="-925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99" t="-932394" r="-219162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84810" t="-932394" r="-85316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8495AB28-5947-44DC-A698-93C18A622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3512" y="4149080"/>
                <a:ext cx="2088232" cy="1728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  = { (, 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} </m:t>
                      </m:r>
                    </m:oMath>
                  </m:oMathPara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ft(S’) = { +, </a:t>
                </a:r>
                <a:r>
                  <a:rPr lang="el-GR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ε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 } </a:t>
                </a:r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  ={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, +, </m:t>
                      </m:r>
                      <m:r>
                        <m:rPr>
                          <m:nor/>
                        </m:rPr>
                        <a:rPr lang="el-GR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ε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}</m:t>
                      </m:r>
                    </m:oMath>
                  </m:oMathPara>
                </a14:m>
                <a:endParaRPr lang="en-US" altLang="zh-CN" sz="2000" kern="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</a:pP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ft(T’) ={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l-GR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ε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 }</a:t>
                </a:r>
                <a:endParaRPr lang="zh-CN" altLang="zh-CN" sz="2000" kern="1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8495AB28-5947-44DC-A698-93C18A622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3512" y="4149080"/>
                <a:ext cx="2088232" cy="1728192"/>
              </a:xfrm>
              <a:prstGeom prst="rect">
                <a:avLst/>
              </a:prstGeom>
              <a:blipFill>
                <a:blip r:embed="rId4"/>
                <a:stretch>
                  <a:fillRect l="-2299"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15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59343CD5-0A8A-4A95-8F9B-F5846D54F6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lvl="1" algn="just"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已知文法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G[S]: S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eT|RT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       T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DR|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    R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   D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a|bd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FIRST(S)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BAC99F-9985-DFFB-48CA-50A7F1B46EC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{e 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5E52D3-A1F2-7D10-4749-A3BF271F19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{e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 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39CC33-AC33-F007-4787-8E22257FC94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{e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，ε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A3287B-9340-5558-3AFB-2C9BFA477E5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{e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，ε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8326C6F-A2A8-D0C7-66C9-DF268F3DFC5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5A59F8F-3C30-F7FF-CEE1-9687688961A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E5E3D4C-7219-0449-F490-5656075CDF4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EF7AF3F-3212-DFFC-8D56-D24E99571AA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01EBE45-B45E-79C3-B449-4D59BC5CDA0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D8D35D4-8EA2-3E2E-C1F9-9A52CA0682E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DCA0176-3806-E2B8-166B-D5C4AB52AE0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FBDF8A53-21C4-4C24-F2CE-ABD4C247746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7349AEA-1BBA-5432-97FE-5DF30DA0DF2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330563CB-FA73-61C4-DEEF-A10F5E12480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0B101C6-3619-3E56-22CE-C87770B43FE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7670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Follow</a:t>
            </a:r>
            <a:r>
              <a:rPr lang="zh-CN" altLang="en-US" dirty="0"/>
              <a:t>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Follow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集</a:t>
                </a:r>
                <a:r>
                  <a:rPr lang="zh-CN" altLang="en-US" sz="2400" dirty="0"/>
                  <a:t>定义：给出一个非终结符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/>
                  <a:t>，那么集合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𝑭𝒐𝒍𝒍𝒐𝒘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则是由终结符组成，也可能包含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zh-CN" altLang="en-US" sz="2400" dirty="0"/>
                  <a:t>，它包含的是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在推导中可能出现在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后面的第一个终结符或者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$ </m:t>
                    </m:r>
                  </m:oMath>
                </a14:m>
                <a:r>
                  <a:rPr lang="zh-CN" altLang="en-US" sz="2400" dirty="0"/>
                  <a:t>。它的定义如下：</a:t>
                </a:r>
                <a:endParaRPr lang="en-US" altLang="zh-CN" sz="2400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dirty="0"/>
                  <a:t>是开始符号，则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$</m:t>
                    </m:r>
                  </m:oMath>
                </a14:m>
                <a:r>
                  <a:rPr lang="zh-CN" altLang="en-US" sz="2400" dirty="0"/>
                  <a:t>就在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400" dirty="0"/>
                  <a:t>中。</a:t>
                </a:r>
                <a:endParaRPr lang="en-US" altLang="zh-CN" sz="2400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2400" dirty="0"/>
                  <a:t>若存在产生式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−{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400" dirty="0"/>
                  <a:t>中。</a:t>
                </a:r>
                <a:endParaRPr lang="en-US" altLang="zh-CN" sz="2400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sz="2400" dirty="0"/>
                  <a:t>若存在产生式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/>
                  <a:t>中，则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400" dirty="0"/>
                  <a:t>包含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02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9" r="-3435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27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Follow</a:t>
            </a:r>
            <a:r>
              <a:rPr lang="zh-CN" altLang="en-US" dirty="0"/>
              <a:t>集的方法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Follow(start-symbol):={$}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all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non-terminals 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A≠start-symbol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follow(A):={ }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while there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 to any follow sets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for each production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A→X1X2…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 for each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 that is a non-terminal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   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First(Xi+1Xi+2…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 {ε} to Follow(Xi)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     if 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 is in First(Xi+1Xi+2…</a:t>
            </a:r>
            <a:r>
              <a:rPr lang="en-US" altLang="zh-CN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Xn</a:t>
            </a:r>
            <a:r>
              <a:rPr lang="en-US" altLang="zh-CN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        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Follow(A) to Follow(Xi)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67218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计算示例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8416B51-24BD-4533-A7C8-F7B415019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899" y="1700808"/>
            <a:ext cx="4865299" cy="403244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  = {(,number}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= {(,number}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{(,number}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{+,-}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{*}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1" y="1700808"/>
            <a:ext cx="5337926" cy="4032448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(1) exp → exp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term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(2) exp → term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+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-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(5) term → term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factor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(6) term → factor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(7)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→*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(8) factor →(exp) </a:t>
            </a:r>
          </a:p>
          <a:p>
            <a:pPr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(9) factor →number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endParaRPr lang="zh-CN" altLang="en-US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838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3">
            <a:extLst>
              <a:ext uri="{FF2B5EF4-FFF2-40B4-BE49-F238E27FC236}">
                <a16:creationId xmlns:a16="http://schemas.microsoft.com/office/drawing/2014/main" id="{CD7FFEC5-3F41-4B49-9268-2586C0315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3601"/>
              </p:ext>
            </p:extLst>
          </p:nvPr>
        </p:nvGraphicFramePr>
        <p:xfrm>
          <a:off x="5573512" y="66351"/>
          <a:ext cx="4914975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3531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712805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878639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331213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First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Follow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exp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term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*,)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factor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*,)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addop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+, -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35331"/>
                  </a:ext>
                </a:extLst>
              </a:tr>
              <a:tr h="331213"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mulop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*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13916"/>
                  </a:ext>
                </a:extLst>
              </a:tr>
            </a:tbl>
          </a:graphicData>
        </a:graphic>
      </p:graphicFrame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E67DF6DF-A931-486B-8C68-0A8063403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786396"/>
              </p:ext>
            </p:extLst>
          </p:nvPr>
        </p:nvGraphicFramePr>
        <p:xfrm>
          <a:off x="1701416" y="2204864"/>
          <a:ext cx="8787072" cy="432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59625">
                  <a:extLst>
                    <a:ext uri="{9D8B030D-6E8A-4147-A177-3AD203B41FA5}">
                      <a16:colId xmlns:a16="http://schemas.microsoft.com/office/drawing/2014/main" val="2064869774"/>
                    </a:ext>
                  </a:extLst>
                </a:gridCol>
                <a:gridCol w="3387087">
                  <a:extLst>
                    <a:ext uri="{9D8B030D-6E8A-4147-A177-3AD203B41FA5}">
                      <a16:colId xmlns:a16="http://schemas.microsoft.com/office/drawing/2014/main" val="195800686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1926366772"/>
                    </a:ext>
                  </a:extLst>
                </a:gridCol>
              </a:tblGrid>
              <a:tr h="515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 rule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2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528625"/>
                  </a:ext>
                </a:extLst>
              </a:tr>
              <a:tr h="12712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exp 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(exp)={$}</a:t>
                      </a:r>
                      <a:endParaRPr lang="en-US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(exp)={$,+,- 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addop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)={(,number}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(term)&lt;=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</a:t>
                      </a:r>
                      <a:endParaRPr lang="zh-CN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(term)={ $,+,-, *,)}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468625"/>
                  </a:ext>
                </a:extLst>
              </a:tr>
              <a:tr h="4471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08764"/>
                  </a:ext>
                </a:extLst>
              </a:tr>
              <a:tr h="12712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 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mulop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factor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(term)={ * 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mulop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 (, number}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(factor)&lt;=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(term)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(factor)={$,+,-, *,)}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963004"/>
                  </a:ext>
                </a:extLst>
              </a:tr>
              <a:tr h="3915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982183"/>
                  </a:ext>
                </a:extLst>
              </a:tr>
              <a:tr h="4237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</a:t>
                      </a:r>
                      <a:r>
                        <a:rPr 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(exp)={ $,+,-,) 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210025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71647ED9-8789-4622-A8B9-9DEEFC5979BE}"/>
              </a:ext>
            </a:extLst>
          </p:cNvPr>
          <p:cNvSpPr/>
          <p:nvPr/>
        </p:nvSpPr>
        <p:spPr bwMode="auto">
          <a:xfrm>
            <a:off x="4079776" y="2769351"/>
            <a:ext cx="2952328" cy="2799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ED77231-C325-476D-B93A-724D3027F50A}"/>
              </a:ext>
            </a:extLst>
          </p:cNvPr>
          <p:cNvSpPr/>
          <p:nvPr/>
        </p:nvSpPr>
        <p:spPr bwMode="auto">
          <a:xfrm>
            <a:off x="3935760" y="3075804"/>
            <a:ext cx="3240360" cy="312243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BDE1F32-F786-4F2E-B6ED-C2D3CE51190A}"/>
              </a:ext>
            </a:extLst>
          </p:cNvPr>
          <p:cNvSpPr/>
          <p:nvPr/>
        </p:nvSpPr>
        <p:spPr bwMode="auto">
          <a:xfrm>
            <a:off x="4092291" y="3388047"/>
            <a:ext cx="2952328" cy="312243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B76755D-0663-459C-8B75-2176A2F781D0}"/>
              </a:ext>
            </a:extLst>
          </p:cNvPr>
          <p:cNvSpPr/>
          <p:nvPr/>
        </p:nvSpPr>
        <p:spPr bwMode="auto">
          <a:xfrm>
            <a:off x="4092291" y="4484910"/>
            <a:ext cx="2952328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ECB045-217C-4D49-9FDF-76A064EED0BE}"/>
              </a:ext>
            </a:extLst>
          </p:cNvPr>
          <p:cNvSpPr/>
          <p:nvPr/>
        </p:nvSpPr>
        <p:spPr bwMode="auto">
          <a:xfrm>
            <a:off x="3935760" y="4929590"/>
            <a:ext cx="3240360" cy="312243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41926E-A09B-4CB7-A773-5195A0A72BF1}"/>
              </a:ext>
            </a:extLst>
          </p:cNvPr>
          <p:cNvSpPr/>
          <p:nvPr/>
        </p:nvSpPr>
        <p:spPr bwMode="auto">
          <a:xfrm>
            <a:off x="3935760" y="5254464"/>
            <a:ext cx="3108859" cy="39520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C5EA5FE-842A-4C44-8262-72E5061BE842}"/>
              </a:ext>
            </a:extLst>
          </p:cNvPr>
          <p:cNvSpPr/>
          <p:nvPr/>
        </p:nvSpPr>
        <p:spPr bwMode="auto">
          <a:xfrm>
            <a:off x="4014024" y="6210030"/>
            <a:ext cx="2952328" cy="30373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08C29F7-6CA4-46D2-8B6C-E7611BDF47A5}"/>
              </a:ext>
            </a:extLst>
          </p:cNvPr>
          <p:cNvSpPr/>
          <p:nvPr/>
        </p:nvSpPr>
        <p:spPr bwMode="auto">
          <a:xfrm>
            <a:off x="7428148" y="3201400"/>
            <a:ext cx="2952328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B254F6B-7A4E-4AE8-A427-643327F282D5}"/>
              </a:ext>
            </a:extLst>
          </p:cNvPr>
          <p:cNvSpPr/>
          <p:nvPr/>
        </p:nvSpPr>
        <p:spPr bwMode="auto">
          <a:xfrm>
            <a:off x="7378285" y="4863372"/>
            <a:ext cx="2952328" cy="43204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36D7D50-4B62-49AE-9F8B-3B965DDC6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416" y="72856"/>
            <a:ext cx="3279485" cy="1998673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(1) exp → exp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term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(2) exp → term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(3)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→ +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(4)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→ -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(5) term → term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factor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(6) term → factor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(7)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→*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(8) factor →(exp)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(9) factor →number</a:t>
            </a:r>
            <a:endParaRPr lang="zh-CN" altLang="en-US" sz="1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EEA07D-8E44-4D6F-8A1A-6C9049A7235D}"/>
              </a:ext>
            </a:extLst>
          </p:cNvPr>
          <p:cNvSpPr/>
          <p:nvPr/>
        </p:nvSpPr>
        <p:spPr bwMode="auto">
          <a:xfrm>
            <a:off x="8612780" y="0"/>
            <a:ext cx="1947715" cy="213285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D2CD2C4-5612-4517-A29E-1733C4271E6D}"/>
              </a:ext>
            </a:extLst>
          </p:cNvPr>
          <p:cNvSpPr/>
          <p:nvPr/>
        </p:nvSpPr>
        <p:spPr bwMode="auto">
          <a:xfrm>
            <a:off x="4158042" y="3646079"/>
            <a:ext cx="2952328" cy="312243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979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3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所以</a:t>
            </a:r>
            <a:r>
              <a:rPr lang="en-US" altLang="zh-CN" dirty="0"/>
              <a:t>Follow</a:t>
            </a:r>
            <a:r>
              <a:rPr lang="zh-CN" altLang="en-US" dirty="0"/>
              <a:t>集如下：</a:t>
            </a:r>
            <a:endParaRPr lang="en-US" altLang="zh-CN" dirty="0"/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   = {$,+,-, )}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Follow(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{(,number}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 = { $,+,-, *, )}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Follow(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mulop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{(,number}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     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= { $,+,-, *, )}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7840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计算示例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8416B51-24BD-4533-A7C8-F7B415019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700808"/>
            <a:ext cx="4177408" cy="345638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= {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if,other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    = {if}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else-part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= {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else,ε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First(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           = {0,1}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1700808"/>
            <a:ext cx="6147295" cy="345638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(1) statement → if-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(2) statement → other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(3) if-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→ if (exp) statement else-part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(4) else-part → else statement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(5) else-part →ε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(6) exp → 0 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(7) exp → 1</a:t>
            </a:r>
            <a:endParaRPr lang="zh-CN" altLang="en-US" sz="24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862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4AD550F6-A7DA-4DCF-907C-EBFAE0027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568346"/>
              </p:ext>
            </p:extLst>
          </p:nvPr>
        </p:nvGraphicFramePr>
        <p:xfrm>
          <a:off x="623392" y="2132856"/>
          <a:ext cx="10801200" cy="474829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84258">
                  <a:extLst>
                    <a:ext uri="{9D8B030D-6E8A-4147-A177-3AD203B41FA5}">
                      <a16:colId xmlns:a16="http://schemas.microsoft.com/office/drawing/2014/main" val="3540114729"/>
                    </a:ext>
                  </a:extLst>
                </a:gridCol>
                <a:gridCol w="4094003">
                  <a:extLst>
                    <a:ext uri="{9D8B030D-6E8A-4147-A177-3AD203B41FA5}">
                      <a16:colId xmlns:a16="http://schemas.microsoft.com/office/drawing/2014/main" val="2780832079"/>
                    </a:ext>
                  </a:extLst>
                </a:gridCol>
                <a:gridCol w="3222939">
                  <a:extLst>
                    <a:ext uri="{9D8B030D-6E8A-4147-A177-3AD203B41FA5}">
                      <a16:colId xmlns:a16="http://schemas.microsoft.com/office/drawing/2014/main" val="2424108712"/>
                    </a:ext>
                  </a:extLst>
                </a:gridCol>
              </a:tblGrid>
              <a:tr h="3664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 rule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2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25739"/>
                  </a:ext>
                </a:extLst>
              </a:tr>
              <a:tr h="78607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statement→if-stmt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 $ }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(statement)</a:t>
                      </a:r>
                      <a:endParaRPr lang="zh-CN" altLang="en-US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)={$,else}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(if-</a:t>
                      </a:r>
                      <a:r>
                        <a:rPr lang="en-US" altLang="zh-CN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)={$,else}</a:t>
                      </a:r>
                      <a:endParaRPr lang="zh-CN" altLang="zh-CN" sz="20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17655"/>
                  </a:ext>
                </a:extLst>
              </a:tr>
              <a:tr h="36717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statement→other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31133"/>
                  </a:ext>
                </a:extLst>
              </a:tr>
              <a:tr h="16238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→if (exp) statement   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else-part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(exp)={ ) 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altLang="zh-CN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)={ $, else }</a:t>
                      </a:r>
                      <a:endParaRPr lang="zh-CN" altLang="zh-CN" sz="20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(else-part)={$,else}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980375"/>
                  </a:ext>
                </a:extLst>
              </a:tr>
              <a:tr h="55853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→ else statement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726407"/>
                  </a:ext>
                </a:extLst>
              </a:tr>
              <a:tr h="35283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→ε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647410"/>
                  </a:ext>
                </a:extLst>
              </a:tr>
              <a:tr h="32987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→ 0 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005946"/>
                  </a:ext>
                </a:extLst>
              </a:tr>
              <a:tr h="32987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→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318865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775648-7EB3-481E-AA17-E5393CA03ACE}"/>
              </a:ext>
            </a:extLst>
          </p:cNvPr>
          <p:cNvSpPr/>
          <p:nvPr/>
        </p:nvSpPr>
        <p:spPr bwMode="auto">
          <a:xfrm>
            <a:off x="4322513" y="2551424"/>
            <a:ext cx="3571364" cy="37625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29F683C-14DB-4847-81FD-11B902CA750F}"/>
              </a:ext>
            </a:extLst>
          </p:cNvPr>
          <p:cNvSpPr/>
          <p:nvPr/>
        </p:nvSpPr>
        <p:spPr bwMode="auto">
          <a:xfrm>
            <a:off x="4202606" y="2924944"/>
            <a:ext cx="3919790" cy="34050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515765-34D6-415B-BCCA-45CBB58EEB2F}"/>
              </a:ext>
            </a:extLst>
          </p:cNvPr>
          <p:cNvSpPr/>
          <p:nvPr/>
        </p:nvSpPr>
        <p:spPr bwMode="auto">
          <a:xfrm>
            <a:off x="4266204" y="3731791"/>
            <a:ext cx="3571364" cy="37702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B39879-CB7E-4468-B35B-7F1C6B7E32FD}"/>
              </a:ext>
            </a:extLst>
          </p:cNvPr>
          <p:cNvSpPr/>
          <p:nvPr/>
        </p:nvSpPr>
        <p:spPr bwMode="auto">
          <a:xfrm>
            <a:off x="4168043" y="4099277"/>
            <a:ext cx="3876237" cy="377021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4559E8-4D09-455D-A9BF-4AC49811C62B}"/>
              </a:ext>
            </a:extLst>
          </p:cNvPr>
          <p:cNvSpPr/>
          <p:nvPr/>
        </p:nvSpPr>
        <p:spPr bwMode="auto">
          <a:xfrm>
            <a:off x="4233685" y="4493102"/>
            <a:ext cx="3919789" cy="37880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FAEBF60-7516-4EDB-9314-6D4A041DC136}"/>
              </a:ext>
            </a:extLst>
          </p:cNvPr>
          <p:cNvSpPr/>
          <p:nvPr/>
        </p:nvSpPr>
        <p:spPr bwMode="auto">
          <a:xfrm>
            <a:off x="4159256" y="4844883"/>
            <a:ext cx="3983627" cy="377021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D3C2328-0F8B-4601-B18B-59202A0B83B0}"/>
              </a:ext>
            </a:extLst>
          </p:cNvPr>
          <p:cNvSpPr/>
          <p:nvPr/>
        </p:nvSpPr>
        <p:spPr bwMode="auto">
          <a:xfrm>
            <a:off x="4226117" y="5338344"/>
            <a:ext cx="3832682" cy="46691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486B89A-B25F-4592-AAEB-2AEEEC330B45}"/>
              </a:ext>
            </a:extLst>
          </p:cNvPr>
          <p:cNvSpPr/>
          <p:nvPr/>
        </p:nvSpPr>
        <p:spPr bwMode="auto">
          <a:xfrm>
            <a:off x="8292704" y="2564904"/>
            <a:ext cx="3059880" cy="711821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4721DEA-D761-4AA8-A289-4AC1D084281E}"/>
              </a:ext>
            </a:extLst>
          </p:cNvPr>
          <p:cNvSpPr/>
          <p:nvPr/>
        </p:nvSpPr>
        <p:spPr bwMode="auto">
          <a:xfrm>
            <a:off x="8256240" y="4221087"/>
            <a:ext cx="3135832" cy="5077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BB3768EA-A8D8-412C-A666-54371133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11353"/>
              </p:ext>
            </p:extLst>
          </p:nvPr>
        </p:nvGraphicFramePr>
        <p:xfrm>
          <a:off x="5945264" y="168424"/>
          <a:ext cx="454586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355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188133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29246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First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Follow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292463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statement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if, other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$,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else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292463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if-statement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if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$,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else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292463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else-part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else, </a:t>
                      </a:r>
                      <a:r>
                        <a:rPr lang="zh-CN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$,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else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292463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exp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0, 1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)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35331"/>
                  </a:ext>
                </a:extLst>
              </a:tr>
            </a:tbl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63E0AE17-F5A1-4325-8288-17194FEBC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0422"/>
            <a:ext cx="5040559" cy="201622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(1) statement → if-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(2) statement → other</a:t>
            </a: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(3) if-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→ if (exp) statement else-part</a:t>
            </a: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(4) else-part → else statement</a:t>
            </a: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(5) else-part →ε</a:t>
            </a: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(6) exp → 0 </a:t>
            </a:r>
          </a:p>
          <a:p>
            <a:pPr>
              <a:spcBef>
                <a:spcPts val="0"/>
              </a:spcBef>
              <a:buNone/>
              <a:tabLst>
                <a:tab pos="1158875" algn="l"/>
              </a:tabLst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(7) exp → 1</a:t>
            </a:r>
            <a:endParaRPr lang="zh-CN" altLang="en-US" sz="18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D693C9-EB15-4ED9-AB72-CF466BDBEECD}"/>
              </a:ext>
            </a:extLst>
          </p:cNvPr>
          <p:cNvSpPr/>
          <p:nvPr/>
        </p:nvSpPr>
        <p:spPr bwMode="auto">
          <a:xfrm>
            <a:off x="9312166" y="116632"/>
            <a:ext cx="1237302" cy="191001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957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所以</a:t>
            </a:r>
            <a:r>
              <a:rPr lang="en-US" altLang="zh-CN" dirty="0"/>
              <a:t>Follow</a:t>
            </a:r>
            <a:r>
              <a:rPr lang="zh-CN" altLang="en-US" dirty="0"/>
              <a:t>集如下：</a:t>
            </a:r>
            <a:endParaRPr lang="en-US" altLang="zh-CN" dirty="0"/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)={$,else}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if-statement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)={$,else}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else-part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)={$,else}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Follow(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)={)}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60882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986CCA80-6823-447A-A15B-B2539A920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452740"/>
              </p:ext>
            </p:extLst>
          </p:nvPr>
        </p:nvGraphicFramePr>
        <p:xfrm>
          <a:off x="1127448" y="2204864"/>
          <a:ext cx="9937105" cy="393885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04829">
                  <a:extLst>
                    <a:ext uri="{9D8B030D-6E8A-4147-A177-3AD203B41FA5}">
                      <a16:colId xmlns:a16="http://schemas.microsoft.com/office/drawing/2014/main" val="3540114729"/>
                    </a:ext>
                  </a:extLst>
                </a:gridCol>
                <a:gridCol w="4567862">
                  <a:extLst>
                    <a:ext uri="{9D8B030D-6E8A-4147-A177-3AD203B41FA5}">
                      <a16:colId xmlns:a16="http://schemas.microsoft.com/office/drawing/2014/main" val="2780832079"/>
                    </a:ext>
                  </a:extLst>
                </a:gridCol>
                <a:gridCol w="2564414">
                  <a:extLst>
                    <a:ext uri="{9D8B030D-6E8A-4147-A177-3AD203B41FA5}">
                      <a16:colId xmlns:a16="http://schemas.microsoft.com/office/drawing/2014/main" val="2424108712"/>
                    </a:ext>
                  </a:extLst>
                </a:gridCol>
              </a:tblGrid>
              <a:tr h="3638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Grammar rule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1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 2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25739"/>
                  </a:ext>
                </a:extLst>
              </a:tr>
              <a:tr h="1580409">
                <a:tc>
                  <a:txBody>
                    <a:bodyPr/>
                    <a:lstStyle/>
                    <a:p>
                      <a:pPr marL="0" indent="0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2000" b="1" dirty="0" err="1"/>
                        <a:t>s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 →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</a:t>
                      </a: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/>
                        <a:t>s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 $ }</a:t>
                      </a:r>
                      <a:endParaRPr lang="zh-CN" altLang="en-US" sz="20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{;}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</a:rPr>
                        <a:t>s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tmt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</a:rPr>
                        <a:t>s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tmt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statement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)={$}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 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)={$}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= {; , $}</a:t>
                      </a:r>
                      <a:endParaRPr lang="zh-CN" altLang="zh-CN" sz="20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17655"/>
                  </a:ext>
                </a:extLst>
              </a:tr>
              <a:tr h="869652">
                <a:tc>
                  <a:txBody>
                    <a:bodyPr/>
                    <a:lstStyle/>
                    <a:p>
                      <a:pPr marL="0" indent="0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 →; </a:t>
                      </a: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</a:t>
                      </a: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</a:rPr>
                        <a:t>s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tmt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-sequence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)&lt;=</a:t>
                      </a:r>
                      <a:r>
                        <a:rPr lang="en-US" altLang="zh-CN" sz="2000" b="1" kern="100" dirty="0" err="1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fw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000" b="1" dirty="0" err="1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</a:t>
                      </a:r>
                      <a:r>
                        <a:rPr lang="en-US" altLang="zh-CN" sz="2000" b="1" kern="1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31133"/>
                  </a:ext>
                </a:extLst>
              </a:tr>
              <a:tr h="570508">
                <a:tc>
                  <a:txBody>
                    <a:bodyPr/>
                    <a:lstStyle/>
                    <a:p>
                      <a:pPr marL="0" indent="0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altLang="zh-C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-seq’ →ε</a:t>
                      </a: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980375"/>
                  </a:ext>
                </a:extLst>
              </a:tr>
              <a:tr h="554480">
                <a:tc>
                  <a:txBody>
                    <a:bodyPr/>
                    <a:lstStyle/>
                    <a:p>
                      <a:pPr marL="0" indent="0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stmt→s</a:t>
                      </a:r>
                      <a:endParaRPr lang="en-US" altLang="zh-CN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sz="2000" b="1" kern="1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20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726407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876ADD-31A9-49D8-9387-7AC3EBC52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697903"/>
              </p:ext>
            </p:extLst>
          </p:nvPr>
        </p:nvGraphicFramePr>
        <p:xfrm>
          <a:off x="6312024" y="242552"/>
          <a:ext cx="3891076" cy="1612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482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019254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016993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4032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r>
                        <a:rPr lang="en-US" altLang="zh-CN" dirty="0"/>
                        <a:t>-sequence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;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r>
                        <a:rPr lang="en-US" altLang="zh-CN" dirty="0"/>
                        <a:t>-seq’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; , </a:t>
                      </a:r>
                      <a:r>
                        <a:rPr lang="zh-CN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52F8285C-18E7-4996-BE39-8BC75DB4E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322" y="242552"/>
            <a:ext cx="4333509" cy="161298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/>
              <a:t>s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-sequence →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 →;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-sequence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 →ε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stmt→s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629E1D0-D1AC-42BF-A2C6-59445825F211}"/>
              </a:ext>
            </a:extLst>
          </p:cNvPr>
          <p:cNvSpPr/>
          <p:nvPr/>
        </p:nvSpPr>
        <p:spPr bwMode="auto">
          <a:xfrm>
            <a:off x="4151784" y="2636912"/>
            <a:ext cx="3240360" cy="35853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E46DB3-BF62-420A-8AC7-16CE0D4C1AE6}"/>
              </a:ext>
            </a:extLst>
          </p:cNvPr>
          <p:cNvSpPr/>
          <p:nvPr/>
        </p:nvSpPr>
        <p:spPr bwMode="auto">
          <a:xfrm>
            <a:off x="4151784" y="2996952"/>
            <a:ext cx="3024336" cy="37352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F271E1A-955B-4A89-A3B0-BB343A96D9FC}"/>
              </a:ext>
            </a:extLst>
          </p:cNvPr>
          <p:cNvSpPr/>
          <p:nvPr/>
        </p:nvSpPr>
        <p:spPr bwMode="auto">
          <a:xfrm>
            <a:off x="4079776" y="3356992"/>
            <a:ext cx="4248472" cy="37352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DE8995-8072-459F-A48C-A359F3A8A755}"/>
              </a:ext>
            </a:extLst>
          </p:cNvPr>
          <p:cNvSpPr/>
          <p:nvPr/>
        </p:nvSpPr>
        <p:spPr bwMode="auto">
          <a:xfrm>
            <a:off x="4079776" y="3717032"/>
            <a:ext cx="4007275" cy="37352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1AFF83-148A-4D02-BA0B-912E7595A9E1}"/>
              </a:ext>
            </a:extLst>
          </p:cNvPr>
          <p:cNvSpPr/>
          <p:nvPr/>
        </p:nvSpPr>
        <p:spPr bwMode="auto">
          <a:xfrm>
            <a:off x="4134724" y="4450592"/>
            <a:ext cx="4193523" cy="37352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7E9BC5-666B-41A3-AD75-43EB11A9DCDD}"/>
              </a:ext>
            </a:extLst>
          </p:cNvPr>
          <p:cNvSpPr/>
          <p:nvPr/>
        </p:nvSpPr>
        <p:spPr bwMode="auto">
          <a:xfrm>
            <a:off x="9222069" y="120184"/>
            <a:ext cx="1237302" cy="191001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1F8F61A-7EF7-4997-8D80-19F643D64058}"/>
              </a:ext>
            </a:extLst>
          </p:cNvPr>
          <p:cNvSpPr/>
          <p:nvPr/>
        </p:nvSpPr>
        <p:spPr bwMode="auto">
          <a:xfrm>
            <a:off x="8688288" y="2780928"/>
            <a:ext cx="2208831" cy="129614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111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写出下面文法的</a:t>
                </a:r>
                <a:r>
                  <a:rPr lang="en-US" altLang="zh-CN" dirty="0"/>
                  <a:t>Follow</a:t>
                </a:r>
                <a:r>
                  <a:rPr lang="zh-CN" altLang="en-US" dirty="0"/>
                  <a:t>集：</a:t>
                </a:r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944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775520" y="328464"/>
                <a:ext cx="2088232" cy="1656184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5520" y="328464"/>
                <a:ext cx="2088232" cy="1656184"/>
              </a:xfrm>
              <a:blipFill>
                <a:blip r:embed="rId2"/>
                <a:stretch>
                  <a:fillRect b="-2888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64176432"/>
                  </p:ext>
                </p:extLst>
              </p:nvPr>
            </p:nvGraphicFramePr>
            <p:xfrm>
              <a:off x="4007768" y="332656"/>
              <a:ext cx="6480720" cy="590465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368152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80831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55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12473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</a:t>
                          </a:r>
                          <a:r>
                            <a:rPr lang="en-US" altLang="zh-CN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 = { $ }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 = { )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</a:t>
                          </a:r>
                          <a:endParaRPr lang="zh-CN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fw(S’)={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$, ), + }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</a:t>
                          </a:r>
                          <a:endParaRPr lang="zh-CN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fw(S)={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$, ), + }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13846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 = {+}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 ={+, )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108012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(S)={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$ }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(S)&lt;=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(T’)</a:t>
                          </a:r>
                          <a:endParaRPr 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72374EA2-61E6-4918-BD2B-D65CF1A6DDF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64176432"/>
                  </p:ext>
                </p:extLst>
              </p:nvPr>
            </p:nvGraphicFramePr>
            <p:xfrm>
              <a:off x="4007768" y="332656"/>
              <a:ext cx="6480720" cy="5904656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368152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80831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12473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32973" r="-373778" b="-3983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</a:t>
                          </a:r>
                          <a:r>
                            <a:rPr lang="en-US" altLang="zh-CN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 = { $ }</a:t>
                          </a: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 = { ) 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0839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246000" r="-373778" b="-63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</a:t>
                          </a:r>
                          <a:endParaRPr lang="zh-CN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131020" t="-246000" r="-434" b="-63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455263" r="-373778" b="-738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</a:t>
                          </a:r>
                          <a:endParaRPr lang="zh-CN" altLang="zh-CN" sz="2000" b="1" kern="100" dirty="0">
                            <a:solidFill>
                              <a:srgbClr val="0000CC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131020" t="-455263" r="-434" b="-738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508434" r="-373778" b="-5759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138465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221491" r="-373778" b="-109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 = {+}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(S’) &lt;= </a:t>
                          </a:r>
                          <a:r>
                            <a:rPr lang="en-US" altLang="zh-CN" sz="2000" b="1" kern="100" dirty="0" err="1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(T)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 err="1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fw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(T’) ={+, )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1080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414124" r="-373778" b="-41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59788" t="-414124" r="-122487" b="-412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44" t="-1281690" r="-373778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CC2E48C-C8D3-4515-83E7-05CC58674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520" y="2132856"/>
                <a:ext cx="2088232" cy="19442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ctr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  = { (, 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} </m:t>
                      </m:r>
                    </m:oMath>
                  </m:oMathPara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ft(S’) = { +, </a:t>
                </a:r>
                <a:r>
                  <a:rPr lang="el-GR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ε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 } </a:t>
                </a:r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  ={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, +, </m:t>
                      </m:r>
                      <m:r>
                        <m:rPr>
                          <m:nor/>
                        </m:rPr>
                        <a:rPr lang="el-GR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ε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}</m:t>
                      </m:r>
                    </m:oMath>
                  </m:oMathPara>
                </a14:m>
                <a:endParaRPr lang="en-US" altLang="zh-CN" sz="2000" kern="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ft(T’) ={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l-GR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ε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 }</a:t>
                </a:r>
                <a:endParaRPr lang="zh-CN" altLang="zh-CN" sz="2000" kern="1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4CC2E48C-C8D3-4515-83E7-05CC58674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2132856"/>
                <a:ext cx="2088232" cy="1944216"/>
              </a:xfrm>
              <a:prstGeom prst="rect">
                <a:avLst/>
              </a:prstGeom>
              <a:blipFill>
                <a:blip r:embed="rId4"/>
                <a:stretch>
                  <a:fillRect l="-2299" b="-617"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46D1E98C-F6C2-4BFC-860C-DBF49093A2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5520" y="4283770"/>
                <a:ext cx="2088232" cy="194421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ctr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fw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)={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 $, ), +}</m:t>
                      </m:r>
                    </m:oMath>
                  </m:oMathPara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000" kern="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fw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(S</a:t>
                </a:r>
                <a:r>
                  <a:rPr lang="en-US" altLang="zh-CN" sz="2000" kern="100" dirty="0">
                    <a:cs typeface="Arial" panose="020B0604020202020204" pitchFamily="34" charset="0"/>
                  </a:rPr>
                  <a:t>’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kern="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)={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CN" sz="2000" kern="1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, $,), +}</m:t>
                    </m:r>
                  </m:oMath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fw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altLang="zh-CN" sz="2000" kern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  ={ ) }</m:t>
                      </m:r>
                    </m:oMath>
                  </m:oMathPara>
                </a14:m>
                <a:endParaRPr lang="en-US" altLang="zh-CN" sz="2000" kern="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000" kern="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fw</a:t>
                </a:r>
                <a:r>
                  <a:rPr lang="en-US" altLang="zh-CN" sz="2000" kern="100" dirty="0">
                    <a:latin typeface="Arial" panose="020B0604020202020204" pitchFamily="34" charset="0"/>
                    <a:cs typeface="Arial" panose="020B0604020202020204" pitchFamily="34" charset="0"/>
                  </a:rPr>
                  <a:t> (T’) ={+, ) }</a:t>
                </a:r>
                <a:endParaRPr lang="zh-CN" altLang="zh-CN" sz="2000" kern="1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46D1E98C-F6C2-4BFC-860C-DBF49093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520" y="4283770"/>
                <a:ext cx="2088232" cy="1944216"/>
              </a:xfrm>
              <a:prstGeom prst="rect">
                <a:avLst/>
              </a:prstGeom>
              <a:blipFill>
                <a:blip r:embed="rId5"/>
                <a:stretch>
                  <a:fillRect l="-2299" b="-617"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898CC3-6ED4-435D-86AE-E55044868532}"/>
              </a:ext>
            </a:extLst>
          </p:cNvPr>
          <p:cNvSpPr/>
          <p:nvPr/>
        </p:nvSpPr>
        <p:spPr bwMode="auto">
          <a:xfrm>
            <a:off x="5663952" y="692697"/>
            <a:ext cx="1728192" cy="50405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7CEA90-D811-4C93-9710-2731DA5A72D9}"/>
              </a:ext>
            </a:extLst>
          </p:cNvPr>
          <p:cNvSpPr/>
          <p:nvPr/>
        </p:nvSpPr>
        <p:spPr bwMode="auto">
          <a:xfrm>
            <a:off x="5735960" y="1340768"/>
            <a:ext cx="1728192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066820F-0566-4B3D-BA46-2219243BA487}"/>
              </a:ext>
            </a:extLst>
          </p:cNvPr>
          <p:cNvSpPr/>
          <p:nvPr/>
        </p:nvSpPr>
        <p:spPr bwMode="auto">
          <a:xfrm>
            <a:off x="5519936" y="1866679"/>
            <a:ext cx="1872208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A234488-C01A-451C-AEDC-0A7456356CD2}"/>
              </a:ext>
            </a:extLst>
          </p:cNvPr>
          <p:cNvSpPr/>
          <p:nvPr/>
        </p:nvSpPr>
        <p:spPr bwMode="auto">
          <a:xfrm>
            <a:off x="5519936" y="2381776"/>
            <a:ext cx="1872208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57E2FEA-A82E-4A43-A84C-731C18BB700C}"/>
              </a:ext>
            </a:extLst>
          </p:cNvPr>
          <p:cNvSpPr/>
          <p:nvPr/>
        </p:nvSpPr>
        <p:spPr bwMode="auto">
          <a:xfrm>
            <a:off x="5661264" y="3397331"/>
            <a:ext cx="1728192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E9ED323-B883-4C07-8CA0-E5D6B89DDBFD}"/>
              </a:ext>
            </a:extLst>
          </p:cNvPr>
          <p:cNvSpPr/>
          <p:nvPr/>
        </p:nvSpPr>
        <p:spPr bwMode="auto">
          <a:xfrm>
            <a:off x="5661264" y="3788278"/>
            <a:ext cx="1728192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5992FD6-4E32-4D83-BC98-3AAF774896BE}"/>
              </a:ext>
            </a:extLst>
          </p:cNvPr>
          <p:cNvSpPr/>
          <p:nvPr/>
        </p:nvSpPr>
        <p:spPr bwMode="auto">
          <a:xfrm>
            <a:off x="5639241" y="4221089"/>
            <a:ext cx="1824911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E2DE23-187A-4B5F-95A6-E53C28D985B3}"/>
              </a:ext>
            </a:extLst>
          </p:cNvPr>
          <p:cNvSpPr/>
          <p:nvPr/>
        </p:nvSpPr>
        <p:spPr bwMode="auto">
          <a:xfrm>
            <a:off x="5635671" y="4867621"/>
            <a:ext cx="1728192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BE796C1-921F-400B-93D7-1809F2EBF15C}"/>
              </a:ext>
            </a:extLst>
          </p:cNvPr>
          <p:cNvSpPr/>
          <p:nvPr/>
        </p:nvSpPr>
        <p:spPr bwMode="auto">
          <a:xfrm>
            <a:off x="5664195" y="5323062"/>
            <a:ext cx="1728192" cy="391709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C059E15-4649-4FD8-890B-CD0021DC5D15}"/>
              </a:ext>
            </a:extLst>
          </p:cNvPr>
          <p:cNvSpPr/>
          <p:nvPr/>
        </p:nvSpPr>
        <p:spPr bwMode="auto">
          <a:xfrm>
            <a:off x="7968208" y="1938686"/>
            <a:ext cx="2232248" cy="33818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F615EEC-7688-40C2-A02E-04AF7881F5D0}"/>
              </a:ext>
            </a:extLst>
          </p:cNvPr>
          <p:cNvSpPr/>
          <p:nvPr/>
        </p:nvSpPr>
        <p:spPr bwMode="auto">
          <a:xfrm>
            <a:off x="7932204" y="2420889"/>
            <a:ext cx="2232248" cy="33818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B32AF7E-B83D-44BC-8E0E-6792D8D17621}"/>
              </a:ext>
            </a:extLst>
          </p:cNvPr>
          <p:cNvSpPr/>
          <p:nvPr/>
        </p:nvSpPr>
        <p:spPr bwMode="auto">
          <a:xfrm>
            <a:off x="7855988" y="3847990"/>
            <a:ext cx="2232248" cy="338187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869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A0C922D2-7C24-B293-F83F-9A33817E95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lvl="1" algn="just"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已知文法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G[S]: S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eT|RT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       T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DR|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    R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   D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1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a|bd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FOLLOW(S)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F4DE0A-5725-F3CF-2198-7B6CDAF94B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{d, e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017F0F6-1B26-5E49-1F89-3BE440890BD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{d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，ε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F2ACAA7-6A1B-4CBE-B33A-51CFCCCE103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{$}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878750-A704-02F6-660D-E3730309703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{d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$}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7A9FC50-4F5E-2CE9-F4C4-EDEC7A89742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BB9C5577-8B30-A2A8-C504-9AC79A07511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E017CDC5-2745-082E-505C-D912A39F69A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19FA0D9-D483-48A1-4D69-2FB02BF7B0F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CDD82C-7366-0B2F-3DE2-9424B28BE1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3652E62-20E4-39A3-2A71-98EFC683C48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982AA8FA-6D54-602C-BCDC-5C595AD5EAB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6FDCA0C-0E64-C1F2-E57D-BA310DEA61D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CBCB297F-2CBE-086B-A229-EB349116739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314BF4E-7502-0A27-1BA8-5C99B637917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09B80C6-3177-91EE-E313-DABC99F297D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3296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339F3256-B479-8425-C44B-B1C37759885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First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集和</a:t>
            </a:r>
            <a:r>
              <a:rPr lang="en-US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follow</a:t>
            </a:r>
            <a:r>
              <a:rPr lang="zh-CN" altLang="zh-CN" sz="2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集里面都可以含有空字。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C5364E-29A6-C180-B8FA-E7B24D069A5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09E85C-FF42-5609-79E7-AC26AC2546D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858B2F9-7F6C-F0F0-BC81-E926B125882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DCF3D19-627E-36B4-6028-2A1438F04C6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29FFB69-70AA-7698-4035-4AEDA807B45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F39BE2A-49E1-688C-D76C-CFAC5CA2C34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62804AD6-1D64-EE71-F7B9-0B9EAEE3F28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5E07533-1303-41E6-DC11-FD6F729D7EA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黑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FEB5A02-F049-6661-89A2-E9C25120F2B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3E3FF4E7-A805-1548-C2B4-F25253BD67C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97EA2CD-F380-CE09-3DB9-1286C51D1B38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1520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使用</a:t>
            </a:r>
            <a:r>
              <a:rPr lang="en-US" altLang="zh-CN" dirty="0"/>
              <a:t>First</a:t>
            </a:r>
            <a:r>
              <a:rPr lang="zh-CN" altLang="en-US" dirty="0"/>
              <a:t>集和</a:t>
            </a:r>
            <a:r>
              <a:rPr lang="en-US" altLang="zh-CN" dirty="0"/>
              <a:t>Follow</a:t>
            </a:r>
            <a:r>
              <a:rPr lang="zh-CN" altLang="en-US" dirty="0"/>
              <a:t>集构造分析表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LL(1)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分析表</a:t>
                </a:r>
                <a:r>
                  <a:rPr lang="zh-CN" altLang="en-US" dirty="0"/>
                  <a:t>的构造：为每个非终结符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/>
                  <a:t>和产生式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重复以下两个步骤：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中的每个记号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，都将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添加到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中。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中，则对于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dirty="0"/>
                  <a:t>的每个元素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/>
                  <a:t>，都将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添加到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中。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2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81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一个文法若满足以下条件，则该文法就是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LL(1)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文法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/>
                  <a:t>在每个产生式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/>
                  <a:t>中，对于所有的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zh-CN" alt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为空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/>
                  <a:t>若对于非终结符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dirty="0"/>
                  <a:t>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𝑭𝒊𝒓𝒔𝒕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包含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，那么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𝑭𝒊𝒓𝒔𝒕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zh-CN" alt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为空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02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127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1EBD5AE-673F-450E-A435-2C94F446C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703552"/>
              </p:ext>
            </p:extLst>
          </p:nvPr>
        </p:nvGraphicFramePr>
        <p:xfrm>
          <a:off x="695400" y="2708920"/>
          <a:ext cx="10801200" cy="40135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08590">
                  <a:extLst>
                    <a:ext uri="{9D8B030D-6E8A-4147-A177-3AD203B41FA5}">
                      <a16:colId xmlns:a16="http://schemas.microsoft.com/office/drawing/2014/main" val="3907841762"/>
                    </a:ext>
                  </a:extLst>
                </a:gridCol>
                <a:gridCol w="2546245">
                  <a:extLst>
                    <a:ext uri="{9D8B030D-6E8A-4147-A177-3AD203B41FA5}">
                      <a16:colId xmlns:a16="http://schemas.microsoft.com/office/drawing/2014/main" val="460899667"/>
                    </a:ext>
                  </a:extLst>
                </a:gridCol>
                <a:gridCol w="2863202">
                  <a:extLst>
                    <a:ext uri="{9D8B030D-6E8A-4147-A177-3AD203B41FA5}">
                      <a16:colId xmlns:a16="http://schemas.microsoft.com/office/drawing/2014/main" val="2522087144"/>
                    </a:ext>
                  </a:extLst>
                </a:gridCol>
                <a:gridCol w="433819">
                  <a:extLst>
                    <a:ext uri="{9D8B030D-6E8A-4147-A177-3AD203B41FA5}">
                      <a16:colId xmlns:a16="http://schemas.microsoft.com/office/drawing/2014/main" val="322234820"/>
                    </a:ext>
                  </a:extLst>
                </a:gridCol>
                <a:gridCol w="1214692">
                  <a:extLst>
                    <a:ext uri="{9D8B030D-6E8A-4147-A177-3AD203B41FA5}">
                      <a16:colId xmlns:a16="http://schemas.microsoft.com/office/drawing/2014/main" val="3196153269"/>
                    </a:ext>
                  </a:extLst>
                </a:gridCol>
                <a:gridCol w="1127928">
                  <a:extLst>
                    <a:ext uri="{9D8B030D-6E8A-4147-A177-3AD203B41FA5}">
                      <a16:colId xmlns:a16="http://schemas.microsoft.com/office/drawing/2014/main" val="985555725"/>
                    </a:ext>
                  </a:extLst>
                </a:gridCol>
                <a:gridCol w="1214692">
                  <a:extLst>
                    <a:ext uri="{9D8B030D-6E8A-4147-A177-3AD203B41FA5}">
                      <a16:colId xmlns:a16="http://schemas.microsoft.com/office/drawing/2014/main" val="2655253293"/>
                    </a:ext>
                  </a:extLst>
                </a:gridCol>
                <a:gridCol w="592032">
                  <a:extLst>
                    <a:ext uri="{9D8B030D-6E8A-4147-A177-3AD203B41FA5}">
                      <a16:colId xmlns:a16="http://schemas.microsoft.com/office/drawing/2014/main" val="2831305832"/>
                    </a:ext>
                  </a:extLst>
                </a:gridCol>
              </a:tblGrid>
              <a:tr h="431741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M[N,T]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(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number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+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-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*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$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26326"/>
                  </a:ext>
                </a:extLst>
              </a:tr>
              <a:tr h="1055269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exp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exp</a:t>
                      </a:r>
                      <a:r>
                        <a:rPr lang="zh-CN" sz="1400" b="1" kern="100" dirty="0">
                          <a:effectLst/>
                        </a:rPr>
                        <a:t>→</a:t>
                      </a:r>
                      <a:r>
                        <a:rPr lang="en-US" sz="1400" b="1" kern="100" dirty="0">
                          <a:effectLst/>
                        </a:rPr>
                        <a:t>exp </a:t>
                      </a:r>
                      <a:r>
                        <a:rPr lang="en-US" sz="1400" b="1" kern="100" dirty="0" err="1">
                          <a:effectLst/>
                        </a:rPr>
                        <a:t>addop</a:t>
                      </a:r>
                      <a:r>
                        <a:rPr lang="en-US" sz="1400" b="1" kern="100" dirty="0">
                          <a:effectLst/>
                        </a:rPr>
                        <a:t> term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exp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term</a:t>
                      </a:r>
                    </a:p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exp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exp </a:t>
                      </a:r>
                      <a:r>
                        <a:rPr lang="en-US" altLang="zh-CN" sz="1400" b="1" kern="100" dirty="0" err="1">
                          <a:effectLst/>
                        </a:rPr>
                        <a:t>addop</a:t>
                      </a:r>
                      <a:r>
                        <a:rPr lang="en-US" altLang="zh-CN" sz="1400" b="1" kern="100" dirty="0">
                          <a:effectLst/>
                        </a:rPr>
                        <a:t> term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</a:rPr>
                        <a:t>exp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term</a:t>
                      </a:r>
                    </a:p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339674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 err="1">
                          <a:effectLst/>
                        </a:rPr>
                        <a:t>addop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 err="1">
                          <a:effectLst/>
                        </a:rPr>
                        <a:t>addop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+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 err="1">
                          <a:effectLst/>
                        </a:rPr>
                        <a:t>addop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-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346425"/>
                  </a:ext>
                </a:extLst>
              </a:tr>
              <a:tr h="127386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</a:rPr>
                        <a:t>term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term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term</a:t>
                      </a:r>
                      <a:r>
                        <a:rPr lang="en-US" sz="1400" b="1" kern="100" dirty="0">
                          <a:effectLst/>
                        </a:rPr>
                        <a:t> </a:t>
                      </a:r>
                      <a:r>
                        <a:rPr lang="en-US" sz="1400" b="1" kern="100" dirty="0" err="1">
                          <a:effectLst/>
                        </a:rPr>
                        <a:t>mulop</a:t>
                      </a:r>
                      <a:r>
                        <a:rPr lang="en-US" sz="1400" b="1" kern="100" dirty="0">
                          <a:effectLst/>
                        </a:rPr>
                        <a:t> </a:t>
                      </a:r>
                      <a:r>
                        <a:rPr lang="en-US" altLang="zh-CN" sz="1400" b="1" kern="100" dirty="0">
                          <a:effectLst/>
                        </a:rPr>
                        <a:t>factor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term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 factor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term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 term  </a:t>
                      </a:r>
                      <a:r>
                        <a:rPr lang="en-US" altLang="zh-CN" sz="1400" b="1" kern="100" dirty="0" err="1">
                          <a:effectLst/>
                        </a:rPr>
                        <a:t>mulop</a:t>
                      </a:r>
                      <a:r>
                        <a:rPr lang="en-US" altLang="zh-CN" sz="1400" b="1" kern="100" dirty="0">
                          <a:effectLst/>
                        </a:rPr>
                        <a:t> factor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00" dirty="0">
                          <a:effectLst/>
                        </a:rPr>
                        <a:t>term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 factor</a:t>
                      </a: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37673"/>
                  </a:ext>
                </a:extLst>
              </a:tr>
              <a:tr h="39499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 err="1">
                          <a:effectLst/>
                        </a:rPr>
                        <a:t>mulop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 err="1">
                          <a:effectLst/>
                        </a:rPr>
                        <a:t>mulop</a:t>
                      </a:r>
                      <a:r>
                        <a:rPr lang="en-US" altLang="zh-CN" sz="1400" b="1" kern="100" dirty="0">
                          <a:effectLst/>
                        </a:rPr>
                        <a:t>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*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37553"/>
                  </a:ext>
                </a:extLst>
              </a:tr>
              <a:tr h="46270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</a:rPr>
                        <a:t>factor</a:t>
                      </a:r>
                      <a:endParaRPr lang="zh-CN" alt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</a:rPr>
                        <a:t>factor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(exp)</a:t>
                      </a: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effectLst/>
                        </a:rPr>
                        <a:t>factor </a:t>
                      </a:r>
                      <a:r>
                        <a:rPr lang="zh-CN" altLang="zh-CN" sz="1400" b="1" kern="100" dirty="0">
                          <a:effectLst/>
                        </a:rPr>
                        <a:t>→</a:t>
                      </a:r>
                      <a:r>
                        <a:rPr lang="en-US" altLang="zh-CN" sz="1400" b="1" kern="100" dirty="0">
                          <a:effectLst/>
                        </a:rPr>
                        <a:t> number</a:t>
                      </a: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13195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D99B29-C5B5-480D-AEA3-508E6837BC2C}"/>
              </a:ext>
            </a:extLst>
          </p:cNvPr>
          <p:cNvSpPr/>
          <p:nvPr/>
        </p:nvSpPr>
        <p:spPr bwMode="auto">
          <a:xfrm>
            <a:off x="1631197" y="3253833"/>
            <a:ext cx="2191853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B031E73-39A8-4F89-87C7-C019F9EB7164}"/>
              </a:ext>
            </a:extLst>
          </p:cNvPr>
          <p:cNvSpPr/>
          <p:nvPr/>
        </p:nvSpPr>
        <p:spPr bwMode="auto">
          <a:xfrm>
            <a:off x="4151784" y="3265719"/>
            <a:ext cx="2360457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EE39DB-D082-4DAD-A256-4A2B72379870}"/>
              </a:ext>
            </a:extLst>
          </p:cNvPr>
          <p:cNvSpPr/>
          <p:nvPr/>
        </p:nvSpPr>
        <p:spPr bwMode="auto">
          <a:xfrm>
            <a:off x="7460639" y="4221088"/>
            <a:ext cx="1011625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D32F15C-829C-472D-AC61-647E85BC526B}"/>
              </a:ext>
            </a:extLst>
          </p:cNvPr>
          <p:cNvSpPr/>
          <p:nvPr/>
        </p:nvSpPr>
        <p:spPr bwMode="auto">
          <a:xfrm>
            <a:off x="4151784" y="3661763"/>
            <a:ext cx="1673505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080236-00B3-482B-B69C-BCC4652B210D}"/>
              </a:ext>
            </a:extLst>
          </p:cNvPr>
          <p:cNvSpPr/>
          <p:nvPr/>
        </p:nvSpPr>
        <p:spPr bwMode="auto">
          <a:xfrm>
            <a:off x="1631197" y="3687167"/>
            <a:ext cx="1673505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1270668-A97D-4D93-84B1-BC876C737B4C}"/>
              </a:ext>
            </a:extLst>
          </p:cNvPr>
          <p:cNvSpPr/>
          <p:nvPr/>
        </p:nvSpPr>
        <p:spPr bwMode="auto">
          <a:xfrm>
            <a:off x="8612767" y="4221088"/>
            <a:ext cx="1011625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4BE42FC-5611-4BF7-9CC7-C916ADD947D6}"/>
              </a:ext>
            </a:extLst>
          </p:cNvPr>
          <p:cNvSpPr/>
          <p:nvPr/>
        </p:nvSpPr>
        <p:spPr bwMode="auto">
          <a:xfrm>
            <a:off x="1631197" y="4869160"/>
            <a:ext cx="2304563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725ECD-63FD-4C55-8FE1-203F49DC4D4D}"/>
              </a:ext>
            </a:extLst>
          </p:cNvPr>
          <p:cNvSpPr/>
          <p:nvPr/>
        </p:nvSpPr>
        <p:spPr bwMode="auto">
          <a:xfrm>
            <a:off x="4151784" y="4869160"/>
            <a:ext cx="2689192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966500F-7467-4D32-B729-35D51BD07555}"/>
              </a:ext>
            </a:extLst>
          </p:cNvPr>
          <p:cNvSpPr/>
          <p:nvPr/>
        </p:nvSpPr>
        <p:spPr bwMode="auto">
          <a:xfrm>
            <a:off x="1631197" y="5302494"/>
            <a:ext cx="2304563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E36709B-0667-4601-9959-366A094538C5}"/>
              </a:ext>
            </a:extLst>
          </p:cNvPr>
          <p:cNvSpPr/>
          <p:nvPr/>
        </p:nvSpPr>
        <p:spPr bwMode="auto">
          <a:xfrm>
            <a:off x="4151784" y="5302494"/>
            <a:ext cx="2520587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DD257AF-AA00-4500-8CE5-D62D081A567E}"/>
              </a:ext>
            </a:extLst>
          </p:cNvPr>
          <p:cNvSpPr/>
          <p:nvPr/>
        </p:nvSpPr>
        <p:spPr bwMode="auto">
          <a:xfrm>
            <a:off x="9761075" y="5877272"/>
            <a:ext cx="1087453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D5BB19B-3B2B-4915-8322-F8128218300E}"/>
              </a:ext>
            </a:extLst>
          </p:cNvPr>
          <p:cNvSpPr/>
          <p:nvPr/>
        </p:nvSpPr>
        <p:spPr bwMode="auto">
          <a:xfrm>
            <a:off x="1631197" y="6280741"/>
            <a:ext cx="2304563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5C61B98-EDBA-47C0-BAC6-E2F336E3A3D0}"/>
              </a:ext>
            </a:extLst>
          </p:cNvPr>
          <p:cNvSpPr/>
          <p:nvPr/>
        </p:nvSpPr>
        <p:spPr bwMode="auto">
          <a:xfrm>
            <a:off x="4151784" y="6292581"/>
            <a:ext cx="2520587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D8B0044-CE3F-4E43-AB5F-088292650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9" y="81541"/>
            <a:ext cx="3602633" cy="25649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exp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exp </a:t>
            </a:r>
            <a:r>
              <a:rPr lang="en-US" altLang="zh-CN" sz="1800" kern="100" dirty="0" err="1"/>
              <a:t>addop</a:t>
            </a:r>
            <a:r>
              <a:rPr lang="en-US" altLang="zh-CN" sz="1800" kern="100" dirty="0"/>
              <a:t> term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exp 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term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 err="1"/>
              <a:t>addop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+     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 err="1"/>
              <a:t>addop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-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term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term </a:t>
            </a:r>
            <a:r>
              <a:rPr lang="en-US" altLang="zh-CN" sz="1800" kern="100" dirty="0" err="1"/>
              <a:t>mulop</a:t>
            </a:r>
            <a:r>
              <a:rPr lang="en-US" altLang="zh-CN" sz="1800" kern="100" dirty="0"/>
              <a:t> factor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term 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 factor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 err="1"/>
              <a:t>mulop</a:t>
            </a:r>
            <a:r>
              <a:rPr lang="en-US" altLang="zh-CN" sz="1800" kern="100" dirty="0"/>
              <a:t> 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*</a:t>
            </a:r>
            <a:endParaRPr lang="zh-CN" altLang="zh-CN" sz="1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factor </a:t>
            </a:r>
            <a:r>
              <a:rPr lang="zh-CN" altLang="zh-CN" sz="1800" kern="100" dirty="0"/>
              <a:t>→</a:t>
            </a:r>
            <a:r>
              <a:rPr lang="en-US" altLang="zh-CN" sz="1800" kern="100" dirty="0"/>
              <a:t>(exp) 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kern="100" dirty="0"/>
              <a:t>factor </a:t>
            </a:r>
            <a:r>
              <a:rPr lang="zh-CN" altLang="zh-CN" sz="1800" kern="100" dirty="0"/>
              <a:t>→ </a:t>
            </a:r>
            <a:r>
              <a:rPr lang="en-US" altLang="zh-CN" sz="1800" kern="100" dirty="0"/>
              <a:t>number</a:t>
            </a:r>
            <a:endParaRPr lang="zh-CN" altLang="zh-CN" sz="1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zh-CN" altLang="zh-CN" sz="1800" kern="1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zh-CN" altLang="zh-CN" sz="1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kern="100" dirty="0"/>
          </a:p>
        </p:txBody>
      </p:sp>
      <p:graphicFrame>
        <p:nvGraphicFramePr>
          <p:cNvPr id="22" name="表格 3">
            <a:extLst>
              <a:ext uri="{FF2B5EF4-FFF2-40B4-BE49-F238E27FC236}">
                <a16:creationId xmlns:a16="http://schemas.microsoft.com/office/drawing/2014/main" id="{9C561821-45A1-4587-8284-0C4F65EE4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55146"/>
              </p:ext>
            </p:extLst>
          </p:nvPr>
        </p:nvGraphicFramePr>
        <p:xfrm>
          <a:off x="5663952" y="81540"/>
          <a:ext cx="4545868" cy="25649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355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188133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42748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427484">
                <a:tc>
                  <a:txBody>
                    <a:bodyPr/>
                    <a:lstStyle/>
                    <a:p>
                      <a:r>
                        <a:rPr lang="en-US" altLang="zh-CN" dirty="0"/>
                        <a:t>exp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)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427484">
                <a:tc>
                  <a:txBody>
                    <a:bodyPr/>
                    <a:lstStyle/>
                    <a:p>
                      <a:r>
                        <a:rPr lang="en-US" altLang="zh-CN" dirty="0"/>
                        <a:t>term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*,)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427484">
                <a:tc>
                  <a:txBody>
                    <a:bodyPr/>
                    <a:lstStyle/>
                    <a:p>
                      <a:r>
                        <a:rPr lang="en-US" altLang="zh-CN" dirty="0"/>
                        <a:t>factor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$,+,-, *,)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427484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addop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+, -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35331"/>
                  </a:ext>
                </a:extLst>
              </a:tr>
              <a:tr h="427484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mulop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*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(,number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13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34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379E1EA3-EB94-4B2C-BC2A-7C1E160B1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506" y="116632"/>
            <a:ext cx="4032448" cy="208823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(1) statement → if-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(2) statement → other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(3) if-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→ if (exp) statement else-part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(4) else-part → else statement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(5) else-part →ε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(6) exp → 0 </a:t>
            </a:r>
          </a:p>
          <a:p>
            <a:pPr>
              <a:buNone/>
              <a:tabLst>
                <a:tab pos="1158875" algn="l"/>
              </a:tabLst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(7) exp → 1</a:t>
            </a:r>
            <a:endParaRPr lang="zh-CN" altLang="en-US" sz="1600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49BD5B-7CE2-42F9-A50D-3BB952768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438911"/>
              </p:ext>
            </p:extLst>
          </p:nvPr>
        </p:nvGraphicFramePr>
        <p:xfrm>
          <a:off x="1631504" y="2348880"/>
          <a:ext cx="8856984" cy="432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416133210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2974118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79324244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191674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21216914"/>
                    </a:ext>
                  </a:extLst>
                </a:gridCol>
                <a:gridCol w="1033138">
                  <a:extLst>
                    <a:ext uri="{9D8B030D-6E8A-4147-A177-3AD203B41FA5}">
                      <a16:colId xmlns:a16="http://schemas.microsoft.com/office/drawing/2014/main" val="664323822"/>
                    </a:ext>
                  </a:extLst>
                </a:gridCol>
                <a:gridCol w="983086">
                  <a:extLst>
                    <a:ext uri="{9D8B030D-6E8A-4147-A177-3AD203B41FA5}">
                      <a16:colId xmlns:a16="http://schemas.microsoft.com/office/drawing/2014/main" val="3032757012"/>
                    </a:ext>
                  </a:extLst>
                </a:gridCol>
              </a:tblGrid>
              <a:tr h="37227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M[N,T]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272025"/>
                  </a:ext>
                </a:extLst>
              </a:tr>
              <a:tr h="89379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if-</a:t>
                      </a:r>
                      <a:r>
                        <a:rPr lang="en-US" sz="18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statement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other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4339"/>
                  </a:ext>
                </a:extLst>
              </a:tr>
              <a:tr h="13953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sz="18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if-</a:t>
                      </a:r>
                      <a:r>
                        <a:rPr lang="en-US" sz="1800" b="1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stmt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if (exp) statement else-part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407443"/>
                  </a:ext>
                </a:extLst>
              </a:tr>
              <a:tr h="113574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else statement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→ε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else-part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→ε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140604"/>
                  </a:ext>
                </a:extLst>
              </a:tr>
              <a:tr h="52334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 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 </a:t>
                      </a:r>
                      <a:r>
                        <a:rPr lang="zh-CN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→</a:t>
                      </a: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sz="1800" b="1" kern="1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607191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FEBD6B-06BB-4C2A-808C-CB649C890A5B}"/>
              </a:ext>
            </a:extLst>
          </p:cNvPr>
          <p:cNvSpPr/>
          <p:nvPr/>
        </p:nvSpPr>
        <p:spPr bwMode="auto">
          <a:xfrm>
            <a:off x="2927648" y="2852936"/>
            <a:ext cx="1152128" cy="64807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71C7BB0-A925-421E-99B2-BDF798CA2672}"/>
              </a:ext>
            </a:extLst>
          </p:cNvPr>
          <p:cNvSpPr/>
          <p:nvPr/>
        </p:nvSpPr>
        <p:spPr bwMode="auto">
          <a:xfrm>
            <a:off x="4202407" y="2852936"/>
            <a:ext cx="1152128" cy="64807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A39508-EB47-438C-A6B9-31D6E63C5569}"/>
              </a:ext>
            </a:extLst>
          </p:cNvPr>
          <p:cNvSpPr/>
          <p:nvPr/>
        </p:nvSpPr>
        <p:spPr bwMode="auto">
          <a:xfrm>
            <a:off x="2930890" y="3681028"/>
            <a:ext cx="1152128" cy="12601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A400FAD-DCDE-4956-ACBE-7A7D54B96F01}"/>
              </a:ext>
            </a:extLst>
          </p:cNvPr>
          <p:cNvSpPr/>
          <p:nvPr/>
        </p:nvSpPr>
        <p:spPr bwMode="auto">
          <a:xfrm>
            <a:off x="5483932" y="5085184"/>
            <a:ext cx="1836204" cy="72008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00C2D6-5DC9-4504-BF05-5364BE24DE99}"/>
              </a:ext>
            </a:extLst>
          </p:cNvPr>
          <p:cNvSpPr/>
          <p:nvPr/>
        </p:nvSpPr>
        <p:spPr bwMode="auto">
          <a:xfrm>
            <a:off x="5460959" y="5733256"/>
            <a:ext cx="1787169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84ED593-6841-49B4-9C56-0C829E76B229}"/>
              </a:ext>
            </a:extLst>
          </p:cNvPr>
          <p:cNvSpPr/>
          <p:nvPr/>
        </p:nvSpPr>
        <p:spPr bwMode="auto">
          <a:xfrm>
            <a:off x="9532124" y="5229200"/>
            <a:ext cx="884357" cy="64807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98A6630-25A5-42BF-9306-8270D5A5D226}"/>
              </a:ext>
            </a:extLst>
          </p:cNvPr>
          <p:cNvSpPr/>
          <p:nvPr/>
        </p:nvSpPr>
        <p:spPr bwMode="auto">
          <a:xfrm>
            <a:off x="7464152" y="6309320"/>
            <a:ext cx="936104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D75026A-ACC3-4B85-A5D2-17D58AFA9686}"/>
              </a:ext>
            </a:extLst>
          </p:cNvPr>
          <p:cNvSpPr/>
          <p:nvPr/>
        </p:nvSpPr>
        <p:spPr bwMode="auto">
          <a:xfrm>
            <a:off x="8508268" y="6297670"/>
            <a:ext cx="936104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7656B6B5-DD8C-4763-BEEC-C0FD6537C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66789"/>
              </p:ext>
            </p:extLst>
          </p:nvPr>
        </p:nvGraphicFramePr>
        <p:xfrm>
          <a:off x="5945264" y="116633"/>
          <a:ext cx="4545868" cy="207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355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188133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41531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415316">
                <a:tc>
                  <a:txBody>
                    <a:bodyPr/>
                    <a:lstStyle/>
                    <a:p>
                      <a:r>
                        <a:rPr lang="en-US" altLang="zh-CN" dirty="0"/>
                        <a:t>statement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if, other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else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415316">
                <a:tc>
                  <a:txBody>
                    <a:bodyPr/>
                    <a:lstStyle/>
                    <a:p>
                      <a:r>
                        <a:rPr lang="en-US" altLang="zh-CN" dirty="0"/>
                        <a:t>if-statement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if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else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415316">
                <a:tc>
                  <a:txBody>
                    <a:bodyPr/>
                    <a:lstStyle/>
                    <a:p>
                      <a:r>
                        <a:rPr lang="en-US" altLang="zh-CN" dirty="0"/>
                        <a:t>else-part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else, </a:t>
                      </a:r>
                      <a:r>
                        <a:rPr lang="zh-CN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$,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else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415316">
                <a:tc>
                  <a:txBody>
                    <a:bodyPr/>
                    <a:lstStyle/>
                    <a:p>
                      <a:r>
                        <a:rPr lang="en-US" altLang="zh-CN" dirty="0"/>
                        <a:t>exp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0, 1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3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57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38657131-4E0F-4863-A222-001553AD4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298" y="746608"/>
            <a:ext cx="4333509" cy="1612980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/>
              <a:t>s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-sequence →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 →;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-sequence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-seq’ →ε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stmt→s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F055079-0400-4A8D-B49A-29858CEDB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218171"/>
              </p:ext>
            </p:extLst>
          </p:nvPr>
        </p:nvGraphicFramePr>
        <p:xfrm>
          <a:off x="1415480" y="2636912"/>
          <a:ext cx="8856984" cy="338437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50456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786849477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54183184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836727243"/>
                    </a:ext>
                  </a:extLst>
                </a:gridCol>
              </a:tblGrid>
              <a:tr h="564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M[N,T]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S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;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$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848072"/>
                  </a:ext>
                </a:extLst>
              </a:tr>
              <a:tr h="11281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-sequence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-sequence </a:t>
                      </a:r>
                      <a:r>
                        <a:rPr lang="zh-CN" sz="2000" b="1" kern="100" dirty="0">
                          <a:effectLst/>
                        </a:rPr>
                        <a:t>→</a:t>
                      </a: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 </a:t>
                      </a: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-seq’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642515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stmt</a:t>
                      </a:r>
                      <a:r>
                        <a:rPr lang="zh-CN" sz="2000" b="1" kern="100">
                          <a:effectLst/>
                        </a:rPr>
                        <a:t>→</a:t>
                      </a:r>
                      <a:r>
                        <a:rPr lang="en-US" sz="2000" b="1" kern="100">
                          <a:effectLst/>
                        </a:rPr>
                        <a:t>s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9379"/>
                  </a:ext>
                </a:extLst>
              </a:tr>
              <a:tr h="112812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-seq’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zh-CN" sz="20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-seq’ </a:t>
                      </a:r>
                      <a:r>
                        <a:rPr lang="zh-CN" sz="2000" b="1" kern="100" dirty="0">
                          <a:effectLst/>
                        </a:rPr>
                        <a:t>→</a:t>
                      </a:r>
                      <a:r>
                        <a:rPr lang="en-US" sz="2000" b="1" kern="100" dirty="0">
                          <a:effectLst/>
                        </a:rPr>
                        <a:t>; </a:t>
                      </a: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-sequence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 dirty="0" err="1">
                          <a:effectLst/>
                        </a:rPr>
                        <a:t>stmt</a:t>
                      </a:r>
                      <a:r>
                        <a:rPr lang="en-US" sz="2000" b="1" kern="100" dirty="0">
                          <a:effectLst/>
                        </a:rPr>
                        <a:t>-seq’ </a:t>
                      </a:r>
                      <a:r>
                        <a:rPr lang="zh-CN" sz="2000" b="1" kern="100" dirty="0">
                          <a:effectLst/>
                        </a:rPr>
                        <a:t>→ε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1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46915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D4206F-74BD-4446-B12F-D1C6F6F53C3B}"/>
              </a:ext>
            </a:extLst>
          </p:cNvPr>
          <p:cNvSpPr/>
          <p:nvPr/>
        </p:nvSpPr>
        <p:spPr bwMode="auto">
          <a:xfrm>
            <a:off x="3575720" y="3356992"/>
            <a:ext cx="2448272" cy="86409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87C122-C600-4C19-9A0A-C2ED6C71CE1E}"/>
              </a:ext>
            </a:extLst>
          </p:cNvPr>
          <p:cNvSpPr/>
          <p:nvPr/>
        </p:nvSpPr>
        <p:spPr bwMode="auto">
          <a:xfrm>
            <a:off x="4295800" y="4437112"/>
            <a:ext cx="1224136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F36ACC1-B5E1-4ED3-8342-337EF0C2AA2E}"/>
              </a:ext>
            </a:extLst>
          </p:cNvPr>
          <p:cNvSpPr/>
          <p:nvPr/>
        </p:nvSpPr>
        <p:spPr bwMode="auto">
          <a:xfrm>
            <a:off x="6106215" y="5070239"/>
            <a:ext cx="2150025" cy="735025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FEE1C5-963E-458D-82F1-5FAEA45A2C8F}"/>
              </a:ext>
            </a:extLst>
          </p:cNvPr>
          <p:cNvSpPr/>
          <p:nvPr/>
        </p:nvSpPr>
        <p:spPr bwMode="auto">
          <a:xfrm>
            <a:off x="8472264" y="5244145"/>
            <a:ext cx="1584176" cy="50405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F84AFBFA-FB17-4BC4-9DA6-BD948D307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042120"/>
              </p:ext>
            </p:extLst>
          </p:nvPr>
        </p:nvGraphicFramePr>
        <p:xfrm>
          <a:off x="6096000" y="746608"/>
          <a:ext cx="3891076" cy="1612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482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019254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016993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4032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r>
                        <a:rPr lang="en-US" altLang="zh-CN" dirty="0"/>
                        <a:t>-sequence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$, ;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4032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stmt</a:t>
                      </a:r>
                      <a:r>
                        <a:rPr lang="en-US" altLang="zh-CN" dirty="0"/>
                        <a:t>-seq’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; , </a:t>
                      </a:r>
                      <a:r>
                        <a:rPr lang="zh-CN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59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为下面文法构造出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分析表，请问它是不是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文法？</a:t>
                </a:r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b="1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8753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D9ACB11-B1A6-4575-AF0F-C08BC2818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4061297"/>
                  </p:ext>
                </p:extLst>
              </p:nvPr>
            </p:nvGraphicFramePr>
            <p:xfrm>
              <a:off x="1703512" y="2348880"/>
              <a:ext cx="8784976" cy="445123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8142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265134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365811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5022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116055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alt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2D9ACB11-B1A6-4575-AF0F-C08BC2818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4061297"/>
                  </p:ext>
                </p:extLst>
              </p:nvPr>
            </p:nvGraphicFramePr>
            <p:xfrm>
              <a:off x="1703512" y="2348880"/>
              <a:ext cx="8784976" cy="445123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8142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265134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365811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5022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54327" t="-55556" r="-540385" b="-3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30932" t="-55556" r="-181356" b="-3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116055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124607" r="-401786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124607" r="-281356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124607" r="-90222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617910" t="-124607" r="-995" b="-1607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282237" r="-401786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282237" r="-281356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282237" r="-90222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379739" r="-401786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379739" r="-281356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379739" r="-90222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135560" y="157148"/>
                <a:ext cx="2556284" cy="1939705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algn="ctr" eaLnBrk="1" hangingPunct="1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</a:t>
                </a:r>
              </a:p>
              <a:p>
                <a:pPr marL="0" indent="0" algn="ctr" eaLnBrk="1" hangingPunct="1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 algn="ctr" eaLnBrk="1" hangingPunct="1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5560" y="157148"/>
                <a:ext cx="2556284" cy="1939705"/>
              </a:xfr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25EDC4-288E-4768-8E2C-F327A07F5097}"/>
              </a:ext>
            </a:extLst>
          </p:cNvPr>
          <p:cNvSpPr/>
          <p:nvPr/>
        </p:nvSpPr>
        <p:spPr bwMode="auto">
          <a:xfrm>
            <a:off x="2423592" y="3068960"/>
            <a:ext cx="1080120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F1B49D1-08B8-4441-A45B-8517A42C7EA6}"/>
              </a:ext>
            </a:extLst>
          </p:cNvPr>
          <p:cNvSpPr/>
          <p:nvPr/>
        </p:nvSpPr>
        <p:spPr bwMode="auto">
          <a:xfrm>
            <a:off x="6504797" y="3068960"/>
            <a:ext cx="1247387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C7731CF-842C-4B56-904A-EFD7908E2A6D}"/>
              </a:ext>
            </a:extLst>
          </p:cNvPr>
          <p:cNvSpPr/>
          <p:nvPr/>
        </p:nvSpPr>
        <p:spPr bwMode="auto">
          <a:xfrm>
            <a:off x="3818747" y="4005064"/>
            <a:ext cx="1098122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C0EC17C-164E-47ED-855E-00EBF62916A7}"/>
              </a:ext>
            </a:extLst>
          </p:cNvPr>
          <p:cNvSpPr/>
          <p:nvPr/>
        </p:nvSpPr>
        <p:spPr bwMode="auto">
          <a:xfrm>
            <a:off x="5087888" y="3879850"/>
            <a:ext cx="1281972" cy="47255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8AB57D-CA2B-4980-9F56-A690DA390A77}"/>
              </a:ext>
            </a:extLst>
          </p:cNvPr>
          <p:cNvSpPr/>
          <p:nvPr/>
        </p:nvSpPr>
        <p:spPr bwMode="auto">
          <a:xfrm>
            <a:off x="8040216" y="3933056"/>
            <a:ext cx="1098122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2D40AA6-B1B1-4DCE-A783-115DD465946A}"/>
              </a:ext>
            </a:extLst>
          </p:cNvPr>
          <p:cNvSpPr/>
          <p:nvPr/>
        </p:nvSpPr>
        <p:spPr bwMode="auto">
          <a:xfrm>
            <a:off x="9318358" y="4005064"/>
            <a:ext cx="1098122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6FDB81-D8C0-41D9-94E5-70137F8F98F0}"/>
              </a:ext>
            </a:extLst>
          </p:cNvPr>
          <p:cNvSpPr/>
          <p:nvPr/>
        </p:nvSpPr>
        <p:spPr bwMode="auto">
          <a:xfrm>
            <a:off x="3665730" y="5085184"/>
            <a:ext cx="1251139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2B942C7-3467-4185-B404-7CB3FD43C66A}"/>
              </a:ext>
            </a:extLst>
          </p:cNvPr>
          <p:cNvSpPr/>
          <p:nvPr/>
        </p:nvSpPr>
        <p:spPr bwMode="auto">
          <a:xfrm>
            <a:off x="5102058" y="5085184"/>
            <a:ext cx="1281974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5FC03B7-F324-4374-81B5-C97FEF0DD4C5}"/>
              </a:ext>
            </a:extLst>
          </p:cNvPr>
          <p:cNvSpPr/>
          <p:nvPr/>
        </p:nvSpPr>
        <p:spPr bwMode="auto">
          <a:xfrm>
            <a:off x="7932204" y="5157192"/>
            <a:ext cx="1281973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21D361B-8A12-46AB-AA87-46866BFC8371}"/>
              </a:ext>
            </a:extLst>
          </p:cNvPr>
          <p:cNvSpPr/>
          <p:nvPr/>
        </p:nvSpPr>
        <p:spPr bwMode="auto">
          <a:xfrm>
            <a:off x="3748078" y="6021288"/>
            <a:ext cx="1168791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7B1382-58FF-450A-9320-332D858B1421}"/>
              </a:ext>
            </a:extLst>
          </p:cNvPr>
          <p:cNvSpPr/>
          <p:nvPr/>
        </p:nvSpPr>
        <p:spPr bwMode="auto">
          <a:xfrm>
            <a:off x="5067971" y="6021288"/>
            <a:ext cx="1281973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5E011E-A71C-40FA-9DEB-4B57A9072370}"/>
              </a:ext>
            </a:extLst>
          </p:cNvPr>
          <p:cNvSpPr/>
          <p:nvPr/>
        </p:nvSpPr>
        <p:spPr bwMode="auto">
          <a:xfrm>
            <a:off x="7939242" y="6021288"/>
            <a:ext cx="1281973" cy="576064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9EFE7B1-F644-43EB-817A-A6EFBA317FDB}"/>
              </a:ext>
            </a:extLst>
          </p:cNvPr>
          <p:cNvSpPr/>
          <p:nvPr/>
        </p:nvSpPr>
        <p:spPr bwMode="auto">
          <a:xfrm>
            <a:off x="5217359" y="4455914"/>
            <a:ext cx="1098122" cy="4132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3">
                <a:extLst>
                  <a:ext uri="{FF2B5EF4-FFF2-40B4-BE49-F238E27FC236}">
                    <a16:creationId xmlns:a16="http://schemas.microsoft.com/office/drawing/2014/main" id="{A1B38640-95D4-4C02-8E31-1886D1447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62571"/>
                  </p:ext>
                </p:extLst>
              </p:nvPr>
            </p:nvGraphicFramePr>
            <p:xfrm>
              <a:off x="5591944" y="131692"/>
              <a:ext cx="4545868" cy="20162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3186338400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46470136"/>
                        </a:ext>
                      </a:extLst>
                    </a:gridCol>
                    <a:gridCol w="1881572">
                      <a:extLst>
                        <a:ext uri="{9D8B030D-6E8A-4147-A177-3AD203B41FA5}">
                          <a16:colId xmlns:a16="http://schemas.microsoft.com/office/drawing/2014/main" val="2756075955"/>
                        </a:ext>
                      </a:extLst>
                    </a:gridCol>
                  </a:tblGrid>
                  <a:tr h="4032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First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Follow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863537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(, a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$, 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00" dirty="0" smtClean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+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984911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S’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+, </a:t>
                          </a:r>
                          <a:r>
                            <a:rPr lang="el-GR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$, 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b="1" i="0" kern="100" dirty="0" smtClean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+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397555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, +, </m:t>
                                </m:r>
                                <m:r>
                                  <m:rPr>
                                    <m:nor/>
                                  </m:rPr>
                                  <a:rPr lang="el-GR" altLang="zh-CN" sz="18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ε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18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728133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T’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, </a:t>
                          </a:r>
                          <a:r>
                            <a:rPr lang="el-GR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+ 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735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3">
                <a:extLst>
                  <a:ext uri="{FF2B5EF4-FFF2-40B4-BE49-F238E27FC236}">
                    <a16:creationId xmlns:a16="http://schemas.microsoft.com/office/drawing/2014/main" id="{A1B38640-95D4-4C02-8E31-1886D14472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62571"/>
                  </p:ext>
                </p:extLst>
              </p:nvPr>
            </p:nvGraphicFramePr>
            <p:xfrm>
              <a:off x="5591944" y="131692"/>
              <a:ext cx="4545868" cy="201622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64096">
                      <a:extLst>
                        <a:ext uri="{9D8B030D-6E8A-4147-A177-3AD203B41FA5}">
                          <a16:colId xmlns:a16="http://schemas.microsoft.com/office/drawing/2014/main" val="3186338400"/>
                        </a:ext>
                      </a:extLst>
                    </a:gridCol>
                    <a:gridCol w="1800200">
                      <a:extLst>
                        <a:ext uri="{9D8B030D-6E8A-4147-A177-3AD203B41FA5}">
                          <a16:colId xmlns:a16="http://schemas.microsoft.com/office/drawing/2014/main" val="46470136"/>
                        </a:ext>
                      </a:extLst>
                    </a:gridCol>
                    <a:gridCol w="1881572">
                      <a:extLst>
                        <a:ext uri="{9D8B030D-6E8A-4147-A177-3AD203B41FA5}">
                          <a16:colId xmlns:a16="http://schemas.microsoft.com/office/drawing/2014/main" val="2756075955"/>
                        </a:ext>
                      </a:extLst>
                    </a:gridCol>
                  </a:tblGrid>
                  <a:tr h="403245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First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Follow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863537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(, a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071" t="-105970" r="-647" b="-310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984911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S’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+, </a:t>
                          </a:r>
                          <a:r>
                            <a:rPr lang="el-GR" altLang="zh-CN" sz="18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2071" t="-209091" r="-647" b="-2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397555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8311" t="-304478" r="-105068" b="-1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728133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T’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8311" t="-410606" r="-105068" b="-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+ 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7353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131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83887E8-E79C-46C3-8145-BD7F2F140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5802510"/>
                  </p:ext>
                </p:extLst>
              </p:nvPr>
            </p:nvGraphicFramePr>
            <p:xfrm>
              <a:off x="1703512" y="2362140"/>
              <a:ext cx="8784976" cy="445123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8142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265134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365811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5022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116055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alt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en-US" altLang="zh-CN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CN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83887E8-E79C-46C3-8145-BD7F2F140B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5802510"/>
                  </p:ext>
                </p:extLst>
              </p:nvPr>
            </p:nvGraphicFramePr>
            <p:xfrm>
              <a:off x="1703512" y="2362140"/>
              <a:ext cx="8784976" cy="445123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8142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265134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365811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368152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5022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54327" t="-55556" r="-540385" b="-3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30932" t="-55556" r="-181356" b="-325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116055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124607" r="-401786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124607" r="-281356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124607" r="-90222" b="-160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617910" t="-124607" r="-995" b="-1607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4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282237" r="-401786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282237" r="-281356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282237" r="-90222" b="-101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929474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4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143304" t="-379739" r="-401786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30932" t="-379739" r="-281356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52000" t="-379739" r="-90222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4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6EA440-1AE6-45C0-8FD8-E3DB21B632B0}"/>
              </a:ext>
            </a:extLst>
          </p:cNvPr>
          <p:cNvSpPr/>
          <p:nvPr/>
        </p:nvSpPr>
        <p:spPr bwMode="auto">
          <a:xfrm>
            <a:off x="5087888" y="3874308"/>
            <a:ext cx="1296144" cy="10081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C56D0223-E750-4EFE-826C-103D5FD151E2}"/>
              </a:ext>
            </a:extLst>
          </p:cNvPr>
          <p:cNvSpPr/>
          <p:nvPr/>
        </p:nvSpPr>
        <p:spPr bwMode="auto">
          <a:xfrm>
            <a:off x="5807968" y="260648"/>
            <a:ext cx="5472608" cy="1728192"/>
          </a:xfrm>
          <a:prstGeom prst="cloudCallout">
            <a:avLst>
              <a:gd name="adj1" fmla="val -55986"/>
              <a:gd name="adj2" fmla="val 150061"/>
            </a:avLst>
          </a:prstGeom>
          <a:solidFill>
            <a:srgbClr val="CC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z="2400" b="1">
                <a:solidFill>
                  <a:srgbClr val="000000"/>
                </a:solidFill>
                <a:ea typeface="黑体" pitchFamily="2" charset="-122"/>
              </a:rPr>
              <a:t>由于分析表中这个格子里含</a:t>
            </a:r>
            <a:r>
              <a:rPr lang="en-US" altLang="zh-CN" sz="2400" b="1">
                <a:solidFill>
                  <a:srgbClr val="000000"/>
                </a:solidFill>
                <a:ea typeface="黑体" pitchFamily="2" charset="-122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ea typeface="黑体" pitchFamily="2" charset="-122"/>
              </a:rPr>
              <a:t>条产生式，因此该文法不是</a:t>
            </a:r>
            <a:r>
              <a:rPr lang="en-US" altLang="zh-CN" sz="2400" b="1">
                <a:solidFill>
                  <a:srgbClr val="000000"/>
                </a:solidFill>
                <a:ea typeface="黑体" pitchFamily="2" charset="-122"/>
              </a:rPr>
              <a:t>LL(1)</a:t>
            </a:r>
            <a:r>
              <a:rPr lang="zh-CN" altLang="en-US" sz="2400" b="1">
                <a:solidFill>
                  <a:srgbClr val="000000"/>
                </a:solidFill>
                <a:ea typeface="黑体" pitchFamily="2" charset="-122"/>
              </a:rPr>
              <a:t>文法。</a:t>
            </a:r>
            <a:endParaRPr lang="zh-CN" altLang="en-US" sz="2400" b="1" dirty="0">
              <a:solidFill>
                <a:srgbClr val="000000"/>
              </a:solidFill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3">
                <a:extLst>
                  <a:ext uri="{FF2B5EF4-FFF2-40B4-BE49-F238E27FC236}">
                    <a16:creationId xmlns:a16="http://schemas.microsoft.com/office/drawing/2014/main" id="{6CE52CDF-9455-4F2E-8947-5CB9FD9EFE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0013033"/>
                  </p:ext>
                </p:extLst>
              </p:nvPr>
            </p:nvGraphicFramePr>
            <p:xfrm>
              <a:off x="983432" y="44624"/>
              <a:ext cx="4248472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9633">
                      <a:extLst>
                        <a:ext uri="{9D8B030D-6E8A-4147-A177-3AD203B41FA5}">
                          <a16:colId xmlns:a16="http://schemas.microsoft.com/office/drawing/2014/main" val="3186338400"/>
                        </a:ext>
                      </a:extLst>
                    </a:gridCol>
                    <a:gridCol w="1274542">
                      <a:extLst>
                        <a:ext uri="{9D8B030D-6E8A-4147-A177-3AD203B41FA5}">
                          <a16:colId xmlns:a16="http://schemas.microsoft.com/office/drawing/2014/main" val="46470136"/>
                        </a:ext>
                      </a:extLst>
                    </a:gridCol>
                    <a:gridCol w="1954297">
                      <a:extLst>
                        <a:ext uri="{9D8B030D-6E8A-4147-A177-3AD203B41FA5}">
                          <a16:colId xmlns:a16="http://schemas.microsoft.com/office/drawing/2014/main" val="2756075955"/>
                        </a:ext>
                      </a:extLst>
                    </a:gridCol>
                  </a:tblGrid>
                  <a:tr h="403245">
                    <a:tc>
                      <a:txBody>
                        <a:bodyPr/>
                        <a:lstStyle/>
                        <a:p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First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Follow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863537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S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(, a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$, 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00" dirty="0" smtClean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+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984911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S’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kern="10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</a:t>
                          </a:r>
                          <a:r>
                            <a:rPr lang="en-US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$, )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00" dirty="0" smtClean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b="1" i="0" kern="100" dirty="0" smtClean="0">
                                    <a:solidFill>
                                      <a:srgbClr val="FF0000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397555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T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, +, </m:t>
                                </m:r>
                                <m:r>
                                  <m:rPr>
                                    <m:nor/>
                                  </m:rPr>
                                  <a:rPr lang="el-GR" altLang="zh-CN" sz="24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ε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 kern="100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/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728133"/>
                      </a:ext>
                    </a:extLst>
                  </a:tr>
                  <a:tr h="403245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T’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en-US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, </a:t>
                          </a:r>
                          <a:r>
                            <a:rPr lang="el-GR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+ ,</a:t>
                          </a:r>
                          <a:r>
                            <a:rPr lang="zh-CN" altLang="en-US" sz="2400" dirty="0"/>
                            <a:t> </a:t>
                          </a:r>
                          <a:r>
                            <a:rPr lang="en-US" altLang="zh-CN" sz="2400" dirty="0"/>
                            <a:t>)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735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3">
                <a:extLst>
                  <a:ext uri="{FF2B5EF4-FFF2-40B4-BE49-F238E27FC236}">
                    <a16:creationId xmlns:a16="http://schemas.microsoft.com/office/drawing/2014/main" id="{6CE52CDF-9455-4F2E-8947-5CB9FD9EFE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0013033"/>
                  </p:ext>
                </p:extLst>
              </p:nvPr>
            </p:nvGraphicFramePr>
            <p:xfrm>
              <a:off x="983432" y="44624"/>
              <a:ext cx="4248472" cy="228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9633">
                      <a:extLst>
                        <a:ext uri="{9D8B030D-6E8A-4147-A177-3AD203B41FA5}">
                          <a16:colId xmlns:a16="http://schemas.microsoft.com/office/drawing/2014/main" val="3186338400"/>
                        </a:ext>
                      </a:extLst>
                    </a:gridCol>
                    <a:gridCol w="1274542">
                      <a:extLst>
                        <a:ext uri="{9D8B030D-6E8A-4147-A177-3AD203B41FA5}">
                          <a16:colId xmlns:a16="http://schemas.microsoft.com/office/drawing/2014/main" val="46470136"/>
                        </a:ext>
                      </a:extLst>
                    </a:gridCol>
                    <a:gridCol w="1954297">
                      <a:extLst>
                        <a:ext uri="{9D8B030D-6E8A-4147-A177-3AD203B41FA5}">
                          <a16:colId xmlns:a16="http://schemas.microsoft.com/office/drawing/2014/main" val="27560759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First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Follow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8635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S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(, a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7757" t="-109333" r="-623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098491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S’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kern="10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</a:t>
                          </a:r>
                          <a:r>
                            <a:rPr lang="en-US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400" kern="1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7757" t="-206579" r="-623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3975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T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861" t="-310667" r="-154545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400" dirty="0"/>
                            <a:t>）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7281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T’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0861" t="-410667" r="-15454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400" dirty="0"/>
                            <a:t>+ ,</a:t>
                          </a:r>
                          <a:r>
                            <a:rPr lang="zh-CN" altLang="en-US" sz="2400" dirty="0"/>
                            <a:t> </a:t>
                          </a:r>
                          <a:r>
                            <a:rPr lang="en-US" altLang="zh-CN" sz="2400" dirty="0"/>
                            <a:t>)</a:t>
                          </a:r>
                          <a:endParaRPr lang="zh-CN" alt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67353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903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改写下面文法为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文法，并构造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分析表分析串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a,a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是不是该文法可以识别的串？</a:t>
                </a:r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997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26135" y="232797"/>
                <a:ext cx="1944216" cy="191208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→+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𝑺𝑻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′|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90852A1-F552-4C72-BE5C-6D7C8E242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6135" y="232797"/>
                <a:ext cx="1944216" cy="1912080"/>
              </a:xfr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07346767"/>
                  </p:ext>
                </p:extLst>
              </p:nvPr>
            </p:nvGraphicFramePr>
            <p:xfrm>
              <a:off x="2567608" y="2276873"/>
              <a:ext cx="6776658" cy="432047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124236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13214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26943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4041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ft(S)={(}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4041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ft(S)={( , a}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90366">
                    <a:tc>
                      <a:txBody>
                        <a:bodyPr/>
                        <a:lstStyle/>
                        <a:p>
                          <a:pPr marL="0" indent="0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ft(S’)={+}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30585">
                    <a:tc>
                      <a:txBody>
                        <a:bodyPr/>
                        <a:lstStyle/>
                        <a:p>
                          <a:pPr marL="0" indent="0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l-GR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ft(S’)={+,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5305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ft(T)&lt;=ft(S)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= {(, a}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606383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ft(T’)={,}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54787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l-GR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</a:t>
                          </a:r>
                          <a:r>
                            <a:rPr lang="zh-CN" alt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，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07346767"/>
                  </p:ext>
                </p:extLst>
              </p:nvPr>
            </p:nvGraphicFramePr>
            <p:xfrm>
              <a:off x="2567608" y="2276873"/>
              <a:ext cx="6776658" cy="4320479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124236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13214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26943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6404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67619" r="-219198" b="-52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ft(S)={(}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6404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166038" r="-219198" b="-4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ft(S)={( , a}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903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352500" r="-219198" b="-45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ft(S’)={+}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5305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416092" r="-219198" b="-314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ft(S’)={+,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 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5305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510227" r="-219198" b="-2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rgbClr val="0000CC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ft(T)&lt;=ft(S)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ft(T) = {(, a}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60638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542424" r="-219198" b="-87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ft(T’)={,}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5478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287" t="-848000" r="-219198" b="-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ft(T’)={</a:t>
                          </a:r>
                          <a:r>
                            <a:rPr lang="zh-CN" alt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，</a:t>
                          </a: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r>
                            <a:rPr lang="el-GR" altLang="zh-CN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ε</a:t>
                          </a: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A2A3467-4E2A-4E1D-8E4F-B993FC11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40040"/>
              </p:ext>
            </p:extLst>
          </p:nvPr>
        </p:nvGraphicFramePr>
        <p:xfrm>
          <a:off x="6660514" y="188640"/>
          <a:ext cx="2963878" cy="19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7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2099781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</a:tblGrid>
              <a:tr h="39844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en-US" altLang="zh-CN" dirty="0"/>
                        <a:t>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(, 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en-US" altLang="zh-CN" dirty="0"/>
                        <a:t>S’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en-US" altLang="zh-CN" dirty="0"/>
                        <a:t>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(, 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398448">
                <a:tc>
                  <a:txBody>
                    <a:bodyPr/>
                    <a:lstStyle/>
                    <a:p>
                      <a:r>
                        <a:rPr lang="en-US" altLang="zh-CN" dirty="0"/>
                        <a:t>T’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2998"/>
                  </a:ext>
                </a:extLst>
              </a:tr>
            </a:tbl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40D36D-A8B4-418B-8FC5-8887524C0B16}"/>
              </a:ext>
            </a:extLst>
          </p:cNvPr>
          <p:cNvSpPr/>
          <p:nvPr/>
        </p:nvSpPr>
        <p:spPr bwMode="auto">
          <a:xfrm>
            <a:off x="5307865" y="2924944"/>
            <a:ext cx="1296144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F8DCC5-9FF8-43B2-9DFE-BBEF8AF23B0E}"/>
              </a:ext>
            </a:extLst>
          </p:cNvPr>
          <p:cNvSpPr/>
          <p:nvPr/>
        </p:nvSpPr>
        <p:spPr bwMode="auto">
          <a:xfrm>
            <a:off x="5275772" y="3501008"/>
            <a:ext cx="1296144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FB03AFB-1DAB-4405-8C47-58919CCE4EDE}"/>
              </a:ext>
            </a:extLst>
          </p:cNvPr>
          <p:cNvSpPr/>
          <p:nvPr/>
        </p:nvSpPr>
        <p:spPr bwMode="auto">
          <a:xfrm>
            <a:off x="5307865" y="4077072"/>
            <a:ext cx="1296144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3F4AE9A-7A26-483B-B1D5-3FD94AE25997}"/>
              </a:ext>
            </a:extLst>
          </p:cNvPr>
          <p:cNvSpPr/>
          <p:nvPr/>
        </p:nvSpPr>
        <p:spPr bwMode="auto">
          <a:xfrm>
            <a:off x="5249496" y="4569107"/>
            <a:ext cx="1494576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7B9BB75-06A5-4141-B1C2-8AEB92B6D2E0}"/>
              </a:ext>
            </a:extLst>
          </p:cNvPr>
          <p:cNvSpPr/>
          <p:nvPr/>
        </p:nvSpPr>
        <p:spPr bwMode="auto">
          <a:xfrm>
            <a:off x="5231904" y="5109167"/>
            <a:ext cx="1656184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6787E8B-C86C-4FEA-B438-FDC1A4A109DD}"/>
              </a:ext>
            </a:extLst>
          </p:cNvPr>
          <p:cNvSpPr/>
          <p:nvPr/>
        </p:nvSpPr>
        <p:spPr bwMode="auto">
          <a:xfrm>
            <a:off x="5274207" y="5649227"/>
            <a:ext cx="1296144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2530151-634B-4C63-8C67-C53A1F1FB259}"/>
              </a:ext>
            </a:extLst>
          </p:cNvPr>
          <p:cNvSpPr/>
          <p:nvPr/>
        </p:nvSpPr>
        <p:spPr bwMode="auto">
          <a:xfrm>
            <a:off x="5159896" y="6189287"/>
            <a:ext cx="1728192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B9A23B9-B4E7-46A3-B642-06B7748C7633}"/>
              </a:ext>
            </a:extLst>
          </p:cNvPr>
          <p:cNvSpPr/>
          <p:nvPr/>
        </p:nvSpPr>
        <p:spPr bwMode="auto">
          <a:xfrm>
            <a:off x="7494381" y="5088648"/>
            <a:ext cx="1553947" cy="360040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9576" y="228720"/>
                <a:ext cx="2232248" cy="1912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en-US" altLang="zh-CN" sz="2000" dirty="0"/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9576" y="228720"/>
                <a:ext cx="2232248" cy="1912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2301758B-1545-4C25-8C5F-B972AAA66ACC}"/>
              </a:ext>
            </a:extLst>
          </p:cNvPr>
          <p:cNvSpPr/>
          <p:nvPr/>
        </p:nvSpPr>
        <p:spPr bwMode="auto">
          <a:xfrm>
            <a:off x="4583833" y="124086"/>
            <a:ext cx="2016057" cy="208007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9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9636959"/>
                  </p:ext>
                </p:extLst>
              </p:nvPr>
            </p:nvGraphicFramePr>
            <p:xfrm>
              <a:off x="2423592" y="1887956"/>
              <a:ext cx="7560840" cy="478140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370049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8247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80831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0559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77540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pPr marL="0" indent="0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8248">
                    <a:tc>
                      <a:txBody>
                        <a:bodyPr/>
                        <a:lstStyle/>
                        <a:p>
                          <a:pPr marL="0" indent="0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l-GR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122413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l-GR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9636959"/>
                  </p:ext>
                </p:extLst>
              </p:nvPr>
            </p:nvGraphicFramePr>
            <p:xfrm>
              <a:off x="2423592" y="1887956"/>
              <a:ext cx="7560840" cy="478140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2370049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82479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80831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0559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77540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55118" r="-219537" b="-4677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20000"/>
                            </a:lnSpc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237349" r="-219537" b="-6156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4658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363636" r="-219537" b="-5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82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549231" r="-219537" b="-56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122413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209950" r="-219537" b="-835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655789" r="-219537" b="-7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4320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257" t="-1011268" r="-219537" b="-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A2A3467-4E2A-4E1D-8E4F-B993FC11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520817"/>
              </p:ext>
            </p:extLst>
          </p:nvPr>
        </p:nvGraphicFramePr>
        <p:xfrm>
          <a:off x="4773754" y="107790"/>
          <a:ext cx="401264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023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466262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275399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First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Follow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(, 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$, 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S’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+, </a:t>
                      </a:r>
                      <a:r>
                        <a:rPr lang="el-GR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$, 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(, 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T’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</a:t>
                      </a:r>
                      <a:r>
                        <a:rPr lang="el-GR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5135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D32EA12-DED3-4F4D-880D-D22C7236CD12}"/>
              </a:ext>
            </a:extLst>
          </p:cNvPr>
          <p:cNvSpPr/>
          <p:nvPr/>
        </p:nvSpPr>
        <p:spPr bwMode="auto">
          <a:xfrm>
            <a:off x="7320136" y="64658"/>
            <a:ext cx="1728192" cy="178016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b="1"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9938C17-5552-443E-8BB4-F1934575A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9996" y="266244"/>
                <a:ext cx="1944216" cy="137699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000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→+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l-GR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2000" kern="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sSup>
                      <m:sSupPr>
                        <m:ctrlP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kern="0" dirty="0">
                    <a:ea typeface="Cambria Math" panose="02040503050406030204" pitchFamily="18" charset="0"/>
                  </a:rPr>
                  <a:t>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→,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𝑺𝑻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′|</m:t>
                    </m:r>
                    <m:r>
                      <a:rPr lang="el-GR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9938C17-5552-443E-8BB4-F1934575A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9996" y="266244"/>
                <a:ext cx="1944216" cy="13769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9F3E70EA-E5B8-42BF-957F-87F3603C6BA5}"/>
              </a:ext>
            </a:extLst>
          </p:cNvPr>
          <p:cNvSpPr/>
          <p:nvPr/>
        </p:nvSpPr>
        <p:spPr bwMode="auto">
          <a:xfrm>
            <a:off x="5159896" y="2348880"/>
            <a:ext cx="122413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(S)={$} </a:t>
            </a:r>
          </a:p>
          <a:p>
            <a:endParaRPr lang="zh-CN" altLang="en-US" b="1" dirty="0">
              <a:ea typeface="黑体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FA4793-BFCD-4D52-853B-4980E2F823B3}"/>
              </a:ext>
            </a:extLst>
          </p:cNvPr>
          <p:cNvSpPr/>
          <p:nvPr/>
        </p:nvSpPr>
        <p:spPr bwMode="auto">
          <a:xfrm>
            <a:off x="5159896" y="2708920"/>
            <a:ext cx="122413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(T)={)} </a:t>
            </a:r>
          </a:p>
          <a:p>
            <a:endParaRPr lang="zh-CN" altLang="en-US" b="1" dirty="0">
              <a:ea typeface="黑体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F60CC8-3034-4897-B585-7784D1A45FEA}"/>
              </a:ext>
            </a:extLst>
          </p:cNvPr>
          <p:cNvSpPr/>
          <p:nvPr/>
        </p:nvSpPr>
        <p:spPr bwMode="auto">
          <a:xfrm>
            <a:off x="5051884" y="3140968"/>
            <a:ext cx="183620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(S’)&lt;=</a:t>
            </a: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zh-CN" altLang="zh-CN" b="1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792A9D-4C0F-4D2F-B8EE-6FB7F664FD7E}"/>
              </a:ext>
            </a:extLst>
          </p:cNvPr>
          <p:cNvSpPr/>
          <p:nvPr/>
        </p:nvSpPr>
        <p:spPr bwMode="auto">
          <a:xfrm>
            <a:off x="5051884" y="3645024"/>
            <a:ext cx="183620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(S)&lt;=</a:t>
            </a: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(S’)</a:t>
            </a:r>
            <a:endParaRPr lang="zh-CN" altLang="zh-CN" b="1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2584B-FC0B-4EE7-86F2-FA7F966A15A0}"/>
              </a:ext>
            </a:extLst>
          </p:cNvPr>
          <p:cNvSpPr/>
          <p:nvPr/>
        </p:nvSpPr>
        <p:spPr bwMode="auto">
          <a:xfrm>
            <a:off x="5051884" y="4509120"/>
            <a:ext cx="1908212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(S)={$, </a:t>
            </a:r>
            <a:r>
              <a:rPr lang="zh-CN" altLang="en-US" b="1" kern="1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6CCBE3-D618-43B3-A943-2D2DA62EEBFF}"/>
              </a:ext>
            </a:extLst>
          </p:cNvPr>
          <p:cNvSpPr/>
          <p:nvPr/>
        </p:nvSpPr>
        <p:spPr bwMode="auto">
          <a:xfrm>
            <a:off x="5051884" y="4869160"/>
            <a:ext cx="176419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(T’)&lt;=</a:t>
            </a: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endParaRPr lang="zh-CN" altLang="zh-CN" b="1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CDE3AA-135C-4974-AB16-60AE1C208EB5}"/>
              </a:ext>
            </a:extLst>
          </p:cNvPr>
          <p:cNvSpPr/>
          <p:nvPr/>
        </p:nvSpPr>
        <p:spPr bwMode="auto">
          <a:xfrm>
            <a:off x="5051884" y="5229200"/>
            <a:ext cx="176419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(S)&lt;=</a:t>
            </a: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endParaRPr lang="zh-CN" altLang="zh-CN" b="1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5CDCB9-4A85-4AE8-8BDF-3DBEB35AF3CD}"/>
              </a:ext>
            </a:extLst>
          </p:cNvPr>
          <p:cNvSpPr/>
          <p:nvPr/>
        </p:nvSpPr>
        <p:spPr bwMode="auto">
          <a:xfrm>
            <a:off x="5051884" y="5742505"/>
            <a:ext cx="183620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(S)&lt;=</a:t>
            </a:r>
            <a:r>
              <a:rPr lang="en-US" altLang="zh-CN" b="1" kern="1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(T’)</a:t>
            </a:r>
            <a:endParaRPr lang="zh-CN" altLang="zh-CN" b="1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4C7CC2-D531-42CD-96FF-BCFF9A6BAAD6}"/>
              </a:ext>
            </a:extLst>
          </p:cNvPr>
          <p:cNvSpPr/>
          <p:nvPr/>
        </p:nvSpPr>
        <p:spPr bwMode="auto">
          <a:xfrm>
            <a:off x="7536160" y="2524807"/>
            <a:ext cx="1872208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(S)={$, </a:t>
            </a:r>
            <a:r>
              <a:rPr lang="zh-CN" altLang="en-US" b="1" kern="1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, )} </a:t>
            </a:r>
          </a:p>
          <a:p>
            <a:endParaRPr lang="zh-CN" altLang="en-US" b="1" dirty="0">
              <a:ea typeface="黑体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F9BA05-186D-4445-A3E8-268D352FB5F2}"/>
              </a:ext>
            </a:extLst>
          </p:cNvPr>
          <p:cNvSpPr/>
          <p:nvPr/>
        </p:nvSpPr>
        <p:spPr bwMode="auto">
          <a:xfrm>
            <a:off x="7536160" y="3161658"/>
            <a:ext cx="1872208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(S’)={$, </a:t>
            </a:r>
            <a:r>
              <a:rPr lang="zh-CN" altLang="en-US" b="1" kern="1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, )} </a:t>
            </a:r>
          </a:p>
          <a:p>
            <a:endParaRPr lang="zh-CN" altLang="en-US" b="1" dirty="0">
              <a:ea typeface="黑体" pitchFamily="2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E1B424C-6F66-4358-AB14-FAA327D98CCA}"/>
              </a:ext>
            </a:extLst>
          </p:cNvPr>
          <p:cNvSpPr/>
          <p:nvPr/>
        </p:nvSpPr>
        <p:spPr bwMode="auto">
          <a:xfrm>
            <a:off x="7562262" y="5038451"/>
            <a:ext cx="122413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kern="100" dirty="0" err="1">
                <a:latin typeface="Arial" panose="020B0604020202020204" pitchFamily="34" charset="0"/>
                <a:cs typeface="Arial" panose="020B0604020202020204" pitchFamily="34" charset="0"/>
              </a:rPr>
              <a:t>fw</a:t>
            </a:r>
            <a:r>
              <a:rPr lang="en-US" altLang="zh-CN" b="1" kern="100" dirty="0">
                <a:latin typeface="Arial" panose="020B0604020202020204" pitchFamily="34" charset="0"/>
                <a:cs typeface="Arial" panose="020B0604020202020204" pitchFamily="34" charset="0"/>
              </a:rPr>
              <a:t>(T’)={)} </a:t>
            </a:r>
          </a:p>
          <a:p>
            <a:endParaRPr lang="zh-CN" altLang="en-US" b="1" dirty="0"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45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A2A3467-4E2A-4E1D-8E4F-B993FC11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962118"/>
              </p:ext>
            </p:extLst>
          </p:nvPr>
        </p:nvGraphicFramePr>
        <p:xfrm>
          <a:off x="5231905" y="692696"/>
          <a:ext cx="401264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023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466262">
                  <a:extLst>
                    <a:ext uri="{9D8B030D-6E8A-4147-A177-3AD203B41FA5}">
                      <a16:colId xmlns:a16="http://schemas.microsoft.com/office/drawing/2014/main" val="2756075955"/>
                    </a:ext>
                  </a:extLst>
                </a:gridCol>
              </a:tblGrid>
              <a:tr h="275399"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First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Follow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(, 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$, 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S’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+, </a:t>
                      </a:r>
                      <a:r>
                        <a:rPr lang="el-GR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$, 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(, 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275399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T’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, </a:t>
                      </a:r>
                      <a:r>
                        <a:rPr lang="el-GR" altLang="zh-CN" sz="16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513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9938C17-5552-443E-8BB4-F1934575AC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9576" y="908720"/>
                <a:ext cx="1944216" cy="137699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2000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→+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l-GR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2000" kern="0" dirty="0">
                    <a:ea typeface="Cambria Math" panose="020405030504060302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sSup>
                      <m:sSupPr>
                        <m:ctrlP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p>
                        <m:r>
                          <a: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i="1" kern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→,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𝑺𝑻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′|</m:t>
                      </m:r>
                      <m:r>
                        <a:rPr lang="el-GR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kern="0" dirty="0">
                  <a:ea typeface="Cambria Math" panose="02040503050406030204" pitchFamily="18" charset="0"/>
                </a:endParaRPr>
              </a:p>
              <a:p>
                <a:pPr marL="0" indent="0" algn="ctr" eaLnBrk="1" hangingPunct="1"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9938C17-5552-443E-8BB4-F1934575A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9576" y="908720"/>
                <a:ext cx="1944216" cy="13769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CCF22550-6596-4B2D-B269-6423D03F39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853567"/>
                  </p:ext>
                </p:extLst>
              </p:nvPr>
            </p:nvGraphicFramePr>
            <p:xfrm>
              <a:off x="1955540" y="2924944"/>
              <a:ext cx="8280920" cy="2736304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42325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26090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289651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75013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55557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9276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66297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CCF22550-6596-4B2D-B269-6423D03F39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9853567"/>
                  </p:ext>
                </p:extLst>
              </p:nvPr>
            </p:nvGraphicFramePr>
            <p:xfrm>
              <a:off x="1955540" y="2924944"/>
              <a:ext cx="8280920" cy="2736304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42325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26090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289651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75013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55557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9276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66297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8624" t="-234862" r="-476606" b="-880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235DD0-1E95-4A6B-AA63-631956E52405}"/>
                  </a:ext>
                </a:extLst>
              </p:cNvPr>
              <p:cNvSpPr/>
              <p:nvPr/>
            </p:nvSpPr>
            <p:spPr bwMode="auto">
              <a:xfrm>
                <a:off x="2711624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235DD0-1E95-4A6B-AA63-631956E52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624" y="3356992"/>
                <a:ext cx="1224136" cy="360040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C91C541-2898-4393-ACC3-FA16A27514D6}"/>
                  </a:ext>
                </a:extLst>
              </p:cNvPr>
              <p:cNvSpPr/>
              <p:nvPr/>
            </p:nvSpPr>
            <p:spPr bwMode="auto">
              <a:xfrm>
                <a:off x="6528048" y="337508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C91C541-2898-4393-ACC3-FA16A2751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8048" y="3375082"/>
                <a:ext cx="1224136" cy="360040"/>
              </a:xfrm>
              <a:prstGeom prst="rect">
                <a:avLst/>
              </a:prstGeom>
              <a:blipFill>
                <a:blip r:embed="rId5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5BC09E2-8FBB-4938-A2D1-597BED27584C}"/>
                  </a:ext>
                </a:extLst>
              </p:cNvPr>
              <p:cNvSpPr/>
              <p:nvPr/>
            </p:nvSpPr>
            <p:spPr bwMode="auto">
              <a:xfrm>
                <a:off x="5087888" y="3954699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5BC09E2-8FBB-4938-A2D1-597BED275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888" y="3954699"/>
                <a:ext cx="1224136" cy="360040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E266F2E-1F05-4FFD-A4B5-B21391AE6772}"/>
                  </a:ext>
                </a:extLst>
              </p:cNvPr>
              <p:cNvSpPr/>
              <p:nvPr/>
            </p:nvSpPr>
            <p:spPr bwMode="auto">
              <a:xfrm>
                <a:off x="3935760" y="3912840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E266F2E-1F05-4FFD-A4B5-B21391AE6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5760" y="3912840"/>
                <a:ext cx="1224136" cy="360040"/>
              </a:xfrm>
              <a:prstGeom prst="rect">
                <a:avLst/>
              </a:prstGeom>
              <a:blipFill>
                <a:blip r:embed="rId7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365AF01-A4A5-45D9-80C0-45BE194E39AD}"/>
                  </a:ext>
                </a:extLst>
              </p:cNvPr>
              <p:cNvSpPr/>
              <p:nvPr/>
            </p:nvSpPr>
            <p:spPr bwMode="auto">
              <a:xfrm>
                <a:off x="7824192" y="3933056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365AF01-A4A5-45D9-80C0-45BE194E3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192" y="3933056"/>
                <a:ext cx="1224136" cy="360040"/>
              </a:xfrm>
              <a:prstGeom prst="rect">
                <a:avLst/>
              </a:prstGeom>
              <a:blipFill>
                <a:blip r:embed="rId8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0DEE991-991D-4310-86CC-3A59E5736E64}"/>
                  </a:ext>
                </a:extLst>
              </p:cNvPr>
              <p:cNvSpPr/>
              <p:nvPr/>
            </p:nvSpPr>
            <p:spPr bwMode="auto">
              <a:xfrm>
                <a:off x="9156340" y="3948684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0DEE991-991D-4310-86CC-3A59E5736E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56340" y="3948684"/>
                <a:ext cx="1224136" cy="360040"/>
              </a:xfrm>
              <a:prstGeom prst="rect">
                <a:avLst/>
              </a:prstGeom>
              <a:blipFill>
                <a:blip r:embed="rId9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53BCF10-4C8A-4A99-861E-83778948FB5D}"/>
                  </a:ext>
                </a:extLst>
              </p:cNvPr>
              <p:cNvSpPr/>
              <p:nvPr/>
            </p:nvSpPr>
            <p:spPr bwMode="auto">
              <a:xfrm>
                <a:off x="2711624" y="4607024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53BCF10-4C8A-4A99-861E-83778948F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624" y="4607024"/>
                <a:ext cx="1224136" cy="360040"/>
              </a:xfrm>
              <a:prstGeom prst="rect">
                <a:avLst/>
              </a:prstGeom>
              <a:blipFill>
                <a:blip r:embed="rId10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4D1D5B1-2407-4118-A6D9-879E7E1DC215}"/>
                  </a:ext>
                </a:extLst>
              </p:cNvPr>
              <p:cNvSpPr/>
              <p:nvPr/>
            </p:nvSpPr>
            <p:spPr bwMode="auto">
              <a:xfrm>
                <a:off x="6562906" y="4607024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4D1D5B1-2407-4118-A6D9-879E7E1DC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2906" y="4607024"/>
                <a:ext cx="1224136" cy="360040"/>
              </a:xfrm>
              <a:prstGeom prst="rect">
                <a:avLst/>
              </a:prstGeom>
              <a:blipFill>
                <a:blip r:embed="rId11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19A31D7-2A8F-4208-BAB4-0A6340311DA6}"/>
                  </a:ext>
                </a:extLst>
              </p:cNvPr>
              <p:cNvSpPr/>
              <p:nvPr/>
            </p:nvSpPr>
            <p:spPr bwMode="auto">
              <a:xfrm>
                <a:off x="7824192" y="5189149"/>
                <a:ext cx="1224136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19A31D7-2A8F-4208-BAB4-0A6340311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24192" y="5189149"/>
                <a:ext cx="1224136" cy="349833"/>
              </a:xfrm>
              <a:prstGeom prst="rect">
                <a:avLst/>
              </a:prstGeom>
              <a:blipFill>
                <a:blip r:embed="rId12"/>
                <a:stretch>
                  <a:fillRect b="-862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EB8A1CC-FEDD-4198-ABA6-0FB90121E6BD}"/>
                  </a:ext>
                </a:extLst>
              </p:cNvPr>
              <p:cNvSpPr/>
              <p:nvPr/>
            </p:nvSpPr>
            <p:spPr bwMode="auto">
              <a:xfrm>
                <a:off x="3863752" y="5173080"/>
                <a:ext cx="1224136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EB8A1CC-FEDD-4198-ABA6-0FB90121E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2" y="5173080"/>
                <a:ext cx="1224136" cy="349833"/>
              </a:xfrm>
              <a:prstGeom prst="rect">
                <a:avLst/>
              </a:prstGeom>
              <a:blipFill>
                <a:blip r:embed="rId13"/>
                <a:stretch>
                  <a:fillRect b="-10526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172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E8237993-0D0E-41E6-BB59-8D61D74C25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9030668"/>
                  </p:ext>
                </p:extLst>
              </p:nvPr>
            </p:nvGraphicFramePr>
            <p:xfrm>
              <a:off x="1919536" y="553483"/>
              <a:ext cx="8280920" cy="230425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42325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26090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289651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15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4678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499167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55829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463142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>
                <a:extLst>
                  <a:ext uri="{FF2B5EF4-FFF2-40B4-BE49-F238E27FC236}">
                    <a16:creationId xmlns:a16="http://schemas.microsoft.com/office/drawing/2014/main" id="{E8237993-0D0E-41E6-BB59-8D61D74C25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9030668"/>
                  </p:ext>
                </p:extLst>
              </p:nvPr>
            </p:nvGraphicFramePr>
            <p:xfrm>
              <a:off x="1919536" y="553483"/>
              <a:ext cx="8280920" cy="2304256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42325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26090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357528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289651">
                      <a:extLst>
                        <a:ext uri="{9D8B030D-6E8A-4147-A177-3AD203B41FA5}">
                          <a16:colId xmlns:a16="http://schemas.microsoft.com/office/drawing/2014/main" val="3802688026"/>
                        </a:ext>
                      </a:extLst>
                    </a:gridCol>
                    <a:gridCol w="1153899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1580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(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)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+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,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467856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499167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S’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55829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T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8624" t="-240217" r="-476606" b="-96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463142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T’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9A24CA1-9A45-4CD1-B7DF-FEFCA854EF4A}"/>
                  </a:ext>
                </a:extLst>
              </p:cNvPr>
              <p:cNvSpPr/>
              <p:nvPr/>
            </p:nvSpPr>
            <p:spPr bwMode="auto">
              <a:xfrm>
                <a:off x="2675620" y="913523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</m:d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A9A24CA1-9A45-4CD1-B7DF-FEFCA854E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5620" y="913523"/>
                <a:ext cx="1224136" cy="303192"/>
              </a:xfrm>
              <a:prstGeom prst="rect">
                <a:avLst/>
              </a:prstGeom>
              <a:blipFill>
                <a:blip r:embed="rId3"/>
                <a:stretch>
                  <a:fillRect b="-26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A1E67D5-156F-478F-8F89-44C263B4F9AE}"/>
                  </a:ext>
                </a:extLst>
              </p:cNvPr>
              <p:cNvSpPr/>
              <p:nvPr/>
            </p:nvSpPr>
            <p:spPr bwMode="auto">
              <a:xfrm>
                <a:off x="6492044" y="931613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A1E67D5-156F-478F-8F89-44C263B4F9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2044" y="931613"/>
                <a:ext cx="1224136" cy="303192"/>
              </a:xfrm>
              <a:prstGeom prst="rect">
                <a:avLst/>
              </a:prstGeom>
              <a:blipFill>
                <a:blip r:embed="rId4"/>
                <a:stretch>
                  <a:fillRect b="-26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80931B7-6634-47D8-9E75-627D83C14BAA}"/>
                  </a:ext>
                </a:extLst>
              </p:cNvPr>
              <p:cNvSpPr/>
              <p:nvPr/>
            </p:nvSpPr>
            <p:spPr bwMode="auto">
              <a:xfrm>
                <a:off x="5051884" y="1387430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80931B7-6634-47D8-9E75-627D83C14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1884" y="1387430"/>
                <a:ext cx="1224136" cy="303192"/>
              </a:xfrm>
              <a:prstGeom prst="rect">
                <a:avLst/>
              </a:prstGeom>
              <a:blipFill>
                <a:blip r:embed="rId5"/>
                <a:stretch>
                  <a:fillRect b="-2857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6BFC185-D903-4184-84AF-360BAF1C17AF}"/>
                  </a:ext>
                </a:extLst>
              </p:cNvPr>
              <p:cNvSpPr/>
              <p:nvPr/>
            </p:nvSpPr>
            <p:spPr bwMode="auto">
              <a:xfrm>
                <a:off x="3899756" y="1345571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6BFC185-D903-4184-84AF-360BAF1C1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9756" y="1345571"/>
                <a:ext cx="1224136" cy="303192"/>
              </a:xfrm>
              <a:prstGeom prst="rect">
                <a:avLst/>
              </a:prstGeom>
              <a:blipFill>
                <a:blip r:embed="rId6"/>
                <a:stretch>
                  <a:fillRect b="-2857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0EFAD1B-7D8F-405E-B26C-CA751BF05E4C}"/>
                  </a:ext>
                </a:extLst>
              </p:cNvPr>
              <p:cNvSpPr/>
              <p:nvPr/>
            </p:nvSpPr>
            <p:spPr bwMode="auto">
              <a:xfrm>
                <a:off x="7788188" y="1365787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0EFAD1B-7D8F-405E-B26C-CA751BF05E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8188" y="1365787"/>
                <a:ext cx="1224136" cy="303192"/>
              </a:xfrm>
              <a:prstGeom prst="rect">
                <a:avLst/>
              </a:prstGeom>
              <a:blipFill>
                <a:blip r:embed="rId7"/>
                <a:stretch>
                  <a:fillRect b="-26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0578D93-4F23-4EE6-ADEB-6317C8EC7FA1}"/>
                  </a:ext>
                </a:extLst>
              </p:cNvPr>
              <p:cNvSpPr/>
              <p:nvPr/>
            </p:nvSpPr>
            <p:spPr bwMode="auto">
              <a:xfrm>
                <a:off x="9120336" y="1381415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0578D93-4F23-4EE6-ADEB-6317C8EC7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20336" y="1381415"/>
                <a:ext cx="1224136" cy="303192"/>
              </a:xfrm>
              <a:prstGeom prst="rect">
                <a:avLst/>
              </a:prstGeom>
              <a:blipFill>
                <a:blip r:embed="rId8"/>
                <a:stretch>
                  <a:fillRect b="-2857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A0878E0-DD31-456A-AC10-6512AAB1C740}"/>
                  </a:ext>
                </a:extLst>
              </p:cNvPr>
              <p:cNvSpPr/>
              <p:nvPr/>
            </p:nvSpPr>
            <p:spPr bwMode="auto">
              <a:xfrm>
                <a:off x="2675620" y="1993643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A0878E0-DD31-456A-AC10-6512AAB1C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5620" y="1993643"/>
                <a:ext cx="1224136" cy="303192"/>
              </a:xfrm>
              <a:prstGeom prst="rect">
                <a:avLst/>
              </a:prstGeom>
              <a:blipFill>
                <a:blip r:embed="rId9"/>
                <a:stretch>
                  <a:fillRect b="-26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6E276D57-C365-44E6-B843-C9D9B2DC844E}"/>
                  </a:ext>
                </a:extLst>
              </p:cNvPr>
              <p:cNvSpPr/>
              <p:nvPr/>
            </p:nvSpPr>
            <p:spPr bwMode="auto">
              <a:xfrm>
                <a:off x="6526902" y="1993643"/>
                <a:ext cx="1224136" cy="303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 kern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 kern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6E276D57-C365-44E6-B843-C9D9B2DC8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6902" y="1993643"/>
                <a:ext cx="1224136" cy="303192"/>
              </a:xfrm>
              <a:prstGeom prst="rect">
                <a:avLst/>
              </a:prstGeom>
              <a:blipFill>
                <a:blip r:embed="rId10"/>
                <a:stretch>
                  <a:fillRect b="-26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B65521E9-2688-4BAA-9CCE-7761D512CD03}"/>
                  </a:ext>
                </a:extLst>
              </p:cNvPr>
              <p:cNvSpPr/>
              <p:nvPr/>
            </p:nvSpPr>
            <p:spPr bwMode="auto">
              <a:xfrm>
                <a:off x="7788188" y="2491135"/>
                <a:ext cx="1224136" cy="29459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B65521E9-2688-4BAA-9CCE-7761D512C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8188" y="2491135"/>
                <a:ext cx="1224136" cy="294596"/>
              </a:xfrm>
              <a:prstGeom prst="rect">
                <a:avLst/>
              </a:prstGeom>
              <a:blipFill>
                <a:blip r:embed="rId11"/>
                <a:stretch>
                  <a:fillRect b="-3125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8F34CE9-C238-4EB3-A6BE-04AEF670AD35}"/>
                  </a:ext>
                </a:extLst>
              </p:cNvPr>
              <p:cNvSpPr/>
              <p:nvPr/>
            </p:nvSpPr>
            <p:spPr bwMode="auto">
              <a:xfrm>
                <a:off x="3827748" y="2475066"/>
                <a:ext cx="1224136" cy="29459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8F34CE9-C238-4EB3-A6BE-04AEF670AD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7748" y="2475066"/>
                <a:ext cx="1224136" cy="294596"/>
              </a:xfrm>
              <a:prstGeom prst="rect">
                <a:avLst/>
              </a:prstGeom>
              <a:blipFill>
                <a:blip r:embed="rId12"/>
                <a:stretch>
                  <a:fillRect b="-3125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Group 183">
                <a:extLst>
                  <a:ext uri="{FF2B5EF4-FFF2-40B4-BE49-F238E27FC236}">
                    <a16:creationId xmlns:a16="http://schemas.microsoft.com/office/drawing/2014/main" id="{7779E4BA-953F-4C3C-AAEE-C81770B4116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3799407"/>
                  </p:ext>
                </p:extLst>
              </p:nvPr>
            </p:nvGraphicFramePr>
            <p:xfrm>
              <a:off x="1938564" y="3217779"/>
              <a:ext cx="3941413" cy="2926080"/>
            </p:xfrm>
            <a:graphic>
              <a:graphicData uri="http://schemas.openxmlformats.org/drawingml/2006/table">
                <a:tbl>
                  <a:tblPr/>
                  <a:tblGrid>
                    <a:gridCol w="5157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1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9814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d>
                                  <m:dPr>
                                    <m:ctrlP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)T(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altLang="zh-CN" sz="1800" b="1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1800" b="1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1800" b="1" i="1" kern="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kern="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1800" b="1" i="1" kern="0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29814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kumimoji="0" lang="en-US" altLang="zh-CN" sz="18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</a:t>
                          </a:r>
                          <a:r>
                            <a:rPr kumimoji="0" lang="en-US" altLang="zh-CN" sz="18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S’a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$)T’S’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1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1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28926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→,</m:t>
                                </m:r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sSup>
                                  <m:sSup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733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Group 183">
                <a:extLst>
                  <a:ext uri="{FF2B5EF4-FFF2-40B4-BE49-F238E27FC236}">
                    <a16:creationId xmlns:a16="http://schemas.microsoft.com/office/drawing/2014/main" id="{7779E4BA-953F-4C3C-AAEE-C81770B4116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603799407"/>
                  </p:ext>
                </p:extLst>
              </p:nvPr>
            </p:nvGraphicFramePr>
            <p:xfrm>
              <a:off x="1938564" y="3217779"/>
              <a:ext cx="3941413" cy="2926080"/>
            </p:xfrm>
            <a:graphic>
              <a:graphicData uri="http://schemas.openxmlformats.org/drawingml/2006/table">
                <a:tbl>
                  <a:tblPr/>
                  <a:tblGrid>
                    <a:gridCol w="5157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1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3"/>
                          <a:stretch>
                            <a:fillRect l="-222886" t="-108333" r="-995" b="-6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)T(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3"/>
                          <a:stretch>
                            <a:fillRect l="-222886" t="-303279" r="-995" b="-4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3"/>
                          <a:stretch>
                            <a:fillRect l="-222886" t="-410000" r="-995" b="-3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kumimoji="0" lang="en-US" altLang="zh-CN" sz="18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</a:t>
                          </a:r>
                          <a:r>
                            <a:rPr kumimoji="0" lang="en-US" altLang="zh-CN" sz="1800" b="1" i="0" u="none" strike="noStrike" kern="1200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S’a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a,a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$)T’S’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3"/>
                          <a:stretch>
                            <a:fillRect l="-222886" t="-610000" r="-995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7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3"/>
                          <a:stretch>
                            <a:fillRect l="-222886" t="-710000" r="-995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7335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Group 183">
                <a:extLst>
                  <a:ext uri="{FF2B5EF4-FFF2-40B4-BE49-F238E27FC236}">
                    <a16:creationId xmlns:a16="http://schemas.microsoft.com/office/drawing/2014/main" id="{4D6C7BD0-46E3-4149-BBFE-DF0C0C55D33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4385867"/>
                  </p:ext>
                </p:extLst>
              </p:nvPr>
            </p:nvGraphicFramePr>
            <p:xfrm>
              <a:off x="6247212" y="3212388"/>
              <a:ext cx="3941413" cy="3014695"/>
            </p:xfrm>
            <a:graphic>
              <a:graphicData uri="http://schemas.openxmlformats.org/drawingml/2006/table">
                <a:tbl>
                  <a:tblPr/>
                  <a:tblGrid>
                    <a:gridCol w="5157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1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475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475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T’S,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,a)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257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sSup>
                                  <m:sSupPr>
                                    <m:ctrlPr>
                                      <a:rPr lang="en-US" altLang="zh-CN" sz="1800" b="1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1800" b="1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609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S’a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18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match</m:t>
                                </m:r>
                              </m:oMath>
                            </m:oMathPara>
                          </a14:m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609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p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18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257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)T’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p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18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475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altLang="zh-CN" sz="1800" b="1" i="0" u="none" strike="noStrike" kern="1200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match</m:t>
                                </m:r>
                              </m:oMath>
                            </m:oMathPara>
                          </a14:m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latin typeface="+mn-lt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80069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accept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7335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Group 183">
                <a:extLst>
                  <a:ext uri="{FF2B5EF4-FFF2-40B4-BE49-F238E27FC236}">
                    <a16:creationId xmlns:a16="http://schemas.microsoft.com/office/drawing/2014/main" id="{4D6C7BD0-46E3-4149-BBFE-DF0C0C55D33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354385867"/>
                  </p:ext>
                </p:extLst>
              </p:nvPr>
            </p:nvGraphicFramePr>
            <p:xfrm>
              <a:off x="6247212" y="3212388"/>
              <a:ext cx="3941413" cy="3014695"/>
            </p:xfrm>
            <a:graphic>
              <a:graphicData uri="http://schemas.openxmlformats.org/drawingml/2006/table">
                <a:tbl>
                  <a:tblPr/>
                  <a:tblGrid>
                    <a:gridCol w="51571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2144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41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T’S,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,a)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match</a:t>
                          </a:r>
                          <a:endParaRPr lang="zh-CN" altLang="zh-CN" sz="18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257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9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$)T’S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 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4"/>
                          <a:stretch>
                            <a:fillRect l="-223383" t="-198413" r="-995" b="-517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609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</a:t>
                          </a:r>
                          <a:r>
                            <a:rPr kumimoji="0" lang="en-US" altLang="zh-CN" sz="1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S’a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4"/>
                          <a:stretch>
                            <a:fillRect l="-223383" t="-293750" r="-995" b="-40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6095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T’S’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4"/>
                          <a:stretch>
                            <a:fillRect l="-223383" t="-400000" r="-995" b="-3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2578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)T’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4"/>
                          <a:stretch>
                            <a:fillRect l="-223383" t="-500000" r="-995" b="-2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$)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)$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14"/>
                          <a:stretch>
                            <a:fillRect l="-223383" t="-630000" r="-995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80069"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14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1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accept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7335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771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23298-5E98-4AA5-8356-4E661E63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610E63-64D8-43FB-A1C1-21061B50D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为下面的文法建立</a:t>
                </a:r>
                <a:r>
                  <a:rPr lang="en-US" altLang="zh-CN" dirty="0"/>
                  <a:t>LL(1)</a:t>
                </a:r>
                <a:r>
                  <a:rPr lang="zh-CN" altLang="en-US" dirty="0"/>
                  <a:t>分析表并分析串</a:t>
                </a:r>
                <a:r>
                  <a:rPr lang="en-US" altLang="zh-CN" dirty="0" err="1"/>
                  <a:t>ce</a:t>
                </a:r>
                <a:r>
                  <a:rPr lang="zh-CN" altLang="en-US" dirty="0"/>
                  <a:t>是否是该文法可以识别的串</a:t>
                </a:r>
                <a:r>
                  <a:rPr lang="en-US" altLang="zh-CN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𝑪𝒂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b="1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610E63-64D8-43FB-A1C1-21061B50D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38890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6216142"/>
                  </p:ext>
                </p:extLst>
              </p:nvPr>
            </p:nvGraphicFramePr>
            <p:xfrm>
              <a:off x="3683732" y="260648"/>
              <a:ext cx="6776658" cy="6246332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98022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49218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29614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13501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𝑪𝑫𝒆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/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𝒂𝑪𝒂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indent="0" eaLnBrk="1" hangingPunct="1">
                            <a:spcBef>
                              <a:spcPts val="0"/>
                            </a:spcBef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l-GR" altLang="zh-CN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𝒃𝑫𝒃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6714408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524468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dirty="0"/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189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26216142"/>
                  </p:ext>
                </p:extLst>
              </p:nvPr>
            </p:nvGraphicFramePr>
            <p:xfrm>
              <a:off x="3683732" y="260648"/>
              <a:ext cx="6776658" cy="6246332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98022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49218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29614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33803" r="-243077" b="-349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13501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28378" r="-243077" b="-2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/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780000" r="-243077" b="-7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880000" r="-243077" b="-6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29045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980000" r="-243077" b="-5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080000" r="-243077" b="-4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3062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180000" r="-243077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858922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280000" r="-243077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6714408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380000" r="-243077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524468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1480000" r="-24307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51898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A2A3467-4E2A-4E1D-8E4F-B993FC11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921488"/>
              </p:ext>
            </p:extLst>
          </p:nvPr>
        </p:nvGraphicFramePr>
        <p:xfrm>
          <a:off x="1731610" y="2764116"/>
          <a:ext cx="184411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636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306474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S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altLang="zh-CN" i="0" dirty="0" err="1"/>
                        <a:t>a,b,c,d,e</a:t>
                      </a:r>
                      <a:endParaRPr lang="zh-CN" altLang="en-US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A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B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C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2998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D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175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1610" y="443856"/>
                <a:ext cx="1844110" cy="1912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zh-CN" altLang="en-US" sz="2000" dirty="0"/>
              </a:p>
              <a:p>
                <a:pPr marL="0" indent="0" eaLnBrk="1" hangingPunct="1"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1610" y="443856"/>
                <a:ext cx="1844110" cy="1912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1219AECE-8DD4-4407-997A-AFF6DD5FDD22}"/>
              </a:ext>
            </a:extLst>
          </p:cNvPr>
          <p:cNvSpPr/>
          <p:nvPr/>
        </p:nvSpPr>
        <p:spPr bwMode="auto">
          <a:xfrm>
            <a:off x="6168008" y="712380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ft(S)&lt;=ft(A)</a:t>
            </a:r>
            <a:endParaRPr lang="zh-CN" altLang="zh-CN" sz="2000" b="1" kern="1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7B07C3-D4ED-4A0E-9DDA-6C3F0894985F}"/>
              </a:ext>
            </a:extLst>
          </p:cNvPr>
          <p:cNvSpPr/>
          <p:nvPr/>
        </p:nvSpPr>
        <p:spPr bwMode="auto">
          <a:xfrm>
            <a:off x="6159867" y="1134586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ft(S)&lt;=ft(B)</a:t>
            </a:r>
            <a:endParaRPr lang="zh-CN" altLang="zh-CN" sz="2000" b="1" kern="1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7ABDB3-341E-44A5-9EA6-B276C0A4671D}"/>
              </a:ext>
            </a:extLst>
          </p:cNvPr>
          <p:cNvSpPr/>
          <p:nvPr/>
        </p:nvSpPr>
        <p:spPr bwMode="auto">
          <a:xfrm>
            <a:off x="6168008" y="1998682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ft(S)&lt;=ft(C)</a:t>
            </a:r>
            <a:endParaRPr lang="zh-CN" altLang="zh-CN" sz="2000" b="1" kern="1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752FCD-4B9E-4043-8361-075321380095}"/>
              </a:ext>
            </a:extLst>
          </p:cNvPr>
          <p:cNvSpPr/>
          <p:nvPr/>
        </p:nvSpPr>
        <p:spPr bwMode="auto">
          <a:xfrm>
            <a:off x="6159867" y="2420888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ft(S)&lt;=ft(D)</a:t>
            </a:r>
            <a:endParaRPr lang="zh-CN" altLang="zh-CN" sz="2000" b="1" kern="1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FF7E2C-4A6B-4696-A554-4ED720DDC8D9}"/>
              </a:ext>
            </a:extLst>
          </p:cNvPr>
          <p:cNvSpPr/>
          <p:nvPr/>
        </p:nvSpPr>
        <p:spPr bwMode="auto">
          <a:xfrm>
            <a:off x="6168008" y="3284984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ft(A)={a}</a:t>
            </a:r>
            <a:endParaRPr lang="zh-CN" altLang="zh-CN" sz="2000" b="1" kern="1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1E07B1-93CF-44F5-9618-420E84A0DEF3}"/>
              </a:ext>
            </a:extLst>
          </p:cNvPr>
          <p:cNvSpPr/>
          <p:nvPr/>
        </p:nvSpPr>
        <p:spPr bwMode="auto">
          <a:xfrm>
            <a:off x="6156176" y="3707190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ft(A)={a, 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9A9024-6165-4B68-B49A-1E8DF694A42F}"/>
              </a:ext>
            </a:extLst>
          </p:cNvPr>
          <p:cNvSpPr/>
          <p:nvPr/>
        </p:nvSpPr>
        <p:spPr bwMode="auto">
          <a:xfrm>
            <a:off x="6156176" y="4103758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ft(B)={b}</a:t>
            </a:r>
            <a:endParaRPr lang="zh-CN" altLang="zh-CN" sz="2000" b="1" kern="1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5BE445-E928-4CB3-99AA-C947C7FF32BA}"/>
              </a:ext>
            </a:extLst>
          </p:cNvPr>
          <p:cNvSpPr/>
          <p:nvPr/>
        </p:nvSpPr>
        <p:spPr bwMode="auto">
          <a:xfrm>
            <a:off x="6168008" y="4500326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ft(B)={b, 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CBC1EB-AFBF-4D96-9871-3A01F0BB301C}"/>
              </a:ext>
            </a:extLst>
          </p:cNvPr>
          <p:cNvSpPr/>
          <p:nvPr/>
        </p:nvSpPr>
        <p:spPr bwMode="auto">
          <a:xfrm>
            <a:off x="6168008" y="4876970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ft(C)={c}</a:t>
            </a:r>
            <a:endParaRPr lang="zh-CN" altLang="zh-CN" sz="2000" b="1" kern="1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911C23-6CBE-4CA8-BB6D-C314B900C81F}"/>
              </a:ext>
            </a:extLst>
          </p:cNvPr>
          <p:cNvSpPr/>
          <p:nvPr/>
        </p:nvSpPr>
        <p:spPr bwMode="auto">
          <a:xfrm>
            <a:off x="6168008" y="5299345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ft(C)={c, 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F12A08-86D9-4A69-98E4-D361ECD23081}"/>
              </a:ext>
            </a:extLst>
          </p:cNvPr>
          <p:cNvSpPr/>
          <p:nvPr/>
        </p:nvSpPr>
        <p:spPr bwMode="auto">
          <a:xfrm>
            <a:off x="6173749" y="5659385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ft(D)={d}</a:t>
            </a:r>
            <a:endParaRPr lang="zh-CN" altLang="zh-CN" sz="2000" b="1" kern="1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012E5F7-8CEE-449D-B184-C8D18C068E75}"/>
              </a:ext>
            </a:extLst>
          </p:cNvPr>
          <p:cNvSpPr/>
          <p:nvPr/>
        </p:nvSpPr>
        <p:spPr bwMode="auto">
          <a:xfrm>
            <a:off x="6173749" y="6081760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ft(D)={d, 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2AE705-C168-471D-90C0-7153184CBAC2}"/>
              </a:ext>
            </a:extLst>
          </p:cNvPr>
          <p:cNvSpPr/>
          <p:nvPr/>
        </p:nvSpPr>
        <p:spPr bwMode="auto">
          <a:xfrm>
            <a:off x="6158302" y="2852936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ft(S)={</a:t>
            </a:r>
            <a:r>
              <a:rPr lang="el-GR" altLang="zh-CN" sz="2000" b="1" kern="100" dirty="0"/>
              <a:t>ε </a:t>
            </a:r>
            <a:r>
              <a:rPr lang="en-US" altLang="zh-CN" sz="2000" b="1" kern="100" dirty="0"/>
              <a:t>, e}</a:t>
            </a:r>
            <a:endParaRPr lang="zh-CN" altLang="zh-CN" sz="2000" b="1" kern="1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A53D02-0C17-4EB5-901C-09183587E581}"/>
              </a:ext>
            </a:extLst>
          </p:cNvPr>
          <p:cNvSpPr/>
          <p:nvPr/>
        </p:nvSpPr>
        <p:spPr bwMode="auto">
          <a:xfrm>
            <a:off x="6168008" y="1560359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/>
              <a:t>ft(S)={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0B7338-1E18-4F51-A694-C772AB6C8098}"/>
              </a:ext>
            </a:extLst>
          </p:cNvPr>
          <p:cNvSpPr/>
          <p:nvPr/>
        </p:nvSpPr>
        <p:spPr bwMode="auto">
          <a:xfrm>
            <a:off x="8040216" y="2492273"/>
            <a:ext cx="237626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00" dirty="0"/>
              <a:t>ft(S)={</a:t>
            </a:r>
            <a:r>
              <a:rPr lang="el-GR" altLang="zh-CN" sz="2000" b="1" kern="100" dirty="0"/>
              <a:t>ε</a:t>
            </a:r>
            <a:r>
              <a:rPr lang="en-US" altLang="zh-CN" sz="2000" b="1" kern="100" dirty="0"/>
              <a:t>,</a:t>
            </a:r>
            <a:r>
              <a:rPr lang="en-US" altLang="zh-CN" sz="2000" b="1" kern="100" dirty="0" err="1"/>
              <a:t>a,b,c,d,e</a:t>
            </a:r>
            <a:r>
              <a:rPr lang="en-US" altLang="zh-CN" sz="2000" b="1" kern="100" dirty="0"/>
              <a:t>}</a:t>
            </a:r>
            <a:endParaRPr lang="zh-CN" altLang="zh-CN" sz="2000" b="1" kern="100" dirty="0"/>
          </a:p>
        </p:txBody>
      </p:sp>
    </p:spTree>
    <p:extLst>
      <p:ext uri="{BB962C8B-B14F-4D97-AF65-F5344CB8AC3E}">
        <p14:creationId xmlns:p14="http://schemas.microsoft.com/office/powerpoint/2010/main" val="341879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67659214"/>
                  </p:ext>
                </p:extLst>
              </p:nvPr>
            </p:nvGraphicFramePr>
            <p:xfrm>
              <a:off x="2783632" y="2498978"/>
              <a:ext cx="6776658" cy="388834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98022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49218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728192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𝑨𝑩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936104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𝑪𝑫𝒆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/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𝒂𝑪𝒂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𝒃𝑫𝒃</m:t>
                                </m:r>
                              </m:oMath>
                            </m:oMathPara>
                          </a14:m>
                          <a:endParaRPr lang="en-US" altLang="zh-CN" sz="2000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3">
                <a:extLst>
                  <a:ext uri="{FF2B5EF4-FFF2-40B4-BE49-F238E27FC236}">
                    <a16:creationId xmlns:a16="http://schemas.microsoft.com/office/drawing/2014/main" id="{AFBE0D37-C892-46BB-BCAC-C29E62E594C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467659214"/>
                  </p:ext>
                </p:extLst>
              </p:nvPr>
            </p:nvGraphicFramePr>
            <p:xfrm>
              <a:off x="2783632" y="2498978"/>
              <a:ext cx="6776658" cy="388834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1980220">
                      <a:extLst>
                        <a:ext uri="{9D8B030D-6E8A-4147-A177-3AD203B41FA5}">
                          <a16:colId xmlns:a16="http://schemas.microsoft.com/office/drawing/2014/main" val="23919380"/>
                        </a:ext>
                      </a:extLst>
                    </a:gridCol>
                    <a:gridCol w="2304256">
                      <a:extLst>
                        <a:ext uri="{9D8B030D-6E8A-4147-A177-3AD203B41FA5}">
                          <a16:colId xmlns:a16="http://schemas.microsoft.com/office/drawing/2014/main" val="134236169"/>
                        </a:ext>
                      </a:extLst>
                    </a:gridCol>
                    <a:gridCol w="2492182">
                      <a:extLst>
                        <a:ext uri="{9D8B030D-6E8A-4147-A177-3AD203B41FA5}">
                          <a16:colId xmlns:a16="http://schemas.microsoft.com/office/drawing/2014/main" val="1171527994"/>
                        </a:ext>
                      </a:extLst>
                    </a:gridCol>
                  </a:tblGrid>
                  <a:tr h="432048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Grammar Rule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1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Pass 2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751010"/>
                      </a:ext>
                    </a:extLst>
                  </a:tr>
                  <a:tr h="17281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25352" r="-243077" b="-100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3166612"/>
                      </a:ext>
                    </a:extLst>
                  </a:tr>
                  <a:tr h="93610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231169" r="-243077" b="-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/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3166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784615" r="-243077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5947029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308" t="-884615" r="-243077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780907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A2A3467-4E2A-4E1D-8E4F-B993FC11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878094"/>
              </p:ext>
            </p:extLst>
          </p:nvPr>
        </p:nvGraphicFramePr>
        <p:xfrm>
          <a:off x="5447929" y="167573"/>
          <a:ext cx="3816423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25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582582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582582">
                  <a:extLst>
                    <a:ext uri="{9D8B030D-6E8A-4147-A177-3AD203B41FA5}">
                      <a16:colId xmlns:a16="http://schemas.microsoft.com/office/drawing/2014/main" val="116051466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S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altLang="zh-CN" i="0" dirty="0" err="1"/>
                        <a:t>a,b,c,d,e</a:t>
                      </a:r>
                      <a:endParaRPr lang="zh-CN" altLang="en-US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i="0" dirty="0"/>
                        <a:t>$</a:t>
                      </a:r>
                      <a:endParaRPr lang="zh-CN" altLang="en-US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A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b, $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B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C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d, e, 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2998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D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e, 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175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9404" y="332656"/>
                <a:ext cx="1844110" cy="1912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zh-CN" altLang="en-US" sz="2000" dirty="0"/>
              </a:p>
              <a:p>
                <a:pPr marL="0" indent="0" eaLnBrk="1" hangingPunct="1"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17" name="Rectangle 3">
                <a:extLst>
                  <a:ext uri="{FF2B5EF4-FFF2-40B4-BE49-F238E27FC236}">
                    <a16:creationId xmlns:a16="http://schemas.microsoft.com/office/drawing/2014/main" id="{6961B319-D472-4880-AF72-97FE54E52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404" y="332656"/>
                <a:ext cx="1844110" cy="1912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1219AECE-8DD4-4407-997A-AFF6DD5FDD22}"/>
              </a:ext>
            </a:extLst>
          </p:cNvPr>
          <p:cNvSpPr/>
          <p:nvPr/>
        </p:nvSpPr>
        <p:spPr bwMode="auto">
          <a:xfrm>
            <a:off x="5051884" y="2944435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(S)={$}</a:t>
            </a:r>
            <a:endParaRPr lang="zh-CN" altLang="zh-CN" sz="2000" b="1" kern="1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7B07C3-D4ED-4A0E-9DDA-6C3F0894985F}"/>
              </a:ext>
            </a:extLst>
          </p:cNvPr>
          <p:cNvSpPr/>
          <p:nvPr/>
        </p:nvSpPr>
        <p:spPr bwMode="auto">
          <a:xfrm>
            <a:off x="5045229" y="3817898"/>
            <a:ext cx="1720051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(B)&lt;=</a:t>
            </a: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(S)</a:t>
            </a:r>
            <a:endParaRPr lang="zh-CN" altLang="zh-CN" sz="2000" b="1" kern="1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752FCD-4B9E-4043-8361-075321380095}"/>
              </a:ext>
            </a:extLst>
          </p:cNvPr>
          <p:cNvSpPr/>
          <p:nvPr/>
        </p:nvSpPr>
        <p:spPr bwMode="auto">
          <a:xfrm>
            <a:off x="5051884" y="3372086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(A)={b}</a:t>
            </a:r>
            <a:endParaRPr lang="zh-CN" altLang="zh-CN" sz="2000" b="1" kern="1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FF7E2C-4A6B-4696-A554-4ED720DDC8D9}"/>
              </a:ext>
            </a:extLst>
          </p:cNvPr>
          <p:cNvSpPr/>
          <p:nvPr/>
        </p:nvSpPr>
        <p:spPr bwMode="auto">
          <a:xfrm>
            <a:off x="5051884" y="5091266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(D)={e}</a:t>
            </a:r>
            <a:endParaRPr lang="zh-CN" altLang="zh-CN" sz="2000" b="1" kern="1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9A9024-6165-4B68-B49A-1E8DF694A42F}"/>
              </a:ext>
            </a:extLst>
          </p:cNvPr>
          <p:cNvSpPr/>
          <p:nvPr/>
        </p:nvSpPr>
        <p:spPr bwMode="auto">
          <a:xfrm>
            <a:off x="5045228" y="5577059"/>
            <a:ext cx="1878864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(C)={d, e, a}</a:t>
            </a:r>
            <a:endParaRPr lang="zh-CN" altLang="zh-CN" sz="2000" b="1" kern="1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5BE445-E928-4CB3-99AA-C947C7FF32BA}"/>
              </a:ext>
            </a:extLst>
          </p:cNvPr>
          <p:cNvSpPr/>
          <p:nvPr/>
        </p:nvSpPr>
        <p:spPr bwMode="auto">
          <a:xfrm>
            <a:off x="5051884" y="5981004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(D)={e, b}</a:t>
            </a:r>
            <a:endParaRPr lang="zh-CN" altLang="zh-CN" sz="2000" b="1" kern="1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62AE705-C168-471D-90C0-7153184CBAC2}"/>
              </a:ext>
            </a:extLst>
          </p:cNvPr>
          <p:cNvSpPr/>
          <p:nvPr/>
        </p:nvSpPr>
        <p:spPr bwMode="auto">
          <a:xfrm>
            <a:off x="5051884" y="4713895"/>
            <a:ext cx="1584176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(C)={d, e}</a:t>
            </a:r>
            <a:endParaRPr lang="zh-CN" altLang="zh-CN" sz="2000" b="1" kern="1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A53D02-0C17-4EB5-901C-09183587E581}"/>
              </a:ext>
            </a:extLst>
          </p:cNvPr>
          <p:cNvSpPr/>
          <p:nvPr/>
        </p:nvSpPr>
        <p:spPr bwMode="auto">
          <a:xfrm>
            <a:off x="5045228" y="4243671"/>
            <a:ext cx="1728192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>
              <a:spcAft>
                <a:spcPts val="0"/>
              </a:spcAft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(A)&lt;=</a:t>
            </a: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(S)</a:t>
            </a:r>
            <a:endParaRPr lang="zh-CN" altLang="zh-CN" sz="2000" b="1" kern="1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0B7338-1E18-4F51-A694-C772AB6C8098}"/>
              </a:ext>
            </a:extLst>
          </p:cNvPr>
          <p:cNvSpPr/>
          <p:nvPr/>
        </p:nvSpPr>
        <p:spPr bwMode="auto">
          <a:xfrm>
            <a:off x="7212124" y="3393814"/>
            <a:ext cx="2188338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(A)={b,$}</a:t>
            </a:r>
            <a:endParaRPr lang="zh-CN" altLang="zh-CN" sz="2000" b="1" kern="1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5C55ED-7301-4CCE-8D7A-9C519BB7942B}"/>
              </a:ext>
            </a:extLst>
          </p:cNvPr>
          <p:cNvSpPr/>
          <p:nvPr/>
        </p:nvSpPr>
        <p:spPr bwMode="auto">
          <a:xfrm>
            <a:off x="7212124" y="3817898"/>
            <a:ext cx="2188338" cy="3600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00" dirty="0" err="1"/>
              <a:t>fw</a:t>
            </a:r>
            <a:r>
              <a:rPr lang="en-US" altLang="zh-CN" sz="2000" b="1" kern="100" dirty="0"/>
              <a:t>(B)={$}</a:t>
            </a:r>
            <a:endParaRPr lang="zh-CN" altLang="zh-CN" sz="2000" b="1" kern="100" dirty="0"/>
          </a:p>
        </p:txBody>
      </p:sp>
    </p:spTree>
    <p:extLst>
      <p:ext uri="{BB962C8B-B14F-4D97-AF65-F5344CB8AC3E}">
        <p14:creationId xmlns:p14="http://schemas.microsoft.com/office/powerpoint/2010/main" val="305193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5" grpId="0"/>
      <p:bldP spid="26" grpId="0"/>
      <p:bldP spid="31" grpId="0"/>
      <p:bldP spid="32" grpId="0"/>
      <p:bldP spid="33" grpId="0"/>
      <p:bldP spid="3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CCF22550-6596-4B2D-B269-6423D03F39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734122"/>
                  </p:ext>
                </p:extLst>
              </p:nvPr>
            </p:nvGraphicFramePr>
            <p:xfrm>
              <a:off x="1703513" y="2924945"/>
              <a:ext cx="8784975" cy="3286285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7588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95371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351196853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75013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e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555579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9276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662970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600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CCF22550-6596-4B2D-B269-6423D03F39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734122"/>
                  </p:ext>
                </p:extLst>
              </p:nvPr>
            </p:nvGraphicFramePr>
            <p:xfrm>
              <a:off x="1703513" y="2924945"/>
              <a:ext cx="8784975" cy="3286285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7588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95371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351196853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75013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e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555579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9276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662970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2"/>
                          <a:stretch>
                            <a:fillRect l="-48908" t="-233945" r="-482096" b="-1715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  <a:tr h="549981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6005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235DD0-1E95-4A6B-AA63-631956E52405}"/>
                  </a:ext>
                </a:extLst>
              </p:cNvPr>
              <p:cNvSpPr/>
              <p:nvPr/>
            </p:nvSpPr>
            <p:spPr bwMode="auto">
              <a:xfrm>
                <a:off x="2423592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A235DD0-1E95-4A6B-AA63-631956E52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2" y="3356992"/>
                <a:ext cx="1224136" cy="360040"/>
              </a:xfrm>
              <a:prstGeom prst="rect">
                <a:avLst/>
              </a:prstGeom>
              <a:blipFill>
                <a:blip r:embed="rId3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C91C541-2898-4393-ACC3-FA16A27514D6}"/>
                  </a:ext>
                </a:extLst>
              </p:cNvPr>
              <p:cNvSpPr/>
              <p:nvPr/>
            </p:nvSpPr>
            <p:spPr bwMode="auto">
              <a:xfrm>
                <a:off x="5087888" y="3345418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C91C541-2898-4393-ACC3-FA16A2751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888" y="3345418"/>
                <a:ext cx="1224136" cy="360040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5BC09E2-8FBB-4938-A2D1-597BED27584C}"/>
                  </a:ext>
                </a:extLst>
              </p:cNvPr>
              <p:cNvSpPr/>
              <p:nvPr/>
            </p:nvSpPr>
            <p:spPr bwMode="auto">
              <a:xfrm>
                <a:off x="9264352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5BC09E2-8FBB-4938-A2D1-597BED275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64352" y="3356992"/>
                <a:ext cx="1224136" cy="360040"/>
              </a:xfrm>
              <a:prstGeom prst="rect">
                <a:avLst/>
              </a:prstGeom>
              <a:blipFill>
                <a:blip r:embed="rId5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E266F2E-1F05-4FFD-A4B5-B21391AE6772}"/>
                  </a:ext>
                </a:extLst>
              </p:cNvPr>
              <p:cNvSpPr/>
              <p:nvPr/>
            </p:nvSpPr>
            <p:spPr bwMode="auto">
              <a:xfrm>
                <a:off x="2423592" y="3933056"/>
                <a:ext cx="129614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E266F2E-1F05-4FFD-A4B5-B21391AE6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2" y="3933056"/>
                <a:ext cx="1296144" cy="360040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365AF01-A4A5-45D9-80C0-45BE194E39AD}"/>
                  </a:ext>
                </a:extLst>
              </p:cNvPr>
              <p:cNvSpPr/>
              <p:nvPr/>
            </p:nvSpPr>
            <p:spPr bwMode="auto">
              <a:xfrm>
                <a:off x="3798433" y="393524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365AF01-A4A5-45D9-80C0-45BE194E3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8433" y="3935243"/>
                <a:ext cx="1224136" cy="360040"/>
              </a:xfrm>
              <a:prstGeom prst="rect">
                <a:avLst/>
              </a:prstGeom>
              <a:blipFill>
                <a:blip r:embed="rId7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0DEE991-991D-4310-86CC-3A59E5736E64}"/>
                  </a:ext>
                </a:extLst>
              </p:cNvPr>
              <p:cNvSpPr/>
              <p:nvPr/>
            </p:nvSpPr>
            <p:spPr bwMode="auto">
              <a:xfrm>
                <a:off x="9318358" y="3955922"/>
                <a:ext cx="113412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0DEE991-991D-4310-86CC-3A59E5736E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8358" y="3955922"/>
                <a:ext cx="1134126" cy="360040"/>
              </a:xfrm>
              <a:prstGeom prst="rect">
                <a:avLst/>
              </a:prstGeom>
              <a:blipFill>
                <a:blip r:embed="rId8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53BCF10-4C8A-4A99-861E-83778948FB5D}"/>
                  </a:ext>
                </a:extLst>
              </p:cNvPr>
              <p:cNvSpPr/>
              <p:nvPr/>
            </p:nvSpPr>
            <p:spPr bwMode="auto">
              <a:xfrm>
                <a:off x="3791744" y="4607024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B53BCF10-4C8A-4A99-861E-83778948F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744" y="4607024"/>
                <a:ext cx="1224136" cy="360040"/>
              </a:xfrm>
              <a:prstGeom prst="rect">
                <a:avLst/>
              </a:prstGeom>
              <a:blipFill>
                <a:blip r:embed="rId9"/>
                <a:stretch>
                  <a:fillRect b="-8475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4D1D5B1-2407-4118-A6D9-879E7E1DC215}"/>
                  </a:ext>
                </a:extLst>
              </p:cNvPr>
              <p:cNvSpPr/>
              <p:nvPr/>
            </p:nvSpPr>
            <p:spPr bwMode="auto">
              <a:xfrm>
                <a:off x="9318358" y="4607024"/>
                <a:ext cx="104411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4D1D5B1-2407-4118-A6D9-879E7E1DC2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8358" y="4607024"/>
                <a:ext cx="1044116" cy="360040"/>
              </a:xfrm>
              <a:prstGeom prst="rect">
                <a:avLst/>
              </a:prstGeom>
              <a:blipFill>
                <a:blip r:embed="rId10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19A31D7-2A8F-4208-BAB4-0A6340311DA6}"/>
                  </a:ext>
                </a:extLst>
              </p:cNvPr>
              <p:cNvSpPr/>
              <p:nvPr/>
            </p:nvSpPr>
            <p:spPr bwMode="auto">
              <a:xfrm>
                <a:off x="6524720" y="5189149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819A31D7-2A8F-4208-BAB4-0A6340311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720" y="5189149"/>
                <a:ext cx="936104" cy="349833"/>
              </a:xfrm>
              <a:prstGeom prst="rect">
                <a:avLst/>
              </a:prstGeom>
              <a:blipFill>
                <a:blip r:embed="rId11"/>
                <a:stretch>
                  <a:fillRect b="-862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EB8A1CC-FEDD-4198-ABA6-0FB90121E6BD}"/>
                  </a:ext>
                </a:extLst>
              </p:cNvPr>
              <p:cNvSpPr/>
              <p:nvPr/>
            </p:nvSpPr>
            <p:spPr bwMode="auto">
              <a:xfrm>
                <a:off x="5087888" y="5189149"/>
                <a:ext cx="1080120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EB8A1CC-FEDD-4198-ABA6-0FB90121E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888" y="5189149"/>
                <a:ext cx="1080120" cy="349833"/>
              </a:xfrm>
              <a:prstGeom prst="rect">
                <a:avLst/>
              </a:prstGeom>
              <a:blipFill>
                <a:blip r:embed="rId12"/>
                <a:stretch>
                  <a:fillRect b="-862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94779F3-F6CB-40DB-BEC6-7D2C995F6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57894"/>
              </p:ext>
            </p:extLst>
          </p:nvPr>
        </p:nvGraphicFramePr>
        <p:xfrm>
          <a:off x="5447929" y="159168"/>
          <a:ext cx="3816423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259">
                  <a:extLst>
                    <a:ext uri="{9D8B030D-6E8A-4147-A177-3AD203B41FA5}">
                      <a16:colId xmlns:a16="http://schemas.microsoft.com/office/drawing/2014/main" val="3186338400"/>
                    </a:ext>
                  </a:extLst>
                </a:gridCol>
                <a:gridCol w="1582582">
                  <a:extLst>
                    <a:ext uri="{9D8B030D-6E8A-4147-A177-3AD203B41FA5}">
                      <a16:colId xmlns:a16="http://schemas.microsoft.com/office/drawing/2014/main" val="46470136"/>
                    </a:ext>
                  </a:extLst>
                </a:gridCol>
                <a:gridCol w="1582582">
                  <a:extLst>
                    <a:ext uri="{9D8B030D-6E8A-4147-A177-3AD203B41FA5}">
                      <a16:colId xmlns:a16="http://schemas.microsoft.com/office/drawing/2014/main" val="116051466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First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Follow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863537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S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altLang="zh-CN" i="0" dirty="0" err="1"/>
                        <a:t>a,b,c,d,e</a:t>
                      </a:r>
                      <a:endParaRPr lang="zh-CN" altLang="en-US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i="0" dirty="0"/>
                        <a:t>$</a:t>
                      </a:r>
                      <a:endParaRPr lang="zh-CN" altLang="en-US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98491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A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b, $</a:t>
                      </a:r>
                      <a:endParaRPr lang="zh-CN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97555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B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728133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C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d, e, 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922998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r>
                        <a:rPr lang="en-US" altLang="zh-CN" i="1" dirty="0"/>
                        <a:t>D</a:t>
                      </a:r>
                      <a:endParaRPr lang="zh-CN" altLang="en-US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d, </a:t>
                      </a:r>
                      <a:r>
                        <a:rPr lang="el-GR" altLang="zh-CN" sz="1800" b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e, 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175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96CFBD71-06B9-4197-A6B0-8E07CA85F4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3718" y="169153"/>
                <a:ext cx="1844110" cy="19120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</m:t>
                      </m:r>
                    </m:oMath>
                  </m:oMathPara>
                </a14:m>
                <a:endParaRPr lang="zh-CN" altLang="en-US" sz="2000" dirty="0"/>
              </a:p>
              <a:p>
                <a:pPr marL="0" indent="0" eaLnBrk="1" hangingPunct="1">
                  <a:buNone/>
                </a:pPr>
                <a:endParaRPr lang="en-US" altLang="zh-CN" sz="2000" kern="0" dirty="0"/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96CFBD71-06B9-4197-A6B0-8E07CA85F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3718" y="169153"/>
                <a:ext cx="1844110" cy="191208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9999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AE8C04B-2643-4798-BF9B-1DEB0C10F71F}"/>
                  </a:ext>
                </a:extLst>
              </p:cNvPr>
              <p:cNvSpPr/>
              <p:nvPr/>
            </p:nvSpPr>
            <p:spPr bwMode="auto">
              <a:xfrm>
                <a:off x="3798433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AE8C04B-2643-4798-BF9B-1DEB0C10F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8433" y="3356992"/>
                <a:ext cx="1224136" cy="360040"/>
              </a:xfrm>
              <a:prstGeom prst="rect">
                <a:avLst/>
              </a:prstGeom>
              <a:blipFill>
                <a:blip r:embed="rId14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139750E-5D6C-45A4-918C-120BA50D2E09}"/>
                  </a:ext>
                </a:extLst>
              </p:cNvPr>
              <p:cNvSpPr/>
              <p:nvPr/>
            </p:nvSpPr>
            <p:spPr bwMode="auto">
              <a:xfrm>
                <a:off x="6456040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139750E-5D6C-45A4-918C-120BA50D2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040" y="3356992"/>
                <a:ext cx="1224136" cy="360040"/>
              </a:xfrm>
              <a:prstGeom prst="rect">
                <a:avLst/>
              </a:prstGeom>
              <a:blipFill>
                <a:blip r:embed="rId15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06118F-E554-4AB7-9EB6-D91D4A8EFC80}"/>
                  </a:ext>
                </a:extLst>
              </p:cNvPr>
              <p:cNvSpPr/>
              <p:nvPr/>
            </p:nvSpPr>
            <p:spPr bwMode="auto">
              <a:xfrm>
                <a:off x="8038551" y="5189149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06118F-E554-4AB7-9EB6-D91D4A8EFC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8551" y="5189149"/>
                <a:ext cx="936104" cy="349833"/>
              </a:xfrm>
              <a:prstGeom prst="rect">
                <a:avLst/>
              </a:prstGeom>
              <a:blipFill>
                <a:blip r:embed="rId16"/>
                <a:stretch>
                  <a:fillRect b="-862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957ECDF-A904-4D60-8FE1-D29F03B2A745}"/>
                  </a:ext>
                </a:extLst>
              </p:cNvPr>
              <p:cNvSpPr/>
              <p:nvPr/>
            </p:nvSpPr>
            <p:spPr bwMode="auto">
              <a:xfrm>
                <a:off x="7926409" y="33569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957ECDF-A904-4D60-8FE1-D29F03B2A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6409" y="3356992"/>
                <a:ext cx="1224136" cy="360040"/>
              </a:xfrm>
              <a:prstGeom prst="rect">
                <a:avLst/>
              </a:prstGeom>
              <a:blipFill>
                <a:blip r:embed="rId17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40963A1-1844-4252-8E54-667C842DAAC6}"/>
                  </a:ext>
                </a:extLst>
              </p:cNvPr>
              <p:cNvSpPr/>
              <p:nvPr/>
            </p:nvSpPr>
            <p:spPr bwMode="auto">
              <a:xfrm>
                <a:off x="6524720" y="5770395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40963A1-1844-4252-8E54-667C842DA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720" y="5770395"/>
                <a:ext cx="1224136" cy="360040"/>
              </a:xfrm>
              <a:prstGeom prst="rect">
                <a:avLst/>
              </a:prstGeom>
              <a:blipFill>
                <a:blip r:embed="rId18"/>
                <a:stretch>
                  <a:fillRect b="-8475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EB73B9A-4743-4586-8C26-551C6D53C3C0}"/>
                  </a:ext>
                </a:extLst>
              </p:cNvPr>
              <p:cNvSpPr/>
              <p:nvPr/>
            </p:nvSpPr>
            <p:spPr bwMode="auto">
              <a:xfrm>
                <a:off x="8040216" y="5750157"/>
                <a:ext cx="1008113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EB73B9A-4743-4586-8C26-551C6D53C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0216" y="5750157"/>
                <a:ext cx="1008113" cy="360040"/>
              </a:xfrm>
              <a:prstGeom prst="rect">
                <a:avLst/>
              </a:prstGeom>
              <a:blipFill>
                <a:blip r:embed="rId19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255DEE7-8CEC-43E1-96B6-345858746DC8}"/>
                  </a:ext>
                </a:extLst>
              </p:cNvPr>
              <p:cNvSpPr/>
              <p:nvPr/>
            </p:nvSpPr>
            <p:spPr bwMode="auto">
              <a:xfrm>
                <a:off x="3863751" y="5745900"/>
                <a:ext cx="1008113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255DEE7-8CEC-43E1-96B6-345858746D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1" y="5745900"/>
                <a:ext cx="1008113" cy="360040"/>
              </a:xfrm>
              <a:prstGeom prst="rect">
                <a:avLst/>
              </a:prstGeom>
              <a:blipFill>
                <a:blip r:embed="rId20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A4FB8F4C-D81B-47A2-805F-E25680FCF223}"/>
                  </a:ext>
                </a:extLst>
              </p:cNvPr>
              <p:cNvSpPr/>
              <p:nvPr/>
            </p:nvSpPr>
            <p:spPr bwMode="auto">
              <a:xfrm>
                <a:off x="2603612" y="5189149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A4FB8F4C-D81B-47A2-805F-E25680FCF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612" y="5189149"/>
                <a:ext cx="936104" cy="349833"/>
              </a:xfrm>
              <a:prstGeom prst="rect">
                <a:avLst/>
              </a:prstGeom>
              <a:blipFill>
                <a:blip r:embed="rId21"/>
                <a:stretch>
                  <a:fillRect b="-8621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93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17" grpId="0"/>
      <p:bldP spid="18" grpId="0"/>
      <p:bldP spid="19" grpId="0"/>
      <p:bldP spid="20" grpId="0"/>
      <p:bldP spid="32" grpId="0"/>
      <p:bldP spid="33" grpId="0"/>
      <p:bldP spid="34" grpId="0"/>
      <p:bldP spid="3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Group 183">
                <a:extLst>
                  <a:ext uri="{FF2B5EF4-FFF2-40B4-BE49-F238E27FC236}">
                    <a16:creationId xmlns:a16="http://schemas.microsoft.com/office/drawing/2014/main" id="{7779E4BA-953F-4C3C-AAEE-C81770B4116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84024619"/>
                  </p:ext>
                </p:extLst>
              </p:nvPr>
            </p:nvGraphicFramePr>
            <p:xfrm>
              <a:off x="3071664" y="3330909"/>
              <a:ext cx="6480720" cy="3200400"/>
            </p:xfrm>
            <a:graphic>
              <a:graphicData uri="http://schemas.openxmlformats.org/drawingml/2006/table">
                <a:tbl>
                  <a:tblPr/>
                  <a:tblGrid>
                    <a:gridCol w="8479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760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1280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9814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𝑺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𝑪𝑫𝒆</m:t>
                                </m:r>
                              </m:oMath>
                            </m:oMathPara>
                          </a14:m>
                          <a:endParaRPr lang="zh-CN" altLang="zh-CN" sz="2400" b="1" kern="1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eDC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altLang="zh-CN" sz="2400" dirty="0">
                            <a:latin typeface="+mn-lt"/>
                            <a:ea typeface="Cambria Math" panose="02040503050406030204" pitchFamily="18" charset="0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𝜺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latin typeface="+mn-lt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29814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28926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accept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Group 183">
                <a:extLst>
                  <a:ext uri="{FF2B5EF4-FFF2-40B4-BE49-F238E27FC236}">
                    <a16:creationId xmlns:a16="http://schemas.microsoft.com/office/drawing/2014/main" id="{7779E4BA-953F-4C3C-AAEE-C81770B4116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84024619"/>
                  </p:ext>
                </p:extLst>
              </p:nvPr>
            </p:nvGraphicFramePr>
            <p:xfrm>
              <a:off x="3071664" y="3330909"/>
              <a:ext cx="6480720" cy="3200400"/>
            </p:xfrm>
            <a:graphic>
              <a:graphicData uri="http://schemas.openxmlformats.org/drawingml/2006/table">
                <a:tbl>
                  <a:tblPr/>
                  <a:tblGrid>
                    <a:gridCol w="8479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439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760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1280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Stack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Input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Action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CC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CC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22727" t="-109333" r="-909" b="-5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2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eDC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22727" t="-209333" r="-909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3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ce</a:t>
                          </a: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+mn-cs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eD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22727" t="-410667" r="-909" b="-2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5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e$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match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>
                          <a:lvl1pPr marL="342900" indent="-342900">
                            <a:spcBef>
                              <a:spcPct val="20000"/>
                            </a:spcBef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$</a:t>
                          </a:r>
                          <a:endParaRPr kumimoji="0" lang="en-US" altLang="zh-CN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accept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F6E733E-F700-4718-B52E-50D2F70A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0670506"/>
                  </p:ext>
                </p:extLst>
              </p:nvPr>
            </p:nvGraphicFramePr>
            <p:xfrm>
              <a:off x="1703513" y="142715"/>
              <a:ext cx="8784975" cy="2845452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7588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95371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351196853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24707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e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481052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13246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574037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kern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476205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  <a:tr h="476205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6005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>
                <a:extLst>
                  <a:ext uri="{FF2B5EF4-FFF2-40B4-BE49-F238E27FC236}">
                    <a16:creationId xmlns:a16="http://schemas.microsoft.com/office/drawing/2014/main" id="{0F6E733E-F700-4718-B52E-50D2F70AA3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0670506"/>
                  </p:ext>
                </p:extLst>
              </p:nvPr>
            </p:nvGraphicFramePr>
            <p:xfrm>
              <a:off x="1703513" y="142715"/>
              <a:ext cx="8784975" cy="2845452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675883">
                      <a:extLst>
                        <a:ext uri="{9D8B030D-6E8A-4147-A177-3AD203B41FA5}">
                          <a16:colId xmlns:a16="http://schemas.microsoft.com/office/drawing/2014/main" val="2504560"/>
                        </a:ext>
                      </a:extLst>
                    </a:gridCol>
                    <a:gridCol w="1395371">
                      <a:extLst>
                        <a:ext uri="{9D8B030D-6E8A-4147-A177-3AD203B41FA5}">
                          <a16:colId xmlns:a16="http://schemas.microsoft.com/office/drawing/2014/main" val="278684947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541831849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179139833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784756177"/>
                        </a:ext>
                      </a:extLst>
                    </a:gridCol>
                    <a:gridCol w="1428451">
                      <a:extLst>
                        <a:ext uri="{9D8B030D-6E8A-4147-A177-3AD203B41FA5}">
                          <a16:colId xmlns:a16="http://schemas.microsoft.com/office/drawing/2014/main" val="3511968537"/>
                        </a:ext>
                      </a:extLst>
                    </a:gridCol>
                    <a:gridCol w="1214184">
                      <a:extLst>
                        <a:ext uri="{9D8B030D-6E8A-4147-A177-3AD203B41FA5}">
                          <a16:colId xmlns:a16="http://schemas.microsoft.com/office/drawing/2014/main" val="3836727243"/>
                        </a:ext>
                      </a:extLst>
                    </a:gridCol>
                  </a:tblGrid>
                  <a:tr h="324707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e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$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9848072"/>
                      </a:ext>
                    </a:extLst>
                  </a:tr>
                  <a:tr h="481052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4642515"/>
                      </a:ext>
                    </a:extLst>
                  </a:tr>
                  <a:tr h="513246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A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endParaRPr lang="en-US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99379"/>
                      </a:ext>
                    </a:extLst>
                  </a:tr>
                  <a:tr h="574037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+mn-lt"/>
                            </a:rPr>
                            <a:t>B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  <a:stretch>
                            <a:fillRect l="-48908" t="-241489" r="-482096" b="-17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5546915"/>
                      </a:ext>
                    </a:extLst>
                  </a:tr>
                  <a:tr h="476205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C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894307"/>
                      </a:ext>
                    </a:extLst>
                  </a:tr>
                  <a:tr h="476205"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+mn-lt"/>
                              <a:ea typeface="宋体" panose="02010600030101010101" pitchFamily="2" charset="-122"/>
                            </a:rPr>
                            <a:t>D</a:t>
                          </a: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+mn-lt"/>
                            <a:ea typeface="宋体" panose="02010600030101010101" pitchFamily="2" charset="-122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16005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B7D8A4F-ED7D-4005-909E-0C29214513A3}"/>
                  </a:ext>
                </a:extLst>
              </p:cNvPr>
              <p:cNvSpPr/>
              <p:nvPr/>
            </p:nvSpPr>
            <p:spPr bwMode="auto">
              <a:xfrm>
                <a:off x="2423592" y="57476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B7D8A4F-ED7D-4005-909E-0C2921451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2" y="574763"/>
                <a:ext cx="1224136" cy="360040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BB394CD-8D36-4CF0-A52B-E89E4EB16542}"/>
                  </a:ext>
                </a:extLst>
              </p:cNvPr>
              <p:cNvSpPr/>
              <p:nvPr/>
            </p:nvSpPr>
            <p:spPr bwMode="auto">
              <a:xfrm>
                <a:off x="5087888" y="563189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0BB394CD-8D36-4CF0-A52B-E89E4EB16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888" y="563189"/>
                <a:ext cx="1224136" cy="360040"/>
              </a:xfrm>
              <a:prstGeom prst="rect">
                <a:avLst/>
              </a:prstGeom>
              <a:blipFill>
                <a:blip r:embed="rId5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6D950E1-BDB7-4A90-9934-8E86D3547F8C}"/>
                  </a:ext>
                </a:extLst>
              </p:cNvPr>
              <p:cNvSpPr/>
              <p:nvPr/>
            </p:nvSpPr>
            <p:spPr bwMode="auto">
              <a:xfrm>
                <a:off x="9264352" y="57476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6D950E1-BDB7-4A90-9934-8E86D3547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64352" y="574763"/>
                <a:ext cx="1224136" cy="360040"/>
              </a:xfrm>
              <a:prstGeom prst="rect">
                <a:avLst/>
              </a:prstGeom>
              <a:blipFill>
                <a:blip r:embed="rId6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075D4AF-F30F-44E6-8770-F4A1B045C6BA}"/>
                  </a:ext>
                </a:extLst>
              </p:cNvPr>
              <p:cNvSpPr/>
              <p:nvPr/>
            </p:nvSpPr>
            <p:spPr bwMode="auto">
              <a:xfrm>
                <a:off x="2423592" y="1029870"/>
                <a:ext cx="1296144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𝒂𝑪𝒂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075D4AF-F30F-44E6-8770-F4A1B045C6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2" y="1029870"/>
                <a:ext cx="1296144" cy="360040"/>
              </a:xfrm>
              <a:prstGeom prst="rect">
                <a:avLst/>
              </a:prstGeom>
              <a:blipFill>
                <a:blip r:embed="rId7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01D055A-A034-4611-82E6-93C6E23E2B99}"/>
                  </a:ext>
                </a:extLst>
              </p:cNvPr>
              <p:cNvSpPr/>
              <p:nvPr/>
            </p:nvSpPr>
            <p:spPr bwMode="auto">
              <a:xfrm>
                <a:off x="3798433" y="1032057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01D055A-A034-4611-82E6-93C6E23E2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8433" y="1032057"/>
                <a:ext cx="1224136" cy="360040"/>
              </a:xfrm>
              <a:prstGeom prst="rect">
                <a:avLst/>
              </a:prstGeom>
              <a:blipFill>
                <a:blip r:embed="rId8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02CC6B9-5B70-48F3-BD3F-6A0F60E38217}"/>
                  </a:ext>
                </a:extLst>
              </p:cNvPr>
              <p:cNvSpPr/>
              <p:nvPr/>
            </p:nvSpPr>
            <p:spPr bwMode="auto">
              <a:xfrm>
                <a:off x="9318358" y="1052736"/>
                <a:ext cx="113412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b="1" kern="100" dirty="0"/>
                        <m:t> 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02CC6B9-5B70-48F3-BD3F-6A0F60E38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8358" y="1052736"/>
                <a:ext cx="1134126" cy="360040"/>
              </a:xfrm>
              <a:prstGeom prst="rect">
                <a:avLst/>
              </a:prstGeom>
              <a:blipFill>
                <a:blip r:embed="rId9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0EF35E4-CAEA-4ACD-A883-35D3ABFCF259}"/>
                  </a:ext>
                </a:extLst>
              </p:cNvPr>
              <p:cNvSpPr/>
              <p:nvPr/>
            </p:nvSpPr>
            <p:spPr bwMode="auto">
              <a:xfrm>
                <a:off x="3791744" y="1556792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𝒃𝑫𝒃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0EF35E4-CAEA-4ACD-A883-35D3ABFCF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744" y="1556792"/>
                <a:ext cx="1224136" cy="360040"/>
              </a:xfrm>
              <a:prstGeom prst="rect">
                <a:avLst/>
              </a:prstGeom>
              <a:blipFill>
                <a:blip r:embed="rId10"/>
                <a:stretch>
                  <a:fillRect b="-8475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616AEB5-F30F-4EB5-970E-238EF51E0C3D}"/>
                  </a:ext>
                </a:extLst>
              </p:cNvPr>
              <p:cNvSpPr/>
              <p:nvPr/>
            </p:nvSpPr>
            <p:spPr bwMode="auto">
              <a:xfrm>
                <a:off x="9318358" y="1556792"/>
                <a:ext cx="104411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0616AEB5-F30F-4EB5-970E-238EF51E0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18358" y="1556792"/>
                <a:ext cx="1044116" cy="360040"/>
              </a:xfrm>
              <a:prstGeom prst="rect">
                <a:avLst/>
              </a:prstGeom>
              <a:blipFill>
                <a:blip r:embed="rId11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4B234463-4687-4DF9-B5A9-CB1C413C13F5}"/>
                  </a:ext>
                </a:extLst>
              </p:cNvPr>
              <p:cNvSpPr/>
              <p:nvPr/>
            </p:nvSpPr>
            <p:spPr bwMode="auto">
              <a:xfrm>
                <a:off x="6524720" y="2071056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4B234463-4687-4DF9-B5A9-CB1C413C1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720" y="2071056"/>
                <a:ext cx="936104" cy="349833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14F6E53-099F-4D96-AE47-B58182FE36E2}"/>
                  </a:ext>
                </a:extLst>
              </p:cNvPr>
              <p:cNvSpPr/>
              <p:nvPr/>
            </p:nvSpPr>
            <p:spPr bwMode="auto">
              <a:xfrm>
                <a:off x="5087888" y="2071056"/>
                <a:ext cx="1080120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D14F6E53-099F-4D96-AE47-B58182FE3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888" y="2071056"/>
                <a:ext cx="1080120" cy="349833"/>
              </a:xfrm>
              <a:prstGeom prst="rect">
                <a:avLst/>
              </a:prstGeom>
              <a:blipFill>
                <a:blip r:embed="rId13"/>
                <a:stretch>
                  <a:fillRect b="-10526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4B5174E-B7DF-4668-AEC4-014F5EDEA10A}"/>
                  </a:ext>
                </a:extLst>
              </p:cNvPr>
              <p:cNvSpPr/>
              <p:nvPr/>
            </p:nvSpPr>
            <p:spPr bwMode="auto">
              <a:xfrm>
                <a:off x="3798433" y="57476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𝑨𝑩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4B5174E-B7DF-4668-AEC4-014F5EDEA1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8433" y="574763"/>
                <a:ext cx="1224136" cy="360040"/>
              </a:xfrm>
              <a:prstGeom prst="rect">
                <a:avLst/>
              </a:prstGeom>
              <a:blipFill>
                <a:blip r:embed="rId14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74F65A0-7C7C-4A72-A9E2-55EBE7FCACD4}"/>
                  </a:ext>
                </a:extLst>
              </p:cNvPr>
              <p:cNvSpPr/>
              <p:nvPr/>
            </p:nvSpPr>
            <p:spPr bwMode="auto">
              <a:xfrm>
                <a:off x="6456040" y="57476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74F65A0-7C7C-4A72-A9E2-55EBE7FCAC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040" y="574763"/>
                <a:ext cx="1224136" cy="360040"/>
              </a:xfrm>
              <a:prstGeom prst="rect">
                <a:avLst/>
              </a:prstGeom>
              <a:blipFill>
                <a:blip r:embed="rId15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EEF07D2-B18C-44AD-9F79-B3DE74046563}"/>
                  </a:ext>
                </a:extLst>
              </p:cNvPr>
              <p:cNvSpPr/>
              <p:nvPr/>
            </p:nvSpPr>
            <p:spPr bwMode="auto">
              <a:xfrm>
                <a:off x="8038551" y="2071056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EEF07D2-B18C-44AD-9F79-B3DE74046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8551" y="2071056"/>
                <a:ext cx="936104" cy="349833"/>
              </a:xfrm>
              <a:prstGeom prst="rect">
                <a:avLst/>
              </a:prstGeom>
              <a:blipFill>
                <a:blip r:embed="rId16"/>
                <a:stretch>
                  <a:fillRect b="-10526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01065F43-E9D8-4327-A763-D05D6CA0810E}"/>
                  </a:ext>
                </a:extLst>
              </p:cNvPr>
              <p:cNvSpPr/>
              <p:nvPr/>
            </p:nvSpPr>
            <p:spPr bwMode="auto">
              <a:xfrm>
                <a:off x="7926409" y="574763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𝑪𝑫𝒆</m:t>
                      </m:r>
                    </m:oMath>
                  </m:oMathPara>
                </a14:m>
                <a:endParaRPr lang="zh-CN" altLang="zh-CN" sz="2000" b="1" kern="1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01065F43-E9D8-4327-A763-D05D6CA08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6409" y="574763"/>
                <a:ext cx="1224136" cy="360040"/>
              </a:xfrm>
              <a:prstGeom prst="rect">
                <a:avLst/>
              </a:prstGeom>
              <a:blipFill>
                <a:blip r:embed="rId17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1C04C2D-58D6-4BD5-A219-11409068716D}"/>
                  </a:ext>
                </a:extLst>
              </p:cNvPr>
              <p:cNvSpPr/>
              <p:nvPr/>
            </p:nvSpPr>
            <p:spPr bwMode="auto">
              <a:xfrm>
                <a:off x="6524720" y="2589399"/>
                <a:ext cx="1224136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1C04C2D-58D6-4BD5-A219-114090687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4720" y="2589399"/>
                <a:ext cx="1224136" cy="360040"/>
              </a:xfrm>
              <a:prstGeom prst="rect">
                <a:avLst/>
              </a:prstGeom>
              <a:blipFill>
                <a:blip r:embed="rId18"/>
                <a:stretch>
                  <a:fillRect b="-8475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D0EF82DB-BA19-4261-880B-01C9CDEBF347}"/>
                  </a:ext>
                </a:extLst>
              </p:cNvPr>
              <p:cNvSpPr/>
              <p:nvPr/>
            </p:nvSpPr>
            <p:spPr bwMode="auto">
              <a:xfrm>
                <a:off x="8040216" y="2569161"/>
                <a:ext cx="1008113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D0EF82DB-BA19-4261-880B-01C9CDEBF3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0216" y="2569161"/>
                <a:ext cx="1008113" cy="360040"/>
              </a:xfrm>
              <a:prstGeom prst="rect">
                <a:avLst/>
              </a:prstGeom>
              <a:blipFill>
                <a:blip r:embed="rId19"/>
                <a:stretch>
                  <a:fillRect b="-500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BE3E772-9543-42F6-8A6F-B5E4705A50E1}"/>
                  </a:ext>
                </a:extLst>
              </p:cNvPr>
              <p:cNvSpPr/>
              <p:nvPr/>
            </p:nvSpPr>
            <p:spPr bwMode="auto">
              <a:xfrm>
                <a:off x="3863751" y="2564904"/>
                <a:ext cx="1008113" cy="36004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DBE3E772-9543-42F6-8A6F-B5E4705A5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3751" y="2564904"/>
                <a:ext cx="1008113" cy="360040"/>
              </a:xfrm>
              <a:prstGeom prst="rect">
                <a:avLst/>
              </a:prstGeom>
              <a:blipFill>
                <a:blip r:embed="rId20"/>
                <a:stretch>
                  <a:fillRect b="-6780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BDDBBAD-C77A-4282-A68D-B79DDAED6E41}"/>
                  </a:ext>
                </a:extLst>
              </p:cNvPr>
              <p:cNvSpPr/>
              <p:nvPr/>
            </p:nvSpPr>
            <p:spPr bwMode="auto">
              <a:xfrm>
                <a:off x="2637952" y="2071056"/>
                <a:ext cx="936104" cy="34983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6BDDBBAD-C77A-4282-A68D-B79DDAED6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7952" y="2071056"/>
                <a:ext cx="936104" cy="349833"/>
              </a:xfrm>
              <a:prstGeom prst="rect">
                <a:avLst/>
              </a:prstGeom>
              <a:blipFill>
                <a:blip r:embed="rId21"/>
                <a:stretch>
                  <a:fillRect b="-10526"/>
                </a:stretch>
              </a:blip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50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11619</TotalTime>
  <Words>5842</Words>
  <Application>Microsoft Office PowerPoint</Application>
  <PresentationFormat>宽屏</PresentationFormat>
  <Paragraphs>1417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黑体</vt:lpstr>
      <vt:lpstr>Microsoft Yahei</vt:lpstr>
      <vt:lpstr>Microsoft Yahei</vt:lpstr>
      <vt:lpstr>Arial</vt:lpstr>
      <vt:lpstr>Cambria Math</vt:lpstr>
      <vt:lpstr>Times New Roman</vt:lpstr>
      <vt:lpstr>Verdana</vt:lpstr>
      <vt:lpstr>Wingdings</vt:lpstr>
      <vt:lpstr>主题4</vt:lpstr>
      <vt:lpstr>第四章 自顶向下的分析</vt:lpstr>
      <vt:lpstr>一个例子</vt:lpstr>
      <vt:lpstr>First集和Follow集</vt:lpstr>
      <vt:lpstr>First集</vt:lpstr>
      <vt:lpstr>计算First集的方法</vt:lpstr>
      <vt:lpstr>计算示例</vt:lpstr>
      <vt:lpstr>示例</vt:lpstr>
      <vt:lpstr>示例</vt:lpstr>
      <vt:lpstr>示例</vt:lpstr>
      <vt:lpstr>示例</vt:lpstr>
      <vt:lpstr>示例</vt:lpstr>
      <vt:lpstr>示例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PowerPoint 演示文稿</vt:lpstr>
      <vt:lpstr>Follow集</vt:lpstr>
      <vt:lpstr>计算Follow集的方法</vt:lpstr>
      <vt:lpstr>计算示例</vt:lpstr>
      <vt:lpstr>PowerPoint 演示文稿</vt:lpstr>
      <vt:lpstr>示例</vt:lpstr>
      <vt:lpstr>计算示例</vt:lpstr>
      <vt:lpstr>PowerPoint 演示文稿</vt:lpstr>
      <vt:lpstr>示例</vt:lpstr>
      <vt:lpstr>PowerPoint 演示文稿</vt:lpstr>
      <vt:lpstr>练习</vt:lpstr>
      <vt:lpstr>PowerPoint 演示文稿</vt:lpstr>
      <vt:lpstr>PowerPoint 演示文稿</vt:lpstr>
      <vt:lpstr>PowerPoint 演示文稿</vt:lpstr>
      <vt:lpstr>使用First集和Follow集构造分析表</vt:lpstr>
      <vt:lpstr>定理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综合练习1</vt:lpstr>
      <vt:lpstr>PowerPoint 演示文稿</vt:lpstr>
      <vt:lpstr>PowerPoint 演示文稿</vt:lpstr>
      <vt:lpstr>PowerPoint 演示文稿</vt:lpstr>
      <vt:lpstr>PowerPoint 演示文稿</vt:lpstr>
      <vt:lpstr>综合练习2</vt:lpstr>
      <vt:lpstr>PowerPoint 演示文稿</vt:lpstr>
      <vt:lpstr>PowerPoint 演示文稿</vt:lpstr>
      <vt:lpstr>PowerPoint 演示文稿</vt:lpstr>
      <vt:lpstr>PowerPoint 演示文稿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511</cp:revision>
  <dcterms:created xsi:type="dcterms:W3CDTF">1999-05-10T08:46:26Z</dcterms:created>
  <dcterms:modified xsi:type="dcterms:W3CDTF">2025-04-23T09:39:59Z</dcterms:modified>
</cp:coreProperties>
</file>