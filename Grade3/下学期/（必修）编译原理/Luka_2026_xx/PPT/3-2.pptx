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19"/>
  </p:notesMasterIdLst>
  <p:handoutMasterIdLst>
    <p:handoutMasterId r:id="rId20"/>
  </p:handoutMasterIdLst>
  <p:sldIdLst>
    <p:sldId id="393" r:id="rId2"/>
    <p:sldId id="257" r:id="rId3"/>
    <p:sldId id="394" r:id="rId4"/>
    <p:sldId id="396" r:id="rId5"/>
    <p:sldId id="403" r:id="rId6"/>
    <p:sldId id="398" r:id="rId7"/>
    <p:sldId id="404" r:id="rId8"/>
    <p:sldId id="399" r:id="rId9"/>
    <p:sldId id="405" r:id="rId10"/>
    <p:sldId id="400" r:id="rId11"/>
    <p:sldId id="409" r:id="rId12"/>
    <p:sldId id="401" r:id="rId13"/>
    <p:sldId id="410" r:id="rId14"/>
    <p:sldId id="402" r:id="rId15"/>
    <p:sldId id="406" r:id="rId16"/>
    <p:sldId id="407" r:id="rId17"/>
    <p:sldId id="408" r:id="rId18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0000CC"/>
    <a:srgbClr val="9999FF"/>
    <a:srgbClr val="FFCC99"/>
    <a:srgbClr val="FFFFCC"/>
    <a:srgbClr val="3366CC"/>
    <a:srgbClr val="339933"/>
    <a:srgbClr val="3217BB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1058" autoAdjust="0"/>
  </p:normalViewPr>
  <p:slideViewPr>
    <p:cSldViewPr>
      <p:cViewPr varScale="1">
        <p:scale>
          <a:sx n="76" d="100"/>
          <a:sy n="76" d="100"/>
        </p:scale>
        <p:origin x="84" y="372"/>
      </p:cViewPr>
      <p:guideLst>
        <p:guide orient="horz" pos="288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740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CEBD1789-4991-4012-AA0B-0311859506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3851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09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825CEE83-8A2A-48C4-91B1-F00C976E2A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85408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-12700" y="2708276"/>
            <a:ext cx="12244917" cy="1501775"/>
            <a:chOff x="-23" y="1319"/>
            <a:chExt cx="5799" cy="946"/>
          </a:xfrm>
        </p:grpSpPr>
        <p:sp>
          <p:nvSpPr>
            <p:cNvPr id="5" name="Freeform 18"/>
            <p:cNvSpPr>
              <a:spLocks/>
            </p:cNvSpPr>
            <p:nvPr/>
          </p:nvSpPr>
          <p:spPr bwMode="gray">
            <a:xfrm>
              <a:off x="-20" y="1319"/>
              <a:ext cx="5779" cy="946"/>
            </a:xfrm>
            <a:custGeom>
              <a:avLst/>
              <a:gdLst>
                <a:gd name="T0" fmla="*/ 6 w 5779"/>
                <a:gd name="T1" fmla="*/ 454 h 946"/>
                <a:gd name="T2" fmla="*/ 355 w 5779"/>
                <a:gd name="T3" fmla="*/ 454 h 946"/>
                <a:gd name="T4" fmla="*/ 757 w 5779"/>
                <a:gd name="T5" fmla="*/ 1 h 946"/>
                <a:gd name="T6" fmla="*/ 2511 w 5779"/>
                <a:gd name="T7" fmla="*/ 0 h 946"/>
                <a:gd name="T8" fmla="*/ 2646 w 5779"/>
                <a:gd name="T9" fmla="*/ 144 h 946"/>
                <a:gd name="T10" fmla="*/ 5779 w 5779"/>
                <a:gd name="T11" fmla="*/ 137 h 946"/>
                <a:gd name="T12" fmla="*/ 5779 w 5779"/>
                <a:gd name="T13" fmla="*/ 772 h 946"/>
                <a:gd name="T14" fmla="*/ 2899 w 5779"/>
                <a:gd name="T15" fmla="*/ 765 h 946"/>
                <a:gd name="T16" fmla="*/ 2757 w 5779"/>
                <a:gd name="T17" fmla="*/ 946 h 946"/>
                <a:gd name="T18" fmla="*/ 1883 w 5779"/>
                <a:gd name="T19" fmla="*/ 946 h 946"/>
                <a:gd name="T20" fmla="*/ 1663 w 5779"/>
                <a:gd name="T21" fmla="*/ 687 h 946"/>
                <a:gd name="T22" fmla="*/ 0 w 5779"/>
                <a:gd name="T23" fmla="*/ 687 h 946"/>
                <a:gd name="T24" fmla="*/ 35 w 5779"/>
                <a:gd name="T25" fmla="*/ 480 h 94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79" h="946">
                  <a:moveTo>
                    <a:pt x="6" y="454"/>
                  </a:moveTo>
                  <a:lnTo>
                    <a:pt x="355" y="454"/>
                  </a:lnTo>
                  <a:lnTo>
                    <a:pt x="757" y="1"/>
                  </a:lnTo>
                  <a:lnTo>
                    <a:pt x="2511" y="0"/>
                  </a:lnTo>
                  <a:lnTo>
                    <a:pt x="2646" y="144"/>
                  </a:lnTo>
                  <a:lnTo>
                    <a:pt x="5779" y="137"/>
                  </a:lnTo>
                  <a:lnTo>
                    <a:pt x="5779" y="772"/>
                  </a:lnTo>
                  <a:lnTo>
                    <a:pt x="2899" y="765"/>
                  </a:lnTo>
                  <a:lnTo>
                    <a:pt x="2757" y="946"/>
                  </a:lnTo>
                  <a:lnTo>
                    <a:pt x="1883" y="946"/>
                  </a:lnTo>
                  <a:lnTo>
                    <a:pt x="1663" y="687"/>
                  </a:lnTo>
                  <a:lnTo>
                    <a:pt x="0" y="687"/>
                  </a:lnTo>
                  <a:lnTo>
                    <a:pt x="35" y="48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77251" dir="4832261" algn="ctr" rotWithShape="0">
                <a:srgbClr val="000066">
                  <a:alpha val="18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  <p:sp>
          <p:nvSpPr>
            <p:cNvPr id="6" name="Freeform 19" descr="01_img(Global Digtal Desigm(imageState)"/>
            <p:cNvSpPr>
              <a:spLocks/>
            </p:cNvSpPr>
            <p:nvPr/>
          </p:nvSpPr>
          <p:spPr bwMode="gray">
            <a:xfrm>
              <a:off x="-23" y="1344"/>
              <a:ext cx="5799" cy="895"/>
            </a:xfrm>
            <a:custGeom>
              <a:avLst/>
              <a:gdLst>
                <a:gd name="T0" fmla="*/ 0 w 5799"/>
                <a:gd name="T1" fmla="*/ 455 h 895"/>
                <a:gd name="T2" fmla="*/ 369 w 5799"/>
                <a:gd name="T3" fmla="*/ 454 h 895"/>
                <a:gd name="T4" fmla="*/ 776 w 5799"/>
                <a:gd name="T5" fmla="*/ 0 h 895"/>
                <a:gd name="T6" fmla="*/ 2496 w 5799"/>
                <a:gd name="T7" fmla="*/ 0 h 895"/>
                <a:gd name="T8" fmla="*/ 2632 w 5799"/>
                <a:gd name="T9" fmla="*/ 136 h 895"/>
                <a:gd name="T10" fmla="*/ 5799 w 5799"/>
                <a:gd name="T11" fmla="*/ 136 h 895"/>
                <a:gd name="T12" fmla="*/ 5788 w 5799"/>
                <a:gd name="T13" fmla="*/ 727 h 895"/>
                <a:gd name="T14" fmla="*/ 2883 w 5799"/>
                <a:gd name="T15" fmla="*/ 708 h 895"/>
                <a:gd name="T16" fmla="*/ 2747 w 5799"/>
                <a:gd name="T17" fmla="*/ 895 h 895"/>
                <a:gd name="T18" fmla="*/ 1899 w 5799"/>
                <a:gd name="T19" fmla="*/ 895 h 895"/>
                <a:gd name="T20" fmla="*/ 1681 w 5799"/>
                <a:gd name="T21" fmla="*/ 635 h 895"/>
                <a:gd name="T22" fmla="*/ 7 w 5799"/>
                <a:gd name="T23" fmla="*/ 635 h 895"/>
                <a:gd name="T24" fmla="*/ 7 w 5799"/>
                <a:gd name="T25" fmla="*/ 454 h 8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99" h="895">
                  <a:moveTo>
                    <a:pt x="0" y="455"/>
                  </a:moveTo>
                  <a:lnTo>
                    <a:pt x="369" y="454"/>
                  </a:lnTo>
                  <a:lnTo>
                    <a:pt x="776" y="0"/>
                  </a:lnTo>
                  <a:lnTo>
                    <a:pt x="2496" y="0"/>
                  </a:lnTo>
                  <a:lnTo>
                    <a:pt x="2632" y="136"/>
                  </a:lnTo>
                  <a:lnTo>
                    <a:pt x="5799" y="136"/>
                  </a:lnTo>
                  <a:lnTo>
                    <a:pt x="5788" y="727"/>
                  </a:lnTo>
                  <a:lnTo>
                    <a:pt x="2883" y="708"/>
                  </a:lnTo>
                  <a:lnTo>
                    <a:pt x="2747" y="895"/>
                  </a:lnTo>
                  <a:lnTo>
                    <a:pt x="1899" y="895"/>
                  </a:lnTo>
                  <a:lnTo>
                    <a:pt x="1681" y="635"/>
                  </a:lnTo>
                  <a:lnTo>
                    <a:pt x="7" y="635"/>
                  </a:lnTo>
                  <a:lnTo>
                    <a:pt x="7" y="454"/>
                  </a:lnTo>
                </a:path>
              </a:pathLst>
            </a:custGeom>
            <a:blipFill dpi="0" rotWithShape="1">
              <a:blip r:embed="rId2" cstate="print"/>
              <a:srcRect/>
              <a:stretch>
                <a:fillRect/>
              </a:stretch>
            </a:blip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</p:grpSp>
      <p:sp>
        <p:nvSpPr>
          <p:cNvPr id="7987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27351" y="4365625"/>
            <a:ext cx="8534400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00151" y="1196975"/>
            <a:ext cx="10363200" cy="1470025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579439"/>
            <a:ext cx="2743200" cy="59007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579439"/>
            <a:ext cx="8026400" cy="59007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19200" y="16764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36957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FC6AE96-43E9-4D4A-B7B7-8F9A2F2ADEF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9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6"/>
          <p:cNvSpPr>
            <a:spLocks/>
          </p:cNvSpPr>
          <p:nvPr/>
        </p:nvSpPr>
        <p:spPr bwMode="gray">
          <a:xfrm>
            <a:off x="1" y="360363"/>
            <a:ext cx="12198351" cy="900112"/>
          </a:xfrm>
          <a:custGeom>
            <a:avLst/>
            <a:gdLst>
              <a:gd name="T0" fmla="*/ 0 w 5763"/>
              <a:gd name="T1" fmla="*/ 584200 h 567"/>
              <a:gd name="T2" fmla="*/ 698500 w 5763"/>
              <a:gd name="T3" fmla="*/ 584200 h 567"/>
              <a:gd name="T4" fmla="*/ 1233488 w 5763"/>
              <a:gd name="T5" fmla="*/ 0 h 567"/>
              <a:gd name="T6" fmla="*/ 3432175 w 5763"/>
              <a:gd name="T7" fmla="*/ 0 h 567"/>
              <a:gd name="T8" fmla="*/ 3595688 w 5763"/>
              <a:gd name="T9" fmla="*/ 184150 h 567"/>
              <a:gd name="T10" fmla="*/ 9137650 w 5763"/>
              <a:gd name="T11" fmla="*/ 177800 h 567"/>
              <a:gd name="T12" fmla="*/ 9148763 w 5763"/>
              <a:gd name="T13" fmla="*/ 900112 h 567"/>
              <a:gd name="T14" fmla="*/ 9525 w 5763"/>
              <a:gd name="T15" fmla="*/ 882650 h 56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63" h="567">
                <a:moveTo>
                  <a:pt x="0" y="368"/>
                </a:moveTo>
                <a:lnTo>
                  <a:pt x="440" y="368"/>
                </a:lnTo>
                <a:lnTo>
                  <a:pt x="777" y="0"/>
                </a:lnTo>
                <a:lnTo>
                  <a:pt x="2162" y="0"/>
                </a:lnTo>
                <a:lnTo>
                  <a:pt x="2265" y="116"/>
                </a:lnTo>
                <a:lnTo>
                  <a:pt x="5756" y="112"/>
                </a:lnTo>
                <a:lnTo>
                  <a:pt x="5763" y="567"/>
                </a:lnTo>
                <a:lnTo>
                  <a:pt x="6" y="556"/>
                </a:lnTo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1027" name="Freeform 15" descr="01b_img(Global Digtal Desigm(imageState)"/>
          <p:cNvSpPr>
            <a:spLocks/>
          </p:cNvSpPr>
          <p:nvPr/>
        </p:nvSpPr>
        <p:spPr bwMode="gray">
          <a:xfrm>
            <a:off x="-12700" y="336550"/>
            <a:ext cx="12242800" cy="838200"/>
          </a:xfrm>
          <a:custGeom>
            <a:avLst/>
            <a:gdLst>
              <a:gd name="T0" fmla="*/ 712788 w 5784"/>
              <a:gd name="T1" fmla="*/ 587375 h 528"/>
              <a:gd name="T2" fmla="*/ 1219200 w 5784"/>
              <a:gd name="T3" fmla="*/ 1588 h 528"/>
              <a:gd name="T4" fmla="*/ 3425825 w 5784"/>
              <a:gd name="T5" fmla="*/ 0 h 528"/>
              <a:gd name="T6" fmla="*/ 3584575 w 5784"/>
              <a:gd name="T7" fmla="*/ 182563 h 528"/>
              <a:gd name="T8" fmla="*/ 9182100 w 5784"/>
              <a:gd name="T9" fmla="*/ 182563 h 528"/>
              <a:gd name="T10" fmla="*/ 9174163 w 5784"/>
              <a:gd name="T11" fmla="*/ 838200 h 528"/>
              <a:gd name="T12" fmla="*/ 0 w 5784"/>
              <a:gd name="T13" fmla="*/ 823913 h 528"/>
              <a:gd name="T14" fmla="*/ 0 w 5784"/>
              <a:gd name="T15" fmla="*/ 588963 h 5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84" h="528">
                <a:moveTo>
                  <a:pt x="449" y="370"/>
                </a:moveTo>
                <a:lnTo>
                  <a:pt x="768" y="1"/>
                </a:lnTo>
                <a:lnTo>
                  <a:pt x="2158" y="0"/>
                </a:lnTo>
                <a:lnTo>
                  <a:pt x="2258" y="115"/>
                </a:lnTo>
                <a:lnTo>
                  <a:pt x="5784" y="115"/>
                </a:lnTo>
                <a:lnTo>
                  <a:pt x="5779" y="528"/>
                </a:lnTo>
                <a:lnTo>
                  <a:pt x="0" y="519"/>
                </a:lnTo>
                <a:lnTo>
                  <a:pt x="0" y="371"/>
                </a:lnTo>
              </a:path>
            </a:pathLst>
          </a:custGeom>
          <a:blipFill dpi="0" rotWithShape="1">
            <a:blip r:embed="rId20" cstate="print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43025"/>
            <a:ext cx="10972800" cy="513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812800" y="579438"/>
            <a:ext cx="10464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2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上下文无关文法</a:t>
            </a:r>
            <a:br>
              <a:rPr lang="en-US" altLang="zh-CN" dirty="0"/>
            </a:br>
            <a:r>
              <a:rPr lang="zh-CN" altLang="en-US" dirty="0"/>
              <a:t>与语法分析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扩展的表示方法：</a:t>
            </a:r>
            <a:r>
              <a:rPr lang="en-US" altLang="zh-CN" dirty="0"/>
              <a:t>EBNF</a:t>
            </a:r>
            <a:endParaRPr lang="zh-CN" alt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767408" y="1375927"/>
            <a:ext cx="10657184" cy="4824536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前面用来</a:t>
            </a:r>
            <a:r>
              <a:rPr lang="zh-CN" altLang="en-US" dirty="0">
                <a:solidFill>
                  <a:srgbClr val="FF0000"/>
                </a:solidFill>
              </a:rPr>
              <a:t>表示上下文无关文法规则</a:t>
            </a:r>
            <a:r>
              <a:rPr lang="zh-CN" altLang="en-US" dirty="0"/>
              <a:t>的形式被称为</a:t>
            </a:r>
            <a:r>
              <a:rPr lang="en-US" altLang="zh-CN" dirty="0">
                <a:solidFill>
                  <a:srgbClr val="FF0000"/>
                </a:solidFill>
              </a:rPr>
              <a:t>BNF</a:t>
            </a:r>
            <a:r>
              <a:rPr lang="zh-CN" altLang="en-US" dirty="0"/>
              <a:t>（</a:t>
            </a:r>
            <a:r>
              <a:rPr lang="en-US" altLang="zh-CN" dirty="0"/>
              <a:t>Backus-Naur form</a:t>
            </a:r>
            <a:r>
              <a:rPr lang="zh-CN" altLang="en-US" dirty="0"/>
              <a:t>）。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EBNF</a:t>
            </a:r>
            <a:r>
              <a:rPr lang="zh-CN" altLang="en-US" dirty="0"/>
              <a:t>是</a:t>
            </a:r>
            <a:r>
              <a:rPr lang="en-US" altLang="zh-CN" dirty="0"/>
              <a:t>BNF</a:t>
            </a:r>
            <a:r>
              <a:rPr lang="zh-CN" altLang="en-US" dirty="0"/>
              <a:t>的扩展表示方法。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BNF</a:t>
            </a:r>
            <a:r>
              <a:rPr lang="zh-CN" altLang="en-US" dirty="0"/>
              <a:t>中，重复是使用递归表示的，重复实际分两种：</a:t>
            </a:r>
            <a:r>
              <a:rPr lang="zh-CN" altLang="en-US" dirty="0">
                <a:solidFill>
                  <a:srgbClr val="FF0000"/>
                </a:solidFill>
              </a:rPr>
              <a:t>嵌套重复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并列重复</a:t>
            </a:r>
            <a:r>
              <a:rPr lang="zh-CN" altLang="en-US" dirty="0"/>
              <a:t>，并列重复对应到程序是可以用循环来实现的。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为了更方便的表示并列重复，对</a:t>
            </a:r>
            <a:r>
              <a:rPr lang="en-US" altLang="zh-CN" dirty="0"/>
              <a:t>BNF</a:t>
            </a:r>
            <a:r>
              <a:rPr lang="zh-CN" altLang="en-US" dirty="0"/>
              <a:t>进行扩展。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EBNF</a:t>
            </a:r>
            <a:r>
              <a:rPr lang="zh-CN" altLang="en-US" dirty="0"/>
              <a:t>中的重复表示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609600" indent="-609600" eaLnBrk="1" hangingPunct="1"/>
            <a:r>
              <a:rPr lang="zh-CN" altLang="en-US" dirty="0"/>
              <a:t>下面两种重复的递归形式表达的就是并列重复：</a:t>
            </a:r>
            <a:endParaRPr lang="en-US" altLang="zh-CN" dirty="0"/>
          </a:p>
          <a:p>
            <a:pPr marL="1009650" lvl="1" indent="-609600" eaLnBrk="1" hangingPunct="1"/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i="1" dirty="0">
                <a:solidFill>
                  <a:srgbClr val="FF0000"/>
                </a:solidFill>
              </a:rPr>
              <a:t> |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     </a:t>
            </a:r>
          </a:p>
          <a:p>
            <a:pPr marL="1009650" lvl="1" indent="-609600" eaLnBrk="1" hangingPunct="1"/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i="1" dirty="0">
                <a:solidFill>
                  <a:srgbClr val="FF0000"/>
                </a:solidFill>
              </a:rPr>
              <a:t> A</a:t>
            </a:r>
            <a:r>
              <a:rPr lang="en-US" altLang="zh-CN" dirty="0">
                <a:solidFill>
                  <a:srgbClr val="FF0000"/>
                </a:solidFill>
              </a:rPr>
              <a:t> |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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   </a:t>
            </a:r>
          </a:p>
          <a:p>
            <a:pPr marL="590550" indent="-533400" eaLnBrk="1" hangingPunct="1"/>
            <a:r>
              <a:rPr lang="zh-CN" altLang="en-US" dirty="0"/>
              <a:t>其中第一条中要求</a:t>
            </a:r>
            <a:r>
              <a:rPr lang="en-US" altLang="zh-CN" i="1" dirty="0">
                <a:sym typeface="Symbol" panose="05050102010706020507" pitchFamily="18" charset="2"/>
              </a:rPr>
              <a:t></a:t>
            </a:r>
            <a:r>
              <a:rPr lang="en-US" altLang="zh-CN" i="1" dirty="0"/>
              <a:t> </a:t>
            </a:r>
            <a:r>
              <a:rPr lang="zh-CN" altLang="en-US" dirty="0"/>
              <a:t>不能以</a:t>
            </a:r>
            <a:r>
              <a:rPr lang="en-US" altLang="zh-CN" dirty="0"/>
              <a:t>A</a:t>
            </a:r>
            <a:r>
              <a:rPr lang="zh-CN" altLang="en-US" dirty="0"/>
              <a:t>开头，</a:t>
            </a:r>
            <a:r>
              <a:rPr lang="en-US" altLang="zh-CN" dirty="0"/>
              <a:t> </a:t>
            </a:r>
            <a:r>
              <a:rPr lang="zh-CN" altLang="en-US" dirty="0"/>
              <a:t>而第二条中要求</a:t>
            </a:r>
            <a:r>
              <a:rPr lang="en-US" altLang="zh-CN" i="1" dirty="0">
                <a:sym typeface="Symbol" panose="05050102010706020507" pitchFamily="18" charset="2"/>
              </a:rPr>
              <a:t></a:t>
            </a:r>
            <a:r>
              <a:rPr lang="en-US" altLang="zh-CN" i="1" dirty="0"/>
              <a:t> </a:t>
            </a:r>
            <a:r>
              <a:rPr lang="zh-CN" altLang="en-US" dirty="0"/>
              <a:t>不能以</a:t>
            </a:r>
            <a:r>
              <a:rPr lang="en-US" altLang="zh-CN" dirty="0"/>
              <a:t>A</a:t>
            </a:r>
            <a:r>
              <a:rPr lang="zh-CN" altLang="en-US" dirty="0"/>
              <a:t>结尾。对应的正则表达式为：</a:t>
            </a:r>
            <a:endParaRPr lang="en-US" altLang="zh-CN" dirty="0"/>
          </a:p>
          <a:p>
            <a:pPr marL="990600" lvl="1" indent="-533400" eaLnBrk="1" hangingPunct="1"/>
            <a:r>
              <a:rPr lang="en-US" altLang="zh-CN" i="1" dirty="0">
                <a:solidFill>
                  <a:srgbClr val="FF0000"/>
                </a:solidFill>
                <a:cs typeface="+mn-cs"/>
                <a:sym typeface="Symbol" panose="05050102010706020507" pitchFamily="18" charset="2"/>
              </a:rPr>
              <a:t></a:t>
            </a:r>
            <a:r>
              <a:rPr lang="en-US" altLang="zh-CN" i="1" dirty="0">
                <a:solidFill>
                  <a:srgbClr val="FF0000"/>
                </a:solidFill>
              </a:rPr>
              <a:t> *</a:t>
            </a:r>
            <a:r>
              <a:rPr lang="en-US" altLang="zh-CN" i="1" dirty="0">
                <a:solidFill>
                  <a:srgbClr val="FF0000"/>
                </a:solidFill>
                <a:cs typeface="+mn-cs"/>
              </a:rPr>
              <a:t>	</a:t>
            </a:r>
          </a:p>
          <a:p>
            <a:pPr marL="990600" lvl="1" indent="-533400" eaLnBrk="1" hangingPunct="1"/>
            <a:r>
              <a:rPr lang="en-US" altLang="zh-CN" i="1" dirty="0">
                <a:solidFill>
                  <a:srgbClr val="FF0000"/>
                </a:solidFill>
                <a:cs typeface="+mn-cs"/>
                <a:sym typeface="Symbol" panose="05050102010706020507" pitchFamily="18" charset="2"/>
              </a:rPr>
              <a:t></a:t>
            </a:r>
            <a:r>
              <a:rPr lang="en-US" altLang="zh-CN" i="1" dirty="0">
                <a:solidFill>
                  <a:srgbClr val="FF0000"/>
                </a:solidFill>
                <a:cs typeface="+mn-cs"/>
              </a:rPr>
              <a:t>*</a:t>
            </a:r>
            <a:r>
              <a:rPr lang="en-US" altLang="zh-CN" i="1" dirty="0">
                <a:solidFill>
                  <a:srgbClr val="FF0000"/>
                </a:solidFill>
                <a:cs typeface="+mn-cs"/>
                <a:sym typeface="Symbol" panose="05050102010706020507" pitchFamily="18" charset="2"/>
              </a:rPr>
              <a:t></a:t>
            </a:r>
            <a:endParaRPr lang="en-US" altLang="zh-CN" i="1" dirty="0">
              <a:cs typeface="+mn-cs"/>
              <a:sym typeface="Symbol" panose="05050102010706020507" pitchFamily="18" charset="2"/>
            </a:endParaRPr>
          </a:p>
          <a:p>
            <a:pPr marL="590550" indent="-533400" eaLnBrk="1" hangingPunct="1"/>
            <a:r>
              <a:rPr lang="en-US" altLang="zh-CN" i="1" dirty="0">
                <a:sym typeface="Symbol" panose="05050102010706020507" pitchFamily="18" charset="2"/>
              </a:rPr>
              <a:t>EBNF</a:t>
            </a:r>
            <a:r>
              <a:rPr lang="zh-CN" altLang="en-US" dirty="0">
                <a:sym typeface="Symbol" panose="05050102010706020507" pitchFamily="18" charset="2"/>
              </a:rPr>
              <a:t>中使用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{…}</a:t>
            </a:r>
            <a:r>
              <a:rPr lang="zh-CN" altLang="en-US" dirty="0">
                <a:sym typeface="Symbol" panose="05050102010706020507" pitchFamily="18" charset="2"/>
              </a:rPr>
              <a:t>来表示这种重复：</a:t>
            </a:r>
            <a:endParaRPr lang="en-US" altLang="zh-CN" dirty="0">
              <a:cs typeface="+mn-cs"/>
            </a:endParaRPr>
          </a:p>
          <a:p>
            <a:pPr lvl="1" eaLnBrk="1" hangingPunct="1"/>
            <a:r>
              <a:rPr lang="en-US" altLang="zh-CN" i="1" dirty="0"/>
              <a:t>  </a:t>
            </a:r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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{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dirty="0">
                <a:solidFill>
                  <a:srgbClr val="FF0000"/>
                </a:solidFill>
              </a:rPr>
              <a:t> }</a:t>
            </a:r>
          </a:p>
          <a:p>
            <a:pPr lvl="1" eaLnBrk="1" hangingPunct="1"/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{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</a:t>
            </a:r>
            <a:endParaRPr lang="en-US" altLang="zh-CN" dirty="0">
              <a:solidFill>
                <a:srgbClr val="FF0000"/>
              </a:solidFill>
            </a:endParaRPr>
          </a:p>
          <a:p>
            <a:pPr marL="590550" indent="-533400" eaLnBrk="1" hangingPunct="1"/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909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1: </a:t>
            </a:r>
            <a:r>
              <a:rPr lang="zh-CN" altLang="en-US" dirty="0"/>
              <a:t>语句序列文法</a:t>
            </a:r>
            <a:r>
              <a:rPr lang="en-US" altLang="zh-CN" dirty="0"/>
              <a:t>:</a:t>
            </a:r>
            <a:endParaRPr lang="en-US" altLang="zh-CN" i="1" dirty="0"/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i="1" dirty="0"/>
              <a:t>   </a:t>
            </a:r>
            <a:r>
              <a:rPr lang="en-US" altLang="zh-CN" i="1" dirty="0" err="1"/>
              <a:t>stmt</a:t>
            </a:r>
            <a:r>
              <a:rPr lang="en-US" altLang="zh-CN" i="1" dirty="0"/>
              <a:t>-Sequence </a:t>
            </a:r>
            <a:r>
              <a:rPr lang="en-US" altLang="zh-CN" i="1" dirty="0">
                <a:sym typeface="Symbol" panose="05050102010706020507" pitchFamily="18" charset="2"/>
              </a:rPr>
              <a:t></a:t>
            </a:r>
            <a:r>
              <a:rPr lang="en-US" altLang="zh-CN" i="1" dirty="0"/>
              <a:t> </a:t>
            </a:r>
            <a:r>
              <a:rPr lang="en-US" altLang="zh-CN" dirty="0"/>
              <a:t> </a:t>
            </a:r>
            <a:r>
              <a:rPr lang="en-US" altLang="zh-CN" i="1" dirty="0" err="1"/>
              <a:t>stmt</a:t>
            </a:r>
            <a:r>
              <a:rPr lang="en-US" altLang="zh-CN" i="1" dirty="0"/>
              <a:t> </a:t>
            </a:r>
            <a:r>
              <a:rPr lang="en-US" altLang="zh-CN" dirty="0"/>
              <a:t>; </a:t>
            </a:r>
            <a:r>
              <a:rPr lang="en-US" altLang="zh-CN" i="1" dirty="0" err="1"/>
              <a:t>stmt</a:t>
            </a:r>
            <a:r>
              <a:rPr lang="en-US" altLang="zh-CN" i="1" dirty="0"/>
              <a:t>-Sequence |  </a:t>
            </a:r>
            <a:r>
              <a:rPr lang="en-US" altLang="zh-CN" i="1" dirty="0" err="1"/>
              <a:t>stmt</a:t>
            </a:r>
            <a:endParaRPr lang="en-US" altLang="zh-CN" i="1" dirty="0"/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i="1" dirty="0"/>
              <a:t>   </a:t>
            </a:r>
            <a:r>
              <a:rPr lang="en-US" altLang="zh-CN" i="1" dirty="0" err="1"/>
              <a:t>stmt</a:t>
            </a:r>
            <a:r>
              <a:rPr lang="en-US" altLang="zh-CN" i="1" dirty="0"/>
              <a:t> </a:t>
            </a:r>
            <a:r>
              <a:rPr lang="en-US" altLang="zh-CN" i="1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s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使用</a:t>
            </a:r>
            <a:r>
              <a:rPr lang="en-US" altLang="zh-CN" dirty="0"/>
              <a:t>EBNF </a:t>
            </a:r>
            <a:r>
              <a:rPr lang="zh-CN" altLang="en-US" dirty="0"/>
              <a:t>来修改如下：</a:t>
            </a:r>
            <a:r>
              <a:rPr lang="en-US" altLang="zh-CN" dirty="0"/>
              <a:t>	</a:t>
            </a:r>
            <a:endParaRPr lang="en-US" altLang="zh-CN" i="1" dirty="0"/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i="1" dirty="0"/>
              <a:t>   </a:t>
            </a:r>
            <a:r>
              <a:rPr lang="en-US" altLang="zh-CN" i="1" dirty="0" err="1">
                <a:solidFill>
                  <a:srgbClr val="0000CC"/>
                </a:solidFill>
              </a:rPr>
              <a:t>stmt</a:t>
            </a:r>
            <a:r>
              <a:rPr lang="en-US" altLang="zh-CN" i="1" dirty="0">
                <a:solidFill>
                  <a:srgbClr val="0000CC"/>
                </a:solidFill>
              </a:rPr>
              <a:t>-sequence </a:t>
            </a:r>
            <a:r>
              <a:rPr lang="en-US" altLang="zh-CN" i="1" dirty="0">
                <a:solidFill>
                  <a:srgbClr val="0000CC"/>
                </a:solidFill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0000CC"/>
                </a:solidFill>
              </a:rPr>
              <a:t>{ </a:t>
            </a:r>
            <a:r>
              <a:rPr lang="en-US" altLang="zh-CN" i="1" dirty="0" err="1">
                <a:solidFill>
                  <a:srgbClr val="0000CC"/>
                </a:solidFill>
              </a:rPr>
              <a:t>stmt</a:t>
            </a:r>
            <a:r>
              <a:rPr lang="en-US" altLang="zh-CN" i="1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0000CC"/>
                </a:solidFill>
              </a:rPr>
              <a:t>; } </a:t>
            </a:r>
            <a:r>
              <a:rPr lang="en-US" altLang="zh-CN" i="1" dirty="0" err="1">
                <a:solidFill>
                  <a:srgbClr val="0000CC"/>
                </a:solidFill>
              </a:rPr>
              <a:t>stmt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i="1" dirty="0"/>
              <a:t>   </a:t>
            </a:r>
            <a:r>
              <a:rPr lang="en-US" altLang="zh-CN" i="1" dirty="0" err="1">
                <a:solidFill>
                  <a:srgbClr val="0000CC"/>
                </a:solidFill>
              </a:rPr>
              <a:t>stmt</a:t>
            </a:r>
            <a:r>
              <a:rPr lang="en-US" altLang="zh-CN" i="1" dirty="0">
                <a:solidFill>
                  <a:srgbClr val="0000CC"/>
                </a:solidFill>
              </a:rPr>
              <a:t>-sequence </a:t>
            </a:r>
            <a:r>
              <a:rPr lang="en-US" altLang="zh-CN" i="1" dirty="0">
                <a:solidFill>
                  <a:srgbClr val="0000CC"/>
                </a:solidFill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0000CC"/>
                </a:solidFill>
              </a:rPr>
              <a:t> </a:t>
            </a:r>
            <a:r>
              <a:rPr lang="en-US" altLang="zh-CN" i="1" dirty="0" err="1">
                <a:solidFill>
                  <a:srgbClr val="0000CC"/>
                </a:solidFill>
              </a:rPr>
              <a:t>stmt</a:t>
            </a:r>
            <a:r>
              <a:rPr lang="en-US" altLang="zh-CN" i="1" dirty="0">
                <a:solidFill>
                  <a:srgbClr val="0000CC"/>
                </a:solidFill>
              </a:rPr>
              <a:t>  { </a:t>
            </a:r>
            <a:r>
              <a:rPr lang="en-US" altLang="zh-CN" dirty="0">
                <a:solidFill>
                  <a:srgbClr val="0000CC"/>
                </a:solidFill>
              </a:rPr>
              <a:t>; </a:t>
            </a:r>
            <a:r>
              <a:rPr lang="en-US" altLang="zh-CN" i="1" dirty="0" err="1">
                <a:solidFill>
                  <a:srgbClr val="0000CC"/>
                </a:solidFill>
              </a:rPr>
              <a:t>stmt</a:t>
            </a:r>
            <a:r>
              <a:rPr lang="en-US" altLang="zh-CN" i="1" dirty="0">
                <a:solidFill>
                  <a:srgbClr val="0000CC"/>
                </a:solidFill>
              </a:rPr>
              <a:t> }</a:t>
            </a:r>
            <a:endParaRPr lang="zh-CN" altLang="en-US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939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：将下面的文法用</a:t>
            </a:r>
            <a:r>
              <a:rPr lang="en-US" altLang="zh-CN" dirty="0"/>
              <a:t>EBNF</a:t>
            </a:r>
            <a:r>
              <a:rPr lang="zh-CN" altLang="en-US" dirty="0"/>
              <a:t>表示：</a:t>
            </a:r>
            <a:endParaRPr lang="en-US" altLang="zh-CN" dirty="0"/>
          </a:p>
          <a:p>
            <a:pPr marL="0" indent="0" algn="ctr" eaLnBrk="1" hangingPunct="1">
              <a:lnSpc>
                <a:spcPct val="150000"/>
              </a:lnSpc>
              <a:buNone/>
            </a:pPr>
            <a:r>
              <a:rPr lang="en-US" altLang="zh-CN" sz="2400" i="1" dirty="0"/>
              <a:t>	exp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exp </a:t>
            </a:r>
            <a:r>
              <a:rPr lang="en-US" altLang="zh-CN" sz="2400" i="1" dirty="0" err="1"/>
              <a:t>addop</a:t>
            </a:r>
            <a:r>
              <a:rPr lang="en-US" altLang="zh-CN" sz="2400" i="1" dirty="0"/>
              <a:t> term | term</a:t>
            </a:r>
          </a:p>
          <a:p>
            <a:pPr lvl="2" eaLnBrk="1" hangingPunct="1">
              <a:lnSpc>
                <a:spcPct val="150000"/>
              </a:lnSpc>
              <a:buFontTx/>
              <a:buNone/>
            </a:pPr>
            <a:r>
              <a:rPr lang="en-US" altLang="zh-CN" sz="2400" i="1" dirty="0">
                <a:solidFill>
                  <a:srgbClr val="0000CC"/>
                </a:solidFill>
              </a:rPr>
              <a:t>            		exp </a:t>
            </a:r>
            <a:r>
              <a:rPr lang="en-US" altLang="zh-CN" sz="2400" i="1" dirty="0">
                <a:solidFill>
                  <a:srgbClr val="0000CC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0000CC"/>
                </a:solidFill>
              </a:rPr>
              <a:t>  </a:t>
            </a:r>
            <a:r>
              <a:rPr lang="en-US" altLang="zh-CN" sz="2400" i="1" dirty="0">
                <a:solidFill>
                  <a:srgbClr val="0000CC"/>
                </a:solidFill>
              </a:rPr>
              <a:t>term { </a:t>
            </a:r>
            <a:r>
              <a:rPr lang="en-US" altLang="zh-CN" sz="2400" i="1" dirty="0" err="1">
                <a:solidFill>
                  <a:srgbClr val="0000CC"/>
                </a:solidFill>
              </a:rPr>
              <a:t>addop</a:t>
            </a:r>
            <a:r>
              <a:rPr lang="en-US" altLang="zh-CN" sz="2400" i="1" dirty="0">
                <a:solidFill>
                  <a:srgbClr val="0000CC"/>
                </a:solidFill>
              </a:rPr>
              <a:t> term } </a:t>
            </a:r>
            <a:endParaRPr lang="en-US" altLang="zh-CN" sz="2400" i="1" dirty="0"/>
          </a:p>
          <a:p>
            <a:pPr lvl="2" eaLnBrk="1" hangingPunct="1">
              <a:lnSpc>
                <a:spcPct val="150000"/>
              </a:lnSpc>
              <a:buFontTx/>
              <a:buNone/>
            </a:pPr>
            <a:r>
              <a:rPr lang="en-US" altLang="zh-CN" sz="2400" i="1" dirty="0">
                <a:solidFill>
                  <a:srgbClr val="0000CC"/>
                </a:solidFill>
              </a:rPr>
              <a:t>            		exp </a:t>
            </a:r>
            <a:r>
              <a:rPr lang="en-US" altLang="zh-CN" sz="2400" i="1" dirty="0">
                <a:solidFill>
                  <a:srgbClr val="0000CC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solidFill>
                  <a:srgbClr val="0000CC"/>
                </a:solidFill>
              </a:rPr>
              <a:t> </a:t>
            </a:r>
            <a:r>
              <a:rPr lang="en-US" altLang="zh-CN" sz="2400" dirty="0">
                <a:solidFill>
                  <a:srgbClr val="0000CC"/>
                </a:solidFill>
              </a:rPr>
              <a:t> {</a:t>
            </a:r>
            <a:r>
              <a:rPr lang="en-US" altLang="zh-CN" sz="2400" i="1" dirty="0">
                <a:solidFill>
                  <a:srgbClr val="0000CC"/>
                </a:solidFill>
              </a:rPr>
              <a:t>term </a:t>
            </a:r>
            <a:r>
              <a:rPr lang="en-US" altLang="zh-CN" sz="2400" i="1" dirty="0" err="1">
                <a:solidFill>
                  <a:srgbClr val="0000CC"/>
                </a:solidFill>
              </a:rPr>
              <a:t>addop</a:t>
            </a:r>
            <a:r>
              <a:rPr lang="en-US" altLang="zh-CN" sz="2400" i="1" dirty="0">
                <a:solidFill>
                  <a:srgbClr val="0000CC"/>
                </a:solidFill>
              </a:rPr>
              <a:t> } term 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CA091F-72CB-448E-81B2-41BEB8D88F6E}"/>
              </a:ext>
            </a:extLst>
          </p:cNvPr>
          <p:cNvSpPr/>
          <p:nvPr/>
        </p:nvSpPr>
        <p:spPr>
          <a:xfrm>
            <a:off x="993776" y="4201344"/>
            <a:ext cx="5174232" cy="1938992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en-US" altLang="zh-CN" sz="2400" b="1" dirty="0"/>
              <a:t>exp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exp </a:t>
            </a:r>
            <a:r>
              <a:rPr lang="en-US" altLang="zh-CN" sz="2400" b="1" dirty="0" err="1"/>
              <a:t>addop</a:t>
            </a:r>
            <a:r>
              <a:rPr lang="en-US" altLang="zh-CN" sz="2400" b="1" dirty="0"/>
              <a:t> term | term</a:t>
            </a:r>
          </a:p>
          <a:p>
            <a:pPr marL="0" lvl="2"/>
            <a:r>
              <a:rPr lang="en-US" altLang="zh-CN" sz="2400" b="1" dirty="0" err="1"/>
              <a:t>addop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+ | -</a:t>
            </a:r>
          </a:p>
          <a:p>
            <a:pPr marL="0" lvl="2"/>
            <a:r>
              <a:rPr lang="en-US" altLang="zh-CN" sz="2400" b="1" dirty="0"/>
              <a:t>term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term </a:t>
            </a:r>
            <a:r>
              <a:rPr lang="en-US" altLang="zh-CN" sz="2400" b="1" dirty="0" err="1"/>
              <a:t>mulop</a:t>
            </a:r>
            <a:r>
              <a:rPr lang="en-US" altLang="zh-CN" sz="2400" b="1" dirty="0"/>
              <a:t> factor | factor</a:t>
            </a:r>
          </a:p>
          <a:p>
            <a:pPr marL="0" lvl="2"/>
            <a:r>
              <a:rPr lang="en-US" altLang="zh-CN" sz="2400" b="1" dirty="0"/>
              <a:t> </a:t>
            </a:r>
            <a:r>
              <a:rPr lang="en-US" altLang="zh-CN" sz="2400" b="1" dirty="0" err="1"/>
              <a:t>mulop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*</a:t>
            </a:r>
          </a:p>
          <a:p>
            <a:pPr marL="0" lvl="2"/>
            <a:r>
              <a:rPr lang="en-US" altLang="zh-CN" sz="2400" b="1" dirty="0"/>
              <a:t>factor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( exp ) | number</a:t>
            </a:r>
            <a:endParaRPr lang="zh-CN" altLang="en-US" sz="24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2DCBD-F1C7-49DF-BC7F-F0AA2B5195E4}"/>
              </a:ext>
            </a:extLst>
          </p:cNvPr>
          <p:cNvSpPr/>
          <p:nvPr/>
        </p:nvSpPr>
        <p:spPr>
          <a:xfrm>
            <a:off x="6384032" y="4201344"/>
            <a:ext cx="4814192" cy="1938992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en-US" altLang="zh-CN" sz="2400" b="1" dirty="0"/>
              <a:t>exp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term { </a:t>
            </a:r>
            <a:r>
              <a:rPr lang="en-US" altLang="zh-CN" sz="2400" b="1" dirty="0" err="1"/>
              <a:t>addop</a:t>
            </a:r>
            <a:r>
              <a:rPr lang="en-US" altLang="zh-CN" sz="2400" b="1" dirty="0"/>
              <a:t> term }</a:t>
            </a:r>
          </a:p>
          <a:p>
            <a:pPr marL="0" lvl="2"/>
            <a:r>
              <a:rPr lang="en-US" altLang="zh-CN" sz="2400" b="1" dirty="0" err="1"/>
              <a:t>addop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+ | -</a:t>
            </a:r>
          </a:p>
          <a:p>
            <a:pPr marL="0" lvl="2"/>
            <a:r>
              <a:rPr lang="en-US" altLang="zh-CN" sz="2400" b="1" dirty="0"/>
              <a:t>term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factor { </a:t>
            </a:r>
            <a:r>
              <a:rPr lang="en-US" altLang="zh-CN" sz="2400" b="1" dirty="0" err="1"/>
              <a:t>mulop</a:t>
            </a:r>
            <a:r>
              <a:rPr lang="en-US" altLang="zh-CN" sz="2400" b="1" dirty="0"/>
              <a:t> factor }</a:t>
            </a:r>
          </a:p>
          <a:p>
            <a:pPr marL="0" lvl="2"/>
            <a:r>
              <a:rPr lang="en-US" altLang="zh-CN" sz="2400" b="1" dirty="0" err="1"/>
              <a:t>mulop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*</a:t>
            </a:r>
          </a:p>
          <a:p>
            <a:pPr marL="0" lvl="2"/>
            <a:r>
              <a:rPr lang="en-US" altLang="zh-CN" sz="2400" b="1" dirty="0"/>
              <a:t>factor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( exp ) | number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9671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EBNF</a:t>
            </a:r>
            <a:r>
              <a:rPr lang="zh-CN" altLang="en-US" dirty="0"/>
              <a:t>中的可选表示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/>
              <a:t>另一种</a:t>
            </a:r>
            <a:r>
              <a:rPr lang="en-US" altLang="zh-CN" sz="2400" dirty="0"/>
              <a:t>EBNF</a:t>
            </a:r>
            <a:r>
              <a:rPr lang="zh-CN" altLang="en-US" sz="2400" dirty="0"/>
              <a:t>扩展的表示方式是</a:t>
            </a:r>
            <a:r>
              <a:rPr lang="zh-CN" altLang="en-US" sz="2400" dirty="0">
                <a:solidFill>
                  <a:srgbClr val="FF0000"/>
                </a:solidFill>
              </a:rPr>
              <a:t>可选</a:t>
            </a:r>
            <a:r>
              <a:rPr lang="zh-CN" altLang="en-US" sz="2400" dirty="0"/>
              <a:t>，使用</a:t>
            </a:r>
            <a:r>
              <a:rPr lang="en-US" altLang="zh-CN" sz="2400" dirty="0">
                <a:solidFill>
                  <a:srgbClr val="FF0000"/>
                </a:solidFill>
              </a:rPr>
              <a:t>[...]</a:t>
            </a:r>
            <a:r>
              <a:rPr lang="zh-CN" altLang="en-US" sz="2400" dirty="0"/>
              <a:t>表示。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/>
              <a:t>以</a:t>
            </a:r>
            <a:r>
              <a:rPr lang="en-US" altLang="zh-CN" sz="2400" dirty="0">
                <a:solidFill>
                  <a:srgbClr val="0000CC"/>
                </a:solidFill>
              </a:rPr>
              <a:t>if</a:t>
            </a:r>
            <a:r>
              <a:rPr lang="zh-CN" altLang="en-US" sz="2400" dirty="0">
                <a:solidFill>
                  <a:srgbClr val="0000CC"/>
                </a:solidFill>
              </a:rPr>
              <a:t>语句文法</a:t>
            </a:r>
            <a:r>
              <a:rPr lang="zh-CN" altLang="en-US" sz="2400" dirty="0"/>
              <a:t>为例：</a:t>
            </a:r>
            <a:endParaRPr lang="en-US" altLang="zh-CN" sz="2400" dirty="0"/>
          </a:p>
          <a:p>
            <a:pPr lvl="2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i="1" dirty="0"/>
              <a:t>Statement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if-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| other</a:t>
            </a:r>
          </a:p>
          <a:p>
            <a:pPr lvl="2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i="1" dirty="0"/>
              <a:t>if-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 </a:t>
            </a:r>
            <a:r>
              <a:rPr lang="en-US" altLang="zh-CN" sz="2400" dirty="0">
                <a:solidFill>
                  <a:srgbClr val="0000CC"/>
                </a:solidFill>
              </a:rPr>
              <a:t>if ( </a:t>
            </a:r>
            <a:r>
              <a:rPr lang="en-US" altLang="zh-CN" sz="2400" i="1" dirty="0">
                <a:solidFill>
                  <a:srgbClr val="0000CC"/>
                </a:solidFill>
              </a:rPr>
              <a:t>exp </a:t>
            </a:r>
            <a:r>
              <a:rPr lang="en-US" altLang="zh-CN" sz="2400" dirty="0">
                <a:solidFill>
                  <a:srgbClr val="0000CC"/>
                </a:solidFill>
              </a:rPr>
              <a:t>) </a:t>
            </a:r>
            <a:r>
              <a:rPr lang="en-US" altLang="zh-CN" sz="2400" i="1" dirty="0">
                <a:solidFill>
                  <a:srgbClr val="0000CC"/>
                </a:solidFill>
              </a:rPr>
              <a:t>statement</a:t>
            </a:r>
            <a:endParaRPr lang="en-US" altLang="zh-CN" sz="2400" dirty="0">
              <a:solidFill>
                <a:srgbClr val="0000CC"/>
              </a:solidFill>
            </a:endParaRPr>
          </a:p>
          <a:p>
            <a:pPr lvl="2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CC"/>
                </a:solidFill>
              </a:rPr>
              <a:t>                 | if ( </a:t>
            </a:r>
            <a:r>
              <a:rPr lang="en-US" altLang="zh-CN" sz="2400" i="1" dirty="0">
                <a:solidFill>
                  <a:srgbClr val="0000CC"/>
                </a:solidFill>
              </a:rPr>
              <a:t>exp </a:t>
            </a:r>
            <a:r>
              <a:rPr lang="en-US" altLang="zh-CN" sz="2400" dirty="0">
                <a:solidFill>
                  <a:srgbClr val="0000CC"/>
                </a:solidFill>
              </a:rPr>
              <a:t>) </a:t>
            </a:r>
            <a:r>
              <a:rPr lang="en-US" altLang="zh-CN" sz="2400" i="1" dirty="0">
                <a:solidFill>
                  <a:srgbClr val="0000CC"/>
                </a:solidFill>
              </a:rPr>
              <a:t>statement </a:t>
            </a:r>
            <a:r>
              <a:rPr lang="en-US" altLang="zh-CN" sz="2400" dirty="0">
                <a:solidFill>
                  <a:srgbClr val="0000CC"/>
                </a:solidFill>
              </a:rPr>
              <a:t>else </a:t>
            </a:r>
            <a:r>
              <a:rPr lang="en-US" altLang="zh-CN" sz="2400" i="1" dirty="0">
                <a:solidFill>
                  <a:srgbClr val="0000CC"/>
                </a:solidFill>
              </a:rPr>
              <a:t>statement </a:t>
            </a:r>
          </a:p>
          <a:p>
            <a:pPr lvl="2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i="1" dirty="0"/>
              <a:t>exp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/>
              <a:t> 0 | 1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/>
              <a:t>可以表示为：</a:t>
            </a:r>
            <a:endParaRPr lang="en-US" altLang="zh-CN" sz="2400" i="1" dirty="0"/>
          </a:p>
          <a:p>
            <a:pPr lvl="2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i="1" dirty="0"/>
              <a:t>statement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 </a:t>
            </a:r>
            <a:r>
              <a:rPr lang="en-US" altLang="zh-CN" sz="2400" i="1" dirty="0"/>
              <a:t>if-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| </a:t>
            </a:r>
            <a:r>
              <a:rPr lang="en-US" altLang="zh-CN" sz="2400" dirty="0"/>
              <a:t>other</a:t>
            </a:r>
            <a:endParaRPr lang="en-US" altLang="zh-CN" sz="2400" i="1" dirty="0"/>
          </a:p>
          <a:p>
            <a:pPr lvl="2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i="1" dirty="0"/>
              <a:t>if-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00CC"/>
                </a:solidFill>
              </a:rPr>
              <a:t>if   ( </a:t>
            </a:r>
            <a:r>
              <a:rPr lang="en-US" altLang="zh-CN" sz="2400" i="1" dirty="0">
                <a:solidFill>
                  <a:srgbClr val="0000CC"/>
                </a:solidFill>
              </a:rPr>
              <a:t>exp </a:t>
            </a:r>
            <a:r>
              <a:rPr lang="en-US" altLang="zh-CN" sz="2400" dirty="0">
                <a:solidFill>
                  <a:srgbClr val="0000CC"/>
                </a:solidFill>
              </a:rPr>
              <a:t>)</a:t>
            </a:r>
            <a:r>
              <a:rPr lang="en-US" altLang="zh-CN" sz="2400" i="1" dirty="0">
                <a:solidFill>
                  <a:srgbClr val="0000CC"/>
                </a:solidFill>
              </a:rPr>
              <a:t> statement </a:t>
            </a:r>
            <a:r>
              <a:rPr lang="en-US" altLang="zh-CN" sz="2400" dirty="0">
                <a:solidFill>
                  <a:srgbClr val="FF0000"/>
                </a:solidFill>
              </a:rPr>
              <a:t>[</a:t>
            </a:r>
            <a:r>
              <a:rPr lang="en-US" altLang="zh-CN" sz="2400" i="1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else </a:t>
            </a:r>
            <a:r>
              <a:rPr lang="en-US" altLang="zh-CN" sz="2400" i="1" dirty="0"/>
              <a:t>statement </a:t>
            </a:r>
            <a:r>
              <a:rPr lang="en-US" altLang="zh-CN" sz="2400" dirty="0">
                <a:solidFill>
                  <a:srgbClr val="FF0000"/>
                </a:solidFill>
              </a:rPr>
              <a:t>]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i="1" dirty="0"/>
              <a:t>exp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/>
              <a:t>0 | 1</a:t>
            </a:r>
            <a:endParaRPr lang="en-US" altLang="zh-CN" i="1" dirty="0"/>
          </a:p>
        </p:txBody>
      </p:sp>
    </p:spTree>
    <p:extLst>
      <p:ext uri="{BB962C8B-B14F-4D97-AF65-F5344CB8AC3E}">
        <p14:creationId xmlns:p14="http://schemas.microsoft.com/office/powerpoint/2010/main" val="397777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EBNF</a:t>
            </a:r>
            <a:r>
              <a:rPr lang="zh-CN" altLang="en-US" dirty="0"/>
              <a:t>中的可选表示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语句序列：</a:t>
            </a:r>
            <a:endParaRPr lang="en-US" altLang="zh-CN" dirty="0"/>
          </a:p>
          <a:p>
            <a:pPr marL="0" indent="0" algn="ctr" eaLnBrk="1" hangingPunct="1">
              <a:lnSpc>
                <a:spcPct val="150000"/>
              </a:lnSpc>
              <a:buNone/>
            </a:pPr>
            <a:r>
              <a:rPr lang="en-US" altLang="zh-CN" i="1" dirty="0" err="1">
                <a:solidFill>
                  <a:srgbClr val="0000CC"/>
                </a:solidFill>
              </a:rPr>
              <a:t>stmt</a:t>
            </a:r>
            <a:r>
              <a:rPr lang="en-US" altLang="zh-CN" i="1" dirty="0">
                <a:solidFill>
                  <a:srgbClr val="0000CC"/>
                </a:solidFill>
              </a:rPr>
              <a:t>-sequence </a:t>
            </a:r>
            <a:r>
              <a:rPr lang="en-US" altLang="zh-CN" i="1" dirty="0">
                <a:solidFill>
                  <a:srgbClr val="0000CC"/>
                </a:solidFill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0000CC"/>
                </a:solidFill>
              </a:rPr>
              <a:t> </a:t>
            </a:r>
            <a:r>
              <a:rPr lang="en-US" altLang="zh-CN" i="1" dirty="0" err="1">
                <a:solidFill>
                  <a:srgbClr val="0000CC"/>
                </a:solidFill>
              </a:rPr>
              <a:t>stmt</a:t>
            </a:r>
            <a:r>
              <a:rPr lang="en-US" altLang="zh-CN" dirty="0">
                <a:solidFill>
                  <a:srgbClr val="0000CC"/>
                </a:solidFill>
              </a:rPr>
              <a:t>; </a:t>
            </a:r>
            <a:r>
              <a:rPr lang="en-US" altLang="zh-CN" i="1" dirty="0" err="1">
                <a:solidFill>
                  <a:srgbClr val="0000CC"/>
                </a:solidFill>
              </a:rPr>
              <a:t>stmt</a:t>
            </a:r>
            <a:r>
              <a:rPr lang="en-US" altLang="zh-CN" i="1" dirty="0">
                <a:solidFill>
                  <a:srgbClr val="0000CC"/>
                </a:solidFill>
              </a:rPr>
              <a:t>-sequence | </a:t>
            </a:r>
            <a:r>
              <a:rPr lang="en-US" altLang="zh-CN" i="1" dirty="0" err="1">
                <a:solidFill>
                  <a:srgbClr val="0000CC"/>
                </a:solidFill>
              </a:rPr>
              <a:t>stmt</a:t>
            </a:r>
            <a:r>
              <a:rPr lang="en-US" altLang="zh-CN" i="1" dirty="0"/>
              <a:t> 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可以表示为：</a:t>
            </a:r>
            <a:endParaRPr lang="en-US" altLang="zh-CN" dirty="0"/>
          </a:p>
          <a:p>
            <a:pPr marL="0" indent="0" algn="ctr" eaLnBrk="1" hangingPunct="1">
              <a:lnSpc>
                <a:spcPct val="150000"/>
              </a:lnSpc>
              <a:buNone/>
            </a:pPr>
            <a:r>
              <a:rPr lang="en-US" altLang="zh-CN" dirty="0" err="1">
                <a:solidFill>
                  <a:srgbClr val="0000CC"/>
                </a:solidFill>
              </a:rPr>
              <a:t>stmt</a:t>
            </a:r>
            <a:r>
              <a:rPr lang="en-US" altLang="zh-CN" dirty="0">
                <a:solidFill>
                  <a:srgbClr val="0000CC"/>
                </a:solidFill>
              </a:rPr>
              <a:t>-sequence </a:t>
            </a:r>
            <a:r>
              <a:rPr lang="en-US" altLang="zh-CN" dirty="0">
                <a:solidFill>
                  <a:srgbClr val="0000CC"/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CC"/>
                </a:solidFill>
              </a:rPr>
              <a:t>  </a:t>
            </a:r>
            <a:r>
              <a:rPr lang="en-US" altLang="zh-CN" dirty="0" err="1">
                <a:solidFill>
                  <a:srgbClr val="0000CC"/>
                </a:solidFill>
              </a:rPr>
              <a:t>stmt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00CC"/>
                </a:solidFill>
              </a:rPr>
              <a:t>; </a:t>
            </a:r>
            <a:r>
              <a:rPr lang="en-US" altLang="zh-CN" dirty="0" err="1">
                <a:solidFill>
                  <a:srgbClr val="0000CC"/>
                </a:solidFill>
              </a:rPr>
              <a:t>stmt</a:t>
            </a:r>
            <a:r>
              <a:rPr lang="en-US" altLang="zh-CN" dirty="0">
                <a:solidFill>
                  <a:srgbClr val="0000CC"/>
                </a:solidFill>
              </a:rPr>
              <a:t>-sequence 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000CC"/>
                </a:solidFill>
              </a:rPr>
              <a:t>                  </a:t>
            </a:r>
            <a:r>
              <a:rPr lang="en-US" altLang="zh-CN" dirty="0" err="1">
                <a:solidFill>
                  <a:srgbClr val="0000CC"/>
                </a:solidFill>
              </a:rPr>
              <a:t>stmt</a:t>
            </a:r>
            <a:r>
              <a:rPr lang="en-US" altLang="zh-CN" dirty="0">
                <a:solidFill>
                  <a:srgbClr val="0000CC"/>
                </a:solidFill>
              </a:rPr>
              <a:t>-sequence </a:t>
            </a:r>
            <a:r>
              <a:rPr lang="en-US" altLang="zh-CN" dirty="0">
                <a:solidFill>
                  <a:srgbClr val="0000CC"/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CC"/>
                </a:solidFill>
              </a:rPr>
              <a:t>  </a:t>
            </a:r>
            <a:r>
              <a:rPr lang="en-US" altLang="zh-CN" dirty="0" err="1">
                <a:solidFill>
                  <a:srgbClr val="0000CC"/>
                </a:solidFill>
              </a:rPr>
              <a:t>stmt</a:t>
            </a:r>
            <a:r>
              <a:rPr lang="en-US" altLang="zh-CN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{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00CC"/>
                </a:solidFill>
              </a:rPr>
              <a:t>; </a:t>
            </a:r>
            <a:r>
              <a:rPr lang="en-US" altLang="zh-CN" dirty="0" err="1">
                <a:solidFill>
                  <a:srgbClr val="0000CC"/>
                </a:solidFill>
              </a:rPr>
              <a:t>stmt</a:t>
            </a:r>
            <a:r>
              <a:rPr lang="en-US" altLang="zh-CN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}         </a:t>
            </a:r>
          </a:p>
          <a:p>
            <a:pPr marL="0" indent="0" algn="ctr" eaLnBrk="1" hangingPunct="1">
              <a:lnSpc>
                <a:spcPct val="150000"/>
              </a:lnSpc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443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乔姆斯基语言分类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solidFill>
                  <a:srgbClr val="FF0000"/>
                </a:solidFill>
              </a:rPr>
              <a:t>3</a:t>
            </a:r>
            <a:r>
              <a:rPr kumimoji="1" lang="zh-CN" altLang="en-US" dirty="0">
                <a:solidFill>
                  <a:srgbClr val="FF0000"/>
                </a:solidFill>
              </a:rPr>
              <a:t>型语言</a:t>
            </a:r>
            <a:r>
              <a:rPr kumimoji="1" lang="en-US" altLang="zh-CN" dirty="0"/>
              <a:t>(</a:t>
            </a:r>
            <a:r>
              <a:rPr kumimoji="1" lang="zh-CN" altLang="en-US" noProof="1"/>
              <a:t>正则文法</a:t>
            </a:r>
            <a:r>
              <a:rPr kumimoji="1" lang="en-US" altLang="zh-CN" dirty="0"/>
              <a:t>)</a:t>
            </a:r>
            <a:r>
              <a:rPr kumimoji="1" lang="zh-CN" altLang="en-US" dirty="0"/>
              <a:t>：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/>
              <a:t>产生式形如：</a:t>
            </a:r>
            <a:r>
              <a:rPr kumimoji="1" lang="zh-CN" altLang="en-US" dirty="0">
                <a:sym typeface="Symbol" panose="05050102010706020507" pitchFamily="18" charset="2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A  B </a:t>
            </a:r>
            <a:r>
              <a:rPr kumimoji="1" lang="zh-CN" altLang="en-US" dirty="0"/>
              <a:t>或 </a:t>
            </a:r>
            <a:r>
              <a:rPr kumimoji="1"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A  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dirty="0"/>
              <a:t>其中：</a:t>
            </a:r>
            <a:r>
              <a:rPr kumimoji="1" lang="zh-CN" altLang="en-US" dirty="0">
                <a:sym typeface="Symbol" panose="05050102010706020507" pitchFamily="18" charset="2"/>
              </a:rPr>
              <a:t>  </a:t>
            </a:r>
            <a:r>
              <a:rPr kumimoji="1" lang="en-US" altLang="zh-CN" dirty="0"/>
              <a:t>V</a:t>
            </a:r>
            <a:r>
              <a:rPr kumimoji="1" lang="en-US" altLang="zh-CN" baseline="-25000" dirty="0"/>
              <a:t>T</a:t>
            </a:r>
            <a:r>
              <a:rPr kumimoji="1" lang="en-US" altLang="zh-CN" baseline="30000" dirty="0"/>
              <a:t>*</a:t>
            </a:r>
            <a:r>
              <a:rPr kumimoji="1" lang="zh-CN" altLang="en-US" dirty="0"/>
              <a:t>；</a:t>
            </a:r>
            <a:r>
              <a:rPr kumimoji="1" lang="en-US" altLang="zh-CN" dirty="0">
                <a:sym typeface="Symbol" panose="05050102010706020507" pitchFamily="18" charset="2"/>
              </a:rPr>
              <a:t>A</a:t>
            </a:r>
            <a:r>
              <a:rPr kumimoji="1" lang="zh-CN" altLang="en-US" dirty="0">
                <a:sym typeface="Symbol" panose="05050102010706020507" pitchFamily="18" charset="2"/>
              </a:rPr>
              <a:t>，</a:t>
            </a:r>
            <a:r>
              <a:rPr kumimoji="1" lang="en-US" altLang="zh-CN" dirty="0">
                <a:sym typeface="Symbol" panose="05050102010706020507" pitchFamily="18" charset="2"/>
              </a:rPr>
              <a:t>B</a:t>
            </a:r>
            <a:r>
              <a:rPr kumimoji="1" lang="en-US" altLang="zh-CN" dirty="0"/>
              <a:t>V</a:t>
            </a:r>
            <a:r>
              <a:rPr kumimoji="1" lang="en-US" altLang="zh-CN" baseline="-25000" dirty="0"/>
              <a:t>N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/>
              <a:t>产生式形如：</a:t>
            </a:r>
            <a:r>
              <a:rPr kumimoji="1" lang="zh-CN" altLang="en-US" dirty="0">
                <a:sym typeface="Symbol" panose="05050102010706020507" pitchFamily="18" charset="2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A  B</a:t>
            </a:r>
            <a:r>
              <a:rPr kumimoji="1" lang="en-US" altLang="zh-CN" dirty="0">
                <a:sym typeface="Symbol" panose="05050102010706020507" pitchFamily="18" charset="2"/>
              </a:rPr>
              <a:t> </a:t>
            </a:r>
            <a:r>
              <a:rPr kumimoji="1" lang="zh-CN" altLang="en-US" dirty="0"/>
              <a:t>或 </a:t>
            </a:r>
            <a:r>
              <a:rPr kumimoji="1"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A  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dirty="0"/>
              <a:t>其中：</a:t>
            </a:r>
            <a:r>
              <a:rPr kumimoji="1" lang="zh-CN" altLang="en-US" dirty="0">
                <a:sym typeface="Symbol" panose="05050102010706020507" pitchFamily="18" charset="2"/>
              </a:rPr>
              <a:t>  </a:t>
            </a:r>
            <a:r>
              <a:rPr kumimoji="1" lang="en-US" altLang="zh-CN" dirty="0"/>
              <a:t>V</a:t>
            </a:r>
            <a:r>
              <a:rPr kumimoji="1" lang="en-US" altLang="zh-CN" baseline="-25000" dirty="0"/>
              <a:t>T</a:t>
            </a:r>
            <a:r>
              <a:rPr kumimoji="1" lang="en-US" altLang="zh-CN" baseline="30000" dirty="0"/>
              <a:t>*</a:t>
            </a:r>
            <a:r>
              <a:rPr kumimoji="1" lang="zh-CN" altLang="en-US" dirty="0"/>
              <a:t>；</a:t>
            </a:r>
            <a:r>
              <a:rPr kumimoji="1" lang="en-US" altLang="zh-CN" dirty="0">
                <a:sym typeface="Symbol" panose="05050102010706020507" pitchFamily="18" charset="2"/>
              </a:rPr>
              <a:t>A</a:t>
            </a:r>
            <a:r>
              <a:rPr kumimoji="1" lang="zh-CN" altLang="en-US" dirty="0">
                <a:sym typeface="Symbol" panose="05050102010706020507" pitchFamily="18" charset="2"/>
              </a:rPr>
              <a:t>，</a:t>
            </a:r>
            <a:r>
              <a:rPr kumimoji="1" lang="en-US" altLang="zh-CN" dirty="0" err="1">
                <a:sym typeface="Symbol" panose="05050102010706020507" pitchFamily="18" charset="2"/>
              </a:rPr>
              <a:t>B</a:t>
            </a:r>
            <a:r>
              <a:rPr kumimoji="1" lang="en-US" altLang="zh-CN" dirty="0" err="1"/>
              <a:t>V</a:t>
            </a:r>
            <a:r>
              <a:rPr kumimoji="1" lang="en-US" altLang="zh-CN" baseline="-25000" dirty="0" err="1"/>
              <a:t>N</a:t>
            </a:r>
            <a:endParaRPr kumimoji="1" lang="en-US" altLang="zh-CN" baseline="-250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solidFill>
                  <a:srgbClr val="FF0000"/>
                </a:solidFill>
              </a:rPr>
              <a:t>2</a:t>
            </a:r>
            <a:r>
              <a:rPr kumimoji="1" lang="zh-CN" altLang="en-US" dirty="0">
                <a:solidFill>
                  <a:srgbClr val="FF0000"/>
                </a:solidFill>
              </a:rPr>
              <a:t>型语言</a:t>
            </a:r>
            <a:r>
              <a:rPr kumimoji="1" lang="en-US" altLang="zh-CN" dirty="0"/>
              <a:t>(</a:t>
            </a:r>
            <a:r>
              <a:rPr kumimoji="1" lang="zh-CN" altLang="en-US" noProof="1"/>
              <a:t>上下文无关文法</a:t>
            </a:r>
            <a:r>
              <a:rPr kumimoji="1" lang="en-US" altLang="zh-CN" dirty="0"/>
              <a:t>)</a:t>
            </a:r>
            <a:r>
              <a:rPr kumimoji="1" lang="zh-CN" altLang="en-US" dirty="0"/>
              <a:t>：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/>
              <a:t>  产生式形如：</a:t>
            </a:r>
            <a:r>
              <a:rPr kumimoji="1" lang="zh-CN" altLang="en-US" dirty="0">
                <a:sym typeface="Symbol" panose="05050102010706020507" pitchFamily="18" charset="2"/>
              </a:rPr>
              <a:t>   </a:t>
            </a:r>
            <a:r>
              <a:rPr kumimoji="1"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A   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/>
              <a:t>  </a:t>
            </a:r>
            <a:r>
              <a:rPr kumimoji="1" lang="zh-CN" altLang="en-US" dirty="0"/>
              <a:t>其中：</a:t>
            </a:r>
            <a:r>
              <a:rPr kumimoji="1" lang="en-US" altLang="zh-CN" dirty="0">
                <a:sym typeface="Symbol" panose="05050102010706020507" pitchFamily="18" charset="2"/>
              </a:rPr>
              <a:t>A </a:t>
            </a:r>
            <a:r>
              <a:rPr kumimoji="1" lang="en-US" altLang="zh-CN" dirty="0"/>
              <a:t>V</a:t>
            </a:r>
            <a:r>
              <a:rPr kumimoji="1" lang="en-US" altLang="zh-CN" baseline="-25000" dirty="0"/>
              <a:t>N</a:t>
            </a:r>
            <a:r>
              <a:rPr kumimoji="1" lang="zh-CN" altLang="en-US" dirty="0"/>
              <a:t>；</a:t>
            </a:r>
            <a:r>
              <a:rPr kumimoji="1" lang="zh-CN" altLang="en-US" dirty="0">
                <a:sym typeface="Symbol" panose="05050102010706020507" pitchFamily="18" charset="2"/>
              </a:rPr>
              <a:t> </a:t>
            </a:r>
            <a:r>
              <a:rPr kumimoji="1" lang="en-US" altLang="zh-CN" dirty="0">
                <a:sym typeface="Symbol" panose="05050102010706020507" pitchFamily="18" charset="2"/>
              </a:rPr>
              <a:t>(</a:t>
            </a:r>
            <a:r>
              <a:rPr kumimoji="1" lang="en-US" altLang="zh-CN" dirty="0"/>
              <a:t>V</a:t>
            </a:r>
            <a:r>
              <a:rPr kumimoji="1" lang="en-US" altLang="zh-CN" baseline="-25000" dirty="0"/>
              <a:t>T </a:t>
            </a:r>
            <a:r>
              <a:rPr kumimoji="1" lang="en-US" altLang="zh-CN" dirty="0">
                <a:sym typeface="Symbol" panose="05050102010706020507" pitchFamily="18" charset="2"/>
              </a:rPr>
              <a:t></a:t>
            </a:r>
            <a:r>
              <a:rPr kumimoji="1" lang="en-US" altLang="zh-CN" baseline="-25000" dirty="0"/>
              <a:t> </a:t>
            </a:r>
            <a:r>
              <a:rPr kumimoji="1" lang="en-US" altLang="zh-CN" dirty="0"/>
              <a:t>V</a:t>
            </a:r>
            <a:r>
              <a:rPr kumimoji="1" lang="en-US" altLang="zh-CN" baseline="-25000" dirty="0"/>
              <a:t>N</a:t>
            </a:r>
            <a:r>
              <a:rPr kumimoji="1" lang="en-US" altLang="zh-CN" dirty="0"/>
              <a:t>)</a:t>
            </a:r>
            <a:r>
              <a:rPr kumimoji="1" lang="en-US" altLang="zh-CN" baseline="30000" dirty="0"/>
              <a:t>*</a:t>
            </a:r>
            <a:endParaRPr kumimoji="1" lang="en-US" altLang="zh-CN" dirty="0">
              <a:solidFill>
                <a:srgbClr val="0000CC"/>
              </a:solidFill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9727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乔姆斯基语言分类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型语言</a:t>
                </a:r>
                <a:r>
                  <a:rPr lang="en-US" altLang="zh-CN" dirty="0"/>
                  <a:t>(</a:t>
                </a:r>
                <a:r>
                  <a:rPr lang="zh-CN" altLang="en-US" noProof="1"/>
                  <a:t>上下文有关文法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：</a:t>
                </a:r>
              </a:p>
              <a:p>
                <a:pPr lvl="1" eaLnBrk="1" hangingPunct="1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zh-CN" altLang="en-US" dirty="0"/>
                  <a:t>  产生式形如：</a:t>
                </a:r>
                <a:r>
                  <a:rPr lang="zh-CN" altLang="en-US" dirty="0">
                    <a:sym typeface="Symbol" panose="05050102010706020507" pitchFamily="18" charset="2"/>
                  </a:rPr>
                  <a:t>   </a:t>
                </a:r>
                <a:r>
                  <a:rPr lang="zh-CN" altLang="en-US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  </a:t>
                </a:r>
                <a:endParaRPr lang="zh-CN" altLang="en-US" dirty="0">
                  <a:solidFill>
                    <a:srgbClr val="FF0000"/>
                  </a:solidFill>
                </a:endParaRPr>
              </a:p>
              <a:p>
                <a:pPr lvl="1" eaLnBrk="1" hangingPunct="1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zh-CN" altLang="en-US" dirty="0"/>
                  <a:t>  其中：</a:t>
                </a:r>
                <a:r>
                  <a:rPr lang="en-US" altLang="zh-CN" dirty="0"/>
                  <a:t>|</a:t>
                </a:r>
                <a:r>
                  <a:rPr lang="en-US" altLang="zh-CN" dirty="0">
                    <a:sym typeface="Symbol" panose="05050102010706020507" pitchFamily="18" charset="2"/>
                  </a:rPr>
                  <a:t>|  ||</a:t>
                </a:r>
                <a:r>
                  <a:rPr lang="zh-CN" altLang="en-US" dirty="0">
                    <a:sym typeface="Symbol" panose="05050102010706020507" pitchFamily="18" charset="2"/>
                  </a:rPr>
                  <a:t>，仅 </a:t>
                </a:r>
                <a:r>
                  <a:rPr lang="en-US" altLang="zh-CN" dirty="0">
                    <a:sym typeface="Symbol" panose="05050102010706020507" pitchFamily="18" charset="2"/>
                  </a:rPr>
                  <a:t>S </a:t>
                </a:r>
                <a:r>
                  <a:rPr lang="zh-CN" altLang="en-US" dirty="0">
                    <a:sym typeface="Symbol" panose="05050102010706020507" pitchFamily="18" charset="2"/>
                  </a:rPr>
                  <a:t>例外。 ， </a:t>
                </a:r>
                <a:r>
                  <a:rPr lang="en-US" altLang="zh-CN" dirty="0">
                    <a:sym typeface="Symbol" panose="05050102010706020507" pitchFamily="18" charset="2"/>
                  </a:rPr>
                  <a:t>(</a:t>
                </a:r>
                <a:r>
                  <a:rPr lang="en-US" altLang="zh-CN" dirty="0"/>
                  <a:t>V</a:t>
                </a:r>
                <a:r>
                  <a:rPr lang="en-US" altLang="zh-CN" baseline="-25000" dirty="0"/>
                  <a:t>T </a:t>
                </a:r>
                <a:r>
                  <a:rPr lang="en-US" altLang="zh-CN" dirty="0">
                    <a:sym typeface="Symbol" panose="05050102010706020507" pitchFamily="18" charset="2"/>
                  </a:rPr>
                  <a:t></a:t>
                </a:r>
                <a:r>
                  <a:rPr lang="en-US" altLang="zh-CN" baseline="-25000" dirty="0"/>
                  <a:t> </a:t>
                </a:r>
                <a:r>
                  <a:rPr lang="en-US" altLang="zh-CN" dirty="0"/>
                  <a:t>V</a:t>
                </a:r>
                <a:r>
                  <a:rPr lang="en-US" altLang="zh-CN" baseline="-25000" dirty="0"/>
                  <a:t>N</a:t>
                </a:r>
                <a:r>
                  <a:rPr lang="en-US" altLang="zh-CN" dirty="0"/>
                  <a:t>)</a:t>
                </a:r>
                <a:r>
                  <a:rPr lang="en-US" altLang="zh-CN" baseline="30000" dirty="0"/>
                  <a:t>*</a:t>
                </a:r>
                <a:r>
                  <a:rPr lang="zh-CN" altLang="en-US" dirty="0"/>
                  <a:t>且</a:t>
                </a:r>
                <a:r>
                  <a:rPr lang="zh-CN" altLang="en-US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≠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</a:t>
                </a:r>
                <a:endParaRPr kumimoji="1" lang="en-US" altLang="zh-CN" baseline="-25000" dirty="0">
                  <a:solidFill>
                    <a:srgbClr val="0000CC"/>
                  </a:solidFill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0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型语言</a:t>
                </a:r>
                <a:r>
                  <a:rPr lang="en-US" altLang="zh-CN" dirty="0"/>
                  <a:t>(</a:t>
                </a:r>
                <a:r>
                  <a:rPr lang="zh-CN" altLang="en-US" noProof="1"/>
                  <a:t>短语文法，递归可枚举语言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：</a:t>
                </a:r>
              </a:p>
              <a:p>
                <a:pPr lvl="1" eaLnBrk="1" hangingPunct="1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zh-CN" altLang="en-US" dirty="0"/>
                  <a:t>  产生式形如：</a:t>
                </a:r>
                <a:r>
                  <a:rPr lang="zh-CN" altLang="en-US" dirty="0">
                    <a:sym typeface="Symbol" panose="05050102010706020507" pitchFamily="18" charset="2"/>
                  </a:rPr>
                  <a:t>   </a:t>
                </a:r>
                <a:r>
                  <a:rPr lang="zh-CN" altLang="en-US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  </a:t>
                </a:r>
                <a:endParaRPr lang="zh-CN" altLang="en-US" dirty="0">
                  <a:solidFill>
                    <a:srgbClr val="FF0000"/>
                  </a:solidFill>
                </a:endParaRPr>
              </a:p>
              <a:p>
                <a:pPr lvl="1" eaLnBrk="1" hangingPunct="1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zh-CN" altLang="en-US" dirty="0"/>
                  <a:t>  其中：</a:t>
                </a:r>
                <a:r>
                  <a:rPr lang="zh-CN" altLang="en-US" dirty="0">
                    <a:sym typeface="Symbol" panose="05050102010706020507" pitchFamily="18" charset="2"/>
                  </a:rPr>
                  <a:t> ， </a:t>
                </a:r>
                <a:r>
                  <a:rPr lang="en-US" altLang="zh-CN" dirty="0">
                    <a:sym typeface="Symbol" panose="05050102010706020507" pitchFamily="18" charset="2"/>
                  </a:rPr>
                  <a:t>(</a:t>
                </a:r>
                <a:r>
                  <a:rPr lang="en-US" altLang="zh-CN" dirty="0"/>
                  <a:t>V</a:t>
                </a:r>
                <a:r>
                  <a:rPr lang="en-US" altLang="zh-CN" baseline="-25000" dirty="0"/>
                  <a:t>T </a:t>
                </a:r>
                <a:r>
                  <a:rPr lang="en-US" altLang="zh-CN" dirty="0">
                    <a:sym typeface="Symbol" panose="05050102010706020507" pitchFamily="18" charset="2"/>
                  </a:rPr>
                  <a:t></a:t>
                </a:r>
                <a:r>
                  <a:rPr lang="en-US" altLang="zh-CN" baseline="-25000" dirty="0"/>
                  <a:t> </a:t>
                </a:r>
                <a:r>
                  <a:rPr lang="en-US" altLang="zh-CN" dirty="0"/>
                  <a:t>V</a:t>
                </a:r>
                <a:r>
                  <a:rPr lang="en-US" altLang="zh-CN" baseline="-25000" dirty="0"/>
                  <a:t>N</a:t>
                </a:r>
                <a:r>
                  <a:rPr lang="en-US" altLang="zh-CN" dirty="0"/>
                  <a:t>)</a:t>
                </a:r>
                <a:r>
                  <a:rPr lang="en-US" altLang="zh-CN" baseline="30000" dirty="0"/>
                  <a:t>*</a:t>
                </a:r>
                <a:r>
                  <a:rPr lang="zh-CN" altLang="en-US" dirty="0"/>
                  <a:t>且</a:t>
                </a:r>
                <a:r>
                  <a:rPr lang="zh-CN" altLang="en-US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≠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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83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上下文无关文法的局限性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noProof="1">
                <a:solidFill>
                  <a:srgbClr val="FF0000"/>
                </a:solidFill>
              </a:rPr>
              <a:t>L</a:t>
            </a:r>
            <a:r>
              <a:rPr lang="en-US" altLang="zh-CN" baseline="-25000" noProof="1">
                <a:solidFill>
                  <a:srgbClr val="FF0000"/>
                </a:solidFill>
              </a:rPr>
              <a:t>5</a:t>
            </a:r>
            <a:r>
              <a:rPr lang="en-US" altLang="zh-CN" noProof="1">
                <a:solidFill>
                  <a:srgbClr val="FF0000"/>
                </a:solidFill>
              </a:rPr>
              <a:t>=</a:t>
            </a:r>
            <a:r>
              <a:rPr lang="en-US" altLang="zh-CN" dirty="0">
                <a:solidFill>
                  <a:srgbClr val="FF0000"/>
                </a:solidFill>
              </a:rPr>
              <a:t>{a</a:t>
            </a:r>
            <a:r>
              <a:rPr lang="en-US" altLang="zh-CN" baseline="30000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en-US" altLang="zh-CN" baseline="30000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|n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1</a:t>
            </a:r>
            <a:r>
              <a:rPr lang="en-US" altLang="zh-CN" dirty="0">
                <a:solidFill>
                  <a:srgbClr val="FF0000"/>
                </a:solidFill>
              </a:rPr>
              <a:t>} </a:t>
            </a:r>
            <a:r>
              <a:rPr lang="zh-CN" altLang="en-US" dirty="0"/>
              <a:t>不能由正则文法产生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但可由上下文无关文法产生：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noProof="1"/>
              <a:t>    </a:t>
            </a:r>
            <a:r>
              <a:rPr lang="en-US" altLang="zh-CN" noProof="1"/>
              <a:t>G</a:t>
            </a:r>
            <a:r>
              <a:rPr lang="en-US" altLang="zh-CN" baseline="-25000" noProof="1"/>
              <a:t>5</a:t>
            </a:r>
            <a:r>
              <a:rPr lang="en-US" altLang="zh-CN" noProof="1"/>
              <a:t>(S)</a:t>
            </a:r>
            <a:r>
              <a:rPr lang="zh-CN" altLang="en-US" dirty="0"/>
              <a:t>：</a:t>
            </a:r>
            <a:r>
              <a:rPr lang="en-US" altLang="zh-CN" dirty="0"/>
              <a:t>S </a:t>
            </a:r>
            <a:r>
              <a:rPr lang="en-US" altLang="zh-CN" dirty="0">
                <a:sym typeface="Symbol" panose="05050102010706020507" pitchFamily="18" charset="2"/>
              </a:rPr>
              <a:t> </a:t>
            </a:r>
            <a:r>
              <a:rPr lang="en-US" altLang="zh-CN" dirty="0" err="1">
                <a:sym typeface="Symbol" panose="05050102010706020507" pitchFamily="18" charset="2"/>
              </a:rPr>
              <a:t>aSb</a:t>
            </a:r>
            <a:r>
              <a:rPr lang="en-US" altLang="zh-CN" dirty="0">
                <a:sym typeface="Symbol" panose="05050102010706020507" pitchFamily="18" charset="2"/>
              </a:rPr>
              <a:t>| ab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3280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上下文无关文法的局限性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noProof="1">
                <a:solidFill>
                  <a:srgbClr val="FF0000"/>
                </a:solidFill>
              </a:rPr>
              <a:t>L</a:t>
            </a:r>
            <a:r>
              <a:rPr lang="en-US" altLang="zh-CN" baseline="-25000" noProof="1">
                <a:solidFill>
                  <a:srgbClr val="FF0000"/>
                </a:solidFill>
              </a:rPr>
              <a:t>6</a:t>
            </a:r>
            <a:r>
              <a:rPr lang="en-US" altLang="zh-CN" noProof="1">
                <a:solidFill>
                  <a:srgbClr val="FF0000"/>
                </a:solidFill>
              </a:rPr>
              <a:t>=</a:t>
            </a:r>
            <a:r>
              <a:rPr lang="en-US" altLang="zh-CN" dirty="0">
                <a:solidFill>
                  <a:srgbClr val="FF0000"/>
                </a:solidFill>
              </a:rPr>
              <a:t>{a</a:t>
            </a:r>
            <a:r>
              <a:rPr lang="en-US" altLang="zh-CN" baseline="30000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en-US" altLang="zh-CN" baseline="30000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altLang="zh-CN" baseline="30000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|n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1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  <a:r>
              <a:rPr lang="zh-CN" altLang="en-US" dirty="0"/>
              <a:t>不能由上下文无关文法产生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zh-CN" dirty="0"/>
              <a:t>但</a:t>
            </a:r>
            <a:r>
              <a:rPr lang="zh-CN" altLang="en-US" dirty="0"/>
              <a:t>可由上下文有关文法产生：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noProof="1"/>
              <a:t>  </a:t>
            </a:r>
            <a:r>
              <a:rPr lang="en-US" altLang="zh-CN" noProof="1"/>
              <a:t>G</a:t>
            </a:r>
            <a:r>
              <a:rPr lang="en-US" altLang="zh-CN" baseline="-25000" noProof="1"/>
              <a:t>6</a:t>
            </a:r>
            <a:r>
              <a:rPr lang="en-US" altLang="zh-CN" noProof="1"/>
              <a:t>(S)</a:t>
            </a:r>
            <a:r>
              <a:rPr lang="zh-CN" altLang="en-US" dirty="0"/>
              <a:t>： </a:t>
            </a:r>
            <a:r>
              <a:rPr lang="en-US" altLang="zh-CN" dirty="0"/>
              <a:t>S </a:t>
            </a:r>
            <a:r>
              <a:rPr lang="en-US" altLang="zh-CN" dirty="0">
                <a:sym typeface="Symbol" panose="05050102010706020507" pitchFamily="18" charset="2"/>
              </a:rPr>
              <a:t> </a:t>
            </a:r>
            <a:r>
              <a:rPr lang="en-US" altLang="zh-CN" dirty="0" err="1">
                <a:sym typeface="Symbol" panose="05050102010706020507" pitchFamily="18" charset="2"/>
              </a:rPr>
              <a:t>aSBC</a:t>
            </a:r>
            <a:r>
              <a:rPr lang="en-US" altLang="zh-CN" dirty="0">
                <a:sym typeface="Symbol" panose="05050102010706020507" pitchFamily="18" charset="2"/>
              </a:rPr>
              <a:t>| </a:t>
            </a:r>
            <a:r>
              <a:rPr lang="en-US" altLang="zh-CN" dirty="0" err="1">
                <a:sym typeface="Symbol" panose="05050102010706020507" pitchFamily="18" charset="2"/>
              </a:rPr>
              <a:t>aBC</a:t>
            </a:r>
            <a:endParaRPr lang="en-US" altLang="zh-CN" dirty="0">
              <a:sym typeface="Symbol" panose="05050102010706020507" pitchFamily="18" charset="2"/>
            </a:endParaRP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CB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 BC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</a:t>
            </a:r>
            <a:r>
              <a:rPr lang="en-US" altLang="zh-CN" dirty="0" err="1">
                <a:sym typeface="Symbol" panose="05050102010706020507" pitchFamily="18" charset="2"/>
              </a:rPr>
              <a:t>aB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 ab</a:t>
            </a:r>
            <a:endParaRPr lang="en-US" altLang="zh-CN" dirty="0"/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               </a:t>
            </a:r>
            <a:r>
              <a:rPr lang="en-US" altLang="zh-CN" dirty="0" err="1"/>
              <a:t>bB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 bb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</a:t>
            </a:r>
            <a:r>
              <a:rPr lang="en-US" altLang="zh-CN" dirty="0" err="1">
                <a:sym typeface="Symbol" panose="05050102010706020507" pitchFamily="18" charset="2"/>
              </a:rPr>
              <a:t>bC</a:t>
            </a:r>
            <a:r>
              <a:rPr lang="en-US" altLang="zh-CN" dirty="0">
                <a:sym typeface="Symbol" panose="05050102010706020507" pitchFamily="18" charset="2"/>
              </a:rPr>
              <a:t>  </a:t>
            </a:r>
            <a:r>
              <a:rPr lang="en-US" altLang="zh-CN" dirty="0" err="1">
                <a:sym typeface="Symbol" panose="05050102010706020507" pitchFamily="18" charset="2"/>
              </a:rPr>
              <a:t>bc</a:t>
            </a:r>
            <a:endParaRPr lang="en-US" altLang="zh-CN" dirty="0">
              <a:sym typeface="Symbol" panose="05050102010706020507" pitchFamily="18" charset="2"/>
            </a:endParaRP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</a:t>
            </a:r>
            <a:r>
              <a:rPr lang="en-US" altLang="zh-CN" dirty="0" err="1">
                <a:sym typeface="Symbol" panose="05050102010706020507" pitchFamily="18" charset="2"/>
              </a:rPr>
              <a:t>cC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 cc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8376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上下文无关文法的局限性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L</a:t>
            </a:r>
            <a:r>
              <a:rPr lang="en-US" altLang="zh-CN" baseline="-25000" dirty="0">
                <a:solidFill>
                  <a:srgbClr val="FF0000"/>
                </a:solidFill>
              </a:rPr>
              <a:t>7</a:t>
            </a:r>
            <a:r>
              <a:rPr lang="en-US" altLang="zh-CN" dirty="0">
                <a:solidFill>
                  <a:srgbClr val="FF0000"/>
                </a:solidFill>
              </a:rPr>
              <a:t>={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c| (</a:t>
            </a:r>
            <a:r>
              <a:rPr lang="en-US" altLang="zh-CN" dirty="0" err="1">
                <a:solidFill>
                  <a:srgbClr val="FF0000"/>
                </a:solidFill>
                <a:sym typeface="Symbol" panose="05050102010706020507" pitchFamily="18" charset="2"/>
              </a:rPr>
              <a:t>a|b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 baseline="30000" dirty="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  <a:r>
              <a:rPr lang="zh-CN" altLang="en-US" dirty="0">
                <a:latin typeface="宋体" panose="02010600030101010101" pitchFamily="2" charset="-122"/>
              </a:rPr>
              <a:t>不能由上下文无关文法产生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甚至连上下文有关文法也不能产生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只能由</a:t>
            </a:r>
            <a:r>
              <a:rPr lang="en-US" altLang="zh-CN" dirty="0">
                <a:latin typeface="宋体" panose="02010600030101010101" pitchFamily="2" charset="-122"/>
              </a:rPr>
              <a:t>0</a:t>
            </a:r>
            <a:r>
              <a:rPr lang="zh-CN" altLang="en-US" dirty="0">
                <a:latin typeface="宋体" panose="02010600030101010101" pitchFamily="2" charset="-122"/>
              </a:rPr>
              <a:t>型文法产生。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279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上下文无关文法的局限性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noProof="1">
                <a:solidFill>
                  <a:srgbClr val="FF0000"/>
                </a:solidFill>
                <a:latin typeface="宋体" panose="02010600030101010101" pitchFamily="2" charset="-122"/>
              </a:rPr>
              <a:t>程序设计语言</a:t>
            </a:r>
            <a:r>
              <a:rPr lang="zh-CN" altLang="en-US" noProof="1">
                <a:latin typeface="宋体" panose="02010600030101010101" pitchFamily="2" charset="-122"/>
              </a:rPr>
              <a:t>不是上下文无关语言，甚至不是上下文有关语言</a:t>
            </a:r>
            <a:r>
              <a:rPr lang="zh-CN" altLang="zh-CN" noProof="1">
                <a:latin typeface="宋体" panose="02010600030101010101" pitchFamily="2" charset="-122"/>
              </a:rPr>
              <a:t>。</a:t>
            </a:r>
            <a:r>
              <a:rPr lang="zh-CN" altLang="en-US" noProof="1">
                <a:latin typeface="宋体" panose="02010600030101010101" pitchFamily="2" charset="-122"/>
              </a:rPr>
              <a:t>例如：</a:t>
            </a:r>
            <a:endParaRPr lang="en-US" altLang="en-US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noProof="1">
                <a:latin typeface="宋体" panose="02010600030101010101" pitchFamily="2" charset="-122"/>
              </a:rPr>
              <a:t>标识符引用前需要先定义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noProof="1">
                <a:latin typeface="宋体" panose="02010600030101010101" pitchFamily="2" charset="-122"/>
              </a:rPr>
              <a:t>过程调用过程中，"形-实参数地对应性"(如个数，顺序和类型一致性)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处理时主要语言结构用上下文无关文法描述，把不能描述的语言特性归类到语义里面。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70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TINY</a:t>
            </a:r>
            <a:r>
              <a:rPr lang="zh-CN" altLang="en-US" dirty="0"/>
              <a:t>语言的语法规则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i="1" dirty="0"/>
              <a:t>program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-sequence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i="1" dirty="0" err="1"/>
              <a:t>stmt</a:t>
            </a:r>
            <a:r>
              <a:rPr lang="en-US" altLang="zh-CN" sz="2400" i="1" dirty="0"/>
              <a:t>-sequence</a:t>
            </a:r>
            <a:r>
              <a:rPr lang="en-US" altLang="zh-CN" sz="2400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-sequence</a:t>
            </a:r>
            <a:r>
              <a:rPr lang="en-US" altLang="zh-CN" sz="2400" dirty="0">
                <a:solidFill>
                  <a:srgbClr val="FF0000"/>
                </a:solidFill>
              </a:rPr>
              <a:t>;</a:t>
            </a:r>
            <a:r>
              <a:rPr lang="en-US" altLang="zh-CN" sz="2400" i="1" dirty="0">
                <a:solidFill>
                  <a:srgbClr val="FF0000"/>
                </a:solidFill>
              </a:rPr>
              <a:t> </a:t>
            </a:r>
            <a:r>
              <a:rPr lang="en-US" altLang="zh-CN" sz="2400" i="1" dirty="0"/>
              <a:t>statement |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400" i="1" dirty="0"/>
              <a:t>                               statement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i="1" dirty="0"/>
              <a:t>statement </a:t>
            </a:r>
            <a:r>
              <a:rPr lang="en-US" altLang="zh-CN" sz="240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</a:t>
            </a:r>
            <a:r>
              <a:rPr lang="en-US" altLang="zh-CN" sz="2400" i="1" dirty="0"/>
              <a:t>if-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| repeat-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| assign-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   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400" i="1" dirty="0"/>
              <a:t>                        | read-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| write-</a:t>
            </a:r>
            <a:r>
              <a:rPr lang="en-US" altLang="zh-CN" sz="2400" i="1" dirty="0" err="1"/>
              <a:t>stmt</a:t>
            </a:r>
            <a:endParaRPr lang="en-US" altLang="zh-CN" sz="2400" i="1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i="1" dirty="0"/>
              <a:t>if-</a:t>
            </a:r>
            <a:r>
              <a:rPr lang="en-US" altLang="zh-CN" sz="2400" i="1" dirty="0" err="1"/>
              <a:t>stmt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if</a:t>
            </a:r>
            <a:r>
              <a:rPr lang="en-US" altLang="zh-CN" sz="2400" dirty="0"/>
              <a:t> </a:t>
            </a:r>
            <a:r>
              <a:rPr lang="en-US" altLang="zh-CN" sz="2400" i="1" dirty="0"/>
              <a:t>exp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then</a:t>
            </a:r>
            <a:r>
              <a:rPr lang="en-US" altLang="zh-CN" sz="2400" i="1" dirty="0"/>
              <a:t> 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-sequence </a:t>
            </a:r>
            <a:r>
              <a:rPr lang="en-US" altLang="zh-CN" sz="2400" dirty="0">
                <a:solidFill>
                  <a:srgbClr val="FF0000"/>
                </a:solidFill>
              </a:rPr>
              <a:t>end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400" i="1" dirty="0"/>
              <a:t>        	         | </a:t>
            </a:r>
            <a:r>
              <a:rPr lang="en-US" altLang="zh-CN" sz="2400" dirty="0">
                <a:solidFill>
                  <a:srgbClr val="FF0000"/>
                </a:solidFill>
              </a:rPr>
              <a:t>if</a:t>
            </a:r>
            <a:r>
              <a:rPr lang="en-US" altLang="zh-CN" sz="2400" i="1" dirty="0"/>
              <a:t> exp </a:t>
            </a:r>
            <a:r>
              <a:rPr lang="en-US" altLang="zh-CN" sz="2400" dirty="0">
                <a:solidFill>
                  <a:srgbClr val="FF0000"/>
                </a:solidFill>
              </a:rPr>
              <a:t>then</a:t>
            </a:r>
            <a:r>
              <a:rPr lang="en-US" altLang="zh-CN" sz="2400" dirty="0"/>
              <a:t> 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-sequence </a:t>
            </a:r>
            <a:r>
              <a:rPr lang="en-US" altLang="zh-CN" sz="2400" dirty="0">
                <a:solidFill>
                  <a:srgbClr val="FF0000"/>
                </a:solidFill>
              </a:rPr>
              <a:t>else</a:t>
            </a:r>
            <a:r>
              <a:rPr lang="en-US" altLang="zh-CN" sz="2400" i="1" dirty="0"/>
              <a:t>  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-sequence </a:t>
            </a:r>
            <a:r>
              <a:rPr lang="en-US" altLang="zh-CN" sz="2400" dirty="0">
                <a:solidFill>
                  <a:srgbClr val="FF0000"/>
                </a:solidFill>
              </a:rPr>
              <a:t>end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i="1" dirty="0"/>
              <a:t>repeat-</a:t>
            </a:r>
            <a:r>
              <a:rPr lang="en-US" altLang="zh-CN" sz="2400" i="1" dirty="0" err="1"/>
              <a:t>stmt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repeat</a:t>
            </a:r>
            <a:r>
              <a:rPr lang="en-US" altLang="zh-CN" sz="2400" i="1" dirty="0">
                <a:solidFill>
                  <a:srgbClr val="FF0000"/>
                </a:solidFill>
              </a:rPr>
              <a:t> 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-sequence </a:t>
            </a:r>
            <a:r>
              <a:rPr lang="en-US" altLang="zh-CN" sz="2400" dirty="0">
                <a:solidFill>
                  <a:srgbClr val="FF0000"/>
                </a:solidFill>
              </a:rPr>
              <a:t>until </a:t>
            </a:r>
            <a:r>
              <a:rPr lang="en-US" altLang="zh-CN" sz="2400" i="1" dirty="0"/>
              <a:t>exp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i="1" dirty="0"/>
              <a:t>assign-</a:t>
            </a:r>
            <a:r>
              <a:rPr lang="en-US" altLang="zh-CN" sz="2400" i="1" dirty="0" err="1"/>
              <a:t>stmt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identifier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:=</a:t>
            </a:r>
            <a:r>
              <a:rPr lang="en-US" altLang="zh-CN" sz="2400" dirty="0"/>
              <a:t> </a:t>
            </a:r>
            <a:r>
              <a:rPr lang="en-US" altLang="zh-CN" sz="2400" i="1" dirty="0"/>
              <a:t>exp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i="1" dirty="0"/>
              <a:t>read-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read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identifier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i="1" dirty="0"/>
              <a:t>write-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write</a:t>
            </a:r>
            <a:r>
              <a:rPr lang="en-US" altLang="zh-CN" sz="2400" i="1" dirty="0"/>
              <a:t> exp</a:t>
            </a:r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76250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TINY</a:t>
            </a:r>
            <a:r>
              <a:rPr lang="zh-CN" altLang="en-US" dirty="0"/>
              <a:t>语言的语法规则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/>
            <a:r>
              <a:rPr lang="en-US" altLang="zh-CN" sz="2400" i="1" dirty="0"/>
              <a:t>exp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simple-exp comparison-op simple-exp  | simple-exp</a:t>
            </a:r>
          </a:p>
          <a:p>
            <a:pPr eaLnBrk="1" hangingPunct="1"/>
            <a:r>
              <a:rPr lang="en-US" altLang="zh-CN" sz="2400" i="1" dirty="0"/>
              <a:t>comparison-op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&lt;</a:t>
            </a:r>
            <a:r>
              <a:rPr lang="en-US" altLang="zh-CN" sz="2400" dirty="0"/>
              <a:t> | </a:t>
            </a:r>
            <a:r>
              <a:rPr lang="en-US" altLang="zh-CN" sz="2400" dirty="0">
                <a:solidFill>
                  <a:srgbClr val="FF0000"/>
                </a:solidFill>
              </a:rPr>
              <a:t>=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sz="2400" i="1" dirty="0"/>
              <a:t>simple-exp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simple-exp </a:t>
            </a:r>
            <a:r>
              <a:rPr lang="en-US" altLang="zh-CN" sz="2400" i="1" dirty="0" err="1"/>
              <a:t>addop</a:t>
            </a:r>
            <a:r>
              <a:rPr lang="en-US" altLang="zh-CN" sz="2400" i="1" dirty="0"/>
              <a:t> term | term </a:t>
            </a:r>
          </a:p>
          <a:p>
            <a:pPr eaLnBrk="1" hangingPunct="1"/>
            <a:r>
              <a:rPr lang="en-US" altLang="zh-CN" sz="2400" i="1" dirty="0" err="1"/>
              <a:t>addop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r>
              <a:rPr lang="en-US" altLang="zh-CN" sz="2400" dirty="0"/>
              <a:t>|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sz="2400" i="1" dirty="0"/>
              <a:t>term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term </a:t>
            </a:r>
            <a:r>
              <a:rPr lang="en-US" altLang="zh-CN" sz="2400" i="1" dirty="0" err="1"/>
              <a:t>mulop</a:t>
            </a:r>
            <a:r>
              <a:rPr lang="en-US" altLang="zh-CN" sz="2400" i="1" dirty="0"/>
              <a:t> factor | factor</a:t>
            </a:r>
          </a:p>
          <a:p>
            <a:pPr eaLnBrk="1" hangingPunct="1"/>
            <a:r>
              <a:rPr lang="en-US" altLang="zh-CN" sz="2400" i="1" dirty="0" err="1"/>
              <a:t>mulop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*</a:t>
            </a:r>
            <a:r>
              <a:rPr lang="en-US" altLang="zh-CN" sz="2400" dirty="0"/>
              <a:t>|</a:t>
            </a:r>
            <a:r>
              <a:rPr lang="en-US" altLang="zh-CN" sz="2400" dirty="0">
                <a:solidFill>
                  <a:srgbClr val="FF0000"/>
                </a:solidFill>
              </a:rPr>
              <a:t>/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sz="2400" i="1" dirty="0"/>
              <a:t>factor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en-US" altLang="zh-CN" sz="2400" i="1" dirty="0"/>
              <a:t>exp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en-US" altLang="zh-CN" sz="2400" dirty="0"/>
              <a:t> | </a:t>
            </a:r>
            <a:r>
              <a:rPr lang="en-US" altLang="zh-CN" sz="2400" dirty="0">
                <a:solidFill>
                  <a:srgbClr val="FF0000"/>
                </a:solidFill>
              </a:rPr>
              <a:t>number</a:t>
            </a:r>
            <a:r>
              <a:rPr lang="en-US" altLang="zh-CN" sz="2400" dirty="0"/>
              <a:t> | </a:t>
            </a:r>
            <a:r>
              <a:rPr lang="en-US" altLang="zh-CN" sz="2400" dirty="0">
                <a:solidFill>
                  <a:srgbClr val="FF0000"/>
                </a:solidFill>
              </a:rPr>
              <a:t>identifier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23580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TINY</a:t>
            </a:r>
            <a:r>
              <a:rPr lang="zh-CN" altLang="en-US" dirty="0"/>
              <a:t>语言的语法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35D9020-4524-4B59-AA72-3E606EE70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448" y="1412777"/>
            <a:ext cx="10081120" cy="4995391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Tx/>
              <a:buNone/>
            </a:pPr>
            <a:r>
              <a:rPr lang="zh-CN" altLang="en-US" kern="0" dirty="0"/>
              <a:t>	</a:t>
            </a:r>
            <a:r>
              <a:rPr lang="en-US" altLang="zh-CN" kern="0" dirty="0"/>
              <a:t>read x; {input an integer}</a:t>
            </a:r>
          </a:p>
          <a:p>
            <a:pPr>
              <a:buFontTx/>
              <a:buNone/>
            </a:pPr>
            <a:r>
              <a:rPr lang="en-US" altLang="zh-CN" kern="0" dirty="0"/>
              <a:t>	if 0&lt;x then {don</a:t>
            </a:r>
            <a:r>
              <a:rPr lang="en-US" altLang="zh-CN" kern="0" dirty="0">
                <a:latin typeface="Arial"/>
              </a:rPr>
              <a:t>’</a:t>
            </a:r>
            <a:r>
              <a:rPr lang="en-US" altLang="zh-CN" kern="0" dirty="0"/>
              <a:t>t compute if x &lt;=0}</a:t>
            </a:r>
          </a:p>
          <a:p>
            <a:pPr>
              <a:buFontTx/>
              <a:buNone/>
            </a:pPr>
            <a:r>
              <a:rPr lang="en-US" altLang="zh-CN" kern="0" dirty="0"/>
              <a:t>		fact:=1;</a:t>
            </a:r>
          </a:p>
          <a:p>
            <a:pPr>
              <a:buFontTx/>
              <a:buNone/>
            </a:pPr>
            <a:r>
              <a:rPr lang="en-US" altLang="zh-CN" kern="0" dirty="0"/>
              <a:t>		repeat</a:t>
            </a:r>
          </a:p>
          <a:p>
            <a:pPr>
              <a:buFontTx/>
              <a:buNone/>
            </a:pPr>
            <a:r>
              <a:rPr lang="en-US" altLang="zh-CN" kern="0" dirty="0"/>
              <a:t>			fact :=fact *x;</a:t>
            </a:r>
          </a:p>
          <a:p>
            <a:pPr>
              <a:buFontTx/>
              <a:buNone/>
            </a:pPr>
            <a:r>
              <a:rPr lang="en-US" altLang="zh-CN" kern="0" dirty="0"/>
              <a:t>			x:=x-1;</a:t>
            </a:r>
          </a:p>
          <a:p>
            <a:pPr>
              <a:buFontTx/>
              <a:buNone/>
            </a:pPr>
            <a:r>
              <a:rPr lang="en-US" altLang="zh-CN" kern="0" dirty="0"/>
              <a:t>		until x=0;</a:t>
            </a:r>
          </a:p>
          <a:p>
            <a:pPr>
              <a:buFontTx/>
              <a:buNone/>
            </a:pPr>
            <a:r>
              <a:rPr lang="en-US" altLang="zh-CN" kern="0" dirty="0"/>
              <a:t>		write fact {output factorial of x}</a:t>
            </a:r>
          </a:p>
          <a:p>
            <a:pPr>
              <a:buFontTx/>
              <a:buNone/>
            </a:pPr>
            <a:r>
              <a:rPr lang="en-US" altLang="zh-CN" kern="0" dirty="0"/>
              <a:t>	end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270021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9736" y="1301613"/>
            <a:ext cx="8208912" cy="540060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1814F360-7C49-419C-99BE-D51D995AF3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568759"/>
              </p:ext>
            </p:extLst>
          </p:nvPr>
        </p:nvGraphicFramePr>
        <p:xfrm>
          <a:off x="3791744" y="1353045"/>
          <a:ext cx="8029617" cy="5244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3562200" imgH="1733400" progId="Paint.Picture">
                  <p:embed/>
                </p:oleObj>
              </mc:Choice>
              <mc:Fallback>
                <p:oleObj name="BMP 图像" r:id="rId2" imgW="3562200" imgH="1733400" progId="Paint.Picture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1353045"/>
                        <a:ext cx="8029617" cy="52443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284084B2-C009-4DDE-A0C8-57D79A8E9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1301613"/>
            <a:ext cx="3168352" cy="5394840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400" kern="0" dirty="0"/>
              <a:t>read x;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400" kern="0" dirty="0"/>
              <a:t>if 0&lt;x then</a:t>
            </a:r>
          </a:p>
          <a:p>
            <a:pPr marL="400050" lvl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kern="0" dirty="0"/>
              <a:t>   fact:=1;</a:t>
            </a:r>
          </a:p>
          <a:p>
            <a:pPr marL="400050" lvl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kern="0" dirty="0"/>
              <a:t>   repeat</a:t>
            </a:r>
          </a:p>
          <a:p>
            <a:pPr marL="800100" lvl="2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kern="0" dirty="0"/>
              <a:t> fact :=fact *x;</a:t>
            </a:r>
          </a:p>
          <a:p>
            <a:pPr marL="800100" lvl="2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kern="0" dirty="0"/>
              <a:t> x:=x-1;</a:t>
            </a:r>
          </a:p>
          <a:p>
            <a:pPr marL="400050" lvl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kern="0" dirty="0"/>
              <a:t>   until x=0;</a:t>
            </a:r>
          </a:p>
          <a:p>
            <a:pPr marL="400050" lvl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kern="0"/>
              <a:t>   write </a:t>
            </a:r>
            <a:r>
              <a:rPr lang="en-US" altLang="zh-CN" sz="2400" kern="0" dirty="0"/>
              <a:t>fact</a:t>
            </a:r>
          </a:p>
          <a:p>
            <a:pPr marL="0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400" kern="0" dirty="0"/>
              <a:t>end</a:t>
            </a:r>
            <a:endParaRPr lang="zh-CN" altLang="en-US" sz="2400" kern="0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A5F6E518-C152-4A51-BD0A-12C6CD5C1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en-US" altLang="zh-CN" dirty="0"/>
              <a:t>TINY</a:t>
            </a:r>
            <a:r>
              <a:rPr lang="zh-CN" altLang="en-US" dirty="0"/>
              <a:t>语言的语法</a:t>
            </a:r>
          </a:p>
        </p:txBody>
      </p:sp>
    </p:spTree>
    <p:extLst>
      <p:ext uri="{BB962C8B-B14F-4D97-AF65-F5344CB8AC3E}">
        <p14:creationId xmlns:p14="http://schemas.microsoft.com/office/powerpoint/2010/main" val="17083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主题4">
  <a:themeElements>
    <a:clrScheme name="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FFFFFF"/>
      </a:accent3>
      <a:accent4>
        <a:srgbClr val="000000"/>
      </a:accent4>
      <a:accent5>
        <a:srgbClr val="D8AFB9"/>
      </a:accent5>
      <a:accent6>
        <a:srgbClr val="9B5CA9"/>
      </a:accent6>
      <a:hlink>
        <a:srgbClr val="FFDE66"/>
      </a:hlink>
      <a:folHlink>
        <a:srgbClr val="D490C5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2" charset="-122"/>
          </a:defRPr>
        </a:defPPr>
      </a:lstStyle>
    </a:lnDef>
  </a:objectDefaults>
  <a:extraClrSchemeLst>
    <a:extraClrScheme>
      <a:clrScheme name="1_3 1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4EA693"/>
        </a:accent1>
        <a:accent2>
          <a:srgbClr val="ABA755"/>
        </a:accent2>
        <a:accent3>
          <a:srgbClr val="FFFFFF"/>
        </a:accent3>
        <a:accent4>
          <a:srgbClr val="174578"/>
        </a:accent4>
        <a:accent5>
          <a:srgbClr val="B2D0C8"/>
        </a:accent5>
        <a:accent6>
          <a:srgbClr val="9B974C"/>
        </a:accent6>
        <a:hlink>
          <a:srgbClr val="3981B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2">
        <a:dk1>
          <a:srgbClr val="124B98"/>
        </a:dk1>
        <a:lt1>
          <a:srgbClr val="FFFFFF"/>
        </a:lt1>
        <a:dk2>
          <a:srgbClr val="000000"/>
        </a:dk2>
        <a:lt2>
          <a:srgbClr val="DDDDDD"/>
        </a:lt2>
        <a:accent1>
          <a:srgbClr val="4976D1"/>
        </a:accent1>
        <a:accent2>
          <a:srgbClr val="4CB494"/>
        </a:accent2>
        <a:accent3>
          <a:srgbClr val="FFFFFF"/>
        </a:accent3>
        <a:accent4>
          <a:srgbClr val="0E3F81"/>
        </a:accent4>
        <a:accent5>
          <a:srgbClr val="B1BDE5"/>
        </a:accent5>
        <a:accent6>
          <a:srgbClr val="44A386"/>
        </a:accent6>
        <a:hlink>
          <a:srgbClr val="0099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5B1B1"/>
        </a:accent1>
        <a:accent2>
          <a:srgbClr val="5BACE9"/>
        </a:accent2>
        <a:accent3>
          <a:srgbClr val="FFFFFF"/>
        </a:accent3>
        <a:accent4>
          <a:srgbClr val="174578"/>
        </a:accent4>
        <a:accent5>
          <a:srgbClr val="ACD5D5"/>
        </a:accent5>
        <a:accent6>
          <a:srgbClr val="529BD3"/>
        </a:accent6>
        <a:hlink>
          <a:srgbClr val="6E71F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主题4</Template>
  <TotalTime>8900</TotalTime>
  <Words>992</Words>
  <Application>Microsoft Office PowerPoint</Application>
  <PresentationFormat>宽屏</PresentationFormat>
  <Paragraphs>134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宋体</vt:lpstr>
      <vt:lpstr>Arial</vt:lpstr>
      <vt:lpstr>Cambria Math</vt:lpstr>
      <vt:lpstr>Symbol</vt:lpstr>
      <vt:lpstr>Times New Roman</vt:lpstr>
      <vt:lpstr>Verdana</vt:lpstr>
      <vt:lpstr>Wingdings</vt:lpstr>
      <vt:lpstr>主题4</vt:lpstr>
      <vt:lpstr>BMP 图像</vt:lpstr>
      <vt:lpstr>第三章 上下文无关文法 与语法分析</vt:lpstr>
      <vt:lpstr>扩展的表示方法：EBNF</vt:lpstr>
      <vt:lpstr>EBNF中的重复表示</vt:lpstr>
      <vt:lpstr>示例</vt:lpstr>
      <vt:lpstr>示例</vt:lpstr>
      <vt:lpstr>EBNF中的可选表示</vt:lpstr>
      <vt:lpstr>EBNF中的可选表示</vt:lpstr>
      <vt:lpstr>乔姆斯基语言分类</vt:lpstr>
      <vt:lpstr>乔姆斯基语言分类</vt:lpstr>
      <vt:lpstr>上下文无关文法的局限性</vt:lpstr>
      <vt:lpstr>上下文无关文法的局限性</vt:lpstr>
      <vt:lpstr>上下文无关文法的局限性</vt:lpstr>
      <vt:lpstr>上下文无关文法的局限性</vt:lpstr>
      <vt:lpstr>TINY语言的语法规则</vt:lpstr>
      <vt:lpstr>TINY语言的语法规则</vt:lpstr>
      <vt:lpstr>TINY语言的语法</vt:lpstr>
      <vt:lpstr>TINY语言的语法</vt:lpstr>
    </vt:vector>
  </TitlesOfParts>
  <Company>csit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wt</dc:creator>
  <cp:lastModifiedBy>薇 潘</cp:lastModifiedBy>
  <cp:revision>394</cp:revision>
  <dcterms:created xsi:type="dcterms:W3CDTF">1999-05-10T08:46:26Z</dcterms:created>
  <dcterms:modified xsi:type="dcterms:W3CDTF">2024-03-28T03:18:21Z</dcterms:modified>
</cp:coreProperties>
</file>