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393" r:id="rId2"/>
    <p:sldId id="409" r:id="rId3"/>
    <p:sldId id="257" r:id="rId4"/>
    <p:sldId id="437" r:id="rId5"/>
    <p:sldId id="443" r:id="rId6"/>
    <p:sldId id="394" r:id="rId7"/>
    <p:sldId id="438" r:id="rId8"/>
    <p:sldId id="442" r:id="rId9"/>
    <p:sldId id="415" r:id="rId10"/>
    <p:sldId id="412" r:id="rId11"/>
    <p:sldId id="441" r:id="rId12"/>
    <p:sldId id="414" r:id="rId13"/>
    <p:sldId id="420" r:id="rId14"/>
    <p:sldId id="418" r:id="rId15"/>
    <p:sldId id="421" r:id="rId16"/>
    <p:sldId id="422" r:id="rId17"/>
    <p:sldId id="444" r:id="rId18"/>
    <p:sldId id="445" r:id="rId19"/>
    <p:sldId id="425" r:id="rId20"/>
    <p:sldId id="446" r:id="rId21"/>
    <p:sldId id="545" r:id="rId22"/>
    <p:sldId id="447" r:id="rId23"/>
    <p:sldId id="428" r:id="rId24"/>
    <p:sldId id="474" r:id="rId25"/>
    <p:sldId id="471" r:id="rId26"/>
    <p:sldId id="475" r:id="rId27"/>
    <p:sldId id="476" r:id="rId28"/>
    <p:sldId id="477" r:id="rId29"/>
    <p:sldId id="479" r:id="rId30"/>
    <p:sldId id="478" r:id="rId31"/>
    <p:sldId id="486" r:id="rId32"/>
    <p:sldId id="480" r:id="rId33"/>
    <p:sldId id="481" r:id="rId34"/>
    <p:sldId id="448" r:id="rId35"/>
    <p:sldId id="482" r:id="rId36"/>
    <p:sldId id="483" r:id="rId37"/>
    <p:sldId id="484" r:id="rId38"/>
    <p:sldId id="485" r:id="rId39"/>
    <p:sldId id="487" r:id="rId40"/>
    <p:sldId id="488" r:id="rId41"/>
    <p:sldId id="489" r:id="rId42"/>
    <p:sldId id="430" r:id="rId43"/>
    <p:sldId id="449" r:id="rId44"/>
    <p:sldId id="490" r:id="rId45"/>
    <p:sldId id="492" r:id="rId46"/>
    <p:sldId id="493" r:id="rId47"/>
    <p:sldId id="494" r:id="rId48"/>
    <p:sldId id="495" r:id="rId49"/>
    <p:sldId id="450" r:id="rId50"/>
    <p:sldId id="491" r:id="rId51"/>
    <p:sldId id="496" r:id="rId52"/>
    <p:sldId id="497" r:id="rId53"/>
    <p:sldId id="498" r:id="rId54"/>
    <p:sldId id="431" r:id="rId55"/>
    <p:sldId id="432" r:id="rId56"/>
    <p:sldId id="451" r:id="rId57"/>
    <p:sldId id="452" r:id="rId58"/>
    <p:sldId id="453" r:id="rId59"/>
    <p:sldId id="456" r:id="rId60"/>
    <p:sldId id="454" r:id="rId61"/>
    <p:sldId id="455" r:id="rId62"/>
    <p:sldId id="530" r:id="rId63"/>
    <p:sldId id="436" r:id="rId64"/>
    <p:sldId id="502" r:id="rId65"/>
    <p:sldId id="500" r:id="rId66"/>
    <p:sldId id="503" r:id="rId67"/>
    <p:sldId id="457" r:id="rId68"/>
    <p:sldId id="458" r:id="rId69"/>
    <p:sldId id="459" r:id="rId70"/>
    <p:sldId id="460" r:id="rId71"/>
    <p:sldId id="461" r:id="rId72"/>
    <p:sldId id="462" r:id="rId73"/>
    <p:sldId id="463" r:id="rId74"/>
    <p:sldId id="464" r:id="rId75"/>
    <p:sldId id="465" r:id="rId76"/>
    <p:sldId id="466" r:id="rId77"/>
    <p:sldId id="511" r:id="rId78"/>
    <p:sldId id="468" r:id="rId79"/>
    <p:sldId id="469" r:id="rId80"/>
    <p:sldId id="533" r:id="rId81"/>
    <p:sldId id="532" r:id="rId82"/>
    <p:sldId id="531" r:id="rId83"/>
    <p:sldId id="534" r:id="rId84"/>
    <p:sldId id="467" r:id="rId85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9999FF"/>
    <a:srgbClr val="FFFFCC"/>
    <a:srgbClr val="FFCC99"/>
    <a:srgbClr val="CCFF99"/>
    <a:srgbClr val="CCCCFF"/>
    <a:srgbClr val="FFFF99"/>
    <a:srgbClr val="FFCCFF"/>
    <a:srgbClr val="FF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1058" autoAdjust="0"/>
  </p:normalViewPr>
  <p:slideViewPr>
    <p:cSldViewPr>
      <p:cViewPr varScale="1">
        <p:scale>
          <a:sx n="79" d="100"/>
          <a:sy n="79" d="100"/>
        </p:scale>
        <p:origin x="850" y="77"/>
      </p:cViewPr>
      <p:guideLst>
        <p:guide orient="horz" pos="288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740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EBD1789-4991-4012-AA0B-0311859506BA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09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5CEE83-8A2A-48C4-91B1-F00C976E2AE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/>
          <p:nvPr/>
        </p:nvGrpSpPr>
        <p:grpSpPr bwMode="auto">
          <a:xfrm>
            <a:off x="-12700" y="2708276"/>
            <a:ext cx="12244917" cy="1501775"/>
            <a:chOff x="-23" y="1319"/>
            <a:chExt cx="5799" cy="946"/>
          </a:xfrm>
        </p:grpSpPr>
        <p:sp>
          <p:nvSpPr>
            <p:cNvPr id="5" name="Freeform 18"/>
            <p:cNvSpPr/>
            <p:nvPr/>
          </p:nvSpPr>
          <p:spPr bwMode="gray">
            <a:xfrm>
              <a:off x="-20" y="1319"/>
              <a:ext cx="5779" cy="946"/>
            </a:xfrm>
            <a:custGeom>
              <a:avLst/>
              <a:gdLst>
                <a:gd name="T0" fmla="*/ 6 w 5779"/>
                <a:gd name="T1" fmla="*/ 454 h 946"/>
                <a:gd name="T2" fmla="*/ 355 w 5779"/>
                <a:gd name="T3" fmla="*/ 454 h 946"/>
                <a:gd name="T4" fmla="*/ 757 w 5779"/>
                <a:gd name="T5" fmla="*/ 1 h 946"/>
                <a:gd name="T6" fmla="*/ 2511 w 5779"/>
                <a:gd name="T7" fmla="*/ 0 h 946"/>
                <a:gd name="T8" fmla="*/ 2646 w 5779"/>
                <a:gd name="T9" fmla="*/ 144 h 946"/>
                <a:gd name="T10" fmla="*/ 5779 w 5779"/>
                <a:gd name="T11" fmla="*/ 137 h 946"/>
                <a:gd name="T12" fmla="*/ 5779 w 5779"/>
                <a:gd name="T13" fmla="*/ 772 h 946"/>
                <a:gd name="T14" fmla="*/ 2899 w 5779"/>
                <a:gd name="T15" fmla="*/ 765 h 946"/>
                <a:gd name="T16" fmla="*/ 2757 w 5779"/>
                <a:gd name="T17" fmla="*/ 946 h 946"/>
                <a:gd name="T18" fmla="*/ 1883 w 5779"/>
                <a:gd name="T19" fmla="*/ 946 h 946"/>
                <a:gd name="T20" fmla="*/ 1663 w 5779"/>
                <a:gd name="T21" fmla="*/ 687 h 946"/>
                <a:gd name="T22" fmla="*/ 0 w 5779"/>
                <a:gd name="T23" fmla="*/ 687 h 946"/>
                <a:gd name="T24" fmla="*/ 35 w 5779"/>
                <a:gd name="T25" fmla="*/ 480 h 9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79" h="946">
                  <a:moveTo>
                    <a:pt x="6" y="454"/>
                  </a:moveTo>
                  <a:lnTo>
                    <a:pt x="355" y="454"/>
                  </a:lnTo>
                  <a:lnTo>
                    <a:pt x="757" y="1"/>
                  </a:lnTo>
                  <a:lnTo>
                    <a:pt x="2511" y="0"/>
                  </a:lnTo>
                  <a:lnTo>
                    <a:pt x="2646" y="144"/>
                  </a:lnTo>
                  <a:lnTo>
                    <a:pt x="5779" y="137"/>
                  </a:lnTo>
                  <a:lnTo>
                    <a:pt x="5779" y="772"/>
                  </a:lnTo>
                  <a:lnTo>
                    <a:pt x="2899" y="765"/>
                  </a:lnTo>
                  <a:lnTo>
                    <a:pt x="2757" y="946"/>
                  </a:lnTo>
                  <a:lnTo>
                    <a:pt x="1883" y="946"/>
                  </a:lnTo>
                  <a:lnTo>
                    <a:pt x="1663" y="687"/>
                  </a:lnTo>
                  <a:lnTo>
                    <a:pt x="0" y="687"/>
                  </a:lnTo>
                  <a:lnTo>
                    <a:pt x="35" y="48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  <a:effectLst>
              <a:outerShdw dist="77251" dir="4832261" algn="ctr" rotWithShape="0">
                <a:srgbClr val="000066">
                  <a:alpha val="18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  <p:sp>
          <p:nvSpPr>
            <p:cNvPr id="6" name="Freeform 19" descr="01_img(Global Digtal Desigm(imageState)"/>
            <p:cNvSpPr/>
            <p:nvPr/>
          </p:nvSpPr>
          <p:spPr bwMode="gray">
            <a:xfrm>
              <a:off x="-23" y="1344"/>
              <a:ext cx="5799" cy="895"/>
            </a:xfrm>
            <a:custGeom>
              <a:avLst/>
              <a:gdLst>
                <a:gd name="T0" fmla="*/ 0 w 5799"/>
                <a:gd name="T1" fmla="*/ 455 h 895"/>
                <a:gd name="T2" fmla="*/ 369 w 5799"/>
                <a:gd name="T3" fmla="*/ 454 h 895"/>
                <a:gd name="T4" fmla="*/ 776 w 5799"/>
                <a:gd name="T5" fmla="*/ 0 h 895"/>
                <a:gd name="T6" fmla="*/ 2496 w 5799"/>
                <a:gd name="T7" fmla="*/ 0 h 895"/>
                <a:gd name="T8" fmla="*/ 2632 w 5799"/>
                <a:gd name="T9" fmla="*/ 136 h 895"/>
                <a:gd name="T10" fmla="*/ 5799 w 5799"/>
                <a:gd name="T11" fmla="*/ 136 h 895"/>
                <a:gd name="T12" fmla="*/ 5788 w 5799"/>
                <a:gd name="T13" fmla="*/ 727 h 895"/>
                <a:gd name="T14" fmla="*/ 2883 w 5799"/>
                <a:gd name="T15" fmla="*/ 708 h 895"/>
                <a:gd name="T16" fmla="*/ 2747 w 5799"/>
                <a:gd name="T17" fmla="*/ 895 h 895"/>
                <a:gd name="T18" fmla="*/ 1899 w 5799"/>
                <a:gd name="T19" fmla="*/ 895 h 895"/>
                <a:gd name="T20" fmla="*/ 1681 w 5799"/>
                <a:gd name="T21" fmla="*/ 635 h 895"/>
                <a:gd name="T22" fmla="*/ 7 w 5799"/>
                <a:gd name="T23" fmla="*/ 635 h 895"/>
                <a:gd name="T24" fmla="*/ 7 w 5799"/>
                <a:gd name="T25" fmla="*/ 454 h 89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799" h="895">
                  <a:moveTo>
                    <a:pt x="0" y="455"/>
                  </a:moveTo>
                  <a:lnTo>
                    <a:pt x="369" y="454"/>
                  </a:lnTo>
                  <a:lnTo>
                    <a:pt x="776" y="0"/>
                  </a:lnTo>
                  <a:lnTo>
                    <a:pt x="2496" y="0"/>
                  </a:lnTo>
                  <a:lnTo>
                    <a:pt x="2632" y="136"/>
                  </a:lnTo>
                  <a:lnTo>
                    <a:pt x="5799" y="136"/>
                  </a:lnTo>
                  <a:lnTo>
                    <a:pt x="5788" y="727"/>
                  </a:lnTo>
                  <a:lnTo>
                    <a:pt x="2883" y="708"/>
                  </a:lnTo>
                  <a:lnTo>
                    <a:pt x="2747" y="895"/>
                  </a:lnTo>
                  <a:lnTo>
                    <a:pt x="1899" y="895"/>
                  </a:lnTo>
                  <a:lnTo>
                    <a:pt x="1681" y="635"/>
                  </a:lnTo>
                  <a:lnTo>
                    <a:pt x="7" y="635"/>
                  </a:lnTo>
                  <a:lnTo>
                    <a:pt x="7" y="454"/>
                  </a:lnTo>
                </a:path>
              </a:pathLst>
            </a:custGeom>
            <a:blipFill dpi="0" rotWithShape="1">
              <a:blip r:embed="rId2" cstate="print"/>
              <a:srcRect/>
              <a:stretch>
                <a:fillRect/>
              </a:stretch>
            </a:blipFill>
            <a:ln w="9525">
              <a:noFill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ea typeface="+mn-ea"/>
              </a:endParaRPr>
            </a:p>
          </p:txBody>
        </p:sp>
      </p:grpSp>
      <p:sp>
        <p:nvSpPr>
          <p:cNvPr id="7987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7351" y="4365625"/>
            <a:ext cx="8534400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00151" y="1196975"/>
            <a:ext cx="10363200" cy="1470025"/>
          </a:xfrm>
        </p:spPr>
        <p:txBody>
          <a:bodyPr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579439"/>
            <a:ext cx="2743200" cy="59007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579439"/>
            <a:ext cx="8026400" cy="59007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343025"/>
            <a:ext cx="5384800" cy="51371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19200" y="16764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3695700"/>
            <a:ext cx="8839200" cy="1866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12800" y="579438"/>
            <a:ext cx="104648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343026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87801"/>
            <a:ext cx="5384800" cy="24923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/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FC6AE96-43E9-4D4A-B7B7-8F9A2F2ADEF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6"/>
          <p:cNvSpPr/>
          <p:nvPr/>
        </p:nvSpPr>
        <p:spPr bwMode="gray">
          <a:xfrm>
            <a:off x="1" y="360363"/>
            <a:ext cx="12198351" cy="900112"/>
          </a:xfrm>
          <a:custGeom>
            <a:avLst/>
            <a:gdLst>
              <a:gd name="T0" fmla="*/ 0 w 5763"/>
              <a:gd name="T1" fmla="*/ 584200 h 567"/>
              <a:gd name="T2" fmla="*/ 698500 w 5763"/>
              <a:gd name="T3" fmla="*/ 584200 h 567"/>
              <a:gd name="T4" fmla="*/ 1233488 w 5763"/>
              <a:gd name="T5" fmla="*/ 0 h 567"/>
              <a:gd name="T6" fmla="*/ 3432175 w 5763"/>
              <a:gd name="T7" fmla="*/ 0 h 567"/>
              <a:gd name="T8" fmla="*/ 3595688 w 5763"/>
              <a:gd name="T9" fmla="*/ 184150 h 567"/>
              <a:gd name="T10" fmla="*/ 9137650 w 5763"/>
              <a:gd name="T11" fmla="*/ 177800 h 567"/>
              <a:gd name="T12" fmla="*/ 9148763 w 5763"/>
              <a:gd name="T13" fmla="*/ 900112 h 567"/>
              <a:gd name="T14" fmla="*/ 9525 w 5763"/>
              <a:gd name="T15" fmla="*/ 882650 h 56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63" h="567">
                <a:moveTo>
                  <a:pt x="0" y="368"/>
                </a:moveTo>
                <a:lnTo>
                  <a:pt x="440" y="368"/>
                </a:lnTo>
                <a:lnTo>
                  <a:pt x="777" y="0"/>
                </a:lnTo>
                <a:lnTo>
                  <a:pt x="2162" y="0"/>
                </a:lnTo>
                <a:lnTo>
                  <a:pt x="2265" y="116"/>
                </a:lnTo>
                <a:lnTo>
                  <a:pt x="5756" y="112"/>
                </a:lnTo>
                <a:lnTo>
                  <a:pt x="5763" y="567"/>
                </a:lnTo>
                <a:lnTo>
                  <a:pt x="6" y="556"/>
                </a:lnTo>
              </a:path>
            </a:pathLst>
          </a:custGeom>
          <a:solidFill>
            <a:schemeClr val="bg2"/>
          </a:solid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1027" name="Freeform 15" descr="01b_img(Global Digtal Desigm(imageState)"/>
          <p:cNvSpPr/>
          <p:nvPr/>
        </p:nvSpPr>
        <p:spPr bwMode="gray">
          <a:xfrm>
            <a:off x="-12700" y="336550"/>
            <a:ext cx="12242800" cy="838200"/>
          </a:xfrm>
          <a:custGeom>
            <a:avLst/>
            <a:gdLst>
              <a:gd name="T0" fmla="*/ 712788 w 5784"/>
              <a:gd name="T1" fmla="*/ 587375 h 528"/>
              <a:gd name="T2" fmla="*/ 1219200 w 5784"/>
              <a:gd name="T3" fmla="*/ 1588 h 528"/>
              <a:gd name="T4" fmla="*/ 3425825 w 5784"/>
              <a:gd name="T5" fmla="*/ 0 h 528"/>
              <a:gd name="T6" fmla="*/ 3584575 w 5784"/>
              <a:gd name="T7" fmla="*/ 182563 h 528"/>
              <a:gd name="T8" fmla="*/ 9182100 w 5784"/>
              <a:gd name="T9" fmla="*/ 182563 h 528"/>
              <a:gd name="T10" fmla="*/ 9174163 w 5784"/>
              <a:gd name="T11" fmla="*/ 838200 h 528"/>
              <a:gd name="T12" fmla="*/ 0 w 5784"/>
              <a:gd name="T13" fmla="*/ 823913 h 528"/>
              <a:gd name="T14" fmla="*/ 0 w 5784"/>
              <a:gd name="T15" fmla="*/ 588963 h 52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784" h="528">
                <a:moveTo>
                  <a:pt x="449" y="370"/>
                </a:moveTo>
                <a:lnTo>
                  <a:pt x="768" y="1"/>
                </a:lnTo>
                <a:lnTo>
                  <a:pt x="2158" y="0"/>
                </a:lnTo>
                <a:lnTo>
                  <a:pt x="2258" y="115"/>
                </a:lnTo>
                <a:lnTo>
                  <a:pt x="5784" y="115"/>
                </a:lnTo>
                <a:lnTo>
                  <a:pt x="5779" y="528"/>
                </a:lnTo>
                <a:lnTo>
                  <a:pt x="0" y="519"/>
                </a:lnTo>
                <a:lnTo>
                  <a:pt x="0" y="371"/>
                </a:lnTo>
              </a:path>
            </a:pathLst>
          </a:custGeom>
          <a:blipFill dpi="0" rotWithShape="1">
            <a:blip r:embed="rId20" cstate="print"/>
            <a:srcRect/>
            <a:stretch>
              <a:fillRect/>
            </a:stretch>
          </a:blipFill>
          <a:ln w="9525">
            <a:noFill/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ea typeface="+mn-ea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43025"/>
            <a:ext cx="10972800" cy="5137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812800" y="579438"/>
            <a:ext cx="10464800" cy="563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sz="16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第五章 自底向上的分析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自底向上的分析方法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自底向上</a:t>
            </a:r>
            <a:r>
              <a:rPr lang="zh-CN" altLang="en-US" dirty="0"/>
              <a:t>的分析方法</a:t>
            </a:r>
            <a:r>
              <a:rPr lang="en-US" altLang="zh-CN" dirty="0"/>
              <a:t>(bottom-up parser)</a:t>
            </a:r>
            <a:r>
              <a:rPr lang="zh-CN" altLang="en-US" dirty="0"/>
              <a:t>分析过程对应着</a:t>
            </a:r>
            <a:r>
              <a:rPr lang="zh-CN" altLang="en-US" dirty="0">
                <a:solidFill>
                  <a:srgbClr val="FF0000"/>
                </a:solidFill>
              </a:rPr>
              <a:t>最右推导</a:t>
            </a:r>
            <a:r>
              <a:rPr lang="zh-CN" altLang="en-US" dirty="0"/>
              <a:t>，也称为</a:t>
            </a:r>
            <a:r>
              <a:rPr lang="zh-CN" altLang="en-US" dirty="0">
                <a:solidFill>
                  <a:srgbClr val="FF0000"/>
                </a:solidFill>
              </a:rPr>
              <a:t>自下而上</a:t>
            </a:r>
            <a:r>
              <a:rPr lang="zh-CN" altLang="en-US" dirty="0"/>
              <a:t>的分析方法。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自底向上的分析方法</a:t>
            </a:r>
            <a:r>
              <a:rPr lang="zh-CN" altLang="en-US" dirty="0">
                <a:solidFill>
                  <a:srgbClr val="FF0000"/>
                </a:solidFill>
              </a:rPr>
              <a:t>从记号串开始</a:t>
            </a:r>
            <a:r>
              <a:rPr lang="zh-CN" altLang="en-US" dirty="0"/>
              <a:t>，使用产生式进行</a:t>
            </a:r>
            <a:r>
              <a:rPr lang="zh-CN" altLang="en-US" dirty="0">
                <a:solidFill>
                  <a:srgbClr val="FF0000"/>
                </a:solidFill>
              </a:rPr>
              <a:t>归约</a:t>
            </a:r>
            <a:r>
              <a:rPr lang="zh-CN" altLang="en-US" dirty="0"/>
              <a:t>，期望得到</a:t>
            </a:r>
            <a:r>
              <a:rPr lang="zh-CN" altLang="en-US" dirty="0">
                <a:solidFill>
                  <a:srgbClr val="FF0000"/>
                </a:solidFill>
              </a:rPr>
              <a:t>开始符号</a:t>
            </a:r>
            <a:r>
              <a:rPr lang="zh-CN" altLang="en-US" dirty="0"/>
              <a:t>，如果能归约到开始符号，那么这个记号串是该文法可以识别的句子。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自底向上的分析方法的处理能力比自顶而下的分析方法要强大</a:t>
            </a:r>
            <a:r>
              <a:rPr lang="zh-CN" altLang="en-US" dirty="0"/>
              <a:t>，比如它能处理含有左递归的情况。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/>
              <a:t>手工构造自底向上分析程序太复杂，但适合</a:t>
            </a:r>
            <a:r>
              <a:rPr lang="en-US" altLang="zh-CN" dirty="0" err="1">
                <a:solidFill>
                  <a:srgbClr val="FF0000"/>
                </a:solidFill>
              </a:rPr>
              <a:t>Yacc</a:t>
            </a:r>
            <a:r>
              <a:rPr lang="zh-CN" altLang="en-US" dirty="0"/>
              <a:t>来自动生成。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自底向上的分析方法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自底向上的分析方法</a:t>
            </a:r>
            <a:r>
              <a:rPr lang="zh-CN" altLang="en-US" dirty="0"/>
              <a:t>也采用</a:t>
            </a:r>
            <a:r>
              <a:rPr lang="zh-CN" altLang="en-US" dirty="0">
                <a:solidFill>
                  <a:srgbClr val="FF0000"/>
                </a:solidFill>
              </a:rPr>
              <a:t>显式栈</a:t>
            </a:r>
            <a:r>
              <a:rPr lang="zh-CN" altLang="en-US" dirty="0"/>
              <a:t>来辅助完成分析。</a:t>
            </a:r>
            <a:endParaRPr lang="en-US" altLang="zh-CN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初始化时，需要将</a:t>
            </a:r>
            <a:r>
              <a:rPr lang="zh-CN" altLang="en-US" dirty="0">
                <a:solidFill>
                  <a:srgbClr val="FF0000"/>
                </a:solidFill>
              </a:rPr>
              <a:t>栈清空</a:t>
            </a:r>
            <a:r>
              <a:rPr lang="zh-CN" altLang="en-US" dirty="0"/>
              <a:t>。如果最后栈中只有开始符号，输入串为空，那么分析成功，否则失败。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en-US" altLang="zh-CN" dirty="0"/>
              <a:t>			</a:t>
            </a:r>
          </a:p>
          <a:p>
            <a:pPr lvl="1">
              <a:buFontTx/>
              <a:buNone/>
            </a:pPr>
            <a:r>
              <a:rPr lang="en-US" altLang="zh-CN" dirty="0"/>
              <a:t>		 		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135560" y="3573016"/>
          <a:ext cx="8066856" cy="2531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8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283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stack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 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b="1" kern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83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InputString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83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……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830"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 </a:t>
                      </a:r>
                      <a:r>
                        <a:rPr lang="en-US" altLang="zh-CN" sz="2400" b="1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StartSymbol</a:t>
                      </a:r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accept</a:t>
                      </a:r>
                      <a:endParaRPr lang="zh-CN" altLang="en-US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 anchorCtr="1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自底向上的分析方法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在自底向上的分析方法</a:t>
                </a:r>
                <a:r>
                  <a:rPr lang="zh-CN" altLang="en-US" dirty="0"/>
                  <a:t>中除了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accept</a:t>
                </a:r>
                <a:r>
                  <a:rPr lang="zh-CN" altLang="en-US" dirty="0"/>
                  <a:t>以外还有两个允许的动作：</a:t>
                </a:r>
                <a:endParaRPr lang="en-US" altLang="zh-CN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移进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shift</a:t>
                </a:r>
                <a:r>
                  <a:rPr lang="zh-CN" altLang="en-US" dirty="0"/>
                  <a:t>：将终结符从输入的左侧移进到分析栈的顶部</a:t>
                </a:r>
                <a:endParaRPr lang="en-US" altLang="zh-CN" dirty="0"/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归约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reduce</a:t>
                </a:r>
                <a:r>
                  <a:rPr lang="zh-CN" altLang="en-US" dirty="0"/>
                  <a:t>：假设有产生式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，将栈顶的串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zh-CN" altLang="en-US" dirty="0"/>
                  <a:t>归约为非终结符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。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归约是推导的逆过程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因此，自底向上的分析程序也被称为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移进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-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归约分析</a:t>
                </a:r>
                <a:r>
                  <a:rPr lang="zh-CN" altLang="en-US" dirty="0"/>
                  <a:t>程序。</a:t>
                </a: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自底向上的分析程序需要为文法增加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新的开始符号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altLang="zh-CN" dirty="0"/>
              </a:p>
              <a:p>
                <a:pPr lvl="1">
                  <a:buFontTx/>
                  <a:buNone/>
                </a:pPr>
                <a:r>
                  <a:rPr lang="en-US" altLang="zh-CN" dirty="0"/>
                  <a:t>		 		</a:t>
                </a:r>
              </a:p>
              <a:p>
                <a:pPr marL="0" indent="0" eaLnBrk="1" hangingPunct="1">
                  <a:lnSpc>
                    <a:spcPct val="150000"/>
                  </a:lnSpc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18813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回忆</a:t>
            </a:r>
            <a:r>
              <a:rPr lang="en-US" altLang="zh-CN" dirty="0"/>
              <a:t>LL(1)</a:t>
            </a:r>
            <a:r>
              <a:rPr lang="zh-CN" altLang="en-US" dirty="0"/>
              <a:t>分析过程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 bwMode="auto">
              <a:xfrm>
                <a:off x="1055440" y="1587152"/>
                <a:ext cx="1728192" cy="8640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</a:ln>
            </p:spPr>
            <p:txBody>
              <a:bodyPr vert="horz" wrap="square" lIns="91440" tIns="45720" rIns="91440" bIns="45720" numCol="1" anchor="ctr" anchorCtr="1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5440" y="1587152"/>
                <a:ext cx="1728192" cy="864096"/>
              </a:xfrm>
              <a:prstGeom prst="rect">
                <a:avLst/>
              </a:prstGeom>
              <a:blipFill rotWithShape="1">
                <a:blip r:embed="rId2"/>
                <a:stretch>
                  <a:fillRect l="-849" t="-1723" r="-820" b="-1600"/>
                </a:stretch>
              </a:blipFill>
              <a:ln w="28575">
                <a:solidFill>
                  <a:srgbClr val="9999FF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Group 183"/>
          <p:cNvGraphicFramePr/>
          <p:nvPr/>
        </p:nvGraphicFramePr>
        <p:xfrm>
          <a:off x="1055441" y="2918414"/>
          <a:ext cx="5832650" cy="3566160"/>
        </p:xfrm>
        <a:graphic>
          <a:graphicData uri="http://schemas.openxmlformats.org/drawingml/2006/table">
            <a:tbl>
              <a:tblPr/>
              <a:tblGrid>
                <a:gridCol w="1076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0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5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717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Steps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Parsing Stack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17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S→(S) 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17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$S)S(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17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$S)S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17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match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17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17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999656" y="1587152"/>
          <a:ext cx="4523334" cy="914400"/>
        </p:xfrm>
        <a:graphic>
          <a:graphicData uri="http://schemas.openxmlformats.org/drawingml/2006/table">
            <a:tbl>
              <a:tblPr/>
              <a:tblGrid>
                <a:gridCol w="1130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38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M[N,T]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S→(S) 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云形标注 2"/>
          <p:cNvSpPr/>
          <p:nvPr/>
        </p:nvSpPr>
        <p:spPr bwMode="auto">
          <a:xfrm>
            <a:off x="7680176" y="3474321"/>
            <a:ext cx="1368152" cy="651680"/>
          </a:xfrm>
          <a:prstGeom prst="cloudCallout">
            <a:avLst>
              <a:gd name="adj1" fmla="val -136420"/>
              <a:gd name="adj2" fmla="val 99540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匹配</a:t>
            </a:r>
          </a:p>
        </p:txBody>
      </p:sp>
      <p:sp>
        <p:nvSpPr>
          <p:cNvPr id="16" name="云形标注 2"/>
          <p:cNvSpPr/>
          <p:nvPr/>
        </p:nvSpPr>
        <p:spPr bwMode="auto">
          <a:xfrm>
            <a:off x="7752184" y="4315339"/>
            <a:ext cx="1368152" cy="651680"/>
          </a:xfrm>
          <a:prstGeom prst="cloudCallout">
            <a:avLst>
              <a:gd name="adj1" fmla="val -142604"/>
              <a:gd name="adj2" fmla="val 56621"/>
            </a:avLst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生成</a:t>
            </a:r>
          </a:p>
        </p:txBody>
      </p:sp>
      <p:sp>
        <p:nvSpPr>
          <p:cNvPr id="10" name="云形标注 2"/>
          <p:cNvSpPr/>
          <p:nvPr/>
        </p:nvSpPr>
        <p:spPr bwMode="auto">
          <a:xfrm>
            <a:off x="7320136" y="5241584"/>
            <a:ext cx="4871864" cy="1112475"/>
          </a:xfrm>
          <a:prstGeom prst="cloudCallout">
            <a:avLst>
              <a:gd name="adj1" fmla="val -74962"/>
              <a:gd name="adj2" fmla="val 3345"/>
            </a:avLst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回忆：</a:t>
            </a:r>
            <a:r>
              <a:rPr lang="en-US" altLang="zh-CN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LL(1)</a:t>
            </a:r>
            <a:r>
              <a:rPr lang="zh-CN" altLang="en-US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分析每步的动作由什么确定的？</a:t>
            </a:r>
          </a:p>
        </p:txBody>
      </p:sp>
      <p:sp>
        <p:nvSpPr>
          <p:cNvPr id="11" name="云形标注 2"/>
          <p:cNvSpPr/>
          <p:nvPr/>
        </p:nvSpPr>
        <p:spPr bwMode="auto">
          <a:xfrm>
            <a:off x="7595284" y="2172509"/>
            <a:ext cx="4117340" cy="1112475"/>
          </a:xfrm>
          <a:prstGeom prst="cloudCallout">
            <a:avLst>
              <a:gd name="adj1" fmla="val -76383"/>
              <a:gd name="adj2" fmla="val 57571"/>
            </a:avLst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回忆：</a:t>
            </a:r>
            <a:r>
              <a:rPr lang="en-US" altLang="zh-CN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LL(1) </a:t>
            </a:r>
            <a:r>
              <a:rPr lang="zh-CN" altLang="en-US" sz="24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分析的主要动作有哪些？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自下而上分析示例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 bwMode="auto">
              <a:xfrm>
                <a:off x="4727848" y="1484784"/>
                <a:ext cx="1800199" cy="8640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7848" y="1484784"/>
                <a:ext cx="1800199" cy="864096"/>
              </a:xfrm>
              <a:prstGeom prst="rect">
                <a:avLst/>
              </a:prstGeom>
              <a:blipFill rotWithShape="1">
                <a:blip r:embed="rId2"/>
                <a:stretch>
                  <a:fillRect l="-826" t="-1708" r="-762" b="-1615"/>
                </a:stretch>
              </a:blipFill>
              <a:ln w="28575">
                <a:solidFill>
                  <a:srgbClr val="9999FF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 bwMode="auto">
              <a:xfrm>
                <a:off x="1415480" y="1484784"/>
                <a:ext cx="1944215" cy="8640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</a:ln>
            </p:spPr>
            <p:txBody>
              <a:bodyPr vert="horz" wrap="square" lIns="91440" tIns="45720" rIns="91440" bIns="45720" numCol="1" anchor="ctr" anchorCtr="1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5480" y="1484784"/>
                <a:ext cx="1944215" cy="864096"/>
              </a:xfrm>
              <a:prstGeom prst="rect">
                <a:avLst/>
              </a:prstGeom>
              <a:blipFill rotWithShape="1">
                <a:blip r:embed="rId3"/>
                <a:stretch>
                  <a:fillRect l="-755" t="-1708" r="-723" b="-1615"/>
                </a:stretch>
              </a:blipFill>
              <a:ln w="28575">
                <a:solidFill>
                  <a:srgbClr val="9999FF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箭头: 右 7"/>
          <p:cNvSpPr/>
          <p:nvPr/>
        </p:nvSpPr>
        <p:spPr bwMode="auto">
          <a:xfrm>
            <a:off x="3575718" y="1700808"/>
            <a:ext cx="864096" cy="360040"/>
          </a:xfrm>
          <a:prstGeom prst="rightArrow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graphicFrame>
        <p:nvGraphicFramePr>
          <p:cNvPr id="9" name="Group 55"/>
          <p:cNvGraphicFramePr/>
          <p:nvPr/>
        </p:nvGraphicFramePr>
        <p:xfrm>
          <a:off x="983432" y="2690664"/>
          <a:ext cx="6696744" cy="3139440"/>
        </p:xfrm>
        <a:graphic>
          <a:graphicData uri="http://schemas.openxmlformats.org/drawingml/2006/table">
            <a:tbl>
              <a:tblPr/>
              <a:tblGrid>
                <a:gridCol w="638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9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stack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Input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918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$(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$(S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$(S)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(S)S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$S'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( )$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)$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shift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reduce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shift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reduce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S→</a:t>
                      </a:r>
                      <a:r>
                        <a:rPr kumimoji="0" lang="en-US" altLang="zh-CN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ε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reduce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 → (S)S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reduce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S' → S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</a:rPr>
                        <a:t>accept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云形标注 2"/>
          <p:cNvSpPr/>
          <p:nvPr/>
        </p:nvSpPr>
        <p:spPr bwMode="auto">
          <a:xfrm>
            <a:off x="7349029" y="1143000"/>
            <a:ext cx="4216605" cy="1493912"/>
          </a:xfrm>
          <a:prstGeom prst="cloudCallout">
            <a:avLst>
              <a:gd name="adj1" fmla="val -58839"/>
              <a:gd name="adj2" fmla="val 74493"/>
            </a:avLst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为什么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行和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行栈顶符号都是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 但采用不同的产生式来归约呢？</a:t>
            </a:r>
          </a:p>
        </p:txBody>
      </p:sp>
      <p:sp>
        <p:nvSpPr>
          <p:cNvPr id="11" name="云形标注 2"/>
          <p:cNvSpPr/>
          <p:nvPr/>
        </p:nvSpPr>
        <p:spPr bwMode="auto">
          <a:xfrm>
            <a:off x="7934321" y="4869160"/>
            <a:ext cx="3343279" cy="1566464"/>
          </a:xfrm>
          <a:prstGeom prst="cloudCallout">
            <a:avLst>
              <a:gd name="adj1" fmla="val -71889"/>
              <a:gd name="adj2" fmla="val -26473"/>
            </a:avLst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与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LL(1)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分析不同，参与决策的不只是栈顶符号</a:t>
            </a:r>
          </a:p>
        </p:txBody>
      </p:sp>
      <p:sp>
        <p:nvSpPr>
          <p:cNvPr id="12" name="云形标注 2"/>
          <p:cNvSpPr/>
          <p:nvPr/>
        </p:nvSpPr>
        <p:spPr bwMode="auto">
          <a:xfrm>
            <a:off x="9207366" y="2831954"/>
            <a:ext cx="1368152" cy="651680"/>
          </a:xfrm>
          <a:prstGeom prst="cloudCallout">
            <a:avLst>
              <a:gd name="adj1" fmla="val -285088"/>
              <a:gd name="adj2" fmla="val 3195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移进</a:t>
            </a:r>
          </a:p>
        </p:txBody>
      </p:sp>
      <p:sp>
        <p:nvSpPr>
          <p:cNvPr id="13" name="云形标注 2"/>
          <p:cNvSpPr/>
          <p:nvPr/>
        </p:nvSpPr>
        <p:spPr bwMode="auto">
          <a:xfrm>
            <a:off x="8184232" y="3634671"/>
            <a:ext cx="1368152" cy="651680"/>
          </a:xfrm>
          <a:prstGeom prst="cloudCallout">
            <a:avLst>
              <a:gd name="adj1" fmla="val -160716"/>
              <a:gd name="adj2" fmla="val -22656"/>
            </a:avLst>
          </a:prstGeom>
          <a:solidFill>
            <a:srgbClr val="CC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归约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 bwMode="auto">
              <a:xfrm>
                <a:off x="1706488" y="1385900"/>
                <a:ext cx="2865512" cy="93610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</a:ln>
            </p:spPr>
            <p:txBody>
              <a:bodyPr vert="horz" wrap="square" lIns="91440" tIns="45720" rIns="91440" bIns="45720" numCol="1" anchor="ctr" anchorCtr="1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𝑬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𝑬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𝑬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𝑬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|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𝒏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6488" y="1385900"/>
                <a:ext cx="2865512" cy="936104"/>
              </a:xfrm>
              <a:prstGeom prst="rect">
                <a:avLst/>
              </a:prstGeom>
              <a:blipFill rotWithShape="1">
                <a:blip r:embed="rId2"/>
                <a:stretch>
                  <a:fillRect l="-518" t="-1528" r="-488" b="-1513"/>
                </a:stretch>
              </a:blipFill>
              <a:ln w="28575">
                <a:solidFill>
                  <a:srgbClr val="9999FF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Group 63"/>
          <p:cNvGraphicFramePr/>
          <p:nvPr/>
        </p:nvGraphicFramePr>
        <p:xfrm>
          <a:off x="1271464" y="2636912"/>
          <a:ext cx="6768752" cy="3474720"/>
        </p:xfrm>
        <a:graphic>
          <a:graphicData uri="http://schemas.openxmlformats.org/drawingml/2006/table">
            <a:tbl>
              <a:tblPr/>
              <a:tblGrid>
                <a:gridCol w="583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3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038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Parsing stack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$n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$E+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E+n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$E’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n+n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+n$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+n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E→n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E→E + n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E’→E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云形标注 20"/>
          <p:cNvSpPr/>
          <p:nvPr/>
        </p:nvSpPr>
        <p:spPr bwMode="auto">
          <a:xfrm>
            <a:off x="8184232" y="4437112"/>
            <a:ext cx="3888432" cy="1981200"/>
          </a:xfrm>
          <a:prstGeom prst="cloudCallout">
            <a:avLst>
              <a:gd name="adj1" fmla="val -74808"/>
              <a:gd name="adj2" fmla="val 6549"/>
            </a:avLst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决策不止由栈内容决定，而是由栈中的待归约串和输入串共同决定的。</a:t>
            </a:r>
          </a:p>
        </p:txBody>
      </p:sp>
      <p:sp>
        <p:nvSpPr>
          <p:cNvPr id="6" name="云形标注 20"/>
          <p:cNvSpPr/>
          <p:nvPr/>
        </p:nvSpPr>
        <p:spPr bwMode="auto">
          <a:xfrm>
            <a:off x="7620002" y="1611052"/>
            <a:ext cx="4248472" cy="1421904"/>
          </a:xfrm>
          <a:prstGeom prst="cloudCallout">
            <a:avLst>
              <a:gd name="adj1" fmla="val -68474"/>
              <a:gd name="adj2" fmla="val 142222"/>
            </a:avLst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为什么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行和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行栈里都只有符号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， 但一个移进一个归约呢？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>
                <a:latin typeface="宋体" panose="02010600030101010101" pitchFamily="2" charset="-122"/>
              </a:rPr>
              <a:t>规范归约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  <a:tabLst>
                <a:tab pos="1158875" algn="l"/>
              </a:tabLst>
            </a:pPr>
            <a:r>
              <a:rPr lang="zh-CN" altLang="en-US" noProof="1">
                <a:latin typeface="宋体" panose="02010600030101010101" pitchFamily="2" charset="-122"/>
              </a:rPr>
              <a:t>通过前面的例子可以看出移进的策略相对简单：</a:t>
            </a:r>
            <a:r>
              <a:rPr lang="zh-CN" altLang="en-US" noProof="1">
                <a:solidFill>
                  <a:srgbClr val="FF0000"/>
                </a:solidFill>
                <a:latin typeface="宋体" panose="02010600030101010101" pitchFamily="2" charset="-122"/>
              </a:rPr>
              <a:t>不能归约就移进</a:t>
            </a:r>
            <a:r>
              <a:rPr lang="zh-CN" altLang="en-US" noProof="1">
                <a:latin typeface="宋体" panose="02010600030101010101" pitchFamily="2" charset="-122"/>
              </a:rPr>
              <a:t>。</a:t>
            </a:r>
            <a:endParaRPr lang="en-US" altLang="zh-CN" noProof="1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tabLst>
                <a:tab pos="1158875" algn="l"/>
              </a:tabLst>
            </a:pPr>
            <a:r>
              <a:rPr kumimoji="1" lang="zh-CN" altLang="en-US" noProof="1">
                <a:latin typeface="宋体" panose="02010600030101010101" pitchFamily="2" charset="-122"/>
              </a:rPr>
              <a:t>那么关键问题来了：</a:t>
            </a:r>
            <a:endParaRPr kumimoji="1" lang="en-US" altLang="zh-CN" noProof="1">
              <a:latin typeface="宋体" panose="02010600030101010101" pitchFamily="2" charset="-122"/>
            </a:endParaRPr>
          </a:p>
          <a:p>
            <a:pPr lvl="1">
              <a:lnSpc>
                <a:spcPct val="150000"/>
              </a:lnSpc>
              <a:tabLst>
                <a:tab pos="1158875" algn="l"/>
              </a:tabLst>
            </a:pPr>
            <a:r>
              <a:rPr kumimoji="1" lang="zh-CN" altLang="en-US" noProof="1">
                <a:solidFill>
                  <a:srgbClr val="FF0000"/>
                </a:solidFill>
                <a:latin typeface="宋体" panose="02010600030101010101" pitchFamily="2" charset="-122"/>
              </a:rPr>
              <a:t>何时归约？</a:t>
            </a:r>
            <a:endParaRPr kumimoji="1" lang="en-US" altLang="zh-CN" noProof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lvl="1">
              <a:lnSpc>
                <a:spcPct val="150000"/>
              </a:lnSpc>
              <a:tabLst>
                <a:tab pos="1158875" algn="l"/>
              </a:tabLst>
            </a:pPr>
            <a:r>
              <a:rPr kumimoji="1" lang="zh-CN" altLang="en-US" noProof="1">
                <a:solidFill>
                  <a:srgbClr val="FF0000"/>
                </a:solidFill>
                <a:latin typeface="宋体" panose="02010600030101010101" pitchFamily="2" charset="-122"/>
              </a:rPr>
              <a:t>怎么归约？</a:t>
            </a:r>
            <a:endParaRPr kumimoji="1" lang="zh-CN" altLang="en-US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tabLst>
                <a:tab pos="1158875" algn="l"/>
              </a:tabLst>
            </a:pPr>
            <a:endParaRPr lang="zh-CN" altLang="en-US" dirty="0">
              <a:latin typeface="宋体" panose="02010600030101010101" pitchFamily="2" charset="-122"/>
            </a:endParaRPr>
          </a:p>
          <a:p>
            <a:pPr>
              <a:lnSpc>
                <a:spcPct val="150000"/>
              </a:lnSpc>
              <a:tabLst>
                <a:tab pos="1158875" algn="l"/>
              </a:tabLst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0" y="3861048"/>
            <a:ext cx="7299694" cy="25272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600" y="579438"/>
            <a:ext cx="4178424" cy="563562"/>
          </a:xfrm>
        </p:spPr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67408" y="1340768"/>
                <a:ext cx="6444456" cy="2232248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spcBef>
                    <a:spcPct val="0"/>
                  </a:spcBef>
                </a:pPr>
                <a:r>
                  <a:rPr lang="zh-CN" altLang="en-US" dirty="0">
                    <a:latin typeface="宋体" panose="02010600030101010101" pitchFamily="2" charset="-122"/>
                  </a:rPr>
                  <a:t>试对串</a:t>
                </a:r>
                <a:r>
                  <a:rPr lang="en-US" altLang="zh-CN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abbcde</a:t>
                </a:r>
                <a:r>
                  <a:rPr lang="zh-CN" altLang="en-US" dirty="0">
                    <a:latin typeface="宋体" panose="02010600030101010101" pitchFamily="2" charset="-122"/>
                  </a:rPr>
                  <a:t>进行分析，文法如下：</a:t>
                </a:r>
                <a:endParaRPr lang="en-US" altLang="zh-CN" dirty="0"/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楷体_GB2312" pitchFamily="49" charset="-122"/>
                  </a:rPr>
                  <a:t>          	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楷体_GB2312" pitchFamily="49" charset="-122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𝒂𝑨𝒄𝑩𝒆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楷体_GB2312" pitchFamily="49" charset="-122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>
                  <a:spcBef>
                    <a:spcPct val="0"/>
                  </a:spcBef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楷体_GB2312" pitchFamily="49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    	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楷体_GB2312" pitchFamily="49" charset="-122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𝒃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楷体_GB2312" pitchFamily="49" charset="-122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>
                  <a:spcBef>
                    <a:spcPct val="0"/>
                  </a:spcBef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楷体_GB2312" pitchFamily="49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    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_GB2312" pitchFamily="49" charset="-122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𝒃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ea typeface="楷体_GB2312" pitchFamily="49" charset="-122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>
                  <a:spcBef>
                    <a:spcPct val="0"/>
                  </a:spcBef>
                  <a:buNone/>
                </a:pPr>
                <a:r>
                  <a:rPr lang="en-US" altLang="zh-CN" dirty="0">
                    <a:latin typeface="Arial" panose="020B0604020202020204" pitchFamily="34" charset="0"/>
                    <a:ea typeface="楷体_GB2312" pitchFamily="49" charset="-122"/>
                    <a:cs typeface="Arial" panose="020B0604020202020204" pitchFamily="34" charset="0"/>
                    <a:sym typeface="Symbol" panose="05050102010706020507" pitchFamily="18" charset="2"/>
                  </a:rPr>
                  <a:t>     	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楷体_GB2312" pitchFamily="49" charset="-122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𝑩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𝒅</m:t>
                    </m:r>
                  </m:oMath>
                </a14:m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7408" y="1340768"/>
                <a:ext cx="6444456" cy="2232248"/>
              </a:xfrm>
              <a:blipFill rotWithShape="1">
                <a:blip r:embed="rId3"/>
                <a:stretch>
                  <a:fillRect l="-222" t="-667" r="-214" b="-63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/>
          <p:cNvGrpSpPr/>
          <p:nvPr/>
        </p:nvGrpSpPr>
        <p:grpSpPr>
          <a:xfrm>
            <a:off x="7536160" y="469701"/>
            <a:ext cx="3816424" cy="3212199"/>
            <a:chOff x="5076056" y="675284"/>
            <a:chExt cx="3960440" cy="3800572"/>
          </a:xfrm>
        </p:grpSpPr>
        <p:sp>
          <p:nvSpPr>
            <p:cNvPr id="31" name="Rectangle 3"/>
            <p:cNvSpPr txBox="1">
              <a:spLocks noChangeArrowheads="1"/>
            </p:cNvSpPr>
            <p:nvPr/>
          </p:nvSpPr>
          <p:spPr bwMode="auto">
            <a:xfrm>
              <a:off x="5076056" y="675284"/>
              <a:ext cx="3960440" cy="362897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9999FF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1600" b="1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1600" b="1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1600" b="1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1600" b="1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sz="1600" b="1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>
                <a:lnSpc>
                  <a:spcPct val="90000"/>
                </a:lnSpc>
                <a:buNone/>
              </a:pPr>
              <a:endParaRPr lang="zh-CN" altLang="en-US" sz="1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5588753" y="3816894"/>
              <a:ext cx="224912" cy="658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0" hangingPunct="0"/>
              <a:r>
                <a:rPr kumimoji="1" lang="en-US" altLang="zh-CN" sz="2800" b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7928728" y="2750095"/>
              <a:ext cx="224912" cy="658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0" hangingPunct="0"/>
              <a:r>
                <a:rPr kumimoji="1" lang="en-US" altLang="zh-CN" sz="2800" b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6922253" y="2750095"/>
              <a:ext cx="224912" cy="658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0" hangingPunct="0"/>
              <a:r>
                <a:rPr kumimoji="1" lang="en-US" altLang="zh-CN" sz="2800" b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5284536" y="1835695"/>
              <a:ext cx="201520" cy="658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0" hangingPunct="0"/>
              <a:r>
                <a:rPr kumimoji="1" lang="en-US" altLang="zh-CN" sz="2800" b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7086931" y="1861094"/>
              <a:ext cx="178130" cy="658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0" hangingPunct="0"/>
              <a:r>
                <a:rPr kumimoji="1" lang="en-US" altLang="zh-CN" sz="2800" b="1" dirty="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8688719" y="1861094"/>
              <a:ext cx="178130" cy="658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just" eaLnBrk="0" hangingPunct="0"/>
              <a:r>
                <a:rPr kumimoji="1" lang="en-US" altLang="zh-CN" sz="2800" b="1">
                  <a:latin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10" name="Group 8"/>
            <p:cNvGrpSpPr/>
            <p:nvPr/>
          </p:nvGrpSpPr>
          <p:grpSpPr bwMode="auto">
            <a:xfrm>
              <a:off x="5436096" y="692696"/>
              <a:ext cx="3276600" cy="1219201"/>
              <a:chOff x="2208" y="528"/>
              <a:chExt cx="2064" cy="768"/>
            </a:xfrm>
          </p:grpSpPr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3120" y="528"/>
                <a:ext cx="142" cy="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eaLnBrk="0" hangingPunct="0"/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 flipH="1">
                <a:off x="2208" y="816"/>
                <a:ext cx="960" cy="480"/>
              </a:xfrm>
              <a:prstGeom prst="line">
                <a:avLst/>
              </a:prstGeom>
              <a:noFill/>
              <a:ln w="222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600"/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H="1">
                <a:off x="2736" y="816"/>
                <a:ext cx="432" cy="480"/>
              </a:xfrm>
              <a:prstGeom prst="line">
                <a:avLst/>
              </a:prstGeom>
              <a:noFill/>
              <a:ln w="222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600"/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3168" y="816"/>
                <a:ext cx="144" cy="480"/>
              </a:xfrm>
              <a:prstGeom prst="line">
                <a:avLst/>
              </a:prstGeom>
              <a:noFill/>
              <a:ln w="222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600"/>
              </a:p>
            </p:txBody>
          </p:sp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>
                <a:off x="3168" y="816"/>
                <a:ext cx="672" cy="480"/>
              </a:xfrm>
              <a:prstGeom prst="line">
                <a:avLst/>
              </a:prstGeom>
              <a:noFill/>
              <a:ln w="222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600"/>
              </a:p>
            </p:txBody>
          </p:sp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>
                <a:off x="3151" y="816"/>
                <a:ext cx="1121" cy="480"/>
              </a:xfrm>
              <a:prstGeom prst="line">
                <a:avLst/>
              </a:prstGeom>
              <a:noFill/>
              <a:ln w="222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600"/>
              </a:p>
            </p:txBody>
          </p:sp>
        </p:grpSp>
        <p:grpSp>
          <p:nvGrpSpPr>
            <p:cNvPr id="17" name="Group 15"/>
            <p:cNvGrpSpPr/>
            <p:nvPr/>
          </p:nvGrpSpPr>
          <p:grpSpPr bwMode="auto">
            <a:xfrm>
              <a:off x="5740903" y="1861097"/>
              <a:ext cx="1143002" cy="965201"/>
              <a:chOff x="2400" y="1264"/>
              <a:chExt cx="720" cy="608"/>
            </a:xfrm>
          </p:grpSpPr>
          <p:sp>
            <p:nvSpPr>
              <p:cNvPr id="18" name="Rectangle 16"/>
              <p:cNvSpPr>
                <a:spLocks noChangeArrowheads="1"/>
              </p:cNvSpPr>
              <p:nvPr/>
            </p:nvSpPr>
            <p:spPr bwMode="auto">
              <a:xfrm>
                <a:off x="2618" y="1264"/>
                <a:ext cx="184" cy="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eaLnBrk="0" hangingPunct="0"/>
                <a:r>
                  <a:rPr kumimoji="1" lang="en-US" altLang="zh-CN" sz="2800" b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 flipH="1">
                <a:off x="2400" y="1536"/>
                <a:ext cx="288" cy="336"/>
              </a:xfrm>
              <a:prstGeom prst="line">
                <a:avLst/>
              </a:prstGeom>
              <a:noFill/>
              <a:ln w="222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600"/>
              </a:p>
            </p:txBody>
          </p: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2688" y="1536"/>
                <a:ext cx="432" cy="336"/>
              </a:xfrm>
              <a:prstGeom prst="line">
                <a:avLst/>
              </a:prstGeom>
              <a:noFill/>
              <a:ln w="222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600"/>
              </a:p>
            </p:txBody>
          </p:sp>
        </p:grpSp>
        <p:grpSp>
          <p:nvGrpSpPr>
            <p:cNvPr id="21" name="Group 19"/>
            <p:cNvGrpSpPr/>
            <p:nvPr/>
          </p:nvGrpSpPr>
          <p:grpSpPr bwMode="auto">
            <a:xfrm>
              <a:off x="7888783" y="1861097"/>
              <a:ext cx="268288" cy="889001"/>
              <a:chOff x="3753" y="1264"/>
              <a:chExt cx="169" cy="560"/>
            </a:xfrm>
          </p:grpSpPr>
          <p:sp>
            <p:nvSpPr>
              <p:cNvPr id="22" name="Rectangle 20"/>
              <p:cNvSpPr>
                <a:spLocks noChangeArrowheads="1"/>
              </p:cNvSpPr>
              <p:nvPr/>
            </p:nvSpPr>
            <p:spPr bwMode="auto">
              <a:xfrm>
                <a:off x="3753" y="1264"/>
                <a:ext cx="169" cy="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eaLnBrk="0" hangingPunct="0"/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3" name="Line 21"/>
              <p:cNvSpPr>
                <a:spLocks noChangeShapeType="1"/>
              </p:cNvSpPr>
              <p:nvPr/>
            </p:nvSpPr>
            <p:spPr bwMode="auto">
              <a:xfrm>
                <a:off x="3840" y="1536"/>
                <a:ext cx="0" cy="288"/>
              </a:xfrm>
              <a:prstGeom prst="line">
                <a:avLst/>
              </a:prstGeom>
              <a:noFill/>
              <a:ln w="2222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 sz="1600"/>
              </a:p>
            </p:txBody>
          </p:sp>
        </p:grpSp>
        <p:grpSp>
          <p:nvGrpSpPr>
            <p:cNvPr id="24" name="Group 22"/>
            <p:cNvGrpSpPr/>
            <p:nvPr/>
          </p:nvGrpSpPr>
          <p:grpSpPr bwMode="auto">
            <a:xfrm>
              <a:off x="5513877" y="2750101"/>
              <a:ext cx="292100" cy="990602"/>
              <a:chOff x="2257" y="1824"/>
              <a:chExt cx="184" cy="624"/>
            </a:xfrm>
          </p:grpSpPr>
          <p:sp>
            <p:nvSpPr>
              <p:cNvPr id="25" name="Rectangle 23"/>
              <p:cNvSpPr>
                <a:spLocks noChangeArrowheads="1"/>
              </p:cNvSpPr>
              <p:nvPr/>
            </p:nvSpPr>
            <p:spPr bwMode="auto">
              <a:xfrm>
                <a:off x="2257" y="1824"/>
                <a:ext cx="184" cy="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just" eaLnBrk="0" hangingPunct="0"/>
                <a:r>
                  <a:rPr kumimoji="1" lang="en-US" altLang="zh-CN" sz="2800" b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grpSp>
            <p:nvGrpSpPr>
              <p:cNvPr id="26" name="Group 24"/>
              <p:cNvGrpSpPr/>
              <p:nvPr/>
            </p:nvGrpSpPr>
            <p:grpSpPr bwMode="auto">
              <a:xfrm>
                <a:off x="2273" y="1939"/>
                <a:ext cx="79" cy="509"/>
                <a:chOff x="2273" y="1939"/>
                <a:chExt cx="79" cy="509"/>
              </a:xfrm>
            </p:grpSpPr>
            <p:sp>
              <p:nvSpPr>
                <p:cNvPr id="27" name="Line 25"/>
                <p:cNvSpPr>
                  <a:spLocks noChangeShapeType="1"/>
                </p:cNvSpPr>
                <p:nvPr/>
              </p:nvSpPr>
              <p:spPr bwMode="auto">
                <a:xfrm>
                  <a:off x="2273" y="1939"/>
                  <a:ext cx="2" cy="267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2225">
                      <a:solidFill>
                        <a:schemeClr val="tx1"/>
                      </a:solidFill>
                      <a:round/>
                    </a14:hiddenLine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/>
                </a:p>
              </p:txBody>
            </p:sp>
            <p:sp>
              <p:nvSpPr>
                <p:cNvPr id="28" name="Line 26"/>
                <p:cNvSpPr>
                  <a:spLocks noChangeShapeType="1"/>
                </p:cNvSpPr>
                <p:nvPr/>
              </p:nvSpPr>
              <p:spPr bwMode="auto">
                <a:xfrm>
                  <a:off x="2352" y="2112"/>
                  <a:ext cx="0" cy="336"/>
                </a:xfrm>
                <a:prstGeom prst="line">
                  <a:avLst/>
                </a:prstGeom>
                <a:noFill/>
                <a:ln w="22225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/>
                </a:p>
              </p:txBody>
            </p:sp>
          </p:grpSp>
        </p:grpSp>
      </p:grpSp>
      <p:sp>
        <p:nvSpPr>
          <p:cNvPr id="29" name="云形标注 83"/>
          <p:cNvSpPr/>
          <p:nvPr/>
        </p:nvSpPr>
        <p:spPr bwMode="auto">
          <a:xfrm>
            <a:off x="8295654" y="4581128"/>
            <a:ext cx="3185836" cy="1296144"/>
          </a:xfrm>
          <a:prstGeom prst="cloudCallout">
            <a:avLst>
              <a:gd name="adj1" fmla="val -87843"/>
              <a:gd name="adj2" fmla="val 3438"/>
            </a:avLst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2400" b="1" dirty="0">
                <a:latin typeface="+mn-ea"/>
                <a:ea typeface="+mn-ea"/>
              </a:rPr>
              <a:t>核心问题：</a:t>
            </a:r>
            <a:r>
              <a:rPr kumimoji="1" lang="zh-CN" altLang="en-US" sz="2400" b="1" noProof="1">
                <a:latin typeface="+mn-ea"/>
                <a:ea typeface="+mn-ea"/>
              </a:rPr>
              <a:t>识别可归约串！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>
                <a:latin typeface="宋体" panose="02010600030101010101" pitchFamily="2" charset="-122"/>
              </a:rPr>
              <a:t>几个概念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  <a:tabLst>
                    <a:tab pos="1158875" algn="l"/>
                  </a:tabLst>
                </a:pPr>
                <a:r>
                  <a:rPr lang="zh-CN" altLang="en-US" noProof="1">
                    <a:latin typeface="宋体" panose="02010600030101010101" pitchFamily="2" charset="-122"/>
                  </a:rPr>
                  <a:t>定义：令</a:t>
                </a:r>
                <a14:m>
                  <m:oMath xmlns:m="http://schemas.openxmlformats.org/officeDocument/2006/math">
                    <m:r>
                      <a:rPr lang="en-US" altLang="zh-CN" i="1" noProof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noProof="1">
                    <a:latin typeface="宋体" panose="02010600030101010101" pitchFamily="2" charset="-122"/>
                  </a:rPr>
                  <a:t>是一个文法，</a:t>
                </a:r>
                <a14:m>
                  <m:oMath xmlns:m="http://schemas.openxmlformats.org/officeDocument/2006/math">
                    <m:r>
                      <a:rPr lang="en-US" altLang="zh-CN" i="1" noProof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noProof="1">
                    <a:latin typeface="宋体" panose="02010600030101010101" pitchFamily="2" charset="-122"/>
                  </a:rPr>
                  <a:t>是文法的开始符号。</a:t>
                </a:r>
                <a:endParaRPr lang="en-US" altLang="zh-CN" noProof="1">
                  <a:latin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tabLst>
                    <a:tab pos="1158875" algn="l"/>
                  </a:tabLst>
                </a:pPr>
                <a:r>
                  <a:rPr lang="zh-CN" altLang="en-US" noProof="1">
                    <a:latin typeface="宋体" panose="02010600030101010101" pitchFamily="2" charset="-122"/>
                  </a:rPr>
                  <a:t>假定</a:t>
                </a:r>
                <a14:m>
                  <m:oMath xmlns:m="http://schemas.openxmlformats.org/officeDocument/2006/math">
                    <m:r>
                      <a:rPr lang="zh-CN" altLang="en-US" i="1" noProof="1">
                        <a:latin typeface="Cambria Math" panose="02040503050406030204" pitchFamily="18" charset="0"/>
                      </a:rPr>
                      <m:t>𝜶𝜷𝜹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是文法</a:t>
                </a:r>
                <a14:m>
                  <m:oMath xmlns:m="http://schemas.openxmlformats.org/officeDocument/2006/math">
                    <m:r>
                      <a:rPr lang="en-US" altLang="zh-CN" i="1" noProof="1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的一个句型，如果有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zh-CN" altLang="en-US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groupChr>
                    <m:r>
                      <a:rPr lang="zh-CN" altLang="en-US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</a:rPr>
                  <a:t>，</a:t>
                </a:r>
                <a:r>
                  <a:rPr kumimoji="1" lang="zh-CN" altLang="en-US" dirty="0">
                    <a:latin typeface="宋体" panose="02010600030101010101" pitchFamily="2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zh-CN" altLang="en-US" i="1" noProof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zh-CN" altLang="en-US" dirty="0">
                    <a:latin typeface="宋体" panose="02010600030101010101" pitchFamily="2" charset="-122"/>
                  </a:rPr>
                  <a:t>称是句型</a:t>
                </a:r>
                <a14:m>
                  <m:oMath xmlns:m="http://schemas.openxmlformats.org/officeDocument/2006/math">
                    <m:r>
                      <a:rPr lang="zh-CN" altLang="en-US" i="1" noProof="1">
                        <a:latin typeface="Cambria Math" panose="02040503050406030204" pitchFamily="18" charset="0"/>
                      </a:rPr>
                      <m:t>𝜶𝜷𝜹</m:t>
                    </m:r>
                  </m:oMath>
                </a14:m>
                <a:r>
                  <a:rPr kumimoji="1" lang="zh-CN" altLang="en-US" dirty="0">
                    <a:latin typeface="宋体" panose="02010600030101010101" pitchFamily="2" charset="-122"/>
                  </a:rPr>
                  <a:t>相对于非终结符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kumimoji="1" lang="zh-CN" altLang="en-US" dirty="0">
                    <a:latin typeface="宋体" panose="02010600030101010101" pitchFamily="2" charset="-122"/>
                  </a:rPr>
                  <a:t>的</a:t>
                </a:r>
                <a:r>
                  <a:rPr kumimoji="1" lang="zh-CN" altLang="en-US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短语</a:t>
                </a:r>
                <a:r>
                  <a:rPr kumimoji="1" lang="zh-CN" altLang="en-US" dirty="0">
                    <a:latin typeface="宋体" panose="02010600030101010101" pitchFamily="2" charset="-122"/>
                  </a:rPr>
                  <a:t>。</a:t>
                </a:r>
                <a:endParaRPr kumimoji="1" lang="en-US" altLang="zh-CN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tabLst>
                    <a:tab pos="1158875" algn="l"/>
                  </a:tabLst>
                </a:pPr>
                <a:r>
                  <a:rPr kumimoji="1" lang="zh-CN" altLang="en-US" dirty="0">
                    <a:latin typeface="宋体" panose="02010600030101010101" pitchFamily="2" charset="-122"/>
                  </a:rPr>
                  <a:t>如果有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𝑨</m:t>
                    </m:r>
                    <m:groupChr>
                      <m:groupChrPr>
                        <m:chr m:val="⇒"/>
                        <m:vertJc m:val="bot"/>
                        <m:ctrlPr>
                          <a:rPr kumimoji="1" lang="en-US" altLang="zh-CN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kumimoji="1"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kumimoji="1" lang="zh-CN" altLang="en-US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en-US" altLang="zh-CN" dirty="0">
                    <a:latin typeface="宋体" panose="02010600030101010101" pitchFamily="2" charset="-122"/>
                  </a:rPr>
                  <a:t>,</a:t>
                </a:r>
                <a:r>
                  <a:rPr kumimoji="1" lang="zh-CN" altLang="en-US" dirty="0">
                    <a:latin typeface="宋体" panose="02010600030101010101" pitchFamily="2" charset="-122"/>
                  </a:rPr>
                  <a:t>则称</a:t>
                </a:r>
                <a14:m>
                  <m:oMath xmlns:m="http://schemas.openxmlformats.org/officeDocument/2006/math">
                    <m:r>
                      <a:rPr lang="zh-CN" altLang="en-US" i="1" noProof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zh-CN" altLang="en-US" dirty="0">
                    <a:latin typeface="宋体" panose="02010600030101010101" pitchFamily="2" charset="-122"/>
                  </a:rPr>
                  <a:t>是句型</a:t>
                </a:r>
                <a14:m>
                  <m:oMath xmlns:m="http://schemas.openxmlformats.org/officeDocument/2006/math">
                    <m:r>
                      <a:rPr lang="zh-CN" altLang="en-US" i="1" noProof="1">
                        <a:latin typeface="Cambria Math" panose="02040503050406030204" pitchFamily="18" charset="0"/>
                      </a:rPr>
                      <m:t>𝜶𝜷𝜹</m:t>
                    </m:r>
                  </m:oMath>
                </a14:m>
                <a:r>
                  <a:rPr kumimoji="1" lang="zh-CN" altLang="en-US" dirty="0">
                    <a:latin typeface="宋体" panose="02010600030101010101" pitchFamily="2" charset="-122"/>
                  </a:rPr>
                  <a:t>相对于规则</a:t>
                </a:r>
                <a14:m>
                  <m:oMath xmlns:m="http://schemas.openxmlformats.org/officeDocument/2006/math">
                    <m:r>
                      <a:rPr kumimoji="1"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kumimoji="1"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kumimoji="1" lang="zh-CN" altLang="en-US" dirty="0">
                    <a:latin typeface="宋体" panose="02010600030101010101" pitchFamily="2" charset="-122"/>
                  </a:rPr>
                  <a:t>的</a:t>
                </a:r>
                <a:r>
                  <a:rPr kumimoji="1" lang="zh-CN" altLang="en-US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直接短语</a:t>
                </a:r>
                <a:r>
                  <a:rPr kumimoji="1" lang="zh-CN" altLang="en-US" dirty="0">
                    <a:latin typeface="宋体" panose="02010600030101010101" pitchFamily="2" charset="-122"/>
                  </a:rPr>
                  <a:t>。</a:t>
                </a:r>
                <a:endParaRPr kumimoji="1" lang="en-US" altLang="zh-CN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tabLst>
                    <a:tab pos="1158875" algn="l"/>
                  </a:tabLst>
                </a:pPr>
                <a:r>
                  <a:rPr kumimoji="1" lang="zh-CN" altLang="en-US" dirty="0">
                    <a:latin typeface="宋体" panose="02010600030101010101" pitchFamily="2" charset="-122"/>
                  </a:rPr>
                  <a:t>一个句型的最左直接短语称为该句型的</a:t>
                </a:r>
                <a:r>
                  <a:rPr kumimoji="1" lang="zh-CN" altLang="en-US" dirty="0">
                    <a:solidFill>
                      <a:srgbClr val="FF3300"/>
                    </a:solidFill>
                    <a:latin typeface="宋体" panose="02010600030101010101" pitchFamily="2" charset="-122"/>
                  </a:rPr>
                  <a:t>句柄</a:t>
                </a:r>
                <a:r>
                  <a:rPr kumimoji="1" lang="zh-CN" altLang="en-US" dirty="0">
                    <a:latin typeface="宋体" panose="02010600030101010101" pitchFamily="2" charset="-122"/>
                  </a:rPr>
                  <a:t>。</a:t>
                </a:r>
                <a:endParaRPr kumimoji="1" lang="en-US" altLang="zh-CN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tabLst>
                    <a:tab pos="1158875" algn="l"/>
                  </a:tabLst>
                </a:pPr>
                <a:r>
                  <a:rPr lang="zh-CN" altLang="en-US" noProof="1">
                    <a:solidFill>
                      <a:srgbClr val="FF0000"/>
                    </a:solidFill>
                  </a:rPr>
                  <a:t>句柄可以用来对句子进行归约，句柄就是可归约串</a:t>
                </a:r>
                <a:r>
                  <a:rPr lang="zh-CN" altLang="en-US" noProof="1"/>
                  <a:t>。</a:t>
                </a:r>
                <a:endParaRPr kumimoji="1" lang="en-US" altLang="zh-CN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tabLst>
                    <a:tab pos="1158875" algn="l"/>
                  </a:tabLst>
                </a:pPr>
                <a:endParaRPr kumimoji="1" lang="zh-CN" altLang="en-US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tabLst>
                    <a:tab pos="1158875" algn="l"/>
                  </a:tabLst>
                </a:pPr>
                <a:endParaRPr lang="zh-CN" altLang="en-US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  <a:tabLst>
                    <a:tab pos="1158875" algn="l"/>
                  </a:tabLst>
                </a:pP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4054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3600" y="579438"/>
            <a:ext cx="8209534" cy="563562"/>
          </a:xfrm>
        </p:spPr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3432" y="1340768"/>
            <a:ext cx="5695099" cy="266429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>
                <a:latin typeface="宋体" panose="02010600030101010101" pitchFamily="2" charset="-122"/>
              </a:rPr>
              <a:t>试找出句子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abbcde</a:t>
            </a:r>
            <a:r>
              <a:rPr lang="zh-CN" altLang="en-US" dirty="0">
                <a:latin typeface="宋体" panose="02010600030101010101" pitchFamily="2" charset="-122"/>
              </a:rPr>
              <a:t>的短语，直接短语和句柄。</a:t>
            </a:r>
            <a:endParaRPr lang="en-US" altLang="zh-CN" dirty="0">
              <a:latin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          	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S </a:t>
            </a: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n-US" altLang="zh-CN" dirty="0" err="1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aAcBe</a:t>
            </a:r>
            <a:endParaRPr lang="en-US" altLang="zh-CN" dirty="0"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     	A  b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     	A  Ab</a:t>
            </a:r>
          </a:p>
          <a:p>
            <a:pPr>
              <a:spcBef>
                <a:spcPct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  <a:sym typeface="Symbol" panose="05050102010706020507" pitchFamily="18" charset="2"/>
              </a:rPr>
              <a:t>     	B  d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内容占位符 2"/>
              <p:cNvSpPr txBox="1"/>
              <p:nvPr/>
            </p:nvSpPr>
            <p:spPr bwMode="auto">
              <a:xfrm>
                <a:off x="985012" y="4291886"/>
                <a:ext cx="5693519" cy="213907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短语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：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𝑨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groupCh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      	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直接短语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：</a:t>
                </a:r>
                <a:r>
                  <a:rPr kumimoji="1"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</a:rPr>
                      <m:t>𝑨</m:t>
                    </m:r>
                    <m:groupChr>
                      <m:groupChrPr>
                        <m:chr m:val="⇒"/>
                        <m:vertJc m:val="bot"/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groupChr>
                    <m:r>
                      <a:rPr kumimoji="1" lang="zh-CN" altLang="en-US" sz="2400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 	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zh-CN" altLang="en-US" sz="24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句柄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：</a:t>
                </a:r>
                <a:r>
                  <a:rPr kumimoji="1" lang="zh-CN" altLang="en-US" sz="2400" dirty="0">
                    <a:latin typeface="宋体" panose="02010600030101010101" pitchFamily="2" charset="-122"/>
                  </a:rPr>
                  <a:t>最左直接短语 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85012" y="4291886"/>
                <a:ext cx="5693519" cy="2139076"/>
              </a:xfrm>
              <a:prstGeom prst="rect">
                <a:avLst/>
              </a:prstGeom>
              <a:blipFill rotWithShape="1">
                <a:blip r:embed="rId2"/>
                <a:stretch>
                  <a:fillRect l="-259" t="-679" r="-241" b="-2330"/>
                </a:stretch>
              </a:blipFill>
              <a:ln w="28575">
                <a:solidFill>
                  <a:srgbClr val="9999FF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"/>
              <p:cNvSpPr txBox="1">
                <a:spLocks noChangeArrowheads="1"/>
              </p:cNvSpPr>
              <p:nvPr/>
            </p:nvSpPr>
            <p:spPr bwMode="auto">
              <a:xfrm>
                <a:off x="6960096" y="1340768"/>
                <a:ext cx="4320480" cy="266429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–"/>
                  <a:defRPr sz="20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l"/>
                  <a:defRPr sz="1600" b="1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首要条件：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</m:t>
                    </m:r>
                    <m:groupChr>
                      <m:groupChrPr>
                        <m:chr m:val="⇒"/>
                        <m:vertJc m:val="bot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∗</m:t>
                        </m:r>
                      </m:e>
                    </m:groupCh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  =&gt; 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aAc</a:t>
                </a:r>
                <a:r>
                  <a:rPr lang="en-US" altLang="zh-CN" sz="2400" dirty="0" err="1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=&gt; 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altLang="zh-CN" sz="2400" dirty="0" err="1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altLang="zh-CN" sz="240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=&gt; 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altLang="zh-CN" sz="2400" dirty="0" err="1">
                    <a:solidFill>
                      <a:srgbClr val="0000C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altLang="zh-CN" sz="240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cde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=&gt; 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altLang="zh-CN" sz="240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bcde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60096" y="1340768"/>
                <a:ext cx="4320480" cy="2664296"/>
              </a:xfrm>
              <a:prstGeom prst="rect">
                <a:avLst/>
              </a:prstGeom>
              <a:blipFill rotWithShape="1">
                <a:blip r:embed="rId3"/>
                <a:stretch>
                  <a:fillRect l="-335" t="-559" r="-328" b="-520"/>
                </a:stretch>
              </a:blipFill>
              <a:ln w="28575">
                <a:solidFill>
                  <a:srgbClr val="9999FF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内容占位符 2"/>
          <p:cNvSpPr txBox="1"/>
          <p:nvPr/>
        </p:nvSpPr>
        <p:spPr bwMode="auto">
          <a:xfrm>
            <a:off x="6960096" y="4291886"/>
            <a:ext cx="4320480" cy="2139076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abbcde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3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6240016" y="1340768"/>
            <a:ext cx="5544616" cy="5130991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在一个句型对应的分析树中： 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以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某非终结符为根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子树的所有叶子节点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从左到右排列就是相对于该非终结符的一个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短语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如果对应的子树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只有两代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， 则该短语就是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直接短语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最左子树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对应的短语就是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句柄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zh-CN" altLang="en-US" i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 txBox="1"/>
          <p:nvPr/>
        </p:nvSpPr>
        <p:spPr bwMode="auto">
          <a:xfrm>
            <a:off x="911424" y="4724950"/>
            <a:ext cx="4752528" cy="1728192"/>
          </a:xfrm>
          <a:prstGeom prst="rect">
            <a:avLst/>
          </a:prstGeom>
          <a:solidFill>
            <a:schemeClr val="bg1"/>
          </a:solidFill>
          <a:ln w="28575">
            <a:solidFill>
              <a:srgbClr val="9999FF"/>
            </a:solidFill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短语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2400" dirty="0"/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abbcde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直接短语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kumimoji="1" lang="en-US" altLang="zh-CN" sz="2400" dirty="0"/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	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句柄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1248225"/>
            <a:ext cx="3751448" cy="32820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983432" y="1268760"/>
                <a:ext cx="5328592" cy="2664296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 sz="2400" dirty="0"/>
                  <a:t>可用句柄来对句型进行归约 </a:t>
                </a:r>
                <a:endParaRPr lang="en-US" altLang="zh-CN" sz="2400" dirty="0"/>
              </a:p>
              <a:p>
                <a:pPr lvl="1"/>
                <a:r>
                  <a:rPr lang="en-US" altLang="zh-CN" sz="2400" dirty="0" err="1"/>
                  <a:t>a</a:t>
                </a:r>
                <a:r>
                  <a:rPr lang="en-US" altLang="zh-CN" sz="2400" u="sng" dirty="0" err="1">
                    <a:solidFill>
                      <a:srgbClr val="FF0000"/>
                    </a:solidFill>
                  </a:rPr>
                  <a:t>b</a:t>
                </a:r>
                <a:r>
                  <a:rPr lang="en-US" altLang="zh-CN" sz="2400" dirty="0" err="1"/>
                  <a:t>bcde</a:t>
                </a:r>
                <a:r>
                  <a:rPr lang="en-US" altLang="zh-CN" sz="24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_GB2312" pitchFamily="49" charset="-122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𝒃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楷体_GB2312" pitchFamily="49" charset="-122"/>
                  <a:cs typeface="Arial" panose="020B0604020202020204" pitchFamily="34" charset="0"/>
                  <a:sym typeface="Symbol" panose="05050102010706020507" pitchFamily="18" charset="2"/>
                </a:endParaRPr>
              </a:p>
              <a:p>
                <a:pPr lvl="1"/>
                <a:r>
                  <a:rPr lang="en-US" altLang="zh-CN" sz="2400" dirty="0" err="1"/>
                  <a:t>a</a:t>
                </a:r>
                <a:r>
                  <a:rPr lang="en-US" altLang="zh-CN" sz="2400" u="sng" dirty="0" err="1">
                    <a:solidFill>
                      <a:srgbClr val="FF0000"/>
                    </a:solidFill>
                  </a:rPr>
                  <a:t>Ab</a:t>
                </a:r>
                <a:r>
                  <a:rPr lang="en-US" altLang="zh-CN" sz="2400" dirty="0" err="1"/>
                  <a:t>cde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楷体_GB2312" pitchFamily="49" charset="-122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 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_GB2312" pitchFamily="49" charset="-122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𝑨𝒃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aAc</a:t>
                </a:r>
                <a:r>
                  <a:rPr lang="en-US" altLang="zh-CN" sz="2400" u="sng" dirty="0">
                    <a:solidFill>
                      <a:srgbClr val="FF0000"/>
                    </a:solidFill>
                  </a:rPr>
                  <a:t>d</a:t>
                </a:r>
                <a:r>
                  <a:rPr lang="en-US" altLang="zh-CN" sz="2400" dirty="0"/>
                  <a:t>e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_GB2312" pitchFamily="49" charset="-122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𝑩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𝒅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u="sng" dirty="0" err="1">
                    <a:solidFill>
                      <a:srgbClr val="FF0000"/>
                    </a:solidFill>
                  </a:rPr>
                  <a:t>aAcBe</a:t>
                </a:r>
                <a:r>
                  <a:rPr lang="en-US" altLang="zh-CN" sz="2400" dirty="0"/>
                  <a:t>  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楷体_GB2312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_GB2312" pitchFamily="49" charset="-122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  <a:sym typeface="Symbol" panose="05050102010706020507" pitchFamily="18" charset="2"/>
                      </a:rPr>
                      <m:t>𝒂𝑨𝒄𝑩𝒆</m:t>
                    </m:r>
                  </m:oMath>
                </a14:m>
                <a:endParaRPr lang="en-US" altLang="zh-CN" sz="2400" dirty="0"/>
              </a:p>
              <a:p>
                <a:pPr lvl="1"/>
                <a:r>
                  <a:rPr lang="en-US" altLang="zh-CN" sz="2400" dirty="0"/>
                  <a:t>S</a:t>
                </a:r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32" y="1268760"/>
                <a:ext cx="5328592" cy="2664296"/>
              </a:xfrm>
              <a:blipFill rotWithShape="1">
                <a:blip r:embed="rId2"/>
                <a:stretch>
                  <a:fillRect l="-271" t="-549" r="-260" b="-47196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43" y="1301418"/>
            <a:ext cx="3096344" cy="1816522"/>
          </a:xfrm>
          <a:prstGeom prst="rect">
            <a:avLst/>
          </a:prstGeom>
          <a:ln w="28575">
            <a:solidFill>
              <a:srgbClr val="9999FF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248" y="4099596"/>
            <a:ext cx="3113641" cy="2399639"/>
          </a:xfrm>
          <a:prstGeom prst="rect">
            <a:avLst/>
          </a:prstGeom>
          <a:ln w="28575">
            <a:solidFill>
              <a:srgbClr val="9999FF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847" y="3276359"/>
            <a:ext cx="3113641" cy="1715759"/>
          </a:xfrm>
          <a:prstGeom prst="rect">
            <a:avLst/>
          </a:prstGeom>
          <a:ln w="28575">
            <a:solidFill>
              <a:srgbClr val="9999FF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4847" y="5152518"/>
            <a:ext cx="3113641" cy="1341095"/>
          </a:xfrm>
          <a:prstGeom prst="rect">
            <a:avLst/>
          </a:prstGeom>
          <a:ln w="28575">
            <a:solidFill>
              <a:srgbClr val="9999FF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把上例倒过来写，则得到： </a:t>
            </a:r>
            <a:endParaRPr lang="en-US" altLang="zh-CN" dirty="0"/>
          </a:p>
          <a:p>
            <a:pPr marL="800100" lvl="2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  =&gt;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aAcBe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=&gt;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aAcde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2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=&gt;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aAbcde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800100" lvl="2" indent="0"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   =&gt;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abbcde</a:t>
            </a:r>
            <a:endParaRPr lang="en-US" altLang="zh-CN" dirty="0"/>
          </a:p>
          <a:p>
            <a:pPr>
              <a:lnSpc>
                <a:spcPct val="150000"/>
              </a:lnSpc>
              <a:tabLst>
                <a:tab pos="1158875" algn="l"/>
              </a:tabLst>
            </a:pPr>
            <a:r>
              <a:rPr lang="zh-CN" altLang="en-US" dirty="0"/>
              <a:t>显然这是一个</a:t>
            </a:r>
            <a:r>
              <a:rPr lang="zh-CN" altLang="en-US" dirty="0">
                <a:solidFill>
                  <a:srgbClr val="FF0000"/>
                </a:solidFill>
              </a:rPr>
              <a:t>最右推导</a:t>
            </a: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  <a:tabLst>
                <a:tab pos="1158875" algn="l"/>
              </a:tabLst>
            </a:pPr>
            <a:r>
              <a:rPr lang="zh-CN" altLang="en-US" dirty="0">
                <a:solidFill>
                  <a:srgbClr val="FF0000"/>
                </a:solidFill>
              </a:rPr>
              <a:t>规范归约是一个最右推导的逆过程。</a:t>
            </a:r>
          </a:p>
          <a:p>
            <a:pPr>
              <a:lnSpc>
                <a:spcPct val="150000"/>
              </a:lnSpc>
              <a:tabLst>
                <a:tab pos="1158875" algn="l"/>
              </a:tabLst>
            </a:pPr>
            <a:r>
              <a:rPr lang="zh-CN" altLang="en-US" dirty="0"/>
              <a:t>由最右推导推出的句型称为</a:t>
            </a:r>
            <a:r>
              <a:rPr lang="zh-CN" altLang="en-US" dirty="0">
                <a:solidFill>
                  <a:srgbClr val="FF0000"/>
                </a:solidFill>
              </a:rPr>
              <a:t>规范句型</a:t>
            </a:r>
            <a:r>
              <a:rPr lang="zh-CN" altLang="en-US" dirty="0"/>
              <a:t>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+mn-lt"/>
                <a:ea typeface="Cambria Math" panose="02040503050406030204" pitchFamily="18" charset="0"/>
              </a:rPr>
              <a:t>LR(0)</a:t>
            </a:r>
            <a:r>
              <a:rPr lang="zh-CN" altLang="en-US" dirty="0">
                <a:latin typeface="+mn-lt"/>
              </a:rPr>
              <a:t>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我们已经找到了可归约串，但是什么时候归约的问题还没有解决。在解决之前先引入一个新的辅助概念</a:t>
                </a:r>
                <a:r>
                  <a:rPr lang="en-US" altLang="zh-CN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项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dirty="0"/>
                  <a:t>项：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在右侧带有区分位置的产生式选择项</a:t>
                </a:r>
                <a:r>
                  <a:rPr lang="zh-CN" altLang="en-US" dirty="0"/>
                  <a:t>，使用“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·</a:t>
                </a:r>
                <a:r>
                  <a:rPr lang="zh-CN" altLang="en-US" dirty="0"/>
                  <a:t>”来表示这个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区分位置</a:t>
                </a:r>
                <a:r>
                  <a:rPr lang="zh-CN" altLang="en-US" dirty="0"/>
                  <a:t>， 可以出现在产生式右侧的任意位置。</a:t>
                </a:r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/>
                  <a:t>比如：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𝜷𝜸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dirty="0"/>
                  <a:t>项如下：</a:t>
                </a:r>
                <a:endParaRPr lang="en-US" altLang="zh-CN" dirty="0"/>
              </a:p>
              <a:p>
                <a:pPr lvl="1" eaLnBrk="1" hangingPunct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𝜷𝜸</m:t>
                    </m:r>
                  </m:oMath>
                </a14:m>
                <a:endParaRPr lang="en-US" altLang="zh-CN" dirty="0"/>
              </a:p>
              <a:p>
                <a:pPr lvl="1" eaLnBrk="1" hangingPunct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𝜸</m:t>
                    </m:r>
                  </m:oMath>
                </a14:m>
                <a:endParaRPr lang="en-US" altLang="zh-CN" dirty="0"/>
              </a:p>
              <a:p>
                <a:pPr lvl="1" eaLnBrk="1" hangingPunct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𝜷𝜸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  <a:spcBef>
                    <a:spcPts val="0"/>
                  </a:spcBef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13028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uiExpand="1" build="p" bldLvl="2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mbria Math" panose="02040503050406030204" pitchFamily="18" charset="0"/>
              </a:rPr>
              <a:t>示例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95400" y="1484784"/>
                <a:ext cx="10972800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latin typeface="Cambria Math" panose="02040503050406030204" pitchFamily="18" charset="0"/>
                  </a:rPr>
                  <a:t>考虑下面的文法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latin typeface="Cambria Math" panose="02040503050406030204" pitchFamily="18" charset="0"/>
                  </a:rPr>
                  <a:t>它含有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个产生式和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8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个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项：</a:t>
                </a:r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    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 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00" y="1484784"/>
                <a:ext cx="10972800" cy="5137150"/>
              </a:xfrm>
              <a:blipFill rotWithShape="1">
                <a:blip r:embed="rId2"/>
                <a:stretch>
                  <a:fillRect l="-134" t="-287" r="-127" b="-269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mbria Math" panose="02040503050406030204" pitchFamily="18" charset="0"/>
              </a:rPr>
              <a:t>示例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latin typeface="Cambria Math" panose="02040503050406030204" pitchFamily="18" charset="0"/>
                  </a:rPr>
                  <a:t>考虑下面的文法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dirty="0">
                    <a:latin typeface="+mn-ea"/>
                  </a:rPr>
                  <a:t>它的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dirty="0">
                    <a:latin typeface="+mn-ea"/>
                  </a:rPr>
                  <a:t>项如下：</a:t>
                </a:r>
                <a:endParaRPr lang="en-US" altLang="zh-CN" dirty="0">
                  <a:latin typeface="+mn-ea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    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  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  <a:spcBef>
                    <a:spcPts val="0"/>
                  </a:spcBef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11248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Group 63"/>
          <p:cNvGraphicFramePr/>
          <p:nvPr/>
        </p:nvGraphicFramePr>
        <p:xfrm>
          <a:off x="5735960" y="1412776"/>
          <a:ext cx="4536504" cy="2651760"/>
        </p:xfrm>
        <a:graphic>
          <a:graphicData uri="http://schemas.openxmlformats.org/drawingml/2006/table">
            <a:tbl>
              <a:tblPr/>
              <a:tblGrid>
                <a:gridCol w="428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6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15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3961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1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$n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$E+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E+n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$E’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n+n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+n$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+n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E→n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E→E + n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E’→E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云形标注 20"/>
          <p:cNvSpPr/>
          <p:nvPr/>
        </p:nvSpPr>
        <p:spPr bwMode="auto">
          <a:xfrm>
            <a:off x="6994376" y="4653136"/>
            <a:ext cx="2987824" cy="1421904"/>
          </a:xfrm>
          <a:prstGeom prst="cloudCallout">
            <a:avLst>
              <a:gd name="adj1" fmla="val -75306"/>
              <a:gd name="adj2" fmla="val -41791"/>
            </a:avLst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思考：</a:t>
            </a:r>
            <a:r>
              <a:rPr lang="en-US" altLang="zh-CN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·</a:t>
            </a:r>
            <a:r>
              <a:rPr lang="zh-CN" altLang="en-US" sz="2000" b="1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号到底标注了什么位置信息？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847528" y="1340768"/>
                <a:ext cx="8242820" cy="5256584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    	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	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</a:rPr>
                  <a:t>		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7528" y="1340768"/>
                <a:ext cx="8242820" cy="5256584"/>
              </a:xfrm>
              <a:blipFill rotWithShape="1">
                <a:blip r:embed="rId2"/>
                <a:stretch>
                  <a:fillRect l="-181" t="-283" r="-167" b="-3944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Cambria Math" panose="02040503050406030204" pitchFamily="18" charset="0"/>
              </a:rPr>
              <a:t>LR(0)</a:t>
            </a:r>
            <a:r>
              <a:rPr lang="zh-CN" altLang="en-US" dirty="0">
                <a:latin typeface="+mn-lt"/>
              </a:rPr>
              <a:t>项分类</a:t>
            </a:r>
          </a:p>
        </p:txBody>
      </p:sp>
      <p:sp>
        <p:nvSpPr>
          <p:cNvPr id="6" name="圆角矩形 5"/>
          <p:cNvSpPr/>
          <p:nvPr/>
        </p:nvSpPr>
        <p:spPr bwMode="auto">
          <a:xfrm>
            <a:off x="6744072" y="1806150"/>
            <a:ext cx="1512168" cy="64807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归约项</a:t>
            </a:r>
          </a:p>
        </p:txBody>
      </p:sp>
      <p:sp>
        <p:nvSpPr>
          <p:cNvPr id="7" name="圆角矩形 6"/>
          <p:cNvSpPr/>
          <p:nvPr/>
        </p:nvSpPr>
        <p:spPr bwMode="auto">
          <a:xfrm>
            <a:off x="6744072" y="2814262"/>
            <a:ext cx="1512168" cy="64807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接受项</a:t>
            </a:r>
          </a:p>
        </p:txBody>
      </p:sp>
      <p:sp>
        <p:nvSpPr>
          <p:cNvPr id="8" name="圆角矩形 7"/>
          <p:cNvSpPr/>
          <p:nvPr/>
        </p:nvSpPr>
        <p:spPr bwMode="auto">
          <a:xfrm>
            <a:off x="6744072" y="3913719"/>
            <a:ext cx="1512168" cy="64807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移进项</a:t>
            </a:r>
          </a:p>
        </p:txBody>
      </p:sp>
      <p:sp>
        <p:nvSpPr>
          <p:cNvPr id="9" name="圆角矩形 8"/>
          <p:cNvSpPr/>
          <p:nvPr/>
        </p:nvSpPr>
        <p:spPr bwMode="auto">
          <a:xfrm>
            <a:off x="6744072" y="5013176"/>
            <a:ext cx="1512168" cy="64807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/>
          <a:lstStyle/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待归约项</a:t>
            </a:r>
          </a:p>
        </p:txBody>
      </p:sp>
      <p:cxnSp>
        <p:nvCxnSpPr>
          <p:cNvPr id="11" name="直接箭头连接符 10"/>
          <p:cNvCxnSpPr/>
          <p:nvPr/>
        </p:nvCxnSpPr>
        <p:spPr bwMode="auto">
          <a:xfrm>
            <a:off x="3863752" y="1700808"/>
            <a:ext cx="2880320" cy="352839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接箭头连接符 12"/>
          <p:cNvCxnSpPr/>
          <p:nvPr/>
        </p:nvCxnSpPr>
        <p:spPr bwMode="auto">
          <a:xfrm>
            <a:off x="4367808" y="3023288"/>
            <a:ext cx="2376264" cy="22779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接箭头连接符 14"/>
          <p:cNvCxnSpPr/>
          <p:nvPr/>
        </p:nvCxnSpPr>
        <p:spPr bwMode="auto">
          <a:xfrm>
            <a:off x="3863752" y="2362879"/>
            <a:ext cx="2808312" cy="82109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接箭头连接符 16"/>
          <p:cNvCxnSpPr/>
          <p:nvPr/>
        </p:nvCxnSpPr>
        <p:spPr bwMode="auto">
          <a:xfrm flipV="1">
            <a:off x="4367808" y="2247038"/>
            <a:ext cx="2304256" cy="262212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直接箭头连接符 18"/>
          <p:cNvCxnSpPr/>
          <p:nvPr/>
        </p:nvCxnSpPr>
        <p:spPr bwMode="auto">
          <a:xfrm flipV="1">
            <a:off x="3791744" y="2362879"/>
            <a:ext cx="2880320" cy="373041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接箭头连接符 20"/>
          <p:cNvCxnSpPr/>
          <p:nvPr/>
        </p:nvCxnSpPr>
        <p:spPr bwMode="auto">
          <a:xfrm>
            <a:off x="4367808" y="3544012"/>
            <a:ext cx="2304256" cy="677077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直接箭头连接符 23"/>
          <p:cNvCxnSpPr/>
          <p:nvPr/>
        </p:nvCxnSpPr>
        <p:spPr bwMode="auto">
          <a:xfrm>
            <a:off x="4367808" y="4242589"/>
            <a:ext cx="2304256" cy="9433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接箭头连接符 25"/>
          <p:cNvCxnSpPr/>
          <p:nvPr/>
        </p:nvCxnSpPr>
        <p:spPr bwMode="auto">
          <a:xfrm flipV="1">
            <a:off x="3863752" y="4425947"/>
            <a:ext cx="2808312" cy="100811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Cambria Math" panose="02040503050406030204" pitchFamily="18" charset="0"/>
              </a:rPr>
              <a:t>LR(0)</a:t>
            </a:r>
            <a:r>
              <a:rPr lang="zh-CN" altLang="en-US" dirty="0">
                <a:latin typeface="+mn-lt"/>
              </a:rPr>
              <a:t>项的有限自动机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07368" y="1343025"/>
                <a:ext cx="11449272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dirty="0"/>
                  <a:t>项可以作为一个保持有关分析栈和移进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归约分析过程的信息的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有穷自动机的状态</a:t>
                </a:r>
                <a:r>
                  <a:rPr lang="zh-CN" altLang="en-US" dirty="0"/>
                  <a:t>来使用。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若有项目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𝛄</m:t>
                    </m:r>
                  </m:oMath>
                </a14:m>
                <a:r>
                  <a:rPr lang="zh-CN" altLang="en-US" dirty="0"/>
                  <a:t>，且假设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𝛄</m:t>
                    </m:r>
                  </m:oMath>
                </a14:m>
                <a:r>
                  <a:rPr lang="zh-CN" altLang="en-US" dirty="0"/>
                  <a:t>以符号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开始，那么可以写作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如果是终结符</a:t>
                </a:r>
                <a:r>
                  <a:rPr lang="zh-CN" altLang="en-US" dirty="0"/>
                  <a:t>，那么可以在有限自动机建立如下变换，表示向栈内移进了一个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：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343025"/>
                <a:ext cx="11449272" cy="5137150"/>
              </a:xfrm>
              <a:blipFill rotWithShape="1">
                <a:blip r:embed="rId2"/>
                <a:stretch>
                  <a:fillRect l="-125" t="-284" r="-123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1"/>
          <p:cNvGrpSpPr/>
          <p:nvPr/>
        </p:nvGrpSpPr>
        <p:grpSpPr bwMode="auto">
          <a:xfrm>
            <a:off x="2999656" y="5013176"/>
            <a:ext cx="5760640" cy="648072"/>
            <a:chOff x="5760" y="1284"/>
            <a:chExt cx="4860" cy="780"/>
          </a:xfrm>
        </p:grpSpPr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5760" y="1440"/>
              <a:ext cx="2160" cy="62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 α·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δ</a:t>
              </a:r>
              <a:endParaRPr lang="en-US" altLang="zh-CN" sz="2400" b="1" i="1" dirty="0">
                <a:latin typeface="Arial" panose="020B0604020202020204" pitchFamily="34" charset="0"/>
              </a:endParaRPr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7920" y="1752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2400"/>
            </a:p>
          </p:txBody>
        </p:sp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8100" y="128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sz="2400" i="1" dirty="0">
                <a:latin typeface="Arial" panose="020B0604020202020204" pitchFamily="34" charset="0"/>
              </a:endParaRPr>
            </a:p>
          </p:txBody>
        </p:sp>
        <p:sp>
          <p:nvSpPr>
            <p:cNvPr id="10" name="Oval 2"/>
            <p:cNvSpPr>
              <a:spLocks noChangeArrowheads="1"/>
            </p:cNvSpPr>
            <p:nvPr/>
          </p:nvSpPr>
          <p:spPr bwMode="auto">
            <a:xfrm>
              <a:off x="8460" y="1440"/>
              <a:ext cx="2160" cy="624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 α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X·</a:t>
              </a:r>
              <a:r>
                <a:rPr lang="en-US" altLang="zh-CN" sz="2400" b="1" i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δ</a:t>
              </a:r>
              <a:endParaRPr lang="en-US" altLang="zh-CN" sz="2400" i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Cambria Math" panose="02040503050406030204" pitchFamily="18" charset="0"/>
              </a:rPr>
              <a:t>LR(0)</a:t>
            </a:r>
            <a:r>
              <a:rPr lang="zh-CN" altLang="en-US" dirty="0">
                <a:latin typeface="+mn-lt"/>
              </a:rPr>
              <a:t>项的有限自动机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07368" y="1343025"/>
                <a:ext cx="11449272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若有项目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𝛄</m:t>
                    </m:r>
                  </m:oMath>
                </a14:m>
                <a:r>
                  <a:rPr lang="zh-CN" altLang="en-US" dirty="0"/>
                  <a:t>，且假设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𝛄</m:t>
                    </m:r>
                  </m:oMath>
                </a14:m>
                <a:r>
                  <a:rPr lang="zh-CN" altLang="en-US" dirty="0"/>
                  <a:t>以符号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开始，那么可以写作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如果是非终结符</a:t>
                </a:r>
                <a:r>
                  <a:rPr lang="zh-CN" altLang="en-US" dirty="0"/>
                  <a:t>，不可能直接移进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，这时可能发生的转换是对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的归约结束后，比如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dirty="0"/>
                  <a:t>，在这个归约前一定会有对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dirty="0"/>
                  <a:t>的识别，初始项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dirty="0"/>
                  <a:t>代表了这个识别的开始，因此对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zh-CN" altLang="en-US" dirty="0"/>
                  <a:t>必须为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的每个产生式添加一个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dirty="0"/>
                  <a:t>转换：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343025"/>
                <a:ext cx="11449272" cy="5137150"/>
              </a:xfrm>
              <a:blipFill rotWithShape="1">
                <a:blip r:embed="rId2"/>
                <a:stretch>
                  <a:fillRect l="-125" t="-284" r="-123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1"/>
          <p:cNvGrpSpPr/>
          <p:nvPr/>
        </p:nvGrpSpPr>
        <p:grpSpPr bwMode="auto">
          <a:xfrm>
            <a:off x="3251684" y="5013176"/>
            <a:ext cx="5760640" cy="648072"/>
            <a:chOff x="5760" y="1284"/>
            <a:chExt cx="4860" cy="780"/>
          </a:xfrm>
        </p:grpSpPr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5760" y="1440"/>
              <a:ext cx="2160" cy="62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 α·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δ</a:t>
              </a:r>
              <a:endParaRPr lang="en-US" altLang="zh-CN" sz="2400" b="1" i="1" dirty="0">
                <a:latin typeface="Arial" panose="020B0604020202020204" pitchFamily="34" charset="0"/>
              </a:endParaRPr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7920" y="1752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3"/>
                <p:cNvSpPr>
                  <a:spLocks noChangeArrowheads="1"/>
                </p:cNvSpPr>
                <p:nvPr/>
              </p:nvSpPr>
              <p:spPr bwMode="auto">
                <a:xfrm>
                  <a:off x="8100" y="1284"/>
                  <a:ext cx="180" cy="31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lvl="0" algn="ctr" eaLnBrk="0"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𝜺</m:t>
                        </m:r>
                      </m:oMath>
                    </m:oMathPara>
                  </a14:m>
                  <a:endParaRPr lang="en-US" altLang="zh-CN" sz="2400" dirty="0"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00" y="1284"/>
                  <a:ext cx="180" cy="315"/>
                </a:xfrm>
                <a:prstGeom prst="rect">
                  <a:avLst/>
                </a:prstGeom>
                <a:blipFill rotWithShape="1">
                  <a:blip r:embed="rId3"/>
                </a:blip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2"/>
                <p:cNvSpPr>
                  <a:spLocks noChangeArrowheads="1"/>
                </p:cNvSpPr>
                <p:nvPr/>
              </p:nvSpPr>
              <p:spPr bwMode="auto">
                <a:xfrm>
                  <a:off x="8460" y="1440"/>
                  <a:ext cx="2160" cy="624"/>
                </a:xfrm>
                <a:prstGeom prst="ellipse">
                  <a:avLst/>
                </a:prstGeom>
                <a:solidFill>
                  <a:srgbClr val="9999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lvl="0" algn="ctr" eaLnBrk="0" hangingPunct="0"/>
                  <a:r>
                    <a:rPr lang="en-US" altLang="zh-CN" sz="2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X → ·</a:t>
                  </a:r>
                  <a14:m>
                    <m:oMath xmlns:m="http://schemas.openxmlformats.org/officeDocument/2006/math">
                      <m:r>
                        <a:rPr lang="zh-CN" alt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𝜷</m:t>
                      </m:r>
                    </m:oMath>
                  </a14:m>
                  <a:endParaRPr lang="en-US" altLang="zh-CN" sz="2400" b="1" i="1" dirty="0"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" name="Oval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60" y="1440"/>
                  <a:ext cx="2160" cy="624"/>
                </a:xfrm>
                <a:prstGeom prst="ellipse">
                  <a:avLst/>
                </a:prstGeom>
                <a:blipFill rotWithShape="1">
                  <a:blip r:embed="rId4"/>
                </a:blipFill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Cambria Math" panose="02040503050406030204" pitchFamily="18" charset="0"/>
              </a:rPr>
              <a:t>LR(0)</a:t>
            </a:r>
            <a:r>
              <a:rPr lang="zh-CN" altLang="en-US" dirty="0">
                <a:latin typeface="+mn-lt"/>
              </a:rPr>
              <a:t>项的有限自动机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07368" y="1343025"/>
                <a:ext cx="11449272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若有项目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如果是非终结符</a:t>
                </a:r>
                <a:r>
                  <a:rPr lang="zh-CN" altLang="en-US" dirty="0"/>
                  <a:t>，这时可能发生的转换是对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进行归约， 规约结束后应该将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放入分析栈，因此对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𝑿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zh-CN" altLang="en-US" dirty="0"/>
                  <a:t>需要添加一个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en-US" altLang="zh-CN" dirty="0"/>
                  <a:t>goto</a:t>
                </a:r>
                <a:r>
                  <a:rPr lang="zh-CN" altLang="en-US" dirty="0"/>
                  <a:t>转换：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7368" y="1343025"/>
                <a:ext cx="11449272" cy="5137150"/>
              </a:xfrm>
              <a:blipFill rotWithShape="1">
                <a:blip r:embed="rId2"/>
                <a:stretch>
                  <a:fillRect l="-125" t="-284" r="-123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1"/>
          <p:cNvGrpSpPr/>
          <p:nvPr/>
        </p:nvGrpSpPr>
        <p:grpSpPr bwMode="auto">
          <a:xfrm>
            <a:off x="3215680" y="4149080"/>
            <a:ext cx="5760640" cy="720357"/>
            <a:chOff x="5760" y="1197"/>
            <a:chExt cx="4860" cy="867"/>
          </a:xfrm>
        </p:grpSpPr>
        <p:sp>
          <p:nvSpPr>
            <p:cNvPr id="7" name="Oval 5"/>
            <p:cNvSpPr>
              <a:spLocks noChangeArrowheads="1"/>
            </p:cNvSpPr>
            <p:nvPr/>
          </p:nvSpPr>
          <p:spPr bwMode="auto">
            <a:xfrm>
              <a:off x="5760" y="1440"/>
              <a:ext cx="2160" cy="62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 α·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δ</a:t>
              </a:r>
              <a:endParaRPr lang="en-US" altLang="zh-CN" sz="2400" b="1" i="1" dirty="0">
                <a:latin typeface="Arial" panose="020B0604020202020204" pitchFamily="34" charset="0"/>
              </a:endParaRPr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7920" y="1752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/>
              <a:endParaRPr lang="zh-CN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3"/>
                <p:cNvSpPr>
                  <a:spLocks noChangeArrowheads="1"/>
                </p:cNvSpPr>
                <p:nvPr/>
              </p:nvSpPr>
              <p:spPr bwMode="auto">
                <a:xfrm>
                  <a:off x="8099" y="1197"/>
                  <a:ext cx="181" cy="40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 vert="horz" wrap="square" lIns="0" tIns="0" rIns="0" bIns="0" numCol="1" anchor="t" anchorCtr="0" compatLnSpc="1"/>
                <a:lstStyle/>
                <a:p>
                  <a:pPr lvl="0" algn="ctr" eaLnBrk="0" hangingPunct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US" altLang="zh-CN" sz="2400" i="1" dirty="0"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9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099" y="1197"/>
                  <a:ext cx="181" cy="402"/>
                </a:xfrm>
                <a:prstGeom prst="rect">
                  <a:avLst/>
                </a:prstGeom>
                <a:blipFill rotWithShape="1">
                  <a:blip r:embed="rId3"/>
                </a:blipFill>
                <a:ln w="9525">
                  <a:solidFill>
                    <a:srgbClr val="FFFFFF"/>
                  </a:solidFill>
                  <a:miter lim="800000"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2"/>
            <p:cNvSpPr>
              <a:spLocks noChangeArrowheads="1"/>
            </p:cNvSpPr>
            <p:nvPr/>
          </p:nvSpPr>
          <p:spPr bwMode="auto">
            <a:xfrm>
              <a:off x="8460" y="1440"/>
              <a:ext cx="2160" cy="624"/>
            </a:xfrm>
            <a:prstGeom prst="ellipse">
              <a:avLst/>
            </a:prstGeom>
            <a:solidFill>
              <a:srgbClr val="9999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 α</a:t>
              </a:r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X.</a:t>
              </a:r>
              <a:r>
                <a:rPr lang="en-US" altLang="zh-CN" sz="2400" b="1" i="1" dirty="0" err="1">
                  <a:latin typeface="宋体" panose="02010600030101010101" pitchFamily="2" charset="-122"/>
                  <a:cs typeface="Times New Roman" panose="02020603050405020304" pitchFamily="18" charset="0"/>
                </a:rPr>
                <a:t>δ</a:t>
              </a:r>
              <a:endParaRPr lang="en-US" altLang="zh-CN" sz="2400" b="1" i="1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LR(0)</a:t>
            </a:r>
            <a:r>
              <a:rPr lang="zh-CN" altLang="en-US" dirty="0"/>
              <a:t>项的有限自动机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NFA</a:t>
                </a:r>
                <a:r>
                  <a:rPr lang="zh-CN" altLang="en-US" dirty="0"/>
                  <a:t>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初始状态</a:t>
                </a:r>
                <a:r>
                  <a:rPr lang="zh-CN" altLang="en-US" dirty="0"/>
                  <a:t>应与分析过程的初始状态对应，此时栈是空的，而且将要识别一个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是文法的开始符号，因此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的产生式构造的初始项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都可以作为开始状态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满足这个条件的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初始项可能不止一个</a:t>
                </a:r>
                <a:r>
                  <a:rPr lang="zh-CN" altLang="en-US" dirty="0"/>
                  <a:t>，因此通常的做法是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通过产生式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扩充文法</a:t>
                </a:r>
                <a:r>
                  <a:rPr lang="zh-CN" altLang="en-US" dirty="0"/>
                  <a:t>，其中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dirty="0"/>
                  <a:t>是一个新的开始符号，那么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也成为</a:t>
                </a:r>
                <a:r>
                  <a:rPr lang="en-US" altLang="zh-CN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NFA</a:t>
                </a:r>
                <a:r>
                  <a:rPr lang="zh-CN" altLang="en-US" dirty="0"/>
                  <a:t>新的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开始状态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+mn-ea"/>
                    <a:cs typeface="Arial" panose="020B0604020202020204" pitchFamily="34" charset="0"/>
                  </a:rPr>
                  <a:t>这个</a:t>
                </a:r>
                <a:r>
                  <a:rPr lang="en-US" altLang="zh-CN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NFA</a:t>
                </a:r>
                <a:r>
                  <a:rPr lang="zh-CN" altLang="en-US" dirty="0">
                    <a:latin typeface="+mn-ea"/>
                    <a:cs typeface="Arial" panose="020B0604020202020204" pitchFamily="34" charset="0"/>
                  </a:rPr>
                  <a:t>并没有</a:t>
                </a:r>
                <a:r>
                  <a:rPr lang="zh-CN" altLang="en-US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结束状态</a:t>
                </a:r>
                <a:r>
                  <a:rPr lang="zh-CN" altLang="en-US" dirty="0">
                    <a:latin typeface="+mn-ea"/>
                    <a:cs typeface="Arial" panose="020B0604020202020204" pitchFamily="34" charset="0"/>
                  </a:rPr>
                  <a:t>。分析何时结束是由分析程序决定的。</a:t>
                </a: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为下面文法构造</a:t>
                </a:r>
                <a:r>
                  <a:rPr lang="en-US" altLang="zh-CN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NFA 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>
                  <a:lnSpc>
                    <a:spcPct val="150000"/>
                  </a:lnSpc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mbria Math" panose="02040503050406030204" pitchFamily="18" charset="0"/>
              </a:rPr>
              <a:t>示例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062572" y="1340768"/>
                <a:ext cx="7990656" cy="5256584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</a:t>
                </a: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(0)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项：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62572" y="1340768"/>
                <a:ext cx="7990656" cy="5256584"/>
              </a:xfrm>
              <a:blipFill rotWithShape="1">
                <a:blip r:embed="rId2"/>
                <a:stretch>
                  <a:fillRect l="-184" t="-283" r="-176" b="-27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项：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     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288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0" name="Oval 86"/>
          <p:cNvSpPr>
            <a:spLocks noChangeArrowheads="1"/>
          </p:cNvSpPr>
          <p:nvPr/>
        </p:nvSpPr>
        <p:spPr bwMode="auto">
          <a:xfrm>
            <a:off x="4670464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3" name="Line 83"/>
          <p:cNvSpPr>
            <a:spLocks noChangeShapeType="1"/>
          </p:cNvSpPr>
          <p:nvPr/>
        </p:nvSpPr>
        <p:spPr bwMode="auto">
          <a:xfrm>
            <a:off x="4153221" y="2425905"/>
            <a:ext cx="51724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项：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288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0" name="Oval 86"/>
          <p:cNvSpPr>
            <a:spLocks noChangeArrowheads="1"/>
          </p:cNvSpPr>
          <p:nvPr/>
        </p:nvSpPr>
        <p:spPr bwMode="auto">
          <a:xfrm>
            <a:off x="4670464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·S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Line 85"/>
          <p:cNvSpPr>
            <a:spLocks noChangeShapeType="1"/>
          </p:cNvSpPr>
          <p:nvPr/>
        </p:nvSpPr>
        <p:spPr bwMode="auto">
          <a:xfrm>
            <a:off x="5963569" y="2425905"/>
            <a:ext cx="775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2" name="Rectangle 84"/>
          <p:cNvSpPr>
            <a:spLocks noChangeArrowheads="1"/>
          </p:cNvSpPr>
          <p:nvPr/>
        </p:nvSpPr>
        <p:spPr bwMode="auto">
          <a:xfrm>
            <a:off x="6222189" y="2060849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eaLnBrk="0" hangingPunct="0"/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3" name="Line 83"/>
          <p:cNvSpPr>
            <a:spLocks noChangeShapeType="1"/>
          </p:cNvSpPr>
          <p:nvPr/>
        </p:nvSpPr>
        <p:spPr bwMode="auto">
          <a:xfrm>
            <a:off x="4153221" y="2425905"/>
            <a:ext cx="51724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4" name="Oval 82"/>
          <p:cNvSpPr>
            <a:spLocks noChangeArrowheads="1"/>
          </p:cNvSpPr>
          <p:nvPr/>
        </p:nvSpPr>
        <p:spPr bwMode="auto">
          <a:xfrm>
            <a:off x="6739432" y="2182534"/>
            <a:ext cx="1293105" cy="486742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S·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项：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 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288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0" name="Oval 86"/>
          <p:cNvSpPr>
            <a:spLocks noChangeArrowheads="1"/>
          </p:cNvSpPr>
          <p:nvPr/>
        </p:nvSpPr>
        <p:spPr bwMode="auto">
          <a:xfrm>
            <a:off x="4670464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·S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" name="Line 85"/>
          <p:cNvSpPr>
            <a:spLocks noChangeShapeType="1"/>
          </p:cNvSpPr>
          <p:nvPr/>
        </p:nvSpPr>
        <p:spPr bwMode="auto">
          <a:xfrm>
            <a:off x="5963569" y="2425905"/>
            <a:ext cx="775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2" name="Rectangle 84"/>
          <p:cNvSpPr>
            <a:spLocks noChangeArrowheads="1"/>
          </p:cNvSpPr>
          <p:nvPr/>
        </p:nvSpPr>
        <p:spPr bwMode="auto">
          <a:xfrm>
            <a:off x="6222189" y="2060849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3" name="Line 83"/>
          <p:cNvSpPr>
            <a:spLocks noChangeShapeType="1"/>
          </p:cNvSpPr>
          <p:nvPr/>
        </p:nvSpPr>
        <p:spPr bwMode="auto">
          <a:xfrm>
            <a:off x="4153221" y="2425905"/>
            <a:ext cx="51724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4" name="Oval 82"/>
          <p:cNvSpPr>
            <a:spLocks noChangeArrowheads="1"/>
          </p:cNvSpPr>
          <p:nvPr/>
        </p:nvSpPr>
        <p:spPr bwMode="auto">
          <a:xfrm>
            <a:off x="6739432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670464" y="2669276"/>
            <a:ext cx="1293105" cy="973484"/>
            <a:chOff x="3146463" y="2669276"/>
            <a:chExt cx="1293105" cy="973484"/>
          </a:xfrm>
        </p:grpSpPr>
        <p:grpSp>
          <p:nvGrpSpPr>
            <p:cNvPr id="6" name="组合 5"/>
            <p:cNvGrpSpPr/>
            <p:nvPr/>
          </p:nvGrpSpPr>
          <p:grpSpPr>
            <a:xfrm>
              <a:off x="3534394" y="2669276"/>
              <a:ext cx="258621" cy="486742"/>
              <a:chOff x="3534394" y="2669276"/>
              <a:chExt cx="258621" cy="486742"/>
            </a:xfrm>
          </p:grpSpPr>
          <p:sp>
            <p:nvSpPr>
              <p:cNvPr id="45" name="Line 81"/>
              <p:cNvSpPr>
                <a:spLocks noChangeShapeType="1"/>
              </p:cNvSpPr>
              <p:nvPr/>
            </p:nvSpPr>
            <p:spPr bwMode="auto">
              <a:xfrm>
                <a:off x="3793015" y="2669276"/>
                <a:ext cx="0" cy="48674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b="1"/>
              </a:p>
            </p:txBody>
          </p:sp>
          <p:sp>
            <p:nvSpPr>
              <p:cNvPr id="46" name="Rectangle 80"/>
              <p:cNvSpPr>
                <a:spLocks noChangeArrowheads="1"/>
              </p:cNvSpPr>
              <p:nvPr/>
            </p:nvSpPr>
            <p:spPr bwMode="auto">
              <a:xfrm>
                <a:off x="3534394" y="2790961"/>
                <a:ext cx="129310" cy="2433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6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</a:p>
            </p:txBody>
          </p:sp>
        </p:grpSp>
        <p:sp>
          <p:nvSpPr>
            <p:cNvPr id="47" name="Oval 79"/>
            <p:cNvSpPr>
              <a:spLocks noChangeArrowheads="1"/>
            </p:cNvSpPr>
            <p:nvPr/>
          </p:nvSpPr>
          <p:spPr bwMode="auto">
            <a:xfrm>
              <a:off x="3146463" y="3156018"/>
              <a:ext cx="1293105" cy="486742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575637" y="2666649"/>
            <a:ext cx="2327589" cy="1216855"/>
            <a:chOff x="4051636" y="2666648"/>
            <a:chExt cx="2327589" cy="1216855"/>
          </a:xfrm>
        </p:grpSpPr>
        <p:grpSp>
          <p:nvGrpSpPr>
            <p:cNvPr id="5" name="组合 4"/>
            <p:cNvGrpSpPr/>
            <p:nvPr/>
          </p:nvGrpSpPr>
          <p:grpSpPr>
            <a:xfrm>
              <a:off x="4051636" y="2666648"/>
              <a:ext cx="2327589" cy="1216855"/>
              <a:chOff x="4051636" y="2669276"/>
              <a:chExt cx="2327589" cy="1216855"/>
            </a:xfrm>
          </p:grpSpPr>
          <p:sp>
            <p:nvSpPr>
              <p:cNvPr id="48" name="Oval 78"/>
              <p:cNvSpPr>
                <a:spLocks noChangeArrowheads="1"/>
              </p:cNvSpPr>
              <p:nvPr/>
            </p:nvSpPr>
            <p:spPr bwMode="auto">
              <a:xfrm>
                <a:off x="5086120" y="3399389"/>
                <a:ext cx="1293105" cy="486742"/>
              </a:xfrm>
              <a:prstGeom prst="ellipse">
                <a:avLst/>
              </a:prstGeom>
              <a:solidFill>
                <a:srgbClr val="FFFF99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algn="ctr" eaLnBrk="0" hangingPunct="0"/>
                <a:r>
                  <a:rPr lang="en-US" altLang="zh-C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→·</a:t>
                </a:r>
                <a:endParaRPr lang="en-US" altLang="zh-CN" sz="16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Line 77"/>
              <p:cNvSpPr>
                <a:spLocks noChangeShapeType="1"/>
              </p:cNvSpPr>
              <p:nvPr/>
            </p:nvSpPr>
            <p:spPr bwMode="auto">
              <a:xfrm>
                <a:off x="4051636" y="2669276"/>
                <a:ext cx="1163794" cy="8517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600" b="1"/>
              </a:p>
            </p:txBody>
          </p:sp>
        </p:grpSp>
        <p:sp>
          <p:nvSpPr>
            <p:cNvPr id="50" name="Rectangle 76"/>
            <p:cNvSpPr>
              <a:spLocks noChangeArrowheads="1"/>
            </p:cNvSpPr>
            <p:nvPr/>
          </p:nvSpPr>
          <p:spPr bwMode="auto">
            <a:xfrm>
              <a:off x="4439568" y="2669276"/>
              <a:ext cx="129310" cy="2433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项：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288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0" name="Oval 86"/>
          <p:cNvSpPr>
            <a:spLocks noChangeArrowheads="1"/>
          </p:cNvSpPr>
          <p:nvPr/>
        </p:nvSpPr>
        <p:spPr bwMode="auto">
          <a:xfrm>
            <a:off x="4670464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1" name="Line 85"/>
          <p:cNvSpPr>
            <a:spLocks noChangeShapeType="1"/>
          </p:cNvSpPr>
          <p:nvPr/>
        </p:nvSpPr>
        <p:spPr bwMode="auto">
          <a:xfrm>
            <a:off x="5963569" y="2425905"/>
            <a:ext cx="775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2" name="Rectangle 84"/>
          <p:cNvSpPr>
            <a:spLocks noChangeArrowheads="1"/>
          </p:cNvSpPr>
          <p:nvPr/>
        </p:nvSpPr>
        <p:spPr bwMode="auto">
          <a:xfrm>
            <a:off x="6222189" y="2060849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3" name="Line 83"/>
          <p:cNvSpPr>
            <a:spLocks noChangeShapeType="1"/>
          </p:cNvSpPr>
          <p:nvPr/>
        </p:nvSpPr>
        <p:spPr bwMode="auto">
          <a:xfrm>
            <a:off x="4153221" y="2425905"/>
            <a:ext cx="51724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4" name="Oval 82"/>
          <p:cNvSpPr>
            <a:spLocks noChangeArrowheads="1"/>
          </p:cNvSpPr>
          <p:nvPr/>
        </p:nvSpPr>
        <p:spPr bwMode="auto">
          <a:xfrm>
            <a:off x="6739432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5" name="Line 81"/>
          <p:cNvSpPr>
            <a:spLocks noChangeShapeType="1"/>
          </p:cNvSpPr>
          <p:nvPr/>
        </p:nvSpPr>
        <p:spPr bwMode="auto">
          <a:xfrm>
            <a:off x="5317015" y="2669276"/>
            <a:ext cx="0" cy="4867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6" name="Rectangle 80"/>
          <p:cNvSpPr>
            <a:spLocks noChangeArrowheads="1"/>
          </p:cNvSpPr>
          <p:nvPr/>
        </p:nvSpPr>
        <p:spPr bwMode="auto">
          <a:xfrm>
            <a:off x="5058394" y="279096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7" name="Oval 79"/>
          <p:cNvSpPr>
            <a:spLocks noChangeArrowheads="1"/>
          </p:cNvSpPr>
          <p:nvPr/>
        </p:nvSpPr>
        <p:spPr bwMode="auto">
          <a:xfrm>
            <a:off x="4670464" y="3156018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·(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8" name="Oval 78"/>
          <p:cNvSpPr>
            <a:spLocks noChangeArrowheads="1"/>
          </p:cNvSpPr>
          <p:nvPr/>
        </p:nvSpPr>
        <p:spPr bwMode="auto">
          <a:xfrm>
            <a:off x="6610121" y="339938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9" name="Line 77"/>
          <p:cNvSpPr>
            <a:spLocks noChangeShapeType="1"/>
          </p:cNvSpPr>
          <p:nvPr/>
        </p:nvSpPr>
        <p:spPr bwMode="auto">
          <a:xfrm>
            <a:off x="5575636" y="2669277"/>
            <a:ext cx="1163794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0" name="Rectangle 76"/>
          <p:cNvSpPr>
            <a:spLocks noChangeArrowheads="1"/>
          </p:cNvSpPr>
          <p:nvPr/>
        </p:nvSpPr>
        <p:spPr bwMode="auto">
          <a:xfrm>
            <a:off x="5963568" y="266927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3" name="Line 73"/>
          <p:cNvSpPr>
            <a:spLocks noChangeShapeType="1"/>
          </p:cNvSpPr>
          <p:nvPr/>
        </p:nvSpPr>
        <p:spPr bwMode="auto">
          <a:xfrm flipV="1">
            <a:off x="5446326" y="3642761"/>
            <a:ext cx="0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4" name="Rectangle 72"/>
          <p:cNvSpPr>
            <a:spLocks noChangeArrowheads="1"/>
          </p:cNvSpPr>
          <p:nvPr/>
        </p:nvSpPr>
        <p:spPr bwMode="auto">
          <a:xfrm>
            <a:off x="5575636" y="388613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4670464" y="3642761"/>
            <a:ext cx="1293105" cy="1338541"/>
            <a:chOff x="3146463" y="3642760"/>
            <a:chExt cx="1293105" cy="1338541"/>
          </a:xfrm>
        </p:grpSpPr>
        <p:sp>
          <p:nvSpPr>
            <p:cNvPr id="51" name="Oval 75"/>
            <p:cNvSpPr>
              <a:spLocks noChangeArrowheads="1"/>
            </p:cNvSpPr>
            <p:nvPr/>
          </p:nvSpPr>
          <p:spPr bwMode="auto">
            <a:xfrm>
              <a:off x="3146463" y="4494559"/>
              <a:ext cx="1293105" cy="486742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(·</a:t>
              </a: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)S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52" name="Line 74"/>
            <p:cNvSpPr>
              <a:spLocks noChangeShapeType="1"/>
            </p:cNvSpPr>
            <p:nvPr/>
          </p:nvSpPr>
          <p:spPr bwMode="auto">
            <a:xfrm>
              <a:off x="3663705" y="3642760"/>
              <a:ext cx="0" cy="8517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55" name="Rectangle 71"/>
            <p:cNvSpPr>
              <a:spLocks noChangeArrowheads="1"/>
            </p:cNvSpPr>
            <p:nvPr/>
          </p:nvSpPr>
          <p:spPr bwMode="auto">
            <a:xfrm>
              <a:off x="3405084" y="3886131"/>
              <a:ext cx="129310" cy="2433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600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6" name="Line 70"/>
          <p:cNvSpPr>
            <a:spLocks noChangeShapeType="1"/>
          </p:cNvSpPr>
          <p:nvPr/>
        </p:nvSpPr>
        <p:spPr bwMode="auto">
          <a:xfrm flipV="1">
            <a:off x="5704947" y="3764447"/>
            <a:ext cx="1034484" cy="730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7" name="Rectangle 69"/>
          <p:cNvSpPr>
            <a:spLocks noChangeArrowheads="1"/>
          </p:cNvSpPr>
          <p:nvPr/>
        </p:nvSpPr>
        <p:spPr bwMode="auto">
          <a:xfrm>
            <a:off x="6092878" y="376444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6" grpId="0" animBg="1"/>
      <p:bldP spid="5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536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项：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536" y="1286290"/>
                <a:ext cx="8496944" cy="5311062"/>
              </a:xfrm>
              <a:blipFill rotWithShape="1">
                <a:blip r:embed="rId2"/>
                <a:stretch>
                  <a:fillRect l="-171" t="-271" r="-165" b="-288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0" name="Oval 86"/>
          <p:cNvSpPr>
            <a:spLocks noChangeArrowheads="1"/>
          </p:cNvSpPr>
          <p:nvPr/>
        </p:nvSpPr>
        <p:spPr bwMode="auto">
          <a:xfrm>
            <a:off x="4670464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1" name="Line 85"/>
          <p:cNvSpPr>
            <a:spLocks noChangeShapeType="1"/>
          </p:cNvSpPr>
          <p:nvPr/>
        </p:nvSpPr>
        <p:spPr bwMode="auto">
          <a:xfrm>
            <a:off x="5963569" y="2425905"/>
            <a:ext cx="775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2" name="Rectangle 84"/>
          <p:cNvSpPr>
            <a:spLocks noChangeArrowheads="1"/>
          </p:cNvSpPr>
          <p:nvPr/>
        </p:nvSpPr>
        <p:spPr bwMode="auto">
          <a:xfrm>
            <a:off x="6222189" y="2060849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3" name="Line 83"/>
          <p:cNvSpPr>
            <a:spLocks noChangeShapeType="1"/>
          </p:cNvSpPr>
          <p:nvPr/>
        </p:nvSpPr>
        <p:spPr bwMode="auto">
          <a:xfrm>
            <a:off x="4153221" y="2425905"/>
            <a:ext cx="51724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4" name="Oval 82"/>
          <p:cNvSpPr>
            <a:spLocks noChangeArrowheads="1"/>
          </p:cNvSpPr>
          <p:nvPr/>
        </p:nvSpPr>
        <p:spPr bwMode="auto">
          <a:xfrm>
            <a:off x="6739432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5" name="Line 81"/>
          <p:cNvSpPr>
            <a:spLocks noChangeShapeType="1"/>
          </p:cNvSpPr>
          <p:nvPr/>
        </p:nvSpPr>
        <p:spPr bwMode="auto">
          <a:xfrm>
            <a:off x="5317015" y="2669276"/>
            <a:ext cx="0" cy="4867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6" name="Rectangle 80"/>
          <p:cNvSpPr>
            <a:spLocks noChangeArrowheads="1"/>
          </p:cNvSpPr>
          <p:nvPr/>
        </p:nvSpPr>
        <p:spPr bwMode="auto">
          <a:xfrm>
            <a:off x="5058394" y="279096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7" name="Oval 79"/>
          <p:cNvSpPr>
            <a:spLocks noChangeArrowheads="1"/>
          </p:cNvSpPr>
          <p:nvPr/>
        </p:nvSpPr>
        <p:spPr bwMode="auto">
          <a:xfrm>
            <a:off x="4670464" y="3156018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8" name="Oval 78"/>
          <p:cNvSpPr>
            <a:spLocks noChangeArrowheads="1"/>
          </p:cNvSpPr>
          <p:nvPr/>
        </p:nvSpPr>
        <p:spPr bwMode="auto">
          <a:xfrm>
            <a:off x="6610121" y="339938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9" name="Line 77"/>
          <p:cNvSpPr>
            <a:spLocks noChangeShapeType="1"/>
          </p:cNvSpPr>
          <p:nvPr/>
        </p:nvSpPr>
        <p:spPr bwMode="auto">
          <a:xfrm>
            <a:off x="5575636" y="2669277"/>
            <a:ext cx="1163794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0" name="Rectangle 76"/>
          <p:cNvSpPr>
            <a:spLocks noChangeArrowheads="1"/>
          </p:cNvSpPr>
          <p:nvPr/>
        </p:nvSpPr>
        <p:spPr bwMode="auto">
          <a:xfrm>
            <a:off x="5963568" y="266927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1" name="Oval 75"/>
          <p:cNvSpPr>
            <a:spLocks noChangeArrowheads="1"/>
          </p:cNvSpPr>
          <p:nvPr/>
        </p:nvSpPr>
        <p:spPr bwMode="auto">
          <a:xfrm>
            <a:off x="4670464" y="449455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(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·S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52" name="Line 74"/>
          <p:cNvSpPr>
            <a:spLocks noChangeShapeType="1"/>
          </p:cNvSpPr>
          <p:nvPr/>
        </p:nvSpPr>
        <p:spPr bwMode="auto">
          <a:xfrm>
            <a:off x="5187705" y="3642761"/>
            <a:ext cx="0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3" name="Line 73"/>
          <p:cNvSpPr>
            <a:spLocks noChangeShapeType="1"/>
          </p:cNvSpPr>
          <p:nvPr/>
        </p:nvSpPr>
        <p:spPr bwMode="auto">
          <a:xfrm flipV="1">
            <a:off x="5446326" y="3642761"/>
            <a:ext cx="0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4" name="Rectangle 72"/>
          <p:cNvSpPr>
            <a:spLocks noChangeArrowheads="1"/>
          </p:cNvSpPr>
          <p:nvPr/>
        </p:nvSpPr>
        <p:spPr bwMode="auto">
          <a:xfrm>
            <a:off x="5575636" y="388613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5" name="Rectangle 71"/>
          <p:cNvSpPr>
            <a:spLocks noChangeArrowheads="1"/>
          </p:cNvSpPr>
          <p:nvPr/>
        </p:nvSpPr>
        <p:spPr bwMode="auto">
          <a:xfrm>
            <a:off x="4929084" y="388613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56" name="Line 70"/>
          <p:cNvSpPr>
            <a:spLocks noChangeShapeType="1"/>
          </p:cNvSpPr>
          <p:nvPr/>
        </p:nvSpPr>
        <p:spPr bwMode="auto">
          <a:xfrm flipV="1">
            <a:off x="5704947" y="3764447"/>
            <a:ext cx="1034484" cy="730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7" name="Rectangle 69"/>
          <p:cNvSpPr>
            <a:spLocks noChangeArrowheads="1"/>
          </p:cNvSpPr>
          <p:nvPr/>
        </p:nvSpPr>
        <p:spPr bwMode="auto">
          <a:xfrm>
            <a:off x="6092878" y="376444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8" name="Oval 68"/>
          <p:cNvSpPr>
            <a:spLocks noChangeArrowheads="1"/>
          </p:cNvSpPr>
          <p:nvPr/>
        </p:nvSpPr>
        <p:spPr bwMode="auto">
          <a:xfrm>
            <a:off x="6610121" y="4494559"/>
            <a:ext cx="1293105" cy="486742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(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S·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59" name="Line 67"/>
          <p:cNvSpPr>
            <a:spLocks noChangeShapeType="1"/>
          </p:cNvSpPr>
          <p:nvPr/>
        </p:nvSpPr>
        <p:spPr bwMode="auto">
          <a:xfrm flipV="1">
            <a:off x="5963568" y="4737930"/>
            <a:ext cx="64655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0" name="Rectangle 66"/>
          <p:cNvSpPr>
            <a:spLocks noChangeArrowheads="1"/>
          </p:cNvSpPr>
          <p:nvPr/>
        </p:nvSpPr>
        <p:spPr bwMode="auto">
          <a:xfrm>
            <a:off x="6222189" y="4372875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eaLnBrk="0" hangingPunct="0"/>
            <a:endParaRPr lang="en-US" altLang="zh-CN" sz="16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项：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288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0" name="Oval 86"/>
          <p:cNvSpPr>
            <a:spLocks noChangeArrowheads="1"/>
          </p:cNvSpPr>
          <p:nvPr/>
        </p:nvSpPr>
        <p:spPr bwMode="auto">
          <a:xfrm>
            <a:off x="4670464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1" name="Line 85"/>
          <p:cNvSpPr>
            <a:spLocks noChangeShapeType="1"/>
          </p:cNvSpPr>
          <p:nvPr/>
        </p:nvSpPr>
        <p:spPr bwMode="auto">
          <a:xfrm>
            <a:off x="5963569" y="2425905"/>
            <a:ext cx="775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2" name="Rectangle 84"/>
          <p:cNvSpPr>
            <a:spLocks noChangeArrowheads="1"/>
          </p:cNvSpPr>
          <p:nvPr/>
        </p:nvSpPr>
        <p:spPr bwMode="auto">
          <a:xfrm>
            <a:off x="6222189" y="2060849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3" name="Line 83"/>
          <p:cNvSpPr>
            <a:spLocks noChangeShapeType="1"/>
          </p:cNvSpPr>
          <p:nvPr/>
        </p:nvSpPr>
        <p:spPr bwMode="auto">
          <a:xfrm>
            <a:off x="4153221" y="2425905"/>
            <a:ext cx="51724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4" name="Oval 82"/>
          <p:cNvSpPr>
            <a:spLocks noChangeArrowheads="1"/>
          </p:cNvSpPr>
          <p:nvPr/>
        </p:nvSpPr>
        <p:spPr bwMode="auto">
          <a:xfrm>
            <a:off x="6739432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5" name="Line 81"/>
          <p:cNvSpPr>
            <a:spLocks noChangeShapeType="1"/>
          </p:cNvSpPr>
          <p:nvPr/>
        </p:nvSpPr>
        <p:spPr bwMode="auto">
          <a:xfrm>
            <a:off x="5317015" y="2669276"/>
            <a:ext cx="0" cy="4867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6" name="Rectangle 80"/>
          <p:cNvSpPr>
            <a:spLocks noChangeArrowheads="1"/>
          </p:cNvSpPr>
          <p:nvPr/>
        </p:nvSpPr>
        <p:spPr bwMode="auto">
          <a:xfrm>
            <a:off x="5058394" y="279096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7" name="Oval 79"/>
          <p:cNvSpPr>
            <a:spLocks noChangeArrowheads="1"/>
          </p:cNvSpPr>
          <p:nvPr/>
        </p:nvSpPr>
        <p:spPr bwMode="auto">
          <a:xfrm>
            <a:off x="4670464" y="3156018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8" name="Oval 78"/>
          <p:cNvSpPr>
            <a:spLocks noChangeArrowheads="1"/>
          </p:cNvSpPr>
          <p:nvPr/>
        </p:nvSpPr>
        <p:spPr bwMode="auto">
          <a:xfrm>
            <a:off x="6610121" y="339938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9" name="Line 77"/>
          <p:cNvSpPr>
            <a:spLocks noChangeShapeType="1"/>
          </p:cNvSpPr>
          <p:nvPr/>
        </p:nvSpPr>
        <p:spPr bwMode="auto">
          <a:xfrm>
            <a:off x="5575636" y="2669277"/>
            <a:ext cx="1163794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0" name="Rectangle 76"/>
          <p:cNvSpPr>
            <a:spLocks noChangeArrowheads="1"/>
          </p:cNvSpPr>
          <p:nvPr/>
        </p:nvSpPr>
        <p:spPr bwMode="auto">
          <a:xfrm>
            <a:off x="5963568" y="266927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1" name="Oval 75"/>
          <p:cNvSpPr>
            <a:spLocks noChangeArrowheads="1"/>
          </p:cNvSpPr>
          <p:nvPr/>
        </p:nvSpPr>
        <p:spPr bwMode="auto">
          <a:xfrm>
            <a:off x="4670464" y="449455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 (·S)S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52" name="Line 74"/>
          <p:cNvSpPr>
            <a:spLocks noChangeShapeType="1"/>
          </p:cNvSpPr>
          <p:nvPr/>
        </p:nvSpPr>
        <p:spPr bwMode="auto">
          <a:xfrm>
            <a:off x="5187705" y="3642761"/>
            <a:ext cx="0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3" name="Line 73"/>
          <p:cNvSpPr>
            <a:spLocks noChangeShapeType="1"/>
          </p:cNvSpPr>
          <p:nvPr/>
        </p:nvSpPr>
        <p:spPr bwMode="auto">
          <a:xfrm flipV="1">
            <a:off x="5446326" y="3642761"/>
            <a:ext cx="0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4" name="Rectangle 72"/>
          <p:cNvSpPr>
            <a:spLocks noChangeArrowheads="1"/>
          </p:cNvSpPr>
          <p:nvPr/>
        </p:nvSpPr>
        <p:spPr bwMode="auto">
          <a:xfrm>
            <a:off x="5575636" y="388613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5" name="Rectangle 71"/>
          <p:cNvSpPr>
            <a:spLocks noChangeArrowheads="1"/>
          </p:cNvSpPr>
          <p:nvPr/>
        </p:nvSpPr>
        <p:spPr bwMode="auto">
          <a:xfrm>
            <a:off x="4929084" y="388613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56" name="Line 70"/>
          <p:cNvSpPr>
            <a:spLocks noChangeShapeType="1"/>
          </p:cNvSpPr>
          <p:nvPr/>
        </p:nvSpPr>
        <p:spPr bwMode="auto">
          <a:xfrm flipV="1">
            <a:off x="5704947" y="3764447"/>
            <a:ext cx="1034484" cy="730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7" name="Rectangle 69"/>
          <p:cNvSpPr>
            <a:spLocks noChangeArrowheads="1"/>
          </p:cNvSpPr>
          <p:nvPr/>
        </p:nvSpPr>
        <p:spPr bwMode="auto">
          <a:xfrm>
            <a:off x="6092878" y="376444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8" name="Oval 68"/>
          <p:cNvSpPr>
            <a:spLocks noChangeArrowheads="1"/>
          </p:cNvSpPr>
          <p:nvPr/>
        </p:nvSpPr>
        <p:spPr bwMode="auto">
          <a:xfrm>
            <a:off x="6610121" y="449455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(S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·)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59" name="Line 67"/>
          <p:cNvSpPr>
            <a:spLocks noChangeShapeType="1"/>
          </p:cNvSpPr>
          <p:nvPr/>
        </p:nvSpPr>
        <p:spPr bwMode="auto">
          <a:xfrm flipV="1">
            <a:off x="5963568" y="4737930"/>
            <a:ext cx="64655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0" name="Rectangle 66"/>
          <p:cNvSpPr>
            <a:spLocks noChangeArrowheads="1"/>
          </p:cNvSpPr>
          <p:nvPr/>
        </p:nvSpPr>
        <p:spPr bwMode="auto">
          <a:xfrm>
            <a:off x="6222189" y="4372875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61" name="Oval 65"/>
          <p:cNvSpPr>
            <a:spLocks noChangeArrowheads="1"/>
          </p:cNvSpPr>
          <p:nvPr/>
        </p:nvSpPr>
        <p:spPr bwMode="auto">
          <a:xfrm>
            <a:off x="8937710" y="4494559"/>
            <a:ext cx="1293105" cy="486742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(S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)·S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flipV="1">
            <a:off x="7903225" y="4737930"/>
            <a:ext cx="103448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3" name="Rectangle 63"/>
          <p:cNvSpPr>
            <a:spLocks noChangeArrowheads="1"/>
          </p:cNvSpPr>
          <p:nvPr/>
        </p:nvSpPr>
        <p:spPr bwMode="auto">
          <a:xfrm>
            <a:off x="8291157" y="4372875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eaLnBrk="0" hangingPunct="0"/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65" name="Rectangle 61"/>
          <p:cNvSpPr>
            <a:spLocks noChangeArrowheads="1"/>
          </p:cNvSpPr>
          <p:nvPr/>
        </p:nvSpPr>
        <p:spPr bwMode="auto">
          <a:xfrm>
            <a:off x="8549778" y="376444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项：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288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0" name="Oval 86"/>
          <p:cNvSpPr>
            <a:spLocks noChangeArrowheads="1"/>
          </p:cNvSpPr>
          <p:nvPr/>
        </p:nvSpPr>
        <p:spPr bwMode="auto">
          <a:xfrm>
            <a:off x="4670464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1" name="Line 85"/>
          <p:cNvSpPr>
            <a:spLocks noChangeShapeType="1"/>
          </p:cNvSpPr>
          <p:nvPr/>
        </p:nvSpPr>
        <p:spPr bwMode="auto">
          <a:xfrm>
            <a:off x="5963569" y="2425905"/>
            <a:ext cx="775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2" name="Rectangle 84"/>
          <p:cNvSpPr>
            <a:spLocks noChangeArrowheads="1"/>
          </p:cNvSpPr>
          <p:nvPr/>
        </p:nvSpPr>
        <p:spPr bwMode="auto">
          <a:xfrm>
            <a:off x="6222189" y="2060849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3" name="Line 83"/>
          <p:cNvSpPr>
            <a:spLocks noChangeShapeType="1"/>
          </p:cNvSpPr>
          <p:nvPr/>
        </p:nvSpPr>
        <p:spPr bwMode="auto">
          <a:xfrm>
            <a:off x="4153221" y="2425905"/>
            <a:ext cx="51724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4" name="Oval 82"/>
          <p:cNvSpPr>
            <a:spLocks noChangeArrowheads="1"/>
          </p:cNvSpPr>
          <p:nvPr/>
        </p:nvSpPr>
        <p:spPr bwMode="auto">
          <a:xfrm>
            <a:off x="6739432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5" name="Line 81"/>
          <p:cNvSpPr>
            <a:spLocks noChangeShapeType="1"/>
          </p:cNvSpPr>
          <p:nvPr/>
        </p:nvSpPr>
        <p:spPr bwMode="auto">
          <a:xfrm>
            <a:off x="5317015" y="2669276"/>
            <a:ext cx="0" cy="4867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6" name="Rectangle 80"/>
          <p:cNvSpPr>
            <a:spLocks noChangeArrowheads="1"/>
          </p:cNvSpPr>
          <p:nvPr/>
        </p:nvSpPr>
        <p:spPr bwMode="auto">
          <a:xfrm>
            <a:off x="5058394" y="279096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7" name="Oval 79"/>
          <p:cNvSpPr>
            <a:spLocks noChangeArrowheads="1"/>
          </p:cNvSpPr>
          <p:nvPr/>
        </p:nvSpPr>
        <p:spPr bwMode="auto">
          <a:xfrm>
            <a:off x="4670464" y="3156018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8" name="Oval 78"/>
          <p:cNvSpPr>
            <a:spLocks noChangeArrowheads="1"/>
          </p:cNvSpPr>
          <p:nvPr/>
        </p:nvSpPr>
        <p:spPr bwMode="auto">
          <a:xfrm>
            <a:off x="6610121" y="339938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9" name="Line 77"/>
          <p:cNvSpPr>
            <a:spLocks noChangeShapeType="1"/>
          </p:cNvSpPr>
          <p:nvPr/>
        </p:nvSpPr>
        <p:spPr bwMode="auto">
          <a:xfrm>
            <a:off x="5575636" y="2669277"/>
            <a:ext cx="1163794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0" name="Rectangle 76"/>
          <p:cNvSpPr>
            <a:spLocks noChangeArrowheads="1"/>
          </p:cNvSpPr>
          <p:nvPr/>
        </p:nvSpPr>
        <p:spPr bwMode="auto">
          <a:xfrm>
            <a:off x="5963568" y="266927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1" name="Oval 75"/>
          <p:cNvSpPr>
            <a:spLocks noChangeArrowheads="1"/>
          </p:cNvSpPr>
          <p:nvPr/>
        </p:nvSpPr>
        <p:spPr bwMode="auto">
          <a:xfrm>
            <a:off x="4670464" y="449455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 (·S)S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52" name="Line 74"/>
          <p:cNvSpPr>
            <a:spLocks noChangeShapeType="1"/>
          </p:cNvSpPr>
          <p:nvPr/>
        </p:nvSpPr>
        <p:spPr bwMode="auto">
          <a:xfrm>
            <a:off x="5187705" y="3642761"/>
            <a:ext cx="0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3" name="Line 73"/>
          <p:cNvSpPr>
            <a:spLocks noChangeShapeType="1"/>
          </p:cNvSpPr>
          <p:nvPr/>
        </p:nvSpPr>
        <p:spPr bwMode="auto">
          <a:xfrm flipV="1">
            <a:off x="5446326" y="3642761"/>
            <a:ext cx="0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4" name="Rectangle 72"/>
          <p:cNvSpPr>
            <a:spLocks noChangeArrowheads="1"/>
          </p:cNvSpPr>
          <p:nvPr/>
        </p:nvSpPr>
        <p:spPr bwMode="auto">
          <a:xfrm>
            <a:off x="5575636" y="388613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5" name="Rectangle 71"/>
          <p:cNvSpPr>
            <a:spLocks noChangeArrowheads="1"/>
          </p:cNvSpPr>
          <p:nvPr/>
        </p:nvSpPr>
        <p:spPr bwMode="auto">
          <a:xfrm>
            <a:off x="4929084" y="388613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56" name="Line 70"/>
          <p:cNvSpPr>
            <a:spLocks noChangeShapeType="1"/>
          </p:cNvSpPr>
          <p:nvPr/>
        </p:nvSpPr>
        <p:spPr bwMode="auto">
          <a:xfrm flipV="1">
            <a:off x="5704947" y="3764447"/>
            <a:ext cx="1034484" cy="730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7" name="Rectangle 69"/>
          <p:cNvSpPr>
            <a:spLocks noChangeArrowheads="1"/>
          </p:cNvSpPr>
          <p:nvPr/>
        </p:nvSpPr>
        <p:spPr bwMode="auto">
          <a:xfrm>
            <a:off x="6092878" y="376444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8" name="Oval 68"/>
          <p:cNvSpPr>
            <a:spLocks noChangeArrowheads="1"/>
          </p:cNvSpPr>
          <p:nvPr/>
        </p:nvSpPr>
        <p:spPr bwMode="auto">
          <a:xfrm>
            <a:off x="6610121" y="449455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(S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·)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59" name="Line 67"/>
          <p:cNvSpPr>
            <a:spLocks noChangeShapeType="1"/>
          </p:cNvSpPr>
          <p:nvPr/>
        </p:nvSpPr>
        <p:spPr bwMode="auto">
          <a:xfrm flipV="1">
            <a:off x="5963568" y="4737930"/>
            <a:ext cx="64655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0" name="Rectangle 66"/>
          <p:cNvSpPr>
            <a:spLocks noChangeArrowheads="1"/>
          </p:cNvSpPr>
          <p:nvPr/>
        </p:nvSpPr>
        <p:spPr bwMode="auto">
          <a:xfrm>
            <a:off x="6222189" y="4372875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61" name="Oval 65"/>
          <p:cNvSpPr>
            <a:spLocks noChangeArrowheads="1"/>
          </p:cNvSpPr>
          <p:nvPr/>
        </p:nvSpPr>
        <p:spPr bwMode="auto">
          <a:xfrm>
            <a:off x="8937710" y="449455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(S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)·S</a:t>
            </a:r>
            <a:endParaRPr lang="en-US" altLang="zh-CN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flipV="1">
            <a:off x="7903225" y="4737930"/>
            <a:ext cx="103448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3" name="Rectangle 63"/>
          <p:cNvSpPr>
            <a:spLocks noChangeArrowheads="1"/>
          </p:cNvSpPr>
          <p:nvPr/>
        </p:nvSpPr>
        <p:spPr bwMode="auto">
          <a:xfrm>
            <a:off x="8291157" y="4372875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eaLnBrk="0" hangingPunct="0"/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64" name="Line 62"/>
          <p:cNvSpPr>
            <a:spLocks noChangeShapeType="1"/>
          </p:cNvSpPr>
          <p:nvPr/>
        </p:nvSpPr>
        <p:spPr bwMode="auto">
          <a:xfrm flipH="1" flipV="1">
            <a:off x="7773915" y="3764447"/>
            <a:ext cx="1551726" cy="730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5" name="Rectangle 61"/>
          <p:cNvSpPr>
            <a:spLocks noChangeArrowheads="1"/>
          </p:cNvSpPr>
          <p:nvPr/>
        </p:nvSpPr>
        <p:spPr bwMode="auto">
          <a:xfrm>
            <a:off x="8549778" y="376444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69" name="Arc 57"/>
          <p:cNvSpPr/>
          <p:nvPr/>
        </p:nvSpPr>
        <p:spPr bwMode="auto">
          <a:xfrm rot="5090164">
            <a:off x="5482970" y="2151423"/>
            <a:ext cx="2254303" cy="4910925"/>
          </a:xfrm>
          <a:custGeom>
            <a:avLst/>
            <a:gdLst>
              <a:gd name="G0" fmla="+- 14321 0 0"/>
              <a:gd name="G1" fmla="+- 17995 0 0"/>
              <a:gd name="G2" fmla="+- 21600 0 0"/>
              <a:gd name="T0" fmla="*/ 26268 w 35921"/>
              <a:gd name="T1" fmla="*/ 0 h 39595"/>
              <a:gd name="T2" fmla="*/ 0 w 35921"/>
              <a:gd name="T3" fmla="*/ 34165 h 39595"/>
              <a:gd name="T4" fmla="*/ 14321 w 35921"/>
              <a:gd name="T5" fmla="*/ 17995 h 39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921" h="39595" fill="none" extrusionOk="0">
                <a:moveTo>
                  <a:pt x="26268" y="-1"/>
                </a:moveTo>
                <a:cubicBezTo>
                  <a:pt x="32297" y="4002"/>
                  <a:pt x="35921" y="10758"/>
                  <a:pt x="35921" y="17995"/>
                </a:cubicBezTo>
                <a:cubicBezTo>
                  <a:pt x="35921" y="29924"/>
                  <a:pt x="26250" y="39595"/>
                  <a:pt x="14321" y="39595"/>
                </a:cubicBezTo>
                <a:cubicBezTo>
                  <a:pt x="9044" y="39595"/>
                  <a:pt x="3950" y="37663"/>
                  <a:pt x="-1" y="34165"/>
                </a:cubicBezTo>
              </a:path>
              <a:path w="35921" h="39595" stroke="0" extrusionOk="0">
                <a:moveTo>
                  <a:pt x="26268" y="-1"/>
                </a:moveTo>
                <a:cubicBezTo>
                  <a:pt x="32297" y="4002"/>
                  <a:pt x="35921" y="10758"/>
                  <a:pt x="35921" y="17995"/>
                </a:cubicBezTo>
                <a:cubicBezTo>
                  <a:pt x="35921" y="29924"/>
                  <a:pt x="26250" y="39595"/>
                  <a:pt x="14321" y="39595"/>
                </a:cubicBezTo>
                <a:cubicBezTo>
                  <a:pt x="9044" y="39595"/>
                  <a:pt x="3950" y="37663"/>
                  <a:pt x="-1" y="34165"/>
                </a:cubicBezTo>
                <a:lnTo>
                  <a:pt x="14321" y="17995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6480810" y="5421243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1" name="Line 55"/>
          <p:cNvSpPr>
            <a:spLocks noChangeShapeType="1"/>
          </p:cNvSpPr>
          <p:nvPr/>
        </p:nvSpPr>
        <p:spPr bwMode="auto">
          <a:xfrm flipV="1">
            <a:off x="4727934" y="3573338"/>
            <a:ext cx="201150" cy="694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 dirty="0"/>
          </a:p>
        </p:txBody>
      </p:sp>
      <p:sp>
        <p:nvSpPr>
          <p:cNvPr id="36" name="Oval 60"/>
          <p:cNvSpPr>
            <a:spLocks noChangeArrowheads="1"/>
          </p:cNvSpPr>
          <p:nvPr/>
        </p:nvSpPr>
        <p:spPr bwMode="auto">
          <a:xfrm>
            <a:off x="8808400" y="2790961"/>
            <a:ext cx="1422415" cy="486742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 (S) S·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37" name="Line 59"/>
          <p:cNvSpPr>
            <a:spLocks noChangeShapeType="1"/>
          </p:cNvSpPr>
          <p:nvPr/>
        </p:nvSpPr>
        <p:spPr bwMode="auto">
          <a:xfrm flipV="1">
            <a:off x="9584262" y="3277704"/>
            <a:ext cx="0" cy="12168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38" name="Rectangle 58"/>
          <p:cNvSpPr>
            <a:spLocks noChangeArrowheads="1"/>
          </p:cNvSpPr>
          <p:nvPr/>
        </p:nvSpPr>
        <p:spPr bwMode="auto">
          <a:xfrm>
            <a:off x="9713572" y="3764447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 dirty="0"/>
          </a:p>
          <a:p>
            <a:pPr eaLnBrk="0" hangingPunct="0"/>
            <a:endParaRPr lang="en-US" altLang="zh-CN" sz="16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9" grpId="0" animBg="1"/>
      <p:bldP spid="70" grpId="0" animBg="1"/>
      <p:bldP spid="71" grpId="0" animBg="1"/>
      <p:bldP spid="36" grpId="0" animBg="1"/>
      <p:bldP spid="37" grpId="0" animBg="1"/>
      <p:bldP spid="3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sz="2400" dirty="0">
                    <a:latin typeface="Cambria Math" panose="02040503050406030204" pitchFamily="18" charset="0"/>
                  </a:rPr>
                  <a:t>项：</a:t>
                </a:r>
                <a:endParaRPr lang="en-US" altLang="zh-CN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288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40" name="Oval 86"/>
          <p:cNvSpPr>
            <a:spLocks noChangeArrowheads="1"/>
          </p:cNvSpPr>
          <p:nvPr/>
        </p:nvSpPr>
        <p:spPr bwMode="auto">
          <a:xfrm>
            <a:off x="4670464" y="2182534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1" name="Line 85"/>
          <p:cNvSpPr>
            <a:spLocks noChangeShapeType="1"/>
          </p:cNvSpPr>
          <p:nvPr/>
        </p:nvSpPr>
        <p:spPr bwMode="auto">
          <a:xfrm>
            <a:off x="5963569" y="2425905"/>
            <a:ext cx="775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2" name="Rectangle 84"/>
          <p:cNvSpPr>
            <a:spLocks noChangeArrowheads="1"/>
          </p:cNvSpPr>
          <p:nvPr/>
        </p:nvSpPr>
        <p:spPr bwMode="auto">
          <a:xfrm>
            <a:off x="6222189" y="2060849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43" name="Line 83"/>
          <p:cNvSpPr>
            <a:spLocks noChangeShapeType="1"/>
          </p:cNvSpPr>
          <p:nvPr/>
        </p:nvSpPr>
        <p:spPr bwMode="auto">
          <a:xfrm>
            <a:off x="4153221" y="2425905"/>
            <a:ext cx="51724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4" name="Oval 82"/>
          <p:cNvSpPr>
            <a:spLocks noChangeArrowheads="1"/>
          </p:cNvSpPr>
          <p:nvPr/>
        </p:nvSpPr>
        <p:spPr bwMode="auto">
          <a:xfrm>
            <a:off x="6739432" y="2182534"/>
            <a:ext cx="1293105" cy="48674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5" name="Line 81"/>
          <p:cNvSpPr>
            <a:spLocks noChangeShapeType="1"/>
          </p:cNvSpPr>
          <p:nvPr/>
        </p:nvSpPr>
        <p:spPr bwMode="auto">
          <a:xfrm>
            <a:off x="5317015" y="2669276"/>
            <a:ext cx="0" cy="4867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46" name="Rectangle 80"/>
          <p:cNvSpPr>
            <a:spLocks noChangeArrowheads="1"/>
          </p:cNvSpPr>
          <p:nvPr/>
        </p:nvSpPr>
        <p:spPr bwMode="auto">
          <a:xfrm>
            <a:off x="5058394" y="279096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7" name="Oval 79"/>
          <p:cNvSpPr>
            <a:spLocks noChangeArrowheads="1"/>
          </p:cNvSpPr>
          <p:nvPr/>
        </p:nvSpPr>
        <p:spPr bwMode="auto">
          <a:xfrm>
            <a:off x="4670464" y="3156018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8" name="Oval 78"/>
          <p:cNvSpPr>
            <a:spLocks noChangeArrowheads="1"/>
          </p:cNvSpPr>
          <p:nvPr/>
        </p:nvSpPr>
        <p:spPr bwMode="auto">
          <a:xfrm>
            <a:off x="6610121" y="3399389"/>
            <a:ext cx="1293105" cy="48674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49" name="Line 77"/>
          <p:cNvSpPr>
            <a:spLocks noChangeShapeType="1"/>
          </p:cNvSpPr>
          <p:nvPr/>
        </p:nvSpPr>
        <p:spPr bwMode="auto">
          <a:xfrm>
            <a:off x="5575636" y="2669277"/>
            <a:ext cx="1163794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0" name="Rectangle 76"/>
          <p:cNvSpPr>
            <a:spLocks noChangeArrowheads="1"/>
          </p:cNvSpPr>
          <p:nvPr/>
        </p:nvSpPr>
        <p:spPr bwMode="auto">
          <a:xfrm>
            <a:off x="5963568" y="266927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1" name="Oval 75"/>
          <p:cNvSpPr>
            <a:spLocks noChangeArrowheads="1"/>
          </p:cNvSpPr>
          <p:nvPr/>
        </p:nvSpPr>
        <p:spPr bwMode="auto">
          <a:xfrm>
            <a:off x="4670464" y="449455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 (·S)S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52" name="Line 74"/>
          <p:cNvSpPr>
            <a:spLocks noChangeShapeType="1"/>
          </p:cNvSpPr>
          <p:nvPr/>
        </p:nvSpPr>
        <p:spPr bwMode="auto">
          <a:xfrm>
            <a:off x="5187705" y="3642761"/>
            <a:ext cx="0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3" name="Line 73"/>
          <p:cNvSpPr>
            <a:spLocks noChangeShapeType="1"/>
          </p:cNvSpPr>
          <p:nvPr/>
        </p:nvSpPr>
        <p:spPr bwMode="auto">
          <a:xfrm flipV="1">
            <a:off x="5446326" y="3642761"/>
            <a:ext cx="0" cy="85179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4" name="Rectangle 72"/>
          <p:cNvSpPr>
            <a:spLocks noChangeArrowheads="1"/>
          </p:cNvSpPr>
          <p:nvPr/>
        </p:nvSpPr>
        <p:spPr bwMode="auto">
          <a:xfrm>
            <a:off x="5575636" y="388613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5" name="Rectangle 71"/>
          <p:cNvSpPr>
            <a:spLocks noChangeArrowheads="1"/>
          </p:cNvSpPr>
          <p:nvPr/>
        </p:nvSpPr>
        <p:spPr bwMode="auto">
          <a:xfrm>
            <a:off x="4929084" y="3886132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56" name="Line 70"/>
          <p:cNvSpPr>
            <a:spLocks noChangeShapeType="1"/>
          </p:cNvSpPr>
          <p:nvPr/>
        </p:nvSpPr>
        <p:spPr bwMode="auto">
          <a:xfrm flipV="1">
            <a:off x="5704947" y="3764447"/>
            <a:ext cx="1034484" cy="730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57" name="Rectangle 69"/>
          <p:cNvSpPr>
            <a:spLocks noChangeArrowheads="1"/>
          </p:cNvSpPr>
          <p:nvPr/>
        </p:nvSpPr>
        <p:spPr bwMode="auto">
          <a:xfrm>
            <a:off x="6092878" y="376444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58" name="Oval 68"/>
          <p:cNvSpPr>
            <a:spLocks noChangeArrowheads="1"/>
          </p:cNvSpPr>
          <p:nvPr/>
        </p:nvSpPr>
        <p:spPr bwMode="auto">
          <a:xfrm>
            <a:off x="6610121" y="449455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 (S·)S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59" name="Line 67"/>
          <p:cNvSpPr>
            <a:spLocks noChangeShapeType="1"/>
          </p:cNvSpPr>
          <p:nvPr/>
        </p:nvSpPr>
        <p:spPr bwMode="auto">
          <a:xfrm flipV="1">
            <a:off x="5963568" y="4737930"/>
            <a:ext cx="64655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0" name="Rectangle 66"/>
          <p:cNvSpPr>
            <a:spLocks noChangeArrowheads="1"/>
          </p:cNvSpPr>
          <p:nvPr/>
        </p:nvSpPr>
        <p:spPr bwMode="auto">
          <a:xfrm>
            <a:off x="6222189" y="4372875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61" name="Oval 65"/>
          <p:cNvSpPr>
            <a:spLocks noChangeArrowheads="1"/>
          </p:cNvSpPr>
          <p:nvPr/>
        </p:nvSpPr>
        <p:spPr bwMode="auto">
          <a:xfrm>
            <a:off x="8937710" y="4494559"/>
            <a:ext cx="1293105" cy="4867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(S)·S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62" name="Line 64"/>
          <p:cNvSpPr>
            <a:spLocks noChangeShapeType="1"/>
          </p:cNvSpPr>
          <p:nvPr/>
        </p:nvSpPr>
        <p:spPr bwMode="auto">
          <a:xfrm flipV="1">
            <a:off x="7903225" y="4737930"/>
            <a:ext cx="103448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3" name="Rectangle 63"/>
          <p:cNvSpPr>
            <a:spLocks noChangeArrowheads="1"/>
          </p:cNvSpPr>
          <p:nvPr/>
        </p:nvSpPr>
        <p:spPr bwMode="auto">
          <a:xfrm>
            <a:off x="8291157" y="4372875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600" b="1"/>
          </a:p>
          <a:p>
            <a:pPr eaLnBrk="0" hangingPunct="0"/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64" name="Line 62"/>
          <p:cNvSpPr>
            <a:spLocks noChangeShapeType="1"/>
          </p:cNvSpPr>
          <p:nvPr/>
        </p:nvSpPr>
        <p:spPr bwMode="auto">
          <a:xfrm flipH="1" flipV="1">
            <a:off x="7773915" y="3764447"/>
            <a:ext cx="1551726" cy="730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5" name="Rectangle 61"/>
          <p:cNvSpPr>
            <a:spLocks noChangeArrowheads="1"/>
          </p:cNvSpPr>
          <p:nvPr/>
        </p:nvSpPr>
        <p:spPr bwMode="auto">
          <a:xfrm>
            <a:off x="8549778" y="3764447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66" name="Oval 60"/>
          <p:cNvSpPr>
            <a:spLocks noChangeArrowheads="1"/>
          </p:cNvSpPr>
          <p:nvPr/>
        </p:nvSpPr>
        <p:spPr bwMode="auto">
          <a:xfrm>
            <a:off x="8808400" y="2790961"/>
            <a:ext cx="1422415" cy="48674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(S) S·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67" name="Line 59"/>
          <p:cNvSpPr>
            <a:spLocks noChangeShapeType="1"/>
          </p:cNvSpPr>
          <p:nvPr/>
        </p:nvSpPr>
        <p:spPr bwMode="auto">
          <a:xfrm flipV="1">
            <a:off x="9584262" y="3277704"/>
            <a:ext cx="0" cy="12168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68" name="Rectangle 58"/>
          <p:cNvSpPr>
            <a:spLocks noChangeArrowheads="1"/>
          </p:cNvSpPr>
          <p:nvPr/>
        </p:nvSpPr>
        <p:spPr bwMode="auto">
          <a:xfrm>
            <a:off x="9713572" y="3764447"/>
            <a:ext cx="129310" cy="24571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600" b="1" dirty="0"/>
          </a:p>
          <a:p>
            <a:pPr eaLnBrk="0" hangingPunct="0"/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69" name="Arc 57"/>
          <p:cNvSpPr/>
          <p:nvPr/>
        </p:nvSpPr>
        <p:spPr bwMode="auto">
          <a:xfrm rot="5090164">
            <a:off x="5482970" y="2151423"/>
            <a:ext cx="2254303" cy="4910925"/>
          </a:xfrm>
          <a:custGeom>
            <a:avLst/>
            <a:gdLst>
              <a:gd name="G0" fmla="+- 14321 0 0"/>
              <a:gd name="G1" fmla="+- 17995 0 0"/>
              <a:gd name="G2" fmla="+- 21600 0 0"/>
              <a:gd name="T0" fmla="*/ 26268 w 35921"/>
              <a:gd name="T1" fmla="*/ 0 h 39595"/>
              <a:gd name="T2" fmla="*/ 0 w 35921"/>
              <a:gd name="T3" fmla="*/ 34165 h 39595"/>
              <a:gd name="T4" fmla="*/ 14321 w 35921"/>
              <a:gd name="T5" fmla="*/ 17995 h 39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921" h="39595" fill="none" extrusionOk="0">
                <a:moveTo>
                  <a:pt x="26268" y="-1"/>
                </a:moveTo>
                <a:cubicBezTo>
                  <a:pt x="32297" y="4002"/>
                  <a:pt x="35921" y="10758"/>
                  <a:pt x="35921" y="17995"/>
                </a:cubicBezTo>
                <a:cubicBezTo>
                  <a:pt x="35921" y="29924"/>
                  <a:pt x="26250" y="39595"/>
                  <a:pt x="14321" y="39595"/>
                </a:cubicBezTo>
                <a:cubicBezTo>
                  <a:pt x="9044" y="39595"/>
                  <a:pt x="3950" y="37663"/>
                  <a:pt x="-1" y="34165"/>
                </a:cubicBezTo>
              </a:path>
              <a:path w="35921" h="39595" stroke="0" extrusionOk="0">
                <a:moveTo>
                  <a:pt x="26268" y="-1"/>
                </a:moveTo>
                <a:cubicBezTo>
                  <a:pt x="32297" y="4002"/>
                  <a:pt x="35921" y="10758"/>
                  <a:pt x="35921" y="17995"/>
                </a:cubicBezTo>
                <a:cubicBezTo>
                  <a:pt x="35921" y="29924"/>
                  <a:pt x="26250" y="39595"/>
                  <a:pt x="14321" y="39595"/>
                </a:cubicBezTo>
                <a:cubicBezTo>
                  <a:pt x="9044" y="39595"/>
                  <a:pt x="3950" y="37663"/>
                  <a:pt x="-1" y="34165"/>
                </a:cubicBezTo>
                <a:lnTo>
                  <a:pt x="14321" y="17995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/>
          </a:p>
        </p:txBody>
      </p:sp>
      <p:sp>
        <p:nvSpPr>
          <p:cNvPr id="70" name="Rectangle 56"/>
          <p:cNvSpPr>
            <a:spLocks noChangeArrowheads="1"/>
          </p:cNvSpPr>
          <p:nvPr/>
        </p:nvSpPr>
        <p:spPr bwMode="auto">
          <a:xfrm>
            <a:off x="6480810" y="5421243"/>
            <a:ext cx="129310" cy="24337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71" name="Line 55"/>
          <p:cNvSpPr>
            <a:spLocks noChangeShapeType="1"/>
          </p:cNvSpPr>
          <p:nvPr/>
        </p:nvSpPr>
        <p:spPr bwMode="auto">
          <a:xfrm flipV="1">
            <a:off x="4727934" y="3573338"/>
            <a:ext cx="201150" cy="694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6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为下面文法构造</a:t>
                </a:r>
                <a:r>
                  <a:rPr lang="en-US" altLang="zh-CN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NFA 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3200" dirty="0"/>
              </a:p>
              <a:p>
                <a:pPr>
                  <a:lnSpc>
                    <a:spcPct val="150000"/>
                  </a:lnSpc>
                </a:pPr>
                <a:endParaRPr lang="en-US" altLang="zh-CN" sz="32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 err="1"/>
                  <a:t>LR</a:t>
                </a:r>
                <a:r>
                  <a:rPr lang="en-US" altLang="zh-CN" sz="2400" dirty="0"/>
                  <a:t>(0)</a:t>
                </a:r>
                <a:r>
                  <a:rPr lang="zh-CN" altLang="en-US" sz="2400" dirty="0"/>
                  <a:t>项：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0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     </a:t>
                </a:r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1654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Oval 30"/>
          <p:cNvSpPr>
            <a:spLocks noChangeArrowheads="1"/>
          </p:cNvSpPr>
          <p:nvPr/>
        </p:nvSpPr>
        <p:spPr bwMode="auto">
          <a:xfrm>
            <a:off x="4748650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" name="Line 27"/>
          <p:cNvSpPr>
            <a:spLocks noChangeShapeType="1"/>
          </p:cNvSpPr>
          <p:nvPr/>
        </p:nvSpPr>
        <p:spPr bwMode="auto">
          <a:xfrm>
            <a:off x="4223792" y="2460165"/>
            <a:ext cx="52485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 err="1"/>
                  <a:t>LR</a:t>
                </a:r>
                <a:r>
                  <a:rPr lang="en-US" altLang="zh-CN" sz="2400" dirty="0"/>
                  <a:t>(0)</a:t>
                </a:r>
                <a:r>
                  <a:rPr lang="zh-CN" altLang="en-US" sz="2400" dirty="0"/>
                  <a:t>项：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1654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Oval 30"/>
          <p:cNvSpPr>
            <a:spLocks noChangeArrowheads="1"/>
          </p:cNvSpPr>
          <p:nvPr/>
        </p:nvSpPr>
        <p:spPr bwMode="auto">
          <a:xfrm>
            <a:off x="4748650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6060797" y="2460165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8" name="Rectangle 28"/>
          <p:cNvSpPr>
            <a:spLocks noChangeArrowheads="1"/>
          </p:cNvSpPr>
          <p:nvPr/>
        </p:nvSpPr>
        <p:spPr bwMode="auto">
          <a:xfrm>
            <a:off x="6323226" y="1988840"/>
            <a:ext cx="131215" cy="3172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 dirty="0"/>
          </a:p>
          <a:p>
            <a:pPr algn="ctr" eaLnBrk="0" hangingPunct="0">
              <a:lnSpc>
                <a:spcPct val="150000"/>
              </a:lnSpc>
            </a:pP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" name="Line 27"/>
          <p:cNvSpPr>
            <a:spLocks noChangeShapeType="1"/>
          </p:cNvSpPr>
          <p:nvPr/>
        </p:nvSpPr>
        <p:spPr bwMode="auto">
          <a:xfrm>
            <a:off x="4223792" y="2460165"/>
            <a:ext cx="52485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6848083" y="2145949"/>
            <a:ext cx="1312146" cy="628433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→E·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 err="1"/>
                  <a:t>LR</a:t>
                </a:r>
                <a:r>
                  <a:rPr lang="en-US" altLang="zh-CN" sz="2400" dirty="0"/>
                  <a:t>(0)</a:t>
                </a:r>
                <a:r>
                  <a:rPr lang="zh-CN" altLang="en-US" sz="2400" dirty="0"/>
                  <a:t>项：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1654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Oval 30"/>
          <p:cNvSpPr>
            <a:spLocks noChangeArrowheads="1"/>
          </p:cNvSpPr>
          <p:nvPr/>
        </p:nvSpPr>
        <p:spPr bwMode="auto">
          <a:xfrm>
            <a:off x="4748650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6060797" y="2460165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8" name="Rectangle 28"/>
          <p:cNvSpPr>
            <a:spLocks noChangeArrowheads="1"/>
          </p:cNvSpPr>
          <p:nvPr/>
        </p:nvSpPr>
        <p:spPr bwMode="auto">
          <a:xfrm>
            <a:off x="6323226" y="1988840"/>
            <a:ext cx="131215" cy="3172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 dirty="0"/>
          </a:p>
          <a:p>
            <a:pPr algn="ctr" eaLnBrk="0" hangingPunct="0">
              <a:lnSpc>
                <a:spcPct val="150000"/>
              </a:lnSpc>
            </a:pP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" name="Line 27"/>
          <p:cNvSpPr>
            <a:spLocks noChangeShapeType="1"/>
          </p:cNvSpPr>
          <p:nvPr/>
        </p:nvSpPr>
        <p:spPr bwMode="auto">
          <a:xfrm>
            <a:off x="4223792" y="2460165"/>
            <a:ext cx="52485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6848083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E’ →E·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1" name="Line 25"/>
          <p:cNvSpPr>
            <a:spLocks noChangeShapeType="1"/>
          </p:cNvSpPr>
          <p:nvPr/>
        </p:nvSpPr>
        <p:spPr bwMode="auto">
          <a:xfrm>
            <a:off x="5404724" y="2774383"/>
            <a:ext cx="0" cy="6284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2" name="Rectangle 24"/>
          <p:cNvSpPr>
            <a:spLocks noChangeArrowheads="1"/>
          </p:cNvSpPr>
          <p:nvPr/>
        </p:nvSpPr>
        <p:spPr bwMode="auto">
          <a:xfrm>
            <a:off x="5142295" y="2931491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3" name="Oval 23"/>
          <p:cNvSpPr>
            <a:spLocks noChangeArrowheads="1"/>
          </p:cNvSpPr>
          <p:nvPr/>
        </p:nvSpPr>
        <p:spPr bwMode="auto">
          <a:xfrm>
            <a:off x="4748650" y="3402816"/>
            <a:ext cx="1312146" cy="628433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→·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E+n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14" name="Oval 22"/>
          <p:cNvSpPr>
            <a:spLocks noChangeArrowheads="1"/>
          </p:cNvSpPr>
          <p:nvPr/>
        </p:nvSpPr>
        <p:spPr bwMode="auto">
          <a:xfrm>
            <a:off x="6848083" y="3402816"/>
            <a:ext cx="1312146" cy="628433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5535939" y="2774382"/>
            <a:ext cx="1443361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6454441" y="2774383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 err="1"/>
                  <a:t>LR</a:t>
                </a:r>
                <a:r>
                  <a:rPr lang="en-US" altLang="zh-CN" sz="2400" dirty="0"/>
                  <a:t>(0)</a:t>
                </a:r>
                <a:r>
                  <a:rPr lang="zh-CN" altLang="en-US" sz="2400" dirty="0"/>
                  <a:t>项：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1654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Oval 30"/>
          <p:cNvSpPr>
            <a:spLocks noChangeArrowheads="1"/>
          </p:cNvSpPr>
          <p:nvPr/>
        </p:nvSpPr>
        <p:spPr bwMode="auto">
          <a:xfrm>
            <a:off x="4748650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6060797" y="2460165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8" name="Rectangle 28"/>
          <p:cNvSpPr>
            <a:spLocks noChangeArrowheads="1"/>
          </p:cNvSpPr>
          <p:nvPr/>
        </p:nvSpPr>
        <p:spPr bwMode="auto">
          <a:xfrm>
            <a:off x="6323226" y="1988840"/>
            <a:ext cx="131215" cy="3172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 dirty="0"/>
          </a:p>
          <a:p>
            <a:pPr algn="ctr" eaLnBrk="0" hangingPunct="0">
              <a:lnSpc>
                <a:spcPct val="150000"/>
              </a:lnSpc>
            </a:pP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" name="Line 27"/>
          <p:cNvSpPr>
            <a:spLocks noChangeShapeType="1"/>
          </p:cNvSpPr>
          <p:nvPr/>
        </p:nvSpPr>
        <p:spPr bwMode="auto">
          <a:xfrm>
            <a:off x="4223792" y="2460165"/>
            <a:ext cx="52485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6848083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E’ →E·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1" name="Line 25"/>
          <p:cNvSpPr>
            <a:spLocks noChangeShapeType="1"/>
          </p:cNvSpPr>
          <p:nvPr/>
        </p:nvSpPr>
        <p:spPr bwMode="auto">
          <a:xfrm>
            <a:off x="5404724" y="2774383"/>
            <a:ext cx="0" cy="6284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2" name="Rectangle 24"/>
          <p:cNvSpPr>
            <a:spLocks noChangeArrowheads="1"/>
          </p:cNvSpPr>
          <p:nvPr/>
        </p:nvSpPr>
        <p:spPr bwMode="auto">
          <a:xfrm>
            <a:off x="5142295" y="2931491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3" name="Oval 23"/>
          <p:cNvSpPr>
            <a:spLocks noChangeArrowheads="1"/>
          </p:cNvSpPr>
          <p:nvPr/>
        </p:nvSpPr>
        <p:spPr bwMode="auto">
          <a:xfrm>
            <a:off x="4748650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→·E+n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4" name="Oval 22"/>
          <p:cNvSpPr>
            <a:spLocks noChangeArrowheads="1"/>
          </p:cNvSpPr>
          <p:nvPr/>
        </p:nvSpPr>
        <p:spPr bwMode="auto">
          <a:xfrm>
            <a:off x="6848083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5535939" y="2774382"/>
            <a:ext cx="1443361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6454441" y="2774383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7" name="Line 7"/>
          <p:cNvSpPr>
            <a:spLocks noChangeShapeType="1"/>
          </p:cNvSpPr>
          <p:nvPr/>
        </p:nvSpPr>
        <p:spPr bwMode="auto">
          <a:xfrm>
            <a:off x="8160230" y="3717032"/>
            <a:ext cx="65607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8291445" y="324570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9" name="Oval 5"/>
          <p:cNvSpPr>
            <a:spLocks noChangeArrowheads="1"/>
          </p:cNvSpPr>
          <p:nvPr/>
        </p:nvSpPr>
        <p:spPr bwMode="auto">
          <a:xfrm>
            <a:off x="8816302" y="3402816"/>
            <a:ext cx="1312146" cy="628433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→n·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 err="1"/>
                  <a:t>LR</a:t>
                </a:r>
                <a:r>
                  <a:rPr lang="en-US" altLang="zh-CN" sz="2400" dirty="0"/>
                  <a:t>(0)</a:t>
                </a:r>
                <a:r>
                  <a:rPr lang="zh-CN" altLang="en-US" sz="2400" dirty="0"/>
                  <a:t>项：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1654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Oval 30"/>
          <p:cNvSpPr>
            <a:spLocks noChangeArrowheads="1"/>
          </p:cNvSpPr>
          <p:nvPr/>
        </p:nvSpPr>
        <p:spPr bwMode="auto">
          <a:xfrm>
            <a:off x="4748650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6060797" y="2460165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8" name="Rectangle 28"/>
          <p:cNvSpPr>
            <a:spLocks noChangeArrowheads="1"/>
          </p:cNvSpPr>
          <p:nvPr/>
        </p:nvSpPr>
        <p:spPr bwMode="auto">
          <a:xfrm>
            <a:off x="6323226" y="1988840"/>
            <a:ext cx="131215" cy="3172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 dirty="0"/>
          </a:p>
          <a:p>
            <a:pPr algn="ctr" eaLnBrk="0" hangingPunct="0">
              <a:lnSpc>
                <a:spcPct val="150000"/>
              </a:lnSpc>
            </a:pP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" name="Line 27"/>
          <p:cNvSpPr>
            <a:spLocks noChangeShapeType="1"/>
          </p:cNvSpPr>
          <p:nvPr/>
        </p:nvSpPr>
        <p:spPr bwMode="auto">
          <a:xfrm>
            <a:off x="4223792" y="2460165"/>
            <a:ext cx="52485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6848083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E’ →E·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1" name="Line 25"/>
          <p:cNvSpPr>
            <a:spLocks noChangeShapeType="1"/>
          </p:cNvSpPr>
          <p:nvPr/>
        </p:nvSpPr>
        <p:spPr bwMode="auto">
          <a:xfrm>
            <a:off x="5404724" y="2774383"/>
            <a:ext cx="0" cy="6284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2" name="Rectangle 24"/>
          <p:cNvSpPr>
            <a:spLocks noChangeArrowheads="1"/>
          </p:cNvSpPr>
          <p:nvPr/>
        </p:nvSpPr>
        <p:spPr bwMode="auto">
          <a:xfrm>
            <a:off x="5142295" y="2931491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3" name="Oval 23"/>
          <p:cNvSpPr>
            <a:spLocks noChangeArrowheads="1"/>
          </p:cNvSpPr>
          <p:nvPr/>
        </p:nvSpPr>
        <p:spPr bwMode="auto">
          <a:xfrm>
            <a:off x="4748650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→·E+n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4" name="Oval 22"/>
          <p:cNvSpPr>
            <a:spLocks noChangeArrowheads="1"/>
          </p:cNvSpPr>
          <p:nvPr/>
        </p:nvSpPr>
        <p:spPr bwMode="auto">
          <a:xfrm>
            <a:off x="6848083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5535939" y="2774382"/>
            <a:ext cx="1443361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6454441" y="2774383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48650" y="4816792"/>
            <a:ext cx="1312146" cy="628433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E·+n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5404724" y="4031249"/>
            <a:ext cx="0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5535939" y="4345466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grpSp>
        <p:nvGrpSpPr>
          <p:cNvPr id="24" name="Group 10"/>
          <p:cNvGrpSpPr/>
          <p:nvPr/>
        </p:nvGrpSpPr>
        <p:grpSpPr bwMode="auto">
          <a:xfrm rot="20624279">
            <a:off x="4750108" y="3762353"/>
            <a:ext cx="397288" cy="551893"/>
            <a:chOff x="1750" y="3378"/>
            <a:chExt cx="6833" cy="2807"/>
          </a:xfrm>
        </p:grpSpPr>
        <p:sp>
          <p:nvSpPr>
            <p:cNvPr id="33" name="Arc 12"/>
            <p:cNvSpPr/>
            <p:nvPr/>
          </p:nvSpPr>
          <p:spPr bwMode="auto">
            <a:xfrm rot="5356494">
              <a:off x="3866" y="1467"/>
              <a:ext cx="2602" cy="6833"/>
            </a:xfrm>
            <a:custGeom>
              <a:avLst/>
              <a:gdLst>
                <a:gd name="G0" fmla="+- 14321 0 0"/>
                <a:gd name="G1" fmla="+- 17995 0 0"/>
                <a:gd name="G2" fmla="+- 21600 0 0"/>
                <a:gd name="T0" fmla="*/ 26268 w 35921"/>
                <a:gd name="T1" fmla="*/ 0 h 39595"/>
                <a:gd name="T2" fmla="*/ 0 w 35921"/>
                <a:gd name="T3" fmla="*/ 34165 h 39595"/>
                <a:gd name="T4" fmla="*/ 14321 w 35921"/>
                <a:gd name="T5" fmla="*/ 17995 h 39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21" h="39595" fill="none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</a:path>
                <a:path w="35921" h="39595" stroke="0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  <a:lnTo>
                    <a:pt x="14321" y="179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600" b="1"/>
            </a:p>
          </p:txBody>
        </p:sp>
        <p:sp>
          <p:nvSpPr>
            <p:cNvPr id="34" name="Line 11"/>
            <p:cNvSpPr>
              <a:spLocks noChangeShapeType="1"/>
            </p:cNvSpPr>
            <p:nvPr/>
          </p:nvSpPr>
          <p:spPr bwMode="auto">
            <a:xfrm flipV="1">
              <a:off x="2583" y="3378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600" b="1"/>
            </a:p>
          </p:txBody>
        </p:sp>
      </p:grp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6060797" y="3717032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6060797" y="324570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7" name="Line 7"/>
          <p:cNvSpPr>
            <a:spLocks noChangeShapeType="1"/>
          </p:cNvSpPr>
          <p:nvPr/>
        </p:nvSpPr>
        <p:spPr bwMode="auto">
          <a:xfrm>
            <a:off x="8160230" y="3717032"/>
            <a:ext cx="65607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8291445" y="324570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9" name="Oval 5"/>
          <p:cNvSpPr>
            <a:spLocks noChangeArrowheads="1"/>
          </p:cNvSpPr>
          <p:nvPr/>
        </p:nvSpPr>
        <p:spPr bwMode="auto">
          <a:xfrm>
            <a:off x="8816302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→n·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4486222" y="418835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5" grpId="0" animBg="1"/>
      <p:bldP spid="26" grpId="0" animBg="1"/>
      <p:bldP spid="3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 err="1"/>
                  <a:t>LR</a:t>
                </a:r>
                <a:r>
                  <a:rPr lang="en-US" altLang="zh-CN" sz="2400" dirty="0"/>
                  <a:t>(0)</a:t>
                </a:r>
                <a:r>
                  <a:rPr lang="zh-CN" altLang="en-US" sz="2400" dirty="0"/>
                  <a:t>项：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1654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Oval 30"/>
          <p:cNvSpPr>
            <a:spLocks noChangeArrowheads="1"/>
          </p:cNvSpPr>
          <p:nvPr/>
        </p:nvSpPr>
        <p:spPr bwMode="auto">
          <a:xfrm>
            <a:off x="4748650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6060797" y="2460165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8" name="Rectangle 28"/>
          <p:cNvSpPr>
            <a:spLocks noChangeArrowheads="1"/>
          </p:cNvSpPr>
          <p:nvPr/>
        </p:nvSpPr>
        <p:spPr bwMode="auto">
          <a:xfrm>
            <a:off x="6323226" y="1988840"/>
            <a:ext cx="131215" cy="3172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 dirty="0"/>
          </a:p>
          <a:p>
            <a:pPr algn="ctr" eaLnBrk="0" hangingPunct="0">
              <a:lnSpc>
                <a:spcPct val="150000"/>
              </a:lnSpc>
            </a:pP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" name="Line 27"/>
          <p:cNvSpPr>
            <a:spLocks noChangeShapeType="1"/>
          </p:cNvSpPr>
          <p:nvPr/>
        </p:nvSpPr>
        <p:spPr bwMode="auto">
          <a:xfrm>
            <a:off x="4223792" y="2460165"/>
            <a:ext cx="52485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6848083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E’ →E·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1" name="Line 25"/>
          <p:cNvSpPr>
            <a:spLocks noChangeShapeType="1"/>
          </p:cNvSpPr>
          <p:nvPr/>
        </p:nvSpPr>
        <p:spPr bwMode="auto">
          <a:xfrm>
            <a:off x="5404724" y="2774383"/>
            <a:ext cx="0" cy="6284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2" name="Rectangle 24"/>
          <p:cNvSpPr>
            <a:spLocks noChangeArrowheads="1"/>
          </p:cNvSpPr>
          <p:nvPr/>
        </p:nvSpPr>
        <p:spPr bwMode="auto">
          <a:xfrm>
            <a:off x="5142295" y="2931491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3" name="Oval 23"/>
          <p:cNvSpPr>
            <a:spLocks noChangeArrowheads="1"/>
          </p:cNvSpPr>
          <p:nvPr/>
        </p:nvSpPr>
        <p:spPr bwMode="auto">
          <a:xfrm>
            <a:off x="4748650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→·E+n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4" name="Oval 22"/>
          <p:cNvSpPr>
            <a:spLocks noChangeArrowheads="1"/>
          </p:cNvSpPr>
          <p:nvPr/>
        </p:nvSpPr>
        <p:spPr bwMode="auto">
          <a:xfrm>
            <a:off x="6848083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5535939" y="2774382"/>
            <a:ext cx="1443361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6454441" y="2774383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48650" y="4816792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E·+n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5404724" y="4031249"/>
            <a:ext cx="0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5535939" y="4345466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 flipV="1">
            <a:off x="6060797" y="5131007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6323226" y="4659683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grpSp>
        <p:nvGrpSpPr>
          <p:cNvPr id="24" name="Group 10"/>
          <p:cNvGrpSpPr/>
          <p:nvPr/>
        </p:nvGrpSpPr>
        <p:grpSpPr bwMode="auto">
          <a:xfrm rot="20624279">
            <a:off x="4750108" y="3762353"/>
            <a:ext cx="397288" cy="551893"/>
            <a:chOff x="1750" y="3378"/>
            <a:chExt cx="6833" cy="2807"/>
          </a:xfrm>
        </p:grpSpPr>
        <p:sp>
          <p:nvSpPr>
            <p:cNvPr id="33" name="Arc 12"/>
            <p:cNvSpPr/>
            <p:nvPr/>
          </p:nvSpPr>
          <p:spPr bwMode="auto">
            <a:xfrm rot="5356494">
              <a:off x="3866" y="1467"/>
              <a:ext cx="2602" cy="6833"/>
            </a:xfrm>
            <a:custGeom>
              <a:avLst/>
              <a:gdLst>
                <a:gd name="G0" fmla="+- 14321 0 0"/>
                <a:gd name="G1" fmla="+- 17995 0 0"/>
                <a:gd name="G2" fmla="+- 21600 0 0"/>
                <a:gd name="T0" fmla="*/ 26268 w 35921"/>
                <a:gd name="T1" fmla="*/ 0 h 39595"/>
                <a:gd name="T2" fmla="*/ 0 w 35921"/>
                <a:gd name="T3" fmla="*/ 34165 h 39595"/>
                <a:gd name="T4" fmla="*/ 14321 w 35921"/>
                <a:gd name="T5" fmla="*/ 17995 h 39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21" h="39595" fill="none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</a:path>
                <a:path w="35921" h="39595" stroke="0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  <a:lnTo>
                    <a:pt x="14321" y="179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600" b="1"/>
            </a:p>
          </p:txBody>
        </p:sp>
        <p:sp>
          <p:nvSpPr>
            <p:cNvPr id="34" name="Line 11"/>
            <p:cNvSpPr>
              <a:spLocks noChangeShapeType="1"/>
            </p:cNvSpPr>
            <p:nvPr/>
          </p:nvSpPr>
          <p:spPr bwMode="auto">
            <a:xfrm flipV="1">
              <a:off x="2583" y="3378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600" b="1"/>
            </a:p>
          </p:txBody>
        </p:sp>
      </p:grp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6060797" y="3717032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6060797" y="324570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7" name="Line 7"/>
          <p:cNvSpPr>
            <a:spLocks noChangeShapeType="1"/>
          </p:cNvSpPr>
          <p:nvPr/>
        </p:nvSpPr>
        <p:spPr bwMode="auto">
          <a:xfrm>
            <a:off x="8160230" y="3717032"/>
            <a:ext cx="65607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8291445" y="324570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9" name="Oval 5"/>
          <p:cNvSpPr>
            <a:spLocks noChangeArrowheads="1"/>
          </p:cNvSpPr>
          <p:nvPr/>
        </p:nvSpPr>
        <p:spPr bwMode="auto">
          <a:xfrm>
            <a:off x="8816302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→n·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30" name="Oval 4"/>
          <p:cNvSpPr>
            <a:spLocks noChangeArrowheads="1"/>
          </p:cNvSpPr>
          <p:nvPr/>
        </p:nvSpPr>
        <p:spPr bwMode="auto">
          <a:xfrm>
            <a:off x="6848083" y="4816792"/>
            <a:ext cx="1312146" cy="628433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E+·n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4486222" y="418835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 err="1"/>
                  <a:t>LR</a:t>
                </a:r>
                <a:r>
                  <a:rPr lang="en-US" altLang="zh-CN" sz="2400" dirty="0"/>
                  <a:t>(0)</a:t>
                </a:r>
                <a:r>
                  <a:rPr lang="zh-CN" altLang="en-US" sz="2400" dirty="0"/>
                  <a:t>项：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1654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Oval 30"/>
          <p:cNvSpPr>
            <a:spLocks noChangeArrowheads="1"/>
          </p:cNvSpPr>
          <p:nvPr/>
        </p:nvSpPr>
        <p:spPr bwMode="auto">
          <a:xfrm>
            <a:off x="4748650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6060797" y="2460165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8" name="Rectangle 28"/>
          <p:cNvSpPr>
            <a:spLocks noChangeArrowheads="1"/>
          </p:cNvSpPr>
          <p:nvPr/>
        </p:nvSpPr>
        <p:spPr bwMode="auto">
          <a:xfrm>
            <a:off x="6323226" y="1988840"/>
            <a:ext cx="131215" cy="3172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 dirty="0"/>
          </a:p>
          <a:p>
            <a:pPr algn="ctr" eaLnBrk="0" hangingPunct="0">
              <a:lnSpc>
                <a:spcPct val="150000"/>
              </a:lnSpc>
            </a:pP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" name="Line 27"/>
          <p:cNvSpPr>
            <a:spLocks noChangeShapeType="1"/>
          </p:cNvSpPr>
          <p:nvPr/>
        </p:nvSpPr>
        <p:spPr bwMode="auto">
          <a:xfrm>
            <a:off x="4223792" y="2460165"/>
            <a:ext cx="52485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6848083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E’ →E·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1" name="Line 25"/>
          <p:cNvSpPr>
            <a:spLocks noChangeShapeType="1"/>
          </p:cNvSpPr>
          <p:nvPr/>
        </p:nvSpPr>
        <p:spPr bwMode="auto">
          <a:xfrm>
            <a:off x="5404724" y="2774383"/>
            <a:ext cx="0" cy="6284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2" name="Rectangle 24"/>
          <p:cNvSpPr>
            <a:spLocks noChangeArrowheads="1"/>
          </p:cNvSpPr>
          <p:nvPr/>
        </p:nvSpPr>
        <p:spPr bwMode="auto">
          <a:xfrm>
            <a:off x="5142295" y="2931491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3" name="Oval 23"/>
          <p:cNvSpPr>
            <a:spLocks noChangeArrowheads="1"/>
          </p:cNvSpPr>
          <p:nvPr/>
        </p:nvSpPr>
        <p:spPr bwMode="auto">
          <a:xfrm>
            <a:off x="4748650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→·E+n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4" name="Oval 22"/>
          <p:cNvSpPr>
            <a:spLocks noChangeArrowheads="1"/>
          </p:cNvSpPr>
          <p:nvPr/>
        </p:nvSpPr>
        <p:spPr bwMode="auto">
          <a:xfrm>
            <a:off x="6848083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5535939" y="2774382"/>
            <a:ext cx="1443361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6454441" y="2774383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48650" y="4816792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E·+n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5404724" y="4031249"/>
            <a:ext cx="0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5535939" y="4345466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 flipV="1">
            <a:off x="6060797" y="5131007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6323226" y="4659683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2" name="Line 14"/>
          <p:cNvSpPr>
            <a:spLocks noChangeShapeType="1"/>
          </p:cNvSpPr>
          <p:nvPr/>
        </p:nvSpPr>
        <p:spPr bwMode="auto">
          <a:xfrm flipV="1">
            <a:off x="8160230" y="5131007"/>
            <a:ext cx="65607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8422659" y="4502574"/>
            <a:ext cx="131215" cy="3172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1600" b="1"/>
          </a:p>
          <a:p>
            <a:pPr algn="ctr" eaLnBrk="0" hangingPunct="0">
              <a:lnSpc>
                <a:spcPct val="150000"/>
              </a:lnSpc>
            </a:pPr>
            <a:endParaRPr lang="en-US" altLang="zh-CN" sz="1600" b="1">
              <a:latin typeface="Arial" panose="020B0604020202020204" pitchFamily="34" charset="0"/>
            </a:endParaRPr>
          </a:p>
        </p:txBody>
      </p:sp>
      <p:grpSp>
        <p:nvGrpSpPr>
          <p:cNvPr id="24" name="Group 10"/>
          <p:cNvGrpSpPr/>
          <p:nvPr/>
        </p:nvGrpSpPr>
        <p:grpSpPr bwMode="auto">
          <a:xfrm rot="20624279">
            <a:off x="4750108" y="3762353"/>
            <a:ext cx="397288" cy="551893"/>
            <a:chOff x="1750" y="3378"/>
            <a:chExt cx="6833" cy="2807"/>
          </a:xfrm>
        </p:grpSpPr>
        <p:sp>
          <p:nvSpPr>
            <p:cNvPr id="33" name="Arc 12"/>
            <p:cNvSpPr/>
            <p:nvPr/>
          </p:nvSpPr>
          <p:spPr bwMode="auto">
            <a:xfrm rot="5356494">
              <a:off x="3866" y="1467"/>
              <a:ext cx="2602" cy="6833"/>
            </a:xfrm>
            <a:custGeom>
              <a:avLst/>
              <a:gdLst>
                <a:gd name="G0" fmla="+- 14321 0 0"/>
                <a:gd name="G1" fmla="+- 17995 0 0"/>
                <a:gd name="G2" fmla="+- 21600 0 0"/>
                <a:gd name="T0" fmla="*/ 26268 w 35921"/>
                <a:gd name="T1" fmla="*/ 0 h 39595"/>
                <a:gd name="T2" fmla="*/ 0 w 35921"/>
                <a:gd name="T3" fmla="*/ 34165 h 39595"/>
                <a:gd name="T4" fmla="*/ 14321 w 35921"/>
                <a:gd name="T5" fmla="*/ 17995 h 39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21" h="39595" fill="none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</a:path>
                <a:path w="35921" h="39595" stroke="0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  <a:lnTo>
                    <a:pt x="14321" y="179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600" b="1"/>
            </a:p>
          </p:txBody>
        </p:sp>
        <p:sp>
          <p:nvSpPr>
            <p:cNvPr id="34" name="Line 11"/>
            <p:cNvSpPr>
              <a:spLocks noChangeShapeType="1"/>
            </p:cNvSpPr>
            <p:nvPr/>
          </p:nvSpPr>
          <p:spPr bwMode="auto">
            <a:xfrm flipV="1">
              <a:off x="2583" y="3378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600" b="1"/>
            </a:p>
          </p:txBody>
        </p:sp>
      </p:grp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6060797" y="3717032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6060797" y="324570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7" name="Line 7"/>
          <p:cNvSpPr>
            <a:spLocks noChangeShapeType="1"/>
          </p:cNvSpPr>
          <p:nvPr/>
        </p:nvSpPr>
        <p:spPr bwMode="auto">
          <a:xfrm>
            <a:off x="8160230" y="3717032"/>
            <a:ext cx="65607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8291445" y="324570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9" name="Oval 5"/>
          <p:cNvSpPr>
            <a:spLocks noChangeArrowheads="1"/>
          </p:cNvSpPr>
          <p:nvPr/>
        </p:nvSpPr>
        <p:spPr bwMode="auto">
          <a:xfrm>
            <a:off x="8816302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→n·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30" name="Oval 4"/>
          <p:cNvSpPr>
            <a:spLocks noChangeArrowheads="1"/>
          </p:cNvSpPr>
          <p:nvPr/>
        </p:nvSpPr>
        <p:spPr bwMode="auto">
          <a:xfrm>
            <a:off x="6848083" y="4816792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E+·n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31" name="Oval 3"/>
          <p:cNvSpPr>
            <a:spLocks noChangeArrowheads="1"/>
          </p:cNvSpPr>
          <p:nvPr/>
        </p:nvSpPr>
        <p:spPr bwMode="auto">
          <a:xfrm>
            <a:off x="8816302" y="4816792"/>
            <a:ext cx="1312146" cy="628433"/>
          </a:xfrm>
          <a:prstGeom prst="ellipse">
            <a:avLst/>
          </a:prstGeom>
          <a:solidFill>
            <a:srgbClr val="FFFF99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 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E+n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4486222" y="418835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 err="1"/>
                  <a:t>LR</a:t>
                </a:r>
                <a:r>
                  <a:rPr lang="en-US" altLang="zh-CN" sz="2400" dirty="0"/>
                  <a:t>(0)</a:t>
                </a:r>
                <a:r>
                  <a:rPr lang="zh-CN" altLang="en-US" sz="2400" dirty="0"/>
                  <a:t>项：</a:t>
                </a:r>
                <a:endParaRPr lang="en-US" altLang="zh-CN" sz="2400" dirty="0"/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    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  	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000" dirty="0">
                    <a:ea typeface="Cambria Math" panose="02040503050406030204" pitchFamily="18" charset="0"/>
                  </a:rPr>
                  <a:t>		</a:t>
                </a:r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20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9443" y="1286290"/>
                <a:ext cx="8496944" cy="5311062"/>
              </a:xfrm>
              <a:blipFill rotWithShape="1">
                <a:blip r:embed="rId2"/>
                <a:stretch>
                  <a:fillRect l="-170" t="-271" r="-166" b="-16541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p:sp>
        <p:nvSpPr>
          <p:cNvPr id="6" name="Oval 30"/>
          <p:cNvSpPr>
            <a:spLocks noChangeArrowheads="1"/>
          </p:cNvSpPr>
          <p:nvPr/>
        </p:nvSpPr>
        <p:spPr bwMode="auto">
          <a:xfrm>
            <a:off x="4748650" y="2145949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6060797" y="2460165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8" name="Rectangle 28"/>
          <p:cNvSpPr>
            <a:spLocks noChangeArrowheads="1"/>
          </p:cNvSpPr>
          <p:nvPr/>
        </p:nvSpPr>
        <p:spPr bwMode="auto">
          <a:xfrm>
            <a:off x="6323226" y="1988840"/>
            <a:ext cx="131215" cy="3172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 dirty="0"/>
          </a:p>
          <a:p>
            <a:pPr algn="ctr" eaLnBrk="0" hangingPunct="0">
              <a:lnSpc>
                <a:spcPct val="150000"/>
              </a:lnSpc>
            </a:pP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9" name="Line 27"/>
          <p:cNvSpPr>
            <a:spLocks noChangeShapeType="1"/>
          </p:cNvSpPr>
          <p:nvPr/>
        </p:nvSpPr>
        <p:spPr bwMode="auto">
          <a:xfrm>
            <a:off x="4223792" y="2460165"/>
            <a:ext cx="52485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6848083" y="2145949"/>
            <a:ext cx="1312146" cy="628433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→E·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11" name="Line 25"/>
          <p:cNvSpPr>
            <a:spLocks noChangeShapeType="1"/>
          </p:cNvSpPr>
          <p:nvPr/>
        </p:nvSpPr>
        <p:spPr bwMode="auto">
          <a:xfrm>
            <a:off x="5404724" y="2774383"/>
            <a:ext cx="0" cy="62843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2" name="Rectangle 24"/>
          <p:cNvSpPr>
            <a:spLocks noChangeArrowheads="1"/>
          </p:cNvSpPr>
          <p:nvPr/>
        </p:nvSpPr>
        <p:spPr bwMode="auto">
          <a:xfrm>
            <a:off x="5142295" y="2931491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3" name="Oval 23"/>
          <p:cNvSpPr>
            <a:spLocks noChangeArrowheads="1"/>
          </p:cNvSpPr>
          <p:nvPr/>
        </p:nvSpPr>
        <p:spPr bwMode="auto">
          <a:xfrm>
            <a:off x="4748650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→·E+n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4" name="Oval 22"/>
          <p:cNvSpPr>
            <a:spLocks noChangeArrowheads="1"/>
          </p:cNvSpPr>
          <p:nvPr/>
        </p:nvSpPr>
        <p:spPr bwMode="auto">
          <a:xfrm>
            <a:off x="6848083" y="3402816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→·n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5535939" y="2774382"/>
            <a:ext cx="1443361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6" name="Rectangle 20"/>
          <p:cNvSpPr>
            <a:spLocks noChangeArrowheads="1"/>
          </p:cNvSpPr>
          <p:nvPr/>
        </p:nvSpPr>
        <p:spPr bwMode="auto">
          <a:xfrm>
            <a:off x="6454441" y="2774383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17" name="Oval 19"/>
          <p:cNvSpPr>
            <a:spLocks noChangeArrowheads="1"/>
          </p:cNvSpPr>
          <p:nvPr/>
        </p:nvSpPr>
        <p:spPr bwMode="auto">
          <a:xfrm>
            <a:off x="4748650" y="4816792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E·+n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5404724" y="4031249"/>
            <a:ext cx="0" cy="78554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5535939" y="4345466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 flipV="1">
            <a:off x="6060797" y="5131007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6323226" y="4659683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2" name="Line 14"/>
          <p:cNvSpPr>
            <a:spLocks noChangeShapeType="1"/>
          </p:cNvSpPr>
          <p:nvPr/>
        </p:nvSpPr>
        <p:spPr bwMode="auto">
          <a:xfrm flipV="1">
            <a:off x="8160230" y="5131007"/>
            <a:ext cx="65607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3" name="Rectangle 13"/>
          <p:cNvSpPr>
            <a:spLocks noChangeArrowheads="1"/>
          </p:cNvSpPr>
          <p:nvPr/>
        </p:nvSpPr>
        <p:spPr bwMode="auto">
          <a:xfrm>
            <a:off x="8422659" y="4502574"/>
            <a:ext cx="131215" cy="31723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1600" b="1"/>
          </a:p>
          <a:p>
            <a:pPr algn="ctr" eaLnBrk="0" hangingPunct="0">
              <a:lnSpc>
                <a:spcPct val="150000"/>
              </a:lnSpc>
            </a:pPr>
            <a:endParaRPr lang="en-US" altLang="zh-CN" sz="1600" b="1">
              <a:latin typeface="Arial" panose="020B0604020202020204" pitchFamily="34" charset="0"/>
            </a:endParaRPr>
          </a:p>
        </p:txBody>
      </p:sp>
      <p:grpSp>
        <p:nvGrpSpPr>
          <p:cNvPr id="24" name="Group 10"/>
          <p:cNvGrpSpPr/>
          <p:nvPr/>
        </p:nvGrpSpPr>
        <p:grpSpPr bwMode="auto">
          <a:xfrm rot="20624279">
            <a:off x="4750108" y="3762353"/>
            <a:ext cx="397288" cy="551893"/>
            <a:chOff x="1750" y="3378"/>
            <a:chExt cx="6833" cy="2807"/>
          </a:xfrm>
        </p:grpSpPr>
        <p:sp>
          <p:nvSpPr>
            <p:cNvPr id="33" name="Arc 12"/>
            <p:cNvSpPr/>
            <p:nvPr/>
          </p:nvSpPr>
          <p:spPr bwMode="auto">
            <a:xfrm rot="5356494">
              <a:off x="3866" y="1467"/>
              <a:ext cx="2602" cy="6833"/>
            </a:xfrm>
            <a:custGeom>
              <a:avLst/>
              <a:gdLst>
                <a:gd name="G0" fmla="+- 14321 0 0"/>
                <a:gd name="G1" fmla="+- 17995 0 0"/>
                <a:gd name="G2" fmla="+- 21600 0 0"/>
                <a:gd name="T0" fmla="*/ 26268 w 35921"/>
                <a:gd name="T1" fmla="*/ 0 h 39595"/>
                <a:gd name="T2" fmla="*/ 0 w 35921"/>
                <a:gd name="T3" fmla="*/ 34165 h 39595"/>
                <a:gd name="T4" fmla="*/ 14321 w 35921"/>
                <a:gd name="T5" fmla="*/ 17995 h 39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21" h="39595" fill="none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</a:path>
                <a:path w="35921" h="39595" stroke="0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  <a:lnTo>
                    <a:pt x="14321" y="179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600" b="1"/>
            </a:p>
          </p:txBody>
        </p:sp>
        <p:sp>
          <p:nvSpPr>
            <p:cNvPr id="34" name="Line 11"/>
            <p:cNvSpPr>
              <a:spLocks noChangeShapeType="1"/>
            </p:cNvSpPr>
            <p:nvPr/>
          </p:nvSpPr>
          <p:spPr bwMode="auto">
            <a:xfrm flipV="1">
              <a:off x="2583" y="3378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600" b="1"/>
            </a:p>
          </p:txBody>
        </p:sp>
      </p:grpSp>
      <p:sp>
        <p:nvSpPr>
          <p:cNvPr id="25" name="Line 9"/>
          <p:cNvSpPr>
            <a:spLocks noChangeShapeType="1"/>
          </p:cNvSpPr>
          <p:nvPr/>
        </p:nvSpPr>
        <p:spPr bwMode="auto">
          <a:xfrm>
            <a:off x="6060797" y="3717032"/>
            <a:ext cx="7872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6" name="Rectangle 8"/>
          <p:cNvSpPr>
            <a:spLocks noChangeArrowheads="1"/>
          </p:cNvSpPr>
          <p:nvPr/>
        </p:nvSpPr>
        <p:spPr bwMode="auto">
          <a:xfrm>
            <a:off x="6060797" y="324570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27" name="Line 7"/>
          <p:cNvSpPr>
            <a:spLocks noChangeShapeType="1"/>
          </p:cNvSpPr>
          <p:nvPr/>
        </p:nvSpPr>
        <p:spPr bwMode="auto">
          <a:xfrm>
            <a:off x="8160230" y="3717032"/>
            <a:ext cx="65607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ctr">
              <a:lnSpc>
                <a:spcPct val="150000"/>
              </a:lnSpc>
            </a:pPr>
            <a:endParaRPr lang="zh-CN" altLang="en-US" sz="1600" b="1"/>
          </a:p>
        </p:txBody>
      </p:sp>
      <p:sp>
        <p:nvSpPr>
          <p:cNvPr id="28" name="Rectangle 6"/>
          <p:cNvSpPr>
            <a:spLocks noChangeArrowheads="1"/>
          </p:cNvSpPr>
          <p:nvPr/>
        </p:nvSpPr>
        <p:spPr bwMode="auto">
          <a:xfrm>
            <a:off x="8291445" y="324570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29" name="Oval 5"/>
          <p:cNvSpPr>
            <a:spLocks noChangeArrowheads="1"/>
          </p:cNvSpPr>
          <p:nvPr/>
        </p:nvSpPr>
        <p:spPr bwMode="auto">
          <a:xfrm>
            <a:off x="8816302" y="3402816"/>
            <a:ext cx="1312146" cy="628433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→n·</a:t>
            </a:r>
            <a:endParaRPr lang="en-US" altLang="zh-CN" sz="1600" b="1" dirty="0">
              <a:latin typeface="Arial" panose="020B0604020202020204" pitchFamily="34" charset="0"/>
            </a:endParaRPr>
          </a:p>
        </p:txBody>
      </p:sp>
      <p:sp>
        <p:nvSpPr>
          <p:cNvPr id="30" name="Oval 4"/>
          <p:cNvSpPr>
            <a:spLocks noChangeArrowheads="1"/>
          </p:cNvSpPr>
          <p:nvPr/>
        </p:nvSpPr>
        <p:spPr bwMode="auto">
          <a:xfrm>
            <a:off x="6848083" y="4816792"/>
            <a:ext cx="1312146" cy="6284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E+·n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31" name="Oval 3"/>
          <p:cNvSpPr>
            <a:spLocks noChangeArrowheads="1"/>
          </p:cNvSpPr>
          <p:nvPr/>
        </p:nvSpPr>
        <p:spPr bwMode="auto">
          <a:xfrm>
            <a:off x="8816302" y="4816792"/>
            <a:ext cx="1312146" cy="628433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E+n·</a:t>
            </a:r>
            <a:endParaRPr lang="en-US" altLang="zh-CN" sz="1600" b="1">
              <a:latin typeface="Arial" panose="020B0604020202020204" pitchFamily="34" charset="0"/>
            </a:endParaRPr>
          </a:p>
        </p:txBody>
      </p:sp>
      <p:sp>
        <p:nvSpPr>
          <p:cNvPr id="32" name="Rectangle 2"/>
          <p:cNvSpPr>
            <a:spLocks noChangeArrowheads="1"/>
          </p:cNvSpPr>
          <p:nvPr/>
        </p:nvSpPr>
        <p:spPr bwMode="auto">
          <a:xfrm>
            <a:off x="4486222" y="4188358"/>
            <a:ext cx="131215" cy="31421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>
              <a:lnSpc>
                <a:spcPct val="150000"/>
              </a:lnSpc>
            </a:pPr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NFA</a:t>
            </a:r>
            <a:r>
              <a:rPr lang="zh-CN" altLang="en-US" dirty="0">
                <a:latin typeface="+mn-ea"/>
                <a:ea typeface="+mn-ea"/>
                <a:cs typeface="Arial" panose="020B0604020202020204" pitchFamily="34" charset="0"/>
              </a:rPr>
              <a:t>确定化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为了完成分析，需要对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NFA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子集法</a:t>
            </a:r>
            <a:r>
              <a:rPr lang="zh-CN" altLang="en-US" dirty="0"/>
              <a:t>进行确定化成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DFA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1498805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760645" y="1537772"/>
            <a:ext cx="5591939" cy="3331388"/>
            <a:chOff x="5299627" y="1443922"/>
            <a:chExt cx="5043751" cy="2475392"/>
          </a:xfrm>
        </p:grpSpPr>
        <p:grpSp>
          <p:nvGrpSpPr>
            <p:cNvPr id="39" name="Group 54"/>
            <p:cNvGrpSpPr/>
            <p:nvPr/>
          </p:nvGrpSpPr>
          <p:grpSpPr bwMode="auto">
            <a:xfrm>
              <a:off x="5299627" y="1443922"/>
              <a:ext cx="4972836" cy="2475392"/>
              <a:chOff x="992" y="1596"/>
              <a:chExt cx="8548" cy="4712"/>
            </a:xfrm>
          </p:grpSpPr>
          <p:sp>
            <p:nvSpPr>
              <p:cNvPr id="40" name="Oval 86"/>
              <p:cNvSpPr>
                <a:spLocks noChangeArrowheads="1"/>
              </p:cNvSpPr>
              <p:nvPr/>
            </p:nvSpPr>
            <p:spPr bwMode="auto">
              <a:xfrm>
                <a:off x="1800" y="1752"/>
                <a:ext cx="1800" cy="62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algn="ctr"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S’ →·S</a:t>
                </a:r>
                <a:endParaRPr lang="en-US" altLang="zh-CN" sz="12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Line 85"/>
              <p:cNvSpPr>
                <a:spLocks noChangeShapeType="1"/>
              </p:cNvSpPr>
              <p:nvPr/>
            </p:nvSpPr>
            <p:spPr bwMode="auto">
              <a:xfrm>
                <a:off x="3600" y="2064"/>
                <a:ext cx="10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42" name="Rectangle 84"/>
              <p:cNvSpPr>
                <a:spLocks noChangeArrowheads="1"/>
              </p:cNvSpPr>
              <p:nvPr/>
            </p:nvSpPr>
            <p:spPr bwMode="auto">
              <a:xfrm>
                <a:off x="3960" y="1596"/>
                <a:ext cx="180" cy="31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b="1"/>
              </a:p>
              <a:p>
                <a:pPr eaLnBrk="0" hangingPunct="0"/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Line 83"/>
              <p:cNvSpPr>
                <a:spLocks noChangeShapeType="1"/>
              </p:cNvSpPr>
              <p:nvPr/>
            </p:nvSpPr>
            <p:spPr bwMode="auto">
              <a:xfrm>
                <a:off x="1080" y="2064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44" name="Oval 82"/>
              <p:cNvSpPr>
                <a:spLocks noChangeArrowheads="1"/>
              </p:cNvSpPr>
              <p:nvPr/>
            </p:nvSpPr>
            <p:spPr bwMode="auto">
              <a:xfrm>
                <a:off x="4680" y="1752"/>
                <a:ext cx="1800" cy="62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algn="ctr"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S’ →S·</a:t>
                </a:r>
                <a:endParaRPr lang="en-US" altLang="zh-CN" sz="12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45" name="Line 81"/>
              <p:cNvSpPr>
                <a:spLocks noChangeShapeType="1"/>
              </p:cNvSpPr>
              <p:nvPr/>
            </p:nvSpPr>
            <p:spPr bwMode="auto">
              <a:xfrm>
                <a:off x="2700" y="2376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46" name="Rectangle 80"/>
              <p:cNvSpPr>
                <a:spLocks noChangeArrowheads="1"/>
              </p:cNvSpPr>
              <p:nvPr/>
            </p:nvSpPr>
            <p:spPr bwMode="auto">
              <a:xfrm>
                <a:off x="2340" y="2532"/>
                <a:ext cx="18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47" name="Oval 79"/>
              <p:cNvSpPr>
                <a:spLocks noChangeArrowheads="1"/>
              </p:cNvSpPr>
              <p:nvPr/>
            </p:nvSpPr>
            <p:spPr bwMode="auto">
              <a:xfrm>
                <a:off x="1800" y="3000"/>
                <a:ext cx="1800" cy="62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→·(S)S</a:t>
                </a:r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Oval 78"/>
              <p:cNvSpPr>
                <a:spLocks noChangeArrowheads="1"/>
              </p:cNvSpPr>
              <p:nvPr/>
            </p:nvSpPr>
            <p:spPr bwMode="auto">
              <a:xfrm>
                <a:off x="4500" y="3312"/>
                <a:ext cx="1800" cy="62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algn="ctr"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→·</a:t>
                </a:r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Line 77"/>
              <p:cNvSpPr>
                <a:spLocks noChangeShapeType="1"/>
              </p:cNvSpPr>
              <p:nvPr/>
            </p:nvSpPr>
            <p:spPr bwMode="auto">
              <a:xfrm>
                <a:off x="3060" y="2376"/>
                <a:ext cx="1620" cy="10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50" name="Rectangle 76"/>
              <p:cNvSpPr>
                <a:spLocks noChangeArrowheads="1"/>
              </p:cNvSpPr>
              <p:nvPr/>
            </p:nvSpPr>
            <p:spPr bwMode="auto">
              <a:xfrm>
                <a:off x="3600" y="2376"/>
                <a:ext cx="18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51" name="Oval 75"/>
              <p:cNvSpPr>
                <a:spLocks noChangeArrowheads="1"/>
              </p:cNvSpPr>
              <p:nvPr/>
            </p:nvSpPr>
            <p:spPr bwMode="auto">
              <a:xfrm>
                <a:off x="1800" y="4716"/>
                <a:ext cx="1800" cy="62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→ (·S)S</a:t>
                </a:r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Line 74"/>
              <p:cNvSpPr>
                <a:spLocks noChangeShapeType="1"/>
              </p:cNvSpPr>
              <p:nvPr/>
            </p:nvSpPr>
            <p:spPr bwMode="auto">
              <a:xfrm>
                <a:off x="2520" y="3624"/>
                <a:ext cx="0" cy="10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53" name="Line 73"/>
              <p:cNvSpPr>
                <a:spLocks noChangeShapeType="1"/>
              </p:cNvSpPr>
              <p:nvPr/>
            </p:nvSpPr>
            <p:spPr bwMode="auto">
              <a:xfrm flipV="1">
                <a:off x="2880" y="3624"/>
                <a:ext cx="0" cy="10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54" name="Rectangle 72"/>
              <p:cNvSpPr>
                <a:spLocks noChangeArrowheads="1"/>
              </p:cNvSpPr>
              <p:nvPr/>
            </p:nvSpPr>
            <p:spPr bwMode="auto">
              <a:xfrm>
                <a:off x="3060" y="3936"/>
                <a:ext cx="18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55" name="Rectangle 71"/>
              <p:cNvSpPr>
                <a:spLocks noChangeArrowheads="1"/>
              </p:cNvSpPr>
              <p:nvPr/>
            </p:nvSpPr>
            <p:spPr bwMode="auto">
              <a:xfrm>
                <a:off x="2160" y="3936"/>
                <a:ext cx="18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56" name="Line 70"/>
              <p:cNvSpPr>
                <a:spLocks noChangeShapeType="1"/>
              </p:cNvSpPr>
              <p:nvPr/>
            </p:nvSpPr>
            <p:spPr bwMode="auto">
              <a:xfrm flipV="1">
                <a:off x="3240" y="3780"/>
                <a:ext cx="1440" cy="9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57" name="Rectangle 69"/>
              <p:cNvSpPr>
                <a:spLocks noChangeArrowheads="1"/>
              </p:cNvSpPr>
              <p:nvPr/>
            </p:nvSpPr>
            <p:spPr bwMode="auto">
              <a:xfrm>
                <a:off x="3780" y="3780"/>
                <a:ext cx="18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58" name="Oval 68"/>
              <p:cNvSpPr>
                <a:spLocks noChangeArrowheads="1"/>
              </p:cNvSpPr>
              <p:nvPr/>
            </p:nvSpPr>
            <p:spPr bwMode="auto">
              <a:xfrm>
                <a:off x="4500" y="4716"/>
                <a:ext cx="1800" cy="62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→ (S·)S</a:t>
                </a:r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59" name="Line 67"/>
              <p:cNvSpPr>
                <a:spLocks noChangeShapeType="1"/>
              </p:cNvSpPr>
              <p:nvPr/>
            </p:nvSpPr>
            <p:spPr bwMode="auto">
              <a:xfrm flipV="1">
                <a:off x="3600" y="5028"/>
                <a:ext cx="90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60" name="Rectangle 66"/>
              <p:cNvSpPr>
                <a:spLocks noChangeArrowheads="1"/>
              </p:cNvSpPr>
              <p:nvPr/>
            </p:nvSpPr>
            <p:spPr bwMode="auto">
              <a:xfrm>
                <a:off x="3960" y="4560"/>
                <a:ext cx="180" cy="31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b="1"/>
              </a:p>
              <a:p>
                <a:pPr eaLnBrk="0" hangingPunct="0"/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61" name="Oval 65"/>
              <p:cNvSpPr>
                <a:spLocks noChangeArrowheads="1"/>
              </p:cNvSpPr>
              <p:nvPr/>
            </p:nvSpPr>
            <p:spPr bwMode="auto">
              <a:xfrm>
                <a:off x="7740" y="4716"/>
                <a:ext cx="1800" cy="62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→ (S)·S</a:t>
                </a:r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62" name="Line 64"/>
              <p:cNvSpPr>
                <a:spLocks noChangeShapeType="1"/>
              </p:cNvSpPr>
              <p:nvPr/>
            </p:nvSpPr>
            <p:spPr bwMode="auto">
              <a:xfrm flipV="1">
                <a:off x="6300" y="5028"/>
                <a:ext cx="14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63" name="Rectangle 63"/>
              <p:cNvSpPr>
                <a:spLocks noChangeArrowheads="1"/>
              </p:cNvSpPr>
              <p:nvPr/>
            </p:nvSpPr>
            <p:spPr bwMode="auto">
              <a:xfrm>
                <a:off x="6840" y="4560"/>
                <a:ext cx="180" cy="31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altLang="zh-CN" sz="1200" b="1"/>
              </a:p>
              <a:p>
                <a:pPr eaLnBrk="0" hangingPunct="0"/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64" name="Line 62"/>
              <p:cNvSpPr>
                <a:spLocks noChangeShapeType="1"/>
              </p:cNvSpPr>
              <p:nvPr/>
            </p:nvSpPr>
            <p:spPr bwMode="auto">
              <a:xfrm flipH="1" flipV="1">
                <a:off x="6120" y="3780"/>
                <a:ext cx="2160" cy="9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65" name="Rectangle 61"/>
              <p:cNvSpPr>
                <a:spLocks noChangeArrowheads="1"/>
              </p:cNvSpPr>
              <p:nvPr/>
            </p:nvSpPr>
            <p:spPr bwMode="auto">
              <a:xfrm>
                <a:off x="7200" y="3780"/>
                <a:ext cx="18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66" name="Oval 60"/>
              <p:cNvSpPr>
                <a:spLocks noChangeArrowheads="1"/>
              </p:cNvSpPr>
              <p:nvPr/>
            </p:nvSpPr>
            <p:spPr bwMode="auto">
              <a:xfrm>
                <a:off x="7560" y="2532"/>
                <a:ext cx="1980" cy="62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→ (S) S·</a:t>
                </a:r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67" name="Line 59"/>
              <p:cNvSpPr>
                <a:spLocks noChangeShapeType="1"/>
              </p:cNvSpPr>
              <p:nvPr/>
            </p:nvSpPr>
            <p:spPr bwMode="auto">
              <a:xfrm flipV="1">
                <a:off x="8640" y="3156"/>
                <a:ext cx="0" cy="15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68" name="Rectangle 58"/>
              <p:cNvSpPr>
                <a:spLocks noChangeArrowheads="1"/>
              </p:cNvSpPr>
              <p:nvPr/>
            </p:nvSpPr>
            <p:spPr bwMode="auto">
              <a:xfrm>
                <a:off x="8820" y="3780"/>
                <a:ext cx="180" cy="31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endParaRPr lang="en-US" altLang="zh-CN" sz="1200" b="1"/>
              </a:p>
              <a:p>
                <a:pPr eaLnBrk="0" hangingPunct="0"/>
                <a:endParaRPr lang="en-US" altLang="zh-CN" sz="1200" b="1">
                  <a:latin typeface="Arial" panose="020B0604020202020204" pitchFamily="34" charset="0"/>
                </a:endParaRPr>
              </a:p>
            </p:txBody>
          </p:sp>
          <p:sp>
            <p:nvSpPr>
              <p:cNvPr id="69" name="Arc 57"/>
              <p:cNvSpPr/>
              <p:nvPr/>
            </p:nvSpPr>
            <p:spPr bwMode="auto">
              <a:xfrm rot="5090164">
                <a:off x="2966" y="1360"/>
                <a:ext cx="2974" cy="6922"/>
              </a:xfrm>
              <a:custGeom>
                <a:avLst/>
                <a:gdLst>
                  <a:gd name="G0" fmla="+- 14321 0 0"/>
                  <a:gd name="G1" fmla="+- 17995 0 0"/>
                  <a:gd name="G2" fmla="+- 21600 0 0"/>
                  <a:gd name="T0" fmla="*/ 26268 w 35921"/>
                  <a:gd name="T1" fmla="*/ 0 h 39595"/>
                  <a:gd name="T2" fmla="*/ 0 w 35921"/>
                  <a:gd name="T3" fmla="*/ 34165 h 39595"/>
                  <a:gd name="T4" fmla="*/ 14321 w 35921"/>
                  <a:gd name="T5" fmla="*/ 17995 h 39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921" h="39595" fill="none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</a:path>
                  <a:path w="35921" h="39595" stroke="0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  <a:lnTo>
                      <a:pt x="14321" y="17995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70" name="Rectangle 56"/>
              <p:cNvSpPr>
                <a:spLocks noChangeArrowheads="1"/>
              </p:cNvSpPr>
              <p:nvPr/>
            </p:nvSpPr>
            <p:spPr bwMode="auto">
              <a:xfrm>
                <a:off x="4320" y="5904"/>
                <a:ext cx="180" cy="31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71" name="Line 55"/>
              <p:cNvSpPr>
                <a:spLocks noChangeShapeType="1"/>
              </p:cNvSpPr>
              <p:nvPr/>
            </p:nvSpPr>
            <p:spPr bwMode="auto">
              <a:xfrm flipV="1">
                <a:off x="1800" y="3468"/>
                <a:ext cx="180" cy="1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</p:grpSp>
        <p:sp>
          <p:nvSpPr>
            <p:cNvPr id="74" name="文本框 73"/>
            <p:cNvSpPr txBox="1"/>
            <p:nvPr/>
          </p:nvSpPr>
          <p:spPr>
            <a:xfrm>
              <a:off x="6529939" y="1532618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1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8207560" y="1532618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2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6504085" y="219097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3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8050487" y="236077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4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6503554" y="310358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5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113103" y="3087767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6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9983338" y="3087767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7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9941589" y="1937640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FF0000"/>
                  </a:solidFill>
                </a:rPr>
                <a:t>8</a:t>
              </a:r>
              <a:endParaRPr lang="zh-CN" altLang="en-US" sz="12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2" name="内容占位符 3"/>
              <p:cNvGraphicFramePr/>
              <p:nvPr/>
            </p:nvGraphicFramePr>
            <p:xfrm>
              <a:off x="1072962" y="3573016"/>
              <a:ext cx="4355604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7552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521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9208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2" name="内容占位符 3"/>
              <p:cNvGraphicFramePr/>
              <p:nvPr/>
            </p:nvGraphicFramePr>
            <p:xfrm>
              <a:off x="1072962" y="3573016"/>
              <a:ext cx="4355604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755205"/>
                    <a:gridCol w="1152128"/>
                    <a:gridCol w="864096"/>
                    <a:gridCol w="792088"/>
                    <a:gridCol w="792087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4" name="矩形: 圆角 83"/>
          <p:cNvSpPr/>
          <p:nvPr/>
        </p:nvSpPr>
        <p:spPr bwMode="auto">
          <a:xfrm>
            <a:off x="1142131" y="4005064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5" name="矩形: 圆角 84"/>
          <p:cNvSpPr/>
          <p:nvPr/>
        </p:nvSpPr>
        <p:spPr bwMode="auto">
          <a:xfrm>
            <a:off x="1900175" y="4005064"/>
            <a:ext cx="936104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6" name="矩形: 圆角 85"/>
          <p:cNvSpPr/>
          <p:nvPr/>
        </p:nvSpPr>
        <p:spPr bwMode="auto">
          <a:xfrm>
            <a:off x="3052303" y="4005064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7" name="矩形: 圆角 86"/>
          <p:cNvSpPr/>
          <p:nvPr/>
        </p:nvSpPr>
        <p:spPr bwMode="auto">
          <a:xfrm>
            <a:off x="4712326" y="4011463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8" name="矩形: 圆角 87"/>
          <p:cNvSpPr/>
          <p:nvPr/>
        </p:nvSpPr>
        <p:spPr bwMode="auto">
          <a:xfrm>
            <a:off x="1142131" y="4363549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9" name="矩形: 圆角 88"/>
          <p:cNvSpPr/>
          <p:nvPr/>
        </p:nvSpPr>
        <p:spPr bwMode="auto">
          <a:xfrm>
            <a:off x="1972183" y="4363549"/>
            <a:ext cx="864096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0" name="矩形: 圆角 89"/>
          <p:cNvSpPr/>
          <p:nvPr/>
        </p:nvSpPr>
        <p:spPr bwMode="auto">
          <a:xfrm>
            <a:off x="3211380" y="4363549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1" name="矩形: 圆角 90"/>
          <p:cNvSpPr/>
          <p:nvPr/>
        </p:nvSpPr>
        <p:spPr bwMode="auto">
          <a:xfrm>
            <a:off x="4712326" y="4363549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2" name="矩形: 圆角 91"/>
          <p:cNvSpPr/>
          <p:nvPr/>
        </p:nvSpPr>
        <p:spPr bwMode="auto">
          <a:xfrm>
            <a:off x="1142131" y="4722037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3" name="矩形: 圆角 92"/>
          <p:cNvSpPr/>
          <p:nvPr/>
        </p:nvSpPr>
        <p:spPr bwMode="auto">
          <a:xfrm>
            <a:off x="2133221" y="4722037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4" name="矩形: 圆角 93"/>
          <p:cNvSpPr/>
          <p:nvPr/>
        </p:nvSpPr>
        <p:spPr bwMode="auto">
          <a:xfrm>
            <a:off x="1139652" y="5080525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5" name="矩形: 圆角 94"/>
          <p:cNvSpPr/>
          <p:nvPr/>
        </p:nvSpPr>
        <p:spPr bwMode="auto">
          <a:xfrm>
            <a:off x="2061213" y="5080525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6" name="矩形: 圆角 95"/>
          <p:cNvSpPr/>
          <p:nvPr/>
        </p:nvSpPr>
        <p:spPr bwMode="auto">
          <a:xfrm>
            <a:off x="3951821" y="5080525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7" name="矩形: 圆角 96"/>
          <p:cNvSpPr/>
          <p:nvPr/>
        </p:nvSpPr>
        <p:spPr bwMode="auto">
          <a:xfrm>
            <a:off x="1161492" y="5433815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8" name="矩形: 圆角 97"/>
          <p:cNvSpPr/>
          <p:nvPr/>
        </p:nvSpPr>
        <p:spPr bwMode="auto">
          <a:xfrm>
            <a:off x="1900175" y="5433815"/>
            <a:ext cx="1008112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9" name="矩形: 圆角 98"/>
          <p:cNvSpPr/>
          <p:nvPr/>
        </p:nvSpPr>
        <p:spPr bwMode="auto">
          <a:xfrm>
            <a:off x="3121472" y="5433815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00" name="矩形: 圆角 99"/>
          <p:cNvSpPr/>
          <p:nvPr/>
        </p:nvSpPr>
        <p:spPr bwMode="auto">
          <a:xfrm>
            <a:off x="4721049" y="5433815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01" name="矩形: 圆角 100"/>
          <p:cNvSpPr/>
          <p:nvPr/>
        </p:nvSpPr>
        <p:spPr bwMode="auto">
          <a:xfrm>
            <a:off x="1139652" y="5778833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02" name="矩形: 圆角 101"/>
          <p:cNvSpPr/>
          <p:nvPr/>
        </p:nvSpPr>
        <p:spPr bwMode="auto">
          <a:xfrm>
            <a:off x="2044191" y="5792284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54"/>
          <p:cNvGrpSpPr/>
          <p:nvPr/>
        </p:nvGrpSpPr>
        <p:grpSpPr bwMode="auto">
          <a:xfrm>
            <a:off x="5349658" y="1443923"/>
            <a:ext cx="4922806" cy="2473291"/>
            <a:chOff x="1078" y="1596"/>
            <a:chExt cx="8462" cy="4708"/>
          </a:xfrm>
        </p:grpSpPr>
        <p:sp>
          <p:nvSpPr>
            <p:cNvPr id="40" name="Oval 86"/>
            <p:cNvSpPr>
              <a:spLocks noChangeArrowheads="1"/>
            </p:cNvSpPr>
            <p:nvPr/>
          </p:nvSpPr>
          <p:spPr bwMode="auto">
            <a:xfrm>
              <a:off x="180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1" name="Line 85"/>
            <p:cNvSpPr>
              <a:spLocks noChangeShapeType="1"/>
            </p:cNvSpPr>
            <p:nvPr/>
          </p:nvSpPr>
          <p:spPr bwMode="auto">
            <a:xfrm>
              <a:off x="3600" y="206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2" name="Rectangle 84"/>
            <p:cNvSpPr>
              <a:spLocks noChangeArrowheads="1"/>
            </p:cNvSpPr>
            <p:nvPr/>
          </p:nvSpPr>
          <p:spPr bwMode="auto">
            <a:xfrm>
              <a:off x="3960" y="159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3" name="Line 83"/>
            <p:cNvSpPr>
              <a:spLocks noChangeShapeType="1"/>
            </p:cNvSpPr>
            <p:nvPr/>
          </p:nvSpPr>
          <p:spPr bwMode="auto">
            <a:xfrm>
              <a:off x="1080" y="206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4" name="Oval 82"/>
            <p:cNvSpPr>
              <a:spLocks noChangeArrowheads="1"/>
            </p:cNvSpPr>
            <p:nvPr/>
          </p:nvSpPr>
          <p:spPr bwMode="auto">
            <a:xfrm>
              <a:off x="468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5" name="Line 81"/>
            <p:cNvSpPr>
              <a:spLocks noChangeShapeType="1"/>
            </p:cNvSpPr>
            <p:nvPr/>
          </p:nvSpPr>
          <p:spPr bwMode="auto">
            <a:xfrm>
              <a:off x="2700" y="2376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6" name="Rectangle 80"/>
            <p:cNvSpPr>
              <a:spLocks noChangeArrowheads="1"/>
            </p:cNvSpPr>
            <p:nvPr/>
          </p:nvSpPr>
          <p:spPr bwMode="auto">
            <a:xfrm>
              <a:off x="2340" y="253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7" name="Oval 79"/>
            <p:cNvSpPr>
              <a:spLocks noChangeArrowheads="1"/>
            </p:cNvSpPr>
            <p:nvPr/>
          </p:nvSpPr>
          <p:spPr bwMode="auto">
            <a:xfrm>
              <a:off x="1800" y="3000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8" name="Oval 78"/>
            <p:cNvSpPr>
              <a:spLocks noChangeArrowheads="1"/>
            </p:cNvSpPr>
            <p:nvPr/>
          </p:nvSpPr>
          <p:spPr bwMode="auto">
            <a:xfrm>
              <a:off x="4500" y="331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9" name="Line 77"/>
            <p:cNvSpPr>
              <a:spLocks noChangeShapeType="1"/>
            </p:cNvSpPr>
            <p:nvPr/>
          </p:nvSpPr>
          <p:spPr bwMode="auto">
            <a:xfrm>
              <a:off x="3060" y="2376"/>
              <a:ext cx="162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0" name="Rectangle 76"/>
            <p:cNvSpPr>
              <a:spLocks noChangeArrowheads="1"/>
            </p:cNvSpPr>
            <p:nvPr/>
          </p:nvSpPr>
          <p:spPr bwMode="auto">
            <a:xfrm>
              <a:off x="360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1" name="Oval 75"/>
            <p:cNvSpPr>
              <a:spLocks noChangeArrowheads="1"/>
            </p:cNvSpPr>
            <p:nvPr/>
          </p:nvSpPr>
          <p:spPr bwMode="auto">
            <a:xfrm>
              <a:off x="18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(·S)S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2" name="Line 74"/>
            <p:cNvSpPr>
              <a:spLocks noChangeShapeType="1"/>
            </p:cNvSpPr>
            <p:nvPr/>
          </p:nvSpPr>
          <p:spPr bwMode="auto">
            <a:xfrm>
              <a:off x="252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3" name="Line 73"/>
            <p:cNvSpPr>
              <a:spLocks noChangeShapeType="1"/>
            </p:cNvSpPr>
            <p:nvPr/>
          </p:nvSpPr>
          <p:spPr bwMode="auto">
            <a:xfrm flipV="1">
              <a:off x="288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4" name="Rectangle 72"/>
            <p:cNvSpPr>
              <a:spLocks noChangeArrowheads="1"/>
            </p:cNvSpPr>
            <p:nvPr/>
          </p:nvSpPr>
          <p:spPr bwMode="auto">
            <a:xfrm>
              <a:off x="30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5" name="Rectangle 71"/>
            <p:cNvSpPr>
              <a:spLocks noChangeArrowheads="1"/>
            </p:cNvSpPr>
            <p:nvPr/>
          </p:nvSpPr>
          <p:spPr bwMode="auto">
            <a:xfrm>
              <a:off x="21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6" name="Line 70"/>
            <p:cNvSpPr>
              <a:spLocks noChangeShapeType="1"/>
            </p:cNvSpPr>
            <p:nvPr/>
          </p:nvSpPr>
          <p:spPr bwMode="auto">
            <a:xfrm flipV="1">
              <a:off x="3240" y="3780"/>
              <a:ext cx="144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7" name="Rectangle 69"/>
            <p:cNvSpPr>
              <a:spLocks noChangeArrowheads="1"/>
            </p:cNvSpPr>
            <p:nvPr/>
          </p:nvSpPr>
          <p:spPr bwMode="auto">
            <a:xfrm>
              <a:off x="378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8" name="Oval 68"/>
            <p:cNvSpPr>
              <a:spLocks noChangeArrowheads="1"/>
            </p:cNvSpPr>
            <p:nvPr/>
          </p:nvSpPr>
          <p:spPr bwMode="auto">
            <a:xfrm>
              <a:off x="45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(S·)S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9" name="Line 67"/>
            <p:cNvSpPr>
              <a:spLocks noChangeShapeType="1"/>
            </p:cNvSpPr>
            <p:nvPr/>
          </p:nvSpPr>
          <p:spPr bwMode="auto">
            <a:xfrm flipV="1">
              <a:off x="3600" y="502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0" name="Rectangle 66"/>
            <p:cNvSpPr>
              <a:spLocks noChangeArrowheads="1"/>
            </p:cNvSpPr>
            <p:nvPr/>
          </p:nvSpPr>
          <p:spPr bwMode="auto">
            <a:xfrm>
              <a:off x="396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1" name="Oval 65"/>
            <p:cNvSpPr>
              <a:spLocks noChangeArrowheads="1"/>
            </p:cNvSpPr>
            <p:nvPr/>
          </p:nvSpPr>
          <p:spPr bwMode="auto">
            <a:xfrm>
              <a:off x="774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(S)·S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 flipV="1">
              <a:off x="6300" y="5028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3" name="Rectangle 63"/>
            <p:cNvSpPr>
              <a:spLocks noChangeArrowheads="1"/>
            </p:cNvSpPr>
            <p:nvPr/>
          </p:nvSpPr>
          <p:spPr bwMode="auto">
            <a:xfrm>
              <a:off x="684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4" name="Line 62"/>
            <p:cNvSpPr>
              <a:spLocks noChangeShapeType="1"/>
            </p:cNvSpPr>
            <p:nvPr/>
          </p:nvSpPr>
          <p:spPr bwMode="auto">
            <a:xfrm flipH="1" flipV="1">
              <a:off x="6120" y="3780"/>
              <a:ext cx="216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72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66" name="Oval 60"/>
            <p:cNvSpPr>
              <a:spLocks noChangeArrowheads="1"/>
            </p:cNvSpPr>
            <p:nvPr/>
          </p:nvSpPr>
          <p:spPr bwMode="auto">
            <a:xfrm>
              <a:off x="7560" y="2532"/>
              <a:ext cx="198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 S·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7" name="Line 59"/>
            <p:cNvSpPr>
              <a:spLocks noChangeShapeType="1"/>
            </p:cNvSpPr>
            <p:nvPr/>
          </p:nvSpPr>
          <p:spPr bwMode="auto">
            <a:xfrm flipV="1">
              <a:off x="8640" y="3156"/>
              <a:ext cx="0" cy="1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8" name="Rectangle 58"/>
            <p:cNvSpPr>
              <a:spLocks noChangeArrowheads="1"/>
            </p:cNvSpPr>
            <p:nvPr/>
          </p:nvSpPr>
          <p:spPr bwMode="auto">
            <a:xfrm>
              <a:off x="8820" y="378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9" name="Arc 57"/>
            <p:cNvSpPr/>
            <p:nvPr/>
          </p:nvSpPr>
          <p:spPr bwMode="auto">
            <a:xfrm rot="5090164">
              <a:off x="3006" y="1397"/>
              <a:ext cx="2979" cy="6836"/>
            </a:xfrm>
            <a:custGeom>
              <a:avLst/>
              <a:gdLst>
                <a:gd name="G0" fmla="+- 14321 0 0"/>
                <a:gd name="G1" fmla="+- 17995 0 0"/>
                <a:gd name="G2" fmla="+- 21600 0 0"/>
                <a:gd name="T0" fmla="*/ 26268 w 35921"/>
                <a:gd name="T1" fmla="*/ 0 h 39595"/>
                <a:gd name="T2" fmla="*/ 0 w 35921"/>
                <a:gd name="T3" fmla="*/ 34165 h 39595"/>
                <a:gd name="T4" fmla="*/ 14321 w 35921"/>
                <a:gd name="T5" fmla="*/ 17995 h 39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21" h="39595" fill="none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</a:path>
                <a:path w="35921" h="39595" stroke="0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  <a:lnTo>
                    <a:pt x="14321" y="179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0" name="Rectangle 56"/>
            <p:cNvSpPr>
              <a:spLocks noChangeArrowheads="1"/>
            </p:cNvSpPr>
            <p:nvPr/>
          </p:nvSpPr>
          <p:spPr bwMode="auto">
            <a:xfrm>
              <a:off x="4320" y="590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71" name="Line 55"/>
            <p:cNvSpPr>
              <a:spLocks noChangeShapeType="1"/>
            </p:cNvSpPr>
            <p:nvPr/>
          </p:nvSpPr>
          <p:spPr bwMode="auto">
            <a:xfrm flipV="1">
              <a:off x="1800" y="3468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</p:grpSp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1498805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auto">
          <a:xfrm>
            <a:off x="5945951" y="4077072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045556" y="4152303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 dirty="0"/>
          </a:p>
          <a:p>
            <a:pPr eaLnBrk="0" hangingPunct="0"/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8" name="Oval 33"/>
          <p:cNvSpPr>
            <a:spLocks noChangeArrowheads="1"/>
          </p:cNvSpPr>
          <p:nvPr/>
        </p:nvSpPr>
        <p:spPr bwMode="auto">
          <a:xfrm>
            <a:off x="6742787" y="4453226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9" name="Line 32"/>
          <p:cNvSpPr>
            <a:spLocks noChangeShapeType="1"/>
          </p:cNvSpPr>
          <p:nvPr/>
        </p:nvSpPr>
        <p:spPr bwMode="auto">
          <a:xfrm>
            <a:off x="5547532" y="4377995"/>
            <a:ext cx="3984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3" name="内容占位符 3"/>
              <p:cNvGraphicFramePr/>
              <p:nvPr/>
            </p:nvGraphicFramePr>
            <p:xfrm>
              <a:off x="910736" y="3429000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927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95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137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1375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3" name="内容占位符 3"/>
              <p:cNvGraphicFramePr/>
              <p:nvPr/>
            </p:nvGraphicFramePr>
            <p:xfrm>
              <a:off x="910736" y="3429000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/>
                    <a:gridCol w="892742"/>
                    <a:gridCol w="669556"/>
                    <a:gridCol w="613760"/>
                    <a:gridCol w="613759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4" name="文本框 73"/>
          <p:cNvSpPr txBox="1"/>
          <p:nvPr/>
        </p:nvSpPr>
        <p:spPr>
          <a:xfrm>
            <a:off x="6529939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207560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504085" y="21909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050487" y="23607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503554" y="310358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8113103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983338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941589" y="193764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54"/>
          <p:cNvGrpSpPr/>
          <p:nvPr/>
        </p:nvGrpSpPr>
        <p:grpSpPr bwMode="auto">
          <a:xfrm>
            <a:off x="5349658" y="1443923"/>
            <a:ext cx="4922806" cy="2473291"/>
            <a:chOff x="1078" y="1596"/>
            <a:chExt cx="8462" cy="4708"/>
          </a:xfrm>
        </p:grpSpPr>
        <p:sp>
          <p:nvSpPr>
            <p:cNvPr id="40" name="Oval 86"/>
            <p:cNvSpPr>
              <a:spLocks noChangeArrowheads="1"/>
            </p:cNvSpPr>
            <p:nvPr/>
          </p:nvSpPr>
          <p:spPr bwMode="auto">
            <a:xfrm>
              <a:off x="180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1" name="Line 85"/>
            <p:cNvSpPr>
              <a:spLocks noChangeShapeType="1"/>
            </p:cNvSpPr>
            <p:nvPr/>
          </p:nvSpPr>
          <p:spPr bwMode="auto">
            <a:xfrm>
              <a:off x="3600" y="206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2" name="Rectangle 84"/>
            <p:cNvSpPr>
              <a:spLocks noChangeArrowheads="1"/>
            </p:cNvSpPr>
            <p:nvPr/>
          </p:nvSpPr>
          <p:spPr bwMode="auto">
            <a:xfrm>
              <a:off x="3960" y="159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3" name="Line 83"/>
            <p:cNvSpPr>
              <a:spLocks noChangeShapeType="1"/>
            </p:cNvSpPr>
            <p:nvPr/>
          </p:nvSpPr>
          <p:spPr bwMode="auto">
            <a:xfrm>
              <a:off x="1080" y="206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4" name="Oval 82"/>
            <p:cNvSpPr>
              <a:spLocks noChangeArrowheads="1"/>
            </p:cNvSpPr>
            <p:nvPr/>
          </p:nvSpPr>
          <p:spPr bwMode="auto">
            <a:xfrm>
              <a:off x="468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5" name="Line 81"/>
            <p:cNvSpPr>
              <a:spLocks noChangeShapeType="1"/>
            </p:cNvSpPr>
            <p:nvPr/>
          </p:nvSpPr>
          <p:spPr bwMode="auto">
            <a:xfrm>
              <a:off x="2700" y="2376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6" name="Rectangle 80"/>
            <p:cNvSpPr>
              <a:spLocks noChangeArrowheads="1"/>
            </p:cNvSpPr>
            <p:nvPr/>
          </p:nvSpPr>
          <p:spPr bwMode="auto">
            <a:xfrm>
              <a:off x="2340" y="253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7" name="Oval 79"/>
            <p:cNvSpPr>
              <a:spLocks noChangeArrowheads="1"/>
            </p:cNvSpPr>
            <p:nvPr/>
          </p:nvSpPr>
          <p:spPr bwMode="auto">
            <a:xfrm>
              <a:off x="1800" y="3000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8" name="Oval 78"/>
            <p:cNvSpPr>
              <a:spLocks noChangeArrowheads="1"/>
            </p:cNvSpPr>
            <p:nvPr/>
          </p:nvSpPr>
          <p:spPr bwMode="auto">
            <a:xfrm>
              <a:off x="4500" y="331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9" name="Line 77"/>
            <p:cNvSpPr>
              <a:spLocks noChangeShapeType="1"/>
            </p:cNvSpPr>
            <p:nvPr/>
          </p:nvSpPr>
          <p:spPr bwMode="auto">
            <a:xfrm>
              <a:off x="3060" y="2376"/>
              <a:ext cx="162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0" name="Rectangle 76"/>
            <p:cNvSpPr>
              <a:spLocks noChangeArrowheads="1"/>
            </p:cNvSpPr>
            <p:nvPr/>
          </p:nvSpPr>
          <p:spPr bwMode="auto">
            <a:xfrm>
              <a:off x="360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1" name="Oval 75"/>
            <p:cNvSpPr>
              <a:spLocks noChangeArrowheads="1"/>
            </p:cNvSpPr>
            <p:nvPr/>
          </p:nvSpPr>
          <p:spPr bwMode="auto">
            <a:xfrm>
              <a:off x="18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(·S)S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2" name="Line 74"/>
            <p:cNvSpPr>
              <a:spLocks noChangeShapeType="1"/>
            </p:cNvSpPr>
            <p:nvPr/>
          </p:nvSpPr>
          <p:spPr bwMode="auto">
            <a:xfrm>
              <a:off x="252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3" name="Line 73"/>
            <p:cNvSpPr>
              <a:spLocks noChangeShapeType="1"/>
            </p:cNvSpPr>
            <p:nvPr/>
          </p:nvSpPr>
          <p:spPr bwMode="auto">
            <a:xfrm flipV="1">
              <a:off x="288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4" name="Rectangle 72"/>
            <p:cNvSpPr>
              <a:spLocks noChangeArrowheads="1"/>
            </p:cNvSpPr>
            <p:nvPr/>
          </p:nvSpPr>
          <p:spPr bwMode="auto">
            <a:xfrm>
              <a:off x="30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5" name="Rectangle 71"/>
            <p:cNvSpPr>
              <a:spLocks noChangeArrowheads="1"/>
            </p:cNvSpPr>
            <p:nvPr/>
          </p:nvSpPr>
          <p:spPr bwMode="auto">
            <a:xfrm>
              <a:off x="21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6" name="Line 70"/>
            <p:cNvSpPr>
              <a:spLocks noChangeShapeType="1"/>
            </p:cNvSpPr>
            <p:nvPr/>
          </p:nvSpPr>
          <p:spPr bwMode="auto">
            <a:xfrm flipV="1">
              <a:off x="3240" y="3780"/>
              <a:ext cx="144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7" name="Rectangle 69"/>
            <p:cNvSpPr>
              <a:spLocks noChangeArrowheads="1"/>
            </p:cNvSpPr>
            <p:nvPr/>
          </p:nvSpPr>
          <p:spPr bwMode="auto">
            <a:xfrm>
              <a:off x="378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8" name="Oval 68"/>
            <p:cNvSpPr>
              <a:spLocks noChangeArrowheads="1"/>
            </p:cNvSpPr>
            <p:nvPr/>
          </p:nvSpPr>
          <p:spPr bwMode="auto">
            <a:xfrm>
              <a:off x="45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(S·)S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9" name="Line 67"/>
            <p:cNvSpPr>
              <a:spLocks noChangeShapeType="1"/>
            </p:cNvSpPr>
            <p:nvPr/>
          </p:nvSpPr>
          <p:spPr bwMode="auto">
            <a:xfrm flipV="1">
              <a:off x="3600" y="502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0" name="Rectangle 66"/>
            <p:cNvSpPr>
              <a:spLocks noChangeArrowheads="1"/>
            </p:cNvSpPr>
            <p:nvPr/>
          </p:nvSpPr>
          <p:spPr bwMode="auto">
            <a:xfrm>
              <a:off x="396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1" name="Oval 65"/>
            <p:cNvSpPr>
              <a:spLocks noChangeArrowheads="1"/>
            </p:cNvSpPr>
            <p:nvPr/>
          </p:nvSpPr>
          <p:spPr bwMode="auto">
            <a:xfrm>
              <a:off x="774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(S)·S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 flipV="1">
              <a:off x="6300" y="5028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3" name="Rectangle 63"/>
            <p:cNvSpPr>
              <a:spLocks noChangeArrowheads="1"/>
            </p:cNvSpPr>
            <p:nvPr/>
          </p:nvSpPr>
          <p:spPr bwMode="auto">
            <a:xfrm>
              <a:off x="684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4" name="Line 62"/>
            <p:cNvSpPr>
              <a:spLocks noChangeShapeType="1"/>
            </p:cNvSpPr>
            <p:nvPr/>
          </p:nvSpPr>
          <p:spPr bwMode="auto">
            <a:xfrm flipH="1" flipV="1">
              <a:off x="6120" y="3780"/>
              <a:ext cx="216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72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66" name="Oval 60"/>
            <p:cNvSpPr>
              <a:spLocks noChangeArrowheads="1"/>
            </p:cNvSpPr>
            <p:nvPr/>
          </p:nvSpPr>
          <p:spPr bwMode="auto">
            <a:xfrm>
              <a:off x="7560" y="2532"/>
              <a:ext cx="198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 S·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7" name="Line 59"/>
            <p:cNvSpPr>
              <a:spLocks noChangeShapeType="1"/>
            </p:cNvSpPr>
            <p:nvPr/>
          </p:nvSpPr>
          <p:spPr bwMode="auto">
            <a:xfrm flipV="1">
              <a:off x="8640" y="3156"/>
              <a:ext cx="0" cy="1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8" name="Rectangle 58"/>
            <p:cNvSpPr>
              <a:spLocks noChangeArrowheads="1"/>
            </p:cNvSpPr>
            <p:nvPr/>
          </p:nvSpPr>
          <p:spPr bwMode="auto">
            <a:xfrm>
              <a:off x="8820" y="378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9" name="Arc 57"/>
            <p:cNvSpPr/>
            <p:nvPr/>
          </p:nvSpPr>
          <p:spPr bwMode="auto">
            <a:xfrm rot="5090164">
              <a:off x="3006" y="1397"/>
              <a:ext cx="2979" cy="6836"/>
            </a:xfrm>
            <a:custGeom>
              <a:avLst/>
              <a:gdLst>
                <a:gd name="G0" fmla="+- 14321 0 0"/>
                <a:gd name="G1" fmla="+- 17995 0 0"/>
                <a:gd name="G2" fmla="+- 21600 0 0"/>
                <a:gd name="T0" fmla="*/ 26268 w 35921"/>
                <a:gd name="T1" fmla="*/ 0 h 39595"/>
                <a:gd name="T2" fmla="*/ 0 w 35921"/>
                <a:gd name="T3" fmla="*/ 34165 h 39595"/>
                <a:gd name="T4" fmla="*/ 14321 w 35921"/>
                <a:gd name="T5" fmla="*/ 17995 h 39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21" h="39595" fill="none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</a:path>
                <a:path w="35921" h="39595" stroke="0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  <a:lnTo>
                    <a:pt x="14321" y="179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0" name="Rectangle 56"/>
            <p:cNvSpPr>
              <a:spLocks noChangeArrowheads="1"/>
            </p:cNvSpPr>
            <p:nvPr/>
          </p:nvSpPr>
          <p:spPr bwMode="auto">
            <a:xfrm>
              <a:off x="4320" y="590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71" name="Line 55"/>
            <p:cNvSpPr>
              <a:spLocks noChangeShapeType="1"/>
            </p:cNvSpPr>
            <p:nvPr/>
          </p:nvSpPr>
          <p:spPr bwMode="auto">
            <a:xfrm flipV="1">
              <a:off x="1800" y="3468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</p:grpSp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1498805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auto">
          <a:xfrm>
            <a:off x="5945951" y="4077072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045556" y="4152303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 dirty="0"/>
          </a:p>
          <a:p>
            <a:pPr eaLnBrk="0" hangingPunct="0"/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8" name="Oval 33"/>
          <p:cNvSpPr>
            <a:spLocks noChangeArrowheads="1"/>
          </p:cNvSpPr>
          <p:nvPr/>
        </p:nvSpPr>
        <p:spPr bwMode="auto">
          <a:xfrm>
            <a:off x="6742787" y="4453226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9" name="Line 32"/>
          <p:cNvSpPr>
            <a:spLocks noChangeShapeType="1"/>
          </p:cNvSpPr>
          <p:nvPr/>
        </p:nvSpPr>
        <p:spPr bwMode="auto">
          <a:xfrm>
            <a:off x="5547532" y="4377995"/>
            <a:ext cx="3984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0" name="Line 31"/>
          <p:cNvSpPr>
            <a:spLocks noChangeShapeType="1"/>
          </p:cNvSpPr>
          <p:nvPr/>
        </p:nvSpPr>
        <p:spPr bwMode="auto">
          <a:xfrm>
            <a:off x="7041601" y="4377995"/>
            <a:ext cx="597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7240809" y="4152303"/>
            <a:ext cx="99604" cy="1519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2" name="AutoShape 29"/>
          <p:cNvSpPr>
            <a:spLocks noChangeArrowheads="1"/>
          </p:cNvSpPr>
          <p:nvPr/>
        </p:nvSpPr>
        <p:spPr bwMode="auto">
          <a:xfrm>
            <a:off x="7639228" y="4077072"/>
            <a:ext cx="1095649" cy="4513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7738832" y="4152304"/>
            <a:ext cx="597627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8436064" y="4227533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8" name="AutoShape 23"/>
          <p:cNvSpPr>
            <a:spLocks noChangeArrowheads="1"/>
          </p:cNvSpPr>
          <p:nvPr/>
        </p:nvSpPr>
        <p:spPr bwMode="auto">
          <a:xfrm>
            <a:off x="5945951" y="5130302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6045556" y="5205533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→(·S)S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 dirty="0"/>
          </a:p>
          <a:p>
            <a:pPr eaLnBrk="0" hangingPunct="0"/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0" name="Oval 21"/>
          <p:cNvSpPr>
            <a:spLocks noChangeArrowheads="1"/>
          </p:cNvSpPr>
          <p:nvPr/>
        </p:nvSpPr>
        <p:spPr bwMode="auto">
          <a:xfrm>
            <a:off x="6742787" y="5506455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6443973" y="4754148"/>
            <a:ext cx="0" cy="3761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6244764" y="4904611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3" name="内容占位符 3"/>
              <p:cNvGraphicFramePr/>
              <p:nvPr/>
            </p:nvGraphicFramePr>
            <p:xfrm>
              <a:off x="1171039" y="3429000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927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95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137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1375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3" name="内容占位符 3"/>
              <p:cNvGraphicFramePr/>
              <p:nvPr/>
            </p:nvGraphicFramePr>
            <p:xfrm>
              <a:off x="1171039" y="3429000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/>
                    <a:gridCol w="892742"/>
                    <a:gridCol w="669556"/>
                    <a:gridCol w="613760"/>
                    <a:gridCol w="613759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4" name="文本框 73"/>
          <p:cNvSpPr txBox="1"/>
          <p:nvPr/>
        </p:nvSpPr>
        <p:spPr>
          <a:xfrm>
            <a:off x="6529939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207560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504085" y="21909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050487" y="23607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503554" y="310358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8113103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983338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941589" y="193764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54"/>
          <p:cNvGrpSpPr/>
          <p:nvPr/>
        </p:nvGrpSpPr>
        <p:grpSpPr bwMode="auto">
          <a:xfrm>
            <a:off x="5349658" y="1443923"/>
            <a:ext cx="4922806" cy="2473291"/>
            <a:chOff x="1078" y="1596"/>
            <a:chExt cx="8462" cy="4708"/>
          </a:xfrm>
        </p:grpSpPr>
        <p:sp>
          <p:nvSpPr>
            <p:cNvPr id="40" name="Oval 86"/>
            <p:cNvSpPr>
              <a:spLocks noChangeArrowheads="1"/>
            </p:cNvSpPr>
            <p:nvPr/>
          </p:nvSpPr>
          <p:spPr bwMode="auto">
            <a:xfrm>
              <a:off x="180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1" name="Line 85"/>
            <p:cNvSpPr>
              <a:spLocks noChangeShapeType="1"/>
            </p:cNvSpPr>
            <p:nvPr/>
          </p:nvSpPr>
          <p:spPr bwMode="auto">
            <a:xfrm>
              <a:off x="3600" y="206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2" name="Rectangle 84"/>
            <p:cNvSpPr>
              <a:spLocks noChangeArrowheads="1"/>
            </p:cNvSpPr>
            <p:nvPr/>
          </p:nvSpPr>
          <p:spPr bwMode="auto">
            <a:xfrm>
              <a:off x="3960" y="159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3" name="Line 83"/>
            <p:cNvSpPr>
              <a:spLocks noChangeShapeType="1"/>
            </p:cNvSpPr>
            <p:nvPr/>
          </p:nvSpPr>
          <p:spPr bwMode="auto">
            <a:xfrm>
              <a:off x="1080" y="206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4" name="Oval 82"/>
            <p:cNvSpPr>
              <a:spLocks noChangeArrowheads="1"/>
            </p:cNvSpPr>
            <p:nvPr/>
          </p:nvSpPr>
          <p:spPr bwMode="auto">
            <a:xfrm>
              <a:off x="468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5" name="Line 81"/>
            <p:cNvSpPr>
              <a:spLocks noChangeShapeType="1"/>
            </p:cNvSpPr>
            <p:nvPr/>
          </p:nvSpPr>
          <p:spPr bwMode="auto">
            <a:xfrm>
              <a:off x="2700" y="2376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6" name="Rectangle 80"/>
            <p:cNvSpPr>
              <a:spLocks noChangeArrowheads="1"/>
            </p:cNvSpPr>
            <p:nvPr/>
          </p:nvSpPr>
          <p:spPr bwMode="auto">
            <a:xfrm>
              <a:off x="2340" y="253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7" name="Oval 79"/>
            <p:cNvSpPr>
              <a:spLocks noChangeArrowheads="1"/>
            </p:cNvSpPr>
            <p:nvPr/>
          </p:nvSpPr>
          <p:spPr bwMode="auto">
            <a:xfrm>
              <a:off x="1800" y="3000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8" name="Oval 78"/>
            <p:cNvSpPr>
              <a:spLocks noChangeArrowheads="1"/>
            </p:cNvSpPr>
            <p:nvPr/>
          </p:nvSpPr>
          <p:spPr bwMode="auto">
            <a:xfrm>
              <a:off x="4500" y="331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9" name="Line 77"/>
            <p:cNvSpPr>
              <a:spLocks noChangeShapeType="1"/>
            </p:cNvSpPr>
            <p:nvPr/>
          </p:nvSpPr>
          <p:spPr bwMode="auto">
            <a:xfrm>
              <a:off x="3060" y="2376"/>
              <a:ext cx="162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0" name="Rectangle 76"/>
            <p:cNvSpPr>
              <a:spLocks noChangeArrowheads="1"/>
            </p:cNvSpPr>
            <p:nvPr/>
          </p:nvSpPr>
          <p:spPr bwMode="auto">
            <a:xfrm>
              <a:off x="360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1" name="Oval 75"/>
            <p:cNvSpPr>
              <a:spLocks noChangeArrowheads="1"/>
            </p:cNvSpPr>
            <p:nvPr/>
          </p:nvSpPr>
          <p:spPr bwMode="auto">
            <a:xfrm>
              <a:off x="18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(·S)S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2" name="Line 74"/>
            <p:cNvSpPr>
              <a:spLocks noChangeShapeType="1"/>
            </p:cNvSpPr>
            <p:nvPr/>
          </p:nvSpPr>
          <p:spPr bwMode="auto">
            <a:xfrm>
              <a:off x="252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3" name="Line 73"/>
            <p:cNvSpPr>
              <a:spLocks noChangeShapeType="1"/>
            </p:cNvSpPr>
            <p:nvPr/>
          </p:nvSpPr>
          <p:spPr bwMode="auto">
            <a:xfrm flipV="1">
              <a:off x="288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4" name="Rectangle 72"/>
            <p:cNvSpPr>
              <a:spLocks noChangeArrowheads="1"/>
            </p:cNvSpPr>
            <p:nvPr/>
          </p:nvSpPr>
          <p:spPr bwMode="auto">
            <a:xfrm>
              <a:off x="30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5" name="Rectangle 71"/>
            <p:cNvSpPr>
              <a:spLocks noChangeArrowheads="1"/>
            </p:cNvSpPr>
            <p:nvPr/>
          </p:nvSpPr>
          <p:spPr bwMode="auto">
            <a:xfrm>
              <a:off x="21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6" name="Line 70"/>
            <p:cNvSpPr>
              <a:spLocks noChangeShapeType="1"/>
            </p:cNvSpPr>
            <p:nvPr/>
          </p:nvSpPr>
          <p:spPr bwMode="auto">
            <a:xfrm flipV="1">
              <a:off x="3240" y="3780"/>
              <a:ext cx="144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7" name="Rectangle 69"/>
            <p:cNvSpPr>
              <a:spLocks noChangeArrowheads="1"/>
            </p:cNvSpPr>
            <p:nvPr/>
          </p:nvSpPr>
          <p:spPr bwMode="auto">
            <a:xfrm>
              <a:off x="378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8" name="Oval 68"/>
            <p:cNvSpPr>
              <a:spLocks noChangeArrowheads="1"/>
            </p:cNvSpPr>
            <p:nvPr/>
          </p:nvSpPr>
          <p:spPr bwMode="auto">
            <a:xfrm>
              <a:off x="45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(S·)S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9" name="Line 67"/>
            <p:cNvSpPr>
              <a:spLocks noChangeShapeType="1"/>
            </p:cNvSpPr>
            <p:nvPr/>
          </p:nvSpPr>
          <p:spPr bwMode="auto">
            <a:xfrm flipV="1">
              <a:off x="3600" y="502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0" name="Rectangle 66"/>
            <p:cNvSpPr>
              <a:spLocks noChangeArrowheads="1"/>
            </p:cNvSpPr>
            <p:nvPr/>
          </p:nvSpPr>
          <p:spPr bwMode="auto">
            <a:xfrm>
              <a:off x="396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1" name="Oval 65"/>
            <p:cNvSpPr>
              <a:spLocks noChangeArrowheads="1"/>
            </p:cNvSpPr>
            <p:nvPr/>
          </p:nvSpPr>
          <p:spPr bwMode="auto">
            <a:xfrm>
              <a:off x="774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(S)·S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 flipV="1">
              <a:off x="6300" y="5028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3" name="Rectangle 63"/>
            <p:cNvSpPr>
              <a:spLocks noChangeArrowheads="1"/>
            </p:cNvSpPr>
            <p:nvPr/>
          </p:nvSpPr>
          <p:spPr bwMode="auto">
            <a:xfrm>
              <a:off x="684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4" name="Line 62"/>
            <p:cNvSpPr>
              <a:spLocks noChangeShapeType="1"/>
            </p:cNvSpPr>
            <p:nvPr/>
          </p:nvSpPr>
          <p:spPr bwMode="auto">
            <a:xfrm flipH="1" flipV="1">
              <a:off x="6120" y="3780"/>
              <a:ext cx="216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72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66" name="Oval 60"/>
            <p:cNvSpPr>
              <a:spLocks noChangeArrowheads="1"/>
            </p:cNvSpPr>
            <p:nvPr/>
          </p:nvSpPr>
          <p:spPr bwMode="auto">
            <a:xfrm>
              <a:off x="7560" y="2532"/>
              <a:ext cx="198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 S·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7" name="Line 59"/>
            <p:cNvSpPr>
              <a:spLocks noChangeShapeType="1"/>
            </p:cNvSpPr>
            <p:nvPr/>
          </p:nvSpPr>
          <p:spPr bwMode="auto">
            <a:xfrm flipV="1">
              <a:off x="8640" y="3156"/>
              <a:ext cx="0" cy="1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8" name="Rectangle 58"/>
            <p:cNvSpPr>
              <a:spLocks noChangeArrowheads="1"/>
            </p:cNvSpPr>
            <p:nvPr/>
          </p:nvSpPr>
          <p:spPr bwMode="auto">
            <a:xfrm>
              <a:off x="8820" y="378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9" name="Arc 57"/>
            <p:cNvSpPr/>
            <p:nvPr/>
          </p:nvSpPr>
          <p:spPr bwMode="auto">
            <a:xfrm rot="5090164">
              <a:off x="3006" y="1397"/>
              <a:ext cx="2979" cy="6836"/>
            </a:xfrm>
            <a:custGeom>
              <a:avLst/>
              <a:gdLst>
                <a:gd name="G0" fmla="+- 14321 0 0"/>
                <a:gd name="G1" fmla="+- 17995 0 0"/>
                <a:gd name="G2" fmla="+- 21600 0 0"/>
                <a:gd name="T0" fmla="*/ 26268 w 35921"/>
                <a:gd name="T1" fmla="*/ 0 h 39595"/>
                <a:gd name="T2" fmla="*/ 0 w 35921"/>
                <a:gd name="T3" fmla="*/ 34165 h 39595"/>
                <a:gd name="T4" fmla="*/ 14321 w 35921"/>
                <a:gd name="T5" fmla="*/ 17995 h 39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21" h="39595" fill="none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</a:path>
                <a:path w="35921" h="39595" stroke="0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  <a:lnTo>
                    <a:pt x="14321" y="179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0" name="Rectangle 56"/>
            <p:cNvSpPr>
              <a:spLocks noChangeArrowheads="1"/>
            </p:cNvSpPr>
            <p:nvPr/>
          </p:nvSpPr>
          <p:spPr bwMode="auto">
            <a:xfrm>
              <a:off x="4320" y="590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71" name="Line 55"/>
            <p:cNvSpPr>
              <a:spLocks noChangeShapeType="1"/>
            </p:cNvSpPr>
            <p:nvPr/>
          </p:nvSpPr>
          <p:spPr bwMode="auto">
            <a:xfrm flipV="1">
              <a:off x="1800" y="3468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</p:grpSp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1498805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auto">
          <a:xfrm>
            <a:off x="5945951" y="4077072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045556" y="4152303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 dirty="0"/>
          </a:p>
          <a:p>
            <a:pPr eaLnBrk="0" hangingPunct="0"/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8" name="Oval 33"/>
          <p:cNvSpPr>
            <a:spLocks noChangeArrowheads="1"/>
          </p:cNvSpPr>
          <p:nvPr/>
        </p:nvSpPr>
        <p:spPr bwMode="auto">
          <a:xfrm>
            <a:off x="6742787" y="4453226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9" name="Line 32"/>
          <p:cNvSpPr>
            <a:spLocks noChangeShapeType="1"/>
          </p:cNvSpPr>
          <p:nvPr/>
        </p:nvSpPr>
        <p:spPr bwMode="auto">
          <a:xfrm>
            <a:off x="5547532" y="4377995"/>
            <a:ext cx="3984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0" name="Line 31"/>
          <p:cNvSpPr>
            <a:spLocks noChangeShapeType="1"/>
          </p:cNvSpPr>
          <p:nvPr/>
        </p:nvSpPr>
        <p:spPr bwMode="auto">
          <a:xfrm>
            <a:off x="7041601" y="4377995"/>
            <a:ext cx="597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7240809" y="4152303"/>
            <a:ext cx="99604" cy="1519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2" name="AutoShape 29"/>
          <p:cNvSpPr>
            <a:spLocks noChangeArrowheads="1"/>
          </p:cNvSpPr>
          <p:nvPr/>
        </p:nvSpPr>
        <p:spPr bwMode="auto">
          <a:xfrm>
            <a:off x="7639228" y="4077072"/>
            <a:ext cx="1095649" cy="4513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7738832" y="4152304"/>
            <a:ext cx="597627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8436064" y="4227533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5" name="AutoShape 26"/>
          <p:cNvSpPr>
            <a:spLocks noChangeArrowheads="1"/>
          </p:cNvSpPr>
          <p:nvPr/>
        </p:nvSpPr>
        <p:spPr bwMode="auto">
          <a:xfrm>
            <a:off x="7639228" y="4754148"/>
            <a:ext cx="1095649" cy="4513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6" name="Rectangle 25"/>
          <p:cNvSpPr>
            <a:spLocks noChangeArrowheads="1"/>
          </p:cNvSpPr>
          <p:nvPr/>
        </p:nvSpPr>
        <p:spPr bwMode="auto">
          <a:xfrm>
            <a:off x="7738832" y="4829380"/>
            <a:ext cx="597627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→(S·)S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7" name="Oval 24"/>
          <p:cNvSpPr>
            <a:spLocks noChangeArrowheads="1"/>
          </p:cNvSpPr>
          <p:nvPr/>
        </p:nvSpPr>
        <p:spPr bwMode="auto">
          <a:xfrm>
            <a:off x="8436064" y="4904610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8" name="AutoShape 23"/>
          <p:cNvSpPr>
            <a:spLocks noChangeArrowheads="1"/>
          </p:cNvSpPr>
          <p:nvPr/>
        </p:nvSpPr>
        <p:spPr bwMode="auto">
          <a:xfrm>
            <a:off x="5945951" y="5130302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6045556" y="5205533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→(·S)S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 dirty="0"/>
          </a:p>
          <a:p>
            <a:pPr eaLnBrk="0" hangingPunct="0"/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0" name="Oval 21"/>
          <p:cNvSpPr>
            <a:spLocks noChangeArrowheads="1"/>
          </p:cNvSpPr>
          <p:nvPr/>
        </p:nvSpPr>
        <p:spPr bwMode="auto">
          <a:xfrm>
            <a:off x="6742787" y="5506455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6443973" y="4754148"/>
            <a:ext cx="0" cy="3761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 flipV="1">
            <a:off x="7041601" y="4979842"/>
            <a:ext cx="597627" cy="3009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7240809" y="4904610"/>
            <a:ext cx="99604" cy="1519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6244764" y="4904611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846346" y="5506455"/>
            <a:ext cx="996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8" name="Arc 3"/>
          <p:cNvSpPr/>
          <p:nvPr/>
        </p:nvSpPr>
        <p:spPr bwMode="auto">
          <a:xfrm>
            <a:off x="5647137" y="5506455"/>
            <a:ext cx="418892" cy="376154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37472 w 37472"/>
              <a:gd name="T1" fmla="*/ 36251 h 43200"/>
              <a:gd name="T2" fmla="*/ 21600 w 37472"/>
              <a:gd name="T3" fmla="*/ 0 h 43200"/>
              <a:gd name="T4" fmla="*/ 21600 w 37472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472" h="43200" fill="none" extrusionOk="0">
                <a:moveTo>
                  <a:pt x="37471" y="36250"/>
                </a:moveTo>
                <a:cubicBezTo>
                  <a:pt x="33382" y="40680"/>
                  <a:pt x="27628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</a:path>
              <a:path w="37472" h="43200" stroke="0" extrusionOk="0">
                <a:moveTo>
                  <a:pt x="37471" y="36250"/>
                </a:moveTo>
                <a:cubicBezTo>
                  <a:pt x="33382" y="40680"/>
                  <a:pt x="27628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72" name="Rectangle 2"/>
          <p:cNvSpPr>
            <a:spLocks noChangeArrowheads="1"/>
          </p:cNvSpPr>
          <p:nvPr/>
        </p:nvSpPr>
        <p:spPr bwMode="auto">
          <a:xfrm>
            <a:off x="5447928" y="5732149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3" name="内容占位符 3"/>
              <p:cNvGraphicFramePr/>
              <p:nvPr/>
            </p:nvGraphicFramePr>
            <p:xfrm>
              <a:off x="1165363" y="3427329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927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95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137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1375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3" name="内容占位符 3"/>
              <p:cNvGraphicFramePr/>
              <p:nvPr/>
            </p:nvGraphicFramePr>
            <p:xfrm>
              <a:off x="1165363" y="3427329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/>
                    <a:gridCol w="892742"/>
                    <a:gridCol w="669556"/>
                    <a:gridCol w="613760"/>
                    <a:gridCol w="613759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4" name="文本框 73"/>
          <p:cNvSpPr txBox="1"/>
          <p:nvPr/>
        </p:nvSpPr>
        <p:spPr>
          <a:xfrm>
            <a:off x="6529939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207560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504085" y="21909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050487" y="23607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503554" y="310358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8113103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983338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941589" y="193764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54"/>
          <p:cNvGrpSpPr/>
          <p:nvPr/>
        </p:nvGrpSpPr>
        <p:grpSpPr bwMode="auto">
          <a:xfrm>
            <a:off x="5349658" y="1443923"/>
            <a:ext cx="4922806" cy="2473291"/>
            <a:chOff x="1078" y="1596"/>
            <a:chExt cx="8462" cy="4708"/>
          </a:xfrm>
        </p:grpSpPr>
        <p:sp>
          <p:nvSpPr>
            <p:cNvPr id="40" name="Oval 86"/>
            <p:cNvSpPr>
              <a:spLocks noChangeArrowheads="1"/>
            </p:cNvSpPr>
            <p:nvPr/>
          </p:nvSpPr>
          <p:spPr bwMode="auto">
            <a:xfrm>
              <a:off x="180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1" name="Line 85"/>
            <p:cNvSpPr>
              <a:spLocks noChangeShapeType="1"/>
            </p:cNvSpPr>
            <p:nvPr/>
          </p:nvSpPr>
          <p:spPr bwMode="auto">
            <a:xfrm>
              <a:off x="3600" y="206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2" name="Rectangle 84"/>
            <p:cNvSpPr>
              <a:spLocks noChangeArrowheads="1"/>
            </p:cNvSpPr>
            <p:nvPr/>
          </p:nvSpPr>
          <p:spPr bwMode="auto">
            <a:xfrm>
              <a:off x="3960" y="159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3" name="Line 83"/>
            <p:cNvSpPr>
              <a:spLocks noChangeShapeType="1"/>
            </p:cNvSpPr>
            <p:nvPr/>
          </p:nvSpPr>
          <p:spPr bwMode="auto">
            <a:xfrm>
              <a:off x="1080" y="206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4" name="Oval 82"/>
            <p:cNvSpPr>
              <a:spLocks noChangeArrowheads="1"/>
            </p:cNvSpPr>
            <p:nvPr/>
          </p:nvSpPr>
          <p:spPr bwMode="auto">
            <a:xfrm>
              <a:off x="468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5" name="Line 81"/>
            <p:cNvSpPr>
              <a:spLocks noChangeShapeType="1"/>
            </p:cNvSpPr>
            <p:nvPr/>
          </p:nvSpPr>
          <p:spPr bwMode="auto">
            <a:xfrm>
              <a:off x="2700" y="2376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6" name="Rectangle 80"/>
            <p:cNvSpPr>
              <a:spLocks noChangeArrowheads="1"/>
            </p:cNvSpPr>
            <p:nvPr/>
          </p:nvSpPr>
          <p:spPr bwMode="auto">
            <a:xfrm>
              <a:off x="2340" y="253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7" name="Oval 79"/>
            <p:cNvSpPr>
              <a:spLocks noChangeArrowheads="1"/>
            </p:cNvSpPr>
            <p:nvPr/>
          </p:nvSpPr>
          <p:spPr bwMode="auto">
            <a:xfrm>
              <a:off x="1800" y="3000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8" name="Oval 78"/>
            <p:cNvSpPr>
              <a:spLocks noChangeArrowheads="1"/>
            </p:cNvSpPr>
            <p:nvPr/>
          </p:nvSpPr>
          <p:spPr bwMode="auto">
            <a:xfrm>
              <a:off x="4500" y="331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9" name="Line 77"/>
            <p:cNvSpPr>
              <a:spLocks noChangeShapeType="1"/>
            </p:cNvSpPr>
            <p:nvPr/>
          </p:nvSpPr>
          <p:spPr bwMode="auto">
            <a:xfrm>
              <a:off x="3060" y="2376"/>
              <a:ext cx="162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0" name="Rectangle 76"/>
            <p:cNvSpPr>
              <a:spLocks noChangeArrowheads="1"/>
            </p:cNvSpPr>
            <p:nvPr/>
          </p:nvSpPr>
          <p:spPr bwMode="auto">
            <a:xfrm>
              <a:off x="360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1" name="Oval 75"/>
            <p:cNvSpPr>
              <a:spLocks noChangeArrowheads="1"/>
            </p:cNvSpPr>
            <p:nvPr/>
          </p:nvSpPr>
          <p:spPr bwMode="auto">
            <a:xfrm>
              <a:off x="18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(·S)S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2" name="Line 74"/>
            <p:cNvSpPr>
              <a:spLocks noChangeShapeType="1"/>
            </p:cNvSpPr>
            <p:nvPr/>
          </p:nvSpPr>
          <p:spPr bwMode="auto">
            <a:xfrm>
              <a:off x="252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3" name="Line 73"/>
            <p:cNvSpPr>
              <a:spLocks noChangeShapeType="1"/>
            </p:cNvSpPr>
            <p:nvPr/>
          </p:nvSpPr>
          <p:spPr bwMode="auto">
            <a:xfrm flipV="1">
              <a:off x="288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4" name="Rectangle 72"/>
            <p:cNvSpPr>
              <a:spLocks noChangeArrowheads="1"/>
            </p:cNvSpPr>
            <p:nvPr/>
          </p:nvSpPr>
          <p:spPr bwMode="auto">
            <a:xfrm>
              <a:off x="30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5" name="Rectangle 71"/>
            <p:cNvSpPr>
              <a:spLocks noChangeArrowheads="1"/>
            </p:cNvSpPr>
            <p:nvPr/>
          </p:nvSpPr>
          <p:spPr bwMode="auto">
            <a:xfrm>
              <a:off x="21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6" name="Line 70"/>
            <p:cNvSpPr>
              <a:spLocks noChangeShapeType="1"/>
            </p:cNvSpPr>
            <p:nvPr/>
          </p:nvSpPr>
          <p:spPr bwMode="auto">
            <a:xfrm flipV="1">
              <a:off x="3240" y="3780"/>
              <a:ext cx="144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7" name="Rectangle 69"/>
            <p:cNvSpPr>
              <a:spLocks noChangeArrowheads="1"/>
            </p:cNvSpPr>
            <p:nvPr/>
          </p:nvSpPr>
          <p:spPr bwMode="auto">
            <a:xfrm>
              <a:off x="378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8" name="Oval 68"/>
            <p:cNvSpPr>
              <a:spLocks noChangeArrowheads="1"/>
            </p:cNvSpPr>
            <p:nvPr/>
          </p:nvSpPr>
          <p:spPr bwMode="auto">
            <a:xfrm>
              <a:off x="45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(S·)S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9" name="Line 67"/>
            <p:cNvSpPr>
              <a:spLocks noChangeShapeType="1"/>
            </p:cNvSpPr>
            <p:nvPr/>
          </p:nvSpPr>
          <p:spPr bwMode="auto">
            <a:xfrm flipV="1">
              <a:off x="3600" y="502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0" name="Rectangle 66"/>
            <p:cNvSpPr>
              <a:spLocks noChangeArrowheads="1"/>
            </p:cNvSpPr>
            <p:nvPr/>
          </p:nvSpPr>
          <p:spPr bwMode="auto">
            <a:xfrm>
              <a:off x="396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1" name="Oval 65"/>
            <p:cNvSpPr>
              <a:spLocks noChangeArrowheads="1"/>
            </p:cNvSpPr>
            <p:nvPr/>
          </p:nvSpPr>
          <p:spPr bwMode="auto">
            <a:xfrm>
              <a:off x="774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(S)·S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 flipV="1">
              <a:off x="6300" y="5028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3" name="Rectangle 63"/>
            <p:cNvSpPr>
              <a:spLocks noChangeArrowheads="1"/>
            </p:cNvSpPr>
            <p:nvPr/>
          </p:nvSpPr>
          <p:spPr bwMode="auto">
            <a:xfrm>
              <a:off x="684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4" name="Line 62"/>
            <p:cNvSpPr>
              <a:spLocks noChangeShapeType="1"/>
            </p:cNvSpPr>
            <p:nvPr/>
          </p:nvSpPr>
          <p:spPr bwMode="auto">
            <a:xfrm flipH="1" flipV="1">
              <a:off x="6120" y="3780"/>
              <a:ext cx="216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72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66" name="Oval 60"/>
            <p:cNvSpPr>
              <a:spLocks noChangeArrowheads="1"/>
            </p:cNvSpPr>
            <p:nvPr/>
          </p:nvSpPr>
          <p:spPr bwMode="auto">
            <a:xfrm>
              <a:off x="7560" y="2532"/>
              <a:ext cx="198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 S·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7" name="Line 59"/>
            <p:cNvSpPr>
              <a:spLocks noChangeShapeType="1"/>
            </p:cNvSpPr>
            <p:nvPr/>
          </p:nvSpPr>
          <p:spPr bwMode="auto">
            <a:xfrm flipV="1">
              <a:off x="8640" y="3156"/>
              <a:ext cx="0" cy="1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8" name="Rectangle 58"/>
            <p:cNvSpPr>
              <a:spLocks noChangeArrowheads="1"/>
            </p:cNvSpPr>
            <p:nvPr/>
          </p:nvSpPr>
          <p:spPr bwMode="auto">
            <a:xfrm>
              <a:off x="8820" y="378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9" name="Arc 57"/>
            <p:cNvSpPr/>
            <p:nvPr/>
          </p:nvSpPr>
          <p:spPr bwMode="auto">
            <a:xfrm rot="5090164">
              <a:off x="3006" y="1397"/>
              <a:ext cx="2979" cy="6836"/>
            </a:xfrm>
            <a:custGeom>
              <a:avLst/>
              <a:gdLst>
                <a:gd name="G0" fmla="+- 14321 0 0"/>
                <a:gd name="G1" fmla="+- 17995 0 0"/>
                <a:gd name="G2" fmla="+- 21600 0 0"/>
                <a:gd name="T0" fmla="*/ 26268 w 35921"/>
                <a:gd name="T1" fmla="*/ 0 h 39595"/>
                <a:gd name="T2" fmla="*/ 0 w 35921"/>
                <a:gd name="T3" fmla="*/ 34165 h 39595"/>
                <a:gd name="T4" fmla="*/ 14321 w 35921"/>
                <a:gd name="T5" fmla="*/ 17995 h 39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21" h="39595" fill="none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</a:path>
                <a:path w="35921" h="39595" stroke="0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  <a:lnTo>
                    <a:pt x="14321" y="179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0" name="Rectangle 56"/>
            <p:cNvSpPr>
              <a:spLocks noChangeArrowheads="1"/>
            </p:cNvSpPr>
            <p:nvPr/>
          </p:nvSpPr>
          <p:spPr bwMode="auto">
            <a:xfrm>
              <a:off x="4320" y="590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71" name="Line 55"/>
            <p:cNvSpPr>
              <a:spLocks noChangeShapeType="1"/>
            </p:cNvSpPr>
            <p:nvPr/>
          </p:nvSpPr>
          <p:spPr bwMode="auto">
            <a:xfrm flipV="1">
              <a:off x="1800" y="3468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</p:grpSp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1498805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auto">
          <a:xfrm>
            <a:off x="5945951" y="4077072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045556" y="4152303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 dirty="0"/>
          </a:p>
          <a:p>
            <a:pPr eaLnBrk="0" hangingPunct="0"/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8" name="Oval 33"/>
          <p:cNvSpPr>
            <a:spLocks noChangeArrowheads="1"/>
          </p:cNvSpPr>
          <p:nvPr/>
        </p:nvSpPr>
        <p:spPr bwMode="auto">
          <a:xfrm>
            <a:off x="6742787" y="4453226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9" name="Line 32"/>
          <p:cNvSpPr>
            <a:spLocks noChangeShapeType="1"/>
          </p:cNvSpPr>
          <p:nvPr/>
        </p:nvSpPr>
        <p:spPr bwMode="auto">
          <a:xfrm>
            <a:off x="5547532" y="4377995"/>
            <a:ext cx="3984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0" name="Line 31"/>
          <p:cNvSpPr>
            <a:spLocks noChangeShapeType="1"/>
          </p:cNvSpPr>
          <p:nvPr/>
        </p:nvSpPr>
        <p:spPr bwMode="auto">
          <a:xfrm>
            <a:off x="7041601" y="4377995"/>
            <a:ext cx="597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7240809" y="4152303"/>
            <a:ext cx="99604" cy="1519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2" name="AutoShape 29"/>
          <p:cNvSpPr>
            <a:spLocks noChangeArrowheads="1"/>
          </p:cNvSpPr>
          <p:nvPr/>
        </p:nvSpPr>
        <p:spPr bwMode="auto">
          <a:xfrm>
            <a:off x="7639228" y="4077072"/>
            <a:ext cx="1095649" cy="4513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7738832" y="4152304"/>
            <a:ext cx="597627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8436064" y="4227533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5" name="AutoShape 26"/>
          <p:cNvSpPr>
            <a:spLocks noChangeArrowheads="1"/>
          </p:cNvSpPr>
          <p:nvPr/>
        </p:nvSpPr>
        <p:spPr bwMode="auto">
          <a:xfrm>
            <a:off x="7639228" y="4754148"/>
            <a:ext cx="1095649" cy="4513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6" name="Rectangle 25"/>
          <p:cNvSpPr>
            <a:spLocks noChangeArrowheads="1"/>
          </p:cNvSpPr>
          <p:nvPr/>
        </p:nvSpPr>
        <p:spPr bwMode="auto">
          <a:xfrm>
            <a:off x="7738832" y="4829380"/>
            <a:ext cx="597627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→(S·)S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7" name="Oval 24"/>
          <p:cNvSpPr>
            <a:spLocks noChangeArrowheads="1"/>
          </p:cNvSpPr>
          <p:nvPr/>
        </p:nvSpPr>
        <p:spPr bwMode="auto">
          <a:xfrm>
            <a:off x="8436064" y="4904610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8" name="AutoShape 23"/>
          <p:cNvSpPr>
            <a:spLocks noChangeArrowheads="1"/>
          </p:cNvSpPr>
          <p:nvPr/>
        </p:nvSpPr>
        <p:spPr bwMode="auto">
          <a:xfrm>
            <a:off x="5945951" y="5130302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6045556" y="5205533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→(·S)S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 dirty="0"/>
          </a:p>
          <a:p>
            <a:pPr eaLnBrk="0" hangingPunct="0"/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0" name="Oval 21"/>
          <p:cNvSpPr>
            <a:spLocks noChangeArrowheads="1"/>
          </p:cNvSpPr>
          <p:nvPr/>
        </p:nvSpPr>
        <p:spPr bwMode="auto">
          <a:xfrm>
            <a:off x="6742787" y="5506455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6443973" y="4754148"/>
            <a:ext cx="0" cy="3761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 flipV="1">
            <a:off x="7041601" y="4979842"/>
            <a:ext cx="597627" cy="3009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7240809" y="4904610"/>
            <a:ext cx="99604" cy="1519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25" name="AutoShape 16"/>
          <p:cNvSpPr>
            <a:spLocks noChangeArrowheads="1"/>
          </p:cNvSpPr>
          <p:nvPr/>
        </p:nvSpPr>
        <p:spPr bwMode="auto">
          <a:xfrm>
            <a:off x="7639228" y="5732148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6" name="Rectangle 15"/>
          <p:cNvSpPr>
            <a:spLocks noChangeArrowheads="1"/>
          </p:cNvSpPr>
          <p:nvPr/>
        </p:nvSpPr>
        <p:spPr bwMode="auto">
          <a:xfrm>
            <a:off x="7738832" y="5807378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→(S) ·S</a:t>
            </a:r>
            <a:endParaRPr lang="en-US" altLang="zh-CN" sz="1200" b="1"/>
          </a:p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/>
          </a:p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27" name="Oval 14"/>
          <p:cNvSpPr>
            <a:spLocks noChangeArrowheads="1"/>
          </p:cNvSpPr>
          <p:nvPr/>
        </p:nvSpPr>
        <p:spPr bwMode="auto">
          <a:xfrm>
            <a:off x="8436064" y="6108301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8" name="Line 13"/>
          <p:cNvSpPr>
            <a:spLocks noChangeShapeType="1"/>
          </p:cNvSpPr>
          <p:nvPr/>
        </p:nvSpPr>
        <p:spPr bwMode="auto">
          <a:xfrm>
            <a:off x="8137249" y="5205534"/>
            <a:ext cx="0" cy="526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9" name="Rectangle 12"/>
          <p:cNvSpPr>
            <a:spLocks noChangeArrowheads="1"/>
          </p:cNvSpPr>
          <p:nvPr/>
        </p:nvSpPr>
        <p:spPr bwMode="auto">
          <a:xfrm>
            <a:off x="8236854" y="5355995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6244764" y="4904611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846346" y="5506455"/>
            <a:ext cx="996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8" name="Arc 3"/>
          <p:cNvSpPr/>
          <p:nvPr/>
        </p:nvSpPr>
        <p:spPr bwMode="auto">
          <a:xfrm>
            <a:off x="5647137" y="5506455"/>
            <a:ext cx="418892" cy="376154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37472 w 37472"/>
              <a:gd name="T1" fmla="*/ 36251 h 43200"/>
              <a:gd name="T2" fmla="*/ 21600 w 37472"/>
              <a:gd name="T3" fmla="*/ 0 h 43200"/>
              <a:gd name="T4" fmla="*/ 21600 w 37472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472" h="43200" fill="none" extrusionOk="0">
                <a:moveTo>
                  <a:pt x="37471" y="36250"/>
                </a:moveTo>
                <a:cubicBezTo>
                  <a:pt x="33382" y="40680"/>
                  <a:pt x="27628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</a:path>
              <a:path w="37472" h="43200" stroke="0" extrusionOk="0">
                <a:moveTo>
                  <a:pt x="37471" y="36250"/>
                </a:moveTo>
                <a:cubicBezTo>
                  <a:pt x="33382" y="40680"/>
                  <a:pt x="27628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72" name="Rectangle 2"/>
          <p:cNvSpPr>
            <a:spLocks noChangeArrowheads="1"/>
          </p:cNvSpPr>
          <p:nvPr/>
        </p:nvSpPr>
        <p:spPr bwMode="auto">
          <a:xfrm>
            <a:off x="5447928" y="5732149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3" name="内容占位符 3"/>
              <p:cNvGraphicFramePr/>
              <p:nvPr/>
            </p:nvGraphicFramePr>
            <p:xfrm>
              <a:off x="1172124" y="3551961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927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95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137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1375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3" name="内容占位符 3"/>
              <p:cNvGraphicFramePr/>
              <p:nvPr/>
            </p:nvGraphicFramePr>
            <p:xfrm>
              <a:off x="1172124" y="3551961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/>
                    <a:gridCol w="892742"/>
                    <a:gridCol w="669556"/>
                    <a:gridCol w="613760"/>
                    <a:gridCol w="613759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4" name="文本框 73"/>
          <p:cNvSpPr txBox="1"/>
          <p:nvPr/>
        </p:nvSpPr>
        <p:spPr>
          <a:xfrm>
            <a:off x="6529939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207560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504085" y="21909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050487" y="23607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503554" y="310358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8113103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983338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941589" y="193764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54"/>
          <p:cNvGrpSpPr/>
          <p:nvPr/>
        </p:nvGrpSpPr>
        <p:grpSpPr bwMode="auto">
          <a:xfrm>
            <a:off x="5349658" y="1443923"/>
            <a:ext cx="4922806" cy="2473291"/>
            <a:chOff x="1078" y="1596"/>
            <a:chExt cx="8462" cy="4708"/>
          </a:xfrm>
        </p:grpSpPr>
        <p:sp>
          <p:nvSpPr>
            <p:cNvPr id="40" name="Oval 86"/>
            <p:cNvSpPr>
              <a:spLocks noChangeArrowheads="1"/>
            </p:cNvSpPr>
            <p:nvPr/>
          </p:nvSpPr>
          <p:spPr bwMode="auto">
            <a:xfrm>
              <a:off x="180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1" name="Line 85"/>
            <p:cNvSpPr>
              <a:spLocks noChangeShapeType="1"/>
            </p:cNvSpPr>
            <p:nvPr/>
          </p:nvSpPr>
          <p:spPr bwMode="auto">
            <a:xfrm>
              <a:off x="3600" y="2064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2" name="Rectangle 84"/>
            <p:cNvSpPr>
              <a:spLocks noChangeArrowheads="1"/>
            </p:cNvSpPr>
            <p:nvPr/>
          </p:nvSpPr>
          <p:spPr bwMode="auto">
            <a:xfrm>
              <a:off x="3960" y="159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3" name="Line 83"/>
            <p:cNvSpPr>
              <a:spLocks noChangeShapeType="1"/>
            </p:cNvSpPr>
            <p:nvPr/>
          </p:nvSpPr>
          <p:spPr bwMode="auto">
            <a:xfrm>
              <a:off x="1080" y="206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4" name="Oval 82"/>
            <p:cNvSpPr>
              <a:spLocks noChangeArrowheads="1"/>
            </p:cNvSpPr>
            <p:nvPr/>
          </p:nvSpPr>
          <p:spPr bwMode="auto">
            <a:xfrm>
              <a:off x="4680" y="175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5" name="Line 81"/>
            <p:cNvSpPr>
              <a:spLocks noChangeShapeType="1"/>
            </p:cNvSpPr>
            <p:nvPr/>
          </p:nvSpPr>
          <p:spPr bwMode="auto">
            <a:xfrm>
              <a:off x="2700" y="2376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6" name="Rectangle 80"/>
            <p:cNvSpPr>
              <a:spLocks noChangeArrowheads="1"/>
            </p:cNvSpPr>
            <p:nvPr/>
          </p:nvSpPr>
          <p:spPr bwMode="auto">
            <a:xfrm>
              <a:off x="2340" y="253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7" name="Oval 79"/>
            <p:cNvSpPr>
              <a:spLocks noChangeArrowheads="1"/>
            </p:cNvSpPr>
            <p:nvPr/>
          </p:nvSpPr>
          <p:spPr bwMode="auto">
            <a:xfrm>
              <a:off x="1800" y="3000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8" name="Oval 78"/>
            <p:cNvSpPr>
              <a:spLocks noChangeArrowheads="1"/>
            </p:cNvSpPr>
            <p:nvPr/>
          </p:nvSpPr>
          <p:spPr bwMode="auto">
            <a:xfrm>
              <a:off x="4500" y="3312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9" name="Line 77"/>
            <p:cNvSpPr>
              <a:spLocks noChangeShapeType="1"/>
            </p:cNvSpPr>
            <p:nvPr/>
          </p:nvSpPr>
          <p:spPr bwMode="auto">
            <a:xfrm>
              <a:off x="3060" y="2376"/>
              <a:ext cx="162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0" name="Rectangle 76"/>
            <p:cNvSpPr>
              <a:spLocks noChangeArrowheads="1"/>
            </p:cNvSpPr>
            <p:nvPr/>
          </p:nvSpPr>
          <p:spPr bwMode="auto">
            <a:xfrm>
              <a:off x="360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1" name="Oval 75"/>
            <p:cNvSpPr>
              <a:spLocks noChangeArrowheads="1"/>
            </p:cNvSpPr>
            <p:nvPr/>
          </p:nvSpPr>
          <p:spPr bwMode="auto">
            <a:xfrm>
              <a:off x="18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(·S)S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2" name="Line 74"/>
            <p:cNvSpPr>
              <a:spLocks noChangeShapeType="1"/>
            </p:cNvSpPr>
            <p:nvPr/>
          </p:nvSpPr>
          <p:spPr bwMode="auto">
            <a:xfrm>
              <a:off x="252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3" name="Line 73"/>
            <p:cNvSpPr>
              <a:spLocks noChangeShapeType="1"/>
            </p:cNvSpPr>
            <p:nvPr/>
          </p:nvSpPr>
          <p:spPr bwMode="auto">
            <a:xfrm flipV="1">
              <a:off x="2880" y="3624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4" name="Rectangle 72"/>
            <p:cNvSpPr>
              <a:spLocks noChangeArrowheads="1"/>
            </p:cNvSpPr>
            <p:nvPr/>
          </p:nvSpPr>
          <p:spPr bwMode="auto">
            <a:xfrm>
              <a:off x="30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5" name="Rectangle 71"/>
            <p:cNvSpPr>
              <a:spLocks noChangeArrowheads="1"/>
            </p:cNvSpPr>
            <p:nvPr/>
          </p:nvSpPr>
          <p:spPr bwMode="auto">
            <a:xfrm>
              <a:off x="2160" y="393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6" name="Line 70"/>
            <p:cNvSpPr>
              <a:spLocks noChangeShapeType="1"/>
            </p:cNvSpPr>
            <p:nvPr/>
          </p:nvSpPr>
          <p:spPr bwMode="auto">
            <a:xfrm flipV="1">
              <a:off x="3240" y="3780"/>
              <a:ext cx="144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7" name="Rectangle 69"/>
            <p:cNvSpPr>
              <a:spLocks noChangeArrowheads="1"/>
            </p:cNvSpPr>
            <p:nvPr/>
          </p:nvSpPr>
          <p:spPr bwMode="auto">
            <a:xfrm>
              <a:off x="378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8" name="Oval 68"/>
            <p:cNvSpPr>
              <a:spLocks noChangeArrowheads="1"/>
            </p:cNvSpPr>
            <p:nvPr/>
          </p:nvSpPr>
          <p:spPr bwMode="auto">
            <a:xfrm>
              <a:off x="450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(S·)S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9" name="Line 67"/>
            <p:cNvSpPr>
              <a:spLocks noChangeShapeType="1"/>
            </p:cNvSpPr>
            <p:nvPr/>
          </p:nvSpPr>
          <p:spPr bwMode="auto">
            <a:xfrm flipV="1">
              <a:off x="3600" y="502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0" name="Rectangle 66"/>
            <p:cNvSpPr>
              <a:spLocks noChangeArrowheads="1"/>
            </p:cNvSpPr>
            <p:nvPr/>
          </p:nvSpPr>
          <p:spPr bwMode="auto">
            <a:xfrm>
              <a:off x="396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1" name="Oval 65"/>
            <p:cNvSpPr>
              <a:spLocks noChangeArrowheads="1"/>
            </p:cNvSpPr>
            <p:nvPr/>
          </p:nvSpPr>
          <p:spPr bwMode="auto">
            <a:xfrm>
              <a:off x="7740" y="471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(S)·S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2" name="Line 64"/>
            <p:cNvSpPr>
              <a:spLocks noChangeShapeType="1"/>
            </p:cNvSpPr>
            <p:nvPr/>
          </p:nvSpPr>
          <p:spPr bwMode="auto">
            <a:xfrm flipV="1">
              <a:off x="6300" y="5028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3" name="Rectangle 63"/>
            <p:cNvSpPr>
              <a:spLocks noChangeArrowheads="1"/>
            </p:cNvSpPr>
            <p:nvPr/>
          </p:nvSpPr>
          <p:spPr bwMode="auto">
            <a:xfrm>
              <a:off x="6840" y="456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4" name="Line 62"/>
            <p:cNvSpPr>
              <a:spLocks noChangeShapeType="1"/>
            </p:cNvSpPr>
            <p:nvPr/>
          </p:nvSpPr>
          <p:spPr bwMode="auto">
            <a:xfrm flipH="1" flipV="1">
              <a:off x="6120" y="3780"/>
              <a:ext cx="216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72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66" name="Oval 60"/>
            <p:cNvSpPr>
              <a:spLocks noChangeArrowheads="1"/>
            </p:cNvSpPr>
            <p:nvPr/>
          </p:nvSpPr>
          <p:spPr bwMode="auto">
            <a:xfrm>
              <a:off x="7560" y="2532"/>
              <a:ext cx="198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(S) S·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7" name="Line 59"/>
            <p:cNvSpPr>
              <a:spLocks noChangeShapeType="1"/>
            </p:cNvSpPr>
            <p:nvPr/>
          </p:nvSpPr>
          <p:spPr bwMode="auto">
            <a:xfrm flipV="1">
              <a:off x="8640" y="3156"/>
              <a:ext cx="0" cy="15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8" name="Rectangle 58"/>
            <p:cNvSpPr>
              <a:spLocks noChangeArrowheads="1"/>
            </p:cNvSpPr>
            <p:nvPr/>
          </p:nvSpPr>
          <p:spPr bwMode="auto">
            <a:xfrm>
              <a:off x="8820" y="378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9" name="Arc 57"/>
            <p:cNvSpPr/>
            <p:nvPr/>
          </p:nvSpPr>
          <p:spPr bwMode="auto">
            <a:xfrm rot="5090164">
              <a:off x="3006" y="1397"/>
              <a:ext cx="2979" cy="6836"/>
            </a:xfrm>
            <a:custGeom>
              <a:avLst/>
              <a:gdLst>
                <a:gd name="G0" fmla="+- 14321 0 0"/>
                <a:gd name="G1" fmla="+- 17995 0 0"/>
                <a:gd name="G2" fmla="+- 21600 0 0"/>
                <a:gd name="T0" fmla="*/ 26268 w 35921"/>
                <a:gd name="T1" fmla="*/ 0 h 39595"/>
                <a:gd name="T2" fmla="*/ 0 w 35921"/>
                <a:gd name="T3" fmla="*/ 34165 h 39595"/>
                <a:gd name="T4" fmla="*/ 14321 w 35921"/>
                <a:gd name="T5" fmla="*/ 17995 h 39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5921" h="39595" fill="none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</a:path>
                <a:path w="35921" h="39595" stroke="0" extrusionOk="0">
                  <a:moveTo>
                    <a:pt x="26268" y="-1"/>
                  </a:moveTo>
                  <a:cubicBezTo>
                    <a:pt x="32297" y="4002"/>
                    <a:pt x="35921" y="10758"/>
                    <a:pt x="35921" y="17995"/>
                  </a:cubicBezTo>
                  <a:cubicBezTo>
                    <a:pt x="35921" y="29924"/>
                    <a:pt x="26250" y="39595"/>
                    <a:pt x="14321" y="39595"/>
                  </a:cubicBezTo>
                  <a:cubicBezTo>
                    <a:pt x="9044" y="39595"/>
                    <a:pt x="3950" y="37663"/>
                    <a:pt x="-1" y="34165"/>
                  </a:cubicBezTo>
                  <a:lnTo>
                    <a:pt x="14321" y="17995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0" name="Rectangle 56"/>
            <p:cNvSpPr>
              <a:spLocks noChangeArrowheads="1"/>
            </p:cNvSpPr>
            <p:nvPr/>
          </p:nvSpPr>
          <p:spPr bwMode="auto">
            <a:xfrm>
              <a:off x="4320" y="590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71" name="Line 55"/>
            <p:cNvSpPr>
              <a:spLocks noChangeShapeType="1"/>
            </p:cNvSpPr>
            <p:nvPr/>
          </p:nvSpPr>
          <p:spPr bwMode="auto">
            <a:xfrm flipV="1">
              <a:off x="1800" y="3468"/>
              <a:ext cx="18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</p:grpSp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1498805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auto">
          <a:xfrm>
            <a:off x="5945951" y="4077072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7" name="Rectangle 34"/>
          <p:cNvSpPr>
            <a:spLocks noChangeArrowheads="1"/>
          </p:cNvSpPr>
          <p:nvPr/>
        </p:nvSpPr>
        <p:spPr bwMode="auto">
          <a:xfrm>
            <a:off x="6045556" y="4152303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 →·S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 dirty="0"/>
          </a:p>
          <a:p>
            <a:pPr eaLnBrk="0" hangingPunct="0"/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8" name="Oval 33"/>
          <p:cNvSpPr>
            <a:spLocks noChangeArrowheads="1"/>
          </p:cNvSpPr>
          <p:nvPr/>
        </p:nvSpPr>
        <p:spPr bwMode="auto">
          <a:xfrm>
            <a:off x="6742787" y="4453226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9" name="Line 32"/>
          <p:cNvSpPr>
            <a:spLocks noChangeShapeType="1"/>
          </p:cNvSpPr>
          <p:nvPr/>
        </p:nvSpPr>
        <p:spPr bwMode="auto">
          <a:xfrm>
            <a:off x="5547532" y="4377995"/>
            <a:ext cx="3984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0" name="Line 31"/>
          <p:cNvSpPr>
            <a:spLocks noChangeShapeType="1"/>
          </p:cNvSpPr>
          <p:nvPr/>
        </p:nvSpPr>
        <p:spPr bwMode="auto">
          <a:xfrm>
            <a:off x="7041601" y="4377995"/>
            <a:ext cx="597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7240809" y="4152303"/>
            <a:ext cx="99604" cy="1519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2" name="AutoShape 29"/>
          <p:cNvSpPr>
            <a:spLocks noChangeArrowheads="1"/>
          </p:cNvSpPr>
          <p:nvPr/>
        </p:nvSpPr>
        <p:spPr bwMode="auto">
          <a:xfrm>
            <a:off x="7639228" y="4077072"/>
            <a:ext cx="1095649" cy="4513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7738832" y="4152304"/>
            <a:ext cx="597627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S’ →S·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4" name="Oval 27"/>
          <p:cNvSpPr>
            <a:spLocks noChangeArrowheads="1"/>
          </p:cNvSpPr>
          <p:nvPr/>
        </p:nvSpPr>
        <p:spPr bwMode="auto">
          <a:xfrm>
            <a:off x="8436064" y="4227533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5" name="AutoShape 26"/>
          <p:cNvSpPr>
            <a:spLocks noChangeArrowheads="1"/>
          </p:cNvSpPr>
          <p:nvPr/>
        </p:nvSpPr>
        <p:spPr bwMode="auto">
          <a:xfrm>
            <a:off x="7639228" y="4754148"/>
            <a:ext cx="1095649" cy="4513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6" name="Rectangle 25"/>
          <p:cNvSpPr>
            <a:spLocks noChangeArrowheads="1"/>
          </p:cNvSpPr>
          <p:nvPr/>
        </p:nvSpPr>
        <p:spPr bwMode="auto">
          <a:xfrm>
            <a:off x="7738832" y="4829380"/>
            <a:ext cx="597627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→(S·)S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7" name="Oval 24"/>
          <p:cNvSpPr>
            <a:spLocks noChangeArrowheads="1"/>
          </p:cNvSpPr>
          <p:nvPr/>
        </p:nvSpPr>
        <p:spPr bwMode="auto">
          <a:xfrm>
            <a:off x="8436064" y="4904610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18" name="AutoShape 23"/>
          <p:cNvSpPr>
            <a:spLocks noChangeArrowheads="1"/>
          </p:cNvSpPr>
          <p:nvPr/>
        </p:nvSpPr>
        <p:spPr bwMode="auto">
          <a:xfrm>
            <a:off x="5945951" y="5130302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auto">
          <a:xfrm>
            <a:off x="6045556" y="5205533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→(·S)S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 dirty="0"/>
          </a:p>
          <a:p>
            <a:pPr eaLnBrk="0" hangingPunct="0"/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0" name="Oval 21"/>
          <p:cNvSpPr>
            <a:spLocks noChangeArrowheads="1"/>
          </p:cNvSpPr>
          <p:nvPr/>
        </p:nvSpPr>
        <p:spPr bwMode="auto">
          <a:xfrm>
            <a:off x="6742787" y="5506455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6443973" y="4754148"/>
            <a:ext cx="0" cy="3761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7340413" y="5581687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 flipV="1">
            <a:off x="7041601" y="4979842"/>
            <a:ext cx="597627" cy="30092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7240809" y="4904610"/>
            <a:ext cx="99604" cy="1519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25" name="AutoShape 16"/>
          <p:cNvSpPr>
            <a:spLocks noChangeArrowheads="1"/>
          </p:cNvSpPr>
          <p:nvPr/>
        </p:nvSpPr>
        <p:spPr bwMode="auto">
          <a:xfrm>
            <a:off x="7639228" y="5732148"/>
            <a:ext cx="1095649" cy="6770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6" name="Rectangle 15"/>
          <p:cNvSpPr>
            <a:spLocks noChangeArrowheads="1"/>
          </p:cNvSpPr>
          <p:nvPr/>
        </p:nvSpPr>
        <p:spPr bwMode="auto">
          <a:xfrm>
            <a:off x="7738832" y="5807378"/>
            <a:ext cx="697231" cy="45138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→(S) ·S</a:t>
            </a:r>
            <a:endParaRPr lang="en-US" altLang="zh-CN" sz="1200" b="1"/>
          </a:p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→·(S)S</a:t>
            </a:r>
            <a:endParaRPr lang="en-US" altLang="zh-CN" sz="1200" b="1"/>
          </a:p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→·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27" name="Oval 14"/>
          <p:cNvSpPr>
            <a:spLocks noChangeArrowheads="1"/>
          </p:cNvSpPr>
          <p:nvPr/>
        </p:nvSpPr>
        <p:spPr bwMode="auto">
          <a:xfrm>
            <a:off x="8436064" y="6108301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28" name="Line 13"/>
          <p:cNvSpPr>
            <a:spLocks noChangeShapeType="1"/>
          </p:cNvSpPr>
          <p:nvPr/>
        </p:nvSpPr>
        <p:spPr bwMode="auto">
          <a:xfrm>
            <a:off x="8137249" y="5205534"/>
            <a:ext cx="0" cy="526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29" name="Rectangle 12"/>
          <p:cNvSpPr>
            <a:spLocks noChangeArrowheads="1"/>
          </p:cNvSpPr>
          <p:nvPr/>
        </p:nvSpPr>
        <p:spPr bwMode="auto">
          <a:xfrm>
            <a:off x="8236854" y="5355995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0" name="Line 11"/>
          <p:cNvSpPr>
            <a:spLocks noChangeShapeType="1"/>
          </p:cNvSpPr>
          <p:nvPr/>
        </p:nvSpPr>
        <p:spPr bwMode="auto">
          <a:xfrm flipH="1" flipV="1">
            <a:off x="7041601" y="5581687"/>
            <a:ext cx="597627" cy="52661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1" name="AutoShape 10"/>
          <p:cNvSpPr>
            <a:spLocks noChangeArrowheads="1"/>
          </p:cNvSpPr>
          <p:nvPr/>
        </p:nvSpPr>
        <p:spPr bwMode="auto">
          <a:xfrm>
            <a:off x="9232900" y="5807378"/>
            <a:ext cx="1095649" cy="4513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2" name="Rectangle 9"/>
          <p:cNvSpPr>
            <a:spLocks noChangeArrowheads="1"/>
          </p:cNvSpPr>
          <p:nvPr/>
        </p:nvSpPr>
        <p:spPr bwMode="auto">
          <a:xfrm>
            <a:off x="9332504" y="5882610"/>
            <a:ext cx="597627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 →(S)S·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3" name="Oval 8"/>
          <p:cNvSpPr>
            <a:spLocks noChangeArrowheads="1"/>
          </p:cNvSpPr>
          <p:nvPr/>
        </p:nvSpPr>
        <p:spPr bwMode="auto">
          <a:xfrm>
            <a:off x="10029736" y="5957840"/>
            <a:ext cx="199209" cy="225692"/>
          </a:xfrm>
          <a:prstGeom prst="ellipse">
            <a:avLst/>
          </a:prstGeom>
          <a:solidFill>
            <a:srgbClr val="FFFF00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>
            <a:off x="8734876" y="6033070"/>
            <a:ext cx="49802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8934085" y="5807378"/>
            <a:ext cx="99604" cy="15190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6244764" y="4904611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846346" y="5506455"/>
            <a:ext cx="996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8" name="Arc 3"/>
          <p:cNvSpPr/>
          <p:nvPr/>
        </p:nvSpPr>
        <p:spPr bwMode="auto">
          <a:xfrm>
            <a:off x="5647137" y="5506455"/>
            <a:ext cx="418892" cy="376154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37472 w 37472"/>
              <a:gd name="T1" fmla="*/ 36251 h 43200"/>
              <a:gd name="T2" fmla="*/ 21600 w 37472"/>
              <a:gd name="T3" fmla="*/ 0 h 43200"/>
              <a:gd name="T4" fmla="*/ 21600 w 37472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472" h="43200" fill="none" extrusionOk="0">
                <a:moveTo>
                  <a:pt x="37471" y="36250"/>
                </a:moveTo>
                <a:cubicBezTo>
                  <a:pt x="33382" y="40680"/>
                  <a:pt x="27628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</a:path>
              <a:path w="37472" h="43200" stroke="0" extrusionOk="0">
                <a:moveTo>
                  <a:pt x="37471" y="36250"/>
                </a:moveTo>
                <a:cubicBezTo>
                  <a:pt x="33382" y="40680"/>
                  <a:pt x="27628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72" name="Rectangle 2"/>
          <p:cNvSpPr>
            <a:spLocks noChangeArrowheads="1"/>
          </p:cNvSpPr>
          <p:nvPr/>
        </p:nvSpPr>
        <p:spPr bwMode="auto">
          <a:xfrm>
            <a:off x="5447928" y="5732149"/>
            <a:ext cx="99604" cy="15046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3" name="内容占位符 3"/>
              <p:cNvGraphicFramePr/>
              <p:nvPr/>
            </p:nvGraphicFramePr>
            <p:xfrm>
              <a:off x="1109980" y="3439115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9274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695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1376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1375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(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3" name="内容占位符 3"/>
              <p:cNvGraphicFramePr/>
              <p:nvPr/>
            </p:nvGraphicFramePr>
            <p:xfrm>
              <a:off x="1109980" y="3439115"/>
              <a:ext cx="3374998" cy="2518725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585181"/>
                    <a:gridCol w="892742"/>
                    <a:gridCol w="669556"/>
                    <a:gridCol w="613760"/>
                    <a:gridCol w="613759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1800" b="1" dirty="0">
                              <a:ea typeface="Cambria Math" panose="02040503050406030204" pitchFamily="18" charset="0"/>
                            </a:rPr>
                            <a:t>{3,4,5}</a:t>
                          </a:r>
                          <a:endParaRPr lang="en-US" altLang="zh-CN" sz="18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8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{6}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{3,4,7}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1800" b="1" kern="100" dirty="0">
                              <a:solidFill>
                                <a:schemeClr val="tx1"/>
                              </a:solidFill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18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18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18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4" name="文本框 73"/>
          <p:cNvSpPr txBox="1"/>
          <p:nvPr/>
        </p:nvSpPr>
        <p:spPr>
          <a:xfrm>
            <a:off x="6529939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8207560" y="153261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504085" y="21909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050487" y="236077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503554" y="310358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8113103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9983338" y="308776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9941589" y="193764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"/>
          <p:cNvGrpSpPr/>
          <p:nvPr/>
        </p:nvGrpSpPr>
        <p:grpSpPr bwMode="auto">
          <a:xfrm>
            <a:off x="5807968" y="1412776"/>
            <a:ext cx="4320480" cy="2376264"/>
            <a:chOff x="1800" y="1440"/>
            <a:chExt cx="8100" cy="3432"/>
          </a:xfrm>
        </p:grpSpPr>
        <p:sp>
          <p:nvSpPr>
            <p:cNvPr id="6" name="Oval 30"/>
            <p:cNvSpPr>
              <a:spLocks noChangeArrowheads="1"/>
            </p:cNvSpPr>
            <p:nvPr/>
          </p:nvSpPr>
          <p:spPr bwMode="auto">
            <a:xfrm>
              <a:off x="252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→·E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>
              <a:off x="4320" y="1908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4680" y="144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 dirty="0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9" name="Line 27"/>
            <p:cNvSpPr>
              <a:spLocks noChangeShapeType="1"/>
            </p:cNvSpPr>
            <p:nvPr/>
          </p:nvSpPr>
          <p:spPr bwMode="auto">
            <a:xfrm>
              <a:off x="1800" y="1908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0" name="Oval 26"/>
            <p:cNvSpPr>
              <a:spLocks noChangeArrowheads="1"/>
            </p:cNvSpPr>
            <p:nvPr/>
          </p:nvSpPr>
          <p:spPr bwMode="auto">
            <a:xfrm>
              <a:off x="540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→E·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1" name="Line 25"/>
            <p:cNvSpPr>
              <a:spLocks noChangeShapeType="1"/>
            </p:cNvSpPr>
            <p:nvPr/>
          </p:nvSpPr>
          <p:spPr bwMode="auto">
            <a:xfrm>
              <a:off x="342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2" name="Rectangle 24"/>
            <p:cNvSpPr>
              <a:spLocks noChangeArrowheads="1"/>
            </p:cNvSpPr>
            <p:nvPr/>
          </p:nvSpPr>
          <p:spPr bwMode="auto">
            <a:xfrm>
              <a:off x="306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3" name="Oval 23"/>
            <p:cNvSpPr>
              <a:spLocks noChangeArrowheads="1"/>
            </p:cNvSpPr>
            <p:nvPr/>
          </p:nvSpPr>
          <p:spPr bwMode="auto">
            <a:xfrm>
              <a:off x="252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</a:t>
              </a:r>
              <a:r>
                <a:rPr lang="en-US" altLang="zh-CN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E+n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14" name="Oval 22"/>
            <p:cNvSpPr>
              <a:spLocks noChangeArrowheads="1"/>
            </p:cNvSpPr>
            <p:nvPr/>
          </p:nvSpPr>
          <p:spPr bwMode="auto">
            <a:xfrm>
              <a:off x="54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3600" y="2220"/>
              <a:ext cx="198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4860" y="222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252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E·+n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3420" y="3468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6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V="1">
              <a:off x="4320" y="4560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4680" y="409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V="1">
              <a:off x="7200" y="4560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7560" y="393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>
                <a:latin typeface="Arial" panose="020B0604020202020204" pitchFamily="34" charset="0"/>
              </a:endParaRPr>
            </a:p>
          </p:txBody>
        </p:sp>
        <p:grpSp>
          <p:nvGrpSpPr>
            <p:cNvPr id="24" name="Group 10"/>
            <p:cNvGrpSpPr/>
            <p:nvPr/>
          </p:nvGrpSpPr>
          <p:grpSpPr bwMode="auto">
            <a:xfrm rot="-975721">
              <a:off x="2534" y="3197"/>
              <a:ext cx="545" cy="550"/>
              <a:chOff x="1909" y="3378"/>
              <a:chExt cx="6833" cy="2818"/>
            </a:xfrm>
          </p:grpSpPr>
          <p:sp>
            <p:nvSpPr>
              <p:cNvPr id="33" name="Arc 12"/>
              <p:cNvSpPr/>
              <p:nvPr/>
            </p:nvSpPr>
            <p:spPr bwMode="auto">
              <a:xfrm rot="5090164">
                <a:off x="3965" y="1419"/>
                <a:ext cx="2721" cy="6833"/>
              </a:xfrm>
              <a:custGeom>
                <a:avLst/>
                <a:gdLst>
                  <a:gd name="G0" fmla="+- 14321 0 0"/>
                  <a:gd name="G1" fmla="+- 17995 0 0"/>
                  <a:gd name="G2" fmla="+- 21600 0 0"/>
                  <a:gd name="T0" fmla="*/ 26268 w 35921"/>
                  <a:gd name="T1" fmla="*/ 0 h 39595"/>
                  <a:gd name="T2" fmla="*/ 0 w 35921"/>
                  <a:gd name="T3" fmla="*/ 34165 h 39595"/>
                  <a:gd name="T4" fmla="*/ 14321 w 35921"/>
                  <a:gd name="T5" fmla="*/ 17995 h 39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921" h="39595" fill="none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</a:path>
                  <a:path w="35921" h="39595" stroke="0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  <a:lnTo>
                      <a:pt x="14321" y="17995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  <p:sp>
            <p:nvSpPr>
              <p:cNvPr id="34" name="Line 11"/>
              <p:cNvSpPr>
                <a:spLocks noChangeShapeType="1"/>
              </p:cNvSpPr>
              <p:nvPr/>
            </p:nvSpPr>
            <p:spPr bwMode="auto">
              <a:xfrm flipV="1">
                <a:off x="2583" y="3378"/>
                <a:ext cx="180" cy="1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</p:grp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4320" y="3156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432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7200" y="3156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738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9" name="Oval 5"/>
            <p:cNvSpPr>
              <a:spLocks noChangeArrowheads="1"/>
            </p:cNvSpPr>
            <p:nvPr/>
          </p:nvSpPr>
          <p:spPr bwMode="auto">
            <a:xfrm>
              <a:off x="81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0" name="Oval 4"/>
            <p:cNvSpPr>
              <a:spLocks noChangeArrowheads="1"/>
            </p:cNvSpPr>
            <p:nvPr/>
          </p:nvSpPr>
          <p:spPr bwMode="auto">
            <a:xfrm>
              <a:off x="54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1" name="Oval 3"/>
            <p:cNvSpPr>
              <a:spLocks noChangeArrowheads="1"/>
            </p:cNvSpPr>
            <p:nvPr/>
          </p:nvSpPr>
          <p:spPr bwMode="auto">
            <a:xfrm>
              <a:off x="81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2" name="Rectangle 2"/>
            <p:cNvSpPr>
              <a:spLocks noChangeArrowheads="1"/>
            </p:cNvSpPr>
            <p:nvPr/>
          </p:nvSpPr>
          <p:spPr bwMode="auto">
            <a:xfrm>
              <a:off x="2160" y="362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4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6876088" y="160159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428218" y="159174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918429" y="246930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388254" y="245095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815488" y="2474009"/>
            <a:ext cx="333425" cy="28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918429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469378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902214" y="3441080"/>
            <a:ext cx="342783" cy="279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8" name="内容占位符 3"/>
              <p:cNvGraphicFramePr/>
              <p:nvPr/>
            </p:nvGraphicFramePr>
            <p:xfrm>
              <a:off x="1415480" y="3718080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38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54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32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328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𝒏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𝑬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8" name="内容占位符 3"/>
              <p:cNvGraphicFramePr/>
              <p:nvPr/>
            </p:nvGraphicFramePr>
            <p:xfrm>
              <a:off x="1415480" y="3718080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/>
                    <a:gridCol w="993868"/>
                    <a:gridCol w="745401"/>
                    <a:gridCol w="683284"/>
                    <a:gridCol w="683283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9" name="矩形: 圆角 68"/>
          <p:cNvSpPr/>
          <p:nvPr/>
        </p:nvSpPr>
        <p:spPr bwMode="auto">
          <a:xfrm>
            <a:off x="1426384" y="4149080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0" name="矩形: 圆角 69"/>
          <p:cNvSpPr/>
          <p:nvPr/>
        </p:nvSpPr>
        <p:spPr bwMode="auto">
          <a:xfrm>
            <a:off x="2099077" y="4144618"/>
            <a:ext cx="93714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1" name="矩形: 圆角 70"/>
          <p:cNvSpPr/>
          <p:nvPr/>
        </p:nvSpPr>
        <p:spPr bwMode="auto">
          <a:xfrm>
            <a:off x="3079519" y="4148329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2" name="矩形: 圆角 71"/>
          <p:cNvSpPr/>
          <p:nvPr/>
        </p:nvSpPr>
        <p:spPr bwMode="auto">
          <a:xfrm>
            <a:off x="4517738" y="4159565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3" name="矩形: 圆角 72"/>
          <p:cNvSpPr/>
          <p:nvPr/>
        </p:nvSpPr>
        <p:spPr bwMode="auto">
          <a:xfrm>
            <a:off x="1426384" y="4505814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4" name="矩形: 圆角 73"/>
          <p:cNvSpPr/>
          <p:nvPr/>
        </p:nvSpPr>
        <p:spPr bwMode="auto">
          <a:xfrm>
            <a:off x="2286022" y="4521325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5" name="矩形: 圆角 74"/>
          <p:cNvSpPr/>
          <p:nvPr/>
        </p:nvSpPr>
        <p:spPr bwMode="auto">
          <a:xfrm>
            <a:off x="1415478" y="4867866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6" name="矩形: 圆角 75"/>
          <p:cNvSpPr/>
          <p:nvPr/>
        </p:nvSpPr>
        <p:spPr bwMode="auto">
          <a:xfrm>
            <a:off x="2273327" y="4876192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7" name="矩形: 圆角 76"/>
          <p:cNvSpPr/>
          <p:nvPr/>
        </p:nvSpPr>
        <p:spPr bwMode="auto">
          <a:xfrm>
            <a:off x="3819014" y="4867866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8" name="矩形: 圆角 77"/>
          <p:cNvSpPr/>
          <p:nvPr/>
        </p:nvSpPr>
        <p:spPr bwMode="auto">
          <a:xfrm>
            <a:off x="1426953" y="5218999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9" name="矩形: 圆角 78"/>
          <p:cNvSpPr/>
          <p:nvPr/>
        </p:nvSpPr>
        <p:spPr bwMode="auto">
          <a:xfrm>
            <a:off x="2211544" y="5231059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0" name="矩形: 圆角 79"/>
          <p:cNvSpPr/>
          <p:nvPr/>
        </p:nvSpPr>
        <p:spPr bwMode="auto">
          <a:xfrm>
            <a:off x="3125699" y="5231059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1" name="矩形: 圆角 80"/>
          <p:cNvSpPr/>
          <p:nvPr/>
        </p:nvSpPr>
        <p:spPr bwMode="auto">
          <a:xfrm>
            <a:off x="1427619" y="5568067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2" name="矩形: 圆角 81"/>
          <p:cNvSpPr/>
          <p:nvPr/>
        </p:nvSpPr>
        <p:spPr bwMode="auto">
          <a:xfrm>
            <a:off x="2260637" y="5568067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"/>
          <p:cNvGrpSpPr/>
          <p:nvPr/>
        </p:nvGrpSpPr>
        <p:grpSpPr bwMode="auto">
          <a:xfrm>
            <a:off x="5807968" y="1412776"/>
            <a:ext cx="4320480" cy="2376264"/>
            <a:chOff x="1800" y="1440"/>
            <a:chExt cx="8100" cy="3432"/>
          </a:xfrm>
        </p:grpSpPr>
        <p:sp>
          <p:nvSpPr>
            <p:cNvPr id="6" name="Oval 30"/>
            <p:cNvSpPr>
              <a:spLocks noChangeArrowheads="1"/>
            </p:cNvSpPr>
            <p:nvPr/>
          </p:nvSpPr>
          <p:spPr bwMode="auto">
            <a:xfrm>
              <a:off x="252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→·E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>
              <a:off x="4320" y="1908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4680" y="144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 dirty="0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9" name="Line 27"/>
            <p:cNvSpPr>
              <a:spLocks noChangeShapeType="1"/>
            </p:cNvSpPr>
            <p:nvPr/>
          </p:nvSpPr>
          <p:spPr bwMode="auto">
            <a:xfrm>
              <a:off x="1800" y="1908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0" name="Oval 26"/>
            <p:cNvSpPr>
              <a:spLocks noChangeArrowheads="1"/>
            </p:cNvSpPr>
            <p:nvPr/>
          </p:nvSpPr>
          <p:spPr bwMode="auto">
            <a:xfrm>
              <a:off x="540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→E·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1" name="Line 25"/>
            <p:cNvSpPr>
              <a:spLocks noChangeShapeType="1"/>
            </p:cNvSpPr>
            <p:nvPr/>
          </p:nvSpPr>
          <p:spPr bwMode="auto">
            <a:xfrm>
              <a:off x="342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2" name="Rectangle 24"/>
            <p:cNvSpPr>
              <a:spLocks noChangeArrowheads="1"/>
            </p:cNvSpPr>
            <p:nvPr/>
          </p:nvSpPr>
          <p:spPr bwMode="auto">
            <a:xfrm>
              <a:off x="306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3" name="Oval 23"/>
            <p:cNvSpPr>
              <a:spLocks noChangeArrowheads="1"/>
            </p:cNvSpPr>
            <p:nvPr/>
          </p:nvSpPr>
          <p:spPr bwMode="auto">
            <a:xfrm>
              <a:off x="252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</a:t>
              </a:r>
              <a:r>
                <a:rPr lang="en-US" altLang="zh-CN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E+n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14" name="Oval 22"/>
            <p:cNvSpPr>
              <a:spLocks noChangeArrowheads="1"/>
            </p:cNvSpPr>
            <p:nvPr/>
          </p:nvSpPr>
          <p:spPr bwMode="auto">
            <a:xfrm>
              <a:off x="54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3600" y="2220"/>
              <a:ext cx="198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4860" y="222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252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E·+n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3420" y="3468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6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V="1">
              <a:off x="4320" y="4560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4680" y="409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V="1">
              <a:off x="7200" y="4560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7560" y="393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>
                <a:latin typeface="Arial" panose="020B0604020202020204" pitchFamily="34" charset="0"/>
              </a:endParaRPr>
            </a:p>
          </p:txBody>
        </p:sp>
        <p:grpSp>
          <p:nvGrpSpPr>
            <p:cNvPr id="24" name="Group 10"/>
            <p:cNvGrpSpPr/>
            <p:nvPr/>
          </p:nvGrpSpPr>
          <p:grpSpPr bwMode="auto">
            <a:xfrm rot="-975721">
              <a:off x="2534" y="3197"/>
              <a:ext cx="545" cy="550"/>
              <a:chOff x="1909" y="3378"/>
              <a:chExt cx="6833" cy="2818"/>
            </a:xfrm>
          </p:grpSpPr>
          <p:sp>
            <p:nvSpPr>
              <p:cNvPr id="33" name="Arc 12"/>
              <p:cNvSpPr/>
              <p:nvPr/>
            </p:nvSpPr>
            <p:spPr bwMode="auto">
              <a:xfrm rot="5090164">
                <a:off x="3965" y="1419"/>
                <a:ext cx="2721" cy="6833"/>
              </a:xfrm>
              <a:custGeom>
                <a:avLst/>
                <a:gdLst>
                  <a:gd name="G0" fmla="+- 14321 0 0"/>
                  <a:gd name="G1" fmla="+- 17995 0 0"/>
                  <a:gd name="G2" fmla="+- 21600 0 0"/>
                  <a:gd name="T0" fmla="*/ 26268 w 35921"/>
                  <a:gd name="T1" fmla="*/ 0 h 39595"/>
                  <a:gd name="T2" fmla="*/ 0 w 35921"/>
                  <a:gd name="T3" fmla="*/ 34165 h 39595"/>
                  <a:gd name="T4" fmla="*/ 14321 w 35921"/>
                  <a:gd name="T5" fmla="*/ 17995 h 39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921" h="39595" fill="none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</a:path>
                  <a:path w="35921" h="39595" stroke="0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  <a:lnTo>
                      <a:pt x="14321" y="17995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  <p:sp>
            <p:nvSpPr>
              <p:cNvPr id="34" name="Line 11"/>
              <p:cNvSpPr>
                <a:spLocks noChangeShapeType="1"/>
              </p:cNvSpPr>
              <p:nvPr/>
            </p:nvSpPr>
            <p:spPr bwMode="auto">
              <a:xfrm flipV="1">
                <a:off x="2583" y="3378"/>
                <a:ext cx="180" cy="1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</p:grp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4320" y="3156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432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7200" y="3156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738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9" name="Oval 5"/>
            <p:cNvSpPr>
              <a:spLocks noChangeArrowheads="1"/>
            </p:cNvSpPr>
            <p:nvPr/>
          </p:nvSpPr>
          <p:spPr bwMode="auto">
            <a:xfrm>
              <a:off x="81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0" name="Oval 4"/>
            <p:cNvSpPr>
              <a:spLocks noChangeArrowheads="1"/>
            </p:cNvSpPr>
            <p:nvPr/>
          </p:nvSpPr>
          <p:spPr bwMode="auto">
            <a:xfrm>
              <a:off x="54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1" name="Oval 3"/>
            <p:cNvSpPr>
              <a:spLocks noChangeArrowheads="1"/>
            </p:cNvSpPr>
            <p:nvPr/>
          </p:nvSpPr>
          <p:spPr bwMode="auto">
            <a:xfrm>
              <a:off x="81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2" name="Rectangle 2"/>
            <p:cNvSpPr>
              <a:spLocks noChangeArrowheads="1"/>
            </p:cNvSpPr>
            <p:nvPr/>
          </p:nvSpPr>
          <p:spPr bwMode="auto">
            <a:xfrm>
              <a:off x="2160" y="362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4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AutoShape 25"/>
          <p:cNvSpPr>
            <a:spLocks noChangeArrowheads="1"/>
          </p:cNvSpPr>
          <p:nvPr/>
        </p:nvSpPr>
        <p:spPr bwMode="auto">
          <a:xfrm>
            <a:off x="6202447" y="4263582"/>
            <a:ext cx="1084816" cy="8912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6301066" y="4362613"/>
            <a:ext cx="690338" cy="59417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pt-BR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pt-BR" altLang="zh-CN" sz="1200" b="1" dirty="0"/>
          </a:p>
          <a:p>
            <a:pPr eaLnBrk="0" hangingPunct="0"/>
            <a:r>
              <a:rPr lang="pt-BR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→·E+n</a:t>
            </a:r>
            <a:endParaRPr lang="pt-BR" altLang="zh-CN" sz="1200" b="1" dirty="0"/>
          </a:p>
          <a:p>
            <a:pPr eaLnBrk="0" hangingPunct="0"/>
            <a:r>
              <a:rPr lang="pt-BR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→·n</a:t>
            </a:r>
            <a:endParaRPr lang="pt-BR" altLang="zh-CN" sz="1200" b="1" dirty="0"/>
          </a:p>
          <a:p>
            <a:pPr eaLnBrk="0" hangingPunct="0"/>
            <a:endParaRPr lang="pt-BR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38" name="Oval 23"/>
          <p:cNvSpPr>
            <a:spLocks noChangeArrowheads="1"/>
          </p:cNvSpPr>
          <p:nvPr/>
        </p:nvSpPr>
        <p:spPr bwMode="auto">
          <a:xfrm>
            <a:off x="6991405" y="4758732"/>
            <a:ext cx="197239" cy="29708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9" name="Line 22"/>
          <p:cNvSpPr>
            <a:spLocks noChangeShapeType="1"/>
          </p:cNvSpPr>
          <p:nvPr/>
        </p:nvSpPr>
        <p:spPr bwMode="auto">
          <a:xfrm>
            <a:off x="5807969" y="4659701"/>
            <a:ext cx="39447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60" name="文本框 59"/>
          <p:cNvSpPr txBox="1"/>
          <p:nvPr/>
        </p:nvSpPr>
        <p:spPr>
          <a:xfrm>
            <a:off x="6876088" y="160159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428218" y="159174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918429" y="246930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388254" y="245095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815488" y="2474009"/>
            <a:ext cx="333425" cy="28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918429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469378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902214" y="3441080"/>
            <a:ext cx="342783" cy="279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8" name="内容占位符 3"/>
              <p:cNvGraphicFramePr/>
              <p:nvPr/>
            </p:nvGraphicFramePr>
            <p:xfrm>
              <a:off x="1139635" y="3675895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38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54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32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328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𝒏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𝑬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8" name="内容占位符 3"/>
              <p:cNvGraphicFramePr/>
              <p:nvPr/>
            </p:nvGraphicFramePr>
            <p:xfrm>
              <a:off x="1139635" y="3675895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/>
                    <a:gridCol w="993868"/>
                    <a:gridCol w="745401"/>
                    <a:gridCol w="683284"/>
                    <a:gridCol w="683283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"/>
          <p:cNvGrpSpPr/>
          <p:nvPr/>
        </p:nvGrpSpPr>
        <p:grpSpPr bwMode="auto">
          <a:xfrm>
            <a:off x="5807968" y="1412776"/>
            <a:ext cx="4320480" cy="2376264"/>
            <a:chOff x="1800" y="1440"/>
            <a:chExt cx="8100" cy="3432"/>
          </a:xfrm>
        </p:grpSpPr>
        <p:sp>
          <p:nvSpPr>
            <p:cNvPr id="6" name="Oval 30"/>
            <p:cNvSpPr>
              <a:spLocks noChangeArrowheads="1"/>
            </p:cNvSpPr>
            <p:nvPr/>
          </p:nvSpPr>
          <p:spPr bwMode="auto">
            <a:xfrm>
              <a:off x="252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→·E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>
              <a:off x="4320" y="1908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4680" y="144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 dirty="0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9" name="Line 27"/>
            <p:cNvSpPr>
              <a:spLocks noChangeShapeType="1"/>
            </p:cNvSpPr>
            <p:nvPr/>
          </p:nvSpPr>
          <p:spPr bwMode="auto">
            <a:xfrm>
              <a:off x="1800" y="1908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0" name="Oval 26"/>
            <p:cNvSpPr>
              <a:spLocks noChangeArrowheads="1"/>
            </p:cNvSpPr>
            <p:nvPr/>
          </p:nvSpPr>
          <p:spPr bwMode="auto">
            <a:xfrm>
              <a:off x="540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→E·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1" name="Line 25"/>
            <p:cNvSpPr>
              <a:spLocks noChangeShapeType="1"/>
            </p:cNvSpPr>
            <p:nvPr/>
          </p:nvSpPr>
          <p:spPr bwMode="auto">
            <a:xfrm>
              <a:off x="342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2" name="Rectangle 24"/>
            <p:cNvSpPr>
              <a:spLocks noChangeArrowheads="1"/>
            </p:cNvSpPr>
            <p:nvPr/>
          </p:nvSpPr>
          <p:spPr bwMode="auto">
            <a:xfrm>
              <a:off x="306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3" name="Oval 23"/>
            <p:cNvSpPr>
              <a:spLocks noChangeArrowheads="1"/>
            </p:cNvSpPr>
            <p:nvPr/>
          </p:nvSpPr>
          <p:spPr bwMode="auto">
            <a:xfrm>
              <a:off x="252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</a:t>
              </a:r>
              <a:r>
                <a:rPr lang="en-US" altLang="zh-CN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E+n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14" name="Oval 22"/>
            <p:cNvSpPr>
              <a:spLocks noChangeArrowheads="1"/>
            </p:cNvSpPr>
            <p:nvPr/>
          </p:nvSpPr>
          <p:spPr bwMode="auto">
            <a:xfrm>
              <a:off x="54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3600" y="2220"/>
              <a:ext cx="198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4860" y="222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252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E·+n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3420" y="3468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6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V="1">
              <a:off x="4320" y="4560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4680" y="409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V="1">
              <a:off x="7200" y="4560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7560" y="393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>
                <a:latin typeface="Arial" panose="020B0604020202020204" pitchFamily="34" charset="0"/>
              </a:endParaRPr>
            </a:p>
          </p:txBody>
        </p:sp>
        <p:grpSp>
          <p:nvGrpSpPr>
            <p:cNvPr id="24" name="Group 10"/>
            <p:cNvGrpSpPr/>
            <p:nvPr/>
          </p:nvGrpSpPr>
          <p:grpSpPr bwMode="auto">
            <a:xfrm rot="-975721">
              <a:off x="2534" y="3197"/>
              <a:ext cx="545" cy="550"/>
              <a:chOff x="1909" y="3378"/>
              <a:chExt cx="6833" cy="2818"/>
            </a:xfrm>
          </p:grpSpPr>
          <p:sp>
            <p:nvSpPr>
              <p:cNvPr id="33" name="Arc 12"/>
              <p:cNvSpPr/>
              <p:nvPr/>
            </p:nvSpPr>
            <p:spPr bwMode="auto">
              <a:xfrm rot="5090164">
                <a:off x="3965" y="1419"/>
                <a:ext cx="2721" cy="6833"/>
              </a:xfrm>
              <a:custGeom>
                <a:avLst/>
                <a:gdLst>
                  <a:gd name="G0" fmla="+- 14321 0 0"/>
                  <a:gd name="G1" fmla="+- 17995 0 0"/>
                  <a:gd name="G2" fmla="+- 21600 0 0"/>
                  <a:gd name="T0" fmla="*/ 26268 w 35921"/>
                  <a:gd name="T1" fmla="*/ 0 h 39595"/>
                  <a:gd name="T2" fmla="*/ 0 w 35921"/>
                  <a:gd name="T3" fmla="*/ 34165 h 39595"/>
                  <a:gd name="T4" fmla="*/ 14321 w 35921"/>
                  <a:gd name="T5" fmla="*/ 17995 h 39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921" h="39595" fill="none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</a:path>
                  <a:path w="35921" h="39595" stroke="0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  <a:lnTo>
                      <a:pt x="14321" y="17995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  <p:sp>
            <p:nvSpPr>
              <p:cNvPr id="34" name="Line 11"/>
              <p:cNvSpPr>
                <a:spLocks noChangeShapeType="1"/>
              </p:cNvSpPr>
              <p:nvPr/>
            </p:nvSpPr>
            <p:spPr bwMode="auto">
              <a:xfrm flipV="1">
                <a:off x="2583" y="3378"/>
                <a:ext cx="180" cy="1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</p:grp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4320" y="3156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432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7200" y="3156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738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9" name="Oval 5"/>
            <p:cNvSpPr>
              <a:spLocks noChangeArrowheads="1"/>
            </p:cNvSpPr>
            <p:nvPr/>
          </p:nvSpPr>
          <p:spPr bwMode="auto">
            <a:xfrm>
              <a:off x="81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0" name="Oval 4"/>
            <p:cNvSpPr>
              <a:spLocks noChangeArrowheads="1"/>
            </p:cNvSpPr>
            <p:nvPr/>
          </p:nvSpPr>
          <p:spPr bwMode="auto">
            <a:xfrm>
              <a:off x="54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1" name="Oval 3"/>
            <p:cNvSpPr>
              <a:spLocks noChangeArrowheads="1"/>
            </p:cNvSpPr>
            <p:nvPr/>
          </p:nvSpPr>
          <p:spPr bwMode="auto">
            <a:xfrm>
              <a:off x="81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2" name="Rectangle 2"/>
            <p:cNvSpPr>
              <a:spLocks noChangeArrowheads="1"/>
            </p:cNvSpPr>
            <p:nvPr/>
          </p:nvSpPr>
          <p:spPr bwMode="auto">
            <a:xfrm>
              <a:off x="2160" y="362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4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AutoShape 25"/>
          <p:cNvSpPr>
            <a:spLocks noChangeArrowheads="1"/>
          </p:cNvSpPr>
          <p:nvPr/>
        </p:nvSpPr>
        <p:spPr bwMode="auto">
          <a:xfrm>
            <a:off x="6202447" y="4263582"/>
            <a:ext cx="1084816" cy="8912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6301066" y="4362613"/>
            <a:ext cx="690338" cy="59417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pt-BR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pt-BR" altLang="zh-CN" sz="1200" b="1" dirty="0"/>
          </a:p>
          <a:p>
            <a:pPr eaLnBrk="0" hangingPunct="0"/>
            <a:r>
              <a:rPr lang="pt-BR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→·E+n</a:t>
            </a:r>
            <a:endParaRPr lang="pt-BR" altLang="zh-CN" sz="1200" b="1" dirty="0"/>
          </a:p>
          <a:p>
            <a:pPr eaLnBrk="0" hangingPunct="0"/>
            <a:r>
              <a:rPr lang="pt-BR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→·n</a:t>
            </a:r>
            <a:endParaRPr lang="pt-BR" altLang="zh-CN" sz="1200" b="1" dirty="0"/>
          </a:p>
          <a:p>
            <a:pPr eaLnBrk="0" hangingPunct="0"/>
            <a:endParaRPr lang="pt-BR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38" name="Oval 23"/>
          <p:cNvSpPr>
            <a:spLocks noChangeArrowheads="1"/>
          </p:cNvSpPr>
          <p:nvPr/>
        </p:nvSpPr>
        <p:spPr bwMode="auto">
          <a:xfrm>
            <a:off x="6991405" y="4758732"/>
            <a:ext cx="197239" cy="29708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9" name="Line 22"/>
          <p:cNvSpPr>
            <a:spLocks noChangeShapeType="1"/>
          </p:cNvSpPr>
          <p:nvPr/>
        </p:nvSpPr>
        <p:spPr bwMode="auto">
          <a:xfrm>
            <a:off x="5807969" y="4659701"/>
            <a:ext cx="39447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0" name="Line 21"/>
          <p:cNvSpPr>
            <a:spLocks noChangeShapeType="1"/>
          </p:cNvSpPr>
          <p:nvPr/>
        </p:nvSpPr>
        <p:spPr bwMode="auto">
          <a:xfrm>
            <a:off x="7287263" y="4659701"/>
            <a:ext cx="5917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7484502" y="4362612"/>
            <a:ext cx="98620" cy="19996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42" name="AutoShape 19"/>
          <p:cNvSpPr>
            <a:spLocks noChangeArrowheads="1"/>
          </p:cNvSpPr>
          <p:nvPr/>
        </p:nvSpPr>
        <p:spPr bwMode="auto">
          <a:xfrm>
            <a:off x="7878982" y="4263583"/>
            <a:ext cx="1101253" cy="59417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3" name="Rectangle 18"/>
          <p:cNvSpPr>
            <a:spLocks noChangeArrowheads="1"/>
          </p:cNvSpPr>
          <p:nvPr/>
        </p:nvSpPr>
        <p:spPr bwMode="auto">
          <a:xfrm>
            <a:off x="7977600" y="4362613"/>
            <a:ext cx="690338" cy="39611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→E·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→E·+n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44" name="Oval 17"/>
          <p:cNvSpPr>
            <a:spLocks noChangeArrowheads="1"/>
          </p:cNvSpPr>
          <p:nvPr/>
        </p:nvSpPr>
        <p:spPr bwMode="auto">
          <a:xfrm>
            <a:off x="8667939" y="4461643"/>
            <a:ext cx="197239" cy="29708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45" name="AutoShape 16"/>
          <p:cNvSpPr>
            <a:spLocks noChangeArrowheads="1"/>
          </p:cNvSpPr>
          <p:nvPr/>
        </p:nvSpPr>
        <p:spPr bwMode="auto">
          <a:xfrm>
            <a:off x="6202447" y="5649999"/>
            <a:ext cx="1084816" cy="6932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6" name="Rectangle 15"/>
          <p:cNvSpPr>
            <a:spLocks noChangeArrowheads="1"/>
          </p:cNvSpPr>
          <p:nvPr/>
        </p:nvSpPr>
        <p:spPr bwMode="auto">
          <a:xfrm>
            <a:off x="6301066" y="5749028"/>
            <a:ext cx="591718" cy="1980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n·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47" name="Oval 14"/>
          <p:cNvSpPr>
            <a:spLocks noChangeArrowheads="1"/>
          </p:cNvSpPr>
          <p:nvPr/>
        </p:nvSpPr>
        <p:spPr bwMode="auto">
          <a:xfrm>
            <a:off x="6991405" y="5947089"/>
            <a:ext cx="197239" cy="29708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48" name="Line 13"/>
          <p:cNvSpPr>
            <a:spLocks noChangeShapeType="1"/>
          </p:cNvSpPr>
          <p:nvPr/>
        </p:nvSpPr>
        <p:spPr bwMode="auto">
          <a:xfrm>
            <a:off x="6695545" y="5154851"/>
            <a:ext cx="0" cy="49514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6498306" y="5253880"/>
            <a:ext cx="98620" cy="1980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876088" y="160159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428218" y="159174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918429" y="246930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388254" y="245095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815488" y="2474009"/>
            <a:ext cx="333425" cy="28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918429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469378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902214" y="3441080"/>
            <a:ext cx="342783" cy="279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8" name="内容占位符 3"/>
              <p:cNvGraphicFramePr/>
              <p:nvPr/>
            </p:nvGraphicFramePr>
            <p:xfrm>
              <a:off x="1085730" y="3675895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38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54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32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328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𝒏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𝑬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8" name="内容占位符 3"/>
              <p:cNvGraphicFramePr/>
              <p:nvPr/>
            </p:nvGraphicFramePr>
            <p:xfrm>
              <a:off x="1085730" y="3675895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/>
                    <a:gridCol w="993868"/>
                    <a:gridCol w="745401"/>
                    <a:gridCol w="683284"/>
                    <a:gridCol w="683283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"/>
          <p:cNvGrpSpPr/>
          <p:nvPr/>
        </p:nvGrpSpPr>
        <p:grpSpPr bwMode="auto">
          <a:xfrm>
            <a:off x="5807968" y="1412776"/>
            <a:ext cx="4320480" cy="2376264"/>
            <a:chOff x="1800" y="1440"/>
            <a:chExt cx="8100" cy="3432"/>
          </a:xfrm>
        </p:grpSpPr>
        <p:sp>
          <p:nvSpPr>
            <p:cNvPr id="6" name="Oval 30"/>
            <p:cNvSpPr>
              <a:spLocks noChangeArrowheads="1"/>
            </p:cNvSpPr>
            <p:nvPr/>
          </p:nvSpPr>
          <p:spPr bwMode="auto">
            <a:xfrm>
              <a:off x="252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→·E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>
              <a:off x="4320" y="1908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4680" y="144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 dirty="0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9" name="Line 27"/>
            <p:cNvSpPr>
              <a:spLocks noChangeShapeType="1"/>
            </p:cNvSpPr>
            <p:nvPr/>
          </p:nvSpPr>
          <p:spPr bwMode="auto">
            <a:xfrm>
              <a:off x="1800" y="1908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0" name="Oval 26"/>
            <p:cNvSpPr>
              <a:spLocks noChangeArrowheads="1"/>
            </p:cNvSpPr>
            <p:nvPr/>
          </p:nvSpPr>
          <p:spPr bwMode="auto">
            <a:xfrm>
              <a:off x="540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→E·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1" name="Line 25"/>
            <p:cNvSpPr>
              <a:spLocks noChangeShapeType="1"/>
            </p:cNvSpPr>
            <p:nvPr/>
          </p:nvSpPr>
          <p:spPr bwMode="auto">
            <a:xfrm>
              <a:off x="342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2" name="Rectangle 24"/>
            <p:cNvSpPr>
              <a:spLocks noChangeArrowheads="1"/>
            </p:cNvSpPr>
            <p:nvPr/>
          </p:nvSpPr>
          <p:spPr bwMode="auto">
            <a:xfrm>
              <a:off x="306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3" name="Oval 23"/>
            <p:cNvSpPr>
              <a:spLocks noChangeArrowheads="1"/>
            </p:cNvSpPr>
            <p:nvPr/>
          </p:nvSpPr>
          <p:spPr bwMode="auto">
            <a:xfrm>
              <a:off x="252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</a:t>
              </a:r>
              <a:r>
                <a:rPr lang="en-US" altLang="zh-CN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E+n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14" name="Oval 22"/>
            <p:cNvSpPr>
              <a:spLocks noChangeArrowheads="1"/>
            </p:cNvSpPr>
            <p:nvPr/>
          </p:nvSpPr>
          <p:spPr bwMode="auto">
            <a:xfrm>
              <a:off x="54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3600" y="2220"/>
              <a:ext cx="198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4860" y="222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252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E·+n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3420" y="3468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6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V="1">
              <a:off x="4320" y="4560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4680" y="409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V="1">
              <a:off x="7200" y="4560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7560" y="393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>
                <a:latin typeface="Arial" panose="020B0604020202020204" pitchFamily="34" charset="0"/>
              </a:endParaRPr>
            </a:p>
          </p:txBody>
        </p:sp>
        <p:grpSp>
          <p:nvGrpSpPr>
            <p:cNvPr id="24" name="Group 10"/>
            <p:cNvGrpSpPr/>
            <p:nvPr/>
          </p:nvGrpSpPr>
          <p:grpSpPr bwMode="auto">
            <a:xfrm rot="-975721">
              <a:off x="2534" y="3197"/>
              <a:ext cx="545" cy="550"/>
              <a:chOff x="1909" y="3378"/>
              <a:chExt cx="6833" cy="2818"/>
            </a:xfrm>
          </p:grpSpPr>
          <p:sp>
            <p:nvSpPr>
              <p:cNvPr id="33" name="Arc 12"/>
              <p:cNvSpPr/>
              <p:nvPr/>
            </p:nvSpPr>
            <p:spPr bwMode="auto">
              <a:xfrm rot="5090164">
                <a:off x="3965" y="1419"/>
                <a:ext cx="2721" cy="6833"/>
              </a:xfrm>
              <a:custGeom>
                <a:avLst/>
                <a:gdLst>
                  <a:gd name="G0" fmla="+- 14321 0 0"/>
                  <a:gd name="G1" fmla="+- 17995 0 0"/>
                  <a:gd name="G2" fmla="+- 21600 0 0"/>
                  <a:gd name="T0" fmla="*/ 26268 w 35921"/>
                  <a:gd name="T1" fmla="*/ 0 h 39595"/>
                  <a:gd name="T2" fmla="*/ 0 w 35921"/>
                  <a:gd name="T3" fmla="*/ 34165 h 39595"/>
                  <a:gd name="T4" fmla="*/ 14321 w 35921"/>
                  <a:gd name="T5" fmla="*/ 17995 h 39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921" h="39595" fill="none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</a:path>
                  <a:path w="35921" h="39595" stroke="0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  <a:lnTo>
                      <a:pt x="14321" y="17995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  <p:sp>
            <p:nvSpPr>
              <p:cNvPr id="34" name="Line 11"/>
              <p:cNvSpPr>
                <a:spLocks noChangeShapeType="1"/>
              </p:cNvSpPr>
              <p:nvPr/>
            </p:nvSpPr>
            <p:spPr bwMode="auto">
              <a:xfrm flipV="1">
                <a:off x="2583" y="3378"/>
                <a:ext cx="180" cy="1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</p:grp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4320" y="3156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432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7200" y="3156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738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9" name="Oval 5"/>
            <p:cNvSpPr>
              <a:spLocks noChangeArrowheads="1"/>
            </p:cNvSpPr>
            <p:nvPr/>
          </p:nvSpPr>
          <p:spPr bwMode="auto">
            <a:xfrm>
              <a:off x="81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0" name="Oval 4"/>
            <p:cNvSpPr>
              <a:spLocks noChangeArrowheads="1"/>
            </p:cNvSpPr>
            <p:nvPr/>
          </p:nvSpPr>
          <p:spPr bwMode="auto">
            <a:xfrm>
              <a:off x="54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1" name="Oval 3"/>
            <p:cNvSpPr>
              <a:spLocks noChangeArrowheads="1"/>
            </p:cNvSpPr>
            <p:nvPr/>
          </p:nvSpPr>
          <p:spPr bwMode="auto">
            <a:xfrm>
              <a:off x="81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2" name="Rectangle 2"/>
            <p:cNvSpPr>
              <a:spLocks noChangeArrowheads="1"/>
            </p:cNvSpPr>
            <p:nvPr/>
          </p:nvSpPr>
          <p:spPr bwMode="auto">
            <a:xfrm>
              <a:off x="2160" y="362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4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6" name="AutoShape 25"/>
          <p:cNvSpPr>
            <a:spLocks noChangeArrowheads="1"/>
          </p:cNvSpPr>
          <p:nvPr/>
        </p:nvSpPr>
        <p:spPr bwMode="auto">
          <a:xfrm>
            <a:off x="6202447" y="4263582"/>
            <a:ext cx="1084816" cy="8912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37" name="Rectangle 24"/>
          <p:cNvSpPr>
            <a:spLocks noChangeArrowheads="1"/>
          </p:cNvSpPr>
          <p:nvPr/>
        </p:nvSpPr>
        <p:spPr bwMode="auto">
          <a:xfrm>
            <a:off x="6301066" y="4362613"/>
            <a:ext cx="690338" cy="59417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pt-BR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→·E</a:t>
            </a:r>
            <a:endParaRPr lang="pt-BR" altLang="zh-CN" sz="1200" b="1" dirty="0"/>
          </a:p>
          <a:p>
            <a:pPr eaLnBrk="0" hangingPunct="0"/>
            <a:r>
              <a:rPr lang="pt-BR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→·E+n</a:t>
            </a:r>
            <a:endParaRPr lang="pt-BR" altLang="zh-CN" sz="1200" b="1" dirty="0"/>
          </a:p>
          <a:p>
            <a:pPr eaLnBrk="0" hangingPunct="0"/>
            <a:r>
              <a:rPr lang="pt-BR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→·n</a:t>
            </a:r>
            <a:endParaRPr lang="pt-BR" altLang="zh-CN" sz="1200" b="1" dirty="0"/>
          </a:p>
          <a:p>
            <a:pPr eaLnBrk="0" hangingPunct="0"/>
            <a:endParaRPr lang="pt-BR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38" name="Oval 23"/>
          <p:cNvSpPr>
            <a:spLocks noChangeArrowheads="1"/>
          </p:cNvSpPr>
          <p:nvPr/>
        </p:nvSpPr>
        <p:spPr bwMode="auto">
          <a:xfrm>
            <a:off x="6991405" y="4758732"/>
            <a:ext cx="197239" cy="29708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39" name="Line 22"/>
          <p:cNvSpPr>
            <a:spLocks noChangeShapeType="1"/>
          </p:cNvSpPr>
          <p:nvPr/>
        </p:nvSpPr>
        <p:spPr bwMode="auto">
          <a:xfrm>
            <a:off x="5807969" y="4659701"/>
            <a:ext cx="39447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0" name="Line 21"/>
          <p:cNvSpPr>
            <a:spLocks noChangeShapeType="1"/>
          </p:cNvSpPr>
          <p:nvPr/>
        </p:nvSpPr>
        <p:spPr bwMode="auto">
          <a:xfrm>
            <a:off x="7287263" y="4659701"/>
            <a:ext cx="59171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7484502" y="4362612"/>
            <a:ext cx="98620" cy="19996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42" name="AutoShape 19"/>
          <p:cNvSpPr>
            <a:spLocks noChangeArrowheads="1"/>
          </p:cNvSpPr>
          <p:nvPr/>
        </p:nvSpPr>
        <p:spPr bwMode="auto">
          <a:xfrm>
            <a:off x="7878982" y="4263583"/>
            <a:ext cx="1101253" cy="59417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3" name="Rectangle 18"/>
          <p:cNvSpPr>
            <a:spLocks noChangeArrowheads="1"/>
          </p:cNvSpPr>
          <p:nvPr/>
        </p:nvSpPr>
        <p:spPr bwMode="auto">
          <a:xfrm>
            <a:off x="7977600" y="4362613"/>
            <a:ext cx="690338" cy="39611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E’ →E·</a:t>
            </a:r>
            <a:endParaRPr lang="en-US" altLang="zh-CN" sz="1200" b="1" dirty="0"/>
          </a:p>
          <a:p>
            <a:pPr eaLnBrk="0" hangingPunct="0"/>
            <a:r>
              <a: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→E·+n</a:t>
            </a:r>
            <a:endParaRPr lang="en-US" altLang="zh-CN" sz="1200" b="1" dirty="0">
              <a:latin typeface="Arial" panose="020B0604020202020204" pitchFamily="34" charset="0"/>
            </a:endParaRPr>
          </a:p>
        </p:txBody>
      </p:sp>
      <p:sp>
        <p:nvSpPr>
          <p:cNvPr id="44" name="Oval 17"/>
          <p:cNvSpPr>
            <a:spLocks noChangeArrowheads="1"/>
          </p:cNvSpPr>
          <p:nvPr/>
        </p:nvSpPr>
        <p:spPr bwMode="auto">
          <a:xfrm>
            <a:off x="8667939" y="4461643"/>
            <a:ext cx="197239" cy="29708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45" name="AutoShape 16"/>
          <p:cNvSpPr>
            <a:spLocks noChangeArrowheads="1"/>
          </p:cNvSpPr>
          <p:nvPr/>
        </p:nvSpPr>
        <p:spPr bwMode="auto">
          <a:xfrm>
            <a:off x="6202447" y="5649999"/>
            <a:ext cx="1084816" cy="6932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6" name="Rectangle 15"/>
          <p:cNvSpPr>
            <a:spLocks noChangeArrowheads="1"/>
          </p:cNvSpPr>
          <p:nvPr/>
        </p:nvSpPr>
        <p:spPr bwMode="auto">
          <a:xfrm>
            <a:off x="6301066" y="5749028"/>
            <a:ext cx="591718" cy="1980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n·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47" name="Oval 14"/>
          <p:cNvSpPr>
            <a:spLocks noChangeArrowheads="1"/>
          </p:cNvSpPr>
          <p:nvPr/>
        </p:nvSpPr>
        <p:spPr bwMode="auto">
          <a:xfrm>
            <a:off x="6991405" y="5947089"/>
            <a:ext cx="197239" cy="29708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48" name="Line 13"/>
          <p:cNvSpPr>
            <a:spLocks noChangeShapeType="1"/>
          </p:cNvSpPr>
          <p:nvPr/>
        </p:nvSpPr>
        <p:spPr bwMode="auto">
          <a:xfrm>
            <a:off x="6695545" y="5154851"/>
            <a:ext cx="0" cy="49514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49" name="Rectangle 12"/>
          <p:cNvSpPr>
            <a:spLocks noChangeArrowheads="1"/>
          </p:cNvSpPr>
          <p:nvPr/>
        </p:nvSpPr>
        <p:spPr bwMode="auto">
          <a:xfrm>
            <a:off x="6498306" y="5253880"/>
            <a:ext cx="98620" cy="1980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50" name="Line 11"/>
          <p:cNvSpPr>
            <a:spLocks noChangeShapeType="1"/>
          </p:cNvSpPr>
          <p:nvPr/>
        </p:nvSpPr>
        <p:spPr bwMode="auto">
          <a:xfrm>
            <a:off x="8372079" y="4857761"/>
            <a:ext cx="0" cy="7922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51" name="Rectangle 10"/>
          <p:cNvSpPr>
            <a:spLocks noChangeArrowheads="1"/>
          </p:cNvSpPr>
          <p:nvPr/>
        </p:nvSpPr>
        <p:spPr bwMode="auto">
          <a:xfrm>
            <a:off x="8174840" y="5055820"/>
            <a:ext cx="98620" cy="1980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52" name="AutoShape 9"/>
          <p:cNvSpPr>
            <a:spLocks noChangeArrowheads="1"/>
          </p:cNvSpPr>
          <p:nvPr/>
        </p:nvSpPr>
        <p:spPr bwMode="auto">
          <a:xfrm>
            <a:off x="7878981" y="5649999"/>
            <a:ext cx="1084816" cy="6932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200" b="1"/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7977600" y="5749028"/>
            <a:ext cx="690338" cy="1980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E → E+·n</a:t>
            </a:r>
            <a:endParaRPr lang="en-US" altLang="zh-CN" sz="1200" b="1"/>
          </a:p>
          <a:p>
            <a:pPr eaLnBrk="0" hangingPunct="0"/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54" name="Oval 7"/>
          <p:cNvSpPr>
            <a:spLocks noChangeArrowheads="1"/>
          </p:cNvSpPr>
          <p:nvPr/>
        </p:nvSpPr>
        <p:spPr bwMode="auto">
          <a:xfrm>
            <a:off x="8667939" y="5947089"/>
            <a:ext cx="197239" cy="297089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vert="horz" wrap="square" lIns="0" tIns="0" rIns="0" bIns="0" numCol="1" anchor="t" anchorCtr="0" compatLnSpc="1"/>
          <a:lstStyle/>
          <a:p>
            <a:pPr algn="ctr" eaLnBrk="0" hangingPunct="0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CN" sz="1200" b="1">
              <a:latin typeface="Arial" panose="020B060402020202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876088" y="160159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428218" y="159174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918429" y="246930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388254" y="245095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815488" y="2474009"/>
            <a:ext cx="333425" cy="28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918429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469378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902214" y="3441080"/>
            <a:ext cx="342783" cy="279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8" name="内容占位符 3"/>
              <p:cNvGraphicFramePr/>
              <p:nvPr/>
            </p:nvGraphicFramePr>
            <p:xfrm>
              <a:off x="1179017" y="3716409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38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54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32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328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𝒏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𝑬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8" name="内容占位符 3"/>
              <p:cNvGraphicFramePr/>
              <p:nvPr/>
            </p:nvGraphicFramePr>
            <p:xfrm>
              <a:off x="1179017" y="3716409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/>
                    <a:gridCol w="993868"/>
                    <a:gridCol w="745401"/>
                    <a:gridCol w="683284"/>
                    <a:gridCol w="683283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/>
                  <a:t>D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FA 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1"/>
          <p:cNvGrpSpPr/>
          <p:nvPr/>
        </p:nvGrpSpPr>
        <p:grpSpPr bwMode="auto">
          <a:xfrm>
            <a:off x="5807968" y="1412776"/>
            <a:ext cx="4320480" cy="2376264"/>
            <a:chOff x="1800" y="1440"/>
            <a:chExt cx="8100" cy="3432"/>
          </a:xfrm>
        </p:grpSpPr>
        <p:sp>
          <p:nvSpPr>
            <p:cNvPr id="6" name="Oval 30"/>
            <p:cNvSpPr>
              <a:spLocks noChangeArrowheads="1"/>
            </p:cNvSpPr>
            <p:nvPr/>
          </p:nvSpPr>
          <p:spPr bwMode="auto">
            <a:xfrm>
              <a:off x="252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→·E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7" name="Line 29"/>
            <p:cNvSpPr>
              <a:spLocks noChangeShapeType="1"/>
            </p:cNvSpPr>
            <p:nvPr/>
          </p:nvSpPr>
          <p:spPr bwMode="auto">
            <a:xfrm>
              <a:off x="4320" y="1908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8" name="Rectangle 28"/>
            <p:cNvSpPr>
              <a:spLocks noChangeArrowheads="1"/>
            </p:cNvSpPr>
            <p:nvPr/>
          </p:nvSpPr>
          <p:spPr bwMode="auto">
            <a:xfrm>
              <a:off x="4680" y="1440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 dirty="0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9" name="Line 27"/>
            <p:cNvSpPr>
              <a:spLocks noChangeShapeType="1"/>
            </p:cNvSpPr>
            <p:nvPr/>
          </p:nvSpPr>
          <p:spPr bwMode="auto">
            <a:xfrm>
              <a:off x="1800" y="1908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0" name="Oval 26"/>
            <p:cNvSpPr>
              <a:spLocks noChangeArrowheads="1"/>
            </p:cNvSpPr>
            <p:nvPr/>
          </p:nvSpPr>
          <p:spPr bwMode="auto">
            <a:xfrm>
              <a:off x="5400" y="1596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→E·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1" name="Line 25"/>
            <p:cNvSpPr>
              <a:spLocks noChangeShapeType="1"/>
            </p:cNvSpPr>
            <p:nvPr/>
          </p:nvSpPr>
          <p:spPr bwMode="auto">
            <a:xfrm>
              <a:off x="3420" y="2220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2" name="Rectangle 24"/>
            <p:cNvSpPr>
              <a:spLocks noChangeArrowheads="1"/>
            </p:cNvSpPr>
            <p:nvPr/>
          </p:nvSpPr>
          <p:spPr bwMode="auto">
            <a:xfrm>
              <a:off x="3060" y="237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3" name="Oval 23"/>
            <p:cNvSpPr>
              <a:spLocks noChangeArrowheads="1"/>
            </p:cNvSpPr>
            <p:nvPr/>
          </p:nvSpPr>
          <p:spPr bwMode="auto">
            <a:xfrm>
              <a:off x="252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</a:t>
              </a:r>
              <a:r>
                <a:rPr lang="en-US" altLang="zh-CN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E+n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14" name="Oval 22"/>
            <p:cNvSpPr>
              <a:spLocks noChangeArrowheads="1"/>
            </p:cNvSpPr>
            <p:nvPr/>
          </p:nvSpPr>
          <p:spPr bwMode="auto">
            <a:xfrm>
              <a:off x="54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5" name="Line 21"/>
            <p:cNvSpPr>
              <a:spLocks noChangeShapeType="1"/>
            </p:cNvSpPr>
            <p:nvPr/>
          </p:nvSpPr>
          <p:spPr bwMode="auto">
            <a:xfrm>
              <a:off x="3600" y="2220"/>
              <a:ext cx="198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4860" y="222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17" name="Oval 19"/>
            <p:cNvSpPr>
              <a:spLocks noChangeArrowheads="1"/>
            </p:cNvSpPr>
            <p:nvPr/>
          </p:nvSpPr>
          <p:spPr bwMode="auto">
            <a:xfrm>
              <a:off x="252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E·+n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3420" y="3468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600" y="378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V="1">
              <a:off x="4320" y="4560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4680" y="4092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V="1">
              <a:off x="7200" y="4560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7560" y="393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/>
            </a:p>
            <a:p>
              <a:pPr algn="ctr" eaLnBrk="0" hangingPunct="0">
                <a:lnSpc>
                  <a:spcPct val="150000"/>
                </a:lnSpc>
              </a:pPr>
              <a:endParaRPr lang="en-US" altLang="zh-CN" sz="1200" b="1">
                <a:latin typeface="Arial" panose="020B0604020202020204" pitchFamily="34" charset="0"/>
              </a:endParaRPr>
            </a:p>
          </p:txBody>
        </p:sp>
        <p:grpSp>
          <p:nvGrpSpPr>
            <p:cNvPr id="24" name="Group 10"/>
            <p:cNvGrpSpPr/>
            <p:nvPr/>
          </p:nvGrpSpPr>
          <p:grpSpPr bwMode="auto">
            <a:xfrm rot="-975721">
              <a:off x="2534" y="3197"/>
              <a:ext cx="545" cy="550"/>
              <a:chOff x="1909" y="3378"/>
              <a:chExt cx="6833" cy="2818"/>
            </a:xfrm>
          </p:grpSpPr>
          <p:sp>
            <p:nvSpPr>
              <p:cNvPr id="33" name="Arc 12"/>
              <p:cNvSpPr/>
              <p:nvPr/>
            </p:nvSpPr>
            <p:spPr bwMode="auto">
              <a:xfrm rot="5090164">
                <a:off x="3965" y="1419"/>
                <a:ext cx="2721" cy="6833"/>
              </a:xfrm>
              <a:custGeom>
                <a:avLst/>
                <a:gdLst>
                  <a:gd name="G0" fmla="+- 14321 0 0"/>
                  <a:gd name="G1" fmla="+- 17995 0 0"/>
                  <a:gd name="G2" fmla="+- 21600 0 0"/>
                  <a:gd name="T0" fmla="*/ 26268 w 35921"/>
                  <a:gd name="T1" fmla="*/ 0 h 39595"/>
                  <a:gd name="T2" fmla="*/ 0 w 35921"/>
                  <a:gd name="T3" fmla="*/ 34165 h 39595"/>
                  <a:gd name="T4" fmla="*/ 14321 w 35921"/>
                  <a:gd name="T5" fmla="*/ 17995 h 395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5921" h="39595" fill="none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</a:path>
                  <a:path w="35921" h="39595" stroke="0" extrusionOk="0">
                    <a:moveTo>
                      <a:pt x="26268" y="-1"/>
                    </a:moveTo>
                    <a:cubicBezTo>
                      <a:pt x="32297" y="4002"/>
                      <a:pt x="35921" y="10758"/>
                      <a:pt x="35921" y="17995"/>
                    </a:cubicBezTo>
                    <a:cubicBezTo>
                      <a:pt x="35921" y="29924"/>
                      <a:pt x="26250" y="39595"/>
                      <a:pt x="14321" y="39595"/>
                    </a:cubicBezTo>
                    <a:cubicBezTo>
                      <a:pt x="9044" y="39595"/>
                      <a:pt x="3950" y="37663"/>
                      <a:pt x="-1" y="34165"/>
                    </a:cubicBezTo>
                    <a:lnTo>
                      <a:pt x="14321" y="17995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  <p:sp>
            <p:nvSpPr>
              <p:cNvPr id="34" name="Line 11"/>
              <p:cNvSpPr>
                <a:spLocks noChangeShapeType="1"/>
              </p:cNvSpPr>
              <p:nvPr/>
            </p:nvSpPr>
            <p:spPr bwMode="auto">
              <a:xfrm flipV="1">
                <a:off x="2583" y="3378"/>
                <a:ext cx="180" cy="1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150000"/>
                  </a:lnSpc>
                </a:pPr>
                <a:endParaRPr lang="zh-CN" altLang="en-US" sz="1200" b="1"/>
              </a:p>
            </p:txBody>
          </p:sp>
        </p:grp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4320" y="3156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432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7200" y="3156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algn="ctr">
                <a:lnSpc>
                  <a:spcPct val="150000"/>
                </a:lnSpc>
              </a:pPr>
              <a:endParaRPr lang="zh-CN" altLang="en-US" sz="1200" b="1"/>
            </a:p>
          </p:txBody>
        </p:sp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7380" y="268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9" name="Oval 5"/>
            <p:cNvSpPr>
              <a:spLocks noChangeArrowheads="1"/>
            </p:cNvSpPr>
            <p:nvPr/>
          </p:nvSpPr>
          <p:spPr bwMode="auto">
            <a:xfrm>
              <a:off x="8100" y="2844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0" name="Oval 4"/>
            <p:cNvSpPr>
              <a:spLocks noChangeArrowheads="1"/>
            </p:cNvSpPr>
            <p:nvPr/>
          </p:nvSpPr>
          <p:spPr bwMode="auto">
            <a:xfrm>
              <a:off x="54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E+·n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1" name="Oval 3"/>
            <p:cNvSpPr>
              <a:spLocks noChangeArrowheads="1"/>
            </p:cNvSpPr>
            <p:nvPr/>
          </p:nvSpPr>
          <p:spPr bwMode="auto">
            <a:xfrm>
              <a:off x="8100" y="4248"/>
              <a:ext cx="1800" cy="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E+n·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2" name="Rectangle 2"/>
            <p:cNvSpPr>
              <a:spLocks noChangeArrowheads="1"/>
            </p:cNvSpPr>
            <p:nvPr/>
          </p:nvSpPr>
          <p:spPr bwMode="auto">
            <a:xfrm>
              <a:off x="2160" y="362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>
                <a:lnSpc>
                  <a:spcPct val="150000"/>
                </a:lnSpc>
              </a:pPr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</a:t>
              </a:r>
            </a:p>
          </p:txBody>
        </p:sp>
      </p:grpSp>
      <p:sp>
        <p:nvSpPr>
          <p:cNvPr id="4" name="Rectangle 26"/>
          <p:cNvSpPr>
            <a:spLocks noChangeArrowheads="1"/>
          </p:cNvSpPr>
          <p:nvPr/>
        </p:nvSpPr>
        <p:spPr bwMode="auto">
          <a:xfrm>
            <a:off x="152400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5" name="Group 1"/>
          <p:cNvGrpSpPr/>
          <p:nvPr/>
        </p:nvGrpSpPr>
        <p:grpSpPr bwMode="auto">
          <a:xfrm>
            <a:off x="5807968" y="4263583"/>
            <a:ext cx="4536504" cy="2079625"/>
            <a:chOff x="2880" y="1908"/>
            <a:chExt cx="8280" cy="3276"/>
          </a:xfrm>
        </p:grpSpPr>
        <p:sp>
          <p:nvSpPr>
            <p:cNvPr id="36" name="AutoShape 25"/>
            <p:cNvSpPr>
              <a:spLocks noChangeArrowheads="1"/>
            </p:cNvSpPr>
            <p:nvPr/>
          </p:nvSpPr>
          <p:spPr bwMode="auto">
            <a:xfrm>
              <a:off x="3600" y="1908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37" name="Rectangle 24"/>
            <p:cNvSpPr>
              <a:spLocks noChangeArrowheads="1"/>
            </p:cNvSpPr>
            <p:nvPr/>
          </p:nvSpPr>
          <p:spPr bwMode="auto">
            <a:xfrm>
              <a:off x="3780" y="2064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pt-BR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→·E</a:t>
              </a:r>
              <a:endParaRPr lang="pt-BR" altLang="zh-CN" sz="1200" b="1" dirty="0"/>
            </a:p>
            <a:p>
              <a:pPr eaLnBrk="0" hangingPunct="0"/>
              <a:r>
                <a:rPr lang="pt-BR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→·E+n</a:t>
              </a:r>
              <a:endParaRPr lang="pt-BR" altLang="zh-CN" sz="1200" b="1" dirty="0"/>
            </a:p>
            <a:p>
              <a:pPr eaLnBrk="0" hangingPunct="0"/>
              <a:r>
                <a:rPr lang="pt-BR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→·n</a:t>
              </a:r>
              <a:endParaRPr lang="pt-BR" altLang="zh-CN" sz="1200" b="1" dirty="0"/>
            </a:p>
            <a:p>
              <a:pPr eaLnBrk="0" hangingPunct="0"/>
              <a:endParaRPr lang="pt-BR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38" name="Oval 23"/>
            <p:cNvSpPr>
              <a:spLocks noChangeArrowheads="1"/>
            </p:cNvSpPr>
            <p:nvPr/>
          </p:nvSpPr>
          <p:spPr bwMode="auto">
            <a:xfrm>
              <a:off x="5040" y="2688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9" name="Line 22"/>
            <p:cNvSpPr>
              <a:spLocks noChangeShapeType="1"/>
            </p:cNvSpPr>
            <p:nvPr/>
          </p:nvSpPr>
          <p:spPr bwMode="auto">
            <a:xfrm>
              <a:off x="2880" y="253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0" name="Line 21"/>
            <p:cNvSpPr>
              <a:spLocks noChangeShapeType="1"/>
            </p:cNvSpPr>
            <p:nvPr/>
          </p:nvSpPr>
          <p:spPr bwMode="auto">
            <a:xfrm>
              <a:off x="5580" y="2532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1" name="Rectangle 20"/>
            <p:cNvSpPr>
              <a:spLocks noChangeArrowheads="1"/>
            </p:cNvSpPr>
            <p:nvPr/>
          </p:nvSpPr>
          <p:spPr bwMode="auto">
            <a:xfrm>
              <a:off x="5940" y="206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2" name="AutoShape 19"/>
            <p:cNvSpPr>
              <a:spLocks noChangeArrowheads="1"/>
            </p:cNvSpPr>
            <p:nvPr/>
          </p:nvSpPr>
          <p:spPr bwMode="auto">
            <a:xfrm>
              <a:off x="6660" y="1908"/>
              <a:ext cx="201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3" name="Rectangle 18"/>
            <p:cNvSpPr>
              <a:spLocks noChangeArrowheads="1"/>
            </p:cNvSpPr>
            <p:nvPr/>
          </p:nvSpPr>
          <p:spPr bwMode="auto">
            <a:xfrm>
              <a:off x="6840" y="2064"/>
              <a:ext cx="1260" cy="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→E·</a:t>
              </a:r>
              <a:endParaRPr lang="en-US" altLang="zh-CN" sz="1200" b="1" dirty="0"/>
            </a:p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→E·+n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4" name="Oval 17"/>
            <p:cNvSpPr>
              <a:spLocks noChangeArrowheads="1"/>
            </p:cNvSpPr>
            <p:nvPr/>
          </p:nvSpPr>
          <p:spPr bwMode="auto">
            <a:xfrm>
              <a:off x="8100" y="222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5" name="AutoShape 16"/>
            <p:cNvSpPr>
              <a:spLocks noChangeArrowheads="1"/>
            </p:cNvSpPr>
            <p:nvPr/>
          </p:nvSpPr>
          <p:spPr bwMode="auto">
            <a:xfrm>
              <a:off x="3600" y="4092"/>
              <a:ext cx="198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6" name="Rectangle 15"/>
            <p:cNvSpPr>
              <a:spLocks noChangeArrowheads="1"/>
            </p:cNvSpPr>
            <p:nvPr/>
          </p:nvSpPr>
          <p:spPr bwMode="auto">
            <a:xfrm>
              <a:off x="3780" y="4248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n·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7" name="Oval 14"/>
            <p:cNvSpPr>
              <a:spLocks noChangeArrowheads="1"/>
            </p:cNvSpPr>
            <p:nvPr/>
          </p:nvSpPr>
          <p:spPr bwMode="auto">
            <a:xfrm>
              <a:off x="504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48" name="Line 13"/>
            <p:cNvSpPr>
              <a:spLocks noChangeShapeType="1"/>
            </p:cNvSpPr>
            <p:nvPr/>
          </p:nvSpPr>
          <p:spPr bwMode="auto">
            <a:xfrm>
              <a:off x="4500" y="331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9" name="Rectangle 12"/>
            <p:cNvSpPr>
              <a:spLocks noChangeArrowheads="1"/>
            </p:cNvSpPr>
            <p:nvPr/>
          </p:nvSpPr>
          <p:spPr bwMode="auto">
            <a:xfrm>
              <a:off x="4140" y="346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0" name="Line 11"/>
            <p:cNvSpPr>
              <a:spLocks noChangeShapeType="1"/>
            </p:cNvSpPr>
            <p:nvPr/>
          </p:nvSpPr>
          <p:spPr bwMode="auto">
            <a:xfrm>
              <a:off x="7560" y="2844"/>
              <a:ext cx="0" cy="12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1" name="Rectangle 10"/>
            <p:cNvSpPr>
              <a:spLocks noChangeArrowheads="1"/>
            </p:cNvSpPr>
            <p:nvPr/>
          </p:nvSpPr>
          <p:spPr bwMode="auto">
            <a:xfrm>
              <a:off x="7200" y="315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2" name="AutoShape 9"/>
            <p:cNvSpPr>
              <a:spLocks noChangeArrowheads="1"/>
            </p:cNvSpPr>
            <p:nvPr/>
          </p:nvSpPr>
          <p:spPr bwMode="auto">
            <a:xfrm>
              <a:off x="6660" y="4092"/>
              <a:ext cx="198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3" name="Rectangle 8"/>
            <p:cNvSpPr>
              <a:spLocks noChangeArrowheads="1"/>
            </p:cNvSpPr>
            <p:nvPr/>
          </p:nvSpPr>
          <p:spPr bwMode="auto">
            <a:xfrm>
              <a:off x="6840" y="4248"/>
              <a:ext cx="126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E+·n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4" name="Oval 7"/>
            <p:cNvSpPr>
              <a:spLocks noChangeArrowheads="1"/>
            </p:cNvSpPr>
            <p:nvPr/>
          </p:nvSpPr>
          <p:spPr bwMode="auto">
            <a:xfrm>
              <a:off x="810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5" name="Line 6"/>
            <p:cNvSpPr>
              <a:spLocks noChangeShapeType="1"/>
            </p:cNvSpPr>
            <p:nvPr/>
          </p:nvSpPr>
          <p:spPr bwMode="auto">
            <a:xfrm>
              <a:off x="8640" y="4716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6" name="AutoShape 5"/>
            <p:cNvSpPr>
              <a:spLocks noChangeArrowheads="1"/>
            </p:cNvSpPr>
            <p:nvPr/>
          </p:nvSpPr>
          <p:spPr bwMode="auto">
            <a:xfrm>
              <a:off x="9180" y="4092"/>
              <a:ext cx="198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7" name="Rectangle 4"/>
            <p:cNvSpPr>
              <a:spLocks noChangeArrowheads="1"/>
            </p:cNvSpPr>
            <p:nvPr/>
          </p:nvSpPr>
          <p:spPr bwMode="auto">
            <a:xfrm>
              <a:off x="9360" y="4248"/>
              <a:ext cx="126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E+n·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8" name="Oval 3"/>
            <p:cNvSpPr>
              <a:spLocks noChangeArrowheads="1"/>
            </p:cNvSpPr>
            <p:nvPr/>
          </p:nvSpPr>
          <p:spPr bwMode="auto">
            <a:xfrm>
              <a:off x="1062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59" name="Rectangle 2"/>
            <p:cNvSpPr>
              <a:spLocks noChangeArrowheads="1"/>
            </p:cNvSpPr>
            <p:nvPr/>
          </p:nvSpPr>
          <p:spPr bwMode="auto">
            <a:xfrm>
              <a:off x="8820" y="4248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6876088" y="1601594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1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8428218" y="1591748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2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918429" y="2469307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3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388254" y="2450950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4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815488" y="2474009"/>
            <a:ext cx="333425" cy="28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5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918429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6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469378" y="344108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7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902214" y="3441080"/>
            <a:ext cx="342783" cy="279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8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8" name="内容占位符 3"/>
              <p:cNvGraphicFramePr/>
              <p:nvPr/>
            </p:nvGraphicFramePr>
            <p:xfrm>
              <a:off x="1201728" y="3560262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938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54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328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3283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0419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𝒏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+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𝑬</m:t>
                                    </m:r>
                                  </m:sub>
                                  <m:sup>
                                    <m:r>
                                      <a:rPr lang="en-US" altLang="zh-CN" sz="20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Arial" panose="020B0604020202020204" pitchFamily="34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8" name="内容占位符 3"/>
              <p:cNvGraphicFramePr/>
              <p:nvPr/>
            </p:nvGraphicFramePr>
            <p:xfrm>
              <a:off x="1201728" y="3560262"/>
              <a:ext cx="3757303" cy="2165674"/>
            </p:xfrm>
            <a:graphic>
              <a:graphicData uri="http://schemas.openxmlformats.org/drawingml/2006/table">
                <a:tbl>
                  <a:tblPr>
                    <a:tableStyleId>{ED083AE6-46FA-4A59-8FB0-9F97EB10719F}</a:tableStyleId>
                  </a:tblPr>
                  <a:tblGrid>
                    <a:gridCol w="651467"/>
                    <a:gridCol w="993868"/>
                    <a:gridCol w="745401"/>
                    <a:gridCol w="683284"/>
                    <a:gridCol w="683283"/>
                  </a:tblGrid>
                  <a:tr h="400685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M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S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CCCC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 anchorCtr="1">
                        <a:blipFill>
                          <a:blip r:embed="rId3"/>
                        </a:blip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{1,3,4}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{5}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2000" b="1" kern="100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 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eaLnBrk="1" hangingPunct="1">
                            <a:buNone/>
                          </a:pPr>
                          <a:r>
                            <a:rPr lang="en-US" altLang="zh-CN" sz="2000" b="1" dirty="0">
                              <a:ea typeface="Cambria Math" panose="02040503050406030204" pitchFamily="18" charset="0"/>
                            </a:rPr>
                            <a:t>{5}</a:t>
                          </a:r>
                          <a:endParaRPr lang="en-US" altLang="zh-CN" sz="2000" b="1" dirty="0"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{2,6}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{7}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alt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  <a:tr h="353051"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altLang="zh-CN" sz="2000" b="1" kern="100" dirty="0">
                              <a:effectLst/>
                              <a:latin typeface="Arial" panose="020B0604020202020204" pitchFamily="34" charset="0"/>
                              <a:ea typeface="宋体" panose="02010600030101010101" pitchFamily="2" charset="-122"/>
                              <a:cs typeface="Arial" panose="020B0604020202020204" pitchFamily="34" charset="0"/>
                            </a:rPr>
                            <a:t>{8}</a:t>
                          </a: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CC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endParaRPr lang="zh-CN" altLang="zh-CN" sz="2000" b="1" kern="100" dirty="0">
                            <a:solidFill>
                              <a:schemeClr val="tx1"/>
                            </a:solidFill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endParaRPr lang="zh-CN" sz="2000" b="1" kern="100" dirty="0">
                            <a:effectLst/>
                            <a:latin typeface="Arial" panose="020B0604020202020204" pitchFamily="34" charset="0"/>
                            <a:ea typeface="宋体" panose="02010600030101010101" pitchFamily="2" charset="-122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 anchor="ctr" anchorCtr="1">
                        <a:solidFill>
                          <a:srgbClr val="FFFFCC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给定文法如下：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altLang="zh-CN" dirty="0"/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/>
                  <a:t>为它构造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LR(0)</a:t>
                </a:r>
                <a:r>
                  <a:rPr lang="zh-CN" altLang="en-US" dirty="0"/>
                  <a:t>项的</a:t>
                </a:r>
                <a:r>
                  <a:rPr lang="en-US" altLang="zh-C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DFA</a:t>
                </a:r>
                <a:r>
                  <a:rPr lang="zh-CN" alt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。</a:t>
                </a:r>
                <a:endParaRPr lang="en-US" altLang="zh-C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LR(0)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分析算法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LR(0)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分析算法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与以往方法的不同，要采用的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动作和当前所处的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DFA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状态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有关系。因此需要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在分析栈中保存状态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初始状态也需要把在初始状态放入栈内。假设现在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移进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到栈后状态切换到状态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，这个过程表示如下：</a:t>
            </a:r>
            <a:endParaRPr lang="en-US" altLang="zh-CN" dirty="0"/>
          </a:p>
        </p:txBody>
      </p:sp>
      <p:graphicFrame>
        <p:nvGraphicFramePr>
          <p:cNvPr id="4" name="Group 35"/>
          <p:cNvGraphicFramePr/>
          <p:nvPr/>
        </p:nvGraphicFramePr>
        <p:xfrm>
          <a:off x="3611724" y="4437112"/>
          <a:ext cx="4968552" cy="1514799"/>
        </p:xfrm>
        <a:graphic>
          <a:graphicData uri="http://schemas.openxmlformats.org/drawingml/2006/table">
            <a:tbl>
              <a:tblPr/>
              <a:tblGrid>
                <a:gridCol w="1589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8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868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  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Input String$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1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n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Input String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剩余部分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$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LR(0)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09600" y="1340768"/>
                <a:ext cx="10972800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设当前状态为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（位于分析栈顶部），则动作定义如下：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若状态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包含了格式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的任何项目，其中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是一个终结符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，则动作就是将当前的输入记号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移进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到栈中。若进栈的记号是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，则压入栈中的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新状态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就是包含了项目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的状态。如果入栈的记号不是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，那么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报错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40768"/>
                <a:ext cx="10972800" cy="5137150"/>
              </a:xfrm>
              <a:blipFill rotWithShape="1">
                <a:blip r:embed="rId2"/>
                <a:stretch>
                  <a:fillRect l="-133" t="-290" r="-515" b="-266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LR(0)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09600" y="1343025"/>
                <a:ext cx="11103024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若状态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包含了任何归约项目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，则动作是用规则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进行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归约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。如果输入记号为空，又使用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进行归约，那么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接受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输入串。其他情况下，将串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和它对应的状态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出栈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新的栈顶状态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如果包含一个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的项目，那么将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入栈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并将包含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的状态作为新状态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入栈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如果上述规则都是无歧义的，那么这个文法就是</a:t>
                </a:r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LR(0)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文法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43025"/>
                <a:ext cx="11103024" cy="5137150"/>
              </a:xfrm>
              <a:blipFill rotWithShape="1">
                <a:blip r:embed="rId2"/>
                <a:stretch>
                  <a:fillRect l="-132" t="-284" r="-125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LR(0)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思考：规则无歧义意味着什么？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如果某个状态包含两个项目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</a:t>
                </a:r>
                <a:r>
                  <a: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是一个终结符，有没有歧义？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如果某个状态包含两个项目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</a:t>
                </a:r>
                <a:r>
                  <a: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有没有歧义？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移进</a:t>
                </a:r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归约冲突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和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归约</a:t>
                </a:r>
                <a:r>
                  <a:rPr lang="en-US" altLang="zh-CN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归约冲突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用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LR(0)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方法分析串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𝐚</m:t>
                        </m:r>
                      </m:e>
                    </m:d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是不是文法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可以识别的串。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22555">
                  <a:lnSpc>
                    <a:spcPct val="150000"/>
                  </a:lnSpc>
                </a:pPr>
                <a:r>
                  <a:rPr lang="zh-CN" altLang="en-US" sz="2400" dirty="0">
                    <a:latin typeface="+mn-ea"/>
                    <a:cs typeface="Arial" panose="020B0604020202020204" pitchFamily="34" charset="0"/>
                  </a:rPr>
                  <a:t>改写文法如下：</a:t>
                </a:r>
                <a:endParaRPr lang="en-US" altLang="zh-CN" sz="2400" dirty="0">
                  <a:latin typeface="+mn-ea"/>
                  <a:cs typeface="Arial" panose="020B0604020202020204" pitchFamily="34" charset="0"/>
                </a:endParaRPr>
              </a:p>
              <a:p>
                <a:pPr marL="522605" lvl="1" indent="-342900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	</a:t>
                </a:r>
                <a:r>
                  <a:rPr lang="en-US" altLang="zh-CN" sz="2400" dirty="0">
                    <a:cs typeface="Arial" panose="020B0604020202020204" pitchFamily="34" charset="0"/>
                  </a:rPr>
                  <a:t> </a:t>
                </a:r>
                <a:endParaRPr lang="en-US" altLang="zh-CN" sz="240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522605" lvl="1" indent="-342900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endParaRPr lang="en-US" altLang="zh-CN" sz="2400" i="1" dirty="0"/>
              </a:p>
              <a:p>
                <a:pPr marL="122555">
                  <a:lnSpc>
                    <a:spcPct val="15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LR(0)</a:t>
                </a:r>
                <a:r>
                  <a:rPr lang="zh-CN" altLang="en-US" sz="2400" dirty="0"/>
                  <a:t>项如下：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→.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  	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 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→.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	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.</m:t>
                        </m:r>
                      </m:e>
                    </m:d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	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→.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r>
                  <a:rPr lang="en-US" altLang="zh-CN" sz="2400" dirty="0">
                    <a:ea typeface="Cambria Math" panose="02040503050406030204" pitchFamily="18" charset="0"/>
                    <a:cs typeface="Arial" panose="020B0604020202020204" pitchFamily="34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522605" lvl="1" indent="-342900">
                  <a:lnSpc>
                    <a:spcPct val="150000"/>
                  </a:lnSpc>
                </a:pPr>
                <a:endParaRPr lang="en-US" altLang="zh-CN" sz="2000" i="1" dirty="0"/>
              </a:p>
              <a:p>
                <a:pPr marL="465455" lvl="1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	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7194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"/>
          <p:cNvGrpSpPr/>
          <p:nvPr/>
        </p:nvGrpSpPr>
        <p:grpSpPr bwMode="auto">
          <a:xfrm>
            <a:off x="5663952" y="2276872"/>
            <a:ext cx="4536504" cy="3470448"/>
            <a:chOff x="1808" y="1518"/>
            <a:chExt cx="5940" cy="5382"/>
          </a:xfrm>
        </p:grpSpPr>
        <p:sp>
          <p:nvSpPr>
            <p:cNvPr id="5" name="AutoShape 35"/>
            <p:cNvSpPr>
              <a:spLocks noChangeArrowheads="1"/>
            </p:cNvSpPr>
            <p:nvPr/>
          </p:nvSpPr>
          <p:spPr bwMode="auto">
            <a:xfrm>
              <a:off x="2708" y="1518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6" name="Rectangle 34"/>
            <p:cNvSpPr>
              <a:spLocks noChangeArrowheads="1"/>
            </p:cNvSpPr>
            <p:nvPr/>
          </p:nvSpPr>
          <p:spPr bwMode="auto">
            <a:xfrm>
              <a:off x="2888" y="1674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A’ →·A</a:t>
              </a:r>
              <a:endParaRPr lang="en-US" altLang="zh-CN" sz="1600" b="1" dirty="0"/>
            </a:p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→·(A)</a:t>
              </a:r>
              <a:endParaRPr lang="en-US" altLang="zh-CN" sz="1600" b="1" dirty="0"/>
            </a:p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→·a</a:t>
              </a:r>
              <a:endParaRPr lang="en-US" altLang="zh-CN" sz="1600" b="1" dirty="0"/>
            </a:p>
            <a:p>
              <a:pPr eaLnBrk="0" hangingPunct="0"/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7" name="Oval 33"/>
            <p:cNvSpPr>
              <a:spLocks noChangeArrowheads="1"/>
            </p:cNvSpPr>
            <p:nvPr/>
          </p:nvSpPr>
          <p:spPr bwMode="auto">
            <a:xfrm>
              <a:off x="4148" y="2298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8" name="Line 32"/>
            <p:cNvSpPr>
              <a:spLocks noChangeShapeType="1"/>
            </p:cNvSpPr>
            <p:nvPr/>
          </p:nvSpPr>
          <p:spPr bwMode="auto">
            <a:xfrm>
              <a:off x="1988" y="214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>
              <a:off x="4688" y="2142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10" name="Rectangle 30"/>
            <p:cNvSpPr>
              <a:spLocks noChangeArrowheads="1"/>
            </p:cNvSpPr>
            <p:nvPr/>
          </p:nvSpPr>
          <p:spPr bwMode="auto">
            <a:xfrm>
              <a:off x="5048" y="167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600" b="1"/>
            </a:p>
            <a:p>
              <a:pPr eaLnBrk="0" hangingPunct="0"/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11" name="AutoShape 29"/>
            <p:cNvSpPr>
              <a:spLocks noChangeArrowheads="1"/>
            </p:cNvSpPr>
            <p:nvPr/>
          </p:nvSpPr>
          <p:spPr bwMode="auto">
            <a:xfrm>
              <a:off x="5768" y="1518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5957" y="1830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A’ →A·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3" name="Oval 27"/>
            <p:cNvSpPr>
              <a:spLocks noChangeArrowheads="1"/>
            </p:cNvSpPr>
            <p:nvPr/>
          </p:nvSpPr>
          <p:spPr bwMode="auto">
            <a:xfrm>
              <a:off x="7208" y="1830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4" name="AutoShape 26"/>
            <p:cNvSpPr>
              <a:spLocks noChangeArrowheads="1"/>
            </p:cNvSpPr>
            <p:nvPr/>
          </p:nvSpPr>
          <p:spPr bwMode="auto">
            <a:xfrm>
              <a:off x="5768" y="2922"/>
              <a:ext cx="1980" cy="93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5957" y="3200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 a·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6" name="Oval 24"/>
            <p:cNvSpPr>
              <a:spLocks noChangeArrowheads="1"/>
            </p:cNvSpPr>
            <p:nvPr/>
          </p:nvSpPr>
          <p:spPr bwMode="auto">
            <a:xfrm>
              <a:off x="7208" y="3234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17" name="AutoShape 23"/>
            <p:cNvSpPr>
              <a:spLocks noChangeArrowheads="1"/>
            </p:cNvSpPr>
            <p:nvPr/>
          </p:nvSpPr>
          <p:spPr bwMode="auto">
            <a:xfrm>
              <a:off x="2708" y="3702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2888" y="3858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→(·A)</a:t>
              </a:r>
              <a:endParaRPr lang="en-US" altLang="zh-CN" sz="1600" b="1"/>
            </a:p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→·(A)</a:t>
              </a:r>
              <a:endParaRPr lang="en-US" altLang="zh-CN" sz="1600" b="1"/>
            </a:p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→·a</a:t>
              </a:r>
              <a:endParaRPr lang="en-US" altLang="zh-CN" sz="1600" b="1"/>
            </a:p>
            <a:p>
              <a:pPr eaLnBrk="0" hangingPunct="0"/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>
              <a:off x="4148" y="4482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3608" y="292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5220" y="424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 flipV="1">
              <a:off x="4688" y="3390"/>
              <a:ext cx="10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5048" y="323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600" b="1"/>
            </a:p>
            <a:p>
              <a:pPr eaLnBrk="0" hangingPunct="0"/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24" name="AutoShape 16"/>
            <p:cNvSpPr>
              <a:spLocks noChangeArrowheads="1"/>
            </p:cNvSpPr>
            <p:nvPr/>
          </p:nvSpPr>
          <p:spPr bwMode="auto">
            <a:xfrm>
              <a:off x="5760" y="5964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5957" y="6217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→(A)·</a:t>
              </a:r>
              <a:endParaRPr lang="en-US" altLang="zh-CN" sz="1600" b="1" dirty="0"/>
            </a:p>
            <a:p>
              <a:pPr eaLnBrk="0" hangingPunct="0"/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26" name="Oval 14"/>
            <p:cNvSpPr>
              <a:spLocks noChangeArrowheads="1"/>
            </p:cNvSpPr>
            <p:nvPr/>
          </p:nvSpPr>
          <p:spPr bwMode="auto">
            <a:xfrm>
              <a:off x="7200" y="6169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6688" y="5262"/>
              <a:ext cx="0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6902" y="5298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600" b="1" dirty="0"/>
            </a:p>
            <a:p>
              <a:pPr eaLnBrk="0" hangingPunct="0"/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3248" y="307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>
              <a:off x="2528" y="4482"/>
              <a:ext cx="1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31" name="Arc 9"/>
            <p:cNvSpPr/>
            <p:nvPr/>
          </p:nvSpPr>
          <p:spPr bwMode="auto">
            <a:xfrm>
              <a:off x="2168" y="4482"/>
              <a:ext cx="757" cy="78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7472 w 37472"/>
                <a:gd name="T1" fmla="*/ 36251 h 43200"/>
                <a:gd name="T2" fmla="*/ 21600 w 37472"/>
                <a:gd name="T3" fmla="*/ 0 h 43200"/>
                <a:gd name="T4" fmla="*/ 21600 w 37472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72" h="43200" fill="none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37472" h="43200" stroke="0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1808" y="495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33" name="Line 7"/>
            <p:cNvSpPr>
              <a:spLocks noChangeShapeType="1"/>
            </p:cNvSpPr>
            <p:nvPr/>
          </p:nvSpPr>
          <p:spPr bwMode="auto">
            <a:xfrm>
              <a:off x="4680" y="2688"/>
              <a:ext cx="108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5040" y="237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600" b="1"/>
            </a:p>
            <a:p>
              <a:pPr eaLnBrk="0" hangingPunct="0"/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>
              <a:off x="4680" y="4716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36" name="AutoShape 4"/>
            <p:cNvSpPr>
              <a:spLocks noChangeArrowheads="1"/>
            </p:cNvSpPr>
            <p:nvPr/>
          </p:nvSpPr>
          <p:spPr bwMode="auto">
            <a:xfrm>
              <a:off x="5760" y="4248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37" name="Rectangle 3"/>
            <p:cNvSpPr>
              <a:spLocks noChangeArrowheads="1"/>
            </p:cNvSpPr>
            <p:nvPr/>
          </p:nvSpPr>
          <p:spPr bwMode="auto">
            <a:xfrm>
              <a:off x="5957" y="4520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→(A·)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38" name="Oval 2"/>
            <p:cNvSpPr>
              <a:spLocks noChangeArrowheads="1"/>
            </p:cNvSpPr>
            <p:nvPr/>
          </p:nvSpPr>
          <p:spPr bwMode="auto">
            <a:xfrm>
              <a:off x="720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用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LR(0)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方法分析串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𝐚</m:t>
                        </m:r>
                      </m:e>
                    </m:d>
                    <m:r>
                      <a:rPr lang="en-US" altLang="zh-CN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是不是文法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可以识别的串。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"/>
          <p:cNvGrpSpPr/>
          <p:nvPr/>
        </p:nvGrpSpPr>
        <p:grpSpPr bwMode="auto">
          <a:xfrm>
            <a:off x="1230326" y="2306929"/>
            <a:ext cx="3559292" cy="2817440"/>
            <a:chOff x="1808" y="1518"/>
            <a:chExt cx="5940" cy="5382"/>
          </a:xfrm>
        </p:grpSpPr>
        <p:sp>
          <p:nvSpPr>
            <p:cNvPr id="5" name="AutoShape 35"/>
            <p:cNvSpPr>
              <a:spLocks noChangeArrowheads="1"/>
            </p:cNvSpPr>
            <p:nvPr/>
          </p:nvSpPr>
          <p:spPr bwMode="auto">
            <a:xfrm>
              <a:off x="2708" y="1518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6" name="Rectangle 34"/>
            <p:cNvSpPr>
              <a:spLocks noChangeArrowheads="1"/>
            </p:cNvSpPr>
            <p:nvPr/>
          </p:nvSpPr>
          <p:spPr bwMode="auto">
            <a:xfrm>
              <a:off x="2888" y="1674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A’ →·A</a:t>
              </a:r>
              <a:endParaRPr lang="en-US" altLang="zh-CN" sz="1400" b="1" dirty="0"/>
            </a:p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→·(A)</a:t>
              </a:r>
              <a:endParaRPr lang="en-US" altLang="zh-CN" sz="1400" b="1" dirty="0"/>
            </a:p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→·a</a:t>
              </a:r>
              <a:endParaRPr lang="en-US" altLang="zh-CN" sz="1400" b="1" dirty="0"/>
            </a:p>
            <a:p>
              <a:pPr eaLnBrk="0" hangingPunct="0"/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7" name="Oval 33"/>
            <p:cNvSpPr>
              <a:spLocks noChangeArrowheads="1"/>
            </p:cNvSpPr>
            <p:nvPr/>
          </p:nvSpPr>
          <p:spPr bwMode="auto">
            <a:xfrm>
              <a:off x="4148" y="2298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8" name="Line 32"/>
            <p:cNvSpPr>
              <a:spLocks noChangeShapeType="1"/>
            </p:cNvSpPr>
            <p:nvPr/>
          </p:nvSpPr>
          <p:spPr bwMode="auto">
            <a:xfrm>
              <a:off x="1988" y="214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>
              <a:off x="4688" y="2142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10" name="Rectangle 30"/>
            <p:cNvSpPr>
              <a:spLocks noChangeArrowheads="1"/>
            </p:cNvSpPr>
            <p:nvPr/>
          </p:nvSpPr>
          <p:spPr bwMode="auto">
            <a:xfrm>
              <a:off x="5048" y="167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400" b="1"/>
            </a:p>
            <a:p>
              <a:pPr eaLnBrk="0" hangingPunct="0"/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11" name="AutoShape 29"/>
            <p:cNvSpPr>
              <a:spLocks noChangeArrowheads="1"/>
            </p:cNvSpPr>
            <p:nvPr/>
          </p:nvSpPr>
          <p:spPr bwMode="auto">
            <a:xfrm>
              <a:off x="5768" y="1518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5957" y="1830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A’ →A·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3" name="Oval 27"/>
            <p:cNvSpPr>
              <a:spLocks noChangeArrowheads="1"/>
            </p:cNvSpPr>
            <p:nvPr/>
          </p:nvSpPr>
          <p:spPr bwMode="auto">
            <a:xfrm>
              <a:off x="7208" y="1830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4" name="AutoShape 26"/>
            <p:cNvSpPr>
              <a:spLocks noChangeArrowheads="1"/>
            </p:cNvSpPr>
            <p:nvPr/>
          </p:nvSpPr>
          <p:spPr bwMode="auto">
            <a:xfrm>
              <a:off x="5768" y="2922"/>
              <a:ext cx="1980" cy="93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5957" y="3200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 a·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6" name="Oval 24"/>
            <p:cNvSpPr>
              <a:spLocks noChangeArrowheads="1"/>
            </p:cNvSpPr>
            <p:nvPr/>
          </p:nvSpPr>
          <p:spPr bwMode="auto">
            <a:xfrm>
              <a:off x="7208" y="3234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7" name="AutoShape 23"/>
            <p:cNvSpPr>
              <a:spLocks noChangeArrowheads="1"/>
            </p:cNvSpPr>
            <p:nvPr/>
          </p:nvSpPr>
          <p:spPr bwMode="auto">
            <a:xfrm>
              <a:off x="2708" y="3702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2888" y="3858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→(·A)</a:t>
              </a:r>
              <a:endParaRPr lang="en-US" altLang="zh-CN" sz="1400" b="1"/>
            </a:p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→·(A)</a:t>
              </a:r>
              <a:endParaRPr lang="en-US" altLang="zh-CN" sz="1400" b="1"/>
            </a:p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→·a</a:t>
              </a:r>
              <a:endParaRPr lang="en-US" altLang="zh-CN" sz="1400" b="1"/>
            </a:p>
            <a:p>
              <a:pPr eaLnBrk="0" hangingPunct="0"/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>
              <a:off x="4148" y="4482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3608" y="292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5220" y="424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 flipV="1">
              <a:off x="4688" y="3390"/>
              <a:ext cx="10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5048" y="323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400" b="1"/>
            </a:p>
            <a:p>
              <a:pPr eaLnBrk="0" hangingPunct="0"/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24" name="AutoShape 16"/>
            <p:cNvSpPr>
              <a:spLocks noChangeArrowheads="1"/>
            </p:cNvSpPr>
            <p:nvPr/>
          </p:nvSpPr>
          <p:spPr bwMode="auto">
            <a:xfrm>
              <a:off x="5760" y="5964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5957" y="6217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→(A)·</a:t>
              </a:r>
              <a:endParaRPr lang="en-US" altLang="zh-CN" sz="1400" b="1" dirty="0"/>
            </a:p>
            <a:p>
              <a:pPr eaLnBrk="0" hangingPunct="0"/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26" name="Oval 14"/>
            <p:cNvSpPr>
              <a:spLocks noChangeArrowheads="1"/>
            </p:cNvSpPr>
            <p:nvPr/>
          </p:nvSpPr>
          <p:spPr bwMode="auto">
            <a:xfrm>
              <a:off x="7200" y="6169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6688" y="5262"/>
              <a:ext cx="0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6902" y="5298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400" b="1" dirty="0"/>
            </a:p>
            <a:p>
              <a:pPr eaLnBrk="0" hangingPunct="0"/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3248" y="307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>
              <a:off x="2528" y="4482"/>
              <a:ext cx="1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1" name="Arc 9"/>
            <p:cNvSpPr/>
            <p:nvPr/>
          </p:nvSpPr>
          <p:spPr bwMode="auto">
            <a:xfrm>
              <a:off x="2168" y="4482"/>
              <a:ext cx="757" cy="78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7472 w 37472"/>
                <a:gd name="T1" fmla="*/ 36251 h 43200"/>
                <a:gd name="T2" fmla="*/ 21600 w 37472"/>
                <a:gd name="T3" fmla="*/ 0 h 43200"/>
                <a:gd name="T4" fmla="*/ 21600 w 37472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72" h="43200" fill="none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37472" h="43200" stroke="0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1808" y="495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33" name="Line 7"/>
            <p:cNvSpPr>
              <a:spLocks noChangeShapeType="1"/>
            </p:cNvSpPr>
            <p:nvPr/>
          </p:nvSpPr>
          <p:spPr bwMode="auto">
            <a:xfrm>
              <a:off x="4680" y="2688"/>
              <a:ext cx="108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5040" y="237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400" b="1"/>
            </a:p>
            <a:p>
              <a:pPr eaLnBrk="0" hangingPunct="0"/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>
              <a:off x="4680" y="4716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6" name="AutoShape 4"/>
            <p:cNvSpPr>
              <a:spLocks noChangeArrowheads="1"/>
            </p:cNvSpPr>
            <p:nvPr/>
          </p:nvSpPr>
          <p:spPr bwMode="auto">
            <a:xfrm>
              <a:off x="5760" y="4248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7" name="Rectangle 3"/>
            <p:cNvSpPr>
              <a:spLocks noChangeArrowheads="1"/>
            </p:cNvSpPr>
            <p:nvPr/>
          </p:nvSpPr>
          <p:spPr bwMode="auto">
            <a:xfrm>
              <a:off x="5957" y="4520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→(A·)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38" name="Oval 2"/>
            <p:cNvSpPr>
              <a:spLocks noChangeArrowheads="1"/>
            </p:cNvSpPr>
            <p:nvPr/>
          </p:nvSpPr>
          <p:spPr bwMode="auto">
            <a:xfrm>
              <a:off x="720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5410344" y="1945571"/>
          <a:ext cx="50878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656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stack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(a) )$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(a) 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( 3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a) 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( 3 a 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</a:t>
                      </a:r>
                      <a:r>
                        <a:rPr kumimoji="0" lang="en-US" altLang="zh-CN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A→a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( 3 A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( 3 A 4 )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A→(A)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A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A 4 ) 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A→(A)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A 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A’ →A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A’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accept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3" name="矩形: 圆角 42"/>
          <p:cNvSpPr/>
          <p:nvPr/>
        </p:nvSpPr>
        <p:spPr bwMode="auto">
          <a:xfrm>
            <a:off x="8931330" y="2323374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5" name="矩形: 圆角 44"/>
          <p:cNvSpPr/>
          <p:nvPr/>
        </p:nvSpPr>
        <p:spPr bwMode="auto">
          <a:xfrm>
            <a:off x="8894282" y="2710623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7" name="矩形: 圆角 46"/>
          <p:cNvSpPr/>
          <p:nvPr/>
        </p:nvSpPr>
        <p:spPr bwMode="auto">
          <a:xfrm>
            <a:off x="8931330" y="3074364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9" name="矩形: 圆角 48"/>
          <p:cNvSpPr/>
          <p:nvPr/>
        </p:nvSpPr>
        <p:spPr bwMode="auto">
          <a:xfrm>
            <a:off x="8894282" y="3427617"/>
            <a:ext cx="1430923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1" name="矩形: 圆角 50"/>
          <p:cNvSpPr/>
          <p:nvPr/>
        </p:nvSpPr>
        <p:spPr bwMode="auto">
          <a:xfrm>
            <a:off x="8931791" y="3812656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3" name="矩形: 圆角 52"/>
          <p:cNvSpPr/>
          <p:nvPr/>
        </p:nvSpPr>
        <p:spPr bwMode="auto">
          <a:xfrm>
            <a:off x="8930271" y="4171474"/>
            <a:ext cx="1514797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5" name="矩形: 圆角 54"/>
          <p:cNvSpPr/>
          <p:nvPr/>
        </p:nvSpPr>
        <p:spPr bwMode="auto">
          <a:xfrm>
            <a:off x="8894281" y="4567368"/>
            <a:ext cx="61402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7" name="矩形: 圆角 56"/>
          <p:cNvSpPr/>
          <p:nvPr/>
        </p:nvSpPr>
        <p:spPr bwMode="auto">
          <a:xfrm>
            <a:off x="8910453" y="4909663"/>
            <a:ext cx="1534614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9" name="矩形: 圆角 58"/>
          <p:cNvSpPr/>
          <p:nvPr/>
        </p:nvSpPr>
        <p:spPr bwMode="auto">
          <a:xfrm>
            <a:off x="8925550" y="5257821"/>
            <a:ext cx="1483737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61" name="矩形: 圆角 60"/>
          <p:cNvSpPr/>
          <p:nvPr/>
        </p:nvSpPr>
        <p:spPr bwMode="auto">
          <a:xfrm>
            <a:off x="8909700" y="5635069"/>
            <a:ext cx="858708" cy="288032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LR(0)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分析表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也可以将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DFA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和指定的动作合并生成一个分析表用来分析。这样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LR(0)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就变成一个表驱动的分析方法了。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1"/>
          <p:cNvGrpSpPr/>
          <p:nvPr/>
        </p:nvGrpSpPr>
        <p:grpSpPr bwMode="auto">
          <a:xfrm>
            <a:off x="1318954" y="2809627"/>
            <a:ext cx="3586132" cy="2817440"/>
            <a:chOff x="1808" y="1518"/>
            <a:chExt cx="5940" cy="5382"/>
          </a:xfrm>
        </p:grpSpPr>
        <p:sp>
          <p:nvSpPr>
            <p:cNvPr id="5" name="AutoShape 35"/>
            <p:cNvSpPr>
              <a:spLocks noChangeArrowheads="1"/>
            </p:cNvSpPr>
            <p:nvPr/>
          </p:nvSpPr>
          <p:spPr bwMode="auto">
            <a:xfrm>
              <a:off x="2708" y="1518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6" name="Rectangle 34"/>
            <p:cNvSpPr>
              <a:spLocks noChangeArrowheads="1"/>
            </p:cNvSpPr>
            <p:nvPr/>
          </p:nvSpPr>
          <p:spPr bwMode="auto">
            <a:xfrm>
              <a:off x="2888" y="1674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A’ →·A</a:t>
              </a:r>
              <a:endParaRPr lang="en-US" altLang="zh-CN" sz="1400" b="1" dirty="0"/>
            </a:p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→·(A)</a:t>
              </a:r>
              <a:endParaRPr lang="en-US" altLang="zh-CN" sz="1400" b="1" dirty="0"/>
            </a:p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→·a</a:t>
              </a:r>
              <a:endParaRPr lang="en-US" altLang="zh-CN" sz="1400" b="1" dirty="0"/>
            </a:p>
            <a:p>
              <a:pPr eaLnBrk="0" hangingPunct="0"/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7" name="Oval 33"/>
            <p:cNvSpPr>
              <a:spLocks noChangeArrowheads="1"/>
            </p:cNvSpPr>
            <p:nvPr/>
          </p:nvSpPr>
          <p:spPr bwMode="auto">
            <a:xfrm>
              <a:off x="4148" y="2298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8" name="Line 32"/>
            <p:cNvSpPr>
              <a:spLocks noChangeShapeType="1"/>
            </p:cNvSpPr>
            <p:nvPr/>
          </p:nvSpPr>
          <p:spPr bwMode="auto">
            <a:xfrm>
              <a:off x="1988" y="214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9" name="Line 31"/>
            <p:cNvSpPr>
              <a:spLocks noChangeShapeType="1"/>
            </p:cNvSpPr>
            <p:nvPr/>
          </p:nvSpPr>
          <p:spPr bwMode="auto">
            <a:xfrm>
              <a:off x="4688" y="2142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10" name="Rectangle 30"/>
            <p:cNvSpPr>
              <a:spLocks noChangeArrowheads="1"/>
            </p:cNvSpPr>
            <p:nvPr/>
          </p:nvSpPr>
          <p:spPr bwMode="auto">
            <a:xfrm>
              <a:off x="5048" y="167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400" b="1"/>
            </a:p>
            <a:p>
              <a:pPr eaLnBrk="0" hangingPunct="0"/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11" name="AutoShape 29"/>
            <p:cNvSpPr>
              <a:spLocks noChangeArrowheads="1"/>
            </p:cNvSpPr>
            <p:nvPr/>
          </p:nvSpPr>
          <p:spPr bwMode="auto">
            <a:xfrm>
              <a:off x="5768" y="1518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5957" y="1830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A’ →A·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3" name="Oval 27"/>
            <p:cNvSpPr>
              <a:spLocks noChangeArrowheads="1"/>
            </p:cNvSpPr>
            <p:nvPr/>
          </p:nvSpPr>
          <p:spPr bwMode="auto">
            <a:xfrm>
              <a:off x="7208" y="1830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4" name="AutoShape 26"/>
            <p:cNvSpPr>
              <a:spLocks noChangeArrowheads="1"/>
            </p:cNvSpPr>
            <p:nvPr/>
          </p:nvSpPr>
          <p:spPr bwMode="auto">
            <a:xfrm>
              <a:off x="5768" y="2922"/>
              <a:ext cx="1980" cy="936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5957" y="3200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 a·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6" name="Oval 24"/>
            <p:cNvSpPr>
              <a:spLocks noChangeArrowheads="1"/>
            </p:cNvSpPr>
            <p:nvPr/>
          </p:nvSpPr>
          <p:spPr bwMode="auto">
            <a:xfrm>
              <a:off x="7208" y="3234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17" name="AutoShape 23"/>
            <p:cNvSpPr>
              <a:spLocks noChangeArrowheads="1"/>
            </p:cNvSpPr>
            <p:nvPr/>
          </p:nvSpPr>
          <p:spPr bwMode="auto">
            <a:xfrm>
              <a:off x="2708" y="3702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18" name="Rectangle 22"/>
            <p:cNvSpPr>
              <a:spLocks noChangeArrowheads="1"/>
            </p:cNvSpPr>
            <p:nvPr/>
          </p:nvSpPr>
          <p:spPr bwMode="auto">
            <a:xfrm>
              <a:off x="2888" y="3858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→(·A)</a:t>
              </a:r>
              <a:endParaRPr lang="en-US" altLang="zh-CN" sz="1400" b="1"/>
            </a:p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→·(A)</a:t>
              </a:r>
              <a:endParaRPr lang="en-US" altLang="zh-CN" sz="1400" b="1"/>
            </a:p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→·a</a:t>
              </a:r>
              <a:endParaRPr lang="en-US" altLang="zh-CN" sz="1400" b="1"/>
            </a:p>
            <a:p>
              <a:pPr eaLnBrk="0" hangingPunct="0"/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19" name="Oval 21"/>
            <p:cNvSpPr>
              <a:spLocks noChangeArrowheads="1"/>
            </p:cNvSpPr>
            <p:nvPr/>
          </p:nvSpPr>
          <p:spPr bwMode="auto">
            <a:xfrm>
              <a:off x="4148" y="4482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3608" y="292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5220" y="424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 flipV="1">
              <a:off x="4688" y="3390"/>
              <a:ext cx="10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5048" y="323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400" b="1"/>
            </a:p>
            <a:p>
              <a:pPr eaLnBrk="0" hangingPunct="0"/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24" name="AutoShape 16"/>
            <p:cNvSpPr>
              <a:spLocks noChangeArrowheads="1"/>
            </p:cNvSpPr>
            <p:nvPr/>
          </p:nvSpPr>
          <p:spPr bwMode="auto">
            <a:xfrm>
              <a:off x="5760" y="5964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5957" y="6217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→(A)·</a:t>
              </a:r>
              <a:endParaRPr lang="en-US" altLang="zh-CN" sz="1400" b="1" dirty="0"/>
            </a:p>
            <a:p>
              <a:pPr eaLnBrk="0" hangingPunct="0"/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26" name="Oval 14"/>
            <p:cNvSpPr>
              <a:spLocks noChangeArrowheads="1"/>
            </p:cNvSpPr>
            <p:nvPr/>
          </p:nvSpPr>
          <p:spPr bwMode="auto">
            <a:xfrm>
              <a:off x="7200" y="6169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27" name="Line 13"/>
            <p:cNvSpPr>
              <a:spLocks noChangeShapeType="1"/>
            </p:cNvSpPr>
            <p:nvPr/>
          </p:nvSpPr>
          <p:spPr bwMode="auto">
            <a:xfrm>
              <a:off x="6688" y="5262"/>
              <a:ext cx="0" cy="7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6902" y="5298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400" b="1" dirty="0"/>
            </a:p>
            <a:p>
              <a:pPr eaLnBrk="0" hangingPunct="0"/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3248" y="307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>
              <a:off x="2528" y="4482"/>
              <a:ext cx="1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1" name="Arc 9"/>
            <p:cNvSpPr/>
            <p:nvPr/>
          </p:nvSpPr>
          <p:spPr bwMode="auto">
            <a:xfrm>
              <a:off x="2168" y="4482"/>
              <a:ext cx="757" cy="78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7472 w 37472"/>
                <a:gd name="T1" fmla="*/ 36251 h 43200"/>
                <a:gd name="T2" fmla="*/ 21600 w 37472"/>
                <a:gd name="T3" fmla="*/ 0 h 43200"/>
                <a:gd name="T4" fmla="*/ 21600 w 37472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72" h="43200" fill="none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37472" h="43200" stroke="0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1808" y="495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33" name="Line 7"/>
            <p:cNvSpPr>
              <a:spLocks noChangeShapeType="1"/>
            </p:cNvSpPr>
            <p:nvPr/>
          </p:nvSpPr>
          <p:spPr bwMode="auto">
            <a:xfrm>
              <a:off x="4680" y="2688"/>
              <a:ext cx="108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5040" y="237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400" b="1"/>
            </a:p>
            <a:p>
              <a:pPr eaLnBrk="0" hangingPunct="0"/>
              <a:endParaRPr lang="en-US" altLang="zh-CN" sz="1400" b="1">
                <a:latin typeface="Arial" panose="020B0604020202020204" pitchFamily="34" charset="0"/>
              </a:endParaRPr>
            </a:p>
          </p:txBody>
        </p:sp>
        <p:sp>
          <p:nvSpPr>
            <p:cNvPr id="35" name="Line 5"/>
            <p:cNvSpPr>
              <a:spLocks noChangeShapeType="1"/>
            </p:cNvSpPr>
            <p:nvPr/>
          </p:nvSpPr>
          <p:spPr bwMode="auto">
            <a:xfrm>
              <a:off x="4680" y="4716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6" name="AutoShape 4"/>
            <p:cNvSpPr>
              <a:spLocks noChangeArrowheads="1"/>
            </p:cNvSpPr>
            <p:nvPr/>
          </p:nvSpPr>
          <p:spPr bwMode="auto">
            <a:xfrm>
              <a:off x="5760" y="4248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 b="1"/>
            </a:p>
          </p:txBody>
        </p:sp>
        <p:sp>
          <p:nvSpPr>
            <p:cNvPr id="37" name="Rectangle 3"/>
            <p:cNvSpPr>
              <a:spLocks noChangeArrowheads="1"/>
            </p:cNvSpPr>
            <p:nvPr/>
          </p:nvSpPr>
          <p:spPr bwMode="auto">
            <a:xfrm>
              <a:off x="5957" y="4520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→(A·)</a:t>
              </a:r>
              <a:endParaRPr lang="en-US" altLang="zh-CN" sz="1400" b="1" dirty="0">
                <a:latin typeface="Arial" panose="020B0604020202020204" pitchFamily="34" charset="0"/>
              </a:endParaRPr>
            </a:p>
          </p:txBody>
        </p:sp>
        <p:sp>
          <p:nvSpPr>
            <p:cNvPr id="38" name="Oval 2"/>
            <p:cNvSpPr>
              <a:spLocks noChangeArrowheads="1"/>
            </p:cNvSpPr>
            <p:nvPr/>
          </p:nvSpPr>
          <p:spPr bwMode="auto">
            <a:xfrm>
              <a:off x="720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400" b="1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40" name="表格 2"/>
          <p:cNvGraphicFramePr>
            <a:graphicFrameLocks noGrp="1"/>
          </p:cNvGraphicFramePr>
          <p:nvPr/>
        </p:nvGraphicFramePr>
        <p:xfrm>
          <a:off x="5668576" y="2892467"/>
          <a:ext cx="452629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1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79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830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Rule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(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shift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reduce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A’→A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reduce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A→a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shift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shift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reduce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A→(A)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 sz="2800" b="1" dirty="0">
                    <a:latin typeface="+mn-ea"/>
                    <a:ea typeface="+mn-ea"/>
                    <a:cs typeface="Arial" panose="020B0604020202020204" pitchFamily="34" charset="0"/>
                  </a:rPr>
                  <a:t>用</a:t>
                </a:r>
                <a:r>
                  <a:rPr lang="en-US" altLang="zh-CN" sz="2800" b="1" dirty="0">
                    <a:latin typeface="+mn-ea"/>
                    <a:ea typeface="+mn-ea"/>
                    <a:cs typeface="Arial" panose="020B0604020202020204" pitchFamily="34" charset="0"/>
                  </a:rPr>
                  <a:t>LR(0)</a:t>
                </a:r>
                <a:r>
                  <a:rPr lang="zh-CN" altLang="en-US" sz="2800" b="1" dirty="0">
                    <a:latin typeface="+mn-ea"/>
                    <a:ea typeface="+mn-ea"/>
                    <a:cs typeface="Arial" panose="020B0604020202020204" pitchFamily="34" charset="0"/>
                  </a:rPr>
                  <a:t>表来辅助分析串</a:t>
                </a:r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(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8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𝐚</m:t>
                        </m:r>
                      </m:e>
                    </m:d>
                    <m:r>
                      <a:rPr lang="en-US" altLang="zh-CN" sz="2800" b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latin typeface="+mn-ea"/>
                    <a:ea typeface="+mn-ea"/>
                    <a:cs typeface="Arial" panose="020B0604020202020204" pitchFamily="34" charset="0"/>
                  </a:rPr>
                  <a:t>是不是文法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→</m:t>
                    </m:r>
                    <m:d>
                      <m:d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𝑨</m:t>
                        </m:r>
                      </m:e>
                    </m:d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|</m:t>
                    </m:r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𝒂</m:t>
                    </m:r>
                  </m:oMath>
                </a14:m>
                <a:r>
                  <a:rPr lang="zh-CN" altLang="en-US" sz="2800" b="1" dirty="0">
                    <a:latin typeface="+mn-ea"/>
                    <a:ea typeface="+mn-ea"/>
                    <a:cs typeface="Arial" panose="020B0604020202020204" pitchFamily="34" charset="0"/>
                  </a:rPr>
                  <a:t>可以识别的串。</a:t>
                </a:r>
                <a:endParaRPr lang="en-US" altLang="zh-CN" sz="2800" b="1" dirty="0">
                  <a:latin typeface="+mn-ea"/>
                  <a:ea typeface="+mn-ea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表格 2"/>
          <p:cNvGraphicFramePr>
            <a:graphicFrameLocks noGrp="1"/>
          </p:cNvGraphicFramePr>
          <p:nvPr/>
        </p:nvGraphicFramePr>
        <p:xfrm>
          <a:off x="5879976" y="2060848"/>
          <a:ext cx="50878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5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656"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stack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$ 0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(a) )$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(a) 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( 3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a) 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( 3 a 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A→a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(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A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( 3 A 4 )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A→(A)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 A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shift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$ 0 ( 3 A 4 ) 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 A→(A)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A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A’ →A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A’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FF0000"/>
                          </a:solidFill>
                        </a:rPr>
                        <a:t>accept</a:t>
                      </a:r>
                      <a:endParaRPr lang="zh-CN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6" name="表格 2"/>
          <p:cNvGraphicFramePr>
            <a:graphicFrameLocks noGrp="1"/>
          </p:cNvGraphicFramePr>
          <p:nvPr/>
        </p:nvGraphicFramePr>
        <p:xfrm>
          <a:off x="911424" y="2585720"/>
          <a:ext cx="452629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4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1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1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79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830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Rule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(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shift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reduce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A’→A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reduce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A→a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shift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shift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13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reduce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A→(A)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给定文法如下：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该文法是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LR(0) </a:t>
                </a:r>
                <a:r>
                  <a:rPr lang="zh-CN" altLang="en-US" dirty="0"/>
                  <a:t>文法吗？如果是，请给出分析表。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zh-CN" dirty="0"/>
                  <a:t>输入串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是文法的句子吗？给出分析过程。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5400" y="172102"/>
            <a:ext cx="10801200" cy="6396024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457200" lvl="1" indent="0"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Cambria Math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063552" y="345430"/>
                <a:ext cx="1853952" cy="9233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345430"/>
                <a:ext cx="185395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777" t="-1581" r="-743" b="-1510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/>
          <p:cNvGrpSpPr/>
          <p:nvPr/>
        </p:nvGrpSpPr>
        <p:grpSpPr>
          <a:xfrm>
            <a:off x="1189772" y="1587693"/>
            <a:ext cx="5251417" cy="4608512"/>
            <a:chOff x="400703" y="1512869"/>
            <a:chExt cx="5251417" cy="4608512"/>
          </a:xfrm>
        </p:grpSpPr>
        <p:sp>
          <p:nvSpPr>
            <p:cNvPr id="9" name="AutoShape 25"/>
            <p:cNvSpPr>
              <a:spLocks noChangeArrowheads="1"/>
            </p:cNvSpPr>
            <p:nvPr/>
          </p:nvSpPr>
          <p:spPr bwMode="auto">
            <a:xfrm>
              <a:off x="826489" y="1512869"/>
              <a:ext cx="1170913" cy="89126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10" name="Rectangle 24"/>
            <p:cNvSpPr>
              <a:spLocks noChangeArrowheads="1"/>
            </p:cNvSpPr>
            <p:nvPr/>
          </p:nvSpPr>
          <p:spPr bwMode="auto">
            <a:xfrm>
              <a:off x="932936" y="1611899"/>
              <a:ext cx="745126" cy="5941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pt-BR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pt-BR" altLang="zh-CN" sz="1200" b="1" dirty="0"/>
            </a:p>
            <a:p>
              <a:pPr eaLnBrk="0" hangingPunct="0"/>
              <a:r>
                <a:rPr lang="pt-BR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S→·(SR</a:t>
              </a:r>
              <a:endParaRPr lang="pt-BR" altLang="zh-CN" sz="1200" b="1" dirty="0"/>
            </a:p>
            <a:p>
              <a:pPr eaLnBrk="0" hangingPunct="0"/>
              <a:r>
                <a:rPr lang="pt-BR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S→·a</a:t>
              </a:r>
              <a:endParaRPr lang="pt-BR" altLang="zh-CN" sz="1200" b="1" dirty="0"/>
            </a:p>
            <a:p>
              <a:pPr eaLnBrk="0" hangingPunct="0"/>
              <a:endParaRPr lang="pt-BR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11" name="Oval 23"/>
            <p:cNvSpPr>
              <a:spLocks noChangeArrowheads="1"/>
            </p:cNvSpPr>
            <p:nvPr/>
          </p:nvSpPr>
          <p:spPr bwMode="auto">
            <a:xfrm>
              <a:off x="1678062" y="2008018"/>
              <a:ext cx="212893" cy="2970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12" name="Line 22"/>
            <p:cNvSpPr>
              <a:spLocks noChangeShapeType="1"/>
            </p:cNvSpPr>
            <p:nvPr/>
          </p:nvSpPr>
          <p:spPr bwMode="auto">
            <a:xfrm>
              <a:off x="400703" y="1908988"/>
              <a:ext cx="42578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>
              <a:off x="1997402" y="1908988"/>
              <a:ext cx="638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14" name="Rectangle 20"/>
            <p:cNvSpPr>
              <a:spLocks noChangeArrowheads="1"/>
            </p:cNvSpPr>
            <p:nvPr/>
          </p:nvSpPr>
          <p:spPr bwMode="auto">
            <a:xfrm>
              <a:off x="2210295" y="1611899"/>
              <a:ext cx="106447" cy="1999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15" name="AutoShape 19"/>
            <p:cNvSpPr>
              <a:spLocks noChangeArrowheads="1"/>
            </p:cNvSpPr>
            <p:nvPr/>
          </p:nvSpPr>
          <p:spPr bwMode="auto">
            <a:xfrm>
              <a:off x="2636082" y="1512869"/>
              <a:ext cx="1188654" cy="59417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16" name="Rectangle 18"/>
            <p:cNvSpPr>
              <a:spLocks noChangeArrowheads="1"/>
            </p:cNvSpPr>
            <p:nvPr/>
          </p:nvSpPr>
          <p:spPr bwMode="auto">
            <a:xfrm>
              <a:off x="2742528" y="1611899"/>
              <a:ext cx="745126" cy="3961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200" b="1" dirty="0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3487655" y="1710929"/>
              <a:ext cx="212893" cy="2970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18" name="AutoShape 16"/>
            <p:cNvSpPr>
              <a:spLocks noChangeArrowheads="1"/>
            </p:cNvSpPr>
            <p:nvPr/>
          </p:nvSpPr>
          <p:spPr bwMode="auto">
            <a:xfrm>
              <a:off x="826489" y="2899286"/>
              <a:ext cx="1170913" cy="69320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932936" y="2998315"/>
              <a:ext cx="638680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S→ a·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20" name="Oval 14"/>
            <p:cNvSpPr>
              <a:spLocks noChangeArrowheads="1"/>
            </p:cNvSpPr>
            <p:nvPr/>
          </p:nvSpPr>
          <p:spPr bwMode="auto">
            <a:xfrm>
              <a:off x="1678062" y="3196375"/>
              <a:ext cx="212893" cy="2970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1" name="Line 13"/>
            <p:cNvSpPr>
              <a:spLocks noChangeShapeType="1"/>
            </p:cNvSpPr>
            <p:nvPr/>
          </p:nvSpPr>
          <p:spPr bwMode="auto">
            <a:xfrm>
              <a:off x="1358722" y="2404137"/>
              <a:ext cx="0" cy="4951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1145829" y="2503167"/>
              <a:ext cx="106447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>
              <a:off x="1678062" y="2404136"/>
              <a:ext cx="1490253" cy="495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2423188" y="2400154"/>
              <a:ext cx="106447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25" name="AutoShape 9"/>
            <p:cNvSpPr>
              <a:spLocks noChangeArrowheads="1"/>
            </p:cNvSpPr>
            <p:nvPr/>
          </p:nvSpPr>
          <p:spPr bwMode="auto">
            <a:xfrm>
              <a:off x="2636082" y="2899286"/>
              <a:ext cx="1170913" cy="69320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2742528" y="2998315"/>
              <a:ext cx="745126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(.SR</a:t>
              </a:r>
            </a:p>
            <a:p>
              <a:pPr lvl="0" eaLnBrk="0" hangingPunct="0"/>
              <a:r>
                <a:rPr lang="pt-BR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S→·(SR</a:t>
              </a:r>
              <a:endParaRPr lang="pt-BR" altLang="zh-CN" sz="1200" b="1" dirty="0"/>
            </a:p>
            <a:p>
              <a:pPr lvl="0" eaLnBrk="0" hangingPunct="0"/>
              <a:r>
                <a:rPr lang="pt-BR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S→·a</a:t>
              </a:r>
              <a:endPara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hangingPunct="0"/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27" name="Oval 7"/>
            <p:cNvSpPr>
              <a:spLocks noChangeArrowheads="1"/>
            </p:cNvSpPr>
            <p:nvPr/>
          </p:nvSpPr>
          <p:spPr bwMode="auto">
            <a:xfrm>
              <a:off x="3487655" y="3196375"/>
              <a:ext cx="212893" cy="2970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28" name="Line 6"/>
            <p:cNvSpPr>
              <a:spLocks noChangeShapeType="1"/>
            </p:cNvSpPr>
            <p:nvPr/>
          </p:nvSpPr>
          <p:spPr bwMode="auto">
            <a:xfrm flipH="1">
              <a:off x="3168315" y="3592494"/>
              <a:ext cx="0" cy="5635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29" name="AutoShape 5"/>
            <p:cNvSpPr>
              <a:spLocks noChangeArrowheads="1"/>
            </p:cNvSpPr>
            <p:nvPr/>
          </p:nvSpPr>
          <p:spPr bwMode="auto">
            <a:xfrm>
              <a:off x="2661128" y="4156031"/>
              <a:ext cx="1170913" cy="69320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2767575" y="4255060"/>
              <a:ext cx="745126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 (</a:t>
              </a:r>
              <a:r>
                <a:rPr lang="en-US" altLang="zh-CN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S.R</a:t>
              </a:r>
              <a:endParaRPr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R→ .+SR</a:t>
              </a:r>
              <a:endParaRPr lang="en-US" altLang="zh-CN" sz="1200" b="1" dirty="0"/>
            </a:p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R→ .)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31" name="Oval 3"/>
            <p:cNvSpPr>
              <a:spLocks noChangeArrowheads="1"/>
            </p:cNvSpPr>
            <p:nvPr/>
          </p:nvSpPr>
          <p:spPr bwMode="auto">
            <a:xfrm>
              <a:off x="3512701" y="4453120"/>
              <a:ext cx="212893" cy="2970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2" name="Rectangle 2"/>
            <p:cNvSpPr>
              <a:spLocks noChangeArrowheads="1"/>
            </p:cNvSpPr>
            <p:nvPr/>
          </p:nvSpPr>
          <p:spPr bwMode="auto">
            <a:xfrm>
              <a:off x="2992991" y="3905193"/>
              <a:ext cx="106447" cy="1999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35" name="Line 13"/>
            <p:cNvSpPr>
              <a:spLocks noChangeShapeType="1"/>
            </p:cNvSpPr>
            <p:nvPr/>
          </p:nvSpPr>
          <p:spPr bwMode="auto">
            <a:xfrm flipH="1">
              <a:off x="1984878" y="3241062"/>
              <a:ext cx="6511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36" name="Rectangle 12"/>
            <p:cNvSpPr>
              <a:spLocks noChangeArrowheads="1"/>
            </p:cNvSpPr>
            <p:nvPr/>
          </p:nvSpPr>
          <p:spPr bwMode="auto">
            <a:xfrm>
              <a:off x="2263511" y="2948800"/>
              <a:ext cx="106447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37" name="任意多边形: 形状 36"/>
            <p:cNvSpPr/>
            <p:nvPr/>
          </p:nvSpPr>
          <p:spPr bwMode="auto">
            <a:xfrm>
              <a:off x="3498369" y="2667031"/>
              <a:ext cx="548845" cy="543917"/>
            </a:xfrm>
            <a:custGeom>
              <a:avLst/>
              <a:gdLst>
                <a:gd name="connsiteX0" fmla="*/ 0 w 548845"/>
                <a:gd name="connsiteY0" fmla="*/ 203540 h 543917"/>
                <a:gd name="connsiteX1" fmla="*/ 189186 w 548845"/>
                <a:gd name="connsiteY1" fmla="*/ 3844 h 543917"/>
                <a:gd name="connsiteX2" fmla="*/ 546538 w 548845"/>
                <a:gd name="connsiteY2" fmla="*/ 361196 h 543917"/>
                <a:gd name="connsiteX3" fmla="*/ 341586 w 548845"/>
                <a:gd name="connsiteY3" fmla="*/ 529361 h 543917"/>
                <a:gd name="connsiteX4" fmla="*/ 315310 w 548845"/>
                <a:gd name="connsiteY4" fmla="*/ 524106 h 54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8845" h="543917">
                  <a:moveTo>
                    <a:pt x="0" y="203540"/>
                  </a:moveTo>
                  <a:cubicBezTo>
                    <a:pt x="49048" y="90554"/>
                    <a:pt x="98097" y="-22432"/>
                    <a:pt x="189186" y="3844"/>
                  </a:cubicBezTo>
                  <a:cubicBezTo>
                    <a:pt x="280275" y="30120"/>
                    <a:pt x="521138" y="273610"/>
                    <a:pt x="546538" y="361196"/>
                  </a:cubicBezTo>
                  <a:cubicBezTo>
                    <a:pt x="571938" y="448782"/>
                    <a:pt x="380124" y="502209"/>
                    <a:pt x="341586" y="529361"/>
                  </a:cubicBezTo>
                  <a:cubicBezTo>
                    <a:pt x="303048" y="556513"/>
                    <a:pt x="309179" y="540309"/>
                    <a:pt x="315310" y="524106"/>
                  </a:cubicBez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>
              <a:prstShdw prst="shdw12">
                <a:schemeClr val="bg2">
                  <a:alpha val="50000"/>
                </a:schemeClr>
              </a:prstShdw>
            </a:effectLst>
          </p:spPr>
          <p:txBody>
            <a:bodyPr vert="horz" wrap="square" lIns="91440" tIns="45720" rIns="91440" bIns="45720" numCol="1" rtlCol="0" anchor="t" anchorCtr="0" compatLnSpc="1"/>
            <a:lstStyle/>
            <a:p>
              <a:endParaRPr lang="zh-CN" altLang="en-US" b="1">
                <a:ea typeface="黑体" panose="02010609060101010101" pitchFamily="2" charset="-122"/>
              </a:endParaRPr>
            </a:p>
          </p:txBody>
        </p:sp>
        <p:sp>
          <p:nvSpPr>
            <p:cNvPr id="38" name="Rectangle 10"/>
            <p:cNvSpPr>
              <a:spLocks noChangeArrowheads="1"/>
            </p:cNvSpPr>
            <p:nvPr/>
          </p:nvSpPr>
          <p:spPr bwMode="auto">
            <a:xfrm>
              <a:off x="3894656" y="2552554"/>
              <a:ext cx="106447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39" name="Line 21"/>
            <p:cNvSpPr>
              <a:spLocks noChangeShapeType="1"/>
            </p:cNvSpPr>
            <p:nvPr/>
          </p:nvSpPr>
          <p:spPr bwMode="auto">
            <a:xfrm>
              <a:off x="3837282" y="4501276"/>
              <a:ext cx="638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0" name="Rectangle 20"/>
            <p:cNvSpPr>
              <a:spLocks noChangeArrowheads="1"/>
            </p:cNvSpPr>
            <p:nvPr/>
          </p:nvSpPr>
          <p:spPr bwMode="auto">
            <a:xfrm>
              <a:off x="1569264" y="5093249"/>
              <a:ext cx="106447" cy="1999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grpSp>
          <p:nvGrpSpPr>
            <p:cNvPr id="64" name="组合 63"/>
            <p:cNvGrpSpPr/>
            <p:nvPr/>
          </p:nvGrpSpPr>
          <p:grpSpPr>
            <a:xfrm>
              <a:off x="808748" y="5431232"/>
              <a:ext cx="1188654" cy="594179"/>
              <a:chOff x="5230508" y="5152100"/>
              <a:chExt cx="1188654" cy="594179"/>
            </a:xfrm>
          </p:grpSpPr>
          <p:sp>
            <p:nvSpPr>
              <p:cNvPr id="41" name="AutoShape 19"/>
              <p:cNvSpPr>
                <a:spLocks noChangeArrowheads="1"/>
              </p:cNvSpPr>
              <p:nvPr/>
            </p:nvSpPr>
            <p:spPr bwMode="auto">
              <a:xfrm>
                <a:off x="5230508" y="5152100"/>
                <a:ext cx="1188654" cy="59417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42" name="Rectangle 18"/>
              <p:cNvSpPr>
                <a:spLocks noChangeArrowheads="1"/>
              </p:cNvSpPr>
              <p:nvPr/>
            </p:nvSpPr>
            <p:spPr bwMode="auto">
              <a:xfrm>
                <a:off x="5336954" y="5251130"/>
                <a:ext cx="745126" cy="3961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→(SR.</a:t>
                </a:r>
                <a:endParaRPr lang="en-US" altLang="zh-CN" sz="1200" b="1" dirty="0"/>
              </a:p>
            </p:txBody>
          </p:sp>
          <p:sp>
            <p:nvSpPr>
              <p:cNvPr id="43" name="Oval 17"/>
              <p:cNvSpPr>
                <a:spLocks noChangeArrowheads="1"/>
              </p:cNvSpPr>
              <p:nvPr/>
            </p:nvSpPr>
            <p:spPr bwMode="auto">
              <a:xfrm>
                <a:off x="6082081" y="5350160"/>
                <a:ext cx="212893" cy="29708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algn="ctr" eaLnBrk="0" hangingPunct="0"/>
                <a:r>
                  <a:rPr lang="en-US" altLang="zh-CN" sz="1200" b="1" dirty="0">
                    <a:latin typeface="Arial" panose="020B0604020202020204" pitchFamily="34" charset="0"/>
                  </a:rPr>
                  <a:t>5</a:t>
                </a:r>
              </a:p>
            </p:txBody>
          </p:sp>
        </p:grpSp>
        <p:sp>
          <p:nvSpPr>
            <p:cNvPr id="44" name="AutoShape 19"/>
            <p:cNvSpPr>
              <a:spLocks noChangeArrowheads="1"/>
            </p:cNvSpPr>
            <p:nvPr/>
          </p:nvSpPr>
          <p:spPr bwMode="auto">
            <a:xfrm>
              <a:off x="824139" y="4233044"/>
              <a:ext cx="1188654" cy="59417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5" name="Rectangle 18"/>
            <p:cNvSpPr>
              <a:spLocks noChangeArrowheads="1"/>
            </p:cNvSpPr>
            <p:nvPr/>
          </p:nvSpPr>
          <p:spPr bwMode="auto">
            <a:xfrm>
              <a:off x="930585" y="4332074"/>
              <a:ext cx="745126" cy="3961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 →).</a:t>
              </a:r>
              <a:endParaRPr lang="en-US" altLang="zh-CN" sz="1200" b="1" dirty="0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auto">
            <a:xfrm>
              <a:off x="1675712" y="4431104"/>
              <a:ext cx="212893" cy="29708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47" name="Line 13"/>
            <p:cNvSpPr>
              <a:spLocks noChangeShapeType="1"/>
            </p:cNvSpPr>
            <p:nvPr/>
          </p:nvSpPr>
          <p:spPr bwMode="auto">
            <a:xfrm flipH="1">
              <a:off x="2011459" y="4469121"/>
              <a:ext cx="6496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48" name="Rectangle 12"/>
            <p:cNvSpPr>
              <a:spLocks noChangeArrowheads="1"/>
            </p:cNvSpPr>
            <p:nvPr/>
          </p:nvSpPr>
          <p:spPr bwMode="auto">
            <a:xfrm>
              <a:off x="2382488" y="4172935"/>
              <a:ext cx="106447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49" name="Line 6"/>
            <p:cNvSpPr>
              <a:spLocks noChangeShapeType="1"/>
            </p:cNvSpPr>
            <p:nvPr/>
          </p:nvSpPr>
          <p:spPr bwMode="auto">
            <a:xfrm flipH="1">
              <a:off x="1358722" y="4849239"/>
              <a:ext cx="1834639" cy="572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4465240" y="4171663"/>
              <a:ext cx="1170913" cy="693208"/>
              <a:chOff x="7231600" y="3068811"/>
              <a:chExt cx="1170913" cy="693208"/>
            </a:xfrm>
          </p:grpSpPr>
          <p:sp>
            <p:nvSpPr>
              <p:cNvPr id="50" name="AutoShape 5"/>
              <p:cNvSpPr>
                <a:spLocks noChangeArrowheads="1"/>
              </p:cNvSpPr>
              <p:nvPr/>
            </p:nvSpPr>
            <p:spPr bwMode="auto">
              <a:xfrm>
                <a:off x="7231600" y="3068811"/>
                <a:ext cx="1170913" cy="6932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51" name="Rectangle 4"/>
              <p:cNvSpPr>
                <a:spLocks noChangeArrowheads="1"/>
              </p:cNvSpPr>
              <p:nvPr/>
            </p:nvSpPr>
            <p:spPr bwMode="auto">
              <a:xfrm>
                <a:off x="7338047" y="3167840"/>
                <a:ext cx="745126" cy="4951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R→ +.SR</a:t>
                </a:r>
                <a:endParaRPr lang="en-US" altLang="zh-CN" sz="1200" b="1" dirty="0"/>
              </a:p>
              <a:p>
                <a:pPr lvl="0" eaLnBrk="0" hangingPunct="0"/>
                <a:r>
                  <a:rPr lang="pt-BR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S→·(SR</a:t>
                </a:r>
                <a:endParaRPr lang="pt-BR" altLang="zh-CN" sz="1200" b="1" dirty="0"/>
              </a:p>
              <a:p>
                <a:pPr lvl="0" eaLnBrk="0" hangingPunct="0"/>
                <a:r>
                  <a:rPr lang="pt-BR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S→·a</a:t>
                </a:r>
                <a:endParaRPr lang="pt-BR" altLang="zh-CN" sz="1200" b="1" dirty="0"/>
              </a:p>
              <a:p>
                <a:pPr eaLnBrk="0" hangingPunct="0"/>
                <a:endParaRPr lang="en-US" altLang="zh-CN" sz="1200" b="1" dirty="0"/>
              </a:p>
            </p:txBody>
          </p:sp>
          <p:sp>
            <p:nvSpPr>
              <p:cNvPr id="52" name="Oval 3"/>
              <p:cNvSpPr>
                <a:spLocks noChangeArrowheads="1"/>
              </p:cNvSpPr>
              <p:nvPr/>
            </p:nvSpPr>
            <p:spPr bwMode="auto">
              <a:xfrm>
                <a:off x="8083173" y="3365900"/>
                <a:ext cx="212893" cy="29708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algn="ctr"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endParaRPr lang="en-US" altLang="zh-CN" sz="12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53" name="Rectangle 2"/>
            <p:cNvSpPr>
              <a:spLocks noChangeArrowheads="1"/>
            </p:cNvSpPr>
            <p:nvPr/>
          </p:nvSpPr>
          <p:spPr bwMode="auto">
            <a:xfrm>
              <a:off x="4073111" y="4249173"/>
              <a:ext cx="106447" cy="1999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54" name="Line 11"/>
            <p:cNvSpPr>
              <a:spLocks noChangeShapeType="1"/>
            </p:cNvSpPr>
            <p:nvPr/>
          </p:nvSpPr>
          <p:spPr bwMode="auto">
            <a:xfrm flipH="1" flipV="1">
              <a:off x="1837737" y="3592494"/>
              <a:ext cx="2883403" cy="5503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3581808" y="3711171"/>
              <a:ext cx="99725" cy="2004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7" name="Rectangle 10"/>
            <p:cNvSpPr>
              <a:spLocks noChangeArrowheads="1"/>
            </p:cNvSpPr>
            <p:nvPr/>
          </p:nvSpPr>
          <p:spPr bwMode="auto">
            <a:xfrm>
              <a:off x="4156622" y="3627983"/>
              <a:ext cx="106447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59" name="Line 11"/>
            <p:cNvSpPr>
              <a:spLocks noChangeShapeType="1"/>
            </p:cNvSpPr>
            <p:nvPr/>
          </p:nvSpPr>
          <p:spPr bwMode="auto">
            <a:xfrm flipH="1" flipV="1">
              <a:off x="3487653" y="3592492"/>
              <a:ext cx="1302350" cy="557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2643307" y="5428173"/>
              <a:ext cx="1170913" cy="693208"/>
              <a:chOff x="7231600" y="3068811"/>
              <a:chExt cx="1170913" cy="693208"/>
            </a:xfrm>
          </p:grpSpPr>
          <p:sp>
            <p:nvSpPr>
              <p:cNvPr id="61" name="AutoShape 5"/>
              <p:cNvSpPr>
                <a:spLocks noChangeArrowheads="1"/>
              </p:cNvSpPr>
              <p:nvPr/>
            </p:nvSpPr>
            <p:spPr bwMode="auto">
              <a:xfrm>
                <a:off x="7231600" y="3068811"/>
                <a:ext cx="1170913" cy="693208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62" name="Rectangle 4"/>
              <p:cNvSpPr>
                <a:spLocks noChangeArrowheads="1"/>
              </p:cNvSpPr>
              <p:nvPr/>
            </p:nvSpPr>
            <p:spPr bwMode="auto">
              <a:xfrm>
                <a:off x="7338047" y="3167840"/>
                <a:ext cx="745126" cy="4951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R→ +</a:t>
                </a:r>
                <a:r>
                  <a:rPr lang="en-US" altLang="zh-CN" sz="1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S.R</a:t>
                </a:r>
                <a:endParaRPr lang="en-US" altLang="zh-CN" sz="1200" b="1" dirty="0"/>
              </a:p>
              <a:p>
                <a:pPr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R→ .+SR</a:t>
                </a:r>
                <a:endParaRPr lang="en-US" altLang="zh-CN" sz="1200" b="1" dirty="0"/>
              </a:p>
              <a:p>
                <a:pPr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R→ .)</a:t>
                </a:r>
                <a:endParaRPr lang="en-US" altLang="zh-CN" sz="1200" b="1" dirty="0"/>
              </a:p>
              <a:p>
                <a:pPr eaLnBrk="0" hangingPunct="0"/>
                <a:endParaRPr lang="en-US" altLang="zh-CN" sz="1200" b="1" dirty="0"/>
              </a:p>
            </p:txBody>
          </p:sp>
          <p:sp>
            <p:nvSpPr>
              <p:cNvPr id="63" name="Oval 3"/>
              <p:cNvSpPr>
                <a:spLocks noChangeArrowheads="1"/>
              </p:cNvSpPr>
              <p:nvPr/>
            </p:nvSpPr>
            <p:spPr bwMode="auto">
              <a:xfrm>
                <a:off x="8083173" y="3365900"/>
                <a:ext cx="212893" cy="29708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algn="ctr"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en-US" altLang="zh-CN" sz="1200" b="1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5" name="Line 6"/>
            <p:cNvSpPr>
              <a:spLocks noChangeShapeType="1"/>
            </p:cNvSpPr>
            <p:nvPr/>
          </p:nvSpPr>
          <p:spPr bwMode="auto">
            <a:xfrm flipH="1">
              <a:off x="3216057" y="4866232"/>
              <a:ext cx="1834639" cy="572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6" name="Rectangle 20"/>
            <p:cNvSpPr>
              <a:spLocks noChangeArrowheads="1"/>
            </p:cNvSpPr>
            <p:nvPr/>
          </p:nvSpPr>
          <p:spPr bwMode="auto">
            <a:xfrm>
              <a:off x="4073111" y="5201337"/>
              <a:ext cx="106447" cy="1999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67" name="Line 6"/>
            <p:cNvSpPr>
              <a:spLocks noChangeShapeType="1"/>
            </p:cNvSpPr>
            <p:nvPr/>
          </p:nvSpPr>
          <p:spPr bwMode="auto">
            <a:xfrm flipV="1">
              <a:off x="2924894" y="4866232"/>
              <a:ext cx="1796245" cy="56193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8" name="Rectangle 2"/>
            <p:cNvSpPr>
              <a:spLocks noChangeArrowheads="1"/>
            </p:cNvSpPr>
            <p:nvPr/>
          </p:nvSpPr>
          <p:spPr bwMode="auto">
            <a:xfrm>
              <a:off x="3966664" y="4841297"/>
              <a:ext cx="106447" cy="1999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grpSp>
          <p:nvGrpSpPr>
            <p:cNvPr id="69" name="组合 68"/>
            <p:cNvGrpSpPr/>
            <p:nvPr/>
          </p:nvGrpSpPr>
          <p:grpSpPr>
            <a:xfrm>
              <a:off x="4463466" y="5418479"/>
              <a:ext cx="1188654" cy="594179"/>
              <a:chOff x="5230508" y="5152100"/>
              <a:chExt cx="1188654" cy="594179"/>
            </a:xfrm>
          </p:grpSpPr>
          <p:sp>
            <p:nvSpPr>
              <p:cNvPr id="70" name="AutoShape 19"/>
              <p:cNvSpPr>
                <a:spLocks noChangeArrowheads="1"/>
              </p:cNvSpPr>
              <p:nvPr/>
            </p:nvSpPr>
            <p:spPr bwMode="auto">
              <a:xfrm>
                <a:off x="5230508" y="5152100"/>
                <a:ext cx="1188654" cy="594179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200" b="1"/>
              </a:p>
            </p:txBody>
          </p:sp>
          <p:sp>
            <p:nvSpPr>
              <p:cNvPr id="71" name="Rectangle 18"/>
              <p:cNvSpPr>
                <a:spLocks noChangeArrowheads="1"/>
              </p:cNvSpPr>
              <p:nvPr/>
            </p:nvSpPr>
            <p:spPr bwMode="auto">
              <a:xfrm>
                <a:off x="5336954" y="5251130"/>
                <a:ext cx="745126" cy="39611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eaLnBrk="0" hangingPunct="0"/>
                <a:r>
                  <a:rPr lang="en-US" altLang="zh-CN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→+SR.</a:t>
                </a:r>
                <a:endParaRPr lang="en-US" altLang="zh-CN" sz="1200" b="1" dirty="0"/>
              </a:p>
            </p:txBody>
          </p:sp>
          <p:sp>
            <p:nvSpPr>
              <p:cNvPr id="72" name="Oval 17"/>
              <p:cNvSpPr>
                <a:spLocks noChangeArrowheads="1"/>
              </p:cNvSpPr>
              <p:nvPr/>
            </p:nvSpPr>
            <p:spPr bwMode="auto">
              <a:xfrm>
                <a:off x="6082081" y="5350160"/>
                <a:ext cx="212893" cy="29708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0" tIns="0" rIns="0" bIns="0" numCol="1" anchor="t" anchorCtr="0" compatLnSpc="1"/>
              <a:lstStyle/>
              <a:p>
                <a:pPr algn="ctr" eaLnBrk="0" hangingPunct="0"/>
                <a:r>
                  <a:rPr lang="en-US" altLang="zh-CN" sz="1200" b="1" dirty="0">
                    <a:latin typeface="Arial" panose="020B0604020202020204" pitchFamily="34" charset="0"/>
                  </a:rPr>
                  <a:t>9</a:t>
                </a:r>
              </a:p>
            </p:txBody>
          </p:sp>
        </p:grpSp>
        <p:sp>
          <p:nvSpPr>
            <p:cNvPr id="73" name="Rectangle 20"/>
            <p:cNvSpPr>
              <a:spLocks noChangeArrowheads="1"/>
            </p:cNvSpPr>
            <p:nvPr/>
          </p:nvSpPr>
          <p:spPr bwMode="auto">
            <a:xfrm>
              <a:off x="4066397" y="5771212"/>
              <a:ext cx="106447" cy="19996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74" name="Line 6"/>
            <p:cNvSpPr>
              <a:spLocks noChangeShapeType="1"/>
            </p:cNvSpPr>
            <p:nvPr/>
          </p:nvSpPr>
          <p:spPr bwMode="auto">
            <a:xfrm>
              <a:off x="3806995" y="5725263"/>
              <a:ext cx="6531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5" name="Line 13"/>
            <p:cNvSpPr>
              <a:spLocks noChangeShapeType="1"/>
            </p:cNvSpPr>
            <p:nvPr/>
          </p:nvSpPr>
          <p:spPr bwMode="auto">
            <a:xfrm flipH="1" flipV="1">
              <a:off x="1847794" y="4834010"/>
              <a:ext cx="795622" cy="8480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6" name="Rectangle 12"/>
            <p:cNvSpPr>
              <a:spLocks noChangeArrowheads="1"/>
            </p:cNvSpPr>
            <p:nvPr/>
          </p:nvSpPr>
          <p:spPr bwMode="auto">
            <a:xfrm>
              <a:off x="2454496" y="5257285"/>
              <a:ext cx="106447" cy="1980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77" name="表格 2"/>
          <p:cNvGraphicFramePr>
            <a:graphicFrameLocks noGrp="1"/>
          </p:cNvGraphicFramePr>
          <p:nvPr/>
        </p:nvGraphicFramePr>
        <p:xfrm>
          <a:off x="6887162" y="289874"/>
          <a:ext cx="42628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51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51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89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974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Rule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4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(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+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)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 →S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S→ </a:t>
                      </a:r>
                      <a:r>
                        <a:rPr lang="en-US" altLang="zh-C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→(SR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→)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1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/>
                        <a:t>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→+SR</a:t>
                      </a:r>
                      <a:endParaRPr kumimoji="0" lang="en-US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839416" y="172102"/>
            <a:ext cx="10513168" cy="6396024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457200" lvl="1" indent="0"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>
              <a:ea typeface="Cambria Math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400" dirty="0"/>
          </a:p>
        </p:txBody>
      </p:sp>
      <p:graphicFrame>
        <p:nvGraphicFramePr>
          <p:cNvPr id="6" name="表格 2"/>
          <p:cNvGraphicFramePr>
            <a:graphicFrameLocks noGrp="1"/>
          </p:cNvGraphicFramePr>
          <p:nvPr/>
        </p:nvGraphicFramePr>
        <p:xfrm>
          <a:off x="1559496" y="1700807"/>
          <a:ext cx="3816421" cy="4608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8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2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26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71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8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Rule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4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(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a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+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0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 →S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S→ </a:t>
                      </a:r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→(SR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→)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s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dirty="0"/>
                        <a:t>r</a:t>
                      </a:r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→+SR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表格 2"/>
          <p:cNvGraphicFramePr>
            <a:graphicFrameLocks noGrp="1"/>
          </p:cNvGraphicFramePr>
          <p:nvPr/>
        </p:nvGraphicFramePr>
        <p:xfrm>
          <a:off x="6240015" y="356463"/>
          <a:ext cx="4536505" cy="595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912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stack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input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action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a+a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a+a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3a2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+a)$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S→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3S4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+a)$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3S4+7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3S4+7a2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S→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3S4+7S8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3S4+7S8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→)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3S4+7S8R9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→+SR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3S4R5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→(SR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0S1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S’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→S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912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$0S’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$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559496" y="356464"/>
                <a:ext cx="3816421" cy="1200329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9496" y="356464"/>
                <a:ext cx="3816421" cy="1200329"/>
              </a:xfrm>
              <a:prstGeom prst="rect">
                <a:avLst/>
              </a:prstGeom>
              <a:blipFill rotWithShape="1">
                <a:blip r:embed="rId2"/>
                <a:stretch>
                  <a:fillRect l="-381" t="-1236" r="-366" b="-1183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圆角 9"/>
          <p:cNvSpPr/>
          <p:nvPr/>
        </p:nvSpPr>
        <p:spPr bwMode="auto">
          <a:xfrm>
            <a:off x="6744075" y="908720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1" name="矩形: 圆角 10"/>
          <p:cNvSpPr/>
          <p:nvPr/>
        </p:nvSpPr>
        <p:spPr bwMode="auto">
          <a:xfrm>
            <a:off x="9480377" y="908720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2" name="矩形: 圆角 11"/>
          <p:cNvSpPr/>
          <p:nvPr/>
        </p:nvSpPr>
        <p:spPr bwMode="auto">
          <a:xfrm>
            <a:off x="6744075" y="1375681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3" name="矩形: 圆角 12"/>
          <p:cNvSpPr/>
          <p:nvPr/>
        </p:nvSpPr>
        <p:spPr bwMode="auto">
          <a:xfrm>
            <a:off x="9480377" y="1352585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4" name="矩形: 圆角 13"/>
          <p:cNvSpPr/>
          <p:nvPr/>
        </p:nvSpPr>
        <p:spPr bwMode="auto">
          <a:xfrm>
            <a:off x="6744075" y="1815658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5" name="矩形: 圆角 14"/>
          <p:cNvSpPr/>
          <p:nvPr/>
        </p:nvSpPr>
        <p:spPr bwMode="auto">
          <a:xfrm>
            <a:off x="6744075" y="2255635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6" name="矩形: 圆角 15"/>
          <p:cNvSpPr/>
          <p:nvPr/>
        </p:nvSpPr>
        <p:spPr bwMode="auto">
          <a:xfrm>
            <a:off x="6744990" y="2761614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7" name="矩形: 圆角 16"/>
          <p:cNvSpPr/>
          <p:nvPr/>
        </p:nvSpPr>
        <p:spPr bwMode="auto">
          <a:xfrm>
            <a:off x="6744074" y="3179218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8" name="矩形: 圆角 17"/>
          <p:cNvSpPr/>
          <p:nvPr/>
        </p:nvSpPr>
        <p:spPr bwMode="auto">
          <a:xfrm>
            <a:off x="6744074" y="3641568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9" name="矩形: 圆角 18"/>
          <p:cNvSpPr/>
          <p:nvPr/>
        </p:nvSpPr>
        <p:spPr bwMode="auto">
          <a:xfrm>
            <a:off x="6744073" y="4129766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0" name="矩形: 圆角 19"/>
          <p:cNvSpPr/>
          <p:nvPr/>
        </p:nvSpPr>
        <p:spPr bwMode="auto">
          <a:xfrm>
            <a:off x="6715767" y="4580222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1" name="矩形: 圆角 20"/>
          <p:cNvSpPr/>
          <p:nvPr/>
        </p:nvSpPr>
        <p:spPr bwMode="auto">
          <a:xfrm>
            <a:off x="6754668" y="5007832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2" name="矩形: 圆角 21"/>
          <p:cNvSpPr/>
          <p:nvPr/>
        </p:nvSpPr>
        <p:spPr bwMode="auto">
          <a:xfrm>
            <a:off x="6715767" y="5456330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3" name="矩形: 圆角 22"/>
          <p:cNvSpPr/>
          <p:nvPr/>
        </p:nvSpPr>
        <p:spPr bwMode="auto">
          <a:xfrm>
            <a:off x="6785061" y="5925802"/>
            <a:ext cx="2592287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4" name="矩形: 圆角 23"/>
          <p:cNvSpPr/>
          <p:nvPr/>
        </p:nvSpPr>
        <p:spPr bwMode="auto">
          <a:xfrm>
            <a:off x="9480377" y="1844292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5" name="矩形: 圆角 24"/>
          <p:cNvSpPr/>
          <p:nvPr/>
        </p:nvSpPr>
        <p:spPr bwMode="auto">
          <a:xfrm>
            <a:off x="9480707" y="2328948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6" name="矩形: 圆角 25"/>
          <p:cNvSpPr/>
          <p:nvPr/>
        </p:nvSpPr>
        <p:spPr bwMode="auto">
          <a:xfrm>
            <a:off x="9480377" y="2745232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7" name="矩形: 圆角 26"/>
          <p:cNvSpPr/>
          <p:nvPr/>
        </p:nvSpPr>
        <p:spPr bwMode="auto">
          <a:xfrm>
            <a:off x="9483600" y="3231639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8" name="矩形: 圆角 27"/>
          <p:cNvSpPr/>
          <p:nvPr/>
        </p:nvSpPr>
        <p:spPr bwMode="auto">
          <a:xfrm>
            <a:off x="9480376" y="3626335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9" name="矩形: 圆角 28"/>
          <p:cNvSpPr/>
          <p:nvPr/>
        </p:nvSpPr>
        <p:spPr bwMode="auto">
          <a:xfrm>
            <a:off x="9480375" y="4118042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30" name="矩形: 圆角 29"/>
          <p:cNvSpPr/>
          <p:nvPr/>
        </p:nvSpPr>
        <p:spPr bwMode="auto">
          <a:xfrm>
            <a:off x="9480375" y="4580222"/>
            <a:ext cx="1224138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31" name="矩形: 圆角 30"/>
          <p:cNvSpPr/>
          <p:nvPr/>
        </p:nvSpPr>
        <p:spPr bwMode="auto">
          <a:xfrm>
            <a:off x="9495622" y="5024259"/>
            <a:ext cx="1136883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32" name="矩形: 圆角 31"/>
          <p:cNvSpPr/>
          <p:nvPr/>
        </p:nvSpPr>
        <p:spPr bwMode="auto">
          <a:xfrm>
            <a:off x="9480375" y="5481162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33" name="矩形: 圆角 32"/>
          <p:cNvSpPr/>
          <p:nvPr/>
        </p:nvSpPr>
        <p:spPr bwMode="auto">
          <a:xfrm>
            <a:off x="9490992" y="5923079"/>
            <a:ext cx="1047156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给定文法如下：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→(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→+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𝑺𝑹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|)</m:t>
                      </m:r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文法是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LR(0) </a:t>
                </a:r>
                <a:r>
                  <a:rPr lang="zh-CN" altLang="en-US" dirty="0"/>
                  <a:t>文法。</a:t>
                </a: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zh-CN" altLang="zh-CN" dirty="0"/>
                  <a:t>输入串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是文法的句子。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SLR(1)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79376" y="1343025"/>
                <a:ext cx="11233248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SLR(1)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分析算法，也称为简单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LR(1)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算法。它在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LR(0)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算法的基础上，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引入下一个记号进行动作的预测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，大大提高分析算法的处理能力。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令当前的状态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（位于分析栈顶部），则动作定义如下：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若状态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包含了格式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的任何项目，其中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是一个终结符且是输入串中的下一个记号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，则动作就是将当前的输入记号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移进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到栈中，且压入栈中的新状态就是包含了项目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的状态。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343025"/>
                <a:ext cx="11233248" cy="5137150"/>
              </a:xfrm>
              <a:blipFill rotWithShape="1">
                <a:blip r:embed="rId2"/>
                <a:stretch>
                  <a:fillRect l="-130" t="-284" r="-124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SLR(1)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79376" y="1343025"/>
                <a:ext cx="11449272" cy="513715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若状态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包含了任何归约项目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且输入串中的下一个记号是在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𝑭𝒐𝒍𝒍𝒐𝒘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中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，则动作是使用规则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进行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归约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。使用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进行归约等价于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接受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输入串。其他情况下，将串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和它对应的状态出栈，新的栈顶状态如果包含一个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的项目，那么将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入栈并将包含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的状态作为新状态入栈。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如果下一个输入记号都不是上面两种情况提到的，则声明一个</a:t>
                </a:r>
                <a:r>
                  <a:rPr lang="zh-CN" altLang="en-US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错误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如果上述规则都是无歧义的，那么这个文法就是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SLR(1)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文法。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376" y="1343025"/>
                <a:ext cx="11449272" cy="5137150"/>
              </a:xfrm>
              <a:blipFill rotWithShape="1">
                <a:blip r:embed="rId2"/>
                <a:stretch>
                  <a:fillRect l="-127" t="-284" r="-459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SLR(1)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思考：规则无歧义意味着什么？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如果某个状态包含两个项目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𝜶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</a:t>
                </a:r>
                <a:r>
                  <a: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是一个终结符，有没有歧义？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𝑿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𝑭𝒐𝒍𝒍𝒐𝒘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中才有歧义。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如果某个状态包含两个项目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𝜸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𝜷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，</a:t>
                </a:r>
                <a:r>
                  <a: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有没有歧义？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eaLnBrk="1" hangingPunct="1">
                  <a:lnSpc>
                    <a:spcPct val="150000"/>
                  </a:lnSpc>
                </a:pPr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𝑭𝒐𝒍𝒍𝒐𝒘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𝑩</m:t>
                        </m:r>
                      </m:e>
                    </m:d>
                  </m:oMath>
                </a14:m>
                <a:r>
                  <a:rPr lang="zh-CN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有交集才有歧义。</a:t>
                </a:r>
                <a:endParaRPr lang="en-US" altLang="zh-CN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SLR(1)</a:t>
                </a:r>
                <a:r>
                  <a:rPr lang="zh-CN" altLang="en-US" sz="2400" dirty="0"/>
                  <a:t>分析表：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𝑬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400" dirty="0"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+mn-ea"/>
                  </a:rPr>
                  <a:t>这个文法不是一个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LR(0)</a:t>
                </a:r>
                <a:r>
                  <a:rPr lang="zh-CN" altLang="en-US" sz="2400" dirty="0">
                    <a:latin typeface="+mn-ea"/>
                    <a:cs typeface="Arial" panose="020B0604020202020204" pitchFamily="34" charset="0"/>
                  </a:rPr>
                  <a:t>文法，因为状态</a:t>
                </a:r>
                <a:r>
                  <a:rPr lang="en-US" altLang="zh-CN" sz="2400" dirty="0">
                    <a:latin typeface="+mn-ea"/>
                    <a:cs typeface="Arial" panose="020B0604020202020204" pitchFamily="34" charset="0"/>
                  </a:rPr>
                  <a:t>1</a:t>
                </a:r>
                <a:r>
                  <a:rPr lang="zh-CN" altLang="en-US" sz="2400" dirty="0">
                    <a:latin typeface="+mn-ea"/>
                    <a:cs typeface="Arial" panose="020B0604020202020204" pitchFamily="34" charset="0"/>
                  </a:rPr>
                  <a:t>里面包含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移进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-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归约</a:t>
                </a:r>
                <a:r>
                  <a:rPr lang="zh-CN" altLang="en-US" sz="2400" dirty="0">
                    <a:latin typeface="+mn-ea"/>
                    <a:cs typeface="Arial" panose="020B0604020202020204" pitchFamily="34" charset="0"/>
                  </a:rPr>
                  <a:t>冲突。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={$}</m:t>
                    </m:r>
                  </m:oMath>
                </a14:m>
                <a:r>
                  <a:rPr lang="zh-CN" altLang="en-US" sz="2400" dirty="0"/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sz="2400" dirty="0"/>
                  <a:t>并不在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dirty="0"/>
                  <a:t>里面，所以这个文法是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SLR(1) </a:t>
                </a:r>
                <a:r>
                  <a:rPr lang="zh-CN" altLang="en-US" sz="2400" dirty="0"/>
                  <a:t>的</a:t>
                </a:r>
                <a:endParaRPr lang="en-US" altLang="zh-CN" sz="2400" dirty="0"/>
              </a:p>
              <a:p>
                <a:pPr marL="179705" lvl="1" indent="0">
                  <a:lnSpc>
                    <a:spcPct val="150000"/>
                  </a:lnSpc>
                  <a:buNone/>
                </a:pPr>
                <a:endParaRPr lang="en-US" altLang="zh-CN" sz="2000" i="1" dirty="0"/>
              </a:p>
              <a:p>
                <a:pPr marL="465455" lvl="1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	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9333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1"/>
          <p:cNvGrpSpPr/>
          <p:nvPr/>
        </p:nvGrpSpPr>
        <p:grpSpPr bwMode="auto">
          <a:xfrm>
            <a:off x="3359696" y="1988840"/>
            <a:ext cx="7917904" cy="2482666"/>
            <a:chOff x="2880" y="1908"/>
            <a:chExt cx="8280" cy="3276"/>
          </a:xfrm>
        </p:grpSpPr>
        <p:sp>
          <p:nvSpPr>
            <p:cNvPr id="40" name="AutoShape 25"/>
            <p:cNvSpPr>
              <a:spLocks noChangeArrowheads="1"/>
            </p:cNvSpPr>
            <p:nvPr/>
          </p:nvSpPr>
          <p:spPr bwMode="auto">
            <a:xfrm>
              <a:off x="3600" y="1908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41" name="Rectangle 24"/>
            <p:cNvSpPr>
              <a:spLocks noChangeArrowheads="1"/>
            </p:cNvSpPr>
            <p:nvPr/>
          </p:nvSpPr>
          <p:spPr bwMode="auto">
            <a:xfrm>
              <a:off x="3780" y="2064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pt-BR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→·E</a:t>
              </a:r>
              <a:endParaRPr lang="pt-BR" altLang="zh-CN" sz="2000" b="1" dirty="0"/>
            </a:p>
            <a:p>
              <a:pPr eaLnBrk="0" hangingPunct="0"/>
              <a:r>
                <a:rPr lang="pt-BR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→·E+n</a:t>
              </a:r>
              <a:endParaRPr lang="pt-BR" altLang="zh-CN" sz="2000" b="1" dirty="0"/>
            </a:p>
            <a:p>
              <a:pPr eaLnBrk="0" hangingPunct="0"/>
              <a:r>
                <a:rPr lang="pt-BR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→·n</a:t>
              </a:r>
              <a:endParaRPr lang="pt-BR" altLang="zh-CN" sz="2000" b="1" dirty="0"/>
            </a:p>
            <a:p>
              <a:pPr eaLnBrk="0" hangingPunct="0"/>
              <a:endParaRPr lang="pt-BR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42" name="Oval 23"/>
            <p:cNvSpPr>
              <a:spLocks noChangeArrowheads="1"/>
            </p:cNvSpPr>
            <p:nvPr/>
          </p:nvSpPr>
          <p:spPr bwMode="auto">
            <a:xfrm>
              <a:off x="5040" y="2688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43" name="Line 22"/>
            <p:cNvSpPr>
              <a:spLocks noChangeShapeType="1"/>
            </p:cNvSpPr>
            <p:nvPr/>
          </p:nvSpPr>
          <p:spPr bwMode="auto">
            <a:xfrm>
              <a:off x="2880" y="253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44" name="Line 21"/>
            <p:cNvSpPr>
              <a:spLocks noChangeShapeType="1"/>
            </p:cNvSpPr>
            <p:nvPr/>
          </p:nvSpPr>
          <p:spPr bwMode="auto">
            <a:xfrm>
              <a:off x="5580" y="2532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45" name="Rectangle 20"/>
            <p:cNvSpPr>
              <a:spLocks noChangeArrowheads="1"/>
            </p:cNvSpPr>
            <p:nvPr/>
          </p:nvSpPr>
          <p:spPr bwMode="auto">
            <a:xfrm>
              <a:off x="5940" y="206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000" b="1"/>
            </a:p>
            <a:p>
              <a:pPr eaLnBrk="0" hangingPunct="0"/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46" name="AutoShape 19"/>
            <p:cNvSpPr>
              <a:spLocks noChangeArrowheads="1"/>
            </p:cNvSpPr>
            <p:nvPr/>
          </p:nvSpPr>
          <p:spPr bwMode="auto">
            <a:xfrm>
              <a:off x="6660" y="1908"/>
              <a:ext cx="198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47" name="Rectangle 18"/>
            <p:cNvSpPr>
              <a:spLocks noChangeArrowheads="1"/>
            </p:cNvSpPr>
            <p:nvPr/>
          </p:nvSpPr>
          <p:spPr bwMode="auto">
            <a:xfrm>
              <a:off x="6840" y="2064"/>
              <a:ext cx="1483" cy="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→E·</a:t>
              </a:r>
              <a:endParaRPr lang="en-US" altLang="zh-CN" sz="2000" b="1" dirty="0"/>
            </a:p>
            <a:p>
              <a:pPr eaLnBrk="0" hangingPunct="0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→E·+n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00" y="2220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49" name="AutoShape 16"/>
            <p:cNvSpPr>
              <a:spLocks noChangeArrowheads="1"/>
            </p:cNvSpPr>
            <p:nvPr/>
          </p:nvSpPr>
          <p:spPr bwMode="auto">
            <a:xfrm>
              <a:off x="3600" y="4092"/>
              <a:ext cx="198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50" name="Rectangle 15"/>
            <p:cNvSpPr>
              <a:spLocks noChangeArrowheads="1"/>
            </p:cNvSpPr>
            <p:nvPr/>
          </p:nvSpPr>
          <p:spPr bwMode="auto">
            <a:xfrm>
              <a:off x="3780" y="4248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n·</a:t>
              </a:r>
              <a:endParaRPr lang="en-US" altLang="zh-CN" sz="2000" b="1"/>
            </a:p>
            <a:p>
              <a:pPr eaLnBrk="0" hangingPunct="0"/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51" name="Oval 14"/>
            <p:cNvSpPr>
              <a:spLocks noChangeArrowheads="1"/>
            </p:cNvSpPr>
            <p:nvPr/>
          </p:nvSpPr>
          <p:spPr bwMode="auto">
            <a:xfrm>
              <a:off x="504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52" name="Line 13"/>
            <p:cNvSpPr>
              <a:spLocks noChangeShapeType="1"/>
            </p:cNvSpPr>
            <p:nvPr/>
          </p:nvSpPr>
          <p:spPr bwMode="auto">
            <a:xfrm>
              <a:off x="4500" y="331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53" name="Rectangle 12"/>
            <p:cNvSpPr>
              <a:spLocks noChangeArrowheads="1"/>
            </p:cNvSpPr>
            <p:nvPr/>
          </p:nvSpPr>
          <p:spPr bwMode="auto">
            <a:xfrm>
              <a:off x="4140" y="346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54" name="Line 11"/>
            <p:cNvSpPr>
              <a:spLocks noChangeShapeType="1"/>
            </p:cNvSpPr>
            <p:nvPr/>
          </p:nvSpPr>
          <p:spPr bwMode="auto">
            <a:xfrm>
              <a:off x="7555" y="3000"/>
              <a:ext cx="5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7200" y="315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56" name="AutoShape 9"/>
            <p:cNvSpPr>
              <a:spLocks noChangeArrowheads="1"/>
            </p:cNvSpPr>
            <p:nvPr/>
          </p:nvSpPr>
          <p:spPr bwMode="auto">
            <a:xfrm>
              <a:off x="6660" y="4092"/>
              <a:ext cx="198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57" name="Rectangle 8"/>
            <p:cNvSpPr>
              <a:spLocks noChangeArrowheads="1"/>
            </p:cNvSpPr>
            <p:nvPr/>
          </p:nvSpPr>
          <p:spPr bwMode="auto">
            <a:xfrm>
              <a:off x="6840" y="4248"/>
              <a:ext cx="144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E+·n</a:t>
              </a:r>
              <a:endParaRPr lang="en-US" altLang="zh-CN" sz="2000" b="1" dirty="0"/>
            </a:p>
            <a:p>
              <a:pPr eaLnBrk="0" hangingPunct="0"/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58" name="Oval 7"/>
            <p:cNvSpPr>
              <a:spLocks noChangeArrowheads="1"/>
            </p:cNvSpPr>
            <p:nvPr/>
          </p:nvSpPr>
          <p:spPr bwMode="auto">
            <a:xfrm>
              <a:off x="810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59" name="Line 6"/>
            <p:cNvSpPr>
              <a:spLocks noChangeShapeType="1"/>
            </p:cNvSpPr>
            <p:nvPr/>
          </p:nvSpPr>
          <p:spPr bwMode="auto">
            <a:xfrm>
              <a:off x="8640" y="4716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60" name="AutoShape 5"/>
            <p:cNvSpPr>
              <a:spLocks noChangeArrowheads="1"/>
            </p:cNvSpPr>
            <p:nvPr/>
          </p:nvSpPr>
          <p:spPr bwMode="auto">
            <a:xfrm>
              <a:off x="9180" y="4092"/>
              <a:ext cx="198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61" name="Rectangle 4"/>
            <p:cNvSpPr>
              <a:spLocks noChangeArrowheads="1"/>
            </p:cNvSpPr>
            <p:nvPr/>
          </p:nvSpPr>
          <p:spPr bwMode="auto">
            <a:xfrm>
              <a:off x="9360" y="4248"/>
              <a:ext cx="126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E+n·</a:t>
              </a:r>
              <a:endParaRPr lang="en-US" altLang="zh-CN" sz="2000" b="1"/>
            </a:p>
            <a:p>
              <a:pPr eaLnBrk="0" hangingPunct="0"/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62" name="Oval 3"/>
            <p:cNvSpPr>
              <a:spLocks noChangeArrowheads="1"/>
            </p:cNvSpPr>
            <p:nvPr/>
          </p:nvSpPr>
          <p:spPr bwMode="auto">
            <a:xfrm>
              <a:off x="1062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63" name="Rectangle 2"/>
            <p:cNvSpPr>
              <a:spLocks noChangeArrowheads="1"/>
            </p:cNvSpPr>
            <p:nvPr/>
          </p:nvSpPr>
          <p:spPr bwMode="auto">
            <a:xfrm>
              <a:off x="8820" y="4248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000" b="1"/>
            </a:p>
            <a:p>
              <a:pPr eaLnBrk="0" hangingPunct="0"/>
              <a:endParaRPr lang="en-US" altLang="zh-CN" sz="2000" b="1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09600" y="1343024"/>
                <a:ext cx="10972800" cy="5326335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$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         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+, $</m:t>
                        </m:r>
                      </m:e>
                    </m:d>
                  </m:oMath>
                </a14:m>
                <a:endParaRPr lang="en-US" altLang="zh-CN" sz="2400" dirty="0">
                  <a:latin typeface="+mn-ea"/>
                </a:endParaRPr>
              </a:p>
              <a:p>
                <a:endParaRPr lang="en-US" altLang="zh-CN" sz="2400" dirty="0">
                  <a:latin typeface="+mn-ea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latin typeface="+mn-ea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179705" lvl="1" indent="0">
                  <a:lnSpc>
                    <a:spcPct val="150000"/>
                  </a:lnSpc>
                  <a:buNone/>
                </a:pPr>
                <a:endParaRPr lang="en-US" altLang="zh-CN" sz="2000" i="1" dirty="0"/>
              </a:p>
              <a:p>
                <a:pPr marL="465455" lvl="1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	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43024"/>
                <a:ext cx="10972800" cy="5326335"/>
              </a:xfrm>
              <a:blipFill rotWithShape="1">
                <a:blip r:embed="rId2"/>
                <a:stretch>
                  <a:fillRect l="-133" t="-274" r="-127" b="-263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1"/>
          <p:cNvGrpSpPr/>
          <p:nvPr/>
        </p:nvGrpSpPr>
        <p:grpSpPr bwMode="auto">
          <a:xfrm>
            <a:off x="4943872" y="1412776"/>
            <a:ext cx="5256584" cy="1944216"/>
            <a:chOff x="2880" y="1908"/>
            <a:chExt cx="8280" cy="3276"/>
          </a:xfrm>
        </p:grpSpPr>
        <p:sp>
          <p:nvSpPr>
            <p:cNvPr id="40" name="AutoShape 25"/>
            <p:cNvSpPr>
              <a:spLocks noChangeArrowheads="1"/>
            </p:cNvSpPr>
            <p:nvPr/>
          </p:nvSpPr>
          <p:spPr bwMode="auto">
            <a:xfrm>
              <a:off x="3600" y="1908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41" name="Rectangle 24"/>
            <p:cNvSpPr>
              <a:spLocks noChangeArrowheads="1"/>
            </p:cNvSpPr>
            <p:nvPr/>
          </p:nvSpPr>
          <p:spPr bwMode="auto">
            <a:xfrm>
              <a:off x="3780" y="2064"/>
              <a:ext cx="162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pt-BR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→·E</a:t>
              </a:r>
              <a:endParaRPr lang="pt-BR" altLang="zh-CN" sz="1600" b="1" dirty="0"/>
            </a:p>
            <a:p>
              <a:pPr eaLnBrk="0" hangingPunct="0"/>
              <a:r>
                <a:rPr lang="pt-BR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→·E+n</a:t>
              </a:r>
              <a:endParaRPr lang="pt-BR" altLang="zh-CN" sz="1600" b="1" dirty="0"/>
            </a:p>
            <a:p>
              <a:pPr eaLnBrk="0" hangingPunct="0"/>
              <a:r>
                <a:rPr lang="pt-BR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→·n</a:t>
              </a:r>
              <a:endParaRPr lang="pt-BR" altLang="zh-CN" sz="1600" b="1" dirty="0"/>
            </a:p>
            <a:p>
              <a:pPr eaLnBrk="0" hangingPunct="0"/>
              <a:endParaRPr lang="pt-BR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42" name="Oval 23"/>
            <p:cNvSpPr>
              <a:spLocks noChangeArrowheads="1"/>
            </p:cNvSpPr>
            <p:nvPr/>
          </p:nvSpPr>
          <p:spPr bwMode="auto">
            <a:xfrm>
              <a:off x="5040" y="2688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43" name="Line 22"/>
            <p:cNvSpPr>
              <a:spLocks noChangeShapeType="1"/>
            </p:cNvSpPr>
            <p:nvPr/>
          </p:nvSpPr>
          <p:spPr bwMode="auto">
            <a:xfrm>
              <a:off x="2880" y="253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44" name="Line 21"/>
            <p:cNvSpPr>
              <a:spLocks noChangeShapeType="1"/>
            </p:cNvSpPr>
            <p:nvPr/>
          </p:nvSpPr>
          <p:spPr bwMode="auto">
            <a:xfrm>
              <a:off x="5580" y="2532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45" name="Rectangle 20"/>
            <p:cNvSpPr>
              <a:spLocks noChangeArrowheads="1"/>
            </p:cNvSpPr>
            <p:nvPr/>
          </p:nvSpPr>
          <p:spPr bwMode="auto">
            <a:xfrm>
              <a:off x="5940" y="206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1600" b="1"/>
            </a:p>
            <a:p>
              <a:pPr eaLnBrk="0" hangingPunct="0"/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46" name="AutoShape 19"/>
            <p:cNvSpPr>
              <a:spLocks noChangeArrowheads="1"/>
            </p:cNvSpPr>
            <p:nvPr/>
          </p:nvSpPr>
          <p:spPr bwMode="auto">
            <a:xfrm>
              <a:off x="6660" y="1908"/>
              <a:ext cx="1980" cy="117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47" name="Rectangle 18"/>
            <p:cNvSpPr>
              <a:spLocks noChangeArrowheads="1"/>
            </p:cNvSpPr>
            <p:nvPr/>
          </p:nvSpPr>
          <p:spPr bwMode="auto">
            <a:xfrm>
              <a:off x="6840" y="2064"/>
              <a:ext cx="1320" cy="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E’ →E·</a:t>
              </a:r>
              <a:endParaRPr lang="en-US" altLang="zh-CN" sz="1600" b="1" dirty="0"/>
            </a:p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→E·+n</a:t>
              </a:r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48" name="Oval 17"/>
            <p:cNvSpPr>
              <a:spLocks noChangeArrowheads="1"/>
            </p:cNvSpPr>
            <p:nvPr/>
          </p:nvSpPr>
          <p:spPr bwMode="auto">
            <a:xfrm>
              <a:off x="8100" y="2220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49" name="AutoShape 16"/>
            <p:cNvSpPr>
              <a:spLocks noChangeArrowheads="1"/>
            </p:cNvSpPr>
            <p:nvPr/>
          </p:nvSpPr>
          <p:spPr bwMode="auto">
            <a:xfrm>
              <a:off x="3600" y="4092"/>
              <a:ext cx="198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50" name="Rectangle 15"/>
            <p:cNvSpPr>
              <a:spLocks noChangeArrowheads="1"/>
            </p:cNvSpPr>
            <p:nvPr/>
          </p:nvSpPr>
          <p:spPr bwMode="auto">
            <a:xfrm>
              <a:off x="3780" y="4248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n·</a:t>
              </a:r>
              <a:endParaRPr lang="en-US" altLang="zh-CN" sz="1600" b="1"/>
            </a:p>
            <a:p>
              <a:pPr eaLnBrk="0" hangingPunct="0"/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51" name="Oval 14"/>
            <p:cNvSpPr>
              <a:spLocks noChangeArrowheads="1"/>
            </p:cNvSpPr>
            <p:nvPr/>
          </p:nvSpPr>
          <p:spPr bwMode="auto">
            <a:xfrm>
              <a:off x="504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52" name="Line 13"/>
            <p:cNvSpPr>
              <a:spLocks noChangeShapeType="1"/>
            </p:cNvSpPr>
            <p:nvPr/>
          </p:nvSpPr>
          <p:spPr bwMode="auto">
            <a:xfrm>
              <a:off x="4500" y="331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53" name="Rectangle 12"/>
            <p:cNvSpPr>
              <a:spLocks noChangeArrowheads="1"/>
            </p:cNvSpPr>
            <p:nvPr/>
          </p:nvSpPr>
          <p:spPr bwMode="auto">
            <a:xfrm>
              <a:off x="4140" y="346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54" name="Line 11"/>
            <p:cNvSpPr>
              <a:spLocks noChangeShapeType="1"/>
            </p:cNvSpPr>
            <p:nvPr/>
          </p:nvSpPr>
          <p:spPr bwMode="auto">
            <a:xfrm>
              <a:off x="7560" y="3087"/>
              <a:ext cx="0" cy="100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55" name="Rectangle 10"/>
            <p:cNvSpPr>
              <a:spLocks noChangeArrowheads="1"/>
            </p:cNvSpPr>
            <p:nvPr/>
          </p:nvSpPr>
          <p:spPr bwMode="auto">
            <a:xfrm>
              <a:off x="7200" y="3156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56" name="AutoShape 9"/>
            <p:cNvSpPr>
              <a:spLocks noChangeArrowheads="1"/>
            </p:cNvSpPr>
            <p:nvPr/>
          </p:nvSpPr>
          <p:spPr bwMode="auto">
            <a:xfrm>
              <a:off x="6480" y="4092"/>
              <a:ext cx="216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57" name="Rectangle 8"/>
            <p:cNvSpPr>
              <a:spLocks noChangeArrowheads="1"/>
            </p:cNvSpPr>
            <p:nvPr/>
          </p:nvSpPr>
          <p:spPr bwMode="auto">
            <a:xfrm>
              <a:off x="6630" y="4262"/>
              <a:ext cx="162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E+·n</a:t>
              </a:r>
              <a:endParaRPr lang="en-US" altLang="zh-CN" sz="1600" b="1" dirty="0"/>
            </a:p>
            <a:p>
              <a:pPr eaLnBrk="0" hangingPunct="0"/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58" name="Oval 7"/>
            <p:cNvSpPr>
              <a:spLocks noChangeArrowheads="1"/>
            </p:cNvSpPr>
            <p:nvPr/>
          </p:nvSpPr>
          <p:spPr bwMode="auto">
            <a:xfrm>
              <a:off x="810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59" name="Line 6"/>
            <p:cNvSpPr>
              <a:spLocks noChangeShapeType="1"/>
            </p:cNvSpPr>
            <p:nvPr/>
          </p:nvSpPr>
          <p:spPr bwMode="auto">
            <a:xfrm>
              <a:off x="8640" y="4716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60" name="AutoShape 5"/>
            <p:cNvSpPr>
              <a:spLocks noChangeArrowheads="1"/>
            </p:cNvSpPr>
            <p:nvPr/>
          </p:nvSpPr>
          <p:spPr bwMode="auto">
            <a:xfrm>
              <a:off x="9180" y="4092"/>
              <a:ext cx="1980" cy="109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600" b="1"/>
            </a:p>
          </p:txBody>
        </p:sp>
        <p:sp>
          <p:nvSpPr>
            <p:cNvPr id="61" name="Rectangle 4"/>
            <p:cNvSpPr>
              <a:spLocks noChangeArrowheads="1"/>
            </p:cNvSpPr>
            <p:nvPr/>
          </p:nvSpPr>
          <p:spPr bwMode="auto">
            <a:xfrm>
              <a:off x="9360" y="4248"/>
              <a:ext cx="16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 → </a:t>
              </a:r>
              <a:r>
                <a:rPr lang="en-US" altLang="zh-CN" sz="1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E+n</a:t>
              </a:r>
              <a:r>
                <a:rPr lang="en-US" altLang="zh-C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600" b="1" dirty="0"/>
            </a:p>
            <a:p>
              <a:pPr eaLnBrk="0" hangingPunct="0"/>
              <a:endParaRPr lang="en-US" altLang="zh-CN" sz="1600" b="1" dirty="0">
                <a:latin typeface="Arial" panose="020B0604020202020204" pitchFamily="34" charset="0"/>
              </a:endParaRPr>
            </a:p>
          </p:txBody>
        </p:sp>
        <p:sp>
          <p:nvSpPr>
            <p:cNvPr id="62" name="Oval 3"/>
            <p:cNvSpPr>
              <a:spLocks noChangeArrowheads="1"/>
            </p:cNvSpPr>
            <p:nvPr/>
          </p:nvSpPr>
          <p:spPr bwMode="auto">
            <a:xfrm>
              <a:off x="10620" y="456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63" name="Rectangle 2"/>
            <p:cNvSpPr>
              <a:spLocks noChangeArrowheads="1"/>
            </p:cNvSpPr>
            <p:nvPr/>
          </p:nvSpPr>
          <p:spPr bwMode="auto">
            <a:xfrm>
              <a:off x="8820" y="4248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1600" b="1"/>
            </a:p>
            <a:p>
              <a:pPr eaLnBrk="0" hangingPunct="0"/>
              <a:endParaRPr lang="en-US" altLang="zh-CN" sz="1600" b="1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29" name="Group 125"/>
          <p:cNvGraphicFramePr/>
          <p:nvPr/>
        </p:nvGraphicFramePr>
        <p:xfrm>
          <a:off x="2424906" y="3490523"/>
          <a:ext cx="7342187" cy="3036824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88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77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r(E → n)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r(E →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E+n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lvl="1">
                        <a:lnSpc>
                          <a:spcPct val="150000"/>
                        </a:lnSpc>
                      </a:pPr>
                      <a:r>
                        <a:rPr lang="en-US" altLang="zh-CN" sz="1800" b="0" i="0" dirty="0" err="1">
                          <a:solidFill>
                            <a:srgbClr val="FF0000"/>
                          </a:solidFill>
                          <a:latin typeface="+mn-lt"/>
                        </a:rPr>
                        <a:t>accpet</a:t>
                      </a:r>
                      <a:endParaRPr lang="zh-CN" altLang="en-US" sz="1800" b="0" i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r(E → n)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r(E →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E+n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矩形: 圆角 29"/>
          <p:cNvSpPr/>
          <p:nvPr/>
        </p:nvSpPr>
        <p:spPr bwMode="auto">
          <a:xfrm>
            <a:off x="8943448" y="4465988"/>
            <a:ext cx="66932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11424" y="116633"/>
            <a:ext cx="10369152" cy="6624735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下面给出串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+ n + n</a:t>
            </a:r>
            <a:r>
              <a:rPr lang="zh-CN" altLang="en-US" sz="2400" dirty="0">
                <a:latin typeface="+mn-ea"/>
              </a:rPr>
              <a:t>的分析过程。</a:t>
            </a:r>
            <a:endParaRPr lang="en-US" altLang="zh-CN" sz="2400" dirty="0">
              <a:latin typeface="+mn-ea"/>
            </a:endParaRPr>
          </a:p>
          <a:p>
            <a:endParaRPr lang="en-US" altLang="zh-CN" sz="2400" dirty="0">
              <a:latin typeface="+mn-ea"/>
              <a:cs typeface="Arial" panose="020B0604020202020204" pitchFamily="34" charset="0"/>
            </a:endParaRPr>
          </a:p>
          <a:p>
            <a:endParaRPr lang="en-US" altLang="zh-CN" sz="2400" dirty="0">
              <a:latin typeface="+mn-ea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latin typeface="Cambria Math" panose="02040503050406030204" pitchFamily="18" charset="0"/>
            </a:endParaRPr>
          </a:p>
          <a:p>
            <a:pPr marL="179705" lvl="1" indent="0">
              <a:lnSpc>
                <a:spcPct val="150000"/>
              </a:lnSpc>
              <a:buNone/>
            </a:pPr>
            <a:endParaRPr lang="en-US" altLang="zh-CN" sz="2000" i="1" dirty="0"/>
          </a:p>
          <a:p>
            <a:pPr marL="465455" lvl="1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" name="Group 59"/>
          <p:cNvGraphicFramePr/>
          <p:nvPr/>
        </p:nvGraphicFramePr>
        <p:xfrm>
          <a:off x="2424905" y="3140969"/>
          <a:ext cx="7342188" cy="3469143"/>
        </p:xfrm>
        <a:graphic>
          <a:graphicData uri="http://schemas.openxmlformats.org/drawingml/2006/table">
            <a:tbl>
              <a:tblPr/>
              <a:tblGrid>
                <a:gridCol w="863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273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Parsing stack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21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0n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0E1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$0E1+3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$0E1+3n4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$0E1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$0E1+3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$0E1+3n4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$0E1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 + n + n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 + n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 + n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 + n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n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+ n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n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$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r(E →n)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 E →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E+n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 E →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E+n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" name="Group 125"/>
          <p:cNvGraphicFramePr/>
          <p:nvPr/>
        </p:nvGraphicFramePr>
        <p:xfrm>
          <a:off x="2424906" y="744096"/>
          <a:ext cx="7342187" cy="2287352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106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06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31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r(E → n)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r(E →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E+n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lvl="1"/>
                      <a:r>
                        <a:rPr lang="en-US" altLang="zh-CN" sz="1800" b="0" i="0" dirty="0" err="1">
                          <a:solidFill>
                            <a:srgbClr val="FF0000"/>
                          </a:solidFill>
                          <a:latin typeface="+mn-lt"/>
                        </a:rPr>
                        <a:t>accpet</a:t>
                      </a:r>
                      <a:endParaRPr lang="zh-CN" altLang="en-US" sz="1800" b="0" i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r(E → n)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r(E →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E+n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: 圆角 4"/>
          <p:cNvSpPr/>
          <p:nvPr/>
        </p:nvSpPr>
        <p:spPr bwMode="auto">
          <a:xfrm>
            <a:off x="3359697" y="3658912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6" name="矩形: 圆角 5"/>
          <p:cNvSpPr/>
          <p:nvPr/>
        </p:nvSpPr>
        <p:spPr bwMode="auto">
          <a:xfrm>
            <a:off x="5663953" y="3658912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7" name="矩形: 圆角 6"/>
          <p:cNvSpPr/>
          <p:nvPr/>
        </p:nvSpPr>
        <p:spPr bwMode="auto">
          <a:xfrm>
            <a:off x="7176121" y="3658912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8" name="矩形: 圆角 7"/>
          <p:cNvSpPr/>
          <p:nvPr/>
        </p:nvSpPr>
        <p:spPr bwMode="auto">
          <a:xfrm>
            <a:off x="3359697" y="3966258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9" name="矩形: 圆角 8"/>
          <p:cNvSpPr/>
          <p:nvPr/>
        </p:nvSpPr>
        <p:spPr bwMode="auto">
          <a:xfrm>
            <a:off x="5660974" y="3975494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0" name="矩形: 圆角 9"/>
          <p:cNvSpPr/>
          <p:nvPr/>
        </p:nvSpPr>
        <p:spPr bwMode="auto">
          <a:xfrm>
            <a:off x="7176121" y="3966258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1" name="矩形: 圆角 10"/>
          <p:cNvSpPr/>
          <p:nvPr/>
        </p:nvSpPr>
        <p:spPr bwMode="auto">
          <a:xfrm>
            <a:off x="3359697" y="4273604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3" name="矩形: 圆角 12"/>
          <p:cNvSpPr/>
          <p:nvPr/>
        </p:nvSpPr>
        <p:spPr bwMode="auto">
          <a:xfrm>
            <a:off x="5660974" y="4296057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4" name="矩形: 圆角 13"/>
          <p:cNvSpPr/>
          <p:nvPr/>
        </p:nvSpPr>
        <p:spPr bwMode="auto">
          <a:xfrm>
            <a:off x="7173142" y="4273604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5" name="矩形: 圆角 14"/>
          <p:cNvSpPr/>
          <p:nvPr/>
        </p:nvSpPr>
        <p:spPr bwMode="auto">
          <a:xfrm>
            <a:off x="3359697" y="4605988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6" name="矩形: 圆角 15"/>
          <p:cNvSpPr/>
          <p:nvPr/>
        </p:nvSpPr>
        <p:spPr bwMode="auto">
          <a:xfrm>
            <a:off x="5660974" y="4647111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7" name="矩形: 圆角 16"/>
          <p:cNvSpPr/>
          <p:nvPr/>
        </p:nvSpPr>
        <p:spPr bwMode="auto">
          <a:xfrm>
            <a:off x="7173141" y="4647111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8" name="矩形: 圆角 17"/>
          <p:cNvSpPr/>
          <p:nvPr/>
        </p:nvSpPr>
        <p:spPr bwMode="auto">
          <a:xfrm>
            <a:off x="3354349" y="4965649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19" name="矩形: 圆角 18"/>
          <p:cNvSpPr/>
          <p:nvPr/>
        </p:nvSpPr>
        <p:spPr bwMode="auto">
          <a:xfrm>
            <a:off x="5685193" y="4963693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0" name="矩形: 圆角 19"/>
          <p:cNvSpPr/>
          <p:nvPr/>
        </p:nvSpPr>
        <p:spPr bwMode="auto">
          <a:xfrm>
            <a:off x="7197360" y="4959014"/>
            <a:ext cx="177896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1" name="矩形: 圆角 20"/>
          <p:cNvSpPr/>
          <p:nvPr/>
        </p:nvSpPr>
        <p:spPr bwMode="auto">
          <a:xfrm>
            <a:off x="3344546" y="5266360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2" name="矩形: 圆角 21"/>
          <p:cNvSpPr/>
          <p:nvPr/>
        </p:nvSpPr>
        <p:spPr bwMode="auto">
          <a:xfrm>
            <a:off x="5675390" y="5261681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3" name="矩形: 圆角 22"/>
          <p:cNvSpPr/>
          <p:nvPr/>
        </p:nvSpPr>
        <p:spPr bwMode="auto">
          <a:xfrm>
            <a:off x="7173140" y="5271493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4" name="矩形: 圆角 23"/>
          <p:cNvSpPr/>
          <p:nvPr/>
        </p:nvSpPr>
        <p:spPr bwMode="auto">
          <a:xfrm>
            <a:off x="3343475" y="5582820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5" name="矩形: 圆角 24"/>
          <p:cNvSpPr/>
          <p:nvPr/>
        </p:nvSpPr>
        <p:spPr bwMode="auto">
          <a:xfrm>
            <a:off x="5650100" y="5582820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6" name="矩形: 圆角 25"/>
          <p:cNvSpPr/>
          <p:nvPr/>
        </p:nvSpPr>
        <p:spPr bwMode="auto">
          <a:xfrm>
            <a:off x="7197360" y="5582820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7" name="矩形: 圆角 26"/>
          <p:cNvSpPr/>
          <p:nvPr/>
        </p:nvSpPr>
        <p:spPr bwMode="auto">
          <a:xfrm>
            <a:off x="3354349" y="5965040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28" name="矩形: 圆角 27"/>
          <p:cNvSpPr/>
          <p:nvPr/>
        </p:nvSpPr>
        <p:spPr bwMode="auto">
          <a:xfrm>
            <a:off x="5660973" y="5999686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31" name="矩形: 圆角 30"/>
          <p:cNvSpPr/>
          <p:nvPr/>
        </p:nvSpPr>
        <p:spPr bwMode="auto">
          <a:xfrm>
            <a:off x="7173138" y="5960231"/>
            <a:ext cx="1947198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32" name="矩形: 圆角 31"/>
          <p:cNvSpPr/>
          <p:nvPr/>
        </p:nvSpPr>
        <p:spPr bwMode="auto">
          <a:xfrm>
            <a:off x="3343475" y="6245323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33" name="矩形: 圆角 32"/>
          <p:cNvSpPr/>
          <p:nvPr/>
        </p:nvSpPr>
        <p:spPr bwMode="auto">
          <a:xfrm>
            <a:off x="5671847" y="6254437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34" name="矩形: 圆角 33"/>
          <p:cNvSpPr/>
          <p:nvPr/>
        </p:nvSpPr>
        <p:spPr bwMode="auto">
          <a:xfrm>
            <a:off x="7178007" y="6245899"/>
            <a:ext cx="1401401" cy="307346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为下面文法构造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SLR(1)</a:t>
                </a:r>
                <a:r>
                  <a:rPr lang="zh-CN" altLang="en-US" sz="2400" dirty="0"/>
                  <a:t>分析表：</a:t>
                </a:r>
                <a:endParaRPr lang="en-US" altLang="zh-CN" sz="24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𝜺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r>
                  <a:rPr lang="zh-CN" altLang="en-US" sz="2400" dirty="0">
                    <a:latin typeface="+mn-ea"/>
                  </a:rPr>
                  <a:t>这个文法也不是一个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LR(0)</a:t>
                </a:r>
                <a:r>
                  <a:rPr lang="zh-CN" altLang="en-US" sz="2400" dirty="0">
                    <a:latin typeface="+mn-ea"/>
                    <a:cs typeface="Arial" panose="020B0604020202020204" pitchFamily="34" charset="0"/>
                  </a:rPr>
                  <a:t>文法，因为状态</a:t>
                </a:r>
                <a:r>
                  <a:rPr lang="en-US" altLang="zh-CN" sz="2400" dirty="0">
                    <a:latin typeface="+mn-ea"/>
                    <a:cs typeface="Arial" panose="020B0604020202020204" pitchFamily="34" charset="0"/>
                  </a:rPr>
                  <a:t>0</a:t>
                </a:r>
                <a:r>
                  <a:rPr lang="zh-CN" altLang="en-US" sz="2400" dirty="0">
                    <a:latin typeface="+mn-ea"/>
                    <a:cs typeface="Arial" panose="020B0604020202020204" pitchFamily="34" charset="0"/>
                  </a:rPr>
                  <a:t>、</a:t>
                </a:r>
                <a:r>
                  <a:rPr lang="en-US" altLang="zh-CN" sz="2400" dirty="0">
                    <a:latin typeface="+mn-ea"/>
                    <a:cs typeface="Arial" panose="020B0604020202020204" pitchFamily="34" charset="0"/>
                  </a:rPr>
                  <a:t>2</a:t>
                </a:r>
                <a:r>
                  <a:rPr lang="zh-CN" altLang="en-US" sz="2400" dirty="0">
                    <a:latin typeface="+mn-ea"/>
                    <a:cs typeface="Arial" panose="020B0604020202020204" pitchFamily="34" charset="0"/>
                  </a:rPr>
                  <a:t>、</a:t>
                </a:r>
                <a:r>
                  <a:rPr lang="en-US" altLang="zh-CN" sz="2400" dirty="0">
                    <a:latin typeface="+mn-ea"/>
                    <a:cs typeface="Arial" panose="020B0604020202020204" pitchFamily="34" charset="0"/>
                  </a:rPr>
                  <a:t>4</a:t>
                </a:r>
                <a:r>
                  <a:rPr lang="zh-CN" altLang="en-US" sz="2400" dirty="0">
                    <a:latin typeface="+mn-ea"/>
                    <a:cs typeface="Arial" panose="020B0604020202020204" pitchFamily="34" charset="0"/>
                  </a:rPr>
                  <a:t>里面包含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移进</a:t>
                </a:r>
                <a:r>
                  <a:rPr lang="en-US" altLang="zh-CN" sz="24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-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+mn-ea"/>
                    <a:cs typeface="Arial" panose="020B0604020202020204" pitchFamily="34" charset="0"/>
                  </a:rPr>
                  <a:t>归约</a:t>
                </a:r>
                <a:r>
                  <a:rPr lang="zh-CN" altLang="en-US" sz="2400" dirty="0">
                    <a:latin typeface="+mn-ea"/>
                    <a:cs typeface="Arial" panose="020B0604020202020204" pitchFamily="34" charset="0"/>
                  </a:rPr>
                  <a:t>冲突。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={$, )}</m:t>
                    </m:r>
                  </m:oMath>
                </a14:m>
                <a:r>
                  <a:rPr lang="zh-CN" altLang="en-US" sz="2400" dirty="0"/>
                  <a:t>，因此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zh-CN" altLang="en-US" sz="2400" dirty="0"/>
                  <a:t>并不在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</m:oMath>
                </a14:m>
                <a:r>
                  <a:rPr lang="zh-CN" altLang="en-US" sz="2400" dirty="0"/>
                  <a:t>里面，所以这个文法是</a:t>
                </a:r>
                <a:r>
                  <a:rPr lang="en-US" altLang="zh-CN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SLR(1) </a:t>
                </a:r>
                <a:r>
                  <a:rPr lang="zh-CN" altLang="en-US" sz="24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的</a:t>
                </a:r>
                <a:endParaRPr lang="en-US" altLang="zh-CN" sz="2400" dirty="0">
                  <a:latin typeface="+mn-ea"/>
                </a:endParaRPr>
              </a:p>
              <a:p>
                <a:pPr marL="179705" lvl="1" indent="0">
                  <a:lnSpc>
                    <a:spcPct val="150000"/>
                  </a:lnSpc>
                  <a:buNone/>
                </a:pPr>
                <a:endParaRPr lang="en-US" altLang="zh-CN" sz="2000" i="1" dirty="0"/>
              </a:p>
              <a:p>
                <a:pPr marL="465455" lvl="1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	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0717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1"/>
          <p:cNvGrpSpPr/>
          <p:nvPr/>
        </p:nvGrpSpPr>
        <p:grpSpPr bwMode="auto">
          <a:xfrm>
            <a:off x="3025953" y="2060848"/>
            <a:ext cx="8222704" cy="3384376"/>
            <a:chOff x="2700" y="1908"/>
            <a:chExt cx="8820" cy="4836"/>
          </a:xfrm>
        </p:grpSpPr>
        <p:sp>
          <p:nvSpPr>
            <p:cNvPr id="30" name="AutoShape 35"/>
            <p:cNvSpPr>
              <a:spLocks noChangeArrowheads="1"/>
            </p:cNvSpPr>
            <p:nvPr/>
          </p:nvSpPr>
          <p:spPr bwMode="auto">
            <a:xfrm>
              <a:off x="3600" y="1908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31" name="Rectangle 34"/>
            <p:cNvSpPr>
              <a:spLocks noChangeArrowheads="1"/>
            </p:cNvSpPr>
            <p:nvPr/>
          </p:nvSpPr>
          <p:spPr bwMode="auto">
            <a:xfrm>
              <a:off x="3780" y="2064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2000" b="1"/>
            </a:p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2000" b="1"/>
            </a:p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2000" b="1"/>
            </a:p>
            <a:p>
              <a:pPr eaLnBrk="0" hangingPunct="0"/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32" name="Oval 33"/>
            <p:cNvSpPr>
              <a:spLocks noChangeArrowheads="1"/>
            </p:cNvSpPr>
            <p:nvPr/>
          </p:nvSpPr>
          <p:spPr bwMode="auto">
            <a:xfrm>
              <a:off x="5040" y="2688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2880" y="253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>
              <a:off x="5580" y="2532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35" name="Rectangle 30"/>
            <p:cNvSpPr>
              <a:spLocks noChangeArrowheads="1"/>
            </p:cNvSpPr>
            <p:nvPr/>
          </p:nvSpPr>
          <p:spPr bwMode="auto">
            <a:xfrm>
              <a:off x="5940" y="206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2000" b="1"/>
            </a:p>
            <a:p>
              <a:pPr eaLnBrk="0" hangingPunct="0"/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36" name="AutoShape 29"/>
            <p:cNvSpPr>
              <a:spLocks noChangeArrowheads="1"/>
            </p:cNvSpPr>
            <p:nvPr/>
          </p:nvSpPr>
          <p:spPr bwMode="auto">
            <a:xfrm>
              <a:off x="6660" y="1908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37" name="Rectangle 28"/>
            <p:cNvSpPr>
              <a:spLocks noChangeArrowheads="1"/>
            </p:cNvSpPr>
            <p:nvPr/>
          </p:nvSpPr>
          <p:spPr bwMode="auto">
            <a:xfrm>
              <a:off x="6840" y="2064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38" name="Oval 27"/>
            <p:cNvSpPr>
              <a:spLocks noChangeArrowheads="1"/>
            </p:cNvSpPr>
            <p:nvPr/>
          </p:nvSpPr>
          <p:spPr bwMode="auto">
            <a:xfrm>
              <a:off x="8100" y="222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64" name="AutoShape 26"/>
            <p:cNvSpPr>
              <a:spLocks noChangeArrowheads="1"/>
            </p:cNvSpPr>
            <p:nvPr/>
          </p:nvSpPr>
          <p:spPr bwMode="auto">
            <a:xfrm>
              <a:off x="6660" y="3312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65" name="Rectangle 25"/>
            <p:cNvSpPr>
              <a:spLocks noChangeArrowheads="1"/>
            </p:cNvSpPr>
            <p:nvPr/>
          </p:nvSpPr>
          <p:spPr bwMode="auto">
            <a:xfrm>
              <a:off x="6840" y="3468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→(S·)S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66" name="Oval 24"/>
            <p:cNvSpPr>
              <a:spLocks noChangeArrowheads="1"/>
            </p:cNvSpPr>
            <p:nvPr/>
          </p:nvSpPr>
          <p:spPr bwMode="auto">
            <a:xfrm>
              <a:off x="8100" y="3624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67" name="AutoShape 23"/>
            <p:cNvSpPr>
              <a:spLocks noChangeArrowheads="1"/>
            </p:cNvSpPr>
            <p:nvPr/>
          </p:nvSpPr>
          <p:spPr bwMode="auto">
            <a:xfrm>
              <a:off x="3600" y="4092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68" name="Rectangle 22"/>
            <p:cNvSpPr>
              <a:spLocks noChangeArrowheads="1"/>
            </p:cNvSpPr>
            <p:nvPr/>
          </p:nvSpPr>
          <p:spPr bwMode="auto">
            <a:xfrm>
              <a:off x="3780" y="4248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→(·S)S</a:t>
              </a:r>
              <a:endParaRPr lang="en-US" altLang="zh-CN" sz="2000" b="1" dirty="0"/>
            </a:p>
            <a:p>
              <a:pPr eaLnBrk="0" hangingPunct="0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2000" b="1" dirty="0"/>
            </a:p>
            <a:p>
              <a:pPr eaLnBrk="0" hangingPunct="0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2000" b="1" dirty="0"/>
            </a:p>
            <a:p>
              <a:pPr eaLnBrk="0" hangingPunct="0"/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69" name="Oval 21"/>
            <p:cNvSpPr>
              <a:spLocks noChangeArrowheads="1"/>
            </p:cNvSpPr>
            <p:nvPr/>
          </p:nvSpPr>
          <p:spPr bwMode="auto">
            <a:xfrm>
              <a:off x="5040" y="4872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70" name="Line 20"/>
            <p:cNvSpPr>
              <a:spLocks noChangeShapeType="1"/>
            </p:cNvSpPr>
            <p:nvPr/>
          </p:nvSpPr>
          <p:spPr bwMode="auto">
            <a:xfrm>
              <a:off x="4500" y="331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71" name="Rectangle 19"/>
            <p:cNvSpPr>
              <a:spLocks noChangeArrowheads="1"/>
            </p:cNvSpPr>
            <p:nvPr/>
          </p:nvSpPr>
          <p:spPr bwMode="auto">
            <a:xfrm>
              <a:off x="6120" y="502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72" name="Line 18"/>
            <p:cNvSpPr>
              <a:spLocks noChangeShapeType="1"/>
            </p:cNvSpPr>
            <p:nvPr/>
          </p:nvSpPr>
          <p:spPr bwMode="auto">
            <a:xfrm flipV="1">
              <a:off x="5580" y="3780"/>
              <a:ext cx="10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73" name="Rectangle 17"/>
            <p:cNvSpPr>
              <a:spLocks noChangeArrowheads="1"/>
            </p:cNvSpPr>
            <p:nvPr/>
          </p:nvSpPr>
          <p:spPr bwMode="auto">
            <a:xfrm>
              <a:off x="5940" y="362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2000" b="1"/>
            </a:p>
            <a:p>
              <a:pPr eaLnBrk="0" hangingPunct="0"/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74" name="AutoShape 16"/>
            <p:cNvSpPr>
              <a:spLocks noChangeArrowheads="1"/>
            </p:cNvSpPr>
            <p:nvPr/>
          </p:nvSpPr>
          <p:spPr bwMode="auto">
            <a:xfrm>
              <a:off x="6660" y="5340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75" name="Rectangle 15"/>
            <p:cNvSpPr>
              <a:spLocks noChangeArrowheads="1"/>
            </p:cNvSpPr>
            <p:nvPr/>
          </p:nvSpPr>
          <p:spPr bwMode="auto">
            <a:xfrm>
              <a:off x="6840" y="5496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→(S) ·S</a:t>
              </a:r>
              <a:endParaRPr lang="en-US" altLang="zh-CN" sz="2000" b="1"/>
            </a:p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2000" b="1"/>
            </a:p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2000" b="1"/>
            </a:p>
            <a:p>
              <a:pPr eaLnBrk="0" hangingPunct="0"/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76" name="Oval 14"/>
            <p:cNvSpPr>
              <a:spLocks noChangeArrowheads="1"/>
            </p:cNvSpPr>
            <p:nvPr/>
          </p:nvSpPr>
          <p:spPr bwMode="auto">
            <a:xfrm>
              <a:off x="8100" y="6120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77" name="Line 13"/>
            <p:cNvSpPr>
              <a:spLocks noChangeShapeType="1"/>
            </p:cNvSpPr>
            <p:nvPr/>
          </p:nvSpPr>
          <p:spPr bwMode="auto">
            <a:xfrm>
              <a:off x="7560" y="4248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78" name="Rectangle 12"/>
            <p:cNvSpPr>
              <a:spLocks noChangeArrowheads="1"/>
            </p:cNvSpPr>
            <p:nvPr/>
          </p:nvSpPr>
          <p:spPr bwMode="auto">
            <a:xfrm>
              <a:off x="7740" y="456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79" name="Line 11"/>
            <p:cNvSpPr>
              <a:spLocks noChangeShapeType="1"/>
            </p:cNvSpPr>
            <p:nvPr/>
          </p:nvSpPr>
          <p:spPr bwMode="auto">
            <a:xfrm flipH="1" flipV="1">
              <a:off x="5580" y="5028"/>
              <a:ext cx="108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80" name="AutoShape 10"/>
            <p:cNvSpPr>
              <a:spLocks noChangeArrowheads="1"/>
            </p:cNvSpPr>
            <p:nvPr/>
          </p:nvSpPr>
          <p:spPr bwMode="auto">
            <a:xfrm>
              <a:off x="9540" y="5496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81" name="Rectangle 9"/>
            <p:cNvSpPr>
              <a:spLocks noChangeArrowheads="1"/>
            </p:cNvSpPr>
            <p:nvPr/>
          </p:nvSpPr>
          <p:spPr bwMode="auto">
            <a:xfrm>
              <a:off x="9720" y="5652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→(S)S·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82" name="Oval 8"/>
            <p:cNvSpPr>
              <a:spLocks noChangeArrowheads="1"/>
            </p:cNvSpPr>
            <p:nvPr/>
          </p:nvSpPr>
          <p:spPr bwMode="auto">
            <a:xfrm>
              <a:off x="10980" y="5808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83" name="Line 7"/>
            <p:cNvSpPr>
              <a:spLocks noChangeShapeType="1"/>
            </p:cNvSpPr>
            <p:nvPr/>
          </p:nvSpPr>
          <p:spPr bwMode="auto">
            <a:xfrm>
              <a:off x="8640" y="596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84" name="Rectangle 6"/>
            <p:cNvSpPr>
              <a:spLocks noChangeArrowheads="1"/>
            </p:cNvSpPr>
            <p:nvPr/>
          </p:nvSpPr>
          <p:spPr bwMode="auto">
            <a:xfrm>
              <a:off x="9000" y="549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2000" b="1"/>
            </a:p>
            <a:p>
              <a:pPr eaLnBrk="0" hangingPunct="0"/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85" name="Rectangle 5"/>
            <p:cNvSpPr>
              <a:spLocks noChangeArrowheads="1"/>
            </p:cNvSpPr>
            <p:nvPr/>
          </p:nvSpPr>
          <p:spPr bwMode="auto">
            <a:xfrm>
              <a:off x="4140" y="362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  <p:sp>
          <p:nvSpPr>
            <p:cNvPr id="86" name="Line 4"/>
            <p:cNvSpPr>
              <a:spLocks noChangeShapeType="1"/>
            </p:cNvSpPr>
            <p:nvPr/>
          </p:nvSpPr>
          <p:spPr bwMode="auto">
            <a:xfrm>
              <a:off x="3420" y="4872"/>
              <a:ext cx="1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87" name="Arc 3"/>
            <p:cNvSpPr/>
            <p:nvPr/>
          </p:nvSpPr>
          <p:spPr bwMode="auto">
            <a:xfrm>
              <a:off x="3060" y="4872"/>
              <a:ext cx="757" cy="78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7472 w 37472"/>
                <a:gd name="T1" fmla="*/ 36251 h 43200"/>
                <a:gd name="T2" fmla="*/ 21600 w 37472"/>
                <a:gd name="T3" fmla="*/ 0 h 43200"/>
                <a:gd name="T4" fmla="*/ 21600 w 37472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72" h="43200" fill="none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37472" h="43200" stroke="0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000" b="1"/>
            </a:p>
          </p:txBody>
        </p:sp>
        <p:sp>
          <p:nvSpPr>
            <p:cNvPr id="88" name="Rectangle 2"/>
            <p:cNvSpPr>
              <a:spLocks noChangeArrowheads="1"/>
            </p:cNvSpPr>
            <p:nvPr/>
          </p:nvSpPr>
          <p:spPr bwMode="auto">
            <a:xfrm>
              <a:off x="2700" y="534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2000" b="1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839416" y="188640"/>
                <a:ext cx="10369152" cy="6480720"/>
              </a:xfr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$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         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𝑭𝒐𝒍𝒍𝒐𝒘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={$, )}</m:t>
                    </m:r>
                  </m:oMath>
                </a14:m>
                <a:endParaRPr lang="en-US" altLang="zh-CN" sz="2400" dirty="0">
                  <a:latin typeface="+mn-ea"/>
                </a:endParaRPr>
              </a:p>
              <a:p>
                <a:endParaRPr lang="en-US" altLang="zh-CN" sz="2400" dirty="0">
                  <a:latin typeface="+mn-ea"/>
                  <a:cs typeface="Arial" panose="020B0604020202020204" pitchFamily="34" charset="0"/>
                </a:endParaRPr>
              </a:p>
              <a:p>
                <a:endParaRPr lang="en-US" altLang="zh-CN" sz="2400" dirty="0">
                  <a:latin typeface="+mn-ea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179705" lvl="1" indent="0">
                  <a:lnSpc>
                    <a:spcPct val="150000"/>
                  </a:lnSpc>
                  <a:buNone/>
                </a:pPr>
                <a:endParaRPr lang="en-US" altLang="zh-CN" sz="2000" i="1" dirty="0"/>
              </a:p>
              <a:p>
                <a:pPr marL="465455" lvl="1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	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24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9416" y="188640"/>
                <a:ext cx="10369152" cy="6480720"/>
              </a:xfrm>
              <a:blipFill rotWithShape="1">
                <a:blip r:embed="rId2"/>
                <a:stretch>
                  <a:fillRect l="-140" t="-226" r="-133" b="-216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0" name="Group 102"/>
          <p:cNvGraphicFramePr/>
          <p:nvPr/>
        </p:nvGraphicFramePr>
        <p:xfrm>
          <a:off x="2326184" y="2800038"/>
          <a:ext cx="7631112" cy="3454841"/>
        </p:xfrm>
        <a:graphic>
          <a:graphicData uri="http://schemas.openxmlformats.org/drawingml/2006/table">
            <a:tbl>
              <a:tblPr/>
              <a:tblGrid>
                <a:gridCol w="896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8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5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201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23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(S)S)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(S)S)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30" name="Group 1"/>
          <p:cNvGrpSpPr/>
          <p:nvPr/>
        </p:nvGrpSpPr>
        <p:grpSpPr bwMode="auto">
          <a:xfrm>
            <a:off x="4655840" y="352651"/>
            <a:ext cx="5600700" cy="2160240"/>
            <a:chOff x="2700" y="1908"/>
            <a:chExt cx="8820" cy="4836"/>
          </a:xfrm>
        </p:grpSpPr>
        <p:sp>
          <p:nvSpPr>
            <p:cNvPr id="31" name="AutoShape 35"/>
            <p:cNvSpPr>
              <a:spLocks noChangeArrowheads="1"/>
            </p:cNvSpPr>
            <p:nvPr/>
          </p:nvSpPr>
          <p:spPr bwMode="auto">
            <a:xfrm>
              <a:off x="3600" y="1908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3780" y="2064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200" b="1"/>
            </a:p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1200" b="1"/>
            </a:p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3" name="Oval 33"/>
            <p:cNvSpPr>
              <a:spLocks noChangeArrowheads="1"/>
            </p:cNvSpPr>
            <p:nvPr/>
          </p:nvSpPr>
          <p:spPr bwMode="auto">
            <a:xfrm>
              <a:off x="5040" y="2688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2880" y="2532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5580" y="2532"/>
              <a:ext cx="10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36" name="Rectangle 30"/>
            <p:cNvSpPr>
              <a:spLocks noChangeArrowheads="1"/>
            </p:cNvSpPr>
            <p:nvPr/>
          </p:nvSpPr>
          <p:spPr bwMode="auto">
            <a:xfrm>
              <a:off x="5940" y="206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37" name="AutoShape 29"/>
            <p:cNvSpPr>
              <a:spLocks noChangeArrowheads="1"/>
            </p:cNvSpPr>
            <p:nvPr/>
          </p:nvSpPr>
          <p:spPr bwMode="auto">
            <a:xfrm>
              <a:off x="6660" y="1908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38" name="Rectangle 28"/>
            <p:cNvSpPr>
              <a:spLocks noChangeArrowheads="1"/>
            </p:cNvSpPr>
            <p:nvPr/>
          </p:nvSpPr>
          <p:spPr bwMode="auto">
            <a:xfrm>
              <a:off x="6840" y="2064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4" name="Oval 27"/>
            <p:cNvSpPr>
              <a:spLocks noChangeArrowheads="1"/>
            </p:cNvSpPr>
            <p:nvPr/>
          </p:nvSpPr>
          <p:spPr bwMode="auto">
            <a:xfrm>
              <a:off x="8100" y="2220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5" name="AutoShape 26"/>
            <p:cNvSpPr>
              <a:spLocks noChangeArrowheads="1"/>
            </p:cNvSpPr>
            <p:nvPr/>
          </p:nvSpPr>
          <p:spPr bwMode="auto">
            <a:xfrm>
              <a:off x="6660" y="3312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6" name="Rectangle 25"/>
            <p:cNvSpPr>
              <a:spLocks noChangeArrowheads="1"/>
            </p:cNvSpPr>
            <p:nvPr/>
          </p:nvSpPr>
          <p:spPr bwMode="auto">
            <a:xfrm>
              <a:off x="6840" y="3468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→(S·)S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7" name="Oval 24"/>
            <p:cNvSpPr>
              <a:spLocks noChangeArrowheads="1"/>
            </p:cNvSpPr>
            <p:nvPr/>
          </p:nvSpPr>
          <p:spPr bwMode="auto">
            <a:xfrm>
              <a:off x="8100" y="3624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68" name="AutoShape 23"/>
            <p:cNvSpPr>
              <a:spLocks noChangeArrowheads="1"/>
            </p:cNvSpPr>
            <p:nvPr/>
          </p:nvSpPr>
          <p:spPr bwMode="auto">
            <a:xfrm>
              <a:off x="3600" y="4092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69" name="Rectangle 22"/>
            <p:cNvSpPr>
              <a:spLocks noChangeArrowheads="1"/>
            </p:cNvSpPr>
            <p:nvPr/>
          </p:nvSpPr>
          <p:spPr bwMode="auto">
            <a:xfrm>
              <a:off x="3780" y="4248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→(·S)S</a:t>
              </a:r>
              <a:endParaRPr lang="en-US" altLang="zh-CN" sz="1200" b="1" dirty="0"/>
            </a:p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1200" b="1" dirty="0"/>
            </a:p>
            <a:p>
              <a:pPr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1200" b="1" dirty="0"/>
            </a:p>
            <a:p>
              <a:pPr eaLnBrk="0" hangingPunct="0"/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70" name="Oval 21"/>
            <p:cNvSpPr>
              <a:spLocks noChangeArrowheads="1"/>
            </p:cNvSpPr>
            <p:nvPr/>
          </p:nvSpPr>
          <p:spPr bwMode="auto">
            <a:xfrm>
              <a:off x="5040" y="4872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71" name="Line 20"/>
            <p:cNvSpPr>
              <a:spLocks noChangeShapeType="1"/>
            </p:cNvSpPr>
            <p:nvPr/>
          </p:nvSpPr>
          <p:spPr bwMode="auto">
            <a:xfrm>
              <a:off x="4500" y="3312"/>
              <a:ext cx="0" cy="7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2" name="Rectangle 19"/>
            <p:cNvSpPr>
              <a:spLocks noChangeArrowheads="1"/>
            </p:cNvSpPr>
            <p:nvPr/>
          </p:nvSpPr>
          <p:spPr bwMode="auto">
            <a:xfrm>
              <a:off x="6120" y="5028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73" name="Line 18"/>
            <p:cNvSpPr>
              <a:spLocks noChangeShapeType="1"/>
            </p:cNvSpPr>
            <p:nvPr/>
          </p:nvSpPr>
          <p:spPr bwMode="auto">
            <a:xfrm flipV="1">
              <a:off x="5580" y="3780"/>
              <a:ext cx="108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4" name="Rectangle 17"/>
            <p:cNvSpPr>
              <a:spLocks noChangeArrowheads="1"/>
            </p:cNvSpPr>
            <p:nvPr/>
          </p:nvSpPr>
          <p:spPr bwMode="auto">
            <a:xfrm>
              <a:off x="5940" y="3624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75" name="AutoShape 16"/>
            <p:cNvSpPr>
              <a:spLocks noChangeArrowheads="1"/>
            </p:cNvSpPr>
            <p:nvPr/>
          </p:nvSpPr>
          <p:spPr bwMode="auto">
            <a:xfrm>
              <a:off x="6660" y="5340"/>
              <a:ext cx="1980" cy="140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6" name="Rectangle 15"/>
            <p:cNvSpPr>
              <a:spLocks noChangeArrowheads="1"/>
            </p:cNvSpPr>
            <p:nvPr/>
          </p:nvSpPr>
          <p:spPr bwMode="auto">
            <a:xfrm>
              <a:off x="6840" y="5496"/>
              <a:ext cx="1260" cy="93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→(S) ·S</a:t>
              </a:r>
              <a:endParaRPr lang="en-US" altLang="zh-CN" sz="1200" b="1"/>
            </a:p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→·(S)S</a:t>
              </a:r>
              <a:endParaRPr lang="en-US" altLang="zh-CN" sz="1200" b="1"/>
            </a:p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77" name="Oval 14"/>
            <p:cNvSpPr>
              <a:spLocks noChangeArrowheads="1"/>
            </p:cNvSpPr>
            <p:nvPr/>
          </p:nvSpPr>
          <p:spPr bwMode="auto">
            <a:xfrm>
              <a:off x="8100" y="6120"/>
              <a:ext cx="360" cy="468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200" b="1" dirty="0">
                <a:latin typeface="Arial" panose="020B0604020202020204" pitchFamily="34" charset="0"/>
              </a:endParaRPr>
            </a:p>
          </p:txBody>
        </p:sp>
        <p:sp>
          <p:nvSpPr>
            <p:cNvPr id="78" name="Line 13"/>
            <p:cNvSpPr>
              <a:spLocks noChangeShapeType="1"/>
            </p:cNvSpPr>
            <p:nvPr/>
          </p:nvSpPr>
          <p:spPr bwMode="auto">
            <a:xfrm>
              <a:off x="7560" y="4248"/>
              <a:ext cx="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79" name="Rectangle 12"/>
            <p:cNvSpPr>
              <a:spLocks noChangeArrowheads="1"/>
            </p:cNvSpPr>
            <p:nvPr/>
          </p:nvSpPr>
          <p:spPr bwMode="auto">
            <a:xfrm>
              <a:off x="7740" y="456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80" name="Line 11"/>
            <p:cNvSpPr>
              <a:spLocks noChangeShapeType="1"/>
            </p:cNvSpPr>
            <p:nvPr/>
          </p:nvSpPr>
          <p:spPr bwMode="auto">
            <a:xfrm flipH="1" flipV="1">
              <a:off x="5580" y="5028"/>
              <a:ext cx="1080" cy="10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81" name="AutoShape 10"/>
            <p:cNvSpPr>
              <a:spLocks noChangeArrowheads="1"/>
            </p:cNvSpPr>
            <p:nvPr/>
          </p:nvSpPr>
          <p:spPr bwMode="auto">
            <a:xfrm>
              <a:off x="9540" y="5496"/>
              <a:ext cx="1980" cy="93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82" name="Rectangle 9"/>
            <p:cNvSpPr>
              <a:spLocks noChangeArrowheads="1"/>
            </p:cNvSpPr>
            <p:nvPr/>
          </p:nvSpPr>
          <p:spPr bwMode="auto">
            <a:xfrm>
              <a:off x="9720" y="5652"/>
              <a:ext cx="10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→(S)S·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83" name="Oval 8"/>
            <p:cNvSpPr>
              <a:spLocks noChangeArrowheads="1"/>
            </p:cNvSpPr>
            <p:nvPr/>
          </p:nvSpPr>
          <p:spPr bwMode="auto">
            <a:xfrm>
              <a:off x="10980" y="5808"/>
              <a:ext cx="36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84" name="Line 7"/>
            <p:cNvSpPr>
              <a:spLocks noChangeShapeType="1"/>
            </p:cNvSpPr>
            <p:nvPr/>
          </p:nvSpPr>
          <p:spPr bwMode="auto">
            <a:xfrm>
              <a:off x="8640" y="5964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85" name="Rectangle 6"/>
            <p:cNvSpPr>
              <a:spLocks noChangeArrowheads="1"/>
            </p:cNvSpPr>
            <p:nvPr/>
          </p:nvSpPr>
          <p:spPr bwMode="auto">
            <a:xfrm>
              <a:off x="9000" y="5496"/>
              <a:ext cx="180" cy="3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200" b="1"/>
            </a:p>
            <a:p>
              <a:pPr eaLnBrk="0" hangingPunct="0"/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86" name="Rectangle 5"/>
            <p:cNvSpPr>
              <a:spLocks noChangeArrowheads="1"/>
            </p:cNvSpPr>
            <p:nvPr/>
          </p:nvSpPr>
          <p:spPr bwMode="auto">
            <a:xfrm>
              <a:off x="4140" y="3624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  <p:sp>
          <p:nvSpPr>
            <p:cNvPr id="87" name="Line 4"/>
            <p:cNvSpPr>
              <a:spLocks noChangeShapeType="1"/>
            </p:cNvSpPr>
            <p:nvPr/>
          </p:nvSpPr>
          <p:spPr bwMode="auto">
            <a:xfrm>
              <a:off x="3420" y="4872"/>
              <a:ext cx="1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88" name="Arc 3"/>
            <p:cNvSpPr/>
            <p:nvPr/>
          </p:nvSpPr>
          <p:spPr bwMode="auto">
            <a:xfrm>
              <a:off x="3060" y="4872"/>
              <a:ext cx="757" cy="780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37472 w 37472"/>
                <a:gd name="T1" fmla="*/ 36251 h 43200"/>
                <a:gd name="T2" fmla="*/ 21600 w 37472"/>
                <a:gd name="T3" fmla="*/ 0 h 43200"/>
                <a:gd name="T4" fmla="*/ 21600 w 37472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472" h="43200" fill="none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37472" h="43200" stroke="0" extrusionOk="0">
                  <a:moveTo>
                    <a:pt x="37471" y="36250"/>
                  </a:moveTo>
                  <a:cubicBezTo>
                    <a:pt x="33382" y="40680"/>
                    <a:pt x="27628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200" b="1"/>
            </a:p>
          </p:txBody>
        </p:sp>
        <p:sp>
          <p:nvSpPr>
            <p:cNvPr id="89" name="Rectangle 2"/>
            <p:cNvSpPr>
              <a:spLocks noChangeArrowheads="1"/>
            </p:cNvSpPr>
            <p:nvPr/>
          </p:nvSpPr>
          <p:spPr bwMode="auto">
            <a:xfrm>
              <a:off x="2700" y="5340"/>
              <a:ext cx="180" cy="3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endParaRPr lang="en-US" altLang="zh-CN" sz="1200" b="1">
                <a:latin typeface="Arial" panose="020B0604020202020204" pitchFamily="34" charset="0"/>
              </a:endParaRPr>
            </a:p>
          </p:txBody>
        </p:sp>
      </p:grpSp>
      <p:sp>
        <p:nvSpPr>
          <p:cNvPr id="42" name="矩形: 圆角 41"/>
          <p:cNvSpPr/>
          <p:nvPr/>
        </p:nvSpPr>
        <p:spPr bwMode="auto">
          <a:xfrm>
            <a:off x="3320734" y="3841734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3" name="矩形: 圆角 42"/>
          <p:cNvSpPr/>
          <p:nvPr/>
        </p:nvSpPr>
        <p:spPr bwMode="auto">
          <a:xfrm>
            <a:off x="5040990" y="3837931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4" name="矩形: 圆角 43"/>
          <p:cNvSpPr/>
          <p:nvPr/>
        </p:nvSpPr>
        <p:spPr bwMode="auto">
          <a:xfrm>
            <a:off x="7023971" y="3832945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5" name="矩形: 圆角 44"/>
          <p:cNvSpPr/>
          <p:nvPr/>
        </p:nvSpPr>
        <p:spPr bwMode="auto">
          <a:xfrm>
            <a:off x="9157196" y="3832945"/>
            <a:ext cx="611213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6" name="矩形: 圆角 45"/>
          <p:cNvSpPr/>
          <p:nvPr/>
        </p:nvSpPr>
        <p:spPr bwMode="auto">
          <a:xfrm>
            <a:off x="7170441" y="4304503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7" name="矩形: 圆角 46"/>
          <p:cNvSpPr/>
          <p:nvPr/>
        </p:nvSpPr>
        <p:spPr bwMode="auto">
          <a:xfrm>
            <a:off x="3311590" y="4714967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8" name="矩形: 圆角 47"/>
          <p:cNvSpPr/>
          <p:nvPr/>
        </p:nvSpPr>
        <p:spPr bwMode="auto">
          <a:xfrm>
            <a:off x="4998741" y="4739058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49" name="矩形: 圆角 48"/>
          <p:cNvSpPr/>
          <p:nvPr/>
        </p:nvSpPr>
        <p:spPr bwMode="auto">
          <a:xfrm>
            <a:off x="7041240" y="4681535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0" name="矩形: 圆角 49"/>
          <p:cNvSpPr/>
          <p:nvPr/>
        </p:nvSpPr>
        <p:spPr bwMode="auto">
          <a:xfrm>
            <a:off x="9067708" y="4677572"/>
            <a:ext cx="731633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1" name="矩形: 圆角 50"/>
          <p:cNvSpPr/>
          <p:nvPr/>
        </p:nvSpPr>
        <p:spPr bwMode="auto">
          <a:xfrm>
            <a:off x="5022992" y="5152726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2" name="矩形: 圆角 51"/>
          <p:cNvSpPr/>
          <p:nvPr/>
        </p:nvSpPr>
        <p:spPr bwMode="auto">
          <a:xfrm>
            <a:off x="8993577" y="5497918"/>
            <a:ext cx="805764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3" name="矩形: 圆角 52"/>
          <p:cNvSpPr/>
          <p:nvPr/>
        </p:nvSpPr>
        <p:spPr bwMode="auto">
          <a:xfrm>
            <a:off x="3254440" y="5503376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dirty="0">
              <a:ea typeface="黑体" panose="02010609060101010101" pitchFamily="2" charset="-122"/>
            </a:endParaRPr>
          </a:p>
        </p:txBody>
      </p:sp>
      <p:sp>
        <p:nvSpPr>
          <p:cNvPr id="54" name="矩形: 圆角 53"/>
          <p:cNvSpPr/>
          <p:nvPr/>
        </p:nvSpPr>
        <p:spPr bwMode="auto">
          <a:xfrm>
            <a:off x="5124788" y="5503376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5" name="矩形: 圆角 54"/>
          <p:cNvSpPr/>
          <p:nvPr/>
        </p:nvSpPr>
        <p:spPr bwMode="auto">
          <a:xfrm>
            <a:off x="7041240" y="5506618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6" name="矩形: 圆角 55"/>
          <p:cNvSpPr/>
          <p:nvPr/>
        </p:nvSpPr>
        <p:spPr bwMode="auto">
          <a:xfrm>
            <a:off x="5124787" y="5927668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  <p:sp>
        <p:nvSpPr>
          <p:cNvPr id="57" name="矩形: 圆角 56"/>
          <p:cNvSpPr/>
          <p:nvPr/>
        </p:nvSpPr>
        <p:spPr bwMode="auto">
          <a:xfrm>
            <a:off x="7049518" y="5919262"/>
            <a:ext cx="1401401" cy="307346"/>
          </a:xfrm>
          <a:prstGeom prst="round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endParaRPr lang="zh-CN" altLang="en-US" b="1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4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839416" y="116633"/>
            <a:ext cx="10585176" cy="6624735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下面给出串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()()</a:t>
            </a:r>
            <a:r>
              <a:rPr lang="zh-CN" altLang="en-US" sz="2400" dirty="0">
                <a:latin typeface="+mn-ea"/>
              </a:rPr>
              <a:t>的分析过程。</a:t>
            </a:r>
            <a:endParaRPr lang="en-US" altLang="zh-CN" sz="2400" dirty="0">
              <a:latin typeface="+mn-ea"/>
            </a:endParaRPr>
          </a:p>
          <a:p>
            <a:endParaRPr lang="en-US" altLang="zh-CN" sz="2400" dirty="0">
              <a:latin typeface="+mn-ea"/>
              <a:cs typeface="Arial" panose="020B0604020202020204" pitchFamily="34" charset="0"/>
            </a:endParaRPr>
          </a:p>
          <a:p>
            <a:endParaRPr lang="en-US" altLang="zh-CN" sz="2400" dirty="0">
              <a:latin typeface="+mn-ea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i="1" dirty="0">
              <a:latin typeface="Cambria Math" panose="02040503050406030204" pitchFamily="18" charset="0"/>
            </a:endParaRPr>
          </a:p>
          <a:p>
            <a:pPr marL="179705" lvl="1" indent="0">
              <a:lnSpc>
                <a:spcPct val="150000"/>
              </a:lnSpc>
              <a:buNone/>
            </a:pPr>
            <a:endParaRPr lang="en-US" altLang="zh-CN" sz="2000" i="1" dirty="0"/>
          </a:p>
          <a:p>
            <a:pPr marL="465455" lvl="1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oup 102"/>
          <p:cNvGraphicFramePr/>
          <p:nvPr/>
        </p:nvGraphicFramePr>
        <p:xfrm>
          <a:off x="2424905" y="764704"/>
          <a:ext cx="7342188" cy="2514600"/>
        </p:xfrm>
        <a:graphic>
          <a:graphicData uri="http://schemas.openxmlformats.org/drawingml/2006/table">
            <a:tbl>
              <a:tblPr/>
              <a:tblGrid>
                <a:gridCol w="862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69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91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86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</a:t>
                      </a: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</a:t>
                      </a: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</a:t>
                      </a: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(S)S)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</a:t>
                      </a: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</a:t>
                      </a: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</a:t>
                      </a:r>
                      <a:r>
                        <a:rPr kumimoji="0" lang="en-US" altLang="zh-CN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ε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(S)S)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Group 63"/>
          <p:cNvGraphicFramePr/>
          <p:nvPr/>
        </p:nvGraphicFramePr>
        <p:xfrm>
          <a:off x="2424907" y="3394866"/>
          <a:ext cx="7342187" cy="3246120"/>
        </p:xfrm>
        <a:graphic>
          <a:graphicData uri="http://schemas.openxmlformats.org/drawingml/2006/table">
            <a:tbl>
              <a:tblPr/>
              <a:tblGrid>
                <a:gridCol w="862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5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846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Parsing stack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2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$0(2S3)4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$0(2S3)4(2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$0(2S3)4(2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$0(2S3)4(2S3)4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$0(2S3)4(2S3)4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S5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$0(2S3)4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S5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( 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( 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( 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ε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ε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ε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(S)S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(S)S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请给出串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(())</a:t>
            </a:r>
            <a:r>
              <a:rPr lang="zh-CN" altLang="en-US" sz="2400" dirty="0">
                <a:latin typeface="+mn-ea"/>
              </a:rPr>
              <a:t>的分析过程。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4" name="Group 102"/>
          <p:cNvGraphicFramePr/>
          <p:nvPr/>
        </p:nvGraphicFramePr>
        <p:xfrm>
          <a:off x="2460910" y="2348880"/>
          <a:ext cx="7342188" cy="2514600"/>
        </p:xfrm>
        <a:graphic>
          <a:graphicData uri="http://schemas.openxmlformats.org/drawingml/2006/table">
            <a:tbl>
              <a:tblPr/>
              <a:tblGrid>
                <a:gridCol w="862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69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91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86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(S)S)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(S)S)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408" y="116632"/>
            <a:ext cx="10729192" cy="662473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请给出串</a:t>
            </a:r>
            <a:r>
              <a:rPr lang="en-US" altLang="zh-CN" sz="24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(())</a:t>
            </a:r>
            <a:r>
              <a:rPr lang="zh-CN" altLang="en-US" sz="2400" dirty="0">
                <a:latin typeface="+mn-ea"/>
              </a:rPr>
              <a:t>的分析过程。</a:t>
            </a:r>
            <a:endParaRPr lang="en-US" altLang="zh-CN" sz="2400" dirty="0">
              <a:latin typeface="+mn-ea"/>
            </a:endParaRPr>
          </a:p>
        </p:txBody>
      </p:sp>
      <p:graphicFrame>
        <p:nvGraphicFramePr>
          <p:cNvPr id="4" name="Group 102"/>
          <p:cNvGraphicFramePr/>
          <p:nvPr/>
        </p:nvGraphicFramePr>
        <p:xfrm>
          <a:off x="2424905" y="714243"/>
          <a:ext cx="7342188" cy="2514600"/>
        </p:xfrm>
        <a:graphic>
          <a:graphicData uri="http://schemas.openxmlformats.org/drawingml/2006/table">
            <a:tbl>
              <a:tblPr/>
              <a:tblGrid>
                <a:gridCol w="862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67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7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691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State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gridSpan="3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Goto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91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286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(S)S)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ε)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r(S → (S)S)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Group 63"/>
          <p:cNvGraphicFramePr/>
          <p:nvPr/>
        </p:nvGraphicFramePr>
        <p:xfrm>
          <a:off x="2424907" y="3394866"/>
          <a:ext cx="7342187" cy="3202486"/>
        </p:xfrm>
        <a:graphic>
          <a:graphicData uri="http://schemas.openxmlformats.org/drawingml/2006/table">
            <a:tbl>
              <a:tblPr/>
              <a:tblGrid>
                <a:gridCol w="862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5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8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846">
                <a:tc rowSpan="2"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Parsing stack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Input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Action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62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$0(2(2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0(2(</a:t>
                      </a:r>
                      <a:r>
                        <a:rPr kumimoji="0" lang="en-US" altLang="zh-CN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2S3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)4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0(2(</a:t>
                      </a:r>
                      <a:r>
                        <a:rPr kumimoji="0" lang="en-US" altLang="zh-CN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2S3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en-US" altLang="zh-CN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0" lang="en-US" altLang="zh-CN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S5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S3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2S3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)4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$0(2S3)4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S5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$0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( ) 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)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 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$</a:t>
                      </a:r>
                    </a:p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$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s2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ε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ε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(S)S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s4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ε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r(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 → (S)S</a:t>
                      </a:r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US" altLang="zh-CN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accept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SLR(1)</a:t>
            </a:r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分析算法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SLR(1)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分析中仍然可能存在着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移进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归约冲突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归约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归约冲突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通常移进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归约冲突意味着有二义性，那么可以采用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移进优先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这样的策略来消除二义性。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而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归约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归约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冲突通常指出文法设计中的错误。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1196752"/>
            <a:ext cx="8640961" cy="554461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i="1" dirty="0"/>
              <a:t>S’ →S                           </a:t>
            </a:r>
            <a:r>
              <a:rPr lang="en-US" altLang="zh-CN" sz="2000" dirty="0"/>
              <a:t>Follow(S)=Follow(I)={$, </a:t>
            </a:r>
            <a:r>
              <a:rPr lang="en-US" altLang="zh-CN" sz="2000" i="1" dirty="0"/>
              <a:t>else</a:t>
            </a:r>
            <a:r>
              <a:rPr lang="en-US" altLang="zh-CN" sz="2000" dirty="0"/>
              <a:t>}</a:t>
            </a:r>
            <a:endParaRPr lang="en-US" altLang="zh-CN" sz="2000" i="1" dirty="0"/>
          </a:p>
          <a:p>
            <a:pPr marL="0" indent="0">
              <a:buNone/>
            </a:pPr>
            <a:r>
              <a:rPr lang="en-US" altLang="zh-CN" sz="2000" i="1" dirty="0" err="1"/>
              <a:t>S→I</a:t>
            </a:r>
            <a:r>
              <a:rPr lang="en-US" altLang="zh-CN" sz="2000" i="1" dirty="0"/>
              <a:t> | other</a:t>
            </a:r>
          </a:p>
          <a:p>
            <a:pPr marL="0" indent="0">
              <a:buNone/>
            </a:pPr>
            <a:r>
              <a:rPr lang="en-US" altLang="zh-CN" sz="2000" i="1" dirty="0" err="1"/>
              <a:t>I→if</a:t>
            </a:r>
            <a:r>
              <a:rPr lang="en-US" altLang="zh-CN" sz="2000" i="1" dirty="0"/>
              <a:t> S | if S else S</a:t>
            </a:r>
            <a:endParaRPr lang="en-US" altLang="zh-CN" sz="2000" dirty="0"/>
          </a:p>
          <a:p>
            <a:pPr marL="179705" lvl="1" indent="0">
              <a:lnSpc>
                <a:spcPct val="150000"/>
              </a:lnSpc>
              <a:buNone/>
            </a:pPr>
            <a:endParaRPr lang="en-US" altLang="zh-CN" sz="2000" i="1" dirty="0"/>
          </a:p>
          <a:p>
            <a:pPr marL="465455" lvl="1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85798"/>
            <a:ext cx="7772400" cy="5389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p:sp>
        <p:nvSpPr>
          <p:cNvPr id="2" name="Rectangle 55"/>
          <p:cNvSpPr>
            <a:spLocks noChangeArrowheads="1"/>
          </p:cNvSpPr>
          <p:nvPr/>
        </p:nvSpPr>
        <p:spPr bwMode="auto">
          <a:xfrm>
            <a:off x="4295800" y="-1126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4231566" y="1988840"/>
            <a:ext cx="1588409" cy="1189860"/>
            <a:chOff x="2707565" y="1988840"/>
            <a:chExt cx="1588409" cy="1189860"/>
          </a:xfrm>
          <a:solidFill>
            <a:srgbClr val="FFFFCC"/>
          </a:solidFill>
        </p:grpSpPr>
        <p:sp>
          <p:nvSpPr>
            <p:cNvPr id="5" name="AutoShape 53"/>
            <p:cNvSpPr>
              <a:spLocks noChangeArrowheads="1"/>
            </p:cNvSpPr>
            <p:nvPr/>
          </p:nvSpPr>
          <p:spPr bwMode="auto">
            <a:xfrm>
              <a:off x="2707565" y="1988840"/>
              <a:ext cx="1588409" cy="1189860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6" name="Rectangle 52"/>
            <p:cNvSpPr>
              <a:spLocks noChangeArrowheads="1"/>
            </p:cNvSpPr>
            <p:nvPr/>
          </p:nvSpPr>
          <p:spPr bwMode="auto">
            <a:xfrm>
              <a:off x="2830170" y="2068164"/>
              <a:ext cx="1220596" cy="83290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7" name="Oval 51"/>
            <p:cNvSpPr>
              <a:spLocks noChangeArrowheads="1"/>
            </p:cNvSpPr>
            <p:nvPr/>
          </p:nvSpPr>
          <p:spPr bwMode="auto">
            <a:xfrm>
              <a:off x="3933610" y="2861404"/>
              <a:ext cx="245209" cy="237972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21" name="Line 37"/>
          <p:cNvSpPr>
            <a:spLocks noChangeShapeType="1"/>
          </p:cNvSpPr>
          <p:nvPr/>
        </p:nvSpPr>
        <p:spPr bwMode="auto">
          <a:xfrm>
            <a:off x="3863753" y="2464784"/>
            <a:ext cx="3678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1196752"/>
            <a:ext cx="8640961" cy="554461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i="1" dirty="0"/>
              <a:t>S’ →S                           </a:t>
            </a:r>
            <a:r>
              <a:rPr lang="en-US" altLang="zh-CN" sz="2000" dirty="0"/>
              <a:t>Follow(S)=Follow(I)={$, </a:t>
            </a:r>
            <a:r>
              <a:rPr lang="en-US" altLang="zh-CN" sz="2000" i="1" dirty="0"/>
              <a:t>else</a:t>
            </a:r>
            <a:r>
              <a:rPr lang="en-US" altLang="zh-CN" sz="2000" dirty="0"/>
              <a:t>}</a:t>
            </a:r>
            <a:endParaRPr lang="en-US" altLang="zh-CN" sz="2000" i="1" dirty="0"/>
          </a:p>
          <a:p>
            <a:pPr marL="0" indent="0">
              <a:buNone/>
            </a:pPr>
            <a:r>
              <a:rPr lang="en-US" altLang="zh-CN" sz="2000" i="1" dirty="0" err="1"/>
              <a:t>S→I</a:t>
            </a:r>
            <a:r>
              <a:rPr lang="en-US" altLang="zh-CN" sz="2000" i="1" dirty="0"/>
              <a:t> | other</a:t>
            </a:r>
          </a:p>
          <a:p>
            <a:pPr marL="0" indent="0">
              <a:buNone/>
            </a:pPr>
            <a:r>
              <a:rPr lang="en-US" altLang="zh-CN" sz="2000" i="1" dirty="0" err="1"/>
              <a:t>I→if</a:t>
            </a:r>
            <a:r>
              <a:rPr lang="en-US" altLang="zh-CN" sz="2000" i="1" dirty="0"/>
              <a:t> S | if S else S</a:t>
            </a:r>
            <a:endParaRPr lang="en-US" altLang="zh-CN" sz="2000" dirty="0"/>
          </a:p>
          <a:p>
            <a:pPr marL="179705" lvl="1" indent="0">
              <a:lnSpc>
                <a:spcPct val="150000"/>
              </a:lnSpc>
              <a:buNone/>
            </a:pPr>
            <a:endParaRPr lang="en-US" altLang="zh-CN" sz="2000" i="1" dirty="0"/>
          </a:p>
          <a:p>
            <a:pPr marL="465455" lvl="1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85798"/>
            <a:ext cx="7772400" cy="5389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p:sp>
        <p:nvSpPr>
          <p:cNvPr id="2" name="Rectangle 55"/>
          <p:cNvSpPr>
            <a:spLocks noChangeArrowheads="1"/>
          </p:cNvSpPr>
          <p:nvPr/>
        </p:nvSpPr>
        <p:spPr bwMode="auto">
          <a:xfrm>
            <a:off x="4295800" y="-1126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4231566" y="1988840"/>
            <a:ext cx="1588409" cy="1189860"/>
            <a:chOff x="2707565" y="1988840"/>
            <a:chExt cx="1588409" cy="1189860"/>
          </a:xfrm>
          <a:solidFill>
            <a:srgbClr val="FFFFCC"/>
          </a:solidFill>
        </p:grpSpPr>
        <p:sp>
          <p:nvSpPr>
            <p:cNvPr id="5" name="AutoShape 53"/>
            <p:cNvSpPr>
              <a:spLocks noChangeArrowheads="1"/>
            </p:cNvSpPr>
            <p:nvPr/>
          </p:nvSpPr>
          <p:spPr bwMode="auto">
            <a:xfrm>
              <a:off x="2707565" y="1988840"/>
              <a:ext cx="1588409" cy="1189860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6" name="Rectangle 52"/>
            <p:cNvSpPr>
              <a:spLocks noChangeArrowheads="1"/>
            </p:cNvSpPr>
            <p:nvPr/>
          </p:nvSpPr>
          <p:spPr bwMode="auto">
            <a:xfrm>
              <a:off x="2830170" y="2068164"/>
              <a:ext cx="1220596" cy="83290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7" name="Oval 51"/>
            <p:cNvSpPr>
              <a:spLocks noChangeArrowheads="1"/>
            </p:cNvSpPr>
            <p:nvPr/>
          </p:nvSpPr>
          <p:spPr bwMode="auto">
            <a:xfrm>
              <a:off x="3933610" y="2861404"/>
              <a:ext cx="245209" cy="237972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8" name="Line 50"/>
          <p:cNvSpPr>
            <a:spLocks noChangeShapeType="1"/>
          </p:cNvSpPr>
          <p:nvPr/>
        </p:nvSpPr>
        <p:spPr bwMode="auto">
          <a:xfrm>
            <a:off x="4967192" y="3178700"/>
            <a:ext cx="0" cy="31729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9" name="Line 49"/>
          <p:cNvSpPr>
            <a:spLocks noChangeShapeType="1"/>
          </p:cNvSpPr>
          <p:nvPr/>
        </p:nvSpPr>
        <p:spPr bwMode="auto">
          <a:xfrm>
            <a:off x="5825425" y="2226812"/>
            <a:ext cx="735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10" name="Rectangle 48"/>
          <p:cNvSpPr>
            <a:spLocks noChangeArrowheads="1"/>
          </p:cNvSpPr>
          <p:nvPr/>
        </p:nvSpPr>
        <p:spPr bwMode="auto">
          <a:xfrm>
            <a:off x="6070633" y="1988841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561052" y="1988840"/>
            <a:ext cx="1226045" cy="475944"/>
            <a:chOff x="5037051" y="1988840"/>
            <a:chExt cx="1226045" cy="475944"/>
          </a:xfrm>
        </p:grpSpPr>
        <p:sp>
          <p:nvSpPr>
            <p:cNvPr id="11" name="AutoShape 47"/>
            <p:cNvSpPr>
              <a:spLocks noChangeArrowheads="1"/>
            </p:cNvSpPr>
            <p:nvPr/>
          </p:nvSpPr>
          <p:spPr bwMode="auto">
            <a:xfrm>
              <a:off x="5037051" y="1988840"/>
              <a:ext cx="1226045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2" name="Rectangle 46"/>
            <p:cNvSpPr>
              <a:spLocks noChangeArrowheads="1"/>
            </p:cNvSpPr>
            <p:nvPr/>
          </p:nvSpPr>
          <p:spPr bwMode="auto">
            <a:xfrm>
              <a:off x="5154206" y="2107826"/>
              <a:ext cx="735627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5895282" y="2147488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14" name="Rectangle 44"/>
          <p:cNvSpPr>
            <a:spLocks noChangeArrowheads="1"/>
          </p:cNvSpPr>
          <p:nvPr/>
        </p:nvSpPr>
        <p:spPr bwMode="auto">
          <a:xfrm>
            <a:off x="4354171" y="3258024"/>
            <a:ext cx="367813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9219" name="组合 9218"/>
          <p:cNvGrpSpPr/>
          <p:nvPr/>
        </p:nvGrpSpPr>
        <p:grpSpPr>
          <a:xfrm>
            <a:off x="4231566" y="3495996"/>
            <a:ext cx="1348649" cy="475944"/>
            <a:chOff x="2707565" y="3495996"/>
            <a:chExt cx="1348649" cy="475944"/>
          </a:xfrm>
        </p:grpSpPr>
        <p:sp>
          <p:nvSpPr>
            <p:cNvPr id="18" name="AutoShape 40"/>
            <p:cNvSpPr>
              <a:spLocks noChangeArrowheads="1"/>
            </p:cNvSpPr>
            <p:nvPr/>
          </p:nvSpPr>
          <p:spPr bwMode="auto">
            <a:xfrm>
              <a:off x="2707565" y="3495996"/>
              <a:ext cx="1348649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>
              <a:off x="2830170" y="3575320"/>
              <a:ext cx="858231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20" name="Oval 38"/>
            <p:cNvSpPr>
              <a:spLocks noChangeArrowheads="1"/>
            </p:cNvSpPr>
            <p:nvPr/>
          </p:nvSpPr>
          <p:spPr bwMode="auto">
            <a:xfrm>
              <a:off x="3688401" y="3654644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21" name="Line 37"/>
          <p:cNvSpPr>
            <a:spLocks noChangeShapeType="1"/>
          </p:cNvSpPr>
          <p:nvPr/>
        </p:nvSpPr>
        <p:spPr bwMode="auto">
          <a:xfrm>
            <a:off x="3863753" y="2464784"/>
            <a:ext cx="3678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22" name="Line 36"/>
          <p:cNvSpPr>
            <a:spLocks noChangeShapeType="1"/>
          </p:cNvSpPr>
          <p:nvPr/>
        </p:nvSpPr>
        <p:spPr bwMode="auto">
          <a:xfrm>
            <a:off x="5825425" y="2782080"/>
            <a:ext cx="18390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6193237" y="2544109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664492" y="2623432"/>
            <a:ext cx="1226045" cy="475944"/>
            <a:chOff x="6140491" y="2623432"/>
            <a:chExt cx="1226045" cy="475944"/>
          </a:xfrm>
        </p:grpSpPr>
        <p:sp>
          <p:nvSpPr>
            <p:cNvPr id="24" name="AutoShape 34"/>
            <p:cNvSpPr>
              <a:spLocks noChangeArrowheads="1"/>
            </p:cNvSpPr>
            <p:nvPr/>
          </p:nvSpPr>
          <p:spPr bwMode="auto">
            <a:xfrm>
              <a:off x="6140491" y="2623432"/>
              <a:ext cx="1226045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6263096" y="2702756"/>
              <a:ext cx="735627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</a:t>
              </a:r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26" name="Oval 32"/>
            <p:cNvSpPr>
              <a:spLocks noChangeArrowheads="1"/>
            </p:cNvSpPr>
            <p:nvPr/>
          </p:nvSpPr>
          <p:spPr bwMode="auto">
            <a:xfrm>
              <a:off x="6998723" y="2782080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17" name="组合 9216"/>
          <p:cNvGrpSpPr/>
          <p:nvPr/>
        </p:nvGrpSpPr>
        <p:grpSpPr>
          <a:xfrm>
            <a:off x="6193237" y="3495996"/>
            <a:ext cx="1593858" cy="1427832"/>
            <a:chOff x="4669237" y="3495996"/>
            <a:chExt cx="1593858" cy="1427832"/>
          </a:xfrm>
        </p:grpSpPr>
        <p:sp>
          <p:nvSpPr>
            <p:cNvPr id="4" name="AutoShape 54"/>
            <p:cNvSpPr>
              <a:spLocks noChangeArrowheads="1"/>
            </p:cNvSpPr>
            <p:nvPr/>
          </p:nvSpPr>
          <p:spPr bwMode="auto">
            <a:xfrm>
              <a:off x="4669237" y="3495996"/>
              <a:ext cx="1593858" cy="14278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5" name="Oval 43"/>
            <p:cNvSpPr>
              <a:spLocks noChangeArrowheads="1"/>
            </p:cNvSpPr>
            <p:nvPr/>
          </p:nvSpPr>
          <p:spPr bwMode="auto">
            <a:xfrm>
              <a:off x="5895282" y="4606532"/>
              <a:ext cx="245209" cy="23797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27" name="Rectangle 31"/>
            <p:cNvSpPr>
              <a:spLocks noChangeArrowheads="1"/>
            </p:cNvSpPr>
            <p:nvPr/>
          </p:nvSpPr>
          <p:spPr bwMode="auto">
            <a:xfrm>
              <a:off x="4791842" y="3575320"/>
              <a:ext cx="1220596" cy="1031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else 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/>
            </a:p>
            <a:p>
              <a:pPr eaLnBrk="0" hangingPunct="0"/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41" name="Line 27"/>
          <p:cNvSpPr>
            <a:spLocks noChangeShapeType="1"/>
          </p:cNvSpPr>
          <p:nvPr/>
        </p:nvSpPr>
        <p:spPr bwMode="auto">
          <a:xfrm>
            <a:off x="5580216" y="3178700"/>
            <a:ext cx="659800" cy="3966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2" name="Rectangle 26"/>
          <p:cNvSpPr>
            <a:spLocks noChangeArrowheads="1"/>
          </p:cNvSpPr>
          <p:nvPr/>
        </p:nvSpPr>
        <p:spPr bwMode="auto">
          <a:xfrm>
            <a:off x="6070633" y="3099377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4" grpId="0" animBg="1"/>
      <p:bldP spid="22" grpId="0" animBg="1"/>
      <p:bldP spid="23" grpId="0" animBg="1"/>
      <p:bldP spid="41" grpId="0" animBg="1"/>
      <p:bldP spid="42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1196752"/>
            <a:ext cx="8640961" cy="554461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i="1" dirty="0"/>
              <a:t>S’ →S                           </a:t>
            </a:r>
            <a:r>
              <a:rPr lang="en-US" altLang="zh-CN" sz="2000" dirty="0"/>
              <a:t>Follow(S)=Follow(I)={$, </a:t>
            </a:r>
            <a:r>
              <a:rPr lang="en-US" altLang="zh-CN" sz="2000" i="1" dirty="0"/>
              <a:t>else</a:t>
            </a:r>
            <a:r>
              <a:rPr lang="en-US" altLang="zh-CN" sz="2000" dirty="0"/>
              <a:t>}</a:t>
            </a:r>
            <a:endParaRPr lang="en-US" altLang="zh-CN" sz="2000" i="1" dirty="0"/>
          </a:p>
          <a:p>
            <a:pPr marL="0" indent="0">
              <a:buNone/>
            </a:pPr>
            <a:r>
              <a:rPr lang="en-US" altLang="zh-CN" sz="2000" i="1" dirty="0" err="1"/>
              <a:t>S→I</a:t>
            </a:r>
            <a:r>
              <a:rPr lang="en-US" altLang="zh-CN" sz="2000" i="1" dirty="0"/>
              <a:t> | other</a:t>
            </a:r>
          </a:p>
          <a:p>
            <a:pPr marL="0" indent="0">
              <a:buNone/>
            </a:pPr>
            <a:r>
              <a:rPr lang="en-US" altLang="zh-CN" sz="2000" i="1" dirty="0" err="1"/>
              <a:t>I→if</a:t>
            </a:r>
            <a:r>
              <a:rPr lang="en-US" altLang="zh-CN" sz="2000" i="1" dirty="0"/>
              <a:t> S | if S else S</a:t>
            </a:r>
            <a:endParaRPr lang="en-US" altLang="zh-CN" sz="2000" dirty="0"/>
          </a:p>
          <a:p>
            <a:pPr marL="179705" lvl="1" indent="0">
              <a:lnSpc>
                <a:spcPct val="150000"/>
              </a:lnSpc>
              <a:buNone/>
            </a:pPr>
            <a:endParaRPr lang="en-US" altLang="zh-CN" sz="2000" i="1" dirty="0"/>
          </a:p>
          <a:p>
            <a:pPr marL="465455" lvl="1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85798"/>
            <a:ext cx="7772400" cy="5389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p:sp>
        <p:nvSpPr>
          <p:cNvPr id="2" name="Rectangle 55"/>
          <p:cNvSpPr>
            <a:spLocks noChangeArrowheads="1"/>
          </p:cNvSpPr>
          <p:nvPr/>
        </p:nvSpPr>
        <p:spPr bwMode="auto">
          <a:xfrm>
            <a:off x="4295800" y="-1126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4231566" y="1988840"/>
            <a:ext cx="1588409" cy="1189860"/>
            <a:chOff x="2707565" y="1988840"/>
            <a:chExt cx="1588409" cy="1189860"/>
          </a:xfrm>
        </p:grpSpPr>
        <p:sp>
          <p:nvSpPr>
            <p:cNvPr id="5" name="AutoShape 53"/>
            <p:cNvSpPr>
              <a:spLocks noChangeArrowheads="1"/>
            </p:cNvSpPr>
            <p:nvPr/>
          </p:nvSpPr>
          <p:spPr bwMode="auto">
            <a:xfrm>
              <a:off x="2707565" y="1988840"/>
              <a:ext cx="1588409" cy="11898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6" name="Rectangle 52"/>
            <p:cNvSpPr>
              <a:spLocks noChangeArrowheads="1"/>
            </p:cNvSpPr>
            <p:nvPr/>
          </p:nvSpPr>
          <p:spPr bwMode="auto">
            <a:xfrm>
              <a:off x="2830170" y="2068164"/>
              <a:ext cx="1220596" cy="8329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7" name="Oval 51"/>
            <p:cNvSpPr>
              <a:spLocks noChangeArrowheads="1"/>
            </p:cNvSpPr>
            <p:nvPr/>
          </p:nvSpPr>
          <p:spPr bwMode="auto">
            <a:xfrm>
              <a:off x="3933610" y="2861404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8" name="Line 50"/>
          <p:cNvSpPr>
            <a:spLocks noChangeShapeType="1"/>
          </p:cNvSpPr>
          <p:nvPr/>
        </p:nvSpPr>
        <p:spPr bwMode="auto">
          <a:xfrm>
            <a:off x="4967192" y="3178700"/>
            <a:ext cx="0" cy="31729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9" name="Line 49"/>
          <p:cNvSpPr>
            <a:spLocks noChangeShapeType="1"/>
          </p:cNvSpPr>
          <p:nvPr/>
        </p:nvSpPr>
        <p:spPr bwMode="auto">
          <a:xfrm>
            <a:off x="5825425" y="2226812"/>
            <a:ext cx="735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10" name="Rectangle 48"/>
          <p:cNvSpPr>
            <a:spLocks noChangeArrowheads="1"/>
          </p:cNvSpPr>
          <p:nvPr/>
        </p:nvSpPr>
        <p:spPr bwMode="auto">
          <a:xfrm>
            <a:off x="6070633" y="1988841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561052" y="1988840"/>
            <a:ext cx="1226045" cy="475944"/>
            <a:chOff x="5037051" y="1988840"/>
            <a:chExt cx="1226045" cy="475944"/>
          </a:xfrm>
        </p:grpSpPr>
        <p:sp>
          <p:nvSpPr>
            <p:cNvPr id="11" name="AutoShape 47"/>
            <p:cNvSpPr>
              <a:spLocks noChangeArrowheads="1"/>
            </p:cNvSpPr>
            <p:nvPr/>
          </p:nvSpPr>
          <p:spPr bwMode="auto">
            <a:xfrm>
              <a:off x="5037051" y="1988840"/>
              <a:ext cx="1226045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2" name="Rectangle 46"/>
            <p:cNvSpPr>
              <a:spLocks noChangeArrowheads="1"/>
            </p:cNvSpPr>
            <p:nvPr/>
          </p:nvSpPr>
          <p:spPr bwMode="auto">
            <a:xfrm>
              <a:off x="5154206" y="2107826"/>
              <a:ext cx="735627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5895282" y="2147488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14" name="Rectangle 44"/>
          <p:cNvSpPr>
            <a:spLocks noChangeArrowheads="1"/>
          </p:cNvSpPr>
          <p:nvPr/>
        </p:nvSpPr>
        <p:spPr bwMode="auto">
          <a:xfrm>
            <a:off x="4354171" y="3258024"/>
            <a:ext cx="367813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7" name="Arc 41"/>
          <p:cNvSpPr/>
          <p:nvPr/>
        </p:nvSpPr>
        <p:spPr bwMode="auto">
          <a:xfrm>
            <a:off x="5825425" y="4608057"/>
            <a:ext cx="534011" cy="39662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38831 w 38831"/>
              <a:gd name="T1" fmla="*/ 34625 h 43200"/>
              <a:gd name="T2" fmla="*/ 21600 w 38831"/>
              <a:gd name="T3" fmla="*/ 0 h 43200"/>
              <a:gd name="T4" fmla="*/ 21600 w 38831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1" h="43200" fill="none" extrusionOk="0">
                <a:moveTo>
                  <a:pt x="38831" y="34625"/>
                </a:moveTo>
                <a:cubicBezTo>
                  <a:pt x="34748" y="40025"/>
                  <a:pt x="283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</a:path>
              <a:path w="38831" h="43200" stroke="0" extrusionOk="0">
                <a:moveTo>
                  <a:pt x="38831" y="34625"/>
                </a:moveTo>
                <a:cubicBezTo>
                  <a:pt x="34748" y="40025"/>
                  <a:pt x="283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grpSp>
        <p:nvGrpSpPr>
          <p:cNvPr id="9219" name="组合 9218"/>
          <p:cNvGrpSpPr/>
          <p:nvPr/>
        </p:nvGrpSpPr>
        <p:grpSpPr>
          <a:xfrm>
            <a:off x="4231566" y="3495996"/>
            <a:ext cx="1348649" cy="475944"/>
            <a:chOff x="2707565" y="3495996"/>
            <a:chExt cx="1348649" cy="475944"/>
          </a:xfrm>
        </p:grpSpPr>
        <p:sp>
          <p:nvSpPr>
            <p:cNvPr id="18" name="AutoShape 40"/>
            <p:cNvSpPr>
              <a:spLocks noChangeArrowheads="1"/>
            </p:cNvSpPr>
            <p:nvPr/>
          </p:nvSpPr>
          <p:spPr bwMode="auto">
            <a:xfrm>
              <a:off x="2707565" y="3495996"/>
              <a:ext cx="1348649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>
              <a:off x="2830170" y="3575320"/>
              <a:ext cx="858231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20" name="Oval 38"/>
            <p:cNvSpPr>
              <a:spLocks noChangeArrowheads="1"/>
            </p:cNvSpPr>
            <p:nvPr/>
          </p:nvSpPr>
          <p:spPr bwMode="auto">
            <a:xfrm>
              <a:off x="3688401" y="3654644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21" name="Line 37"/>
          <p:cNvSpPr>
            <a:spLocks noChangeShapeType="1"/>
          </p:cNvSpPr>
          <p:nvPr/>
        </p:nvSpPr>
        <p:spPr bwMode="auto">
          <a:xfrm>
            <a:off x="3863753" y="2464784"/>
            <a:ext cx="3678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22" name="Line 36"/>
          <p:cNvSpPr>
            <a:spLocks noChangeShapeType="1"/>
          </p:cNvSpPr>
          <p:nvPr/>
        </p:nvSpPr>
        <p:spPr bwMode="auto">
          <a:xfrm>
            <a:off x="5825425" y="2782080"/>
            <a:ext cx="18390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6193237" y="2544109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664492" y="2623432"/>
            <a:ext cx="1226045" cy="475944"/>
            <a:chOff x="6140491" y="2623432"/>
            <a:chExt cx="1226045" cy="475944"/>
          </a:xfrm>
        </p:grpSpPr>
        <p:sp>
          <p:nvSpPr>
            <p:cNvPr id="24" name="AutoShape 34"/>
            <p:cNvSpPr>
              <a:spLocks noChangeArrowheads="1"/>
            </p:cNvSpPr>
            <p:nvPr/>
          </p:nvSpPr>
          <p:spPr bwMode="auto">
            <a:xfrm>
              <a:off x="6140491" y="2623432"/>
              <a:ext cx="1226045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6263096" y="2702756"/>
              <a:ext cx="735627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</a:t>
              </a:r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26" name="Oval 32"/>
            <p:cNvSpPr>
              <a:spLocks noChangeArrowheads="1"/>
            </p:cNvSpPr>
            <p:nvPr/>
          </p:nvSpPr>
          <p:spPr bwMode="auto">
            <a:xfrm>
              <a:off x="6998723" y="2782080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17" name="组合 9216"/>
          <p:cNvGrpSpPr/>
          <p:nvPr/>
        </p:nvGrpSpPr>
        <p:grpSpPr>
          <a:xfrm>
            <a:off x="6193237" y="3495996"/>
            <a:ext cx="1593858" cy="1427832"/>
            <a:chOff x="4669237" y="3495996"/>
            <a:chExt cx="1593858" cy="1427832"/>
          </a:xfrm>
          <a:solidFill>
            <a:srgbClr val="FFFFCC"/>
          </a:solidFill>
        </p:grpSpPr>
        <p:sp>
          <p:nvSpPr>
            <p:cNvPr id="4" name="AutoShape 54"/>
            <p:cNvSpPr>
              <a:spLocks noChangeArrowheads="1"/>
            </p:cNvSpPr>
            <p:nvPr/>
          </p:nvSpPr>
          <p:spPr bwMode="auto">
            <a:xfrm>
              <a:off x="4669237" y="3495996"/>
              <a:ext cx="1593858" cy="1427832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5" name="Oval 43"/>
            <p:cNvSpPr>
              <a:spLocks noChangeArrowheads="1"/>
            </p:cNvSpPr>
            <p:nvPr/>
          </p:nvSpPr>
          <p:spPr bwMode="auto">
            <a:xfrm>
              <a:off x="5895282" y="4606532"/>
              <a:ext cx="245209" cy="237972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27" name="Rectangle 31"/>
            <p:cNvSpPr>
              <a:spLocks noChangeArrowheads="1"/>
            </p:cNvSpPr>
            <p:nvPr/>
          </p:nvSpPr>
          <p:spPr bwMode="auto">
            <a:xfrm>
              <a:off x="4791842" y="3575320"/>
              <a:ext cx="1220596" cy="103121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else 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/>
            </a:p>
            <a:p>
              <a:pPr eaLnBrk="0" hangingPunct="0"/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28" name="Rectangle 30"/>
          <p:cNvSpPr>
            <a:spLocks noChangeArrowheads="1"/>
          </p:cNvSpPr>
          <p:nvPr/>
        </p:nvSpPr>
        <p:spPr bwMode="auto">
          <a:xfrm>
            <a:off x="5580215" y="4606532"/>
            <a:ext cx="122604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9" name="Line 29"/>
          <p:cNvSpPr>
            <a:spLocks noChangeShapeType="1"/>
          </p:cNvSpPr>
          <p:nvPr/>
        </p:nvSpPr>
        <p:spPr bwMode="auto">
          <a:xfrm flipH="1">
            <a:off x="5580215" y="3733968"/>
            <a:ext cx="61302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0" name="Rectangle 28"/>
          <p:cNvSpPr>
            <a:spLocks noChangeArrowheads="1"/>
          </p:cNvSpPr>
          <p:nvPr/>
        </p:nvSpPr>
        <p:spPr bwMode="auto">
          <a:xfrm>
            <a:off x="5702820" y="3495996"/>
            <a:ext cx="484969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41" name="Line 27"/>
          <p:cNvSpPr>
            <a:spLocks noChangeShapeType="1"/>
          </p:cNvSpPr>
          <p:nvPr/>
        </p:nvSpPr>
        <p:spPr bwMode="auto">
          <a:xfrm>
            <a:off x="5580216" y="3178701"/>
            <a:ext cx="659800" cy="39509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2" name="Rectangle 26"/>
          <p:cNvSpPr>
            <a:spLocks noChangeArrowheads="1"/>
          </p:cNvSpPr>
          <p:nvPr/>
        </p:nvSpPr>
        <p:spPr bwMode="auto">
          <a:xfrm>
            <a:off x="6070633" y="3099377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 flipV="1">
            <a:off x="6928865" y="2940728"/>
            <a:ext cx="735627" cy="555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50" name="Rectangle 18"/>
          <p:cNvSpPr>
            <a:spLocks noChangeArrowheads="1"/>
          </p:cNvSpPr>
          <p:nvPr/>
        </p:nvSpPr>
        <p:spPr bwMode="auto">
          <a:xfrm>
            <a:off x="7051469" y="3099377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9220" name="组合 9219"/>
          <p:cNvGrpSpPr/>
          <p:nvPr/>
        </p:nvGrpSpPr>
        <p:grpSpPr>
          <a:xfrm>
            <a:off x="6193237" y="5399772"/>
            <a:ext cx="1593858" cy="713916"/>
            <a:chOff x="4669237" y="5399772"/>
            <a:chExt cx="1593858" cy="713916"/>
          </a:xfrm>
        </p:grpSpPr>
        <p:sp>
          <p:nvSpPr>
            <p:cNvPr id="57" name="AutoShape 11"/>
            <p:cNvSpPr>
              <a:spLocks noChangeArrowheads="1"/>
            </p:cNvSpPr>
            <p:nvPr/>
          </p:nvSpPr>
          <p:spPr bwMode="auto">
            <a:xfrm>
              <a:off x="4669237" y="5399772"/>
              <a:ext cx="1593858" cy="71391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4791842" y="5479096"/>
              <a:ext cx="1103440" cy="317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else S</a:t>
              </a:r>
              <a:endParaRPr lang="en-US" altLang="zh-CN" sz="1400"/>
            </a:p>
            <a:p>
              <a:pPr eaLnBrk="0" hangingPunct="0"/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59" name="Oval 9"/>
            <p:cNvSpPr>
              <a:spLocks noChangeArrowheads="1"/>
            </p:cNvSpPr>
            <p:nvPr/>
          </p:nvSpPr>
          <p:spPr bwMode="auto">
            <a:xfrm>
              <a:off x="5895282" y="5796392"/>
              <a:ext cx="245209" cy="23797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</p:grpSp>
      <p:sp>
        <p:nvSpPr>
          <p:cNvPr id="60" name="Line 8"/>
          <p:cNvSpPr>
            <a:spLocks noChangeShapeType="1"/>
          </p:cNvSpPr>
          <p:nvPr/>
        </p:nvSpPr>
        <p:spPr bwMode="auto">
          <a:xfrm flipH="1">
            <a:off x="7051469" y="4923828"/>
            <a:ext cx="0" cy="4759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61" name="Rectangle 7"/>
          <p:cNvSpPr>
            <a:spLocks noChangeArrowheads="1"/>
          </p:cNvSpPr>
          <p:nvPr/>
        </p:nvSpPr>
        <p:spPr bwMode="auto">
          <a:xfrm>
            <a:off x="6806260" y="5082476"/>
            <a:ext cx="122604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 animBg="1"/>
      <p:bldP spid="39" grpId="0" animBg="1"/>
      <p:bldP spid="40" grpId="0" animBg="1"/>
      <p:bldP spid="49" grpId="0" animBg="1"/>
      <p:bldP spid="50" grpId="0" animBg="1"/>
      <p:bldP spid="60" grpId="0" animBg="1"/>
      <p:bldP spid="6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1196752"/>
            <a:ext cx="8640961" cy="554461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i="1" dirty="0"/>
              <a:t>S’ →S                           </a:t>
            </a:r>
            <a:r>
              <a:rPr lang="en-US" altLang="zh-CN" sz="2000" dirty="0"/>
              <a:t>Follow(S)=Follow(I)={$, </a:t>
            </a:r>
            <a:r>
              <a:rPr lang="en-US" altLang="zh-CN" sz="2000" i="1" dirty="0"/>
              <a:t>else</a:t>
            </a:r>
            <a:r>
              <a:rPr lang="en-US" altLang="zh-CN" sz="2000" dirty="0"/>
              <a:t>}</a:t>
            </a:r>
            <a:endParaRPr lang="en-US" altLang="zh-CN" sz="2000" i="1" dirty="0"/>
          </a:p>
          <a:p>
            <a:pPr marL="0" indent="0">
              <a:buNone/>
            </a:pPr>
            <a:r>
              <a:rPr lang="en-US" altLang="zh-CN" sz="2000" i="1" dirty="0" err="1"/>
              <a:t>S→I</a:t>
            </a:r>
            <a:r>
              <a:rPr lang="en-US" altLang="zh-CN" sz="2000" i="1" dirty="0"/>
              <a:t> | other</a:t>
            </a:r>
          </a:p>
          <a:p>
            <a:pPr marL="0" indent="0">
              <a:buNone/>
            </a:pPr>
            <a:r>
              <a:rPr lang="en-US" altLang="zh-CN" sz="2000" i="1" dirty="0" err="1"/>
              <a:t>I→if</a:t>
            </a:r>
            <a:r>
              <a:rPr lang="en-US" altLang="zh-CN" sz="2000" i="1" dirty="0"/>
              <a:t> S | if S else S</a:t>
            </a:r>
            <a:endParaRPr lang="en-US" altLang="zh-CN" sz="2000" dirty="0"/>
          </a:p>
          <a:p>
            <a:pPr marL="179705" lvl="1" indent="0">
              <a:lnSpc>
                <a:spcPct val="150000"/>
              </a:lnSpc>
              <a:buNone/>
            </a:pPr>
            <a:endParaRPr lang="en-US" altLang="zh-CN" sz="2000" i="1" dirty="0"/>
          </a:p>
          <a:p>
            <a:pPr marL="465455" lvl="1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85798"/>
            <a:ext cx="7772400" cy="5389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p:sp>
        <p:nvSpPr>
          <p:cNvPr id="2" name="Rectangle 55"/>
          <p:cNvSpPr>
            <a:spLocks noChangeArrowheads="1"/>
          </p:cNvSpPr>
          <p:nvPr/>
        </p:nvSpPr>
        <p:spPr bwMode="auto">
          <a:xfrm>
            <a:off x="4295800" y="-1126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4231566" y="1988840"/>
            <a:ext cx="1588409" cy="1189860"/>
            <a:chOff x="2707565" y="1988840"/>
            <a:chExt cx="1588409" cy="1189860"/>
          </a:xfrm>
        </p:grpSpPr>
        <p:sp>
          <p:nvSpPr>
            <p:cNvPr id="5" name="AutoShape 53"/>
            <p:cNvSpPr>
              <a:spLocks noChangeArrowheads="1"/>
            </p:cNvSpPr>
            <p:nvPr/>
          </p:nvSpPr>
          <p:spPr bwMode="auto">
            <a:xfrm>
              <a:off x="2707565" y="1988840"/>
              <a:ext cx="1588409" cy="11898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6" name="Rectangle 52"/>
            <p:cNvSpPr>
              <a:spLocks noChangeArrowheads="1"/>
            </p:cNvSpPr>
            <p:nvPr/>
          </p:nvSpPr>
          <p:spPr bwMode="auto">
            <a:xfrm>
              <a:off x="2830170" y="2068164"/>
              <a:ext cx="1220596" cy="8329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7" name="Oval 51"/>
            <p:cNvSpPr>
              <a:spLocks noChangeArrowheads="1"/>
            </p:cNvSpPr>
            <p:nvPr/>
          </p:nvSpPr>
          <p:spPr bwMode="auto">
            <a:xfrm>
              <a:off x="3933610" y="2861404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8" name="Line 50"/>
          <p:cNvSpPr>
            <a:spLocks noChangeShapeType="1"/>
          </p:cNvSpPr>
          <p:nvPr/>
        </p:nvSpPr>
        <p:spPr bwMode="auto">
          <a:xfrm>
            <a:off x="4967192" y="3178700"/>
            <a:ext cx="0" cy="31729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9" name="Line 49"/>
          <p:cNvSpPr>
            <a:spLocks noChangeShapeType="1"/>
          </p:cNvSpPr>
          <p:nvPr/>
        </p:nvSpPr>
        <p:spPr bwMode="auto">
          <a:xfrm>
            <a:off x="5825425" y="2226812"/>
            <a:ext cx="735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10" name="Rectangle 48"/>
          <p:cNvSpPr>
            <a:spLocks noChangeArrowheads="1"/>
          </p:cNvSpPr>
          <p:nvPr/>
        </p:nvSpPr>
        <p:spPr bwMode="auto">
          <a:xfrm>
            <a:off x="6070633" y="1988841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561052" y="1988840"/>
            <a:ext cx="1226045" cy="475944"/>
            <a:chOff x="5037051" y="1988840"/>
            <a:chExt cx="1226045" cy="475944"/>
          </a:xfrm>
        </p:grpSpPr>
        <p:sp>
          <p:nvSpPr>
            <p:cNvPr id="11" name="AutoShape 47"/>
            <p:cNvSpPr>
              <a:spLocks noChangeArrowheads="1"/>
            </p:cNvSpPr>
            <p:nvPr/>
          </p:nvSpPr>
          <p:spPr bwMode="auto">
            <a:xfrm>
              <a:off x="5037051" y="1988840"/>
              <a:ext cx="1226045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2" name="Rectangle 46"/>
            <p:cNvSpPr>
              <a:spLocks noChangeArrowheads="1"/>
            </p:cNvSpPr>
            <p:nvPr/>
          </p:nvSpPr>
          <p:spPr bwMode="auto">
            <a:xfrm>
              <a:off x="5154206" y="2107826"/>
              <a:ext cx="735627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5895282" y="2147488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14" name="Rectangle 44"/>
          <p:cNvSpPr>
            <a:spLocks noChangeArrowheads="1"/>
          </p:cNvSpPr>
          <p:nvPr/>
        </p:nvSpPr>
        <p:spPr bwMode="auto">
          <a:xfrm>
            <a:off x="4354171" y="3258024"/>
            <a:ext cx="367813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6" name="Line 42"/>
          <p:cNvSpPr>
            <a:spLocks noChangeShapeType="1"/>
          </p:cNvSpPr>
          <p:nvPr/>
        </p:nvSpPr>
        <p:spPr bwMode="auto">
          <a:xfrm>
            <a:off x="6070633" y="4606532"/>
            <a:ext cx="1226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17" name="Arc 41"/>
          <p:cNvSpPr/>
          <p:nvPr/>
        </p:nvSpPr>
        <p:spPr bwMode="auto">
          <a:xfrm>
            <a:off x="5825425" y="4608057"/>
            <a:ext cx="534011" cy="39662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38831 w 38831"/>
              <a:gd name="T1" fmla="*/ 34625 h 43200"/>
              <a:gd name="T2" fmla="*/ 21600 w 38831"/>
              <a:gd name="T3" fmla="*/ 0 h 43200"/>
              <a:gd name="T4" fmla="*/ 21600 w 38831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1" h="43200" fill="none" extrusionOk="0">
                <a:moveTo>
                  <a:pt x="38831" y="34625"/>
                </a:moveTo>
                <a:cubicBezTo>
                  <a:pt x="34748" y="40025"/>
                  <a:pt x="283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</a:path>
              <a:path w="38831" h="43200" stroke="0" extrusionOk="0">
                <a:moveTo>
                  <a:pt x="38831" y="34625"/>
                </a:moveTo>
                <a:cubicBezTo>
                  <a:pt x="34748" y="40025"/>
                  <a:pt x="283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grpSp>
        <p:nvGrpSpPr>
          <p:cNvPr id="9219" name="组合 9218"/>
          <p:cNvGrpSpPr/>
          <p:nvPr/>
        </p:nvGrpSpPr>
        <p:grpSpPr>
          <a:xfrm>
            <a:off x="4231566" y="3495996"/>
            <a:ext cx="1348649" cy="475944"/>
            <a:chOff x="2707565" y="3495996"/>
            <a:chExt cx="1348649" cy="475944"/>
          </a:xfrm>
        </p:grpSpPr>
        <p:sp>
          <p:nvSpPr>
            <p:cNvPr id="18" name="AutoShape 40"/>
            <p:cNvSpPr>
              <a:spLocks noChangeArrowheads="1"/>
            </p:cNvSpPr>
            <p:nvPr/>
          </p:nvSpPr>
          <p:spPr bwMode="auto">
            <a:xfrm>
              <a:off x="2707565" y="3495996"/>
              <a:ext cx="1348649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>
              <a:off x="2830170" y="3575320"/>
              <a:ext cx="858231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20" name="Oval 38"/>
            <p:cNvSpPr>
              <a:spLocks noChangeArrowheads="1"/>
            </p:cNvSpPr>
            <p:nvPr/>
          </p:nvSpPr>
          <p:spPr bwMode="auto">
            <a:xfrm>
              <a:off x="3688401" y="3654644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21" name="Line 37"/>
          <p:cNvSpPr>
            <a:spLocks noChangeShapeType="1"/>
          </p:cNvSpPr>
          <p:nvPr/>
        </p:nvSpPr>
        <p:spPr bwMode="auto">
          <a:xfrm>
            <a:off x="3863753" y="2464784"/>
            <a:ext cx="3678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22" name="Line 36"/>
          <p:cNvSpPr>
            <a:spLocks noChangeShapeType="1"/>
          </p:cNvSpPr>
          <p:nvPr/>
        </p:nvSpPr>
        <p:spPr bwMode="auto">
          <a:xfrm>
            <a:off x="5825425" y="2782080"/>
            <a:ext cx="18390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6193237" y="2544109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664492" y="2623432"/>
            <a:ext cx="1226045" cy="475944"/>
            <a:chOff x="6140491" y="2623432"/>
            <a:chExt cx="1226045" cy="475944"/>
          </a:xfrm>
        </p:grpSpPr>
        <p:sp>
          <p:nvSpPr>
            <p:cNvPr id="24" name="AutoShape 34"/>
            <p:cNvSpPr>
              <a:spLocks noChangeArrowheads="1"/>
            </p:cNvSpPr>
            <p:nvPr/>
          </p:nvSpPr>
          <p:spPr bwMode="auto">
            <a:xfrm>
              <a:off x="6140491" y="2623432"/>
              <a:ext cx="1226045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6263096" y="2702756"/>
              <a:ext cx="735627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</a:t>
              </a:r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26" name="Oval 32"/>
            <p:cNvSpPr>
              <a:spLocks noChangeArrowheads="1"/>
            </p:cNvSpPr>
            <p:nvPr/>
          </p:nvSpPr>
          <p:spPr bwMode="auto">
            <a:xfrm>
              <a:off x="6998723" y="2782080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17" name="组合 9216"/>
          <p:cNvGrpSpPr/>
          <p:nvPr/>
        </p:nvGrpSpPr>
        <p:grpSpPr>
          <a:xfrm>
            <a:off x="6193237" y="3495996"/>
            <a:ext cx="1593858" cy="1427832"/>
            <a:chOff x="4669237" y="3495996"/>
            <a:chExt cx="1593858" cy="1427832"/>
          </a:xfrm>
        </p:grpSpPr>
        <p:sp>
          <p:nvSpPr>
            <p:cNvPr id="4" name="AutoShape 54"/>
            <p:cNvSpPr>
              <a:spLocks noChangeArrowheads="1"/>
            </p:cNvSpPr>
            <p:nvPr/>
          </p:nvSpPr>
          <p:spPr bwMode="auto">
            <a:xfrm>
              <a:off x="4669237" y="3495996"/>
              <a:ext cx="1593858" cy="14278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5" name="Oval 43"/>
            <p:cNvSpPr>
              <a:spLocks noChangeArrowheads="1"/>
            </p:cNvSpPr>
            <p:nvPr/>
          </p:nvSpPr>
          <p:spPr bwMode="auto">
            <a:xfrm>
              <a:off x="5895282" y="4606532"/>
              <a:ext cx="245209" cy="23797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27" name="Rectangle 31"/>
            <p:cNvSpPr>
              <a:spLocks noChangeArrowheads="1"/>
            </p:cNvSpPr>
            <p:nvPr/>
          </p:nvSpPr>
          <p:spPr bwMode="auto">
            <a:xfrm>
              <a:off x="4791842" y="3575320"/>
              <a:ext cx="1220596" cy="1031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else 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/>
            </a:p>
            <a:p>
              <a:pPr eaLnBrk="0" hangingPunct="0"/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28" name="Rectangle 30"/>
          <p:cNvSpPr>
            <a:spLocks noChangeArrowheads="1"/>
          </p:cNvSpPr>
          <p:nvPr/>
        </p:nvSpPr>
        <p:spPr bwMode="auto">
          <a:xfrm>
            <a:off x="5580215" y="4606532"/>
            <a:ext cx="122604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9" name="Line 29"/>
          <p:cNvSpPr>
            <a:spLocks noChangeShapeType="1"/>
          </p:cNvSpPr>
          <p:nvPr/>
        </p:nvSpPr>
        <p:spPr bwMode="auto">
          <a:xfrm flipH="1">
            <a:off x="5580215" y="3733968"/>
            <a:ext cx="61302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0" name="Rectangle 28"/>
          <p:cNvSpPr>
            <a:spLocks noChangeArrowheads="1"/>
          </p:cNvSpPr>
          <p:nvPr/>
        </p:nvSpPr>
        <p:spPr bwMode="auto">
          <a:xfrm>
            <a:off x="5702820" y="3495996"/>
            <a:ext cx="484969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41" name="Line 27"/>
          <p:cNvSpPr>
            <a:spLocks noChangeShapeType="1"/>
          </p:cNvSpPr>
          <p:nvPr/>
        </p:nvSpPr>
        <p:spPr bwMode="auto">
          <a:xfrm>
            <a:off x="5580216" y="3178700"/>
            <a:ext cx="735627" cy="3966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2" name="Rectangle 26"/>
          <p:cNvSpPr>
            <a:spLocks noChangeArrowheads="1"/>
          </p:cNvSpPr>
          <p:nvPr/>
        </p:nvSpPr>
        <p:spPr bwMode="auto">
          <a:xfrm>
            <a:off x="6070633" y="3099377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9216" name="组合 9215"/>
          <p:cNvGrpSpPr/>
          <p:nvPr/>
        </p:nvGrpSpPr>
        <p:grpSpPr>
          <a:xfrm>
            <a:off x="8522723" y="3495996"/>
            <a:ext cx="1593858" cy="1427832"/>
            <a:chOff x="6998723" y="3495996"/>
            <a:chExt cx="1593858" cy="1427832"/>
          </a:xfrm>
          <a:solidFill>
            <a:srgbClr val="FFFFCC"/>
          </a:solidFill>
        </p:grpSpPr>
        <p:sp>
          <p:nvSpPr>
            <p:cNvPr id="43" name="AutoShape 25"/>
            <p:cNvSpPr>
              <a:spLocks noChangeArrowheads="1"/>
            </p:cNvSpPr>
            <p:nvPr/>
          </p:nvSpPr>
          <p:spPr bwMode="auto">
            <a:xfrm>
              <a:off x="6998723" y="3495996"/>
              <a:ext cx="1593858" cy="1427832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44" name="Oval 24"/>
            <p:cNvSpPr>
              <a:spLocks noChangeArrowheads="1"/>
            </p:cNvSpPr>
            <p:nvPr/>
          </p:nvSpPr>
          <p:spPr bwMode="auto">
            <a:xfrm>
              <a:off x="8224768" y="4606532"/>
              <a:ext cx="245209" cy="237972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45" name="Rectangle 23"/>
            <p:cNvSpPr>
              <a:spLocks noChangeArrowheads="1"/>
            </p:cNvSpPr>
            <p:nvPr/>
          </p:nvSpPr>
          <p:spPr bwMode="auto">
            <a:xfrm>
              <a:off x="7121327" y="3575320"/>
              <a:ext cx="1226045" cy="7932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</a:t>
              </a:r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lang="en-US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</p:grpSp>
      <p:sp>
        <p:nvSpPr>
          <p:cNvPr id="46" name="Line 22"/>
          <p:cNvSpPr>
            <a:spLocks noChangeShapeType="1"/>
          </p:cNvSpPr>
          <p:nvPr/>
        </p:nvSpPr>
        <p:spPr bwMode="auto">
          <a:xfrm flipH="1">
            <a:off x="7787097" y="4209912"/>
            <a:ext cx="735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7" name="Rectangle 21"/>
          <p:cNvSpPr>
            <a:spLocks noChangeArrowheads="1"/>
          </p:cNvSpPr>
          <p:nvPr/>
        </p:nvSpPr>
        <p:spPr bwMode="auto">
          <a:xfrm>
            <a:off x="8032305" y="3971941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48" name="Line 20"/>
          <p:cNvSpPr>
            <a:spLocks noChangeShapeType="1"/>
          </p:cNvSpPr>
          <p:nvPr/>
        </p:nvSpPr>
        <p:spPr bwMode="auto">
          <a:xfrm flipH="1" flipV="1">
            <a:off x="8890536" y="2940728"/>
            <a:ext cx="490418" cy="555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 flipV="1">
            <a:off x="6928865" y="2940728"/>
            <a:ext cx="735627" cy="555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50" name="Rectangle 18"/>
          <p:cNvSpPr>
            <a:spLocks noChangeArrowheads="1"/>
          </p:cNvSpPr>
          <p:nvPr/>
        </p:nvSpPr>
        <p:spPr bwMode="auto">
          <a:xfrm>
            <a:off x="7051469" y="3099377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1" name="Rectangle 17"/>
          <p:cNvSpPr>
            <a:spLocks noChangeArrowheads="1"/>
          </p:cNvSpPr>
          <p:nvPr/>
        </p:nvSpPr>
        <p:spPr bwMode="auto">
          <a:xfrm>
            <a:off x="9258350" y="3020053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9221" name="组合 9220"/>
          <p:cNvGrpSpPr/>
          <p:nvPr/>
        </p:nvGrpSpPr>
        <p:grpSpPr>
          <a:xfrm>
            <a:off x="8522723" y="6169113"/>
            <a:ext cx="1593858" cy="475944"/>
            <a:chOff x="6998723" y="6169113"/>
            <a:chExt cx="1593858" cy="475944"/>
          </a:xfrm>
        </p:grpSpPr>
        <p:sp>
          <p:nvSpPr>
            <p:cNvPr id="52" name="AutoShape 16"/>
            <p:cNvSpPr>
              <a:spLocks noChangeArrowheads="1"/>
            </p:cNvSpPr>
            <p:nvPr/>
          </p:nvSpPr>
          <p:spPr bwMode="auto">
            <a:xfrm>
              <a:off x="6998723" y="6169113"/>
              <a:ext cx="1593858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53" name="Rectangle 15"/>
            <p:cNvSpPr>
              <a:spLocks noChangeArrowheads="1"/>
            </p:cNvSpPr>
            <p:nvPr/>
          </p:nvSpPr>
          <p:spPr bwMode="auto">
            <a:xfrm>
              <a:off x="7093401" y="6336914"/>
              <a:ext cx="1103440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54" name="Oval 14"/>
            <p:cNvSpPr>
              <a:spLocks noChangeArrowheads="1"/>
            </p:cNvSpPr>
            <p:nvPr/>
          </p:nvSpPr>
          <p:spPr bwMode="auto">
            <a:xfrm>
              <a:off x="8224768" y="6339965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55" name="Line 13"/>
          <p:cNvSpPr>
            <a:spLocks noChangeShapeType="1"/>
          </p:cNvSpPr>
          <p:nvPr/>
        </p:nvSpPr>
        <p:spPr bwMode="auto">
          <a:xfrm>
            <a:off x="9626163" y="4923828"/>
            <a:ext cx="7492" cy="126257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9748768" y="5875716"/>
            <a:ext cx="122604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9220" name="组合 9219"/>
          <p:cNvGrpSpPr/>
          <p:nvPr/>
        </p:nvGrpSpPr>
        <p:grpSpPr>
          <a:xfrm>
            <a:off x="6193237" y="5399772"/>
            <a:ext cx="1593858" cy="713916"/>
            <a:chOff x="4669237" y="5399772"/>
            <a:chExt cx="1593858" cy="713916"/>
          </a:xfrm>
        </p:grpSpPr>
        <p:sp>
          <p:nvSpPr>
            <p:cNvPr id="57" name="AutoShape 11"/>
            <p:cNvSpPr>
              <a:spLocks noChangeArrowheads="1"/>
            </p:cNvSpPr>
            <p:nvPr/>
          </p:nvSpPr>
          <p:spPr bwMode="auto">
            <a:xfrm>
              <a:off x="4669237" y="5399772"/>
              <a:ext cx="1593858" cy="71391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4791842" y="5479096"/>
              <a:ext cx="1103440" cy="317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else S</a:t>
              </a:r>
              <a:endParaRPr lang="en-US" altLang="zh-CN" sz="1400"/>
            </a:p>
            <a:p>
              <a:pPr eaLnBrk="0" hangingPunct="0"/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59" name="Oval 9"/>
            <p:cNvSpPr>
              <a:spLocks noChangeArrowheads="1"/>
            </p:cNvSpPr>
            <p:nvPr/>
          </p:nvSpPr>
          <p:spPr bwMode="auto">
            <a:xfrm>
              <a:off x="5895282" y="5796392"/>
              <a:ext cx="245209" cy="237972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</p:grpSp>
      <p:sp>
        <p:nvSpPr>
          <p:cNvPr id="60" name="Line 8"/>
          <p:cNvSpPr>
            <a:spLocks noChangeShapeType="1"/>
          </p:cNvSpPr>
          <p:nvPr/>
        </p:nvSpPr>
        <p:spPr bwMode="auto">
          <a:xfrm flipH="1">
            <a:off x="7051469" y="4923828"/>
            <a:ext cx="0" cy="4759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61" name="Rectangle 7"/>
          <p:cNvSpPr>
            <a:spLocks noChangeArrowheads="1"/>
          </p:cNvSpPr>
          <p:nvPr/>
        </p:nvSpPr>
        <p:spPr bwMode="auto">
          <a:xfrm>
            <a:off x="6806260" y="5082476"/>
            <a:ext cx="122604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62" name="Line 6"/>
          <p:cNvSpPr>
            <a:spLocks noChangeShapeType="1"/>
          </p:cNvSpPr>
          <p:nvPr/>
        </p:nvSpPr>
        <p:spPr bwMode="auto">
          <a:xfrm flipV="1">
            <a:off x="7664492" y="4765180"/>
            <a:ext cx="858231" cy="63459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auto">
          <a:xfrm>
            <a:off x="8176460" y="5091204"/>
            <a:ext cx="367813" cy="21000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89" name="Arc 4"/>
          <p:cNvSpPr/>
          <p:nvPr/>
        </p:nvSpPr>
        <p:spPr bwMode="auto">
          <a:xfrm rot="16200000">
            <a:off x="5710918" y="3158330"/>
            <a:ext cx="2567352" cy="4297287"/>
          </a:xfrm>
          <a:custGeom>
            <a:avLst/>
            <a:gdLst>
              <a:gd name="G0" fmla="+- 21600 0 0"/>
              <a:gd name="G1" fmla="+- 21598 0 0"/>
              <a:gd name="G2" fmla="+- 21600 0 0"/>
              <a:gd name="T0" fmla="*/ 14019 w 21600"/>
              <a:gd name="T1" fmla="*/ 41824 h 41824"/>
              <a:gd name="T2" fmla="*/ 21305 w 21600"/>
              <a:gd name="T3" fmla="*/ 0 h 41824"/>
              <a:gd name="T4" fmla="*/ 21600 w 21600"/>
              <a:gd name="T5" fmla="*/ 21598 h 41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824" fill="none" extrusionOk="0">
                <a:moveTo>
                  <a:pt x="14019" y="41823"/>
                </a:moveTo>
                <a:cubicBezTo>
                  <a:pt x="5586" y="38663"/>
                  <a:pt x="0" y="30603"/>
                  <a:pt x="0" y="21598"/>
                </a:cubicBezTo>
                <a:cubicBezTo>
                  <a:pt x="-1" y="9783"/>
                  <a:pt x="9491" y="161"/>
                  <a:pt x="21305" y="0"/>
                </a:cubicBezTo>
              </a:path>
              <a:path w="21600" h="41824" stroke="0" extrusionOk="0">
                <a:moveTo>
                  <a:pt x="14019" y="41823"/>
                </a:moveTo>
                <a:cubicBezTo>
                  <a:pt x="5586" y="38663"/>
                  <a:pt x="0" y="30603"/>
                  <a:pt x="0" y="21598"/>
                </a:cubicBezTo>
                <a:cubicBezTo>
                  <a:pt x="-1" y="9783"/>
                  <a:pt x="9491" y="161"/>
                  <a:pt x="21305" y="0"/>
                </a:cubicBezTo>
                <a:lnTo>
                  <a:pt x="21600" y="21598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91" name="Rectangle 2"/>
          <p:cNvSpPr>
            <a:spLocks noChangeArrowheads="1"/>
          </p:cNvSpPr>
          <p:nvPr/>
        </p:nvSpPr>
        <p:spPr bwMode="auto">
          <a:xfrm>
            <a:off x="8945878" y="5507063"/>
            <a:ext cx="462491" cy="2613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48" grpId="0" animBg="1"/>
      <p:bldP spid="51" grpId="0" animBg="1"/>
      <p:bldP spid="55" grpId="0" animBg="1"/>
      <p:bldP spid="56" grpId="0" animBg="1"/>
      <p:bldP spid="89" grpId="0" animBg="1"/>
      <p:bldP spid="9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1775520" y="1196752"/>
            <a:ext cx="8640961" cy="5544616"/>
          </a:xfrm>
          <a:solidFill>
            <a:schemeClr val="bg1"/>
          </a:solidFill>
          <a:ln w="28575">
            <a:solidFill>
              <a:srgbClr val="9999FF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zh-CN" sz="2000" i="1" dirty="0"/>
              <a:t>S’ →S                           </a:t>
            </a:r>
            <a:r>
              <a:rPr lang="en-US" altLang="zh-CN" sz="2000" dirty="0">
                <a:solidFill>
                  <a:srgbClr val="FF0000"/>
                </a:solidFill>
              </a:rPr>
              <a:t>Follow(S)=Follow(I)={$, </a:t>
            </a:r>
            <a:r>
              <a:rPr lang="en-US" altLang="zh-CN" sz="2000" i="1" dirty="0">
                <a:solidFill>
                  <a:srgbClr val="FF0000"/>
                </a:solidFill>
              </a:rPr>
              <a:t>else</a:t>
            </a:r>
            <a:r>
              <a:rPr lang="en-US" altLang="zh-CN" sz="2000" dirty="0">
                <a:solidFill>
                  <a:srgbClr val="FF0000"/>
                </a:solidFill>
              </a:rPr>
              <a:t>}</a:t>
            </a:r>
            <a:endParaRPr lang="en-US" altLang="zh-CN" sz="2000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sz="2000" i="1" dirty="0" err="1"/>
              <a:t>S→I</a:t>
            </a:r>
            <a:r>
              <a:rPr lang="en-US" altLang="zh-CN" sz="2000" i="1" dirty="0"/>
              <a:t> | other</a:t>
            </a:r>
          </a:p>
          <a:p>
            <a:pPr marL="0" indent="0">
              <a:buNone/>
            </a:pPr>
            <a:r>
              <a:rPr lang="en-US" altLang="zh-CN" sz="2000" i="1" dirty="0" err="1"/>
              <a:t>I→if</a:t>
            </a:r>
            <a:r>
              <a:rPr lang="en-US" altLang="zh-CN" sz="2000" i="1" dirty="0"/>
              <a:t> S | if S else S</a:t>
            </a:r>
            <a:endParaRPr lang="en-US" altLang="zh-CN" sz="2000" dirty="0"/>
          </a:p>
          <a:p>
            <a:pPr marL="179705" lvl="1" indent="0">
              <a:lnSpc>
                <a:spcPct val="150000"/>
              </a:lnSpc>
              <a:buNone/>
            </a:pPr>
            <a:endParaRPr lang="en-US" altLang="zh-CN" sz="2000" i="1" dirty="0"/>
          </a:p>
          <a:p>
            <a:pPr marL="465455" lvl="1">
              <a:lnSpc>
                <a:spcPct val="150000"/>
              </a:lnSpc>
              <a:buNone/>
            </a:pPr>
            <a:r>
              <a:rPr lang="en-US" altLang="zh-CN" sz="2000" dirty="0"/>
              <a:t>	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585798"/>
            <a:ext cx="7772400" cy="5389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示例</a:t>
            </a:r>
          </a:p>
        </p:txBody>
      </p:sp>
      <p:sp>
        <p:nvSpPr>
          <p:cNvPr id="2" name="Rectangle 55"/>
          <p:cNvSpPr>
            <a:spLocks noChangeArrowheads="1"/>
          </p:cNvSpPr>
          <p:nvPr/>
        </p:nvSpPr>
        <p:spPr bwMode="auto">
          <a:xfrm>
            <a:off x="4295800" y="-1126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4231566" y="1988840"/>
            <a:ext cx="1588409" cy="1189860"/>
            <a:chOff x="2707565" y="1988840"/>
            <a:chExt cx="1588409" cy="1189860"/>
          </a:xfrm>
        </p:grpSpPr>
        <p:sp>
          <p:nvSpPr>
            <p:cNvPr id="5" name="AutoShape 53"/>
            <p:cNvSpPr>
              <a:spLocks noChangeArrowheads="1"/>
            </p:cNvSpPr>
            <p:nvPr/>
          </p:nvSpPr>
          <p:spPr bwMode="auto">
            <a:xfrm>
              <a:off x="2707565" y="1988840"/>
              <a:ext cx="1588409" cy="11898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6" name="Rectangle 52"/>
            <p:cNvSpPr>
              <a:spLocks noChangeArrowheads="1"/>
            </p:cNvSpPr>
            <p:nvPr/>
          </p:nvSpPr>
          <p:spPr bwMode="auto">
            <a:xfrm>
              <a:off x="2830170" y="2068164"/>
              <a:ext cx="1220596" cy="83290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→·S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7" name="Oval 51"/>
            <p:cNvSpPr>
              <a:spLocks noChangeArrowheads="1"/>
            </p:cNvSpPr>
            <p:nvPr/>
          </p:nvSpPr>
          <p:spPr bwMode="auto">
            <a:xfrm>
              <a:off x="3933610" y="2861404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8" name="Line 50"/>
          <p:cNvSpPr>
            <a:spLocks noChangeShapeType="1"/>
          </p:cNvSpPr>
          <p:nvPr/>
        </p:nvSpPr>
        <p:spPr bwMode="auto">
          <a:xfrm>
            <a:off x="4967192" y="3178700"/>
            <a:ext cx="0" cy="31729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9" name="Line 49"/>
          <p:cNvSpPr>
            <a:spLocks noChangeShapeType="1"/>
          </p:cNvSpPr>
          <p:nvPr/>
        </p:nvSpPr>
        <p:spPr bwMode="auto">
          <a:xfrm>
            <a:off x="5825425" y="2226812"/>
            <a:ext cx="735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10" name="Rectangle 48"/>
          <p:cNvSpPr>
            <a:spLocks noChangeArrowheads="1"/>
          </p:cNvSpPr>
          <p:nvPr/>
        </p:nvSpPr>
        <p:spPr bwMode="auto">
          <a:xfrm>
            <a:off x="6070633" y="1988841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561052" y="1988840"/>
            <a:ext cx="1226045" cy="475944"/>
            <a:chOff x="5037051" y="1988840"/>
            <a:chExt cx="1226045" cy="475944"/>
          </a:xfrm>
        </p:grpSpPr>
        <p:sp>
          <p:nvSpPr>
            <p:cNvPr id="11" name="AutoShape 47"/>
            <p:cNvSpPr>
              <a:spLocks noChangeArrowheads="1"/>
            </p:cNvSpPr>
            <p:nvPr/>
          </p:nvSpPr>
          <p:spPr bwMode="auto">
            <a:xfrm>
              <a:off x="5037051" y="1988840"/>
              <a:ext cx="1226045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2" name="Rectangle 46"/>
            <p:cNvSpPr>
              <a:spLocks noChangeArrowheads="1"/>
            </p:cNvSpPr>
            <p:nvPr/>
          </p:nvSpPr>
          <p:spPr bwMode="auto">
            <a:xfrm>
              <a:off x="5154206" y="2107826"/>
              <a:ext cx="735627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S’ →S·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13" name="Oval 45"/>
            <p:cNvSpPr>
              <a:spLocks noChangeArrowheads="1"/>
            </p:cNvSpPr>
            <p:nvPr/>
          </p:nvSpPr>
          <p:spPr bwMode="auto">
            <a:xfrm>
              <a:off x="5895282" y="2147488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14" name="Rectangle 44"/>
          <p:cNvSpPr>
            <a:spLocks noChangeArrowheads="1"/>
          </p:cNvSpPr>
          <p:nvPr/>
        </p:nvSpPr>
        <p:spPr bwMode="auto">
          <a:xfrm>
            <a:off x="4354171" y="3258024"/>
            <a:ext cx="367813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6" name="Line 42"/>
          <p:cNvSpPr>
            <a:spLocks noChangeShapeType="1"/>
          </p:cNvSpPr>
          <p:nvPr/>
        </p:nvSpPr>
        <p:spPr bwMode="auto">
          <a:xfrm>
            <a:off x="6070633" y="4606532"/>
            <a:ext cx="12260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17" name="Arc 41"/>
          <p:cNvSpPr/>
          <p:nvPr/>
        </p:nvSpPr>
        <p:spPr bwMode="auto">
          <a:xfrm>
            <a:off x="5825425" y="4608057"/>
            <a:ext cx="534011" cy="39662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38831 w 38831"/>
              <a:gd name="T1" fmla="*/ 34625 h 43200"/>
              <a:gd name="T2" fmla="*/ 21600 w 38831"/>
              <a:gd name="T3" fmla="*/ 0 h 43200"/>
              <a:gd name="T4" fmla="*/ 21600 w 38831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1" h="43200" fill="none" extrusionOk="0">
                <a:moveTo>
                  <a:pt x="38831" y="34625"/>
                </a:moveTo>
                <a:cubicBezTo>
                  <a:pt x="34748" y="40025"/>
                  <a:pt x="283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</a:path>
              <a:path w="38831" h="43200" stroke="0" extrusionOk="0">
                <a:moveTo>
                  <a:pt x="38831" y="34625"/>
                </a:moveTo>
                <a:cubicBezTo>
                  <a:pt x="34748" y="40025"/>
                  <a:pt x="2837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9670"/>
                  <a:pt x="9670" y="0"/>
                  <a:pt x="21599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grpSp>
        <p:nvGrpSpPr>
          <p:cNvPr id="9219" name="组合 9218"/>
          <p:cNvGrpSpPr/>
          <p:nvPr/>
        </p:nvGrpSpPr>
        <p:grpSpPr>
          <a:xfrm>
            <a:off x="4231566" y="3495996"/>
            <a:ext cx="1348649" cy="475944"/>
            <a:chOff x="2707565" y="3495996"/>
            <a:chExt cx="1348649" cy="475944"/>
          </a:xfrm>
        </p:grpSpPr>
        <p:sp>
          <p:nvSpPr>
            <p:cNvPr id="18" name="AutoShape 40"/>
            <p:cNvSpPr>
              <a:spLocks noChangeArrowheads="1"/>
            </p:cNvSpPr>
            <p:nvPr/>
          </p:nvSpPr>
          <p:spPr bwMode="auto">
            <a:xfrm>
              <a:off x="2707565" y="3495996"/>
              <a:ext cx="1348649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>
              <a:off x="2830170" y="3575320"/>
              <a:ext cx="858231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20" name="Oval 38"/>
            <p:cNvSpPr>
              <a:spLocks noChangeArrowheads="1"/>
            </p:cNvSpPr>
            <p:nvPr/>
          </p:nvSpPr>
          <p:spPr bwMode="auto">
            <a:xfrm>
              <a:off x="3688401" y="3654644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21" name="Line 37"/>
          <p:cNvSpPr>
            <a:spLocks noChangeShapeType="1"/>
          </p:cNvSpPr>
          <p:nvPr/>
        </p:nvSpPr>
        <p:spPr bwMode="auto">
          <a:xfrm>
            <a:off x="3863753" y="2464784"/>
            <a:ext cx="3678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22" name="Line 36"/>
          <p:cNvSpPr>
            <a:spLocks noChangeShapeType="1"/>
          </p:cNvSpPr>
          <p:nvPr/>
        </p:nvSpPr>
        <p:spPr bwMode="auto">
          <a:xfrm>
            <a:off x="5825425" y="2782080"/>
            <a:ext cx="18390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6193237" y="2544109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664492" y="2623432"/>
            <a:ext cx="1226045" cy="475944"/>
            <a:chOff x="6140491" y="2623432"/>
            <a:chExt cx="1226045" cy="475944"/>
          </a:xfrm>
        </p:grpSpPr>
        <p:sp>
          <p:nvSpPr>
            <p:cNvPr id="24" name="AutoShape 34"/>
            <p:cNvSpPr>
              <a:spLocks noChangeArrowheads="1"/>
            </p:cNvSpPr>
            <p:nvPr/>
          </p:nvSpPr>
          <p:spPr bwMode="auto">
            <a:xfrm>
              <a:off x="6140491" y="2623432"/>
              <a:ext cx="1226045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6263096" y="2702756"/>
              <a:ext cx="735627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</a:t>
              </a:r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26" name="Oval 32"/>
            <p:cNvSpPr>
              <a:spLocks noChangeArrowheads="1"/>
            </p:cNvSpPr>
            <p:nvPr/>
          </p:nvSpPr>
          <p:spPr bwMode="auto">
            <a:xfrm>
              <a:off x="6998723" y="2782080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9217" name="组合 9216"/>
          <p:cNvGrpSpPr/>
          <p:nvPr/>
        </p:nvGrpSpPr>
        <p:grpSpPr>
          <a:xfrm>
            <a:off x="6193237" y="3495996"/>
            <a:ext cx="1593858" cy="1427832"/>
            <a:chOff x="4669237" y="3495996"/>
            <a:chExt cx="1593858" cy="1427832"/>
          </a:xfrm>
        </p:grpSpPr>
        <p:sp>
          <p:nvSpPr>
            <p:cNvPr id="4" name="AutoShape 54"/>
            <p:cNvSpPr>
              <a:spLocks noChangeArrowheads="1"/>
            </p:cNvSpPr>
            <p:nvPr/>
          </p:nvSpPr>
          <p:spPr bwMode="auto">
            <a:xfrm>
              <a:off x="4669237" y="3495996"/>
              <a:ext cx="1593858" cy="142783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15" name="Oval 43"/>
            <p:cNvSpPr>
              <a:spLocks noChangeArrowheads="1"/>
            </p:cNvSpPr>
            <p:nvPr/>
          </p:nvSpPr>
          <p:spPr bwMode="auto">
            <a:xfrm>
              <a:off x="5895282" y="4606532"/>
              <a:ext cx="245209" cy="23797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27" name="Rectangle 31"/>
            <p:cNvSpPr>
              <a:spLocks noChangeArrowheads="1"/>
            </p:cNvSpPr>
            <p:nvPr/>
          </p:nvSpPr>
          <p:spPr bwMode="auto">
            <a:xfrm>
              <a:off x="4791842" y="3575320"/>
              <a:ext cx="1220596" cy="1031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</a:t>
              </a:r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 else 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/>
            </a:p>
            <a:p>
              <a:pPr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/>
            </a:p>
            <a:p>
              <a:pPr eaLnBrk="0" hangingPunct="0"/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28" name="Rectangle 30"/>
          <p:cNvSpPr>
            <a:spLocks noChangeArrowheads="1"/>
          </p:cNvSpPr>
          <p:nvPr/>
        </p:nvSpPr>
        <p:spPr bwMode="auto">
          <a:xfrm>
            <a:off x="5580215" y="4606532"/>
            <a:ext cx="122604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9" name="Line 29"/>
          <p:cNvSpPr>
            <a:spLocks noChangeShapeType="1"/>
          </p:cNvSpPr>
          <p:nvPr/>
        </p:nvSpPr>
        <p:spPr bwMode="auto">
          <a:xfrm flipH="1">
            <a:off x="5580215" y="3733968"/>
            <a:ext cx="61302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0" name="Rectangle 28"/>
          <p:cNvSpPr>
            <a:spLocks noChangeArrowheads="1"/>
          </p:cNvSpPr>
          <p:nvPr/>
        </p:nvSpPr>
        <p:spPr bwMode="auto">
          <a:xfrm>
            <a:off x="5702820" y="3495996"/>
            <a:ext cx="484969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41" name="Line 27"/>
          <p:cNvSpPr>
            <a:spLocks noChangeShapeType="1"/>
          </p:cNvSpPr>
          <p:nvPr/>
        </p:nvSpPr>
        <p:spPr bwMode="auto">
          <a:xfrm>
            <a:off x="5580216" y="3178700"/>
            <a:ext cx="735627" cy="39662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2" name="Rectangle 26"/>
          <p:cNvSpPr>
            <a:spLocks noChangeArrowheads="1"/>
          </p:cNvSpPr>
          <p:nvPr/>
        </p:nvSpPr>
        <p:spPr bwMode="auto">
          <a:xfrm>
            <a:off x="6070633" y="3099377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9216" name="组合 9215"/>
          <p:cNvGrpSpPr/>
          <p:nvPr/>
        </p:nvGrpSpPr>
        <p:grpSpPr>
          <a:xfrm>
            <a:off x="8522723" y="3495996"/>
            <a:ext cx="1593858" cy="1427832"/>
            <a:chOff x="6998723" y="3495996"/>
            <a:chExt cx="1593858" cy="1427832"/>
          </a:xfrm>
          <a:noFill/>
        </p:grpSpPr>
        <p:sp>
          <p:nvSpPr>
            <p:cNvPr id="43" name="AutoShape 25"/>
            <p:cNvSpPr>
              <a:spLocks noChangeArrowheads="1"/>
            </p:cNvSpPr>
            <p:nvPr/>
          </p:nvSpPr>
          <p:spPr bwMode="auto">
            <a:xfrm>
              <a:off x="6998723" y="3495996"/>
              <a:ext cx="1593858" cy="1427832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44" name="Oval 24"/>
            <p:cNvSpPr>
              <a:spLocks noChangeArrowheads="1"/>
            </p:cNvSpPr>
            <p:nvPr/>
          </p:nvSpPr>
          <p:spPr bwMode="auto">
            <a:xfrm>
              <a:off x="8224768" y="4606532"/>
              <a:ext cx="245209" cy="237972"/>
            </a:xfrm>
            <a:prstGeom prst="ellipse">
              <a:avLst/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45" name="Rectangle 23"/>
            <p:cNvSpPr>
              <a:spLocks noChangeArrowheads="1"/>
            </p:cNvSpPr>
            <p:nvPr/>
          </p:nvSpPr>
          <p:spPr bwMode="auto">
            <a:xfrm>
              <a:off x="7121327" y="3575320"/>
              <a:ext cx="1226045" cy="79324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</a:t>
              </a:r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lang="en-US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→·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</p:grpSp>
      <p:sp>
        <p:nvSpPr>
          <p:cNvPr id="46" name="Line 22"/>
          <p:cNvSpPr>
            <a:spLocks noChangeShapeType="1"/>
          </p:cNvSpPr>
          <p:nvPr/>
        </p:nvSpPr>
        <p:spPr bwMode="auto">
          <a:xfrm flipH="1">
            <a:off x="7787097" y="4209912"/>
            <a:ext cx="73562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7" name="Rectangle 21"/>
          <p:cNvSpPr>
            <a:spLocks noChangeArrowheads="1"/>
          </p:cNvSpPr>
          <p:nvPr/>
        </p:nvSpPr>
        <p:spPr bwMode="auto">
          <a:xfrm>
            <a:off x="8032305" y="3971941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48" name="Line 20"/>
          <p:cNvSpPr>
            <a:spLocks noChangeShapeType="1"/>
          </p:cNvSpPr>
          <p:nvPr/>
        </p:nvSpPr>
        <p:spPr bwMode="auto">
          <a:xfrm flipH="1" flipV="1">
            <a:off x="8890536" y="2940728"/>
            <a:ext cx="490418" cy="555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49" name="Line 19"/>
          <p:cNvSpPr>
            <a:spLocks noChangeShapeType="1"/>
          </p:cNvSpPr>
          <p:nvPr/>
        </p:nvSpPr>
        <p:spPr bwMode="auto">
          <a:xfrm flipV="1">
            <a:off x="6928865" y="2940728"/>
            <a:ext cx="735627" cy="5552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50" name="Rectangle 18"/>
          <p:cNvSpPr>
            <a:spLocks noChangeArrowheads="1"/>
          </p:cNvSpPr>
          <p:nvPr/>
        </p:nvSpPr>
        <p:spPr bwMode="auto">
          <a:xfrm>
            <a:off x="7051469" y="3099377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51" name="Rectangle 17"/>
          <p:cNvSpPr>
            <a:spLocks noChangeArrowheads="1"/>
          </p:cNvSpPr>
          <p:nvPr/>
        </p:nvSpPr>
        <p:spPr bwMode="auto">
          <a:xfrm>
            <a:off x="9258350" y="3020053"/>
            <a:ext cx="122604" cy="16017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9221" name="组合 9220"/>
          <p:cNvGrpSpPr/>
          <p:nvPr/>
        </p:nvGrpSpPr>
        <p:grpSpPr>
          <a:xfrm>
            <a:off x="8522723" y="6169113"/>
            <a:ext cx="1593858" cy="475944"/>
            <a:chOff x="6998723" y="6169113"/>
            <a:chExt cx="1593858" cy="475944"/>
          </a:xfrm>
        </p:grpSpPr>
        <p:sp>
          <p:nvSpPr>
            <p:cNvPr id="52" name="AutoShape 16"/>
            <p:cNvSpPr>
              <a:spLocks noChangeArrowheads="1"/>
            </p:cNvSpPr>
            <p:nvPr/>
          </p:nvSpPr>
          <p:spPr bwMode="auto">
            <a:xfrm>
              <a:off x="6998723" y="6169113"/>
              <a:ext cx="1593858" cy="47594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53" name="Rectangle 15"/>
            <p:cNvSpPr>
              <a:spLocks noChangeArrowheads="1"/>
            </p:cNvSpPr>
            <p:nvPr/>
          </p:nvSpPr>
          <p:spPr bwMode="auto">
            <a:xfrm>
              <a:off x="7093401" y="6336914"/>
              <a:ext cx="1103440" cy="1586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 else S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54" name="Oval 14"/>
            <p:cNvSpPr>
              <a:spLocks noChangeArrowheads="1"/>
            </p:cNvSpPr>
            <p:nvPr/>
          </p:nvSpPr>
          <p:spPr bwMode="auto">
            <a:xfrm>
              <a:off x="8224768" y="6339965"/>
              <a:ext cx="245209" cy="2379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sp>
        <p:nvSpPr>
          <p:cNvPr id="55" name="Line 13"/>
          <p:cNvSpPr>
            <a:spLocks noChangeShapeType="1"/>
          </p:cNvSpPr>
          <p:nvPr/>
        </p:nvSpPr>
        <p:spPr bwMode="auto">
          <a:xfrm>
            <a:off x="9626163" y="4923828"/>
            <a:ext cx="7492" cy="126257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56" name="Rectangle 12"/>
          <p:cNvSpPr>
            <a:spLocks noChangeArrowheads="1"/>
          </p:cNvSpPr>
          <p:nvPr/>
        </p:nvSpPr>
        <p:spPr bwMode="auto">
          <a:xfrm>
            <a:off x="9748768" y="5875716"/>
            <a:ext cx="122604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9220" name="组合 9219"/>
          <p:cNvGrpSpPr/>
          <p:nvPr/>
        </p:nvGrpSpPr>
        <p:grpSpPr>
          <a:xfrm>
            <a:off x="6193237" y="5399772"/>
            <a:ext cx="1593858" cy="713916"/>
            <a:chOff x="4669237" y="5399772"/>
            <a:chExt cx="1593858" cy="713916"/>
          </a:xfrm>
          <a:solidFill>
            <a:srgbClr val="FFFFCC"/>
          </a:solidFill>
        </p:grpSpPr>
        <p:sp>
          <p:nvSpPr>
            <p:cNvPr id="57" name="AutoShape 11"/>
            <p:cNvSpPr>
              <a:spLocks noChangeArrowheads="1"/>
            </p:cNvSpPr>
            <p:nvPr/>
          </p:nvSpPr>
          <p:spPr bwMode="auto">
            <a:xfrm>
              <a:off x="4669237" y="5399772"/>
              <a:ext cx="1593858" cy="713916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400"/>
            </a:p>
          </p:txBody>
        </p:sp>
        <p:sp>
          <p:nvSpPr>
            <p:cNvPr id="58" name="Rectangle 10"/>
            <p:cNvSpPr>
              <a:spLocks noChangeArrowheads="1"/>
            </p:cNvSpPr>
            <p:nvPr/>
          </p:nvSpPr>
          <p:spPr bwMode="auto">
            <a:xfrm>
              <a:off x="4791842" y="5479096"/>
              <a:ext cx="1103440" cy="31729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vert="horz" wrap="square" lIns="0" tIns="0" rIns="0" bIns="0" numCol="1" anchor="t" anchorCtr="0" compatLnSpc="1"/>
            <a:lstStyle/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S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endParaRPr lang="en-US" altLang="zh-CN" sz="1400" dirty="0"/>
            </a:p>
            <a:p>
              <a:pPr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→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</a:t>
              </a:r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·</a:t>
              </a:r>
              <a:r>
                <a:rPr lang="en-US" altLang="zh-CN" sz="1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else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</a:t>
              </a:r>
              <a:endParaRPr lang="en-US" altLang="zh-CN" sz="1400" dirty="0"/>
            </a:p>
            <a:p>
              <a:pPr eaLnBrk="0" hangingPunct="0"/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59" name="Oval 9"/>
            <p:cNvSpPr>
              <a:spLocks noChangeArrowheads="1"/>
            </p:cNvSpPr>
            <p:nvPr/>
          </p:nvSpPr>
          <p:spPr bwMode="auto">
            <a:xfrm>
              <a:off x="5895282" y="5796392"/>
              <a:ext cx="245209" cy="237972"/>
            </a:xfrm>
            <a:prstGeom prst="ellipse">
              <a:avLst/>
            </a:prstGeom>
            <a:solidFill>
              <a:srgbClr val="FFC000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0" tIns="0" rIns="0" bIns="0" numCol="1" anchor="t" anchorCtr="0" compatLnSpc="1"/>
            <a:lstStyle/>
            <a:p>
              <a:pPr algn="ctr" eaLnBrk="0" hangingPunct="0"/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</p:grpSp>
      <p:sp>
        <p:nvSpPr>
          <p:cNvPr id="60" name="Line 8"/>
          <p:cNvSpPr>
            <a:spLocks noChangeShapeType="1"/>
          </p:cNvSpPr>
          <p:nvPr/>
        </p:nvSpPr>
        <p:spPr bwMode="auto">
          <a:xfrm flipH="1">
            <a:off x="7051469" y="4923828"/>
            <a:ext cx="0" cy="4759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61" name="Rectangle 7"/>
          <p:cNvSpPr>
            <a:spLocks noChangeArrowheads="1"/>
          </p:cNvSpPr>
          <p:nvPr/>
        </p:nvSpPr>
        <p:spPr bwMode="auto">
          <a:xfrm>
            <a:off x="6806260" y="5082476"/>
            <a:ext cx="122604" cy="1586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en-US" altLang="zh-CN" sz="1400"/>
          </a:p>
          <a:p>
            <a:pPr eaLnBrk="0" hangingPunct="0"/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62" name="Line 6"/>
          <p:cNvSpPr>
            <a:spLocks noChangeShapeType="1"/>
          </p:cNvSpPr>
          <p:nvPr/>
        </p:nvSpPr>
        <p:spPr bwMode="auto">
          <a:xfrm flipV="1">
            <a:off x="7664492" y="4765180"/>
            <a:ext cx="858231" cy="63459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63" name="Rectangle 5"/>
          <p:cNvSpPr>
            <a:spLocks noChangeArrowheads="1"/>
          </p:cNvSpPr>
          <p:nvPr/>
        </p:nvSpPr>
        <p:spPr bwMode="auto">
          <a:xfrm>
            <a:off x="8176460" y="5091204"/>
            <a:ext cx="367813" cy="21000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89" name="Arc 4"/>
          <p:cNvSpPr/>
          <p:nvPr/>
        </p:nvSpPr>
        <p:spPr bwMode="auto">
          <a:xfrm rot="16200000">
            <a:off x="5710918" y="3158330"/>
            <a:ext cx="2567352" cy="4297287"/>
          </a:xfrm>
          <a:custGeom>
            <a:avLst/>
            <a:gdLst>
              <a:gd name="G0" fmla="+- 21600 0 0"/>
              <a:gd name="G1" fmla="+- 21598 0 0"/>
              <a:gd name="G2" fmla="+- 21600 0 0"/>
              <a:gd name="T0" fmla="*/ 14019 w 21600"/>
              <a:gd name="T1" fmla="*/ 41824 h 41824"/>
              <a:gd name="T2" fmla="*/ 21305 w 21600"/>
              <a:gd name="T3" fmla="*/ 0 h 41824"/>
              <a:gd name="T4" fmla="*/ 21600 w 21600"/>
              <a:gd name="T5" fmla="*/ 21598 h 41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824" fill="none" extrusionOk="0">
                <a:moveTo>
                  <a:pt x="14019" y="41823"/>
                </a:moveTo>
                <a:cubicBezTo>
                  <a:pt x="5586" y="38663"/>
                  <a:pt x="0" y="30603"/>
                  <a:pt x="0" y="21598"/>
                </a:cubicBezTo>
                <a:cubicBezTo>
                  <a:pt x="-1" y="9783"/>
                  <a:pt x="9491" y="161"/>
                  <a:pt x="21305" y="0"/>
                </a:cubicBezTo>
              </a:path>
              <a:path w="21600" h="41824" stroke="0" extrusionOk="0">
                <a:moveTo>
                  <a:pt x="14019" y="41823"/>
                </a:moveTo>
                <a:cubicBezTo>
                  <a:pt x="5586" y="38663"/>
                  <a:pt x="0" y="30603"/>
                  <a:pt x="0" y="21598"/>
                </a:cubicBezTo>
                <a:cubicBezTo>
                  <a:pt x="-1" y="9783"/>
                  <a:pt x="9491" y="161"/>
                  <a:pt x="21305" y="0"/>
                </a:cubicBezTo>
                <a:lnTo>
                  <a:pt x="21600" y="21598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tailEnd type="triangl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sz="1400"/>
          </a:p>
        </p:txBody>
      </p:sp>
      <p:sp>
        <p:nvSpPr>
          <p:cNvPr id="91" name="Rectangle 2"/>
          <p:cNvSpPr>
            <a:spLocks noChangeArrowheads="1"/>
          </p:cNvSpPr>
          <p:nvPr/>
        </p:nvSpPr>
        <p:spPr bwMode="auto">
          <a:xfrm>
            <a:off x="8945878" y="5507063"/>
            <a:ext cx="462491" cy="26136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0" tIns="0" rIns="0" bIns="0" numCol="1" anchor="t" anchorCtr="0" compatLnSpc="1"/>
          <a:lstStyle/>
          <a:p>
            <a:pPr eaLnBrk="0" hangingPunct="0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endParaRPr lang="en-US" altLang="zh-CN" sz="1400" dirty="0"/>
          </a:p>
          <a:p>
            <a:pPr eaLnBrk="0" hangingPunct="0"/>
            <a:endParaRPr lang="en-US" altLang="zh-CN" sz="1400" dirty="0">
              <a:latin typeface="Arial" panose="020B0604020202020204" pitchFamily="34" charset="0"/>
            </a:endParaRPr>
          </a:p>
        </p:txBody>
      </p:sp>
      <p:sp>
        <p:nvSpPr>
          <p:cNvPr id="3" name="思想气泡: 云 2"/>
          <p:cNvSpPr/>
          <p:nvPr/>
        </p:nvSpPr>
        <p:spPr bwMode="auto">
          <a:xfrm>
            <a:off x="2279577" y="4923829"/>
            <a:ext cx="2348579" cy="1025449"/>
          </a:xfrm>
          <a:prstGeom prst="cloudCallout">
            <a:avLst>
              <a:gd name="adj1" fmla="val 118821"/>
              <a:gd name="adj2" fmla="val 25263"/>
            </a:avLst>
          </a:prstGeom>
          <a:solidFill>
            <a:srgbClr val="CC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b="1" dirty="0">
                <a:ea typeface="黑体" panose="02010609060101010101" pitchFamily="2" charset="-122"/>
              </a:rPr>
              <a:t>状态</a:t>
            </a:r>
            <a:r>
              <a:rPr lang="en-US" altLang="zh-CN" b="1" dirty="0">
                <a:ea typeface="黑体" panose="02010609060101010101" pitchFamily="2" charset="-122"/>
              </a:rPr>
              <a:t>5</a:t>
            </a:r>
            <a:r>
              <a:rPr lang="zh-CN" altLang="en-US" b="1" dirty="0">
                <a:ea typeface="黑体" panose="02010609060101010101" pitchFamily="2" charset="-122"/>
              </a:rPr>
              <a:t>存在移进</a:t>
            </a:r>
            <a:r>
              <a:rPr lang="en-US" altLang="zh-CN" b="1" dirty="0">
                <a:ea typeface="黑体" panose="02010609060101010101" pitchFamily="2" charset="-122"/>
              </a:rPr>
              <a:t>-</a:t>
            </a:r>
            <a:r>
              <a:rPr lang="zh-CN" altLang="en-US" b="1" dirty="0">
                <a:ea typeface="黑体" panose="02010609060101010101" pitchFamily="2" charset="-122"/>
              </a:rPr>
              <a:t>规约冲突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/>
              <p:cNvSpPr/>
              <p:nvPr/>
            </p:nvSpPr>
            <p:spPr>
              <a:xfrm>
                <a:off x="1919537" y="3464788"/>
                <a:ext cx="2163924" cy="100854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 wrap="square">
                <a:spAutoFit/>
              </a:bodyPr>
              <a:lstStyle/>
              <a:p>
                <a:pPr marL="0" lvl="1"/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𝑒𝑙𝑠𝑒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𝑓𝑜𝑙𝑙𝑜𝑤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r>
                  <a:rPr lang="zh-CN" altLang="en-US" sz="2000" b="1" dirty="0">
                    <a:latin typeface="+mn-ea"/>
                    <a:ea typeface="+mn-ea"/>
                  </a:rPr>
                  <a:t>所以该冲突不可以解决。</a:t>
                </a:r>
                <a:endParaRPr lang="en-US" altLang="zh-CN" sz="2000" b="1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6" name="矩形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7" y="3464788"/>
                <a:ext cx="2163924" cy="1008546"/>
              </a:xfrm>
              <a:prstGeom prst="rect">
                <a:avLst/>
              </a:prstGeom>
              <a:blipFill rotWithShape="1">
                <a:blip r:embed="rId2"/>
                <a:stretch>
                  <a:fillRect l="-672" t="-1471" r="-656" b="-1409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综合练习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为下面文法构造</a:t>
                </a:r>
                <a:r>
                  <a:rPr lang="en-US" altLang="zh-CN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SLR(1)</a:t>
                </a:r>
                <a:r>
                  <a:rPr lang="zh-CN" altLang="en-US" dirty="0"/>
                  <a:t>分析表，并</a:t>
                </a:r>
                <a:r>
                  <a:rPr lang="zh-CN" altLang="en-US" dirty="0">
                    <a:latin typeface="+mn-ea"/>
                  </a:rPr>
                  <a:t>给出串</a:t>
                </a:r>
                <a:r>
                  <a:rPr lang="en-US" altLang="zh-CN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acbb</a:t>
                </a:r>
                <a:r>
                  <a:rPr lang="zh-CN" altLang="en-US" dirty="0">
                    <a:latin typeface="+mn-ea"/>
                  </a:rPr>
                  <a:t>的分析过程。</a:t>
                </a:r>
                <a:endParaRPr lang="en-US" altLang="zh-CN" dirty="0">
                  <a:latin typeface="+mn-ea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𝒂𝒄</m:t>
                    </m:r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>
                  <a:latin typeface="+mn-ea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" t="-284" r="-127" b="-272"/>
                </a:stretch>
              </a:blipFill>
              <a:ln w="28575">
                <a:solidFill>
                  <a:srgbClr val="9999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主题4">
  <a:themeElements>
    <a:clrScheme name="">
      <a:dk1>
        <a:srgbClr val="000000"/>
      </a:dk1>
      <a:lt1>
        <a:srgbClr val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FFFFFF"/>
      </a:accent3>
      <a:accent4>
        <a:srgbClr val="000000"/>
      </a:accent4>
      <a:accent5>
        <a:srgbClr val="D8AFB9"/>
      </a:accent5>
      <a:accent6>
        <a:srgbClr val="9B5CA9"/>
      </a:accent6>
      <a:hlink>
        <a:srgbClr val="FFDE66"/>
      </a:hlink>
      <a:folHlink>
        <a:srgbClr val="D490C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2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3 1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4EA693"/>
        </a:accent1>
        <a:accent2>
          <a:srgbClr val="ABA755"/>
        </a:accent2>
        <a:accent3>
          <a:srgbClr val="FFFFFF"/>
        </a:accent3>
        <a:accent4>
          <a:srgbClr val="174578"/>
        </a:accent4>
        <a:accent5>
          <a:srgbClr val="B2D0C8"/>
        </a:accent5>
        <a:accent6>
          <a:srgbClr val="9B974C"/>
        </a:accent6>
        <a:hlink>
          <a:srgbClr val="3981B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2">
        <a:dk1>
          <a:srgbClr val="124B98"/>
        </a:dk1>
        <a:lt1>
          <a:srgbClr val="FFFFFF"/>
        </a:lt1>
        <a:dk2>
          <a:srgbClr val="000000"/>
        </a:dk2>
        <a:lt2>
          <a:srgbClr val="DDDDDD"/>
        </a:lt2>
        <a:accent1>
          <a:srgbClr val="4976D1"/>
        </a:accent1>
        <a:accent2>
          <a:srgbClr val="4CB494"/>
        </a:accent2>
        <a:accent3>
          <a:srgbClr val="FFFFFF"/>
        </a:accent3>
        <a:accent4>
          <a:srgbClr val="0E3F81"/>
        </a:accent4>
        <a:accent5>
          <a:srgbClr val="B1BDE5"/>
        </a:accent5>
        <a:accent6>
          <a:srgbClr val="44A386"/>
        </a:accent6>
        <a:hlink>
          <a:srgbClr val="0099CC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3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5B1B1"/>
        </a:accent1>
        <a:accent2>
          <a:srgbClr val="5BACE9"/>
        </a:accent2>
        <a:accent3>
          <a:srgbClr val="FFFFFF"/>
        </a:accent3>
        <a:accent4>
          <a:srgbClr val="174578"/>
        </a:accent4>
        <a:accent5>
          <a:srgbClr val="ACD5D5"/>
        </a:accent5>
        <a:accent6>
          <a:srgbClr val="529BD3"/>
        </a:accent6>
        <a:hlink>
          <a:srgbClr val="6E71F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主题4</Template>
  <TotalTime>106</TotalTime>
  <Words>8825</Words>
  <Application>Microsoft Office PowerPoint</Application>
  <PresentationFormat>宽屏</PresentationFormat>
  <Paragraphs>2515</Paragraphs>
  <Slides>84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92" baseType="lpstr">
      <vt:lpstr>黑体</vt:lpstr>
      <vt:lpstr>宋体</vt:lpstr>
      <vt:lpstr>Arial</vt:lpstr>
      <vt:lpstr>Cambria Math</vt:lpstr>
      <vt:lpstr>Times New Roman</vt:lpstr>
      <vt:lpstr>Verdana</vt:lpstr>
      <vt:lpstr>Wingdings</vt:lpstr>
      <vt:lpstr>主题4</vt:lpstr>
      <vt:lpstr>第五章 自底向上的分析</vt:lpstr>
      <vt:lpstr>自底向上的分析方法</vt:lpstr>
      <vt:lpstr>自底向上的分析方法</vt:lpstr>
      <vt:lpstr>自底向上的分析方法</vt:lpstr>
      <vt:lpstr>回忆LL(1)分析过程</vt:lpstr>
      <vt:lpstr>自下而上分析示例</vt:lpstr>
      <vt:lpstr>示例</vt:lpstr>
      <vt:lpstr>规范归约</vt:lpstr>
      <vt:lpstr>示例</vt:lpstr>
      <vt:lpstr>几个概念</vt:lpstr>
      <vt:lpstr>示例</vt:lpstr>
      <vt:lpstr>示例</vt:lpstr>
      <vt:lpstr>示例</vt:lpstr>
      <vt:lpstr>示例</vt:lpstr>
      <vt:lpstr>LR(0)项</vt:lpstr>
      <vt:lpstr>示例</vt:lpstr>
      <vt:lpstr>示例</vt:lpstr>
      <vt:lpstr>LR(0)项分类</vt:lpstr>
      <vt:lpstr>LR(0)项的有限自动机</vt:lpstr>
      <vt:lpstr>LR(0)项的有限自动机</vt:lpstr>
      <vt:lpstr>LR(0)项的有限自动机</vt:lpstr>
      <vt:lpstr>LR(0)项的有限自动机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NFA确定化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示例</vt:lpstr>
      <vt:lpstr>练习</vt:lpstr>
      <vt:lpstr>LR(0)分析算法</vt:lpstr>
      <vt:lpstr>LR(0)分析算法</vt:lpstr>
      <vt:lpstr>LR(0)分析算法</vt:lpstr>
      <vt:lpstr>LR(0)分析算法</vt:lpstr>
      <vt:lpstr>示例</vt:lpstr>
      <vt:lpstr>示例</vt:lpstr>
      <vt:lpstr>LR(0)分析表</vt:lpstr>
      <vt:lpstr>示例</vt:lpstr>
      <vt:lpstr>练习</vt:lpstr>
      <vt:lpstr>PowerPoint 演示文稿</vt:lpstr>
      <vt:lpstr>PowerPoint 演示文稿</vt:lpstr>
      <vt:lpstr>练习</vt:lpstr>
      <vt:lpstr>SLR(1)分析算法</vt:lpstr>
      <vt:lpstr>SLR(1)分析算法</vt:lpstr>
      <vt:lpstr>SLR(1)分析算法</vt:lpstr>
      <vt:lpstr>示例</vt:lpstr>
      <vt:lpstr>示例</vt:lpstr>
      <vt:lpstr>PowerPoint 演示文稿</vt:lpstr>
      <vt:lpstr>示例</vt:lpstr>
      <vt:lpstr>PowerPoint 演示文稿</vt:lpstr>
      <vt:lpstr>PowerPoint 演示文稿</vt:lpstr>
      <vt:lpstr>练习</vt:lpstr>
      <vt:lpstr>PowerPoint 演示文稿</vt:lpstr>
      <vt:lpstr>SLR(1)分析算法</vt:lpstr>
      <vt:lpstr>示例</vt:lpstr>
      <vt:lpstr>示例</vt:lpstr>
      <vt:lpstr>示例</vt:lpstr>
      <vt:lpstr>示例</vt:lpstr>
      <vt:lpstr>示例</vt:lpstr>
      <vt:lpstr>综合练习</vt:lpstr>
    </vt:vector>
  </TitlesOfParts>
  <Company>csit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wt</dc:creator>
  <cp:lastModifiedBy>Teresa L</cp:lastModifiedBy>
  <cp:revision>581</cp:revision>
  <dcterms:created xsi:type="dcterms:W3CDTF">1999-05-10T08:46:00Z</dcterms:created>
  <dcterms:modified xsi:type="dcterms:W3CDTF">2026-07-01T08:32:39Z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F4491361CFEA4EBD93DECEDCBCFBAA09</vt:lpwstr>
  </property>
  <property fmtid="{D5CDD505-2E9C-101B-9397-08002B2CF9AE}" pid="3" name="KSOProductBuildVer">
    <vt:lpwstr>2052-11.8.2.12094</vt:lpwstr>
  </property>
</Properties>
</file>