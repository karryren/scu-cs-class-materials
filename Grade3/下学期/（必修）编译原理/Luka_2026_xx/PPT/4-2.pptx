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48"/>
  </p:notesMasterIdLst>
  <p:handoutMasterIdLst>
    <p:handoutMasterId r:id="rId49"/>
  </p:handoutMasterIdLst>
  <p:sldIdLst>
    <p:sldId id="393" r:id="rId2"/>
    <p:sldId id="257" r:id="rId3"/>
    <p:sldId id="409" r:id="rId4"/>
    <p:sldId id="394" r:id="rId5"/>
    <p:sldId id="396" r:id="rId6"/>
    <p:sldId id="411" r:id="rId7"/>
    <p:sldId id="415" r:id="rId8"/>
    <p:sldId id="447" r:id="rId9"/>
    <p:sldId id="454" r:id="rId10"/>
    <p:sldId id="416" r:id="rId11"/>
    <p:sldId id="417" r:id="rId12"/>
    <p:sldId id="418" r:id="rId13"/>
    <p:sldId id="420" r:id="rId14"/>
    <p:sldId id="421" r:id="rId15"/>
    <p:sldId id="422" r:id="rId16"/>
    <p:sldId id="444" r:id="rId17"/>
    <p:sldId id="445" r:id="rId18"/>
    <p:sldId id="451" r:id="rId19"/>
    <p:sldId id="412" r:id="rId20"/>
    <p:sldId id="446" r:id="rId21"/>
    <p:sldId id="452" r:id="rId22"/>
    <p:sldId id="423" r:id="rId23"/>
    <p:sldId id="424" r:id="rId24"/>
    <p:sldId id="453" r:id="rId25"/>
    <p:sldId id="425" r:id="rId26"/>
    <p:sldId id="426" r:id="rId27"/>
    <p:sldId id="428" r:id="rId28"/>
    <p:sldId id="427" r:id="rId29"/>
    <p:sldId id="429" r:id="rId30"/>
    <p:sldId id="430" r:id="rId31"/>
    <p:sldId id="448" r:id="rId32"/>
    <p:sldId id="431" r:id="rId33"/>
    <p:sldId id="432" r:id="rId34"/>
    <p:sldId id="433" r:id="rId35"/>
    <p:sldId id="434" r:id="rId36"/>
    <p:sldId id="449" r:id="rId37"/>
    <p:sldId id="435" r:id="rId38"/>
    <p:sldId id="436" r:id="rId39"/>
    <p:sldId id="438" r:id="rId40"/>
    <p:sldId id="437" r:id="rId41"/>
    <p:sldId id="439" r:id="rId42"/>
    <p:sldId id="440" r:id="rId43"/>
    <p:sldId id="441" r:id="rId44"/>
    <p:sldId id="442" r:id="rId45"/>
    <p:sldId id="443" r:id="rId46"/>
    <p:sldId id="450" r:id="rId4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99FF"/>
    <a:srgbClr val="CCCCFF"/>
    <a:srgbClr val="FFFFCC"/>
    <a:srgbClr val="FFCC99"/>
    <a:srgbClr val="FFFF99"/>
    <a:srgbClr val="3366CC"/>
    <a:srgbClr val="339933"/>
    <a:srgbClr val="3217BB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 autoAdjust="0"/>
    <p:restoredTop sz="95468" autoAdjust="0"/>
  </p:normalViewPr>
  <p:slideViewPr>
    <p:cSldViewPr>
      <p:cViewPr varScale="1">
        <p:scale>
          <a:sx n="82" d="100"/>
          <a:sy n="82" d="100"/>
        </p:scale>
        <p:origin x="816" y="90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-141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85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5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>
              <a:spLocks/>
            </p:cNvSpPr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>
              <a:spLocks/>
            </p:cNvSpPr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>
            <a:spLocks/>
          </p:cNvSpPr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>
            <a:spLocks/>
          </p:cNvSpPr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2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第四章 自顶向下的分析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LL(1)</a:t>
            </a:r>
            <a:r>
              <a:rPr lang="zh-CN" altLang="en-US" dirty="0"/>
              <a:t>分析方法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LL(1)</a:t>
            </a:r>
            <a:r>
              <a:rPr lang="zh-CN" altLang="en-US" dirty="0">
                <a:solidFill>
                  <a:srgbClr val="FF0000"/>
                </a:solidFill>
              </a:rPr>
              <a:t>分析</a:t>
            </a:r>
            <a:r>
              <a:rPr lang="zh-CN" altLang="en-US" dirty="0"/>
              <a:t>是一种典型的</a:t>
            </a:r>
            <a:r>
              <a:rPr lang="zh-CN" altLang="en-US" dirty="0">
                <a:solidFill>
                  <a:srgbClr val="FF0000"/>
                </a:solidFill>
              </a:rPr>
              <a:t>自顶向下</a:t>
            </a:r>
            <a:r>
              <a:rPr lang="zh-CN" altLang="en-US" dirty="0"/>
              <a:t>分析算法。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第一个</a:t>
            </a:r>
            <a:r>
              <a:rPr lang="en-US" altLang="zh-CN" dirty="0"/>
              <a:t>L</a:t>
            </a:r>
            <a:r>
              <a:rPr lang="zh-CN" altLang="en-US" dirty="0"/>
              <a:t>意味着从左至右的处理输入记号串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第二个</a:t>
            </a:r>
            <a:r>
              <a:rPr lang="en-US" altLang="zh-CN" dirty="0"/>
              <a:t>L</a:t>
            </a:r>
            <a:r>
              <a:rPr lang="zh-CN" altLang="en-US" dirty="0"/>
              <a:t>意味着分析过程对应着最左推导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表示预测的时候只需要根据</a:t>
            </a:r>
            <a:r>
              <a:rPr lang="en-US" altLang="zh-CN" dirty="0"/>
              <a:t>1</a:t>
            </a:r>
            <a:r>
              <a:rPr lang="zh-CN" altLang="en-US" dirty="0"/>
              <a:t>个输入记号进行预测。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LL(1)</a:t>
            </a:r>
            <a:r>
              <a:rPr lang="zh-CN" altLang="en-US" dirty="0"/>
              <a:t>分析方法使用</a:t>
            </a:r>
            <a:r>
              <a:rPr lang="zh-CN" altLang="en-US" dirty="0">
                <a:solidFill>
                  <a:srgbClr val="FF0000"/>
                </a:solidFill>
              </a:rPr>
              <a:t>显式栈</a:t>
            </a:r>
            <a:r>
              <a:rPr lang="zh-CN" altLang="en-US" dirty="0"/>
              <a:t>而不是递归来辅助分析。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LL(1)</a:t>
            </a:r>
            <a:r>
              <a:rPr lang="zh-CN" altLang="en-US" dirty="0"/>
              <a:t>分析示例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以文法</a:t>
            </a:r>
            <a:r>
              <a:rPr lang="en-US" altLang="zh-CN" dirty="0"/>
              <a:t>G(S): S→(S) </a:t>
            </a:r>
            <a:r>
              <a:rPr lang="en-US" altLang="zh-CN" dirty="0" err="1"/>
              <a:t>S∣ε</a:t>
            </a:r>
            <a:r>
              <a:rPr lang="zh-CN" altLang="en-US" dirty="0"/>
              <a:t>为例，下面给出串</a:t>
            </a:r>
            <a:r>
              <a:rPr lang="en-US" altLang="zh-CN" dirty="0"/>
              <a:t>()</a:t>
            </a:r>
            <a:r>
              <a:rPr lang="zh-CN" altLang="en-US" dirty="0"/>
              <a:t>的分析过程。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p:graphicFrame>
        <p:nvGraphicFramePr>
          <p:cNvPr id="4" name="Group 183">
            <a:extLst>
              <a:ext uri="{FF2B5EF4-FFF2-40B4-BE49-F238E27FC236}">
                <a16:creationId xmlns:a16="http://schemas.microsoft.com/office/drawing/2014/main" id="{DDC1BA8B-EDDB-4CA5-988A-36A57A7063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819165"/>
              </p:ext>
            </p:extLst>
          </p:nvPr>
        </p:nvGraphicFramePr>
        <p:xfrm>
          <a:off x="2279575" y="2225616"/>
          <a:ext cx="7776865" cy="4091177"/>
        </p:xfrm>
        <a:graphic>
          <a:graphicData uri="http://schemas.openxmlformats.org/drawingml/2006/table">
            <a:tbl>
              <a:tblPr/>
              <a:tblGrid>
                <a:gridCol w="101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6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0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58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(S) 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0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S)S(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0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0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58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0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A2A050-CE72-4D85-8288-62AF689D5B09}"/>
              </a:ext>
            </a:extLst>
          </p:cNvPr>
          <p:cNvSpPr/>
          <p:nvPr/>
        </p:nvSpPr>
        <p:spPr bwMode="auto">
          <a:xfrm>
            <a:off x="3359696" y="2852936"/>
            <a:ext cx="72008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7A4920-FB70-4F2B-B8B1-5180BC19DAB8}"/>
              </a:ext>
            </a:extLst>
          </p:cNvPr>
          <p:cNvSpPr/>
          <p:nvPr/>
        </p:nvSpPr>
        <p:spPr bwMode="auto">
          <a:xfrm>
            <a:off x="5663952" y="2852936"/>
            <a:ext cx="72008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83F35E-59DA-4CB5-B138-6592F443740C}"/>
              </a:ext>
            </a:extLst>
          </p:cNvPr>
          <p:cNvSpPr/>
          <p:nvPr/>
        </p:nvSpPr>
        <p:spPr bwMode="auto">
          <a:xfrm>
            <a:off x="8006188" y="2867423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17F97D0-1EC8-4BBC-BD51-4C004B3E9CFC}"/>
              </a:ext>
            </a:extLst>
          </p:cNvPr>
          <p:cNvSpPr/>
          <p:nvPr/>
        </p:nvSpPr>
        <p:spPr bwMode="auto">
          <a:xfrm>
            <a:off x="3359696" y="3421585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AC6D19-C3D9-4DC2-8D24-28F41EE9C150}"/>
              </a:ext>
            </a:extLst>
          </p:cNvPr>
          <p:cNvSpPr/>
          <p:nvPr/>
        </p:nvSpPr>
        <p:spPr bwMode="auto">
          <a:xfrm>
            <a:off x="5663952" y="3429000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0427E5-C6FE-4278-8FA2-FEE0FC32A907}"/>
              </a:ext>
            </a:extLst>
          </p:cNvPr>
          <p:cNvSpPr/>
          <p:nvPr/>
        </p:nvSpPr>
        <p:spPr bwMode="auto">
          <a:xfrm>
            <a:off x="8006188" y="3509231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B8C5DF-E7A7-4653-B3F0-6ACF817570A6}"/>
              </a:ext>
            </a:extLst>
          </p:cNvPr>
          <p:cNvSpPr/>
          <p:nvPr/>
        </p:nvSpPr>
        <p:spPr bwMode="auto">
          <a:xfrm>
            <a:off x="3359696" y="3990234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C8D09E7-86B5-445E-8EBF-E0241D63FB8A}"/>
              </a:ext>
            </a:extLst>
          </p:cNvPr>
          <p:cNvSpPr/>
          <p:nvPr/>
        </p:nvSpPr>
        <p:spPr bwMode="auto">
          <a:xfrm>
            <a:off x="5663952" y="4014971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B9421A-EB6C-4C7C-BCED-C16101EC5DDF}"/>
              </a:ext>
            </a:extLst>
          </p:cNvPr>
          <p:cNvSpPr/>
          <p:nvPr/>
        </p:nvSpPr>
        <p:spPr bwMode="auto">
          <a:xfrm>
            <a:off x="8006188" y="4055179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A1ACC05-AE5D-4C4B-89F7-8C35967033EB}"/>
              </a:ext>
            </a:extLst>
          </p:cNvPr>
          <p:cNvSpPr/>
          <p:nvPr/>
        </p:nvSpPr>
        <p:spPr bwMode="auto">
          <a:xfrm>
            <a:off x="3359696" y="4617555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5E9EA3-0ACB-4636-80D7-12AC654CB292}"/>
              </a:ext>
            </a:extLst>
          </p:cNvPr>
          <p:cNvSpPr/>
          <p:nvPr/>
        </p:nvSpPr>
        <p:spPr bwMode="auto">
          <a:xfrm>
            <a:off x="5663952" y="4637515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29A7C59-020C-41D1-B04B-41ACB27A7825}"/>
              </a:ext>
            </a:extLst>
          </p:cNvPr>
          <p:cNvSpPr/>
          <p:nvPr/>
        </p:nvSpPr>
        <p:spPr bwMode="auto">
          <a:xfrm>
            <a:off x="8006188" y="4601394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639C90A-8CE6-478C-A09C-48FA643B14EF}"/>
              </a:ext>
            </a:extLst>
          </p:cNvPr>
          <p:cNvSpPr/>
          <p:nvPr/>
        </p:nvSpPr>
        <p:spPr bwMode="auto">
          <a:xfrm>
            <a:off x="3359696" y="5250006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4B439A5-7BFA-421B-9C1B-2E6D04873D75}"/>
              </a:ext>
            </a:extLst>
          </p:cNvPr>
          <p:cNvSpPr/>
          <p:nvPr/>
        </p:nvSpPr>
        <p:spPr bwMode="auto">
          <a:xfrm>
            <a:off x="5663952" y="5229716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F20E20B-2AC8-4822-ADB6-D545F21E1FE8}"/>
              </a:ext>
            </a:extLst>
          </p:cNvPr>
          <p:cNvSpPr/>
          <p:nvPr/>
        </p:nvSpPr>
        <p:spPr bwMode="auto">
          <a:xfrm>
            <a:off x="8006188" y="5204425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F9482FF-5B78-4510-A3EC-E9CCF134EAD6}"/>
              </a:ext>
            </a:extLst>
          </p:cNvPr>
          <p:cNvSpPr/>
          <p:nvPr/>
        </p:nvSpPr>
        <p:spPr bwMode="auto">
          <a:xfrm>
            <a:off x="3359696" y="5799304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1BD6761-DC37-490A-A049-9111765C0B26}"/>
              </a:ext>
            </a:extLst>
          </p:cNvPr>
          <p:cNvSpPr/>
          <p:nvPr/>
        </p:nvSpPr>
        <p:spPr bwMode="auto">
          <a:xfrm>
            <a:off x="5663952" y="5773254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3981DE4-FA73-4974-8DAA-EBA1FBA58E54}"/>
              </a:ext>
            </a:extLst>
          </p:cNvPr>
          <p:cNvSpPr/>
          <p:nvPr/>
        </p:nvSpPr>
        <p:spPr bwMode="auto">
          <a:xfrm>
            <a:off x="8006188" y="5803766"/>
            <a:ext cx="1421170" cy="4320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90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282008" y="1412776"/>
                <a:ext cx="7646640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对</a:t>
                </a:r>
                <a:r>
                  <a:rPr lang="en-US" altLang="zh-CN" sz="2400" dirty="0"/>
                  <a:t>LL(1)</a:t>
                </a:r>
                <a:r>
                  <a:rPr lang="zh-CN" altLang="en-US" sz="2400" dirty="0"/>
                  <a:t>分析来说，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初始化栈应该为空</a:t>
                </a:r>
                <a:r>
                  <a:rPr lang="zh-CN" altLang="en-US" sz="2400" dirty="0"/>
                  <a:t>，栈里面的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$</a:t>
                </a:r>
                <a:r>
                  <a:rPr lang="zh-CN" altLang="en-US" sz="2400" dirty="0"/>
                  <a:t>表示栈底，输入串中的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$</a:t>
                </a:r>
                <a:r>
                  <a:rPr lang="zh-CN" altLang="en-US" sz="2400" dirty="0"/>
                  <a:t>表示串结束。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可以执行的动作有两个：生成和匹配。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生成</a:t>
                </a:r>
                <a:r>
                  <a:rPr lang="zh-CN" altLang="en-US" sz="2400" dirty="0"/>
                  <a:t>：将栈顶非终结符</a:t>
                </a:r>
                <a:r>
                  <a:rPr lang="en-US" altLang="zh-CN" sz="2400" dirty="0"/>
                  <a:t>A</a:t>
                </a:r>
                <a:r>
                  <a:rPr lang="zh-CN" altLang="en-US" sz="2400" dirty="0"/>
                  <a:t>用产生式</a:t>
                </a:r>
                <a:r>
                  <a:rPr lang="en-US" altLang="zh-CN" sz="2400" dirty="0"/>
                  <a:t>A-&gt;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400" dirty="0"/>
                  <a:t>替换成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400" dirty="0"/>
                  <a:t>，需要注意的是</a:t>
                </a:r>
                <a:r>
                  <a:rPr lang="en-US" altLang="zh-CN" sz="2400" dirty="0"/>
                  <a:t>A</a:t>
                </a:r>
                <a:r>
                  <a:rPr lang="zh-CN" altLang="en-US" sz="2400" dirty="0"/>
                  <a:t>出栈后，候选串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颠倒入栈</a:t>
                </a:r>
                <a:r>
                  <a:rPr lang="zh-CN" altLang="en-US" sz="2400" dirty="0"/>
                  <a:t>的。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匹配</a:t>
                </a:r>
                <a:r>
                  <a:rPr lang="zh-CN" altLang="en-US" sz="2400" dirty="0"/>
                  <a:t>：将栈顶的记号和输入的记号进行匹配。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如果分析进行到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输入只剩下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$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的时候栈里面也为空，那么这个串是该文法可以接受的串</a:t>
                </a:r>
                <a:r>
                  <a:rPr lang="zh-CN" altLang="en-US" sz="2400" dirty="0"/>
                  <a:t>，否则出错，该串不可识别。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2008" y="1412776"/>
                <a:ext cx="7646640" cy="5137150"/>
              </a:xfrm>
              <a:blipFill>
                <a:blip r:embed="rId2"/>
                <a:stretch>
                  <a:fillRect l="-873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183">
            <a:extLst>
              <a:ext uri="{FF2B5EF4-FFF2-40B4-BE49-F238E27FC236}">
                <a16:creationId xmlns:a16="http://schemas.microsoft.com/office/drawing/2014/main" id="{3BB1C338-1D19-48E4-83AE-AA16F29401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1570020"/>
              </p:ext>
            </p:extLst>
          </p:nvPr>
        </p:nvGraphicFramePr>
        <p:xfrm>
          <a:off x="248617" y="2132856"/>
          <a:ext cx="3888433" cy="3175823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3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5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(S) S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3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S)S(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3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5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33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09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分析过程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1C2D2A-B219-4F81-9706-8124B91C2C8F}"/>
              </a:ext>
            </a:extLst>
          </p:cNvPr>
          <p:cNvSpPr/>
          <p:nvPr/>
        </p:nvSpPr>
        <p:spPr>
          <a:xfrm>
            <a:off x="6551568" y="1844824"/>
            <a:ext cx="5377079" cy="453681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可以观察到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分析过程用到的产生式的顺序正好对应着串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()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的最左分析过程</a:t>
            </a:r>
            <a:r>
              <a:rPr lang="zh-CN" altLang="en-US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，这是自顶而下的分析方法的特点。</a:t>
            </a:r>
            <a:endParaRPr lang="en-US" altLang="zh-CN" sz="28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 =&gt; (S)S    [S→(S) S]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=&gt; ( )S      [</a:t>
            </a:r>
            <a:r>
              <a:rPr lang="en-US" altLang="zh-CN" sz="2800" b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S→ε</a:t>
            </a:r>
            <a:r>
              <a:rPr lang="en-US" altLang="zh-CN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=&gt; ( )        [</a:t>
            </a:r>
            <a:r>
              <a:rPr lang="en-US" altLang="zh-CN" sz="2800" b="1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S→ε</a:t>
            </a:r>
            <a:r>
              <a:rPr lang="en-US" altLang="zh-CN" sz="28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10" name="Group 183">
            <a:extLst>
              <a:ext uri="{FF2B5EF4-FFF2-40B4-BE49-F238E27FC236}">
                <a16:creationId xmlns:a16="http://schemas.microsoft.com/office/drawing/2014/main" id="{13DFC53C-B6E2-4270-92ED-BDFDA4CB3B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4965932"/>
              </p:ext>
            </p:extLst>
          </p:nvPr>
        </p:nvGraphicFramePr>
        <p:xfrm>
          <a:off x="407368" y="2132856"/>
          <a:ext cx="5859264" cy="4104454"/>
        </p:xfrm>
        <a:graphic>
          <a:graphicData uri="http://schemas.openxmlformats.org/drawingml/2006/table">
            <a:tbl>
              <a:tblPr/>
              <a:tblGrid>
                <a:gridCol w="1081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718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S→(S) 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$S)S(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21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39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在分析过程中，匹配动作相对简单，只要</a:t>
            </a:r>
            <a:r>
              <a:rPr lang="zh-CN" altLang="en-US" dirty="0">
                <a:solidFill>
                  <a:srgbClr val="FF0000"/>
                </a:solidFill>
              </a:rPr>
              <a:t>栈顶符号和输入串最左侧记号相同就可以进行匹配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当</a:t>
            </a:r>
            <a:r>
              <a:rPr lang="zh-CN" altLang="en-US" dirty="0">
                <a:solidFill>
                  <a:srgbClr val="FF0000"/>
                </a:solidFill>
              </a:rPr>
              <a:t>栈顶符号为非终结符时需要采用生成动作</a:t>
            </a:r>
            <a:r>
              <a:rPr lang="zh-CN" altLang="en-US" dirty="0"/>
              <a:t>，但当同一个非终结符含有多个产生式时怎么选择呢？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比如文法：</a:t>
            </a:r>
            <a:r>
              <a:rPr lang="en-US" altLang="zh-CN" dirty="0"/>
              <a:t>A-&gt;B|C     B-&gt;*    C-&gt;+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这就需要建立</a:t>
            </a:r>
            <a:r>
              <a:rPr lang="en-US" altLang="zh-CN" dirty="0">
                <a:solidFill>
                  <a:srgbClr val="FF0000"/>
                </a:solidFill>
              </a:rPr>
              <a:t>LL(1)</a:t>
            </a:r>
            <a:r>
              <a:rPr lang="zh-CN" altLang="en-US" dirty="0">
                <a:solidFill>
                  <a:srgbClr val="FF0000"/>
                </a:solidFill>
              </a:rPr>
              <a:t>分析表</a:t>
            </a:r>
            <a:r>
              <a:rPr lang="zh-CN" altLang="en-US" dirty="0"/>
              <a:t>，表中根据</a:t>
            </a:r>
            <a:r>
              <a:rPr lang="zh-CN" altLang="en-US" dirty="0">
                <a:solidFill>
                  <a:srgbClr val="FF0000"/>
                </a:solidFill>
              </a:rPr>
              <a:t>当前栈顶非终结符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输入串最左侧记号</a:t>
            </a:r>
            <a:r>
              <a:rPr lang="zh-CN" altLang="en-US" dirty="0"/>
              <a:t>给出对应的产生式。也就是根据输入串最左侧记号进行预测。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4010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下面给出前面例子文法的</a:t>
            </a:r>
            <a:r>
              <a:rPr lang="en-US" altLang="zh-CN" dirty="0"/>
              <a:t>LL(1)</a:t>
            </a:r>
            <a:r>
              <a:rPr lang="zh-CN" altLang="en-US" dirty="0"/>
              <a:t>分析表。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这是一张二维表，</a:t>
            </a:r>
            <a:r>
              <a:rPr lang="zh-CN" altLang="en-US" dirty="0">
                <a:solidFill>
                  <a:srgbClr val="FF0000"/>
                </a:solidFill>
              </a:rPr>
              <a:t>横向</a:t>
            </a:r>
            <a:r>
              <a:rPr lang="zh-CN" altLang="en-US" dirty="0"/>
              <a:t>为所有终结符，</a:t>
            </a:r>
            <a:r>
              <a:rPr lang="en-US" altLang="zh-CN" dirty="0">
                <a:solidFill>
                  <a:srgbClr val="FF0000"/>
                </a:solidFill>
              </a:rPr>
              <a:t>$</a:t>
            </a:r>
            <a:r>
              <a:rPr lang="zh-CN" altLang="en-US" dirty="0"/>
              <a:t>表示串结束符；</a:t>
            </a:r>
            <a:r>
              <a:rPr lang="zh-CN" altLang="en-US" dirty="0">
                <a:solidFill>
                  <a:srgbClr val="FF0000"/>
                </a:solidFill>
              </a:rPr>
              <a:t>纵向</a:t>
            </a:r>
            <a:r>
              <a:rPr lang="zh-CN" altLang="en-US" dirty="0"/>
              <a:t>为所有非终结符。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请根据分析表来分析串</a:t>
            </a:r>
            <a:r>
              <a:rPr lang="en-US" altLang="zh-CN" dirty="0"/>
              <a:t>(())()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F252AB-2ED1-4E0C-BC26-420AE14AA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08668"/>
              </p:ext>
            </p:extLst>
          </p:nvPr>
        </p:nvGraphicFramePr>
        <p:xfrm>
          <a:off x="3153251" y="2492896"/>
          <a:ext cx="5885497" cy="1092689"/>
        </p:xfrm>
        <a:graphic>
          <a:graphicData uri="http://schemas.openxmlformats.org/drawingml/2006/table">
            <a:tbl>
              <a:tblPr/>
              <a:tblGrid>
                <a:gridCol w="1093541">
                  <a:extLst>
                    <a:ext uri="{9D8B030D-6E8A-4147-A177-3AD203B41FA5}">
                      <a16:colId xmlns:a16="http://schemas.microsoft.com/office/drawing/2014/main" val="4048555069"/>
                    </a:ext>
                  </a:extLst>
                </a:gridCol>
                <a:gridCol w="1541402">
                  <a:extLst>
                    <a:ext uri="{9D8B030D-6E8A-4147-A177-3AD203B41FA5}">
                      <a16:colId xmlns:a16="http://schemas.microsoft.com/office/drawing/2014/main" val="111473261"/>
                    </a:ext>
                  </a:extLst>
                </a:gridCol>
                <a:gridCol w="1701240">
                  <a:extLst>
                    <a:ext uri="{9D8B030D-6E8A-4147-A177-3AD203B41FA5}">
                      <a16:colId xmlns:a16="http://schemas.microsoft.com/office/drawing/2014/main" val="2644561432"/>
                    </a:ext>
                  </a:extLst>
                </a:gridCol>
                <a:gridCol w="1549314">
                  <a:extLst>
                    <a:ext uri="{9D8B030D-6E8A-4147-A177-3AD203B41FA5}">
                      <a16:colId xmlns:a16="http://schemas.microsoft.com/office/drawing/2014/main" val="1388992323"/>
                    </a:ext>
                  </a:extLst>
                </a:gridCol>
              </a:tblGrid>
              <a:tr h="58924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M[N,T]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47452"/>
                  </a:ext>
                </a:extLst>
              </a:tr>
              <a:tr h="50344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S→(S)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6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87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48927963"/>
                  </p:ext>
                </p:extLst>
              </p:nvPr>
            </p:nvGraphicFramePr>
            <p:xfrm>
              <a:off x="1847528" y="869776"/>
              <a:ext cx="8352929" cy="5943600"/>
            </p:xfrm>
            <a:graphic>
              <a:graphicData uri="http://schemas.openxmlformats.org/drawingml/2006/table">
                <a:tbl>
                  <a:tblPr/>
                  <a:tblGrid>
                    <a:gridCol w="13921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501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51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855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524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(</a:t>
                          </a:r>
                          <a:r>
                            <a:rPr lang="en-US" altLang="zh-CN" sz="20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())()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→(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(())()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→(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0000CC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ε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0000CC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ε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)()$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9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(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→(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032780"/>
                      </a:ext>
                    </a:extLst>
                  </a:tr>
                  <a:tr h="38568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10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7152657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11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00CC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ε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187524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12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3839487"/>
                      </a:ext>
                    </a:extLst>
                  </a:tr>
                  <a:tr h="38568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13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0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00B050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+mn-cs"/>
                                  </a:rPr>
                                  <m:t>ε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986577"/>
                      </a:ext>
                    </a:extLst>
                  </a:tr>
                  <a:tr h="13071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14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accept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529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48927963"/>
                  </p:ext>
                </p:extLst>
              </p:nvPr>
            </p:nvGraphicFramePr>
            <p:xfrm>
              <a:off x="1847528" y="869776"/>
              <a:ext cx="8352929" cy="5943600"/>
            </p:xfrm>
            <a:graphic>
              <a:graphicData uri="http://schemas.openxmlformats.org/drawingml/2006/table">
                <a:tbl>
                  <a:tblPr/>
                  <a:tblGrid>
                    <a:gridCol w="13921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5011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251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855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(</a:t>
                          </a:r>
                          <a:r>
                            <a:rPr lang="en-US" altLang="zh-CN" sz="20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())()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106154" r="-422" b="-13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(())()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306154" r="-422" b="-11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0000CC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506154" r="-422" b="-9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))()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rgbClr val="0000CC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)</a:t>
                          </a: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695455" r="-422" b="-7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)()$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9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(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907692" r="-422" b="-5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032780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10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$S)S(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zh-CN" sz="20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()</a:t>
                          </a: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71526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11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$S)S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</a:t>
                          </a: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1107692" r="-422" b="-3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01875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12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$S)</a:t>
                          </a: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)$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383948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13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89451" t="-1307692" r="-422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98657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14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accept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52916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B0F819C-40B0-4710-9D38-0C33BE678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343578"/>
              </p:ext>
            </p:extLst>
          </p:nvPr>
        </p:nvGraphicFramePr>
        <p:xfrm>
          <a:off x="2423592" y="44624"/>
          <a:ext cx="7272808" cy="792480"/>
        </p:xfrm>
        <a:graphic>
          <a:graphicData uri="http://schemas.openxmlformats.org/drawingml/2006/table">
            <a:tbl>
              <a:tblPr/>
              <a:tblGrid>
                <a:gridCol w="1620972">
                  <a:extLst>
                    <a:ext uri="{9D8B030D-6E8A-4147-A177-3AD203B41FA5}">
                      <a16:colId xmlns:a16="http://schemas.microsoft.com/office/drawing/2014/main" val="4048555069"/>
                    </a:ext>
                  </a:extLst>
                </a:gridCol>
                <a:gridCol w="2107263">
                  <a:extLst>
                    <a:ext uri="{9D8B030D-6E8A-4147-A177-3AD203B41FA5}">
                      <a16:colId xmlns:a16="http://schemas.microsoft.com/office/drawing/2014/main" val="111473261"/>
                    </a:ext>
                  </a:extLst>
                </a:gridCol>
                <a:gridCol w="1864117">
                  <a:extLst>
                    <a:ext uri="{9D8B030D-6E8A-4147-A177-3AD203B41FA5}">
                      <a16:colId xmlns:a16="http://schemas.microsoft.com/office/drawing/2014/main" val="2644561432"/>
                    </a:ext>
                  </a:extLst>
                </a:gridCol>
                <a:gridCol w="1680456">
                  <a:extLst>
                    <a:ext uri="{9D8B030D-6E8A-4147-A177-3AD203B41FA5}">
                      <a16:colId xmlns:a16="http://schemas.microsoft.com/office/drawing/2014/main" val="1388992323"/>
                    </a:ext>
                  </a:extLst>
                </a:gridCol>
              </a:tblGrid>
              <a:tr h="2034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M[N,T]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47452"/>
                  </a:ext>
                </a:extLst>
              </a:tr>
              <a:tr h="2034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S→(S)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6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59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5EBC-F98E-14FC-AAA9-5788255F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B2B30AD-2983-B6E8-31AB-AD8A45A5C8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336992"/>
            <a:ext cx="9753600" cy="144113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+mn-ea"/>
                <a:ea typeface="+mn-ea"/>
              </a:rPr>
              <a:t>以下关于</a:t>
            </a:r>
            <a:r>
              <a:rPr lang="en-US" altLang="zh-CN" sz="2400" b="1" i="0" dirty="0">
                <a:effectLst/>
                <a:latin typeface="+mn-ea"/>
                <a:ea typeface="+mn-ea"/>
              </a:rPr>
              <a:t>LL(1)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文法的说法，错误的是（ ）。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761F86-9ABD-6F29-3A23-355AE68D00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+mn-ea"/>
                <a:ea typeface="+mn-ea"/>
              </a:rPr>
              <a:t>分析初始化时应该将栈清空。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99DA4F-3482-E891-586F-ED446DB94DE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栈顶符号为非终结符时需要采用生成动作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C888C-5D6C-BBF1-F3BB-76535B4E9E1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栈为空就应该结束分析过程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3E541A-FCB7-9AF8-FFE9-A9E1AF2B37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执行生成动作时，串应该逆序入栈。</a:t>
            </a:r>
            <a:endParaRPr lang="zh-CN" altLang="en-US" sz="2400" b="1" dirty="0"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FEF71CE-8625-A460-A8AE-61A299A2694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294A18-F5FE-B8D6-8BE1-BF622C83A33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988A2D1-16B5-C015-B448-9D5D4C8D8AF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AAD5B68-FF92-B151-25BD-559EB14C369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0C97332-F077-6004-DA8B-C7EE934818F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68D79EF-866B-C2F6-2B18-2A96AD03EF8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A922031-E0EB-955E-07FC-9218B7C8352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DCC09C7-822B-8D52-572B-649201F9323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602A33A-0D4F-BB31-350D-EF4EF77F849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9ACDEB7-830C-0570-F700-066D77B2FA6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F1993DD-7DB6-B42B-A835-AECB2CC76A5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075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分析表的构造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简单的文法可以根据以下规则构造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分析表。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如果有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，其中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是一个终结符，那么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如果有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𝑨𝒂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dirty="0"/>
                  <a:t>，其中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是一个终结符，那么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如果文法中不存在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的产生式，那可以只考虑第一条规则。如果对某个非终结符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/>
                  <a:t>存在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，那么需要考虑第二条。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43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还是以文法</a:t>
            </a:r>
            <a:r>
              <a:rPr lang="en-US" altLang="zh-CN" dirty="0"/>
              <a:t>G(S): S→(S) </a:t>
            </a:r>
            <a:r>
              <a:rPr lang="en-US" altLang="zh-CN" dirty="0" err="1"/>
              <a:t>S∣ε</a:t>
            </a:r>
            <a:r>
              <a:rPr lang="zh-CN" altLang="en-US" dirty="0"/>
              <a:t>为例。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对产生式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→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/>
              <a:t>S) S</a:t>
            </a:r>
            <a:r>
              <a:rPr lang="zh-CN" altLang="en-US" dirty="0"/>
              <a:t>来说，右侧以</a:t>
            </a:r>
            <a:r>
              <a:rPr lang="en-US" altLang="zh-CN" dirty="0"/>
              <a:t>(</a:t>
            </a:r>
            <a:r>
              <a:rPr lang="zh-CN" altLang="en-US" dirty="0"/>
              <a:t>开头，所以该产生式需要填充到</a:t>
            </a:r>
            <a:r>
              <a:rPr lang="en-US" altLang="zh-CN" dirty="0">
                <a:solidFill>
                  <a:srgbClr val="FF0000"/>
                </a:solidFill>
              </a:rPr>
              <a:t>M[S,(]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对产生式</a:t>
            </a:r>
            <a:r>
              <a:rPr lang="en-US" altLang="zh-CN" dirty="0" err="1"/>
              <a:t>S→ε</a:t>
            </a:r>
            <a:r>
              <a:rPr lang="zh-CN" altLang="en-US" dirty="0"/>
              <a:t>来说，因为有推出空，因此需要考虑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后面可能出现哪些终结符</a:t>
            </a:r>
            <a:r>
              <a:rPr lang="zh-CN" altLang="en-US" dirty="0"/>
              <a:t>。</a:t>
            </a:r>
            <a:r>
              <a:rPr lang="en-US" altLang="zh-CN" dirty="0"/>
              <a:t> </a:t>
            </a:r>
            <a:r>
              <a:rPr lang="zh-CN" altLang="en-US" dirty="0"/>
              <a:t>从</a:t>
            </a:r>
            <a:r>
              <a:rPr lang="en-US" altLang="zh-CN" dirty="0"/>
              <a:t>S→(S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S</a:t>
            </a:r>
            <a:r>
              <a:rPr lang="en-US" altLang="zh-CN" dirty="0">
                <a:solidFill>
                  <a:srgbClr val="FF0000"/>
                </a:solidFill>
              </a:rPr>
              <a:t>$</a:t>
            </a:r>
            <a:r>
              <a:rPr lang="zh-CN" altLang="en-US" dirty="0"/>
              <a:t>来看，该产生式应该填充到</a:t>
            </a:r>
            <a:r>
              <a:rPr lang="en-US" altLang="zh-CN" dirty="0">
                <a:solidFill>
                  <a:srgbClr val="FF0000"/>
                </a:solidFill>
              </a:rPr>
              <a:t>M[S,)]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M[S,$]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F252AB-2ED1-4E0C-BC26-420AE14AA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733449"/>
              </p:ext>
            </p:extLst>
          </p:nvPr>
        </p:nvGraphicFramePr>
        <p:xfrm>
          <a:off x="4079776" y="4960314"/>
          <a:ext cx="5914547" cy="1109322"/>
        </p:xfrm>
        <a:graphic>
          <a:graphicData uri="http://schemas.openxmlformats.org/drawingml/2006/table">
            <a:tbl>
              <a:tblPr/>
              <a:tblGrid>
                <a:gridCol w="1098939">
                  <a:extLst>
                    <a:ext uri="{9D8B030D-6E8A-4147-A177-3AD203B41FA5}">
                      <a16:colId xmlns:a16="http://schemas.microsoft.com/office/drawing/2014/main" val="4048555069"/>
                    </a:ext>
                  </a:extLst>
                </a:gridCol>
                <a:gridCol w="1549010">
                  <a:extLst>
                    <a:ext uri="{9D8B030D-6E8A-4147-A177-3AD203B41FA5}">
                      <a16:colId xmlns:a16="http://schemas.microsoft.com/office/drawing/2014/main" val="111473261"/>
                    </a:ext>
                  </a:extLst>
                </a:gridCol>
                <a:gridCol w="1709637">
                  <a:extLst>
                    <a:ext uri="{9D8B030D-6E8A-4147-A177-3AD203B41FA5}">
                      <a16:colId xmlns:a16="http://schemas.microsoft.com/office/drawing/2014/main" val="2644561432"/>
                    </a:ext>
                  </a:extLst>
                </a:gridCol>
                <a:gridCol w="1556961">
                  <a:extLst>
                    <a:ext uri="{9D8B030D-6E8A-4147-A177-3AD203B41FA5}">
                      <a16:colId xmlns:a16="http://schemas.microsoft.com/office/drawing/2014/main" val="1388992323"/>
                    </a:ext>
                  </a:extLst>
                </a:gridCol>
              </a:tblGrid>
              <a:tr h="5982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M[N,T]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47452"/>
                  </a:ext>
                </a:extLst>
              </a:tr>
              <a:tr h="51110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S→(S)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6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31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文法的定义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LL(1)</a:t>
            </a:r>
            <a:r>
              <a:rPr lang="zh-CN" altLang="en-US" dirty="0"/>
              <a:t>文法的定义：如果一个文法</a:t>
            </a:r>
            <a:r>
              <a:rPr lang="en-US" altLang="zh-CN" dirty="0"/>
              <a:t>G</a:t>
            </a:r>
            <a:r>
              <a:rPr lang="zh-CN" altLang="en-US" dirty="0"/>
              <a:t>，由它构造的</a:t>
            </a:r>
            <a:r>
              <a:rPr lang="en-US" altLang="zh-CN" dirty="0"/>
              <a:t>LL(1)</a:t>
            </a:r>
            <a:r>
              <a:rPr lang="zh-CN" altLang="en-US" dirty="0"/>
              <a:t>分析表中的每个子项中</a:t>
            </a:r>
            <a:r>
              <a:rPr lang="zh-CN" altLang="en-US" dirty="0">
                <a:solidFill>
                  <a:srgbClr val="FF0000"/>
                </a:solidFill>
              </a:rPr>
              <a:t>最多只含一个产生式</a:t>
            </a:r>
            <a:r>
              <a:rPr lang="zh-CN" altLang="en-US" dirty="0"/>
              <a:t>，那么它就是</a:t>
            </a:r>
            <a:r>
              <a:rPr lang="en-US" altLang="zh-CN" dirty="0"/>
              <a:t>LL(1)</a:t>
            </a:r>
            <a:r>
              <a:rPr lang="zh-CN" altLang="en-US" dirty="0"/>
              <a:t>文法。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思考：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如果某个格子里面没有产生式是什么情况？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如果某个格子含</a:t>
            </a:r>
            <a:r>
              <a:rPr lang="en-US" altLang="zh-CN" dirty="0"/>
              <a:t>2</a:t>
            </a:r>
            <a:r>
              <a:rPr lang="zh-CN" altLang="en-US" dirty="0"/>
              <a:t>个产生式是什么情况？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LL(1)</a:t>
            </a:r>
            <a:r>
              <a:rPr lang="zh-CN" altLang="en-US" dirty="0"/>
              <a:t>文法能不能有二义性？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92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87889" y="1412778"/>
            <a:ext cx="6120679" cy="132343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→ if-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| other</a:t>
            </a:r>
          </a:p>
          <a:p>
            <a:pPr marL="0" lvl="1"/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→ if (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) statement else-part</a:t>
            </a:r>
          </a:p>
          <a:p>
            <a:pPr marL="0" lvl="1"/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else-part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→ else statement | ε</a:t>
            </a:r>
          </a:p>
          <a:p>
            <a:pPr marL="0" lvl="1"/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→ 0 | 1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2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395437"/>
              </p:ext>
            </p:extLst>
          </p:nvPr>
        </p:nvGraphicFramePr>
        <p:xfrm>
          <a:off x="551384" y="2924944"/>
          <a:ext cx="10945216" cy="3812157"/>
        </p:xfrm>
        <a:graphic>
          <a:graphicData uri="http://schemas.openxmlformats.org/drawingml/2006/table">
            <a:tbl>
              <a:tblPr/>
              <a:tblGrid>
                <a:gridCol w="1216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01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2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25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M[N,T]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9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statement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statement → if-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stmt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statement → other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058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if-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stmt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if-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stmt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→ if 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) statement else-part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6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else-part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else-part → else statement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else-part→ε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else-part→ε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45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exp→0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exp→1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39416" y="1412777"/>
            <a:ext cx="4104456" cy="131928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noAutofit/>
          </a:bodyPr>
          <a:lstStyle/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请给出右侧文法的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LL(1)</a:t>
            </a:r>
            <a:r>
              <a:rPr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分析表。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33600" y="579438"/>
            <a:ext cx="7848600" cy="563562"/>
          </a:xfr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132857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分析对二义性的处理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M[else-part, else]</a:t>
            </a:r>
            <a:r>
              <a:rPr lang="zh-CN" altLang="en-US" sz="2400" dirty="0"/>
              <a:t>里面有两项产生式，对应着悬挂</a:t>
            </a:r>
            <a:r>
              <a:rPr lang="en-US" altLang="zh-CN" sz="2400" dirty="0"/>
              <a:t>else</a:t>
            </a:r>
            <a:r>
              <a:rPr lang="zh-CN" altLang="en-US" sz="2400" dirty="0"/>
              <a:t>问题产生的</a:t>
            </a:r>
            <a:r>
              <a:rPr lang="zh-CN" altLang="en-US" sz="2400" dirty="0">
                <a:solidFill>
                  <a:srgbClr val="FF0000"/>
                </a:solidFill>
              </a:rPr>
              <a:t>二义性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else-part → else statement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else-part →ε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事实上</a:t>
            </a:r>
            <a:r>
              <a:rPr lang="zh-CN" altLang="en-US" sz="2400" dirty="0">
                <a:solidFill>
                  <a:srgbClr val="FF0000"/>
                </a:solidFill>
              </a:rPr>
              <a:t>第一条对应</a:t>
            </a:r>
            <a:r>
              <a:rPr lang="en-US" altLang="zh-CN" sz="2400" dirty="0">
                <a:solidFill>
                  <a:srgbClr val="FF0000"/>
                </a:solidFill>
              </a:rPr>
              <a:t>else</a:t>
            </a:r>
            <a:r>
              <a:rPr lang="zh-CN" altLang="en-US" sz="2400" dirty="0">
                <a:solidFill>
                  <a:srgbClr val="FF0000"/>
                </a:solidFill>
              </a:rPr>
              <a:t>的就近匹配</a:t>
            </a:r>
            <a:r>
              <a:rPr lang="zh-CN" altLang="en-US" sz="2400" dirty="0"/>
              <a:t>，可以</a:t>
            </a:r>
            <a:r>
              <a:rPr lang="zh-CN" altLang="en-US" sz="2400" dirty="0">
                <a:solidFill>
                  <a:srgbClr val="FF0000"/>
                </a:solidFill>
              </a:rPr>
              <a:t>在表格标注采用第一条产生式进行分析</a:t>
            </a:r>
            <a:r>
              <a:rPr lang="zh-CN" altLang="en-US" sz="2400" dirty="0"/>
              <a:t>，这样就</a:t>
            </a:r>
            <a:r>
              <a:rPr lang="zh-CN" altLang="en-US" sz="2400" dirty="0">
                <a:solidFill>
                  <a:srgbClr val="FF0000"/>
                </a:solidFill>
              </a:rPr>
              <a:t>消除了二义性</a:t>
            </a:r>
            <a:r>
              <a:rPr lang="zh-CN" altLang="en-US" sz="2400" dirty="0"/>
              <a:t>，使得这个不是</a:t>
            </a:r>
            <a:r>
              <a:rPr lang="en-US" altLang="zh-CN" sz="2400" dirty="0"/>
              <a:t>LL(1)</a:t>
            </a:r>
            <a:r>
              <a:rPr lang="zh-CN" altLang="en-US" sz="2400" dirty="0"/>
              <a:t>的文法能够采用</a:t>
            </a:r>
            <a:r>
              <a:rPr lang="en-US" altLang="zh-CN" sz="2400" dirty="0"/>
              <a:t>LL(1)</a:t>
            </a:r>
            <a:r>
              <a:rPr lang="zh-CN" altLang="en-US" sz="2400" dirty="0"/>
              <a:t>方法进行分析。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下面给出</a:t>
            </a:r>
            <a:r>
              <a:rPr lang="en-US" altLang="zh-CN" sz="2400" dirty="0"/>
              <a:t>if (0) if (1) other else other</a:t>
            </a:r>
            <a:r>
              <a:rPr lang="zh-CN" altLang="en-US" sz="2400" dirty="0"/>
              <a:t>的分析过程。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statement= S, if-</a:t>
            </a:r>
            <a:r>
              <a:rPr lang="en-US" altLang="zh-CN" sz="2400" dirty="0" err="1"/>
              <a:t>stmt</a:t>
            </a:r>
            <a:r>
              <a:rPr lang="en-US" altLang="zh-CN" sz="2400" dirty="0"/>
              <a:t>=I, else-part=L, 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=E, if=I, else=e, other=o</a:t>
            </a:r>
          </a:p>
          <a:p>
            <a:pPr lvl="1"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3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6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08012"/>
              </p:ext>
            </p:extLst>
          </p:nvPr>
        </p:nvGraphicFramePr>
        <p:xfrm>
          <a:off x="2711625" y="116632"/>
          <a:ext cx="7129463" cy="6497646"/>
        </p:xfrm>
        <a:graphic>
          <a:graphicData uri="http://schemas.openxmlformats.org/drawingml/2006/table">
            <a:tbl>
              <a:tblPr/>
              <a:tblGrid>
                <a:gridCol w="91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Steps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i(0)i(1)oeo$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S→I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$I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i(0)i(1)oeo$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I→i(E)SL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$LS)E(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i(0)i(1)oeo$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LS)E(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(0)i(1)oeo $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LS)E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0)i(1)oeo $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E→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S→I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I→i(E)SL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E→1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S→o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L→eS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S→o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L→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34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2C364-6818-43C5-A0A9-3A9B4DD5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Times New Roman" panose="02020603050405020304" pitchFamily="18" charset="0"/>
                  </a:rPr>
                  <a:t>设有文法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i="1" dirty="0">
                    <a:cs typeface="Times New Roman" panose="02020603050405020304" pitchFamily="18" charset="0"/>
                  </a:rPr>
                  <a:t>:  </a:t>
                </a:r>
                <a:endParaRPr lang="en-US" altLang="zh-CN" b="1" i="1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𝒂𝒂𝑨𝒂𝑩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𝒃𝑨𝒂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𝑩𝒂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Times New Roman" panose="02020603050405020304" pitchFamily="18" charset="0"/>
                  </a:rPr>
                  <a:t>请构造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LL(1)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分析表并分析</a:t>
                </a:r>
                <a:r>
                  <a:rPr lang="en-US" altLang="zh-CN" dirty="0" err="1">
                    <a:cs typeface="Times New Roman" panose="02020603050405020304" pitchFamily="18" charset="0"/>
                  </a:rPr>
                  <a:t>aaaa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是否是该文法可以识别的串。</a:t>
                </a:r>
                <a:endParaRPr lang="en-US" altLang="zh-CN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494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1464" y="2564905"/>
                <a:ext cx="2232248" cy="1584959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𝒂𝒂𝑨𝒂𝑩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𝒃𝑨𝒂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𝑩𝒂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1464" y="2564905"/>
                <a:ext cx="2232248" cy="1584959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7202915"/>
                  </p:ext>
                </p:extLst>
              </p:nvPr>
            </p:nvGraphicFramePr>
            <p:xfrm>
              <a:off x="4223792" y="2564904"/>
              <a:ext cx="6912769" cy="1584960"/>
            </p:xfrm>
            <a:graphic>
              <a:graphicData uri="http://schemas.openxmlformats.org/drawingml/2006/table">
                <a:tbl>
                  <a:tblPr/>
                  <a:tblGrid>
                    <a:gridCol w="1165073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94178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342735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350771">
                      <a:extLst>
                        <a:ext uri="{9D8B030D-6E8A-4147-A177-3AD203B41FA5}">
                          <a16:colId xmlns:a16="http://schemas.microsoft.com/office/drawing/2014/main" val="4200234337"/>
                        </a:ext>
                      </a:extLst>
                    </a:gridCol>
                    <a:gridCol w="1112401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284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74002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𝒂𝒂𝑨𝒂𝑩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𝒃𝑨𝒂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7202915"/>
                  </p:ext>
                </p:extLst>
              </p:nvPr>
            </p:nvGraphicFramePr>
            <p:xfrm>
              <a:off x="4223792" y="2564904"/>
              <a:ext cx="6912769" cy="1584960"/>
            </p:xfrm>
            <a:graphic>
              <a:graphicData uri="http://schemas.openxmlformats.org/drawingml/2006/table">
                <a:tbl>
                  <a:tblPr/>
                  <a:tblGrid>
                    <a:gridCol w="1165073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94178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342735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350771">
                      <a:extLst>
                        <a:ext uri="{9D8B030D-6E8A-4147-A177-3AD203B41FA5}">
                          <a16:colId xmlns:a16="http://schemas.microsoft.com/office/drawing/2014/main" val="4200234337"/>
                        </a:ext>
                      </a:extLst>
                    </a:gridCol>
                    <a:gridCol w="1112401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104545" r="-196552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207692" r="-196552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31222" t="-207692" r="-18371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1222" t="-207692" r="-8371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307692" r="-196552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1222" t="-307692" r="-8371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20765" t="-307692" r="-1093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43042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7448" y="144598"/>
                <a:ext cx="2232248" cy="1584959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𝒂𝒂𝑨𝒂𝑩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𝒃𝑨𝒂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𝑩𝒂</m:t>
                      </m:r>
                    </m:oMath>
                  </m:oMathPara>
                </a14:m>
                <a:endParaRPr lang="en-US" altLang="zh-CN" b="1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𝒄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i="1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7448" y="144598"/>
                <a:ext cx="2232248" cy="1584959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79776" y="144597"/>
              <a:ext cx="6912769" cy="1584960"/>
            </p:xfrm>
            <a:graphic>
              <a:graphicData uri="http://schemas.openxmlformats.org/drawingml/2006/table">
                <a:tbl>
                  <a:tblPr/>
                  <a:tblGrid>
                    <a:gridCol w="1165073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94178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342735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350771">
                      <a:extLst>
                        <a:ext uri="{9D8B030D-6E8A-4147-A177-3AD203B41FA5}">
                          <a16:colId xmlns:a16="http://schemas.microsoft.com/office/drawing/2014/main" val="4200234337"/>
                        </a:ext>
                      </a:extLst>
                    </a:gridCol>
                    <a:gridCol w="1112401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284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74002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𝒂𝒂𝑨𝒂𝑩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𝒃𝑨𝒂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600975"/>
                  </p:ext>
                </p:extLst>
              </p:nvPr>
            </p:nvGraphicFramePr>
            <p:xfrm>
              <a:off x="4079776" y="144597"/>
              <a:ext cx="6912769" cy="1584960"/>
            </p:xfrm>
            <a:graphic>
              <a:graphicData uri="http://schemas.openxmlformats.org/drawingml/2006/table">
                <a:tbl>
                  <a:tblPr/>
                  <a:tblGrid>
                    <a:gridCol w="1165073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94178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342735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350771">
                      <a:extLst>
                        <a:ext uri="{9D8B030D-6E8A-4147-A177-3AD203B41FA5}">
                          <a16:colId xmlns:a16="http://schemas.microsoft.com/office/drawing/2014/main" val="4200234337"/>
                        </a:ext>
                      </a:extLst>
                    </a:gridCol>
                    <a:gridCol w="1112401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104545" r="-196552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207692" r="-196552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31222" t="-207692" r="-18371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1222" t="-207692" r="-8371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60188" t="-307692" r="-196552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31222" t="-307692" r="-8371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520765" t="-307692" r="-1093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27449" y="1916832"/>
              <a:ext cx="9865096" cy="4572000"/>
            </p:xfrm>
            <a:graphic>
              <a:graphicData uri="http://schemas.openxmlformats.org/drawingml/2006/table">
                <a:tbl>
                  <a:tblPr/>
                  <a:tblGrid>
                    <a:gridCol w="1290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927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36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07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Parsing Stack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aaaa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𝒂𝒂𝑨𝒂𝑩</m:t>
                                </m:r>
                              </m:oMath>
                            </m:oMathPara>
                          </a14:m>
                          <a:endParaRPr lang="en-US" altLang="zh-CN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aaaa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𝑩𝒂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45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4545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  <a:tr h="4545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9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accept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0327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82271869"/>
                  </p:ext>
                </p:extLst>
              </p:nvPr>
            </p:nvGraphicFramePr>
            <p:xfrm>
              <a:off x="1127449" y="1916832"/>
              <a:ext cx="9865096" cy="4572000"/>
            </p:xfrm>
            <a:graphic>
              <a:graphicData uri="http://schemas.openxmlformats.org/drawingml/2006/table">
                <a:tbl>
                  <a:tblPr/>
                  <a:tblGrid>
                    <a:gridCol w="1290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927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36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0790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Parsing Stack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aaaa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464" t="-109333" r="-357" b="-8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aaaa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aaa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464" t="-403947" r="-357" b="-52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BaaB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464" t="-510667" r="-357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464" t="-810667" r="-357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9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accept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0327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7292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2C364-6818-43C5-A0A9-3A9B4DD5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设有文法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endParaRPr lang="en-US" altLang="zh-CN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𝒂𝑨𝒃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请构造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LL(1)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分析表，并分析串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是否是该文法可以接受的串？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292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5214" y="2492897"/>
                <a:ext cx="3240360" cy="1584959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𝒂𝑨𝒃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𝒃𝒂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5214" y="2492897"/>
                <a:ext cx="3240360" cy="1584959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262709"/>
                  </p:ext>
                </p:extLst>
              </p:nvPr>
            </p:nvGraphicFramePr>
            <p:xfrm>
              <a:off x="4572000" y="2492896"/>
              <a:ext cx="6384293" cy="1584960"/>
            </p:xfrm>
            <a:graphic>
              <a:graphicData uri="http://schemas.openxmlformats.org/drawingml/2006/table">
                <a:tbl>
                  <a:tblPr/>
                  <a:tblGrid>
                    <a:gridCol w="1337320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68681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512069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848085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284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74002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𝒂𝑨𝒃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262709"/>
                  </p:ext>
                </p:extLst>
              </p:nvPr>
            </p:nvGraphicFramePr>
            <p:xfrm>
              <a:off x="4572000" y="2492896"/>
              <a:ext cx="6384293" cy="1584960"/>
            </p:xfrm>
            <a:graphic>
              <a:graphicData uri="http://schemas.openxmlformats.org/drawingml/2006/table">
                <a:tbl>
                  <a:tblPr/>
                  <a:tblGrid>
                    <a:gridCol w="1337320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68681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512069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848085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0435" t="-104545" r="-200725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00000" t="-104545" r="-122490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535" t="-104545" r="-660" b="-2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0435" t="-207692" r="-200725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00000" t="-207692" r="-12249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535" t="-207692" r="-660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00000" t="-307692" r="-12249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535" t="-307692" r="-660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788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9456" y="394321"/>
                <a:ext cx="3240360" cy="1584959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𝒂𝑨𝒃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𝒃𝒂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4EE6E1-54CB-47F3-919F-1028A0313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9456" y="394321"/>
                <a:ext cx="3240360" cy="1584959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36242" y="394320"/>
              <a:ext cx="6384293" cy="1584960"/>
            </p:xfrm>
            <a:graphic>
              <a:graphicData uri="http://schemas.openxmlformats.org/drawingml/2006/table">
                <a:tbl>
                  <a:tblPr/>
                  <a:tblGrid>
                    <a:gridCol w="1337320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68681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512069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848085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284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74002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𝒂𝑨𝒃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284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𝒃𝒂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3B92B81-5204-4683-AA09-12D4B1021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1272823"/>
                  </p:ext>
                </p:extLst>
              </p:nvPr>
            </p:nvGraphicFramePr>
            <p:xfrm>
              <a:off x="4536242" y="394320"/>
              <a:ext cx="6384293" cy="1584960"/>
            </p:xfrm>
            <a:graphic>
              <a:graphicData uri="http://schemas.openxmlformats.org/drawingml/2006/table">
                <a:tbl>
                  <a:tblPr/>
                  <a:tblGrid>
                    <a:gridCol w="1337320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686819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512069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1848085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0072" t="-104545" r="-200725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9598" t="-104545" r="-122490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205" t="-104545" r="-660" b="-2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80072" t="-207692" r="-200725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9598" t="-207692" r="-122490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205" t="-207692" r="-660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6237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9598" t="-307692" r="-12249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46205" t="-307692" r="-660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6584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199457" y="2194520"/>
              <a:ext cx="9721078" cy="4114800"/>
            </p:xfrm>
            <a:graphic>
              <a:graphicData uri="http://schemas.openxmlformats.org/drawingml/2006/table">
                <a:tbl>
                  <a:tblPr/>
                  <a:tblGrid>
                    <a:gridCol w="1435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3920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886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3581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Parsing Stack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689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𝒂𝑨𝒃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455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𝒃𝒂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45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$ab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454558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𝒆𝒓𝒓𝒐𝒓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Group 183">
                <a:extLst>
                  <a:ext uri="{FF2B5EF4-FFF2-40B4-BE49-F238E27FC236}">
                    <a16:creationId xmlns:a16="http://schemas.microsoft.com/office/drawing/2014/main" id="{DECECCDF-E07F-4694-86D8-301E660D89D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12013017"/>
                  </p:ext>
                </p:extLst>
              </p:nvPr>
            </p:nvGraphicFramePr>
            <p:xfrm>
              <a:off x="1199457" y="2194520"/>
              <a:ext cx="9721078" cy="4114800"/>
            </p:xfrm>
            <a:graphic>
              <a:graphicData uri="http://schemas.openxmlformats.org/drawingml/2006/table">
                <a:tbl>
                  <a:tblPr/>
                  <a:tblGrid>
                    <a:gridCol w="1435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3920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886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3581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Steps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Parsing Stack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837" t="-108000" r="-363" b="-7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837" t="-208000" r="-363" b="-6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BbAa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abb</a:t>
                          </a: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837" t="-402632" r="-363" b="-4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837" t="-609333" r="-363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$ab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b$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40332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$a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189837" t="-809333" r="-363" b="-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189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1633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文法的限制条件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AA44BA-EFF5-4C49-89F5-88BD53273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设有文法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endParaRPr lang="en-US" altLang="zh-CN" i="1" kern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𝒃𝑨𝑩</m:t>
                      </m:r>
                      <m:r>
                        <a:rPr lang="en-US" altLang="zh-CN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i="1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𝑨𝒄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</m:oMath>
                  </m:oMathPara>
                </a14:m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𝒂𝒃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𝒂𝒄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i="1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请构造</a:t>
                </a:r>
                <a:r>
                  <a:rPr lang="en-US" altLang="zh-CN" kern="0" dirty="0">
                    <a:cs typeface="Times New Roman" panose="02020603050405020304" pitchFamily="18" charset="0"/>
                  </a:rPr>
                  <a:t>LL(1)</a:t>
                </a:r>
                <a:r>
                  <a:rPr lang="zh-CN" altLang="en-US" kern="0" dirty="0">
                    <a:cs typeface="Times New Roman" panose="02020603050405020304" pitchFamily="18" charset="0"/>
                  </a:rPr>
                  <a:t>分析表？</a:t>
                </a:r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AA44BA-EFF5-4C49-89F5-88BD53273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650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AF42D3-9F59-4190-B952-68FD851FA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3024"/>
                <a:ext cx="10972800" cy="5254327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𝒃𝑨𝑩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800" i="1" kern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𝑨𝒄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</m:oMath>
                  </m:oMathPara>
                </a14:m>
                <a:endParaRPr lang="en-US" altLang="zh-CN" sz="2800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𝒂𝒃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𝒂𝒄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sz="2800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i="1" kern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800" kern="0" dirty="0">
                    <a:latin typeface="+mn-ea"/>
                    <a:cs typeface="Times New Roman" panose="02020603050405020304" pitchFamily="18" charset="0"/>
                  </a:rPr>
                  <a:t>思考：这个文法有二义性吗？为什么会出现一个格子多个产生式的情况？怎么办？</a:t>
                </a:r>
                <a:endParaRPr lang="en-US" altLang="zh-CN" sz="2800" kern="0" dirty="0">
                  <a:latin typeface="+mn-ea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AF42D3-9F59-4190-B952-68FD851FA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3024"/>
                <a:ext cx="10972800" cy="5254327"/>
              </a:xfrm>
              <a:blipFill>
                <a:blip r:embed="rId2"/>
                <a:stretch>
                  <a:fillRect l="-831" b="-207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5355D331-4323-4144-80ED-6C8DCA015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52290"/>
                  </p:ext>
                </p:extLst>
              </p:nvPr>
            </p:nvGraphicFramePr>
            <p:xfrm>
              <a:off x="1271464" y="2766617"/>
              <a:ext cx="9649071" cy="2614229"/>
            </p:xfrm>
            <a:graphic>
              <a:graphicData uri="http://schemas.openxmlformats.org/drawingml/2006/table">
                <a:tbl>
                  <a:tblPr/>
                  <a:tblGrid>
                    <a:gridCol w="1809201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809201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909712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201022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110734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446307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511109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indent="0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4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altLang="zh-CN" sz="2400" i="1" kern="0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511109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altLang="zh-CN" sz="2400" b="1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CN" sz="240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  <m:r>
                                <a:rPr lang="en-US" altLang="zh-CN" sz="2400" b="1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 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8192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US" altLang="zh-CN" sz="2400" b="1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𝒂𝒄</m:t>
                                </m:r>
                              </m:oMath>
                            </m:oMathPara>
                          </a14:m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5355D331-4323-4144-80ED-6C8DCA0153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52290"/>
                  </p:ext>
                </p:extLst>
              </p:nvPr>
            </p:nvGraphicFramePr>
            <p:xfrm>
              <a:off x="1271464" y="2766617"/>
              <a:ext cx="9649071" cy="2614229"/>
            </p:xfrm>
            <a:graphic>
              <a:graphicData uri="http://schemas.openxmlformats.org/drawingml/2006/table">
                <a:tbl>
                  <a:tblPr/>
                  <a:tblGrid>
                    <a:gridCol w="1809201">
                      <a:extLst>
                        <a:ext uri="{9D8B030D-6E8A-4147-A177-3AD203B41FA5}">
                          <a16:colId xmlns:a16="http://schemas.microsoft.com/office/drawing/2014/main" val="4048555069"/>
                        </a:ext>
                      </a:extLst>
                    </a:gridCol>
                    <a:gridCol w="1809201">
                      <a:extLst>
                        <a:ext uri="{9D8B030D-6E8A-4147-A177-3AD203B41FA5}">
                          <a16:colId xmlns:a16="http://schemas.microsoft.com/office/drawing/2014/main" val="111473261"/>
                        </a:ext>
                      </a:extLst>
                    </a:gridCol>
                    <a:gridCol w="1909712">
                      <a:extLst>
                        <a:ext uri="{9D8B030D-6E8A-4147-A177-3AD203B41FA5}">
                          <a16:colId xmlns:a16="http://schemas.microsoft.com/office/drawing/2014/main" val="2644561432"/>
                        </a:ext>
                      </a:extLst>
                    </a:gridCol>
                    <a:gridCol w="201022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110734">
                      <a:extLst>
                        <a:ext uri="{9D8B030D-6E8A-4147-A177-3AD203B41FA5}">
                          <a16:colId xmlns:a16="http://schemas.microsoft.com/office/drawing/2014/main" val="138899232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M[N,T]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$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547452"/>
                      </a:ext>
                    </a:extLst>
                  </a:tr>
                  <a:tr h="511109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89490" t="-97619" r="-21592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566657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0337" t="-122059" r="-334007" b="-1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B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0337" t="-223704" r="-334007" b="-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文法的限制条件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DE7AF6B-3A7F-45E1-A6E8-CB956FF09CE0}"/>
              </a:ext>
            </a:extLst>
          </p:cNvPr>
          <p:cNvSpPr/>
          <p:nvPr/>
        </p:nvSpPr>
        <p:spPr bwMode="auto">
          <a:xfrm>
            <a:off x="5231904" y="3284984"/>
            <a:ext cx="1296144" cy="36004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84A9CE7-E525-4183-9548-2C35589F249C}"/>
              </a:ext>
            </a:extLst>
          </p:cNvPr>
          <p:cNvSpPr/>
          <p:nvPr/>
        </p:nvSpPr>
        <p:spPr bwMode="auto">
          <a:xfrm>
            <a:off x="3431704" y="3873387"/>
            <a:ext cx="1117540" cy="29197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5BA1E53-533F-490D-8B4D-4DF2B8056FC9}"/>
              </a:ext>
            </a:extLst>
          </p:cNvPr>
          <p:cNvSpPr/>
          <p:nvPr/>
        </p:nvSpPr>
        <p:spPr bwMode="auto">
          <a:xfrm>
            <a:off x="3431704" y="4145135"/>
            <a:ext cx="1117540" cy="29197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0E394C1-CCEE-43DC-AC4A-D46EF5A638F4}"/>
              </a:ext>
            </a:extLst>
          </p:cNvPr>
          <p:cNvSpPr/>
          <p:nvPr/>
        </p:nvSpPr>
        <p:spPr bwMode="auto">
          <a:xfrm>
            <a:off x="3421297" y="4637136"/>
            <a:ext cx="1117540" cy="29197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23AF5C-D055-4D08-8982-95AB30D41308}"/>
              </a:ext>
            </a:extLst>
          </p:cNvPr>
          <p:cNvSpPr/>
          <p:nvPr/>
        </p:nvSpPr>
        <p:spPr bwMode="auto">
          <a:xfrm>
            <a:off x="3421297" y="5001247"/>
            <a:ext cx="1117540" cy="29197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15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6560995-1ED5-814D-876B-EC0F19906A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336992"/>
            <a:ext cx="9753600" cy="144113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i="0" dirty="0">
                <a:effectLst/>
                <a:latin typeface="+mn-ea"/>
                <a:ea typeface="+mn-ea"/>
              </a:rPr>
              <a:t>以下关于</a:t>
            </a:r>
            <a:r>
              <a:rPr lang="en-US" altLang="zh-CN" sz="2400" b="1" i="0" dirty="0">
                <a:effectLst/>
                <a:latin typeface="+mn-ea"/>
                <a:ea typeface="+mn-ea"/>
              </a:rPr>
              <a:t>LL(1)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文法的说法，错误的是（ ）。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E5F9B0-68EF-A1FD-3B8F-89E23AC0E0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0" dirty="0">
                <a:effectLst/>
                <a:latin typeface="+mn-ea"/>
                <a:ea typeface="+mn-ea"/>
              </a:rPr>
              <a:t>LL(1)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文法一定没有二义性。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2FE07E-C4E0-2692-F221-703F4B382EA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0" dirty="0">
                <a:effectLst/>
                <a:latin typeface="+mn-ea"/>
                <a:ea typeface="+mn-ea"/>
              </a:rPr>
              <a:t>LL(1)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文法一定没有左递归。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F522AF-9C62-FA1B-E443-9D4EC8F11D6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0" dirty="0">
                <a:effectLst/>
                <a:latin typeface="+mn-ea"/>
                <a:ea typeface="+mn-ea"/>
              </a:rPr>
              <a:t>LL(1)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文法</a:t>
            </a:r>
            <a:r>
              <a:rPr lang="zh-CN" altLang="en-US" sz="2400" b="1" dirty="0">
                <a:latin typeface="+mn-ea"/>
                <a:ea typeface="+mn-ea"/>
              </a:rPr>
              <a:t>可以包含左因子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6396FE-3A61-3056-6F04-65965B96D39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0" dirty="0">
                <a:effectLst/>
                <a:latin typeface="+mn-ea"/>
                <a:ea typeface="+mn-ea"/>
              </a:rPr>
              <a:t>1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表示向前看</a:t>
            </a:r>
            <a:r>
              <a:rPr lang="en-US" altLang="zh-CN" sz="2400" b="1" i="0" dirty="0">
                <a:effectLst/>
                <a:latin typeface="+mn-ea"/>
                <a:ea typeface="+mn-ea"/>
              </a:rPr>
              <a:t>1</a:t>
            </a:r>
            <a:r>
              <a:rPr lang="zh-CN" altLang="en-US" sz="2400" b="1" i="0" dirty="0">
                <a:effectLst/>
                <a:latin typeface="+mn-ea"/>
                <a:ea typeface="+mn-ea"/>
              </a:rPr>
              <a:t>个符号来决定使用哪个产生式进行推导。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4388336-698A-AF40-2CA0-FFECAEF76E3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409DCE-A4E0-5720-013C-E58BDDCF53D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F36957-CCBF-B273-B19F-0FEA5CC8982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997A4A0-C164-8387-2C72-AD9BD879659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47DA3AE-7494-B5AD-8E09-6D91F5E8C9F6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F741037-055F-9D76-6807-1292EDC7916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6D36121A-F45B-24D1-6D12-F91D6593740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5A2155A-E3A1-E739-220D-B0836337316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E06C817-DBD4-412C-80A9-33817F37F1E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AE071C53-419E-70D2-9F25-18E3071E018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A3B38CB-D796-19FC-1C07-ACA8CBA4B66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6193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r>
              <a:rPr lang="zh-CN" altLang="en-US" dirty="0"/>
              <a:t>文法的限制条件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CC9BF2-86E6-4531-96AA-77570662F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343025"/>
            <a:ext cx="11305256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LL(1)</a:t>
            </a:r>
            <a:r>
              <a:rPr lang="zh-CN" altLang="en-US" dirty="0"/>
              <a:t>文法的限制条件：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不能含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左递归</a:t>
            </a:r>
            <a:endParaRPr lang="en-US" altLang="zh-CN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不能有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左因子</a:t>
            </a:r>
            <a:endParaRPr lang="en-US" altLang="zh-CN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实际上，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所有的自顶而下的分析方法都不能含左递归和左因子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。递归下降的方法是采用改写成</a:t>
            </a:r>
            <a:r>
              <a:rPr lang="en-US" altLang="zh-CN" kern="0" dirty="0" err="1">
                <a:cs typeface="Times New Roman" panose="02020603050405020304" pitchFamily="18" charset="0"/>
              </a:rPr>
              <a:t>EBNF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去掉左递归和左因子的，</a:t>
            </a:r>
            <a:r>
              <a:rPr lang="zh-CN" altLang="en-US" kern="0" dirty="0">
                <a:cs typeface="Times New Roman" panose="02020603050405020304" pitchFamily="18" charset="0"/>
              </a:rPr>
              <a:t>但</a:t>
            </a:r>
            <a:r>
              <a:rPr lang="en-US" altLang="zh-CN" kern="0" dirty="0" err="1">
                <a:cs typeface="Times New Roman" panose="02020603050405020304" pitchFamily="18" charset="0"/>
              </a:rPr>
              <a:t>EBNF</a:t>
            </a:r>
            <a:r>
              <a:rPr lang="zh-CN" altLang="en-US" kern="0" dirty="0">
                <a:cs typeface="Times New Roman" panose="02020603050405020304" pitchFamily="18" charset="0"/>
              </a:rPr>
              <a:t>不适用于所有情况。这里将介绍两个新的方法来处理这种情况。</a:t>
            </a:r>
            <a:endParaRPr lang="en-US" altLang="zh-CN" kern="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kern="0" dirty="0">
                <a:cs typeface="Times New Roman" panose="02020603050405020304" pitchFamily="18" charset="0"/>
              </a:rPr>
              <a:t>消除左递归</a:t>
            </a:r>
            <a:endParaRPr lang="en-US" altLang="zh-CN" kern="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kern="0" dirty="0">
                <a:cs typeface="Times New Roman" panose="02020603050405020304" pitchFamily="18" charset="0"/>
              </a:rPr>
              <a:t>提取左因子</a:t>
            </a:r>
            <a:endParaRPr lang="en-US" altLang="zh-CN" kern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83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AF837FA-E3A9-4862-8DA2-B4D15DB6CC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简单直接左递归</a:t>
                </a:r>
                <a:r>
                  <a:rPr lang="zh-CN" altLang="en-US" sz="2800" kern="0" dirty="0">
                    <a:cs typeface="Times New Roman" panose="02020603050405020304" pitchFamily="18" charset="0"/>
                  </a:rPr>
                  <a:t>：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zh-CN" altLang="en-US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zh-CN" altLang="en-US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</m:oMath>
                  </m:oMathPara>
                </a14:m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sz="2800" kern="0" dirty="0">
                    <a:cs typeface="Times New Roman" panose="02020603050405020304" pitchFamily="18" charset="0"/>
                  </a:rPr>
                  <a:t>不以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800" kern="0" dirty="0">
                    <a:cs typeface="Times New Roman" panose="02020603050405020304" pitchFamily="18" charset="0"/>
                  </a:rPr>
                  <a:t>开头。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采用</a:t>
                </a:r>
                <a:r>
                  <a:rPr lang="zh-CN" altLang="en-US" sz="2800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将左递归改为等价的右递归的方法</a:t>
                </a:r>
                <a:r>
                  <a:rPr lang="zh-CN" altLang="en-US" sz="2800" kern="0" dirty="0">
                    <a:cs typeface="Times New Roman" panose="02020603050405020304" pitchFamily="18" charset="0"/>
                  </a:rPr>
                  <a:t>改写该文法如下：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en-US" altLang="zh-CN" sz="2800" kern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′→</m:t>
                      </m:r>
                      <m:r>
                        <a:rPr lang="zh-CN" altLang="en-US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sSup>
                        <m:sSupPr>
                          <m:ctrlPr>
                            <a:rPr lang="en-US" altLang="zh-CN" sz="2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sz="2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AF837FA-E3A9-4862-8DA2-B4D15DB6C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云形标注 20">
                <a:extLst>
                  <a:ext uri="{FF2B5EF4-FFF2-40B4-BE49-F238E27FC236}">
                    <a16:creationId xmlns:a16="http://schemas.microsoft.com/office/drawing/2014/main" id="{E1E767F9-0798-46CB-A7A6-7C3D52790951}"/>
                  </a:ext>
                </a:extLst>
              </p:cNvPr>
              <p:cNvSpPr/>
              <p:nvPr/>
            </p:nvSpPr>
            <p:spPr bwMode="auto">
              <a:xfrm>
                <a:off x="6738558" y="5157192"/>
                <a:ext cx="4538151" cy="864096"/>
              </a:xfrm>
              <a:prstGeom prst="cloudCallout">
                <a:avLst>
                  <a:gd name="adj1" fmla="val -50425"/>
                  <a:gd name="adj2" fmla="val -116006"/>
                </a:avLst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en-US" sz="2400" b="1" dirty="0">
                    <a:latin typeface="+mn-ea"/>
                    <a:ea typeface="+mn-ea"/>
                  </a:rPr>
                  <a:t>对应着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  <a:ea typeface="+mn-ea"/>
                      </a:rPr>
                      <m:t>𝜷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+mn-ea"/>
                          </a:rPr>
                          <m:t>𝜶</m:t>
                        </m:r>
                      </m:e>
                      <m:sup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+mn-ea"/>
                    <a:ea typeface="+mn-ea"/>
                  </a:rPr>
                  <a:t>中的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400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云形标注 20">
                <a:extLst>
                  <a:ext uri="{FF2B5EF4-FFF2-40B4-BE49-F238E27FC236}">
                    <a16:creationId xmlns:a16="http://schemas.microsoft.com/office/drawing/2014/main" id="{E1E767F9-0798-46CB-A7A6-7C3D527909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8558" y="5157192"/>
                <a:ext cx="4538151" cy="864096"/>
              </a:xfrm>
              <a:prstGeom prst="cloudCallout">
                <a:avLst>
                  <a:gd name="adj1" fmla="val -50425"/>
                  <a:gd name="adj2" fmla="val -116006"/>
                </a:avLst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云形标注 20">
                <a:extLst>
                  <a:ext uri="{FF2B5EF4-FFF2-40B4-BE49-F238E27FC236}">
                    <a16:creationId xmlns:a16="http://schemas.microsoft.com/office/drawing/2014/main" id="{04759950-F26B-42C3-B461-0D32E8B8EC94}"/>
                  </a:ext>
                </a:extLst>
              </p:cNvPr>
              <p:cNvSpPr/>
              <p:nvPr/>
            </p:nvSpPr>
            <p:spPr bwMode="auto">
              <a:xfrm>
                <a:off x="1847528" y="4437112"/>
                <a:ext cx="2810272" cy="864096"/>
              </a:xfrm>
              <a:prstGeom prst="cloudCallout">
                <a:avLst>
                  <a:gd name="adj1" fmla="val 65847"/>
                  <a:gd name="adj2" fmla="val -31635"/>
                </a:avLst>
              </a:prstGeom>
              <a:solidFill>
                <a:srgbClr val="CCFF9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latin typeface="+mn-ea"/>
                    <a:ea typeface="+mn-ea"/>
                  </a:rPr>
                  <a:t>对应着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  <a:ea typeface="+mn-ea"/>
                      </a:rPr>
                      <m:t>𝜷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+mn-ea"/>
                          </a:rPr>
                          <m:t>𝜶</m:t>
                        </m:r>
                      </m:e>
                      <m:sup>
                        <m:r>
                          <a:rPr lang="zh-CN" altLang="en-US" sz="24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400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云形标注 20">
                <a:extLst>
                  <a:ext uri="{FF2B5EF4-FFF2-40B4-BE49-F238E27FC236}">
                    <a16:creationId xmlns:a16="http://schemas.microsoft.com/office/drawing/2014/main" id="{04759950-F26B-42C3-B461-0D32E8B8EC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528" y="4437112"/>
                <a:ext cx="2810272" cy="864096"/>
              </a:xfrm>
              <a:prstGeom prst="cloudCallout">
                <a:avLst>
                  <a:gd name="adj1" fmla="val 65847"/>
                  <a:gd name="adj2" fmla="val -31635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8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780AF8-869D-4CE8-8D83-12FC6058D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示例：消除下面规则的左递归。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2800" i="1" dirty="0" err="1">
                    <a:cs typeface="Times New Roman" panose="02020603050405020304" pitchFamily="18" charset="0"/>
                  </a:rPr>
                  <a:t>exp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→ </a:t>
                </a:r>
                <a:r>
                  <a:rPr lang="en-US" altLang="zh-CN" sz="2800" i="1" dirty="0" err="1">
                    <a:cs typeface="Times New Roman" panose="02020603050405020304" pitchFamily="18" charset="0"/>
                  </a:rPr>
                  <a:t>exp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i="1" dirty="0" err="1">
                    <a:cs typeface="Times New Roman" panose="02020603050405020304" pitchFamily="18" charset="0"/>
                  </a:rPr>
                  <a:t>addop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term | term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kern="0" dirty="0">
                    <a:solidFill>
                      <a:srgbClr val="0000CC"/>
                    </a:solidFill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zh-CN" altLang="en-US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zh-CN" altLang="en-US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zh-CN" altLang="en-US" sz="2800" i="1" kern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en-US" altLang="zh-CN" sz="2800" kern="0" dirty="0">
                    <a:solidFill>
                      <a:srgbClr val="0000CC"/>
                    </a:solidFill>
                    <a:cs typeface="Times New Roman" panose="02020603050405020304" pitchFamily="18" charset="0"/>
                  </a:rPr>
                  <a:t> :      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zh-CN" altLang="en-US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</m:oMath>
                </a14:m>
                <a:r>
                  <a:rPr lang="en-US" altLang="zh-CN" sz="2800" kern="0" dirty="0">
                    <a:solidFill>
                      <a:srgbClr val="0000CC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2800" kern="0" dirty="0">
                    <a:solidFill>
                      <a:srgbClr val="0000CC"/>
                    </a:solidFill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′→</m:t>
                    </m:r>
                    <m:r>
                      <a:rPr lang="zh-CN" altLang="en-US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zh-CN" altLang="en-US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endParaRPr lang="en-US" altLang="zh-CN" sz="2800" i="1" kern="0" dirty="0">
                  <a:solidFill>
                    <a:srgbClr val="0000CC"/>
                  </a:solidFill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                              </a:t>
                </a:r>
                <a:r>
                  <a:rPr lang="en-US" altLang="zh-CN" sz="2800" i="1" dirty="0" err="1">
                    <a:cs typeface="Times New Roman" panose="02020603050405020304" pitchFamily="18" charset="0"/>
                  </a:rPr>
                  <a:t>exp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→ term 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CN" sz="2800" kern="0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                              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CN" sz="2800" i="1" dirty="0">
                    <a:cs typeface="Times New Roman" panose="02020603050405020304" pitchFamily="18" charset="0"/>
                  </a:rPr>
                  <a:t> → addop term 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CN" sz="2800" kern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780AF8-869D-4CE8-8D83-12FC6058D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70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DC5128-0C7F-43E9-B023-A2E04357F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普遍的直接左递归</a:t>
                </a:r>
                <a:r>
                  <a:rPr lang="zh-CN" altLang="en-US" sz="2800" kern="0" dirty="0">
                    <a:cs typeface="Times New Roman" panose="02020603050405020304" pitchFamily="18" charset="0"/>
                  </a:rPr>
                  <a:t>：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zh-CN" altLang="en-US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r>
                        <a:rPr lang="en-US" altLang="zh-CN" sz="2800" i="1" kern="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800" i="1" kern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 kern="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CN" altLang="en-US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cs typeface="Times New Roman" panose="02020603050405020304" pitchFamily="18" charset="0"/>
                  </a:rPr>
                  <a:t>都不以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800" kern="0" dirty="0">
                    <a:cs typeface="Times New Roman" panose="02020603050405020304" pitchFamily="18" charset="0"/>
                  </a:rPr>
                  <a:t>开头。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改写该文法如下：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|⋯|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US" altLang="zh-CN" sz="2800" kern="0" dirty="0">
                    <a:solidFill>
                      <a:srgbClr val="0000CC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′→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|⋯|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CC"/>
                  </a:solidFill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DC5128-0C7F-43E9-B023-A2E04357F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022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A9FDA1-AC14-4CE2-AF48-E44D1DDBA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示例：消除下面规则的左递归。</a:t>
                </a:r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altLang="zh-CN" i="1" dirty="0">
                    <a:cs typeface="Times New Roman" panose="02020603050405020304" pitchFamily="18" charset="0"/>
                  </a:rPr>
                  <a:t>exp → exp + term | exp - term |term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|⋯|</m:t>
                    </m:r>
                    <m:sSub>
                      <m:sSubPr>
                        <m:ctrlP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sSup>
                      <m:sSupPr>
                        <m:ctrlP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US" altLang="zh-CN" kern="0" dirty="0">
                    <a:solidFill>
                      <a:srgbClr val="0000CC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′→</m:t>
                      </m:r>
                      <m:sSub>
                        <m:sSubPr>
                          <m:ctrlP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|⋯|</m:t>
                      </m:r>
                      <m:sSub>
                        <m:sSubPr>
                          <m:ctrlP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kern="0" dirty="0">
                  <a:solidFill>
                    <a:srgbClr val="0000CC"/>
                  </a:solidFill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i="1" dirty="0">
                    <a:cs typeface="Times New Roman" panose="02020603050405020304" pitchFamily="18" charset="0"/>
                  </a:rPr>
                  <a:t>exp → exp 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+ term 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| exp 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- term 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|</a:t>
                </a:r>
                <a:r>
                  <a:rPr lang="en-US" altLang="zh-CN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term</a:t>
                </a:r>
                <a:endParaRPr lang="en-US" altLang="zh-CN" kern="0" dirty="0">
                  <a:solidFill>
                    <a:srgbClr val="00B05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cs typeface="Times New Roman" panose="02020603050405020304" pitchFamily="18" charset="0"/>
                  </a:rPr>
                  <a:t>改为：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i="1" dirty="0">
                    <a:cs typeface="Times New Roman" panose="02020603050405020304" pitchFamily="18" charset="0"/>
                  </a:rPr>
                  <a:t>                   </a:t>
                </a:r>
                <a:r>
                  <a:rPr lang="en-US" altLang="zh-CN" i="1" dirty="0" err="1">
                    <a:cs typeface="Times New Roman" panose="02020603050405020304" pitchFamily="18" charset="0"/>
                  </a:rPr>
                  <a:t>exp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 → </a:t>
                </a:r>
                <a:r>
                  <a:rPr lang="en-US" altLang="zh-CN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term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 err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’ </a:t>
                </a:r>
              </a:p>
              <a:p>
                <a:pPr lvl="1">
                  <a:spcBef>
                    <a:spcPts val="0"/>
                  </a:spcBef>
                  <a:buFontTx/>
                  <a:buNone/>
                </a:pPr>
                <a:r>
                  <a:rPr lang="en-US" altLang="zh-CN" i="1" dirty="0"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exp’ 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→ + term 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exp’ 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| - term </a:t>
                </a:r>
                <a:r>
                  <a:rPr lang="en-US" altLang="zh-CN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exp’ </a:t>
                </a:r>
                <a:r>
                  <a:rPr lang="en-US" altLang="zh-CN" i="1" dirty="0">
                    <a:cs typeface="Times New Roman" panose="02020603050405020304" pitchFamily="18" charset="0"/>
                  </a:rPr>
                  <a:t>|ε</a:t>
                </a:r>
                <a:endParaRPr lang="zh-CN" altLang="en-US" i="1" dirty="0"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A9FDA1-AC14-4CE2-AF48-E44D1DDBA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79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23DE11-FF6B-4787-B0F4-4EC5CE18D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练习：消除下面规则的左递归。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S→ S*T | S/T | T | (T)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|⋯|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US" altLang="zh-CN" sz="2800" kern="0" dirty="0">
                    <a:solidFill>
                      <a:srgbClr val="0000CC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′→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|⋯|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CC"/>
                  </a:solidFill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23DE11-FF6B-4787-B0F4-4EC5CE18D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32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7B9521-AE1C-44F1-A3C6-1338919A3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0" dirty="0">
                    <a:cs typeface="Times New Roman" panose="02020603050405020304" pitchFamily="18" charset="0"/>
                  </a:rPr>
                  <a:t>练习：消除下面规则的左递归。</a:t>
                </a:r>
                <a:endParaRPr lang="en-US" altLang="zh-CN" sz="2800" kern="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S→ S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*T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| S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/T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| </a:t>
                </a:r>
                <a:r>
                  <a:rPr lang="en-US" altLang="zh-CN" sz="2800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| </a:t>
                </a:r>
                <a:r>
                  <a:rPr lang="en-US" altLang="zh-CN" sz="2800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(T)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|⋯|</m:t>
                    </m:r>
                    <m:sSub>
                      <m:sSubPr>
                        <m:ctrlP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800" i="1" kern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sSup>
                      <m:sSupPr>
                        <m:ctrlP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800" i="1" ker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800" i="1" ker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en-US" altLang="zh-CN" sz="2800" kern="0" dirty="0">
                    <a:solidFill>
                      <a:srgbClr val="0000CC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′→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|⋯|</m:t>
                      </m:r>
                      <m:sSub>
                        <m:sSubPr>
                          <m:ctrlP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800" i="1" kern="0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CN" sz="2800" i="1" ker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sz="2800" i="1" ker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800" i="1" dirty="0"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S → </a:t>
                </a:r>
                <a:r>
                  <a:rPr lang="en-US" altLang="zh-CN" sz="2800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S’ | </a:t>
                </a:r>
                <a:r>
                  <a:rPr lang="en-US" altLang="zh-CN" sz="2800" i="1" dirty="0">
                    <a:solidFill>
                      <a:srgbClr val="00B050"/>
                    </a:solidFill>
                    <a:cs typeface="Times New Roman" panose="02020603050405020304" pitchFamily="18" charset="0"/>
                  </a:rPr>
                  <a:t>(T)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 S’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2800" i="1" dirty="0">
                    <a:cs typeface="Times New Roman" panose="02020603050405020304" pitchFamily="18" charset="0"/>
                  </a:rPr>
                  <a:t>S’ →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*T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S’ | </a:t>
                </a:r>
                <a:r>
                  <a:rPr lang="en-US" altLang="zh-CN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/T</a:t>
                </a:r>
                <a:r>
                  <a:rPr lang="en-US" altLang="zh-CN" sz="2800" i="1" dirty="0">
                    <a:cs typeface="Times New Roman" panose="02020603050405020304" pitchFamily="18" charset="0"/>
                  </a:rPr>
                  <a:t>S’ | </a:t>
                </a:r>
                <a:r>
                  <a:rPr lang="el-GR" altLang="zh-CN" sz="2800" i="1" dirty="0">
                    <a:cs typeface="Times New Roman" panose="02020603050405020304" pitchFamily="18" charset="0"/>
                  </a:rPr>
                  <a:t>ε</a:t>
                </a:r>
                <a:endParaRPr lang="en-US" altLang="zh-CN" sz="2800" i="1" dirty="0"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7B9521-AE1C-44F1-A3C6-1338919A3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4860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C22983-40A4-4D4E-A87D-A8F29CB31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一般的左递归</a:t>
                </a:r>
                <a:r>
                  <a:rPr lang="zh-CN" altLang="en-US" kern="0" dirty="0">
                    <a:cs typeface="Times New Roman" panose="02020603050405020304" pitchFamily="18" charset="0"/>
                  </a:rPr>
                  <a:t>：不带</a:t>
                </a:r>
                <a14:m>
                  <m:oMath xmlns:m="http://schemas.openxmlformats.org/officeDocument/2006/math">
                    <m:r>
                      <a:rPr lang="zh-CN" altLang="en-U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且没有循环</a:t>
                </a:r>
                <a14:m>
                  <m:oMath xmlns:m="http://schemas.openxmlformats.org/officeDocument/2006/math">
                    <m:r>
                      <a:rPr lang="en-US" altLang="zh-CN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 kern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e>
                    </m:groupCh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的左递归文法</a:t>
                </a:r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处理方法：</a:t>
                </a:r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将文法的所有非终结符按任意一种顺序</a:t>
                </a:r>
                <a:r>
                  <a:rPr lang="zh-CN" altLang="en-US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排序</a:t>
                </a:r>
                <a:r>
                  <a:rPr lang="zh-CN" altLang="en-US" kern="0" dirty="0">
                    <a:cs typeface="Times New Roman" panose="02020603050405020304" pitchFamily="18" charset="0"/>
                  </a:rPr>
                  <a:t>，得到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对每一个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，如果存在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，有产生式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，那么进行</a:t>
                </a:r>
                <a:r>
                  <a:rPr lang="zh-CN" altLang="en-US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代入</a:t>
                </a:r>
                <a:r>
                  <a:rPr lang="zh-CN" altLang="en-US" kern="0" dirty="0">
                    <a:cs typeface="Times New Roman" panose="02020603050405020304" pitchFamily="18" charset="0"/>
                  </a:rPr>
                  <a:t>操作生成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zh-CN" altLang="en-US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zh-CN" altLang="en-U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kern="0" dirty="0">
                    <a:cs typeface="Times New Roman" panose="02020603050405020304" pitchFamily="18" charset="0"/>
                  </a:rPr>
                  <a:t>如果存在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zh-CN" altLang="en-US" i="1" ker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kern="0" dirty="0">
                    <a:cs typeface="Times New Roman" panose="02020603050405020304" pitchFamily="18" charset="0"/>
                  </a:rPr>
                  <a:t>，那么执行</a:t>
                </a:r>
                <a:r>
                  <a:rPr lang="zh-CN" altLang="en-US" kern="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消除直接左递归</a:t>
                </a:r>
                <a:r>
                  <a:rPr lang="zh-CN" altLang="en-US" kern="0" dirty="0">
                    <a:cs typeface="Times New Roman" panose="02020603050405020304" pitchFamily="18" charset="0"/>
                  </a:rPr>
                  <a:t>，改为</a:t>
                </a:r>
                <a:endParaRPr lang="en-US" altLang="zh-CN" i="1" kern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zh-CN" altLang="en-US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  </m:t>
                          </m:r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zh-CN" altLang="en-US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sSubSup>
                        <m:sSubSupPr>
                          <m:ctrlP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zh-CN" altLang="en-US" i="1" ker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kern="0" dirty="0">
                  <a:cs typeface="Times New Roman" panose="02020603050405020304" pitchFamily="18" charset="0"/>
                </a:endParaRPr>
              </a:p>
              <a:p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C22983-40A4-4D4E-A87D-A8F29CB31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991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16479A-9524-4DBB-BD2C-0843BFB1B91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kern="0" dirty="0">
                <a:cs typeface="Times New Roman" panose="02020603050405020304" pitchFamily="18" charset="0"/>
              </a:rPr>
              <a:t>示例：消除下面规则的左递归。</a:t>
            </a:r>
            <a:endParaRPr lang="en-US" altLang="zh-CN" sz="2400" kern="0" dirty="0"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A→Ba</a:t>
            </a:r>
            <a:r>
              <a:rPr lang="en-US" altLang="zh-CN" sz="2400" i="1" dirty="0">
                <a:cs typeface="Times New Roman" panose="02020603050405020304" pitchFamily="18" charset="0"/>
              </a:rPr>
              <a:t>| Aa| c</a:t>
            </a:r>
          </a:p>
          <a:p>
            <a:pPr marL="0" indent="0" algn="ctr"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B→Bb</a:t>
            </a:r>
            <a:r>
              <a:rPr lang="en-US" altLang="zh-CN" sz="2400" i="1" dirty="0">
                <a:cs typeface="Times New Roman" panose="02020603050405020304" pitchFamily="18" charset="0"/>
              </a:rPr>
              <a:t>| Ab| d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排序：</a:t>
            </a:r>
            <a:r>
              <a:rPr lang="en-US" altLang="zh-CN" sz="24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cs typeface="Times New Roman" panose="02020603050405020304" pitchFamily="18" charset="0"/>
              </a:rPr>
              <a:t>A     </a:t>
            </a:r>
            <a:r>
              <a:rPr lang="en-US" altLang="zh-CN" sz="2400" dirty="0"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cs typeface="Times New Roman" panose="02020603050405020304" pitchFamily="18" charset="0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=1   </a:t>
            </a:r>
            <a:r>
              <a:rPr lang="en-US" altLang="zh-CN" sz="24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A→Ba</a:t>
            </a:r>
            <a:r>
              <a:rPr lang="en-US" altLang="zh-CN" sz="2400" i="1" dirty="0">
                <a:solidFill>
                  <a:srgbClr val="0000CC"/>
                </a:solidFill>
                <a:cs typeface="Times New Roman" panose="02020603050405020304" pitchFamily="18" charset="0"/>
              </a:rPr>
              <a:t>| Aa| c</a:t>
            </a:r>
            <a:endParaRPr lang="en-US" altLang="zh-CN" sz="2400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无需代入，没有比</a:t>
            </a:r>
            <a:r>
              <a:rPr lang="en-US" altLang="zh-CN" sz="2400" dirty="0"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cs typeface="Times New Roman" panose="02020603050405020304" pitchFamily="18" charset="0"/>
              </a:rPr>
              <a:t>编号小的非终结符。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cs typeface="Times New Roman" panose="02020603050405020304" pitchFamily="18" charset="0"/>
              </a:rPr>
              <a:t>消除左递归：                      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A→BaA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’| c A’</a:t>
            </a:r>
          </a:p>
          <a:p>
            <a:pPr marL="457200" lvl="1" indent="0">
              <a:buNone/>
            </a:pP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                                  A’→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aA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’| ε      </a:t>
            </a:r>
          </a:p>
          <a:p>
            <a:pPr marL="457200" lvl="1" indent="0">
              <a:buNone/>
            </a:pP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B→Bb</a:t>
            </a:r>
            <a:r>
              <a:rPr lang="en-US" altLang="zh-CN" sz="2400" i="1" dirty="0">
                <a:cs typeface="Times New Roman" panose="02020603050405020304" pitchFamily="18" charset="0"/>
              </a:rPr>
              <a:t>| Ab| d</a:t>
            </a:r>
            <a:endParaRPr lang="zh-CN" altLang="en-US" sz="2400" i="1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11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B565CF-CD99-4FED-9E9D-A4A670C8D52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lvl="1" algn="ctr">
              <a:buFontTx/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A→BaA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c A’</a:t>
            </a:r>
          </a:p>
          <a:p>
            <a:pPr lvl="1" algn="ctr">
              <a:buFontTx/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A’→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ε</a:t>
            </a:r>
          </a:p>
          <a:p>
            <a:pPr lvl="1" algn="ctr">
              <a:buFontTx/>
              <a:buNone/>
            </a:pPr>
            <a:r>
              <a:rPr lang="en-US" altLang="zh-CN" sz="24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B→Bb</a:t>
            </a:r>
            <a:r>
              <a:rPr lang="en-US" altLang="zh-CN" sz="2400" i="1" dirty="0">
                <a:solidFill>
                  <a:srgbClr val="0000CC"/>
                </a:solidFill>
                <a:cs typeface="Times New Roman" panose="02020603050405020304" pitchFamily="18" charset="0"/>
              </a:rPr>
              <a:t>| Ab| d</a:t>
            </a:r>
            <a:endParaRPr lang="zh-CN" altLang="en-US" sz="2400" i="1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=2   </a:t>
            </a:r>
            <a:r>
              <a:rPr lang="en-US" altLang="zh-CN" sz="24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B→Bb</a:t>
            </a:r>
            <a:r>
              <a:rPr lang="en-US" altLang="zh-CN" sz="2400" i="1" dirty="0">
                <a:solidFill>
                  <a:srgbClr val="0000CC"/>
                </a:solidFill>
                <a:cs typeface="Times New Roman" panose="02020603050405020304" pitchFamily="18" charset="0"/>
              </a:rPr>
              <a:t>| Ab| d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代入：                                 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A→BaA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c A’</a:t>
            </a: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A’→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ε</a:t>
            </a: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B→Bb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| 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BaA’b|cA’b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| 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消除左递归：          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A→BaA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c A’</a:t>
            </a: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A’→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aA</a:t>
            </a:r>
            <a:r>
              <a:rPr lang="en-US" altLang="zh-CN" sz="2400" i="1" dirty="0">
                <a:cs typeface="Times New Roman" panose="02020603050405020304" pitchFamily="18" charset="0"/>
              </a:rPr>
              <a:t>’| ε</a:t>
            </a: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B→cA’bB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’| dB’</a:t>
            </a:r>
          </a:p>
          <a:p>
            <a:pPr lvl="1" algn="ctr">
              <a:lnSpc>
                <a:spcPct val="80000"/>
              </a:lnSpc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B’→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’ |aA’</a:t>
            </a:r>
            <a:r>
              <a:rPr lang="en-US" altLang="zh-CN" sz="2400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400" i="1" dirty="0">
                <a:solidFill>
                  <a:srgbClr val="FF0000"/>
                </a:solidFill>
                <a:cs typeface="Times New Roman" panose="02020603050405020304" pitchFamily="18" charset="0"/>
              </a:rPr>
              <a:t>’|ε</a:t>
            </a:r>
          </a:p>
        </p:txBody>
      </p:sp>
    </p:spTree>
    <p:extLst>
      <p:ext uri="{BB962C8B-B14F-4D97-AF65-F5344CB8AC3E}">
        <p14:creationId xmlns:p14="http://schemas.microsoft.com/office/powerpoint/2010/main" val="281232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DC1F7-814E-460D-993A-CD60E4B9815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cs typeface="Times New Roman" panose="02020603050405020304" pitchFamily="18" charset="0"/>
              </a:rPr>
              <a:t>练习：消除下面规则的左递归。</a:t>
            </a:r>
            <a:endParaRPr lang="en-US" altLang="zh-CN" sz="2800" kern="0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cs typeface="Times New Roman" panose="02020603050405020304" pitchFamily="18" charset="0"/>
              </a:rPr>
              <a:t>S→Qc</a:t>
            </a:r>
            <a:r>
              <a:rPr lang="en-US" altLang="zh-CN" sz="2800" i="1" dirty="0">
                <a:cs typeface="Times New Roman" panose="02020603050405020304" pitchFamily="18" charset="0"/>
              </a:rPr>
              <a:t> | c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cs typeface="Times New Roman" panose="02020603050405020304" pitchFamily="18" charset="0"/>
              </a:rPr>
              <a:t>Q→Rb</a:t>
            </a:r>
            <a:r>
              <a:rPr lang="en-US" altLang="zh-CN" sz="2800" i="1" dirty="0">
                <a:cs typeface="Times New Roman" panose="02020603050405020304" pitchFamily="18" charset="0"/>
              </a:rPr>
              <a:t> | b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cs typeface="Times New Roman" panose="02020603050405020304" pitchFamily="18" charset="0"/>
              </a:rPr>
              <a:t>R→Sa</a:t>
            </a:r>
            <a:r>
              <a:rPr lang="en-US" altLang="zh-CN" sz="2800" i="1" dirty="0">
                <a:cs typeface="Times New Roman" panose="02020603050405020304" pitchFamily="18" charset="0"/>
              </a:rPr>
              <a:t> |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240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C1F4B-2677-45B2-81F7-A75B99F1E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59D932-152E-4517-AD29-5B956EFA1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3024"/>
            <a:ext cx="10972800" cy="5398343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S→Qc</a:t>
            </a:r>
            <a:r>
              <a:rPr lang="en-US" altLang="zh-CN" sz="2400" i="1" dirty="0">
                <a:cs typeface="Times New Roman" panose="02020603050405020304" pitchFamily="18" charset="0"/>
              </a:rPr>
              <a:t> | c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Q→Rb</a:t>
            </a:r>
            <a:r>
              <a:rPr lang="en-US" altLang="zh-CN" sz="2400" i="1" dirty="0">
                <a:cs typeface="Times New Roman" panose="02020603050405020304" pitchFamily="18" charset="0"/>
              </a:rPr>
              <a:t> | b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altLang="zh-CN" sz="2400" i="1" dirty="0" err="1">
                <a:cs typeface="Times New Roman" panose="02020603050405020304" pitchFamily="18" charset="0"/>
              </a:rPr>
              <a:t>R→Sa</a:t>
            </a:r>
            <a:r>
              <a:rPr lang="en-US" altLang="zh-CN" sz="2400" i="1" dirty="0">
                <a:cs typeface="Times New Roman" panose="02020603050405020304" pitchFamily="18" charset="0"/>
              </a:rPr>
              <a:t> | 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编号：</a:t>
            </a:r>
            <a:r>
              <a:rPr lang="en-US" altLang="zh-CN" sz="24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cs typeface="Times New Roman" panose="02020603050405020304" pitchFamily="18" charset="0"/>
              </a:rPr>
              <a:t>S,  2: Q, 3: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cs typeface="Times New Roman" panose="02020603050405020304" pitchFamily="18" charset="0"/>
              </a:rPr>
              <a:t>：没有带入，没有直接左递归。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cs typeface="Times New Roman" panose="02020603050405020304" pitchFamily="18" charset="0"/>
              </a:rPr>
              <a:t>：没有带入，没有直接左递归。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cs typeface="Times New Roman" panose="02020603050405020304" pitchFamily="18" charset="0"/>
              </a:rPr>
              <a:t>：带入：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                        R→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Qca</a:t>
            </a:r>
            <a:r>
              <a:rPr lang="en-US" altLang="zh-CN" sz="2400" i="1" dirty="0">
                <a:cs typeface="Times New Roman" panose="02020603050405020304" pitchFamily="18" charset="0"/>
              </a:rPr>
              <a:t> | ca | 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                        R→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Rbca</a:t>
            </a:r>
            <a:r>
              <a:rPr lang="en-US" altLang="zh-CN" sz="2400" i="1" dirty="0">
                <a:cs typeface="Times New Roman" panose="02020603050405020304" pitchFamily="18" charset="0"/>
              </a:rPr>
              <a:t> |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bca</a:t>
            </a:r>
            <a:r>
              <a:rPr lang="en-US" altLang="zh-CN" sz="2400" i="1" dirty="0">
                <a:cs typeface="Times New Roman" panose="02020603050405020304" pitchFamily="18" charset="0"/>
              </a:rPr>
              <a:t> | ca | 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消除直接左递归：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                        R→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bcaR</a:t>
            </a:r>
            <a:r>
              <a:rPr lang="en-US" altLang="zh-CN" sz="2400" i="1" dirty="0">
                <a:cs typeface="Times New Roman" panose="02020603050405020304" pitchFamily="18" charset="0"/>
              </a:rPr>
              <a:t>’ |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caR</a:t>
            </a:r>
            <a:r>
              <a:rPr lang="en-US" altLang="zh-CN" sz="2400" i="1" dirty="0">
                <a:cs typeface="Times New Roman" panose="02020603050405020304" pitchFamily="18" charset="0"/>
              </a:rPr>
              <a:t>’ |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aR</a:t>
            </a:r>
            <a:r>
              <a:rPr lang="en-US" altLang="zh-CN" sz="2400" i="1" dirty="0">
                <a:cs typeface="Times New Roman" panose="02020603050405020304" pitchFamily="18" charset="0"/>
              </a:rPr>
              <a:t>’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i="1" dirty="0">
                <a:cs typeface="Times New Roman" panose="02020603050405020304" pitchFamily="18" charset="0"/>
              </a:rPr>
              <a:t>                          R’→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bcaR</a:t>
            </a:r>
            <a:r>
              <a:rPr lang="en-US" altLang="zh-CN" sz="2400" i="1" dirty="0">
                <a:cs typeface="Times New Roman" panose="02020603050405020304" pitchFamily="18" charset="0"/>
              </a:rPr>
              <a:t>’ | ε</a:t>
            </a:r>
          </a:p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D5576E-72F0-4252-8DDE-D90F4760BA57}"/>
              </a:ext>
            </a:extLst>
          </p:cNvPr>
          <p:cNvSpPr txBox="1"/>
          <p:nvPr/>
        </p:nvSpPr>
        <p:spPr>
          <a:xfrm>
            <a:off x="7464152" y="3927127"/>
            <a:ext cx="3456383" cy="1569660"/>
          </a:xfrm>
          <a:prstGeom prst="rect">
            <a:avLst/>
          </a:prstGeom>
          <a:noFill/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b="1" i="1" dirty="0" err="1">
                <a:cs typeface="Times New Roman" panose="02020603050405020304" pitchFamily="18" charset="0"/>
              </a:rPr>
              <a:t>S→Qc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|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i="1" dirty="0" err="1">
                <a:cs typeface="Times New Roman" panose="02020603050405020304" pitchFamily="18" charset="0"/>
              </a:rPr>
              <a:t>Q→Rb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|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R→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bcaR</a:t>
            </a:r>
            <a:r>
              <a:rPr lang="en-US" altLang="zh-CN" sz="2400" b="1" i="1" dirty="0">
                <a:cs typeface="Times New Roman" panose="02020603050405020304" pitchFamily="18" charset="0"/>
              </a:rPr>
              <a:t>’ |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caR</a:t>
            </a:r>
            <a:r>
              <a:rPr lang="en-US" altLang="zh-CN" sz="2400" b="1" i="1" dirty="0">
                <a:cs typeface="Times New Roman" panose="02020603050405020304" pitchFamily="18" charset="0"/>
              </a:rPr>
              <a:t>’ |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aR</a:t>
            </a:r>
            <a:r>
              <a:rPr lang="en-US" altLang="zh-CN" sz="2400" b="1" i="1" dirty="0">
                <a:cs typeface="Times New Roman" panose="02020603050405020304" pitchFamily="18" charset="0"/>
              </a:rPr>
              <a:t>’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R’→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bcaR</a:t>
            </a:r>
            <a:r>
              <a:rPr lang="en-US" altLang="zh-CN" sz="2400" b="1" i="1" dirty="0">
                <a:cs typeface="Times New Roman" panose="02020603050405020304" pitchFamily="18" charset="0"/>
              </a:rPr>
              <a:t>’ | ε</a:t>
            </a:r>
          </a:p>
        </p:txBody>
      </p:sp>
    </p:spTree>
    <p:extLst>
      <p:ext uri="{BB962C8B-B14F-4D97-AF65-F5344CB8AC3E}">
        <p14:creationId xmlns:p14="http://schemas.microsoft.com/office/powerpoint/2010/main" val="90401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F547B-7360-4570-8ECA-F7970E32E38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这种对文法的修改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没有改变语言</a:t>
            </a:r>
            <a:r>
              <a:rPr lang="zh-CN" altLang="en-US" dirty="0">
                <a:cs typeface="Times New Roman" panose="02020603050405020304" pitchFamily="18" charset="0"/>
              </a:rPr>
              <a:t>，但是却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改变了文法和分析树</a:t>
            </a:r>
            <a:r>
              <a:rPr lang="zh-CN" altLang="en-US" dirty="0">
                <a:cs typeface="Times New Roman" panose="02020603050405020304" pitchFamily="18" charset="0"/>
              </a:rPr>
              <a:t>。以简单算术表达式为例：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exp → term exp’</a:t>
            </a:r>
          </a:p>
          <a:p>
            <a:pPr lvl="2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exp’→ </a:t>
            </a:r>
            <a:r>
              <a:rPr lang="en-US" altLang="zh-CN" i="1" dirty="0" err="1">
                <a:cs typeface="Times New Roman" panose="02020603050405020304" pitchFamily="18" charset="0"/>
              </a:rPr>
              <a:t>addop</a:t>
            </a:r>
            <a:r>
              <a:rPr lang="en-US" altLang="zh-CN" i="1" dirty="0">
                <a:cs typeface="Times New Roman" panose="02020603050405020304" pitchFamily="18" charset="0"/>
              </a:rPr>
              <a:t> term </a:t>
            </a:r>
            <a:r>
              <a:rPr lang="en-US" altLang="zh-CN" i="1" dirty="0" err="1">
                <a:cs typeface="Times New Roman" panose="02020603050405020304" pitchFamily="18" charset="0"/>
              </a:rPr>
              <a:t>exp’</a:t>
            </a:r>
            <a:r>
              <a:rPr lang="en-US" altLang="zh-CN" dirty="0" err="1">
                <a:cs typeface="Times New Roman" panose="02020603050405020304" pitchFamily="18" charset="0"/>
              </a:rPr>
              <a:t>∣</a:t>
            </a:r>
            <a:r>
              <a:rPr lang="en-US" altLang="zh-CN" i="1" dirty="0" err="1">
                <a:cs typeface="Times New Roman" panose="02020603050405020304" pitchFamily="18" charset="0"/>
              </a:rPr>
              <a:t>ε</a:t>
            </a:r>
            <a:endParaRPr lang="en-US" altLang="zh-CN" i="1" dirty="0"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altLang="zh-CN" i="1" dirty="0" err="1">
                <a:cs typeface="Times New Roman" panose="02020603050405020304" pitchFamily="18" charset="0"/>
              </a:rPr>
              <a:t>addop</a:t>
            </a:r>
            <a:r>
              <a:rPr lang="en-US" altLang="zh-CN" i="1" dirty="0">
                <a:cs typeface="Times New Roman" panose="02020603050405020304" pitchFamily="18" charset="0"/>
              </a:rPr>
              <a:t> → + -</a:t>
            </a:r>
          </a:p>
          <a:p>
            <a:pPr lvl="2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term → factor term’</a:t>
            </a:r>
          </a:p>
          <a:p>
            <a:pPr lvl="2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term’ → </a:t>
            </a:r>
            <a:r>
              <a:rPr lang="en-US" altLang="zh-CN" i="1" dirty="0" err="1">
                <a:cs typeface="Times New Roman" panose="02020603050405020304" pitchFamily="18" charset="0"/>
              </a:rPr>
              <a:t>mulop</a:t>
            </a:r>
            <a:r>
              <a:rPr lang="en-US" altLang="zh-CN" i="1" dirty="0">
                <a:cs typeface="Times New Roman" panose="02020603050405020304" pitchFamily="18" charset="0"/>
              </a:rPr>
              <a:t> factor </a:t>
            </a:r>
            <a:r>
              <a:rPr lang="en-US" altLang="zh-CN" i="1" dirty="0" err="1">
                <a:cs typeface="Times New Roman" panose="02020603050405020304" pitchFamily="18" charset="0"/>
              </a:rPr>
              <a:t>term’</a:t>
            </a:r>
            <a:r>
              <a:rPr lang="en-US" altLang="zh-CN" dirty="0" err="1">
                <a:cs typeface="Times New Roman" panose="02020603050405020304" pitchFamily="18" charset="0"/>
              </a:rPr>
              <a:t>∣</a:t>
            </a:r>
            <a:r>
              <a:rPr lang="en-US" altLang="zh-CN" i="1" dirty="0" err="1">
                <a:cs typeface="Times New Roman" panose="02020603050405020304" pitchFamily="18" charset="0"/>
              </a:rPr>
              <a:t>ε</a:t>
            </a:r>
            <a:endParaRPr lang="en-US" altLang="zh-CN" i="1" dirty="0"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altLang="zh-CN" i="1" dirty="0" err="1">
                <a:cs typeface="Times New Roman" panose="02020603050405020304" pitchFamily="18" charset="0"/>
              </a:rPr>
              <a:t>mulop</a:t>
            </a:r>
            <a:r>
              <a:rPr lang="en-US" altLang="zh-CN" i="1" dirty="0">
                <a:cs typeface="Times New Roman" panose="02020603050405020304" pitchFamily="18" charset="0"/>
              </a:rPr>
              <a:t> →*</a:t>
            </a:r>
          </a:p>
          <a:p>
            <a:pPr lvl="2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factor →(exp) </a:t>
            </a:r>
            <a:r>
              <a:rPr lang="en-US" altLang="zh-CN" dirty="0">
                <a:cs typeface="Times New Roman" panose="02020603050405020304" pitchFamily="18" charset="0"/>
              </a:rPr>
              <a:t>∣</a:t>
            </a:r>
            <a:r>
              <a:rPr lang="en-US" altLang="zh-CN" i="1" dirty="0">
                <a:cs typeface="Times New Roman" panose="02020603050405020304" pitchFamily="18" charset="0"/>
              </a:rPr>
              <a:t> number </a:t>
            </a:r>
            <a:endParaRPr lang="zh-CN" altLang="en-US" i="1" dirty="0">
              <a:cs typeface="Times New Roman" panose="02020603050405020304" pitchFamily="18" charset="0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89934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6270F-C2A6-46C1-AF95-4471C11535E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串</a:t>
            </a:r>
            <a:r>
              <a:rPr lang="en-US" altLang="zh-CN" sz="2800" dirty="0">
                <a:cs typeface="Times New Roman" panose="02020603050405020304" pitchFamily="18" charset="0"/>
              </a:rPr>
              <a:t>3-4-5</a:t>
            </a:r>
            <a:r>
              <a:rPr lang="zh-CN" altLang="en-US" sz="2800" dirty="0">
                <a:cs typeface="Times New Roman" panose="02020603050405020304" pitchFamily="18" charset="0"/>
              </a:rPr>
              <a:t>的分析树变成：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8E9F7A3A-485E-4F29-AE44-C0891D056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385751"/>
              </p:ext>
            </p:extLst>
          </p:nvPr>
        </p:nvGraphicFramePr>
        <p:xfrm>
          <a:off x="5015880" y="1556792"/>
          <a:ext cx="6336704" cy="4857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182015" imgH="3398277" progId="Word.Document.8">
                  <p:embed/>
                </p:oleObj>
              </mc:Choice>
              <mc:Fallback>
                <p:oleObj name="Document" r:id="rId2" imgW="4182015" imgH="3398277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1556792"/>
                        <a:ext cx="6336704" cy="4857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A1F9316-BAC0-49B6-8612-C19E6D7047D7}"/>
              </a:ext>
            </a:extLst>
          </p:cNvPr>
          <p:cNvSpPr txBox="1"/>
          <p:nvPr/>
        </p:nvSpPr>
        <p:spPr>
          <a:xfrm>
            <a:off x="1343472" y="2388106"/>
            <a:ext cx="40547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>
              <a:buFontTx/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exp → term exp’</a:t>
            </a:r>
          </a:p>
          <a:p>
            <a:pPr marL="0" lvl="2">
              <a:buFontTx/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exp’→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addop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term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exp’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∣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ε</a:t>
            </a:r>
            <a:endParaRPr lang="en-US" altLang="zh-CN" sz="2400" b="1" i="1" dirty="0">
              <a:cs typeface="Times New Roman" panose="02020603050405020304" pitchFamily="18" charset="0"/>
            </a:endParaRPr>
          </a:p>
          <a:p>
            <a:pPr marL="0" lvl="2">
              <a:buFontTx/>
              <a:buNone/>
            </a:pPr>
            <a:r>
              <a:rPr lang="en-US" altLang="zh-CN" sz="2400" b="1" i="1" dirty="0" err="1">
                <a:cs typeface="Times New Roman" panose="02020603050405020304" pitchFamily="18" charset="0"/>
              </a:rPr>
              <a:t>addop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→ + -</a:t>
            </a:r>
          </a:p>
          <a:p>
            <a:pPr marL="0" lvl="2">
              <a:buFontTx/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term → factor term’</a:t>
            </a:r>
          </a:p>
          <a:p>
            <a:pPr marL="0" lvl="2">
              <a:buFontTx/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term’ →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mulop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factor 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term’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∣</a:t>
            </a:r>
            <a:r>
              <a:rPr lang="en-US" altLang="zh-CN" sz="2400" b="1" i="1" dirty="0" err="1">
                <a:cs typeface="Times New Roman" panose="02020603050405020304" pitchFamily="18" charset="0"/>
              </a:rPr>
              <a:t>ε</a:t>
            </a:r>
            <a:endParaRPr lang="en-US" altLang="zh-CN" sz="2400" b="1" i="1" dirty="0">
              <a:cs typeface="Times New Roman" panose="02020603050405020304" pitchFamily="18" charset="0"/>
            </a:endParaRPr>
          </a:p>
          <a:p>
            <a:pPr marL="0" lvl="2">
              <a:buFontTx/>
              <a:buNone/>
            </a:pPr>
            <a:r>
              <a:rPr lang="en-US" altLang="zh-CN" sz="2400" b="1" i="1" dirty="0" err="1">
                <a:cs typeface="Times New Roman" panose="02020603050405020304" pitchFamily="18" charset="0"/>
              </a:rPr>
              <a:t>mulop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→*</a:t>
            </a:r>
          </a:p>
          <a:p>
            <a:pPr marL="0" lvl="2">
              <a:buFontTx/>
              <a:buNone/>
            </a:pPr>
            <a:r>
              <a:rPr lang="en-US" altLang="zh-CN" sz="2400" b="1" i="1" dirty="0">
                <a:cs typeface="Times New Roman" panose="02020603050405020304" pitchFamily="18" charset="0"/>
              </a:rPr>
              <a:t>factor →(exp) </a:t>
            </a:r>
            <a:r>
              <a:rPr lang="en-US" altLang="zh-CN" sz="2400" b="1" dirty="0">
                <a:cs typeface="Times New Roman" panose="02020603050405020304" pitchFamily="18" charset="0"/>
              </a:rPr>
              <a:t>∣</a:t>
            </a:r>
            <a:r>
              <a:rPr lang="en-US" altLang="zh-CN" sz="2400" b="1" i="1" dirty="0">
                <a:cs typeface="Times New Roman" panose="02020603050405020304" pitchFamily="18" charset="0"/>
              </a:rPr>
              <a:t> number </a:t>
            </a:r>
            <a:endParaRPr lang="zh-CN" altLang="en-US" sz="2400" b="1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28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消除左递归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A3A45-4904-413B-8C06-5BDE792B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343024"/>
            <a:ext cx="11449272" cy="5398343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但这个文法是一个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文法了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32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536384"/>
              </p:ext>
            </p:extLst>
          </p:nvPr>
        </p:nvGraphicFramePr>
        <p:xfrm>
          <a:off x="551384" y="1988840"/>
          <a:ext cx="11103025" cy="456864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8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84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M[N,T]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number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$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effectLst/>
                        </a:rPr>
                        <a:t>e</a:t>
                      </a:r>
                      <a:r>
                        <a:rPr lang="en-US" sz="1800" b="1" kern="100" dirty="0">
                          <a:effectLst/>
                        </a:rPr>
                        <a:t>xp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exp</a:t>
                      </a:r>
                      <a:r>
                        <a:rPr lang="zh-CN" sz="1800" b="1" kern="100" dirty="0">
                          <a:effectLst/>
                        </a:rPr>
                        <a:t>→ </a:t>
                      </a:r>
                      <a:r>
                        <a:rPr lang="en-US" sz="1800" b="1" kern="100" dirty="0">
                          <a:effectLst/>
                        </a:rPr>
                        <a:t>term </a:t>
                      </a:r>
                      <a:r>
                        <a:rPr lang="en-US" sz="1800" b="1" kern="100" dirty="0" err="1">
                          <a:effectLst/>
                        </a:rPr>
                        <a:t>exp</a:t>
                      </a:r>
                      <a:r>
                        <a:rPr lang="en-US" sz="1800" b="1" kern="100" dirty="0">
                          <a:effectLst/>
                        </a:rPr>
                        <a:t>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exp </a:t>
                      </a:r>
                      <a:r>
                        <a:rPr lang="zh-CN" sz="1800" b="1" kern="100" dirty="0">
                          <a:effectLst/>
                        </a:rPr>
                        <a:t>→ </a:t>
                      </a:r>
                      <a:r>
                        <a:rPr lang="en-US" sz="1800" b="1" kern="100" dirty="0">
                          <a:effectLst/>
                        </a:rPr>
                        <a:t>term exp’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8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exp’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exp</a:t>
                      </a:r>
                      <a:r>
                        <a:rPr lang="en-US" sz="1800" b="1" kern="100" dirty="0">
                          <a:effectLst/>
                        </a:rPr>
                        <a:t>’</a:t>
                      </a:r>
                      <a:r>
                        <a:rPr lang="zh-CN" sz="1800" b="1" kern="100" dirty="0">
                          <a:effectLst/>
                        </a:rPr>
                        <a:t>→ε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exp</a:t>
                      </a:r>
                      <a:r>
                        <a:rPr lang="en-US" sz="1800" b="1" kern="100" dirty="0">
                          <a:effectLst/>
                        </a:rPr>
                        <a:t>’</a:t>
                      </a:r>
                      <a:r>
                        <a:rPr lang="zh-CN" sz="1800" b="1" kern="100" dirty="0">
                          <a:effectLst/>
                        </a:rPr>
                        <a:t>→ </a:t>
                      </a:r>
                      <a:r>
                        <a:rPr lang="en-US" sz="1800" b="1" kern="100" dirty="0" err="1">
                          <a:effectLst/>
                        </a:rPr>
                        <a:t>addop</a:t>
                      </a:r>
                      <a:r>
                        <a:rPr lang="en-US" sz="1800" b="1" kern="100" dirty="0">
                          <a:effectLst/>
                        </a:rPr>
                        <a:t> term </a:t>
                      </a:r>
                      <a:r>
                        <a:rPr lang="en-US" sz="1800" b="1" kern="100" dirty="0" err="1">
                          <a:effectLst/>
                        </a:rPr>
                        <a:t>exp</a:t>
                      </a:r>
                      <a:r>
                        <a:rPr lang="en-US" sz="1800" b="1" kern="100" dirty="0">
                          <a:effectLst/>
                        </a:rPr>
                        <a:t>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exp’</a:t>
                      </a:r>
                      <a:r>
                        <a:rPr lang="zh-CN" sz="1800" b="1" kern="100">
                          <a:effectLst/>
                        </a:rPr>
                        <a:t>→ </a:t>
                      </a:r>
                      <a:r>
                        <a:rPr lang="en-US" sz="1800" b="1" kern="100">
                          <a:effectLst/>
                        </a:rPr>
                        <a:t>addop term exp’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exp’</a:t>
                      </a:r>
                      <a:r>
                        <a:rPr lang="zh-CN" sz="1800" b="1" kern="100">
                          <a:effectLst/>
                        </a:rPr>
                        <a:t>→ε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addop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addop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 +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addop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 -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term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 factor term’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term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 factor term’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78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term’ </a:t>
                      </a:r>
                      <a:r>
                        <a:rPr lang="zh-CN" sz="1800" b="1" kern="100" dirty="0">
                          <a:effectLst/>
                        </a:rPr>
                        <a:t>→ε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term’ </a:t>
                      </a:r>
                      <a:r>
                        <a:rPr lang="zh-CN" sz="1800" b="1" kern="100">
                          <a:effectLst/>
                        </a:rPr>
                        <a:t>→ε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term’ </a:t>
                      </a:r>
                      <a:r>
                        <a:rPr lang="zh-CN" sz="1800" b="1" kern="100" dirty="0">
                          <a:effectLst/>
                        </a:rPr>
                        <a:t>→ε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term’ </a:t>
                      </a:r>
                      <a:r>
                        <a:rPr lang="zh-CN" sz="1800" b="1" kern="100" dirty="0">
                          <a:effectLst/>
                        </a:rPr>
                        <a:t>→</a:t>
                      </a:r>
                      <a:r>
                        <a:rPr lang="en-US" sz="1800" b="1" kern="100" dirty="0">
                          <a:effectLst/>
                        </a:rPr>
                        <a:t> </a:t>
                      </a:r>
                      <a:r>
                        <a:rPr lang="en-US" sz="1800" b="1" kern="100" dirty="0" err="1">
                          <a:effectLst/>
                        </a:rPr>
                        <a:t>mulop</a:t>
                      </a:r>
                      <a:r>
                        <a:rPr lang="en-US" sz="1800" b="1" kern="100" dirty="0">
                          <a:effectLst/>
                        </a:rPr>
                        <a:t> factor term’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term’ </a:t>
                      </a:r>
                      <a:r>
                        <a:rPr lang="zh-CN" sz="1800" b="1" kern="100" dirty="0">
                          <a:effectLst/>
                        </a:rPr>
                        <a:t>→ε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96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mulop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mulop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*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factor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factor</a:t>
                      </a:r>
                      <a:r>
                        <a:rPr lang="zh-CN" sz="1800" b="1" kern="100" dirty="0">
                          <a:effectLst/>
                        </a:rPr>
                        <a:t>→</a:t>
                      </a:r>
                      <a:r>
                        <a:rPr lang="en-US" sz="1800" b="1" kern="100" dirty="0">
                          <a:effectLst/>
                        </a:rPr>
                        <a:t>(exp)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factor </a:t>
                      </a:r>
                      <a:r>
                        <a:rPr lang="zh-CN" sz="1800" b="1" kern="100">
                          <a:effectLst/>
                        </a:rPr>
                        <a:t>→</a:t>
                      </a:r>
                      <a:r>
                        <a:rPr lang="en-US" sz="1800" b="1" kern="100">
                          <a:effectLst/>
                        </a:rPr>
                        <a:t> number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663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提取左因子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2E6A2F-0FEA-4328-B7E9-585D2CA9397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当两个或者更多文法规则选择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共享一个通用前缀串</a:t>
            </a:r>
            <a:r>
              <a:rPr lang="zh-CN" altLang="en-US" dirty="0">
                <a:cs typeface="Times New Roman" panose="02020603050405020304" pitchFamily="18" charset="0"/>
              </a:rPr>
              <a:t>的时候，需要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提取左因子</a:t>
            </a:r>
            <a:r>
              <a:rPr lang="zh-CN" altLang="en-US" dirty="0">
                <a:cs typeface="Times New Roman" panose="02020603050405020304" pitchFamily="18" charset="0"/>
              </a:rPr>
              <a:t>。</a:t>
            </a:r>
            <a:r>
              <a:rPr lang="en-US" altLang="zh-CN" i="1" dirty="0">
                <a:cs typeface="Times New Roman" panose="02020603050405020304" pitchFamily="18" charset="0"/>
              </a:rPr>
              <a:t>A→αβ|αγ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需要改写为：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 algn="ctr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A→αA’</a:t>
            </a:r>
          </a:p>
          <a:p>
            <a:pPr lvl="1" algn="ctr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A’→β|γ</a:t>
            </a:r>
            <a:endParaRPr lang="zh-CN" altLang="en-US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更一般的情况</a:t>
            </a:r>
            <a:r>
              <a:rPr lang="zh-CN" altLang="en-US" dirty="0">
                <a:cs typeface="Times New Roman" panose="02020603050405020304" pitchFamily="18" charset="0"/>
              </a:rPr>
              <a:t>：</a:t>
            </a:r>
            <a:r>
              <a:rPr lang="en-US" altLang="zh-CN" dirty="0"/>
              <a:t> </a:t>
            </a:r>
            <a:r>
              <a:rPr lang="en-US" altLang="zh-CN" i="1" dirty="0">
                <a:cs typeface="Times New Roman" panose="02020603050405020304" pitchFamily="18" charset="0"/>
              </a:rPr>
              <a:t>A →αβ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cs typeface="Times New Roman" panose="02020603050405020304" pitchFamily="18" charset="0"/>
              </a:rPr>
              <a:t>|αβ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cs typeface="Times New Roman" panose="02020603050405020304" pitchFamily="18" charset="0"/>
              </a:rPr>
              <a:t>|…|αβ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k</a:t>
            </a:r>
            <a:r>
              <a:rPr lang="en-US" altLang="zh-CN" i="1" dirty="0">
                <a:cs typeface="Times New Roman" panose="02020603050405020304" pitchFamily="18" charset="0"/>
              </a:rPr>
              <a:t>|α</a:t>
            </a:r>
            <a:r>
              <a:rPr lang="en-US" altLang="zh-CN" i="1" baseline="-25000" dirty="0" err="1">
                <a:cs typeface="Times New Roman" panose="02020603050405020304" pitchFamily="18" charset="0"/>
              </a:rPr>
              <a:t>k+1</a:t>
            </a:r>
            <a:r>
              <a:rPr lang="en-US" altLang="zh-CN" i="1" dirty="0">
                <a:cs typeface="Times New Roman" panose="02020603050405020304" pitchFamily="18" charset="0"/>
              </a:rPr>
              <a:t>|…|α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需要改写为：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en-US" altLang="zh-CN" i="1" dirty="0">
                <a:cs typeface="Times New Roman" panose="02020603050405020304" pitchFamily="18" charset="0"/>
              </a:rPr>
              <a:t>A →αA’ | α</a:t>
            </a:r>
            <a:r>
              <a:rPr lang="en-US" altLang="zh-CN" i="1" baseline="-25000" dirty="0" err="1">
                <a:cs typeface="Times New Roman" panose="02020603050405020304" pitchFamily="18" charset="0"/>
              </a:rPr>
              <a:t>k+1</a:t>
            </a:r>
            <a:r>
              <a:rPr lang="en-US" altLang="zh-CN" i="1" dirty="0">
                <a:cs typeface="Times New Roman" panose="02020603050405020304" pitchFamily="18" charset="0"/>
              </a:rPr>
              <a:t>|…|α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n</a:t>
            </a:r>
          </a:p>
          <a:p>
            <a:pPr algn="ctr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A’→β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cs typeface="Times New Roman" panose="02020603050405020304" pitchFamily="18" charset="0"/>
              </a:rPr>
              <a:t>|β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cs typeface="Times New Roman" panose="02020603050405020304" pitchFamily="18" charset="0"/>
              </a:rPr>
              <a:t>|…|β</a:t>
            </a:r>
            <a:r>
              <a:rPr lang="en-US" altLang="zh-CN" i="1" baseline="-25000" dirty="0">
                <a:cs typeface="Times New Roman" panose="02020603050405020304" pitchFamily="18" charset="0"/>
              </a:rPr>
              <a:t>k</a:t>
            </a:r>
          </a:p>
          <a:p>
            <a:pPr>
              <a:spcBef>
                <a:spcPts val="0"/>
              </a:spcBef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3993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提取左因子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536E1-E589-4767-807D-778E36CE363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示例：</a:t>
            </a:r>
            <a:r>
              <a:rPr lang="en-US" altLang="zh-CN" dirty="0"/>
              <a:t> </a:t>
            </a:r>
            <a:r>
              <a:rPr lang="zh-CN" altLang="en-US" dirty="0"/>
              <a:t>消除下面文法的左因子</a:t>
            </a:r>
            <a:endParaRPr lang="en-US" altLang="zh-CN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i="1" dirty="0" err="1">
                <a:cs typeface="Times New Roman" panose="02020603050405020304" pitchFamily="18" charset="0"/>
              </a:rPr>
              <a:t>stmt-sequence→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; </a:t>
            </a:r>
            <a:r>
              <a:rPr lang="en-US" altLang="zh-CN" i="1" dirty="0" err="1"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-sequence | 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stmt</a:t>
            </a:r>
            <a:endParaRPr lang="en-US" altLang="zh-CN" i="1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</a:t>
            </a:r>
            <a:r>
              <a:rPr lang="en-US" altLang="zh-CN" i="1" dirty="0" err="1">
                <a:cs typeface="Times New Roman" panose="02020603050405020304" pitchFamily="18" charset="0"/>
              </a:rPr>
              <a:t>stmt→s</a:t>
            </a:r>
            <a:endParaRPr lang="en-US" altLang="zh-CN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改为：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      </a:t>
            </a:r>
            <a:r>
              <a:rPr lang="en-US" altLang="zh-CN" i="1" dirty="0" err="1">
                <a:cs typeface="Times New Roman" panose="02020603050405020304" pitchFamily="18" charset="0"/>
              </a:rPr>
              <a:t>stmt-sequence→stmt</a:t>
            </a:r>
            <a:r>
              <a:rPr lang="en-US" altLang="zh-CN" i="1" dirty="0"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-seq’</a:t>
            </a:r>
          </a:p>
          <a:p>
            <a:pPr lvl="1"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</a:t>
            </a:r>
            <a:r>
              <a:rPr lang="en-US" altLang="zh-CN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-seq’</a:t>
            </a:r>
            <a:r>
              <a:rPr lang="en-US" altLang="zh-CN" i="1" dirty="0">
                <a:cs typeface="Times New Roman" panose="02020603050405020304" pitchFamily="18" charset="0"/>
              </a:rPr>
              <a:t>→; </a:t>
            </a:r>
            <a:r>
              <a:rPr lang="en-US" altLang="zh-CN" i="1" dirty="0" err="1"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-sequence | ε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</a:t>
            </a:r>
            <a:r>
              <a:rPr lang="en-US" altLang="zh-CN" i="1" dirty="0" err="1">
                <a:cs typeface="Times New Roman" panose="02020603050405020304" pitchFamily="18" charset="0"/>
              </a:rPr>
              <a:t>stmt→s</a:t>
            </a:r>
            <a:endParaRPr lang="en-US" altLang="zh-CN" i="1" dirty="0">
              <a:cs typeface="Times New Roman" panose="02020603050405020304" pitchFamily="18" charset="0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69593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提取左因子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D2889-B588-40D1-A596-F5EB67685BE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示例：</a:t>
            </a:r>
            <a:r>
              <a:rPr lang="en-US" altLang="zh-CN" dirty="0"/>
              <a:t> </a:t>
            </a:r>
            <a:r>
              <a:rPr lang="zh-CN" altLang="en-US" dirty="0"/>
              <a:t>消除下面文法的左因子</a:t>
            </a:r>
            <a:endParaRPr lang="en-US" altLang="zh-CN" dirty="0"/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if-</a:t>
            </a:r>
            <a:r>
              <a:rPr lang="en-US" altLang="zh-CN" i="1" dirty="0" err="1"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 → 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if ( exp ) statement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</a:t>
            </a:r>
            <a:r>
              <a:rPr lang="en-US" altLang="zh-CN" dirty="0">
                <a:cs typeface="Times New Roman" panose="02020603050405020304" pitchFamily="18" charset="0"/>
              </a:rPr>
              <a:t>∣</a:t>
            </a:r>
            <a:r>
              <a:rPr lang="en-US" altLang="zh-CN" i="1" dirty="0"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if ( exp ) statement </a:t>
            </a:r>
            <a:r>
              <a:rPr lang="en-US" altLang="zh-CN" i="1" dirty="0">
                <a:cs typeface="Times New Roman" panose="02020603050405020304" pitchFamily="18" charset="0"/>
              </a:rPr>
              <a:t>else statement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改为：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if-</a:t>
            </a:r>
            <a:r>
              <a:rPr lang="en-US" altLang="zh-CN" i="1" dirty="0" err="1"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 → if (exp) statement 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else-part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else-part</a:t>
            </a:r>
            <a:r>
              <a:rPr lang="en-US" altLang="zh-CN" i="1" dirty="0">
                <a:cs typeface="Times New Roman" panose="02020603050405020304" pitchFamily="18" charset="0"/>
              </a:rPr>
              <a:t> → else statement | ε</a:t>
            </a:r>
            <a:endParaRPr lang="zh-CN" altLang="en-US" i="1" dirty="0">
              <a:cs typeface="Times New Roman" panose="02020603050405020304" pitchFamily="18" charset="0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449014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提取左因子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94697-FBD3-4C5F-A0F4-18A671E9FCF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示例：</a:t>
            </a:r>
            <a:r>
              <a:rPr lang="en-US" altLang="zh-CN" dirty="0"/>
              <a:t> </a:t>
            </a:r>
            <a:r>
              <a:rPr lang="zh-CN" altLang="en-US" dirty="0"/>
              <a:t>消除下面文法的左因子</a:t>
            </a:r>
            <a:endParaRPr lang="en-US" altLang="zh-CN" dirty="0"/>
          </a:p>
          <a:p>
            <a:pPr lvl="1" algn="ctr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exp → 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term</a:t>
            </a:r>
            <a:r>
              <a:rPr lang="en-US" altLang="zh-CN" i="1" dirty="0" err="1">
                <a:cs typeface="Times New Roman" panose="02020603050405020304" pitchFamily="18" charset="0"/>
              </a:rPr>
              <a:t>+exp</a:t>
            </a:r>
            <a:r>
              <a:rPr lang="en-US" altLang="zh-CN" i="1" dirty="0">
                <a:cs typeface="Times New Roman" panose="02020603050405020304" pitchFamily="18" charset="0"/>
              </a:rPr>
              <a:t> | 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term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改为：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            exp → term exp’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            exp’→ + </a:t>
            </a:r>
            <a:r>
              <a:rPr lang="en-US" altLang="zh-CN" i="1" dirty="0" err="1">
                <a:cs typeface="Times New Roman" panose="02020603050405020304" pitchFamily="18" charset="0"/>
              </a:rPr>
              <a:t>exp</a:t>
            </a:r>
            <a:r>
              <a:rPr lang="en-US" altLang="zh-CN" dirty="0" err="1">
                <a:cs typeface="Times New Roman" panose="02020603050405020304" pitchFamily="18" charset="0"/>
              </a:rPr>
              <a:t>∣</a:t>
            </a:r>
            <a:r>
              <a:rPr lang="en-US" altLang="zh-CN" i="1" dirty="0" err="1">
                <a:cs typeface="Times New Roman" panose="02020603050405020304" pitchFamily="18" charset="0"/>
              </a:rPr>
              <a:t>ε</a:t>
            </a:r>
            <a:endParaRPr lang="en-US" altLang="zh-CN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exp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替换为</a:t>
            </a:r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term exp’ </a:t>
            </a:r>
            <a:r>
              <a:rPr lang="zh-CN" altLang="en-US" dirty="0">
                <a:cs typeface="Times New Roman" panose="02020603050405020304" pitchFamily="18" charset="0"/>
              </a:rPr>
              <a:t>可以得到：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            exp → term exp’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                      exp’→ + term </a:t>
            </a:r>
            <a:r>
              <a:rPr lang="en-US" altLang="zh-CN" i="1" dirty="0" err="1">
                <a:cs typeface="Times New Roman" panose="02020603050405020304" pitchFamily="18" charset="0"/>
              </a:rPr>
              <a:t>exp’</a:t>
            </a:r>
            <a:r>
              <a:rPr lang="en-US" altLang="zh-CN" dirty="0" err="1">
                <a:cs typeface="Times New Roman" panose="02020603050405020304" pitchFamily="18" charset="0"/>
              </a:rPr>
              <a:t>∣</a:t>
            </a:r>
            <a:r>
              <a:rPr lang="en-US" altLang="zh-CN" i="1" dirty="0" err="1">
                <a:cs typeface="Times New Roman" panose="02020603050405020304" pitchFamily="18" charset="0"/>
              </a:rPr>
              <a:t>ε</a:t>
            </a:r>
            <a:endParaRPr lang="zh-CN" altLang="en-US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这与消除左递归得到的文法一致。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8664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提取左因子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59739-7ED3-4BA6-B115-87BAD173BC9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直接提取左因子可能失败的例子：</a:t>
            </a:r>
            <a:endParaRPr lang="en-US" altLang="zh-CN" dirty="0"/>
          </a:p>
          <a:p>
            <a:pPr lvl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statement → 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assign-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 | 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call-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stmt</a:t>
            </a:r>
            <a:r>
              <a:rPr lang="en-US" altLang="zh-CN" i="1" dirty="0">
                <a:cs typeface="Times New Roman" panose="02020603050405020304" pitchFamily="18" charset="0"/>
              </a:rPr>
              <a:t> | other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</a:t>
            </a:r>
            <a:r>
              <a:rPr lang="en-US" altLang="zh-CN" i="1" dirty="0" err="1">
                <a:cs typeface="Times New Roman" panose="02020603050405020304" pitchFamily="18" charset="0"/>
              </a:rPr>
              <a:t>assign-stmt→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identifier</a:t>
            </a:r>
            <a:r>
              <a:rPr lang="en-US" altLang="zh-CN" i="1" dirty="0">
                <a:cs typeface="Times New Roman" panose="02020603050405020304" pitchFamily="18" charset="0"/>
              </a:rPr>
              <a:t>:=exp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     </a:t>
            </a:r>
            <a:r>
              <a:rPr lang="en-US" altLang="zh-CN" i="1" dirty="0" err="1">
                <a:cs typeface="Times New Roman" panose="02020603050405020304" pitchFamily="18" charset="0"/>
              </a:rPr>
              <a:t>call-stmt→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indentifier</a:t>
            </a:r>
            <a:r>
              <a:rPr lang="en-US" altLang="zh-CN" i="1" dirty="0">
                <a:cs typeface="Times New Roman" panose="02020603050405020304" pitchFamily="18" charset="0"/>
              </a:rPr>
              <a:t>(exp-list)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实际这是一种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间接左因子</a:t>
            </a:r>
            <a:r>
              <a:rPr lang="zh-CN" altLang="en-US" dirty="0">
                <a:cs typeface="Times New Roman" panose="02020603050405020304" pitchFamily="18" charset="0"/>
              </a:rPr>
              <a:t>。如果层数太深，考虑通过程序处理来解决。层数浅则考虑先代入再提取。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statement → identifier:=exp | </a:t>
            </a:r>
            <a:r>
              <a:rPr lang="en-US" altLang="zh-CN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indentifier</a:t>
            </a:r>
            <a:r>
              <a:rPr lang="en-US" altLang="zh-CN" i="1" dirty="0">
                <a:solidFill>
                  <a:srgbClr val="0000CC"/>
                </a:solidFill>
                <a:cs typeface="Times New Roman" panose="02020603050405020304" pitchFamily="18" charset="0"/>
              </a:rPr>
              <a:t>(exp-list) | other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statement → identifier statement’ | other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i="1" dirty="0">
                <a:cs typeface="Times New Roman" panose="02020603050405020304" pitchFamily="18" charset="0"/>
              </a:rPr>
              <a:t>     statement’ →:=exp |(exp-list)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87014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536AC-11E5-422F-9FAF-55E7E01C0AE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cs typeface="Times New Roman" panose="02020603050405020304" pitchFamily="18" charset="0"/>
              </a:rPr>
              <a:t>练习：消除下面文法的左递归和左因子。</a:t>
            </a:r>
            <a:endParaRPr lang="en-US" altLang="zh-CN" sz="2800" kern="0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S→(T) | </a:t>
            </a:r>
            <a:r>
              <a:rPr lang="en-US" altLang="zh-CN" sz="28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a+S</a:t>
            </a: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 | 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T→T</a:t>
            </a: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, S | 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415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BDABEE-F352-44DC-9D56-40529DCBD75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kern="0" dirty="0">
                <a:cs typeface="Times New Roman" panose="02020603050405020304" pitchFamily="18" charset="0"/>
              </a:rPr>
              <a:t>练习：消除下面文法的左递归和左因子。</a:t>
            </a:r>
            <a:endParaRPr lang="en-US" altLang="zh-CN" sz="2800" kern="0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S→(T) | </a:t>
            </a:r>
            <a:r>
              <a:rPr lang="en-US" altLang="zh-CN" sz="28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a+S</a:t>
            </a: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 | 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T→T</a:t>
            </a:r>
            <a:r>
              <a:rPr lang="en-US" altLang="zh-CN" sz="2800" i="1" dirty="0">
                <a:solidFill>
                  <a:srgbClr val="0000CC"/>
                </a:solidFill>
                <a:cs typeface="Times New Roman" panose="02020603050405020304" pitchFamily="18" charset="0"/>
              </a:rPr>
              <a:t>, S | S</a:t>
            </a:r>
            <a:endParaRPr lang="en-US" altLang="zh-CN" sz="2800" i="1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>
                <a:cs typeface="Times New Roman" panose="02020603050405020304" pitchFamily="18" charset="0"/>
              </a:rPr>
              <a:t>S→(T) | 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aS’</a:t>
            </a:r>
            <a:endParaRPr lang="en-US" altLang="zh-CN" sz="2800" i="1" dirty="0"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>
                <a:cs typeface="Times New Roman" panose="02020603050405020304" pitchFamily="18" charset="0"/>
              </a:rPr>
              <a:t>S’ → +S | ε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 err="1">
                <a:cs typeface="Times New Roman" panose="02020603050405020304" pitchFamily="18" charset="0"/>
              </a:rPr>
              <a:t>T→ST</a:t>
            </a:r>
            <a:r>
              <a:rPr lang="en-US" altLang="zh-CN" sz="2800" i="1" dirty="0">
                <a:cs typeface="Times New Roman" panose="02020603050405020304" pitchFamily="18" charset="0"/>
              </a:rPr>
              <a:t>’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2800" i="1" dirty="0">
                <a:cs typeface="Times New Roman" panose="02020603050405020304" pitchFamily="18" charset="0"/>
              </a:rPr>
              <a:t>T’→ , ST’ | ε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03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7198</TotalTime>
  <Words>3744</Words>
  <Application>Microsoft Office PowerPoint</Application>
  <PresentationFormat>宽屏</PresentationFormat>
  <Paragraphs>753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黑体</vt:lpstr>
      <vt:lpstr>宋体</vt:lpstr>
      <vt:lpstr>Microsoft Yahei</vt:lpstr>
      <vt:lpstr>Arial</vt:lpstr>
      <vt:lpstr>Cambria Math</vt:lpstr>
      <vt:lpstr>Times New Roman</vt:lpstr>
      <vt:lpstr>Verdana</vt:lpstr>
      <vt:lpstr>Wingdings</vt:lpstr>
      <vt:lpstr>主题4</vt:lpstr>
      <vt:lpstr>Document</vt:lpstr>
      <vt:lpstr>第四章 自顶向下的分析</vt:lpstr>
      <vt:lpstr>LL(1)分析方法</vt:lpstr>
      <vt:lpstr>LL(1)分析示例</vt:lpstr>
      <vt:lpstr>LL(1)分析过程</vt:lpstr>
      <vt:lpstr>LL(1)分析过程</vt:lpstr>
      <vt:lpstr>LL(1)分析表</vt:lpstr>
      <vt:lpstr>LL(1)分析表</vt:lpstr>
      <vt:lpstr>PowerPoint 演示文稿</vt:lpstr>
      <vt:lpstr>PowerPoint 演示文稿</vt:lpstr>
      <vt:lpstr>LL(1)分析表的构造</vt:lpstr>
      <vt:lpstr>LL(1)分析表</vt:lpstr>
      <vt:lpstr>LL(1)文法的定义</vt:lpstr>
      <vt:lpstr>示例</vt:lpstr>
      <vt:lpstr>LL(1)分析对二义性的处理</vt:lpstr>
      <vt:lpstr>PowerPoint 演示文稿</vt:lpstr>
      <vt:lpstr>练习</vt:lpstr>
      <vt:lpstr>PowerPoint 演示文稿</vt:lpstr>
      <vt:lpstr>PowerPoint 演示文稿</vt:lpstr>
      <vt:lpstr>练习</vt:lpstr>
      <vt:lpstr>PowerPoint 演示文稿</vt:lpstr>
      <vt:lpstr>PowerPoint 演示文稿</vt:lpstr>
      <vt:lpstr>LL(1)文法的限制条件</vt:lpstr>
      <vt:lpstr>LL(1)文法的限制条件</vt:lpstr>
      <vt:lpstr>PowerPoint 演示文稿</vt:lpstr>
      <vt:lpstr>LL(1)文法的限制条件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消除左递归</vt:lpstr>
      <vt:lpstr>提取左因子</vt:lpstr>
      <vt:lpstr>提取左因子</vt:lpstr>
      <vt:lpstr>提取左因子</vt:lpstr>
      <vt:lpstr>提取左因子</vt:lpstr>
      <vt:lpstr>提取左因子</vt:lpstr>
      <vt:lpstr>练习</vt:lpstr>
      <vt:lpstr>练习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482</cp:revision>
  <dcterms:created xsi:type="dcterms:W3CDTF">1999-05-10T08:46:26Z</dcterms:created>
  <dcterms:modified xsi:type="dcterms:W3CDTF">2025-04-10T04:18:44Z</dcterms:modified>
</cp:coreProperties>
</file>