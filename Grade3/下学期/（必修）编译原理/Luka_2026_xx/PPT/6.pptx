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tag31.xml" ContentType="application/vnd.openxmlformats-officedocument.presentationml.tags+xml"/>
  <Override PartName="/ppt/tags/tag50.xml" ContentType="application/vnd.openxmlformats-officedocument.presentationml.tags+xml"/>
  <Override PartName="/ppt/tags/tag70.xml" ContentType="application/vnd.openxmlformats-officedocument.presentationml.tags+xml"/>
  <Override PartName="/ppt/tags/tag90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8"/>
  </p:notesMasterIdLst>
  <p:handoutMasterIdLst>
    <p:handoutMasterId r:id="rId79"/>
  </p:handoutMasterIdLst>
  <p:sldIdLst>
    <p:sldId id="393" r:id="rId2"/>
    <p:sldId id="477" r:id="rId3"/>
    <p:sldId id="394" r:id="rId4"/>
    <p:sldId id="480" r:id="rId5"/>
    <p:sldId id="476" r:id="rId6"/>
    <p:sldId id="481" r:id="rId7"/>
    <p:sldId id="482" r:id="rId8"/>
    <p:sldId id="483" r:id="rId9"/>
    <p:sldId id="484" r:id="rId10"/>
    <p:sldId id="485" r:id="rId11"/>
    <p:sldId id="395" r:id="rId12"/>
    <p:sldId id="405" r:id="rId13"/>
    <p:sldId id="463" r:id="rId14"/>
    <p:sldId id="478" r:id="rId15"/>
    <p:sldId id="408" r:id="rId16"/>
    <p:sldId id="486" r:id="rId17"/>
    <p:sldId id="407" r:id="rId18"/>
    <p:sldId id="536" r:id="rId19"/>
    <p:sldId id="406" r:id="rId20"/>
    <p:sldId id="464" r:id="rId21"/>
    <p:sldId id="396" r:id="rId22"/>
    <p:sldId id="397" r:id="rId23"/>
    <p:sldId id="400" r:id="rId24"/>
    <p:sldId id="521" r:id="rId25"/>
    <p:sldId id="522" r:id="rId26"/>
    <p:sldId id="398" r:id="rId27"/>
    <p:sldId id="467" r:id="rId28"/>
    <p:sldId id="468" r:id="rId29"/>
    <p:sldId id="508" r:id="rId30"/>
    <p:sldId id="466" r:id="rId31"/>
    <p:sldId id="487" r:id="rId32"/>
    <p:sldId id="488" r:id="rId33"/>
    <p:sldId id="489" r:id="rId34"/>
    <p:sldId id="462" r:id="rId35"/>
    <p:sldId id="469" r:id="rId36"/>
    <p:sldId id="537" r:id="rId37"/>
    <p:sldId id="490" r:id="rId38"/>
    <p:sldId id="492" r:id="rId39"/>
    <p:sldId id="409" r:id="rId40"/>
    <p:sldId id="510" r:id="rId41"/>
    <p:sldId id="475" r:id="rId42"/>
    <p:sldId id="511" r:id="rId43"/>
    <p:sldId id="529" r:id="rId44"/>
    <p:sldId id="524" r:id="rId45"/>
    <p:sldId id="525" r:id="rId46"/>
    <p:sldId id="526" r:id="rId47"/>
    <p:sldId id="527" r:id="rId48"/>
    <p:sldId id="528" r:id="rId49"/>
    <p:sldId id="470" r:id="rId50"/>
    <p:sldId id="509" r:id="rId51"/>
    <p:sldId id="471" r:id="rId52"/>
    <p:sldId id="472" r:id="rId53"/>
    <p:sldId id="473" r:id="rId54"/>
    <p:sldId id="495" r:id="rId55"/>
    <p:sldId id="496" r:id="rId56"/>
    <p:sldId id="474" r:id="rId57"/>
    <p:sldId id="497" r:id="rId58"/>
    <p:sldId id="514" r:id="rId59"/>
    <p:sldId id="523" r:id="rId60"/>
    <p:sldId id="512" r:id="rId61"/>
    <p:sldId id="498" r:id="rId62"/>
    <p:sldId id="532" r:id="rId63"/>
    <p:sldId id="533" r:id="rId64"/>
    <p:sldId id="530" r:id="rId65"/>
    <p:sldId id="531" r:id="rId66"/>
    <p:sldId id="535" r:id="rId67"/>
    <p:sldId id="499" r:id="rId68"/>
    <p:sldId id="500" r:id="rId69"/>
    <p:sldId id="501" r:id="rId70"/>
    <p:sldId id="502" r:id="rId71"/>
    <p:sldId id="503" r:id="rId72"/>
    <p:sldId id="504" r:id="rId73"/>
    <p:sldId id="505" r:id="rId74"/>
    <p:sldId id="534" r:id="rId75"/>
    <p:sldId id="263" r:id="rId76"/>
    <p:sldId id="264" r:id="rId77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6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FF"/>
    <a:srgbClr val="FF9933"/>
    <a:srgbClr val="CC00CC"/>
    <a:srgbClr val="339933"/>
    <a:srgbClr val="0000CC"/>
    <a:srgbClr val="9999FF"/>
    <a:srgbClr val="CCCCFF"/>
    <a:srgbClr val="FFFFCC"/>
    <a:srgbClr val="FFFF99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79" autoAdjust="0"/>
    <p:restoredTop sz="91058" autoAdjust="0"/>
  </p:normalViewPr>
  <p:slideViewPr>
    <p:cSldViewPr>
      <p:cViewPr varScale="1">
        <p:scale>
          <a:sx n="79" d="100"/>
          <a:sy n="79" d="100"/>
        </p:scale>
        <p:origin x="787" y="77"/>
      </p:cViewPr>
      <p:guideLst>
        <p:guide orient="horz" pos="2886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740"/>
    </p:cViewPr>
  </p:sorterViewPr>
  <p:notesViewPr>
    <p:cSldViewPr>
      <p:cViewPr varScale="1">
        <p:scale>
          <a:sx n="37" d="100"/>
          <a:sy n="37" d="100"/>
        </p:scale>
        <p:origin x="-1090" y="-5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EBD1789-4991-4012-AA0B-0311859506BA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0900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单击以编辑母版文本样式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25CEE83-8A2A-48C4-91B1-F00C976E2AEA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7"/>
          <p:cNvGrpSpPr/>
          <p:nvPr/>
        </p:nvGrpSpPr>
        <p:grpSpPr bwMode="auto">
          <a:xfrm>
            <a:off x="-12700" y="2708276"/>
            <a:ext cx="12244917" cy="1501775"/>
            <a:chOff x="-23" y="1319"/>
            <a:chExt cx="5799" cy="946"/>
          </a:xfrm>
        </p:grpSpPr>
        <p:sp>
          <p:nvSpPr>
            <p:cNvPr id="5" name="Freeform 18"/>
            <p:cNvSpPr/>
            <p:nvPr/>
          </p:nvSpPr>
          <p:spPr bwMode="gray">
            <a:xfrm>
              <a:off x="-20" y="1319"/>
              <a:ext cx="5779" cy="946"/>
            </a:xfrm>
            <a:custGeom>
              <a:avLst/>
              <a:gdLst>
                <a:gd name="T0" fmla="*/ 6 w 5779"/>
                <a:gd name="T1" fmla="*/ 454 h 946"/>
                <a:gd name="T2" fmla="*/ 355 w 5779"/>
                <a:gd name="T3" fmla="*/ 454 h 946"/>
                <a:gd name="T4" fmla="*/ 757 w 5779"/>
                <a:gd name="T5" fmla="*/ 1 h 946"/>
                <a:gd name="T6" fmla="*/ 2511 w 5779"/>
                <a:gd name="T7" fmla="*/ 0 h 946"/>
                <a:gd name="T8" fmla="*/ 2646 w 5779"/>
                <a:gd name="T9" fmla="*/ 144 h 946"/>
                <a:gd name="T10" fmla="*/ 5779 w 5779"/>
                <a:gd name="T11" fmla="*/ 137 h 946"/>
                <a:gd name="T12" fmla="*/ 5779 w 5779"/>
                <a:gd name="T13" fmla="*/ 772 h 946"/>
                <a:gd name="T14" fmla="*/ 2899 w 5779"/>
                <a:gd name="T15" fmla="*/ 765 h 946"/>
                <a:gd name="T16" fmla="*/ 2757 w 5779"/>
                <a:gd name="T17" fmla="*/ 946 h 946"/>
                <a:gd name="T18" fmla="*/ 1883 w 5779"/>
                <a:gd name="T19" fmla="*/ 946 h 946"/>
                <a:gd name="T20" fmla="*/ 1663 w 5779"/>
                <a:gd name="T21" fmla="*/ 687 h 946"/>
                <a:gd name="T22" fmla="*/ 0 w 5779"/>
                <a:gd name="T23" fmla="*/ 687 h 946"/>
                <a:gd name="T24" fmla="*/ 35 w 5779"/>
                <a:gd name="T25" fmla="*/ 480 h 94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779" h="946">
                  <a:moveTo>
                    <a:pt x="6" y="454"/>
                  </a:moveTo>
                  <a:lnTo>
                    <a:pt x="355" y="454"/>
                  </a:lnTo>
                  <a:lnTo>
                    <a:pt x="757" y="1"/>
                  </a:lnTo>
                  <a:lnTo>
                    <a:pt x="2511" y="0"/>
                  </a:lnTo>
                  <a:lnTo>
                    <a:pt x="2646" y="144"/>
                  </a:lnTo>
                  <a:lnTo>
                    <a:pt x="5779" y="137"/>
                  </a:lnTo>
                  <a:lnTo>
                    <a:pt x="5779" y="772"/>
                  </a:lnTo>
                  <a:lnTo>
                    <a:pt x="2899" y="765"/>
                  </a:lnTo>
                  <a:lnTo>
                    <a:pt x="2757" y="946"/>
                  </a:lnTo>
                  <a:lnTo>
                    <a:pt x="1883" y="946"/>
                  </a:lnTo>
                  <a:lnTo>
                    <a:pt x="1663" y="687"/>
                  </a:lnTo>
                  <a:lnTo>
                    <a:pt x="0" y="687"/>
                  </a:lnTo>
                  <a:lnTo>
                    <a:pt x="35" y="48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  <a:effectLst>
              <a:outerShdw dist="77251" dir="4832261" algn="ctr" rotWithShape="0">
                <a:srgbClr val="000066">
                  <a:alpha val="18999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zh-CN" altLang="en-US">
                <a:ea typeface="+mn-ea"/>
              </a:endParaRPr>
            </a:p>
          </p:txBody>
        </p:sp>
        <p:sp>
          <p:nvSpPr>
            <p:cNvPr id="6" name="Freeform 19" descr="01_img(Global Digtal Desigm(imageState)"/>
            <p:cNvSpPr/>
            <p:nvPr/>
          </p:nvSpPr>
          <p:spPr bwMode="gray">
            <a:xfrm>
              <a:off x="-23" y="1344"/>
              <a:ext cx="5799" cy="895"/>
            </a:xfrm>
            <a:custGeom>
              <a:avLst/>
              <a:gdLst>
                <a:gd name="T0" fmla="*/ 0 w 5799"/>
                <a:gd name="T1" fmla="*/ 455 h 895"/>
                <a:gd name="T2" fmla="*/ 369 w 5799"/>
                <a:gd name="T3" fmla="*/ 454 h 895"/>
                <a:gd name="T4" fmla="*/ 776 w 5799"/>
                <a:gd name="T5" fmla="*/ 0 h 895"/>
                <a:gd name="T6" fmla="*/ 2496 w 5799"/>
                <a:gd name="T7" fmla="*/ 0 h 895"/>
                <a:gd name="T8" fmla="*/ 2632 w 5799"/>
                <a:gd name="T9" fmla="*/ 136 h 895"/>
                <a:gd name="T10" fmla="*/ 5799 w 5799"/>
                <a:gd name="T11" fmla="*/ 136 h 895"/>
                <a:gd name="T12" fmla="*/ 5788 w 5799"/>
                <a:gd name="T13" fmla="*/ 727 h 895"/>
                <a:gd name="T14" fmla="*/ 2883 w 5799"/>
                <a:gd name="T15" fmla="*/ 708 h 895"/>
                <a:gd name="T16" fmla="*/ 2747 w 5799"/>
                <a:gd name="T17" fmla="*/ 895 h 895"/>
                <a:gd name="T18" fmla="*/ 1899 w 5799"/>
                <a:gd name="T19" fmla="*/ 895 h 895"/>
                <a:gd name="T20" fmla="*/ 1681 w 5799"/>
                <a:gd name="T21" fmla="*/ 635 h 895"/>
                <a:gd name="T22" fmla="*/ 7 w 5799"/>
                <a:gd name="T23" fmla="*/ 635 h 895"/>
                <a:gd name="T24" fmla="*/ 7 w 5799"/>
                <a:gd name="T25" fmla="*/ 454 h 89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799" h="895">
                  <a:moveTo>
                    <a:pt x="0" y="455"/>
                  </a:moveTo>
                  <a:lnTo>
                    <a:pt x="369" y="454"/>
                  </a:lnTo>
                  <a:lnTo>
                    <a:pt x="776" y="0"/>
                  </a:lnTo>
                  <a:lnTo>
                    <a:pt x="2496" y="0"/>
                  </a:lnTo>
                  <a:lnTo>
                    <a:pt x="2632" y="136"/>
                  </a:lnTo>
                  <a:lnTo>
                    <a:pt x="5799" y="136"/>
                  </a:lnTo>
                  <a:lnTo>
                    <a:pt x="5788" y="727"/>
                  </a:lnTo>
                  <a:lnTo>
                    <a:pt x="2883" y="708"/>
                  </a:lnTo>
                  <a:lnTo>
                    <a:pt x="2747" y="895"/>
                  </a:lnTo>
                  <a:lnTo>
                    <a:pt x="1899" y="895"/>
                  </a:lnTo>
                  <a:lnTo>
                    <a:pt x="1681" y="635"/>
                  </a:lnTo>
                  <a:lnTo>
                    <a:pt x="7" y="635"/>
                  </a:lnTo>
                  <a:lnTo>
                    <a:pt x="7" y="454"/>
                  </a:lnTo>
                </a:path>
              </a:pathLst>
            </a:custGeom>
            <a:blipFill dpi="0" rotWithShape="1">
              <a:blip r:embed="rId2" cstate="print"/>
              <a:srcRect/>
              <a:stretch>
                <a:fillRect/>
              </a:stretch>
            </a:blip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ea typeface="+mn-ea"/>
              </a:endParaRPr>
            </a:p>
          </p:txBody>
        </p:sp>
      </p:grpSp>
      <p:sp>
        <p:nvSpPr>
          <p:cNvPr id="7987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927351" y="4365625"/>
            <a:ext cx="8534400" cy="17526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798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00151" y="1196975"/>
            <a:ext cx="10363200" cy="1470025"/>
          </a:xfrm>
        </p:spPr>
        <p:txBody>
          <a:bodyPr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43025"/>
            <a:ext cx="5384800" cy="51371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43025"/>
            <a:ext cx="5384800" cy="51371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579439"/>
            <a:ext cx="2743200" cy="59007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579439"/>
            <a:ext cx="8026400" cy="59007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800" y="579438"/>
            <a:ext cx="10464800" cy="5635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343025"/>
            <a:ext cx="5384800" cy="51371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43025"/>
            <a:ext cx="5384800" cy="51371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800" y="579438"/>
            <a:ext cx="10464800" cy="5635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43025"/>
            <a:ext cx="5384800" cy="51371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343026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87801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800" y="579438"/>
            <a:ext cx="10464800" cy="5635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343025"/>
            <a:ext cx="5384800" cy="51371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343026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87801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19200" y="1676400"/>
            <a:ext cx="88392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19200" y="3695700"/>
            <a:ext cx="88392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812800" y="579438"/>
            <a:ext cx="10464800" cy="5635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343026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343026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87801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87801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400" y="1981200"/>
            <a:ext cx="103632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FC6AE96-43E9-4D4A-B7B7-8F9A2F2ADEF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9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16"/>
          <p:cNvSpPr/>
          <p:nvPr/>
        </p:nvSpPr>
        <p:spPr bwMode="gray">
          <a:xfrm>
            <a:off x="1" y="360363"/>
            <a:ext cx="12198351" cy="900112"/>
          </a:xfrm>
          <a:custGeom>
            <a:avLst/>
            <a:gdLst>
              <a:gd name="T0" fmla="*/ 0 w 5763"/>
              <a:gd name="T1" fmla="*/ 584200 h 567"/>
              <a:gd name="T2" fmla="*/ 698500 w 5763"/>
              <a:gd name="T3" fmla="*/ 584200 h 567"/>
              <a:gd name="T4" fmla="*/ 1233488 w 5763"/>
              <a:gd name="T5" fmla="*/ 0 h 567"/>
              <a:gd name="T6" fmla="*/ 3432175 w 5763"/>
              <a:gd name="T7" fmla="*/ 0 h 567"/>
              <a:gd name="T8" fmla="*/ 3595688 w 5763"/>
              <a:gd name="T9" fmla="*/ 184150 h 567"/>
              <a:gd name="T10" fmla="*/ 9137650 w 5763"/>
              <a:gd name="T11" fmla="*/ 177800 h 567"/>
              <a:gd name="T12" fmla="*/ 9148763 w 5763"/>
              <a:gd name="T13" fmla="*/ 900112 h 567"/>
              <a:gd name="T14" fmla="*/ 9525 w 5763"/>
              <a:gd name="T15" fmla="*/ 882650 h 56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763" h="567">
                <a:moveTo>
                  <a:pt x="0" y="368"/>
                </a:moveTo>
                <a:lnTo>
                  <a:pt x="440" y="368"/>
                </a:lnTo>
                <a:lnTo>
                  <a:pt x="777" y="0"/>
                </a:lnTo>
                <a:lnTo>
                  <a:pt x="2162" y="0"/>
                </a:lnTo>
                <a:lnTo>
                  <a:pt x="2265" y="116"/>
                </a:lnTo>
                <a:lnTo>
                  <a:pt x="5756" y="112"/>
                </a:lnTo>
                <a:lnTo>
                  <a:pt x="5763" y="567"/>
                </a:lnTo>
                <a:lnTo>
                  <a:pt x="6" y="556"/>
                </a:lnTo>
              </a:path>
            </a:pathLst>
          </a:custGeom>
          <a:solidFill>
            <a:schemeClr val="bg2"/>
          </a:solidFill>
          <a:ln w="9525">
            <a:noFill/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+mn-ea"/>
            </a:endParaRPr>
          </a:p>
        </p:txBody>
      </p:sp>
      <p:sp>
        <p:nvSpPr>
          <p:cNvPr id="1027" name="Freeform 15" descr="01b_img(Global Digtal Desigm(imageState)"/>
          <p:cNvSpPr/>
          <p:nvPr/>
        </p:nvSpPr>
        <p:spPr bwMode="gray">
          <a:xfrm>
            <a:off x="-12700" y="336550"/>
            <a:ext cx="12242800" cy="838200"/>
          </a:xfrm>
          <a:custGeom>
            <a:avLst/>
            <a:gdLst>
              <a:gd name="T0" fmla="*/ 712788 w 5784"/>
              <a:gd name="T1" fmla="*/ 587375 h 528"/>
              <a:gd name="T2" fmla="*/ 1219200 w 5784"/>
              <a:gd name="T3" fmla="*/ 1588 h 528"/>
              <a:gd name="T4" fmla="*/ 3425825 w 5784"/>
              <a:gd name="T5" fmla="*/ 0 h 528"/>
              <a:gd name="T6" fmla="*/ 3584575 w 5784"/>
              <a:gd name="T7" fmla="*/ 182563 h 528"/>
              <a:gd name="T8" fmla="*/ 9182100 w 5784"/>
              <a:gd name="T9" fmla="*/ 182563 h 528"/>
              <a:gd name="T10" fmla="*/ 9174163 w 5784"/>
              <a:gd name="T11" fmla="*/ 838200 h 528"/>
              <a:gd name="T12" fmla="*/ 0 w 5784"/>
              <a:gd name="T13" fmla="*/ 823913 h 528"/>
              <a:gd name="T14" fmla="*/ 0 w 5784"/>
              <a:gd name="T15" fmla="*/ 588963 h 52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784" h="528">
                <a:moveTo>
                  <a:pt x="449" y="370"/>
                </a:moveTo>
                <a:lnTo>
                  <a:pt x="768" y="1"/>
                </a:lnTo>
                <a:lnTo>
                  <a:pt x="2158" y="0"/>
                </a:lnTo>
                <a:lnTo>
                  <a:pt x="2258" y="115"/>
                </a:lnTo>
                <a:lnTo>
                  <a:pt x="5784" y="115"/>
                </a:lnTo>
                <a:lnTo>
                  <a:pt x="5779" y="528"/>
                </a:lnTo>
                <a:lnTo>
                  <a:pt x="0" y="519"/>
                </a:lnTo>
                <a:lnTo>
                  <a:pt x="0" y="371"/>
                </a:lnTo>
              </a:path>
            </a:pathLst>
          </a:custGeom>
          <a:blipFill dpi="0" rotWithShape="1">
            <a:blip r:embed="rId20" cstate="print"/>
            <a:srcRect/>
            <a:stretch>
              <a:fillRect/>
            </a:stretch>
          </a:blipFill>
          <a:ln w="9525">
            <a:noFill/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+mn-ea"/>
            </a:endParaRP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43025"/>
            <a:ext cx="10972800" cy="5137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812800" y="579438"/>
            <a:ext cx="10464800" cy="5635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  <a:ea typeface="黑体" panose="0201060906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  <a:ea typeface="黑体" panose="0201060906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  <a:ea typeface="黑体" panose="0201060906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  <a:ea typeface="黑体" panose="0201060906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  <a:ea typeface="黑体" panose="0201060906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  <a:ea typeface="黑体" panose="0201060906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  <a:ea typeface="黑体" panose="0201060906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28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16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16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16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16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16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26" Type="http://schemas.openxmlformats.org/officeDocument/2006/relationships/image" Target="../media/image26.png"/><Relationship Id="rId3" Type="http://schemas.openxmlformats.org/officeDocument/2006/relationships/tags" Target="../tags/tag3.xml"/><Relationship Id="rId21" Type="http://schemas.openxmlformats.org/officeDocument/2006/relationships/tags" Target="../tags/tag50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90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23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25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70.xml"/><Relationship Id="rId28" Type="http://schemas.openxmlformats.org/officeDocument/2006/relationships/image" Target="../media/image22.png"/><Relationship Id="rId10" Type="http://schemas.openxmlformats.org/officeDocument/2006/relationships/tags" Target="../tags/tag10.xml"/><Relationship Id="rId19" Type="http://schemas.openxmlformats.org/officeDocument/2006/relationships/tags" Target="../tags/tag3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24.png"/><Relationship Id="rId27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23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image" Target="../media/image22.png"/><Relationship Id="rId10" Type="http://schemas.openxmlformats.org/officeDocument/2006/relationships/tags" Target="../tags/tag27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第六章 语法制导的翻译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什么是语法制导翻译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编译的阶段：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词法扫描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语法分析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语义分析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中间代码生成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代码优化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目标代码生成</a:t>
            </a:r>
            <a:endParaRPr lang="en-US" altLang="zh-CN" dirty="0"/>
          </a:p>
        </p:txBody>
      </p:sp>
      <p:sp>
        <p:nvSpPr>
          <p:cNvPr id="8" name="圆角矩形 7"/>
          <p:cNvSpPr/>
          <p:nvPr/>
        </p:nvSpPr>
        <p:spPr bwMode="auto">
          <a:xfrm>
            <a:off x="5375920" y="3821767"/>
            <a:ext cx="1800198" cy="615345"/>
          </a:xfrm>
          <a:prstGeom prst="roundRect">
            <a:avLst/>
          </a:prstGeom>
          <a:solidFill>
            <a:srgbClr val="FFFF00"/>
          </a:solidFill>
          <a:ln w="28575" cap="flat" cmpd="sng" algn="ctr">
            <a:solidFill>
              <a:srgbClr val="9999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语义翻译</a:t>
            </a:r>
          </a:p>
        </p:txBody>
      </p:sp>
      <p:sp>
        <p:nvSpPr>
          <p:cNvPr id="9" name="圆角矩形 8"/>
          <p:cNvSpPr/>
          <p:nvPr/>
        </p:nvSpPr>
        <p:spPr bwMode="auto">
          <a:xfrm>
            <a:off x="8328248" y="3140968"/>
            <a:ext cx="1706320" cy="1081185"/>
          </a:xfrm>
          <a:prstGeom prst="roundRect">
            <a:avLst/>
          </a:prstGeom>
          <a:solidFill>
            <a:srgbClr val="FFFF00"/>
          </a:solidFill>
          <a:ln w="28575" cap="flat" cmpd="sng" algn="ctr">
            <a:solidFill>
              <a:srgbClr val="9999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语法制导翻译</a:t>
            </a:r>
          </a:p>
        </p:txBody>
      </p:sp>
      <p:cxnSp>
        <p:nvCxnSpPr>
          <p:cNvPr id="13" name="肘形连接符 12"/>
          <p:cNvCxnSpPr/>
          <p:nvPr/>
        </p:nvCxnSpPr>
        <p:spPr bwMode="auto">
          <a:xfrm>
            <a:off x="3863752" y="3782230"/>
            <a:ext cx="1512168" cy="229654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8100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肘形连接符 14"/>
          <p:cNvCxnSpPr/>
          <p:nvPr/>
        </p:nvCxnSpPr>
        <p:spPr bwMode="auto">
          <a:xfrm flipV="1">
            <a:off x="4439816" y="4213199"/>
            <a:ext cx="936104" cy="333896"/>
          </a:xfrm>
          <a:prstGeom prst="bentConnector3">
            <a:avLst/>
          </a:prstGeom>
          <a:solidFill>
            <a:schemeClr val="accent1"/>
          </a:solidFill>
          <a:ln w="38100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肘形连接符 17"/>
          <p:cNvCxnSpPr/>
          <p:nvPr/>
        </p:nvCxnSpPr>
        <p:spPr bwMode="auto">
          <a:xfrm>
            <a:off x="3863752" y="3184158"/>
            <a:ext cx="4464496" cy="311601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8100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肘形连接符 19"/>
          <p:cNvCxnSpPr>
            <a:stCxn id="8" idx="3"/>
          </p:cNvCxnSpPr>
          <p:nvPr/>
        </p:nvCxnSpPr>
        <p:spPr bwMode="auto">
          <a:xfrm flipV="1">
            <a:off x="7176118" y="3782231"/>
            <a:ext cx="1186186" cy="347209"/>
          </a:xfrm>
          <a:prstGeom prst="bentConnector3">
            <a:avLst/>
          </a:prstGeom>
          <a:solidFill>
            <a:schemeClr val="accent1"/>
          </a:solidFill>
          <a:ln w="38100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5" name="文本框 24"/>
          <p:cNvSpPr txBox="1"/>
          <p:nvPr/>
        </p:nvSpPr>
        <p:spPr>
          <a:xfrm>
            <a:off x="4830206" y="4850870"/>
            <a:ext cx="6090330" cy="1384353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语法制导翻译</a:t>
            </a:r>
            <a:r>
              <a:rPr lang="zh-CN" altLang="en-US" sz="2400" b="1" dirty="0">
                <a:latin typeface="+mn-ea"/>
                <a:ea typeface="+mn-ea"/>
              </a:rPr>
              <a:t>是目前最常用的语义分析技术。语法制导翻译使用</a:t>
            </a:r>
            <a:r>
              <a:rPr lang="en-US" altLang="zh-CN" sz="2400" b="1" dirty="0">
                <a:latin typeface="+mn-ea"/>
                <a:ea typeface="+mn-ea"/>
              </a:rPr>
              <a:t>CFG</a:t>
            </a:r>
            <a:r>
              <a:rPr lang="zh-CN" altLang="en-US" sz="2400" b="1" dirty="0">
                <a:latin typeface="+mn-ea"/>
                <a:ea typeface="+mn-ea"/>
              </a:rPr>
              <a:t>来引导对语言的翻译，是一种面向文法的翻译技术。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语法制导翻译的基本思想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如何表示语义信息？</a:t>
            </a:r>
            <a:endParaRPr lang="en-US" altLang="zh-CN" dirty="0"/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将语言结构的语义以</a:t>
            </a:r>
            <a:r>
              <a:rPr lang="zh-CN" altLang="en-US" dirty="0">
                <a:solidFill>
                  <a:srgbClr val="FF0000"/>
                </a:solidFill>
              </a:rPr>
              <a:t>属性</a:t>
            </a:r>
            <a:r>
              <a:rPr lang="en-US" altLang="zh-CN" dirty="0">
                <a:solidFill>
                  <a:srgbClr val="FF0000"/>
                </a:solidFill>
              </a:rPr>
              <a:t>(attribute)</a:t>
            </a:r>
            <a:r>
              <a:rPr lang="zh-CN" altLang="en-US" dirty="0"/>
              <a:t>的形式赋予代表此结构的文法符号。</a:t>
            </a:r>
            <a:endParaRPr lang="en-US" altLang="zh-CN" dirty="0"/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如何计算语义属性？</a:t>
            </a:r>
            <a:endParaRPr lang="en-US" altLang="zh-CN" dirty="0"/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属性的计算以</a:t>
            </a:r>
            <a:r>
              <a:rPr lang="zh-CN" altLang="en-US" dirty="0">
                <a:solidFill>
                  <a:srgbClr val="FF0000"/>
                </a:solidFill>
              </a:rPr>
              <a:t>语义规则</a:t>
            </a:r>
            <a:r>
              <a:rPr lang="en-US" altLang="zh-CN" dirty="0">
                <a:solidFill>
                  <a:srgbClr val="FF0000"/>
                </a:solidFill>
              </a:rPr>
              <a:t>(semantic rules)</a:t>
            </a:r>
            <a:r>
              <a:rPr lang="zh-CN" altLang="en-US" dirty="0"/>
              <a:t>的形式赋予由文法符号组成的产生式。在语法分析</a:t>
            </a:r>
            <a:r>
              <a:rPr lang="zh-CN" altLang="en-US" dirty="0">
                <a:solidFill>
                  <a:srgbClr val="FF0000"/>
                </a:solidFill>
              </a:rPr>
              <a:t>推导或归约</a:t>
            </a:r>
            <a:r>
              <a:rPr lang="zh-CN" altLang="en-US" dirty="0"/>
              <a:t>的每一步骤中，通过</a:t>
            </a:r>
            <a:r>
              <a:rPr lang="zh-CN" altLang="en-US" dirty="0">
                <a:solidFill>
                  <a:srgbClr val="FF0000"/>
                </a:solidFill>
              </a:rPr>
              <a:t>语义规则实现对属性的计算</a:t>
            </a:r>
            <a:r>
              <a:rPr lang="zh-CN" altLang="en-US" dirty="0"/>
              <a:t>，以达到对语义的处理。</a:t>
            </a:r>
            <a:endParaRPr lang="en-US" altLang="zh-CN" dirty="0"/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换句话说就是：</a:t>
            </a:r>
            <a:r>
              <a:rPr lang="zh-CN" altLang="en-US" dirty="0">
                <a:solidFill>
                  <a:srgbClr val="FF0000"/>
                </a:solidFill>
              </a:rPr>
              <a:t>为每一个产生式配上语义规则并且在适当的时候执行这些规则。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两个概念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将语义规则同语法规则（产生式）联系起来要涉及两个概念 ：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语法制导定义</a:t>
            </a:r>
            <a:r>
              <a:rPr lang="en-US" altLang="zh-CN" dirty="0"/>
              <a:t>(Syntax-Directed Definitions, SDD)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语法制导翻译方案 </a:t>
            </a:r>
            <a:r>
              <a:rPr lang="en-US" altLang="zh-CN" dirty="0"/>
              <a:t>(Syntax-Directed Translation Scheme , SDT ) </a:t>
            </a:r>
            <a:br>
              <a:rPr lang="en-US" altLang="zh-CN" dirty="0"/>
            </a:b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语法制导定义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dirty="0"/>
                  <a:t>语法制导定义</a:t>
                </a:r>
                <a:r>
                  <a:rPr lang="en-US" altLang="zh-CN" dirty="0"/>
                  <a:t>(Syntax-Directed Definition</a:t>
                </a:r>
                <a:r>
                  <a:rPr lang="zh-CN" altLang="en-US" dirty="0"/>
                  <a:t>，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SDD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是一个上下文无关文法和属性及规则的结合。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属性</a:t>
                </a:r>
                <a:r>
                  <a:rPr lang="zh-CN" altLang="en-US" dirty="0"/>
                  <a:t>和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文法符号</a:t>
                </a:r>
                <a:r>
                  <a:rPr lang="zh-CN" altLang="en-US" dirty="0"/>
                  <a:t>相关联，而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规则</a:t>
                </a:r>
                <a:r>
                  <a:rPr lang="zh-CN" altLang="en-US" dirty="0"/>
                  <a:t>和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产生式</a:t>
                </a:r>
                <a:r>
                  <a:rPr lang="zh-CN" altLang="en-US" dirty="0"/>
                  <a:t>相关联，有时也称为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属性文法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dirty="0"/>
                  <a:t>如果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dirty="0"/>
                  <a:t>是一个符号，而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dirty="0"/>
                  <a:t>是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dirty="0"/>
                  <a:t>的一个属性，那么用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i="1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i="1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dirty="0"/>
                  <a:t>来表示在某个标号为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dirty="0"/>
                  <a:t>的分析树节点上的属性值。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属性</a:t>
                </a:r>
                <a:r>
                  <a:rPr lang="zh-CN" altLang="en-US" dirty="0"/>
                  <a:t>可以有很多类型，比如变量的数据类型、表达式的值、变量的地址、数字的有效位数等等。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13028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语法制导定义</a:t>
            </a:r>
            <a:r>
              <a:rPr lang="en-US" altLang="zh-CN" dirty="0" err="1"/>
              <a:t>SDD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412776"/>
            <a:ext cx="10972800" cy="5137150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例：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5"/>
              <p:cNvGraphicFramePr>
                <a:graphicFrameLocks noGrp="1"/>
              </p:cNvGraphicFramePr>
              <p:nvPr/>
            </p:nvGraphicFramePr>
            <p:xfrm>
              <a:off x="2207568" y="2270038"/>
              <a:ext cx="8128000" cy="36271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800" b="1" dirty="0"/>
                            <a:t>产生式</a:t>
                          </a:r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800" b="1" dirty="0"/>
                            <a:t>语义规则</a:t>
                          </a:r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𝑻𝑳</m:t>
                                </m:r>
                              </m:oMath>
                            </m:oMathPara>
                          </a14:m>
                          <a:endParaRPr lang="zh-CN" altLang="en-US" sz="2800" b="1" dirty="0"/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1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800" b="1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800" b="1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𝒊𝒏𝒉</m:t>
                                </m:r>
                                <m:r>
                                  <a:rPr lang="en-US" altLang="zh-CN" sz="2800" b="1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800" b="1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800" b="1" i="0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800" b="1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𝒕𝒚𝒑𝒆</m:t>
                                </m:r>
                              </m:oMath>
                            </m:oMathPara>
                          </a14:m>
                          <a:endParaRPr lang="zh-CN" altLang="en-US" sz="2800" b="1" i="1" dirty="0">
                            <a:solidFill>
                              <a:srgbClr val="0000CC"/>
                            </a:solidFill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𝒊𝒏𝒕</m:t>
                                </m:r>
                              </m:oMath>
                            </m:oMathPara>
                          </a14:m>
                          <a:endParaRPr lang="zh-CN" altLang="en-US" sz="2800" b="1" dirty="0"/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1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800" b="1" i="0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800" b="1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𝒕𝒚𝒑𝒆</m:t>
                                </m:r>
                                <m:r>
                                  <a:rPr lang="en-US" altLang="zh-CN" sz="2800" b="1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800" b="1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𝒊𝒏𝒕</m:t>
                                </m:r>
                              </m:oMath>
                            </m:oMathPara>
                          </a14:m>
                          <a:endParaRPr lang="zh-CN" altLang="en-US" sz="2800" b="1" dirty="0">
                            <a:solidFill>
                              <a:srgbClr val="0000CC"/>
                            </a:solidFill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𝒓𝒆𝒂𝒍</m:t>
                                </m:r>
                              </m:oMath>
                            </m:oMathPara>
                          </a14:m>
                          <a:endParaRPr lang="zh-CN" altLang="en-US" sz="2800" b="1" dirty="0"/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1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800" b="1" i="0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800" b="1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𝒕𝒚𝒑𝒆</m:t>
                                </m:r>
                                <m:r>
                                  <a:rPr lang="en-US" altLang="zh-CN" sz="2800" b="1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800" b="1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𝒓𝒆𝒂𝒍</m:t>
                                </m:r>
                              </m:oMath>
                            </m:oMathPara>
                          </a14:m>
                          <a:endParaRPr lang="zh-CN" altLang="en-US" sz="2800" b="1" dirty="0">
                            <a:solidFill>
                              <a:srgbClr val="0000CC"/>
                            </a:solidFill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𝒊𝒅</m:t>
                                </m:r>
                              </m:oMath>
                            </m:oMathPara>
                          </a14:m>
                          <a:endParaRPr lang="zh-CN" altLang="en-US" sz="2800" b="1" dirty="0"/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sz="2800" b="1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800" b="1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𝒊𝒏𝒉</m:t>
                                </m:r>
                                <m:r>
                                  <a:rPr lang="en-US" altLang="zh-CN" sz="2800" b="1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800" b="1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800" b="1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800" b="1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𝒊𝒏𝒉</m:t>
                                </m:r>
                              </m:oMath>
                            </m:oMathPara>
                          </a14:m>
                          <a:endParaRPr lang="zh-CN" altLang="en-US" sz="2800" b="1" i="1" dirty="0">
                            <a:solidFill>
                              <a:srgbClr val="0000CC"/>
                            </a:solidFill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𝒊𝒅</m:t>
                                </m:r>
                              </m:oMath>
                            </m:oMathPara>
                          </a14:m>
                          <a:endParaRPr lang="zh-CN" altLang="en-US" sz="2800" b="1" dirty="0"/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dirty="0"/>
                            <a:t>……</a:t>
                          </a:r>
                          <a:endParaRPr lang="zh-CN" altLang="en-US" sz="2800" b="1" dirty="0"/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dirty="0"/>
                            <a:t>……</a:t>
                          </a:r>
                          <a:endParaRPr lang="zh-CN" altLang="en-US" sz="2800" b="1" dirty="0"/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5"/>
              <p:cNvGraphicFramePr>
                <a:graphicFrameLocks noGrp="1"/>
              </p:cNvGraphicFramePr>
              <p:nvPr/>
            </p:nvGraphicFramePr>
            <p:xfrm>
              <a:off x="2207568" y="2270038"/>
              <a:ext cx="8128000" cy="36271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064000"/>
                    <a:gridCol w="4064000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800" b="1" dirty="0"/>
                            <a:t>产生式</a:t>
                          </a:r>
                          <a:endParaRPr lang="zh-CN" altLang="en-US" sz="2800" b="1" dirty="0"/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800" b="1" dirty="0"/>
                            <a:t>语义规则</a:t>
                          </a:r>
                          <a:endParaRPr lang="zh-CN" altLang="en-US" sz="2800" b="1" dirty="0"/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/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dirty="0"/>
                            <a:t>……</a:t>
                          </a:r>
                          <a:endParaRPr lang="zh-CN" altLang="en-US" sz="2800" b="1" dirty="0"/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dirty="0"/>
                            <a:t>……</a:t>
                          </a:r>
                          <a:endParaRPr lang="zh-CN" altLang="en-US" sz="2800" b="1" dirty="0"/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语法制导翻译方案</a:t>
            </a:r>
            <a:r>
              <a:rPr lang="en-US" altLang="zh-CN" dirty="0" err="1"/>
              <a:t>SDT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dirty="0"/>
              <a:t>语法制导的翻译方案</a:t>
            </a:r>
            <a:r>
              <a:rPr lang="en-US" altLang="zh-CN" dirty="0"/>
              <a:t>(Syntax-Directed Translation Scheme , </a:t>
            </a:r>
            <a:r>
              <a:rPr lang="en-US" altLang="zh-CN" dirty="0">
                <a:solidFill>
                  <a:srgbClr val="FF0000"/>
                </a:solidFill>
              </a:rPr>
              <a:t>SDT</a:t>
            </a:r>
            <a:r>
              <a:rPr lang="en-US" altLang="zh-CN" dirty="0"/>
              <a:t> )</a:t>
            </a:r>
            <a:r>
              <a:rPr lang="zh-CN" altLang="en-US" dirty="0"/>
              <a:t>是在产生式中嵌入了</a:t>
            </a:r>
            <a:r>
              <a:rPr lang="zh-CN" altLang="en-US" dirty="0">
                <a:solidFill>
                  <a:srgbClr val="FF0000"/>
                </a:solidFill>
              </a:rPr>
              <a:t>程序片段</a:t>
            </a:r>
            <a:r>
              <a:rPr lang="zh-CN" altLang="en-US" dirty="0"/>
              <a:t>的一个上下文无关文法。这些片段称为</a:t>
            </a:r>
            <a:r>
              <a:rPr lang="zh-CN" altLang="en-US" dirty="0">
                <a:solidFill>
                  <a:srgbClr val="FF0000"/>
                </a:solidFill>
              </a:rPr>
              <a:t>语义动作</a:t>
            </a:r>
            <a:r>
              <a:rPr lang="zh-CN" altLang="en-US" dirty="0"/>
              <a:t>，它们可以</a:t>
            </a:r>
            <a:r>
              <a:rPr lang="zh-CN" altLang="en-US" dirty="0">
                <a:solidFill>
                  <a:srgbClr val="FF0000"/>
                </a:solidFill>
              </a:rPr>
              <a:t>出现在产生式的任何位置</a:t>
            </a:r>
            <a:r>
              <a:rPr lang="zh-CN" altLang="en-US" dirty="0"/>
              <a:t>。默认用</a:t>
            </a:r>
            <a:r>
              <a:rPr lang="en-US" altLang="zh-CN" dirty="0">
                <a:solidFill>
                  <a:srgbClr val="FF0000"/>
                </a:solidFill>
              </a:rPr>
              <a:t>{}</a:t>
            </a:r>
            <a:r>
              <a:rPr lang="zh-CN" altLang="en-US" dirty="0"/>
              <a:t>括起来。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7032104" y="3911600"/>
            <a:ext cx="4032448" cy="1860603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latin typeface="+mn-ea"/>
                <a:ea typeface="+mn-ea"/>
              </a:rPr>
              <a:t>一个语义动作在产生式中的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位置</a:t>
            </a:r>
            <a:r>
              <a:rPr lang="zh-CN" altLang="en-US" sz="2800" b="1" dirty="0">
                <a:latin typeface="+mn-ea"/>
                <a:ea typeface="+mn-ea"/>
              </a:rPr>
              <a:t>决定了这个动作的执行时间 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5"/>
              <p:cNvGraphicFramePr>
                <a:graphicFrameLocks noGrp="1"/>
              </p:cNvGraphicFramePr>
              <p:nvPr/>
            </p:nvGraphicFramePr>
            <p:xfrm>
              <a:off x="1505879" y="3582934"/>
              <a:ext cx="4752528" cy="2743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75252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1" dirty="0" err="1"/>
                            <a:t>SDT</a:t>
                          </a:r>
                          <a:endParaRPr lang="zh-CN" altLang="en-US" sz="2400" b="1" dirty="0"/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𝒊𝒏𝒉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400" b="1" i="0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𝒕𝒚𝒑𝒆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}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</m:oMath>
                            </m:oMathPara>
                          </a14:m>
                          <a:endParaRPr lang="zh-CN" altLang="en-US" sz="2400" b="1" dirty="0"/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𝒊𝒏𝒕</m:t>
                              </m:r>
                              <m:r>
                                <a:rPr lang="en-US" altLang="zh-CN" sz="2400" b="1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altLang="zh-CN" sz="2400" b="1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  <m:r>
                                <a:rPr lang="en-US" altLang="zh-CN" sz="2400" b="1" i="0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400" b="1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𝒕𝒚𝒑𝒆</m:t>
                              </m:r>
                              <m:r>
                                <a:rPr lang="en-US" altLang="zh-CN" sz="2400" b="1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b="1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𝒊𝒏𝒕</m:t>
                              </m:r>
                            </m:oMath>
                          </a14:m>
                          <a:r>
                            <a:rPr lang="en-US" altLang="zh-CN" sz="2400" b="0" dirty="0">
                              <a:solidFill>
                                <a:srgbClr val="0000CC"/>
                              </a:solidFill>
                            </a:rPr>
                            <a:t>}</a:t>
                          </a:r>
                          <a:endParaRPr lang="zh-CN" altLang="en-US" sz="2400" b="0" dirty="0"/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𝒓𝒆𝒂𝒍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400" b="1" i="0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𝒕𝒚𝒑𝒆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𝒓𝒆𝒂𝒍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zh-CN" altLang="en-US" sz="2400" b="1" dirty="0"/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US" altLang="zh-CN" sz="2400" b="1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2400" b="1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sz="2400" b="1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𝒊𝒏𝒉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𝒊𝒏𝒉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}</m:t>
                                </m:r>
                                <m:sSub>
                                  <m:sSub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𝒊𝒅</m:t>
                                </m:r>
                              </m:oMath>
                            </m:oMathPara>
                          </a14:m>
                          <a:endParaRPr lang="en-US" altLang="zh-CN" sz="2400" b="1" dirty="0"/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400" b="1" dirty="0"/>
                            <a:t>……</a:t>
                          </a: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5"/>
              <p:cNvGraphicFramePr>
                <a:graphicFrameLocks noGrp="1"/>
              </p:cNvGraphicFramePr>
              <p:nvPr/>
            </p:nvGraphicFramePr>
            <p:xfrm>
              <a:off x="1505879" y="3582934"/>
              <a:ext cx="4752528" cy="2743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752528"/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1" dirty="0" err="1"/>
                            <a:t>SDT</a:t>
                          </a:r>
                          <a:endParaRPr lang="zh-CN" altLang="en-US" sz="2400" b="1" dirty="0"/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400" b="1" dirty="0"/>
                            <a:t>……</a:t>
                          </a:r>
                          <a:endParaRPr lang="en-US" altLang="zh-CN" sz="2400" b="1" dirty="0"/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SDD</a:t>
            </a:r>
            <a:r>
              <a:rPr lang="zh-CN" altLang="en-US" dirty="0"/>
              <a:t>与</a:t>
            </a:r>
            <a:r>
              <a:rPr lang="en-US" altLang="zh-CN" dirty="0"/>
              <a:t>SDT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1343025"/>
            <a:ext cx="11449272" cy="5137150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i="1" dirty="0">
                <a:solidFill>
                  <a:srgbClr val="FF0000"/>
                </a:solidFill>
              </a:rPr>
              <a:t>SDD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是关于语言翻译的高层次规格说明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隐蔽了许多具体实现细节，使用户不必显式地说明翻译发生的顺序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i="1" dirty="0">
                <a:solidFill>
                  <a:srgbClr val="FF0000"/>
                </a:solidFill>
              </a:rPr>
              <a:t>SDT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可以看作是对</a:t>
            </a:r>
            <a:r>
              <a:rPr lang="en-US" altLang="zh-CN" i="1" dirty="0"/>
              <a:t>SDD</a:t>
            </a:r>
            <a:r>
              <a:rPr lang="zh-CN" altLang="en-US" dirty="0"/>
              <a:t>的一种补充，是</a:t>
            </a:r>
            <a:r>
              <a:rPr lang="en-US" altLang="zh-CN" i="1" dirty="0"/>
              <a:t>SDD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具体实施方案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显式地指明了语义规则的计算顺序，以便说明某些实现细节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语法制导定义</a:t>
            </a:r>
            <a:r>
              <a:rPr lang="en-US" altLang="zh-CN" i="1" dirty="0"/>
              <a:t>SDD</a:t>
            </a:r>
            <a:r>
              <a:rPr lang="zh-CN" altLang="en-US" dirty="0"/>
              <a:t>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语法制导定义</a:t>
            </a:r>
            <a:r>
              <a:rPr lang="en-US" altLang="zh-CN" i="1" dirty="0"/>
              <a:t>SDD</a:t>
            </a:r>
            <a:r>
              <a:rPr lang="zh-CN" altLang="en-US" dirty="0"/>
              <a:t>是对</a:t>
            </a:r>
            <a:r>
              <a:rPr lang="en-US" altLang="zh-CN" i="1" dirty="0">
                <a:solidFill>
                  <a:srgbClr val="FF0000"/>
                </a:solidFill>
              </a:rPr>
              <a:t>CFG</a:t>
            </a:r>
            <a:r>
              <a:rPr lang="zh-CN" altLang="en-US" dirty="0">
                <a:solidFill>
                  <a:srgbClr val="FF0000"/>
                </a:solidFill>
              </a:rPr>
              <a:t>的扩展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dirty="0"/>
              <a:t>将每个</a:t>
            </a:r>
            <a:r>
              <a:rPr lang="zh-CN" altLang="en-US" dirty="0">
                <a:solidFill>
                  <a:srgbClr val="FF0000"/>
                </a:solidFill>
              </a:rPr>
              <a:t>文法符号</a:t>
            </a:r>
            <a:r>
              <a:rPr lang="zh-CN" altLang="en-US" dirty="0"/>
              <a:t>和一个语义</a:t>
            </a:r>
            <a:r>
              <a:rPr lang="zh-CN" altLang="en-US" dirty="0">
                <a:solidFill>
                  <a:srgbClr val="FF0000"/>
                </a:solidFill>
              </a:rPr>
              <a:t>属性集合</a:t>
            </a:r>
            <a:r>
              <a:rPr lang="zh-CN" altLang="en-US" dirty="0"/>
              <a:t>相关联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将每个</a:t>
            </a:r>
            <a:r>
              <a:rPr lang="zh-CN" altLang="en-US" dirty="0">
                <a:solidFill>
                  <a:srgbClr val="FF0000"/>
                </a:solidFill>
              </a:rPr>
              <a:t>产生式</a:t>
            </a:r>
            <a:r>
              <a:rPr lang="zh-CN" altLang="en-US" dirty="0"/>
              <a:t>和一组</a:t>
            </a:r>
            <a:r>
              <a:rPr lang="zh-CN" altLang="en-US" dirty="0">
                <a:solidFill>
                  <a:srgbClr val="FF0000"/>
                </a:solidFill>
              </a:rPr>
              <a:t>语义规则</a:t>
            </a:r>
            <a:r>
              <a:rPr lang="zh-CN" altLang="en-US" dirty="0"/>
              <a:t>相关联，用来计算该产生式中各文法符号的属性值 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我们将处理文法符号的两种属性：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综合属性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(synthesized attribute)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继承属性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(inherited attribute) 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综合属性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79376" y="1343025"/>
                <a:ext cx="11449272" cy="5137150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分析树的某个节点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zh-CN" altLang="en-US" dirty="0"/>
                  <a:t>上的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非终结符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dirty="0"/>
                  <a:t>的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综合属性</a:t>
                </a:r>
                <a:r>
                  <a:rPr lang="zh-CN" altLang="en-US" dirty="0"/>
                  <a:t>是由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zh-CN" altLang="en-US" dirty="0"/>
                  <a:t>上的产生式（产生式左侧应该是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）所关联的语义规则来定义的。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也就是说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的综合属性</a:t>
                </a:r>
                <a:r>
                  <a:rPr lang="zh-CN" altLang="en-US" dirty="0"/>
                  <a:t>只能由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N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的子节点</a:t>
                </a:r>
                <a:r>
                  <a:rPr lang="zh-CN" altLang="en-US" dirty="0"/>
                  <a:t>或者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N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本身</a:t>
                </a:r>
                <a:r>
                  <a:rPr lang="zh-CN" altLang="en-US" dirty="0"/>
                  <a:t>的属性值来计算。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终结符</a:t>
                </a:r>
                <a:r>
                  <a:rPr lang="zh-CN" altLang="en-US" dirty="0"/>
                  <a:t>可以具有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综合属性</a:t>
                </a:r>
                <a:r>
                  <a:rPr lang="zh-CN" altLang="en-US" dirty="0"/>
                  <a:t>，就是由词法分析得到的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词法值</a:t>
                </a:r>
                <a:r>
                  <a:rPr lang="zh-CN" altLang="en-US" dirty="0"/>
                  <a:t>。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9376" y="1343025"/>
                <a:ext cx="11449272" cy="5137150"/>
              </a:xfrm>
              <a:blipFill rotWithShape="1">
                <a:blip r:embed="rId2"/>
                <a:stretch>
                  <a:fillRect l="-127" t="-284" r="-121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488" y="3429000"/>
            <a:ext cx="9369790" cy="20859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继承属性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dirty="0"/>
                  <a:t>分析树的某个节点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zh-CN" altLang="en-US" dirty="0"/>
                  <a:t>上的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非终结符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dirty="0"/>
                  <a:t>的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继承属性</a:t>
                </a:r>
                <a:r>
                  <a:rPr lang="zh-CN" altLang="en-US" dirty="0"/>
                  <a:t>是由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zh-CN" altLang="en-US" dirty="0"/>
                  <a:t>的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父节点上的产生式</a:t>
                </a:r>
                <a:r>
                  <a:rPr lang="zh-CN" altLang="en-US" dirty="0"/>
                  <a:t>（产生式右侧应该有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）所关联的语义规则来定义的。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dirty="0"/>
                  <a:t>也就是说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dirty="0"/>
                  <a:t>的继承属性只能通过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的父结点、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的兄弟结点或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本身的属性值</a:t>
                </a:r>
                <a:r>
                  <a:rPr lang="zh-CN" altLang="en-US" dirty="0"/>
                  <a:t>来定义 。</a:t>
                </a:r>
                <a:br>
                  <a:rPr lang="zh-CN" altLang="en-US" dirty="0"/>
                </a:br>
                <a:endParaRPr lang="en-US" altLang="zh-CN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endParaRPr lang="en-US" altLang="zh-CN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endParaRPr lang="en-US" altLang="zh-CN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终结符</a:t>
                </a:r>
                <a:r>
                  <a:rPr lang="zh-CN" altLang="en-US" dirty="0"/>
                  <a:t>没有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继承属性</a:t>
                </a:r>
                <a:r>
                  <a:rPr lang="zh-CN" altLang="en-US" dirty="0"/>
                  <a:t>。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569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544" y="3921854"/>
            <a:ext cx="8467952" cy="19554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551384" y="1343025"/>
                <a:ext cx="11305256" cy="5137150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dirty="0"/>
                  <a:t>一般将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属性文法</a:t>
                </a:r>
                <a:r>
                  <a:rPr lang="zh-CN" altLang="en-US" dirty="0"/>
                  <a:t>写成表格形式，每个文法规则用属性等式的集合或者相应规则的语义规则列出。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dirty="0"/>
                  <a:t>下面给出简单算术表达式文法的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𝑺𝑫𝑫</m:t>
                    </m:r>
                  </m:oMath>
                </a14:m>
                <a:r>
                  <a:rPr lang="zh-CN" altLang="en-US" dirty="0"/>
                  <a:t>，它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对以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结束的表达式求值</a:t>
                </a:r>
                <a:r>
                  <a:rPr lang="zh-CN" altLang="en-US" dirty="0"/>
                  <a:t>。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1384" y="1343025"/>
                <a:ext cx="11305256" cy="5137150"/>
              </a:xfrm>
              <a:blipFill rotWithShape="1">
                <a:blip r:embed="rId2"/>
                <a:stretch>
                  <a:fillRect l="-131" t="-284" r="-124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63" t="3010" r="12859" b="18621"/>
          <a:stretch>
            <a:fillRect/>
          </a:stretch>
        </p:blipFill>
        <p:spPr bwMode="auto">
          <a:xfrm>
            <a:off x="3493630" y="3284984"/>
            <a:ext cx="5204739" cy="2991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6096000" y="1572024"/>
                <a:ext cx="5904656" cy="4684713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ts val="0"/>
                  </a:spcBef>
                </a:pPr>
                <a:r>
                  <a:rPr lang="zh-CN" altLang="en-US" dirty="0"/>
                  <a:t>每个非终结符都有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综合属性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𝒗𝒂𝒍</m:t>
                    </m:r>
                  </m:oMath>
                </a14:m>
                <a:r>
                  <a:rPr lang="zh-CN" altLang="en-US" dirty="0"/>
                  <a:t> 。</a:t>
                </a:r>
                <a:endParaRPr lang="en-US" altLang="zh-CN" dirty="0"/>
              </a:p>
              <a:p>
                <a:pPr>
                  <a:lnSpc>
                    <a:spcPct val="130000"/>
                  </a:lnSpc>
                  <a:spcBef>
                    <a:spcPts val="0"/>
                  </a:spcBef>
                </a:pPr>
                <a:r>
                  <a:rPr lang="zh-CN" altLang="en-US" dirty="0"/>
                  <a:t>设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𝒅𝒊𝒈𝒊𝒕</m:t>
                    </m:r>
                  </m:oMath>
                </a14:m>
                <a:r>
                  <a:rPr lang="zh-CN" altLang="en-US" dirty="0"/>
                  <a:t>有综合属性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𝒍𝒆𝒙𝒗𝒂𝒍</m:t>
                    </m:r>
                  </m:oMath>
                </a14:m>
                <a:r>
                  <a:rPr lang="zh-CN" altLang="en-US" dirty="0"/>
                  <a:t> 。</a:t>
                </a:r>
                <a:endParaRPr lang="en-US" altLang="zh-CN" dirty="0"/>
              </a:p>
              <a:p>
                <a:pPr>
                  <a:lnSpc>
                    <a:spcPct val="130000"/>
                  </a:lnSpc>
                  <a:spcBef>
                    <a:spcPts val="0"/>
                  </a:spcBef>
                </a:pPr>
                <a:r>
                  <a:rPr lang="zh-CN" altLang="en-US" dirty="0"/>
                  <a:t>产生式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𝒅𝒊𝒈𝒊𝒕</m:t>
                    </m:r>
                  </m:oMath>
                </a14:m>
                <a:r>
                  <a:rPr lang="zh-CN" altLang="en-US" dirty="0"/>
                  <a:t>的规则将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𝑭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𝒗𝒂𝒍</m:t>
                    </m:r>
                  </m:oMath>
                </a14:m>
                <a:r>
                  <a:rPr lang="zh-CN" altLang="en-US" dirty="0"/>
                  <a:t>设置为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𝒅𝒊𝒈𝒊𝒕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𝒍𝒆𝒙𝒗𝒂𝒍</m:t>
                    </m:r>
                  </m:oMath>
                </a14:m>
                <a:endParaRPr lang="en-US" altLang="zh-CN" dirty="0"/>
              </a:p>
              <a:p>
                <a:pPr>
                  <a:lnSpc>
                    <a:spcPct val="130000"/>
                  </a:lnSpc>
                  <a:spcBef>
                    <a:spcPts val="0"/>
                  </a:spcBef>
                </a:pPr>
                <a:r>
                  <a:rPr lang="zh-CN" altLang="en-US" dirty="0"/>
                  <a:t>产生式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𝑬𝒏</m:t>
                    </m:r>
                  </m:oMath>
                </a14:m>
                <a:r>
                  <a:rPr lang="zh-CN" altLang="en-US" dirty="0"/>
                  <a:t>的规则将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𝒗𝒂𝒍</m:t>
                    </m:r>
                  </m:oMath>
                </a14:m>
                <a:r>
                  <a:rPr lang="zh-CN" altLang="en-US" dirty="0"/>
                  <a:t>设置为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𝒗𝒂𝒍</m:t>
                    </m:r>
                  </m:oMath>
                </a14:m>
                <a:r>
                  <a:rPr lang="zh-CN" altLang="en-US" dirty="0"/>
                  <a:t> 。</a:t>
                </a:r>
                <a:endParaRPr lang="en-US" altLang="zh-CN" dirty="0"/>
              </a:p>
              <a:p>
                <a:pPr>
                  <a:lnSpc>
                    <a:spcPct val="130000"/>
                  </a:lnSpc>
                  <a:spcBef>
                    <a:spcPts val="0"/>
                  </a:spcBef>
                </a:pPr>
                <a:r>
                  <a:rPr lang="zh-CN" altLang="en-US" dirty="0"/>
                  <a:t>产生式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zh-CN" altLang="en-US" dirty="0"/>
                  <a:t>的规则将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zh-CN" altLang="en-US" dirty="0"/>
                  <a:t>的值的和作为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𝒗𝒂𝒍</m:t>
                    </m:r>
                  </m:oMath>
                </a14:m>
                <a:r>
                  <a:rPr lang="zh-CN" altLang="en-US" dirty="0"/>
                  <a:t>的值。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6096000" y="1572024"/>
                <a:ext cx="5904656" cy="4684713"/>
              </a:xfrm>
              <a:blipFill rotWithShape="1">
                <a:blip r:embed="rId2"/>
                <a:stretch>
                  <a:fillRect l="-247" t="-307" r="-240" b="-296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63" t="3010" r="12859" b="18621"/>
          <a:stretch>
            <a:fillRect/>
          </a:stretch>
        </p:blipFill>
        <p:spPr bwMode="auto">
          <a:xfrm>
            <a:off x="263352" y="2204864"/>
            <a:ext cx="5645232" cy="3244387"/>
          </a:xfrm>
          <a:prstGeom prst="rect">
            <a:avLst/>
          </a:prstGeom>
          <a:noFill/>
          <a:ln w="28575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dirty="0">
                    <a:solidFill>
                      <a:schemeClr val="bg1"/>
                    </a:solidFill>
                  </a:rPr>
                  <a:t>属性的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𝑺𝑫𝑫</m:t>
                    </m:r>
                  </m:oMath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标题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24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一个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只包含综合属性的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𝑺𝑫𝑫</m:t>
                    </m:r>
                  </m:oMath>
                </a14:m>
                <a:r>
                  <a:rPr lang="zh-CN" altLang="en-US" dirty="0"/>
                  <a:t>称为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属性的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𝑺𝑫𝑫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在一个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dirty="0"/>
                  <a:t>属性的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𝑺𝑫𝑫</m:t>
                    </m:r>
                  </m:oMath>
                </a14:m>
                <a:r>
                  <a:rPr lang="zh-CN" altLang="en-US" dirty="0"/>
                  <a:t>中，每个规则都根据相应的产生式中的属性值来计算其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左侧</a:t>
                </a:r>
                <a:r>
                  <a:rPr lang="zh-CN" altLang="en-US" dirty="0"/>
                  <a:t>非终结符的一个属性值。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在语法分析树上进行求值有助于将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𝑺𝑫𝑫</m:t>
                    </m:r>
                  </m:oMath>
                </a14:m>
                <a:r>
                  <a:rPr lang="zh-CN" altLang="en-US" dirty="0"/>
                  <a:t>描述的翻译方案可视化。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一个记录了它的各个节点的属性值的语法分析树称为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注释语法分析树</a:t>
                </a:r>
                <a:r>
                  <a:rPr lang="en-US" altLang="zh-CN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(annotated parse tree) 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33" t="-284" r="-127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注释语法分析树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串</a:t>
            </a:r>
            <a:r>
              <a:rPr lang="en-US" altLang="zh-CN" dirty="0"/>
              <a:t>3</a:t>
            </a:r>
            <a:r>
              <a:rPr lang="zh-CN" altLang="en-US" dirty="0"/>
              <a:t>*</a:t>
            </a:r>
            <a:r>
              <a:rPr lang="en-US" altLang="zh-CN" dirty="0"/>
              <a:t>5+4n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注释语法分析树</a:t>
            </a:r>
            <a:r>
              <a:rPr lang="zh-CN" altLang="en-US" dirty="0"/>
              <a:t>如下：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8991" y="1412776"/>
            <a:ext cx="4019550" cy="4772025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63" t="3010" r="12859" b="18621"/>
          <a:stretch>
            <a:fillRect/>
          </a:stretch>
        </p:blipFill>
        <p:spPr bwMode="auto">
          <a:xfrm>
            <a:off x="1246532" y="2444329"/>
            <a:ext cx="5439501" cy="3168352"/>
          </a:xfrm>
          <a:prstGeom prst="rect">
            <a:avLst/>
          </a:prstGeom>
          <a:noFill/>
          <a:ln w="28575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直接箭头连接符 7"/>
          <p:cNvCxnSpPr/>
          <p:nvPr/>
        </p:nvCxnSpPr>
        <p:spPr bwMode="auto">
          <a:xfrm flipV="1">
            <a:off x="8090189" y="5468665"/>
            <a:ext cx="0" cy="36004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3366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直接箭头连接符 9"/>
          <p:cNvCxnSpPr/>
          <p:nvPr/>
        </p:nvCxnSpPr>
        <p:spPr bwMode="auto">
          <a:xfrm flipV="1">
            <a:off x="8090189" y="4710057"/>
            <a:ext cx="0" cy="36004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3366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直接箭头连接符 10"/>
          <p:cNvCxnSpPr/>
          <p:nvPr/>
        </p:nvCxnSpPr>
        <p:spPr bwMode="auto">
          <a:xfrm flipV="1">
            <a:off x="9386333" y="4710057"/>
            <a:ext cx="0" cy="36004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3366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直接箭头连接符 11"/>
          <p:cNvCxnSpPr/>
          <p:nvPr/>
        </p:nvCxnSpPr>
        <p:spPr bwMode="auto">
          <a:xfrm flipV="1">
            <a:off x="7730149" y="3884489"/>
            <a:ext cx="720080" cy="43204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3366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直接箭头连接符 13"/>
          <p:cNvCxnSpPr/>
          <p:nvPr/>
        </p:nvCxnSpPr>
        <p:spPr bwMode="auto">
          <a:xfrm flipH="1" flipV="1">
            <a:off x="8659798" y="3884489"/>
            <a:ext cx="720080" cy="36004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3366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直接箭头连接符 16"/>
          <p:cNvCxnSpPr/>
          <p:nvPr/>
        </p:nvCxnSpPr>
        <p:spPr bwMode="auto">
          <a:xfrm flipV="1">
            <a:off x="8738261" y="3092401"/>
            <a:ext cx="0" cy="36004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3366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直接箭头连接符 17"/>
          <p:cNvCxnSpPr/>
          <p:nvPr/>
        </p:nvCxnSpPr>
        <p:spPr bwMode="auto">
          <a:xfrm flipV="1">
            <a:off x="10538461" y="3920493"/>
            <a:ext cx="0" cy="36004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3366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直接箭头连接符 18"/>
          <p:cNvCxnSpPr/>
          <p:nvPr/>
        </p:nvCxnSpPr>
        <p:spPr bwMode="auto">
          <a:xfrm flipV="1">
            <a:off x="10538461" y="3092401"/>
            <a:ext cx="0" cy="36004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3366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直接箭头连接符 19"/>
          <p:cNvCxnSpPr/>
          <p:nvPr/>
        </p:nvCxnSpPr>
        <p:spPr bwMode="auto">
          <a:xfrm flipV="1">
            <a:off x="8450230" y="2444329"/>
            <a:ext cx="798537" cy="28803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3366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3" name="直接箭头连接符 22"/>
          <p:cNvCxnSpPr/>
          <p:nvPr/>
        </p:nvCxnSpPr>
        <p:spPr bwMode="auto">
          <a:xfrm flipH="1" flipV="1">
            <a:off x="9674365" y="2444329"/>
            <a:ext cx="936104" cy="28803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3366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" name="直接箭头连接符 25"/>
          <p:cNvCxnSpPr/>
          <p:nvPr/>
        </p:nvCxnSpPr>
        <p:spPr bwMode="auto">
          <a:xfrm flipV="1">
            <a:off x="9530349" y="1796257"/>
            <a:ext cx="432048" cy="21602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3366FF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带有继承属性的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𝑺𝑫𝑫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标题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24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343025"/>
            <a:ext cx="11175032" cy="5137150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串</a:t>
            </a:r>
            <a:r>
              <a:rPr lang="en-US" altLang="zh-CN" i="1" dirty="0"/>
              <a:t>real a, b, c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注释语法分析树</a:t>
            </a:r>
            <a:r>
              <a:rPr lang="zh-CN" altLang="en-US" dirty="0"/>
              <a:t>如下：</a:t>
            </a:r>
            <a:endParaRPr lang="en-US" altLang="zh-CN" dirty="0"/>
          </a:p>
        </p:txBody>
      </p:sp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272" y="2386769"/>
            <a:ext cx="5889406" cy="32766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5650" y="2324441"/>
            <a:ext cx="4171950" cy="3276600"/>
          </a:xfrm>
          <a:prstGeom prst="rect">
            <a:avLst/>
          </a:prstGeom>
        </p:spPr>
      </p:pic>
      <p:cxnSp>
        <p:nvCxnSpPr>
          <p:cNvPr id="7" name="直接箭头连接符 6"/>
          <p:cNvCxnSpPr/>
          <p:nvPr/>
        </p:nvCxnSpPr>
        <p:spPr bwMode="auto">
          <a:xfrm>
            <a:off x="8494018" y="3134649"/>
            <a:ext cx="576064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3366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直接箭头连接符 9"/>
          <p:cNvCxnSpPr/>
          <p:nvPr/>
        </p:nvCxnSpPr>
        <p:spPr bwMode="auto">
          <a:xfrm flipH="1">
            <a:off x="8854058" y="3350673"/>
            <a:ext cx="792088" cy="43204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3366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" name="直接箭头连接符 12"/>
          <p:cNvCxnSpPr/>
          <p:nvPr/>
        </p:nvCxnSpPr>
        <p:spPr bwMode="auto">
          <a:xfrm flipH="1">
            <a:off x="7773938" y="4070753"/>
            <a:ext cx="792088" cy="43204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3366FF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>
              <a:xfrm>
                <a:off x="812800" y="476672"/>
                <a:ext cx="10464800" cy="563562"/>
              </a:xfrm>
            </p:spPr>
            <p:txBody>
              <a:bodyPr/>
              <a:lstStyle/>
              <a:p>
                <a:pPr eaLnBrk="1" hangingPunct="1">
                  <a:lnSpc>
                    <a:spcPct val="150000"/>
                  </a:lnSpc>
                </a:pPr>
                <a:r>
                  <a:rPr lang="zh-CN" altLang="en-US" dirty="0"/>
                  <a:t>同时具有继承属性和综合属性的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𝑺𝑫𝑫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2" name="标题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12800" y="476672"/>
                <a:ext cx="10464800" cy="563562"/>
              </a:xfrm>
              <a:blipFill rotWithShape="1">
                <a:blip r:embed="rId2"/>
                <a:stretch>
                  <a:fillRect t="-14948" b="-148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</a:rPr>
              <a:t>综合属性的值</a:t>
            </a:r>
            <a:r>
              <a:rPr lang="zh-CN" altLang="en-US" dirty="0">
                <a:latin typeface="华文新魏" panose="02010800040101010101" pitchFamily="2" charset="-122"/>
              </a:rPr>
              <a:t>是由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</a:rPr>
              <a:t>自己</a:t>
            </a:r>
            <a:r>
              <a:rPr lang="zh-CN" altLang="en-US" dirty="0">
                <a:latin typeface="华文新魏" panose="02010800040101010101" pitchFamily="2" charset="-122"/>
              </a:rPr>
              <a:t>或者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</a:rPr>
              <a:t>子结点</a:t>
            </a:r>
            <a:r>
              <a:rPr lang="zh-CN" altLang="en-US" dirty="0">
                <a:latin typeface="华文新魏" panose="02010800040101010101" pitchFamily="2" charset="-122"/>
              </a:rPr>
              <a:t>的某些属性值来决定的。</a:t>
            </a:r>
            <a:endParaRPr lang="en-US" altLang="zh-CN" dirty="0">
              <a:latin typeface="华文新魏" panose="0201080004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</a:rPr>
              <a:t>继承属性的值</a:t>
            </a:r>
            <a:r>
              <a:rPr lang="zh-CN" altLang="en-US" dirty="0">
                <a:latin typeface="华文新魏" panose="02010800040101010101" pitchFamily="2" charset="-122"/>
              </a:rPr>
              <a:t>是由</a:t>
            </a:r>
            <a:r>
              <a:rPr lang="zh-CN" altLang="en-US">
                <a:solidFill>
                  <a:srgbClr val="FF0000"/>
                </a:solidFill>
                <a:latin typeface="华文新魏" panose="02010800040101010101" pitchFamily="2" charset="-122"/>
              </a:rPr>
              <a:t>自己</a:t>
            </a:r>
            <a:r>
              <a:rPr lang="zh-CN" altLang="en-US">
                <a:latin typeface="华文新魏" panose="02010800040101010101" pitchFamily="2" charset="-122"/>
              </a:rPr>
              <a:t>以及</a:t>
            </a:r>
            <a:r>
              <a:rPr lang="zh-CN" altLang="en-US">
                <a:solidFill>
                  <a:srgbClr val="FF0000"/>
                </a:solidFill>
                <a:latin typeface="华文新魏" panose="02010800040101010101" pitchFamily="2" charset="-122"/>
              </a:rPr>
              <a:t>父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</a:rPr>
              <a:t>结点</a:t>
            </a:r>
            <a:r>
              <a:rPr lang="zh-CN" altLang="en-US" dirty="0">
                <a:latin typeface="华文新魏" panose="02010800040101010101" pitchFamily="2" charset="-122"/>
              </a:rPr>
              <a:t>和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</a:rPr>
              <a:t>兄弟结点</a:t>
            </a:r>
            <a:r>
              <a:rPr lang="zh-CN" altLang="en-US" dirty="0">
                <a:latin typeface="华文新魏" panose="02010800040101010101" pitchFamily="2" charset="-122"/>
              </a:rPr>
              <a:t>的某些属性值来决定的。</a:t>
            </a:r>
            <a:endParaRPr lang="en-US" altLang="zh-CN" dirty="0">
              <a:latin typeface="华文新魏" panose="0201080004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endParaRPr lang="en-US" altLang="zh-CN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" b="18764"/>
          <a:stretch>
            <a:fillRect/>
          </a:stretch>
        </p:blipFill>
        <p:spPr bwMode="auto">
          <a:xfrm>
            <a:off x="5535686" y="2886909"/>
            <a:ext cx="5457174" cy="3024337"/>
          </a:xfrm>
          <a:prstGeom prst="rect">
            <a:avLst/>
          </a:prstGeom>
          <a:noFill/>
          <a:ln w="28575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61" t="2885" r="16569" b="17827"/>
          <a:stretch>
            <a:fillRect/>
          </a:stretch>
        </p:blipFill>
        <p:spPr bwMode="auto">
          <a:xfrm>
            <a:off x="1056419" y="3606989"/>
            <a:ext cx="4032448" cy="2304256"/>
          </a:xfrm>
          <a:prstGeom prst="rect">
            <a:avLst/>
          </a:prstGeom>
          <a:noFill/>
          <a:ln w="28575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圆角矩形 6"/>
          <p:cNvSpPr/>
          <p:nvPr/>
        </p:nvSpPr>
        <p:spPr bwMode="auto">
          <a:xfrm>
            <a:off x="2972348" y="3921898"/>
            <a:ext cx="1296144" cy="288032"/>
          </a:xfrm>
          <a:prstGeom prst="round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8" name="圆角矩形 7"/>
          <p:cNvSpPr/>
          <p:nvPr/>
        </p:nvSpPr>
        <p:spPr bwMode="auto">
          <a:xfrm>
            <a:off x="2972348" y="4569970"/>
            <a:ext cx="2016224" cy="288032"/>
          </a:xfrm>
          <a:prstGeom prst="round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9" name="圆角矩形 8"/>
          <p:cNvSpPr/>
          <p:nvPr/>
        </p:nvSpPr>
        <p:spPr bwMode="auto">
          <a:xfrm>
            <a:off x="2972348" y="5146034"/>
            <a:ext cx="1368152" cy="288032"/>
          </a:xfrm>
          <a:prstGeom prst="round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cxnSp>
        <p:nvCxnSpPr>
          <p:cNvPr id="10" name="直接箭头连接符 9"/>
          <p:cNvCxnSpPr/>
          <p:nvPr/>
        </p:nvCxnSpPr>
        <p:spPr bwMode="auto">
          <a:xfrm flipV="1">
            <a:off x="6903838" y="3751005"/>
            <a:ext cx="1656184" cy="144016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直接箭头连接符 10"/>
          <p:cNvCxnSpPr/>
          <p:nvPr/>
        </p:nvCxnSpPr>
        <p:spPr bwMode="auto">
          <a:xfrm>
            <a:off x="9611856" y="3859017"/>
            <a:ext cx="820375" cy="684076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直接箭头连接符 13"/>
          <p:cNvCxnSpPr/>
          <p:nvPr/>
        </p:nvCxnSpPr>
        <p:spPr bwMode="auto">
          <a:xfrm flipV="1">
            <a:off x="6543798" y="4065913"/>
            <a:ext cx="0" cy="69320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直接箭头连接符 17"/>
          <p:cNvCxnSpPr/>
          <p:nvPr/>
        </p:nvCxnSpPr>
        <p:spPr bwMode="auto">
          <a:xfrm flipV="1">
            <a:off x="8992070" y="4903133"/>
            <a:ext cx="0" cy="72008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直接箭头连接符 20"/>
          <p:cNvCxnSpPr/>
          <p:nvPr/>
        </p:nvCxnSpPr>
        <p:spPr bwMode="auto">
          <a:xfrm flipV="1">
            <a:off x="9337968" y="4687110"/>
            <a:ext cx="374183" cy="14838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" name="直接箭头连接符 23"/>
          <p:cNvCxnSpPr/>
          <p:nvPr/>
        </p:nvCxnSpPr>
        <p:spPr bwMode="auto">
          <a:xfrm flipH="1" flipV="1">
            <a:off x="8005820" y="3165813"/>
            <a:ext cx="554202" cy="9001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9" name="直接箭头连接符 28"/>
          <p:cNvCxnSpPr/>
          <p:nvPr/>
        </p:nvCxnSpPr>
        <p:spPr bwMode="auto">
          <a:xfrm flipH="1" flipV="1">
            <a:off x="9262746" y="4191927"/>
            <a:ext cx="449404" cy="711206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8" name="任意多边形 47"/>
          <p:cNvSpPr/>
          <p:nvPr/>
        </p:nvSpPr>
        <p:spPr bwMode="auto">
          <a:xfrm>
            <a:off x="10718030" y="4399077"/>
            <a:ext cx="218256" cy="792088"/>
          </a:xfrm>
          <a:custGeom>
            <a:avLst/>
            <a:gdLst>
              <a:gd name="connsiteX0" fmla="*/ 0 w 341844"/>
              <a:gd name="connsiteY0" fmla="*/ 114842 h 504319"/>
              <a:gd name="connsiteX1" fmla="*/ 135082 w 341844"/>
              <a:gd name="connsiteY1" fmla="*/ 542 h 504319"/>
              <a:gd name="connsiteX2" fmla="*/ 332509 w 341844"/>
              <a:gd name="connsiteY2" fmla="*/ 156405 h 504319"/>
              <a:gd name="connsiteX3" fmla="*/ 290945 w 341844"/>
              <a:gd name="connsiteY3" fmla="*/ 457742 h 504319"/>
              <a:gd name="connsiteX4" fmla="*/ 124691 w 341844"/>
              <a:gd name="connsiteY4" fmla="*/ 499305 h 504319"/>
              <a:gd name="connsiteX5" fmla="*/ 10391 w 341844"/>
              <a:gd name="connsiteY5" fmla="*/ 416178 h 504319"/>
              <a:gd name="connsiteX6" fmla="*/ 10391 w 341844"/>
              <a:gd name="connsiteY6" fmla="*/ 416178 h 504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1844" h="504319">
                <a:moveTo>
                  <a:pt x="0" y="114842"/>
                </a:moveTo>
                <a:cubicBezTo>
                  <a:pt x="39832" y="54228"/>
                  <a:pt x="79664" y="-6385"/>
                  <a:pt x="135082" y="542"/>
                </a:cubicBezTo>
                <a:cubicBezTo>
                  <a:pt x="190500" y="7469"/>
                  <a:pt x="306532" y="80205"/>
                  <a:pt x="332509" y="156405"/>
                </a:cubicBezTo>
                <a:cubicBezTo>
                  <a:pt x="358486" y="232605"/>
                  <a:pt x="325581" y="400592"/>
                  <a:pt x="290945" y="457742"/>
                </a:cubicBezTo>
                <a:cubicBezTo>
                  <a:pt x="256309" y="514892"/>
                  <a:pt x="171450" y="506232"/>
                  <a:pt x="124691" y="499305"/>
                </a:cubicBezTo>
                <a:cubicBezTo>
                  <a:pt x="77932" y="492378"/>
                  <a:pt x="10391" y="416178"/>
                  <a:pt x="10391" y="416178"/>
                </a:cubicBezTo>
                <a:lnTo>
                  <a:pt x="10391" y="416178"/>
                </a:lnTo>
              </a:path>
            </a:pathLst>
          </a:custGeom>
          <a:noFill/>
          <a:ln w="38100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400" b="1" dirty="0">
                <a:latin typeface="+mn-ea"/>
                <a:ea typeface="+mn-ea"/>
              </a:rPr>
              <a:t>下列</a:t>
            </a:r>
            <a:r>
              <a:rPr lang="en-US" altLang="zh-CN" sz="2400" b="1" dirty="0">
                <a:latin typeface="+mn-ea"/>
                <a:ea typeface="+mn-ea"/>
              </a:rPr>
              <a:t>SDD</a:t>
            </a:r>
            <a:r>
              <a:rPr lang="zh-CN" altLang="en-US" sz="2400" b="1" dirty="0">
                <a:latin typeface="+mn-ea"/>
                <a:ea typeface="+mn-ea"/>
              </a:rPr>
              <a:t>中的综合属性集和继承属性集是</a:t>
            </a:r>
            <a:endParaRPr lang="zh-CN" altLang="en-US" sz="2400" b="1" dirty="0">
              <a:solidFill>
                <a:srgbClr val="000000"/>
              </a:solidFill>
              <a:latin typeface="+mn-ea"/>
              <a:ea typeface="+mn-ea"/>
              <a:sym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2195513" y="2368207"/>
                <a:ext cx="85344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altLang="zh-CN" sz="2000" b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altLang="zh-CN" sz="2000" b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</m:d>
                      <m:r>
                        <a:rPr lang="zh-CN" altLang="en-US" sz="2000" b="1" i="1">
                          <a:latin typeface="Cambria Math" panose="02040503050406030204" pitchFamily="18" charset="0"/>
                        </a:rPr>
                        <m:t>和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en-US" altLang="zh-CN" sz="2000" b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sz="2000" b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sz="2000" b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sz="2000" b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CN" sz="2000" b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2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2195513" y="2368207"/>
                <a:ext cx="8534400" cy="642938"/>
              </a:xfrm>
              <a:prstGeom prst="rect">
                <a:avLst/>
              </a:prstGeom>
              <a:blipFill rotWithShape="1">
                <a:blip r:embed="rId20"/>
                <a:stretch>
                  <a:fillRect l="-4" t="-45" r="4" b="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2195513" y="3225457"/>
                <a:ext cx="85344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altLang="zh-CN" sz="2000" b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altLang="zh-CN" sz="2000" b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altLang="zh-CN" sz="2000" b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</m:d>
                      <m:r>
                        <a:rPr lang="zh-CN" altLang="en-US" sz="2000" b="1" i="1">
                          <a:latin typeface="Cambria Math" panose="02040503050406030204" pitchFamily="18" charset="0"/>
                        </a:rPr>
                        <m:t>和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en-US" altLang="zh-CN" sz="2000" b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sz="2000" b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sz="2000" b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1"/>
                </p:custDataLst>
              </p:nvPr>
            </p:nvSpPr>
            <p:spPr>
              <a:xfrm>
                <a:off x="2195513" y="3225457"/>
                <a:ext cx="8534400" cy="642938"/>
              </a:xfrm>
              <a:prstGeom prst="rect">
                <a:avLst/>
              </a:prstGeom>
              <a:blipFill rotWithShape="1">
                <a:blip r:embed="rId22"/>
                <a:stretch>
                  <a:fillRect l="-4" t="-45" r="4" b="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2195513" y="4082707"/>
                <a:ext cx="85344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altLang="zh-CN" sz="2000" b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altLang="zh-CN" sz="2000" b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altLang="zh-CN" sz="2000" b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altLang="zh-CN" sz="2000" b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</m:d>
                      <m:r>
                        <a:rPr lang="zh-CN" altLang="en-US" sz="2000" b="1" i="1">
                          <a:latin typeface="Cambria Math" panose="02040503050406030204" pitchFamily="18" charset="0"/>
                        </a:rPr>
                        <m:t>和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en-US" altLang="zh-CN" sz="2000" b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sz="2000" b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</a:rPr>
                        <m:t> }</m:t>
                      </m:r>
                    </m:oMath>
                  </m:oMathPara>
                </a14:m>
                <a:endParaRPr lang="zh-CN" altLang="en-US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3"/>
                </p:custDataLst>
              </p:nvPr>
            </p:nvSpPr>
            <p:spPr>
              <a:xfrm>
                <a:off x="2195513" y="4082707"/>
                <a:ext cx="8534400" cy="642938"/>
              </a:xfrm>
              <a:prstGeom prst="rect">
                <a:avLst/>
              </a:prstGeom>
              <a:blipFill rotWithShape="1">
                <a:blip r:embed="rId24"/>
                <a:stretch>
                  <a:fillRect l="-4" t="-45" r="4" b="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2195513" y="4939957"/>
                <a:ext cx="85344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altLang="zh-CN" sz="2000" b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altLang="zh-CN" sz="2000" b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zh-CN" altLang="en-US" sz="2000" b="1" i="1" smtClean="0">
                          <a:latin typeface="Cambria Math" panose="02040503050406030204" pitchFamily="18" charset="0"/>
                        </a:rPr>
                        <m:t>和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en-US" altLang="zh-CN" sz="2000" b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sz="2000" b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sz="2000" b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5"/>
                </p:custDataLst>
              </p:nvPr>
            </p:nvSpPr>
            <p:spPr>
              <a:xfrm>
                <a:off x="2195513" y="4939957"/>
                <a:ext cx="8534400" cy="642938"/>
              </a:xfrm>
              <a:prstGeom prst="rect">
                <a:avLst/>
              </a:prstGeom>
              <a:blipFill rotWithShape="1">
                <a:blip r:embed="rId26"/>
                <a:stretch>
                  <a:fillRect l="-4" t="-45" r="4" b="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328738" y="243250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328738" y="3289750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328738" y="414700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328738" y="500425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表格 21"/>
              <p:cNvGraphicFramePr>
                <a:graphicFrameLocks noGrp="1"/>
              </p:cNvGraphicFramePr>
              <p:nvPr/>
            </p:nvGraphicFramePr>
            <p:xfrm>
              <a:off x="7862541" y="2201996"/>
              <a:ext cx="3491259" cy="325709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736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175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153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/>
                            <a:t>产生式</a:t>
                          </a:r>
                          <a:endParaRPr lang="zh-CN" altLang="en-US" sz="2000" b="1" dirty="0"/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/>
                            <a:t>语义动作</a:t>
                          </a:r>
                          <a:endParaRPr lang="zh-CN" altLang="en-US" sz="2000" b="1" dirty="0"/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2424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𝒙𝑸𝑹</m:t>
                                </m:r>
                              </m:oMath>
                            </m:oMathPara>
                          </a14:m>
                          <a:endParaRPr lang="zh-CN" altLang="en-US" sz="2000" b="1" dirty="0"/>
                        </a:p>
                      </a:txBody>
                      <a:tcP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kern="1200" dirty="0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oMath>
                            </m:oMathPara>
                          </a14:m>
                          <a:endParaRPr lang="en-US" altLang="zh-CN" sz="2000" dirty="0"/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kern="1200" dirty="0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</m:oMath>
                            </m:oMathPara>
                          </a14:m>
                          <a:endParaRPr lang="en-US" altLang="zh-CN" sz="2000" dirty="0"/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𝒆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kern="1200" dirty="0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en-US" altLang="zh-CN" sz="20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1538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𝒚𝑸𝑹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sz="2000" b="1" dirty="0"/>
                        </a:p>
                      </a:txBody>
                      <a:tcP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kern="1200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000" kern="120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oMath>
                            </m:oMathPara>
                          </a14:m>
                          <a:endParaRPr lang="en-US" altLang="zh-CN" sz="2000" dirty="0"/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kern="1200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altLang="zh-CN" sz="2000" kern="120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000" kern="1200" smtClean="0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kern="12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kern="1200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000" kern="120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zh-CN" altLang="en-US" sz="2000" b="1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1538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𝒖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        </m:t>
                                </m:r>
                              </m:oMath>
                            </m:oMathPara>
                          </a14:m>
                          <a:endParaRPr lang="zh-CN" altLang="en-US" sz="2000" b="1" dirty="0"/>
                        </a:p>
                      </a:txBody>
                      <a:tcP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sz="2000" b="1" dirty="0"/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1538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        </m:t>
                                </m:r>
                              </m:oMath>
                            </m:oMathPara>
                          </a14:m>
                          <a:endParaRPr lang="zh-CN" altLang="en-US" sz="2000" b="1" dirty="0"/>
                        </a:p>
                      </a:txBody>
                      <a:tcP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oMath>
                            </m:oMathPara>
                          </a14:m>
                          <a:endParaRPr lang="en-US" altLang="zh-CN" sz="2000" dirty="0"/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000" smtClean="0">
                                    <a:latin typeface="Cambria Math" panose="02040503050406030204" pitchFamily="18" charset="0"/>
                                  </a:rPr>
                                  <m:t>𝒆</m:t>
                                </m:r>
                              </m:oMath>
                            </m:oMathPara>
                          </a14:m>
                          <a:endParaRPr lang="en-US" altLang="zh-CN" sz="2000" b="1" dirty="0"/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表格 21"/>
              <p:cNvGraphicFramePr>
                <a:graphicFrameLocks noGrp="1"/>
              </p:cNvGraphicFramePr>
              <p:nvPr/>
            </p:nvGraphicFramePr>
            <p:xfrm>
              <a:off x="7862541" y="2201996"/>
              <a:ext cx="3491259" cy="325709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73696"/>
                    <a:gridCol w="2017563"/>
                  </a:tblGrid>
                  <a:tr h="4153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/>
                            <a:t>产生式</a:t>
                          </a:r>
                          <a:endParaRPr lang="zh-CN" altLang="en-US" sz="2000" b="1" dirty="0"/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/>
                            <a:t>语义动作</a:t>
                          </a:r>
                          <a:endParaRPr lang="zh-CN" altLang="en-US" sz="2000" b="1" dirty="0"/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</a:tr>
                  <a:tr h="102425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7"/>
                        </a:blipFill>
                      </a:tcPr>
                    </a:tc>
                  </a:tr>
                  <a:tr h="7010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7"/>
                        </a:blipFill>
                      </a:tcPr>
                    </a:tc>
                  </a:tr>
                  <a:tr h="41529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7"/>
                        </a:blipFill>
                      </a:tcPr>
                    </a:tc>
                  </a:tr>
                  <a:tr h="7010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7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7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grpSp>
        <p:nvGrpSpPr>
          <p:cNvPr id="20" name="组合 19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6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17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18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/>
          <p:cNvPicPr/>
          <p:nvPr>
            <p:custDataLst>
              <p:tags r:id="rId13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对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𝑺𝑫𝑫</m:t>
                    </m:r>
                  </m:oMath>
                </a14:m>
                <a:r>
                  <a:rPr lang="zh-CN" altLang="en-US" dirty="0"/>
                  <a:t>求值</a:t>
                </a:r>
              </a:p>
            </p:txBody>
          </p:sp>
        </mc:Choice>
        <mc:Fallback xmlns="">
          <p:sp>
            <p:nvSpPr>
              <p:cNvPr id="2" name="标题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24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 i="1" dirty="0"/>
              <a:t>SDD</a:t>
            </a:r>
            <a:r>
              <a:rPr lang="zh-CN" altLang="en-US" dirty="0"/>
              <a:t>为</a:t>
            </a:r>
            <a:r>
              <a:rPr lang="en-US" altLang="zh-CN" dirty="0"/>
              <a:t>CFG</a:t>
            </a:r>
            <a:r>
              <a:rPr lang="zh-CN" altLang="en-US" dirty="0"/>
              <a:t>中的文法符号</a:t>
            </a:r>
            <a:r>
              <a:rPr lang="zh-CN" altLang="en-US" dirty="0">
                <a:solidFill>
                  <a:srgbClr val="FF0000"/>
                </a:solidFill>
              </a:rPr>
              <a:t>设置语义属性</a:t>
            </a:r>
            <a:r>
              <a:rPr lang="zh-CN" altLang="en-US" dirty="0"/>
              <a:t>。对于给定的输入串</a:t>
            </a:r>
            <a:r>
              <a:rPr lang="en-US" altLang="zh-CN" dirty="0"/>
              <a:t>x</a:t>
            </a:r>
            <a:r>
              <a:rPr lang="zh-CN" altLang="en-US" dirty="0"/>
              <a:t>，应用语义规则</a:t>
            </a:r>
            <a:r>
              <a:rPr lang="zh-CN" altLang="en-US" dirty="0">
                <a:solidFill>
                  <a:srgbClr val="FF0000"/>
                </a:solidFill>
              </a:rPr>
              <a:t>计算</a:t>
            </a:r>
            <a:r>
              <a:rPr lang="zh-CN" altLang="en-US" dirty="0"/>
              <a:t>分析树中各结点对应的</a:t>
            </a:r>
            <a:r>
              <a:rPr lang="zh-CN" altLang="en-US" dirty="0">
                <a:solidFill>
                  <a:srgbClr val="FF0000"/>
                </a:solidFill>
              </a:rPr>
              <a:t>属性值</a:t>
            </a:r>
            <a:r>
              <a:rPr lang="zh-CN" altLang="en-US" dirty="0"/>
              <a:t>。 </a:t>
            </a:r>
            <a:endParaRPr lang="en-US" altLang="zh-CN" dirty="0"/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在对某个节点的属性求值前， 需要先计算出这个属性值</a:t>
            </a:r>
            <a:r>
              <a:rPr lang="zh-CN" altLang="en-US" dirty="0">
                <a:solidFill>
                  <a:srgbClr val="FF0000"/>
                </a:solidFill>
              </a:rPr>
              <a:t>所依赖</a:t>
            </a:r>
            <a:r>
              <a:rPr lang="zh-CN" altLang="en-US" dirty="0"/>
              <a:t>的所有的属性值，这导致</a:t>
            </a:r>
            <a:r>
              <a:rPr lang="zh-CN" altLang="en-US" dirty="0">
                <a:solidFill>
                  <a:srgbClr val="FF0000"/>
                </a:solidFill>
              </a:rPr>
              <a:t>求值需要遵循一定的顺序</a:t>
            </a:r>
            <a:r>
              <a:rPr lang="zh-CN" altLang="en-US" dirty="0"/>
              <a:t>。</a:t>
            </a:r>
            <a:endParaRPr lang="en-US" altLang="zh-CN" dirty="0"/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对于</a:t>
            </a:r>
            <a:r>
              <a:rPr lang="zh-CN" altLang="en-US" dirty="0">
                <a:solidFill>
                  <a:srgbClr val="FF0000"/>
                </a:solidFill>
              </a:rPr>
              <a:t>综合属性</a:t>
            </a:r>
            <a:r>
              <a:rPr lang="zh-CN" altLang="en-US" dirty="0"/>
              <a:t>，可以按照</a:t>
            </a:r>
            <a:r>
              <a:rPr lang="zh-CN" altLang="en-US" dirty="0">
                <a:solidFill>
                  <a:srgbClr val="FF0000"/>
                </a:solidFill>
              </a:rPr>
              <a:t>任何自底向上的顺序</a:t>
            </a:r>
            <a:r>
              <a:rPr lang="zh-CN" altLang="en-US" dirty="0"/>
              <a:t>进行求值计算。</a:t>
            </a:r>
            <a:endParaRPr lang="en-US" altLang="zh-CN" dirty="0"/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对</a:t>
            </a:r>
            <a:r>
              <a:rPr lang="zh-CN" altLang="en-US" dirty="0">
                <a:solidFill>
                  <a:srgbClr val="FF0000"/>
                </a:solidFill>
              </a:rPr>
              <a:t>同时具有继承和综合属性</a:t>
            </a:r>
            <a:r>
              <a:rPr lang="zh-CN" altLang="en-US" dirty="0"/>
              <a:t>的，求值顺序比较复杂。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对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𝑺𝑫𝑫</m:t>
                    </m:r>
                  </m:oMath>
                </a14:m>
                <a:r>
                  <a:rPr lang="zh-CN" altLang="en-US" dirty="0"/>
                  <a:t>求值</a:t>
                </a:r>
              </a:p>
            </p:txBody>
          </p:sp>
        </mc:Choice>
        <mc:Fallback xmlns="">
          <p:sp>
            <p:nvSpPr>
              <p:cNvPr id="2" name="标题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24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eaLnBrk="1" hangingPunct="1">
                  <a:lnSpc>
                    <a:spcPct val="150000"/>
                  </a:lnSpc>
                </a:pPr>
                <a:r>
                  <a:rPr lang="zh-CN" altLang="en-US" dirty="0"/>
                  <a:t>考虑非终结符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，它们分别有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综合属性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zh-CN" altLang="en-US" dirty="0"/>
                  <a:t>和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继承属性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zh-CN" altLang="en-US" dirty="0"/>
                  <a:t>，同时它们的产生式和规则如下：</a:t>
                </a:r>
                <a:endParaRPr lang="en-US" altLang="zh-CN" dirty="0"/>
              </a:p>
              <a:p>
                <a:pPr eaLnBrk="1" hangingPunct="1">
                  <a:lnSpc>
                    <a:spcPct val="150000"/>
                  </a:lnSpc>
                </a:pPr>
                <a:endParaRPr lang="en-US" altLang="zh-CN" dirty="0"/>
              </a:p>
              <a:p>
                <a:pPr eaLnBrk="1" hangingPunct="1">
                  <a:lnSpc>
                    <a:spcPct val="150000"/>
                  </a:lnSpc>
                </a:pPr>
                <a:endParaRPr lang="en-US" altLang="zh-CN" dirty="0"/>
              </a:p>
              <a:p>
                <a:pPr eaLnBrk="1" hangingPunct="1">
                  <a:lnSpc>
                    <a:spcPct val="150000"/>
                  </a:lnSpc>
                </a:pPr>
                <a:endParaRPr lang="en-US" altLang="zh-CN" dirty="0"/>
              </a:p>
              <a:p>
                <a:pPr eaLnBrk="1" hangingPunct="1">
                  <a:lnSpc>
                    <a:spcPct val="150000"/>
                  </a:lnSpc>
                </a:pPr>
                <a:endParaRPr lang="en-US" altLang="zh-CN" dirty="0"/>
              </a:p>
              <a:p>
                <a:pPr eaLnBrk="1" hangingPunct="1">
                  <a:lnSpc>
                    <a:spcPct val="150000"/>
                  </a:lnSpc>
                </a:pPr>
                <a:r>
                  <a:rPr lang="zh-CN" altLang="en-US" dirty="0"/>
                  <a:t>这些规则是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循环定义</a:t>
                </a:r>
                <a:r>
                  <a:rPr lang="zh-CN" altLang="en-US" dirty="0"/>
                  <a:t>的。属性之间的对应关系如右图：</a:t>
                </a:r>
                <a:endParaRPr lang="en-US" altLang="zh-CN" dirty="0"/>
              </a:p>
              <a:p>
                <a:pPr eaLnBrk="1" hangingPunct="1">
                  <a:lnSpc>
                    <a:spcPct val="150000"/>
                  </a:lnSpc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33" t="-284" r="-127" b="-10507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49" t="-356" r="38026" b="14703"/>
          <a:stretch>
            <a:fillRect/>
          </a:stretch>
        </p:blipFill>
        <p:spPr bwMode="auto">
          <a:xfrm>
            <a:off x="8688288" y="2420888"/>
            <a:ext cx="2232248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/>
            </p:nvGraphicFramePr>
            <p:xfrm>
              <a:off x="2207568" y="2975496"/>
              <a:ext cx="4608512" cy="187220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2819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8803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677868">
                    <a:tc>
                      <a:txBody>
                        <a:bodyPr/>
                        <a:lstStyle/>
                        <a:p>
                          <a:r>
                            <a:rPr lang="zh-CN" altLang="en-US" sz="2400" b="1" dirty="0"/>
                            <a:t>产生式</a:t>
                          </a:r>
                        </a:p>
                      </a:txBody>
                      <a:tcPr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2400" b="1" dirty="0"/>
                            <a:t>语义规则</a:t>
                          </a:r>
                        </a:p>
                      </a:txBody>
                      <a:tcPr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1943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zh-CN" altLang="en-US" sz="2400" b="1" dirty="0"/>
                        </a:p>
                      </a:txBody>
                      <a:tcPr anchor="ctr" anchorCtr="1"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n-US" altLang="zh-CN" sz="2400" b="1" dirty="0">
                            <a:ea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zh-CN" altLang="en-US" sz="2400" b="1" dirty="0"/>
                        </a:p>
                      </a:txBody>
                      <a:tcPr anchor="ctr" anchorCtr="1">
                        <a:solidFill>
                          <a:srgbClr val="FFFF9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/>
            </p:nvGraphicFramePr>
            <p:xfrm>
              <a:off x="2207568" y="2975496"/>
              <a:ext cx="4608512" cy="187220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28192"/>
                    <a:gridCol w="2880320"/>
                  </a:tblGrid>
                  <a:tr h="677868">
                    <a:tc>
                      <a:txBody>
                        <a:bodyPr/>
                        <a:lstStyle/>
                        <a:p>
                          <a:r>
                            <a:rPr lang="zh-CN" altLang="en-US" sz="2400" b="1" dirty="0"/>
                            <a:t>产生式</a:t>
                          </a:r>
                          <a:endParaRPr lang="zh-CN" altLang="en-US" sz="2400" b="1" dirty="0"/>
                        </a:p>
                      </a:txBody>
                      <a:tcPr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2400" b="1" dirty="0"/>
                            <a:t>语义规则</a:t>
                          </a:r>
                          <a:endParaRPr lang="zh-CN" altLang="en-US" sz="2400" b="1" dirty="0"/>
                        </a:p>
                      </a:txBody>
                      <a:tcPr anchor="ctr" anchorCtr="1">
                        <a:solidFill>
                          <a:srgbClr val="CCCCFF"/>
                        </a:solidFill>
                      </a:tcPr>
                    </a:tc>
                  </a:tr>
                  <a:tr h="11938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anchorCtr="1"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anchorCtr="1">
                        <a:blipFill>
                          <a:blip r:embed="rId5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依赖图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marL="288925" indent="-288925" eaLnBrk="1" hangingPunct="1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依赖图</a:t>
                </a:r>
                <a:r>
                  <a:rPr lang="en-US" altLang="zh-CN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(dependency graph)</a:t>
                </a:r>
                <a:r>
                  <a:rPr lang="zh-CN" altLang="en-US" dirty="0"/>
                  <a:t>用于确定一颗给定语法分析树中各个属性实例的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求值顺序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688975" lvl="1" indent="-288925" eaLnBrk="1" hangingPunct="1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dirty="0"/>
                  <a:t>对于每个语法分析树的节点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dirty="0"/>
                  <a:t>，和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dirty="0"/>
                  <a:t>关联的每个属性都在依赖图里面有一个节点。</a:t>
                </a:r>
                <a:endParaRPr lang="en-US" altLang="zh-CN" dirty="0"/>
              </a:p>
              <a:p>
                <a:pPr marL="688975" lvl="1" indent="-288925" eaLnBrk="1" hangingPunct="1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dirty="0"/>
                  <a:t>假设和产生式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dirty="0"/>
                  <a:t>关联的语义规则通过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dirty="0"/>
                  <a:t>的值定义了综合属性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dirty="0"/>
                  <a:t>的值，那么依赖图中有一条从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dirty="0"/>
                  <a:t>到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dirty="0"/>
                  <a:t>的边。</a:t>
                </a:r>
                <a:endParaRPr lang="en-US" altLang="zh-CN" dirty="0"/>
              </a:p>
              <a:p>
                <a:pPr marL="688975" lvl="1" indent="-288925" eaLnBrk="1" hangingPunct="1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dirty="0"/>
                  <a:t>假设和产生式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dirty="0"/>
                  <a:t>关联的语义规则通过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dirty="0"/>
                  <a:t>的值定义了继承属性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dirty="0"/>
                  <a:t>的值，那么依赖图中有一条从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dirty="0"/>
                  <a:t>到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dirty="0"/>
                  <a:t>的边。</a:t>
                </a:r>
                <a:endParaRPr lang="en-US" altLang="zh-CN" dirty="0"/>
              </a:p>
              <a:p>
                <a:pPr marL="288925" indent="-288925" eaLnBrk="1" hangingPunct="1">
                  <a:lnSpc>
                    <a:spcPct val="150000"/>
                  </a:lnSpc>
                  <a:spcBef>
                    <a:spcPts val="0"/>
                  </a:spcBef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13028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依赖图示例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45" r="7205" b="15555"/>
          <a:stretch>
            <a:fillRect/>
          </a:stretch>
        </p:blipFill>
        <p:spPr bwMode="auto">
          <a:xfrm>
            <a:off x="2495600" y="3754038"/>
            <a:ext cx="6912768" cy="3033712"/>
          </a:xfrm>
          <a:prstGeom prst="rect">
            <a:avLst/>
          </a:prstGeom>
          <a:noFill/>
          <a:ln w="28575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" b="18764"/>
          <a:stretch>
            <a:fillRect/>
          </a:stretch>
        </p:blipFill>
        <p:spPr bwMode="auto">
          <a:xfrm>
            <a:off x="5879976" y="1283697"/>
            <a:ext cx="4727112" cy="2370241"/>
          </a:xfrm>
          <a:prstGeom prst="rect">
            <a:avLst/>
          </a:prstGeom>
          <a:noFill/>
          <a:ln w="28575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61" t="2885" r="16569" b="17827"/>
          <a:stretch>
            <a:fillRect/>
          </a:stretch>
        </p:blipFill>
        <p:spPr bwMode="auto">
          <a:xfrm>
            <a:off x="1631504" y="1283696"/>
            <a:ext cx="4147922" cy="2370241"/>
          </a:xfrm>
          <a:prstGeom prst="rect">
            <a:avLst/>
          </a:prstGeom>
          <a:noFill/>
          <a:ln w="28575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 dirty="0">
                    <a:latin typeface="+mn-ea"/>
                  </a:rPr>
                  <a:t>为串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𝒓𝒆𝒂𝒍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𝒊𝒅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𝒊𝒅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𝒊𝒅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en-US" dirty="0">
                    <a:latin typeface="+mn-ea"/>
                  </a:rPr>
                  <a:t>画出依赖图。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050" y="2564904"/>
            <a:ext cx="4964967" cy="2736304"/>
          </a:xfrm>
          <a:prstGeom prst="rect">
            <a:avLst/>
          </a:prstGeom>
        </p:spPr>
      </p:pic>
      <p:pic>
        <p:nvPicPr>
          <p:cNvPr id="5" name="图片 4" descr="屏幕剪辑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080" y="2667946"/>
            <a:ext cx="4053929" cy="3456384"/>
          </a:xfrm>
          <a:prstGeom prst="rect">
            <a:avLst/>
          </a:prstGeom>
        </p:spPr>
      </p:pic>
      <p:sp>
        <p:nvSpPr>
          <p:cNvPr id="7" name="对话气泡: 椭圆形 6"/>
          <p:cNvSpPr/>
          <p:nvPr/>
        </p:nvSpPr>
        <p:spPr bwMode="auto">
          <a:xfrm>
            <a:off x="8050164" y="1412776"/>
            <a:ext cx="3888432" cy="1512168"/>
          </a:xfrm>
          <a:prstGeom prst="wedgeEllipseCallout">
            <a:avLst>
              <a:gd name="adj1" fmla="val -18836"/>
              <a:gd name="adj2" fmla="val 98007"/>
            </a:avLst>
          </a:prstGeom>
          <a:solidFill>
            <a:schemeClr val="bg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1" dirty="0">
                <a:ea typeface="黑体" panose="02010609060101010101" pitchFamily="2" charset="-122"/>
              </a:rPr>
              <a:t>为动作</a:t>
            </a:r>
            <a:r>
              <a:rPr lang="en-US" altLang="zh-CN" sz="2000" b="1" dirty="0" err="1">
                <a:ea typeface="黑体" panose="02010609060101010101" pitchFamily="2" charset="-122"/>
              </a:rPr>
              <a:t>addtype</a:t>
            </a:r>
            <a:r>
              <a:rPr lang="zh-CN" altLang="en-US" sz="2000" b="1" dirty="0">
                <a:ea typeface="黑体" panose="02010609060101010101" pitchFamily="2" charset="-122"/>
              </a:rPr>
              <a:t>设立的虚节点。</a:t>
            </a:r>
            <a:r>
              <a:rPr lang="en-US" altLang="zh-CN" sz="2000" b="1" dirty="0" err="1">
                <a:ea typeface="黑体" panose="02010609060101010101" pitchFamily="2" charset="-122"/>
              </a:rPr>
              <a:t>addtype</a:t>
            </a:r>
            <a:r>
              <a:rPr lang="zh-CN" altLang="en-US" sz="2000" b="1" dirty="0">
                <a:ea typeface="黑体" panose="02010609060101010101" pitchFamily="2" charset="-122"/>
              </a:rPr>
              <a:t>是将</a:t>
            </a:r>
            <a:r>
              <a:rPr lang="en-US" altLang="zh-CN" sz="2000" b="1" dirty="0">
                <a:ea typeface="黑体" panose="02010609060101010101" pitchFamily="2" charset="-122"/>
              </a:rPr>
              <a:t>id</a:t>
            </a:r>
            <a:r>
              <a:rPr lang="zh-CN" altLang="en-US" sz="2000" b="1" dirty="0">
                <a:ea typeface="黑体" panose="02010609060101010101" pitchFamily="2" charset="-122"/>
              </a:rPr>
              <a:t>的类型填入符号表。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551384" y="1340768"/>
                <a:ext cx="10972800" cy="5137150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 dirty="0">
                    <a:latin typeface="+mn-ea"/>
                  </a:rPr>
                  <a:t>已知</a:t>
                </a:r>
                <a:r>
                  <a:rPr lang="en-US" altLang="zh-CN" dirty="0">
                    <a:latin typeface="+mn-ea"/>
                  </a:rPr>
                  <a:t>SDD</a:t>
                </a:r>
                <a:r>
                  <a:rPr lang="zh-CN" altLang="en-US" dirty="0">
                    <a:latin typeface="+mn-ea"/>
                  </a:rPr>
                  <a:t>如下，为串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(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zh-CN" altLang="en-US" dirty="0">
                    <a:latin typeface="+mn-ea"/>
                  </a:rPr>
                  <a:t>画出语法注释树。 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1384" y="1340768"/>
                <a:ext cx="10972800" cy="5137150"/>
              </a:xfrm>
              <a:blipFill rotWithShape="1">
                <a:blip r:embed="rId2"/>
                <a:stretch>
                  <a:fillRect l="-135" t="-290" r="-125" b="-266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/>
              <p:cNvGraphicFramePr>
                <a:graphicFrameLocks noGrp="1"/>
              </p:cNvGraphicFramePr>
              <p:nvPr/>
            </p:nvGraphicFramePr>
            <p:xfrm>
              <a:off x="1128234" y="2348880"/>
              <a:ext cx="5348621" cy="343651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8493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26369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180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/>
                            <a:t>产生式</a:t>
                          </a:r>
                        </a:p>
                      </a:txBody>
                      <a:tcPr anchor="ctr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/>
                            <a:t>语义动作</a:t>
                          </a:r>
                        </a:p>
                      </a:txBody>
                      <a:tcPr anchor="ctr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6064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  <m:r>
                                  <a:rPr lang="en-US" altLang="zh-CN" sz="2400" b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zh-CN" altLang="en-US" sz="2400" b="1" dirty="0"/>
                        </a:p>
                      </a:txBody>
                      <a:tcPr anchor="ctr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zh-CN" altLang="en-US" sz="2400" b="1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1764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→(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b="1" i="1" dirty="0"/>
                        </a:p>
                      </a:txBody>
                      <a:tcPr anchor="ctr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zh-CN" altLang="en-US" sz="2400" b="1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7400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zh-CN" altLang="en-US" sz="2400" b="1" i="1" dirty="0"/>
                        </a:p>
                      </a:txBody>
                      <a:tcPr anchor="ctr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𝒑𝒓𝒊𝒏𝒕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b="1" dirty="0"/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7607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sz="2400" b="1" i="1" dirty="0"/>
                        </a:p>
                      </a:txBody>
                      <a:tcPr anchor="ctr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oMath>
                            </m:oMathPara>
                          </a14:m>
                          <a:endParaRPr lang="en-US" altLang="zh-CN" sz="2400" b="1" i="1" dirty="0"/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oMath>
                            </m:oMathPara>
                          </a14:m>
                          <a:endParaRPr lang="zh-CN" altLang="en-US" sz="2400" b="1" i="1" dirty="0"/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0406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sz="2400" b="1" i="1" dirty="0"/>
                        </a:p>
                      </a:txBody>
                      <a:tcPr anchor="ctr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oMath>
                            </m:oMathPara>
                          </a14:m>
                          <a:endParaRPr lang="zh-CN" altLang="en-US" sz="2400" b="1" i="1" dirty="0"/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/>
              <p:cNvGraphicFramePr>
                <a:graphicFrameLocks noGrp="1"/>
              </p:cNvGraphicFramePr>
              <p:nvPr/>
            </p:nvGraphicFramePr>
            <p:xfrm>
              <a:off x="1128234" y="2348880"/>
              <a:ext cx="5348621" cy="343651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84930"/>
                    <a:gridCol w="3263691"/>
                  </a:tblGrid>
                  <a:tr h="4180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/>
                            <a:t>产生式</a:t>
                          </a:r>
                          <a:endParaRPr lang="zh-CN" altLang="en-US" sz="2400" b="1" dirty="0"/>
                        </a:p>
                      </a:txBody>
                      <a:tcPr anchor="ctr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/>
                            <a:t>语义动作</a:t>
                          </a:r>
                          <a:endParaRPr lang="zh-CN" altLang="en-US" sz="2400" b="1" dirty="0"/>
                        </a:p>
                      </a:txBody>
                      <a:tcPr anchor="ctr">
                        <a:solidFill>
                          <a:srgbClr val="CCCCFF"/>
                        </a:solidFill>
                      </a:tcPr>
                    </a:tc>
                  </a:tr>
                  <a:tr h="56070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</a:blipFill>
                      </a:tcPr>
                    </a:tc>
                  </a:tr>
                  <a:tr h="51752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</a:blipFill>
                      </a:tcPr>
                    </a:tc>
                  </a:tr>
                  <a:tr h="4743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</a:blipFill>
                      </a:tcPr>
                    </a:tc>
                  </a:tr>
                  <a:tr h="8229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</a:blipFill>
                      </a:tcPr>
                    </a:tc>
                  </a:tr>
                  <a:tr h="60388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grpSp>
        <p:nvGrpSpPr>
          <p:cNvPr id="53" name="组合 52"/>
          <p:cNvGrpSpPr/>
          <p:nvPr/>
        </p:nvGrpSpPr>
        <p:grpSpPr>
          <a:xfrm>
            <a:off x="7422919" y="1533079"/>
            <a:ext cx="3641633" cy="4752528"/>
            <a:chOff x="7422919" y="1533079"/>
            <a:chExt cx="3641633" cy="4752528"/>
          </a:xfrm>
        </p:grpSpPr>
        <p:grpSp>
          <p:nvGrpSpPr>
            <p:cNvPr id="48" name="组合 47"/>
            <p:cNvGrpSpPr/>
            <p:nvPr/>
          </p:nvGrpSpPr>
          <p:grpSpPr>
            <a:xfrm>
              <a:off x="7422919" y="1533079"/>
              <a:ext cx="3641633" cy="4752528"/>
              <a:chOff x="7896199" y="1700808"/>
              <a:chExt cx="3641633" cy="4752528"/>
            </a:xfrm>
          </p:grpSpPr>
          <p:sp>
            <p:nvSpPr>
              <p:cNvPr id="7" name="矩形 6"/>
              <p:cNvSpPr/>
              <p:nvPr/>
            </p:nvSpPr>
            <p:spPr bwMode="auto">
              <a:xfrm>
                <a:off x="8760296" y="1700808"/>
                <a:ext cx="360040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2" charset="-122"/>
                  </a:rPr>
                  <a:t>S’</a:t>
                </a:r>
                <a:endParaRPr kumimoji="0" lang="zh-CN" alt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 bwMode="auto">
              <a:xfrm>
                <a:off x="8626436" y="2360115"/>
                <a:ext cx="936104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2000" b="1" i="0" u="none" strike="noStrike" cap="none" normalizeH="0" baseline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2" charset="-122"/>
                  </a:rPr>
                  <a:t>S</a:t>
                </a:r>
                <a:r>
                  <a:rPr lang="en-US" altLang="zh-CN" sz="2000" b="1" dirty="0" err="1">
                    <a:solidFill>
                      <a:srgbClr val="FF0000"/>
                    </a:solidFill>
                    <a:ea typeface="黑体" panose="02010609060101010101" pitchFamily="2" charset="-122"/>
                  </a:rPr>
                  <a:t>.d</a:t>
                </a:r>
                <a:r>
                  <a:rPr lang="en-US" altLang="zh-CN" sz="2000" b="1" dirty="0">
                    <a:solidFill>
                      <a:srgbClr val="FF0000"/>
                    </a:solidFill>
                    <a:ea typeface="黑体" panose="02010609060101010101" pitchFamily="2" charset="-122"/>
                  </a:rPr>
                  <a:t>=0</a:t>
                </a:r>
                <a:endParaRPr kumimoji="0" lang="zh-CN" altLang="en-US" sz="20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ea typeface="黑体" panose="02010609060101010101" pitchFamily="2" charset="-122"/>
                </a:endParaRPr>
              </a:p>
            </p:txBody>
          </p:sp>
          <p:cxnSp>
            <p:nvCxnSpPr>
              <p:cNvPr id="10" name="直接连接符 9"/>
              <p:cNvCxnSpPr/>
              <p:nvPr/>
            </p:nvCxnSpPr>
            <p:spPr bwMode="auto">
              <a:xfrm>
                <a:off x="8940316" y="2060848"/>
                <a:ext cx="0" cy="288032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</p:cxnSp>
          <p:sp>
            <p:nvSpPr>
              <p:cNvPr id="16" name="矩形 15"/>
              <p:cNvSpPr/>
              <p:nvPr/>
            </p:nvSpPr>
            <p:spPr bwMode="auto">
              <a:xfrm>
                <a:off x="7896199" y="3032305"/>
                <a:ext cx="2921551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2" charset="-122"/>
                  </a:rPr>
                  <a:t>(            </a:t>
                </a:r>
                <a:r>
                  <a:rPr kumimoji="0" lang="en-US" altLang="zh-CN" sz="2000" b="1" i="0" u="none" strike="noStrike" cap="none" normalizeH="0" baseline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2" charset="-122"/>
                  </a:rPr>
                  <a:t>L</a:t>
                </a:r>
                <a:r>
                  <a:rPr lang="en-US" altLang="zh-CN" sz="2000" b="1" dirty="0" err="1">
                    <a:solidFill>
                      <a:srgbClr val="FF0000"/>
                    </a:solidFill>
                    <a:ea typeface="黑体" panose="02010609060101010101" pitchFamily="2" charset="-122"/>
                  </a:rPr>
                  <a:t>.d</a:t>
                </a:r>
                <a:r>
                  <a:rPr lang="en-US" altLang="zh-CN" sz="2000" b="1" dirty="0">
                    <a:solidFill>
                      <a:srgbClr val="FF0000"/>
                    </a:solidFill>
                    <a:ea typeface="黑体" panose="02010609060101010101" pitchFamily="2" charset="-122"/>
                  </a:rPr>
                  <a:t> =1</a:t>
                </a:r>
                <a:r>
                  <a:rPr lang="en-US" altLang="zh-CN" sz="2000" b="1" dirty="0">
                    <a:ea typeface="黑体" panose="02010609060101010101" pitchFamily="2" charset="-122"/>
                  </a:rPr>
                  <a:t>             )</a:t>
                </a:r>
                <a:endParaRPr kumimoji="0" lang="zh-CN" alt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2" charset="-122"/>
                </a:endParaRPr>
              </a:p>
            </p:txBody>
          </p:sp>
          <p:cxnSp>
            <p:nvCxnSpPr>
              <p:cNvPr id="17" name="直接连接符 16"/>
              <p:cNvCxnSpPr/>
              <p:nvPr/>
            </p:nvCxnSpPr>
            <p:spPr bwMode="auto">
              <a:xfrm>
                <a:off x="8955642" y="2778130"/>
                <a:ext cx="0" cy="288032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</p:cxnSp>
          <p:sp>
            <p:nvSpPr>
              <p:cNvPr id="19" name="矩形 18"/>
              <p:cNvSpPr/>
              <p:nvPr/>
            </p:nvSpPr>
            <p:spPr bwMode="auto">
              <a:xfrm>
                <a:off x="7896200" y="3844079"/>
                <a:ext cx="3096344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2000" b="1" i="0" u="none" strike="noStrike" cap="none" normalizeH="0" baseline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2" charset="-122"/>
                  </a:rPr>
                  <a:t>L</a:t>
                </a:r>
                <a:r>
                  <a:rPr lang="en-US" altLang="zh-CN" sz="2000" b="1" dirty="0" err="1">
                    <a:solidFill>
                      <a:srgbClr val="FF0000"/>
                    </a:solidFill>
                    <a:ea typeface="黑体" panose="02010609060101010101" pitchFamily="2" charset="-122"/>
                  </a:rPr>
                  <a:t>.d</a:t>
                </a:r>
                <a:r>
                  <a:rPr lang="en-US" altLang="zh-CN" sz="2000" b="1" dirty="0">
                    <a:solidFill>
                      <a:srgbClr val="FF0000"/>
                    </a:solidFill>
                    <a:ea typeface="黑体" panose="02010609060101010101" pitchFamily="2" charset="-122"/>
                  </a:rPr>
                  <a:t>=1</a:t>
                </a:r>
                <a:r>
                  <a:rPr lang="en-US" altLang="zh-CN" sz="2000" b="1" dirty="0">
                    <a:ea typeface="黑体" panose="02010609060101010101" pitchFamily="2" charset="-122"/>
                  </a:rPr>
                  <a:t>      ,         </a:t>
                </a:r>
                <a:r>
                  <a:rPr lang="en-US" altLang="zh-CN" sz="2000" b="1" dirty="0" err="1">
                    <a:solidFill>
                      <a:srgbClr val="FF0000"/>
                    </a:solidFill>
                    <a:ea typeface="黑体" panose="02010609060101010101" pitchFamily="2" charset="-122"/>
                  </a:rPr>
                  <a:t>S.d</a:t>
                </a:r>
                <a:r>
                  <a:rPr lang="en-US" altLang="zh-CN" sz="2000" b="1" dirty="0">
                    <a:solidFill>
                      <a:srgbClr val="FF0000"/>
                    </a:solidFill>
                    <a:ea typeface="黑体" panose="02010609060101010101" pitchFamily="2" charset="-122"/>
                  </a:rPr>
                  <a:t>=1</a:t>
                </a:r>
                <a:endParaRPr kumimoji="0" lang="zh-CN" altLang="en-US" sz="20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ea typeface="黑体" panose="02010609060101010101" pitchFamily="2" charset="-122"/>
                </a:endParaRPr>
              </a:p>
            </p:txBody>
          </p:sp>
          <p:sp>
            <p:nvSpPr>
              <p:cNvPr id="21" name="矩形 20"/>
              <p:cNvSpPr/>
              <p:nvPr/>
            </p:nvSpPr>
            <p:spPr bwMode="auto">
              <a:xfrm>
                <a:off x="9017552" y="4639266"/>
                <a:ext cx="2520280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2" charset="-122"/>
                  </a:rPr>
                  <a:t>(        </a:t>
                </a:r>
                <a:r>
                  <a:rPr kumimoji="0" lang="en-US" altLang="zh-CN" sz="2000" b="1" i="0" u="none" strike="noStrike" cap="none" normalizeH="0" baseline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2" charset="-122"/>
                  </a:rPr>
                  <a:t>L</a:t>
                </a:r>
                <a:r>
                  <a:rPr lang="en-US" altLang="zh-CN" sz="2000" b="1" dirty="0" err="1">
                    <a:solidFill>
                      <a:srgbClr val="FF0000"/>
                    </a:solidFill>
                    <a:ea typeface="黑体" panose="02010609060101010101" pitchFamily="2" charset="-122"/>
                  </a:rPr>
                  <a:t>.d</a:t>
                </a:r>
                <a:r>
                  <a:rPr lang="en-US" altLang="zh-CN" sz="2000" b="1" dirty="0">
                    <a:solidFill>
                      <a:srgbClr val="FF0000"/>
                    </a:solidFill>
                    <a:ea typeface="黑体" panose="02010609060101010101" pitchFamily="2" charset="-122"/>
                  </a:rPr>
                  <a:t>=2</a:t>
                </a:r>
                <a:r>
                  <a:rPr lang="en-US" altLang="zh-CN" sz="2000" b="1" dirty="0">
                    <a:ea typeface="黑体" panose="02010609060101010101" pitchFamily="2" charset="-122"/>
                  </a:rPr>
                  <a:t>        )</a:t>
                </a:r>
                <a:endParaRPr kumimoji="0" lang="zh-CN" alt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2" charset="-122"/>
                </a:endParaRPr>
              </a:p>
            </p:txBody>
          </p:sp>
          <p:cxnSp>
            <p:nvCxnSpPr>
              <p:cNvPr id="22" name="直接连接符 21"/>
              <p:cNvCxnSpPr/>
              <p:nvPr/>
            </p:nvCxnSpPr>
            <p:spPr bwMode="auto">
              <a:xfrm>
                <a:off x="10076994" y="4385091"/>
                <a:ext cx="0" cy="288032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</p:cxnSp>
          <p:sp>
            <p:nvSpPr>
              <p:cNvPr id="24" name="矩形 23"/>
              <p:cNvSpPr/>
              <p:nvPr/>
            </p:nvSpPr>
            <p:spPr bwMode="auto">
              <a:xfrm>
                <a:off x="7896199" y="4673123"/>
                <a:ext cx="971725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2000" b="1" i="0" u="none" strike="noStrike" cap="none" normalizeH="0" baseline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2" charset="-122"/>
                  </a:rPr>
                  <a:t>S</a:t>
                </a:r>
                <a:r>
                  <a:rPr lang="en-US" altLang="zh-CN" sz="2000" b="1" dirty="0" err="1">
                    <a:solidFill>
                      <a:srgbClr val="FF0000"/>
                    </a:solidFill>
                    <a:ea typeface="黑体" panose="02010609060101010101" pitchFamily="2" charset="-122"/>
                  </a:rPr>
                  <a:t>.d</a:t>
                </a:r>
                <a:r>
                  <a:rPr lang="en-US" altLang="zh-CN" sz="2000" b="1" dirty="0">
                    <a:solidFill>
                      <a:srgbClr val="FF0000"/>
                    </a:solidFill>
                    <a:ea typeface="黑体" panose="02010609060101010101" pitchFamily="2" charset="-122"/>
                  </a:rPr>
                  <a:t>=1</a:t>
                </a:r>
                <a:endParaRPr kumimoji="0" lang="zh-CN" altLang="en-US" sz="20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ea typeface="黑体" panose="02010609060101010101" pitchFamily="2" charset="-122"/>
                </a:endParaRPr>
              </a:p>
            </p:txBody>
          </p:sp>
          <p:sp>
            <p:nvSpPr>
              <p:cNvPr id="25" name="矩形 24"/>
              <p:cNvSpPr/>
              <p:nvPr/>
            </p:nvSpPr>
            <p:spPr bwMode="auto">
              <a:xfrm>
                <a:off x="9696400" y="5378572"/>
                <a:ext cx="1121352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2000" b="1" i="0" u="none" strike="noStrike" cap="none" normalizeH="0" baseline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2" charset="-122"/>
                  </a:rPr>
                  <a:t>S</a:t>
                </a:r>
                <a:r>
                  <a:rPr lang="en-US" altLang="zh-CN" sz="2000" b="1" dirty="0" err="1">
                    <a:solidFill>
                      <a:srgbClr val="FF0000"/>
                    </a:solidFill>
                    <a:ea typeface="黑体" panose="02010609060101010101" pitchFamily="2" charset="-122"/>
                  </a:rPr>
                  <a:t>.d</a:t>
                </a:r>
                <a:r>
                  <a:rPr lang="en-US" altLang="zh-CN" sz="2000" b="1" dirty="0">
                    <a:solidFill>
                      <a:srgbClr val="FF0000"/>
                    </a:solidFill>
                    <a:ea typeface="黑体" panose="02010609060101010101" pitchFamily="2" charset="-122"/>
                  </a:rPr>
                  <a:t>=2</a:t>
                </a:r>
                <a:endParaRPr kumimoji="0" lang="zh-CN" altLang="en-US" sz="20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ea typeface="黑体" panose="02010609060101010101" pitchFamily="2" charset="-122"/>
                </a:endParaRPr>
              </a:p>
            </p:txBody>
          </p:sp>
          <p:sp>
            <p:nvSpPr>
              <p:cNvPr id="26" name="矩形 25"/>
              <p:cNvSpPr/>
              <p:nvPr/>
            </p:nvSpPr>
            <p:spPr bwMode="auto">
              <a:xfrm>
                <a:off x="8040216" y="5369442"/>
                <a:ext cx="457704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2" charset="-122"/>
                  </a:rPr>
                  <a:t>a</a:t>
                </a:r>
                <a:endParaRPr kumimoji="0" lang="zh-CN" alt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27" name="矩形 26"/>
              <p:cNvSpPr/>
              <p:nvPr/>
            </p:nvSpPr>
            <p:spPr bwMode="auto">
              <a:xfrm>
                <a:off x="10007111" y="6093296"/>
                <a:ext cx="457704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2" charset="-122"/>
                  </a:rPr>
                  <a:t>a</a:t>
                </a:r>
                <a:endParaRPr kumimoji="0" lang="zh-CN" alt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2" charset="-122"/>
                </a:endParaRPr>
              </a:p>
            </p:txBody>
          </p:sp>
          <p:cxnSp>
            <p:nvCxnSpPr>
              <p:cNvPr id="28" name="直接连接符 27"/>
              <p:cNvCxnSpPr/>
              <p:nvPr/>
            </p:nvCxnSpPr>
            <p:spPr bwMode="auto">
              <a:xfrm>
                <a:off x="8247902" y="4347384"/>
                <a:ext cx="0" cy="288032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</p:cxnSp>
          <p:cxnSp>
            <p:nvCxnSpPr>
              <p:cNvPr id="30" name="直接连接符 29"/>
              <p:cNvCxnSpPr/>
              <p:nvPr/>
            </p:nvCxnSpPr>
            <p:spPr bwMode="auto">
              <a:xfrm>
                <a:off x="10126681" y="5078327"/>
                <a:ext cx="0" cy="288032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</p:cxnSp>
          <p:cxnSp>
            <p:nvCxnSpPr>
              <p:cNvPr id="32" name="直接连接符 31"/>
              <p:cNvCxnSpPr/>
              <p:nvPr/>
            </p:nvCxnSpPr>
            <p:spPr bwMode="auto">
              <a:xfrm>
                <a:off x="10128448" y="5805264"/>
                <a:ext cx="0" cy="288032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</p:cxnSp>
          <p:cxnSp>
            <p:nvCxnSpPr>
              <p:cNvPr id="33" name="直接连接符 32"/>
              <p:cNvCxnSpPr/>
              <p:nvPr/>
            </p:nvCxnSpPr>
            <p:spPr bwMode="auto">
              <a:xfrm>
                <a:off x="8184232" y="5078327"/>
                <a:ext cx="0" cy="288032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</p:cxnSp>
          <p:cxnSp>
            <p:nvCxnSpPr>
              <p:cNvPr id="35" name="直接连接符 34"/>
              <p:cNvCxnSpPr/>
              <p:nvPr/>
            </p:nvCxnSpPr>
            <p:spPr bwMode="auto">
              <a:xfrm>
                <a:off x="8955642" y="3501008"/>
                <a:ext cx="0" cy="343071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</p:cxnSp>
          <p:cxnSp>
            <p:nvCxnSpPr>
              <p:cNvPr id="37" name="直接连接符 36"/>
              <p:cNvCxnSpPr/>
              <p:nvPr/>
            </p:nvCxnSpPr>
            <p:spPr bwMode="auto">
              <a:xfrm flipH="1">
                <a:off x="8184232" y="3392345"/>
                <a:ext cx="560738" cy="45173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</p:cxnSp>
          <p:cxnSp>
            <p:nvCxnSpPr>
              <p:cNvPr id="39" name="直接连接符 38"/>
              <p:cNvCxnSpPr/>
              <p:nvPr/>
            </p:nvCxnSpPr>
            <p:spPr bwMode="auto">
              <a:xfrm>
                <a:off x="9229126" y="3437509"/>
                <a:ext cx="698241" cy="40657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</p:cxnSp>
          <p:cxnSp>
            <p:nvCxnSpPr>
              <p:cNvPr id="44" name="直接连接符 43"/>
              <p:cNvCxnSpPr/>
              <p:nvPr/>
            </p:nvCxnSpPr>
            <p:spPr bwMode="auto">
              <a:xfrm flipH="1">
                <a:off x="9229126" y="4278174"/>
                <a:ext cx="467274" cy="332515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</p:cxnSp>
          <p:cxnSp>
            <p:nvCxnSpPr>
              <p:cNvPr id="47" name="直接连接符 46"/>
              <p:cNvCxnSpPr/>
              <p:nvPr/>
            </p:nvCxnSpPr>
            <p:spPr bwMode="auto">
              <a:xfrm>
                <a:off x="10416480" y="4272172"/>
                <a:ext cx="576064" cy="338517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</p:cxnSp>
        </p:grpSp>
        <p:cxnSp>
          <p:nvCxnSpPr>
            <p:cNvPr id="50" name="直接连接符 49"/>
            <p:cNvCxnSpPr/>
            <p:nvPr/>
          </p:nvCxnSpPr>
          <p:spPr bwMode="auto">
            <a:xfrm flipH="1">
              <a:off x="7656567" y="2541191"/>
              <a:ext cx="465513" cy="32338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</p:spPr>
        </p:cxnSp>
        <p:cxnSp>
          <p:nvCxnSpPr>
            <p:cNvPr id="52" name="直接连接符 51"/>
            <p:cNvCxnSpPr/>
            <p:nvPr/>
          </p:nvCxnSpPr>
          <p:spPr bwMode="auto">
            <a:xfrm>
              <a:off x="9120336" y="2541191"/>
              <a:ext cx="720080" cy="32338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551384" y="1340768"/>
                <a:ext cx="10972800" cy="5137150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 dirty="0">
                    <a:latin typeface="+mn-ea"/>
                  </a:rPr>
                  <a:t>已知</a:t>
                </a:r>
                <a:r>
                  <a:rPr lang="en-US" altLang="zh-CN" dirty="0">
                    <a:latin typeface="+mn-ea"/>
                  </a:rPr>
                  <a:t>SDD</a:t>
                </a:r>
                <a:r>
                  <a:rPr lang="zh-CN" altLang="en-US" dirty="0">
                    <a:latin typeface="+mn-ea"/>
                  </a:rPr>
                  <a:t>如下，为串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(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zh-CN" altLang="en-US" dirty="0">
                    <a:latin typeface="+mn-ea"/>
                  </a:rPr>
                  <a:t>画出依赖图。 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1384" y="1340768"/>
                <a:ext cx="10972800" cy="5137150"/>
              </a:xfrm>
              <a:blipFill rotWithShape="1">
                <a:blip r:embed="rId2"/>
                <a:stretch>
                  <a:fillRect l="-135" t="-290" r="-125" b="-266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/>
              <p:cNvGraphicFramePr>
                <a:graphicFrameLocks noGrp="1"/>
              </p:cNvGraphicFramePr>
              <p:nvPr/>
            </p:nvGraphicFramePr>
            <p:xfrm>
              <a:off x="1128234" y="2348880"/>
              <a:ext cx="4919487" cy="343651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91765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0018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180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/>
                            <a:t>产生式</a:t>
                          </a:r>
                        </a:p>
                      </a:txBody>
                      <a:tcPr anchor="ctr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/>
                            <a:t>语义动作</a:t>
                          </a:r>
                        </a:p>
                      </a:txBody>
                      <a:tcPr anchor="ctr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6064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  <m:r>
                                  <a:rPr lang="en-US" altLang="zh-CN" sz="2400" b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zh-CN" altLang="en-US" sz="2400" b="1" dirty="0"/>
                        </a:p>
                      </a:txBody>
                      <a:tcPr anchor="ctr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zh-CN" altLang="en-US" sz="2400" b="1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1764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→(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b="1" i="1" dirty="0"/>
                        </a:p>
                      </a:txBody>
                      <a:tcPr anchor="ctr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zh-CN" altLang="en-US" sz="2400" b="1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7400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zh-CN" altLang="en-US" sz="2400" b="1" i="1" dirty="0"/>
                        </a:p>
                      </a:txBody>
                      <a:tcPr anchor="ctr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𝒑𝒓𝒊𝒏𝒕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b="1" dirty="0"/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7607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sz="2400" b="1" i="1" dirty="0"/>
                        </a:p>
                      </a:txBody>
                      <a:tcPr anchor="ctr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oMath>
                            </m:oMathPara>
                          </a14:m>
                          <a:endParaRPr lang="en-US" altLang="zh-CN" sz="2400" b="1" i="1" dirty="0"/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oMath>
                            </m:oMathPara>
                          </a14:m>
                          <a:endParaRPr lang="zh-CN" altLang="en-US" sz="2400" b="1" i="1" dirty="0"/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0406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sz="2400" b="1" i="1" dirty="0"/>
                        </a:p>
                      </a:txBody>
                      <a:tcPr anchor="ctr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oMath>
                            </m:oMathPara>
                          </a14:m>
                          <a:endParaRPr lang="zh-CN" altLang="en-US" sz="2400" b="1" i="1" dirty="0"/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/>
              <p:cNvGraphicFramePr>
                <a:graphicFrameLocks noGrp="1"/>
              </p:cNvGraphicFramePr>
              <p:nvPr/>
            </p:nvGraphicFramePr>
            <p:xfrm>
              <a:off x="1128234" y="2348880"/>
              <a:ext cx="4919487" cy="343651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917651"/>
                    <a:gridCol w="3001836"/>
                  </a:tblGrid>
                  <a:tr h="4180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/>
                            <a:t>产生式</a:t>
                          </a:r>
                          <a:endParaRPr lang="zh-CN" altLang="en-US" sz="2400" b="1" dirty="0"/>
                        </a:p>
                      </a:txBody>
                      <a:tcPr anchor="ctr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/>
                            <a:t>语义动作</a:t>
                          </a:r>
                          <a:endParaRPr lang="zh-CN" altLang="en-US" sz="2400" b="1" dirty="0"/>
                        </a:p>
                      </a:txBody>
                      <a:tcPr anchor="ctr">
                        <a:solidFill>
                          <a:srgbClr val="CCCCFF"/>
                        </a:solidFill>
                      </a:tcPr>
                    </a:tc>
                  </a:tr>
                  <a:tr h="56070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</a:blipFill>
                      </a:tcPr>
                    </a:tc>
                  </a:tr>
                  <a:tr h="51752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</a:blipFill>
                      </a:tcPr>
                    </a:tc>
                  </a:tr>
                  <a:tr h="4743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</a:blipFill>
                      </a:tcPr>
                    </a:tc>
                  </a:tr>
                  <a:tr h="8229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</a:blipFill>
                      </a:tcPr>
                    </a:tc>
                  </a:tr>
                  <a:tr h="60388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grpSp>
        <p:nvGrpSpPr>
          <p:cNvPr id="13" name="组合 12"/>
          <p:cNvGrpSpPr/>
          <p:nvPr/>
        </p:nvGrpSpPr>
        <p:grpSpPr>
          <a:xfrm>
            <a:off x="6998821" y="1533079"/>
            <a:ext cx="3777699" cy="4752528"/>
            <a:chOff x="6998821" y="1533079"/>
            <a:chExt cx="3777699" cy="4752528"/>
          </a:xfrm>
        </p:grpSpPr>
        <p:grpSp>
          <p:nvGrpSpPr>
            <p:cNvPr id="12" name="组合 11"/>
            <p:cNvGrpSpPr/>
            <p:nvPr/>
          </p:nvGrpSpPr>
          <p:grpSpPr>
            <a:xfrm>
              <a:off x="7134887" y="1533079"/>
              <a:ext cx="3641633" cy="4752528"/>
              <a:chOff x="7134887" y="1533079"/>
              <a:chExt cx="3641633" cy="4752528"/>
            </a:xfrm>
          </p:grpSpPr>
          <p:grpSp>
            <p:nvGrpSpPr>
              <p:cNvPr id="48" name="组合 47"/>
              <p:cNvGrpSpPr/>
              <p:nvPr/>
            </p:nvGrpSpPr>
            <p:grpSpPr>
              <a:xfrm>
                <a:off x="7134887" y="1533079"/>
                <a:ext cx="3641633" cy="4752528"/>
                <a:chOff x="7896199" y="1700808"/>
                <a:chExt cx="3641633" cy="4752528"/>
              </a:xfrm>
            </p:grpSpPr>
            <p:sp>
              <p:nvSpPr>
                <p:cNvPr id="7" name="矩形 6"/>
                <p:cNvSpPr/>
                <p:nvPr/>
              </p:nvSpPr>
              <p:spPr bwMode="auto">
                <a:xfrm>
                  <a:off x="8760296" y="1700808"/>
                  <a:ext cx="360040" cy="360040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>
                  <a:prstShdw prst="shdw12">
                    <a:schemeClr val="bg2">
                      <a:alpha val="50000"/>
                    </a:schemeClr>
                  </a:prstShdw>
                </a:effectLst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en-US" altLang="zh-CN" sz="2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黑体" panose="02010609060101010101" pitchFamily="2" charset="-122"/>
                    </a:rPr>
                    <a:t>S’</a:t>
                  </a:r>
                  <a:endParaRPr kumimoji="0" lang="zh-CN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8" name="矩形 7"/>
                <p:cNvSpPr/>
                <p:nvPr/>
              </p:nvSpPr>
              <p:spPr bwMode="auto">
                <a:xfrm>
                  <a:off x="8760295" y="2348879"/>
                  <a:ext cx="833319" cy="383753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>
                  <a:prstShdw prst="shdw12">
                    <a:schemeClr val="bg2">
                      <a:alpha val="50000"/>
                    </a:schemeClr>
                  </a:prstShdw>
                </a:effectLst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en-US" altLang="zh-CN" sz="2000" b="1" i="0" u="none" strike="noStrike" cap="none" normalizeH="0" baseline="0" dirty="0" err="1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黑体" panose="02010609060101010101" pitchFamily="2" charset="-122"/>
                    </a:rPr>
                    <a:t>S</a:t>
                  </a:r>
                  <a:r>
                    <a:rPr lang="en-US" altLang="zh-CN" sz="2000" b="1" dirty="0" err="1">
                      <a:ea typeface="黑体" panose="02010609060101010101" pitchFamily="2" charset="-122"/>
                    </a:rPr>
                    <a:t>.d</a:t>
                  </a:r>
                  <a:endParaRPr kumimoji="0" lang="zh-CN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2" charset="-122"/>
                  </a:endParaRPr>
                </a:p>
              </p:txBody>
            </p:sp>
            <p:cxnSp>
              <p:nvCxnSpPr>
                <p:cNvPr id="10" name="直接连接符 9"/>
                <p:cNvCxnSpPr/>
                <p:nvPr/>
              </p:nvCxnSpPr>
              <p:spPr bwMode="auto">
                <a:xfrm>
                  <a:off x="8940316" y="2060848"/>
                  <a:ext cx="0" cy="288032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prstShdw prst="shdw12">
                    <a:schemeClr val="bg2">
                      <a:alpha val="50000"/>
                    </a:schemeClr>
                  </a:prstShdw>
                </a:effectLst>
              </p:spPr>
            </p:cxnSp>
            <p:sp>
              <p:nvSpPr>
                <p:cNvPr id="16" name="矩形 15"/>
                <p:cNvSpPr/>
                <p:nvPr/>
              </p:nvSpPr>
              <p:spPr bwMode="auto">
                <a:xfrm>
                  <a:off x="7896200" y="3032305"/>
                  <a:ext cx="2520280" cy="360040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>
                  <a:prstShdw prst="shdw12">
                    <a:schemeClr val="bg2">
                      <a:alpha val="50000"/>
                    </a:schemeClr>
                  </a:prstShdw>
                </a:effectLst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en-US" altLang="zh-CN" sz="2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黑体" panose="02010609060101010101" pitchFamily="2" charset="-122"/>
                    </a:rPr>
                    <a:t>(            </a:t>
                  </a:r>
                  <a:r>
                    <a:rPr kumimoji="0" lang="en-US" altLang="zh-CN" sz="2000" b="1" i="0" u="none" strike="noStrike" cap="none" normalizeH="0" baseline="0" dirty="0" err="1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黑体" panose="02010609060101010101" pitchFamily="2" charset="-122"/>
                    </a:rPr>
                    <a:t>L</a:t>
                  </a:r>
                  <a:r>
                    <a:rPr lang="en-US" altLang="zh-CN" sz="2000" b="1" dirty="0" err="1">
                      <a:ea typeface="黑体" panose="02010609060101010101" pitchFamily="2" charset="-122"/>
                    </a:rPr>
                    <a:t>.d</a:t>
                  </a:r>
                  <a:r>
                    <a:rPr lang="en-US" altLang="zh-CN" sz="2000" b="1" dirty="0">
                      <a:ea typeface="黑体" panose="02010609060101010101" pitchFamily="2" charset="-122"/>
                    </a:rPr>
                    <a:t>             )</a:t>
                  </a:r>
                  <a:endParaRPr kumimoji="0" lang="zh-CN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2" charset="-122"/>
                  </a:endParaRPr>
                </a:p>
              </p:txBody>
            </p:sp>
            <p:cxnSp>
              <p:nvCxnSpPr>
                <p:cNvPr id="17" name="直接连接符 16"/>
                <p:cNvCxnSpPr/>
                <p:nvPr/>
              </p:nvCxnSpPr>
              <p:spPr bwMode="auto">
                <a:xfrm>
                  <a:off x="8955642" y="2778130"/>
                  <a:ext cx="0" cy="288032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prstShdw prst="shdw12">
                    <a:schemeClr val="bg2">
                      <a:alpha val="50000"/>
                    </a:schemeClr>
                  </a:prstShdw>
                </a:effectLst>
              </p:spPr>
            </p:cxnSp>
            <p:sp>
              <p:nvSpPr>
                <p:cNvPr id="19" name="矩形 18"/>
                <p:cNvSpPr/>
                <p:nvPr/>
              </p:nvSpPr>
              <p:spPr bwMode="auto">
                <a:xfrm>
                  <a:off x="7896200" y="3844079"/>
                  <a:ext cx="2520280" cy="360040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>
                  <a:prstShdw prst="shdw12">
                    <a:schemeClr val="bg2">
                      <a:alpha val="50000"/>
                    </a:schemeClr>
                  </a:prstShdw>
                </a:effectLst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en-US" altLang="zh-CN" sz="2000" b="1" i="0" u="none" strike="noStrike" cap="none" normalizeH="0" baseline="0" dirty="0" err="1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黑体" panose="02010609060101010101" pitchFamily="2" charset="-122"/>
                    </a:rPr>
                    <a:t>L</a:t>
                  </a:r>
                  <a:r>
                    <a:rPr lang="en-US" altLang="zh-CN" sz="2000" b="1" dirty="0" err="1">
                      <a:ea typeface="黑体" panose="02010609060101010101" pitchFamily="2" charset="-122"/>
                    </a:rPr>
                    <a:t>.d</a:t>
                  </a:r>
                  <a:r>
                    <a:rPr lang="en-US" altLang="zh-CN" sz="2000" b="1" dirty="0">
                      <a:ea typeface="黑体" panose="02010609060101010101" pitchFamily="2" charset="-122"/>
                    </a:rPr>
                    <a:t>        ,             </a:t>
                  </a:r>
                  <a:r>
                    <a:rPr lang="en-US" altLang="zh-CN" sz="2000" b="1" dirty="0" err="1">
                      <a:ea typeface="黑体" panose="02010609060101010101" pitchFamily="2" charset="-122"/>
                    </a:rPr>
                    <a:t>S.d</a:t>
                  </a:r>
                  <a:endParaRPr kumimoji="0" lang="zh-CN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" name="矩形 20"/>
                <p:cNvSpPr/>
                <p:nvPr/>
              </p:nvSpPr>
              <p:spPr bwMode="auto">
                <a:xfrm>
                  <a:off x="9017552" y="4639266"/>
                  <a:ext cx="2520280" cy="360040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>
                  <a:prstShdw prst="shdw12">
                    <a:schemeClr val="bg2">
                      <a:alpha val="50000"/>
                    </a:schemeClr>
                  </a:prstShdw>
                </a:effectLst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en-US" altLang="zh-CN" sz="2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黑体" panose="02010609060101010101" pitchFamily="2" charset="-122"/>
                    </a:rPr>
                    <a:t>(            </a:t>
                  </a:r>
                  <a:r>
                    <a:rPr kumimoji="0" lang="en-US" altLang="zh-CN" sz="2000" b="1" i="0" u="none" strike="noStrike" cap="none" normalizeH="0" baseline="0" dirty="0" err="1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黑体" panose="02010609060101010101" pitchFamily="2" charset="-122"/>
                    </a:rPr>
                    <a:t>L</a:t>
                  </a:r>
                  <a:r>
                    <a:rPr lang="en-US" altLang="zh-CN" sz="2000" b="1" dirty="0" err="1">
                      <a:ea typeface="黑体" panose="02010609060101010101" pitchFamily="2" charset="-122"/>
                    </a:rPr>
                    <a:t>.d</a:t>
                  </a:r>
                  <a:r>
                    <a:rPr lang="en-US" altLang="zh-CN" sz="2000" b="1" dirty="0">
                      <a:ea typeface="黑体" panose="02010609060101010101" pitchFamily="2" charset="-122"/>
                    </a:rPr>
                    <a:t>             )</a:t>
                  </a:r>
                  <a:endParaRPr kumimoji="0" lang="zh-CN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2" charset="-122"/>
                  </a:endParaRPr>
                </a:p>
              </p:txBody>
            </p:sp>
            <p:cxnSp>
              <p:nvCxnSpPr>
                <p:cNvPr id="22" name="直接连接符 21"/>
                <p:cNvCxnSpPr/>
                <p:nvPr/>
              </p:nvCxnSpPr>
              <p:spPr bwMode="auto">
                <a:xfrm>
                  <a:off x="10076994" y="4385091"/>
                  <a:ext cx="0" cy="288032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prstShdw prst="shdw12">
                    <a:schemeClr val="bg2">
                      <a:alpha val="50000"/>
                    </a:schemeClr>
                  </a:prstShdw>
                </a:effectLst>
              </p:spPr>
            </p:cxnSp>
            <p:sp>
              <p:nvSpPr>
                <p:cNvPr id="24" name="矩形 23"/>
                <p:cNvSpPr/>
                <p:nvPr/>
              </p:nvSpPr>
              <p:spPr bwMode="auto">
                <a:xfrm>
                  <a:off x="7896199" y="4673122"/>
                  <a:ext cx="752095" cy="402121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>
                  <a:prstShdw prst="shdw12">
                    <a:schemeClr val="bg2">
                      <a:alpha val="50000"/>
                    </a:schemeClr>
                  </a:prstShdw>
                </a:effectLst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en-US" altLang="zh-CN" sz="2000" b="1" i="0" u="none" strike="noStrike" cap="none" normalizeH="0" baseline="0" dirty="0" err="1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黑体" panose="02010609060101010101" pitchFamily="2" charset="-122"/>
                    </a:rPr>
                    <a:t>S</a:t>
                  </a:r>
                  <a:r>
                    <a:rPr lang="en-US" altLang="zh-CN" sz="2000" b="1" dirty="0" err="1">
                      <a:ea typeface="黑体" panose="02010609060101010101" pitchFamily="2" charset="-122"/>
                    </a:rPr>
                    <a:t>.d</a:t>
                  </a:r>
                  <a:endParaRPr kumimoji="0" lang="zh-CN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5" name="矩形 24"/>
                <p:cNvSpPr/>
                <p:nvPr/>
              </p:nvSpPr>
              <p:spPr bwMode="auto">
                <a:xfrm>
                  <a:off x="9884532" y="5378571"/>
                  <a:ext cx="717196" cy="406349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>
                  <a:prstShdw prst="shdw12">
                    <a:schemeClr val="bg2">
                      <a:alpha val="50000"/>
                    </a:schemeClr>
                  </a:prstShdw>
                </a:effectLst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en-US" altLang="zh-CN" sz="2000" b="1" i="0" u="none" strike="noStrike" cap="none" normalizeH="0" baseline="0" dirty="0" err="1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黑体" panose="02010609060101010101" pitchFamily="2" charset="-122"/>
                    </a:rPr>
                    <a:t>S</a:t>
                  </a:r>
                  <a:r>
                    <a:rPr lang="en-US" altLang="zh-CN" sz="2000" b="1" dirty="0" err="1">
                      <a:ea typeface="黑体" panose="02010609060101010101" pitchFamily="2" charset="-122"/>
                    </a:rPr>
                    <a:t>.d</a:t>
                  </a:r>
                  <a:endParaRPr kumimoji="0" lang="zh-CN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6" name="矩形 25"/>
                <p:cNvSpPr/>
                <p:nvPr/>
              </p:nvSpPr>
              <p:spPr bwMode="auto">
                <a:xfrm>
                  <a:off x="8040216" y="5369442"/>
                  <a:ext cx="457704" cy="360040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>
                  <a:prstShdw prst="shdw12">
                    <a:schemeClr val="bg2">
                      <a:alpha val="50000"/>
                    </a:schemeClr>
                  </a:prstShdw>
                </a:effectLst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en-US" altLang="zh-CN" sz="2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黑体" panose="02010609060101010101" pitchFamily="2" charset="-122"/>
                    </a:rPr>
                    <a:t>a</a:t>
                  </a:r>
                  <a:endParaRPr kumimoji="0" lang="zh-CN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7" name="矩形 26"/>
                <p:cNvSpPr/>
                <p:nvPr/>
              </p:nvSpPr>
              <p:spPr bwMode="auto">
                <a:xfrm>
                  <a:off x="10007111" y="6093296"/>
                  <a:ext cx="457704" cy="360040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>
                  <a:prstShdw prst="shdw12">
                    <a:schemeClr val="bg2">
                      <a:alpha val="50000"/>
                    </a:schemeClr>
                  </a:prstShdw>
                </a:effectLst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en-US" altLang="zh-CN" sz="2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黑体" panose="02010609060101010101" pitchFamily="2" charset="-122"/>
                    </a:rPr>
                    <a:t>a</a:t>
                  </a:r>
                  <a:endParaRPr kumimoji="0" lang="zh-CN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2" charset="-122"/>
                  </a:endParaRPr>
                </a:p>
              </p:txBody>
            </p:sp>
            <p:cxnSp>
              <p:nvCxnSpPr>
                <p:cNvPr id="28" name="直接连接符 27"/>
                <p:cNvCxnSpPr/>
                <p:nvPr/>
              </p:nvCxnSpPr>
              <p:spPr bwMode="auto">
                <a:xfrm>
                  <a:off x="8247902" y="4347384"/>
                  <a:ext cx="0" cy="288032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prstShdw prst="shdw12">
                    <a:schemeClr val="bg2">
                      <a:alpha val="50000"/>
                    </a:schemeClr>
                  </a:prstShdw>
                </a:effectLst>
              </p:spPr>
            </p:cxnSp>
            <p:cxnSp>
              <p:nvCxnSpPr>
                <p:cNvPr id="30" name="直接连接符 29"/>
                <p:cNvCxnSpPr/>
                <p:nvPr/>
              </p:nvCxnSpPr>
              <p:spPr bwMode="auto">
                <a:xfrm>
                  <a:off x="10126681" y="5078327"/>
                  <a:ext cx="0" cy="288032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prstShdw prst="shdw12">
                    <a:schemeClr val="bg2">
                      <a:alpha val="50000"/>
                    </a:schemeClr>
                  </a:prstShdw>
                </a:effectLst>
              </p:spPr>
            </p:cxnSp>
            <p:cxnSp>
              <p:nvCxnSpPr>
                <p:cNvPr id="32" name="直接连接符 31"/>
                <p:cNvCxnSpPr/>
                <p:nvPr/>
              </p:nvCxnSpPr>
              <p:spPr bwMode="auto">
                <a:xfrm>
                  <a:off x="10128448" y="5805264"/>
                  <a:ext cx="0" cy="288032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prstShdw prst="shdw12">
                    <a:schemeClr val="bg2">
                      <a:alpha val="50000"/>
                    </a:schemeClr>
                  </a:prstShdw>
                </a:effectLst>
              </p:spPr>
            </p:cxnSp>
            <p:cxnSp>
              <p:nvCxnSpPr>
                <p:cNvPr id="33" name="直接连接符 32"/>
                <p:cNvCxnSpPr/>
                <p:nvPr/>
              </p:nvCxnSpPr>
              <p:spPr bwMode="auto">
                <a:xfrm>
                  <a:off x="8184232" y="5078327"/>
                  <a:ext cx="0" cy="288032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prstShdw prst="shdw12">
                    <a:schemeClr val="bg2">
                      <a:alpha val="50000"/>
                    </a:schemeClr>
                  </a:prstShdw>
                </a:effectLst>
              </p:spPr>
            </p:cxnSp>
            <p:cxnSp>
              <p:nvCxnSpPr>
                <p:cNvPr id="35" name="直接连接符 34"/>
                <p:cNvCxnSpPr/>
                <p:nvPr/>
              </p:nvCxnSpPr>
              <p:spPr bwMode="auto">
                <a:xfrm>
                  <a:off x="8955642" y="3501008"/>
                  <a:ext cx="0" cy="343071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prstShdw prst="shdw12">
                    <a:schemeClr val="bg2">
                      <a:alpha val="50000"/>
                    </a:schemeClr>
                  </a:prstShdw>
                </a:effectLst>
              </p:spPr>
            </p:cxnSp>
            <p:cxnSp>
              <p:nvCxnSpPr>
                <p:cNvPr id="37" name="直接连接符 36"/>
                <p:cNvCxnSpPr/>
                <p:nvPr/>
              </p:nvCxnSpPr>
              <p:spPr bwMode="auto">
                <a:xfrm flipH="1">
                  <a:off x="8184232" y="3392345"/>
                  <a:ext cx="560738" cy="451734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prstShdw prst="shdw12">
                    <a:schemeClr val="bg2">
                      <a:alpha val="50000"/>
                    </a:schemeClr>
                  </a:prstShdw>
                </a:effectLst>
              </p:spPr>
            </p:cxnSp>
            <p:cxnSp>
              <p:nvCxnSpPr>
                <p:cNvPr id="39" name="直接连接符 38"/>
                <p:cNvCxnSpPr/>
                <p:nvPr/>
              </p:nvCxnSpPr>
              <p:spPr bwMode="auto">
                <a:xfrm>
                  <a:off x="9229126" y="3437509"/>
                  <a:ext cx="698241" cy="40657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prstShdw prst="shdw12">
                    <a:schemeClr val="bg2">
                      <a:alpha val="50000"/>
                    </a:schemeClr>
                  </a:prstShdw>
                </a:effectLst>
              </p:spPr>
            </p:cxnSp>
            <p:sp>
              <p:nvSpPr>
                <p:cNvPr id="41" name="任意多边形 40"/>
                <p:cNvSpPr/>
                <p:nvPr/>
              </p:nvSpPr>
              <p:spPr bwMode="auto">
                <a:xfrm>
                  <a:off x="9281786" y="3319397"/>
                  <a:ext cx="739036" cy="501041"/>
                </a:xfrm>
                <a:custGeom>
                  <a:avLst/>
                  <a:gdLst>
                    <a:gd name="connsiteX0" fmla="*/ 0 w 739036"/>
                    <a:gd name="connsiteY0" fmla="*/ 0 h 501041"/>
                    <a:gd name="connsiteX1" fmla="*/ 526093 w 739036"/>
                    <a:gd name="connsiteY1" fmla="*/ 162839 h 501041"/>
                    <a:gd name="connsiteX2" fmla="*/ 739036 w 739036"/>
                    <a:gd name="connsiteY2" fmla="*/ 501041 h 501041"/>
                    <a:gd name="connsiteX3" fmla="*/ 739036 w 739036"/>
                    <a:gd name="connsiteY3" fmla="*/ 501041 h 5010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39036" h="501041">
                      <a:moveTo>
                        <a:pt x="0" y="0"/>
                      </a:moveTo>
                      <a:cubicBezTo>
                        <a:pt x="201460" y="39666"/>
                        <a:pt x="402920" y="79332"/>
                        <a:pt x="526093" y="162839"/>
                      </a:cubicBezTo>
                      <a:cubicBezTo>
                        <a:pt x="649266" y="246346"/>
                        <a:pt x="739036" y="501041"/>
                        <a:pt x="739036" y="501041"/>
                      </a:cubicBezTo>
                      <a:lnTo>
                        <a:pt x="739036" y="501041"/>
                      </a:lnTo>
                    </a:path>
                  </a:pathLst>
                </a:custGeom>
                <a:noFill/>
                <a:ln w="9525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arrow" w="med" len="med"/>
                </a:ln>
                <a:effectLst>
                  <a:prstShdw prst="shdw12">
                    <a:schemeClr val="bg2">
                      <a:alpha val="50000"/>
                    </a:schemeClr>
                  </a:prstShdw>
                </a:effectLst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20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42" name="任意多边形 41"/>
                <p:cNvSpPr/>
                <p:nvPr/>
              </p:nvSpPr>
              <p:spPr bwMode="auto">
                <a:xfrm>
                  <a:off x="8129847" y="3308465"/>
                  <a:ext cx="465513" cy="482139"/>
                </a:xfrm>
                <a:custGeom>
                  <a:avLst/>
                  <a:gdLst>
                    <a:gd name="connsiteX0" fmla="*/ 465513 w 465513"/>
                    <a:gd name="connsiteY0" fmla="*/ 0 h 482139"/>
                    <a:gd name="connsiteX1" fmla="*/ 133004 w 465513"/>
                    <a:gd name="connsiteY1" fmla="*/ 166255 h 482139"/>
                    <a:gd name="connsiteX2" fmla="*/ 0 w 465513"/>
                    <a:gd name="connsiteY2" fmla="*/ 482139 h 482139"/>
                    <a:gd name="connsiteX3" fmla="*/ 0 w 465513"/>
                    <a:gd name="connsiteY3" fmla="*/ 482139 h 4821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65513" h="482139">
                      <a:moveTo>
                        <a:pt x="465513" y="0"/>
                      </a:moveTo>
                      <a:cubicBezTo>
                        <a:pt x="338051" y="42949"/>
                        <a:pt x="210589" y="85899"/>
                        <a:pt x="133004" y="166255"/>
                      </a:cubicBezTo>
                      <a:cubicBezTo>
                        <a:pt x="55419" y="246611"/>
                        <a:pt x="0" y="482139"/>
                        <a:pt x="0" y="482139"/>
                      </a:cubicBezTo>
                      <a:lnTo>
                        <a:pt x="0" y="482139"/>
                      </a:lnTo>
                    </a:path>
                  </a:pathLst>
                </a:custGeom>
                <a:noFill/>
                <a:ln w="9525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arrow" w="med" len="med"/>
                </a:ln>
                <a:effectLst>
                  <a:prstShdw prst="shdw12">
                    <a:schemeClr val="bg2">
                      <a:alpha val="50000"/>
                    </a:schemeClr>
                  </a:prstShdw>
                </a:effectLst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20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2" charset="-122"/>
                  </a:endParaRPr>
                </a:p>
              </p:txBody>
            </p:sp>
            <p:cxnSp>
              <p:nvCxnSpPr>
                <p:cNvPr id="44" name="直接连接符 43"/>
                <p:cNvCxnSpPr/>
                <p:nvPr/>
              </p:nvCxnSpPr>
              <p:spPr bwMode="auto">
                <a:xfrm flipH="1">
                  <a:off x="9229126" y="4278174"/>
                  <a:ext cx="467274" cy="332515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prstShdw prst="shdw12">
                    <a:schemeClr val="bg2">
                      <a:alpha val="50000"/>
                    </a:schemeClr>
                  </a:prstShdw>
                </a:effectLst>
              </p:spPr>
            </p:cxnSp>
            <p:cxnSp>
              <p:nvCxnSpPr>
                <p:cNvPr id="47" name="直接连接符 46"/>
                <p:cNvCxnSpPr/>
                <p:nvPr/>
              </p:nvCxnSpPr>
              <p:spPr bwMode="auto">
                <a:xfrm>
                  <a:off x="10416480" y="4272172"/>
                  <a:ext cx="576064" cy="338517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prstShdw prst="shdw12">
                    <a:schemeClr val="bg2">
                      <a:alpha val="50000"/>
                    </a:schemeClr>
                  </a:prstShdw>
                </a:effectLst>
              </p:spPr>
            </p:cxnSp>
          </p:grpSp>
          <p:cxnSp>
            <p:nvCxnSpPr>
              <p:cNvPr id="5" name="直接连接符 4"/>
              <p:cNvCxnSpPr/>
              <p:nvPr/>
            </p:nvCxnSpPr>
            <p:spPr bwMode="auto">
              <a:xfrm flipH="1">
                <a:off x="7392144" y="2564904"/>
                <a:ext cx="504056" cy="36004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</p:cxnSp>
          <p:cxnSp>
            <p:nvCxnSpPr>
              <p:cNvPr id="11" name="直接连接符 10"/>
              <p:cNvCxnSpPr/>
              <p:nvPr/>
            </p:nvCxnSpPr>
            <p:spPr bwMode="auto">
              <a:xfrm>
                <a:off x="8520474" y="2541191"/>
                <a:ext cx="599862" cy="323385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</p:cxnSp>
        </p:grpSp>
        <p:sp>
          <p:nvSpPr>
            <p:cNvPr id="9" name="任意多边形: 形状 8"/>
            <p:cNvSpPr/>
            <p:nvPr/>
          </p:nvSpPr>
          <p:spPr bwMode="auto">
            <a:xfrm>
              <a:off x="6998821" y="4005948"/>
              <a:ext cx="170899" cy="493614"/>
            </a:xfrm>
            <a:custGeom>
              <a:avLst/>
              <a:gdLst>
                <a:gd name="connsiteX0" fmla="*/ 170899 w 170899"/>
                <a:gd name="connsiteY0" fmla="*/ 0 h 493614"/>
                <a:gd name="connsiteX1" fmla="*/ 966 w 170899"/>
                <a:gd name="connsiteY1" fmla="*/ 234669 h 493614"/>
                <a:gd name="connsiteX2" fmla="*/ 114255 w 170899"/>
                <a:gd name="connsiteY2" fmla="*/ 493614 h 493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899" h="493614">
                  <a:moveTo>
                    <a:pt x="170899" y="0"/>
                  </a:moveTo>
                  <a:cubicBezTo>
                    <a:pt x="90653" y="76200"/>
                    <a:pt x="10407" y="152400"/>
                    <a:pt x="966" y="234669"/>
                  </a:cubicBezTo>
                  <a:cubicBezTo>
                    <a:pt x="-8475" y="316938"/>
                    <a:pt x="52890" y="405276"/>
                    <a:pt x="114255" y="493614"/>
                  </a:cubicBezTo>
                </a:path>
              </a:pathLst>
            </a:cu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38" name="任意多边形: 形状 37"/>
            <p:cNvSpPr/>
            <p:nvPr/>
          </p:nvSpPr>
          <p:spPr bwMode="auto">
            <a:xfrm>
              <a:off x="9008982" y="4029588"/>
              <a:ext cx="170899" cy="493614"/>
            </a:xfrm>
            <a:custGeom>
              <a:avLst/>
              <a:gdLst>
                <a:gd name="connsiteX0" fmla="*/ 170899 w 170899"/>
                <a:gd name="connsiteY0" fmla="*/ 0 h 493614"/>
                <a:gd name="connsiteX1" fmla="*/ 966 w 170899"/>
                <a:gd name="connsiteY1" fmla="*/ 234669 h 493614"/>
                <a:gd name="connsiteX2" fmla="*/ 114255 w 170899"/>
                <a:gd name="connsiteY2" fmla="*/ 493614 h 493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899" h="493614">
                  <a:moveTo>
                    <a:pt x="170899" y="0"/>
                  </a:moveTo>
                  <a:cubicBezTo>
                    <a:pt x="90653" y="76200"/>
                    <a:pt x="10407" y="152400"/>
                    <a:pt x="966" y="234669"/>
                  </a:cubicBezTo>
                  <a:cubicBezTo>
                    <a:pt x="-8475" y="316938"/>
                    <a:pt x="52890" y="405276"/>
                    <a:pt x="114255" y="493614"/>
                  </a:cubicBezTo>
                </a:path>
              </a:pathLst>
            </a:cu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40" name="任意多边形: 形状 39"/>
            <p:cNvSpPr/>
            <p:nvPr/>
          </p:nvSpPr>
          <p:spPr bwMode="auto">
            <a:xfrm>
              <a:off x="7864492" y="2492347"/>
              <a:ext cx="170899" cy="493614"/>
            </a:xfrm>
            <a:custGeom>
              <a:avLst/>
              <a:gdLst>
                <a:gd name="connsiteX0" fmla="*/ 170899 w 170899"/>
                <a:gd name="connsiteY0" fmla="*/ 0 h 493614"/>
                <a:gd name="connsiteX1" fmla="*/ 966 w 170899"/>
                <a:gd name="connsiteY1" fmla="*/ 234669 h 493614"/>
                <a:gd name="connsiteX2" fmla="*/ 114255 w 170899"/>
                <a:gd name="connsiteY2" fmla="*/ 493614 h 493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899" h="493614">
                  <a:moveTo>
                    <a:pt x="170899" y="0"/>
                  </a:moveTo>
                  <a:cubicBezTo>
                    <a:pt x="90653" y="76200"/>
                    <a:pt x="10407" y="152400"/>
                    <a:pt x="966" y="234669"/>
                  </a:cubicBezTo>
                  <a:cubicBezTo>
                    <a:pt x="-8475" y="316938"/>
                    <a:pt x="52890" y="405276"/>
                    <a:pt x="114255" y="493614"/>
                  </a:cubicBezTo>
                </a:path>
              </a:pathLst>
            </a:cu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43" name="任意多边形: 形状 42"/>
            <p:cNvSpPr/>
            <p:nvPr/>
          </p:nvSpPr>
          <p:spPr bwMode="auto">
            <a:xfrm>
              <a:off x="8954231" y="4852758"/>
              <a:ext cx="170899" cy="493614"/>
            </a:xfrm>
            <a:custGeom>
              <a:avLst/>
              <a:gdLst>
                <a:gd name="connsiteX0" fmla="*/ 170899 w 170899"/>
                <a:gd name="connsiteY0" fmla="*/ 0 h 493614"/>
                <a:gd name="connsiteX1" fmla="*/ 966 w 170899"/>
                <a:gd name="connsiteY1" fmla="*/ 234669 h 493614"/>
                <a:gd name="connsiteX2" fmla="*/ 114255 w 170899"/>
                <a:gd name="connsiteY2" fmla="*/ 493614 h 493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899" h="493614">
                  <a:moveTo>
                    <a:pt x="170899" y="0"/>
                  </a:moveTo>
                  <a:cubicBezTo>
                    <a:pt x="90653" y="76200"/>
                    <a:pt x="10407" y="152400"/>
                    <a:pt x="966" y="234669"/>
                  </a:cubicBezTo>
                  <a:cubicBezTo>
                    <a:pt x="-8475" y="316938"/>
                    <a:pt x="52890" y="405276"/>
                    <a:pt x="114255" y="493614"/>
                  </a:cubicBezTo>
                </a:path>
              </a:pathLst>
            </a:cu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拓扑排序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在依赖图中，如果有一条从节点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dirty="0"/>
                  <a:t>到节点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en-US" dirty="0"/>
                  <a:t>的边， 那么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zh-CN" altLang="en-US" dirty="0"/>
                  <a:t>，这样的排序将有向图变成了一个线性排序，这个排序称为这个图的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拓扑排序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(topological sort)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依赖图中如果存在环，那么就不存在拓扑排序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不存在环的图称作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确定非循环图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(DAGs)</a:t>
                </a:r>
                <a:r>
                  <a:rPr lang="zh-CN" altLang="en-US" dirty="0"/>
                  <a:t>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551384" y="1296552"/>
            <a:ext cx="11017224" cy="5372808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  <a:effectLst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latin typeface="+mn-ea"/>
                <a:ea typeface="+mn-ea"/>
              </a:rPr>
              <a:t>为串</a:t>
            </a:r>
            <a:r>
              <a:rPr lang="en-US" altLang="zh-CN" sz="2800" b="1" i="1" dirty="0">
                <a:latin typeface="+mn-ea"/>
                <a:ea typeface="+mn-ea"/>
              </a:rPr>
              <a:t>real a, b, c </a:t>
            </a:r>
            <a:r>
              <a:rPr lang="zh-CN" altLang="en-US" sz="2800" b="1" dirty="0">
                <a:latin typeface="+mn-ea"/>
                <a:ea typeface="+mn-ea"/>
              </a:rPr>
              <a:t>找出拓扑排序。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拓扑排序</a:t>
            </a:r>
          </a:p>
        </p:txBody>
      </p:sp>
      <p:pic>
        <p:nvPicPr>
          <p:cNvPr id="4" name="内容占位符 3" descr="屏幕剪辑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8"/>
          <a:stretch>
            <a:fillRect/>
          </a:stretch>
        </p:blipFill>
        <p:spPr>
          <a:xfrm>
            <a:off x="6377900" y="2132856"/>
            <a:ext cx="4500520" cy="4176464"/>
          </a:xfrm>
          <a:solidFill>
            <a:schemeClr val="bg1"/>
          </a:solidFill>
          <a:ln w="28575">
            <a:solidFill>
              <a:srgbClr val="9999FF"/>
            </a:solidFill>
          </a:ln>
        </p:spPr>
      </p:pic>
      <p:pic>
        <p:nvPicPr>
          <p:cNvPr id="6" name="图片 5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513" y="2132856"/>
            <a:ext cx="4181025" cy="230425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03512" y="4653136"/>
            <a:ext cx="4181025" cy="1656184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  <a:effectLst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+mn-ea"/>
                <a:ea typeface="+mn-ea"/>
              </a:rPr>
              <a:t>拓扑排序：</a:t>
            </a:r>
            <a:br>
              <a:rPr lang="zh-CN" altLang="en-US" sz="2400" dirty="0"/>
            </a:br>
            <a:r>
              <a:rPr lang="en-US" altLang="zh-CN" sz="2400" b="1" dirty="0"/>
              <a:t>1, 2, 3, 4, 5, 6, 7, 8, 9, 10</a:t>
            </a:r>
            <a:br>
              <a:rPr lang="en-US" altLang="zh-CN" sz="2400" b="1" dirty="0"/>
            </a:br>
            <a:r>
              <a:rPr lang="en-US" altLang="zh-CN" sz="2400" b="1" dirty="0"/>
              <a:t>4, 3, 2, 1, 5, 7, 6, 9, 8, 10</a:t>
            </a:r>
            <a:r>
              <a:rPr lang="zh-CN" altLang="en-US" sz="2400" dirty="0"/>
              <a:t> 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8" name="圆角矩形 7"/>
          <p:cNvSpPr/>
          <p:nvPr/>
        </p:nvSpPr>
        <p:spPr bwMode="auto">
          <a:xfrm>
            <a:off x="1775520" y="5157192"/>
            <a:ext cx="1296144" cy="864096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9" name="圆角矩形 8"/>
          <p:cNvSpPr/>
          <p:nvPr/>
        </p:nvSpPr>
        <p:spPr bwMode="auto">
          <a:xfrm>
            <a:off x="3431704" y="5157192"/>
            <a:ext cx="648072" cy="864096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0" name="圆角矩形 9"/>
          <p:cNvSpPr/>
          <p:nvPr/>
        </p:nvSpPr>
        <p:spPr bwMode="auto">
          <a:xfrm>
            <a:off x="4115780" y="5157192"/>
            <a:ext cx="648072" cy="864096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请给出下图的拓扑排序。</a:t>
            </a:r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886" y="1916832"/>
            <a:ext cx="6637418" cy="338437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请给出下图的拓扑排序。</a:t>
            </a:r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886" y="1916832"/>
            <a:ext cx="6637418" cy="3384376"/>
          </a:xfrm>
          <a:prstGeom prst="rect">
            <a:avLst/>
          </a:prstGeom>
          <a:effectLst/>
        </p:spPr>
      </p:pic>
      <p:sp>
        <p:nvSpPr>
          <p:cNvPr id="8" name="椭圆 7"/>
          <p:cNvSpPr/>
          <p:nvPr/>
        </p:nvSpPr>
        <p:spPr bwMode="auto">
          <a:xfrm>
            <a:off x="7824192" y="3392996"/>
            <a:ext cx="1008112" cy="504056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9" name="椭圆 8"/>
          <p:cNvSpPr/>
          <p:nvPr/>
        </p:nvSpPr>
        <p:spPr bwMode="auto">
          <a:xfrm>
            <a:off x="7824192" y="2885661"/>
            <a:ext cx="1008112" cy="504056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0" name="椭圆 9"/>
          <p:cNvSpPr/>
          <p:nvPr/>
        </p:nvSpPr>
        <p:spPr bwMode="auto">
          <a:xfrm>
            <a:off x="3779062" y="4797152"/>
            <a:ext cx="1008112" cy="504056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1" name="椭圆 10"/>
          <p:cNvSpPr/>
          <p:nvPr/>
        </p:nvSpPr>
        <p:spPr bwMode="auto">
          <a:xfrm>
            <a:off x="7019422" y="4050432"/>
            <a:ext cx="1008112" cy="504056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2" name="椭圆 11"/>
          <p:cNvSpPr/>
          <p:nvPr/>
        </p:nvSpPr>
        <p:spPr bwMode="auto">
          <a:xfrm>
            <a:off x="4067094" y="2708920"/>
            <a:ext cx="1008112" cy="504056"/>
          </a:xfrm>
          <a:prstGeom prst="ellipse">
            <a:avLst/>
          </a:prstGeom>
          <a:noFill/>
          <a:ln w="19050" cap="flat" cmpd="sng" algn="ctr">
            <a:solidFill>
              <a:srgbClr val="0000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3" name="椭圆 12"/>
          <p:cNvSpPr/>
          <p:nvPr/>
        </p:nvSpPr>
        <p:spPr bwMode="auto">
          <a:xfrm>
            <a:off x="6659382" y="3468047"/>
            <a:ext cx="1008112" cy="504056"/>
          </a:xfrm>
          <a:prstGeom prst="ellipse">
            <a:avLst/>
          </a:prstGeom>
          <a:noFill/>
          <a:ln w="19050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4" name="椭圆 13"/>
          <p:cNvSpPr/>
          <p:nvPr/>
        </p:nvSpPr>
        <p:spPr bwMode="auto">
          <a:xfrm>
            <a:off x="3275006" y="3456418"/>
            <a:ext cx="1008112" cy="504056"/>
          </a:xfrm>
          <a:prstGeom prst="ellipse">
            <a:avLst/>
          </a:prstGeom>
          <a:noFill/>
          <a:ln w="19050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5" name="椭圆 14"/>
          <p:cNvSpPr/>
          <p:nvPr/>
        </p:nvSpPr>
        <p:spPr bwMode="auto">
          <a:xfrm>
            <a:off x="2050870" y="4049688"/>
            <a:ext cx="1008112" cy="504056"/>
          </a:xfrm>
          <a:prstGeom prst="ellipse">
            <a:avLst/>
          </a:prstGeom>
          <a:noFill/>
          <a:ln w="190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6" name="椭圆 15"/>
          <p:cNvSpPr/>
          <p:nvPr/>
        </p:nvSpPr>
        <p:spPr bwMode="auto">
          <a:xfrm>
            <a:off x="5231904" y="4049688"/>
            <a:ext cx="1008112" cy="504056"/>
          </a:xfrm>
          <a:prstGeom prst="ellipse">
            <a:avLst/>
          </a:prstGeom>
          <a:noFill/>
          <a:ln w="190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7" name="椭圆 16"/>
          <p:cNvSpPr/>
          <p:nvPr/>
        </p:nvSpPr>
        <p:spPr bwMode="auto">
          <a:xfrm>
            <a:off x="3756479" y="4015172"/>
            <a:ext cx="1008112" cy="504056"/>
          </a:xfrm>
          <a:prstGeom prst="ellipse">
            <a:avLst/>
          </a:prstGeom>
          <a:noFill/>
          <a:ln w="1905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8" name="椭圆 17"/>
          <p:cNvSpPr/>
          <p:nvPr/>
        </p:nvSpPr>
        <p:spPr bwMode="auto">
          <a:xfrm>
            <a:off x="1991544" y="4751512"/>
            <a:ext cx="1008112" cy="504056"/>
          </a:xfrm>
          <a:prstGeom prst="ellipse">
            <a:avLst/>
          </a:prstGeom>
          <a:noFill/>
          <a:ln w="1905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9" name="椭圆 18"/>
          <p:cNvSpPr/>
          <p:nvPr/>
        </p:nvSpPr>
        <p:spPr bwMode="auto">
          <a:xfrm>
            <a:off x="5045543" y="3456418"/>
            <a:ext cx="1008112" cy="504056"/>
          </a:xfrm>
          <a:prstGeom prst="ellipse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20" name="椭圆 19"/>
          <p:cNvSpPr/>
          <p:nvPr/>
        </p:nvSpPr>
        <p:spPr bwMode="auto">
          <a:xfrm>
            <a:off x="5867294" y="2681536"/>
            <a:ext cx="1008112" cy="504056"/>
          </a:xfrm>
          <a:prstGeom prst="ellipse">
            <a:avLst/>
          </a:prstGeom>
          <a:noFill/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21" name="椭圆 20"/>
          <p:cNvSpPr/>
          <p:nvPr/>
        </p:nvSpPr>
        <p:spPr bwMode="auto">
          <a:xfrm>
            <a:off x="6879771" y="1916833"/>
            <a:ext cx="993846" cy="489857"/>
          </a:xfrm>
          <a:prstGeom prst="ellipse">
            <a:avLst/>
          </a:prstGeom>
          <a:noFill/>
          <a:ln w="1905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81494" y="5272659"/>
            <a:ext cx="72105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</a:rPr>
              <a:t>拓扑排序：</a:t>
            </a:r>
            <a:r>
              <a:rPr lang="en-US" altLang="zh-CN" sz="2400" b="1" dirty="0">
                <a:latin typeface="+mn-ea"/>
                <a:ea typeface="+mn-ea"/>
              </a:rPr>
              <a:t>1 2 3 4 5 6 7 8 9 10 11 12 13 14</a:t>
            </a:r>
          </a:p>
          <a:p>
            <a:r>
              <a:rPr lang="zh-CN" altLang="en-US" sz="2400" b="1" dirty="0">
                <a:latin typeface="+mn-ea"/>
                <a:ea typeface="+mn-ea"/>
              </a:rPr>
              <a:t>也可以是：</a:t>
            </a:r>
            <a:r>
              <a:rPr lang="en-US" altLang="zh-CN" sz="2400" b="1" dirty="0">
                <a:latin typeface="+mn-ea"/>
                <a:ea typeface="+mn-ea"/>
              </a:rPr>
              <a:t>1 2 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11</a:t>
            </a:r>
            <a:r>
              <a:rPr lang="en-US" altLang="zh-CN" sz="2400" b="1" dirty="0">
                <a:latin typeface="+mn-ea"/>
                <a:ea typeface="+mn-ea"/>
              </a:rPr>
              <a:t> 3 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8</a:t>
            </a:r>
            <a:r>
              <a:rPr lang="en-US" altLang="zh-CN" sz="2400" b="1" dirty="0">
                <a:latin typeface="+mn-ea"/>
                <a:ea typeface="+mn-ea"/>
              </a:rPr>
              <a:t> 4 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5</a:t>
            </a:r>
            <a:r>
              <a:rPr lang="en-US" altLang="zh-CN" sz="2400" b="1" dirty="0">
                <a:latin typeface="+mn-ea"/>
                <a:ea typeface="+mn-ea"/>
              </a:rPr>
              <a:t> 6 7 9 10 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12</a:t>
            </a:r>
            <a:r>
              <a:rPr lang="en-US" altLang="zh-CN" sz="2400" b="1" dirty="0">
                <a:latin typeface="+mn-ea"/>
                <a:ea typeface="+mn-ea"/>
              </a:rPr>
              <a:t> 13 14</a:t>
            </a:r>
          </a:p>
          <a:p>
            <a:r>
              <a:rPr lang="zh-CN" altLang="en-US" sz="2400" b="1" dirty="0">
                <a:latin typeface="+mn-ea"/>
                <a:ea typeface="+mn-ea"/>
              </a:rPr>
              <a:t>                  </a:t>
            </a:r>
            <a:r>
              <a:rPr lang="en-US" altLang="zh-CN" sz="2400" b="1" dirty="0">
                <a:latin typeface="+mn-ea"/>
                <a:ea typeface="+mn-ea"/>
              </a:rPr>
              <a:t>……</a:t>
            </a:r>
            <a:endParaRPr lang="zh-CN" altLang="en-US" sz="2400" b="1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属性求值顺序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dirty="0"/>
                  <a:t>从计算的角度看，给定一个</a:t>
                </a:r>
                <a:r>
                  <a:rPr lang="en-US" altLang="zh-CN" dirty="0"/>
                  <a:t>SDD</a:t>
                </a:r>
                <a:r>
                  <a:rPr lang="zh-CN" altLang="en-US" dirty="0"/>
                  <a:t>，很难确定是否存在某棵语法分析树，使得</a:t>
                </a:r>
                <a:r>
                  <a:rPr lang="en-US" altLang="zh-CN" dirty="0"/>
                  <a:t>SDD</a:t>
                </a:r>
                <a:r>
                  <a:rPr lang="zh-CN" altLang="en-US" dirty="0"/>
                  <a:t>的属性之间存在循环依赖关系。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dirty="0"/>
                  <a:t>幸运的是，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存在一个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SDD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的有用子类</a:t>
                </a:r>
                <a:r>
                  <a:rPr lang="zh-CN" altLang="en-US" dirty="0"/>
                  <a:t>，它们能够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保证对每棵语法分析树都存在一个求值顺序</a:t>
                </a:r>
                <a:r>
                  <a:rPr lang="zh-CN" altLang="en-US" dirty="0"/>
                  <a:t>，因为它们不允许产生带有环的依赖图。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dirty="0"/>
                  <a:t>不仅如此，接下来介绍的两类</a:t>
                </a:r>
                <a:r>
                  <a:rPr lang="en-US" altLang="zh-CN" dirty="0"/>
                  <a:t>SDD</a:t>
                </a:r>
                <a:r>
                  <a:rPr lang="zh-CN" altLang="en-US" dirty="0"/>
                  <a:t>可以和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自顶向下及自底向上的语法分析过程</a:t>
                </a:r>
                <a:r>
                  <a:rPr lang="zh-CN" altLang="en-US" dirty="0"/>
                  <a:t>一起高效地实现 。</a:t>
                </a:r>
                <a:endParaRPr lang="en-US" altLang="zh-CN" dirty="0"/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dirty="0"/>
                  <a:t>属性的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𝑺𝑫𝑫</m:t>
                    </m:r>
                  </m:oMath>
                </a14:m>
                <a:r>
                  <a:rPr lang="zh-CN" altLang="en-US" dirty="0"/>
                  <a:t>：每个属性都是综合属性。</a:t>
                </a:r>
                <a:endParaRPr lang="en-US" altLang="zh-CN" dirty="0"/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zh-CN" altLang="en-US" dirty="0"/>
                  <a:t>属性的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𝑺𝑫𝑫</m:t>
                    </m:r>
                  </m:oMath>
                </a14:m>
                <a:r>
                  <a:rPr lang="zh-CN" altLang="en-US" dirty="0"/>
                  <a:t>：依赖图的边总是从左到右的。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569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dirty="0"/>
                  <a:t>属性的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𝑺𝑫𝑫</m:t>
                    </m:r>
                  </m:oMath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2" name="标题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24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ts val="0"/>
                  </a:spcBef>
                </a:pPr>
                <a:r>
                  <a:rPr lang="zh-CN" altLang="en-US" dirty="0">
                    <a:latin typeface="+mn-ea"/>
                  </a:rPr>
                  <a:t>仅仅使用综合属性的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𝑺𝑫𝑫</m:t>
                    </m:r>
                  </m:oMath>
                </a14:m>
                <a:r>
                  <a:rPr lang="zh-CN" altLang="en-US" dirty="0">
                    <a:latin typeface="+mn-ea"/>
                  </a:rPr>
                  <a:t>称为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dirty="0"/>
                  <a:t>属性的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𝑺𝑫𝑫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𝑺𝑫𝑫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>
                    <a:latin typeface="+mn-ea"/>
                  </a:rPr>
                  <a:t>。</a:t>
                </a:r>
                <a:endParaRPr lang="en-US" altLang="zh-CN" dirty="0">
                  <a:latin typeface="+mn-ea"/>
                </a:endParaRPr>
              </a:p>
              <a:p>
                <a:pPr>
                  <a:lnSpc>
                    <a:spcPct val="130000"/>
                  </a:lnSpc>
                  <a:spcBef>
                    <a:spcPts val="0"/>
                  </a:spcBef>
                </a:pPr>
                <a:endParaRPr lang="en-US" altLang="zh-CN" dirty="0">
                  <a:latin typeface="+mn-ea"/>
                </a:endParaRPr>
              </a:p>
              <a:p>
                <a:pPr>
                  <a:lnSpc>
                    <a:spcPct val="130000"/>
                  </a:lnSpc>
                  <a:spcBef>
                    <a:spcPts val="0"/>
                  </a:spcBef>
                </a:pPr>
                <a:endParaRPr lang="en-US" altLang="zh-CN" dirty="0">
                  <a:latin typeface="+mn-ea"/>
                </a:endParaRPr>
              </a:p>
              <a:p>
                <a:pPr>
                  <a:lnSpc>
                    <a:spcPct val="130000"/>
                  </a:lnSpc>
                  <a:spcBef>
                    <a:spcPts val="0"/>
                  </a:spcBef>
                </a:pPr>
                <a:endParaRPr lang="en-US" altLang="zh-CN" dirty="0"/>
              </a:p>
              <a:p>
                <a:pPr>
                  <a:lnSpc>
                    <a:spcPct val="130000"/>
                  </a:lnSpc>
                  <a:spcBef>
                    <a:spcPts val="0"/>
                  </a:spcBef>
                </a:pPr>
                <a:endParaRPr lang="en-US" altLang="zh-CN" dirty="0"/>
              </a:p>
              <a:p>
                <a:pPr>
                  <a:lnSpc>
                    <a:spcPct val="130000"/>
                  </a:lnSpc>
                  <a:spcBef>
                    <a:spcPts val="0"/>
                  </a:spcBef>
                </a:pPr>
                <a:endParaRPr lang="en-US" altLang="zh-CN" dirty="0"/>
              </a:p>
              <a:p>
                <a:pPr>
                  <a:lnSpc>
                    <a:spcPct val="130000"/>
                  </a:lnSpc>
                  <a:spcBef>
                    <a:spcPts val="0"/>
                  </a:spcBef>
                </a:pPr>
                <a:r>
                  <a:rPr lang="zh-CN" altLang="en-US" dirty="0"/>
                  <a:t>如果一个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𝑺𝑫𝑫</m:t>
                    </m:r>
                  </m:oMath>
                </a14:m>
                <a:r>
                  <a:rPr lang="zh-CN" altLang="en-US" dirty="0"/>
                  <a:t>是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dirty="0"/>
                  <a:t>属性的，那么我们可以按照分析树节点任何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自下而上的顺序</a:t>
                </a:r>
                <a:r>
                  <a:rPr lang="zh-CN" altLang="en-US" dirty="0"/>
                  <a:t>来计算它的属性值。</a:t>
                </a:r>
                <a:r>
                  <a:rPr lang="zh-CN" altLang="en-US" i="1" dirty="0"/>
                  <a:t> </a:t>
                </a:r>
                <a:r>
                  <a:rPr lang="en-US" altLang="zh-CN" dirty="0"/>
                  <a:t>S-</a:t>
                </a:r>
                <a:r>
                  <a:rPr lang="zh-CN" altLang="en-US" dirty="0"/>
                  <a:t>属性定义可以在自底向上的语法分析过程中实现 。</a:t>
                </a:r>
                <a:br>
                  <a:rPr lang="zh-CN" altLang="en-US" dirty="0"/>
                </a:b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33" t="-284" r="-127" b="-8801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 descr="屏幕剪辑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3712" y="1988840"/>
            <a:ext cx="4839989" cy="269619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zh-CN" altLang="en-US" dirty="0"/>
                  <a:t>属性的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𝑺𝑫𝑫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标题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24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对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zh-CN" altLang="en-US" dirty="0"/>
                  <a:t>属性的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𝑺𝑫𝑫</m:t>
                    </m:r>
                  </m:oMath>
                </a14:m>
                <a:r>
                  <a:rPr lang="zh-CN" altLang="en-US" dirty="0"/>
                  <a:t>来说，可以出现综合属性。如果出现继承属性， 那么对一个产生式而言， 只能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右边的继承左边</a:t>
                </a:r>
                <a:r>
                  <a:rPr lang="zh-CN" altLang="en-US" dirty="0"/>
                  <a:t>的。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直观含义：在一个产生式所关联的各属性之间，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依赖图的边可以从左到右，但不能从右到左</a:t>
                </a:r>
                <a:r>
                  <a:rPr lang="zh-CN" altLang="en-US" dirty="0"/>
                  <a:t>。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因此称为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zh-CN" altLang="en-US" dirty="0"/>
                  <a:t>属性的，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zh-CN" altLang="en-US" dirty="0"/>
                  <a:t>是</a:t>
                </a:r>
                <a:r>
                  <a:rPr lang="en-US" altLang="zh-CN" dirty="0"/>
                  <a:t>Left</a:t>
                </a:r>
                <a:r>
                  <a:rPr lang="zh-CN" altLang="en-US" dirty="0"/>
                  <a:t>的首字母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 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每个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zh-CN" altLang="en-US" dirty="0"/>
                  <a:t>属性定义都是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zh-CN" altLang="en-US" dirty="0"/>
                  <a:t>属性定义 。</a:t>
                </a:r>
                <a:br>
                  <a:rPr lang="zh-CN" altLang="en-US" dirty="0"/>
                </a:b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33" t="-284" r="-127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zh-CN" altLang="en-US" dirty="0"/>
                  <a:t>属性的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𝑺𝑫𝑫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标题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24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一个</a:t>
            </a:r>
            <a:r>
              <a:rPr lang="en-US" altLang="zh-CN" dirty="0">
                <a:latin typeface="+mn-ea"/>
              </a:rPr>
              <a:t>SDD </a:t>
            </a:r>
            <a:r>
              <a:rPr lang="zh-CN" altLang="en-US" dirty="0">
                <a:latin typeface="+mn-ea"/>
              </a:rPr>
              <a:t>是</a:t>
            </a:r>
            <a:r>
              <a:rPr lang="en-US" altLang="zh-CN" dirty="0">
                <a:latin typeface="+mn-ea"/>
              </a:rPr>
              <a:t>L-</a:t>
            </a:r>
            <a:r>
              <a:rPr lang="zh-CN" altLang="en-US" dirty="0">
                <a:latin typeface="+mn-ea"/>
              </a:rPr>
              <a:t>属性定义，当且仅当它的每个属性要么是一个综合属性，要么是满足如下条件的继承属性：假设存在一个产生式</a:t>
            </a:r>
            <a:r>
              <a:rPr lang="en-US" altLang="zh-CN" dirty="0">
                <a:latin typeface="+mn-ea"/>
              </a:rPr>
              <a:t>A</a:t>
            </a:r>
            <a:r>
              <a:rPr lang="zh-CN" altLang="en-US" dirty="0">
                <a:latin typeface="+mn-ea"/>
              </a:rPr>
              <a:t>→</a:t>
            </a:r>
            <a:r>
              <a:rPr lang="en-US" altLang="zh-CN" dirty="0">
                <a:latin typeface="+mn-ea"/>
              </a:rPr>
              <a:t>X1X2…</a:t>
            </a:r>
            <a:r>
              <a:rPr lang="en-US" altLang="zh-CN" dirty="0" err="1">
                <a:latin typeface="+mn-ea"/>
              </a:rPr>
              <a:t>Xn</a:t>
            </a:r>
            <a:r>
              <a:rPr lang="zh-CN" altLang="en-US" dirty="0">
                <a:latin typeface="+mn-ea"/>
              </a:rPr>
              <a:t>，其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右部符号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Xi </a:t>
            </a:r>
            <a:r>
              <a:rPr lang="en-US" altLang="zh-CN" dirty="0">
                <a:latin typeface="+mn-ea"/>
              </a:rPr>
              <a:t>(1&lt;=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 &lt;=</a:t>
            </a:r>
            <a:r>
              <a:rPr lang="zh-CN" altLang="en-US" dirty="0">
                <a:latin typeface="+mn-ea"/>
              </a:rPr>
              <a:t> </a:t>
            </a:r>
            <a:r>
              <a:rPr lang="en-US" altLang="zh-CN" dirty="0">
                <a:latin typeface="+mn-ea"/>
              </a:rPr>
              <a:t>n)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的继承属性</a:t>
            </a:r>
            <a:r>
              <a:rPr lang="zh-CN" altLang="en-US" dirty="0">
                <a:latin typeface="+mn-ea"/>
              </a:rPr>
              <a:t>仅依赖于下列属性：</a:t>
            </a:r>
            <a:endParaRPr lang="en-US" altLang="zh-CN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latin typeface="+mn-ea"/>
              </a:rPr>
              <a:t>A </a:t>
            </a:r>
            <a:r>
              <a:rPr lang="zh-CN" altLang="en-US" dirty="0">
                <a:latin typeface="+mn-ea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继承</a:t>
            </a:r>
            <a:r>
              <a:rPr lang="zh-CN" altLang="en-US" dirty="0">
                <a:latin typeface="+mn-ea"/>
              </a:rPr>
              <a:t>属性</a:t>
            </a:r>
            <a:endParaRPr lang="en-US" altLang="zh-CN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+mn-ea"/>
              </a:rPr>
              <a:t>产生式中</a:t>
            </a:r>
            <a:r>
              <a:rPr lang="en-US" altLang="zh-CN" dirty="0">
                <a:latin typeface="+mn-ea"/>
              </a:rPr>
              <a:t>Xi </a:t>
            </a:r>
            <a:r>
              <a:rPr lang="zh-CN" altLang="en-US" dirty="0">
                <a:latin typeface="+mn-ea"/>
              </a:rPr>
              <a:t>左边的符号 </a:t>
            </a:r>
            <a:r>
              <a:rPr lang="en-US" altLang="zh-CN" dirty="0">
                <a:latin typeface="+mn-ea"/>
              </a:rPr>
              <a:t>X1, X2, … , Xi-1 </a:t>
            </a:r>
            <a:r>
              <a:rPr lang="zh-CN" altLang="en-US" dirty="0">
                <a:latin typeface="+mn-ea"/>
              </a:rPr>
              <a:t>的属性</a:t>
            </a:r>
            <a:endParaRPr lang="en-US" altLang="zh-CN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latin typeface="+mn-ea"/>
              </a:rPr>
              <a:t>Xi </a:t>
            </a:r>
            <a:r>
              <a:rPr lang="zh-CN" altLang="en-US" dirty="0">
                <a:latin typeface="+mn-ea"/>
              </a:rPr>
              <a:t>本身的属性，但</a:t>
            </a:r>
            <a:r>
              <a:rPr lang="en-US" altLang="zh-CN" dirty="0">
                <a:latin typeface="+mn-ea"/>
              </a:rPr>
              <a:t>Xi </a:t>
            </a:r>
            <a:r>
              <a:rPr lang="zh-CN" altLang="en-US" dirty="0">
                <a:latin typeface="+mn-ea"/>
              </a:rPr>
              <a:t>的全部属性不能在依赖图中形成环路 </a:t>
            </a:r>
            <a:br>
              <a:rPr lang="zh-CN" altLang="en-US" dirty="0"/>
            </a:br>
            <a:br>
              <a:rPr lang="zh-CN" altLang="en-US" dirty="0"/>
            </a:br>
            <a:endParaRPr lang="en-US" altLang="zh-CN" dirty="0"/>
          </a:p>
        </p:txBody>
      </p:sp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152" y="3429000"/>
            <a:ext cx="1440160" cy="14005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下面的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𝑺𝑫𝑫</m:t>
                    </m:r>
                  </m:oMath>
                </a14:m>
                <a:r>
                  <a:rPr lang="zh-CN" altLang="en-US" dirty="0"/>
                  <a:t>是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zh-CN" altLang="en-US" dirty="0"/>
                  <a:t>属性的。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9696" y="1916832"/>
            <a:ext cx="6853291" cy="447976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包含下面规则的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𝑺𝑫𝑫</m:t>
                    </m:r>
                  </m:oMath>
                </a14:m>
                <a:r>
                  <a:rPr lang="zh-CN" altLang="en-US" dirty="0"/>
                  <a:t>不是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zh-CN" altLang="en-US" dirty="0"/>
                  <a:t>属性的。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        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673" y="2132856"/>
            <a:ext cx="6259067" cy="417646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343472" y="1063022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400" b="1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一个文法如果是</a:t>
            </a:r>
            <a:r>
              <a:rPr lang="en-US" altLang="zh-CN" sz="2400" b="1" kern="100" dirty="0">
                <a:effectLst/>
                <a:latin typeface="+mn-ea"/>
                <a:ea typeface="+mn-ea"/>
              </a:rPr>
              <a:t>S-SDD</a:t>
            </a:r>
            <a:r>
              <a:rPr lang="zh-CN" altLang="zh-CN" sz="2400" b="1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文法，那么也一定是</a:t>
            </a:r>
            <a:r>
              <a:rPr lang="en-US" altLang="zh-CN" sz="2400" b="1" kern="100" dirty="0">
                <a:effectLst/>
                <a:latin typeface="+mn-ea"/>
                <a:ea typeface="+mn-ea"/>
              </a:rPr>
              <a:t>L-SDD</a:t>
            </a:r>
            <a:r>
              <a:rPr lang="zh-CN" altLang="zh-CN" sz="2400" b="1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文法。</a:t>
            </a:r>
            <a:endParaRPr lang="zh-CN" altLang="en-US" sz="3200" b="1" dirty="0">
              <a:solidFill>
                <a:srgbClr val="000000"/>
              </a:solidFill>
              <a:latin typeface="+mn-ea"/>
              <a:ea typeface="+mn-ea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</a:t>
            </a: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错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15716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>
            <p:custDataLst>
              <p:tags r:id="rId7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</a:p>
        </p:txBody>
      </p:sp>
      <p:grpSp>
        <p:nvGrpSpPr>
          <p:cNvPr id="20" name="组合 19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6" name="TitleBackground"/>
            <p:cNvSpPr/>
            <p:nvPr>
              <p:custDataLst>
                <p:tags r:id="rId10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17" name="ColorBlock"/>
            <p:cNvSpPr/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18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/>
          <p:cNvPicPr/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语法制导翻译的应用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</a:rPr>
              <a:t>语法制导翻译</a:t>
            </a:r>
            <a:r>
              <a:rPr lang="zh-CN" altLang="en-US" dirty="0"/>
              <a:t>可以用于</a:t>
            </a:r>
            <a:r>
              <a:rPr lang="zh-CN" altLang="en-US" dirty="0">
                <a:solidFill>
                  <a:srgbClr val="FF0000"/>
                </a:solidFill>
              </a:rPr>
              <a:t>抽象语法树的构造</a:t>
            </a:r>
            <a:r>
              <a:rPr lang="zh-CN" altLang="en-US" dirty="0"/>
              <a:t>。下面的</a:t>
            </a:r>
            <a:r>
              <a:rPr lang="en-US" altLang="zh-CN" dirty="0"/>
              <a:t>S</a:t>
            </a:r>
            <a:r>
              <a:rPr lang="zh-CN" altLang="en-US" dirty="0"/>
              <a:t>属性定义为一个简单表达式文法构造语法树。所有的非终结符都有一个综合属性</a:t>
            </a:r>
            <a:r>
              <a:rPr lang="en-US" altLang="zh-CN" dirty="0"/>
              <a:t>node</a:t>
            </a:r>
            <a:r>
              <a:rPr lang="zh-CN" altLang="en-US" dirty="0"/>
              <a:t>，来表示相应的语法树的节点。</a:t>
            </a:r>
            <a:endParaRPr lang="en-US" altLang="zh-CN" dirty="0"/>
          </a:p>
        </p:txBody>
      </p:sp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592" y="3398242"/>
            <a:ext cx="7481508" cy="288032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语法制导翻译的应用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下图显示了为串</a:t>
            </a:r>
            <a:r>
              <a:rPr lang="en-US" altLang="zh-CN" dirty="0"/>
              <a:t>a-4+c</a:t>
            </a:r>
            <a:r>
              <a:rPr lang="zh-CN" altLang="en-US" dirty="0"/>
              <a:t>构造语法树的过程。</a:t>
            </a:r>
            <a:endParaRPr lang="en-US" altLang="zh-CN" dirty="0"/>
          </a:p>
        </p:txBody>
      </p:sp>
      <p:pic>
        <p:nvPicPr>
          <p:cNvPr id="6" name="图片 5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38" y="1901609"/>
            <a:ext cx="5331199" cy="4367319"/>
          </a:xfrm>
          <a:prstGeom prst="rect">
            <a:avLst/>
          </a:prstGeom>
        </p:spPr>
      </p:pic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256" y="2009196"/>
            <a:ext cx="5675144" cy="218488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 bwMode="auto">
          <a:xfrm>
            <a:off x="1205686" y="5444638"/>
            <a:ext cx="775471" cy="27339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2072388" y="4652548"/>
            <a:ext cx="1293537" cy="34174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3149901" y="3936128"/>
            <a:ext cx="1224136" cy="34174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3725965" y="5444636"/>
            <a:ext cx="936104" cy="27339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4814204" y="4720898"/>
            <a:ext cx="840093" cy="27339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pic>
        <p:nvPicPr>
          <p:cNvPr id="12" name="图片 11" descr="屏幕剪辑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176" y="4473373"/>
            <a:ext cx="3575403" cy="1619923"/>
          </a:xfrm>
          <a:prstGeom prst="rect">
            <a:avLst/>
          </a:prstGeom>
          <a:ln w="28575">
            <a:solidFill>
              <a:srgbClr val="9999FF"/>
            </a:solidFill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文法</a:t>
            </a:r>
            <a:r>
              <a:rPr lang="en-US" altLang="zh-CN" dirty="0"/>
              <a:t>G(S)</a:t>
            </a:r>
            <a:r>
              <a:rPr lang="zh-CN" altLang="en-US" dirty="0"/>
              <a:t>及其语法制导翻译定义如下：</a:t>
            </a:r>
            <a:endParaRPr lang="en-US" altLang="zh-CN" dirty="0"/>
          </a:p>
          <a:p>
            <a:pPr eaLnBrk="1" hangingPunct="1">
              <a:lnSpc>
                <a:spcPct val="150000"/>
              </a:lnSpc>
            </a:pPr>
            <a:endParaRPr lang="en-US" altLang="zh-CN" dirty="0"/>
          </a:p>
          <a:p>
            <a:pPr eaLnBrk="1" hangingPunct="1">
              <a:lnSpc>
                <a:spcPct val="150000"/>
              </a:lnSpc>
            </a:pPr>
            <a:endParaRPr lang="en-US" altLang="zh-CN" dirty="0"/>
          </a:p>
          <a:p>
            <a:pPr eaLnBrk="1" hangingPunct="1">
              <a:lnSpc>
                <a:spcPct val="150000"/>
              </a:lnSpc>
            </a:pPr>
            <a:endParaRPr lang="en-US" altLang="zh-CN" dirty="0"/>
          </a:p>
          <a:p>
            <a:pPr eaLnBrk="1" hangingPunct="1">
              <a:lnSpc>
                <a:spcPct val="150000"/>
              </a:lnSpc>
            </a:pPr>
            <a:endParaRPr lang="en-US" altLang="zh-CN" dirty="0"/>
          </a:p>
          <a:p>
            <a:pPr eaLnBrk="1" hangingPunct="1">
              <a:lnSpc>
                <a:spcPct val="150000"/>
              </a:lnSpc>
            </a:pPr>
            <a:endParaRPr lang="en-US" altLang="zh-CN" dirty="0"/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若输入为</a:t>
            </a:r>
            <a:r>
              <a:rPr lang="en-US" altLang="zh-CN" dirty="0"/>
              <a:t>( a,( a))</a:t>
            </a:r>
            <a:r>
              <a:rPr lang="zh-CN" altLang="en-US" dirty="0"/>
              <a:t>，且采用自底向上的分析方法，请给出输出。</a:t>
            </a:r>
            <a:endParaRPr lang="en-US" altLang="zh-CN" dirty="0"/>
          </a:p>
          <a:p>
            <a:pPr eaLnBrk="1" hangingPunct="1">
              <a:lnSpc>
                <a:spcPct val="150000"/>
              </a:lnSpc>
            </a:pP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/>
              <p:cNvGraphicFramePr>
                <a:graphicFrameLocks noGrp="1"/>
              </p:cNvGraphicFramePr>
              <p:nvPr/>
            </p:nvGraphicFramePr>
            <p:xfrm>
              <a:off x="2567608" y="2204864"/>
              <a:ext cx="7128792" cy="316835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69464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43414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280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>
                              <a:latin typeface="+mn-lt"/>
                            </a:rPr>
                            <a:t>产生式</a:t>
                          </a:r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>
                              <a:latin typeface="+mn-lt"/>
                            </a:rPr>
                            <a:t>语义动作</a:t>
                          </a:r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2805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      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𝒑𝒓𝒊𝒏𝒕</m:t>
                                </m:r>
                                <m: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𝒏𝒖𝒎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b="1" i="0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2805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d>
                                <m:dPr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</m:e>
                              </m:d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</m:oMath>
                          </a14:m>
                          <a:r>
                            <a:rPr lang="zh-CN" altLang="en-US" sz="2400" b="1" i="1" dirty="0">
                              <a:latin typeface="+mn-lt"/>
                            </a:rPr>
                            <a:t>   </a:t>
                          </a: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𝒏𝒖𝒎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𝒏𝒖𝒎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+ 2</m:t>
                                </m:r>
                              </m:oMath>
                            </m:oMathPara>
                          </a14:m>
                          <a:endParaRPr lang="zh-CN" altLang="en-US" sz="2400" b="1" i="0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2805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       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𝒏𝒖𝒎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1</m:t>
                                </m:r>
                              </m:oMath>
                            </m:oMathPara>
                          </a14:m>
                          <a:endParaRPr lang="zh-CN" altLang="en-US" sz="2400" b="1" i="0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2805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𝒏𝒖𝒎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1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1" i="0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 </m:t>
                              </m:r>
                              <m:sSub>
                                <m:sSubPr>
                                  <m:ctrlPr>
                                    <a:rPr lang="en-US" altLang="zh-CN" sz="2400" b="1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𝑳</m:t>
                                  </m:r>
                                </m:e>
                                <m:sub>
                                  <m:r>
                                    <a:rPr lang="en-US" altLang="zh-CN" sz="2400" b="1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altLang="zh-CN" sz="2400" b="1" i="1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.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𝒏𝒖𝒎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1" i="0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1" i="1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1" i="0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</m:t>
                              </m:r>
                            </m:oMath>
                          </a14:m>
                          <a:r>
                            <a:rPr lang="en-US" altLang="zh-CN" sz="2400" b="1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*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𝒏𝒖𝒎</m:t>
                              </m:r>
                            </m:oMath>
                          </a14:m>
                          <a:endParaRPr lang="zh-CN" altLang="en-US" sz="24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2805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       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𝒏𝒖𝒎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𝒏𝒖𝒎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/>
              <p:cNvGraphicFramePr>
                <a:graphicFrameLocks noGrp="1"/>
              </p:cNvGraphicFramePr>
              <p:nvPr/>
            </p:nvGraphicFramePr>
            <p:xfrm>
              <a:off x="2567608" y="2204864"/>
              <a:ext cx="7128792" cy="316835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694646"/>
                    <a:gridCol w="4434146"/>
                  </a:tblGrid>
                  <a:tr h="5280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>
                              <a:latin typeface="+mn-lt"/>
                            </a:rPr>
                            <a:t>产生式</a:t>
                          </a:r>
                          <a:endParaRPr lang="zh-CN" altLang="en-US" sz="2400" b="1" i="0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>
                              <a:latin typeface="+mn-lt"/>
                            </a:rPr>
                            <a:t>语义动作</a:t>
                          </a:r>
                          <a:endParaRPr lang="zh-CN" altLang="en-US" sz="2400" b="1" i="0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</a:tr>
                  <a:tr h="52768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528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52768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528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528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1424" y="164058"/>
            <a:ext cx="10585176" cy="6433294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50000"/>
              </a:lnSpc>
            </a:pPr>
            <a:endParaRPr lang="en-US" altLang="zh-CN" dirty="0"/>
          </a:p>
          <a:p>
            <a:pPr eaLnBrk="1" hangingPunct="1">
              <a:lnSpc>
                <a:spcPct val="150000"/>
              </a:lnSpc>
            </a:pPr>
            <a:endParaRPr lang="en-US" altLang="zh-CN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/>
              <p:cNvGraphicFramePr>
                <a:graphicFrameLocks noGrp="1"/>
              </p:cNvGraphicFramePr>
              <p:nvPr/>
            </p:nvGraphicFramePr>
            <p:xfrm>
              <a:off x="2351584" y="332656"/>
              <a:ext cx="7776864" cy="2194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93961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8372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812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 i="0" dirty="0"/>
                            <a:t>产生式</a:t>
                          </a:r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 i="0" dirty="0"/>
                            <a:t>语义动作</a:t>
                          </a:r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8121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      </m:t>
                                </m:r>
                              </m:oMath>
                            </m:oMathPara>
                          </a14:m>
                          <a:endParaRPr lang="zh-CN" altLang="en-US" b="1" i="1" dirty="0"/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𝒑𝒓𝒊𝒏𝒕</m:t>
                                </m:r>
                                <m:r>
                                  <a:rPr lang="en-US" altLang="zh-CN" sz="18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8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18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1800" b="1" i="1" smtClean="0">
                                    <a:latin typeface="Cambria Math" panose="02040503050406030204" pitchFamily="18" charset="0"/>
                                  </a:rPr>
                                  <m:t>𝒏𝒖𝒎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18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800" b="1" i="0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8121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d>
                                <m:d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</m:e>
                              </m:d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</m:oMath>
                          </a14:m>
                          <a:r>
                            <a:rPr lang="zh-CN" altLang="en-US" b="1" i="1" dirty="0"/>
                            <a:t>   </a:t>
                          </a: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18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1800" b="1" i="1" smtClean="0">
                                    <a:latin typeface="Cambria Math" panose="02040503050406030204" pitchFamily="18" charset="0"/>
                                  </a:rPr>
                                  <m:t>𝒏𝒖𝒎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1800" b="1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18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18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1800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18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1800" b="1" i="1" smtClean="0">
                                    <a:latin typeface="Cambria Math" panose="02040503050406030204" pitchFamily="18" charset="0"/>
                                  </a:rPr>
                                  <m:t>𝒏𝒖𝒎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18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18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+ 2</m:t>
                                </m:r>
                              </m:oMath>
                            </m:oMathPara>
                          </a14:m>
                          <a:endParaRPr lang="zh-CN" altLang="en-US" sz="1800" b="1" i="0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8121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       </m:t>
                                </m:r>
                              </m:oMath>
                            </m:oMathPara>
                          </a14:m>
                          <a:endParaRPr lang="zh-CN" altLang="en-US" b="1" i="1" dirty="0"/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18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1800" b="1" i="1" smtClean="0">
                                    <a:latin typeface="Cambria Math" panose="02040503050406030204" pitchFamily="18" charset="0"/>
                                  </a:rPr>
                                  <m:t>𝒏𝒖𝒎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1800" b="1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18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1</m:t>
                                </m:r>
                              </m:oMath>
                            </m:oMathPara>
                          </a14:m>
                          <a:endParaRPr lang="zh-CN" altLang="en-US" sz="1800" b="1" i="0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8121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b="1" i="1" dirty="0"/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𝒏𝒖𝒎</m:t>
                              </m:r>
                              <m:r>
                                <m:rPr>
                                  <m:nor/>
                                </m:rPr>
                                <a:rPr lang="en-US" altLang="zh-CN" sz="1800" b="1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1800" b="1" i="0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 </m:t>
                              </m:r>
                              <m:sSub>
                                <m:sSubPr>
                                  <m:ctrlPr>
                                    <a:rPr lang="en-US" altLang="zh-CN" sz="1800" b="1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1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𝑳</m:t>
                                  </m:r>
                                </m:e>
                                <m:sub>
                                  <m:r>
                                    <a:rPr lang="en-US" altLang="zh-CN" sz="1800" b="1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altLang="zh-CN" sz="1800" b="1" i="1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.</m:t>
                              </m:r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𝒏𝒖𝒎</m:t>
                              </m:r>
                              <m:r>
                                <m:rPr>
                                  <m:nor/>
                                </m:rPr>
                                <a:rPr lang="en-US" altLang="zh-CN" sz="1800" b="1" i="0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  <m:r>
                                <m:rPr>
                                  <m:nor/>
                                </m:rPr>
                                <a:rPr lang="en-US" altLang="zh-CN" sz="1800" b="1" i="1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1800" b="1" i="0" kern="12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</m:t>
                              </m:r>
                            </m:oMath>
                          </a14:m>
                          <a:r>
                            <a:rPr lang="en-US" altLang="zh-CN" sz="1800" b="1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*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𝒏𝒖𝒎</m:t>
                              </m:r>
                            </m:oMath>
                          </a14:m>
                          <a:endParaRPr lang="zh-CN" altLang="en-US" sz="18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8121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       </m:t>
                                </m:r>
                              </m:oMath>
                            </m:oMathPara>
                          </a14:m>
                          <a:endParaRPr lang="zh-CN" altLang="en-US" b="1" i="1" dirty="0"/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18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1800" b="1" i="1" smtClean="0">
                                    <a:latin typeface="Cambria Math" panose="02040503050406030204" pitchFamily="18" charset="0"/>
                                  </a:rPr>
                                  <m:t>𝒏𝒖𝒎</m:t>
                                </m:r>
                                <m:r>
                                  <a:rPr lang="en-US" altLang="zh-CN" sz="18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18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18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1800" b="1" i="1" smtClean="0">
                                    <a:latin typeface="Cambria Math" panose="02040503050406030204" pitchFamily="18" charset="0"/>
                                  </a:rPr>
                                  <m:t>𝒏𝒖𝒎</m:t>
                                </m:r>
                              </m:oMath>
                            </m:oMathPara>
                          </a14:m>
                          <a:endParaRPr lang="zh-CN" altLang="en-US" sz="1800" b="1" i="1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/>
              <p:cNvGraphicFramePr>
                <a:graphicFrameLocks noGrp="1"/>
              </p:cNvGraphicFramePr>
              <p:nvPr/>
            </p:nvGraphicFramePr>
            <p:xfrm>
              <a:off x="2351584" y="332656"/>
              <a:ext cx="7776864" cy="2194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939614"/>
                    <a:gridCol w="4837250"/>
                  </a:tblGrid>
                  <a:tr h="1812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 i="0" dirty="0"/>
                            <a:t>产生式</a:t>
                          </a:r>
                          <a:endParaRPr lang="zh-CN" altLang="en-US" b="1" i="0" dirty="0"/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 i="0" dirty="0"/>
                            <a:t>语义动作</a:t>
                          </a:r>
                          <a:endParaRPr lang="zh-CN" altLang="en-US" b="1" i="0" dirty="0"/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/>
            </p:nvGraphicFramePr>
            <p:xfrm>
              <a:off x="2351584" y="2749071"/>
              <a:ext cx="7776864" cy="367561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93961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83724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688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 i="0" dirty="0">
                              <a:latin typeface="+mn-lt"/>
                            </a:rPr>
                            <a:t>产生式</a:t>
                          </a:r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 i="0" dirty="0">
                              <a:latin typeface="+mn-lt"/>
                            </a:rPr>
                            <a:t>语义动作</a:t>
                          </a:r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6888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b="1" i="1" dirty="0">
                              <a:latin typeface="+mn-lt"/>
                            </a:rPr>
                            <a:t>S’</a:t>
                          </a:r>
                          <a:endParaRPr lang="zh-CN" altLang="en-US" b="1" i="1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1" i="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print(12)</a:t>
                          </a:r>
                          <a:endParaRPr lang="zh-CN" altLang="en-US" sz="1800" b="1" i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6888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1" i="1" dirty="0" smtClean="0">
                                    <a:latin typeface="Cambria Math" panose="02040503050406030204" pitchFamily="18" charset="0"/>
                                  </a:rPr>
                                  <m:t>⇒</m:t>
                                </m:r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      </m:t>
                                </m:r>
                              </m:oMath>
                            </m:oMathPara>
                          </a14:m>
                          <a:endParaRPr lang="zh-CN" altLang="en-US" b="1" i="1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1" i="0" kern="1200" dirty="0" err="1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S0.num</a:t>
                          </a:r>
                          <a:r>
                            <a:rPr lang="en-US" altLang="zh-CN" sz="1800" b="1" i="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=</a:t>
                          </a:r>
                          <a:r>
                            <a:rPr lang="en-US" altLang="zh-CN" sz="1800" b="1" i="0" kern="1200" dirty="0" err="1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L0.num+2</a:t>
                          </a:r>
                          <a:r>
                            <a:rPr lang="en-US" altLang="zh-CN" sz="1800" b="1" i="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=12</a:t>
                          </a:r>
                          <a:endParaRPr lang="zh-CN" altLang="en-US" sz="1800" b="1" i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6888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1" i="1" dirty="0" smtClean="0">
                                  <a:latin typeface="Cambria Math" panose="02040503050406030204" pitchFamily="18" charset="0"/>
                                </a:rPr>
                                <m:t>⇒</m:t>
                              </m:r>
                              <m:d>
                                <m:d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d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</m:oMath>
                          </a14:m>
                          <a:r>
                            <a:rPr lang="zh-CN" altLang="en-US" b="1" i="1" dirty="0">
                              <a:latin typeface="+mn-lt"/>
                            </a:rPr>
                            <a:t>   </a:t>
                          </a: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1800" b="1" i="0" kern="1200" dirty="0" err="1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L0.num</a:t>
                          </a:r>
                          <a:r>
                            <a:rPr lang="en-US" altLang="zh-CN" sz="1800" b="1" i="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=</a:t>
                          </a:r>
                          <a:r>
                            <a:rPr lang="en-US" altLang="zh-CN" sz="1800" b="1" i="0" kern="1200" dirty="0" err="1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L1.num+3</a:t>
                          </a:r>
                          <a:r>
                            <a:rPr lang="en-US" altLang="zh-CN" sz="1800" b="1" i="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*</a:t>
                          </a:r>
                          <a:r>
                            <a:rPr lang="en-US" altLang="zh-CN" sz="1800" b="1" i="0" kern="1200" dirty="0" err="1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S1.num</a:t>
                          </a:r>
                          <a:r>
                            <a:rPr lang="en-US" altLang="zh-CN" sz="1800" b="1" i="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=10</a:t>
                          </a:r>
                          <a:endParaRPr lang="zh-CN" altLang="en-US" sz="1800" b="1" i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6888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1" i="1" dirty="0" smtClean="0">
                                    <a:latin typeface="Cambria Math" panose="02040503050406030204" pitchFamily="18" charset="0"/>
                                  </a:rPr>
                                  <m:t>⇒(</m:t>
                                </m:r>
                                <m:r>
                                  <a:rPr lang="en-US" altLang="zh-CN" sz="1800" b="1" i="1" dirty="0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1800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CN" sz="1800" b="1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1800" b="1" i="1" dirty="0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1800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CN" sz="1800" b="1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b="1" i="1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1800" b="1" i="0" kern="1200" dirty="0" err="1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S1.num</a:t>
                          </a:r>
                          <a:r>
                            <a:rPr lang="en-US" altLang="zh-CN" sz="1800" b="1" i="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=</a:t>
                          </a:r>
                          <a:r>
                            <a:rPr lang="en-US" altLang="zh-CN" sz="1800" b="1" i="0" kern="1200" dirty="0" err="1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L2.num+2</a:t>
                          </a:r>
                          <a:r>
                            <a:rPr lang="en-US" altLang="zh-CN" sz="1800" b="1" i="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=3</a:t>
                          </a:r>
                          <a:endParaRPr lang="zh-CN" altLang="en-US" sz="1800" b="1" i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8377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1" i="1" dirty="0" smtClean="0">
                                    <a:latin typeface="Cambria Math" panose="02040503050406030204" pitchFamily="18" charset="0"/>
                                  </a:rPr>
                                  <m:t>⇒(</m:t>
                                </m:r>
                                <m:r>
                                  <a:rPr lang="en-US" altLang="zh-CN" sz="1800" b="1" i="1" dirty="0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1800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CN" sz="1800" b="1" i="1" dirty="0" smtClean="0">
                                    <a:latin typeface="Cambria Math" panose="02040503050406030204" pitchFamily="18" charset="0"/>
                                  </a:rPr>
                                  <m:t>,(</m:t>
                                </m:r>
                                <m:r>
                                  <a:rPr lang="en-US" altLang="zh-CN" sz="1800" b="1" i="1" dirty="0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1800" b="1" i="1" dirty="0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altLang="zh-CN" sz="1800" b="1" i="1" dirty="0" smtClean="0"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oMath>
                            </m:oMathPara>
                          </a14:m>
                          <a:endParaRPr lang="zh-CN" altLang="en-US" b="1" i="1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1800" b="1" i="0" kern="1200" dirty="0" err="1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L2.num</a:t>
                          </a:r>
                          <a:r>
                            <a:rPr lang="en-US" altLang="zh-CN" sz="1800" b="1" i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=</a:t>
                          </a:r>
                          <a:r>
                            <a:rPr lang="en-US" altLang="zh-CN" sz="1800" b="1" i="0" kern="1200" dirty="0" err="1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S2.num</a:t>
                          </a:r>
                          <a:r>
                            <a:rPr lang="en-US" altLang="zh-CN" sz="1800" b="1" i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=1</a:t>
                          </a:r>
                          <a:endParaRPr lang="zh-CN" altLang="en-US" sz="1800" b="1" i="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6888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1" i="1" dirty="0" smtClean="0">
                                    <a:latin typeface="Cambria Math" panose="02040503050406030204" pitchFamily="18" charset="0"/>
                                  </a:rPr>
                                  <m:t>⇒(</m:t>
                                </m:r>
                                <m:r>
                                  <a:rPr lang="en-US" altLang="zh-CN" sz="1800" b="1" i="1" dirty="0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1800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CN" sz="1800" b="1" i="1" dirty="0" smtClean="0">
                                    <a:latin typeface="Cambria Math" panose="02040503050406030204" pitchFamily="18" charset="0"/>
                                  </a:rPr>
                                  <m:t>,(</m:t>
                                </m:r>
                                <m:r>
                                  <a:rPr lang="en-US" altLang="zh-CN" sz="1800" b="1" i="1" dirty="0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1800" b="1" i="1" dirty="0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altLang="zh-CN" sz="1800" b="1" i="1" dirty="0" smtClean="0"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oMath>
                            </m:oMathPara>
                          </a14:m>
                          <a:endParaRPr lang="zh-CN" altLang="en-US" b="1" i="1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i="0" dirty="0" err="1">
                              <a:latin typeface="+mn-lt"/>
                            </a:rPr>
                            <a:t>S2.num</a:t>
                          </a:r>
                          <a:r>
                            <a:rPr lang="en-US" altLang="zh-CN" b="1" i="0" dirty="0">
                              <a:latin typeface="+mn-lt"/>
                            </a:rPr>
                            <a:t>=1</a:t>
                          </a:r>
                          <a:endParaRPr lang="zh-CN" altLang="en-US" b="1" i="0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6888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1" i="1" dirty="0" smtClean="0">
                                    <a:latin typeface="Cambria Math" panose="02040503050406030204" pitchFamily="18" charset="0"/>
                                  </a:rPr>
                                  <m:t>⇒(</m:t>
                                </m:r>
                                <m:r>
                                  <a:rPr lang="en-US" altLang="zh-CN" sz="1800" b="1" i="1" dirty="0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1800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CN" sz="1800" b="1" i="1" dirty="0" smtClean="0">
                                    <a:latin typeface="Cambria Math" panose="02040503050406030204" pitchFamily="18" charset="0"/>
                                  </a:rPr>
                                  <m:t>,(</m:t>
                                </m:r>
                                <m:r>
                                  <a:rPr lang="en-US" altLang="zh-CN" sz="1800" b="1" i="1" dirty="0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sz="1800" b="1" i="1" dirty="0" smtClean="0"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oMath>
                            </m:oMathPara>
                          </a14:m>
                          <a:endParaRPr lang="zh-CN" altLang="en-US" b="1" i="1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i="0" dirty="0" err="1">
                              <a:latin typeface="+mn-lt"/>
                            </a:rPr>
                            <a:t>L1.num</a:t>
                          </a:r>
                          <a:r>
                            <a:rPr lang="en-US" altLang="zh-CN" b="1" i="0" dirty="0">
                              <a:latin typeface="+mn-lt"/>
                            </a:rPr>
                            <a:t>=</a:t>
                          </a:r>
                          <a:r>
                            <a:rPr lang="en-US" altLang="zh-CN" b="1" i="0" dirty="0" err="1">
                              <a:latin typeface="+mn-lt"/>
                            </a:rPr>
                            <a:t>S3.num</a:t>
                          </a:r>
                          <a:r>
                            <a:rPr lang="en-US" altLang="zh-CN" b="1" i="0" dirty="0">
                              <a:latin typeface="+mn-lt"/>
                            </a:rPr>
                            <a:t>=1</a:t>
                          </a:r>
                          <a:endParaRPr lang="zh-CN" altLang="en-US" b="1" i="0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6888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1" i="1" dirty="0" smtClean="0">
                                    <a:latin typeface="Cambria Math" panose="02040503050406030204" pitchFamily="18" charset="0"/>
                                  </a:rPr>
                                  <m:t>⇒(</m:t>
                                </m:r>
                                <m:r>
                                  <a:rPr lang="en-US" altLang="zh-CN" sz="1800" b="1" i="1" dirty="0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1800" b="1" i="1" dirty="0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altLang="zh-CN" sz="1800" b="1" i="1" dirty="0" smtClean="0">
                                    <a:latin typeface="Cambria Math" panose="02040503050406030204" pitchFamily="18" charset="0"/>
                                  </a:rPr>
                                  <m:t>,(</m:t>
                                </m:r>
                                <m:r>
                                  <a:rPr lang="en-US" altLang="zh-CN" sz="1800" b="1" i="1" dirty="0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sz="1800" b="1" i="1" dirty="0" smtClean="0"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oMath>
                            </m:oMathPara>
                          </a14:m>
                          <a:endParaRPr lang="zh-CN" altLang="en-US" b="1" i="1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i="0" dirty="0" err="1">
                              <a:latin typeface="+mn-lt"/>
                            </a:rPr>
                            <a:t>S3.num</a:t>
                          </a:r>
                          <a:r>
                            <a:rPr lang="en-US" altLang="zh-CN" b="1" i="0" dirty="0">
                              <a:latin typeface="+mn-lt"/>
                            </a:rPr>
                            <a:t>=1</a:t>
                          </a:r>
                          <a:endParaRPr lang="zh-CN" altLang="en-US" b="1" i="0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6888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1" i="1" dirty="0" smtClean="0">
                                  <a:latin typeface="Cambria Math" panose="02040503050406030204" pitchFamily="18" charset="0"/>
                                </a:rPr>
                                <m:t>⇒(</m:t>
                              </m:r>
                              <m:r>
                                <a:rPr lang="en-US" altLang="zh-CN" sz="18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1800" b="1" i="1" dirty="0" smtClean="0">
                                  <a:latin typeface="Cambria Math" panose="02040503050406030204" pitchFamily="18" charset="0"/>
                                </a:rPr>
                                <m:t>,(</m:t>
                              </m:r>
                              <m:r>
                                <a:rPr lang="en-US" altLang="zh-CN" sz="18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1800" b="1" i="1" dirty="0" smtClean="0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oMath>
                          </a14:m>
                          <a:r>
                            <a:rPr lang="zh-CN" altLang="en-US" b="1" i="1" dirty="0">
                              <a:latin typeface="+mn-lt"/>
                            </a:rPr>
                            <a:t>  </a:t>
                          </a: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b="1" i="1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/>
            </p:nvGraphicFramePr>
            <p:xfrm>
              <a:off x="2351584" y="2749071"/>
              <a:ext cx="7776864" cy="367561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939616"/>
                    <a:gridCol w="4837248"/>
                  </a:tblGrid>
                  <a:tr h="2688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 i="0" dirty="0">
                              <a:latin typeface="+mn-lt"/>
                            </a:rPr>
                            <a:t>产生式</a:t>
                          </a:r>
                          <a:endParaRPr lang="zh-CN" altLang="en-US" b="1" i="0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1" i="0" dirty="0">
                              <a:latin typeface="+mn-lt"/>
                            </a:rPr>
                            <a:t>语义动作</a:t>
                          </a:r>
                          <a:endParaRPr lang="zh-CN" altLang="en-US" b="1" i="0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</a:tr>
                  <a:tr h="26888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b="1" i="1" dirty="0">
                              <a:latin typeface="+mn-lt"/>
                            </a:rPr>
                            <a:t>S’</a:t>
                          </a:r>
                          <a:endParaRPr lang="zh-CN" altLang="en-US" b="1" i="1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1" i="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print(12)</a:t>
                          </a:r>
                          <a:endParaRPr lang="zh-CN" altLang="en-US" sz="1800" b="1" i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1" i="0" kern="1200" dirty="0" err="1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S0.num</a:t>
                          </a:r>
                          <a:r>
                            <a:rPr lang="en-US" altLang="zh-CN" sz="1800" b="1" i="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=</a:t>
                          </a:r>
                          <a:r>
                            <a:rPr lang="en-US" altLang="zh-CN" sz="1800" b="1" i="0" kern="1200" dirty="0" err="1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L0.num+2</a:t>
                          </a:r>
                          <a:r>
                            <a:rPr lang="en-US" altLang="zh-CN" sz="1800" b="1" i="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=12</a:t>
                          </a:r>
                          <a:endParaRPr lang="zh-CN" altLang="en-US" sz="1800" b="1" i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1800" b="1" i="0" kern="1200" dirty="0" err="1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L0.num</a:t>
                          </a:r>
                          <a:r>
                            <a:rPr lang="en-US" altLang="zh-CN" sz="1800" b="1" i="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=</a:t>
                          </a:r>
                          <a:r>
                            <a:rPr lang="en-US" altLang="zh-CN" sz="1800" b="1" i="0" kern="1200" dirty="0" err="1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L1.num+3</a:t>
                          </a:r>
                          <a:r>
                            <a:rPr lang="en-US" altLang="zh-CN" sz="1800" b="1" i="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*</a:t>
                          </a:r>
                          <a:r>
                            <a:rPr lang="en-US" altLang="zh-CN" sz="1800" b="1" i="0" kern="1200" dirty="0" err="1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S1.num</a:t>
                          </a:r>
                          <a:r>
                            <a:rPr lang="en-US" altLang="zh-CN" sz="1800" b="1" i="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=10</a:t>
                          </a:r>
                          <a:endParaRPr lang="zh-CN" altLang="en-US" sz="1800" b="1" i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1800" b="1" i="0" kern="1200" dirty="0" err="1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S1.num</a:t>
                          </a:r>
                          <a:r>
                            <a:rPr lang="en-US" altLang="zh-CN" sz="1800" b="1" i="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=</a:t>
                          </a:r>
                          <a:r>
                            <a:rPr lang="en-US" altLang="zh-CN" sz="1800" b="1" i="0" kern="1200" dirty="0" err="1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L2.num+2</a:t>
                          </a:r>
                          <a:r>
                            <a:rPr lang="en-US" altLang="zh-CN" sz="1800" b="1" i="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=3</a:t>
                          </a:r>
                          <a:endParaRPr lang="zh-CN" altLang="en-US" sz="1800" b="1" i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</a:tr>
                  <a:tr h="38417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1800" b="1" i="0" kern="1200" dirty="0" err="1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L2.num</a:t>
                          </a:r>
                          <a:r>
                            <a:rPr lang="en-US" altLang="zh-CN" sz="1800" b="1" i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=</a:t>
                          </a:r>
                          <a:r>
                            <a:rPr lang="en-US" altLang="zh-CN" sz="1800" b="1" i="0" kern="1200" dirty="0" err="1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S2.num</a:t>
                          </a:r>
                          <a:r>
                            <a:rPr lang="en-US" altLang="zh-CN" sz="1800" b="1" i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=1</a:t>
                          </a:r>
                          <a:endParaRPr lang="zh-CN" altLang="en-US" sz="1800" b="1" i="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i="0" dirty="0" err="1">
                              <a:latin typeface="+mn-lt"/>
                            </a:rPr>
                            <a:t>S2.num</a:t>
                          </a:r>
                          <a:r>
                            <a:rPr lang="en-US" altLang="zh-CN" b="1" i="0" dirty="0">
                              <a:latin typeface="+mn-lt"/>
                            </a:rPr>
                            <a:t>=1</a:t>
                          </a:r>
                          <a:endParaRPr lang="zh-CN" altLang="en-US" b="1" i="0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i="0" dirty="0" err="1">
                              <a:latin typeface="+mn-lt"/>
                            </a:rPr>
                            <a:t>L1.num</a:t>
                          </a:r>
                          <a:r>
                            <a:rPr lang="en-US" altLang="zh-CN" b="1" i="0" dirty="0">
                              <a:latin typeface="+mn-lt"/>
                            </a:rPr>
                            <a:t>=</a:t>
                          </a:r>
                          <a:r>
                            <a:rPr lang="en-US" altLang="zh-CN" b="1" i="0" dirty="0" err="1">
                              <a:latin typeface="+mn-lt"/>
                            </a:rPr>
                            <a:t>S3.num</a:t>
                          </a:r>
                          <a:r>
                            <a:rPr lang="en-US" altLang="zh-CN" b="1" i="0" dirty="0">
                              <a:latin typeface="+mn-lt"/>
                            </a:rPr>
                            <a:t>=1</a:t>
                          </a:r>
                          <a:endParaRPr lang="zh-CN" altLang="en-US" b="1" i="0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i="0" dirty="0" err="1">
                              <a:latin typeface="+mn-lt"/>
                            </a:rPr>
                            <a:t>S3.num</a:t>
                          </a:r>
                          <a:r>
                            <a:rPr lang="en-US" altLang="zh-CN" b="1" i="0" dirty="0">
                              <a:latin typeface="+mn-lt"/>
                            </a:rPr>
                            <a:t>=1</a:t>
                          </a:r>
                          <a:endParaRPr lang="zh-CN" altLang="en-US" b="1" i="0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b="1" i="1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文法</a:t>
            </a:r>
            <a:r>
              <a:rPr lang="en-US" altLang="zh-CN" dirty="0"/>
              <a:t>G(E)</a:t>
            </a:r>
            <a:r>
              <a:rPr lang="zh-CN" altLang="en-US" dirty="0"/>
              <a:t>及其语法制导翻译定义如下：</a:t>
            </a:r>
            <a:endParaRPr lang="en-US" altLang="zh-CN" dirty="0"/>
          </a:p>
          <a:p>
            <a:pPr eaLnBrk="1" hangingPunct="1">
              <a:lnSpc>
                <a:spcPct val="150000"/>
              </a:lnSpc>
            </a:pPr>
            <a:endParaRPr lang="en-US" altLang="zh-CN" dirty="0"/>
          </a:p>
          <a:p>
            <a:pPr eaLnBrk="1" hangingPunct="1">
              <a:lnSpc>
                <a:spcPct val="150000"/>
              </a:lnSpc>
            </a:pPr>
            <a:endParaRPr lang="en-US" altLang="zh-CN" dirty="0"/>
          </a:p>
          <a:p>
            <a:pPr eaLnBrk="1" hangingPunct="1">
              <a:lnSpc>
                <a:spcPct val="150000"/>
              </a:lnSpc>
            </a:pPr>
            <a:endParaRPr lang="en-US" altLang="zh-CN" dirty="0"/>
          </a:p>
          <a:p>
            <a:pPr eaLnBrk="1" hangingPunct="1">
              <a:lnSpc>
                <a:spcPct val="150000"/>
              </a:lnSpc>
            </a:pPr>
            <a:endParaRPr lang="en-US" altLang="zh-CN" dirty="0"/>
          </a:p>
          <a:p>
            <a:pPr eaLnBrk="1" hangingPunct="1">
              <a:lnSpc>
                <a:spcPct val="150000"/>
              </a:lnSpc>
            </a:pPr>
            <a:endParaRPr lang="en-US" altLang="zh-CN" dirty="0"/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若输入为</a:t>
            </a:r>
            <a:r>
              <a:rPr lang="en-US" altLang="zh-CN" dirty="0"/>
              <a:t>3^5#4</a:t>
            </a:r>
            <a:r>
              <a:rPr lang="zh-CN" altLang="en-US" dirty="0"/>
              <a:t>，且采用自底向上的分析方法，请给出输出。</a:t>
            </a:r>
            <a:endParaRPr lang="en-US" altLang="zh-CN" dirty="0"/>
          </a:p>
          <a:p>
            <a:pPr eaLnBrk="1" hangingPunct="1">
              <a:lnSpc>
                <a:spcPct val="150000"/>
              </a:lnSpc>
            </a:pP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/>
              <p:cNvGraphicFramePr>
                <a:graphicFrameLocks noGrp="1"/>
              </p:cNvGraphicFramePr>
              <p:nvPr/>
            </p:nvGraphicFramePr>
            <p:xfrm>
              <a:off x="2639616" y="2132856"/>
              <a:ext cx="7224464" cy="360039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81614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4083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455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/>
                            <a:t>产生式</a:t>
                          </a:r>
                        </a:p>
                      </a:txBody>
                      <a:tcPr anchor="ctr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/>
                            <a:t>语义动作</a:t>
                          </a:r>
                        </a:p>
                      </a:txBody>
                      <a:tcPr anchor="ctr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8192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  <m:sub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^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oMath>
                            </m:oMathPara>
                          </a14:m>
                          <a:endParaRPr lang="zh-CN" altLang="en-US" sz="2400" b="1" i="1" dirty="0"/>
                        </a:p>
                      </a:txBody>
                      <a:tcPr anchor="ctr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𝑬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𝒗𝒂𝒍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  <m:sub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𝒗𝒂𝒍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 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𝒗𝒂𝒍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𝒑𝒓𝒊𝒏𝒕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𝑬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𝒗𝒂𝒍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b="1" i="0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8192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        </m:t>
                                </m:r>
                              </m:oMath>
                            </m:oMathPara>
                          </a14:m>
                          <a:endParaRPr lang="zh-CN" altLang="en-US" sz="2400" b="1" i="1" dirty="0"/>
                        </a:p>
                      </a:txBody>
                      <a:tcPr anchor="ctr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𝑬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𝒗𝒂𝒍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𝒗𝒂𝒍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𝒑𝒓𝒊𝒏𝒕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𝒗𝒂𝒍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b="1" i="0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4551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#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sz="2400" b="1" i="1" dirty="0"/>
                        </a:p>
                      </a:txBody>
                      <a:tcPr anchor="ctr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𝒗𝒂𝒍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𝒗𝒂𝒍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𝒗𝒂𝒍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4551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        </m:t>
                                </m:r>
                              </m:oMath>
                            </m:oMathPara>
                          </a14:m>
                          <a:endParaRPr lang="zh-CN" altLang="en-US" sz="2400" b="1" i="1" dirty="0"/>
                        </a:p>
                      </a:txBody>
                      <a:tcPr anchor="ctr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𝒗𝒂𝒍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𝒗𝒂𝒍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/>
              <p:cNvGraphicFramePr>
                <a:graphicFrameLocks noGrp="1"/>
              </p:cNvGraphicFramePr>
              <p:nvPr/>
            </p:nvGraphicFramePr>
            <p:xfrm>
              <a:off x="2639616" y="2132856"/>
              <a:ext cx="7224464" cy="360039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816147"/>
                    <a:gridCol w="4408317"/>
                  </a:tblGrid>
                  <a:tr h="5455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/>
                            <a:t>产生式</a:t>
                          </a:r>
                          <a:endParaRPr lang="zh-CN" altLang="en-US" sz="2400" b="1" i="0" dirty="0"/>
                        </a:p>
                      </a:txBody>
                      <a:tcPr anchor="ctr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/>
                            <a:t>语义动作</a:t>
                          </a:r>
                          <a:endParaRPr lang="zh-CN" altLang="en-US" sz="2400" b="1" i="0" dirty="0"/>
                        </a:p>
                      </a:txBody>
                      <a:tcPr anchor="ctr">
                        <a:solidFill>
                          <a:srgbClr val="CCCCFF"/>
                        </a:solidFill>
                      </a:tcPr>
                    </a:tc>
                  </a:tr>
                  <a:tr h="98171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</a:tr>
                  <a:tr h="9823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</a:tr>
                  <a:tr h="54546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</a:tr>
                  <a:tr h="54546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7408" y="260648"/>
            <a:ext cx="10657184" cy="6408712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输入为</a:t>
            </a:r>
            <a:r>
              <a:rPr lang="en-US" altLang="zh-CN" dirty="0"/>
              <a:t>3^5#4</a:t>
            </a:r>
          </a:p>
          <a:p>
            <a:pPr eaLnBrk="1" hangingPunct="1">
              <a:lnSpc>
                <a:spcPct val="150000"/>
              </a:lnSpc>
            </a:pPr>
            <a:endParaRPr lang="en-US" altLang="zh-CN" dirty="0"/>
          </a:p>
          <a:p>
            <a:pPr eaLnBrk="1" hangingPunct="1">
              <a:lnSpc>
                <a:spcPct val="150000"/>
              </a:lnSpc>
            </a:pPr>
            <a:endParaRPr lang="en-US" altLang="zh-CN" dirty="0"/>
          </a:p>
          <a:p>
            <a:pPr eaLnBrk="1" hangingPunct="1">
              <a:lnSpc>
                <a:spcPct val="150000"/>
              </a:lnSpc>
            </a:pPr>
            <a:endParaRPr lang="en-US" altLang="zh-CN" dirty="0"/>
          </a:p>
          <a:p>
            <a:pPr eaLnBrk="1" hangingPunct="1">
              <a:lnSpc>
                <a:spcPct val="150000"/>
              </a:lnSpc>
            </a:pPr>
            <a:endParaRPr lang="en-US" altLang="zh-CN" dirty="0"/>
          </a:p>
          <a:p>
            <a:pPr eaLnBrk="1" hangingPunct="1">
              <a:lnSpc>
                <a:spcPct val="150000"/>
              </a:lnSpc>
            </a:pPr>
            <a:endParaRPr lang="en-US" altLang="zh-CN" dirty="0"/>
          </a:p>
          <a:p>
            <a:pPr eaLnBrk="1" hangingPunct="1">
              <a:lnSpc>
                <a:spcPct val="150000"/>
              </a:lnSpc>
            </a:pPr>
            <a:endParaRPr lang="en-US" altLang="zh-CN" dirty="0"/>
          </a:p>
          <a:p>
            <a:pPr eaLnBrk="1" hangingPunct="1">
              <a:lnSpc>
                <a:spcPct val="150000"/>
              </a:lnSpc>
            </a:pPr>
            <a:endParaRPr lang="en-US" altLang="zh-CN" dirty="0"/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输出为：</a:t>
            </a:r>
            <a:r>
              <a:rPr lang="en-US" altLang="zh-CN" dirty="0"/>
              <a:t>327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/>
              <p:cNvGraphicFramePr>
                <a:graphicFrameLocks noGrp="1"/>
              </p:cNvGraphicFramePr>
              <p:nvPr/>
            </p:nvGraphicFramePr>
            <p:xfrm>
              <a:off x="4295800" y="404664"/>
              <a:ext cx="5472608" cy="2590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13326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33934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455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1" i="0" dirty="0"/>
                            <a:t>产生式</a:t>
                          </a:r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1" i="0" dirty="0"/>
                            <a:t>语义动作</a:t>
                          </a:r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2379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𝑬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  <m:sub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^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</m:oMath>
                            </m:oMathPara>
                          </a14:m>
                          <a:endParaRPr lang="zh-CN" altLang="en-US" sz="20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𝑬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𝒗𝒂𝒍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</m:t>
                                </m:r>
                                <m:sSub>
                                  <m:sSub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  <m:sub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altLang="zh-CN" sz="20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𝒗𝒂𝒍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 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𝒗𝒂𝒍</m:t>
                                </m:r>
                              </m:oMath>
                            </m:oMathPara>
                          </a14:m>
                          <a:endParaRPr lang="zh-CN" altLang="en-US" sz="20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𝒑𝒓𝒊𝒏𝒕</m:t>
                                </m:r>
                                <m:r>
                                  <a:rPr lang="en-US" altLang="zh-CN" sz="20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𝑬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𝒗𝒂𝒍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000" b="1" i="0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237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𝑬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    </m:t>
                                </m:r>
                              </m:oMath>
                            </m:oMathPara>
                          </a14:m>
                          <a:endParaRPr lang="zh-CN" altLang="en-US" sz="20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𝑬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𝒗𝒂𝒍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𝒗𝒂𝒍</m:t>
                                </m:r>
                              </m:oMath>
                            </m:oMathPara>
                          </a14:m>
                          <a:endParaRPr lang="zh-CN" altLang="en-US" sz="20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𝒑𝒓𝒊𝒏𝒕</m:t>
                                </m:r>
                                <m:r>
                                  <a:rPr lang="en-US" altLang="zh-CN" sz="20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𝒗𝒂𝒍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000" b="1" i="0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4553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#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sz="20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𝒗𝒂𝒍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</m:t>
                                </m:r>
                                <m:sSub>
                                  <m:sSub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altLang="zh-CN" sz="20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𝒗𝒂𝒍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 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𝒗𝒂𝒍</m:t>
                                </m:r>
                              </m:oMath>
                            </m:oMathPara>
                          </a14:m>
                          <a:endParaRPr lang="zh-CN" altLang="en-US" sz="20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4553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    </m:t>
                                </m:r>
                              </m:oMath>
                            </m:oMathPara>
                          </a14:m>
                          <a:endParaRPr lang="zh-CN" altLang="en-US" sz="20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𝒗𝒂𝒍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𝒗𝒂𝒍</m:t>
                                </m:r>
                              </m:oMath>
                            </m:oMathPara>
                          </a14:m>
                          <a:endParaRPr lang="zh-CN" altLang="en-US" sz="20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/>
              <p:cNvGraphicFramePr>
                <a:graphicFrameLocks noGrp="1"/>
              </p:cNvGraphicFramePr>
              <p:nvPr/>
            </p:nvGraphicFramePr>
            <p:xfrm>
              <a:off x="4295800" y="404664"/>
              <a:ext cx="5472608" cy="2590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133262"/>
                    <a:gridCol w="3339346"/>
                  </a:tblGrid>
                  <a:tr h="2455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1" i="0" dirty="0"/>
                            <a:t>产生式</a:t>
                          </a:r>
                          <a:endParaRPr lang="zh-CN" altLang="en-US" sz="2000" b="1" i="0" dirty="0"/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1" i="0" dirty="0"/>
                            <a:t>语义动作</a:t>
                          </a:r>
                          <a:endParaRPr lang="zh-CN" altLang="en-US" sz="2000" b="1" i="0" dirty="0"/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</a:tr>
                  <a:tr h="7010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7010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2423592" y="3068960"/>
              <a:ext cx="8352928" cy="3200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59508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7578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278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>
                              <a:latin typeface="+mn-lt"/>
                            </a:rPr>
                            <a:t>产生式</a:t>
                          </a:r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>
                              <a:latin typeface="+mn-lt"/>
                            </a:rPr>
                            <a:t>语义动作</a:t>
                          </a:r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3052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400" b="1" i="1" dirty="0" err="1">
                              <a:latin typeface="+mn-lt"/>
                            </a:rPr>
                            <a:t>E0</a:t>
                          </a:r>
                          <a:endParaRPr lang="zh-CN" altLang="en-US" sz="2400" b="1" i="1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1" i="0" kern="1200" dirty="0" err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E0.val</a:t>
                          </a:r>
                          <a:r>
                            <a:rPr lang="en-US" altLang="zh-CN" sz="2400" b="1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 = </a:t>
                          </a:r>
                          <a:r>
                            <a:rPr lang="en-US" altLang="zh-CN" sz="2400" b="1" i="0" kern="1200" dirty="0" err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E1.val</a:t>
                          </a:r>
                          <a:r>
                            <a:rPr lang="en-US" altLang="zh-CN" sz="2400" b="1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 * </a:t>
                          </a:r>
                          <a:r>
                            <a:rPr lang="en-US" altLang="zh-CN" sz="2400" b="1" i="0" kern="1200" dirty="0" err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T0.val</a:t>
                          </a:r>
                          <a:r>
                            <a:rPr lang="en-US" altLang="zh-CN" sz="2400" b="1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 = 27</a:t>
                          </a:r>
                          <a:r>
                            <a:rPr lang="zh-CN" altLang="en-US" sz="2400" b="1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；</a:t>
                          </a:r>
                          <a:r>
                            <a:rPr lang="en-US" altLang="zh-CN" sz="2400" b="1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print(27)</a:t>
                          </a:r>
                          <a:endParaRPr lang="zh-CN" altLang="en-US" sz="2400" b="1" i="0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82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</a:rPr>
                                  <m:t>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^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      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1" i="0" kern="1200" dirty="0" err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T0.val</a:t>
                          </a:r>
                          <a:r>
                            <a:rPr lang="en-US" altLang="zh-CN" sz="2400" b="1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 = </a:t>
                          </a:r>
                          <a:r>
                            <a:rPr lang="en-US" altLang="zh-CN" sz="2400" b="1" i="0" kern="1200" dirty="0" err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T1.val</a:t>
                          </a:r>
                          <a:r>
                            <a:rPr lang="en-US" altLang="zh-CN" sz="2400" b="1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 + </a:t>
                          </a:r>
                          <a:r>
                            <a:rPr lang="en-US" altLang="zh-CN" sz="2400" b="1" i="0" kern="1200" dirty="0" err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n.val</a:t>
                          </a:r>
                          <a:r>
                            <a:rPr lang="en-US" altLang="zh-CN" sz="2400" b="1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 = 9</a:t>
                          </a:r>
                          <a:endParaRPr lang="zh-CN" altLang="en-US" sz="2400" b="1" i="0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2782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</a:rPr>
                                  <m:t>⇒</m:t>
                                </m:r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</a:rPr>
                                  <m:t>^</m:t>
                                </m:r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</a:rPr>
                                  <m:t>#</m:t>
                                </m:r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400" b="1" i="0" kern="1200" dirty="0" err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T1.val</a:t>
                          </a:r>
                          <a:r>
                            <a:rPr lang="en-US" altLang="zh-CN" sz="2400" b="1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 = 5</a:t>
                          </a:r>
                          <a:endParaRPr lang="zh-CN" altLang="en-US" sz="2400" b="1" i="0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3052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</a:rPr>
                                  <m:t>⇒</m:t>
                                </m:r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</a:rPr>
                                  <m:t>^</m:t>
                                </m:r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</a:rPr>
                                  <m:t>#</m:t>
                                </m:r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400" b="1" i="0" kern="1200" dirty="0" err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E1.val</a:t>
                          </a:r>
                          <a:r>
                            <a:rPr lang="en-US" altLang="zh-CN" sz="2400" b="1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 = </a:t>
                          </a:r>
                          <a:r>
                            <a:rPr lang="en-US" altLang="zh-CN" sz="2400" b="1" i="0" kern="1200" dirty="0" err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T2.val</a:t>
                          </a:r>
                          <a:r>
                            <a:rPr lang="en-US" altLang="zh-CN" sz="2400" b="1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 = 3</a:t>
                          </a:r>
                          <a:r>
                            <a:rPr lang="zh-CN" altLang="en-US" sz="2400" b="1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；</a:t>
                          </a:r>
                          <a:r>
                            <a:rPr lang="en-US" altLang="zh-CN" sz="2400" b="1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print(3)</a:t>
                          </a:r>
                          <a:endParaRPr lang="zh-CN" altLang="en-US" sz="2400" b="1" i="0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2782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</a:rPr>
                                  <m:t>⇒</m:t>
                                </m:r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</a:rPr>
                                  <m:t>^</m:t>
                                </m:r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</a:rPr>
                                  <m:t>#</m:t>
                                </m:r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1" i="0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T2.val</a:t>
                          </a:r>
                          <a:r>
                            <a:rPr lang="en-US" altLang="zh-CN" sz="2400" b="1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= 3</a:t>
                          </a:r>
                          <a:endParaRPr lang="zh-CN" altLang="en-US" sz="24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2782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</a:rPr>
                                  <m:t>⇒</m:t>
                                </m:r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</a:rPr>
                                  <m:t>^</m:t>
                                </m:r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</a:rPr>
                                  <m:t>#</m:t>
                                </m:r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="1" i="1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2423592" y="3068960"/>
              <a:ext cx="8352928" cy="3200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595084"/>
                    <a:gridCol w="5757844"/>
                  </a:tblGrid>
                  <a:tr h="2278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>
                              <a:latin typeface="+mn-lt"/>
                            </a:rPr>
                            <a:t>产生式</a:t>
                          </a:r>
                          <a:endParaRPr lang="zh-CN" altLang="en-US" sz="2400" b="1" i="0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>
                              <a:latin typeface="+mn-lt"/>
                            </a:rPr>
                            <a:t>语义动作</a:t>
                          </a:r>
                          <a:endParaRPr lang="zh-CN" altLang="en-US" sz="2400" b="1" i="0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</a:tr>
                  <a:tr h="33052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400" b="1" i="1" dirty="0" err="1">
                              <a:latin typeface="+mn-lt"/>
                            </a:rPr>
                            <a:t>E0</a:t>
                          </a:r>
                          <a:endParaRPr lang="zh-CN" altLang="en-US" sz="2400" b="1" i="1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1" i="0" kern="1200" dirty="0" err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E0.val</a:t>
                          </a:r>
                          <a:r>
                            <a:rPr lang="en-US" altLang="zh-CN" sz="2400" b="1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 = </a:t>
                          </a:r>
                          <a:r>
                            <a:rPr lang="en-US" altLang="zh-CN" sz="2400" b="1" i="0" kern="1200" dirty="0" err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E1.val</a:t>
                          </a:r>
                          <a:r>
                            <a:rPr lang="en-US" altLang="zh-CN" sz="2400" b="1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 * </a:t>
                          </a:r>
                          <a:r>
                            <a:rPr lang="en-US" altLang="zh-CN" sz="2400" b="1" i="0" kern="1200" dirty="0" err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T0.val</a:t>
                          </a:r>
                          <a:r>
                            <a:rPr lang="en-US" altLang="zh-CN" sz="2400" b="1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 = 27</a:t>
                          </a:r>
                          <a:r>
                            <a:rPr lang="zh-CN" altLang="en-US" sz="2400" b="1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；</a:t>
                          </a:r>
                          <a:r>
                            <a:rPr lang="en-US" altLang="zh-CN" sz="2400" b="1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print(27)</a:t>
                          </a:r>
                          <a:endParaRPr lang="zh-CN" altLang="en-US" sz="2400" b="1" i="0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1" i="0" kern="1200" dirty="0" err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T0.val</a:t>
                          </a:r>
                          <a:r>
                            <a:rPr lang="en-US" altLang="zh-CN" sz="2400" b="1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 = </a:t>
                          </a:r>
                          <a:r>
                            <a:rPr lang="en-US" altLang="zh-CN" sz="2400" b="1" i="0" kern="1200" dirty="0" err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T1.val</a:t>
                          </a:r>
                          <a:r>
                            <a:rPr lang="en-US" altLang="zh-CN" sz="2400" b="1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 + </a:t>
                          </a:r>
                          <a:r>
                            <a:rPr lang="en-US" altLang="zh-CN" sz="2400" b="1" i="0" kern="1200" dirty="0" err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n.val</a:t>
                          </a:r>
                          <a:r>
                            <a:rPr lang="en-US" altLang="zh-CN" sz="2400" b="1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 = 9</a:t>
                          </a:r>
                          <a:endParaRPr lang="zh-CN" altLang="en-US" sz="2400" b="1" i="0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400" b="1" i="0" kern="1200" dirty="0" err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T1.val</a:t>
                          </a:r>
                          <a:r>
                            <a:rPr lang="en-US" altLang="zh-CN" sz="2400" b="1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 = 5</a:t>
                          </a:r>
                          <a:endParaRPr lang="zh-CN" altLang="en-US" sz="2400" b="1" i="0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400" b="1" i="0" kern="1200" dirty="0" err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E1.val</a:t>
                          </a:r>
                          <a:r>
                            <a:rPr lang="en-US" altLang="zh-CN" sz="2400" b="1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 = </a:t>
                          </a:r>
                          <a:r>
                            <a:rPr lang="en-US" altLang="zh-CN" sz="2400" b="1" i="0" kern="1200" dirty="0" err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T2.val</a:t>
                          </a:r>
                          <a:r>
                            <a:rPr lang="en-US" altLang="zh-CN" sz="2400" b="1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 = 3</a:t>
                          </a:r>
                          <a:r>
                            <a:rPr lang="zh-CN" altLang="en-US" sz="2400" b="1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；</a:t>
                          </a:r>
                          <a:r>
                            <a:rPr lang="en-US" altLang="zh-CN" sz="2400" b="1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print(3)</a:t>
                          </a:r>
                          <a:endParaRPr lang="zh-CN" altLang="en-US" sz="2400" b="1" i="0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1" i="0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T2.val</a:t>
                          </a:r>
                          <a:r>
                            <a:rPr lang="en-US" altLang="zh-CN" sz="2400" b="1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= 3</a:t>
                          </a:r>
                          <a:endParaRPr lang="zh-CN" altLang="en-US" sz="24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="1" i="1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dirty="0"/>
              <a:t>文法</a:t>
            </a:r>
            <a:r>
              <a:rPr lang="en-US" altLang="zh-CN" dirty="0"/>
              <a:t>G</a:t>
            </a:r>
            <a:r>
              <a:rPr lang="zh-CN" altLang="zh-CN" dirty="0"/>
              <a:t>的产生式如下：</a:t>
            </a:r>
          </a:p>
          <a:p>
            <a:pPr marL="800100" lvl="2" indent="0">
              <a:lnSpc>
                <a:spcPct val="150000"/>
              </a:lnSpc>
              <a:buNone/>
            </a:pPr>
            <a:r>
              <a:rPr lang="en-US" altLang="zh-CN" dirty="0"/>
              <a:t>              S </a:t>
            </a:r>
            <a:r>
              <a:rPr lang="zh-CN" altLang="zh-CN" dirty="0"/>
              <a:t>→</a:t>
            </a:r>
            <a:r>
              <a:rPr lang="en-US" altLang="zh-CN" dirty="0"/>
              <a:t> (L) | a</a:t>
            </a:r>
            <a:endParaRPr lang="zh-CN" altLang="zh-CN" dirty="0"/>
          </a:p>
          <a:p>
            <a:pPr marL="800100" lvl="2" indent="0">
              <a:lnSpc>
                <a:spcPct val="150000"/>
              </a:lnSpc>
              <a:buNone/>
            </a:pPr>
            <a:r>
              <a:rPr lang="en-US" altLang="zh-CN" dirty="0"/>
              <a:t>              L </a:t>
            </a:r>
            <a:r>
              <a:rPr lang="zh-CN" altLang="zh-CN" dirty="0"/>
              <a:t>→</a:t>
            </a:r>
            <a:r>
              <a:rPr lang="en-US" altLang="zh-CN" dirty="0"/>
              <a:t> L , S | S</a:t>
            </a:r>
            <a:endParaRPr lang="zh-CN" altLang="zh-CN" dirty="0"/>
          </a:p>
          <a:p>
            <a:pPr lvl="1">
              <a:lnSpc>
                <a:spcPct val="150000"/>
              </a:lnSpc>
            </a:pPr>
            <a:r>
              <a:rPr lang="zh-CN" altLang="zh-CN" dirty="0"/>
              <a:t>试写出一个语法制导定义，它输出配对括号个数</a:t>
            </a:r>
            <a:endParaRPr lang="en-US" altLang="zh-CN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sz="2400" dirty="0"/>
              <a:t>文法</a:t>
            </a:r>
            <a:r>
              <a:rPr lang="en-US" altLang="zh-CN" sz="2400" dirty="0"/>
              <a:t>G</a:t>
            </a:r>
            <a:r>
              <a:rPr lang="zh-CN" altLang="zh-CN" sz="2400" dirty="0"/>
              <a:t>的产生式如下：</a:t>
            </a:r>
          </a:p>
          <a:p>
            <a:pPr marL="800100" lvl="2" indent="0">
              <a:buNone/>
            </a:pPr>
            <a:r>
              <a:rPr lang="en-US" altLang="zh-CN" sz="2400" dirty="0"/>
              <a:t>              S </a:t>
            </a:r>
            <a:r>
              <a:rPr lang="zh-CN" altLang="zh-CN" sz="2400" dirty="0"/>
              <a:t>→</a:t>
            </a:r>
            <a:r>
              <a:rPr lang="en-US" altLang="zh-CN" sz="2400" dirty="0"/>
              <a:t> (L) | a</a:t>
            </a:r>
            <a:endParaRPr lang="zh-CN" altLang="zh-CN" sz="2400" dirty="0"/>
          </a:p>
          <a:p>
            <a:pPr marL="800100" lvl="2" indent="0">
              <a:buNone/>
            </a:pPr>
            <a:r>
              <a:rPr lang="en-US" altLang="zh-CN" sz="2400" dirty="0"/>
              <a:t>              L </a:t>
            </a:r>
            <a:r>
              <a:rPr lang="zh-CN" altLang="zh-CN" sz="2400" dirty="0"/>
              <a:t>→</a:t>
            </a:r>
            <a:r>
              <a:rPr lang="en-US" altLang="zh-CN" sz="2400" dirty="0"/>
              <a:t> L , S | S</a:t>
            </a:r>
          </a:p>
          <a:p>
            <a:r>
              <a:rPr lang="zh-CN" altLang="en-US" sz="2400" dirty="0"/>
              <a:t>为</a:t>
            </a:r>
            <a:r>
              <a:rPr lang="en-US" altLang="zh-CN" sz="2400" dirty="0"/>
              <a:t>S</a:t>
            </a:r>
            <a:r>
              <a:rPr lang="zh-CN" altLang="en-US" sz="2400" dirty="0"/>
              <a:t>和</a:t>
            </a:r>
            <a:r>
              <a:rPr lang="en-US" altLang="zh-CN" sz="2400" dirty="0"/>
              <a:t>L</a:t>
            </a:r>
            <a:r>
              <a:rPr lang="zh-CN" altLang="en-US" sz="2400" dirty="0"/>
              <a:t>添加属性</a:t>
            </a:r>
            <a:r>
              <a:rPr lang="en-US" altLang="zh-CN" sz="2400" dirty="0"/>
              <a:t>c</a:t>
            </a:r>
            <a:r>
              <a:rPr lang="zh-CN" altLang="en-US" sz="2400" dirty="0"/>
              <a:t>来记录当前括号对的数量。</a:t>
            </a:r>
            <a:endParaRPr lang="zh-CN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/>
              <p:cNvGraphicFramePr>
                <a:graphicFrameLocks noGrp="1"/>
              </p:cNvGraphicFramePr>
              <p:nvPr/>
            </p:nvGraphicFramePr>
            <p:xfrm>
              <a:off x="2135560" y="3429000"/>
              <a:ext cx="8064896" cy="2743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14375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92114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455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/>
                            <a:t>产生式</a:t>
                          </a:r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/>
                            <a:t>语义动作</a:t>
                          </a:r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2379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𝒑𝒓𝒊𝒏𝒕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2379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→(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zh-CN" altLang="en-US" sz="24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237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 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zh-CN" altLang="en-US" sz="2400" b="1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4553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 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𝒄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4553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 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𝒄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/>
              <p:cNvGraphicFramePr>
                <a:graphicFrameLocks noGrp="1"/>
              </p:cNvGraphicFramePr>
              <p:nvPr/>
            </p:nvGraphicFramePr>
            <p:xfrm>
              <a:off x="2135560" y="3429000"/>
              <a:ext cx="8064896" cy="2743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143755"/>
                    <a:gridCol w="4921141"/>
                  </a:tblGrid>
                  <a:tr h="2455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/>
                            <a:t>产生式</a:t>
                          </a:r>
                          <a:endParaRPr lang="zh-CN" altLang="en-US" sz="2400" b="1" i="0" dirty="0"/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/>
                            <a:t>语义动作</a:t>
                          </a:r>
                          <a:endParaRPr lang="zh-CN" altLang="en-US" sz="2400" b="1" i="0" dirty="0"/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9376" y="404664"/>
            <a:ext cx="11377264" cy="6264696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400" dirty="0"/>
              <a:t>输入为</a:t>
            </a:r>
            <a:r>
              <a:rPr lang="en-US" altLang="zh-CN" sz="2400" dirty="0"/>
              <a:t>((a),a)</a:t>
            </a:r>
            <a:r>
              <a:rPr lang="zh-CN" altLang="en-US" sz="2400" dirty="0"/>
              <a:t>，采用自下而上的分析方法，对应最右推导</a:t>
            </a:r>
            <a:endParaRPr lang="en-US" altLang="zh-CN" sz="2400" dirty="0"/>
          </a:p>
          <a:p>
            <a:pPr eaLnBrk="1" hangingPunct="1">
              <a:lnSpc>
                <a:spcPct val="150000"/>
              </a:lnSpc>
            </a:pPr>
            <a:endParaRPr lang="en-US" altLang="zh-CN" sz="2400" dirty="0"/>
          </a:p>
          <a:p>
            <a:pPr eaLnBrk="1" hangingPunct="1">
              <a:lnSpc>
                <a:spcPct val="150000"/>
              </a:lnSpc>
            </a:pPr>
            <a:endParaRPr lang="en-US" altLang="zh-CN" sz="2400" dirty="0"/>
          </a:p>
          <a:p>
            <a:pPr eaLnBrk="1" hangingPunct="1">
              <a:lnSpc>
                <a:spcPct val="150000"/>
              </a:lnSpc>
            </a:pPr>
            <a:endParaRPr lang="en-US" altLang="zh-CN" sz="2400" dirty="0"/>
          </a:p>
          <a:p>
            <a:pPr eaLnBrk="1" hangingPunct="1">
              <a:lnSpc>
                <a:spcPct val="150000"/>
              </a:lnSpc>
            </a:pPr>
            <a:endParaRPr lang="en-US" altLang="zh-CN" sz="2400" dirty="0"/>
          </a:p>
          <a:p>
            <a:pPr eaLnBrk="1" hangingPunct="1">
              <a:lnSpc>
                <a:spcPct val="150000"/>
              </a:lnSpc>
            </a:pPr>
            <a:endParaRPr lang="en-US" altLang="zh-CN" sz="2400" dirty="0"/>
          </a:p>
          <a:p>
            <a:pPr eaLnBrk="1" hangingPunct="1">
              <a:lnSpc>
                <a:spcPct val="150000"/>
              </a:lnSpc>
            </a:pPr>
            <a:endParaRPr lang="en-US" altLang="zh-CN" sz="2400" dirty="0"/>
          </a:p>
          <a:p>
            <a:pPr eaLnBrk="1" hangingPunct="1">
              <a:lnSpc>
                <a:spcPct val="150000"/>
              </a:lnSpc>
            </a:pPr>
            <a:endParaRPr lang="en-US" altLang="zh-CN" sz="2400" dirty="0"/>
          </a:p>
          <a:p>
            <a:pPr eaLnBrk="1" hangingPunct="1">
              <a:lnSpc>
                <a:spcPct val="150000"/>
              </a:lnSpc>
            </a:pP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5087888" y="1412776"/>
              <a:ext cx="6480720" cy="460095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1342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46729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600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>
                              <a:latin typeface="+mn-lt"/>
                            </a:rPr>
                            <a:t>产生式</a:t>
                          </a:r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>
                              <a:latin typeface="+mn-lt"/>
                            </a:rPr>
                            <a:t>语义动作</a:t>
                          </a:r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0095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400" b="1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S’</a:t>
                          </a:r>
                          <a:endParaRPr lang="zh-CN" altLang="en-US" sz="2400" b="1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𝒑𝒓𝒊𝒏𝒕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6009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⇒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𝑺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𝟎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     </m:t>
                                </m:r>
                              </m:oMath>
                            </m:oMathPara>
                          </a14:m>
                          <a:endParaRPr lang="zh-CN" altLang="en-US" sz="24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𝑺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𝟎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𝒄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= 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𝑳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𝟎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𝒄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+ 1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= 2</m:t>
                                </m:r>
                              </m:oMath>
                            </m:oMathPara>
                          </a14:m>
                          <a:endParaRPr lang="zh-CN" altLang="en-US" sz="2400" b="1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6009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⇒(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𝑳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𝟎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𝑳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𝟎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𝒄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𝑳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𝟏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𝒄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𝑺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𝟏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𝒄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= 1</m:t>
                                </m:r>
                              </m:oMath>
                            </m:oMathPara>
                          </a14:m>
                          <a:endParaRPr lang="zh-CN" altLang="en-US" sz="2400" b="1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6009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⇒(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𝑳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𝟏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, 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𝑺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𝟏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𝑺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𝟏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𝒄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=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zh-CN" altLang="en-US" sz="24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6009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⇒(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𝑳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𝟏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,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𝒂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𝑳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𝟏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𝒄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𝑺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𝟐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𝒄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2400" b="1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6009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⇒(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𝑺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𝟐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,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𝒂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𝑺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𝟐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𝒄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=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𝑳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𝟐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𝒄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+1 = 1</m:t>
                                </m:r>
                              </m:oMath>
                            </m:oMathPara>
                          </a14:m>
                          <a:endParaRPr lang="zh-CN" altLang="en-US" sz="2400" b="1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6009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⇒((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𝑳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𝟐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),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𝒂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𝑳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𝟐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𝒄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𝑺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𝟑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𝒄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=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zh-CN" altLang="en-US" sz="24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6009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⇒((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𝑺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𝟑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),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𝒂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𝑺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𝟑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𝒄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=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zh-CN" altLang="en-US" sz="24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46009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⇒((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sz="2400" b="1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),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sz="2400" b="1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en-US" sz="24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5087888" y="1412776"/>
              <a:ext cx="6480720" cy="460095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13427"/>
                    <a:gridCol w="4467293"/>
                  </a:tblGrid>
                  <a:tr h="4600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>
                              <a:latin typeface="+mn-lt"/>
                            </a:rPr>
                            <a:t>产生式</a:t>
                          </a:r>
                          <a:endParaRPr lang="zh-CN" altLang="en-US" sz="2400" b="1" i="0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>
                              <a:latin typeface="+mn-lt"/>
                            </a:rPr>
                            <a:t>语义动作</a:t>
                          </a:r>
                          <a:endParaRPr lang="zh-CN" altLang="en-US" sz="2400" b="1" i="0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</a:tr>
                  <a:tr h="4597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400" b="1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S’</a:t>
                          </a:r>
                          <a:endParaRPr lang="zh-CN" altLang="en-US" sz="2400" b="1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46037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4597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46037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4597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46037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4597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46037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46037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en-US" sz="24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/>
              <p:cNvGraphicFramePr>
                <a:graphicFrameLocks noGrp="1"/>
              </p:cNvGraphicFramePr>
              <p:nvPr/>
            </p:nvGraphicFramePr>
            <p:xfrm>
              <a:off x="623392" y="1628800"/>
              <a:ext cx="4176464" cy="30087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2801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4844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884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/>
                            <a:t>产生式</a:t>
                          </a:r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/>
                            <a:t>语义动作</a:t>
                          </a:r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884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𝒑𝒓𝒊𝒏𝒕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884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→(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884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zh-CN" altLang="en-US" sz="2400" b="1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6652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 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 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𝒄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884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𝒄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/>
              <p:cNvGraphicFramePr>
                <a:graphicFrameLocks noGrp="1"/>
              </p:cNvGraphicFramePr>
              <p:nvPr/>
            </p:nvGraphicFramePr>
            <p:xfrm>
              <a:off x="623392" y="1628800"/>
              <a:ext cx="4176464" cy="30087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28015"/>
                    <a:gridCol w="2548449"/>
                  </a:tblGrid>
                  <a:tr h="4884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/>
                            <a:t>产生式</a:t>
                          </a:r>
                          <a:endParaRPr lang="zh-CN" altLang="en-US" sz="2400" b="1" i="0" dirty="0"/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/>
                            <a:t>语义动作</a:t>
                          </a:r>
                          <a:endParaRPr lang="zh-CN" altLang="en-US" sz="2400" b="1" i="0" dirty="0"/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</a:tr>
                  <a:tr h="48831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</a:tr>
                  <a:tr h="48895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</a:tr>
                  <a:tr h="48831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</a:tr>
                  <a:tr h="5664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</a:tr>
                  <a:tr h="48831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sz="2400" dirty="0"/>
              <a:t>文法</a:t>
            </a:r>
            <a:r>
              <a:rPr lang="en-US" altLang="zh-CN" sz="2400" dirty="0"/>
              <a:t>G</a:t>
            </a:r>
            <a:r>
              <a:rPr lang="zh-CN" altLang="zh-CN" sz="2400" dirty="0"/>
              <a:t>的产生式如下：</a:t>
            </a:r>
          </a:p>
          <a:p>
            <a:pPr marL="800100" lvl="2" indent="0">
              <a:lnSpc>
                <a:spcPct val="150000"/>
              </a:lnSpc>
              <a:buNone/>
            </a:pPr>
            <a:r>
              <a:rPr lang="en-US" altLang="zh-CN" sz="2400" dirty="0"/>
              <a:t>              S </a:t>
            </a:r>
            <a:r>
              <a:rPr lang="zh-CN" altLang="zh-CN" sz="2400" dirty="0"/>
              <a:t>→</a:t>
            </a:r>
            <a:r>
              <a:rPr lang="en-US" altLang="zh-CN" sz="2400" dirty="0"/>
              <a:t> (L) | a</a:t>
            </a:r>
            <a:endParaRPr lang="zh-CN" altLang="zh-CN" sz="2400" dirty="0"/>
          </a:p>
          <a:p>
            <a:pPr marL="800100" lvl="2" indent="0">
              <a:lnSpc>
                <a:spcPct val="150000"/>
              </a:lnSpc>
              <a:buNone/>
            </a:pPr>
            <a:r>
              <a:rPr lang="en-US" altLang="zh-CN" sz="2400" dirty="0"/>
              <a:t>              L </a:t>
            </a:r>
            <a:r>
              <a:rPr lang="zh-CN" altLang="zh-CN" sz="2400" dirty="0"/>
              <a:t>→</a:t>
            </a:r>
            <a:r>
              <a:rPr lang="en-US" altLang="zh-CN" sz="2400" dirty="0"/>
              <a:t> L , S | S</a:t>
            </a:r>
            <a:endParaRPr lang="zh-CN" altLang="zh-CN" sz="2400" dirty="0"/>
          </a:p>
          <a:p>
            <a:pPr lvl="1">
              <a:lnSpc>
                <a:spcPct val="150000"/>
              </a:lnSpc>
            </a:pPr>
            <a:r>
              <a:rPr lang="zh-CN" altLang="zh-CN" sz="2400" dirty="0"/>
              <a:t>试写出一个语法制导定义，打印每个</a:t>
            </a:r>
            <a:r>
              <a:rPr lang="en-US" altLang="zh-CN" sz="2400" dirty="0"/>
              <a:t>a</a:t>
            </a:r>
            <a:r>
              <a:rPr lang="zh-CN" altLang="zh-CN" sz="2400" dirty="0"/>
              <a:t>的嵌套深度。如</a:t>
            </a:r>
            <a:r>
              <a:rPr lang="en-US" altLang="zh-CN" sz="2400" dirty="0"/>
              <a:t>((a),a)</a:t>
            </a:r>
            <a:r>
              <a:rPr lang="zh-CN" altLang="zh-CN" sz="2400" dirty="0"/>
              <a:t>打印</a:t>
            </a:r>
            <a:r>
              <a:rPr lang="en-US" altLang="zh-CN" sz="2400" dirty="0"/>
              <a:t>2 1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sz="2400" dirty="0"/>
              <a:t>文法</a:t>
            </a:r>
            <a:r>
              <a:rPr lang="en-US" altLang="zh-CN" sz="2400" dirty="0"/>
              <a:t>G</a:t>
            </a:r>
            <a:r>
              <a:rPr lang="zh-CN" altLang="zh-CN" sz="2400" dirty="0"/>
              <a:t>的产生式如下：</a:t>
            </a:r>
          </a:p>
          <a:p>
            <a:pPr marL="800100" lvl="2" indent="0">
              <a:buNone/>
            </a:pPr>
            <a:r>
              <a:rPr lang="en-US" altLang="zh-CN" sz="2400" dirty="0"/>
              <a:t>              S </a:t>
            </a:r>
            <a:r>
              <a:rPr lang="zh-CN" altLang="zh-CN" sz="2400" dirty="0"/>
              <a:t>→</a:t>
            </a:r>
            <a:r>
              <a:rPr lang="en-US" altLang="zh-CN" sz="2400" dirty="0"/>
              <a:t> (L) | a</a:t>
            </a:r>
            <a:endParaRPr lang="zh-CN" altLang="zh-CN" sz="2400" dirty="0"/>
          </a:p>
          <a:p>
            <a:pPr marL="800100" lvl="2" indent="0">
              <a:buNone/>
            </a:pPr>
            <a:r>
              <a:rPr lang="en-US" altLang="zh-CN" sz="2400" dirty="0"/>
              <a:t>              L </a:t>
            </a:r>
            <a:r>
              <a:rPr lang="zh-CN" altLang="zh-CN" sz="2400" dirty="0"/>
              <a:t>→</a:t>
            </a:r>
            <a:r>
              <a:rPr lang="en-US" altLang="zh-CN" sz="2400" dirty="0"/>
              <a:t> L , S | S</a:t>
            </a:r>
          </a:p>
          <a:p>
            <a:r>
              <a:rPr lang="zh-CN" altLang="en-US" sz="2400" dirty="0"/>
              <a:t>为</a:t>
            </a:r>
            <a:r>
              <a:rPr lang="en-US" altLang="zh-CN" sz="2400" dirty="0"/>
              <a:t>S</a:t>
            </a:r>
            <a:r>
              <a:rPr lang="zh-CN" altLang="en-US" sz="2400" dirty="0"/>
              <a:t>和</a:t>
            </a:r>
            <a:r>
              <a:rPr lang="en-US" altLang="zh-CN" sz="2400" dirty="0"/>
              <a:t>L</a:t>
            </a:r>
            <a:r>
              <a:rPr lang="zh-CN" altLang="en-US" sz="2400" dirty="0"/>
              <a:t>添加属性</a:t>
            </a:r>
            <a:r>
              <a:rPr lang="en-US" altLang="zh-CN" sz="2400" dirty="0"/>
              <a:t>d</a:t>
            </a:r>
            <a:r>
              <a:rPr lang="zh-CN" altLang="en-US" sz="2400" dirty="0"/>
              <a:t>来记录当前嵌套的深度。</a:t>
            </a:r>
            <a:endParaRPr lang="zh-CN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/>
              <p:cNvGraphicFramePr>
                <a:graphicFrameLocks noGrp="1"/>
              </p:cNvGraphicFramePr>
              <p:nvPr/>
            </p:nvGraphicFramePr>
            <p:xfrm>
              <a:off x="2351584" y="3540117"/>
              <a:ext cx="8064896" cy="2743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74549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1939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455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/>
                            <a:t>产生式</a:t>
                          </a:r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/>
                            <a:t>语义动作</a:t>
                          </a:r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2379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′→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zh-CN" altLang="en-US" sz="2400" b="1" i="1" dirty="0"/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altLang="en-US" sz="24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2379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→(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b="1" i="1" dirty="0"/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237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</m:oMath>
                            </m:oMathPara>
                          </a14:m>
                          <a:endParaRPr lang="zh-CN" altLang="en-US" sz="2400" b="1" i="1" dirty="0"/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𝒑𝒓𝒊𝒏𝒕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4553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zh-CN" altLang="en-US" sz="2400" b="1" i="1" dirty="0"/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     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4553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</m:oMath>
                            </m:oMathPara>
                          </a14:m>
                          <a:endParaRPr lang="zh-CN" altLang="en-US" sz="2400" b="1" i="1" dirty="0"/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/>
              <p:cNvGraphicFramePr>
                <a:graphicFrameLocks noGrp="1"/>
              </p:cNvGraphicFramePr>
              <p:nvPr/>
            </p:nvGraphicFramePr>
            <p:xfrm>
              <a:off x="2351584" y="3540117"/>
              <a:ext cx="8064896" cy="2743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745497"/>
                    <a:gridCol w="5319399"/>
                  </a:tblGrid>
                  <a:tr h="2455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/>
                            <a:t>产生式</a:t>
                          </a:r>
                          <a:endParaRPr lang="zh-CN" altLang="en-US" sz="2400" b="1" i="0" dirty="0"/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/>
                            <a:t>语义动作</a:t>
                          </a:r>
                          <a:endParaRPr lang="zh-CN" altLang="en-US" sz="2400" b="1" i="0" dirty="0"/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9376" y="260648"/>
            <a:ext cx="11377264" cy="6408712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400" dirty="0"/>
              <a:t>输入为</a:t>
            </a:r>
            <a:r>
              <a:rPr lang="en-US" altLang="zh-CN" sz="2400" dirty="0"/>
              <a:t>((a),a)</a:t>
            </a:r>
            <a:r>
              <a:rPr lang="zh-CN" altLang="en-US" sz="2400" dirty="0"/>
              <a:t>，采用自上而下的分析方法</a:t>
            </a:r>
            <a:endParaRPr lang="en-US" altLang="zh-CN" sz="2400" dirty="0"/>
          </a:p>
          <a:p>
            <a:pPr eaLnBrk="1" hangingPunct="1">
              <a:lnSpc>
                <a:spcPct val="150000"/>
              </a:lnSpc>
            </a:pPr>
            <a:endParaRPr lang="en-US" altLang="zh-CN" sz="2400" dirty="0"/>
          </a:p>
          <a:p>
            <a:pPr eaLnBrk="1" hangingPunct="1">
              <a:lnSpc>
                <a:spcPct val="150000"/>
              </a:lnSpc>
            </a:pPr>
            <a:endParaRPr lang="en-US" altLang="zh-CN" sz="2400" dirty="0"/>
          </a:p>
          <a:p>
            <a:pPr eaLnBrk="1" hangingPunct="1">
              <a:lnSpc>
                <a:spcPct val="150000"/>
              </a:lnSpc>
            </a:pPr>
            <a:endParaRPr lang="en-US" altLang="zh-CN" sz="2400" dirty="0"/>
          </a:p>
          <a:p>
            <a:pPr eaLnBrk="1" hangingPunct="1">
              <a:lnSpc>
                <a:spcPct val="150000"/>
              </a:lnSpc>
            </a:pPr>
            <a:endParaRPr lang="en-US" altLang="zh-CN" sz="2400" dirty="0"/>
          </a:p>
          <a:p>
            <a:pPr eaLnBrk="1" hangingPunct="1">
              <a:lnSpc>
                <a:spcPct val="150000"/>
              </a:lnSpc>
            </a:pPr>
            <a:endParaRPr lang="en-US" altLang="zh-CN" sz="2400" dirty="0"/>
          </a:p>
          <a:p>
            <a:pPr eaLnBrk="1" hangingPunct="1">
              <a:lnSpc>
                <a:spcPct val="150000"/>
              </a:lnSpc>
            </a:pPr>
            <a:endParaRPr lang="en-US" altLang="zh-CN" sz="2400" dirty="0"/>
          </a:p>
          <a:p>
            <a:pPr eaLnBrk="1" hangingPunct="1">
              <a:lnSpc>
                <a:spcPct val="150000"/>
              </a:lnSpc>
            </a:pPr>
            <a:endParaRPr lang="en-US" altLang="zh-CN" sz="2400" dirty="0"/>
          </a:p>
          <a:p>
            <a:pPr eaLnBrk="1" hangingPunct="1">
              <a:lnSpc>
                <a:spcPct val="150000"/>
              </a:lnSpc>
            </a:pP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5015880" y="1124744"/>
              <a:ext cx="6480720" cy="460095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1342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46729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600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>
                              <a:latin typeface="+mn-lt"/>
                            </a:rPr>
                            <a:t>产生式</a:t>
                          </a:r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>
                              <a:latin typeface="+mn-lt"/>
                            </a:rPr>
                            <a:t>语义动作</a:t>
                          </a:r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0095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400" b="1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S’</a:t>
                          </a:r>
                          <a:endParaRPr lang="zh-CN" altLang="en-US" sz="2400" b="1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6009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⇒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𝑺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𝟎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     </m:t>
                                </m:r>
                              </m:oMath>
                            </m:oMathPara>
                          </a14:m>
                          <a:endParaRPr lang="zh-CN" altLang="en-US" sz="24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0</m:t>
                                </m:r>
                              </m:oMath>
                            </m:oMathPara>
                          </a14:m>
                          <a:endParaRPr lang="zh-CN" altLang="en-US" sz="2400" b="1" i="0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6009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⇒(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𝑳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𝟎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+1 = 1</m:t>
                                </m:r>
                              </m:oMath>
                            </m:oMathPara>
                          </a14:m>
                          <a:endParaRPr lang="zh-CN" altLang="en-US" sz="2400" b="1" i="0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6009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⇒(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𝑳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𝟏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, 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𝑺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𝟏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zh-CN" altLang="en-US" sz="2400" b="1" i="0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6009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⇒(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𝑺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𝟐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,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𝑺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𝟏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zh-CN" altLang="en-US" sz="24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6009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⇒((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𝑳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𝟐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),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𝑺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𝟏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+1 = 2</m:t>
                                </m:r>
                              </m:oMath>
                            </m:oMathPara>
                          </a14:m>
                          <a:endParaRPr lang="zh-CN" altLang="en-US" sz="2400" b="1" i="0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6009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⇒((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𝑺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𝟑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),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𝑺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𝟏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zh-CN" altLang="en-US" sz="24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6009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⇒((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𝒂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),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𝑺</m:t>
                                </m:r>
                                <m:r>
                                  <a:rPr lang="en-US" altLang="zh-CN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𝟏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2400" b="1" i="1" kern="1200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𝒑𝒓𝒊𝒏𝒕</m:t>
                              </m:r>
                            </m:oMath>
                          </a14:m>
                          <a:r>
                            <a:rPr lang="en-US" altLang="zh-CN" sz="2400" b="1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𝒅</m:t>
                              </m:r>
                            </m:oMath>
                          </a14:m>
                          <a:r>
                            <a:rPr lang="en-US" altLang="zh-CN" sz="2400" b="1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  <a:endParaRPr lang="zh-CN" altLang="en-US" sz="24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46009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⇒((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sz="2400" b="1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),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sz="2400" b="1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1" i="1" kern="1200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𝒑𝒓𝒊𝒏𝒕</m:t>
                              </m:r>
                            </m:oMath>
                          </a14:m>
                          <a:r>
                            <a:rPr lang="en-US" altLang="zh-CN" sz="2400" b="1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𝒅</m:t>
                              </m:r>
                            </m:oMath>
                          </a14:m>
                          <a:r>
                            <a:rPr lang="en-US" altLang="zh-CN" sz="2400" b="1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  <a:endParaRPr lang="zh-CN" altLang="en-US" sz="24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5015880" y="1124744"/>
              <a:ext cx="6480720" cy="460095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13427"/>
                    <a:gridCol w="4467293"/>
                  </a:tblGrid>
                  <a:tr h="4600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>
                              <a:latin typeface="+mn-lt"/>
                            </a:rPr>
                            <a:t>产生式</a:t>
                          </a:r>
                          <a:endParaRPr lang="zh-CN" altLang="en-US" sz="2400" b="1" i="0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>
                              <a:latin typeface="+mn-lt"/>
                            </a:rPr>
                            <a:t>语义动作</a:t>
                          </a:r>
                          <a:endParaRPr lang="zh-CN" altLang="en-US" sz="2400" b="1" i="0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</a:tr>
                  <a:tr h="460095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400" b="1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S’</a:t>
                          </a:r>
                          <a:endParaRPr lang="zh-CN" altLang="en-US" sz="2400" b="1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</a:tr>
                  <a:tr h="46037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4597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46037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4597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46037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4597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46037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46037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/>
            </p:nvGraphicFramePr>
            <p:xfrm>
              <a:off x="911424" y="1340768"/>
              <a:ext cx="3660576" cy="388843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56881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9175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718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/>
                            <a:t>产生式</a:t>
                          </a:r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/>
                            <a:t>语义动作</a:t>
                          </a:r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71828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0</m:t>
                                </m:r>
                              </m:oMath>
                            </m:oMathPara>
                          </a14:m>
                          <a:endParaRPr lang="zh-CN" altLang="en-US" sz="24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71828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→(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7182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𝒑𝒓𝒊𝒏𝒕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029291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oMath>
                            </m:oMathPara>
                          </a14:m>
                          <a:endParaRPr lang="en-US" altLang="zh-CN" sz="24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7182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/>
            </p:nvGraphicFramePr>
            <p:xfrm>
              <a:off x="911424" y="1340768"/>
              <a:ext cx="3660576" cy="388843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568818"/>
                    <a:gridCol w="2091758"/>
                  </a:tblGrid>
                  <a:tr h="5718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/>
                            <a:t>产生式</a:t>
                          </a:r>
                          <a:endParaRPr lang="zh-CN" altLang="en-US" sz="2400" b="1" i="0" dirty="0"/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/>
                            <a:t>语义动作</a:t>
                          </a:r>
                          <a:endParaRPr lang="zh-CN" altLang="en-US" sz="2400" b="1" i="0" dirty="0"/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</a:tr>
                  <a:tr h="5715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</a:tr>
                  <a:tr h="57213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</a:tr>
                  <a:tr h="5715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</a:tr>
                  <a:tr h="102933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</a:tr>
                  <a:tr h="57213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语法制导的翻译方案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语法制导的翻译方案</a:t>
            </a:r>
            <a:r>
              <a:rPr lang="en-US" altLang="zh-CN" dirty="0">
                <a:solidFill>
                  <a:srgbClr val="FF0000"/>
                </a:solidFill>
              </a:rPr>
              <a:t>(SDT)</a:t>
            </a:r>
            <a:r>
              <a:rPr lang="zh-CN" altLang="en-US" dirty="0"/>
              <a:t>是在产生式中嵌入程序片段的一个</a:t>
            </a:r>
            <a:r>
              <a:rPr lang="zh-CN" altLang="en-US" dirty="0">
                <a:solidFill>
                  <a:srgbClr val="FF0000"/>
                </a:solidFill>
              </a:rPr>
              <a:t>上下文无关文法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这些片段称为</a:t>
            </a:r>
            <a:r>
              <a:rPr lang="zh-CN" altLang="en-US" dirty="0">
                <a:solidFill>
                  <a:srgbClr val="FF0000"/>
                </a:solidFill>
              </a:rPr>
              <a:t>语义动作</a:t>
            </a:r>
            <a:r>
              <a:rPr lang="zh-CN" altLang="en-US" dirty="0"/>
              <a:t>，它们可以出现在产生式的</a:t>
            </a:r>
            <a:r>
              <a:rPr lang="zh-CN" altLang="en-US" dirty="0">
                <a:solidFill>
                  <a:srgbClr val="FF0000"/>
                </a:solidFill>
              </a:rPr>
              <a:t>任何位置</a:t>
            </a:r>
            <a:r>
              <a:rPr lang="zh-CN" altLang="en-US" dirty="0"/>
              <a:t>。默认用</a:t>
            </a:r>
            <a:r>
              <a:rPr lang="en-US" altLang="zh-CN" dirty="0"/>
              <a:t>{}</a:t>
            </a:r>
            <a:r>
              <a:rPr lang="zh-CN" altLang="en-US" dirty="0"/>
              <a:t>括起来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dirty="0"/>
              <a:t>SDT</a:t>
            </a:r>
            <a:r>
              <a:rPr lang="zh-CN" altLang="en-US" dirty="0"/>
              <a:t>可以看作是</a:t>
            </a:r>
            <a:r>
              <a:rPr lang="en-US" altLang="zh-CN" dirty="0">
                <a:solidFill>
                  <a:srgbClr val="FF0000"/>
                </a:solidFill>
              </a:rPr>
              <a:t>SDD</a:t>
            </a:r>
            <a:r>
              <a:rPr lang="zh-CN" altLang="en-US" dirty="0">
                <a:solidFill>
                  <a:srgbClr val="FF0000"/>
                </a:solidFill>
              </a:rPr>
              <a:t>的具体实施方案</a:t>
            </a:r>
            <a:r>
              <a:rPr lang="zh-CN" altLang="en-US" dirty="0"/>
              <a:t>。 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/>
          </a:p>
        </p:txBody>
      </p:sp>
      <p:pic>
        <p:nvPicPr>
          <p:cNvPr id="4" name="图片 3" descr="屏幕剪辑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66"/>
          <a:stretch>
            <a:fillRect/>
          </a:stretch>
        </p:blipFill>
        <p:spPr>
          <a:xfrm>
            <a:off x="4079776" y="3429000"/>
            <a:ext cx="4320480" cy="23680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语法制导的翻译方案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sz="2400" dirty="0"/>
                  <a:t>我们主要关注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如何使用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SDT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来实现两类重要的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SDD</a:t>
                </a:r>
                <a:r>
                  <a:rPr lang="zh-CN" altLang="en-US" sz="2400" dirty="0"/>
                  <a:t>，因为在这两种情况下， </a:t>
                </a:r>
                <a:r>
                  <a:rPr lang="en-US" altLang="zh-CN" sz="2400" dirty="0"/>
                  <a:t>SDT</a:t>
                </a:r>
                <a:r>
                  <a:rPr lang="zh-CN" altLang="en-US" sz="2400" dirty="0"/>
                  <a:t>可在语法分析过程中实现</a:t>
                </a:r>
                <a:endParaRPr lang="en-US" altLang="zh-CN" sz="2400" dirty="0"/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sz="2400" dirty="0">
                    <a:cs typeface="+mn-cs"/>
                  </a:rPr>
                  <a:t>基本文法可以使用</a:t>
                </a:r>
                <a:r>
                  <a:rPr lang="en-US" altLang="zh-CN" sz="2400" dirty="0">
                    <a:cs typeface="+mn-cs"/>
                  </a:rPr>
                  <a:t>LR</a:t>
                </a:r>
                <a:r>
                  <a:rPr lang="zh-CN" altLang="en-US" sz="2400" dirty="0">
                    <a:cs typeface="+mn-cs"/>
                  </a:rPr>
                  <a:t>分析技术，且</a:t>
                </a:r>
                <a:r>
                  <a:rPr lang="en-US" altLang="zh-CN" sz="2400" dirty="0">
                    <a:cs typeface="+mn-cs"/>
                  </a:rPr>
                  <a:t>SDD</a:t>
                </a:r>
                <a:r>
                  <a:rPr lang="zh-CN" altLang="en-US" sz="2400" dirty="0">
                    <a:cs typeface="+mn-cs"/>
                  </a:rPr>
                  <a:t>是</a:t>
                </a:r>
                <a:r>
                  <a:rPr lang="en-US" altLang="zh-CN" sz="2400" dirty="0">
                    <a:cs typeface="+mn-cs"/>
                  </a:rPr>
                  <a:t>S</a:t>
                </a:r>
                <a:r>
                  <a:rPr lang="zh-CN" altLang="en-US" sz="2400" dirty="0">
                    <a:cs typeface="+mn-cs"/>
                  </a:rPr>
                  <a:t>属性的</a:t>
                </a:r>
                <a:endParaRPr lang="en-US" altLang="zh-CN" sz="2400" dirty="0">
                  <a:cs typeface="+mn-cs"/>
                </a:endParaRP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sz="2400" dirty="0">
                    <a:cs typeface="+mn-cs"/>
                  </a:rPr>
                  <a:t>基本文法可以使用</a:t>
                </a:r>
                <a:r>
                  <a:rPr lang="en-US" altLang="zh-CN" sz="2400" dirty="0">
                    <a:cs typeface="+mn-cs"/>
                  </a:rPr>
                  <a:t>LL</a:t>
                </a:r>
                <a:r>
                  <a:rPr lang="zh-CN" altLang="en-US" sz="2400" dirty="0">
                    <a:cs typeface="+mn-cs"/>
                  </a:rPr>
                  <a:t>分析技术，且</a:t>
                </a:r>
                <a:r>
                  <a:rPr lang="en-US" altLang="zh-CN" sz="2400" dirty="0">
                    <a:cs typeface="+mn-cs"/>
                  </a:rPr>
                  <a:t>SDD</a:t>
                </a:r>
                <a:r>
                  <a:rPr lang="zh-CN" altLang="en-US" sz="2400" dirty="0">
                    <a:cs typeface="+mn-cs"/>
                  </a:rPr>
                  <a:t>是</a:t>
                </a:r>
                <a:r>
                  <a:rPr lang="en-US" altLang="zh-CN" sz="2400" dirty="0">
                    <a:cs typeface="+mn-cs"/>
                  </a:rPr>
                  <a:t>L</a:t>
                </a:r>
                <a:r>
                  <a:rPr lang="zh-CN" altLang="en-US" sz="2400" dirty="0">
                    <a:cs typeface="+mn-cs"/>
                  </a:rPr>
                  <a:t>属性的 </a:t>
                </a:r>
                <a:endParaRPr lang="en-US" altLang="zh-CN" sz="2400" dirty="0">
                  <a:cs typeface="+mn-cs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sz="2400" dirty="0"/>
                  <a:t>在语法分析过程中，产生式中的一个动作在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它左边的所有文法符号都被匹配后立刻执行</a:t>
                </a:r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sz="2400" dirty="0"/>
                  <a:t>也可以在语法分析过程中，将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内嵌语义动作替换为一个新的非终结符</a:t>
                </a:r>
                <a:r>
                  <a:rPr lang="zh-CN" altLang="en-US" sz="2400" dirty="0"/>
                  <a:t>，只有一个产生式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zh-CN" altLang="en-US" sz="2400" dirty="0"/>
                  <a:t>，那么语法分析进行到这里就可以实现相应的动作。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后缀翻译方案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/>
                  <a:t>对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400" dirty="0"/>
                  <a:t>属性的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𝑺𝑫𝑫</m:t>
                    </m:r>
                  </m:oMath>
                </a14:m>
                <a:r>
                  <a:rPr lang="zh-CN" altLang="en-US" sz="2400" dirty="0"/>
                  <a:t>，可以构造出一个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𝑺𝑫𝑻</m:t>
                    </m:r>
                  </m:oMath>
                </a14:m>
                <a:r>
                  <a:rPr lang="en-US" altLang="zh-CN" sz="2400" dirty="0"/>
                  <a:t>: 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每个动作都放在产生式的结尾。</a:t>
                </a:r>
                <a:endParaRPr lang="en-US" altLang="zh-CN" sz="2400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/>
                  <a:t>当使用自下而上的分析方法将这个产生式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归约</a:t>
                </a:r>
                <a:r>
                  <a:rPr lang="zh-CN" altLang="en-US" sz="2400" dirty="0"/>
                  <a:t>为左侧非终结符时执行动作。</a:t>
                </a:r>
                <a:endParaRPr lang="en-US" altLang="zh-CN" sz="2400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/>
                  <a:t>这种所有动作都放在产生式的结尾的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𝑺𝑫𝑻</m:t>
                    </m:r>
                  </m:oMath>
                </a14:m>
                <a:r>
                  <a:rPr lang="zh-CN" altLang="en-US" sz="2400" dirty="0"/>
                  <a:t>称为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后缀翻译方案</a:t>
                </a:r>
                <a:r>
                  <a:rPr lang="zh-CN" altLang="en-US" sz="2400" dirty="0"/>
                  <a:t>。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后缀翻译方案示例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91344" y="1343025"/>
                <a:ext cx="11809312" cy="5137150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/>
                  <a:t>右图是实现打印左图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𝑺𝑫𝑫</m:t>
                    </m:r>
                  </m:oMath>
                </a14:m>
                <a:r>
                  <a:rPr lang="zh-CN" altLang="en-US" sz="2400" dirty="0"/>
                  <a:t>计算结果的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𝑺𝑫𝑻</m:t>
                    </m:r>
                  </m:oMath>
                </a14:m>
                <a:r>
                  <a:rPr lang="zh-CN" altLang="en-US" sz="2400" dirty="0"/>
                  <a:t>，其中引入了</a:t>
                </a:r>
                <a:r>
                  <a:rPr lang="en-US" altLang="zh-CN" sz="2400" dirty="0"/>
                  <a:t>print</a:t>
                </a:r>
                <a:r>
                  <a:rPr lang="zh-CN" altLang="en-US" sz="2400" dirty="0"/>
                  <a:t>动作，用于输出计算结果。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1344" y="1343025"/>
                <a:ext cx="11809312" cy="5137150"/>
              </a:xfrm>
              <a:blipFill rotWithShape="1">
                <a:blip r:embed="rId2"/>
                <a:stretch>
                  <a:fillRect l="-125" t="-284" r="-120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63" t="3010" r="12859" b="18621"/>
          <a:stretch>
            <a:fillRect/>
          </a:stretch>
        </p:blipFill>
        <p:spPr bwMode="auto">
          <a:xfrm>
            <a:off x="335360" y="2924944"/>
            <a:ext cx="4864564" cy="2795726"/>
          </a:xfrm>
          <a:prstGeom prst="rect">
            <a:avLst/>
          </a:prstGeom>
          <a:noFill/>
          <a:ln w="28575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28" r="11385" b="25098"/>
          <a:stretch>
            <a:fillRect/>
          </a:stretch>
        </p:blipFill>
        <p:spPr bwMode="auto">
          <a:xfrm>
            <a:off x="5375920" y="2924944"/>
            <a:ext cx="6506236" cy="2795726"/>
          </a:xfrm>
          <a:prstGeom prst="rect">
            <a:avLst/>
          </a:prstGeom>
          <a:noFill/>
          <a:ln w="28575">
            <a:solidFill>
              <a:srgbClr val="99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后缀翻译方案的分析栈实现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343025"/>
                <a:ext cx="11031016" cy="5137150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solidFill>
                      <a:srgbClr val="FF0000"/>
                    </a:solidFill>
                  </a:rPr>
                  <a:t>后缀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𝑺𝑫𝑻</m:t>
                    </m:r>
                  </m:oMath>
                </a14:m>
                <a:r>
                  <a:rPr lang="zh-CN" altLang="en-US" sz="2400" dirty="0"/>
                  <a:t>可以在</a:t>
                </a:r>
                <a:r>
                  <a:rPr lang="en-US" altLang="zh-CN" sz="2400" dirty="0"/>
                  <a:t>LR</a:t>
                </a:r>
                <a:r>
                  <a:rPr lang="zh-CN" altLang="en-US" sz="2400" dirty="0"/>
                  <a:t>语法分析过程中实现，当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归约发生时执行相应的语义动作</a:t>
                </a:r>
                <a:r>
                  <a:rPr lang="zh-CN" altLang="en-US" sz="2400" dirty="0"/>
                  <a:t>。文法符号的属性应一起放入分析栈中。</a:t>
                </a:r>
                <a:endParaRPr lang="en-US" altLang="zh-CN" sz="2400" dirty="0"/>
              </a:p>
              <a:p>
                <a:pPr>
                  <a:lnSpc>
                    <a:spcPct val="150000"/>
                  </a:lnSpc>
                </a:pPr>
                <a:endParaRPr lang="en-US" altLang="zh-CN" sz="2400" dirty="0"/>
              </a:p>
              <a:p>
                <a:pPr>
                  <a:lnSpc>
                    <a:spcPct val="150000"/>
                  </a:lnSpc>
                </a:pPr>
                <a:endParaRPr lang="en-US" altLang="zh-CN" sz="2400" dirty="0"/>
              </a:p>
              <a:p>
                <a:pPr>
                  <a:lnSpc>
                    <a:spcPct val="150000"/>
                  </a:lnSpc>
                </a:pPr>
                <a:endParaRPr lang="en-US" altLang="zh-CN" sz="24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343025"/>
                <a:ext cx="11031016" cy="5137150"/>
              </a:xfrm>
              <a:blipFill rotWithShape="1">
                <a:blip r:embed="rId2"/>
                <a:stretch>
                  <a:fillRect l="-132" t="-284" r="-128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680" y="2708920"/>
            <a:ext cx="5076564" cy="3456384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 bwMode="auto">
          <a:xfrm>
            <a:off x="6816080" y="2636912"/>
            <a:ext cx="1368152" cy="576064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后缀翻译方案的分析栈实现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/>
                  <a:t>由于所有属性都是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综合属性</a:t>
                </a:r>
                <a:r>
                  <a:rPr lang="zh-CN" altLang="en-US" sz="2400" dirty="0"/>
                  <a:t>，当使用产生式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𝑿𝒀𝒁</m:t>
                    </m:r>
                  </m:oMath>
                </a14:m>
                <a:r>
                  <a:rPr lang="zh-CN" altLang="en-US" sz="2400" dirty="0"/>
                  <a:t>进行归约时，将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𝑿𝒀𝒁</m:t>
                    </m:r>
                  </m:oMath>
                </a14:m>
                <a:r>
                  <a:rPr lang="zh-CN" altLang="en-US" sz="2400" dirty="0"/>
                  <a:t>和它们的属性一起出栈，然后执行动作</a:t>
                </a:r>
                <a:r>
                  <a:rPr lang="en-US" altLang="zh-CN" sz="2400" dirty="0"/>
                  <a:t>(</a:t>
                </a:r>
                <a:r>
                  <a:rPr lang="zh-CN" altLang="en-US" sz="2400" dirty="0"/>
                  <a:t>比如可以使用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𝑿𝒀𝒁</m:t>
                    </m:r>
                  </m:oMath>
                </a14:m>
                <a:r>
                  <a:rPr lang="zh-CN" altLang="en-US" sz="2400" dirty="0"/>
                  <a:t>的属性来计算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dirty="0"/>
                  <a:t>的属性，也可以是别的动作</a:t>
                </a:r>
                <a:r>
                  <a:rPr lang="en-US" altLang="zh-CN" sz="2400" dirty="0"/>
                  <a:t>)</a:t>
                </a:r>
                <a:r>
                  <a:rPr lang="zh-CN" altLang="en-US" sz="2400" dirty="0"/>
                  <a:t>。然后将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dirty="0"/>
                  <a:t>的属性一起入栈。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3712" y="3068960"/>
            <a:ext cx="4968552" cy="3382844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后缀翻译方案的分析栈实现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343024"/>
            <a:ext cx="11103024" cy="5254327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将语义动作中的抽象定义式改写成具体可执行的栈操作 。</a:t>
            </a:r>
            <a:endParaRPr lang="en-US" altLang="zh-CN" sz="2400" dirty="0"/>
          </a:p>
        </p:txBody>
      </p:sp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463" y="1916832"/>
            <a:ext cx="10021169" cy="4660662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后缀翻译方案的分析栈实现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/>
                  <a:t>将前面的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𝑺𝑫𝑻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/>
                  <a:t>中的动作改为显式操作分析栈的方式如下。</a:t>
                </a:r>
                <a:endParaRPr lang="en-US" altLang="zh-CN" sz="2400" dirty="0"/>
              </a:p>
              <a:p>
                <a:pPr>
                  <a:lnSpc>
                    <a:spcPct val="150000"/>
                  </a:lnSpc>
                </a:pPr>
                <a:endParaRPr lang="en-US" altLang="zh-CN" sz="2400" dirty="0"/>
              </a:p>
              <a:p>
                <a:pPr>
                  <a:lnSpc>
                    <a:spcPct val="150000"/>
                  </a:lnSpc>
                </a:pPr>
                <a:endParaRPr lang="en-US" altLang="zh-CN" sz="2400" dirty="0"/>
              </a:p>
              <a:p>
                <a:pPr>
                  <a:lnSpc>
                    <a:spcPct val="150000"/>
                  </a:lnSpc>
                </a:pPr>
                <a:endParaRPr lang="en-US" altLang="zh-CN" sz="24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472" y="2132856"/>
            <a:ext cx="9570127" cy="396309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产生式内部带有语义动作的</a:t>
            </a:r>
            <a:r>
              <a:rPr lang="en-US" altLang="zh-CN" dirty="0" err="1"/>
              <a:t>SDT</a:t>
            </a:r>
            <a:r>
              <a:rPr lang="zh-CN" altLang="en-US" dirty="0"/>
              <a:t>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动作可以放在产生式体的任意位置上。</a:t>
            </a:r>
            <a:r>
              <a:rPr lang="zh-CN" altLang="en-US" sz="2400" dirty="0">
                <a:solidFill>
                  <a:srgbClr val="FF0000"/>
                </a:solidFill>
              </a:rPr>
              <a:t>当一个动作左边的所有符号都被处理后，该动作立刻执行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如果有一个产生式</a:t>
            </a:r>
            <a:r>
              <a:rPr lang="en-US" altLang="zh-CN" sz="2400" dirty="0" err="1"/>
              <a:t>B→X</a:t>
            </a:r>
            <a:r>
              <a:rPr lang="en-US" altLang="zh-CN" sz="2400" dirty="0"/>
              <a:t>{a}Y</a:t>
            </a:r>
            <a:r>
              <a:rPr lang="zh-CN" altLang="en-US" sz="2400" dirty="0"/>
              <a:t>，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如果采用</a:t>
            </a:r>
            <a:r>
              <a:rPr lang="zh-CN" altLang="en-US" sz="2400" dirty="0">
                <a:solidFill>
                  <a:srgbClr val="FF0000"/>
                </a:solidFill>
              </a:rPr>
              <a:t>自底向上</a:t>
            </a:r>
            <a:r>
              <a:rPr lang="zh-CN" altLang="en-US" sz="2400" dirty="0"/>
              <a:t>的分析，那么在</a:t>
            </a:r>
            <a:r>
              <a:rPr lang="en-US" altLang="zh-CN" sz="2400" dirty="0"/>
              <a:t>X</a:t>
            </a:r>
            <a:r>
              <a:rPr lang="zh-CN" altLang="en-US" sz="2400" dirty="0"/>
              <a:t>出现在分析栈栈顶的时候，立刻执行动作</a:t>
            </a:r>
            <a:r>
              <a:rPr lang="en-US" altLang="zh-CN" sz="2400" dirty="0"/>
              <a:t>a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如果采用</a:t>
            </a:r>
            <a:r>
              <a:rPr lang="zh-CN" altLang="en-US" sz="2400" dirty="0">
                <a:solidFill>
                  <a:srgbClr val="FF0000"/>
                </a:solidFill>
              </a:rPr>
              <a:t>自顶向下</a:t>
            </a:r>
            <a:r>
              <a:rPr lang="zh-CN" altLang="en-US" sz="2400" dirty="0"/>
              <a:t>的分析，那么我们尝试在展开</a:t>
            </a:r>
            <a:r>
              <a:rPr lang="en-US" altLang="zh-CN" sz="2400" dirty="0"/>
              <a:t>Y</a:t>
            </a:r>
            <a:r>
              <a:rPr lang="zh-CN" altLang="en-US" sz="2400" dirty="0"/>
              <a:t>的本次出现（</a:t>
            </a:r>
            <a:r>
              <a:rPr lang="en-US" altLang="zh-CN" sz="2400" dirty="0"/>
              <a:t>Y</a:t>
            </a:r>
            <a:r>
              <a:rPr lang="zh-CN" altLang="en-US" sz="2400" dirty="0"/>
              <a:t>是非终结符）或者在输入中检测</a:t>
            </a:r>
            <a:r>
              <a:rPr lang="en-US" altLang="zh-CN" sz="2400" dirty="0"/>
              <a:t>Y</a:t>
            </a:r>
            <a:r>
              <a:rPr lang="zh-CN" altLang="en-US" sz="2400" dirty="0"/>
              <a:t>（</a:t>
            </a:r>
            <a:r>
              <a:rPr lang="en-US" altLang="zh-CN" sz="2400" dirty="0"/>
              <a:t>Y</a:t>
            </a:r>
            <a:r>
              <a:rPr lang="zh-CN" altLang="en-US" sz="2400" dirty="0"/>
              <a:t>是终结符）之前执行动作</a:t>
            </a:r>
            <a:r>
              <a:rPr lang="en-US" altLang="zh-CN" sz="2400" dirty="0"/>
              <a:t>a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插入动作的语法分析树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任何</a:t>
            </a:r>
            <a:r>
              <a:rPr lang="en-US" altLang="zh-CN" sz="2400" dirty="0" err="1"/>
              <a:t>SDT</a:t>
            </a:r>
            <a:r>
              <a:rPr lang="zh-CN" altLang="en-US" sz="2400" dirty="0"/>
              <a:t>都可以如下实现：忽略语义动作，生成语法树，再</a:t>
            </a:r>
            <a:r>
              <a:rPr lang="zh-CN" altLang="en-US" sz="2400" dirty="0">
                <a:solidFill>
                  <a:srgbClr val="FF0000"/>
                </a:solidFill>
              </a:rPr>
              <a:t>将动作作为附加子节点加入</a:t>
            </a:r>
            <a:r>
              <a:rPr lang="zh-CN" altLang="en-US" sz="2400" dirty="0"/>
              <a:t>。对树进行前序访问，访问到某个动作，立刻执行这个动作。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下面是一个完成前缀翻译的</a:t>
            </a:r>
            <a:r>
              <a:rPr lang="en-US" altLang="zh-CN" sz="2400" dirty="0" err="1"/>
              <a:t>SDT</a:t>
            </a:r>
            <a:r>
              <a:rPr lang="zh-CN" altLang="en-US" sz="2400" dirty="0"/>
              <a:t>，右边是</a:t>
            </a:r>
            <a:r>
              <a:rPr lang="en-US" altLang="zh-CN" sz="2400" dirty="0"/>
              <a:t>3</a:t>
            </a:r>
            <a:r>
              <a:rPr lang="zh-CN" altLang="en-US" sz="2400" dirty="0"/>
              <a:t>*</a:t>
            </a:r>
            <a:r>
              <a:rPr lang="en-US" altLang="zh-CN" sz="2400" dirty="0"/>
              <a:t>5+4</a:t>
            </a:r>
            <a:r>
              <a:rPr lang="zh-CN" altLang="en-US" sz="2400" dirty="0"/>
              <a:t>的分析树。</a:t>
            </a:r>
            <a:endParaRPr lang="en-US" altLang="zh-CN" sz="24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" t="177" r="3721" b="10994"/>
          <a:stretch>
            <a:fillRect/>
          </a:stretch>
        </p:blipFill>
        <p:spPr bwMode="auto">
          <a:xfrm>
            <a:off x="6528048" y="3068960"/>
            <a:ext cx="4460419" cy="3276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37" r="21461" b="23786"/>
          <a:stretch>
            <a:fillRect/>
          </a:stretch>
        </p:blipFill>
        <p:spPr bwMode="auto">
          <a:xfrm>
            <a:off x="1199456" y="3573016"/>
            <a:ext cx="5013853" cy="230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已知</a:t>
            </a:r>
            <a:r>
              <a:rPr lang="en-US" altLang="zh-CN" sz="2400" dirty="0"/>
              <a:t>SDT</a:t>
            </a:r>
            <a:r>
              <a:rPr lang="zh-CN" altLang="zh-CN" sz="2400" dirty="0"/>
              <a:t>如下：</a:t>
            </a:r>
          </a:p>
          <a:p>
            <a:pPr marL="800100" lvl="2" indent="0">
              <a:buNone/>
            </a:pPr>
            <a:r>
              <a:rPr lang="en-US" altLang="zh-CN" sz="2400" dirty="0" err="1"/>
              <a:t>S→bAb</a:t>
            </a:r>
            <a:r>
              <a:rPr lang="en-US" altLang="zh-CN" sz="2400" dirty="0"/>
              <a:t> {print “1”}</a:t>
            </a:r>
          </a:p>
          <a:p>
            <a:pPr marL="800100" lvl="2" indent="0">
              <a:buNone/>
            </a:pPr>
            <a:r>
              <a:rPr lang="en-US" altLang="zh-CN" sz="2400" dirty="0"/>
              <a:t>A→({ print “2”}B </a:t>
            </a:r>
          </a:p>
          <a:p>
            <a:pPr marL="800100" lvl="2" indent="0">
              <a:buNone/>
            </a:pPr>
            <a:r>
              <a:rPr lang="en-US" altLang="zh-CN" sz="2400" dirty="0" err="1"/>
              <a:t>A→a</a:t>
            </a:r>
            <a:r>
              <a:rPr lang="en-US" altLang="zh-CN" sz="2400" dirty="0"/>
              <a:t> {print “3”}</a:t>
            </a:r>
          </a:p>
          <a:p>
            <a:pPr marL="800100" lvl="2" indent="0">
              <a:buNone/>
            </a:pPr>
            <a:r>
              <a:rPr lang="en-US" altLang="zh-CN" sz="2400" dirty="0" err="1"/>
              <a:t>B→aA</a:t>
            </a:r>
            <a:r>
              <a:rPr lang="en-US" altLang="zh-CN" sz="2400" dirty="0"/>
              <a:t>) {print “4”}</a:t>
            </a:r>
          </a:p>
          <a:p>
            <a:pPr lvl="1">
              <a:lnSpc>
                <a:spcPct val="150000"/>
              </a:lnSpc>
            </a:pPr>
            <a:r>
              <a:rPr lang="zh-CN" altLang="zh-CN" sz="2400" dirty="0"/>
              <a:t>试</a:t>
            </a:r>
            <a:r>
              <a:rPr lang="zh-CN" altLang="en-US" sz="2400" dirty="0"/>
              <a:t>为串</a:t>
            </a:r>
            <a:r>
              <a:rPr lang="en-US" altLang="zh-CN" sz="2400" dirty="0"/>
              <a:t>b(</a:t>
            </a:r>
            <a:r>
              <a:rPr lang="en-US" altLang="zh-CN" sz="2400" dirty="0" err="1"/>
              <a:t>aa</a:t>
            </a:r>
            <a:r>
              <a:rPr lang="en-US" altLang="zh-CN" sz="2400" dirty="0"/>
              <a:t>)b</a:t>
            </a:r>
            <a:r>
              <a:rPr lang="zh-CN" altLang="en-US" sz="2400" dirty="0"/>
              <a:t>构建带动作的语法树。</a:t>
            </a:r>
            <a:endParaRPr lang="en-US" altLang="zh-CN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096" y="1988840"/>
            <a:ext cx="3621312" cy="37444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将</a:t>
            </a:r>
            <a:r>
              <a:rPr lang="en-US" altLang="zh-CN" i="1" dirty="0"/>
              <a:t>L-</a:t>
            </a:r>
            <a:r>
              <a:rPr lang="zh-CN" altLang="en-US" dirty="0"/>
              <a:t>属性定义转换为</a:t>
            </a:r>
            <a:r>
              <a:rPr lang="en-US" altLang="zh-CN" i="1" dirty="0"/>
              <a:t>SDT</a:t>
            </a:r>
            <a:r>
              <a:rPr lang="zh-CN" altLang="en-US" dirty="0"/>
              <a:t>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将</a:t>
            </a:r>
            <a:r>
              <a:rPr lang="en-US" altLang="zh-CN" sz="2400" dirty="0"/>
              <a:t>L-SDD </a:t>
            </a:r>
            <a:r>
              <a:rPr lang="zh-CN" altLang="en-US" sz="2400" dirty="0"/>
              <a:t>转换为</a:t>
            </a:r>
            <a:r>
              <a:rPr lang="en-US" altLang="zh-CN" sz="2400" dirty="0"/>
              <a:t>SDT </a:t>
            </a:r>
            <a:r>
              <a:rPr lang="zh-CN" altLang="en-US" sz="2400" dirty="0"/>
              <a:t>的规则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将计算某个非终结符号</a:t>
            </a:r>
            <a:r>
              <a:rPr lang="en-US" altLang="zh-CN" sz="2400" dirty="0"/>
              <a:t>A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rgbClr val="FF0000"/>
                </a:solidFill>
              </a:rPr>
              <a:t>继承属性</a:t>
            </a:r>
            <a:r>
              <a:rPr lang="zh-CN" altLang="en-US" sz="2400" dirty="0"/>
              <a:t>的动作插入到产生式右部中</a:t>
            </a:r>
            <a:r>
              <a:rPr lang="zh-CN" altLang="en-US" sz="2400" dirty="0">
                <a:solidFill>
                  <a:srgbClr val="FF0000"/>
                </a:solidFill>
              </a:rPr>
              <a:t>紧靠在</a:t>
            </a:r>
            <a:r>
              <a:rPr lang="en-US" altLang="zh-CN" sz="2400" dirty="0">
                <a:solidFill>
                  <a:srgbClr val="FF0000"/>
                </a:solidFill>
              </a:rPr>
              <a:t>A</a:t>
            </a:r>
            <a:r>
              <a:rPr lang="zh-CN" altLang="en-US" sz="2400" dirty="0">
                <a:solidFill>
                  <a:srgbClr val="FF0000"/>
                </a:solidFill>
              </a:rPr>
              <a:t>的本次出现之前</a:t>
            </a:r>
            <a:r>
              <a:rPr lang="zh-CN" altLang="en-US" sz="2400" dirty="0"/>
              <a:t>的位置上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将计算一个产生式左部符号的</a:t>
            </a:r>
            <a:r>
              <a:rPr lang="zh-CN" altLang="en-US" sz="2400" dirty="0">
                <a:solidFill>
                  <a:srgbClr val="FF0000"/>
                </a:solidFill>
              </a:rPr>
              <a:t>综合属性</a:t>
            </a:r>
            <a:r>
              <a:rPr lang="zh-CN" altLang="en-US" sz="2400" dirty="0"/>
              <a:t>的动作放置在这个产生式右部的</a:t>
            </a:r>
            <a:r>
              <a:rPr lang="zh-CN" altLang="en-US" sz="2400" dirty="0">
                <a:solidFill>
                  <a:srgbClr val="FF0000"/>
                </a:solidFill>
              </a:rPr>
              <a:t>最右端</a:t>
            </a:r>
            <a:r>
              <a:rPr lang="zh-CN" altLang="en-US" sz="2400" dirty="0"/>
              <a:t> 。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3392" y="260648"/>
            <a:ext cx="11017224" cy="6336704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en-US" altLang="zh-CN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568" y="404665"/>
            <a:ext cx="6984776" cy="329238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8458" y="4077072"/>
            <a:ext cx="8364006" cy="2016224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请将下面的</a:t>
            </a:r>
            <a:r>
              <a:rPr lang="en-US" altLang="zh-CN" sz="2400" dirty="0" err="1"/>
              <a:t>SDD</a:t>
            </a:r>
            <a:r>
              <a:rPr lang="zh-CN" altLang="en-US" sz="2400" dirty="0"/>
              <a:t>转换为</a:t>
            </a:r>
            <a:r>
              <a:rPr lang="en-US" altLang="zh-CN" sz="2400" dirty="0" err="1"/>
              <a:t>SDT</a:t>
            </a:r>
            <a:r>
              <a:rPr lang="zh-CN" altLang="en-US" sz="2400" dirty="0"/>
              <a:t>。</a:t>
            </a:r>
            <a:endParaRPr lang="zh-CN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/>
              <p:cNvGraphicFramePr>
                <a:graphicFrameLocks noGrp="1"/>
              </p:cNvGraphicFramePr>
              <p:nvPr/>
            </p:nvGraphicFramePr>
            <p:xfrm>
              <a:off x="2207568" y="2492896"/>
              <a:ext cx="7560840" cy="338437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94727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61357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640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/>
                            <a:t>产生式</a:t>
                          </a:r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/>
                            <a:t>语义动作</a:t>
                          </a:r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6406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𝒑𝒓𝒊𝒏𝒕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406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→(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6406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zh-CN" altLang="en-US" sz="2400" b="1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6406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 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𝒄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6406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𝒄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/>
              <p:cNvGraphicFramePr>
                <a:graphicFrameLocks noGrp="1"/>
              </p:cNvGraphicFramePr>
              <p:nvPr/>
            </p:nvGraphicFramePr>
            <p:xfrm>
              <a:off x="2207568" y="2492896"/>
              <a:ext cx="7560840" cy="338437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947270"/>
                    <a:gridCol w="4613570"/>
                  </a:tblGrid>
                  <a:tr h="5640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/>
                            <a:t>产生式</a:t>
                          </a:r>
                          <a:endParaRPr lang="zh-CN" altLang="en-US" sz="2400" b="1" i="0" dirty="0"/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/>
                            <a:t>语义动作</a:t>
                          </a:r>
                          <a:endParaRPr lang="zh-CN" altLang="en-US" sz="2400" b="1" i="0" dirty="0"/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</a:tr>
                  <a:tr h="56451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5638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5638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5638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56451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343025"/>
            <a:ext cx="11175032" cy="5137150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请将下面的</a:t>
            </a:r>
            <a:r>
              <a:rPr lang="en-US" altLang="zh-CN" sz="2400" dirty="0" err="1"/>
              <a:t>SDD</a:t>
            </a:r>
            <a:r>
              <a:rPr lang="zh-CN" altLang="en-US" sz="2400" dirty="0"/>
              <a:t>转换为</a:t>
            </a:r>
            <a:r>
              <a:rPr lang="en-US" altLang="zh-CN" sz="2400" dirty="0" err="1"/>
              <a:t>SDT</a:t>
            </a:r>
            <a:r>
              <a:rPr lang="zh-CN" altLang="en-US" sz="2400" dirty="0"/>
              <a:t>。</a:t>
            </a:r>
            <a:endParaRPr lang="zh-CN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/>
              <p:cNvGraphicFramePr>
                <a:graphicFrameLocks noGrp="1"/>
              </p:cNvGraphicFramePr>
              <p:nvPr/>
            </p:nvGraphicFramePr>
            <p:xfrm>
              <a:off x="1127448" y="2564904"/>
              <a:ext cx="4752528" cy="3240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5257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89995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400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/>
                            <a:t>产生式</a:t>
                          </a:r>
                        </a:p>
                      </a:txBody>
                      <a:tcPr anchor="ctr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/>
                            <a:t>语义动作</a:t>
                          </a:r>
                        </a:p>
                      </a:txBody>
                      <a:tcPr anchor="ctr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006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𝒑𝒓𝒊𝒏𝒕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006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→(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4006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zh-CN" altLang="en-US" sz="2400" b="1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4006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</m:t>
                                </m:r>
                                <m:sSub>
                                  <m:sSub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 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 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𝒄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4006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𝒄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/>
              <p:cNvGraphicFramePr>
                <a:graphicFrameLocks noGrp="1"/>
              </p:cNvGraphicFramePr>
              <p:nvPr/>
            </p:nvGraphicFramePr>
            <p:xfrm>
              <a:off x="1127448" y="2564904"/>
              <a:ext cx="4752528" cy="3240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52570"/>
                    <a:gridCol w="2899958"/>
                  </a:tblGrid>
                  <a:tr h="5400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/>
                            <a:t>产生式</a:t>
                          </a:r>
                          <a:endParaRPr lang="zh-CN" altLang="en-US" sz="2400" b="1" i="0" dirty="0"/>
                        </a:p>
                      </a:txBody>
                      <a:tcPr anchor="ctr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/>
                            <a:t>语义动作</a:t>
                          </a:r>
                          <a:endParaRPr lang="zh-CN" altLang="en-US" sz="2400" b="1" i="0" dirty="0"/>
                        </a:p>
                      </a:txBody>
                      <a:tcPr anchor="ctr">
                        <a:solidFill>
                          <a:srgbClr val="CCCCFF"/>
                        </a:solidFill>
                      </a:tcPr>
                    </a:tc>
                  </a:tr>
                  <a:tr h="54038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</a:tr>
                  <a:tr h="53975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</a:tr>
                  <a:tr h="54038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</a:tr>
                  <a:tr h="53975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</a:tr>
                  <a:tr h="54038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/>
            </p:nvGraphicFramePr>
            <p:xfrm>
              <a:off x="6525072" y="2564904"/>
              <a:ext cx="4752528" cy="3240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75252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64807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′→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𝑺</m:t>
                              </m:r>
                            </m:oMath>
                          </a14:m>
                          <a:r>
                            <a:rPr lang="en-US" altLang="zh-CN" sz="2400" b="1" kern="12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{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1" i="1" kern="120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𝒑𝒓𝒊𝒏𝒕</m:t>
                              </m:r>
                              <m:r>
                                <a:rPr lang="en-US" altLang="zh-CN" sz="2400" b="1" i="1" kern="120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1" i="0" kern="120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2400" b="1" i="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}</a:t>
                          </a:r>
                          <a:endParaRPr lang="zh-CN" altLang="en-US" sz="24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807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→(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2400" b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{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1" i="0" kern="120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1" i="1" kern="120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1" i="1" kern="120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400" b="1" i="1" kern="120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b="1" i="1" kern="120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2400" b="1" i="1" kern="120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}</m:t>
                              </m:r>
                            </m:oMath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807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</m:t>
                              </m:r>
                            </m:oMath>
                          </a14:m>
                          <a:r>
                            <a:rPr lang="en-US" altLang="zh-CN" sz="2400" b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{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r>
                            <a:rPr lang="en-US" altLang="zh-CN" sz="2400" b="1" i="0" kern="12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}</a:t>
                          </a:r>
                          <a:endParaRPr lang="zh-CN" altLang="en-US" sz="2400" b="1" i="0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4807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𝑳</m:t>
                                  </m:r>
                                </m:e>
                                <m:sub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{</m:t>
                              </m:r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1" i="0" kern="120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 </m:t>
                              </m:r>
                              <m:sSub>
                                <m:sSubPr>
                                  <m:ctrlPr>
                                    <a:rPr lang="en-US" altLang="zh-CN" sz="24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𝑳</m:t>
                                  </m:r>
                                </m:e>
                                <m:sub>
                                  <m:r>
                                    <a:rPr lang="en-US" altLang="zh-CN" sz="24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altLang="zh-CN" sz="2400" b="1" i="1" kern="120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1" i="0" kern="120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1" i="1" kern="120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 </m:t>
                              </m:r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𝒄</m:t>
                              </m:r>
                            </m:oMath>
                          </a14:m>
                          <a:r>
                            <a:rPr lang="en-US" altLang="zh-CN" sz="2400" b="1" i="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}</a:t>
                          </a:r>
                          <a:endParaRPr lang="zh-CN" altLang="en-US" sz="24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4807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zh-CN" sz="2400" b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{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𝒄</m:t>
                              </m:r>
                            </m:oMath>
                          </a14:m>
                          <a:r>
                            <a:rPr lang="en-US" altLang="zh-CN" sz="2400" b="1" i="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}</a:t>
                          </a:r>
                          <a:endParaRPr lang="zh-CN" altLang="en-US" sz="24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/>
            </p:nvGraphicFramePr>
            <p:xfrm>
              <a:off x="6525072" y="2564904"/>
              <a:ext cx="4752528" cy="3240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752528"/>
                  </a:tblGrid>
                  <a:tr h="64833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</a:blipFill>
                      </a:tcPr>
                    </a:tc>
                  </a:tr>
                  <a:tr h="6477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</a:blipFill>
                      </a:tcPr>
                    </a:tc>
                  </a:tr>
                  <a:tr h="64833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</a:blipFill>
                      </a:tcPr>
                    </a:tc>
                  </a:tr>
                  <a:tr h="6477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</a:blipFill>
                      </a:tcPr>
                    </a:tc>
                  </a:tr>
                  <a:tr h="64833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请将下面的</a:t>
            </a:r>
            <a:r>
              <a:rPr lang="en-US" altLang="zh-CN" sz="2400" dirty="0" err="1"/>
              <a:t>SDD</a:t>
            </a:r>
            <a:r>
              <a:rPr lang="zh-CN" altLang="en-US" sz="2400" dirty="0"/>
              <a:t>转换为</a:t>
            </a:r>
            <a:r>
              <a:rPr lang="en-US" altLang="zh-CN" sz="2400" dirty="0" err="1"/>
              <a:t>SDT</a:t>
            </a:r>
            <a:r>
              <a:rPr lang="zh-CN" altLang="en-US" sz="2400" dirty="0"/>
              <a:t>。</a:t>
            </a:r>
            <a:endParaRPr lang="zh-CN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/>
              <p:cNvGraphicFramePr>
                <a:graphicFrameLocks noGrp="1"/>
              </p:cNvGraphicFramePr>
              <p:nvPr/>
            </p:nvGraphicFramePr>
            <p:xfrm>
              <a:off x="1991544" y="2204864"/>
              <a:ext cx="7632848" cy="360040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97533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65750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294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/>
                            <a:t>产生式</a:t>
                          </a:r>
                        </a:p>
                      </a:txBody>
                      <a:tcPr anchor="ctr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/>
                            <a:t>语义动作</a:t>
                          </a:r>
                        </a:p>
                      </a:txBody>
                      <a:tcPr anchor="ctr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2947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′→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zh-CN" altLang="en-US" sz="2400" b="1" i="1" dirty="0"/>
                        </a:p>
                      </a:txBody>
                      <a:tcPr anchor="ctr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altLang="en-US" sz="24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2947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→(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b="1" i="1" dirty="0"/>
                        </a:p>
                      </a:txBody>
                      <a:tcPr anchor="ctr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2947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</m:oMath>
                            </m:oMathPara>
                          </a14:m>
                          <a:endParaRPr lang="zh-CN" altLang="en-US" sz="2400" b="1" i="1" dirty="0"/>
                        </a:p>
                      </a:txBody>
                      <a:tcPr anchor="ctr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𝒑𝒓𝒊𝒏𝒕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95304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zh-CN" altLang="en-US" sz="2400" b="1" i="1" dirty="0"/>
                        </a:p>
                      </a:txBody>
                      <a:tcPr anchor="ctr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oMath>
                            </m:oMathPara>
                          </a14:m>
                          <a:endParaRPr lang="en-US" altLang="zh-CN" sz="24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2947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</m:oMath>
                            </m:oMathPara>
                          </a14:m>
                          <a:endParaRPr lang="zh-CN" altLang="en-US" sz="2400" b="1" i="1" dirty="0"/>
                        </a:p>
                      </a:txBody>
                      <a:tcPr anchor="ctr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/>
              <p:cNvGraphicFramePr>
                <a:graphicFrameLocks noGrp="1"/>
              </p:cNvGraphicFramePr>
              <p:nvPr/>
            </p:nvGraphicFramePr>
            <p:xfrm>
              <a:off x="1991544" y="2204864"/>
              <a:ext cx="7632848" cy="360040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975339"/>
                    <a:gridCol w="4657509"/>
                  </a:tblGrid>
                  <a:tr h="5294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/>
                            <a:t>产生式</a:t>
                          </a:r>
                          <a:endParaRPr lang="zh-CN" altLang="en-US" sz="2400" b="1" i="0" dirty="0"/>
                        </a:p>
                      </a:txBody>
                      <a:tcPr anchor="ctr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/>
                            <a:t>语义动作</a:t>
                          </a:r>
                          <a:endParaRPr lang="zh-CN" altLang="en-US" sz="2400" b="1" i="0" dirty="0"/>
                        </a:p>
                      </a:txBody>
                      <a:tcPr anchor="ctr">
                        <a:solidFill>
                          <a:srgbClr val="CCCCFF"/>
                        </a:solidFill>
                      </a:tcPr>
                    </a:tc>
                  </a:tr>
                  <a:tr h="52959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</a:tr>
                  <a:tr h="52895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</a:tr>
                  <a:tr h="52959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</a:tr>
                  <a:tr h="95313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</a:tr>
                  <a:tr h="52959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1350533"/>
            <a:ext cx="11377264" cy="5137150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请将下面的</a:t>
            </a:r>
            <a:r>
              <a:rPr lang="en-US" altLang="zh-CN" sz="2400" dirty="0" err="1"/>
              <a:t>SDD</a:t>
            </a:r>
            <a:r>
              <a:rPr lang="zh-CN" altLang="en-US" sz="2400" dirty="0"/>
              <a:t>转换为</a:t>
            </a:r>
            <a:r>
              <a:rPr lang="en-US" altLang="zh-CN" sz="2400" dirty="0" err="1"/>
              <a:t>SDT</a:t>
            </a:r>
            <a:r>
              <a:rPr lang="zh-CN" altLang="en-US" sz="2400" dirty="0"/>
              <a:t>。</a:t>
            </a:r>
            <a:endParaRPr lang="zh-CN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/>
              <p:cNvGraphicFramePr>
                <a:graphicFrameLocks noGrp="1"/>
              </p:cNvGraphicFramePr>
              <p:nvPr/>
            </p:nvGraphicFramePr>
            <p:xfrm>
              <a:off x="5807968" y="2420887"/>
              <a:ext cx="5760640" cy="309408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76064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61881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′→{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kern="1200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}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1881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→( 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altLang="zh-CN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𝑳</m:t>
                                    </m:r>
                                    <m:r>
                                      <a:rPr lang="en-US" altLang="zh-CN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altLang="zh-CN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𝒅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CN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CN" sz="2400" b="1" i="0" kern="1200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CN" sz="2400" b="1" i="1" kern="1200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CN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CN" sz="2400" b="1" i="0" kern="1200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altLang="zh-CN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𝒅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CN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CN" sz="2400" b="1" i="1" kern="1200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sz="2400" b="1" i="1" kern="1200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</m:d>
                                <m:r>
                                  <a:rPr lang="en-US" altLang="zh-CN" sz="2400" b="1" i="1" kern="120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1881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{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𝒑𝒓𝒊𝒏𝒕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1881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en-US" altLang="zh-CN" sz="2400" b="1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400" b="1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b="1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𝑳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b="1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𝟏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nor/>
                                          </m:rPr>
                                          <a:rPr lang="en-US" altLang="zh-CN" sz="2400" b="1" i="0" kern="1200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.</m:t>
                                        </m:r>
                                        <m:r>
                                          <a:rPr lang="en-US" altLang="zh-CN" sz="2400" b="1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𝒅</m:t>
                                        </m:r>
                                        <m:r>
                                          <a:rPr lang="en-US" altLang="zh-CN" sz="2400" b="1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en-US" altLang="zh-CN" sz="2400" b="1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𝑳</m:t>
                                        </m:r>
                                        <m:r>
                                          <a:rPr lang="en-US" altLang="zh-CN" sz="2400" b="1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.</m:t>
                                        </m:r>
                                        <m:r>
                                          <a:rPr lang="en-US" altLang="zh-CN" sz="2400" b="1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𝒅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CN" sz="2400" b="1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</m:d>
                                    <m:r>
                                      <a:rPr lang="en-US" altLang="zh-CN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altLang="zh-CN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  <m:r>
                                      <a:rPr lang="en-US" altLang="zh-CN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altLang="zh-CN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𝒅</m:t>
                                    </m:r>
                                    <m:r>
                                      <a:rPr lang="en-US" altLang="zh-CN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 </m:t>
                                    </m:r>
                                    <m:r>
                                      <a:rPr lang="en-US" altLang="zh-CN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𝑳</m:t>
                                    </m:r>
                                    <m:r>
                                      <a:rPr lang="en-US" altLang="zh-CN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altLang="zh-CN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𝒅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CN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  <m:r>
                                  <a:rPr lang="en-US" altLang="zh-CN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1881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altLang="zh-CN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  <m:r>
                                      <a:rPr lang="en-US" altLang="zh-CN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altLang="zh-CN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𝒅</m:t>
                                    </m:r>
                                    <m:r>
                                      <a:rPr lang="en-US" altLang="zh-CN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zh-CN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𝑳</m:t>
                                    </m:r>
                                    <m:r>
                                      <a:rPr lang="en-US" altLang="zh-CN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altLang="zh-CN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</m:d>
                                <m:r>
                                  <a:rPr lang="en-US" altLang="zh-CN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 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/>
              <p:cNvGraphicFramePr>
                <a:graphicFrameLocks noGrp="1"/>
              </p:cNvGraphicFramePr>
              <p:nvPr/>
            </p:nvGraphicFramePr>
            <p:xfrm>
              <a:off x="5807968" y="2420887"/>
              <a:ext cx="5760640" cy="309408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760640"/>
                  </a:tblGrid>
                  <a:tr h="61912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</a:tr>
                  <a:tr h="61849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</a:tr>
                  <a:tr h="61912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</a:tr>
                  <a:tr h="61849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</a:tr>
                  <a:tr h="61912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/>
            </p:nvGraphicFramePr>
            <p:xfrm>
              <a:off x="911424" y="2420888"/>
              <a:ext cx="4608512" cy="31089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9643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81208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455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>
                              <a:latin typeface="Cambria Math" panose="02040503050406030204" pitchFamily="18" charset="0"/>
                            </a:rPr>
                            <a:t>产生式</a:t>
                          </a:r>
                        </a:p>
                      </a:txBody>
                      <a:tcPr anchor="ctr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>
                              <a:latin typeface="Cambria Math" panose="02040503050406030204" pitchFamily="18" charset="0"/>
                            </a:rPr>
                            <a:t>语义动作</a:t>
                          </a:r>
                        </a:p>
                      </a:txBody>
                      <a:tcPr anchor="ctr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2379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0</m:t>
                                </m:r>
                              </m:oMath>
                            </m:oMathPara>
                          </a14:m>
                          <a:endParaRPr lang="zh-CN" altLang="en-US" sz="24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2379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→(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237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𝒑𝒓𝒊𝒏𝒕</m:t>
                                </m:r>
                                <m:r>
                                  <a:rPr lang="en-US" altLang="zh-CN" sz="24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4553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altLang="zh-CN" sz="24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oMath>
                            </m:oMathPara>
                          </a14:m>
                          <a:endParaRPr lang="en-US" altLang="zh-CN" sz="24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4553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oMath>
                            </m:oMathPara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/>
            </p:nvGraphicFramePr>
            <p:xfrm>
              <a:off x="911424" y="2420888"/>
              <a:ext cx="4608512" cy="31089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96431"/>
                    <a:gridCol w="2812081"/>
                  </a:tblGrid>
                  <a:tr h="2455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>
                              <a:latin typeface="Cambria Math" panose="02040503050406030204" pitchFamily="18" charset="0"/>
                            </a:rPr>
                            <a:t>产生式</a:t>
                          </a:r>
                          <a:endParaRPr lang="zh-CN" altLang="en-US" sz="24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i="0" dirty="0">
                              <a:latin typeface="Cambria Math" panose="02040503050406030204" pitchFamily="18" charset="0"/>
                            </a:rPr>
                            <a:t>语义动作</a:t>
                          </a:r>
                          <a:endParaRPr lang="zh-CN" altLang="en-US" sz="24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CCCCFF"/>
                        </a:solid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</a:blipFill>
                      </a:tcPr>
                    </a:tc>
                  </a:tr>
                  <a:tr h="8229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1350533"/>
            <a:ext cx="11377264" cy="5137150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请根据</a:t>
            </a:r>
            <a:r>
              <a:rPr lang="en-US" altLang="zh-CN" sz="2400" dirty="0" err="1"/>
              <a:t>SDT</a:t>
            </a:r>
            <a:r>
              <a:rPr lang="zh-CN" altLang="en-US" sz="2400" dirty="0"/>
              <a:t>写出对串</a:t>
            </a:r>
            <a:r>
              <a:rPr lang="en-US" altLang="zh-CN" sz="2400" dirty="0"/>
              <a:t>((a),a)</a:t>
            </a:r>
            <a:r>
              <a:rPr lang="zh-CN" altLang="en-US" sz="2400" dirty="0"/>
              <a:t>进行自下而上的分析时，分析栈中属性栈的变化过程。</a:t>
            </a:r>
            <a:endParaRPr lang="zh-CN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/>
              <p:cNvGraphicFramePr>
                <a:graphicFrameLocks noGrp="1"/>
              </p:cNvGraphicFramePr>
              <p:nvPr/>
            </p:nvGraphicFramePr>
            <p:xfrm>
              <a:off x="551384" y="2276872"/>
              <a:ext cx="3384376" cy="360152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3843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69889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′→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𝑺</m:t>
                              </m:r>
                            </m:oMath>
                          </a14:m>
                          <a:r>
                            <a:rPr lang="en-US" altLang="zh-CN" sz="2000" b="1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{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kern="1200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𝒑𝒓𝒊𝒏𝒕</m:t>
                              </m:r>
                              <m:r>
                                <a:rPr lang="en-US" altLang="zh-CN" sz="2000" b="1" i="1" kern="1200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b="1" i="0" kern="1200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2000" b="1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}</a:t>
                          </a:r>
                          <a:endParaRPr lang="zh-CN" altLang="en-US" sz="20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5601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→(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20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{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b="1" i="0" kern="1200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b="1" i="1" kern="1200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b="1" i="1" kern="1200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000" b="1" i="1" kern="1200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b="1" i="1" kern="1200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2000" b="1" i="1" kern="1200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}</m:t>
                              </m:r>
                            </m:oMath>
                          </a14:m>
                          <a:endParaRPr lang="zh-CN" altLang="en-US" sz="20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9889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zh-CN" sz="20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{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r>
                            <a:rPr lang="en-US" altLang="zh-CN" sz="2000" b="1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}</a:t>
                          </a:r>
                          <a:endParaRPr lang="zh-CN" altLang="en-US" sz="2000" b="1" i="0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4882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𝑳</m:t>
                                  </m:r>
                                </m:e>
                                <m:sub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b="1" i="0" kern="1200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 </m:t>
                              </m:r>
                              <m:sSub>
                                <m:sSubPr>
                                  <m:ctrlPr>
                                    <a:rPr lang="en-US" altLang="zh-CN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𝑳</m:t>
                                  </m:r>
                                </m:e>
                                <m:sub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altLang="zh-CN" sz="2000" b="1" i="1" kern="1200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b="1" i="0" kern="1200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b="1" i="1" kern="1200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 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𝒄</m:t>
                              </m:r>
                            </m:oMath>
                          </a14:m>
                          <a:r>
                            <a:rPr lang="en-US" altLang="zh-CN" sz="2000" b="1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}</a:t>
                          </a:r>
                          <a:endParaRPr lang="zh-CN" altLang="en-US" sz="20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9889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zh-CN" sz="20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{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𝒄</m:t>
                              </m:r>
                            </m:oMath>
                          </a14:m>
                          <a:r>
                            <a:rPr lang="en-US" altLang="zh-CN" sz="2000" b="1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}</a:t>
                          </a:r>
                          <a:endParaRPr lang="zh-CN" altLang="en-US" sz="20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/>
              <p:cNvGraphicFramePr>
                <a:graphicFrameLocks noGrp="1"/>
              </p:cNvGraphicFramePr>
              <p:nvPr/>
            </p:nvGraphicFramePr>
            <p:xfrm>
              <a:off x="551384" y="2276872"/>
              <a:ext cx="3384376" cy="360152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384376"/>
                  </a:tblGrid>
                  <a:tr h="69913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</a:tr>
                  <a:tr h="75565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</a:tr>
                  <a:tr h="69913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</a:tr>
                  <a:tr h="74866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</a:tr>
                  <a:tr h="69913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4223792" y="2096485"/>
              <a:ext cx="7416824" cy="416228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94421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66429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0831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94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1" i="0" dirty="0">
                              <a:latin typeface="+mn-lt"/>
                            </a:rPr>
                            <a:t>分析栈</a:t>
                          </a:r>
                          <a:r>
                            <a:rPr lang="en-US" altLang="zh-CN" sz="2000" b="1" i="0" dirty="0">
                              <a:latin typeface="+mn-lt"/>
                            </a:rPr>
                            <a:t>+</a:t>
                          </a:r>
                          <a:r>
                            <a:rPr lang="zh-CN" altLang="en-US" sz="2000" b="1" i="0" dirty="0">
                              <a:latin typeface="+mn-lt"/>
                            </a:rPr>
                            <a:t>输入串</a:t>
                          </a:r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1" i="0" dirty="0">
                              <a:latin typeface="+mn-lt"/>
                            </a:rPr>
                            <a:t>语义动作</a:t>
                          </a:r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1" i="0" dirty="0">
                              <a:latin typeface="+mn-lt"/>
                            </a:rPr>
                            <a:t>属性栈</a:t>
                          </a:r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1706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$</m:t>
                                </m:r>
                                <m:d>
                                  <m:d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n-US" altLang="zh-CN" sz="2000" b="1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e>
                                    </m:d>
                                    <m:r>
                                      <a:rPr lang="en-US" altLang="zh-CN" sz="2000" b="1" i="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sz="20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en-US" sz="20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en-US" sz="20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16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$((</m:t>
                                </m:r>
                                <m:r>
                                  <a:rPr lang="en-US" altLang="zh-CN" sz="20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𝑺</m:t>
                                </m:r>
                                <m:r>
                                  <a:rPr lang="en-US" altLang="zh-CN" sz="20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𝟑</m:t>
                                </m:r>
                                <m:r>
                                  <a:rPr lang="en-US" altLang="zh-CN" sz="20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),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𝒂</m:t>
                                </m:r>
                                <m:r>
                                  <a:rPr lang="en-US" altLang="zh-CN" sz="20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0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𝑺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𝟑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𝒄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=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zh-CN" altLang="en-US" sz="20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$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𝑺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𝟑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𝒄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=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zh-CN" altLang="en-US" sz="2000" b="1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1632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$((</m:t>
                                </m:r>
                                <m:r>
                                  <a:rPr lang="en-US" altLang="zh-CN" sz="20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𝑳</m:t>
                                </m:r>
                                <m:r>
                                  <a:rPr lang="en-US" altLang="zh-CN" sz="20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𝟐</m:t>
                                </m:r>
                                <m:r>
                                  <a:rPr lang="en-US" altLang="zh-CN" sz="20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),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𝒂</m:t>
                                </m:r>
                                <m:r>
                                  <a:rPr lang="en-US" altLang="zh-CN" sz="20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0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𝑳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𝟐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𝒄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b="1" i="0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𝑺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𝟑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𝒄</m:t>
                                </m:r>
                              </m:oMath>
                            </m:oMathPara>
                          </a14:m>
                          <a:endParaRPr lang="zh-CN" altLang="en-US" sz="2000" b="1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$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𝑳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𝟐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𝒄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=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zh-CN" altLang="en-US" sz="20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1632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$</m:t>
                                </m:r>
                                <m:r>
                                  <a:rPr lang="en-US" altLang="zh-CN" sz="20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</m:t>
                                </m:r>
                                <m:r>
                                  <a:rPr lang="en-US" altLang="zh-CN" sz="20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𝑺</m:t>
                                </m:r>
                                <m:r>
                                  <a:rPr lang="en-US" altLang="zh-CN" sz="20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𝟐</m:t>
                                </m:r>
                                <m:r>
                                  <a:rPr lang="en-US" altLang="zh-CN" sz="20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,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𝒂</m:t>
                                </m:r>
                                <m:r>
                                  <a:rPr lang="en-US" altLang="zh-CN" sz="20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0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𝑺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𝟐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𝒄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b="1" i="0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=</m:t>
                                </m:r>
                                <m:r>
                                  <a:rPr lang="en-US" altLang="zh-CN" sz="20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𝑳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𝟐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𝒄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b="1" i="0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+1 </m:t>
                                </m:r>
                              </m:oMath>
                            </m:oMathPara>
                          </a14:m>
                          <a:endParaRPr lang="zh-CN" altLang="en-US" sz="20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$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𝑺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𝟐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𝒄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=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zh-CN" altLang="en-US" sz="20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1632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$(</m:t>
                                </m:r>
                                <m:r>
                                  <a:rPr lang="en-US" altLang="zh-CN" sz="20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𝑳</m:t>
                                </m:r>
                                <m:r>
                                  <a:rPr lang="en-US" altLang="zh-CN" sz="20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𝟏</m:t>
                                </m:r>
                                <m:r>
                                  <a:rPr lang="en-US" altLang="zh-CN" sz="20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,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𝒂</m:t>
                                </m:r>
                                <m:r>
                                  <a:rPr lang="en-US" altLang="zh-CN" sz="20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0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𝑳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𝟏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𝒄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b="1" i="0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𝑺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𝟐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𝒄</m:t>
                                </m:r>
                              </m:oMath>
                            </m:oMathPara>
                          </a14:m>
                          <a:endParaRPr lang="zh-CN" altLang="en-US" sz="2000" b="1" i="0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$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𝑳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𝟏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𝒄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=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zh-CN" altLang="en-US" sz="20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1632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$(</m:t>
                                </m:r>
                                <m:r>
                                  <a:rPr lang="en-US" altLang="zh-CN" sz="20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𝑳</m:t>
                                </m:r>
                                <m:r>
                                  <a:rPr lang="en-US" altLang="zh-CN" sz="20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𝟏</m:t>
                                </m:r>
                                <m:r>
                                  <a:rPr lang="en-US" altLang="zh-CN" sz="20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, </m:t>
                                </m:r>
                                <m:r>
                                  <a:rPr lang="en-US" altLang="zh-CN" sz="20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𝑺</m:t>
                                </m:r>
                                <m:r>
                                  <a:rPr lang="en-US" altLang="zh-CN" sz="20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𝟏</m:t>
                                </m:r>
                                <m:r>
                                  <a:rPr lang="en-US" altLang="zh-CN" sz="20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0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𝑺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𝟏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𝒄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=</m:t>
                                </m:r>
                                <m:r>
                                  <a:rPr lang="en-US" altLang="zh-CN" sz="20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zh-CN" altLang="en-US" sz="20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000" b="1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$</m:t>
                              </m:r>
                              <m:r>
                                <a:rPr lang="en-US" altLang="zh-CN" sz="2000" b="1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𝑳</m:t>
                              </m:r>
                              <m:r>
                                <a:rPr lang="en-US" altLang="zh-CN" sz="2000" b="1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𝟏</m:t>
                              </m:r>
                              <m:r>
                                <a:rPr lang="en-US" altLang="zh-CN" sz="2000" b="1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.</m:t>
                              </m:r>
                              <m:r>
                                <a:rPr lang="en-US" altLang="zh-CN" sz="2000" b="1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𝒄</m:t>
                              </m:r>
                              <m:r>
                                <a:rPr lang="en-US" altLang="zh-CN" sz="2000" b="1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=</m:t>
                              </m:r>
                              <m:r>
                                <a:rPr lang="en-US" altLang="zh-CN" sz="2000" b="1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𝟏</m:t>
                              </m:r>
                              <m:r>
                                <a:rPr lang="en-US" altLang="zh-CN" sz="2000" b="1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       </m:t>
                              </m:r>
                              <m:r>
                                <a:rPr lang="en-US" altLang="zh-CN" sz="2000" b="1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𝑺</m:t>
                              </m:r>
                              <m:r>
                                <a:rPr lang="en-US" altLang="zh-CN" sz="2000" b="1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𝟏</m:t>
                              </m:r>
                              <m:r>
                                <a:rPr lang="en-US" altLang="zh-CN" sz="2000" b="1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.</m:t>
                              </m:r>
                              <m:r>
                                <a:rPr lang="en-US" altLang="zh-CN" sz="2000" b="1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𝒄</m:t>
                              </m:r>
                              <m:r>
                                <a:rPr lang="en-US" altLang="zh-CN" sz="2000" b="1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=</m:t>
                              </m:r>
                              <m:r>
                                <a:rPr lang="en-US" altLang="zh-CN" sz="2000" b="1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𝟎</m:t>
                              </m:r>
                            </m:oMath>
                          </a14:m>
                          <a:r>
                            <a:rPr lang="zh-CN" altLang="en-US" sz="2000" b="1" i="0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  </a:t>
                          </a: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1632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$(</m:t>
                                </m:r>
                                <m:r>
                                  <a:rPr lang="en-US" altLang="zh-CN" sz="20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𝑳</m:t>
                                </m:r>
                                <m:r>
                                  <a:rPr lang="en-US" altLang="zh-CN" sz="20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𝟎</m:t>
                                </m:r>
                                <m:r>
                                  <a:rPr lang="en-US" altLang="zh-CN" sz="20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0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𝑳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𝟎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𝒄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b="1" i="0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𝑳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𝟏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𝒄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b="1" i="0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𝑺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𝟏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𝒄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b="1" i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sz="20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$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𝑳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𝟎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𝒄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=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𝟏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sz="20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1632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$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𝑺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zh-CN" altLang="en-US" sz="20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𝑺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𝟎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𝒄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= 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𝑳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𝟎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𝒄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b="1" i="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+ 1</m:t>
                                </m:r>
                              </m:oMath>
                            </m:oMathPara>
                          </a14:m>
                          <a:endParaRPr lang="zh-CN" altLang="en-US" sz="20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$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𝑺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𝟎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𝒄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=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𝟐</m:t>
                                </m:r>
                                <m:r>
                                  <a:rPr lang="en-US" altLang="zh-CN" sz="20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sz="20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41632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CN" sz="2000" b="1" i="0" kern="12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$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zh-CN" altLang="en-US" sz="20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𝒑𝒓𝒊𝒏𝒕</m:t>
                                </m:r>
                                <m:r>
                                  <a:rPr lang="en-US" altLang="zh-CN" sz="2000" b="1" i="1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b="1" i="0" kern="1200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0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en-US" sz="20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/>
            </p:nvGraphicFramePr>
            <p:xfrm>
              <a:off x="4223792" y="2096485"/>
              <a:ext cx="7416824" cy="416228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944216"/>
                    <a:gridCol w="2664296"/>
                    <a:gridCol w="2808312"/>
                  </a:tblGrid>
                  <a:tr h="3794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1" i="0" dirty="0">
                              <a:latin typeface="+mn-lt"/>
                            </a:rPr>
                            <a:t>分析栈</a:t>
                          </a:r>
                          <a:r>
                            <a:rPr lang="en-US" altLang="zh-CN" sz="2000" b="1" i="0" dirty="0">
                              <a:latin typeface="+mn-lt"/>
                            </a:rPr>
                            <a:t>+</a:t>
                          </a:r>
                          <a:r>
                            <a:rPr lang="zh-CN" altLang="en-US" sz="2000" b="1" i="0" dirty="0">
                              <a:latin typeface="+mn-lt"/>
                            </a:rPr>
                            <a:t>输入串</a:t>
                          </a:r>
                          <a:endParaRPr lang="zh-CN" altLang="en-US" sz="2000" b="1" i="0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1" i="0" dirty="0">
                              <a:latin typeface="+mn-lt"/>
                            </a:rPr>
                            <a:t>语义动作</a:t>
                          </a:r>
                          <a:endParaRPr lang="zh-CN" altLang="en-US" sz="2000" b="1" i="0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1" i="0" dirty="0">
                              <a:latin typeface="+mn-lt"/>
                            </a:rPr>
                            <a:t>属性栈</a:t>
                          </a:r>
                          <a:endParaRPr lang="zh-CN" altLang="en-US" sz="2000" b="1" i="0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CCCCFF"/>
                        </a:solidFill>
                      </a:tcPr>
                    </a:tc>
                  </a:tr>
                  <a:tr h="43307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en-US" sz="20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en-US" sz="20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</a:tr>
                  <a:tr h="4165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</a:tr>
                  <a:tr h="4165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</a:tr>
                  <a:tr h="41592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</a:tr>
                  <a:tr h="4165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</a:tr>
                  <a:tr h="4165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</a:tr>
                  <a:tr h="41592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</a:tr>
                  <a:tr h="4165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</a:tr>
                  <a:tr h="41592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en-US" sz="20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rgbClr val="FFFFCC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i="1" dirty="0"/>
              <a:t>L-</a:t>
            </a:r>
            <a:r>
              <a:rPr lang="zh-CN" altLang="en-US" dirty="0"/>
              <a:t>属性定义的</a:t>
            </a:r>
            <a:r>
              <a:rPr lang="en-US" altLang="zh-CN" i="1" dirty="0"/>
              <a:t>SDT </a:t>
            </a:r>
            <a:r>
              <a:rPr lang="zh-CN" altLang="en-US" dirty="0"/>
              <a:t>实现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</a:rPr>
              <a:t>如果一个</a:t>
            </a:r>
            <a:r>
              <a:rPr lang="en-US" altLang="zh-CN" sz="2400" dirty="0">
                <a:latin typeface="+mn-ea"/>
              </a:rPr>
              <a:t>L-SDD </a:t>
            </a:r>
            <a:r>
              <a:rPr lang="zh-CN" altLang="en-US" sz="2400" dirty="0">
                <a:latin typeface="+mn-ea"/>
              </a:rPr>
              <a:t>的基本文法可以使用</a:t>
            </a:r>
            <a:r>
              <a:rPr lang="en-US" altLang="zh-CN" sz="2400" dirty="0">
                <a:latin typeface="+mn-ea"/>
              </a:rPr>
              <a:t>LL </a:t>
            </a:r>
            <a:r>
              <a:rPr lang="zh-CN" altLang="en-US" sz="2400" dirty="0">
                <a:latin typeface="+mn-ea"/>
              </a:rPr>
              <a:t>分析技术，那么它的</a:t>
            </a:r>
            <a:r>
              <a:rPr lang="en-US" altLang="zh-CN" sz="2400" dirty="0">
                <a:latin typeface="+mn-ea"/>
              </a:rPr>
              <a:t>SDT </a:t>
            </a:r>
            <a:r>
              <a:rPr lang="zh-CN" altLang="en-US" sz="2400" dirty="0">
                <a:latin typeface="+mn-ea"/>
              </a:rPr>
              <a:t>可以在</a:t>
            </a:r>
            <a:r>
              <a:rPr lang="en-US" altLang="zh-CN" sz="2400" dirty="0">
                <a:latin typeface="+mn-ea"/>
              </a:rPr>
              <a:t>LL </a:t>
            </a:r>
            <a:r>
              <a:rPr lang="zh-CN" altLang="en-US" sz="2400" dirty="0">
                <a:latin typeface="+mn-ea"/>
              </a:rPr>
              <a:t>或</a:t>
            </a:r>
            <a:r>
              <a:rPr lang="en-US" altLang="zh-CN" sz="2400" dirty="0">
                <a:latin typeface="+mn-ea"/>
              </a:rPr>
              <a:t>LR </a:t>
            </a:r>
            <a:r>
              <a:rPr lang="zh-CN" altLang="en-US" sz="2400" dirty="0">
                <a:latin typeface="+mn-ea"/>
              </a:rPr>
              <a:t>语法分析过程中实现</a:t>
            </a:r>
            <a:endParaRPr lang="en-US" altLang="zh-CN" sz="24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+mn-ea"/>
              </a:rPr>
              <a:t>在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递归下降</a:t>
            </a:r>
            <a:r>
              <a:rPr lang="zh-CN" altLang="en-US" sz="2400" dirty="0">
                <a:latin typeface="+mn-ea"/>
              </a:rPr>
              <a:t>的预测分析过程中进行语义翻译：以参数和返回值的形式处理属性。</a:t>
            </a:r>
            <a:endParaRPr lang="en-US" altLang="zh-CN" sz="24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+mn-ea"/>
              </a:rPr>
              <a:t>在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LL </a:t>
            </a:r>
            <a:r>
              <a:rPr lang="zh-CN" altLang="en-US" sz="2400" dirty="0">
                <a:latin typeface="+mn-ea"/>
              </a:rPr>
              <a:t>的预测分析过程中进行语义翻译：属性值存放到语法分析栈中，各个规则从栈中取值。</a:t>
            </a:r>
            <a:endParaRPr lang="en-US" altLang="zh-CN" sz="24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+mn-ea"/>
              </a:rPr>
              <a:t>在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LR</a:t>
            </a:r>
            <a:r>
              <a:rPr lang="en-US" altLang="zh-CN" sz="2400" dirty="0">
                <a:latin typeface="+mn-ea"/>
              </a:rPr>
              <a:t> </a:t>
            </a:r>
            <a:r>
              <a:rPr lang="zh-CN" altLang="en-US" sz="2400" dirty="0">
                <a:latin typeface="+mn-ea"/>
              </a:rPr>
              <a:t>分析过程中进行语义翻译：按照自底向上的方式来处理翻译过程。 </a:t>
            </a:r>
            <a:br>
              <a:rPr lang="zh-CN" altLang="en-US" sz="2400" dirty="0">
                <a:latin typeface="+mn-ea"/>
              </a:rPr>
            </a:br>
            <a:endParaRPr lang="en-US" altLang="zh-CN" sz="2400" dirty="0">
              <a:latin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在递归下降语法分析过程中进行翻译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</a:rPr>
              <a:t>一个递归下降的语法分析器对每个非终结符</a:t>
            </a:r>
            <a:r>
              <a:rPr lang="en-US" altLang="zh-CN" sz="2400" dirty="0">
                <a:latin typeface="+mn-ea"/>
              </a:rPr>
              <a:t>A</a:t>
            </a:r>
            <a:r>
              <a:rPr lang="zh-CN" altLang="en-US" sz="2400" dirty="0">
                <a:latin typeface="+mn-ea"/>
              </a:rPr>
              <a:t>都有一个函数</a:t>
            </a:r>
            <a:r>
              <a:rPr lang="en-US" altLang="zh-CN" sz="2400" dirty="0">
                <a:latin typeface="+mn-ea"/>
              </a:rPr>
              <a:t>A</a:t>
            </a:r>
            <a:r>
              <a:rPr lang="zh-CN" altLang="en-US" sz="2400" dirty="0">
                <a:latin typeface="+mn-ea"/>
              </a:rPr>
              <a:t>。我们可以按照下面的方法把这个分析器扩展成一个翻译器：</a:t>
            </a:r>
            <a:endParaRPr lang="en-US" altLang="zh-CN" sz="24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+mn-ea"/>
              </a:rPr>
              <a:t>函数</a:t>
            </a:r>
            <a:r>
              <a:rPr lang="en-US" altLang="zh-CN" sz="2400" dirty="0">
                <a:latin typeface="+mn-ea"/>
              </a:rPr>
              <a:t>A</a:t>
            </a:r>
            <a:r>
              <a:rPr lang="zh-CN" altLang="en-US" sz="2400" dirty="0">
                <a:latin typeface="+mn-ea"/>
              </a:rPr>
              <a:t>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参数</a:t>
            </a:r>
            <a:r>
              <a:rPr lang="zh-CN" altLang="en-US" sz="2400" dirty="0">
                <a:latin typeface="+mn-ea"/>
              </a:rPr>
              <a:t>是非终结符</a:t>
            </a:r>
            <a:r>
              <a:rPr lang="en-US" altLang="zh-CN" sz="2400" dirty="0">
                <a:latin typeface="+mn-ea"/>
              </a:rPr>
              <a:t>A</a:t>
            </a:r>
            <a:r>
              <a:rPr lang="zh-CN" altLang="en-US" sz="2400" dirty="0">
                <a:latin typeface="+mn-ea"/>
              </a:rPr>
              <a:t>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继承属性</a:t>
            </a:r>
            <a:endParaRPr lang="en-US" altLang="zh-CN" sz="2400" dirty="0">
              <a:solidFill>
                <a:srgbClr val="FF0000"/>
              </a:solidFill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+mn-ea"/>
              </a:rPr>
              <a:t>函数</a:t>
            </a:r>
            <a:r>
              <a:rPr lang="en-US" altLang="zh-CN" sz="2400" dirty="0">
                <a:latin typeface="+mn-ea"/>
              </a:rPr>
              <a:t>A</a:t>
            </a:r>
            <a:r>
              <a:rPr lang="zh-CN" altLang="en-US" sz="2400" dirty="0">
                <a:latin typeface="+mn-ea"/>
              </a:rPr>
              <a:t>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返回值</a:t>
            </a:r>
            <a:r>
              <a:rPr lang="zh-CN" altLang="en-US" sz="2400" dirty="0">
                <a:latin typeface="+mn-ea"/>
              </a:rPr>
              <a:t>是非终结符</a:t>
            </a:r>
            <a:r>
              <a:rPr lang="en-US" altLang="zh-CN" sz="2400" dirty="0">
                <a:latin typeface="+mn-ea"/>
              </a:rPr>
              <a:t>A</a:t>
            </a:r>
            <a:r>
              <a:rPr lang="zh-CN" altLang="en-US" sz="2400" dirty="0">
                <a:latin typeface="+mn-ea"/>
              </a:rPr>
              <a:t>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综合属性</a:t>
            </a:r>
            <a:br>
              <a:rPr lang="zh-CN" altLang="en-US" sz="2400" dirty="0">
                <a:latin typeface="+mn-ea"/>
              </a:rPr>
            </a:br>
            <a:endParaRPr lang="en-US" altLang="zh-CN" sz="2400" dirty="0">
              <a:latin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在递归下降语法分析过程中进行翻译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8484" y="1340768"/>
            <a:ext cx="11175032" cy="5137150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</a:rPr>
              <a:t>在函数</a:t>
            </a:r>
            <a:r>
              <a:rPr lang="en-US" altLang="zh-CN" sz="2400" dirty="0">
                <a:latin typeface="+mn-ea"/>
              </a:rPr>
              <a:t>A</a:t>
            </a:r>
            <a:r>
              <a:rPr lang="zh-CN" altLang="en-US" sz="2400" dirty="0">
                <a:latin typeface="+mn-ea"/>
              </a:rPr>
              <a:t>中，需要在进行分析的同时处理属性：</a:t>
            </a:r>
            <a:endParaRPr lang="en-US" altLang="zh-CN" sz="24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+mn-ea"/>
              </a:rPr>
              <a:t>决定用哪一个产生式来展开</a:t>
            </a:r>
            <a:r>
              <a:rPr lang="en-US" altLang="zh-CN" sz="2400" dirty="0">
                <a:latin typeface="+mn-ea"/>
              </a:rPr>
              <a:t>A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+mn-ea"/>
              </a:rPr>
              <a:t>当需要读入一个终结符时，在输入中检查这些符号是否出现。</a:t>
            </a:r>
            <a:endParaRPr lang="en-US" altLang="zh-CN" sz="24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+mn-ea"/>
              </a:rPr>
              <a:t>在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局部变量中保存</a:t>
            </a:r>
            <a:r>
              <a:rPr lang="zh-CN" altLang="en-US" sz="2400" dirty="0">
                <a:latin typeface="+mn-ea"/>
              </a:rPr>
              <a:t>所有必要的属性值。</a:t>
            </a:r>
            <a:endParaRPr lang="en-US" altLang="zh-CN" sz="24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+mn-ea"/>
              </a:rPr>
              <a:t>调用对应于被选定的产生式中的非终结符的函数，向它们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提供正确的参数</a:t>
            </a:r>
            <a:r>
              <a:rPr lang="zh-CN" altLang="en-US" sz="2400" dirty="0">
                <a:latin typeface="+mn-ea"/>
              </a:rPr>
              <a:t>。因为基础的</a:t>
            </a:r>
            <a:r>
              <a:rPr lang="en-US" altLang="zh-CN" sz="2400" dirty="0">
                <a:latin typeface="+mn-ea"/>
              </a:rPr>
              <a:t>SDD</a:t>
            </a:r>
            <a:r>
              <a:rPr lang="zh-CN" altLang="en-US" sz="2400" dirty="0">
                <a:latin typeface="+mn-ea"/>
              </a:rPr>
              <a:t>是</a:t>
            </a:r>
            <a:r>
              <a:rPr lang="en-US" altLang="zh-CN" sz="2400" dirty="0">
                <a:latin typeface="+mn-ea"/>
              </a:rPr>
              <a:t>L</a:t>
            </a:r>
            <a:r>
              <a:rPr lang="zh-CN" altLang="en-US" sz="2400" dirty="0">
                <a:latin typeface="+mn-ea"/>
              </a:rPr>
              <a:t>属性的，所以我们必然已经计算出了这些属性。</a:t>
            </a:r>
            <a:br>
              <a:rPr lang="zh-CN" altLang="en-US" sz="2400" dirty="0">
                <a:latin typeface="+mn-ea"/>
              </a:rPr>
            </a:br>
            <a:endParaRPr lang="en-US" altLang="zh-CN" sz="2400" dirty="0">
              <a:latin typeface="+mn-e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767408" y="72007"/>
            <a:ext cx="10801200" cy="6741369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6096000" y="332656"/>
            <a:ext cx="5184576" cy="6336704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  <a:effectLst/>
        </p:spPr>
        <p:txBody>
          <a:bodyPr vert="horz" wrap="none" lIns="91440" tIns="45720" rIns="91440" bIns="45720" numCol="1" anchor="t" anchorCtr="0" compatLnSpc="1">
            <a:noAutofit/>
          </a:bodyPr>
          <a:lstStyle>
            <a:lvl1pPr indent="2667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T’syn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T’(</a:t>
            </a:r>
            <a:r>
              <a:rPr lang="en-US" altLang="zh-CN" sz="24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T’inh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)</a:t>
            </a:r>
          </a:p>
          <a:p>
            <a:pPr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{</a:t>
            </a:r>
          </a:p>
          <a:p>
            <a:pPr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int </a:t>
            </a:r>
            <a:r>
              <a:rPr lang="en-US" altLang="zh-CN" sz="2400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Fval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, </a:t>
            </a:r>
            <a:r>
              <a:rPr lang="en-US" altLang="zh-CN" sz="24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T1’inh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, </a:t>
            </a:r>
            <a:r>
              <a:rPr lang="en-US" altLang="zh-CN" sz="24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T1’syn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;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if (token == “*”)</a:t>
            </a:r>
          </a:p>
          <a:p>
            <a:pPr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{</a:t>
            </a:r>
          </a:p>
          <a:p>
            <a:pPr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	match(“*”);</a:t>
            </a:r>
          </a:p>
          <a:p>
            <a:pPr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	</a:t>
            </a:r>
            <a:r>
              <a:rPr lang="en-US" altLang="zh-CN" sz="2400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Fval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= </a:t>
            </a:r>
            <a:r>
              <a:rPr lang="en-US" altLang="zh-CN" sz="2400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F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();</a:t>
            </a:r>
          </a:p>
          <a:p>
            <a:pPr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	</a:t>
            </a:r>
            <a:r>
              <a:rPr lang="en-US" altLang="zh-CN" sz="24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T1’inh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= </a:t>
            </a:r>
            <a:r>
              <a:rPr lang="en-US" altLang="zh-CN" sz="24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T’inh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* </a:t>
            </a:r>
            <a:r>
              <a:rPr lang="en-US" altLang="zh-CN" sz="2400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Fval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;</a:t>
            </a:r>
          </a:p>
          <a:p>
            <a:pPr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	</a:t>
            </a:r>
            <a:r>
              <a:rPr lang="en-US" altLang="zh-CN" sz="2400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T1’syn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= </a:t>
            </a:r>
            <a:r>
              <a:rPr lang="en-US" altLang="zh-CN" sz="2400" b="1" dirty="0">
                <a:solidFill>
                  <a:srgbClr val="339933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T’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(</a:t>
            </a:r>
            <a:r>
              <a:rPr lang="en-US" altLang="zh-CN" sz="24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T1’inh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);</a:t>
            </a:r>
          </a:p>
          <a:p>
            <a:pPr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	</a:t>
            </a:r>
            <a:r>
              <a:rPr lang="en-US" altLang="zh-CN" sz="2400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T’syn</a:t>
            </a:r>
            <a:r>
              <a:rPr lang="en-US" altLang="zh-CN" sz="24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= </a:t>
            </a:r>
            <a:r>
              <a:rPr lang="en-US" altLang="zh-CN" sz="2400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T1’syn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;</a:t>
            </a:r>
          </a:p>
          <a:p>
            <a:pPr indent="0" defTabSz="914400">
              <a:lnSpc>
                <a:spcPct val="90000"/>
              </a:lnSpc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	return </a:t>
            </a:r>
            <a:r>
              <a:rPr lang="en-US" altLang="zh-CN" sz="2400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T’syn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;</a:t>
            </a:r>
          </a:p>
          <a:p>
            <a:pPr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}</a:t>
            </a:r>
          </a:p>
          <a:p>
            <a:pPr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else if (token == “$”)</a:t>
            </a:r>
          </a:p>
          <a:p>
            <a:pPr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{</a:t>
            </a:r>
          </a:p>
          <a:p>
            <a:pPr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	</a:t>
            </a:r>
            <a:r>
              <a:rPr lang="en-US" altLang="zh-CN" sz="2400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T’syn</a:t>
            </a:r>
            <a:r>
              <a:rPr lang="en-US" altLang="zh-CN" sz="24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= </a:t>
            </a:r>
            <a:r>
              <a:rPr lang="en-US" altLang="zh-CN" sz="2400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T1’syn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;</a:t>
            </a:r>
          </a:p>
          <a:p>
            <a:pPr indent="0" defTabSz="914400">
              <a:lnSpc>
                <a:spcPct val="90000"/>
              </a:lnSpc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	return </a:t>
            </a:r>
            <a:r>
              <a:rPr lang="en-US" altLang="zh-CN" sz="2400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T’syn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;</a:t>
            </a:r>
          </a:p>
          <a:p>
            <a:pPr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}</a:t>
            </a:r>
          </a:p>
          <a:p>
            <a:pPr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else error();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}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740" y="2406786"/>
            <a:ext cx="4543425" cy="2495550"/>
          </a:xfrm>
          <a:prstGeom prst="rect">
            <a:avLst/>
          </a:prstGeom>
          <a:ln w="28575">
            <a:solidFill>
              <a:srgbClr val="9999FF"/>
            </a:solidFill>
          </a:ln>
          <a:effectLst/>
        </p:spPr>
      </p:pic>
      <p:grpSp>
        <p:nvGrpSpPr>
          <p:cNvPr id="2" name="组合 1"/>
          <p:cNvGrpSpPr/>
          <p:nvPr/>
        </p:nvGrpSpPr>
        <p:grpSpPr>
          <a:xfrm>
            <a:off x="923740" y="332655"/>
            <a:ext cx="5316276" cy="923330"/>
            <a:chOff x="156331" y="260648"/>
            <a:chExt cx="5316276" cy="923330"/>
          </a:xfrm>
        </p:grpSpPr>
        <p:sp>
          <p:nvSpPr>
            <p:cNvPr id="7" name="矩形 6"/>
            <p:cNvSpPr/>
            <p:nvPr/>
          </p:nvSpPr>
          <p:spPr>
            <a:xfrm>
              <a:off x="156331" y="260648"/>
              <a:ext cx="4543425" cy="92333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B050"/>
              </a:solidFill>
            </a:ln>
            <a:effectLst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+mn-lt"/>
                  <a:ea typeface="+mn-ea"/>
                </a:rPr>
                <a:t>为每个非终结符</a:t>
              </a:r>
              <a:r>
                <a:rPr lang="en-US" altLang="zh-CN" b="1" i="1" dirty="0">
                  <a:solidFill>
                    <a:srgbClr val="000000"/>
                  </a:solidFill>
                  <a:latin typeface="+mn-lt"/>
                  <a:ea typeface="+mn-ea"/>
                </a:rPr>
                <a:t>A</a:t>
              </a:r>
              <a:r>
                <a:rPr lang="zh-CN" altLang="en-US" b="1" dirty="0">
                  <a:solidFill>
                    <a:srgbClr val="000000"/>
                  </a:solidFill>
                  <a:latin typeface="+mn-lt"/>
                  <a:ea typeface="+mn-ea"/>
                </a:rPr>
                <a:t>构造一个</a:t>
              </a:r>
              <a:r>
                <a:rPr lang="zh-CN" altLang="en-US" b="1" dirty="0">
                  <a:solidFill>
                    <a:srgbClr val="0000FF"/>
                  </a:solidFill>
                  <a:latin typeface="+mn-lt"/>
                  <a:ea typeface="+mn-ea"/>
                </a:rPr>
                <a:t>函数</a:t>
              </a:r>
              <a:r>
                <a:rPr lang="zh-CN" altLang="en-US" b="1" dirty="0">
                  <a:solidFill>
                    <a:srgbClr val="000000"/>
                  </a:solidFill>
                  <a:latin typeface="+mn-lt"/>
                  <a:ea typeface="+mn-ea"/>
                </a:rPr>
                <a:t>，</a:t>
              </a:r>
              <a:r>
                <a:rPr lang="en-US" altLang="zh-CN" b="1" i="1" dirty="0">
                  <a:solidFill>
                    <a:srgbClr val="000000"/>
                  </a:solidFill>
                  <a:latin typeface="+mn-lt"/>
                  <a:ea typeface="+mn-ea"/>
                </a:rPr>
                <a:t>A</a:t>
              </a:r>
              <a:r>
                <a:rPr lang="zh-CN" altLang="en-US" b="1" dirty="0">
                  <a:solidFill>
                    <a:srgbClr val="000000"/>
                  </a:solidFill>
                  <a:latin typeface="+mn-lt"/>
                  <a:ea typeface="+mn-ea"/>
                </a:rPr>
                <a:t>的每个</a:t>
              </a:r>
              <a:r>
                <a:rPr lang="zh-CN" altLang="en-US" b="1" dirty="0">
                  <a:solidFill>
                    <a:srgbClr val="0000FF"/>
                  </a:solidFill>
                  <a:latin typeface="+mn-lt"/>
                  <a:ea typeface="+mn-ea"/>
                </a:rPr>
                <a:t>继承属性</a:t>
              </a:r>
              <a:r>
                <a:rPr lang="zh-CN" altLang="en-US" b="1" dirty="0">
                  <a:solidFill>
                    <a:srgbClr val="000000"/>
                  </a:solidFill>
                  <a:latin typeface="+mn-lt"/>
                  <a:ea typeface="+mn-ea"/>
                </a:rPr>
                <a:t>对应该函数的一个</a:t>
              </a:r>
              <a:r>
                <a:rPr lang="zh-CN" altLang="en-US" b="1" dirty="0">
                  <a:solidFill>
                    <a:srgbClr val="0000FF"/>
                  </a:solidFill>
                  <a:latin typeface="+mn-lt"/>
                  <a:ea typeface="+mn-ea"/>
                </a:rPr>
                <a:t>形参</a:t>
              </a:r>
              <a:r>
                <a:rPr lang="zh-CN" altLang="en-US" b="1" dirty="0">
                  <a:solidFill>
                    <a:srgbClr val="000000"/>
                  </a:solidFill>
                  <a:latin typeface="+mn-lt"/>
                  <a:ea typeface="+mn-ea"/>
                </a:rPr>
                <a:t>，函数的</a:t>
              </a:r>
              <a:r>
                <a:rPr lang="zh-CN" altLang="en-US" b="1" dirty="0">
                  <a:solidFill>
                    <a:srgbClr val="0000FF"/>
                  </a:solidFill>
                  <a:latin typeface="+mn-lt"/>
                  <a:ea typeface="+mn-ea"/>
                </a:rPr>
                <a:t>返回值</a:t>
              </a:r>
              <a:r>
                <a:rPr lang="zh-CN" altLang="en-US" b="1" dirty="0">
                  <a:solidFill>
                    <a:srgbClr val="000000"/>
                  </a:solidFill>
                  <a:latin typeface="+mn-lt"/>
                  <a:ea typeface="+mn-ea"/>
                </a:rPr>
                <a:t>是</a:t>
              </a:r>
              <a:r>
                <a:rPr lang="en-US" altLang="zh-CN" b="1" i="1" dirty="0">
                  <a:solidFill>
                    <a:srgbClr val="000000"/>
                  </a:solidFill>
                  <a:latin typeface="+mn-lt"/>
                  <a:ea typeface="+mn-ea"/>
                </a:rPr>
                <a:t>A</a:t>
              </a:r>
              <a:r>
                <a:rPr lang="zh-CN" altLang="en-US" b="1" dirty="0">
                  <a:solidFill>
                    <a:srgbClr val="000000"/>
                  </a:solidFill>
                  <a:latin typeface="+mn-lt"/>
                  <a:ea typeface="+mn-ea"/>
                </a:rPr>
                <a:t>的</a:t>
              </a:r>
              <a:r>
                <a:rPr lang="zh-CN" altLang="en-US" b="1" dirty="0">
                  <a:solidFill>
                    <a:srgbClr val="0000FF"/>
                  </a:solidFill>
                  <a:latin typeface="+mn-lt"/>
                  <a:ea typeface="+mn-ea"/>
                </a:rPr>
                <a:t>综合属性</a:t>
              </a:r>
              <a:r>
                <a:rPr lang="zh-CN" altLang="en-US" b="1" dirty="0">
                  <a:solidFill>
                    <a:srgbClr val="000000"/>
                  </a:solidFill>
                  <a:latin typeface="+mn-lt"/>
                  <a:ea typeface="+mn-ea"/>
                </a:rPr>
                <a:t>值。</a:t>
              </a:r>
              <a:endParaRPr lang="zh-CN" altLang="en-US" b="1" dirty="0">
                <a:latin typeface="+mn-lt"/>
                <a:ea typeface="+mn-ea"/>
              </a:endParaRPr>
            </a:p>
          </p:txBody>
        </p:sp>
        <p:cxnSp>
          <p:nvCxnSpPr>
            <p:cNvPr id="9" name="直接箭头连接符 8"/>
            <p:cNvCxnSpPr>
              <a:stCxn id="7" idx="3"/>
            </p:cNvCxnSpPr>
            <p:nvPr/>
          </p:nvCxnSpPr>
          <p:spPr bwMode="auto">
            <a:xfrm flipV="1">
              <a:off x="4699756" y="497060"/>
              <a:ext cx="772851" cy="225253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3" name="组合 2"/>
          <p:cNvGrpSpPr/>
          <p:nvPr/>
        </p:nvGrpSpPr>
        <p:grpSpPr>
          <a:xfrm>
            <a:off x="928316" y="1141531"/>
            <a:ext cx="6103788" cy="991325"/>
            <a:chOff x="160907" y="1069523"/>
            <a:chExt cx="6103788" cy="991325"/>
          </a:xfrm>
        </p:grpSpPr>
        <p:sp>
          <p:nvSpPr>
            <p:cNvPr id="12" name="矩形 11"/>
            <p:cNvSpPr/>
            <p:nvPr/>
          </p:nvSpPr>
          <p:spPr>
            <a:xfrm>
              <a:off x="160907" y="1414517"/>
              <a:ext cx="4543425" cy="64633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C00000"/>
              </a:solidFill>
            </a:ln>
            <a:effectLst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+mn-lt"/>
                  <a:ea typeface="+mn-ea"/>
                </a:rPr>
                <a:t>对出现在</a:t>
              </a:r>
              <a:r>
                <a:rPr lang="en-US" altLang="zh-CN" b="1" dirty="0">
                  <a:solidFill>
                    <a:srgbClr val="000000"/>
                  </a:solidFill>
                  <a:latin typeface="+mn-lt"/>
                  <a:ea typeface="+mn-ea"/>
                </a:rPr>
                <a:t>A</a:t>
              </a:r>
              <a:r>
                <a:rPr lang="zh-CN" altLang="en-US" b="1" dirty="0">
                  <a:solidFill>
                    <a:srgbClr val="000000"/>
                  </a:solidFill>
                  <a:latin typeface="+mn-lt"/>
                  <a:ea typeface="+mn-ea"/>
                </a:rPr>
                <a:t>产生式右部中的每个文法符号的每个属性都设置一个局部变量 。</a:t>
              </a:r>
            </a:p>
          </p:txBody>
        </p:sp>
        <p:cxnSp>
          <p:nvCxnSpPr>
            <p:cNvPr id="13" name="直接箭头连接符 12"/>
            <p:cNvCxnSpPr>
              <a:stCxn id="12" idx="3"/>
            </p:cNvCxnSpPr>
            <p:nvPr/>
          </p:nvCxnSpPr>
          <p:spPr bwMode="auto">
            <a:xfrm flipV="1">
              <a:off x="4704332" y="1069523"/>
              <a:ext cx="1560363" cy="66816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8" name="组合 7"/>
          <p:cNvGrpSpPr/>
          <p:nvPr/>
        </p:nvGrpSpPr>
        <p:grpSpPr>
          <a:xfrm>
            <a:off x="923740" y="2537014"/>
            <a:ext cx="6981188" cy="3285585"/>
            <a:chOff x="156331" y="2465006"/>
            <a:chExt cx="6981188" cy="3285585"/>
          </a:xfrm>
        </p:grpSpPr>
        <p:cxnSp>
          <p:nvCxnSpPr>
            <p:cNvPr id="17" name="直接箭头连接符 16"/>
            <p:cNvCxnSpPr>
              <a:stCxn id="16" idx="3"/>
            </p:cNvCxnSpPr>
            <p:nvPr/>
          </p:nvCxnSpPr>
          <p:spPr bwMode="auto">
            <a:xfrm flipV="1">
              <a:off x="4699756" y="2465006"/>
              <a:ext cx="2401760" cy="296242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grpSp>
          <p:nvGrpSpPr>
            <p:cNvPr id="5" name="组合 4"/>
            <p:cNvGrpSpPr/>
            <p:nvPr/>
          </p:nvGrpSpPr>
          <p:grpSpPr>
            <a:xfrm>
              <a:off x="156331" y="3105835"/>
              <a:ext cx="6981188" cy="2644756"/>
              <a:chOff x="156331" y="3105835"/>
              <a:chExt cx="6981188" cy="2644756"/>
            </a:xfrm>
          </p:grpSpPr>
          <p:sp>
            <p:nvSpPr>
              <p:cNvPr id="16" name="矩形 15"/>
              <p:cNvSpPr/>
              <p:nvPr/>
            </p:nvSpPr>
            <p:spPr>
              <a:xfrm>
                <a:off x="156331" y="5104260"/>
                <a:ext cx="4543425" cy="646331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FFC000"/>
                </a:solidFill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rgbClr val="000000"/>
                    </a:solidFill>
                    <a:latin typeface="+mn-lt"/>
                    <a:ea typeface="+mn-ea"/>
                  </a:rPr>
                  <a:t>调用对应于被选定的产生式中的非终结符的函数，向它们提供正确的参数。</a:t>
                </a:r>
              </a:p>
            </p:txBody>
          </p:sp>
          <p:cxnSp>
            <p:nvCxnSpPr>
              <p:cNvPr id="19" name="直接箭头连接符 18"/>
              <p:cNvCxnSpPr>
                <a:stCxn id="16" idx="3"/>
              </p:cNvCxnSpPr>
              <p:nvPr/>
            </p:nvCxnSpPr>
            <p:spPr bwMode="auto">
              <a:xfrm flipV="1">
                <a:off x="4699756" y="3105835"/>
                <a:ext cx="2437763" cy="2321591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C000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</p:grpSp>
      <p:grpSp>
        <p:nvGrpSpPr>
          <p:cNvPr id="11" name="组合 10"/>
          <p:cNvGrpSpPr/>
          <p:nvPr/>
        </p:nvGrpSpPr>
        <p:grpSpPr>
          <a:xfrm>
            <a:off x="915012" y="2810944"/>
            <a:ext cx="7017191" cy="3783333"/>
            <a:chOff x="147603" y="2738936"/>
            <a:chExt cx="7017191" cy="3783333"/>
          </a:xfrm>
        </p:grpSpPr>
        <p:cxnSp>
          <p:nvCxnSpPr>
            <p:cNvPr id="22" name="直接箭头连接符 21"/>
            <p:cNvCxnSpPr>
              <a:stCxn id="26" idx="3"/>
            </p:cNvCxnSpPr>
            <p:nvPr/>
          </p:nvCxnSpPr>
          <p:spPr bwMode="auto">
            <a:xfrm flipV="1">
              <a:off x="4691028" y="5104258"/>
              <a:ext cx="2365755" cy="1094846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6" name="矩形 25"/>
            <p:cNvSpPr/>
            <p:nvPr/>
          </p:nvSpPr>
          <p:spPr>
            <a:xfrm>
              <a:off x="147603" y="5875938"/>
              <a:ext cx="4543425" cy="64633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  <a:effectLst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+mn-lt"/>
                  <a:ea typeface="+mn-ea"/>
                </a:rPr>
                <a:t>对于每个动作，将其代码复制到语法分析器，并把对属性的引用改为对相应变量的引用 。</a:t>
              </a:r>
            </a:p>
          </p:txBody>
        </p:sp>
        <p:cxnSp>
          <p:nvCxnSpPr>
            <p:cNvPr id="30" name="直接箭头连接符 29"/>
            <p:cNvCxnSpPr>
              <a:stCxn id="26" idx="3"/>
            </p:cNvCxnSpPr>
            <p:nvPr/>
          </p:nvCxnSpPr>
          <p:spPr bwMode="auto">
            <a:xfrm flipV="1">
              <a:off x="4691028" y="3429000"/>
              <a:ext cx="2437763" cy="2770104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3" name="直接箭头连接符 32"/>
            <p:cNvCxnSpPr/>
            <p:nvPr/>
          </p:nvCxnSpPr>
          <p:spPr bwMode="auto">
            <a:xfrm flipV="1">
              <a:off x="4655023" y="2738936"/>
              <a:ext cx="2509771" cy="3541161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6734175" y="1486842"/>
            <a:ext cx="4543425" cy="4176463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  <a:effectLst/>
        </p:spPr>
        <p:txBody>
          <a:bodyPr vert="horz" wrap="none" lIns="91440" tIns="45720" rIns="91440" bIns="45720" numCol="1" anchor="t" anchorCtr="0" compatLnSpc="1">
            <a:noAutofit/>
          </a:bodyPr>
          <a:lstStyle>
            <a:lvl1pPr indent="2667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Tval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T()</a:t>
            </a:r>
          </a:p>
          <a:p>
            <a:pPr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{</a:t>
            </a:r>
          </a:p>
          <a:p>
            <a:pPr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int </a:t>
            </a:r>
            <a:r>
              <a:rPr lang="en-US" altLang="zh-CN" sz="2400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Fval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, </a:t>
            </a:r>
            <a:r>
              <a:rPr lang="en-US" altLang="zh-CN" sz="24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T’inh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, </a:t>
            </a:r>
            <a:r>
              <a:rPr lang="en-US" altLang="zh-CN" sz="24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T’syn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;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</a:t>
            </a:r>
            <a:r>
              <a:rPr lang="en-US" altLang="zh-CN" sz="2400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Fval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= </a:t>
            </a:r>
            <a:r>
              <a:rPr lang="en-US" altLang="zh-CN" sz="2400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F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();</a:t>
            </a:r>
          </a:p>
          <a:p>
            <a:pPr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</a:t>
            </a:r>
            <a:r>
              <a:rPr lang="en-US" altLang="zh-CN" sz="24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T’inh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= </a:t>
            </a:r>
            <a:r>
              <a:rPr lang="en-US" altLang="zh-CN" sz="2400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Fval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;</a:t>
            </a:r>
          </a:p>
          <a:p>
            <a:pPr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</a:t>
            </a:r>
            <a:r>
              <a:rPr lang="en-US" altLang="zh-CN" sz="2400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T’syn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= </a:t>
            </a:r>
            <a:r>
              <a:rPr lang="en-US" altLang="zh-CN" sz="2400" b="1" dirty="0">
                <a:solidFill>
                  <a:srgbClr val="339933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T’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(</a:t>
            </a:r>
            <a:r>
              <a:rPr lang="en-US" altLang="zh-CN" sz="24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T’inh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);</a:t>
            </a:r>
          </a:p>
          <a:p>
            <a:pPr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</a:t>
            </a:r>
            <a:r>
              <a:rPr lang="en-US" altLang="zh-CN" sz="2400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Tval</a:t>
            </a:r>
            <a:r>
              <a:rPr lang="en-US" altLang="zh-CN" sz="24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= </a:t>
            </a:r>
            <a:r>
              <a:rPr lang="en-US" altLang="zh-CN" sz="2400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T’syn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;</a:t>
            </a:r>
          </a:p>
          <a:p>
            <a:pPr indent="0" defTabSz="914400">
              <a:lnSpc>
                <a:spcPct val="120000"/>
              </a:lnSpc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return </a:t>
            </a:r>
            <a:r>
              <a:rPr lang="en-US" altLang="zh-CN" sz="2400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Tval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;</a:t>
            </a:r>
          </a:p>
          <a:p>
            <a:pPr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在递归下降语法分析过程中进行翻译</a:t>
            </a:r>
          </a:p>
        </p:txBody>
      </p:sp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520" y="1489496"/>
            <a:ext cx="4515480" cy="2600688"/>
          </a:xfrm>
          <a:prstGeom prst="rect">
            <a:avLst/>
          </a:prstGeom>
          <a:ln w="28575">
            <a:solidFill>
              <a:srgbClr val="9999FF"/>
            </a:solidFill>
          </a:ln>
        </p:spPr>
      </p:pic>
      <p:cxnSp>
        <p:nvCxnSpPr>
          <p:cNvPr id="6" name="直接箭头连接符 5"/>
          <p:cNvCxnSpPr/>
          <p:nvPr/>
        </p:nvCxnSpPr>
        <p:spPr bwMode="auto">
          <a:xfrm>
            <a:off x="4388816" y="2132856"/>
            <a:ext cx="3217864" cy="139459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直接箭头连接符 7"/>
          <p:cNvCxnSpPr/>
          <p:nvPr/>
        </p:nvCxnSpPr>
        <p:spPr bwMode="auto">
          <a:xfrm>
            <a:off x="3935760" y="2492896"/>
            <a:ext cx="3670920" cy="186690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直接箭头连接符 9"/>
          <p:cNvCxnSpPr/>
          <p:nvPr/>
        </p:nvCxnSpPr>
        <p:spPr bwMode="auto">
          <a:xfrm>
            <a:off x="4973465" y="2132856"/>
            <a:ext cx="2706711" cy="188310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C00CC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直接箭头连接符 11"/>
          <p:cNvCxnSpPr/>
          <p:nvPr/>
        </p:nvCxnSpPr>
        <p:spPr bwMode="auto">
          <a:xfrm>
            <a:off x="2819216" y="2090002"/>
            <a:ext cx="4788952" cy="97895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C00CC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6734175" y="2276309"/>
            <a:ext cx="4543425" cy="2736304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  <a:effectLst/>
        </p:spPr>
        <p:txBody>
          <a:bodyPr vert="horz" wrap="none" lIns="91440" tIns="45720" rIns="91440" bIns="45720" numCol="1" anchor="t" anchorCtr="0" compatLnSpc="1">
            <a:noAutofit/>
          </a:bodyPr>
          <a:lstStyle>
            <a:lvl1pPr indent="2667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Fval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F()</a:t>
            </a:r>
          </a:p>
          <a:p>
            <a:pPr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{</a:t>
            </a:r>
          </a:p>
          <a:p>
            <a:pPr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match(digit);</a:t>
            </a:r>
          </a:p>
          <a:p>
            <a:pPr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</a:t>
            </a:r>
            <a:r>
              <a:rPr lang="en-US" altLang="zh-CN" sz="2400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Fval</a:t>
            </a:r>
            <a:r>
              <a:rPr lang="en-US" altLang="zh-CN" sz="24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= </a:t>
            </a:r>
            <a:r>
              <a:rPr lang="en-US" altLang="zh-CN" sz="2400" b="1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digit.lexval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;</a:t>
            </a:r>
          </a:p>
          <a:p>
            <a:pPr indent="0" defTabSz="914400">
              <a:lnSpc>
                <a:spcPct val="120000"/>
              </a:lnSpc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return </a:t>
            </a:r>
            <a:r>
              <a:rPr lang="en-US" altLang="zh-CN" sz="2400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Fval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;</a:t>
            </a:r>
          </a:p>
          <a:p>
            <a:pPr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在递归下降语法分析过程中进行翻译</a:t>
            </a:r>
          </a:p>
        </p:txBody>
      </p:sp>
      <p:pic>
        <p:nvPicPr>
          <p:cNvPr id="3" name="图片 2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505" y="2348880"/>
            <a:ext cx="4601217" cy="2591162"/>
          </a:xfrm>
          <a:prstGeom prst="rect">
            <a:avLst/>
          </a:prstGeom>
          <a:ln w="28575">
            <a:solidFill>
              <a:srgbClr val="9999FF"/>
            </a:solidFill>
          </a:ln>
        </p:spPr>
      </p:pic>
      <p:cxnSp>
        <p:nvCxnSpPr>
          <p:cNvPr id="5" name="直接箭头连接符 4"/>
          <p:cNvCxnSpPr/>
          <p:nvPr/>
        </p:nvCxnSpPr>
        <p:spPr bwMode="auto">
          <a:xfrm flipV="1">
            <a:off x="5663952" y="3933056"/>
            <a:ext cx="1872208" cy="79208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在递归下降语法分析过程中进行翻译</a:t>
            </a:r>
          </a:p>
        </p:txBody>
      </p:sp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464" y="2150988"/>
            <a:ext cx="4790186" cy="2839752"/>
          </a:xfrm>
          <a:prstGeom prst="rect">
            <a:avLst/>
          </a:prstGeom>
          <a:ln w="28575">
            <a:solidFill>
              <a:srgbClr val="9999FF"/>
            </a:solidFill>
          </a:ln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6384032" y="1412776"/>
            <a:ext cx="5112568" cy="5112568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  <a:effectLst/>
        </p:spPr>
        <p:txBody>
          <a:bodyPr vert="horz" wrap="none" lIns="91440" tIns="45720" rIns="91440" bIns="45720" numCol="1" anchor="t" anchorCtr="0" compatLnSpc="1">
            <a:noAutofit/>
          </a:bodyPr>
          <a:lstStyle>
            <a:lvl1pPr indent="2667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match(t)</a:t>
            </a:r>
          </a:p>
          <a:p>
            <a:pPr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{</a:t>
            </a:r>
          </a:p>
          <a:p>
            <a:pPr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if (token == t)   </a:t>
            </a:r>
            <a:r>
              <a:rPr lang="en-US" altLang="zh-CN" sz="2400" b="1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getToken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();</a:t>
            </a:r>
          </a:p>
          <a:p>
            <a:pPr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else error();</a:t>
            </a:r>
          </a:p>
          <a:p>
            <a:pPr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}</a:t>
            </a:r>
          </a:p>
          <a:p>
            <a:pPr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Desent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()</a:t>
            </a:r>
          </a:p>
          <a:p>
            <a:pPr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{</a:t>
            </a:r>
          </a:p>
          <a:p>
            <a:pPr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int </a:t>
            </a:r>
            <a:r>
              <a:rPr lang="en-US" altLang="zh-CN" sz="2400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Tval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;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</a:t>
            </a:r>
            <a:r>
              <a:rPr lang="en-US" altLang="zh-CN" sz="2400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Tval</a:t>
            </a:r>
            <a:r>
              <a:rPr lang="en-US" altLang="zh-CN" sz="24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= T();</a:t>
            </a:r>
          </a:p>
          <a:p>
            <a:pPr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if </a:t>
            </a:r>
            <a:r>
              <a:rPr lang="zh-CN" altLang="en-US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(token != “$”) error(); </a:t>
            </a:r>
          </a:p>
          <a:p>
            <a:pPr indent="0" defTabSz="914400">
              <a:lnSpc>
                <a:spcPct val="120000"/>
              </a:lnSpc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return;</a:t>
            </a:r>
          </a:p>
          <a:p>
            <a:pPr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}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请为下面的</a:t>
            </a:r>
            <a:r>
              <a:rPr lang="en-US" altLang="zh-CN" dirty="0" err="1"/>
              <a:t>SDT</a:t>
            </a:r>
            <a:r>
              <a:rPr lang="zh-CN" altLang="en-US" dirty="0"/>
              <a:t>编写</a:t>
            </a:r>
            <a:r>
              <a:rPr lang="zh-CN" altLang="en-US" sz="2800" dirty="0">
                <a:latin typeface="+mn-ea"/>
              </a:rPr>
              <a:t>递归下降</a:t>
            </a:r>
            <a:r>
              <a:rPr lang="zh-CN" altLang="en-US" dirty="0"/>
              <a:t>伪代码。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/>
              <p:cNvGraphicFramePr>
                <a:graphicFrameLocks noGrp="1"/>
              </p:cNvGraphicFramePr>
              <p:nvPr/>
            </p:nvGraphicFramePr>
            <p:xfrm>
              <a:off x="1775520" y="2471600"/>
              <a:ext cx="8856984" cy="288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85698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𝑨</m:t>
                                    </m:r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𝒃</m:t>
                                    </m:r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d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𝒀</m:t>
                                    </m:r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𝒃</m:t>
                                    </m:r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𝑨</m:t>
                                    </m:r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</m:d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𝒀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{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𝒀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zh-CN" altLang="en-US" sz="24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𝒛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𝑨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</m:t>
                                  </m:r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</m:t>
                                  </m:r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{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CN" sz="2400" b="1" i="1" kern="1200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}</m:t>
                              </m:r>
                            </m:oMath>
                          </a14:m>
                          <a:endParaRPr lang="zh-CN" altLang="en-US" sz="24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zh-CN" altLang="en-US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𝜺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zh-CN" sz="24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{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US" altLang="zh-CN" sz="2400" b="1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}</a:t>
                          </a:r>
                          <a:endParaRPr lang="zh-CN" altLang="en-US" sz="2400" b="1" i="0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𝒀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{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𝒀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1" i="0" kern="1200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 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𝒀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400" b="1" i="1" kern="1200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altLang="zh-CN" sz="2400" b="1" i="1" kern="1200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oMath>
                          </a14:m>
                          <a:r>
                            <a:rPr lang="en-US" altLang="zh-CN" sz="2400" b="1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}</a:t>
                          </a:r>
                          <a:endParaRPr lang="zh-CN" altLang="en-US" sz="24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/>
              <p:cNvGraphicFramePr>
                <a:graphicFrameLocks noGrp="1"/>
              </p:cNvGraphicFramePr>
              <p:nvPr/>
            </p:nvGraphicFramePr>
            <p:xfrm>
              <a:off x="1775520" y="2471600"/>
              <a:ext cx="8856984" cy="288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856984"/>
                  </a:tblGrid>
                  <a:tr h="72009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</a:tr>
                  <a:tr h="72009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</a:tr>
                  <a:tr h="72009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</a:tr>
                  <a:tr h="71945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/>
              <p:cNvGraphicFramePr>
                <a:graphicFrameLocks noGrp="1"/>
              </p:cNvGraphicFramePr>
              <p:nvPr/>
            </p:nvGraphicFramePr>
            <p:xfrm>
              <a:off x="1010969" y="2198844"/>
              <a:ext cx="4420224" cy="253333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42022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80926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𝑨</m:t>
                                    </m:r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𝒃</m:t>
                                    </m:r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d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𝒀</m:t>
                                    </m:r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𝒃</m:t>
                                    </m:r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𝑨</m:t>
                                    </m:r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</m:d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𝒀</m:t>
                                </m:r>
                              </m:oMath>
                            </m:oMathPara>
                          </a14:m>
                          <a:endParaRPr lang="en-US" altLang="zh-CN" sz="20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𝒀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zh-CN" altLang="en-US" sz="20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0926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𝒛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000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𝑨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𝒃</m:t>
                                    </m:r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𝑨</m:t>
                                    </m:r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𝒃</m:t>
                                    </m:r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 sz="2000" b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{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CN" sz="2000" b="1" i="1" kern="1200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}</m:t>
                              </m:r>
                            </m:oMath>
                          </a14:m>
                          <a:endParaRPr lang="zh-CN" altLang="en-US" sz="20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40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zh-CN" alt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𝜺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zh-CN" sz="20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{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US" altLang="zh-CN" sz="2000" b="1" i="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}</a:t>
                          </a:r>
                          <a:endParaRPr lang="zh-CN" altLang="en-US" sz="2000" b="1" i="0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40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𝒀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{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𝒀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b="1" i="0" kern="120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 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𝒀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000" b="1" i="1" kern="120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altLang="zh-CN" sz="2000" b="1" i="1" kern="120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oMath>
                          </a14:m>
                          <a:r>
                            <a:rPr lang="en-US" altLang="zh-CN" sz="2000" b="1" i="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}</a:t>
                          </a:r>
                          <a:endParaRPr lang="zh-CN" altLang="en-US" sz="20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/>
              <p:cNvGraphicFramePr>
                <a:graphicFrameLocks noGrp="1"/>
              </p:cNvGraphicFramePr>
              <p:nvPr/>
            </p:nvGraphicFramePr>
            <p:xfrm>
              <a:off x="1010969" y="2198844"/>
              <a:ext cx="4420224" cy="253333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420224"/>
                  </a:tblGrid>
                  <a:tr h="80899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</a:tr>
                  <a:tr h="80962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</a:tr>
                  <a:tr h="45783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6023992" y="1623700"/>
            <a:ext cx="5594604" cy="4473915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  <a:effectLst/>
        </p:spPr>
        <p:txBody>
          <a:bodyPr vert="horz" wrap="none" lIns="91440" tIns="45720" rIns="91440" bIns="45720" numCol="1" anchor="t" anchorCtr="0" compatLnSpc="1">
            <a:noAutofit/>
          </a:bodyPr>
          <a:lstStyle>
            <a:lvl1pPr indent="2667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void match(t)</a:t>
            </a:r>
          </a:p>
          <a:p>
            <a:pPr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{</a:t>
            </a:r>
          </a:p>
          <a:p>
            <a:pPr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if (token == t)   </a:t>
            </a:r>
            <a:r>
              <a:rPr lang="en-US" altLang="zh-CN" sz="2400" b="1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getToken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();</a:t>
            </a:r>
          </a:p>
          <a:p>
            <a:pPr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else error();</a:t>
            </a:r>
          </a:p>
          <a:p>
            <a:pPr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}</a:t>
            </a:r>
          </a:p>
          <a:p>
            <a:pPr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2400" b="1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ya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Y(</a:t>
            </a:r>
            <a:r>
              <a:rPr lang="en-US" altLang="zh-CN" sz="2400" b="1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yb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)</a:t>
            </a:r>
          </a:p>
          <a:p>
            <a:pPr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{</a:t>
            </a:r>
          </a:p>
          <a:p>
            <a:pPr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match(x);</a:t>
            </a:r>
          </a:p>
          <a:p>
            <a:pPr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</a:t>
            </a:r>
            <a:r>
              <a:rPr kumimoji="0" lang="en-US" altLang="zh-CN" sz="24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ya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= </a:t>
            </a:r>
            <a:r>
              <a:rPr kumimoji="0" lang="en-US" altLang="zh-CN" sz="24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yb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* 2;</a:t>
            </a:r>
          </a:p>
          <a:p>
            <a:pPr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return </a:t>
            </a:r>
            <a:r>
              <a:rPr lang="en-US" altLang="zh-CN" sz="2400" b="1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ya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;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}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/>
              <p:cNvGraphicFramePr>
                <a:graphicFrameLocks noGrp="1"/>
              </p:cNvGraphicFramePr>
              <p:nvPr/>
            </p:nvGraphicFramePr>
            <p:xfrm>
              <a:off x="1000680" y="188641"/>
              <a:ext cx="4420224" cy="253333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42022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80926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altLang="zh-CN" sz="2000" b="1" i="1" smtClean="0">
                                        <a:solidFill>
                                          <a:srgbClr val="CC00CC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 i="1" smtClean="0">
                                        <a:solidFill>
                                          <a:srgbClr val="CC00CC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𝑨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rgbClr val="CC00CC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rgbClr val="CC00CC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𝒃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rgbClr val="CC00CC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rgbClr val="CC00CC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d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altLang="zh-CN" sz="2000" b="1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𝒀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𝒃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𝑨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</m:d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𝒀</m:t>
                                </m:r>
                              </m:oMath>
                            </m:oMathPara>
                          </a14:m>
                          <a:endParaRPr lang="en-US" altLang="zh-CN" sz="20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solidFill>
                                      <a:srgbClr val="9933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rgbClr val="9933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rgbClr val="9933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rgbClr val="9933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rgbClr val="9933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rgbClr val="9933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rgbClr val="9933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rgbClr val="9933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rgbClr val="9933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rgbClr val="9933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𝒀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rgbClr val="9933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rgbClr val="9933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rgbClr val="9933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zh-CN" altLang="en-US" sz="2000" b="1" i="0" dirty="0">
                            <a:solidFill>
                              <a:srgbClr val="9933FF"/>
                            </a:solidFill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0926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𝒛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altLang="zh-CN" sz="2000" b="1" i="1" smtClean="0">
                                        <a:solidFill>
                                          <a:srgbClr val="FF993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000" b="1" i="1" smtClean="0">
                                            <a:solidFill>
                                              <a:srgbClr val="FF993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 i="1" smtClean="0">
                                            <a:solidFill>
                                              <a:srgbClr val="FF993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𝑨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1" i="1" smtClean="0">
                                            <a:solidFill>
                                              <a:srgbClr val="FF993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r>
                                      <a:rPr lang="en-US" altLang="zh-CN" sz="2000" b="1" i="1" smtClean="0">
                                        <a:solidFill>
                                          <a:srgbClr val="FF993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rgbClr val="FF993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𝒃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rgbClr val="FF993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rgbClr val="FF993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𝑨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rgbClr val="FF993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rgbClr val="FF993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𝒃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rgbClr val="FF993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rgbClr val="FF993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 sz="2000" b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b="1" dirty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{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000" b="1" i="1" smtClean="0">
                                      <a:solidFill>
                                        <a:srgbClr val="0000CC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smtClean="0">
                                      <a:solidFill>
                                        <a:srgbClr val="0000CC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sz="2000" b="1" i="1" smtClean="0">
                                      <a:solidFill>
                                        <a:srgbClr val="0000CC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000" b="1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CN" sz="2000" b="1" i="1" kern="1200" dirty="0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}</m:t>
                              </m:r>
                            </m:oMath>
                          </a14:m>
                          <a:endParaRPr lang="zh-CN" altLang="en-US" sz="2000" b="1" i="1" dirty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40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zh-CN" alt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𝜺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zh-CN" sz="20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en-US" altLang="zh-CN" sz="2000" b="1" dirty="0">
                              <a:solidFill>
                                <a:srgbClr val="3399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{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solidFill>
                                    <a:srgbClr val="33993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33993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33993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33993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33993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33993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33993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</m:oMath>
                          </a14:m>
                          <a:r>
                            <a:rPr lang="en-US" altLang="zh-CN" sz="2000" b="1" i="0" kern="1200" dirty="0">
                              <a:solidFill>
                                <a:srgbClr val="33993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}</a:t>
                          </a:r>
                          <a:endParaRPr lang="zh-CN" altLang="en-US" sz="2000" b="1" i="0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40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𝒀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{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𝒀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b="1" i="0" kern="1200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 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𝒀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000" b="1" i="1" kern="1200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altLang="zh-CN" sz="2000" b="1" i="1" kern="1200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oMath>
                          </a14:m>
                          <a:r>
                            <a:rPr lang="en-US" altLang="zh-CN" sz="2000" b="1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}</a:t>
                          </a:r>
                          <a:endParaRPr lang="zh-CN" altLang="en-US" sz="2000" b="1" i="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/>
              <p:cNvGraphicFramePr>
                <a:graphicFrameLocks noGrp="1"/>
              </p:cNvGraphicFramePr>
              <p:nvPr/>
            </p:nvGraphicFramePr>
            <p:xfrm>
              <a:off x="1000680" y="188641"/>
              <a:ext cx="4420224" cy="253333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420224"/>
                  </a:tblGrid>
                  <a:tr h="80899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</a:tr>
                  <a:tr h="80962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</a:tr>
                  <a:tr h="45783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007204" y="2828562"/>
            <a:ext cx="4413700" cy="3816424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  <a:effectLst/>
        </p:spPr>
        <p:txBody>
          <a:bodyPr vert="horz" wrap="none" lIns="91440" tIns="45720" rIns="91440" bIns="45720" numCol="1" anchor="t" anchorCtr="0" compatLnSpc="1">
            <a:noAutofit/>
          </a:bodyPr>
          <a:lstStyle>
            <a:lvl1pPr indent="2667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sa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S()</a:t>
            </a:r>
          </a:p>
          <a:p>
            <a:pPr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{</a:t>
            </a:r>
          </a:p>
          <a:p>
            <a:pPr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int ab, aa, </a:t>
            </a:r>
            <a:r>
              <a:rPr lang="en-US" altLang="zh-CN" sz="2400" b="1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yb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, </a:t>
            </a:r>
            <a:r>
              <a:rPr lang="en-US" altLang="zh-CN" sz="2400" b="1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ya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;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</a:t>
            </a:r>
            <a:r>
              <a:rPr lang="en-US" altLang="zh-CN" sz="2400" b="1" dirty="0">
                <a:solidFill>
                  <a:srgbClr val="CC00C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ab = 0;</a:t>
            </a:r>
          </a:p>
          <a:p>
            <a:pPr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aa = A(ab);</a:t>
            </a:r>
          </a:p>
          <a:p>
            <a:pPr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</a:t>
            </a:r>
            <a:r>
              <a:rPr kumimoji="0" lang="en-US" altLang="zh-CN" sz="2400" b="1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yb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= aa;</a:t>
            </a:r>
          </a:p>
          <a:p>
            <a:pPr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</a:t>
            </a:r>
            <a:r>
              <a:rPr lang="en-US" altLang="zh-CN" sz="2400" b="1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ya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= Y(</a:t>
            </a:r>
            <a:r>
              <a:rPr lang="en-US" altLang="zh-CN" sz="2400" b="1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yb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);</a:t>
            </a:r>
          </a:p>
          <a:p>
            <a:pPr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</a:t>
            </a:r>
            <a:r>
              <a:rPr kumimoji="0" lang="en-US" altLang="zh-CN" sz="2400" b="1" i="0" u="none" strike="noStrike" cap="none" normalizeH="0" baseline="0" dirty="0" err="1">
                <a:ln>
                  <a:noFill/>
                </a:ln>
                <a:solidFill>
                  <a:srgbClr val="9933F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sa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9933F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= aa + </a:t>
            </a:r>
            <a:r>
              <a:rPr kumimoji="0" lang="en-US" altLang="zh-CN" sz="2400" b="1" i="0" u="none" strike="noStrike" cap="none" normalizeH="0" baseline="0" dirty="0" err="1">
                <a:ln>
                  <a:noFill/>
                </a:ln>
                <a:solidFill>
                  <a:srgbClr val="9933F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ya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9933F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;</a:t>
            </a:r>
          </a:p>
          <a:p>
            <a:pPr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return </a:t>
            </a:r>
            <a:r>
              <a:rPr lang="en-US" altLang="zh-CN" sz="2400" b="1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sa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;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}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6090965" y="188640"/>
            <a:ext cx="5045595" cy="6456345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  <a:effectLst/>
        </p:spPr>
        <p:txBody>
          <a:bodyPr vert="horz" wrap="none" lIns="91440" tIns="45720" rIns="91440" bIns="45720" numCol="1" anchor="t" anchorCtr="0" compatLnSpc="1">
            <a:noAutofit/>
          </a:bodyPr>
          <a:lstStyle>
            <a:lvl1pPr indent="2667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aa A(ab)</a:t>
            </a:r>
          </a:p>
          <a:p>
            <a:pPr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{</a:t>
            </a:r>
          </a:p>
          <a:p>
            <a:pPr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int </a:t>
            </a:r>
            <a:r>
              <a:rPr lang="en-US" altLang="zh-CN" sz="2400" b="1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a1b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, </a:t>
            </a:r>
            <a:r>
              <a:rPr lang="en-US" altLang="zh-CN" sz="2400" b="1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a1a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;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if (token == z)</a:t>
            </a:r>
          </a:p>
          <a:p>
            <a:pPr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{</a:t>
            </a:r>
          </a:p>
          <a:p>
            <a:pPr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	match(z);</a:t>
            </a:r>
          </a:p>
          <a:p>
            <a:pPr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	</a:t>
            </a:r>
            <a:r>
              <a:rPr lang="en-US" altLang="zh-CN" sz="2400" b="1" dirty="0" err="1">
                <a:solidFill>
                  <a:srgbClr val="FF9933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a1b</a:t>
            </a:r>
            <a:r>
              <a:rPr lang="en-US" altLang="zh-CN" sz="2400" b="1" dirty="0">
                <a:solidFill>
                  <a:srgbClr val="FF9933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= ab + 1;</a:t>
            </a:r>
          </a:p>
          <a:p>
            <a:pPr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	</a:t>
            </a:r>
            <a:r>
              <a:rPr lang="en-US" altLang="zh-CN" sz="2400" b="1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a1a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= A(</a:t>
            </a:r>
            <a:r>
              <a:rPr lang="en-US" altLang="zh-CN" sz="2400" b="1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a1b</a:t>
            </a: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);</a:t>
            </a:r>
          </a:p>
          <a:p>
            <a:pPr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	</a:t>
            </a:r>
            <a:r>
              <a:rPr lang="en-US" altLang="zh-CN" sz="24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aa = </a:t>
            </a:r>
            <a:r>
              <a:rPr lang="en-US" altLang="zh-CN" sz="2400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a1a</a:t>
            </a:r>
            <a:r>
              <a:rPr lang="en-US" altLang="zh-CN" sz="24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*3;</a:t>
            </a:r>
          </a:p>
          <a:p>
            <a:pPr indent="0" defTabSz="914400">
              <a:lnSpc>
                <a:spcPct val="90000"/>
              </a:lnSpc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	return aa;</a:t>
            </a:r>
          </a:p>
          <a:p>
            <a:pPr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}</a:t>
            </a:r>
          </a:p>
          <a:p>
            <a:pPr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else if (token == x)</a:t>
            </a:r>
          </a:p>
          <a:p>
            <a:pPr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{</a:t>
            </a:r>
          </a:p>
          <a:p>
            <a:pPr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	</a:t>
            </a:r>
            <a:r>
              <a:rPr lang="en-US" altLang="zh-CN" sz="2400" b="1" strike="sngStrike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match(x);</a:t>
            </a:r>
          </a:p>
          <a:p>
            <a:pPr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	</a:t>
            </a:r>
            <a:r>
              <a:rPr lang="en-US" altLang="zh-CN" sz="2400" b="1" dirty="0">
                <a:solidFill>
                  <a:srgbClr val="339933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aa = ab;</a:t>
            </a:r>
          </a:p>
          <a:p>
            <a:pPr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	return aa;</a:t>
            </a:r>
          </a:p>
          <a:p>
            <a:pPr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}</a:t>
            </a:r>
          </a:p>
          <a:p>
            <a:pPr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else error();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}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p="http://schemas.openxmlformats.org/presentationml/2006/main">
  <p:tag name="RAINPROBLEM" val="ProblemItem"/>
</p:tagLst>
</file>

<file path=ppt/tags/tag50.xml><?xml version="1.0" encoding="utf-8"?>
<p:tagLst xmlns:p="http://schemas.openxmlformats.org/presentationml/2006/main">
  <p:tag name="RAINPROBLEM" val="ProblemItem"/>
</p:tagLst>
</file>

<file path=ppt/tags/tag70.xml><?xml version="1.0" encoding="utf-8"?>
<p:tagLst xmlns:p="http://schemas.openxmlformats.org/presentationml/2006/main">
  <p:tag name="RAINPROBLEM" val="ProblemItem"/>
</p:tagLst>
</file>

<file path=ppt/tags/tag90.xml><?xml version="1.0" encoding="utf-8"?>
<p:tagLst xmlns:p="http://schemas.openxmlformats.org/presentationml/2006/main">
  <p:tag name="RAINPROBLEM" val="ProblemItem"/>
</p:tagLst>
</file>

<file path=ppt/theme/theme1.xml><?xml version="1.0" encoding="utf-8"?>
<a:theme xmlns:a="http://schemas.openxmlformats.org/drawingml/2006/main" name="主题4">
  <a:themeElements>
    <a:clrScheme name="">
      <a:dk1>
        <a:srgbClr val="000000"/>
      </a:dk1>
      <a:lt1>
        <a:srgbClr val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FFFFFF"/>
      </a:accent3>
      <a:accent4>
        <a:srgbClr val="000000"/>
      </a:accent4>
      <a:accent5>
        <a:srgbClr val="D8AFB9"/>
      </a:accent5>
      <a:accent6>
        <a:srgbClr val="9B5CA9"/>
      </a:accent6>
      <a:hlink>
        <a:srgbClr val="FFDE66"/>
      </a:hlink>
      <a:folHlink>
        <a:srgbClr val="D490C5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2">
            <a:schemeClr val="bg2">
              <a:alpha val="50000"/>
            </a:schemeClr>
          </a:prst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2">
            <a:schemeClr val="bg2">
              <a:alpha val="50000"/>
            </a:schemeClr>
          </a:prst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1_3 1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4EA693"/>
        </a:accent1>
        <a:accent2>
          <a:srgbClr val="ABA755"/>
        </a:accent2>
        <a:accent3>
          <a:srgbClr val="FFFFFF"/>
        </a:accent3>
        <a:accent4>
          <a:srgbClr val="174578"/>
        </a:accent4>
        <a:accent5>
          <a:srgbClr val="B2D0C8"/>
        </a:accent5>
        <a:accent6>
          <a:srgbClr val="9B974C"/>
        </a:accent6>
        <a:hlink>
          <a:srgbClr val="3981B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3 2">
        <a:dk1>
          <a:srgbClr val="124B98"/>
        </a:dk1>
        <a:lt1>
          <a:srgbClr val="FFFFFF"/>
        </a:lt1>
        <a:dk2>
          <a:srgbClr val="000000"/>
        </a:dk2>
        <a:lt2>
          <a:srgbClr val="DDDDDD"/>
        </a:lt2>
        <a:accent1>
          <a:srgbClr val="4976D1"/>
        </a:accent1>
        <a:accent2>
          <a:srgbClr val="4CB494"/>
        </a:accent2>
        <a:accent3>
          <a:srgbClr val="FFFFFF"/>
        </a:accent3>
        <a:accent4>
          <a:srgbClr val="0E3F81"/>
        </a:accent4>
        <a:accent5>
          <a:srgbClr val="B1BDE5"/>
        </a:accent5>
        <a:accent6>
          <a:srgbClr val="44A386"/>
        </a:accent6>
        <a:hlink>
          <a:srgbClr val="0099CC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3 3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5B1B1"/>
        </a:accent1>
        <a:accent2>
          <a:srgbClr val="5BACE9"/>
        </a:accent2>
        <a:accent3>
          <a:srgbClr val="FFFFFF"/>
        </a:accent3>
        <a:accent4>
          <a:srgbClr val="174578"/>
        </a:accent4>
        <a:accent5>
          <a:srgbClr val="ACD5D5"/>
        </a:accent5>
        <a:accent6>
          <a:srgbClr val="529BD3"/>
        </a:accent6>
        <a:hlink>
          <a:srgbClr val="6E71F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主题4</Template>
  <TotalTime>250</TotalTime>
  <Words>5960</Words>
  <Application>Microsoft Office PowerPoint</Application>
  <PresentationFormat>宽屏</PresentationFormat>
  <Paragraphs>756</Paragraphs>
  <Slides>76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76</vt:i4>
      </vt:variant>
    </vt:vector>
  </HeadingPairs>
  <TitlesOfParts>
    <vt:vector size="86" baseType="lpstr">
      <vt:lpstr>黑体</vt:lpstr>
      <vt:lpstr>华文新魏</vt:lpstr>
      <vt:lpstr>微软雅黑</vt:lpstr>
      <vt:lpstr>Arial</vt:lpstr>
      <vt:lpstr>Cambria</vt:lpstr>
      <vt:lpstr>Cambria Math</vt:lpstr>
      <vt:lpstr>Times New Roman</vt:lpstr>
      <vt:lpstr>Verdana</vt:lpstr>
      <vt:lpstr>Wingdings</vt:lpstr>
      <vt:lpstr>主题4</vt:lpstr>
      <vt:lpstr>第六章 语法制导的翻译</vt:lpstr>
      <vt:lpstr>什么是语法制导翻译</vt:lpstr>
      <vt:lpstr>语法制导翻译的基本思想</vt:lpstr>
      <vt:lpstr>两个概念</vt:lpstr>
      <vt:lpstr>语法制导定义</vt:lpstr>
      <vt:lpstr>语法制导定义SDD</vt:lpstr>
      <vt:lpstr>语法制导翻译方案SDT</vt:lpstr>
      <vt:lpstr>SDD与SDT</vt:lpstr>
      <vt:lpstr>语法制导定义SDD </vt:lpstr>
      <vt:lpstr>综合属性</vt:lpstr>
      <vt:lpstr>继承属性</vt:lpstr>
      <vt:lpstr>示例</vt:lpstr>
      <vt:lpstr>示例</vt:lpstr>
      <vt:lpstr>S属性的SDD</vt:lpstr>
      <vt:lpstr>注释语法分析树</vt:lpstr>
      <vt:lpstr>带有继承属性的SDD</vt:lpstr>
      <vt:lpstr>同时具有继承属性和综合属性的SDD</vt:lpstr>
      <vt:lpstr>PowerPoint 演示文稿</vt:lpstr>
      <vt:lpstr>对SDD求值</vt:lpstr>
      <vt:lpstr>对SDD求值</vt:lpstr>
      <vt:lpstr>依赖图</vt:lpstr>
      <vt:lpstr>依赖图示例</vt:lpstr>
      <vt:lpstr>示例</vt:lpstr>
      <vt:lpstr>练习</vt:lpstr>
      <vt:lpstr>练习</vt:lpstr>
      <vt:lpstr>拓扑排序</vt:lpstr>
      <vt:lpstr>拓扑排序</vt:lpstr>
      <vt:lpstr>练习</vt:lpstr>
      <vt:lpstr>练习</vt:lpstr>
      <vt:lpstr>属性求值顺序</vt:lpstr>
      <vt:lpstr>S属性的SDD</vt:lpstr>
      <vt:lpstr>L属性的SDD</vt:lpstr>
      <vt:lpstr>L属性的SDD</vt:lpstr>
      <vt:lpstr>示例</vt:lpstr>
      <vt:lpstr>示例</vt:lpstr>
      <vt:lpstr>PowerPoint 演示文稿</vt:lpstr>
      <vt:lpstr>语法制导翻译的应用</vt:lpstr>
      <vt:lpstr>语法制导翻译的应用</vt:lpstr>
      <vt:lpstr>示例</vt:lpstr>
      <vt:lpstr>PowerPoint 演示文稿</vt:lpstr>
      <vt:lpstr>练习</vt:lpstr>
      <vt:lpstr>PowerPoint 演示文稿</vt:lpstr>
      <vt:lpstr>练习</vt:lpstr>
      <vt:lpstr>练习</vt:lpstr>
      <vt:lpstr>PowerPoint 演示文稿</vt:lpstr>
      <vt:lpstr>练习</vt:lpstr>
      <vt:lpstr>练习</vt:lpstr>
      <vt:lpstr>PowerPoint 演示文稿</vt:lpstr>
      <vt:lpstr>语法制导的翻译方案</vt:lpstr>
      <vt:lpstr>语法制导的翻译方案</vt:lpstr>
      <vt:lpstr>后缀翻译方案</vt:lpstr>
      <vt:lpstr>后缀翻译方案示例</vt:lpstr>
      <vt:lpstr>后缀翻译方案的分析栈实现</vt:lpstr>
      <vt:lpstr>后缀翻译方案的分析栈实现</vt:lpstr>
      <vt:lpstr>后缀翻译方案的分析栈实现</vt:lpstr>
      <vt:lpstr>后缀翻译方案的分析栈实现</vt:lpstr>
      <vt:lpstr>产生式内部带有语义动作的SDT </vt:lpstr>
      <vt:lpstr>插入动作的语法分析树</vt:lpstr>
      <vt:lpstr>练习</vt:lpstr>
      <vt:lpstr>将L-属性定义转换为SDT </vt:lpstr>
      <vt:lpstr>PowerPoint 演示文稿</vt:lpstr>
      <vt:lpstr>练习</vt:lpstr>
      <vt:lpstr>练习</vt:lpstr>
      <vt:lpstr>练习</vt:lpstr>
      <vt:lpstr>练习</vt:lpstr>
      <vt:lpstr>练习</vt:lpstr>
      <vt:lpstr>L-属性定义的SDT 实现 </vt:lpstr>
      <vt:lpstr>在递归下降语法分析过程中进行翻译</vt:lpstr>
      <vt:lpstr>在递归下降语法分析过程中进行翻译</vt:lpstr>
      <vt:lpstr>PowerPoint 演示文稿</vt:lpstr>
      <vt:lpstr>在递归下降语法分析过程中进行翻译</vt:lpstr>
      <vt:lpstr>在递归下降语法分析过程中进行翻译</vt:lpstr>
      <vt:lpstr>在递归下降语法分析过程中进行翻译</vt:lpstr>
      <vt:lpstr>练习</vt:lpstr>
      <vt:lpstr>PowerPoint 演示文稿</vt:lpstr>
      <vt:lpstr>PowerPoint 演示文稿</vt:lpstr>
    </vt:vector>
  </TitlesOfParts>
  <Company>csit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wt</dc:creator>
  <cp:lastModifiedBy>Teresa L</cp:lastModifiedBy>
  <cp:revision>544</cp:revision>
  <dcterms:created xsi:type="dcterms:W3CDTF">1999-05-10T08:46:00Z</dcterms:created>
  <dcterms:modified xsi:type="dcterms:W3CDTF">2026-07-01T13:17:40Z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8D04B810B45D40C9AB556901BF2C2D55</vt:lpwstr>
  </property>
  <property fmtid="{D5CDD505-2E9C-101B-9397-08002B2CF9AE}" pid="3" name="KSOProductBuildVer">
    <vt:lpwstr>2052-11.8.2.12094</vt:lpwstr>
  </property>
</Properties>
</file>