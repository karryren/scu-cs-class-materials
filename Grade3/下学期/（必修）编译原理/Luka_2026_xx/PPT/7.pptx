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6"/>
  </p:notesMasterIdLst>
  <p:handoutMasterIdLst>
    <p:handoutMasterId r:id="rId97"/>
  </p:handoutMasterIdLst>
  <p:sldIdLst>
    <p:sldId id="393" r:id="rId2"/>
    <p:sldId id="477" r:id="rId3"/>
    <p:sldId id="506" r:id="rId4"/>
    <p:sldId id="507" r:id="rId5"/>
    <p:sldId id="508" r:id="rId6"/>
    <p:sldId id="588" r:id="rId7"/>
    <p:sldId id="589" r:id="rId8"/>
    <p:sldId id="590" r:id="rId9"/>
    <p:sldId id="591" r:id="rId10"/>
    <p:sldId id="592" r:id="rId11"/>
    <p:sldId id="509" r:id="rId12"/>
    <p:sldId id="593" r:id="rId13"/>
    <p:sldId id="511" r:id="rId14"/>
    <p:sldId id="512" r:id="rId15"/>
    <p:sldId id="569" r:id="rId16"/>
    <p:sldId id="570" r:id="rId17"/>
    <p:sldId id="575" r:id="rId18"/>
    <p:sldId id="576" r:id="rId19"/>
    <p:sldId id="571" r:id="rId20"/>
    <p:sldId id="572" r:id="rId21"/>
    <p:sldId id="513" r:id="rId22"/>
    <p:sldId id="514" r:id="rId23"/>
    <p:sldId id="515" r:id="rId24"/>
    <p:sldId id="516" r:id="rId25"/>
    <p:sldId id="517" r:id="rId26"/>
    <p:sldId id="518" r:id="rId27"/>
    <p:sldId id="545" r:id="rId28"/>
    <p:sldId id="603" r:id="rId29"/>
    <p:sldId id="604" r:id="rId30"/>
    <p:sldId id="609" r:id="rId31"/>
    <p:sldId id="611" r:id="rId32"/>
    <p:sldId id="519" r:id="rId33"/>
    <p:sldId id="520" r:id="rId34"/>
    <p:sldId id="521" r:id="rId35"/>
    <p:sldId id="522" r:id="rId36"/>
    <p:sldId id="594" r:id="rId37"/>
    <p:sldId id="523" r:id="rId38"/>
    <p:sldId id="595" r:id="rId39"/>
    <p:sldId id="596" r:id="rId40"/>
    <p:sldId id="524" r:id="rId41"/>
    <p:sldId id="525" r:id="rId42"/>
    <p:sldId id="527" r:id="rId43"/>
    <p:sldId id="526" r:id="rId44"/>
    <p:sldId id="528" r:id="rId45"/>
    <p:sldId id="577" r:id="rId46"/>
    <p:sldId id="529" r:id="rId47"/>
    <p:sldId id="530" r:id="rId48"/>
    <p:sldId id="531" r:id="rId49"/>
    <p:sldId id="554" r:id="rId50"/>
    <p:sldId id="553" r:id="rId51"/>
    <p:sldId id="555" r:id="rId52"/>
    <p:sldId id="556" r:id="rId53"/>
    <p:sldId id="552" r:id="rId54"/>
    <p:sldId id="557" r:id="rId55"/>
    <p:sldId id="551" r:id="rId56"/>
    <p:sldId id="532" r:id="rId57"/>
    <p:sldId id="533" r:id="rId58"/>
    <p:sldId id="534" r:id="rId59"/>
    <p:sldId id="535" r:id="rId60"/>
    <p:sldId id="536" r:id="rId61"/>
    <p:sldId id="599" r:id="rId62"/>
    <p:sldId id="537" r:id="rId63"/>
    <p:sldId id="560" r:id="rId64"/>
    <p:sldId id="538" r:id="rId65"/>
    <p:sldId id="546" r:id="rId66"/>
    <p:sldId id="542" r:id="rId67"/>
    <p:sldId id="541" r:id="rId68"/>
    <p:sldId id="548" r:id="rId69"/>
    <p:sldId id="539" r:id="rId70"/>
    <p:sldId id="600" r:id="rId71"/>
    <p:sldId id="549" r:id="rId72"/>
    <p:sldId id="540" r:id="rId73"/>
    <p:sldId id="550" r:id="rId74"/>
    <p:sldId id="558" r:id="rId75"/>
    <p:sldId id="559" r:id="rId76"/>
    <p:sldId id="561" r:id="rId77"/>
    <p:sldId id="562" r:id="rId78"/>
    <p:sldId id="563" r:id="rId79"/>
    <p:sldId id="564" r:id="rId80"/>
    <p:sldId id="565" r:id="rId81"/>
    <p:sldId id="566" r:id="rId82"/>
    <p:sldId id="567" r:id="rId83"/>
    <p:sldId id="568" r:id="rId84"/>
    <p:sldId id="579" r:id="rId85"/>
    <p:sldId id="580" r:id="rId86"/>
    <p:sldId id="581" r:id="rId87"/>
    <p:sldId id="598" r:id="rId88"/>
    <p:sldId id="582" r:id="rId89"/>
    <p:sldId id="583" r:id="rId90"/>
    <p:sldId id="584" r:id="rId91"/>
    <p:sldId id="585" r:id="rId92"/>
    <p:sldId id="586" r:id="rId93"/>
    <p:sldId id="587" r:id="rId94"/>
    <p:sldId id="602" r:id="rId9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  <a:srgbClr val="0000FF"/>
    <a:srgbClr val="CCCCFF"/>
    <a:srgbClr val="FFCC99"/>
    <a:srgbClr val="CCFFFF"/>
    <a:srgbClr val="CCFFCC"/>
    <a:srgbClr val="FFFFCC"/>
    <a:srgbClr val="0000CC"/>
    <a:srgbClr val="FFFF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97" autoAdjust="0"/>
    <p:restoredTop sz="91058" autoAdjust="0"/>
  </p:normalViewPr>
  <p:slideViewPr>
    <p:cSldViewPr showGuides="1">
      <p:cViewPr varScale="1">
        <p:scale>
          <a:sx n="86" d="100"/>
          <a:sy n="86" d="100"/>
        </p:scale>
        <p:origin x="72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EBD1789-4991-4012-AA0B-0311859506BA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5CEE83-8A2A-48C4-91B1-F00C976E2AE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/>
          <p:nvPr/>
        </p:nvGrpSpPr>
        <p:grpSpPr bwMode="auto">
          <a:xfrm>
            <a:off x="-12700" y="2708276"/>
            <a:ext cx="12244917" cy="1501775"/>
            <a:chOff x="-23" y="1319"/>
            <a:chExt cx="5799" cy="946"/>
          </a:xfrm>
        </p:grpSpPr>
        <p:sp>
          <p:nvSpPr>
            <p:cNvPr id="5" name="Freeform 18"/>
            <p:cNvSpPr/>
            <p:nvPr/>
          </p:nvSpPr>
          <p:spPr bwMode="gray">
            <a:xfrm>
              <a:off x="-20" y="1319"/>
              <a:ext cx="5779" cy="946"/>
            </a:xfrm>
            <a:custGeom>
              <a:avLst/>
              <a:gdLst>
                <a:gd name="T0" fmla="*/ 6 w 5779"/>
                <a:gd name="T1" fmla="*/ 454 h 946"/>
                <a:gd name="T2" fmla="*/ 355 w 5779"/>
                <a:gd name="T3" fmla="*/ 454 h 946"/>
                <a:gd name="T4" fmla="*/ 757 w 5779"/>
                <a:gd name="T5" fmla="*/ 1 h 946"/>
                <a:gd name="T6" fmla="*/ 2511 w 5779"/>
                <a:gd name="T7" fmla="*/ 0 h 946"/>
                <a:gd name="T8" fmla="*/ 2646 w 5779"/>
                <a:gd name="T9" fmla="*/ 144 h 946"/>
                <a:gd name="T10" fmla="*/ 5779 w 5779"/>
                <a:gd name="T11" fmla="*/ 137 h 946"/>
                <a:gd name="T12" fmla="*/ 5779 w 5779"/>
                <a:gd name="T13" fmla="*/ 772 h 946"/>
                <a:gd name="T14" fmla="*/ 2899 w 5779"/>
                <a:gd name="T15" fmla="*/ 765 h 946"/>
                <a:gd name="T16" fmla="*/ 2757 w 5779"/>
                <a:gd name="T17" fmla="*/ 946 h 946"/>
                <a:gd name="T18" fmla="*/ 1883 w 5779"/>
                <a:gd name="T19" fmla="*/ 946 h 946"/>
                <a:gd name="T20" fmla="*/ 1663 w 5779"/>
                <a:gd name="T21" fmla="*/ 687 h 946"/>
                <a:gd name="T22" fmla="*/ 0 w 5779"/>
                <a:gd name="T23" fmla="*/ 687 h 946"/>
                <a:gd name="T24" fmla="*/ 35 w 5779"/>
                <a:gd name="T25" fmla="*/ 480 h 9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  <a:effectLst>
              <a:outerShdw dist="77251" dir="4832261" algn="ctr" rotWithShape="0">
                <a:srgbClr val="000066">
                  <a:alpha val="18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  <p:sp>
          <p:nvSpPr>
            <p:cNvPr id="6" name="Freeform 19" descr="01_img(Global Digtal Desigm(imageState)"/>
            <p:cNvSpPr/>
            <p:nvPr/>
          </p:nvSpPr>
          <p:spPr bwMode="gray">
            <a:xfrm>
              <a:off x="-23" y="1344"/>
              <a:ext cx="5799" cy="895"/>
            </a:xfrm>
            <a:custGeom>
              <a:avLst/>
              <a:gdLst>
                <a:gd name="T0" fmla="*/ 0 w 5799"/>
                <a:gd name="T1" fmla="*/ 455 h 895"/>
                <a:gd name="T2" fmla="*/ 369 w 5799"/>
                <a:gd name="T3" fmla="*/ 454 h 895"/>
                <a:gd name="T4" fmla="*/ 776 w 5799"/>
                <a:gd name="T5" fmla="*/ 0 h 895"/>
                <a:gd name="T6" fmla="*/ 2496 w 5799"/>
                <a:gd name="T7" fmla="*/ 0 h 895"/>
                <a:gd name="T8" fmla="*/ 2632 w 5799"/>
                <a:gd name="T9" fmla="*/ 136 h 895"/>
                <a:gd name="T10" fmla="*/ 5799 w 5799"/>
                <a:gd name="T11" fmla="*/ 136 h 895"/>
                <a:gd name="T12" fmla="*/ 5788 w 5799"/>
                <a:gd name="T13" fmla="*/ 727 h 895"/>
                <a:gd name="T14" fmla="*/ 2883 w 5799"/>
                <a:gd name="T15" fmla="*/ 708 h 895"/>
                <a:gd name="T16" fmla="*/ 2747 w 5799"/>
                <a:gd name="T17" fmla="*/ 895 h 895"/>
                <a:gd name="T18" fmla="*/ 1899 w 5799"/>
                <a:gd name="T19" fmla="*/ 895 h 895"/>
                <a:gd name="T20" fmla="*/ 1681 w 5799"/>
                <a:gd name="T21" fmla="*/ 635 h 895"/>
                <a:gd name="T22" fmla="*/ 7 w 5799"/>
                <a:gd name="T23" fmla="*/ 635 h 895"/>
                <a:gd name="T24" fmla="*/ 7 w 5799"/>
                <a:gd name="T25" fmla="*/ 454 h 8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</p:grpSp>
      <p:sp>
        <p:nvSpPr>
          <p:cNvPr id="798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4365625"/>
            <a:ext cx="85344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1" y="1196975"/>
            <a:ext cx="103632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579439"/>
            <a:ext cx="2743200" cy="5900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79439"/>
            <a:ext cx="8026400" cy="5900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6764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6957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FC6AE96-43E9-4D4A-B7B7-8F9A2F2ADEF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6"/>
          <p:cNvSpPr/>
          <p:nvPr/>
        </p:nvSpPr>
        <p:spPr bwMode="gray">
          <a:xfrm>
            <a:off x="1" y="360363"/>
            <a:ext cx="12198351" cy="900112"/>
          </a:xfrm>
          <a:custGeom>
            <a:avLst/>
            <a:gdLst>
              <a:gd name="T0" fmla="*/ 0 w 5763"/>
              <a:gd name="T1" fmla="*/ 584200 h 567"/>
              <a:gd name="T2" fmla="*/ 698500 w 5763"/>
              <a:gd name="T3" fmla="*/ 584200 h 567"/>
              <a:gd name="T4" fmla="*/ 1233488 w 5763"/>
              <a:gd name="T5" fmla="*/ 0 h 567"/>
              <a:gd name="T6" fmla="*/ 3432175 w 5763"/>
              <a:gd name="T7" fmla="*/ 0 h 567"/>
              <a:gd name="T8" fmla="*/ 3595688 w 5763"/>
              <a:gd name="T9" fmla="*/ 184150 h 567"/>
              <a:gd name="T10" fmla="*/ 9137650 w 5763"/>
              <a:gd name="T11" fmla="*/ 177800 h 567"/>
              <a:gd name="T12" fmla="*/ 9148763 w 5763"/>
              <a:gd name="T13" fmla="*/ 900112 h 567"/>
              <a:gd name="T14" fmla="*/ 9525 w 5763"/>
              <a:gd name="T15" fmla="*/ 882650 h 5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027" name="Freeform 15" descr="01b_img(Global Digtal Desigm(imageState)"/>
          <p:cNvSpPr/>
          <p:nvPr/>
        </p:nvSpPr>
        <p:spPr bwMode="gray">
          <a:xfrm>
            <a:off x="-12700" y="336550"/>
            <a:ext cx="12242800" cy="838200"/>
          </a:xfrm>
          <a:custGeom>
            <a:avLst/>
            <a:gdLst>
              <a:gd name="T0" fmla="*/ 712788 w 5784"/>
              <a:gd name="T1" fmla="*/ 587375 h 528"/>
              <a:gd name="T2" fmla="*/ 1219200 w 5784"/>
              <a:gd name="T3" fmla="*/ 1588 h 528"/>
              <a:gd name="T4" fmla="*/ 3425825 w 5784"/>
              <a:gd name="T5" fmla="*/ 0 h 528"/>
              <a:gd name="T6" fmla="*/ 3584575 w 5784"/>
              <a:gd name="T7" fmla="*/ 182563 h 528"/>
              <a:gd name="T8" fmla="*/ 9182100 w 5784"/>
              <a:gd name="T9" fmla="*/ 182563 h 528"/>
              <a:gd name="T10" fmla="*/ 9174163 w 5784"/>
              <a:gd name="T11" fmla="*/ 838200 h 528"/>
              <a:gd name="T12" fmla="*/ 0 w 5784"/>
              <a:gd name="T13" fmla="*/ 823913 h 528"/>
              <a:gd name="T14" fmla="*/ 0 w 5784"/>
              <a:gd name="T15" fmla="*/ 588963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20" cstate="print"/>
            <a:srcRect/>
            <a:stretch>
              <a:fillRect/>
            </a:stretch>
          </a:blip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5"/>
            <a:ext cx="10972800" cy="5137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12800" y="579438"/>
            <a:ext cx="10464800" cy="563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第七章 中间代码的生成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编译器前端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1343025"/>
            <a:ext cx="11233248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在编译器的模型中，前端对源程序进行分析并产生</a:t>
            </a:r>
            <a:r>
              <a:rPr lang="zh-CN" altLang="en-US" dirty="0">
                <a:solidFill>
                  <a:srgbClr val="FF0000"/>
                </a:solidFill>
              </a:rPr>
              <a:t>中间表示</a:t>
            </a:r>
            <a:r>
              <a:rPr lang="zh-CN" altLang="en-US" dirty="0"/>
              <a:t>，后端在此基础上生成目标代码。这种方式下可以大大减少工作量。理想情况下，只要写出</a:t>
            </a:r>
            <a:r>
              <a:rPr lang="en-US" altLang="zh-CN" dirty="0"/>
              <a:t>m</a:t>
            </a:r>
            <a:r>
              <a:rPr lang="zh-CN" altLang="en-US" dirty="0"/>
              <a:t>种前端和</a:t>
            </a:r>
            <a:r>
              <a:rPr lang="en-US" altLang="zh-CN" dirty="0"/>
              <a:t>n</a:t>
            </a:r>
            <a:r>
              <a:rPr lang="zh-CN" altLang="en-US" dirty="0"/>
              <a:t>种后端，就可以得到</a:t>
            </a:r>
            <a:r>
              <a:rPr lang="en-US" altLang="zh-CN" dirty="0"/>
              <a:t>m</a:t>
            </a:r>
            <a:r>
              <a:rPr lang="zh-CN" altLang="en-US" dirty="0"/>
              <a:t>*</a:t>
            </a:r>
            <a:r>
              <a:rPr lang="en-US" altLang="zh-CN" dirty="0"/>
              <a:t>n</a:t>
            </a:r>
            <a:r>
              <a:rPr lang="zh-CN" altLang="en-US" dirty="0"/>
              <a:t>种编译程序。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为简单起见，我们假设编译程序按下面的流程顺序处理。</a:t>
            </a:r>
            <a:endParaRPr lang="en-US" altLang="zh-CN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92" y="4221088"/>
            <a:ext cx="10388415" cy="216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中间代码生成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43024"/>
            <a:ext cx="11449272" cy="5254327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中间代码生成的任务是把经过语法分析和语义分析而获得的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源程序中间表示</a:t>
            </a:r>
            <a:r>
              <a:rPr lang="zh-CN" altLang="en-US" dirty="0">
                <a:latin typeface="+mn-ea"/>
              </a:rPr>
              <a:t>翻译为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中间代码</a:t>
            </a:r>
            <a:r>
              <a:rPr lang="zh-CN" altLang="en-US" dirty="0">
                <a:latin typeface="+mn-ea"/>
              </a:rPr>
              <a:t>表示。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一个编译器可能构造出一系列的中间表示：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高层的表示接近于源语言，而低层的表示接近于目标机器</a:t>
            </a:r>
            <a:r>
              <a:rPr lang="zh-CN" altLang="en-US" dirty="0">
                <a:latin typeface="+mn-ea"/>
              </a:rPr>
              <a:t>。语法树是高层的表示，适合静态类型检查等任务。低层表示适用于机器相关的处理任务，比如寄存器分配、指令选择。</a:t>
            </a:r>
            <a:endParaRPr lang="en-US" altLang="zh-CN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3212976"/>
            <a:ext cx="7200800" cy="14424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中间代码生成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3025"/>
            <a:ext cx="11377264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不同的编译器对中间表示的选择和涉及各有不同，常用的除了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语法树</a:t>
            </a:r>
            <a:r>
              <a:rPr lang="zh-CN" altLang="en-US" dirty="0">
                <a:latin typeface="+mn-ea"/>
              </a:rPr>
              <a:t>还有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后缀式</a:t>
            </a:r>
            <a:r>
              <a:rPr lang="zh-CN" altLang="en-US" dirty="0">
                <a:latin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三地址代码</a:t>
            </a:r>
            <a:r>
              <a:rPr lang="zh-CN" altLang="en-US" dirty="0">
                <a:latin typeface="+mn-ea"/>
              </a:rPr>
              <a:t>等等。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中间表示也可以是一种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真正的语言</a:t>
            </a:r>
            <a:r>
              <a:rPr lang="zh-CN" altLang="en-US" dirty="0">
                <a:latin typeface="+mn-ea"/>
              </a:rPr>
              <a:t>。早期的</a:t>
            </a:r>
            <a:r>
              <a:rPr lang="en-US" altLang="zh-CN" dirty="0">
                <a:latin typeface="+mn-ea"/>
              </a:rPr>
              <a:t>C++</a:t>
            </a:r>
            <a:r>
              <a:rPr lang="zh-CN" altLang="en-US" dirty="0">
                <a:latin typeface="+mn-ea"/>
              </a:rPr>
              <a:t>编译器的前端生成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代码，而把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语言编译器作为后端。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采用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独立于机器的中间代码</a:t>
            </a:r>
            <a:r>
              <a:rPr lang="zh-CN" altLang="en-US" dirty="0">
                <a:latin typeface="+mn-ea"/>
              </a:rPr>
              <a:t>的好处</a:t>
            </a:r>
            <a:r>
              <a:rPr lang="en-US" altLang="zh-CN" dirty="0">
                <a:latin typeface="+mn-ea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  <a:cs typeface="+mn-cs"/>
              </a:rPr>
              <a:t>便于编译系统建立和编译系统的移植</a:t>
            </a:r>
            <a:endParaRPr lang="en-US" altLang="zh-CN" dirty="0">
              <a:latin typeface="+mn-ea"/>
              <a:cs typeface="+mn-cs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  <a:cs typeface="+mn-cs"/>
              </a:rPr>
              <a:t>便于进行独立于机器的代码优化工作</a:t>
            </a:r>
            <a:endParaRPr lang="en-US" altLang="zh-CN" dirty="0">
              <a:latin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语法树的变体</a:t>
            </a:r>
            <a:r>
              <a:rPr lang="en-US" altLang="zh-CN" dirty="0"/>
              <a:t>——DAG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表达式的无环有向图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DAG</a:t>
            </a:r>
            <a:r>
              <a:rPr lang="zh-CN" altLang="en-US" dirty="0">
                <a:latin typeface="+mn-ea"/>
              </a:rPr>
              <a:t>是语法树的一种变体，可以用于处理表达式中的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公共表达式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对于串</a:t>
            </a:r>
            <a:r>
              <a:rPr lang="en-US" altLang="zh-CN" dirty="0" err="1">
                <a:latin typeface="+mn-ea"/>
              </a:rPr>
              <a:t>a+a</a:t>
            </a:r>
            <a:r>
              <a:rPr lang="en-US" altLang="zh-CN" dirty="0">
                <a:latin typeface="+mn-ea"/>
              </a:rPr>
              <a:t>*(b-c)+(b-c)*d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117" y="3460565"/>
            <a:ext cx="3254387" cy="2416707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 bwMode="auto">
          <a:xfrm>
            <a:off x="8242212" y="5058487"/>
            <a:ext cx="1224136" cy="80437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2400" b="1">
              <a:ea typeface="黑体" panose="02010609060101010101" pitchFamily="2" charset="-122"/>
            </a:endParaRPr>
          </a:p>
        </p:txBody>
      </p:sp>
      <p:sp>
        <p:nvSpPr>
          <p:cNvPr id="7" name="矩形: 圆角 6"/>
          <p:cNvSpPr/>
          <p:nvPr/>
        </p:nvSpPr>
        <p:spPr bwMode="auto">
          <a:xfrm>
            <a:off x="7488012" y="4926758"/>
            <a:ext cx="648072" cy="43204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2400" b="1">
              <a:ea typeface="黑体" panose="0201060906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17" y="3472157"/>
            <a:ext cx="4556683" cy="2747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DAG</a:t>
            </a:r>
            <a:r>
              <a:rPr lang="zh-CN" altLang="en-US" dirty="0"/>
              <a:t>的构造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5"/>
            <a:ext cx="1103101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可以使用构造抽象语法树的</a:t>
            </a:r>
            <a:r>
              <a:rPr lang="en-US" altLang="zh-CN" dirty="0" err="1">
                <a:latin typeface="+mn-ea"/>
              </a:rPr>
              <a:t>SDD</a:t>
            </a:r>
            <a:r>
              <a:rPr lang="zh-CN" altLang="en-US" dirty="0">
                <a:latin typeface="+mn-ea"/>
              </a:rPr>
              <a:t>来构造</a:t>
            </a:r>
            <a:r>
              <a:rPr lang="en-US" altLang="zh-CN" dirty="0">
                <a:latin typeface="+mn-ea"/>
              </a:rPr>
              <a:t>DAG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2276872"/>
            <a:ext cx="9164847" cy="3528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DAG</a:t>
            </a:r>
            <a:r>
              <a:rPr lang="zh-CN" altLang="en-US" dirty="0"/>
              <a:t>的构造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5"/>
            <a:ext cx="1103101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在构造抽象语法树时，</a:t>
            </a:r>
            <a:r>
              <a:rPr lang="en-US" altLang="zh-CN" dirty="0" err="1">
                <a:latin typeface="+mn-ea"/>
              </a:rPr>
              <a:t>SDD</a:t>
            </a:r>
            <a:r>
              <a:rPr lang="zh-CN" altLang="en-US" dirty="0">
                <a:latin typeface="+mn-ea"/>
              </a:rPr>
              <a:t>为每个树节点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创建新的节点</a:t>
            </a:r>
            <a:r>
              <a:rPr lang="zh-CN" altLang="en-US" dirty="0">
                <a:latin typeface="+mn-ea"/>
              </a:rPr>
              <a:t>。而对</a:t>
            </a:r>
            <a:r>
              <a:rPr lang="en-US" altLang="zh-CN" dirty="0">
                <a:latin typeface="+mn-ea"/>
              </a:rPr>
              <a:t>DAG</a:t>
            </a:r>
            <a:r>
              <a:rPr lang="zh-CN" altLang="en-US" dirty="0">
                <a:latin typeface="+mn-ea"/>
              </a:rPr>
              <a:t>来说，创建一个节点之前应考虑它是否已经被创建，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如果已经被创建则只建立连接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例如：在构造一个新节点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Node(op, left, right)</a:t>
            </a:r>
            <a:r>
              <a:rPr lang="zh-CN" altLang="en-US" dirty="0">
                <a:latin typeface="+mn-ea"/>
              </a:rPr>
              <a:t>之前，先检查是否已经存在一个节点，它的运算符是</a:t>
            </a:r>
            <a:r>
              <a:rPr lang="en-US" altLang="zh-CN" dirty="0">
                <a:latin typeface="+mn-ea"/>
              </a:rPr>
              <a:t>op</a:t>
            </a:r>
            <a:r>
              <a:rPr lang="zh-CN" altLang="en-US" dirty="0">
                <a:latin typeface="+mn-ea"/>
              </a:rPr>
              <a:t>，它的子节点是</a:t>
            </a:r>
            <a:r>
              <a:rPr lang="en-US" altLang="zh-CN" dirty="0">
                <a:latin typeface="+mn-ea"/>
              </a:rPr>
              <a:t>left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right</a:t>
            </a:r>
            <a:r>
              <a:rPr lang="zh-CN" altLang="en-US" dirty="0">
                <a:latin typeface="+mn-ea"/>
              </a:rPr>
              <a:t>。如果存在则</a:t>
            </a:r>
            <a:r>
              <a:rPr lang="en-US" altLang="zh-CN" dirty="0">
                <a:latin typeface="+mn-ea"/>
              </a:rPr>
              <a:t>Node</a:t>
            </a:r>
            <a:r>
              <a:rPr lang="zh-CN" altLang="en-US" dirty="0">
                <a:latin typeface="+mn-ea"/>
              </a:rPr>
              <a:t>函数返回这个节点，否则创建新的节点。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DAG</a:t>
            </a:r>
            <a:r>
              <a:rPr lang="zh-CN" altLang="en-US" dirty="0"/>
              <a:t>的构造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5"/>
            <a:ext cx="1103101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1" t="2397" r="18215" b="15094"/>
          <a:stretch>
            <a:fillRect/>
          </a:stretch>
        </p:blipFill>
        <p:spPr bwMode="auto">
          <a:xfrm>
            <a:off x="6960096" y="1445791"/>
            <a:ext cx="4635192" cy="493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1534159"/>
            <a:ext cx="2747981" cy="204065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3861048"/>
            <a:ext cx="6359282" cy="24482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12" y="1534159"/>
            <a:ext cx="3344356" cy="20164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DAG</a:t>
            </a:r>
            <a:r>
              <a:rPr lang="zh-CN" altLang="en-US" dirty="0"/>
              <a:t>的构造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5"/>
            <a:ext cx="1103101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+mn-ea"/>
              </a:rPr>
              <a:t>DAG</a:t>
            </a:r>
            <a:r>
              <a:rPr lang="zh-CN" altLang="en-US" sz="2400" dirty="0">
                <a:latin typeface="+mn-ea"/>
              </a:rPr>
              <a:t>中的节点通常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存在一个记录数组</a:t>
            </a:r>
            <a:r>
              <a:rPr lang="zh-CN" altLang="en-US" sz="2400" dirty="0">
                <a:latin typeface="+mn-ea"/>
              </a:rPr>
              <a:t>中，每行表示一个节点。</a:t>
            </a:r>
            <a:r>
              <a:rPr lang="en-US" altLang="zh-CN" sz="2400" dirty="0">
                <a:latin typeface="+mn-ea"/>
              </a:rPr>
              <a:t>id</a:t>
            </a:r>
            <a:r>
              <a:rPr lang="zh-CN" altLang="en-US" sz="2400" dirty="0">
                <a:latin typeface="+mn-ea"/>
              </a:rPr>
              <a:t>叶子节点的值是指向符号表中该符号的指针，数字节点是它的数值。其他节点则保存子节点指针。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可以使用该节点在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数组中的下标</a:t>
            </a:r>
            <a:r>
              <a:rPr lang="zh-CN" altLang="en-US" sz="2400" dirty="0">
                <a:latin typeface="+mn-ea"/>
              </a:rPr>
              <a:t>作为这个表达式的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值编码</a:t>
            </a:r>
            <a:r>
              <a:rPr lang="zh-CN" altLang="en-US" sz="2400" dirty="0">
                <a:latin typeface="+mn-ea"/>
              </a:rPr>
              <a:t>。例如：加法节点的值编码为</a:t>
            </a:r>
            <a:r>
              <a:rPr lang="en-US" altLang="zh-CN" sz="2400" dirty="0">
                <a:latin typeface="+mn-ea"/>
              </a:rPr>
              <a:t>3</a:t>
            </a:r>
            <a:r>
              <a:rPr lang="zh-CN" altLang="en-US" sz="2400" dirty="0">
                <a:latin typeface="+mn-ea"/>
              </a:rPr>
              <a:t>，其左右子节点的值编码是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。所以可以用三元组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(+,1,2)</a:t>
            </a:r>
            <a:r>
              <a:rPr lang="zh-CN" altLang="en-US" sz="2400" dirty="0">
                <a:latin typeface="+mn-ea"/>
              </a:rPr>
              <a:t>表示这个节点。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" r="771" b="39808"/>
          <a:stretch>
            <a:fillRect/>
          </a:stretch>
        </p:blipFill>
        <p:spPr bwMode="auto">
          <a:xfrm>
            <a:off x="2423592" y="4520058"/>
            <a:ext cx="7668852" cy="1934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DAG</a:t>
            </a:r>
            <a:r>
              <a:rPr lang="zh-CN" altLang="en-US" dirty="0"/>
              <a:t>的构造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5"/>
            <a:ext cx="1103101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latin typeface="+mn-ea"/>
              </a:rPr>
              <a:t>示例：为</a:t>
            </a:r>
            <a:r>
              <a:rPr lang="en-US" altLang="zh-CN" dirty="0" err="1">
                <a:latin typeface="+mn-ea"/>
              </a:rPr>
              <a:t>a+b</a:t>
            </a:r>
            <a:r>
              <a:rPr lang="en-US" altLang="zh-CN" dirty="0">
                <a:latin typeface="+mn-ea"/>
              </a:rPr>
              <a:t>+(</a:t>
            </a:r>
            <a:r>
              <a:rPr lang="en-US" altLang="zh-CN" dirty="0" err="1">
                <a:latin typeface="+mn-ea"/>
              </a:rPr>
              <a:t>a+b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构造</a:t>
            </a:r>
            <a:r>
              <a:rPr lang="en-US" altLang="zh-CN" dirty="0">
                <a:latin typeface="+mn-ea"/>
              </a:rPr>
              <a:t>DAG</a:t>
            </a:r>
            <a:r>
              <a:rPr lang="zh-CN" altLang="en-US" dirty="0">
                <a:latin typeface="+mn-ea"/>
              </a:rPr>
              <a:t>并给出每个子表达式的值编码。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2492896"/>
            <a:ext cx="2639999" cy="259228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439816" y="2564904"/>
          <a:ext cx="6255792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3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id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a</a:t>
                      </a:r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</a:t>
                      </a:r>
                      <a:endParaRPr lang="zh-CN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</a:t>
                      </a:r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id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b</a:t>
                      </a:r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0</a:t>
                      </a:r>
                      <a:endParaRPr lang="zh-CN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+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</a:t>
                      </a:r>
                      <a:endParaRPr lang="zh-CN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</a:t>
                      </a:r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0000FF"/>
                          </a:solidFill>
                        </a:rPr>
                        <a:t>+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三地址代码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4"/>
            <a:ext cx="11175032" cy="5254327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三地址代码</a:t>
            </a:r>
            <a:r>
              <a:rPr lang="zh-CN" altLang="en-US" dirty="0">
                <a:latin typeface="+mn-ea"/>
              </a:rPr>
              <a:t>是语法树或者</a:t>
            </a:r>
            <a:r>
              <a:rPr lang="en-US" altLang="zh-CN" dirty="0">
                <a:latin typeface="+mn-ea"/>
              </a:rPr>
              <a:t>DAG</a:t>
            </a:r>
            <a:r>
              <a:rPr lang="zh-CN" altLang="en-US" dirty="0">
                <a:latin typeface="+mn-ea"/>
              </a:rPr>
              <a:t>的线性表达形式，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每条代码包含一个运算和三个地址</a:t>
            </a:r>
            <a:r>
              <a:rPr lang="zh-CN" altLang="en-US" dirty="0">
                <a:latin typeface="+mn-ea"/>
              </a:rPr>
              <a:t>，两个地址用于存放运算对象，一个用于存放运算结果。也就是说在三地址代码中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不允许出现组合运算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例如：表达式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x+y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*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z</a:t>
            </a:r>
            <a:r>
              <a:rPr lang="zh-CN" altLang="en-US" dirty="0">
                <a:latin typeface="+mn-ea"/>
              </a:rPr>
              <a:t>会被翻译为：</a:t>
            </a:r>
            <a:endParaRPr lang="en-US" altLang="zh-CN" dirty="0">
              <a:latin typeface="+mn-ea"/>
            </a:endParaRPr>
          </a:p>
          <a:p>
            <a:pPr marL="3086100" lvl="7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err="1">
                <a:solidFill>
                  <a:srgbClr val="0000CC"/>
                </a:solidFill>
                <a:latin typeface="+mn-ea"/>
              </a:rPr>
              <a:t>t1</a:t>
            </a:r>
            <a:r>
              <a:rPr lang="en-US" altLang="zh-CN" sz="2800" dirty="0">
                <a:solidFill>
                  <a:srgbClr val="0000CC"/>
                </a:solidFill>
                <a:latin typeface="+mn-ea"/>
              </a:rPr>
              <a:t>=y*z</a:t>
            </a:r>
          </a:p>
          <a:p>
            <a:pPr marL="3086100" lvl="7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err="1">
                <a:solidFill>
                  <a:srgbClr val="0000CC"/>
                </a:solidFill>
                <a:latin typeface="+mn-ea"/>
              </a:rPr>
              <a:t>t2</a:t>
            </a:r>
            <a:r>
              <a:rPr lang="en-US" altLang="zh-CN" sz="2800" dirty="0">
                <a:solidFill>
                  <a:srgbClr val="0000CC"/>
                </a:solidFill>
                <a:latin typeface="+mn-ea"/>
              </a:rPr>
              <a:t>=</a:t>
            </a:r>
            <a:r>
              <a:rPr lang="en-US" altLang="zh-CN" sz="2800" dirty="0" err="1">
                <a:solidFill>
                  <a:srgbClr val="0000CC"/>
                </a:solidFill>
                <a:latin typeface="+mn-ea"/>
              </a:rPr>
              <a:t>x+t1</a:t>
            </a:r>
            <a:endParaRPr lang="en-US" altLang="zh-CN" sz="2800" dirty="0">
              <a:solidFill>
                <a:srgbClr val="0000CC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其中，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t1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t2</a:t>
            </a:r>
            <a:r>
              <a:rPr lang="zh-CN" altLang="en-US" dirty="0">
                <a:latin typeface="+mn-ea"/>
              </a:rPr>
              <a:t>是编译器产生的临时名字，用于存储程序计算中得到的中间结果。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三地址代码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4"/>
            <a:ext cx="11175032" cy="5254327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三地址代码</a:t>
            </a:r>
            <a:r>
              <a:rPr lang="zh-CN" altLang="en-US" dirty="0">
                <a:latin typeface="+mn-ea"/>
              </a:rPr>
              <a:t>中的名字对应于语法树或者</a:t>
            </a:r>
            <a:r>
              <a:rPr lang="en-US" altLang="zh-CN" dirty="0">
                <a:latin typeface="+mn-ea"/>
              </a:rPr>
              <a:t>DAG</a:t>
            </a:r>
            <a:r>
              <a:rPr lang="zh-CN" altLang="en-US" dirty="0">
                <a:latin typeface="+mn-ea"/>
              </a:rPr>
              <a:t>的内部节点，实际相当于引用符号表的某一项。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41"/>
          <a:stretch>
            <a:fillRect/>
          </a:stretch>
        </p:blipFill>
        <p:spPr bwMode="auto">
          <a:xfrm>
            <a:off x="823142" y="2924944"/>
            <a:ext cx="10545716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常见三地址指令形式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68760"/>
            <a:ext cx="11103024" cy="5256584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形如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 = y op z</a:t>
            </a:r>
            <a:r>
              <a:rPr lang="zh-CN" altLang="en-US" dirty="0">
                <a:latin typeface="+mn-ea"/>
              </a:rPr>
              <a:t>的赋值指令。</a:t>
            </a:r>
            <a:r>
              <a:rPr lang="en-US" altLang="zh-CN" dirty="0">
                <a:latin typeface="+mn-ea"/>
              </a:rPr>
              <a:t>op</a:t>
            </a:r>
            <a:r>
              <a:rPr lang="zh-CN" altLang="en-US" dirty="0">
                <a:latin typeface="+mn-ea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双目</a:t>
            </a:r>
            <a:r>
              <a:rPr lang="zh-CN" altLang="en-US" dirty="0">
                <a:latin typeface="+mn-ea"/>
              </a:rPr>
              <a:t>运算。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形如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 = op y</a:t>
            </a:r>
            <a:r>
              <a:rPr lang="zh-CN" altLang="en-US" dirty="0">
                <a:latin typeface="+mn-ea"/>
              </a:rPr>
              <a:t>的赋值指令。</a:t>
            </a:r>
            <a:r>
              <a:rPr lang="en-US" altLang="zh-CN" dirty="0">
                <a:latin typeface="+mn-ea"/>
              </a:rPr>
              <a:t>op</a:t>
            </a:r>
            <a:r>
              <a:rPr lang="zh-CN" altLang="en-US" dirty="0">
                <a:latin typeface="+mn-ea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单目</a:t>
            </a:r>
            <a:r>
              <a:rPr lang="zh-CN" altLang="en-US" dirty="0">
                <a:latin typeface="+mn-ea"/>
              </a:rPr>
              <a:t>运算。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形如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 = y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赋值</a:t>
            </a:r>
            <a:r>
              <a:rPr lang="zh-CN" altLang="en-US" dirty="0">
                <a:latin typeface="+mn-ea"/>
              </a:rPr>
              <a:t>指令。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无条件转移指令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goto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L</a:t>
            </a:r>
            <a:r>
              <a:rPr lang="zh-CN" altLang="en-US" dirty="0">
                <a:latin typeface="+mn-ea"/>
              </a:rPr>
              <a:t>。</a:t>
            </a:r>
            <a:r>
              <a:rPr lang="en-US" altLang="zh-CN" dirty="0">
                <a:latin typeface="+mn-ea"/>
              </a:rPr>
              <a:t>L</a:t>
            </a:r>
            <a:r>
              <a:rPr lang="zh-CN" altLang="en-US" dirty="0">
                <a:latin typeface="+mn-ea"/>
              </a:rPr>
              <a:t>是要跳转语句的标号。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形如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if x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goto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L</a:t>
            </a:r>
            <a:r>
              <a:rPr lang="zh-CN" altLang="en-US" dirty="0">
                <a:latin typeface="+mn-ea"/>
              </a:rPr>
              <a:t>或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if x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relop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y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goto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L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条件转移指令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形如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 = y[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i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或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x[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i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] = y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带下标赋值指令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形如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x=&amp;y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x=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*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y</a:t>
            </a:r>
            <a:r>
              <a:rPr lang="zh-CN" altLang="en-US" dirty="0">
                <a:latin typeface="+mn-ea"/>
              </a:rPr>
              <a:t>或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*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x=y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地址及指针赋值指令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形如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param x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call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p,n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y=call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p,n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、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return y</a:t>
            </a:r>
            <a:r>
              <a:rPr lang="zh-CN" altLang="en-US" dirty="0">
                <a:latin typeface="+mn-ea"/>
              </a:rPr>
              <a:t>等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函数调用指令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三地址代码示例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343025"/>
            <a:ext cx="11233248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考虑语句</a:t>
            </a:r>
            <a:r>
              <a:rPr lang="en-US" altLang="zh-CN" dirty="0">
                <a:latin typeface="+mn-ea"/>
              </a:rPr>
              <a:t>do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 = </a:t>
            </a:r>
            <a:r>
              <a:rPr lang="en-US" altLang="zh-CN" dirty="0" err="1">
                <a:latin typeface="+mn-ea"/>
              </a:rPr>
              <a:t>i+1</a:t>
            </a:r>
            <a:r>
              <a:rPr lang="en-US" altLang="zh-CN" dirty="0">
                <a:latin typeface="+mn-ea"/>
              </a:rPr>
              <a:t>; while (a[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 &lt; v); </a:t>
            </a:r>
            <a:r>
              <a:rPr lang="zh-CN" altLang="en-US" dirty="0">
                <a:latin typeface="+mn-ea"/>
              </a:rPr>
              <a:t>下面给出这个语句的两种可能的翻译：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48" y="2564903"/>
            <a:ext cx="10575636" cy="37284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将下面语句翻译成三地址码：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for (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 = 0;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 &lt; 10;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++)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    if (x &gt; 10)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        x += y + 3;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}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将下面语句翻译成三地址码：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for (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 = 0;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 &lt; 10;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++)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    if (x &gt; 10)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        x += y + 3;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}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72064" y="1442013"/>
            <a:ext cx="3888432" cy="4939173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i</a:t>
            </a:r>
            <a:r>
              <a:rPr lang="en-US" altLang="zh-CN" sz="2400" b="1" dirty="0">
                <a:latin typeface="+mn-ea"/>
                <a:ea typeface="+mn-ea"/>
              </a:rPr>
              <a:t>=0;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L5</a:t>
            </a:r>
            <a:r>
              <a:rPr lang="en-US" altLang="zh-CN" sz="2400" b="1" dirty="0">
                <a:latin typeface="+mn-ea"/>
                <a:ea typeface="+mn-ea"/>
              </a:rPr>
              <a:t>: if </a:t>
            </a:r>
            <a:r>
              <a:rPr lang="en-US" altLang="zh-CN" sz="2400" b="1" dirty="0" err="1">
                <a:latin typeface="+mn-ea"/>
                <a:ea typeface="+mn-ea"/>
              </a:rPr>
              <a:t>i</a:t>
            </a:r>
            <a:r>
              <a:rPr lang="en-US" altLang="zh-CN" sz="2400" b="1" dirty="0">
                <a:latin typeface="+mn-ea"/>
                <a:ea typeface="+mn-ea"/>
              </a:rPr>
              <a:t> &lt; 10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L1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L2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L1</a:t>
            </a:r>
            <a:r>
              <a:rPr lang="en-US" altLang="zh-CN" sz="2400" b="1" dirty="0">
                <a:latin typeface="+mn-ea"/>
                <a:ea typeface="+mn-ea"/>
              </a:rPr>
              <a:t>: if x &gt; 10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L3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L4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L3</a:t>
            </a:r>
            <a:r>
              <a:rPr lang="en-US" altLang="zh-CN" sz="2400" b="1" dirty="0">
                <a:latin typeface="+mn-ea"/>
                <a:ea typeface="+mn-ea"/>
              </a:rPr>
              <a:t>: </a:t>
            </a:r>
            <a:r>
              <a:rPr lang="en-US" altLang="zh-CN" sz="2400" b="1" dirty="0" err="1">
                <a:latin typeface="+mn-ea"/>
                <a:ea typeface="+mn-ea"/>
              </a:rPr>
              <a:t>t1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  <a:r>
              <a:rPr lang="en-US" altLang="zh-CN" sz="2400" b="1" dirty="0" err="1">
                <a:latin typeface="+mn-ea"/>
                <a:ea typeface="+mn-ea"/>
              </a:rPr>
              <a:t>y+3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t2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  <a:r>
              <a:rPr lang="en-US" altLang="zh-CN" sz="2400" b="1" dirty="0" err="1">
                <a:latin typeface="+mn-ea"/>
                <a:ea typeface="+mn-ea"/>
              </a:rPr>
              <a:t>x+t1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x=</a:t>
            </a:r>
            <a:r>
              <a:rPr lang="en-US" altLang="zh-CN" sz="2400" b="1" dirty="0" err="1">
                <a:latin typeface="+mn-ea"/>
                <a:ea typeface="+mn-ea"/>
              </a:rPr>
              <a:t>t2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L4</a:t>
            </a:r>
            <a:r>
              <a:rPr lang="en-US" altLang="zh-CN" sz="2400" b="1" dirty="0">
                <a:latin typeface="+mn-ea"/>
                <a:ea typeface="+mn-ea"/>
              </a:rPr>
              <a:t>: </a:t>
            </a:r>
            <a:r>
              <a:rPr lang="en-US" altLang="zh-CN" sz="2400" b="1" dirty="0" err="1">
                <a:latin typeface="+mn-ea"/>
                <a:ea typeface="+mn-ea"/>
              </a:rPr>
              <a:t>t3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  <a:r>
              <a:rPr lang="en-US" altLang="zh-CN" sz="2400" b="1" dirty="0" err="1">
                <a:latin typeface="+mn-ea"/>
                <a:ea typeface="+mn-ea"/>
              </a:rPr>
              <a:t>i+1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i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  <a:r>
              <a:rPr lang="en-US" altLang="zh-CN" sz="2400" b="1" dirty="0" err="1">
                <a:latin typeface="+mn-ea"/>
                <a:ea typeface="+mn-ea"/>
              </a:rPr>
              <a:t>t3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L5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L2</a:t>
            </a:r>
            <a:r>
              <a:rPr lang="en-US" altLang="zh-CN" sz="2400" b="1" dirty="0">
                <a:latin typeface="+mn-ea"/>
                <a:ea typeface="+mn-ea"/>
              </a:rPr>
              <a:t>:  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将下面语句翻译成三地址码：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if (x &gt; 10 &amp;&amp; y &lt; 20)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x=</a:t>
            </a:r>
            <a:r>
              <a:rPr lang="en-US" altLang="zh-CN" dirty="0" err="1">
                <a:latin typeface="+mn-ea"/>
              </a:rPr>
              <a:t>y+a</a:t>
            </a:r>
            <a:r>
              <a:rPr lang="en-US" altLang="zh-CN" dirty="0">
                <a:latin typeface="+mn-ea"/>
              </a:rPr>
              <a:t>*b;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将下面语句翻译成三地址码：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if (x &gt; 10 &amp;&amp; y &lt; 20)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x=</a:t>
            </a:r>
            <a:r>
              <a:rPr lang="en-US" altLang="zh-CN" dirty="0" err="1">
                <a:latin typeface="+mn-ea"/>
              </a:rPr>
              <a:t>y+a</a:t>
            </a:r>
            <a:r>
              <a:rPr lang="en-US" altLang="zh-CN" dirty="0">
                <a:latin typeface="+mn-ea"/>
              </a:rPr>
              <a:t>*b;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84032" y="1700808"/>
            <a:ext cx="3888432" cy="4459041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if x &gt; 10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L1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L2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L1</a:t>
            </a:r>
            <a:r>
              <a:rPr lang="en-US" altLang="zh-CN" sz="2400" b="1" dirty="0">
                <a:latin typeface="+mn-ea"/>
                <a:ea typeface="+mn-ea"/>
              </a:rPr>
              <a:t>: if y &lt; 20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L3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 err="1">
                <a:latin typeface="+mn-ea"/>
                <a:ea typeface="+mn-ea"/>
              </a:rPr>
              <a:t>L2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L3</a:t>
            </a:r>
            <a:r>
              <a:rPr lang="en-US" altLang="zh-CN" sz="2400" b="1" dirty="0">
                <a:latin typeface="+mn-ea"/>
                <a:ea typeface="+mn-ea"/>
              </a:rPr>
              <a:t>: </a:t>
            </a:r>
            <a:r>
              <a:rPr lang="en-US" altLang="zh-CN" sz="2400" b="1" dirty="0" err="1">
                <a:latin typeface="+mn-ea"/>
                <a:ea typeface="+mn-ea"/>
              </a:rPr>
              <a:t>t1</a:t>
            </a:r>
            <a:r>
              <a:rPr lang="en-US" altLang="zh-CN" sz="2400" b="1" dirty="0">
                <a:latin typeface="+mn-ea"/>
                <a:ea typeface="+mn-ea"/>
              </a:rPr>
              <a:t>=a*b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t2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  <a:r>
              <a:rPr lang="en-US" altLang="zh-CN" sz="2400" b="1" dirty="0" err="1">
                <a:latin typeface="+mn-ea"/>
                <a:ea typeface="+mn-ea"/>
              </a:rPr>
              <a:t>y+t1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x=</a:t>
            </a:r>
            <a:r>
              <a:rPr lang="en-US" altLang="zh-CN" sz="2400" b="1" dirty="0" err="1">
                <a:latin typeface="+mn-ea"/>
                <a:ea typeface="+mn-ea"/>
              </a:rPr>
              <a:t>t2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L2</a:t>
            </a:r>
            <a:r>
              <a:rPr lang="en-US" altLang="zh-CN" sz="2400" b="1" dirty="0">
                <a:latin typeface="+mn-ea"/>
                <a:ea typeface="+mn-ea"/>
              </a:rPr>
              <a:t>:  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将下面语句翻译成三地址码：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while (x &lt; 10 || x &gt; 100)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x *= 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++;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将下面语句翻译成三地址码：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while (x &lt; 10 || x &gt; 100)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x *= 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     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++;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 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+mn-ea"/>
              </a:rPr>
              <a:t>     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44072" y="1442013"/>
            <a:ext cx="3888432" cy="4939173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L4: if x &lt; 10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L1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L2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L2: if x &gt; 100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L1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L3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err="1">
                <a:latin typeface="+mn-ea"/>
                <a:ea typeface="+mn-ea"/>
              </a:rPr>
              <a:t>L1</a:t>
            </a:r>
            <a:r>
              <a:rPr lang="en-US" altLang="zh-CN" sz="2400" b="1" dirty="0">
                <a:latin typeface="+mn-ea"/>
                <a:ea typeface="+mn-ea"/>
              </a:rPr>
              <a:t>: </a:t>
            </a:r>
            <a:r>
              <a:rPr lang="en-US" altLang="zh-CN" sz="2400" b="1" dirty="0" err="1">
                <a:latin typeface="+mn-ea"/>
                <a:ea typeface="+mn-ea"/>
              </a:rPr>
              <a:t>t2</a:t>
            </a:r>
            <a:r>
              <a:rPr lang="en-US" altLang="zh-CN" sz="2400" b="1" dirty="0">
                <a:latin typeface="+mn-ea"/>
                <a:ea typeface="+mn-ea"/>
              </a:rPr>
              <a:t> = </a:t>
            </a:r>
            <a:r>
              <a:rPr lang="en-US" altLang="zh-CN" sz="2400" b="1" dirty="0" err="1">
                <a:latin typeface="+mn-ea"/>
                <a:ea typeface="+mn-ea"/>
              </a:rPr>
              <a:t>i</a:t>
            </a:r>
            <a:r>
              <a:rPr lang="en-US" altLang="zh-CN" sz="2400" b="1" dirty="0">
                <a:latin typeface="+mn-ea"/>
                <a:ea typeface="+mn-ea"/>
              </a:rPr>
              <a:t> * 8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t3</a:t>
            </a:r>
            <a:r>
              <a:rPr lang="en-US" altLang="zh-CN" sz="2400" b="1" dirty="0">
                <a:latin typeface="+mn-ea"/>
                <a:ea typeface="+mn-ea"/>
              </a:rPr>
              <a:t> = a[</a:t>
            </a:r>
            <a:r>
              <a:rPr lang="en-US" altLang="zh-CN" sz="2400" b="1" dirty="0" err="1">
                <a:latin typeface="+mn-ea"/>
                <a:ea typeface="+mn-ea"/>
              </a:rPr>
              <a:t>t2</a:t>
            </a:r>
            <a:r>
              <a:rPr lang="en-US" altLang="zh-CN" sz="2400" b="1" dirty="0">
                <a:latin typeface="+mn-ea"/>
                <a:ea typeface="+mn-ea"/>
              </a:rPr>
              <a:t>]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t1</a:t>
            </a:r>
            <a:r>
              <a:rPr lang="en-US" altLang="zh-CN" sz="2400" b="1" dirty="0">
                <a:latin typeface="+mn-ea"/>
                <a:ea typeface="+mn-ea"/>
              </a:rPr>
              <a:t> = x * </a:t>
            </a:r>
            <a:r>
              <a:rPr lang="en-US" altLang="zh-CN" sz="2400" b="1" dirty="0" err="1">
                <a:latin typeface="+mn-ea"/>
                <a:ea typeface="+mn-ea"/>
              </a:rPr>
              <a:t>t3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x = </a:t>
            </a:r>
            <a:r>
              <a:rPr lang="en-US" altLang="zh-CN" sz="2400" b="1" dirty="0" err="1">
                <a:latin typeface="+mn-ea"/>
                <a:ea typeface="+mn-ea"/>
              </a:rPr>
              <a:t>t1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t4</a:t>
            </a:r>
            <a:r>
              <a:rPr lang="en-US" altLang="zh-CN" sz="2400" b="1" dirty="0">
                <a:latin typeface="+mn-ea"/>
                <a:ea typeface="+mn-ea"/>
              </a:rPr>
              <a:t> = </a:t>
            </a:r>
            <a:r>
              <a:rPr lang="en-US" altLang="zh-CN" sz="2400" b="1" dirty="0" err="1">
                <a:latin typeface="+mn-ea"/>
                <a:ea typeface="+mn-ea"/>
              </a:rPr>
              <a:t>i+1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i</a:t>
            </a:r>
            <a:r>
              <a:rPr lang="en-US" altLang="zh-CN" sz="2400" b="1" dirty="0">
                <a:latin typeface="+mn-ea"/>
                <a:ea typeface="+mn-ea"/>
              </a:rPr>
              <a:t> = </a:t>
            </a:r>
            <a:r>
              <a:rPr lang="en-US" altLang="zh-CN" sz="2400" b="1" dirty="0" err="1">
                <a:latin typeface="+mn-ea"/>
                <a:ea typeface="+mn-ea"/>
              </a:rPr>
              <a:t>t4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      </a:t>
            </a:r>
            <a:r>
              <a:rPr lang="en-US" altLang="zh-CN" sz="2400" b="1" dirty="0" err="1">
                <a:latin typeface="+mn-ea"/>
                <a:ea typeface="+mn-ea"/>
              </a:rPr>
              <a:t>goto</a:t>
            </a:r>
            <a:r>
              <a:rPr lang="en-US" altLang="zh-CN" sz="2400" b="1" dirty="0">
                <a:latin typeface="+mn-ea"/>
                <a:ea typeface="+mn-ea"/>
              </a:rPr>
              <a:t> L4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latin typeface="+mn-ea"/>
                <a:ea typeface="+mn-ea"/>
              </a:rPr>
              <a:t>L3:  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四元式表示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三地址代码</a:t>
            </a:r>
            <a:r>
              <a:rPr lang="zh-CN" altLang="en-US" dirty="0">
                <a:latin typeface="+mn-ea"/>
              </a:rPr>
              <a:t>是中间代码的一种抽象形式，具体实现包括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四元式、三元式</a:t>
            </a:r>
            <a:r>
              <a:rPr lang="zh-CN" altLang="en-US" dirty="0">
                <a:latin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间接三元式、静态单赋值形式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一个四元式</a:t>
            </a:r>
            <a:r>
              <a:rPr lang="en-US" altLang="zh-CN" dirty="0">
                <a:latin typeface="+mn-ea"/>
              </a:rPr>
              <a:t>(quadruple)</a:t>
            </a:r>
            <a:r>
              <a:rPr lang="zh-CN" altLang="en-US" dirty="0">
                <a:latin typeface="+mn-ea"/>
              </a:rPr>
              <a:t>有四个字段，分别称为</a:t>
            </a:r>
            <a:r>
              <a:rPr lang="en-US" altLang="zh-CN" dirty="0">
                <a:latin typeface="+mn-ea"/>
              </a:rPr>
              <a:t>op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 err="1">
                <a:latin typeface="+mn-ea"/>
              </a:rPr>
              <a:t>arg1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 err="1">
                <a:latin typeface="+mn-ea"/>
              </a:rPr>
              <a:t>arg2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result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举例来说，在三地址指令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x=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y+z</a:t>
            </a:r>
            <a:r>
              <a:rPr lang="zh-CN" altLang="en-US" dirty="0">
                <a:latin typeface="+mn-ea"/>
              </a:rPr>
              <a:t>相应的四元式中，</a:t>
            </a:r>
            <a:r>
              <a:rPr lang="en-US" altLang="zh-CN" dirty="0">
                <a:latin typeface="+mn-ea"/>
              </a:rPr>
              <a:t>op</a:t>
            </a:r>
            <a:r>
              <a:rPr lang="zh-CN" altLang="en-US" dirty="0">
                <a:latin typeface="+mn-ea"/>
              </a:rPr>
              <a:t>存放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err="1">
                <a:latin typeface="+mn-ea"/>
              </a:rPr>
              <a:t>arg1</a:t>
            </a:r>
            <a:r>
              <a:rPr lang="zh-CN" altLang="en-US" dirty="0">
                <a:latin typeface="+mn-ea"/>
              </a:rPr>
              <a:t>存放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y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err="1">
                <a:latin typeface="+mn-ea"/>
              </a:rPr>
              <a:t>arg2</a:t>
            </a:r>
            <a:r>
              <a:rPr lang="zh-CN" altLang="en-US" dirty="0">
                <a:latin typeface="+mn-ea"/>
              </a:rPr>
              <a:t>存放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z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result</a:t>
            </a:r>
            <a:r>
              <a:rPr lang="zh-CN" altLang="en-US" dirty="0">
                <a:latin typeface="+mn-ea"/>
              </a:rPr>
              <a:t>中为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形如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x=minus y</a:t>
            </a:r>
            <a:r>
              <a:rPr lang="zh-CN" altLang="en-US" dirty="0">
                <a:latin typeface="+mn-ea"/>
              </a:rPr>
              <a:t>的单目运算和赋值指令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x=y</a:t>
            </a:r>
            <a:r>
              <a:rPr lang="zh-CN" altLang="en-US" dirty="0">
                <a:latin typeface="+mn-ea"/>
              </a:rPr>
              <a:t>不使用</a:t>
            </a:r>
            <a:r>
              <a:rPr lang="en-US" altLang="zh-CN" dirty="0" err="1">
                <a:latin typeface="+mn-ea"/>
              </a:rPr>
              <a:t>arg2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条件或非条件转移指令将</a:t>
            </a:r>
            <a:r>
              <a:rPr lang="zh-CN" altLang="en-US" dirty="0">
                <a:solidFill>
                  <a:srgbClr val="0000CC"/>
                </a:solidFill>
                <a:latin typeface="+mn-ea"/>
              </a:rPr>
              <a:t>目标标号</a:t>
            </a:r>
            <a:r>
              <a:rPr lang="zh-CN" altLang="en-US" dirty="0">
                <a:latin typeface="+mn-ea"/>
              </a:rPr>
              <a:t>放入</a:t>
            </a:r>
            <a:r>
              <a:rPr lang="en-US" altLang="zh-CN" dirty="0">
                <a:latin typeface="+mn-ea"/>
              </a:rPr>
              <a:t>result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四元式示例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常见的三地址代码和四元式的对应关系：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179355"/>
              </p:ext>
            </p:extLst>
          </p:nvPr>
        </p:nvGraphicFramePr>
        <p:xfrm>
          <a:off x="2279576" y="2276872"/>
          <a:ext cx="7503628" cy="3528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5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三地址代码</a:t>
                      </a: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四元式</a:t>
                      </a: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x = y op z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(op, y, z, x)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x = op z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(op, z,  , x)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x = y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(=, y,  , x)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goto</a:t>
                      </a:r>
                      <a:r>
                        <a:rPr lang="en-US" altLang="zh-CN" sz="2000" b="1" dirty="0"/>
                        <a:t> L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(j,  ,  , L)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if x </a:t>
                      </a:r>
                      <a:r>
                        <a:rPr lang="en-US" altLang="zh-CN" sz="2000" b="1" dirty="0" err="1"/>
                        <a:t>rop</a:t>
                      </a:r>
                      <a:r>
                        <a:rPr lang="en-US" altLang="zh-CN" sz="2000" b="1" dirty="0"/>
                        <a:t> y </a:t>
                      </a:r>
                      <a:r>
                        <a:rPr lang="en-US" altLang="zh-CN" sz="2000" b="1" dirty="0" err="1"/>
                        <a:t>goto</a:t>
                      </a:r>
                      <a:r>
                        <a:rPr lang="en-US" altLang="zh-CN" sz="2000" b="1" dirty="0"/>
                        <a:t> L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(</a:t>
                      </a:r>
                      <a:r>
                        <a:rPr lang="en-US" altLang="zh-CN" sz="2000" b="1" dirty="0" err="1"/>
                        <a:t>jrop</a:t>
                      </a:r>
                      <a:r>
                        <a:rPr lang="en-US" altLang="zh-CN" sz="2000" b="1" dirty="0"/>
                        <a:t>, x, y, L)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if x </a:t>
                      </a:r>
                      <a:r>
                        <a:rPr lang="en-US" altLang="zh-CN" sz="2000" b="1" dirty="0" err="1"/>
                        <a:t>goto</a:t>
                      </a:r>
                      <a:r>
                        <a:rPr lang="en-US" altLang="zh-CN" sz="2000" b="1" dirty="0"/>
                        <a:t> L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(</a:t>
                      </a:r>
                      <a:r>
                        <a:rPr lang="en-US" altLang="zh-CN" sz="2000" b="1" dirty="0" err="1"/>
                        <a:t>jnz</a:t>
                      </a:r>
                      <a:r>
                        <a:rPr lang="en-US" altLang="zh-CN" sz="2000" b="1" dirty="0"/>
                        <a:t>, x,  , L)</a:t>
                      </a:r>
                      <a:endParaRPr lang="zh-CN" altLang="en-US" sz="2000" b="1" dirty="0"/>
                    </a:p>
                  </a:txBody>
                  <a:tcPr anchor="ctr" anchorCtr="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四元式示例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语句</a:t>
            </a:r>
            <a:r>
              <a:rPr lang="en-US" altLang="zh-CN" dirty="0">
                <a:solidFill>
                  <a:srgbClr val="0000CC"/>
                </a:solidFill>
              </a:rPr>
              <a:t>a:=b*-</a:t>
            </a:r>
            <a:r>
              <a:rPr lang="en-US" altLang="zh-CN" dirty="0" err="1">
                <a:solidFill>
                  <a:srgbClr val="0000CC"/>
                </a:solidFill>
              </a:rPr>
              <a:t>c+b</a:t>
            </a:r>
            <a:r>
              <a:rPr lang="en-US" altLang="zh-CN" dirty="0">
                <a:solidFill>
                  <a:srgbClr val="0000CC"/>
                </a:solidFill>
              </a:rPr>
              <a:t>*-c</a:t>
            </a:r>
            <a:r>
              <a:rPr lang="zh-CN" altLang="en-US" dirty="0"/>
              <a:t>的四元式如下：</a:t>
            </a:r>
            <a:endParaRPr lang="en-US" altLang="zh-CN" dirty="0"/>
          </a:p>
          <a:p>
            <a:pPr marL="2628900" lvl="6" indent="0">
              <a:spcBef>
                <a:spcPct val="50000"/>
              </a:spcBef>
              <a:buNone/>
            </a:pPr>
            <a:r>
              <a:rPr lang="en-US" altLang="zh-CN" sz="1800" b="0" dirty="0"/>
              <a:t> </a:t>
            </a:r>
            <a:r>
              <a:rPr lang="en-US" altLang="zh-CN" sz="2800" dirty="0"/>
              <a:t>(- , c  ,    ,    </a:t>
            </a:r>
            <a:r>
              <a:rPr lang="en-US" altLang="zh-CN" sz="2800" dirty="0" err="1"/>
              <a:t>t1</a:t>
            </a:r>
            <a:r>
              <a:rPr lang="en-US" altLang="zh-CN" sz="2800" dirty="0"/>
              <a:t>)</a:t>
            </a:r>
          </a:p>
          <a:p>
            <a:pPr marL="2628900" lvl="6" indent="0">
              <a:spcBef>
                <a:spcPct val="50000"/>
              </a:spcBef>
              <a:buNone/>
            </a:pPr>
            <a:r>
              <a:rPr lang="en-US" altLang="zh-CN" sz="2800" dirty="0"/>
              <a:t> (* , b  , </a:t>
            </a:r>
            <a:r>
              <a:rPr lang="en-US" altLang="zh-CN" sz="2800" dirty="0" err="1"/>
              <a:t>t1</a:t>
            </a:r>
            <a:r>
              <a:rPr lang="en-US" altLang="zh-CN" sz="2800" dirty="0"/>
              <a:t>,   </a:t>
            </a:r>
            <a:r>
              <a:rPr lang="en-US" altLang="zh-CN" sz="2800" dirty="0" err="1"/>
              <a:t>t2</a:t>
            </a:r>
            <a:r>
              <a:rPr lang="en-US" altLang="zh-CN" sz="2800" dirty="0"/>
              <a:t>)</a:t>
            </a:r>
          </a:p>
          <a:p>
            <a:pPr marL="2628900" lvl="6" indent="0">
              <a:spcBef>
                <a:spcPct val="50000"/>
              </a:spcBef>
              <a:buNone/>
            </a:pPr>
            <a:r>
              <a:rPr lang="en-US" altLang="zh-CN" sz="2800" dirty="0"/>
              <a:t> (- , c  ,    ,    </a:t>
            </a:r>
            <a:r>
              <a:rPr lang="en-US" altLang="zh-CN" sz="2800" dirty="0" err="1"/>
              <a:t>t3</a:t>
            </a:r>
            <a:r>
              <a:rPr lang="en-US" altLang="zh-CN" sz="2800" dirty="0"/>
              <a:t>)</a:t>
            </a:r>
          </a:p>
          <a:p>
            <a:pPr marL="2628900" lvl="6" indent="0">
              <a:spcBef>
                <a:spcPct val="50000"/>
              </a:spcBef>
              <a:buNone/>
            </a:pPr>
            <a:r>
              <a:rPr lang="en-US" altLang="zh-CN" sz="2800" dirty="0"/>
              <a:t> (* , b  ,  </a:t>
            </a:r>
            <a:r>
              <a:rPr lang="en-US" altLang="zh-CN" sz="2800" dirty="0" err="1"/>
              <a:t>t3</a:t>
            </a:r>
            <a:r>
              <a:rPr lang="en-US" altLang="zh-CN" sz="2800" dirty="0"/>
              <a:t>,   </a:t>
            </a:r>
            <a:r>
              <a:rPr lang="en-US" altLang="zh-CN" sz="2800" dirty="0" err="1"/>
              <a:t>t4</a:t>
            </a:r>
            <a:r>
              <a:rPr lang="en-US" altLang="zh-CN" sz="2800" dirty="0"/>
              <a:t>)</a:t>
            </a:r>
          </a:p>
          <a:p>
            <a:pPr marL="2628900" lvl="6" indent="0">
              <a:spcBef>
                <a:spcPct val="50000"/>
              </a:spcBef>
              <a:buNone/>
            </a:pPr>
            <a:r>
              <a:rPr lang="en-US" altLang="zh-CN" sz="2800" dirty="0"/>
              <a:t> (+ ,</a:t>
            </a:r>
            <a:r>
              <a:rPr lang="en-US" altLang="zh-CN" sz="2800" dirty="0" err="1"/>
              <a:t>t2</a:t>
            </a:r>
            <a:r>
              <a:rPr lang="en-US" altLang="zh-CN" sz="2800" dirty="0"/>
              <a:t> ,  </a:t>
            </a:r>
            <a:r>
              <a:rPr lang="en-US" altLang="zh-CN" sz="2800" dirty="0" err="1"/>
              <a:t>t4</a:t>
            </a:r>
            <a:r>
              <a:rPr lang="en-US" altLang="zh-CN" sz="2800" dirty="0"/>
              <a:t> ,  </a:t>
            </a:r>
            <a:r>
              <a:rPr lang="en-US" altLang="zh-CN" sz="2800" dirty="0" err="1"/>
              <a:t>t5</a:t>
            </a:r>
            <a:r>
              <a:rPr lang="en-US" altLang="zh-CN" sz="2800" dirty="0"/>
              <a:t>)</a:t>
            </a:r>
          </a:p>
          <a:p>
            <a:pPr marL="2628900" lvl="6" indent="0">
              <a:spcBef>
                <a:spcPct val="50000"/>
              </a:spcBef>
              <a:buNone/>
            </a:pPr>
            <a:r>
              <a:rPr lang="en-US" altLang="zh-CN" sz="2800" dirty="0"/>
              <a:t> (= , </a:t>
            </a:r>
            <a:r>
              <a:rPr lang="en-US" altLang="zh-CN" sz="2800" dirty="0" err="1"/>
              <a:t>t5</a:t>
            </a:r>
            <a:r>
              <a:rPr lang="en-US" altLang="zh-CN" sz="2800" dirty="0"/>
              <a:t> ,     ,   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三元式表示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一个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三元式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(triple)</a:t>
            </a:r>
            <a:r>
              <a:rPr lang="zh-CN" altLang="en-US" sz="2400" dirty="0">
                <a:latin typeface="+mn-ea"/>
              </a:rPr>
              <a:t>只有三个字段，分别是</a:t>
            </a:r>
            <a:r>
              <a:rPr lang="en-US" altLang="zh-CN" sz="2400" dirty="0">
                <a:latin typeface="+mn-ea"/>
              </a:rPr>
              <a:t>op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 err="1">
                <a:latin typeface="+mn-ea"/>
              </a:rPr>
              <a:t>arg1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 err="1">
                <a:latin typeface="+mn-ea"/>
              </a:rPr>
              <a:t>arg2</a:t>
            </a:r>
            <a:r>
              <a:rPr lang="zh-CN" altLang="en-US" sz="2400" dirty="0">
                <a:latin typeface="+mn-ea"/>
              </a:rPr>
              <a:t>。四元式中用</a:t>
            </a:r>
            <a:r>
              <a:rPr lang="en-US" altLang="zh-CN" sz="2400" dirty="0">
                <a:latin typeface="+mn-ea"/>
              </a:rPr>
              <a:t>result</a:t>
            </a:r>
            <a:r>
              <a:rPr lang="zh-CN" altLang="en-US" sz="2400" dirty="0">
                <a:latin typeface="+mn-ea"/>
              </a:rPr>
              <a:t>来存放结果，三元式中使用运算</a:t>
            </a:r>
            <a:r>
              <a:rPr lang="en-US" altLang="zh-CN" sz="2400" dirty="0">
                <a:latin typeface="+mn-ea"/>
              </a:rPr>
              <a:t>x op y</a:t>
            </a:r>
            <a:r>
              <a:rPr lang="zh-CN" altLang="en-US" sz="2400" dirty="0">
                <a:latin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位置来表示它的计算结果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语句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a=b*-</a:t>
            </a:r>
            <a:r>
              <a:rPr lang="en-US" altLang="zh-CN" sz="2400" dirty="0" err="1">
                <a:solidFill>
                  <a:srgbClr val="0000CC"/>
                </a:solidFill>
                <a:latin typeface="+mn-ea"/>
              </a:rPr>
              <a:t>c+b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*-c</a:t>
            </a:r>
            <a:r>
              <a:rPr lang="zh-CN" altLang="en-US" sz="2400" dirty="0">
                <a:latin typeface="+mn-ea"/>
              </a:rPr>
              <a:t>的四元式和三元式表示：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407" y="3387804"/>
            <a:ext cx="3131540" cy="287423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994" y="3333320"/>
            <a:ext cx="2994213" cy="294524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80" y="3381976"/>
            <a:ext cx="2451256" cy="2880066"/>
          </a:xfrm>
          <a:prstGeom prst="rect">
            <a:avLst/>
          </a:prstGeom>
        </p:spPr>
      </p:pic>
      <p:sp>
        <p:nvSpPr>
          <p:cNvPr id="12" name="矩形: 圆角 11"/>
          <p:cNvSpPr/>
          <p:nvPr/>
        </p:nvSpPr>
        <p:spPr bwMode="auto">
          <a:xfrm>
            <a:off x="7115818" y="3329292"/>
            <a:ext cx="691598" cy="211593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3" name="矩形: 圆角 12"/>
          <p:cNvSpPr/>
          <p:nvPr/>
        </p:nvSpPr>
        <p:spPr bwMode="auto">
          <a:xfrm>
            <a:off x="10128448" y="3355702"/>
            <a:ext cx="585914" cy="223353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间接三元式表示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40768"/>
            <a:ext cx="11593288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在优化编译器中，由于指令的位置常常发生变化，如果一条指令的位置修改了，那么相应的引用这条指令结果的指令都需要修改。为了解决这个问题，引入了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间接三元式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间接三元式包含了一个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指向三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marL="35750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元式的指针列表</a:t>
            </a:r>
            <a:r>
              <a:rPr lang="zh-CN" altLang="en-US" dirty="0">
                <a:latin typeface="+mn-ea"/>
              </a:rPr>
              <a:t>来表示指令执</a:t>
            </a:r>
            <a:endParaRPr lang="en-US" altLang="zh-CN" dirty="0">
              <a:latin typeface="+mn-ea"/>
            </a:endParaRPr>
          </a:p>
          <a:p>
            <a:pPr marL="35750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+mn-ea"/>
              </a:rPr>
              <a:t>行的顺序。这样优化的时候只</a:t>
            </a:r>
            <a:endParaRPr lang="en-US" altLang="zh-CN" dirty="0">
              <a:latin typeface="+mn-ea"/>
            </a:endParaRPr>
          </a:p>
          <a:p>
            <a:pPr marL="35750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+mn-ea"/>
              </a:rPr>
              <a:t>需要修改这个列表。</a:t>
            </a:r>
            <a:endParaRPr lang="en-US" altLang="zh-CN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2708920"/>
            <a:ext cx="5959000" cy="34563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请为表达式</a:t>
            </a:r>
            <a:r>
              <a:rPr lang="en-US" altLang="zh-CN" dirty="0">
                <a:latin typeface="+mn-ea"/>
              </a:rPr>
              <a:t>a+-(</a:t>
            </a:r>
            <a:r>
              <a:rPr lang="en-US" altLang="zh-CN" dirty="0" err="1">
                <a:latin typeface="+mn-ea"/>
              </a:rPr>
              <a:t>b+c</a:t>
            </a:r>
            <a:r>
              <a:rPr lang="en-US" altLang="zh-CN" dirty="0">
                <a:latin typeface="+mn-ea"/>
              </a:rPr>
              <a:t>*m)</a:t>
            </a:r>
            <a:r>
              <a:rPr lang="zh-CN" altLang="en-US" dirty="0">
                <a:latin typeface="+mn-ea"/>
              </a:rPr>
              <a:t>给出四元式序列。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请为表达式</a:t>
            </a:r>
            <a:r>
              <a:rPr lang="en-US" altLang="zh-CN" dirty="0">
                <a:latin typeface="+mn-ea"/>
              </a:rPr>
              <a:t>a+-(</a:t>
            </a:r>
            <a:r>
              <a:rPr lang="en-US" altLang="zh-CN" dirty="0" err="1">
                <a:latin typeface="+mn-ea"/>
              </a:rPr>
              <a:t>b+c</a:t>
            </a:r>
            <a:r>
              <a:rPr lang="en-US" altLang="zh-CN" dirty="0">
                <a:latin typeface="+mn-ea"/>
              </a:rPr>
              <a:t>*m)</a:t>
            </a:r>
            <a:r>
              <a:rPr lang="zh-CN" altLang="en-US" dirty="0">
                <a:latin typeface="+mn-ea"/>
              </a:rPr>
              <a:t>给出四元式序列。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graphicFrame>
        <p:nvGraphicFramePr>
          <p:cNvPr id="4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237063"/>
              </p:ext>
            </p:extLst>
          </p:nvPr>
        </p:nvGraphicFramePr>
        <p:xfrm>
          <a:off x="2999656" y="2492896"/>
          <a:ext cx="5376598" cy="3150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三地址码</a:t>
                      </a: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四元式</a:t>
                      </a: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/>
                        <a:t>t1=c*m</a:t>
                      </a:r>
                      <a:endParaRPr lang="zh-CN" altLang="en-US" sz="24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/>
                        <a:t>(*, c, m, t1)</a:t>
                      </a:r>
                      <a:endParaRPr lang="zh-CN" altLang="en-US" sz="24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/>
                        <a:t>t2=b+t1</a:t>
                      </a:r>
                      <a:endParaRPr lang="zh-CN" altLang="en-US" sz="24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/>
                        <a:t>(+, b, t1, t2)</a:t>
                      </a:r>
                      <a:endParaRPr lang="zh-CN" altLang="en-US" sz="24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/>
                        <a:t>t3=-t2</a:t>
                      </a:r>
                      <a:endParaRPr lang="zh-CN" altLang="en-US" sz="24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/>
                        <a:t>(-, t2, , t3)</a:t>
                      </a:r>
                      <a:endParaRPr lang="zh-CN" altLang="en-US" sz="24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/>
                        <a:t>t4=a+t3</a:t>
                      </a:r>
                      <a:endParaRPr lang="zh-CN" altLang="en-US" sz="24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/>
                        <a:t>(+,</a:t>
                      </a:r>
                      <a:r>
                        <a:rPr lang="zh-CN" altLang="en-US" sz="2400" b="1" dirty="0"/>
                        <a:t> </a:t>
                      </a:r>
                      <a:r>
                        <a:rPr lang="en-US" altLang="zh-CN" sz="2400" b="1" dirty="0"/>
                        <a:t>a,</a:t>
                      </a:r>
                      <a:r>
                        <a:rPr lang="zh-CN" altLang="en-US" sz="2400" b="1" dirty="0"/>
                        <a:t> </a:t>
                      </a:r>
                      <a:r>
                        <a:rPr lang="en-US" altLang="zh-CN" sz="2400" b="1" dirty="0"/>
                        <a:t>t3,</a:t>
                      </a:r>
                      <a:r>
                        <a:rPr lang="zh-CN" altLang="en-US" sz="2400" b="1" dirty="0"/>
                        <a:t> </a:t>
                      </a:r>
                      <a:r>
                        <a:rPr lang="en-US" altLang="zh-CN" sz="2400" b="1" dirty="0"/>
                        <a:t>t4)</a:t>
                      </a:r>
                      <a:endParaRPr lang="zh-CN" altLang="en-US" sz="24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603A-E782-9022-AF03-F31937DF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E2C3E-510F-117E-B8FF-6227D576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静态单赋值形式</a:t>
            </a:r>
            <a:r>
              <a:rPr lang="en-US" altLang="zh-CN" dirty="0"/>
              <a:t>SSA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814F3D-9E3B-99A6-1743-6F235BF87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340768"/>
            <a:ext cx="11593288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静态单赋值形式（</a:t>
            </a:r>
            <a:r>
              <a:rPr lang="en-US" altLang="zh-CN" sz="2400" dirty="0">
                <a:latin typeface="+mn-ea"/>
              </a:rPr>
              <a:t>Static Single Assignment, SSA</a:t>
            </a:r>
            <a:r>
              <a:rPr lang="zh-CN" altLang="en-US" sz="2400" dirty="0">
                <a:latin typeface="+mn-ea"/>
              </a:rPr>
              <a:t>）是编译器里一种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中间表示</a:t>
            </a:r>
            <a:r>
              <a:rPr lang="zh-CN" altLang="en-US" sz="2400" dirty="0">
                <a:latin typeface="+mn-ea"/>
              </a:rPr>
              <a:t>，核心规则如下：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每个变量在整个程序中只被赋值一次</a:t>
            </a:r>
            <a:r>
              <a:rPr lang="zh-CN" altLang="en-US" sz="2400" dirty="0">
                <a:latin typeface="+mn-ea"/>
              </a:rPr>
              <a:t>；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多次赋值 → 拆成不同 “版本”（如 </a:t>
            </a:r>
            <a:r>
              <a:rPr lang="en-US" altLang="zh-CN" sz="2400" dirty="0">
                <a:latin typeface="+mn-ea"/>
              </a:rPr>
              <a:t>x₁, x₂, x₃</a:t>
            </a:r>
            <a:r>
              <a:rPr lang="zh-CN" altLang="en-US" sz="2400" dirty="0">
                <a:latin typeface="+mn-ea"/>
              </a:rPr>
              <a:t>）；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控制流汇合处用 </a:t>
            </a:r>
            <a:r>
              <a:rPr lang="en-US" altLang="zh-CN" sz="2400" dirty="0">
                <a:latin typeface="+mn-ea"/>
              </a:rPr>
              <a:t>Φ</a:t>
            </a: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phi</a:t>
            </a:r>
            <a:r>
              <a:rPr lang="zh-CN" altLang="en-US" sz="2400" dirty="0">
                <a:latin typeface="+mn-ea"/>
              </a:rPr>
              <a:t>）函数选择来自不同路径的值。</a:t>
            </a:r>
          </a:p>
        </p:txBody>
      </p:sp>
    </p:spTree>
    <p:extLst>
      <p:ext uri="{BB962C8B-B14F-4D97-AF65-F5344CB8AC3E}">
        <p14:creationId xmlns:p14="http://schemas.microsoft.com/office/powerpoint/2010/main" val="326330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D82E-72AF-76DF-DF97-843D2190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92B99-3EF4-34F8-F7C9-0DD26E82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静态单赋值形式</a:t>
            </a:r>
            <a:r>
              <a:rPr lang="en-US" altLang="zh-CN" dirty="0"/>
              <a:t>SSA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1CBE21-9264-8B88-06DD-3BC0D4FCC6AA}"/>
              </a:ext>
            </a:extLst>
          </p:cNvPr>
          <p:cNvSpPr txBox="1"/>
          <p:nvPr/>
        </p:nvSpPr>
        <p:spPr>
          <a:xfrm>
            <a:off x="407368" y="1484784"/>
            <a:ext cx="2232248" cy="4861971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ea"/>
                <a:ea typeface="+mn-ea"/>
              </a:rPr>
              <a:t>三地址码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/>
              <a:t>1: a = 2 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2: b = 5 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3: if a &gt; b 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 5 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4: 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 8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5: b = a – b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6: a = a * b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7:</a:t>
            </a:r>
            <a:r>
              <a:rPr lang="zh-CN" altLang="en-US" sz="2000" dirty="0"/>
              <a:t> </a:t>
            </a:r>
            <a:r>
              <a:rPr lang="en-US" altLang="zh-CN" sz="2000" dirty="0" err="1"/>
              <a:t>goto</a:t>
            </a:r>
            <a:r>
              <a:rPr lang="zh-CN" altLang="en-US" sz="2000" dirty="0"/>
              <a:t> </a:t>
            </a:r>
            <a:r>
              <a:rPr lang="en-US" altLang="zh-CN" sz="2000" dirty="0"/>
              <a:t>9 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8: a = a + b 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9: c = a + b</a:t>
            </a:r>
            <a:endParaRPr lang="zh-CN" altLang="en-US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B40F8A-5377-EDF4-AF35-7C5F201300DD}"/>
              </a:ext>
            </a:extLst>
          </p:cNvPr>
          <p:cNvSpPr txBox="1"/>
          <p:nvPr/>
        </p:nvSpPr>
        <p:spPr>
          <a:xfrm>
            <a:off x="3035661" y="1484784"/>
            <a:ext cx="3060339" cy="486197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i="0" dirty="0">
                <a:solidFill>
                  <a:srgbClr val="000000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SSA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a1 = 2 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b1 = 5 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if a1 &gt; b1 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 L1 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 L2 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L1: b2 = a1 - b1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a2 = a1 * b2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 L3 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L2: a3 = a1 + b1 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L3: </a:t>
            </a:r>
            <a:r>
              <a:rPr lang="en-US" altLang="zh-CN" sz="2000" dirty="0">
                <a:solidFill>
                  <a:srgbClr val="0000FF"/>
                </a:solidFill>
              </a:rPr>
              <a:t>// </a:t>
            </a:r>
            <a:r>
              <a:rPr lang="zh-CN" altLang="en-US" sz="2000" dirty="0">
                <a:solidFill>
                  <a:srgbClr val="0000FF"/>
                </a:solidFill>
              </a:rPr>
              <a:t>控制流汇合处</a:t>
            </a:r>
            <a:r>
              <a:rPr lang="el-GR" altLang="zh-CN" sz="2000" dirty="0">
                <a:solidFill>
                  <a:srgbClr val="0000FF"/>
                </a:solidFill>
              </a:rPr>
              <a:t>φ</a:t>
            </a:r>
            <a:r>
              <a:rPr lang="zh-CN" altLang="en-US" sz="2000" dirty="0">
                <a:solidFill>
                  <a:srgbClr val="0000FF"/>
                </a:solidFill>
              </a:rPr>
              <a:t>选择 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a4 = </a:t>
            </a:r>
            <a:r>
              <a:rPr lang="el-GR" altLang="zh-CN" sz="2000" dirty="0"/>
              <a:t>φ(</a:t>
            </a:r>
            <a:r>
              <a:rPr lang="en-US" altLang="zh-CN" sz="2000" dirty="0"/>
              <a:t>a2, a3) 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b3 = </a:t>
            </a:r>
            <a:r>
              <a:rPr lang="el-GR" altLang="zh-CN" sz="2000" dirty="0"/>
              <a:t>φ(</a:t>
            </a:r>
            <a:r>
              <a:rPr lang="en-US" altLang="zh-CN" sz="2000" dirty="0"/>
              <a:t>b2, b1) 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c1 = a4 + b3</a:t>
            </a:r>
            <a:endParaRPr lang="zh-CN" altLang="en-US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D3F7CB-EC9F-AD45-967A-BADBD5EA06F9}"/>
              </a:ext>
            </a:extLst>
          </p:cNvPr>
          <p:cNvSpPr txBox="1"/>
          <p:nvPr/>
        </p:nvSpPr>
        <p:spPr>
          <a:xfrm>
            <a:off x="6384032" y="1488008"/>
            <a:ext cx="5256583" cy="4858747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每个变量只有一个定义，用的时候唯一指向，无需遍历所有可能定义。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数据流分析（活跃变量、常量传播、死代码删除）变得简单。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ea"/>
                <a:ea typeface="+mn-ea"/>
              </a:rPr>
              <a:t>常量折叠、常量传播、死代码消除、循环优化、寄存器分配都更容易实现。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工业级编译器几乎都用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SSA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+mn-ea"/>
                <a:ea typeface="+mn-ea"/>
              </a:rPr>
              <a:t>LLVM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IR </a:t>
            </a:r>
            <a:r>
              <a:rPr lang="zh-CN" altLang="en-US" sz="2000" b="1" dirty="0">
                <a:latin typeface="+mn-ea"/>
                <a:ea typeface="+mn-ea"/>
              </a:rPr>
              <a:t>就是 </a:t>
            </a:r>
            <a:r>
              <a:rPr lang="en-US" altLang="zh-CN" sz="2000" b="1" dirty="0">
                <a:latin typeface="+mn-ea"/>
                <a:ea typeface="+mn-ea"/>
              </a:rPr>
              <a:t>SSA </a:t>
            </a:r>
            <a:r>
              <a:rPr lang="zh-CN" altLang="en-US" sz="2000" b="1" dirty="0">
                <a:latin typeface="+mn-ea"/>
                <a:ea typeface="+mn-ea"/>
              </a:rPr>
              <a:t>形式；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+mn-ea"/>
                <a:ea typeface="+mn-ea"/>
              </a:rPr>
              <a:t>GCC</a:t>
            </a:r>
            <a:r>
              <a:rPr lang="zh-CN" altLang="en-US" sz="2000" b="1" dirty="0">
                <a:latin typeface="+mn-ea"/>
                <a:ea typeface="+mn-ea"/>
              </a:rPr>
              <a:t>：内部优化阶段用 </a:t>
            </a:r>
            <a:r>
              <a:rPr lang="en-US" altLang="zh-CN" sz="2000" b="1" dirty="0">
                <a:latin typeface="+mn-ea"/>
                <a:ea typeface="+mn-ea"/>
              </a:rPr>
              <a:t>SSA</a:t>
            </a:r>
            <a:r>
              <a:rPr lang="zh-CN" altLang="en-US" sz="2000" b="1" dirty="0">
                <a:latin typeface="+mn-ea"/>
                <a:ea typeface="+mn-ea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658665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B572-2BC9-7BD0-D2B9-0A9BAFD5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33D7F-3A7C-26E8-D328-F5CC35B1B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93FB30-B489-9453-8901-DFB1993E48A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请为下面语句给出三地址码序列和</a:t>
            </a:r>
            <a:r>
              <a:rPr lang="en-US" altLang="zh-CN" dirty="0">
                <a:latin typeface="+mn-ea"/>
              </a:rPr>
              <a:t>SSA</a:t>
            </a:r>
            <a:r>
              <a:rPr lang="zh-CN" altLang="en-US" dirty="0">
                <a:latin typeface="+mn-ea"/>
              </a:rPr>
              <a:t>序列。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4AA2CF-D4BB-7C06-D51A-7004581C3905}"/>
              </a:ext>
            </a:extLst>
          </p:cNvPr>
          <p:cNvSpPr txBox="1"/>
          <p:nvPr/>
        </p:nvSpPr>
        <p:spPr>
          <a:xfrm>
            <a:off x="1487488" y="2486691"/>
            <a:ext cx="2376264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+mn-ea"/>
              </a:rPr>
              <a:t>if (x &gt; 10)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x += y + 3;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else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    y = x; 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y = x + y;        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12B1DC-F2D2-94C3-F14F-2750FE746080}"/>
              </a:ext>
            </a:extLst>
          </p:cNvPr>
          <p:cNvSpPr txBox="1"/>
          <p:nvPr/>
        </p:nvSpPr>
        <p:spPr>
          <a:xfrm>
            <a:off x="4223792" y="2348880"/>
            <a:ext cx="3168352" cy="3055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if x &gt; 10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L1:  t1= y + 3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t2 = x + t1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x = t2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L3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L2:  y = x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L3:  t3 = x + y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       y = t3        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B59716-8172-4D71-C4FD-9A90C53339FA}"/>
              </a:ext>
            </a:extLst>
          </p:cNvPr>
          <p:cNvSpPr txBox="1"/>
          <p:nvPr/>
        </p:nvSpPr>
        <p:spPr>
          <a:xfrm>
            <a:off x="7752184" y="2348880"/>
            <a:ext cx="3168352" cy="3720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if x1 &gt; 10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L1:  t1= y1 + 3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t2 = x1 + t1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x2 = t2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L3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L2:  y2 = x1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L3:  x3 = </a:t>
            </a:r>
            <a:r>
              <a:rPr lang="el-GR" altLang="zh-CN" b="1" dirty="0">
                <a:latin typeface="+mn-ea"/>
              </a:rPr>
              <a:t>φ(</a:t>
            </a:r>
            <a:r>
              <a:rPr lang="en-US" altLang="zh-CN" b="1" dirty="0">
                <a:latin typeface="+mn-ea"/>
              </a:rPr>
              <a:t>x2, x1) 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       y3 = </a:t>
            </a:r>
            <a:r>
              <a:rPr lang="el-GR" altLang="zh-CN" b="1" dirty="0">
                <a:latin typeface="+mn-ea"/>
              </a:rPr>
              <a:t>φ(</a:t>
            </a:r>
            <a:r>
              <a:rPr lang="en-US" altLang="zh-CN" b="1" dirty="0">
                <a:latin typeface="+mn-ea"/>
              </a:rPr>
              <a:t>y1, y2) 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       t3 = x3 + y3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       y4 = t3         </a:t>
            </a:r>
          </a:p>
        </p:txBody>
      </p:sp>
    </p:spTree>
    <p:extLst>
      <p:ext uri="{BB962C8B-B14F-4D97-AF65-F5344CB8AC3E}">
        <p14:creationId xmlns:p14="http://schemas.microsoft.com/office/powerpoint/2010/main" val="353318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9F15-24CE-92DB-47F4-58634C92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30CBA-868F-9DB7-8C8A-CC8A59D1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DCA288-AC09-C3B7-8B94-CF786882A70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请为下面语句给出三地址码序列和</a:t>
            </a:r>
            <a:r>
              <a:rPr lang="en-US" altLang="zh-CN" dirty="0">
                <a:latin typeface="+mn-ea"/>
              </a:rPr>
              <a:t>SSA</a:t>
            </a:r>
            <a:r>
              <a:rPr lang="zh-CN" altLang="en-US" dirty="0">
                <a:latin typeface="+mn-ea"/>
              </a:rPr>
              <a:t>序列。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6A4B74-8BE6-7F9E-20E0-9E057894819F}"/>
              </a:ext>
            </a:extLst>
          </p:cNvPr>
          <p:cNvSpPr txBox="1"/>
          <p:nvPr/>
        </p:nvSpPr>
        <p:spPr>
          <a:xfrm>
            <a:off x="1487488" y="2486691"/>
            <a:ext cx="2376264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+mn-ea"/>
              </a:rPr>
              <a:t>if (x &gt; 10)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x += y + 3; </a:t>
            </a: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y = 4;</a:t>
            </a:r>
          </a:p>
          <a:p>
            <a:pPr marL="0" lvl="1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y = x;        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8B764D-7899-44F5-E69D-FDCC22E97A68}"/>
              </a:ext>
            </a:extLst>
          </p:cNvPr>
          <p:cNvSpPr txBox="1"/>
          <p:nvPr/>
        </p:nvSpPr>
        <p:spPr>
          <a:xfrm>
            <a:off x="4223792" y="2348880"/>
            <a:ext cx="3168352" cy="239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if x &gt; 10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L1:  t1= y + 3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t2 = x + t1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x = t2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y = 4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L2:  y = x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A63D1F-1861-8E52-ADE4-7DC85221B9A0}"/>
              </a:ext>
            </a:extLst>
          </p:cNvPr>
          <p:cNvSpPr txBox="1"/>
          <p:nvPr/>
        </p:nvSpPr>
        <p:spPr>
          <a:xfrm>
            <a:off x="7878834" y="2208163"/>
            <a:ext cx="3168352" cy="3055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if x1 &gt; 10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</a:t>
            </a:r>
            <a:r>
              <a:rPr lang="en-US" altLang="zh-CN" b="1" dirty="0" err="1">
                <a:latin typeface="+mn-ea"/>
              </a:rPr>
              <a:t>goto</a:t>
            </a:r>
            <a:r>
              <a:rPr lang="en-US" altLang="zh-CN" b="1" dirty="0">
                <a:latin typeface="+mn-ea"/>
              </a:rPr>
              <a:t> L2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L1:  t1= y1 + 3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t2 = x1 + t1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x2 = t2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      y2 = 4     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L2:  x3 = </a:t>
            </a:r>
            <a:r>
              <a:rPr lang="el-GR" altLang="zh-CN" b="1" dirty="0">
                <a:latin typeface="+mn-ea"/>
              </a:rPr>
              <a:t>φ(</a:t>
            </a:r>
            <a:r>
              <a:rPr lang="en-US" altLang="zh-CN" b="1" dirty="0">
                <a:latin typeface="+mn-ea"/>
              </a:rPr>
              <a:t>x2, x1) 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       y3 = </a:t>
            </a:r>
            <a:r>
              <a:rPr lang="el-GR" altLang="zh-CN" b="1" dirty="0">
                <a:latin typeface="+mn-ea"/>
              </a:rPr>
              <a:t>φ(</a:t>
            </a:r>
            <a:r>
              <a:rPr lang="en-US" altLang="zh-CN" b="1" dirty="0">
                <a:latin typeface="+mn-ea"/>
              </a:rPr>
              <a:t>y2, y1) </a:t>
            </a:r>
          </a:p>
          <a:p>
            <a:pPr marL="0" lvl="1">
              <a:lnSpc>
                <a:spcPct val="120000"/>
              </a:lnSpc>
            </a:pPr>
            <a:r>
              <a:rPr lang="en-US" altLang="zh-CN" b="1" dirty="0">
                <a:latin typeface="+mn-ea"/>
              </a:rPr>
              <a:t>       y4 = x3</a:t>
            </a:r>
          </a:p>
        </p:txBody>
      </p:sp>
    </p:spTree>
    <p:extLst>
      <p:ext uri="{BB962C8B-B14F-4D97-AF65-F5344CB8AC3E}">
        <p14:creationId xmlns:p14="http://schemas.microsoft.com/office/powerpoint/2010/main" val="135165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类型和声明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可以把类型的应用划分为类型检查和翻译时的应用。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类型检查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(type checking)</a:t>
            </a:r>
            <a:r>
              <a:rPr lang="zh-CN" altLang="en-US" dirty="0">
                <a:latin typeface="+mn-ea"/>
              </a:rPr>
              <a:t>。类型检查保证运算分量的类型和运算符的预期类型相匹配。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翻译时的应用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(translation application)</a:t>
            </a:r>
            <a:r>
              <a:rPr lang="zh-CN" altLang="en-US" dirty="0">
                <a:latin typeface="+mn-ea"/>
              </a:rPr>
              <a:t>。编译器可以根据类型来确定变量在运行时需要的存储空间，也可以计算数组引用的地址，插入显式的类型转换等等。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类型自身也有结构，我们使用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类型表达式</a:t>
            </a:r>
            <a:r>
              <a:rPr lang="zh-CN" altLang="en-US" dirty="0">
                <a:latin typeface="+mn-ea"/>
              </a:rPr>
              <a:t>来表示这种结构。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基本类型</a:t>
            </a:r>
            <a:r>
              <a:rPr lang="zh-CN" altLang="en-US" dirty="0">
                <a:latin typeface="+mn-ea"/>
              </a:rPr>
              <a:t>是一个类型表达式。如：</a:t>
            </a:r>
            <a:r>
              <a:rPr lang="en-US" altLang="zh-CN" dirty="0">
                <a:latin typeface="+mn-ea"/>
              </a:rPr>
              <a:t>int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char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float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void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可以为类型表达式命名，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类型名</a:t>
            </a:r>
            <a:r>
              <a:rPr lang="zh-CN" altLang="en-US" dirty="0">
                <a:latin typeface="+mn-ea"/>
              </a:rPr>
              <a:t>也是类型表达式。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类型构造算子</a:t>
            </a:r>
            <a:r>
              <a:rPr lang="zh-CN" altLang="en-US" dirty="0">
                <a:latin typeface="+mn-ea"/>
              </a:rPr>
              <a:t>作用于类型表达式可以构造新的类型表达式。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数组构造符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array</a:t>
            </a:r>
            <a:r>
              <a:rPr lang="zh-CN" altLang="en-US" dirty="0">
                <a:latin typeface="+mn-ea"/>
              </a:rPr>
              <a:t>。若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是类型表达式，则</a:t>
            </a:r>
            <a:r>
              <a:rPr lang="en-US" altLang="zh-CN" dirty="0">
                <a:latin typeface="+mn-ea"/>
              </a:rPr>
              <a:t>array( I, T)</a:t>
            </a:r>
            <a:r>
              <a:rPr lang="zh-CN" altLang="en-US" dirty="0">
                <a:latin typeface="+mn-ea"/>
              </a:rPr>
              <a:t>是类型表达式</a:t>
            </a:r>
            <a:r>
              <a:rPr lang="en-US" altLang="zh-CN" dirty="0">
                <a:latin typeface="+mn-ea"/>
              </a:rPr>
              <a:t>( I</a:t>
            </a:r>
            <a:r>
              <a:rPr lang="zh-CN" altLang="en-US" dirty="0">
                <a:latin typeface="+mn-ea"/>
              </a:rPr>
              <a:t>是一个整数</a:t>
            </a:r>
            <a:r>
              <a:rPr lang="en-US" altLang="zh-CN" dirty="0">
                <a:latin typeface="+mn-ea"/>
              </a:rPr>
              <a:t>)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56" y="4725144"/>
            <a:ext cx="5292080" cy="14391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指针构造符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pointer </a:t>
            </a:r>
            <a:r>
              <a:rPr lang="zh-CN" altLang="en-US" dirty="0">
                <a:latin typeface="+mn-ea"/>
              </a:rPr>
              <a:t>。若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是类型表达式，则</a:t>
            </a:r>
            <a:r>
              <a:rPr lang="en-US" altLang="zh-CN" dirty="0">
                <a:latin typeface="+mn-ea"/>
              </a:rPr>
              <a:t>pointer ( T ) </a:t>
            </a:r>
            <a:r>
              <a:rPr lang="zh-CN" altLang="en-US" dirty="0">
                <a:latin typeface="+mn-ea"/>
              </a:rPr>
              <a:t>是类型表达式，它表示一个指针类型。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笛卡尔乘积构造符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x</a:t>
            </a:r>
            <a:r>
              <a:rPr lang="zh-CN" altLang="en-US" dirty="0">
                <a:latin typeface="+mn-ea"/>
              </a:rPr>
              <a:t>。若</a:t>
            </a:r>
            <a:r>
              <a:rPr lang="en-US" altLang="zh-CN" dirty="0" err="1">
                <a:latin typeface="+mn-ea"/>
              </a:rPr>
              <a:t>T1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 err="1">
                <a:latin typeface="+mn-ea"/>
              </a:rPr>
              <a:t>T2</a:t>
            </a:r>
            <a:r>
              <a:rPr lang="zh-CN" altLang="en-US" dirty="0">
                <a:latin typeface="+mn-ea"/>
              </a:rPr>
              <a:t>是类型表达式，则笛卡尔乘积</a:t>
            </a:r>
            <a:r>
              <a:rPr lang="en-US" altLang="zh-CN" dirty="0" err="1">
                <a:latin typeface="+mn-ea"/>
              </a:rPr>
              <a:t>T1xT2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是类型表达式，主要用于参数列表等。</a:t>
            </a:r>
            <a:endParaRPr lang="en-US" altLang="zh-CN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函数构造符→ </a:t>
            </a:r>
            <a:r>
              <a:rPr lang="zh-CN" altLang="en-US" dirty="0">
                <a:latin typeface="+mn-ea"/>
              </a:rPr>
              <a:t>。若</a:t>
            </a:r>
            <a:r>
              <a:rPr lang="en-US" altLang="zh-CN" dirty="0" err="1">
                <a:latin typeface="+mn-ea"/>
              </a:rPr>
              <a:t>T1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 err="1">
                <a:latin typeface="+mn-ea"/>
              </a:rPr>
              <a:t>T2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…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Tn 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R</a:t>
            </a:r>
            <a:r>
              <a:rPr lang="zh-CN" altLang="en-US" dirty="0">
                <a:latin typeface="+mn-ea"/>
              </a:rPr>
              <a:t>是类型表达式，则</a:t>
            </a:r>
            <a:r>
              <a:rPr lang="en-US" altLang="zh-CN" dirty="0" err="1">
                <a:latin typeface="+mn-ea"/>
              </a:rPr>
              <a:t>T1xT2x</a:t>
            </a:r>
            <a:r>
              <a:rPr lang="en-US" altLang="zh-CN" dirty="0">
                <a:latin typeface="+mn-ea"/>
              </a:rPr>
              <a:t>…</a:t>
            </a:r>
            <a:r>
              <a:rPr lang="en-US" altLang="zh-CN" dirty="0" err="1">
                <a:latin typeface="+mn-ea"/>
              </a:rPr>
              <a:t>xTn→R</a:t>
            </a:r>
            <a:r>
              <a:rPr lang="zh-CN" altLang="en-US" dirty="0">
                <a:latin typeface="+mn-ea"/>
              </a:rPr>
              <a:t>是类型表达式。</a:t>
            </a:r>
            <a:endParaRPr lang="en-US" altLang="zh-CN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记录构造符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record </a:t>
            </a:r>
            <a:r>
              <a:rPr lang="zh-CN" altLang="en-US" dirty="0">
                <a:latin typeface="+mn-ea"/>
              </a:rPr>
              <a:t>。若有标识符</a:t>
            </a:r>
            <a:r>
              <a:rPr lang="en-US" altLang="zh-CN" dirty="0" err="1">
                <a:latin typeface="+mn-ea"/>
              </a:rPr>
              <a:t>N1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 err="1">
                <a:latin typeface="+mn-ea"/>
              </a:rPr>
              <a:t>N2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…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 err="1">
                <a:latin typeface="+mn-ea"/>
              </a:rPr>
              <a:t>Nn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与类型表达式</a:t>
            </a:r>
            <a:r>
              <a:rPr lang="en-US" altLang="zh-CN" dirty="0" err="1">
                <a:latin typeface="+mn-ea"/>
              </a:rPr>
              <a:t>T1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 err="1">
                <a:latin typeface="+mn-ea"/>
              </a:rPr>
              <a:t>T2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…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Tn </a:t>
            </a:r>
            <a:r>
              <a:rPr lang="zh-CN" altLang="en-US" dirty="0">
                <a:latin typeface="+mn-ea"/>
              </a:rPr>
              <a:t>，则 </a:t>
            </a:r>
            <a:r>
              <a:rPr lang="en-US" altLang="zh-CN" dirty="0">
                <a:latin typeface="+mn-ea"/>
              </a:rPr>
              <a:t>record( (</a:t>
            </a:r>
            <a:r>
              <a:rPr lang="en-US" altLang="zh-CN" dirty="0" err="1">
                <a:latin typeface="+mn-ea"/>
              </a:rPr>
              <a:t>N1</a:t>
            </a:r>
            <a:r>
              <a:rPr lang="en-US" altLang="zh-CN" dirty="0">
                <a:latin typeface="+mn-ea"/>
              </a:rPr>
              <a:t> x </a:t>
            </a:r>
            <a:r>
              <a:rPr lang="en-US" altLang="zh-CN" dirty="0" err="1">
                <a:latin typeface="+mn-ea"/>
              </a:rPr>
              <a:t>T1</a:t>
            </a:r>
            <a:r>
              <a:rPr lang="en-US" altLang="zh-CN" dirty="0">
                <a:latin typeface="+mn-ea"/>
              </a:rPr>
              <a:t>) x (</a:t>
            </a:r>
            <a:r>
              <a:rPr lang="en-US" altLang="zh-CN" dirty="0" err="1">
                <a:latin typeface="+mn-ea"/>
              </a:rPr>
              <a:t>N2</a:t>
            </a:r>
            <a:r>
              <a:rPr lang="en-US" altLang="zh-CN" dirty="0">
                <a:latin typeface="+mn-ea"/>
              </a:rPr>
              <a:t> x </a:t>
            </a:r>
            <a:r>
              <a:rPr lang="en-US" altLang="zh-CN" dirty="0" err="1">
                <a:latin typeface="+mn-ea"/>
              </a:rPr>
              <a:t>T2</a:t>
            </a:r>
            <a:r>
              <a:rPr lang="en-US" altLang="zh-CN" dirty="0">
                <a:latin typeface="+mn-ea"/>
              </a:rPr>
              <a:t>) x … x (</a:t>
            </a:r>
            <a:r>
              <a:rPr lang="en-US" altLang="zh-CN" dirty="0" err="1">
                <a:latin typeface="+mn-ea"/>
              </a:rPr>
              <a:t>Nn</a:t>
            </a:r>
            <a:r>
              <a:rPr lang="en-US" altLang="zh-CN" dirty="0">
                <a:latin typeface="+mn-ea"/>
              </a:rPr>
              <a:t> x Tn ))</a:t>
            </a:r>
            <a:r>
              <a:rPr lang="zh-CN" altLang="en-US" dirty="0">
                <a:latin typeface="+mn-ea"/>
              </a:rPr>
              <a:t>是一个类型表达式。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 marL="457200" lvl="1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类型表达式示例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4"/>
            <a:ext cx="10972800" cy="5182319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设有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程序片段： 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rec</a:t>
            </a:r>
            <a:r>
              <a:rPr lang="zh-CN" altLang="en-US" dirty="0">
                <a:latin typeface="+mn-ea"/>
              </a:rPr>
              <a:t>绑定的类型表达式 </a:t>
            </a:r>
            <a:r>
              <a:rPr lang="en-US" altLang="zh-CN" dirty="0">
                <a:latin typeface="+mn-ea"/>
              </a:rPr>
              <a:t>: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+mn-ea"/>
              </a:rPr>
              <a:t>record ( (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name</a:t>
            </a:r>
            <a:r>
              <a:rPr lang="en-US" altLang="zh-CN" dirty="0">
                <a:latin typeface="+mn-ea"/>
              </a:rPr>
              <a:t> x array(16, char)) x (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number </a:t>
            </a:r>
            <a:r>
              <a:rPr lang="en-US" altLang="zh-CN" dirty="0">
                <a:latin typeface="+mn-ea"/>
              </a:rPr>
              <a:t>x int) )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绑定的类型表达式 </a:t>
            </a:r>
            <a:r>
              <a:rPr lang="en-US" altLang="zh-CN" dirty="0">
                <a:latin typeface="+mn-ea"/>
              </a:rPr>
              <a:t>: array (10, rec)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p</a:t>
            </a:r>
            <a:r>
              <a:rPr lang="zh-CN" altLang="en-US" dirty="0">
                <a:latin typeface="+mn-ea"/>
              </a:rPr>
              <a:t>绑定的类型表达式 </a:t>
            </a:r>
            <a:r>
              <a:rPr lang="en-US" altLang="zh-CN" dirty="0">
                <a:latin typeface="+mn-ea"/>
              </a:rPr>
              <a:t>: pointer (rec) 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D38339-6DA5-0F5D-5E32-B7AF6945578F}"/>
              </a:ext>
            </a:extLst>
          </p:cNvPr>
          <p:cNvSpPr txBox="1"/>
          <p:nvPr/>
        </p:nvSpPr>
        <p:spPr>
          <a:xfrm>
            <a:off x="8400256" y="260648"/>
            <a:ext cx="1656184" cy="88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192D17-8BE9-DEA8-0F55-7932C585AAE7}"/>
              </a:ext>
            </a:extLst>
          </p:cNvPr>
          <p:cNvSpPr txBox="1"/>
          <p:nvPr/>
        </p:nvSpPr>
        <p:spPr>
          <a:xfrm>
            <a:off x="5831160" y="1556792"/>
            <a:ext cx="4248472" cy="280692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struct rec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	char[16] </a:t>
            </a:r>
            <a:r>
              <a:rPr lang="en-US" altLang="zh-CN" sz="28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	int </a:t>
            </a:r>
            <a:r>
              <a:rPr lang="en-US" altLang="zh-CN" sz="28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} ;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rec[10] t;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rec* p;</a:t>
            </a:r>
            <a:endParaRPr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5182319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练习：请为下面的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语言变量定义写出类型表达式：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int a[4][5];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int *p;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struct b{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  float c;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  int* d[3];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}aa;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87888" y="2167530"/>
            <a:ext cx="6117704" cy="882407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array</a:t>
            </a:r>
            <a:r>
              <a:rPr lang="en-US" altLang="zh-CN" sz="2800" b="1" dirty="0">
                <a:latin typeface="+mn-ea"/>
                <a:ea typeface="+mn-ea"/>
              </a:rPr>
              <a:t>(4,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array</a:t>
            </a:r>
            <a:r>
              <a:rPr lang="en-US" altLang="zh-CN" sz="2800" b="1" dirty="0">
                <a:latin typeface="+mn-ea"/>
                <a:ea typeface="+mn-ea"/>
              </a:rPr>
              <a:t>(5, int))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92602" y="3411435"/>
            <a:ext cx="6117704" cy="882406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pointer</a:t>
            </a:r>
            <a:r>
              <a:rPr lang="en-US" altLang="zh-CN" sz="2800" b="1" dirty="0">
                <a:latin typeface="+mn-ea"/>
                <a:ea typeface="+mn-ea"/>
              </a:rPr>
              <a:t>(int)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87888" y="4679720"/>
            <a:ext cx="6117704" cy="1612780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record</a:t>
            </a:r>
            <a:r>
              <a:rPr lang="en-US" altLang="zh-CN" sz="2800" b="1" dirty="0">
                <a:latin typeface="+mn-ea"/>
                <a:ea typeface="+mn-ea"/>
              </a:rPr>
              <a:t>((c x float) x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+mn-ea"/>
                <a:ea typeface="+mn-ea"/>
              </a:rPr>
              <a:t>       (d x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array</a:t>
            </a:r>
            <a:r>
              <a:rPr lang="en-US" altLang="zh-CN" sz="2800" b="1" dirty="0">
                <a:latin typeface="+mn-ea"/>
                <a:ea typeface="+mn-ea"/>
              </a:rPr>
              <a:t>(3,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pointer</a:t>
            </a:r>
            <a:r>
              <a:rPr lang="en-US" altLang="zh-CN" sz="2800" b="1" dirty="0">
                <a:latin typeface="+mn-ea"/>
                <a:ea typeface="+mn-ea"/>
              </a:rPr>
              <a:t>(</a:t>
            </a:r>
            <a:r>
              <a:rPr lang="en-US" altLang="zh-CN" sz="2800" b="1" dirty="0">
                <a:latin typeface="+mn-ea"/>
              </a:rPr>
              <a:t>int</a:t>
            </a:r>
            <a:r>
              <a:rPr lang="en-US" altLang="zh-CN" sz="2800" b="1" dirty="0">
                <a:latin typeface="+mn-ea"/>
                <a:ea typeface="+mn-ea"/>
              </a:rPr>
              <a:t>))))</a:t>
            </a:r>
            <a:endParaRPr lang="zh-CN" altLang="en-US" sz="28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类型等价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343025"/>
            <a:ext cx="1166529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latin typeface="+mn-ea"/>
              </a:rPr>
              <a:t>很多类型检查具有这样的形式：“如果两个类型表达式相等，那么返回某种类型，否则出错”。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两种类型之间结构等价</a:t>
            </a:r>
            <a:r>
              <a:rPr lang="zh-CN" altLang="en-US" dirty="0">
                <a:latin typeface="+mn-ea"/>
              </a:rPr>
              <a:t>当且仅当下面的某个条件为真：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latin typeface="+mn-ea"/>
              </a:rPr>
              <a:t>它们是相同的类型。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latin typeface="+mn-ea"/>
              </a:rPr>
              <a:t>它们是将相同的类型构造算子应用于结构等价的类型而构造得到的。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latin typeface="+mn-ea"/>
              </a:rPr>
              <a:t>一个类型是另一个类型表达式的名字。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dirty="0">
              <a:latin typeface="+mn-ea"/>
            </a:endParaRPr>
          </a:p>
          <a:p>
            <a:pPr marL="457200" lvl="1" indent="0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类型等价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5182319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示例：请判断下面两组数组类型是否等价。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	int a[4][5];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	int b[4][5];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	int c[4][5];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	int d[5][4];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	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83832" y="2239538"/>
            <a:ext cx="6117704" cy="1189462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+mn-ea"/>
                <a:ea typeface="+mn-ea"/>
              </a:rPr>
              <a:t>类型都是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array</a:t>
            </a:r>
            <a:r>
              <a:rPr lang="en-US" altLang="zh-CN" sz="2800" b="1" dirty="0">
                <a:latin typeface="+mn-ea"/>
                <a:ea typeface="+mn-ea"/>
              </a:rPr>
              <a:t>(4,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array</a:t>
            </a:r>
            <a:r>
              <a:rPr lang="en-US" altLang="zh-CN" sz="2800" b="1" dirty="0">
                <a:latin typeface="+mn-ea"/>
                <a:ea typeface="+mn-ea"/>
              </a:rPr>
              <a:t>(5,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int</a:t>
            </a:r>
            <a:r>
              <a:rPr lang="en-US" altLang="zh-CN" sz="2800" b="1" dirty="0">
                <a:latin typeface="+mn-ea"/>
                <a:ea typeface="+mn-ea"/>
              </a:rPr>
              <a:t>))</a:t>
            </a:r>
            <a:r>
              <a:rPr lang="zh-CN" altLang="en-US" sz="2800" b="1" dirty="0">
                <a:latin typeface="+mn-ea"/>
                <a:ea typeface="+mn-ea"/>
              </a:rPr>
              <a:t>，所以</a:t>
            </a:r>
            <a:r>
              <a:rPr lang="en-US" altLang="zh-CN" sz="2800" b="1" dirty="0">
                <a:latin typeface="+mn-ea"/>
                <a:ea typeface="+mn-ea"/>
              </a:rPr>
              <a:t>a</a:t>
            </a:r>
            <a:r>
              <a:rPr lang="zh-CN" altLang="en-US" sz="2800" b="1" dirty="0">
                <a:latin typeface="+mn-ea"/>
                <a:ea typeface="+mn-ea"/>
              </a:rPr>
              <a:t>和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是类型等价的变量。</a:t>
            </a: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83832" y="4149080"/>
            <a:ext cx="6117704" cy="1944216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+mn-ea"/>
                <a:ea typeface="+mn-ea"/>
              </a:rPr>
              <a:t>c</a:t>
            </a:r>
            <a:r>
              <a:rPr lang="zh-CN" altLang="en-US" sz="2800" b="1" dirty="0">
                <a:latin typeface="+mn-ea"/>
                <a:ea typeface="+mn-ea"/>
              </a:rPr>
              <a:t>的类型是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array</a:t>
            </a:r>
            <a:r>
              <a:rPr lang="en-US" altLang="zh-CN" sz="2800" b="1" dirty="0">
                <a:latin typeface="+mn-ea"/>
                <a:ea typeface="+mn-ea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en-US" altLang="zh-CN" sz="2800" b="1" dirty="0">
                <a:latin typeface="+mn-ea"/>
                <a:ea typeface="+mn-ea"/>
              </a:rPr>
              <a:t>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array</a:t>
            </a:r>
            <a:r>
              <a:rPr lang="en-US" altLang="zh-CN" sz="2800" b="1" dirty="0">
                <a:latin typeface="+mn-ea"/>
                <a:ea typeface="+mn-ea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5</a:t>
            </a:r>
            <a:r>
              <a:rPr lang="en-US" altLang="zh-CN" sz="2800" b="1" dirty="0">
                <a:latin typeface="+mn-ea"/>
              </a:rPr>
              <a:t> 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800" b="1" dirty="0">
                <a:latin typeface="+mn-ea"/>
                <a:ea typeface="+mn-ea"/>
              </a:rPr>
              <a:t>))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+mn-ea"/>
              </a:rPr>
              <a:t>d</a:t>
            </a:r>
            <a:r>
              <a:rPr lang="zh-CN" altLang="en-US" sz="2800" b="1" dirty="0">
                <a:latin typeface="+mn-ea"/>
                <a:ea typeface="+mn-ea"/>
              </a:rPr>
              <a:t>的类型是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array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en-US" altLang="zh-CN" sz="2800" b="1" dirty="0">
                <a:latin typeface="+mn-ea"/>
              </a:rPr>
              <a:t>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array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en-US" altLang="zh-CN" sz="2800" b="1" dirty="0">
                <a:latin typeface="+mn-ea"/>
              </a:rPr>
              <a:t> 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800" b="1" dirty="0">
                <a:latin typeface="+mn-ea"/>
              </a:rPr>
              <a:t>)) </a:t>
            </a:r>
            <a:endParaRPr lang="en-US" altLang="zh-CN" sz="2800" b="1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+mn-ea"/>
                <a:ea typeface="+mn-ea"/>
              </a:rPr>
              <a:t>所以</a:t>
            </a:r>
            <a:r>
              <a:rPr lang="en-US" altLang="zh-CN" sz="2800" b="1" dirty="0">
                <a:latin typeface="+mn-ea"/>
                <a:ea typeface="+mn-ea"/>
              </a:rPr>
              <a:t>c</a:t>
            </a:r>
            <a:r>
              <a:rPr lang="zh-CN" altLang="en-US" sz="2800" b="1" dirty="0">
                <a:latin typeface="+mn-ea"/>
                <a:ea typeface="+mn-ea"/>
              </a:rPr>
              <a:t>和</a:t>
            </a:r>
            <a:r>
              <a:rPr lang="en-US" altLang="zh-CN" sz="2800" b="1" dirty="0">
                <a:latin typeface="+mn-ea"/>
                <a:ea typeface="+mn-ea"/>
              </a:rPr>
              <a:t>d</a:t>
            </a:r>
            <a:r>
              <a:rPr lang="zh-CN" altLang="en-US" sz="2800" b="1" dirty="0">
                <a:latin typeface="+mn-ea"/>
                <a:ea typeface="+mn-ea"/>
              </a:rPr>
              <a:t>不是类型等价的变量。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类型等价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84784"/>
            <a:ext cx="10972800" cy="5182319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示例：请判断下面两个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+mn-ea"/>
              </a:rPr>
              <a:t>类型是否等价。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	struct b{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  float c;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  int* d[3];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	struct e{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  float f;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    int* d[3];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+mn-ea"/>
              </a:rPr>
              <a:t>         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43872" y="1663675"/>
            <a:ext cx="6408712" cy="4824536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的类型表达式是</a:t>
            </a:r>
            <a:endParaRPr lang="en-US" altLang="zh-CN" sz="2800" b="1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record</a:t>
            </a:r>
            <a:r>
              <a:rPr lang="en-US" altLang="zh-CN" sz="2800" b="1" dirty="0">
                <a:latin typeface="+mn-ea"/>
                <a:ea typeface="+mn-ea"/>
              </a:rPr>
              <a:t>((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c</a:t>
            </a:r>
            <a:r>
              <a:rPr lang="en-US" altLang="zh-CN" sz="2800" b="1" dirty="0">
                <a:latin typeface="+mn-ea"/>
                <a:ea typeface="+mn-ea"/>
              </a:rPr>
              <a:t> x float) x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+mn-ea"/>
                <a:ea typeface="+mn-ea"/>
              </a:rPr>
              <a:t>       (d x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array</a:t>
            </a:r>
            <a:r>
              <a:rPr lang="en-US" altLang="zh-CN" sz="2800" b="1" dirty="0">
                <a:latin typeface="+mn-ea"/>
                <a:ea typeface="+mn-ea"/>
              </a:rPr>
              <a:t>(3,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pointer</a:t>
            </a:r>
            <a:r>
              <a:rPr lang="en-US" altLang="zh-CN" sz="2800" b="1" dirty="0">
                <a:latin typeface="+mn-ea"/>
                <a:ea typeface="+mn-ea"/>
              </a:rPr>
              <a:t>(</a:t>
            </a:r>
            <a:r>
              <a:rPr lang="en-US" altLang="zh-CN" sz="2800" b="1" dirty="0">
                <a:latin typeface="+mn-ea"/>
              </a:rPr>
              <a:t>int</a:t>
            </a:r>
            <a:r>
              <a:rPr lang="en-US" altLang="zh-CN" sz="2800" b="1" dirty="0">
                <a:latin typeface="+mn-ea"/>
                <a:ea typeface="+mn-ea"/>
              </a:rPr>
              <a:t>))))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+mn-ea"/>
              </a:rPr>
              <a:t>e</a:t>
            </a:r>
            <a:r>
              <a:rPr lang="zh-CN" altLang="en-US" sz="2800" b="1" dirty="0">
                <a:latin typeface="+mn-ea"/>
                <a:ea typeface="+mn-ea"/>
              </a:rPr>
              <a:t>的类型表达式是</a:t>
            </a:r>
            <a:endParaRPr lang="en-US" altLang="zh-CN" sz="2800" b="1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record</a:t>
            </a:r>
            <a:r>
              <a:rPr lang="en-US" altLang="zh-CN" sz="2800" b="1" dirty="0">
                <a:latin typeface="+mn-ea"/>
              </a:rPr>
              <a:t>((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f</a:t>
            </a:r>
            <a:r>
              <a:rPr lang="en-US" altLang="zh-CN" sz="2800" b="1" dirty="0">
                <a:latin typeface="+mn-ea"/>
              </a:rPr>
              <a:t> x float) x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+mn-ea"/>
              </a:rPr>
              <a:t>       (d x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array</a:t>
            </a:r>
            <a:r>
              <a:rPr lang="en-US" altLang="zh-CN" sz="2800" b="1" dirty="0">
                <a:latin typeface="+mn-ea"/>
              </a:rPr>
              <a:t>(3, 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pointer</a:t>
            </a:r>
            <a:r>
              <a:rPr lang="en-US" altLang="zh-CN" sz="2800" b="1" dirty="0">
                <a:latin typeface="+mn-ea"/>
              </a:rPr>
              <a:t>(int))))</a:t>
            </a:r>
            <a:endParaRPr lang="zh-CN" altLang="en-US" sz="2800" b="1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+mn-ea"/>
                <a:ea typeface="+mn-ea"/>
              </a:rPr>
              <a:t>所以</a:t>
            </a:r>
            <a:r>
              <a:rPr lang="en-US" altLang="zh-CN" sz="2800" b="1" dirty="0">
                <a:latin typeface="+mn-ea"/>
                <a:ea typeface="+mn-ea"/>
              </a:rPr>
              <a:t>b</a:t>
            </a:r>
            <a:r>
              <a:rPr lang="zh-CN" altLang="en-US" sz="2800" b="1" dirty="0">
                <a:latin typeface="+mn-ea"/>
                <a:ea typeface="+mn-ea"/>
              </a:rPr>
              <a:t>和</a:t>
            </a:r>
            <a:r>
              <a:rPr lang="en-US" altLang="zh-CN" sz="2800" b="1" dirty="0">
                <a:latin typeface="+mn-ea"/>
                <a:ea typeface="+mn-ea"/>
              </a:rPr>
              <a:t>e</a:t>
            </a:r>
            <a:r>
              <a:rPr lang="zh-CN" altLang="en-US" sz="2800" b="1" dirty="0">
                <a:latin typeface="+mn-ea"/>
                <a:ea typeface="+mn-ea"/>
              </a:rPr>
              <a:t>的类型不等价。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类型及其声明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4"/>
            <a:ext cx="10972800" cy="5254327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我们使用以下经过简化的文法来研究类型及其声明。</a:t>
            </a:r>
            <a:endParaRPr lang="en-US" altLang="zh-CN" dirty="0">
              <a:latin typeface="+mn-ea"/>
            </a:endParaRPr>
          </a:p>
          <a:p>
            <a:pPr marL="2628900" lvl="6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CC"/>
                </a:solidFill>
                <a:latin typeface="+mn-ea"/>
              </a:rPr>
              <a:t>D→ T id ; D |  </a:t>
            </a:r>
            <a:r>
              <a:rPr lang="el-GR" altLang="zh-CN" sz="2800" dirty="0">
                <a:solidFill>
                  <a:srgbClr val="0000CC"/>
                </a:solidFill>
                <a:latin typeface="+mn-ea"/>
              </a:rPr>
              <a:t>ε </a:t>
            </a:r>
            <a:endParaRPr lang="en-US" altLang="zh-CN" sz="2800" dirty="0">
              <a:solidFill>
                <a:srgbClr val="0000CC"/>
              </a:solidFill>
              <a:latin typeface="+mn-ea"/>
            </a:endParaRPr>
          </a:p>
          <a:p>
            <a:pPr marL="2628900" lvl="6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CC"/>
                </a:solidFill>
                <a:latin typeface="+mn-ea"/>
              </a:rPr>
              <a:t>T→ B C | record ‘{’D ‘}’</a:t>
            </a:r>
          </a:p>
          <a:p>
            <a:pPr marL="2628900" lvl="6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CC"/>
                </a:solidFill>
                <a:latin typeface="+mn-ea"/>
              </a:rPr>
              <a:t>B→ int | float</a:t>
            </a:r>
          </a:p>
          <a:p>
            <a:pPr marL="2628900" lvl="6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CC"/>
                </a:solidFill>
                <a:latin typeface="+mn-ea"/>
              </a:rPr>
              <a:t>C→ </a:t>
            </a:r>
            <a:r>
              <a:rPr lang="el-GR" altLang="zh-CN" sz="2800" dirty="0">
                <a:solidFill>
                  <a:srgbClr val="0000CC"/>
                </a:solidFill>
                <a:latin typeface="+mn-ea"/>
              </a:rPr>
              <a:t>ε  </a:t>
            </a:r>
            <a:r>
              <a:rPr lang="en-US" altLang="zh-CN" sz="2800" dirty="0">
                <a:solidFill>
                  <a:srgbClr val="0000CC"/>
                </a:solidFill>
                <a:latin typeface="+mn-ea"/>
              </a:rPr>
              <a:t>| [num]C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非终结符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生成基本类型</a:t>
            </a:r>
            <a:r>
              <a:rPr lang="en-US" altLang="zh-CN" dirty="0">
                <a:latin typeface="+mn-ea"/>
              </a:rPr>
              <a:t>int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float</a:t>
            </a:r>
            <a:r>
              <a:rPr lang="zh-CN" altLang="en-US" dirty="0">
                <a:latin typeface="+mn-ea"/>
              </a:rPr>
              <a:t>之一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非终结符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产生零个或多个方括号括起来的整数，表示数组分量。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非终结符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生成基本类型、数组类型或记录类型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局部变量名的存储布局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对于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声明语句</a:t>
            </a:r>
            <a:r>
              <a:rPr lang="zh-CN" altLang="en-US" dirty="0">
                <a:latin typeface="+mn-ea"/>
              </a:rPr>
              <a:t>，翻译的主要任务就是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收集标识符的类型</a:t>
            </a:r>
            <a:r>
              <a:rPr lang="zh-CN" altLang="en-US" dirty="0">
                <a:latin typeface="+mn-ea"/>
              </a:rPr>
              <a:t>等属性信息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并为每一个名字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分配一个相对地址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从类型表达式可以知道该类型在运行时刻所需的存储单元数量，称为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类型的宽度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(width) 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在编译时，可以使用类型的宽度为每一个名字分配一个相对地址。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名字的类型和相对地址信息保存在相应的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符号表</a:t>
            </a:r>
            <a:r>
              <a:rPr lang="zh-CN" altLang="en-US" dirty="0">
                <a:latin typeface="+mn-ea"/>
              </a:rPr>
              <a:t>记录中。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变量声明语句的</a:t>
            </a:r>
            <a:r>
              <a:rPr lang="en-US" altLang="zh-CN" dirty="0" err="1"/>
              <a:t>SDT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3024"/>
            <a:ext cx="11521280" cy="5326335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下面的</a:t>
            </a:r>
            <a:r>
              <a:rPr lang="en-US" altLang="zh-CN" dirty="0" err="1">
                <a:latin typeface="+mn-ea"/>
              </a:rPr>
              <a:t>SDT</a:t>
            </a:r>
            <a:r>
              <a:rPr lang="zh-CN" altLang="en-US" dirty="0">
                <a:latin typeface="+mn-ea"/>
              </a:rPr>
              <a:t>计算了基本类型和数组类型以及它们的宽度。</a:t>
            </a: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这个</a:t>
            </a:r>
            <a:r>
              <a:rPr lang="en-US" altLang="zh-CN" dirty="0" err="1">
                <a:latin typeface="+mn-ea"/>
              </a:rPr>
              <a:t>SDT</a:t>
            </a:r>
            <a:r>
              <a:rPr lang="zh-CN" altLang="en-US" dirty="0">
                <a:latin typeface="+mn-ea"/>
              </a:rPr>
              <a:t>中每个非终结符都有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个综合属性</a:t>
            </a:r>
            <a:r>
              <a:rPr lang="en-US" altLang="zh-CN" dirty="0">
                <a:latin typeface="+mn-ea"/>
              </a:rPr>
              <a:t>type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width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两个变量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w</a:t>
            </a:r>
            <a:r>
              <a:rPr lang="zh-CN" altLang="en-US" dirty="0">
                <a:latin typeface="+mn-ea"/>
              </a:rPr>
              <a:t>用于将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类型</a:t>
            </a:r>
            <a:r>
              <a:rPr lang="zh-CN" altLang="en-US" dirty="0">
                <a:latin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宽度</a:t>
            </a:r>
            <a:r>
              <a:rPr lang="zh-CN" altLang="en-US" dirty="0">
                <a:latin typeface="+mn-ea"/>
              </a:rPr>
              <a:t>从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结点传递到对应于产生式</a:t>
            </a:r>
            <a:r>
              <a:rPr lang="en-US" altLang="zh-CN" dirty="0">
                <a:latin typeface="+mn-ea"/>
              </a:rPr>
              <a:t>C →ε</a:t>
            </a:r>
            <a:r>
              <a:rPr lang="zh-CN" altLang="en-US" dirty="0">
                <a:latin typeface="+mn-ea"/>
              </a:rPr>
              <a:t>的结点，在</a:t>
            </a:r>
            <a:r>
              <a:rPr lang="en-US" altLang="zh-CN" dirty="0" err="1">
                <a:latin typeface="+mn-ea"/>
              </a:rPr>
              <a:t>SDD</a:t>
            </a:r>
            <a:r>
              <a:rPr lang="zh-CN" altLang="en-US" dirty="0">
                <a:latin typeface="+mn-ea"/>
              </a:rPr>
              <a:t>中它们应该是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继承属性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2063552" y="1920240"/>
          <a:ext cx="7416824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2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T→ B</a:t>
                      </a:r>
                      <a:r>
                        <a:rPr lang="en-US" altLang="zh-CN" sz="2400" b="1" dirty="0">
                          <a:latin typeface="+mn-ea"/>
                        </a:rPr>
                        <a:t>{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+mn-ea"/>
                        </a:rPr>
                        <a:t>t</a:t>
                      </a:r>
                      <a:r>
                        <a:rPr lang="en-US" altLang="zh-CN" sz="2400" b="1" dirty="0">
                          <a:latin typeface="+mn-ea"/>
                        </a:rPr>
                        <a:t> =</a:t>
                      </a:r>
                      <a:r>
                        <a:rPr lang="en-US" altLang="zh-CN" sz="2400" b="1" dirty="0" err="1">
                          <a:latin typeface="+mn-ea"/>
                        </a:rPr>
                        <a:t>B.type</a:t>
                      </a:r>
                      <a:r>
                        <a:rPr lang="en-US" altLang="zh-CN" sz="2400" b="1" dirty="0">
                          <a:latin typeface="+mn-ea"/>
                        </a:rPr>
                        <a:t>;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+mn-ea"/>
                        </a:rPr>
                        <a:t>w</a:t>
                      </a:r>
                      <a:r>
                        <a:rPr lang="en-US" altLang="zh-CN" sz="2400" b="1" dirty="0">
                          <a:latin typeface="+mn-ea"/>
                        </a:rPr>
                        <a:t>=</a:t>
                      </a:r>
                      <a:r>
                        <a:rPr lang="en-US" altLang="zh-CN" sz="2400" b="1" dirty="0" err="1">
                          <a:latin typeface="+mn-ea"/>
                        </a:rPr>
                        <a:t>B.width</a:t>
                      </a:r>
                      <a:r>
                        <a:rPr lang="en-US" altLang="zh-CN" sz="2400" b="1" dirty="0">
                          <a:latin typeface="+mn-ea"/>
                        </a:rPr>
                        <a:t>;}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C</a:t>
                      </a:r>
                      <a:r>
                        <a:rPr lang="en-US" altLang="zh-CN" sz="2400" b="1" dirty="0">
                          <a:latin typeface="+mn-ea"/>
                        </a:rPr>
                        <a:t>{ </a:t>
                      </a:r>
                      <a:r>
                        <a:rPr lang="en-US" altLang="zh-CN" sz="2400" b="1" dirty="0" err="1">
                          <a:latin typeface="+mn-ea"/>
                        </a:rPr>
                        <a:t>T.type</a:t>
                      </a:r>
                      <a:r>
                        <a:rPr lang="en-US" altLang="zh-CN" sz="2400" b="1" dirty="0">
                          <a:latin typeface="+mn-ea"/>
                        </a:rPr>
                        <a:t>= </a:t>
                      </a:r>
                      <a:r>
                        <a:rPr lang="en-US" altLang="zh-CN" sz="24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2400" b="1" dirty="0">
                          <a:latin typeface="+mn-ea"/>
                        </a:rPr>
                        <a:t>; </a:t>
                      </a:r>
                      <a:r>
                        <a:rPr lang="en-US" altLang="zh-CN" sz="2400" b="1" dirty="0" err="1">
                          <a:latin typeface="+mn-ea"/>
                        </a:rPr>
                        <a:t>T.width</a:t>
                      </a:r>
                      <a:r>
                        <a:rPr lang="en-US" altLang="zh-CN" sz="2400" b="1" dirty="0">
                          <a:latin typeface="+mn-ea"/>
                        </a:rPr>
                        <a:t>= </a:t>
                      </a:r>
                      <a:r>
                        <a:rPr lang="en-US" altLang="zh-CN" sz="24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2400" b="1" dirty="0">
                          <a:latin typeface="+mn-ea"/>
                        </a:rPr>
                        <a:t>;} 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9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B→ int</a:t>
                      </a:r>
                      <a:r>
                        <a:rPr lang="en-US" altLang="zh-CN" sz="2400" b="1" dirty="0">
                          <a:latin typeface="+mn-ea"/>
                        </a:rPr>
                        <a:t>{ </a:t>
                      </a:r>
                      <a:r>
                        <a:rPr lang="en-US" altLang="zh-CN" sz="2400" b="1" dirty="0" err="1">
                          <a:latin typeface="+mn-ea"/>
                        </a:rPr>
                        <a:t>B.type</a:t>
                      </a:r>
                      <a:r>
                        <a:rPr lang="en-US" altLang="zh-CN" sz="2400" b="1" dirty="0">
                          <a:latin typeface="+mn-ea"/>
                        </a:rPr>
                        <a:t>= int; </a:t>
                      </a:r>
                      <a:r>
                        <a:rPr lang="en-US" altLang="zh-CN" sz="2400" b="1" dirty="0" err="1">
                          <a:latin typeface="+mn-ea"/>
                        </a:rPr>
                        <a:t>B.width</a:t>
                      </a:r>
                      <a:r>
                        <a:rPr lang="en-US" altLang="zh-CN" sz="2400" b="1" dirty="0">
                          <a:latin typeface="+mn-ea"/>
                        </a:rPr>
                        <a:t>= 4; } 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9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B→ float</a:t>
                      </a:r>
                      <a:r>
                        <a:rPr lang="en-US" altLang="zh-CN" sz="2400" b="1" dirty="0">
                          <a:latin typeface="+mn-ea"/>
                        </a:rPr>
                        <a:t>{ </a:t>
                      </a:r>
                      <a:r>
                        <a:rPr lang="en-US" altLang="zh-CN" sz="2400" b="1" dirty="0" err="1">
                          <a:latin typeface="+mn-ea"/>
                        </a:rPr>
                        <a:t>B.type</a:t>
                      </a:r>
                      <a:r>
                        <a:rPr lang="en-US" altLang="zh-CN" sz="2400" b="1" dirty="0">
                          <a:latin typeface="+mn-ea"/>
                        </a:rPr>
                        <a:t>= float; </a:t>
                      </a:r>
                      <a:r>
                        <a:rPr lang="en-US" altLang="zh-CN" sz="2400" b="1" dirty="0" err="1">
                          <a:latin typeface="+mn-ea"/>
                        </a:rPr>
                        <a:t>B.width</a:t>
                      </a:r>
                      <a:r>
                        <a:rPr lang="en-US" altLang="zh-CN" sz="2400" b="1" dirty="0">
                          <a:latin typeface="+mn-ea"/>
                        </a:rPr>
                        <a:t>= 8; } 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9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C→</a:t>
                      </a:r>
                      <a:r>
                        <a:rPr lang="el-GR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ε</a:t>
                      </a:r>
                      <a:r>
                        <a:rPr lang="el-GR" altLang="zh-CN" sz="2400" b="1" dirty="0">
                          <a:latin typeface="+mn-ea"/>
                        </a:rPr>
                        <a:t>{ </a:t>
                      </a:r>
                      <a:r>
                        <a:rPr lang="en-US" altLang="zh-CN" sz="24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2400" b="1" dirty="0">
                          <a:latin typeface="+mn-ea"/>
                        </a:rPr>
                        <a:t>=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+mn-ea"/>
                        </a:rPr>
                        <a:t>t</a:t>
                      </a:r>
                      <a:r>
                        <a:rPr lang="en-US" altLang="zh-CN" sz="2400" b="1" dirty="0">
                          <a:latin typeface="+mn-ea"/>
                        </a:rPr>
                        <a:t>; </a:t>
                      </a:r>
                      <a:r>
                        <a:rPr lang="en-US" altLang="zh-CN" sz="24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2400" b="1" dirty="0">
                          <a:latin typeface="+mn-ea"/>
                        </a:rPr>
                        <a:t>=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+mn-ea"/>
                        </a:rPr>
                        <a:t>w</a:t>
                      </a:r>
                      <a:r>
                        <a:rPr lang="en-US" altLang="zh-CN" sz="2400" b="1" dirty="0">
                          <a:latin typeface="+mn-ea"/>
                        </a:rPr>
                        <a:t>;}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7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C→ [num]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+mn-ea"/>
                        </a:rPr>
                        <a:t>C1</a:t>
                      </a:r>
                      <a:r>
                        <a:rPr lang="en-US" altLang="zh-CN" sz="2400" b="1" dirty="0">
                          <a:latin typeface="+mn-ea"/>
                        </a:rPr>
                        <a:t>{ </a:t>
                      </a:r>
                      <a:r>
                        <a:rPr lang="en-US" altLang="zh-CN" sz="24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2400" b="1" dirty="0">
                          <a:latin typeface="+mn-ea"/>
                        </a:rPr>
                        <a:t>= array( </a:t>
                      </a:r>
                      <a:r>
                        <a:rPr lang="en-US" altLang="zh-CN" sz="2400" b="1" dirty="0" err="1">
                          <a:latin typeface="+mn-ea"/>
                        </a:rPr>
                        <a:t>num.val</a:t>
                      </a:r>
                      <a:r>
                        <a:rPr lang="en-US" altLang="zh-CN" sz="2400" b="1" dirty="0">
                          <a:latin typeface="+mn-ea"/>
                        </a:rPr>
                        <a:t>, </a:t>
                      </a:r>
                      <a:r>
                        <a:rPr lang="en-US" altLang="zh-CN" sz="2400" b="1" dirty="0" err="1">
                          <a:latin typeface="+mn-ea"/>
                        </a:rPr>
                        <a:t>C1.type</a:t>
                      </a:r>
                      <a:r>
                        <a:rPr lang="en-US" altLang="zh-CN" sz="2400" b="1" dirty="0">
                          <a:latin typeface="+mn-ea"/>
                        </a:rPr>
                        <a:t>);   </a:t>
                      </a:r>
                    </a:p>
                    <a:p>
                      <a:pPr algn="l"/>
                      <a:r>
                        <a:rPr lang="en-US" altLang="zh-CN" sz="2400" b="1" dirty="0">
                          <a:latin typeface="+mn-ea"/>
                        </a:rPr>
                        <a:t>  </a:t>
                      </a:r>
                      <a:r>
                        <a:rPr lang="en-US" altLang="zh-CN" sz="24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2400" b="1" dirty="0">
                          <a:latin typeface="+mn-ea"/>
                        </a:rPr>
                        <a:t>= </a:t>
                      </a:r>
                      <a:r>
                        <a:rPr lang="en-US" altLang="zh-CN" sz="2400" b="1" dirty="0" err="1">
                          <a:latin typeface="+mn-ea"/>
                        </a:rPr>
                        <a:t>num.val</a:t>
                      </a:r>
                      <a:r>
                        <a:rPr lang="en-US" altLang="zh-CN" sz="2400" b="1" dirty="0">
                          <a:latin typeface="+mn-ea"/>
                        </a:rPr>
                        <a:t>* </a:t>
                      </a:r>
                      <a:r>
                        <a:rPr lang="en-US" altLang="zh-CN" sz="2400" b="1" dirty="0" err="1">
                          <a:latin typeface="+mn-ea"/>
                        </a:rPr>
                        <a:t>C1.width</a:t>
                      </a:r>
                      <a:r>
                        <a:rPr lang="en-US" altLang="zh-CN" sz="2400" b="1" dirty="0">
                          <a:latin typeface="+mn-ea"/>
                        </a:rPr>
                        <a:t>; }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579438"/>
            <a:ext cx="7200800" cy="563562"/>
          </a:xfrm>
        </p:spPr>
        <p:txBody>
          <a:bodyPr/>
          <a:lstStyle/>
          <a:p>
            <a:r>
              <a:rPr lang="zh-CN" altLang="en-US" dirty="0"/>
              <a:t>变量声明语句的</a:t>
            </a:r>
            <a:r>
              <a:rPr lang="en-US" altLang="zh-CN" dirty="0" err="1"/>
              <a:t>SDT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类型</a:t>
            </a:r>
            <a:r>
              <a:rPr lang="en-US" altLang="zh-CN" dirty="0">
                <a:latin typeface="+mn-ea"/>
              </a:rPr>
              <a:t>int[2][3]</a:t>
            </a:r>
            <a:r>
              <a:rPr lang="zh-CN" altLang="en-US" dirty="0">
                <a:latin typeface="+mn-ea"/>
              </a:rPr>
              <a:t>的语法制导翻译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5"/>
          <a:stretch>
            <a:fillRect/>
          </a:stretch>
        </p:blipFill>
        <p:spPr bwMode="auto">
          <a:xfrm>
            <a:off x="870203" y="3212976"/>
            <a:ext cx="7223720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6983410" y="579438"/>
          <a:ext cx="5008900" cy="2431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0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3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+mn-ea"/>
                        </a:rPr>
                        <a:t>T→ B</a:t>
                      </a:r>
                      <a:r>
                        <a:rPr lang="en-US" altLang="zh-CN" sz="1800" b="1" dirty="0">
                          <a:latin typeface="+mn-ea"/>
                        </a:rPr>
                        <a:t>{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1</a:t>
                      </a:r>
                      <a:r>
                        <a:rPr lang="en-US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t</a:t>
                      </a:r>
                      <a:r>
                        <a:rPr lang="en-US" altLang="zh-CN" sz="1800" b="1" dirty="0">
                          <a:latin typeface="+mn-ea"/>
                        </a:rPr>
                        <a:t>=</a:t>
                      </a:r>
                      <a:r>
                        <a:rPr lang="en-US" altLang="zh-CN" sz="1800" b="1" dirty="0" err="1">
                          <a:latin typeface="+mn-ea"/>
                        </a:rPr>
                        <a:t>B.type</a:t>
                      </a:r>
                      <a:r>
                        <a:rPr lang="en-US" altLang="zh-CN" sz="1800" b="1" dirty="0">
                          <a:latin typeface="+mn-ea"/>
                        </a:rPr>
                        <a:t>;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w</a:t>
                      </a:r>
                      <a:r>
                        <a:rPr lang="en-US" altLang="zh-CN" sz="1800" b="1" dirty="0">
                          <a:latin typeface="+mn-ea"/>
                        </a:rPr>
                        <a:t>=</a:t>
                      </a:r>
                      <a:r>
                        <a:rPr lang="en-US" altLang="zh-CN" sz="1800" b="1" dirty="0" err="1">
                          <a:latin typeface="+mn-ea"/>
                        </a:rPr>
                        <a:t>B.width</a:t>
                      </a:r>
                      <a:r>
                        <a:rPr lang="en-US" altLang="zh-CN" sz="1800" b="1" dirty="0">
                          <a:latin typeface="+mn-ea"/>
                        </a:rPr>
                        <a:t>;}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+mn-ea"/>
                        </a:rPr>
                        <a:t>C</a:t>
                      </a:r>
                      <a:r>
                        <a:rPr lang="en-US" altLang="zh-CN" sz="1800" b="1" dirty="0">
                          <a:latin typeface="+mn-ea"/>
                        </a:rPr>
                        <a:t>{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2</a:t>
                      </a:r>
                      <a:r>
                        <a:rPr lang="en-US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T.type</a:t>
                      </a:r>
                      <a:r>
                        <a:rPr lang="en-US" altLang="zh-CN" sz="1800" b="1" dirty="0">
                          <a:latin typeface="+mn-ea"/>
                        </a:rPr>
                        <a:t>= </a:t>
                      </a:r>
                      <a:r>
                        <a:rPr lang="en-US" altLang="zh-CN" sz="18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1800" b="1" dirty="0">
                          <a:latin typeface="+mn-ea"/>
                        </a:rPr>
                        <a:t>; </a:t>
                      </a:r>
                      <a:r>
                        <a:rPr lang="en-US" altLang="zh-CN" sz="1800" b="1" dirty="0" err="1">
                          <a:latin typeface="+mn-ea"/>
                        </a:rPr>
                        <a:t>T.width</a:t>
                      </a:r>
                      <a:r>
                        <a:rPr lang="en-US" altLang="zh-CN" sz="1800" b="1" dirty="0">
                          <a:latin typeface="+mn-ea"/>
                        </a:rPr>
                        <a:t>= </a:t>
                      </a:r>
                      <a:r>
                        <a:rPr lang="en-US" altLang="zh-CN" sz="18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1800" b="1" dirty="0">
                          <a:latin typeface="+mn-ea"/>
                        </a:rPr>
                        <a:t>;} 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+mn-ea"/>
                        </a:rPr>
                        <a:t>B→ int</a:t>
                      </a:r>
                      <a:r>
                        <a:rPr lang="en-US" altLang="zh-CN" sz="1800" b="1" dirty="0">
                          <a:latin typeface="+mn-ea"/>
                        </a:rPr>
                        <a:t>{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3</a:t>
                      </a:r>
                      <a:r>
                        <a:rPr lang="en-US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B.type</a:t>
                      </a:r>
                      <a:r>
                        <a:rPr lang="en-US" altLang="zh-CN" sz="1800" b="1" dirty="0">
                          <a:latin typeface="+mn-ea"/>
                        </a:rPr>
                        <a:t>= int; </a:t>
                      </a:r>
                      <a:r>
                        <a:rPr lang="en-US" altLang="zh-CN" sz="1800" b="1" dirty="0" err="1">
                          <a:latin typeface="+mn-ea"/>
                        </a:rPr>
                        <a:t>B.width</a:t>
                      </a:r>
                      <a:r>
                        <a:rPr lang="en-US" altLang="zh-CN" sz="1800" b="1" dirty="0">
                          <a:latin typeface="+mn-ea"/>
                        </a:rPr>
                        <a:t>= 4; } 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+mn-ea"/>
                        </a:rPr>
                        <a:t>B→ float</a:t>
                      </a:r>
                      <a:r>
                        <a:rPr lang="en-US" altLang="zh-CN" sz="1800" b="1" dirty="0">
                          <a:latin typeface="+mn-ea"/>
                        </a:rPr>
                        <a:t>{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4</a:t>
                      </a:r>
                      <a:r>
                        <a:rPr lang="en-US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B.type</a:t>
                      </a:r>
                      <a:r>
                        <a:rPr lang="en-US" altLang="zh-CN" sz="1800" b="1" dirty="0">
                          <a:latin typeface="+mn-ea"/>
                        </a:rPr>
                        <a:t>= float; </a:t>
                      </a:r>
                      <a:r>
                        <a:rPr lang="en-US" altLang="zh-CN" sz="1800" b="1" dirty="0" err="1">
                          <a:latin typeface="+mn-ea"/>
                        </a:rPr>
                        <a:t>B.width</a:t>
                      </a:r>
                      <a:r>
                        <a:rPr lang="en-US" altLang="zh-CN" sz="1800" b="1" dirty="0">
                          <a:latin typeface="+mn-ea"/>
                        </a:rPr>
                        <a:t>= 8; } 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+mn-ea"/>
                        </a:rPr>
                        <a:t>C→</a:t>
                      </a:r>
                      <a:r>
                        <a:rPr lang="el-GR" altLang="zh-CN" sz="1800" b="1" dirty="0">
                          <a:solidFill>
                            <a:srgbClr val="0000FF"/>
                          </a:solidFill>
                          <a:latin typeface="+mn-ea"/>
                        </a:rPr>
                        <a:t>ε</a:t>
                      </a:r>
                      <a:r>
                        <a:rPr lang="el-GR" altLang="zh-CN" sz="1800" b="1" dirty="0">
                          <a:latin typeface="+mn-ea"/>
                        </a:rPr>
                        <a:t>{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5</a:t>
                      </a:r>
                      <a:r>
                        <a:rPr lang="el-GR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1800" b="1" dirty="0">
                          <a:latin typeface="+mn-ea"/>
                        </a:rPr>
                        <a:t>=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t</a:t>
                      </a:r>
                      <a:r>
                        <a:rPr lang="en-US" altLang="zh-CN" sz="1800" b="1" dirty="0">
                          <a:latin typeface="+mn-ea"/>
                        </a:rPr>
                        <a:t>; </a:t>
                      </a:r>
                      <a:r>
                        <a:rPr lang="en-US" altLang="zh-CN" sz="18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1800" b="1" dirty="0">
                          <a:latin typeface="+mn-ea"/>
                        </a:rPr>
                        <a:t>=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w</a:t>
                      </a:r>
                      <a:r>
                        <a:rPr lang="en-US" altLang="zh-CN" sz="1800" b="1" dirty="0">
                          <a:latin typeface="+mn-ea"/>
                        </a:rPr>
                        <a:t>;}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+mn-ea"/>
                        </a:rPr>
                        <a:t>C→ [num]</a:t>
                      </a:r>
                      <a:r>
                        <a:rPr lang="en-US" altLang="zh-CN" sz="1800" b="1" dirty="0" err="1">
                          <a:solidFill>
                            <a:srgbClr val="0000FF"/>
                          </a:solidFill>
                          <a:latin typeface="+mn-ea"/>
                        </a:rPr>
                        <a:t>C1</a:t>
                      </a:r>
                      <a:r>
                        <a:rPr lang="en-US" altLang="zh-CN" sz="1800" b="1" dirty="0">
                          <a:latin typeface="+mn-ea"/>
                        </a:rPr>
                        <a:t>{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6</a:t>
                      </a:r>
                      <a:r>
                        <a:rPr lang="en-US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1800" b="1" dirty="0">
                          <a:latin typeface="+mn-ea"/>
                        </a:rPr>
                        <a:t>= array( </a:t>
                      </a:r>
                      <a:r>
                        <a:rPr lang="en-US" altLang="zh-CN" sz="1800" b="1" dirty="0" err="1">
                          <a:latin typeface="+mn-ea"/>
                        </a:rPr>
                        <a:t>num.val</a:t>
                      </a:r>
                      <a:r>
                        <a:rPr lang="en-US" altLang="zh-CN" sz="1800" b="1" dirty="0">
                          <a:latin typeface="+mn-ea"/>
                        </a:rPr>
                        <a:t>, </a:t>
                      </a:r>
                      <a:r>
                        <a:rPr lang="en-US" altLang="zh-CN" sz="1800" b="1" dirty="0" err="1">
                          <a:latin typeface="+mn-ea"/>
                        </a:rPr>
                        <a:t>C1.type</a:t>
                      </a:r>
                      <a:r>
                        <a:rPr lang="en-US" altLang="zh-CN" sz="1800" b="1" dirty="0">
                          <a:latin typeface="+mn-ea"/>
                        </a:rPr>
                        <a:t>);     </a:t>
                      </a:r>
                      <a:r>
                        <a:rPr lang="en-US" altLang="zh-CN" sz="18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1800" b="1" dirty="0">
                          <a:latin typeface="+mn-ea"/>
                        </a:rPr>
                        <a:t>= </a:t>
                      </a:r>
                      <a:r>
                        <a:rPr lang="en-US" altLang="zh-CN" sz="1800" b="1" dirty="0" err="1">
                          <a:latin typeface="+mn-ea"/>
                        </a:rPr>
                        <a:t>num.val</a:t>
                      </a:r>
                      <a:r>
                        <a:rPr lang="en-US" altLang="zh-CN" sz="1800" b="1" dirty="0">
                          <a:latin typeface="+mn-ea"/>
                        </a:rPr>
                        <a:t>* </a:t>
                      </a:r>
                      <a:r>
                        <a:rPr lang="en-US" altLang="zh-CN" sz="1800" b="1" dirty="0" err="1">
                          <a:latin typeface="+mn-ea"/>
                        </a:rPr>
                        <a:t>C1.width</a:t>
                      </a:r>
                      <a:r>
                        <a:rPr lang="en-US" altLang="zh-CN" sz="1800" b="1" dirty="0">
                          <a:latin typeface="+mn-ea"/>
                        </a:rPr>
                        <a:t>; }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86D4FD8A-ADE3-34D8-3976-8290249E1593}"/>
              </a:ext>
            </a:extLst>
          </p:cNvPr>
          <p:cNvGrpSpPr/>
          <p:nvPr/>
        </p:nvGrpSpPr>
        <p:grpSpPr>
          <a:xfrm>
            <a:off x="1157131" y="3501008"/>
            <a:ext cx="6485930" cy="2772308"/>
            <a:chOff x="1157131" y="3501008"/>
            <a:chExt cx="6485930" cy="2772308"/>
          </a:xfrm>
        </p:grpSpPr>
        <p:sp>
          <p:nvSpPr>
            <p:cNvPr id="5" name="椭圆 4"/>
            <p:cNvSpPr/>
            <p:nvPr/>
          </p:nvSpPr>
          <p:spPr bwMode="auto">
            <a:xfrm>
              <a:off x="3719736" y="3681028"/>
              <a:ext cx="394933" cy="396044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400" b="1" i="0" u="none" strike="noStrike" cap="none" normalizeH="0" baseline="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rPr>
                <a:t>2</a:t>
              </a:r>
              <a:endParaRPr kumimoji="0" lang="zh-CN" altLang="en-US" sz="1400" b="1" i="0" u="none" strike="noStrike" cap="none" normalizeH="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2291243" y="3774029"/>
              <a:ext cx="394933" cy="396044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400" b="1" i="0" u="none" strike="noStrike" cap="none" normalizeH="0" baseline="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rPr>
                <a:t>1</a:t>
              </a:r>
              <a:endParaRPr kumimoji="0" lang="zh-CN" altLang="en-US" sz="1400" b="1" i="0" u="none" strike="noStrike" cap="none" normalizeH="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1343472" y="4797152"/>
              <a:ext cx="394933" cy="396044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400" b="1" i="0" u="none" strike="noStrike" cap="none" normalizeH="0" baseline="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rPr>
                <a:t>3</a:t>
              </a:r>
              <a:endParaRPr kumimoji="0" lang="zh-CN" altLang="en-US" sz="1400" b="1" i="0" u="none" strike="noStrike" cap="none" normalizeH="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5231904" y="4401108"/>
              <a:ext cx="394933" cy="396044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400" b="1" i="0" u="none" strike="noStrike" cap="none" normalizeH="0" baseline="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rPr>
                <a:t>6</a:t>
              </a:r>
              <a:endParaRPr kumimoji="0" lang="zh-CN" altLang="en-US" sz="1400" b="1" i="0" u="none" strike="noStrike" cap="none" normalizeH="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6277131" y="5121188"/>
              <a:ext cx="394933" cy="396044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400" b="1" i="0" u="none" strike="noStrike" cap="none" normalizeH="0" baseline="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rPr>
                <a:t>6</a:t>
              </a:r>
              <a:endParaRPr kumimoji="0" lang="zh-CN" altLang="en-US" sz="1400" b="1" i="0" u="none" strike="noStrike" cap="none" normalizeH="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7248128" y="5877272"/>
              <a:ext cx="394933" cy="396044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400" b="1" i="0" u="none" strike="noStrike" cap="none" normalizeH="0" baseline="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rPr>
                <a:t>5</a:t>
              </a:r>
              <a:endParaRPr kumimoji="0" lang="zh-CN" altLang="en-US" sz="1400" b="1" i="0" u="none" strike="noStrike" cap="none" normalizeH="0" baseline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2533555" y="3603174"/>
              <a:ext cx="34053" cy="11385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</p:cxnSp>
        <p:cxnSp>
          <p:nvCxnSpPr>
            <p:cNvPr id="17" name="直接连接符 16"/>
            <p:cNvCxnSpPr/>
            <p:nvPr/>
          </p:nvCxnSpPr>
          <p:spPr bwMode="auto">
            <a:xfrm>
              <a:off x="1157131" y="4267454"/>
              <a:ext cx="276650" cy="52969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</p:cxnSp>
        <p:cxnSp>
          <p:nvCxnSpPr>
            <p:cNvPr id="22" name="直接连接符 21"/>
            <p:cNvCxnSpPr/>
            <p:nvPr/>
          </p:nvCxnSpPr>
          <p:spPr bwMode="auto">
            <a:xfrm>
              <a:off x="2845596" y="3501008"/>
              <a:ext cx="730124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</p:cxnSp>
        <p:cxnSp>
          <p:nvCxnSpPr>
            <p:cNvPr id="26" name="直接连接符 25"/>
            <p:cNvCxnSpPr/>
            <p:nvPr/>
          </p:nvCxnSpPr>
          <p:spPr bwMode="auto">
            <a:xfrm>
              <a:off x="4295800" y="4149080"/>
              <a:ext cx="936104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</p:cxnSp>
        <p:cxnSp>
          <p:nvCxnSpPr>
            <p:cNvPr id="31" name="直接连接符 30"/>
            <p:cNvCxnSpPr/>
            <p:nvPr/>
          </p:nvCxnSpPr>
          <p:spPr bwMode="auto">
            <a:xfrm>
              <a:off x="5341027" y="4905164"/>
              <a:ext cx="936104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</p:cxnSp>
        <p:cxnSp>
          <p:nvCxnSpPr>
            <p:cNvPr id="32" name="直接连接符 31"/>
            <p:cNvCxnSpPr/>
            <p:nvPr/>
          </p:nvCxnSpPr>
          <p:spPr bwMode="auto">
            <a:xfrm>
              <a:off x="6232354" y="5652465"/>
              <a:ext cx="936104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</p:cxnSp>
      </p:grpSp>
      <p:graphicFrame>
        <p:nvGraphicFramePr>
          <p:cNvPr id="36" name="表格 4"/>
          <p:cNvGraphicFramePr>
            <a:graphicFrameLocks noGrp="1"/>
          </p:cNvGraphicFramePr>
          <p:nvPr/>
        </p:nvGraphicFramePr>
        <p:xfrm>
          <a:off x="8127876" y="3262555"/>
          <a:ext cx="3864434" cy="30691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6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0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0000FF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B.type</a:t>
                      </a:r>
                      <a:r>
                        <a:rPr lang="en-US" altLang="zh-CN" sz="1800" b="1" dirty="0">
                          <a:latin typeface="+mn-ea"/>
                        </a:rPr>
                        <a:t>=int; </a:t>
                      </a:r>
                      <a:r>
                        <a:rPr lang="en-US" altLang="zh-CN" sz="1800" b="1" dirty="0" err="1">
                          <a:latin typeface="+mn-ea"/>
                        </a:rPr>
                        <a:t>B.width</a:t>
                      </a:r>
                      <a:r>
                        <a:rPr lang="en-US" altLang="zh-CN" sz="1800" b="1" dirty="0">
                          <a:latin typeface="+mn-ea"/>
                        </a:rPr>
                        <a:t>=4; </a:t>
                      </a: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1 t</a:t>
                      </a:r>
                      <a:r>
                        <a:rPr lang="en-US" altLang="zh-CN" sz="1800" b="1" dirty="0">
                          <a:latin typeface="+mn-ea"/>
                        </a:rPr>
                        <a:t>=</a:t>
                      </a:r>
                      <a:r>
                        <a:rPr lang="en-US" altLang="zh-CN" sz="1800" b="1" dirty="0" err="1">
                          <a:latin typeface="+mn-ea"/>
                        </a:rPr>
                        <a:t>B.type</a:t>
                      </a:r>
                      <a:r>
                        <a:rPr lang="en-US" altLang="zh-CN" sz="1800" b="1" dirty="0">
                          <a:latin typeface="+mn-ea"/>
                        </a:rPr>
                        <a:t>=int;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w</a:t>
                      </a:r>
                      <a:r>
                        <a:rPr lang="en-US" altLang="zh-CN" sz="1800" b="1" dirty="0">
                          <a:latin typeface="+mn-ea"/>
                        </a:rPr>
                        <a:t>=</a:t>
                      </a:r>
                      <a:r>
                        <a:rPr lang="en-US" altLang="zh-CN" sz="1800" b="1" dirty="0" err="1">
                          <a:latin typeface="+mn-ea"/>
                        </a:rPr>
                        <a:t>B.width</a:t>
                      </a:r>
                      <a:r>
                        <a:rPr lang="en-US" altLang="zh-CN" sz="1800" b="1" dirty="0">
                          <a:latin typeface="+mn-ea"/>
                        </a:rPr>
                        <a:t>=4;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 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5</a:t>
                      </a:r>
                      <a:r>
                        <a:rPr lang="el-GR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1800" b="1" dirty="0">
                          <a:latin typeface="+mn-ea"/>
                        </a:rPr>
                        <a:t>=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t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</a:rPr>
                        <a:t>=int</a:t>
                      </a:r>
                      <a:r>
                        <a:rPr lang="en-US" altLang="zh-CN" sz="1800" b="1" dirty="0">
                          <a:latin typeface="+mn-ea"/>
                        </a:rPr>
                        <a:t>; </a:t>
                      </a:r>
                      <a:r>
                        <a:rPr lang="en-US" altLang="zh-CN" sz="18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1800" b="1" dirty="0">
                          <a:latin typeface="+mn-ea"/>
                        </a:rPr>
                        <a:t>=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w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</a:rPr>
                        <a:t>=4</a:t>
                      </a:r>
                      <a:r>
                        <a:rPr lang="en-US" altLang="zh-CN" sz="1800" b="1" dirty="0">
                          <a:latin typeface="+mn-ea"/>
                        </a:rPr>
                        <a:t>;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6</a:t>
                      </a:r>
                      <a:r>
                        <a:rPr lang="en-US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1800" b="1" dirty="0">
                          <a:latin typeface="+mn-ea"/>
                        </a:rPr>
                        <a:t>=array(3, int);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</a:rPr>
                        <a:t>   </a:t>
                      </a:r>
                      <a:r>
                        <a:rPr lang="en-US" altLang="zh-CN" sz="18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1800" b="1" dirty="0">
                          <a:latin typeface="+mn-ea"/>
                        </a:rPr>
                        <a:t>= 3*4=12;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6</a:t>
                      </a:r>
                      <a:r>
                        <a:rPr lang="en-US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C.type</a:t>
                      </a:r>
                      <a:r>
                        <a:rPr lang="en-US" altLang="zh-CN" sz="1800" b="1" dirty="0">
                          <a:latin typeface="+mn-ea"/>
                        </a:rPr>
                        <a:t>=array(2,</a:t>
                      </a:r>
                      <a:r>
                        <a:rPr lang="zh-CN" altLang="en-US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>
                          <a:latin typeface="+mn-ea"/>
                        </a:rPr>
                        <a:t>array(3, int));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</a:rPr>
                        <a:t>   </a:t>
                      </a:r>
                      <a:r>
                        <a:rPr lang="en-US" altLang="zh-CN" sz="1800" b="1" dirty="0" err="1">
                          <a:latin typeface="+mn-ea"/>
                        </a:rPr>
                        <a:t>C.width</a:t>
                      </a:r>
                      <a:r>
                        <a:rPr lang="en-US" altLang="zh-CN" sz="1800" b="1" dirty="0">
                          <a:latin typeface="+mn-ea"/>
                        </a:rPr>
                        <a:t>= 2*12=24;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ea"/>
                        </a:rPr>
                        <a:t>2</a:t>
                      </a:r>
                      <a:r>
                        <a:rPr lang="en-US" altLang="zh-CN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 err="1">
                          <a:latin typeface="+mn-ea"/>
                        </a:rPr>
                        <a:t>T.type</a:t>
                      </a:r>
                      <a:r>
                        <a:rPr lang="en-US" altLang="zh-CN" sz="1800" b="1" dirty="0">
                          <a:latin typeface="+mn-ea"/>
                        </a:rPr>
                        <a:t>=array(2,</a:t>
                      </a:r>
                      <a:r>
                        <a:rPr lang="zh-CN" altLang="en-US" sz="1800" b="1" dirty="0">
                          <a:latin typeface="+mn-ea"/>
                        </a:rPr>
                        <a:t> </a:t>
                      </a:r>
                      <a:r>
                        <a:rPr lang="en-US" altLang="zh-CN" sz="1800" b="1" dirty="0">
                          <a:latin typeface="+mn-ea"/>
                        </a:rPr>
                        <a:t>array(3, int));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</a:rPr>
                        <a:t>   </a:t>
                      </a:r>
                      <a:r>
                        <a:rPr lang="en-US" altLang="zh-CN" sz="1800" b="1" dirty="0" err="1">
                          <a:latin typeface="+mn-ea"/>
                        </a:rPr>
                        <a:t>T.width</a:t>
                      </a:r>
                      <a:r>
                        <a:rPr lang="en-US" altLang="zh-CN" sz="1800" b="1" dirty="0">
                          <a:latin typeface="+mn-ea"/>
                        </a:rPr>
                        <a:t>=24;</a:t>
                      </a:r>
                      <a:endParaRPr lang="zh-CN" altLang="en-US" sz="1800" b="1" dirty="0"/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声明的序列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40768"/>
            <a:ext cx="11521280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语言支持将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单个过程中的所有声明作为一个组</a:t>
            </a:r>
            <a:r>
              <a:rPr lang="zh-CN" altLang="en-US" sz="2400" dirty="0">
                <a:latin typeface="+mn-ea"/>
              </a:rPr>
              <a:t>进行处理。因此我们使用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变量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offset</a:t>
            </a:r>
            <a:r>
              <a:rPr lang="zh-CN" altLang="en-US" sz="2400" dirty="0">
                <a:latin typeface="+mn-ea"/>
              </a:rPr>
              <a:t>跟踪下一个可用的相对地址。下面的</a:t>
            </a:r>
            <a:r>
              <a:rPr lang="en-US" altLang="zh-CN" sz="2400" dirty="0" err="1">
                <a:latin typeface="+mn-ea"/>
              </a:rPr>
              <a:t>SDT</a:t>
            </a:r>
            <a:r>
              <a:rPr lang="zh-CN" altLang="en-US" sz="2400" dirty="0">
                <a:latin typeface="+mn-ea"/>
              </a:rPr>
              <a:t>用来处理形如</a:t>
            </a:r>
            <a:r>
              <a:rPr lang="en-US" altLang="zh-CN" sz="2400" dirty="0">
                <a:latin typeface="+mn-ea"/>
              </a:rPr>
              <a:t>T id;</a:t>
            </a:r>
            <a:r>
              <a:rPr lang="zh-CN" altLang="en-US" sz="2400" dirty="0">
                <a:latin typeface="+mn-ea"/>
              </a:rPr>
              <a:t>的声明序列。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在考虑第一个声明之前，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offset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被置为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每处理一个变量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时，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被加入符号表，它的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相对地址被设为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offset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当前值</a:t>
            </a:r>
            <a:r>
              <a:rPr lang="zh-CN" altLang="en-US" sz="2400" dirty="0">
                <a:latin typeface="+mn-ea"/>
              </a:rPr>
              <a:t>，随后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的宽度被加到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offset</a:t>
            </a:r>
            <a:r>
              <a:rPr lang="zh-CN" altLang="en-US" sz="2400" dirty="0">
                <a:latin typeface="+mn-ea"/>
              </a:rPr>
              <a:t>上。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199456" y="2704351"/>
          <a:ext cx="7416824" cy="18618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P→</a:t>
                      </a:r>
                      <a:r>
                        <a:rPr lang="en-US" altLang="zh-CN" sz="2400" b="1" dirty="0">
                          <a:latin typeface="+mn-ea"/>
                        </a:rPr>
                        <a:t>{ offset=0} 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D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D→ T id ; </a:t>
                      </a:r>
                      <a:r>
                        <a:rPr lang="en-US" altLang="zh-CN" sz="2400" b="1" dirty="0">
                          <a:latin typeface="+mn-ea"/>
                        </a:rPr>
                        <a:t>{ </a:t>
                      </a:r>
                      <a:r>
                        <a:rPr lang="en-US" altLang="zh-CN" sz="2400" b="1" dirty="0" err="1">
                          <a:latin typeface="+mn-ea"/>
                        </a:rPr>
                        <a:t>top.put</a:t>
                      </a:r>
                      <a:r>
                        <a:rPr lang="en-US" altLang="zh-CN" sz="2400" b="1" dirty="0">
                          <a:latin typeface="+mn-ea"/>
                        </a:rPr>
                        <a:t>(</a:t>
                      </a:r>
                      <a:r>
                        <a:rPr lang="en-US" altLang="zh-CN" sz="2400" b="1" dirty="0" err="1">
                          <a:latin typeface="+mn-ea"/>
                        </a:rPr>
                        <a:t>id.lexeme</a:t>
                      </a:r>
                      <a:r>
                        <a:rPr lang="en-US" altLang="zh-CN" sz="2400" b="1" dirty="0">
                          <a:latin typeface="+mn-ea"/>
                        </a:rPr>
                        <a:t>, </a:t>
                      </a:r>
                      <a:r>
                        <a:rPr lang="en-US" altLang="zh-CN" sz="2400" b="1" dirty="0" err="1">
                          <a:latin typeface="+mn-ea"/>
                        </a:rPr>
                        <a:t>T.type</a:t>
                      </a:r>
                      <a:r>
                        <a:rPr lang="en-US" altLang="zh-CN" sz="2400" b="1" dirty="0">
                          <a:latin typeface="+mn-ea"/>
                        </a:rPr>
                        <a:t>, offset);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+mn-ea"/>
                        </a:rPr>
                        <a:t>offset = offset + </a:t>
                      </a:r>
                      <a:r>
                        <a:rPr lang="en-US" altLang="zh-CN" sz="2400" b="1" dirty="0" err="1">
                          <a:latin typeface="+mn-ea"/>
                        </a:rPr>
                        <a:t>T.width</a:t>
                      </a:r>
                      <a:r>
                        <a:rPr lang="en-US" altLang="zh-CN" sz="2400" b="1" dirty="0">
                          <a:latin typeface="+mn-ea"/>
                        </a:rPr>
                        <a:t>;}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+mn-ea"/>
                        </a:rPr>
                        <a:t>D1</a:t>
                      </a:r>
                      <a:r>
                        <a:rPr lang="en-US" altLang="zh-CN" sz="2400" b="1" dirty="0">
                          <a:latin typeface="+mn-ea"/>
                        </a:rPr>
                        <a:t> </a:t>
                      </a: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D→</a:t>
                      </a:r>
                      <a:r>
                        <a:rPr lang="el-GR" altLang="zh-CN" sz="2400" b="1" dirty="0">
                          <a:solidFill>
                            <a:srgbClr val="0000FF"/>
                          </a:solidFill>
                          <a:latin typeface="+mn-ea"/>
                        </a:rPr>
                        <a:t>ε</a:t>
                      </a:r>
                      <a:endParaRPr lang="zh-CN" altLang="en-US" sz="24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对话气泡: 圆角矩形 4"/>
          <p:cNvSpPr/>
          <p:nvPr/>
        </p:nvSpPr>
        <p:spPr bwMode="auto">
          <a:xfrm>
            <a:off x="9330306" y="2905462"/>
            <a:ext cx="2226369" cy="1459641"/>
          </a:xfrm>
          <a:prstGeom prst="wedgeRoundRectCallout">
            <a:avLst>
              <a:gd name="adj1" fmla="val -102870"/>
              <a:gd name="adj2" fmla="val -5711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2400" b="1" dirty="0" err="1">
                <a:ea typeface="黑体" panose="02010609060101010101" pitchFamily="2" charset="-122"/>
              </a:rPr>
              <a:t>top.put</a:t>
            </a:r>
            <a:r>
              <a:rPr lang="zh-CN" altLang="en-US" sz="2400" b="1" dirty="0">
                <a:ea typeface="黑体" panose="02010609060101010101" pitchFamily="2" charset="-122"/>
              </a:rPr>
              <a:t>：向符号表中填入</a:t>
            </a:r>
            <a:r>
              <a:rPr lang="en-US" altLang="zh-CN" sz="2400" b="1" dirty="0">
                <a:ea typeface="黑体" panose="02010609060101010101" pitchFamily="2" charset="-122"/>
              </a:rPr>
              <a:t>id</a:t>
            </a:r>
            <a:r>
              <a:rPr lang="zh-CN" altLang="en-US" sz="2400" b="1" dirty="0">
                <a:ea typeface="黑体" panose="02010609060101010101" pitchFamily="2" charset="-122"/>
              </a:rPr>
              <a:t>的信息</a:t>
            </a:r>
            <a:endParaRPr lang="en-US" altLang="zh-CN" sz="2400" b="1" dirty="0">
              <a:ea typeface="黑体" panose="02010609060101010101" pitchFamily="2" charset="-122"/>
            </a:endParaRPr>
          </a:p>
          <a:p>
            <a:endParaRPr lang="zh-CN" altLang="en-US" sz="2400" b="1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340768"/>
            <a:ext cx="11809312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请使用下面的</a:t>
            </a:r>
            <a:r>
              <a:rPr lang="en-US" altLang="zh-CN" sz="2400" dirty="0" err="1">
                <a:latin typeface="+mn-ea"/>
              </a:rPr>
              <a:t>SDT</a:t>
            </a:r>
            <a:r>
              <a:rPr lang="zh-CN" altLang="en-US" sz="2400" dirty="0">
                <a:latin typeface="+mn-ea"/>
              </a:rPr>
              <a:t>对 </a:t>
            </a:r>
            <a:r>
              <a:rPr lang="en-US" altLang="zh-CN" sz="2400" dirty="0">
                <a:latin typeface="+mn-ea"/>
              </a:rPr>
              <a:t>int x; float[2] y;</a:t>
            </a:r>
            <a:r>
              <a:rPr lang="zh-CN" altLang="en-US" sz="2400" dirty="0">
                <a:latin typeface="+mn-ea"/>
              </a:rPr>
              <a:t>进行自上而下的分析，给出符号表的内容。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07368" y="2132856"/>
          <a:ext cx="11377264" cy="403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7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P→{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offset=0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}D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D→ T id ; {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top.put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id.lexeme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offset);  offset = offset +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 </a:t>
                      </a:r>
                      <a:r>
                        <a:rPr lang="en-US" altLang="zh-CN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D→</a:t>
                      </a:r>
                      <a:r>
                        <a:rPr lang="el-GR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T→ B {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=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w=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 C {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 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B→ int {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int;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4; 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B→ float {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float;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8; 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C→</a:t>
                      </a:r>
                      <a:r>
                        <a:rPr lang="el-GR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l-GR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l-GR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=t;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=w;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 </a:t>
                      </a:r>
                      <a:endParaRPr lang="zh-CN" altLang="en-US" sz="24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C→ [num]</a:t>
                      </a:r>
                      <a:r>
                        <a:rPr lang="en-US" altLang="zh-CN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array(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num.val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C1.type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);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num.val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</a:t>
                      </a:r>
                      <a:r>
                        <a:rPr lang="en-US" altLang="zh-CN" sz="2400" b="1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C1.width</a:t>
                      </a:r>
                      <a:r>
                        <a:rPr lang="en-US" altLang="zh-CN" sz="24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 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表达式和赋值语句的翻译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表达式</a:t>
            </a:r>
            <a:r>
              <a:rPr lang="zh-CN" altLang="en-US" dirty="0">
                <a:solidFill>
                  <a:srgbClr val="FF0000"/>
                </a:solidFill>
              </a:rPr>
              <a:t>和赋值语句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翻译</a:t>
            </a:r>
            <a:r>
              <a:rPr lang="zh-CN" altLang="en-US" dirty="0">
                <a:latin typeface="+mn-ea"/>
              </a:rPr>
              <a:t>的主要任务：生成对表达式求值的三地址码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表达式</a:t>
            </a:r>
            <a:r>
              <a:rPr lang="zh-CN" altLang="en-US" dirty="0"/>
              <a:t>和赋值语句</a:t>
            </a:r>
            <a:r>
              <a:rPr lang="zh-CN" altLang="en-US" dirty="0">
                <a:latin typeface="+mn-ea"/>
              </a:rPr>
              <a:t>的基本文法如下：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2780928"/>
            <a:ext cx="3163209" cy="345638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E136E6-5E65-DBFF-7CB2-F5936F9E5371}"/>
              </a:ext>
            </a:extLst>
          </p:cNvPr>
          <p:cNvSpPr txBox="1"/>
          <p:nvPr/>
        </p:nvSpPr>
        <p:spPr>
          <a:xfrm>
            <a:off x="7392144" y="2636912"/>
            <a:ext cx="3163209" cy="335104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j-ea"/>
                <a:ea typeface="+mj-ea"/>
                <a:cs typeface="Calibri" panose="020F0502020204030204" pitchFamily="34" charset="0"/>
              </a:rPr>
              <a:t>源程序：</a:t>
            </a:r>
            <a:endParaRPr lang="en-US" altLang="zh-CN" sz="2400" b="1" dirty="0">
              <a:latin typeface="+mj-ea"/>
              <a:ea typeface="+mj-ea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j-ea"/>
                <a:ea typeface="+mj-ea"/>
                <a:cs typeface="Calibri" panose="020F0502020204030204" pitchFamily="34" charset="0"/>
              </a:rPr>
              <a:t>	x=(</a:t>
            </a:r>
            <a:r>
              <a:rPr lang="en-US" altLang="zh-CN" sz="2400" b="1" dirty="0" err="1">
                <a:latin typeface="+mj-ea"/>
                <a:ea typeface="+mj-ea"/>
                <a:cs typeface="Calibri" panose="020F0502020204030204" pitchFamily="34" charset="0"/>
              </a:rPr>
              <a:t>a+b</a:t>
            </a:r>
            <a:r>
              <a:rPr lang="en-US" altLang="zh-CN" sz="2400" b="1" dirty="0">
                <a:latin typeface="+mj-ea"/>
                <a:ea typeface="+mj-ea"/>
                <a:cs typeface="Calibri" panose="020F0502020204030204" pitchFamily="34" charset="0"/>
              </a:rPr>
              <a:t>)*c;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j-ea"/>
                <a:ea typeface="+mj-ea"/>
                <a:cs typeface="Calibri" panose="020F0502020204030204" pitchFamily="34" charset="0"/>
              </a:rPr>
              <a:t>三地址码：</a:t>
            </a:r>
            <a:endParaRPr lang="en-US" altLang="zh-CN" sz="2400" b="1" dirty="0">
              <a:latin typeface="+mj-ea"/>
              <a:ea typeface="+mj-ea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j-ea"/>
                <a:ea typeface="+mj-ea"/>
                <a:cs typeface="Calibri" panose="020F0502020204030204" pitchFamily="34" charset="0"/>
              </a:rPr>
              <a:t>	t1=</a:t>
            </a:r>
            <a:r>
              <a:rPr lang="en-US" altLang="zh-CN" sz="2400" b="1" dirty="0" err="1">
                <a:latin typeface="+mj-ea"/>
                <a:ea typeface="+mj-ea"/>
                <a:cs typeface="Calibri" panose="020F0502020204030204" pitchFamily="34" charset="0"/>
              </a:rPr>
              <a:t>a+b</a:t>
            </a:r>
            <a:endParaRPr lang="en-US" altLang="zh-CN" sz="2400" b="1" dirty="0">
              <a:latin typeface="+mj-ea"/>
              <a:ea typeface="+mj-ea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j-ea"/>
                <a:ea typeface="+mj-ea"/>
                <a:cs typeface="Calibri" panose="020F0502020204030204" pitchFamily="34" charset="0"/>
              </a:rPr>
              <a:t>	t2=t1*c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j-ea"/>
                <a:ea typeface="+mj-ea"/>
                <a:cs typeface="Calibri" panose="020F0502020204030204" pitchFamily="34" charset="0"/>
              </a:rPr>
              <a:t>	x=t2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为赋值语句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生成三地址代码的</a:t>
            </a:r>
            <a:r>
              <a:rPr lang="en-US" altLang="zh-CN" dirty="0" err="1">
                <a:latin typeface="+mn-ea"/>
              </a:rPr>
              <a:t>SDD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3024"/>
            <a:ext cx="11521280" cy="5398343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综合属性</a:t>
            </a:r>
            <a:r>
              <a:rPr lang="en-US" altLang="zh-CN" sz="2400" dirty="0" err="1">
                <a:solidFill>
                  <a:srgbClr val="0000CC"/>
                </a:solidFill>
                <a:latin typeface="+mn-ea"/>
              </a:rPr>
              <a:t>S.code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 err="1">
                <a:solidFill>
                  <a:srgbClr val="0000CC"/>
                </a:solidFill>
                <a:latin typeface="+mn-ea"/>
              </a:rPr>
              <a:t>E.code</a:t>
            </a:r>
            <a:r>
              <a:rPr lang="zh-CN" altLang="en-US" sz="2400" dirty="0">
                <a:latin typeface="+mn-ea"/>
              </a:rPr>
              <a:t>分别表示</a:t>
            </a:r>
            <a:r>
              <a:rPr lang="en-US" altLang="zh-CN" sz="2400" dirty="0">
                <a:latin typeface="+mn-ea"/>
              </a:rPr>
              <a:t>S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E</a:t>
            </a:r>
            <a:r>
              <a:rPr lang="zh-CN" altLang="en-US" sz="2400" dirty="0">
                <a:latin typeface="+mn-ea"/>
              </a:rPr>
              <a:t>对应的三地址代码。综合属性</a:t>
            </a:r>
            <a:r>
              <a:rPr lang="en-US" altLang="zh-CN" sz="2400" dirty="0" err="1">
                <a:solidFill>
                  <a:srgbClr val="0000CC"/>
                </a:solidFill>
                <a:latin typeface="+mn-ea"/>
              </a:rPr>
              <a:t>E.addr</a:t>
            </a:r>
            <a:r>
              <a:rPr lang="zh-CN" altLang="en-US" sz="2400" dirty="0">
                <a:latin typeface="+mn-ea"/>
              </a:rPr>
              <a:t>则表示存放</a:t>
            </a:r>
            <a:r>
              <a:rPr lang="en-US" altLang="zh-CN" sz="2400" dirty="0">
                <a:latin typeface="+mn-ea"/>
              </a:rPr>
              <a:t>E</a:t>
            </a:r>
            <a:r>
              <a:rPr lang="zh-CN" altLang="en-US" sz="2400" dirty="0">
                <a:latin typeface="+mn-ea"/>
              </a:rPr>
              <a:t>的值的地址。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1"/>
          <a:stretch>
            <a:fillRect/>
          </a:stretch>
        </p:blipFill>
        <p:spPr bwMode="auto">
          <a:xfrm>
            <a:off x="1203714" y="2086652"/>
            <a:ext cx="6678285" cy="4582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对话气泡: 圆角矩形 7"/>
          <p:cNvSpPr/>
          <p:nvPr/>
        </p:nvSpPr>
        <p:spPr bwMode="auto">
          <a:xfrm>
            <a:off x="8040215" y="4846976"/>
            <a:ext cx="2226369" cy="720080"/>
          </a:xfrm>
          <a:prstGeom prst="wedgeRoundRectCallout">
            <a:avLst>
              <a:gd name="adj1" fmla="val -78917"/>
              <a:gd name="adj2" fmla="val -30922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b="1" dirty="0">
                <a:ea typeface="黑体" panose="02010609060101010101" pitchFamily="2" charset="-122"/>
              </a:rPr>
              <a:t>gen(code)</a:t>
            </a:r>
            <a:r>
              <a:rPr lang="zh-CN" altLang="en-US" b="1" dirty="0">
                <a:ea typeface="黑体" panose="02010609060101010101" pitchFamily="2" charset="-122"/>
              </a:rPr>
              <a:t>：生成三地址指令</a:t>
            </a:r>
            <a:r>
              <a:rPr lang="en-US" altLang="zh-CN" b="1" dirty="0">
                <a:ea typeface="黑体" panose="02010609060101010101" pitchFamily="2" charset="-122"/>
              </a:rPr>
              <a:t>code</a:t>
            </a:r>
          </a:p>
          <a:p>
            <a:endParaRPr lang="zh-CN" altLang="en-US" b="1" dirty="0">
              <a:ea typeface="黑体" panose="02010609060101010101" pitchFamily="2" charset="-122"/>
            </a:endParaRPr>
          </a:p>
        </p:txBody>
      </p:sp>
      <p:sp>
        <p:nvSpPr>
          <p:cNvPr id="9" name="对话气泡: 圆角矩形 8"/>
          <p:cNvSpPr/>
          <p:nvPr/>
        </p:nvSpPr>
        <p:spPr bwMode="auto">
          <a:xfrm>
            <a:off x="8040216" y="3568208"/>
            <a:ext cx="2226369" cy="973083"/>
          </a:xfrm>
          <a:prstGeom prst="wedgeRoundRectCallout">
            <a:avLst>
              <a:gd name="adj1" fmla="val -169283"/>
              <a:gd name="adj2" fmla="val 45608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b="1" dirty="0">
                <a:ea typeface="黑体" panose="02010609060101010101" pitchFamily="2" charset="-122"/>
              </a:rPr>
              <a:t>new Temp( )</a:t>
            </a:r>
            <a:r>
              <a:rPr lang="zh-CN" altLang="en-US" b="1" dirty="0">
                <a:ea typeface="黑体" panose="02010609060101010101" pitchFamily="2" charset="-122"/>
              </a:rPr>
              <a:t>：生成一个新的临时变量</a:t>
            </a:r>
            <a:r>
              <a:rPr lang="en-US" altLang="zh-CN" b="1" dirty="0">
                <a:ea typeface="黑体" panose="02010609060101010101" pitchFamily="2" charset="-122"/>
              </a:rPr>
              <a:t>t</a:t>
            </a:r>
            <a:r>
              <a:rPr lang="zh-CN" altLang="en-US" b="1" dirty="0">
                <a:ea typeface="黑体" panose="02010609060101010101" pitchFamily="2" charset="-122"/>
              </a:rPr>
              <a:t>， 返回</a:t>
            </a:r>
            <a:r>
              <a:rPr lang="en-US" altLang="zh-CN" b="1" dirty="0">
                <a:ea typeface="黑体" panose="02010609060101010101" pitchFamily="2" charset="-122"/>
              </a:rPr>
              <a:t>t</a:t>
            </a:r>
            <a:r>
              <a:rPr lang="zh-CN" altLang="en-US" b="1" dirty="0">
                <a:ea typeface="黑体" panose="02010609060101010101" pitchFamily="2" charset="-122"/>
              </a:rPr>
              <a:t>的地址 </a:t>
            </a:r>
          </a:p>
        </p:txBody>
      </p:sp>
      <p:sp>
        <p:nvSpPr>
          <p:cNvPr id="13" name="对话气泡: 圆角矩形 12"/>
          <p:cNvSpPr/>
          <p:nvPr/>
        </p:nvSpPr>
        <p:spPr bwMode="auto">
          <a:xfrm>
            <a:off x="8040216" y="5854209"/>
            <a:ext cx="2226369" cy="720080"/>
          </a:xfrm>
          <a:prstGeom prst="wedgeRoundRectCallout">
            <a:avLst>
              <a:gd name="adj1" fmla="val -153343"/>
              <a:gd name="adj2" fmla="val 57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b="1" dirty="0" err="1">
                <a:ea typeface="黑体" panose="02010609060101010101" pitchFamily="2" charset="-122"/>
              </a:rPr>
              <a:t>top.get</a:t>
            </a:r>
            <a:r>
              <a:rPr lang="zh-CN" altLang="en-US" b="1" dirty="0">
                <a:ea typeface="黑体" panose="02010609060101010101" pitchFamily="2" charset="-122"/>
              </a:rPr>
              <a:t>：从符号表获取</a:t>
            </a:r>
            <a:r>
              <a:rPr lang="en-US" altLang="zh-CN" b="1" dirty="0">
                <a:ea typeface="黑体" panose="02010609060101010101" pitchFamily="2" charset="-122"/>
              </a:rPr>
              <a:t>id</a:t>
            </a:r>
            <a:r>
              <a:rPr lang="zh-CN" altLang="en-US" b="1" dirty="0">
                <a:ea typeface="黑体" panose="02010609060101010101" pitchFamily="2" charset="-122"/>
              </a:rPr>
              <a:t>的信息</a:t>
            </a:r>
            <a:endParaRPr lang="en-US" altLang="zh-CN" b="1" dirty="0">
              <a:ea typeface="黑体" panose="02010609060101010101" pitchFamily="2" charset="-122"/>
            </a:endParaRPr>
          </a:p>
          <a:p>
            <a:endParaRPr lang="zh-CN" altLang="en-US" b="1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请用前面的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将赋值语句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a=b+-c;</a:t>
            </a:r>
            <a:r>
              <a:rPr lang="zh-CN" altLang="en-US" sz="2400" dirty="0">
                <a:latin typeface="+mn-ea"/>
              </a:rPr>
              <a:t>编译成三地址代码。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1"/>
          <a:stretch>
            <a:fillRect/>
          </a:stretch>
        </p:blipFill>
        <p:spPr bwMode="auto">
          <a:xfrm>
            <a:off x="1153326" y="1916832"/>
            <a:ext cx="5995320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8092242" y="2492896"/>
            <a:ext cx="2609930" cy="163121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S=&gt;id = </a:t>
            </a:r>
            <a:r>
              <a:rPr lang="en-US" altLang="zh-CN" sz="2000" b="1" dirty="0" err="1">
                <a:latin typeface="+mn-ea"/>
              </a:rPr>
              <a:t>E0</a:t>
            </a:r>
            <a:r>
              <a:rPr lang="en-US" altLang="zh-CN" sz="2000" b="1" dirty="0">
                <a:latin typeface="+mn-ea"/>
              </a:rPr>
              <a:t> 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+ </a:t>
            </a:r>
            <a:r>
              <a:rPr lang="en-US" altLang="zh-CN" sz="2000" b="1" dirty="0" err="1">
                <a:latin typeface="+mn-ea"/>
              </a:rPr>
              <a:t>E2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</a:t>
            </a:r>
            <a:r>
              <a:rPr lang="en-US" altLang="zh-CN" sz="2000" b="1" dirty="0" err="1">
                <a:latin typeface="+mn-ea"/>
              </a:rPr>
              <a:t>E3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-id;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id</a:t>
            </a:r>
            <a:r>
              <a:rPr lang="en-US" altLang="zh-CN" sz="2000" b="1" dirty="0">
                <a:latin typeface="+mn-ea"/>
              </a:rPr>
              <a:t> + -id;</a:t>
            </a:r>
          </a:p>
        </p:txBody>
      </p:sp>
      <p:sp>
        <p:nvSpPr>
          <p:cNvPr id="12" name="矩形 11"/>
          <p:cNvSpPr/>
          <p:nvPr/>
        </p:nvSpPr>
        <p:spPr>
          <a:xfrm>
            <a:off x="8080531" y="4324137"/>
            <a:ext cx="2609930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dirty="0" err="1">
                <a:latin typeface="+mn-ea"/>
              </a:rPr>
              <a:t>→</a:t>
            </a:r>
            <a:r>
              <a:rPr lang="en-US" altLang="zh-CN" sz="2000" b="1" dirty="0" err="1">
                <a:latin typeface="+mn-ea"/>
              </a:rPr>
              <a:t>id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080531" y="4961464"/>
            <a:ext cx="2609930" cy="707886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E1.addr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addr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(b)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E1.code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‘’</a:t>
            </a:r>
          </a:p>
        </p:txBody>
      </p:sp>
      <p:sp>
        <p:nvSpPr>
          <p:cNvPr id="16" name="矩形: 圆角 15"/>
          <p:cNvSpPr/>
          <p:nvPr/>
        </p:nvSpPr>
        <p:spPr bwMode="auto">
          <a:xfrm>
            <a:off x="1559496" y="5734224"/>
            <a:ext cx="3960440" cy="54433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1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请用前面的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将赋值语句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a=b+-c;</a:t>
            </a:r>
            <a:r>
              <a:rPr lang="zh-CN" altLang="en-US" sz="2400" dirty="0">
                <a:latin typeface="+mn-ea"/>
              </a:rPr>
              <a:t>编译成三地址代码。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1"/>
          <a:stretch>
            <a:fillRect/>
          </a:stretch>
        </p:blipFill>
        <p:spPr bwMode="auto">
          <a:xfrm>
            <a:off x="1139465" y="1988840"/>
            <a:ext cx="5801923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8112224" y="2420888"/>
            <a:ext cx="2609930" cy="163121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S=&gt;id = </a:t>
            </a:r>
            <a:r>
              <a:rPr lang="en-US" altLang="zh-CN" sz="2000" b="1" dirty="0" err="1">
                <a:latin typeface="+mn-ea"/>
              </a:rPr>
              <a:t>E0</a:t>
            </a:r>
            <a:r>
              <a:rPr lang="en-US" altLang="zh-CN" sz="2000" b="1" dirty="0">
                <a:latin typeface="+mn-ea"/>
              </a:rPr>
              <a:t> 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+ </a:t>
            </a:r>
            <a:r>
              <a:rPr lang="en-US" altLang="zh-CN" sz="2000" b="1" dirty="0" err="1">
                <a:latin typeface="+mn-ea"/>
              </a:rPr>
              <a:t>E2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E3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id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id + -id;</a:t>
            </a:r>
          </a:p>
        </p:txBody>
      </p:sp>
      <p:sp>
        <p:nvSpPr>
          <p:cNvPr id="12" name="矩形 11"/>
          <p:cNvSpPr/>
          <p:nvPr/>
        </p:nvSpPr>
        <p:spPr>
          <a:xfrm>
            <a:off x="8124784" y="4305208"/>
            <a:ext cx="2609930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E3</a:t>
            </a:r>
            <a:r>
              <a:rPr lang="en-US" altLang="zh-CN" sz="2000" dirty="0" err="1">
                <a:latin typeface="+mn-ea"/>
              </a:rPr>
              <a:t>→</a:t>
            </a:r>
            <a:r>
              <a:rPr lang="en-US" altLang="zh-CN" sz="2000" b="1" dirty="0" err="1">
                <a:latin typeface="+mn-ea"/>
              </a:rPr>
              <a:t>id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8" name="矩形: 圆角 7"/>
          <p:cNvSpPr/>
          <p:nvPr/>
        </p:nvSpPr>
        <p:spPr bwMode="auto">
          <a:xfrm>
            <a:off x="1559496" y="5666293"/>
            <a:ext cx="3816424" cy="61226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116652" y="4974215"/>
            <a:ext cx="2626195" cy="707886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E3.addr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addr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(c)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E3.code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‘’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请用前面的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将赋值语句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a=b+-c;</a:t>
            </a:r>
            <a:r>
              <a:rPr lang="zh-CN" altLang="en-US" sz="2400" dirty="0">
                <a:latin typeface="+mn-ea"/>
              </a:rPr>
              <a:t>编译成三地址代码。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1"/>
          <a:stretch>
            <a:fillRect/>
          </a:stretch>
        </p:blipFill>
        <p:spPr bwMode="auto">
          <a:xfrm>
            <a:off x="1053376" y="1988840"/>
            <a:ext cx="5801923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8598638" y="1602492"/>
            <a:ext cx="2609930" cy="163121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S=&gt;id = </a:t>
            </a:r>
            <a:r>
              <a:rPr lang="en-US" altLang="zh-CN" sz="2000" b="1" dirty="0" err="1">
                <a:latin typeface="+mn-ea"/>
              </a:rPr>
              <a:t>E0</a:t>
            </a:r>
            <a:r>
              <a:rPr lang="en-US" altLang="zh-CN" sz="2000" b="1" dirty="0">
                <a:latin typeface="+mn-ea"/>
              </a:rPr>
              <a:t> 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+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E2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E3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-id;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id + -id;</a:t>
            </a:r>
          </a:p>
        </p:txBody>
      </p:sp>
      <p:sp>
        <p:nvSpPr>
          <p:cNvPr id="12" name="矩形 11"/>
          <p:cNvSpPr/>
          <p:nvPr/>
        </p:nvSpPr>
        <p:spPr>
          <a:xfrm>
            <a:off x="8586078" y="3428098"/>
            <a:ext cx="2609930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E2</a:t>
            </a:r>
            <a:r>
              <a:rPr lang="en-US" altLang="zh-CN" sz="2000" dirty="0">
                <a:latin typeface="+mn-ea"/>
              </a:rPr>
              <a:t>→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en-US" altLang="zh-CN" sz="2000" b="1" dirty="0" err="1">
                <a:latin typeface="+mn-ea"/>
              </a:rPr>
              <a:t>E3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8" name="矩形: 圆角 7"/>
          <p:cNvSpPr/>
          <p:nvPr/>
        </p:nvSpPr>
        <p:spPr bwMode="auto">
          <a:xfrm>
            <a:off x="1383248" y="4049170"/>
            <a:ext cx="5216808" cy="89199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86078" y="4156337"/>
            <a:ext cx="2616210" cy="707886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E3.addr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addr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(c)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E3.code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‘’</a:t>
            </a:r>
          </a:p>
        </p:txBody>
      </p:sp>
      <p:sp>
        <p:nvSpPr>
          <p:cNvPr id="13" name="矩形 12"/>
          <p:cNvSpPr/>
          <p:nvPr/>
        </p:nvSpPr>
        <p:spPr>
          <a:xfrm>
            <a:off x="5231904" y="5117412"/>
            <a:ext cx="5973570" cy="1015663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E2.addr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E2.code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latin typeface="+mn-ea"/>
              </a:rPr>
              <a:t>E3.code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E2.addr</a:t>
            </a:r>
            <a:r>
              <a:rPr lang="en-US" altLang="zh-CN" sz="2000" b="1" dirty="0">
                <a:latin typeface="+mn-ea"/>
              </a:rPr>
              <a:t> = minus </a:t>
            </a:r>
            <a:r>
              <a:rPr lang="en-US" altLang="zh-CN" sz="2000" b="1" dirty="0" err="1">
                <a:latin typeface="+mn-ea"/>
              </a:rPr>
              <a:t>E3.addr</a:t>
            </a:r>
            <a:r>
              <a:rPr lang="en-US" altLang="zh-CN" sz="2000" b="1" dirty="0">
                <a:latin typeface="+mn-ea"/>
              </a:rPr>
              <a:t>  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= minus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1" grpId="0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3025"/>
            <a:ext cx="11449272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请用前面的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将赋值语句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a=b+-c;</a:t>
            </a:r>
            <a:r>
              <a:rPr lang="zh-CN" altLang="en-US" sz="2400" dirty="0">
                <a:latin typeface="+mn-ea"/>
              </a:rPr>
              <a:t>编译成三地址代码。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1"/>
          <a:stretch>
            <a:fillRect/>
          </a:stretch>
        </p:blipFill>
        <p:spPr bwMode="auto">
          <a:xfrm>
            <a:off x="1055440" y="1914008"/>
            <a:ext cx="5999115" cy="4467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8598637" y="685990"/>
            <a:ext cx="3113985" cy="163121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S=&gt;id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E0</a:t>
            </a:r>
            <a:r>
              <a:rPr lang="en-US" altLang="zh-CN" sz="2000" b="1" dirty="0">
                <a:latin typeface="+mn-ea"/>
              </a:rPr>
              <a:t> 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+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E2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</a:t>
            </a:r>
            <a:r>
              <a:rPr lang="en-US" altLang="zh-CN" sz="2000" b="1" dirty="0" err="1">
                <a:latin typeface="+mn-ea"/>
              </a:rPr>
              <a:t>E3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-id;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id + -id;</a:t>
            </a:r>
          </a:p>
        </p:txBody>
      </p:sp>
      <p:sp>
        <p:nvSpPr>
          <p:cNvPr id="12" name="矩形 11"/>
          <p:cNvSpPr/>
          <p:nvPr/>
        </p:nvSpPr>
        <p:spPr>
          <a:xfrm>
            <a:off x="8590504" y="2486190"/>
            <a:ext cx="3122118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E0</a:t>
            </a:r>
            <a:r>
              <a:rPr lang="en-US" altLang="zh-CN" sz="2000" dirty="0" err="1">
                <a:latin typeface="+mn-ea"/>
              </a:rPr>
              <a:t>→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</a:t>
            </a:r>
            <a:r>
              <a:rPr lang="en-US" altLang="zh-CN" sz="2000" b="1" dirty="0" err="1">
                <a:latin typeface="+mn-ea"/>
              </a:rPr>
              <a:t>E2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8" name="矩形: 圆角 7"/>
          <p:cNvSpPr/>
          <p:nvPr/>
        </p:nvSpPr>
        <p:spPr bwMode="auto">
          <a:xfrm>
            <a:off x="1199456" y="3096760"/>
            <a:ext cx="5999115" cy="81329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98637" y="4509120"/>
            <a:ext cx="312211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E0.addr</a:t>
            </a: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90503" y="3068960"/>
            <a:ext cx="3122119" cy="1323439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E2.addr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t1</a:t>
            </a:r>
            <a:endParaRPr lang="en-US" altLang="zh-CN" sz="2000" b="1" dirty="0">
              <a:solidFill>
                <a:srgbClr val="0000FF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E2.code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t1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= minus c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E1.addr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addr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(b)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E1.code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‘’</a:t>
            </a:r>
          </a:p>
        </p:txBody>
      </p:sp>
      <p:sp>
        <p:nvSpPr>
          <p:cNvPr id="14" name="矩形 13"/>
          <p:cNvSpPr/>
          <p:nvPr/>
        </p:nvSpPr>
        <p:spPr>
          <a:xfrm>
            <a:off x="5087889" y="5066193"/>
            <a:ext cx="6624734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E0.code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=</a:t>
            </a:r>
            <a:r>
              <a:rPr lang="en-US" altLang="zh-CN" sz="2000" b="1" dirty="0" err="1">
                <a:latin typeface="+mn-ea"/>
              </a:rPr>
              <a:t>E1.code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E2.code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E0.addr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latin typeface="+mn-ea"/>
              </a:rPr>
              <a:t>E1.addr</a:t>
            </a:r>
            <a:r>
              <a:rPr lang="en-US" altLang="zh-CN" sz="2000" b="1" dirty="0">
                <a:latin typeface="+mn-ea"/>
              </a:rPr>
              <a:t> + </a:t>
            </a:r>
            <a:r>
              <a:rPr lang="en-US" altLang="zh-CN" sz="2000" b="1" dirty="0" err="1">
                <a:latin typeface="+mn-ea"/>
              </a:rPr>
              <a:t>E2.addr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= minus c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t2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= b +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3" grpId="0" animBg="1"/>
      <p:bldP spid="11" grpId="0" animBg="1"/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7" y="1343025"/>
            <a:ext cx="11449269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请用前面的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将赋值语句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a=b+-c;</a:t>
            </a:r>
            <a:r>
              <a:rPr lang="zh-CN" altLang="en-US" sz="2400" dirty="0">
                <a:latin typeface="+mn-ea"/>
              </a:rPr>
              <a:t>编译成三地址代码。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1"/>
          <a:stretch>
            <a:fillRect/>
          </a:stretch>
        </p:blipFill>
        <p:spPr bwMode="auto">
          <a:xfrm>
            <a:off x="1064555" y="2570618"/>
            <a:ext cx="5221731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8526632" y="1484784"/>
            <a:ext cx="3113985" cy="163121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2000" b="1" dirty="0">
                <a:latin typeface="+mn-ea"/>
              </a:rPr>
              <a:t>=&gt;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id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E0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+ </a:t>
            </a:r>
            <a:r>
              <a:rPr lang="en-US" altLang="zh-CN" sz="2000" b="1" dirty="0" err="1">
                <a:latin typeface="+mn-ea"/>
              </a:rPr>
              <a:t>E2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</a:t>
            </a:r>
            <a:r>
              <a:rPr lang="en-US" altLang="zh-CN" sz="2000" b="1" dirty="0" err="1">
                <a:latin typeface="+mn-ea"/>
              </a:rPr>
              <a:t>E3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-id;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id + -id;</a:t>
            </a:r>
          </a:p>
        </p:txBody>
      </p:sp>
      <p:sp>
        <p:nvSpPr>
          <p:cNvPr id="12" name="矩形 11"/>
          <p:cNvSpPr/>
          <p:nvPr/>
        </p:nvSpPr>
        <p:spPr>
          <a:xfrm>
            <a:off x="8518499" y="3284984"/>
            <a:ext cx="3122118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</a:t>
            </a:r>
            <a:r>
              <a:rPr lang="en-US" altLang="zh-CN" sz="2000" dirty="0" err="1">
                <a:latin typeface="+mn-ea"/>
              </a:rPr>
              <a:t>→</a:t>
            </a:r>
            <a:r>
              <a:rPr lang="en-US" altLang="zh-CN" sz="2000" b="1" dirty="0" err="1">
                <a:latin typeface="+mn-ea"/>
              </a:rPr>
              <a:t>id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latin typeface="+mn-ea"/>
              </a:rPr>
              <a:t>E0</a:t>
            </a:r>
            <a:r>
              <a:rPr lang="en-US" altLang="zh-CN" sz="2000" b="1" dirty="0">
                <a:latin typeface="+mn-ea"/>
              </a:rPr>
              <a:t> ;</a:t>
            </a:r>
          </a:p>
        </p:txBody>
      </p:sp>
      <p:sp>
        <p:nvSpPr>
          <p:cNvPr id="8" name="矩形: 圆角 7"/>
          <p:cNvSpPr/>
          <p:nvPr/>
        </p:nvSpPr>
        <p:spPr bwMode="auto">
          <a:xfrm>
            <a:off x="1124003" y="2930659"/>
            <a:ext cx="5012573" cy="57606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18500" y="3873243"/>
            <a:ext cx="3122119" cy="1015663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E0.addr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t2</a:t>
            </a:r>
            <a:endParaRPr lang="en-US" altLang="zh-CN" sz="2000" b="1" dirty="0">
              <a:solidFill>
                <a:srgbClr val="0000FF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E0.code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t1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= minus c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 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t2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= b +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t1</a:t>
            </a:r>
            <a:endParaRPr lang="en-US" altLang="zh-CN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20136" y="5057889"/>
            <a:ext cx="4320480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latin typeface="+mn-ea"/>
              </a:rPr>
              <a:t>E0.code</a:t>
            </a:r>
            <a:r>
              <a:rPr lang="en-US" altLang="zh-CN" sz="2000" b="1" dirty="0">
                <a:latin typeface="+mn-ea"/>
              </a:rPr>
              <a:t> || a = </a:t>
            </a:r>
            <a:r>
              <a:rPr lang="en-US" altLang="zh-CN" sz="2000" b="1" dirty="0" err="1">
                <a:latin typeface="+mn-ea"/>
              </a:rPr>
              <a:t>E0.addr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= minus c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t2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= b +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a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1" grpId="0" animBg="1"/>
      <p:bldP spid="1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请用下面的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将赋值语句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a=(-b)+c</a:t>
            </a:r>
            <a:r>
              <a:rPr lang="zh-CN" altLang="en-US" sz="2400" dirty="0">
                <a:solidFill>
                  <a:srgbClr val="0000CC"/>
                </a:solidFill>
                <a:latin typeface="+mn-ea"/>
              </a:rPr>
              <a:t>；</a:t>
            </a:r>
            <a:r>
              <a:rPr lang="zh-CN" altLang="en-US" sz="2400" dirty="0">
                <a:latin typeface="+mn-ea"/>
              </a:rPr>
              <a:t>编译成三地址代码。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1"/>
          <a:stretch>
            <a:fillRect/>
          </a:stretch>
        </p:blipFill>
        <p:spPr bwMode="auto">
          <a:xfrm>
            <a:off x="2567608" y="1988840"/>
            <a:ext cx="5904656" cy="4396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请用下面的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将赋值语句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a=(-b)+c</a:t>
            </a:r>
            <a:r>
              <a:rPr lang="zh-CN" altLang="en-US" sz="2400" dirty="0">
                <a:solidFill>
                  <a:srgbClr val="0000CC"/>
                </a:solidFill>
                <a:latin typeface="+mn-ea"/>
              </a:rPr>
              <a:t>；</a:t>
            </a:r>
            <a:r>
              <a:rPr lang="zh-CN" altLang="en-US" sz="2400" dirty="0">
                <a:latin typeface="+mn-ea"/>
              </a:rPr>
              <a:t>编译成三地址代码。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1"/>
          <a:stretch>
            <a:fillRect/>
          </a:stretch>
        </p:blipFill>
        <p:spPr bwMode="auto">
          <a:xfrm>
            <a:off x="1810679" y="2157448"/>
            <a:ext cx="5221731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7464152" y="4437112"/>
            <a:ext cx="3515832" cy="1477328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E3.code</a:t>
            </a:r>
            <a:r>
              <a:rPr lang="zh-CN" altLang="en-US" sz="2000" b="1" dirty="0">
                <a:latin typeface="+mn-ea"/>
                <a:ea typeface="+mn-ea"/>
              </a:rPr>
              <a:t>添加</a:t>
            </a:r>
            <a:r>
              <a:rPr lang="en-US" altLang="zh-CN" sz="2000" b="1" dirty="0">
                <a:latin typeface="+mn-ea"/>
              </a:rPr>
              <a:t>  :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=minus b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E0.code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添加  </a:t>
            </a:r>
            <a:r>
              <a:rPr lang="en-US" altLang="zh-CN" sz="2000" b="1" dirty="0">
                <a:latin typeface="+mn-ea"/>
              </a:rPr>
              <a:t>: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t2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t1+c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S.code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添加    </a:t>
            </a:r>
            <a:r>
              <a:rPr lang="en-US" altLang="zh-CN" sz="2000" b="1" dirty="0">
                <a:latin typeface="+mn-ea"/>
              </a:rPr>
              <a:t>: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a=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t2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65692" y="2254179"/>
            <a:ext cx="2609930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S=&gt;id = </a:t>
            </a:r>
            <a:r>
              <a:rPr lang="en-US" altLang="zh-CN" sz="2000" b="1" dirty="0" err="1">
                <a:latin typeface="+mn-ea"/>
              </a:rPr>
              <a:t>E0</a:t>
            </a:r>
            <a:r>
              <a:rPr lang="en-US" altLang="zh-CN" sz="2000" b="1" dirty="0">
                <a:latin typeface="+mn-ea"/>
              </a:rPr>
              <a:t> 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</a:t>
            </a:r>
            <a:r>
              <a:rPr lang="en-US" altLang="zh-CN" sz="2000" b="1" dirty="0" err="1">
                <a:latin typeface="+mn-ea"/>
              </a:rPr>
              <a:t>E2</a:t>
            </a:r>
            <a:r>
              <a:rPr lang="en-US" altLang="zh-CN" sz="2000" b="1" dirty="0">
                <a:latin typeface="+mn-ea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+ id;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(</a:t>
            </a:r>
            <a:r>
              <a:rPr lang="en-US" altLang="zh-CN" sz="2000" b="1" dirty="0" err="1">
                <a:latin typeface="+mn-ea"/>
              </a:rPr>
              <a:t>E3</a:t>
            </a:r>
            <a:r>
              <a:rPr lang="en-US" altLang="zh-CN" sz="2000" b="1" dirty="0">
                <a:latin typeface="+mn-ea"/>
              </a:rPr>
              <a:t>) + id;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(-</a:t>
            </a:r>
            <a:r>
              <a:rPr lang="en-US" altLang="zh-CN" sz="2000" b="1" dirty="0" err="1">
                <a:latin typeface="+mn-ea"/>
              </a:rPr>
              <a:t>E4</a:t>
            </a:r>
            <a:r>
              <a:rPr lang="en-US" altLang="zh-CN" sz="2000" b="1" dirty="0">
                <a:latin typeface="+mn-ea"/>
              </a:rPr>
              <a:t>) + id;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=&gt;id = (-id) + id;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类型检查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43024"/>
            <a:ext cx="11593288" cy="5182319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类型检查有两种形式：综合和推导。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类型综合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(type synthesis)</a:t>
            </a:r>
            <a:r>
              <a:rPr lang="zh-CN" altLang="en-US" dirty="0">
                <a:latin typeface="+mn-ea"/>
              </a:rPr>
              <a:t>根据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子表达式</a:t>
            </a:r>
            <a:r>
              <a:rPr lang="zh-CN" altLang="en-US" dirty="0">
                <a:latin typeface="+mn-ea"/>
              </a:rPr>
              <a:t>的类型构造出表达式的类型。它要求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名字先声明再使用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表达式</a:t>
            </a:r>
            <a:r>
              <a:rPr lang="en-US" altLang="zh-CN" dirty="0" err="1">
                <a:latin typeface="+mn-ea"/>
              </a:rPr>
              <a:t>E1+E2</a:t>
            </a:r>
            <a:r>
              <a:rPr lang="zh-CN" altLang="en-US" dirty="0">
                <a:latin typeface="+mn-ea"/>
              </a:rPr>
              <a:t>的类型是根据</a:t>
            </a:r>
            <a:r>
              <a:rPr lang="en-US" altLang="zh-CN" dirty="0" err="1">
                <a:latin typeface="+mn-ea"/>
              </a:rPr>
              <a:t>E1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 err="1">
                <a:latin typeface="+mn-ea"/>
              </a:rPr>
              <a:t>E2</a:t>
            </a:r>
            <a:r>
              <a:rPr lang="zh-CN" altLang="en-US" dirty="0">
                <a:latin typeface="+mn-ea"/>
              </a:rPr>
              <a:t>的类型定义的。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类型推导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(type inference)</a:t>
            </a:r>
            <a:r>
              <a:rPr lang="zh-CN" altLang="en-US" dirty="0">
                <a:latin typeface="+mn-ea"/>
              </a:rPr>
              <a:t>根据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一个语言结构的使用</a:t>
            </a:r>
            <a:r>
              <a:rPr lang="zh-CN" altLang="en-US" dirty="0">
                <a:latin typeface="+mn-ea"/>
              </a:rPr>
              <a:t>来确定该结构的类型。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令</a:t>
            </a:r>
            <a:r>
              <a:rPr lang="en-US" altLang="zh-CN" dirty="0">
                <a:latin typeface="+mn-ea"/>
              </a:rPr>
              <a:t>null</a:t>
            </a:r>
            <a:r>
              <a:rPr lang="zh-CN" altLang="en-US" dirty="0">
                <a:latin typeface="+mn-ea"/>
              </a:rPr>
              <a:t>是一个测试列表是否为空的函数，那么根据函数的使用</a:t>
            </a:r>
            <a:r>
              <a:rPr lang="en-US" altLang="zh-CN" dirty="0">
                <a:latin typeface="+mn-ea"/>
              </a:rPr>
              <a:t>null(x)</a:t>
            </a:r>
            <a:r>
              <a:rPr lang="zh-CN" altLang="en-US" dirty="0">
                <a:latin typeface="+mn-ea"/>
              </a:rPr>
              <a:t>，我们可以指出</a:t>
            </a:r>
            <a:r>
              <a:rPr lang="en-US" altLang="zh-CN" dirty="0">
                <a:latin typeface="+mn-ea"/>
              </a:rPr>
              <a:t>x</a:t>
            </a:r>
            <a:r>
              <a:rPr lang="zh-CN" altLang="en-US" dirty="0">
                <a:latin typeface="+mn-ea"/>
              </a:rPr>
              <a:t>必须是一个列表类型。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类型转换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考虑类似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x+i</a:t>
            </a:r>
            <a:r>
              <a:rPr lang="zh-CN" altLang="en-US" dirty="0">
                <a:latin typeface="+mn-ea"/>
              </a:rPr>
              <a:t>的表达式，假设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是浮点数而</a:t>
            </a:r>
            <a:r>
              <a:rPr lang="en-US" altLang="zh-CN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是整型</a:t>
            </a:r>
            <a:r>
              <a:rPr lang="zh-CN" altLang="en-US" dirty="0">
                <a:latin typeface="+mn-ea"/>
              </a:rPr>
              <a:t>。为了保证运算正常进行，编译器需要把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的某个运算数进行类型转换。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例如</a:t>
            </a:r>
            <a:r>
              <a:rPr lang="en-US" altLang="zh-CN" dirty="0" err="1">
                <a:solidFill>
                  <a:srgbClr val="FF0000"/>
                </a:solidFill>
                <a:latin typeface="+mn-ea"/>
              </a:rPr>
              <a:t>E→E1+E2</a:t>
            </a:r>
            <a:r>
              <a:rPr lang="zh-CN" altLang="en-US" dirty="0">
                <a:latin typeface="+mn-ea"/>
              </a:rPr>
              <a:t>的相关规则可以用如下伪代码给出：</a:t>
            </a:r>
            <a:endParaRPr lang="en-US" altLang="zh-CN" dirty="0">
              <a:latin typeface="+mn-ea"/>
            </a:endParaRP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if (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E1.type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= int and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E2.type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= int)</a:t>
            </a: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	    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E.type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= int;</a:t>
            </a: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else if (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E1.type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= float and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E2.type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= int)</a:t>
            </a: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       ……</a:t>
            </a:r>
          </a:p>
          <a:p>
            <a:pPr marL="8001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类型转换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不同的语言具有不同的类型转换规则。下面给出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拓宽转换</a:t>
            </a:r>
            <a:r>
              <a:rPr lang="zh-CN" altLang="en-US" dirty="0">
                <a:latin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窄化转换</a:t>
            </a:r>
            <a:r>
              <a:rPr lang="zh-CN" altLang="en-US" dirty="0">
                <a:latin typeface="+mn-ea"/>
              </a:rPr>
              <a:t>。拓宽转换可以保持信息，窄化转换则可能丢失信息。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58"/>
          <a:stretch>
            <a:fillRect/>
          </a:stretch>
        </p:blipFill>
        <p:spPr bwMode="auto">
          <a:xfrm>
            <a:off x="3022327" y="2708920"/>
            <a:ext cx="6045746" cy="3472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79376" y="1268760"/>
            <a:ext cx="11305256" cy="532859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</a:pPr>
            <a:endParaRPr lang="en-US" altLang="zh-CN" sz="2000" b="1" dirty="0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>
                <a:latin typeface="+mn-ea"/>
              </a:rPr>
              <a:t>拓宽函数的使用</a:t>
            </a:r>
            <a:endParaRPr lang="en-US" altLang="zh-CN" dirty="0">
              <a:latin typeface="+mn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00"/>
          <a:stretch>
            <a:fillRect/>
          </a:stretch>
        </p:blipFill>
        <p:spPr bwMode="auto">
          <a:xfrm>
            <a:off x="695400" y="1412776"/>
            <a:ext cx="5306187" cy="2872433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75"/>
          <a:stretch>
            <a:fillRect/>
          </a:stretch>
        </p:blipFill>
        <p:spPr bwMode="auto">
          <a:xfrm>
            <a:off x="3287688" y="4424394"/>
            <a:ext cx="8280920" cy="1956933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: 圆角 7"/>
          <p:cNvSpPr/>
          <p:nvPr/>
        </p:nvSpPr>
        <p:spPr bwMode="auto">
          <a:xfrm>
            <a:off x="2257171" y="2348881"/>
            <a:ext cx="3096344" cy="72008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" name="对话气泡: 圆角矩形 8"/>
          <p:cNvSpPr/>
          <p:nvPr/>
        </p:nvSpPr>
        <p:spPr bwMode="auto">
          <a:xfrm>
            <a:off x="8544272" y="3140968"/>
            <a:ext cx="2733328" cy="792088"/>
          </a:xfrm>
          <a:prstGeom prst="wedgeRoundRectCallout">
            <a:avLst>
              <a:gd name="adj1" fmla="val -71579"/>
              <a:gd name="adj2" fmla="val 12514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2000" b="1" dirty="0">
                <a:ea typeface="黑体" panose="02010609060101010101" pitchFamily="2" charset="-122"/>
              </a:rPr>
              <a:t>max</a:t>
            </a:r>
            <a:r>
              <a:rPr lang="zh-CN" altLang="en-US" sz="2000" b="1" dirty="0">
                <a:ea typeface="黑体" panose="02010609060101010101" pitchFamily="2" charset="-122"/>
              </a:rPr>
              <a:t>：返回拓宽层次结构中比较大的类型</a:t>
            </a:r>
            <a:endParaRPr lang="en-US" altLang="zh-CN" sz="2000" b="1" dirty="0">
              <a:ea typeface="黑体" panose="02010609060101010101" pitchFamily="2" charset="-122"/>
            </a:endParaRPr>
          </a:p>
          <a:p>
            <a:endParaRPr lang="zh-CN" altLang="en-US" sz="2000" b="1" dirty="0">
              <a:ea typeface="黑体" panose="02010609060101010101" pitchFamily="2" charset="-122"/>
            </a:endParaRPr>
          </a:p>
        </p:txBody>
      </p:sp>
      <p:sp>
        <p:nvSpPr>
          <p:cNvPr id="10" name="矩形: 圆角 9"/>
          <p:cNvSpPr/>
          <p:nvPr/>
        </p:nvSpPr>
        <p:spPr bwMode="auto">
          <a:xfrm>
            <a:off x="6312024" y="4797152"/>
            <a:ext cx="4752528" cy="72008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1" name="对话气泡: 圆角矩形 10"/>
          <p:cNvSpPr/>
          <p:nvPr/>
        </p:nvSpPr>
        <p:spPr bwMode="auto">
          <a:xfrm>
            <a:off x="3996611" y="5289970"/>
            <a:ext cx="1831304" cy="720080"/>
          </a:xfrm>
          <a:prstGeom prst="wedgeRoundRectCallout">
            <a:avLst>
              <a:gd name="adj1" fmla="val 72191"/>
              <a:gd name="adj2" fmla="val -5666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000" b="1" dirty="0">
                <a:ea typeface="黑体" panose="02010609060101010101" pitchFamily="2" charset="-122"/>
              </a:rPr>
              <a:t>将</a:t>
            </a:r>
            <a:r>
              <a:rPr lang="en-US" altLang="zh-CN" sz="2000" b="1" dirty="0" err="1">
                <a:ea typeface="黑体" panose="02010609060101010101" pitchFamily="2" charset="-122"/>
              </a:rPr>
              <a:t>a1</a:t>
            </a:r>
            <a:r>
              <a:rPr lang="zh-CN" altLang="en-US" sz="2000" b="1" dirty="0">
                <a:ea typeface="黑体" panose="02010609060101010101" pitchFamily="2" charset="-122"/>
              </a:rPr>
              <a:t>和</a:t>
            </a:r>
            <a:r>
              <a:rPr lang="en-US" altLang="zh-CN" sz="2000" b="1" dirty="0" err="1">
                <a:ea typeface="黑体" panose="02010609060101010101" pitchFamily="2" charset="-122"/>
              </a:rPr>
              <a:t>a2</a:t>
            </a:r>
            <a:r>
              <a:rPr lang="zh-CN" altLang="en-US" sz="2000" b="1" dirty="0">
                <a:ea typeface="黑体" panose="02010609060101010101" pitchFamily="2" charset="-122"/>
              </a:rPr>
              <a:t>都向宽类型转换。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在</a:t>
            </a:r>
            <a:r>
              <a:rPr lang="en-US" altLang="zh-CN" sz="2400" dirty="0">
                <a:latin typeface="+mn-ea"/>
              </a:rPr>
              <a:t>if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latin typeface="+mn-ea"/>
              </a:rPr>
              <a:t>while</a:t>
            </a:r>
            <a:r>
              <a:rPr lang="zh-CN" altLang="en-US" sz="2400" dirty="0">
                <a:latin typeface="+mn-ea"/>
              </a:rPr>
              <a:t>等控制流语句中，布尔表达式经常用来改变控制流和计算逻辑值。我们假设布尔表达式文法如下：</a:t>
            </a:r>
            <a:endParaRPr lang="en-US" altLang="zh-CN" sz="2400" dirty="0">
              <a:latin typeface="+mn-ea"/>
            </a:endParaRP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B→  B or B 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	| B and B 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	| not B 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	| (B) 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	| E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relop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E 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	| true 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	| false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44A750-FCEE-3076-3E18-295174B61FC5}"/>
              </a:ext>
            </a:extLst>
          </p:cNvPr>
          <p:cNvSpPr/>
          <p:nvPr/>
        </p:nvSpPr>
        <p:spPr>
          <a:xfrm>
            <a:off x="5303912" y="4365104"/>
            <a:ext cx="3515832" cy="96128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err="1">
                <a:ea typeface="+mn-ea"/>
                <a:cs typeface="Arial" panose="020B0604020202020204" pitchFamily="34" charset="0"/>
              </a:rPr>
              <a:t>relop</a:t>
            </a:r>
            <a:r>
              <a:rPr lang="zh-CN" altLang="en-US" sz="2000" b="1" dirty="0">
                <a:ea typeface="+mn-ea"/>
                <a:cs typeface="Arial" panose="020B0604020202020204" pitchFamily="34" charset="0"/>
              </a:rPr>
              <a:t>（关系运算符）：</a:t>
            </a:r>
            <a:endParaRPr lang="en-US" altLang="zh-CN" sz="2000" b="1" dirty="0"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&lt;   &lt;=   &gt;  &gt;=  ==  !=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短路代码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628800"/>
            <a:ext cx="4118248" cy="4483535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在跳转代码中，逻辑运算符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&amp;&amp;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|| </a:t>
            </a:r>
            <a:r>
              <a:rPr lang="zh-CN" altLang="en-US" sz="2400" dirty="0">
                <a:latin typeface="+mn-ea"/>
              </a:rPr>
              <a:t>和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! </a:t>
            </a:r>
            <a:r>
              <a:rPr lang="zh-CN" altLang="en-US" sz="2400" dirty="0">
                <a:latin typeface="+mn-ea"/>
              </a:rPr>
              <a:t>被翻译成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跳转指令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运算符本身不出现在代码中，布尔表达式的值是通过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代码序列中的位置</a:t>
            </a:r>
            <a:r>
              <a:rPr lang="zh-CN" altLang="en-US" sz="2400" dirty="0">
                <a:latin typeface="+mn-ea"/>
              </a:rPr>
              <a:t>来表示的。</a:t>
            </a:r>
            <a:endParaRPr lang="en-US" altLang="zh-CN" sz="24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14C8E4-CA6D-CB31-0592-02B2DE113422}"/>
              </a:ext>
            </a:extLst>
          </p:cNvPr>
          <p:cNvSpPr txBox="1"/>
          <p:nvPr/>
        </p:nvSpPr>
        <p:spPr>
          <a:xfrm>
            <a:off x="5231904" y="1628800"/>
            <a:ext cx="6408712" cy="4483535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ea typeface="+mn-ea"/>
                <a:cs typeface="Arial" panose="020B0604020202020204" pitchFamily="34" charset="0"/>
              </a:rPr>
              <a:t>语句：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	</a:t>
            </a:r>
            <a:r>
              <a:rPr lang="en-US" altLang="zh-CN" sz="2400" b="1" kern="0" dirty="0">
                <a:solidFill>
                  <a:srgbClr val="0000FF"/>
                </a:solidFill>
                <a:cs typeface="Arial" panose="020B0604020202020204" pitchFamily="34" charset="0"/>
              </a:rPr>
              <a:t>if (x &gt; 10 &amp;&amp; y &lt; 20)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kern="0" dirty="0">
                <a:solidFill>
                  <a:srgbClr val="0000FF"/>
                </a:solidFill>
                <a:cs typeface="Arial" panose="020B0604020202020204" pitchFamily="34" charset="0"/>
              </a:rPr>
              <a:t>           	      x=</a:t>
            </a:r>
            <a:r>
              <a:rPr lang="en-US" altLang="zh-CN" sz="2400" b="1" kern="0" dirty="0" err="1">
                <a:solidFill>
                  <a:srgbClr val="0000FF"/>
                </a:solidFill>
                <a:cs typeface="Arial" panose="020B0604020202020204" pitchFamily="34" charset="0"/>
              </a:rPr>
              <a:t>y+a</a:t>
            </a:r>
            <a:r>
              <a:rPr lang="en-US" altLang="zh-CN" sz="2400" b="1" kern="0" dirty="0">
                <a:solidFill>
                  <a:srgbClr val="0000FF"/>
                </a:solidFill>
                <a:cs typeface="Arial" panose="020B0604020202020204" pitchFamily="34" charset="0"/>
              </a:rPr>
              <a:t>*b;</a:t>
            </a:r>
            <a:r>
              <a:rPr lang="en-US" altLang="zh-CN" sz="2400" b="1" dirty="0">
                <a:solidFill>
                  <a:srgbClr val="0000FF"/>
                </a:solidFill>
                <a:ea typeface="+mn-ea"/>
                <a:cs typeface="Arial" panose="020B0604020202020204" pitchFamily="34" charset="0"/>
              </a:rPr>
              <a:t>     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ea typeface="+mn-ea"/>
                <a:cs typeface="Arial" panose="020B0604020202020204" pitchFamily="34" charset="0"/>
              </a:rPr>
              <a:t>三地址码：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	      if x &gt; 10 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goto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 L1</a:t>
            </a:r>
          </a:p>
          <a:p>
            <a:pPr lvl="4">
              <a:lnSpc>
                <a:spcPct val="120000"/>
              </a:lnSpc>
            </a:pP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      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goto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 L2</a:t>
            </a:r>
          </a:p>
          <a:p>
            <a:pPr lvl="4">
              <a:lnSpc>
                <a:spcPct val="120000"/>
              </a:lnSpc>
            </a:pP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L1: if y &lt; 20 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goto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 L3</a:t>
            </a:r>
          </a:p>
          <a:p>
            <a:pPr lvl="4">
              <a:lnSpc>
                <a:spcPct val="120000"/>
              </a:lnSpc>
            </a:pP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      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goto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L2</a:t>
            </a:r>
            <a:endParaRPr lang="en-US" altLang="zh-CN" sz="2400" b="1" dirty="0">
              <a:ea typeface="+mn-ea"/>
              <a:cs typeface="Arial" panose="020B0604020202020204" pitchFamily="34" charset="0"/>
            </a:endParaRPr>
          </a:p>
          <a:p>
            <a:pPr lvl="4">
              <a:lnSpc>
                <a:spcPct val="120000"/>
              </a:lnSpc>
            </a:pP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L3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: 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t1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=a*b</a:t>
            </a:r>
          </a:p>
          <a:p>
            <a:pPr lvl="4">
              <a:lnSpc>
                <a:spcPct val="120000"/>
              </a:lnSpc>
            </a:pP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      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t2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=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y+t1</a:t>
            </a:r>
            <a:endParaRPr lang="en-US" altLang="zh-CN" sz="2400" b="1" dirty="0">
              <a:ea typeface="+mn-ea"/>
              <a:cs typeface="Arial" panose="020B0604020202020204" pitchFamily="34" charset="0"/>
            </a:endParaRPr>
          </a:p>
          <a:p>
            <a:pPr lvl="4">
              <a:lnSpc>
                <a:spcPct val="120000"/>
              </a:lnSpc>
            </a:pP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      x=</a:t>
            </a: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t2</a:t>
            </a:r>
            <a:endParaRPr lang="en-US" altLang="zh-CN" sz="2400" b="1" dirty="0">
              <a:ea typeface="+mn-ea"/>
              <a:cs typeface="Arial" panose="020B0604020202020204" pitchFamily="34" charset="0"/>
            </a:endParaRPr>
          </a:p>
          <a:p>
            <a:pPr lvl="4">
              <a:lnSpc>
                <a:spcPct val="120000"/>
              </a:lnSpc>
            </a:pPr>
            <a:r>
              <a:rPr lang="en-US" altLang="zh-CN" sz="2400" b="1" dirty="0" err="1">
                <a:ea typeface="+mn-ea"/>
                <a:cs typeface="Arial" panose="020B0604020202020204" pitchFamily="34" charset="0"/>
              </a:rPr>
              <a:t>L2</a:t>
            </a:r>
            <a:r>
              <a:rPr lang="en-US" altLang="zh-CN" sz="2400" b="1" dirty="0">
                <a:ea typeface="+mn-ea"/>
                <a:cs typeface="Arial" panose="020B0604020202020204" pitchFamily="34" charset="0"/>
              </a:rPr>
              <a:t>:  </a:t>
            </a:r>
            <a:endParaRPr lang="zh-CN" altLang="en-US" sz="2400" b="1" dirty="0"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C39A8-9AC6-304A-64DB-0043DB43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7CE60-7C21-A4D6-B307-518F966B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非控制流中的布尔表达式翻译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3F899-B7F0-0231-BD16-39680E79775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在有些情况下确实需要对布尔表达式进行求值，比如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x=a&lt;b&amp;&amp;c&lt;d</a:t>
            </a:r>
            <a:r>
              <a:rPr lang="zh-CN" altLang="en-US" sz="2400" dirty="0">
                <a:latin typeface="+mn-ea"/>
              </a:rPr>
              <a:t>。可以采用如下形式进行翻译：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60F1D-7AB6-8DF3-C63C-82D074FDE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7" r="27775" b="33170"/>
          <a:stretch>
            <a:fillRect/>
          </a:stretch>
        </p:blipFill>
        <p:spPr bwMode="auto">
          <a:xfrm>
            <a:off x="3647728" y="2996952"/>
            <a:ext cx="4464496" cy="2290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3869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控制流语句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假设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控制流语句文法</a:t>
            </a:r>
            <a:r>
              <a:rPr lang="zh-CN" altLang="en-US" dirty="0">
                <a:latin typeface="+mn-ea"/>
              </a:rPr>
              <a:t>如下</a:t>
            </a:r>
            <a:r>
              <a:rPr lang="en-US" altLang="zh-CN" dirty="0">
                <a:latin typeface="+mn-ea"/>
              </a:rPr>
              <a:t>:</a:t>
            </a:r>
          </a:p>
          <a:p>
            <a:pPr marL="809625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P →S</a:t>
            </a: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S → assign</a:t>
            </a: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S→ if (B)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S1</a:t>
            </a:r>
            <a:endParaRPr lang="en-US" altLang="zh-CN" dirty="0">
              <a:solidFill>
                <a:srgbClr val="0000CC"/>
              </a:solidFill>
              <a:latin typeface="+mn-ea"/>
            </a:endParaRP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S→ if (B)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S1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else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S2</a:t>
            </a:r>
            <a:endParaRPr lang="en-US" altLang="zh-CN" dirty="0">
              <a:solidFill>
                <a:srgbClr val="0000CC"/>
              </a:solidFill>
              <a:latin typeface="+mn-ea"/>
            </a:endParaRP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S→ while (B)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S1</a:t>
            </a:r>
            <a:endParaRPr lang="en-US" altLang="zh-CN" dirty="0">
              <a:solidFill>
                <a:srgbClr val="0000CC"/>
              </a:solidFill>
              <a:latin typeface="+mn-ea"/>
            </a:endParaRPr>
          </a:p>
          <a:p>
            <a:pPr marL="800100" lvl="2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+mn-ea"/>
              </a:rPr>
              <a:t>S→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S1</a:t>
            </a:r>
            <a:r>
              <a:rPr lang="en-US" altLang="zh-CN" dirty="0">
                <a:solidFill>
                  <a:srgbClr val="0000CC"/>
                </a:solidFill>
                <a:latin typeface="+mn-ea"/>
              </a:rPr>
              <a:t> </a:t>
            </a:r>
            <a:r>
              <a:rPr lang="en-US" altLang="zh-CN" dirty="0" err="1">
                <a:solidFill>
                  <a:srgbClr val="0000CC"/>
                </a:solidFill>
                <a:latin typeface="+mn-ea"/>
              </a:rPr>
              <a:t>S2</a:t>
            </a:r>
            <a:endParaRPr lang="en-US" altLang="zh-CN" dirty="0">
              <a:solidFill>
                <a:srgbClr val="0000CC"/>
              </a:solidFill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其中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表示一个语句，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表示一个布尔表达式。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控制流语句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对于出现在语句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if (B) </a:t>
            </a:r>
            <a:r>
              <a:rPr lang="en-US" altLang="zh-CN" dirty="0" err="1">
                <a:solidFill>
                  <a:srgbClr val="FF0000"/>
                </a:solidFill>
                <a:latin typeface="+mn-ea"/>
              </a:rPr>
              <a:t>S1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 else </a:t>
            </a:r>
            <a:r>
              <a:rPr lang="en-US" altLang="zh-CN" dirty="0" err="1">
                <a:solidFill>
                  <a:srgbClr val="FF0000"/>
                </a:solidFill>
                <a:latin typeface="+mn-ea"/>
              </a:rPr>
              <a:t>S2</a:t>
            </a:r>
            <a:r>
              <a:rPr lang="zh-CN" altLang="en-US" dirty="0"/>
              <a:t>中的布尔表达式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，其作用就是控制对</a:t>
            </a:r>
            <a:r>
              <a:rPr lang="en-US" altLang="zh-CN" dirty="0" err="1">
                <a:solidFill>
                  <a:srgbClr val="FF0000"/>
                </a:solidFill>
                <a:latin typeface="+mn-ea"/>
              </a:rPr>
              <a:t>S1</a:t>
            </a:r>
            <a:r>
              <a:rPr lang="zh-CN" altLang="en-US" dirty="0"/>
              <a:t>和</a:t>
            </a:r>
            <a:r>
              <a:rPr lang="en-US" altLang="zh-CN" dirty="0" err="1">
                <a:solidFill>
                  <a:srgbClr val="FF0000"/>
                </a:solidFill>
                <a:latin typeface="+mn-ea"/>
              </a:rPr>
              <a:t>S2</a:t>
            </a:r>
            <a:r>
              <a:rPr lang="zh-CN" altLang="en-US" dirty="0"/>
              <a:t>的选择。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对</a:t>
            </a:r>
            <a:r>
              <a:rPr lang="en-US" altLang="zh-CN" dirty="0">
                <a:solidFill>
                  <a:srgbClr val="FF0000"/>
                </a:solidFill>
              </a:rPr>
              <a:t>while</a:t>
            </a:r>
            <a:r>
              <a:rPr lang="zh-CN" altLang="en-US" dirty="0"/>
              <a:t>语句来说出口也是两个。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因此，作为条件的布尔表达式，把它设计成两个出口：</a:t>
            </a:r>
            <a:r>
              <a:rPr lang="en-US" altLang="zh-CN" dirty="0" err="1">
                <a:solidFill>
                  <a:srgbClr val="FF0000"/>
                </a:solidFill>
              </a:rPr>
              <a:t>B.true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和 </a:t>
            </a:r>
            <a:r>
              <a:rPr lang="en-US" altLang="zh-CN" dirty="0" err="1">
                <a:solidFill>
                  <a:srgbClr val="FF0000"/>
                </a:solidFill>
              </a:rPr>
              <a:t>B.false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控制流语句的代码布局方案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/>
              <a:t>对于</a:t>
            </a:r>
            <a:r>
              <a:rPr lang="en-US" altLang="zh-CN" sz="2400" dirty="0">
                <a:solidFill>
                  <a:srgbClr val="FF0000"/>
                </a:solidFill>
              </a:rPr>
              <a:t>if</a:t>
            </a:r>
            <a:r>
              <a:rPr lang="zh-CN" altLang="en-US" sz="2400" dirty="0">
                <a:solidFill>
                  <a:srgbClr val="FF0000"/>
                </a:solidFill>
              </a:rPr>
              <a:t>语句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B.true</a:t>
            </a:r>
            <a:r>
              <a:rPr lang="zh-CN" altLang="en-US" sz="2400" dirty="0"/>
              <a:t>指向</a:t>
            </a:r>
            <a:r>
              <a:rPr lang="en-US" altLang="zh-CN" sz="2400" dirty="0" err="1"/>
              <a:t>S1</a:t>
            </a:r>
            <a:r>
              <a:rPr lang="zh-CN" altLang="en-US" sz="2400" dirty="0"/>
              <a:t>，   </a:t>
            </a:r>
            <a:r>
              <a:rPr lang="en-US" altLang="zh-CN" sz="2400" dirty="0" err="1"/>
              <a:t>B.false</a:t>
            </a:r>
            <a:r>
              <a:rPr lang="zh-CN" altLang="en-US" sz="2400" dirty="0"/>
              <a:t>指向</a:t>
            </a:r>
            <a:r>
              <a:rPr lang="en-US" altLang="zh-CN" sz="2400" dirty="0" err="1"/>
              <a:t>S2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/>
              <a:t>对于</a:t>
            </a:r>
            <a:r>
              <a:rPr lang="en-US" altLang="zh-CN" sz="2400" dirty="0">
                <a:solidFill>
                  <a:srgbClr val="FF0000"/>
                </a:solidFill>
              </a:rPr>
              <a:t>while</a:t>
            </a:r>
            <a:r>
              <a:rPr lang="zh-CN" altLang="en-US" sz="2400" dirty="0">
                <a:solidFill>
                  <a:srgbClr val="FF0000"/>
                </a:solidFill>
              </a:rPr>
              <a:t>语句</a:t>
            </a:r>
            <a:r>
              <a:rPr lang="zh-CN" altLang="en-US" sz="2400" dirty="0"/>
              <a:t>， </a:t>
            </a:r>
            <a:r>
              <a:rPr lang="en-US" altLang="zh-CN" sz="2400" dirty="0" err="1"/>
              <a:t>B.true</a:t>
            </a:r>
            <a:r>
              <a:rPr lang="zh-CN" altLang="en-US" sz="2400" dirty="0"/>
              <a:t>指向循环的开始，   </a:t>
            </a:r>
            <a:r>
              <a:rPr lang="en-US" altLang="zh-CN" sz="2400" dirty="0" err="1"/>
              <a:t>B.false</a:t>
            </a:r>
            <a:r>
              <a:rPr lang="zh-CN" altLang="en-US" sz="2400" dirty="0"/>
              <a:t>指向</a:t>
            </a:r>
            <a:r>
              <a:rPr lang="en-US" altLang="zh-CN" sz="2400" dirty="0"/>
              <a:t>while </a:t>
            </a:r>
            <a:r>
              <a:rPr lang="zh-CN" altLang="en-US" sz="2400" dirty="0"/>
              <a:t>的下一语句。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85"/>
          <a:stretch>
            <a:fillRect/>
          </a:stretch>
        </p:blipFill>
        <p:spPr bwMode="auto">
          <a:xfrm>
            <a:off x="3359695" y="2276872"/>
            <a:ext cx="5951167" cy="4121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: 圆角 4"/>
          <p:cNvSpPr/>
          <p:nvPr/>
        </p:nvSpPr>
        <p:spPr bwMode="auto">
          <a:xfrm>
            <a:off x="3431704" y="2924944"/>
            <a:ext cx="625946" cy="28803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6" name="矩形: 圆角 5"/>
          <p:cNvSpPr/>
          <p:nvPr/>
        </p:nvSpPr>
        <p:spPr bwMode="auto">
          <a:xfrm>
            <a:off x="3431704" y="3433677"/>
            <a:ext cx="625946" cy="28803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" name="矩形: 圆角 6"/>
          <p:cNvSpPr/>
          <p:nvPr/>
        </p:nvSpPr>
        <p:spPr bwMode="auto">
          <a:xfrm>
            <a:off x="3431704" y="5122317"/>
            <a:ext cx="625946" cy="28803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" name="矩形: 圆角 7"/>
          <p:cNvSpPr/>
          <p:nvPr/>
        </p:nvSpPr>
        <p:spPr bwMode="auto">
          <a:xfrm>
            <a:off x="3431704" y="5877272"/>
            <a:ext cx="625946" cy="28803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6607620" y="2936852"/>
            <a:ext cx="625946" cy="28803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0" name="矩形: 圆角 9"/>
          <p:cNvSpPr/>
          <p:nvPr/>
        </p:nvSpPr>
        <p:spPr bwMode="auto">
          <a:xfrm>
            <a:off x="6604987" y="3698783"/>
            <a:ext cx="625946" cy="28803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0CC1AC7-60FA-AF17-2623-D64F5B007EF8}"/>
              </a:ext>
            </a:extLst>
          </p:cNvPr>
          <p:cNvSpPr/>
          <p:nvPr/>
        </p:nvSpPr>
        <p:spPr bwMode="auto">
          <a:xfrm>
            <a:off x="3431704" y="4601861"/>
            <a:ext cx="625946" cy="288032"/>
          </a:xfrm>
          <a:prstGeom prst="round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5CFD97-32C7-16AE-C88E-B1EC72CAF0E1}"/>
              </a:ext>
            </a:extLst>
          </p:cNvPr>
          <p:cNvSpPr/>
          <p:nvPr/>
        </p:nvSpPr>
        <p:spPr bwMode="auto">
          <a:xfrm>
            <a:off x="6604987" y="4193547"/>
            <a:ext cx="625946" cy="288032"/>
          </a:xfrm>
          <a:prstGeom prst="round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3025"/>
            <a:ext cx="11377264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对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B→E1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rel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E2</a:t>
            </a:r>
            <a:r>
              <a:rPr lang="zh-CN" altLang="en-US" sz="2400" dirty="0">
                <a:latin typeface="+mn-ea"/>
              </a:rPr>
              <a:t>来说，</a:t>
            </a:r>
            <a:r>
              <a:rPr lang="zh-CN" altLang="en-US" sz="2400" dirty="0"/>
              <a:t>假定</a:t>
            </a:r>
            <a:r>
              <a:rPr lang="zh-CN" altLang="en-US" sz="2400" dirty="0">
                <a:solidFill>
                  <a:srgbClr val="FF0000"/>
                </a:solidFill>
              </a:rPr>
              <a:t>形如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zh-CN" altLang="en-US" sz="2400" dirty="0">
                <a:solidFill>
                  <a:srgbClr val="FF0000"/>
                </a:solidFill>
              </a:rPr>
              <a:t>＜</a:t>
            </a: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，则将生成如下代码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三地址表示：</a:t>
            </a:r>
          </a:p>
          <a:p>
            <a:pPr marL="85725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 </a:t>
            </a:r>
            <a:r>
              <a:rPr lang="en-US" altLang="zh-CN" sz="2400" dirty="0" err="1"/>
              <a:t>B.true</a:t>
            </a:r>
            <a:r>
              <a:rPr lang="en-US" altLang="zh-CN" sz="2400" dirty="0"/>
              <a:t>:      </a:t>
            </a:r>
            <a:r>
              <a:rPr lang="en-US" altLang="zh-CN" sz="2400" dirty="0">
                <a:solidFill>
                  <a:srgbClr val="0000CC"/>
                </a:solidFill>
              </a:rPr>
              <a:t>if a</a:t>
            </a:r>
            <a:r>
              <a:rPr lang="zh-CN" altLang="en-US" sz="2400" dirty="0">
                <a:solidFill>
                  <a:srgbClr val="0000CC"/>
                </a:solidFill>
              </a:rPr>
              <a:t>＜</a:t>
            </a:r>
            <a:r>
              <a:rPr lang="en-US" altLang="zh-CN" sz="2400" dirty="0">
                <a:solidFill>
                  <a:srgbClr val="0000CC"/>
                </a:solidFill>
              </a:rPr>
              <a:t>b </a:t>
            </a:r>
            <a:r>
              <a:rPr lang="en-US" altLang="zh-CN" sz="2400" dirty="0" err="1">
                <a:solidFill>
                  <a:srgbClr val="0000CC"/>
                </a:solidFill>
              </a:rPr>
              <a:t>goto</a:t>
            </a:r>
            <a:r>
              <a:rPr lang="en-US" altLang="zh-CN" sz="2400" dirty="0">
                <a:solidFill>
                  <a:srgbClr val="0000CC"/>
                </a:solidFill>
              </a:rPr>
              <a:t> </a:t>
            </a:r>
            <a:r>
              <a:rPr lang="en-US" altLang="zh-CN" sz="2400" dirty="0" err="1">
                <a:solidFill>
                  <a:srgbClr val="0000CC"/>
                </a:solidFill>
              </a:rPr>
              <a:t>B.true</a:t>
            </a:r>
            <a:r>
              <a:rPr lang="en-US" altLang="zh-CN" sz="2400" dirty="0">
                <a:solidFill>
                  <a:srgbClr val="0000CC"/>
                </a:solidFill>
              </a:rPr>
              <a:t> </a:t>
            </a:r>
            <a:r>
              <a:rPr lang="zh-CN" altLang="en-US" sz="2400" dirty="0"/>
              <a:t>（真出口）</a:t>
            </a:r>
          </a:p>
          <a:p>
            <a:pPr marL="85725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 </a:t>
            </a:r>
            <a:r>
              <a:rPr lang="en-US" altLang="zh-CN" sz="2400" dirty="0" err="1"/>
              <a:t>B.false</a:t>
            </a:r>
            <a:r>
              <a:rPr lang="en-US" altLang="zh-CN" sz="2400" dirty="0"/>
              <a:t>:      </a:t>
            </a:r>
            <a:r>
              <a:rPr lang="en-US" altLang="zh-CN" sz="2400" dirty="0" err="1">
                <a:solidFill>
                  <a:srgbClr val="0000CC"/>
                </a:solidFill>
              </a:rPr>
              <a:t>goto</a:t>
            </a:r>
            <a:r>
              <a:rPr lang="en-US" altLang="zh-CN" sz="2400" dirty="0">
                <a:solidFill>
                  <a:srgbClr val="0000CC"/>
                </a:solidFill>
              </a:rPr>
              <a:t> </a:t>
            </a:r>
            <a:r>
              <a:rPr lang="en-US" altLang="zh-CN" sz="2400" dirty="0" err="1">
                <a:solidFill>
                  <a:srgbClr val="0000CC"/>
                </a:solidFill>
              </a:rPr>
              <a:t>B.false</a:t>
            </a:r>
            <a:r>
              <a:rPr lang="en-US" altLang="zh-CN" sz="2400" dirty="0">
                <a:solidFill>
                  <a:srgbClr val="0000CC"/>
                </a:solidFill>
              </a:rPr>
              <a:t>          </a:t>
            </a:r>
            <a:r>
              <a:rPr lang="zh-CN" altLang="en-US" sz="2400" dirty="0"/>
              <a:t>（假出口）</a:t>
            </a:r>
            <a:endParaRPr lang="en-US" altLang="zh-CN" sz="24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36" b="23064"/>
          <a:stretch>
            <a:fillRect/>
          </a:stretch>
        </p:blipFill>
        <p:spPr bwMode="auto">
          <a:xfrm>
            <a:off x="911424" y="4005064"/>
            <a:ext cx="9433048" cy="1215801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1343025"/>
            <a:ext cx="1130525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常量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true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或者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false</a:t>
            </a:r>
            <a:r>
              <a:rPr lang="zh-CN" altLang="en-US" dirty="0">
                <a:latin typeface="+mn-ea"/>
              </a:rPr>
              <a:t>，则直接翻译成跳转指令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+mn-ea"/>
              </a:rPr>
              <a:t>不需要为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B→!B</a:t>
            </a:r>
            <a:r>
              <a:rPr lang="zh-CN" altLang="en-US" dirty="0">
                <a:latin typeface="+mn-ea"/>
              </a:rPr>
              <a:t>产生新的代码，只需要将真假出口交换就可以了。跳转标号使用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继承属性</a:t>
            </a:r>
            <a:r>
              <a:rPr lang="zh-CN" altLang="en-US" dirty="0">
                <a:latin typeface="+mn-ea"/>
              </a:rPr>
              <a:t>来处理。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+mn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9" b="38116"/>
          <a:stretch>
            <a:fillRect/>
          </a:stretch>
        </p:blipFill>
        <p:spPr bwMode="auto">
          <a:xfrm>
            <a:off x="1487487" y="4725143"/>
            <a:ext cx="9497719" cy="1303151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36" b="9663"/>
          <a:stretch>
            <a:fillRect/>
          </a:stretch>
        </p:blipFill>
        <p:spPr bwMode="auto">
          <a:xfrm>
            <a:off x="1487488" y="2060848"/>
            <a:ext cx="9497719" cy="1224136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对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B→B1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||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B2</a:t>
            </a:r>
            <a:r>
              <a:rPr lang="zh-CN" altLang="en-US" sz="2400" dirty="0">
                <a:latin typeface="+mn-ea"/>
              </a:rPr>
              <a:t>来说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如果</a:t>
            </a:r>
            <a:r>
              <a:rPr lang="en-US" altLang="zh-CN" sz="2400" dirty="0" err="1">
                <a:latin typeface="+mn-ea"/>
              </a:rPr>
              <a:t>B1</a:t>
            </a:r>
            <a:r>
              <a:rPr lang="zh-CN" altLang="en-US" sz="2400" dirty="0">
                <a:latin typeface="+mn-ea"/>
              </a:rPr>
              <a:t>为真则</a:t>
            </a:r>
            <a:r>
              <a:rPr lang="en-US" altLang="zh-CN" sz="2400" dirty="0">
                <a:latin typeface="+mn-ea"/>
              </a:rPr>
              <a:t>B</a:t>
            </a:r>
            <a:r>
              <a:rPr lang="zh-CN" altLang="en-US" sz="2400" dirty="0">
                <a:latin typeface="+mn-ea"/>
              </a:rPr>
              <a:t>为真，因此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B1.true</a:t>
            </a:r>
            <a:r>
              <a:rPr lang="zh-CN" altLang="en-US" sz="2400" dirty="0">
                <a:latin typeface="+mn-ea"/>
              </a:rPr>
              <a:t>应该从</a:t>
            </a:r>
            <a:r>
              <a:rPr lang="en-US" altLang="zh-CN" sz="2400" dirty="0" err="1">
                <a:latin typeface="+mn-ea"/>
              </a:rPr>
              <a:t>B.true</a:t>
            </a:r>
            <a:r>
              <a:rPr lang="zh-CN" altLang="en-US" sz="2400" dirty="0">
                <a:latin typeface="+mn-ea"/>
              </a:rPr>
              <a:t>继承而来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如果</a:t>
            </a:r>
            <a:r>
              <a:rPr lang="en-US" altLang="zh-CN" sz="2400" dirty="0" err="1">
                <a:latin typeface="+mn-ea"/>
              </a:rPr>
              <a:t>B1</a:t>
            </a:r>
            <a:r>
              <a:rPr lang="zh-CN" altLang="en-US" sz="2400" dirty="0">
                <a:latin typeface="+mn-ea"/>
              </a:rPr>
              <a:t>为假则应对</a:t>
            </a:r>
            <a:r>
              <a:rPr lang="en-US" altLang="zh-CN" sz="2400" dirty="0" err="1">
                <a:latin typeface="+mn-ea"/>
              </a:rPr>
              <a:t>B2</a:t>
            </a:r>
            <a:r>
              <a:rPr lang="zh-CN" altLang="en-US" sz="2400" dirty="0">
                <a:latin typeface="+mn-ea"/>
              </a:rPr>
              <a:t>求值，因此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B1.false</a:t>
            </a:r>
            <a:r>
              <a:rPr lang="zh-CN" altLang="en-US" sz="2400" dirty="0">
                <a:latin typeface="+mn-ea"/>
              </a:rPr>
              <a:t>设置为</a:t>
            </a:r>
            <a:r>
              <a:rPr lang="en-US" altLang="zh-CN" sz="2400" dirty="0">
                <a:latin typeface="+mn-ea"/>
              </a:rPr>
              <a:t>B2</a:t>
            </a:r>
            <a:r>
              <a:rPr lang="zh-CN" altLang="en-US" sz="2400" dirty="0">
                <a:latin typeface="+mn-ea"/>
              </a:rPr>
              <a:t>的第一条指令的标号。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 err="1">
                <a:latin typeface="+mn-ea"/>
              </a:rPr>
              <a:t>B2</a:t>
            </a:r>
            <a:r>
              <a:rPr lang="zh-CN" altLang="en-US" sz="2400" dirty="0">
                <a:latin typeface="+mn-ea"/>
              </a:rPr>
              <a:t>的真假出口标号直接从</a:t>
            </a:r>
            <a:r>
              <a:rPr lang="en-US" altLang="zh-CN" sz="2400" dirty="0">
                <a:latin typeface="+mn-ea"/>
              </a:rPr>
              <a:t>B</a:t>
            </a:r>
            <a:r>
              <a:rPr lang="zh-CN" altLang="en-US" sz="2400" dirty="0">
                <a:latin typeface="+mn-ea"/>
              </a:rPr>
              <a:t>继承。</a:t>
            </a:r>
            <a:endParaRPr lang="en-US" altLang="zh-CN" sz="2400" dirty="0">
              <a:latin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895412" y="3598513"/>
            <a:ext cx="6480717" cy="1630687"/>
            <a:chOff x="871179" y="4410273"/>
            <a:chExt cx="6606895" cy="1512168"/>
          </a:xfrm>
        </p:grpSpPr>
        <p:grpSp>
          <p:nvGrpSpPr>
            <p:cNvPr id="4" name="组合 3"/>
            <p:cNvGrpSpPr/>
            <p:nvPr/>
          </p:nvGrpSpPr>
          <p:grpSpPr>
            <a:xfrm>
              <a:off x="871179" y="4410273"/>
              <a:ext cx="6606895" cy="1512168"/>
              <a:chOff x="899024" y="3276975"/>
              <a:chExt cx="6606895" cy="1512168"/>
            </a:xfrm>
          </p:grpSpPr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8" t="6717" r="12815" b="73109"/>
              <a:stretch>
                <a:fillRect/>
              </a:stretch>
            </p:blipFill>
            <p:spPr bwMode="auto">
              <a:xfrm>
                <a:off x="899024" y="3276975"/>
                <a:ext cx="6606895" cy="1512168"/>
              </a:xfrm>
              <a:prstGeom prst="rect">
                <a:avLst/>
              </a:prstGeom>
              <a:noFill/>
              <a:ln w="28575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" name="矩形: 圆角 7"/>
              <p:cNvSpPr/>
              <p:nvPr/>
            </p:nvSpPr>
            <p:spPr bwMode="auto">
              <a:xfrm>
                <a:off x="4014327" y="3546177"/>
                <a:ext cx="1080120" cy="288032"/>
              </a:xfrm>
              <a:prstGeom prst="round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endParaRPr lang="zh-CN" altLang="en-US" b="1"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9" name="矩形: 圆角 8"/>
            <p:cNvSpPr/>
            <p:nvPr/>
          </p:nvSpPr>
          <p:spPr bwMode="auto">
            <a:xfrm>
              <a:off x="4932040" y="5418385"/>
              <a:ext cx="1440160" cy="360040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</p:grpSp>
      <p:sp>
        <p:nvSpPr>
          <p:cNvPr id="10" name="对话气泡: 圆角矩形 9"/>
          <p:cNvSpPr/>
          <p:nvPr/>
        </p:nvSpPr>
        <p:spPr bwMode="auto">
          <a:xfrm>
            <a:off x="8999626" y="2706413"/>
            <a:ext cx="2409328" cy="720080"/>
          </a:xfrm>
          <a:prstGeom prst="wedgeRoundRectCallout">
            <a:avLst>
              <a:gd name="adj1" fmla="val -46650"/>
              <a:gd name="adj2" fmla="val 112441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2000" b="1" dirty="0" err="1">
                <a:ea typeface="黑体" panose="02010609060101010101" pitchFamily="2" charset="-122"/>
              </a:rPr>
              <a:t>newlabel</a:t>
            </a:r>
            <a:r>
              <a:rPr lang="zh-CN" altLang="en-US" sz="2000" b="1" dirty="0">
                <a:ea typeface="黑体" panose="02010609060101010101" pitchFamily="2" charset="-122"/>
              </a:rPr>
              <a:t>：产生一个新的标号</a:t>
            </a:r>
            <a:endParaRPr lang="en-US" altLang="zh-CN" sz="2000" b="1" dirty="0">
              <a:ea typeface="黑体" panose="02010609060101010101" pitchFamily="2" charset="-122"/>
            </a:endParaRPr>
          </a:p>
          <a:p>
            <a:endParaRPr lang="zh-CN" altLang="en-US" sz="2000" b="1" dirty="0">
              <a:ea typeface="黑体" panose="02010609060101010101" pitchFamily="2" charset="-122"/>
            </a:endParaRPr>
          </a:p>
        </p:txBody>
      </p:sp>
      <p:sp>
        <p:nvSpPr>
          <p:cNvPr id="11" name="对话气泡: 圆角矩形 10"/>
          <p:cNvSpPr/>
          <p:nvPr/>
        </p:nvSpPr>
        <p:spPr bwMode="auto">
          <a:xfrm>
            <a:off x="7452337" y="5445224"/>
            <a:ext cx="3825263" cy="844897"/>
          </a:xfrm>
          <a:prstGeom prst="wedgeRoundRectCallout">
            <a:avLst>
              <a:gd name="adj1" fmla="val 9239"/>
              <a:gd name="adj2" fmla="val -82656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2000" b="1" dirty="0">
                <a:ea typeface="黑体" panose="02010609060101010101" pitchFamily="2" charset="-122"/>
              </a:rPr>
              <a:t>Label(L)</a:t>
            </a:r>
            <a:r>
              <a:rPr lang="zh-CN" altLang="en-US" sz="2000" b="1" dirty="0">
                <a:ea typeface="黑体" panose="02010609060101010101" pitchFamily="2" charset="-122"/>
              </a:rPr>
              <a:t>：将标号</a:t>
            </a:r>
            <a:r>
              <a:rPr lang="en-US" altLang="zh-CN" sz="2000" b="1" dirty="0">
                <a:ea typeface="黑体" panose="02010609060101010101" pitchFamily="2" charset="-122"/>
              </a:rPr>
              <a:t>L</a:t>
            </a:r>
            <a:r>
              <a:rPr lang="zh-CN" altLang="en-US" sz="2000" b="1" dirty="0">
                <a:ea typeface="黑体" panose="02010609060101010101" pitchFamily="2" charset="-122"/>
              </a:rPr>
              <a:t>附加到即将生成的下一条三地址指令上。</a:t>
            </a:r>
            <a:endParaRPr lang="en-US" altLang="zh-CN" sz="2000" b="1" dirty="0">
              <a:ea typeface="黑体" panose="02010609060101010101" pitchFamily="2" charset="-122"/>
            </a:endParaRPr>
          </a:p>
          <a:p>
            <a:endParaRPr lang="zh-CN" altLang="en-US" sz="2000" b="1" dirty="0">
              <a:ea typeface="黑体" panose="02010609060101010101" pitchFamily="2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C246647-F8B2-047A-C2CE-895E69A42BDA}"/>
              </a:ext>
            </a:extLst>
          </p:cNvPr>
          <p:cNvGrpSpPr/>
          <p:nvPr/>
        </p:nvGrpSpPr>
        <p:grpSpPr>
          <a:xfrm>
            <a:off x="839416" y="3511371"/>
            <a:ext cx="3825263" cy="2509917"/>
            <a:chOff x="1152137" y="3257537"/>
            <a:chExt cx="3825263" cy="2509917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A64D115-6390-CADC-5BE3-08084D502002}"/>
                </a:ext>
              </a:extLst>
            </p:cNvPr>
            <p:cNvGrpSpPr/>
            <p:nvPr/>
          </p:nvGrpSpPr>
          <p:grpSpPr>
            <a:xfrm>
              <a:off x="1152137" y="3257537"/>
              <a:ext cx="3825263" cy="2509917"/>
              <a:chOff x="7788623" y="1348126"/>
              <a:chExt cx="3825263" cy="2509917"/>
            </a:xfrm>
          </p:grpSpPr>
          <p:sp>
            <p:nvSpPr>
              <p:cNvPr id="14" name="Line 61">
                <a:extLst>
                  <a:ext uri="{FF2B5EF4-FFF2-40B4-BE49-F238E27FC236}">
                    <a16:creationId xmlns:a16="http://schemas.microsoft.com/office/drawing/2014/main" id="{1D710DAD-743A-522C-6EF9-8A4890DA7A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486579" y="2688323"/>
                <a:ext cx="72361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Line 62">
                <a:extLst>
                  <a:ext uri="{FF2B5EF4-FFF2-40B4-BE49-F238E27FC236}">
                    <a16:creationId xmlns:a16="http://schemas.microsoft.com/office/drawing/2014/main" id="{3EF25C57-0E70-6084-BAEA-A8700FECF5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91004" y="2121815"/>
                <a:ext cx="0" cy="1329629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 Box 14">
                <a:extLst>
                  <a:ext uri="{FF2B5EF4-FFF2-40B4-BE49-F238E27FC236}">
                    <a16:creationId xmlns:a16="http://schemas.microsoft.com/office/drawing/2014/main" id="{0B6DA179-B31A-2F50-DF9D-DFC569AA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13501" y="1747321"/>
                <a:ext cx="1008976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.true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CBBAD502-E724-3551-9AC5-AE5AC1D789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98377" y="2302532"/>
                <a:ext cx="1082675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.true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Line 62">
                <a:extLst>
                  <a:ext uri="{FF2B5EF4-FFF2-40B4-BE49-F238E27FC236}">
                    <a16:creationId xmlns:a16="http://schemas.microsoft.com/office/drawing/2014/main" id="{0BC02FF5-A07D-ACD1-591D-7C8D8FBD36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86579" y="2697623"/>
                <a:ext cx="0" cy="753821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FD2826C7-1F5A-4CF6-CF26-CF25402B60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88623" y="1348126"/>
                <a:ext cx="3825263" cy="2509917"/>
                <a:chOff x="1222374" y="1346201"/>
                <a:chExt cx="3565526" cy="2509917"/>
              </a:xfrm>
            </p:grpSpPr>
            <p:sp>
              <p:nvSpPr>
                <p:cNvPr id="22" name="Line 9">
                  <a:extLst>
                    <a:ext uri="{FF2B5EF4-FFF2-40B4-BE49-F238E27FC236}">
                      <a16:creationId xmlns:a16="http://schemas.microsoft.com/office/drawing/2014/main" id="{0F421378-C148-0162-5EE2-5FB5D51F10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843554" y="2113541"/>
                  <a:ext cx="730718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Text Box 12">
                  <a:extLst>
                    <a:ext uri="{FF2B5EF4-FFF2-40B4-BE49-F238E27FC236}">
                      <a16:creationId xmlns:a16="http://schemas.microsoft.com/office/drawing/2014/main" id="{52C6C258-D4C8-C078-64C1-1EC5FF13C7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67299" y="3594701"/>
                  <a:ext cx="811279" cy="2614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B.true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Text Box 13">
                  <a:extLst>
                    <a:ext uri="{FF2B5EF4-FFF2-40B4-BE49-F238E27FC236}">
                      <a16:creationId xmlns:a16="http://schemas.microsoft.com/office/drawing/2014/main" id="{5478AA1C-2EE9-86A6-E863-E221019A49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4003" y="3595297"/>
                  <a:ext cx="967793" cy="2249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B.false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Line 24">
                  <a:extLst>
                    <a:ext uri="{FF2B5EF4-FFF2-40B4-BE49-F238E27FC236}">
                      <a16:creationId xmlns:a16="http://schemas.microsoft.com/office/drawing/2014/main" id="{70D9D444-2F22-7CF2-878E-A7A46C08F2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97433" y="2119891"/>
                  <a:ext cx="94999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Line 60">
                  <a:extLst>
                    <a:ext uri="{FF2B5EF4-FFF2-40B4-BE49-F238E27FC236}">
                      <a16:creationId xmlns:a16="http://schemas.microsoft.com/office/drawing/2014/main" id="{F82B6CC3-2E22-9BF0-4EE9-14A88DD465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74271" y="2124682"/>
                  <a:ext cx="0" cy="533665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Text Box 6">
                  <a:extLst>
                    <a:ext uri="{FF2B5EF4-FFF2-40B4-BE49-F238E27FC236}">
                      <a16:creationId xmlns:a16="http://schemas.microsoft.com/office/drawing/2014/main" id="{78A02B1F-4F03-705F-D381-AC7183BE70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20111" y="1936202"/>
                  <a:ext cx="1297203" cy="346243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B</a:t>
                  </a:r>
                  <a:r>
                    <a:rPr lang="en-US" altLang="zh-CN" b="1" baseline="-30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1</a:t>
                  </a: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.code</a:t>
                  </a:r>
                  <a:endParaRPr lang="zh-CN" altLang="en-US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Text Box 26">
                  <a:extLst>
                    <a:ext uri="{FF2B5EF4-FFF2-40B4-BE49-F238E27FC236}">
                      <a16:creationId xmlns:a16="http://schemas.microsoft.com/office/drawing/2014/main" id="{53CEBF66-624E-3048-BE6D-7F2665AA5F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31253" y="2513274"/>
                  <a:ext cx="1297203" cy="34624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 lIns="68580" tIns="34290" rIns="68580" bIns="34290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B</a:t>
                  </a:r>
                  <a:r>
                    <a:rPr lang="en-US" altLang="zh-CN" b="1" baseline="-30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2</a:t>
                  </a: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.code</a:t>
                  </a:r>
                  <a:endParaRPr lang="zh-CN" altLang="en-US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DA8FF444-CEA3-E189-5B79-924A74060677}"/>
                    </a:ext>
                  </a:extLst>
                </p:cNvPr>
                <p:cNvSpPr/>
                <p:nvPr/>
              </p:nvSpPr>
              <p:spPr bwMode="auto">
                <a:xfrm>
                  <a:off x="1222374" y="1346201"/>
                  <a:ext cx="3565526" cy="2103318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8580" tIns="34290" rIns="68580" bIns="34290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32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9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C3DC4271-8560-228B-B3FA-C283BD465F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9634" y="1456976"/>
                  <a:ext cx="889322" cy="2638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FF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B.code</a:t>
                  </a:r>
                  <a:endParaRPr lang="zh-C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1" name="Line 62">
                <a:extLst>
                  <a:ext uri="{FF2B5EF4-FFF2-40B4-BE49-F238E27FC236}">
                    <a16:creationId xmlns:a16="http://schemas.microsoft.com/office/drawing/2014/main" id="{8CE5B3A2-E892-CCE4-24A4-AD41FB59D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0911" y="2861448"/>
                <a:ext cx="0" cy="58999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Text Box 14">
              <a:extLst>
                <a:ext uri="{FF2B5EF4-FFF2-40B4-BE49-F238E27FC236}">
                  <a16:creationId xmlns:a16="http://schemas.microsoft.com/office/drawing/2014/main" id="{75CF33AF-A0E4-E27E-CCB1-B1E55466C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781" y="3482749"/>
              <a:ext cx="1008976" cy="346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8580" tIns="34290" rIns="68580" bIns="3429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.false</a:t>
              </a:r>
              <a:endParaRPr lang="zh-CN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Line 39">
              <a:extLst>
                <a:ext uri="{FF2B5EF4-FFF2-40B4-BE49-F238E27FC236}">
                  <a16:creationId xmlns:a16="http://schemas.microsoft.com/office/drawing/2014/main" id="{FAD1E49A-E0EA-6203-B3C0-FB4002470F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956901" y="4559277"/>
              <a:ext cx="8001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 Box 14">
              <a:extLst>
                <a:ext uri="{FF2B5EF4-FFF2-40B4-BE49-F238E27FC236}">
                  <a16:creationId xmlns:a16="http://schemas.microsoft.com/office/drawing/2014/main" id="{B04E4F88-FB3D-53DB-ED1F-1A67F2FA9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9542" y="4781514"/>
              <a:ext cx="1008976" cy="346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8580" tIns="34290" rIns="68580" bIns="3429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.false</a:t>
              </a:r>
              <a:endParaRPr lang="zh-CN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对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B→B1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&amp;&amp;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B2</a:t>
            </a:r>
            <a:r>
              <a:rPr lang="zh-CN" altLang="en-US" sz="2400" dirty="0">
                <a:latin typeface="+mn-ea"/>
              </a:rPr>
              <a:t>来说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如果</a:t>
            </a:r>
            <a:r>
              <a:rPr lang="en-US" altLang="zh-CN" sz="2400" dirty="0" err="1">
                <a:latin typeface="+mn-ea"/>
              </a:rPr>
              <a:t>B1</a:t>
            </a:r>
            <a:r>
              <a:rPr lang="zh-CN" altLang="en-US" sz="2400" dirty="0">
                <a:latin typeface="+mn-ea"/>
              </a:rPr>
              <a:t>为假则</a:t>
            </a:r>
            <a:r>
              <a:rPr lang="en-US" altLang="zh-CN" sz="2400" dirty="0">
                <a:latin typeface="+mn-ea"/>
              </a:rPr>
              <a:t>B</a:t>
            </a:r>
            <a:r>
              <a:rPr lang="zh-CN" altLang="en-US" sz="2400" dirty="0">
                <a:latin typeface="+mn-ea"/>
              </a:rPr>
              <a:t>为假，因此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B1.false</a:t>
            </a:r>
            <a:r>
              <a:rPr lang="zh-CN" altLang="en-US" sz="2400" dirty="0">
                <a:latin typeface="+mn-ea"/>
              </a:rPr>
              <a:t>应该从</a:t>
            </a:r>
            <a:r>
              <a:rPr lang="en-US" altLang="zh-CN" sz="2400" dirty="0" err="1">
                <a:latin typeface="+mn-ea"/>
              </a:rPr>
              <a:t>B.false</a:t>
            </a:r>
            <a:r>
              <a:rPr lang="zh-CN" altLang="en-US" sz="2400" dirty="0">
                <a:latin typeface="+mn-ea"/>
              </a:rPr>
              <a:t>继承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如果</a:t>
            </a:r>
            <a:r>
              <a:rPr lang="en-US" altLang="zh-CN" sz="2400" dirty="0" err="1">
                <a:latin typeface="+mn-ea"/>
              </a:rPr>
              <a:t>B1</a:t>
            </a:r>
            <a:r>
              <a:rPr lang="zh-CN" altLang="en-US" sz="2400" dirty="0">
                <a:latin typeface="+mn-ea"/>
              </a:rPr>
              <a:t>为真则对</a:t>
            </a:r>
            <a:r>
              <a:rPr lang="en-US" altLang="zh-CN" sz="2400" dirty="0" err="1">
                <a:latin typeface="+mn-ea"/>
              </a:rPr>
              <a:t>B2</a:t>
            </a:r>
            <a:r>
              <a:rPr lang="zh-CN" altLang="en-US" sz="2400" dirty="0">
                <a:latin typeface="+mn-ea"/>
              </a:rPr>
              <a:t>求值，因此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B1.true</a:t>
            </a:r>
            <a:r>
              <a:rPr lang="zh-CN" altLang="en-US" sz="2400" dirty="0">
                <a:latin typeface="+mn-ea"/>
              </a:rPr>
              <a:t>设置为</a:t>
            </a:r>
            <a:r>
              <a:rPr lang="en-US" altLang="zh-CN" sz="2400" dirty="0">
                <a:latin typeface="+mn-ea"/>
              </a:rPr>
              <a:t>B2</a:t>
            </a:r>
            <a:r>
              <a:rPr lang="zh-CN" altLang="en-US" sz="2400" dirty="0">
                <a:latin typeface="+mn-ea"/>
              </a:rPr>
              <a:t>的第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条指令的标号。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 err="1">
                <a:latin typeface="+mn-ea"/>
              </a:rPr>
              <a:t>B2</a:t>
            </a:r>
            <a:r>
              <a:rPr lang="zh-CN" altLang="en-US" sz="2400" dirty="0">
                <a:latin typeface="+mn-ea"/>
              </a:rPr>
              <a:t>的真假出口标号直接从</a:t>
            </a:r>
            <a:r>
              <a:rPr lang="en-US" altLang="zh-CN" sz="2400" dirty="0">
                <a:latin typeface="+mn-ea"/>
              </a:rPr>
              <a:t>B</a:t>
            </a:r>
            <a:r>
              <a:rPr lang="zh-CN" altLang="en-US" sz="2400" dirty="0">
                <a:latin typeface="+mn-ea"/>
              </a:rPr>
              <a:t>继承。</a:t>
            </a:r>
            <a:endParaRPr lang="en-US" altLang="zh-CN" sz="2400" dirty="0"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64214" y="3933056"/>
            <a:ext cx="6046372" cy="1584176"/>
            <a:chOff x="847317" y="4437112"/>
            <a:chExt cx="6532521" cy="1584176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6" t="26899" r="13971" b="51966"/>
            <a:stretch>
              <a:fillRect/>
            </a:stretch>
          </p:blipFill>
          <p:spPr bwMode="auto">
            <a:xfrm>
              <a:off x="847317" y="4437112"/>
              <a:ext cx="6532521" cy="1584176"/>
            </a:xfrm>
            <a:prstGeom prst="rect">
              <a:avLst/>
            </a:prstGeom>
            <a:noFill/>
            <a:ln w="28575">
              <a:solidFill>
                <a:srgbClr val="9999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矩形: 圆角 8"/>
            <p:cNvSpPr/>
            <p:nvPr/>
          </p:nvSpPr>
          <p:spPr bwMode="auto">
            <a:xfrm>
              <a:off x="4932040" y="5625078"/>
              <a:ext cx="1368152" cy="360040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  <p:sp>
          <p:nvSpPr>
            <p:cNvPr id="11" name="矩形: 圆角 10"/>
            <p:cNvSpPr/>
            <p:nvPr/>
          </p:nvSpPr>
          <p:spPr bwMode="auto">
            <a:xfrm>
              <a:off x="3923928" y="4496143"/>
              <a:ext cx="1152128" cy="360040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1070123-990A-D611-4041-AF199C9D7CBF}"/>
              </a:ext>
            </a:extLst>
          </p:cNvPr>
          <p:cNvGrpSpPr/>
          <p:nvPr/>
        </p:nvGrpSpPr>
        <p:grpSpPr>
          <a:xfrm>
            <a:off x="1127448" y="3573016"/>
            <a:ext cx="3852009" cy="2664296"/>
            <a:chOff x="1203145" y="3323813"/>
            <a:chExt cx="3852009" cy="2664296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AFCD62C-2390-5452-800F-B39505AFF971}"/>
                </a:ext>
              </a:extLst>
            </p:cNvPr>
            <p:cNvGrpSpPr/>
            <p:nvPr/>
          </p:nvGrpSpPr>
          <p:grpSpPr>
            <a:xfrm>
              <a:off x="1203145" y="3323813"/>
              <a:ext cx="3852009" cy="2664296"/>
              <a:chOff x="1152137" y="3103158"/>
              <a:chExt cx="3852009" cy="2664296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65EEDA53-DF8A-0A25-AB29-387A89C62099}"/>
                  </a:ext>
                </a:extLst>
              </p:cNvPr>
              <p:cNvGrpSpPr/>
              <p:nvPr/>
            </p:nvGrpSpPr>
            <p:grpSpPr>
              <a:xfrm>
                <a:off x="1152137" y="3103158"/>
                <a:ext cx="3852009" cy="2664296"/>
                <a:chOff x="7788623" y="1193747"/>
                <a:chExt cx="3852009" cy="2664296"/>
              </a:xfrm>
            </p:grpSpPr>
            <p:sp>
              <p:nvSpPr>
                <p:cNvPr id="13" name="Line 61">
                  <a:extLst>
                    <a:ext uri="{FF2B5EF4-FFF2-40B4-BE49-F238E27FC236}">
                      <a16:creationId xmlns:a16="http://schemas.microsoft.com/office/drawing/2014/main" id="{92C9426C-7D8B-BC73-0054-2113B7FAD5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486579" y="2688323"/>
                  <a:ext cx="723618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Line 62">
                  <a:extLst>
                    <a:ext uri="{FF2B5EF4-FFF2-40B4-BE49-F238E27FC236}">
                      <a16:creationId xmlns:a16="http://schemas.microsoft.com/office/drawing/2014/main" id="{BFEA52B3-53B1-6ACF-EA0E-89578EF960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91004" y="2552442"/>
                  <a:ext cx="961740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stealth" w="lg" len="lg"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Text Box 14">
                  <a:extLst>
                    <a:ext uri="{FF2B5EF4-FFF2-40B4-BE49-F238E27FC236}">
                      <a16:creationId xmlns:a16="http://schemas.microsoft.com/office/drawing/2014/main" id="{1763605F-CEAB-2328-CB11-4611117773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39606" y="1699077"/>
                  <a:ext cx="1008976" cy="3462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68580" tIns="34290" rIns="68580" bIns="34290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r>
                    <a:rPr lang="en-US" altLang="zh-CN" b="1" baseline="-250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  <a:r>
                    <a:rPr lang="en-US" altLang="zh-CN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.true</a:t>
                  </a:r>
                  <a:endParaRPr lang="zh-C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Text Box 14">
                  <a:extLst>
                    <a:ext uri="{FF2B5EF4-FFF2-40B4-BE49-F238E27FC236}">
                      <a16:creationId xmlns:a16="http://schemas.microsoft.com/office/drawing/2014/main" id="{B3E80538-A413-66F0-F570-5155833B6B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52282" y="2931435"/>
                  <a:ext cx="1082675" cy="3462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r>
                    <a:rPr lang="en-US" altLang="zh-CN" b="1" baseline="-250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altLang="zh-CN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.true</a:t>
                  </a:r>
                  <a:endParaRPr lang="zh-C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Line 62">
                  <a:extLst>
                    <a:ext uri="{FF2B5EF4-FFF2-40B4-BE49-F238E27FC236}">
                      <a16:creationId xmlns:a16="http://schemas.microsoft.com/office/drawing/2014/main" id="{74A95D8E-0E8B-D4D3-99B1-C4CC50659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86579" y="2697623"/>
                  <a:ext cx="0" cy="753821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stealth" w="lg" len="lg"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078E27BC-790D-3F5A-00A5-9E7DF7F2F1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88623" y="1193747"/>
                  <a:ext cx="3852009" cy="2664296"/>
                  <a:chOff x="1222374" y="1191822"/>
                  <a:chExt cx="3590456" cy="2664296"/>
                </a:xfrm>
              </p:grpSpPr>
              <p:sp>
                <p:nvSpPr>
                  <p:cNvPr id="20" name="Line 9">
                    <a:extLst>
                      <a:ext uri="{FF2B5EF4-FFF2-40B4-BE49-F238E27FC236}">
                        <a16:creationId xmlns:a16="http://schemas.microsoft.com/office/drawing/2014/main" id="{5FB763F4-7668-7541-837D-C5E6FA36F5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843554" y="2113541"/>
                    <a:ext cx="730718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lIns="68580" tIns="34290" rIns="68580" bIns="34290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342900" indent="1143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685800" indent="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028700" indent="3429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371600" indent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>
                      <a:defRPr/>
                    </a:pPr>
                    <a:endParaRPr lang="zh-CN" altLang="en-US" b="1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" name="Text Box 12">
                    <a:extLst>
                      <a:ext uri="{FF2B5EF4-FFF2-40B4-BE49-F238E27FC236}">
                        <a16:creationId xmlns:a16="http://schemas.microsoft.com/office/drawing/2014/main" id="{C85EEC06-C628-87B6-617A-2E6E27E56F7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7299" y="3594701"/>
                    <a:ext cx="811279" cy="2614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68580" tIns="34290" rIns="68580" bIns="34290">
                    <a:noAutofit/>
                  </a:bodyPr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b="1" dirty="0" err="1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B.true</a:t>
                    </a:r>
                    <a:endParaRPr lang="en-US" altLang="zh-CN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2" name="Text Box 13">
                    <a:extLst>
                      <a:ext uri="{FF2B5EF4-FFF2-40B4-BE49-F238E27FC236}">
                        <a16:creationId xmlns:a16="http://schemas.microsoft.com/office/drawing/2014/main" id="{0A516E1E-30DB-7D48-1906-36A084DF7EC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45037" y="3539281"/>
                    <a:ext cx="967793" cy="224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68580" tIns="34290" rIns="68580" bIns="34290">
                    <a:noAutofit/>
                  </a:bodyPr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b="1" dirty="0" err="1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B.false</a:t>
                    </a:r>
                    <a:endParaRPr lang="en-US" altLang="zh-CN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" name="Line 24">
                    <a:extLst>
                      <a:ext uri="{FF2B5EF4-FFF2-40B4-BE49-F238E27FC236}">
                        <a16:creationId xmlns:a16="http://schemas.microsoft.com/office/drawing/2014/main" id="{FFDCDDFF-48D4-C46D-86DB-46814A926D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97433" y="2119891"/>
                    <a:ext cx="94999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 lIns="68580" tIns="34290" rIns="68580" bIns="34290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342900" indent="1143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685800" indent="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028700" indent="3429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371600" indent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>
                      <a:defRPr/>
                    </a:pPr>
                    <a:endParaRPr lang="zh-CN" altLang="en-US" b="1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" name="Text Box 6">
                    <a:extLst>
                      <a:ext uri="{FF2B5EF4-FFF2-40B4-BE49-F238E27FC236}">
                        <a16:creationId xmlns:a16="http://schemas.microsoft.com/office/drawing/2014/main" id="{20A16218-5E83-C95B-9484-E7F75EE3FB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20111" y="1936202"/>
                    <a:ext cx="1297203" cy="34624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68580" tIns="34290" rIns="68580" bIns="34290">
                    <a:noAutofit/>
                  </a:bodyPr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_GB2312"/>
                        <a:cs typeface="Arial" panose="020B0604020202020204" pitchFamily="34" charset="0"/>
                      </a:rPr>
                      <a:t>B</a:t>
                    </a:r>
                    <a:r>
                      <a:rPr lang="en-US" altLang="zh-CN" b="1" baseline="-30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_GB2312"/>
                        <a:cs typeface="Arial" panose="020B0604020202020204" pitchFamily="34" charset="0"/>
                      </a:rPr>
                      <a:t>1</a:t>
                    </a:r>
                    <a:r>
                      <a:rPr lang="en-US" altLang="zh-CN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_GB2312"/>
                        <a:cs typeface="Arial" panose="020B0604020202020204" pitchFamily="34" charset="0"/>
                      </a:rPr>
                      <a:t>.code</a:t>
                    </a:r>
                    <a:endParaRPr lang="zh-CN" altLang="en-US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" name="Text Box 26">
                    <a:extLst>
                      <a:ext uri="{FF2B5EF4-FFF2-40B4-BE49-F238E27FC236}">
                        <a16:creationId xmlns:a16="http://schemas.microsoft.com/office/drawing/2014/main" id="{0CEDE1E4-8C1E-76B2-2520-CB3C18C813B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31253" y="2487966"/>
                    <a:ext cx="1297203" cy="34624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square" lIns="68580" tIns="34290" rIns="68580" bIns="34290">
                    <a:spAutoFit/>
                  </a:bodyPr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_GB2312"/>
                        <a:cs typeface="Arial" panose="020B0604020202020204" pitchFamily="34" charset="0"/>
                      </a:rPr>
                      <a:t>B</a:t>
                    </a:r>
                    <a:r>
                      <a:rPr lang="en-US" altLang="zh-CN" b="1" baseline="-30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_GB2312"/>
                        <a:cs typeface="Arial" panose="020B0604020202020204" pitchFamily="34" charset="0"/>
                      </a:rPr>
                      <a:t>2</a:t>
                    </a:r>
                    <a:r>
                      <a:rPr lang="en-US" altLang="zh-CN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_GB2312"/>
                        <a:cs typeface="Arial" panose="020B0604020202020204" pitchFamily="34" charset="0"/>
                      </a:rPr>
                      <a:t>.code</a:t>
                    </a:r>
                    <a:endParaRPr lang="zh-CN" altLang="en-US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" name="矩形 26">
                    <a:extLst>
                      <a:ext uri="{FF2B5EF4-FFF2-40B4-BE49-F238E27FC236}">
                        <a16:creationId xmlns:a16="http://schemas.microsoft.com/office/drawing/2014/main" id="{298C34B2-FA76-12B0-9D2B-D54F81826D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22374" y="1191822"/>
                    <a:ext cx="3565526" cy="2257697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  <a:prstDash val="lg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8580" tIns="34290" rIns="68580" bIns="34290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32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29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26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26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21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21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21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21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100000"/>
                      <a:buFont typeface="Symbol" panose="05050102010706020507" pitchFamily="18" charset="2"/>
                      <a:buChar char=""/>
                      <a:defRPr sz="2100" kern="1200">
                        <a:solidFill>
                          <a:schemeClr val="tx2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  <a:defRPr/>
                    </a:pPr>
                    <a:endParaRPr lang="zh-CN" altLang="en-US" sz="1800" b="1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" name="矩形 27">
                    <a:extLst>
                      <a:ext uri="{FF2B5EF4-FFF2-40B4-BE49-F238E27FC236}">
                        <a16:creationId xmlns:a16="http://schemas.microsoft.com/office/drawing/2014/main" id="{3F5B3FE2-AE20-96AD-583A-E963CC2C2E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20859" y="1224825"/>
                    <a:ext cx="889322" cy="2638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5146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9718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4290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886200" indent="-228600" algn="l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b="1" dirty="0" err="1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楷体_GB2312"/>
                        <a:cs typeface="Arial" panose="020B0604020202020204" pitchFamily="34" charset="0"/>
                      </a:rPr>
                      <a:t>B.code</a:t>
                    </a:r>
                    <a:endParaRPr lang="zh-CN" altLang="en-US" b="1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" name="Line 62">
                  <a:extLst>
                    <a:ext uri="{FF2B5EF4-FFF2-40B4-BE49-F238E27FC236}">
                      <a16:creationId xmlns:a16="http://schemas.microsoft.com/office/drawing/2014/main" id="{7472E703-9C7F-AD93-284A-3B0009B987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25294" y="2697623"/>
                  <a:ext cx="0" cy="75779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stealth" w="lg" len="lg"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" name="Text Box 14">
                <a:extLst>
                  <a:ext uri="{FF2B5EF4-FFF2-40B4-BE49-F238E27FC236}">
                    <a16:creationId xmlns:a16="http://schemas.microsoft.com/office/drawing/2014/main" id="{1CD06823-A2D0-761D-3C75-ACB0119B43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8424" y="3643609"/>
                <a:ext cx="1008976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.false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CE2B526-970C-BE87-77FD-5F76192B7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4521" y="4876918"/>
                <a:ext cx="1008976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.false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Line 62">
              <a:extLst>
                <a:ext uri="{FF2B5EF4-FFF2-40B4-BE49-F238E27FC236}">
                  <a16:creationId xmlns:a16="http://schemas.microsoft.com/office/drawing/2014/main" id="{E9413427-D4B2-3A4B-141C-3C825CC70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9217" y="4251882"/>
              <a:ext cx="0" cy="132962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Line 61">
              <a:extLst>
                <a:ext uri="{FF2B5EF4-FFF2-40B4-BE49-F238E27FC236}">
                  <a16:creationId xmlns:a16="http://schemas.microsoft.com/office/drawing/2014/main" id="{8CD06B23-0C15-02CC-DFE7-6AC238A3F7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5269" y="4821364"/>
              <a:ext cx="42454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60">
              <a:extLst>
                <a:ext uri="{FF2B5EF4-FFF2-40B4-BE49-F238E27FC236}">
                  <a16:creationId xmlns:a16="http://schemas.microsoft.com/office/drawing/2014/main" id="{D099391C-6501-6B60-097C-4A08B6EDD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485" y="4251883"/>
              <a:ext cx="0" cy="4306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控制流语句的语法制导定义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对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P→S</a:t>
            </a:r>
            <a:r>
              <a:rPr lang="zh-CN" altLang="en-US" sz="2400" dirty="0">
                <a:latin typeface="+mn-ea"/>
              </a:rPr>
              <a:t>来说，将</a:t>
            </a:r>
            <a:r>
              <a:rPr lang="en-US" altLang="zh-CN" sz="2400" dirty="0" err="1">
                <a:latin typeface="+mn-ea"/>
              </a:rPr>
              <a:t>S.next</a:t>
            </a:r>
            <a:r>
              <a:rPr lang="zh-CN" altLang="en-US" sz="2400" dirty="0">
                <a:latin typeface="+mn-ea"/>
              </a:rPr>
              <a:t>初始化为一个新标号，并设置为</a:t>
            </a:r>
            <a:r>
              <a:rPr lang="en-US" altLang="zh-CN" sz="2400" dirty="0" err="1">
                <a:latin typeface="+mn-ea"/>
              </a:rPr>
              <a:t>S.code</a:t>
            </a:r>
            <a:r>
              <a:rPr lang="zh-CN" altLang="en-US" sz="2400" dirty="0">
                <a:latin typeface="+mn-ea"/>
              </a:rPr>
              <a:t>后面的第一条语句的标号。对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S →assign</a:t>
            </a:r>
            <a:r>
              <a:rPr lang="zh-CN" altLang="en-US" sz="2400" dirty="0">
                <a:latin typeface="+mn-ea"/>
              </a:rPr>
              <a:t>来说，只需将</a:t>
            </a:r>
            <a:r>
              <a:rPr lang="en-US" altLang="zh-CN" sz="2400" dirty="0">
                <a:latin typeface="+mn-ea"/>
              </a:rPr>
              <a:t>assign</a:t>
            </a:r>
            <a:r>
              <a:rPr lang="zh-CN" altLang="en-US" sz="2400" dirty="0">
                <a:latin typeface="+mn-ea"/>
              </a:rPr>
              <a:t>的代码复制给</a:t>
            </a:r>
            <a:r>
              <a:rPr lang="en-US" altLang="zh-CN" sz="2400" dirty="0">
                <a:latin typeface="+mn-ea"/>
              </a:rPr>
              <a:t>S</a:t>
            </a:r>
            <a:r>
              <a:rPr lang="zh-CN" altLang="en-US" sz="2400" dirty="0">
                <a:latin typeface="+mn-ea"/>
              </a:rPr>
              <a:t>即可。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spcBef>
                <a:spcPts val="0"/>
              </a:spcBef>
            </a:pPr>
            <a:endParaRPr lang="zh-CN" altLang="en-US" sz="2400" dirty="0">
              <a:latin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" t="5115" r="17968" b="80390"/>
          <a:stretch>
            <a:fillRect/>
          </a:stretch>
        </p:blipFill>
        <p:spPr bwMode="auto">
          <a:xfrm>
            <a:off x="4887266" y="3212976"/>
            <a:ext cx="6419975" cy="1440160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F3E8173D-F26C-37C0-C871-BF14F34CB682}"/>
              </a:ext>
            </a:extLst>
          </p:cNvPr>
          <p:cNvGrpSpPr/>
          <p:nvPr/>
        </p:nvGrpSpPr>
        <p:grpSpPr>
          <a:xfrm>
            <a:off x="1127448" y="3212976"/>
            <a:ext cx="3390133" cy="1912230"/>
            <a:chOff x="7788625" y="1886006"/>
            <a:chExt cx="3390133" cy="1912230"/>
          </a:xfrm>
        </p:grpSpPr>
        <p:sp>
          <p:nvSpPr>
            <p:cNvPr id="9" name="Line 62">
              <a:extLst>
                <a:ext uri="{FF2B5EF4-FFF2-40B4-BE49-F238E27FC236}">
                  <a16:creationId xmlns:a16="http://schemas.microsoft.com/office/drawing/2014/main" id="{51A1F6A4-9F5E-067C-200D-4814A1D70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4617" y="2499856"/>
              <a:ext cx="0" cy="82631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886B2D3-0C43-EFCF-371C-E83E2C9DBC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8625" y="1886006"/>
              <a:ext cx="3390133" cy="1912230"/>
              <a:chOff x="1222374" y="1346200"/>
              <a:chExt cx="3159937" cy="1366312"/>
            </a:xfrm>
          </p:grpSpPr>
          <p:sp>
            <p:nvSpPr>
              <p:cNvPr id="13" name="Text Box 14">
                <a:extLst>
                  <a:ext uri="{FF2B5EF4-FFF2-40B4-BE49-F238E27FC236}">
                    <a16:creationId xmlns:a16="http://schemas.microsoft.com/office/drawing/2014/main" id="{C9F26B3A-E462-3EB2-EE3D-39755BE5F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6044" y="2441548"/>
                <a:ext cx="889561" cy="27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no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S.next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Line 24">
                <a:extLst>
                  <a:ext uri="{FF2B5EF4-FFF2-40B4-BE49-F238E27FC236}">
                    <a16:creationId xmlns:a16="http://schemas.microsoft.com/office/drawing/2014/main" id="{82E5AEB8-8AFC-7BF6-5C9B-5B4EFB259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7835" y="1792958"/>
                <a:ext cx="43365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7D8DC76B-95BC-FC0E-23A8-1026C233F2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4172" y="1683500"/>
                <a:ext cx="1298791" cy="25008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no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1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rPr>
                  <a:t>S.code</a:t>
                </a:r>
                <a:endParaRPr lang="en-US" altLang="zh-CN" b="1" dirty="0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Arial" panose="020B0604020202020204" pitchFamily="34" charset="0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0051E249-0224-B202-A0A1-5229FD1339C9}"/>
                  </a:ext>
                </a:extLst>
              </p:cNvPr>
              <p:cNvSpPr/>
              <p:nvPr/>
            </p:nvSpPr>
            <p:spPr bwMode="auto">
              <a:xfrm>
                <a:off x="1222374" y="1346200"/>
                <a:ext cx="3159937" cy="102901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32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9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6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6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100" kern="1200">
                    <a:solidFill>
                      <a:schemeClr val="tx2"/>
                    </a:solidFill>
                    <a:latin typeface="Candara" panose="020E0502030303020204" pitchFamily="34" charset="0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zh-CN" altLang="en-US" sz="1800" b="1" dirty="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AA3A71C-612B-CFE4-1157-DFBFF5231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611" y="1456976"/>
                <a:ext cx="877369" cy="263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rPr>
                  <a:t>P.code</a:t>
                </a:r>
                <a:endParaRPr lang="zh-CN" alt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楷体_GB2312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784E-FF47-6CE0-764D-7777EA0A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111FB-3F3E-3E33-9193-D12D6CCE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控制流语句的语法制导定义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1D2E5-378D-C7AF-3ECC-8A8B386315D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对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S→if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(B)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S1</a:t>
            </a:r>
            <a:r>
              <a:rPr lang="zh-CN" altLang="en-US" sz="2400" dirty="0">
                <a:latin typeface="+mn-ea"/>
              </a:rPr>
              <a:t>来说，将</a:t>
            </a:r>
            <a:r>
              <a:rPr lang="en-US" altLang="zh-CN" sz="2400" dirty="0" err="1">
                <a:latin typeface="+mn-ea"/>
              </a:rPr>
              <a:t>B.true</a:t>
            </a:r>
            <a:r>
              <a:rPr lang="zh-CN" altLang="en-US" sz="2400" dirty="0">
                <a:latin typeface="+mn-ea"/>
              </a:rPr>
              <a:t>设置为</a:t>
            </a:r>
            <a:r>
              <a:rPr lang="en-US" altLang="zh-CN" sz="2400" dirty="0" err="1">
                <a:latin typeface="+mn-ea"/>
              </a:rPr>
              <a:t>S1.code</a:t>
            </a:r>
            <a:r>
              <a:rPr lang="zh-CN" altLang="en-US" sz="2400" dirty="0">
                <a:latin typeface="+mn-ea"/>
              </a:rPr>
              <a:t>的第一条语句的标号。而</a:t>
            </a:r>
            <a:r>
              <a:rPr lang="en-US" altLang="zh-CN" sz="2400" dirty="0" err="1">
                <a:latin typeface="+mn-ea"/>
              </a:rPr>
              <a:t>B.false</a:t>
            </a:r>
            <a:r>
              <a:rPr lang="zh-CN" altLang="en-US" sz="2400" dirty="0">
                <a:latin typeface="+mn-ea"/>
              </a:rPr>
              <a:t>从</a:t>
            </a:r>
            <a:r>
              <a:rPr lang="en-US" altLang="zh-CN" sz="2400" dirty="0" err="1">
                <a:latin typeface="+mn-ea"/>
              </a:rPr>
              <a:t>S.next</a:t>
            </a:r>
            <a:r>
              <a:rPr lang="zh-CN" altLang="en-US" sz="2400" dirty="0">
                <a:latin typeface="+mn-ea"/>
              </a:rPr>
              <a:t>继承。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400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66886F13-6E74-2845-FAB0-9660926321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" t="20463" r="3658" b="68817"/>
          <a:stretch>
            <a:fillRect/>
          </a:stretch>
        </p:blipFill>
        <p:spPr bwMode="auto">
          <a:xfrm>
            <a:off x="5100995" y="3460940"/>
            <a:ext cx="6259143" cy="901320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A1B68E8-FBD5-4D10-6C66-BB5E87F96A60}"/>
              </a:ext>
            </a:extLst>
          </p:cNvPr>
          <p:cNvGrpSpPr/>
          <p:nvPr/>
        </p:nvGrpSpPr>
        <p:grpSpPr>
          <a:xfrm>
            <a:off x="1020885" y="2780928"/>
            <a:ext cx="3840701" cy="3064110"/>
            <a:chOff x="7788625" y="1916832"/>
            <a:chExt cx="3840701" cy="306411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1C900DF-2CF0-F94B-7790-B115C39ACA73}"/>
                </a:ext>
              </a:extLst>
            </p:cNvPr>
            <p:cNvGrpSpPr/>
            <p:nvPr/>
          </p:nvGrpSpPr>
          <p:grpSpPr>
            <a:xfrm>
              <a:off x="7788625" y="1916832"/>
              <a:ext cx="3840701" cy="3064110"/>
              <a:chOff x="7788625" y="1886006"/>
              <a:chExt cx="3840701" cy="3064110"/>
            </a:xfrm>
          </p:grpSpPr>
          <p:sp>
            <p:nvSpPr>
              <p:cNvPr id="8" name="Line 61">
                <a:extLst>
                  <a:ext uri="{FF2B5EF4-FFF2-40B4-BE49-F238E27FC236}">
                    <a16:creationId xmlns:a16="http://schemas.microsoft.com/office/drawing/2014/main" id="{48E43D16-0B95-39B3-B08D-9D839A1CD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55227" y="3429000"/>
                <a:ext cx="114159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Line 62">
                <a:extLst>
                  <a:ext uri="{FF2B5EF4-FFF2-40B4-BE49-F238E27FC236}">
                    <a16:creationId xmlns:a16="http://schemas.microsoft.com/office/drawing/2014/main" id="{369F83E2-2A92-1D81-186B-C75209B75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5228" y="3429001"/>
                <a:ext cx="0" cy="108880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 Box 14">
                <a:extLst>
                  <a:ext uri="{FF2B5EF4-FFF2-40B4-BE49-F238E27FC236}">
                    <a16:creationId xmlns:a16="http://schemas.microsoft.com/office/drawing/2014/main" id="{9E1A7375-70C6-D191-3452-7C22F6899C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49626" y="3549779"/>
                <a:ext cx="1008976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.next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Line 62">
                <a:extLst>
                  <a:ext uri="{FF2B5EF4-FFF2-40B4-BE49-F238E27FC236}">
                    <a16:creationId xmlns:a16="http://schemas.microsoft.com/office/drawing/2014/main" id="{7AEB443D-7817-7EA2-2654-FDD9A2016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17176" y="4179838"/>
                <a:ext cx="0" cy="33796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77D54A53-E263-0B13-4A83-63E4B3FF2A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88625" y="1886006"/>
                <a:ext cx="3840701" cy="3064110"/>
                <a:chOff x="1222374" y="1346200"/>
                <a:chExt cx="3579911" cy="2189345"/>
              </a:xfrm>
            </p:grpSpPr>
            <p:sp>
              <p:nvSpPr>
                <p:cNvPr id="17" name="Text Box 14">
                  <a:extLst>
                    <a:ext uri="{FF2B5EF4-FFF2-40B4-BE49-F238E27FC236}">
                      <a16:creationId xmlns:a16="http://schemas.microsoft.com/office/drawing/2014/main" id="{CF99DAA5-0184-D5BF-F6E7-AEEE2D4621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38274" y="3264581"/>
                  <a:ext cx="889561" cy="2709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S.next</a:t>
                  </a:r>
                  <a:endParaRPr lang="zh-C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Line 9">
                  <a:extLst>
                    <a:ext uri="{FF2B5EF4-FFF2-40B4-BE49-F238E27FC236}">
                      <a16:creationId xmlns:a16="http://schemas.microsoft.com/office/drawing/2014/main" id="{CBDA39B0-F062-9B92-CEDC-618660E84D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031375" y="1765457"/>
                  <a:ext cx="414238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Text Box 12">
                  <a:extLst>
                    <a:ext uri="{FF2B5EF4-FFF2-40B4-BE49-F238E27FC236}">
                      <a16:creationId xmlns:a16="http://schemas.microsoft.com/office/drawing/2014/main" id="{4CDA7B55-6CD8-176D-E2DB-27A0503AFF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51623" y="1933584"/>
                  <a:ext cx="811279" cy="2614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B.true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Text Box 13">
                  <a:extLst>
                    <a:ext uri="{FF2B5EF4-FFF2-40B4-BE49-F238E27FC236}">
                      <a16:creationId xmlns:a16="http://schemas.microsoft.com/office/drawing/2014/main" id="{1CE7BA37-2B4A-BDEF-AC9D-E7C413F6C7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34492" y="1463955"/>
                  <a:ext cx="967793" cy="2249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B.false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Line 23">
                  <a:extLst>
                    <a:ext uri="{FF2B5EF4-FFF2-40B4-BE49-F238E27FC236}">
                      <a16:creationId xmlns:a16="http://schemas.microsoft.com/office/drawing/2014/main" id="{33609D71-9697-91F8-BD7D-EE1EC4B604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27835" y="1786608"/>
                  <a:ext cx="0" cy="537878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Line 24">
                  <a:extLst>
                    <a:ext uri="{FF2B5EF4-FFF2-40B4-BE49-F238E27FC236}">
                      <a16:creationId xmlns:a16="http://schemas.microsoft.com/office/drawing/2014/main" id="{2BF8E71C-F1BD-8752-74C1-C4E26EAB38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7835" y="1792958"/>
                  <a:ext cx="43365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Line 39">
                  <a:extLst>
                    <a:ext uri="{FF2B5EF4-FFF2-40B4-BE49-F238E27FC236}">
                      <a16:creationId xmlns:a16="http://schemas.microsoft.com/office/drawing/2014/main" id="{59569D62-20BD-7F13-FD19-A087709405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327835" y="2331414"/>
                  <a:ext cx="39354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Line 60">
                  <a:extLst>
                    <a:ext uri="{FF2B5EF4-FFF2-40B4-BE49-F238E27FC236}">
                      <a16:creationId xmlns:a16="http://schemas.microsoft.com/office/drawing/2014/main" id="{DE5A223A-EDCB-BC4F-8070-977517F822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59998" y="1762802"/>
                  <a:ext cx="0" cy="1220549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Text Box 5">
                  <a:extLst>
                    <a:ext uri="{FF2B5EF4-FFF2-40B4-BE49-F238E27FC236}">
                      <a16:creationId xmlns:a16="http://schemas.microsoft.com/office/drawing/2014/main" id="{EF7ADDEC-35F8-5975-1610-8C19E442DF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4172" y="1683500"/>
                  <a:ext cx="1298791" cy="25008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B.code</a:t>
                  </a:r>
                  <a:endParaRPr lang="en-US" altLang="zh-CN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Text Box 6">
                  <a:extLst>
                    <a:ext uri="{FF2B5EF4-FFF2-40B4-BE49-F238E27FC236}">
                      <a16:creationId xmlns:a16="http://schemas.microsoft.com/office/drawing/2014/main" id="{A14E2743-74CE-754A-B5F5-F19CE51C3B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5761" y="2250870"/>
                  <a:ext cx="1297203" cy="24441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</a:t>
                  </a:r>
                  <a:r>
                    <a:rPr lang="en-US" altLang="zh-CN" b="1" baseline="-30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1</a:t>
                  </a: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.code</a:t>
                  </a:r>
                  <a:endParaRPr lang="zh-CN" altLang="en-US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202FDD87-C1F0-24FB-13EE-48F642ED5296}"/>
                    </a:ext>
                  </a:extLst>
                </p:cNvPr>
                <p:cNvSpPr/>
                <p:nvPr/>
              </p:nvSpPr>
              <p:spPr bwMode="auto">
                <a:xfrm>
                  <a:off x="1222374" y="1346200"/>
                  <a:ext cx="3565526" cy="188045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8580" tIns="34290" rIns="68580" bIns="34290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32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9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BA4D47FA-173F-55D4-333A-4F8DEEF2F2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611" y="1456976"/>
                  <a:ext cx="877369" cy="2638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FF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S.code</a:t>
                  </a:r>
                  <a:endParaRPr lang="zh-C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7" name="Line 24">
              <a:extLst>
                <a:ext uri="{FF2B5EF4-FFF2-40B4-BE49-F238E27FC236}">
                  <a16:creationId xmlns:a16="http://schemas.microsoft.com/office/drawing/2014/main" id="{4332C6FE-094D-9F9D-CE71-932DFBEE4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17176" y="4210664"/>
              <a:ext cx="262949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81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控制流语句的语法制导定义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5"/>
            <a:ext cx="1139105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对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S→if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(B)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S1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else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S2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来说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 err="1">
                <a:latin typeface="+mn-ea"/>
              </a:rPr>
              <a:t>B.true</a:t>
            </a:r>
            <a:r>
              <a:rPr lang="zh-CN" altLang="en-US" sz="2400" dirty="0">
                <a:latin typeface="+mn-ea"/>
              </a:rPr>
              <a:t>设置为</a:t>
            </a:r>
            <a:r>
              <a:rPr lang="en-US" altLang="zh-CN" sz="2400" dirty="0" err="1">
                <a:latin typeface="+mn-ea"/>
              </a:rPr>
              <a:t>S1.code</a:t>
            </a:r>
            <a:r>
              <a:rPr lang="zh-CN" altLang="en-US" sz="2400" dirty="0">
                <a:latin typeface="+mn-ea"/>
              </a:rPr>
              <a:t>的第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条语句的标号。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 err="1">
                <a:latin typeface="+mn-ea"/>
              </a:rPr>
              <a:t>B.false</a:t>
            </a:r>
            <a:r>
              <a:rPr lang="zh-CN" altLang="en-US" sz="2400" dirty="0">
                <a:latin typeface="+mn-ea"/>
              </a:rPr>
              <a:t>设置为</a:t>
            </a:r>
            <a:r>
              <a:rPr lang="en-US" altLang="zh-CN" sz="2400" dirty="0" err="1">
                <a:latin typeface="+mn-ea"/>
              </a:rPr>
              <a:t>S2.code</a:t>
            </a:r>
            <a:r>
              <a:rPr lang="zh-CN" altLang="en-US" sz="2400" dirty="0">
                <a:latin typeface="+mn-ea"/>
              </a:rPr>
              <a:t>的第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条语句的标号。 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 err="1">
                <a:latin typeface="+mn-ea"/>
              </a:rPr>
              <a:t>S1.next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 err="1">
                <a:latin typeface="+mn-ea"/>
              </a:rPr>
              <a:t>S2.next</a:t>
            </a:r>
            <a:r>
              <a:rPr lang="zh-CN" altLang="en-US" sz="2400" dirty="0">
                <a:latin typeface="+mn-ea"/>
              </a:rPr>
              <a:t>都从</a:t>
            </a:r>
            <a:r>
              <a:rPr lang="en-US" altLang="zh-CN" sz="2400" dirty="0" err="1">
                <a:latin typeface="+mn-ea"/>
              </a:rPr>
              <a:t>S.next</a:t>
            </a:r>
            <a:r>
              <a:rPr lang="zh-CN" altLang="en-US" sz="2400" dirty="0">
                <a:latin typeface="+mn-ea"/>
              </a:rPr>
              <a:t>继承。</a:t>
            </a:r>
            <a:endParaRPr lang="en-US" altLang="zh-CN" sz="2400" dirty="0">
              <a:latin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400" dirty="0">
              <a:latin typeface="+mn-ea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00" r="10907" b="43998"/>
          <a:stretch>
            <a:fillRect/>
          </a:stretch>
        </p:blipFill>
        <p:spPr bwMode="auto">
          <a:xfrm>
            <a:off x="934364" y="3604515"/>
            <a:ext cx="6631352" cy="2146239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DDD9FAEE-9DFF-390E-95E9-D49AD983605C}"/>
              </a:ext>
            </a:extLst>
          </p:cNvPr>
          <p:cNvGrpSpPr/>
          <p:nvPr/>
        </p:nvGrpSpPr>
        <p:grpSpPr>
          <a:xfrm>
            <a:off x="7871923" y="1772816"/>
            <a:ext cx="3840701" cy="4072939"/>
            <a:chOff x="7788625" y="1916832"/>
            <a:chExt cx="3840701" cy="4072939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67495EFF-B187-F1F2-943B-B18D654BF471}"/>
                </a:ext>
              </a:extLst>
            </p:cNvPr>
            <p:cNvGrpSpPr/>
            <p:nvPr/>
          </p:nvGrpSpPr>
          <p:grpSpPr>
            <a:xfrm>
              <a:off x="7788625" y="1916832"/>
              <a:ext cx="3840701" cy="4072939"/>
              <a:chOff x="7788625" y="1886006"/>
              <a:chExt cx="3840701" cy="4072939"/>
            </a:xfrm>
          </p:grpSpPr>
          <p:sp>
            <p:nvSpPr>
              <p:cNvPr id="28" name="Line 61">
                <a:extLst>
                  <a:ext uri="{FF2B5EF4-FFF2-40B4-BE49-F238E27FC236}">
                    <a16:creationId xmlns:a16="http://schemas.microsoft.com/office/drawing/2014/main" id="{DB1B26AD-00F3-04DA-D4CB-AA1D22E552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84231" y="3429000"/>
                <a:ext cx="1212595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Line 62">
                <a:extLst>
                  <a:ext uri="{FF2B5EF4-FFF2-40B4-BE49-F238E27FC236}">
                    <a16:creationId xmlns:a16="http://schemas.microsoft.com/office/drawing/2014/main" id="{30FB6926-29FB-255B-B30C-56B9AF0623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84232" y="3429000"/>
                <a:ext cx="0" cy="20649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Text Box 14">
                <a:extLst>
                  <a:ext uri="{FF2B5EF4-FFF2-40B4-BE49-F238E27FC236}">
                    <a16:creationId xmlns:a16="http://schemas.microsoft.com/office/drawing/2014/main" id="{8C78E936-25F1-A8C5-54E4-6AF17C04F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96584" y="3700207"/>
                <a:ext cx="1008976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.next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Text Box 14">
                <a:extLst>
                  <a:ext uri="{FF2B5EF4-FFF2-40B4-BE49-F238E27FC236}">
                    <a16:creationId xmlns:a16="http://schemas.microsoft.com/office/drawing/2014/main" id="{42466748-5771-B5DE-9541-3B96C9E3B2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01124" y="4605874"/>
                <a:ext cx="1082675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.next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Line 24">
                <a:extLst>
                  <a:ext uri="{FF2B5EF4-FFF2-40B4-BE49-F238E27FC236}">
                    <a16:creationId xmlns:a16="http://schemas.microsoft.com/office/drawing/2014/main" id="{B41A7C7C-9481-6430-100A-872A9EDDC2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32982" y="4994860"/>
                <a:ext cx="862141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Line 62">
                <a:extLst>
                  <a:ext uri="{FF2B5EF4-FFF2-40B4-BE49-F238E27FC236}">
                    <a16:creationId xmlns:a16="http://schemas.microsoft.com/office/drawing/2014/main" id="{078C21EE-5E69-FC67-ECC7-CF4312D53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32982" y="5012568"/>
                <a:ext cx="0" cy="503849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CEA60360-F9BA-8340-9095-B5B214E7FA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88625" y="1886006"/>
                <a:ext cx="3840701" cy="4072939"/>
                <a:chOff x="1222374" y="1346200"/>
                <a:chExt cx="3579911" cy="2910167"/>
              </a:xfrm>
            </p:grpSpPr>
            <p:sp>
              <p:nvSpPr>
                <p:cNvPr id="6" name="Text Box 14">
                  <a:extLst>
                    <a:ext uri="{FF2B5EF4-FFF2-40B4-BE49-F238E27FC236}">
                      <a16:creationId xmlns:a16="http://schemas.microsoft.com/office/drawing/2014/main" id="{43B3E3D3-4A33-7A1F-4911-73193DCC4D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08302" y="3985403"/>
                  <a:ext cx="889561" cy="2709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S.next</a:t>
                  </a:r>
                  <a:endParaRPr lang="zh-C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" name="Line 9">
                  <a:extLst>
                    <a:ext uri="{FF2B5EF4-FFF2-40B4-BE49-F238E27FC236}">
                      <a16:creationId xmlns:a16="http://schemas.microsoft.com/office/drawing/2014/main" id="{FBB68862-314C-8BFE-61EE-7DABA1E75D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031375" y="1765457"/>
                  <a:ext cx="414238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Text Box 12">
                  <a:extLst>
                    <a:ext uri="{FF2B5EF4-FFF2-40B4-BE49-F238E27FC236}">
                      <a16:creationId xmlns:a16="http://schemas.microsoft.com/office/drawing/2014/main" id="{B925CAFA-CB38-AF75-DA04-C61F452FE0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51623" y="1933584"/>
                  <a:ext cx="811279" cy="2614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B.true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Text Box 13">
                  <a:extLst>
                    <a:ext uri="{FF2B5EF4-FFF2-40B4-BE49-F238E27FC236}">
                      <a16:creationId xmlns:a16="http://schemas.microsoft.com/office/drawing/2014/main" id="{F24AF4E2-51D4-92C6-BBEE-2F2D9E652E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34492" y="1463955"/>
                  <a:ext cx="967793" cy="2249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B.false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Line 23">
                  <a:extLst>
                    <a:ext uri="{FF2B5EF4-FFF2-40B4-BE49-F238E27FC236}">
                      <a16:creationId xmlns:a16="http://schemas.microsoft.com/office/drawing/2014/main" id="{2A96EA44-1D83-3328-2B4A-5A49058AB3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27835" y="1786608"/>
                  <a:ext cx="0" cy="537878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Line 24">
                  <a:extLst>
                    <a:ext uri="{FF2B5EF4-FFF2-40B4-BE49-F238E27FC236}">
                      <a16:creationId xmlns:a16="http://schemas.microsoft.com/office/drawing/2014/main" id="{794A72A8-6C3A-44EE-3315-E7107C1669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7835" y="1792958"/>
                  <a:ext cx="43365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Text Box 27">
                  <a:extLst>
                    <a:ext uri="{FF2B5EF4-FFF2-40B4-BE49-F238E27FC236}">
                      <a16:creationId xmlns:a16="http://schemas.microsoft.com/office/drawing/2014/main" id="{3D636D61-B76E-7066-2C95-69F831CFE0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4173" y="2781762"/>
                  <a:ext cx="1297203" cy="26996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ea typeface="楷体_GB2312" pitchFamily="49" charset="-122"/>
                      <a:cs typeface="Arial" panose="020B0604020202020204" pitchFamily="34" charset="0"/>
                    </a:rPr>
                    <a:t>goto</a:t>
                  </a:r>
                  <a:r>
                    <a:rPr lang="en-US" altLang="zh-CN" b="1" dirty="0">
                      <a:solidFill>
                        <a:srgbClr val="0000FF"/>
                      </a:solidFill>
                      <a:latin typeface="Arial" panose="020B0604020202020204" pitchFamily="34" charset="0"/>
                      <a:ea typeface="楷体_GB2312" pitchFamily="49" charset="-122"/>
                      <a:cs typeface="Arial" panose="020B0604020202020204" pitchFamily="34" charset="0"/>
                    </a:rPr>
                    <a:t> </a:t>
                  </a: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ea typeface="楷体_GB2312" pitchFamily="49" charset="-122"/>
                      <a:cs typeface="Arial" panose="020B0604020202020204" pitchFamily="34" charset="0"/>
                    </a:rPr>
                    <a:t>S.next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ea typeface="楷体_GB2312" pitchFamily="49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Line 39">
                  <a:extLst>
                    <a:ext uri="{FF2B5EF4-FFF2-40B4-BE49-F238E27FC236}">
                      <a16:creationId xmlns:a16="http://schemas.microsoft.com/office/drawing/2014/main" id="{FA5F3DE6-0370-B73F-4DF3-4974C2C8BA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327835" y="2331414"/>
                  <a:ext cx="39354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Line 60">
                  <a:extLst>
                    <a:ext uri="{FF2B5EF4-FFF2-40B4-BE49-F238E27FC236}">
                      <a16:creationId xmlns:a16="http://schemas.microsoft.com/office/drawing/2014/main" id="{E1F9FFA7-A06E-D6A5-320F-F6485E01D4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59998" y="1764624"/>
                  <a:ext cx="0" cy="1469681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Text Box 5">
                  <a:extLst>
                    <a:ext uri="{FF2B5EF4-FFF2-40B4-BE49-F238E27FC236}">
                      <a16:creationId xmlns:a16="http://schemas.microsoft.com/office/drawing/2014/main" id="{A89B66EB-2241-F444-0F4A-401D94E446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4172" y="1683500"/>
                  <a:ext cx="1298791" cy="25008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B.code</a:t>
                  </a:r>
                  <a:endParaRPr lang="en-US" altLang="zh-CN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Text Box 6">
                  <a:extLst>
                    <a:ext uri="{FF2B5EF4-FFF2-40B4-BE49-F238E27FC236}">
                      <a16:creationId xmlns:a16="http://schemas.microsoft.com/office/drawing/2014/main" id="{09B8272C-42BF-1161-611E-7466CB1F77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5761" y="2250870"/>
                  <a:ext cx="1297203" cy="24441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</a:t>
                  </a:r>
                  <a:r>
                    <a:rPr lang="en-US" altLang="zh-CN" b="1" baseline="-30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1</a:t>
                  </a: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.code</a:t>
                  </a:r>
                  <a:endParaRPr lang="zh-CN" altLang="en-US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Text Box 26">
                  <a:extLst>
                    <a:ext uri="{FF2B5EF4-FFF2-40B4-BE49-F238E27FC236}">
                      <a16:creationId xmlns:a16="http://schemas.microsoft.com/office/drawing/2014/main" id="{54430BC7-948E-9B1D-B6EE-F8F24A607E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4172" y="3421730"/>
                  <a:ext cx="1297203" cy="24739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 lIns="68580" tIns="34290" rIns="68580" bIns="34290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</a:t>
                  </a:r>
                  <a:r>
                    <a:rPr lang="en-US" altLang="zh-CN" b="1" baseline="-30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2</a:t>
                  </a: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.code</a:t>
                  </a:r>
                  <a:endParaRPr lang="zh-CN" altLang="en-US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EE6A4179-2380-70A1-9697-F1AB52B235E1}"/>
                    </a:ext>
                  </a:extLst>
                </p:cNvPr>
                <p:cNvSpPr/>
                <p:nvPr/>
              </p:nvSpPr>
              <p:spPr bwMode="auto">
                <a:xfrm>
                  <a:off x="1222374" y="1346200"/>
                  <a:ext cx="3565526" cy="2593975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8580" tIns="34290" rIns="68580" bIns="34290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32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9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FFDF0D9B-4D62-8440-CFC1-0853E32720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611" y="1456976"/>
                  <a:ext cx="877369" cy="2638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FF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S.code</a:t>
                  </a:r>
                  <a:endParaRPr lang="zh-C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4" name="Line 62">
                <a:extLst>
                  <a:ext uri="{FF2B5EF4-FFF2-40B4-BE49-F238E27FC236}">
                    <a16:creationId xmlns:a16="http://schemas.microsoft.com/office/drawing/2014/main" id="{B258D66D-F4B5-2467-2B65-82D550A35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28448" y="4517804"/>
                <a:ext cx="0" cy="29313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Line 24">
              <a:extLst>
                <a:ext uri="{FF2B5EF4-FFF2-40B4-BE49-F238E27FC236}">
                  <a16:creationId xmlns:a16="http://schemas.microsoft.com/office/drawing/2014/main" id="{333750FA-ED5A-A2A2-4584-DD23230B9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28448" y="4548630"/>
              <a:ext cx="1118223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控制流语句的语法制导定义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343024"/>
            <a:ext cx="11089232" cy="5398344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对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S→ while (B)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S1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来说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使用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begin</a:t>
            </a:r>
            <a:r>
              <a:rPr lang="zh-CN" altLang="en-US" sz="2400" dirty="0">
                <a:latin typeface="+mn-ea"/>
              </a:rPr>
              <a:t>来保存</a:t>
            </a:r>
            <a:r>
              <a:rPr lang="en-US" altLang="zh-CN" sz="2400" dirty="0">
                <a:latin typeface="+mn-ea"/>
              </a:rPr>
              <a:t>while</a:t>
            </a:r>
            <a:r>
              <a:rPr lang="zh-CN" altLang="en-US" sz="2400" dirty="0">
                <a:latin typeface="+mn-ea"/>
              </a:rPr>
              <a:t>的第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条指令的标号。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 err="1">
                <a:latin typeface="+mn-ea"/>
              </a:rPr>
              <a:t>B.true</a:t>
            </a:r>
            <a:r>
              <a:rPr lang="zh-CN" altLang="en-US" sz="2400" dirty="0">
                <a:latin typeface="+mn-ea"/>
              </a:rPr>
              <a:t>设置为</a:t>
            </a:r>
            <a:r>
              <a:rPr lang="en-US" altLang="zh-CN" sz="2400" dirty="0" err="1">
                <a:latin typeface="+mn-ea"/>
              </a:rPr>
              <a:t>S1</a:t>
            </a:r>
            <a:r>
              <a:rPr lang="zh-CN" altLang="en-US" sz="2400" dirty="0">
                <a:latin typeface="+mn-ea"/>
              </a:rPr>
              <a:t>的第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条指令的标号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dirty="0" err="1">
                <a:latin typeface="+mn-ea"/>
              </a:rPr>
              <a:t>B.false</a:t>
            </a:r>
            <a:r>
              <a:rPr lang="zh-CN" altLang="en-US" sz="2400" dirty="0">
                <a:latin typeface="+mn-ea"/>
              </a:rPr>
              <a:t>设置为</a:t>
            </a:r>
            <a:r>
              <a:rPr lang="en-US" altLang="zh-CN" sz="2400" dirty="0" err="1">
                <a:latin typeface="+mn-ea"/>
              </a:rPr>
              <a:t>S.next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 err="1">
                <a:latin typeface="+mn-ea"/>
              </a:rPr>
              <a:t>S1</a:t>
            </a:r>
            <a:r>
              <a:rPr lang="zh-CN" altLang="en-US" sz="2400" dirty="0">
                <a:latin typeface="+mn-ea"/>
              </a:rPr>
              <a:t>的代码后增加无条件跳转到</a:t>
            </a:r>
            <a:r>
              <a:rPr lang="en-US" altLang="zh-CN" sz="2400" dirty="0">
                <a:latin typeface="+mn-ea"/>
              </a:rPr>
              <a:t>begin</a:t>
            </a:r>
            <a:r>
              <a:rPr lang="zh-CN" altLang="en-US" sz="2400" dirty="0">
                <a:latin typeface="+mn-ea"/>
              </a:rPr>
              <a:t>的代码。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" t="56002" r="13018" b="20059"/>
          <a:stretch>
            <a:fillRect/>
          </a:stretch>
        </p:blipFill>
        <p:spPr bwMode="auto">
          <a:xfrm>
            <a:off x="5315071" y="3714869"/>
            <a:ext cx="6192689" cy="1966586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D02346AD-E411-CAED-4B4E-D1F320434779}"/>
              </a:ext>
            </a:extLst>
          </p:cNvPr>
          <p:cNvGrpSpPr/>
          <p:nvPr/>
        </p:nvGrpSpPr>
        <p:grpSpPr>
          <a:xfrm>
            <a:off x="941540" y="3429000"/>
            <a:ext cx="4027960" cy="3240360"/>
            <a:chOff x="7680176" y="2852936"/>
            <a:chExt cx="4027960" cy="320369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22E0E6D-EC8D-CC71-9D81-2F83678A2C31}"/>
                </a:ext>
              </a:extLst>
            </p:cNvPr>
            <p:cNvGrpSpPr/>
            <p:nvPr/>
          </p:nvGrpSpPr>
          <p:grpSpPr>
            <a:xfrm>
              <a:off x="7680176" y="2852936"/>
              <a:ext cx="4027960" cy="3203695"/>
              <a:chOff x="7788625" y="2245516"/>
              <a:chExt cx="4027960" cy="3203695"/>
            </a:xfrm>
          </p:grpSpPr>
          <p:sp>
            <p:nvSpPr>
              <p:cNvPr id="8" name="Line 61">
                <a:extLst>
                  <a:ext uri="{FF2B5EF4-FFF2-40B4-BE49-F238E27FC236}">
                    <a16:creationId xmlns:a16="http://schemas.microsoft.com/office/drawing/2014/main" id="{889CC41F-A1CD-4142-CFC3-C7F4E51608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90158" y="3944171"/>
                <a:ext cx="851291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 Box 14">
                <a:extLst>
                  <a:ext uri="{FF2B5EF4-FFF2-40B4-BE49-F238E27FC236}">
                    <a16:creationId xmlns:a16="http://schemas.microsoft.com/office/drawing/2014/main" id="{54E24DAF-E5DE-DCE5-7756-0BE109E2C3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4231" y="4026549"/>
                <a:ext cx="1008976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.next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Line 62">
                <a:extLst>
                  <a:ext uri="{FF2B5EF4-FFF2-40B4-BE49-F238E27FC236}">
                    <a16:creationId xmlns:a16="http://schemas.microsoft.com/office/drawing/2014/main" id="{A7EE778E-3793-431A-EAE8-8C43BBE182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62104" y="3045604"/>
                <a:ext cx="0" cy="201396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7AB37528-3C31-498B-7177-E2BC45FF74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88625" y="2245516"/>
                <a:ext cx="4027960" cy="3203695"/>
                <a:chOff x="1222374" y="1603074"/>
                <a:chExt cx="3754455" cy="2289080"/>
              </a:xfrm>
            </p:grpSpPr>
            <p:sp>
              <p:nvSpPr>
                <p:cNvPr id="16" name="Text Box 14">
                  <a:extLst>
                    <a:ext uri="{FF2B5EF4-FFF2-40B4-BE49-F238E27FC236}">
                      <a16:creationId xmlns:a16="http://schemas.microsoft.com/office/drawing/2014/main" id="{374CCB4E-57BA-FD86-01B3-A82B4AF469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56608" y="3621190"/>
                  <a:ext cx="889561" cy="2709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S.next</a:t>
                  </a:r>
                  <a:endParaRPr lang="zh-C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Line 9">
                  <a:extLst>
                    <a:ext uri="{FF2B5EF4-FFF2-40B4-BE49-F238E27FC236}">
                      <a16:creationId xmlns:a16="http://schemas.microsoft.com/office/drawing/2014/main" id="{9D9D0B25-9A19-2481-03A5-D5AF61400A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045761" y="2174747"/>
                  <a:ext cx="414238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Text Box 12">
                  <a:extLst>
                    <a:ext uri="{FF2B5EF4-FFF2-40B4-BE49-F238E27FC236}">
                      <a16:creationId xmlns:a16="http://schemas.microsoft.com/office/drawing/2014/main" id="{6503D397-915E-E6DC-3F36-81A9C73869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5736" y="2323578"/>
                  <a:ext cx="811279" cy="2614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B.true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Text Box 13">
                  <a:extLst>
                    <a:ext uri="{FF2B5EF4-FFF2-40B4-BE49-F238E27FC236}">
                      <a16:creationId xmlns:a16="http://schemas.microsoft.com/office/drawing/2014/main" id="{CE61A1DB-4CA2-77BA-8DF5-80537F982E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09036" y="1860303"/>
                  <a:ext cx="967793" cy="2747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B.false</a:t>
                  </a:r>
                  <a:endPara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Line 23">
                  <a:extLst>
                    <a:ext uri="{FF2B5EF4-FFF2-40B4-BE49-F238E27FC236}">
                      <a16:creationId xmlns:a16="http://schemas.microsoft.com/office/drawing/2014/main" id="{57F09A49-5574-B998-461D-54F3F91DF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27836" y="2232265"/>
                  <a:ext cx="0" cy="480359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Line 24">
                  <a:extLst>
                    <a:ext uri="{FF2B5EF4-FFF2-40B4-BE49-F238E27FC236}">
                      <a16:creationId xmlns:a16="http://schemas.microsoft.com/office/drawing/2014/main" id="{27AE13B7-6CB0-38CA-6AAA-2383B21D8E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7836" y="2232266"/>
                  <a:ext cx="43365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Text Box 27">
                  <a:extLst>
                    <a:ext uri="{FF2B5EF4-FFF2-40B4-BE49-F238E27FC236}">
                      <a16:creationId xmlns:a16="http://schemas.microsoft.com/office/drawing/2014/main" id="{4A213E96-81A5-E6CF-1F8C-7C5D5512C0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64432" y="3044458"/>
                  <a:ext cx="1297203" cy="26996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ea typeface="楷体_GB2312" pitchFamily="49" charset="-122"/>
                      <a:cs typeface="Arial" panose="020B0604020202020204" pitchFamily="34" charset="0"/>
                    </a:rPr>
                    <a:t>goto</a:t>
                  </a:r>
                  <a:r>
                    <a:rPr lang="en-US" altLang="zh-CN" b="1" dirty="0">
                      <a:solidFill>
                        <a:srgbClr val="0000FF"/>
                      </a:solidFill>
                      <a:latin typeface="Arial" panose="020B0604020202020204" pitchFamily="34" charset="0"/>
                      <a:ea typeface="楷体_GB2312" pitchFamily="49" charset="-122"/>
                      <a:cs typeface="Arial" panose="020B0604020202020204" pitchFamily="34" charset="0"/>
                    </a:rPr>
                    <a:t> begin</a:t>
                  </a:r>
                </a:p>
              </p:txBody>
            </p:sp>
            <p:sp>
              <p:nvSpPr>
                <p:cNvPr id="23" name="Line 39">
                  <a:extLst>
                    <a:ext uri="{FF2B5EF4-FFF2-40B4-BE49-F238E27FC236}">
                      <a16:creationId xmlns:a16="http://schemas.microsoft.com/office/drawing/2014/main" id="{19104C8F-643A-0B97-2AE5-FCB3CA79B1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327836" y="2719553"/>
                  <a:ext cx="39354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triangle" w="med" len="med"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Text Box 5">
                  <a:extLst>
                    <a:ext uri="{FF2B5EF4-FFF2-40B4-BE49-F238E27FC236}">
                      <a16:creationId xmlns:a16="http://schemas.microsoft.com/office/drawing/2014/main" id="{F15B7269-FB72-1455-B411-77535854BD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24748" y="2056055"/>
                  <a:ext cx="1298791" cy="25008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B.code</a:t>
                  </a:r>
                  <a:endParaRPr lang="en-US" altLang="zh-CN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Text Box 6">
                  <a:extLst>
                    <a:ext uri="{FF2B5EF4-FFF2-40B4-BE49-F238E27FC236}">
                      <a16:creationId xmlns:a16="http://schemas.microsoft.com/office/drawing/2014/main" id="{83FD8E10-30E1-016C-761A-852A36A237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3643" y="2620583"/>
                  <a:ext cx="1297203" cy="24441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</a:t>
                  </a:r>
                  <a:r>
                    <a:rPr lang="en-US" altLang="zh-CN" b="1" baseline="-30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1</a:t>
                  </a: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.code</a:t>
                  </a:r>
                  <a:endParaRPr lang="zh-CN" altLang="en-US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49CCA13B-639C-79A0-01DA-3EA0DD50489E}"/>
                    </a:ext>
                  </a:extLst>
                </p:cNvPr>
                <p:cNvSpPr/>
                <p:nvPr/>
              </p:nvSpPr>
              <p:spPr bwMode="auto">
                <a:xfrm>
                  <a:off x="1222374" y="1603074"/>
                  <a:ext cx="3754455" cy="2010678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8580" tIns="34290" rIns="68580" bIns="34290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32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9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56EFDB2D-437B-6033-8A9D-1252818486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8674" y="1603074"/>
                  <a:ext cx="877369" cy="2638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FF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S.code</a:t>
                  </a:r>
                  <a:endParaRPr lang="zh-C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0" name="Text Box 12">
              <a:extLst>
                <a:ext uri="{FF2B5EF4-FFF2-40B4-BE49-F238E27FC236}">
                  <a16:creationId xmlns:a16="http://schemas.microsoft.com/office/drawing/2014/main" id="{0BD4F2C0-E14C-079A-1A86-0C306F3FC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6976" y="3169496"/>
              <a:ext cx="870379" cy="365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no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begin</a:t>
              </a:r>
            </a:p>
          </p:txBody>
        </p:sp>
        <p:sp>
          <p:nvSpPr>
            <p:cNvPr id="31" name="Line 39">
              <a:extLst>
                <a:ext uri="{FF2B5EF4-FFF2-40B4-BE49-F238E27FC236}">
                  <a16:creationId xmlns:a16="http://schemas.microsoft.com/office/drawing/2014/main" id="{B8EFE208-EC0E-EC21-D29A-B84A425E691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110861" y="3567481"/>
              <a:ext cx="117751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Line 62">
              <a:extLst>
                <a:ext uri="{FF2B5EF4-FFF2-40B4-BE49-F238E27FC236}">
                  <a16:creationId xmlns:a16="http://schemas.microsoft.com/office/drawing/2014/main" id="{452CCC65-5ECC-A634-87B9-D6F42AEFE4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72164" y="3567481"/>
              <a:ext cx="0" cy="98410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stealth" w="lg" len="lg"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控制流语句的语法制导定义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对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S→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S1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S2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来说，顺序执行</a:t>
            </a:r>
            <a:r>
              <a:rPr lang="en-US" altLang="zh-CN" sz="2400" dirty="0" err="1">
                <a:latin typeface="+mn-ea"/>
              </a:rPr>
              <a:t>S1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 err="1">
                <a:latin typeface="+mn-ea"/>
              </a:rPr>
              <a:t>S2</a:t>
            </a:r>
            <a:r>
              <a:rPr lang="zh-CN" altLang="en-US" sz="2400" dirty="0">
                <a:latin typeface="+mn-ea"/>
              </a:rPr>
              <a:t>的代码即可。因此将</a:t>
            </a:r>
            <a:r>
              <a:rPr lang="en-US" altLang="zh-CN" sz="2400" dirty="0" err="1">
                <a:latin typeface="+mn-ea"/>
              </a:rPr>
              <a:t>S1.next</a:t>
            </a:r>
            <a:r>
              <a:rPr lang="zh-CN" altLang="en-US" sz="2400" dirty="0">
                <a:latin typeface="+mn-ea"/>
              </a:rPr>
              <a:t>设置为</a:t>
            </a:r>
            <a:r>
              <a:rPr lang="en-US" altLang="zh-CN" sz="2400" dirty="0" err="1">
                <a:latin typeface="+mn-ea"/>
              </a:rPr>
              <a:t>S2</a:t>
            </a:r>
            <a:r>
              <a:rPr lang="zh-CN" altLang="en-US" sz="2400" dirty="0">
                <a:latin typeface="+mn-ea"/>
              </a:rPr>
              <a:t>的第一条指令的标号。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95" b="7773"/>
          <a:stretch>
            <a:fillRect/>
          </a:stretch>
        </p:blipFill>
        <p:spPr bwMode="auto">
          <a:xfrm>
            <a:off x="4740636" y="3140968"/>
            <a:ext cx="6676952" cy="936104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A4EB7F5D-1609-919D-A14C-7D0FC5DD1552}"/>
              </a:ext>
            </a:extLst>
          </p:cNvPr>
          <p:cNvGrpSpPr/>
          <p:nvPr/>
        </p:nvGrpSpPr>
        <p:grpSpPr>
          <a:xfrm>
            <a:off x="933618" y="2780928"/>
            <a:ext cx="3483000" cy="2830113"/>
            <a:chOff x="933618" y="2780928"/>
            <a:chExt cx="3483000" cy="2830113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395DE11-611E-E7A1-0D9C-F857D9268FBB}"/>
                </a:ext>
              </a:extLst>
            </p:cNvPr>
            <p:cNvGrpSpPr/>
            <p:nvPr/>
          </p:nvGrpSpPr>
          <p:grpSpPr>
            <a:xfrm>
              <a:off x="933618" y="2780928"/>
              <a:ext cx="3483000" cy="2830113"/>
              <a:chOff x="7580541" y="1886006"/>
              <a:chExt cx="3483000" cy="2830113"/>
            </a:xfrm>
          </p:grpSpPr>
          <p:sp>
            <p:nvSpPr>
              <p:cNvPr id="8" name="Line 61">
                <a:extLst>
                  <a:ext uri="{FF2B5EF4-FFF2-40B4-BE49-F238E27FC236}">
                    <a16:creationId xmlns:a16="http://schemas.microsoft.com/office/drawing/2014/main" id="{CFF99E86-DE2F-1E00-8E48-8537853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967422" y="3386770"/>
                <a:ext cx="429403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Line 62">
                <a:extLst>
                  <a:ext uri="{FF2B5EF4-FFF2-40B4-BE49-F238E27FC236}">
                    <a16:creationId xmlns:a16="http://schemas.microsoft.com/office/drawing/2014/main" id="{3B37DCFC-971B-86C9-D9B9-04AEDFE68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67423" y="3386770"/>
                <a:ext cx="0" cy="87550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lg" len="lg"/>
              </a:ln>
            </p:spPr>
            <p:txBody>
              <a:bodyPr lIns="68580" tIns="34290" rIns="68580" bIns="34290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defRPr/>
                </a:pPr>
                <a:endParaRPr lang="zh-CN" alt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 Box 14">
                <a:extLst>
                  <a:ext uri="{FF2B5EF4-FFF2-40B4-BE49-F238E27FC236}">
                    <a16:creationId xmlns:a16="http://schemas.microsoft.com/office/drawing/2014/main" id="{24AEA127-DB36-3AE5-46F7-E9DF7268D8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58445" y="2689539"/>
                <a:ext cx="1008976" cy="3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342900" indent="1143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685800" indent="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028700" indent="3429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371600" indent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zh-CN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.next</a:t>
                </a:r>
                <a:endPara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121E6EBD-DD88-CAEA-549A-C7A8ECF4BB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80541" y="1886006"/>
                <a:ext cx="3483000" cy="2830113"/>
                <a:chOff x="1028419" y="1346200"/>
                <a:chExt cx="3246499" cy="2022151"/>
              </a:xfrm>
            </p:grpSpPr>
            <p:sp>
              <p:nvSpPr>
                <p:cNvPr id="13" name="Text Box 14">
                  <a:extLst>
                    <a:ext uri="{FF2B5EF4-FFF2-40B4-BE49-F238E27FC236}">
                      <a16:creationId xmlns:a16="http://schemas.microsoft.com/office/drawing/2014/main" id="{258AC128-068E-7911-E24B-B1C5AC18AE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1298" y="3097387"/>
                  <a:ext cx="889561" cy="2709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S.next</a:t>
                  </a:r>
                  <a:endParaRPr lang="zh-CN" altLang="en-US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Line 24">
                  <a:extLst>
                    <a:ext uri="{FF2B5EF4-FFF2-40B4-BE49-F238E27FC236}">
                      <a16:creationId xmlns:a16="http://schemas.microsoft.com/office/drawing/2014/main" id="{B632BCC6-323A-44F9-6E01-BB136805BB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1129" y="1792958"/>
                  <a:ext cx="400246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lIns="68580" tIns="34290" rIns="68580" bIns="34290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342900" indent="1143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685800" indent="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028700" indent="3429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371600" indent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zh-CN" altLang="en-US" b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Text Box 5">
                  <a:extLst>
                    <a:ext uri="{FF2B5EF4-FFF2-40B4-BE49-F238E27FC236}">
                      <a16:creationId xmlns:a16="http://schemas.microsoft.com/office/drawing/2014/main" id="{BAE3B629-8A50-6CE8-E176-0FB5F0D838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4172" y="1683500"/>
                  <a:ext cx="1298791" cy="25008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</a:t>
                  </a:r>
                  <a:r>
                    <a:rPr lang="en-US" altLang="zh-CN" b="1" baseline="-30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1</a:t>
                  </a: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.code</a:t>
                  </a:r>
                </a:p>
              </p:txBody>
            </p:sp>
            <p:sp>
              <p:nvSpPr>
                <p:cNvPr id="22" name="Text Box 6">
                  <a:extLst>
                    <a:ext uri="{FF2B5EF4-FFF2-40B4-BE49-F238E27FC236}">
                      <a16:creationId xmlns:a16="http://schemas.microsoft.com/office/drawing/2014/main" id="{B6B2C91A-F7A5-5C32-57DE-21BF1A4664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5761" y="2250870"/>
                  <a:ext cx="1297203" cy="24441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68580" tIns="34290" rIns="68580" bIns="34290">
                  <a:no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</a:t>
                  </a:r>
                  <a:r>
                    <a:rPr lang="en-US" altLang="zh-CN" b="1" baseline="-3000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2</a:t>
                  </a:r>
                  <a:r>
                    <a:rPr lang="en-US" altLang="zh-CN" b="1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.code</a:t>
                  </a:r>
                  <a:endParaRPr lang="zh-CN" altLang="en-US" b="1" dirty="0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70366BC3-0740-F953-7B26-C9BD0EB9B2BD}"/>
                    </a:ext>
                  </a:extLst>
                </p:cNvPr>
                <p:cNvSpPr/>
                <p:nvPr/>
              </p:nvSpPr>
              <p:spPr bwMode="auto">
                <a:xfrm>
                  <a:off x="1028419" y="1346200"/>
                  <a:ext cx="3246499" cy="169787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8580" tIns="34290" rIns="68580" bIns="34290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32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9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6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Symbol" panose="05050102010706020507" pitchFamily="18" charset="2"/>
                    <a:buChar char=""/>
                    <a:defRPr sz="2100" kern="1200">
                      <a:solidFill>
                        <a:schemeClr val="tx2"/>
                      </a:solidFill>
                      <a:latin typeface="Candara" panose="020E0502030303020204" pitchFamily="34" charset="0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  <a:defRPr/>
                  </a:pPr>
                  <a:endParaRPr lang="zh-CN" altLang="en-US" sz="18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BB813BBD-96D1-C3CD-0A9F-451D74827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528" y="1408871"/>
                  <a:ext cx="877369" cy="2638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1" dirty="0" err="1">
                      <a:solidFill>
                        <a:srgbClr val="FF0000"/>
                      </a:solidFill>
                      <a:latin typeface="Arial" panose="020B0604020202020204" pitchFamily="34" charset="0"/>
                      <a:ea typeface="楷体_GB2312"/>
                      <a:cs typeface="Arial" panose="020B0604020202020204" pitchFamily="34" charset="0"/>
                    </a:rPr>
                    <a:t>S.code</a:t>
                  </a:r>
                  <a:endParaRPr lang="zh-CN" altLang="en-US" b="1" dirty="0">
                    <a:solidFill>
                      <a:srgbClr val="FF0000"/>
                    </a:solidFill>
                    <a:latin typeface="Arial" panose="020B0604020202020204" pitchFamily="34" charset="0"/>
                    <a:ea typeface="楷体_GB231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5" name="Text Box 14">
              <a:extLst>
                <a:ext uri="{FF2B5EF4-FFF2-40B4-BE49-F238E27FC236}">
                  <a16:creationId xmlns:a16="http://schemas.microsoft.com/office/drawing/2014/main" id="{C8909F50-1E45-5000-353F-9F6D57B88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910" y="4500472"/>
              <a:ext cx="1008976" cy="346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8580" tIns="34290" rIns="68580" bIns="3429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zh-CN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.next</a:t>
              </a:r>
              <a:endParaRPr lang="zh-CN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AD6074AB-0510-A3B2-7BEC-6407E22523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0499" y="3406189"/>
              <a:ext cx="0" cy="74288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39">
              <a:extLst>
                <a:ext uri="{FF2B5EF4-FFF2-40B4-BE49-F238E27FC236}">
                  <a16:creationId xmlns:a16="http://schemas.microsoft.com/office/drawing/2014/main" id="{890D7FD1-5609-6844-66DF-44DBE94A27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2320499" y="4149079"/>
              <a:ext cx="422209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lIns="68580" tIns="34290" rIns="68580" bIns="3429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342900" indent="1143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685800" indent="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028700" indent="3429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371600" indent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defRPr/>
              </a:pPr>
              <a:endParaRPr lang="zh-CN" altLang="en-US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12"/>
          <a:stretch>
            <a:fillRect/>
          </a:stretch>
        </p:blipFill>
        <p:spPr bwMode="auto">
          <a:xfrm>
            <a:off x="1631504" y="1875619"/>
            <a:ext cx="4320480" cy="4505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14"/>
          <a:stretch>
            <a:fillRect/>
          </a:stretch>
        </p:blipFill>
        <p:spPr bwMode="auto">
          <a:xfrm>
            <a:off x="5936020" y="1875619"/>
            <a:ext cx="5131816" cy="4505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28048" y="1945872"/>
            <a:ext cx="3978080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P=&gt;</a:t>
            </a:r>
            <a:r>
              <a:rPr lang="en-US" altLang="zh-CN" sz="2000" b="1" dirty="0" err="1">
                <a:latin typeface="+mn-ea"/>
              </a:rPr>
              <a:t>S0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B0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B2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B3</a:t>
            </a:r>
            <a:r>
              <a:rPr lang="en-US" altLang="zh-CN" sz="2000" b="1" dirty="0">
                <a:latin typeface="+mn-ea"/>
              </a:rPr>
              <a:t> &amp;&amp; </a:t>
            </a:r>
            <a:r>
              <a:rPr lang="en-US" altLang="zh-CN" sz="2000" b="1" dirty="0" err="1">
                <a:latin typeface="+mn-ea"/>
              </a:rPr>
              <a:t>B4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68556" y="1935560"/>
            <a:ext cx="3618041" cy="445192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00CC"/>
                </a:solidFill>
                <a:latin typeface="+mn-lt"/>
              </a:rPr>
              <a:t>P→ S</a:t>
            </a:r>
          </a:p>
          <a:p>
            <a:pPr indent="-11430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00CC"/>
                </a:solidFill>
                <a:latin typeface="+mn-lt"/>
              </a:rPr>
              <a:t>S→ if (B) </a:t>
            </a:r>
            <a:r>
              <a:rPr lang="en-US" altLang="zh-CN" sz="2000" b="1" dirty="0" err="1">
                <a:solidFill>
                  <a:srgbClr val="0000CC"/>
                </a:solidFill>
                <a:latin typeface="+mn-lt"/>
              </a:rPr>
              <a:t>S1</a:t>
            </a:r>
            <a:endParaRPr lang="en-US" altLang="zh-CN" sz="2000" b="1" dirty="0">
              <a:solidFill>
                <a:srgbClr val="0000CC"/>
              </a:solidFill>
              <a:latin typeface="+mn-lt"/>
            </a:endParaRPr>
          </a:p>
          <a:p>
            <a:pPr indent="-11430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00CC"/>
                </a:solidFill>
                <a:latin typeface="+mn-lt"/>
              </a:rPr>
              <a:t>S→ if (B) </a:t>
            </a:r>
            <a:r>
              <a:rPr lang="en-US" altLang="zh-CN" sz="2000" b="1" dirty="0" err="1">
                <a:solidFill>
                  <a:srgbClr val="0000CC"/>
                </a:solidFill>
                <a:latin typeface="+mn-lt"/>
              </a:rPr>
              <a:t>S1</a:t>
            </a:r>
            <a:r>
              <a:rPr lang="en-US" altLang="zh-CN" sz="2000" b="1" dirty="0">
                <a:solidFill>
                  <a:srgbClr val="0000CC"/>
                </a:solidFill>
                <a:latin typeface="+mn-lt"/>
              </a:rPr>
              <a:t> else </a:t>
            </a:r>
            <a:r>
              <a:rPr lang="en-US" altLang="zh-CN" sz="2000" b="1" dirty="0" err="1">
                <a:solidFill>
                  <a:srgbClr val="0000CC"/>
                </a:solidFill>
                <a:latin typeface="+mn-lt"/>
              </a:rPr>
              <a:t>S2</a:t>
            </a:r>
            <a:endParaRPr lang="en-US" altLang="zh-CN" sz="2000" b="1" dirty="0">
              <a:solidFill>
                <a:srgbClr val="0000CC"/>
              </a:solidFill>
              <a:latin typeface="+mn-lt"/>
            </a:endParaRPr>
          </a:p>
          <a:p>
            <a:pPr indent="-11430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00CC"/>
                </a:solidFill>
                <a:latin typeface="+mn-lt"/>
              </a:rPr>
              <a:t>S→ while (B) </a:t>
            </a:r>
            <a:r>
              <a:rPr lang="en-US" altLang="zh-CN" sz="2000" b="1" dirty="0" err="1">
                <a:solidFill>
                  <a:srgbClr val="0000CC"/>
                </a:solidFill>
                <a:latin typeface="+mn-lt"/>
              </a:rPr>
              <a:t>S1</a:t>
            </a:r>
            <a:endParaRPr lang="en-US" altLang="zh-CN" sz="2000" b="1" dirty="0">
              <a:solidFill>
                <a:srgbClr val="0000CC"/>
              </a:solidFill>
              <a:latin typeface="+mn-lt"/>
            </a:endParaRPr>
          </a:p>
          <a:p>
            <a:pPr indent="-11430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B→ 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B1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||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B2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</a:t>
            </a:r>
          </a:p>
          <a:p>
            <a:pPr lvl="1" indent="-5715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|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B1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&amp;&amp;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B2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</a:t>
            </a:r>
          </a:p>
          <a:p>
            <a:pPr lvl="1" indent="-5715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| ! B </a:t>
            </a:r>
          </a:p>
          <a:p>
            <a:pPr lvl="1" indent="-5715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| (B) </a:t>
            </a:r>
          </a:p>
          <a:p>
            <a:pPr lvl="1" indent="-5715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|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E1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rel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E2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</a:t>
            </a:r>
          </a:p>
          <a:p>
            <a:pPr lvl="1" indent="-5715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| true </a:t>
            </a:r>
          </a:p>
          <a:p>
            <a:pPr lvl="1" indent="-5715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| false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82675" y="2425360"/>
            <a:ext cx="5553270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P=&gt;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S0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B0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B2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B3</a:t>
            </a:r>
            <a:r>
              <a:rPr lang="en-US" altLang="zh-CN" sz="2000" b="1" dirty="0">
                <a:latin typeface="+mn-ea"/>
              </a:rPr>
              <a:t> &amp;&amp; </a:t>
            </a:r>
            <a:r>
              <a:rPr lang="en-US" altLang="zh-CN" sz="2000" b="1" dirty="0" err="1">
                <a:latin typeface="+mn-ea"/>
              </a:rPr>
              <a:t>B4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31246" y="2420888"/>
            <a:ext cx="3978079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P→S0</a:t>
            </a:r>
            <a:endParaRPr lang="en-US" altLang="zh-CN" sz="2000" b="1" dirty="0">
              <a:latin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" t="5115" r="17708" b="86654"/>
          <a:stretch>
            <a:fillRect/>
          </a:stretch>
        </p:blipFill>
        <p:spPr bwMode="auto">
          <a:xfrm>
            <a:off x="1082675" y="4145218"/>
            <a:ext cx="5544616" cy="695112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7131246" y="3283053"/>
            <a:ext cx="397807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S0.next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(new)</a:t>
            </a:r>
          </a:p>
        </p:txBody>
      </p:sp>
      <p:sp>
        <p:nvSpPr>
          <p:cNvPr id="11" name="矩形 10"/>
          <p:cNvSpPr/>
          <p:nvPr/>
        </p:nvSpPr>
        <p:spPr>
          <a:xfrm>
            <a:off x="7131246" y="4145218"/>
            <a:ext cx="3978079" cy="70788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S0.code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4007" y="2062261"/>
            <a:ext cx="7081076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P=&gt;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S0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if (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B0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)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S1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B2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B3</a:t>
            </a:r>
            <a:r>
              <a:rPr lang="en-US" altLang="zh-CN" sz="2000" b="1" dirty="0">
                <a:latin typeface="+mn-ea"/>
              </a:rPr>
              <a:t> &amp;&amp; </a:t>
            </a:r>
            <a:r>
              <a:rPr lang="en-US" altLang="zh-CN" sz="2000" b="1" dirty="0" err="1">
                <a:latin typeface="+mn-ea"/>
              </a:rPr>
              <a:t>B4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r>
              <a:rPr lang="en-US" altLang="zh-CN" sz="2000" b="1" dirty="0">
                <a:latin typeface="+mn-ea"/>
              </a:rPr>
              <a:t>  </a:t>
            </a:r>
          </a:p>
        </p:txBody>
      </p:sp>
      <p:sp>
        <p:nvSpPr>
          <p:cNvPr id="6" name="矩形 5"/>
          <p:cNvSpPr/>
          <p:nvPr/>
        </p:nvSpPr>
        <p:spPr>
          <a:xfrm>
            <a:off x="8498936" y="2056999"/>
            <a:ext cx="2736304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S0</a:t>
            </a:r>
            <a:r>
              <a:rPr lang="en-US" altLang="zh-CN" sz="2000" b="1" dirty="0">
                <a:latin typeface="+mn-ea"/>
              </a:rPr>
              <a:t> → if (</a:t>
            </a:r>
            <a:r>
              <a:rPr lang="en-US" altLang="zh-CN" sz="2000" b="1" dirty="0" err="1">
                <a:latin typeface="+mn-ea"/>
              </a:rPr>
              <a:t>B0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4008" y="4797152"/>
            <a:ext cx="7081075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B0.true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(new)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B0.false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S0.next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S1.next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S0.code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B0.code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||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:||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S1.code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98936" y="4797152"/>
            <a:ext cx="2726905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S1.code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x=0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B0.code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3" b="68817"/>
          <a:stretch>
            <a:fillRect/>
          </a:stretch>
        </p:blipFill>
        <p:spPr bwMode="auto">
          <a:xfrm>
            <a:off x="1039722" y="3598997"/>
            <a:ext cx="7049645" cy="1011877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8502924" y="2877868"/>
            <a:ext cx="2736304" cy="1015663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S0.next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CC"/>
                </a:solidFill>
                <a:latin typeface="+mn-ea"/>
              </a:rPr>
              <a:t>S0.code</a:t>
            </a:r>
            <a:endParaRPr lang="en-US" altLang="zh-CN" sz="2000" b="1" dirty="0">
              <a:solidFill>
                <a:srgbClr val="0000CC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340769"/>
            <a:ext cx="11161240" cy="5328592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55439" y="2008674"/>
            <a:ext cx="6751113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P=&gt;</a:t>
            </a:r>
            <a:r>
              <a:rPr lang="en-US" altLang="zh-CN" sz="2000" b="1" dirty="0" err="1">
                <a:latin typeface="+mn-ea"/>
              </a:rPr>
              <a:t>S0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B0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||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B2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B3</a:t>
            </a:r>
            <a:r>
              <a:rPr lang="en-US" altLang="zh-CN" sz="2000" b="1" dirty="0">
                <a:latin typeface="+mn-ea"/>
              </a:rPr>
              <a:t> &amp;&amp; </a:t>
            </a:r>
            <a:r>
              <a:rPr lang="en-US" altLang="zh-CN" sz="2000" b="1" dirty="0" err="1">
                <a:latin typeface="+mn-ea"/>
              </a:rPr>
              <a:t>B4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38599" y="2008674"/>
            <a:ext cx="3024336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B0</a:t>
            </a:r>
            <a:r>
              <a:rPr lang="en-US" altLang="zh-CN" sz="2000" b="1" dirty="0">
                <a:latin typeface="+mn-ea"/>
              </a:rPr>
              <a:t> → 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B2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5439" y="5157192"/>
            <a:ext cx="6751111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B1.true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B1.false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L3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(new)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B2.true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B2.false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38598" y="5129897"/>
            <a:ext cx="3024336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B1.code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L3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: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B2.code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L2</a:t>
            </a:r>
            <a:r>
              <a:rPr lang="en-US" altLang="zh-CN" sz="2000" b="1" dirty="0"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055440" y="3501008"/>
            <a:ext cx="6751111" cy="1480647"/>
            <a:chOff x="683569" y="4410273"/>
            <a:chExt cx="6899193" cy="1512168"/>
          </a:xfrm>
        </p:grpSpPr>
        <p:grpSp>
          <p:nvGrpSpPr>
            <p:cNvPr id="16" name="组合 15"/>
            <p:cNvGrpSpPr/>
            <p:nvPr/>
          </p:nvGrpSpPr>
          <p:grpSpPr>
            <a:xfrm>
              <a:off x="683569" y="4410273"/>
              <a:ext cx="6899193" cy="1512168"/>
              <a:chOff x="711414" y="3276975"/>
              <a:chExt cx="6899193" cy="1512168"/>
            </a:xfrm>
          </p:grpSpPr>
          <p:pic>
            <p:nvPicPr>
              <p:cNvPr id="18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717" r="11472" b="73109"/>
              <a:stretch>
                <a:fillRect/>
              </a:stretch>
            </p:blipFill>
            <p:spPr bwMode="auto">
              <a:xfrm>
                <a:off x="711414" y="3276975"/>
                <a:ext cx="6899193" cy="1512168"/>
              </a:xfrm>
              <a:prstGeom prst="rect">
                <a:avLst/>
              </a:prstGeom>
              <a:noFill/>
              <a:ln w="28575">
                <a:solidFill>
                  <a:srgbClr val="9999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" name="矩形: 圆角 18"/>
              <p:cNvSpPr/>
              <p:nvPr/>
            </p:nvSpPr>
            <p:spPr bwMode="auto">
              <a:xfrm>
                <a:off x="4014327" y="3546177"/>
                <a:ext cx="1080120" cy="288032"/>
              </a:xfrm>
              <a:prstGeom prst="roundRect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endParaRPr lang="zh-CN" altLang="en-US" b="1"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17" name="矩形: 圆角 16"/>
            <p:cNvSpPr/>
            <p:nvPr/>
          </p:nvSpPr>
          <p:spPr bwMode="auto">
            <a:xfrm>
              <a:off x="4932040" y="5418385"/>
              <a:ext cx="1440160" cy="360040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8238599" y="2949911"/>
            <a:ext cx="3024336" cy="1631216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B0.true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B0.false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CC"/>
                </a:solidFill>
                <a:latin typeface="+mn-ea"/>
              </a:rPr>
              <a:t>B0.code</a:t>
            </a:r>
            <a:endParaRPr lang="en-US" altLang="zh-CN" sz="2000" b="1" dirty="0">
              <a:solidFill>
                <a:srgbClr val="0000CC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L2</a:t>
            </a:r>
            <a:r>
              <a:rPr lang="en-US" altLang="zh-CN" sz="2000" b="1" dirty="0"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1196752"/>
            <a:ext cx="11233248" cy="5472608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9416" y="1817529"/>
            <a:ext cx="6820416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P=&gt;</a:t>
            </a:r>
            <a:r>
              <a:rPr lang="en-US" altLang="zh-CN" sz="2000" b="1" dirty="0" err="1">
                <a:latin typeface="+mn-ea"/>
              </a:rPr>
              <a:t>S0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B0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||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B2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B3</a:t>
            </a:r>
            <a:r>
              <a:rPr lang="en-US" altLang="zh-CN" sz="2000" b="1" dirty="0">
                <a:latin typeface="+mn-ea"/>
              </a:rPr>
              <a:t> &amp;&amp; </a:t>
            </a:r>
            <a:r>
              <a:rPr lang="en-US" altLang="zh-CN" sz="2000" b="1" dirty="0" err="1">
                <a:latin typeface="+mn-ea"/>
              </a:rPr>
              <a:t>B4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038855" y="1817191"/>
            <a:ext cx="3240362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→ </a:t>
            </a:r>
            <a:r>
              <a:rPr lang="en-US" altLang="zh-CN" sz="2000" b="1" dirty="0" err="1">
                <a:latin typeface="+mn-ea"/>
              </a:rPr>
              <a:t>E1</a:t>
            </a: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err="1">
                <a:latin typeface="+mn-ea"/>
              </a:rPr>
              <a:t>rel</a:t>
            </a: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err="1">
                <a:latin typeface="+mn-ea"/>
              </a:rPr>
              <a:t>E2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9416" y="4586352"/>
            <a:ext cx="6820416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B1.code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E1.code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E2.code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if x &lt; 100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B1.true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B1.false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>
                <a:latin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if x &lt; 100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L3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064689" y="4580391"/>
            <a:ext cx="3214528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if x &lt; 100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L3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L3</a:t>
            </a:r>
            <a:r>
              <a:rPr lang="en-US" altLang="zh-CN" sz="2000" b="1" dirty="0">
                <a:latin typeface="+mn-ea"/>
              </a:rPr>
              <a:t>: </a:t>
            </a:r>
            <a:r>
              <a:rPr lang="en-US" altLang="zh-CN" sz="2000" b="1" dirty="0" err="1">
                <a:latin typeface="+mn-ea"/>
              </a:rPr>
              <a:t>B2.code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L2</a:t>
            </a:r>
            <a:r>
              <a:rPr lang="en-US" altLang="zh-CN" sz="2000" b="1" dirty="0"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  <p:sp>
        <p:nvSpPr>
          <p:cNvPr id="14" name="矩形 13"/>
          <p:cNvSpPr/>
          <p:nvPr/>
        </p:nvSpPr>
        <p:spPr>
          <a:xfrm>
            <a:off x="8040214" y="2439221"/>
            <a:ext cx="3240362" cy="1938992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B1.true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B1.false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L3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0000CC"/>
                </a:solidFill>
                <a:latin typeface="+mn-ea"/>
              </a:rPr>
              <a:t>B1.code</a:t>
            </a:r>
            <a:endParaRPr lang="en-US" altLang="zh-CN" sz="2000" b="1" dirty="0">
              <a:solidFill>
                <a:srgbClr val="0000CC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L3</a:t>
            </a:r>
            <a:r>
              <a:rPr lang="en-US" altLang="zh-CN" sz="2000" b="1" dirty="0">
                <a:latin typeface="+mn-ea"/>
              </a:rPr>
              <a:t>: </a:t>
            </a:r>
            <a:r>
              <a:rPr lang="en-US" altLang="zh-CN" sz="2000" b="1" dirty="0" err="1">
                <a:latin typeface="+mn-ea"/>
              </a:rPr>
              <a:t>B2.code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L2</a:t>
            </a:r>
            <a:r>
              <a:rPr lang="en-US" altLang="zh-CN" sz="2000" b="1" dirty="0"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36" b="23064"/>
          <a:stretch>
            <a:fillRect/>
          </a:stretch>
        </p:blipFill>
        <p:spPr bwMode="auto">
          <a:xfrm>
            <a:off x="839417" y="3353483"/>
            <a:ext cx="6820416" cy="1011621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268760"/>
            <a:ext cx="11017224" cy="5472608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62392" y="1844824"/>
            <a:ext cx="6408710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P=&gt;</a:t>
            </a:r>
            <a:r>
              <a:rPr lang="en-US" altLang="zh-CN" sz="2000" b="1" dirty="0" err="1">
                <a:latin typeface="+mn-ea"/>
              </a:rPr>
              <a:t>S0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B0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B2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B3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&amp;&amp;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B4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47645" y="1772816"/>
            <a:ext cx="3816425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B2</a:t>
            </a:r>
            <a:r>
              <a:rPr lang="en-US" altLang="zh-CN" sz="2000" b="1" dirty="0">
                <a:latin typeface="+mn-ea"/>
              </a:rPr>
              <a:t> → </a:t>
            </a:r>
            <a:r>
              <a:rPr lang="en-US" altLang="zh-CN" sz="2000" b="1" dirty="0" err="1">
                <a:latin typeface="+mn-ea"/>
              </a:rPr>
              <a:t>B3</a:t>
            </a:r>
            <a:r>
              <a:rPr lang="en-US" altLang="zh-CN" sz="2000" b="1" dirty="0">
                <a:latin typeface="+mn-ea"/>
              </a:rPr>
              <a:t> &amp;&amp; </a:t>
            </a:r>
            <a:r>
              <a:rPr lang="en-US" altLang="zh-CN" sz="2000" b="1" dirty="0" err="1">
                <a:latin typeface="+mn-ea"/>
              </a:rPr>
              <a:t>B4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62389" y="4915241"/>
            <a:ext cx="6408710" cy="1642341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B3.true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L4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(new)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B3.false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B4.true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B4.false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B2.code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B3.code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||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L4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: ||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B4.code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47645" y="4618590"/>
            <a:ext cx="3816425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if x &lt; 100 </a:t>
            </a:r>
            <a:r>
              <a:rPr lang="en-US" altLang="zh-CN" sz="2000" b="1" dirty="0" err="1">
                <a:latin typeface="+mn-ea"/>
              </a:rPr>
              <a:t>goto</a:t>
            </a:r>
            <a:r>
              <a:rPr lang="en-US" altLang="zh-CN" sz="2000" b="1" dirty="0">
                <a:latin typeface="+mn-ea"/>
              </a:rPr>
              <a:t> L2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goto</a:t>
            </a:r>
            <a:r>
              <a:rPr lang="en-US" altLang="zh-CN" sz="2000" b="1" dirty="0">
                <a:latin typeface="+mn-ea"/>
              </a:rPr>
              <a:t> L3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L3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: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B3.code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L4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: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B4.code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</a:t>
            </a:r>
            <a:r>
              <a:rPr lang="en-US" altLang="zh-CN" sz="2000" b="1" dirty="0" err="1">
                <a:latin typeface="+mn-ea"/>
              </a:rPr>
              <a:t>L2</a:t>
            </a:r>
            <a:r>
              <a:rPr lang="en-US" altLang="zh-CN" sz="2000" b="1" dirty="0"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862393" y="3356992"/>
            <a:ext cx="6408711" cy="1432489"/>
            <a:chOff x="675409" y="4437112"/>
            <a:chExt cx="6726745" cy="1584176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899" r="13684" b="51966"/>
            <a:stretch>
              <a:fillRect/>
            </a:stretch>
          </p:blipFill>
          <p:spPr bwMode="auto">
            <a:xfrm>
              <a:off x="675409" y="4437112"/>
              <a:ext cx="6726745" cy="1584176"/>
            </a:xfrm>
            <a:prstGeom prst="rect">
              <a:avLst/>
            </a:prstGeom>
            <a:noFill/>
            <a:ln w="28575">
              <a:solidFill>
                <a:srgbClr val="9999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矩形: 圆角 14"/>
            <p:cNvSpPr/>
            <p:nvPr/>
          </p:nvSpPr>
          <p:spPr bwMode="auto">
            <a:xfrm>
              <a:off x="4932040" y="5625078"/>
              <a:ext cx="1368152" cy="360040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  <p:sp>
          <p:nvSpPr>
            <p:cNvPr id="16" name="矩形: 圆角 15"/>
            <p:cNvSpPr/>
            <p:nvPr/>
          </p:nvSpPr>
          <p:spPr bwMode="auto">
            <a:xfrm>
              <a:off x="3923928" y="4496143"/>
              <a:ext cx="1152128" cy="360040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7547645" y="2262351"/>
            <a:ext cx="3816425" cy="2246769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B2.true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B2.false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>
                <a:latin typeface="+mn-ea"/>
              </a:rPr>
              <a:t>if x &lt; 100 </a:t>
            </a:r>
            <a:r>
              <a:rPr lang="en-US" altLang="zh-CN" sz="2000" b="1" dirty="0" err="1">
                <a:latin typeface="+mn-ea"/>
              </a:rPr>
              <a:t>goto</a:t>
            </a:r>
            <a:r>
              <a:rPr lang="en-US" altLang="zh-CN" sz="2000" b="1" dirty="0">
                <a:latin typeface="+mn-ea"/>
              </a:rPr>
              <a:t> L2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 </a:t>
            </a:r>
            <a:r>
              <a:rPr lang="en-US" altLang="zh-CN" sz="2000" b="1" dirty="0" err="1">
                <a:latin typeface="+mn-ea"/>
              </a:rPr>
              <a:t>goto</a:t>
            </a:r>
            <a:r>
              <a:rPr lang="en-US" altLang="zh-CN" sz="2000" b="1" dirty="0">
                <a:latin typeface="+mn-ea"/>
              </a:rPr>
              <a:t> L3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          </a:t>
            </a:r>
            <a:r>
              <a:rPr lang="en-US" altLang="zh-CN" sz="2000" b="1" dirty="0" err="1">
                <a:solidFill>
                  <a:srgbClr val="0000CC"/>
                </a:solidFill>
                <a:latin typeface="+mn-ea"/>
              </a:rPr>
              <a:t>L3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: </a:t>
            </a:r>
            <a:r>
              <a:rPr lang="en-US" altLang="zh-CN" sz="2000" b="1" dirty="0" err="1">
                <a:solidFill>
                  <a:srgbClr val="0000CC"/>
                </a:solidFill>
                <a:latin typeface="+mn-ea"/>
              </a:rPr>
              <a:t>B2.code</a:t>
            </a:r>
            <a:endParaRPr lang="en-US" altLang="zh-CN" sz="2000" b="1" dirty="0">
              <a:solidFill>
                <a:srgbClr val="0000CC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</a:t>
            </a:r>
            <a:r>
              <a:rPr lang="en-US" altLang="zh-CN" sz="2000" b="1" dirty="0" err="1">
                <a:latin typeface="+mn-ea"/>
              </a:rPr>
              <a:t>L2</a:t>
            </a:r>
            <a:r>
              <a:rPr lang="en-US" altLang="zh-CN" sz="2000" b="1" dirty="0"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340768"/>
            <a:ext cx="11089232" cy="540060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24192" y="2092786"/>
            <a:ext cx="3322016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B3</a:t>
            </a:r>
            <a:r>
              <a:rPr lang="en-US" altLang="zh-CN" sz="2000" b="1" dirty="0">
                <a:latin typeface="+mn-ea"/>
              </a:rPr>
              <a:t> → </a:t>
            </a:r>
            <a:r>
              <a:rPr lang="en-US" altLang="zh-CN" sz="2000" b="1" dirty="0" err="1">
                <a:latin typeface="+mn-ea"/>
              </a:rPr>
              <a:t>E3</a:t>
            </a: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err="1">
                <a:latin typeface="+mn-ea"/>
              </a:rPr>
              <a:t>rel</a:t>
            </a: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err="1">
                <a:latin typeface="+mn-ea"/>
              </a:rPr>
              <a:t>E4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24192" y="3149726"/>
            <a:ext cx="3322016" cy="1415192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B3.true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L4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B3.false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B4.true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B4.false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5103" y="4797152"/>
            <a:ext cx="4898349" cy="163121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B3.code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E3.code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E4.code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if x &gt; 200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B3.true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B3.false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>
                <a:latin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if x &gt; 200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L4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36" b="23064"/>
          <a:stretch>
            <a:fillRect/>
          </a:stretch>
        </p:blipFill>
        <p:spPr bwMode="auto">
          <a:xfrm>
            <a:off x="855103" y="3617943"/>
            <a:ext cx="6336704" cy="946975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矩形 17"/>
          <p:cNvSpPr/>
          <p:nvPr/>
        </p:nvSpPr>
        <p:spPr>
          <a:xfrm>
            <a:off x="7824192" y="2596842"/>
            <a:ext cx="3322016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B4</a:t>
            </a:r>
            <a:r>
              <a:rPr lang="en-US" altLang="zh-CN" sz="2000" b="1" dirty="0">
                <a:latin typeface="+mn-ea"/>
              </a:rPr>
              <a:t> → </a:t>
            </a:r>
            <a:r>
              <a:rPr lang="en-US" altLang="zh-CN" sz="2000" b="1" dirty="0" err="1">
                <a:latin typeface="+mn-ea"/>
              </a:rPr>
              <a:t>E5</a:t>
            </a: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err="1">
                <a:latin typeface="+mn-ea"/>
              </a:rPr>
              <a:t>rel</a:t>
            </a: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err="1">
                <a:latin typeface="+mn-ea"/>
              </a:rPr>
              <a:t>E6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55103" y="2103950"/>
            <a:ext cx="6336704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P=&gt;</a:t>
            </a:r>
            <a:r>
              <a:rPr lang="en-US" altLang="zh-CN" sz="2000" b="1" dirty="0" err="1">
                <a:latin typeface="+mn-ea"/>
              </a:rPr>
              <a:t>S0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B0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latin typeface="+mn-ea"/>
              </a:rPr>
              <a:t>B2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=&gt;if (</a:t>
            </a:r>
            <a:r>
              <a:rPr lang="en-US" altLang="zh-CN" sz="2000" b="1" dirty="0" err="1">
                <a:latin typeface="+mn-ea"/>
              </a:rPr>
              <a:t>B1</a:t>
            </a:r>
            <a:r>
              <a:rPr lang="en-US" altLang="zh-CN" sz="2000" b="1" dirty="0">
                <a:latin typeface="+mn-ea"/>
              </a:rPr>
              <a:t> ||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B3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&amp;&amp;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B4</a:t>
            </a:r>
            <a:r>
              <a:rPr lang="en-US" altLang="zh-CN" sz="2000" b="1" dirty="0">
                <a:latin typeface="+mn-ea"/>
              </a:rPr>
              <a:t>) </a:t>
            </a:r>
            <a:r>
              <a:rPr lang="en-US" altLang="zh-CN" sz="2000" b="1" dirty="0" err="1">
                <a:latin typeface="+mn-ea"/>
              </a:rPr>
              <a:t>S1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47859" y="4797152"/>
            <a:ext cx="4898349" cy="163121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B4.code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E5.code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E6.code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if x != y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B4.true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B4.false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>
                <a:latin typeface="+mn-ea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if x !=y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8" grpId="0" animBg="1"/>
      <p:bldP spid="2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268760"/>
            <a:ext cx="10945216" cy="540060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重新分析语句</a:t>
            </a:r>
            <a:r>
              <a:rPr lang="en-US" altLang="zh-CN" sz="2400" dirty="0">
                <a:latin typeface="+mn-ea"/>
              </a:rPr>
              <a:t>if (x &lt; 100 || x &gt; 200 &amp;&amp; x!=y) x=0;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15480" y="2060848"/>
            <a:ext cx="4464496" cy="707886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B3.code</a:t>
            </a:r>
            <a:r>
              <a:rPr lang="en-US" altLang="zh-CN" sz="2000" b="1" dirty="0">
                <a:latin typeface="+mn-ea"/>
              </a:rPr>
              <a:t> = 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if x &gt; 200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L4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15480" y="2990855"/>
            <a:ext cx="4464496" cy="707886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B4.code</a:t>
            </a:r>
            <a:r>
              <a:rPr lang="en-US" altLang="zh-CN" sz="2000" b="1" dirty="0">
                <a:latin typeface="+mn-ea"/>
              </a:rPr>
              <a:t> =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if x !=y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85926" y="1841893"/>
            <a:ext cx="4246578" cy="1938992"/>
          </a:xfrm>
          <a:prstGeom prst="rect">
            <a:avLst/>
          </a:prstGeom>
          <a:solidFill>
            <a:srgbClr val="CCCCFF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if x &lt; 100 </a:t>
            </a:r>
            <a:r>
              <a:rPr lang="en-US" altLang="zh-CN" sz="2000" b="1" dirty="0" err="1">
                <a:latin typeface="+mn-ea"/>
              </a:rPr>
              <a:t>goto</a:t>
            </a:r>
            <a:r>
              <a:rPr lang="en-US" altLang="zh-CN" sz="2000" b="1" dirty="0">
                <a:latin typeface="+mn-ea"/>
              </a:rPr>
              <a:t> L2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</a:t>
            </a:r>
            <a:r>
              <a:rPr lang="en-US" altLang="zh-CN" sz="2000" b="1" dirty="0" err="1">
                <a:latin typeface="+mn-ea"/>
              </a:rPr>
              <a:t>goto</a:t>
            </a:r>
            <a:r>
              <a:rPr lang="en-US" altLang="zh-CN" sz="2000" b="1" dirty="0">
                <a:latin typeface="+mn-ea"/>
              </a:rPr>
              <a:t> L3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</a:t>
            </a:r>
            <a:r>
              <a:rPr lang="en-US" altLang="zh-CN" sz="2000" b="1" dirty="0" err="1">
                <a:latin typeface="+mn-ea"/>
              </a:rPr>
              <a:t>L3</a:t>
            </a:r>
            <a:r>
              <a:rPr lang="en-US" altLang="zh-CN" sz="2000" b="1" dirty="0">
                <a:latin typeface="+mn-ea"/>
              </a:rPr>
              <a:t>: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B3.code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</a:t>
            </a:r>
            <a:r>
              <a:rPr lang="en-US" altLang="zh-CN" sz="2000" b="1" dirty="0" err="1">
                <a:latin typeface="+mn-ea"/>
              </a:rPr>
              <a:t>L4</a:t>
            </a:r>
            <a:r>
              <a:rPr lang="en-US" altLang="zh-CN" sz="2000" b="1" dirty="0">
                <a:latin typeface="+mn-ea"/>
              </a:rPr>
              <a:t>: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B4.code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</a:t>
            </a:r>
            <a:r>
              <a:rPr lang="en-US" altLang="zh-CN" sz="2000" b="1" dirty="0" err="1">
                <a:latin typeface="+mn-ea"/>
              </a:rPr>
              <a:t>L2</a:t>
            </a:r>
            <a:r>
              <a:rPr lang="en-US" altLang="zh-CN" sz="2000" b="1" dirty="0"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  <p:sp>
        <p:nvSpPr>
          <p:cNvPr id="13" name="矩形 12"/>
          <p:cNvSpPr/>
          <p:nvPr/>
        </p:nvSpPr>
        <p:spPr>
          <a:xfrm>
            <a:off x="1415480" y="3937948"/>
            <a:ext cx="4464496" cy="2554545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b="1" dirty="0" err="1">
                <a:latin typeface="+mn-ea"/>
              </a:rPr>
              <a:t>P.code</a:t>
            </a:r>
            <a:r>
              <a:rPr lang="en-US" altLang="zh-CN" sz="2000" b="1" dirty="0">
                <a:latin typeface="+mn-ea"/>
              </a:rPr>
              <a:t> =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>
                <a:latin typeface="+mn-ea"/>
              </a:rPr>
              <a:t>if x &lt; 100 </a:t>
            </a:r>
            <a:r>
              <a:rPr lang="en-US" altLang="zh-CN" sz="2000" b="1" dirty="0" err="1">
                <a:latin typeface="+mn-ea"/>
              </a:rPr>
              <a:t>goto</a:t>
            </a:r>
            <a:r>
              <a:rPr lang="en-US" altLang="zh-CN" sz="2000" b="1" dirty="0">
                <a:latin typeface="+mn-ea"/>
              </a:rPr>
              <a:t> L2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      </a:t>
            </a:r>
            <a:r>
              <a:rPr lang="en-US" altLang="zh-CN" sz="2000" b="1" dirty="0" err="1">
                <a:latin typeface="+mn-ea"/>
              </a:rPr>
              <a:t>goto</a:t>
            </a:r>
            <a:r>
              <a:rPr lang="en-US" altLang="zh-CN" sz="2000" b="1" dirty="0">
                <a:latin typeface="+mn-ea"/>
              </a:rPr>
              <a:t> L3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</a:t>
            </a:r>
            <a:r>
              <a:rPr lang="en-US" altLang="zh-CN" sz="2000" b="1" dirty="0" err="1">
                <a:latin typeface="+mn-ea"/>
              </a:rPr>
              <a:t>L3</a:t>
            </a:r>
            <a:r>
              <a:rPr lang="en-US" altLang="zh-CN" sz="2000" b="1" dirty="0">
                <a:latin typeface="+mn-ea"/>
              </a:rPr>
              <a:t>: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if x &gt; 200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L4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</a:t>
            </a:r>
            <a:r>
              <a:rPr lang="en-US" altLang="zh-CN" sz="2000" b="1" dirty="0" err="1">
                <a:latin typeface="+mn-ea"/>
              </a:rPr>
              <a:t>L4</a:t>
            </a:r>
            <a:r>
              <a:rPr lang="en-US" altLang="zh-CN" sz="2000" b="1" dirty="0">
                <a:latin typeface="+mn-ea"/>
              </a:rPr>
              <a:t>: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if x !=y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L2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goto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</a:rPr>
              <a:t>L1</a:t>
            </a:r>
            <a:endParaRPr lang="en-US" altLang="zh-CN" sz="20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</a:t>
            </a:r>
            <a:r>
              <a:rPr lang="en-US" altLang="zh-CN" sz="2000" b="1" dirty="0" err="1">
                <a:latin typeface="+mn-ea"/>
              </a:rPr>
              <a:t>L2</a:t>
            </a:r>
            <a:r>
              <a:rPr lang="en-US" altLang="zh-CN" sz="2000" b="1" dirty="0">
                <a:latin typeface="+mn-ea"/>
              </a:rPr>
              <a:t>:  x = 0</a:t>
            </a: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ea"/>
              </a:rPr>
              <a:t>          </a:t>
            </a:r>
            <a:r>
              <a:rPr lang="en-US" altLang="zh-CN" sz="2000" b="1" dirty="0" err="1">
                <a:latin typeface="+mn-ea"/>
              </a:rPr>
              <a:t>L1</a:t>
            </a:r>
            <a:r>
              <a:rPr lang="en-US" altLang="zh-CN" sz="2000" b="1" dirty="0">
                <a:latin typeface="+mn-ea"/>
              </a:rPr>
              <a:t>: 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6" r="23103" b="20689"/>
          <a:stretch>
            <a:fillRect/>
          </a:stretch>
        </p:blipFill>
        <p:spPr bwMode="auto">
          <a:xfrm>
            <a:off x="6382546" y="3937948"/>
            <a:ext cx="4246578" cy="2554545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布尔表达式的控制流翻译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请将语句 </a:t>
            </a:r>
            <a:r>
              <a:rPr lang="en-US" altLang="zh-CN" sz="2400" dirty="0">
                <a:solidFill>
                  <a:srgbClr val="0000CC"/>
                </a:solidFill>
                <a:latin typeface="+mn-ea"/>
              </a:rPr>
              <a:t>if (a &gt; 0 || b &gt; 0) a = a + b</a:t>
            </a:r>
            <a:r>
              <a:rPr lang="zh-CN" altLang="en-US" sz="2400" dirty="0">
                <a:solidFill>
                  <a:srgbClr val="0000CC"/>
                </a:solidFill>
                <a:latin typeface="+mn-ea"/>
              </a:rPr>
              <a:t>；</a:t>
            </a:r>
            <a:r>
              <a:rPr lang="zh-CN" altLang="en-US" sz="2400" dirty="0">
                <a:latin typeface="+mn-ea"/>
              </a:rPr>
              <a:t>编译成三地址代码。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12"/>
          <a:stretch>
            <a:fillRect/>
          </a:stretch>
        </p:blipFill>
        <p:spPr bwMode="auto">
          <a:xfrm>
            <a:off x="1919536" y="2060847"/>
            <a:ext cx="4032448" cy="4205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14"/>
          <a:stretch>
            <a:fillRect/>
          </a:stretch>
        </p:blipFill>
        <p:spPr bwMode="auto">
          <a:xfrm>
            <a:off x="5936020" y="2060848"/>
            <a:ext cx="4789696" cy="4205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请为翻译下面代码设计一个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if (a &gt; 10 || a &lt; 2)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      a = 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      b = a;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a = 100;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请为翻译下面代码设计一个</a:t>
            </a:r>
            <a:r>
              <a:rPr lang="en-US" altLang="zh-CN" sz="2400" dirty="0" err="1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if (a &gt; 10 || a &lt; 2)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      a = 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      b = a;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a = 100;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88436"/>
              </p:ext>
            </p:extLst>
          </p:nvPr>
        </p:nvGraphicFramePr>
        <p:xfrm>
          <a:off x="6240016" y="2060848"/>
          <a:ext cx="4176464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479376" y="260648"/>
          <a:ext cx="11449272" cy="6264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57356-A8D8-4172-08AC-8E4F7B98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1C6C3CC1-26A3-8C2A-9922-084557BB4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878487"/>
              </p:ext>
            </p:extLst>
          </p:nvPr>
        </p:nvGraphicFramePr>
        <p:xfrm>
          <a:off x="479376" y="260648"/>
          <a:ext cx="11449272" cy="6264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89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479376" y="260648"/>
          <a:ext cx="11449272" cy="6264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479376" y="260648"/>
          <a:ext cx="11449272" cy="6264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479376" y="260648"/>
          <a:ext cx="11449272" cy="6264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‘=‘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‘=‘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479376" y="260648"/>
          <a:ext cx="11449272" cy="6264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‘=‘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‘=‘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479376" y="260648"/>
          <a:ext cx="11449272" cy="6264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‘=‘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‘=‘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E2.Code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(‘if’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E1.addr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rel.op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E2.addr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‘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goto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’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(‘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goto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’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371648"/>
              </p:ext>
            </p:extLst>
          </p:nvPr>
        </p:nvGraphicFramePr>
        <p:xfrm>
          <a:off x="479376" y="260648"/>
          <a:ext cx="11449272" cy="62646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→ S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{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if (B)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S1.Next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S.Next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id = num;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‘=‘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→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id1.lexeme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‘=‘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id2.lexeme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newlabel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B2.Code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7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E1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E2</a:t>
                      </a:r>
                      <a:endParaRPr lang="en-US" altLang="zh-CN" sz="2000" b="1" dirty="0">
                        <a:solidFill>
                          <a:srgbClr val="0000C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E1.Code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E2.Code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(‘if’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E1.addr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rel.op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E2.addr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‘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goto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’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B.true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||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(‘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goto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’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B.false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E.addr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 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‘’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num</a:t>
                      </a:r>
                      <a:endParaRPr lang="zh-CN" altLang="en-US" sz="2000" b="1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E.addr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zh-CN" sz="20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top.get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num.lexeme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  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E.Code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‘’</a:t>
                      </a:r>
                      <a:endParaRPr lang="zh-CN" alt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6665-AEA0-5B87-05EE-AC211909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E5CC2-0EB2-77E1-51F0-9B26C062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小结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FCCFDA-CFA4-08CE-1E36-433A985BBFC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设计时要考虑的属性：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+mn-ea"/>
              </a:rPr>
              <a:t>P</a:t>
            </a:r>
            <a:r>
              <a:rPr lang="zh-CN" altLang="en-US" sz="2400" dirty="0">
                <a:latin typeface="+mn-ea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code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+mn-ea"/>
              </a:rPr>
              <a:t>S</a:t>
            </a:r>
            <a:r>
              <a:rPr lang="zh-CN" altLang="en-US" sz="2400" dirty="0">
                <a:latin typeface="+mn-ea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code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next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+mn-ea"/>
              </a:rPr>
              <a:t>B</a:t>
            </a:r>
            <a:r>
              <a:rPr lang="zh-CN" altLang="en-US" sz="2400" dirty="0">
                <a:latin typeface="+mn-ea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code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true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false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+mn-ea"/>
              </a:rPr>
              <a:t>E</a:t>
            </a:r>
            <a:r>
              <a:rPr lang="zh-CN" altLang="en-US" sz="2400" dirty="0">
                <a:latin typeface="+mn-ea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code</a:t>
            </a:r>
            <a:r>
              <a:rPr lang="zh-CN" altLang="en-US" sz="2400">
                <a:latin typeface="+mn-ea"/>
              </a:rPr>
              <a:t>、 </a:t>
            </a:r>
            <a:r>
              <a:rPr lang="en-US" altLang="zh-CN" sz="2400">
                <a:solidFill>
                  <a:srgbClr val="FF0000"/>
                </a:solidFill>
                <a:latin typeface="+mn-ea"/>
              </a:rPr>
              <a:t>addr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调用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top.get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获取</a:t>
            </a:r>
            <a:r>
              <a:rPr lang="en-US" altLang="zh-CN" sz="24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+mn-ea"/>
              </a:rPr>
              <a:t>属性计算的位置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S.next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 → S     </a:t>
            </a:r>
            <a:r>
              <a:rPr lang="en-US" altLang="zh-CN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S1 S2        S → {S1}       S → if (B) S1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B.true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B.false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：   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→ if (B) S1       B → B1 || B2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+mn-ea"/>
              </a:rPr>
              <a:t>Goto</a:t>
            </a:r>
            <a:r>
              <a:rPr lang="zh-CN" altLang="en-US" sz="2400" dirty="0">
                <a:latin typeface="+mn-ea"/>
              </a:rPr>
              <a:t>跳转语句的产生都在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→ E1 </a:t>
            </a:r>
            <a:r>
              <a:rPr lang="en-US" altLang="zh-CN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E2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</a:rPr>
              <a:t>          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641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主题4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3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1749</TotalTime>
  <Words>8918</Words>
  <Application>Microsoft Office PowerPoint</Application>
  <PresentationFormat>宽屏</PresentationFormat>
  <Paragraphs>1108</Paragraphs>
  <Slides>94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94</vt:i4>
      </vt:variant>
    </vt:vector>
  </HeadingPairs>
  <TitlesOfParts>
    <vt:vector size="103" baseType="lpstr">
      <vt:lpstr>Noto Sans SC</vt:lpstr>
      <vt:lpstr>黑体</vt:lpstr>
      <vt:lpstr>微软雅黑</vt:lpstr>
      <vt:lpstr>Arial</vt:lpstr>
      <vt:lpstr>Calibri</vt:lpstr>
      <vt:lpstr>Times New Roman</vt:lpstr>
      <vt:lpstr>Verdana</vt:lpstr>
      <vt:lpstr>Wingdings</vt:lpstr>
      <vt:lpstr>主题4</vt:lpstr>
      <vt:lpstr>第七章 中间代码的生成</vt:lpstr>
      <vt:lpstr>编译器前端</vt:lpstr>
      <vt:lpstr>中间代码生成</vt:lpstr>
      <vt:lpstr>中间代码生成</vt:lpstr>
      <vt:lpstr>语法树的变体——DAG</vt:lpstr>
      <vt:lpstr>DAG的构造</vt:lpstr>
      <vt:lpstr>DAG的构造</vt:lpstr>
      <vt:lpstr>DAG的构造</vt:lpstr>
      <vt:lpstr>DAG的构造</vt:lpstr>
      <vt:lpstr>DAG的构造</vt:lpstr>
      <vt:lpstr>三地址代码</vt:lpstr>
      <vt:lpstr>三地址代码</vt:lpstr>
      <vt:lpstr>常见三地址指令形式</vt:lpstr>
      <vt:lpstr>三地址代码示例</vt:lpstr>
      <vt:lpstr>练习</vt:lpstr>
      <vt:lpstr>练习</vt:lpstr>
      <vt:lpstr>练习</vt:lpstr>
      <vt:lpstr>练习</vt:lpstr>
      <vt:lpstr>练习</vt:lpstr>
      <vt:lpstr>练习</vt:lpstr>
      <vt:lpstr>四元式表示</vt:lpstr>
      <vt:lpstr>四元式示例</vt:lpstr>
      <vt:lpstr>四元式示例</vt:lpstr>
      <vt:lpstr>三元式表示</vt:lpstr>
      <vt:lpstr>间接三元式表示</vt:lpstr>
      <vt:lpstr>练习</vt:lpstr>
      <vt:lpstr>练习</vt:lpstr>
      <vt:lpstr>静态单赋值形式SSA</vt:lpstr>
      <vt:lpstr>静态单赋值形式SSA</vt:lpstr>
      <vt:lpstr>练习</vt:lpstr>
      <vt:lpstr>练习</vt:lpstr>
      <vt:lpstr>类型和声明</vt:lpstr>
      <vt:lpstr>类型表达式</vt:lpstr>
      <vt:lpstr>类型表达式</vt:lpstr>
      <vt:lpstr>类型表达式示例</vt:lpstr>
      <vt:lpstr>类型表达式</vt:lpstr>
      <vt:lpstr>类型等价</vt:lpstr>
      <vt:lpstr>类型等价</vt:lpstr>
      <vt:lpstr>类型等价</vt:lpstr>
      <vt:lpstr>类型及其声明</vt:lpstr>
      <vt:lpstr>局部变量名的存储布局</vt:lpstr>
      <vt:lpstr>变量声明语句的SDT</vt:lpstr>
      <vt:lpstr>变量声明语句的SDT</vt:lpstr>
      <vt:lpstr>声明的序列</vt:lpstr>
      <vt:lpstr>练习</vt:lpstr>
      <vt:lpstr>表达式和赋值语句的翻译</vt:lpstr>
      <vt:lpstr>为赋值语句S生成三地址代码的SDD</vt:lpstr>
      <vt:lpstr>示例</vt:lpstr>
      <vt:lpstr>示例</vt:lpstr>
      <vt:lpstr>示例</vt:lpstr>
      <vt:lpstr>示例</vt:lpstr>
      <vt:lpstr>示例</vt:lpstr>
      <vt:lpstr>练习</vt:lpstr>
      <vt:lpstr>练习</vt:lpstr>
      <vt:lpstr>类型检查</vt:lpstr>
      <vt:lpstr>类型转换</vt:lpstr>
      <vt:lpstr>类型转换</vt:lpstr>
      <vt:lpstr>拓宽函数的使用</vt:lpstr>
      <vt:lpstr>布尔表达式的翻译</vt:lpstr>
      <vt:lpstr>短路代码</vt:lpstr>
      <vt:lpstr>非控制流中的布尔表达式翻译</vt:lpstr>
      <vt:lpstr>控制流语句</vt:lpstr>
      <vt:lpstr>控制流语句</vt:lpstr>
      <vt:lpstr>控制流语句的代码布局方案</vt:lpstr>
      <vt:lpstr>布尔表达式的控制流翻译</vt:lpstr>
      <vt:lpstr>布尔表达式的控制流翻译</vt:lpstr>
      <vt:lpstr>布尔表达式的控制流翻译</vt:lpstr>
      <vt:lpstr>布尔表达式的控制流翻译</vt:lpstr>
      <vt:lpstr>控制流语句的语法制导定义</vt:lpstr>
      <vt:lpstr>控制流语句的语法制导定义</vt:lpstr>
      <vt:lpstr>控制流语句的语法制导定义</vt:lpstr>
      <vt:lpstr>控制流语句的语法制导定义</vt:lpstr>
      <vt:lpstr>控制流语句的语法制导定义</vt:lpstr>
      <vt:lpstr>布尔表达式的控制流翻译</vt:lpstr>
      <vt:lpstr>布尔表达式的控制流翻译</vt:lpstr>
      <vt:lpstr>布尔表达式的控制流翻译</vt:lpstr>
      <vt:lpstr>布尔表达式的控制流翻译</vt:lpstr>
      <vt:lpstr>布尔表达式的控制流翻译</vt:lpstr>
      <vt:lpstr>布尔表达式的控制流翻译</vt:lpstr>
      <vt:lpstr>布尔表达式的控制流翻译</vt:lpstr>
      <vt:lpstr>布尔表达式的控制流翻译</vt:lpstr>
      <vt:lpstr>布尔表达式的控制流翻译</vt:lpstr>
      <vt:lpstr>练习</vt:lpstr>
      <vt:lpstr>练习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薇 潘</cp:lastModifiedBy>
  <cp:revision>648</cp:revision>
  <dcterms:created xsi:type="dcterms:W3CDTF">1999-05-10T08:46:00Z</dcterms:created>
  <dcterms:modified xsi:type="dcterms:W3CDTF">2026-06-10T06:05:55Z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A47D0F31CFAD43D3B8B6C1E042B58359_12</vt:lpwstr>
  </property>
</Properties>
</file>