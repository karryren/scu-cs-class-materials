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76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70" r:id="rId6"/>
    <p:sldId id="272" r:id="rId7"/>
    <p:sldId id="273" r:id="rId8"/>
    <p:sldId id="274" r:id="rId9"/>
    <p:sldId id="275" r:id="rId10"/>
    <p:sldId id="276" r:id="rId11"/>
    <p:sldId id="271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FF"/>
    <a:srgbClr val="0000CC"/>
    <a:srgbClr val="FFFF99"/>
    <a:srgbClr val="FFFFCC"/>
    <a:srgbClr val="CCFF99"/>
    <a:srgbClr val="CC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66" autoAdjust="0"/>
  </p:normalViewPr>
  <p:slideViewPr>
    <p:cSldViewPr>
      <p:cViewPr varScale="1">
        <p:scale>
          <a:sx n="80" d="100"/>
          <a:sy n="80" d="100"/>
        </p:scale>
        <p:origin x="864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94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E36EE7FD-D95C-453D-96BD-7F3A63A0298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5400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64B214-DDA0-4009-8EB8-55F0D4006188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3141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BD429C-C85D-444C-8709-9515B2BFB96C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70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F888D-4931-48E4-8495-73CF59C91CC6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715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1BD1B6-C95F-4B19-BEF6-0168FD4EA897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391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5EE05-3095-4DDF-8329-E59BAC6A4FEA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600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051571-2577-4A80-B674-152C7D38E365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538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F887EB-56B6-495C-A97E-40D7B15055BD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121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1C29A0-CC01-4CE0-B922-62D06E686332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4982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3EBE1B-AEBF-4E92-A962-B9126A3D6B1D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769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B74711-2B6D-497F-9191-CC255F677AC8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48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D0FECF-A8F2-465B-A3DE-204F9FF6FEED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5893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fld id="{46B20972-1498-49DB-9F89-63567753771A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437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55640" y="2780928"/>
            <a:ext cx="6438900" cy="1462088"/>
          </a:xfrm>
        </p:spPr>
        <p:txBody>
          <a:bodyPr/>
          <a:lstStyle/>
          <a:p>
            <a:pPr eaLnBrk="1" hangingPunct="1"/>
            <a:r>
              <a:rPr lang="zh-CN" altLang="en-US" b="1" dirty="0"/>
              <a:t>编译原理课程设计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1981200" y="2420888"/>
            <a:ext cx="8229600" cy="1944216"/>
          </a:xfrm>
        </p:spPr>
        <p:txBody>
          <a:bodyPr/>
          <a:lstStyle/>
          <a:p>
            <a:pPr algn="ctr"/>
            <a:endParaRPr lang="en-US" altLang="zh-CN" sz="4000" b="1" dirty="0"/>
          </a:p>
          <a:p>
            <a:pPr algn="ctr"/>
            <a:r>
              <a:rPr lang="zh-CN" altLang="en-US" sz="4000" b="1" dirty="0"/>
              <a:t>实验</a:t>
            </a:r>
            <a:r>
              <a:rPr lang="en-US" altLang="zh-CN" sz="4000" b="1" dirty="0"/>
              <a:t>2-2</a:t>
            </a:r>
            <a:r>
              <a:rPr lang="zh-CN" altLang="en-US" sz="4000" b="1" dirty="0"/>
              <a:t>  手工构造语法分析器</a:t>
            </a:r>
            <a:endParaRPr lang="en-US" altLang="zh-CN" sz="4000" b="1" dirty="0"/>
          </a:p>
          <a:p>
            <a:pPr marL="0" indent="0" algn="ctr">
              <a:buNone/>
            </a:pPr>
            <a:endParaRPr lang="en-US" altLang="zh-CN" sz="4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/>
              <a:t>手工构造</a:t>
            </a:r>
            <a:r>
              <a:rPr lang="en-US" altLang="zh-CN" sz="4000" b="1" dirty="0"/>
              <a:t>c-</a:t>
            </a:r>
            <a:r>
              <a:rPr lang="zh-CN" altLang="en-US" sz="4000" b="1" dirty="0"/>
              <a:t>语言的语法分析器</a:t>
            </a:r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3215680" y="2060849"/>
            <a:ext cx="6624736" cy="39604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熟悉</a:t>
            </a:r>
            <a:r>
              <a:rPr lang="en-US" altLang="zh-CN" sz="2400" b="1" dirty="0"/>
              <a:t>c-</a:t>
            </a:r>
            <a:r>
              <a:rPr lang="zh-CN" altLang="en-US" sz="2400" b="1" dirty="0"/>
              <a:t>语言语法，选择实现方法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设计数据类型、数据结构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用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或</a:t>
            </a:r>
            <a:r>
              <a:rPr lang="en-US" altLang="zh-CN" sz="2400" b="1" dirty="0"/>
              <a:t>C++</a:t>
            </a:r>
            <a:r>
              <a:rPr lang="zh-CN" altLang="en-US" sz="2400" b="1" dirty="0"/>
              <a:t>实现</a:t>
            </a:r>
            <a:r>
              <a:rPr lang="en-US" altLang="zh-CN" sz="2400" b="1" dirty="0"/>
              <a:t>c-</a:t>
            </a:r>
            <a:r>
              <a:rPr lang="zh-CN" altLang="en-US" sz="2400" b="1" dirty="0"/>
              <a:t>语言的语法分析器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调试、运行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提交</a:t>
            </a:r>
            <a:r>
              <a:rPr lang="zh-CN" altLang="en-US" sz="2400" b="1"/>
              <a:t>实验报告 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/>
              <a:t>报告内容要求</a:t>
            </a:r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1775520" y="1916832"/>
            <a:ext cx="8640960" cy="381642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目的、意义、</a:t>
            </a:r>
            <a:r>
              <a:rPr lang="zh-CN" altLang="en-US" sz="2400" b="1" dirty="0">
                <a:solidFill>
                  <a:srgbClr val="FF0000"/>
                </a:solidFill>
              </a:rPr>
              <a:t>编译环境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c-</a:t>
            </a:r>
            <a:r>
              <a:rPr lang="zh-CN" altLang="en-US" sz="2400" b="1" dirty="0"/>
              <a:t>语言语法，</a:t>
            </a:r>
            <a:r>
              <a:rPr lang="zh-CN" altLang="en-US" sz="2400" b="1" dirty="0">
                <a:solidFill>
                  <a:srgbClr val="FF0000"/>
                </a:solidFill>
              </a:rPr>
              <a:t>对文法的修改处理说明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重要的数据类型、数据结构设计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实现的关键代码分析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运行结果实例、分析</a:t>
            </a:r>
            <a:r>
              <a:rPr lang="en-US" altLang="zh-CN" sz="2400" b="1" dirty="0"/>
              <a:t>(</a:t>
            </a:r>
            <a:r>
              <a:rPr lang="zh-CN" altLang="en-US" sz="2400" b="1" dirty="0">
                <a:solidFill>
                  <a:srgbClr val="FF0000"/>
                </a:solidFill>
              </a:rPr>
              <a:t>应包含</a:t>
            </a:r>
            <a:r>
              <a:rPr lang="en-US" altLang="zh-CN" sz="2400" b="1" dirty="0" err="1">
                <a:solidFill>
                  <a:srgbClr val="FF0000"/>
                </a:solidFill>
              </a:rPr>
              <a:t>1.c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、</a:t>
            </a:r>
            <a:r>
              <a:rPr lang="en-US" altLang="zh-CN" sz="2400" b="1" dirty="0" err="1">
                <a:solidFill>
                  <a:srgbClr val="FF0000"/>
                </a:solidFill>
              </a:rPr>
              <a:t>2.c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和</a:t>
            </a:r>
            <a:r>
              <a:rPr lang="en-US" altLang="zh-CN" sz="2400" b="1" dirty="0" err="1">
                <a:solidFill>
                  <a:srgbClr val="FF0000"/>
                </a:solidFill>
              </a:rPr>
              <a:t>3.c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的执行结果</a:t>
            </a:r>
            <a:r>
              <a:rPr lang="en-US" altLang="zh-CN" sz="2400" b="1" dirty="0"/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小结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/>
              <a:t>提交程序要求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772817"/>
            <a:ext cx="8229600" cy="435334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/>
              <a:t>程序要求用</a:t>
            </a:r>
            <a:r>
              <a:rPr lang="en-US" altLang="zh-CN" sz="2400" b="1" dirty="0"/>
              <a:t>C++</a:t>
            </a:r>
            <a:r>
              <a:rPr lang="zh-CN" altLang="en-US" sz="2400" b="1" dirty="0"/>
              <a:t>在</a:t>
            </a:r>
            <a:r>
              <a:rPr lang="en-US" altLang="zh-CN" sz="2400" b="1" dirty="0"/>
              <a:t>Windows</a:t>
            </a:r>
            <a:r>
              <a:rPr lang="zh-CN" altLang="en-US" sz="2400" b="1" dirty="0"/>
              <a:t>下实现，要求使用</a:t>
            </a:r>
            <a:r>
              <a:rPr lang="en-US" altLang="zh-CN" sz="2400" b="1" dirty="0">
                <a:solidFill>
                  <a:srgbClr val="FF0000"/>
                </a:solidFill>
              </a:rPr>
              <a:t>vs</a:t>
            </a:r>
            <a:r>
              <a:rPr lang="zh-CN" altLang="en-US" sz="2400" b="1" dirty="0">
                <a:solidFill>
                  <a:srgbClr val="FF0000"/>
                </a:solidFill>
              </a:rPr>
              <a:t>工程</a:t>
            </a:r>
            <a:r>
              <a:rPr lang="zh-CN" altLang="en-US" sz="2400" b="1" dirty="0"/>
              <a:t>或者</a:t>
            </a:r>
            <a:r>
              <a:rPr lang="en-US" altLang="zh-CN" sz="2400" b="1" dirty="0">
                <a:solidFill>
                  <a:srgbClr val="FF0000"/>
                </a:solidFill>
              </a:rPr>
              <a:t>dev</a:t>
            </a:r>
            <a:r>
              <a:rPr lang="zh-CN" altLang="en-US" sz="2400" b="1" dirty="0">
                <a:solidFill>
                  <a:srgbClr val="FF0000"/>
                </a:solidFill>
              </a:rPr>
              <a:t>工程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/>
              <a:t>编译生成的可执行文件命名为</a:t>
            </a:r>
            <a:r>
              <a:rPr lang="en-US" altLang="zh-CN" sz="2400" b="1" dirty="0" err="1">
                <a:solidFill>
                  <a:srgbClr val="FF0000"/>
                </a:solidFill>
              </a:rPr>
              <a:t>cparser.exe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/>
              <a:t>输入输出要求：在命令行里输入 </a:t>
            </a:r>
            <a:r>
              <a:rPr lang="en-US" altLang="zh-CN" sz="2400" b="1" dirty="0" err="1">
                <a:solidFill>
                  <a:srgbClr val="FF0000"/>
                </a:solidFill>
              </a:rPr>
              <a:t>cparser.exe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</a:rPr>
              <a:t>1.c</a:t>
            </a:r>
            <a:r>
              <a:rPr lang="en-US" altLang="zh-CN" sz="2400" b="1" dirty="0">
                <a:solidFill>
                  <a:srgbClr val="FF0000"/>
                </a:solidFill>
              </a:rPr>
              <a:t>- </a:t>
            </a:r>
            <a:r>
              <a:rPr lang="zh-CN" altLang="en-US" sz="2400" b="1" dirty="0"/>
              <a:t>回车即可在当前目录下生成</a:t>
            </a:r>
            <a:r>
              <a:rPr lang="en-US" altLang="zh-CN" sz="2400" b="1" dirty="0" err="1">
                <a:solidFill>
                  <a:srgbClr val="FF0000"/>
                </a:solidFill>
              </a:rPr>
              <a:t>1.txt</a:t>
            </a:r>
            <a:r>
              <a:rPr lang="zh-CN" altLang="en-US" sz="2400" b="1" dirty="0"/>
              <a:t>，保存对</a:t>
            </a:r>
            <a:r>
              <a:rPr lang="en-US" altLang="zh-CN" sz="2400" b="1" dirty="0">
                <a:solidFill>
                  <a:srgbClr val="FF0000"/>
                </a:solidFill>
              </a:rPr>
              <a:t>1. c-</a:t>
            </a:r>
            <a:r>
              <a:rPr lang="zh-CN" altLang="en-US" sz="2400" b="1" dirty="0"/>
              <a:t>的扫描结果。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出错打印行结尾添加自己的</a:t>
            </a:r>
            <a:r>
              <a:rPr lang="zh-CN" altLang="en-US" sz="2400" b="1" dirty="0">
                <a:solidFill>
                  <a:srgbClr val="FF0000"/>
                </a:solidFill>
              </a:rPr>
              <a:t>学号姓名</a:t>
            </a:r>
            <a:r>
              <a:rPr lang="zh-CN" altLang="en-US" sz="2400" b="1" dirty="0"/>
              <a:t>。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2633440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C-</a:t>
            </a:r>
            <a:r>
              <a:rPr lang="zh-CN" altLang="en-US" b="1" dirty="0"/>
              <a:t>语言语法说明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775520" y="1429402"/>
            <a:ext cx="8640960" cy="468052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1. program -&gt;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declaration_list</a:t>
            </a:r>
            <a:endParaRPr lang="zh-CN" altLang="zh-CN" sz="20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2.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declaration_list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declaration_list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declaration  |  declaration</a:t>
            </a:r>
            <a:endParaRPr lang="zh-CN" altLang="zh-CN" sz="20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3. declaration -&gt;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var_declaration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fun_declaration</a:t>
            </a:r>
            <a:endParaRPr lang="zh-CN" altLang="zh-CN" sz="20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程序由声明的列表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或序列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组成，声明可以是函数或变量声明，顺序是任意的。至少必须有一个声明。所有的变量和函数在使用前必须声明。程序中最后的声明必须是一个函数声明，名字为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main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zh-CN" sz="20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4.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var_declaration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type_specifier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ID; |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type_specifier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ID [ NUM ]; </a:t>
            </a:r>
            <a:endParaRPr lang="zh-CN" altLang="zh-CN" sz="20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5.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type_specifier</a:t>
            </a:r>
            <a:r>
              <a:rPr lang="en-US" altLang="zh-CN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INT  |  VOID</a:t>
            </a:r>
            <a:endParaRPr lang="zh-CN" altLang="zh-CN" sz="20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变量声明或者声明了简单的整数类型变量，或者是基类型为整数的数组变量，索引范围从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到</a:t>
            </a: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NUM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-1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。注意，在变量声明中只能使用类型指示符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int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用于函数声明。也要注意，每个声明只能声明一个变量。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88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C-</a:t>
            </a:r>
            <a:r>
              <a:rPr lang="zh-CN" altLang="en-US" b="1" dirty="0"/>
              <a:t>语言语法说明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775520" y="1484784"/>
            <a:ext cx="8640960" cy="4968552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fun_declaration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type_specifier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ID ( params )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compound_stmt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7. params -&gt;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param_list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VOID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param_list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param_list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, param  |  param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9. param -&gt;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type_specifier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ID  | 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type_specifier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ID [ ]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函数的参数可以是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void (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即没有参数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，或者一列参数。参数后面跟着方括号是数组参数，其大小是可变的。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compound_stmt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{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local_declarations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statement_list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}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复合语句由用花括号围起来的一组声明和语句组成。复合语句通过用给定的顺序执行语句序列来执行。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11.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local_declarations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local_declarations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var_declaration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| empty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statement_list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statement_list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statement  |  empty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注意声明和语句列表都可以是空的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非终结符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empty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表示空字符串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69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C-</a:t>
            </a:r>
            <a:r>
              <a:rPr lang="zh-CN" altLang="en-US" b="1" dirty="0"/>
              <a:t>语言语法说明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775520" y="1484784"/>
            <a:ext cx="8640960" cy="468052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13. statement -&gt;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expression_stmt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|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compound_stmt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  | 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selection_stmt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iteration_stmt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return_stmt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14.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expression_stmt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expression ;  |  ;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表达式语句有一个可选的且后面跟着分号的表达式。这个语句用于赋值和函数调用。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15.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selection_stmt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if ( expression ) statement  |  if ( expression ) statement else statement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这个规则导致了典型的悬挂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else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二义性，可以用最近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匹配解决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iteration_stmt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while ( expression ) statement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17.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return_stmt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return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return  expression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返回语句可以返回一个值也可无值返回。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67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C-</a:t>
            </a:r>
            <a:r>
              <a:rPr lang="zh-CN" altLang="en-US" b="1" dirty="0"/>
              <a:t>语言语法说明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775520" y="1484784"/>
            <a:ext cx="8640960" cy="5184576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18. expression -&gt;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expression  | 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simple_expression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19.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ID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ID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expression ]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20.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simple_expression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additive_expression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relop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          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additive_expression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additive_expression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21.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relop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&lt;=  |  &lt;  |  &gt;  |  &gt;=  |  ==  |  ~=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22.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additive_expression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additive_expression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addop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term  |  term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23.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addop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+  |  -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24. term -&gt; term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mulop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factor  |  factor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25.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mulop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*  |  /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26. factor -&gt; ( expression )  |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|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call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NUM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27.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call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ID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args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)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28.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args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arg_list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|  empty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29.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arg_list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-&gt;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arg_list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, expression  |  expression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DA234D7-2E80-4C78-B23C-0B03FE88229C}"/>
              </a:ext>
            </a:extLst>
          </p:cNvPr>
          <p:cNvSpPr txBox="1">
            <a:spLocks/>
          </p:cNvSpPr>
          <p:nvPr/>
        </p:nvSpPr>
        <p:spPr bwMode="auto">
          <a:xfrm>
            <a:off x="8256240" y="4221088"/>
            <a:ext cx="2016224" cy="208823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b="1" ker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文法中的</a:t>
            </a:r>
            <a:r>
              <a:rPr lang="zh-CN" altLang="en-US" sz="2000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左递归和左因子</a:t>
            </a:r>
            <a:r>
              <a:rPr lang="zh-CN" altLang="en-US" sz="2000" b="1" ker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必须处理后才能使用递归下降构造分析程序。</a:t>
            </a:r>
            <a:endParaRPr lang="zh-CN" altLang="en-US" sz="2000" b="1" kern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79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C-</a:t>
            </a:r>
            <a:r>
              <a:rPr lang="zh-CN" altLang="en-US" b="1" dirty="0"/>
              <a:t>语言语法说明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775520" y="1484784"/>
            <a:ext cx="8640960" cy="5184576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前面的文法没有说明输入输出语句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我们假设有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两个在全局环境中预定义的函数，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默认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它们已进行了声明：</a:t>
            </a:r>
            <a:endParaRPr lang="zh-CN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int input(void) {...}</a:t>
            </a:r>
            <a:endParaRPr lang="zh-CN" altLang="zh-CN" sz="24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void output(int x) {...}</a:t>
            </a:r>
            <a:endParaRPr lang="zh-CN" altLang="zh-CN" sz="24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input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函数没有参数，从标准输入设备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通常是键盘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返回一个整数值。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output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函数接受一个整型参数，其值和一个换行符一起打印到标准输出设备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通常是屏幕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11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A1DF874-5C12-4D61-95F8-F4677C202C80}"/>
              </a:ext>
            </a:extLst>
          </p:cNvPr>
          <p:cNvSpPr txBox="1"/>
          <p:nvPr/>
        </p:nvSpPr>
        <p:spPr>
          <a:xfrm>
            <a:off x="1631504" y="476673"/>
            <a:ext cx="3744416" cy="5632311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/>
              <a:t>/* A program to perform Euclid's</a:t>
            </a:r>
          </a:p>
          <a:p>
            <a:r>
              <a:rPr lang="zh-CN" altLang="en-US" b="1" dirty="0"/>
              <a:t>Algorithm to compute gcd. */</a:t>
            </a:r>
          </a:p>
          <a:p>
            <a:endParaRPr lang="zh-CN" altLang="en-US" b="1" dirty="0"/>
          </a:p>
          <a:p>
            <a:r>
              <a:rPr lang="zh-CN" altLang="en-US" b="1" dirty="0"/>
              <a:t>int gcd (int u, int v)</a:t>
            </a:r>
          </a:p>
          <a:p>
            <a:r>
              <a:rPr lang="zh-CN" altLang="en-US" b="1" dirty="0"/>
              <a:t>{</a:t>
            </a:r>
          </a:p>
          <a:p>
            <a:r>
              <a:rPr lang="zh-CN" altLang="en-US" b="1" dirty="0"/>
              <a:t>     if (v == 0)</a:t>
            </a:r>
          </a:p>
          <a:p>
            <a:r>
              <a:rPr lang="zh-CN" altLang="en-US" b="1" dirty="0"/>
              <a:t>         return u ;</a:t>
            </a:r>
          </a:p>
          <a:p>
            <a:r>
              <a:rPr lang="zh-CN" altLang="en-US" b="1" dirty="0"/>
              <a:t>     else</a:t>
            </a:r>
          </a:p>
          <a:p>
            <a:r>
              <a:rPr lang="zh-CN" altLang="en-US" b="1" dirty="0"/>
              <a:t>        return gcd(v,u-u/v*v);</a:t>
            </a:r>
          </a:p>
          <a:p>
            <a:r>
              <a:rPr lang="zh-CN" altLang="en-US" b="1" dirty="0"/>
              <a:t>    /* u-u/v*v == u mod v */</a:t>
            </a:r>
          </a:p>
          <a:p>
            <a:r>
              <a:rPr lang="zh-CN" altLang="en-US" b="1" dirty="0"/>
              <a:t>}</a:t>
            </a:r>
          </a:p>
          <a:p>
            <a:endParaRPr lang="zh-CN" altLang="en-US" b="1" dirty="0"/>
          </a:p>
          <a:p>
            <a:r>
              <a:rPr lang="zh-CN" altLang="en-US" b="1" dirty="0"/>
              <a:t>void main(void)</a:t>
            </a:r>
          </a:p>
          <a:p>
            <a:r>
              <a:rPr lang="zh-CN" altLang="en-US" b="1" dirty="0"/>
              <a:t>{</a:t>
            </a:r>
          </a:p>
          <a:p>
            <a:r>
              <a:rPr lang="zh-CN" altLang="en-US" b="1" dirty="0"/>
              <a:t>     int x; int y;</a:t>
            </a:r>
          </a:p>
          <a:p>
            <a:r>
              <a:rPr lang="zh-CN" altLang="en-US" b="1" dirty="0"/>
              <a:t>     x = input();</a:t>
            </a:r>
          </a:p>
          <a:p>
            <a:r>
              <a:rPr lang="zh-CN" altLang="en-US" b="1" dirty="0"/>
              <a:t>     y = input();</a:t>
            </a:r>
          </a:p>
          <a:p>
            <a:r>
              <a:rPr lang="zh-CN" altLang="en-US" b="1" dirty="0"/>
              <a:t>     output(gcd(x,y));</a:t>
            </a:r>
          </a:p>
          <a:p>
            <a:r>
              <a:rPr lang="zh-CN" altLang="en-US" b="1" dirty="0"/>
              <a:t>}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4B9B97-4778-4D9B-A7C8-83419FB82EFD}"/>
              </a:ext>
            </a:extLst>
          </p:cNvPr>
          <p:cNvSpPr txBox="1"/>
          <p:nvPr/>
        </p:nvSpPr>
        <p:spPr>
          <a:xfrm>
            <a:off x="5519936" y="116632"/>
            <a:ext cx="2376264" cy="6624736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dirty="0"/>
              <a:t>Syntax tree: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FuncK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IntK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IdK: gcd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ParamsK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ParamK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IntK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IdK: u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ParamK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IntK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IdK: v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CompK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If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Op: ==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  IdK: v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  ConstK: 0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Return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  IdK: u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Return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  CallK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    IdK: gcd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    ArgsK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      IdK: v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      Op: -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        IdK: u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        Op: *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          Op: /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            IdK: u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            IdK: v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              IdK: v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BA1403-035F-42CF-A3AC-2E54673FF63D}"/>
              </a:ext>
            </a:extLst>
          </p:cNvPr>
          <p:cNvSpPr txBox="1"/>
          <p:nvPr/>
        </p:nvSpPr>
        <p:spPr>
          <a:xfrm>
            <a:off x="7968208" y="116632"/>
            <a:ext cx="2555776" cy="6624736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600" dirty="0"/>
              <a:t> </a:t>
            </a:r>
            <a:r>
              <a:rPr lang="en-US" altLang="zh-CN" sz="1600" dirty="0" err="1"/>
              <a:t>FuncK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</a:t>
            </a:r>
            <a:r>
              <a:rPr lang="en-US" altLang="zh-CN" sz="1600" dirty="0" err="1"/>
              <a:t>VoidK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</a:t>
            </a:r>
            <a:r>
              <a:rPr lang="en-US" altLang="zh-CN" sz="1600" dirty="0" err="1"/>
              <a:t>IdK</a:t>
            </a:r>
            <a:r>
              <a:rPr lang="en-US" altLang="zh-CN" sz="1600" dirty="0"/>
              <a:t>: main</a:t>
            </a:r>
          </a:p>
          <a:p>
            <a:pPr>
              <a:lnSpc>
                <a:spcPct val="90000"/>
              </a:lnSpc>
            </a:pPr>
            <a:r>
              <a:rPr lang="en-US" altLang="zh-CN" sz="1600" dirty="0"/>
              <a:t>    </a:t>
            </a:r>
            <a:r>
              <a:rPr lang="en-US" altLang="zh-CN" sz="1600" dirty="0" err="1"/>
              <a:t>ParamsK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VoidK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</a:t>
            </a:r>
            <a:r>
              <a:rPr lang="en-US" altLang="zh-CN" sz="1600" dirty="0" err="1"/>
              <a:t>CompK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Var_DeclK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IntK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IdK</a:t>
            </a:r>
            <a:r>
              <a:rPr lang="en-US" altLang="zh-CN" sz="1600" dirty="0"/>
              <a:t>: x</a:t>
            </a:r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Var_DeclK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IntK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IdK</a:t>
            </a:r>
            <a:r>
              <a:rPr lang="en-US" altLang="zh-CN" sz="1600" dirty="0"/>
              <a:t>: y</a:t>
            </a:r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Assign</a:t>
            </a:r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IdK</a:t>
            </a:r>
            <a:r>
              <a:rPr lang="en-US" altLang="zh-CN" sz="1600" dirty="0"/>
              <a:t>: x</a:t>
            </a:r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CallK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  </a:t>
            </a:r>
            <a:r>
              <a:rPr lang="en-US" altLang="zh-CN" sz="1600" dirty="0" err="1"/>
              <a:t>IdK</a:t>
            </a:r>
            <a:r>
              <a:rPr lang="en-US" altLang="zh-CN" sz="1600" dirty="0"/>
              <a:t>: input</a:t>
            </a:r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Assign</a:t>
            </a:r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IdK</a:t>
            </a:r>
            <a:r>
              <a:rPr lang="en-US" altLang="zh-CN" sz="1600" dirty="0"/>
              <a:t>: y</a:t>
            </a:r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CallK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  </a:t>
            </a:r>
            <a:r>
              <a:rPr lang="en-US" altLang="zh-CN" sz="1600" dirty="0" err="1"/>
              <a:t>IdK</a:t>
            </a:r>
            <a:r>
              <a:rPr lang="en-US" altLang="zh-CN" sz="1600" dirty="0"/>
              <a:t>: input</a:t>
            </a:r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CallK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IdK</a:t>
            </a:r>
            <a:r>
              <a:rPr lang="en-US" altLang="zh-CN" sz="1600" dirty="0"/>
              <a:t>: output</a:t>
            </a:r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ArgsK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  </a:t>
            </a:r>
            <a:r>
              <a:rPr lang="en-US" altLang="zh-CN" sz="1600" dirty="0" err="1"/>
              <a:t>CallK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    </a:t>
            </a:r>
            <a:r>
              <a:rPr lang="en-US" altLang="zh-CN" sz="1600" dirty="0" err="1"/>
              <a:t>IdK</a:t>
            </a:r>
            <a:r>
              <a:rPr lang="en-US" altLang="zh-CN" sz="1600" dirty="0"/>
              <a:t>: </a:t>
            </a:r>
            <a:r>
              <a:rPr lang="en-US" altLang="zh-CN" sz="1600" dirty="0" err="1"/>
              <a:t>gcd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    </a:t>
            </a:r>
            <a:r>
              <a:rPr lang="en-US" altLang="zh-CN" sz="1600" dirty="0" err="1"/>
              <a:t>ArgsK</a:t>
            </a:r>
            <a:endParaRPr lang="en-US" altLang="zh-CN" sz="1600" dirty="0"/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      </a:t>
            </a:r>
            <a:r>
              <a:rPr lang="en-US" altLang="zh-CN" sz="1600" dirty="0" err="1"/>
              <a:t>IdK</a:t>
            </a:r>
            <a:r>
              <a:rPr lang="en-US" altLang="zh-CN" sz="1600" dirty="0"/>
              <a:t>: x</a:t>
            </a:r>
          </a:p>
          <a:p>
            <a:pPr>
              <a:lnSpc>
                <a:spcPct val="90000"/>
              </a:lnSpc>
            </a:pPr>
            <a:r>
              <a:rPr lang="en-US" altLang="zh-CN" sz="1600" dirty="0"/>
              <a:t>              </a:t>
            </a:r>
            <a:r>
              <a:rPr lang="en-US" altLang="zh-CN" sz="1600" dirty="0" err="1"/>
              <a:t>IdK</a:t>
            </a:r>
            <a:r>
              <a:rPr lang="en-US" altLang="zh-CN" sz="1600" dirty="0"/>
              <a:t>: y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2478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主题2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7745</TotalTime>
  <Words>1178</Words>
  <Application>Microsoft Office PowerPoint</Application>
  <PresentationFormat>宽屏</PresentationFormat>
  <Paragraphs>148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微软雅黑</vt:lpstr>
      <vt:lpstr>Arial</vt:lpstr>
      <vt:lpstr>Tahoma</vt:lpstr>
      <vt:lpstr>Times New Roman</vt:lpstr>
      <vt:lpstr>主题2</vt:lpstr>
      <vt:lpstr>编译原理课程设计</vt:lpstr>
      <vt:lpstr>PowerPoint 演示文稿</vt:lpstr>
      <vt:lpstr>手工构造c-语言的语法分析器</vt:lpstr>
      <vt:lpstr>报告内容要求</vt:lpstr>
      <vt:lpstr>提交程序要求</vt:lpstr>
      <vt:lpstr>C-语言语法说明</vt:lpstr>
      <vt:lpstr>C-语言语法说明</vt:lpstr>
      <vt:lpstr>C-语言语法说明</vt:lpstr>
      <vt:lpstr>C-语言语法说明</vt:lpstr>
      <vt:lpstr>C-语言语法说明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薇 潘</cp:lastModifiedBy>
  <cp:revision>196</cp:revision>
  <dcterms:created xsi:type="dcterms:W3CDTF">1601-01-01T00:00:00Z</dcterms:created>
  <dcterms:modified xsi:type="dcterms:W3CDTF">2026-05-21T04:16:28Z</dcterms:modified>
</cp:coreProperties>
</file>