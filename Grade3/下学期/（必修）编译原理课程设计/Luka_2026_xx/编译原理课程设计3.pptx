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76" r:id="rId1"/>
  </p:sldMasterIdLst>
  <p:notesMasterIdLst>
    <p:notesMasterId r:id="rId14"/>
  </p:notesMasterIdLst>
  <p:sldIdLst>
    <p:sldId id="257" r:id="rId2"/>
    <p:sldId id="258" r:id="rId3"/>
    <p:sldId id="259" r:id="rId4"/>
    <p:sldId id="261" r:id="rId5"/>
    <p:sldId id="277" r:id="rId6"/>
    <p:sldId id="271" r:id="rId7"/>
    <p:sldId id="274" r:id="rId8"/>
    <p:sldId id="276" r:id="rId9"/>
    <p:sldId id="278" r:id="rId10"/>
    <p:sldId id="275" r:id="rId11"/>
    <p:sldId id="272" r:id="rId12"/>
    <p:sldId id="279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FF"/>
    <a:srgbClr val="FFFF99"/>
    <a:srgbClr val="FFFFCC"/>
    <a:srgbClr val="CCFF99"/>
    <a:srgbClr val="CC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66" autoAdjust="0"/>
  </p:normalViewPr>
  <p:slideViewPr>
    <p:cSldViewPr>
      <p:cViewPr varScale="1">
        <p:scale>
          <a:sx n="80" d="100"/>
          <a:sy n="80" d="100"/>
        </p:scale>
        <p:origin x="864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94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E36EE7FD-D95C-453D-96BD-7F3A63A0298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45400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EE7FD-D95C-453D-96BD-7F3A63A02985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1538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64B214-DDA0-4009-8EB8-55F0D4006188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3141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BD429C-C85D-444C-8709-9515B2BFB96C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702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F888D-4931-48E4-8495-73CF59C91CC6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7159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1BD1B6-C95F-4B19-BEF6-0168FD4EA897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391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A5EE05-3095-4DDF-8329-E59BAC6A4FEA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600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051571-2577-4A80-B674-152C7D38E365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538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F887EB-56B6-495C-A97E-40D7B15055BD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121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1C29A0-CC01-4CE0-B922-62D06E686332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4982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3EBE1B-AEBF-4E92-A962-B9126A3D6B1D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769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B74711-2B6D-497F-9191-CC255F677AC8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648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D0FECF-A8F2-465B-A3DE-204F9FF6FEED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5893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fld id="{46B20972-1498-49DB-9F89-63567753771A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437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  <p:sldLayoutId id="2147483984" r:id="rId8"/>
    <p:sldLayoutId id="2147483985" r:id="rId9"/>
    <p:sldLayoutId id="2147483986" r:id="rId10"/>
    <p:sldLayoutId id="2147483987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55640" y="2780928"/>
            <a:ext cx="6438900" cy="1462088"/>
          </a:xfrm>
        </p:spPr>
        <p:txBody>
          <a:bodyPr/>
          <a:lstStyle/>
          <a:p>
            <a:pPr eaLnBrk="1" hangingPunct="1"/>
            <a:r>
              <a:rPr lang="zh-CN" altLang="en-US" b="1" dirty="0"/>
              <a:t>编译原理课程设计</a:t>
            </a:r>
            <a:endParaRPr lang="en-US" altLang="zh-CN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xfrm>
            <a:off x="1981200" y="2420888"/>
            <a:ext cx="8229600" cy="1944216"/>
          </a:xfrm>
        </p:spPr>
        <p:txBody>
          <a:bodyPr/>
          <a:lstStyle/>
          <a:p>
            <a:pPr algn="ctr"/>
            <a:endParaRPr lang="en-US" altLang="zh-CN" sz="4000" b="1" dirty="0"/>
          </a:p>
          <a:p>
            <a:pPr algn="ctr"/>
            <a:r>
              <a:rPr lang="zh-CN" altLang="en-US" sz="4000" b="1" dirty="0"/>
              <a:t>实验</a:t>
            </a:r>
            <a:r>
              <a:rPr lang="en-US" altLang="zh-CN" sz="4000" b="1" dirty="0"/>
              <a:t>2-1</a:t>
            </a:r>
            <a:r>
              <a:rPr lang="zh-CN" altLang="en-US" sz="4000" b="1" dirty="0"/>
              <a:t>  手工构造语法分析器</a:t>
            </a:r>
            <a:endParaRPr lang="en-US" altLang="zh-CN" sz="4000" b="1" dirty="0"/>
          </a:p>
          <a:p>
            <a:pPr marL="0" indent="0" algn="ctr">
              <a:buNone/>
            </a:pPr>
            <a:endParaRPr lang="en-US" altLang="zh-CN" sz="4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/>
              <a:t>手工构造</a:t>
            </a:r>
            <a:r>
              <a:rPr lang="en-US" altLang="zh-CN" sz="4000" b="1" dirty="0"/>
              <a:t>tiny</a:t>
            </a:r>
            <a:r>
              <a:rPr lang="zh-CN" altLang="en-US" sz="4000" b="1" dirty="0"/>
              <a:t>语言的语法分析器</a:t>
            </a:r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xfrm>
            <a:off x="3215680" y="2060849"/>
            <a:ext cx="6624736" cy="39604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熟悉</a:t>
            </a:r>
            <a:r>
              <a:rPr lang="en-US" altLang="zh-CN" sz="2400" b="1" dirty="0"/>
              <a:t>tiny</a:t>
            </a:r>
            <a:r>
              <a:rPr lang="zh-CN" altLang="en-US" sz="2400" b="1" dirty="0"/>
              <a:t>语言语法，选择实现方法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设计数据类型、数据结构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用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或</a:t>
            </a:r>
            <a:r>
              <a:rPr lang="en-US" altLang="zh-CN" sz="2400" b="1" dirty="0"/>
              <a:t>C++</a:t>
            </a:r>
            <a:r>
              <a:rPr lang="zh-CN" altLang="en-US" sz="2400" b="1" dirty="0"/>
              <a:t>实现</a:t>
            </a:r>
            <a:r>
              <a:rPr lang="en-US" altLang="zh-CN" sz="2400" b="1" dirty="0"/>
              <a:t>tiny</a:t>
            </a:r>
            <a:r>
              <a:rPr lang="zh-CN" altLang="en-US" sz="2400" b="1" dirty="0"/>
              <a:t>语言的语法分析器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调试、运行</a:t>
            </a:r>
            <a:endParaRPr lang="en-US" altLang="zh-CN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1268760"/>
            <a:ext cx="7632848" cy="51522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/>
              <a:t>tiny</a:t>
            </a:r>
            <a:r>
              <a:rPr lang="zh-CN" altLang="en-US" sz="4000" b="1" dirty="0"/>
              <a:t>语言语法说明</a:t>
            </a:r>
          </a:p>
        </p:txBody>
      </p:sp>
    </p:spTree>
    <p:extLst>
      <p:ext uri="{BB962C8B-B14F-4D97-AF65-F5344CB8AC3E}">
        <p14:creationId xmlns:p14="http://schemas.microsoft.com/office/powerpoint/2010/main" val="1926367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048BCB1C-6BD6-4EE7-82A4-091DA9920A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056526"/>
              </p:ext>
            </p:extLst>
          </p:nvPr>
        </p:nvGraphicFramePr>
        <p:xfrm>
          <a:off x="4327783" y="1916832"/>
          <a:ext cx="6172799" cy="4104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7125695" imgH="3467584" progId="Paint.Picture">
                  <p:embed/>
                </p:oleObj>
              </mc:Choice>
              <mc:Fallback>
                <p:oleObj name="位图图像" r:id="rId2" imgW="7125695" imgH="3467584" progId="Paint.Picture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1814F360-7C49-419C-99BE-D51D995AF3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7783" y="1916832"/>
                        <a:ext cx="6172799" cy="41044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D905EE10-9CF2-4206-BD5B-A129EBA6F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5520" y="1916833"/>
            <a:ext cx="2436440" cy="4215619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kern="0" dirty="0"/>
              <a:t>read x;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kern="0" dirty="0"/>
              <a:t>if 0&lt;x then</a:t>
            </a:r>
          </a:p>
          <a:p>
            <a:pPr marL="400050" lvl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kern="0" dirty="0"/>
              <a:t>   fact:=1;</a:t>
            </a:r>
          </a:p>
          <a:p>
            <a:pPr marL="400050" lvl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kern="0" dirty="0"/>
              <a:t>   repeat</a:t>
            </a:r>
          </a:p>
          <a:p>
            <a:pPr marL="800100" lvl="2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kern="0" dirty="0"/>
              <a:t> fact :=fact *x;</a:t>
            </a:r>
          </a:p>
          <a:p>
            <a:pPr marL="800100" lvl="2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kern="0" dirty="0"/>
              <a:t> x:=x-1;</a:t>
            </a:r>
          </a:p>
          <a:p>
            <a:pPr marL="400050" lvl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kern="0" dirty="0"/>
              <a:t>   until x=0;</a:t>
            </a:r>
          </a:p>
          <a:p>
            <a:pPr marL="400050" lvl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kern="0" dirty="0"/>
              <a:t>   write fact</a:t>
            </a:r>
          </a:p>
          <a:p>
            <a:pPr marL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kern="0" dirty="0"/>
              <a:t>end</a:t>
            </a:r>
            <a:endParaRPr lang="zh-CN" altLang="en-US" sz="2000" kern="0" dirty="0"/>
          </a:p>
        </p:txBody>
      </p:sp>
      <p:sp>
        <p:nvSpPr>
          <p:cNvPr id="7" name="标题 8">
            <a:extLst>
              <a:ext uri="{FF2B5EF4-FFF2-40B4-BE49-F238E27FC236}">
                <a16:creationId xmlns:a16="http://schemas.microsoft.com/office/drawing/2014/main" id="{C834367C-0D97-4246-9F3D-F27F68A2E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zh-CN" altLang="en-US" b="1" dirty="0"/>
              <a:t>程序和语法树示例</a:t>
            </a:r>
          </a:p>
        </p:txBody>
      </p:sp>
    </p:spTree>
    <p:extLst>
      <p:ext uri="{BB962C8B-B14F-4D97-AF65-F5344CB8AC3E}">
        <p14:creationId xmlns:p14="http://schemas.microsoft.com/office/powerpoint/2010/main" val="2919591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5410944" cy="1143000"/>
          </a:xfrm>
        </p:spPr>
        <p:txBody>
          <a:bodyPr/>
          <a:lstStyle/>
          <a:p>
            <a:r>
              <a:rPr lang="zh-CN" altLang="en-US" sz="4000" b="1" dirty="0"/>
              <a:t>输入输出样例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38A8E36-84A9-42AE-BC58-92560E565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47528" y="1595934"/>
            <a:ext cx="5040560" cy="4929411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/>
              <a:t>{ Sample program</a:t>
            </a:r>
          </a:p>
          <a:p>
            <a:pPr marL="0" indent="0">
              <a:buNone/>
            </a:pPr>
            <a:r>
              <a:rPr lang="en-US" altLang="zh-CN" sz="2000" b="1" dirty="0"/>
              <a:t>  in TINY language -</a:t>
            </a:r>
          </a:p>
          <a:p>
            <a:pPr marL="0" indent="0">
              <a:buNone/>
            </a:pPr>
            <a:r>
              <a:rPr lang="en-US" altLang="zh-CN" sz="2000" b="1" dirty="0"/>
              <a:t>  computes factorial</a:t>
            </a:r>
          </a:p>
          <a:p>
            <a:pPr marL="0" indent="0">
              <a:buNone/>
            </a:pPr>
            <a:r>
              <a:rPr lang="en-US" altLang="zh-CN" sz="2000" b="1" dirty="0"/>
              <a:t>}</a:t>
            </a:r>
          </a:p>
          <a:p>
            <a:pPr marL="0" indent="0">
              <a:buNone/>
            </a:pPr>
            <a:r>
              <a:rPr lang="en-US" altLang="zh-CN" sz="2000" b="1" dirty="0"/>
              <a:t>read x; { input an integer }</a:t>
            </a:r>
          </a:p>
          <a:p>
            <a:pPr marL="0" indent="0">
              <a:buNone/>
            </a:pPr>
            <a:r>
              <a:rPr lang="en-US" altLang="zh-CN" sz="2000" b="1" dirty="0"/>
              <a:t>if 0 &lt; x then { don't compute if x &lt;= 0 }</a:t>
            </a:r>
          </a:p>
          <a:p>
            <a:pPr marL="0" indent="0">
              <a:buNone/>
            </a:pPr>
            <a:r>
              <a:rPr lang="en-US" altLang="zh-CN" sz="2000" b="1" dirty="0"/>
              <a:t>	fact := 1;</a:t>
            </a:r>
          </a:p>
          <a:p>
            <a:pPr marL="0" indent="0">
              <a:buNone/>
            </a:pPr>
            <a:r>
              <a:rPr lang="en-US" altLang="zh-CN" sz="2000" b="1" dirty="0"/>
              <a:t>	repeat</a:t>
            </a:r>
          </a:p>
          <a:p>
            <a:pPr marL="0" indent="0">
              <a:buNone/>
            </a:pPr>
            <a:r>
              <a:rPr lang="en-US" altLang="zh-CN" sz="2000" b="1" dirty="0"/>
              <a:t>		fact := fact * x;</a:t>
            </a:r>
          </a:p>
          <a:p>
            <a:pPr marL="0" indent="0">
              <a:buNone/>
            </a:pPr>
            <a:r>
              <a:rPr lang="en-US" altLang="zh-CN" sz="2000" b="1" dirty="0"/>
              <a:t>		x := x - 1</a:t>
            </a:r>
          </a:p>
          <a:p>
            <a:pPr marL="0" indent="0">
              <a:buNone/>
            </a:pPr>
            <a:r>
              <a:rPr lang="en-US" altLang="zh-CN" sz="2000" b="1" dirty="0"/>
              <a:t>	until x = 0;</a:t>
            </a:r>
          </a:p>
          <a:p>
            <a:pPr marL="0" indent="0">
              <a:buNone/>
            </a:pPr>
            <a:r>
              <a:rPr lang="en-US" altLang="zh-CN" sz="2000" b="1" dirty="0"/>
              <a:t>	write fact { output factorial of x }</a:t>
            </a:r>
          </a:p>
          <a:p>
            <a:pPr marL="0" indent="0">
              <a:buNone/>
            </a:pPr>
            <a:r>
              <a:rPr lang="en-US" altLang="zh-CN" sz="2000" b="1" dirty="0"/>
              <a:t>end</a:t>
            </a:r>
            <a:endParaRPr lang="zh-CN" altLang="en-US" sz="2000" b="1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00784ACC-3041-4C5B-B057-D0CC37A79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21760" y="116632"/>
            <a:ext cx="3322712" cy="6408712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TINY PARSING: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Syntax tree: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Read: 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If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Op: &lt;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  Const: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  Id: 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Assign to: fact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  Const: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Repeat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  Assign to: fact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    Op: 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      Id: fact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      Id: 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  Assign to: 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    Op: 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      Id: 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      Const: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  Op: =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    Id: 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    Const: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Write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dirty="0"/>
              <a:t>      Id: fact</a:t>
            </a:r>
          </a:p>
          <a:p>
            <a:pPr marL="0" indent="0">
              <a:spcBef>
                <a:spcPts val="0"/>
              </a:spcBef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524785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B1D59896-5499-490A-9CDD-57E038BC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分析函数入口</a:t>
            </a:r>
          </a:p>
        </p:txBody>
      </p:sp>
      <p:pic>
        <p:nvPicPr>
          <p:cNvPr id="12" name="内容占位符 7">
            <a:extLst>
              <a:ext uri="{FF2B5EF4-FFF2-40B4-BE49-F238E27FC236}">
                <a16:creationId xmlns:a16="http://schemas.microsoft.com/office/drawing/2014/main" id="{D13DB25A-3D61-4AAA-A6AB-708B979D4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51585" y="2204864"/>
            <a:ext cx="7964999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2622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B1D59896-5499-490A-9CDD-57E038BC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打印函数</a:t>
            </a:r>
            <a:r>
              <a:rPr lang="en-US" altLang="zh-CN" b="1" dirty="0" err="1"/>
              <a:t>printTree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8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3FEC71-63B8-43C2-90B6-599E5D7682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2" t="7177" r="-11" b="3349"/>
          <a:stretch/>
        </p:blipFill>
        <p:spPr>
          <a:xfrm>
            <a:off x="1559496" y="1417638"/>
            <a:ext cx="9088754" cy="525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80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B1D59896-5499-490A-9CDD-57E038BC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主要数据结构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71AB74-4A26-4F8A-8CAA-B69C673DA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4" y="1254859"/>
            <a:ext cx="7668852" cy="554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8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B1D59896-5499-490A-9CDD-57E038BC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主要函数列表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3D2227-64F0-4B29-88BA-FF6B7D7C5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617" y="2008112"/>
            <a:ext cx="7412227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8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7405739-2D3C-42FA-9124-8C8A86B90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53956"/>
            <a:ext cx="6840760" cy="666821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5FB7A00-BC16-41A6-97EF-06D7C8CDE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752" y="5403833"/>
            <a:ext cx="6586220" cy="1318333"/>
          </a:xfrm>
          <a:prstGeom prst="rect">
            <a:avLst/>
          </a:prstGeom>
          <a:ln w="28575">
            <a:solidFill>
              <a:srgbClr val="9999FF"/>
            </a:solidFill>
          </a:ln>
        </p:spPr>
      </p:pic>
    </p:spTree>
    <p:extLst>
      <p:ext uri="{BB962C8B-B14F-4D97-AF65-F5344CB8AC3E}">
        <p14:creationId xmlns:p14="http://schemas.microsoft.com/office/powerpoint/2010/main" val="95688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/>
              <a:t>思考题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51584" y="1772817"/>
            <a:ext cx="7992888" cy="4353347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400" b="1" dirty="0"/>
              <a:t>如果增加</a:t>
            </a:r>
            <a:r>
              <a:rPr lang="en-US" altLang="zh-CN" sz="2400" b="1" dirty="0"/>
              <a:t>for</a:t>
            </a:r>
            <a:r>
              <a:rPr lang="zh-CN" altLang="en-US" sz="2400" b="1" dirty="0"/>
              <a:t>语句，数据结构可以沿用</a:t>
            </a:r>
            <a:r>
              <a:rPr lang="en-US" altLang="zh-CN" sz="2400" b="1" dirty="0"/>
              <a:t>repeat</a:t>
            </a:r>
            <a:r>
              <a:rPr lang="zh-CN" altLang="en-US" sz="2400" b="1" dirty="0"/>
              <a:t>语句吗？</a:t>
            </a:r>
            <a:endParaRPr lang="en-US" altLang="zh-CN" sz="2400" b="1" dirty="0"/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400" b="1" dirty="0" err="1"/>
              <a:t>stmt_sequence</a:t>
            </a:r>
            <a:r>
              <a:rPr lang="zh-CN" altLang="en-US" sz="2400" b="1" dirty="0"/>
              <a:t>里面的</a:t>
            </a:r>
            <a:r>
              <a:rPr lang="en-US" altLang="zh-CN" sz="2400" b="1" dirty="0"/>
              <a:t>while</a:t>
            </a:r>
            <a:r>
              <a:rPr lang="zh-CN" altLang="en-US" sz="2400" b="1" dirty="0"/>
              <a:t>条件是为什么？</a:t>
            </a:r>
            <a:endParaRPr lang="en-US" altLang="zh-CN" sz="2400" b="1" dirty="0"/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400" b="1" dirty="0" err="1"/>
              <a:t>Treenode</a:t>
            </a:r>
            <a:r>
              <a:rPr lang="zh-CN" altLang="en-US" sz="2400" b="1" dirty="0"/>
              <a:t>结构里面</a:t>
            </a:r>
            <a:r>
              <a:rPr lang="en-US" altLang="zh-CN" sz="2400" b="1" dirty="0"/>
              <a:t>sibling</a:t>
            </a:r>
            <a:r>
              <a:rPr lang="zh-CN" altLang="en-US" sz="2400" b="1" dirty="0"/>
              <a:t>是用来干什么的？</a:t>
            </a:r>
            <a:endParaRPr lang="en-US" altLang="zh-CN" sz="2400" b="1" dirty="0"/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400" b="1" dirty="0"/>
              <a:t>分析程序是按什么顺序建立的节点？</a:t>
            </a:r>
            <a:endParaRPr lang="en-US" altLang="zh-CN" sz="2400" b="1" dirty="0"/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400" b="1" dirty="0"/>
              <a:t>term</a:t>
            </a:r>
            <a:r>
              <a:rPr lang="zh-CN" altLang="en-US" sz="2400" b="1" dirty="0"/>
              <a:t>里面怎么没有报错？</a:t>
            </a:r>
            <a:endParaRPr lang="en-US" altLang="zh-CN" sz="2400" b="1" dirty="0"/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400" b="1" dirty="0"/>
              <a:t>分号是怎么处理的？</a:t>
            </a:r>
            <a:endParaRPr lang="en-US" altLang="zh-CN" sz="2400" b="1" dirty="0"/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400" b="1" dirty="0"/>
              <a:t>如果增加</a:t>
            </a:r>
            <a:r>
              <a:rPr lang="en-US" altLang="zh-CN" sz="2400" b="1" dirty="0"/>
              <a:t>do while</a:t>
            </a:r>
            <a:r>
              <a:rPr lang="zh-CN" altLang="en-US" sz="2400" b="1" dirty="0"/>
              <a:t>语句要修改哪些地方？</a:t>
            </a:r>
            <a:endParaRPr lang="en-US" altLang="zh-CN" sz="2400" b="1" dirty="0"/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400" b="1" dirty="0"/>
              <a:t>statement</a:t>
            </a:r>
            <a:r>
              <a:rPr lang="zh-CN" altLang="en-US" sz="2400" b="1" dirty="0"/>
              <a:t>里面报错为什么还要调用</a:t>
            </a:r>
            <a:r>
              <a:rPr lang="en-US" altLang="zh-CN" sz="2400" b="1" dirty="0" err="1"/>
              <a:t>getToken</a:t>
            </a:r>
            <a:r>
              <a:rPr lang="zh-CN" altLang="en-US" sz="2400" b="1" dirty="0"/>
              <a:t>函数？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378577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主题2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7517</TotalTime>
  <Words>337</Words>
  <Application>Microsoft Office PowerPoint</Application>
  <PresentationFormat>宽屏</PresentationFormat>
  <Paragraphs>71</Paragraphs>
  <Slides>12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Arial</vt:lpstr>
      <vt:lpstr>Tahoma</vt:lpstr>
      <vt:lpstr>Times New Roman</vt:lpstr>
      <vt:lpstr>主题2</vt:lpstr>
      <vt:lpstr>位图图像</vt:lpstr>
      <vt:lpstr>编译原理课程设计</vt:lpstr>
      <vt:lpstr>PowerPoint 演示文稿</vt:lpstr>
      <vt:lpstr>手工构造tiny语言的语法分析器</vt:lpstr>
      <vt:lpstr>tiny语言语法说明</vt:lpstr>
      <vt:lpstr>程序和语法树示例</vt:lpstr>
      <vt:lpstr>输入输出样例</vt:lpstr>
      <vt:lpstr>分析函数入口</vt:lpstr>
      <vt:lpstr>打印函数printTree</vt:lpstr>
      <vt:lpstr>主要数据结构</vt:lpstr>
      <vt:lpstr>主要函数列表</vt:lpstr>
      <vt:lpstr>PowerPoint 演示文稿</vt:lpstr>
      <vt:lpstr>思考题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薇 潘</cp:lastModifiedBy>
  <cp:revision>190</cp:revision>
  <dcterms:created xsi:type="dcterms:W3CDTF">1601-01-01T00:00:00Z</dcterms:created>
  <dcterms:modified xsi:type="dcterms:W3CDTF">2026-05-21T02:15:56Z</dcterms:modified>
</cp:coreProperties>
</file>