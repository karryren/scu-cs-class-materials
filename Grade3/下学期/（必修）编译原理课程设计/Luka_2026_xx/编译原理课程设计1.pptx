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76" r:id="rId1"/>
  </p:sldMasterIdLst>
  <p:notesMasterIdLst>
    <p:notesMasterId r:id="rId25"/>
  </p:notesMasterIdLst>
  <p:sldIdLst>
    <p:sldId id="257" r:id="rId2"/>
    <p:sldId id="258" r:id="rId3"/>
    <p:sldId id="259" r:id="rId4"/>
    <p:sldId id="264" r:id="rId5"/>
    <p:sldId id="261" r:id="rId6"/>
    <p:sldId id="262" r:id="rId7"/>
    <p:sldId id="265" r:id="rId8"/>
    <p:sldId id="263" r:id="rId9"/>
    <p:sldId id="525" r:id="rId10"/>
    <p:sldId id="526" r:id="rId11"/>
    <p:sldId id="524" r:id="rId12"/>
    <p:sldId id="447" r:id="rId13"/>
    <p:sldId id="266" r:id="rId14"/>
    <p:sldId id="277" r:id="rId15"/>
    <p:sldId id="278" r:id="rId16"/>
    <p:sldId id="279" r:id="rId17"/>
    <p:sldId id="267" r:id="rId18"/>
    <p:sldId id="268" r:id="rId19"/>
    <p:sldId id="269" r:id="rId20"/>
    <p:sldId id="270" r:id="rId21"/>
    <p:sldId id="271" r:id="rId22"/>
    <p:sldId id="280" r:id="rId23"/>
    <p:sldId id="276" r:id="rId24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  <a:srgbClr val="FFFF99"/>
    <a:srgbClr val="FFFFCC"/>
    <a:srgbClr val="CCFF99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066" autoAdjust="0"/>
  </p:normalViewPr>
  <p:slideViewPr>
    <p:cSldViewPr>
      <p:cViewPr varScale="1">
        <p:scale>
          <a:sx n="58" d="100"/>
          <a:sy n="58" d="100"/>
        </p:scale>
        <p:origin x="102" y="5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945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945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45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E36EE7FD-D95C-453D-96BD-7F3A63A0298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454004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64B214-DDA0-4009-8EB8-55F0D4006188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3141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BD429C-C85D-444C-8709-9515B2BFB96C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7020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9F888D-4931-48E4-8495-73CF59C91CC6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7159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1BD1B6-C95F-4B19-BEF6-0168FD4EA897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3910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A5EE05-3095-4DDF-8329-E59BAC6A4FEA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7600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051571-2577-4A80-B674-152C7D38E365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5380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F887EB-56B6-495C-A97E-40D7B15055BD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121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1C29A0-CC01-4CE0-B922-62D06E686332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04982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3EBE1B-AEBF-4E92-A962-B9126A3D6B1D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769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B74711-2B6D-497F-9191-CC255F677AC8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6489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D0FECF-A8F2-465B-A3DE-204F9FF6FEED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5893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CN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CN"/>
              <a:t>Haga clic para modificar el estilo de texto del patrón</a:t>
            </a:r>
          </a:p>
          <a:p>
            <a:pPr lvl="1"/>
            <a:r>
              <a:rPr lang="es-ES" altLang="zh-CN"/>
              <a:t>Segundo nivel</a:t>
            </a:r>
          </a:p>
          <a:p>
            <a:pPr lvl="2"/>
            <a:r>
              <a:rPr lang="es-ES" altLang="zh-CN"/>
              <a:t>Tercer nivel</a:t>
            </a:r>
          </a:p>
          <a:p>
            <a:pPr lvl="3"/>
            <a:r>
              <a:rPr lang="es-ES" altLang="zh-CN"/>
              <a:t>Cuarto nivel</a:t>
            </a:r>
          </a:p>
          <a:p>
            <a:pPr lvl="4"/>
            <a:r>
              <a:rPr lang="es-ES" altLang="zh-CN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宋体" pitchFamily="2" charset="-122"/>
              </a:defRPr>
            </a:lvl1pPr>
          </a:lstStyle>
          <a:p>
            <a:fld id="{46B20972-1498-49DB-9F89-63567753771A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4379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7" r:id="rId1"/>
    <p:sldLayoutId id="2147483978" r:id="rId2"/>
    <p:sldLayoutId id="2147483979" r:id="rId3"/>
    <p:sldLayoutId id="2147483980" r:id="rId4"/>
    <p:sldLayoutId id="2147483981" r:id="rId5"/>
    <p:sldLayoutId id="2147483982" r:id="rId6"/>
    <p:sldLayoutId id="2147483983" r:id="rId7"/>
    <p:sldLayoutId id="2147483984" r:id="rId8"/>
    <p:sldLayoutId id="2147483985" r:id="rId9"/>
    <p:sldLayoutId id="2147483986" r:id="rId10"/>
    <p:sldLayoutId id="2147483987" r:id="rId11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2.tmp"/><Relationship Id="rId5" Type="http://schemas.openxmlformats.org/officeDocument/2006/relationships/tags" Target="../tags/tag5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image" Target="../media/image2.tmp"/><Relationship Id="rId5" Type="http://schemas.openxmlformats.org/officeDocument/2006/relationships/tags" Target="../tags/tag14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13.xml"/><Relationship Id="rId9" Type="http://schemas.openxmlformats.org/officeDocument/2006/relationships/tags" Target="../tags/tag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image" Target="../media/image2.tmp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23.xml"/><Relationship Id="rId10" Type="http://schemas.openxmlformats.org/officeDocument/2006/relationships/tags" Target="../tags/tag28.xml"/><Relationship Id="rId4" Type="http://schemas.openxmlformats.org/officeDocument/2006/relationships/tags" Target="../tags/tag22.xml"/><Relationship Id="rId9" Type="http://schemas.openxmlformats.org/officeDocument/2006/relationships/tags" Target="../tags/tag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876550" y="2060848"/>
            <a:ext cx="6438900" cy="1462088"/>
          </a:xfrm>
        </p:spPr>
        <p:txBody>
          <a:bodyPr/>
          <a:lstStyle/>
          <a:p>
            <a:pPr eaLnBrk="1" hangingPunct="1"/>
            <a:r>
              <a:rPr lang="zh-CN" altLang="en-US" b="1" dirty="0"/>
              <a:t>编译原理课程设计</a:t>
            </a:r>
            <a:endParaRPr lang="en-US" altLang="zh-CN" b="1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DC7F16-6380-F922-3438-E6C01ADEF679}"/>
              </a:ext>
            </a:extLst>
          </p:cNvPr>
          <p:cNvSpPr txBox="1"/>
          <p:nvPr/>
        </p:nvSpPr>
        <p:spPr>
          <a:xfrm>
            <a:off x="4475820" y="3749177"/>
            <a:ext cx="32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QQ</a:t>
            </a:r>
            <a:r>
              <a:rPr lang="zh-CN" altLang="en-US" sz="2400" b="1" dirty="0"/>
              <a:t>群：</a:t>
            </a:r>
            <a:r>
              <a:rPr lang="en-US" altLang="zh-CN" sz="2400" b="1" dirty="0"/>
              <a:t>703538416</a:t>
            </a:r>
            <a:endParaRPr lang="zh-CN" altLang="en-US" sz="24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内容占位符 2"/>
          <p:cNvSpPr>
            <a:spLocks noGrp="1"/>
          </p:cNvSpPr>
          <p:nvPr>
            <p:ph idx="1"/>
          </p:nvPr>
        </p:nvSpPr>
        <p:spPr>
          <a:xfrm>
            <a:off x="1981200" y="2420888"/>
            <a:ext cx="8229600" cy="1944216"/>
          </a:xfrm>
        </p:spPr>
        <p:txBody>
          <a:bodyPr/>
          <a:lstStyle/>
          <a:p>
            <a:pPr algn="ctr"/>
            <a:endParaRPr lang="en-US" altLang="zh-CN" sz="4000" b="1" dirty="0"/>
          </a:p>
          <a:p>
            <a:pPr algn="ctr"/>
            <a:r>
              <a:rPr lang="zh-CN" altLang="en-US" sz="4000" b="1" dirty="0"/>
              <a:t>实验</a:t>
            </a:r>
            <a:r>
              <a:rPr lang="en-US" altLang="zh-CN" sz="4000" b="1"/>
              <a:t>1-1</a:t>
            </a:r>
            <a:r>
              <a:rPr lang="zh-CN" altLang="en-US" sz="4000" b="1"/>
              <a:t>  </a:t>
            </a:r>
            <a:r>
              <a:rPr lang="zh-CN" altLang="en-US" sz="4000" b="1" dirty="0"/>
              <a:t>手工构造词法分析器</a:t>
            </a:r>
            <a:endParaRPr lang="en-US" altLang="zh-CN" sz="4000" b="1" dirty="0"/>
          </a:p>
          <a:p>
            <a:pPr marL="0" indent="0" algn="ctr">
              <a:buNone/>
            </a:pPr>
            <a:endParaRPr lang="en-US" altLang="zh-CN" sz="4000" b="1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2D404B2-95B4-4D80-9E6D-95E1117BD437}" type="slidenum">
              <a:rPr lang="zh-CN" altLang="en-US" b="1"/>
              <a:pPr eaLnBrk="1" hangingPunct="1"/>
              <a:t>2</a:t>
            </a:fld>
            <a:endParaRPr lang="en-US" altLang="zh-CN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b="1" dirty="0"/>
              <a:t>手工构造</a:t>
            </a:r>
            <a:r>
              <a:rPr lang="en-US" altLang="zh-CN" sz="4000" b="1" dirty="0"/>
              <a:t>Tiny</a:t>
            </a:r>
            <a:r>
              <a:rPr lang="zh-CN" altLang="en-US" sz="4000" b="1" dirty="0"/>
              <a:t>语言的词法分析器</a:t>
            </a:r>
          </a:p>
        </p:txBody>
      </p:sp>
      <p:sp>
        <p:nvSpPr>
          <p:cNvPr id="5123" name="内容占位符 2"/>
          <p:cNvSpPr>
            <a:spLocks noGrp="1"/>
          </p:cNvSpPr>
          <p:nvPr>
            <p:ph idx="1"/>
          </p:nvPr>
        </p:nvSpPr>
        <p:spPr>
          <a:xfrm>
            <a:off x="2531604" y="1916832"/>
            <a:ext cx="7128792" cy="381642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熟悉</a:t>
            </a:r>
            <a:r>
              <a:rPr lang="en-US" altLang="zh-CN" sz="2800" b="1" dirty="0"/>
              <a:t>Tiny</a:t>
            </a:r>
            <a:r>
              <a:rPr lang="zh-CN" altLang="en-US" sz="2800" b="1" dirty="0"/>
              <a:t>语言词法</a:t>
            </a:r>
            <a:endParaRPr lang="en-US" altLang="zh-CN" sz="2800" b="1" dirty="0"/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构造</a:t>
            </a:r>
            <a:r>
              <a:rPr lang="en-US" altLang="zh-CN" sz="2800" b="1" dirty="0"/>
              <a:t>DFA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设计数据类型、数据结构</a:t>
            </a:r>
            <a:endParaRPr lang="en-US" altLang="zh-CN" sz="2800" b="1" dirty="0"/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用</a:t>
            </a:r>
            <a:r>
              <a:rPr lang="en-US" altLang="zh-CN" sz="2800" b="1" dirty="0"/>
              <a:t>C</a:t>
            </a:r>
            <a:r>
              <a:rPr lang="zh-CN" altLang="en-US" sz="2800" b="1" dirty="0"/>
              <a:t>或</a:t>
            </a:r>
            <a:r>
              <a:rPr lang="en-US" altLang="zh-CN" sz="2800" b="1" dirty="0"/>
              <a:t>C++</a:t>
            </a:r>
            <a:r>
              <a:rPr lang="zh-CN" altLang="en-US" sz="2800" b="1" dirty="0"/>
              <a:t>实现</a:t>
            </a:r>
            <a:r>
              <a:rPr lang="en-US" altLang="zh-CN" sz="2800" b="1" dirty="0"/>
              <a:t>Tiny</a:t>
            </a:r>
            <a:r>
              <a:rPr lang="zh-CN" altLang="en-US" sz="2800" b="1" dirty="0"/>
              <a:t>语言的词法分析器</a:t>
            </a:r>
            <a:endParaRPr lang="en-US" altLang="zh-CN" sz="2800" b="1" dirty="0"/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调试、运行</a:t>
            </a:r>
            <a:endParaRPr lang="en-US" altLang="zh-CN" sz="2800" b="1" dirty="0"/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C1C0442-C3D7-4E4A-8C97-CD0E5ECCD8EC}" type="slidenum">
              <a:rPr lang="zh-CN" altLang="en-US" b="1"/>
              <a:pPr eaLnBrk="1" hangingPunct="1"/>
              <a:t>3</a:t>
            </a:fld>
            <a:endParaRPr lang="en-US" altLang="zh-CN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b="1" dirty="0"/>
              <a:t>Tiny</a:t>
            </a:r>
            <a:r>
              <a:rPr lang="zh-CN" altLang="en-US" sz="4000" b="1" dirty="0"/>
              <a:t>程序示例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D429C-C85D-444C-8709-9515B2BFB96C}" type="slidenum">
              <a:rPr lang="zh-CN" altLang="en-US" smtClean="0"/>
              <a:pPr/>
              <a:t>4</a:t>
            </a:fld>
            <a:endParaRPr lang="en-US" altLang="zh-CN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50309AC-E2BA-F958-E311-4C6A414E95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9616" y="2060848"/>
            <a:ext cx="7384368" cy="4215614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kern="0" dirty="0">
                <a:solidFill>
                  <a:srgbClr val="0000FF"/>
                </a:solidFill>
              </a:rPr>
              <a:t>read</a:t>
            </a:r>
            <a:r>
              <a:rPr lang="en-US" altLang="zh-CN" sz="2400" b="1" kern="0" dirty="0"/>
              <a:t> x; </a:t>
            </a:r>
            <a:r>
              <a:rPr lang="en-US" altLang="zh-CN" sz="2400" b="1" kern="0" dirty="0">
                <a:solidFill>
                  <a:srgbClr val="00B050"/>
                </a:solidFill>
              </a:rPr>
              <a:t>{input an integer}</a:t>
            </a:r>
          </a:p>
          <a:p>
            <a:pPr marL="0" indent="0">
              <a:buNone/>
            </a:pPr>
            <a:r>
              <a:rPr lang="en-US" altLang="zh-CN" sz="2400" b="1" kern="0" dirty="0">
                <a:solidFill>
                  <a:srgbClr val="0000FF"/>
                </a:solidFill>
              </a:rPr>
              <a:t>if</a:t>
            </a:r>
            <a:r>
              <a:rPr lang="en-US" altLang="zh-CN" sz="2400" b="1" kern="0" dirty="0"/>
              <a:t> 0</a:t>
            </a:r>
            <a:r>
              <a:rPr lang="en-US" altLang="zh-CN" sz="2400" b="1" kern="0" dirty="0">
                <a:solidFill>
                  <a:srgbClr val="FF0000"/>
                </a:solidFill>
              </a:rPr>
              <a:t>&lt;</a:t>
            </a:r>
            <a:r>
              <a:rPr lang="en-US" altLang="zh-CN" sz="2400" b="1" kern="0" dirty="0"/>
              <a:t>x </a:t>
            </a:r>
            <a:r>
              <a:rPr lang="en-US" altLang="zh-CN" sz="2400" b="1" kern="0" dirty="0">
                <a:solidFill>
                  <a:srgbClr val="0000FF"/>
                </a:solidFill>
              </a:rPr>
              <a:t>then</a:t>
            </a:r>
            <a:r>
              <a:rPr lang="en-US" altLang="zh-CN" sz="2400" b="1" kern="0" dirty="0"/>
              <a:t> </a:t>
            </a:r>
            <a:r>
              <a:rPr lang="en-US" altLang="zh-CN" sz="2400" b="1" kern="0" dirty="0">
                <a:solidFill>
                  <a:srgbClr val="00B050"/>
                </a:solidFill>
              </a:rPr>
              <a:t>{don</a:t>
            </a:r>
            <a:r>
              <a:rPr lang="en-US" altLang="zh-CN" sz="2400" b="1" kern="0" dirty="0">
                <a:solidFill>
                  <a:srgbClr val="00B050"/>
                </a:solidFill>
                <a:latin typeface="Arial"/>
              </a:rPr>
              <a:t>’</a:t>
            </a:r>
            <a:r>
              <a:rPr lang="en-US" altLang="zh-CN" sz="2400" b="1" kern="0" dirty="0">
                <a:solidFill>
                  <a:srgbClr val="00B050"/>
                </a:solidFill>
              </a:rPr>
              <a:t>t compute if x &lt;=0}</a:t>
            </a:r>
          </a:p>
          <a:p>
            <a:pPr marL="0" indent="0">
              <a:buNone/>
            </a:pPr>
            <a:r>
              <a:rPr lang="en-US" altLang="zh-CN" sz="2400" b="1" kern="0" dirty="0"/>
              <a:t>    fact</a:t>
            </a:r>
            <a:r>
              <a:rPr lang="en-US" altLang="zh-CN" sz="2400" b="1" kern="0" dirty="0">
                <a:solidFill>
                  <a:srgbClr val="FF0000"/>
                </a:solidFill>
              </a:rPr>
              <a:t>:=</a:t>
            </a:r>
            <a:r>
              <a:rPr lang="en-US" altLang="zh-CN" sz="2400" b="1" kern="0" dirty="0"/>
              <a:t>1;</a:t>
            </a:r>
          </a:p>
          <a:p>
            <a:pPr marL="0" indent="0">
              <a:buNone/>
            </a:pPr>
            <a:r>
              <a:rPr lang="en-US" altLang="zh-CN" sz="2400" b="1" kern="0" dirty="0"/>
              <a:t>    </a:t>
            </a:r>
            <a:r>
              <a:rPr lang="en-US" altLang="zh-CN" sz="2400" b="1" kern="0" dirty="0">
                <a:solidFill>
                  <a:srgbClr val="0000FF"/>
                </a:solidFill>
              </a:rPr>
              <a:t>repeat</a:t>
            </a:r>
          </a:p>
          <a:p>
            <a:pPr marL="0" indent="0">
              <a:buNone/>
            </a:pPr>
            <a:r>
              <a:rPr lang="en-US" altLang="zh-CN" sz="2400" b="1" kern="0" dirty="0"/>
              <a:t>        fact </a:t>
            </a:r>
            <a:r>
              <a:rPr lang="en-US" altLang="zh-CN" sz="2400" b="1" kern="0" dirty="0">
                <a:solidFill>
                  <a:srgbClr val="FF0000"/>
                </a:solidFill>
              </a:rPr>
              <a:t>:=</a:t>
            </a:r>
            <a:r>
              <a:rPr lang="en-US" altLang="zh-CN" sz="2400" b="1" kern="0" dirty="0"/>
              <a:t>fact </a:t>
            </a:r>
            <a:r>
              <a:rPr lang="en-US" altLang="zh-CN" sz="2400" b="1" kern="0" dirty="0">
                <a:solidFill>
                  <a:srgbClr val="FF0000"/>
                </a:solidFill>
              </a:rPr>
              <a:t>*</a:t>
            </a:r>
            <a:r>
              <a:rPr lang="en-US" altLang="zh-CN" sz="2400" b="1" kern="0" dirty="0"/>
              <a:t>x;</a:t>
            </a:r>
          </a:p>
          <a:p>
            <a:pPr marL="0" indent="0">
              <a:buNone/>
            </a:pPr>
            <a:r>
              <a:rPr lang="en-US" altLang="zh-CN" sz="2400" b="1" kern="0" dirty="0"/>
              <a:t>        x</a:t>
            </a:r>
            <a:r>
              <a:rPr lang="en-US" altLang="zh-CN" sz="2400" b="1" kern="0" dirty="0">
                <a:solidFill>
                  <a:srgbClr val="FF0000"/>
                </a:solidFill>
              </a:rPr>
              <a:t>:=</a:t>
            </a:r>
            <a:r>
              <a:rPr lang="en-US" altLang="zh-CN" sz="2400" b="1" kern="0" dirty="0"/>
              <a:t>x</a:t>
            </a:r>
            <a:r>
              <a:rPr lang="en-US" altLang="zh-CN" sz="2400" b="1" kern="0" dirty="0">
                <a:solidFill>
                  <a:srgbClr val="FF0000"/>
                </a:solidFill>
              </a:rPr>
              <a:t>-</a:t>
            </a:r>
            <a:r>
              <a:rPr lang="en-US" altLang="zh-CN" sz="2400" b="1" kern="0" dirty="0"/>
              <a:t>1</a:t>
            </a:r>
          </a:p>
          <a:p>
            <a:pPr marL="0" indent="0">
              <a:buNone/>
            </a:pPr>
            <a:r>
              <a:rPr lang="en-US" altLang="zh-CN" sz="2400" b="1" kern="0" dirty="0"/>
              <a:t>    </a:t>
            </a:r>
            <a:r>
              <a:rPr lang="en-US" altLang="zh-CN" sz="2400" b="1" kern="0" dirty="0">
                <a:solidFill>
                  <a:srgbClr val="0000FF"/>
                </a:solidFill>
              </a:rPr>
              <a:t>until</a:t>
            </a:r>
            <a:r>
              <a:rPr lang="en-US" altLang="zh-CN" sz="2400" b="1" kern="0" dirty="0"/>
              <a:t> x</a:t>
            </a:r>
            <a:r>
              <a:rPr lang="en-US" altLang="zh-CN" sz="2400" b="1" kern="0" dirty="0">
                <a:solidFill>
                  <a:srgbClr val="FF0000"/>
                </a:solidFill>
              </a:rPr>
              <a:t>=</a:t>
            </a:r>
            <a:r>
              <a:rPr lang="en-US" altLang="zh-CN" sz="2400" b="1" kern="0" dirty="0"/>
              <a:t>0;</a:t>
            </a:r>
          </a:p>
          <a:p>
            <a:pPr marL="0" indent="0">
              <a:buNone/>
            </a:pPr>
            <a:r>
              <a:rPr lang="en-US" altLang="zh-CN" sz="2400" b="1" kern="0" dirty="0"/>
              <a:t>    </a:t>
            </a:r>
            <a:r>
              <a:rPr lang="en-US" altLang="zh-CN" sz="2400" b="1" kern="0" dirty="0">
                <a:solidFill>
                  <a:srgbClr val="0000FF"/>
                </a:solidFill>
              </a:rPr>
              <a:t>write</a:t>
            </a:r>
            <a:r>
              <a:rPr lang="en-US" altLang="zh-CN" sz="2400" b="1" kern="0" dirty="0"/>
              <a:t> fact </a:t>
            </a:r>
            <a:r>
              <a:rPr lang="en-US" altLang="zh-CN" sz="2400" b="1" kern="0" dirty="0">
                <a:solidFill>
                  <a:srgbClr val="00B050"/>
                </a:solidFill>
              </a:rPr>
              <a:t>{output factorial of x}</a:t>
            </a:r>
          </a:p>
          <a:p>
            <a:pPr marL="0" indent="0">
              <a:buNone/>
            </a:pPr>
            <a:r>
              <a:rPr lang="en-US" altLang="zh-CN" sz="2400" b="1" kern="0" dirty="0">
                <a:solidFill>
                  <a:srgbClr val="0000FF"/>
                </a:solidFill>
              </a:rPr>
              <a:t>end</a:t>
            </a:r>
            <a:endParaRPr lang="zh-CN" altLang="en-US" sz="2400" b="1" kern="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9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363272" cy="1143000"/>
          </a:xfrm>
        </p:spPr>
        <p:txBody>
          <a:bodyPr/>
          <a:lstStyle/>
          <a:p>
            <a:r>
              <a:rPr lang="en-US" altLang="zh-CN" sz="4000" b="1" dirty="0"/>
              <a:t>Tiny</a:t>
            </a:r>
            <a:r>
              <a:rPr lang="zh-CN" altLang="en-US" sz="4000" b="1" dirty="0"/>
              <a:t>语言说明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07968" y="1725560"/>
            <a:ext cx="4680520" cy="489654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Tiny</a:t>
            </a:r>
            <a:r>
              <a:rPr lang="zh-CN" altLang="en-US" sz="2000" b="1" dirty="0"/>
              <a:t>语言</a:t>
            </a:r>
            <a:r>
              <a:rPr lang="zh-CN" altLang="zh-CN" sz="2000" b="1" dirty="0"/>
              <a:t>仅是一个</a:t>
            </a:r>
            <a:r>
              <a:rPr lang="zh-CN" altLang="zh-CN" sz="2000" b="1" dirty="0">
                <a:solidFill>
                  <a:srgbClr val="FF0000"/>
                </a:solidFill>
              </a:rPr>
              <a:t>由分号分隔开的语句序列</a:t>
            </a:r>
            <a:r>
              <a:rPr lang="zh-CN" altLang="en-US" sz="2000" b="1" dirty="0"/>
              <a:t>，</a:t>
            </a:r>
            <a:r>
              <a:rPr lang="zh-CN" altLang="zh-CN" sz="2000" b="1" dirty="0"/>
              <a:t>它既</a:t>
            </a:r>
            <a:r>
              <a:rPr lang="zh-CN" altLang="zh-CN" sz="2000" b="1" dirty="0">
                <a:solidFill>
                  <a:srgbClr val="FF0000"/>
                </a:solidFill>
              </a:rPr>
              <a:t>无过程</a:t>
            </a:r>
            <a:r>
              <a:rPr lang="zh-CN" altLang="zh-CN" sz="2000" b="1" dirty="0"/>
              <a:t>也</a:t>
            </a:r>
            <a:r>
              <a:rPr lang="zh-CN" altLang="zh-CN" sz="2000" b="1" dirty="0">
                <a:solidFill>
                  <a:srgbClr val="FF0000"/>
                </a:solidFill>
              </a:rPr>
              <a:t>无声明</a:t>
            </a:r>
            <a:r>
              <a:rPr lang="zh-CN" altLang="zh-CN" sz="2000" b="1" dirty="0"/>
              <a:t>。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zh-CN" altLang="zh-CN" sz="2000" b="1" dirty="0"/>
              <a:t>所有的变量都是</a:t>
            </a:r>
            <a:r>
              <a:rPr lang="zh-CN" altLang="zh-CN" sz="2000" b="1" dirty="0">
                <a:solidFill>
                  <a:srgbClr val="FF0000"/>
                </a:solidFill>
              </a:rPr>
              <a:t>整型变量</a:t>
            </a:r>
            <a:r>
              <a:rPr lang="zh-CN" altLang="zh-CN" sz="2000" b="1" dirty="0"/>
              <a:t>，通过对其赋值可声明变量。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zh-CN" altLang="zh-CN" sz="2000" b="1" dirty="0"/>
              <a:t>只有两个控制语句：</a:t>
            </a:r>
            <a:r>
              <a:rPr lang="en-US" altLang="zh-CN" sz="2000" b="1" dirty="0">
                <a:solidFill>
                  <a:srgbClr val="FF0000"/>
                </a:solidFill>
              </a:rPr>
              <a:t>if</a:t>
            </a:r>
            <a:r>
              <a:rPr lang="zh-CN" altLang="zh-CN" sz="2000" b="1" dirty="0">
                <a:solidFill>
                  <a:srgbClr val="FF0000"/>
                </a:solidFill>
              </a:rPr>
              <a:t>语句</a:t>
            </a:r>
            <a:r>
              <a:rPr lang="zh-CN" altLang="zh-CN" sz="2000" b="1" dirty="0"/>
              <a:t>和</a:t>
            </a:r>
            <a:r>
              <a:rPr lang="en-US" altLang="zh-CN" sz="2000" b="1" dirty="0">
                <a:solidFill>
                  <a:srgbClr val="FF0000"/>
                </a:solidFill>
              </a:rPr>
              <a:t>repeat</a:t>
            </a:r>
            <a:r>
              <a:rPr lang="zh-CN" altLang="zh-CN" sz="2000" b="1" dirty="0">
                <a:solidFill>
                  <a:srgbClr val="FF0000"/>
                </a:solidFill>
              </a:rPr>
              <a:t>语句</a:t>
            </a:r>
            <a:r>
              <a:rPr lang="zh-CN" altLang="zh-CN" sz="2000" b="1" dirty="0"/>
              <a:t>，这两个控制语句</a:t>
            </a:r>
            <a:r>
              <a:rPr lang="zh-CN" altLang="zh-CN" sz="2000" b="1" dirty="0">
                <a:solidFill>
                  <a:srgbClr val="FF0000"/>
                </a:solidFill>
              </a:rPr>
              <a:t>本身也可包含语句序列</a:t>
            </a:r>
            <a:r>
              <a:rPr lang="zh-CN" altLang="zh-CN" sz="2000" b="1" dirty="0"/>
              <a:t>。</a:t>
            </a:r>
            <a:endParaRPr lang="en-US" altLang="zh-CN" sz="2000" b="1" dirty="0"/>
          </a:p>
          <a:p>
            <a:pPr lvl="1">
              <a:lnSpc>
                <a:spcPct val="150000"/>
              </a:lnSpc>
            </a:pPr>
            <a:r>
              <a:rPr lang="en-US" altLang="zh-CN" sz="2000" b="1" dirty="0">
                <a:solidFill>
                  <a:srgbClr val="FF0000"/>
                </a:solidFill>
              </a:rPr>
              <a:t>if</a:t>
            </a:r>
            <a:r>
              <a:rPr lang="zh-CN" altLang="zh-CN" sz="2000" b="1" dirty="0"/>
              <a:t>语句有一个可选的</a:t>
            </a:r>
            <a:r>
              <a:rPr lang="en-US" altLang="zh-CN" sz="2000" b="1" dirty="0">
                <a:solidFill>
                  <a:srgbClr val="FF0000"/>
                </a:solidFill>
              </a:rPr>
              <a:t>else</a:t>
            </a:r>
            <a:r>
              <a:rPr lang="zh-CN" altLang="zh-CN" sz="2000" b="1" dirty="0"/>
              <a:t>部分且必须由关键字</a:t>
            </a:r>
            <a:r>
              <a:rPr lang="en-US" altLang="zh-CN" sz="2000" b="1" dirty="0">
                <a:solidFill>
                  <a:srgbClr val="FF0000"/>
                </a:solidFill>
              </a:rPr>
              <a:t>end</a:t>
            </a:r>
            <a:r>
              <a:rPr lang="zh-CN" altLang="zh-CN" sz="2000" b="1" dirty="0"/>
              <a:t>结束。</a:t>
            </a:r>
            <a:endParaRPr lang="en-US" altLang="zh-CN" sz="2000" b="1" dirty="0"/>
          </a:p>
          <a:p>
            <a:pPr lvl="1">
              <a:lnSpc>
                <a:spcPct val="150000"/>
              </a:lnSpc>
            </a:pPr>
            <a:r>
              <a:rPr lang="en-US" altLang="zh-CN" sz="2000" b="1" dirty="0">
                <a:solidFill>
                  <a:srgbClr val="FF0000"/>
                </a:solidFill>
              </a:rPr>
              <a:t>repeat</a:t>
            </a:r>
            <a:r>
              <a:rPr lang="zh-CN" altLang="en-US" sz="2000" b="1" dirty="0"/>
              <a:t>语句需以</a:t>
            </a:r>
            <a:r>
              <a:rPr lang="en-US" altLang="zh-CN" sz="2000" b="1" dirty="0">
                <a:solidFill>
                  <a:srgbClr val="FF0000"/>
                </a:solidFill>
              </a:rPr>
              <a:t>until</a:t>
            </a:r>
            <a:r>
              <a:rPr lang="zh-CN" altLang="en-US" sz="2000" b="1" dirty="0"/>
              <a:t>语句结束。</a:t>
            </a:r>
            <a:endParaRPr lang="en-US" altLang="zh-CN" sz="20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D429C-C85D-444C-8709-9515B2BFB96C}" type="slidenum">
              <a:rPr lang="zh-CN" altLang="en-US" smtClean="0"/>
              <a:pPr/>
              <a:t>5</a:t>
            </a:fld>
            <a:endParaRPr lang="en-US" altLang="zh-CN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E9524BF-6211-7AE1-B9C0-332898548F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1992" y="1844824"/>
            <a:ext cx="3855976" cy="4777280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kern="0" dirty="0">
                <a:solidFill>
                  <a:srgbClr val="0000FF"/>
                </a:solidFill>
              </a:rPr>
              <a:t>read</a:t>
            </a:r>
            <a:r>
              <a:rPr lang="en-US" altLang="zh-CN" sz="2400" b="1" kern="0" dirty="0"/>
              <a:t> x; </a:t>
            </a:r>
            <a:r>
              <a:rPr lang="en-US" altLang="zh-CN" sz="2400" b="1" kern="0" dirty="0">
                <a:solidFill>
                  <a:srgbClr val="00B050"/>
                </a:solidFill>
              </a:rPr>
              <a:t>{input an integer}</a:t>
            </a:r>
          </a:p>
          <a:p>
            <a:pPr marL="0" indent="0">
              <a:buNone/>
            </a:pPr>
            <a:r>
              <a:rPr lang="en-US" altLang="zh-CN" sz="2400" b="1" kern="0" dirty="0">
                <a:solidFill>
                  <a:srgbClr val="0000FF"/>
                </a:solidFill>
              </a:rPr>
              <a:t>if</a:t>
            </a:r>
            <a:r>
              <a:rPr lang="en-US" altLang="zh-CN" sz="2400" b="1" kern="0" dirty="0"/>
              <a:t> 0</a:t>
            </a:r>
            <a:r>
              <a:rPr lang="en-US" altLang="zh-CN" sz="2400" b="1" kern="0" dirty="0">
                <a:solidFill>
                  <a:srgbClr val="FF0000"/>
                </a:solidFill>
              </a:rPr>
              <a:t>&lt;</a:t>
            </a:r>
            <a:r>
              <a:rPr lang="en-US" altLang="zh-CN" sz="2400" b="1" kern="0" dirty="0"/>
              <a:t>x </a:t>
            </a:r>
            <a:r>
              <a:rPr lang="en-US" altLang="zh-CN" sz="2400" b="1" kern="0" dirty="0">
                <a:solidFill>
                  <a:srgbClr val="0000FF"/>
                </a:solidFill>
              </a:rPr>
              <a:t>then</a:t>
            </a:r>
            <a:r>
              <a:rPr lang="en-US" altLang="zh-CN" sz="2400" b="1" kern="0" dirty="0"/>
              <a:t> </a:t>
            </a:r>
            <a:r>
              <a:rPr lang="en-US" altLang="zh-CN" sz="2400" b="1" kern="0" dirty="0">
                <a:solidFill>
                  <a:srgbClr val="00B050"/>
                </a:solidFill>
              </a:rPr>
              <a:t>{don</a:t>
            </a:r>
            <a:r>
              <a:rPr lang="en-US" altLang="zh-CN" sz="2400" b="1" kern="0" dirty="0">
                <a:solidFill>
                  <a:srgbClr val="00B050"/>
                </a:solidFill>
                <a:latin typeface="Arial"/>
              </a:rPr>
              <a:t>’</a:t>
            </a:r>
            <a:r>
              <a:rPr lang="en-US" altLang="zh-CN" sz="2400" b="1" kern="0" dirty="0">
                <a:solidFill>
                  <a:srgbClr val="00B050"/>
                </a:solidFill>
              </a:rPr>
              <a:t>t compute if x &lt;=0}</a:t>
            </a:r>
          </a:p>
          <a:p>
            <a:pPr marL="0" indent="0">
              <a:buNone/>
            </a:pPr>
            <a:r>
              <a:rPr lang="en-US" altLang="zh-CN" sz="2400" b="1" kern="0" dirty="0"/>
              <a:t>    fact</a:t>
            </a:r>
            <a:r>
              <a:rPr lang="en-US" altLang="zh-CN" sz="2400" b="1" kern="0" dirty="0">
                <a:solidFill>
                  <a:srgbClr val="FF0000"/>
                </a:solidFill>
              </a:rPr>
              <a:t>:=</a:t>
            </a:r>
            <a:r>
              <a:rPr lang="en-US" altLang="zh-CN" sz="2400" b="1" kern="0" dirty="0"/>
              <a:t>1;</a:t>
            </a:r>
          </a:p>
          <a:p>
            <a:pPr marL="0" indent="0">
              <a:buNone/>
            </a:pPr>
            <a:r>
              <a:rPr lang="en-US" altLang="zh-CN" sz="2400" b="1" kern="0" dirty="0"/>
              <a:t>    </a:t>
            </a:r>
            <a:r>
              <a:rPr lang="en-US" altLang="zh-CN" sz="2400" b="1" kern="0" dirty="0">
                <a:solidFill>
                  <a:srgbClr val="0000FF"/>
                </a:solidFill>
              </a:rPr>
              <a:t>repeat</a:t>
            </a:r>
          </a:p>
          <a:p>
            <a:pPr marL="0" indent="0">
              <a:buNone/>
            </a:pPr>
            <a:r>
              <a:rPr lang="en-US" altLang="zh-CN" sz="2400" b="1" kern="0" dirty="0"/>
              <a:t>        fact </a:t>
            </a:r>
            <a:r>
              <a:rPr lang="en-US" altLang="zh-CN" sz="2400" b="1" kern="0" dirty="0">
                <a:solidFill>
                  <a:srgbClr val="FF0000"/>
                </a:solidFill>
              </a:rPr>
              <a:t>:=</a:t>
            </a:r>
            <a:r>
              <a:rPr lang="en-US" altLang="zh-CN" sz="2400" b="1" kern="0" dirty="0"/>
              <a:t>fact </a:t>
            </a:r>
            <a:r>
              <a:rPr lang="en-US" altLang="zh-CN" sz="2400" b="1" kern="0" dirty="0">
                <a:solidFill>
                  <a:srgbClr val="FF0000"/>
                </a:solidFill>
              </a:rPr>
              <a:t>*</a:t>
            </a:r>
            <a:r>
              <a:rPr lang="en-US" altLang="zh-CN" sz="2400" b="1" kern="0" dirty="0"/>
              <a:t>x;</a:t>
            </a:r>
          </a:p>
          <a:p>
            <a:pPr marL="0" indent="0">
              <a:buNone/>
            </a:pPr>
            <a:r>
              <a:rPr lang="en-US" altLang="zh-CN" sz="2400" b="1" kern="0" dirty="0"/>
              <a:t>        x</a:t>
            </a:r>
            <a:r>
              <a:rPr lang="en-US" altLang="zh-CN" sz="2400" b="1" kern="0" dirty="0">
                <a:solidFill>
                  <a:srgbClr val="FF0000"/>
                </a:solidFill>
              </a:rPr>
              <a:t>:=</a:t>
            </a:r>
            <a:r>
              <a:rPr lang="en-US" altLang="zh-CN" sz="2400" b="1" kern="0" dirty="0"/>
              <a:t>x</a:t>
            </a:r>
            <a:r>
              <a:rPr lang="en-US" altLang="zh-CN" sz="2400" b="1" kern="0" dirty="0">
                <a:solidFill>
                  <a:srgbClr val="FF0000"/>
                </a:solidFill>
              </a:rPr>
              <a:t>-</a:t>
            </a:r>
            <a:r>
              <a:rPr lang="en-US" altLang="zh-CN" sz="2400" b="1" kern="0" dirty="0"/>
              <a:t>1</a:t>
            </a:r>
          </a:p>
          <a:p>
            <a:pPr marL="0" indent="0">
              <a:buNone/>
            </a:pPr>
            <a:r>
              <a:rPr lang="en-US" altLang="zh-CN" sz="2400" b="1" kern="0" dirty="0"/>
              <a:t>    </a:t>
            </a:r>
            <a:r>
              <a:rPr lang="en-US" altLang="zh-CN" sz="2400" b="1" kern="0" dirty="0">
                <a:solidFill>
                  <a:srgbClr val="0000FF"/>
                </a:solidFill>
              </a:rPr>
              <a:t>until</a:t>
            </a:r>
            <a:r>
              <a:rPr lang="en-US" altLang="zh-CN" sz="2400" b="1" kern="0" dirty="0"/>
              <a:t> x</a:t>
            </a:r>
            <a:r>
              <a:rPr lang="en-US" altLang="zh-CN" sz="2400" b="1" kern="0" dirty="0">
                <a:solidFill>
                  <a:srgbClr val="FF0000"/>
                </a:solidFill>
              </a:rPr>
              <a:t>=</a:t>
            </a:r>
            <a:r>
              <a:rPr lang="en-US" altLang="zh-CN" sz="2400" b="1" kern="0" dirty="0"/>
              <a:t>0;</a:t>
            </a:r>
          </a:p>
          <a:p>
            <a:pPr marL="0" indent="0">
              <a:buNone/>
            </a:pPr>
            <a:r>
              <a:rPr lang="en-US" altLang="zh-CN" sz="2400" b="1" kern="0" dirty="0"/>
              <a:t>    </a:t>
            </a:r>
            <a:r>
              <a:rPr lang="en-US" altLang="zh-CN" sz="2400" b="1" kern="0" dirty="0">
                <a:solidFill>
                  <a:srgbClr val="0000FF"/>
                </a:solidFill>
              </a:rPr>
              <a:t>write</a:t>
            </a:r>
            <a:r>
              <a:rPr lang="en-US" altLang="zh-CN" sz="2400" b="1" kern="0" dirty="0"/>
              <a:t> fact </a:t>
            </a:r>
            <a:r>
              <a:rPr lang="en-US" altLang="zh-CN" sz="2400" b="1" kern="0" dirty="0">
                <a:solidFill>
                  <a:srgbClr val="00B050"/>
                </a:solidFill>
              </a:rPr>
              <a:t>{output factorial of x}</a:t>
            </a:r>
          </a:p>
          <a:p>
            <a:pPr marL="0" indent="0">
              <a:buNone/>
            </a:pPr>
            <a:r>
              <a:rPr lang="en-US" altLang="zh-CN" sz="2400" b="1" kern="0" dirty="0">
                <a:solidFill>
                  <a:srgbClr val="0000FF"/>
                </a:solidFill>
              </a:rPr>
              <a:t>end</a:t>
            </a:r>
            <a:endParaRPr lang="zh-CN" altLang="en-US" sz="2400" b="1" kern="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367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US" altLang="zh-CN" sz="4000" b="1" dirty="0"/>
              <a:t>Tiny</a:t>
            </a:r>
            <a:r>
              <a:rPr lang="zh-CN" altLang="en-US" sz="4000" b="1" dirty="0"/>
              <a:t>语言说明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97624" y="1844824"/>
            <a:ext cx="4690864" cy="4777280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sz="2000" b="1" dirty="0">
                <a:solidFill>
                  <a:srgbClr val="FF0000"/>
                </a:solidFill>
              </a:rPr>
              <a:t>read</a:t>
            </a:r>
            <a:r>
              <a:rPr lang="zh-CN" altLang="zh-CN" sz="2000" b="1" dirty="0"/>
              <a:t>语句和</a:t>
            </a:r>
            <a:r>
              <a:rPr lang="en-US" altLang="zh-CN" sz="2000" b="1" dirty="0">
                <a:solidFill>
                  <a:srgbClr val="FF0000"/>
                </a:solidFill>
              </a:rPr>
              <a:t>write</a:t>
            </a:r>
            <a:r>
              <a:rPr lang="zh-CN" altLang="zh-CN" sz="2000" b="1" dirty="0"/>
              <a:t>语句完成输入</a:t>
            </a:r>
            <a:r>
              <a:rPr lang="en-US" altLang="zh-CN" sz="2000" b="1" dirty="0"/>
              <a:t>/</a:t>
            </a:r>
            <a:r>
              <a:rPr lang="zh-CN" altLang="zh-CN" sz="2000" b="1" dirty="0"/>
              <a:t>输出。</a:t>
            </a:r>
            <a:endParaRPr lang="en-US" altLang="zh-CN" sz="2000" b="1" dirty="0"/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sz="2000" b="1" dirty="0"/>
              <a:t>TINY</a:t>
            </a:r>
            <a:r>
              <a:rPr lang="zh-CN" altLang="zh-CN" sz="2000" b="1" dirty="0"/>
              <a:t>的表达式局限于</a:t>
            </a:r>
            <a:r>
              <a:rPr lang="zh-CN" altLang="zh-CN" sz="2000" b="1" dirty="0">
                <a:solidFill>
                  <a:srgbClr val="FF0000"/>
                </a:solidFill>
              </a:rPr>
              <a:t>布尔表达式</a:t>
            </a:r>
            <a:r>
              <a:rPr lang="zh-CN" altLang="zh-CN" sz="2000" b="1" dirty="0"/>
              <a:t>和</a:t>
            </a:r>
            <a:r>
              <a:rPr lang="zh-CN" altLang="zh-CN" sz="2000" b="1" dirty="0">
                <a:solidFill>
                  <a:srgbClr val="FF0000"/>
                </a:solidFill>
              </a:rPr>
              <a:t>整型算术表达式</a:t>
            </a:r>
            <a:r>
              <a:rPr lang="zh-CN" altLang="zh-CN" sz="2000" b="1" dirty="0"/>
              <a:t>。</a:t>
            </a:r>
            <a:endParaRPr lang="en-US" altLang="zh-CN" sz="2000" b="1" dirty="0"/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zh-CN" sz="2000" b="1" dirty="0"/>
              <a:t>布尔表达式由对两个算术表达式的比较组成，使用</a:t>
            </a:r>
            <a:r>
              <a:rPr lang="en-US" altLang="zh-CN" sz="2000" b="1" dirty="0">
                <a:solidFill>
                  <a:srgbClr val="FF0000"/>
                </a:solidFill>
              </a:rPr>
              <a:t>&lt;</a:t>
            </a:r>
            <a:r>
              <a:rPr lang="zh-CN" altLang="zh-CN" sz="2000" b="1" dirty="0"/>
              <a:t>与</a:t>
            </a:r>
            <a:r>
              <a:rPr lang="en-US" altLang="zh-CN" sz="2000" b="1" dirty="0">
                <a:solidFill>
                  <a:srgbClr val="FF0000"/>
                </a:solidFill>
              </a:rPr>
              <a:t>=</a:t>
            </a:r>
            <a:r>
              <a:rPr lang="zh-CN" altLang="zh-CN" sz="2000" b="1" dirty="0"/>
              <a:t>比较算符。布尔表达式只作为测试出现在控制语句中</a:t>
            </a:r>
            <a:r>
              <a:rPr lang="zh-CN" altLang="en-US" sz="2000" b="1" dirty="0"/>
              <a:t>。</a:t>
            </a:r>
            <a:endParaRPr lang="en-US" altLang="zh-CN" sz="2000" b="1" dirty="0"/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zh-CN" sz="2000" b="1" dirty="0"/>
              <a:t>算术表达式可以包括</a:t>
            </a:r>
            <a:r>
              <a:rPr lang="zh-CN" altLang="zh-CN" sz="2000" b="1" dirty="0">
                <a:solidFill>
                  <a:srgbClr val="FF0000"/>
                </a:solidFill>
              </a:rPr>
              <a:t>整型常数</a:t>
            </a:r>
            <a:r>
              <a:rPr lang="zh-CN" altLang="zh-CN" sz="2000" b="1" dirty="0"/>
              <a:t>、</a:t>
            </a:r>
            <a:r>
              <a:rPr lang="zh-CN" altLang="zh-CN" sz="2000" b="1" dirty="0">
                <a:solidFill>
                  <a:srgbClr val="FF0000"/>
                </a:solidFill>
              </a:rPr>
              <a:t>变量</a:t>
            </a:r>
            <a:r>
              <a:rPr lang="zh-CN" altLang="zh-CN" sz="2000" b="1" dirty="0"/>
              <a:t>、</a:t>
            </a:r>
            <a:r>
              <a:rPr lang="zh-CN" altLang="zh-CN" sz="2000" b="1" dirty="0">
                <a:solidFill>
                  <a:srgbClr val="FF0000"/>
                </a:solidFill>
              </a:rPr>
              <a:t>参数</a:t>
            </a:r>
            <a:r>
              <a:rPr lang="zh-CN" altLang="zh-CN" sz="2000" b="1" dirty="0"/>
              <a:t>以及</a:t>
            </a:r>
            <a:r>
              <a:rPr lang="en-US" altLang="zh-CN" sz="2000" b="1" dirty="0"/>
              <a:t>4</a:t>
            </a:r>
            <a:r>
              <a:rPr lang="zh-CN" altLang="zh-CN" sz="2000" b="1" dirty="0"/>
              <a:t>个整型算符</a:t>
            </a:r>
            <a:r>
              <a:rPr lang="en-US" altLang="zh-CN" sz="2000" b="1" dirty="0">
                <a:solidFill>
                  <a:srgbClr val="FF0000"/>
                </a:solidFill>
              </a:rPr>
              <a:t>+</a:t>
            </a:r>
            <a:r>
              <a:rPr lang="zh-CN" altLang="zh-CN" sz="2000" b="1" dirty="0">
                <a:solidFill>
                  <a:srgbClr val="FF0000"/>
                </a:solidFill>
              </a:rPr>
              <a:t>、－、</a:t>
            </a:r>
            <a:r>
              <a:rPr lang="en-US" altLang="zh-CN" sz="2000" b="1" dirty="0">
                <a:solidFill>
                  <a:srgbClr val="FF0000"/>
                </a:solidFill>
              </a:rPr>
              <a:t>*</a:t>
            </a:r>
            <a:r>
              <a:rPr lang="zh-CN" altLang="zh-CN" sz="2000" b="1" dirty="0">
                <a:solidFill>
                  <a:srgbClr val="FF0000"/>
                </a:solidFill>
              </a:rPr>
              <a:t>、</a:t>
            </a:r>
            <a:r>
              <a:rPr lang="en-US" altLang="zh-CN" sz="2000" b="1" dirty="0">
                <a:solidFill>
                  <a:srgbClr val="FF0000"/>
                </a:solidFill>
              </a:rPr>
              <a:t>/</a:t>
            </a:r>
            <a:r>
              <a:rPr lang="zh-CN" altLang="zh-CN" sz="2000" b="1" dirty="0"/>
              <a:t>，</a:t>
            </a:r>
            <a:r>
              <a:rPr lang="zh-CN" altLang="en-US" sz="2000" b="1" dirty="0"/>
              <a:t>支持</a:t>
            </a:r>
            <a:r>
              <a:rPr lang="zh-CN" altLang="en-US" sz="2000" b="1" dirty="0">
                <a:solidFill>
                  <a:srgbClr val="FF0000"/>
                </a:solidFill>
              </a:rPr>
              <a:t>小括号</a:t>
            </a:r>
            <a:r>
              <a:rPr lang="zh-CN" altLang="en-US" sz="2000" b="1" dirty="0"/>
              <a:t>改变运算优先级。</a:t>
            </a:r>
            <a:endParaRPr lang="en-US" altLang="zh-CN" sz="20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D429C-C85D-444C-8709-9515B2BFB96C}" type="slidenum">
              <a:rPr lang="zh-CN" altLang="en-US" b="1" smtClean="0"/>
              <a:pPr/>
              <a:t>6</a:t>
            </a:fld>
            <a:endParaRPr lang="en-US" altLang="zh-CN" b="1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027B420-B57C-3CE6-0682-0325DC8358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1992" y="1844824"/>
            <a:ext cx="3855976" cy="4777280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kern="0" dirty="0">
                <a:solidFill>
                  <a:srgbClr val="0000FF"/>
                </a:solidFill>
              </a:rPr>
              <a:t>read</a:t>
            </a:r>
            <a:r>
              <a:rPr lang="en-US" altLang="zh-CN" sz="2400" b="1" kern="0" dirty="0"/>
              <a:t> x; </a:t>
            </a:r>
            <a:r>
              <a:rPr lang="en-US" altLang="zh-CN" sz="2400" b="1" kern="0" dirty="0">
                <a:solidFill>
                  <a:srgbClr val="00B050"/>
                </a:solidFill>
              </a:rPr>
              <a:t>{input an integer}</a:t>
            </a:r>
          </a:p>
          <a:p>
            <a:pPr marL="0" indent="0">
              <a:buNone/>
            </a:pPr>
            <a:r>
              <a:rPr lang="en-US" altLang="zh-CN" sz="2400" b="1" kern="0" dirty="0">
                <a:solidFill>
                  <a:srgbClr val="0000FF"/>
                </a:solidFill>
              </a:rPr>
              <a:t>if</a:t>
            </a:r>
            <a:r>
              <a:rPr lang="en-US" altLang="zh-CN" sz="2400" b="1" kern="0" dirty="0"/>
              <a:t> 0</a:t>
            </a:r>
            <a:r>
              <a:rPr lang="en-US" altLang="zh-CN" sz="2400" b="1" kern="0" dirty="0">
                <a:solidFill>
                  <a:srgbClr val="FF0000"/>
                </a:solidFill>
              </a:rPr>
              <a:t>&lt;</a:t>
            </a:r>
            <a:r>
              <a:rPr lang="en-US" altLang="zh-CN" sz="2400" b="1" kern="0" dirty="0"/>
              <a:t>x </a:t>
            </a:r>
            <a:r>
              <a:rPr lang="en-US" altLang="zh-CN" sz="2400" b="1" kern="0" dirty="0">
                <a:solidFill>
                  <a:srgbClr val="0000FF"/>
                </a:solidFill>
              </a:rPr>
              <a:t>then</a:t>
            </a:r>
            <a:r>
              <a:rPr lang="en-US" altLang="zh-CN" sz="2400" b="1" kern="0" dirty="0"/>
              <a:t> </a:t>
            </a:r>
            <a:r>
              <a:rPr lang="en-US" altLang="zh-CN" sz="2400" b="1" kern="0" dirty="0">
                <a:solidFill>
                  <a:srgbClr val="00B050"/>
                </a:solidFill>
              </a:rPr>
              <a:t>{don</a:t>
            </a:r>
            <a:r>
              <a:rPr lang="en-US" altLang="zh-CN" sz="2400" b="1" kern="0" dirty="0">
                <a:solidFill>
                  <a:srgbClr val="00B050"/>
                </a:solidFill>
                <a:latin typeface="Arial"/>
              </a:rPr>
              <a:t>’</a:t>
            </a:r>
            <a:r>
              <a:rPr lang="en-US" altLang="zh-CN" sz="2400" b="1" kern="0" dirty="0">
                <a:solidFill>
                  <a:srgbClr val="00B050"/>
                </a:solidFill>
              </a:rPr>
              <a:t>t compute if x &lt;=0}</a:t>
            </a:r>
          </a:p>
          <a:p>
            <a:pPr marL="0" indent="0">
              <a:buNone/>
            </a:pPr>
            <a:r>
              <a:rPr lang="en-US" altLang="zh-CN" sz="2400" b="1" kern="0" dirty="0"/>
              <a:t>    fact</a:t>
            </a:r>
            <a:r>
              <a:rPr lang="en-US" altLang="zh-CN" sz="2400" b="1" kern="0" dirty="0">
                <a:solidFill>
                  <a:srgbClr val="FF0000"/>
                </a:solidFill>
              </a:rPr>
              <a:t>:=</a:t>
            </a:r>
            <a:r>
              <a:rPr lang="en-US" altLang="zh-CN" sz="2400" b="1" kern="0" dirty="0"/>
              <a:t>1;</a:t>
            </a:r>
          </a:p>
          <a:p>
            <a:pPr marL="0" indent="0">
              <a:buNone/>
            </a:pPr>
            <a:r>
              <a:rPr lang="en-US" altLang="zh-CN" sz="2400" b="1" kern="0" dirty="0"/>
              <a:t>    </a:t>
            </a:r>
            <a:r>
              <a:rPr lang="en-US" altLang="zh-CN" sz="2400" b="1" kern="0" dirty="0">
                <a:solidFill>
                  <a:srgbClr val="0000FF"/>
                </a:solidFill>
              </a:rPr>
              <a:t>repeat</a:t>
            </a:r>
          </a:p>
          <a:p>
            <a:pPr marL="0" indent="0">
              <a:buNone/>
            </a:pPr>
            <a:r>
              <a:rPr lang="en-US" altLang="zh-CN" sz="2400" b="1" kern="0" dirty="0"/>
              <a:t>        fact </a:t>
            </a:r>
            <a:r>
              <a:rPr lang="en-US" altLang="zh-CN" sz="2400" b="1" kern="0" dirty="0">
                <a:solidFill>
                  <a:srgbClr val="FF0000"/>
                </a:solidFill>
              </a:rPr>
              <a:t>:=</a:t>
            </a:r>
            <a:r>
              <a:rPr lang="en-US" altLang="zh-CN" sz="2400" b="1" kern="0" dirty="0"/>
              <a:t>fact </a:t>
            </a:r>
            <a:r>
              <a:rPr lang="en-US" altLang="zh-CN" sz="2400" b="1" kern="0" dirty="0">
                <a:solidFill>
                  <a:srgbClr val="FF0000"/>
                </a:solidFill>
              </a:rPr>
              <a:t>*</a:t>
            </a:r>
            <a:r>
              <a:rPr lang="en-US" altLang="zh-CN" sz="2400" b="1" kern="0" dirty="0"/>
              <a:t>x;</a:t>
            </a:r>
          </a:p>
          <a:p>
            <a:pPr marL="0" indent="0">
              <a:buNone/>
            </a:pPr>
            <a:r>
              <a:rPr lang="en-US" altLang="zh-CN" sz="2400" b="1" kern="0" dirty="0"/>
              <a:t>        x</a:t>
            </a:r>
            <a:r>
              <a:rPr lang="en-US" altLang="zh-CN" sz="2400" b="1" kern="0" dirty="0">
                <a:solidFill>
                  <a:srgbClr val="FF0000"/>
                </a:solidFill>
              </a:rPr>
              <a:t>:=</a:t>
            </a:r>
            <a:r>
              <a:rPr lang="en-US" altLang="zh-CN" sz="2400" b="1" kern="0" dirty="0"/>
              <a:t>x</a:t>
            </a:r>
            <a:r>
              <a:rPr lang="en-US" altLang="zh-CN" sz="2400" b="1" kern="0" dirty="0">
                <a:solidFill>
                  <a:srgbClr val="FF0000"/>
                </a:solidFill>
              </a:rPr>
              <a:t>-</a:t>
            </a:r>
            <a:r>
              <a:rPr lang="en-US" altLang="zh-CN" sz="2400" b="1" kern="0" dirty="0"/>
              <a:t>1</a:t>
            </a:r>
          </a:p>
          <a:p>
            <a:pPr marL="0" indent="0">
              <a:buNone/>
            </a:pPr>
            <a:r>
              <a:rPr lang="en-US" altLang="zh-CN" sz="2400" b="1" kern="0" dirty="0"/>
              <a:t>    </a:t>
            </a:r>
            <a:r>
              <a:rPr lang="en-US" altLang="zh-CN" sz="2400" b="1" kern="0" dirty="0">
                <a:solidFill>
                  <a:srgbClr val="0000FF"/>
                </a:solidFill>
              </a:rPr>
              <a:t>until</a:t>
            </a:r>
            <a:r>
              <a:rPr lang="en-US" altLang="zh-CN" sz="2400" b="1" kern="0" dirty="0"/>
              <a:t> x</a:t>
            </a:r>
            <a:r>
              <a:rPr lang="en-US" altLang="zh-CN" sz="2400" b="1" kern="0" dirty="0">
                <a:solidFill>
                  <a:srgbClr val="FF0000"/>
                </a:solidFill>
              </a:rPr>
              <a:t>=</a:t>
            </a:r>
            <a:r>
              <a:rPr lang="en-US" altLang="zh-CN" sz="2400" b="1" kern="0" dirty="0"/>
              <a:t>0;</a:t>
            </a:r>
          </a:p>
          <a:p>
            <a:pPr marL="0" indent="0">
              <a:buNone/>
            </a:pPr>
            <a:r>
              <a:rPr lang="en-US" altLang="zh-CN" sz="2400" b="1" kern="0" dirty="0"/>
              <a:t>    </a:t>
            </a:r>
            <a:r>
              <a:rPr lang="en-US" altLang="zh-CN" sz="2400" b="1" kern="0" dirty="0">
                <a:solidFill>
                  <a:srgbClr val="0000FF"/>
                </a:solidFill>
              </a:rPr>
              <a:t>write</a:t>
            </a:r>
            <a:r>
              <a:rPr lang="en-US" altLang="zh-CN" sz="2400" b="1" kern="0" dirty="0"/>
              <a:t> fact </a:t>
            </a:r>
            <a:r>
              <a:rPr lang="en-US" altLang="zh-CN" sz="2400" b="1" kern="0" dirty="0">
                <a:solidFill>
                  <a:srgbClr val="00B050"/>
                </a:solidFill>
              </a:rPr>
              <a:t>{output factorial of x}</a:t>
            </a:r>
          </a:p>
          <a:p>
            <a:pPr marL="0" indent="0">
              <a:buNone/>
            </a:pPr>
            <a:r>
              <a:rPr lang="en-US" altLang="zh-CN" sz="2400" b="1" kern="0" dirty="0">
                <a:solidFill>
                  <a:srgbClr val="0000FF"/>
                </a:solidFill>
              </a:rPr>
              <a:t>end</a:t>
            </a:r>
            <a:endParaRPr lang="zh-CN" altLang="en-US" sz="2400" b="1" kern="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907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b="1" dirty="0"/>
              <a:t>Tiny</a:t>
            </a:r>
            <a:r>
              <a:rPr lang="zh-CN" altLang="en-US" sz="4000" b="1" dirty="0"/>
              <a:t>语言说明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23992" y="1988840"/>
            <a:ext cx="4330824" cy="403244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代码</a:t>
            </a:r>
            <a:r>
              <a:rPr lang="zh-CN" altLang="en-US" sz="2000" b="1" dirty="0">
                <a:solidFill>
                  <a:srgbClr val="FF0000"/>
                </a:solidFill>
              </a:rPr>
              <a:t>格式自由，空格、</a:t>
            </a:r>
            <a:r>
              <a:rPr lang="en-US" altLang="zh-CN" sz="2000" b="1" dirty="0">
                <a:solidFill>
                  <a:srgbClr val="FF0000"/>
                </a:solidFill>
              </a:rPr>
              <a:t>tab</a:t>
            </a:r>
            <a:r>
              <a:rPr lang="zh-CN" altLang="en-US" sz="2000" b="1" dirty="0">
                <a:solidFill>
                  <a:srgbClr val="FF0000"/>
                </a:solidFill>
              </a:rPr>
              <a:t>、换行</a:t>
            </a:r>
            <a:r>
              <a:rPr lang="zh-CN" altLang="en-US" sz="2000" b="1" dirty="0"/>
              <a:t>都可以用来作为</a:t>
            </a:r>
            <a:r>
              <a:rPr lang="zh-CN" altLang="en-US" sz="2000" b="1" dirty="0">
                <a:solidFill>
                  <a:srgbClr val="FF0000"/>
                </a:solidFill>
              </a:rPr>
              <a:t>分隔符</a:t>
            </a:r>
            <a:r>
              <a:rPr lang="zh-CN" altLang="zh-CN" sz="2000" b="1" dirty="0"/>
              <a:t>。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zh-CN" altLang="zh-CN" sz="2000" b="1" dirty="0"/>
              <a:t>在</a:t>
            </a:r>
            <a:r>
              <a:rPr lang="zh-CN" altLang="zh-CN" sz="2000" b="1" dirty="0">
                <a:solidFill>
                  <a:srgbClr val="FF0000"/>
                </a:solidFill>
              </a:rPr>
              <a:t>花括号</a:t>
            </a:r>
            <a:r>
              <a:rPr lang="zh-CN" altLang="zh-CN" sz="2000" b="1" dirty="0"/>
              <a:t>中可以有</a:t>
            </a:r>
            <a:r>
              <a:rPr lang="zh-CN" altLang="zh-CN" sz="2000" b="1" dirty="0">
                <a:solidFill>
                  <a:srgbClr val="FF0000"/>
                </a:solidFill>
              </a:rPr>
              <a:t>注释</a:t>
            </a:r>
            <a:r>
              <a:rPr lang="zh-CN" altLang="zh-CN" sz="2000" b="1" dirty="0"/>
              <a:t>，但注释</a:t>
            </a:r>
            <a:r>
              <a:rPr lang="zh-CN" altLang="zh-CN" sz="2000" b="1" dirty="0">
                <a:solidFill>
                  <a:srgbClr val="FF0000"/>
                </a:solidFill>
              </a:rPr>
              <a:t>不能嵌套</a:t>
            </a:r>
            <a:r>
              <a:rPr lang="zh-CN" altLang="zh-CN" sz="2000" b="1" dirty="0"/>
              <a:t>。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zh-CN" altLang="en-US" sz="2000" b="1" dirty="0"/>
              <a:t>遵循</a:t>
            </a:r>
            <a:r>
              <a:rPr lang="zh-CN" altLang="en-US" sz="2000" b="1" dirty="0">
                <a:solidFill>
                  <a:srgbClr val="FF0000"/>
                </a:solidFill>
              </a:rPr>
              <a:t>最长子串原则</a:t>
            </a:r>
            <a:r>
              <a:rPr lang="zh-CN" altLang="en-US" sz="2000" b="1" dirty="0"/>
              <a:t>。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FF0000"/>
                </a:solidFill>
              </a:rPr>
              <a:t>标识符</a:t>
            </a:r>
            <a:r>
              <a:rPr lang="zh-CN" altLang="en-US" sz="2000" b="1" dirty="0"/>
              <a:t>要求由字母组成，大小写敏感。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FF0000"/>
                </a:solidFill>
              </a:rPr>
              <a:t>数</a:t>
            </a:r>
            <a:r>
              <a:rPr lang="zh-CN" altLang="en-US" sz="2000" b="1" dirty="0"/>
              <a:t>支持无符号整数。</a:t>
            </a:r>
            <a:endParaRPr lang="en-US" altLang="zh-CN" sz="20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D429C-C85D-444C-8709-9515B2BFB96C}" type="slidenum">
              <a:rPr lang="zh-CN" altLang="en-US" b="1" smtClean="0"/>
              <a:pPr/>
              <a:t>7</a:t>
            </a:fld>
            <a:endParaRPr lang="en-US" altLang="zh-CN" b="1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2668B41-EC4F-FA71-3116-178407E8FF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805067"/>
            <a:ext cx="3855976" cy="4777280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kern="0" dirty="0">
                <a:solidFill>
                  <a:srgbClr val="0000FF"/>
                </a:solidFill>
              </a:rPr>
              <a:t>read</a:t>
            </a:r>
            <a:r>
              <a:rPr lang="en-US" altLang="zh-CN" sz="2400" b="1" kern="0" dirty="0"/>
              <a:t> x; </a:t>
            </a:r>
            <a:r>
              <a:rPr lang="en-US" altLang="zh-CN" sz="2400" b="1" kern="0" dirty="0">
                <a:solidFill>
                  <a:srgbClr val="00B050"/>
                </a:solidFill>
              </a:rPr>
              <a:t>{input an integer}</a:t>
            </a:r>
          </a:p>
          <a:p>
            <a:pPr marL="0" indent="0">
              <a:buNone/>
            </a:pPr>
            <a:r>
              <a:rPr lang="en-US" altLang="zh-CN" sz="2400" b="1" kern="0" dirty="0">
                <a:solidFill>
                  <a:srgbClr val="0000FF"/>
                </a:solidFill>
              </a:rPr>
              <a:t>if</a:t>
            </a:r>
            <a:r>
              <a:rPr lang="en-US" altLang="zh-CN" sz="2400" b="1" kern="0" dirty="0"/>
              <a:t> 0</a:t>
            </a:r>
            <a:r>
              <a:rPr lang="en-US" altLang="zh-CN" sz="2400" b="1" kern="0" dirty="0">
                <a:solidFill>
                  <a:srgbClr val="FF0000"/>
                </a:solidFill>
              </a:rPr>
              <a:t>&lt;</a:t>
            </a:r>
            <a:r>
              <a:rPr lang="en-US" altLang="zh-CN" sz="2400" b="1" kern="0" dirty="0"/>
              <a:t>x </a:t>
            </a:r>
            <a:r>
              <a:rPr lang="en-US" altLang="zh-CN" sz="2400" b="1" kern="0" dirty="0">
                <a:solidFill>
                  <a:srgbClr val="0000FF"/>
                </a:solidFill>
              </a:rPr>
              <a:t>then</a:t>
            </a:r>
            <a:r>
              <a:rPr lang="en-US" altLang="zh-CN" sz="2400" b="1" kern="0" dirty="0"/>
              <a:t> </a:t>
            </a:r>
            <a:r>
              <a:rPr lang="en-US" altLang="zh-CN" sz="2400" b="1" kern="0" dirty="0">
                <a:solidFill>
                  <a:srgbClr val="00B050"/>
                </a:solidFill>
              </a:rPr>
              <a:t>{don</a:t>
            </a:r>
            <a:r>
              <a:rPr lang="en-US" altLang="zh-CN" sz="2400" b="1" kern="0" dirty="0">
                <a:solidFill>
                  <a:srgbClr val="00B050"/>
                </a:solidFill>
                <a:latin typeface="Arial"/>
              </a:rPr>
              <a:t>’</a:t>
            </a:r>
            <a:r>
              <a:rPr lang="en-US" altLang="zh-CN" sz="2400" b="1" kern="0" dirty="0">
                <a:solidFill>
                  <a:srgbClr val="00B050"/>
                </a:solidFill>
              </a:rPr>
              <a:t>t compute if x &lt;=0}</a:t>
            </a:r>
          </a:p>
          <a:p>
            <a:pPr marL="0" indent="0">
              <a:buNone/>
            </a:pPr>
            <a:r>
              <a:rPr lang="en-US" altLang="zh-CN" sz="2400" b="1" kern="0" dirty="0"/>
              <a:t>    fact</a:t>
            </a:r>
            <a:r>
              <a:rPr lang="en-US" altLang="zh-CN" sz="2400" b="1" kern="0" dirty="0">
                <a:solidFill>
                  <a:srgbClr val="FF0000"/>
                </a:solidFill>
              </a:rPr>
              <a:t>:=</a:t>
            </a:r>
            <a:r>
              <a:rPr lang="en-US" altLang="zh-CN" sz="2400" b="1" kern="0" dirty="0"/>
              <a:t>1;</a:t>
            </a:r>
          </a:p>
          <a:p>
            <a:pPr marL="0" indent="0">
              <a:buNone/>
            </a:pPr>
            <a:r>
              <a:rPr lang="en-US" altLang="zh-CN" sz="2400" b="1" kern="0" dirty="0"/>
              <a:t>    </a:t>
            </a:r>
            <a:r>
              <a:rPr lang="en-US" altLang="zh-CN" sz="2400" b="1" kern="0" dirty="0">
                <a:solidFill>
                  <a:srgbClr val="0000FF"/>
                </a:solidFill>
              </a:rPr>
              <a:t>repeat</a:t>
            </a:r>
          </a:p>
          <a:p>
            <a:pPr marL="0" indent="0">
              <a:buNone/>
            </a:pPr>
            <a:r>
              <a:rPr lang="en-US" altLang="zh-CN" sz="2400" b="1" kern="0" dirty="0"/>
              <a:t>        fact </a:t>
            </a:r>
            <a:r>
              <a:rPr lang="en-US" altLang="zh-CN" sz="2400" b="1" kern="0" dirty="0">
                <a:solidFill>
                  <a:srgbClr val="FF0000"/>
                </a:solidFill>
              </a:rPr>
              <a:t>:=</a:t>
            </a:r>
            <a:r>
              <a:rPr lang="en-US" altLang="zh-CN" sz="2400" b="1" kern="0" dirty="0"/>
              <a:t>fact </a:t>
            </a:r>
            <a:r>
              <a:rPr lang="en-US" altLang="zh-CN" sz="2400" b="1" kern="0" dirty="0">
                <a:solidFill>
                  <a:srgbClr val="FF0000"/>
                </a:solidFill>
              </a:rPr>
              <a:t>*</a:t>
            </a:r>
            <a:r>
              <a:rPr lang="en-US" altLang="zh-CN" sz="2400" b="1" kern="0" dirty="0"/>
              <a:t>x;</a:t>
            </a:r>
          </a:p>
          <a:p>
            <a:pPr marL="0" indent="0">
              <a:buNone/>
            </a:pPr>
            <a:r>
              <a:rPr lang="en-US" altLang="zh-CN" sz="2400" b="1" kern="0" dirty="0"/>
              <a:t>        x</a:t>
            </a:r>
            <a:r>
              <a:rPr lang="en-US" altLang="zh-CN" sz="2400" b="1" kern="0" dirty="0">
                <a:solidFill>
                  <a:srgbClr val="FF0000"/>
                </a:solidFill>
              </a:rPr>
              <a:t>:=</a:t>
            </a:r>
            <a:r>
              <a:rPr lang="en-US" altLang="zh-CN" sz="2400" b="1" kern="0" dirty="0"/>
              <a:t>x</a:t>
            </a:r>
            <a:r>
              <a:rPr lang="en-US" altLang="zh-CN" sz="2400" b="1" kern="0" dirty="0">
                <a:solidFill>
                  <a:srgbClr val="FF0000"/>
                </a:solidFill>
              </a:rPr>
              <a:t>-</a:t>
            </a:r>
            <a:r>
              <a:rPr lang="en-US" altLang="zh-CN" sz="2400" b="1" kern="0" dirty="0"/>
              <a:t>1</a:t>
            </a:r>
          </a:p>
          <a:p>
            <a:pPr marL="0" indent="0">
              <a:buNone/>
            </a:pPr>
            <a:r>
              <a:rPr lang="en-US" altLang="zh-CN" sz="2400" b="1" kern="0" dirty="0"/>
              <a:t>    </a:t>
            </a:r>
            <a:r>
              <a:rPr lang="en-US" altLang="zh-CN" sz="2400" b="1" kern="0" dirty="0">
                <a:solidFill>
                  <a:srgbClr val="0000FF"/>
                </a:solidFill>
              </a:rPr>
              <a:t>until</a:t>
            </a:r>
            <a:r>
              <a:rPr lang="en-US" altLang="zh-CN" sz="2400" b="1" kern="0" dirty="0"/>
              <a:t> x</a:t>
            </a:r>
            <a:r>
              <a:rPr lang="en-US" altLang="zh-CN" sz="2400" b="1" kern="0" dirty="0">
                <a:solidFill>
                  <a:srgbClr val="FF0000"/>
                </a:solidFill>
              </a:rPr>
              <a:t>=</a:t>
            </a:r>
            <a:r>
              <a:rPr lang="en-US" altLang="zh-CN" sz="2400" b="1" kern="0" dirty="0"/>
              <a:t>0;</a:t>
            </a:r>
          </a:p>
          <a:p>
            <a:pPr marL="0" indent="0">
              <a:buNone/>
            </a:pPr>
            <a:r>
              <a:rPr lang="en-US" altLang="zh-CN" sz="2400" b="1" kern="0" dirty="0"/>
              <a:t>    </a:t>
            </a:r>
            <a:r>
              <a:rPr lang="en-US" altLang="zh-CN" sz="2400" b="1" kern="0" dirty="0">
                <a:solidFill>
                  <a:srgbClr val="0000FF"/>
                </a:solidFill>
              </a:rPr>
              <a:t>write</a:t>
            </a:r>
            <a:r>
              <a:rPr lang="en-US" altLang="zh-CN" sz="2400" b="1" kern="0" dirty="0"/>
              <a:t> fact </a:t>
            </a:r>
            <a:r>
              <a:rPr lang="en-US" altLang="zh-CN" sz="2400" b="1" kern="0" dirty="0">
                <a:solidFill>
                  <a:srgbClr val="00B050"/>
                </a:solidFill>
              </a:rPr>
              <a:t>{output factorial of x}</a:t>
            </a:r>
          </a:p>
          <a:p>
            <a:pPr marL="0" indent="0">
              <a:buNone/>
            </a:pPr>
            <a:r>
              <a:rPr lang="en-US" altLang="zh-CN" sz="2400" b="1" kern="0" dirty="0">
                <a:solidFill>
                  <a:srgbClr val="0000FF"/>
                </a:solidFill>
              </a:rPr>
              <a:t>end</a:t>
            </a:r>
            <a:endParaRPr lang="zh-CN" altLang="en-US" sz="2400" b="1" kern="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684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b="1" dirty="0"/>
              <a:t>Tiny</a:t>
            </a:r>
            <a:r>
              <a:rPr lang="zh-CN" altLang="en-US" sz="4000" b="1" dirty="0"/>
              <a:t>语言词法说明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9616" y="1458168"/>
            <a:ext cx="7056784" cy="4995168"/>
          </a:xfrm>
          <a:solidFill>
            <a:schemeClr val="bg1"/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FF0000"/>
                </a:solidFill>
              </a:rPr>
              <a:t>保留字                 运算符                       其他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2400" b="1" dirty="0"/>
              <a:t>if	    		+                         number</a:t>
            </a:r>
          </a:p>
          <a:p>
            <a:pPr marL="0" indent="0">
              <a:buNone/>
            </a:pPr>
            <a:r>
              <a:rPr lang="en-US" altLang="zh-CN" sz="2400" b="1" dirty="0"/>
              <a:t>then	   		-                  </a:t>
            </a:r>
          </a:p>
          <a:p>
            <a:pPr marL="0" indent="0">
              <a:buNone/>
            </a:pPr>
            <a:r>
              <a:rPr lang="en-US" altLang="zh-CN" sz="2400" b="1" dirty="0"/>
              <a:t>else	    		*                 </a:t>
            </a:r>
          </a:p>
          <a:p>
            <a:pPr marL="0" indent="0">
              <a:buNone/>
            </a:pPr>
            <a:r>
              <a:rPr lang="en-US" altLang="zh-CN" sz="2400" b="1" dirty="0"/>
              <a:t>end	    		/</a:t>
            </a:r>
          </a:p>
          <a:p>
            <a:pPr marL="0" indent="0">
              <a:buNone/>
            </a:pPr>
            <a:r>
              <a:rPr lang="en-US" altLang="zh-CN" sz="2400" b="1" dirty="0"/>
              <a:t>repeat             	=</a:t>
            </a:r>
          </a:p>
          <a:p>
            <a:pPr marL="0" indent="0">
              <a:buNone/>
            </a:pPr>
            <a:r>
              <a:rPr lang="en-US" altLang="zh-CN" sz="2400" b="1" dirty="0"/>
              <a:t>until               	&lt;                         identifier</a:t>
            </a:r>
          </a:p>
          <a:p>
            <a:pPr marL="0" indent="0">
              <a:buNone/>
            </a:pPr>
            <a:r>
              <a:rPr lang="en-US" altLang="zh-CN" sz="2400" b="1" dirty="0"/>
              <a:t>read              		(</a:t>
            </a:r>
          </a:p>
          <a:p>
            <a:pPr marL="0" indent="0">
              <a:buNone/>
            </a:pPr>
            <a:r>
              <a:rPr lang="en-US" altLang="zh-CN" sz="2400" b="1" dirty="0"/>
              <a:t>write              	)   </a:t>
            </a:r>
          </a:p>
          <a:p>
            <a:pPr marL="0" indent="0">
              <a:buNone/>
            </a:pPr>
            <a:r>
              <a:rPr lang="en-US" altLang="zh-CN" sz="2400" b="1" dirty="0"/>
              <a:t>		 	;</a:t>
            </a:r>
          </a:p>
          <a:p>
            <a:pPr marL="0" indent="0">
              <a:buNone/>
            </a:pPr>
            <a:r>
              <a:rPr lang="en-US" altLang="zh-CN" sz="2400" b="1" dirty="0"/>
              <a:t>                  		:=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915733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5D93E9-8CF3-6171-601E-EAB7BDDE6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D429C-C85D-444C-8709-9515B2BFB96C}" type="slidenum">
              <a:rPr lang="zh-CN" altLang="en-US" smtClean="0"/>
              <a:pPr/>
              <a:t>9</a:t>
            </a:fld>
            <a:endParaRPr lang="en-US" altLang="zh-CN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4D7C6F-EE53-2DBC-70E8-FC240214810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55440" y="2132856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请使用</a:t>
            </a:r>
            <a:r>
              <a:rPr lang="en-US" altLang="zh-CN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tiny</a:t>
            </a:r>
            <a:r>
              <a:rPr lang="zh-CN" altLang="en-US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语言编写一个源程序保存为</a:t>
            </a:r>
            <a:r>
              <a:rPr lang="en-US" altLang="zh-CN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2.tny</a:t>
            </a:r>
            <a:r>
              <a:rPr lang="zh-CN" altLang="en-US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，要求使用到所有的语法元素。</a:t>
            </a:r>
            <a:endParaRPr lang="en-US" altLang="zh-CN" sz="2800" b="1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FF15AEB-A002-3F0F-5316-532D6D73B44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904FF0AA-05A2-F7F3-A968-4380704902DC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9" name="TitleBackground">
              <a:extLst>
                <a:ext uri="{FF2B5EF4-FFF2-40B4-BE49-F238E27FC236}">
                  <a16:creationId xmlns:a16="http://schemas.microsoft.com/office/drawing/2014/main" id="{1CB83297-01C7-0F15-EEA4-B2F8D6DCA46F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ColorBlock">
              <a:extLst>
                <a:ext uri="{FF2B5EF4-FFF2-40B4-BE49-F238E27FC236}">
                  <a16:creationId xmlns:a16="http://schemas.microsoft.com/office/drawing/2014/main" id="{D7F9AF21-6E56-9450-A552-C65D241A260D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ypeText">
              <a:extLst>
                <a:ext uri="{FF2B5EF4-FFF2-40B4-BE49-F238E27FC236}">
                  <a16:creationId xmlns:a16="http://schemas.microsoft.com/office/drawing/2014/main" id="{05820F70-3C05-59C2-A1F6-A709AF5C60AF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2" name="TipText">
              <a:extLst>
                <a:ext uri="{FF2B5EF4-FFF2-40B4-BE49-F238E27FC236}">
                  <a16:creationId xmlns:a16="http://schemas.microsoft.com/office/drawing/2014/main" id="{D78A7FEF-7C50-4327-F537-746826CF5DF9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21E8C60F-BE3A-6EF6-7679-6EB85598F3FF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61513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3DF887E-C914-17D8-8A4B-F4D17D68E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887EB-56B6-495C-A97E-40D7B15055BD}" type="slidenum">
              <a:rPr lang="zh-CN" altLang="en-US" smtClean="0"/>
              <a:pPr/>
              <a:t>10</a:t>
            </a:fld>
            <a:endParaRPr lang="en-US" altLang="zh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EFB5491-39BD-5571-D32D-25BC8D4B2F9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183798" y="2060848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请使用</a:t>
            </a:r>
            <a:r>
              <a:rPr lang="en-US" altLang="zh-CN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tiny</a:t>
            </a:r>
            <a:r>
              <a:rPr lang="zh-CN" altLang="en-US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语言编写一个源程序保存为</a:t>
            </a:r>
            <a:r>
              <a:rPr lang="en-US" altLang="zh-CN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3.tny</a:t>
            </a:r>
            <a:r>
              <a:rPr lang="zh-CN" altLang="en-US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，要求包含</a:t>
            </a:r>
            <a:r>
              <a:rPr lang="en-US" altLang="zh-CN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个词法错误。</a:t>
            </a:r>
            <a:endParaRPr lang="en-US" altLang="zh-CN" sz="2800" b="1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AEDD968-E701-84E1-9EAF-1DA8C5DB6AF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0D60A2B7-9A6F-76E9-F1D9-14CD858EE15F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7" name="TitleBackground">
              <a:extLst>
                <a:ext uri="{FF2B5EF4-FFF2-40B4-BE49-F238E27FC236}">
                  <a16:creationId xmlns:a16="http://schemas.microsoft.com/office/drawing/2014/main" id="{333D5672-C501-FC49-3AE4-F896E7F65C69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ColorBlock">
              <a:extLst>
                <a:ext uri="{FF2B5EF4-FFF2-40B4-BE49-F238E27FC236}">
                  <a16:creationId xmlns:a16="http://schemas.microsoft.com/office/drawing/2014/main" id="{8B592242-3E6B-F837-FDCF-6246CBB7CB05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ypeText">
              <a:extLst>
                <a:ext uri="{FF2B5EF4-FFF2-40B4-BE49-F238E27FC236}">
                  <a16:creationId xmlns:a16="http://schemas.microsoft.com/office/drawing/2014/main" id="{0C68A7F7-5F86-7B26-05D9-BD57653855BD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0" name="TipText">
              <a:extLst>
                <a:ext uri="{FF2B5EF4-FFF2-40B4-BE49-F238E27FC236}">
                  <a16:creationId xmlns:a16="http://schemas.microsoft.com/office/drawing/2014/main" id="{07E6E05C-C6C0-42CC-5A3F-8B5E4CEA4B32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1D5FC4EB-BE68-F931-BF27-556D269FCADC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69243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矩形 54"/>
          <p:cNvSpPr/>
          <p:nvPr/>
        </p:nvSpPr>
        <p:spPr bwMode="auto">
          <a:xfrm>
            <a:off x="2191366" y="2000378"/>
            <a:ext cx="7884876" cy="4104455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rgbClr val="9999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 dirty="0">
              <a:ea typeface="黑体" pitchFamily="2" charset="-122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215680" y="2420888"/>
            <a:ext cx="5832648" cy="3384376"/>
            <a:chOff x="1980" y="1596"/>
            <a:chExt cx="4500" cy="3900"/>
          </a:xfrm>
          <a:noFill/>
        </p:grpSpPr>
        <p:sp>
          <p:nvSpPr>
            <p:cNvPr id="289797" name="Oval 5"/>
            <p:cNvSpPr>
              <a:spLocks noChangeArrowheads="1"/>
            </p:cNvSpPr>
            <p:nvPr/>
          </p:nvSpPr>
          <p:spPr bwMode="auto">
            <a:xfrm>
              <a:off x="2880" y="3000"/>
              <a:ext cx="540" cy="624"/>
            </a:xfrm>
            <a:prstGeom prst="ellipse">
              <a:avLst/>
            </a:prstGeom>
            <a:grp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l"/>
              <a:endParaRPr lang="zh-CN" altLang="en-US" sz="1500"/>
            </a:p>
          </p:txBody>
        </p:sp>
        <p:sp>
          <p:nvSpPr>
            <p:cNvPr id="289798" name="Line 6"/>
            <p:cNvSpPr>
              <a:spLocks noChangeShapeType="1"/>
            </p:cNvSpPr>
            <p:nvPr/>
          </p:nvSpPr>
          <p:spPr bwMode="auto">
            <a:xfrm>
              <a:off x="1980" y="3312"/>
              <a:ext cx="900" cy="0"/>
            </a:xfrm>
            <a:prstGeom prst="line">
              <a:avLst/>
            </a:prstGeom>
            <a:grp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289799" name="AutoShape 7"/>
            <p:cNvSpPr>
              <a:spLocks noChangeArrowheads="1"/>
            </p:cNvSpPr>
            <p:nvPr/>
          </p:nvSpPr>
          <p:spPr bwMode="auto">
            <a:xfrm>
              <a:off x="4500" y="1596"/>
              <a:ext cx="540" cy="624"/>
            </a:xfrm>
            <a:custGeom>
              <a:avLst/>
              <a:gdLst>
                <a:gd name="G0" fmla="+- 2700 0 0"/>
                <a:gd name="G1" fmla="+- 21600 0 2700"/>
                <a:gd name="G2" fmla="+- 21600 0 2700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700" y="10800"/>
                  </a:moveTo>
                  <a:cubicBezTo>
                    <a:pt x="2700" y="15274"/>
                    <a:pt x="6326" y="18900"/>
                    <a:pt x="10800" y="18900"/>
                  </a:cubicBezTo>
                  <a:cubicBezTo>
                    <a:pt x="15274" y="18900"/>
                    <a:pt x="18900" y="15274"/>
                    <a:pt x="18900" y="10800"/>
                  </a:cubicBezTo>
                  <a:cubicBezTo>
                    <a:pt x="18900" y="6326"/>
                    <a:pt x="15274" y="2700"/>
                    <a:pt x="10800" y="2700"/>
                  </a:cubicBezTo>
                  <a:cubicBezTo>
                    <a:pt x="6326" y="2700"/>
                    <a:pt x="2700" y="6326"/>
                    <a:pt x="2700" y="10800"/>
                  </a:cubicBezTo>
                  <a:close/>
                </a:path>
              </a:pathLst>
            </a:custGeom>
            <a:grp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289800" name="Line 8"/>
            <p:cNvSpPr>
              <a:spLocks noChangeShapeType="1"/>
            </p:cNvSpPr>
            <p:nvPr/>
          </p:nvSpPr>
          <p:spPr bwMode="auto">
            <a:xfrm flipV="1">
              <a:off x="3240" y="1908"/>
              <a:ext cx="1260" cy="1092"/>
            </a:xfrm>
            <a:prstGeom prst="line">
              <a:avLst/>
            </a:prstGeom>
            <a:grp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289801" name="AutoShape 9"/>
            <p:cNvSpPr>
              <a:spLocks noChangeArrowheads="1"/>
            </p:cNvSpPr>
            <p:nvPr/>
          </p:nvSpPr>
          <p:spPr bwMode="auto">
            <a:xfrm>
              <a:off x="4500" y="2532"/>
              <a:ext cx="540" cy="624"/>
            </a:xfrm>
            <a:custGeom>
              <a:avLst/>
              <a:gdLst>
                <a:gd name="G0" fmla="+- 2700 0 0"/>
                <a:gd name="G1" fmla="+- 21600 0 2700"/>
                <a:gd name="G2" fmla="+- 21600 0 2700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700" y="10800"/>
                  </a:moveTo>
                  <a:cubicBezTo>
                    <a:pt x="2700" y="15274"/>
                    <a:pt x="6326" y="18900"/>
                    <a:pt x="10800" y="18900"/>
                  </a:cubicBezTo>
                  <a:cubicBezTo>
                    <a:pt x="15274" y="18900"/>
                    <a:pt x="18900" y="15274"/>
                    <a:pt x="18900" y="10800"/>
                  </a:cubicBezTo>
                  <a:cubicBezTo>
                    <a:pt x="18900" y="6326"/>
                    <a:pt x="15274" y="2700"/>
                    <a:pt x="10800" y="2700"/>
                  </a:cubicBezTo>
                  <a:cubicBezTo>
                    <a:pt x="6326" y="2700"/>
                    <a:pt x="2700" y="6326"/>
                    <a:pt x="2700" y="10800"/>
                  </a:cubicBezTo>
                  <a:close/>
                </a:path>
              </a:pathLst>
            </a:custGeom>
            <a:grp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289802" name="Line 10"/>
            <p:cNvSpPr>
              <a:spLocks noChangeShapeType="1"/>
            </p:cNvSpPr>
            <p:nvPr/>
          </p:nvSpPr>
          <p:spPr bwMode="auto">
            <a:xfrm flipV="1">
              <a:off x="3420" y="2844"/>
              <a:ext cx="1080" cy="312"/>
            </a:xfrm>
            <a:prstGeom prst="line">
              <a:avLst/>
            </a:prstGeom>
            <a:grp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289803" name="AutoShape 11"/>
            <p:cNvSpPr>
              <a:spLocks noChangeArrowheads="1"/>
            </p:cNvSpPr>
            <p:nvPr/>
          </p:nvSpPr>
          <p:spPr bwMode="auto">
            <a:xfrm>
              <a:off x="4500" y="4872"/>
              <a:ext cx="540" cy="624"/>
            </a:xfrm>
            <a:custGeom>
              <a:avLst/>
              <a:gdLst>
                <a:gd name="G0" fmla="+- 2700 0 0"/>
                <a:gd name="G1" fmla="+- 21600 0 2700"/>
                <a:gd name="G2" fmla="+- 21600 0 2700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700" y="10800"/>
                  </a:moveTo>
                  <a:cubicBezTo>
                    <a:pt x="2700" y="15274"/>
                    <a:pt x="6326" y="18900"/>
                    <a:pt x="10800" y="18900"/>
                  </a:cubicBezTo>
                  <a:cubicBezTo>
                    <a:pt x="15274" y="18900"/>
                    <a:pt x="18900" y="15274"/>
                    <a:pt x="18900" y="10800"/>
                  </a:cubicBezTo>
                  <a:cubicBezTo>
                    <a:pt x="18900" y="6326"/>
                    <a:pt x="15274" y="2700"/>
                    <a:pt x="10800" y="2700"/>
                  </a:cubicBezTo>
                  <a:cubicBezTo>
                    <a:pt x="6326" y="2700"/>
                    <a:pt x="2700" y="6326"/>
                    <a:pt x="2700" y="10800"/>
                  </a:cubicBezTo>
                  <a:close/>
                </a:path>
              </a:pathLst>
            </a:custGeom>
            <a:grp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289804" name="Line 12"/>
            <p:cNvSpPr>
              <a:spLocks noChangeShapeType="1"/>
            </p:cNvSpPr>
            <p:nvPr/>
          </p:nvSpPr>
          <p:spPr bwMode="auto">
            <a:xfrm>
              <a:off x="3240" y="3624"/>
              <a:ext cx="1260" cy="1560"/>
            </a:xfrm>
            <a:prstGeom prst="line">
              <a:avLst/>
            </a:prstGeom>
            <a:grp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289805" name="Rectangle 13"/>
            <p:cNvSpPr>
              <a:spLocks noChangeArrowheads="1"/>
            </p:cNvSpPr>
            <p:nvPr/>
          </p:nvSpPr>
          <p:spPr bwMode="auto">
            <a:xfrm>
              <a:off x="3420" y="2064"/>
              <a:ext cx="180" cy="31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/>
              <a:r>
                <a:rPr lang="en-US" altLang="zh-CN" sz="1500" b="1"/>
                <a:t>+</a:t>
              </a:r>
            </a:p>
          </p:txBody>
        </p:sp>
        <p:sp>
          <p:nvSpPr>
            <p:cNvPr id="289806" name="Rectangle 14"/>
            <p:cNvSpPr>
              <a:spLocks noChangeArrowheads="1"/>
            </p:cNvSpPr>
            <p:nvPr/>
          </p:nvSpPr>
          <p:spPr bwMode="auto">
            <a:xfrm>
              <a:off x="3960" y="2532"/>
              <a:ext cx="180" cy="31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/>
              <a:r>
                <a:rPr lang="en-US" altLang="zh-CN" sz="1500" b="1"/>
                <a:t>-</a:t>
              </a:r>
            </a:p>
          </p:txBody>
        </p:sp>
        <p:sp>
          <p:nvSpPr>
            <p:cNvPr id="289807" name="Rectangle 15"/>
            <p:cNvSpPr>
              <a:spLocks noChangeArrowheads="1"/>
            </p:cNvSpPr>
            <p:nvPr/>
          </p:nvSpPr>
          <p:spPr bwMode="auto">
            <a:xfrm>
              <a:off x="5220" y="1752"/>
              <a:ext cx="1260" cy="31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/>
              <a:r>
                <a:rPr lang="en-US" altLang="zh-CN" sz="1500" b="1" dirty="0"/>
                <a:t>return PLUS</a:t>
              </a:r>
            </a:p>
          </p:txBody>
        </p:sp>
        <p:sp>
          <p:nvSpPr>
            <p:cNvPr id="289808" name="Rectangle 16"/>
            <p:cNvSpPr>
              <a:spLocks noChangeArrowheads="1"/>
            </p:cNvSpPr>
            <p:nvPr/>
          </p:nvSpPr>
          <p:spPr bwMode="auto">
            <a:xfrm>
              <a:off x="5220" y="5028"/>
              <a:ext cx="1260" cy="31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/>
              <a:r>
                <a:rPr lang="en-US" altLang="zh-CN" sz="1500" b="1"/>
                <a:t>return SEMI</a:t>
              </a:r>
            </a:p>
          </p:txBody>
        </p:sp>
        <p:sp>
          <p:nvSpPr>
            <p:cNvPr id="289809" name="Rectangle 17"/>
            <p:cNvSpPr>
              <a:spLocks noChangeArrowheads="1"/>
            </p:cNvSpPr>
            <p:nvPr/>
          </p:nvSpPr>
          <p:spPr bwMode="auto">
            <a:xfrm>
              <a:off x="4140" y="4248"/>
              <a:ext cx="180" cy="31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/>
              <a:r>
                <a:rPr lang="en-US" altLang="zh-CN" sz="1500" b="1"/>
                <a:t>;</a:t>
              </a:r>
            </a:p>
          </p:txBody>
        </p:sp>
        <p:grpSp>
          <p:nvGrpSpPr>
            <p:cNvPr id="3" name="Group 18"/>
            <p:cNvGrpSpPr>
              <a:grpSpLocks/>
            </p:cNvGrpSpPr>
            <p:nvPr/>
          </p:nvGrpSpPr>
          <p:grpSpPr bwMode="auto">
            <a:xfrm>
              <a:off x="3420" y="3312"/>
              <a:ext cx="1260" cy="0"/>
              <a:chOff x="7200" y="3468"/>
              <a:chExt cx="1260" cy="0"/>
            </a:xfrm>
            <a:grpFill/>
          </p:grpSpPr>
          <p:sp>
            <p:nvSpPr>
              <p:cNvPr id="289811" name="Line 19"/>
              <p:cNvSpPr>
                <a:spLocks noChangeShapeType="1"/>
              </p:cNvSpPr>
              <p:nvPr/>
            </p:nvSpPr>
            <p:spPr bwMode="auto">
              <a:xfrm>
                <a:off x="7200" y="3468"/>
                <a:ext cx="180" cy="0"/>
              </a:xfrm>
              <a:prstGeom prst="lin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500"/>
              </a:p>
            </p:txBody>
          </p:sp>
          <p:sp>
            <p:nvSpPr>
              <p:cNvPr id="289812" name="Line 20"/>
              <p:cNvSpPr>
                <a:spLocks noChangeShapeType="1"/>
              </p:cNvSpPr>
              <p:nvPr/>
            </p:nvSpPr>
            <p:spPr bwMode="auto">
              <a:xfrm>
                <a:off x="7560" y="3468"/>
                <a:ext cx="180" cy="0"/>
              </a:xfrm>
              <a:prstGeom prst="lin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500"/>
              </a:p>
            </p:txBody>
          </p:sp>
          <p:sp>
            <p:nvSpPr>
              <p:cNvPr id="289813" name="Line 21"/>
              <p:cNvSpPr>
                <a:spLocks noChangeShapeType="1"/>
              </p:cNvSpPr>
              <p:nvPr/>
            </p:nvSpPr>
            <p:spPr bwMode="auto">
              <a:xfrm>
                <a:off x="7920" y="3468"/>
                <a:ext cx="180" cy="0"/>
              </a:xfrm>
              <a:prstGeom prst="lin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500"/>
              </a:p>
            </p:txBody>
          </p:sp>
          <p:sp>
            <p:nvSpPr>
              <p:cNvPr id="289814" name="Line 22"/>
              <p:cNvSpPr>
                <a:spLocks noChangeShapeType="1"/>
              </p:cNvSpPr>
              <p:nvPr/>
            </p:nvSpPr>
            <p:spPr bwMode="auto">
              <a:xfrm>
                <a:off x="8280" y="3468"/>
                <a:ext cx="180" cy="0"/>
              </a:xfrm>
              <a:prstGeom prst="lin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500"/>
              </a:p>
            </p:txBody>
          </p:sp>
        </p:grpSp>
        <p:grpSp>
          <p:nvGrpSpPr>
            <p:cNvPr id="4" name="Group 23"/>
            <p:cNvGrpSpPr>
              <a:grpSpLocks/>
            </p:cNvGrpSpPr>
            <p:nvPr/>
          </p:nvGrpSpPr>
          <p:grpSpPr bwMode="auto">
            <a:xfrm>
              <a:off x="3420" y="3468"/>
              <a:ext cx="1260" cy="1092"/>
              <a:chOff x="7560" y="3000"/>
              <a:chExt cx="1260" cy="1092"/>
            </a:xfrm>
            <a:grpFill/>
          </p:grpSpPr>
          <p:sp>
            <p:nvSpPr>
              <p:cNvPr id="289816" name="Line 24"/>
              <p:cNvSpPr>
                <a:spLocks noChangeShapeType="1"/>
              </p:cNvSpPr>
              <p:nvPr/>
            </p:nvSpPr>
            <p:spPr bwMode="auto">
              <a:xfrm>
                <a:off x="7560" y="3000"/>
                <a:ext cx="180" cy="156"/>
              </a:xfrm>
              <a:prstGeom prst="lin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500"/>
              </a:p>
            </p:txBody>
          </p:sp>
          <p:sp>
            <p:nvSpPr>
              <p:cNvPr id="289817" name="Line 25"/>
              <p:cNvSpPr>
                <a:spLocks noChangeShapeType="1"/>
              </p:cNvSpPr>
              <p:nvPr/>
            </p:nvSpPr>
            <p:spPr bwMode="auto">
              <a:xfrm>
                <a:off x="7920" y="3312"/>
                <a:ext cx="180" cy="156"/>
              </a:xfrm>
              <a:prstGeom prst="lin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500"/>
              </a:p>
            </p:txBody>
          </p:sp>
          <p:sp>
            <p:nvSpPr>
              <p:cNvPr id="289818" name="Line 26"/>
              <p:cNvSpPr>
                <a:spLocks noChangeShapeType="1"/>
              </p:cNvSpPr>
              <p:nvPr/>
            </p:nvSpPr>
            <p:spPr bwMode="auto">
              <a:xfrm>
                <a:off x="8280" y="3624"/>
                <a:ext cx="180" cy="156"/>
              </a:xfrm>
              <a:prstGeom prst="lin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500"/>
              </a:p>
            </p:txBody>
          </p:sp>
          <p:sp>
            <p:nvSpPr>
              <p:cNvPr id="289819" name="Line 27"/>
              <p:cNvSpPr>
                <a:spLocks noChangeShapeType="1"/>
              </p:cNvSpPr>
              <p:nvPr/>
            </p:nvSpPr>
            <p:spPr bwMode="auto">
              <a:xfrm>
                <a:off x="8640" y="3936"/>
                <a:ext cx="180" cy="156"/>
              </a:xfrm>
              <a:prstGeom prst="lin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500"/>
              </a:p>
            </p:txBody>
          </p:sp>
        </p:grpSp>
      </p:grpSp>
      <p:sp>
        <p:nvSpPr>
          <p:cNvPr id="7" name="标题 1">
            <a:extLst>
              <a:ext uri="{FF2B5EF4-FFF2-40B4-BE49-F238E27FC236}">
                <a16:creationId xmlns:a16="http://schemas.microsoft.com/office/drawing/2014/main" id="{E9CC63EE-89C7-E5A6-98B4-AE1974CB335E}"/>
              </a:ext>
            </a:extLst>
          </p:cNvPr>
          <p:cNvSpPr txBox="1">
            <a:spLocks/>
          </p:cNvSpPr>
          <p:nvPr/>
        </p:nvSpPr>
        <p:spPr bwMode="auto">
          <a:xfrm>
            <a:off x="2133600" y="4270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zh-CN" b="1" kern="0"/>
              <a:t>Tiny</a:t>
            </a:r>
            <a:r>
              <a:rPr lang="zh-CN" altLang="en-US" b="1" kern="0"/>
              <a:t>词法</a:t>
            </a:r>
            <a:r>
              <a:rPr lang="en-US" altLang="zh-CN" b="1" kern="0"/>
              <a:t>DFA</a:t>
            </a:r>
            <a:endParaRPr lang="zh-CN" altLang="en-US" kern="0" dirty="0"/>
          </a:p>
        </p:txBody>
      </p:sp>
    </p:spTree>
    <p:extLst>
      <p:ext uri="{BB962C8B-B14F-4D97-AF65-F5344CB8AC3E}">
        <p14:creationId xmlns:p14="http://schemas.microsoft.com/office/powerpoint/2010/main" val="3185948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矩形 54"/>
          <p:cNvSpPr/>
          <p:nvPr/>
        </p:nvSpPr>
        <p:spPr bwMode="auto">
          <a:xfrm>
            <a:off x="2163906" y="1916833"/>
            <a:ext cx="8046894" cy="4104455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rgbClr val="9999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 dirty="0">
              <a:ea typeface="黑体" pitchFamily="2" charset="-122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5BBADBB-5A10-4F56-8560-F27BD957F613}"/>
              </a:ext>
            </a:extLst>
          </p:cNvPr>
          <p:cNvGrpSpPr/>
          <p:nvPr/>
        </p:nvGrpSpPr>
        <p:grpSpPr>
          <a:xfrm>
            <a:off x="2351584" y="2060848"/>
            <a:ext cx="7200800" cy="3690410"/>
            <a:chOff x="3009452" y="3177925"/>
            <a:chExt cx="5929928" cy="3025131"/>
          </a:xfrm>
        </p:grpSpPr>
        <p:grpSp>
          <p:nvGrpSpPr>
            <p:cNvPr id="5" name="Group 30"/>
            <p:cNvGrpSpPr>
              <a:grpSpLocks/>
            </p:cNvGrpSpPr>
            <p:nvPr/>
          </p:nvGrpSpPr>
          <p:grpSpPr bwMode="auto">
            <a:xfrm>
              <a:off x="3009452" y="3177925"/>
              <a:ext cx="5905351" cy="3025131"/>
              <a:chOff x="1980" y="660"/>
              <a:chExt cx="7740" cy="3744"/>
            </a:xfrm>
            <a:noFill/>
          </p:grpSpPr>
          <p:sp>
            <p:nvSpPr>
              <p:cNvPr id="289823" name="Line 31"/>
              <p:cNvSpPr>
                <a:spLocks noChangeShapeType="1"/>
              </p:cNvSpPr>
              <p:nvPr/>
            </p:nvSpPr>
            <p:spPr bwMode="auto">
              <a:xfrm>
                <a:off x="1980" y="3000"/>
                <a:ext cx="720" cy="0"/>
              </a:xfrm>
              <a:prstGeom prst="lin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pPr algn="ctr"/>
                <a:endParaRPr lang="zh-CN" altLang="en-US" sz="1500"/>
              </a:p>
            </p:txBody>
          </p:sp>
          <p:sp>
            <p:nvSpPr>
              <p:cNvPr id="289824" name="Oval 32"/>
              <p:cNvSpPr>
                <a:spLocks noChangeArrowheads="1"/>
              </p:cNvSpPr>
              <p:nvPr/>
            </p:nvSpPr>
            <p:spPr bwMode="auto">
              <a:xfrm>
                <a:off x="2700" y="2688"/>
                <a:ext cx="1440" cy="624"/>
              </a:xfrm>
              <a:prstGeom prst="ellips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r>
                  <a:rPr lang="en-US" altLang="zh-CN" sz="1500" dirty="0"/>
                  <a:t>START</a:t>
                </a:r>
              </a:p>
            </p:txBody>
          </p:sp>
          <p:sp>
            <p:nvSpPr>
              <p:cNvPr id="289825" name="Rectangle 33"/>
              <p:cNvSpPr>
                <a:spLocks noChangeArrowheads="1"/>
              </p:cNvSpPr>
              <p:nvPr/>
            </p:nvSpPr>
            <p:spPr bwMode="auto">
              <a:xfrm>
                <a:off x="7200" y="660"/>
                <a:ext cx="720" cy="31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/>
                <a:r>
                  <a:rPr lang="en-US" altLang="zh-CN" sz="1500"/>
                  <a:t>digit</a:t>
                </a:r>
              </a:p>
            </p:txBody>
          </p:sp>
          <p:sp>
            <p:nvSpPr>
              <p:cNvPr id="289826" name="Line 34"/>
              <p:cNvSpPr>
                <a:spLocks noChangeShapeType="1"/>
              </p:cNvSpPr>
              <p:nvPr/>
            </p:nvSpPr>
            <p:spPr bwMode="auto">
              <a:xfrm>
                <a:off x="4140" y="3000"/>
                <a:ext cx="1440" cy="0"/>
              </a:xfrm>
              <a:prstGeom prst="lin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pPr algn="ctr"/>
                <a:endParaRPr lang="zh-CN" altLang="en-US" sz="1500"/>
              </a:p>
            </p:txBody>
          </p:sp>
          <p:sp>
            <p:nvSpPr>
              <p:cNvPr id="289827" name="Line 35"/>
              <p:cNvSpPr>
                <a:spLocks noChangeShapeType="1"/>
              </p:cNvSpPr>
              <p:nvPr/>
            </p:nvSpPr>
            <p:spPr bwMode="auto">
              <a:xfrm flipV="1">
                <a:off x="3600" y="1596"/>
                <a:ext cx="1980" cy="1092"/>
              </a:xfrm>
              <a:prstGeom prst="lin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pPr algn="ctr"/>
                <a:endParaRPr lang="zh-CN" altLang="en-US" sz="1500"/>
              </a:p>
            </p:txBody>
          </p:sp>
          <p:sp>
            <p:nvSpPr>
              <p:cNvPr id="289828" name="Oval 36"/>
              <p:cNvSpPr>
                <a:spLocks noChangeArrowheads="1"/>
              </p:cNvSpPr>
              <p:nvPr/>
            </p:nvSpPr>
            <p:spPr bwMode="auto">
              <a:xfrm>
                <a:off x="5580" y="2688"/>
                <a:ext cx="1260" cy="624"/>
              </a:xfrm>
              <a:prstGeom prst="ellips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r>
                  <a:rPr lang="en-US" altLang="zh-CN" sz="1500"/>
                  <a:t>INID</a:t>
                </a:r>
              </a:p>
            </p:txBody>
          </p:sp>
          <p:sp>
            <p:nvSpPr>
              <p:cNvPr id="289829" name="Oval 37"/>
              <p:cNvSpPr>
                <a:spLocks noChangeArrowheads="1"/>
              </p:cNvSpPr>
              <p:nvPr/>
            </p:nvSpPr>
            <p:spPr bwMode="auto">
              <a:xfrm>
                <a:off x="5400" y="1128"/>
                <a:ext cx="1620" cy="624"/>
              </a:xfrm>
              <a:prstGeom prst="ellips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r>
                  <a:rPr lang="en-US" altLang="zh-CN" sz="1500" dirty="0" err="1"/>
                  <a:t>INNUM</a:t>
                </a:r>
                <a:endParaRPr lang="en-US" altLang="zh-CN" sz="1500" dirty="0"/>
              </a:p>
            </p:txBody>
          </p:sp>
          <p:grpSp>
            <p:nvGrpSpPr>
              <p:cNvPr id="6" name="Group 38"/>
              <p:cNvGrpSpPr>
                <a:grpSpLocks/>
              </p:cNvGrpSpPr>
              <p:nvPr/>
            </p:nvGrpSpPr>
            <p:grpSpPr bwMode="auto">
              <a:xfrm rot="3748193">
                <a:off x="6503" y="637"/>
                <a:ext cx="540" cy="585"/>
                <a:chOff x="4500" y="6003"/>
                <a:chExt cx="540" cy="585"/>
              </a:xfrm>
              <a:grpFill/>
            </p:grpSpPr>
            <p:sp>
              <p:nvSpPr>
                <p:cNvPr id="289831" name="Line 39"/>
                <p:cNvSpPr>
                  <a:spLocks noChangeShapeType="1"/>
                </p:cNvSpPr>
                <p:nvPr/>
              </p:nvSpPr>
              <p:spPr bwMode="auto">
                <a:xfrm flipH="1">
                  <a:off x="5040" y="6276"/>
                  <a:ext cx="0" cy="156"/>
                </a:xfrm>
                <a:prstGeom prst="line">
                  <a:avLst/>
                </a:prstGeom>
                <a:grp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pPr algn="ctr"/>
                  <a:endParaRPr lang="zh-CN" altLang="en-US" sz="1500"/>
                </a:p>
              </p:txBody>
            </p:sp>
            <p:sp>
              <p:nvSpPr>
                <p:cNvPr id="289832" name="Arc 40"/>
                <p:cNvSpPr>
                  <a:spLocks/>
                </p:cNvSpPr>
                <p:nvPr/>
              </p:nvSpPr>
              <p:spPr bwMode="auto">
                <a:xfrm>
                  <a:off x="4500" y="6003"/>
                  <a:ext cx="540" cy="585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27596 w 43200"/>
                    <a:gd name="T1" fmla="*/ 42351 h 43200"/>
                    <a:gd name="T2" fmla="*/ 43200 w 43200"/>
                    <a:gd name="T3" fmla="*/ 21600 h 43200"/>
                    <a:gd name="T4" fmla="*/ 21600 w 43200"/>
                    <a:gd name="T5" fmla="*/ 21600 h 43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43200" fill="none" extrusionOk="0">
                      <a:moveTo>
                        <a:pt x="27596" y="42351"/>
                      </a:moveTo>
                      <a:cubicBezTo>
                        <a:pt x="25647" y="42914"/>
                        <a:pt x="23628" y="43199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</a:path>
                    <a:path w="43200" h="43200" stroke="0" extrusionOk="0">
                      <a:moveTo>
                        <a:pt x="27596" y="42351"/>
                      </a:moveTo>
                      <a:cubicBezTo>
                        <a:pt x="25647" y="42914"/>
                        <a:pt x="23628" y="43199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grp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zh-CN" altLang="en-US" sz="1500"/>
                </a:p>
              </p:txBody>
            </p:sp>
          </p:grpSp>
          <p:sp>
            <p:nvSpPr>
              <p:cNvPr id="289833" name="Rectangle 41"/>
              <p:cNvSpPr>
                <a:spLocks noChangeArrowheads="1"/>
              </p:cNvSpPr>
              <p:nvPr/>
            </p:nvSpPr>
            <p:spPr bwMode="auto">
              <a:xfrm>
                <a:off x="3780" y="1752"/>
                <a:ext cx="720" cy="31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/>
                <a:r>
                  <a:rPr lang="en-US" altLang="zh-CN" sz="1500"/>
                  <a:t>digit</a:t>
                </a:r>
              </a:p>
            </p:txBody>
          </p:sp>
          <p:sp>
            <p:nvSpPr>
              <p:cNvPr id="289834" name="Rectangle 42"/>
              <p:cNvSpPr>
                <a:spLocks noChangeArrowheads="1"/>
              </p:cNvSpPr>
              <p:nvPr/>
            </p:nvSpPr>
            <p:spPr bwMode="auto">
              <a:xfrm>
                <a:off x="4320" y="2532"/>
                <a:ext cx="720" cy="31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/>
                <a:r>
                  <a:rPr lang="en-US" altLang="zh-CN" sz="1500"/>
                  <a:t>letter</a:t>
                </a:r>
              </a:p>
            </p:txBody>
          </p:sp>
          <p:grpSp>
            <p:nvGrpSpPr>
              <p:cNvPr id="7" name="Group 43"/>
              <p:cNvGrpSpPr>
                <a:grpSpLocks/>
              </p:cNvGrpSpPr>
              <p:nvPr/>
            </p:nvGrpSpPr>
            <p:grpSpPr bwMode="auto">
              <a:xfrm rot="3748193">
                <a:off x="6503" y="2197"/>
                <a:ext cx="540" cy="585"/>
                <a:chOff x="4500" y="6003"/>
                <a:chExt cx="540" cy="585"/>
              </a:xfrm>
              <a:grpFill/>
            </p:grpSpPr>
            <p:sp>
              <p:nvSpPr>
                <p:cNvPr id="289836" name="Line 44"/>
                <p:cNvSpPr>
                  <a:spLocks noChangeShapeType="1"/>
                </p:cNvSpPr>
                <p:nvPr/>
              </p:nvSpPr>
              <p:spPr bwMode="auto">
                <a:xfrm flipH="1">
                  <a:off x="5040" y="6276"/>
                  <a:ext cx="0" cy="156"/>
                </a:xfrm>
                <a:prstGeom prst="line">
                  <a:avLst/>
                </a:prstGeom>
                <a:grp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pPr algn="ctr"/>
                  <a:endParaRPr lang="zh-CN" altLang="en-US" sz="1500"/>
                </a:p>
              </p:txBody>
            </p:sp>
            <p:sp>
              <p:nvSpPr>
                <p:cNvPr id="289837" name="Arc 45"/>
                <p:cNvSpPr>
                  <a:spLocks/>
                </p:cNvSpPr>
                <p:nvPr/>
              </p:nvSpPr>
              <p:spPr bwMode="auto">
                <a:xfrm>
                  <a:off x="4500" y="6003"/>
                  <a:ext cx="540" cy="585"/>
                </a:xfrm>
                <a:custGeom>
                  <a:avLst/>
                  <a:gdLst>
                    <a:gd name="G0" fmla="+- 21600 0 0"/>
                    <a:gd name="G1" fmla="+- 21600 0 0"/>
                    <a:gd name="G2" fmla="+- 21600 0 0"/>
                    <a:gd name="T0" fmla="*/ 27596 w 43200"/>
                    <a:gd name="T1" fmla="*/ 42351 h 43200"/>
                    <a:gd name="T2" fmla="*/ 43200 w 43200"/>
                    <a:gd name="T3" fmla="*/ 21600 h 43200"/>
                    <a:gd name="T4" fmla="*/ 21600 w 43200"/>
                    <a:gd name="T5" fmla="*/ 21600 h 43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43200" fill="none" extrusionOk="0">
                      <a:moveTo>
                        <a:pt x="27596" y="42351"/>
                      </a:moveTo>
                      <a:cubicBezTo>
                        <a:pt x="25647" y="42914"/>
                        <a:pt x="23628" y="43199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</a:path>
                    <a:path w="43200" h="43200" stroke="0" extrusionOk="0">
                      <a:moveTo>
                        <a:pt x="27596" y="42351"/>
                      </a:moveTo>
                      <a:cubicBezTo>
                        <a:pt x="25647" y="42914"/>
                        <a:pt x="23628" y="43199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grp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zh-CN" altLang="en-US" sz="1500"/>
                </a:p>
              </p:txBody>
            </p:sp>
          </p:grpSp>
          <p:sp>
            <p:nvSpPr>
              <p:cNvPr id="289838" name="Rectangle 46"/>
              <p:cNvSpPr>
                <a:spLocks noChangeArrowheads="1"/>
              </p:cNvSpPr>
              <p:nvPr/>
            </p:nvSpPr>
            <p:spPr bwMode="auto">
              <a:xfrm>
                <a:off x="6773" y="1952"/>
                <a:ext cx="720" cy="31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/>
                <a:r>
                  <a:rPr lang="en-US" altLang="zh-CN" sz="1500" dirty="0"/>
                  <a:t>letter</a:t>
                </a:r>
              </a:p>
            </p:txBody>
          </p:sp>
          <p:sp>
            <p:nvSpPr>
              <p:cNvPr id="289839" name="Line 47"/>
              <p:cNvSpPr>
                <a:spLocks noChangeShapeType="1"/>
              </p:cNvSpPr>
              <p:nvPr/>
            </p:nvSpPr>
            <p:spPr bwMode="auto">
              <a:xfrm>
                <a:off x="7020" y="1440"/>
                <a:ext cx="1800" cy="1248"/>
              </a:xfrm>
              <a:prstGeom prst="lin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pPr algn="ctr"/>
                <a:endParaRPr lang="zh-CN" altLang="en-US" sz="1500"/>
              </a:p>
            </p:txBody>
          </p:sp>
          <p:sp>
            <p:nvSpPr>
              <p:cNvPr id="289840" name="Oval 48"/>
              <p:cNvSpPr>
                <a:spLocks noChangeArrowheads="1"/>
              </p:cNvSpPr>
              <p:nvPr/>
            </p:nvSpPr>
            <p:spPr bwMode="auto">
              <a:xfrm>
                <a:off x="8460" y="2688"/>
                <a:ext cx="1260" cy="624"/>
              </a:xfrm>
              <a:prstGeom prst="ellips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/>
                <a:r>
                  <a:rPr lang="en-US" altLang="zh-CN" sz="1500"/>
                  <a:t>DONE</a:t>
                </a:r>
              </a:p>
            </p:txBody>
          </p:sp>
          <p:sp>
            <p:nvSpPr>
              <p:cNvPr id="289841" name="Line 49"/>
              <p:cNvSpPr>
                <a:spLocks noChangeShapeType="1"/>
              </p:cNvSpPr>
              <p:nvPr/>
            </p:nvSpPr>
            <p:spPr bwMode="auto">
              <a:xfrm>
                <a:off x="6840" y="3000"/>
                <a:ext cx="1620" cy="0"/>
              </a:xfrm>
              <a:prstGeom prst="lin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pPr algn="ctr"/>
                <a:endParaRPr lang="zh-CN" altLang="en-US" sz="1500"/>
              </a:p>
            </p:txBody>
          </p:sp>
          <p:sp>
            <p:nvSpPr>
              <p:cNvPr id="289842" name="Rectangle 50"/>
              <p:cNvSpPr>
                <a:spLocks noChangeArrowheads="1"/>
              </p:cNvSpPr>
              <p:nvPr/>
            </p:nvSpPr>
            <p:spPr bwMode="auto">
              <a:xfrm>
                <a:off x="7380" y="2532"/>
                <a:ext cx="720" cy="31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/>
                <a:r>
                  <a:rPr lang="en-US" altLang="zh-CN" sz="1500" dirty="0"/>
                  <a:t>[other]</a:t>
                </a:r>
              </a:p>
            </p:txBody>
          </p:sp>
          <p:sp>
            <p:nvSpPr>
              <p:cNvPr id="289843" name="Rectangle 51"/>
              <p:cNvSpPr>
                <a:spLocks noChangeArrowheads="1"/>
              </p:cNvSpPr>
              <p:nvPr/>
            </p:nvSpPr>
            <p:spPr bwMode="auto">
              <a:xfrm>
                <a:off x="8100" y="1596"/>
                <a:ext cx="720" cy="31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/>
                <a:r>
                  <a:rPr lang="en-US" altLang="zh-CN" sz="1500" dirty="0"/>
                  <a:t>[other]</a:t>
                </a:r>
              </a:p>
            </p:txBody>
          </p:sp>
          <p:grpSp>
            <p:nvGrpSpPr>
              <p:cNvPr id="8" name="Group 52"/>
              <p:cNvGrpSpPr>
                <a:grpSpLocks/>
              </p:cNvGrpSpPr>
              <p:nvPr/>
            </p:nvGrpSpPr>
            <p:grpSpPr bwMode="auto">
              <a:xfrm>
                <a:off x="3240" y="3000"/>
                <a:ext cx="5818" cy="1404"/>
                <a:chOff x="2149" y="4014"/>
                <a:chExt cx="2917" cy="546"/>
              </a:xfrm>
              <a:grpFill/>
            </p:grpSpPr>
            <p:sp>
              <p:nvSpPr>
                <p:cNvPr id="289845" name="Arc 53"/>
                <p:cNvSpPr>
                  <a:spLocks/>
                </p:cNvSpPr>
                <p:nvPr/>
              </p:nvSpPr>
              <p:spPr bwMode="auto">
                <a:xfrm rot="10800000" flipH="1">
                  <a:off x="2149" y="4014"/>
                  <a:ext cx="2836" cy="546"/>
                </a:xfrm>
                <a:custGeom>
                  <a:avLst/>
                  <a:gdLst>
                    <a:gd name="G0" fmla="+- 21104 0 0"/>
                    <a:gd name="G1" fmla="+- 21600 0 0"/>
                    <a:gd name="G2" fmla="+- 21600 0 0"/>
                    <a:gd name="T0" fmla="*/ 0 w 40941"/>
                    <a:gd name="T1" fmla="*/ 16998 h 21600"/>
                    <a:gd name="T2" fmla="*/ 40941 w 40941"/>
                    <a:gd name="T3" fmla="*/ 13054 h 21600"/>
                    <a:gd name="T4" fmla="*/ 21104 w 40941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0941" h="21600" fill="none" extrusionOk="0">
                      <a:moveTo>
                        <a:pt x="-1" y="16997"/>
                      </a:moveTo>
                      <a:cubicBezTo>
                        <a:pt x="2163" y="7075"/>
                        <a:pt x="10948" y="-1"/>
                        <a:pt x="21104" y="0"/>
                      </a:cubicBezTo>
                      <a:cubicBezTo>
                        <a:pt x="29729" y="0"/>
                        <a:pt x="37528" y="5131"/>
                        <a:pt x="40941" y="13053"/>
                      </a:cubicBezTo>
                    </a:path>
                    <a:path w="40941" h="21600" stroke="0" extrusionOk="0">
                      <a:moveTo>
                        <a:pt x="-1" y="16997"/>
                      </a:moveTo>
                      <a:cubicBezTo>
                        <a:pt x="2163" y="7075"/>
                        <a:pt x="10948" y="-1"/>
                        <a:pt x="21104" y="0"/>
                      </a:cubicBezTo>
                      <a:cubicBezTo>
                        <a:pt x="29729" y="0"/>
                        <a:pt x="37528" y="5131"/>
                        <a:pt x="40941" y="13053"/>
                      </a:cubicBezTo>
                      <a:lnTo>
                        <a:pt x="21104" y="21600"/>
                      </a:lnTo>
                      <a:close/>
                    </a:path>
                  </a:pathLst>
                </a:custGeom>
                <a:grp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zh-CN" altLang="en-US" sz="1500"/>
                </a:p>
              </p:txBody>
            </p:sp>
            <p:sp>
              <p:nvSpPr>
                <p:cNvPr id="289846" name="Line 54"/>
                <p:cNvSpPr>
                  <a:spLocks noChangeShapeType="1"/>
                </p:cNvSpPr>
                <p:nvPr/>
              </p:nvSpPr>
              <p:spPr bwMode="auto">
                <a:xfrm flipV="1">
                  <a:off x="4985" y="4156"/>
                  <a:ext cx="81" cy="76"/>
                </a:xfrm>
                <a:prstGeom prst="line">
                  <a:avLst/>
                </a:prstGeom>
                <a:grp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pPr algn="ctr"/>
                  <a:endParaRPr lang="zh-CN" altLang="en-US" sz="1500"/>
                </a:p>
              </p:txBody>
            </p:sp>
          </p:grpSp>
          <p:sp>
            <p:nvSpPr>
              <p:cNvPr id="289847" name="Rectangle 55"/>
              <p:cNvSpPr>
                <a:spLocks noChangeArrowheads="1"/>
              </p:cNvSpPr>
              <p:nvPr/>
            </p:nvSpPr>
            <p:spPr bwMode="auto">
              <a:xfrm>
                <a:off x="5546" y="3892"/>
                <a:ext cx="1440" cy="31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/>
                <a:r>
                  <a:rPr lang="en-US" altLang="zh-CN" sz="1500" dirty="0"/>
                  <a:t>+ - * / = &lt; ( ) ;</a:t>
                </a:r>
              </a:p>
            </p:txBody>
          </p:sp>
        </p:grpSp>
        <p:sp>
          <p:nvSpPr>
            <p:cNvPr id="56" name="Oval 48">
              <a:extLst>
                <a:ext uri="{FF2B5EF4-FFF2-40B4-BE49-F238E27FC236}">
                  <a16:creationId xmlns:a16="http://schemas.microsoft.com/office/drawing/2014/main" id="{86F24D55-EA7F-43A2-B3D3-A2C36B6F5C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29497" y="4773907"/>
              <a:ext cx="1009883" cy="58958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en-US" altLang="zh-CN" sz="1500" dirty="0"/>
            </a:p>
          </p:txBody>
        </p:sp>
      </p:grpSp>
      <p:sp>
        <p:nvSpPr>
          <p:cNvPr id="4" name="标题 1">
            <a:extLst>
              <a:ext uri="{FF2B5EF4-FFF2-40B4-BE49-F238E27FC236}">
                <a16:creationId xmlns:a16="http://schemas.microsoft.com/office/drawing/2014/main" id="{D7840EF5-0562-1AAE-D071-B9B5273E9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US" altLang="zh-CN" b="1" dirty="0"/>
              <a:t>Tiny</a:t>
            </a:r>
            <a:r>
              <a:rPr lang="zh-CN" altLang="en-US" b="1" dirty="0"/>
              <a:t>词法</a:t>
            </a:r>
            <a:r>
              <a:rPr lang="en-US" altLang="zh-CN" b="1" dirty="0"/>
              <a:t>DFA</a:t>
            </a: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Tiny</a:t>
            </a:r>
            <a:r>
              <a:rPr lang="zh-CN" altLang="en-US" b="1" dirty="0"/>
              <a:t>词法</a:t>
            </a:r>
            <a:r>
              <a:rPr lang="en-US" altLang="zh-CN" b="1" dirty="0"/>
              <a:t>DFA</a:t>
            </a:r>
            <a:endParaRPr lang="zh-CN" altLang="en-US" dirty="0"/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2423592" y="1864299"/>
            <a:ext cx="7344816" cy="4365104"/>
            <a:chOff x="1980" y="660"/>
            <a:chExt cx="7920" cy="4930"/>
          </a:xfrm>
          <a:noFill/>
        </p:grpSpPr>
        <p:sp>
          <p:nvSpPr>
            <p:cNvPr id="6" name="Line 5"/>
            <p:cNvSpPr>
              <a:spLocks noChangeShapeType="1"/>
            </p:cNvSpPr>
            <p:nvPr/>
          </p:nvSpPr>
          <p:spPr bwMode="auto">
            <a:xfrm>
              <a:off x="1980" y="3000"/>
              <a:ext cx="540" cy="0"/>
            </a:xfrm>
            <a:prstGeom prst="line">
              <a:avLst/>
            </a:prstGeom>
            <a:grp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 sz="1600" b="1"/>
            </a:p>
          </p:txBody>
        </p:sp>
        <p:sp>
          <p:nvSpPr>
            <p:cNvPr id="7" name="Oval 6"/>
            <p:cNvSpPr>
              <a:spLocks noChangeArrowheads="1"/>
            </p:cNvSpPr>
            <p:nvPr/>
          </p:nvSpPr>
          <p:spPr bwMode="auto">
            <a:xfrm>
              <a:off x="2520" y="2688"/>
              <a:ext cx="1440" cy="624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1600" b="1" dirty="0"/>
                <a:t>START</a:t>
              </a:r>
            </a:p>
          </p:txBody>
        </p:sp>
        <p:sp>
          <p:nvSpPr>
            <p:cNvPr id="8" name="AutoShape 7"/>
            <p:cNvSpPr>
              <a:spLocks noChangeArrowheads="1"/>
            </p:cNvSpPr>
            <p:nvPr/>
          </p:nvSpPr>
          <p:spPr bwMode="auto">
            <a:xfrm>
              <a:off x="8460" y="2688"/>
              <a:ext cx="1440" cy="624"/>
            </a:xfrm>
            <a:custGeom>
              <a:avLst/>
              <a:gdLst>
                <a:gd name="G0" fmla="+- 1440 0 0"/>
                <a:gd name="G1" fmla="+- 21600 0 1440"/>
                <a:gd name="G2" fmla="+- 21600 0 1440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440" y="10800"/>
                  </a:moveTo>
                  <a:cubicBezTo>
                    <a:pt x="1440" y="15969"/>
                    <a:pt x="5631" y="20160"/>
                    <a:pt x="10800" y="20160"/>
                  </a:cubicBezTo>
                  <a:cubicBezTo>
                    <a:pt x="15969" y="20160"/>
                    <a:pt x="20160" y="15969"/>
                    <a:pt x="20160" y="10800"/>
                  </a:cubicBezTo>
                  <a:cubicBezTo>
                    <a:pt x="20160" y="5631"/>
                    <a:pt x="15969" y="1440"/>
                    <a:pt x="10800" y="1440"/>
                  </a:cubicBezTo>
                  <a:cubicBezTo>
                    <a:pt x="5631" y="1440"/>
                    <a:pt x="1440" y="5631"/>
                    <a:pt x="1440" y="10800"/>
                  </a:cubicBezTo>
                  <a:close/>
                </a:path>
              </a:pathLst>
            </a:cu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 b="1"/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7200" y="660"/>
              <a:ext cx="720" cy="31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/>
              <a:r>
                <a:rPr lang="en-US" altLang="zh-CN" sz="1600" b="1"/>
                <a:t>digit</a:t>
              </a:r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>
              <a:off x="3960" y="3000"/>
              <a:ext cx="1620" cy="0"/>
            </a:xfrm>
            <a:prstGeom prst="line">
              <a:avLst/>
            </a:prstGeom>
            <a:grp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 sz="1600" b="1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 flipV="1">
              <a:off x="3600" y="1596"/>
              <a:ext cx="1980" cy="1092"/>
            </a:xfrm>
            <a:prstGeom prst="line">
              <a:avLst/>
            </a:prstGeom>
            <a:grp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 sz="1600" b="1"/>
            </a:p>
          </p:txBody>
        </p:sp>
        <p:sp>
          <p:nvSpPr>
            <p:cNvPr id="12" name="Oval 11"/>
            <p:cNvSpPr>
              <a:spLocks noChangeArrowheads="1"/>
            </p:cNvSpPr>
            <p:nvPr/>
          </p:nvSpPr>
          <p:spPr bwMode="auto">
            <a:xfrm>
              <a:off x="5580" y="2688"/>
              <a:ext cx="1260" cy="624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1600" b="1" dirty="0"/>
                <a:t>INID</a:t>
              </a:r>
            </a:p>
          </p:txBody>
        </p:sp>
        <p:sp>
          <p:nvSpPr>
            <p:cNvPr id="13" name="Oval 12"/>
            <p:cNvSpPr>
              <a:spLocks noChangeArrowheads="1"/>
            </p:cNvSpPr>
            <p:nvPr/>
          </p:nvSpPr>
          <p:spPr bwMode="auto">
            <a:xfrm>
              <a:off x="5400" y="1128"/>
              <a:ext cx="1620" cy="624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1600" b="1"/>
                <a:t>INNUM</a:t>
              </a:r>
            </a:p>
          </p:txBody>
        </p:sp>
        <p:grpSp>
          <p:nvGrpSpPr>
            <p:cNvPr id="14" name="Group 13"/>
            <p:cNvGrpSpPr>
              <a:grpSpLocks/>
            </p:cNvGrpSpPr>
            <p:nvPr/>
          </p:nvGrpSpPr>
          <p:grpSpPr bwMode="auto">
            <a:xfrm rot="1846699">
              <a:off x="2880" y="2220"/>
              <a:ext cx="540" cy="468"/>
              <a:chOff x="4500" y="6003"/>
              <a:chExt cx="540" cy="585"/>
            </a:xfrm>
            <a:grpFill/>
          </p:grpSpPr>
          <p:sp>
            <p:nvSpPr>
              <p:cNvPr id="58" name="Line 14"/>
              <p:cNvSpPr>
                <a:spLocks noChangeShapeType="1"/>
              </p:cNvSpPr>
              <p:nvPr/>
            </p:nvSpPr>
            <p:spPr bwMode="auto">
              <a:xfrm flipH="1">
                <a:off x="5040" y="6276"/>
                <a:ext cx="0" cy="156"/>
              </a:xfrm>
              <a:prstGeom prst="lin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 sz="1600" b="1"/>
              </a:p>
            </p:txBody>
          </p:sp>
          <p:sp>
            <p:nvSpPr>
              <p:cNvPr id="59" name="Arc 15"/>
              <p:cNvSpPr>
                <a:spLocks/>
              </p:cNvSpPr>
              <p:nvPr/>
            </p:nvSpPr>
            <p:spPr bwMode="auto">
              <a:xfrm>
                <a:off x="4500" y="6003"/>
                <a:ext cx="540" cy="585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27596 w 43200"/>
                  <a:gd name="T1" fmla="*/ 42351 h 43200"/>
                  <a:gd name="T2" fmla="*/ 43200 w 43200"/>
                  <a:gd name="T3" fmla="*/ 21600 h 43200"/>
                  <a:gd name="T4" fmla="*/ 21600 w 43200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43200" fill="none" extrusionOk="0">
                    <a:moveTo>
                      <a:pt x="27596" y="42351"/>
                    </a:moveTo>
                    <a:cubicBezTo>
                      <a:pt x="25647" y="42914"/>
                      <a:pt x="23628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43200" stroke="0" extrusionOk="0">
                    <a:moveTo>
                      <a:pt x="27596" y="42351"/>
                    </a:moveTo>
                    <a:cubicBezTo>
                      <a:pt x="25647" y="42914"/>
                      <a:pt x="23628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/>
              </a:p>
            </p:txBody>
          </p:sp>
        </p:grpSp>
        <p:sp>
          <p:nvSpPr>
            <p:cNvPr id="15" name="Rectangle 16"/>
            <p:cNvSpPr>
              <a:spLocks noChangeArrowheads="1"/>
            </p:cNvSpPr>
            <p:nvPr/>
          </p:nvSpPr>
          <p:spPr bwMode="auto">
            <a:xfrm>
              <a:off x="4320" y="1440"/>
              <a:ext cx="720" cy="31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/>
              <a:r>
                <a:rPr lang="en-US" altLang="zh-CN" sz="1600" b="1"/>
                <a:t>digit</a:t>
              </a:r>
            </a:p>
          </p:txBody>
        </p:sp>
        <p:sp>
          <p:nvSpPr>
            <p:cNvPr id="16" name="Rectangle 17"/>
            <p:cNvSpPr>
              <a:spLocks noChangeArrowheads="1"/>
            </p:cNvSpPr>
            <p:nvPr/>
          </p:nvSpPr>
          <p:spPr bwMode="auto">
            <a:xfrm>
              <a:off x="4320" y="2532"/>
              <a:ext cx="720" cy="31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/>
              <a:r>
                <a:rPr lang="en-US" altLang="zh-CN" sz="1600" b="1"/>
                <a:t>letter</a:t>
              </a:r>
            </a:p>
          </p:txBody>
        </p:sp>
        <p:grpSp>
          <p:nvGrpSpPr>
            <p:cNvPr id="17" name="Group 18"/>
            <p:cNvGrpSpPr>
              <a:grpSpLocks/>
            </p:cNvGrpSpPr>
            <p:nvPr/>
          </p:nvGrpSpPr>
          <p:grpSpPr bwMode="auto">
            <a:xfrm rot="3748193">
              <a:off x="6503" y="2197"/>
              <a:ext cx="540" cy="585"/>
              <a:chOff x="4500" y="6003"/>
              <a:chExt cx="540" cy="585"/>
            </a:xfrm>
            <a:grpFill/>
          </p:grpSpPr>
          <p:sp>
            <p:nvSpPr>
              <p:cNvPr id="56" name="Line 19"/>
              <p:cNvSpPr>
                <a:spLocks noChangeShapeType="1"/>
              </p:cNvSpPr>
              <p:nvPr/>
            </p:nvSpPr>
            <p:spPr bwMode="auto">
              <a:xfrm flipH="1">
                <a:off x="5040" y="6276"/>
                <a:ext cx="0" cy="156"/>
              </a:xfrm>
              <a:prstGeom prst="lin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 sz="1600" b="1"/>
              </a:p>
            </p:txBody>
          </p:sp>
          <p:sp>
            <p:nvSpPr>
              <p:cNvPr id="57" name="Arc 20"/>
              <p:cNvSpPr>
                <a:spLocks/>
              </p:cNvSpPr>
              <p:nvPr/>
            </p:nvSpPr>
            <p:spPr bwMode="auto">
              <a:xfrm>
                <a:off x="4500" y="6003"/>
                <a:ext cx="540" cy="585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27596 w 43200"/>
                  <a:gd name="T1" fmla="*/ 42351 h 43200"/>
                  <a:gd name="T2" fmla="*/ 43200 w 43200"/>
                  <a:gd name="T3" fmla="*/ 21600 h 43200"/>
                  <a:gd name="T4" fmla="*/ 21600 w 43200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43200" fill="none" extrusionOk="0">
                    <a:moveTo>
                      <a:pt x="27596" y="42351"/>
                    </a:moveTo>
                    <a:cubicBezTo>
                      <a:pt x="25647" y="42914"/>
                      <a:pt x="23628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43200" stroke="0" extrusionOk="0">
                    <a:moveTo>
                      <a:pt x="27596" y="42351"/>
                    </a:moveTo>
                    <a:cubicBezTo>
                      <a:pt x="25647" y="42914"/>
                      <a:pt x="23628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/>
              </a:p>
            </p:txBody>
          </p:sp>
        </p:grpSp>
        <p:sp>
          <p:nvSpPr>
            <p:cNvPr id="18" name="Rectangle 21"/>
            <p:cNvSpPr>
              <a:spLocks noChangeArrowheads="1"/>
            </p:cNvSpPr>
            <p:nvPr/>
          </p:nvSpPr>
          <p:spPr bwMode="auto">
            <a:xfrm>
              <a:off x="5580" y="2220"/>
              <a:ext cx="720" cy="249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/>
              <a:r>
                <a:rPr lang="en-US" altLang="zh-CN" sz="1600" b="1" dirty="0"/>
                <a:t>letter</a:t>
              </a:r>
            </a:p>
          </p:txBody>
        </p:sp>
        <p:sp>
          <p:nvSpPr>
            <p:cNvPr id="19" name="Line 22"/>
            <p:cNvSpPr>
              <a:spLocks noChangeShapeType="1"/>
            </p:cNvSpPr>
            <p:nvPr/>
          </p:nvSpPr>
          <p:spPr bwMode="auto">
            <a:xfrm>
              <a:off x="7020" y="1440"/>
              <a:ext cx="1800" cy="1248"/>
            </a:xfrm>
            <a:prstGeom prst="line">
              <a:avLst/>
            </a:prstGeom>
            <a:grp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 sz="1600" b="1"/>
            </a:p>
          </p:txBody>
        </p:sp>
        <p:sp>
          <p:nvSpPr>
            <p:cNvPr id="20" name="Line 23"/>
            <p:cNvSpPr>
              <a:spLocks noChangeShapeType="1"/>
            </p:cNvSpPr>
            <p:nvPr/>
          </p:nvSpPr>
          <p:spPr bwMode="auto">
            <a:xfrm>
              <a:off x="6840" y="3000"/>
              <a:ext cx="1620" cy="0"/>
            </a:xfrm>
            <a:prstGeom prst="line">
              <a:avLst/>
            </a:prstGeom>
            <a:grp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 sz="1600" b="1"/>
            </a:p>
          </p:txBody>
        </p:sp>
        <p:sp>
          <p:nvSpPr>
            <p:cNvPr id="21" name="Rectangle 24"/>
            <p:cNvSpPr>
              <a:spLocks noChangeArrowheads="1"/>
            </p:cNvSpPr>
            <p:nvPr/>
          </p:nvSpPr>
          <p:spPr bwMode="auto">
            <a:xfrm>
              <a:off x="7380" y="2532"/>
              <a:ext cx="720" cy="31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/>
              <a:r>
                <a:rPr lang="en-US" altLang="zh-CN" sz="1600" b="1" dirty="0"/>
                <a:t>[other]</a:t>
              </a:r>
            </a:p>
          </p:txBody>
        </p:sp>
        <p:sp>
          <p:nvSpPr>
            <p:cNvPr id="22" name="Rectangle 25"/>
            <p:cNvSpPr>
              <a:spLocks noChangeArrowheads="1"/>
            </p:cNvSpPr>
            <p:nvPr/>
          </p:nvSpPr>
          <p:spPr bwMode="auto">
            <a:xfrm>
              <a:off x="8100" y="1596"/>
              <a:ext cx="720" cy="31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/>
              <a:r>
                <a:rPr lang="en-US" altLang="zh-CN" sz="1600" b="1" dirty="0"/>
                <a:t>[other]</a:t>
              </a:r>
            </a:p>
          </p:txBody>
        </p:sp>
        <p:grpSp>
          <p:nvGrpSpPr>
            <p:cNvPr id="23" name="Group 26"/>
            <p:cNvGrpSpPr>
              <a:grpSpLocks/>
            </p:cNvGrpSpPr>
            <p:nvPr/>
          </p:nvGrpSpPr>
          <p:grpSpPr bwMode="auto">
            <a:xfrm>
              <a:off x="3780" y="2844"/>
              <a:ext cx="5580" cy="2184"/>
              <a:chOff x="2149" y="4014"/>
              <a:chExt cx="2978" cy="546"/>
            </a:xfrm>
            <a:grpFill/>
          </p:grpSpPr>
          <p:sp>
            <p:nvSpPr>
              <p:cNvPr id="54" name="Arc 27"/>
              <p:cNvSpPr>
                <a:spLocks/>
              </p:cNvSpPr>
              <p:nvPr/>
            </p:nvSpPr>
            <p:spPr bwMode="auto">
              <a:xfrm rot="10800000" flipH="1">
                <a:off x="2149" y="4014"/>
                <a:ext cx="2836" cy="546"/>
              </a:xfrm>
              <a:custGeom>
                <a:avLst/>
                <a:gdLst>
                  <a:gd name="G0" fmla="+- 21104 0 0"/>
                  <a:gd name="G1" fmla="+- 21600 0 0"/>
                  <a:gd name="G2" fmla="+- 21600 0 0"/>
                  <a:gd name="T0" fmla="*/ 0 w 40941"/>
                  <a:gd name="T1" fmla="*/ 16998 h 21600"/>
                  <a:gd name="T2" fmla="*/ 40941 w 40941"/>
                  <a:gd name="T3" fmla="*/ 13054 h 21600"/>
                  <a:gd name="T4" fmla="*/ 21104 w 40941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0941" h="21600" fill="none" extrusionOk="0">
                    <a:moveTo>
                      <a:pt x="-1" y="16997"/>
                    </a:moveTo>
                    <a:cubicBezTo>
                      <a:pt x="2163" y="7075"/>
                      <a:pt x="10948" y="-1"/>
                      <a:pt x="21104" y="0"/>
                    </a:cubicBezTo>
                    <a:cubicBezTo>
                      <a:pt x="29729" y="0"/>
                      <a:pt x="37528" y="5131"/>
                      <a:pt x="40941" y="13053"/>
                    </a:cubicBezTo>
                  </a:path>
                  <a:path w="40941" h="21600" stroke="0" extrusionOk="0">
                    <a:moveTo>
                      <a:pt x="-1" y="16997"/>
                    </a:moveTo>
                    <a:cubicBezTo>
                      <a:pt x="2163" y="7075"/>
                      <a:pt x="10948" y="-1"/>
                      <a:pt x="21104" y="0"/>
                    </a:cubicBezTo>
                    <a:cubicBezTo>
                      <a:pt x="29729" y="0"/>
                      <a:pt x="37528" y="5131"/>
                      <a:pt x="40941" y="13053"/>
                    </a:cubicBezTo>
                    <a:lnTo>
                      <a:pt x="21104" y="21600"/>
                    </a:lnTo>
                    <a:close/>
                  </a:path>
                </a:pathLst>
              </a:cu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/>
              </a:p>
            </p:txBody>
          </p:sp>
          <p:sp>
            <p:nvSpPr>
              <p:cNvPr id="55" name="Line 28"/>
              <p:cNvSpPr>
                <a:spLocks noChangeShapeType="1"/>
              </p:cNvSpPr>
              <p:nvPr/>
            </p:nvSpPr>
            <p:spPr bwMode="auto">
              <a:xfrm flipV="1">
                <a:off x="4985" y="4123"/>
                <a:ext cx="142" cy="109"/>
              </a:xfrm>
              <a:prstGeom prst="lin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 sz="1600" b="1"/>
              </a:p>
            </p:txBody>
          </p:sp>
        </p:grpSp>
        <p:sp>
          <p:nvSpPr>
            <p:cNvPr id="24" name="Oval 29"/>
            <p:cNvSpPr>
              <a:spLocks noChangeArrowheads="1"/>
            </p:cNvSpPr>
            <p:nvPr/>
          </p:nvSpPr>
          <p:spPr bwMode="auto">
            <a:xfrm>
              <a:off x="5136" y="3936"/>
              <a:ext cx="2160" cy="624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1600" b="1" dirty="0" err="1"/>
                <a:t>INASSIGN</a:t>
              </a:r>
              <a:endParaRPr lang="en-US" altLang="zh-CN" sz="1600" b="1" dirty="0"/>
            </a:p>
          </p:txBody>
        </p:sp>
        <p:sp>
          <p:nvSpPr>
            <p:cNvPr id="25" name="Line 30"/>
            <p:cNvSpPr>
              <a:spLocks noChangeShapeType="1"/>
            </p:cNvSpPr>
            <p:nvPr/>
          </p:nvSpPr>
          <p:spPr bwMode="auto">
            <a:xfrm>
              <a:off x="3960" y="3156"/>
              <a:ext cx="1260" cy="936"/>
            </a:xfrm>
            <a:prstGeom prst="line">
              <a:avLst/>
            </a:prstGeom>
            <a:grp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 sz="1600" b="1"/>
            </a:p>
          </p:txBody>
        </p:sp>
        <p:sp>
          <p:nvSpPr>
            <p:cNvPr id="26" name="Rectangle 31"/>
            <p:cNvSpPr>
              <a:spLocks noChangeArrowheads="1"/>
            </p:cNvSpPr>
            <p:nvPr/>
          </p:nvSpPr>
          <p:spPr bwMode="auto">
            <a:xfrm>
              <a:off x="4860" y="3312"/>
              <a:ext cx="180" cy="31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/>
              <a:r>
                <a:rPr lang="en-US" altLang="zh-CN" sz="1600" b="1"/>
                <a:t>:</a:t>
              </a:r>
            </a:p>
          </p:txBody>
        </p:sp>
        <p:sp>
          <p:nvSpPr>
            <p:cNvPr id="27" name="Rectangle 32"/>
            <p:cNvSpPr>
              <a:spLocks noChangeArrowheads="1"/>
            </p:cNvSpPr>
            <p:nvPr/>
          </p:nvSpPr>
          <p:spPr bwMode="auto">
            <a:xfrm>
              <a:off x="2340" y="1284"/>
              <a:ext cx="1260" cy="624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/>
              <a:r>
                <a:rPr lang="en-US" altLang="zh-CN" sz="1600" b="1" dirty="0"/>
                <a:t>blank</a:t>
              </a:r>
            </a:p>
            <a:p>
              <a:pPr algn="just"/>
              <a:r>
                <a:rPr lang="en-US" altLang="zh-CN" sz="1600" b="1" dirty="0"/>
                <a:t>tab</a:t>
              </a:r>
            </a:p>
            <a:p>
              <a:pPr algn="just"/>
              <a:r>
                <a:rPr lang="en-US" altLang="zh-CN" sz="1600" b="1" dirty="0"/>
                <a:t>newline</a:t>
              </a:r>
            </a:p>
          </p:txBody>
        </p:sp>
        <p:grpSp>
          <p:nvGrpSpPr>
            <p:cNvPr id="28" name="Group 33"/>
            <p:cNvGrpSpPr>
              <a:grpSpLocks/>
            </p:cNvGrpSpPr>
            <p:nvPr/>
          </p:nvGrpSpPr>
          <p:grpSpPr bwMode="auto">
            <a:xfrm rot="3748193">
              <a:off x="6503" y="637"/>
              <a:ext cx="540" cy="585"/>
              <a:chOff x="4500" y="6003"/>
              <a:chExt cx="540" cy="585"/>
            </a:xfrm>
            <a:grpFill/>
          </p:grpSpPr>
          <p:sp>
            <p:nvSpPr>
              <p:cNvPr id="52" name="Line 34"/>
              <p:cNvSpPr>
                <a:spLocks noChangeShapeType="1"/>
              </p:cNvSpPr>
              <p:nvPr/>
            </p:nvSpPr>
            <p:spPr bwMode="auto">
              <a:xfrm flipH="1">
                <a:off x="5040" y="6276"/>
                <a:ext cx="0" cy="156"/>
              </a:xfrm>
              <a:prstGeom prst="lin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 sz="1600" b="1"/>
              </a:p>
            </p:txBody>
          </p:sp>
          <p:sp>
            <p:nvSpPr>
              <p:cNvPr id="53" name="Arc 35"/>
              <p:cNvSpPr>
                <a:spLocks/>
              </p:cNvSpPr>
              <p:nvPr/>
            </p:nvSpPr>
            <p:spPr bwMode="auto">
              <a:xfrm>
                <a:off x="4500" y="6003"/>
                <a:ext cx="540" cy="585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27596 w 43200"/>
                  <a:gd name="T1" fmla="*/ 42351 h 43200"/>
                  <a:gd name="T2" fmla="*/ 43200 w 43200"/>
                  <a:gd name="T3" fmla="*/ 21600 h 43200"/>
                  <a:gd name="T4" fmla="*/ 21600 w 43200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43200" fill="none" extrusionOk="0">
                    <a:moveTo>
                      <a:pt x="27596" y="42351"/>
                    </a:moveTo>
                    <a:cubicBezTo>
                      <a:pt x="25647" y="42914"/>
                      <a:pt x="23628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43200" stroke="0" extrusionOk="0">
                    <a:moveTo>
                      <a:pt x="27596" y="42351"/>
                    </a:moveTo>
                    <a:cubicBezTo>
                      <a:pt x="25647" y="42914"/>
                      <a:pt x="23628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/>
              </a:p>
            </p:txBody>
          </p:sp>
        </p:grpSp>
        <p:grpSp>
          <p:nvGrpSpPr>
            <p:cNvPr id="30" name="Group 39"/>
            <p:cNvGrpSpPr>
              <a:grpSpLocks/>
            </p:cNvGrpSpPr>
            <p:nvPr/>
          </p:nvGrpSpPr>
          <p:grpSpPr bwMode="auto">
            <a:xfrm rot="9155086" flipH="1">
              <a:off x="6631" y="3474"/>
              <a:ext cx="1980" cy="156"/>
              <a:chOff x="2149" y="4014"/>
              <a:chExt cx="2978" cy="546"/>
            </a:xfrm>
            <a:grpFill/>
          </p:grpSpPr>
          <p:sp>
            <p:nvSpPr>
              <p:cNvPr id="48" name="Arc 40"/>
              <p:cNvSpPr>
                <a:spLocks/>
              </p:cNvSpPr>
              <p:nvPr/>
            </p:nvSpPr>
            <p:spPr bwMode="auto">
              <a:xfrm rot="10800000" flipH="1">
                <a:off x="2149" y="4014"/>
                <a:ext cx="2836" cy="546"/>
              </a:xfrm>
              <a:custGeom>
                <a:avLst/>
                <a:gdLst>
                  <a:gd name="G0" fmla="+- 21104 0 0"/>
                  <a:gd name="G1" fmla="+- 21600 0 0"/>
                  <a:gd name="G2" fmla="+- 21600 0 0"/>
                  <a:gd name="T0" fmla="*/ 0 w 40941"/>
                  <a:gd name="T1" fmla="*/ 16998 h 21600"/>
                  <a:gd name="T2" fmla="*/ 40941 w 40941"/>
                  <a:gd name="T3" fmla="*/ 13054 h 21600"/>
                  <a:gd name="T4" fmla="*/ 21104 w 40941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0941" h="21600" fill="none" extrusionOk="0">
                    <a:moveTo>
                      <a:pt x="-1" y="16997"/>
                    </a:moveTo>
                    <a:cubicBezTo>
                      <a:pt x="2163" y="7075"/>
                      <a:pt x="10948" y="-1"/>
                      <a:pt x="21104" y="0"/>
                    </a:cubicBezTo>
                    <a:cubicBezTo>
                      <a:pt x="29729" y="0"/>
                      <a:pt x="37528" y="5131"/>
                      <a:pt x="40941" y="13053"/>
                    </a:cubicBezTo>
                  </a:path>
                  <a:path w="40941" h="21600" stroke="0" extrusionOk="0">
                    <a:moveTo>
                      <a:pt x="-1" y="16997"/>
                    </a:moveTo>
                    <a:cubicBezTo>
                      <a:pt x="2163" y="7075"/>
                      <a:pt x="10948" y="-1"/>
                      <a:pt x="21104" y="0"/>
                    </a:cubicBezTo>
                    <a:cubicBezTo>
                      <a:pt x="29729" y="0"/>
                      <a:pt x="37528" y="5131"/>
                      <a:pt x="40941" y="13053"/>
                    </a:cubicBezTo>
                    <a:lnTo>
                      <a:pt x="21104" y="21600"/>
                    </a:lnTo>
                    <a:close/>
                  </a:path>
                </a:pathLst>
              </a:cu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/>
              </a:p>
            </p:txBody>
          </p:sp>
          <p:sp>
            <p:nvSpPr>
              <p:cNvPr id="49" name="Line 41"/>
              <p:cNvSpPr>
                <a:spLocks noChangeShapeType="1"/>
              </p:cNvSpPr>
              <p:nvPr/>
            </p:nvSpPr>
            <p:spPr bwMode="auto">
              <a:xfrm flipV="1">
                <a:off x="4985" y="4123"/>
                <a:ext cx="142" cy="109"/>
              </a:xfrm>
              <a:prstGeom prst="lin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 sz="1600" b="1"/>
              </a:p>
            </p:txBody>
          </p:sp>
        </p:grpSp>
        <p:sp>
          <p:nvSpPr>
            <p:cNvPr id="31" name="Rectangle 42"/>
            <p:cNvSpPr>
              <a:spLocks noChangeArrowheads="1"/>
            </p:cNvSpPr>
            <p:nvPr/>
          </p:nvSpPr>
          <p:spPr bwMode="auto">
            <a:xfrm>
              <a:off x="7020" y="5028"/>
              <a:ext cx="2004" cy="37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/>
              <a:r>
                <a:rPr lang="en-US" altLang="zh-CN" sz="1600" b="1" dirty="0"/>
                <a:t>+ - * / = &lt; ( );</a:t>
              </a:r>
            </a:p>
          </p:txBody>
        </p:sp>
        <p:sp>
          <p:nvSpPr>
            <p:cNvPr id="32" name="Rectangle 43"/>
            <p:cNvSpPr>
              <a:spLocks noChangeArrowheads="1"/>
            </p:cNvSpPr>
            <p:nvPr/>
          </p:nvSpPr>
          <p:spPr bwMode="auto">
            <a:xfrm>
              <a:off x="7020" y="3156"/>
              <a:ext cx="180" cy="31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/>
              <a:r>
                <a:rPr lang="en-US" altLang="zh-CN" sz="1600" b="1"/>
                <a:t>=</a:t>
              </a:r>
            </a:p>
          </p:txBody>
        </p:sp>
        <p:sp>
          <p:nvSpPr>
            <p:cNvPr id="33" name="Rectangle 44"/>
            <p:cNvSpPr>
              <a:spLocks noChangeArrowheads="1"/>
            </p:cNvSpPr>
            <p:nvPr/>
          </p:nvSpPr>
          <p:spPr bwMode="auto">
            <a:xfrm>
              <a:off x="8820" y="2844"/>
              <a:ext cx="720" cy="31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/>
              <a:r>
                <a:rPr lang="en-US" altLang="zh-CN" sz="1600" b="1" dirty="0"/>
                <a:t>DONE</a:t>
              </a:r>
            </a:p>
          </p:txBody>
        </p:sp>
        <p:sp>
          <p:nvSpPr>
            <p:cNvPr id="34" name="Oval 45"/>
            <p:cNvSpPr>
              <a:spLocks noChangeArrowheads="1"/>
            </p:cNvSpPr>
            <p:nvPr/>
          </p:nvSpPr>
          <p:spPr bwMode="auto">
            <a:xfrm>
              <a:off x="2160" y="4404"/>
              <a:ext cx="2460" cy="624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1600" b="1"/>
                <a:t>INCOMMENT</a:t>
              </a:r>
            </a:p>
          </p:txBody>
        </p:sp>
        <p:grpSp>
          <p:nvGrpSpPr>
            <p:cNvPr id="35" name="Group 46"/>
            <p:cNvGrpSpPr>
              <a:grpSpLocks/>
            </p:cNvGrpSpPr>
            <p:nvPr/>
          </p:nvGrpSpPr>
          <p:grpSpPr bwMode="auto">
            <a:xfrm rot="5428922" flipH="1">
              <a:off x="2424" y="3768"/>
              <a:ext cx="1092" cy="179"/>
              <a:chOff x="2149" y="4014"/>
              <a:chExt cx="2978" cy="546"/>
            </a:xfrm>
            <a:grpFill/>
          </p:grpSpPr>
          <p:sp>
            <p:nvSpPr>
              <p:cNvPr id="46" name="Arc 47"/>
              <p:cNvSpPr>
                <a:spLocks/>
              </p:cNvSpPr>
              <p:nvPr/>
            </p:nvSpPr>
            <p:spPr bwMode="auto">
              <a:xfrm rot="10800000" flipH="1">
                <a:off x="2149" y="4014"/>
                <a:ext cx="2836" cy="546"/>
              </a:xfrm>
              <a:custGeom>
                <a:avLst/>
                <a:gdLst>
                  <a:gd name="G0" fmla="+- 21104 0 0"/>
                  <a:gd name="G1" fmla="+- 21600 0 0"/>
                  <a:gd name="G2" fmla="+- 21600 0 0"/>
                  <a:gd name="T0" fmla="*/ 0 w 40941"/>
                  <a:gd name="T1" fmla="*/ 16998 h 21600"/>
                  <a:gd name="T2" fmla="*/ 40941 w 40941"/>
                  <a:gd name="T3" fmla="*/ 13054 h 21600"/>
                  <a:gd name="T4" fmla="*/ 21104 w 40941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0941" h="21600" fill="none" extrusionOk="0">
                    <a:moveTo>
                      <a:pt x="-1" y="16997"/>
                    </a:moveTo>
                    <a:cubicBezTo>
                      <a:pt x="2163" y="7075"/>
                      <a:pt x="10948" y="-1"/>
                      <a:pt x="21104" y="0"/>
                    </a:cubicBezTo>
                    <a:cubicBezTo>
                      <a:pt x="29729" y="0"/>
                      <a:pt x="37528" y="5131"/>
                      <a:pt x="40941" y="13053"/>
                    </a:cubicBezTo>
                  </a:path>
                  <a:path w="40941" h="21600" stroke="0" extrusionOk="0">
                    <a:moveTo>
                      <a:pt x="-1" y="16997"/>
                    </a:moveTo>
                    <a:cubicBezTo>
                      <a:pt x="2163" y="7075"/>
                      <a:pt x="10948" y="-1"/>
                      <a:pt x="21104" y="0"/>
                    </a:cubicBezTo>
                    <a:cubicBezTo>
                      <a:pt x="29729" y="0"/>
                      <a:pt x="37528" y="5131"/>
                      <a:pt x="40941" y="13053"/>
                    </a:cubicBezTo>
                    <a:lnTo>
                      <a:pt x="21104" y="21600"/>
                    </a:lnTo>
                    <a:close/>
                  </a:path>
                </a:pathLst>
              </a:cu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/>
              </a:p>
            </p:txBody>
          </p:sp>
          <p:sp>
            <p:nvSpPr>
              <p:cNvPr id="47" name="Line 48"/>
              <p:cNvSpPr>
                <a:spLocks noChangeShapeType="1"/>
              </p:cNvSpPr>
              <p:nvPr/>
            </p:nvSpPr>
            <p:spPr bwMode="auto">
              <a:xfrm flipV="1">
                <a:off x="4985" y="4123"/>
                <a:ext cx="142" cy="109"/>
              </a:xfrm>
              <a:prstGeom prst="lin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 sz="1600" b="1"/>
              </a:p>
            </p:txBody>
          </p:sp>
        </p:grpSp>
        <p:grpSp>
          <p:nvGrpSpPr>
            <p:cNvPr id="36" name="Group 49"/>
            <p:cNvGrpSpPr>
              <a:grpSpLocks/>
            </p:cNvGrpSpPr>
            <p:nvPr/>
          </p:nvGrpSpPr>
          <p:grpSpPr bwMode="auto">
            <a:xfrm rot="15838434" flipH="1">
              <a:off x="2964" y="3768"/>
              <a:ext cx="1092" cy="179"/>
              <a:chOff x="2149" y="4014"/>
              <a:chExt cx="2978" cy="546"/>
            </a:xfrm>
            <a:grpFill/>
          </p:grpSpPr>
          <p:sp>
            <p:nvSpPr>
              <p:cNvPr id="44" name="Arc 50"/>
              <p:cNvSpPr>
                <a:spLocks/>
              </p:cNvSpPr>
              <p:nvPr/>
            </p:nvSpPr>
            <p:spPr bwMode="auto">
              <a:xfrm rot="10800000" flipH="1">
                <a:off x="2149" y="4014"/>
                <a:ext cx="2836" cy="546"/>
              </a:xfrm>
              <a:custGeom>
                <a:avLst/>
                <a:gdLst>
                  <a:gd name="G0" fmla="+- 21104 0 0"/>
                  <a:gd name="G1" fmla="+- 21600 0 0"/>
                  <a:gd name="G2" fmla="+- 21600 0 0"/>
                  <a:gd name="T0" fmla="*/ 0 w 40941"/>
                  <a:gd name="T1" fmla="*/ 16998 h 21600"/>
                  <a:gd name="T2" fmla="*/ 40941 w 40941"/>
                  <a:gd name="T3" fmla="*/ 13054 h 21600"/>
                  <a:gd name="T4" fmla="*/ 21104 w 40941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0941" h="21600" fill="none" extrusionOk="0">
                    <a:moveTo>
                      <a:pt x="-1" y="16997"/>
                    </a:moveTo>
                    <a:cubicBezTo>
                      <a:pt x="2163" y="7075"/>
                      <a:pt x="10948" y="-1"/>
                      <a:pt x="21104" y="0"/>
                    </a:cubicBezTo>
                    <a:cubicBezTo>
                      <a:pt x="29729" y="0"/>
                      <a:pt x="37528" y="5131"/>
                      <a:pt x="40941" y="13053"/>
                    </a:cubicBezTo>
                  </a:path>
                  <a:path w="40941" h="21600" stroke="0" extrusionOk="0">
                    <a:moveTo>
                      <a:pt x="-1" y="16997"/>
                    </a:moveTo>
                    <a:cubicBezTo>
                      <a:pt x="2163" y="7075"/>
                      <a:pt x="10948" y="-1"/>
                      <a:pt x="21104" y="0"/>
                    </a:cubicBezTo>
                    <a:cubicBezTo>
                      <a:pt x="29729" y="0"/>
                      <a:pt x="37528" y="5131"/>
                      <a:pt x="40941" y="13053"/>
                    </a:cubicBezTo>
                    <a:lnTo>
                      <a:pt x="21104" y="21600"/>
                    </a:lnTo>
                    <a:close/>
                  </a:path>
                </a:pathLst>
              </a:cu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/>
              </a:p>
            </p:txBody>
          </p:sp>
          <p:sp>
            <p:nvSpPr>
              <p:cNvPr id="45" name="Line 51"/>
              <p:cNvSpPr>
                <a:spLocks noChangeShapeType="1"/>
              </p:cNvSpPr>
              <p:nvPr/>
            </p:nvSpPr>
            <p:spPr bwMode="auto">
              <a:xfrm flipV="1">
                <a:off x="4985" y="4123"/>
                <a:ext cx="142" cy="109"/>
              </a:xfrm>
              <a:prstGeom prst="lin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 sz="1600" b="1"/>
              </a:p>
            </p:txBody>
          </p:sp>
        </p:grpSp>
        <p:sp>
          <p:nvSpPr>
            <p:cNvPr id="37" name="Rectangle 52"/>
            <p:cNvSpPr>
              <a:spLocks noChangeArrowheads="1"/>
            </p:cNvSpPr>
            <p:nvPr/>
          </p:nvSpPr>
          <p:spPr bwMode="auto">
            <a:xfrm>
              <a:off x="3780" y="3936"/>
              <a:ext cx="180" cy="31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/>
              <a:r>
                <a:rPr lang="en-US" altLang="zh-CN" sz="1600" b="1" dirty="0"/>
                <a:t>{</a:t>
              </a:r>
            </a:p>
          </p:txBody>
        </p:sp>
        <p:sp>
          <p:nvSpPr>
            <p:cNvPr id="38" name="Rectangle 53"/>
            <p:cNvSpPr>
              <a:spLocks noChangeArrowheads="1"/>
            </p:cNvSpPr>
            <p:nvPr/>
          </p:nvSpPr>
          <p:spPr bwMode="auto">
            <a:xfrm>
              <a:off x="2520" y="3780"/>
              <a:ext cx="180" cy="31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/>
              <a:endParaRPr lang="en-US" altLang="zh-CN" sz="1600" b="1" dirty="0"/>
            </a:p>
            <a:p>
              <a:pPr algn="just"/>
              <a:r>
                <a:rPr lang="en-US" altLang="zh-CN" sz="1600" b="1" dirty="0"/>
                <a:t>}</a:t>
              </a:r>
            </a:p>
          </p:txBody>
        </p:sp>
        <p:grpSp>
          <p:nvGrpSpPr>
            <p:cNvPr id="40" name="Group 55"/>
            <p:cNvGrpSpPr>
              <a:grpSpLocks/>
            </p:cNvGrpSpPr>
            <p:nvPr/>
          </p:nvGrpSpPr>
          <p:grpSpPr bwMode="auto">
            <a:xfrm rot="12722646">
              <a:off x="3443" y="5005"/>
              <a:ext cx="540" cy="585"/>
              <a:chOff x="4500" y="6003"/>
              <a:chExt cx="540" cy="585"/>
            </a:xfrm>
            <a:grpFill/>
          </p:grpSpPr>
          <p:sp>
            <p:nvSpPr>
              <p:cNvPr id="42" name="Line 56"/>
              <p:cNvSpPr>
                <a:spLocks noChangeShapeType="1"/>
              </p:cNvSpPr>
              <p:nvPr/>
            </p:nvSpPr>
            <p:spPr bwMode="auto">
              <a:xfrm flipH="1">
                <a:off x="5040" y="6276"/>
                <a:ext cx="0" cy="156"/>
              </a:xfrm>
              <a:prstGeom prst="lin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 sz="1600" b="1"/>
              </a:p>
            </p:txBody>
          </p:sp>
          <p:sp>
            <p:nvSpPr>
              <p:cNvPr id="43" name="Arc 57"/>
              <p:cNvSpPr>
                <a:spLocks/>
              </p:cNvSpPr>
              <p:nvPr/>
            </p:nvSpPr>
            <p:spPr bwMode="auto">
              <a:xfrm>
                <a:off x="4500" y="6003"/>
                <a:ext cx="540" cy="585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27596 w 43200"/>
                  <a:gd name="T1" fmla="*/ 42351 h 43200"/>
                  <a:gd name="T2" fmla="*/ 43200 w 43200"/>
                  <a:gd name="T3" fmla="*/ 21600 h 43200"/>
                  <a:gd name="T4" fmla="*/ 21600 w 43200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43200" fill="none" extrusionOk="0">
                    <a:moveTo>
                      <a:pt x="27596" y="42351"/>
                    </a:moveTo>
                    <a:cubicBezTo>
                      <a:pt x="25647" y="42914"/>
                      <a:pt x="23628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43200" stroke="0" extrusionOk="0">
                    <a:moveTo>
                      <a:pt x="27596" y="42351"/>
                    </a:moveTo>
                    <a:cubicBezTo>
                      <a:pt x="25647" y="42914"/>
                      <a:pt x="23628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/>
              </a:p>
            </p:txBody>
          </p:sp>
        </p:grpSp>
        <p:sp>
          <p:nvSpPr>
            <p:cNvPr id="41" name="Rectangle 58"/>
            <p:cNvSpPr>
              <a:spLocks noChangeArrowheads="1"/>
            </p:cNvSpPr>
            <p:nvPr/>
          </p:nvSpPr>
          <p:spPr bwMode="auto">
            <a:xfrm>
              <a:off x="4320" y="5028"/>
              <a:ext cx="720" cy="31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/>
              <a:r>
                <a:rPr lang="en-US" altLang="zh-CN" sz="1600" b="1" dirty="0"/>
                <a:t>other</a:t>
              </a:r>
            </a:p>
          </p:txBody>
        </p:sp>
      </p:grp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D429C-C85D-444C-8709-9515B2BFB96C}" type="slidenum">
              <a:rPr lang="zh-CN" altLang="en-US" smtClean="0"/>
              <a:pPr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6722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24233D-4DDA-48A7-806A-082440CF7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b="1" dirty="0">
                <a:solidFill>
                  <a:srgbClr val="000000"/>
                </a:solidFill>
                <a:cs typeface="Times New Roman" panose="02020603050405020304" pitchFamily="18" charset="0"/>
              </a:rPr>
              <a:t>TINY</a:t>
            </a:r>
            <a:r>
              <a:rPr lang="zh-CN" altLang="zh-CN" sz="4000" b="1" dirty="0">
                <a:solidFill>
                  <a:srgbClr val="0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编译器</a:t>
            </a:r>
            <a:r>
              <a:rPr lang="zh-CN" altLang="en-US" sz="4000" b="1" dirty="0">
                <a:solidFill>
                  <a:srgbClr val="0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源代码说明</a:t>
            </a:r>
            <a:endParaRPr lang="zh-CN" altLang="en-US" sz="4000" dirty="0">
              <a:ea typeface="微软雅黑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2670F7-D6C9-4794-90EB-C04A95B3DAF1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/>
          <a:lstStyle/>
          <a:p>
            <a:pPr algn="just">
              <a:spcBef>
                <a:spcPts val="600"/>
              </a:spcBef>
            </a:pPr>
            <a:r>
              <a:rPr lang="en-US" altLang="zh-CN" sz="2800" b="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TINY</a:t>
            </a:r>
            <a:r>
              <a:rPr lang="zh-CN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编译器包括以下文件</a:t>
            </a:r>
            <a:r>
              <a:rPr lang="zh-CN" altLang="en-US" sz="2800" b="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：</a:t>
            </a:r>
            <a:endParaRPr lang="en-US" altLang="zh-CN" sz="2800" b="1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  <a:p>
            <a:pPr marL="800100" lvl="2" indent="0" algn="just">
              <a:spcBef>
                <a:spcPts val="600"/>
              </a:spcBef>
              <a:buNone/>
            </a:pPr>
            <a:r>
              <a:rPr lang="en-US" altLang="zh-CN" b="1" kern="0" dirty="0" err="1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globals.h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    	</a:t>
            </a:r>
            <a:r>
              <a:rPr lang="en-US" altLang="zh-CN" b="1" kern="0" dirty="0" err="1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main.c</a:t>
            </a:r>
            <a:endParaRPr lang="zh-CN" altLang="zh-CN" b="1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800100" lvl="2" indent="0" algn="just">
              <a:spcBef>
                <a:spcPts val="600"/>
              </a:spcBef>
              <a:buNone/>
            </a:pPr>
            <a:r>
              <a:rPr lang="en-US" altLang="zh-CN" b="1" kern="0" dirty="0" err="1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util.h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       	</a:t>
            </a:r>
            <a:r>
              <a:rPr lang="en-US" altLang="zh-CN" b="1" kern="0" dirty="0" err="1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util.c</a:t>
            </a:r>
            <a:endParaRPr lang="zh-CN" altLang="zh-CN" b="1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800100" lvl="2" indent="0" algn="just">
              <a:spcBef>
                <a:spcPts val="600"/>
              </a:spcBef>
              <a:buNone/>
            </a:pPr>
            <a:r>
              <a:rPr lang="en-US" altLang="zh-CN" b="1" kern="0" dirty="0" err="1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scan.h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		</a:t>
            </a:r>
            <a:r>
              <a:rPr lang="en-US" altLang="zh-CN" b="1" kern="0" dirty="0" err="1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scan.c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		</a:t>
            </a:r>
            <a:r>
              <a:rPr lang="en-US" altLang="zh-CN" b="1" kern="0" dirty="0"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//</a:t>
            </a:r>
            <a:r>
              <a:rPr lang="zh-CN" altLang="zh-CN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扫描程序</a:t>
            </a:r>
          </a:p>
          <a:p>
            <a:pPr marL="800100" lvl="2" indent="0" algn="just">
              <a:spcBef>
                <a:spcPts val="600"/>
              </a:spcBef>
              <a:buNone/>
            </a:pPr>
            <a:r>
              <a:rPr lang="en-US" altLang="zh-CN" b="1" kern="0" dirty="0" err="1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parse.h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 	</a:t>
            </a:r>
            <a:r>
              <a:rPr lang="en-US" altLang="zh-CN" b="1" kern="0" dirty="0" err="1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parse.c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		</a:t>
            </a:r>
            <a:r>
              <a:rPr lang="en-US" altLang="zh-CN" b="1" kern="0" dirty="0"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//</a:t>
            </a:r>
            <a:r>
              <a:rPr lang="zh-CN" altLang="en-US" b="1" kern="0" dirty="0"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分析程序</a:t>
            </a:r>
            <a:endParaRPr lang="zh-CN" altLang="zh-CN" b="1" kern="100" dirty="0">
              <a:solidFill>
                <a:srgbClr val="FF0000"/>
              </a:solidFill>
              <a:effectLst/>
              <a:latin typeface="+mn-ea"/>
              <a:cs typeface="Times New Roman" panose="02020603050405020304" pitchFamily="18" charset="0"/>
            </a:endParaRPr>
          </a:p>
          <a:p>
            <a:pPr marL="800100" lvl="2" indent="0" algn="just">
              <a:spcBef>
                <a:spcPts val="600"/>
              </a:spcBef>
              <a:buNone/>
            </a:pPr>
            <a:r>
              <a:rPr lang="en-US" altLang="zh-CN" b="1" kern="0" dirty="0" err="1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symtab.h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 	</a:t>
            </a:r>
            <a:r>
              <a:rPr lang="en-US" altLang="zh-CN" b="1" kern="0" dirty="0" err="1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symtab.c</a:t>
            </a:r>
            <a:endParaRPr lang="zh-CN" altLang="zh-CN" b="1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800100" lvl="2" indent="0" algn="just">
              <a:spcBef>
                <a:spcPts val="600"/>
              </a:spcBef>
              <a:buNone/>
            </a:pPr>
            <a:r>
              <a:rPr lang="en-US" altLang="zh-CN" b="1" kern="0" dirty="0" err="1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analyze.h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 	</a:t>
            </a:r>
            <a:r>
              <a:rPr lang="en-US" altLang="zh-CN" b="1" kern="0" dirty="0" err="1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analyze.c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		</a:t>
            </a:r>
            <a:r>
              <a:rPr lang="en-US" altLang="zh-CN" b="1" kern="0" dirty="0"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//</a:t>
            </a:r>
            <a:r>
              <a:rPr lang="zh-CN" altLang="en-US" b="1" kern="0" dirty="0"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语义分析程序</a:t>
            </a:r>
            <a:endParaRPr lang="zh-CN" altLang="zh-CN" b="1" kern="100" dirty="0">
              <a:solidFill>
                <a:srgbClr val="FF0000"/>
              </a:solidFill>
              <a:effectLst/>
              <a:latin typeface="+mn-ea"/>
              <a:cs typeface="Times New Roman" panose="02020603050405020304" pitchFamily="18" charset="0"/>
            </a:endParaRPr>
          </a:p>
          <a:p>
            <a:pPr marL="800100" lvl="2" indent="0" algn="just">
              <a:spcBef>
                <a:spcPts val="600"/>
              </a:spcBef>
              <a:buNone/>
            </a:pPr>
            <a:r>
              <a:rPr lang="en-US" altLang="zh-CN" b="1" kern="0" dirty="0" err="1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code.h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		</a:t>
            </a:r>
            <a:r>
              <a:rPr lang="en-US" altLang="zh-CN" b="1" kern="0" dirty="0" err="1"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code.c</a:t>
            </a:r>
            <a:endParaRPr lang="zh-CN" altLang="zh-CN" b="1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800100" lvl="2" indent="0">
              <a:spcBef>
                <a:spcPts val="600"/>
              </a:spcBef>
              <a:buNone/>
            </a:pPr>
            <a:r>
              <a:rPr lang="en-US" altLang="zh-CN" b="1" kern="0" dirty="0" err="1">
                <a:solidFill>
                  <a:srgbClr val="000000"/>
                </a:solidFill>
                <a:effectLst/>
                <a:latin typeface="+mn-ea"/>
              </a:rPr>
              <a:t>cgen.h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n-ea"/>
              </a:rPr>
              <a:t>		</a:t>
            </a:r>
            <a:r>
              <a:rPr lang="en-US" altLang="zh-CN" b="1" kern="0" dirty="0" err="1">
                <a:solidFill>
                  <a:srgbClr val="000000"/>
                </a:solidFill>
                <a:effectLst/>
                <a:latin typeface="+mn-ea"/>
              </a:rPr>
              <a:t>cgen.c</a:t>
            </a:r>
            <a:r>
              <a:rPr lang="en-US" altLang="zh-CN" b="1" kern="0" dirty="0">
                <a:solidFill>
                  <a:srgbClr val="000000"/>
                </a:solidFill>
                <a:effectLst/>
                <a:latin typeface="+mn-ea"/>
              </a:rPr>
              <a:t>	</a:t>
            </a:r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	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//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代码生成程序</a:t>
            </a:r>
            <a:endParaRPr lang="zh-CN" altLang="en-US" sz="1600" b="1" dirty="0">
              <a:solidFill>
                <a:srgbClr val="FF0000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BF2372-BA13-4375-91F3-C69E34461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D429C-C85D-444C-8709-9515B2BFB96C}" type="slidenum">
              <a:rPr lang="zh-CN" altLang="en-US" smtClean="0"/>
              <a:pPr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32738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24233D-4DDA-48A7-806A-082440CF7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b="1" dirty="0">
                <a:solidFill>
                  <a:srgbClr val="000000"/>
                </a:solidFill>
                <a:cs typeface="Times New Roman" panose="02020603050405020304" pitchFamily="18" charset="0"/>
              </a:rPr>
              <a:t>TINY</a:t>
            </a:r>
            <a:r>
              <a:rPr lang="zh-CN" altLang="zh-CN" sz="4000" b="1" dirty="0">
                <a:solidFill>
                  <a:srgbClr val="0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编译器</a:t>
            </a:r>
            <a:r>
              <a:rPr lang="zh-CN" altLang="en-US" sz="4000" b="1" dirty="0">
                <a:solidFill>
                  <a:srgbClr val="0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源代码说明</a:t>
            </a:r>
            <a:endParaRPr lang="zh-CN" altLang="en-US" sz="4000" dirty="0">
              <a:ea typeface="微软雅黑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2670F7-D6C9-4794-90EB-C04A95B3DAF1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/>
          <a:lstStyle/>
          <a:p>
            <a:pPr marL="0" indent="266700">
              <a:lnSpc>
                <a:spcPct val="150000"/>
              </a:lnSpc>
              <a:spcBef>
                <a:spcPts val="0"/>
              </a:spcBef>
            </a:pPr>
            <a:r>
              <a:rPr lang="zh-CN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为了灵活起见，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程序中设置</a:t>
            </a:r>
            <a:r>
              <a:rPr lang="zh-CN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了条件编译标志，使得有可能创建出一部分的编译器。如下是该标志及其效果：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标志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	       </a:t>
            </a:r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设置效果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</a:t>
            </a:r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编译所需文件</a:t>
            </a:r>
            <a:endParaRPr lang="zh-CN" altLang="zh-CN" sz="2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NO_PARSE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</a:t>
            </a:r>
            <a:r>
              <a:rPr lang="zh-CN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创建只扫描的编译器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20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globals.h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main.c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util.h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                                     </a:t>
            </a:r>
            <a:r>
              <a:rPr lang="en-US" altLang="zh-CN" sz="20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util.c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scan.h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scan.c</a:t>
            </a:r>
            <a:endParaRPr lang="zh-CN" altLang="zh-CN" sz="20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NO_ANALYZE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zh-CN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创建只分析和扫描的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20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parse.h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parse.c</a:t>
            </a:r>
            <a:endParaRPr lang="zh-CN" altLang="zh-CN" sz="20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</a:t>
            </a:r>
            <a:r>
              <a:rPr lang="zh-CN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编译器</a:t>
            </a:r>
            <a:endParaRPr lang="zh-CN" altLang="zh-CN" sz="20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NO_CODE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	    </a:t>
            </a:r>
            <a:r>
              <a:rPr lang="zh-CN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创建执行语义分析， 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      </a:t>
            </a:r>
            <a:r>
              <a:rPr lang="en-US" altLang="zh-CN" sz="20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symtab.h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symtab.c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endParaRPr lang="zh-CN" altLang="zh-CN" sz="20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</a:t>
            </a:r>
            <a:r>
              <a:rPr lang="zh-CN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但不生成代码的编译器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en-US" altLang="zh-CN" sz="20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analyze.h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, </a:t>
            </a:r>
            <a:r>
              <a:rPr lang="en-US" altLang="zh-CN" sz="20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analyze.c</a:t>
            </a:r>
            <a:endParaRPr lang="en-US" altLang="zh-CN" sz="2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BF2372-BA13-4375-91F3-C69E34461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D429C-C85D-444C-8709-9515B2BFB96C}" type="slidenum">
              <a:rPr lang="zh-CN" altLang="en-US" smtClean="0"/>
              <a:pPr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61962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24233D-4DDA-48A7-806A-082440CF7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b="1" dirty="0">
                <a:solidFill>
                  <a:srgbClr val="000000"/>
                </a:solidFill>
                <a:cs typeface="Times New Roman" panose="02020603050405020304" pitchFamily="18" charset="0"/>
              </a:rPr>
              <a:t>TINY</a:t>
            </a:r>
            <a:r>
              <a:rPr lang="zh-CN" altLang="zh-CN" sz="4000" b="1" dirty="0">
                <a:solidFill>
                  <a:srgbClr val="0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编译器</a:t>
            </a:r>
            <a:r>
              <a:rPr lang="zh-CN" altLang="en-US" sz="4000" b="1" dirty="0">
                <a:solidFill>
                  <a:srgbClr val="0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源代码说明</a:t>
            </a:r>
            <a:endParaRPr lang="zh-CN" altLang="en-US" sz="4000" dirty="0">
              <a:ea typeface="微软雅黑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2670F7-D6C9-4794-90EB-C04A95B3DAF1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/>
          <a:lstStyle/>
          <a:p>
            <a:pPr marL="0" indent="266700">
              <a:lnSpc>
                <a:spcPct val="150000"/>
              </a:lnSpc>
              <a:spcBef>
                <a:spcPts val="0"/>
              </a:spcBef>
            </a:pPr>
            <a:r>
              <a:rPr lang="zh-CN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在编辑列表的信息中有若干选项，以下的标志均可用：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标志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		</a:t>
            </a:r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设置效果</a:t>
            </a:r>
            <a:endParaRPr lang="zh-CN" altLang="zh-CN" sz="2400" b="1" kern="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EchoSource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zh-CN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TINY</a:t>
            </a:r>
            <a:r>
              <a:rPr lang="zh-CN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源程序回显到带有行号的列表</a:t>
            </a:r>
            <a:endParaRPr lang="zh-CN" altLang="zh-CN" sz="2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TraceScan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	      </a:t>
            </a:r>
            <a:r>
              <a:rPr lang="zh-CN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当扫描程序识别出记号时，就显示每个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</a:t>
            </a:r>
            <a:r>
              <a:rPr lang="zh-CN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记号的信息</a:t>
            </a:r>
            <a:endParaRPr lang="zh-CN" altLang="zh-CN" sz="2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TraceParse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	      </a:t>
            </a:r>
            <a:r>
              <a:rPr lang="zh-CN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将语法树以线性化格式显示</a:t>
            </a:r>
            <a:endParaRPr lang="zh-CN" altLang="zh-CN" sz="2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TraceAnalyze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zh-CN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显示符号表和类型检查的小结信息</a:t>
            </a:r>
            <a:endParaRPr lang="zh-CN" altLang="zh-CN" sz="2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TraceCode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	      </a:t>
            </a:r>
            <a:r>
              <a:rPr lang="zh-CN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打印有关代码文件的代码生成跟踪注释</a:t>
            </a:r>
            <a:endParaRPr lang="en-US" altLang="zh-CN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BF2372-BA13-4375-91F3-C69E34461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D429C-C85D-444C-8709-9515B2BFB96C}" type="slidenum">
              <a:rPr lang="zh-CN" altLang="en-US" smtClean="0"/>
              <a:pPr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22223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b="1" dirty="0"/>
              <a:t>TINY</a:t>
            </a:r>
            <a:r>
              <a:rPr lang="zh-CN" altLang="en-US" sz="4000" b="1" dirty="0"/>
              <a:t>编译器源代码说明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47528" y="1999382"/>
            <a:ext cx="8496944" cy="45259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词法扫描部分需要关注的文件：</a:t>
            </a:r>
            <a:endParaRPr lang="en-US" altLang="zh-CN" sz="2400" b="1" dirty="0"/>
          </a:p>
          <a:p>
            <a:pPr lvl="1">
              <a:lnSpc>
                <a:spcPct val="150000"/>
              </a:lnSpc>
            </a:pPr>
            <a:r>
              <a:rPr lang="en-US" altLang="zh-CN" sz="2400" b="1" dirty="0" err="1">
                <a:solidFill>
                  <a:srgbClr val="FF0000"/>
                </a:solidFill>
              </a:rPr>
              <a:t>main.c</a:t>
            </a:r>
            <a:r>
              <a:rPr lang="zh-CN" altLang="en-US" sz="2400" b="1" dirty="0"/>
              <a:t>：</a:t>
            </a:r>
            <a:r>
              <a:rPr lang="zh-CN" altLang="zh-CN" sz="2400" b="1" dirty="0"/>
              <a:t>运行编译器的主程序，它还分配和初始化全程变量</a:t>
            </a:r>
            <a:endParaRPr lang="en-US" altLang="zh-CN" sz="2400" b="1" dirty="0"/>
          </a:p>
          <a:p>
            <a:pPr lvl="1">
              <a:lnSpc>
                <a:spcPct val="150000"/>
              </a:lnSpc>
            </a:pPr>
            <a:r>
              <a:rPr lang="en-US" altLang="zh-CN" sz="2400" b="1" dirty="0" err="1">
                <a:solidFill>
                  <a:srgbClr val="FF0000"/>
                </a:solidFill>
              </a:rPr>
              <a:t>globals.h</a:t>
            </a:r>
            <a:r>
              <a:rPr lang="zh-CN" altLang="en-US" sz="2400" b="1" dirty="0"/>
              <a:t>：</a:t>
            </a:r>
            <a:r>
              <a:rPr lang="zh-CN" altLang="zh-CN" sz="2400" b="1" dirty="0"/>
              <a:t>数据类型的定义和整个编译器均使用的全</a:t>
            </a:r>
            <a:r>
              <a:rPr lang="zh-CN" altLang="en-US" sz="2400" b="1" dirty="0"/>
              <a:t>局</a:t>
            </a:r>
            <a:r>
              <a:rPr lang="zh-CN" altLang="zh-CN" sz="2400" b="1" dirty="0"/>
              <a:t>变量</a:t>
            </a:r>
            <a:endParaRPr lang="en-US" altLang="zh-CN" sz="2400" b="1" dirty="0"/>
          </a:p>
          <a:p>
            <a:pPr lvl="1">
              <a:lnSpc>
                <a:spcPct val="150000"/>
              </a:lnSpc>
            </a:pPr>
            <a:r>
              <a:rPr lang="en-US" altLang="zh-CN" sz="2400" b="1" dirty="0" err="1">
                <a:solidFill>
                  <a:srgbClr val="FF0000"/>
                </a:solidFill>
              </a:rPr>
              <a:t>scan.c</a:t>
            </a:r>
            <a:r>
              <a:rPr lang="en-US" altLang="zh-CN" sz="2400" b="1" dirty="0">
                <a:solidFill>
                  <a:srgbClr val="FF0000"/>
                </a:solidFill>
              </a:rPr>
              <a:t>/</a:t>
            </a:r>
            <a:r>
              <a:rPr lang="en-US" altLang="zh-CN" sz="2400" b="1" dirty="0" err="1">
                <a:solidFill>
                  <a:srgbClr val="FF0000"/>
                </a:solidFill>
              </a:rPr>
              <a:t>scan.h</a:t>
            </a:r>
            <a:r>
              <a:rPr lang="zh-CN" altLang="en-US" sz="2400" b="1" dirty="0"/>
              <a:t>：词法</a:t>
            </a:r>
            <a:r>
              <a:rPr lang="zh-CN" altLang="zh-CN" sz="2400" b="1" dirty="0"/>
              <a:t>扫描程序</a:t>
            </a:r>
            <a:r>
              <a:rPr lang="zh-CN" altLang="en-US" sz="2400" b="1" dirty="0"/>
              <a:t>，</a:t>
            </a:r>
            <a:r>
              <a:rPr lang="zh-CN" altLang="zh-CN" sz="2400" b="1" dirty="0"/>
              <a:t>主要过程是</a:t>
            </a:r>
            <a:r>
              <a:rPr lang="en-US" altLang="zh-CN" b="1" dirty="0" err="1">
                <a:solidFill>
                  <a:srgbClr val="FF0000"/>
                </a:solidFill>
              </a:rPr>
              <a:t>getToken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D429C-C85D-444C-8709-9515B2BFB96C}" type="slidenum">
              <a:rPr lang="zh-CN" altLang="en-US" smtClean="0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5669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b="1" dirty="0"/>
              <a:t>TINY</a:t>
            </a:r>
            <a:r>
              <a:rPr lang="zh-CN" altLang="en-US" sz="4000" b="1" dirty="0"/>
              <a:t>编译器源代码说明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03512" y="1772817"/>
            <a:ext cx="8507288" cy="435334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词法扫描部分需要关注的变量和函数：</a:t>
            </a:r>
            <a:endParaRPr lang="en-US" altLang="zh-CN" sz="2400" b="1" dirty="0"/>
          </a:p>
          <a:p>
            <a:pPr lvl="1">
              <a:lnSpc>
                <a:spcPct val="150000"/>
              </a:lnSpc>
            </a:pPr>
            <a:r>
              <a:rPr lang="zh-CN" altLang="zh-CN" sz="2400" b="1" dirty="0">
                <a:solidFill>
                  <a:srgbClr val="FF0000"/>
                </a:solidFill>
              </a:rPr>
              <a:t>记号的串值</a:t>
            </a:r>
            <a:r>
              <a:rPr lang="zh-CN" altLang="en-US" sz="2400" b="1" dirty="0"/>
              <a:t>保存到</a:t>
            </a:r>
            <a:r>
              <a:rPr lang="zh-CN" altLang="zh-CN" sz="2400" b="1" dirty="0"/>
              <a:t>变量</a:t>
            </a:r>
            <a:r>
              <a:rPr lang="en-US" altLang="zh-CN" sz="2400" b="1" dirty="0" err="1">
                <a:solidFill>
                  <a:srgbClr val="FF0000"/>
                </a:solidFill>
              </a:rPr>
              <a:t>tokenString</a:t>
            </a:r>
            <a:r>
              <a:rPr lang="zh-CN" altLang="zh-CN" sz="2400" b="1" dirty="0"/>
              <a:t>之中</a:t>
            </a:r>
            <a:r>
              <a:rPr lang="zh-CN" altLang="en-US" sz="2400" b="1" dirty="0"/>
              <a:t>，该变量</a:t>
            </a:r>
            <a:r>
              <a:rPr lang="zh-CN" altLang="zh-CN" sz="2400" b="1" dirty="0"/>
              <a:t>长度固定为</a:t>
            </a:r>
            <a:r>
              <a:rPr lang="en-US" altLang="zh-CN" sz="2400" b="1" dirty="0"/>
              <a:t>41</a:t>
            </a:r>
            <a:r>
              <a:rPr lang="zh-CN" altLang="zh-CN" sz="2400" b="1" dirty="0"/>
              <a:t>，因此标识符也就不能超过</a:t>
            </a:r>
            <a:r>
              <a:rPr lang="en-US" altLang="zh-CN" sz="2400" b="1" dirty="0"/>
              <a:t>40</a:t>
            </a:r>
            <a:r>
              <a:rPr lang="zh-CN" altLang="zh-CN" sz="2400" b="1" dirty="0"/>
              <a:t>个字符（加上结尾的空字符）。</a:t>
            </a:r>
            <a:endParaRPr lang="en-US" altLang="zh-CN" sz="2400" b="1" dirty="0"/>
          </a:p>
          <a:p>
            <a:pPr lvl="1">
              <a:lnSpc>
                <a:spcPct val="150000"/>
              </a:lnSpc>
            </a:pPr>
            <a:r>
              <a:rPr lang="zh-CN" altLang="zh-CN" sz="2400" b="1" dirty="0"/>
              <a:t>变量</a:t>
            </a:r>
            <a:r>
              <a:rPr lang="en-US" altLang="zh-CN" sz="2400" b="1" dirty="0">
                <a:solidFill>
                  <a:srgbClr val="FF0000"/>
                </a:solidFill>
              </a:rPr>
              <a:t>save</a:t>
            </a:r>
            <a:r>
              <a:rPr lang="zh-CN" altLang="zh-CN" sz="2400" b="1" dirty="0"/>
              <a:t>指示是否将一个字符增加到</a:t>
            </a:r>
            <a:r>
              <a:rPr lang="en-US" altLang="zh-CN" sz="2400" b="1" dirty="0" err="1"/>
              <a:t>tokenString</a:t>
            </a:r>
            <a:r>
              <a:rPr lang="zh-CN" altLang="en-US" sz="2400" b="1" dirty="0"/>
              <a:t>里面。</a:t>
            </a:r>
            <a:endParaRPr lang="en-US" altLang="zh-CN" sz="2400" b="1" dirty="0"/>
          </a:p>
          <a:p>
            <a:pPr lvl="1">
              <a:lnSpc>
                <a:spcPct val="150000"/>
              </a:lnSpc>
            </a:pPr>
            <a:r>
              <a:rPr lang="zh-CN" altLang="zh-CN" sz="2400" b="1" dirty="0"/>
              <a:t>表</a:t>
            </a:r>
            <a:r>
              <a:rPr lang="en-US" altLang="zh-CN" sz="2400" b="1" dirty="0" err="1">
                <a:solidFill>
                  <a:srgbClr val="FF0000"/>
                </a:solidFill>
              </a:rPr>
              <a:t>reservedWords</a:t>
            </a:r>
            <a:r>
              <a:rPr lang="zh-CN" altLang="zh-CN" sz="2400" b="1" dirty="0"/>
              <a:t>和过程</a:t>
            </a:r>
            <a:r>
              <a:rPr lang="en-US" altLang="zh-CN" sz="2400" b="1" dirty="0" err="1">
                <a:solidFill>
                  <a:srgbClr val="FF0000"/>
                </a:solidFill>
              </a:rPr>
              <a:t>reservedLookup</a:t>
            </a:r>
            <a:r>
              <a:rPr lang="zh-CN" altLang="zh-CN" sz="2400" b="1" dirty="0"/>
              <a:t>完成识别</a:t>
            </a:r>
            <a:r>
              <a:rPr lang="zh-CN" altLang="en-US" sz="2400" b="1" dirty="0"/>
              <a:t>出</a:t>
            </a:r>
            <a:r>
              <a:rPr lang="zh-CN" altLang="zh-CN" sz="2400" b="1" dirty="0"/>
              <a:t>标识符之后的保留字查找</a:t>
            </a:r>
            <a:r>
              <a:rPr lang="zh-CN" altLang="en-US" sz="2400" b="1" dirty="0"/>
              <a:t>。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D429C-C85D-444C-8709-9515B2BFB96C}" type="slidenum">
              <a:rPr lang="zh-CN" altLang="en-US" smtClean="0"/>
              <a:pPr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81394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b="1" dirty="0"/>
              <a:t>TINY</a:t>
            </a:r>
            <a:r>
              <a:rPr lang="zh-CN" altLang="en-US" sz="4000" b="1" dirty="0"/>
              <a:t>编译器源代码说明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772817"/>
            <a:ext cx="8229600" cy="435334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词法扫描部分需要关注的变量和函数：</a:t>
            </a:r>
            <a:endParaRPr lang="en-US" altLang="zh-CN" sz="2400" b="1" dirty="0"/>
          </a:p>
          <a:p>
            <a:pPr lvl="1">
              <a:lnSpc>
                <a:spcPct val="150000"/>
              </a:lnSpc>
            </a:pPr>
            <a:r>
              <a:rPr lang="zh-CN" altLang="zh-CN" sz="2400" b="1" dirty="0"/>
              <a:t>字符输入由</a:t>
            </a:r>
            <a:r>
              <a:rPr lang="en-US" altLang="zh-CN" sz="2400" b="1" dirty="0" err="1">
                <a:solidFill>
                  <a:srgbClr val="FF0000"/>
                </a:solidFill>
              </a:rPr>
              <a:t>getNextChar</a:t>
            </a:r>
            <a:r>
              <a:rPr lang="zh-CN" altLang="zh-CN" sz="2400" b="1" dirty="0"/>
              <a:t>函数提供。</a:t>
            </a:r>
            <a:r>
              <a:rPr lang="zh-CN" altLang="en-US" sz="2400" b="1" dirty="0"/>
              <a:t>假设每行不超过</a:t>
            </a:r>
            <a:r>
              <a:rPr lang="en-US" altLang="zh-CN" sz="2400" b="1" dirty="0"/>
              <a:t>255</a:t>
            </a:r>
            <a:r>
              <a:rPr lang="zh-CN" altLang="en-US" sz="2400" b="1" dirty="0"/>
              <a:t>个字符</a:t>
            </a:r>
            <a:endParaRPr lang="en-US" altLang="zh-CN" sz="2400" b="1" dirty="0"/>
          </a:p>
          <a:p>
            <a:pPr lvl="1">
              <a:lnSpc>
                <a:spcPct val="150000"/>
              </a:lnSpc>
            </a:pPr>
            <a:r>
              <a:rPr lang="en-US" altLang="zh-CN" sz="2400" b="1" dirty="0"/>
              <a:t>TINY</a:t>
            </a:r>
            <a:r>
              <a:rPr lang="zh-CN" altLang="zh-CN" sz="2400" b="1" dirty="0"/>
              <a:t>中的数与标识符的识别要求从</a:t>
            </a:r>
            <a:r>
              <a:rPr lang="en-US" altLang="zh-CN" sz="2400" b="1" dirty="0"/>
              <a:t>INNUM</a:t>
            </a:r>
            <a:r>
              <a:rPr lang="zh-CN" altLang="zh-CN" sz="2400" b="1" dirty="0"/>
              <a:t>和</a:t>
            </a:r>
            <a:r>
              <a:rPr lang="en-US" altLang="zh-CN" sz="2400" b="1" dirty="0"/>
              <a:t>INID</a:t>
            </a:r>
            <a:r>
              <a:rPr lang="zh-CN" altLang="zh-CN" sz="2400" b="1" dirty="0"/>
              <a:t>到最终状态的转换都应是非消耗的。通过</a:t>
            </a:r>
            <a:r>
              <a:rPr lang="en-US" altLang="zh-CN" sz="2400" b="1" dirty="0" err="1">
                <a:solidFill>
                  <a:srgbClr val="FF0000"/>
                </a:solidFill>
              </a:rPr>
              <a:t>ungetNextChar</a:t>
            </a:r>
            <a:r>
              <a:rPr lang="zh-CN" altLang="zh-CN" sz="2400" b="1" dirty="0"/>
              <a:t>过程在输入缓冲区中反填一个字符来完成这一任务</a:t>
            </a:r>
            <a:r>
              <a:rPr lang="zh-CN" altLang="en-US" sz="2400" b="1" dirty="0"/>
              <a:t>。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D429C-C85D-444C-8709-9515B2BFB96C}" type="slidenum">
              <a:rPr lang="zh-CN" altLang="en-US" smtClean="0"/>
              <a:pPr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02179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b="1" dirty="0"/>
              <a:t>程序要求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47528" y="1644010"/>
            <a:ext cx="8496944" cy="4395533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b="1" dirty="0"/>
              <a:t>程序要求用</a:t>
            </a:r>
            <a:r>
              <a:rPr lang="en-US" altLang="zh-CN" sz="2400" b="1" dirty="0"/>
              <a:t>C++</a:t>
            </a:r>
            <a:r>
              <a:rPr lang="zh-CN" altLang="en-US" sz="2400" b="1" dirty="0"/>
              <a:t>在</a:t>
            </a:r>
            <a:r>
              <a:rPr lang="en-US" altLang="zh-CN" sz="2400" b="1" dirty="0"/>
              <a:t>Windows</a:t>
            </a:r>
            <a:r>
              <a:rPr lang="zh-CN" altLang="en-US" sz="2400" b="1" dirty="0"/>
              <a:t>下实现，要求使用</a:t>
            </a:r>
            <a:r>
              <a:rPr lang="en-US" altLang="zh-CN" sz="2400" b="1" dirty="0">
                <a:solidFill>
                  <a:srgbClr val="FF0000"/>
                </a:solidFill>
              </a:rPr>
              <a:t>vs</a:t>
            </a:r>
            <a:r>
              <a:rPr lang="zh-CN" altLang="en-US" sz="2400" b="1" dirty="0">
                <a:solidFill>
                  <a:srgbClr val="FF0000"/>
                </a:solidFill>
              </a:rPr>
              <a:t>工程</a:t>
            </a:r>
            <a:r>
              <a:rPr lang="zh-CN" altLang="en-US" sz="2400" b="1" dirty="0"/>
              <a:t>或者</a:t>
            </a:r>
            <a:r>
              <a:rPr lang="en-US" altLang="zh-CN" sz="2400" b="1" dirty="0">
                <a:solidFill>
                  <a:srgbClr val="FF0000"/>
                </a:solidFill>
              </a:rPr>
              <a:t>dev</a:t>
            </a:r>
            <a:r>
              <a:rPr lang="zh-CN" altLang="en-US" sz="2400" b="1" dirty="0">
                <a:solidFill>
                  <a:srgbClr val="FF0000"/>
                </a:solidFill>
              </a:rPr>
              <a:t>工程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b="1" dirty="0"/>
              <a:t>编译生成的可执行文件命名为</a:t>
            </a:r>
            <a:r>
              <a:rPr lang="en-US" altLang="zh-CN" sz="2400" b="1" dirty="0">
                <a:solidFill>
                  <a:srgbClr val="FF0000"/>
                </a:solidFill>
              </a:rPr>
              <a:t>tinyscan.exe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b="1" dirty="0"/>
              <a:t>在命令行环境下输入</a:t>
            </a:r>
            <a:r>
              <a:rPr lang="en-US" altLang="zh-CN" sz="2400" b="1" dirty="0" err="1"/>
              <a:t>tinyscan</a:t>
            </a:r>
            <a:r>
              <a:rPr lang="zh-CN" altLang="en-US" sz="2400" b="1" dirty="0"/>
              <a:t>以及需处理的源文件名即可实现词法扫描输出到同名的</a:t>
            </a:r>
            <a:r>
              <a:rPr lang="en-US" altLang="zh-CN" sz="2400" b="1" dirty="0"/>
              <a:t>txt</a:t>
            </a:r>
            <a:r>
              <a:rPr lang="zh-CN" altLang="en-US" sz="2400" b="1" dirty="0"/>
              <a:t>文件中。</a:t>
            </a:r>
            <a:endParaRPr lang="en-US" altLang="zh-CN" sz="2400" b="1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b="1" dirty="0"/>
              <a:t>例如运行</a:t>
            </a:r>
            <a:r>
              <a:rPr lang="en-US" altLang="zh-CN" sz="2400" b="1" dirty="0" err="1">
                <a:solidFill>
                  <a:srgbClr val="FF0000"/>
                </a:solidFill>
              </a:rPr>
              <a:t>tinyscan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olidFill>
                  <a:srgbClr val="FF0000"/>
                </a:solidFill>
              </a:rPr>
              <a:t>1. </a:t>
            </a:r>
            <a:r>
              <a:rPr lang="en-US" altLang="zh-CN" sz="2400" b="1" dirty="0" err="1">
                <a:solidFill>
                  <a:srgbClr val="FF0000"/>
                </a:solidFill>
              </a:rPr>
              <a:t>tny</a:t>
            </a:r>
            <a:r>
              <a:rPr lang="zh-CN" altLang="en-US" sz="2400" b="1" dirty="0"/>
              <a:t>应在当前目录生成</a:t>
            </a:r>
            <a:r>
              <a:rPr lang="en-US" altLang="zh-CN" sz="2400" b="1" dirty="0" err="1">
                <a:solidFill>
                  <a:srgbClr val="FF0000"/>
                </a:solidFill>
              </a:rPr>
              <a:t>1.txt</a:t>
            </a:r>
            <a:r>
              <a:rPr lang="zh-CN" altLang="en-US" sz="2400" b="1" dirty="0"/>
              <a:t>作为输出。</a:t>
            </a:r>
            <a:endParaRPr lang="en-US" altLang="zh-CN" sz="2400" b="1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FF0000"/>
                </a:solidFill>
              </a:rPr>
              <a:t>出错打印</a:t>
            </a:r>
            <a:r>
              <a:rPr lang="zh-CN" altLang="en-US" sz="2400" b="1" dirty="0"/>
              <a:t>行结尾添加自己的</a:t>
            </a:r>
            <a:r>
              <a:rPr lang="zh-CN" altLang="en-US" sz="2400" b="1" dirty="0">
                <a:solidFill>
                  <a:srgbClr val="FF0000"/>
                </a:solidFill>
              </a:rPr>
              <a:t>学号姓名</a:t>
            </a:r>
            <a:r>
              <a:rPr lang="zh-CN" altLang="en-US" sz="2400" b="1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D429C-C85D-444C-8709-9515B2BFB96C}" type="slidenum">
              <a:rPr lang="zh-CN" altLang="en-US" smtClean="0"/>
              <a:pPr/>
              <a:t>20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334400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b="1" dirty="0"/>
              <a:t>输入输出样例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D429C-C85D-444C-8709-9515B2BFB96C}" type="slidenum">
              <a:rPr lang="zh-CN" altLang="en-US" smtClean="0"/>
              <a:pPr/>
              <a:t>21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2924" y="1988840"/>
            <a:ext cx="4968552" cy="4086634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B4F4E66A-722A-C974-03A2-0AE825E47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528" y="1874838"/>
            <a:ext cx="3640932" cy="4608512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altLang="zh-CN" sz="2000" b="1" kern="0" dirty="0">
                <a:solidFill>
                  <a:srgbClr val="00B050"/>
                </a:solidFill>
              </a:rPr>
              <a:t>{ Sample program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1" kern="0" dirty="0">
                <a:solidFill>
                  <a:srgbClr val="00B050"/>
                </a:solidFill>
              </a:rPr>
              <a:t>  in TINY language -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1" kern="0" dirty="0">
                <a:solidFill>
                  <a:srgbClr val="00B050"/>
                </a:solidFill>
              </a:rPr>
              <a:t>  computes factorial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1" kern="0" dirty="0">
                <a:solidFill>
                  <a:srgbClr val="00B050"/>
                </a:solidFill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1" kern="0" dirty="0">
                <a:solidFill>
                  <a:srgbClr val="0000FF"/>
                </a:solidFill>
              </a:rPr>
              <a:t>read</a:t>
            </a:r>
            <a:r>
              <a:rPr lang="en-US" altLang="zh-CN" sz="2000" b="1" kern="0" dirty="0"/>
              <a:t> x; </a:t>
            </a:r>
            <a:r>
              <a:rPr lang="en-US" altLang="zh-CN" sz="2000" b="1" kern="0" dirty="0">
                <a:solidFill>
                  <a:srgbClr val="00B050"/>
                </a:solidFill>
              </a:rPr>
              <a:t>{input an integer}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1" kern="0" dirty="0">
                <a:solidFill>
                  <a:srgbClr val="0000FF"/>
                </a:solidFill>
              </a:rPr>
              <a:t>if</a:t>
            </a:r>
            <a:r>
              <a:rPr lang="en-US" altLang="zh-CN" sz="2000" b="1" kern="0" dirty="0"/>
              <a:t> 0</a:t>
            </a:r>
            <a:r>
              <a:rPr lang="en-US" altLang="zh-CN" sz="2000" b="1" kern="0" dirty="0">
                <a:solidFill>
                  <a:srgbClr val="FF0000"/>
                </a:solidFill>
              </a:rPr>
              <a:t>&lt;</a:t>
            </a:r>
            <a:r>
              <a:rPr lang="en-US" altLang="zh-CN" sz="2000" b="1" kern="0" dirty="0"/>
              <a:t>x </a:t>
            </a:r>
            <a:r>
              <a:rPr lang="en-US" altLang="zh-CN" sz="2000" b="1" kern="0" dirty="0">
                <a:solidFill>
                  <a:srgbClr val="0000FF"/>
                </a:solidFill>
              </a:rPr>
              <a:t>then</a:t>
            </a:r>
            <a:r>
              <a:rPr lang="en-US" altLang="zh-CN" sz="2000" b="1" kern="0" dirty="0"/>
              <a:t> </a:t>
            </a:r>
            <a:r>
              <a:rPr lang="en-US" altLang="zh-CN" sz="2000" b="1" kern="0" dirty="0">
                <a:solidFill>
                  <a:srgbClr val="00B050"/>
                </a:solidFill>
              </a:rPr>
              <a:t>{don</a:t>
            </a:r>
            <a:r>
              <a:rPr lang="en-US" altLang="zh-CN" sz="2000" b="1" kern="0" dirty="0">
                <a:solidFill>
                  <a:srgbClr val="00B050"/>
                </a:solidFill>
                <a:latin typeface="Arial"/>
              </a:rPr>
              <a:t>’</a:t>
            </a:r>
            <a:r>
              <a:rPr lang="en-US" altLang="zh-CN" sz="2000" b="1" kern="0" dirty="0">
                <a:solidFill>
                  <a:srgbClr val="00B050"/>
                </a:solidFill>
              </a:rPr>
              <a:t>t compute if x &lt;=0}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1" kern="0" dirty="0"/>
              <a:t>    fact</a:t>
            </a:r>
            <a:r>
              <a:rPr lang="en-US" altLang="zh-CN" sz="2000" b="1" kern="0" dirty="0">
                <a:solidFill>
                  <a:srgbClr val="FF0000"/>
                </a:solidFill>
              </a:rPr>
              <a:t>:=</a:t>
            </a:r>
            <a:r>
              <a:rPr lang="en-US" altLang="zh-CN" sz="2000" b="1" kern="0" dirty="0"/>
              <a:t>1;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1" kern="0" dirty="0"/>
              <a:t>    </a:t>
            </a:r>
            <a:r>
              <a:rPr lang="en-US" altLang="zh-CN" sz="2000" b="1" kern="0" dirty="0">
                <a:solidFill>
                  <a:srgbClr val="0000FF"/>
                </a:solidFill>
              </a:rPr>
              <a:t>repeat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1" kern="0" dirty="0"/>
              <a:t>        fact </a:t>
            </a:r>
            <a:r>
              <a:rPr lang="en-US" altLang="zh-CN" sz="2000" b="1" kern="0" dirty="0">
                <a:solidFill>
                  <a:srgbClr val="FF0000"/>
                </a:solidFill>
              </a:rPr>
              <a:t>:=</a:t>
            </a:r>
            <a:r>
              <a:rPr lang="en-US" altLang="zh-CN" sz="2000" b="1" kern="0" dirty="0"/>
              <a:t>fact </a:t>
            </a:r>
            <a:r>
              <a:rPr lang="en-US" altLang="zh-CN" sz="2000" b="1" kern="0" dirty="0">
                <a:solidFill>
                  <a:srgbClr val="FF0000"/>
                </a:solidFill>
              </a:rPr>
              <a:t>*</a:t>
            </a:r>
            <a:r>
              <a:rPr lang="en-US" altLang="zh-CN" sz="2000" b="1" kern="0" dirty="0"/>
              <a:t>x;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1" kern="0" dirty="0"/>
              <a:t>        x</a:t>
            </a:r>
            <a:r>
              <a:rPr lang="en-US" altLang="zh-CN" sz="2000" b="1" kern="0" dirty="0">
                <a:solidFill>
                  <a:srgbClr val="FF0000"/>
                </a:solidFill>
              </a:rPr>
              <a:t>:=</a:t>
            </a:r>
            <a:r>
              <a:rPr lang="en-US" altLang="zh-CN" sz="2000" b="1" kern="0" dirty="0"/>
              <a:t>x</a:t>
            </a:r>
            <a:r>
              <a:rPr lang="en-US" altLang="zh-CN" sz="2000" b="1" kern="0" dirty="0">
                <a:solidFill>
                  <a:srgbClr val="FF0000"/>
                </a:solidFill>
              </a:rPr>
              <a:t>-</a:t>
            </a:r>
            <a:r>
              <a:rPr lang="en-US" altLang="zh-CN" sz="2000" b="1" kern="0" dirty="0"/>
              <a:t>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1" kern="0" dirty="0"/>
              <a:t>    </a:t>
            </a:r>
            <a:r>
              <a:rPr lang="en-US" altLang="zh-CN" sz="2000" b="1" kern="0" dirty="0">
                <a:solidFill>
                  <a:srgbClr val="0000FF"/>
                </a:solidFill>
              </a:rPr>
              <a:t>until</a:t>
            </a:r>
            <a:r>
              <a:rPr lang="en-US" altLang="zh-CN" sz="2000" b="1" kern="0" dirty="0"/>
              <a:t> x</a:t>
            </a:r>
            <a:r>
              <a:rPr lang="en-US" altLang="zh-CN" sz="2000" b="1" kern="0" dirty="0">
                <a:solidFill>
                  <a:srgbClr val="FF0000"/>
                </a:solidFill>
              </a:rPr>
              <a:t>=</a:t>
            </a:r>
            <a:r>
              <a:rPr lang="en-US" altLang="zh-CN" sz="2000" b="1" kern="0" dirty="0"/>
              <a:t>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1" kern="0" dirty="0"/>
              <a:t>    </a:t>
            </a:r>
            <a:r>
              <a:rPr lang="en-US" altLang="zh-CN" sz="2000" b="1" kern="0" dirty="0">
                <a:solidFill>
                  <a:srgbClr val="0000FF"/>
                </a:solidFill>
              </a:rPr>
              <a:t>write</a:t>
            </a:r>
            <a:r>
              <a:rPr lang="en-US" altLang="zh-CN" sz="2000" b="1" kern="0" dirty="0"/>
              <a:t> fact </a:t>
            </a:r>
            <a:r>
              <a:rPr lang="en-US" altLang="zh-CN" sz="2000" b="1" kern="0" dirty="0">
                <a:solidFill>
                  <a:srgbClr val="00B050"/>
                </a:solidFill>
              </a:rPr>
              <a:t>{output factorial of x}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1" kern="0" dirty="0">
                <a:solidFill>
                  <a:srgbClr val="0000FF"/>
                </a:solidFill>
              </a:rPr>
              <a:t>end</a:t>
            </a:r>
            <a:endParaRPr lang="zh-CN" altLang="en-US" sz="2000" b="1" kern="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47854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6E441-72F4-5159-ED15-1481B2288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4E2202-CD3C-246E-05A4-BAC086FC2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3710000" cy="1143000"/>
          </a:xfrm>
        </p:spPr>
        <p:txBody>
          <a:bodyPr/>
          <a:lstStyle/>
          <a:p>
            <a:r>
              <a:rPr lang="zh-CN" altLang="en-US" sz="4000" b="1" dirty="0"/>
              <a:t>输入输出样例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F712AAC-DFBE-7B88-F5D2-973ED16A05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5734" y="1841784"/>
            <a:ext cx="3640932" cy="4608512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altLang="zh-CN" sz="2000" b="1" kern="0" dirty="0">
                <a:solidFill>
                  <a:srgbClr val="00B050"/>
                </a:solidFill>
              </a:rPr>
              <a:t>{ Sample program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1" kern="0" dirty="0">
                <a:solidFill>
                  <a:srgbClr val="00B050"/>
                </a:solidFill>
              </a:rPr>
              <a:t>  in TINY language -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1" kern="0" dirty="0">
                <a:solidFill>
                  <a:srgbClr val="00B050"/>
                </a:solidFill>
              </a:rPr>
              <a:t>  computes factorial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1" kern="0" dirty="0">
                <a:solidFill>
                  <a:srgbClr val="00B050"/>
                </a:solidFill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1" kern="0" dirty="0">
                <a:solidFill>
                  <a:srgbClr val="0000FF"/>
                </a:solidFill>
              </a:rPr>
              <a:t>read</a:t>
            </a:r>
            <a:r>
              <a:rPr lang="en-US" altLang="zh-CN" sz="2000" b="1" kern="0" dirty="0"/>
              <a:t> x; </a:t>
            </a:r>
            <a:r>
              <a:rPr lang="en-US" altLang="zh-CN" sz="2000" b="1" kern="0" dirty="0">
                <a:solidFill>
                  <a:srgbClr val="00B050"/>
                </a:solidFill>
              </a:rPr>
              <a:t>{input an integer}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1" kern="0" dirty="0">
                <a:solidFill>
                  <a:srgbClr val="0000FF"/>
                </a:solidFill>
              </a:rPr>
              <a:t>if</a:t>
            </a:r>
            <a:r>
              <a:rPr lang="en-US" altLang="zh-CN" sz="2000" b="1" kern="0" dirty="0"/>
              <a:t> 0</a:t>
            </a:r>
            <a:r>
              <a:rPr lang="en-US" altLang="zh-CN" sz="2000" b="1" kern="0" dirty="0">
                <a:solidFill>
                  <a:srgbClr val="FF0000"/>
                </a:solidFill>
              </a:rPr>
              <a:t>&lt;</a:t>
            </a:r>
            <a:r>
              <a:rPr lang="en-US" altLang="zh-CN" sz="2000" b="1" kern="0" dirty="0"/>
              <a:t>x </a:t>
            </a:r>
            <a:r>
              <a:rPr lang="en-US" altLang="zh-CN" sz="2000" b="1" kern="0" dirty="0">
                <a:solidFill>
                  <a:srgbClr val="0000FF"/>
                </a:solidFill>
              </a:rPr>
              <a:t>then</a:t>
            </a:r>
            <a:r>
              <a:rPr lang="en-US" altLang="zh-CN" sz="2000" b="1" kern="0" dirty="0"/>
              <a:t> </a:t>
            </a:r>
            <a:r>
              <a:rPr lang="en-US" altLang="zh-CN" sz="2000" b="1" kern="0" dirty="0">
                <a:solidFill>
                  <a:srgbClr val="00B050"/>
                </a:solidFill>
              </a:rPr>
              <a:t>{don</a:t>
            </a:r>
            <a:r>
              <a:rPr lang="en-US" altLang="zh-CN" sz="2000" b="1" kern="0" dirty="0">
                <a:solidFill>
                  <a:srgbClr val="00B050"/>
                </a:solidFill>
                <a:latin typeface="Arial"/>
              </a:rPr>
              <a:t>’</a:t>
            </a:r>
            <a:r>
              <a:rPr lang="en-US" altLang="zh-CN" sz="2000" b="1" kern="0" dirty="0">
                <a:solidFill>
                  <a:srgbClr val="00B050"/>
                </a:solidFill>
              </a:rPr>
              <a:t>t compute if x &lt;=0}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1" kern="0" dirty="0"/>
              <a:t>    fact</a:t>
            </a:r>
            <a:r>
              <a:rPr lang="en-US" altLang="zh-CN" sz="2000" b="1" kern="0" dirty="0">
                <a:solidFill>
                  <a:srgbClr val="FF0000"/>
                </a:solidFill>
              </a:rPr>
              <a:t>:=</a:t>
            </a:r>
            <a:r>
              <a:rPr lang="en-US" altLang="zh-CN" sz="2000" b="1" kern="0" dirty="0"/>
              <a:t>1;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1" kern="0" dirty="0"/>
              <a:t>    </a:t>
            </a:r>
            <a:r>
              <a:rPr lang="en-US" altLang="zh-CN" sz="2000" b="1" kern="0" dirty="0">
                <a:solidFill>
                  <a:srgbClr val="0000FF"/>
                </a:solidFill>
              </a:rPr>
              <a:t>repeat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1" kern="0" dirty="0"/>
              <a:t>        fact </a:t>
            </a:r>
            <a:r>
              <a:rPr lang="en-US" altLang="zh-CN" sz="2000" b="1" kern="0" dirty="0">
                <a:solidFill>
                  <a:srgbClr val="FF0000"/>
                </a:solidFill>
              </a:rPr>
              <a:t>:=</a:t>
            </a:r>
            <a:r>
              <a:rPr lang="en-US" altLang="zh-CN" sz="2000" b="1" kern="0" dirty="0"/>
              <a:t>fact </a:t>
            </a:r>
            <a:r>
              <a:rPr lang="en-US" altLang="zh-CN" sz="2000" b="1" kern="0" dirty="0">
                <a:solidFill>
                  <a:srgbClr val="FF0000"/>
                </a:solidFill>
              </a:rPr>
              <a:t>*</a:t>
            </a:r>
            <a:r>
              <a:rPr lang="en-US" altLang="zh-CN" sz="2000" b="1" kern="0" dirty="0"/>
              <a:t>x;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1" kern="0" dirty="0"/>
              <a:t>        x</a:t>
            </a:r>
            <a:r>
              <a:rPr lang="en-US" altLang="zh-CN" sz="2000" b="1" kern="0" dirty="0">
                <a:solidFill>
                  <a:srgbClr val="FF0000"/>
                </a:solidFill>
              </a:rPr>
              <a:t>:=</a:t>
            </a:r>
            <a:r>
              <a:rPr lang="en-US" altLang="zh-CN" sz="2000" b="1" kern="0" dirty="0"/>
              <a:t>x</a:t>
            </a:r>
            <a:r>
              <a:rPr lang="en-US" altLang="zh-CN" sz="2000" b="1" kern="0" dirty="0">
                <a:solidFill>
                  <a:srgbClr val="FF0000"/>
                </a:solidFill>
              </a:rPr>
              <a:t>-</a:t>
            </a:r>
            <a:r>
              <a:rPr lang="en-US" altLang="zh-CN" sz="2000" b="1" kern="0" dirty="0"/>
              <a:t>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1" kern="0" dirty="0"/>
              <a:t>    </a:t>
            </a:r>
            <a:r>
              <a:rPr lang="en-US" altLang="zh-CN" sz="2000" b="1" kern="0" dirty="0">
                <a:solidFill>
                  <a:srgbClr val="0000FF"/>
                </a:solidFill>
              </a:rPr>
              <a:t>until</a:t>
            </a:r>
            <a:r>
              <a:rPr lang="en-US" altLang="zh-CN" sz="2000" b="1" kern="0" dirty="0"/>
              <a:t> x</a:t>
            </a:r>
            <a:r>
              <a:rPr lang="en-US" altLang="zh-CN" sz="2000" b="1" kern="0" dirty="0">
                <a:solidFill>
                  <a:srgbClr val="FF0000"/>
                </a:solidFill>
              </a:rPr>
              <a:t>=</a:t>
            </a:r>
            <a:r>
              <a:rPr lang="en-US" altLang="zh-CN" sz="2000" b="1" kern="0" dirty="0"/>
              <a:t>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1" kern="0" dirty="0"/>
              <a:t>    </a:t>
            </a:r>
            <a:r>
              <a:rPr lang="en-US" altLang="zh-CN" sz="2000" b="1" kern="0" dirty="0">
                <a:solidFill>
                  <a:srgbClr val="0000FF"/>
                </a:solidFill>
              </a:rPr>
              <a:t>write</a:t>
            </a:r>
            <a:r>
              <a:rPr lang="en-US" altLang="zh-CN" sz="2000" b="1" kern="0" dirty="0"/>
              <a:t> fact </a:t>
            </a:r>
            <a:r>
              <a:rPr lang="en-US" altLang="zh-CN" sz="2000" b="1" kern="0" dirty="0">
                <a:solidFill>
                  <a:srgbClr val="00B050"/>
                </a:solidFill>
              </a:rPr>
              <a:t>{output factorial of x}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000" b="1" kern="0" dirty="0">
                <a:solidFill>
                  <a:srgbClr val="0000FF"/>
                </a:solidFill>
              </a:rPr>
              <a:t>end</a:t>
            </a:r>
            <a:endParaRPr lang="zh-CN" altLang="en-US" sz="2000" b="1" kern="0" dirty="0">
              <a:solidFill>
                <a:srgbClr val="0000FF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B3EFE38-B95A-E78C-1071-B3945DB227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0020" y="188640"/>
            <a:ext cx="3844412" cy="626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228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9C6B31-F33E-4E7B-A5B0-DE92AF69B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D429C-C85D-444C-8709-9515B2BFB96C}" type="slidenum">
              <a:rPr lang="zh-CN" altLang="en-US" smtClean="0"/>
              <a:pPr/>
              <a:t>23</a:t>
            </a:fld>
            <a:endParaRPr lang="en-US" altLang="zh-CN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B272B3-B584-4ABE-ADB0-E7BE6DA30B7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919536" y="744220"/>
            <a:ext cx="8352928" cy="520506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vert="horz" wrap="square" rtlCol="0" anchor="ctr" anchorCtr="0">
            <a:noAutofit/>
          </a:bodyPr>
          <a:lstStyle/>
          <a:p>
            <a:pPr marL="342900" indent="-342900" algn="just">
              <a:buFont typeface="+mj-lt"/>
              <a:buAutoNum type="arabicPeriod"/>
            </a:pPr>
            <a:endParaRPr lang="en-US" altLang="zh-CN" sz="2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57188" indent="-357188">
              <a:buFont typeface="+mj-lt"/>
              <a:buAutoNum type="arabicPeriod"/>
            </a:pPr>
            <a:r>
              <a:rPr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</a:t>
            </a:r>
            <a:r>
              <a:rPr lang="en-US" altLang="zh-CN" sz="240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ungetNextChar</a:t>
            </a:r>
            <a:r>
              <a:rPr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的作用是什么？什么时候需要调用？</a:t>
            </a:r>
            <a:endParaRPr lang="en-US" altLang="zh-CN" sz="2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57188" indent="-357188">
              <a:buFont typeface="+mj-lt"/>
              <a:buAutoNum type="arabicPeriod"/>
            </a:pPr>
            <a:r>
              <a:rPr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</a:t>
            </a:r>
            <a:r>
              <a:rPr lang="en-US" altLang="zh-CN" sz="240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reservedLookup</a:t>
            </a:r>
            <a:r>
              <a:rPr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的作用是什么？</a:t>
            </a:r>
            <a:endParaRPr lang="en-US" altLang="zh-CN" sz="2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57188" indent="-357188">
              <a:buFont typeface="+mj-lt"/>
              <a:buAutoNum type="arabicPeriod"/>
            </a:pPr>
            <a:r>
              <a:rPr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如果读入冒号后，下一个字符怎么处理？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zh-CN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如果要增加一个关键字，程序需要修改哪些地方？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zh-CN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如果允许标识符最长</a:t>
            </a:r>
            <a:r>
              <a:rPr lang="en-US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100</a:t>
            </a:r>
            <a:r>
              <a:rPr lang="zh-CN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个字符应该修改哪些地方？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zh-CN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如果允许一行源代码最长</a:t>
            </a:r>
            <a:r>
              <a:rPr lang="en-US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512</a:t>
            </a:r>
            <a:r>
              <a:rPr lang="zh-CN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个字符应该修改哪些地方？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altLang="zh-CN" sz="240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tokenStringIndex</a:t>
            </a:r>
            <a:r>
              <a:rPr lang="zh-CN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变量是干什么的？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START</a:t>
            </a:r>
            <a:r>
              <a:rPr lang="zh-CN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状态下当下一个字符是“</a:t>
            </a:r>
            <a:r>
              <a:rPr lang="en-US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r>
              <a:rPr lang="zh-CN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”时为什么</a:t>
            </a:r>
            <a:r>
              <a:rPr lang="en-US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save</a:t>
            </a:r>
            <a:r>
              <a:rPr lang="zh-CN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赋值为</a:t>
            </a:r>
            <a:r>
              <a:rPr lang="en-US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FALSE</a:t>
            </a:r>
            <a:r>
              <a:rPr lang="zh-CN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？</a:t>
            </a:r>
            <a:r>
              <a:rPr lang="en-US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save</a:t>
            </a:r>
            <a:r>
              <a:rPr lang="zh-CN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变量是干什么的？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zh-CN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代码里面哪些地方处理了文件结束？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altLang="zh-CN" sz="240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TOKENTYPE</a:t>
            </a:r>
            <a:r>
              <a:rPr lang="zh-CN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里面的</a:t>
            </a:r>
            <a:r>
              <a:rPr lang="en-US" altLang="zh-CN" sz="240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ENDFILE</a:t>
            </a:r>
            <a:r>
              <a:rPr lang="zh-CN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是一个什么记号？作用是什么？为什么要把</a:t>
            </a:r>
            <a:r>
              <a:rPr lang="en-US" altLang="zh-CN" sz="2400" b="1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ENDFILE</a:t>
            </a:r>
            <a:r>
              <a:rPr lang="zh-CN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当成一个记号输出？</a:t>
            </a:r>
            <a:endParaRPr lang="en-US" altLang="zh-CN" sz="24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读入空白符是怎么处理的？</a:t>
            </a:r>
            <a:endParaRPr lang="zh-CN" altLang="en-US" sz="3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D852A14-D6F3-4EB1-9835-6E87B330D3F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70A15E1-476A-43A0-A8E3-22CF8E2C7552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889720" y="6117590"/>
            <a:ext cx="5142385" cy="365760"/>
          </a:xfrm>
          <a:prstGeom prst="rect">
            <a:avLst/>
          </a:prstGeom>
          <a:solidFill>
            <a:srgbClr val="FBFAE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200" dirty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200" dirty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200" dirty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5E9516F8-03E8-48B8-BC09-6BCB7415894F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9" name="TitleBackground">
              <a:extLst>
                <a:ext uri="{FF2B5EF4-FFF2-40B4-BE49-F238E27FC236}">
                  <a16:creationId xmlns:a16="http://schemas.microsoft.com/office/drawing/2014/main" id="{AA367A47-5F98-44A6-A888-2676CAD4610D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ColorBlock">
              <a:extLst>
                <a:ext uri="{FF2B5EF4-FFF2-40B4-BE49-F238E27FC236}">
                  <a16:creationId xmlns:a16="http://schemas.microsoft.com/office/drawing/2014/main" id="{2C346E62-C4A2-44D9-BCCE-F0E50AC432B2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ypeText">
              <a:extLst>
                <a:ext uri="{FF2B5EF4-FFF2-40B4-BE49-F238E27FC236}">
                  <a16:creationId xmlns:a16="http://schemas.microsoft.com/office/drawing/2014/main" id="{7C1E27E0-99B3-450D-8E65-D1623CF15D44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2" name="TipText">
              <a:extLst>
                <a:ext uri="{FF2B5EF4-FFF2-40B4-BE49-F238E27FC236}">
                  <a16:creationId xmlns:a16="http://schemas.microsoft.com/office/drawing/2014/main" id="{A6FD33C6-9610-46B5-AD97-875E8AF67652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917C6985-6F47-4FA9-A32C-E2E558585ADF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03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0.0"/>
  <p:tag name="PROBLEMVOICEALLOWED" val="Fals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主题2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16995</TotalTime>
  <Words>1553</Words>
  <Application>Microsoft Office PowerPoint</Application>
  <PresentationFormat>宽屏</PresentationFormat>
  <Paragraphs>235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0" baseType="lpstr">
      <vt:lpstr>黑体</vt:lpstr>
      <vt:lpstr>微软雅黑</vt:lpstr>
      <vt:lpstr>微软雅黑</vt:lpstr>
      <vt:lpstr>Arial</vt:lpstr>
      <vt:lpstr>Tahoma</vt:lpstr>
      <vt:lpstr>Times New Roman</vt:lpstr>
      <vt:lpstr>主题2</vt:lpstr>
      <vt:lpstr>编译原理课程设计</vt:lpstr>
      <vt:lpstr>PowerPoint 演示文稿</vt:lpstr>
      <vt:lpstr>手工构造Tiny语言的词法分析器</vt:lpstr>
      <vt:lpstr>Tiny程序示例</vt:lpstr>
      <vt:lpstr>Tiny语言说明</vt:lpstr>
      <vt:lpstr>Tiny语言说明</vt:lpstr>
      <vt:lpstr>Tiny语言说明</vt:lpstr>
      <vt:lpstr>Tiny语言词法说明</vt:lpstr>
      <vt:lpstr>PowerPoint 演示文稿</vt:lpstr>
      <vt:lpstr>PowerPoint 演示文稿</vt:lpstr>
      <vt:lpstr>PowerPoint 演示文稿</vt:lpstr>
      <vt:lpstr>Tiny词法DFA</vt:lpstr>
      <vt:lpstr>Tiny词法DFA</vt:lpstr>
      <vt:lpstr>TINY编译器源代码说明</vt:lpstr>
      <vt:lpstr>TINY编译器源代码说明</vt:lpstr>
      <vt:lpstr>TINY编译器源代码说明</vt:lpstr>
      <vt:lpstr>TINY编译器源代码说明</vt:lpstr>
      <vt:lpstr>TINY编译器源代码说明</vt:lpstr>
      <vt:lpstr>TINY编译器源代码说明</vt:lpstr>
      <vt:lpstr>程序要求</vt:lpstr>
      <vt:lpstr>输入输出样例</vt:lpstr>
      <vt:lpstr>输入输出样例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薇 潘</cp:lastModifiedBy>
  <cp:revision>212</cp:revision>
  <dcterms:created xsi:type="dcterms:W3CDTF">1601-01-01T00:00:00Z</dcterms:created>
  <dcterms:modified xsi:type="dcterms:W3CDTF">2026-04-15T07:14:50Z</dcterms:modified>
</cp:coreProperties>
</file>