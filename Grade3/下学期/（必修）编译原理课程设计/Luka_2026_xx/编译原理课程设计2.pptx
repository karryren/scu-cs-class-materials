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76" r:id="rId1"/>
  </p:sldMasterIdLst>
  <p:notesMasterIdLst>
    <p:notesMasterId r:id="rId17"/>
  </p:notesMasterIdLst>
  <p:sldIdLst>
    <p:sldId id="257" r:id="rId2"/>
    <p:sldId id="258" r:id="rId3"/>
    <p:sldId id="259" r:id="rId4"/>
    <p:sldId id="261" r:id="rId5"/>
    <p:sldId id="526" r:id="rId6"/>
    <p:sldId id="273" r:id="rId7"/>
    <p:sldId id="274" r:id="rId8"/>
    <p:sldId id="275" r:id="rId9"/>
    <p:sldId id="276" r:id="rId10"/>
    <p:sldId id="264" r:id="rId11"/>
    <p:sldId id="525" r:id="rId12"/>
    <p:sldId id="272" r:id="rId13"/>
    <p:sldId id="270" r:id="rId14"/>
    <p:sldId id="260" r:id="rId15"/>
    <p:sldId id="271" r:id="rId1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CC"/>
    <a:srgbClr val="CCFF99"/>
    <a:srgbClr val="CC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66" autoAdjust="0"/>
  </p:normalViewPr>
  <p:slideViewPr>
    <p:cSldViewPr>
      <p:cViewPr varScale="1">
        <p:scale>
          <a:sx n="84" d="100"/>
          <a:sy n="84" d="100"/>
        </p:scale>
        <p:origin x="120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94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E36EE7FD-D95C-453D-96BD-7F3A63A0298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45400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64B214-DDA0-4009-8EB8-55F0D4006188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3141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BD429C-C85D-444C-8709-9515B2BFB96C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70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F888D-4931-48E4-8495-73CF59C91CC6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7159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1BD1B6-C95F-4B19-BEF6-0168FD4EA897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391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A5EE05-3095-4DDF-8329-E59BAC6A4FEA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600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051571-2577-4A80-B674-152C7D38E365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538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F887EB-56B6-495C-A97E-40D7B15055BD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121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1C29A0-CC01-4CE0-B922-62D06E686332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4982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3EBE1B-AEBF-4E92-A962-B9126A3D6B1D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769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B74711-2B6D-497F-9191-CC255F677AC8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648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D0FECF-A8F2-465B-A3DE-204F9FF6FEED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5893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fld id="{46B20972-1498-49DB-9F89-63567753771A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437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  <p:sldLayoutId id="2147483985" r:id="rId9"/>
    <p:sldLayoutId id="2147483986" r:id="rId10"/>
    <p:sldLayoutId id="2147483987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55640" y="2780928"/>
            <a:ext cx="6438900" cy="1462088"/>
          </a:xfrm>
        </p:spPr>
        <p:txBody>
          <a:bodyPr/>
          <a:lstStyle/>
          <a:p>
            <a:pPr eaLnBrk="1" hangingPunct="1"/>
            <a:r>
              <a:rPr lang="zh-CN" altLang="en-US" b="1" dirty="0"/>
              <a:t>编译原理课程设计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1981200" y="2420888"/>
            <a:ext cx="8229600" cy="1944216"/>
          </a:xfrm>
        </p:spPr>
        <p:txBody>
          <a:bodyPr/>
          <a:lstStyle/>
          <a:p>
            <a:pPr algn="ctr"/>
            <a:endParaRPr lang="en-US" altLang="zh-CN" sz="4000" b="1" dirty="0"/>
          </a:p>
          <a:p>
            <a:pPr algn="ctr"/>
            <a:r>
              <a:rPr lang="zh-CN" altLang="en-US" sz="4000" b="1" dirty="0"/>
              <a:t>实验</a:t>
            </a:r>
            <a:r>
              <a:rPr lang="en-US" altLang="zh-CN" sz="4000" b="1"/>
              <a:t>1-2</a:t>
            </a:r>
            <a:r>
              <a:rPr lang="zh-CN" altLang="en-US" sz="4000" b="1"/>
              <a:t>  </a:t>
            </a:r>
            <a:r>
              <a:rPr lang="zh-CN" altLang="en-US" sz="4000" b="1" dirty="0"/>
              <a:t>手工构造词法分析器</a:t>
            </a:r>
            <a:endParaRPr lang="en-US" altLang="zh-CN" sz="4000" b="1" dirty="0"/>
          </a:p>
          <a:p>
            <a:pPr marL="0" indent="0" algn="ctr">
              <a:buNone/>
            </a:pPr>
            <a:endParaRPr lang="en-US" altLang="zh-CN" sz="4000" b="1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2D404B2-95B4-4D80-9E6D-95E1117BD437}" type="slidenum">
              <a:rPr lang="zh-CN" altLang="en-US" b="1"/>
              <a:pPr eaLnBrk="1" hangingPunct="1"/>
              <a:t>2</a:t>
            </a:fld>
            <a:endParaRPr lang="en-US" altLang="zh-CN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/>
              <a:t>手工构造</a:t>
            </a:r>
            <a:r>
              <a:rPr lang="en-US" altLang="zh-CN" sz="4000" b="1" dirty="0"/>
              <a:t>C-</a:t>
            </a:r>
            <a:r>
              <a:rPr lang="zh-CN" altLang="en-US" sz="4000" b="1" dirty="0"/>
              <a:t>语言的词法分析器</a:t>
            </a:r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3215680" y="2060849"/>
            <a:ext cx="6624736" cy="39604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熟悉</a:t>
            </a:r>
            <a:r>
              <a:rPr lang="en-US" altLang="zh-CN" sz="2400" b="1" dirty="0"/>
              <a:t>C-</a:t>
            </a:r>
            <a:r>
              <a:rPr lang="zh-CN" altLang="en-US" sz="2400" b="1" dirty="0"/>
              <a:t>语言词法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构造</a:t>
            </a:r>
            <a:r>
              <a:rPr lang="en-US" altLang="zh-CN" sz="2400" b="1" dirty="0"/>
              <a:t>DFA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设计数据类型、数据结构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用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或</a:t>
            </a:r>
            <a:r>
              <a:rPr lang="en-US" altLang="zh-CN" sz="2400" b="1" dirty="0"/>
              <a:t>C++</a:t>
            </a:r>
            <a:r>
              <a:rPr lang="zh-CN" altLang="en-US" sz="2400" b="1" dirty="0"/>
              <a:t>实现</a:t>
            </a:r>
            <a:r>
              <a:rPr lang="en-US" altLang="zh-CN" sz="2400" b="1" dirty="0"/>
              <a:t>C-</a:t>
            </a:r>
            <a:r>
              <a:rPr lang="zh-CN" altLang="en-US" sz="2400" b="1" dirty="0"/>
              <a:t>语言的词法分析器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调试、运行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提交实验报告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C1C0442-C3D7-4E4A-8C97-CD0E5ECCD8EC}" type="slidenum">
              <a:rPr lang="zh-CN" altLang="en-US" b="1"/>
              <a:pPr eaLnBrk="1" hangingPunct="1"/>
              <a:t>3</a:t>
            </a:fld>
            <a:endParaRPr lang="en-US" altLang="zh-CN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/>
              <a:t>C-</a:t>
            </a:r>
            <a:r>
              <a:rPr lang="zh-CN" altLang="en-US" sz="4000" b="1" dirty="0"/>
              <a:t>语言词法说明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772816"/>
            <a:ext cx="8435280" cy="4824536"/>
          </a:xfrm>
        </p:spPr>
        <p:txBody>
          <a:bodyPr/>
          <a:lstStyle/>
          <a:p>
            <a:pPr lvl="0"/>
            <a:r>
              <a:rPr lang="zh-CN" altLang="zh-CN" sz="2400" b="1" dirty="0">
                <a:solidFill>
                  <a:srgbClr val="FF0000"/>
                </a:solidFill>
              </a:rPr>
              <a:t>关键字</a:t>
            </a:r>
            <a:r>
              <a:rPr lang="zh-CN" altLang="zh-CN" sz="2400" b="1" dirty="0"/>
              <a:t>：</a:t>
            </a:r>
            <a:r>
              <a:rPr lang="en-US" altLang="zh-CN" sz="2400" b="1" dirty="0"/>
              <a:t> if  else 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 return  void  while</a:t>
            </a:r>
            <a:endParaRPr lang="zh-CN" altLang="zh-CN" sz="2400" b="1" dirty="0"/>
          </a:p>
          <a:p>
            <a:pPr lvl="0"/>
            <a:r>
              <a:rPr lang="zh-CN" altLang="zh-CN" sz="2400" b="1" dirty="0">
                <a:solidFill>
                  <a:srgbClr val="FF0000"/>
                </a:solidFill>
              </a:rPr>
              <a:t>符号</a:t>
            </a:r>
            <a:r>
              <a:rPr lang="zh-CN" altLang="zh-CN" sz="2400" b="1" dirty="0"/>
              <a:t>：</a:t>
            </a:r>
            <a:r>
              <a:rPr lang="en-US" altLang="zh-CN" sz="2400" b="1" dirty="0"/>
              <a:t>  +  -  *  /  &lt;  &lt;=  &gt;  &gt;=  ==  ~=  =  ;  ,  (  )  [  ]  {  }  /*  */</a:t>
            </a:r>
            <a:endParaRPr lang="zh-CN" altLang="zh-CN" sz="2400" b="1" dirty="0"/>
          </a:p>
          <a:p>
            <a:pPr lvl="0"/>
            <a:r>
              <a:rPr lang="en-US" altLang="zh-CN" sz="2400" b="1" dirty="0">
                <a:solidFill>
                  <a:srgbClr val="FF0000"/>
                </a:solidFill>
              </a:rPr>
              <a:t>ID </a:t>
            </a:r>
            <a:r>
              <a:rPr lang="zh-CN" altLang="zh-CN" sz="2400" b="1" dirty="0"/>
              <a:t>和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NUM</a:t>
            </a:r>
            <a:r>
              <a:rPr lang="en-US" altLang="zh-CN" sz="2400" b="1" dirty="0"/>
              <a:t> </a:t>
            </a:r>
            <a:r>
              <a:rPr lang="zh-CN" altLang="zh-CN" sz="2400" b="1" dirty="0"/>
              <a:t>，通过下列正则表达式定义：</a:t>
            </a:r>
          </a:p>
          <a:p>
            <a:pPr lvl="1"/>
            <a:r>
              <a:rPr lang="en-US" altLang="zh-CN" sz="2400" b="1" dirty="0"/>
              <a:t>ID = letter letter*</a:t>
            </a:r>
            <a:endParaRPr lang="zh-CN" altLang="zh-CN" sz="2400" b="1" dirty="0"/>
          </a:p>
          <a:p>
            <a:pPr lvl="1"/>
            <a:r>
              <a:rPr lang="en-US" altLang="zh-CN" sz="2400" b="1" dirty="0"/>
              <a:t>NUM = digit digit*</a:t>
            </a:r>
            <a:endParaRPr lang="zh-CN" altLang="zh-CN" sz="2400" b="1" dirty="0"/>
          </a:p>
          <a:p>
            <a:pPr lvl="1"/>
            <a:r>
              <a:rPr lang="en-US" altLang="zh-CN" sz="2400" b="1" dirty="0"/>
              <a:t>letter = a|..|</a:t>
            </a:r>
            <a:r>
              <a:rPr lang="en-US" altLang="zh-CN" sz="2400" b="1" dirty="0" err="1"/>
              <a:t>z|A</a:t>
            </a:r>
            <a:r>
              <a:rPr lang="en-US" altLang="zh-CN" sz="2400" b="1" dirty="0"/>
              <a:t>|..|Z</a:t>
            </a:r>
            <a:endParaRPr lang="zh-CN" altLang="zh-CN" sz="2400" b="1" dirty="0"/>
          </a:p>
          <a:p>
            <a:pPr lvl="1"/>
            <a:r>
              <a:rPr lang="en-US" altLang="zh-CN" sz="2400" b="1" dirty="0"/>
              <a:t>digit = 0|..|9</a:t>
            </a:r>
            <a:endParaRPr lang="zh-CN" altLang="zh-CN" sz="2400" b="1" dirty="0"/>
          </a:p>
          <a:p>
            <a:pPr lvl="0"/>
            <a:r>
              <a:rPr lang="zh-CN" altLang="zh-CN" sz="2400" b="1" dirty="0">
                <a:solidFill>
                  <a:srgbClr val="FF0000"/>
                </a:solidFill>
              </a:rPr>
              <a:t>空格</a:t>
            </a:r>
            <a:r>
              <a:rPr lang="zh-CN" altLang="zh-CN" sz="2400" b="1" dirty="0"/>
              <a:t>由空白、换行符、制表符组成。</a:t>
            </a:r>
          </a:p>
          <a:p>
            <a:r>
              <a:rPr lang="zh-CN" altLang="zh-CN" sz="2400" b="1" dirty="0">
                <a:solidFill>
                  <a:srgbClr val="FF0000"/>
                </a:solidFill>
              </a:rPr>
              <a:t>注释</a:t>
            </a:r>
            <a:r>
              <a:rPr lang="zh-CN" altLang="zh-CN" sz="2400" b="1" dirty="0"/>
              <a:t>由 </a:t>
            </a:r>
            <a:r>
              <a:rPr lang="en-US" altLang="zh-CN" sz="2400" b="1" dirty="0"/>
              <a:t>/*...*/ </a:t>
            </a:r>
            <a:r>
              <a:rPr lang="zh-CN" altLang="zh-CN" sz="2400" b="1" dirty="0"/>
              <a:t>围起来，不能嵌套。</a:t>
            </a:r>
            <a:endParaRPr lang="en-US" altLang="zh-CN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2636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C-</a:t>
            </a:r>
            <a:r>
              <a:rPr lang="zh-CN" altLang="en-US" b="1" dirty="0"/>
              <a:t>语言语法说明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775520" y="1429402"/>
            <a:ext cx="8640960" cy="468052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1. program -&gt;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declaration_list</a:t>
            </a:r>
            <a:endParaRPr lang="zh-CN" altLang="zh-CN" sz="20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2.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declaration_list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declaration_list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declaration  |  declaration</a:t>
            </a:r>
            <a:endParaRPr lang="zh-CN" altLang="zh-CN" sz="20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3. declaration -&gt;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var_declaration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fun_declaration</a:t>
            </a:r>
            <a:endParaRPr lang="zh-CN" altLang="zh-CN" sz="20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程序由声明的列表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或序列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组成，声明可以是函数或变量声明，顺序是任意的。至少必须有一个声明。所有的变量和函数在使用前必须声明。程序中最后的声明必须是一个函数声明，名字为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main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zh-CN" sz="20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4.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var_declaration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type_specifier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ID; |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type_specifier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ID [ NUM ]; </a:t>
            </a:r>
            <a:endParaRPr lang="zh-CN" altLang="zh-CN" sz="20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5.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type_specifier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INT  |  VOID</a:t>
            </a:r>
            <a:endParaRPr lang="zh-CN" altLang="zh-CN" sz="20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变量声明或者声明了简单的整数类型变量，或者是基类型为整数的数组变量，索引范围从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到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NUM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-1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。注意，在变量声明中只能使用类型指示符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int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用于函数声明。也要注意，每个声明只能声明一个变量。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88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C-</a:t>
            </a:r>
            <a:r>
              <a:rPr lang="zh-CN" altLang="en-US" b="1" dirty="0"/>
              <a:t>语言语法说明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775520" y="1484784"/>
            <a:ext cx="8640960" cy="4968552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fun_declaration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type_specifier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ID ( params )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compound_stmt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7. params -&gt;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param_list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VOID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8.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param_list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param_list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, param  |  param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9. param -&gt;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type_specifier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ID  | 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type_specifier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ID [ ]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函数的参数可以是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void (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即没有参数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，或者一列参数。参数后面跟着方括号是数组参数，其大小是可变的。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compound_stmt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{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local_declarations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statement_list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}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复合语句由用花括号围起来的一组声明和语句组成。复合语句通过用给定的顺序执行语句序列来执行。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11.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local_declarations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local_declarations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var_declaration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| empty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statement_list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statement_list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statement  |  empty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注意声明和语句列表都可以是空的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非终结符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empty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表示空字符串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69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C-</a:t>
            </a:r>
            <a:r>
              <a:rPr lang="zh-CN" altLang="en-US" b="1" dirty="0"/>
              <a:t>语言语法说明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775520" y="1484784"/>
            <a:ext cx="8640960" cy="468052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13. statement -&gt;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expression_stmt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|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compound_stmt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  | 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selection_stmt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iteration_stmt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return_stmt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14.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expression_stmt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expression ;  |  ;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表达式语句有一个可选的且后面跟着分号的表达式。这个语句用于赋值和函数调用。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15.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selection_stmt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if ( expression ) statement  |  if ( expression ) statement else statement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这个规则导致了典型的悬挂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else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二义性，可以用最近嵌套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解决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16.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iteration_stmt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while ( expression ) statement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17.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return_stmt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return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return  expression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返回语句可以返回一个值也可无值返回。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67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C-</a:t>
            </a:r>
            <a:r>
              <a:rPr lang="zh-CN" altLang="en-US" b="1" dirty="0"/>
              <a:t>语言语法说明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775520" y="1484784"/>
            <a:ext cx="8640960" cy="5184576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18. expression -&gt;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expression  | 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simple_expression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19.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ID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ID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expression ]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20.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simple_expression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additive_expression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relop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            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additive_expression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additive_expression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21.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relop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&lt;=  |  &lt;  |  &gt;  |  &gt;=  |  ==  |  ~=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22.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additive_expression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additive_expression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addop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term  |  term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23.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addop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+  |  -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24. term -&gt; term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mulop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factor  |  factor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25.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mulop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*  |  /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26. factor -&gt; ( expression )  |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|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call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NUM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27.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call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ID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args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)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28.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args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arg_list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empty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29.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arg_list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arg_list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, expression  |  expression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79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C-</a:t>
            </a:r>
            <a:r>
              <a:rPr lang="zh-CN" altLang="en-US" b="1" dirty="0"/>
              <a:t>语言语法说明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775520" y="1484784"/>
            <a:ext cx="8640960" cy="5184576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前面的文法没有说明输入输出语句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我们假设有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两个在全局环境中预定义的函数，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默认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它们已进行了声明：</a:t>
            </a:r>
            <a:endParaRPr lang="zh-CN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int input(void) {...}</a:t>
            </a:r>
            <a:endParaRPr lang="zh-CN" altLang="zh-CN" sz="24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void output(int x) {...}</a:t>
            </a:r>
            <a:endParaRPr lang="zh-CN" altLang="zh-CN" sz="24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input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函数没有参数，从标准输入设备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通常是键盘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返回一个整数值。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output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函数接受一个整型参数，其值和一个换行符一起打印到标准输出设备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通常是屏幕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11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/>
              <a:t>C-</a:t>
            </a:r>
            <a:r>
              <a:rPr lang="zh-CN" altLang="en-US" sz="4000" b="1" dirty="0"/>
              <a:t>程序示例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10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8" y="1295757"/>
            <a:ext cx="6336704" cy="5425719"/>
          </a:xfrm>
          <a:prstGeom prst="rect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3297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81B6A-74DA-0AEA-3F98-1919464F1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6BBB6-5A68-B4F0-A23A-A61673C7E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F62D6E-0E82-EF07-78AA-41DDEB3CC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11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AADAA10-AA51-0F7E-D61A-D9F82F30E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2204864"/>
            <a:ext cx="9217024" cy="3862773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kern="0" dirty="0"/>
              <a:t>请使用</a:t>
            </a:r>
            <a:r>
              <a:rPr lang="en-US" altLang="zh-CN" sz="2400" b="1" kern="0" dirty="0"/>
              <a:t>c-</a:t>
            </a:r>
            <a:r>
              <a:rPr lang="zh-CN" altLang="en-US" sz="2400" b="1" kern="0" dirty="0"/>
              <a:t>语言编写一个源程序保存为</a:t>
            </a:r>
            <a:r>
              <a:rPr lang="en-US" altLang="zh-CN" sz="2400" b="1" kern="0" dirty="0" err="1"/>
              <a:t>2.c</a:t>
            </a:r>
            <a:r>
              <a:rPr lang="en-US" altLang="zh-CN" sz="2400" b="1" kern="0" dirty="0"/>
              <a:t>-</a:t>
            </a:r>
            <a:r>
              <a:rPr lang="zh-CN" altLang="en-US" sz="2400" b="1" kern="0" dirty="0"/>
              <a:t>，要求包含</a:t>
            </a:r>
            <a:r>
              <a:rPr lang="en-US" altLang="zh-CN" sz="2400" b="1" kern="0" dirty="0"/>
              <a:t>3</a:t>
            </a:r>
            <a:r>
              <a:rPr lang="zh-CN" altLang="en-US" sz="2400" b="1" kern="0" dirty="0"/>
              <a:t>个词法错误。</a:t>
            </a:r>
            <a:endParaRPr lang="en-US" altLang="zh-CN" sz="2400" b="1" kern="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sz="2400" b="1" kern="0" dirty="0"/>
          </a:p>
        </p:txBody>
      </p:sp>
    </p:spTree>
    <p:extLst>
      <p:ext uri="{BB962C8B-B14F-4D97-AF65-F5344CB8AC3E}">
        <p14:creationId xmlns:p14="http://schemas.microsoft.com/office/powerpoint/2010/main" val="3860690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3DEDF-E184-469A-B1DE-92F5CD9B6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提交要求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995C31D9-075F-44B9-9C5A-BCFCCFE41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88841"/>
            <a:ext cx="8229600" cy="413732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提交一个压缩包，内含以下目录文件。请注意以学号姓名实验编号命名。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4C2173-C57F-4961-85D0-8842263F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12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32AE576-D6BC-4003-8F00-C79BFE145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657" y="3645023"/>
            <a:ext cx="5776071" cy="6480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4188EC2-C7F7-4134-8EC1-CD8E8EB8B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81" y="4367950"/>
            <a:ext cx="3463241" cy="143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9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/>
              <a:t>提交程序要求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628801"/>
            <a:ext cx="8229600" cy="449736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/>
              <a:t>程序要求用</a:t>
            </a:r>
            <a:r>
              <a:rPr lang="en-US" altLang="zh-CN" sz="2400" b="1" dirty="0"/>
              <a:t>C++</a:t>
            </a:r>
            <a:r>
              <a:rPr lang="zh-CN" altLang="en-US" sz="2400" b="1" dirty="0"/>
              <a:t>在</a:t>
            </a:r>
            <a:r>
              <a:rPr lang="en-US" altLang="zh-CN" sz="2400" b="1" dirty="0"/>
              <a:t>Windows</a:t>
            </a:r>
            <a:r>
              <a:rPr lang="zh-CN" altLang="en-US" sz="2400" b="1" dirty="0"/>
              <a:t>下实现，要求使用</a:t>
            </a:r>
            <a:r>
              <a:rPr lang="en-US" altLang="zh-CN" sz="2400" b="1" dirty="0">
                <a:solidFill>
                  <a:srgbClr val="FF0000"/>
                </a:solidFill>
              </a:rPr>
              <a:t>vs</a:t>
            </a:r>
            <a:r>
              <a:rPr lang="zh-CN" altLang="en-US" sz="2400" b="1" dirty="0">
                <a:solidFill>
                  <a:srgbClr val="FF0000"/>
                </a:solidFill>
              </a:rPr>
              <a:t>工程</a:t>
            </a:r>
            <a:r>
              <a:rPr lang="zh-CN" altLang="en-US" sz="2400" b="1" dirty="0"/>
              <a:t>或者</a:t>
            </a:r>
            <a:r>
              <a:rPr lang="en-US" altLang="zh-CN" sz="2400" b="1" dirty="0">
                <a:solidFill>
                  <a:srgbClr val="FF0000"/>
                </a:solidFill>
              </a:rPr>
              <a:t>dev</a:t>
            </a:r>
            <a:r>
              <a:rPr lang="zh-CN" altLang="en-US" sz="2400" b="1" dirty="0">
                <a:solidFill>
                  <a:srgbClr val="FF0000"/>
                </a:solidFill>
              </a:rPr>
              <a:t>工程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/>
              <a:t>编译生成的可执行文件命名为</a:t>
            </a:r>
            <a:r>
              <a:rPr lang="en-US" altLang="zh-CN" sz="2400" b="1" dirty="0" err="1">
                <a:solidFill>
                  <a:srgbClr val="FF0000"/>
                </a:solidFill>
              </a:rPr>
              <a:t>cscan.exe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/>
              <a:t>输入输出要求：在命令行里输入 </a:t>
            </a:r>
            <a:r>
              <a:rPr lang="en-US" altLang="zh-CN" sz="2400" b="1" dirty="0" err="1">
                <a:solidFill>
                  <a:srgbClr val="FF0000"/>
                </a:solidFill>
              </a:rPr>
              <a:t>cscan.exe</a:t>
            </a:r>
            <a:r>
              <a:rPr lang="en-US" altLang="zh-CN" sz="2400" b="1" dirty="0">
                <a:solidFill>
                  <a:srgbClr val="FF0000"/>
                </a:solidFill>
              </a:rPr>
              <a:t> 1.c-</a:t>
            </a:r>
            <a:r>
              <a:rPr lang="zh-CN" altLang="en-US" sz="2400" b="1" dirty="0"/>
              <a:t>回车即可在当前目录下生成</a:t>
            </a:r>
            <a:r>
              <a:rPr lang="en-US" altLang="zh-CN" sz="2400" b="1" dirty="0">
                <a:solidFill>
                  <a:srgbClr val="FF0000"/>
                </a:solidFill>
              </a:rPr>
              <a:t>1.txt</a:t>
            </a:r>
            <a:r>
              <a:rPr lang="zh-CN" altLang="en-US" sz="2400" b="1" dirty="0"/>
              <a:t>，保存对</a:t>
            </a:r>
            <a:r>
              <a:rPr lang="en-US" altLang="zh-CN" sz="2400" b="1" dirty="0">
                <a:solidFill>
                  <a:srgbClr val="FF0000"/>
                </a:solidFill>
              </a:rPr>
              <a:t>1.c-</a:t>
            </a:r>
            <a:r>
              <a:rPr lang="zh-CN" altLang="en-US" sz="2400" b="1" dirty="0"/>
              <a:t>的扫描结果。</a:t>
            </a:r>
            <a:endParaRPr lang="en-US" altLang="zh-CN" sz="2400" b="1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/>
              <a:t>出错打印行结尾添加自己的</a:t>
            </a:r>
            <a:r>
              <a:rPr lang="zh-CN" altLang="en-US" sz="2400" b="1" dirty="0">
                <a:solidFill>
                  <a:srgbClr val="FF0000"/>
                </a:solidFill>
              </a:rPr>
              <a:t>学号姓名</a:t>
            </a:r>
            <a:r>
              <a:rPr lang="zh-CN" altLang="en-US" sz="2400" b="1" dirty="0"/>
              <a:t>。</a:t>
            </a:r>
            <a:endParaRPr lang="en-US" altLang="zh-CN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3440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/>
              <a:t>报告内容要求</a:t>
            </a:r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2279576" y="1844824"/>
            <a:ext cx="7848872" cy="453650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目的、意义、</a:t>
            </a:r>
            <a:r>
              <a:rPr lang="zh-CN" altLang="en-US" sz="2400" b="1" dirty="0">
                <a:solidFill>
                  <a:srgbClr val="FF0000"/>
                </a:solidFill>
              </a:rPr>
              <a:t>编译环境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C-</a:t>
            </a:r>
            <a:r>
              <a:rPr lang="zh-CN" altLang="en-US" sz="2400" b="1" dirty="0"/>
              <a:t>语言词法的特点，正则表达式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识别</a:t>
            </a:r>
            <a:r>
              <a:rPr lang="en-US" altLang="zh-CN" sz="2400" b="1" dirty="0"/>
              <a:t>C-</a:t>
            </a:r>
            <a:r>
              <a:rPr lang="zh-CN" altLang="en-US" sz="2400" b="1" dirty="0"/>
              <a:t>语言</a:t>
            </a:r>
            <a:r>
              <a:rPr lang="en-US" altLang="zh-CN" sz="2400" b="1" dirty="0"/>
              <a:t>Token</a:t>
            </a:r>
            <a:r>
              <a:rPr lang="zh-CN" altLang="en-US" sz="2400" b="1" dirty="0"/>
              <a:t>的</a:t>
            </a:r>
            <a:r>
              <a:rPr lang="en-US" altLang="zh-CN" sz="2400" b="1" dirty="0">
                <a:solidFill>
                  <a:srgbClr val="FF0000"/>
                </a:solidFill>
              </a:rPr>
              <a:t>DFA</a:t>
            </a:r>
            <a:r>
              <a:rPr lang="zh-CN" altLang="en-US" sz="2400" b="1" dirty="0"/>
              <a:t>设计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重要的数据类型、数据结构设计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实现的关键代码分析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运行结果分析</a:t>
            </a:r>
            <a:r>
              <a:rPr lang="en-US" altLang="zh-CN" sz="2400" b="1" dirty="0"/>
              <a:t>(</a:t>
            </a:r>
            <a:r>
              <a:rPr lang="zh-CN" altLang="en-US" sz="2400" b="1" dirty="0">
                <a:solidFill>
                  <a:srgbClr val="FF0000"/>
                </a:solidFill>
              </a:rPr>
              <a:t>应包含</a:t>
            </a:r>
            <a:r>
              <a:rPr lang="en-US" altLang="zh-CN" sz="2400" b="1" dirty="0" err="1">
                <a:solidFill>
                  <a:srgbClr val="FF0000"/>
                </a:solidFill>
              </a:rPr>
              <a:t>1.c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和</a:t>
            </a:r>
            <a:r>
              <a:rPr lang="en-US" altLang="zh-CN" sz="2400" b="1" dirty="0" err="1">
                <a:solidFill>
                  <a:srgbClr val="FF0000"/>
                </a:solidFill>
              </a:rPr>
              <a:t>2.c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的执行结果</a:t>
            </a:r>
            <a:r>
              <a:rPr lang="en-US" altLang="zh-CN" sz="2400" b="1" dirty="0"/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小结</a:t>
            </a: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93AAB57-3BE6-4DD4-9397-68ED67F5CE76}" type="slidenum">
              <a:rPr lang="zh-CN" altLang="en-US" b="1"/>
              <a:pPr eaLnBrk="1" hangingPunct="1"/>
              <a:t>14</a:t>
            </a:fld>
            <a:endParaRPr lang="en-US" altLang="zh-CN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/>
              <a:t>输入输出样例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916833"/>
            <a:ext cx="8229600" cy="576064"/>
          </a:xfrm>
        </p:spPr>
        <p:txBody>
          <a:bodyPr/>
          <a:lstStyle/>
          <a:p>
            <a:r>
              <a:rPr lang="zh-CN" altLang="en-US" sz="2800" b="1" dirty="0"/>
              <a:t>标准的输入输出样例</a:t>
            </a:r>
            <a:r>
              <a:rPr lang="en-US" altLang="zh-CN" sz="2800" b="1" dirty="0" err="1"/>
              <a:t>1.c</a:t>
            </a:r>
            <a:r>
              <a:rPr lang="en-US" altLang="zh-CN" sz="2800" b="1" dirty="0"/>
              <a:t>-</a:t>
            </a:r>
            <a:r>
              <a:rPr lang="zh-CN" altLang="en-US" sz="2800" b="1" dirty="0"/>
              <a:t>请在</a:t>
            </a:r>
            <a:r>
              <a:rPr lang="en-US" altLang="zh-CN" sz="2800" b="1" dirty="0"/>
              <a:t>QQ</a:t>
            </a:r>
            <a:r>
              <a:rPr lang="zh-CN" altLang="en-US" sz="2800" b="1" dirty="0"/>
              <a:t>群中下载。</a:t>
            </a:r>
            <a:endParaRPr lang="en-US" altLang="zh-CN" sz="2800" b="1" dirty="0"/>
          </a:p>
          <a:p>
            <a:endParaRPr lang="zh-CN" altLang="en-US" sz="28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15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688" y="2492897"/>
            <a:ext cx="5400600" cy="423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785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主题2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8084</TotalTime>
  <Words>1039</Words>
  <Application>Microsoft Office PowerPoint</Application>
  <PresentationFormat>宽屏</PresentationFormat>
  <Paragraphs>98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微软雅黑</vt:lpstr>
      <vt:lpstr>Arial</vt:lpstr>
      <vt:lpstr>Tahoma</vt:lpstr>
      <vt:lpstr>Times New Roman</vt:lpstr>
      <vt:lpstr>主题2</vt:lpstr>
      <vt:lpstr>编译原理课程设计</vt:lpstr>
      <vt:lpstr>PowerPoint 演示文稿</vt:lpstr>
      <vt:lpstr>手工构造C-语言的词法分析器</vt:lpstr>
      <vt:lpstr>C-语言词法说明</vt:lpstr>
      <vt:lpstr>C-语言语法说明</vt:lpstr>
      <vt:lpstr>C-语言语法说明</vt:lpstr>
      <vt:lpstr>C-语言语法说明</vt:lpstr>
      <vt:lpstr>C-语言语法说明</vt:lpstr>
      <vt:lpstr>C-语言语法说明</vt:lpstr>
      <vt:lpstr>C-程序示例</vt:lpstr>
      <vt:lpstr>练习</vt:lpstr>
      <vt:lpstr>提交要求</vt:lpstr>
      <vt:lpstr>提交程序要求</vt:lpstr>
      <vt:lpstr>报告内容要求</vt:lpstr>
      <vt:lpstr>输入输出样例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薇 潘</cp:lastModifiedBy>
  <cp:revision>187</cp:revision>
  <dcterms:created xsi:type="dcterms:W3CDTF">1601-01-01T00:00:00Z</dcterms:created>
  <dcterms:modified xsi:type="dcterms:W3CDTF">2026-04-30T08:33:46Z</dcterms:modified>
</cp:coreProperties>
</file>