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52"/>
  </p:notesMasterIdLst>
  <p:sldIdLst>
    <p:sldId id="1217" r:id="rId3"/>
    <p:sldId id="1218" r:id="rId4"/>
    <p:sldId id="1219" r:id="rId5"/>
    <p:sldId id="1221" r:id="rId6"/>
    <p:sldId id="1220" r:id="rId7"/>
    <p:sldId id="1222" r:id="rId8"/>
    <p:sldId id="1223" r:id="rId9"/>
    <p:sldId id="1244" r:id="rId10"/>
    <p:sldId id="1225" r:id="rId11"/>
    <p:sldId id="1240" r:id="rId12"/>
    <p:sldId id="1241" r:id="rId13"/>
    <p:sldId id="1242" r:id="rId14"/>
    <p:sldId id="1243" r:id="rId15"/>
    <p:sldId id="1224" r:id="rId16"/>
    <p:sldId id="1226" r:id="rId17"/>
    <p:sldId id="1227" r:id="rId18"/>
    <p:sldId id="1228" r:id="rId19"/>
    <p:sldId id="1229" r:id="rId20"/>
    <p:sldId id="1230" r:id="rId21"/>
    <p:sldId id="1231" r:id="rId22"/>
    <p:sldId id="1232" r:id="rId23"/>
    <p:sldId id="1253" r:id="rId24"/>
    <p:sldId id="1257" r:id="rId25"/>
    <p:sldId id="1258" r:id="rId26"/>
    <p:sldId id="1259" r:id="rId27"/>
    <p:sldId id="1269" r:id="rId28"/>
    <p:sldId id="1262" r:id="rId29"/>
    <p:sldId id="1263" r:id="rId30"/>
    <p:sldId id="1266" r:id="rId31"/>
    <p:sldId id="1267" r:id="rId32"/>
    <p:sldId id="1264" r:id="rId33"/>
    <p:sldId id="1265" r:id="rId34"/>
    <p:sldId id="426" r:id="rId35"/>
    <p:sldId id="429" r:id="rId36"/>
    <p:sldId id="430" r:id="rId37"/>
    <p:sldId id="679" r:id="rId38"/>
    <p:sldId id="432" r:id="rId39"/>
    <p:sldId id="686" r:id="rId40"/>
    <p:sldId id="687" r:id="rId41"/>
    <p:sldId id="700" r:id="rId42"/>
    <p:sldId id="688" r:id="rId43"/>
    <p:sldId id="1270" r:id="rId44"/>
    <p:sldId id="1271" r:id="rId45"/>
    <p:sldId id="1272" r:id="rId46"/>
    <p:sldId id="1273" r:id="rId47"/>
    <p:sldId id="1274" r:id="rId48"/>
    <p:sldId id="1275" r:id="rId49"/>
    <p:sldId id="1276" r:id="rId50"/>
    <p:sldId id="1277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E9C9A-E9FF-4F0E-94FB-DF7CEFDFFB48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55DA4-E734-4976-9B40-114C27CE5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6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要点：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发送发：每个比特传三份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接收方：</a:t>
            </a:r>
            <a:endParaRPr lang="en-US" altLang="zh-CN" dirty="0"/>
          </a:p>
          <a:p>
            <a:pPr marL="171450" indent="-171450">
              <a:buFont typeface="微软雅黑" panose="020B0503020204020204" pitchFamily="34" charset="-122"/>
              <a:buChar char="−"/>
            </a:pPr>
            <a:r>
              <a:rPr lang="zh-CN" altLang="en-US" dirty="0"/>
              <a:t>比较每个比特的三份，如果不一致，能识别出传输错误；</a:t>
            </a:r>
            <a:endParaRPr lang="en-US" altLang="zh-CN" dirty="0"/>
          </a:p>
          <a:p>
            <a:pPr marL="171450" indent="-171450">
              <a:buFont typeface="微软雅黑" panose="020B0503020204020204" pitchFamily="34" charset="-122"/>
              <a:buChar char="−"/>
            </a:pPr>
            <a:r>
              <a:rPr lang="zh-CN" altLang="en-US" dirty="0"/>
              <a:t>如果三比特中只有一位错，则可以以其中相同的两位为准，对不同的位进行纠正。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携带</a:t>
            </a:r>
            <a:r>
              <a:rPr lang="en-US" altLang="zh-CN" dirty="0"/>
              <a:t>2/3</a:t>
            </a:r>
            <a:r>
              <a:rPr lang="zh-CN" altLang="en-US" dirty="0"/>
              <a:t>的冗余信息，冗余信息量大，如蓝牙中的</a:t>
            </a:r>
            <a:r>
              <a:rPr lang="en-US" altLang="zh-CN" dirty="0"/>
              <a:t>1/3FEC</a:t>
            </a:r>
            <a:r>
              <a:rPr lang="zh-CN" altLang="en-US" dirty="0"/>
              <a:t>采用了类似的方法</a:t>
            </a: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80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选择错略具体策略取决于信道特征：例如，误码率较高的无线链路和误码率较低的光纤链路，需要不同的策略。</a:t>
            </a:r>
            <a:endParaRPr kumimoji="1"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473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根据信道的不同会选择不同的码率：在有噪声信道上可能为</a:t>
            </a:r>
            <a:r>
              <a:rPr lang="en-US" altLang="zh-CN" dirty="0"/>
              <a:t>1/2</a:t>
            </a:r>
            <a:r>
              <a:rPr lang="zh-CN" altLang="en-US" dirty="0"/>
              <a:t>，在高质量信道上可能接近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936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868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BE1D19-F9E4-41D8-88AB-F75072E4C5D4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3163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要点：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、海明码利用奇偶校验，是奇偶校验的扩展，首先向学生介绍基本的奇偶校验方法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位奇偶校验，只能检错，不能纠错，校验能力很弱，但可以作为更为复杂方案的重要基础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16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要点：可以引导学生思考接收端的计算方法：直接做除法运算，余数为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，则未监测出错误。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463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90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0F6816-A5B4-4674-8788-E4794043BB64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2507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202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609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295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865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646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154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946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614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7011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778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编码的数学过程：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将原始需要编码的数据后面补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（图中「取余」运算符左侧部分，补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意思是为校验码占位）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除以生成多项式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g(x)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取余下的多项式为校验多项式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p(x)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将校验多项式加到刚才补过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的编码数据多项式中，就是最终生成的编码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9618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类似于</a:t>
            </a:r>
            <a:r>
              <a:rPr lang="en-US" altLang="zh-CN" sz="12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CRC</a:t>
            </a:r>
            <a:r>
              <a:rPr lang="zh-CN" altLang="en-US" sz="12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校验码的生成过程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有限域上的四则运算请参考：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https://</a:t>
            </a:r>
            <a:r>
              <a:rPr kumimoji="1" lang="en-US" altLang="zh-CN" dirty="0" err="1"/>
              <a:t>blog.csdn.net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shelldon</a:t>
            </a:r>
            <a:r>
              <a:rPr kumimoji="1" lang="en-US" altLang="zh-CN" dirty="0"/>
              <a:t>/article/details/54729687</a:t>
            </a:r>
            <a:endParaRPr kumimoji="1"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6363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有限域上的四则运算请参考：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https://</a:t>
            </a:r>
            <a:r>
              <a:rPr kumimoji="1" lang="en-US" altLang="zh-CN" dirty="0" err="1"/>
              <a:t>blog.csdn.net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shelldon</a:t>
            </a:r>
            <a:r>
              <a:rPr kumimoji="1" lang="en-US" altLang="zh-CN" dirty="0"/>
              <a:t>/article/details/54729687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5573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参考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zhuanlan.zhihu.com</a:t>
            </a:r>
            <a:r>
              <a:rPr kumimoji="1" lang="en-US" altLang="zh-CN" dirty="0"/>
              <a:t>/p/103888948?utm_source=</a:t>
            </a:r>
            <a:r>
              <a:rPr kumimoji="1" lang="en-US" altLang="zh-CN" dirty="0" err="1"/>
              <a:t>wechat_session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4943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参考 </a:t>
            </a:r>
            <a:r>
              <a:rPr kumimoji="1" lang="en-US" altLang="zh-CN" dirty="0"/>
              <a:t>https://zhuanlan.zhihu.com/p/103888948?utm_source=wechat_session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后面两张隐藏的</a:t>
            </a:r>
            <a:r>
              <a:rPr kumimoji="1" lang="en-US" altLang="zh-CN" dirty="0"/>
              <a:t>PPT</a:t>
            </a:r>
            <a:r>
              <a:rPr kumimoji="1" lang="zh-CN" altLang="en-US" dirty="0"/>
              <a:t>给出了关于有限域的一些参考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232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加法和减法都是做异或运算，比较简单，因此没有给出加法表。如</a:t>
            </a:r>
            <a:r>
              <a:rPr kumimoji="1" lang="en-US" altLang="zh-CN" dirty="0"/>
              <a:t>2+3=1,</a:t>
            </a:r>
            <a:r>
              <a:rPr kumimoji="1" lang="zh-CN" altLang="en-US" dirty="0"/>
              <a:t>因为</a:t>
            </a:r>
            <a:r>
              <a:rPr kumimoji="1" lang="en-US" altLang="zh-CN" dirty="0"/>
              <a:t>(0010)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+(0011)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=(0001)</a:t>
            </a:r>
            <a:r>
              <a:rPr kumimoji="1" lang="en-US" altLang="zh-CN" baseline="-25000" dirty="0"/>
              <a:t>2</a:t>
            </a:r>
            <a:endParaRPr kumimoji="1" lang="zh-CN" altLang="en-US" baseline="-25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641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除法是乘法的逆运算，如</a:t>
            </a:r>
            <a:r>
              <a:rPr kumimoji="1" lang="en-US" altLang="zh-CN" dirty="0"/>
              <a:t>2/14=2*(14</a:t>
            </a:r>
            <a:r>
              <a:rPr kumimoji="1" lang="zh-CN" altLang="en-US" dirty="0"/>
              <a:t>的逆元）</a:t>
            </a:r>
            <a:r>
              <a:rPr kumimoji="1" lang="en-US" altLang="zh-CN" dirty="0"/>
              <a:t>=2</a:t>
            </a:r>
            <a:r>
              <a:rPr kumimoji="1" lang="zh-CN" altLang="en-US" dirty="0"/>
              <a:t>*</a:t>
            </a:r>
            <a:r>
              <a:rPr kumimoji="1" lang="en-US" altLang="zh-CN" dirty="0"/>
              <a:t>3=6</a:t>
            </a:r>
            <a:r>
              <a:rPr kumimoji="1" lang="zh-CN" altLang="en-US" baseline="0" dirty="0"/>
              <a:t>       </a:t>
            </a:r>
            <a:r>
              <a:rPr kumimoji="1" lang="en-US" altLang="zh-CN" baseline="0" dirty="0"/>
              <a:t>//</a:t>
            </a:r>
            <a:r>
              <a:rPr kumimoji="1" lang="zh-CN" altLang="en-US" baseline="0" dirty="0"/>
              <a:t>查上表可知 </a:t>
            </a:r>
            <a:r>
              <a:rPr kumimoji="1" lang="en-US" altLang="zh-CN" baseline="0" dirty="0"/>
              <a:t>3</a:t>
            </a:r>
            <a:r>
              <a:rPr kumimoji="1" lang="zh-CN" altLang="en-US" baseline="0" dirty="0"/>
              <a:t>*</a:t>
            </a:r>
            <a:r>
              <a:rPr kumimoji="1" lang="en-US" altLang="zh-CN" baseline="0" dirty="0"/>
              <a:t>14=1</a:t>
            </a:r>
            <a:r>
              <a:rPr kumimoji="1" lang="zh-CN" altLang="en-US" baseline="0" dirty="0"/>
              <a:t>，因此</a:t>
            </a:r>
            <a:r>
              <a:rPr kumimoji="1" lang="en-US" altLang="zh-CN" baseline="0" dirty="0"/>
              <a:t>14</a:t>
            </a:r>
            <a:r>
              <a:rPr kumimoji="1" lang="zh-CN" altLang="en-US" baseline="0" dirty="0"/>
              <a:t>的逆元为</a:t>
            </a:r>
            <a:r>
              <a:rPr kumimoji="1" lang="en-US" altLang="zh-CN" baseline="0" dirty="0"/>
              <a:t>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694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红色运算都是</a:t>
            </a:r>
            <a:r>
              <a:rPr kumimoji="1" lang="en-US" altLang="zh-CN" dirty="0"/>
              <a:t>GF(2^4)</a:t>
            </a:r>
            <a:r>
              <a:rPr kumimoji="1" lang="zh-CN" altLang="en-US" dirty="0"/>
              <a:t>中的运算。例如：本例中</a:t>
            </a:r>
            <a:r>
              <a:rPr kumimoji="1" lang="en-US" altLang="zh-CN" dirty="0"/>
              <a:t>a=2</a:t>
            </a:r>
            <a:r>
              <a:rPr kumimoji="1" lang="zh-CN" altLang="en-US" dirty="0"/>
              <a:t>，在</a:t>
            </a:r>
            <a:r>
              <a:rPr kumimoji="1" lang="en-US" altLang="zh-CN" dirty="0"/>
              <a:t>GF(2^4)</a:t>
            </a:r>
            <a:r>
              <a:rPr kumimoji="1" lang="zh-CN" altLang="en-US" dirty="0"/>
              <a:t>中 </a:t>
            </a:r>
            <a:r>
              <a:rPr kumimoji="1" lang="en-US" altLang="zh-CN" dirty="0"/>
              <a:t>2^2=4,2^9=10</a:t>
            </a:r>
            <a:r>
              <a:rPr kumimoji="1" lang="zh-CN" altLang="en-US" dirty="0"/>
              <a:t>，因此</a:t>
            </a:r>
            <a:r>
              <a:rPr kumimoji="1" lang="en-US" altLang="zh-CN" dirty="0"/>
              <a:t>e_1=2,e_2=9</a:t>
            </a:r>
          </a:p>
          <a:p>
            <a:r>
              <a:rPr kumimoji="1" lang="zh-CN" altLang="en-US" dirty="0"/>
              <a:t>参考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zhuanlan.zhihu.com</a:t>
            </a:r>
            <a:r>
              <a:rPr kumimoji="1" lang="en-US" altLang="zh-CN" dirty="0"/>
              <a:t>/p/103888948?utm_source=</a:t>
            </a:r>
            <a:r>
              <a:rPr kumimoji="1" lang="en-US" altLang="zh-CN" dirty="0" err="1"/>
              <a:t>wechat_session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2858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参考 </a:t>
            </a:r>
            <a:r>
              <a:rPr kumimoji="1" lang="en-US" altLang="zh-CN" dirty="0"/>
              <a:t>https://</a:t>
            </a:r>
            <a:r>
              <a:rPr kumimoji="1" lang="en-US" altLang="zh-CN" dirty="0" err="1"/>
              <a:t>zhuanlan.zhihu.com</a:t>
            </a:r>
            <a:r>
              <a:rPr kumimoji="1" lang="en-US" altLang="zh-CN" dirty="0"/>
              <a:t>/p/103888948?utm_source=</a:t>
            </a:r>
            <a:r>
              <a:rPr kumimoji="1" lang="en-US" altLang="zh-CN" dirty="0" err="1"/>
              <a:t>wechat_session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3884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56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07FD42-40C8-0740-93F0-4905CF42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C439-FD35-4547-BEF5-304266CA27AE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8E813-0309-7546-9A4F-6893C100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7"/>
            <a:ext cx="9307502" cy="567811"/>
          </a:xfrm>
          <a:prstGeom prst="rect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DF02C2-66E0-594F-914D-47F0EC7AA666}"/>
              </a:ext>
            </a:extLst>
          </p:cNvPr>
          <p:cNvSpPr txBox="1"/>
          <p:nvPr userDrawn="1"/>
        </p:nvSpPr>
        <p:spPr>
          <a:xfrm>
            <a:off x="9569811" y="90612"/>
            <a:ext cx="229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AB2E87B-2061-474F-BD6B-FFB3E5285CE9}"/>
              </a:ext>
            </a:extLst>
          </p:cNvPr>
          <p:cNvGrpSpPr/>
          <p:nvPr userDrawn="1"/>
        </p:nvGrpSpPr>
        <p:grpSpPr>
          <a:xfrm>
            <a:off x="4771770" y="5979422"/>
            <a:ext cx="2648459" cy="742053"/>
            <a:chOff x="4858653" y="5979422"/>
            <a:chExt cx="2648459" cy="74205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ABB9B9B8-F63F-5C48-98A1-BF8860F585BF}"/>
                </a:ext>
              </a:extLst>
            </p:cNvPr>
            <p:cNvGrpSpPr/>
            <p:nvPr userDrawn="1"/>
          </p:nvGrpSpPr>
          <p:grpSpPr>
            <a:xfrm>
              <a:off x="4858653" y="5979422"/>
              <a:ext cx="867188" cy="742053"/>
              <a:chOff x="901977" y="761321"/>
              <a:chExt cx="1281319" cy="113905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1B680A8-BC74-BA43-BB0D-C8F8C7B77C8F}"/>
                  </a:ext>
                </a:extLst>
              </p:cNvPr>
              <p:cNvSpPr/>
              <p:nvPr userDrawn="1"/>
            </p:nvSpPr>
            <p:spPr>
              <a:xfrm>
                <a:off x="901977" y="761321"/>
                <a:ext cx="1281319" cy="1139058"/>
              </a:xfrm>
              <a:prstGeom prst="rect">
                <a:avLst/>
              </a:prstGeom>
              <a:solidFill>
                <a:srgbClr val="5C3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5C307E"/>
                  </a:solidFill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F50F50E-8A90-104F-B899-DE9D869B8A5F}"/>
                  </a:ext>
                </a:extLst>
              </p:cNvPr>
              <p:cNvGrpSpPr/>
              <p:nvPr userDrawn="1"/>
            </p:nvGrpSpPr>
            <p:grpSpPr>
              <a:xfrm>
                <a:off x="1031055" y="907676"/>
                <a:ext cx="1013957" cy="853426"/>
                <a:chOff x="1368170" y="664579"/>
                <a:chExt cx="550582" cy="439737"/>
              </a:xfrm>
              <a:solidFill>
                <a:schemeClr val="bg1"/>
              </a:solidFill>
            </p:grpSpPr>
            <p:sp>
              <p:nvSpPr>
                <p:cNvPr id="12" name="Freeform 1">
                  <a:extLst>
                    <a:ext uri="{FF2B5EF4-FFF2-40B4-BE49-F238E27FC236}">
                      <a16:creationId xmlns:a16="http://schemas.microsoft.com/office/drawing/2014/main" id="{D5F846F9-652E-1B4D-9692-FE9281D20E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1203" y="771778"/>
                  <a:ext cx="437549" cy="332538"/>
                </a:xfrm>
                <a:custGeom>
                  <a:avLst/>
                  <a:gdLst>
                    <a:gd name="T0" fmla="*/ 25 w 2647"/>
                    <a:gd name="T1" fmla="*/ 1478 h 2011"/>
                    <a:gd name="T2" fmla="*/ 525 w 2647"/>
                    <a:gd name="T3" fmla="*/ 1865 h 2011"/>
                    <a:gd name="T4" fmla="*/ 736 w 2647"/>
                    <a:gd name="T5" fmla="*/ 1972 h 2011"/>
                    <a:gd name="T6" fmla="*/ 940 w 2647"/>
                    <a:gd name="T7" fmla="*/ 2010 h 2011"/>
                    <a:gd name="T8" fmla="*/ 1078 w 2647"/>
                    <a:gd name="T9" fmla="*/ 1991 h 2011"/>
                    <a:gd name="T10" fmla="*/ 1286 w 2647"/>
                    <a:gd name="T11" fmla="*/ 1894 h 2011"/>
                    <a:gd name="T12" fmla="*/ 1506 w 2647"/>
                    <a:gd name="T13" fmla="*/ 1715 h 2011"/>
                    <a:gd name="T14" fmla="*/ 1506 w 2647"/>
                    <a:gd name="T15" fmla="*/ 1715 h 2011"/>
                    <a:gd name="T16" fmla="*/ 2630 w 2647"/>
                    <a:gd name="T17" fmla="*/ 624 h 2011"/>
                    <a:gd name="T18" fmla="*/ 2646 w 2647"/>
                    <a:gd name="T19" fmla="*/ 586 h 2011"/>
                    <a:gd name="T20" fmla="*/ 2630 w 2647"/>
                    <a:gd name="T21" fmla="*/ 548 h 2011"/>
                    <a:gd name="T22" fmla="*/ 2090 w 2647"/>
                    <a:gd name="T23" fmla="*/ 21 h 2011"/>
                    <a:gd name="T24" fmla="*/ 2016 w 2647"/>
                    <a:gd name="T25" fmla="*/ 22 h 2011"/>
                    <a:gd name="T26" fmla="*/ 2017 w 2647"/>
                    <a:gd name="T27" fmla="*/ 96 h 2011"/>
                    <a:gd name="T28" fmla="*/ 2518 w 2647"/>
                    <a:gd name="T29" fmla="*/ 586 h 2011"/>
                    <a:gd name="T30" fmla="*/ 1433 w 2647"/>
                    <a:gd name="T31" fmla="*/ 1639 h 2011"/>
                    <a:gd name="T32" fmla="*/ 1433 w 2647"/>
                    <a:gd name="T33" fmla="*/ 1639 h 2011"/>
                    <a:gd name="T34" fmla="*/ 1167 w 2647"/>
                    <a:gd name="T35" fmla="*/ 1843 h 2011"/>
                    <a:gd name="T36" fmla="*/ 1051 w 2647"/>
                    <a:gd name="T37" fmla="*/ 1889 h 2011"/>
                    <a:gd name="T38" fmla="*/ 940 w 2647"/>
                    <a:gd name="T39" fmla="*/ 1904 h 2011"/>
                    <a:gd name="T40" fmla="*/ 772 w 2647"/>
                    <a:gd name="T41" fmla="*/ 1872 h 2011"/>
                    <a:gd name="T42" fmla="*/ 474 w 2647"/>
                    <a:gd name="T43" fmla="*/ 1704 h 2011"/>
                    <a:gd name="T44" fmla="*/ 93 w 2647"/>
                    <a:gd name="T45" fmla="*/ 1398 h 2011"/>
                    <a:gd name="T46" fmla="*/ 19 w 2647"/>
                    <a:gd name="T47" fmla="*/ 1404 h 2011"/>
                    <a:gd name="T48" fmla="*/ 25 w 2647"/>
                    <a:gd name="T49" fmla="*/ 1478 h 20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47" h="2011">
                      <a:moveTo>
                        <a:pt x="25" y="1478"/>
                      </a:moveTo>
                      <a:cubicBezTo>
                        <a:pt x="219" y="1643"/>
                        <a:pt x="380" y="1773"/>
                        <a:pt x="525" y="1865"/>
                      </a:cubicBezTo>
                      <a:cubicBezTo>
                        <a:pt x="598" y="1911"/>
                        <a:pt x="668" y="1947"/>
                        <a:pt x="736" y="1972"/>
                      </a:cubicBezTo>
                      <a:cubicBezTo>
                        <a:pt x="805" y="1996"/>
                        <a:pt x="872" y="2010"/>
                        <a:pt x="940" y="2010"/>
                      </a:cubicBezTo>
                      <a:cubicBezTo>
                        <a:pt x="986" y="2010"/>
                        <a:pt x="1032" y="2004"/>
                        <a:pt x="1078" y="1991"/>
                      </a:cubicBezTo>
                      <a:cubicBezTo>
                        <a:pt x="1147" y="1973"/>
                        <a:pt x="1216" y="1940"/>
                        <a:pt x="1286" y="1894"/>
                      </a:cubicBezTo>
                      <a:cubicBezTo>
                        <a:pt x="1357" y="1848"/>
                        <a:pt x="1429" y="1789"/>
                        <a:pt x="1506" y="1715"/>
                      </a:cubicBezTo>
                      <a:lnTo>
                        <a:pt x="1506" y="1715"/>
                      </a:lnTo>
                      <a:lnTo>
                        <a:pt x="2630" y="624"/>
                      </a:lnTo>
                      <a:cubicBezTo>
                        <a:pt x="2640" y="614"/>
                        <a:pt x="2646" y="600"/>
                        <a:pt x="2646" y="586"/>
                      </a:cubicBezTo>
                      <a:cubicBezTo>
                        <a:pt x="2646" y="572"/>
                        <a:pt x="2641" y="558"/>
                        <a:pt x="2630" y="548"/>
                      </a:cubicBezTo>
                      <a:lnTo>
                        <a:pt x="2090" y="21"/>
                      </a:lnTo>
                      <a:cubicBezTo>
                        <a:pt x="2069" y="0"/>
                        <a:pt x="2036" y="1"/>
                        <a:pt x="2016" y="22"/>
                      </a:cubicBezTo>
                      <a:cubicBezTo>
                        <a:pt x="1995" y="42"/>
                        <a:pt x="1996" y="76"/>
                        <a:pt x="2017" y="96"/>
                      </a:cubicBezTo>
                      <a:lnTo>
                        <a:pt x="2518" y="586"/>
                      </a:lnTo>
                      <a:lnTo>
                        <a:pt x="1433" y="1639"/>
                      </a:lnTo>
                      <a:lnTo>
                        <a:pt x="1433" y="1639"/>
                      </a:lnTo>
                      <a:cubicBezTo>
                        <a:pt x="1335" y="1733"/>
                        <a:pt x="1247" y="1800"/>
                        <a:pt x="1167" y="1843"/>
                      </a:cubicBezTo>
                      <a:cubicBezTo>
                        <a:pt x="1127" y="1864"/>
                        <a:pt x="1088" y="1879"/>
                        <a:pt x="1051" y="1889"/>
                      </a:cubicBezTo>
                      <a:cubicBezTo>
                        <a:pt x="1013" y="1899"/>
                        <a:pt x="977" y="1904"/>
                        <a:pt x="940" y="1904"/>
                      </a:cubicBezTo>
                      <a:cubicBezTo>
                        <a:pt x="886" y="1904"/>
                        <a:pt x="831" y="1894"/>
                        <a:pt x="772" y="1872"/>
                      </a:cubicBezTo>
                      <a:cubicBezTo>
                        <a:pt x="683" y="1840"/>
                        <a:pt x="586" y="1784"/>
                        <a:pt x="474" y="1704"/>
                      </a:cubicBezTo>
                      <a:cubicBezTo>
                        <a:pt x="363" y="1624"/>
                        <a:pt x="238" y="1521"/>
                        <a:pt x="93" y="1398"/>
                      </a:cubicBezTo>
                      <a:cubicBezTo>
                        <a:pt x="71" y="1379"/>
                        <a:pt x="38" y="1382"/>
                        <a:pt x="19" y="1404"/>
                      </a:cubicBezTo>
                      <a:cubicBezTo>
                        <a:pt x="0" y="1426"/>
                        <a:pt x="3" y="1459"/>
                        <a:pt x="25" y="147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Freeform 2">
                  <a:extLst>
                    <a:ext uri="{FF2B5EF4-FFF2-40B4-BE49-F238E27FC236}">
                      <a16:creationId xmlns:a16="http://schemas.microsoft.com/office/drawing/2014/main" id="{29E72527-4F98-5C42-A871-1F1811E8F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1832" y="868769"/>
                  <a:ext cx="356603" cy="190334"/>
                </a:xfrm>
                <a:custGeom>
                  <a:avLst/>
                  <a:gdLst>
                    <a:gd name="T0" fmla="*/ 15 w 2158"/>
                    <a:gd name="T1" fmla="*/ 713 h 1152"/>
                    <a:gd name="T2" fmla="*/ 432 w 2158"/>
                    <a:gd name="T3" fmla="*/ 1033 h 1152"/>
                    <a:gd name="T4" fmla="*/ 605 w 2158"/>
                    <a:gd name="T5" fmla="*/ 1120 h 1152"/>
                    <a:gd name="T6" fmla="*/ 771 w 2158"/>
                    <a:gd name="T7" fmla="*/ 1151 h 1152"/>
                    <a:gd name="T8" fmla="*/ 896 w 2158"/>
                    <a:gd name="T9" fmla="*/ 1132 h 1152"/>
                    <a:gd name="T10" fmla="*/ 1089 w 2158"/>
                    <a:gd name="T11" fmla="*/ 1036 h 1152"/>
                    <a:gd name="T12" fmla="*/ 1305 w 2158"/>
                    <a:gd name="T13" fmla="*/ 856 h 1152"/>
                    <a:gd name="T14" fmla="*/ 1305 w 2158"/>
                    <a:gd name="T15" fmla="*/ 856 h 1152"/>
                    <a:gd name="T16" fmla="*/ 2144 w 2158"/>
                    <a:gd name="T17" fmla="*/ 57 h 1152"/>
                    <a:gd name="T18" fmla="*/ 2145 w 2158"/>
                    <a:gd name="T19" fmla="*/ 13 h 1152"/>
                    <a:gd name="T20" fmla="*/ 2100 w 2158"/>
                    <a:gd name="T21" fmla="*/ 12 h 1152"/>
                    <a:gd name="T22" fmla="*/ 1262 w 2158"/>
                    <a:gd name="T23" fmla="*/ 811 h 1152"/>
                    <a:gd name="T24" fmla="*/ 1262 w 2158"/>
                    <a:gd name="T25" fmla="*/ 811 h 1152"/>
                    <a:gd name="T26" fmla="*/ 993 w 2158"/>
                    <a:gd name="T27" fmla="*/ 1023 h 1152"/>
                    <a:gd name="T28" fmla="*/ 878 w 2158"/>
                    <a:gd name="T29" fmla="*/ 1072 h 1152"/>
                    <a:gd name="T30" fmla="*/ 771 w 2158"/>
                    <a:gd name="T31" fmla="*/ 1088 h 1152"/>
                    <a:gd name="T32" fmla="*/ 626 w 2158"/>
                    <a:gd name="T33" fmla="*/ 1061 h 1152"/>
                    <a:gd name="T34" fmla="*/ 376 w 2158"/>
                    <a:gd name="T35" fmla="*/ 920 h 1152"/>
                    <a:gd name="T36" fmla="*/ 55 w 2158"/>
                    <a:gd name="T37" fmla="*/ 665 h 1152"/>
                    <a:gd name="T38" fmla="*/ 11 w 2158"/>
                    <a:gd name="T39" fmla="*/ 669 h 1152"/>
                    <a:gd name="T40" fmla="*/ 15 w 2158"/>
                    <a:gd name="T41" fmla="*/ 713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15" y="713"/>
                      </a:moveTo>
                      <a:cubicBezTo>
                        <a:pt x="179" y="850"/>
                        <a:pt x="312" y="958"/>
                        <a:pt x="432" y="1033"/>
                      </a:cubicBezTo>
                      <a:cubicBezTo>
                        <a:pt x="492" y="1071"/>
                        <a:pt x="549" y="1100"/>
                        <a:pt x="605" y="1120"/>
                      </a:cubicBezTo>
                      <a:cubicBezTo>
                        <a:pt x="661" y="1140"/>
                        <a:pt x="716" y="1151"/>
                        <a:pt x="771" y="1151"/>
                      </a:cubicBezTo>
                      <a:cubicBezTo>
                        <a:pt x="812" y="1151"/>
                        <a:pt x="854" y="1145"/>
                        <a:pt x="896" y="1132"/>
                      </a:cubicBezTo>
                      <a:cubicBezTo>
                        <a:pt x="959" y="1114"/>
                        <a:pt x="1022" y="1082"/>
                        <a:pt x="1089" y="1036"/>
                      </a:cubicBezTo>
                      <a:cubicBezTo>
                        <a:pt x="1156" y="990"/>
                        <a:pt x="1227" y="931"/>
                        <a:pt x="1305" y="856"/>
                      </a:cubicBezTo>
                      <a:lnTo>
                        <a:pt x="1305" y="856"/>
                      </a:lnTo>
                      <a:lnTo>
                        <a:pt x="2144" y="57"/>
                      </a:lnTo>
                      <a:cubicBezTo>
                        <a:pt x="2156" y="45"/>
                        <a:pt x="2157" y="25"/>
                        <a:pt x="2145" y="13"/>
                      </a:cubicBezTo>
                      <a:cubicBezTo>
                        <a:pt x="2133" y="0"/>
                        <a:pt x="2113" y="0"/>
                        <a:pt x="2100" y="12"/>
                      </a:cubicBezTo>
                      <a:lnTo>
                        <a:pt x="1262" y="811"/>
                      </a:lnTo>
                      <a:lnTo>
                        <a:pt x="1262" y="811"/>
                      </a:lnTo>
                      <a:cubicBezTo>
                        <a:pt x="1160" y="908"/>
                        <a:pt x="1072" y="978"/>
                        <a:pt x="993" y="1023"/>
                      </a:cubicBezTo>
                      <a:cubicBezTo>
                        <a:pt x="953" y="1045"/>
                        <a:pt x="915" y="1062"/>
                        <a:pt x="878" y="1072"/>
                      </a:cubicBezTo>
                      <a:cubicBezTo>
                        <a:pt x="842" y="1083"/>
                        <a:pt x="806" y="1088"/>
                        <a:pt x="771" y="1088"/>
                      </a:cubicBezTo>
                      <a:cubicBezTo>
                        <a:pt x="724" y="1088"/>
                        <a:pt x="677" y="1079"/>
                        <a:pt x="626" y="1061"/>
                      </a:cubicBezTo>
                      <a:cubicBezTo>
                        <a:pt x="551" y="1034"/>
                        <a:pt x="469" y="987"/>
                        <a:pt x="376" y="920"/>
                      </a:cubicBezTo>
                      <a:cubicBezTo>
                        <a:pt x="282" y="853"/>
                        <a:pt x="177" y="767"/>
                        <a:pt x="55" y="665"/>
                      </a:cubicBezTo>
                      <a:cubicBezTo>
                        <a:pt x="42" y="654"/>
                        <a:pt x="22" y="656"/>
                        <a:pt x="11" y="669"/>
                      </a:cubicBezTo>
                      <a:cubicBezTo>
                        <a:pt x="0" y="682"/>
                        <a:pt x="1" y="702"/>
                        <a:pt x="15" y="713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3">
                  <a:extLst>
                    <a:ext uri="{FF2B5EF4-FFF2-40B4-BE49-F238E27FC236}">
                      <a16:creationId xmlns:a16="http://schemas.microsoft.com/office/drawing/2014/main" id="{E5209C47-8580-2040-BA4C-C66647BCA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273" y="847620"/>
                  <a:ext cx="304826" cy="169186"/>
                </a:xfrm>
                <a:custGeom>
                  <a:avLst/>
                  <a:gdLst>
                    <a:gd name="T0" fmla="*/ 12 w 1845"/>
                    <a:gd name="T1" fmla="*/ 672 h 1022"/>
                    <a:gd name="T2" fmla="*/ 350 w 1845"/>
                    <a:gd name="T3" fmla="*/ 928 h 1022"/>
                    <a:gd name="T4" fmla="*/ 488 w 1845"/>
                    <a:gd name="T5" fmla="*/ 997 h 1022"/>
                    <a:gd name="T6" fmla="*/ 620 w 1845"/>
                    <a:gd name="T7" fmla="*/ 1021 h 1022"/>
                    <a:gd name="T8" fmla="*/ 734 w 1845"/>
                    <a:gd name="T9" fmla="*/ 1003 h 1022"/>
                    <a:gd name="T10" fmla="*/ 915 w 1845"/>
                    <a:gd name="T11" fmla="*/ 905 h 1022"/>
                    <a:gd name="T12" fmla="*/ 1129 w 1845"/>
                    <a:gd name="T13" fmla="*/ 720 h 1022"/>
                    <a:gd name="T14" fmla="*/ 1129 w 1845"/>
                    <a:gd name="T15" fmla="*/ 720 h 1022"/>
                    <a:gd name="T16" fmla="*/ 1834 w 1845"/>
                    <a:gd name="T17" fmla="*/ 42 h 1022"/>
                    <a:gd name="T18" fmla="*/ 1835 w 1845"/>
                    <a:gd name="T19" fmla="*/ 10 h 1022"/>
                    <a:gd name="T20" fmla="*/ 1802 w 1845"/>
                    <a:gd name="T21" fmla="*/ 9 h 1022"/>
                    <a:gd name="T22" fmla="*/ 1097 w 1845"/>
                    <a:gd name="T23" fmla="*/ 687 h 1022"/>
                    <a:gd name="T24" fmla="*/ 1097 w 1845"/>
                    <a:gd name="T25" fmla="*/ 687 h 1022"/>
                    <a:gd name="T26" fmla="*/ 828 w 1845"/>
                    <a:gd name="T27" fmla="*/ 907 h 1022"/>
                    <a:gd name="T28" fmla="*/ 720 w 1845"/>
                    <a:gd name="T29" fmla="*/ 959 h 1022"/>
                    <a:gd name="T30" fmla="*/ 620 w 1845"/>
                    <a:gd name="T31" fmla="*/ 975 h 1022"/>
                    <a:gd name="T32" fmla="*/ 504 w 1845"/>
                    <a:gd name="T33" fmla="*/ 954 h 1022"/>
                    <a:gd name="T34" fmla="*/ 302 w 1845"/>
                    <a:gd name="T35" fmla="*/ 841 h 1022"/>
                    <a:gd name="T36" fmla="*/ 41 w 1845"/>
                    <a:gd name="T37" fmla="*/ 636 h 1022"/>
                    <a:gd name="T38" fmla="*/ 9 w 1845"/>
                    <a:gd name="T39" fmla="*/ 640 h 1022"/>
                    <a:gd name="T40" fmla="*/ 12 w 1845"/>
                    <a:gd name="T41" fmla="*/ 672 h 10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5" h="1022">
                      <a:moveTo>
                        <a:pt x="12" y="672"/>
                      </a:moveTo>
                      <a:cubicBezTo>
                        <a:pt x="146" y="782"/>
                        <a:pt x="254" y="868"/>
                        <a:pt x="350" y="928"/>
                      </a:cubicBezTo>
                      <a:cubicBezTo>
                        <a:pt x="398" y="958"/>
                        <a:pt x="444" y="981"/>
                        <a:pt x="488" y="997"/>
                      </a:cubicBezTo>
                      <a:cubicBezTo>
                        <a:pt x="533" y="1013"/>
                        <a:pt x="576" y="1021"/>
                        <a:pt x="620" y="1021"/>
                      </a:cubicBezTo>
                      <a:cubicBezTo>
                        <a:pt x="658" y="1021"/>
                        <a:pt x="695" y="1015"/>
                        <a:pt x="734" y="1003"/>
                      </a:cubicBezTo>
                      <a:cubicBezTo>
                        <a:pt x="791" y="984"/>
                        <a:pt x="850" y="952"/>
                        <a:pt x="915" y="905"/>
                      </a:cubicBezTo>
                      <a:cubicBezTo>
                        <a:pt x="980" y="858"/>
                        <a:pt x="1050" y="797"/>
                        <a:pt x="1129" y="720"/>
                      </a:cubicBezTo>
                      <a:lnTo>
                        <a:pt x="1129" y="720"/>
                      </a:lnTo>
                      <a:lnTo>
                        <a:pt x="1834" y="42"/>
                      </a:lnTo>
                      <a:cubicBezTo>
                        <a:pt x="1843" y="34"/>
                        <a:pt x="1844" y="19"/>
                        <a:pt x="1835" y="10"/>
                      </a:cubicBezTo>
                      <a:cubicBezTo>
                        <a:pt x="1826" y="1"/>
                        <a:pt x="1811" y="0"/>
                        <a:pt x="1802" y="9"/>
                      </a:cubicBezTo>
                      <a:lnTo>
                        <a:pt x="1097" y="687"/>
                      </a:lnTo>
                      <a:lnTo>
                        <a:pt x="1097" y="687"/>
                      </a:lnTo>
                      <a:cubicBezTo>
                        <a:pt x="992" y="788"/>
                        <a:pt x="905" y="861"/>
                        <a:pt x="828" y="907"/>
                      </a:cubicBezTo>
                      <a:cubicBezTo>
                        <a:pt x="790" y="931"/>
                        <a:pt x="754" y="948"/>
                        <a:pt x="720" y="959"/>
                      </a:cubicBezTo>
                      <a:cubicBezTo>
                        <a:pt x="685" y="970"/>
                        <a:pt x="653" y="975"/>
                        <a:pt x="620" y="975"/>
                      </a:cubicBezTo>
                      <a:cubicBezTo>
                        <a:pt x="582" y="975"/>
                        <a:pt x="544" y="968"/>
                        <a:pt x="504" y="954"/>
                      </a:cubicBezTo>
                      <a:cubicBezTo>
                        <a:pt x="443" y="932"/>
                        <a:pt x="378" y="894"/>
                        <a:pt x="302" y="841"/>
                      </a:cubicBezTo>
                      <a:cubicBezTo>
                        <a:pt x="227" y="787"/>
                        <a:pt x="141" y="718"/>
                        <a:pt x="41" y="636"/>
                      </a:cubicBezTo>
                      <a:cubicBezTo>
                        <a:pt x="31" y="628"/>
                        <a:pt x="17" y="630"/>
                        <a:pt x="9" y="640"/>
                      </a:cubicBezTo>
                      <a:cubicBezTo>
                        <a:pt x="0" y="649"/>
                        <a:pt x="2" y="664"/>
                        <a:pt x="12" y="67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4">
                  <a:extLst>
                    <a:ext uri="{FF2B5EF4-FFF2-40B4-BE49-F238E27FC236}">
                      <a16:creationId xmlns:a16="http://schemas.microsoft.com/office/drawing/2014/main" id="{8D752D59-1EE5-1646-B01E-BA47AB38F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713" y="826472"/>
                  <a:ext cx="253050" cy="148037"/>
                </a:xfrm>
                <a:custGeom>
                  <a:avLst/>
                  <a:gdLst>
                    <a:gd name="T0" fmla="*/ 8 w 1531"/>
                    <a:gd name="T1" fmla="*/ 630 h 895"/>
                    <a:gd name="T2" fmla="*/ 269 w 1531"/>
                    <a:gd name="T3" fmla="*/ 824 h 895"/>
                    <a:gd name="T4" fmla="*/ 374 w 1531"/>
                    <a:gd name="T5" fmla="*/ 876 h 895"/>
                    <a:gd name="T6" fmla="*/ 473 w 1531"/>
                    <a:gd name="T7" fmla="*/ 894 h 895"/>
                    <a:gd name="T8" fmla="*/ 573 w 1531"/>
                    <a:gd name="T9" fmla="*/ 875 h 895"/>
                    <a:gd name="T10" fmla="*/ 739 w 1531"/>
                    <a:gd name="T11" fmla="*/ 775 h 895"/>
                    <a:gd name="T12" fmla="*/ 953 w 1531"/>
                    <a:gd name="T13" fmla="*/ 584 h 895"/>
                    <a:gd name="T14" fmla="*/ 953 w 1531"/>
                    <a:gd name="T15" fmla="*/ 584 h 895"/>
                    <a:gd name="T16" fmla="*/ 1524 w 1531"/>
                    <a:gd name="T17" fmla="*/ 27 h 895"/>
                    <a:gd name="T18" fmla="*/ 1524 w 1531"/>
                    <a:gd name="T19" fmla="*/ 6 h 895"/>
                    <a:gd name="T20" fmla="*/ 1503 w 1531"/>
                    <a:gd name="T21" fmla="*/ 6 h 895"/>
                    <a:gd name="T22" fmla="*/ 932 w 1531"/>
                    <a:gd name="T23" fmla="*/ 563 h 895"/>
                    <a:gd name="T24" fmla="*/ 932 w 1531"/>
                    <a:gd name="T25" fmla="*/ 563 h 895"/>
                    <a:gd name="T26" fmla="*/ 663 w 1531"/>
                    <a:gd name="T27" fmla="*/ 793 h 895"/>
                    <a:gd name="T28" fmla="*/ 562 w 1531"/>
                    <a:gd name="T29" fmla="*/ 847 h 895"/>
                    <a:gd name="T30" fmla="*/ 473 w 1531"/>
                    <a:gd name="T31" fmla="*/ 865 h 895"/>
                    <a:gd name="T32" fmla="*/ 384 w 1531"/>
                    <a:gd name="T33" fmla="*/ 848 h 895"/>
                    <a:gd name="T34" fmla="*/ 229 w 1531"/>
                    <a:gd name="T35" fmla="*/ 762 h 895"/>
                    <a:gd name="T36" fmla="*/ 26 w 1531"/>
                    <a:gd name="T37" fmla="*/ 607 h 895"/>
                    <a:gd name="T38" fmla="*/ 5 w 1531"/>
                    <a:gd name="T39" fmla="*/ 609 h 895"/>
                    <a:gd name="T40" fmla="*/ 8 w 1531"/>
                    <a:gd name="T41" fmla="*/ 630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1" h="895">
                      <a:moveTo>
                        <a:pt x="8" y="630"/>
                      </a:moveTo>
                      <a:cubicBezTo>
                        <a:pt x="113" y="714"/>
                        <a:pt x="196" y="779"/>
                        <a:pt x="269" y="824"/>
                      </a:cubicBezTo>
                      <a:cubicBezTo>
                        <a:pt x="306" y="847"/>
                        <a:pt x="340" y="864"/>
                        <a:pt x="374" y="876"/>
                      </a:cubicBezTo>
                      <a:cubicBezTo>
                        <a:pt x="407" y="888"/>
                        <a:pt x="440" y="894"/>
                        <a:pt x="473" y="894"/>
                      </a:cubicBezTo>
                      <a:cubicBezTo>
                        <a:pt x="506" y="894"/>
                        <a:pt x="539" y="888"/>
                        <a:pt x="573" y="875"/>
                      </a:cubicBezTo>
                      <a:cubicBezTo>
                        <a:pt x="624" y="856"/>
                        <a:pt x="678" y="823"/>
                        <a:pt x="739" y="775"/>
                      </a:cubicBezTo>
                      <a:cubicBezTo>
                        <a:pt x="801" y="727"/>
                        <a:pt x="870" y="663"/>
                        <a:pt x="953" y="584"/>
                      </a:cubicBezTo>
                      <a:lnTo>
                        <a:pt x="953" y="584"/>
                      </a:lnTo>
                      <a:lnTo>
                        <a:pt x="1524" y="27"/>
                      </a:lnTo>
                      <a:cubicBezTo>
                        <a:pt x="1529" y="21"/>
                        <a:pt x="1530" y="12"/>
                        <a:pt x="1524" y="6"/>
                      </a:cubicBezTo>
                      <a:cubicBezTo>
                        <a:pt x="1518" y="0"/>
                        <a:pt x="1509" y="0"/>
                        <a:pt x="1503" y="6"/>
                      </a:cubicBezTo>
                      <a:lnTo>
                        <a:pt x="932" y="563"/>
                      </a:lnTo>
                      <a:lnTo>
                        <a:pt x="932" y="563"/>
                      </a:lnTo>
                      <a:cubicBezTo>
                        <a:pt x="823" y="668"/>
                        <a:pt x="737" y="744"/>
                        <a:pt x="663" y="793"/>
                      </a:cubicBezTo>
                      <a:cubicBezTo>
                        <a:pt x="627" y="818"/>
                        <a:pt x="594" y="836"/>
                        <a:pt x="562" y="847"/>
                      </a:cubicBezTo>
                      <a:cubicBezTo>
                        <a:pt x="531" y="859"/>
                        <a:pt x="502" y="865"/>
                        <a:pt x="473" y="865"/>
                      </a:cubicBezTo>
                      <a:cubicBezTo>
                        <a:pt x="444" y="865"/>
                        <a:pt x="415" y="859"/>
                        <a:pt x="384" y="848"/>
                      </a:cubicBezTo>
                      <a:cubicBezTo>
                        <a:pt x="338" y="832"/>
                        <a:pt x="288" y="803"/>
                        <a:pt x="229" y="762"/>
                      </a:cubicBezTo>
                      <a:cubicBezTo>
                        <a:pt x="171" y="722"/>
                        <a:pt x="105" y="669"/>
                        <a:pt x="26" y="607"/>
                      </a:cubicBezTo>
                      <a:cubicBezTo>
                        <a:pt x="20" y="602"/>
                        <a:pt x="10" y="603"/>
                        <a:pt x="5" y="609"/>
                      </a:cubicBezTo>
                      <a:cubicBezTo>
                        <a:pt x="0" y="615"/>
                        <a:pt x="1" y="625"/>
                        <a:pt x="8" y="63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Freeform 5">
                  <a:extLst>
                    <a:ext uri="{FF2B5EF4-FFF2-40B4-BE49-F238E27FC236}">
                      <a16:creationId xmlns:a16="http://schemas.microsoft.com/office/drawing/2014/main" id="{736C1717-3251-C843-B909-26D88513A9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425" y="805324"/>
                  <a:ext cx="201273" cy="127619"/>
                </a:xfrm>
                <a:custGeom>
                  <a:avLst/>
                  <a:gdLst>
                    <a:gd name="T0" fmla="*/ 4 w 1217"/>
                    <a:gd name="T1" fmla="*/ 588 h 773"/>
                    <a:gd name="T2" fmla="*/ 193 w 1217"/>
                    <a:gd name="T3" fmla="*/ 724 h 773"/>
                    <a:gd name="T4" fmla="*/ 332 w 1217"/>
                    <a:gd name="T5" fmla="*/ 772 h 773"/>
                    <a:gd name="T6" fmla="*/ 415 w 1217"/>
                    <a:gd name="T7" fmla="*/ 752 h 773"/>
                    <a:gd name="T8" fmla="*/ 563 w 1217"/>
                    <a:gd name="T9" fmla="*/ 648 h 773"/>
                    <a:gd name="T10" fmla="*/ 776 w 1217"/>
                    <a:gd name="T11" fmla="*/ 448 h 773"/>
                    <a:gd name="T12" fmla="*/ 776 w 1217"/>
                    <a:gd name="T13" fmla="*/ 448 h 773"/>
                    <a:gd name="T14" fmla="*/ 1213 w 1217"/>
                    <a:gd name="T15" fmla="*/ 12 h 773"/>
                    <a:gd name="T16" fmla="*/ 1213 w 1217"/>
                    <a:gd name="T17" fmla="*/ 2 h 773"/>
                    <a:gd name="T18" fmla="*/ 1204 w 1217"/>
                    <a:gd name="T19" fmla="*/ 2 h 773"/>
                    <a:gd name="T20" fmla="*/ 767 w 1217"/>
                    <a:gd name="T21" fmla="*/ 439 h 773"/>
                    <a:gd name="T22" fmla="*/ 500 w 1217"/>
                    <a:gd name="T23" fmla="*/ 682 h 773"/>
                    <a:gd name="T24" fmla="*/ 410 w 1217"/>
                    <a:gd name="T25" fmla="*/ 740 h 773"/>
                    <a:gd name="T26" fmla="*/ 332 w 1217"/>
                    <a:gd name="T27" fmla="*/ 759 h 773"/>
                    <a:gd name="T28" fmla="*/ 199 w 1217"/>
                    <a:gd name="T29" fmla="*/ 712 h 773"/>
                    <a:gd name="T30" fmla="*/ 12 w 1217"/>
                    <a:gd name="T31" fmla="*/ 577 h 773"/>
                    <a:gd name="T32" fmla="*/ 2 w 1217"/>
                    <a:gd name="T33" fmla="*/ 578 h 773"/>
                    <a:gd name="T34" fmla="*/ 4 w 1217"/>
                    <a:gd name="T35" fmla="*/ 588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4" y="588"/>
                      </a:moveTo>
                      <a:cubicBezTo>
                        <a:pt x="81" y="647"/>
                        <a:pt x="141" y="692"/>
                        <a:pt x="193" y="724"/>
                      </a:cubicBezTo>
                      <a:cubicBezTo>
                        <a:pt x="244" y="755"/>
                        <a:pt x="288" y="772"/>
                        <a:pt x="332" y="772"/>
                      </a:cubicBezTo>
                      <a:cubicBezTo>
                        <a:pt x="359" y="772"/>
                        <a:pt x="386" y="765"/>
                        <a:pt x="415" y="752"/>
                      </a:cubicBezTo>
                      <a:cubicBezTo>
                        <a:pt x="458" y="733"/>
                        <a:pt x="505" y="698"/>
                        <a:pt x="563" y="648"/>
                      </a:cubicBezTo>
                      <a:cubicBezTo>
                        <a:pt x="620" y="597"/>
                        <a:pt x="689" y="531"/>
                        <a:pt x="776" y="448"/>
                      </a:cubicBezTo>
                      <a:lnTo>
                        <a:pt x="776" y="448"/>
                      </a:lnTo>
                      <a:lnTo>
                        <a:pt x="1213" y="12"/>
                      </a:lnTo>
                      <a:cubicBezTo>
                        <a:pt x="1216" y="9"/>
                        <a:pt x="1216" y="5"/>
                        <a:pt x="1213" y="2"/>
                      </a:cubicBezTo>
                      <a:cubicBezTo>
                        <a:pt x="1210" y="0"/>
                        <a:pt x="1206" y="0"/>
                        <a:pt x="1204" y="2"/>
                      </a:cubicBezTo>
                      <a:lnTo>
                        <a:pt x="767" y="439"/>
                      </a:lnTo>
                      <a:cubicBezTo>
                        <a:pt x="651" y="549"/>
                        <a:pt x="568" y="630"/>
                        <a:pt x="500" y="682"/>
                      </a:cubicBezTo>
                      <a:cubicBezTo>
                        <a:pt x="466" y="709"/>
                        <a:pt x="437" y="728"/>
                        <a:pt x="410" y="740"/>
                      </a:cubicBezTo>
                      <a:cubicBezTo>
                        <a:pt x="382" y="753"/>
                        <a:pt x="357" y="759"/>
                        <a:pt x="332" y="759"/>
                      </a:cubicBezTo>
                      <a:cubicBezTo>
                        <a:pt x="291" y="759"/>
                        <a:pt x="250" y="743"/>
                        <a:pt x="199" y="712"/>
                      </a:cubicBezTo>
                      <a:cubicBezTo>
                        <a:pt x="149" y="682"/>
                        <a:pt x="89" y="636"/>
                        <a:pt x="12" y="577"/>
                      </a:cubicBezTo>
                      <a:cubicBezTo>
                        <a:pt x="9" y="575"/>
                        <a:pt x="4" y="575"/>
                        <a:pt x="2" y="578"/>
                      </a:cubicBezTo>
                      <a:cubicBezTo>
                        <a:pt x="0" y="581"/>
                        <a:pt x="1" y="585"/>
                        <a:pt x="4" y="58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6">
                  <a:extLst>
                    <a:ext uri="{FF2B5EF4-FFF2-40B4-BE49-F238E27FC236}">
                      <a16:creationId xmlns:a16="http://schemas.microsoft.com/office/drawing/2014/main" id="{A3B338F7-55A4-4740-9066-F03D0DE3B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170" y="664579"/>
                  <a:ext cx="439737" cy="330350"/>
                </a:xfrm>
                <a:custGeom>
                  <a:avLst/>
                  <a:gdLst>
                    <a:gd name="T0" fmla="*/ 2631 w 2657"/>
                    <a:gd name="T1" fmla="*/ 532 h 1998"/>
                    <a:gd name="T2" fmla="*/ 2130 w 2657"/>
                    <a:gd name="T3" fmla="*/ 145 h 1998"/>
                    <a:gd name="T4" fmla="*/ 1920 w 2657"/>
                    <a:gd name="T5" fmla="*/ 38 h 1998"/>
                    <a:gd name="T6" fmla="*/ 1715 w 2657"/>
                    <a:gd name="T7" fmla="*/ 0 h 1998"/>
                    <a:gd name="T8" fmla="*/ 1578 w 2657"/>
                    <a:gd name="T9" fmla="*/ 19 h 1998"/>
                    <a:gd name="T10" fmla="*/ 1370 w 2657"/>
                    <a:gd name="T11" fmla="*/ 116 h 1998"/>
                    <a:gd name="T12" fmla="*/ 1150 w 2657"/>
                    <a:gd name="T13" fmla="*/ 295 h 1998"/>
                    <a:gd name="T14" fmla="*/ 1150 w 2657"/>
                    <a:gd name="T15" fmla="*/ 295 h 1998"/>
                    <a:gd name="T16" fmla="*/ 16 w 2657"/>
                    <a:gd name="T17" fmla="*/ 1368 h 1998"/>
                    <a:gd name="T18" fmla="*/ 0 w 2657"/>
                    <a:gd name="T19" fmla="*/ 1406 h 1998"/>
                    <a:gd name="T20" fmla="*/ 16 w 2657"/>
                    <a:gd name="T21" fmla="*/ 1444 h 1998"/>
                    <a:gd name="T22" fmla="*/ 566 w 2657"/>
                    <a:gd name="T23" fmla="*/ 1977 h 1998"/>
                    <a:gd name="T24" fmla="*/ 640 w 2657"/>
                    <a:gd name="T25" fmla="*/ 1976 h 1998"/>
                    <a:gd name="T26" fmla="*/ 639 w 2657"/>
                    <a:gd name="T27" fmla="*/ 1901 h 1998"/>
                    <a:gd name="T28" fmla="*/ 129 w 2657"/>
                    <a:gd name="T29" fmla="*/ 1406 h 1998"/>
                    <a:gd name="T30" fmla="*/ 1223 w 2657"/>
                    <a:gd name="T31" fmla="*/ 371 h 1998"/>
                    <a:gd name="T32" fmla="*/ 1223 w 2657"/>
                    <a:gd name="T33" fmla="*/ 371 h 1998"/>
                    <a:gd name="T34" fmla="*/ 1489 w 2657"/>
                    <a:gd name="T35" fmla="*/ 167 h 1998"/>
                    <a:gd name="T36" fmla="*/ 1605 w 2657"/>
                    <a:gd name="T37" fmla="*/ 121 h 1998"/>
                    <a:gd name="T38" fmla="*/ 1715 w 2657"/>
                    <a:gd name="T39" fmla="*/ 106 h 1998"/>
                    <a:gd name="T40" fmla="*/ 1884 w 2657"/>
                    <a:gd name="T41" fmla="*/ 138 h 1998"/>
                    <a:gd name="T42" fmla="*/ 2181 w 2657"/>
                    <a:gd name="T43" fmla="*/ 306 h 1998"/>
                    <a:gd name="T44" fmla="*/ 2562 w 2657"/>
                    <a:gd name="T45" fmla="*/ 612 h 1998"/>
                    <a:gd name="T46" fmla="*/ 2637 w 2657"/>
                    <a:gd name="T47" fmla="*/ 606 h 1998"/>
                    <a:gd name="T48" fmla="*/ 2631 w 2657"/>
                    <a:gd name="T49" fmla="*/ 532 h 19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57" h="1998">
                      <a:moveTo>
                        <a:pt x="2631" y="532"/>
                      </a:moveTo>
                      <a:cubicBezTo>
                        <a:pt x="2437" y="367"/>
                        <a:pt x="2276" y="237"/>
                        <a:pt x="2130" y="145"/>
                      </a:cubicBezTo>
                      <a:cubicBezTo>
                        <a:pt x="2058" y="99"/>
                        <a:pt x="1988" y="63"/>
                        <a:pt x="1920" y="38"/>
                      </a:cubicBezTo>
                      <a:cubicBezTo>
                        <a:pt x="1851" y="14"/>
                        <a:pt x="1783" y="0"/>
                        <a:pt x="1715" y="0"/>
                      </a:cubicBezTo>
                      <a:cubicBezTo>
                        <a:pt x="1669" y="0"/>
                        <a:pt x="1623" y="6"/>
                        <a:pt x="1578" y="19"/>
                      </a:cubicBezTo>
                      <a:cubicBezTo>
                        <a:pt x="1509" y="37"/>
                        <a:pt x="1440" y="70"/>
                        <a:pt x="1370" y="116"/>
                      </a:cubicBezTo>
                      <a:cubicBezTo>
                        <a:pt x="1299" y="162"/>
                        <a:pt x="1227" y="221"/>
                        <a:pt x="1150" y="295"/>
                      </a:cubicBezTo>
                      <a:lnTo>
                        <a:pt x="1150" y="295"/>
                      </a:lnTo>
                      <a:lnTo>
                        <a:pt x="16" y="1368"/>
                      </a:lnTo>
                      <a:cubicBezTo>
                        <a:pt x="6" y="1378"/>
                        <a:pt x="0" y="1391"/>
                        <a:pt x="0" y="1406"/>
                      </a:cubicBezTo>
                      <a:cubicBezTo>
                        <a:pt x="0" y="1420"/>
                        <a:pt x="6" y="1434"/>
                        <a:pt x="16" y="1444"/>
                      </a:cubicBezTo>
                      <a:lnTo>
                        <a:pt x="566" y="1977"/>
                      </a:lnTo>
                      <a:cubicBezTo>
                        <a:pt x="587" y="1997"/>
                        <a:pt x="619" y="1997"/>
                        <a:pt x="640" y="1976"/>
                      </a:cubicBezTo>
                      <a:cubicBezTo>
                        <a:pt x="660" y="1955"/>
                        <a:pt x="660" y="1921"/>
                        <a:pt x="639" y="1901"/>
                      </a:cubicBezTo>
                      <a:lnTo>
                        <a:pt x="129" y="1406"/>
                      </a:lnTo>
                      <a:lnTo>
                        <a:pt x="1223" y="371"/>
                      </a:lnTo>
                      <a:lnTo>
                        <a:pt x="1223" y="371"/>
                      </a:lnTo>
                      <a:cubicBezTo>
                        <a:pt x="1321" y="277"/>
                        <a:pt x="1409" y="210"/>
                        <a:pt x="1489" y="167"/>
                      </a:cubicBezTo>
                      <a:cubicBezTo>
                        <a:pt x="1529" y="146"/>
                        <a:pt x="1568" y="131"/>
                        <a:pt x="1605" y="121"/>
                      </a:cubicBezTo>
                      <a:cubicBezTo>
                        <a:pt x="1642" y="111"/>
                        <a:pt x="1679" y="106"/>
                        <a:pt x="1715" y="106"/>
                      </a:cubicBezTo>
                      <a:cubicBezTo>
                        <a:pt x="1770" y="106"/>
                        <a:pt x="1825" y="116"/>
                        <a:pt x="1884" y="138"/>
                      </a:cubicBezTo>
                      <a:cubicBezTo>
                        <a:pt x="1972" y="170"/>
                        <a:pt x="2070" y="226"/>
                        <a:pt x="2181" y="306"/>
                      </a:cubicBezTo>
                      <a:cubicBezTo>
                        <a:pt x="2293" y="387"/>
                        <a:pt x="2418" y="490"/>
                        <a:pt x="2562" y="612"/>
                      </a:cubicBezTo>
                      <a:cubicBezTo>
                        <a:pt x="2585" y="631"/>
                        <a:pt x="2618" y="628"/>
                        <a:pt x="2637" y="606"/>
                      </a:cubicBezTo>
                      <a:cubicBezTo>
                        <a:pt x="2656" y="584"/>
                        <a:pt x="2653" y="551"/>
                        <a:pt x="2631" y="5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7">
                  <a:extLst>
                    <a:ext uri="{FF2B5EF4-FFF2-40B4-BE49-F238E27FC236}">
                      <a16:creationId xmlns:a16="http://schemas.microsoft.com/office/drawing/2014/main" id="{4141CE36-498C-CB43-8361-06B6ABAF9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9946" y="709792"/>
                  <a:ext cx="356603" cy="190334"/>
                </a:xfrm>
                <a:custGeom>
                  <a:avLst/>
                  <a:gdLst>
                    <a:gd name="T0" fmla="*/ 2142 w 2158"/>
                    <a:gd name="T1" fmla="*/ 438 h 1152"/>
                    <a:gd name="T2" fmla="*/ 1725 w 2158"/>
                    <a:gd name="T3" fmla="*/ 118 h 1152"/>
                    <a:gd name="T4" fmla="*/ 1552 w 2158"/>
                    <a:gd name="T5" fmla="*/ 31 h 1152"/>
                    <a:gd name="T6" fmla="*/ 1386 w 2158"/>
                    <a:gd name="T7" fmla="*/ 0 h 1152"/>
                    <a:gd name="T8" fmla="*/ 1261 w 2158"/>
                    <a:gd name="T9" fmla="*/ 19 h 1152"/>
                    <a:gd name="T10" fmla="*/ 1068 w 2158"/>
                    <a:gd name="T11" fmla="*/ 115 h 1152"/>
                    <a:gd name="T12" fmla="*/ 852 w 2158"/>
                    <a:gd name="T13" fmla="*/ 295 h 1152"/>
                    <a:gd name="T14" fmla="*/ 852 w 2158"/>
                    <a:gd name="T15" fmla="*/ 295 h 1152"/>
                    <a:gd name="T16" fmla="*/ 13 w 2158"/>
                    <a:gd name="T17" fmla="*/ 1094 h 1152"/>
                    <a:gd name="T18" fmla="*/ 12 w 2158"/>
                    <a:gd name="T19" fmla="*/ 1138 h 1152"/>
                    <a:gd name="T20" fmla="*/ 56 w 2158"/>
                    <a:gd name="T21" fmla="*/ 1139 h 1152"/>
                    <a:gd name="T22" fmla="*/ 895 w 2158"/>
                    <a:gd name="T23" fmla="*/ 340 h 1152"/>
                    <a:gd name="T24" fmla="*/ 895 w 2158"/>
                    <a:gd name="T25" fmla="*/ 340 h 1152"/>
                    <a:gd name="T26" fmla="*/ 1164 w 2158"/>
                    <a:gd name="T27" fmla="*/ 128 h 1152"/>
                    <a:gd name="T28" fmla="*/ 1279 w 2158"/>
                    <a:gd name="T29" fmla="*/ 79 h 1152"/>
                    <a:gd name="T30" fmla="*/ 1386 w 2158"/>
                    <a:gd name="T31" fmla="*/ 63 h 1152"/>
                    <a:gd name="T32" fmla="*/ 1531 w 2158"/>
                    <a:gd name="T33" fmla="*/ 90 h 1152"/>
                    <a:gd name="T34" fmla="*/ 1781 w 2158"/>
                    <a:gd name="T35" fmla="*/ 231 h 1152"/>
                    <a:gd name="T36" fmla="*/ 2102 w 2158"/>
                    <a:gd name="T37" fmla="*/ 486 h 1152"/>
                    <a:gd name="T38" fmla="*/ 2146 w 2158"/>
                    <a:gd name="T39" fmla="*/ 482 h 1152"/>
                    <a:gd name="T40" fmla="*/ 2142 w 2158"/>
                    <a:gd name="T41" fmla="*/ 438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2142" y="438"/>
                      </a:moveTo>
                      <a:cubicBezTo>
                        <a:pt x="1978" y="301"/>
                        <a:pt x="1845" y="193"/>
                        <a:pt x="1725" y="118"/>
                      </a:cubicBezTo>
                      <a:cubicBezTo>
                        <a:pt x="1664" y="80"/>
                        <a:pt x="1608" y="51"/>
                        <a:pt x="1552" y="31"/>
                      </a:cubicBezTo>
                      <a:cubicBezTo>
                        <a:pt x="1496" y="11"/>
                        <a:pt x="1441" y="0"/>
                        <a:pt x="1386" y="0"/>
                      </a:cubicBezTo>
                      <a:cubicBezTo>
                        <a:pt x="1344" y="0"/>
                        <a:pt x="1303" y="6"/>
                        <a:pt x="1261" y="19"/>
                      </a:cubicBezTo>
                      <a:cubicBezTo>
                        <a:pt x="1198" y="37"/>
                        <a:pt x="1135" y="69"/>
                        <a:pt x="1068" y="115"/>
                      </a:cubicBezTo>
                      <a:cubicBezTo>
                        <a:pt x="1000" y="161"/>
                        <a:pt x="930" y="220"/>
                        <a:pt x="852" y="295"/>
                      </a:cubicBezTo>
                      <a:lnTo>
                        <a:pt x="852" y="295"/>
                      </a:lnTo>
                      <a:lnTo>
                        <a:pt x="13" y="1094"/>
                      </a:lnTo>
                      <a:cubicBezTo>
                        <a:pt x="1" y="1106"/>
                        <a:pt x="0" y="1126"/>
                        <a:pt x="12" y="1138"/>
                      </a:cubicBezTo>
                      <a:cubicBezTo>
                        <a:pt x="24" y="1151"/>
                        <a:pt x="44" y="1151"/>
                        <a:pt x="56" y="1139"/>
                      </a:cubicBezTo>
                      <a:lnTo>
                        <a:pt x="895" y="340"/>
                      </a:lnTo>
                      <a:lnTo>
                        <a:pt x="895" y="340"/>
                      </a:lnTo>
                      <a:cubicBezTo>
                        <a:pt x="997" y="243"/>
                        <a:pt x="1085" y="173"/>
                        <a:pt x="1164" y="128"/>
                      </a:cubicBezTo>
                      <a:cubicBezTo>
                        <a:pt x="1204" y="106"/>
                        <a:pt x="1242" y="89"/>
                        <a:pt x="1279" y="79"/>
                      </a:cubicBezTo>
                      <a:cubicBezTo>
                        <a:pt x="1315" y="68"/>
                        <a:pt x="1351" y="63"/>
                        <a:pt x="1386" y="63"/>
                      </a:cubicBezTo>
                      <a:cubicBezTo>
                        <a:pt x="1433" y="63"/>
                        <a:pt x="1480" y="72"/>
                        <a:pt x="1531" y="90"/>
                      </a:cubicBezTo>
                      <a:cubicBezTo>
                        <a:pt x="1606" y="117"/>
                        <a:pt x="1688" y="164"/>
                        <a:pt x="1781" y="231"/>
                      </a:cubicBezTo>
                      <a:cubicBezTo>
                        <a:pt x="1874" y="298"/>
                        <a:pt x="1979" y="384"/>
                        <a:pt x="2102" y="486"/>
                      </a:cubicBezTo>
                      <a:cubicBezTo>
                        <a:pt x="2115" y="497"/>
                        <a:pt x="2135" y="495"/>
                        <a:pt x="2146" y="482"/>
                      </a:cubicBezTo>
                      <a:cubicBezTo>
                        <a:pt x="2157" y="469"/>
                        <a:pt x="2155" y="449"/>
                        <a:pt x="2142" y="43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8">
                  <a:extLst>
                    <a:ext uri="{FF2B5EF4-FFF2-40B4-BE49-F238E27FC236}">
                      <a16:creationId xmlns:a16="http://schemas.microsoft.com/office/drawing/2014/main" id="{8C0DB147-A359-BD41-A434-9663F5413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4012" y="752818"/>
                  <a:ext cx="304826" cy="169186"/>
                </a:xfrm>
                <a:custGeom>
                  <a:avLst/>
                  <a:gdLst>
                    <a:gd name="T0" fmla="*/ 1832 w 1844"/>
                    <a:gd name="T1" fmla="*/ 349 h 1021"/>
                    <a:gd name="T2" fmla="*/ 1494 w 1844"/>
                    <a:gd name="T3" fmla="*/ 93 h 1021"/>
                    <a:gd name="T4" fmla="*/ 1356 w 1844"/>
                    <a:gd name="T5" fmla="*/ 24 h 1021"/>
                    <a:gd name="T6" fmla="*/ 1224 w 1844"/>
                    <a:gd name="T7" fmla="*/ 0 h 1021"/>
                    <a:gd name="T8" fmla="*/ 1110 w 1844"/>
                    <a:gd name="T9" fmla="*/ 18 h 1021"/>
                    <a:gd name="T10" fmla="*/ 929 w 1844"/>
                    <a:gd name="T11" fmla="*/ 116 h 1021"/>
                    <a:gd name="T12" fmla="*/ 715 w 1844"/>
                    <a:gd name="T13" fmla="*/ 301 h 1021"/>
                    <a:gd name="T14" fmla="*/ 714 w 1844"/>
                    <a:gd name="T15" fmla="*/ 301 h 1021"/>
                    <a:gd name="T16" fmla="*/ 10 w 1844"/>
                    <a:gd name="T17" fmla="*/ 978 h 1021"/>
                    <a:gd name="T18" fmla="*/ 9 w 1844"/>
                    <a:gd name="T19" fmla="*/ 1011 h 1021"/>
                    <a:gd name="T20" fmla="*/ 42 w 1844"/>
                    <a:gd name="T21" fmla="*/ 1012 h 1021"/>
                    <a:gd name="T22" fmla="*/ 746 w 1844"/>
                    <a:gd name="T23" fmla="*/ 334 h 1021"/>
                    <a:gd name="T24" fmla="*/ 746 w 1844"/>
                    <a:gd name="T25" fmla="*/ 334 h 1021"/>
                    <a:gd name="T26" fmla="*/ 1016 w 1844"/>
                    <a:gd name="T27" fmla="*/ 114 h 1021"/>
                    <a:gd name="T28" fmla="*/ 1124 w 1844"/>
                    <a:gd name="T29" fmla="*/ 62 h 1021"/>
                    <a:gd name="T30" fmla="*/ 1224 w 1844"/>
                    <a:gd name="T31" fmla="*/ 46 h 1021"/>
                    <a:gd name="T32" fmla="*/ 1340 w 1844"/>
                    <a:gd name="T33" fmla="*/ 67 h 1021"/>
                    <a:gd name="T34" fmla="*/ 1542 w 1844"/>
                    <a:gd name="T35" fmla="*/ 180 h 1021"/>
                    <a:gd name="T36" fmla="*/ 1803 w 1844"/>
                    <a:gd name="T37" fmla="*/ 385 h 1021"/>
                    <a:gd name="T38" fmla="*/ 1835 w 1844"/>
                    <a:gd name="T39" fmla="*/ 381 h 1021"/>
                    <a:gd name="T40" fmla="*/ 1832 w 1844"/>
                    <a:gd name="T41" fmla="*/ 349 h 1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4" h="1021">
                      <a:moveTo>
                        <a:pt x="1832" y="349"/>
                      </a:moveTo>
                      <a:cubicBezTo>
                        <a:pt x="1698" y="239"/>
                        <a:pt x="1590" y="153"/>
                        <a:pt x="1494" y="93"/>
                      </a:cubicBezTo>
                      <a:cubicBezTo>
                        <a:pt x="1446" y="63"/>
                        <a:pt x="1400" y="40"/>
                        <a:pt x="1356" y="24"/>
                      </a:cubicBezTo>
                      <a:cubicBezTo>
                        <a:pt x="1311" y="8"/>
                        <a:pt x="1268" y="0"/>
                        <a:pt x="1224" y="0"/>
                      </a:cubicBezTo>
                      <a:cubicBezTo>
                        <a:pt x="1186" y="0"/>
                        <a:pt x="1148" y="6"/>
                        <a:pt x="1110" y="18"/>
                      </a:cubicBezTo>
                      <a:cubicBezTo>
                        <a:pt x="1052" y="37"/>
                        <a:pt x="993" y="69"/>
                        <a:pt x="929" y="116"/>
                      </a:cubicBezTo>
                      <a:cubicBezTo>
                        <a:pt x="864" y="163"/>
                        <a:pt x="794" y="224"/>
                        <a:pt x="715" y="301"/>
                      </a:cubicBezTo>
                      <a:lnTo>
                        <a:pt x="714" y="301"/>
                      </a:lnTo>
                      <a:lnTo>
                        <a:pt x="10" y="978"/>
                      </a:lnTo>
                      <a:cubicBezTo>
                        <a:pt x="1" y="987"/>
                        <a:pt x="0" y="1002"/>
                        <a:pt x="9" y="1011"/>
                      </a:cubicBezTo>
                      <a:cubicBezTo>
                        <a:pt x="18" y="1020"/>
                        <a:pt x="33" y="1020"/>
                        <a:pt x="42" y="1012"/>
                      </a:cubicBezTo>
                      <a:lnTo>
                        <a:pt x="746" y="334"/>
                      </a:lnTo>
                      <a:lnTo>
                        <a:pt x="746" y="334"/>
                      </a:lnTo>
                      <a:cubicBezTo>
                        <a:pt x="851" y="233"/>
                        <a:pt x="939" y="160"/>
                        <a:pt x="1016" y="114"/>
                      </a:cubicBezTo>
                      <a:cubicBezTo>
                        <a:pt x="1054" y="90"/>
                        <a:pt x="1090" y="73"/>
                        <a:pt x="1124" y="62"/>
                      </a:cubicBezTo>
                      <a:cubicBezTo>
                        <a:pt x="1159" y="51"/>
                        <a:pt x="1191" y="46"/>
                        <a:pt x="1224" y="46"/>
                      </a:cubicBezTo>
                      <a:cubicBezTo>
                        <a:pt x="1262" y="46"/>
                        <a:pt x="1300" y="53"/>
                        <a:pt x="1340" y="67"/>
                      </a:cubicBezTo>
                      <a:cubicBezTo>
                        <a:pt x="1401" y="89"/>
                        <a:pt x="1466" y="127"/>
                        <a:pt x="1542" y="180"/>
                      </a:cubicBezTo>
                      <a:cubicBezTo>
                        <a:pt x="1617" y="234"/>
                        <a:pt x="1702" y="303"/>
                        <a:pt x="1803" y="385"/>
                      </a:cubicBezTo>
                      <a:cubicBezTo>
                        <a:pt x="1813" y="393"/>
                        <a:pt x="1827" y="391"/>
                        <a:pt x="1835" y="381"/>
                      </a:cubicBezTo>
                      <a:cubicBezTo>
                        <a:pt x="1843" y="372"/>
                        <a:pt x="1842" y="357"/>
                        <a:pt x="1832" y="349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9">
                  <a:extLst>
                    <a:ext uri="{FF2B5EF4-FFF2-40B4-BE49-F238E27FC236}">
                      <a16:creationId xmlns:a16="http://schemas.microsoft.com/office/drawing/2014/main" id="{C6F23298-B6AB-BA43-B481-2717E0BC3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7348" y="795114"/>
                  <a:ext cx="253049" cy="148038"/>
                </a:xfrm>
                <a:custGeom>
                  <a:avLst/>
                  <a:gdLst>
                    <a:gd name="T0" fmla="*/ 1522 w 1530"/>
                    <a:gd name="T1" fmla="*/ 264 h 895"/>
                    <a:gd name="T2" fmla="*/ 1260 w 1530"/>
                    <a:gd name="T3" fmla="*/ 70 h 895"/>
                    <a:gd name="T4" fmla="*/ 1156 w 1530"/>
                    <a:gd name="T5" fmla="*/ 18 h 895"/>
                    <a:gd name="T6" fmla="*/ 1057 w 1530"/>
                    <a:gd name="T7" fmla="*/ 0 h 895"/>
                    <a:gd name="T8" fmla="*/ 957 w 1530"/>
                    <a:gd name="T9" fmla="*/ 19 h 895"/>
                    <a:gd name="T10" fmla="*/ 791 w 1530"/>
                    <a:gd name="T11" fmla="*/ 119 h 895"/>
                    <a:gd name="T12" fmla="*/ 577 w 1530"/>
                    <a:gd name="T13" fmla="*/ 310 h 895"/>
                    <a:gd name="T14" fmla="*/ 577 w 1530"/>
                    <a:gd name="T15" fmla="*/ 310 h 895"/>
                    <a:gd name="T16" fmla="*/ 6 w 1530"/>
                    <a:gd name="T17" fmla="*/ 867 h 895"/>
                    <a:gd name="T18" fmla="*/ 6 w 1530"/>
                    <a:gd name="T19" fmla="*/ 888 h 895"/>
                    <a:gd name="T20" fmla="*/ 27 w 1530"/>
                    <a:gd name="T21" fmla="*/ 888 h 895"/>
                    <a:gd name="T22" fmla="*/ 598 w 1530"/>
                    <a:gd name="T23" fmla="*/ 331 h 895"/>
                    <a:gd name="T24" fmla="*/ 598 w 1530"/>
                    <a:gd name="T25" fmla="*/ 331 h 895"/>
                    <a:gd name="T26" fmla="*/ 866 w 1530"/>
                    <a:gd name="T27" fmla="*/ 101 h 895"/>
                    <a:gd name="T28" fmla="*/ 968 w 1530"/>
                    <a:gd name="T29" fmla="*/ 47 h 895"/>
                    <a:gd name="T30" fmla="*/ 1057 w 1530"/>
                    <a:gd name="T31" fmla="*/ 29 h 895"/>
                    <a:gd name="T32" fmla="*/ 1146 w 1530"/>
                    <a:gd name="T33" fmla="*/ 46 h 895"/>
                    <a:gd name="T34" fmla="*/ 1300 w 1530"/>
                    <a:gd name="T35" fmla="*/ 132 h 895"/>
                    <a:gd name="T36" fmla="*/ 1504 w 1530"/>
                    <a:gd name="T37" fmla="*/ 287 h 895"/>
                    <a:gd name="T38" fmla="*/ 1524 w 1530"/>
                    <a:gd name="T39" fmla="*/ 285 h 895"/>
                    <a:gd name="T40" fmla="*/ 1522 w 1530"/>
                    <a:gd name="T41" fmla="*/ 264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0" h="895">
                      <a:moveTo>
                        <a:pt x="1522" y="264"/>
                      </a:moveTo>
                      <a:cubicBezTo>
                        <a:pt x="1417" y="180"/>
                        <a:pt x="1334" y="115"/>
                        <a:pt x="1260" y="70"/>
                      </a:cubicBezTo>
                      <a:cubicBezTo>
                        <a:pt x="1224" y="47"/>
                        <a:pt x="1189" y="30"/>
                        <a:pt x="1156" y="18"/>
                      </a:cubicBezTo>
                      <a:cubicBezTo>
                        <a:pt x="1123" y="6"/>
                        <a:pt x="1090" y="0"/>
                        <a:pt x="1057" y="0"/>
                      </a:cubicBezTo>
                      <a:cubicBezTo>
                        <a:pt x="1024" y="0"/>
                        <a:pt x="991" y="6"/>
                        <a:pt x="957" y="19"/>
                      </a:cubicBezTo>
                      <a:cubicBezTo>
                        <a:pt x="906" y="38"/>
                        <a:pt x="852" y="71"/>
                        <a:pt x="791" y="119"/>
                      </a:cubicBezTo>
                      <a:cubicBezTo>
                        <a:pt x="729" y="167"/>
                        <a:pt x="660" y="231"/>
                        <a:pt x="577" y="310"/>
                      </a:cubicBezTo>
                      <a:lnTo>
                        <a:pt x="577" y="310"/>
                      </a:lnTo>
                      <a:lnTo>
                        <a:pt x="6" y="867"/>
                      </a:lnTo>
                      <a:cubicBezTo>
                        <a:pt x="0" y="873"/>
                        <a:pt x="0" y="882"/>
                        <a:pt x="6" y="888"/>
                      </a:cubicBezTo>
                      <a:cubicBezTo>
                        <a:pt x="12" y="894"/>
                        <a:pt x="21" y="894"/>
                        <a:pt x="27" y="888"/>
                      </a:cubicBezTo>
                      <a:lnTo>
                        <a:pt x="598" y="331"/>
                      </a:lnTo>
                      <a:lnTo>
                        <a:pt x="598" y="331"/>
                      </a:lnTo>
                      <a:cubicBezTo>
                        <a:pt x="707" y="226"/>
                        <a:pt x="793" y="150"/>
                        <a:pt x="866" y="101"/>
                      </a:cubicBezTo>
                      <a:cubicBezTo>
                        <a:pt x="903" y="76"/>
                        <a:pt x="936" y="58"/>
                        <a:pt x="968" y="47"/>
                      </a:cubicBezTo>
                      <a:cubicBezTo>
                        <a:pt x="999" y="35"/>
                        <a:pt x="1028" y="29"/>
                        <a:pt x="1057" y="29"/>
                      </a:cubicBezTo>
                      <a:cubicBezTo>
                        <a:pt x="1086" y="29"/>
                        <a:pt x="1115" y="35"/>
                        <a:pt x="1146" y="46"/>
                      </a:cubicBezTo>
                      <a:cubicBezTo>
                        <a:pt x="1192" y="62"/>
                        <a:pt x="1242" y="91"/>
                        <a:pt x="1300" y="132"/>
                      </a:cubicBezTo>
                      <a:cubicBezTo>
                        <a:pt x="1359" y="172"/>
                        <a:pt x="1425" y="225"/>
                        <a:pt x="1504" y="287"/>
                      </a:cubicBezTo>
                      <a:cubicBezTo>
                        <a:pt x="1510" y="292"/>
                        <a:pt x="1518" y="291"/>
                        <a:pt x="1524" y="285"/>
                      </a:cubicBezTo>
                      <a:cubicBezTo>
                        <a:pt x="1529" y="279"/>
                        <a:pt x="1528" y="269"/>
                        <a:pt x="1522" y="26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 10">
                  <a:extLst>
                    <a:ext uri="{FF2B5EF4-FFF2-40B4-BE49-F238E27FC236}">
                      <a16:creationId xmlns:a16="http://schemas.microsoft.com/office/drawing/2014/main" id="{358E77EF-FA74-0941-A231-8FD607054B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1413" y="835952"/>
                  <a:ext cx="201273" cy="127619"/>
                </a:xfrm>
                <a:custGeom>
                  <a:avLst/>
                  <a:gdLst>
                    <a:gd name="T0" fmla="*/ 1212 w 1217"/>
                    <a:gd name="T1" fmla="*/ 184 h 773"/>
                    <a:gd name="T2" fmla="*/ 1023 w 1217"/>
                    <a:gd name="T3" fmla="*/ 48 h 773"/>
                    <a:gd name="T4" fmla="*/ 884 w 1217"/>
                    <a:gd name="T5" fmla="*/ 0 h 773"/>
                    <a:gd name="T6" fmla="*/ 801 w 1217"/>
                    <a:gd name="T7" fmla="*/ 20 h 773"/>
                    <a:gd name="T8" fmla="*/ 653 w 1217"/>
                    <a:gd name="T9" fmla="*/ 124 h 773"/>
                    <a:gd name="T10" fmla="*/ 440 w 1217"/>
                    <a:gd name="T11" fmla="*/ 324 h 773"/>
                    <a:gd name="T12" fmla="*/ 440 w 1217"/>
                    <a:gd name="T13" fmla="*/ 324 h 773"/>
                    <a:gd name="T14" fmla="*/ 3 w 1217"/>
                    <a:gd name="T15" fmla="*/ 760 h 773"/>
                    <a:gd name="T16" fmla="*/ 3 w 1217"/>
                    <a:gd name="T17" fmla="*/ 770 h 773"/>
                    <a:gd name="T18" fmla="*/ 12 w 1217"/>
                    <a:gd name="T19" fmla="*/ 770 h 773"/>
                    <a:gd name="T20" fmla="*/ 449 w 1217"/>
                    <a:gd name="T21" fmla="*/ 333 h 773"/>
                    <a:gd name="T22" fmla="*/ 716 w 1217"/>
                    <a:gd name="T23" fmla="*/ 90 h 773"/>
                    <a:gd name="T24" fmla="*/ 806 w 1217"/>
                    <a:gd name="T25" fmla="*/ 32 h 773"/>
                    <a:gd name="T26" fmla="*/ 884 w 1217"/>
                    <a:gd name="T27" fmla="*/ 13 h 773"/>
                    <a:gd name="T28" fmla="*/ 1016 w 1217"/>
                    <a:gd name="T29" fmla="*/ 60 h 773"/>
                    <a:gd name="T30" fmla="*/ 1204 w 1217"/>
                    <a:gd name="T31" fmla="*/ 195 h 773"/>
                    <a:gd name="T32" fmla="*/ 1214 w 1217"/>
                    <a:gd name="T33" fmla="*/ 194 h 773"/>
                    <a:gd name="T34" fmla="*/ 1212 w 1217"/>
                    <a:gd name="T35" fmla="*/ 184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1212" y="184"/>
                      </a:moveTo>
                      <a:cubicBezTo>
                        <a:pt x="1135" y="125"/>
                        <a:pt x="1075" y="80"/>
                        <a:pt x="1023" y="48"/>
                      </a:cubicBezTo>
                      <a:cubicBezTo>
                        <a:pt x="971" y="17"/>
                        <a:pt x="928" y="0"/>
                        <a:pt x="884" y="0"/>
                      </a:cubicBezTo>
                      <a:cubicBezTo>
                        <a:pt x="856" y="0"/>
                        <a:pt x="829" y="7"/>
                        <a:pt x="801" y="20"/>
                      </a:cubicBezTo>
                      <a:cubicBezTo>
                        <a:pt x="758" y="39"/>
                        <a:pt x="711" y="74"/>
                        <a:pt x="653" y="124"/>
                      </a:cubicBezTo>
                      <a:cubicBezTo>
                        <a:pt x="595" y="175"/>
                        <a:pt x="527" y="241"/>
                        <a:pt x="440" y="324"/>
                      </a:cubicBezTo>
                      <a:lnTo>
                        <a:pt x="440" y="324"/>
                      </a:lnTo>
                      <a:lnTo>
                        <a:pt x="3" y="760"/>
                      </a:lnTo>
                      <a:cubicBezTo>
                        <a:pt x="0" y="763"/>
                        <a:pt x="0" y="767"/>
                        <a:pt x="3" y="770"/>
                      </a:cubicBezTo>
                      <a:cubicBezTo>
                        <a:pt x="5" y="772"/>
                        <a:pt x="10" y="772"/>
                        <a:pt x="12" y="770"/>
                      </a:cubicBezTo>
                      <a:lnTo>
                        <a:pt x="449" y="333"/>
                      </a:lnTo>
                      <a:cubicBezTo>
                        <a:pt x="565" y="223"/>
                        <a:pt x="648" y="142"/>
                        <a:pt x="716" y="90"/>
                      </a:cubicBezTo>
                      <a:cubicBezTo>
                        <a:pt x="749" y="63"/>
                        <a:pt x="778" y="44"/>
                        <a:pt x="806" y="32"/>
                      </a:cubicBezTo>
                      <a:cubicBezTo>
                        <a:pt x="833" y="19"/>
                        <a:pt x="859" y="13"/>
                        <a:pt x="884" y="13"/>
                      </a:cubicBezTo>
                      <a:cubicBezTo>
                        <a:pt x="924" y="13"/>
                        <a:pt x="966" y="29"/>
                        <a:pt x="1016" y="60"/>
                      </a:cubicBezTo>
                      <a:cubicBezTo>
                        <a:pt x="1067" y="90"/>
                        <a:pt x="1127" y="136"/>
                        <a:pt x="1204" y="195"/>
                      </a:cubicBezTo>
                      <a:cubicBezTo>
                        <a:pt x="1207" y="197"/>
                        <a:pt x="1211" y="197"/>
                        <a:pt x="1214" y="194"/>
                      </a:cubicBezTo>
                      <a:cubicBezTo>
                        <a:pt x="1216" y="191"/>
                        <a:pt x="1215" y="187"/>
                        <a:pt x="1212" y="18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1">
                  <a:extLst>
                    <a:ext uri="{FF2B5EF4-FFF2-40B4-BE49-F238E27FC236}">
                      <a16:creationId xmlns:a16="http://schemas.microsoft.com/office/drawing/2014/main" id="{C4AC1E84-A6C9-AC43-8829-ADA26407D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08093" y="858559"/>
                  <a:ext cx="72925" cy="48130"/>
                </a:xfrm>
                <a:custGeom>
                  <a:avLst/>
                  <a:gdLst>
                    <a:gd name="T0" fmla="*/ 49 w 442"/>
                    <a:gd name="T1" fmla="*/ 200 h 293"/>
                    <a:gd name="T2" fmla="*/ 0 w 442"/>
                    <a:gd name="T3" fmla="*/ 156 h 293"/>
                    <a:gd name="T4" fmla="*/ 45 w 442"/>
                    <a:gd name="T5" fmla="*/ 107 h 293"/>
                    <a:gd name="T6" fmla="*/ 392 w 442"/>
                    <a:gd name="T7" fmla="*/ 91 h 293"/>
                    <a:gd name="T8" fmla="*/ 441 w 442"/>
                    <a:gd name="T9" fmla="*/ 137 h 293"/>
                    <a:gd name="T10" fmla="*/ 396 w 442"/>
                    <a:gd name="T11" fmla="*/ 185 h 293"/>
                    <a:gd name="T12" fmla="*/ 49 w 442"/>
                    <a:gd name="T13" fmla="*/ 200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2" h="293">
                      <a:moveTo>
                        <a:pt x="49" y="200"/>
                      </a:moveTo>
                      <a:lnTo>
                        <a:pt x="0" y="156"/>
                      </a:lnTo>
                      <a:lnTo>
                        <a:pt x="45" y="107"/>
                      </a:lnTo>
                      <a:cubicBezTo>
                        <a:pt x="136" y="7"/>
                        <a:pt x="292" y="0"/>
                        <a:pt x="392" y="91"/>
                      </a:cubicBezTo>
                      <a:lnTo>
                        <a:pt x="441" y="137"/>
                      </a:lnTo>
                      <a:lnTo>
                        <a:pt x="396" y="185"/>
                      </a:lnTo>
                      <a:cubicBezTo>
                        <a:pt x="304" y="285"/>
                        <a:pt x="149" y="292"/>
                        <a:pt x="49" y="20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43F0B3-495F-9444-816E-38B2C9F55C5E}"/>
                </a:ext>
              </a:extLst>
            </p:cNvPr>
            <p:cNvSpPr txBox="1"/>
            <p:nvPr userDrawn="1"/>
          </p:nvSpPr>
          <p:spPr>
            <a:xfrm>
              <a:off x="5783563" y="5979422"/>
              <a:ext cx="1723549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计算机网络</a:t>
              </a:r>
              <a:endParaRPr lang="en-US" altLang="zh-CN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教案社区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93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BB5D1D6-FEDC-364E-ADD0-80C842FD6986}"/>
              </a:ext>
            </a:extLst>
          </p:cNvPr>
          <p:cNvSpPr/>
          <p:nvPr userDrawn="1"/>
        </p:nvSpPr>
        <p:spPr>
          <a:xfrm>
            <a:off x="667831" y="541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C8C13-A111-E44B-BB6E-32C9AFF8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9FFD-B852-1440-BFA7-3771E624B655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B7B75-EEC1-2D4D-AB7C-5A351496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0058AB-B1F1-354B-AC17-D97CF5C61CCA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AAF2B681-E82A-B44D-9C2D-B50F21D83567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53" name="Freeform 1">
                <a:extLst>
                  <a:ext uri="{FF2B5EF4-FFF2-40B4-BE49-F238E27FC236}">
                    <a16:creationId xmlns:a16="http://schemas.microsoft.com/office/drawing/2014/main" id="{0961A78E-DF61-2349-8E10-2E9861DBE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2">
                <a:extLst>
                  <a:ext uri="{FF2B5EF4-FFF2-40B4-BE49-F238E27FC236}">
                    <a16:creationId xmlns:a16="http://schemas.microsoft.com/office/drawing/2014/main" id="{1B3EB2F6-21CF-A24E-9B62-5D7928C20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3">
                <a:extLst>
                  <a:ext uri="{FF2B5EF4-FFF2-40B4-BE49-F238E27FC236}">
                    <a16:creationId xmlns:a16="http://schemas.microsoft.com/office/drawing/2014/main" id="{81A1399D-3A4A-4346-8C84-7B455211A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Freeform 4">
                <a:extLst>
                  <a:ext uri="{FF2B5EF4-FFF2-40B4-BE49-F238E27FC236}">
                    <a16:creationId xmlns:a16="http://schemas.microsoft.com/office/drawing/2014/main" id="{E9BBE6CF-9D5F-7A45-BADF-582C03D33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4AA75148-84CF-0844-9DC3-A5A612E4F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AB607A71-F482-B646-9976-486F89F11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6DA5CE31-3E42-6346-B29B-FE9FF265D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Freeform 8">
                <a:extLst>
                  <a:ext uri="{FF2B5EF4-FFF2-40B4-BE49-F238E27FC236}">
                    <a16:creationId xmlns:a16="http://schemas.microsoft.com/office/drawing/2014/main" id="{CF0A24C0-A91E-F641-90F0-BC83EC452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Freeform 9">
                <a:extLst>
                  <a:ext uri="{FF2B5EF4-FFF2-40B4-BE49-F238E27FC236}">
                    <a16:creationId xmlns:a16="http://schemas.microsoft.com/office/drawing/2014/main" id="{310AF166-F554-F74D-AB72-E414E499E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Freeform 10">
                <a:extLst>
                  <a:ext uri="{FF2B5EF4-FFF2-40B4-BE49-F238E27FC236}">
                    <a16:creationId xmlns:a16="http://schemas.microsoft.com/office/drawing/2014/main" id="{8D3BD77D-1A93-E64A-9C17-6A3B016DF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Freeform 11">
                <a:extLst>
                  <a:ext uri="{FF2B5EF4-FFF2-40B4-BE49-F238E27FC236}">
                    <a16:creationId xmlns:a16="http://schemas.microsoft.com/office/drawing/2014/main" id="{0D54B55E-B871-E543-9108-B4A576574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30A711A7-A169-8A41-85E2-EA40E3A3BB5F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44" name="Freeform 12">
                <a:extLst>
                  <a:ext uri="{FF2B5EF4-FFF2-40B4-BE49-F238E27FC236}">
                    <a16:creationId xmlns:a16="http://schemas.microsoft.com/office/drawing/2014/main" id="{7E68957D-5A1D-C948-A5BC-A3888C640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Freeform 13">
                <a:extLst>
                  <a:ext uri="{FF2B5EF4-FFF2-40B4-BE49-F238E27FC236}">
                    <a16:creationId xmlns:a16="http://schemas.microsoft.com/office/drawing/2014/main" id="{01D55A2B-04CF-B043-87D1-43B606D23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Freeform 14">
                <a:extLst>
                  <a:ext uri="{FF2B5EF4-FFF2-40B4-BE49-F238E27FC236}">
                    <a16:creationId xmlns:a16="http://schemas.microsoft.com/office/drawing/2014/main" id="{FF056158-A321-8F40-B663-2CF3304CA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Freeform 15">
                <a:extLst>
                  <a:ext uri="{FF2B5EF4-FFF2-40B4-BE49-F238E27FC236}">
                    <a16:creationId xmlns:a16="http://schemas.microsoft.com/office/drawing/2014/main" id="{9C184C5C-D7DA-A74D-B56E-C97972D2E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Freeform 16">
                <a:extLst>
                  <a:ext uri="{FF2B5EF4-FFF2-40B4-BE49-F238E27FC236}">
                    <a16:creationId xmlns:a16="http://schemas.microsoft.com/office/drawing/2014/main" id="{177BD5B8-6ED6-AF44-A4E9-AC0F5ADBB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Freeform 17">
                <a:extLst>
                  <a:ext uri="{FF2B5EF4-FFF2-40B4-BE49-F238E27FC236}">
                    <a16:creationId xmlns:a16="http://schemas.microsoft.com/office/drawing/2014/main" id="{659E8A2F-BD45-A141-8653-9A26A575F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Freeform 18">
                <a:extLst>
                  <a:ext uri="{FF2B5EF4-FFF2-40B4-BE49-F238E27FC236}">
                    <a16:creationId xmlns:a16="http://schemas.microsoft.com/office/drawing/2014/main" id="{74855C05-5F16-C049-9443-A35BB82DE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Freeform 19">
                <a:extLst>
                  <a:ext uri="{FF2B5EF4-FFF2-40B4-BE49-F238E27FC236}">
                    <a16:creationId xmlns:a16="http://schemas.microsoft.com/office/drawing/2014/main" id="{F26716A7-ED33-4E4F-BADB-2E2D22363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Freeform 20">
                <a:extLst>
                  <a:ext uri="{FF2B5EF4-FFF2-40B4-BE49-F238E27FC236}">
                    <a16:creationId xmlns:a16="http://schemas.microsoft.com/office/drawing/2014/main" id="{A25A530F-4DF9-E348-A512-A3FC76E24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69ABA2F-7A98-FE44-912C-23CCE000584E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5034F0ED-7F0F-A647-8634-57EC9EDD7255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081D63E-0DB7-F145-BD48-A7D925A71793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DE68830E-1F7F-B045-A86E-6FF9C25B8D77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6747901-9919-AD4B-8F5D-A15F9E1E169D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2BB61636-6036-1C48-82CA-04EB1597C9CC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658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882D0-572E-624F-BEDB-F00CBE6A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87903-353F-4B4A-B3FB-4066EDD98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4B3FA-B4F5-5C42-B890-F4076B7A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FD2C-6821-D14F-9B68-59272353C12E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101AF8-66A2-9540-852A-299D3631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E700E-C900-6342-B705-37A4EAE2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496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9310F-E4CA-E54F-B1B1-7656B1F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C8BEE-C117-B242-AE80-6684D8ECFAC3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41358-8B3C-CE4B-B391-06B0FF85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401A9-3F89-014C-9A94-02FD1A5217FC}"/>
              </a:ext>
            </a:extLst>
          </p:cNvPr>
          <p:cNvSpPr/>
          <p:nvPr userDrawn="1"/>
        </p:nvSpPr>
        <p:spPr>
          <a:xfrm>
            <a:off x="667831" y="553426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75304E3-D2BA-6B43-A9CA-868095E37E2C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6BD9614-F72F-8A43-9314-4D110B22A613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22" name="Freeform 1">
                <a:extLst>
                  <a:ext uri="{FF2B5EF4-FFF2-40B4-BE49-F238E27FC236}">
                    <a16:creationId xmlns:a16="http://schemas.microsoft.com/office/drawing/2014/main" id="{17E3AC1A-2BCC-CA46-AC9B-ECC6AD4DD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">
                <a:extLst>
                  <a:ext uri="{FF2B5EF4-FFF2-40B4-BE49-F238E27FC236}">
                    <a16:creationId xmlns:a16="http://schemas.microsoft.com/office/drawing/2014/main" id="{8FC97171-0F8A-6B4A-BC04-4A83196EE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Freeform 3">
                <a:extLst>
                  <a:ext uri="{FF2B5EF4-FFF2-40B4-BE49-F238E27FC236}">
                    <a16:creationId xmlns:a16="http://schemas.microsoft.com/office/drawing/2014/main" id="{2486AB9B-C9E8-E94F-B7E8-57CD96498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4">
                <a:extLst>
                  <a:ext uri="{FF2B5EF4-FFF2-40B4-BE49-F238E27FC236}">
                    <a16:creationId xmlns:a16="http://schemas.microsoft.com/office/drawing/2014/main" id="{18A408D8-23CF-864B-9403-912ED0D24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7D66A57-5273-854B-AD7C-A91B6BFF4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9AD37317-D84E-444B-88EB-8CF2CC57C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069D0FB6-7378-5344-B149-1899961AC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084061A-A4AC-BE42-8E46-F3BEBCC64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3560C95-0398-8848-953C-C870AD870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FC10BBCE-A81E-674D-90E5-1E60F8B24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825D298-25D2-B645-9DE4-6B4AC2DAF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AB322FF-E82E-B849-A67E-8885F84F1B80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39245C7-932E-A84A-81EC-0A53746F9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9FAD7D1-6766-4344-BAA4-F13F7EAB7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3F469B6-43A0-3142-B44A-FCAEEFFB1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39FDE59-FDA2-7D42-A573-9D861EDB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C481843-8BD3-B44C-9129-7DD52746E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BF5661B-2AA7-7048-834E-17B9B91BE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20B1655-B78A-3F4A-ADE4-43A6AB333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A1AB818-CE52-9C47-874D-1AE276BE9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3CBC2DBE-EEEF-564D-8484-7063829C5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18B453-CEDC-BA4A-9983-86BF161F6CCA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AFA7D0A-E7A1-5C48-B099-DF96D6B6DE63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5839B81-B3A4-5643-94B7-D8D3506763F0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772B792-8E6B-4243-BB2D-857BC0580481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C89D76EF-03E9-1D43-A563-9DC7302C7F5C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8CFB3674-431C-F94A-8727-C9C98640DFEB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BC00378-4A1A-AF4A-9DA5-0E40AABBEE09}"/>
              </a:ext>
            </a:extLst>
          </p:cNvPr>
          <p:cNvGrpSpPr/>
          <p:nvPr userDrawn="1"/>
        </p:nvGrpSpPr>
        <p:grpSpPr>
          <a:xfrm>
            <a:off x="715452" y="646397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219E963A-769E-B14C-9175-00DF37C8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2">
              <a:extLst>
                <a:ext uri="{FF2B5EF4-FFF2-40B4-BE49-F238E27FC236}">
                  <a16:creationId xmlns:a16="http://schemas.microsoft.com/office/drawing/2014/main" id="{935EF8B9-88D2-6C42-BF9B-2AD28DBB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0E28FF9-5CED-394E-AF38-3016495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6E5EA531-DEFC-144D-8545-1DECEBA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F39A9FAC-3BBF-CD45-BC62-06EF846D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4A2E4B78-1C39-A943-B2AE-B76B55EBA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E34B0E8F-7C29-3241-8B05-8DB5DF4E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08D4B6E4-213B-E84A-9B55-3121DC89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3073A429-8658-EC43-92EE-0AD58A539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B9CB57C-5EF1-7045-A70B-14CD6B5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87B6AA-F9BB-264E-BDCA-C7E0AC3A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454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13DFC-2B9E-1046-8B5B-5FDA89B5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184" y="365126"/>
            <a:ext cx="10031204" cy="879086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D48E2-7007-2C43-9E31-DD2985676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ED6729-C3F3-7049-A57C-58FE3C205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2B1297-DB16-374F-BBBD-21C64C292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E6E70B-400A-F546-AF7B-C36FDD085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ADACC0-37EC-9149-9D6D-CB966DF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C34E1-A7B1-194A-A03F-68AF0754181E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2C5F8-DD20-7E4C-9FB0-CD51C54A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D7EE40-2B94-6D4D-928E-DECF5D80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C5A3E3-16BE-4348-82D2-7C344E6E1F54}"/>
              </a:ext>
            </a:extLst>
          </p:cNvPr>
          <p:cNvSpPr/>
          <p:nvPr userDrawn="1"/>
        </p:nvSpPr>
        <p:spPr>
          <a:xfrm>
            <a:off x="667831" y="636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EE152040-1510-FD47-8927-D0B20C5D7C27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F0ACF62-A174-B042-8DB8-C53C3544E64E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5F43CD0-928E-8C48-BA84-2461A00B51BF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24" name="Freeform 1">
                <a:extLst>
                  <a:ext uri="{FF2B5EF4-FFF2-40B4-BE49-F238E27FC236}">
                    <a16:creationId xmlns:a16="http://schemas.microsoft.com/office/drawing/2014/main" id="{A71C3E21-5577-FF43-AF55-EB68F1E9E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2">
                <a:extLst>
                  <a:ext uri="{FF2B5EF4-FFF2-40B4-BE49-F238E27FC236}">
                    <a16:creationId xmlns:a16="http://schemas.microsoft.com/office/drawing/2014/main" id="{4E023B9C-C051-EC4D-B128-585E35516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3">
                <a:extLst>
                  <a:ext uri="{FF2B5EF4-FFF2-40B4-BE49-F238E27FC236}">
                    <a16:creationId xmlns:a16="http://schemas.microsoft.com/office/drawing/2014/main" id="{A96BECFD-148E-114F-A81C-239DCDA21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4">
                <a:extLst>
                  <a:ext uri="{FF2B5EF4-FFF2-40B4-BE49-F238E27FC236}">
                    <a16:creationId xmlns:a16="http://schemas.microsoft.com/office/drawing/2014/main" id="{BE08FD99-D6A9-1A48-B3C7-5DF30AE02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Freeform 5">
                <a:extLst>
                  <a:ext uri="{FF2B5EF4-FFF2-40B4-BE49-F238E27FC236}">
                    <a16:creationId xmlns:a16="http://schemas.microsoft.com/office/drawing/2014/main" id="{102AE785-E76F-D64A-9D2A-F382B66C7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84358720-89B3-A64A-9B8C-48D27F5F1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B83B2B82-7F46-174A-BEE0-30C2FA53C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8C09104A-EBDA-D845-AA39-8757358A9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081EDB8B-17F9-4B49-9ABB-7087B3625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65C81ECF-1FAD-5D46-8BA6-B1184C567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F68D00D7-EBD9-574B-A827-73227AB29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3698819-AB0C-9844-B519-966DF3F2F9CD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A2ADFCE2-7117-4C4F-BB07-0CA44AB2F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3">
                <a:extLst>
                  <a:ext uri="{FF2B5EF4-FFF2-40B4-BE49-F238E27FC236}">
                    <a16:creationId xmlns:a16="http://schemas.microsoft.com/office/drawing/2014/main" id="{27913D76-3F78-1640-8ABA-FD5085526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0251013D-C418-594D-8185-01EB2188A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5">
                <a:extLst>
                  <a:ext uri="{FF2B5EF4-FFF2-40B4-BE49-F238E27FC236}">
                    <a16:creationId xmlns:a16="http://schemas.microsoft.com/office/drawing/2014/main" id="{85DA3DCB-B0ED-4F4A-B3A2-B512686F3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DF7B682E-6BBC-E346-9744-0008EBF2B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17">
                <a:extLst>
                  <a:ext uri="{FF2B5EF4-FFF2-40B4-BE49-F238E27FC236}">
                    <a16:creationId xmlns:a16="http://schemas.microsoft.com/office/drawing/2014/main" id="{89ADDB60-01BA-DC49-8DE8-7909E412B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18">
                <a:extLst>
                  <a:ext uri="{FF2B5EF4-FFF2-40B4-BE49-F238E27FC236}">
                    <a16:creationId xmlns:a16="http://schemas.microsoft.com/office/drawing/2014/main" id="{BADAC444-7B1E-8B4F-95E1-B15009384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Freeform 19">
                <a:extLst>
                  <a:ext uri="{FF2B5EF4-FFF2-40B4-BE49-F238E27FC236}">
                    <a16:creationId xmlns:a16="http://schemas.microsoft.com/office/drawing/2014/main" id="{DDEA1A75-7DDB-484D-B55F-830574275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0">
                <a:extLst>
                  <a:ext uri="{FF2B5EF4-FFF2-40B4-BE49-F238E27FC236}">
                    <a16:creationId xmlns:a16="http://schemas.microsoft.com/office/drawing/2014/main" id="{8BD7A1DA-D6BC-B540-8868-87444FFA8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E5DF8D13-70E0-AF46-8631-B0F3419D3CFD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43783C6-3E2C-DC4A-A855-566FB9EEEA67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C7ECC7A-FF16-554D-96D3-A65871AEE360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5D09929-F40F-B44A-9D9E-3B1511170001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2E8AAC8D-B4A7-744A-8BCA-D6B2EC213283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6F36119-3651-4744-9931-F2472FF33170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429E973E-9734-4844-B936-C1D7BEBEA261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DBA8066-7719-6E44-BBFA-1BD16F8D020F}"/>
              </a:ext>
            </a:extLst>
          </p:cNvPr>
          <p:cNvGrpSpPr/>
          <p:nvPr userDrawn="1"/>
        </p:nvGrpSpPr>
        <p:grpSpPr>
          <a:xfrm>
            <a:off x="715452" y="729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3" name="Freeform 1">
              <a:extLst>
                <a:ext uri="{FF2B5EF4-FFF2-40B4-BE49-F238E27FC236}">
                  <a16:creationId xmlns:a16="http://schemas.microsoft.com/office/drawing/2014/main" id="{212F6771-1D3A-7341-902D-DA18419FA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34F083C1-A1BA-0E4E-8E89-BB4E5F340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809B51FD-2ED5-BC4E-B2F3-2008069DD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6A84B375-DC03-B642-9B1F-09A720046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7D23448C-7F6F-DE48-AC3F-39BBE47F8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10E8DE67-4EF3-CC43-BF30-665F02B2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0E842195-989D-0F4A-AEAD-8665C2E71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2CCE1E61-E678-A04A-9F48-AD28EE159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5A553C8E-044C-554F-8CA4-756B8A1F3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B864F7F5-8239-2843-8E2F-F5D0C9E76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2B6C79DB-0F26-A549-AD80-3197BB3F2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639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9EEFE-9034-4167-B789-35176624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9AD48E-B466-459D-AD50-CA9D3502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1A7F0-2857-4BB0-ABE7-FD9D4410572D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3F4001-94F9-4CC7-B8B8-931FC160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8E8CE3-181A-4320-8BC2-69DAD7DE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60244-FBFA-42FA-A5DC-C392AF1883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65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22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07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30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78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50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5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4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8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8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82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72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21652-6A28-F54F-98C2-D24C55AD3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E00C8306-BE8F-E24C-B25D-A6E484FA7A8C}" type="datetime1">
              <a:rPr kumimoji="1" lang="zh-CN" altLang="en-US" smtClean="0"/>
              <a:t>2024/12/4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9D617-AB6E-774C-A385-AAFEFB927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7F525-3365-224F-AAA7-E3B9B301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196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649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"/>
          <p:cNvSpPr>
            <a:spLocks noChangeShapeType="1"/>
          </p:cNvSpPr>
          <p:nvPr userDrawn="1"/>
        </p:nvSpPr>
        <p:spPr bwMode="auto">
          <a:xfrm>
            <a:off x="0" y="570789"/>
            <a:ext cx="12192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矩形 7"/>
          <p:cNvSpPr/>
          <p:nvPr userDrawn="1"/>
        </p:nvSpPr>
        <p:spPr>
          <a:xfrm>
            <a:off x="5683877" y="164638"/>
            <a:ext cx="798491" cy="620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Line 3"/>
          <p:cNvSpPr>
            <a:spLocks noChangeShapeType="1"/>
          </p:cNvSpPr>
          <p:nvPr userDrawn="1"/>
        </p:nvSpPr>
        <p:spPr bwMode="auto">
          <a:xfrm>
            <a:off x="0" y="402040"/>
            <a:ext cx="3780619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 sz="2400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6414323" y="218970"/>
            <a:ext cx="142028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3842174" y="219810"/>
            <a:ext cx="192873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 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467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3724153" y="345575"/>
            <a:ext cx="112931" cy="112931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 sz="2400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13" name="Line 3"/>
          <p:cNvSpPr>
            <a:spLocks noChangeShapeType="1"/>
          </p:cNvSpPr>
          <p:nvPr userDrawn="1"/>
        </p:nvSpPr>
        <p:spPr bwMode="auto">
          <a:xfrm>
            <a:off x="7617904" y="402040"/>
            <a:ext cx="4574096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 sz="2400"/>
          </a:p>
        </p:txBody>
      </p:sp>
      <p:sp>
        <p:nvSpPr>
          <p:cNvPr id="14" name="椭圆 13"/>
          <p:cNvSpPr/>
          <p:nvPr userDrawn="1"/>
        </p:nvSpPr>
        <p:spPr>
          <a:xfrm>
            <a:off x="7614063" y="345575"/>
            <a:ext cx="112931" cy="112931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 sz="2400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98" y="6216726"/>
            <a:ext cx="1500460" cy="356937"/>
          </a:xfrm>
          <a:prstGeom prst="rect">
            <a:avLst/>
          </a:prstGeom>
        </p:spPr>
      </p:pic>
      <p:sp>
        <p:nvSpPr>
          <p:cNvPr id="17" name="Line 3"/>
          <p:cNvSpPr>
            <a:spLocks noChangeShapeType="1"/>
          </p:cNvSpPr>
          <p:nvPr userDrawn="1"/>
        </p:nvSpPr>
        <p:spPr bwMode="auto">
          <a:xfrm>
            <a:off x="1688758" y="6405331"/>
            <a:ext cx="9256527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Rectangle 9"/>
          <p:cNvSpPr>
            <a:spLocks noChangeArrowheads="1"/>
          </p:cNvSpPr>
          <p:nvPr userDrawn="1"/>
        </p:nvSpPr>
        <p:spPr bwMode="auto">
          <a:xfrm>
            <a:off x="10945283" y="5859542"/>
            <a:ext cx="813223" cy="81322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sz="2400">
              <a:cs typeface="Arial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066" y="5892029"/>
            <a:ext cx="671239" cy="74661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83" y="198979"/>
            <a:ext cx="477795" cy="6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CC7AC-475E-1E4C-8CD6-1AECBEC2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732F0-50F7-8947-81D6-CBBAE823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3.1 </a:t>
            </a:r>
            <a:r>
              <a:rPr kumimoji="1" lang="zh-CN" altLang="zh-CN" dirty="0"/>
              <a:t>数据链路层的设计问题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</a:rPr>
              <a:t>3.2 </a:t>
            </a:r>
            <a:r>
              <a:rPr kumimoji="1" lang="zh-CN" altLang="zh-CN" dirty="0">
                <a:solidFill>
                  <a:srgbClr val="C00000"/>
                </a:solidFill>
              </a:rPr>
              <a:t>差错检测和纠正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3.3 </a:t>
            </a:r>
            <a:r>
              <a:rPr kumimoji="1" lang="zh-CN" altLang="zh-CN" dirty="0"/>
              <a:t>基本的数据链路层协议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3.4 </a:t>
            </a:r>
            <a:r>
              <a:rPr kumimoji="1" lang="zh-CN" altLang="zh-CN" dirty="0"/>
              <a:t>滑动窗口协议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3.5 </a:t>
            </a:r>
            <a:r>
              <a:rPr kumimoji="1" lang="zh-CN" altLang="zh-CN" dirty="0"/>
              <a:t>数据链路协议实例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265E6-1613-5248-876E-1FC70865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5764996" y="2133600"/>
            <a:ext cx="4768770" cy="1669143"/>
          </a:xfrm>
          <a:prstGeom prst="wedgeRectCallout">
            <a:avLst>
              <a:gd name="adj1" fmla="val -84124"/>
              <a:gd name="adj2" fmla="val -3053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差错检测与纠正概述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典型的纠错码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587375" marR="0" lvl="0" indent="-4381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典型的检错码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48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4300"/>
            <a:ext cx="10820400" cy="184081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dirty="0"/>
              <a:t>如何解决信道传输差错问题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通常采用</a:t>
            </a:r>
            <a:r>
              <a:rPr kumimoji="1" lang="zh-CN" altLang="en-US" dirty="0">
                <a:solidFill>
                  <a:srgbClr val="C00000"/>
                </a:solidFill>
              </a:rPr>
              <a:t>增加冗余信息（或称校验信息）</a:t>
            </a:r>
            <a:r>
              <a:rPr kumimoji="1" lang="zh-CN" altLang="en-US" dirty="0"/>
              <a:t>的策略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简单示例：每个比特传三份，如果每比特的三份中有一位出错，可以纠正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040911" y="3420271"/>
          <a:ext cx="6155520" cy="141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80">
                  <a:extLst>
                    <a:ext uri="{9D8B030D-6E8A-4147-A177-3AD203B41FA5}">
                      <a16:colId xmlns:a16="http://schemas.microsoft.com/office/drawing/2014/main" val="2159514440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566667465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2631221232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2659543706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4149966517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95372404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1044709437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3856979970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2092690815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3187205882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4172268858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3914894513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2325384079"/>
                    </a:ext>
                  </a:extLst>
                </a:gridCol>
                <a:gridCol w="439680">
                  <a:extLst>
                    <a:ext uri="{9D8B030D-6E8A-4147-A177-3AD203B41FA5}">
                      <a16:colId xmlns:a16="http://schemas.microsoft.com/office/drawing/2014/main" val="1459483936"/>
                    </a:ext>
                  </a:extLst>
                </a:gridCol>
              </a:tblGrid>
              <a:tr h="472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rgbClr val="00B0F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751117"/>
                  </a:ext>
                </a:extLst>
              </a:tr>
              <a:tr h="472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00B0F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rgbClr val="00B0F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392764"/>
                  </a:ext>
                </a:extLst>
              </a:tr>
              <a:tr h="472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48422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043807" y="3369617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7235" y="3365052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19127" y="3363894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56483" y="3365052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797635" y="3365052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27636" y="3365052"/>
            <a:ext cx="435777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72552" y="3365051"/>
            <a:ext cx="430001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21773" y="3963804"/>
            <a:ext cx="340262" cy="30726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33610" y="3491736"/>
            <a:ext cx="340262" cy="30726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72553" y="3369075"/>
            <a:ext cx="435304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54401" y="3365461"/>
            <a:ext cx="437859" cy="1509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043807" y="5139645"/>
            <a:ext cx="6196509" cy="1088966"/>
            <a:chOff x="2043807" y="5139645"/>
            <a:chExt cx="6196509" cy="1088966"/>
          </a:xfrm>
        </p:grpSpPr>
        <p:sp>
          <p:nvSpPr>
            <p:cNvPr id="19" name="文本框 18"/>
            <p:cNvSpPr txBox="1"/>
            <p:nvPr/>
          </p:nvSpPr>
          <p:spPr>
            <a:xfrm>
              <a:off x="2043807" y="5828501"/>
              <a:ext cx="2092857" cy="400110"/>
            </a:xfrm>
            <a:prstGeom prst="rect">
              <a:avLst/>
            </a:prstGeom>
            <a:solidFill>
              <a:srgbClr val="66CCFF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33.3%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136663" y="5828501"/>
              <a:ext cx="4103652" cy="400110"/>
            </a:xfrm>
            <a:prstGeom prst="rect">
              <a:avLst/>
            </a:prstGeom>
            <a:solidFill>
              <a:srgbClr val="009999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66.7%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右大括号 20"/>
            <p:cNvSpPr/>
            <p:nvPr/>
          </p:nvSpPr>
          <p:spPr>
            <a:xfrm rot="16200000">
              <a:off x="2961432" y="4591352"/>
              <a:ext cx="257605" cy="2092856"/>
            </a:xfrm>
            <a:prstGeom prst="rightBrace">
              <a:avLst>
                <a:gd name="adj1" fmla="val 31916"/>
                <a:gd name="adj2" fmla="val 516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348089" y="5147733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原始数据</a:t>
              </a:r>
            </a:p>
          </p:txBody>
        </p:sp>
        <p:sp>
          <p:nvSpPr>
            <p:cNvPr id="23" name="右大括号 22"/>
            <p:cNvSpPr/>
            <p:nvPr/>
          </p:nvSpPr>
          <p:spPr>
            <a:xfrm rot="16200000">
              <a:off x="6073154" y="3597454"/>
              <a:ext cx="247552" cy="4086773"/>
            </a:xfrm>
            <a:prstGeom prst="rightBrace">
              <a:avLst>
                <a:gd name="adj1" fmla="val 31916"/>
                <a:gd name="adj2" fmla="val 516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559778" y="5139645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冗余信息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8789667" y="3789690"/>
            <a:ext cx="3140603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携带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2/3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的冗余信息！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冗余信息量大！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34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43891"/>
            <a:ext cx="10709031" cy="4753561"/>
          </a:xfrm>
        </p:spPr>
        <p:txBody>
          <a:bodyPr>
            <a:normAutofit fontScale="92500"/>
          </a:bodyPr>
          <a:lstStyle/>
          <a:p>
            <a:pPr>
              <a:lnSpc>
                <a:spcPct val="14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目标：</a:t>
            </a:r>
            <a:r>
              <a:rPr kumimoji="1" lang="zh-CN" altLang="en-US" dirty="0"/>
              <a:t>保证一定差错检测和纠错能力的前提下，如何减少冗余信息量？</a:t>
            </a:r>
            <a:endParaRPr lang="zh-CN" altLang="en-US" dirty="0"/>
          </a:p>
          <a:p>
            <a:pPr>
              <a:lnSpc>
                <a:spcPct val="14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考虑的问题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信道的特征和传输需求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冗余信息的计算方法、携带的冗余信息量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计算的复杂度等</a:t>
            </a:r>
            <a:endParaRPr kumimoji="1" lang="en-US" altLang="zh-CN" dirty="0"/>
          </a:p>
          <a:p>
            <a:pPr>
              <a:lnSpc>
                <a:spcPct val="14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两种主要策略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检错码（</a:t>
            </a:r>
            <a:r>
              <a:rPr kumimoji="1" lang="en-US" altLang="zh-CN" dirty="0"/>
              <a:t>error-detecting code</a:t>
            </a:r>
            <a:r>
              <a:rPr kumimoji="1" lang="zh-CN" altLang="en-US" dirty="0"/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纠错码（</a:t>
            </a:r>
            <a:r>
              <a:rPr kumimoji="1" lang="en-US" altLang="zh-CN" dirty="0"/>
              <a:t>error-correcting code)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363271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68775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dirty="0"/>
              <a:t>检错码（</a:t>
            </a:r>
            <a:r>
              <a:rPr kumimoji="1" lang="en-US" altLang="zh-CN" dirty="0"/>
              <a:t>error-detecting code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在被发送的数据块中，包含一些冗余信息，但这些信息只能使接收方推断是否发生错误，但不能推断哪位发生错误，接收方可以请求发送方重传数据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主要用在高可靠、误码率较低的信道上，例如光纤链路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r>
              <a:rPr kumimoji="1" lang="zh-CN" altLang="en-US" dirty="0"/>
              <a:t>偶尔发生的差错，可以通过重传解决差错问题</a:t>
            </a:r>
            <a:endParaRPr kumimoji="1" lang="en-US" altLang="zh-CN" dirty="0"/>
          </a:p>
          <a:p>
            <a:pPr lvl="1">
              <a:lnSpc>
                <a:spcPct val="140000"/>
              </a:lnSpc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355642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9700"/>
            <a:ext cx="10706100" cy="468775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</a:pPr>
            <a:r>
              <a:rPr kumimoji="1" lang="zh-CN" altLang="en-US" dirty="0"/>
              <a:t>纠错码（</a:t>
            </a:r>
            <a:r>
              <a:rPr kumimoji="1" lang="en-US" altLang="zh-CN" dirty="0"/>
              <a:t>error-correcting code)</a:t>
            </a:r>
          </a:p>
          <a:p>
            <a:pPr lvl="1">
              <a:lnSpc>
                <a:spcPct val="140000"/>
              </a:lnSpc>
              <a:spcBef>
                <a:spcPts val="800"/>
              </a:spcBef>
            </a:pPr>
            <a:r>
              <a:rPr lang="zh-CN" altLang="en-US" dirty="0"/>
              <a:t>发送方在每个数据块中加入足够的冗余信息，使得接收方能够判断接收到的数据是否有错，并能纠正错误（</a:t>
            </a:r>
            <a:r>
              <a:rPr lang="zh-CN" altLang="en-US" dirty="0">
                <a:solidFill>
                  <a:srgbClr val="C00000"/>
                </a:solidFill>
              </a:rPr>
              <a:t>定位出错的位置</a:t>
            </a:r>
            <a:r>
              <a:rPr lang="zh-CN" altLang="en-US" dirty="0"/>
              <a:t>）</a:t>
            </a:r>
          </a:p>
          <a:p>
            <a:pPr lvl="1">
              <a:lnSpc>
                <a:spcPct val="140000"/>
              </a:lnSpc>
              <a:spcBef>
                <a:spcPts val="800"/>
              </a:spcBef>
            </a:pPr>
            <a:r>
              <a:rPr kumimoji="1" lang="zh-CN" altLang="en-US" dirty="0"/>
              <a:t>主要用于错误发生比较频繁的信道上，如无线链路</a:t>
            </a:r>
            <a:endParaRPr kumimoji="1" lang="en-US" altLang="zh-CN" dirty="0"/>
          </a:p>
          <a:p>
            <a:pPr lvl="1">
              <a:lnSpc>
                <a:spcPct val="140000"/>
              </a:lnSpc>
              <a:spcBef>
                <a:spcPts val="800"/>
              </a:spcBef>
            </a:pPr>
            <a:r>
              <a:rPr kumimoji="1" lang="zh-CN" altLang="en-US" dirty="0"/>
              <a:t>也经常用于物理层，以及更高层（例如，实时流媒体应用和内容分发）</a:t>
            </a:r>
            <a:endParaRPr kumimoji="1" lang="en-US" altLang="zh-CN" dirty="0"/>
          </a:p>
          <a:p>
            <a:pPr lvl="1">
              <a:lnSpc>
                <a:spcPct val="140000"/>
              </a:lnSpc>
              <a:spcBef>
                <a:spcPts val="800"/>
              </a:spcBef>
            </a:pPr>
            <a:r>
              <a:rPr kumimoji="1" lang="zh-CN" altLang="en-US" dirty="0"/>
              <a:t>使用纠错码的技术通常称为</a:t>
            </a:r>
            <a:r>
              <a:rPr kumimoji="1" lang="zh-CN" altLang="en-US" dirty="0">
                <a:solidFill>
                  <a:srgbClr val="C00000"/>
                </a:solidFill>
              </a:rPr>
              <a:t>前向纠错</a:t>
            </a:r>
            <a:r>
              <a:rPr kumimoji="1" lang="zh-CN" altLang="en-US" dirty="0"/>
              <a:t>（</a:t>
            </a:r>
            <a:r>
              <a:rPr kumimoji="1" lang="en-US" altLang="zh-CN" dirty="0"/>
              <a:t>FEC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Forward Error Correction)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401923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6979" y="1469182"/>
            <a:ext cx="10809027" cy="4923967"/>
          </a:xfrm>
        </p:spPr>
        <p:txBody>
          <a:bodyPr>
            <a:normAutofit fontScale="92500"/>
          </a:bodyPr>
          <a:lstStyle/>
          <a:p>
            <a:pPr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码字 </a:t>
            </a:r>
            <a:r>
              <a:rPr kumimoji="1" lang="en-US" altLang="zh-CN" dirty="0"/>
              <a:t>(code word)</a:t>
            </a:r>
            <a:r>
              <a:rPr kumimoji="1" lang="zh-CN" altLang="en-US" dirty="0"/>
              <a:t>：一个包含</a:t>
            </a:r>
            <a:r>
              <a:rPr kumimoji="1" lang="en-US" altLang="zh-CN" dirty="0"/>
              <a:t>m</a:t>
            </a:r>
            <a:r>
              <a:rPr kumimoji="1" lang="zh-CN" altLang="en-US" dirty="0"/>
              <a:t>个数据位和</a:t>
            </a:r>
            <a:r>
              <a:rPr kumimoji="1" lang="en-US" altLang="zh-CN" dirty="0"/>
              <a:t>r</a:t>
            </a:r>
            <a:r>
              <a:rPr kumimoji="1" lang="zh-CN" altLang="en-US" dirty="0"/>
              <a:t>个校验位的</a:t>
            </a:r>
            <a:r>
              <a:rPr kumimoji="1" lang="en-US" altLang="zh-CN" dirty="0"/>
              <a:t>n</a:t>
            </a:r>
            <a:r>
              <a:rPr kumimoji="1" lang="zh-CN" altLang="en-US" dirty="0"/>
              <a:t>位单元</a:t>
            </a:r>
            <a:endParaRPr kumimoji="1" lang="en-US" altLang="zh-CN" dirty="0"/>
          </a:p>
          <a:p>
            <a:pPr lvl="1">
              <a:lnSpc>
                <a:spcPts val="3500"/>
              </a:lnSpc>
            </a:pPr>
            <a:r>
              <a:rPr kumimoji="1" lang="zh-CN" altLang="en-US" dirty="0"/>
              <a:t>描述为 </a:t>
            </a:r>
            <a:r>
              <a:rPr kumimoji="1" lang="en-US" altLang="zh-CN" dirty="0"/>
              <a:t>(n, m) </a:t>
            </a:r>
            <a:r>
              <a:rPr kumimoji="1" lang="zh-CN" altLang="en-US" dirty="0"/>
              <a:t>码，</a:t>
            </a:r>
            <a:r>
              <a:rPr kumimoji="1" lang="en-US" altLang="zh-CN" dirty="0"/>
              <a:t>n=</a:t>
            </a:r>
            <a:r>
              <a:rPr kumimoji="1" lang="en-US" altLang="zh-CN" dirty="0" err="1"/>
              <a:t>m+r</a:t>
            </a:r>
            <a:endParaRPr kumimoji="1" lang="en-US" altLang="zh-CN" dirty="0"/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码率 </a:t>
            </a:r>
            <a:r>
              <a:rPr kumimoji="1" lang="en-US" altLang="zh-CN" dirty="0"/>
              <a:t>(code rate)</a:t>
            </a:r>
            <a:r>
              <a:rPr kumimoji="1" lang="zh-CN" altLang="en-US" dirty="0"/>
              <a:t>：码字中不含冗余部分所占的比例，可以用</a:t>
            </a:r>
            <a:r>
              <a:rPr kumimoji="1" lang="en-US" altLang="zh-CN" dirty="0"/>
              <a:t>m/n</a:t>
            </a:r>
            <a:r>
              <a:rPr kumimoji="1" lang="zh-CN" altLang="en-US" dirty="0"/>
              <a:t>表示</a:t>
            </a:r>
            <a:endParaRPr kumimoji="1" lang="en-US" altLang="zh-CN" dirty="0"/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dirty="0"/>
              <a:t>海明距离 </a:t>
            </a:r>
            <a:r>
              <a:rPr kumimoji="1" lang="en-US" altLang="zh-CN" dirty="0"/>
              <a:t>(</a:t>
            </a:r>
            <a:r>
              <a:rPr lang="en-US" altLang="zh-CN" dirty="0"/>
              <a:t>Hamming distance)</a:t>
            </a:r>
            <a:r>
              <a:rPr lang="zh-CN" altLang="en-US" dirty="0"/>
              <a:t>：两个码字之间不同对应比特的数目</a:t>
            </a:r>
          </a:p>
          <a:p>
            <a:pPr lvl="1">
              <a:lnSpc>
                <a:spcPts val="3500"/>
              </a:lnSpc>
            </a:pPr>
            <a:r>
              <a:rPr lang="zh-CN" altLang="en-US" dirty="0"/>
              <a:t>例：</a:t>
            </a:r>
            <a:r>
              <a:rPr lang="en-US" altLang="zh-CN" dirty="0"/>
              <a:t>0000000000 </a:t>
            </a:r>
            <a:r>
              <a:rPr lang="zh-CN" altLang="en-US" dirty="0"/>
              <a:t>与</a:t>
            </a:r>
            <a:r>
              <a:rPr lang="en-US" altLang="zh-CN" dirty="0"/>
              <a:t>0000011111</a:t>
            </a:r>
            <a:r>
              <a:rPr lang="zh-CN" altLang="en-US" dirty="0"/>
              <a:t>的海明距离为</a:t>
            </a:r>
            <a:r>
              <a:rPr lang="en-US" altLang="zh-CN" dirty="0"/>
              <a:t>5</a:t>
            </a:r>
          </a:p>
          <a:p>
            <a:pPr lvl="1">
              <a:lnSpc>
                <a:spcPts val="3500"/>
              </a:lnSpc>
            </a:pPr>
            <a:r>
              <a:rPr lang="zh-CN" altLang="en-US" dirty="0"/>
              <a:t>如果两个码字的海明距离为</a:t>
            </a:r>
            <a:r>
              <a:rPr lang="en-US" altLang="zh-CN" dirty="0"/>
              <a:t>d</a:t>
            </a:r>
            <a:r>
              <a:rPr lang="zh-CN" altLang="en-US" dirty="0"/>
              <a:t>，则需要</a:t>
            </a:r>
            <a:r>
              <a:rPr lang="en-US" altLang="zh-CN" dirty="0"/>
              <a:t>d</a:t>
            </a:r>
            <a:r>
              <a:rPr lang="zh-CN" altLang="en-US" dirty="0"/>
              <a:t>个单比特错就可以把一个码字转换成另一个码字</a:t>
            </a:r>
          </a:p>
          <a:p>
            <a:pPr lvl="1">
              <a:lnSpc>
                <a:spcPts val="3500"/>
              </a:lnSpc>
            </a:pPr>
            <a:r>
              <a:rPr lang="zh-CN" altLang="en-US" dirty="0"/>
              <a:t>为了检查出</a:t>
            </a:r>
            <a:r>
              <a:rPr lang="en-US" altLang="zh-CN" dirty="0"/>
              <a:t>d</a:t>
            </a:r>
            <a:r>
              <a:rPr lang="zh-CN" altLang="en-US" dirty="0"/>
              <a:t>个错（比特错），可以使用海明距离为 </a:t>
            </a:r>
            <a:r>
              <a:rPr lang="en-US" altLang="zh-CN" b="1" dirty="0">
                <a:solidFill>
                  <a:srgbClr val="C00000"/>
                </a:solidFill>
              </a:rPr>
              <a:t>d+1 </a:t>
            </a:r>
            <a:r>
              <a:rPr lang="zh-CN" altLang="en-US" dirty="0"/>
              <a:t>的编码</a:t>
            </a:r>
          </a:p>
          <a:p>
            <a:pPr lvl="1">
              <a:lnSpc>
                <a:spcPts val="3500"/>
              </a:lnSpc>
            </a:pPr>
            <a:r>
              <a:rPr lang="zh-CN" altLang="en-US" dirty="0"/>
              <a:t>为了纠正</a:t>
            </a:r>
            <a:r>
              <a:rPr lang="en-US" altLang="zh-CN" dirty="0"/>
              <a:t>d</a:t>
            </a:r>
            <a:r>
              <a:rPr lang="zh-CN" altLang="en-US" dirty="0"/>
              <a:t>个错，可以使用海明距离为 </a:t>
            </a:r>
            <a:r>
              <a:rPr lang="en-US" altLang="zh-CN" b="1" dirty="0">
                <a:solidFill>
                  <a:srgbClr val="C00000"/>
                </a:solidFill>
              </a:rPr>
              <a:t>2d+1 </a:t>
            </a:r>
            <a:r>
              <a:rPr lang="zh-CN" altLang="en-US" dirty="0"/>
              <a:t>的编码</a:t>
            </a:r>
          </a:p>
          <a:p>
            <a:pPr>
              <a:lnSpc>
                <a:spcPts val="3800"/>
              </a:lnSpc>
            </a:pPr>
            <a:endParaRPr kumimoji="1" lang="en-US" altLang="zh-CN" dirty="0"/>
          </a:p>
          <a:p>
            <a:pPr>
              <a:lnSpc>
                <a:spcPts val="3800"/>
              </a:lnSpc>
            </a:pPr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F35379-6DE8-43C5-A6FD-98ABA367A3B2}"/>
              </a:ext>
            </a:extLst>
          </p:cNvPr>
          <p:cNvSpPr txBox="1"/>
          <p:nvPr/>
        </p:nvSpPr>
        <p:spPr>
          <a:xfrm>
            <a:off x="1948837" y="6411392"/>
            <a:ext cx="825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引自：清华大学崔勇老师提供的讲稿</a:t>
            </a:r>
          </a:p>
        </p:txBody>
      </p:sp>
    </p:spTree>
    <p:extLst>
      <p:ext uri="{BB962C8B-B14F-4D97-AF65-F5344CB8AC3E}">
        <p14:creationId xmlns:p14="http://schemas.microsoft.com/office/powerpoint/2010/main" val="21795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差错检测和纠正概述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6979" y="1469182"/>
            <a:ext cx="10699845" cy="4923967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例如：</a:t>
            </a:r>
            <a:endParaRPr kumimoji="1" lang="en-US" altLang="zh-CN" dirty="0"/>
          </a:p>
          <a:p>
            <a:pPr lvl="1"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一个只有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个有效码字的编码方案：</a:t>
            </a:r>
            <a:r>
              <a:rPr kumimoji="1" lang="en-US" altLang="zh-CN" dirty="0"/>
              <a:t>0000000000, 0000011111, 1111100000, 1111111111</a:t>
            </a:r>
          </a:p>
          <a:p>
            <a:pPr lvl="1"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海明距离为</a:t>
            </a:r>
            <a:r>
              <a:rPr kumimoji="1" lang="en-US" altLang="zh-CN" dirty="0"/>
              <a:t>5</a:t>
            </a:r>
            <a:r>
              <a:rPr kumimoji="1" lang="zh-CN" altLang="en-US" dirty="0"/>
              <a:t>，可以检测</a:t>
            </a:r>
            <a:r>
              <a:rPr kumimoji="1" lang="en-US" altLang="zh-CN" dirty="0"/>
              <a:t>4</a:t>
            </a:r>
            <a:r>
              <a:rPr kumimoji="1" lang="zh-CN" altLang="en-US" dirty="0"/>
              <a:t>位错，纠正</a:t>
            </a:r>
            <a:r>
              <a:rPr kumimoji="1" lang="en-US" altLang="zh-CN" dirty="0"/>
              <a:t>2</a:t>
            </a:r>
            <a:r>
              <a:rPr kumimoji="1" lang="zh-CN" altLang="en-US" dirty="0"/>
              <a:t>位错</a:t>
            </a:r>
            <a:endParaRPr kumimoji="1" lang="en-US" altLang="zh-CN" dirty="0"/>
          </a:p>
          <a:p>
            <a:pPr lvl="1"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如果已知只有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位或</a:t>
            </a:r>
            <a:r>
              <a:rPr kumimoji="1" lang="en-US" altLang="zh-CN" dirty="0"/>
              <a:t>2</a:t>
            </a:r>
            <a:r>
              <a:rPr kumimoji="1" lang="zh-CN" altLang="en-US" dirty="0"/>
              <a:t>位错误，接收方接收</a:t>
            </a:r>
            <a:r>
              <a:rPr kumimoji="1" lang="en-US" altLang="zh-CN" dirty="0"/>
              <a:t>0000000111</a:t>
            </a:r>
          </a:p>
          <a:p>
            <a:pPr lvl="2" indent="-338138">
              <a:lnSpc>
                <a:spcPts val="3500"/>
              </a:lnSpc>
              <a:spcBef>
                <a:spcPts val="1200"/>
              </a:spcBef>
              <a:buFont typeface="微软雅黑" panose="020B0503020204020204" pitchFamily="34" charset="-122"/>
              <a:buChar char="−"/>
            </a:pPr>
            <a:r>
              <a:rPr kumimoji="1" lang="zh-CN" altLang="en-US" dirty="0"/>
              <a:t>则可知原码字为：</a:t>
            </a:r>
            <a:r>
              <a:rPr kumimoji="1" lang="en-US" altLang="zh-CN" dirty="0"/>
              <a:t>0000011111</a:t>
            </a:r>
          </a:p>
          <a:p>
            <a:pPr lvl="1">
              <a:lnSpc>
                <a:spcPts val="3500"/>
              </a:lnSpc>
              <a:spcBef>
                <a:spcPts val="1200"/>
              </a:spcBef>
            </a:pPr>
            <a:r>
              <a:rPr kumimoji="1" lang="zh-CN" altLang="en-US" dirty="0"/>
              <a:t>如果发生</a:t>
            </a:r>
            <a:r>
              <a:rPr kumimoji="1" lang="en-US" altLang="zh-CN" dirty="0"/>
              <a:t>3</a:t>
            </a:r>
            <a:r>
              <a:rPr kumimoji="1" lang="zh-CN" altLang="en-US" dirty="0"/>
              <a:t>位错误，例如</a:t>
            </a:r>
            <a:r>
              <a:rPr kumimoji="1" lang="en-US" altLang="zh-CN" dirty="0"/>
              <a:t>0000000000</a:t>
            </a:r>
            <a:r>
              <a:rPr kumimoji="1" lang="zh-CN" altLang="en-US" dirty="0"/>
              <a:t>变成</a:t>
            </a:r>
            <a:r>
              <a:rPr kumimoji="1" lang="en-US" altLang="zh-CN" dirty="0"/>
              <a:t>0000000111</a:t>
            </a:r>
            <a:r>
              <a:rPr kumimoji="1" lang="zh-CN" altLang="en-US" dirty="0"/>
              <a:t>，接收方无法纠正错误，但可以检测出错误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77714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CN" altLang="en-US" dirty="0">
                <a:latin typeface="宋体" panose="02010600030101010101" pitchFamily="2" charset="-122"/>
              </a:rPr>
              <a:t>典型检错码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10758"/>
            <a:ext cx="10310870" cy="4372684"/>
          </a:xfrm>
        </p:spPr>
        <p:txBody>
          <a:bodyPr>
            <a:normAutofit/>
          </a:bodyPr>
          <a:lstStyle/>
          <a:p>
            <a:pPr>
              <a:lnSpc>
                <a:spcPts val="4300"/>
              </a:lnSpc>
              <a:spcBef>
                <a:spcPts val="1200"/>
              </a:spcBef>
            </a:pPr>
            <a:r>
              <a:rPr lang="zh-CN" altLang="en-US" dirty="0">
                <a:sym typeface="Symbol" panose="05050102010706020507" pitchFamily="18" charset="2"/>
              </a:rPr>
              <a:t>常用的检错码包括：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ts val="43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奇偶检验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Parity Check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位奇偶校验是最简单、最基础的检错码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ts val="43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校验和</a:t>
            </a:r>
            <a:r>
              <a:rPr lang="en-US" altLang="zh-CN" dirty="0">
                <a:sym typeface="Symbol" panose="05050102010706020507" pitchFamily="18" charset="2"/>
              </a:rPr>
              <a:t> (Checksum)</a:t>
            </a:r>
            <a:r>
              <a:rPr lang="zh-CN" altLang="en-US" dirty="0">
                <a:sym typeface="Symbol" panose="05050102010706020507" pitchFamily="18" charset="2"/>
              </a:rPr>
              <a:t>：主要用于</a:t>
            </a:r>
            <a:r>
              <a:rPr lang="en-US" altLang="zh-CN" dirty="0">
                <a:sym typeface="Symbol" panose="05050102010706020507" pitchFamily="18" charset="2"/>
              </a:rPr>
              <a:t>TCP/IP</a:t>
            </a:r>
            <a:r>
              <a:rPr lang="zh-CN" altLang="en-US" dirty="0">
                <a:sym typeface="Symbol" panose="05050102010706020507" pitchFamily="18" charset="2"/>
              </a:rPr>
              <a:t>体系中的网络层和传输层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ts val="43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循环冗余校验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Cyclic Redundancy Check</a:t>
            </a:r>
            <a:r>
              <a:rPr lang="zh-CN" altLang="en-US" dirty="0"/>
              <a:t>，</a:t>
            </a:r>
            <a:r>
              <a:rPr lang="en-US" altLang="zh-CN" dirty="0"/>
              <a:t>CRC)</a:t>
            </a:r>
            <a:r>
              <a:rPr lang="zh-CN" altLang="en-US" dirty="0"/>
              <a:t>：数据链路层广泛使用的校验方法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lvl="1" indent="0">
              <a:lnSpc>
                <a:spcPts val="3800"/>
              </a:lnSpc>
              <a:buNone/>
            </a:pP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5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3929201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典型检错码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奇偶校验</a:t>
            </a:r>
            <a:endParaRPr kumimoji="1"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4300"/>
            <a:ext cx="10617200" cy="594625"/>
          </a:xfrm>
        </p:spPr>
        <p:txBody>
          <a:bodyPr>
            <a:noAutofit/>
          </a:bodyPr>
          <a:lstStyle/>
          <a:p>
            <a:pPr>
              <a:lnSpc>
                <a:spcPts val="3800"/>
              </a:lnSpc>
            </a:pPr>
            <a:r>
              <a:rPr kumimoji="1" lang="en-US" altLang="zh-CN" dirty="0"/>
              <a:t>1</a:t>
            </a:r>
            <a:r>
              <a:rPr kumimoji="1" lang="zh-CN" altLang="en-US" dirty="0"/>
              <a:t>位奇偶校验：增加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位校验位，</a:t>
            </a:r>
            <a:r>
              <a:rPr lang="zh-CN" altLang="en-US" dirty="0">
                <a:solidFill>
                  <a:srgbClr val="C00000"/>
                </a:solidFill>
              </a:rPr>
              <a:t>可以检查奇数位错误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228815" y="2815083"/>
          <a:ext cx="3680664" cy="472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83">
                  <a:extLst>
                    <a:ext uri="{9D8B030D-6E8A-4147-A177-3AD203B41FA5}">
                      <a16:colId xmlns:a16="http://schemas.microsoft.com/office/drawing/2014/main" val="3044174629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2089325296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979609783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1270467655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229848189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647982207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614755695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059093890"/>
                    </a:ext>
                  </a:extLst>
                </a:gridCol>
              </a:tblGrid>
              <a:tr h="472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416494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490073" y="2926495"/>
            <a:ext cx="340262" cy="30726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228815" y="4871884"/>
          <a:ext cx="3680664" cy="472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83">
                  <a:extLst>
                    <a:ext uri="{9D8B030D-6E8A-4147-A177-3AD203B41FA5}">
                      <a16:colId xmlns:a16="http://schemas.microsoft.com/office/drawing/2014/main" val="3044174629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2089325296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979609783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1270467655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229848189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647982207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614755695"/>
                    </a:ext>
                  </a:extLst>
                </a:gridCol>
                <a:gridCol w="460083">
                  <a:extLst>
                    <a:ext uri="{9D8B030D-6E8A-4147-A177-3AD203B41FA5}">
                      <a16:colId xmlns:a16="http://schemas.microsoft.com/office/drawing/2014/main" val="3059093890"/>
                    </a:ext>
                  </a:extLst>
                </a:gridCol>
              </a:tblGrid>
              <a:tr h="472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416494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490073" y="4983296"/>
            <a:ext cx="340262" cy="30726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799439" y="2046626"/>
            <a:ext cx="10617200" cy="618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ts val="3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偶校验：保证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的个数为偶数个，例如：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809767" y="4110483"/>
            <a:ext cx="10617200" cy="57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ts val="3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奇校验：保证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的个数为奇数个，例如：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228814" y="3343933"/>
            <a:ext cx="4156163" cy="781137"/>
            <a:chOff x="2228814" y="3343933"/>
            <a:chExt cx="4156163" cy="781137"/>
          </a:xfrm>
        </p:grpSpPr>
        <p:sp>
          <p:nvSpPr>
            <p:cNvPr id="21" name="右大括号 20"/>
            <p:cNvSpPr/>
            <p:nvPr/>
          </p:nvSpPr>
          <p:spPr>
            <a:xfrm rot="16200000" flipH="1">
              <a:off x="3650532" y="1922216"/>
              <a:ext cx="318616" cy="3162051"/>
            </a:xfrm>
            <a:prstGeom prst="rightBrace">
              <a:avLst>
                <a:gd name="adj1" fmla="val 31916"/>
                <a:gd name="adj2" fmla="val 516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126011" y="3724262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数据位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 flipV="1">
              <a:off x="5660204" y="3343933"/>
              <a:ext cx="0" cy="3186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4935431" y="3724960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校验位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269758" y="5389018"/>
            <a:ext cx="4115219" cy="793532"/>
            <a:chOff x="2269758" y="5389018"/>
            <a:chExt cx="4115219" cy="793532"/>
          </a:xfrm>
        </p:grpSpPr>
        <p:sp>
          <p:nvSpPr>
            <p:cNvPr id="18" name="右大括号 17"/>
            <p:cNvSpPr/>
            <p:nvPr/>
          </p:nvSpPr>
          <p:spPr>
            <a:xfrm rot="16200000" flipH="1">
              <a:off x="3691476" y="3980056"/>
              <a:ext cx="318616" cy="3162051"/>
            </a:xfrm>
            <a:prstGeom prst="rightBrace">
              <a:avLst>
                <a:gd name="adj1" fmla="val 31916"/>
                <a:gd name="adj2" fmla="val 516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166955" y="5782440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数据位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 flipV="1">
              <a:off x="5660204" y="5389018"/>
              <a:ext cx="0" cy="3186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4935431" y="5770045"/>
              <a:ext cx="1449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校验位</a:t>
              </a: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7707110" y="3311778"/>
            <a:ext cx="3844542" cy="10273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考虑二维奇偶校验，是否可以进行纠错？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04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/>
      <p:bldP spid="17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典型检错码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校验和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75680"/>
            <a:ext cx="10591800" cy="6876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TCP/IP</a:t>
            </a:r>
            <a:r>
              <a:rPr kumimoji="1" lang="zh-CN" altLang="en-US" dirty="0"/>
              <a:t>体系中主要采用的校验方法</a:t>
            </a:r>
            <a:endParaRPr kumimoji="1"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5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61542" y="3669534"/>
            <a:ext cx="4306081" cy="2369880"/>
            <a:chOff x="2744714" y="3986470"/>
            <a:chExt cx="4306081" cy="2369880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9B174DB8-1FC8-4F43-94D7-56E51904F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914" y="3986470"/>
              <a:ext cx="4229881" cy="2369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1 1 1 0 0 1 1 0 0 1 1 0 0 1 1 0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1 1 0 1 0 1 0 1 0 1 0 1 0 1 0 1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1  1 0 1 1 1 0 1 1 1 0 1 1 1 0 1 1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1 0 1 1 1 0 1 1 1 0 1 1 1 1 0 0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0 1 0 0 0 1 0 0 0 1 0 0 0 0 1 1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6B7A5157-C9C5-4E69-8774-15BDEE99D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4714" y="4813558"/>
              <a:ext cx="42069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C349E8C1-FB8C-4DD2-937E-921290DDF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913" y="4989770"/>
              <a:ext cx="309415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C0DA2F60-A56E-43BE-9FFD-D3F55F760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4714" y="5532695"/>
              <a:ext cx="42069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818F98D-5E8C-4EBE-BF6A-BCEDC9012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839" y="5296159"/>
              <a:ext cx="3836602" cy="76786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15412" y="2143428"/>
            <a:ext cx="3953059" cy="12879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发送方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：进行 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16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位二进制补码求和运算，计算结果取反，随数据一同发送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72231" y="2121989"/>
            <a:ext cx="392430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接收方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：进行 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16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位二进制补码求和运算（包含校验和），结果非全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1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，则检测到错误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6764" y="5559701"/>
            <a:ext cx="1222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26764" y="3837041"/>
            <a:ext cx="1222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490450" y="3693915"/>
            <a:ext cx="4306081" cy="2693045"/>
            <a:chOff x="2744714" y="3986470"/>
            <a:chExt cx="4306081" cy="2693045"/>
          </a:xfrm>
        </p:grpSpPr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9B174DB8-1FC8-4F43-94D7-56E51904F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0914" y="3986470"/>
              <a:ext cx="4229881" cy="2693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med"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1 1 1 0 0 1 1 0 0 1 1 0 0 1 1 0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1 1 0 1 0 1 0 1 0 1 0 1 0 1 0 1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1  1 0 1 1 1 0 1 1 1 0 1 1 1 0 1 1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0 1 0 0 0 1 0 0 0 1 0 0 0 0 1 1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 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6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1 1 1 1 1 1 1 1 1 1 1 1 1 1 1 1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Line 5">
              <a:extLst>
                <a:ext uri="{FF2B5EF4-FFF2-40B4-BE49-F238E27FC236}">
                  <a16:creationId xmlns:a16="http://schemas.microsoft.com/office/drawing/2014/main" id="{6B7A5157-C9C5-4E69-8774-15BDEE99D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4714" y="4813558"/>
              <a:ext cx="42069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Oval 6">
              <a:extLst>
                <a:ext uri="{FF2B5EF4-FFF2-40B4-BE49-F238E27FC236}">
                  <a16:creationId xmlns:a16="http://schemas.microsoft.com/office/drawing/2014/main" id="{C349E8C1-FB8C-4DD2-937E-921290DDF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913" y="4989770"/>
              <a:ext cx="309415" cy="3048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 type="none" w="sm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6818F98D-5E8C-4EBE-BF6A-BCEDC9012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839" y="5296159"/>
              <a:ext cx="3836602" cy="76786"/>
            </a:xfrm>
            <a:custGeom>
              <a:avLst/>
              <a:gdLst>
                <a:gd name="T0" fmla="*/ 0 w 3788"/>
                <a:gd name="T1" fmla="*/ 0 h 58"/>
                <a:gd name="T2" fmla="*/ 0 w 3788"/>
                <a:gd name="T3" fmla="*/ 2147483647 h 58"/>
                <a:gd name="T4" fmla="*/ 2147483647 w 3788"/>
                <a:gd name="T5" fmla="*/ 2147483647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88" h="5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2" name="Line 5">
            <a:extLst>
              <a:ext uri="{FF2B5EF4-FFF2-40B4-BE49-F238E27FC236}">
                <a16:creationId xmlns:a16="http://schemas.microsoft.com/office/drawing/2014/main" id="{6B7A5157-C9C5-4E69-8774-15BDEE99D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7135" y="5537667"/>
            <a:ext cx="420692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714064" y="3866763"/>
            <a:ext cx="1222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714064" y="5128814"/>
            <a:ext cx="1222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校验和</a:t>
            </a:r>
          </a:p>
        </p:txBody>
      </p:sp>
      <p:sp>
        <p:nvSpPr>
          <p:cNvPr id="28" name="圆角矩形标注 27"/>
          <p:cNvSpPr/>
          <p:nvPr/>
        </p:nvSpPr>
        <p:spPr>
          <a:xfrm>
            <a:off x="5211573" y="6185705"/>
            <a:ext cx="1905320" cy="512642"/>
          </a:xfrm>
          <a:prstGeom prst="wedgeRoundRectCallout">
            <a:avLst>
              <a:gd name="adj1" fmla="val 56567"/>
              <a:gd name="adj2" fmla="val -9417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211573" y="6227977"/>
            <a:ext cx="19053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未检测到错误</a:t>
            </a:r>
          </a:p>
        </p:txBody>
      </p:sp>
    </p:spTree>
    <p:extLst>
      <p:ext uri="{BB962C8B-B14F-4D97-AF65-F5344CB8AC3E}">
        <p14:creationId xmlns:p14="http://schemas.microsoft.com/office/powerpoint/2010/main" val="128715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典型检错码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循环冗余校验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CRC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611" y="1313922"/>
            <a:ext cx="7496682" cy="505109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校验码计算方法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设原始数据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位二进制位模式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如果要产生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校验码，事先选定一个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位二进制位模式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 (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称为生成多项式，收发双方提前商定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的最高位为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将原始数据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乘以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（相当于在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后面添加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），产生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k+n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位二进制位模式，用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对该位模式做模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除，得到余数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位，不足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位前面用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补齐）即为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校验码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5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8CA14-BFA2-4FCA-8EAC-ABDC8ED0A8E2}"/>
              </a:ext>
            </a:extLst>
          </p:cNvPr>
          <p:cNvSpPr/>
          <p:nvPr/>
        </p:nvSpPr>
        <p:spPr>
          <a:xfrm>
            <a:off x="8451310" y="1842951"/>
            <a:ext cx="2332892" cy="2996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原始数据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692ED2-DA8B-44B2-84C0-7B27FDF38CA5}"/>
              </a:ext>
            </a:extLst>
          </p:cNvPr>
          <p:cNvSpPr/>
          <p:nvPr/>
        </p:nvSpPr>
        <p:spPr>
          <a:xfrm>
            <a:off x="10784200" y="1842951"/>
            <a:ext cx="1184033" cy="2996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CRC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校验码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BFB15D-FA0D-40FE-B781-ABCDAD506135}"/>
              </a:ext>
            </a:extLst>
          </p:cNvPr>
          <p:cNvSpPr/>
          <p:nvPr/>
        </p:nvSpPr>
        <p:spPr>
          <a:xfrm>
            <a:off x="8451310" y="2769075"/>
            <a:ext cx="3516922" cy="2996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发送数据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A4ABF0-5381-407F-849B-1445ED7D26BA}"/>
              </a:ext>
            </a:extLst>
          </p:cNvPr>
          <p:cNvSpPr/>
          <p:nvPr/>
        </p:nvSpPr>
        <p:spPr>
          <a:xfrm>
            <a:off x="9350241" y="1568241"/>
            <a:ext cx="476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k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850685-C134-4B22-8B5C-4BBD70CC33A9}"/>
              </a:ext>
            </a:extLst>
          </p:cNvPr>
          <p:cNvSpPr/>
          <p:nvPr/>
        </p:nvSpPr>
        <p:spPr>
          <a:xfrm>
            <a:off x="11092970" y="1568241"/>
            <a:ext cx="4844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</a:t>
            </a:r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E4974AEC-7A47-49E3-81D4-7134C607E1FD}"/>
              </a:ext>
            </a:extLst>
          </p:cNvPr>
          <p:cNvSpPr/>
          <p:nvPr/>
        </p:nvSpPr>
        <p:spPr>
          <a:xfrm>
            <a:off x="10033924" y="2248159"/>
            <a:ext cx="208780" cy="410308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E51C64-2361-460D-A05C-2AD080B5042A}"/>
              </a:ext>
            </a:extLst>
          </p:cNvPr>
          <p:cNvSpPr/>
          <p:nvPr/>
        </p:nvSpPr>
        <p:spPr>
          <a:xfrm>
            <a:off x="9824364" y="3067961"/>
            <a:ext cx="7857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k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+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位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BA05D17-267F-4002-9F9A-D0029EC5FB8D}"/>
              </a:ext>
            </a:extLst>
          </p:cNvPr>
          <p:cNvCxnSpPr/>
          <p:nvPr/>
        </p:nvCxnSpPr>
        <p:spPr>
          <a:xfrm>
            <a:off x="10784202" y="2769075"/>
            <a:ext cx="0" cy="2996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下箭头 17">
            <a:extLst>
              <a:ext uri="{FF2B5EF4-FFF2-40B4-BE49-F238E27FC236}">
                <a16:creationId xmlns:a16="http://schemas.microsoft.com/office/drawing/2014/main" id="{CE599149-D2B2-4788-A691-2D491EC7DA99}"/>
              </a:ext>
            </a:extLst>
          </p:cNvPr>
          <p:cNvSpPr/>
          <p:nvPr/>
        </p:nvSpPr>
        <p:spPr>
          <a:xfrm>
            <a:off x="10033924" y="3391851"/>
            <a:ext cx="208780" cy="410308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A25EA2-4646-438B-9424-3D907B86CD4E}"/>
              </a:ext>
            </a:extLst>
          </p:cNvPr>
          <p:cNvSpPr/>
          <p:nvPr/>
        </p:nvSpPr>
        <p:spPr>
          <a:xfrm>
            <a:off x="8658453" y="4425743"/>
            <a:ext cx="3168502" cy="82663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校验能力：能检测出少于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n+1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位的突发错误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5865E1E-7E80-4082-BA0C-D774D014E94E}"/>
              </a:ext>
            </a:extLst>
          </p:cNvPr>
          <p:cNvSpPr/>
          <p:nvPr/>
        </p:nvSpPr>
        <p:spPr>
          <a:xfrm>
            <a:off x="9049254" y="5707517"/>
            <a:ext cx="2510244" cy="4770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接收端如何计算？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93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检错码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循环冗余校验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CRC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3632"/>
            <a:ext cx="6395814" cy="4362969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  <a:spcBef>
                <a:spcPts val="1200"/>
              </a:spcBef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校验码计算示例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3600"/>
              </a:lnSpc>
              <a:spcBef>
                <a:spcPts val="12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 = </a:t>
            </a:r>
            <a:r>
              <a:rPr lang="en-US" altLang="zh-CN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1010001101</a:t>
            </a:r>
          </a:p>
          <a:p>
            <a:pPr lvl="1">
              <a:lnSpc>
                <a:spcPts val="3600"/>
              </a:lnSpc>
              <a:spcBef>
                <a:spcPts val="12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= 5</a:t>
            </a:r>
          </a:p>
          <a:p>
            <a:pPr lvl="1">
              <a:lnSpc>
                <a:spcPts val="3600"/>
              </a:lnSpc>
              <a:spcBef>
                <a:spcPts val="12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 = 110101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 x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x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x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+ 1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ts val="3600"/>
              </a:lnSpc>
              <a:spcBef>
                <a:spcPts val="12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= 01110</a:t>
            </a:r>
          </a:p>
          <a:p>
            <a:pPr lvl="1">
              <a:lnSpc>
                <a:spcPts val="36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实际传输数据：</a:t>
            </a:r>
            <a:r>
              <a:rPr lang="en-US" altLang="zh-CN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1010001101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01110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5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pSp>
        <p:nvGrpSpPr>
          <p:cNvPr id="24" name="Group 46"/>
          <p:cNvGrpSpPr>
            <a:grpSpLocks/>
          </p:cNvGrpSpPr>
          <p:nvPr/>
        </p:nvGrpSpPr>
        <p:grpSpPr bwMode="auto">
          <a:xfrm>
            <a:off x="5389340" y="1423838"/>
            <a:ext cx="6742112" cy="4359275"/>
            <a:chOff x="720" y="1281"/>
            <a:chExt cx="4247" cy="2746"/>
          </a:xfrm>
        </p:grpSpPr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720" y="1281"/>
              <a:ext cx="4247" cy="27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1101010110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G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→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110101 1010001101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00000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2</a:t>
              </a:r>
              <a:r>
                <a:rPr kumimoji="0" lang="en-US" altLang="zh-CN" sz="2000" b="0" i="1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n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D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黑体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111011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黑体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111010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11111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1011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11001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110101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    </a:t>
              </a: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                          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0111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0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←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 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黑体" pitchFamily="2" charset="-122"/>
                  <a:cs typeface="+mn-cs"/>
                </a:rPr>
                <a:t>R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黑体" pitchFamily="2" charset="-122"/>
                <a:cs typeface="+mn-cs"/>
              </a:endParaRPr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2274" y="1480"/>
              <a:ext cx="1513" cy="168"/>
            </a:xfrm>
            <a:custGeom>
              <a:avLst/>
              <a:gdLst>
                <a:gd name="T0" fmla="*/ 0 w 1332"/>
                <a:gd name="T1" fmla="*/ 684 h 156"/>
                <a:gd name="T2" fmla="*/ 0 w 1332"/>
                <a:gd name="T3" fmla="*/ 0 h 156"/>
                <a:gd name="T4" fmla="*/ 17033 w 1332"/>
                <a:gd name="T5" fmla="*/ 1 h 156"/>
                <a:gd name="T6" fmla="*/ 0 60000 65536"/>
                <a:gd name="T7" fmla="*/ 0 60000 65536"/>
                <a:gd name="T8" fmla="*/ 0 60000 65536"/>
                <a:gd name="T9" fmla="*/ 0 w 1332"/>
                <a:gd name="T10" fmla="*/ 0 h 156"/>
                <a:gd name="T11" fmla="*/ 1332 w 1332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2" h="156">
                  <a:moveTo>
                    <a:pt x="0" y="156"/>
                  </a:moveTo>
                  <a:lnTo>
                    <a:pt x="0" y="0"/>
                  </a:lnTo>
                  <a:lnTo>
                    <a:pt x="1332" y="1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2944" y="1679"/>
              <a:ext cx="3" cy="237"/>
            </a:xfrm>
            <a:custGeom>
              <a:avLst/>
              <a:gdLst>
                <a:gd name="T0" fmla="*/ 0 w 3"/>
                <a:gd name="T1" fmla="*/ 0 h 237"/>
                <a:gd name="T2" fmla="*/ 3 w 3"/>
                <a:gd name="T3" fmla="*/ 237 h 237"/>
                <a:gd name="T4" fmla="*/ 0 60000 65536"/>
                <a:gd name="T5" fmla="*/ 0 60000 65536"/>
                <a:gd name="T6" fmla="*/ 0 w 3"/>
                <a:gd name="T7" fmla="*/ 0 h 237"/>
                <a:gd name="T8" fmla="*/ 3 w 3"/>
                <a:gd name="T9" fmla="*/ 237 h 2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37">
                  <a:moveTo>
                    <a:pt x="0" y="0"/>
                  </a:moveTo>
                  <a:lnTo>
                    <a:pt x="3" y="237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3040" y="1679"/>
              <a:ext cx="1" cy="576"/>
            </a:xfrm>
            <a:custGeom>
              <a:avLst/>
              <a:gdLst>
                <a:gd name="T0" fmla="*/ 0 w 1"/>
                <a:gd name="T1" fmla="*/ 0 h 576"/>
                <a:gd name="T2" fmla="*/ 0 w 1"/>
                <a:gd name="T3" fmla="*/ 576 h 576"/>
                <a:gd name="T4" fmla="*/ 0 60000 65536"/>
                <a:gd name="T5" fmla="*/ 0 60000 65536"/>
                <a:gd name="T6" fmla="*/ 0 w 1"/>
                <a:gd name="T7" fmla="*/ 0 h 576"/>
                <a:gd name="T8" fmla="*/ 1 w 1"/>
                <a:gd name="T9" fmla="*/ 576 h 5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76">
                  <a:moveTo>
                    <a:pt x="0" y="0"/>
                  </a:moveTo>
                  <a:lnTo>
                    <a:pt x="0" y="57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3136" y="1679"/>
              <a:ext cx="8" cy="592"/>
            </a:xfrm>
            <a:custGeom>
              <a:avLst/>
              <a:gdLst>
                <a:gd name="T0" fmla="*/ 0 w 8"/>
                <a:gd name="T1" fmla="*/ 0 h 592"/>
                <a:gd name="T2" fmla="*/ 8 w 8"/>
                <a:gd name="T3" fmla="*/ 592 h 592"/>
                <a:gd name="T4" fmla="*/ 0 60000 65536"/>
                <a:gd name="T5" fmla="*/ 0 60000 65536"/>
                <a:gd name="T6" fmla="*/ 0 w 8"/>
                <a:gd name="T7" fmla="*/ 0 h 592"/>
                <a:gd name="T8" fmla="*/ 8 w 8"/>
                <a:gd name="T9" fmla="*/ 592 h 5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" h="592">
                  <a:moveTo>
                    <a:pt x="0" y="0"/>
                  </a:moveTo>
                  <a:lnTo>
                    <a:pt x="8" y="59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3224" y="1679"/>
              <a:ext cx="8" cy="992"/>
            </a:xfrm>
            <a:custGeom>
              <a:avLst/>
              <a:gdLst>
                <a:gd name="T0" fmla="*/ 0 w 8"/>
                <a:gd name="T1" fmla="*/ 0 h 992"/>
                <a:gd name="T2" fmla="*/ 8 w 8"/>
                <a:gd name="T3" fmla="*/ 992 h 992"/>
                <a:gd name="T4" fmla="*/ 0 60000 65536"/>
                <a:gd name="T5" fmla="*/ 0 60000 65536"/>
                <a:gd name="T6" fmla="*/ 0 w 8"/>
                <a:gd name="T7" fmla="*/ 0 h 992"/>
                <a:gd name="T8" fmla="*/ 8 w 8"/>
                <a:gd name="T9" fmla="*/ 992 h 9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" h="992">
                  <a:moveTo>
                    <a:pt x="0" y="0"/>
                  </a:moveTo>
                  <a:lnTo>
                    <a:pt x="8" y="99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3320" y="1679"/>
              <a:ext cx="1" cy="976"/>
            </a:xfrm>
            <a:custGeom>
              <a:avLst/>
              <a:gdLst>
                <a:gd name="T0" fmla="*/ 0 w 1"/>
                <a:gd name="T1" fmla="*/ 0 h 976"/>
                <a:gd name="T2" fmla="*/ 0 w 1"/>
                <a:gd name="T3" fmla="*/ 976 h 976"/>
                <a:gd name="T4" fmla="*/ 0 60000 65536"/>
                <a:gd name="T5" fmla="*/ 0 60000 65536"/>
                <a:gd name="T6" fmla="*/ 0 w 1"/>
                <a:gd name="T7" fmla="*/ 0 h 976"/>
                <a:gd name="T8" fmla="*/ 1 w 1"/>
                <a:gd name="T9" fmla="*/ 976 h 9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76">
                  <a:moveTo>
                    <a:pt x="0" y="0"/>
                  </a:moveTo>
                  <a:lnTo>
                    <a:pt x="0" y="97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3416" y="1679"/>
              <a:ext cx="8" cy="13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512" y="1679"/>
              <a:ext cx="3" cy="13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flipH="1">
              <a:off x="3606" y="1679"/>
              <a:ext cx="2" cy="173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3696" y="1679"/>
              <a:ext cx="8" cy="211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 flipV="1">
              <a:off x="3123" y="3816"/>
              <a:ext cx="549" cy="6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 flipV="1">
              <a:off x="3016" y="3430"/>
              <a:ext cx="54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2835" y="3038"/>
              <a:ext cx="531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2653" y="2659"/>
              <a:ext cx="54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>
              <a:off x="2423" y="2272"/>
              <a:ext cx="57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>
              <a:off x="2336" y="1888"/>
              <a:ext cx="54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3244" y="4004"/>
              <a:ext cx="862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3833" y="1706"/>
              <a:ext cx="363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Line 44"/>
            <p:cNvSpPr>
              <a:spLocks noChangeShapeType="1"/>
            </p:cNvSpPr>
            <p:nvPr/>
          </p:nvSpPr>
          <p:spPr bwMode="auto">
            <a:xfrm>
              <a:off x="1294" y="1706"/>
              <a:ext cx="181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905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检错码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循环冗余校验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CRC</a:t>
            </a:r>
            <a:endParaRPr kumimoji="0" lang="zh-CN" altLang="en-US" sz="320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ts val="4100"/>
              </a:lnSpc>
            </a:pPr>
            <a:r>
              <a:rPr lang="zh-CN" altLang="en-US" dirty="0"/>
              <a:t>四个国际标准生成多项式</a:t>
            </a:r>
          </a:p>
          <a:p>
            <a:pPr lvl="1" eaLnBrk="1" hangingPunct="1">
              <a:lnSpc>
                <a:spcPts val="4100"/>
              </a:lnSpc>
            </a:pPr>
            <a:r>
              <a:rPr lang="en-US" altLang="zh-CN" dirty="0"/>
              <a:t>CRC-12 = x</a:t>
            </a:r>
            <a:r>
              <a:rPr lang="en-US" altLang="zh-CN" baseline="30000" dirty="0"/>
              <a:t>12</a:t>
            </a:r>
            <a:r>
              <a:rPr lang="en-US" altLang="zh-CN" dirty="0"/>
              <a:t>+x</a:t>
            </a:r>
            <a:r>
              <a:rPr lang="en-US" altLang="zh-CN" baseline="30000" dirty="0"/>
              <a:t>11</a:t>
            </a:r>
            <a:r>
              <a:rPr lang="en-US" altLang="zh-CN" dirty="0"/>
              <a:t>+x</a:t>
            </a:r>
            <a:r>
              <a:rPr lang="en-US" altLang="zh-CN" baseline="30000" dirty="0"/>
              <a:t>3</a:t>
            </a:r>
            <a:r>
              <a:rPr lang="en-US" altLang="zh-CN" dirty="0"/>
              <a:t>+x</a:t>
            </a:r>
            <a:r>
              <a:rPr lang="en-US" altLang="zh-CN" baseline="30000" dirty="0"/>
              <a:t>2</a:t>
            </a:r>
            <a:r>
              <a:rPr lang="en-US" altLang="zh-CN" dirty="0"/>
              <a:t>+x+1</a:t>
            </a:r>
          </a:p>
          <a:p>
            <a:pPr lvl="1" eaLnBrk="1" hangingPunct="1">
              <a:lnSpc>
                <a:spcPts val="4100"/>
              </a:lnSpc>
            </a:pPr>
            <a:r>
              <a:rPr lang="en-US" altLang="zh-CN" dirty="0"/>
              <a:t>CRC-16 = x</a:t>
            </a:r>
            <a:r>
              <a:rPr lang="en-US" altLang="zh-CN" baseline="30000" dirty="0"/>
              <a:t>16</a:t>
            </a:r>
            <a:r>
              <a:rPr lang="en-US" altLang="zh-CN" dirty="0"/>
              <a:t>+x</a:t>
            </a:r>
            <a:r>
              <a:rPr lang="en-US" altLang="zh-CN" baseline="30000" dirty="0"/>
              <a:t>15</a:t>
            </a:r>
            <a:r>
              <a:rPr lang="en-US" altLang="zh-CN" dirty="0"/>
              <a:t>+x</a:t>
            </a:r>
            <a:r>
              <a:rPr lang="en-US" altLang="zh-CN" baseline="30000" dirty="0"/>
              <a:t>2</a:t>
            </a:r>
            <a:r>
              <a:rPr lang="en-US" altLang="zh-CN" dirty="0"/>
              <a:t>+1</a:t>
            </a:r>
          </a:p>
          <a:p>
            <a:pPr lvl="1" eaLnBrk="1" hangingPunct="1">
              <a:lnSpc>
                <a:spcPts val="4100"/>
              </a:lnSpc>
            </a:pPr>
            <a:r>
              <a:rPr lang="en-US" altLang="zh-CN" dirty="0"/>
              <a:t>CRC-CCITT = x</a:t>
            </a:r>
            <a:r>
              <a:rPr lang="en-US" altLang="zh-CN" baseline="30000" dirty="0"/>
              <a:t>16</a:t>
            </a:r>
            <a:r>
              <a:rPr lang="en-US" altLang="zh-CN" dirty="0"/>
              <a:t>+x</a:t>
            </a:r>
            <a:r>
              <a:rPr lang="en-US" altLang="zh-CN" baseline="30000" dirty="0"/>
              <a:t>12</a:t>
            </a:r>
            <a:r>
              <a:rPr lang="en-US" altLang="zh-CN" dirty="0"/>
              <a:t>+x</a:t>
            </a:r>
            <a:r>
              <a:rPr lang="en-US" altLang="zh-CN" baseline="30000" dirty="0"/>
              <a:t>5</a:t>
            </a:r>
            <a:r>
              <a:rPr lang="en-US" altLang="zh-CN" dirty="0"/>
              <a:t>+1</a:t>
            </a:r>
          </a:p>
          <a:p>
            <a:pPr lvl="1" eaLnBrk="1" hangingPunct="1">
              <a:lnSpc>
                <a:spcPts val="4100"/>
              </a:lnSpc>
            </a:pPr>
            <a:r>
              <a:rPr lang="en-US" altLang="zh-CN" dirty="0"/>
              <a:t>CRC-32 = x</a:t>
            </a:r>
            <a:r>
              <a:rPr lang="en-US" altLang="zh-CN" baseline="30000" dirty="0"/>
              <a:t>32</a:t>
            </a:r>
            <a:r>
              <a:rPr lang="en-US" altLang="zh-CN" dirty="0"/>
              <a:t>+x</a:t>
            </a:r>
            <a:r>
              <a:rPr lang="en-US" altLang="zh-CN" baseline="30000" dirty="0"/>
              <a:t>26</a:t>
            </a:r>
            <a:r>
              <a:rPr lang="en-US" altLang="zh-CN" dirty="0"/>
              <a:t>+x</a:t>
            </a:r>
            <a:r>
              <a:rPr lang="en-US" altLang="zh-CN" baseline="30000" dirty="0"/>
              <a:t>23</a:t>
            </a:r>
            <a:r>
              <a:rPr lang="en-US" altLang="zh-CN" dirty="0"/>
              <a:t>+x</a:t>
            </a:r>
            <a:r>
              <a:rPr lang="en-US" altLang="zh-CN" baseline="30000" dirty="0"/>
              <a:t>22</a:t>
            </a:r>
            <a:r>
              <a:rPr lang="en-US" altLang="zh-CN" dirty="0"/>
              <a:t>+x</a:t>
            </a:r>
            <a:r>
              <a:rPr lang="en-US" altLang="zh-CN" baseline="30000" dirty="0"/>
              <a:t>16</a:t>
            </a:r>
            <a:r>
              <a:rPr lang="en-US" altLang="zh-CN" dirty="0"/>
              <a:t>+x</a:t>
            </a:r>
            <a:r>
              <a:rPr lang="en-US" altLang="zh-CN" baseline="30000" dirty="0"/>
              <a:t>12</a:t>
            </a:r>
            <a:r>
              <a:rPr lang="en-US" altLang="zh-CN" dirty="0"/>
              <a:t>+x</a:t>
            </a:r>
            <a:r>
              <a:rPr lang="en-US" altLang="zh-CN" baseline="30000" dirty="0"/>
              <a:t>11</a:t>
            </a:r>
            <a:r>
              <a:rPr lang="en-US" altLang="zh-CN" dirty="0"/>
              <a:t>+x</a:t>
            </a:r>
            <a:r>
              <a:rPr lang="en-US" altLang="zh-CN" baseline="30000" dirty="0"/>
              <a:t>10</a:t>
            </a:r>
            <a:r>
              <a:rPr lang="en-US" altLang="zh-CN" dirty="0"/>
              <a:t>+x</a:t>
            </a:r>
            <a:r>
              <a:rPr lang="en-US" altLang="zh-CN" baseline="30000" dirty="0"/>
              <a:t>8</a:t>
            </a:r>
            <a:r>
              <a:rPr lang="en-US" altLang="zh-CN" dirty="0"/>
              <a:t>+x</a:t>
            </a:r>
            <a:r>
              <a:rPr lang="en-US" altLang="zh-CN" baseline="30000" dirty="0"/>
              <a:t>7</a:t>
            </a:r>
            <a:r>
              <a:rPr lang="en-US" altLang="zh-CN" dirty="0"/>
              <a:t>+x</a:t>
            </a:r>
            <a:r>
              <a:rPr lang="en-US" altLang="zh-CN" baseline="30000" dirty="0"/>
              <a:t>5</a:t>
            </a:r>
            <a:r>
              <a:rPr lang="en-US" altLang="zh-CN" dirty="0"/>
              <a:t>+x</a:t>
            </a:r>
            <a:r>
              <a:rPr lang="en-US" altLang="zh-CN" baseline="30000" dirty="0"/>
              <a:t>4</a:t>
            </a:r>
            <a:r>
              <a:rPr lang="en-US" altLang="zh-CN" dirty="0"/>
              <a:t>+x</a:t>
            </a:r>
            <a:r>
              <a:rPr lang="en-US" altLang="zh-CN" baseline="30000" dirty="0"/>
              <a:t>2</a:t>
            </a:r>
            <a:r>
              <a:rPr lang="en-US" altLang="zh-CN" dirty="0"/>
              <a:t>+x+1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4BBAB8-7444-4237-ADD3-A0704706DF79}"/>
              </a:ext>
            </a:extLst>
          </p:cNvPr>
          <p:cNvSpPr/>
          <p:nvPr/>
        </p:nvSpPr>
        <p:spPr>
          <a:xfrm>
            <a:off x="1418390" y="5057679"/>
            <a:ext cx="7467822" cy="454099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例如，以太网、无线局域网使用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CRC-32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生成多项式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F35379-6DE8-43C5-A6FD-98ABA367A3B2}"/>
              </a:ext>
            </a:extLst>
          </p:cNvPr>
          <p:cNvSpPr txBox="1"/>
          <p:nvPr/>
        </p:nvSpPr>
        <p:spPr>
          <a:xfrm>
            <a:off x="1948837" y="6411392"/>
            <a:ext cx="825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引自：清华大学崔勇老师提供的讲稿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51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364503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endParaRPr kumimoji="1"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4300"/>
            <a:ext cx="10617200" cy="4419600"/>
          </a:xfrm>
        </p:spPr>
        <p:txBody>
          <a:bodyPr>
            <a:noAutofit/>
          </a:bodyPr>
          <a:lstStyle/>
          <a:p>
            <a:pPr>
              <a:lnSpc>
                <a:spcPts val="3600"/>
              </a:lnSpc>
            </a:pPr>
            <a:r>
              <a:rPr lang="zh-CN" altLang="en-US" dirty="0"/>
              <a:t>设计纠错码</a:t>
            </a:r>
          </a:p>
          <a:p>
            <a:pPr lvl="1">
              <a:lnSpc>
                <a:spcPts val="3600"/>
              </a:lnSpc>
            </a:pPr>
            <a:r>
              <a:rPr lang="zh-CN" altLang="en-US" dirty="0"/>
              <a:t>要求：</a:t>
            </a:r>
            <a:r>
              <a:rPr lang="en-US" altLang="zh-CN" dirty="0"/>
              <a:t>m</a:t>
            </a:r>
            <a:r>
              <a:rPr lang="zh-CN" altLang="zh-CN" dirty="0"/>
              <a:t>个信息位，</a:t>
            </a:r>
            <a:r>
              <a:rPr lang="en-US" altLang="zh-CN" dirty="0"/>
              <a:t>r</a:t>
            </a:r>
            <a:r>
              <a:rPr lang="zh-CN" altLang="zh-CN" dirty="0"/>
              <a:t>个校验位，纠正单比特错</a:t>
            </a:r>
            <a:endParaRPr lang="zh-CN" altLang="en-US" dirty="0"/>
          </a:p>
          <a:p>
            <a:pPr lvl="1">
              <a:lnSpc>
                <a:spcPts val="3600"/>
              </a:lnSpc>
            </a:pPr>
            <a:r>
              <a:rPr lang="zh-CN" altLang="zh-CN" dirty="0"/>
              <a:t>对2</a:t>
            </a:r>
            <a:r>
              <a:rPr lang="en-US" altLang="zh-CN" baseline="30000" dirty="0"/>
              <a:t>m</a:t>
            </a:r>
            <a:r>
              <a:rPr lang="zh-CN" altLang="zh-CN" dirty="0"/>
              <a:t>个有效信息中任何一个，有</a:t>
            </a:r>
            <a:r>
              <a:rPr lang="en-US" altLang="zh-CN" dirty="0"/>
              <a:t>n</a:t>
            </a:r>
            <a:r>
              <a:rPr lang="zh-CN" altLang="zh-CN" dirty="0"/>
              <a:t>个与其距离为1的无效码字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 indent="-336550">
              <a:lnSpc>
                <a:spcPts val="3600"/>
              </a:lnSpc>
              <a:buFont typeface="微软雅黑" panose="020B0503020204020204" pitchFamily="34" charset="-122"/>
              <a:buChar char="−"/>
            </a:pPr>
            <a:r>
              <a:rPr lang="zh-CN" altLang="en-US" dirty="0"/>
              <a:t>可以考虑将该信息对应的合法码字的</a:t>
            </a:r>
            <a:r>
              <a:rPr lang="en-US" altLang="zh-CN" dirty="0"/>
              <a:t>n</a:t>
            </a:r>
            <a:r>
              <a:rPr lang="zh-CN" altLang="en-US" dirty="0"/>
              <a:t>位逐个取反，得到</a:t>
            </a:r>
            <a:r>
              <a:rPr lang="en-US" altLang="zh-CN" dirty="0"/>
              <a:t>n</a:t>
            </a:r>
            <a:r>
              <a:rPr lang="zh-CN" altLang="en-US" dirty="0"/>
              <a:t>个距离为</a:t>
            </a:r>
            <a:r>
              <a:rPr lang="en-US" altLang="zh-CN" dirty="0"/>
              <a:t>1</a:t>
            </a:r>
            <a:r>
              <a:rPr lang="zh-CN" altLang="en-US" dirty="0"/>
              <a:t>的非法码字，需要</a:t>
            </a:r>
            <a:r>
              <a:rPr lang="en-US" altLang="zh-CN" dirty="0"/>
              <a:t>n+1</a:t>
            </a:r>
            <a:r>
              <a:rPr lang="zh-CN" altLang="en-US" dirty="0"/>
              <a:t>个位模式来标识</a:t>
            </a:r>
            <a:endParaRPr lang="en-US" altLang="zh-CN" dirty="0"/>
          </a:p>
          <a:p>
            <a:pPr marL="692150" lvl="1" indent="-342900">
              <a:lnSpc>
                <a:spcPts val="3600"/>
              </a:lnSpc>
            </a:pPr>
            <a:r>
              <a:rPr lang="zh-CN" altLang="zh-CN" dirty="0"/>
              <a:t>因此有</a:t>
            </a:r>
            <a:r>
              <a:rPr lang="zh-CN" altLang="en-US" dirty="0"/>
              <a:t>：</a:t>
            </a:r>
            <a:r>
              <a:rPr lang="en-US" altLang="zh-CN" dirty="0"/>
              <a:t>(n + 1) 2</a:t>
            </a:r>
            <a:r>
              <a:rPr lang="en-US" altLang="zh-CN" baseline="30000" dirty="0"/>
              <a:t>m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 2</a:t>
            </a:r>
            <a:r>
              <a:rPr lang="en-US" altLang="zh-CN" baseline="30000" dirty="0">
                <a:sym typeface="Symbol" panose="05050102010706020507" pitchFamily="18" charset="2"/>
              </a:rPr>
              <a:t>n</a:t>
            </a:r>
          </a:p>
          <a:p>
            <a:pPr marL="692150" lvl="1" indent="-342900">
              <a:lnSpc>
                <a:spcPts val="3600"/>
              </a:lnSpc>
            </a:pPr>
            <a:r>
              <a:rPr lang="zh-CN" altLang="en-US" dirty="0">
                <a:sym typeface="Symbol" panose="05050102010706020507" pitchFamily="18" charset="2"/>
              </a:rPr>
              <a:t>利用 </a:t>
            </a:r>
            <a:r>
              <a:rPr lang="en-US" altLang="zh-CN" dirty="0">
                <a:sym typeface="Symbol" panose="05050102010706020507" pitchFamily="18" charset="2"/>
              </a:rPr>
              <a:t>n = m + r</a:t>
            </a:r>
            <a:r>
              <a:rPr lang="zh-CN" altLang="en-US" dirty="0">
                <a:sym typeface="Symbol" panose="05050102010706020507" pitchFamily="18" charset="2"/>
              </a:rPr>
              <a:t>，得到 </a:t>
            </a:r>
            <a:r>
              <a:rPr lang="en-US" altLang="zh-CN" dirty="0">
                <a:sym typeface="Symbol" panose="05050102010706020507" pitchFamily="18" charset="2"/>
              </a:rPr>
              <a:t>(m + r + 1)  2</a:t>
            </a:r>
            <a:r>
              <a:rPr lang="en-US" altLang="zh-CN" baseline="30000" dirty="0">
                <a:sym typeface="Symbol" panose="05050102010706020507" pitchFamily="18" charset="2"/>
              </a:rPr>
              <a:t>r</a:t>
            </a:r>
            <a:endParaRPr lang="en-US" altLang="zh-CN" dirty="0">
              <a:sym typeface="Symbol" panose="05050102010706020507" pitchFamily="18" charset="2"/>
            </a:endParaRPr>
          </a:p>
          <a:p>
            <a:pPr marL="692150" lvl="1" indent="-342900">
              <a:lnSpc>
                <a:spcPts val="3600"/>
              </a:lnSpc>
            </a:pPr>
            <a:r>
              <a:rPr lang="zh-CN" altLang="en-US" dirty="0">
                <a:sym typeface="Symbol" panose="05050102010706020507" pitchFamily="18" charset="2"/>
              </a:rPr>
              <a:t>在给定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的情况下，利用该式可以得出纠正单比特错误校验位数的下界</a:t>
            </a:r>
            <a:endParaRPr lang="zh-CN" altLang="en-US" dirty="0"/>
          </a:p>
          <a:p>
            <a:pPr lvl="2" indent="-336550">
              <a:lnSpc>
                <a:spcPts val="3400"/>
              </a:lnSpc>
              <a:buFont typeface="微软雅黑" panose="020B0503020204020204" pitchFamily="34" charset="-122"/>
              <a:buChar char="−"/>
            </a:pP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F35379-6DE8-43C5-A6FD-98ABA367A3B2}"/>
              </a:ext>
            </a:extLst>
          </p:cNvPr>
          <p:cNvSpPr txBox="1"/>
          <p:nvPr/>
        </p:nvSpPr>
        <p:spPr>
          <a:xfrm>
            <a:off x="1948837" y="6411392"/>
            <a:ext cx="825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引自：清华大学崔勇老师提供的讲稿</a:t>
            </a:r>
          </a:p>
        </p:txBody>
      </p:sp>
    </p:spTree>
    <p:extLst>
      <p:ext uri="{BB962C8B-B14F-4D97-AF65-F5344CB8AC3E}">
        <p14:creationId xmlns:p14="http://schemas.microsoft.com/office/powerpoint/2010/main" val="3913860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515600" cy="4736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>
                <a:solidFill>
                  <a:srgbClr val="C00000"/>
                </a:solidFill>
              </a:rPr>
              <a:t>目标</a:t>
            </a:r>
            <a:r>
              <a:rPr kumimoji="1" lang="zh-CN" altLang="en-US" sz="2600" dirty="0"/>
              <a:t>：</a:t>
            </a:r>
            <a:r>
              <a:rPr kumimoji="1" lang="zh-CN" altLang="en-US" sz="2600" dirty="0">
                <a:solidFill>
                  <a:schemeClr val="accent1">
                    <a:lumMod val="75000"/>
                  </a:schemeClr>
                </a:solidFill>
              </a:rPr>
              <a:t>以</a:t>
            </a:r>
            <a:r>
              <a:rPr lang="zh-CN" altLang="en-US" sz="2600" dirty="0">
                <a:solidFill>
                  <a:schemeClr val="accent1">
                    <a:lumMod val="75000"/>
                  </a:schemeClr>
                </a:solidFill>
              </a:rPr>
              <a:t>奇偶校验为基础，如何找到出错位置，提供</a:t>
            </a:r>
            <a:r>
              <a:rPr lang="en-US" altLang="zh-CN" sz="26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2600" dirty="0">
                <a:solidFill>
                  <a:schemeClr val="accent1">
                    <a:lumMod val="75000"/>
                  </a:schemeClr>
                </a:solidFill>
              </a:rPr>
              <a:t>位纠错能力</a:t>
            </a:r>
            <a:endParaRPr kumimoji="1" lang="en-US" altLang="zh-CN" sz="26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600" dirty="0"/>
              <a:t>理解海明码编码过程，以 </a:t>
            </a:r>
            <a:r>
              <a:rPr kumimoji="1" lang="en-US" altLang="zh-CN" sz="2600" dirty="0"/>
              <a:t>(15, 11)</a:t>
            </a:r>
            <a:r>
              <a:rPr kumimoji="1" lang="zh-CN" altLang="en-US" sz="2600" dirty="0"/>
              <a:t>海明码为例</a:t>
            </a:r>
            <a:endParaRPr kumimoji="1" lang="en-US" altLang="zh-CN" sz="26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例如：</a:t>
            </a:r>
            <a:r>
              <a:rPr kumimoji="1" lang="en-US" altLang="zh-CN" sz="2200" dirty="0"/>
              <a:t>11</a:t>
            </a:r>
            <a:r>
              <a:rPr kumimoji="1" lang="zh-CN" altLang="en-US" sz="2200" dirty="0"/>
              <a:t>比特的数据</a:t>
            </a:r>
            <a:r>
              <a:rPr kumimoji="1" lang="en-US" altLang="zh-CN" sz="2200" dirty="0">
                <a:solidFill>
                  <a:srgbClr val="C00000"/>
                </a:solidFill>
              </a:rPr>
              <a:t>01011001101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200" dirty="0"/>
              <a:t>11</a:t>
            </a:r>
            <a:r>
              <a:rPr kumimoji="1" lang="zh-CN" altLang="en-US" sz="2200" dirty="0"/>
              <a:t>比特数据按顺序放入数据位</a:t>
            </a:r>
            <a:endParaRPr kumimoji="1" lang="en-US" altLang="zh-CN" sz="2200" dirty="0"/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</a:rPr>
              <a:t>校验位：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的幂次方位（记为</a:t>
            </a:r>
            <a:r>
              <a:rPr kumimoji="1" lang="en-US" altLang="zh-CN" dirty="0"/>
              <a:t>p1, p2, p4, p8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每个校验位对数据位的子集做校验，缩小定位错误的范围</a:t>
            </a:r>
            <a:endParaRPr kumimoji="1" lang="en-US" altLang="zh-CN" sz="22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>
                <a:solidFill>
                  <a:srgbClr val="C00000"/>
                </a:solidFill>
              </a:rPr>
              <a:t>问题：每个校验位如何计算？</a:t>
            </a:r>
            <a:endParaRPr kumimoji="1"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43" name="矩形 42"/>
          <p:cNvSpPr/>
          <p:nvPr/>
        </p:nvSpPr>
        <p:spPr>
          <a:xfrm>
            <a:off x="9008032" y="5009781"/>
            <a:ext cx="225984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148894" y="4939415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校验位</a:t>
            </a:r>
          </a:p>
        </p:txBody>
      </p:sp>
      <p:sp>
        <p:nvSpPr>
          <p:cNvPr id="45" name="矩形 44"/>
          <p:cNvSpPr/>
          <p:nvPr/>
        </p:nvSpPr>
        <p:spPr>
          <a:xfrm>
            <a:off x="10175777" y="5009781"/>
            <a:ext cx="225984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328153" y="4939415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数据位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410938" y="5376196"/>
            <a:ext cx="337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右下角数字为码字中位序号</a:t>
            </a:r>
          </a:p>
        </p:txBody>
      </p: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9090064" y="3365677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9550093" y="2953908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9779175" y="320319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265509" y="319267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726512" y="319267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314739" y="360467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779174" y="359899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260132" y="359899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0726512" y="359264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314739" y="400114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777620" y="399477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0222032" y="400094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716663" y="400429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270733" y="439963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746314" y="440598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228382" y="439337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0703963" y="439475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984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515600" cy="13198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子集的选择与校验位计算</a:t>
            </a:r>
            <a:endParaRPr kumimoji="1" lang="en-US" altLang="zh-CN" sz="26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海明码缺省为偶校验（也可以使用奇校验）</a:t>
            </a: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1432758" y="3474731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1892787" y="3062962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2121869" y="331224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608203" y="330172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069206" y="330172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657433" y="371372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121868" y="370804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602826" y="370804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069206" y="370169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57433" y="411019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120314" y="410382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564726" y="41100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059357" y="411335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613427" y="450868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089008" y="451504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571076" y="450243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046657" y="450381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892787" y="3746194"/>
            <a:ext cx="1215388" cy="2208305"/>
            <a:chOff x="1892787" y="3671763"/>
            <a:chExt cx="1215388" cy="2208305"/>
          </a:xfrm>
        </p:grpSpPr>
        <p:sp>
          <p:nvSpPr>
            <p:cNvPr id="6" name="文本框 5"/>
            <p:cNvSpPr txBox="1"/>
            <p:nvPr/>
          </p:nvSpPr>
          <p:spPr>
            <a:xfrm>
              <a:off x="1892787" y="5233737"/>
              <a:ext cx="1215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p1=1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8" name="直接连接符 7"/>
            <p:cNvCxnSpPr>
              <a:endCxn id="6" idx="0"/>
            </p:cNvCxnSpPr>
            <p:nvPr/>
          </p:nvCxnSpPr>
          <p:spPr>
            <a:xfrm>
              <a:off x="2108058" y="3671763"/>
              <a:ext cx="392423" cy="15619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57" idx="1"/>
              <a:endCxn id="6" idx="0"/>
            </p:cNvCxnSpPr>
            <p:nvPr/>
          </p:nvCxnSpPr>
          <p:spPr>
            <a:xfrm>
              <a:off x="2120314" y="4132363"/>
              <a:ext cx="380167" cy="11013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61" idx="1"/>
              <a:endCxn id="6" idx="0"/>
            </p:cNvCxnSpPr>
            <p:nvPr/>
          </p:nvCxnSpPr>
          <p:spPr>
            <a:xfrm>
              <a:off x="2089008" y="4543576"/>
              <a:ext cx="411473" cy="69016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55" idx="1"/>
              <a:endCxn id="6" idx="0"/>
            </p:cNvCxnSpPr>
            <p:nvPr/>
          </p:nvCxnSpPr>
          <p:spPr>
            <a:xfrm flipH="1">
              <a:off x="2500481" y="3730229"/>
              <a:ext cx="568725" cy="150350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>
              <a:endCxn id="6" idx="0"/>
            </p:cNvCxnSpPr>
            <p:nvPr/>
          </p:nvCxnSpPr>
          <p:spPr>
            <a:xfrm flipH="1">
              <a:off x="2500481" y="4463363"/>
              <a:ext cx="539828" cy="7703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文本框 71"/>
          <p:cNvSpPr txBox="1"/>
          <p:nvPr/>
        </p:nvSpPr>
        <p:spPr>
          <a:xfrm>
            <a:off x="1985536" y="3149682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3808812" y="3495097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4268841" y="3083328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75" name="文本框 74"/>
          <p:cNvSpPr txBox="1"/>
          <p:nvPr/>
        </p:nvSpPr>
        <p:spPr>
          <a:xfrm>
            <a:off x="4497923" y="333261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984257" y="332209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445260" y="332209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033487" y="373409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497922" y="372841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978880" y="372841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445260" y="372206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33487" y="413056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496368" y="412419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940780" y="413036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435411" y="413371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989481" y="452905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465062" y="453540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947130" y="452279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422711" y="452417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6201362" y="3473118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6661391" y="3061349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92" name="文本框 91"/>
          <p:cNvSpPr txBox="1"/>
          <p:nvPr/>
        </p:nvSpPr>
        <p:spPr>
          <a:xfrm>
            <a:off x="6890473" y="331063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376807" y="330011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837810" y="330011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426037" y="371211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890472" y="370643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371430" y="370643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837810" y="370008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426037" y="410858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88918" y="41022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333330" y="410838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827961" y="411174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382031" y="450707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857612" y="451342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339680" y="450081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7815261" y="450219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07" name="表格 106"/>
          <p:cNvGraphicFramePr>
            <a:graphicFrameLocks noGrp="1"/>
          </p:cNvGraphicFramePr>
          <p:nvPr/>
        </p:nvGraphicFramePr>
        <p:xfrm>
          <a:off x="8523765" y="3440950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108" name="表格 107"/>
          <p:cNvGraphicFramePr>
            <a:graphicFrameLocks noGrp="1"/>
          </p:cNvGraphicFramePr>
          <p:nvPr/>
        </p:nvGraphicFramePr>
        <p:xfrm>
          <a:off x="8983794" y="3029181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109" name="文本框 108"/>
          <p:cNvSpPr txBox="1"/>
          <p:nvPr/>
        </p:nvSpPr>
        <p:spPr>
          <a:xfrm>
            <a:off x="9212876" y="327846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9699210" y="326794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0160213" y="326794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748440" y="367994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9212875" y="367426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9693833" y="367426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0160213" y="366791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748440" y="407641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211321" y="407004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9655733" y="407622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0150364" y="407957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8704434" y="447490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180015" y="448126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662083" y="446864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0137664" y="447003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545241" y="3825026"/>
            <a:ext cx="1215388" cy="2130610"/>
            <a:chOff x="4545241" y="3750595"/>
            <a:chExt cx="1215388" cy="2130610"/>
          </a:xfrm>
        </p:grpSpPr>
        <p:sp>
          <p:nvSpPr>
            <p:cNvPr id="125" name="文本框 124"/>
            <p:cNvSpPr txBox="1"/>
            <p:nvPr/>
          </p:nvSpPr>
          <p:spPr>
            <a:xfrm>
              <a:off x="4545241" y="5234874"/>
              <a:ext cx="1215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p2=0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9" name="直接连接符 128"/>
            <p:cNvCxnSpPr>
              <a:stCxn id="81" idx="1"/>
              <a:endCxn id="125" idx="0"/>
            </p:cNvCxnSpPr>
            <p:nvPr/>
          </p:nvCxnSpPr>
          <p:spPr>
            <a:xfrm flipH="1">
              <a:off x="5152935" y="3750595"/>
              <a:ext cx="292325" cy="148427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>
              <a:stCxn id="89" idx="1"/>
              <a:endCxn id="125" idx="0"/>
            </p:cNvCxnSpPr>
            <p:nvPr/>
          </p:nvCxnSpPr>
          <p:spPr>
            <a:xfrm flipH="1">
              <a:off x="5152935" y="4552713"/>
              <a:ext cx="269776" cy="68216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文本框 130"/>
          <p:cNvSpPr txBox="1"/>
          <p:nvPr/>
        </p:nvSpPr>
        <p:spPr>
          <a:xfrm>
            <a:off x="4829583" y="3163225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6282497" y="3528339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608027" y="3893885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897686" y="2652392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4248375" y="2679662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661391" y="2660026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8944591" y="2646202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52" name="矩形 151"/>
          <p:cNvSpPr/>
          <p:nvPr/>
        </p:nvSpPr>
        <p:spPr>
          <a:xfrm>
            <a:off x="7434304" y="2133053"/>
            <a:ext cx="225984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7575166" y="2062687"/>
            <a:ext cx="176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每组的数据位</a:t>
            </a:r>
          </a:p>
        </p:txBody>
      </p:sp>
      <p:sp>
        <p:nvSpPr>
          <p:cNvPr id="154" name="矩形 153"/>
          <p:cNvSpPr/>
          <p:nvPr/>
        </p:nvSpPr>
        <p:spPr>
          <a:xfrm>
            <a:off x="9354061" y="2121618"/>
            <a:ext cx="225984" cy="2286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9522548" y="2046696"/>
            <a:ext cx="1625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每组的校验位</a:t>
            </a:r>
          </a:p>
        </p:txBody>
      </p:sp>
      <p:grpSp>
        <p:nvGrpSpPr>
          <p:cNvPr id="159" name="组合 158"/>
          <p:cNvGrpSpPr/>
          <p:nvPr/>
        </p:nvGrpSpPr>
        <p:grpSpPr>
          <a:xfrm>
            <a:off x="6472156" y="3726842"/>
            <a:ext cx="1421051" cy="2208305"/>
            <a:chOff x="6472156" y="3726842"/>
            <a:chExt cx="1421051" cy="2208305"/>
          </a:xfrm>
        </p:grpSpPr>
        <p:grpSp>
          <p:nvGrpSpPr>
            <p:cNvPr id="134" name="组合 133"/>
            <p:cNvGrpSpPr/>
            <p:nvPr/>
          </p:nvGrpSpPr>
          <p:grpSpPr>
            <a:xfrm>
              <a:off x="6677819" y="3726842"/>
              <a:ext cx="1215388" cy="2208305"/>
              <a:chOff x="1892787" y="3671763"/>
              <a:chExt cx="1215388" cy="2208305"/>
            </a:xfrm>
          </p:grpSpPr>
          <p:sp>
            <p:nvSpPr>
              <p:cNvPr id="135" name="文本框 134"/>
              <p:cNvSpPr txBox="1"/>
              <p:nvPr/>
            </p:nvSpPr>
            <p:spPr>
              <a:xfrm>
                <a:off x="1892787" y="5233737"/>
                <a:ext cx="12153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5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p4=1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36" name="直接连接符 135"/>
              <p:cNvCxnSpPr>
                <a:endCxn id="135" idx="0"/>
              </p:cNvCxnSpPr>
              <p:nvPr/>
            </p:nvCxnSpPr>
            <p:spPr>
              <a:xfrm>
                <a:off x="2108058" y="3671763"/>
                <a:ext cx="392423" cy="15619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>
                <a:endCxn id="135" idx="0"/>
              </p:cNvCxnSpPr>
              <p:nvPr/>
            </p:nvCxnSpPr>
            <p:spPr>
              <a:xfrm>
                <a:off x="2089008" y="4532943"/>
                <a:ext cx="411473" cy="70079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>
                <a:endCxn id="135" idx="0"/>
              </p:cNvCxnSpPr>
              <p:nvPr/>
            </p:nvCxnSpPr>
            <p:spPr>
              <a:xfrm flipH="1">
                <a:off x="2500481" y="3719596"/>
                <a:ext cx="568726" cy="151414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>
                <a:endCxn id="135" idx="0"/>
              </p:cNvCxnSpPr>
              <p:nvPr/>
            </p:nvCxnSpPr>
            <p:spPr>
              <a:xfrm flipH="1">
                <a:off x="2500481" y="4463363"/>
                <a:ext cx="539828" cy="7703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连接符 155"/>
            <p:cNvCxnSpPr>
              <a:endCxn id="135" idx="0"/>
            </p:cNvCxnSpPr>
            <p:nvPr/>
          </p:nvCxnSpPr>
          <p:spPr>
            <a:xfrm>
              <a:off x="6472156" y="4524178"/>
              <a:ext cx="813357" cy="76463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组合 159"/>
          <p:cNvGrpSpPr/>
          <p:nvPr/>
        </p:nvGrpSpPr>
        <p:grpSpPr>
          <a:xfrm>
            <a:off x="8826821" y="4173992"/>
            <a:ext cx="1411658" cy="1758338"/>
            <a:chOff x="8826821" y="4173992"/>
            <a:chExt cx="1411658" cy="1758338"/>
          </a:xfrm>
        </p:grpSpPr>
        <p:grpSp>
          <p:nvGrpSpPr>
            <p:cNvPr id="141" name="组合 140"/>
            <p:cNvGrpSpPr/>
            <p:nvPr/>
          </p:nvGrpSpPr>
          <p:grpSpPr>
            <a:xfrm>
              <a:off x="9023091" y="4173992"/>
              <a:ext cx="1215388" cy="1758338"/>
              <a:chOff x="1892787" y="4121730"/>
              <a:chExt cx="1215388" cy="1758338"/>
            </a:xfrm>
          </p:grpSpPr>
          <p:sp>
            <p:nvSpPr>
              <p:cNvPr id="142" name="文本框 141"/>
              <p:cNvSpPr txBox="1"/>
              <p:nvPr/>
            </p:nvSpPr>
            <p:spPr>
              <a:xfrm>
                <a:off x="1892787" y="5233737"/>
                <a:ext cx="12153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p8=0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44" name="直接连接符 143"/>
              <p:cNvCxnSpPr>
                <a:endCxn id="142" idx="0"/>
              </p:cNvCxnSpPr>
              <p:nvPr/>
            </p:nvCxnSpPr>
            <p:spPr>
              <a:xfrm>
                <a:off x="2120314" y="4121730"/>
                <a:ext cx="380167" cy="111200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>
                <a:endCxn id="142" idx="0"/>
              </p:cNvCxnSpPr>
              <p:nvPr/>
            </p:nvCxnSpPr>
            <p:spPr>
              <a:xfrm>
                <a:off x="2089008" y="4532943"/>
                <a:ext cx="411473" cy="70079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>
                <a:endCxn id="142" idx="0"/>
              </p:cNvCxnSpPr>
              <p:nvPr/>
            </p:nvCxnSpPr>
            <p:spPr>
              <a:xfrm flipH="1">
                <a:off x="2500481" y="4463363"/>
                <a:ext cx="539828" cy="7703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8" name="直接连接符 157"/>
            <p:cNvCxnSpPr/>
            <p:nvPr/>
          </p:nvCxnSpPr>
          <p:spPr>
            <a:xfrm>
              <a:off x="8826821" y="4544667"/>
              <a:ext cx="813357" cy="76463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778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2" grpId="1"/>
      <p:bldP spid="131" grpId="0"/>
      <p:bldP spid="131" grpId="1"/>
      <p:bldP spid="132" grpId="0"/>
      <p:bldP spid="132" grpId="1"/>
      <p:bldP spid="133" grpId="0"/>
      <p:bldP spid="13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515600" cy="15628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码字的发送与接收</a:t>
            </a:r>
            <a:endParaRPr kumimoji="1" lang="en-US" altLang="zh-CN" sz="26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如果发送过程中第</a:t>
            </a:r>
            <a:r>
              <a:rPr kumimoji="1" lang="en-US" altLang="zh-CN" sz="2200" dirty="0"/>
              <a:t>7</a:t>
            </a:r>
            <a:r>
              <a:rPr kumimoji="1" lang="zh-CN" altLang="en-US" sz="2200" dirty="0"/>
              <a:t>位出现差错，如何定位错误？</a:t>
            </a: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124" name="表格 123"/>
          <p:cNvGraphicFramePr>
            <a:graphicFrameLocks noGrp="1"/>
          </p:cNvGraphicFramePr>
          <p:nvPr/>
        </p:nvGraphicFramePr>
        <p:xfrm>
          <a:off x="1491651" y="3407613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126" name="表格 125"/>
          <p:cNvGraphicFramePr>
            <a:graphicFrameLocks noGrp="1"/>
          </p:cNvGraphicFramePr>
          <p:nvPr/>
        </p:nvGraphicFramePr>
        <p:xfrm>
          <a:off x="1951680" y="2995844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127" name="文本框 126"/>
          <p:cNvSpPr txBox="1"/>
          <p:nvPr/>
        </p:nvSpPr>
        <p:spPr>
          <a:xfrm>
            <a:off x="2180762" y="324512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667096" y="323460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128099" y="323460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1716326" y="364660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180761" y="364092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2661719" y="364092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3128099" y="363457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716326" y="404307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2179207" y="403671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2623619" y="404288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3118250" y="404623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1672320" y="444156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147901" y="444792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2629969" y="443531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105550" y="443669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346975" y="5047848"/>
            <a:ext cx="225984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487837" y="4977482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校验位</a:t>
            </a:r>
          </a:p>
        </p:txBody>
      </p:sp>
      <p:sp>
        <p:nvSpPr>
          <p:cNvPr id="164" name="矩形 163"/>
          <p:cNvSpPr/>
          <p:nvPr/>
        </p:nvSpPr>
        <p:spPr>
          <a:xfrm>
            <a:off x="2514720" y="5047848"/>
            <a:ext cx="225984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2667096" y="4977482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数据位</a:t>
            </a:r>
          </a:p>
        </p:txBody>
      </p:sp>
      <p:sp>
        <p:nvSpPr>
          <p:cNvPr id="7" name="右箭头 6"/>
          <p:cNvSpPr/>
          <p:nvPr/>
        </p:nvSpPr>
        <p:spPr>
          <a:xfrm>
            <a:off x="3838245" y="3726863"/>
            <a:ext cx="3875964" cy="197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8023133" y="5081505"/>
            <a:ext cx="225984" cy="228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8163995" y="5011139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校验位</a:t>
            </a:r>
          </a:p>
        </p:txBody>
      </p:sp>
      <p:sp>
        <p:nvSpPr>
          <p:cNvPr id="185" name="矩形 184"/>
          <p:cNvSpPr/>
          <p:nvPr/>
        </p:nvSpPr>
        <p:spPr>
          <a:xfrm>
            <a:off x="9190878" y="5081505"/>
            <a:ext cx="225984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9343254" y="5011139"/>
            <a:ext cx="95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数据位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38245" y="3245387"/>
            <a:ext cx="376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101100111010001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87" name="表格 186"/>
          <p:cNvGraphicFramePr>
            <a:graphicFrameLocks noGrp="1"/>
          </p:cNvGraphicFramePr>
          <p:nvPr/>
        </p:nvGraphicFramePr>
        <p:xfrm>
          <a:off x="8123454" y="3403001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188" name="表格 187"/>
          <p:cNvGraphicFramePr>
            <a:graphicFrameLocks noGrp="1"/>
          </p:cNvGraphicFramePr>
          <p:nvPr/>
        </p:nvGraphicFramePr>
        <p:xfrm>
          <a:off x="8583483" y="2991232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189" name="文本框 188"/>
          <p:cNvSpPr txBox="1"/>
          <p:nvPr/>
        </p:nvSpPr>
        <p:spPr>
          <a:xfrm>
            <a:off x="8812565" y="32405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9298899" y="322999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759902" y="322999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348129" y="364199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8812564" y="36363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9293522" y="36363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759902" y="362996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348129" y="403846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8811010" y="403209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9255422" y="403827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9750053" y="404162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8304123" y="443695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8779704" y="444331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9261772" y="443070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737353" y="443208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1845141" y="5515675"/>
            <a:ext cx="1109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发送方</a:t>
            </a:r>
          </a:p>
        </p:txBody>
      </p:sp>
      <p:sp>
        <p:nvSpPr>
          <p:cNvPr id="12" name="任意多边形 11"/>
          <p:cNvSpPr/>
          <p:nvPr/>
        </p:nvSpPr>
        <p:spPr>
          <a:xfrm>
            <a:off x="5305926" y="3112121"/>
            <a:ext cx="1070821" cy="1231279"/>
          </a:xfrm>
          <a:custGeom>
            <a:avLst/>
            <a:gdLst>
              <a:gd name="connsiteX0" fmla="*/ 0 w 1070821"/>
              <a:gd name="connsiteY0" fmla="*/ 1038774 h 1231279"/>
              <a:gd name="connsiteX1" fmla="*/ 12032 w 1070821"/>
              <a:gd name="connsiteY1" fmla="*/ 653763 h 1231279"/>
              <a:gd name="connsiteX2" fmla="*/ 48127 w 1070821"/>
              <a:gd name="connsiteY2" fmla="*/ 629700 h 1231279"/>
              <a:gd name="connsiteX3" fmla="*/ 72190 w 1070821"/>
              <a:gd name="connsiteY3" fmla="*/ 689858 h 1231279"/>
              <a:gd name="connsiteX4" fmla="*/ 96253 w 1070821"/>
              <a:gd name="connsiteY4" fmla="*/ 834237 h 1231279"/>
              <a:gd name="connsiteX5" fmla="*/ 108285 w 1070821"/>
              <a:gd name="connsiteY5" fmla="*/ 870332 h 1231279"/>
              <a:gd name="connsiteX6" fmla="*/ 132348 w 1070821"/>
              <a:gd name="connsiteY6" fmla="*/ 990647 h 1231279"/>
              <a:gd name="connsiteX7" fmla="*/ 156411 w 1070821"/>
              <a:gd name="connsiteY7" fmla="*/ 954553 h 1231279"/>
              <a:gd name="connsiteX8" fmla="*/ 168442 w 1070821"/>
              <a:gd name="connsiteY8" fmla="*/ 906426 h 1231279"/>
              <a:gd name="connsiteX9" fmla="*/ 192506 w 1070821"/>
              <a:gd name="connsiteY9" fmla="*/ 858300 h 1231279"/>
              <a:gd name="connsiteX10" fmla="*/ 204537 w 1070821"/>
              <a:gd name="connsiteY10" fmla="*/ 786111 h 1231279"/>
              <a:gd name="connsiteX11" fmla="*/ 228600 w 1070821"/>
              <a:gd name="connsiteY11" fmla="*/ 725953 h 1231279"/>
              <a:gd name="connsiteX12" fmla="*/ 264695 w 1070821"/>
              <a:gd name="connsiteY12" fmla="*/ 605637 h 1231279"/>
              <a:gd name="connsiteX13" fmla="*/ 288758 w 1070821"/>
              <a:gd name="connsiteY13" fmla="*/ 533447 h 1231279"/>
              <a:gd name="connsiteX14" fmla="*/ 300790 w 1070821"/>
              <a:gd name="connsiteY14" fmla="*/ 497353 h 1231279"/>
              <a:gd name="connsiteX15" fmla="*/ 324853 w 1070821"/>
              <a:gd name="connsiteY15" fmla="*/ 581574 h 1231279"/>
              <a:gd name="connsiteX16" fmla="*/ 348916 w 1070821"/>
              <a:gd name="connsiteY16" fmla="*/ 653763 h 1231279"/>
              <a:gd name="connsiteX17" fmla="*/ 385011 w 1070821"/>
              <a:gd name="connsiteY17" fmla="*/ 810174 h 1231279"/>
              <a:gd name="connsiteX18" fmla="*/ 421106 w 1070821"/>
              <a:gd name="connsiteY18" fmla="*/ 978616 h 1231279"/>
              <a:gd name="connsiteX19" fmla="*/ 433137 w 1070821"/>
              <a:gd name="connsiteY19" fmla="*/ 1038774 h 1231279"/>
              <a:gd name="connsiteX20" fmla="*/ 457200 w 1070821"/>
              <a:gd name="connsiteY20" fmla="*/ 1122995 h 1231279"/>
              <a:gd name="connsiteX21" fmla="*/ 469232 w 1070821"/>
              <a:gd name="connsiteY21" fmla="*/ 208595 h 1231279"/>
              <a:gd name="connsiteX22" fmla="*/ 481263 w 1070821"/>
              <a:gd name="connsiteY22" fmla="*/ 4058 h 1231279"/>
              <a:gd name="connsiteX23" fmla="*/ 493295 w 1070821"/>
              <a:gd name="connsiteY23" fmla="*/ 64216 h 1231279"/>
              <a:gd name="connsiteX24" fmla="*/ 541421 w 1070821"/>
              <a:gd name="connsiteY24" fmla="*/ 232658 h 1231279"/>
              <a:gd name="connsiteX25" fmla="*/ 553453 w 1070821"/>
              <a:gd name="connsiteY25" fmla="*/ 304847 h 1231279"/>
              <a:gd name="connsiteX26" fmla="*/ 565485 w 1070821"/>
              <a:gd name="connsiteY26" fmla="*/ 340942 h 1231279"/>
              <a:gd name="connsiteX27" fmla="*/ 589548 w 1070821"/>
              <a:gd name="connsiteY27" fmla="*/ 437195 h 1231279"/>
              <a:gd name="connsiteX28" fmla="*/ 637674 w 1070821"/>
              <a:gd name="connsiteY28" fmla="*/ 581574 h 1231279"/>
              <a:gd name="connsiteX29" fmla="*/ 709863 w 1070821"/>
              <a:gd name="connsiteY29" fmla="*/ 822205 h 1231279"/>
              <a:gd name="connsiteX30" fmla="*/ 721895 w 1070821"/>
              <a:gd name="connsiteY30" fmla="*/ 870332 h 1231279"/>
              <a:gd name="connsiteX31" fmla="*/ 745958 w 1070821"/>
              <a:gd name="connsiteY31" fmla="*/ 930490 h 1231279"/>
              <a:gd name="connsiteX32" fmla="*/ 770021 w 1070821"/>
              <a:gd name="connsiteY32" fmla="*/ 1002679 h 1231279"/>
              <a:gd name="connsiteX33" fmla="*/ 806116 w 1070821"/>
              <a:gd name="connsiteY33" fmla="*/ 1110963 h 1231279"/>
              <a:gd name="connsiteX34" fmla="*/ 818148 w 1070821"/>
              <a:gd name="connsiteY34" fmla="*/ 1147058 h 1231279"/>
              <a:gd name="connsiteX35" fmla="*/ 830179 w 1070821"/>
              <a:gd name="connsiteY35" fmla="*/ 1183153 h 1231279"/>
              <a:gd name="connsiteX36" fmla="*/ 842211 w 1070821"/>
              <a:gd name="connsiteY36" fmla="*/ 617668 h 1231279"/>
              <a:gd name="connsiteX37" fmla="*/ 854242 w 1070821"/>
              <a:gd name="connsiteY37" fmla="*/ 545479 h 1231279"/>
              <a:gd name="connsiteX38" fmla="*/ 866274 w 1070821"/>
              <a:gd name="connsiteY38" fmla="*/ 593605 h 1231279"/>
              <a:gd name="connsiteX39" fmla="*/ 902369 w 1070821"/>
              <a:gd name="connsiteY39" fmla="*/ 713921 h 1231279"/>
              <a:gd name="connsiteX40" fmla="*/ 914400 w 1070821"/>
              <a:gd name="connsiteY40" fmla="*/ 774079 h 1231279"/>
              <a:gd name="connsiteX41" fmla="*/ 938463 w 1070821"/>
              <a:gd name="connsiteY41" fmla="*/ 810174 h 1231279"/>
              <a:gd name="connsiteX42" fmla="*/ 950495 w 1070821"/>
              <a:gd name="connsiteY42" fmla="*/ 882363 h 1231279"/>
              <a:gd name="connsiteX43" fmla="*/ 986590 w 1070821"/>
              <a:gd name="connsiteY43" fmla="*/ 942521 h 1231279"/>
              <a:gd name="connsiteX44" fmla="*/ 1046748 w 1070821"/>
              <a:gd name="connsiteY44" fmla="*/ 1147058 h 1231279"/>
              <a:gd name="connsiteX45" fmla="*/ 1070811 w 1070821"/>
              <a:gd name="connsiteY45" fmla="*/ 1231279 h 1231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70821" h="1231279">
                <a:moveTo>
                  <a:pt x="0" y="1038774"/>
                </a:moveTo>
                <a:cubicBezTo>
                  <a:pt x="4011" y="910437"/>
                  <a:pt x="4910" y="781965"/>
                  <a:pt x="12032" y="653763"/>
                </a:cubicBezTo>
                <a:cubicBezTo>
                  <a:pt x="15922" y="583740"/>
                  <a:pt x="19842" y="601416"/>
                  <a:pt x="48127" y="629700"/>
                </a:cubicBezTo>
                <a:cubicBezTo>
                  <a:pt x="56148" y="649753"/>
                  <a:pt x="67243" y="668835"/>
                  <a:pt x="72190" y="689858"/>
                </a:cubicBezTo>
                <a:cubicBezTo>
                  <a:pt x="83365" y="737351"/>
                  <a:pt x="80824" y="787951"/>
                  <a:pt x="96253" y="834237"/>
                </a:cubicBezTo>
                <a:cubicBezTo>
                  <a:pt x="100264" y="846269"/>
                  <a:pt x="105433" y="857974"/>
                  <a:pt x="108285" y="870332"/>
                </a:cubicBezTo>
                <a:cubicBezTo>
                  <a:pt x="117482" y="910184"/>
                  <a:pt x="132348" y="990647"/>
                  <a:pt x="132348" y="990647"/>
                </a:cubicBezTo>
                <a:cubicBezTo>
                  <a:pt x="140369" y="978616"/>
                  <a:pt x="150715" y="967844"/>
                  <a:pt x="156411" y="954553"/>
                </a:cubicBezTo>
                <a:cubicBezTo>
                  <a:pt x="162925" y="939354"/>
                  <a:pt x="162636" y="921909"/>
                  <a:pt x="168442" y="906426"/>
                </a:cubicBezTo>
                <a:cubicBezTo>
                  <a:pt x="174740" y="889632"/>
                  <a:pt x="184485" y="874342"/>
                  <a:pt x="192506" y="858300"/>
                </a:cubicBezTo>
                <a:cubicBezTo>
                  <a:pt x="196516" y="834237"/>
                  <a:pt x="198118" y="809646"/>
                  <a:pt x="204537" y="786111"/>
                </a:cubicBezTo>
                <a:cubicBezTo>
                  <a:pt x="210220" y="765275"/>
                  <a:pt x="221219" y="746250"/>
                  <a:pt x="228600" y="725953"/>
                </a:cubicBezTo>
                <a:cubicBezTo>
                  <a:pt x="277211" y="592272"/>
                  <a:pt x="233917" y="708230"/>
                  <a:pt x="264695" y="605637"/>
                </a:cubicBezTo>
                <a:cubicBezTo>
                  <a:pt x="271984" y="581342"/>
                  <a:pt x="280737" y="557510"/>
                  <a:pt x="288758" y="533447"/>
                </a:cubicBezTo>
                <a:lnTo>
                  <a:pt x="300790" y="497353"/>
                </a:lnTo>
                <a:cubicBezTo>
                  <a:pt x="341228" y="618672"/>
                  <a:pt x="279523" y="430475"/>
                  <a:pt x="324853" y="581574"/>
                </a:cubicBezTo>
                <a:cubicBezTo>
                  <a:pt x="332142" y="605869"/>
                  <a:pt x="342764" y="629156"/>
                  <a:pt x="348916" y="653763"/>
                </a:cubicBezTo>
                <a:cubicBezTo>
                  <a:pt x="402014" y="866157"/>
                  <a:pt x="351813" y="710582"/>
                  <a:pt x="385011" y="810174"/>
                </a:cubicBezTo>
                <a:cubicBezTo>
                  <a:pt x="406913" y="985395"/>
                  <a:pt x="381542" y="833547"/>
                  <a:pt x="421106" y="978616"/>
                </a:cubicBezTo>
                <a:cubicBezTo>
                  <a:pt x="426487" y="998345"/>
                  <a:pt x="428701" y="1018811"/>
                  <a:pt x="433137" y="1038774"/>
                </a:cubicBezTo>
                <a:cubicBezTo>
                  <a:pt x="443207" y="1084088"/>
                  <a:pt x="443804" y="1082806"/>
                  <a:pt x="457200" y="1122995"/>
                </a:cubicBezTo>
                <a:cubicBezTo>
                  <a:pt x="461211" y="818195"/>
                  <a:pt x="462678" y="513351"/>
                  <a:pt x="469232" y="208595"/>
                </a:cubicBezTo>
                <a:cubicBezTo>
                  <a:pt x="470700" y="140314"/>
                  <a:pt x="470035" y="71426"/>
                  <a:pt x="481263" y="4058"/>
                </a:cubicBezTo>
                <a:cubicBezTo>
                  <a:pt x="484625" y="-16114"/>
                  <a:pt x="488091" y="44440"/>
                  <a:pt x="493295" y="64216"/>
                </a:cubicBezTo>
                <a:cubicBezTo>
                  <a:pt x="508156" y="120687"/>
                  <a:pt x="531821" y="175058"/>
                  <a:pt x="541421" y="232658"/>
                </a:cubicBezTo>
                <a:cubicBezTo>
                  <a:pt x="545432" y="256721"/>
                  <a:pt x="548161" y="281033"/>
                  <a:pt x="553453" y="304847"/>
                </a:cubicBezTo>
                <a:cubicBezTo>
                  <a:pt x="556204" y="317227"/>
                  <a:pt x="562148" y="328706"/>
                  <a:pt x="565485" y="340942"/>
                </a:cubicBezTo>
                <a:cubicBezTo>
                  <a:pt x="574187" y="372848"/>
                  <a:pt x="580045" y="405518"/>
                  <a:pt x="589548" y="437195"/>
                </a:cubicBezTo>
                <a:cubicBezTo>
                  <a:pt x="604125" y="485785"/>
                  <a:pt x="625370" y="532359"/>
                  <a:pt x="637674" y="581574"/>
                </a:cubicBezTo>
                <a:cubicBezTo>
                  <a:pt x="707903" y="862490"/>
                  <a:pt x="638513" y="608155"/>
                  <a:pt x="709863" y="822205"/>
                </a:cubicBezTo>
                <a:cubicBezTo>
                  <a:pt x="715092" y="837893"/>
                  <a:pt x="716666" y="854644"/>
                  <a:pt x="721895" y="870332"/>
                </a:cubicBezTo>
                <a:cubicBezTo>
                  <a:pt x="728725" y="890821"/>
                  <a:pt x="738577" y="910193"/>
                  <a:pt x="745958" y="930490"/>
                </a:cubicBezTo>
                <a:cubicBezTo>
                  <a:pt x="754626" y="954328"/>
                  <a:pt x="762000" y="978616"/>
                  <a:pt x="770021" y="1002679"/>
                </a:cubicBezTo>
                <a:lnTo>
                  <a:pt x="806116" y="1110963"/>
                </a:lnTo>
                <a:lnTo>
                  <a:pt x="818148" y="1147058"/>
                </a:lnTo>
                <a:lnTo>
                  <a:pt x="830179" y="1183153"/>
                </a:lnTo>
                <a:cubicBezTo>
                  <a:pt x="834190" y="994658"/>
                  <a:pt x="835101" y="806072"/>
                  <a:pt x="842211" y="617668"/>
                </a:cubicBezTo>
                <a:cubicBezTo>
                  <a:pt x="843131" y="593290"/>
                  <a:pt x="836992" y="562729"/>
                  <a:pt x="854242" y="545479"/>
                </a:cubicBezTo>
                <a:cubicBezTo>
                  <a:pt x="865935" y="533786"/>
                  <a:pt x="862687" y="577463"/>
                  <a:pt x="866274" y="593605"/>
                </a:cubicBezTo>
                <a:cubicBezTo>
                  <a:pt x="886609" y="685109"/>
                  <a:pt x="866416" y="624037"/>
                  <a:pt x="902369" y="713921"/>
                </a:cubicBezTo>
                <a:cubicBezTo>
                  <a:pt x="906379" y="733974"/>
                  <a:pt x="907220" y="754931"/>
                  <a:pt x="914400" y="774079"/>
                </a:cubicBezTo>
                <a:cubicBezTo>
                  <a:pt x="919477" y="787619"/>
                  <a:pt x="933890" y="796456"/>
                  <a:pt x="938463" y="810174"/>
                </a:cubicBezTo>
                <a:cubicBezTo>
                  <a:pt x="946177" y="833317"/>
                  <a:pt x="942158" y="859437"/>
                  <a:pt x="950495" y="882363"/>
                </a:cubicBezTo>
                <a:cubicBezTo>
                  <a:pt x="958487" y="904340"/>
                  <a:pt x="977378" y="921027"/>
                  <a:pt x="986590" y="942521"/>
                </a:cubicBezTo>
                <a:cubicBezTo>
                  <a:pt x="1022957" y="1027376"/>
                  <a:pt x="1022312" y="1061531"/>
                  <a:pt x="1046748" y="1147058"/>
                </a:cubicBezTo>
                <a:cubicBezTo>
                  <a:pt x="1072079" y="1235718"/>
                  <a:pt x="1070811" y="1191880"/>
                  <a:pt x="1070811" y="1231279"/>
                </a:cubicBezTo>
              </a:path>
            </a:pathLst>
          </a:cu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8605551" y="5460916"/>
            <a:ext cx="1109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接收方</a:t>
            </a:r>
          </a:p>
        </p:txBody>
      </p:sp>
    </p:spTree>
    <p:extLst>
      <p:ext uri="{BB962C8B-B14F-4D97-AF65-F5344CB8AC3E}">
        <p14:creationId xmlns:p14="http://schemas.microsoft.com/office/powerpoint/2010/main" val="840124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895" y="1292341"/>
            <a:ext cx="6388200" cy="129004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定位错误与纠正</a:t>
            </a:r>
            <a:endParaRPr kumimoji="1" lang="en-US" altLang="zh-CN" sz="26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组</a:t>
            </a:r>
            <a:r>
              <a:rPr kumimoji="1" lang="en-US" altLang="zh-CN" sz="2200" dirty="0"/>
              <a:t>1</a:t>
            </a:r>
            <a:r>
              <a:rPr kumimoji="1" lang="zh-CN" altLang="en-US" sz="2200" dirty="0"/>
              <a:t>和组</a:t>
            </a:r>
            <a:r>
              <a:rPr kumimoji="1" lang="en-US" altLang="zh-CN" sz="2200" dirty="0"/>
              <a:t>2</a:t>
            </a:r>
            <a:r>
              <a:rPr kumimoji="1" lang="zh-CN" altLang="en-US" sz="2200" dirty="0"/>
              <a:t>的校验结果可以定位错误所在的列</a:t>
            </a: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7310324" y="2735022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7770353" y="2323253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7999435" y="257253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485769" y="256201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946772" y="256201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34999" y="297401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999434" y="296833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480392" y="2968336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946772" y="296198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534999" y="337048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997880" y="336411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442292" y="337029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936923" y="337364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490993" y="376897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966574" y="377533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448642" y="376272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924223" y="376410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770353" y="2664869"/>
            <a:ext cx="1215388" cy="2549921"/>
            <a:chOff x="1892787" y="3330147"/>
            <a:chExt cx="1215388" cy="2549921"/>
          </a:xfrm>
        </p:grpSpPr>
        <p:sp>
          <p:nvSpPr>
            <p:cNvPr id="6" name="文本框 5"/>
            <p:cNvSpPr txBox="1"/>
            <p:nvPr/>
          </p:nvSpPr>
          <p:spPr>
            <a:xfrm>
              <a:off x="1892787" y="5233737"/>
              <a:ext cx="1215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有错误</a:t>
              </a:r>
            </a:p>
          </p:txBody>
        </p:sp>
        <p:cxnSp>
          <p:nvCxnSpPr>
            <p:cNvPr id="8" name="直接连接符 7"/>
            <p:cNvCxnSpPr>
              <a:endCxn id="6" idx="0"/>
            </p:cNvCxnSpPr>
            <p:nvPr/>
          </p:nvCxnSpPr>
          <p:spPr>
            <a:xfrm>
              <a:off x="2108058" y="3671763"/>
              <a:ext cx="392423" cy="15619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57" idx="1"/>
              <a:endCxn id="6" idx="0"/>
            </p:cNvCxnSpPr>
            <p:nvPr/>
          </p:nvCxnSpPr>
          <p:spPr>
            <a:xfrm>
              <a:off x="2120314" y="4132363"/>
              <a:ext cx="380167" cy="11013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61" idx="1"/>
              <a:endCxn id="6" idx="0"/>
            </p:cNvCxnSpPr>
            <p:nvPr/>
          </p:nvCxnSpPr>
          <p:spPr>
            <a:xfrm>
              <a:off x="2089008" y="4543576"/>
              <a:ext cx="411473" cy="69016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49" idx="1"/>
              <a:endCxn id="6" idx="0"/>
            </p:cNvCxnSpPr>
            <p:nvPr/>
          </p:nvCxnSpPr>
          <p:spPr>
            <a:xfrm>
              <a:off x="2109837" y="3330147"/>
              <a:ext cx="390644" cy="190359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>
              <a:endCxn id="6" idx="0"/>
            </p:cNvCxnSpPr>
            <p:nvPr/>
          </p:nvCxnSpPr>
          <p:spPr>
            <a:xfrm flipH="1">
              <a:off x="2500481" y="4463363"/>
              <a:ext cx="539828" cy="7703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文本框 71"/>
          <p:cNvSpPr txBox="1"/>
          <p:nvPr/>
        </p:nvSpPr>
        <p:spPr>
          <a:xfrm>
            <a:off x="7863102" y="2409973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73" name="表格 72"/>
          <p:cNvGraphicFramePr>
            <a:graphicFrameLocks noGrp="1"/>
          </p:cNvGraphicFramePr>
          <p:nvPr/>
        </p:nvGraphicFramePr>
        <p:xfrm>
          <a:off x="9686378" y="2755388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0146407" y="2343619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75" name="文本框 74"/>
          <p:cNvSpPr txBox="1"/>
          <p:nvPr/>
        </p:nvSpPr>
        <p:spPr>
          <a:xfrm>
            <a:off x="10375489" y="25929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861823" y="25823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1322826" y="258238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9911053" y="29943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375488" y="29887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0856446" y="29887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1322826" y="298235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911053" y="339085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0373934" y="338448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818346" y="339065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1312977" y="339401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867047" y="378934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0342628" y="379569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24696" y="378308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1300277" y="378446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0422807" y="3887435"/>
            <a:ext cx="1215388" cy="1351157"/>
            <a:chOff x="4545241" y="4552713"/>
            <a:chExt cx="1215388" cy="1351157"/>
          </a:xfrm>
        </p:grpSpPr>
        <p:sp>
          <p:nvSpPr>
            <p:cNvPr id="125" name="文本框 124"/>
            <p:cNvSpPr txBox="1"/>
            <p:nvPr/>
          </p:nvSpPr>
          <p:spPr>
            <a:xfrm>
              <a:off x="4545241" y="5257539"/>
              <a:ext cx="1215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有错误</a:t>
              </a:r>
            </a:p>
          </p:txBody>
        </p:sp>
        <p:cxnSp>
          <p:nvCxnSpPr>
            <p:cNvPr id="130" name="直接连接符 129"/>
            <p:cNvCxnSpPr>
              <a:stCxn id="89" idx="1"/>
              <a:endCxn id="125" idx="0"/>
            </p:cNvCxnSpPr>
            <p:nvPr/>
          </p:nvCxnSpPr>
          <p:spPr>
            <a:xfrm flipH="1">
              <a:off x="5152935" y="4552713"/>
              <a:ext cx="269776" cy="68216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文本框 130"/>
          <p:cNvSpPr txBox="1"/>
          <p:nvPr/>
        </p:nvSpPr>
        <p:spPr>
          <a:xfrm>
            <a:off x="10707149" y="2423516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775252" y="1912683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10125941" y="1939953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graphicFrame>
        <p:nvGraphicFramePr>
          <p:cNvPr id="124" name="表格 123"/>
          <p:cNvGraphicFramePr>
            <a:graphicFrameLocks noGrp="1"/>
          </p:cNvGraphicFramePr>
          <p:nvPr/>
        </p:nvGraphicFramePr>
        <p:xfrm>
          <a:off x="1496886" y="4350596"/>
          <a:ext cx="2621817" cy="1491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385">
                  <a:extLst>
                    <a:ext uri="{9D8B030D-6E8A-4147-A177-3AD203B41FA5}">
                      <a16:colId xmlns:a16="http://schemas.microsoft.com/office/drawing/2014/main" val="1902036101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1274628466"/>
                    </a:ext>
                  </a:extLst>
                </a:gridCol>
              </a:tblGrid>
              <a:tr h="4956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出错列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98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98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</a:tbl>
          </a:graphicData>
        </a:graphic>
      </p:graphicFrame>
      <p:sp>
        <p:nvSpPr>
          <p:cNvPr id="64" name="内容占位符 2"/>
          <p:cNvSpPr txBox="1">
            <a:spLocks/>
          </p:cNvSpPr>
          <p:nvPr/>
        </p:nvSpPr>
        <p:spPr>
          <a:xfrm>
            <a:off x="721895" y="2561509"/>
            <a:ext cx="6388200" cy="1151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例如：组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和组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校验结果都指明存在错误，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可定位错误位于第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列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5" name="内容占位符 2"/>
          <p:cNvSpPr txBox="1">
            <a:spLocks/>
          </p:cNvSpPr>
          <p:nvPr/>
        </p:nvSpPr>
        <p:spPr>
          <a:xfrm>
            <a:off x="684974" y="3598805"/>
            <a:ext cx="6388200" cy="615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其他出错情况判断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14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895" y="1292340"/>
            <a:ext cx="6388200" cy="12691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定位错误与纠正（续）</a:t>
            </a:r>
            <a:endParaRPr kumimoji="1" lang="en-US" altLang="zh-CN" sz="26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组</a:t>
            </a:r>
            <a:r>
              <a:rPr kumimoji="1" lang="en-US" altLang="zh-CN" sz="2200" dirty="0"/>
              <a:t>3</a:t>
            </a:r>
            <a:r>
              <a:rPr kumimoji="1" lang="zh-CN" altLang="en-US" sz="2200" dirty="0"/>
              <a:t>和组</a:t>
            </a:r>
            <a:r>
              <a:rPr kumimoji="1" lang="en-US" altLang="zh-CN" sz="2200" dirty="0"/>
              <a:t>4</a:t>
            </a:r>
            <a:r>
              <a:rPr kumimoji="1" lang="zh-CN" altLang="en-US" sz="2200" dirty="0"/>
              <a:t>的校验结果可以定位错误所在的行</a:t>
            </a:r>
            <a:endParaRPr kumimoji="1" lang="en-US" altLang="zh-CN" sz="2200" dirty="0"/>
          </a:p>
          <a:p>
            <a:pPr lvl="1">
              <a:lnSpc>
                <a:spcPct val="150000"/>
              </a:lnSpc>
            </a:pPr>
            <a:endParaRPr kumimoji="1" lang="en-US" altLang="zh-CN" sz="2200" dirty="0">
              <a:solidFill>
                <a:srgbClr val="C00000"/>
              </a:solidFill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124" name="表格 123"/>
          <p:cNvGraphicFramePr>
            <a:graphicFrameLocks noGrp="1"/>
          </p:cNvGraphicFramePr>
          <p:nvPr/>
        </p:nvGraphicFramePr>
        <p:xfrm>
          <a:off x="4144707" y="4651625"/>
          <a:ext cx="2621817" cy="1491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385">
                  <a:extLst>
                    <a:ext uri="{9D8B030D-6E8A-4147-A177-3AD203B41FA5}">
                      <a16:colId xmlns:a16="http://schemas.microsoft.com/office/drawing/2014/main" val="1902036101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  <a:gridCol w="540144">
                  <a:extLst>
                    <a:ext uri="{9D8B030D-6E8A-4147-A177-3AD203B41FA5}">
                      <a16:colId xmlns:a16="http://schemas.microsoft.com/office/drawing/2014/main" val="1274628466"/>
                    </a:ext>
                  </a:extLst>
                </a:gridCol>
              </a:tblGrid>
              <a:tr h="4956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出错行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98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98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7419951" y="2710588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7879980" y="2298819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66" name="文本框 65"/>
          <p:cNvSpPr txBox="1"/>
          <p:nvPr/>
        </p:nvSpPr>
        <p:spPr>
          <a:xfrm>
            <a:off x="8109062" y="25481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595396" y="25375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056399" y="253758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644626" y="29495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109061" y="29439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590019" y="294390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056399" y="293755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644626" y="334605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107507" y="333968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551919" y="334585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046550" y="334921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600620" y="374454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076201" y="3750898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8558269" y="373828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9033850" y="373966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03" name="表格 102"/>
          <p:cNvGraphicFramePr>
            <a:graphicFrameLocks noGrp="1"/>
          </p:cNvGraphicFramePr>
          <p:nvPr/>
        </p:nvGraphicFramePr>
        <p:xfrm>
          <a:off x="9742354" y="2678420"/>
          <a:ext cx="460029" cy="1218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29">
                  <a:extLst>
                    <a:ext uri="{9D8B030D-6E8A-4147-A177-3AD203B41FA5}">
                      <a16:colId xmlns:a16="http://schemas.microsoft.com/office/drawing/2014/main" val="2136314205"/>
                    </a:ext>
                  </a:extLst>
                </a:gridCol>
              </a:tblGrid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111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22729"/>
                  </a:ext>
                </a:extLst>
              </a:tr>
              <a:tr h="406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08191"/>
                  </a:ext>
                </a:extLst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10202383" y="2266651"/>
          <a:ext cx="1426536" cy="163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12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475512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</a:tblGrid>
              <a:tr h="407532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40753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</a:tbl>
          </a:graphicData>
        </a:graphic>
      </p:graphicFrame>
      <p:sp>
        <p:nvSpPr>
          <p:cNvPr id="105" name="文本框 104"/>
          <p:cNvSpPr txBox="1"/>
          <p:nvPr/>
        </p:nvSpPr>
        <p:spPr>
          <a:xfrm>
            <a:off x="10431465" y="251593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0917799" y="25054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1378802" y="250541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9967029" y="2917415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431464" y="291173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0912422" y="2911734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1378802" y="29053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967029" y="331388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0429910" y="3307517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0874322" y="331369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1368953" y="3317042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923023" y="3712373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10398604" y="3718730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10880672" y="3706119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1356253" y="3707501"/>
            <a:ext cx="2870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501086" y="2765809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826616" y="3131355"/>
            <a:ext cx="28707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7879980" y="1897496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0163180" y="1883672"/>
            <a:ext cx="99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505776" y="3764103"/>
            <a:ext cx="5616045" cy="430887"/>
            <a:chOff x="1505776" y="3764103"/>
            <a:chExt cx="5616045" cy="430887"/>
          </a:xfrm>
        </p:grpSpPr>
        <p:sp>
          <p:nvSpPr>
            <p:cNvPr id="140" name="右箭头 139"/>
            <p:cNvSpPr/>
            <p:nvPr/>
          </p:nvSpPr>
          <p:spPr>
            <a:xfrm>
              <a:off x="1505776" y="3830677"/>
              <a:ext cx="575687" cy="2961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2081462" y="3764103"/>
              <a:ext cx="50403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结论：错误位于第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行、第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r>
                <a: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列（位置</a:t>
              </a:r>
              <a:r>
                <a:rPr kumimoji="0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581850" y="2964312"/>
            <a:ext cx="1529946" cy="2208305"/>
            <a:chOff x="7581850" y="2964312"/>
            <a:chExt cx="1529946" cy="2208305"/>
          </a:xfrm>
        </p:grpSpPr>
        <p:grpSp>
          <p:nvGrpSpPr>
            <p:cNvPr id="122" name="组合 121"/>
            <p:cNvGrpSpPr/>
            <p:nvPr/>
          </p:nvGrpSpPr>
          <p:grpSpPr>
            <a:xfrm>
              <a:off x="7896408" y="2964312"/>
              <a:ext cx="1215388" cy="2208305"/>
              <a:chOff x="1892787" y="3671763"/>
              <a:chExt cx="1215388" cy="2208305"/>
            </a:xfrm>
          </p:grpSpPr>
          <p:sp>
            <p:nvSpPr>
              <p:cNvPr id="123" name="文本框 122"/>
              <p:cNvSpPr txBox="1"/>
              <p:nvPr/>
            </p:nvSpPr>
            <p:spPr>
              <a:xfrm>
                <a:off x="1892787" y="5233737"/>
                <a:ext cx="12153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5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有错误</a:t>
                </a:r>
              </a:p>
            </p:txBody>
          </p:sp>
          <p:cxnSp>
            <p:nvCxnSpPr>
              <p:cNvPr id="126" name="直接连接符 125"/>
              <p:cNvCxnSpPr>
                <a:endCxn id="123" idx="0"/>
              </p:cNvCxnSpPr>
              <p:nvPr/>
            </p:nvCxnSpPr>
            <p:spPr>
              <a:xfrm>
                <a:off x="2108058" y="3671763"/>
                <a:ext cx="392423" cy="15619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>
                <a:endCxn id="123" idx="0"/>
              </p:cNvCxnSpPr>
              <p:nvPr/>
            </p:nvCxnSpPr>
            <p:spPr>
              <a:xfrm>
                <a:off x="2089008" y="4532943"/>
                <a:ext cx="411473" cy="70079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>
                <a:endCxn id="123" idx="0"/>
              </p:cNvCxnSpPr>
              <p:nvPr/>
            </p:nvCxnSpPr>
            <p:spPr>
              <a:xfrm flipH="1">
                <a:off x="2500481" y="4463363"/>
                <a:ext cx="539828" cy="7703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3" name="直接连接符 142"/>
            <p:cNvCxnSpPr>
              <a:endCxn id="123" idx="0"/>
            </p:cNvCxnSpPr>
            <p:nvPr/>
          </p:nvCxnSpPr>
          <p:spPr>
            <a:xfrm>
              <a:off x="7581850" y="3786053"/>
              <a:ext cx="922252" cy="7402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9923023" y="3408354"/>
            <a:ext cx="1534045" cy="1761446"/>
            <a:chOff x="9923023" y="3408354"/>
            <a:chExt cx="1534045" cy="1761446"/>
          </a:xfrm>
        </p:grpSpPr>
        <p:grpSp>
          <p:nvGrpSpPr>
            <p:cNvPr id="132" name="组合 131"/>
            <p:cNvGrpSpPr/>
            <p:nvPr/>
          </p:nvGrpSpPr>
          <p:grpSpPr>
            <a:xfrm>
              <a:off x="10241680" y="3411462"/>
              <a:ext cx="1215388" cy="1758338"/>
              <a:chOff x="1892787" y="4121730"/>
              <a:chExt cx="1215388" cy="1758338"/>
            </a:xfrm>
          </p:grpSpPr>
          <p:sp>
            <p:nvSpPr>
              <p:cNvPr id="133" name="文本框 132"/>
              <p:cNvSpPr txBox="1"/>
              <p:nvPr/>
            </p:nvSpPr>
            <p:spPr>
              <a:xfrm>
                <a:off x="1892787" y="5233737"/>
                <a:ext cx="12153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无错误</a:t>
                </a:r>
              </a:p>
            </p:txBody>
          </p:sp>
          <p:cxnSp>
            <p:nvCxnSpPr>
              <p:cNvPr id="134" name="直接连接符 133"/>
              <p:cNvCxnSpPr>
                <a:endCxn id="133" idx="0"/>
              </p:cNvCxnSpPr>
              <p:nvPr/>
            </p:nvCxnSpPr>
            <p:spPr>
              <a:xfrm>
                <a:off x="2120314" y="4121730"/>
                <a:ext cx="380167" cy="1112007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>
                <a:endCxn id="133" idx="0"/>
              </p:cNvCxnSpPr>
              <p:nvPr/>
            </p:nvCxnSpPr>
            <p:spPr>
              <a:xfrm>
                <a:off x="2089008" y="4532943"/>
                <a:ext cx="411473" cy="70079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>
                <a:endCxn id="133" idx="0"/>
              </p:cNvCxnSpPr>
              <p:nvPr/>
            </p:nvCxnSpPr>
            <p:spPr>
              <a:xfrm flipH="1">
                <a:off x="2500481" y="4463363"/>
                <a:ext cx="539828" cy="77037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9" name="直接连接符 138"/>
            <p:cNvCxnSpPr>
              <a:stCxn id="121" idx="2"/>
              <a:endCxn id="133" idx="0"/>
            </p:cNvCxnSpPr>
            <p:nvPr/>
          </p:nvCxnSpPr>
          <p:spPr>
            <a:xfrm>
              <a:off x="9970156" y="3408354"/>
              <a:ext cx="879218" cy="111511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>
              <a:stCxn id="116" idx="1"/>
              <a:endCxn id="133" idx="0"/>
            </p:cNvCxnSpPr>
            <p:nvPr/>
          </p:nvCxnSpPr>
          <p:spPr>
            <a:xfrm>
              <a:off x="9923023" y="3804706"/>
              <a:ext cx="926351" cy="71876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内容占位符 2"/>
          <p:cNvSpPr txBox="1">
            <a:spLocks/>
          </p:cNvSpPr>
          <p:nvPr/>
        </p:nvSpPr>
        <p:spPr>
          <a:xfrm>
            <a:off x="721895" y="2561509"/>
            <a:ext cx="6388200" cy="11515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例如：组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校验结果指明存在错误，组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校验结果指明无错误，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可定位错误位于第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8" name="内容占位符 2"/>
          <p:cNvSpPr txBox="1">
            <a:spLocks/>
          </p:cNvSpPr>
          <p:nvPr/>
        </p:nvSpPr>
        <p:spPr>
          <a:xfrm>
            <a:off x="733621" y="4466523"/>
            <a:ext cx="3403299" cy="615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其他出错情况判断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12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894" y="1453663"/>
            <a:ext cx="10473643" cy="1055076"/>
          </a:xfrm>
        </p:spPr>
        <p:txBody>
          <a:bodyPr>
            <a:noAutofit/>
          </a:bodyPr>
          <a:lstStyle/>
          <a:p>
            <a:pPr>
              <a:lnSpc>
                <a:spcPts val="3000"/>
              </a:lnSpc>
              <a:spcBef>
                <a:spcPts val="1200"/>
              </a:spcBef>
            </a:pPr>
            <a:r>
              <a:rPr kumimoji="1" lang="zh-CN" altLang="en-US" sz="2600" dirty="0"/>
              <a:t>定位错误与纠正（续）</a:t>
            </a:r>
            <a:endParaRPr kumimoji="1" lang="en-US" altLang="zh-CN" sz="2600" dirty="0"/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kumimoji="1" lang="zh-CN" altLang="en-US" sz="2200" dirty="0"/>
              <a:t>总体的定位错误列表</a:t>
            </a:r>
            <a:endParaRPr kumimoji="1" lang="en-US" altLang="zh-CN" sz="2200" dirty="0"/>
          </a:p>
          <a:p>
            <a:pPr marL="457200" lvl="1" indent="0">
              <a:lnSpc>
                <a:spcPts val="3000"/>
              </a:lnSpc>
              <a:buNone/>
            </a:pP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1307508" y="2656844"/>
          <a:ext cx="9126031" cy="262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671">
                  <a:extLst>
                    <a:ext uri="{9D8B030D-6E8A-4147-A177-3AD203B41FA5}">
                      <a16:colId xmlns:a16="http://schemas.microsoft.com/office/drawing/2014/main" val="1902036101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559130576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3004369747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4047528689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274628466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993839259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627099323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430151849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531679931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363720370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738521477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579245530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364452719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1148415329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566988405"/>
                    </a:ext>
                  </a:extLst>
                </a:gridCol>
                <a:gridCol w="523424">
                  <a:extLst>
                    <a:ext uri="{9D8B030D-6E8A-4147-A177-3AD203B41FA5}">
                      <a16:colId xmlns:a16="http://schemas.microsoft.com/office/drawing/2014/main" val="3201494842"/>
                    </a:ext>
                  </a:extLst>
                </a:gridCol>
              </a:tblGrid>
              <a:tr h="525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出错位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7000"/>
                  </a:ext>
                </a:extLst>
              </a:tr>
              <a:tr h="525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2387"/>
                  </a:ext>
                </a:extLst>
              </a:tr>
              <a:tr h="525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031242"/>
                  </a:ext>
                </a:extLst>
              </a:tr>
              <a:tr h="525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962773"/>
                  </a:ext>
                </a:extLst>
              </a:tr>
              <a:tr h="5254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3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184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海明码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83632"/>
            <a:ext cx="10515600" cy="4872789"/>
          </a:xfrm>
        </p:spPr>
        <p:txBody>
          <a:bodyPr>
            <a:noAutofit/>
          </a:bodyPr>
          <a:lstStyle/>
          <a:p>
            <a:pPr>
              <a:lnSpc>
                <a:spcPts val="3300"/>
              </a:lnSpc>
            </a:pPr>
            <a:r>
              <a:rPr lang="zh-CN" altLang="en-US" sz="2600" dirty="0">
                <a:sym typeface="Symbol" panose="05050102010706020507" pitchFamily="18" charset="2"/>
              </a:rPr>
              <a:t>海明码纠正的实现过程</a:t>
            </a:r>
          </a:p>
          <a:p>
            <a:pPr lvl="1">
              <a:lnSpc>
                <a:spcPts val="3300"/>
              </a:lnSpc>
            </a:pPr>
            <a:r>
              <a:rPr lang="zh-CN" altLang="en-US" sz="2200" dirty="0"/>
              <a:t>每个码字到来前，接收方计数器清零</a:t>
            </a:r>
          </a:p>
          <a:p>
            <a:pPr lvl="1">
              <a:lnSpc>
                <a:spcPts val="3300"/>
              </a:lnSpc>
            </a:pPr>
            <a:r>
              <a:rPr lang="zh-CN" altLang="en-US" sz="2200" dirty="0"/>
              <a:t>接收方检查每个校验位</a:t>
            </a:r>
            <a:r>
              <a:rPr lang="en-US" altLang="zh-CN" sz="2200" dirty="0"/>
              <a:t>k (k = 1, 2, 4 …)</a:t>
            </a:r>
            <a:r>
              <a:rPr lang="zh-CN" altLang="en-US" sz="2200" dirty="0"/>
              <a:t>的奇偶值是否正确（每组运算）</a:t>
            </a:r>
          </a:p>
          <a:p>
            <a:pPr lvl="1">
              <a:lnSpc>
                <a:spcPts val="3300"/>
              </a:lnSpc>
            </a:pPr>
            <a:r>
              <a:rPr lang="zh-CN" altLang="en-US" sz="2200" dirty="0"/>
              <a:t>若 </a:t>
            </a:r>
            <a:r>
              <a:rPr lang="en-US" altLang="zh-CN" sz="2200" dirty="0" err="1"/>
              <a:t>pk</a:t>
            </a:r>
            <a:r>
              <a:rPr lang="en-US" altLang="zh-CN" sz="2200" dirty="0"/>
              <a:t> </a:t>
            </a:r>
            <a:r>
              <a:rPr lang="zh-CN" altLang="en-US" sz="2200" dirty="0"/>
              <a:t>奇偶值不对，计数器加 </a:t>
            </a:r>
            <a:r>
              <a:rPr lang="en-US" altLang="zh-CN" sz="2200" dirty="0"/>
              <a:t>k</a:t>
            </a:r>
          </a:p>
          <a:p>
            <a:pPr lvl="1">
              <a:lnSpc>
                <a:spcPts val="3300"/>
              </a:lnSpc>
            </a:pPr>
            <a:r>
              <a:rPr lang="zh-CN" altLang="en-US" sz="2200" dirty="0"/>
              <a:t>所有校验位检查完后，若计数器值为</a:t>
            </a:r>
            <a:r>
              <a:rPr lang="en-US" altLang="zh-CN" sz="2200" dirty="0"/>
              <a:t>0</a:t>
            </a:r>
            <a:r>
              <a:rPr lang="zh-CN" altLang="en-US" sz="2200" dirty="0"/>
              <a:t>，则码字有效；若计数器值为 </a:t>
            </a:r>
            <a:r>
              <a:rPr lang="en-US" altLang="zh-CN" sz="2200" dirty="0"/>
              <a:t>j</a:t>
            </a:r>
            <a:r>
              <a:rPr lang="zh-CN" altLang="en-US" sz="2200" dirty="0"/>
              <a:t>，则第 </a:t>
            </a:r>
            <a:r>
              <a:rPr lang="en-US" altLang="zh-CN" sz="2200" dirty="0"/>
              <a:t>j </a:t>
            </a:r>
            <a:r>
              <a:rPr lang="zh-CN" altLang="en-US" sz="2200" dirty="0"/>
              <a:t>位出错。例：若校验位</a:t>
            </a:r>
            <a:r>
              <a:rPr lang="en-US" altLang="zh-CN" sz="2200" dirty="0"/>
              <a:t>p1</a:t>
            </a:r>
            <a:r>
              <a:rPr lang="zh-CN" altLang="en-US" sz="2200" dirty="0"/>
              <a:t>、</a:t>
            </a:r>
            <a:r>
              <a:rPr lang="en-US" altLang="zh-CN" sz="2200" dirty="0"/>
              <a:t>p2</a:t>
            </a:r>
            <a:r>
              <a:rPr lang="zh-CN" altLang="en-US" sz="2200" dirty="0"/>
              <a:t>、</a:t>
            </a:r>
            <a:r>
              <a:rPr lang="en-US" altLang="zh-CN" sz="2200" dirty="0"/>
              <a:t>p8</a:t>
            </a:r>
            <a:r>
              <a:rPr lang="zh-CN" altLang="en-US" sz="2200" dirty="0"/>
              <a:t>出错，则第</a:t>
            </a:r>
            <a:r>
              <a:rPr lang="en-US" altLang="zh-CN" sz="2200" dirty="0"/>
              <a:t>11</a:t>
            </a:r>
            <a:r>
              <a:rPr lang="zh-CN" altLang="en-US" sz="2200" dirty="0"/>
              <a:t>位变反</a:t>
            </a:r>
          </a:p>
          <a:p>
            <a:pPr>
              <a:lnSpc>
                <a:spcPts val="3300"/>
              </a:lnSpc>
              <a:spcBef>
                <a:spcPts val="1200"/>
              </a:spcBef>
            </a:pPr>
            <a:r>
              <a:rPr lang="zh-CN" altLang="en-US" sz="2600" dirty="0"/>
              <a:t>使用海明码纠正突发错误</a:t>
            </a:r>
          </a:p>
          <a:p>
            <a:pPr lvl="1">
              <a:lnSpc>
                <a:spcPts val="3300"/>
              </a:lnSpc>
            </a:pPr>
            <a:r>
              <a:rPr lang="zh-CN" altLang="en-US" sz="2200" dirty="0"/>
              <a:t>可采用</a:t>
            </a:r>
            <a:r>
              <a:rPr lang="en-US" altLang="zh-CN" sz="2200" dirty="0"/>
              <a:t>k</a:t>
            </a:r>
            <a:r>
              <a:rPr lang="zh-CN" altLang="en-US" sz="2200" dirty="0"/>
              <a:t>个码字（</a:t>
            </a:r>
            <a:r>
              <a:rPr lang="en-US" altLang="zh-CN" sz="2200" dirty="0"/>
              <a:t>n = m + r</a:t>
            </a:r>
            <a:r>
              <a:rPr lang="zh-CN" altLang="en-US" sz="2200" dirty="0"/>
              <a:t>）</a:t>
            </a:r>
            <a:r>
              <a:rPr lang="zh-CN" altLang="zh-CN" sz="2200" dirty="0"/>
              <a:t>组成</a:t>
            </a:r>
            <a:r>
              <a:rPr lang="zh-CN" altLang="en-US" sz="2200" dirty="0"/>
              <a:t> </a:t>
            </a:r>
            <a:r>
              <a:rPr lang="en-US" altLang="zh-CN" sz="2200" dirty="0"/>
              <a:t>k </a:t>
            </a:r>
            <a:r>
              <a:rPr lang="en-US" altLang="zh-CN" sz="2200" dirty="0">
                <a:sym typeface="Symbol" panose="05050102010706020507" pitchFamily="18" charset="2"/>
              </a:rPr>
              <a:t> n </a:t>
            </a:r>
            <a:r>
              <a:rPr lang="zh-CN" altLang="en-US" sz="2200" dirty="0">
                <a:sym typeface="Symbol" panose="05050102010706020507" pitchFamily="18" charset="2"/>
              </a:rPr>
              <a:t>矩阵，按列发送，接收方恢复成</a:t>
            </a:r>
            <a:r>
              <a:rPr lang="zh-CN" altLang="en-US" sz="2200" dirty="0"/>
              <a:t> </a:t>
            </a:r>
            <a:r>
              <a:rPr lang="en-US" altLang="zh-CN" sz="2200" dirty="0"/>
              <a:t>k </a:t>
            </a:r>
            <a:r>
              <a:rPr lang="en-US" altLang="zh-CN" sz="2200" dirty="0">
                <a:sym typeface="Symbol" panose="05050102010706020507" pitchFamily="18" charset="2"/>
              </a:rPr>
              <a:t> n </a:t>
            </a:r>
            <a:r>
              <a:rPr lang="zh-CN" altLang="en-US" sz="2200" dirty="0">
                <a:sym typeface="Symbol" panose="05050102010706020507" pitchFamily="18" charset="2"/>
              </a:rPr>
              <a:t>矩阵</a:t>
            </a:r>
          </a:p>
          <a:p>
            <a:pPr lvl="1">
              <a:lnSpc>
                <a:spcPts val="3300"/>
              </a:lnSpc>
            </a:pPr>
            <a:r>
              <a:rPr lang="en-US" altLang="zh-CN" sz="2200" dirty="0" err="1">
                <a:sym typeface="Symbol" panose="05050102010706020507" pitchFamily="18" charset="2"/>
              </a:rPr>
              <a:t>kr</a:t>
            </a:r>
            <a:r>
              <a:rPr lang="zh-CN" altLang="zh-CN" sz="2200" dirty="0">
                <a:sym typeface="Symbol" panose="05050102010706020507" pitchFamily="18" charset="2"/>
              </a:rPr>
              <a:t>个校验位，</a:t>
            </a:r>
            <a:r>
              <a:rPr lang="en-US" altLang="zh-CN" sz="2200" dirty="0">
                <a:sym typeface="Symbol" panose="05050102010706020507" pitchFamily="18" charset="2"/>
              </a:rPr>
              <a:t>km</a:t>
            </a:r>
            <a:r>
              <a:rPr lang="zh-CN" altLang="zh-CN" sz="2200" dirty="0">
                <a:sym typeface="Symbol" panose="05050102010706020507" pitchFamily="18" charset="2"/>
              </a:rPr>
              <a:t>个数据位，可纠正最多为</a:t>
            </a:r>
            <a:r>
              <a:rPr lang="en-US" altLang="zh-CN" sz="2200" dirty="0">
                <a:sym typeface="Symbol" panose="05050102010706020507" pitchFamily="18" charset="2"/>
              </a:rPr>
              <a:t>k</a:t>
            </a:r>
            <a:r>
              <a:rPr lang="zh-CN" altLang="zh-CN" sz="2200" dirty="0">
                <a:sym typeface="Symbol" panose="05050102010706020507" pitchFamily="18" charset="2"/>
              </a:rPr>
              <a:t>个的突发性连续比特错</a:t>
            </a:r>
            <a:endParaRPr lang="zh-CN" altLang="en-US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F35379-6DE8-43C5-A6FD-98ABA367A3B2}"/>
              </a:ext>
            </a:extLst>
          </p:cNvPr>
          <p:cNvSpPr txBox="1"/>
          <p:nvPr/>
        </p:nvSpPr>
        <p:spPr>
          <a:xfrm>
            <a:off x="1948837" y="6411392"/>
            <a:ext cx="825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引自：清华大学崔勇老师提供的讲稿</a:t>
            </a:r>
          </a:p>
        </p:txBody>
      </p:sp>
    </p:spTree>
    <p:extLst>
      <p:ext uri="{BB962C8B-B14F-4D97-AF65-F5344CB8AC3E}">
        <p14:creationId xmlns:p14="http://schemas.microsoft.com/office/powerpoint/2010/main" val="703530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/>
        </p:nvGrpSpPr>
        <p:grpSpPr>
          <a:xfrm>
            <a:off x="4234127" y="4120491"/>
            <a:ext cx="6390726" cy="2651277"/>
            <a:chOff x="5155095" y="3347897"/>
            <a:chExt cx="6390726" cy="2651277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5095" y="3347897"/>
              <a:ext cx="6056243" cy="242053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9399977" y="5691397"/>
              <a:ext cx="2145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charset="0"/>
                  <a:ea typeface="Microsoft YaHei" charset="0"/>
                  <a:cs typeface="Microsoft YaHei" charset="0"/>
                </a:rPr>
                <a:t>parity(n-k=2t symbols)</a:t>
              </a:r>
              <a:endPara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292340"/>
            <a:ext cx="10783957" cy="282815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rgbClr val="C00000"/>
                </a:solidFill>
              </a:rPr>
              <a:t>RS</a:t>
            </a:r>
            <a:r>
              <a:rPr kumimoji="1" lang="zh-CN" altLang="en-US" sz="2400" dirty="0">
                <a:solidFill>
                  <a:srgbClr val="C00000"/>
                </a:solidFill>
              </a:rPr>
              <a:t>码</a:t>
            </a:r>
            <a:r>
              <a:rPr kumimoji="1" lang="zh-CN" altLang="en-US" sz="2400" dirty="0"/>
              <a:t>：</a:t>
            </a:r>
            <a:r>
              <a:rPr kumimoji="1" lang="zh-CN" altLang="en-US" sz="2400" dirty="0">
                <a:solidFill>
                  <a:schemeClr val="accent1">
                    <a:lumMod val="75000"/>
                  </a:schemeClr>
                </a:solidFill>
              </a:rPr>
              <a:t>以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有限域运算为基础，提供多位纠错能力</a:t>
            </a:r>
            <a:endParaRPr kumimoji="1"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RS</a:t>
            </a:r>
            <a:r>
              <a:rPr kumimoji="1" lang="zh-CN" altLang="en-US" sz="2000" dirty="0"/>
              <a:t>会将需要编码的流数据重新排列为以</a:t>
            </a:r>
            <a:r>
              <a:rPr kumimoji="1" lang="en-US" altLang="zh-CN" sz="2000" dirty="0"/>
              <a:t>Symbol</a:t>
            </a:r>
            <a:r>
              <a:rPr kumimoji="1" lang="zh-CN" altLang="en-US" sz="2000" dirty="0"/>
              <a:t>为单位的数据块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m</a:t>
            </a:r>
            <a:r>
              <a:rPr kumimoji="1" lang="zh-CN" altLang="en-US" sz="2000" dirty="0"/>
              <a:t>表示符号的大小，如 </a:t>
            </a:r>
            <a:r>
              <a:rPr kumimoji="1" lang="en-US" altLang="zh-CN" sz="2000" dirty="0"/>
              <a:t>m=4</a:t>
            </a:r>
            <a:r>
              <a:rPr kumimoji="1" lang="zh-CN" altLang="en-US" sz="2000" dirty="0"/>
              <a:t> 表示每个符号由</a:t>
            </a:r>
            <a:r>
              <a:rPr kumimoji="1" lang="en-US" altLang="zh-CN" sz="2000" dirty="0"/>
              <a:t>4</a:t>
            </a:r>
            <a:r>
              <a:rPr kumimoji="1" lang="zh-CN" altLang="en-US" sz="2000" dirty="0"/>
              <a:t>位二进制数组成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对于一个</a:t>
            </a:r>
            <a:r>
              <a:rPr kumimoji="1" lang="en-US" altLang="zh-CN" sz="2000" dirty="0"/>
              <a:t>(n, k)RS</a:t>
            </a:r>
            <a:r>
              <a:rPr kumimoji="1" lang="zh-CN" altLang="en-US" sz="2000" dirty="0"/>
              <a:t>编码，</a:t>
            </a:r>
            <a:r>
              <a:rPr kumimoji="1" lang="en-US" altLang="zh-CN" sz="2000" dirty="0"/>
              <a:t>k</a:t>
            </a:r>
            <a:r>
              <a:rPr kumimoji="1" lang="zh-CN" altLang="en-US" sz="2000" dirty="0"/>
              <a:t>为原始数据符号数，</a:t>
            </a:r>
            <a:r>
              <a:rPr kumimoji="1" lang="en-US" altLang="zh-CN" sz="2000" dirty="0"/>
              <a:t>n-k</a:t>
            </a:r>
            <a:r>
              <a:rPr kumimoji="1" lang="zh-CN" altLang="en-US" sz="2000" dirty="0"/>
              <a:t>为校验符号数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n-k=2t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t</a:t>
            </a:r>
            <a:r>
              <a:rPr kumimoji="1" lang="zh-CN" altLang="en-US" sz="2000" dirty="0"/>
              <a:t>表示能够纠正的错误数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101649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292340"/>
            <a:ext cx="10783957" cy="47363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以</a:t>
            </a:r>
            <a:r>
              <a:rPr kumimoji="1" lang="en-US" altLang="zh-CN" sz="2600" dirty="0"/>
              <a:t>200/400GBASE-R</a:t>
            </a:r>
            <a:r>
              <a:rPr kumimoji="1" lang="zh-CN" altLang="en-US" sz="2600" dirty="0"/>
              <a:t>使用的</a:t>
            </a:r>
            <a:r>
              <a:rPr kumimoji="1" lang="en-US" altLang="zh-CN" sz="2600" dirty="0"/>
              <a:t>RS(544,514)</a:t>
            </a:r>
            <a:r>
              <a:rPr kumimoji="1" lang="zh-CN" altLang="en-US" sz="2600" dirty="0"/>
              <a:t>编码为例：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每个</a:t>
            </a:r>
            <a:r>
              <a:rPr kumimoji="1" lang="en-US" altLang="zh-CN" sz="2200" dirty="0"/>
              <a:t>Symbol</a:t>
            </a:r>
            <a:r>
              <a:rPr kumimoji="1" lang="zh-CN" altLang="en-US" sz="2200" dirty="0"/>
              <a:t>为</a:t>
            </a:r>
            <a:r>
              <a:rPr kumimoji="1" lang="en-US" altLang="zh-CN" sz="2200" dirty="0"/>
              <a:t>10</a:t>
            </a:r>
            <a:r>
              <a:rPr kumimoji="1" lang="zh-CN" altLang="en-US" sz="2200" dirty="0"/>
              <a:t>位二进制数 </a:t>
            </a:r>
            <a:r>
              <a:rPr kumimoji="1" lang="en-US" altLang="zh-CN" sz="2200" dirty="0"/>
              <a:t>(</a:t>
            </a:r>
            <a:r>
              <a:rPr kumimoji="1" lang="en-US" altLang="zh-CN" sz="2200" dirty="0">
                <a:solidFill>
                  <a:srgbClr val="C00000"/>
                </a:solidFill>
              </a:rPr>
              <a:t>m=10</a:t>
            </a:r>
            <a:r>
              <a:rPr kumimoji="1" lang="en-US" altLang="zh-CN" sz="2200" dirty="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原始需要保护的数据为</a:t>
            </a:r>
            <a:r>
              <a:rPr kumimoji="1" lang="en-US" altLang="zh-CN" sz="2200" dirty="0"/>
              <a:t>514</a:t>
            </a:r>
            <a:r>
              <a:rPr kumimoji="1" lang="zh-CN" altLang="en-US" sz="2200" dirty="0"/>
              <a:t>个</a:t>
            </a:r>
            <a:r>
              <a:rPr kumimoji="1" lang="en-US" altLang="zh-CN" sz="2200" dirty="0"/>
              <a:t>symbols (</a:t>
            </a:r>
            <a:r>
              <a:rPr kumimoji="1" lang="en-US" altLang="zh-CN" sz="2200" dirty="0">
                <a:solidFill>
                  <a:srgbClr val="C00000"/>
                </a:solidFill>
              </a:rPr>
              <a:t>k=514</a:t>
            </a:r>
            <a:r>
              <a:rPr kumimoji="1" lang="en-US" altLang="zh-CN" sz="2200" dirty="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校验数据为</a:t>
            </a:r>
            <a:r>
              <a:rPr kumimoji="1" lang="en-US" altLang="zh-CN" sz="2200" dirty="0"/>
              <a:t>30</a:t>
            </a:r>
            <a:r>
              <a:rPr kumimoji="1" lang="zh-CN" altLang="en-US" sz="2200" dirty="0"/>
              <a:t>个</a:t>
            </a:r>
            <a:r>
              <a:rPr kumimoji="1" lang="en-US" altLang="zh-CN" sz="2200" dirty="0"/>
              <a:t>symbols (</a:t>
            </a:r>
            <a:r>
              <a:rPr kumimoji="1" lang="en-US" altLang="zh-CN" sz="2200" dirty="0">
                <a:solidFill>
                  <a:srgbClr val="C00000"/>
                </a:solidFill>
              </a:rPr>
              <a:t>2t=30</a:t>
            </a:r>
            <a:r>
              <a:rPr kumimoji="1" lang="en-US" altLang="zh-CN" sz="2200" dirty="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最终完成的编码为</a:t>
            </a:r>
            <a:r>
              <a:rPr kumimoji="1" lang="en-US" altLang="zh-CN" sz="2200" dirty="0"/>
              <a:t>544</a:t>
            </a:r>
            <a:r>
              <a:rPr kumimoji="1" lang="zh-CN" altLang="en-US" sz="2200" dirty="0"/>
              <a:t>个</a:t>
            </a:r>
            <a:r>
              <a:rPr kumimoji="1" lang="en-US" altLang="zh-CN" sz="2200" dirty="0"/>
              <a:t>symbols (</a:t>
            </a:r>
            <a:r>
              <a:rPr kumimoji="1" lang="en-US" altLang="zh-CN" sz="2200" dirty="0">
                <a:solidFill>
                  <a:srgbClr val="C00000"/>
                </a:solidFill>
              </a:rPr>
              <a:t>n=544</a:t>
            </a:r>
            <a:r>
              <a:rPr kumimoji="1" lang="en-US" altLang="zh-CN" sz="2200" dirty="0"/>
              <a:t>)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可以纠正</a:t>
            </a:r>
            <a:r>
              <a:rPr kumimoji="1" lang="en-US" altLang="zh-CN" sz="2200" dirty="0"/>
              <a:t>15</a:t>
            </a:r>
            <a:r>
              <a:rPr kumimoji="1" lang="zh-CN" altLang="en-US" sz="2200" dirty="0"/>
              <a:t>个</a:t>
            </a:r>
            <a:r>
              <a:rPr kumimoji="1" lang="en-US" altLang="zh-CN" sz="2200" dirty="0"/>
              <a:t>symbols</a:t>
            </a:r>
            <a:r>
              <a:rPr kumimoji="1" lang="zh-CN" altLang="en-US" sz="2200" dirty="0"/>
              <a:t>的错误</a:t>
            </a: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</p:spTree>
    <p:extLst>
      <p:ext uri="{BB962C8B-B14F-4D97-AF65-F5344CB8AC3E}">
        <p14:creationId xmlns:p14="http://schemas.microsoft.com/office/powerpoint/2010/main" val="73521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292340"/>
            <a:ext cx="10783957" cy="47363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IEEE 802.3 119.2.4.6</a:t>
            </a:r>
            <a:r>
              <a:rPr lang="zh-CN" altLang="en-US" sz="2400" dirty="0"/>
              <a:t>中定义的</a:t>
            </a:r>
            <a:r>
              <a:rPr lang="en-US" altLang="zh-CN" sz="2400" dirty="0"/>
              <a:t>RS</a:t>
            </a:r>
            <a:r>
              <a:rPr lang="zh-CN" altLang="en-US" sz="2400" dirty="0"/>
              <a:t>编码算法</a:t>
            </a:r>
            <a:r>
              <a:rPr lang="en-US" altLang="zh-CN" sz="2400" dirty="0"/>
              <a:t>:</a:t>
            </a:r>
            <a:endParaRPr kumimoji="1" lang="en-US" altLang="zh-CN" sz="22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64" y="2089387"/>
            <a:ext cx="9206330" cy="4070641"/>
          </a:xfrm>
          <a:prstGeom prst="rect">
            <a:avLst/>
          </a:prstGeom>
        </p:spPr>
      </p:pic>
      <p:sp>
        <p:nvSpPr>
          <p:cNvPr id="11" name="框架 10"/>
          <p:cNvSpPr/>
          <p:nvPr/>
        </p:nvSpPr>
        <p:spPr>
          <a:xfrm>
            <a:off x="7153835" y="2041259"/>
            <a:ext cx="2151530" cy="903647"/>
          </a:xfrm>
          <a:prstGeom prst="frame">
            <a:avLst>
              <a:gd name="adj1" fmla="val 306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60186" y="16300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生成多项式</a:t>
            </a:r>
          </a:p>
        </p:txBody>
      </p:sp>
    </p:spTree>
    <p:extLst>
      <p:ext uri="{BB962C8B-B14F-4D97-AF65-F5344CB8AC3E}">
        <p14:creationId xmlns:p14="http://schemas.microsoft.com/office/powerpoint/2010/main" val="596392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6900" y="1230552"/>
            <a:ext cx="10984689" cy="474404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以 </a:t>
            </a:r>
            <a:r>
              <a:rPr kumimoji="1" lang="en-US" altLang="zh-CN" sz="2600" dirty="0"/>
              <a:t>(15, 11) RS</a:t>
            </a:r>
            <a:r>
              <a:rPr kumimoji="1" lang="zh-CN" altLang="en-US" sz="2600" dirty="0"/>
              <a:t>码为例，理解</a:t>
            </a:r>
            <a:r>
              <a:rPr kumimoji="1" lang="en-US" altLang="zh-CN" sz="2600" dirty="0">
                <a:solidFill>
                  <a:srgbClr val="C00000"/>
                </a:solidFill>
              </a:rPr>
              <a:t>RS</a:t>
            </a:r>
            <a:r>
              <a:rPr kumimoji="1" lang="zh-CN" altLang="en-US" sz="2600" dirty="0">
                <a:solidFill>
                  <a:srgbClr val="C00000"/>
                </a:solidFill>
              </a:rPr>
              <a:t>码</a:t>
            </a:r>
            <a:r>
              <a:rPr kumimoji="1" lang="zh-CN" altLang="en-US" sz="2600" dirty="0"/>
              <a:t>的编码过程</a:t>
            </a:r>
            <a:endParaRPr kumimoji="1" lang="en-US" altLang="zh-CN" sz="2600" dirty="0"/>
          </a:p>
          <a:p>
            <a:pPr lvl="1">
              <a:lnSpc>
                <a:spcPts val="3000"/>
              </a:lnSpc>
            </a:pPr>
            <a:r>
              <a:rPr kumimoji="1" lang="zh-CN" altLang="en-US" sz="2000" dirty="0"/>
              <a:t>每个</a:t>
            </a:r>
            <a:r>
              <a:rPr kumimoji="1" lang="en-US" altLang="zh-CN" sz="2000" dirty="0"/>
              <a:t>Symbol</a:t>
            </a:r>
            <a:r>
              <a:rPr kumimoji="1" lang="zh-CN" altLang="en-US" sz="2000" dirty="0"/>
              <a:t>为</a:t>
            </a:r>
            <a:r>
              <a:rPr kumimoji="1" lang="en-US" altLang="zh-CN" sz="2000" dirty="0"/>
              <a:t>4</a:t>
            </a:r>
            <a:r>
              <a:rPr kumimoji="1" lang="zh-CN" altLang="en-US" sz="2000" dirty="0"/>
              <a:t>位二进制数 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C00000"/>
                </a:solidFill>
              </a:rPr>
              <a:t>m=4</a:t>
            </a:r>
            <a:r>
              <a:rPr kumimoji="1" lang="zh-CN" altLang="en-US" sz="2000" dirty="0">
                <a:solidFill>
                  <a:srgbClr val="C00000"/>
                </a:solidFill>
              </a:rPr>
              <a:t>，相当一个</a:t>
            </a:r>
            <a:r>
              <a:rPr kumimoji="1" lang="en-US" altLang="zh-CN" sz="2000" dirty="0">
                <a:solidFill>
                  <a:srgbClr val="C00000"/>
                </a:solidFill>
              </a:rPr>
              <a:t>16</a:t>
            </a:r>
            <a:r>
              <a:rPr kumimoji="1" lang="zh-CN" altLang="en-US" sz="2000" dirty="0">
                <a:solidFill>
                  <a:srgbClr val="C00000"/>
                </a:solidFill>
              </a:rPr>
              <a:t>进制值</a:t>
            </a:r>
            <a:r>
              <a:rPr kumimoji="1" lang="en-US" altLang="zh-CN" sz="2000" dirty="0"/>
              <a:t>)</a:t>
            </a:r>
          </a:p>
          <a:p>
            <a:pPr lvl="1">
              <a:lnSpc>
                <a:spcPts val="3000"/>
              </a:lnSpc>
            </a:pP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原始数据为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11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个</a:t>
            </a:r>
            <a:r>
              <a:rPr kumimoji="1" lang="en-US" altLang="zh-CN" sz="2000" dirty="0"/>
              <a:t>Symbol (</a:t>
            </a:r>
            <a:r>
              <a:rPr kumimoji="1" lang="en-US" altLang="zh-CN" sz="2000" dirty="0">
                <a:solidFill>
                  <a:srgbClr val="C00000"/>
                </a:solidFill>
              </a:rPr>
              <a:t>k=11</a:t>
            </a:r>
            <a:r>
              <a:rPr kumimoji="1" lang="en-US" altLang="zh-CN" sz="2000" dirty="0"/>
              <a:t>) </a:t>
            </a:r>
            <a:r>
              <a:rPr kumimoji="1" lang="zh-CN" altLang="en-US" sz="2000" dirty="0"/>
              <a:t>，校验数据为</a:t>
            </a:r>
            <a:r>
              <a:rPr kumimoji="1" lang="en-US" altLang="zh-CN" sz="2000" dirty="0"/>
              <a:t>4</a:t>
            </a:r>
            <a:r>
              <a:rPr kumimoji="1" lang="zh-CN" altLang="en-US" sz="2000" dirty="0"/>
              <a:t>个</a:t>
            </a:r>
            <a:r>
              <a:rPr kumimoji="1" lang="en-US" altLang="zh-CN" sz="2000" dirty="0"/>
              <a:t>symbols (</a:t>
            </a:r>
            <a:r>
              <a:rPr kumimoji="1" lang="en-US" altLang="zh-CN" sz="2000" dirty="0">
                <a:solidFill>
                  <a:srgbClr val="C00000"/>
                </a:solidFill>
              </a:rPr>
              <a:t>2t=4</a:t>
            </a:r>
            <a:r>
              <a:rPr kumimoji="1" lang="en-US" altLang="zh-CN" sz="2000" dirty="0"/>
              <a:t>)</a:t>
            </a:r>
            <a:r>
              <a:rPr kumimoji="1" lang="zh-CN" altLang="en-US" sz="2000" dirty="0"/>
              <a:t>，</a:t>
            </a:r>
            <a:endParaRPr kumimoji="1" lang="en-US" altLang="zh-CN" sz="2000" dirty="0"/>
          </a:p>
          <a:p>
            <a:pPr lvl="1">
              <a:lnSpc>
                <a:spcPts val="3000"/>
              </a:lnSpc>
            </a:pPr>
            <a:r>
              <a:rPr kumimoji="1" lang="zh-CN" altLang="en-US" sz="2000" dirty="0"/>
              <a:t>完成的编码为</a:t>
            </a:r>
            <a:r>
              <a:rPr kumimoji="1" lang="en-US" altLang="zh-CN" sz="2000" dirty="0"/>
              <a:t>15</a:t>
            </a:r>
            <a:r>
              <a:rPr kumimoji="1" lang="zh-CN" altLang="en-US" sz="2000" dirty="0"/>
              <a:t>个</a:t>
            </a:r>
            <a:r>
              <a:rPr kumimoji="1" lang="en-US" altLang="zh-CN" sz="2000" dirty="0"/>
              <a:t>symbols (</a:t>
            </a:r>
            <a:r>
              <a:rPr kumimoji="1" lang="en-US" altLang="zh-CN" sz="2000" dirty="0">
                <a:solidFill>
                  <a:srgbClr val="C00000"/>
                </a:solidFill>
              </a:rPr>
              <a:t>n=15</a:t>
            </a:r>
            <a:r>
              <a:rPr kumimoji="1" lang="en-US" altLang="zh-CN" sz="2000" dirty="0"/>
              <a:t>)</a:t>
            </a:r>
          </a:p>
          <a:p>
            <a:pPr lvl="1">
              <a:lnSpc>
                <a:spcPts val="3000"/>
              </a:lnSpc>
            </a:pP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假设</a:t>
            </a: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原始数据为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[1, 2, 3, 4, 5, 6, 7, 8, 9, 10, 11]</a:t>
            </a: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（每个为一个symbol）</a:t>
            </a:r>
          </a:p>
          <a:p>
            <a:pPr lvl="1">
              <a:lnSpc>
                <a:spcPts val="3000"/>
              </a:lnSpc>
            </a:pP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后面补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4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个</a:t>
            </a: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0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，即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[1, 2, 3, 4, 5, 6, 7, 8, 9, 10,11, 0, 0, 0, 0]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，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 </a:t>
            </a: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并以多项式形式表示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除以生成多项式：                                                                         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</a:rPr>
              <a:t>=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lang="en-US" altLang="zh-CN" sz="20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</a:t>
            </a:r>
            <a:r>
              <a:rPr lang="en-US" altLang="zh-CN" sz="16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15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lang="en-US" altLang="zh-CN" sz="20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3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</a:t>
            </a:r>
            <a:r>
              <a:rPr lang="en-US" altLang="zh-CN" sz="16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3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lang="en-US" altLang="zh-CN" sz="20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+x+</a:t>
            </a:r>
            <a:r>
              <a:rPr lang="en-US" altLang="zh-CN" sz="16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12</a:t>
            </a:r>
          </a:p>
          <a:p>
            <a:pPr lvl="1">
              <a:lnSpc>
                <a:spcPct val="150000"/>
              </a:lnSpc>
              <a:spcBef>
                <a:spcPts val="1800"/>
              </a:spcBef>
            </a:pP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取最终余数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[3, 3, 12, 12]</a:t>
            </a: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加到补过0的原始数据中</a:t>
            </a:r>
            <a:endParaRPr lang="en-US" altLang="zh-CN" sz="200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生成最终编码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[1, 2, 3, 4, 5, 6, 7, 8, 9,10,11, </a:t>
            </a:r>
            <a:r>
              <a:rPr lang="en-US" altLang="zh-CN" sz="2000" dirty="0">
                <a:solidFill>
                  <a:srgbClr val="C00000"/>
                </a:solidFill>
                <a:latin typeface="Microsoft YaHei" charset="0"/>
                <a:ea typeface="Microsoft YaHei" charset="0"/>
                <a:cs typeface="Microsoft YaHei" charset="0"/>
              </a:rPr>
              <a:t>3, 3,12,12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]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，可以用多项式表达，记为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C(x)</a:t>
            </a:r>
            <a:endParaRPr lang="zh-CN" altLang="zh-CN" sz="200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CB4F98-63EC-4643-AE25-28211510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585" y="4083629"/>
            <a:ext cx="5543318" cy="87908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0E68815-35D1-4F83-9E4D-C3EF7C9E8D48}"/>
              </a:ext>
            </a:extLst>
          </p:cNvPr>
          <p:cNvSpPr/>
          <p:nvPr/>
        </p:nvSpPr>
        <p:spPr>
          <a:xfrm>
            <a:off x="2858146" y="6135069"/>
            <a:ext cx="8122404" cy="422680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325437" marR="0" lvl="1" indent="0" algn="l" defTabSz="914400" rtl="0" eaLnBrk="0" fontAlgn="base" latinLnBrk="0" hangingPunct="0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注意以上运算均为有限域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GF(2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)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中的运算，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本原多项式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为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kumimoji="0" lang="en-US" altLang="zh-CN" sz="2000" b="0" i="0" u="none" strike="noStrike" kern="1200" cap="none" spc="0" normalizeH="0" baseline="300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+x+1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6047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515600" cy="51423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dirty="0"/>
              <a:t>校验码的具体计算过程：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类似于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CRC</a:t>
            </a:r>
            <a:r>
              <a:rPr lang="zh-CN" altLang="en-US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校验码的生成过程</a:t>
            </a:r>
          </a:p>
          <a:p>
            <a:pPr lvl="1">
              <a:lnSpc>
                <a:spcPct val="150000"/>
              </a:lnSpc>
            </a:pPr>
            <a:r>
              <a:rPr lang="zh-CN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运算</a:t>
            </a:r>
            <a:r>
              <a:rPr lang="zh-CN" altLang="en-US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为</a:t>
            </a:r>
            <a:r>
              <a:rPr lang="zh-CN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有限域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GF(2</a:t>
            </a:r>
            <a:r>
              <a:rPr lang="en-US" altLang="zh-CN" sz="18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)</a:t>
            </a:r>
            <a:r>
              <a:rPr lang="zh-CN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中的运算</a:t>
            </a:r>
            <a:endParaRPr lang="zh-CN" altLang="en-US" sz="180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lvl="1">
              <a:lnSpc>
                <a:spcPct val="150000"/>
              </a:lnSpc>
            </a:pP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222ED2-46AD-4710-82C6-4FA5F4A0B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126" y="1355474"/>
            <a:ext cx="6197178" cy="534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43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5073"/>
                <a:ext cx="10515600" cy="502119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dirty="0"/>
                  <a:t>理解</a:t>
                </a:r>
                <a:r>
                  <a:rPr kumimoji="1" lang="en-US" altLang="zh-CN" sz="2400" dirty="0">
                    <a:solidFill>
                      <a:srgbClr val="C00000"/>
                    </a:solidFill>
                  </a:rPr>
                  <a:t>RS</a:t>
                </a:r>
                <a:r>
                  <a:rPr kumimoji="1" lang="zh-CN" altLang="en-US" sz="2400" dirty="0">
                    <a:solidFill>
                      <a:srgbClr val="C00000"/>
                    </a:solidFill>
                  </a:rPr>
                  <a:t>码</a:t>
                </a:r>
                <a:r>
                  <a:rPr kumimoji="1" lang="zh-CN" altLang="en-US" sz="2400" dirty="0"/>
                  <a:t>的解码过程</a:t>
                </a:r>
                <a:endParaRPr kumimoji="1" lang="en-US" altLang="zh-CN" sz="24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kumimoji="1" lang="zh-CN" altLang="en-US" sz="2000" dirty="0"/>
                  <a:t>根据编码的生成过程可知，若传输过程中没有任何错误，那么接收到的编码数据块去除生成多项式 </a:t>
                </a:r>
                <a:r>
                  <a:rPr kumimoji="1" lang="en-US" altLang="zh-CN" sz="2000" dirty="0"/>
                  <a:t>g(x) </a:t>
                </a:r>
                <a:r>
                  <a:rPr kumimoji="1" lang="zh-CN" altLang="en-US" sz="2000" dirty="0"/>
                  <a:t>是可以整除的，没有余数的，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kumimoji="1"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kumimoji="1"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kumimoji="1" lang="en-US" altLang="zh-CN" sz="2000" dirty="0"/>
              </a:p>
              <a:p>
                <a:pPr lvl="1">
                  <a:lnSpc>
                    <a:spcPct val="150000"/>
                  </a:lnSpc>
                </a:pPr>
                <a:endParaRPr kumimoji="1"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kumimoji="1" lang="zh-CN" altLang="en-US" sz="2000" dirty="0"/>
                  <a:t>如果传输过程中有错误，接收数据是原始编码数据叠加上错误数据，这时将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zh-CN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kumimoji="1" lang="en-US" altLang="zh-CN" sz="2000" dirty="0"/>
                  <a:t> </a:t>
                </a:r>
                <a:r>
                  <a:rPr kumimoji="1" lang="zh-CN" altLang="en-US" sz="2000" dirty="0"/>
                  <a:t>代入，结果不为</a:t>
                </a:r>
                <a:r>
                  <a:rPr kumimoji="1" lang="en-US" altLang="zh-CN" sz="2000" dirty="0"/>
                  <a:t>0</a:t>
                </a:r>
                <a:r>
                  <a:rPr kumimoji="1" lang="zh-CN" altLang="en-US" sz="2000" dirty="0"/>
                  <a:t>，这个结果被称作</a:t>
                </a:r>
                <a:r>
                  <a:rPr kumimoji="1" lang="zh-CN" altLang="en-US" sz="2000" dirty="0">
                    <a:solidFill>
                      <a:srgbClr val="C00000"/>
                    </a:solidFill>
                  </a:rPr>
                  <a:t>「</a:t>
                </a:r>
                <a:r>
                  <a:rPr kumimoji="1" lang="en-US" altLang="zh-CN" sz="2000" dirty="0">
                    <a:solidFill>
                      <a:srgbClr val="C00000"/>
                    </a:solidFill>
                  </a:rPr>
                  <a:t>Syndrome</a:t>
                </a:r>
                <a:r>
                  <a:rPr kumimoji="1" lang="zh-CN" altLang="en-US" sz="2000" dirty="0">
                    <a:solidFill>
                      <a:srgbClr val="C00000"/>
                    </a:solidFill>
                  </a:rPr>
                  <a:t>」</a:t>
                </a:r>
                <a:r>
                  <a:rPr kumimoji="1" lang="zh-CN" altLang="en-US" sz="2000" dirty="0"/>
                  <a:t>，该结果只与引入的错误有关，如果能获取错误出现的位置和值，就可以纠正错误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5073"/>
                <a:ext cx="10515600" cy="5021194"/>
              </a:xfrm>
              <a:blipFill>
                <a:blip r:embed="rId3"/>
                <a:stretch>
                  <a:fillRect l="-812" b="-3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E74A64D-AE1F-478D-ADF0-F322513CF664}"/>
              </a:ext>
            </a:extLst>
          </p:cNvPr>
          <p:cNvGrpSpPr/>
          <p:nvPr/>
        </p:nvGrpSpPr>
        <p:grpSpPr>
          <a:xfrm>
            <a:off x="1166403" y="2829196"/>
            <a:ext cx="10058395" cy="1812087"/>
            <a:chOff x="1066802" y="2513776"/>
            <a:chExt cx="10058395" cy="181208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802" y="2513776"/>
              <a:ext cx="10058395" cy="1812087"/>
            </a:xfrm>
            <a:prstGeom prst="rect">
              <a:avLst/>
            </a:prstGeom>
          </p:spPr>
        </p:pic>
        <p:sp>
          <p:nvSpPr>
            <p:cNvPr id="7" name="框架 6"/>
            <p:cNvSpPr/>
            <p:nvPr/>
          </p:nvSpPr>
          <p:spPr>
            <a:xfrm>
              <a:off x="2681847" y="3671888"/>
              <a:ext cx="3690378" cy="653975"/>
            </a:xfrm>
            <a:prstGeom prst="frame">
              <a:avLst>
                <a:gd name="adj1" fmla="val 3069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438975" y="381420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编码数据的多项式表示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5729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95E3D53-34D8-41E1-85C4-E4DAB335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681" y="2955680"/>
            <a:ext cx="5898572" cy="32945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5081" y="1155955"/>
            <a:ext cx="10919998" cy="19325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sz="2400" dirty="0">
                <a:latin typeface="Microsoft YaHei" charset="0"/>
                <a:ea typeface="Microsoft YaHei" charset="0"/>
                <a:cs typeface="Microsoft YaHei" charset="0"/>
              </a:rPr>
              <a:t>1</a:t>
            </a:r>
            <a:r>
              <a:rPr lang="zh-CN" altLang="en-US" sz="2400" dirty="0">
                <a:latin typeface="Microsoft YaHei" charset="0"/>
                <a:ea typeface="Microsoft YaHei" charset="0"/>
                <a:cs typeface="Microsoft YaHei" charset="0"/>
              </a:rPr>
              <a:t>步：根据收到的码字，</a:t>
            </a:r>
            <a:r>
              <a:rPr lang="zh-CN" altLang="en-US" sz="24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计算</a:t>
            </a:r>
            <a:r>
              <a:rPr lang="en-US" altLang="zh-CN" sz="2400" dirty="0">
                <a:solidFill>
                  <a:srgbClr val="C00000"/>
                </a:solidFill>
                <a:latin typeface="Microsoft YaHei" charset="0"/>
                <a:ea typeface="Microsoft YaHei" charset="0"/>
                <a:cs typeface="Microsoft YaHei" charset="0"/>
              </a:rPr>
              <a:t>Syndromes</a:t>
            </a:r>
            <a:r>
              <a:rPr lang="zh-CN" altLang="en-US" sz="24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值</a:t>
            </a:r>
          </a:p>
          <a:p>
            <a:pPr lvl="1"/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若计算出的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Syndromes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全为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0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，则判断码字没有发生错误，直接提取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message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 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symbols</a:t>
            </a:r>
            <a:endParaRPr lang="zh-CN" altLang="en-US" sz="200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若计算出的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Syndromes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不为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0</a:t>
            </a: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，则表示收到的码字发生了错误</a:t>
            </a:r>
          </a:p>
          <a:p>
            <a:pPr lvl="1">
              <a:spcBef>
                <a:spcPts val="1600"/>
              </a:spcBef>
            </a:pPr>
            <a:r>
              <a:rPr lang="zh-CN" altLang="en-US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本例中                                                                    </a:t>
            </a:r>
            <a:r>
              <a:rPr lang="en-US" altLang="zh-CN" sz="2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=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 x</a:t>
            </a:r>
            <a:r>
              <a:rPr lang="en-US" altLang="zh-CN" sz="18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</a:t>
            </a:r>
            <a:r>
              <a:rPr lang="en-US" altLang="zh-CN" sz="14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15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lang="en-US" altLang="zh-CN" sz="18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3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</a:t>
            </a:r>
            <a:r>
              <a:rPr lang="en-US" altLang="zh-CN" sz="14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3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lang="en-US" altLang="zh-CN" sz="1800" baseline="300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lang="en-US" altLang="zh-CN" sz="18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+x+</a:t>
            </a:r>
            <a:r>
              <a:rPr lang="en-US" altLang="zh-CN" sz="140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12</a:t>
            </a: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cxnSp>
        <p:nvCxnSpPr>
          <p:cNvPr id="11" name="直线箭头连接符 10"/>
          <p:cNvCxnSpPr/>
          <p:nvPr/>
        </p:nvCxnSpPr>
        <p:spPr>
          <a:xfrm flipH="1" flipV="1">
            <a:off x="4598396" y="5499097"/>
            <a:ext cx="3886522" cy="69155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 16"/>
          <p:cNvGrpSpPr/>
          <p:nvPr/>
        </p:nvGrpSpPr>
        <p:grpSpPr>
          <a:xfrm>
            <a:off x="1113355" y="3494064"/>
            <a:ext cx="4304787" cy="2555512"/>
            <a:chOff x="2134226" y="4203573"/>
            <a:chExt cx="4304787" cy="255551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2254" y="4203573"/>
              <a:ext cx="2889543" cy="2311634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2134226" y="6389753"/>
              <a:ext cx="4304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所有运算均为有限域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GF(2</a:t>
              </a:r>
              <a:r>
                <a:rPr kumimoji="1" lang="en-US" altLang="zh-CN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)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中的运算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7FBDE80A-400F-45EB-8980-30482972729B}"/>
              </a:ext>
            </a:extLst>
          </p:cNvPr>
          <p:cNvSpPr/>
          <p:nvPr/>
        </p:nvSpPr>
        <p:spPr>
          <a:xfrm>
            <a:off x="3212588" y="6352143"/>
            <a:ext cx="6026267" cy="36933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计算中使用的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parity check matrix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，与除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g(x)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效果相同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58EED1F-370F-4DEB-81C6-3C5847276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344" y="2501442"/>
            <a:ext cx="5085740" cy="8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2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661542" cy="4985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GF(2</a:t>
            </a:r>
            <a:r>
              <a:rPr lang="en-US" altLang="zh-CN" sz="1600" baseline="30000" dirty="0"/>
              <a:t>4</a:t>
            </a:r>
            <a:r>
              <a:rPr lang="en-US" altLang="zh-CN" sz="1600" dirty="0"/>
              <a:t>)</a:t>
            </a:r>
            <a:r>
              <a:rPr lang="zh-CN" altLang="en-US" sz="1600" dirty="0"/>
              <a:t>含有</a:t>
            </a:r>
            <a:r>
              <a:rPr lang="en-US" altLang="zh-CN" sz="1600" dirty="0"/>
              <a:t>16</a:t>
            </a:r>
            <a:r>
              <a:rPr lang="zh-CN" altLang="en-US" sz="1600" dirty="0"/>
              <a:t>个元素，本原多项式为</a:t>
            </a:r>
            <a:r>
              <a:rPr lang="en-US" altLang="zh-CN" sz="1600" dirty="0"/>
              <a:t>P(x)=x</a:t>
            </a:r>
            <a:r>
              <a:rPr lang="en-US" altLang="zh-CN" sz="1600" baseline="30000" dirty="0"/>
              <a:t>4</a:t>
            </a:r>
            <a:r>
              <a:rPr lang="en-US" altLang="zh-CN" sz="1600" dirty="0"/>
              <a:t>+x+1</a:t>
            </a:r>
            <a:r>
              <a:rPr lang="zh-CN" altLang="en-US" sz="1600" dirty="0"/>
              <a:t>，除了  </a:t>
            </a:r>
            <a:r>
              <a:rPr lang="en-US" altLang="zh-CN" sz="1600" dirty="0"/>
              <a:t>0</a:t>
            </a:r>
            <a:r>
              <a:rPr lang="zh-CN" altLang="en-US" sz="1600" dirty="0"/>
              <a:t> 、</a:t>
            </a:r>
            <a:r>
              <a:rPr lang="en-US" altLang="zh-CN" sz="1600" dirty="0"/>
              <a:t>1</a:t>
            </a:r>
            <a:r>
              <a:rPr lang="zh-CN" altLang="en-US" sz="1600" dirty="0"/>
              <a:t>外，另外</a:t>
            </a:r>
            <a:r>
              <a:rPr lang="en-US" altLang="zh-CN" sz="1600" dirty="0"/>
              <a:t>14</a:t>
            </a:r>
            <a:r>
              <a:rPr lang="zh-CN" altLang="en-US" sz="1600" dirty="0"/>
              <a:t>个符号均由本原多项式生成</a:t>
            </a:r>
            <a:r>
              <a:rPr kumimoji="1" lang="zh-CN" altLang="en-US" sz="1600" dirty="0"/>
              <a:t>：</a:t>
            </a:r>
          </a:p>
          <a:p>
            <a:pPr lvl="1"/>
            <a:endParaRPr lang="zh-CN" altLang="en-US" sz="1600" b="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kumimoji="1" lang="en-US" altLang="zh-CN" sz="16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307508" y="1905636"/>
          <a:ext cx="9479377" cy="42575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4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2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04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生成元素</a:t>
                      </a:r>
                      <a:endParaRPr lang="zh-CN" altLang="en-U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多项式表示</a:t>
                      </a:r>
                      <a:endParaRPr lang="zh-CN" altLang="en-U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>
                          <a:effectLst/>
                        </a:rPr>
                        <a:t>二进制表示</a:t>
                      </a:r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>
                          <a:effectLst/>
                        </a:rPr>
                        <a:t>数值表示</a:t>
                      </a:r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u="none" strike="noStrike" dirty="0">
                          <a:effectLst/>
                        </a:rPr>
                        <a:t>推导过程</a:t>
                      </a:r>
                      <a:endParaRPr lang="zh-CN" altLang="en-U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0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0000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x^0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x^0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0001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x^1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x^1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0010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2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 dirty="0">
                          <a:effectLst/>
                        </a:rPr>
                        <a:t>x^2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 dirty="0">
                          <a:effectLst/>
                        </a:rPr>
                        <a:t>x^2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0100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4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x^3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x^3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1000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8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x^4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0011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o-RO" sz="1400" u="none" strike="noStrike">
                          <a:effectLst/>
                        </a:rPr>
                        <a:t>x^3*x = x^4 mod P(x) = x+1</a:t>
                      </a:r>
                      <a:endParaRPr lang="ro-RO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x^5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 dirty="0">
                          <a:effectLst/>
                        </a:rPr>
                        <a:t>x^2+x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0110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>
                          <a:effectLst/>
                        </a:rPr>
                        <a:t>x^4*x = (x+1)*x = x^2+x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x^6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 dirty="0">
                          <a:effectLst/>
                        </a:rPr>
                        <a:t>x^3+x^2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1100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12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x^7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x^3+x+1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u="none" strike="noStrike">
                          <a:effectLst/>
                        </a:rPr>
                        <a:t>1011</a:t>
                      </a:r>
                      <a:endParaRPr lang="fi-FI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u="none" strike="noStrike" dirty="0">
                          <a:effectLst/>
                        </a:rPr>
                        <a:t>11</a:t>
                      </a:r>
                      <a:endParaRPr lang="cs-CZ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>
                          <a:effectLst/>
                        </a:rPr>
                        <a:t>x^6*x = (x^3+x^2)*x = x^4 +x^3 mod P(x) = x^3+x+1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x^8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x^2+1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u="none" strike="noStrike">
                          <a:effectLst/>
                        </a:rPr>
                        <a:t>0101</a:t>
                      </a:r>
                      <a:endParaRPr lang="fi-FI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5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x^9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x^3+x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u="none" strike="noStrike">
                          <a:effectLst/>
                        </a:rPr>
                        <a:t>1010</a:t>
                      </a:r>
                      <a:endParaRPr lang="fi-FI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x^10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x^2+x+1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u="none" strike="noStrike">
                          <a:effectLst/>
                        </a:rPr>
                        <a:t>0111</a:t>
                      </a:r>
                      <a:endParaRPr lang="cs-CZ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7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o-RO" sz="1400" u="none" strike="noStrike">
                          <a:effectLst/>
                        </a:rPr>
                        <a:t>x^9*x=(x^3+x)*x = x^4+x^2 mod P(x) = x^2+x+1</a:t>
                      </a:r>
                      <a:endParaRPr lang="ro-RO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cs-CZ" sz="1400" u="none" strike="noStrike">
                          <a:effectLst/>
                        </a:rPr>
                        <a:t>x^11</a:t>
                      </a:r>
                      <a:endParaRPr lang="cs-CZ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 dirty="0">
                          <a:effectLst/>
                        </a:rPr>
                        <a:t>x^3+x^2+x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u="none" strike="noStrike">
                          <a:effectLst/>
                        </a:rPr>
                        <a:t>1110</a:t>
                      </a:r>
                      <a:endParaRPr lang="cs-CZ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14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>
                          <a:effectLst/>
                        </a:rPr>
                        <a:t>x^12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x^3+x^2+x+1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u="none" strike="noStrike">
                          <a:effectLst/>
                        </a:rPr>
                        <a:t>1111</a:t>
                      </a:r>
                      <a:endParaRPr lang="cs-CZ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15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o-RO" sz="1400" u="none" strike="noStrike">
                          <a:effectLst/>
                        </a:rPr>
                        <a:t>x^11*x=(x^3+x^2+x)*x = x^4+x^3+x^2 mod P(x) = x^3+x^2+x+1</a:t>
                      </a:r>
                      <a:endParaRPr lang="ro-RO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is-IS" sz="1400" u="none" strike="noStrike">
                          <a:effectLst/>
                        </a:rPr>
                        <a:t>x^13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x^3+x^2+1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u="none" strike="noStrike">
                          <a:effectLst/>
                        </a:rPr>
                        <a:t>1101</a:t>
                      </a:r>
                      <a:endParaRPr lang="fi-FI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 dirty="0">
                          <a:effectLst/>
                        </a:rPr>
                        <a:t>13</a:t>
                      </a:r>
                      <a:endParaRPr lang="is-I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o-RO" sz="1400" u="none" strike="noStrike">
                          <a:effectLst/>
                        </a:rPr>
                        <a:t>x^12*x=(x^3+x^2+1  )*x = x^4+x^3+x mod P(x)= x^3+1</a:t>
                      </a:r>
                      <a:endParaRPr lang="ro-RO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x^14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400" u="none" strike="noStrike" dirty="0">
                          <a:effectLst/>
                        </a:rPr>
                        <a:t>x^3+1</a:t>
                      </a:r>
                      <a:endParaRPr lang="fi-FI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1001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9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x^13*x=(x^3+x^2+1)*x = x^4+x^3+x mod P(x) = x^3+1</a:t>
                      </a:r>
                      <a:endParaRPr lang="en-U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1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>
                          <a:effectLst/>
                        </a:rPr>
                        <a:t>x^15</a:t>
                      </a:r>
                      <a:endParaRPr lang="en-US" altLang="zh-CN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400" u="none" strike="noStrike">
                          <a:effectLst/>
                        </a:rPr>
                        <a:t>0001</a:t>
                      </a:r>
                      <a:endParaRPr lang="is-IS" sz="1400" b="0" i="0" u="none" strike="noStrike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x^14*x = (x^3+1)*x = x^4+x mod P(x) = 1</a:t>
                      </a:r>
                      <a:endParaRPr lang="en-US" sz="1400" b="0" i="0" u="none" strike="noStrike" dirty="0">
                        <a:solidFill>
                          <a:srgbClr val="4F4F4F"/>
                        </a:solidFill>
                        <a:effectLst/>
                        <a:latin typeface="Tahoma" charset="0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511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92340"/>
            <a:ext cx="10661542" cy="6047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GF(2</a:t>
            </a:r>
            <a:r>
              <a:rPr lang="en-US" altLang="zh-CN" sz="2400" baseline="30000" dirty="0"/>
              <a:t>4</a:t>
            </a:r>
            <a:r>
              <a:rPr lang="en-US" altLang="zh-CN" sz="2400" dirty="0"/>
              <a:t>)</a:t>
            </a:r>
            <a:r>
              <a:rPr kumimoji="1" lang="zh-CN" altLang="en-US" sz="2400" dirty="0"/>
              <a:t>的乘法表：</a:t>
            </a:r>
          </a:p>
          <a:p>
            <a:pPr lvl="1"/>
            <a:endParaRPr lang="zh-CN" altLang="en-US" sz="1800" b="0" dirty="0">
              <a:solidFill>
                <a:srgbClr val="121212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06259" y="1945223"/>
          <a:ext cx="6077568" cy="4514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98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82126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12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070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775" y="2090944"/>
            <a:ext cx="6332149" cy="42654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04627" y="1244212"/>
                <a:ext cx="5591373" cy="524866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200" dirty="0">
                    <a:latin typeface="Microsoft YaHei" charset="0"/>
                    <a:ea typeface="Microsoft YaHei" charset="0"/>
                    <a:cs typeface="Microsoft YaHei" charset="0"/>
                  </a:rPr>
                  <a:t>第</a:t>
                </a:r>
                <a:r>
                  <a:rPr lang="en-US" altLang="zh-CN" sz="2200" dirty="0">
                    <a:latin typeface="Microsoft YaHei" charset="0"/>
                    <a:ea typeface="Microsoft YaHei" charset="0"/>
                    <a:cs typeface="Microsoft YaHei" charset="0"/>
                  </a:rPr>
                  <a:t>2</a:t>
                </a:r>
                <a:r>
                  <a:rPr lang="zh-CN" altLang="en-US" sz="2200" dirty="0">
                    <a:latin typeface="Microsoft YaHei" charset="0"/>
                    <a:ea typeface="Microsoft YaHei" charset="0"/>
                    <a:cs typeface="Microsoft YaHei" charset="0"/>
                  </a:rPr>
                  <a:t>步：定位错误的位置和值</a:t>
                </a:r>
              </a:p>
              <a:p>
                <a:pPr lvl="1">
                  <a:lnSpc>
                    <a:spcPts val="2600"/>
                  </a:lnSpc>
                </a:pPr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如果传输过程中有错，则接收数据就是原始数据叠加上错误数据，即</a:t>
                </a:r>
              </a:p>
              <a:p>
                <a:pPr marL="457200" lvl="1" indent="0">
                  <a:lnSpc>
                    <a:spcPts val="2800"/>
                  </a:lnSpc>
                  <a:buNone/>
                </a:pPr>
                <a:r>
                  <a:rPr kumimoji="1" lang="en-US" altLang="zh-CN" sz="1800" b="1" dirty="0"/>
                  <a:t>    </a:t>
                </a:r>
                <a14:m>
                  <m:oMath xmlns:m="http://schemas.openxmlformats.org/officeDocument/2006/math"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16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p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e>
                    </m:d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16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p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e>
                    </m:d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16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p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e>
                    </m:d>
                    <m:r>
                      <a:rPr kumimoji="1" lang="en-US" altLang="zh-CN" sz="1600" b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1600" b="1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zh-CN" altLang="en-US" sz="16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p>
                            <m:r>
                              <a:rPr kumimoji="1" lang="en-US" altLang="zh-CN" sz="1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e>
                    </m:d>
                    <m:r>
                      <a:rPr kumimoji="1"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1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1600" b="1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800"/>
                  </a:lnSpc>
                </a:pPr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假设有</a:t>
                </a:r>
                <a14:m>
                  <m:oMath xmlns:m="http://schemas.openxmlformats.org/officeDocument/2006/math">
                    <m:r>
                      <a:rPr lang="en-US" altLang="zh-CN" sz="1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0"/>
                        <a:cs typeface="Microsoft YaHei" charset="0"/>
                      </a:rPr>
                      <m:t>𝒗</m:t>
                    </m:r>
                    <m:r>
                      <a:rPr lang="en-US" altLang="zh-CN" sz="1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Microsoft YaHei" charset="0"/>
                        <a:cs typeface="Microsoft YaHei" charset="0"/>
                      </a:rPr>
                      <m:t> </m:t>
                    </m:r>
                  </m:oMath>
                </a14:m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个错误，则</a:t>
                </a:r>
                <a:r>
                  <a:rPr lang="en-US" altLang="zh-CN" sz="1800" dirty="0">
                    <a:latin typeface="Microsoft YaHei" charset="0"/>
                    <a:ea typeface="Microsoft YaHei" charset="0"/>
                    <a:cs typeface="Microsoft YaHei" charset="0"/>
                  </a:rPr>
                  <a:t>syndrome</a:t>
                </a:r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可以重写为：</a:t>
                </a: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800"/>
                  </a:lnSpc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800"/>
                  </a:lnSpc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800"/>
                  </a:lnSpc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300"/>
                  </a:lnSpc>
                  <a:spcBef>
                    <a:spcPts val="0"/>
                  </a:spcBef>
                </a:pPr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定义一个多项式</a:t>
                </a: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600"/>
                  </a:lnSpc>
                  <a:spcBef>
                    <a:spcPts val="0"/>
                  </a:spcBef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600"/>
                  </a:lnSpc>
                  <a:spcBef>
                    <a:spcPts val="0"/>
                  </a:spcBef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600"/>
                  </a:lnSpc>
                  <a:spcBef>
                    <a:spcPts val="0"/>
                  </a:spcBef>
                </a:pP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1300"/>
                  </a:lnSpc>
                  <a:spcBef>
                    <a:spcPts val="0"/>
                  </a:spcBef>
                </a:pPr>
                <a:r>
                  <a:rPr lang="zh-CN" altLang="en-US" sz="1800" dirty="0">
                    <a:latin typeface="Microsoft YaHei" charset="0"/>
                    <a:ea typeface="Microsoft YaHei" charset="0"/>
                    <a:cs typeface="Microsoft YaHei" charset="0"/>
                  </a:rPr>
                  <a:t>得到：</a:t>
                </a:r>
                <a:endParaRPr lang="en-US" altLang="zh-CN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>
                  <a:lnSpc>
                    <a:spcPts val="2800"/>
                  </a:lnSpc>
                </a:pPr>
                <a:endParaRPr lang="zh-CN" altLang="en-US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marL="457200" lvl="1" indent="0">
                  <a:buNone/>
                </a:pPr>
                <a:r>
                  <a:rPr lang="en-US" altLang="zh-CN" sz="1800" dirty="0">
                    <a:ea typeface="Microsoft YaHei" charset="0"/>
                    <a:cs typeface="Microsoft YaHei" charset="0"/>
                  </a:rPr>
                  <a:t>    </a:t>
                </a:r>
                <a:endParaRPr lang="zh-CN" altLang="en-US" sz="1800" baseline="-250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marL="457200" lvl="1" indent="0">
                  <a:buNone/>
                </a:pPr>
                <a:endParaRPr lang="zh-CN" altLang="en-US" sz="1800" dirty="0"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lvl="1"/>
                <a:endParaRPr lang="zh-CN" altLang="en-US" sz="1800" b="0" dirty="0">
                  <a:solidFill>
                    <a:srgbClr val="121212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kumimoji="1"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627" y="1244212"/>
                <a:ext cx="5591373" cy="5248662"/>
              </a:xfrm>
              <a:blipFill>
                <a:blip r:embed="rId4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233056" y="643472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红色箭头为运算主线</a:t>
            </a:r>
          </a:p>
        </p:txBody>
      </p:sp>
      <p:sp>
        <p:nvSpPr>
          <p:cNvPr id="14" name="矩形 13"/>
          <p:cNvSpPr/>
          <p:nvPr/>
        </p:nvSpPr>
        <p:spPr>
          <a:xfrm>
            <a:off x="5835775" y="142054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本例中，有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个校验符号，因此能纠正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个错误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其中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X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表示错误的位置，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Y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Y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7A2D3"/>
                </a:solidFill>
                <a:effectLst/>
                <a:uLnTx/>
                <a:uFillTx/>
                <a:latin typeface="Microsoft YaHei" charset="0"/>
                <a:ea typeface="Microsoft YaHei" charset="0"/>
                <a:cs typeface="Microsoft YaHei" charset="0"/>
              </a:rPr>
              <a:t>表示错误的值</a:t>
            </a:r>
          </a:p>
        </p:txBody>
      </p:sp>
      <p:sp>
        <p:nvSpPr>
          <p:cNvPr id="10" name="幻灯片编号占位符 3">
            <a:extLst>
              <a:ext uri="{FF2B5EF4-FFF2-40B4-BE49-F238E27FC236}">
                <a16:creationId xmlns:a16="http://schemas.microsoft.com/office/drawing/2014/main" id="{EA6F3AC2-2072-434A-BC46-D6635CCC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A11B107-AE82-483B-A82A-E97416B46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887" y="5031852"/>
            <a:ext cx="4040238" cy="64222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EF461B3-3521-4C5D-ADC9-47A0592FA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887" y="3429000"/>
            <a:ext cx="4152576" cy="123896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0E1865D-30BC-4B14-8D17-1A9D89713C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0386" y="5886706"/>
            <a:ext cx="3252480" cy="30250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684A226-67AE-43C4-BDE9-45A88989CF52}"/>
              </a:ext>
            </a:extLst>
          </p:cNvPr>
          <p:cNvSpPr/>
          <p:nvPr/>
        </p:nvSpPr>
        <p:spPr>
          <a:xfrm>
            <a:off x="2986489" y="6434725"/>
            <a:ext cx="5057795" cy="36933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错误位置的定位为位置2和位置9，错误值为4和6</a:t>
            </a:r>
          </a:p>
        </p:txBody>
      </p:sp>
    </p:spTree>
    <p:extLst>
      <p:ext uri="{BB962C8B-B14F-4D97-AF65-F5344CB8AC3E}">
        <p14:creationId xmlns:p14="http://schemas.microsoft.com/office/powerpoint/2010/main" val="7733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典型纠错码</a:t>
            </a:r>
            <a:r>
              <a:rPr kumimoji="1" lang="en-US" altLang="zh-CN" sz="3200" dirty="0"/>
              <a:t>—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Reed-Solomon</a:t>
            </a:r>
            <a:r>
              <a:rPr kumimoji="1" lang="zh-CN" altLang="en-US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en-US" altLang="zh-CN" sz="3200" dirty="0">
                <a:solidFill>
                  <a:schemeClr val="accent1">
                    <a:lumMod val="75000"/>
                  </a:schemeClr>
                </a:solidFill>
              </a:rPr>
              <a:t>code</a:t>
            </a:r>
            <a:endParaRPr kumimoji="1"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8168" y="1245457"/>
            <a:ext cx="10661542" cy="34811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Microsoft YaHei" charset="0"/>
                <a:ea typeface="Microsoft YaHei" charset="0"/>
                <a:cs typeface="Microsoft YaHei" charset="0"/>
              </a:rPr>
              <a:t>第</a:t>
            </a:r>
            <a:r>
              <a:rPr lang="en-US" altLang="zh-CN" sz="2400" dirty="0">
                <a:latin typeface="Microsoft YaHei" charset="0"/>
                <a:ea typeface="Microsoft YaHei" charset="0"/>
                <a:cs typeface="Microsoft YaHei" charset="0"/>
              </a:rPr>
              <a:t>3</a:t>
            </a:r>
            <a:r>
              <a:rPr lang="zh-CN" altLang="en-US" sz="2400" dirty="0">
                <a:latin typeface="Microsoft YaHei" charset="0"/>
                <a:ea typeface="Microsoft YaHei" charset="0"/>
                <a:cs typeface="Microsoft YaHei" charset="0"/>
              </a:rPr>
              <a:t>步：恢复原始信息</a:t>
            </a:r>
          </a:p>
          <a:p>
            <a:pPr lvl="1">
              <a:lnSpc>
                <a:spcPts val="2800"/>
              </a:lnSpc>
            </a:pPr>
            <a:r>
              <a:rPr lang="zh-CN" altLang="en-US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将错误信息</a:t>
            </a:r>
            <a:r>
              <a:rPr lang="en-US" altLang="zh-CN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E(x)</a:t>
            </a:r>
            <a:r>
              <a:rPr lang="zh-CN" altLang="en-US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加到接收消息</a:t>
            </a:r>
            <a:r>
              <a:rPr lang="en-US" altLang="zh-CN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R(x)</a:t>
            </a:r>
            <a:r>
              <a:rPr lang="zh-CN" altLang="en-US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上，即可纠正错误信息</a:t>
            </a:r>
          </a:p>
          <a:p>
            <a:pPr lvl="1">
              <a:lnSpc>
                <a:spcPts val="2800"/>
              </a:lnSpc>
            </a:pPr>
            <a:r>
              <a:rPr lang="zh-CN" altLang="en-US" sz="2000" b="0" dirty="0">
                <a:solidFill>
                  <a:srgbClr val="121212"/>
                </a:solidFill>
                <a:latin typeface="Microsoft YaHei" charset="0"/>
                <a:ea typeface="Microsoft YaHei" charset="0"/>
                <a:cs typeface="Microsoft YaHei" charset="0"/>
              </a:rPr>
              <a:t>删除冗余信息，即可恢复原始数据</a:t>
            </a:r>
          </a:p>
          <a:p>
            <a:pPr marL="457200" lvl="1" indent="0">
              <a:lnSpc>
                <a:spcPct val="150000"/>
              </a:lnSpc>
              <a:buNone/>
            </a:pP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2CC463-A981-4E7E-8F03-FAA795786BD7}"/>
              </a:ext>
            </a:extLst>
          </p:cNvPr>
          <p:cNvSpPr txBox="1"/>
          <p:nvPr/>
        </p:nvSpPr>
        <p:spPr>
          <a:xfrm>
            <a:off x="102036" y="6434725"/>
            <a:ext cx="300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差错检测和纠正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CA24598-BD61-40A6-94D0-42D4D22A22AB}"/>
              </a:ext>
            </a:extLst>
          </p:cNvPr>
          <p:cNvGrpSpPr/>
          <p:nvPr/>
        </p:nvGrpSpPr>
        <p:grpSpPr>
          <a:xfrm>
            <a:off x="1512753" y="2873967"/>
            <a:ext cx="9166493" cy="3278191"/>
            <a:chOff x="1512753" y="3077089"/>
            <a:chExt cx="9166493" cy="327819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1E217D2-037F-4BD4-B381-0E585BEDE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2753" y="3077089"/>
              <a:ext cx="9166493" cy="3133869"/>
            </a:xfrm>
            <a:prstGeom prst="rect">
              <a:avLst/>
            </a:prstGeom>
          </p:spPr>
        </p:pic>
        <p:sp>
          <p:nvSpPr>
            <p:cNvPr id="7" name="框架 6"/>
            <p:cNvSpPr/>
            <p:nvPr/>
          </p:nvSpPr>
          <p:spPr>
            <a:xfrm>
              <a:off x="3108175" y="5778430"/>
              <a:ext cx="3749825" cy="576850"/>
            </a:xfrm>
            <a:prstGeom prst="frame">
              <a:avLst>
                <a:gd name="adj1" fmla="val 259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465412" y="5841005"/>
              <a:ext cx="18780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icrosoft YaHei" charset="0"/>
                  <a:ea typeface="Microsoft YaHei" charset="0"/>
                  <a:cs typeface="Microsoft YaHei" charset="0"/>
                </a:rPr>
                <a:t>原始数据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565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621793" y="1837430"/>
            <a:ext cx="10838687" cy="296055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621794" y="826983"/>
            <a:ext cx="10838687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056936" y="782701"/>
            <a:ext cx="2064988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 eaLnBrk="0" hangingPunct="0"/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差错检测</a:t>
            </a:r>
            <a:endParaRPr lang="fr-FR" altLang="zh-CN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457795" y="2166376"/>
          <a:ext cx="3715112" cy="44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57795" y="3533289"/>
          <a:ext cx="3715112" cy="44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43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2423848" y="4170748"/>
            <a:ext cx="1555234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一位比特错</a:t>
            </a:r>
            <a:endParaRPr kumimoji="1" lang="en-US" altLang="zh-CN" sz="2133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638924" y="2161248"/>
          <a:ext cx="5559552" cy="44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5638924" y="3550692"/>
          <a:ext cx="5559552" cy="44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32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rgbClr val="C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rgbClr val="C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  <a:endParaRPr lang="zh-CN" altLang="en-US" sz="21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接箭头连接符 27"/>
          <p:cNvCxnSpPr/>
          <p:nvPr/>
        </p:nvCxnSpPr>
        <p:spPr>
          <a:xfrm>
            <a:off x="7259525" y="2759777"/>
            <a:ext cx="0" cy="7091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699040" y="2759777"/>
            <a:ext cx="0" cy="7091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9552393" y="2759777"/>
            <a:ext cx="0" cy="7091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7513539" y="4170748"/>
            <a:ext cx="1555234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多位比特错</a:t>
            </a:r>
            <a:endParaRPr kumimoji="1" lang="en-US" altLang="zh-CN" sz="2133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646566" y="2189470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defTabSz="1219170"/>
            <a:r>
              <a:rPr kumimoji="1"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发送方</a:t>
            </a:r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655526" y="3562748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defTabSz="1219170"/>
            <a:r>
              <a:rPr kumimoji="1"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接收方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3076420" y="2759777"/>
            <a:ext cx="0" cy="7091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621795" y="1294671"/>
            <a:ext cx="10838685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eaLnBrk="0" hangingPunct="0">
              <a:buClr>
                <a:srgbClr val="0070C0"/>
              </a:buClr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在传输过程中可能会产生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比特差错：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 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0 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1807187" y="4879714"/>
            <a:ext cx="8645237" cy="8837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219170">
              <a:lnSpc>
                <a:spcPts val="32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在一段时间内，传输错误的比特占所传输比特总数的比率称为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误码率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 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(Bit Error Rate)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3380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621793" y="1514636"/>
            <a:ext cx="5808036" cy="397017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621793" y="831949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1447" y="763436"/>
            <a:ext cx="851925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循环冗余检验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(Cyclic Redundancy Check)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143343" y="2063000"/>
            <a:ext cx="3110523" cy="399597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原始数据</a:t>
            </a:r>
          </a:p>
        </p:txBody>
      </p:sp>
      <p:sp>
        <p:nvSpPr>
          <p:cNvPr id="7" name="矩形 6"/>
          <p:cNvSpPr/>
          <p:nvPr/>
        </p:nvSpPr>
        <p:spPr>
          <a:xfrm>
            <a:off x="4253862" y="2063000"/>
            <a:ext cx="1578711" cy="399597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冗余码</a:t>
            </a:r>
            <a:endParaRPr lang="zh-CN" altLang="en-US" sz="18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43343" y="3297832"/>
            <a:ext cx="4689229" cy="39959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</a:p>
        </p:txBody>
      </p:sp>
      <p:sp>
        <p:nvSpPr>
          <p:cNvPr id="11" name="矩形 10"/>
          <p:cNvSpPr/>
          <p:nvPr/>
        </p:nvSpPr>
        <p:spPr>
          <a:xfrm>
            <a:off x="2513574" y="1696719"/>
            <a:ext cx="636713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12" name="矩形 11"/>
          <p:cNvSpPr/>
          <p:nvPr/>
        </p:nvSpPr>
        <p:spPr>
          <a:xfrm>
            <a:off x="4663741" y="1696719"/>
            <a:ext cx="649537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sp>
        <p:nvSpPr>
          <p:cNvPr id="14" name="下箭头 13"/>
          <p:cNvSpPr/>
          <p:nvPr/>
        </p:nvSpPr>
        <p:spPr>
          <a:xfrm>
            <a:off x="3253495" y="2603278"/>
            <a:ext cx="278373" cy="547077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93077" y="3696346"/>
            <a:ext cx="1293916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+ </a:t>
            </a:r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4253865" y="3297832"/>
            <a:ext cx="0" cy="3995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下箭头 17"/>
          <p:cNvSpPr/>
          <p:nvPr/>
        </p:nvSpPr>
        <p:spPr>
          <a:xfrm>
            <a:off x="3253495" y="4128200"/>
            <a:ext cx="278373" cy="547077"/>
          </a:xfrm>
          <a:prstGeom prst="downArrow">
            <a:avLst/>
          </a:prstGeom>
          <a:solidFill>
            <a:srgbClr val="00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672389" y="4830490"/>
            <a:ext cx="1453188" cy="369332"/>
          </a:xfrm>
          <a:prstGeom prst="roundRect">
            <a:avLst/>
          </a:prstGeom>
          <a:solidFill>
            <a:srgbClr val="CC00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组帧发送</a:t>
            </a:r>
          </a:p>
        </p:txBody>
      </p:sp>
      <p:sp>
        <p:nvSpPr>
          <p:cNvPr id="4" name="矩形 3"/>
          <p:cNvSpPr/>
          <p:nvPr/>
        </p:nvSpPr>
        <p:spPr>
          <a:xfrm>
            <a:off x="6564836" y="1543506"/>
            <a:ext cx="4836001" cy="34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在发送端，先把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数据划分为组。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假定每组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个比特。 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在每组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后面再添加供差错检测用的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冗余码，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然后构成一个帧发送出去。一共发送 </a:t>
            </a:r>
            <a:r>
              <a:rPr lang="en-US" altLang="zh-CN" sz="2667" b="1" i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(k + n)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位。</a:t>
            </a:r>
          </a:p>
        </p:txBody>
      </p:sp>
    </p:spTree>
    <p:extLst>
      <p:ext uri="{BB962C8B-B14F-4D97-AF65-F5344CB8AC3E}">
        <p14:creationId xmlns:p14="http://schemas.microsoft.com/office/powerpoint/2010/main" val="378093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AutoShape 5"/>
          <p:cNvSpPr>
            <a:spLocks noChangeArrowheads="1"/>
          </p:cNvSpPr>
          <p:nvPr/>
        </p:nvSpPr>
        <p:spPr bwMode="auto">
          <a:xfrm>
            <a:off x="621793" y="828167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21447" y="759655"/>
            <a:ext cx="303236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冗余码的计算</a:t>
            </a:r>
          </a:p>
        </p:txBody>
      </p:sp>
      <p:sp>
        <p:nvSpPr>
          <p:cNvPr id="22" name="矩形 21"/>
          <p:cNvSpPr/>
          <p:nvPr/>
        </p:nvSpPr>
        <p:spPr>
          <a:xfrm>
            <a:off x="4574255" y="2932531"/>
            <a:ext cx="1917595" cy="399597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原始数据</a:t>
            </a:r>
          </a:p>
        </p:txBody>
      </p:sp>
      <p:sp>
        <p:nvSpPr>
          <p:cNvPr id="23" name="矩形 22"/>
          <p:cNvSpPr/>
          <p:nvPr/>
        </p:nvSpPr>
        <p:spPr>
          <a:xfrm>
            <a:off x="6491847" y="2932531"/>
            <a:ext cx="1057599" cy="399597"/>
          </a:xfrm>
          <a:prstGeom prst="rect">
            <a:avLst/>
          </a:prstGeom>
          <a:solidFill>
            <a:srgbClr val="00FF9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</a:t>
            </a:r>
            <a:endParaRPr lang="zh-CN" altLang="en-US" sz="18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4308316" y="3156995"/>
            <a:ext cx="265939" cy="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7549445" y="3156995"/>
            <a:ext cx="265939" cy="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686440" y="1440142"/>
            <a:ext cx="3592501" cy="4311790"/>
            <a:chOff x="5861538" y="1114451"/>
            <a:chExt cx="2694376" cy="3233843"/>
          </a:xfrm>
        </p:grpSpPr>
        <p:sp>
          <p:nvSpPr>
            <p:cNvPr id="10" name="矩形 9"/>
            <p:cNvSpPr/>
            <p:nvPr/>
          </p:nvSpPr>
          <p:spPr>
            <a:xfrm>
              <a:off x="5861538" y="1114451"/>
              <a:ext cx="2694376" cy="296366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577558" y="1213222"/>
              <a:ext cx="42944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k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7711915" y="1213222"/>
              <a:ext cx="437860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6805425" y="2333649"/>
              <a:ext cx="832341" cy="3165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除数 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043317" y="2349727"/>
              <a:ext cx="740828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+ 1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3" name="下箭头标注 2"/>
            <p:cNvSpPr/>
            <p:nvPr/>
          </p:nvSpPr>
          <p:spPr>
            <a:xfrm>
              <a:off x="6023726" y="1454420"/>
              <a:ext cx="2360346" cy="860138"/>
            </a:xfrm>
            <a:prstGeom prst="downArrowCallout">
              <a:avLst>
                <a:gd name="adj1" fmla="val 24908"/>
                <a:gd name="adj2" fmla="val 29389"/>
                <a:gd name="adj3" fmla="val 30452"/>
                <a:gd name="adj4" fmla="val 44537"/>
              </a:avLst>
            </a:prstGeom>
            <a:solidFill>
              <a:schemeClr val="bg1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105788" y="1500493"/>
              <a:ext cx="1438196" cy="29969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zh-CN" altLang="en-US" sz="1867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原始数据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7543982" y="1500493"/>
              <a:ext cx="793199" cy="299698"/>
            </a:xfrm>
            <a:prstGeom prst="rect">
              <a:avLst/>
            </a:prstGeom>
            <a:solidFill>
              <a:srgbClr val="00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en-US" altLang="zh-CN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00…0</a:t>
              </a:r>
              <a:endPara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05425" y="3177711"/>
              <a:ext cx="832341" cy="31652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en-US" altLang="zh-CN" sz="16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CRC</a:t>
              </a:r>
            </a:p>
          </p:txBody>
        </p:sp>
        <p:sp>
          <p:nvSpPr>
            <p:cNvPr id="4" name="下箭头 3"/>
            <p:cNvSpPr/>
            <p:nvPr/>
          </p:nvSpPr>
          <p:spPr>
            <a:xfrm>
              <a:off x="7098390" y="2661897"/>
              <a:ext cx="238321" cy="515814"/>
            </a:xfrm>
            <a:prstGeom prst="downArrow">
              <a:avLst/>
            </a:prstGeom>
            <a:solidFill>
              <a:srgbClr val="CC00CC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536558" y="2758745"/>
              <a:ext cx="59896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zh-CN" altLang="en-US" sz="16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余数 </a:t>
              </a:r>
              <a:r>
                <a:rPr lang="en-US" altLang="zh-CN" sz="1600" b="1" i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endParaRPr lang="zh-CN" altLang="en-US" sz="1600" b="1" i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47088" y="3189434"/>
              <a:ext cx="437860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41" name="Text Box 45"/>
            <p:cNvSpPr txBox="1">
              <a:spLocks noChangeArrowheads="1"/>
            </p:cNvSpPr>
            <p:nvPr/>
          </p:nvSpPr>
          <p:spPr bwMode="auto">
            <a:xfrm>
              <a:off x="6984293" y="4094378"/>
              <a:ext cx="60016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defTabSz="1219170"/>
              <a:r>
                <a:rPr kumimoji="1"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发送方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841380" y="1444852"/>
            <a:ext cx="3615112" cy="4307079"/>
            <a:chOff x="510578" y="1114451"/>
            <a:chExt cx="2711334" cy="3230309"/>
          </a:xfrm>
        </p:grpSpPr>
        <p:sp>
          <p:nvSpPr>
            <p:cNvPr id="36" name="矩形 35"/>
            <p:cNvSpPr/>
            <p:nvPr/>
          </p:nvSpPr>
          <p:spPr>
            <a:xfrm>
              <a:off x="510578" y="1114451"/>
              <a:ext cx="2711334" cy="296366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55279" y="1213222"/>
              <a:ext cx="429445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k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2389636" y="1213222"/>
              <a:ext cx="437860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1483146" y="2333649"/>
              <a:ext cx="832341" cy="3165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除数 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2365118" y="2349727"/>
              <a:ext cx="740828" cy="253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170"/>
              <a:r>
                <a:rPr lang="en-US" altLang="zh-CN" sz="1600" b="1" i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+ 1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位</a:t>
              </a:r>
            </a:p>
          </p:txBody>
        </p:sp>
        <p:sp>
          <p:nvSpPr>
            <p:cNvPr id="29" name="下箭头标注 28"/>
            <p:cNvSpPr/>
            <p:nvPr/>
          </p:nvSpPr>
          <p:spPr>
            <a:xfrm>
              <a:off x="701447" y="1454420"/>
              <a:ext cx="2360346" cy="860138"/>
            </a:xfrm>
            <a:prstGeom prst="downArrowCallout">
              <a:avLst>
                <a:gd name="adj1" fmla="val 24908"/>
                <a:gd name="adj2" fmla="val 29389"/>
                <a:gd name="adj3" fmla="val 30452"/>
                <a:gd name="adj4" fmla="val 44537"/>
              </a:avLst>
            </a:prstGeom>
            <a:solidFill>
              <a:schemeClr val="bg1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83509" y="1500493"/>
              <a:ext cx="1438196" cy="29969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zh-CN" altLang="en-US" sz="1867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原始数据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2221703" y="1500493"/>
              <a:ext cx="793199" cy="299698"/>
            </a:xfrm>
            <a:prstGeom prst="rect">
              <a:avLst/>
            </a:prstGeom>
            <a:solidFill>
              <a:srgbClr val="00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en-US" altLang="zh-CN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CRC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1483146" y="3177711"/>
              <a:ext cx="832341" cy="31652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r>
                <a:rPr lang="zh-CN" altLang="en-US" sz="16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余数</a:t>
              </a:r>
              <a:endParaRPr lang="en-US" altLang="zh-CN" sz="16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下箭头 32"/>
            <p:cNvSpPr/>
            <p:nvPr/>
          </p:nvSpPr>
          <p:spPr>
            <a:xfrm>
              <a:off x="1776111" y="2661897"/>
              <a:ext cx="238321" cy="515814"/>
            </a:xfrm>
            <a:prstGeom prst="downArrow">
              <a:avLst/>
            </a:prstGeom>
            <a:solidFill>
              <a:srgbClr val="CC00CC"/>
            </a:solidFill>
            <a:ln w="952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32586" y="3525868"/>
              <a:ext cx="2191551" cy="5098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>
                <a:lnSpc>
                  <a:spcPts val="2400"/>
                </a:lnSpc>
              </a:pP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若余数</a:t>
              </a:r>
              <a:r>
                <a:rPr lang="en-US" altLang="zh-CN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=0</a:t>
              </a: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，接受</a:t>
              </a:r>
              <a:endParaRPr lang="en-US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lnSpc>
                  <a:spcPts val="2400"/>
                </a:lnSpc>
              </a:pP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若余数≠</a:t>
              </a:r>
              <a:r>
                <a:rPr lang="en-US" altLang="zh-CN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r>
                <a:rPr lang="zh-CN" altLang="en-US" sz="16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，丢弃</a:t>
              </a:r>
            </a:p>
          </p:txBody>
        </p:sp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1548774" y="4090845"/>
              <a:ext cx="600164" cy="253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defTabSz="1219170"/>
              <a:r>
                <a:rPr kumimoji="1"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接收方</a:t>
              </a:r>
            </a:p>
          </p:txBody>
        </p:sp>
      </p:grpSp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5374060" y="2552115"/>
            <a:ext cx="1378903" cy="3796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 defTabSz="1219170"/>
            <a:r>
              <a:rPr kumimoji="1"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发送的数据</a:t>
            </a:r>
          </a:p>
        </p:txBody>
      </p:sp>
    </p:spTree>
    <p:extLst>
      <p:ext uri="{BB962C8B-B14F-4D97-AF65-F5344CB8AC3E}">
        <p14:creationId xmlns:p14="http://schemas.microsoft.com/office/powerpoint/2010/main" val="27597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621793" y="831682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1447" y="763169"/>
            <a:ext cx="303236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冗余码的计算</a:t>
            </a:r>
          </a:p>
        </p:txBody>
      </p:sp>
      <p:sp>
        <p:nvSpPr>
          <p:cNvPr id="4" name="矩形 3"/>
          <p:cNvSpPr/>
          <p:nvPr/>
        </p:nvSpPr>
        <p:spPr>
          <a:xfrm>
            <a:off x="621793" y="1249390"/>
            <a:ext cx="10838687" cy="34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，用二进制的模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运算进行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667" b="1" i="1" baseline="30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乘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的运算，这相当于在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后面添加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，得到的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+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位的数</a:t>
            </a:r>
            <a:r>
              <a:rPr lang="zh-CN" altLang="en-US" sz="2667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除以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事先选定好的长度为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+ 1)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除数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，得出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商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余数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，余数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比除数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少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位，即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位。 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，将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余数 </a:t>
            </a:r>
            <a:r>
              <a:rPr lang="en-US" altLang="zh-CN" sz="2667" b="1" i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667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作为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冗余码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拼接在数据 </a:t>
            </a:r>
            <a:r>
              <a:rPr lang="en-US" altLang="zh-CN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后面，一起发送出去。</a:t>
            </a:r>
          </a:p>
        </p:txBody>
      </p:sp>
      <p:sp>
        <p:nvSpPr>
          <p:cNvPr id="5" name="矩形 4"/>
          <p:cNvSpPr/>
          <p:nvPr/>
        </p:nvSpPr>
        <p:spPr>
          <a:xfrm>
            <a:off x="1650783" y="4758043"/>
            <a:ext cx="8780704" cy="95917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219170">
              <a:lnSpc>
                <a:spcPts val="3467"/>
              </a:lnSpc>
            </a:pP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这种为了进行检错而添加的冗余码常称为</a:t>
            </a:r>
            <a:r>
              <a:rPr lang="zh-CN" altLang="en-US" sz="2667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帧检验序列 </a:t>
            </a:r>
            <a:r>
              <a:rPr lang="en-US" altLang="zh-CN" sz="2667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FCS </a:t>
            </a:r>
            <a:r>
              <a:rPr lang="en-US" altLang="zh-CN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(Frame Check Sequence)</a:t>
            </a: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8906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/>
        </p:nvSpPr>
        <p:spPr>
          <a:xfrm>
            <a:off x="621793" y="1370977"/>
            <a:ext cx="10838687" cy="443596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21793" y="836267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1447" y="767755"/>
            <a:ext cx="3715248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冗余码的计算举例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546939" y="1491709"/>
            <a:ext cx="7448675" cy="4154138"/>
            <a:chOff x="669696" y="1204869"/>
            <a:chExt cx="8778542" cy="5045665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69696" y="1645619"/>
              <a:ext cx="1127852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i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除数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20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351434" y="1644427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4067523" y="1206276"/>
              <a:ext cx="1421987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110100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3483322" y="1641252"/>
              <a:ext cx="238601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101001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000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993010" y="1664374"/>
              <a:ext cx="2316906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en-US" altLang="zh-CN" sz="2000" b="1" i="1" baseline="30000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2000" b="1" i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M 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被除数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3483322" y="1993677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691286" y="2395313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1110</a:t>
              </a: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3688111" y="2706463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3892897" y="3096990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0111</a:t>
              </a: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3892897" y="3401789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0000</a:t>
              </a: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4086571" y="3787552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1110</a:t>
              </a: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4083397" y="4116166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4285010" y="4463827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0110</a:t>
              </a: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4285010" y="4787678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0000</a:t>
              </a: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4451021" y="5140103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1100</a:t>
              </a: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4448079" y="5467128"/>
              <a:ext cx="748123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1101</a:t>
              </a:r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4689411" y="5876704"/>
              <a:ext cx="561092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001</a:t>
              </a: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6071116" y="5846473"/>
              <a:ext cx="3377122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defTabSz="1219170"/>
              <a:r>
                <a:rPr lang="en-US" altLang="zh-CN" sz="2000" b="1" i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余数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，作为 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FCS</a:t>
              </a: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3199160" y="1626964"/>
              <a:ext cx="2600325" cy="454025"/>
            </a:xfrm>
            <a:custGeom>
              <a:avLst/>
              <a:gdLst>
                <a:gd name="T0" fmla="*/ 0 w 944"/>
                <a:gd name="T1" fmla="*/ 2147483647 h 134"/>
                <a:gd name="T2" fmla="*/ 2147483647 w 944"/>
                <a:gd name="T3" fmla="*/ 2147483647 h 134"/>
                <a:gd name="T4" fmla="*/ 2147483647 w 944"/>
                <a:gd name="T5" fmla="*/ 2147483647 h 134"/>
                <a:gd name="T6" fmla="*/ 2147483647 w 944"/>
                <a:gd name="T7" fmla="*/ 2147483647 h 134"/>
                <a:gd name="T8" fmla="*/ 2147483647 w 944"/>
                <a:gd name="T9" fmla="*/ 2147483647 h 134"/>
                <a:gd name="T10" fmla="*/ 2147483647 w 944"/>
                <a:gd name="T11" fmla="*/ 2147483647 h 134"/>
                <a:gd name="T12" fmla="*/ 2147483647 w 944"/>
                <a:gd name="T13" fmla="*/ 2147483647 h 134"/>
                <a:gd name="T14" fmla="*/ 2147483647 w 944"/>
                <a:gd name="T15" fmla="*/ 2147483647 h 134"/>
                <a:gd name="T16" fmla="*/ 2147483647 w 944"/>
                <a:gd name="T17" fmla="*/ 2147483647 h 134"/>
                <a:gd name="T18" fmla="*/ 2147483647 w 944"/>
                <a:gd name="T19" fmla="*/ 2147483647 h 134"/>
                <a:gd name="T20" fmla="*/ 2147483647 w 944"/>
                <a:gd name="T21" fmla="*/ 2147483647 h 134"/>
                <a:gd name="T22" fmla="*/ 2147483647 w 944"/>
                <a:gd name="T23" fmla="*/ 2147483647 h 134"/>
                <a:gd name="T24" fmla="*/ 2147483647 w 944"/>
                <a:gd name="T25" fmla="*/ 2147483647 h 134"/>
                <a:gd name="T26" fmla="*/ 2147483647 w 944"/>
                <a:gd name="T27" fmla="*/ 2147483647 h 134"/>
                <a:gd name="T28" fmla="*/ 2147483647 w 944"/>
                <a:gd name="T29" fmla="*/ 2147483647 h 134"/>
                <a:gd name="T30" fmla="*/ 2147483647 w 944"/>
                <a:gd name="T31" fmla="*/ 2147483647 h 134"/>
                <a:gd name="T32" fmla="*/ 2147483647 w 944"/>
                <a:gd name="T33" fmla="*/ 2147483647 h 134"/>
                <a:gd name="T34" fmla="*/ 2147483647 w 944"/>
                <a:gd name="T35" fmla="*/ 2147483647 h 134"/>
                <a:gd name="T36" fmla="*/ 2147483647 w 944"/>
                <a:gd name="T37" fmla="*/ 0 h 134"/>
                <a:gd name="T38" fmla="*/ 2147483647 w 944"/>
                <a:gd name="T39" fmla="*/ 0 h 134"/>
                <a:gd name="T40" fmla="*/ 2147483647 w 944"/>
                <a:gd name="T41" fmla="*/ 0 h 134"/>
                <a:gd name="T42" fmla="*/ 2147483647 w 944"/>
                <a:gd name="T43" fmla="*/ 0 h 1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44" h="134">
                  <a:moveTo>
                    <a:pt x="0" y="134"/>
                  </a:moveTo>
                  <a:lnTo>
                    <a:pt x="4" y="134"/>
                  </a:lnTo>
                  <a:lnTo>
                    <a:pt x="4" y="129"/>
                  </a:lnTo>
                  <a:lnTo>
                    <a:pt x="13" y="129"/>
                  </a:lnTo>
                  <a:lnTo>
                    <a:pt x="18" y="125"/>
                  </a:lnTo>
                  <a:lnTo>
                    <a:pt x="22" y="120"/>
                  </a:lnTo>
                  <a:lnTo>
                    <a:pt x="31" y="111"/>
                  </a:lnTo>
                  <a:lnTo>
                    <a:pt x="36" y="103"/>
                  </a:lnTo>
                  <a:lnTo>
                    <a:pt x="40" y="94"/>
                  </a:lnTo>
                  <a:lnTo>
                    <a:pt x="45" y="80"/>
                  </a:lnTo>
                  <a:lnTo>
                    <a:pt x="45" y="67"/>
                  </a:lnTo>
                  <a:lnTo>
                    <a:pt x="45" y="54"/>
                  </a:lnTo>
                  <a:lnTo>
                    <a:pt x="40" y="45"/>
                  </a:lnTo>
                  <a:lnTo>
                    <a:pt x="36" y="31"/>
                  </a:lnTo>
                  <a:lnTo>
                    <a:pt x="31" y="22"/>
                  </a:lnTo>
                  <a:lnTo>
                    <a:pt x="27" y="18"/>
                  </a:lnTo>
                  <a:lnTo>
                    <a:pt x="18" y="9"/>
                  </a:lnTo>
                  <a:lnTo>
                    <a:pt x="13" y="5"/>
                  </a:lnTo>
                  <a:lnTo>
                    <a:pt x="9" y="0"/>
                  </a:lnTo>
                  <a:lnTo>
                    <a:pt x="94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37097" y="1836514"/>
              <a:ext cx="3444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333979" y="1991047"/>
              <a:ext cx="19050" cy="43814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4518128" y="1978347"/>
              <a:ext cx="15876" cy="11414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4675650" y="1991047"/>
              <a:ext cx="25400" cy="176530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4861388" y="1991047"/>
              <a:ext cx="33337" cy="24399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492039" y="2379622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3686881" y="3092410"/>
              <a:ext cx="7572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3859530" y="3779798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4107210" y="4467185"/>
              <a:ext cx="757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4244483" y="5141873"/>
              <a:ext cx="7588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4519547" y="5860827"/>
              <a:ext cx="7572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5047606" y="1992635"/>
              <a:ext cx="39687" cy="31829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H="1">
              <a:off x="5386636" y="1849214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5489510" y="6037039"/>
              <a:ext cx="504825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5978721" y="1204869"/>
              <a:ext cx="874700" cy="373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219170"/>
              <a:r>
                <a:rPr lang="en-US" altLang="zh-CN" sz="2000" b="1" i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 (</a:t>
              </a:r>
              <a:r>
                <a:rPr lang="zh-CN" altLang="en-US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商</a:t>
              </a:r>
              <a:r>
                <a:rPr lang="en-US" altLang="zh-CN" sz="20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endParaRPr lang="zh-CN" altLang="en-US" sz="2000" b="1" dirty="0">
                <a:solidFill>
                  <a:srgbClr val="CC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H="1">
              <a:off x="5385048" y="1399952"/>
              <a:ext cx="50482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2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圆角矩形 2"/>
          <p:cNvSpPr/>
          <p:nvPr/>
        </p:nvSpPr>
        <p:spPr>
          <a:xfrm>
            <a:off x="885693" y="2596222"/>
            <a:ext cx="4001849" cy="2296741"/>
          </a:xfrm>
          <a:prstGeom prst="roundRect">
            <a:avLst>
              <a:gd name="adj" fmla="val 1054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原始数据 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= 101001</a:t>
            </a:r>
          </a:p>
          <a:p>
            <a:pPr defTabSz="121917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除数 </a:t>
            </a:r>
            <a:r>
              <a:rPr lang="en-US" altLang="zh-CN" sz="2400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= 1101</a:t>
            </a:r>
          </a:p>
          <a:p>
            <a:pPr defTabSz="1219170">
              <a:lnSpc>
                <a:spcPct val="120000"/>
              </a:lnSpc>
            </a:pPr>
            <a:endParaRPr lang="en-US" altLang="zh-CN" sz="24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得到：</a:t>
            </a:r>
            <a:endParaRPr lang="en-US" altLang="zh-CN" sz="24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发送数据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= 101001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2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21793" y="833591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1447" y="777271"/>
            <a:ext cx="262123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FCS</a:t>
            </a:r>
            <a:endParaRPr lang="zh-CN" altLang="en-US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792" y="1251299"/>
            <a:ext cx="11070336" cy="34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在数据后面添加上的冗余码称为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帧检验序列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(Frame Check Sequence)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循环冗余检验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和帧检验序列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并不等同。</a:t>
            </a:r>
          </a:p>
          <a:p>
            <a:pPr marL="723882" indent="-457189" defTabSz="121917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是一种常用的检错方法，而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是添加在数据后面的冗余码。</a:t>
            </a:r>
          </a:p>
          <a:p>
            <a:pPr marL="723882" indent="-457189" defTabSz="1219170">
              <a:lnSpc>
                <a:spcPts val="44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可以用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这种方法得出，但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并非用来获得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FCS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的唯一方法。 </a:t>
            </a:r>
          </a:p>
        </p:txBody>
      </p:sp>
    </p:spTree>
    <p:extLst>
      <p:ext uri="{BB962C8B-B14F-4D97-AF65-F5344CB8AC3E}">
        <p14:creationId xmlns:p14="http://schemas.microsoft.com/office/powerpoint/2010/main" val="360976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621793" y="828507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821447" y="759995"/>
            <a:ext cx="432842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广泛使用的生成多项式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P(X)</a:t>
            </a:r>
            <a:endParaRPr lang="zh-CN" altLang="en-US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1447" y="1536759"/>
            <a:ext cx="10264679" cy="19448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defTabSz="1219170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CRC-16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  <a:endParaRPr lang="zh-CN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1219170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CRC-CCITT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  <a:endParaRPr lang="zh-CN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1219170">
              <a:lnSpc>
                <a:spcPts val="3733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CRC-32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X</a:t>
            </a:r>
            <a:r>
              <a:rPr lang="en-US" altLang="zh-CN" sz="2400" b="1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X + 1</a:t>
            </a:r>
            <a:endParaRPr lang="zh-CN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52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621793" y="828507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821447" y="759995"/>
            <a:ext cx="86754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</a:p>
        </p:txBody>
      </p:sp>
      <p:sp>
        <p:nvSpPr>
          <p:cNvPr id="100" name="矩形 99"/>
          <p:cNvSpPr/>
          <p:nvPr/>
        </p:nvSpPr>
        <p:spPr>
          <a:xfrm>
            <a:off x="621792" y="1269964"/>
            <a:ext cx="11070336" cy="2289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仅用循环冗余检验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差错检测技术只能做到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无差错接受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(accept)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即：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“凡是接受的帧（即不包括丢弃的帧），我们都能以非常接近于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的概率认为这些帧在传输过程中没有产生差错”。</a:t>
            </a: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即：“凡是接收端数据链路层接受的帧均无差错”。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806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621793" y="827490"/>
            <a:ext cx="10838687" cy="41191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1447" y="758977"/>
            <a:ext cx="7696338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“无比特差错”与“无传输差错”是不同的</a:t>
            </a:r>
          </a:p>
        </p:txBody>
      </p:sp>
      <p:sp>
        <p:nvSpPr>
          <p:cNvPr id="7" name="矩形 6"/>
          <p:cNvSpPr/>
          <p:nvPr/>
        </p:nvSpPr>
        <p:spPr>
          <a:xfrm>
            <a:off x="621794" y="1268947"/>
            <a:ext cx="11070335" cy="387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可靠传输：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数据链路层的发送端发送什么，在接收端就收到什么。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传输差错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可分为两大类：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比特差错；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传输差错：帧丢失、帧重复或帧失序等。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在数据链路层使用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CRC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检验，能够实现无比特差错的传输，但这还不是可靠传输。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要做到可靠传输，还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必须再加上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帧编号、确认和重传等机制。 </a:t>
            </a:r>
          </a:p>
        </p:txBody>
      </p:sp>
    </p:spTree>
    <p:extLst>
      <p:ext uri="{BB962C8B-B14F-4D97-AF65-F5344CB8AC3E}">
        <p14:creationId xmlns:p14="http://schemas.microsoft.com/office/powerpoint/2010/main" val="56919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FFF5949-E12D-57D4-160A-30F43A8C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236" y="0"/>
            <a:ext cx="12301236" cy="666941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98C6B-1F30-0633-AA34-52F37A53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753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6F24915-DFBC-328A-428D-920D85E2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20"/>
            <a:ext cx="12192000" cy="668535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8A953-BF39-B983-71E6-2C715FD6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9095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82211A-07EA-F2B5-C174-8BFA03C8D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10"/>
            <a:ext cx="12192000" cy="664257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B977C-C4D2-7A16-848A-2B5B6465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8707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26F3C60-64E4-55FE-898E-58DFD18D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98"/>
            <a:ext cx="12192000" cy="663980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7C4B9F-1B84-1112-DED3-F89D8D08B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4187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F48D7F5-3EBB-B406-2B10-34B6C0BF1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90"/>
            <a:ext cx="12192000" cy="652242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609BA-7CE4-2D7A-483E-AEB9AD21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80432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FD8050E-2800-B57B-8FE2-C9B1A126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65"/>
            <a:ext cx="12192000" cy="656306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DA93D7-896F-6FF5-8886-05E7FC34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226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8F690C7-7D9D-21C1-BDB6-503AE555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985"/>
            <a:ext cx="12192000" cy="651402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528947-2287-E379-98B7-0C30B159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5249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7B68BF8-08DA-8835-2BD9-BF40FE9A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75"/>
            <a:ext cx="12192000" cy="655244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D09231-5A74-5F40-FB09-17B42B77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55448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5263</Words>
  <Application>Microsoft Office PowerPoint</Application>
  <PresentationFormat>宽屏</PresentationFormat>
  <Paragraphs>1357</Paragraphs>
  <Slides>49</Slides>
  <Notes>30</Notes>
  <HiddenSlides>2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等线</vt:lpstr>
      <vt:lpstr>黑体</vt:lpstr>
      <vt:lpstr>宋体</vt:lpstr>
      <vt:lpstr>微软雅黑</vt:lpstr>
      <vt:lpstr>微软雅黑</vt:lpstr>
      <vt:lpstr>Arial</vt:lpstr>
      <vt:lpstr>Calibri</vt:lpstr>
      <vt:lpstr>Cambria Math</vt:lpstr>
      <vt:lpstr>Courier New</vt:lpstr>
      <vt:lpstr>Symbol</vt:lpstr>
      <vt:lpstr>Tahoma</vt:lpstr>
      <vt:lpstr>Times New Roman</vt:lpstr>
      <vt:lpstr>Wingdings</vt:lpstr>
      <vt:lpstr>1_Office 主题​​</vt:lpstr>
      <vt:lpstr>Office 主题​​</vt:lpstr>
      <vt:lpstr>本章内容</vt:lpstr>
      <vt:lpstr>差错检测和纠正概述</vt:lpstr>
      <vt:lpstr>差错检测和纠正概述</vt:lpstr>
      <vt:lpstr>差错检测和纠正概述</vt:lpstr>
      <vt:lpstr>差错检测和纠正概述</vt:lpstr>
      <vt:lpstr>差错检测和纠正概述</vt:lpstr>
      <vt:lpstr>差错检测和纠正概述</vt:lpstr>
      <vt:lpstr>典型检错码</vt:lpstr>
      <vt:lpstr>典型检错码—奇偶校验</vt:lpstr>
      <vt:lpstr>典型检错码—校验和</vt:lpstr>
      <vt:lpstr>典型检错码—循环冗余校验CRC</vt:lpstr>
      <vt:lpstr>检错码—循环冗余校验CRC</vt:lpstr>
      <vt:lpstr>检错码—循环冗余校验CRC</vt:lpstr>
      <vt:lpstr>典型纠错码</vt:lpstr>
      <vt:lpstr>典型纠错码—海明码</vt:lpstr>
      <vt:lpstr>典型纠错码—海明码</vt:lpstr>
      <vt:lpstr>典型纠错码—海明码</vt:lpstr>
      <vt:lpstr>典型纠错码—海明码</vt:lpstr>
      <vt:lpstr>典型纠错码—海明码</vt:lpstr>
      <vt:lpstr>典型纠错码—海明码</vt:lpstr>
      <vt:lpstr>典型纠错码—海明码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典型纠错码—Reed-Solomon code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yudershu xia</dc:creator>
  <cp:lastModifiedBy>yudershu xia</cp:lastModifiedBy>
  <cp:revision>1</cp:revision>
  <dcterms:created xsi:type="dcterms:W3CDTF">2024-12-04T07:01:45Z</dcterms:created>
  <dcterms:modified xsi:type="dcterms:W3CDTF">2024-12-04T07:13:41Z</dcterms:modified>
</cp:coreProperties>
</file>