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2"/>
  </p:notesMasterIdLst>
  <p:sldIdLst>
    <p:sldId id="1567" r:id="rId2"/>
    <p:sldId id="1530" r:id="rId3"/>
    <p:sldId id="1531" r:id="rId4"/>
    <p:sldId id="1532" r:id="rId5"/>
    <p:sldId id="1533" r:id="rId6"/>
    <p:sldId id="1534" r:id="rId7"/>
    <p:sldId id="1535" r:id="rId8"/>
    <p:sldId id="1536" r:id="rId9"/>
    <p:sldId id="1537" r:id="rId10"/>
    <p:sldId id="1538" r:id="rId11"/>
    <p:sldId id="1539" r:id="rId12"/>
    <p:sldId id="1540" r:id="rId13"/>
    <p:sldId id="1541" r:id="rId14"/>
    <p:sldId id="1542" r:id="rId15"/>
    <p:sldId id="1543" r:id="rId16"/>
    <p:sldId id="1544" r:id="rId17"/>
    <p:sldId id="1545" r:id="rId18"/>
    <p:sldId id="1546" r:id="rId19"/>
    <p:sldId id="1547" r:id="rId20"/>
    <p:sldId id="1548" r:id="rId21"/>
    <p:sldId id="1687" r:id="rId22"/>
    <p:sldId id="1550" r:id="rId23"/>
    <p:sldId id="1551" r:id="rId24"/>
    <p:sldId id="1688" r:id="rId25"/>
    <p:sldId id="1689" r:id="rId26"/>
    <p:sldId id="1690" r:id="rId27"/>
    <p:sldId id="1555" r:id="rId28"/>
    <p:sldId id="1556" r:id="rId29"/>
    <p:sldId id="1557" r:id="rId30"/>
    <p:sldId id="1558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680"/>
  </p:normalViewPr>
  <p:slideViewPr>
    <p:cSldViewPr snapToGrid="0">
      <p:cViewPr varScale="1">
        <p:scale>
          <a:sx n="98" d="100"/>
          <a:sy n="98" d="100"/>
        </p:scale>
        <p:origin x="10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08BE57-C701-C248-A5C5-85809F9941F1}" type="datetimeFigureOut">
              <a:rPr kumimoji="1" lang="zh-CN" altLang="en-US" smtClean="0"/>
              <a:t>2024/11/27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8BB319-5361-0547-983F-AB0C1BD52BE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9602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8301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95786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9371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latin typeface="Arial" pitchFamily="34" charset="0"/>
              </a:rPr>
              <a:t>OSPF </a:t>
            </a:r>
            <a:r>
              <a:rPr lang="zh-CN" altLang="en-US" dirty="0">
                <a:latin typeface="Arial" pitchFamily="34" charset="0"/>
              </a:rPr>
              <a:t>有</a:t>
            </a:r>
            <a:r>
              <a:rPr lang="en-US" altLang="zh-CN" dirty="0">
                <a:latin typeface="Arial" pitchFamily="34" charset="0"/>
              </a:rPr>
              <a:t>5 </a:t>
            </a:r>
            <a:r>
              <a:rPr lang="zh-CN" altLang="en-US" dirty="0">
                <a:latin typeface="Arial" pitchFamily="34" charset="0"/>
              </a:rPr>
              <a:t>种报文类型，每种报文都使用相同的</a:t>
            </a:r>
            <a:r>
              <a:rPr lang="en-US" altLang="zh-CN" dirty="0">
                <a:latin typeface="Arial" pitchFamily="34" charset="0"/>
              </a:rPr>
              <a:t>OSPF </a:t>
            </a:r>
            <a:r>
              <a:rPr lang="zh-CN" altLang="en-US" dirty="0">
                <a:latin typeface="Arial" pitchFamily="34" charset="0"/>
              </a:rPr>
              <a:t>报文头。</a:t>
            </a:r>
            <a:r>
              <a:rPr lang="en-US" altLang="zh-CN" dirty="0">
                <a:latin typeface="Arial" pitchFamily="34" charset="0"/>
              </a:rPr>
              <a:t>OSPF </a:t>
            </a:r>
            <a:r>
              <a:rPr lang="zh-CN" altLang="en-US" dirty="0">
                <a:latin typeface="Arial" pitchFamily="34" charset="0"/>
              </a:rPr>
              <a:t>路由器通过这几种报文来发现和维护邻居关系，实现</a:t>
            </a:r>
            <a:r>
              <a:rPr lang="en-US" altLang="zh-CN" dirty="0">
                <a:latin typeface="Arial" pitchFamily="34" charset="0"/>
              </a:rPr>
              <a:t>LSDB</a:t>
            </a:r>
            <a:r>
              <a:rPr lang="zh-CN" altLang="en-US" dirty="0">
                <a:latin typeface="Arial" pitchFamily="34" charset="0"/>
              </a:rPr>
              <a:t>的同步和交互路由信息。以下分别介绍</a:t>
            </a:r>
            <a:r>
              <a:rPr lang="en-US" altLang="zh-CN" dirty="0">
                <a:latin typeface="Arial" pitchFamily="34" charset="0"/>
              </a:rPr>
              <a:t>5 </a:t>
            </a:r>
            <a:r>
              <a:rPr lang="zh-CN" altLang="en-US" dirty="0">
                <a:latin typeface="Arial" pitchFamily="34" charset="0"/>
              </a:rPr>
              <a:t>种报文。</a:t>
            </a:r>
          </a:p>
          <a:p>
            <a:r>
              <a:rPr lang="zh-CN" altLang="en-US" dirty="0">
                <a:latin typeface="Arial" pitchFamily="34" charset="0"/>
              </a:rPr>
              <a:t>（</a:t>
            </a:r>
            <a:r>
              <a:rPr lang="en-US" altLang="zh-CN" dirty="0">
                <a:latin typeface="Arial" pitchFamily="34" charset="0"/>
              </a:rPr>
              <a:t>1</a:t>
            </a:r>
            <a:r>
              <a:rPr lang="zh-CN" altLang="en-US" dirty="0">
                <a:latin typeface="Arial" pitchFamily="34" charset="0"/>
              </a:rPr>
              <a:t>）</a:t>
            </a:r>
            <a:r>
              <a:rPr lang="en-US" altLang="zh-CN" dirty="0">
                <a:latin typeface="Arial" pitchFamily="34" charset="0"/>
              </a:rPr>
              <a:t>Hello </a:t>
            </a:r>
            <a:r>
              <a:rPr lang="zh-CN" altLang="en-US" dirty="0">
                <a:latin typeface="Arial" pitchFamily="34" charset="0"/>
              </a:rPr>
              <a:t>报文。最常用的一种报文，用于发现、维护邻居关系，并在广播和</a:t>
            </a:r>
            <a:r>
              <a:rPr lang="en-US" altLang="zh-CN" dirty="0">
                <a:latin typeface="Arial" pitchFamily="34" charset="0"/>
              </a:rPr>
              <a:t>NBMA </a:t>
            </a:r>
            <a:r>
              <a:rPr lang="zh-CN" altLang="en-US" dirty="0">
                <a:latin typeface="Arial" pitchFamily="34" charset="0"/>
              </a:rPr>
              <a:t>类型的网络中选举指定路由器（</a:t>
            </a:r>
            <a:r>
              <a:rPr lang="en-US" altLang="en-US" dirty="0">
                <a:latin typeface="Arial" pitchFamily="34" charset="0"/>
                <a:ea typeface="等线" pitchFamily="2" charset="-122"/>
              </a:rPr>
              <a:t>Designated </a:t>
            </a:r>
            <a:r>
              <a:rPr lang="en-US" altLang="en-US" dirty="0" err="1">
                <a:latin typeface="Arial" pitchFamily="34" charset="0"/>
                <a:ea typeface="等线" pitchFamily="2" charset="-122"/>
              </a:rPr>
              <a:t>Router，DR</a:t>
            </a:r>
            <a:r>
              <a:rPr lang="en-US" altLang="en-US" dirty="0">
                <a:latin typeface="Arial" pitchFamily="34" charset="0"/>
                <a:ea typeface="等线" pitchFamily="2" charset="-122"/>
              </a:rPr>
              <a:t>）</a:t>
            </a:r>
            <a:r>
              <a:rPr lang="zh-CN" altLang="en-US" dirty="0">
                <a:latin typeface="Arial" pitchFamily="34" charset="0"/>
              </a:rPr>
              <a:t>和备份指定路由器（</a:t>
            </a:r>
            <a:r>
              <a:rPr lang="en-US" altLang="en-US" dirty="0">
                <a:latin typeface="Arial" pitchFamily="34" charset="0"/>
                <a:ea typeface="等线" pitchFamily="2" charset="-122"/>
              </a:rPr>
              <a:t>Backup Designated </a:t>
            </a:r>
            <a:r>
              <a:rPr lang="en-US" altLang="en-US" dirty="0" err="1">
                <a:latin typeface="Arial" pitchFamily="34" charset="0"/>
                <a:ea typeface="等线" pitchFamily="2" charset="-122"/>
              </a:rPr>
              <a:t>Router，BDR</a:t>
            </a:r>
            <a:r>
              <a:rPr lang="en-US" altLang="en-US" dirty="0">
                <a:latin typeface="Arial" pitchFamily="34" charset="0"/>
                <a:ea typeface="等线" pitchFamily="2" charset="-122"/>
              </a:rPr>
              <a:t>）。</a:t>
            </a:r>
          </a:p>
          <a:p>
            <a:r>
              <a:rPr lang="zh-CN" altLang="en-US" dirty="0">
                <a:latin typeface="Arial" pitchFamily="34" charset="0"/>
              </a:rPr>
              <a:t>（</a:t>
            </a:r>
            <a:r>
              <a:rPr lang="en-US" altLang="zh-CN" dirty="0">
                <a:latin typeface="Arial" pitchFamily="34" charset="0"/>
              </a:rPr>
              <a:t>2</a:t>
            </a:r>
            <a:r>
              <a:rPr lang="zh-CN" altLang="en-US" dirty="0">
                <a:latin typeface="Arial" pitchFamily="34" charset="0"/>
              </a:rPr>
              <a:t>）数据库描述（</a:t>
            </a:r>
            <a:r>
              <a:rPr lang="en-US" altLang="en-US" dirty="0">
                <a:latin typeface="Arial" pitchFamily="34" charset="0"/>
                <a:ea typeface="等线" pitchFamily="2" charset="-122"/>
              </a:rPr>
              <a:t>Database </a:t>
            </a:r>
            <a:r>
              <a:rPr lang="en-US" altLang="en-US" dirty="0" err="1">
                <a:latin typeface="Arial" pitchFamily="34" charset="0"/>
                <a:ea typeface="等线" pitchFamily="2" charset="-122"/>
              </a:rPr>
              <a:t>Description，DD</a:t>
            </a:r>
            <a:r>
              <a:rPr lang="en-US" altLang="en-US" dirty="0">
                <a:latin typeface="Arial" pitchFamily="34" charset="0"/>
                <a:ea typeface="等线" pitchFamily="2" charset="-122"/>
              </a:rPr>
              <a:t>）</a:t>
            </a:r>
            <a:r>
              <a:rPr lang="zh-CN" altLang="en-US" dirty="0">
                <a:latin typeface="Arial" pitchFamily="34" charset="0"/>
              </a:rPr>
              <a:t>报文。两台路由器进行</a:t>
            </a:r>
            <a:r>
              <a:rPr lang="en-US" altLang="en-US" dirty="0">
                <a:latin typeface="Arial" pitchFamily="34" charset="0"/>
                <a:ea typeface="等线" pitchFamily="2" charset="-122"/>
              </a:rPr>
              <a:t>LSDB </a:t>
            </a:r>
            <a:r>
              <a:rPr lang="zh-CN" altLang="en-US" dirty="0">
                <a:latin typeface="Arial" pitchFamily="34" charset="0"/>
              </a:rPr>
              <a:t>数据库同步时，用</a:t>
            </a:r>
            <a:r>
              <a:rPr lang="en-US" altLang="en-US" dirty="0">
                <a:latin typeface="Arial" pitchFamily="34" charset="0"/>
                <a:ea typeface="等线" pitchFamily="2" charset="-122"/>
              </a:rPr>
              <a:t>DD</a:t>
            </a:r>
            <a:r>
              <a:rPr lang="zh-CN" altLang="en-US" dirty="0">
                <a:latin typeface="Arial" pitchFamily="34" charset="0"/>
              </a:rPr>
              <a:t>报文来描述自己的</a:t>
            </a:r>
            <a:r>
              <a:rPr lang="en-US" altLang="zh-CN" dirty="0">
                <a:latin typeface="Arial" pitchFamily="34" charset="0"/>
              </a:rPr>
              <a:t>LSDB</a:t>
            </a:r>
            <a:r>
              <a:rPr lang="zh-CN" altLang="en-US" dirty="0">
                <a:latin typeface="Arial" pitchFamily="34" charset="0"/>
              </a:rPr>
              <a:t>。内容包括</a:t>
            </a:r>
            <a:r>
              <a:rPr lang="en-US" altLang="zh-CN" dirty="0">
                <a:latin typeface="Arial" pitchFamily="34" charset="0"/>
              </a:rPr>
              <a:t>LSDB </a:t>
            </a:r>
            <a:r>
              <a:rPr lang="zh-CN" altLang="en-US" dirty="0">
                <a:latin typeface="Arial" pitchFamily="34" charset="0"/>
              </a:rPr>
              <a:t>中每一条</a:t>
            </a:r>
            <a:r>
              <a:rPr lang="en-US" altLang="zh-CN" dirty="0">
                <a:latin typeface="Arial" pitchFamily="34" charset="0"/>
              </a:rPr>
              <a:t>LSA </a:t>
            </a:r>
            <a:r>
              <a:rPr lang="zh-CN" altLang="en-US" dirty="0">
                <a:latin typeface="Arial" pitchFamily="34" charset="0"/>
              </a:rPr>
              <a:t>的</a:t>
            </a:r>
            <a:r>
              <a:rPr lang="en-US" altLang="zh-CN" dirty="0">
                <a:latin typeface="Arial" pitchFamily="34" charset="0"/>
              </a:rPr>
              <a:t>Header </a:t>
            </a:r>
            <a:r>
              <a:rPr lang="zh-CN" altLang="en-US" dirty="0">
                <a:latin typeface="Arial" pitchFamily="34" charset="0"/>
              </a:rPr>
              <a:t>头部（</a:t>
            </a:r>
            <a:r>
              <a:rPr lang="en-US" altLang="zh-CN" dirty="0">
                <a:latin typeface="Arial" pitchFamily="34" charset="0"/>
              </a:rPr>
              <a:t>LSA </a:t>
            </a:r>
            <a:r>
              <a:rPr lang="zh-CN" altLang="en-US" dirty="0">
                <a:latin typeface="Arial" pitchFamily="34" charset="0"/>
              </a:rPr>
              <a:t>的</a:t>
            </a:r>
            <a:r>
              <a:rPr lang="en-US" altLang="zh-CN" dirty="0">
                <a:latin typeface="Arial" pitchFamily="34" charset="0"/>
              </a:rPr>
              <a:t>Header </a:t>
            </a:r>
            <a:r>
              <a:rPr lang="zh-CN" altLang="en-US" dirty="0">
                <a:latin typeface="Arial" pitchFamily="34" charset="0"/>
              </a:rPr>
              <a:t>可以唯一标识一条</a:t>
            </a:r>
            <a:r>
              <a:rPr lang="en-US" altLang="zh-CN" dirty="0">
                <a:latin typeface="Arial" pitchFamily="34" charset="0"/>
              </a:rPr>
              <a:t>LSA</a:t>
            </a:r>
            <a:r>
              <a:rPr lang="zh-CN" altLang="en-US" dirty="0">
                <a:latin typeface="Arial" pitchFamily="34" charset="0"/>
              </a:rPr>
              <a:t>）。</a:t>
            </a:r>
            <a:r>
              <a:rPr lang="en-US" altLang="zh-CN" dirty="0">
                <a:latin typeface="Arial" pitchFamily="34" charset="0"/>
              </a:rPr>
              <a:t>LSA Header </a:t>
            </a:r>
            <a:r>
              <a:rPr lang="zh-CN" altLang="en-US" dirty="0">
                <a:latin typeface="Arial" pitchFamily="34" charset="0"/>
              </a:rPr>
              <a:t>只占</a:t>
            </a:r>
            <a:r>
              <a:rPr lang="en-US" altLang="zh-CN" dirty="0">
                <a:latin typeface="Arial" pitchFamily="34" charset="0"/>
              </a:rPr>
              <a:t>LSA </a:t>
            </a:r>
            <a:r>
              <a:rPr lang="zh-CN" altLang="en-US" dirty="0">
                <a:latin typeface="Arial" pitchFamily="34" charset="0"/>
              </a:rPr>
              <a:t>的整个数据量的一小部分，这样可以减少路由器之间的协议报文流量，对端路由器根据</a:t>
            </a:r>
            <a:r>
              <a:rPr lang="en-US" altLang="en-US" dirty="0">
                <a:latin typeface="Arial" pitchFamily="34" charset="0"/>
                <a:ea typeface="等线" pitchFamily="2" charset="-122"/>
              </a:rPr>
              <a:t>LSA Header </a:t>
            </a:r>
            <a:r>
              <a:rPr lang="zh-CN" altLang="en-US" dirty="0">
                <a:latin typeface="Arial" pitchFamily="34" charset="0"/>
              </a:rPr>
              <a:t>就可以判断出是否已有这条</a:t>
            </a:r>
            <a:r>
              <a:rPr lang="en-US" altLang="en-US" dirty="0">
                <a:latin typeface="Arial" pitchFamily="34" charset="0"/>
                <a:ea typeface="等线" pitchFamily="2" charset="-122"/>
              </a:rPr>
              <a:t>LSA。</a:t>
            </a:r>
          </a:p>
          <a:p>
            <a:r>
              <a:rPr lang="zh-CN" altLang="en-US" dirty="0">
                <a:latin typeface="Arial" pitchFamily="34" charset="0"/>
              </a:rPr>
              <a:t>（</a:t>
            </a:r>
            <a:r>
              <a:rPr lang="en-US" altLang="zh-CN" dirty="0">
                <a:latin typeface="Arial" pitchFamily="34" charset="0"/>
              </a:rPr>
              <a:t>3</a:t>
            </a:r>
            <a:r>
              <a:rPr lang="zh-CN" altLang="en-US" dirty="0">
                <a:latin typeface="Arial" pitchFamily="34" charset="0"/>
              </a:rPr>
              <a:t>）链路状态请求（</a:t>
            </a:r>
            <a:r>
              <a:rPr lang="en-US" altLang="zh-CN" dirty="0">
                <a:latin typeface="Arial" pitchFamily="34" charset="0"/>
              </a:rPr>
              <a:t>LSA Request</a:t>
            </a:r>
            <a:r>
              <a:rPr lang="zh-CN" altLang="en-US" dirty="0">
                <a:latin typeface="Arial" pitchFamily="34" charset="0"/>
              </a:rPr>
              <a:t>，</a:t>
            </a:r>
            <a:r>
              <a:rPr lang="en-US" altLang="zh-CN" dirty="0">
                <a:latin typeface="Arial" pitchFamily="34" charset="0"/>
              </a:rPr>
              <a:t>LSR</a:t>
            </a:r>
            <a:r>
              <a:rPr lang="zh-CN" altLang="en-US" dirty="0">
                <a:latin typeface="Arial" pitchFamily="34" charset="0"/>
              </a:rPr>
              <a:t>）报文。两台路由器互相交换过</a:t>
            </a:r>
            <a:r>
              <a:rPr lang="en-US" altLang="zh-CN" dirty="0">
                <a:latin typeface="Arial" pitchFamily="34" charset="0"/>
              </a:rPr>
              <a:t>DD </a:t>
            </a:r>
            <a:r>
              <a:rPr lang="zh-CN" altLang="en-US" dirty="0">
                <a:latin typeface="Arial" pitchFamily="34" charset="0"/>
              </a:rPr>
              <a:t>报文之后，知道对端的路由器有哪些</a:t>
            </a:r>
            <a:r>
              <a:rPr lang="en-US" altLang="zh-CN" dirty="0">
                <a:latin typeface="Arial" pitchFamily="34" charset="0"/>
              </a:rPr>
              <a:t>LSA </a:t>
            </a:r>
            <a:r>
              <a:rPr lang="zh-CN" altLang="en-US" dirty="0">
                <a:latin typeface="Arial" pitchFamily="34" charset="0"/>
              </a:rPr>
              <a:t>是本地的</a:t>
            </a:r>
            <a:r>
              <a:rPr lang="en-US" altLang="zh-CN" dirty="0">
                <a:latin typeface="Arial" pitchFamily="34" charset="0"/>
              </a:rPr>
              <a:t>LSDB </a:t>
            </a:r>
            <a:r>
              <a:rPr lang="zh-CN" altLang="en-US" dirty="0">
                <a:latin typeface="Arial" pitchFamily="34" charset="0"/>
              </a:rPr>
              <a:t>所缺少的，这时需要发送</a:t>
            </a:r>
            <a:r>
              <a:rPr lang="en-US" altLang="zh-CN" dirty="0">
                <a:latin typeface="Arial" pitchFamily="34" charset="0"/>
              </a:rPr>
              <a:t>LSR </a:t>
            </a:r>
            <a:r>
              <a:rPr lang="zh-CN" altLang="en-US" dirty="0">
                <a:latin typeface="Arial" pitchFamily="34" charset="0"/>
              </a:rPr>
              <a:t>报文向对方请求缺少的</a:t>
            </a:r>
            <a:r>
              <a:rPr lang="en-US" altLang="zh-CN" dirty="0">
                <a:latin typeface="Arial" pitchFamily="34" charset="0"/>
              </a:rPr>
              <a:t>LSA</a:t>
            </a:r>
            <a:r>
              <a:rPr lang="zh-CN" altLang="en-US" dirty="0">
                <a:latin typeface="Arial" pitchFamily="34" charset="0"/>
              </a:rPr>
              <a:t>。内容包括所需要的</a:t>
            </a:r>
            <a:r>
              <a:rPr lang="en-US" altLang="en-US" dirty="0">
                <a:latin typeface="Arial" pitchFamily="34" charset="0"/>
                <a:ea typeface="等线" pitchFamily="2" charset="-122"/>
              </a:rPr>
              <a:t>LSA </a:t>
            </a:r>
            <a:r>
              <a:rPr lang="zh-CN" altLang="en-US" dirty="0">
                <a:latin typeface="Arial" pitchFamily="34" charset="0"/>
              </a:rPr>
              <a:t>的摘要。</a:t>
            </a:r>
          </a:p>
          <a:p>
            <a:r>
              <a:rPr lang="zh-CN" altLang="en-US" dirty="0">
                <a:latin typeface="Arial" pitchFamily="34" charset="0"/>
              </a:rPr>
              <a:t>（</a:t>
            </a:r>
            <a:r>
              <a:rPr lang="en-US" altLang="zh-CN" dirty="0">
                <a:latin typeface="Arial" pitchFamily="34" charset="0"/>
              </a:rPr>
              <a:t>4</a:t>
            </a:r>
            <a:r>
              <a:rPr lang="zh-CN" altLang="en-US" dirty="0">
                <a:latin typeface="Arial" pitchFamily="34" charset="0"/>
              </a:rPr>
              <a:t>）链路状态更新（</a:t>
            </a:r>
            <a:r>
              <a:rPr lang="en-US" altLang="zh-CN" dirty="0">
                <a:latin typeface="Arial" pitchFamily="34" charset="0"/>
              </a:rPr>
              <a:t>LSA Update</a:t>
            </a:r>
            <a:r>
              <a:rPr lang="zh-CN" altLang="en-US" dirty="0">
                <a:latin typeface="Arial" pitchFamily="34" charset="0"/>
              </a:rPr>
              <a:t>，</a:t>
            </a:r>
            <a:r>
              <a:rPr lang="en-US" altLang="zh-CN" dirty="0">
                <a:latin typeface="Arial" pitchFamily="34" charset="0"/>
              </a:rPr>
              <a:t>LSU</a:t>
            </a:r>
            <a:r>
              <a:rPr lang="zh-CN" altLang="en-US" dirty="0">
                <a:latin typeface="Arial" pitchFamily="34" charset="0"/>
              </a:rPr>
              <a:t>）报文。用来向对端路由器发送所需要的</a:t>
            </a:r>
            <a:r>
              <a:rPr lang="en-US" altLang="zh-CN" dirty="0">
                <a:latin typeface="Arial" pitchFamily="34" charset="0"/>
              </a:rPr>
              <a:t>LSA</a:t>
            </a:r>
            <a:r>
              <a:rPr lang="zh-CN" altLang="en-US" dirty="0">
                <a:latin typeface="Arial" pitchFamily="34" charset="0"/>
              </a:rPr>
              <a:t>，内容是多条</a:t>
            </a:r>
            <a:r>
              <a:rPr lang="en-US" altLang="zh-CN" dirty="0">
                <a:latin typeface="Arial" pitchFamily="34" charset="0"/>
              </a:rPr>
              <a:t>LSA</a:t>
            </a:r>
            <a:r>
              <a:rPr lang="zh-CN" altLang="en-US" dirty="0">
                <a:latin typeface="Arial" pitchFamily="34" charset="0"/>
              </a:rPr>
              <a:t>（全部内容）的集合。</a:t>
            </a:r>
          </a:p>
          <a:p>
            <a:r>
              <a:rPr lang="zh-CN" altLang="en-US" dirty="0">
                <a:latin typeface="Arial" pitchFamily="34" charset="0"/>
              </a:rPr>
              <a:t>（</a:t>
            </a:r>
            <a:r>
              <a:rPr lang="en-US" altLang="zh-CN" dirty="0">
                <a:latin typeface="Arial" pitchFamily="34" charset="0"/>
              </a:rPr>
              <a:t>5</a:t>
            </a:r>
            <a:r>
              <a:rPr lang="zh-CN" altLang="en-US" dirty="0">
                <a:latin typeface="Arial" pitchFamily="34" charset="0"/>
              </a:rPr>
              <a:t>）链路状态确认（</a:t>
            </a:r>
            <a:r>
              <a:rPr lang="en-US" altLang="en-US" dirty="0">
                <a:latin typeface="Arial" pitchFamily="34" charset="0"/>
                <a:ea typeface="等线" pitchFamily="2" charset="-122"/>
              </a:rPr>
              <a:t>Link State </a:t>
            </a:r>
            <a:r>
              <a:rPr lang="en-US" altLang="en-US" dirty="0" err="1">
                <a:latin typeface="Arial" pitchFamily="34" charset="0"/>
                <a:ea typeface="等线" pitchFamily="2" charset="-122"/>
              </a:rPr>
              <a:t>Acknowledgment，LSACK</a:t>
            </a:r>
            <a:r>
              <a:rPr lang="en-US" altLang="en-US" dirty="0">
                <a:latin typeface="Arial" pitchFamily="34" charset="0"/>
                <a:ea typeface="等线" pitchFamily="2" charset="-122"/>
              </a:rPr>
              <a:t>）</a:t>
            </a:r>
            <a:r>
              <a:rPr lang="zh-CN" altLang="en-US" dirty="0">
                <a:latin typeface="Arial" pitchFamily="34" charset="0"/>
              </a:rPr>
              <a:t>报文。用来对接收到的</a:t>
            </a:r>
            <a:r>
              <a:rPr lang="en-US" altLang="en-US" dirty="0">
                <a:latin typeface="Arial" pitchFamily="34" charset="0"/>
                <a:ea typeface="等线" pitchFamily="2" charset="-122"/>
              </a:rPr>
              <a:t>LSU </a:t>
            </a:r>
            <a:r>
              <a:rPr lang="zh-CN" altLang="en-US" dirty="0">
                <a:latin typeface="Arial" pitchFamily="34" charset="0"/>
              </a:rPr>
              <a:t>报文进行确认。</a:t>
            </a:r>
          </a:p>
          <a:p>
            <a:r>
              <a:rPr lang="en-US" altLang="zh-CN" dirty="0">
                <a:latin typeface="Arial" pitchFamily="34" charset="0"/>
              </a:rPr>
              <a:t>OSPF </a:t>
            </a:r>
            <a:r>
              <a:rPr lang="zh-CN" altLang="en-US" dirty="0">
                <a:latin typeface="Arial" pitchFamily="34" charset="0"/>
              </a:rPr>
              <a:t>的</a:t>
            </a:r>
            <a:r>
              <a:rPr lang="en-US" altLang="zh-CN" dirty="0">
                <a:latin typeface="Arial" pitchFamily="34" charset="0"/>
              </a:rPr>
              <a:t>5 </a:t>
            </a:r>
            <a:r>
              <a:rPr lang="zh-CN" altLang="en-US" dirty="0">
                <a:latin typeface="Arial" pitchFamily="34" charset="0"/>
              </a:rPr>
              <a:t>种报文中，</a:t>
            </a:r>
            <a:r>
              <a:rPr lang="en-US" altLang="zh-CN" dirty="0">
                <a:latin typeface="Arial" pitchFamily="34" charset="0"/>
              </a:rPr>
              <a:t>Hello </a:t>
            </a:r>
            <a:r>
              <a:rPr lang="zh-CN" altLang="en-US" dirty="0">
                <a:latin typeface="Arial" pitchFamily="34" charset="0"/>
              </a:rPr>
              <a:t>报文用来发现和维护邻居关系，只有在邻接关系建立完成后才会交互</a:t>
            </a:r>
            <a:r>
              <a:rPr lang="en-US" altLang="zh-CN" dirty="0">
                <a:latin typeface="Arial" pitchFamily="34" charset="0"/>
              </a:rPr>
              <a:t>DD</a:t>
            </a:r>
            <a:r>
              <a:rPr lang="zh-CN" altLang="en-US" dirty="0">
                <a:latin typeface="Arial" pitchFamily="34" charset="0"/>
              </a:rPr>
              <a:t>、</a:t>
            </a:r>
            <a:r>
              <a:rPr lang="en-US" altLang="zh-CN" dirty="0">
                <a:latin typeface="Arial" pitchFamily="34" charset="0"/>
              </a:rPr>
              <a:t>LSR</a:t>
            </a:r>
            <a:r>
              <a:rPr lang="zh-CN" altLang="en-US" dirty="0">
                <a:latin typeface="Arial" pitchFamily="34" charset="0"/>
              </a:rPr>
              <a:t>、</a:t>
            </a:r>
            <a:r>
              <a:rPr lang="en-US" altLang="zh-CN" dirty="0">
                <a:latin typeface="Arial" pitchFamily="34" charset="0"/>
              </a:rPr>
              <a:t>LSU </a:t>
            </a:r>
            <a:r>
              <a:rPr lang="zh-CN" altLang="en-US" dirty="0">
                <a:latin typeface="Arial" pitchFamily="34" charset="0"/>
              </a:rPr>
              <a:t>以及</a:t>
            </a:r>
            <a:r>
              <a:rPr lang="en-US" altLang="zh-CN" dirty="0" err="1">
                <a:latin typeface="Arial" pitchFamily="34" charset="0"/>
              </a:rPr>
              <a:t>LSAck</a:t>
            </a:r>
            <a:r>
              <a:rPr lang="en-US" altLang="zh-CN" dirty="0">
                <a:latin typeface="Arial" pitchFamily="34" charset="0"/>
              </a:rPr>
              <a:t> </a:t>
            </a:r>
            <a:r>
              <a:rPr lang="zh-CN" altLang="en-US" dirty="0">
                <a:latin typeface="Arial" pitchFamily="34" charset="0"/>
              </a:rPr>
              <a:t>报文。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55411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15231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77541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8085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67911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18488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93177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21842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11671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93552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79975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3640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F97C75-78EB-4043-953B-95F867F42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1C1163-5F70-9046-86B2-81951DCE1A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6F9E280-F138-8142-8DB1-324EA9F38324}"/>
              </a:ext>
            </a:extLst>
          </p:cNvPr>
          <p:cNvSpPr/>
          <p:nvPr userDrawn="1"/>
        </p:nvSpPr>
        <p:spPr>
          <a:xfrm>
            <a:off x="-9939" y="-8627"/>
            <a:ext cx="9307502" cy="567811"/>
          </a:xfrm>
          <a:prstGeom prst="rect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6DF02C2-66E0-594F-914D-47F0EC7AA666}"/>
              </a:ext>
            </a:extLst>
          </p:cNvPr>
          <p:cNvSpPr txBox="1"/>
          <p:nvPr userDrawn="1"/>
        </p:nvSpPr>
        <p:spPr>
          <a:xfrm>
            <a:off x="9569811" y="90612"/>
            <a:ext cx="2297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800" spc="600" dirty="0">
                <a:solidFill>
                  <a:srgbClr val="5B307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众筹</a:t>
            </a:r>
            <a:r>
              <a:rPr lang="en-US" altLang="zh-CN" sz="1800" b="0" spc="600" dirty="0">
                <a:solidFill>
                  <a:srgbClr val="5B307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1800" spc="600" dirty="0">
                <a:solidFill>
                  <a:srgbClr val="5B307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</a:t>
            </a:r>
            <a:r>
              <a:rPr lang="en-US" altLang="zh-CN" sz="1800" b="0" spc="600" dirty="0">
                <a:solidFill>
                  <a:srgbClr val="5B307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1800" spc="600" dirty="0">
                <a:solidFill>
                  <a:srgbClr val="5B307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分享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8AB2E87B-2061-474F-BD6B-FFB3E5285CE9}"/>
              </a:ext>
            </a:extLst>
          </p:cNvPr>
          <p:cNvGrpSpPr/>
          <p:nvPr userDrawn="1"/>
        </p:nvGrpSpPr>
        <p:grpSpPr>
          <a:xfrm>
            <a:off x="4771770" y="5979422"/>
            <a:ext cx="2648459" cy="742053"/>
            <a:chOff x="4858653" y="5979422"/>
            <a:chExt cx="2648459" cy="742053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ABB9B9B8-F63F-5C48-98A1-BF8860F585BF}"/>
                </a:ext>
              </a:extLst>
            </p:cNvPr>
            <p:cNvGrpSpPr/>
            <p:nvPr userDrawn="1"/>
          </p:nvGrpSpPr>
          <p:grpSpPr>
            <a:xfrm>
              <a:off x="4858653" y="5979422"/>
              <a:ext cx="867188" cy="742053"/>
              <a:chOff x="901977" y="761321"/>
              <a:chExt cx="1281319" cy="1139058"/>
            </a:xfrm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D1B680A8-BC74-BA43-BB0D-C8F8C7B77C8F}"/>
                  </a:ext>
                </a:extLst>
              </p:cNvPr>
              <p:cNvSpPr/>
              <p:nvPr userDrawn="1"/>
            </p:nvSpPr>
            <p:spPr>
              <a:xfrm>
                <a:off x="901977" y="761321"/>
                <a:ext cx="1281319" cy="1139058"/>
              </a:xfrm>
              <a:prstGeom prst="rect">
                <a:avLst/>
              </a:prstGeom>
              <a:solidFill>
                <a:srgbClr val="5C30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solidFill>
                    <a:srgbClr val="5C307E"/>
                  </a:solidFill>
                </a:endParaRPr>
              </a:p>
            </p:txBody>
          </p:sp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3F50F50E-8A90-104F-B899-DE9D869B8A5F}"/>
                  </a:ext>
                </a:extLst>
              </p:cNvPr>
              <p:cNvGrpSpPr/>
              <p:nvPr userDrawn="1"/>
            </p:nvGrpSpPr>
            <p:grpSpPr>
              <a:xfrm>
                <a:off x="1031055" y="907676"/>
                <a:ext cx="1013957" cy="853426"/>
                <a:chOff x="1368170" y="664579"/>
                <a:chExt cx="550582" cy="439737"/>
              </a:xfrm>
              <a:solidFill>
                <a:schemeClr val="bg1"/>
              </a:solidFill>
            </p:grpSpPr>
            <p:sp>
              <p:nvSpPr>
                <p:cNvPr id="12" name="Freeform 1">
                  <a:extLst>
                    <a:ext uri="{FF2B5EF4-FFF2-40B4-BE49-F238E27FC236}">
                      <a16:creationId xmlns:a16="http://schemas.microsoft.com/office/drawing/2014/main" id="{D5F846F9-652E-1B4D-9692-FE9281D20E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81203" y="771778"/>
                  <a:ext cx="437549" cy="332538"/>
                </a:xfrm>
                <a:custGeom>
                  <a:avLst/>
                  <a:gdLst>
                    <a:gd name="T0" fmla="*/ 25 w 2647"/>
                    <a:gd name="T1" fmla="*/ 1478 h 2011"/>
                    <a:gd name="T2" fmla="*/ 525 w 2647"/>
                    <a:gd name="T3" fmla="*/ 1865 h 2011"/>
                    <a:gd name="T4" fmla="*/ 736 w 2647"/>
                    <a:gd name="T5" fmla="*/ 1972 h 2011"/>
                    <a:gd name="T6" fmla="*/ 940 w 2647"/>
                    <a:gd name="T7" fmla="*/ 2010 h 2011"/>
                    <a:gd name="T8" fmla="*/ 1078 w 2647"/>
                    <a:gd name="T9" fmla="*/ 1991 h 2011"/>
                    <a:gd name="T10" fmla="*/ 1286 w 2647"/>
                    <a:gd name="T11" fmla="*/ 1894 h 2011"/>
                    <a:gd name="T12" fmla="*/ 1506 w 2647"/>
                    <a:gd name="T13" fmla="*/ 1715 h 2011"/>
                    <a:gd name="T14" fmla="*/ 1506 w 2647"/>
                    <a:gd name="T15" fmla="*/ 1715 h 2011"/>
                    <a:gd name="T16" fmla="*/ 2630 w 2647"/>
                    <a:gd name="T17" fmla="*/ 624 h 2011"/>
                    <a:gd name="T18" fmla="*/ 2646 w 2647"/>
                    <a:gd name="T19" fmla="*/ 586 h 2011"/>
                    <a:gd name="T20" fmla="*/ 2630 w 2647"/>
                    <a:gd name="T21" fmla="*/ 548 h 2011"/>
                    <a:gd name="T22" fmla="*/ 2090 w 2647"/>
                    <a:gd name="T23" fmla="*/ 21 h 2011"/>
                    <a:gd name="T24" fmla="*/ 2016 w 2647"/>
                    <a:gd name="T25" fmla="*/ 22 h 2011"/>
                    <a:gd name="T26" fmla="*/ 2017 w 2647"/>
                    <a:gd name="T27" fmla="*/ 96 h 2011"/>
                    <a:gd name="T28" fmla="*/ 2518 w 2647"/>
                    <a:gd name="T29" fmla="*/ 586 h 2011"/>
                    <a:gd name="T30" fmla="*/ 1433 w 2647"/>
                    <a:gd name="T31" fmla="*/ 1639 h 2011"/>
                    <a:gd name="T32" fmla="*/ 1433 w 2647"/>
                    <a:gd name="T33" fmla="*/ 1639 h 2011"/>
                    <a:gd name="T34" fmla="*/ 1167 w 2647"/>
                    <a:gd name="T35" fmla="*/ 1843 h 2011"/>
                    <a:gd name="T36" fmla="*/ 1051 w 2647"/>
                    <a:gd name="T37" fmla="*/ 1889 h 2011"/>
                    <a:gd name="T38" fmla="*/ 940 w 2647"/>
                    <a:gd name="T39" fmla="*/ 1904 h 2011"/>
                    <a:gd name="T40" fmla="*/ 772 w 2647"/>
                    <a:gd name="T41" fmla="*/ 1872 h 2011"/>
                    <a:gd name="T42" fmla="*/ 474 w 2647"/>
                    <a:gd name="T43" fmla="*/ 1704 h 2011"/>
                    <a:gd name="T44" fmla="*/ 93 w 2647"/>
                    <a:gd name="T45" fmla="*/ 1398 h 2011"/>
                    <a:gd name="T46" fmla="*/ 19 w 2647"/>
                    <a:gd name="T47" fmla="*/ 1404 h 2011"/>
                    <a:gd name="T48" fmla="*/ 25 w 2647"/>
                    <a:gd name="T49" fmla="*/ 1478 h 20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2647" h="2011">
                      <a:moveTo>
                        <a:pt x="25" y="1478"/>
                      </a:moveTo>
                      <a:cubicBezTo>
                        <a:pt x="219" y="1643"/>
                        <a:pt x="380" y="1773"/>
                        <a:pt x="525" y="1865"/>
                      </a:cubicBezTo>
                      <a:cubicBezTo>
                        <a:pt x="598" y="1911"/>
                        <a:pt x="668" y="1947"/>
                        <a:pt x="736" y="1972"/>
                      </a:cubicBezTo>
                      <a:cubicBezTo>
                        <a:pt x="805" y="1996"/>
                        <a:pt x="872" y="2010"/>
                        <a:pt x="940" y="2010"/>
                      </a:cubicBezTo>
                      <a:cubicBezTo>
                        <a:pt x="986" y="2010"/>
                        <a:pt x="1032" y="2004"/>
                        <a:pt x="1078" y="1991"/>
                      </a:cubicBezTo>
                      <a:cubicBezTo>
                        <a:pt x="1147" y="1973"/>
                        <a:pt x="1216" y="1940"/>
                        <a:pt x="1286" y="1894"/>
                      </a:cubicBezTo>
                      <a:cubicBezTo>
                        <a:pt x="1357" y="1848"/>
                        <a:pt x="1429" y="1789"/>
                        <a:pt x="1506" y="1715"/>
                      </a:cubicBezTo>
                      <a:lnTo>
                        <a:pt x="1506" y="1715"/>
                      </a:lnTo>
                      <a:lnTo>
                        <a:pt x="2630" y="624"/>
                      </a:lnTo>
                      <a:cubicBezTo>
                        <a:pt x="2640" y="614"/>
                        <a:pt x="2646" y="600"/>
                        <a:pt x="2646" y="586"/>
                      </a:cubicBezTo>
                      <a:cubicBezTo>
                        <a:pt x="2646" y="572"/>
                        <a:pt x="2641" y="558"/>
                        <a:pt x="2630" y="548"/>
                      </a:cubicBezTo>
                      <a:lnTo>
                        <a:pt x="2090" y="21"/>
                      </a:lnTo>
                      <a:cubicBezTo>
                        <a:pt x="2069" y="0"/>
                        <a:pt x="2036" y="1"/>
                        <a:pt x="2016" y="22"/>
                      </a:cubicBezTo>
                      <a:cubicBezTo>
                        <a:pt x="1995" y="42"/>
                        <a:pt x="1996" y="76"/>
                        <a:pt x="2017" y="96"/>
                      </a:cubicBezTo>
                      <a:lnTo>
                        <a:pt x="2518" y="586"/>
                      </a:lnTo>
                      <a:lnTo>
                        <a:pt x="1433" y="1639"/>
                      </a:lnTo>
                      <a:lnTo>
                        <a:pt x="1433" y="1639"/>
                      </a:lnTo>
                      <a:cubicBezTo>
                        <a:pt x="1335" y="1733"/>
                        <a:pt x="1247" y="1800"/>
                        <a:pt x="1167" y="1843"/>
                      </a:cubicBezTo>
                      <a:cubicBezTo>
                        <a:pt x="1127" y="1864"/>
                        <a:pt x="1088" y="1879"/>
                        <a:pt x="1051" y="1889"/>
                      </a:cubicBezTo>
                      <a:cubicBezTo>
                        <a:pt x="1013" y="1899"/>
                        <a:pt x="977" y="1904"/>
                        <a:pt x="940" y="1904"/>
                      </a:cubicBezTo>
                      <a:cubicBezTo>
                        <a:pt x="886" y="1904"/>
                        <a:pt x="831" y="1894"/>
                        <a:pt x="772" y="1872"/>
                      </a:cubicBezTo>
                      <a:cubicBezTo>
                        <a:pt x="683" y="1840"/>
                        <a:pt x="586" y="1784"/>
                        <a:pt x="474" y="1704"/>
                      </a:cubicBezTo>
                      <a:cubicBezTo>
                        <a:pt x="363" y="1624"/>
                        <a:pt x="238" y="1521"/>
                        <a:pt x="93" y="1398"/>
                      </a:cubicBezTo>
                      <a:cubicBezTo>
                        <a:pt x="71" y="1379"/>
                        <a:pt x="38" y="1382"/>
                        <a:pt x="19" y="1404"/>
                      </a:cubicBezTo>
                      <a:cubicBezTo>
                        <a:pt x="0" y="1426"/>
                        <a:pt x="3" y="1459"/>
                        <a:pt x="25" y="1478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" name="Freeform 2">
                  <a:extLst>
                    <a:ext uri="{FF2B5EF4-FFF2-40B4-BE49-F238E27FC236}">
                      <a16:creationId xmlns:a16="http://schemas.microsoft.com/office/drawing/2014/main" id="{29E72527-4F98-5C42-A871-1F1811E8F1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11832" y="868769"/>
                  <a:ext cx="356603" cy="190334"/>
                </a:xfrm>
                <a:custGeom>
                  <a:avLst/>
                  <a:gdLst>
                    <a:gd name="T0" fmla="*/ 15 w 2158"/>
                    <a:gd name="T1" fmla="*/ 713 h 1152"/>
                    <a:gd name="T2" fmla="*/ 432 w 2158"/>
                    <a:gd name="T3" fmla="*/ 1033 h 1152"/>
                    <a:gd name="T4" fmla="*/ 605 w 2158"/>
                    <a:gd name="T5" fmla="*/ 1120 h 1152"/>
                    <a:gd name="T6" fmla="*/ 771 w 2158"/>
                    <a:gd name="T7" fmla="*/ 1151 h 1152"/>
                    <a:gd name="T8" fmla="*/ 896 w 2158"/>
                    <a:gd name="T9" fmla="*/ 1132 h 1152"/>
                    <a:gd name="T10" fmla="*/ 1089 w 2158"/>
                    <a:gd name="T11" fmla="*/ 1036 h 1152"/>
                    <a:gd name="T12" fmla="*/ 1305 w 2158"/>
                    <a:gd name="T13" fmla="*/ 856 h 1152"/>
                    <a:gd name="T14" fmla="*/ 1305 w 2158"/>
                    <a:gd name="T15" fmla="*/ 856 h 1152"/>
                    <a:gd name="T16" fmla="*/ 2144 w 2158"/>
                    <a:gd name="T17" fmla="*/ 57 h 1152"/>
                    <a:gd name="T18" fmla="*/ 2145 w 2158"/>
                    <a:gd name="T19" fmla="*/ 13 h 1152"/>
                    <a:gd name="T20" fmla="*/ 2100 w 2158"/>
                    <a:gd name="T21" fmla="*/ 12 h 1152"/>
                    <a:gd name="T22" fmla="*/ 1262 w 2158"/>
                    <a:gd name="T23" fmla="*/ 811 h 1152"/>
                    <a:gd name="T24" fmla="*/ 1262 w 2158"/>
                    <a:gd name="T25" fmla="*/ 811 h 1152"/>
                    <a:gd name="T26" fmla="*/ 993 w 2158"/>
                    <a:gd name="T27" fmla="*/ 1023 h 1152"/>
                    <a:gd name="T28" fmla="*/ 878 w 2158"/>
                    <a:gd name="T29" fmla="*/ 1072 h 1152"/>
                    <a:gd name="T30" fmla="*/ 771 w 2158"/>
                    <a:gd name="T31" fmla="*/ 1088 h 1152"/>
                    <a:gd name="T32" fmla="*/ 626 w 2158"/>
                    <a:gd name="T33" fmla="*/ 1061 h 1152"/>
                    <a:gd name="T34" fmla="*/ 376 w 2158"/>
                    <a:gd name="T35" fmla="*/ 920 h 1152"/>
                    <a:gd name="T36" fmla="*/ 55 w 2158"/>
                    <a:gd name="T37" fmla="*/ 665 h 1152"/>
                    <a:gd name="T38" fmla="*/ 11 w 2158"/>
                    <a:gd name="T39" fmla="*/ 669 h 1152"/>
                    <a:gd name="T40" fmla="*/ 15 w 2158"/>
                    <a:gd name="T41" fmla="*/ 713 h 1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158" h="1152">
                      <a:moveTo>
                        <a:pt x="15" y="713"/>
                      </a:moveTo>
                      <a:cubicBezTo>
                        <a:pt x="179" y="850"/>
                        <a:pt x="312" y="958"/>
                        <a:pt x="432" y="1033"/>
                      </a:cubicBezTo>
                      <a:cubicBezTo>
                        <a:pt x="492" y="1071"/>
                        <a:pt x="549" y="1100"/>
                        <a:pt x="605" y="1120"/>
                      </a:cubicBezTo>
                      <a:cubicBezTo>
                        <a:pt x="661" y="1140"/>
                        <a:pt x="716" y="1151"/>
                        <a:pt x="771" y="1151"/>
                      </a:cubicBezTo>
                      <a:cubicBezTo>
                        <a:pt x="812" y="1151"/>
                        <a:pt x="854" y="1145"/>
                        <a:pt x="896" y="1132"/>
                      </a:cubicBezTo>
                      <a:cubicBezTo>
                        <a:pt x="959" y="1114"/>
                        <a:pt x="1022" y="1082"/>
                        <a:pt x="1089" y="1036"/>
                      </a:cubicBezTo>
                      <a:cubicBezTo>
                        <a:pt x="1156" y="990"/>
                        <a:pt x="1227" y="931"/>
                        <a:pt x="1305" y="856"/>
                      </a:cubicBezTo>
                      <a:lnTo>
                        <a:pt x="1305" y="856"/>
                      </a:lnTo>
                      <a:lnTo>
                        <a:pt x="2144" y="57"/>
                      </a:lnTo>
                      <a:cubicBezTo>
                        <a:pt x="2156" y="45"/>
                        <a:pt x="2157" y="25"/>
                        <a:pt x="2145" y="13"/>
                      </a:cubicBezTo>
                      <a:cubicBezTo>
                        <a:pt x="2133" y="0"/>
                        <a:pt x="2113" y="0"/>
                        <a:pt x="2100" y="12"/>
                      </a:cubicBezTo>
                      <a:lnTo>
                        <a:pt x="1262" y="811"/>
                      </a:lnTo>
                      <a:lnTo>
                        <a:pt x="1262" y="811"/>
                      </a:lnTo>
                      <a:cubicBezTo>
                        <a:pt x="1160" y="908"/>
                        <a:pt x="1072" y="978"/>
                        <a:pt x="993" y="1023"/>
                      </a:cubicBezTo>
                      <a:cubicBezTo>
                        <a:pt x="953" y="1045"/>
                        <a:pt x="915" y="1062"/>
                        <a:pt x="878" y="1072"/>
                      </a:cubicBezTo>
                      <a:cubicBezTo>
                        <a:pt x="842" y="1083"/>
                        <a:pt x="806" y="1088"/>
                        <a:pt x="771" y="1088"/>
                      </a:cubicBezTo>
                      <a:cubicBezTo>
                        <a:pt x="724" y="1088"/>
                        <a:pt x="677" y="1079"/>
                        <a:pt x="626" y="1061"/>
                      </a:cubicBezTo>
                      <a:cubicBezTo>
                        <a:pt x="551" y="1034"/>
                        <a:pt x="469" y="987"/>
                        <a:pt x="376" y="920"/>
                      </a:cubicBezTo>
                      <a:cubicBezTo>
                        <a:pt x="282" y="853"/>
                        <a:pt x="177" y="767"/>
                        <a:pt x="55" y="665"/>
                      </a:cubicBezTo>
                      <a:cubicBezTo>
                        <a:pt x="42" y="654"/>
                        <a:pt x="22" y="656"/>
                        <a:pt x="11" y="669"/>
                      </a:cubicBezTo>
                      <a:cubicBezTo>
                        <a:pt x="0" y="682"/>
                        <a:pt x="1" y="702"/>
                        <a:pt x="15" y="713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" name="Freeform 3">
                  <a:extLst>
                    <a:ext uri="{FF2B5EF4-FFF2-40B4-BE49-F238E27FC236}">
                      <a16:creationId xmlns:a16="http://schemas.microsoft.com/office/drawing/2014/main" id="{E5209C47-8580-2040-BA4C-C66647BCAD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40273" y="847620"/>
                  <a:ext cx="304826" cy="169186"/>
                </a:xfrm>
                <a:custGeom>
                  <a:avLst/>
                  <a:gdLst>
                    <a:gd name="T0" fmla="*/ 12 w 1845"/>
                    <a:gd name="T1" fmla="*/ 672 h 1022"/>
                    <a:gd name="T2" fmla="*/ 350 w 1845"/>
                    <a:gd name="T3" fmla="*/ 928 h 1022"/>
                    <a:gd name="T4" fmla="*/ 488 w 1845"/>
                    <a:gd name="T5" fmla="*/ 997 h 1022"/>
                    <a:gd name="T6" fmla="*/ 620 w 1845"/>
                    <a:gd name="T7" fmla="*/ 1021 h 1022"/>
                    <a:gd name="T8" fmla="*/ 734 w 1845"/>
                    <a:gd name="T9" fmla="*/ 1003 h 1022"/>
                    <a:gd name="T10" fmla="*/ 915 w 1845"/>
                    <a:gd name="T11" fmla="*/ 905 h 1022"/>
                    <a:gd name="T12" fmla="*/ 1129 w 1845"/>
                    <a:gd name="T13" fmla="*/ 720 h 1022"/>
                    <a:gd name="T14" fmla="*/ 1129 w 1845"/>
                    <a:gd name="T15" fmla="*/ 720 h 1022"/>
                    <a:gd name="T16" fmla="*/ 1834 w 1845"/>
                    <a:gd name="T17" fmla="*/ 42 h 1022"/>
                    <a:gd name="T18" fmla="*/ 1835 w 1845"/>
                    <a:gd name="T19" fmla="*/ 10 h 1022"/>
                    <a:gd name="T20" fmla="*/ 1802 w 1845"/>
                    <a:gd name="T21" fmla="*/ 9 h 1022"/>
                    <a:gd name="T22" fmla="*/ 1097 w 1845"/>
                    <a:gd name="T23" fmla="*/ 687 h 1022"/>
                    <a:gd name="T24" fmla="*/ 1097 w 1845"/>
                    <a:gd name="T25" fmla="*/ 687 h 1022"/>
                    <a:gd name="T26" fmla="*/ 828 w 1845"/>
                    <a:gd name="T27" fmla="*/ 907 h 1022"/>
                    <a:gd name="T28" fmla="*/ 720 w 1845"/>
                    <a:gd name="T29" fmla="*/ 959 h 1022"/>
                    <a:gd name="T30" fmla="*/ 620 w 1845"/>
                    <a:gd name="T31" fmla="*/ 975 h 1022"/>
                    <a:gd name="T32" fmla="*/ 504 w 1845"/>
                    <a:gd name="T33" fmla="*/ 954 h 1022"/>
                    <a:gd name="T34" fmla="*/ 302 w 1845"/>
                    <a:gd name="T35" fmla="*/ 841 h 1022"/>
                    <a:gd name="T36" fmla="*/ 41 w 1845"/>
                    <a:gd name="T37" fmla="*/ 636 h 1022"/>
                    <a:gd name="T38" fmla="*/ 9 w 1845"/>
                    <a:gd name="T39" fmla="*/ 640 h 1022"/>
                    <a:gd name="T40" fmla="*/ 12 w 1845"/>
                    <a:gd name="T41" fmla="*/ 672 h 10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845" h="1022">
                      <a:moveTo>
                        <a:pt x="12" y="672"/>
                      </a:moveTo>
                      <a:cubicBezTo>
                        <a:pt x="146" y="782"/>
                        <a:pt x="254" y="868"/>
                        <a:pt x="350" y="928"/>
                      </a:cubicBezTo>
                      <a:cubicBezTo>
                        <a:pt x="398" y="958"/>
                        <a:pt x="444" y="981"/>
                        <a:pt x="488" y="997"/>
                      </a:cubicBezTo>
                      <a:cubicBezTo>
                        <a:pt x="533" y="1013"/>
                        <a:pt x="576" y="1021"/>
                        <a:pt x="620" y="1021"/>
                      </a:cubicBezTo>
                      <a:cubicBezTo>
                        <a:pt x="658" y="1021"/>
                        <a:pt x="695" y="1015"/>
                        <a:pt x="734" y="1003"/>
                      </a:cubicBezTo>
                      <a:cubicBezTo>
                        <a:pt x="791" y="984"/>
                        <a:pt x="850" y="952"/>
                        <a:pt x="915" y="905"/>
                      </a:cubicBezTo>
                      <a:cubicBezTo>
                        <a:pt x="980" y="858"/>
                        <a:pt x="1050" y="797"/>
                        <a:pt x="1129" y="720"/>
                      </a:cubicBezTo>
                      <a:lnTo>
                        <a:pt x="1129" y="720"/>
                      </a:lnTo>
                      <a:lnTo>
                        <a:pt x="1834" y="42"/>
                      </a:lnTo>
                      <a:cubicBezTo>
                        <a:pt x="1843" y="34"/>
                        <a:pt x="1844" y="19"/>
                        <a:pt x="1835" y="10"/>
                      </a:cubicBezTo>
                      <a:cubicBezTo>
                        <a:pt x="1826" y="1"/>
                        <a:pt x="1811" y="0"/>
                        <a:pt x="1802" y="9"/>
                      </a:cubicBezTo>
                      <a:lnTo>
                        <a:pt x="1097" y="687"/>
                      </a:lnTo>
                      <a:lnTo>
                        <a:pt x="1097" y="687"/>
                      </a:lnTo>
                      <a:cubicBezTo>
                        <a:pt x="992" y="788"/>
                        <a:pt x="905" y="861"/>
                        <a:pt x="828" y="907"/>
                      </a:cubicBezTo>
                      <a:cubicBezTo>
                        <a:pt x="790" y="931"/>
                        <a:pt x="754" y="948"/>
                        <a:pt x="720" y="959"/>
                      </a:cubicBezTo>
                      <a:cubicBezTo>
                        <a:pt x="685" y="970"/>
                        <a:pt x="653" y="975"/>
                        <a:pt x="620" y="975"/>
                      </a:cubicBezTo>
                      <a:cubicBezTo>
                        <a:pt x="582" y="975"/>
                        <a:pt x="544" y="968"/>
                        <a:pt x="504" y="954"/>
                      </a:cubicBezTo>
                      <a:cubicBezTo>
                        <a:pt x="443" y="932"/>
                        <a:pt x="378" y="894"/>
                        <a:pt x="302" y="841"/>
                      </a:cubicBezTo>
                      <a:cubicBezTo>
                        <a:pt x="227" y="787"/>
                        <a:pt x="141" y="718"/>
                        <a:pt x="41" y="636"/>
                      </a:cubicBezTo>
                      <a:cubicBezTo>
                        <a:pt x="31" y="628"/>
                        <a:pt x="17" y="630"/>
                        <a:pt x="9" y="640"/>
                      </a:cubicBezTo>
                      <a:cubicBezTo>
                        <a:pt x="0" y="649"/>
                        <a:pt x="2" y="664"/>
                        <a:pt x="12" y="672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" name="Freeform 4">
                  <a:extLst>
                    <a:ext uri="{FF2B5EF4-FFF2-40B4-BE49-F238E27FC236}">
                      <a16:creationId xmlns:a16="http://schemas.microsoft.com/office/drawing/2014/main" id="{8D752D59-1EE5-1646-B01E-BA47AB38FF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8713" y="826472"/>
                  <a:ext cx="253050" cy="148037"/>
                </a:xfrm>
                <a:custGeom>
                  <a:avLst/>
                  <a:gdLst>
                    <a:gd name="T0" fmla="*/ 8 w 1531"/>
                    <a:gd name="T1" fmla="*/ 630 h 895"/>
                    <a:gd name="T2" fmla="*/ 269 w 1531"/>
                    <a:gd name="T3" fmla="*/ 824 h 895"/>
                    <a:gd name="T4" fmla="*/ 374 w 1531"/>
                    <a:gd name="T5" fmla="*/ 876 h 895"/>
                    <a:gd name="T6" fmla="*/ 473 w 1531"/>
                    <a:gd name="T7" fmla="*/ 894 h 895"/>
                    <a:gd name="T8" fmla="*/ 573 w 1531"/>
                    <a:gd name="T9" fmla="*/ 875 h 895"/>
                    <a:gd name="T10" fmla="*/ 739 w 1531"/>
                    <a:gd name="T11" fmla="*/ 775 h 895"/>
                    <a:gd name="T12" fmla="*/ 953 w 1531"/>
                    <a:gd name="T13" fmla="*/ 584 h 895"/>
                    <a:gd name="T14" fmla="*/ 953 w 1531"/>
                    <a:gd name="T15" fmla="*/ 584 h 895"/>
                    <a:gd name="T16" fmla="*/ 1524 w 1531"/>
                    <a:gd name="T17" fmla="*/ 27 h 895"/>
                    <a:gd name="T18" fmla="*/ 1524 w 1531"/>
                    <a:gd name="T19" fmla="*/ 6 h 895"/>
                    <a:gd name="T20" fmla="*/ 1503 w 1531"/>
                    <a:gd name="T21" fmla="*/ 6 h 895"/>
                    <a:gd name="T22" fmla="*/ 932 w 1531"/>
                    <a:gd name="T23" fmla="*/ 563 h 895"/>
                    <a:gd name="T24" fmla="*/ 932 w 1531"/>
                    <a:gd name="T25" fmla="*/ 563 h 895"/>
                    <a:gd name="T26" fmla="*/ 663 w 1531"/>
                    <a:gd name="T27" fmla="*/ 793 h 895"/>
                    <a:gd name="T28" fmla="*/ 562 w 1531"/>
                    <a:gd name="T29" fmla="*/ 847 h 895"/>
                    <a:gd name="T30" fmla="*/ 473 w 1531"/>
                    <a:gd name="T31" fmla="*/ 865 h 895"/>
                    <a:gd name="T32" fmla="*/ 384 w 1531"/>
                    <a:gd name="T33" fmla="*/ 848 h 895"/>
                    <a:gd name="T34" fmla="*/ 229 w 1531"/>
                    <a:gd name="T35" fmla="*/ 762 h 895"/>
                    <a:gd name="T36" fmla="*/ 26 w 1531"/>
                    <a:gd name="T37" fmla="*/ 607 h 895"/>
                    <a:gd name="T38" fmla="*/ 5 w 1531"/>
                    <a:gd name="T39" fmla="*/ 609 h 895"/>
                    <a:gd name="T40" fmla="*/ 8 w 1531"/>
                    <a:gd name="T41" fmla="*/ 630 h 8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531" h="895">
                      <a:moveTo>
                        <a:pt x="8" y="630"/>
                      </a:moveTo>
                      <a:cubicBezTo>
                        <a:pt x="113" y="714"/>
                        <a:pt x="196" y="779"/>
                        <a:pt x="269" y="824"/>
                      </a:cubicBezTo>
                      <a:cubicBezTo>
                        <a:pt x="306" y="847"/>
                        <a:pt x="340" y="864"/>
                        <a:pt x="374" y="876"/>
                      </a:cubicBezTo>
                      <a:cubicBezTo>
                        <a:pt x="407" y="888"/>
                        <a:pt x="440" y="894"/>
                        <a:pt x="473" y="894"/>
                      </a:cubicBezTo>
                      <a:cubicBezTo>
                        <a:pt x="506" y="894"/>
                        <a:pt x="539" y="888"/>
                        <a:pt x="573" y="875"/>
                      </a:cubicBezTo>
                      <a:cubicBezTo>
                        <a:pt x="624" y="856"/>
                        <a:pt x="678" y="823"/>
                        <a:pt x="739" y="775"/>
                      </a:cubicBezTo>
                      <a:cubicBezTo>
                        <a:pt x="801" y="727"/>
                        <a:pt x="870" y="663"/>
                        <a:pt x="953" y="584"/>
                      </a:cubicBezTo>
                      <a:lnTo>
                        <a:pt x="953" y="584"/>
                      </a:lnTo>
                      <a:lnTo>
                        <a:pt x="1524" y="27"/>
                      </a:lnTo>
                      <a:cubicBezTo>
                        <a:pt x="1529" y="21"/>
                        <a:pt x="1530" y="12"/>
                        <a:pt x="1524" y="6"/>
                      </a:cubicBezTo>
                      <a:cubicBezTo>
                        <a:pt x="1518" y="0"/>
                        <a:pt x="1509" y="0"/>
                        <a:pt x="1503" y="6"/>
                      </a:cubicBezTo>
                      <a:lnTo>
                        <a:pt x="932" y="563"/>
                      </a:lnTo>
                      <a:lnTo>
                        <a:pt x="932" y="563"/>
                      </a:lnTo>
                      <a:cubicBezTo>
                        <a:pt x="823" y="668"/>
                        <a:pt x="737" y="744"/>
                        <a:pt x="663" y="793"/>
                      </a:cubicBezTo>
                      <a:cubicBezTo>
                        <a:pt x="627" y="818"/>
                        <a:pt x="594" y="836"/>
                        <a:pt x="562" y="847"/>
                      </a:cubicBezTo>
                      <a:cubicBezTo>
                        <a:pt x="531" y="859"/>
                        <a:pt x="502" y="865"/>
                        <a:pt x="473" y="865"/>
                      </a:cubicBezTo>
                      <a:cubicBezTo>
                        <a:pt x="444" y="865"/>
                        <a:pt x="415" y="859"/>
                        <a:pt x="384" y="848"/>
                      </a:cubicBezTo>
                      <a:cubicBezTo>
                        <a:pt x="338" y="832"/>
                        <a:pt x="288" y="803"/>
                        <a:pt x="229" y="762"/>
                      </a:cubicBezTo>
                      <a:cubicBezTo>
                        <a:pt x="171" y="722"/>
                        <a:pt x="105" y="669"/>
                        <a:pt x="26" y="607"/>
                      </a:cubicBezTo>
                      <a:cubicBezTo>
                        <a:pt x="20" y="602"/>
                        <a:pt x="10" y="603"/>
                        <a:pt x="5" y="609"/>
                      </a:cubicBezTo>
                      <a:cubicBezTo>
                        <a:pt x="0" y="615"/>
                        <a:pt x="1" y="625"/>
                        <a:pt x="8" y="630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" name="Freeform 5">
                  <a:extLst>
                    <a:ext uri="{FF2B5EF4-FFF2-40B4-BE49-F238E27FC236}">
                      <a16:creationId xmlns:a16="http://schemas.microsoft.com/office/drawing/2014/main" id="{736C1717-3251-C843-B909-26D88513A9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6425" y="805324"/>
                  <a:ext cx="201273" cy="127619"/>
                </a:xfrm>
                <a:custGeom>
                  <a:avLst/>
                  <a:gdLst>
                    <a:gd name="T0" fmla="*/ 4 w 1217"/>
                    <a:gd name="T1" fmla="*/ 588 h 773"/>
                    <a:gd name="T2" fmla="*/ 193 w 1217"/>
                    <a:gd name="T3" fmla="*/ 724 h 773"/>
                    <a:gd name="T4" fmla="*/ 332 w 1217"/>
                    <a:gd name="T5" fmla="*/ 772 h 773"/>
                    <a:gd name="T6" fmla="*/ 415 w 1217"/>
                    <a:gd name="T7" fmla="*/ 752 h 773"/>
                    <a:gd name="T8" fmla="*/ 563 w 1217"/>
                    <a:gd name="T9" fmla="*/ 648 h 773"/>
                    <a:gd name="T10" fmla="*/ 776 w 1217"/>
                    <a:gd name="T11" fmla="*/ 448 h 773"/>
                    <a:gd name="T12" fmla="*/ 776 w 1217"/>
                    <a:gd name="T13" fmla="*/ 448 h 773"/>
                    <a:gd name="T14" fmla="*/ 1213 w 1217"/>
                    <a:gd name="T15" fmla="*/ 12 h 773"/>
                    <a:gd name="T16" fmla="*/ 1213 w 1217"/>
                    <a:gd name="T17" fmla="*/ 2 h 773"/>
                    <a:gd name="T18" fmla="*/ 1204 w 1217"/>
                    <a:gd name="T19" fmla="*/ 2 h 773"/>
                    <a:gd name="T20" fmla="*/ 767 w 1217"/>
                    <a:gd name="T21" fmla="*/ 439 h 773"/>
                    <a:gd name="T22" fmla="*/ 500 w 1217"/>
                    <a:gd name="T23" fmla="*/ 682 h 773"/>
                    <a:gd name="T24" fmla="*/ 410 w 1217"/>
                    <a:gd name="T25" fmla="*/ 740 h 773"/>
                    <a:gd name="T26" fmla="*/ 332 w 1217"/>
                    <a:gd name="T27" fmla="*/ 759 h 773"/>
                    <a:gd name="T28" fmla="*/ 199 w 1217"/>
                    <a:gd name="T29" fmla="*/ 712 h 773"/>
                    <a:gd name="T30" fmla="*/ 12 w 1217"/>
                    <a:gd name="T31" fmla="*/ 577 h 773"/>
                    <a:gd name="T32" fmla="*/ 2 w 1217"/>
                    <a:gd name="T33" fmla="*/ 578 h 773"/>
                    <a:gd name="T34" fmla="*/ 4 w 1217"/>
                    <a:gd name="T35" fmla="*/ 588 h 7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217" h="773">
                      <a:moveTo>
                        <a:pt x="4" y="588"/>
                      </a:moveTo>
                      <a:cubicBezTo>
                        <a:pt x="81" y="647"/>
                        <a:pt x="141" y="692"/>
                        <a:pt x="193" y="724"/>
                      </a:cubicBezTo>
                      <a:cubicBezTo>
                        <a:pt x="244" y="755"/>
                        <a:pt x="288" y="772"/>
                        <a:pt x="332" y="772"/>
                      </a:cubicBezTo>
                      <a:cubicBezTo>
                        <a:pt x="359" y="772"/>
                        <a:pt x="386" y="765"/>
                        <a:pt x="415" y="752"/>
                      </a:cubicBezTo>
                      <a:cubicBezTo>
                        <a:pt x="458" y="733"/>
                        <a:pt x="505" y="698"/>
                        <a:pt x="563" y="648"/>
                      </a:cubicBezTo>
                      <a:cubicBezTo>
                        <a:pt x="620" y="597"/>
                        <a:pt x="689" y="531"/>
                        <a:pt x="776" y="448"/>
                      </a:cubicBezTo>
                      <a:lnTo>
                        <a:pt x="776" y="448"/>
                      </a:lnTo>
                      <a:lnTo>
                        <a:pt x="1213" y="12"/>
                      </a:lnTo>
                      <a:cubicBezTo>
                        <a:pt x="1216" y="9"/>
                        <a:pt x="1216" y="5"/>
                        <a:pt x="1213" y="2"/>
                      </a:cubicBezTo>
                      <a:cubicBezTo>
                        <a:pt x="1210" y="0"/>
                        <a:pt x="1206" y="0"/>
                        <a:pt x="1204" y="2"/>
                      </a:cubicBezTo>
                      <a:lnTo>
                        <a:pt x="767" y="439"/>
                      </a:lnTo>
                      <a:cubicBezTo>
                        <a:pt x="651" y="549"/>
                        <a:pt x="568" y="630"/>
                        <a:pt x="500" y="682"/>
                      </a:cubicBezTo>
                      <a:cubicBezTo>
                        <a:pt x="466" y="709"/>
                        <a:pt x="437" y="728"/>
                        <a:pt x="410" y="740"/>
                      </a:cubicBezTo>
                      <a:cubicBezTo>
                        <a:pt x="382" y="753"/>
                        <a:pt x="357" y="759"/>
                        <a:pt x="332" y="759"/>
                      </a:cubicBezTo>
                      <a:cubicBezTo>
                        <a:pt x="291" y="759"/>
                        <a:pt x="250" y="743"/>
                        <a:pt x="199" y="712"/>
                      </a:cubicBezTo>
                      <a:cubicBezTo>
                        <a:pt x="149" y="682"/>
                        <a:pt x="89" y="636"/>
                        <a:pt x="12" y="577"/>
                      </a:cubicBezTo>
                      <a:cubicBezTo>
                        <a:pt x="9" y="575"/>
                        <a:pt x="4" y="575"/>
                        <a:pt x="2" y="578"/>
                      </a:cubicBezTo>
                      <a:cubicBezTo>
                        <a:pt x="0" y="581"/>
                        <a:pt x="1" y="585"/>
                        <a:pt x="4" y="588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6">
                  <a:extLst>
                    <a:ext uri="{FF2B5EF4-FFF2-40B4-BE49-F238E27FC236}">
                      <a16:creationId xmlns:a16="http://schemas.microsoft.com/office/drawing/2014/main" id="{A3B338F7-55A4-4740-9066-F03D0DE3B4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8170" y="664579"/>
                  <a:ext cx="439737" cy="330350"/>
                </a:xfrm>
                <a:custGeom>
                  <a:avLst/>
                  <a:gdLst>
                    <a:gd name="T0" fmla="*/ 2631 w 2657"/>
                    <a:gd name="T1" fmla="*/ 532 h 1998"/>
                    <a:gd name="T2" fmla="*/ 2130 w 2657"/>
                    <a:gd name="T3" fmla="*/ 145 h 1998"/>
                    <a:gd name="T4" fmla="*/ 1920 w 2657"/>
                    <a:gd name="T5" fmla="*/ 38 h 1998"/>
                    <a:gd name="T6" fmla="*/ 1715 w 2657"/>
                    <a:gd name="T7" fmla="*/ 0 h 1998"/>
                    <a:gd name="T8" fmla="*/ 1578 w 2657"/>
                    <a:gd name="T9" fmla="*/ 19 h 1998"/>
                    <a:gd name="T10" fmla="*/ 1370 w 2657"/>
                    <a:gd name="T11" fmla="*/ 116 h 1998"/>
                    <a:gd name="T12" fmla="*/ 1150 w 2657"/>
                    <a:gd name="T13" fmla="*/ 295 h 1998"/>
                    <a:gd name="T14" fmla="*/ 1150 w 2657"/>
                    <a:gd name="T15" fmla="*/ 295 h 1998"/>
                    <a:gd name="T16" fmla="*/ 16 w 2657"/>
                    <a:gd name="T17" fmla="*/ 1368 h 1998"/>
                    <a:gd name="T18" fmla="*/ 0 w 2657"/>
                    <a:gd name="T19" fmla="*/ 1406 h 1998"/>
                    <a:gd name="T20" fmla="*/ 16 w 2657"/>
                    <a:gd name="T21" fmla="*/ 1444 h 1998"/>
                    <a:gd name="T22" fmla="*/ 566 w 2657"/>
                    <a:gd name="T23" fmla="*/ 1977 h 1998"/>
                    <a:gd name="T24" fmla="*/ 640 w 2657"/>
                    <a:gd name="T25" fmla="*/ 1976 h 1998"/>
                    <a:gd name="T26" fmla="*/ 639 w 2657"/>
                    <a:gd name="T27" fmla="*/ 1901 h 1998"/>
                    <a:gd name="T28" fmla="*/ 129 w 2657"/>
                    <a:gd name="T29" fmla="*/ 1406 h 1998"/>
                    <a:gd name="T30" fmla="*/ 1223 w 2657"/>
                    <a:gd name="T31" fmla="*/ 371 h 1998"/>
                    <a:gd name="T32" fmla="*/ 1223 w 2657"/>
                    <a:gd name="T33" fmla="*/ 371 h 1998"/>
                    <a:gd name="T34" fmla="*/ 1489 w 2657"/>
                    <a:gd name="T35" fmla="*/ 167 h 1998"/>
                    <a:gd name="T36" fmla="*/ 1605 w 2657"/>
                    <a:gd name="T37" fmla="*/ 121 h 1998"/>
                    <a:gd name="T38" fmla="*/ 1715 w 2657"/>
                    <a:gd name="T39" fmla="*/ 106 h 1998"/>
                    <a:gd name="T40" fmla="*/ 1884 w 2657"/>
                    <a:gd name="T41" fmla="*/ 138 h 1998"/>
                    <a:gd name="T42" fmla="*/ 2181 w 2657"/>
                    <a:gd name="T43" fmla="*/ 306 h 1998"/>
                    <a:gd name="T44" fmla="*/ 2562 w 2657"/>
                    <a:gd name="T45" fmla="*/ 612 h 1998"/>
                    <a:gd name="T46" fmla="*/ 2637 w 2657"/>
                    <a:gd name="T47" fmla="*/ 606 h 1998"/>
                    <a:gd name="T48" fmla="*/ 2631 w 2657"/>
                    <a:gd name="T49" fmla="*/ 532 h 19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2657" h="1998">
                      <a:moveTo>
                        <a:pt x="2631" y="532"/>
                      </a:moveTo>
                      <a:cubicBezTo>
                        <a:pt x="2437" y="367"/>
                        <a:pt x="2276" y="237"/>
                        <a:pt x="2130" y="145"/>
                      </a:cubicBezTo>
                      <a:cubicBezTo>
                        <a:pt x="2058" y="99"/>
                        <a:pt x="1988" y="63"/>
                        <a:pt x="1920" y="38"/>
                      </a:cubicBezTo>
                      <a:cubicBezTo>
                        <a:pt x="1851" y="14"/>
                        <a:pt x="1783" y="0"/>
                        <a:pt x="1715" y="0"/>
                      </a:cubicBezTo>
                      <a:cubicBezTo>
                        <a:pt x="1669" y="0"/>
                        <a:pt x="1623" y="6"/>
                        <a:pt x="1578" y="19"/>
                      </a:cubicBezTo>
                      <a:cubicBezTo>
                        <a:pt x="1509" y="37"/>
                        <a:pt x="1440" y="70"/>
                        <a:pt x="1370" y="116"/>
                      </a:cubicBezTo>
                      <a:cubicBezTo>
                        <a:pt x="1299" y="162"/>
                        <a:pt x="1227" y="221"/>
                        <a:pt x="1150" y="295"/>
                      </a:cubicBezTo>
                      <a:lnTo>
                        <a:pt x="1150" y="295"/>
                      </a:lnTo>
                      <a:lnTo>
                        <a:pt x="16" y="1368"/>
                      </a:lnTo>
                      <a:cubicBezTo>
                        <a:pt x="6" y="1378"/>
                        <a:pt x="0" y="1391"/>
                        <a:pt x="0" y="1406"/>
                      </a:cubicBezTo>
                      <a:cubicBezTo>
                        <a:pt x="0" y="1420"/>
                        <a:pt x="6" y="1434"/>
                        <a:pt x="16" y="1444"/>
                      </a:cubicBezTo>
                      <a:lnTo>
                        <a:pt x="566" y="1977"/>
                      </a:lnTo>
                      <a:cubicBezTo>
                        <a:pt x="587" y="1997"/>
                        <a:pt x="619" y="1997"/>
                        <a:pt x="640" y="1976"/>
                      </a:cubicBezTo>
                      <a:cubicBezTo>
                        <a:pt x="660" y="1955"/>
                        <a:pt x="660" y="1921"/>
                        <a:pt x="639" y="1901"/>
                      </a:cubicBezTo>
                      <a:lnTo>
                        <a:pt x="129" y="1406"/>
                      </a:lnTo>
                      <a:lnTo>
                        <a:pt x="1223" y="371"/>
                      </a:lnTo>
                      <a:lnTo>
                        <a:pt x="1223" y="371"/>
                      </a:lnTo>
                      <a:cubicBezTo>
                        <a:pt x="1321" y="277"/>
                        <a:pt x="1409" y="210"/>
                        <a:pt x="1489" y="167"/>
                      </a:cubicBezTo>
                      <a:cubicBezTo>
                        <a:pt x="1529" y="146"/>
                        <a:pt x="1568" y="131"/>
                        <a:pt x="1605" y="121"/>
                      </a:cubicBezTo>
                      <a:cubicBezTo>
                        <a:pt x="1642" y="111"/>
                        <a:pt x="1679" y="106"/>
                        <a:pt x="1715" y="106"/>
                      </a:cubicBezTo>
                      <a:cubicBezTo>
                        <a:pt x="1770" y="106"/>
                        <a:pt x="1825" y="116"/>
                        <a:pt x="1884" y="138"/>
                      </a:cubicBezTo>
                      <a:cubicBezTo>
                        <a:pt x="1972" y="170"/>
                        <a:pt x="2070" y="226"/>
                        <a:pt x="2181" y="306"/>
                      </a:cubicBezTo>
                      <a:cubicBezTo>
                        <a:pt x="2293" y="387"/>
                        <a:pt x="2418" y="490"/>
                        <a:pt x="2562" y="612"/>
                      </a:cubicBezTo>
                      <a:cubicBezTo>
                        <a:pt x="2585" y="631"/>
                        <a:pt x="2618" y="628"/>
                        <a:pt x="2637" y="606"/>
                      </a:cubicBezTo>
                      <a:cubicBezTo>
                        <a:pt x="2656" y="584"/>
                        <a:pt x="2653" y="551"/>
                        <a:pt x="2631" y="532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" name="Freeform 7">
                  <a:extLst>
                    <a:ext uri="{FF2B5EF4-FFF2-40B4-BE49-F238E27FC236}">
                      <a16:creationId xmlns:a16="http://schemas.microsoft.com/office/drawing/2014/main" id="{4141CE36-498C-CB43-8361-06B6ABAF9E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19946" y="709792"/>
                  <a:ext cx="356603" cy="190334"/>
                </a:xfrm>
                <a:custGeom>
                  <a:avLst/>
                  <a:gdLst>
                    <a:gd name="T0" fmla="*/ 2142 w 2158"/>
                    <a:gd name="T1" fmla="*/ 438 h 1152"/>
                    <a:gd name="T2" fmla="*/ 1725 w 2158"/>
                    <a:gd name="T3" fmla="*/ 118 h 1152"/>
                    <a:gd name="T4" fmla="*/ 1552 w 2158"/>
                    <a:gd name="T5" fmla="*/ 31 h 1152"/>
                    <a:gd name="T6" fmla="*/ 1386 w 2158"/>
                    <a:gd name="T7" fmla="*/ 0 h 1152"/>
                    <a:gd name="T8" fmla="*/ 1261 w 2158"/>
                    <a:gd name="T9" fmla="*/ 19 h 1152"/>
                    <a:gd name="T10" fmla="*/ 1068 w 2158"/>
                    <a:gd name="T11" fmla="*/ 115 h 1152"/>
                    <a:gd name="T12" fmla="*/ 852 w 2158"/>
                    <a:gd name="T13" fmla="*/ 295 h 1152"/>
                    <a:gd name="T14" fmla="*/ 852 w 2158"/>
                    <a:gd name="T15" fmla="*/ 295 h 1152"/>
                    <a:gd name="T16" fmla="*/ 13 w 2158"/>
                    <a:gd name="T17" fmla="*/ 1094 h 1152"/>
                    <a:gd name="T18" fmla="*/ 12 w 2158"/>
                    <a:gd name="T19" fmla="*/ 1138 h 1152"/>
                    <a:gd name="T20" fmla="*/ 56 w 2158"/>
                    <a:gd name="T21" fmla="*/ 1139 h 1152"/>
                    <a:gd name="T22" fmla="*/ 895 w 2158"/>
                    <a:gd name="T23" fmla="*/ 340 h 1152"/>
                    <a:gd name="T24" fmla="*/ 895 w 2158"/>
                    <a:gd name="T25" fmla="*/ 340 h 1152"/>
                    <a:gd name="T26" fmla="*/ 1164 w 2158"/>
                    <a:gd name="T27" fmla="*/ 128 h 1152"/>
                    <a:gd name="T28" fmla="*/ 1279 w 2158"/>
                    <a:gd name="T29" fmla="*/ 79 h 1152"/>
                    <a:gd name="T30" fmla="*/ 1386 w 2158"/>
                    <a:gd name="T31" fmla="*/ 63 h 1152"/>
                    <a:gd name="T32" fmla="*/ 1531 w 2158"/>
                    <a:gd name="T33" fmla="*/ 90 h 1152"/>
                    <a:gd name="T34" fmla="*/ 1781 w 2158"/>
                    <a:gd name="T35" fmla="*/ 231 h 1152"/>
                    <a:gd name="T36" fmla="*/ 2102 w 2158"/>
                    <a:gd name="T37" fmla="*/ 486 h 1152"/>
                    <a:gd name="T38" fmla="*/ 2146 w 2158"/>
                    <a:gd name="T39" fmla="*/ 482 h 1152"/>
                    <a:gd name="T40" fmla="*/ 2142 w 2158"/>
                    <a:gd name="T41" fmla="*/ 438 h 1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158" h="1152">
                      <a:moveTo>
                        <a:pt x="2142" y="438"/>
                      </a:moveTo>
                      <a:cubicBezTo>
                        <a:pt x="1978" y="301"/>
                        <a:pt x="1845" y="193"/>
                        <a:pt x="1725" y="118"/>
                      </a:cubicBezTo>
                      <a:cubicBezTo>
                        <a:pt x="1664" y="80"/>
                        <a:pt x="1608" y="51"/>
                        <a:pt x="1552" y="31"/>
                      </a:cubicBezTo>
                      <a:cubicBezTo>
                        <a:pt x="1496" y="11"/>
                        <a:pt x="1441" y="0"/>
                        <a:pt x="1386" y="0"/>
                      </a:cubicBezTo>
                      <a:cubicBezTo>
                        <a:pt x="1344" y="0"/>
                        <a:pt x="1303" y="6"/>
                        <a:pt x="1261" y="19"/>
                      </a:cubicBezTo>
                      <a:cubicBezTo>
                        <a:pt x="1198" y="37"/>
                        <a:pt x="1135" y="69"/>
                        <a:pt x="1068" y="115"/>
                      </a:cubicBezTo>
                      <a:cubicBezTo>
                        <a:pt x="1000" y="161"/>
                        <a:pt x="930" y="220"/>
                        <a:pt x="852" y="295"/>
                      </a:cubicBezTo>
                      <a:lnTo>
                        <a:pt x="852" y="295"/>
                      </a:lnTo>
                      <a:lnTo>
                        <a:pt x="13" y="1094"/>
                      </a:lnTo>
                      <a:cubicBezTo>
                        <a:pt x="1" y="1106"/>
                        <a:pt x="0" y="1126"/>
                        <a:pt x="12" y="1138"/>
                      </a:cubicBezTo>
                      <a:cubicBezTo>
                        <a:pt x="24" y="1151"/>
                        <a:pt x="44" y="1151"/>
                        <a:pt x="56" y="1139"/>
                      </a:cubicBezTo>
                      <a:lnTo>
                        <a:pt x="895" y="340"/>
                      </a:lnTo>
                      <a:lnTo>
                        <a:pt x="895" y="340"/>
                      </a:lnTo>
                      <a:cubicBezTo>
                        <a:pt x="997" y="243"/>
                        <a:pt x="1085" y="173"/>
                        <a:pt x="1164" y="128"/>
                      </a:cubicBezTo>
                      <a:cubicBezTo>
                        <a:pt x="1204" y="106"/>
                        <a:pt x="1242" y="89"/>
                        <a:pt x="1279" y="79"/>
                      </a:cubicBezTo>
                      <a:cubicBezTo>
                        <a:pt x="1315" y="68"/>
                        <a:pt x="1351" y="63"/>
                        <a:pt x="1386" y="63"/>
                      </a:cubicBezTo>
                      <a:cubicBezTo>
                        <a:pt x="1433" y="63"/>
                        <a:pt x="1480" y="72"/>
                        <a:pt x="1531" y="90"/>
                      </a:cubicBezTo>
                      <a:cubicBezTo>
                        <a:pt x="1606" y="117"/>
                        <a:pt x="1688" y="164"/>
                        <a:pt x="1781" y="231"/>
                      </a:cubicBezTo>
                      <a:cubicBezTo>
                        <a:pt x="1874" y="298"/>
                        <a:pt x="1979" y="384"/>
                        <a:pt x="2102" y="486"/>
                      </a:cubicBezTo>
                      <a:cubicBezTo>
                        <a:pt x="2115" y="497"/>
                        <a:pt x="2135" y="495"/>
                        <a:pt x="2146" y="482"/>
                      </a:cubicBezTo>
                      <a:cubicBezTo>
                        <a:pt x="2157" y="469"/>
                        <a:pt x="2155" y="449"/>
                        <a:pt x="2142" y="438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" name="Freeform 8">
                  <a:extLst>
                    <a:ext uri="{FF2B5EF4-FFF2-40B4-BE49-F238E27FC236}">
                      <a16:creationId xmlns:a16="http://schemas.microsoft.com/office/drawing/2014/main" id="{8C0DB147-A359-BD41-A434-9663F54133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4012" y="752818"/>
                  <a:ext cx="304826" cy="169186"/>
                </a:xfrm>
                <a:custGeom>
                  <a:avLst/>
                  <a:gdLst>
                    <a:gd name="T0" fmla="*/ 1832 w 1844"/>
                    <a:gd name="T1" fmla="*/ 349 h 1021"/>
                    <a:gd name="T2" fmla="*/ 1494 w 1844"/>
                    <a:gd name="T3" fmla="*/ 93 h 1021"/>
                    <a:gd name="T4" fmla="*/ 1356 w 1844"/>
                    <a:gd name="T5" fmla="*/ 24 h 1021"/>
                    <a:gd name="T6" fmla="*/ 1224 w 1844"/>
                    <a:gd name="T7" fmla="*/ 0 h 1021"/>
                    <a:gd name="T8" fmla="*/ 1110 w 1844"/>
                    <a:gd name="T9" fmla="*/ 18 h 1021"/>
                    <a:gd name="T10" fmla="*/ 929 w 1844"/>
                    <a:gd name="T11" fmla="*/ 116 h 1021"/>
                    <a:gd name="T12" fmla="*/ 715 w 1844"/>
                    <a:gd name="T13" fmla="*/ 301 h 1021"/>
                    <a:gd name="T14" fmla="*/ 714 w 1844"/>
                    <a:gd name="T15" fmla="*/ 301 h 1021"/>
                    <a:gd name="T16" fmla="*/ 10 w 1844"/>
                    <a:gd name="T17" fmla="*/ 978 h 1021"/>
                    <a:gd name="T18" fmla="*/ 9 w 1844"/>
                    <a:gd name="T19" fmla="*/ 1011 h 1021"/>
                    <a:gd name="T20" fmla="*/ 42 w 1844"/>
                    <a:gd name="T21" fmla="*/ 1012 h 1021"/>
                    <a:gd name="T22" fmla="*/ 746 w 1844"/>
                    <a:gd name="T23" fmla="*/ 334 h 1021"/>
                    <a:gd name="T24" fmla="*/ 746 w 1844"/>
                    <a:gd name="T25" fmla="*/ 334 h 1021"/>
                    <a:gd name="T26" fmla="*/ 1016 w 1844"/>
                    <a:gd name="T27" fmla="*/ 114 h 1021"/>
                    <a:gd name="T28" fmla="*/ 1124 w 1844"/>
                    <a:gd name="T29" fmla="*/ 62 h 1021"/>
                    <a:gd name="T30" fmla="*/ 1224 w 1844"/>
                    <a:gd name="T31" fmla="*/ 46 h 1021"/>
                    <a:gd name="T32" fmla="*/ 1340 w 1844"/>
                    <a:gd name="T33" fmla="*/ 67 h 1021"/>
                    <a:gd name="T34" fmla="*/ 1542 w 1844"/>
                    <a:gd name="T35" fmla="*/ 180 h 1021"/>
                    <a:gd name="T36" fmla="*/ 1803 w 1844"/>
                    <a:gd name="T37" fmla="*/ 385 h 1021"/>
                    <a:gd name="T38" fmla="*/ 1835 w 1844"/>
                    <a:gd name="T39" fmla="*/ 381 h 1021"/>
                    <a:gd name="T40" fmla="*/ 1832 w 1844"/>
                    <a:gd name="T41" fmla="*/ 349 h 10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844" h="1021">
                      <a:moveTo>
                        <a:pt x="1832" y="349"/>
                      </a:moveTo>
                      <a:cubicBezTo>
                        <a:pt x="1698" y="239"/>
                        <a:pt x="1590" y="153"/>
                        <a:pt x="1494" y="93"/>
                      </a:cubicBezTo>
                      <a:cubicBezTo>
                        <a:pt x="1446" y="63"/>
                        <a:pt x="1400" y="40"/>
                        <a:pt x="1356" y="24"/>
                      </a:cubicBezTo>
                      <a:cubicBezTo>
                        <a:pt x="1311" y="8"/>
                        <a:pt x="1268" y="0"/>
                        <a:pt x="1224" y="0"/>
                      </a:cubicBezTo>
                      <a:cubicBezTo>
                        <a:pt x="1186" y="0"/>
                        <a:pt x="1148" y="6"/>
                        <a:pt x="1110" y="18"/>
                      </a:cubicBezTo>
                      <a:cubicBezTo>
                        <a:pt x="1052" y="37"/>
                        <a:pt x="993" y="69"/>
                        <a:pt x="929" y="116"/>
                      </a:cubicBezTo>
                      <a:cubicBezTo>
                        <a:pt x="864" y="163"/>
                        <a:pt x="794" y="224"/>
                        <a:pt x="715" y="301"/>
                      </a:cubicBezTo>
                      <a:lnTo>
                        <a:pt x="714" y="301"/>
                      </a:lnTo>
                      <a:lnTo>
                        <a:pt x="10" y="978"/>
                      </a:lnTo>
                      <a:cubicBezTo>
                        <a:pt x="1" y="987"/>
                        <a:pt x="0" y="1002"/>
                        <a:pt x="9" y="1011"/>
                      </a:cubicBezTo>
                      <a:cubicBezTo>
                        <a:pt x="18" y="1020"/>
                        <a:pt x="33" y="1020"/>
                        <a:pt x="42" y="1012"/>
                      </a:cubicBezTo>
                      <a:lnTo>
                        <a:pt x="746" y="334"/>
                      </a:lnTo>
                      <a:lnTo>
                        <a:pt x="746" y="334"/>
                      </a:lnTo>
                      <a:cubicBezTo>
                        <a:pt x="851" y="233"/>
                        <a:pt x="939" y="160"/>
                        <a:pt x="1016" y="114"/>
                      </a:cubicBezTo>
                      <a:cubicBezTo>
                        <a:pt x="1054" y="90"/>
                        <a:pt x="1090" y="73"/>
                        <a:pt x="1124" y="62"/>
                      </a:cubicBezTo>
                      <a:cubicBezTo>
                        <a:pt x="1159" y="51"/>
                        <a:pt x="1191" y="46"/>
                        <a:pt x="1224" y="46"/>
                      </a:cubicBezTo>
                      <a:cubicBezTo>
                        <a:pt x="1262" y="46"/>
                        <a:pt x="1300" y="53"/>
                        <a:pt x="1340" y="67"/>
                      </a:cubicBezTo>
                      <a:cubicBezTo>
                        <a:pt x="1401" y="89"/>
                        <a:pt x="1466" y="127"/>
                        <a:pt x="1542" y="180"/>
                      </a:cubicBezTo>
                      <a:cubicBezTo>
                        <a:pt x="1617" y="234"/>
                        <a:pt x="1702" y="303"/>
                        <a:pt x="1803" y="385"/>
                      </a:cubicBezTo>
                      <a:cubicBezTo>
                        <a:pt x="1813" y="393"/>
                        <a:pt x="1827" y="391"/>
                        <a:pt x="1835" y="381"/>
                      </a:cubicBezTo>
                      <a:cubicBezTo>
                        <a:pt x="1843" y="372"/>
                        <a:pt x="1842" y="357"/>
                        <a:pt x="1832" y="349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" name="Freeform 9">
                  <a:extLst>
                    <a:ext uri="{FF2B5EF4-FFF2-40B4-BE49-F238E27FC236}">
                      <a16:creationId xmlns:a16="http://schemas.microsoft.com/office/drawing/2014/main" id="{C6F23298-B6AB-BA43-B481-2717E0BC36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67348" y="795114"/>
                  <a:ext cx="253049" cy="148038"/>
                </a:xfrm>
                <a:custGeom>
                  <a:avLst/>
                  <a:gdLst>
                    <a:gd name="T0" fmla="*/ 1522 w 1530"/>
                    <a:gd name="T1" fmla="*/ 264 h 895"/>
                    <a:gd name="T2" fmla="*/ 1260 w 1530"/>
                    <a:gd name="T3" fmla="*/ 70 h 895"/>
                    <a:gd name="T4" fmla="*/ 1156 w 1530"/>
                    <a:gd name="T5" fmla="*/ 18 h 895"/>
                    <a:gd name="T6" fmla="*/ 1057 w 1530"/>
                    <a:gd name="T7" fmla="*/ 0 h 895"/>
                    <a:gd name="T8" fmla="*/ 957 w 1530"/>
                    <a:gd name="T9" fmla="*/ 19 h 895"/>
                    <a:gd name="T10" fmla="*/ 791 w 1530"/>
                    <a:gd name="T11" fmla="*/ 119 h 895"/>
                    <a:gd name="T12" fmla="*/ 577 w 1530"/>
                    <a:gd name="T13" fmla="*/ 310 h 895"/>
                    <a:gd name="T14" fmla="*/ 577 w 1530"/>
                    <a:gd name="T15" fmla="*/ 310 h 895"/>
                    <a:gd name="T16" fmla="*/ 6 w 1530"/>
                    <a:gd name="T17" fmla="*/ 867 h 895"/>
                    <a:gd name="T18" fmla="*/ 6 w 1530"/>
                    <a:gd name="T19" fmla="*/ 888 h 895"/>
                    <a:gd name="T20" fmla="*/ 27 w 1530"/>
                    <a:gd name="T21" fmla="*/ 888 h 895"/>
                    <a:gd name="T22" fmla="*/ 598 w 1530"/>
                    <a:gd name="T23" fmla="*/ 331 h 895"/>
                    <a:gd name="T24" fmla="*/ 598 w 1530"/>
                    <a:gd name="T25" fmla="*/ 331 h 895"/>
                    <a:gd name="T26" fmla="*/ 866 w 1530"/>
                    <a:gd name="T27" fmla="*/ 101 h 895"/>
                    <a:gd name="T28" fmla="*/ 968 w 1530"/>
                    <a:gd name="T29" fmla="*/ 47 h 895"/>
                    <a:gd name="T30" fmla="*/ 1057 w 1530"/>
                    <a:gd name="T31" fmla="*/ 29 h 895"/>
                    <a:gd name="T32" fmla="*/ 1146 w 1530"/>
                    <a:gd name="T33" fmla="*/ 46 h 895"/>
                    <a:gd name="T34" fmla="*/ 1300 w 1530"/>
                    <a:gd name="T35" fmla="*/ 132 h 895"/>
                    <a:gd name="T36" fmla="*/ 1504 w 1530"/>
                    <a:gd name="T37" fmla="*/ 287 h 895"/>
                    <a:gd name="T38" fmla="*/ 1524 w 1530"/>
                    <a:gd name="T39" fmla="*/ 285 h 895"/>
                    <a:gd name="T40" fmla="*/ 1522 w 1530"/>
                    <a:gd name="T41" fmla="*/ 264 h 8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530" h="895">
                      <a:moveTo>
                        <a:pt x="1522" y="264"/>
                      </a:moveTo>
                      <a:cubicBezTo>
                        <a:pt x="1417" y="180"/>
                        <a:pt x="1334" y="115"/>
                        <a:pt x="1260" y="70"/>
                      </a:cubicBezTo>
                      <a:cubicBezTo>
                        <a:pt x="1224" y="47"/>
                        <a:pt x="1189" y="30"/>
                        <a:pt x="1156" y="18"/>
                      </a:cubicBezTo>
                      <a:cubicBezTo>
                        <a:pt x="1123" y="6"/>
                        <a:pt x="1090" y="0"/>
                        <a:pt x="1057" y="0"/>
                      </a:cubicBezTo>
                      <a:cubicBezTo>
                        <a:pt x="1024" y="0"/>
                        <a:pt x="991" y="6"/>
                        <a:pt x="957" y="19"/>
                      </a:cubicBezTo>
                      <a:cubicBezTo>
                        <a:pt x="906" y="38"/>
                        <a:pt x="852" y="71"/>
                        <a:pt x="791" y="119"/>
                      </a:cubicBezTo>
                      <a:cubicBezTo>
                        <a:pt x="729" y="167"/>
                        <a:pt x="660" y="231"/>
                        <a:pt x="577" y="310"/>
                      </a:cubicBezTo>
                      <a:lnTo>
                        <a:pt x="577" y="310"/>
                      </a:lnTo>
                      <a:lnTo>
                        <a:pt x="6" y="867"/>
                      </a:lnTo>
                      <a:cubicBezTo>
                        <a:pt x="0" y="873"/>
                        <a:pt x="0" y="882"/>
                        <a:pt x="6" y="888"/>
                      </a:cubicBezTo>
                      <a:cubicBezTo>
                        <a:pt x="12" y="894"/>
                        <a:pt x="21" y="894"/>
                        <a:pt x="27" y="888"/>
                      </a:cubicBezTo>
                      <a:lnTo>
                        <a:pt x="598" y="331"/>
                      </a:lnTo>
                      <a:lnTo>
                        <a:pt x="598" y="331"/>
                      </a:lnTo>
                      <a:cubicBezTo>
                        <a:pt x="707" y="226"/>
                        <a:pt x="793" y="150"/>
                        <a:pt x="866" y="101"/>
                      </a:cubicBezTo>
                      <a:cubicBezTo>
                        <a:pt x="903" y="76"/>
                        <a:pt x="936" y="58"/>
                        <a:pt x="968" y="47"/>
                      </a:cubicBezTo>
                      <a:cubicBezTo>
                        <a:pt x="999" y="35"/>
                        <a:pt x="1028" y="29"/>
                        <a:pt x="1057" y="29"/>
                      </a:cubicBezTo>
                      <a:cubicBezTo>
                        <a:pt x="1086" y="29"/>
                        <a:pt x="1115" y="35"/>
                        <a:pt x="1146" y="46"/>
                      </a:cubicBezTo>
                      <a:cubicBezTo>
                        <a:pt x="1192" y="62"/>
                        <a:pt x="1242" y="91"/>
                        <a:pt x="1300" y="132"/>
                      </a:cubicBezTo>
                      <a:cubicBezTo>
                        <a:pt x="1359" y="172"/>
                        <a:pt x="1425" y="225"/>
                        <a:pt x="1504" y="287"/>
                      </a:cubicBezTo>
                      <a:cubicBezTo>
                        <a:pt x="1510" y="292"/>
                        <a:pt x="1518" y="291"/>
                        <a:pt x="1524" y="285"/>
                      </a:cubicBezTo>
                      <a:cubicBezTo>
                        <a:pt x="1529" y="279"/>
                        <a:pt x="1528" y="269"/>
                        <a:pt x="1522" y="264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" name="Freeform 10">
                  <a:extLst>
                    <a:ext uri="{FF2B5EF4-FFF2-40B4-BE49-F238E27FC236}">
                      <a16:creationId xmlns:a16="http://schemas.microsoft.com/office/drawing/2014/main" id="{358E77EF-FA74-0941-A231-8FD607054B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91413" y="835952"/>
                  <a:ext cx="201273" cy="127619"/>
                </a:xfrm>
                <a:custGeom>
                  <a:avLst/>
                  <a:gdLst>
                    <a:gd name="T0" fmla="*/ 1212 w 1217"/>
                    <a:gd name="T1" fmla="*/ 184 h 773"/>
                    <a:gd name="T2" fmla="*/ 1023 w 1217"/>
                    <a:gd name="T3" fmla="*/ 48 h 773"/>
                    <a:gd name="T4" fmla="*/ 884 w 1217"/>
                    <a:gd name="T5" fmla="*/ 0 h 773"/>
                    <a:gd name="T6" fmla="*/ 801 w 1217"/>
                    <a:gd name="T7" fmla="*/ 20 h 773"/>
                    <a:gd name="T8" fmla="*/ 653 w 1217"/>
                    <a:gd name="T9" fmla="*/ 124 h 773"/>
                    <a:gd name="T10" fmla="*/ 440 w 1217"/>
                    <a:gd name="T11" fmla="*/ 324 h 773"/>
                    <a:gd name="T12" fmla="*/ 440 w 1217"/>
                    <a:gd name="T13" fmla="*/ 324 h 773"/>
                    <a:gd name="T14" fmla="*/ 3 w 1217"/>
                    <a:gd name="T15" fmla="*/ 760 h 773"/>
                    <a:gd name="T16" fmla="*/ 3 w 1217"/>
                    <a:gd name="T17" fmla="*/ 770 h 773"/>
                    <a:gd name="T18" fmla="*/ 12 w 1217"/>
                    <a:gd name="T19" fmla="*/ 770 h 773"/>
                    <a:gd name="T20" fmla="*/ 449 w 1217"/>
                    <a:gd name="T21" fmla="*/ 333 h 773"/>
                    <a:gd name="T22" fmla="*/ 716 w 1217"/>
                    <a:gd name="T23" fmla="*/ 90 h 773"/>
                    <a:gd name="T24" fmla="*/ 806 w 1217"/>
                    <a:gd name="T25" fmla="*/ 32 h 773"/>
                    <a:gd name="T26" fmla="*/ 884 w 1217"/>
                    <a:gd name="T27" fmla="*/ 13 h 773"/>
                    <a:gd name="T28" fmla="*/ 1016 w 1217"/>
                    <a:gd name="T29" fmla="*/ 60 h 773"/>
                    <a:gd name="T30" fmla="*/ 1204 w 1217"/>
                    <a:gd name="T31" fmla="*/ 195 h 773"/>
                    <a:gd name="T32" fmla="*/ 1214 w 1217"/>
                    <a:gd name="T33" fmla="*/ 194 h 773"/>
                    <a:gd name="T34" fmla="*/ 1212 w 1217"/>
                    <a:gd name="T35" fmla="*/ 184 h 7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217" h="773">
                      <a:moveTo>
                        <a:pt x="1212" y="184"/>
                      </a:moveTo>
                      <a:cubicBezTo>
                        <a:pt x="1135" y="125"/>
                        <a:pt x="1075" y="80"/>
                        <a:pt x="1023" y="48"/>
                      </a:cubicBezTo>
                      <a:cubicBezTo>
                        <a:pt x="971" y="17"/>
                        <a:pt x="928" y="0"/>
                        <a:pt x="884" y="0"/>
                      </a:cubicBezTo>
                      <a:cubicBezTo>
                        <a:pt x="856" y="0"/>
                        <a:pt x="829" y="7"/>
                        <a:pt x="801" y="20"/>
                      </a:cubicBezTo>
                      <a:cubicBezTo>
                        <a:pt x="758" y="39"/>
                        <a:pt x="711" y="74"/>
                        <a:pt x="653" y="124"/>
                      </a:cubicBezTo>
                      <a:cubicBezTo>
                        <a:pt x="595" y="175"/>
                        <a:pt x="527" y="241"/>
                        <a:pt x="440" y="324"/>
                      </a:cubicBezTo>
                      <a:lnTo>
                        <a:pt x="440" y="324"/>
                      </a:lnTo>
                      <a:lnTo>
                        <a:pt x="3" y="760"/>
                      </a:lnTo>
                      <a:cubicBezTo>
                        <a:pt x="0" y="763"/>
                        <a:pt x="0" y="767"/>
                        <a:pt x="3" y="770"/>
                      </a:cubicBezTo>
                      <a:cubicBezTo>
                        <a:pt x="5" y="772"/>
                        <a:pt x="10" y="772"/>
                        <a:pt x="12" y="770"/>
                      </a:cubicBezTo>
                      <a:lnTo>
                        <a:pt x="449" y="333"/>
                      </a:lnTo>
                      <a:cubicBezTo>
                        <a:pt x="565" y="223"/>
                        <a:pt x="648" y="142"/>
                        <a:pt x="716" y="90"/>
                      </a:cubicBezTo>
                      <a:cubicBezTo>
                        <a:pt x="749" y="63"/>
                        <a:pt x="778" y="44"/>
                        <a:pt x="806" y="32"/>
                      </a:cubicBezTo>
                      <a:cubicBezTo>
                        <a:pt x="833" y="19"/>
                        <a:pt x="859" y="13"/>
                        <a:pt x="884" y="13"/>
                      </a:cubicBezTo>
                      <a:cubicBezTo>
                        <a:pt x="924" y="13"/>
                        <a:pt x="966" y="29"/>
                        <a:pt x="1016" y="60"/>
                      </a:cubicBezTo>
                      <a:cubicBezTo>
                        <a:pt x="1067" y="90"/>
                        <a:pt x="1127" y="136"/>
                        <a:pt x="1204" y="195"/>
                      </a:cubicBezTo>
                      <a:cubicBezTo>
                        <a:pt x="1207" y="197"/>
                        <a:pt x="1211" y="197"/>
                        <a:pt x="1214" y="194"/>
                      </a:cubicBezTo>
                      <a:cubicBezTo>
                        <a:pt x="1216" y="191"/>
                        <a:pt x="1215" y="187"/>
                        <a:pt x="1212" y="184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1">
                  <a:extLst>
                    <a:ext uri="{FF2B5EF4-FFF2-40B4-BE49-F238E27FC236}">
                      <a16:creationId xmlns:a16="http://schemas.microsoft.com/office/drawing/2014/main" id="{C4AC1E84-A6C9-AC43-8829-ADA26407D6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08093" y="858559"/>
                  <a:ext cx="72925" cy="48130"/>
                </a:xfrm>
                <a:custGeom>
                  <a:avLst/>
                  <a:gdLst>
                    <a:gd name="T0" fmla="*/ 49 w 442"/>
                    <a:gd name="T1" fmla="*/ 200 h 293"/>
                    <a:gd name="T2" fmla="*/ 0 w 442"/>
                    <a:gd name="T3" fmla="*/ 156 h 293"/>
                    <a:gd name="T4" fmla="*/ 45 w 442"/>
                    <a:gd name="T5" fmla="*/ 107 h 293"/>
                    <a:gd name="T6" fmla="*/ 392 w 442"/>
                    <a:gd name="T7" fmla="*/ 91 h 293"/>
                    <a:gd name="T8" fmla="*/ 441 w 442"/>
                    <a:gd name="T9" fmla="*/ 137 h 293"/>
                    <a:gd name="T10" fmla="*/ 396 w 442"/>
                    <a:gd name="T11" fmla="*/ 185 h 293"/>
                    <a:gd name="T12" fmla="*/ 49 w 442"/>
                    <a:gd name="T13" fmla="*/ 200 h 2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42" h="293">
                      <a:moveTo>
                        <a:pt x="49" y="200"/>
                      </a:moveTo>
                      <a:lnTo>
                        <a:pt x="0" y="156"/>
                      </a:lnTo>
                      <a:lnTo>
                        <a:pt x="45" y="107"/>
                      </a:lnTo>
                      <a:cubicBezTo>
                        <a:pt x="136" y="7"/>
                        <a:pt x="292" y="0"/>
                        <a:pt x="392" y="91"/>
                      </a:cubicBezTo>
                      <a:lnTo>
                        <a:pt x="441" y="137"/>
                      </a:lnTo>
                      <a:lnTo>
                        <a:pt x="396" y="185"/>
                      </a:lnTo>
                      <a:cubicBezTo>
                        <a:pt x="304" y="285"/>
                        <a:pt x="149" y="292"/>
                        <a:pt x="49" y="200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343F0B3-495F-9444-816E-38B2C9F55C5E}"/>
                </a:ext>
              </a:extLst>
            </p:cNvPr>
            <p:cNvSpPr txBox="1"/>
            <p:nvPr userDrawn="1"/>
          </p:nvSpPr>
          <p:spPr>
            <a:xfrm>
              <a:off x="5783563" y="5979422"/>
              <a:ext cx="1723549" cy="7232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zh-CN" altLang="en-US" sz="1800" spc="600" dirty="0">
                  <a:solidFill>
                    <a:srgbClr val="5B30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计算机网络</a:t>
              </a:r>
              <a:endParaRPr lang="en-US" altLang="zh-CN" sz="1800" spc="600" dirty="0">
                <a:solidFill>
                  <a:srgbClr val="5B307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ts val="600"/>
                </a:spcBef>
              </a:pPr>
              <a:r>
                <a:rPr lang="zh-CN" altLang="en-US" sz="1800" spc="600" dirty="0">
                  <a:solidFill>
                    <a:srgbClr val="5B30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教案社区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6427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FBB5D1D6-FEDC-364E-ADD0-80C842FD6986}"/>
              </a:ext>
            </a:extLst>
          </p:cNvPr>
          <p:cNvSpPr/>
          <p:nvPr userDrawn="1"/>
        </p:nvSpPr>
        <p:spPr>
          <a:xfrm>
            <a:off x="667831" y="541554"/>
            <a:ext cx="509313" cy="498948"/>
          </a:xfrm>
          <a:prstGeom prst="rect">
            <a:avLst/>
          </a:prstGeom>
          <a:solidFill>
            <a:srgbClr val="5C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5C307E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23457C5-5D0E-4F46-9D0B-7EA2985DF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FA45BE-434F-B44C-99F8-C563AC076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758"/>
            <a:ext cx="10515600" cy="4586694"/>
          </a:xfrm>
        </p:spPr>
        <p:txBody>
          <a:bodyPr/>
          <a:lstStyle>
            <a:lvl1pPr marL="360363" indent="-360363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/>
              <a:defRPr/>
            </a:lvl1pPr>
            <a:lvl2pPr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1C8C13-A111-E44B-BB6E-32C9AFF870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CN"/>
              <a:t>5.3 </a:t>
            </a:r>
            <a:r>
              <a:rPr kumimoji="1" lang="zh-CN" altLang="en-US"/>
              <a:t>网络互联</a:t>
            </a:r>
            <a:endParaRPr kumimoji="1"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7B7B75-EEC1-2D4D-AB7C-5A3514969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9303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/>
              <a:t>引自：</a:t>
            </a:r>
            <a:r>
              <a:rPr kumimoji="1" lang="en-US" altLang="zh-CN" dirty="0"/>
              <a:t>XXXXX</a:t>
            </a:r>
            <a:r>
              <a:rPr kumimoji="1" lang="zh-CN" altLang="en-US" dirty="0"/>
              <a:t>（如果需要）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DBE6BC-6A1B-1944-BBB6-30FD8C33B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10" y="6489303"/>
            <a:ext cx="3319670" cy="365125"/>
          </a:xfrm>
          <a:prstGeom prst="rect">
            <a:avLst/>
          </a:prstGeom>
        </p:spPr>
        <p:txBody>
          <a:bodyPr/>
          <a:lstStyle/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9E7AFED4-5702-094E-A3B8-21EB069F234E}"/>
              </a:ext>
            </a:extLst>
          </p:cNvPr>
          <p:cNvCxnSpPr>
            <a:cxnSpLocks/>
          </p:cNvCxnSpPr>
          <p:nvPr userDrawn="1"/>
        </p:nvCxnSpPr>
        <p:spPr>
          <a:xfrm>
            <a:off x="1314788" y="1244212"/>
            <a:ext cx="7295812" cy="0"/>
          </a:xfrm>
          <a:prstGeom prst="line">
            <a:avLst/>
          </a:prstGeom>
          <a:ln w="19050">
            <a:solidFill>
              <a:srgbClr val="5C3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AB0058AB-B1F1-354B-AC17-D97CF5C61CCA}"/>
              </a:ext>
            </a:extLst>
          </p:cNvPr>
          <p:cNvGrpSpPr/>
          <p:nvPr userDrawn="1"/>
        </p:nvGrpSpPr>
        <p:grpSpPr>
          <a:xfrm>
            <a:off x="9849450" y="844221"/>
            <a:ext cx="1961485" cy="208345"/>
            <a:chOff x="1368170" y="1165302"/>
            <a:chExt cx="4139947" cy="439737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AAF2B681-E82A-B44D-9C2D-B50F21D83567}"/>
                </a:ext>
              </a:extLst>
            </p:cNvPr>
            <p:cNvGrpSpPr/>
            <p:nvPr/>
          </p:nvGrpSpPr>
          <p:grpSpPr>
            <a:xfrm>
              <a:off x="1368170" y="1165302"/>
              <a:ext cx="550582" cy="439737"/>
              <a:chOff x="1368170" y="664579"/>
              <a:chExt cx="550582" cy="439737"/>
            </a:xfrm>
          </p:grpSpPr>
          <p:sp>
            <p:nvSpPr>
              <p:cNvPr id="53" name="Freeform 1">
                <a:extLst>
                  <a:ext uri="{FF2B5EF4-FFF2-40B4-BE49-F238E27FC236}">
                    <a16:creationId xmlns:a16="http://schemas.microsoft.com/office/drawing/2014/main" id="{0961A78E-DF61-2349-8E10-2E9861DBEA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1203" y="771778"/>
                <a:ext cx="437549" cy="332538"/>
              </a:xfrm>
              <a:custGeom>
                <a:avLst/>
                <a:gdLst>
                  <a:gd name="T0" fmla="*/ 25 w 2647"/>
                  <a:gd name="T1" fmla="*/ 1478 h 2011"/>
                  <a:gd name="T2" fmla="*/ 525 w 2647"/>
                  <a:gd name="T3" fmla="*/ 1865 h 2011"/>
                  <a:gd name="T4" fmla="*/ 736 w 2647"/>
                  <a:gd name="T5" fmla="*/ 1972 h 2011"/>
                  <a:gd name="T6" fmla="*/ 940 w 2647"/>
                  <a:gd name="T7" fmla="*/ 2010 h 2011"/>
                  <a:gd name="T8" fmla="*/ 1078 w 2647"/>
                  <a:gd name="T9" fmla="*/ 1991 h 2011"/>
                  <a:gd name="T10" fmla="*/ 1286 w 2647"/>
                  <a:gd name="T11" fmla="*/ 1894 h 2011"/>
                  <a:gd name="T12" fmla="*/ 1506 w 2647"/>
                  <a:gd name="T13" fmla="*/ 1715 h 2011"/>
                  <a:gd name="T14" fmla="*/ 1506 w 2647"/>
                  <a:gd name="T15" fmla="*/ 1715 h 2011"/>
                  <a:gd name="T16" fmla="*/ 2630 w 2647"/>
                  <a:gd name="T17" fmla="*/ 624 h 2011"/>
                  <a:gd name="T18" fmla="*/ 2646 w 2647"/>
                  <a:gd name="T19" fmla="*/ 586 h 2011"/>
                  <a:gd name="T20" fmla="*/ 2630 w 2647"/>
                  <a:gd name="T21" fmla="*/ 548 h 2011"/>
                  <a:gd name="T22" fmla="*/ 2090 w 2647"/>
                  <a:gd name="T23" fmla="*/ 21 h 2011"/>
                  <a:gd name="T24" fmla="*/ 2016 w 2647"/>
                  <a:gd name="T25" fmla="*/ 22 h 2011"/>
                  <a:gd name="T26" fmla="*/ 2017 w 2647"/>
                  <a:gd name="T27" fmla="*/ 96 h 2011"/>
                  <a:gd name="T28" fmla="*/ 2518 w 2647"/>
                  <a:gd name="T29" fmla="*/ 586 h 2011"/>
                  <a:gd name="T30" fmla="*/ 1433 w 2647"/>
                  <a:gd name="T31" fmla="*/ 1639 h 2011"/>
                  <a:gd name="T32" fmla="*/ 1433 w 2647"/>
                  <a:gd name="T33" fmla="*/ 1639 h 2011"/>
                  <a:gd name="T34" fmla="*/ 1167 w 2647"/>
                  <a:gd name="T35" fmla="*/ 1843 h 2011"/>
                  <a:gd name="T36" fmla="*/ 1051 w 2647"/>
                  <a:gd name="T37" fmla="*/ 1889 h 2011"/>
                  <a:gd name="T38" fmla="*/ 940 w 2647"/>
                  <a:gd name="T39" fmla="*/ 1904 h 2011"/>
                  <a:gd name="T40" fmla="*/ 772 w 2647"/>
                  <a:gd name="T41" fmla="*/ 1872 h 2011"/>
                  <a:gd name="T42" fmla="*/ 474 w 2647"/>
                  <a:gd name="T43" fmla="*/ 1704 h 2011"/>
                  <a:gd name="T44" fmla="*/ 93 w 2647"/>
                  <a:gd name="T45" fmla="*/ 1398 h 2011"/>
                  <a:gd name="T46" fmla="*/ 19 w 2647"/>
                  <a:gd name="T47" fmla="*/ 1404 h 2011"/>
                  <a:gd name="T48" fmla="*/ 25 w 2647"/>
                  <a:gd name="T49" fmla="*/ 1478 h 20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647" h="2011">
                    <a:moveTo>
                      <a:pt x="25" y="1478"/>
                    </a:moveTo>
                    <a:cubicBezTo>
                      <a:pt x="219" y="1643"/>
                      <a:pt x="380" y="1773"/>
                      <a:pt x="525" y="1865"/>
                    </a:cubicBezTo>
                    <a:cubicBezTo>
                      <a:pt x="598" y="1911"/>
                      <a:pt x="668" y="1947"/>
                      <a:pt x="736" y="1972"/>
                    </a:cubicBezTo>
                    <a:cubicBezTo>
                      <a:pt x="805" y="1996"/>
                      <a:pt x="872" y="2010"/>
                      <a:pt x="940" y="2010"/>
                    </a:cubicBezTo>
                    <a:cubicBezTo>
                      <a:pt x="986" y="2010"/>
                      <a:pt x="1032" y="2004"/>
                      <a:pt x="1078" y="1991"/>
                    </a:cubicBezTo>
                    <a:cubicBezTo>
                      <a:pt x="1147" y="1973"/>
                      <a:pt x="1216" y="1940"/>
                      <a:pt x="1286" y="1894"/>
                    </a:cubicBezTo>
                    <a:cubicBezTo>
                      <a:pt x="1357" y="1848"/>
                      <a:pt x="1429" y="1789"/>
                      <a:pt x="1506" y="1715"/>
                    </a:cubicBezTo>
                    <a:lnTo>
                      <a:pt x="1506" y="1715"/>
                    </a:lnTo>
                    <a:lnTo>
                      <a:pt x="2630" y="624"/>
                    </a:lnTo>
                    <a:cubicBezTo>
                      <a:pt x="2640" y="614"/>
                      <a:pt x="2646" y="600"/>
                      <a:pt x="2646" y="586"/>
                    </a:cubicBezTo>
                    <a:cubicBezTo>
                      <a:pt x="2646" y="572"/>
                      <a:pt x="2641" y="558"/>
                      <a:pt x="2630" y="548"/>
                    </a:cubicBezTo>
                    <a:lnTo>
                      <a:pt x="2090" y="21"/>
                    </a:lnTo>
                    <a:cubicBezTo>
                      <a:pt x="2069" y="0"/>
                      <a:pt x="2036" y="1"/>
                      <a:pt x="2016" y="22"/>
                    </a:cubicBezTo>
                    <a:cubicBezTo>
                      <a:pt x="1995" y="42"/>
                      <a:pt x="1996" y="76"/>
                      <a:pt x="2017" y="96"/>
                    </a:cubicBezTo>
                    <a:lnTo>
                      <a:pt x="2518" y="586"/>
                    </a:lnTo>
                    <a:lnTo>
                      <a:pt x="1433" y="1639"/>
                    </a:lnTo>
                    <a:lnTo>
                      <a:pt x="1433" y="1639"/>
                    </a:lnTo>
                    <a:cubicBezTo>
                      <a:pt x="1335" y="1733"/>
                      <a:pt x="1247" y="1800"/>
                      <a:pt x="1167" y="1843"/>
                    </a:cubicBezTo>
                    <a:cubicBezTo>
                      <a:pt x="1127" y="1864"/>
                      <a:pt x="1088" y="1879"/>
                      <a:pt x="1051" y="1889"/>
                    </a:cubicBezTo>
                    <a:cubicBezTo>
                      <a:pt x="1013" y="1899"/>
                      <a:pt x="977" y="1904"/>
                      <a:pt x="940" y="1904"/>
                    </a:cubicBezTo>
                    <a:cubicBezTo>
                      <a:pt x="886" y="1904"/>
                      <a:pt x="831" y="1894"/>
                      <a:pt x="772" y="1872"/>
                    </a:cubicBezTo>
                    <a:cubicBezTo>
                      <a:pt x="683" y="1840"/>
                      <a:pt x="586" y="1784"/>
                      <a:pt x="474" y="1704"/>
                    </a:cubicBezTo>
                    <a:cubicBezTo>
                      <a:pt x="363" y="1624"/>
                      <a:pt x="238" y="1521"/>
                      <a:pt x="93" y="1398"/>
                    </a:cubicBezTo>
                    <a:cubicBezTo>
                      <a:pt x="71" y="1379"/>
                      <a:pt x="38" y="1382"/>
                      <a:pt x="19" y="1404"/>
                    </a:cubicBezTo>
                    <a:cubicBezTo>
                      <a:pt x="0" y="1426"/>
                      <a:pt x="3" y="1459"/>
                      <a:pt x="25" y="1478"/>
                    </a:cubicBezTo>
                  </a:path>
                </a:pathLst>
              </a:custGeom>
              <a:solidFill>
                <a:srgbClr val="D7222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" name="Freeform 2">
                <a:extLst>
                  <a:ext uri="{FF2B5EF4-FFF2-40B4-BE49-F238E27FC236}">
                    <a16:creationId xmlns:a16="http://schemas.microsoft.com/office/drawing/2014/main" id="{1B3EB2F6-21CF-A24E-9B62-5D7928C20B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832" y="868769"/>
                <a:ext cx="356603" cy="190334"/>
              </a:xfrm>
              <a:custGeom>
                <a:avLst/>
                <a:gdLst>
                  <a:gd name="T0" fmla="*/ 15 w 2158"/>
                  <a:gd name="T1" fmla="*/ 713 h 1152"/>
                  <a:gd name="T2" fmla="*/ 432 w 2158"/>
                  <a:gd name="T3" fmla="*/ 1033 h 1152"/>
                  <a:gd name="T4" fmla="*/ 605 w 2158"/>
                  <a:gd name="T5" fmla="*/ 1120 h 1152"/>
                  <a:gd name="T6" fmla="*/ 771 w 2158"/>
                  <a:gd name="T7" fmla="*/ 1151 h 1152"/>
                  <a:gd name="T8" fmla="*/ 896 w 2158"/>
                  <a:gd name="T9" fmla="*/ 1132 h 1152"/>
                  <a:gd name="T10" fmla="*/ 1089 w 2158"/>
                  <a:gd name="T11" fmla="*/ 1036 h 1152"/>
                  <a:gd name="T12" fmla="*/ 1305 w 2158"/>
                  <a:gd name="T13" fmla="*/ 856 h 1152"/>
                  <a:gd name="T14" fmla="*/ 1305 w 2158"/>
                  <a:gd name="T15" fmla="*/ 856 h 1152"/>
                  <a:gd name="T16" fmla="*/ 2144 w 2158"/>
                  <a:gd name="T17" fmla="*/ 57 h 1152"/>
                  <a:gd name="T18" fmla="*/ 2145 w 2158"/>
                  <a:gd name="T19" fmla="*/ 13 h 1152"/>
                  <a:gd name="T20" fmla="*/ 2100 w 2158"/>
                  <a:gd name="T21" fmla="*/ 12 h 1152"/>
                  <a:gd name="T22" fmla="*/ 1262 w 2158"/>
                  <a:gd name="T23" fmla="*/ 811 h 1152"/>
                  <a:gd name="T24" fmla="*/ 1262 w 2158"/>
                  <a:gd name="T25" fmla="*/ 811 h 1152"/>
                  <a:gd name="T26" fmla="*/ 993 w 2158"/>
                  <a:gd name="T27" fmla="*/ 1023 h 1152"/>
                  <a:gd name="T28" fmla="*/ 878 w 2158"/>
                  <a:gd name="T29" fmla="*/ 1072 h 1152"/>
                  <a:gd name="T30" fmla="*/ 771 w 2158"/>
                  <a:gd name="T31" fmla="*/ 1088 h 1152"/>
                  <a:gd name="T32" fmla="*/ 626 w 2158"/>
                  <a:gd name="T33" fmla="*/ 1061 h 1152"/>
                  <a:gd name="T34" fmla="*/ 376 w 2158"/>
                  <a:gd name="T35" fmla="*/ 920 h 1152"/>
                  <a:gd name="T36" fmla="*/ 55 w 2158"/>
                  <a:gd name="T37" fmla="*/ 665 h 1152"/>
                  <a:gd name="T38" fmla="*/ 11 w 2158"/>
                  <a:gd name="T39" fmla="*/ 669 h 1152"/>
                  <a:gd name="T40" fmla="*/ 15 w 2158"/>
                  <a:gd name="T41" fmla="*/ 713 h 1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58" h="1152">
                    <a:moveTo>
                      <a:pt x="15" y="713"/>
                    </a:moveTo>
                    <a:cubicBezTo>
                      <a:pt x="179" y="850"/>
                      <a:pt x="312" y="958"/>
                      <a:pt x="432" y="1033"/>
                    </a:cubicBezTo>
                    <a:cubicBezTo>
                      <a:pt x="492" y="1071"/>
                      <a:pt x="549" y="1100"/>
                      <a:pt x="605" y="1120"/>
                    </a:cubicBezTo>
                    <a:cubicBezTo>
                      <a:pt x="661" y="1140"/>
                      <a:pt x="716" y="1151"/>
                      <a:pt x="771" y="1151"/>
                    </a:cubicBezTo>
                    <a:cubicBezTo>
                      <a:pt x="812" y="1151"/>
                      <a:pt x="854" y="1145"/>
                      <a:pt x="896" y="1132"/>
                    </a:cubicBezTo>
                    <a:cubicBezTo>
                      <a:pt x="959" y="1114"/>
                      <a:pt x="1022" y="1082"/>
                      <a:pt x="1089" y="1036"/>
                    </a:cubicBezTo>
                    <a:cubicBezTo>
                      <a:pt x="1156" y="990"/>
                      <a:pt x="1227" y="931"/>
                      <a:pt x="1305" y="856"/>
                    </a:cubicBezTo>
                    <a:lnTo>
                      <a:pt x="1305" y="856"/>
                    </a:lnTo>
                    <a:lnTo>
                      <a:pt x="2144" y="57"/>
                    </a:lnTo>
                    <a:cubicBezTo>
                      <a:pt x="2156" y="45"/>
                      <a:pt x="2157" y="25"/>
                      <a:pt x="2145" y="13"/>
                    </a:cubicBezTo>
                    <a:cubicBezTo>
                      <a:pt x="2133" y="0"/>
                      <a:pt x="2113" y="0"/>
                      <a:pt x="2100" y="12"/>
                    </a:cubicBezTo>
                    <a:lnTo>
                      <a:pt x="1262" y="811"/>
                    </a:lnTo>
                    <a:lnTo>
                      <a:pt x="1262" y="811"/>
                    </a:lnTo>
                    <a:cubicBezTo>
                      <a:pt x="1160" y="908"/>
                      <a:pt x="1072" y="978"/>
                      <a:pt x="993" y="1023"/>
                    </a:cubicBezTo>
                    <a:cubicBezTo>
                      <a:pt x="953" y="1045"/>
                      <a:pt x="915" y="1062"/>
                      <a:pt x="878" y="1072"/>
                    </a:cubicBezTo>
                    <a:cubicBezTo>
                      <a:pt x="842" y="1083"/>
                      <a:pt x="806" y="1088"/>
                      <a:pt x="771" y="1088"/>
                    </a:cubicBezTo>
                    <a:cubicBezTo>
                      <a:pt x="724" y="1088"/>
                      <a:pt x="677" y="1079"/>
                      <a:pt x="626" y="1061"/>
                    </a:cubicBezTo>
                    <a:cubicBezTo>
                      <a:pt x="551" y="1034"/>
                      <a:pt x="469" y="987"/>
                      <a:pt x="376" y="920"/>
                    </a:cubicBezTo>
                    <a:cubicBezTo>
                      <a:pt x="282" y="853"/>
                      <a:pt x="177" y="767"/>
                      <a:pt x="55" y="665"/>
                    </a:cubicBezTo>
                    <a:cubicBezTo>
                      <a:pt x="42" y="654"/>
                      <a:pt x="22" y="656"/>
                      <a:pt x="11" y="669"/>
                    </a:cubicBezTo>
                    <a:cubicBezTo>
                      <a:pt x="0" y="682"/>
                      <a:pt x="1" y="702"/>
                      <a:pt x="15" y="713"/>
                    </a:cubicBezTo>
                  </a:path>
                </a:pathLst>
              </a:custGeom>
              <a:solidFill>
                <a:srgbClr val="DD4A1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" name="Freeform 3">
                <a:extLst>
                  <a:ext uri="{FF2B5EF4-FFF2-40B4-BE49-F238E27FC236}">
                    <a16:creationId xmlns:a16="http://schemas.microsoft.com/office/drawing/2014/main" id="{81A1399D-3A4A-4346-8C84-7B455211A8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0273" y="847620"/>
                <a:ext cx="304826" cy="169186"/>
              </a:xfrm>
              <a:custGeom>
                <a:avLst/>
                <a:gdLst>
                  <a:gd name="T0" fmla="*/ 12 w 1845"/>
                  <a:gd name="T1" fmla="*/ 672 h 1022"/>
                  <a:gd name="T2" fmla="*/ 350 w 1845"/>
                  <a:gd name="T3" fmla="*/ 928 h 1022"/>
                  <a:gd name="T4" fmla="*/ 488 w 1845"/>
                  <a:gd name="T5" fmla="*/ 997 h 1022"/>
                  <a:gd name="T6" fmla="*/ 620 w 1845"/>
                  <a:gd name="T7" fmla="*/ 1021 h 1022"/>
                  <a:gd name="T8" fmla="*/ 734 w 1845"/>
                  <a:gd name="T9" fmla="*/ 1003 h 1022"/>
                  <a:gd name="T10" fmla="*/ 915 w 1845"/>
                  <a:gd name="T11" fmla="*/ 905 h 1022"/>
                  <a:gd name="T12" fmla="*/ 1129 w 1845"/>
                  <a:gd name="T13" fmla="*/ 720 h 1022"/>
                  <a:gd name="T14" fmla="*/ 1129 w 1845"/>
                  <a:gd name="T15" fmla="*/ 720 h 1022"/>
                  <a:gd name="T16" fmla="*/ 1834 w 1845"/>
                  <a:gd name="T17" fmla="*/ 42 h 1022"/>
                  <a:gd name="T18" fmla="*/ 1835 w 1845"/>
                  <a:gd name="T19" fmla="*/ 10 h 1022"/>
                  <a:gd name="T20" fmla="*/ 1802 w 1845"/>
                  <a:gd name="T21" fmla="*/ 9 h 1022"/>
                  <a:gd name="T22" fmla="*/ 1097 w 1845"/>
                  <a:gd name="T23" fmla="*/ 687 h 1022"/>
                  <a:gd name="T24" fmla="*/ 1097 w 1845"/>
                  <a:gd name="T25" fmla="*/ 687 h 1022"/>
                  <a:gd name="T26" fmla="*/ 828 w 1845"/>
                  <a:gd name="T27" fmla="*/ 907 h 1022"/>
                  <a:gd name="T28" fmla="*/ 720 w 1845"/>
                  <a:gd name="T29" fmla="*/ 959 h 1022"/>
                  <a:gd name="T30" fmla="*/ 620 w 1845"/>
                  <a:gd name="T31" fmla="*/ 975 h 1022"/>
                  <a:gd name="T32" fmla="*/ 504 w 1845"/>
                  <a:gd name="T33" fmla="*/ 954 h 1022"/>
                  <a:gd name="T34" fmla="*/ 302 w 1845"/>
                  <a:gd name="T35" fmla="*/ 841 h 1022"/>
                  <a:gd name="T36" fmla="*/ 41 w 1845"/>
                  <a:gd name="T37" fmla="*/ 636 h 1022"/>
                  <a:gd name="T38" fmla="*/ 9 w 1845"/>
                  <a:gd name="T39" fmla="*/ 640 h 1022"/>
                  <a:gd name="T40" fmla="*/ 12 w 1845"/>
                  <a:gd name="T41" fmla="*/ 672 h 10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45" h="1022">
                    <a:moveTo>
                      <a:pt x="12" y="672"/>
                    </a:moveTo>
                    <a:cubicBezTo>
                      <a:pt x="146" y="782"/>
                      <a:pt x="254" y="868"/>
                      <a:pt x="350" y="928"/>
                    </a:cubicBezTo>
                    <a:cubicBezTo>
                      <a:pt x="398" y="958"/>
                      <a:pt x="444" y="981"/>
                      <a:pt x="488" y="997"/>
                    </a:cubicBezTo>
                    <a:cubicBezTo>
                      <a:pt x="533" y="1013"/>
                      <a:pt x="576" y="1021"/>
                      <a:pt x="620" y="1021"/>
                    </a:cubicBezTo>
                    <a:cubicBezTo>
                      <a:pt x="658" y="1021"/>
                      <a:pt x="695" y="1015"/>
                      <a:pt x="734" y="1003"/>
                    </a:cubicBezTo>
                    <a:cubicBezTo>
                      <a:pt x="791" y="984"/>
                      <a:pt x="850" y="952"/>
                      <a:pt x="915" y="905"/>
                    </a:cubicBezTo>
                    <a:cubicBezTo>
                      <a:pt x="980" y="858"/>
                      <a:pt x="1050" y="797"/>
                      <a:pt x="1129" y="720"/>
                    </a:cubicBezTo>
                    <a:lnTo>
                      <a:pt x="1129" y="720"/>
                    </a:lnTo>
                    <a:lnTo>
                      <a:pt x="1834" y="42"/>
                    </a:lnTo>
                    <a:cubicBezTo>
                      <a:pt x="1843" y="34"/>
                      <a:pt x="1844" y="19"/>
                      <a:pt x="1835" y="10"/>
                    </a:cubicBezTo>
                    <a:cubicBezTo>
                      <a:pt x="1826" y="1"/>
                      <a:pt x="1811" y="0"/>
                      <a:pt x="1802" y="9"/>
                    </a:cubicBezTo>
                    <a:lnTo>
                      <a:pt x="1097" y="687"/>
                    </a:lnTo>
                    <a:lnTo>
                      <a:pt x="1097" y="687"/>
                    </a:lnTo>
                    <a:cubicBezTo>
                      <a:pt x="992" y="788"/>
                      <a:pt x="905" y="861"/>
                      <a:pt x="828" y="907"/>
                    </a:cubicBezTo>
                    <a:cubicBezTo>
                      <a:pt x="790" y="931"/>
                      <a:pt x="754" y="948"/>
                      <a:pt x="720" y="959"/>
                    </a:cubicBezTo>
                    <a:cubicBezTo>
                      <a:pt x="685" y="970"/>
                      <a:pt x="653" y="975"/>
                      <a:pt x="620" y="975"/>
                    </a:cubicBezTo>
                    <a:cubicBezTo>
                      <a:pt x="582" y="975"/>
                      <a:pt x="544" y="968"/>
                      <a:pt x="504" y="954"/>
                    </a:cubicBezTo>
                    <a:cubicBezTo>
                      <a:pt x="443" y="932"/>
                      <a:pt x="378" y="894"/>
                      <a:pt x="302" y="841"/>
                    </a:cubicBezTo>
                    <a:cubicBezTo>
                      <a:pt x="227" y="787"/>
                      <a:pt x="141" y="718"/>
                      <a:pt x="41" y="636"/>
                    </a:cubicBezTo>
                    <a:cubicBezTo>
                      <a:pt x="31" y="628"/>
                      <a:pt x="17" y="630"/>
                      <a:pt x="9" y="640"/>
                    </a:cubicBezTo>
                    <a:cubicBezTo>
                      <a:pt x="0" y="649"/>
                      <a:pt x="2" y="664"/>
                      <a:pt x="12" y="672"/>
                    </a:cubicBezTo>
                  </a:path>
                </a:pathLst>
              </a:custGeom>
              <a:solidFill>
                <a:srgbClr val="EA741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" name="Freeform 4">
                <a:extLst>
                  <a:ext uri="{FF2B5EF4-FFF2-40B4-BE49-F238E27FC236}">
                    <a16:creationId xmlns:a16="http://schemas.microsoft.com/office/drawing/2014/main" id="{E9BBE6CF-9D5F-7A45-BADF-582C03D33A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8713" y="826472"/>
                <a:ext cx="253050" cy="148037"/>
              </a:xfrm>
              <a:custGeom>
                <a:avLst/>
                <a:gdLst>
                  <a:gd name="T0" fmla="*/ 8 w 1531"/>
                  <a:gd name="T1" fmla="*/ 630 h 895"/>
                  <a:gd name="T2" fmla="*/ 269 w 1531"/>
                  <a:gd name="T3" fmla="*/ 824 h 895"/>
                  <a:gd name="T4" fmla="*/ 374 w 1531"/>
                  <a:gd name="T5" fmla="*/ 876 h 895"/>
                  <a:gd name="T6" fmla="*/ 473 w 1531"/>
                  <a:gd name="T7" fmla="*/ 894 h 895"/>
                  <a:gd name="T8" fmla="*/ 573 w 1531"/>
                  <a:gd name="T9" fmla="*/ 875 h 895"/>
                  <a:gd name="T10" fmla="*/ 739 w 1531"/>
                  <a:gd name="T11" fmla="*/ 775 h 895"/>
                  <a:gd name="T12" fmla="*/ 953 w 1531"/>
                  <a:gd name="T13" fmla="*/ 584 h 895"/>
                  <a:gd name="T14" fmla="*/ 953 w 1531"/>
                  <a:gd name="T15" fmla="*/ 584 h 895"/>
                  <a:gd name="T16" fmla="*/ 1524 w 1531"/>
                  <a:gd name="T17" fmla="*/ 27 h 895"/>
                  <a:gd name="T18" fmla="*/ 1524 w 1531"/>
                  <a:gd name="T19" fmla="*/ 6 h 895"/>
                  <a:gd name="T20" fmla="*/ 1503 w 1531"/>
                  <a:gd name="T21" fmla="*/ 6 h 895"/>
                  <a:gd name="T22" fmla="*/ 932 w 1531"/>
                  <a:gd name="T23" fmla="*/ 563 h 895"/>
                  <a:gd name="T24" fmla="*/ 932 w 1531"/>
                  <a:gd name="T25" fmla="*/ 563 h 895"/>
                  <a:gd name="T26" fmla="*/ 663 w 1531"/>
                  <a:gd name="T27" fmla="*/ 793 h 895"/>
                  <a:gd name="T28" fmla="*/ 562 w 1531"/>
                  <a:gd name="T29" fmla="*/ 847 h 895"/>
                  <a:gd name="T30" fmla="*/ 473 w 1531"/>
                  <a:gd name="T31" fmla="*/ 865 h 895"/>
                  <a:gd name="T32" fmla="*/ 384 w 1531"/>
                  <a:gd name="T33" fmla="*/ 848 h 895"/>
                  <a:gd name="T34" fmla="*/ 229 w 1531"/>
                  <a:gd name="T35" fmla="*/ 762 h 895"/>
                  <a:gd name="T36" fmla="*/ 26 w 1531"/>
                  <a:gd name="T37" fmla="*/ 607 h 895"/>
                  <a:gd name="T38" fmla="*/ 5 w 1531"/>
                  <a:gd name="T39" fmla="*/ 609 h 895"/>
                  <a:gd name="T40" fmla="*/ 8 w 1531"/>
                  <a:gd name="T41" fmla="*/ 630 h 8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31" h="895">
                    <a:moveTo>
                      <a:pt x="8" y="630"/>
                    </a:moveTo>
                    <a:cubicBezTo>
                      <a:pt x="113" y="714"/>
                      <a:pt x="196" y="779"/>
                      <a:pt x="269" y="824"/>
                    </a:cubicBezTo>
                    <a:cubicBezTo>
                      <a:pt x="306" y="847"/>
                      <a:pt x="340" y="864"/>
                      <a:pt x="374" y="876"/>
                    </a:cubicBezTo>
                    <a:cubicBezTo>
                      <a:pt x="407" y="888"/>
                      <a:pt x="440" y="894"/>
                      <a:pt x="473" y="894"/>
                    </a:cubicBezTo>
                    <a:cubicBezTo>
                      <a:pt x="506" y="894"/>
                      <a:pt x="539" y="888"/>
                      <a:pt x="573" y="875"/>
                    </a:cubicBezTo>
                    <a:cubicBezTo>
                      <a:pt x="624" y="856"/>
                      <a:pt x="678" y="823"/>
                      <a:pt x="739" y="775"/>
                    </a:cubicBezTo>
                    <a:cubicBezTo>
                      <a:pt x="801" y="727"/>
                      <a:pt x="870" y="663"/>
                      <a:pt x="953" y="584"/>
                    </a:cubicBezTo>
                    <a:lnTo>
                      <a:pt x="953" y="584"/>
                    </a:lnTo>
                    <a:lnTo>
                      <a:pt x="1524" y="27"/>
                    </a:lnTo>
                    <a:cubicBezTo>
                      <a:pt x="1529" y="21"/>
                      <a:pt x="1530" y="12"/>
                      <a:pt x="1524" y="6"/>
                    </a:cubicBezTo>
                    <a:cubicBezTo>
                      <a:pt x="1518" y="0"/>
                      <a:pt x="1509" y="0"/>
                      <a:pt x="1503" y="6"/>
                    </a:cubicBezTo>
                    <a:lnTo>
                      <a:pt x="932" y="563"/>
                    </a:lnTo>
                    <a:lnTo>
                      <a:pt x="932" y="563"/>
                    </a:lnTo>
                    <a:cubicBezTo>
                      <a:pt x="823" y="668"/>
                      <a:pt x="737" y="744"/>
                      <a:pt x="663" y="793"/>
                    </a:cubicBezTo>
                    <a:cubicBezTo>
                      <a:pt x="627" y="818"/>
                      <a:pt x="594" y="836"/>
                      <a:pt x="562" y="847"/>
                    </a:cubicBezTo>
                    <a:cubicBezTo>
                      <a:pt x="531" y="859"/>
                      <a:pt x="502" y="865"/>
                      <a:pt x="473" y="865"/>
                    </a:cubicBezTo>
                    <a:cubicBezTo>
                      <a:pt x="444" y="865"/>
                      <a:pt x="415" y="859"/>
                      <a:pt x="384" y="848"/>
                    </a:cubicBezTo>
                    <a:cubicBezTo>
                      <a:pt x="338" y="832"/>
                      <a:pt x="288" y="803"/>
                      <a:pt x="229" y="762"/>
                    </a:cubicBezTo>
                    <a:cubicBezTo>
                      <a:pt x="171" y="722"/>
                      <a:pt x="105" y="669"/>
                      <a:pt x="26" y="607"/>
                    </a:cubicBezTo>
                    <a:cubicBezTo>
                      <a:pt x="20" y="602"/>
                      <a:pt x="10" y="603"/>
                      <a:pt x="5" y="609"/>
                    </a:cubicBezTo>
                    <a:cubicBezTo>
                      <a:pt x="0" y="615"/>
                      <a:pt x="1" y="625"/>
                      <a:pt x="8" y="630"/>
                    </a:cubicBezTo>
                  </a:path>
                </a:pathLst>
              </a:custGeom>
              <a:solidFill>
                <a:srgbClr val="F6C40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" name="Freeform 5">
                <a:extLst>
                  <a:ext uri="{FF2B5EF4-FFF2-40B4-BE49-F238E27FC236}">
                    <a16:creationId xmlns:a16="http://schemas.microsoft.com/office/drawing/2014/main" id="{4AA75148-84CF-0844-9DC3-A5A612E4F4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6425" y="805324"/>
                <a:ext cx="201273" cy="127619"/>
              </a:xfrm>
              <a:custGeom>
                <a:avLst/>
                <a:gdLst>
                  <a:gd name="T0" fmla="*/ 4 w 1217"/>
                  <a:gd name="T1" fmla="*/ 588 h 773"/>
                  <a:gd name="T2" fmla="*/ 193 w 1217"/>
                  <a:gd name="T3" fmla="*/ 724 h 773"/>
                  <a:gd name="T4" fmla="*/ 332 w 1217"/>
                  <a:gd name="T5" fmla="*/ 772 h 773"/>
                  <a:gd name="T6" fmla="*/ 415 w 1217"/>
                  <a:gd name="T7" fmla="*/ 752 h 773"/>
                  <a:gd name="T8" fmla="*/ 563 w 1217"/>
                  <a:gd name="T9" fmla="*/ 648 h 773"/>
                  <a:gd name="T10" fmla="*/ 776 w 1217"/>
                  <a:gd name="T11" fmla="*/ 448 h 773"/>
                  <a:gd name="T12" fmla="*/ 776 w 1217"/>
                  <a:gd name="T13" fmla="*/ 448 h 773"/>
                  <a:gd name="T14" fmla="*/ 1213 w 1217"/>
                  <a:gd name="T15" fmla="*/ 12 h 773"/>
                  <a:gd name="T16" fmla="*/ 1213 w 1217"/>
                  <a:gd name="T17" fmla="*/ 2 h 773"/>
                  <a:gd name="T18" fmla="*/ 1204 w 1217"/>
                  <a:gd name="T19" fmla="*/ 2 h 773"/>
                  <a:gd name="T20" fmla="*/ 767 w 1217"/>
                  <a:gd name="T21" fmla="*/ 439 h 773"/>
                  <a:gd name="T22" fmla="*/ 500 w 1217"/>
                  <a:gd name="T23" fmla="*/ 682 h 773"/>
                  <a:gd name="T24" fmla="*/ 410 w 1217"/>
                  <a:gd name="T25" fmla="*/ 740 h 773"/>
                  <a:gd name="T26" fmla="*/ 332 w 1217"/>
                  <a:gd name="T27" fmla="*/ 759 h 773"/>
                  <a:gd name="T28" fmla="*/ 199 w 1217"/>
                  <a:gd name="T29" fmla="*/ 712 h 773"/>
                  <a:gd name="T30" fmla="*/ 12 w 1217"/>
                  <a:gd name="T31" fmla="*/ 577 h 773"/>
                  <a:gd name="T32" fmla="*/ 2 w 1217"/>
                  <a:gd name="T33" fmla="*/ 578 h 773"/>
                  <a:gd name="T34" fmla="*/ 4 w 1217"/>
                  <a:gd name="T35" fmla="*/ 588 h 7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217" h="773">
                    <a:moveTo>
                      <a:pt x="4" y="588"/>
                    </a:moveTo>
                    <a:cubicBezTo>
                      <a:pt x="81" y="647"/>
                      <a:pt x="141" y="692"/>
                      <a:pt x="193" y="724"/>
                    </a:cubicBezTo>
                    <a:cubicBezTo>
                      <a:pt x="244" y="755"/>
                      <a:pt x="288" y="772"/>
                      <a:pt x="332" y="772"/>
                    </a:cubicBezTo>
                    <a:cubicBezTo>
                      <a:pt x="359" y="772"/>
                      <a:pt x="386" y="765"/>
                      <a:pt x="415" y="752"/>
                    </a:cubicBezTo>
                    <a:cubicBezTo>
                      <a:pt x="458" y="733"/>
                      <a:pt x="505" y="698"/>
                      <a:pt x="563" y="648"/>
                    </a:cubicBezTo>
                    <a:cubicBezTo>
                      <a:pt x="620" y="597"/>
                      <a:pt x="689" y="531"/>
                      <a:pt x="776" y="448"/>
                    </a:cubicBezTo>
                    <a:lnTo>
                      <a:pt x="776" y="448"/>
                    </a:lnTo>
                    <a:lnTo>
                      <a:pt x="1213" y="12"/>
                    </a:lnTo>
                    <a:cubicBezTo>
                      <a:pt x="1216" y="9"/>
                      <a:pt x="1216" y="5"/>
                      <a:pt x="1213" y="2"/>
                    </a:cubicBezTo>
                    <a:cubicBezTo>
                      <a:pt x="1210" y="0"/>
                      <a:pt x="1206" y="0"/>
                      <a:pt x="1204" y="2"/>
                    </a:cubicBezTo>
                    <a:lnTo>
                      <a:pt x="767" y="439"/>
                    </a:lnTo>
                    <a:cubicBezTo>
                      <a:pt x="651" y="549"/>
                      <a:pt x="568" y="630"/>
                      <a:pt x="500" y="682"/>
                    </a:cubicBezTo>
                    <a:cubicBezTo>
                      <a:pt x="466" y="709"/>
                      <a:pt x="437" y="728"/>
                      <a:pt x="410" y="740"/>
                    </a:cubicBezTo>
                    <a:cubicBezTo>
                      <a:pt x="382" y="753"/>
                      <a:pt x="357" y="759"/>
                      <a:pt x="332" y="759"/>
                    </a:cubicBezTo>
                    <a:cubicBezTo>
                      <a:pt x="291" y="759"/>
                      <a:pt x="250" y="743"/>
                      <a:pt x="199" y="712"/>
                    </a:cubicBezTo>
                    <a:cubicBezTo>
                      <a:pt x="149" y="682"/>
                      <a:pt x="89" y="636"/>
                      <a:pt x="12" y="577"/>
                    </a:cubicBezTo>
                    <a:cubicBezTo>
                      <a:pt x="9" y="575"/>
                      <a:pt x="4" y="575"/>
                      <a:pt x="2" y="578"/>
                    </a:cubicBezTo>
                    <a:cubicBezTo>
                      <a:pt x="0" y="581"/>
                      <a:pt x="1" y="585"/>
                      <a:pt x="4" y="588"/>
                    </a:cubicBezTo>
                  </a:path>
                </a:pathLst>
              </a:custGeom>
              <a:solidFill>
                <a:srgbClr val="F1E82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8" name="Freeform 6">
                <a:extLst>
                  <a:ext uri="{FF2B5EF4-FFF2-40B4-BE49-F238E27FC236}">
                    <a16:creationId xmlns:a16="http://schemas.microsoft.com/office/drawing/2014/main" id="{AB607A71-F482-B646-9976-486F89F112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170" y="664579"/>
                <a:ext cx="439737" cy="330350"/>
              </a:xfrm>
              <a:custGeom>
                <a:avLst/>
                <a:gdLst>
                  <a:gd name="T0" fmla="*/ 2631 w 2657"/>
                  <a:gd name="T1" fmla="*/ 532 h 1998"/>
                  <a:gd name="T2" fmla="*/ 2130 w 2657"/>
                  <a:gd name="T3" fmla="*/ 145 h 1998"/>
                  <a:gd name="T4" fmla="*/ 1920 w 2657"/>
                  <a:gd name="T5" fmla="*/ 38 h 1998"/>
                  <a:gd name="T6" fmla="*/ 1715 w 2657"/>
                  <a:gd name="T7" fmla="*/ 0 h 1998"/>
                  <a:gd name="T8" fmla="*/ 1578 w 2657"/>
                  <a:gd name="T9" fmla="*/ 19 h 1998"/>
                  <a:gd name="T10" fmla="*/ 1370 w 2657"/>
                  <a:gd name="T11" fmla="*/ 116 h 1998"/>
                  <a:gd name="T12" fmla="*/ 1150 w 2657"/>
                  <a:gd name="T13" fmla="*/ 295 h 1998"/>
                  <a:gd name="T14" fmla="*/ 1150 w 2657"/>
                  <a:gd name="T15" fmla="*/ 295 h 1998"/>
                  <a:gd name="T16" fmla="*/ 16 w 2657"/>
                  <a:gd name="T17" fmla="*/ 1368 h 1998"/>
                  <a:gd name="T18" fmla="*/ 0 w 2657"/>
                  <a:gd name="T19" fmla="*/ 1406 h 1998"/>
                  <a:gd name="T20" fmla="*/ 16 w 2657"/>
                  <a:gd name="T21" fmla="*/ 1444 h 1998"/>
                  <a:gd name="T22" fmla="*/ 566 w 2657"/>
                  <a:gd name="T23" fmla="*/ 1977 h 1998"/>
                  <a:gd name="T24" fmla="*/ 640 w 2657"/>
                  <a:gd name="T25" fmla="*/ 1976 h 1998"/>
                  <a:gd name="T26" fmla="*/ 639 w 2657"/>
                  <a:gd name="T27" fmla="*/ 1901 h 1998"/>
                  <a:gd name="T28" fmla="*/ 129 w 2657"/>
                  <a:gd name="T29" fmla="*/ 1406 h 1998"/>
                  <a:gd name="T30" fmla="*/ 1223 w 2657"/>
                  <a:gd name="T31" fmla="*/ 371 h 1998"/>
                  <a:gd name="T32" fmla="*/ 1223 w 2657"/>
                  <a:gd name="T33" fmla="*/ 371 h 1998"/>
                  <a:gd name="T34" fmla="*/ 1489 w 2657"/>
                  <a:gd name="T35" fmla="*/ 167 h 1998"/>
                  <a:gd name="T36" fmla="*/ 1605 w 2657"/>
                  <a:gd name="T37" fmla="*/ 121 h 1998"/>
                  <a:gd name="T38" fmla="*/ 1715 w 2657"/>
                  <a:gd name="T39" fmla="*/ 106 h 1998"/>
                  <a:gd name="T40" fmla="*/ 1884 w 2657"/>
                  <a:gd name="T41" fmla="*/ 138 h 1998"/>
                  <a:gd name="T42" fmla="*/ 2181 w 2657"/>
                  <a:gd name="T43" fmla="*/ 306 h 1998"/>
                  <a:gd name="T44" fmla="*/ 2562 w 2657"/>
                  <a:gd name="T45" fmla="*/ 612 h 1998"/>
                  <a:gd name="T46" fmla="*/ 2637 w 2657"/>
                  <a:gd name="T47" fmla="*/ 606 h 1998"/>
                  <a:gd name="T48" fmla="*/ 2631 w 2657"/>
                  <a:gd name="T49" fmla="*/ 532 h 19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657" h="1998">
                    <a:moveTo>
                      <a:pt x="2631" y="532"/>
                    </a:moveTo>
                    <a:cubicBezTo>
                      <a:pt x="2437" y="367"/>
                      <a:pt x="2276" y="237"/>
                      <a:pt x="2130" y="145"/>
                    </a:cubicBezTo>
                    <a:cubicBezTo>
                      <a:pt x="2058" y="99"/>
                      <a:pt x="1988" y="63"/>
                      <a:pt x="1920" y="38"/>
                    </a:cubicBezTo>
                    <a:cubicBezTo>
                      <a:pt x="1851" y="14"/>
                      <a:pt x="1783" y="0"/>
                      <a:pt x="1715" y="0"/>
                    </a:cubicBezTo>
                    <a:cubicBezTo>
                      <a:pt x="1669" y="0"/>
                      <a:pt x="1623" y="6"/>
                      <a:pt x="1578" y="19"/>
                    </a:cubicBezTo>
                    <a:cubicBezTo>
                      <a:pt x="1509" y="37"/>
                      <a:pt x="1440" y="70"/>
                      <a:pt x="1370" y="116"/>
                    </a:cubicBezTo>
                    <a:cubicBezTo>
                      <a:pt x="1299" y="162"/>
                      <a:pt x="1227" y="221"/>
                      <a:pt x="1150" y="295"/>
                    </a:cubicBezTo>
                    <a:lnTo>
                      <a:pt x="1150" y="295"/>
                    </a:lnTo>
                    <a:lnTo>
                      <a:pt x="16" y="1368"/>
                    </a:lnTo>
                    <a:cubicBezTo>
                      <a:pt x="6" y="1378"/>
                      <a:pt x="0" y="1391"/>
                      <a:pt x="0" y="1406"/>
                    </a:cubicBezTo>
                    <a:cubicBezTo>
                      <a:pt x="0" y="1420"/>
                      <a:pt x="6" y="1434"/>
                      <a:pt x="16" y="1444"/>
                    </a:cubicBezTo>
                    <a:lnTo>
                      <a:pt x="566" y="1977"/>
                    </a:lnTo>
                    <a:cubicBezTo>
                      <a:pt x="587" y="1997"/>
                      <a:pt x="619" y="1997"/>
                      <a:pt x="640" y="1976"/>
                    </a:cubicBezTo>
                    <a:cubicBezTo>
                      <a:pt x="660" y="1955"/>
                      <a:pt x="660" y="1921"/>
                      <a:pt x="639" y="1901"/>
                    </a:cubicBezTo>
                    <a:lnTo>
                      <a:pt x="129" y="1406"/>
                    </a:lnTo>
                    <a:lnTo>
                      <a:pt x="1223" y="371"/>
                    </a:lnTo>
                    <a:lnTo>
                      <a:pt x="1223" y="371"/>
                    </a:lnTo>
                    <a:cubicBezTo>
                      <a:pt x="1321" y="277"/>
                      <a:pt x="1409" y="210"/>
                      <a:pt x="1489" y="167"/>
                    </a:cubicBezTo>
                    <a:cubicBezTo>
                      <a:pt x="1529" y="146"/>
                      <a:pt x="1568" y="131"/>
                      <a:pt x="1605" y="121"/>
                    </a:cubicBezTo>
                    <a:cubicBezTo>
                      <a:pt x="1642" y="111"/>
                      <a:pt x="1679" y="106"/>
                      <a:pt x="1715" y="106"/>
                    </a:cubicBezTo>
                    <a:cubicBezTo>
                      <a:pt x="1770" y="106"/>
                      <a:pt x="1825" y="116"/>
                      <a:pt x="1884" y="138"/>
                    </a:cubicBezTo>
                    <a:cubicBezTo>
                      <a:pt x="1972" y="170"/>
                      <a:pt x="2070" y="226"/>
                      <a:pt x="2181" y="306"/>
                    </a:cubicBezTo>
                    <a:cubicBezTo>
                      <a:pt x="2293" y="387"/>
                      <a:pt x="2418" y="490"/>
                      <a:pt x="2562" y="612"/>
                    </a:cubicBezTo>
                    <a:cubicBezTo>
                      <a:pt x="2585" y="631"/>
                      <a:pt x="2618" y="628"/>
                      <a:pt x="2637" y="606"/>
                    </a:cubicBezTo>
                    <a:cubicBezTo>
                      <a:pt x="2656" y="584"/>
                      <a:pt x="2653" y="551"/>
                      <a:pt x="2631" y="532"/>
                    </a:cubicBezTo>
                  </a:path>
                </a:pathLst>
              </a:custGeom>
              <a:solidFill>
                <a:srgbClr val="157C5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" name="Freeform 7">
                <a:extLst>
                  <a:ext uri="{FF2B5EF4-FFF2-40B4-BE49-F238E27FC236}">
                    <a16:creationId xmlns:a16="http://schemas.microsoft.com/office/drawing/2014/main" id="{6DA5CE31-3E42-6346-B29B-FE9FF265D7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9946" y="709792"/>
                <a:ext cx="356603" cy="190334"/>
              </a:xfrm>
              <a:custGeom>
                <a:avLst/>
                <a:gdLst>
                  <a:gd name="T0" fmla="*/ 2142 w 2158"/>
                  <a:gd name="T1" fmla="*/ 438 h 1152"/>
                  <a:gd name="T2" fmla="*/ 1725 w 2158"/>
                  <a:gd name="T3" fmla="*/ 118 h 1152"/>
                  <a:gd name="T4" fmla="*/ 1552 w 2158"/>
                  <a:gd name="T5" fmla="*/ 31 h 1152"/>
                  <a:gd name="T6" fmla="*/ 1386 w 2158"/>
                  <a:gd name="T7" fmla="*/ 0 h 1152"/>
                  <a:gd name="T8" fmla="*/ 1261 w 2158"/>
                  <a:gd name="T9" fmla="*/ 19 h 1152"/>
                  <a:gd name="T10" fmla="*/ 1068 w 2158"/>
                  <a:gd name="T11" fmla="*/ 115 h 1152"/>
                  <a:gd name="T12" fmla="*/ 852 w 2158"/>
                  <a:gd name="T13" fmla="*/ 295 h 1152"/>
                  <a:gd name="T14" fmla="*/ 852 w 2158"/>
                  <a:gd name="T15" fmla="*/ 295 h 1152"/>
                  <a:gd name="T16" fmla="*/ 13 w 2158"/>
                  <a:gd name="T17" fmla="*/ 1094 h 1152"/>
                  <a:gd name="T18" fmla="*/ 12 w 2158"/>
                  <a:gd name="T19" fmla="*/ 1138 h 1152"/>
                  <a:gd name="T20" fmla="*/ 56 w 2158"/>
                  <a:gd name="T21" fmla="*/ 1139 h 1152"/>
                  <a:gd name="T22" fmla="*/ 895 w 2158"/>
                  <a:gd name="T23" fmla="*/ 340 h 1152"/>
                  <a:gd name="T24" fmla="*/ 895 w 2158"/>
                  <a:gd name="T25" fmla="*/ 340 h 1152"/>
                  <a:gd name="T26" fmla="*/ 1164 w 2158"/>
                  <a:gd name="T27" fmla="*/ 128 h 1152"/>
                  <a:gd name="T28" fmla="*/ 1279 w 2158"/>
                  <a:gd name="T29" fmla="*/ 79 h 1152"/>
                  <a:gd name="T30" fmla="*/ 1386 w 2158"/>
                  <a:gd name="T31" fmla="*/ 63 h 1152"/>
                  <a:gd name="T32" fmla="*/ 1531 w 2158"/>
                  <a:gd name="T33" fmla="*/ 90 h 1152"/>
                  <a:gd name="T34" fmla="*/ 1781 w 2158"/>
                  <a:gd name="T35" fmla="*/ 231 h 1152"/>
                  <a:gd name="T36" fmla="*/ 2102 w 2158"/>
                  <a:gd name="T37" fmla="*/ 486 h 1152"/>
                  <a:gd name="T38" fmla="*/ 2146 w 2158"/>
                  <a:gd name="T39" fmla="*/ 482 h 1152"/>
                  <a:gd name="T40" fmla="*/ 2142 w 2158"/>
                  <a:gd name="T41" fmla="*/ 438 h 1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58" h="1152">
                    <a:moveTo>
                      <a:pt x="2142" y="438"/>
                    </a:moveTo>
                    <a:cubicBezTo>
                      <a:pt x="1978" y="301"/>
                      <a:pt x="1845" y="193"/>
                      <a:pt x="1725" y="118"/>
                    </a:cubicBezTo>
                    <a:cubicBezTo>
                      <a:pt x="1664" y="80"/>
                      <a:pt x="1608" y="51"/>
                      <a:pt x="1552" y="31"/>
                    </a:cubicBezTo>
                    <a:cubicBezTo>
                      <a:pt x="1496" y="11"/>
                      <a:pt x="1441" y="0"/>
                      <a:pt x="1386" y="0"/>
                    </a:cubicBezTo>
                    <a:cubicBezTo>
                      <a:pt x="1344" y="0"/>
                      <a:pt x="1303" y="6"/>
                      <a:pt x="1261" y="19"/>
                    </a:cubicBezTo>
                    <a:cubicBezTo>
                      <a:pt x="1198" y="37"/>
                      <a:pt x="1135" y="69"/>
                      <a:pt x="1068" y="115"/>
                    </a:cubicBezTo>
                    <a:cubicBezTo>
                      <a:pt x="1000" y="161"/>
                      <a:pt x="930" y="220"/>
                      <a:pt x="852" y="295"/>
                    </a:cubicBezTo>
                    <a:lnTo>
                      <a:pt x="852" y="295"/>
                    </a:lnTo>
                    <a:lnTo>
                      <a:pt x="13" y="1094"/>
                    </a:lnTo>
                    <a:cubicBezTo>
                      <a:pt x="1" y="1106"/>
                      <a:pt x="0" y="1126"/>
                      <a:pt x="12" y="1138"/>
                    </a:cubicBezTo>
                    <a:cubicBezTo>
                      <a:pt x="24" y="1151"/>
                      <a:pt x="44" y="1151"/>
                      <a:pt x="56" y="1139"/>
                    </a:cubicBezTo>
                    <a:lnTo>
                      <a:pt x="895" y="340"/>
                    </a:lnTo>
                    <a:lnTo>
                      <a:pt x="895" y="340"/>
                    </a:lnTo>
                    <a:cubicBezTo>
                      <a:pt x="997" y="243"/>
                      <a:pt x="1085" y="173"/>
                      <a:pt x="1164" y="128"/>
                    </a:cubicBezTo>
                    <a:cubicBezTo>
                      <a:pt x="1204" y="106"/>
                      <a:pt x="1242" y="89"/>
                      <a:pt x="1279" y="79"/>
                    </a:cubicBezTo>
                    <a:cubicBezTo>
                      <a:pt x="1315" y="68"/>
                      <a:pt x="1351" y="63"/>
                      <a:pt x="1386" y="63"/>
                    </a:cubicBezTo>
                    <a:cubicBezTo>
                      <a:pt x="1433" y="63"/>
                      <a:pt x="1480" y="72"/>
                      <a:pt x="1531" y="90"/>
                    </a:cubicBezTo>
                    <a:cubicBezTo>
                      <a:pt x="1606" y="117"/>
                      <a:pt x="1688" y="164"/>
                      <a:pt x="1781" y="231"/>
                    </a:cubicBezTo>
                    <a:cubicBezTo>
                      <a:pt x="1874" y="298"/>
                      <a:pt x="1979" y="384"/>
                      <a:pt x="2102" y="486"/>
                    </a:cubicBezTo>
                    <a:cubicBezTo>
                      <a:pt x="2115" y="497"/>
                      <a:pt x="2135" y="495"/>
                      <a:pt x="2146" y="482"/>
                    </a:cubicBezTo>
                    <a:cubicBezTo>
                      <a:pt x="2157" y="469"/>
                      <a:pt x="2155" y="449"/>
                      <a:pt x="2142" y="438"/>
                    </a:cubicBezTo>
                  </a:path>
                </a:pathLst>
              </a:custGeom>
              <a:solidFill>
                <a:srgbClr val="04944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" name="Freeform 8">
                <a:extLst>
                  <a:ext uri="{FF2B5EF4-FFF2-40B4-BE49-F238E27FC236}">
                    <a16:creationId xmlns:a16="http://schemas.microsoft.com/office/drawing/2014/main" id="{CF0A24C0-A91E-F641-90F0-BC83EC4524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4012" y="752818"/>
                <a:ext cx="304826" cy="169186"/>
              </a:xfrm>
              <a:custGeom>
                <a:avLst/>
                <a:gdLst>
                  <a:gd name="T0" fmla="*/ 1832 w 1844"/>
                  <a:gd name="T1" fmla="*/ 349 h 1021"/>
                  <a:gd name="T2" fmla="*/ 1494 w 1844"/>
                  <a:gd name="T3" fmla="*/ 93 h 1021"/>
                  <a:gd name="T4" fmla="*/ 1356 w 1844"/>
                  <a:gd name="T5" fmla="*/ 24 h 1021"/>
                  <a:gd name="T6" fmla="*/ 1224 w 1844"/>
                  <a:gd name="T7" fmla="*/ 0 h 1021"/>
                  <a:gd name="T8" fmla="*/ 1110 w 1844"/>
                  <a:gd name="T9" fmla="*/ 18 h 1021"/>
                  <a:gd name="T10" fmla="*/ 929 w 1844"/>
                  <a:gd name="T11" fmla="*/ 116 h 1021"/>
                  <a:gd name="T12" fmla="*/ 715 w 1844"/>
                  <a:gd name="T13" fmla="*/ 301 h 1021"/>
                  <a:gd name="T14" fmla="*/ 714 w 1844"/>
                  <a:gd name="T15" fmla="*/ 301 h 1021"/>
                  <a:gd name="T16" fmla="*/ 10 w 1844"/>
                  <a:gd name="T17" fmla="*/ 978 h 1021"/>
                  <a:gd name="T18" fmla="*/ 9 w 1844"/>
                  <a:gd name="T19" fmla="*/ 1011 h 1021"/>
                  <a:gd name="T20" fmla="*/ 42 w 1844"/>
                  <a:gd name="T21" fmla="*/ 1012 h 1021"/>
                  <a:gd name="T22" fmla="*/ 746 w 1844"/>
                  <a:gd name="T23" fmla="*/ 334 h 1021"/>
                  <a:gd name="T24" fmla="*/ 746 w 1844"/>
                  <a:gd name="T25" fmla="*/ 334 h 1021"/>
                  <a:gd name="T26" fmla="*/ 1016 w 1844"/>
                  <a:gd name="T27" fmla="*/ 114 h 1021"/>
                  <a:gd name="T28" fmla="*/ 1124 w 1844"/>
                  <a:gd name="T29" fmla="*/ 62 h 1021"/>
                  <a:gd name="T30" fmla="*/ 1224 w 1844"/>
                  <a:gd name="T31" fmla="*/ 46 h 1021"/>
                  <a:gd name="T32" fmla="*/ 1340 w 1844"/>
                  <a:gd name="T33" fmla="*/ 67 h 1021"/>
                  <a:gd name="T34" fmla="*/ 1542 w 1844"/>
                  <a:gd name="T35" fmla="*/ 180 h 1021"/>
                  <a:gd name="T36" fmla="*/ 1803 w 1844"/>
                  <a:gd name="T37" fmla="*/ 385 h 1021"/>
                  <a:gd name="T38" fmla="*/ 1835 w 1844"/>
                  <a:gd name="T39" fmla="*/ 381 h 1021"/>
                  <a:gd name="T40" fmla="*/ 1832 w 1844"/>
                  <a:gd name="T41" fmla="*/ 349 h 10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44" h="1021">
                    <a:moveTo>
                      <a:pt x="1832" y="349"/>
                    </a:moveTo>
                    <a:cubicBezTo>
                      <a:pt x="1698" y="239"/>
                      <a:pt x="1590" y="153"/>
                      <a:pt x="1494" y="93"/>
                    </a:cubicBezTo>
                    <a:cubicBezTo>
                      <a:pt x="1446" y="63"/>
                      <a:pt x="1400" y="40"/>
                      <a:pt x="1356" y="24"/>
                    </a:cubicBezTo>
                    <a:cubicBezTo>
                      <a:pt x="1311" y="8"/>
                      <a:pt x="1268" y="0"/>
                      <a:pt x="1224" y="0"/>
                    </a:cubicBezTo>
                    <a:cubicBezTo>
                      <a:pt x="1186" y="0"/>
                      <a:pt x="1148" y="6"/>
                      <a:pt x="1110" y="18"/>
                    </a:cubicBezTo>
                    <a:cubicBezTo>
                      <a:pt x="1052" y="37"/>
                      <a:pt x="993" y="69"/>
                      <a:pt x="929" y="116"/>
                    </a:cubicBezTo>
                    <a:cubicBezTo>
                      <a:pt x="864" y="163"/>
                      <a:pt x="794" y="224"/>
                      <a:pt x="715" y="301"/>
                    </a:cubicBezTo>
                    <a:lnTo>
                      <a:pt x="714" y="301"/>
                    </a:lnTo>
                    <a:lnTo>
                      <a:pt x="10" y="978"/>
                    </a:lnTo>
                    <a:cubicBezTo>
                      <a:pt x="1" y="987"/>
                      <a:pt x="0" y="1002"/>
                      <a:pt x="9" y="1011"/>
                    </a:cubicBezTo>
                    <a:cubicBezTo>
                      <a:pt x="18" y="1020"/>
                      <a:pt x="33" y="1020"/>
                      <a:pt x="42" y="1012"/>
                    </a:cubicBezTo>
                    <a:lnTo>
                      <a:pt x="746" y="334"/>
                    </a:lnTo>
                    <a:lnTo>
                      <a:pt x="746" y="334"/>
                    </a:lnTo>
                    <a:cubicBezTo>
                      <a:pt x="851" y="233"/>
                      <a:pt x="939" y="160"/>
                      <a:pt x="1016" y="114"/>
                    </a:cubicBezTo>
                    <a:cubicBezTo>
                      <a:pt x="1054" y="90"/>
                      <a:pt x="1090" y="73"/>
                      <a:pt x="1124" y="62"/>
                    </a:cubicBezTo>
                    <a:cubicBezTo>
                      <a:pt x="1159" y="51"/>
                      <a:pt x="1191" y="46"/>
                      <a:pt x="1224" y="46"/>
                    </a:cubicBezTo>
                    <a:cubicBezTo>
                      <a:pt x="1262" y="46"/>
                      <a:pt x="1300" y="53"/>
                      <a:pt x="1340" y="67"/>
                    </a:cubicBezTo>
                    <a:cubicBezTo>
                      <a:pt x="1401" y="89"/>
                      <a:pt x="1466" y="127"/>
                      <a:pt x="1542" y="180"/>
                    </a:cubicBezTo>
                    <a:cubicBezTo>
                      <a:pt x="1617" y="234"/>
                      <a:pt x="1702" y="303"/>
                      <a:pt x="1803" y="385"/>
                    </a:cubicBezTo>
                    <a:cubicBezTo>
                      <a:pt x="1813" y="393"/>
                      <a:pt x="1827" y="391"/>
                      <a:pt x="1835" y="381"/>
                    </a:cubicBezTo>
                    <a:cubicBezTo>
                      <a:pt x="1843" y="372"/>
                      <a:pt x="1842" y="357"/>
                      <a:pt x="1832" y="349"/>
                    </a:cubicBezTo>
                  </a:path>
                </a:pathLst>
              </a:custGeom>
              <a:solidFill>
                <a:srgbClr val="48A83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" name="Freeform 9">
                <a:extLst>
                  <a:ext uri="{FF2B5EF4-FFF2-40B4-BE49-F238E27FC236}">
                    <a16:creationId xmlns:a16="http://schemas.microsoft.com/office/drawing/2014/main" id="{310AF166-F554-F74D-AB72-E414E499E2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7348" y="795114"/>
                <a:ext cx="253049" cy="148038"/>
              </a:xfrm>
              <a:custGeom>
                <a:avLst/>
                <a:gdLst>
                  <a:gd name="T0" fmla="*/ 1522 w 1530"/>
                  <a:gd name="T1" fmla="*/ 264 h 895"/>
                  <a:gd name="T2" fmla="*/ 1260 w 1530"/>
                  <a:gd name="T3" fmla="*/ 70 h 895"/>
                  <a:gd name="T4" fmla="*/ 1156 w 1530"/>
                  <a:gd name="T5" fmla="*/ 18 h 895"/>
                  <a:gd name="T6" fmla="*/ 1057 w 1530"/>
                  <a:gd name="T7" fmla="*/ 0 h 895"/>
                  <a:gd name="T8" fmla="*/ 957 w 1530"/>
                  <a:gd name="T9" fmla="*/ 19 h 895"/>
                  <a:gd name="T10" fmla="*/ 791 w 1530"/>
                  <a:gd name="T11" fmla="*/ 119 h 895"/>
                  <a:gd name="T12" fmla="*/ 577 w 1530"/>
                  <a:gd name="T13" fmla="*/ 310 h 895"/>
                  <a:gd name="T14" fmla="*/ 577 w 1530"/>
                  <a:gd name="T15" fmla="*/ 310 h 895"/>
                  <a:gd name="T16" fmla="*/ 6 w 1530"/>
                  <a:gd name="T17" fmla="*/ 867 h 895"/>
                  <a:gd name="T18" fmla="*/ 6 w 1530"/>
                  <a:gd name="T19" fmla="*/ 888 h 895"/>
                  <a:gd name="T20" fmla="*/ 27 w 1530"/>
                  <a:gd name="T21" fmla="*/ 888 h 895"/>
                  <a:gd name="T22" fmla="*/ 598 w 1530"/>
                  <a:gd name="T23" fmla="*/ 331 h 895"/>
                  <a:gd name="T24" fmla="*/ 598 w 1530"/>
                  <a:gd name="T25" fmla="*/ 331 h 895"/>
                  <a:gd name="T26" fmla="*/ 866 w 1530"/>
                  <a:gd name="T27" fmla="*/ 101 h 895"/>
                  <a:gd name="T28" fmla="*/ 968 w 1530"/>
                  <a:gd name="T29" fmla="*/ 47 h 895"/>
                  <a:gd name="T30" fmla="*/ 1057 w 1530"/>
                  <a:gd name="T31" fmla="*/ 29 h 895"/>
                  <a:gd name="T32" fmla="*/ 1146 w 1530"/>
                  <a:gd name="T33" fmla="*/ 46 h 895"/>
                  <a:gd name="T34" fmla="*/ 1300 w 1530"/>
                  <a:gd name="T35" fmla="*/ 132 h 895"/>
                  <a:gd name="T36" fmla="*/ 1504 w 1530"/>
                  <a:gd name="T37" fmla="*/ 287 h 895"/>
                  <a:gd name="T38" fmla="*/ 1524 w 1530"/>
                  <a:gd name="T39" fmla="*/ 285 h 895"/>
                  <a:gd name="T40" fmla="*/ 1522 w 1530"/>
                  <a:gd name="T41" fmla="*/ 264 h 8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30" h="895">
                    <a:moveTo>
                      <a:pt x="1522" y="264"/>
                    </a:moveTo>
                    <a:cubicBezTo>
                      <a:pt x="1417" y="180"/>
                      <a:pt x="1334" y="115"/>
                      <a:pt x="1260" y="70"/>
                    </a:cubicBezTo>
                    <a:cubicBezTo>
                      <a:pt x="1224" y="47"/>
                      <a:pt x="1189" y="30"/>
                      <a:pt x="1156" y="18"/>
                    </a:cubicBezTo>
                    <a:cubicBezTo>
                      <a:pt x="1123" y="6"/>
                      <a:pt x="1090" y="0"/>
                      <a:pt x="1057" y="0"/>
                    </a:cubicBezTo>
                    <a:cubicBezTo>
                      <a:pt x="1024" y="0"/>
                      <a:pt x="991" y="6"/>
                      <a:pt x="957" y="19"/>
                    </a:cubicBezTo>
                    <a:cubicBezTo>
                      <a:pt x="906" y="38"/>
                      <a:pt x="852" y="71"/>
                      <a:pt x="791" y="119"/>
                    </a:cubicBezTo>
                    <a:cubicBezTo>
                      <a:pt x="729" y="167"/>
                      <a:pt x="660" y="231"/>
                      <a:pt x="577" y="310"/>
                    </a:cubicBezTo>
                    <a:lnTo>
                      <a:pt x="577" y="310"/>
                    </a:lnTo>
                    <a:lnTo>
                      <a:pt x="6" y="867"/>
                    </a:lnTo>
                    <a:cubicBezTo>
                      <a:pt x="0" y="873"/>
                      <a:pt x="0" y="882"/>
                      <a:pt x="6" y="888"/>
                    </a:cubicBezTo>
                    <a:cubicBezTo>
                      <a:pt x="12" y="894"/>
                      <a:pt x="21" y="894"/>
                      <a:pt x="27" y="888"/>
                    </a:cubicBezTo>
                    <a:lnTo>
                      <a:pt x="598" y="331"/>
                    </a:lnTo>
                    <a:lnTo>
                      <a:pt x="598" y="331"/>
                    </a:lnTo>
                    <a:cubicBezTo>
                      <a:pt x="707" y="226"/>
                      <a:pt x="793" y="150"/>
                      <a:pt x="866" y="101"/>
                    </a:cubicBezTo>
                    <a:cubicBezTo>
                      <a:pt x="903" y="76"/>
                      <a:pt x="936" y="58"/>
                      <a:pt x="968" y="47"/>
                    </a:cubicBezTo>
                    <a:cubicBezTo>
                      <a:pt x="999" y="35"/>
                      <a:pt x="1028" y="29"/>
                      <a:pt x="1057" y="29"/>
                    </a:cubicBezTo>
                    <a:cubicBezTo>
                      <a:pt x="1086" y="29"/>
                      <a:pt x="1115" y="35"/>
                      <a:pt x="1146" y="46"/>
                    </a:cubicBezTo>
                    <a:cubicBezTo>
                      <a:pt x="1192" y="62"/>
                      <a:pt x="1242" y="91"/>
                      <a:pt x="1300" y="132"/>
                    </a:cubicBezTo>
                    <a:cubicBezTo>
                      <a:pt x="1359" y="172"/>
                      <a:pt x="1425" y="225"/>
                      <a:pt x="1504" y="287"/>
                    </a:cubicBezTo>
                    <a:cubicBezTo>
                      <a:pt x="1510" y="292"/>
                      <a:pt x="1518" y="291"/>
                      <a:pt x="1524" y="285"/>
                    </a:cubicBezTo>
                    <a:cubicBezTo>
                      <a:pt x="1529" y="279"/>
                      <a:pt x="1528" y="269"/>
                      <a:pt x="1522" y="264"/>
                    </a:cubicBezTo>
                  </a:path>
                </a:pathLst>
              </a:custGeom>
              <a:solidFill>
                <a:srgbClr val="B2CE24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" name="Freeform 10">
                <a:extLst>
                  <a:ext uri="{FF2B5EF4-FFF2-40B4-BE49-F238E27FC236}">
                    <a16:creationId xmlns:a16="http://schemas.microsoft.com/office/drawing/2014/main" id="{8D3BD77D-1A93-E64A-9C17-6A3B016DF2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91413" y="835952"/>
                <a:ext cx="201273" cy="127619"/>
              </a:xfrm>
              <a:custGeom>
                <a:avLst/>
                <a:gdLst>
                  <a:gd name="T0" fmla="*/ 1212 w 1217"/>
                  <a:gd name="T1" fmla="*/ 184 h 773"/>
                  <a:gd name="T2" fmla="*/ 1023 w 1217"/>
                  <a:gd name="T3" fmla="*/ 48 h 773"/>
                  <a:gd name="T4" fmla="*/ 884 w 1217"/>
                  <a:gd name="T5" fmla="*/ 0 h 773"/>
                  <a:gd name="T6" fmla="*/ 801 w 1217"/>
                  <a:gd name="T7" fmla="*/ 20 h 773"/>
                  <a:gd name="T8" fmla="*/ 653 w 1217"/>
                  <a:gd name="T9" fmla="*/ 124 h 773"/>
                  <a:gd name="T10" fmla="*/ 440 w 1217"/>
                  <a:gd name="T11" fmla="*/ 324 h 773"/>
                  <a:gd name="T12" fmla="*/ 440 w 1217"/>
                  <a:gd name="T13" fmla="*/ 324 h 773"/>
                  <a:gd name="T14" fmla="*/ 3 w 1217"/>
                  <a:gd name="T15" fmla="*/ 760 h 773"/>
                  <a:gd name="T16" fmla="*/ 3 w 1217"/>
                  <a:gd name="T17" fmla="*/ 770 h 773"/>
                  <a:gd name="T18" fmla="*/ 12 w 1217"/>
                  <a:gd name="T19" fmla="*/ 770 h 773"/>
                  <a:gd name="T20" fmla="*/ 449 w 1217"/>
                  <a:gd name="T21" fmla="*/ 333 h 773"/>
                  <a:gd name="T22" fmla="*/ 716 w 1217"/>
                  <a:gd name="T23" fmla="*/ 90 h 773"/>
                  <a:gd name="T24" fmla="*/ 806 w 1217"/>
                  <a:gd name="T25" fmla="*/ 32 h 773"/>
                  <a:gd name="T26" fmla="*/ 884 w 1217"/>
                  <a:gd name="T27" fmla="*/ 13 h 773"/>
                  <a:gd name="T28" fmla="*/ 1016 w 1217"/>
                  <a:gd name="T29" fmla="*/ 60 h 773"/>
                  <a:gd name="T30" fmla="*/ 1204 w 1217"/>
                  <a:gd name="T31" fmla="*/ 195 h 773"/>
                  <a:gd name="T32" fmla="*/ 1214 w 1217"/>
                  <a:gd name="T33" fmla="*/ 194 h 773"/>
                  <a:gd name="T34" fmla="*/ 1212 w 1217"/>
                  <a:gd name="T35" fmla="*/ 184 h 7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217" h="773">
                    <a:moveTo>
                      <a:pt x="1212" y="184"/>
                    </a:moveTo>
                    <a:cubicBezTo>
                      <a:pt x="1135" y="125"/>
                      <a:pt x="1075" y="80"/>
                      <a:pt x="1023" y="48"/>
                    </a:cubicBezTo>
                    <a:cubicBezTo>
                      <a:pt x="971" y="17"/>
                      <a:pt x="928" y="0"/>
                      <a:pt x="884" y="0"/>
                    </a:cubicBezTo>
                    <a:cubicBezTo>
                      <a:pt x="856" y="0"/>
                      <a:pt x="829" y="7"/>
                      <a:pt x="801" y="20"/>
                    </a:cubicBezTo>
                    <a:cubicBezTo>
                      <a:pt x="758" y="39"/>
                      <a:pt x="711" y="74"/>
                      <a:pt x="653" y="124"/>
                    </a:cubicBezTo>
                    <a:cubicBezTo>
                      <a:pt x="595" y="175"/>
                      <a:pt x="527" y="241"/>
                      <a:pt x="440" y="324"/>
                    </a:cubicBezTo>
                    <a:lnTo>
                      <a:pt x="440" y="324"/>
                    </a:lnTo>
                    <a:lnTo>
                      <a:pt x="3" y="760"/>
                    </a:lnTo>
                    <a:cubicBezTo>
                      <a:pt x="0" y="763"/>
                      <a:pt x="0" y="767"/>
                      <a:pt x="3" y="770"/>
                    </a:cubicBezTo>
                    <a:cubicBezTo>
                      <a:pt x="5" y="772"/>
                      <a:pt x="10" y="772"/>
                      <a:pt x="12" y="770"/>
                    </a:cubicBezTo>
                    <a:lnTo>
                      <a:pt x="449" y="333"/>
                    </a:lnTo>
                    <a:cubicBezTo>
                      <a:pt x="565" y="223"/>
                      <a:pt x="648" y="142"/>
                      <a:pt x="716" y="90"/>
                    </a:cubicBezTo>
                    <a:cubicBezTo>
                      <a:pt x="749" y="63"/>
                      <a:pt x="778" y="44"/>
                      <a:pt x="806" y="32"/>
                    </a:cubicBezTo>
                    <a:cubicBezTo>
                      <a:pt x="833" y="19"/>
                      <a:pt x="859" y="13"/>
                      <a:pt x="884" y="13"/>
                    </a:cubicBezTo>
                    <a:cubicBezTo>
                      <a:pt x="924" y="13"/>
                      <a:pt x="966" y="29"/>
                      <a:pt x="1016" y="60"/>
                    </a:cubicBezTo>
                    <a:cubicBezTo>
                      <a:pt x="1067" y="90"/>
                      <a:pt x="1127" y="136"/>
                      <a:pt x="1204" y="195"/>
                    </a:cubicBezTo>
                    <a:cubicBezTo>
                      <a:pt x="1207" y="197"/>
                      <a:pt x="1211" y="197"/>
                      <a:pt x="1214" y="194"/>
                    </a:cubicBezTo>
                    <a:cubicBezTo>
                      <a:pt x="1216" y="191"/>
                      <a:pt x="1215" y="187"/>
                      <a:pt x="1212" y="184"/>
                    </a:cubicBezTo>
                  </a:path>
                </a:pathLst>
              </a:custGeom>
              <a:solidFill>
                <a:srgbClr val="F1E82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" name="Freeform 11">
                <a:extLst>
                  <a:ext uri="{FF2B5EF4-FFF2-40B4-BE49-F238E27FC236}">
                    <a16:creationId xmlns:a16="http://schemas.microsoft.com/office/drawing/2014/main" id="{0D54B55E-B871-E543-9108-B4A5765745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8093" y="858559"/>
                <a:ext cx="72925" cy="48130"/>
              </a:xfrm>
              <a:custGeom>
                <a:avLst/>
                <a:gdLst>
                  <a:gd name="T0" fmla="*/ 49 w 442"/>
                  <a:gd name="T1" fmla="*/ 200 h 293"/>
                  <a:gd name="T2" fmla="*/ 0 w 442"/>
                  <a:gd name="T3" fmla="*/ 156 h 293"/>
                  <a:gd name="T4" fmla="*/ 45 w 442"/>
                  <a:gd name="T5" fmla="*/ 107 h 293"/>
                  <a:gd name="T6" fmla="*/ 392 w 442"/>
                  <a:gd name="T7" fmla="*/ 91 h 293"/>
                  <a:gd name="T8" fmla="*/ 441 w 442"/>
                  <a:gd name="T9" fmla="*/ 137 h 293"/>
                  <a:gd name="T10" fmla="*/ 396 w 442"/>
                  <a:gd name="T11" fmla="*/ 185 h 293"/>
                  <a:gd name="T12" fmla="*/ 49 w 442"/>
                  <a:gd name="T13" fmla="*/ 200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2" h="293">
                    <a:moveTo>
                      <a:pt x="49" y="200"/>
                    </a:moveTo>
                    <a:lnTo>
                      <a:pt x="0" y="156"/>
                    </a:lnTo>
                    <a:lnTo>
                      <a:pt x="45" y="107"/>
                    </a:lnTo>
                    <a:cubicBezTo>
                      <a:pt x="136" y="7"/>
                      <a:pt x="292" y="0"/>
                      <a:pt x="392" y="91"/>
                    </a:cubicBezTo>
                    <a:lnTo>
                      <a:pt x="441" y="137"/>
                    </a:lnTo>
                    <a:lnTo>
                      <a:pt x="396" y="185"/>
                    </a:lnTo>
                    <a:cubicBezTo>
                      <a:pt x="304" y="285"/>
                      <a:pt x="149" y="292"/>
                      <a:pt x="49" y="200"/>
                    </a:cubicBezTo>
                  </a:path>
                </a:pathLst>
              </a:custGeom>
              <a:solidFill>
                <a:srgbClr val="F1E82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30A711A7-A169-8A41-85E2-EA40E3A3BB5F}"/>
                </a:ext>
              </a:extLst>
            </p:cNvPr>
            <p:cNvGrpSpPr/>
            <p:nvPr/>
          </p:nvGrpSpPr>
          <p:grpSpPr>
            <a:xfrm>
              <a:off x="2028870" y="1197389"/>
              <a:ext cx="3479247" cy="365353"/>
              <a:chOff x="2028870" y="696666"/>
              <a:chExt cx="3479247" cy="365353"/>
            </a:xfrm>
            <a:solidFill>
              <a:schemeClr val="bg1">
                <a:lumMod val="50000"/>
              </a:schemeClr>
            </a:solidFill>
          </p:grpSpPr>
          <p:sp>
            <p:nvSpPr>
              <p:cNvPr id="44" name="Freeform 12">
                <a:extLst>
                  <a:ext uri="{FF2B5EF4-FFF2-40B4-BE49-F238E27FC236}">
                    <a16:creationId xmlns:a16="http://schemas.microsoft.com/office/drawing/2014/main" id="{7E68957D-5A1D-C948-A5BC-A3888C640F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8870" y="697395"/>
                <a:ext cx="358061" cy="363166"/>
              </a:xfrm>
              <a:custGeom>
                <a:avLst/>
                <a:gdLst>
                  <a:gd name="T0" fmla="*/ 121 w 2165"/>
                  <a:gd name="T1" fmla="*/ 758 h 2195"/>
                  <a:gd name="T2" fmla="*/ 0 w 2165"/>
                  <a:gd name="T3" fmla="*/ 758 h 2195"/>
                  <a:gd name="T4" fmla="*/ 0 w 2165"/>
                  <a:gd name="T5" fmla="*/ 582 h 2195"/>
                  <a:gd name="T6" fmla="*/ 463 w 2165"/>
                  <a:gd name="T7" fmla="*/ 582 h 2195"/>
                  <a:gd name="T8" fmla="*/ 463 w 2165"/>
                  <a:gd name="T9" fmla="*/ 1982 h 2195"/>
                  <a:gd name="T10" fmla="*/ 620 w 2165"/>
                  <a:gd name="T11" fmla="*/ 1982 h 2195"/>
                  <a:gd name="T12" fmla="*/ 620 w 2165"/>
                  <a:gd name="T13" fmla="*/ 2157 h 2195"/>
                  <a:gd name="T14" fmla="*/ 121 w 2165"/>
                  <a:gd name="T15" fmla="*/ 2157 h 2195"/>
                  <a:gd name="T16" fmla="*/ 121 w 2165"/>
                  <a:gd name="T17" fmla="*/ 758 h 2195"/>
                  <a:gd name="T18" fmla="*/ 467 w 2165"/>
                  <a:gd name="T19" fmla="*/ 51 h 2195"/>
                  <a:gd name="T20" fmla="*/ 467 w 2165"/>
                  <a:gd name="T21" fmla="*/ 462 h 2195"/>
                  <a:gd name="T22" fmla="*/ 121 w 2165"/>
                  <a:gd name="T23" fmla="*/ 462 h 2195"/>
                  <a:gd name="T24" fmla="*/ 121 w 2165"/>
                  <a:gd name="T25" fmla="*/ 51 h 2195"/>
                  <a:gd name="T26" fmla="*/ 467 w 2165"/>
                  <a:gd name="T27" fmla="*/ 51 h 2195"/>
                  <a:gd name="T28" fmla="*/ 629 w 2165"/>
                  <a:gd name="T29" fmla="*/ 906 h 2195"/>
                  <a:gd name="T30" fmla="*/ 629 w 2165"/>
                  <a:gd name="T31" fmla="*/ 730 h 2195"/>
                  <a:gd name="T32" fmla="*/ 1221 w 2165"/>
                  <a:gd name="T33" fmla="*/ 730 h 2195"/>
                  <a:gd name="T34" fmla="*/ 1221 w 2165"/>
                  <a:gd name="T35" fmla="*/ 0 h 2195"/>
                  <a:gd name="T36" fmla="*/ 1563 w 2165"/>
                  <a:gd name="T37" fmla="*/ 0 h 2195"/>
                  <a:gd name="T38" fmla="*/ 1563 w 2165"/>
                  <a:gd name="T39" fmla="*/ 730 h 2195"/>
                  <a:gd name="T40" fmla="*/ 2164 w 2165"/>
                  <a:gd name="T41" fmla="*/ 730 h 2195"/>
                  <a:gd name="T42" fmla="*/ 2164 w 2165"/>
                  <a:gd name="T43" fmla="*/ 906 h 2195"/>
                  <a:gd name="T44" fmla="*/ 1563 w 2165"/>
                  <a:gd name="T45" fmla="*/ 906 h 2195"/>
                  <a:gd name="T46" fmla="*/ 1563 w 2165"/>
                  <a:gd name="T47" fmla="*/ 2194 h 2195"/>
                  <a:gd name="T48" fmla="*/ 1221 w 2165"/>
                  <a:gd name="T49" fmla="*/ 2194 h 2195"/>
                  <a:gd name="T50" fmla="*/ 1221 w 2165"/>
                  <a:gd name="T51" fmla="*/ 906 h 2195"/>
                  <a:gd name="T52" fmla="*/ 629 w 2165"/>
                  <a:gd name="T53" fmla="*/ 906 h 2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65" h="2195">
                    <a:moveTo>
                      <a:pt x="121" y="758"/>
                    </a:moveTo>
                    <a:lnTo>
                      <a:pt x="0" y="758"/>
                    </a:lnTo>
                    <a:lnTo>
                      <a:pt x="0" y="582"/>
                    </a:lnTo>
                    <a:lnTo>
                      <a:pt x="463" y="582"/>
                    </a:lnTo>
                    <a:lnTo>
                      <a:pt x="463" y="1982"/>
                    </a:lnTo>
                    <a:lnTo>
                      <a:pt x="620" y="1982"/>
                    </a:lnTo>
                    <a:lnTo>
                      <a:pt x="620" y="2157"/>
                    </a:lnTo>
                    <a:lnTo>
                      <a:pt x="121" y="2157"/>
                    </a:lnTo>
                    <a:lnTo>
                      <a:pt x="121" y="758"/>
                    </a:lnTo>
                    <a:close/>
                    <a:moveTo>
                      <a:pt x="467" y="51"/>
                    </a:moveTo>
                    <a:lnTo>
                      <a:pt x="467" y="462"/>
                    </a:lnTo>
                    <a:lnTo>
                      <a:pt x="121" y="462"/>
                    </a:lnTo>
                    <a:lnTo>
                      <a:pt x="121" y="51"/>
                    </a:lnTo>
                    <a:lnTo>
                      <a:pt x="467" y="51"/>
                    </a:lnTo>
                    <a:close/>
                    <a:moveTo>
                      <a:pt x="629" y="906"/>
                    </a:moveTo>
                    <a:lnTo>
                      <a:pt x="629" y="730"/>
                    </a:lnTo>
                    <a:lnTo>
                      <a:pt x="1221" y="730"/>
                    </a:lnTo>
                    <a:lnTo>
                      <a:pt x="1221" y="0"/>
                    </a:lnTo>
                    <a:lnTo>
                      <a:pt x="1563" y="0"/>
                    </a:lnTo>
                    <a:lnTo>
                      <a:pt x="1563" y="730"/>
                    </a:lnTo>
                    <a:lnTo>
                      <a:pt x="2164" y="730"/>
                    </a:lnTo>
                    <a:lnTo>
                      <a:pt x="2164" y="906"/>
                    </a:lnTo>
                    <a:lnTo>
                      <a:pt x="1563" y="906"/>
                    </a:lnTo>
                    <a:lnTo>
                      <a:pt x="1563" y="2194"/>
                    </a:lnTo>
                    <a:lnTo>
                      <a:pt x="1221" y="2194"/>
                    </a:lnTo>
                    <a:lnTo>
                      <a:pt x="1221" y="906"/>
                    </a:lnTo>
                    <a:lnTo>
                      <a:pt x="629" y="906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" name="Freeform 13">
                <a:extLst>
                  <a:ext uri="{FF2B5EF4-FFF2-40B4-BE49-F238E27FC236}">
                    <a16:creationId xmlns:a16="http://schemas.microsoft.com/office/drawing/2014/main" id="{01D55A2B-04CF-B043-87D1-43B606D23B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7559" y="696666"/>
                <a:ext cx="357332" cy="364625"/>
              </a:xfrm>
              <a:custGeom>
                <a:avLst/>
                <a:gdLst>
                  <a:gd name="T0" fmla="*/ 583 w 2161"/>
                  <a:gd name="T1" fmla="*/ 379 h 2205"/>
                  <a:gd name="T2" fmla="*/ 458 w 2161"/>
                  <a:gd name="T3" fmla="*/ 287 h 2205"/>
                  <a:gd name="T4" fmla="*/ 0 w 2161"/>
                  <a:gd name="T5" fmla="*/ 379 h 2205"/>
                  <a:gd name="T6" fmla="*/ 662 w 2161"/>
                  <a:gd name="T7" fmla="*/ 0 h 2205"/>
                  <a:gd name="T8" fmla="*/ 1087 w 2161"/>
                  <a:gd name="T9" fmla="*/ 111 h 2205"/>
                  <a:gd name="T10" fmla="*/ 916 w 2161"/>
                  <a:gd name="T11" fmla="*/ 287 h 2205"/>
                  <a:gd name="T12" fmla="*/ 675 w 2161"/>
                  <a:gd name="T13" fmla="*/ 1691 h 2205"/>
                  <a:gd name="T14" fmla="*/ 1545 w 2161"/>
                  <a:gd name="T15" fmla="*/ 1811 h 2205"/>
                  <a:gd name="T16" fmla="*/ 1887 w 2161"/>
                  <a:gd name="T17" fmla="*/ 1691 h 2205"/>
                  <a:gd name="T18" fmla="*/ 2150 w 2161"/>
                  <a:gd name="T19" fmla="*/ 1811 h 2205"/>
                  <a:gd name="T20" fmla="*/ 1887 w 2161"/>
                  <a:gd name="T21" fmla="*/ 1987 h 2205"/>
                  <a:gd name="T22" fmla="*/ 1545 w 2161"/>
                  <a:gd name="T23" fmla="*/ 2204 h 2205"/>
                  <a:gd name="T24" fmla="*/ 652 w 2161"/>
                  <a:gd name="T25" fmla="*/ 1987 h 2205"/>
                  <a:gd name="T26" fmla="*/ 144 w 2161"/>
                  <a:gd name="T27" fmla="*/ 2204 h 2205"/>
                  <a:gd name="T28" fmla="*/ 47 w 2161"/>
                  <a:gd name="T29" fmla="*/ 1987 h 2205"/>
                  <a:gd name="T30" fmla="*/ 333 w 2161"/>
                  <a:gd name="T31" fmla="*/ 1811 h 2205"/>
                  <a:gd name="T32" fmla="*/ 675 w 2161"/>
                  <a:gd name="T33" fmla="*/ 1691 h 2205"/>
                  <a:gd name="T34" fmla="*/ 2100 w 2161"/>
                  <a:gd name="T35" fmla="*/ 448 h 2205"/>
                  <a:gd name="T36" fmla="*/ 102 w 2161"/>
                  <a:gd name="T37" fmla="*/ 1622 h 2205"/>
                  <a:gd name="T38" fmla="*/ 444 w 2161"/>
                  <a:gd name="T39" fmla="*/ 781 h 2205"/>
                  <a:gd name="T40" fmla="*/ 1757 w 2161"/>
                  <a:gd name="T41" fmla="*/ 624 h 2205"/>
                  <a:gd name="T42" fmla="*/ 444 w 2161"/>
                  <a:gd name="T43" fmla="*/ 781 h 2205"/>
                  <a:gd name="T44" fmla="*/ 1757 w 2161"/>
                  <a:gd name="T45" fmla="*/ 1114 h 2205"/>
                  <a:gd name="T46" fmla="*/ 444 w 2161"/>
                  <a:gd name="T47" fmla="*/ 957 h 2205"/>
                  <a:gd name="T48" fmla="*/ 1757 w 2161"/>
                  <a:gd name="T49" fmla="*/ 1289 h 2205"/>
                  <a:gd name="T50" fmla="*/ 444 w 2161"/>
                  <a:gd name="T51" fmla="*/ 1446 h 2205"/>
                  <a:gd name="T52" fmla="*/ 1757 w 2161"/>
                  <a:gd name="T53" fmla="*/ 1289 h 2205"/>
                  <a:gd name="T54" fmla="*/ 1041 w 2161"/>
                  <a:gd name="T55" fmla="*/ 379 h 2205"/>
                  <a:gd name="T56" fmla="*/ 1688 w 2161"/>
                  <a:gd name="T57" fmla="*/ 0 h 2205"/>
                  <a:gd name="T58" fmla="*/ 2160 w 2161"/>
                  <a:gd name="T59" fmla="*/ 111 h 2205"/>
                  <a:gd name="T60" fmla="*/ 1998 w 2161"/>
                  <a:gd name="T61" fmla="*/ 287 h 2205"/>
                  <a:gd name="T62" fmla="*/ 1646 w 2161"/>
                  <a:gd name="T63" fmla="*/ 379 h 2205"/>
                  <a:gd name="T64" fmla="*/ 1508 w 2161"/>
                  <a:gd name="T65" fmla="*/ 287 h 2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161" h="2205">
                    <a:moveTo>
                      <a:pt x="990" y="379"/>
                    </a:moveTo>
                    <a:lnTo>
                      <a:pt x="583" y="379"/>
                    </a:lnTo>
                    <a:lnTo>
                      <a:pt x="509" y="287"/>
                    </a:lnTo>
                    <a:lnTo>
                      <a:pt x="458" y="287"/>
                    </a:lnTo>
                    <a:lnTo>
                      <a:pt x="389" y="379"/>
                    </a:lnTo>
                    <a:lnTo>
                      <a:pt x="0" y="379"/>
                    </a:lnTo>
                    <a:lnTo>
                      <a:pt x="273" y="0"/>
                    </a:lnTo>
                    <a:lnTo>
                      <a:pt x="662" y="0"/>
                    </a:lnTo>
                    <a:lnTo>
                      <a:pt x="592" y="111"/>
                    </a:lnTo>
                    <a:lnTo>
                      <a:pt x="1087" y="111"/>
                    </a:lnTo>
                    <a:lnTo>
                      <a:pt x="1087" y="287"/>
                    </a:lnTo>
                    <a:lnTo>
                      <a:pt x="916" y="287"/>
                    </a:lnTo>
                    <a:lnTo>
                      <a:pt x="990" y="379"/>
                    </a:lnTo>
                    <a:close/>
                    <a:moveTo>
                      <a:pt x="675" y="1691"/>
                    </a:moveTo>
                    <a:lnTo>
                      <a:pt x="675" y="1811"/>
                    </a:lnTo>
                    <a:lnTo>
                      <a:pt x="1545" y="1811"/>
                    </a:lnTo>
                    <a:lnTo>
                      <a:pt x="1545" y="1691"/>
                    </a:lnTo>
                    <a:lnTo>
                      <a:pt x="1887" y="1691"/>
                    </a:lnTo>
                    <a:lnTo>
                      <a:pt x="1887" y="1811"/>
                    </a:lnTo>
                    <a:lnTo>
                      <a:pt x="2150" y="1811"/>
                    </a:lnTo>
                    <a:lnTo>
                      <a:pt x="2150" y="1987"/>
                    </a:lnTo>
                    <a:lnTo>
                      <a:pt x="1887" y="1987"/>
                    </a:lnTo>
                    <a:lnTo>
                      <a:pt x="1887" y="2204"/>
                    </a:lnTo>
                    <a:lnTo>
                      <a:pt x="1545" y="2204"/>
                    </a:lnTo>
                    <a:lnTo>
                      <a:pt x="1545" y="1987"/>
                    </a:lnTo>
                    <a:lnTo>
                      <a:pt x="652" y="1987"/>
                    </a:lnTo>
                    <a:lnTo>
                      <a:pt x="527" y="2204"/>
                    </a:lnTo>
                    <a:lnTo>
                      <a:pt x="144" y="2204"/>
                    </a:lnTo>
                    <a:lnTo>
                      <a:pt x="282" y="1987"/>
                    </a:lnTo>
                    <a:lnTo>
                      <a:pt x="47" y="1987"/>
                    </a:lnTo>
                    <a:lnTo>
                      <a:pt x="47" y="1811"/>
                    </a:lnTo>
                    <a:lnTo>
                      <a:pt x="333" y="1811"/>
                    </a:lnTo>
                    <a:lnTo>
                      <a:pt x="333" y="1691"/>
                    </a:lnTo>
                    <a:lnTo>
                      <a:pt x="675" y="1691"/>
                    </a:lnTo>
                    <a:close/>
                    <a:moveTo>
                      <a:pt x="102" y="448"/>
                    </a:moveTo>
                    <a:lnTo>
                      <a:pt x="2100" y="448"/>
                    </a:lnTo>
                    <a:lnTo>
                      <a:pt x="2100" y="1622"/>
                    </a:lnTo>
                    <a:lnTo>
                      <a:pt x="102" y="1622"/>
                    </a:lnTo>
                    <a:lnTo>
                      <a:pt x="102" y="448"/>
                    </a:lnTo>
                    <a:close/>
                    <a:moveTo>
                      <a:pt x="444" y="781"/>
                    </a:moveTo>
                    <a:lnTo>
                      <a:pt x="1757" y="781"/>
                    </a:lnTo>
                    <a:lnTo>
                      <a:pt x="1757" y="624"/>
                    </a:lnTo>
                    <a:lnTo>
                      <a:pt x="444" y="624"/>
                    </a:lnTo>
                    <a:lnTo>
                      <a:pt x="444" y="781"/>
                    </a:lnTo>
                    <a:close/>
                    <a:moveTo>
                      <a:pt x="444" y="1114"/>
                    </a:moveTo>
                    <a:lnTo>
                      <a:pt x="1757" y="1114"/>
                    </a:lnTo>
                    <a:lnTo>
                      <a:pt x="1757" y="957"/>
                    </a:lnTo>
                    <a:lnTo>
                      <a:pt x="444" y="957"/>
                    </a:lnTo>
                    <a:lnTo>
                      <a:pt x="444" y="1114"/>
                    </a:lnTo>
                    <a:close/>
                    <a:moveTo>
                      <a:pt x="1757" y="1289"/>
                    </a:moveTo>
                    <a:lnTo>
                      <a:pt x="444" y="1289"/>
                    </a:lnTo>
                    <a:lnTo>
                      <a:pt x="444" y="1446"/>
                    </a:lnTo>
                    <a:lnTo>
                      <a:pt x="1757" y="1446"/>
                    </a:lnTo>
                    <a:lnTo>
                      <a:pt x="1757" y="1289"/>
                    </a:lnTo>
                    <a:close/>
                    <a:moveTo>
                      <a:pt x="1434" y="379"/>
                    </a:moveTo>
                    <a:lnTo>
                      <a:pt x="1041" y="379"/>
                    </a:lnTo>
                    <a:lnTo>
                      <a:pt x="1313" y="0"/>
                    </a:lnTo>
                    <a:lnTo>
                      <a:pt x="1688" y="0"/>
                    </a:lnTo>
                    <a:lnTo>
                      <a:pt x="1609" y="111"/>
                    </a:lnTo>
                    <a:lnTo>
                      <a:pt x="2160" y="111"/>
                    </a:lnTo>
                    <a:lnTo>
                      <a:pt x="2160" y="287"/>
                    </a:lnTo>
                    <a:lnTo>
                      <a:pt x="1998" y="287"/>
                    </a:lnTo>
                    <a:lnTo>
                      <a:pt x="2072" y="379"/>
                    </a:lnTo>
                    <a:lnTo>
                      <a:pt x="1646" y="379"/>
                    </a:lnTo>
                    <a:lnTo>
                      <a:pt x="1572" y="287"/>
                    </a:lnTo>
                    <a:lnTo>
                      <a:pt x="1508" y="287"/>
                    </a:lnTo>
                    <a:lnTo>
                      <a:pt x="1434" y="379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" name="Freeform 14">
                <a:extLst>
                  <a:ext uri="{FF2B5EF4-FFF2-40B4-BE49-F238E27FC236}">
                    <a16:creationId xmlns:a16="http://schemas.microsoft.com/office/drawing/2014/main" id="{FF056158-A321-8F40-B663-2CF3304CA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0625" y="696666"/>
                <a:ext cx="363895" cy="364625"/>
              </a:xfrm>
              <a:custGeom>
                <a:avLst/>
                <a:gdLst>
                  <a:gd name="T0" fmla="*/ 0 w 2202"/>
                  <a:gd name="T1" fmla="*/ 2019 h 2205"/>
                  <a:gd name="T2" fmla="*/ 74 w 2202"/>
                  <a:gd name="T3" fmla="*/ 661 h 2205"/>
                  <a:gd name="T4" fmla="*/ 310 w 2202"/>
                  <a:gd name="T5" fmla="*/ 661 h 2205"/>
                  <a:gd name="T6" fmla="*/ 231 w 2202"/>
                  <a:gd name="T7" fmla="*/ 2019 h 2205"/>
                  <a:gd name="T8" fmla="*/ 0 w 2202"/>
                  <a:gd name="T9" fmla="*/ 2019 h 2205"/>
                  <a:gd name="T10" fmla="*/ 939 w 2202"/>
                  <a:gd name="T11" fmla="*/ 439 h 2205"/>
                  <a:gd name="T12" fmla="*/ 684 w 2202"/>
                  <a:gd name="T13" fmla="*/ 439 h 2205"/>
                  <a:gd name="T14" fmla="*/ 684 w 2202"/>
                  <a:gd name="T15" fmla="*/ 2204 h 2205"/>
                  <a:gd name="T16" fmla="*/ 361 w 2202"/>
                  <a:gd name="T17" fmla="*/ 2204 h 2205"/>
                  <a:gd name="T18" fmla="*/ 361 w 2202"/>
                  <a:gd name="T19" fmla="*/ 439 h 2205"/>
                  <a:gd name="T20" fmla="*/ 28 w 2202"/>
                  <a:gd name="T21" fmla="*/ 439 h 2205"/>
                  <a:gd name="T22" fmla="*/ 28 w 2202"/>
                  <a:gd name="T23" fmla="*/ 264 h 2205"/>
                  <a:gd name="T24" fmla="*/ 361 w 2202"/>
                  <a:gd name="T25" fmla="*/ 264 h 2205"/>
                  <a:gd name="T26" fmla="*/ 361 w 2202"/>
                  <a:gd name="T27" fmla="*/ 0 h 2205"/>
                  <a:gd name="T28" fmla="*/ 684 w 2202"/>
                  <a:gd name="T29" fmla="*/ 0 h 2205"/>
                  <a:gd name="T30" fmla="*/ 684 w 2202"/>
                  <a:gd name="T31" fmla="*/ 264 h 2205"/>
                  <a:gd name="T32" fmla="*/ 939 w 2202"/>
                  <a:gd name="T33" fmla="*/ 264 h 2205"/>
                  <a:gd name="T34" fmla="*/ 939 w 2202"/>
                  <a:gd name="T35" fmla="*/ 439 h 2205"/>
                  <a:gd name="T36" fmla="*/ 939 w 2202"/>
                  <a:gd name="T37" fmla="*/ 661 h 2205"/>
                  <a:gd name="T38" fmla="*/ 939 w 2202"/>
                  <a:gd name="T39" fmla="*/ 1686 h 2205"/>
                  <a:gd name="T40" fmla="*/ 735 w 2202"/>
                  <a:gd name="T41" fmla="*/ 1686 h 2205"/>
                  <a:gd name="T42" fmla="*/ 735 w 2202"/>
                  <a:gd name="T43" fmla="*/ 661 h 2205"/>
                  <a:gd name="T44" fmla="*/ 939 w 2202"/>
                  <a:gd name="T45" fmla="*/ 661 h 2205"/>
                  <a:gd name="T46" fmla="*/ 1022 w 2202"/>
                  <a:gd name="T47" fmla="*/ 1594 h 2205"/>
                  <a:gd name="T48" fmla="*/ 1022 w 2202"/>
                  <a:gd name="T49" fmla="*/ 42 h 2205"/>
                  <a:gd name="T50" fmla="*/ 1988 w 2202"/>
                  <a:gd name="T51" fmla="*/ 42 h 2205"/>
                  <a:gd name="T52" fmla="*/ 1988 w 2202"/>
                  <a:gd name="T53" fmla="*/ 2033 h 2205"/>
                  <a:gd name="T54" fmla="*/ 2201 w 2202"/>
                  <a:gd name="T55" fmla="*/ 2033 h 2205"/>
                  <a:gd name="T56" fmla="*/ 2201 w 2202"/>
                  <a:gd name="T57" fmla="*/ 2204 h 2205"/>
                  <a:gd name="T58" fmla="*/ 1665 w 2202"/>
                  <a:gd name="T59" fmla="*/ 2204 h 2205"/>
                  <a:gd name="T60" fmla="*/ 1665 w 2202"/>
                  <a:gd name="T61" fmla="*/ 217 h 2205"/>
                  <a:gd name="T62" fmla="*/ 1355 w 2202"/>
                  <a:gd name="T63" fmla="*/ 217 h 2205"/>
                  <a:gd name="T64" fmla="*/ 1355 w 2202"/>
                  <a:gd name="T65" fmla="*/ 1668 h 2205"/>
                  <a:gd name="T66" fmla="*/ 1198 w 2202"/>
                  <a:gd name="T67" fmla="*/ 2204 h 2205"/>
                  <a:gd name="T68" fmla="*/ 851 w 2202"/>
                  <a:gd name="T69" fmla="*/ 2204 h 2205"/>
                  <a:gd name="T70" fmla="*/ 1022 w 2202"/>
                  <a:gd name="T71" fmla="*/ 1594 h 2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202" h="2205">
                    <a:moveTo>
                      <a:pt x="0" y="2019"/>
                    </a:moveTo>
                    <a:lnTo>
                      <a:pt x="74" y="661"/>
                    </a:lnTo>
                    <a:lnTo>
                      <a:pt x="310" y="661"/>
                    </a:lnTo>
                    <a:lnTo>
                      <a:pt x="231" y="2019"/>
                    </a:lnTo>
                    <a:lnTo>
                      <a:pt x="0" y="2019"/>
                    </a:lnTo>
                    <a:close/>
                    <a:moveTo>
                      <a:pt x="939" y="439"/>
                    </a:moveTo>
                    <a:lnTo>
                      <a:pt x="684" y="439"/>
                    </a:lnTo>
                    <a:lnTo>
                      <a:pt x="684" y="2204"/>
                    </a:lnTo>
                    <a:lnTo>
                      <a:pt x="361" y="2204"/>
                    </a:lnTo>
                    <a:lnTo>
                      <a:pt x="361" y="439"/>
                    </a:lnTo>
                    <a:lnTo>
                      <a:pt x="28" y="439"/>
                    </a:lnTo>
                    <a:lnTo>
                      <a:pt x="28" y="264"/>
                    </a:lnTo>
                    <a:lnTo>
                      <a:pt x="361" y="264"/>
                    </a:lnTo>
                    <a:lnTo>
                      <a:pt x="361" y="0"/>
                    </a:lnTo>
                    <a:lnTo>
                      <a:pt x="684" y="0"/>
                    </a:lnTo>
                    <a:lnTo>
                      <a:pt x="684" y="264"/>
                    </a:lnTo>
                    <a:lnTo>
                      <a:pt x="939" y="264"/>
                    </a:lnTo>
                    <a:lnTo>
                      <a:pt x="939" y="439"/>
                    </a:lnTo>
                    <a:close/>
                    <a:moveTo>
                      <a:pt x="939" y="661"/>
                    </a:moveTo>
                    <a:lnTo>
                      <a:pt x="939" y="1686"/>
                    </a:lnTo>
                    <a:lnTo>
                      <a:pt x="735" y="1686"/>
                    </a:lnTo>
                    <a:lnTo>
                      <a:pt x="735" y="661"/>
                    </a:lnTo>
                    <a:lnTo>
                      <a:pt x="939" y="661"/>
                    </a:lnTo>
                    <a:close/>
                    <a:moveTo>
                      <a:pt x="1022" y="1594"/>
                    </a:moveTo>
                    <a:lnTo>
                      <a:pt x="1022" y="42"/>
                    </a:lnTo>
                    <a:lnTo>
                      <a:pt x="1988" y="42"/>
                    </a:lnTo>
                    <a:lnTo>
                      <a:pt x="1988" y="2033"/>
                    </a:lnTo>
                    <a:lnTo>
                      <a:pt x="2201" y="2033"/>
                    </a:lnTo>
                    <a:lnTo>
                      <a:pt x="2201" y="2204"/>
                    </a:lnTo>
                    <a:lnTo>
                      <a:pt x="1665" y="2204"/>
                    </a:lnTo>
                    <a:lnTo>
                      <a:pt x="1665" y="217"/>
                    </a:lnTo>
                    <a:lnTo>
                      <a:pt x="1355" y="217"/>
                    </a:lnTo>
                    <a:lnTo>
                      <a:pt x="1355" y="1668"/>
                    </a:lnTo>
                    <a:lnTo>
                      <a:pt x="1198" y="2204"/>
                    </a:lnTo>
                    <a:lnTo>
                      <a:pt x="851" y="2204"/>
                    </a:lnTo>
                    <a:lnTo>
                      <a:pt x="1022" y="1594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" name="Freeform 15">
                <a:extLst>
                  <a:ext uri="{FF2B5EF4-FFF2-40B4-BE49-F238E27FC236}">
                    <a16:creationId xmlns:a16="http://schemas.microsoft.com/office/drawing/2014/main" id="{9C184C5C-D7DA-A74D-B56E-C97972D2E6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2441" y="703958"/>
                <a:ext cx="339830" cy="358061"/>
              </a:xfrm>
              <a:custGeom>
                <a:avLst/>
                <a:gdLst>
                  <a:gd name="T0" fmla="*/ 1747 w 2053"/>
                  <a:gd name="T1" fmla="*/ 1982 h 2163"/>
                  <a:gd name="T2" fmla="*/ 1747 w 2053"/>
                  <a:gd name="T3" fmla="*/ 175 h 2163"/>
                  <a:gd name="T4" fmla="*/ 305 w 2053"/>
                  <a:gd name="T5" fmla="*/ 175 h 2163"/>
                  <a:gd name="T6" fmla="*/ 305 w 2053"/>
                  <a:gd name="T7" fmla="*/ 2162 h 2163"/>
                  <a:gd name="T8" fmla="*/ 0 w 2053"/>
                  <a:gd name="T9" fmla="*/ 2162 h 2163"/>
                  <a:gd name="T10" fmla="*/ 0 w 2053"/>
                  <a:gd name="T11" fmla="*/ 0 h 2163"/>
                  <a:gd name="T12" fmla="*/ 2052 w 2053"/>
                  <a:gd name="T13" fmla="*/ 0 h 2163"/>
                  <a:gd name="T14" fmla="*/ 2052 w 2053"/>
                  <a:gd name="T15" fmla="*/ 2162 h 2163"/>
                  <a:gd name="T16" fmla="*/ 1590 w 2053"/>
                  <a:gd name="T17" fmla="*/ 2162 h 2163"/>
                  <a:gd name="T18" fmla="*/ 1590 w 2053"/>
                  <a:gd name="T19" fmla="*/ 1982 h 2163"/>
                  <a:gd name="T20" fmla="*/ 1747 w 2053"/>
                  <a:gd name="T21" fmla="*/ 1982 h 2163"/>
                  <a:gd name="T22" fmla="*/ 791 w 2053"/>
                  <a:gd name="T23" fmla="*/ 1127 h 2163"/>
                  <a:gd name="T24" fmla="*/ 1017 w 2053"/>
                  <a:gd name="T25" fmla="*/ 1843 h 2163"/>
                  <a:gd name="T26" fmla="*/ 786 w 2053"/>
                  <a:gd name="T27" fmla="*/ 1843 h 2163"/>
                  <a:gd name="T28" fmla="*/ 680 w 2053"/>
                  <a:gd name="T29" fmla="*/ 1501 h 2163"/>
                  <a:gd name="T30" fmla="*/ 573 w 2053"/>
                  <a:gd name="T31" fmla="*/ 1843 h 2163"/>
                  <a:gd name="T32" fmla="*/ 347 w 2053"/>
                  <a:gd name="T33" fmla="*/ 1843 h 2163"/>
                  <a:gd name="T34" fmla="*/ 564 w 2053"/>
                  <a:gd name="T35" fmla="*/ 1136 h 2163"/>
                  <a:gd name="T36" fmla="*/ 338 w 2053"/>
                  <a:gd name="T37" fmla="*/ 430 h 2163"/>
                  <a:gd name="T38" fmla="*/ 569 w 2053"/>
                  <a:gd name="T39" fmla="*/ 430 h 2163"/>
                  <a:gd name="T40" fmla="*/ 675 w 2053"/>
                  <a:gd name="T41" fmla="*/ 767 h 2163"/>
                  <a:gd name="T42" fmla="*/ 777 w 2053"/>
                  <a:gd name="T43" fmla="*/ 430 h 2163"/>
                  <a:gd name="T44" fmla="*/ 1003 w 2053"/>
                  <a:gd name="T45" fmla="*/ 430 h 2163"/>
                  <a:gd name="T46" fmla="*/ 791 w 2053"/>
                  <a:gd name="T47" fmla="*/ 1127 h 2163"/>
                  <a:gd name="T48" fmla="*/ 1503 w 2053"/>
                  <a:gd name="T49" fmla="*/ 1127 h 2163"/>
                  <a:gd name="T50" fmla="*/ 1728 w 2053"/>
                  <a:gd name="T51" fmla="*/ 1843 h 2163"/>
                  <a:gd name="T52" fmla="*/ 1498 w 2053"/>
                  <a:gd name="T53" fmla="*/ 1843 h 2163"/>
                  <a:gd name="T54" fmla="*/ 1392 w 2053"/>
                  <a:gd name="T55" fmla="*/ 1501 h 2163"/>
                  <a:gd name="T56" fmla="*/ 1286 w 2053"/>
                  <a:gd name="T57" fmla="*/ 1843 h 2163"/>
                  <a:gd name="T58" fmla="*/ 1059 w 2053"/>
                  <a:gd name="T59" fmla="*/ 1843 h 2163"/>
                  <a:gd name="T60" fmla="*/ 1276 w 2053"/>
                  <a:gd name="T61" fmla="*/ 1136 h 2163"/>
                  <a:gd name="T62" fmla="*/ 1050 w 2053"/>
                  <a:gd name="T63" fmla="*/ 430 h 2163"/>
                  <a:gd name="T64" fmla="*/ 1281 w 2053"/>
                  <a:gd name="T65" fmla="*/ 430 h 2163"/>
                  <a:gd name="T66" fmla="*/ 1387 w 2053"/>
                  <a:gd name="T67" fmla="*/ 767 h 2163"/>
                  <a:gd name="T68" fmla="*/ 1489 w 2053"/>
                  <a:gd name="T69" fmla="*/ 430 h 2163"/>
                  <a:gd name="T70" fmla="*/ 1715 w 2053"/>
                  <a:gd name="T71" fmla="*/ 430 h 2163"/>
                  <a:gd name="T72" fmla="*/ 1503 w 2053"/>
                  <a:gd name="T73" fmla="*/ 1127 h 2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053" h="2163">
                    <a:moveTo>
                      <a:pt x="1747" y="1982"/>
                    </a:moveTo>
                    <a:lnTo>
                      <a:pt x="1747" y="175"/>
                    </a:lnTo>
                    <a:lnTo>
                      <a:pt x="305" y="175"/>
                    </a:lnTo>
                    <a:lnTo>
                      <a:pt x="305" y="2162"/>
                    </a:lnTo>
                    <a:lnTo>
                      <a:pt x="0" y="2162"/>
                    </a:lnTo>
                    <a:lnTo>
                      <a:pt x="0" y="0"/>
                    </a:lnTo>
                    <a:lnTo>
                      <a:pt x="2052" y="0"/>
                    </a:lnTo>
                    <a:lnTo>
                      <a:pt x="2052" y="2162"/>
                    </a:lnTo>
                    <a:lnTo>
                      <a:pt x="1590" y="2162"/>
                    </a:lnTo>
                    <a:lnTo>
                      <a:pt x="1590" y="1982"/>
                    </a:lnTo>
                    <a:lnTo>
                      <a:pt x="1747" y="1982"/>
                    </a:lnTo>
                    <a:close/>
                    <a:moveTo>
                      <a:pt x="791" y="1127"/>
                    </a:moveTo>
                    <a:lnTo>
                      <a:pt x="1017" y="1843"/>
                    </a:lnTo>
                    <a:lnTo>
                      <a:pt x="786" y="1843"/>
                    </a:lnTo>
                    <a:lnTo>
                      <a:pt x="680" y="1501"/>
                    </a:lnTo>
                    <a:lnTo>
                      <a:pt x="573" y="1843"/>
                    </a:lnTo>
                    <a:lnTo>
                      <a:pt x="347" y="1843"/>
                    </a:lnTo>
                    <a:lnTo>
                      <a:pt x="564" y="1136"/>
                    </a:lnTo>
                    <a:lnTo>
                      <a:pt x="338" y="430"/>
                    </a:lnTo>
                    <a:lnTo>
                      <a:pt x="569" y="430"/>
                    </a:lnTo>
                    <a:lnTo>
                      <a:pt x="675" y="767"/>
                    </a:lnTo>
                    <a:lnTo>
                      <a:pt x="777" y="430"/>
                    </a:lnTo>
                    <a:lnTo>
                      <a:pt x="1003" y="430"/>
                    </a:lnTo>
                    <a:lnTo>
                      <a:pt x="791" y="1127"/>
                    </a:lnTo>
                    <a:close/>
                    <a:moveTo>
                      <a:pt x="1503" y="1127"/>
                    </a:moveTo>
                    <a:lnTo>
                      <a:pt x="1728" y="1843"/>
                    </a:lnTo>
                    <a:lnTo>
                      <a:pt x="1498" y="1843"/>
                    </a:lnTo>
                    <a:lnTo>
                      <a:pt x="1392" y="1501"/>
                    </a:lnTo>
                    <a:lnTo>
                      <a:pt x="1286" y="1843"/>
                    </a:lnTo>
                    <a:lnTo>
                      <a:pt x="1059" y="1843"/>
                    </a:lnTo>
                    <a:lnTo>
                      <a:pt x="1276" y="1136"/>
                    </a:lnTo>
                    <a:lnTo>
                      <a:pt x="1050" y="430"/>
                    </a:lnTo>
                    <a:lnTo>
                      <a:pt x="1281" y="430"/>
                    </a:lnTo>
                    <a:lnTo>
                      <a:pt x="1387" y="767"/>
                    </a:lnTo>
                    <a:lnTo>
                      <a:pt x="1489" y="430"/>
                    </a:lnTo>
                    <a:lnTo>
                      <a:pt x="1715" y="430"/>
                    </a:lnTo>
                    <a:lnTo>
                      <a:pt x="1503" y="1127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" name="Freeform 16">
                <a:extLst>
                  <a:ext uri="{FF2B5EF4-FFF2-40B4-BE49-F238E27FC236}">
                    <a16:creationId xmlns:a16="http://schemas.microsoft.com/office/drawing/2014/main" id="{177BD5B8-6ED6-AF44-A4E9-AC0F5ADBB2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1441" y="696666"/>
                <a:ext cx="375564" cy="362437"/>
              </a:xfrm>
              <a:custGeom>
                <a:avLst/>
                <a:gdLst>
                  <a:gd name="T0" fmla="*/ 315 w 2272"/>
                  <a:gd name="T1" fmla="*/ 957 h 2191"/>
                  <a:gd name="T2" fmla="*/ 0 w 2272"/>
                  <a:gd name="T3" fmla="*/ 957 h 2191"/>
                  <a:gd name="T4" fmla="*/ 361 w 2272"/>
                  <a:gd name="T5" fmla="*/ 5 h 2191"/>
                  <a:gd name="T6" fmla="*/ 675 w 2272"/>
                  <a:gd name="T7" fmla="*/ 5 h 2191"/>
                  <a:gd name="T8" fmla="*/ 380 w 2272"/>
                  <a:gd name="T9" fmla="*/ 767 h 2191"/>
                  <a:gd name="T10" fmla="*/ 453 w 2272"/>
                  <a:gd name="T11" fmla="*/ 767 h 2191"/>
                  <a:gd name="T12" fmla="*/ 509 w 2272"/>
                  <a:gd name="T13" fmla="*/ 647 h 2191"/>
                  <a:gd name="T14" fmla="*/ 823 w 2272"/>
                  <a:gd name="T15" fmla="*/ 647 h 2191"/>
                  <a:gd name="T16" fmla="*/ 463 w 2272"/>
                  <a:gd name="T17" fmla="*/ 1492 h 2191"/>
                  <a:gd name="T18" fmla="*/ 754 w 2272"/>
                  <a:gd name="T19" fmla="*/ 1492 h 2191"/>
                  <a:gd name="T20" fmla="*/ 754 w 2272"/>
                  <a:gd name="T21" fmla="*/ 1677 h 2191"/>
                  <a:gd name="T22" fmla="*/ 366 w 2272"/>
                  <a:gd name="T23" fmla="*/ 1677 h 2191"/>
                  <a:gd name="T24" fmla="*/ 65 w 2272"/>
                  <a:gd name="T25" fmla="*/ 1677 h 2191"/>
                  <a:gd name="T26" fmla="*/ 375 w 2272"/>
                  <a:gd name="T27" fmla="*/ 957 h 2191"/>
                  <a:gd name="T28" fmla="*/ 315 w 2272"/>
                  <a:gd name="T29" fmla="*/ 957 h 2191"/>
                  <a:gd name="T30" fmla="*/ 763 w 2272"/>
                  <a:gd name="T31" fmla="*/ 1954 h 2191"/>
                  <a:gd name="T32" fmla="*/ 763 w 2272"/>
                  <a:gd name="T33" fmla="*/ 2130 h 2191"/>
                  <a:gd name="T34" fmla="*/ 84 w 2272"/>
                  <a:gd name="T35" fmla="*/ 2130 h 2191"/>
                  <a:gd name="T36" fmla="*/ 84 w 2272"/>
                  <a:gd name="T37" fmla="*/ 1954 h 2191"/>
                  <a:gd name="T38" fmla="*/ 763 w 2272"/>
                  <a:gd name="T39" fmla="*/ 1954 h 2191"/>
                  <a:gd name="T40" fmla="*/ 1831 w 2272"/>
                  <a:gd name="T41" fmla="*/ 1205 h 2191"/>
                  <a:gd name="T42" fmla="*/ 1614 w 2272"/>
                  <a:gd name="T43" fmla="*/ 994 h 2191"/>
                  <a:gd name="T44" fmla="*/ 1355 w 2272"/>
                  <a:gd name="T45" fmla="*/ 1205 h 2191"/>
                  <a:gd name="T46" fmla="*/ 884 w 2272"/>
                  <a:gd name="T47" fmla="*/ 1205 h 2191"/>
                  <a:gd name="T48" fmla="*/ 1392 w 2272"/>
                  <a:gd name="T49" fmla="*/ 781 h 2191"/>
                  <a:gd name="T50" fmla="*/ 1212 w 2272"/>
                  <a:gd name="T51" fmla="*/ 587 h 2191"/>
                  <a:gd name="T52" fmla="*/ 1179 w 2272"/>
                  <a:gd name="T53" fmla="*/ 684 h 2191"/>
                  <a:gd name="T54" fmla="*/ 842 w 2272"/>
                  <a:gd name="T55" fmla="*/ 684 h 2191"/>
                  <a:gd name="T56" fmla="*/ 1082 w 2272"/>
                  <a:gd name="T57" fmla="*/ 0 h 2191"/>
                  <a:gd name="T58" fmla="*/ 1420 w 2272"/>
                  <a:gd name="T59" fmla="*/ 0 h 2191"/>
                  <a:gd name="T60" fmla="*/ 1397 w 2272"/>
                  <a:gd name="T61" fmla="*/ 79 h 2191"/>
                  <a:gd name="T62" fmla="*/ 2174 w 2272"/>
                  <a:gd name="T63" fmla="*/ 79 h 2191"/>
                  <a:gd name="T64" fmla="*/ 2174 w 2272"/>
                  <a:gd name="T65" fmla="*/ 527 h 2191"/>
                  <a:gd name="T66" fmla="*/ 1864 w 2272"/>
                  <a:gd name="T67" fmla="*/ 795 h 2191"/>
                  <a:gd name="T68" fmla="*/ 2271 w 2272"/>
                  <a:gd name="T69" fmla="*/ 1205 h 2191"/>
                  <a:gd name="T70" fmla="*/ 1831 w 2272"/>
                  <a:gd name="T71" fmla="*/ 1205 h 2191"/>
                  <a:gd name="T72" fmla="*/ 934 w 2272"/>
                  <a:gd name="T73" fmla="*/ 2190 h 2191"/>
                  <a:gd name="T74" fmla="*/ 934 w 2272"/>
                  <a:gd name="T75" fmla="*/ 1303 h 2191"/>
                  <a:gd name="T76" fmla="*/ 2206 w 2272"/>
                  <a:gd name="T77" fmla="*/ 1303 h 2191"/>
                  <a:gd name="T78" fmla="*/ 2206 w 2272"/>
                  <a:gd name="T79" fmla="*/ 2190 h 2191"/>
                  <a:gd name="T80" fmla="*/ 934 w 2272"/>
                  <a:gd name="T81" fmla="*/ 2190 h 2191"/>
                  <a:gd name="T82" fmla="*/ 1522 w 2272"/>
                  <a:gd name="T83" fmla="*/ 467 h 2191"/>
                  <a:gd name="T84" fmla="*/ 1646 w 2272"/>
                  <a:gd name="T85" fmla="*/ 592 h 2191"/>
                  <a:gd name="T86" fmla="*/ 1892 w 2272"/>
                  <a:gd name="T87" fmla="*/ 379 h 2191"/>
                  <a:gd name="T88" fmla="*/ 1892 w 2272"/>
                  <a:gd name="T89" fmla="*/ 254 h 2191"/>
                  <a:gd name="T90" fmla="*/ 1332 w 2272"/>
                  <a:gd name="T91" fmla="*/ 254 h 2191"/>
                  <a:gd name="T92" fmla="*/ 1253 w 2272"/>
                  <a:gd name="T93" fmla="*/ 467 h 2191"/>
                  <a:gd name="T94" fmla="*/ 1522 w 2272"/>
                  <a:gd name="T95" fmla="*/ 467 h 2191"/>
                  <a:gd name="T96" fmla="*/ 1277 w 2272"/>
                  <a:gd name="T97" fmla="*/ 1478 h 2191"/>
                  <a:gd name="T98" fmla="*/ 1277 w 2272"/>
                  <a:gd name="T99" fmla="*/ 2014 h 2191"/>
                  <a:gd name="T100" fmla="*/ 1864 w 2272"/>
                  <a:gd name="T101" fmla="*/ 2014 h 2191"/>
                  <a:gd name="T102" fmla="*/ 1864 w 2272"/>
                  <a:gd name="T103" fmla="*/ 1478 h 2191"/>
                  <a:gd name="T104" fmla="*/ 1277 w 2272"/>
                  <a:gd name="T105" fmla="*/ 1478 h 2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272" h="2191">
                    <a:moveTo>
                      <a:pt x="315" y="957"/>
                    </a:moveTo>
                    <a:lnTo>
                      <a:pt x="0" y="957"/>
                    </a:lnTo>
                    <a:lnTo>
                      <a:pt x="361" y="5"/>
                    </a:lnTo>
                    <a:lnTo>
                      <a:pt x="675" y="5"/>
                    </a:lnTo>
                    <a:lnTo>
                      <a:pt x="380" y="767"/>
                    </a:lnTo>
                    <a:lnTo>
                      <a:pt x="453" y="767"/>
                    </a:lnTo>
                    <a:lnTo>
                      <a:pt x="509" y="647"/>
                    </a:lnTo>
                    <a:lnTo>
                      <a:pt x="823" y="647"/>
                    </a:lnTo>
                    <a:lnTo>
                      <a:pt x="463" y="1492"/>
                    </a:lnTo>
                    <a:lnTo>
                      <a:pt x="754" y="1492"/>
                    </a:lnTo>
                    <a:lnTo>
                      <a:pt x="754" y="1677"/>
                    </a:lnTo>
                    <a:lnTo>
                      <a:pt x="366" y="1677"/>
                    </a:lnTo>
                    <a:lnTo>
                      <a:pt x="65" y="1677"/>
                    </a:lnTo>
                    <a:lnTo>
                      <a:pt x="375" y="957"/>
                    </a:lnTo>
                    <a:lnTo>
                      <a:pt x="315" y="957"/>
                    </a:lnTo>
                    <a:close/>
                    <a:moveTo>
                      <a:pt x="763" y="1954"/>
                    </a:moveTo>
                    <a:lnTo>
                      <a:pt x="763" y="2130"/>
                    </a:lnTo>
                    <a:lnTo>
                      <a:pt x="84" y="2130"/>
                    </a:lnTo>
                    <a:lnTo>
                      <a:pt x="84" y="1954"/>
                    </a:lnTo>
                    <a:lnTo>
                      <a:pt x="763" y="1954"/>
                    </a:lnTo>
                    <a:close/>
                    <a:moveTo>
                      <a:pt x="1831" y="1205"/>
                    </a:moveTo>
                    <a:lnTo>
                      <a:pt x="1614" y="994"/>
                    </a:lnTo>
                    <a:lnTo>
                      <a:pt x="1355" y="1205"/>
                    </a:lnTo>
                    <a:lnTo>
                      <a:pt x="884" y="1205"/>
                    </a:lnTo>
                    <a:lnTo>
                      <a:pt x="1392" y="781"/>
                    </a:lnTo>
                    <a:lnTo>
                      <a:pt x="1212" y="587"/>
                    </a:lnTo>
                    <a:lnTo>
                      <a:pt x="1179" y="684"/>
                    </a:lnTo>
                    <a:lnTo>
                      <a:pt x="842" y="684"/>
                    </a:lnTo>
                    <a:lnTo>
                      <a:pt x="1082" y="0"/>
                    </a:lnTo>
                    <a:lnTo>
                      <a:pt x="1420" y="0"/>
                    </a:lnTo>
                    <a:lnTo>
                      <a:pt x="1397" y="79"/>
                    </a:lnTo>
                    <a:lnTo>
                      <a:pt x="2174" y="79"/>
                    </a:lnTo>
                    <a:lnTo>
                      <a:pt x="2174" y="527"/>
                    </a:lnTo>
                    <a:lnTo>
                      <a:pt x="1864" y="795"/>
                    </a:lnTo>
                    <a:lnTo>
                      <a:pt x="2271" y="1205"/>
                    </a:lnTo>
                    <a:lnTo>
                      <a:pt x="1831" y="1205"/>
                    </a:lnTo>
                    <a:close/>
                    <a:moveTo>
                      <a:pt x="934" y="2190"/>
                    </a:moveTo>
                    <a:lnTo>
                      <a:pt x="934" y="1303"/>
                    </a:lnTo>
                    <a:lnTo>
                      <a:pt x="2206" y="1303"/>
                    </a:lnTo>
                    <a:lnTo>
                      <a:pt x="2206" y="2190"/>
                    </a:lnTo>
                    <a:lnTo>
                      <a:pt x="934" y="2190"/>
                    </a:lnTo>
                    <a:close/>
                    <a:moveTo>
                      <a:pt x="1522" y="467"/>
                    </a:moveTo>
                    <a:lnTo>
                      <a:pt x="1646" y="592"/>
                    </a:lnTo>
                    <a:lnTo>
                      <a:pt x="1892" y="379"/>
                    </a:lnTo>
                    <a:lnTo>
                      <a:pt x="1892" y="254"/>
                    </a:lnTo>
                    <a:lnTo>
                      <a:pt x="1332" y="254"/>
                    </a:lnTo>
                    <a:lnTo>
                      <a:pt x="1253" y="467"/>
                    </a:lnTo>
                    <a:lnTo>
                      <a:pt x="1522" y="467"/>
                    </a:lnTo>
                    <a:close/>
                    <a:moveTo>
                      <a:pt x="1277" y="1478"/>
                    </a:moveTo>
                    <a:lnTo>
                      <a:pt x="1277" y="2014"/>
                    </a:lnTo>
                    <a:lnTo>
                      <a:pt x="1864" y="2014"/>
                    </a:lnTo>
                    <a:lnTo>
                      <a:pt x="1864" y="1478"/>
                    </a:lnTo>
                    <a:lnTo>
                      <a:pt x="1277" y="1478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" name="Freeform 17">
                <a:extLst>
                  <a:ext uri="{FF2B5EF4-FFF2-40B4-BE49-F238E27FC236}">
                    <a16:creationId xmlns:a16="http://schemas.microsoft.com/office/drawing/2014/main" id="{659E8A2F-BD45-A141-8653-9A26A575F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2528" y="697395"/>
                <a:ext cx="362437" cy="363166"/>
              </a:xfrm>
              <a:custGeom>
                <a:avLst/>
                <a:gdLst>
                  <a:gd name="T0" fmla="*/ 1244 w 2193"/>
                  <a:gd name="T1" fmla="*/ 1012 h 2195"/>
                  <a:gd name="T2" fmla="*/ 934 w 2193"/>
                  <a:gd name="T3" fmla="*/ 1589 h 2195"/>
                  <a:gd name="T4" fmla="*/ 1249 w 2193"/>
                  <a:gd name="T5" fmla="*/ 1764 h 2195"/>
                  <a:gd name="T6" fmla="*/ 925 w 2193"/>
                  <a:gd name="T7" fmla="*/ 2194 h 2195"/>
                  <a:gd name="T8" fmla="*/ 439 w 2193"/>
                  <a:gd name="T9" fmla="*/ 2032 h 2195"/>
                  <a:gd name="T10" fmla="*/ 597 w 2193"/>
                  <a:gd name="T11" fmla="*/ 1764 h 2195"/>
                  <a:gd name="T12" fmla="*/ 65 w 2193"/>
                  <a:gd name="T13" fmla="*/ 1589 h 2195"/>
                  <a:gd name="T14" fmla="*/ 856 w 2193"/>
                  <a:gd name="T15" fmla="*/ 1187 h 2195"/>
                  <a:gd name="T16" fmla="*/ 292 w 2193"/>
                  <a:gd name="T17" fmla="*/ 1455 h 2195"/>
                  <a:gd name="T18" fmla="*/ 167 w 2193"/>
                  <a:gd name="T19" fmla="*/ 1187 h 2195"/>
                  <a:gd name="T20" fmla="*/ 65 w 2193"/>
                  <a:gd name="T21" fmla="*/ 1012 h 2195"/>
                  <a:gd name="T22" fmla="*/ 361 w 2193"/>
                  <a:gd name="T23" fmla="*/ 809 h 2195"/>
                  <a:gd name="T24" fmla="*/ 56 w 2193"/>
                  <a:gd name="T25" fmla="*/ 628 h 2195"/>
                  <a:gd name="T26" fmla="*/ 366 w 2193"/>
                  <a:gd name="T27" fmla="*/ 319 h 2195"/>
                  <a:gd name="T28" fmla="*/ 125 w 2193"/>
                  <a:gd name="T29" fmla="*/ 148 h 2195"/>
                  <a:gd name="T30" fmla="*/ 366 w 2193"/>
                  <a:gd name="T31" fmla="*/ 0 h 2195"/>
                  <a:gd name="T32" fmla="*/ 680 w 2193"/>
                  <a:gd name="T33" fmla="*/ 148 h 2195"/>
                  <a:gd name="T34" fmla="*/ 934 w 2193"/>
                  <a:gd name="T35" fmla="*/ 319 h 2195"/>
                  <a:gd name="T36" fmla="*/ 680 w 2193"/>
                  <a:gd name="T37" fmla="*/ 628 h 2195"/>
                  <a:gd name="T38" fmla="*/ 1022 w 2193"/>
                  <a:gd name="T39" fmla="*/ 64 h 2195"/>
                  <a:gd name="T40" fmla="*/ 1115 w 2193"/>
                  <a:gd name="T41" fmla="*/ 628 h 2195"/>
                  <a:gd name="T42" fmla="*/ 1244 w 2193"/>
                  <a:gd name="T43" fmla="*/ 809 h 2195"/>
                  <a:gd name="T44" fmla="*/ 546 w 2193"/>
                  <a:gd name="T45" fmla="*/ 1012 h 2195"/>
                  <a:gd name="T46" fmla="*/ 1683 w 2193"/>
                  <a:gd name="T47" fmla="*/ 0 h 2195"/>
                  <a:gd name="T48" fmla="*/ 2183 w 2193"/>
                  <a:gd name="T49" fmla="*/ 115 h 2195"/>
                  <a:gd name="T50" fmla="*/ 2113 w 2193"/>
                  <a:gd name="T51" fmla="*/ 291 h 2195"/>
                  <a:gd name="T52" fmla="*/ 1868 w 2193"/>
                  <a:gd name="T53" fmla="*/ 1427 h 2195"/>
                  <a:gd name="T54" fmla="*/ 1836 w 2193"/>
                  <a:gd name="T55" fmla="*/ 2194 h 2195"/>
                  <a:gd name="T56" fmla="*/ 1535 w 2193"/>
                  <a:gd name="T57" fmla="*/ 2194 h 2195"/>
                  <a:gd name="T58" fmla="*/ 1489 w 2193"/>
                  <a:gd name="T59" fmla="*/ 1445 h 2195"/>
                  <a:gd name="T60" fmla="*/ 1632 w 2193"/>
                  <a:gd name="T61" fmla="*/ 1104 h 2195"/>
                  <a:gd name="T62" fmla="*/ 1771 w 2193"/>
                  <a:gd name="T63" fmla="*/ 291 h 2195"/>
                  <a:gd name="T64" fmla="*/ 1614 w 2193"/>
                  <a:gd name="T65" fmla="*/ 975 h 2195"/>
                  <a:gd name="T66" fmla="*/ 1360 w 2193"/>
                  <a:gd name="T67" fmla="*/ 0 h 2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193" h="2195">
                    <a:moveTo>
                      <a:pt x="546" y="1012"/>
                    </a:moveTo>
                    <a:lnTo>
                      <a:pt x="1244" y="1012"/>
                    </a:lnTo>
                    <a:lnTo>
                      <a:pt x="1244" y="1187"/>
                    </a:lnTo>
                    <a:lnTo>
                      <a:pt x="934" y="1589"/>
                    </a:lnTo>
                    <a:lnTo>
                      <a:pt x="1249" y="1589"/>
                    </a:lnTo>
                    <a:lnTo>
                      <a:pt x="1249" y="1764"/>
                    </a:lnTo>
                    <a:lnTo>
                      <a:pt x="925" y="1764"/>
                    </a:lnTo>
                    <a:lnTo>
                      <a:pt x="925" y="2194"/>
                    </a:lnTo>
                    <a:lnTo>
                      <a:pt x="439" y="2194"/>
                    </a:lnTo>
                    <a:lnTo>
                      <a:pt x="439" y="2032"/>
                    </a:lnTo>
                    <a:lnTo>
                      <a:pt x="597" y="2032"/>
                    </a:lnTo>
                    <a:lnTo>
                      <a:pt x="597" y="1764"/>
                    </a:lnTo>
                    <a:lnTo>
                      <a:pt x="65" y="1764"/>
                    </a:lnTo>
                    <a:lnTo>
                      <a:pt x="65" y="1589"/>
                    </a:lnTo>
                    <a:lnTo>
                      <a:pt x="537" y="1589"/>
                    </a:lnTo>
                    <a:lnTo>
                      <a:pt x="856" y="1187"/>
                    </a:lnTo>
                    <a:lnTo>
                      <a:pt x="453" y="1187"/>
                    </a:lnTo>
                    <a:lnTo>
                      <a:pt x="292" y="1455"/>
                    </a:lnTo>
                    <a:lnTo>
                      <a:pt x="0" y="1455"/>
                    </a:lnTo>
                    <a:lnTo>
                      <a:pt x="167" y="1187"/>
                    </a:lnTo>
                    <a:lnTo>
                      <a:pt x="65" y="1187"/>
                    </a:lnTo>
                    <a:lnTo>
                      <a:pt x="65" y="1012"/>
                    </a:lnTo>
                    <a:lnTo>
                      <a:pt x="255" y="1012"/>
                    </a:lnTo>
                    <a:lnTo>
                      <a:pt x="361" y="809"/>
                    </a:lnTo>
                    <a:lnTo>
                      <a:pt x="56" y="809"/>
                    </a:lnTo>
                    <a:lnTo>
                      <a:pt x="56" y="628"/>
                    </a:lnTo>
                    <a:lnTo>
                      <a:pt x="366" y="628"/>
                    </a:lnTo>
                    <a:lnTo>
                      <a:pt x="366" y="319"/>
                    </a:lnTo>
                    <a:lnTo>
                      <a:pt x="125" y="319"/>
                    </a:lnTo>
                    <a:lnTo>
                      <a:pt x="125" y="148"/>
                    </a:lnTo>
                    <a:lnTo>
                      <a:pt x="366" y="148"/>
                    </a:lnTo>
                    <a:lnTo>
                      <a:pt x="366" y="0"/>
                    </a:lnTo>
                    <a:lnTo>
                      <a:pt x="680" y="0"/>
                    </a:lnTo>
                    <a:lnTo>
                      <a:pt x="680" y="148"/>
                    </a:lnTo>
                    <a:lnTo>
                      <a:pt x="934" y="148"/>
                    </a:lnTo>
                    <a:lnTo>
                      <a:pt x="934" y="319"/>
                    </a:lnTo>
                    <a:lnTo>
                      <a:pt x="680" y="319"/>
                    </a:lnTo>
                    <a:lnTo>
                      <a:pt x="680" y="628"/>
                    </a:lnTo>
                    <a:lnTo>
                      <a:pt x="846" y="628"/>
                    </a:lnTo>
                    <a:lnTo>
                      <a:pt x="1022" y="64"/>
                    </a:lnTo>
                    <a:lnTo>
                      <a:pt x="1272" y="64"/>
                    </a:lnTo>
                    <a:lnTo>
                      <a:pt x="1115" y="628"/>
                    </a:lnTo>
                    <a:lnTo>
                      <a:pt x="1244" y="628"/>
                    </a:lnTo>
                    <a:lnTo>
                      <a:pt x="1244" y="809"/>
                    </a:lnTo>
                    <a:lnTo>
                      <a:pt x="652" y="809"/>
                    </a:lnTo>
                    <a:lnTo>
                      <a:pt x="546" y="1012"/>
                    </a:lnTo>
                    <a:close/>
                    <a:moveTo>
                      <a:pt x="1360" y="0"/>
                    </a:moveTo>
                    <a:lnTo>
                      <a:pt x="1683" y="0"/>
                    </a:lnTo>
                    <a:lnTo>
                      <a:pt x="1679" y="115"/>
                    </a:lnTo>
                    <a:lnTo>
                      <a:pt x="2183" y="115"/>
                    </a:lnTo>
                    <a:lnTo>
                      <a:pt x="2183" y="291"/>
                    </a:lnTo>
                    <a:lnTo>
                      <a:pt x="2113" y="291"/>
                    </a:lnTo>
                    <a:lnTo>
                      <a:pt x="2113" y="739"/>
                    </a:lnTo>
                    <a:lnTo>
                      <a:pt x="1868" y="1427"/>
                    </a:lnTo>
                    <a:lnTo>
                      <a:pt x="2192" y="2194"/>
                    </a:lnTo>
                    <a:lnTo>
                      <a:pt x="1836" y="2194"/>
                    </a:lnTo>
                    <a:lnTo>
                      <a:pt x="1683" y="1834"/>
                    </a:lnTo>
                    <a:lnTo>
                      <a:pt x="1535" y="2194"/>
                    </a:lnTo>
                    <a:lnTo>
                      <a:pt x="1175" y="2194"/>
                    </a:lnTo>
                    <a:lnTo>
                      <a:pt x="1489" y="1445"/>
                    </a:lnTo>
                    <a:lnTo>
                      <a:pt x="1355" y="1104"/>
                    </a:lnTo>
                    <a:lnTo>
                      <a:pt x="1632" y="1104"/>
                    </a:lnTo>
                    <a:lnTo>
                      <a:pt x="1771" y="698"/>
                    </a:lnTo>
                    <a:lnTo>
                      <a:pt x="1771" y="291"/>
                    </a:lnTo>
                    <a:lnTo>
                      <a:pt x="1669" y="291"/>
                    </a:lnTo>
                    <a:lnTo>
                      <a:pt x="1614" y="975"/>
                    </a:lnTo>
                    <a:lnTo>
                      <a:pt x="1281" y="975"/>
                    </a:lnTo>
                    <a:lnTo>
                      <a:pt x="136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" name="Freeform 18">
                <a:extLst>
                  <a:ext uri="{FF2B5EF4-FFF2-40B4-BE49-F238E27FC236}">
                    <a16:creationId xmlns:a16="http://schemas.microsoft.com/office/drawing/2014/main" id="{74855C05-5F16-C049-9443-A35BB82DE2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4864" y="702500"/>
                <a:ext cx="369000" cy="355874"/>
              </a:xfrm>
              <a:custGeom>
                <a:avLst/>
                <a:gdLst>
                  <a:gd name="T0" fmla="*/ 1447 w 2230"/>
                  <a:gd name="T1" fmla="*/ 1118 h 2150"/>
                  <a:gd name="T2" fmla="*/ 2229 w 2230"/>
                  <a:gd name="T3" fmla="*/ 1405 h 2150"/>
                  <a:gd name="T4" fmla="*/ 1545 w 2230"/>
                  <a:gd name="T5" fmla="*/ 1405 h 2150"/>
                  <a:gd name="T6" fmla="*/ 1078 w 2230"/>
                  <a:gd name="T7" fmla="*/ 1252 h 2150"/>
                  <a:gd name="T8" fmla="*/ 652 w 2230"/>
                  <a:gd name="T9" fmla="*/ 1405 h 2150"/>
                  <a:gd name="T10" fmla="*/ 0 w 2230"/>
                  <a:gd name="T11" fmla="*/ 1405 h 2150"/>
                  <a:gd name="T12" fmla="*/ 726 w 2230"/>
                  <a:gd name="T13" fmla="*/ 1137 h 2150"/>
                  <a:gd name="T14" fmla="*/ 222 w 2230"/>
                  <a:gd name="T15" fmla="*/ 976 h 2150"/>
                  <a:gd name="T16" fmla="*/ 361 w 2230"/>
                  <a:gd name="T17" fmla="*/ 745 h 2150"/>
                  <a:gd name="T18" fmla="*/ 88 w 2230"/>
                  <a:gd name="T19" fmla="*/ 745 h 2150"/>
                  <a:gd name="T20" fmla="*/ 88 w 2230"/>
                  <a:gd name="T21" fmla="*/ 583 h 2150"/>
                  <a:gd name="T22" fmla="*/ 467 w 2230"/>
                  <a:gd name="T23" fmla="*/ 583 h 2150"/>
                  <a:gd name="T24" fmla="*/ 550 w 2230"/>
                  <a:gd name="T25" fmla="*/ 444 h 2150"/>
                  <a:gd name="T26" fmla="*/ 902 w 2230"/>
                  <a:gd name="T27" fmla="*/ 444 h 2150"/>
                  <a:gd name="T28" fmla="*/ 823 w 2230"/>
                  <a:gd name="T29" fmla="*/ 583 h 2150"/>
                  <a:gd name="T30" fmla="*/ 2146 w 2230"/>
                  <a:gd name="T31" fmla="*/ 583 h 2150"/>
                  <a:gd name="T32" fmla="*/ 2146 w 2230"/>
                  <a:gd name="T33" fmla="*/ 745 h 2150"/>
                  <a:gd name="T34" fmla="*/ 1910 w 2230"/>
                  <a:gd name="T35" fmla="*/ 745 h 2150"/>
                  <a:gd name="T36" fmla="*/ 1910 w 2230"/>
                  <a:gd name="T37" fmla="*/ 957 h 2150"/>
                  <a:gd name="T38" fmla="*/ 1447 w 2230"/>
                  <a:gd name="T39" fmla="*/ 1118 h 2150"/>
                  <a:gd name="T40" fmla="*/ 56 w 2230"/>
                  <a:gd name="T41" fmla="*/ 2126 h 2150"/>
                  <a:gd name="T42" fmla="*/ 426 w 2230"/>
                  <a:gd name="T43" fmla="*/ 1733 h 2150"/>
                  <a:gd name="T44" fmla="*/ 819 w 2230"/>
                  <a:gd name="T45" fmla="*/ 1733 h 2150"/>
                  <a:gd name="T46" fmla="*/ 463 w 2230"/>
                  <a:gd name="T47" fmla="*/ 2126 h 2150"/>
                  <a:gd name="T48" fmla="*/ 56 w 2230"/>
                  <a:gd name="T49" fmla="*/ 2126 h 2150"/>
                  <a:gd name="T50" fmla="*/ 1817 w 2230"/>
                  <a:gd name="T51" fmla="*/ 490 h 2150"/>
                  <a:gd name="T52" fmla="*/ 1817 w 2230"/>
                  <a:gd name="T53" fmla="*/ 292 h 2150"/>
                  <a:gd name="T54" fmla="*/ 412 w 2230"/>
                  <a:gd name="T55" fmla="*/ 292 h 2150"/>
                  <a:gd name="T56" fmla="*/ 412 w 2230"/>
                  <a:gd name="T57" fmla="*/ 490 h 2150"/>
                  <a:gd name="T58" fmla="*/ 88 w 2230"/>
                  <a:gd name="T59" fmla="*/ 490 h 2150"/>
                  <a:gd name="T60" fmla="*/ 88 w 2230"/>
                  <a:gd name="T61" fmla="*/ 121 h 2150"/>
                  <a:gd name="T62" fmla="*/ 925 w 2230"/>
                  <a:gd name="T63" fmla="*/ 121 h 2150"/>
                  <a:gd name="T64" fmla="*/ 925 w 2230"/>
                  <a:gd name="T65" fmla="*/ 0 h 2150"/>
                  <a:gd name="T66" fmla="*/ 1290 w 2230"/>
                  <a:gd name="T67" fmla="*/ 0 h 2150"/>
                  <a:gd name="T68" fmla="*/ 1290 w 2230"/>
                  <a:gd name="T69" fmla="*/ 121 h 2150"/>
                  <a:gd name="T70" fmla="*/ 2146 w 2230"/>
                  <a:gd name="T71" fmla="*/ 121 h 2150"/>
                  <a:gd name="T72" fmla="*/ 2146 w 2230"/>
                  <a:gd name="T73" fmla="*/ 490 h 2150"/>
                  <a:gd name="T74" fmla="*/ 1817 w 2230"/>
                  <a:gd name="T75" fmla="*/ 490 h 2150"/>
                  <a:gd name="T76" fmla="*/ 1281 w 2230"/>
                  <a:gd name="T77" fmla="*/ 1368 h 2150"/>
                  <a:gd name="T78" fmla="*/ 1281 w 2230"/>
                  <a:gd name="T79" fmla="*/ 1497 h 2150"/>
                  <a:gd name="T80" fmla="*/ 2146 w 2230"/>
                  <a:gd name="T81" fmla="*/ 1497 h 2150"/>
                  <a:gd name="T82" fmla="*/ 2146 w 2230"/>
                  <a:gd name="T83" fmla="*/ 1668 h 2150"/>
                  <a:gd name="T84" fmla="*/ 1281 w 2230"/>
                  <a:gd name="T85" fmla="*/ 1668 h 2150"/>
                  <a:gd name="T86" fmla="*/ 1281 w 2230"/>
                  <a:gd name="T87" fmla="*/ 2149 h 2150"/>
                  <a:gd name="T88" fmla="*/ 944 w 2230"/>
                  <a:gd name="T89" fmla="*/ 2149 h 2150"/>
                  <a:gd name="T90" fmla="*/ 944 w 2230"/>
                  <a:gd name="T91" fmla="*/ 1668 h 2150"/>
                  <a:gd name="T92" fmla="*/ 88 w 2230"/>
                  <a:gd name="T93" fmla="*/ 1668 h 2150"/>
                  <a:gd name="T94" fmla="*/ 88 w 2230"/>
                  <a:gd name="T95" fmla="*/ 1497 h 2150"/>
                  <a:gd name="T96" fmla="*/ 944 w 2230"/>
                  <a:gd name="T97" fmla="*/ 1497 h 2150"/>
                  <a:gd name="T98" fmla="*/ 944 w 2230"/>
                  <a:gd name="T99" fmla="*/ 1368 h 2150"/>
                  <a:gd name="T100" fmla="*/ 1281 w 2230"/>
                  <a:gd name="T101" fmla="*/ 1368 h 2150"/>
                  <a:gd name="T102" fmla="*/ 1115 w 2230"/>
                  <a:gd name="T103" fmla="*/ 999 h 2150"/>
                  <a:gd name="T104" fmla="*/ 1568 w 2230"/>
                  <a:gd name="T105" fmla="*/ 832 h 2150"/>
                  <a:gd name="T106" fmla="*/ 1568 w 2230"/>
                  <a:gd name="T107" fmla="*/ 745 h 2150"/>
                  <a:gd name="T108" fmla="*/ 726 w 2230"/>
                  <a:gd name="T109" fmla="*/ 745 h 2150"/>
                  <a:gd name="T110" fmla="*/ 675 w 2230"/>
                  <a:gd name="T111" fmla="*/ 837 h 2150"/>
                  <a:gd name="T112" fmla="*/ 1115 w 2230"/>
                  <a:gd name="T113" fmla="*/ 999 h 2150"/>
                  <a:gd name="T114" fmla="*/ 2192 w 2230"/>
                  <a:gd name="T115" fmla="*/ 2126 h 2150"/>
                  <a:gd name="T116" fmla="*/ 1776 w 2230"/>
                  <a:gd name="T117" fmla="*/ 2126 h 2150"/>
                  <a:gd name="T118" fmla="*/ 1420 w 2230"/>
                  <a:gd name="T119" fmla="*/ 1733 h 2150"/>
                  <a:gd name="T120" fmla="*/ 1827 w 2230"/>
                  <a:gd name="T121" fmla="*/ 1733 h 2150"/>
                  <a:gd name="T122" fmla="*/ 2192 w 2230"/>
                  <a:gd name="T123" fmla="*/ 2126 h 2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30" h="2150">
                    <a:moveTo>
                      <a:pt x="1447" y="1118"/>
                    </a:moveTo>
                    <a:lnTo>
                      <a:pt x="2229" y="1405"/>
                    </a:lnTo>
                    <a:lnTo>
                      <a:pt x="1545" y="1405"/>
                    </a:lnTo>
                    <a:lnTo>
                      <a:pt x="1078" y="1252"/>
                    </a:lnTo>
                    <a:lnTo>
                      <a:pt x="652" y="1405"/>
                    </a:lnTo>
                    <a:lnTo>
                      <a:pt x="0" y="1405"/>
                    </a:lnTo>
                    <a:lnTo>
                      <a:pt x="726" y="1137"/>
                    </a:lnTo>
                    <a:lnTo>
                      <a:pt x="222" y="976"/>
                    </a:lnTo>
                    <a:lnTo>
                      <a:pt x="361" y="745"/>
                    </a:lnTo>
                    <a:lnTo>
                      <a:pt x="88" y="745"/>
                    </a:lnTo>
                    <a:lnTo>
                      <a:pt x="88" y="583"/>
                    </a:lnTo>
                    <a:lnTo>
                      <a:pt x="467" y="583"/>
                    </a:lnTo>
                    <a:lnTo>
                      <a:pt x="550" y="444"/>
                    </a:lnTo>
                    <a:lnTo>
                      <a:pt x="902" y="444"/>
                    </a:lnTo>
                    <a:lnTo>
                      <a:pt x="823" y="583"/>
                    </a:lnTo>
                    <a:lnTo>
                      <a:pt x="2146" y="583"/>
                    </a:lnTo>
                    <a:lnTo>
                      <a:pt x="2146" y="745"/>
                    </a:lnTo>
                    <a:lnTo>
                      <a:pt x="1910" y="745"/>
                    </a:lnTo>
                    <a:lnTo>
                      <a:pt x="1910" y="957"/>
                    </a:lnTo>
                    <a:lnTo>
                      <a:pt x="1447" y="1118"/>
                    </a:lnTo>
                    <a:close/>
                    <a:moveTo>
                      <a:pt x="56" y="2126"/>
                    </a:moveTo>
                    <a:lnTo>
                      <a:pt x="426" y="1733"/>
                    </a:lnTo>
                    <a:lnTo>
                      <a:pt x="819" y="1733"/>
                    </a:lnTo>
                    <a:lnTo>
                      <a:pt x="463" y="2126"/>
                    </a:lnTo>
                    <a:lnTo>
                      <a:pt x="56" y="2126"/>
                    </a:lnTo>
                    <a:close/>
                    <a:moveTo>
                      <a:pt x="1817" y="490"/>
                    </a:moveTo>
                    <a:lnTo>
                      <a:pt x="1817" y="292"/>
                    </a:lnTo>
                    <a:lnTo>
                      <a:pt x="412" y="292"/>
                    </a:lnTo>
                    <a:lnTo>
                      <a:pt x="412" y="490"/>
                    </a:lnTo>
                    <a:lnTo>
                      <a:pt x="88" y="490"/>
                    </a:lnTo>
                    <a:lnTo>
                      <a:pt x="88" y="121"/>
                    </a:lnTo>
                    <a:lnTo>
                      <a:pt x="925" y="121"/>
                    </a:lnTo>
                    <a:lnTo>
                      <a:pt x="925" y="0"/>
                    </a:lnTo>
                    <a:lnTo>
                      <a:pt x="1290" y="0"/>
                    </a:lnTo>
                    <a:lnTo>
                      <a:pt x="1290" y="121"/>
                    </a:lnTo>
                    <a:lnTo>
                      <a:pt x="2146" y="121"/>
                    </a:lnTo>
                    <a:lnTo>
                      <a:pt x="2146" y="490"/>
                    </a:lnTo>
                    <a:lnTo>
                      <a:pt x="1817" y="490"/>
                    </a:lnTo>
                    <a:close/>
                    <a:moveTo>
                      <a:pt x="1281" y="1368"/>
                    </a:moveTo>
                    <a:lnTo>
                      <a:pt x="1281" y="1497"/>
                    </a:lnTo>
                    <a:lnTo>
                      <a:pt x="2146" y="1497"/>
                    </a:lnTo>
                    <a:lnTo>
                      <a:pt x="2146" y="1668"/>
                    </a:lnTo>
                    <a:lnTo>
                      <a:pt x="1281" y="1668"/>
                    </a:lnTo>
                    <a:lnTo>
                      <a:pt x="1281" y="2149"/>
                    </a:lnTo>
                    <a:lnTo>
                      <a:pt x="944" y="2149"/>
                    </a:lnTo>
                    <a:lnTo>
                      <a:pt x="944" y="1668"/>
                    </a:lnTo>
                    <a:lnTo>
                      <a:pt x="88" y="1668"/>
                    </a:lnTo>
                    <a:lnTo>
                      <a:pt x="88" y="1497"/>
                    </a:lnTo>
                    <a:lnTo>
                      <a:pt x="944" y="1497"/>
                    </a:lnTo>
                    <a:lnTo>
                      <a:pt x="944" y="1368"/>
                    </a:lnTo>
                    <a:lnTo>
                      <a:pt x="1281" y="1368"/>
                    </a:lnTo>
                    <a:close/>
                    <a:moveTo>
                      <a:pt x="1115" y="999"/>
                    </a:moveTo>
                    <a:lnTo>
                      <a:pt x="1568" y="832"/>
                    </a:lnTo>
                    <a:lnTo>
                      <a:pt x="1568" y="745"/>
                    </a:lnTo>
                    <a:lnTo>
                      <a:pt x="726" y="745"/>
                    </a:lnTo>
                    <a:lnTo>
                      <a:pt x="675" y="837"/>
                    </a:lnTo>
                    <a:lnTo>
                      <a:pt x="1115" y="999"/>
                    </a:lnTo>
                    <a:close/>
                    <a:moveTo>
                      <a:pt x="2192" y="2126"/>
                    </a:moveTo>
                    <a:lnTo>
                      <a:pt x="1776" y="2126"/>
                    </a:lnTo>
                    <a:lnTo>
                      <a:pt x="1420" y="1733"/>
                    </a:lnTo>
                    <a:lnTo>
                      <a:pt x="1827" y="1733"/>
                    </a:lnTo>
                    <a:lnTo>
                      <a:pt x="2192" y="2126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" name="Freeform 19">
                <a:extLst>
                  <a:ext uri="{FF2B5EF4-FFF2-40B4-BE49-F238E27FC236}">
                    <a16:creationId xmlns:a16="http://schemas.microsoft.com/office/drawing/2014/main" id="{F26716A7-ED33-4E4F-BADB-2E2D223634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8449" y="696666"/>
                <a:ext cx="376293" cy="364625"/>
              </a:xfrm>
              <a:custGeom>
                <a:avLst/>
                <a:gdLst>
                  <a:gd name="T0" fmla="*/ 615 w 2276"/>
                  <a:gd name="T1" fmla="*/ 943 h 2205"/>
                  <a:gd name="T2" fmla="*/ 897 w 2276"/>
                  <a:gd name="T3" fmla="*/ 1145 h 2205"/>
                  <a:gd name="T4" fmla="*/ 897 w 2276"/>
                  <a:gd name="T5" fmla="*/ 1548 h 2205"/>
                  <a:gd name="T6" fmla="*/ 583 w 2276"/>
                  <a:gd name="T7" fmla="*/ 1330 h 2205"/>
                  <a:gd name="T8" fmla="*/ 583 w 2276"/>
                  <a:gd name="T9" fmla="*/ 2204 h 2205"/>
                  <a:gd name="T10" fmla="*/ 241 w 2276"/>
                  <a:gd name="T11" fmla="*/ 2204 h 2205"/>
                  <a:gd name="T12" fmla="*/ 241 w 2276"/>
                  <a:gd name="T13" fmla="*/ 1478 h 2205"/>
                  <a:gd name="T14" fmla="*/ 0 w 2276"/>
                  <a:gd name="T15" fmla="*/ 1478 h 2205"/>
                  <a:gd name="T16" fmla="*/ 435 w 2276"/>
                  <a:gd name="T17" fmla="*/ 439 h 2205"/>
                  <a:gd name="T18" fmla="*/ 93 w 2276"/>
                  <a:gd name="T19" fmla="*/ 439 h 2205"/>
                  <a:gd name="T20" fmla="*/ 93 w 2276"/>
                  <a:gd name="T21" fmla="*/ 264 h 2205"/>
                  <a:gd name="T22" fmla="*/ 306 w 2276"/>
                  <a:gd name="T23" fmla="*/ 264 h 2205"/>
                  <a:gd name="T24" fmla="*/ 306 w 2276"/>
                  <a:gd name="T25" fmla="*/ 0 h 2205"/>
                  <a:gd name="T26" fmla="*/ 680 w 2276"/>
                  <a:gd name="T27" fmla="*/ 0 h 2205"/>
                  <a:gd name="T28" fmla="*/ 680 w 2276"/>
                  <a:gd name="T29" fmla="*/ 264 h 2205"/>
                  <a:gd name="T30" fmla="*/ 819 w 2276"/>
                  <a:gd name="T31" fmla="*/ 264 h 2205"/>
                  <a:gd name="T32" fmla="*/ 819 w 2276"/>
                  <a:gd name="T33" fmla="*/ 439 h 2205"/>
                  <a:gd name="T34" fmla="*/ 615 w 2276"/>
                  <a:gd name="T35" fmla="*/ 943 h 2205"/>
                  <a:gd name="T36" fmla="*/ 888 w 2276"/>
                  <a:gd name="T37" fmla="*/ 726 h 2205"/>
                  <a:gd name="T38" fmla="*/ 888 w 2276"/>
                  <a:gd name="T39" fmla="*/ 550 h 2205"/>
                  <a:gd name="T40" fmla="*/ 1360 w 2276"/>
                  <a:gd name="T41" fmla="*/ 550 h 2205"/>
                  <a:gd name="T42" fmla="*/ 1360 w 2276"/>
                  <a:gd name="T43" fmla="*/ 0 h 2205"/>
                  <a:gd name="T44" fmla="*/ 1702 w 2276"/>
                  <a:gd name="T45" fmla="*/ 0 h 2205"/>
                  <a:gd name="T46" fmla="*/ 1702 w 2276"/>
                  <a:gd name="T47" fmla="*/ 550 h 2205"/>
                  <a:gd name="T48" fmla="*/ 2178 w 2276"/>
                  <a:gd name="T49" fmla="*/ 550 h 2205"/>
                  <a:gd name="T50" fmla="*/ 2178 w 2276"/>
                  <a:gd name="T51" fmla="*/ 726 h 2205"/>
                  <a:gd name="T52" fmla="*/ 1702 w 2276"/>
                  <a:gd name="T53" fmla="*/ 726 h 2205"/>
                  <a:gd name="T54" fmla="*/ 1702 w 2276"/>
                  <a:gd name="T55" fmla="*/ 1996 h 2205"/>
                  <a:gd name="T56" fmla="*/ 2275 w 2276"/>
                  <a:gd name="T57" fmla="*/ 1996 h 2205"/>
                  <a:gd name="T58" fmla="*/ 2275 w 2276"/>
                  <a:gd name="T59" fmla="*/ 2172 h 2205"/>
                  <a:gd name="T60" fmla="*/ 763 w 2276"/>
                  <a:gd name="T61" fmla="*/ 2172 h 2205"/>
                  <a:gd name="T62" fmla="*/ 763 w 2276"/>
                  <a:gd name="T63" fmla="*/ 1996 h 2205"/>
                  <a:gd name="T64" fmla="*/ 1360 w 2276"/>
                  <a:gd name="T65" fmla="*/ 1996 h 2205"/>
                  <a:gd name="T66" fmla="*/ 1360 w 2276"/>
                  <a:gd name="T67" fmla="*/ 726 h 2205"/>
                  <a:gd name="T68" fmla="*/ 888 w 2276"/>
                  <a:gd name="T69" fmla="*/ 726 h 2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276" h="2205">
                    <a:moveTo>
                      <a:pt x="615" y="943"/>
                    </a:moveTo>
                    <a:lnTo>
                      <a:pt x="897" y="1145"/>
                    </a:lnTo>
                    <a:lnTo>
                      <a:pt x="897" y="1548"/>
                    </a:lnTo>
                    <a:lnTo>
                      <a:pt x="583" y="1330"/>
                    </a:lnTo>
                    <a:lnTo>
                      <a:pt x="583" y="2204"/>
                    </a:lnTo>
                    <a:lnTo>
                      <a:pt x="241" y="2204"/>
                    </a:lnTo>
                    <a:lnTo>
                      <a:pt x="241" y="1478"/>
                    </a:lnTo>
                    <a:lnTo>
                      <a:pt x="0" y="1478"/>
                    </a:lnTo>
                    <a:lnTo>
                      <a:pt x="435" y="439"/>
                    </a:lnTo>
                    <a:lnTo>
                      <a:pt x="93" y="439"/>
                    </a:lnTo>
                    <a:lnTo>
                      <a:pt x="93" y="264"/>
                    </a:lnTo>
                    <a:lnTo>
                      <a:pt x="306" y="264"/>
                    </a:lnTo>
                    <a:lnTo>
                      <a:pt x="306" y="0"/>
                    </a:lnTo>
                    <a:lnTo>
                      <a:pt x="680" y="0"/>
                    </a:lnTo>
                    <a:lnTo>
                      <a:pt x="680" y="264"/>
                    </a:lnTo>
                    <a:lnTo>
                      <a:pt x="819" y="264"/>
                    </a:lnTo>
                    <a:lnTo>
                      <a:pt x="819" y="439"/>
                    </a:lnTo>
                    <a:lnTo>
                      <a:pt x="615" y="943"/>
                    </a:lnTo>
                    <a:close/>
                    <a:moveTo>
                      <a:pt x="888" y="726"/>
                    </a:moveTo>
                    <a:lnTo>
                      <a:pt x="888" y="550"/>
                    </a:lnTo>
                    <a:lnTo>
                      <a:pt x="1360" y="550"/>
                    </a:lnTo>
                    <a:lnTo>
                      <a:pt x="1360" y="0"/>
                    </a:lnTo>
                    <a:lnTo>
                      <a:pt x="1702" y="0"/>
                    </a:lnTo>
                    <a:lnTo>
                      <a:pt x="1702" y="550"/>
                    </a:lnTo>
                    <a:lnTo>
                      <a:pt x="2178" y="550"/>
                    </a:lnTo>
                    <a:lnTo>
                      <a:pt x="2178" y="726"/>
                    </a:lnTo>
                    <a:lnTo>
                      <a:pt x="1702" y="726"/>
                    </a:lnTo>
                    <a:lnTo>
                      <a:pt x="1702" y="1996"/>
                    </a:lnTo>
                    <a:lnTo>
                      <a:pt x="2275" y="1996"/>
                    </a:lnTo>
                    <a:lnTo>
                      <a:pt x="2275" y="2172"/>
                    </a:lnTo>
                    <a:lnTo>
                      <a:pt x="763" y="2172"/>
                    </a:lnTo>
                    <a:lnTo>
                      <a:pt x="763" y="1996"/>
                    </a:lnTo>
                    <a:lnTo>
                      <a:pt x="1360" y="1996"/>
                    </a:lnTo>
                    <a:lnTo>
                      <a:pt x="1360" y="726"/>
                    </a:lnTo>
                    <a:lnTo>
                      <a:pt x="888" y="726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" name="Freeform 20">
                <a:extLst>
                  <a:ext uri="{FF2B5EF4-FFF2-40B4-BE49-F238E27FC236}">
                    <a16:creationId xmlns:a16="http://schemas.microsoft.com/office/drawing/2014/main" id="{A25A530F-4DF9-E348-A512-A3FC76E249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9226" y="705417"/>
                <a:ext cx="328891" cy="352227"/>
              </a:xfrm>
              <a:custGeom>
                <a:avLst/>
                <a:gdLst>
                  <a:gd name="T0" fmla="*/ 1979 w 1990"/>
                  <a:gd name="T1" fmla="*/ 176 h 2131"/>
                  <a:gd name="T2" fmla="*/ 343 w 1990"/>
                  <a:gd name="T3" fmla="*/ 176 h 2131"/>
                  <a:gd name="T4" fmla="*/ 343 w 1990"/>
                  <a:gd name="T5" fmla="*/ 1954 h 2131"/>
                  <a:gd name="T6" fmla="*/ 1989 w 1990"/>
                  <a:gd name="T7" fmla="*/ 1954 h 2131"/>
                  <a:gd name="T8" fmla="*/ 1989 w 1990"/>
                  <a:gd name="T9" fmla="*/ 2130 h 2131"/>
                  <a:gd name="T10" fmla="*/ 0 w 1990"/>
                  <a:gd name="T11" fmla="*/ 2130 h 2131"/>
                  <a:gd name="T12" fmla="*/ 0 w 1990"/>
                  <a:gd name="T13" fmla="*/ 0 h 2131"/>
                  <a:gd name="T14" fmla="*/ 1979 w 1990"/>
                  <a:gd name="T15" fmla="*/ 0 h 2131"/>
                  <a:gd name="T16" fmla="*/ 1979 w 1990"/>
                  <a:gd name="T17" fmla="*/ 176 h 2131"/>
                  <a:gd name="T18" fmla="*/ 958 w 1990"/>
                  <a:gd name="T19" fmla="*/ 1063 h 2131"/>
                  <a:gd name="T20" fmla="*/ 421 w 1990"/>
                  <a:gd name="T21" fmla="*/ 310 h 2131"/>
                  <a:gd name="T22" fmla="*/ 847 w 1990"/>
                  <a:gd name="T23" fmla="*/ 310 h 2131"/>
                  <a:gd name="T24" fmla="*/ 1166 w 1990"/>
                  <a:gd name="T25" fmla="*/ 763 h 2131"/>
                  <a:gd name="T26" fmla="*/ 1475 w 1990"/>
                  <a:gd name="T27" fmla="*/ 310 h 2131"/>
                  <a:gd name="T28" fmla="*/ 1887 w 1990"/>
                  <a:gd name="T29" fmla="*/ 310 h 2131"/>
                  <a:gd name="T30" fmla="*/ 1378 w 1990"/>
                  <a:gd name="T31" fmla="*/ 1058 h 2131"/>
                  <a:gd name="T32" fmla="*/ 1924 w 1990"/>
                  <a:gd name="T33" fmla="*/ 1829 h 2131"/>
                  <a:gd name="T34" fmla="*/ 1508 w 1990"/>
                  <a:gd name="T35" fmla="*/ 1829 h 2131"/>
                  <a:gd name="T36" fmla="*/ 1175 w 1990"/>
                  <a:gd name="T37" fmla="*/ 1358 h 2131"/>
                  <a:gd name="T38" fmla="*/ 860 w 1990"/>
                  <a:gd name="T39" fmla="*/ 1829 h 2131"/>
                  <a:gd name="T40" fmla="*/ 440 w 1990"/>
                  <a:gd name="T41" fmla="*/ 1829 h 2131"/>
                  <a:gd name="T42" fmla="*/ 958 w 1990"/>
                  <a:gd name="T43" fmla="*/ 1063 h 2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990" h="2131">
                    <a:moveTo>
                      <a:pt x="1979" y="176"/>
                    </a:moveTo>
                    <a:lnTo>
                      <a:pt x="343" y="176"/>
                    </a:lnTo>
                    <a:lnTo>
                      <a:pt x="343" y="1954"/>
                    </a:lnTo>
                    <a:lnTo>
                      <a:pt x="1989" y="1954"/>
                    </a:lnTo>
                    <a:lnTo>
                      <a:pt x="1989" y="2130"/>
                    </a:lnTo>
                    <a:lnTo>
                      <a:pt x="0" y="2130"/>
                    </a:lnTo>
                    <a:lnTo>
                      <a:pt x="0" y="0"/>
                    </a:lnTo>
                    <a:lnTo>
                      <a:pt x="1979" y="0"/>
                    </a:lnTo>
                    <a:lnTo>
                      <a:pt x="1979" y="176"/>
                    </a:lnTo>
                    <a:close/>
                    <a:moveTo>
                      <a:pt x="958" y="1063"/>
                    </a:moveTo>
                    <a:lnTo>
                      <a:pt x="421" y="310"/>
                    </a:lnTo>
                    <a:lnTo>
                      <a:pt x="847" y="310"/>
                    </a:lnTo>
                    <a:lnTo>
                      <a:pt x="1166" y="763"/>
                    </a:lnTo>
                    <a:lnTo>
                      <a:pt x="1475" y="310"/>
                    </a:lnTo>
                    <a:lnTo>
                      <a:pt x="1887" y="310"/>
                    </a:lnTo>
                    <a:lnTo>
                      <a:pt x="1378" y="1058"/>
                    </a:lnTo>
                    <a:lnTo>
                      <a:pt x="1924" y="1829"/>
                    </a:lnTo>
                    <a:lnTo>
                      <a:pt x="1508" y="1829"/>
                    </a:lnTo>
                    <a:lnTo>
                      <a:pt x="1175" y="1358"/>
                    </a:lnTo>
                    <a:lnTo>
                      <a:pt x="860" y="1829"/>
                    </a:lnTo>
                    <a:lnTo>
                      <a:pt x="440" y="1829"/>
                    </a:lnTo>
                    <a:lnTo>
                      <a:pt x="958" y="1063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</p:grpSp>
      </p:grp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06B569DB-EE88-CB4A-A634-A7CA45E81663}"/>
              </a:ext>
            </a:extLst>
          </p:cNvPr>
          <p:cNvCxnSpPr>
            <a:cxnSpLocks/>
          </p:cNvCxnSpPr>
          <p:nvPr userDrawn="1"/>
        </p:nvCxnSpPr>
        <p:spPr>
          <a:xfrm>
            <a:off x="9705401" y="526774"/>
            <a:ext cx="0" cy="503679"/>
          </a:xfrm>
          <a:prstGeom prst="line">
            <a:avLst/>
          </a:prstGeom>
          <a:ln w="1270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69ABA2F-7A98-FE44-912C-23CCE000584E}"/>
              </a:ext>
            </a:extLst>
          </p:cNvPr>
          <p:cNvGrpSpPr/>
          <p:nvPr userDrawn="1"/>
        </p:nvGrpSpPr>
        <p:grpSpPr>
          <a:xfrm>
            <a:off x="10332133" y="426643"/>
            <a:ext cx="927707" cy="369331"/>
            <a:chOff x="1113126" y="809213"/>
            <a:chExt cx="2133357" cy="523762"/>
          </a:xfrm>
          <a:solidFill>
            <a:schemeClr val="bg1">
              <a:lumMod val="75000"/>
            </a:schemeClr>
          </a:solidFill>
        </p:grpSpPr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5034F0ED-7F0F-A647-8634-57EC9EDD7255}"/>
                </a:ext>
              </a:extLst>
            </p:cNvPr>
            <p:cNvSpPr/>
            <p:nvPr userDrawn="1"/>
          </p:nvSpPr>
          <p:spPr>
            <a:xfrm>
              <a:off x="1113126" y="809213"/>
              <a:ext cx="523762" cy="5237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D081D63E-0DB7-F145-BD48-A7D925A71793}"/>
                </a:ext>
              </a:extLst>
            </p:cNvPr>
            <p:cNvSpPr/>
            <p:nvPr userDrawn="1"/>
          </p:nvSpPr>
          <p:spPr>
            <a:xfrm>
              <a:off x="1649658" y="809213"/>
              <a:ext cx="523762" cy="5237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DE68830E-1F7F-B045-A86E-6FF9C25B8D77}"/>
                </a:ext>
              </a:extLst>
            </p:cNvPr>
            <p:cNvSpPr/>
            <p:nvPr userDrawn="1"/>
          </p:nvSpPr>
          <p:spPr>
            <a:xfrm>
              <a:off x="2186190" y="809213"/>
              <a:ext cx="523762" cy="5237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86747901-9919-AD4B-8F5D-A15F9E1E169D}"/>
                </a:ext>
              </a:extLst>
            </p:cNvPr>
            <p:cNvSpPr/>
            <p:nvPr userDrawn="1"/>
          </p:nvSpPr>
          <p:spPr>
            <a:xfrm>
              <a:off x="2722721" y="809213"/>
              <a:ext cx="523762" cy="5237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70" name="矩形 69">
            <a:extLst>
              <a:ext uri="{FF2B5EF4-FFF2-40B4-BE49-F238E27FC236}">
                <a16:creationId xmlns:a16="http://schemas.microsoft.com/office/drawing/2014/main" id="{2BB61636-6036-1C48-82CA-04EB1597C9CC}"/>
              </a:ext>
            </a:extLst>
          </p:cNvPr>
          <p:cNvSpPr/>
          <p:nvPr userDrawn="1"/>
        </p:nvSpPr>
        <p:spPr>
          <a:xfrm>
            <a:off x="10245804" y="413133"/>
            <a:ext cx="110799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800" b="1" cap="none" spc="0" dirty="0">
                <a:ln w="22225">
                  <a:noFill/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我的学校</a:t>
            </a:r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C1D75728-DE08-814F-9EF0-7E9AFB999FE6}"/>
              </a:ext>
            </a:extLst>
          </p:cNvPr>
          <p:cNvGrpSpPr/>
          <p:nvPr userDrawn="1"/>
        </p:nvGrpSpPr>
        <p:grpSpPr>
          <a:xfrm>
            <a:off x="715452" y="634525"/>
            <a:ext cx="403039" cy="321898"/>
            <a:chOff x="1368170" y="664579"/>
            <a:chExt cx="550582" cy="439737"/>
          </a:xfrm>
          <a:solidFill>
            <a:schemeClr val="bg1"/>
          </a:solidFill>
        </p:grpSpPr>
        <p:sp>
          <p:nvSpPr>
            <p:cNvPr id="72" name="Freeform 1">
              <a:extLst>
                <a:ext uri="{FF2B5EF4-FFF2-40B4-BE49-F238E27FC236}">
                  <a16:creationId xmlns:a16="http://schemas.microsoft.com/office/drawing/2014/main" id="{53F1A011-1E52-3140-9C21-8911AB3220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1203" y="771778"/>
              <a:ext cx="437549" cy="332538"/>
            </a:xfrm>
            <a:custGeom>
              <a:avLst/>
              <a:gdLst>
                <a:gd name="T0" fmla="*/ 25 w 2647"/>
                <a:gd name="T1" fmla="*/ 1478 h 2011"/>
                <a:gd name="T2" fmla="*/ 525 w 2647"/>
                <a:gd name="T3" fmla="*/ 1865 h 2011"/>
                <a:gd name="T4" fmla="*/ 736 w 2647"/>
                <a:gd name="T5" fmla="*/ 1972 h 2011"/>
                <a:gd name="T6" fmla="*/ 940 w 2647"/>
                <a:gd name="T7" fmla="*/ 2010 h 2011"/>
                <a:gd name="T8" fmla="*/ 1078 w 2647"/>
                <a:gd name="T9" fmla="*/ 1991 h 2011"/>
                <a:gd name="T10" fmla="*/ 1286 w 2647"/>
                <a:gd name="T11" fmla="*/ 1894 h 2011"/>
                <a:gd name="T12" fmla="*/ 1506 w 2647"/>
                <a:gd name="T13" fmla="*/ 1715 h 2011"/>
                <a:gd name="T14" fmla="*/ 1506 w 2647"/>
                <a:gd name="T15" fmla="*/ 1715 h 2011"/>
                <a:gd name="T16" fmla="*/ 2630 w 2647"/>
                <a:gd name="T17" fmla="*/ 624 h 2011"/>
                <a:gd name="T18" fmla="*/ 2646 w 2647"/>
                <a:gd name="T19" fmla="*/ 586 h 2011"/>
                <a:gd name="T20" fmla="*/ 2630 w 2647"/>
                <a:gd name="T21" fmla="*/ 548 h 2011"/>
                <a:gd name="T22" fmla="*/ 2090 w 2647"/>
                <a:gd name="T23" fmla="*/ 21 h 2011"/>
                <a:gd name="T24" fmla="*/ 2016 w 2647"/>
                <a:gd name="T25" fmla="*/ 22 h 2011"/>
                <a:gd name="T26" fmla="*/ 2017 w 2647"/>
                <a:gd name="T27" fmla="*/ 96 h 2011"/>
                <a:gd name="T28" fmla="*/ 2518 w 2647"/>
                <a:gd name="T29" fmla="*/ 586 h 2011"/>
                <a:gd name="T30" fmla="*/ 1433 w 2647"/>
                <a:gd name="T31" fmla="*/ 1639 h 2011"/>
                <a:gd name="T32" fmla="*/ 1433 w 2647"/>
                <a:gd name="T33" fmla="*/ 1639 h 2011"/>
                <a:gd name="T34" fmla="*/ 1167 w 2647"/>
                <a:gd name="T35" fmla="*/ 1843 h 2011"/>
                <a:gd name="T36" fmla="*/ 1051 w 2647"/>
                <a:gd name="T37" fmla="*/ 1889 h 2011"/>
                <a:gd name="T38" fmla="*/ 940 w 2647"/>
                <a:gd name="T39" fmla="*/ 1904 h 2011"/>
                <a:gd name="T40" fmla="*/ 772 w 2647"/>
                <a:gd name="T41" fmla="*/ 1872 h 2011"/>
                <a:gd name="T42" fmla="*/ 474 w 2647"/>
                <a:gd name="T43" fmla="*/ 1704 h 2011"/>
                <a:gd name="T44" fmla="*/ 93 w 2647"/>
                <a:gd name="T45" fmla="*/ 1398 h 2011"/>
                <a:gd name="T46" fmla="*/ 19 w 2647"/>
                <a:gd name="T47" fmla="*/ 1404 h 2011"/>
                <a:gd name="T48" fmla="*/ 25 w 2647"/>
                <a:gd name="T49" fmla="*/ 1478 h 2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47" h="2011">
                  <a:moveTo>
                    <a:pt x="25" y="1478"/>
                  </a:moveTo>
                  <a:cubicBezTo>
                    <a:pt x="219" y="1643"/>
                    <a:pt x="380" y="1773"/>
                    <a:pt x="525" y="1865"/>
                  </a:cubicBezTo>
                  <a:cubicBezTo>
                    <a:pt x="598" y="1911"/>
                    <a:pt x="668" y="1947"/>
                    <a:pt x="736" y="1972"/>
                  </a:cubicBezTo>
                  <a:cubicBezTo>
                    <a:pt x="805" y="1996"/>
                    <a:pt x="872" y="2010"/>
                    <a:pt x="940" y="2010"/>
                  </a:cubicBezTo>
                  <a:cubicBezTo>
                    <a:pt x="986" y="2010"/>
                    <a:pt x="1032" y="2004"/>
                    <a:pt x="1078" y="1991"/>
                  </a:cubicBezTo>
                  <a:cubicBezTo>
                    <a:pt x="1147" y="1973"/>
                    <a:pt x="1216" y="1940"/>
                    <a:pt x="1286" y="1894"/>
                  </a:cubicBezTo>
                  <a:cubicBezTo>
                    <a:pt x="1357" y="1848"/>
                    <a:pt x="1429" y="1789"/>
                    <a:pt x="1506" y="1715"/>
                  </a:cubicBezTo>
                  <a:lnTo>
                    <a:pt x="1506" y="1715"/>
                  </a:lnTo>
                  <a:lnTo>
                    <a:pt x="2630" y="624"/>
                  </a:lnTo>
                  <a:cubicBezTo>
                    <a:pt x="2640" y="614"/>
                    <a:pt x="2646" y="600"/>
                    <a:pt x="2646" y="586"/>
                  </a:cubicBezTo>
                  <a:cubicBezTo>
                    <a:pt x="2646" y="572"/>
                    <a:pt x="2641" y="558"/>
                    <a:pt x="2630" y="548"/>
                  </a:cubicBezTo>
                  <a:lnTo>
                    <a:pt x="2090" y="21"/>
                  </a:lnTo>
                  <a:cubicBezTo>
                    <a:pt x="2069" y="0"/>
                    <a:pt x="2036" y="1"/>
                    <a:pt x="2016" y="22"/>
                  </a:cubicBezTo>
                  <a:cubicBezTo>
                    <a:pt x="1995" y="42"/>
                    <a:pt x="1996" y="76"/>
                    <a:pt x="2017" y="96"/>
                  </a:cubicBezTo>
                  <a:lnTo>
                    <a:pt x="2518" y="586"/>
                  </a:lnTo>
                  <a:lnTo>
                    <a:pt x="1433" y="1639"/>
                  </a:lnTo>
                  <a:lnTo>
                    <a:pt x="1433" y="1639"/>
                  </a:lnTo>
                  <a:cubicBezTo>
                    <a:pt x="1335" y="1733"/>
                    <a:pt x="1247" y="1800"/>
                    <a:pt x="1167" y="1843"/>
                  </a:cubicBezTo>
                  <a:cubicBezTo>
                    <a:pt x="1127" y="1864"/>
                    <a:pt x="1088" y="1879"/>
                    <a:pt x="1051" y="1889"/>
                  </a:cubicBezTo>
                  <a:cubicBezTo>
                    <a:pt x="1013" y="1899"/>
                    <a:pt x="977" y="1904"/>
                    <a:pt x="940" y="1904"/>
                  </a:cubicBezTo>
                  <a:cubicBezTo>
                    <a:pt x="886" y="1904"/>
                    <a:pt x="831" y="1894"/>
                    <a:pt x="772" y="1872"/>
                  </a:cubicBezTo>
                  <a:cubicBezTo>
                    <a:pt x="683" y="1840"/>
                    <a:pt x="586" y="1784"/>
                    <a:pt x="474" y="1704"/>
                  </a:cubicBezTo>
                  <a:cubicBezTo>
                    <a:pt x="363" y="1624"/>
                    <a:pt x="238" y="1521"/>
                    <a:pt x="93" y="1398"/>
                  </a:cubicBezTo>
                  <a:cubicBezTo>
                    <a:pt x="71" y="1379"/>
                    <a:pt x="38" y="1382"/>
                    <a:pt x="19" y="1404"/>
                  </a:cubicBezTo>
                  <a:cubicBezTo>
                    <a:pt x="0" y="1426"/>
                    <a:pt x="3" y="1459"/>
                    <a:pt x="25" y="147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Freeform 2">
              <a:extLst>
                <a:ext uri="{FF2B5EF4-FFF2-40B4-BE49-F238E27FC236}">
                  <a16:creationId xmlns:a16="http://schemas.microsoft.com/office/drawing/2014/main" id="{364873AD-F7AE-3D48-84F0-C718365189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1832" y="868769"/>
              <a:ext cx="356603" cy="190334"/>
            </a:xfrm>
            <a:custGeom>
              <a:avLst/>
              <a:gdLst>
                <a:gd name="T0" fmla="*/ 15 w 2158"/>
                <a:gd name="T1" fmla="*/ 713 h 1152"/>
                <a:gd name="T2" fmla="*/ 432 w 2158"/>
                <a:gd name="T3" fmla="*/ 1033 h 1152"/>
                <a:gd name="T4" fmla="*/ 605 w 2158"/>
                <a:gd name="T5" fmla="*/ 1120 h 1152"/>
                <a:gd name="T6" fmla="*/ 771 w 2158"/>
                <a:gd name="T7" fmla="*/ 1151 h 1152"/>
                <a:gd name="T8" fmla="*/ 896 w 2158"/>
                <a:gd name="T9" fmla="*/ 1132 h 1152"/>
                <a:gd name="T10" fmla="*/ 1089 w 2158"/>
                <a:gd name="T11" fmla="*/ 1036 h 1152"/>
                <a:gd name="T12" fmla="*/ 1305 w 2158"/>
                <a:gd name="T13" fmla="*/ 856 h 1152"/>
                <a:gd name="T14" fmla="*/ 1305 w 2158"/>
                <a:gd name="T15" fmla="*/ 856 h 1152"/>
                <a:gd name="T16" fmla="*/ 2144 w 2158"/>
                <a:gd name="T17" fmla="*/ 57 h 1152"/>
                <a:gd name="T18" fmla="*/ 2145 w 2158"/>
                <a:gd name="T19" fmla="*/ 13 h 1152"/>
                <a:gd name="T20" fmla="*/ 2100 w 2158"/>
                <a:gd name="T21" fmla="*/ 12 h 1152"/>
                <a:gd name="T22" fmla="*/ 1262 w 2158"/>
                <a:gd name="T23" fmla="*/ 811 h 1152"/>
                <a:gd name="T24" fmla="*/ 1262 w 2158"/>
                <a:gd name="T25" fmla="*/ 811 h 1152"/>
                <a:gd name="T26" fmla="*/ 993 w 2158"/>
                <a:gd name="T27" fmla="*/ 1023 h 1152"/>
                <a:gd name="T28" fmla="*/ 878 w 2158"/>
                <a:gd name="T29" fmla="*/ 1072 h 1152"/>
                <a:gd name="T30" fmla="*/ 771 w 2158"/>
                <a:gd name="T31" fmla="*/ 1088 h 1152"/>
                <a:gd name="T32" fmla="*/ 626 w 2158"/>
                <a:gd name="T33" fmla="*/ 1061 h 1152"/>
                <a:gd name="T34" fmla="*/ 376 w 2158"/>
                <a:gd name="T35" fmla="*/ 920 h 1152"/>
                <a:gd name="T36" fmla="*/ 55 w 2158"/>
                <a:gd name="T37" fmla="*/ 665 h 1152"/>
                <a:gd name="T38" fmla="*/ 11 w 2158"/>
                <a:gd name="T39" fmla="*/ 669 h 1152"/>
                <a:gd name="T40" fmla="*/ 15 w 2158"/>
                <a:gd name="T41" fmla="*/ 713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15" y="713"/>
                  </a:moveTo>
                  <a:cubicBezTo>
                    <a:pt x="179" y="850"/>
                    <a:pt x="312" y="958"/>
                    <a:pt x="432" y="1033"/>
                  </a:cubicBezTo>
                  <a:cubicBezTo>
                    <a:pt x="492" y="1071"/>
                    <a:pt x="549" y="1100"/>
                    <a:pt x="605" y="1120"/>
                  </a:cubicBezTo>
                  <a:cubicBezTo>
                    <a:pt x="661" y="1140"/>
                    <a:pt x="716" y="1151"/>
                    <a:pt x="771" y="1151"/>
                  </a:cubicBezTo>
                  <a:cubicBezTo>
                    <a:pt x="812" y="1151"/>
                    <a:pt x="854" y="1145"/>
                    <a:pt x="896" y="1132"/>
                  </a:cubicBezTo>
                  <a:cubicBezTo>
                    <a:pt x="959" y="1114"/>
                    <a:pt x="1022" y="1082"/>
                    <a:pt x="1089" y="1036"/>
                  </a:cubicBezTo>
                  <a:cubicBezTo>
                    <a:pt x="1156" y="990"/>
                    <a:pt x="1227" y="931"/>
                    <a:pt x="1305" y="856"/>
                  </a:cubicBezTo>
                  <a:lnTo>
                    <a:pt x="1305" y="856"/>
                  </a:lnTo>
                  <a:lnTo>
                    <a:pt x="2144" y="57"/>
                  </a:lnTo>
                  <a:cubicBezTo>
                    <a:pt x="2156" y="45"/>
                    <a:pt x="2157" y="25"/>
                    <a:pt x="2145" y="13"/>
                  </a:cubicBezTo>
                  <a:cubicBezTo>
                    <a:pt x="2133" y="0"/>
                    <a:pt x="2113" y="0"/>
                    <a:pt x="2100" y="12"/>
                  </a:cubicBezTo>
                  <a:lnTo>
                    <a:pt x="1262" y="811"/>
                  </a:lnTo>
                  <a:lnTo>
                    <a:pt x="1262" y="811"/>
                  </a:lnTo>
                  <a:cubicBezTo>
                    <a:pt x="1160" y="908"/>
                    <a:pt x="1072" y="978"/>
                    <a:pt x="993" y="1023"/>
                  </a:cubicBezTo>
                  <a:cubicBezTo>
                    <a:pt x="953" y="1045"/>
                    <a:pt x="915" y="1062"/>
                    <a:pt x="878" y="1072"/>
                  </a:cubicBezTo>
                  <a:cubicBezTo>
                    <a:pt x="842" y="1083"/>
                    <a:pt x="806" y="1088"/>
                    <a:pt x="771" y="1088"/>
                  </a:cubicBezTo>
                  <a:cubicBezTo>
                    <a:pt x="724" y="1088"/>
                    <a:pt x="677" y="1079"/>
                    <a:pt x="626" y="1061"/>
                  </a:cubicBezTo>
                  <a:cubicBezTo>
                    <a:pt x="551" y="1034"/>
                    <a:pt x="469" y="987"/>
                    <a:pt x="376" y="920"/>
                  </a:cubicBezTo>
                  <a:cubicBezTo>
                    <a:pt x="282" y="853"/>
                    <a:pt x="177" y="767"/>
                    <a:pt x="55" y="665"/>
                  </a:cubicBezTo>
                  <a:cubicBezTo>
                    <a:pt x="42" y="654"/>
                    <a:pt x="22" y="656"/>
                    <a:pt x="11" y="669"/>
                  </a:cubicBezTo>
                  <a:cubicBezTo>
                    <a:pt x="0" y="682"/>
                    <a:pt x="1" y="702"/>
                    <a:pt x="15" y="71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Freeform 3">
              <a:extLst>
                <a:ext uri="{FF2B5EF4-FFF2-40B4-BE49-F238E27FC236}">
                  <a16:creationId xmlns:a16="http://schemas.microsoft.com/office/drawing/2014/main" id="{5B03D593-4A0D-DF4E-8474-4FAD50C6BC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0273" y="847620"/>
              <a:ext cx="304826" cy="169186"/>
            </a:xfrm>
            <a:custGeom>
              <a:avLst/>
              <a:gdLst>
                <a:gd name="T0" fmla="*/ 12 w 1845"/>
                <a:gd name="T1" fmla="*/ 672 h 1022"/>
                <a:gd name="T2" fmla="*/ 350 w 1845"/>
                <a:gd name="T3" fmla="*/ 928 h 1022"/>
                <a:gd name="T4" fmla="*/ 488 w 1845"/>
                <a:gd name="T5" fmla="*/ 997 h 1022"/>
                <a:gd name="T6" fmla="*/ 620 w 1845"/>
                <a:gd name="T7" fmla="*/ 1021 h 1022"/>
                <a:gd name="T8" fmla="*/ 734 w 1845"/>
                <a:gd name="T9" fmla="*/ 1003 h 1022"/>
                <a:gd name="T10" fmla="*/ 915 w 1845"/>
                <a:gd name="T11" fmla="*/ 905 h 1022"/>
                <a:gd name="T12" fmla="*/ 1129 w 1845"/>
                <a:gd name="T13" fmla="*/ 720 h 1022"/>
                <a:gd name="T14" fmla="*/ 1129 w 1845"/>
                <a:gd name="T15" fmla="*/ 720 h 1022"/>
                <a:gd name="T16" fmla="*/ 1834 w 1845"/>
                <a:gd name="T17" fmla="*/ 42 h 1022"/>
                <a:gd name="T18" fmla="*/ 1835 w 1845"/>
                <a:gd name="T19" fmla="*/ 10 h 1022"/>
                <a:gd name="T20" fmla="*/ 1802 w 1845"/>
                <a:gd name="T21" fmla="*/ 9 h 1022"/>
                <a:gd name="T22" fmla="*/ 1097 w 1845"/>
                <a:gd name="T23" fmla="*/ 687 h 1022"/>
                <a:gd name="T24" fmla="*/ 1097 w 1845"/>
                <a:gd name="T25" fmla="*/ 687 h 1022"/>
                <a:gd name="T26" fmla="*/ 828 w 1845"/>
                <a:gd name="T27" fmla="*/ 907 h 1022"/>
                <a:gd name="T28" fmla="*/ 720 w 1845"/>
                <a:gd name="T29" fmla="*/ 959 h 1022"/>
                <a:gd name="T30" fmla="*/ 620 w 1845"/>
                <a:gd name="T31" fmla="*/ 975 h 1022"/>
                <a:gd name="T32" fmla="*/ 504 w 1845"/>
                <a:gd name="T33" fmla="*/ 954 h 1022"/>
                <a:gd name="T34" fmla="*/ 302 w 1845"/>
                <a:gd name="T35" fmla="*/ 841 h 1022"/>
                <a:gd name="T36" fmla="*/ 41 w 1845"/>
                <a:gd name="T37" fmla="*/ 636 h 1022"/>
                <a:gd name="T38" fmla="*/ 9 w 1845"/>
                <a:gd name="T39" fmla="*/ 640 h 1022"/>
                <a:gd name="T40" fmla="*/ 12 w 1845"/>
                <a:gd name="T41" fmla="*/ 672 h 10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5" h="1022">
                  <a:moveTo>
                    <a:pt x="12" y="672"/>
                  </a:moveTo>
                  <a:cubicBezTo>
                    <a:pt x="146" y="782"/>
                    <a:pt x="254" y="868"/>
                    <a:pt x="350" y="928"/>
                  </a:cubicBezTo>
                  <a:cubicBezTo>
                    <a:pt x="398" y="958"/>
                    <a:pt x="444" y="981"/>
                    <a:pt x="488" y="997"/>
                  </a:cubicBezTo>
                  <a:cubicBezTo>
                    <a:pt x="533" y="1013"/>
                    <a:pt x="576" y="1021"/>
                    <a:pt x="620" y="1021"/>
                  </a:cubicBezTo>
                  <a:cubicBezTo>
                    <a:pt x="658" y="1021"/>
                    <a:pt x="695" y="1015"/>
                    <a:pt x="734" y="1003"/>
                  </a:cubicBezTo>
                  <a:cubicBezTo>
                    <a:pt x="791" y="984"/>
                    <a:pt x="850" y="952"/>
                    <a:pt x="915" y="905"/>
                  </a:cubicBezTo>
                  <a:cubicBezTo>
                    <a:pt x="980" y="858"/>
                    <a:pt x="1050" y="797"/>
                    <a:pt x="1129" y="720"/>
                  </a:cubicBezTo>
                  <a:lnTo>
                    <a:pt x="1129" y="720"/>
                  </a:lnTo>
                  <a:lnTo>
                    <a:pt x="1834" y="42"/>
                  </a:lnTo>
                  <a:cubicBezTo>
                    <a:pt x="1843" y="34"/>
                    <a:pt x="1844" y="19"/>
                    <a:pt x="1835" y="10"/>
                  </a:cubicBezTo>
                  <a:cubicBezTo>
                    <a:pt x="1826" y="1"/>
                    <a:pt x="1811" y="0"/>
                    <a:pt x="1802" y="9"/>
                  </a:cubicBezTo>
                  <a:lnTo>
                    <a:pt x="1097" y="687"/>
                  </a:lnTo>
                  <a:lnTo>
                    <a:pt x="1097" y="687"/>
                  </a:lnTo>
                  <a:cubicBezTo>
                    <a:pt x="992" y="788"/>
                    <a:pt x="905" y="861"/>
                    <a:pt x="828" y="907"/>
                  </a:cubicBezTo>
                  <a:cubicBezTo>
                    <a:pt x="790" y="931"/>
                    <a:pt x="754" y="948"/>
                    <a:pt x="720" y="959"/>
                  </a:cubicBezTo>
                  <a:cubicBezTo>
                    <a:pt x="685" y="970"/>
                    <a:pt x="653" y="975"/>
                    <a:pt x="620" y="975"/>
                  </a:cubicBezTo>
                  <a:cubicBezTo>
                    <a:pt x="582" y="975"/>
                    <a:pt x="544" y="968"/>
                    <a:pt x="504" y="954"/>
                  </a:cubicBezTo>
                  <a:cubicBezTo>
                    <a:pt x="443" y="932"/>
                    <a:pt x="378" y="894"/>
                    <a:pt x="302" y="841"/>
                  </a:cubicBezTo>
                  <a:cubicBezTo>
                    <a:pt x="227" y="787"/>
                    <a:pt x="141" y="718"/>
                    <a:pt x="41" y="636"/>
                  </a:cubicBezTo>
                  <a:cubicBezTo>
                    <a:pt x="31" y="628"/>
                    <a:pt x="17" y="630"/>
                    <a:pt x="9" y="640"/>
                  </a:cubicBezTo>
                  <a:cubicBezTo>
                    <a:pt x="0" y="649"/>
                    <a:pt x="2" y="664"/>
                    <a:pt x="12" y="67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Freeform 4">
              <a:extLst>
                <a:ext uri="{FF2B5EF4-FFF2-40B4-BE49-F238E27FC236}">
                  <a16:creationId xmlns:a16="http://schemas.microsoft.com/office/drawing/2014/main" id="{1A0E5E70-2235-6044-9E4C-A8D320929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8713" y="826472"/>
              <a:ext cx="253050" cy="148037"/>
            </a:xfrm>
            <a:custGeom>
              <a:avLst/>
              <a:gdLst>
                <a:gd name="T0" fmla="*/ 8 w 1531"/>
                <a:gd name="T1" fmla="*/ 630 h 895"/>
                <a:gd name="T2" fmla="*/ 269 w 1531"/>
                <a:gd name="T3" fmla="*/ 824 h 895"/>
                <a:gd name="T4" fmla="*/ 374 w 1531"/>
                <a:gd name="T5" fmla="*/ 876 h 895"/>
                <a:gd name="T6" fmla="*/ 473 w 1531"/>
                <a:gd name="T7" fmla="*/ 894 h 895"/>
                <a:gd name="T8" fmla="*/ 573 w 1531"/>
                <a:gd name="T9" fmla="*/ 875 h 895"/>
                <a:gd name="T10" fmla="*/ 739 w 1531"/>
                <a:gd name="T11" fmla="*/ 775 h 895"/>
                <a:gd name="T12" fmla="*/ 953 w 1531"/>
                <a:gd name="T13" fmla="*/ 584 h 895"/>
                <a:gd name="T14" fmla="*/ 953 w 1531"/>
                <a:gd name="T15" fmla="*/ 584 h 895"/>
                <a:gd name="T16" fmla="*/ 1524 w 1531"/>
                <a:gd name="T17" fmla="*/ 27 h 895"/>
                <a:gd name="T18" fmla="*/ 1524 w 1531"/>
                <a:gd name="T19" fmla="*/ 6 h 895"/>
                <a:gd name="T20" fmla="*/ 1503 w 1531"/>
                <a:gd name="T21" fmla="*/ 6 h 895"/>
                <a:gd name="T22" fmla="*/ 932 w 1531"/>
                <a:gd name="T23" fmla="*/ 563 h 895"/>
                <a:gd name="T24" fmla="*/ 932 w 1531"/>
                <a:gd name="T25" fmla="*/ 563 h 895"/>
                <a:gd name="T26" fmla="*/ 663 w 1531"/>
                <a:gd name="T27" fmla="*/ 793 h 895"/>
                <a:gd name="T28" fmla="*/ 562 w 1531"/>
                <a:gd name="T29" fmla="*/ 847 h 895"/>
                <a:gd name="T30" fmla="*/ 473 w 1531"/>
                <a:gd name="T31" fmla="*/ 865 h 895"/>
                <a:gd name="T32" fmla="*/ 384 w 1531"/>
                <a:gd name="T33" fmla="*/ 848 h 895"/>
                <a:gd name="T34" fmla="*/ 229 w 1531"/>
                <a:gd name="T35" fmla="*/ 762 h 895"/>
                <a:gd name="T36" fmla="*/ 26 w 1531"/>
                <a:gd name="T37" fmla="*/ 607 h 895"/>
                <a:gd name="T38" fmla="*/ 5 w 1531"/>
                <a:gd name="T39" fmla="*/ 609 h 895"/>
                <a:gd name="T40" fmla="*/ 8 w 1531"/>
                <a:gd name="T41" fmla="*/ 630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1" h="895">
                  <a:moveTo>
                    <a:pt x="8" y="630"/>
                  </a:moveTo>
                  <a:cubicBezTo>
                    <a:pt x="113" y="714"/>
                    <a:pt x="196" y="779"/>
                    <a:pt x="269" y="824"/>
                  </a:cubicBezTo>
                  <a:cubicBezTo>
                    <a:pt x="306" y="847"/>
                    <a:pt x="340" y="864"/>
                    <a:pt x="374" y="876"/>
                  </a:cubicBezTo>
                  <a:cubicBezTo>
                    <a:pt x="407" y="888"/>
                    <a:pt x="440" y="894"/>
                    <a:pt x="473" y="894"/>
                  </a:cubicBezTo>
                  <a:cubicBezTo>
                    <a:pt x="506" y="894"/>
                    <a:pt x="539" y="888"/>
                    <a:pt x="573" y="875"/>
                  </a:cubicBezTo>
                  <a:cubicBezTo>
                    <a:pt x="624" y="856"/>
                    <a:pt x="678" y="823"/>
                    <a:pt x="739" y="775"/>
                  </a:cubicBezTo>
                  <a:cubicBezTo>
                    <a:pt x="801" y="727"/>
                    <a:pt x="870" y="663"/>
                    <a:pt x="953" y="584"/>
                  </a:cubicBezTo>
                  <a:lnTo>
                    <a:pt x="953" y="584"/>
                  </a:lnTo>
                  <a:lnTo>
                    <a:pt x="1524" y="27"/>
                  </a:lnTo>
                  <a:cubicBezTo>
                    <a:pt x="1529" y="21"/>
                    <a:pt x="1530" y="12"/>
                    <a:pt x="1524" y="6"/>
                  </a:cubicBezTo>
                  <a:cubicBezTo>
                    <a:pt x="1518" y="0"/>
                    <a:pt x="1509" y="0"/>
                    <a:pt x="1503" y="6"/>
                  </a:cubicBezTo>
                  <a:lnTo>
                    <a:pt x="932" y="563"/>
                  </a:lnTo>
                  <a:lnTo>
                    <a:pt x="932" y="563"/>
                  </a:lnTo>
                  <a:cubicBezTo>
                    <a:pt x="823" y="668"/>
                    <a:pt x="737" y="744"/>
                    <a:pt x="663" y="793"/>
                  </a:cubicBezTo>
                  <a:cubicBezTo>
                    <a:pt x="627" y="818"/>
                    <a:pt x="594" y="836"/>
                    <a:pt x="562" y="847"/>
                  </a:cubicBezTo>
                  <a:cubicBezTo>
                    <a:pt x="531" y="859"/>
                    <a:pt x="502" y="865"/>
                    <a:pt x="473" y="865"/>
                  </a:cubicBezTo>
                  <a:cubicBezTo>
                    <a:pt x="444" y="865"/>
                    <a:pt x="415" y="859"/>
                    <a:pt x="384" y="848"/>
                  </a:cubicBezTo>
                  <a:cubicBezTo>
                    <a:pt x="338" y="832"/>
                    <a:pt x="288" y="803"/>
                    <a:pt x="229" y="762"/>
                  </a:cubicBezTo>
                  <a:cubicBezTo>
                    <a:pt x="171" y="722"/>
                    <a:pt x="105" y="669"/>
                    <a:pt x="26" y="607"/>
                  </a:cubicBezTo>
                  <a:cubicBezTo>
                    <a:pt x="20" y="602"/>
                    <a:pt x="10" y="603"/>
                    <a:pt x="5" y="609"/>
                  </a:cubicBezTo>
                  <a:cubicBezTo>
                    <a:pt x="0" y="615"/>
                    <a:pt x="1" y="625"/>
                    <a:pt x="8" y="63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Freeform 5">
              <a:extLst>
                <a:ext uri="{FF2B5EF4-FFF2-40B4-BE49-F238E27FC236}">
                  <a16:creationId xmlns:a16="http://schemas.microsoft.com/office/drawing/2014/main" id="{9F25C08B-5CAA-1D40-B768-CF07CC9095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6425" y="805324"/>
              <a:ext cx="201273" cy="127619"/>
            </a:xfrm>
            <a:custGeom>
              <a:avLst/>
              <a:gdLst>
                <a:gd name="T0" fmla="*/ 4 w 1217"/>
                <a:gd name="T1" fmla="*/ 588 h 773"/>
                <a:gd name="T2" fmla="*/ 193 w 1217"/>
                <a:gd name="T3" fmla="*/ 724 h 773"/>
                <a:gd name="T4" fmla="*/ 332 w 1217"/>
                <a:gd name="T5" fmla="*/ 772 h 773"/>
                <a:gd name="T6" fmla="*/ 415 w 1217"/>
                <a:gd name="T7" fmla="*/ 752 h 773"/>
                <a:gd name="T8" fmla="*/ 563 w 1217"/>
                <a:gd name="T9" fmla="*/ 648 h 773"/>
                <a:gd name="T10" fmla="*/ 776 w 1217"/>
                <a:gd name="T11" fmla="*/ 448 h 773"/>
                <a:gd name="T12" fmla="*/ 776 w 1217"/>
                <a:gd name="T13" fmla="*/ 448 h 773"/>
                <a:gd name="T14" fmla="*/ 1213 w 1217"/>
                <a:gd name="T15" fmla="*/ 12 h 773"/>
                <a:gd name="T16" fmla="*/ 1213 w 1217"/>
                <a:gd name="T17" fmla="*/ 2 h 773"/>
                <a:gd name="T18" fmla="*/ 1204 w 1217"/>
                <a:gd name="T19" fmla="*/ 2 h 773"/>
                <a:gd name="T20" fmla="*/ 767 w 1217"/>
                <a:gd name="T21" fmla="*/ 439 h 773"/>
                <a:gd name="T22" fmla="*/ 500 w 1217"/>
                <a:gd name="T23" fmla="*/ 682 h 773"/>
                <a:gd name="T24" fmla="*/ 410 w 1217"/>
                <a:gd name="T25" fmla="*/ 740 h 773"/>
                <a:gd name="T26" fmla="*/ 332 w 1217"/>
                <a:gd name="T27" fmla="*/ 759 h 773"/>
                <a:gd name="T28" fmla="*/ 199 w 1217"/>
                <a:gd name="T29" fmla="*/ 712 h 773"/>
                <a:gd name="T30" fmla="*/ 12 w 1217"/>
                <a:gd name="T31" fmla="*/ 577 h 773"/>
                <a:gd name="T32" fmla="*/ 2 w 1217"/>
                <a:gd name="T33" fmla="*/ 578 h 773"/>
                <a:gd name="T34" fmla="*/ 4 w 1217"/>
                <a:gd name="T35" fmla="*/ 588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4" y="588"/>
                  </a:moveTo>
                  <a:cubicBezTo>
                    <a:pt x="81" y="647"/>
                    <a:pt x="141" y="692"/>
                    <a:pt x="193" y="724"/>
                  </a:cubicBezTo>
                  <a:cubicBezTo>
                    <a:pt x="244" y="755"/>
                    <a:pt x="288" y="772"/>
                    <a:pt x="332" y="772"/>
                  </a:cubicBezTo>
                  <a:cubicBezTo>
                    <a:pt x="359" y="772"/>
                    <a:pt x="386" y="765"/>
                    <a:pt x="415" y="752"/>
                  </a:cubicBezTo>
                  <a:cubicBezTo>
                    <a:pt x="458" y="733"/>
                    <a:pt x="505" y="698"/>
                    <a:pt x="563" y="648"/>
                  </a:cubicBezTo>
                  <a:cubicBezTo>
                    <a:pt x="620" y="597"/>
                    <a:pt x="689" y="531"/>
                    <a:pt x="776" y="448"/>
                  </a:cubicBezTo>
                  <a:lnTo>
                    <a:pt x="776" y="448"/>
                  </a:lnTo>
                  <a:lnTo>
                    <a:pt x="1213" y="12"/>
                  </a:lnTo>
                  <a:cubicBezTo>
                    <a:pt x="1216" y="9"/>
                    <a:pt x="1216" y="5"/>
                    <a:pt x="1213" y="2"/>
                  </a:cubicBezTo>
                  <a:cubicBezTo>
                    <a:pt x="1210" y="0"/>
                    <a:pt x="1206" y="0"/>
                    <a:pt x="1204" y="2"/>
                  </a:cubicBezTo>
                  <a:lnTo>
                    <a:pt x="767" y="439"/>
                  </a:lnTo>
                  <a:cubicBezTo>
                    <a:pt x="651" y="549"/>
                    <a:pt x="568" y="630"/>
                    <a:pt x="500" y="682"/>
                  </a:cubicBezTo>
                  <a:cubicBezTo>
                    <a:pt x="466" y="709"/>
                    <a:pt x="437" y="728"/>
                    <a:pt x="410" y="740"/>
                  </a:cubicBezTo>
                  <a:cubicBezTo>
                    <a:pt x="382" y="753"/>
                    <a:pt x="357" y="759"/>
                    <a:pt x="332" y="759"/>
                  </a:cubicBezTo>
                  <a:cubicBezTo>
                    <a:pt x="291" y="759"/>
                    <a:pt x="250" y="743"/>
                    <a:pt x="199" y="712"/>
                  </a:cubicBezTo>
                  <a:cubicBezTo>
                    <a:pt x="149" y="682"/>
                    <a:pt x="89" y="636"/>
                    <a:pt x="12" y="577"/>
                  </a:cubicBezTo>
                  <a:cubicBezTo>
                    <a:pt x="9" y="575"/>
                    <a:pt x="4" y="575"/>
                    <a:pt x="2" y="578"/>
                  </a:cubicBezTo>
                  <a:cubicBezTo>
                    <a:pt x="0" y="581"/>
                    <a:pt x="1" y="585"/>
                    <a:pt x="4" y="58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Freeform 6">
              <a:extLst>
                <a:ext uri="{FF2B5EF4-FFF2-40B4-BE49-F238E27FC236}">
                  <a16:creationId xmlns:a16="http://schemas.microsoft.com/office/drawing/2014/main" id="{A1A66D2D-2EC2-AA45-8DA4-4B543D6DB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8170" y="664579"/>
              <a:ext cx="439737" cy="330350"/>
            </a:xfrm>
            <a:custGeom>
              <a:avLst/>
              <a:gdLst>
                <a:gd name="T0" fmla="*/ 2631 w 2657"/>
                <a:gd name="T1" fmla="*/ 532 h 1998"/>
                <a:gd name="T2" fmla="*/ 2130 w 2657"/>
                <a:gd name="T3" fmla="*/ 145 h 1998"/>
                <a:gd name="T4" fmla="*/ 1920 w 2657"/>
                <a:gd name="T5" fmla="*/ 38 h 1998"/>
                <a:gd name="T6" fmla="*/ 1715 w 2657"/>
                <a:gd name="T7" fmla="*/ 0 h 1998"/>
                <a:gd name="T8" fmla="*/ 1578 w 2657"/>
                <a:gd name="T9" fmla="*/ 19 h 1998"/>
                <a:gd name="T10" fmla="*/ 1370 w 2657"/>
                <a:gd name="T11" fmla="*/ 116 h 1998"/>
                <a:gd name="T12" fmla="*/ 1150 w 2657"/>
                <a:gd name="T13" fmla="*/ 295 h 1998"/>
                <a:gd name="T14" fmla="*/ 1150 w 2657"/>
                <a:gd name="T15" fmla="*/ 295 h 1998"/>
                <a:gd name="T16" fmla="*/ 16 w 2657"/>
                <a:gd name="T17" fmla="*/ 1368 h 1998"/>
                <a:gd name="T18" fmla="*/ 0 w 2657"/>
                <a:gd name="T19" fmla="*/ 1406 h 1998"/>
                <a:gd name="T20" fmla="*/ 16 w 2657"/>
                <a:gd name="T21" fmla="*/ 1444 h 1998"/>
                <a:gd name="T22" fmla="*/ 566 w 2657"/>
                <a:gd name="T23" fmla="*/ 1977 h 1998"/>
                <a:gd name="T24" fmla="*/ 640 w 2657"/>
                <a:gd name="T25" fmla="*/ 1976 h 1998"/>
                <a:gd name="T26" fmla="*/ 639 w 2657"/>
                <a:gd name="T27" fmla="*/ 1901 h 1998"/>
                <a:gd name="T28" fmla="*/ 129 w 2657"/>
                <a:gd name="T29" fmla="*/ 1406 h 1998"/>
                <a:gd name="T30" fmla="*/ 1223 w 2657"/>
                <a:gd name="T31" fmla="*/ 371 h 1998"/>
                <a:gd name="T32" fmla="*/ 1223 w 2657"/>
                <a:gd name="T33" fmla="*/ 371 h 1998"/>
                <a:gd name="T34" fmla="*/ 1489 w 2657"/>
                <a:gd name="T35" fmla="*/ 167 h 1998"/>
                <a:gd name="T36" fmla="*/ 1605 w 2657"/>
                <a:gd name="T37" fmla="*/ 121 h 1998"/>
                <a:gd name="T38" fmla="*/ 1715 w 2657"/>
                <a:gd name="T39" fmla="*/ 106 h 1998"/>
                <a:gd name="T40" fmla="*/ 1884 w 2657"/>
                <a:gd name="T41" fmla="*/ 138 h 1998"/>
                <a:gd name="T42" fmla="*/ 2181 w 2657"/>
                <a:gd name="T43" fmla="*/ 306 h 1998"/>
                <a:gd name="T44" fmla="*/ 2562 w 2657"/>
                <a:gd name="T45" fmla="*/ 612 h 1998"/>
                <a:gd name="T46" fmla="*/ 2637 w 2657"/>
                <a:gd name="T47" fmla="*/ 606 h 1998"/>
                <a:gd name="T48" fmla="*/ 2631 w 2657"/>
                <a:gd name="T49" fmla="*/ 532 h 1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57" h="1998">
                  <a:moveTo>
                    <a:pt x="2631" y="532"/>
                  </a:moveTo>
                  <a:cubicBezTo>
                    <a:pt x="2437" y="367"/>
                    <a:pt x="2276" y="237"/>
                    <a:pt x="2130" y="145"/>
                  </a:cubicBezTo>
                  <a:cubicBezTo>
                    <a:pt x="2058" y="99"/>
                    <a:pt x="1988" y="63"/>
                    <a:pt x="1920" y="38"/>
                  </a:cubicBezTo>
                  <a:cubicBezTo>
                    <a:pt x="1851" y="14"/>
                    <a:pt x="1783" y="0"/>
                    <a:pt x="1715" y="0"/>
                  </a:cubicBezTo>
                  <a:cubicBezTo>
                    <a:pt x="1669" y="0"/>
                    <a:pt x="1623" y="6"/>
                    <a:pt x="1578" y="19"/>
                  </a:cubicBezTo>
                  <a:cubicBezTo>
                    <a:pt x="1509" y="37"/>
                    <a:pt x="1440" y="70"/>
                    <a:pt x="1370" y="116"/>
                  </a:cubicBezTo>
                  <a:cubicBezTo>
                    <a:pt x="1299" y="162"/>
                    <a:pt x="1227" y="221"/>
                    <a:pt x="1150" y="295"/>
                  </a:cubicBezTo>
                  <a:lnTo>
                    <a:pt x="1150" y="295"/>
                  </a:lnTo>
                  <a:lnTo>
                    <a:pt x="16" y="1368"/>
                  </a:lnTo>
                  <a:cubicBezTo>
                    <a:pt x="6" y="1378"/>
                    <a:pt x="0" y="1391"/>
                    <a:pt x="0" y="1406"/>
                  </a:cubicBezTo>
                  <a:cubicBezTo>
                    <a:pt x="0" y="1420"/>
                    <a:pt x="6" y="1434"/>
                    <a:pt x="16" y="1444"/>
                  </a:cubicBezTo>
                  <a:lnTo>
                    <a:pt x="566" y="1977"/>
                  </a:lnTo>
                  <a:cubicBezTo>
                    <a:pt x="587" y="1997"/>
                    <a:pt x="619" y="1997"/>
                    <a:pt x="640" y="1976"/>
                  </a:cubicBezTo>
                  <a:cubicBezTo>
                    <a:pt x="660" y="1955"/>
                    <a:pt x="660" y="1921"/>
                    <a:pt x="639" y="1901"/>
                  </a:cubicBezTo>
                  <a:lnTo>
                    <a:pt x="129" y="1406"/>
                  </a:lnTo>
                  <a:lnTo>
                    <a:pt x="1223" y="371"/>
                  </a:lnTo>
                  <a:lnTo>
                    <a:pt x="1223" y="371"/>
                  </a:lnTo>
                  <a:cubicBezTo>
                    <a:pt x="1321" y="277"/>
                    <a:pt x="1409" y="210"/>
                    <a:pt x="1489" y="167"/>
                  </a:cubicBezTo>
                  <a:cubicBezTo>
                    <a:pt x="1529" y="146"/>
                    <a:pt x="1568" y="131"/>
                    <a:pt x="1605" y="121"/>
                  </a:cubicBezTo>
                  <a:cubicBezTo>
                    <a:pt x="1642" y="111"/>
                    <a:pt x="1679" y="106"/>
                    <a:pt x="1715" y="106"/>
                  </a:cubicBezTo>
                  <a:cubicBezTo>
                    <a:pt x="1770" y="106"/>
                    <a:pt x="1825" y="116"/>
                    <a:pt x="1884" y="138"/>
                  </a:cubicBezTo>
                  <a:cubicBezTo>
                    <a:pt x="1972" y="170"/>
                    <a:pt x="2070" y="226"/>
                    <a:pt x="2181" y="306"/>
                  </a:cubicBezTo>
                  <a:cubicBezTo>
                    <a:pt x="2293" y="387"/>
                    <a:pt x="2418" y="490"/>
                    <a:pt x="2562" y="612"/>
                  </a:cubicBezTo>
                  <a:cubicBezTo>
                    <a:pt x="2585" y="631"/>
                    <a:pt x="2618" y="628"/>
                    <a:pt x="2637" y="606"/>
                  </a:cubicBezTo>
                  <a:cubicBezTo>
                    <a:pt x="2656" y="584"/>
                    <a:pt x="2653" y="551"/>
                    <a:pt x="2631" y="53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Freeform 7">
              <a:extLst>
                <a:ext uri="{FF2B5EF4-FFF2-40B4-BE49-F238E27FC236}">
                  <a16:creationId xmlns:a16="http://schemas.microsoft.com/office/drawing/2014/main" id="{BF5A2635-9D3C-B746-B7BB-00E1B5440D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9946" y="709792"/>
              <a:ext cx="356603" cy="190334"/>
            </a:xfrm>
            <a:custGeom>
              <a:avLst/>
              <a:gdLst>
                <a:gd name="T0" fmla="*/ 2142 w 2158"/>
                <a:gd name="T1" fmla="*/ 438 h 1152"/>
                <a:gd name="T2" fmla="*/ 1725 w 2158"/>
                <a:gd name="T3" fmla="*/ 118 h 1152"/>
                <a:gd name="T4" fmla="*/ 1552 w 2158"/>
                <a:gd name="T5" fmla="*/ 31 h 1152"/>
                <a:gd name="T6" fmla="*/ 1386 w 2158"/>
                <a:gd name="T7" fmla="*/ 0 h 1152"/>
                <a:gd name="T8" fmla="*/ 1261 w 2158"/>
                <a:gd name="T9" fmla="*/ 19 h 1152"/>
                <a:gd name="T10" fmla="*/ 1068 w 2158"/>
                <a:gd name="T11" fmla="*/ 115 h 1152"/>
                <a:gd name="T12" fmla="*/ 852 w 2158"/>
                <a:gd name="T13" fmla="*/ 295 h 1152"/>
                <a:gd name="T14" fmla="*/ 852 w 2158"/>
                <a:gd name="T15" fmla="*/ 295 h 1152"/>
                <a:gd name="T16" fmla="*/ 13 w 2158"/>
                <a:gd name="T17" fmla="*/ 1094 h 1152"/>
                <a:gd name="T18" fmla="*/ 12 w 2158"/>
                <a:gd name="T19" fmla="*/ 1138 h 1152"/>
                <a:gd name="T20" fmla="*/ 56 w 2158"/>
                <a:gd name="T21" fmla="*/ 1139 h 1152"/>
                <a:gd name="T22" fmla="*/ 895 w 2158"/>
                <a:gd name="T23" fmla="*/ 340 h 1152"/>
                <a:gd name="T24" fmla="*/ 895 w 2158"/>
                <a:gd name="T25" fmla="*/ 340 h 1152"/>
                <a:gd name="T26" fmla="*/ 1164 w 2158"/>
                <a:gd name="T27" fmla="*/ 128 h 1152"/>
                <a:gd name="T28" fmla="*/ 1279 w 2158"/>
                <a:gd name="T29" fmla="*/ 79 h 1152"/>
                <a:gd name="T30" fmla="*/ 1386 w 2158"/>
                <a:gd name="T31" fmla="*/ 63 h 1152"/>
                <a:gd name="T32" fmla="*/ 1531 w 2158"/>
                <a:gd name="T33" fmla="*/ 90 h 1152"/>
                <a:gd name="T34" fmla="*/ 1781 w 2158"/>
                <a:gd name="T35" fmla="*/ 231 h 1152"/>
                <a:gd name="T36" fmla="*/ 2102 w 2158"/>
                <a:gd name="T37" fmla="*/ 486 h 1152"/>
                <a:gd name="T38" fmla="*/ 2146 w 2158"/>
                <a:gd name="T39" fmla="*/ 482 h 1152"/>
                <a:gd name="T40" fmla="*/ 2142 w 2158"/>
                <a:gd name="T41" fmla="*/ 438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2142" y="438"/>
                  </a:moveTo>
                  <a:cubicBezTo>
                    <a:pt x="1978" y="301"/>
                    <a:pt x="1845" y="193"/>
                    <a:pt x="1725" y="118"/>
                  </a:cubicBezTo>
                  <a:cubicBezTo>
                    <a:pt x="1664" y="80"/>
                    <a:pt x="1608" y="51"/>
                    <a:pt x="1552" y="31"/>
                  </a:cubicBezTo>
                  <a:cubicBezTo>
                    <a:pt x="1496" y="11"/>
                    <a:pt x="1441" y="0"/>
                    <a:pt x="1386" y="0"/>
                  </a:cubicBezTo>
                  <a:cubicBezTo>
                    <a:pt x="1344" y="0"/>
                    <a:pt x="1303" y="6"/>
                    <a:pt x="1261" y="19"/>
                  </a:cubicBezTo>
                  <a:cubicBezTo>
                    <a:pt x="1198" y="37"/>
                    <a:pt x="1135" y="69"/>
                    <a:pt x="1068" y="115"/>
                  </a:cubicBezTo>
                  <a:cubicBezTo>
                    <a:pt x="1000" y="161"/>
                    <a:pt x="930" y="220"/>
                    <a:pt x="852" y="295"/>
                  </a:cubicBezTo>
                  <a:lnTo>
                    <a:pt x="852" y="295"/>
                  </a:lnTo>
                  <a:lnTo>
                    <a:pt x="13" y="1094"/>
                  </a:lnTo>
                  <a:cubicBezTo>
                    <a:pt x="1" y="1106"/>
                    <a:pt x="0" y="1126"/>
                    <a:pt x="12" y="1138"/>
                  </a:cubicBezTo>
                  <a:cubicBezTo>
                    <a:pt x="24" y="1151"/>
                    <a:pt x="44" y="1151"/>
                    <a:pt x="56" y="1139"/>
                  </a:cubicBezTo>
                  <a:lnTo>
                    <a:pt x="895" y="340"/>
                  </a:lnTo>
                  <a:lnTo>
                    <a:pt x="895" y="340"/>
                  </a:lnTo>
                  <a:cubicBezTo>
                    <a:pt x="997" y="243"/>
                    <a:pt x="1085" y="173"/>
                    <a:pt x="1164" y="128"/>
                  </a:cubicBezTo>
                  <a:cubicBezTo>
                    <a:pt x="1204" y="106"/>
                    <a:pt x="1242" y="89"/>
                    <a:pt x="1279" y="79"/>
                  </a:cubicBezTo>
                  <a:cubicBezTo>
                    <a:pt x="1315" y="68"/>
                    <a:pt x="1351" y="63"/>
                    <a:pt x="1386" y="63"/>
                  </a:cubicBezTo>
                  <a:cubicBezTo>
                    <a:pt x="1433" y="63"/>
                    <a:pt x="1480" y="72"/>
                    <a:pt x="1531" y="90"/>
                  </a:cubicBezTo>
                  <a:cubicBezTo>
                    <a:pt x="1606" y="117"/>
                    <a:pt x="1688" y="164"/>
                    <a:pt x="1781" y="231"/>
                  </a:cubicBezTo>
                  <a:cubicBezTo>
                    <a:pt x="1874" y="298"/>
                    <a:pt x="1979" y="384"/>
                    <a:pt x="2102" y="486"/>
                  </a:cubicBezTo>
                  <a:cubicBezTo>
                    <a:pt x="2115" y="497"/>
                    <a:pt x="2135" y="495"/>
                    <a:pt x="2146" y="482"/>
                  </a:cubicBezTo>
                  <a:cubicBezTo>
                    <a:pt x="2157" y="469"/>
                    <a:pt x="2155" y="449"/>
                    <a:pt x="2142" y="43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Freeform 8">
              <a:extLst>
                <a:ext uri="{FF2B5EF4-FFF2-40B4-BE49-F238E27FC236}">
                  <a16:creationId xmlns:a16="http://schemas.microsoft.com/office/drawing/2014/main" id="{9A427AEE-5F0B-1D43-8127-A5A07CDC3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012" y="752818"/>
              <a:ext cx="304826" cy="169186"/>
            </a:xfrm>
            <a:custGeom>
              <a:avLst/>
              <a:gdLst>
                <a:gd name="T0" fmla="*/ 1832 w 1844"/>
                <a:gd name="T1" fmla="*/ 349 h 1021"/>
                <a:gd name="T2" fmla="*/ 1494 w 1844"/>
                <a:gd name="T3" fmla="*/ 93 h 1021"/>
                <a:gd name="T4" fmla="*/ 1356 w 1844"/>
                <a:gd name="T5" fmla="*/ 24 h 1021"/>
                <a:gd name="T6" fmla="*/ 1224 w 1844"/>
                <a:gd name="T7" fmla="*/ 0 h 1021"/>
                <a:gd name="T8" fmla="*/ 1110 w 1844"/>
                <a:gd name="T9" fmla="*/ 18 h 1021"/>
                <a:gd name="T10" fmla="*/ 929 w 1844"/>
                <a:gd name="T11" fmla="*/ 116 h 1021"/>
                <a:gd name="T12" fmla="*/ 715 w 1844"/>
                <a:gd name="T13" fmla="*/ 301 h 1021"/>
                <a:gd name="T14" fmla="*/ 714 w 1844"/>
                <a:gd name="T15" fmla="*/ 301 h 1021"/>
                <a:gd name="T16" fmla="*/ 10 w 1844"/>
                <a:gd name="T17" fmla="*/ 978 h 1021"/>
                <a:gd name="T18" fmla="*/ 9 w 1844"/>
                <a:gd name="T19" fmla="*/ 1011 h 1021"/>
                <a:gd name="T20" fmla="*/ 42 w 1844"/>
                <a:gd name="T21" fmla="*/ 1012 h 1021"/>
                <a:gd name="T22" fmla="*/ 746 w 1844"/>
                <a:gd name="T23" fmla="*/ 334 h 1021"/>
                <a:gd name="T24" fmla="*/ 746 w 1844"/>
                <a:gd name="T25" fmla="*/ 334 h 1021"/>
                <a:gd name="T26" fmla="*/ 1016 w 1844"/>
                <a:gd name="T27" fmla="*/ 114 h 1021"/>
                <a:gd name="T28" fmla="*/ 1124 w 1844"/>
                <a:gd name="T29" fmla="*/ 62 h 1021"/>
                <a:gd name="T30" fmla="*/ 1224 w 1844"/>
                <a:gd name="T31" fmla="*/ 46 h 1021"/>
                <a:gd name="T32" fmla="*/ 1340 w 1844"/>
                <a:gd name="T33" fmla="*/ 67 h 1021"/>
                <a:gd name="T34" fmla="*/ 1542 w 1844"/>
                <a:gd name="T35" fmla="*/ 180 h 1021"/>
                <a:gd name="T36" fmla="*/ 1803 w 1844"/>
                <a:gd name="T37" fmla="*/ 385 h 1021"/>
                <a:gd name="T38" fmla="*/ 1835 w 1844"/>
                <a:gd name="T39" fmla="*/ 381 h 1021"/>
                <a:gd name="T40" fmla="*/ 1832 w 1844"/>
                <a:gd name="T41" fmla="*/ 349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4" h="1021">
                  <a:moveTo>
                    <a:pt x="1832" y="349"/>
                  </a:moveTo>
                  <a:cubicBezTo>
                    <a:pt x="1698" y="239"/>
                    <a:pt x="1590" y="153"/>
                    <a:pt x="1494" y="93"/>
                  </a:cubicBezTo>
                  <a:cubicBezTo>
                    <a:pt x="1446" y="63"/>
                    <a:pt x="1400" y="40"/>
                    <a:pt x="1356" y="24"/>
                  </a:cubicBezTo>
                  <a:cubicBezTo>
                    <a:pt x="1311" y="8"/>
                    <a:pt x="1268" y="0"/>
                    <a:pt x="1224" y="0"/>
                  </a:cubicBezTo>
                  <a:cubicBezTo>
                    <a:pt x="1186" y="0"/>
                    <a:pt x="1148" y="6"/>
                    <a:pt x="1110" y="18"/>
                  </a:cubicBezTo>
                  <a:cubicBezTo>
                    <a:pt x="1052" y="37"/>
                    <a:pt x="993" y="69"/>
                    <a:pt x="929" y="116"/>
                  </a:cubicBezTo>
                  <a:cubicBezTo>
                    <a:pt x="864" y="163"/>
                    <a:pt x="794" y="224"/>
                    <a:pt x="715" y="301"/>
                  </a:cubicBezTo>
                  <a:lnTo>
                    <a:pt x="714" y="301"/>
                  </a:lnTo>
                  <a:lnTo>
                    <a:pt x="10" y="978"/>
                  </a:lnTo>
                  <a:cubicBezTo>
                    <a:pt x="1" y="987"/>
                    <a:pt x="0" y="1002"/>
                    <a:pt x="9" y="1011"/>
                  </a:cubicBezTo>
                  <a:cubicBezTo>
                    <a:pt x="18" y="1020"/>
                    <a:pt x="33" y="1020"/>
                    <a:pt x="42" y="1012"/>
                  </a:cubicBezTo>
                  <a:lnTo>
                    <a:pt x="746" y="334"/>
                  </a:lnTo>
                  <a:lnTo>
                    <a:pt x="746" y="334"/>
                  </a:lnTo>
                  <a:cubicBezTo>
                    <a:pt x="851" y="233"/>
                    <a:pt x="939" y="160"/>
                    <a:pt x="1016" y="114"/>
                  </a:cubicBezTo>
                  <a:cubicBezTo>
                    <a:pt x="1054" y="90"/>
                    <a:pt x="1090" y="73"/>
                    <a:pt x="1124" y="62"/>
                  </a:cubicBezTo>
                  <a:cubicBezTo>
                    <a:pt x="1159" y="51"/>
                    <a:pt x="1191" y="46"/>
                    <a:pt x="1224" y="46"/>
                  </a:cubicBezTo>
                  <a:cubicBezTo>
                    <a:pt x="1262" y="46"/>
                    <a:pt x="1300" y="53"/>
                    <a:pt x="1340" y="67"/>
                  </a:cubicBezTo>
                  <a:cubicBezTo>
                    <a:pt x="1401" y="89"/>
                    <a:pt x="1466" y="127"/>
                    <a:pt x="1542" y="180"/>
                  </a:cubicBezTo>
                  <a:cubicBezTo>
                    <a:pt x="1617" y="234"/>
                    <a:pt x="1702" y="303"/>
                    <a:pt x="1803" y="385"/>
                  </a:cubicBezTo>
                  <a:cubicBezTo>
                    <a:pt x="1813" y="393"/>
                    <a:pt x="1827" y="391"/>
                    <a:pt x="1835" y="381"/>
                  </a:cubicBezTo>
                  <a:cubicBezTo>
                    <a:pt x="1843" y="372"/>
                    <a:pt x="1842" y="357"/>
                    <a:pt x="1832" y="34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Freeform 9">
              <a:extLst>
                <a:ext uri="{FF2B5EF4-FFF2-40B4-BE49-F238E27FC236}">
                  <a16:creationId xmlns:a16="http://schemas.microsoft.com/office/drawing/2014/main" id="{E60E42BA-4A46-4D41-AA72-E2F725048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7348" y="795114"/>
              <a:ext cx="253049" cy="148038"/>
            </a:xfrm>
            <a:custGeom>
              <a:avLst/>
              <a:gdLst>
                <a:gd name="T0" fmla="*/ 1522 w 1530"/>
                <a:gd name="T1" fmla="*/ 264 h 895"/>
                <a:gd name="T2" fmla="*/ 1260 w 1530"/>
                <a:gd name="T3" fmla="*/ 70 h 895"/>
                <a:gd name="T4" fmla="*/ 1156 w 1530"/>
                <a:gd name="T5" fmla="*/ 18 h 895"/>
                <a:gd name="T6" fmla="*/ 1057 w 1530"/>
                <a:gd name="T7" fmla="*/ 0 h 895"/>
                <a:gd name="T8" fmla="*/ 957 w 1530"/>
                <a:gd name="T9" fmla="*/ 19 h 895"/>
                <a:gd name="T10" fmla="*/ 791 w 1530"/>
                <a:gd name="T11" fmla="*/ 119 h 895"/>
                <a:gd name="T12" fmla="*/ 577 w 1530"/>
                <a:gd name="T13" fmla="*/ 310 h 895"/>
                <a:gd name="T14" fmla="*/ 577 w 1530"/>
                <a:gd name="T15" fmla="*/ 310 h 895"/>
                <a:gd name="T16" fmla="*/ 6 w 1530"/>
                <a:gd name="T17" fmla="*/ 867 h 895"/>
                <a:gd name="T18" fmla="*/ 6 w 1530"/>
                <a:gd name="T19" fmla="*/ 888 h 895"/>
                <a:gd name="T20" fmla="*/ 27 w 1530"/>
                <a:gd name="T21" fmla="*/ 888 h 895"/>
                <a:gd name="T22" fmla="*/ 598 w 1530"/>
                <a:gd name="T23" fmla="*/ 331 h 895"/>
                <a:gd name="T24" fmla="*/ 598 w 1530"/>
                <a:gd name="T25" fmla="*/ 331 h 895"/>
                <a:gd name="T26" fmla="*/ 866 w 1530"/>
                <a:gd name="T27" fmla="*/ 101 h 895"/>
                <a:gd name="T28" fmla="*/ 968 w 1530"/>
                <a:gd name="T29" fmla="*/ 47 h 895"/>
                <a:gd name="T30" fmla="*/ 1057 w 1530"/>
                <a:gd name="T31" fmla="*/ 29 h 895"/>
                <a:gd name="T32" fmla="*/ 1146 w 1530"/>
                <a:gd name="T33" fmla="*/ 46 h 895"/>
                <a:gd name="T34" fmla="*/ 1300 w 1530"/>
                <a:gd name="T35" fmla="*/ 132 h 895"/>
                <a:gd name="T36" fmla="*/ 1504 w 1530"/>
                <a:gd name="T37" fmla="*/ 287 h 895"/>
                <a:gd name="T38" fmla="*/ 1524 w 1530"/>
                <a:gd name="T39" fmla="*/ 285 h 895"/>
                <a:gd name="T40" fmla="*/ 1522 w 1530"/>
                <a:gd name="T41" fmla="*/ 264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0" h="895">
                  <a:moveTo>
                    <a:pt x="1522" y="264"/>
                  </a:moveTo>
                  <a:cubicBezTo>
                    <a:pt x="1417" y="180"/>
                    <a:pt x="1334" y="115"/>
                    <a:pt x="1260" y="70"/>
                  </a:cubicBezTo>
                  <a:cubicBezTo>
                    <a:pt x="1224" y="47"/>
                    <a:pt x="1189" y="30"/>
                    <a:pt x="1156" y="18"/>
                  </a:cubicBezTo>
                  <a:cubicBezTo>
                    <a:pt x="1123" y="6"/>
                    <a:pt x="1090" y="0"/>
                    <a:pt x="1057" y="0"/>
                  </a:cubicBezTo>
                  <a:cubicBezTo>
                    <a:pt x="1024" y="0"/>
                    <a:pt x="991" y="6"/>
                    <a:pt x="957" y="19"/>
                  </a:cubicBezTo>
                  <a:cubicBezTo>
                    <a:pt x="906" y="38"/>
                    <a:pt x="852" y="71"/>
                    <a:pt x="791" y="119"/>
                  </a:cubicBezTo>
                  <a:cubicBezTo>
                    <a:pt x="729" y="167"/>
                    <a:pt x="660" y="231"/>
                    <a:pt x="577" y="310"/>
                  </a:cubicBezTo>
                  <a:lnTo>
                    <a:pt x="577" y="310"/>
                  </a:lnTo>
                  <a:lnTo>
                    <a:pt x="6" y="867"/>
                  </a:lnTo>
                  <a:cubicBezTo>
                    <a:pt x="0" y="873"/>
                    <a:pt x="0" y="882"/>
                    <a:pt x="6" y="888"/>
                  </a:cubicBezTo>
                  <a:cubicBezTo>
                    <a:pt x="12" y="894"/>
                    <a:pt x="21" y="894"/>
                    <a:pt x="27" y="888"/>
                  </a:cubicBezTo>
                  <a:lnTo>
                    <a:pt x="598" y="331"/>
                  </a:lnTo>
                  <a:lnTo>
                    <a:pt x="598" y="331"/>
                  </a:lnTo>
                  <a:cubicBezTo>
                    <a:pt x="707" y="226"/>
                    <a:pt x="793" y="150"/>
                    <a:pt x="866" y="101"/>
                  </a:cubicBezTo>
                  <a:cubicBezTo>
                    <a:pt x="903" y="76"/>
                    <a:pt x="936" y="58"/>
                    <a:pt x="968" y="47"/>
                  </a:cubicBezTo>
                  <a:cubicBezTo>
                    <a:pt x="999" y="35"/>
                    <a:pt x="1028" y="29"/>
                    <a:pt x="1057" y="29"/>
                  </a:cubicBezTo>
                  <a:cubicBezTo>
                    <a:pt x="1086" y="29"/>
                    <a:pt x="1115" y="35"/>
                    <a:pt x="1146" y="46"/>
                  </a:cubicBezTo>
                  <a:cubicBezTo>
                    <a:pt x="1192" y="62"/>
                    <a:pt x="1242" y="91"/>
                    <a:pt x="1300" y="132"/>
                  </a:cubicBezTo>
                  <a:cubicBezTo>
                    <a:pt x="1359" y="172"/>
                    <a:pt x="1425" y="225"/>
                    <a:pt x="1504" y="287"/>
                  </a:cubicBezTo>
                  <a:cubicBezTo>
                    <a:pt x="1510" y="292"/>
                    <a:pt x="1518" y="291"/>
                    <a:pt x="1524" y="285"/>
                  </a:cubicBezTo>
                  <a:cubicBezTo>
                    <a:pt x="1529" y="279"/>
                    <a:pt x="1528" y="269"/>
                    <a:pt x="1522" y="2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Freeform 10">
              <a:extLst>
                <a:ext uri="{FF2B5EF4-FFF2-40B4-BE49-F238E27FC236}">
                  <a16:creationId xmlns:a16="http://schemas.microsoft.com/office/drawing/2014/main" id="{5B1734EF-4E6E-164F-849F-5F0125656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1413" y="835952"/>
              <a:ext cx="201273" cy="127619"/>
            </a:xfrm>
            <a:custGeom>
              <a:avLst/>
              <a:gdLst>
                <a:gd name="T0" fmla="*/ 1212 w 1217"/>
                <a:gd name="T1" fmla="*/ 184 h 773"/>
                <a:gd name="T2" fmla="*/ 1023 w 1217"/>
                <a:gd name="T3" fmla="*/ 48 h 773"/>
                <a:gd name="T4" fmla="*/ 884 w 1217"/>
                <a:gd name="T5" fmla="*/ 0 h 773"/>
                <a:gd name="T6" fmla="*/ 801 w 1217"/>
                <a:gd name="T7" fmla="*/ 20 h 773"/>
                <a:gd name="T8" fmla="*/ 653 w 1217"/>
                <a:gd name="T9" fmla="*/ 124 h 773"/>
                <a:gd name="T10" fmla="*/ 440 w 1217"/>
                <a:gd name="T11" fmla="*/ 324 h 773"/>
                <a:gd name="T12" fmla="*/ 440 w 1217"/>
                <a:gd name="T13" fmla="*/ 324 h 773"/>
                <a:gd name="T14" fmla="*/ 3 w 1217"/>
                <a:gd name="T15" fmla="*/ 760 h 773"/>
                <a:gd name="T16" fmla="*/ 3 w 1217"/>
                <a:gd name="T17" fmla="*/ 770 h 773"/>
                <a:gd name="T18" fmla="*/ 12 w 1217"/>
                <a:gd name="T19" fmla="*/ 770 h 773"/>
                <a:gd name="T20" fmla="*/ 449 w 1217"/>
                <a:gd name="T21" fmla="*/ 333 h 773"/>
                <a:gd name="T22" fmla="*/ 716 w 1217"/>
                <a:gd name="T23" fmla="*/ 90 h 773"/>
                <a:gd name="T24" fmla="*/ 806 w 1217"/>
                <a:gd name="T25" fmla="*/ 32 h 773"/>
                <a:gd name="T26" fmla="*/ 884 w 1217"/>
                <a:gd name="T27" fmla="*/ 13 h 773"/>
                <a:gd name="T28" fmla="*/ 1016 w 1217"/>
                <a:gd name="T29" fmla="*/ 60 h 773"/>
                <a:gd name="T30" fmla="*/ 1204 w 1217"/>
                <a:gd name="T31" fmla="*/ 195 h 773"/>
                <a:gd name="T32" fmla="*/ 1214 w 1217"/>
                <a:gd name="T33" fmla="*/ 194 h 773"/>
                <a:gd name="T34" fmla="*/ 1212 w 1217"/>
                <a:gd name="T35" fmla="*/ 184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1212" y="184"/>
                  </a:moveTo>
                  <a:cubicBezTo>
                    <a:pt x="1135" y="125"/>
                    <a:pt x="1075" y="80"/>
                    <a:pt x="1023" y="48"/>
                  </a:cubicBezTo>
                  <a:cubicBezTo>
                    <a:pt x="971" y="17"/>
                    <a:pt x="928" y="0"/>
                    <a:pt x="884" y="0"/>
                  </a:cubicBezTo>
                  <a:cubicBezTo>
                    <a:pt x="856" y="0"/>
                    <a:pt x="829" y="7"/>
                    <a:pt x="801" y="20"/>
                  </a:cubicBezTo>
                  <a:cubicBezTo>
                    <a:pt x="758" y="39"/>
                    <a:pt x="711" y="74"/>
                    <a:pt x="653" y="124"/>
                  </a:cubicBezTo>
                  <a:cubicBezTo>
                    <a:pt x="595" y="175"/>
                    <a:pt x="527" y="241"/>
                    <a:pt x="440" y="324"/>
                  </a:cubicBezTo>
                  <a:lnTo>
                    <a:pt x="440" y="324"/>
                  </a:lnTo>
                  <a:lnTo>
                    <a:pt x="3" y="760"/>
                  </a:lnTo>
                  <a:cubicBezTo>
                    <a:pt x="0" y="763"/>
                    <a:pt x="0" y="767"/>
                    <a:pt x="3" y="770"/>
                  </a:cubicBezTo>
                  <a:cubicBezTo>
                    <a:pt x="5" y="772"/>
                    <a:pt x="10" y="772"/>
                    <a:pt x="12" y="770"/>
                  </a:cubicBezTo>
                  <a:lnTo>
                    <a:pt x="449" y="333"/>
                  </a:lnTo>
                  <a:cubicBezTo>
                    <a:pt x="565" y="223"/>
                    <a:pt x="648" y="142"/>
                    <a:pt x="716" y="90"/>
                  </a:cubicBezTo>
                  <a:cubicBezTo>
                    <a:pt x="749" y="63"/>
                    <a:pt x="778" y="44"/>
                    <a:pt x="806" y="32"/>
                  </a:cubicBezTo>
                  <a:cubicBezTo>
                    <a:pt x="833" y="19"/>
                    <a:pt x="859" y="13"/>
                    <a:pt x="884" y="13"/>
                  </a:cubicBezTo>
                  <a:cubicBezTo>
                    <a:pt x="924" y="13"/>
                    <a:pt x="966" y="29"/>
                    <a:pt x="1016" y="60"/>
                  </a:cubicBezTo>
                  <a:cubicBezTo>
                    <a:pt x="1067" y="90"/>
                    <a:pt x="1127" y="136"/>
                    <a:pt x="1204" y="195"/>
                  </a:cubicBezTo>
                  <a:cubicBezTo>
                    <a:pt x="1207" y="197"/>
                    <a:pt x="1211" y="197"/>
                    <a:pt x="1214" y="194"/>
                  </a:cubicBezTo>
                  <a:cubicBezTo>
                    <a:pt x="1216" y="191"/>
                    <a:pt x="1215" y="187"/>
                    <a:pt x="1212" y="18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Freeform 11">
              <a:extLst>
                <a:ext uri="{FF2B5EF4-FFF2-40B4-BE49-F238E27FC236}">
                  <a16:creationId xmlns:a16="http://schemas.microsoft.com/office/drawing/2014/main" id="{8623BE8B-4483-AE4A-A6EA-432CBE50BC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8093" y="858559"/>
              <a:ext cx="72925" cy="48130"/>
            </a:xfrm>
            <a:custGeom>
              <a:avLst/>
              <a:gdLst>
                <a:gd name="T0" fmla="*/ 49 w 442"/>
                <a:gd name="T1" fmla="*/ 200 h 293"/>
                <a:gd name="T2" fmla="*/ 0 w 442"/>
                <a:gd name="T3" fmla="*/ 156 h 293"/>
                <a:gd name="T4" fmla="*/ 45 w 442"/>
                <a:gd name="T5" fmla="*/ 107 h 293"/>
                <a:gd name="T6" fmla="*/ 392 w 442"/>
                <a:gd name="T7" fmla="*/ 91 h 293"/>
                <a:gd name="T8" fmla="*/ 441 w 442"/>
                <a:gd name="T9" fmla="*/ 137 h 293"/>
                <a:gd name="T10" fmla="*/ 396 w 442"/>
                <a:gd name="T11" fmla="*/ 185 h 293"/>
                <a:gd name="T12" fmla="*/ 49 w 442"/>
                <a:gd name="T13" fmla="*/ 20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2" h="293">
                  <a:moveTo>
                    <a:pt x="49" y="200"/>
                  </a:moveTo>
                  <a:lnTo>
                    <a:pt x="0" y="156"/>
                  </a:lnTo>
                  <a:lnTo>
                    <a:pt x="45" y="107"/>
                  </a:lnTo>
                  <a:cubicBezTo>
                    <a:pt x="136" y="7"/>
                    <a:pt x="292" y="0"/>
                    <a:pt x="392" y="91"/>
                  </a:cubicBezTo>
                  <a:lnTo>
                    <a:pt x="441" y="137"/>
                  </a:lnTo>
                  <a:lnTo>
                    <a:pt x="396" y="185"/>
                  </a:lnTo>
                  <a:cubicBezTo>
                    <a:pt x="304" y="285"/>
                    <a:pt x="149" y="292"/>
                    <a:pt x="49" y="2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6430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4CA6BC-3A36-834A-8A46-510CF743F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F4A777-4880-8640-83A6-327323A56F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E2510C-46FB-B140-83A3-4B9EF1B4C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59310F-E4CA-E54F-B1B1-7656B1F4AA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8699" y="6498018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CN"/>
              <a:t>5.3 </a:t>
            </a:r>
            <a:r>
              <a:rPr kumimoji="1" lang="zh-CN" altLang="en-US"/>
              <a:t>网络互联</a:t>
            </a:r>
            <a:endParaRPr kumimoji="1"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A41358-8B3C-CE4B-B391-06B0FF85E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801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引自：</a:t>
            </a:r>
            <a:r>
              <a:rPr kumimoji="1" lang="en-US" altLang="zh-CN"/>
              <a:t>XXXXX</a:t>
            </a:r>
            <a:r>
              <a:rPr kumimoji="1" lang="zh-CN" altLang="en-US"/>
              <a:t>（如果需要）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FB6C4E-D29D-9647-82C6-2B183C588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8019"/>
            <a:ext cx="3319670" cy="365125"/>
          </a:xfrm>
          <a:prstGeom prst="rect">
            <a:avLst/>
          </a:prstGeom>
        </p:spPr>
        <p:txBody>
          <a:bodyPr/>
          <a:lstStyle/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A401A9-3F89-014C-9A94-02FD1A5217FC}"/>
              </a:ext>
            </a:extLst>
          </p:cNvPr>
          <p:cNvSpPr/>
          <p:nvPr userDrawn="1"/>
        </p:nvSpPr>
        <p:spPr>
          <a:xfrm>
            <a:off x="667831" y="553426"/>
            <a:ext cx="509313" cy="498948"/>
          </a:xfrm>
          <a:prstGeom prst="rect">
            <a:avLst/>
          </a:prstGeom>
          <a:solidFill>
            <a:srgbClr val="5C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5C307E"/>
              </a:solidFill>
            </a:endParaRP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2D64F221-C9B8-444F-9076-736EED2DA56E}"/>
              </a:ext>
            </a:extLst>
          </p:cNvPr>
          <p:cNvCxnSpPr>
            <a:cxnSpLocks/>
          </p:cNvCxnSpPr>
          <p:nvPr userDrawn="1"/>
        </p:nvCxnSpPr>
        <p:spPr>
          <a:xfrm>
            <a:off x="1314788" y="1244212"/>
            <a:ext cx="7295812" cy="0"/>
          </a:xfrm>
          <a:prstGeom prst="line">
            <a:avLst/>
          </a:prstGeom>
          <a:ln w="19050">
            <a:solidFill>
              <a:srgbClr val="5C3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75304E3-D2BA-6B43-A9CA-868095E37E2C}"/>
              </a:ext>
            </a:extLst>
          </p:cNvPr>
          <p:cNvGrpSpPr/>
          <p:nvPr userDrawn="1"/>
        </p:nvGrpSpPr>
        <p:grpSpPr>
          <a:xfrm>
            <a:off x="9849450" y="844221"/>
            <a:ext cx="1961485" cy="208345"/>
            <a:chOff x="1368170" y="1165302"/>
            <a:chExt cx="4139947" cy="439737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C6BD9614-F72F-8A43-9314-4D110B22A613}"/>
                </a:ext>
              </a:extLst>
            </p:cNvPr>
            <p:cNvGrpSpPr/>
            <p:nvPr/>
          </p:nvGrpSpPr>
          <p:grpSpPr>
            <a:xfrm>
              <a:off x="1368170" y="1165302"/>
              <a:ext cx="550582" cy="439737"/>
              <a:chOff x="1368170" y="664579"/>
              <a:chExt cx="550582" cy="439737"/>
            </a:xfrm>
          </p:grpSpPr>
          <p:sp>
            <p:nvSpPr>
              <p:cNvPr id="22" name="Freeform 1">
                <a:extLst>
                  <a:ext uri="{FF2B5EF4-FFF2-40B4-BE49-F238E27FC236}">
                    <a16:creationId xmlns:a16="http://schemas.microsoft.com/office/drawing/2014/main" id="{17E3AC1A-2BCC-CA46-AC9B-ECC6AD4DD9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1203" y="771778"/>
                <a:ext cx="437549" cy="332538"/>
              </a:xfrm>
              <a:custGeom>
                <a:avLst/>
                <a:gdLst>
                  <a:gd name="T0" fmla="*/ 25 w 2647"/>
                  <a:gd name="T1" fmla="*/ 1478 h 2011"/>
                  <a:gd name="T2" fmla="*/ 525 w 2647"/>
                  <a:gd name="T3" fmla="*/ 1865 h 2011"/>
                  <a:gd name="T4" fmla="*/ 736 w 2647"/>
                  <a:gd name="T5" fmla="*/ 1972 h 2011"/>
                  <a:gd name="T6" fmla="*/ 940 w 2647"/>
                  <a:gd name="T7" fmla="*/ 2010 h 2011"/>
                  <a:gd name="T8" fmla="*/ 1078 w 2647"/>
                  <a:gd name="T9" fmla="*/ 1991 h 2011"/>
                  <a:gd name="T10" fmla="*/ 1286 w 2647"/>
                  <a:gd name="T11" fmla="*/ 1894 h 2011"/>
                  <a:gd name="T12" fmla="*/ 1506 w 2647"/>
                  <a:gd name="T13" fmla="*/ 1715 h 2011"/>
                  <a:gd name="T14" fmla="*/ 1506 w 2647"/>
                  <a:gd name="T15" fmla="*/ 1715 h 2011"/>
                  <a:gd name="T16" fmla="*/ 2630 w 2647"/>
                  <a:gd name="T17" fmla="*/ 624 h 2011"/>
                  <a:gd name="T18" fmla="*/ 2646 w 2647"/>
                  <a:gd name="T19" fmla="*/ 586 h 2011"/>
                  <a:gd name="T20" fmla="*/ 2630 w 2647"/>
                  <a:gd name="T21" fmla="*/ 548 h 2011"/>
                  <a:gd name="T22" fmla="*/ 2090 w 2647"/>
                  <a:gd name="T23" fmla="*/ 21 h 2011"/>
                  <a:gd name="T24" fmla="*/ 2016 w 2647"/>
                  <a:gd name="T25" fmla="*/ 22 h 2011"/>
                  <a:gd name="T26" fmla="*/ 2017 w 2647"/>
                  <a:gd name="T27" fmla="*/ 96 h 2011"/>
                  <a:gd name="T28" fmla="*/ 2518 w 2647"/>
                  <a:gd name="T29" fmla="*/ 586 h 2011"/>
                  <a:gd name="T30" fmla="*/ 1433 w 2647"/>
                  <a:gd name="T31" fmla="*/ 1639 h 2011"/>
                  <a:gd name="T32" fmla="*/ 1433 w 2647"/>
                  <a:gd name="T33" fmla="*/ 1639 h 2011"/>
                  <a:gd name="T34" fmla="*/ 1167 w 2647"/>
                  <a:gd name="T35" fmla="*/ 1843 h 2011"/>
                  <a:gd name="T36" fmla="*/ 1051 w 2647"/>
                  <a:gd name="T37" fmla="*/ 1889 h 2011"/>
                  <a:gd name="T38" fmla="*/ 940 w 2647"/>
                  <a:gd name="T39" fmla="*/ 1904 h 2011"/>
                  <a:gd name="T40" fmla="*/ 772 w 2647"/>
                  <a:gd name="T41" fmla="*/ 1872 h 2011"/>
                  <a:gd name="T42" fmla="*/ 474 w 2647"/>
                  <a:gd name="T43" fmla="*/ 1704 h 2011"/>
                  <a:gd name="T44" fmla="*/ 93 w 2647"/>
                  <a:gd name="T45" fmla="*/ 1398 h 2011"/>
                  <a:gd name="T46" fmla="*/ 19 w 2647"/>
                  <a:gd name="T47" fmla="*/ 1404 h 2011"/>
                  <a:gd name="T48" fmla="*/ 25 w 2647"/>
                  <a:gd name="T49" fmla="*/ 1478 h 20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647" h="2011">
                    <a:moveTo>
                      <a:pt x="25" y="1478"/>
                    </a:moveTo>
                    <a:cubicBezTo>
                      <a:pt x="219" y="1643"/>
                      <a:pt x="380" y="1773"/>
                      <a:pt x="525" y="1865"/>
                    </a:cubicBezTo>
                    <a:cubicBezTo>
                      <a:pt x="598" y="1911"/>
                      <a:pt x="668" y="1947"/>
                      <a:pt x="736" y="1972"/>
                    </a:cubicBezTo>
                    <a:cubicBezTo>
                      <a:pt x="805" y="1996"/>
                      <a:pt x="872" y="2010"/>
                      <a:pt x="940" y="2010"/>
                    </a:cubicBezTo>
                    <a:cubicBezTo>
                      <a:pt x="986" y="2010"/>
                      <a:pt x="1032" y="2004"/>
                      <a:pt x="1078" y="1991"/>
                    </a:cubicBezTo>
                    <a:cubicBezTo>
                      <a:pt x="1147" y="1973"/>
                      <a:pt x="1216" y="1940"/>
                      <a:pt x="1286" y="1894"/>
                    </a:cubicBezTo>
                    <a:cubicBezTo>
                      <a:pt x="1357" y="1848"/>
                      <a:pt x="1429" y="1789"/>
                      <a:pt x="1506" y="1715"/>
                    </a:cubicBezTo>
                    <a:lnTo>
                      <a:pt x="1506" y="1715"/>
                    </a:lnTo>
                    <a:lnTo>
                      <a:pt x="2630" y="624"/>
                    </a:lnTo>
                    <a:cubicBezTo>
                      <a:pt x="2640" y="614"/>
                      <a:pt x="2646" y="600"/>
                      <a:pt x="2646" y="586"/>
                    </a:cubicBezTo>
                    <a:cubicBezTo>
                      <a:pt x="2646" y="572"/>
                      <a:pt x="2641" y="558"/>
                      <a:pt x="2630" y="548"/>
                    </a:cubicBezTo>
                    <a:lnTo>
                      <a:pt x="2090" y="21"/>
                    </a:lnTo>
                    <a:cubicBezTo>
                      <a:pt x="2069" y="0"/>
                      <a:pt x="2036" y="1"/>
                      <a:pt x="2016" y="22"/>
                    </a:cubicBezTo>
                    <a:cubicBezTo>
                      <a:pt x="1995" y="42"/>
                      <a:pt x="1996" y="76"/>
                      <a:pt x="2017" y="96"/>
                    </a:cubicBezTo>
                    <a:lnTo>
                      <a:pt x="2518" y="586"/>
                    </a:lnTo>
                    <a:lnTo>
                      <a:pt x="1433" y="1639"/>
                    </a:lnTo>
                    <a:lnTo>
                      <a:pt x="1433" y="1639"/>
                    </a:lnTo>
                    <a:cubicBezTo>
                      <a:pt x="1335" y="1733"/>
                      <a:pt x="1247" y="1800"/>
                      <a:pt x="1167" y="1843"/>
                    </a:cubicBezTo>
                    <a:cubicBezTo>
                      <a:pt x="1127" y="1864"/>
                      <a:pt x="1088" y="1879"/>
                      <a:pt x="1051" y="1889"/>
                    </a:cubicBezTo>
                    <a:cubicBezTo>
                      <a:pt x="1013" y="1899"/>
                      <a:pt x="977" y="1904"/>
                      <a:pt x="940" y="1904"/>
                    </a:cubicBezTo>
                    <a:cubicBezTo>
                      <a:pt x="886" y="1904"/>
                      <a:pt x="831" y="1894"/>
                      <a:pt x="772" y="1872"/>
                    </a:cubicBezTo>
                    <a:cubicBezTo>
                      <a:pt x="683" y="1840"/>
                      <a:pt x="586" y="1784"/>
                      <a:pt x="474" y="1704"/>
                    </a:cubicBezTo>
                    <a:cubicBezTo>
                      <a:pt x="363" y="1624"/>
                      <a:pt x="238" y="1521"/>
                      <a:pt x="93" y="1398"/>
                    </a:cubicBezTo>
                    <a:cubicBezTo>
                      <a:pt x="71" y="1379"/>
                      <a:pt x="38" y="1382"/>
                      <a:pt x="19" y="1404"/>
                    </a:cubicBezTo>
                    <a:cubicBezTo>
                      <a:pt x="0" y="1426"/>
                      <a:pt x="3" y="1459"/>
                      <a:pt x="25" y="1478"/>
                    </a:cubicBezTo>
                  </a:path>
                </a:pathLst>
              </a:custGeom>
              <a:solidFill>
                <a:srgbClr val="D7222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Freeform 2">
                <a:extLst>
                  <a:ext uri="{FF2B5EF4-FFF2-40B4-BE49-F238E27FC236}">
                    <a16:creationId xmlns:a16="http://schemas.microsoft.com/office/drawing/2014/main" id="{8FC97171-0F8A-6B4A-BC04-4A83196EEE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832" y="868769"/>
                <a:ext cx="356603" cy="190334"/>
              </a:xfrm>
              <a:custGeom>
                <a:avLst/>
                <a:gdLst>
                  <a:gd name="T0" fmla="*/ 15 w 2158"/>
                  <a:gd name="T1" fmla="*/ 713 h 1152"/>
                  <a:gd name="T2" fmla="*/ 432 w 2158"/>
                  <a:gd name="T3" fmla="*/ 1033 h 1152"/>
                  <a:gd name="T4" fmla="*/ 605 w 2158"/>
                  <a:gd name="T5" fmla="*/ 1120 h 1152"/>
                  <a:gd name="T6" fmla="*/ 771 w 2158"/>
                  <a:gd name="T7" fmla="*/ 1151 h 1152"/>
                  <a:gd name="T8" fmla="*/ 896 w 2158"/>
                  <a:gd name="T9" fmla="*/ 1132 h 1152"/>
                  <a:gd name="T10" fmla="*/ 1089 w 2158"/>
                  <a:gd name="T11" fmla="*/ 1036 h 1152"/>
                  <a:gd name="T12" fmla="*/ 1305 w 2158"/>
                  <a:gd name="T13" fmla="*/ 856 h 1152"/>
                  <a:gd name="T14" fmla="*/ 1305 w 2158"/>
                  <a:gd name="T15" fmla="*/ 856 h 1152"/>
                  <a:gd name="T16" fmla="*/ 2144 w 2158"/>
                  <a:gd name="T17" fmla="*/ 57 h 1152"/>
                  <a:gd name="T18" fmla="*/ 2145 w 2158"/>
                  <a:gd name="T19" fmla="*/ 13 h 1152"/>
                  <a:gd name="T20" fmla="*/ 2100 w 2158"/>
                  <a:gd name="T21" fmla="*/ 12 h 1152"/>
                  <a:gd name="T22" fmla="*/ 1262 w 2158"/>
                  <a:gd name="T23" fmla="*/ 811 h 1152"/>
                  <a:gd name="T24" fmla="*/ 1262 w 2158"/>
                  <a:gd name="T25" fmla="*/ 811 h 1152"/>
                  <a:gd name="T26" fmla="*/ 993 w 2158"/>
                  <a:gd name="T27" fmla="*/ 1023 h 1152"/>
                  <a:gd name="T28" fmla="*/ 878 w 2158"/>
                  <a:gd name="T29" fmla="*/ 1072 h 1152"/>
                  <a:gd name="T30" fmla="*/ 771 w 2158"/>
                  <a:gd name="T31" fmla="*/ 1088 h 1152"/>
                  <a:gd name="T32" fmla="*/ 626 w 2158"/>
                  <a:gd name="T33" fmla="*/ 1061 h 1152"/>
                  <a:gd name="T34" fmla="*/ 376 w 2158"/>
                  <a:gd name="T35" fmla="*/ 920 h 1152"/>
                  <a:gd name="T36" fmla="*/ 55 w 2158"/>
                  <a:gd name="T37" fmla="*/ 665 h 1152"/>
                  <a:gd name="T38" fmla="*/ 11 w 2158"/>
                  <a:gd name="T39" fmla="*/ 669 h 1152"/>
                  <a:gd name="T40" fmla="*/ 15 w 2158"/>
                  <a:gd name="T41" fmla="*/ 713 h 1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58" h="1152">
                    <a:moveTo>
                      <a:pt x="15" y="713"/>
                    </a:moveTo>
                    <a:cubicBezTo>
                      <a:pt x="179" y="850"/>
                      <a:pt x="312" y="958"/>
                      <a:pt x="432" y="1033"/>
                    </a:cubicBezTo>
                    <a:cubicBezTo>
                      <a:pt x="492" y="1071"/>
                      <a:pt x="549" y="1100"/>
                      <a:pt x="605" y="1120"/>
                    </a:cubicBezTo>
                    <a:cubicBezTo>
                      <a:pt x="661" y="1140"/>
                      <a:pt x="716" y="1151"/>
                      <a:pt x="771" y="1151"/>
                    </a:cubicBezTo>
                    <a:cubicBezTo>
                      <a:pt x="812" y="1151"/>
                      <a:pt x="854" y="1145"/>
                      <a:pt x="896" y="1132"/>
                    </a:cubicBezTo>
                    <a:cubicBezTo>
                      <a:pt x="959" y="1114"/>
                      <a:pt x="1022" y="1082"/>
                      <a:pt x="1089" y="1036"/>
                    </a:cubicBezTo>
                    <a:cubicBezTo>
                      <a:pt x="1156" y="990"/>
                      <a:pt x="1227" y="931"/>
                      <a:pt x="1305" y="856"/>
                    </a:cubicBezTo>
                    <a:lnTo>
                      <a:pt x="1305" y="856"/>
                    </a:lnTo>
                    <a:lnTo>
                      <a:pt x="2144" y="57"/>
                    </a:lnTo>
                    <a:cubicBezTo>
                      <a:pt x="2156" y="45"/>
                      <a:pt x="2157" y="25"/>
                      <a:pt x="2145" y="13"/>
                    </a:cubicBezTo>
                    <a:cubicBezTo>
                      <a:pt x="2133" y="0"/>
                      <a:pt x="2113" y="0"/>
                      <a:pt x="2100" y="12"/>
                    </a:cubicBezTo>
                    <a:lnTo>
                      <a:pt x="1262" y="811"/>
                    </a:lnTo>
                    <a:lnTo>
                      <a:pt x="1262" y="811"/>
                    </a:lnTo>
                    <a:cubicBezTo>
                      <a:pt x="1160" y="908"/>
                      <a:pt x="1072" y="978"/>
                      <a:pt x="993" y="1023"/>
                    </a:cubicBezTo>
                    <a:cubicBezTo>
                      <a:pt x="953" y="1045"/>
                      <a:pt x="915" y="1062"/>
                      <a:pt x="878" y="1072"/>
                    </a:cubicBezTo>
                    <a:cubicBezTo>
                      <a:pt x="842" y="1083"/>
                      <a:pt x="806" y="1088"/>
                      <a:pt x="771" y="1088"/>
                    </a:cubicBezTo>
                    <a:cubicBezTo>
                      <a:pt x="724" y="1088"/>
                      <a:pt x="677" y="1079"/>
                      <a:pt x="626" y="1061"/>
                    </a:cubicBezTo>
                    <a:cubicBezTo>
                      <a:pt x="551" y="1034"/>
                      <a:pt x="469" y="987"/>
                      <a:pt x="376" y="920"/>
                    </a:cubicBezTo>
                    <a:cubicBezTo>
                      <a:pt x="282" y="853"/>
                      <a:pt x="177" y="767"/>
                      <a:pt x="55" y="665"/>
                    </a:cubicBezTo>
                    <a:cubicBezTo>
                      <a:pt x="42" y="654"/>
                      <a:pt x="22" y="656"/>
                      <a:pt x="11" y="669"/>
                    </a:cubicBezTo>
                    <a:cubicBezTo>
                      <a:pt x="0" y="682"/>
                      <a:pt x="1" y="702"/>
                      <a:pt x="15" y="713"/>
                    </a:cubicBezTo>
                  </a:path>
                </a:pathLst>
              </a:custGeom>
              <a:solidFill>
                <a:srgbClr val="DD4A1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" name="Freeform 3">
                <a:extLst>
                  <a:ext uri="{FF2B5EF4-FFF2-40B4-BE49-F238E27FC236}">
                    <a16:creationId xmlns:a16="http://schemas.microsoft.com/office/drawing/2014/main" id="{2486AB9B-C9E8-E94F-B7E8-57CD964984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0273" y="847620"/>
                <a:ext cx="304826" cy="169186"/>
              </a:xfrm>
              <a:custGeom>
                <a:avLst/>
                <a:gdLst>
                  <a:gd name="T0" fmla="*/ 12 w 1845"/>
                  <a:gd name="T1" fmla="*/ 672 h 1022"/>
                  <a:gd name="T2" fmla="*/ 350 w 1845"/>
                  <a:gd name="T3" fmla="*/ 928 h 1022"/>
                  <a:gd name="T4" fmla="*/ 488 w 1845"/>
                  <a:gd name="T5" fmla="*/ 997 h 1022"/>
                  <a:gd name="T6" fmla="*/ 620 w 1845"/>
                  <a:gd name="T7" fmla="*/ 1021 h 1022"/>
                  <a:gd name="T8" fmla="*/ 734 w 1845"/>
                  <a:gd name="T9" fmla="*/ 1003 h 1022"/>
                  <a:gd name="T10" fmla="*/ 915 w 1845"/>
                  <a:gd name="T11" fmla="*/ 905 h 1022"/>
                  <a:gd name="T12" fmla="*/ 1129 w 1845"/>
                  <a:gd name="T13" fmla="*/ 720 h 1022"/>
                  <a:gd name="T14" fmla="*/ 1129 w 1845"/>
                  <a:gd name="T15" fmla="*/ 720 h 1022"/>
                  <a:gd name="T16" fmla="*/ 1834 w 1845"/>
                  <a:gd name="T17" fmla="*/ 42 h 1022"/>
                  <a:gd name="T18" fmla="*/ 1835 w 1845"/>
                  <a:gd name="T19" fmla="*/ 10 h 1022"/>
                  <a:gd name="T20" fmla="*/ 1802 w 1845"/>
                  <a:gd name="T21" fmla="*/ 9 h 1022"/>
                  <a:gd name="T22" fmla="*/ 1097 w 1845"/>
                  <a:gd name="T23" fmla="*/ 687 h 1022"/>
                  <a:gd name="T24" fmla="*/ 1097 w 1845"/>
                  <a:gd name="T25" fmla="*/ 687 h 1022"/>
                  <a:gd name="T26" fmla="*/ 828 w 1845"/>
                  <a:gd name="T27" fmla="*/ 907 h 1022"/>
                  <a:gd name="T28" fmla="*/ 720 w 1845"/>
                  <a:gd name="T29" fmla="*/ 959 h 1022"/>
                  <a:gd name="T30" fmla="*/ 620 w 1845"/>
                  <a:gd name="T31" fmla="*/ 975 h 1022"/>
                  <a:gd name="T32" fmla="*/ 504 w 1845"/>
                  <a:gd name="T33" fmla="*/ 954 h 1022"/>
                  <a:gd name="T34" fmla="*/ 302 w 1845"/>
                  <a:gd name="T35" fmla="*/ 841 h 1022"/>
                  <a:gd name="T36" fmla="*/ 41 w 1845"/>
                  <a:gd name="T37" fmla="*/ 636 h 1022"/>
                  <a:gd name="T38" fmla="*/ 9 w 1845"/>
                  <a:gd name="T39" fmla="*/ 640 h 1022"/>
                  <a:gd name="T40" fmla="*/ 12 w 1845"/>
                  <a:gd name="T41" fmla="*/ 672 h 10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45" h="1022">
                    <a:moveTo>
                      <a:pt x="12" y="672"/>
                    </a:moveTo>
                    <a:cubicBezTo>
                      <a:pt x="146" y="782"/>
                      <a:pt x="254" y="868"/>
                      <a:pt x="350" y="928"/>
                    </a:cubicBezTo>
                    <a:cubicBezTo>
                      <a:pt x="398" y="958"/>
                      <a:pt x="444" y="981"/>
                      <a:pt x="488" y="997"/>
                    </a:cubicBezTo>
                    <a:cubicBezTo>
                      <a:pt x="533" y="1013"/>
                      <a:pt x="576" y="1021"/>
                      <a:pt x="620" y="1021"/>
                    </a:cubicBezTo>
                    <a:cubicBezTo>
                      <a:pt x="658" y="1021"/>
                      <a:pt x="695" y="1015"/>
                      <a:pt x="734" y="1003"/>
                    </a:cubicBezTo>
                    <a:cubicBezTo>
                      <a:pt x="791" y="984"/>
                      <a:pt x="850" y="952"/>
                      <a:pt x="915" y="905"/>
                    </a:cubicBezTo>
                    <a:cubicBezTo>
                      <a:pt x="980" y="858"/>
                      <a:pt x="1050" y="797"/>
                      <a:pt x="1129" y="720"/>
                    </a:cubicBezTo>
                    <a:lnTo>
                      <a:pt x="1129" y="720"/>
                    </a:lnTo>
                    <a:lnTo>
                      <a:pt x="1834" y="42"/>
                    </a:lnTo>
                    <a:cubicBezTo>
                      <a:pt x="1843" y="34"/>
                      <a:pt x="1844" y="19"/>
                      <a:pt x="1835" y="10"/>
                    </a:cubicBezTo>
                    <a:cubicBezTo>
                      <a:pt x="1826" y="1"/>
                      <a:pt x="1811" y="0"/>
                      <a:pt x="1802" y="9"/>
                    </a:cubicBezTo>
                    <a:lnTo>
                      <a:pt x="1097" y="687"/>
                    </a:lnTo>
                    <a:lnTo>
                      <a:pt x="1097" y="687"/>
                    </a:lnTo>
                    <a:cubicBezTo>
                      <a:pt x="992" y="788"/>
                      <a:pt x="905" y="861"/>
                      <a:pt x="828" y="907"/>
                    </a:cubicBezTo>
                    <a:cubicBezTo>
                      <a:pt x="790" y="931"/>
                      <a:pt x="754" y="948"/>
                      <a:pt x="720" y="959"/>
                    </a:cubicBezTo>
                    <a:cubicBezTo>
                      <a:pt x="685" y="970"/>
                      <a:pt x="653" y="975"/>
                      <a:pt x="620" y="975"/>
                    </a:cubicBezTo>
                    <a:cubicBezTo>
                      <a:pt x="582" y="975"/>
                      <a:pt x="544" y="968"/>
                      <a:pt x="504" y="954"/>
                    </a:cubicBezTo>
                    <a:cubicBezTo>
                      <a:pt x="443" y="932"/>
                      <a:pt x="378" y="894"/>
                      <a:pt x="302" y="841"/>
                    </a:cubicBezTo>
                    <a:cubicBezTo>
                      <a:pt x="227" y="787"/>
                      <a:pt x="141" y="718"/>
                      <a:pt x="41" y="636"/>
                    </a:cubicBezTo>
                    <a:cubicBezTo>
                      <a:pt x="31" y="628"/>
                      <a:pt x="17" y="630"/>
                      <a:pt x="9" y="640"/>
                    </a:cubicBezTo>
                    <a:cubicBezTo>
                      <a:pt x="0" y="649"/>
                      <a:pt x="2" y="664"/>
                      <a:pt x="12" y="672"/>
                    </a:cubicBezTo>
                  </a:path>
                </a:pathLst>
              </a:custGeom>
              <a:solidFill>
                <a:srgbClr val="EA741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" name="Freeform 4">
                <a:extLst>
                  <a:ext uri="{FF2B5EF4-FFF2-40B4-BE49-F238E27FC236}">
                    <a16:creationId xmlns:a16="http://schemas.microsoft.com/office/drawing/2014/main" id="{18A408D8-23CF-864B-9403-912ED0D24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8713" y="826472"/>
                <a:ext cx="253050" cy="148037"/>
              </a:xfrm>
              <a:custGeom>
                <a:avLst/>
                <a:gdLst>
                  <a:gd name="T0" fmla="*/ 8 w 1531"/>
                  <a:gd name="T1" fmla="*/ 630 h 895"/>
                  <a:gd name="T2" fmla="*/ 269 w 1531"/>
                  <a:gd name="T3" fmla="*/ 824 h 895"/>
                  <a:gd name="T4" fmla="*/ 374 w 1531"/>
                  <a:gd name="T5" fmla="*/ 876 h 895"/>
                  <a:gd name="T6" fmla="*/ 473 w 1531"/>
                  <a:gd name="T7" fmla="*/ 894 h 895"/>
                  <a:gd name="T8" fmla="*/ 573 w 1531"/>
                  <a:gd name="T9" fmla="*/ 875 h 895"/>
                  <a:gd name="T10" fmla="*/ 739 w 1531"/>
                  <a:gd name="T11" fmla="*/ 775 h 895"/>
                  <a:gd name="T12" fmla="*/ 953 w 1531"/>
                  <a:gd name="T13" fmla="*/ 584 h 895"/>
                  <a:gd name="T14" fmla="*/ 953 w 1531"/>
                  <a:gd name="T15" fmla="*/ 584 h 895"/>
                  <a:gd name="T16" fmla="*/ 1524 w 1531"/>
                  <a:gd name="T17" fmla="*/ 27 h 895"/>
                  <a:gd name="T18" fmla="*/ 1524 w 1531"/>
                  <a:gd name="T19" fmla="*/ 6 h 895"/>
                  <a:gd name="T20" fmla="*/ 1503 w 1531"/>
                  <a:gd name="T21" fmla="*/ 6 h 895"/>
                  <a:gd name="T22" fmla="*/ 932 w 1531"/>
                  <a:gd name="T23" fmla="*/ 563 h 895"/>
                  <a:gd name="T24" fmla="*/ 932 w 1531"/>
                  <a:gd name="T25" fmla="*/ 563 h 895"/>
                  <a:gd name="T26" fmla="*/ 663 w 1531"/>
                  <a:gd name="T27" fmla="*/ 793 h 895"/>
                  <a:gd name="T28" fmla="*/ 562 w 1531"/>
                  <a:gd name="T29" fmla="*/ 847 h 895"/>
                  <a:gd name="T30" fmla="*/ 473 w 1531"/>
                  <a:gd name="T31" fmla="*/ 865 h 895"/>
                  <a:gd name="T32" fmla="*/ 384 w 1531"/>
                  <a:gd name="T33" fmla="*/ 848 h 895"/>
                  <a:gd name="T34" fmla="*/ 229 w 1531"/>
                  <a:gd name="T35" fmla="*/ 762 h 895"/>
                  <a:gd name="T36" fmla="*/ 26 w 1531"/>
                  <a:gd name="T37" fmla="*/ 607 h 895"/>
                  <a:gd name="T38" fmla="*/ 5 w 1531"/>
                  <a:gd name="T39" fmla="*/ 609 h 895"/>
                  <a:gd name="T40" fmla="*/ 8 w 1531"/>
                  <a:gd name="T41" fmla="*/ 630 h 8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31" h="895">
                    <a:moveTo>
                      <a:pt x="8" y="630"/>
                    </a:moveTo>
                    <a:cubicBezTo>
                      <a:pt x="113" y="714"/>
                      <a:pt x="196" y="779"/>
                      <a:pt x="269" y="824"/>
                    </a:cubicBezTo>
                    <a:cubicBezTo>
                      <a:pt x="306" y="847"/>
                      <a:pt x="340" y="864"/>
                      <a:pt x="374" y="876"/>
                    </a:cubicBezTo>
                    <a:cubicBezTo>
                      <a:pt x="407" y="888"/>
                      <a:pt x="440" y="894"/>
                      <a:pt x="473" y="894"/>
                    </a:cubicBezTo>
                    <a:cubicBezTo>
                      <a:pt x="506" y="894"/>
                      <a:pt x="539" y="888"/>
                      <a:pt x="573" y="875"/>
                    </a:cubicBezTo>
                    <a:cubicBezTo>
                      <a:pt x="624" y="856"/>
                      <a:pt x="678" y="823"/>
                      <a:pt x="739" y="775"/>
                    </a:cubicBezTo>
                    <a:cubicBezTo>
                      <a:pt x="801" y="727"/>
                      <a:pt x="870" y="663"/>
                      <a:pt x="953" y="584"/>
                    </a:cubicBezTo>
                    <a:lnTo>
                      <a:pt x="953" y="584"/>
                    </a:lnTo>
                    <a:lnTo>
                      <a:pt x="1524" y="27"/>
                    </a:lnTo>
                    <a:cubicBezTo>
                      <a:pt x="1529" y="21"/>
                      <a:pt x="1530" y="12"/>
                      <a:pt x="1524" y="6"/>
                    </a:cubicBezTo>
                    <a:cubicBezTo>
                      <a:pt x="1518" y="0"/>
                      <a:pt x="1509" y="0"/>
                      <a:pt x="1503" y="6"/>
                    </a:cubicBezTo>
                    <a:lnTo>
                      <a:pt x="932" y="563"/>
                    </a:lnTo>
                    <a:lnTo>
                      <a:pt x="932" y="563"/>
                    </a:lnTo>
                    <a:cubicBezTo>
                      <a:pt x="823" y="668"/>
                      <a:pt x="737" y="744"/>
                      <a:pt x="663" y="793"/>
                    </a:cubicBezTo>
                    <a:cubicBezTo>
                      <a:pt x="627" y="818"/>
                      <a:pt x="594" y="836"/>
                      <a:pt x="562" y="847"/>
                    </a:cubicBezTo>
                    <a:cubicBezTo>
                      <a:pt x="531" y="859"/>
                      <a:pt x="502" y="865"/>
                      <a:pt x="473" y="865"/>
                    </a:cubicBezTo>
                    <a:cubicBezTo>
                      <a:pt x="444" y="865"/>
                      <a:pt x="415" y="859"/>
                      <a:pt x="384" y="848"/>
                    </a:cubicBezTo>
                    <a:cubicBezTo>
                      <a:pt x="338" y="832"/>
                      <a:pt x="288" y="803"/>
                      <a:pt x="229" y="762"/>
                    </a:cubicBezTo>
                    <a:cubicBezTo>
                      <a:pt x="171" y="722"/>
                      <a:pt x="105" y="669"/>
                      <a:pt x="26" y="607"/>
                    </a:cubicBezTo>
                    <a:cubicBezTo>
                      <a:pt x="20" y="602"/>
                      <a:pt x="10" y="603"/>
                      <a:pt x="5" y="609"/>
                    </a:cubicBezTo>
                    <a:cubicBezTo>
                      <a:pt x="0" y="615"/>
                      <a:pt x="1" y="625"/>
                      <a:pt x="8" y="630"/>
                    </a:cubicBezTo>
                  </a:path>
                </a:pathLst>
              </a:custGeom>
              <a:solidFill>
                <a:srgbClr val="F6C40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" name="Freeform 5">
                <a:extLst>
                  <a:ext uri="{FF2B5EF4-FFF2-40B4-BE49-F238E27FC236}">
                    <a16:creationId xmlns:a16="http://schemas.microsoft.com/office/drawing/2014/main" id="{77D66A57-5273-854B-AD7C-A91B6BFF4D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6425" y="805324"/>
                <a:ext cx="201273" cy="127619"/>
              </a:xfrm>
              <a:custGeom>
                <a:avLst/>
                <a:gdLst>
                  <a:gd name="T0" fmla="*/ 4 w 1217"/>
                  <a:gd name="T1" fmla="*/ 588 h 773"/>
                  <a:gd name="T2" fmla="*/ 193 w 1217"/>
                  <a:gd name="T3" fmla="*/ 724 h 773"/>
                  <a:gd name="T4" fmla="*/ 332 w 1217"/>
                  <a:gd name="T5" fmla="*/ 772 h 773"/>
                  <a:gd name="T6" fmla="*/ 415 w 1217"/>
                  <a:gd name="T7" fmla="*/ 752 h 773"/>
                  <a:gd name="T8" fmla="*/ 563 w 1217"/>
                  <a:gd name="T9" fmla="*/ 648 h 773"/>
                  <a:gd name="T10" fmla="*/ 776 w 1217"/>
                  <a:gd name="T11" fmla="*/ 448 h 773"/>
                  <a:gd name="T12" fmla="*/ 776 w 1217"/>
                  <a:gd name="T13" fmla="*/ 448 h 773"/>
                  <a:gd name="T14" fmla="*/ 1213 w 1217"/>
                  <a:gd name="T15" fmla="*/ 12 h 773"/>
                  <a:gd name="T16" fmla="*/ 1213 w 1217"/>
                  <a:gd name="T17" fmla="*/ 2 h 773"/>
                  <a:gd name="T18" fmla="*/ 1204 w 1217"/>
                  <a:gd name="T19" fmla="*/ 2 h 773"/>
                  <a:gd name="T20" fmla="*/ 767 w 1217"/>
                  <a:gd name="T21" fmla="*/ 439 h 773"/>
                  <a:gd name="T22" fmla="*/ 500 w 1217"/>
                  <a:gd name="T23" fmla="*/ 682 h 773"/>
                  <a:gd name="T24" fmla="*/ 410 w 1217"/>
                  <a:gd name="T25" fmla="*/ 740 h 773"/>
                  <a:gd name="T26" fmla="*/ 332 w 1217"/>
                  <a:gd name="T27" fmla="*/ 759 h 773"/>
                  <a:gd name="T28" fmla="*/ 199 w 1217"/>
                  <a:gd name="T29" fmla="*/ 712 h 773"/>
                  <a:gd name="T30" fmla="*/ 12 w 1217"/>
                  <a:gd name="T31" fmla="*/ 577 h 773"/>
                  <a:gd name="T32" fmla="*/ 2 w 1217"/>
                  <a:gd name="T33" fmla="*/ 578 h 773"/>
                  <a:gd name="T34" fmla="*/ 4 w 1217"/>
                  <a:gd name="T35" fmla="*/ 588 h 7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217" h="773">
                    <a:moveTo>
                      <a:pt x="4" y="588"/>
                    </a:moveTo>
                    <a:cubicBezTo>
                      <a:pt x="81" y="647"/>
                      <a:pt x="141" y="692"/>
                      <a:pt x="193" y="724"/>
                    </a:cubicBezTo>
                    <a:cubicBezTo>
                      <a:pt x="244" y="755"/>
                      <a:pt x="288" y="772"/>
                      <a:pt x="332" y="772"/>
                    </a:cubicBezTo>
                    <a:cubicBezTo>
                      <a:pt x="359" y="772"/>
                      <a:pt x="386" y="765"/>
                      <a:pt x="415" y="752"/>
                    </a:cubicBezTo>
                    <a:cubicBezTo>
                      <a:pt x="458" y="733"/>
                      <a:pt x="505" y="698"/>
                      <a:pt x="563" y="648"/>
                    </a:cubicBezTo>
                    <a:cubicBezTo>
                      <a:pt x="620" y="597"/>
                      <a:pt x="689" y="531"/>
                      <a:pt x="776" y="448"/>
                    </a:cubicBezTo>
                    <a:lnTo>
                      <a:pt x="776" y="448"/>
                    </a:lnTo>
                    <a:lnTo>
                      <a:pt x="1213" y="12"/>
                    </a:lnTo>
                    <a:cubicBezTo>
                      <a:pt x="1216" y="9"/>
                      <a:pt x="1216" y="5"/>
                      <a:pt x="1213" y="2"/>
                    </a:cubicBezTo>
                    <a:cubicBezTo>
                      <a:pt x="1210" y="0"/>
                      <a:pt x="1206" y="0"/>
                      <a:pt x="1204" y="2"/>
                    </a:cubicBezTo>
                    <a:lnTo>
                      <a:pt x="767" y="439"/>
                    </a:lnTo>
                    <a:cubicBezTo>
                      <a:pt x="651" y="549"/>
                      <a:pt x="568" y="630"/>
                      <a:pt x="500" y="682"/>
                    </a:cubicBezTo>
                    <a:cubicBezTo>
                      <a:pt x="466" y="709"/>
                      <a:pt x="437" y="728"/>
                      <a:pt x="410" y="740"/>
                    </a:cubicBezTo>
                    <a:cubicBezTo>
                      <a:pt x="382" y="753"/>
                      <a:pt x="357" y="759"/>
                      <a:pt x="332" y="759"/>
                    </a:cubicBezTo>
                    <a:cubicBezTo>
                      <a:pt x="291" y="759"/>
                      <a:pt x="250" y="743"/>
                      <a:pt x="199" y="712"/>
                    </a:cubicBezTo>
                    <a:cubicBezTo>
                      <a:pt x="149" y="682"/>
                      <a:pt x="89" y="636"/>
                      <a:pt x="12" y="577"/>
                    </a:cubicBezTo>
                    <a:cubicBezTo>
                      <a:pt x="9" y="575"/>
                      <a:pt x="4" y="575"/>
                      <a:pt x="2" y="578"/>
                    </a:cubicBezTo>
                    <a:cubicBezTo>
                      <a:pt x="0" y="581"/>
                      <a:pt x="1" y="585"/>
                      <a:pt x="4" y="588"/>
                    </a:cubicBezTo>
                  </a:path>
                </a:pathLst>
              </a:custGeom>
              <a:solidFill>
                <a:srgbClr val="F1E82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Freeform 6">
                <a:extLst>
                  <a:ext uri="{FF2B5EF4-FFF2-40B4-BE49-F238E27FC236}">
                    <a16:creationId xmlns:a16="http://schemas.microsoft.com/office/drawing/2014/main" id="{9AD37317-D84E-444B-88EB-8CF2CC57CC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170" y="664579"/>
                <a:ext cx="439737" cy="330350"/>
              </a:xfrm>
              <a:custGeom>
                <a:avLst/>
                <a:gdLst>
                  <a:gd name="T0" fmla="*/ 2631 w 2657"/>
                  <a:gd name="T1" fmla="*/ 532 h 1998"/>
                  <a:gd name="T2" fmla="*/ 2130 w 2657"/>
                  <a:gd name="T3" fmla="*/ 145 h 1998"/>
                  <a:gd name="T4" fmla="*/ 1920 w 2657"/>
                  <a:gd name="T5" fmla="*/ 38 h 1998"/>
                  <a:gd name="T6" fmla="*/ 1715 w 2657"/>
                  <a:gd name="T7" fmla="*/ 0 h 1998"/>
                  <a:gd name="T8" fmla="*/ 1578 w 2657"/>
                  <a:gd name="T9" fmla="*/ 19 h 1998"/>
                  <a:gd name="T10" fmla="*/ 1370 w 2657"/>
                  <a:gd name="T11" fmla="*/ 116 h 1998"/>
                  <a:gd name="T12" fmla="*/ 1150 w 2657"/>
                  <a:gd name="T13" fmla="*/ 295 h 1998"/>
                  <a:gd name="T14" fmla="*/ 1150 w 2657"/>
                  <a:gd name="T15" fmla="*/ 295 h 1998"/>
                  <a:gd name="T16" fmla="*/ 16 w 2657"/>
                  <a:gd name="T17" fmla="*/ 1368 h 1998"/>
                  <a:gd name="T18" fmla="*/ 0 w 2657"/>
                  <a:gd name="T19" fmla="*/ 1406 h 1998"/>
                  <a:gd name="T20" fmla="*/ 16 w 2657"/>
                  <a:gd name="T21" fmla="*/ 1444 h 1998"/>
                  <a:gd name="T22" fmla="*/ 566 w 2657"/>
                  <a:gd name="T23" fmla="*/ 1977 h 1998"/>
                  <a:gd name="T24" fmla="*/ 640 w 2657"/>
                  <a:gd name="T25" fmla="*/ 1976 h 1998"/>
                  <a:gd name="T26" fmla="*/ 639 w 2657"/>
                  <a:gd name="T27" fmla="*/ 1901 h 1998"/>
                  <a:gd name="T28" fmla="*/ 129 w 2657"/>
                  <a:gd name="T29" fmla="*/ 1406 h 1998"/>
                  <a:gd name="T30" fmla="*/ 1223 w 2657"/>
                  <a:gd name="T31" fmla="*/ 371 h 1998"/>
                  <a:gd name="T32" fmla="*/ 1223 w 2657"/>
                  <a:gd name="T33" fmla="*/ 371 h 1998"/>
                  <a:gd name="T34" fmla="*/ 1489 w 2657"/>
                  <a:gd name="T35" fmla="*/ 167 h 1998"/>
                  <a:gd name="T36" fmla="*/ 1605 w 2657"/>
                  <a:gd name="T37" fmla="*/ 121 h 1998"/>
                  <a:gd name="T38" fmla="*/ 1715 w 2657"/>
                  <a:gd name="T39" fmla="*/ 106 h 1998"/>
                  <a:gd name="T40" fmla="*/ 1884 w 2657"/>
                  <a:gd name="T41" fmla="*/ 138 h 1998"/>
                  <a:gd name="T42" fmla="*/ 2181 w 2657"/>
                  <a:gd name="T43" fmla="*/ 306 h 1998"/>
                  <a:gd name="T44" fmla="*/ 2562 w 2657"/>
                  <a:gd name="T45" fmla="*/ 612 h 1998"/>
                  <a:gd name="T46" fmla="*/ 2637 w 2657"/>
                  <a:gd name="T47" fmla="*/ 606 h 1998"/>
                  <a:gd name="T48" fmla="*/ 2631 w 2657"/>
                  <a:gd name="T49" fmla="*/ 532 h 19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657" h="1998">
                    <a:moveTo>
                      <a:pt x="2631" y="532"/>
                    </a:moveTo>
                    <a:cubicBezTo>
                      <a:pt x="2437" y="367"/>
                      <a:pt x="2276" y="237"/>
                      <a:pt x="2130" y="145"/>
                    </a:cubicBezTo>
                    <a:cubicBezTo>
                      <a:pt x="2058" y="99"/>
                      <a:pt x="1988" y="63"/>
                      <a:pt x="1920" y="38"/>
                    </a:cubicBezTo>
                    <a:cubicBezTo>
                      <a:pt x="1851" y="14"/>
                      <a:pt x="1783" y="0"/>
                      <a:pt x="1715" y="0"/>
                    </a:cubicBezTo>
                    <a:cubicBezTo>
                      <a:pt x="1669" y="0"/>
                      <a:pt x="1623" y="6"/>
                      <a:pt x="1578" y="19"/>
                    </a:cubicBezTo>
                    <a:cubicBezTo>
                      <a:pt x="1509" y="37"/>
                      <a:pt x="1440" y="70"/>
                      <a:pt x="1370" y="116"/>
                    </a:cubicBezTo>
                    <a:cubicBezTo>
                      <a:pt x="1299" y="162"/>
                      <a:pt x="1227" y="221"/>
                      <a:pt x="1150" y="295"/>
                    </a:cubicBezTo>
                    <a:lnTo>
                      <a:pt x="1150" y="295"/>
                    </a:lnTo>
                    <a:lnTo>
                      <a:pt x="16" y="1368"/>
                    </a:lnTo>
                    <a:cubicBezTo>
                      <a:pt x="6" y="1378"/>
                      <a:pt x="0" y="1391"/>
                      <a:pt x="0" y="1406"/>
                    </a:cubicBezTo>
                    <a:cubicBezTo>
                      <a:pt x="0" y="1420"/>
                      <a:pt x="6" y="1434"/>
                      <a:pt x="16" y="1444"/>
                    </a:cubicBezTo>
                    <a:lnTo>
                      <a:pt x="566" y="1977"/>
                    </a:lnTo>
                    <a:cubicBezTo>
                      <a:pt x="587" y="1997"/>
                      <a:pt x="619" y="1997"/>
                      <a:pt x="640" y="1976"/>
                    </a:cubicBezTo>
                    <a:cubicBezTo>
                      <a:pt x="660" y="1955"/>
                      <a:pt x="660" y="1921"/>
                      <a:pt x="639" y="1901"/>
                    </a:cubicBezTo>
                    <a:lnTo>
                      <a:pt x="129" y="1406"/>
                    </a:lnTo>
                    <a:lnTo>
                      <a:pt x="1223" y="371"/>
                    </a:lnTo>
                    <a:lnTo>
                      <a:pt x="1223" y="371"/>
                    </a:lnTo>
                    <a:cubicBezTo>
                      <a:pt x="1321" y="277"/>
                      <a:pt x="1409" y="210"/>
                      <a:pt x="1489" y="167"/>
                    </a:cubicBezTo>
                    <a:cubicBezTo>
                      <a:pt x="1529" y="146"/>
                      <a:pt x="1568" y="131"/>
                      <a:pt x="1605" y="121"/>
                    </a:cubicBezTo>
                    <a:cubicBezTo>
                      <a:pt x="1642" y="111"/>
                      <a:pt x="1679" y="106"/>
                      <a:pt x="1715" y="106"/>
                    </a:cubicBezTo>
                    <a:cubicBezTo>
                      <a:pt x="1770" y="106"/>
                      <a:pt x="1825" y="116"/>
                      <a:pt x="1884" y="138"/>
                    </a:cubicBezTo>
                    <a:cubicBezTo>
                      <a:pt x="1972" y="170"/>
                      <a:pt x="2070" y="226"/>
                      <a:pt x="2181" y="306"/>
                    </a:cubicBezTo>
                    <a:cubicBezTo>
                      <a:pt x="2293" y="387"/>
                      <a:pt x="2418" y="490"/>
                      <a:pt x="2562" y="612"/>
                    </a:cubicBezTo>
                    <a:cubicBezTo>
                      <a:pt x="2585" y="631"/>
                      <a:pt x="2618" y="628"/>
                      <a:pt x="2637" y="606"/>
                    </a:cubicBezTo>
                    <a:cubicBezTo>
                      <a:pt x="2656" y="584"/>
                      <a:pt x="2653" y="551"/>
                      <a:pt x="2631" y="532"/>
                    </a:cubicBezTo>
                  </a:path>
                </a:pathLst>
              </a:custGeom>
              <a:solidFill>
                <a:srgbClr val="157C5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Freeform 7">
                <a:extLst>
                  <a:ext uri="{FF2B5EF4-FFF2-40B4-BE49-F238E27FC236}">
                    <a16:creationId xmlns:a16="http://schemas.microsoft.com/office/drawing/2014/main" id="{069D0FB6-7378-5344-B149-1899961AC5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9946" y="709792"/>
                <a:ext cx="356603" cy="190334"/>
              </a:xfrm>
              <a:custGeom>
                <a:avLst/>
                <a:gdLst>
                  <a:gd name="T0" fmla="*/ 2142 w 2158"/>
                  <a:gd name="T1" fmla="*/ 438 h 1152"/>
                  <a:gd name="T2" fmla="*/ 1725 w 2158"/>
                  <a:gd name="T3" fmla="*/ 118 h 1152"/>
                  <a:gd name="T4" fmla="*/ 1552 w 2158"/>
                  <a:gd name="T5" fmla="*/ 31 h 1152"/>
                  <a:gd name="T6" fmla="*/ 1386 w 2158"/>
                  <a:gd name="T7" fmla="*/ 0 h 1152"/>
                  <a:gd name="T8" fmla="*/ 1261 w 2158"/>
                  <a:gd name="T9" fmla="*/ 19 h 1152"/>
                  <a:gd name="T10" fmla="*/ 1068 w 2158"/>
                  <a:gd name="T11" fmla="*/ 115 h 1152"/>
                  <a:gd name="T12" fmla="*/ 852 w 2158"/>
                  <a:gd name="T13" fmla="*/ 295 h 1152"/>
                  <a:gd name="T14" fmla="*/ 852 w 2158"/>
                  <a:gd name="T15" fmla="*/ 295 h 1152"/>
                  <a:gd name="T16" fmla="*/ 13 w 2158"/>
                  <a:gd name="T17" fmla="*/ 1094 h 1152"/>
                  <a:gd name="T18" fmla="*/ 12 w 2158"/>
                  <a:gd name="T19" fmla="*/ 1138 h 1152"/>
                  <a:gd name="T20" fmla="*/ 56 w 2158"/>
                  <a:gd name="T21" fmla="*/ 1139 h 1152"/>
                  <a:gd name="T22" fmla="*/ 895 w 2158"/>
                  <a:gd name="T23" fmla="*/ 340 h 1152"/>
                  <a:gd name="T24" fmla="*/ 895 w 2158"/>
                  <a:gd name="T25" fmla="*/ 340 h 1152"/>
                  <a:gd name="T26" fmla="*/ 1164 w 2158"/>
                  <a:gd name="T27" fmla="*/ 128 h 1152"/>
                  <a:gd name="T28" fmla="*/ 1279 w 2158"/>
                  <a:gd name="T29" fmla="*/ 79 h 1152"/>
                  <a:gd name="T30" fmla="*/ 1386 w 2158"/>
                  <a:gd name="T31" fmla="*/ 63 h 1152"/>
                  <a:gd name="T32" fmla="*/ 1531 w 2158"/>
                  <a:gd name="T33" fmla="*/ 90 h 1152"/>
                  <a:gd name="T34" fmla="*/ 1781 w 2158"/>
                  <a:gd name="T35" fmla="*/ 231 h 1152"/>
                  <a:gd name="T36" fmla="*/ 2102 w 2158"/>
                  <a:gd name="T37" fmla="*/ 486 h 1152"/>
                  <a:gd name="T38" fmla="*/ 2146 w 2158"/>
                  <a:gd name="T39" fmla="*/ 482 h 1152"/>
                  <a:gd name="T40" fmla="*/ 2142 w 2158"/>
                  <a:gd name="T41" fmla="*/ 438 h 1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58" h="1152">
                    <a:moveTo>
                      <a:pt x="2142" y="438"/>
                    </a:moveTo>
                    <a:cubicBezTo>
                      <a:pt x="1978" y="301"/>
                      <a:pt x="1845" y="193"/>
                      <a:pt x="1725" y="118"/>
                    </a:cubicBezTo>
                    <a:cubicBezTo>
                      <a:pt x="1664" y="80"/>
                      <a:pt x="1608" y="51"/>
                      <a:pt x="1552" y="31"/>
                    </a:cubicBezTo>
                    <a:cubicBezTo>
                      <a:pt x="1496" y="11"/>
                      <a:pt x="1441" y="0"/>
                      <a:pt x="1386" y="0"/>
                    </a:cubicBezTo>
                    <a:cubicBezTo>
                      <a:pt x="1344" y="0"/>
                      <a:pt x="1303" y="6"/>
                      <a:pt x="1261" y="19"/>
                    </a:cubicBezTo>
                    <a:cubicBezTo>
                      <a:pt x="1198" y="37"/>
                      <a:pt x="1135" y="69"/>
                      <a:pt x="1068" y="115"/>
                    </a:cubicBezTo>
                    <a:cubicBezTo>
                      <a:pt x="1000" y="161"/>
                      <a:pt x="930" y="220"/>
                      <a:pt x="852" y="295"/>
                    </a:cubicBezTo>
                    <a:lnTo>
                      <a:pt x="852" y="295"/>
                    </a:lnTo>
                    <a:lnTo>
                      <a:pt x="13" y="1094"/>
                    </a:lnTo>
                    <a:cubicBezTo>
                      <a:pt x="1" y="1106"/>
                      <a:pt x="0" y="1126"/>
                      <a:pt x="12" y="1138"/>
                    </a:cubicBezTo>
                    <a:cubicBezTo>
                      <a:pt x="24" y="1151"/>
                      <a:pt x="44" y="1151"/>
                      <a:pt x="56" y="1139"/>
                    </a:cubicBezTo>
                    <a:lnTo>
                      <a:pt x="895" y="340"/>
                    </a:lnTo>
                    <a:lnTo>
                      <a:pt x="895" y="340"/>
                    </a:lnTo>
                    <a:cubicBezTo>
                      <a:pt x="997" y="243"/>
                      <a:pt x="1085" y="173"/>
                      <a:pt x="1164" y="128"/>
                    </a:cubicBezTo>
                    <a:cubicBezTo>
                      <a:pt x="1204" y="106"/>
                      <a:pt x="1242" y="89"/>
                      <a:pt x="1279" y="79"/>
                    </a:cubicBezTo>
                    <a:cubicBezTo>
                      <a:pt x="1315" y="68"/>
                      <a:pt x="1351" y="63"/>
                      <a:pt x="1386" y="63"/>
                    </a:cubicBezTo>
                    <a:cubicBezTo>
                      <a:pt x="1433" y="63"/>
                      <a:pt x="1480" y="72"/>
                      <a:pt x="1531" y="90"/>
                    </a:cubicBezTo>
                    <a:cubicBezTo>
                      <a:pt x="1606" y="117"/>
                      <a:pt x="1688" y="164"/>
                      <a:pt x="1781" y="231"/>
                    </a:cubicBezTo>
                    <a:cubicBezTo>
                      <a:pt x="1874" y="298"/>
                      <a:pt x="1979" y="384"/>
                      <a:pt x="2102" y="486"/>
                    </a:cubicBezTo>
                    <a:cubicBezTo>
                      <a:pt x="2115" y="497"/>
                      <a:pt x="2135" y="495"/>
                      <a:pt x="2146" y="482"/>
                    </a:cubicBezTo>
                    <a:cubicBezTo>
                      <a:pt x="2157" y="469"/>
                      <a:pt x="2155" y="449"/>
                      <a:pt x="2142" y="438"/>
                    </a:cubicBezTo>
                  </a:path>
                </a:pathLst>
              </a:custGeom>
              <a:solidFill>
                <a:srgbClr val="04944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3084061A-A4AC-BE42-8E46-F3BEBCC64B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4012" y="752818"/>
                <a:ext cx="304826" cy="169186"/>
              </a:xfrm>
              <a:custGeom>
                <a:avLst/>
                <a:gdLst>
                  <a:gd name="T0" fmla="*/ 1832 w 1844"/>
                  <a:gd name="T1" fmla="*/ 349 h 1021"/>
                  <a:gd name="T2" fmla="*/ 1494 w 1844"/>
                  <a:gd name="T3" fmla="*/ 93 h 1021"/>
                  <a:gd name="T4" fmla="*/ 1356 w 1844"/>
                  <a:gd name="T5" fmla="*/ 24 h 1021"/>
                  <a:gd name="T6" fmla="*/ 1224 w 1844"/>
                  <a:gd name="T7" fmla="*/ 0 h 1021"/>
                  <a:gd name="T8" fmla="*/ 1110 w 1844"/>
                  <a:gd name="T9" fmla="*/ 18 h 1021"/>
                  <a:gd name="T10" fmla="*/ 929 w 1844"/>
                  <a:gd name="T11" fmla="*/ 116 h 1021"/>
                  <a:gd name="T12" fmla="*/ 715 w 1844"/>
                  <a:gd name="T13" fmla="*/ 301 h 1021"/>
                  <a:gd name="T14" fmla="*/ 714 w 1844"/>
                  <a:gd name="T15" fmla="*/ 301 h 1021"/>
                  <a:gd name="T16" fmla="*/ 10 w 1844"/>
                  <a:gd name="T17" fmla="*/ 978 h 1021"/>
                  <a:gd name="T18" fmla="*/ 9 w 1844"/>
                  <a:gd name="T19" fmla="*/ 1011 h 1021"/>
                  <a:gd name="T20" fmla="*/ 42 w 1844"/>
                  <a:gd name="T21" fmla="*/ 1012 h 1021"/>
                  <a:gd name="T22" fmla="*/ 746 w 1844"/>
                  <a:gd name="T23" fmla="*/ 334 h 1021"/>
                  <a:gd name="T24" fmla="*/ 746 w 1844"/>
                  <a:gd name="T25" fmla="*/ 334 h 1021"/>
                  <a:gd name="T26" fmla="*/ 1016 w 1844"/>
                  <a:gd name="T27" fmla="*/ 114 h 1021"/>
                  <a:gd name="T28" fmla="*/ 1124 w 1844"/>
                  <a:gd name="T29" fmla="*/ 62 h 1021"/>
                  <a:gd name="T30" fmla="*/ 1224 w 1844"/>
                  <a:gd name="T31" fmla="*/ 46 h 1021"/>
                  <a:gd name="T32" fmla="*/ 1340 w 1844"/>
                  <a:gd name="T33" fmla="*/ 67 h 1021"/>
                  <a:gd name="T34" fmla="*/ 1542 w 1844"/>
                  <a:gd name="T35" fmla="*/ 180 h 1021"/>
                  <a:gd name="T36" fmla="*/ 1803 w 1844"/>
                  <a:gd name="T37" fmla="*/ 385 h 1021"/>
                  <a:gd name="T38" fmla="*/ 1835 w 1844"/>
                  <a:gd name="T39" fmla="*/ 381 h 1021"/>
                  <a:gd name="T40" fmla="*/ 1832 w 1844"/>
                  <a:gd name="T41" fmla="*/ 349 h 10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44" h="1021">
                    <a:moveTo>
                      <a:pt x="1832" y="349"/>
                    </a:moveTo>
                    <a:cubicBezTo>
                      <a:pt x="1698" y="239"/>
                      <a:pt x="1590" y="153"/>
                      <a:pt x="1494" y="93"/>
                    </a:cubicBezTo>
                    <a:cubicBezTo>
                      <a:pt x="1446" y="63"/>
                      <a:pt x="1400" y="40"/>
                      <a:pt x="1356" y="24"/>
                    </a:cubicBezTo>
                    <a:cubicBezTo>
                      <a:pt x="1311" y="8"/>
                      <a:pt x="1268" y="0"/>
                      <a:pt x="1224" y="0"/>
                    </a:cubicBezTo>
                    <a:cubicBezTo>
                      <a:pt x="1186" y="0"/>
                      <a:pt x="1148" y="6"/>
                      <a:pt x="1110" y="18"/>
                    </a:cubicBezTo>
                    <a:cubicBezTo>
                      <a:pt x="1052" y="37"/>
                      <a:pt x="993" y="69"/>
                      <a:pt x="929" y="116"/>
                    </a:cubicBezTo>
                    <a:cubicBezTo>
                      <a:pt x="864" y="163"/>
                      <a:pt x="794" y="224"/>
                      <a:pt x="715" y="301"/>
                    </a:cubicBezTo>
                    <a:lnTo>
                      <a:pt x="714" y="301"/>
                    </a:lnTo>
                    <a:lnTo>
                      <a:pt x="10" y="978"/>
                    </a:lnTo>
                    <a:cubicBezTo>
                      <a:pt x="1" y="987"/>
                      <a:pt x="0" y="1002"/>
                      <a:pt x="9" y="1011"/>
                    </a:cubicBezTo>
                    <a:cubicBezTo>
                      <a:pt x="18" y="1020"/>
                      <a:pt x="33" y="1020"/>
                      <a:pt x="42" y="1012"/>
                    </a:cubicBezTo>
                    <a:lnTo>
                      <a:pt x="746" y="334"/>
                    </a:lnTo>
                    <a:lnTo>
                      <a:pt x="746" y="334"/>
                    </a:lnTo>
                    <a:cubicBezTo>
                      <a:pt x="851" y="233"/>
                      <a:pt x="939" y="160"/>
                      <a:pt x="1016" y="114"/>
                    </a:cubicBezTo>
                    <a:cubicBezTo>
                      <a:pt x="1054" y="90"/>
                      <a:pt x="1090" y="73"/>
                      <a:pt x="1124" y="62"/>
                    </a:cubicBezTo>
                    <a:cubicBezTo>
                      <a:pt x="1159" y="51"/>
                      <a:pt x="1191" y="46"/>
                      <a:pt x="1224" y="46"/>
                    </a:cubicBezTo>
                    <a:cubicBezTo>
                      <a:pt x="1262" y="46"/>
                      <a:pt x="1300" y="53"/>
                      <a:pt x="1340" y="67"/>
                    </a:cubicBezTo>
                    <a:cubicBezTo>
                      <a:pt x="1401" y="89"/>
                      <a:pt x="1466" y="127"/>
                      <a:pt x="1542" y="180"/>
                    </a:cubicBezTo>
                    <a:cubicBezTo>
                      <a:pt x="1617" y="234"/>
                      <a:pt x="1702" y="303"/>
                      <a:pt x="1803" y="385"/>
                    </a:cubicBezTo>
                    <a:cubicBezTo>
                      <a:pt x="1813" y="393"/>
                      <a:pt x="1827" y="391"/>
                      <a:pt x="1835" y="381"/>
                    </a:cubicBezTo>
                    <a:cubicBezTo>
                      <a:pt x="1843" y="372"/>
                      <a:pt x="1842" y="357"/>
                      <a:pt x="1832" y="349"/>
                    </a:cubicBezTo>
                  </a:path>
                </a:pathLst>
              </a:custGeom>
              <a:solidFill>
                <a:srgbClr val="48A83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F3560C95-0398-8848-953C-C870AD8707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7348" y="795114"/>
                <a:ext cx="253049" cy="148038"/>
              </a:xfrm>
              <a:custGeom>
                <a:avLst/>
                <a:gdLst>
                  <a:gd name="T0" fmla="*/ 1522 w 1530"/>
                  <a:gd name="T1" fmla="*/ 264 h 895"/>
                  <a:gd name="T2" fmla="*/ 1260 w 1530"/>
                  <a:gd name="T3" fmla="*/ 70 h 895"/>
                  <a:gd name="T4" fmla="*/ 1156 w 1530"/>
                  <a:gd name="T5" fmla="*/ 18 h 895"/>
                  <a:gd name="T6" fmla="*/ 1057 w 1530"/>
                  <a:gd name="T7" fmla="*/ 0 h 895"/>
                  <a:gd name="T8" fmla="*/ 957 w 1530"/>
                  <a:gd name="T9" fmla="*/ 19 h 895"/>
                  <a:gd name="T10" fmla="*/ 791 w 1530"/>
                  <a:gd name="T11" fmla="*/ 119 h 895"/>
                  <a:gd name="T12" fmla="*/ 577 w 1530"/>
                  <a:gd name="T13" fmla="*/ 310 h 895"/>
                  <a:gd name="T14" fmla="*/ 577 w 1530"/>
                  <a:gd name="T15" fmla="*/ 310 h 895"/>
                  <a:gd name="T16" fmla="*/ 6 w 1530"/>
                  <a:gd name="T17" fmla="*/ 867 h 895"/>
                  <a:gd name="T18" fmla="*/ 6 w 1530"/>
                  <a:gd name="T19" fmla="*/ 888 h 895"/>
                  <a:gd name="T20" fmla="*/ 27 w 1530"/>
                  <a:gd name="T21" fmla="*/ 888 h 895"/>
                  <a:gd name="T22" fmla="*/ 598 w 1530"/>
                  <a:gd name="T23" fmla="*/ 331 h 895"/>
                  <a:gd name="T24" fmla="*/ 598 w 1530"/>
                  <a:gd name="T25" fmla="*/ 331 h 895"/>
                  <a:gd name="T26" fmla="*/ 866 w 1530"/>
                  <a:gd name="T27" fmla="*/ 101 h 895"/>
                  <a:gd name="T28" fmla="*/ 968 w 1530"/>
                  <a:gd name="T29" fmla="*/ 47 h 895"/>
                  <a:gd name="T30" fmla="*/ 1057 w 1530"/>
                  <a:gd name="T31" fmla="*/ 29 h 895"/>
                  <a:gd name="T32" fmla="*/ 1146 w 1530"/>
                  <a:gd name="T33" fmla="*/ 46 h 895"/>
                  <a:gd name="T34" fmla="*/ 1300 w 1530"/>
                  <a:gd name="T35" fmla="*/ 132 h 895"/>
                  <a:gd name="T36" fmla="*/ 1504 w 1530"/>
                  <a:gd name="T37" fmla="*/ 287 h 895"/>
                  <a:gd name="T38" fmla="*/ 1524 w 1530"/>
                  <a:gd name="T39" fmla="*/ 285 h 895"/>
                  <a:gd name="T40" fmla="*/ 1522 w 1530"/>
                  <a:gd name="T41" fmla="*/ 264 h 8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30" h="895">
                    <a:moveTo>
                      <a:pt x="1522" y="264"/>
                    </a:moveTo>
                    <a:cubicBezTo>
                      <a:pt x="1417" y="180"/>
                      <a:pt x="1334" y="115"/>
                      <a:pt x="1260" y="70"/>
                    </a:cubicBezTo>
                    <a:cubicBezTo>
                      <a:pt x="1224" y="47"/>
                      <a:pt x="1189" y="30"/>
                      <a:pt x="1156" y="18"/>
                    </a:cubicBezTo>
                    <a:cubicBezTo>
                      <a:pt x="1123" y="6"/>
                      <a:pt x="1090" y="0"/>
                      <a:pt x="1057" y="0"/>
                    </a:cubicBezTo>
                    <a:cubicBezTo>
                      <a:pt x="1024" y="0"/>
                      <a:pt x="991" y="6"/>
                      <a:pt x="957" y="19"/>
                    </a:cubicBezTo>
                    <a:cubicBezTo>
                      <a:pt x="906" y="38"/>
                      <a:pt x="852" y="71"/>
                      <a:pt x="791" y="119"/>
                    </a:cubicBezTo>
                    <a:cubicBezTo>
                      <a:pt x="729" y="167"/>
                      <a:pt x="660" y="231"/>
                      <a:pt x="577" y="310"/>
                    </a:cubicBezTo>
                    <a:lnTo>
                      <a:pt x="577" y="310"/>
                    </a:lnTo>
                    <a:lnTo>
                      <a:pt x="6" y="867"/>
                    </a:lnTo>
                    <a:cubicBezTo>
                      <a:pt x="0" y="873"/>
                      <a:pt x="0" y="882"/>
                      <a:pt x="6" y="888"/>
                    </a:cubicBezTo>
                    <a:cubicBezTo>
                      <a:pt x="12" y="894"/>
                      <a:pt x="21" y="894"/>
                      <a:pt x="27" y="888"/>
                    </a:cubicBezTo>
                    <a:lnTo>
                      <a:pt x="598" y="331"/>
                    </a:lnTo>
                    <a:lnTo>
                      <a:pt x="598" y="331"/>
                    </a:lnTo>
                    <a:cubicBezTo>
                      <a:pt x="707" y="226"/>
                      <a:pt x="793" y="150"/>
                      <a:pt x="866" y="101"/>
                    </a:cubicBezTo>
                    <a:cubicBezTo>
                      <a:pt x="903" y="76"/>
                      <a:pt x="936" y="58"/>
                      <a:pt x="968" y="47"/>
                    </a:cubicBezTo>
                    <a:cubicBezTo>
                      <a:pt x="999" y="35"/>
                      <a:pt x="1028" y="29"/>
                      <a:pt x="1057" y="29"/>
                    </a:cubicBezTo>
                    <a:cubicBezTo>
                      <a:pt x="1086" y="29"/>
                      <a:pt x="1115" y="35"/>
                      <a:pt x="1146" y="46"/>
                    </a:cubicBezTo>
                    <a:cubicBezTo>
                      <a:pt x="1192" y="62"/>
                      <a:pt x="1242" y="91"/>
                      <a:pt x="1300" y="132"/>
                    </a:cubicBezTo>
                    <a:cubicBezTo>
                      <a:pt x="1359" y="172"/>
                      <a:pt x="1425" y="225"/>
                      <a:pt x="1504" y="287"/>
                    </a:cubicBezTo>
                    <a:cubicBezTo>
                      <a:pt x="1510" y="292"/>
                      <a:pt x="1518" y="291"/>
                      <a:pt x="1524" y="285"/>
                    </a:cubicBezTo>
                    <a:cubicBezTo>
                      <a:pt x="1529" y="279"/>
                      <a:pt x="1528" y="269"/>
                      <a:pt x="1522" y="264"/>
                    </a:cubicBezTo>
                  </a:path>
                </a:pathLst>
              </a:custGeom>
              <a:solidFill>
                <a:srgbClr val="B2CE24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FC10BBCE-A81E-674D-90E5-1E60F8B244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91413" y="835952"/>
                <a:ext cx="201273" cy="127619"/>
              </a:xfrm>
              <a:custGeom>
                <a:avLst/>
                <a:gdLst>
                  <a:gd name="T0" fmla="*/ 1212 w 1217"/>
                  <a:gd name="T1" fmla="*/ 184 h 773"/>
                  <a:gd name="T2" fmla="*/ 1023 w 1217"/>
                  <a:gd name="T3" fmla="*/ 48 h 773"/>
                  <a:gd name="T4" fmla="*/ 884 w 1217"/>
                  <a:gd name="T5" fmla="*/ 0 h 773"/>
                  <a:gd name="T6" fmla="*/ 801 w 1217"/>
                  <a:gd name="T7" fmla="*/ 20 h 773"/>
                  <a:gd name="T8" fmla="*/ 653 w 1217"/>
                  <a:gd name="T9" fmla="*/ 124 h 773"/>
                  <a:gd name="T10" fmla="*/ 440 w 1217"/>
                  <a:gd name="T11" fmla="*/ 324 h 773"/>
                  <a:gd name="T12" fmla="*/ 440 w 1217"/>
                  <a:gd name="T13" fmla="*/ 324 h 773"/>
                  <a:gd name="T14" fmla="*/ 3 w 1217"/>
                  <a:gd name="T15" fmla="*/ 760 h 773"/>
                  <a:gd name="T16" fmla="*/ 3 w 1217"/>
                  <a:gd name="T17" fmla="*/ 770 h 773"/>
                  <a:gd name="T18" fmla="*/ 12 w 1217"/>
                  <a:gd name="T19" fmla="*/ 770 h 773"/>
                  <a:gd name="T20" fmla="*/ 449 w 1217"/>
                  <a:gd name="T21" fmla="*/ 333 h 773"/>
                  <a:gd name="T22" fmla="*/ 716 w 1217"/>
                  <a:gd name="T23" fmla="*/ 90 h 773"/>
                  <a:gd name="T24" fmla="*/ 806 w 1217"/>
                  <a:gd name="T25" fmla="*/ 32 h 773"/>
                  <a:gd name="T26" fmla="*/ 884 w 1217"/>
                  <a:gd name="T27" fmla="*/ 13 h 773"/>
                  <a:gd name="T28" fmla="*/ 1016 w 1217"/>
                  <a:gd name="T29" fmla="*/ 60 h 773"/>
                  <a:gd name="T30" fmla="*/ 1204 w 1217"/>
                  <a:gd name="T31" fmla="*/ 195 h 773"/>
                  <a:gd name="T32" fmla="*/ 1214 w 1217"/>
                  <a:gd name="T33" fmla="*/ 194 h 773"/>
                  <a:gd name="T34" fmla="*/ 1212 w 1217"/>
                  <a:gd name="T35" fmla="*/ 184 h 7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217" h="773">
                    <a:moveTo>
                      <a:pt x="1212" y="184"/>
                    </a:moveTo>
                    <a:cubicBezTo>
                      <a:pt x="1135" y="125"/>
                      <a:pt x="1075" y="80"/>
                      <a:pt x="1023" y="48"/>
                    </a:cubicBezTo>
                    <a:cubicBezTo>
                      <a:pt x="971" y="17"/>
                      <a:pt x="928" y="0"/>
                      <a:pt x="884" y="0"/>
                    </a:cubicBezTo>
                    <a:cubicBezTo>
                      <a:pt x="856" y="0"/>
                      <a:pt x="829" y="7"/>
                      <a:pt x="801" y="20"/>
                    </a:cubicBezTo>
                    <a:cubicBezTo>
                      <a:pt x="758" y="39"/>
                      <a:pt x="711" y="74"/>
                      <a:pt x="653" y="124"/>
                    </a:cubicBezTo>
                    <a:cubicBezTo>
                      <a:pt x="595" y="175"/>
                      <a:pt x="527" y="241"/>
                      <a:pt x="440" y="324"/>
                    </a:cubicBezTo>
                    <a:lnTo>
                      <a:pt x="440" y="324"/>
                    </a:lnTo>
                    <a:lnTo>
                      <a:pt x="3" y="760"/>
                    </a:lnTo>
                    <a:cubicBezTo>
                      <a:pt x="0" y="763"/>
                      <a:pt x="0" y="767"/>
                      <a:pt x="3" y="770"/>
                    </a:cubicBezTo>
                    <a:cubicBezTo>
                      <a:pt x="5" y="772"/>
                      <a:pt x="10" y="772"/>
                      <a:pt x="12" y="770"/>
                    </a:cubicBezTo>
                    <a:lnTo>
                      <a:pt x="449" y="333"/>
                    </a:lnTo>
                    <a:cubicBezTo>
                      <a:pt x="565" y="223"/>
                      <a:pt x="648" y="142"/>
                      <a:pt x="716" y="90"/>
                    </a:cubicBezTo>
                    <a:cubicBezTo>
                      <a:pt x="749" y="63"/>
                      <a:pt x="778" y="44"/>
                      <a:pt x="806" y="32"/>
                    </a:cubicBezTo>
                    <a:cubicBezTo>
                      <a:pt x="833" y="19"/>
                      <a:pt x="859" y="13"/>
                      <a:pt x="884" y="13"/>
                    </a:cubicBezTo>
                    <a:cubicBezTo>
                      <a:pt x="924" y="13"/>
                      <a:pt x="966" y="29"/>
                      <a:pt x="1016" y="60"/>
                    </a:cubicBezTo>
                    <a:cubicBezTo>
                      <a:pt x="1067" y="90"/>
                      <a:pt x="1127" y="136"/>
                      <a:pt x="1204" y="195"/>
                    </a:cubicBezTo>
                    <a:cubicBezTo>
                      <a:pt x="1207" y="197"/>
                      <a:pt x="1211" y="197"/>
                      <a:pt x="1214" y="194"/>
                    </a:cubicBezTo>
                    <a:cubicBezTo>
                      <a:pt x="1216" y="191"/>
                      <a:pt x="1215" y="187"/>
                      <a:pt x="1212" y="184"/>
                    </a:cubicBezTo>
                  </a:path>
                </a:pathLst>
              </a:custGeom>
              <a:solidFill>
                <a:srgbClr val="F1E82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7825D298-25D2-B645-9DE4-6B4AC2DAF4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8093" y="858559"/>
                <a:ext cx="72925" cy="48130"/>
              </a:xfrm>
              <a:custGeom>
                <a:avLst/>
                <a:gdLst>
                  <a:gd name="T0" fmla="*/ 49 w 442"/>
                  <a:gd name="T1" fmla="*/ 200 h 293"/>
                  <a:gd name="T2" fmla="*/ 0 w 442"/>
                  <a:gd name="T3" fmla="*/ 156 h 293"/>
                  <a:gd name="T4" fmla="*/ 45 w 442"/>
                  <a:gd name="T5" fmla="*/ 107 h 293"/>
                  <a:gd name="T6" fmla="*/ 392 w 442"/>
                  <a:gd name="T7" fmla="*/ 91 h 293"/>
                  <a:gd name="T8" fmla="*/ 441 w 442"/>
                  <a:gd name="T9" fmla="*/ 137 h 293"/>
                  <a:gd name="T10" fmla="*/ 396 w 442"/>
                  <a:gd name="T11" fmla="*/ 185 h 293"/>
                  <a:gd name="T12" fmla="*/ 49 w 442"/>
                  <a:gd name="T13" fmla="*/ 200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2" h="293">
                    <a:moveTo>
                      <a:pt x="49" y="200"/>
                    </a:moveTo>
                    <a:lnTo>
                      <a:pt x="0" y="156"/>
                    </a:lnTo>
                    <a:lnTo>
                      <a:pt x="45" y="107"/>
                    </a:lnTo>
                    <a:cubicBezTo>
                      <a:pt x="136" y="7"/>
                      <a:pt x="292" y="0"/>
                      <a:pt x="392" y="91"/>
                    </a:cubicBezTo>
                    <a:lnTo>
                      <a:pt x="441" y="137"/>
                    </a:lnTo>
                    <a:lnTo>
                      <a:pt x="396" y="185"/>
                    </a:lnTo>
                    <a:cubicBezTo>
                      <a:pt x="304" y="285"/>
                      <a:pt x="149" y="292"/>
                      <a:pt x="49" y="200"/>
                    </a:cubicBezTo>
                  </a:path>
                </a:pathLst>
              </a:custGeom>
              <a:solidFill>
                <a:srgbClr val="F1E82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1AB322FF-E82E-B849-A67E-8885F84F1B80}"/>
                </a:ext>
              </a:extLst>
            </p:cNvPr>
            <p:cNvGrpSpPr/>
            <p:nvPr/>
          </p:nvGrpSpPr>
          <p:grpSpPr>
            <a:xfrm>
              <a:off x="2028870" y="1197389"/>
              <a:ext cx="3479247" cy="365353"/>
              <a:chOff x="2028870" y="696666"/>
              <a:chExt cx="3479247" cy="365353"/>
            </a:xfrm>
            <a:solidFill>
              <a:schemeClr val="bg1">
                <a:lumMod val="50000"/>
              </a:schemeClr>
            </a:solidFill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939245C7-932E-A84A-81EC-0A53746F9A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8870" y="697395"/>
                <a:ext cx="358061" cy="363166"/>
              </a:xfrm>
              <a:custGeom>
                <a:avLst/>
                <a:gdLst>
                  <a:gd name="T0" fmla="*/ 121 w 2165"/>
                  <a:gd name="T1" fmla="*/ 758 h 2195"/>
                  <a:gd name="T2" fmla="*/ 0 w 2165"/>
                  <a:gd name="T3" fmla="*/ 758 h 2195"/>
                  <a:gd name="T4" fmla="*/ 0 w 2165"/>
                  <a:gd name="T5" fmla="*/ 582 h 2195"/>
                  <a:gd name="T6" fmla="*/ 463 w 2165"/>
                  <a:gd name="T7" fmla="*/ 582 h 2195"/>
                  <a:gd name="T8" fmla="*/ 463 w 2165"/>
                  <a:gd name="T9" fmla="*/ 1982 h 2195"/>
                  <a:gd name="T10" fmla="*/ 620 w 2165"/>
                  <a:gd name="T11" fmla="*/ 1982 h 2195"/>
                  <a:gd name="T12" fmla="*/ 620 w 2165"/>
                  <a:gd name="T13" fmla="*/ 2157 h 2195"/>
                  <a:gd name="T14" fmla="*/ 121 w 2165"/>
                  <a:gd name="T15" fmla="*/ 2157 h 2195"/>
                  <a:gd name="T16" fmla="*/ 121 w 2165"/>
                  <a:gd name="T17" fmla="*/ 758 h 2195"/>
                  <a:gd name="T18" fmla="*/ 467 w 2165"/>
                  <a:gd name="T19" fmla="*/ 51 h 2195"/>
                  <a:gd name="T20" fmla="*/ 467 w 2165"/>
                  <a:gd name="T21" fmla="*/ 462 h 2195"/>
                  <a:gd name="T22" fmla="*/ 121 w 2165"/>
                  <a:gd name="T23" fmla="*/ 462 h 2195"/>
                  <a:gd name="T24" fmla="*/ 121 w 2165"/>
                  <a:gd name="T25" fmla="*/ 51 h 2195"/>
                  <a:gd name="T26" fmla="*/ 467 w 2165"/>
                  <a:gd name="T27" fmla="*/ 51 h 2195"/>
                  <a:gd name="T28" fmla="*/ 629 w 2165"/>
                  <a:gd name="T29" fmla="*/ 906 h 2195"/>
                  <a:gd name="T30" fmla="*/ 629 w 2165"/>
                  <a:gd name="T31" fmla="*/ 730 h 2195"/>
                  <a:gd name="T32" fmla="*/ 1221 w 2165"/>
                  <a:gd name="T33" fmla="*/ 730 h 2195"/>
                  <a:gd name="T34" fmla="*/ 1221 w 2165"/>
                  <a:gd name="T35" fmla="*/ 0 h 2195"/>
                  <a:gd name="T36" fmla="*/ 1563 w 2165"/>
                  <a:gd name="T37" fmla="*/ 0 h 2195"/>
                  <a:gd name="T38" fmla="*/ 1563 w 2165"/>
                  <a:gd name="T39" fmla="*/ 730 h 2195"/>
                  <a:gd name="T40" fmla="*/ 2164 w 2165"/>
                  <a:gd name="T41" fmla="*/ 730 h 2195"/>
                  <a:gd name="T42" fmla="*/ 2164 w 2165"/>
                  <a:gd name="T43" fmla="*/ 906 h 2195"/>
                  <a:gd name="T44" fmla="*/ 1563 w 2165"/>
                  <a:gd name="T45" fmla="*/ 906 h 2195"/>
                  <a:gd name="T46" fmla="*/ 1563 w 2165"/>
                  <a:gd name="T47" fmla="*/ 2194 h 2195"/>
                  <a:gd name="T48" fmla="*/ 1221 w 2165"/>
                  <a:gd name="T49" fmla="*/ 2194 h 2195"/>
                  <a:gd name="T50" fmla="*/ 1221 w 2165"/>
                  <a:gd name="T51" fmla="*/ 906 h 2195"/>
                  <a:gd name="T52" fmla="*/ 629 w 2165"/>
                  <a:gd name="T53" fmla="*/ 906 h 2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65" h="2195">
                    <a:moveTo>
                      <a:pt x="121" y="758"/>
                    </a:moveTo>
                    <a:lnTo>
                      <a:pt x="0" y="758"/>
                    </a:lnTo>
                    <a:lnTo>
                      <a:pt x="0" y="582"/>
                    </a:lnTo>
                    <a:lnTo>
                      <a:pt x="463" y="582"/>
                    </a:lnTo>
                    <a:lnTo>
                      <a:pt x="463" y="1982"/>
                    </a:lnTo>
                    <a:lnTo>
                      <a:pt x="620" y="1982"/>
                    </a:lnTo>
                    <a:lnTo>
                      <a:pt x="620" y="2157"/>
                    </a:lnTo>
                    <a:lnTo>
                      <a:pt x="121" y="2157"/>
                    </a:lnTo>
                    <a:lnTo>
                      <a:pt x="121" y="758"/>
                    </a:lnTo>
                    <a:close/>
                    <a:moveTo>
                      <a:pt x="467" y="51"/>
                    </a:moveTo>
                    <a:lnTo>
                      <a:pt x="467" y="462"/>
                    </a:lnTo>
                    <a:lnTo>
                      <a:pt x="121" y="462"/>
                    </a:lnTo>
                    <a:lnTo>
                      <a:pt x="121" y="51"/>
                    </a:lnTo>
                    <a:lnTo>
                      <a:pt x="467" y="51"/>
                    </a:lnTo>
                    <a:close/>
                    <a:moveTo>
                      <a:pt x="629" y="906"/>
                    </a:moveTo>
                    <a:lnTo>
                      <a:pt x="629" y="730"/>
                    </a:lnTo>
                    <a:lnTo>
                      <a:pt x="1221" y="730"/>
                    </a:lnTo>
                    <a:lnTo>
                      <a:pt x="1221" y="0"/>
                    </a:lnTo>
                    <a:lnTo>
                      <a:pt x="1563" y="0"/>
                    </a:lnTo>
                    <a:lnTo>
                      <a:pt x="1563" y="730"/>
                    </a:lnTo>
                    <a:lnTo>
                      <a:pt x="2164" y="730"/>
                    </a:lnTo>
                    <a:lnTo>
                      <a:pt x="2164" y="906"/>
                    </a:lnTo>
                    <a:lnTo>
                      <a:pt x="1563" y="906"/>
                    </a:lnTo>
                    <a:lnTo>
                      <a:pt x="1563" y="2194"/>
                    </a:lnTo>
                    <a:lnTo>
                      <a:pt x="1221" y="2194"/>
                    </a:lnTo>
                    <a:lnTo>
                      <a:pt x="1221" y="906"/>
                    </a:lnTo>
                    <a:lnTo>
                      <a:pt x="629" y="906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09FAD7D1-6766-4344-BAA4-F13F7EAB76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7559" y="696666"/>
                <a:ext cx="357332" cy="364625"/>
              </a:xfrm>
              <a:custGeom>
                <a:avLst/>
                <a:gdLst>
                  <a:gd name="T0" fmla="*/ 583 w 2161"/>
                  <a:gd name="T1" fmla="*/ 379 h 2205"/>
                  <a:gd name="T2" fmla="*/ 458 w 2161"/>
                  <a:gd name="T3" fmla="*/ 287 h 2205"/>
                  <a:gd name="T4" fmla="*/ 0 w 2161"/>
                  <a:gd name="T5" fmla="*/ 379 h 2205"/>
                  <a:gd name="T6" fmla="*/ 662 w 2161"/>
                  <a:gd name="T7" fmla="*/ 0 h 2205"/>
                  <a:gd name="T8" fmla="*/ 1087 w 2161"/>
                  <a:gd name="T9" fmla="*/ 111 h 2205"/>
                  <a:gd name="T10" fmla="*/ 916 w 2161"/>
                  <a:gd name="T11" fmla="*/ 287 h 2205"/>
                  <a:gd name="T12" fmla="*/ 675 w 2161"/>
                  <a:gd name="T13" fmla="*/ 1691 h 2205"/>
                  <a:gd name="T14" fmla="*/ 1545 w 2161"/>
                  <a:gd name="T15" fmla="*/ 1811 h 2205"/>
                  <a:gd name="T16" fmla="*/ 1887 w 2161"/>
                  <a:gd name="T17" fmla="*/ 1691 h 2205"/>
                  <a:gd name="T18" fmla="*/ 2150 w 2161"/>
                  <a:gd name="T19" fmla="*/ 1811 h 2205"/>
                  <a:gd name="T20" fmla="*/ 1887 w 2161"/>
                  <a:gd name="T21" fmla="*/ 1987 h 2205"/>
                  <a:gd name="T22" fmla="*/ 1545 w 2161"/>
                  <a:gd name="T23" fmla="*/ 2204 h 2205"/>
                  <a:gd name="T24" fmla="*/ 652 w 2161"/>
                  <a:gd name="T25" fmla="*/ 1987 h 2205"/>
                  <a:gd name="T26" fmla="*/ 144 w 2161"/>
                  <a:gd name="T27" fmla="*/ 2204 h 2205"/>
                  <a:gd name="T28" fmla="*/ 47 w 2161"/>
                  <a:gd name="T29" fmla="*/ 1987 h 2205"/>
                  <a:gd name="T30" fmla="*/ 333 w 2161"/>
                  <a:gd name="T31" fmla="*/ 1811 h 2205"/>
                  <a:gd name="T32" fmla="*/ 675 w 2161"/>
                  <a:gd name="T33" fmla="*/ 1691 h 2205"/>
                  <a:gd name="T34" fmla="*/ 2100 w 2161"/>
                  <a:gd name="T35" fmla="*/ 448 h 2205"/>
                  <a:gd name="T36" fmla="*/ 102 w 2161"/>
                  <a:gd name="T37" fmla="*/ 1622 h 2205"/>
                  <a:gd name="T38" fmla="*/ 444 w 2161"/>
                  <a:gd name="T39" fmla="*/ 781 h 2205"/>
                  <a:gd name="T40" fmla="*/ 1757 w 2161"/>
                  <a:gd name="T41" fmla="*/ 624 h 2205"/>
                  <a:gd name="T42" fmla="*/ 444 w 2161"/>
                  <a:gd name="T43" fmla="*/ 781 h 2205"/>
                  <a:gd name="T44" fmla="*/ 1757 w 2161"/>
                  <a:gd name="T45" fmla="*/ 1114 h 2205"/>
                  <a:gd name="T46" fmla="*/ 444 w 2161"/>
                  <a:gd name="T47" fmla="*/ 957 h 2205"/>
                  <a:gd name="T48" fmla="*/ 1757 w 2161"/>
                  <a:gd name="T49" fmla="*/ 1289 h 2205"/>
                  <a:gd name="T50" fmla="*/ 444 w 2161"/>
                  <a:gd name="T51" fmla="*/ 1446 h 2205"/>
                  <a:gd name="T52" fmla="*/ 1757 w 2161"/>
                  <a:gd name="T53" fmla="*/ 1289 h 2205"/>
                  <a:gd name="T54" fmla="*/ 1041 w 2161"/>
                  <a:gd name="T55" fmla="*/ 379 h 2205"/>
                  <a:gd name="T56" fmla="*/ 1688 w 2161"/>
                  <a:gd name="T57" fmla="*/ 0 h 2205"/>
                  <a:gd name="T58" fmla="*/ 2160 w 2161"/>
                  <a:gd name="T59" fmla="*/ 111 h 2205"/>
                  <a:gd name="T60" fmla="*/ 1998 w 2161"/>
                  <a:gd name="T61" fmla="*/ 287 h 2205"/>
                  <a:gd name="T62" fmla="*/ 1646 w 2161"/>
                  <a:gd name="T63" fmla="*/ 379 h 2205"/>
                  <a:gd name="T64" fmla="*/ 1508 w 2161"/>
                  <a:gd name="T65" fmla="*/ 287 h 2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161" h="2205">
                    <a:moveTo>
                      <a:pt x="990" y="379"/>
                    </a:moveTo>
                    <a:lnTo>
                      <a:pt x="583" y="379"/>
                    </a:lnTo>
                    <a:lnTo>
                      <a:pt x="509" y="287"/>
                    </a:lnTo>
                    <a:lnTo>
                      <a:pt x="458" y="287"/>
                    </a:lnTo>
                    <a:lnTo>
                      <a:pt x="389" y="379"/>
                    </a:lnTo>
                    <a:lnTo>
                      <a:pt x="0" y="379"/>
                    </a:lnTo>
                    <a:lnTo>
                      <a:pt x="273" y="0"/>
                    </a:lnTo>
                    <a:lnTo>
                      <a:pt x="662" y="0"/>
                    </a:lnTo>
                    <a:lnTo>
                      <a:pt x="592" y="111"/>
                    </a:lnTo>
                    <a:lnTo>
                      <a:pt x="1087" y="111"/>
                    </a:lnTo>
                    <a:lnTo>
                      <a:pt x="1087" y="287"/>
                    </a:lnTo>
                    <a:lnTo>
                      <a:pt x="916" y="287"/>
                    </a:lnTo>
                    <a:lnTo>
                      <a:pt x="990" y="379"/>
                    </a:lnTo>
                    <a:close/>
                    <a:moveTo>
                      <a:pt x="675" y="1691"/>
                    </a:moveTo>
                    <a:lnTo>
                      <a:pt x="675" y="1811"/>
                    </a:lnTo>
                    <a:lnTo>
                      <a:pt x="1545" y="1811"/>
                    </a:lnTo>
                    <a:lnTo>
                      <a:pt x="1545" y="1691"/>
                    </a:lnTo>
                    <a:lnTo>
                      <a:pt x="1887" y="1691"/>
                    </a:lnTo>
                    <a:lnTo>
                      <a:pt x="1887" y="1811"/>
                    </a:lnTo>
                    <a:lnTo>
                      <a:pt x="2150" y="1811"/>
                    </a:lnTo>
                    <a:lnTo>
                      <a:pt x="2150" y="1987"/>
                    </a:lnTo>
                    <a:lnTo>
                      <a:pt x="1887" y="1987"/>
                    </a:lnTo>
                    <a:lnTo>
                      <a:pt x="1887" y="2204"/>
                    </a:lnTo>
                    <a:lnTo>
                      <a:pt x="1545" y="2204"/>
                    </a:lnTo>
                    <a:lnTo>
                      <a:pt x="1545" y="1987"/>
                    </a:lnTo>
                    <a:lnTo>
                      <a:pt x="652" y="1987"/>
                    </a:lnTo>
                    <a:lnTo>
                      <a:pt x="527" y="2204"/>
                    </a:lnTo>
                    <a:lnTo>
                      <a:pt x="144" y="2204"/>
                    </a:lnTo>
                    <a:lnTo>
                      <a:pt x="282" y="1987"/>
                    </a:lnTo>
                    <a:lnTo>
                      <a:pt x="47" y="1987"/>
                    </a:lnTo>
                    <a:lnTo>
                      <a:pt x="47" y="1811"/>
                    </a:lnTo>
                    <a:lnTo>
                      <a:pt x="333" y="1811"/>
                    </a:lnTo>
                    <a:lnTo>
                      <a:pt x="333" y="1691"/>
                    </a:lnTo>
                    <a:lnTo>
                      <a:pt x="675" y="1691"/>
                    </a:lnTo>
                    <a:close/>
                    <a:moveTo>
                      <a:pt x="102" y="448"/>
                    </a:moveTo>
                    <a:lnTo>
                      <a:pt x="2100" y="448"/>
                    </a:lnTo>
                    <a:lnTo>
                      <a:pt x="2100" y="1622"/>
                    </a:lnTo>
                    <a:lnTo>
                      <a:pt x="102" y="1622"/>
                    </a:lnTo>
                    <a:lnTo>
                      <a:pt x="102" y="448"/>
                    </a:lnTo>
                    <a:close/>
                    <a:moveTo>
                      <a:pt x="444" y="781"/>
                    </a:moveTo>
                    <a:lnTo>
                      <a:pt x="1757" y="781"/>
                    </a:lnTo>
                    <a:lnTo>
                      <a:pt x="1757" y="624"/>
                    </a:lnTo>
                    <a:lnTo>
                      <a:pt x="444" y="624"/>
                    </a:lnTo>
                    <a:lnTo>
                      <a:pt x="444" y="781"/>
                    </a:lnTo>
                    <a:close/>
                    <a:moveTo>
                      <a:pt x="444" y="1114"/>
                    </a:moveTo>
                    <a:lnTo>
                      <a:pt x="1757" y="1114"/>
                    </a:lnTo>
                    <a:lnTo>
                      <a:pt x="1757" y="957"/>
                    </a:lnTo>
                    <a:lnTo>
                      <a:pt x="444" y="957"/>
                    </a:lnTo>
                    <a:lnTo>
                      <a:pt x="444" y="1114"/>
                    </a:lnTo>
                    <a:close/>
                    <a:moveTo>
                      <a:pt x="1757" y="1289"/>
                    </a:moveTo>
                    <a:lnTo>
                      <a:pt x="444" y="1289"/>
                    </a:lnTo>
                    <a:lnTo>
                      <a:pt x="444" y="1446"/>
                    </a:lnTo>
                    <a:lnTo>
                      <a:pt x="1757" y="1446"/>
                    </a:lnTo>
                    <a:lnTo>
                      <a:pt x="1757" y="1289"/>
                    </a:lnTo>
                    <a:close/>
                    <a:moveTo>
                      <a:pt x="1434" y="379"/>
                    </a:moveTo>
                    <a:lnTo>
                      <a:pt x="1041" y="379"/>
                    </a:lnTo>
                    <a:lnTo>
                      <a:pt x="1313" y="0"/>
                    </a:lnTo>
                    <a:lnTo>
                      <a:pt x="1688" y="0"/>
                    </a:lnTo>
                    <a:lnTo>
                      <a:pt x="1609" y="111"/>
                    </a:lnTo>
                    <a:lnTo>
                      <a:pt x="2160" y="111"/>
                    </a:lnTo>
                    <a:lnTo>
                      <a:pt x="2160" y="287"/>
                    </a:lnTo>
                    <a:lnTo>
                      <a:pt x="1998" y="287"/>
                    </a:lnTo>
                    <a:lnTo>
                      <a:pt x="2072" y="379"/>
                    </a:lnTo>
                    <a:lnTo>
                      <a:pt x="1646" y="379"/>
                    </a:lnTo>
                    <a:lnTo>
                      <a:pt x="1572" y="287"/>
                    </a:lnTo>
                    <a:lnTo>
                      <a:pt x="1508" y="287"/>
                    </a:lnTo>
                    <a:lnTo>
                      <a:pt x="1434" y="379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A3F469B6-43A0-3142-B44A-FCAEEFFB11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0625" y="696666"/>
                <a:ext cx="363895" cy="364625"/>
              </a:xfrm>
              <a:custGeom>
                <a:avLst/>
                <a:gdLst>
                  <a:gd name="T0" fmla="*/ 0 w 2202"/>
                  <a:gd name="T1" fmla="*/ 2019 h 2205"/>
                  <a:gd name="T2" fmla="*/ 74 w 2202"/>
                  <a:gd name="T3" fmla="*/ 661 h 2205"/>
                  <a:gd name="T4" fmla="*/ 310 w 2202"/>
                  <a:gd name="T5" fmla="*/ 661 h 2205"/>
                  <a:gd name="T6" fmla="*/ 231 w 2202"/>
                  <a:gd name="T7" fmla="*/ 2019 h 2205"/>
                  <a:gd name="T8" fmla="*/ 0 w 2202"/>
                  <a:gd name="T9" fmla="*/ 2019 h 2205"/>
                  <a:gd name="T10" fmla="*/ 939 w 2202"/>
                  <a:gd name="T11" fmla="*/ 439 h 2205"/>
                  <a:gd name="T12" fmla="*/ 684 w 2202"/>
                  <a:gd name="T13" fmla="*/ 439 h 2205"/>
                  <a:gd name="T14" fmla="*/ 684 w 2202"/>
                  <a:gd name="T15" fmla="*/ 2204 h 2205"/>
                  <a:gd name="T16" fmla="*/ 361 w 2202"/>
                  <a:gd name="T17" fmla="*/ 2204 h 2205"/>
                  <a:gd name="T18" fmla="*/ 361 w 2202"/>
                  <a:gd name="T19" fmla="*/ 439 h 2205"/>
                  <a:gd name="T20" fmla="*/ 28 w 2202"/>
                  <a:gd name="T21" fmla="*/ 439 h 2205"/>
                  <a:gd name="T22" fmla="*/ 28 w 2202"/>
                  <a:gd name="T23" fmla="*/ 264 h 2205"/>
                  <a:gd name="T24" fmla="*/ 361 w 2202"/>
                  <a:gd name="T25" fmla="*/ 264 h 2205"/>
                  <a:gd name="T26" fmla="*/ 361 w 2202"/>
                  <a:gd name="T27" fmla="*/ 0 h 2205"/>
                  <a:gd name="T28" fmla="*/ 684 w 2202"/>
                  <a:gd name="T29" fmla="*/ 0 h 2205"/>
                  <a:gd name="T30" fmla="*/ 684 w 2202"/>
                  <a:gd name="T31" fmla="*/ 264 h 2205"/>
                  <a:gd name="T32" fmla="*/ 939 w 2202"/>
                  <a:gd name="T33" fmla="*/ 264 h 2205"/>
                  <a:gd name="T34" fmla="*/ 939 w 2202"/>
                  <a:gd name="T35" fmla="*/ 439 h 2205"/>
                  <a:gd name="T36" fmla="*/ 939 w 2202"/>
                  <a:gd name="T37" fmla="*/ 661 h 2205"/>
                  <a:gd name="T38" fmla="*/ 939 w 2202"/>
                  <a:gd name="T39" fmla="*/ 1686 h 2205"/>
                  <a:gd name="T40" fmla="*/ 735 w 2202"/>
                  <a:gd name="T41" fmla="*/ 1686 h 2205"/>
                  <a:gd name="T42" fmla="*/ 735 w 2202"/>
                  <a:gd name="T43" fmla="*/ 661 h 2205"/>
                  <a:gd name="T44" fmla="*/ 939 w 2202"/>
                  <a:gd name="T45" fmla="*/ 661 h 2205"/>
                  <a:gd name="T46" fmla="*/ 1022 w 2202"/>
                  <a:gd name="T47" fmla="*/ 1594 h 2205"/>
                  <a:gd name="T48" fmla="*/ 1022 w 2202"/>
                  <a:gd name="T49" fmla="*/ 42 h 2205"/>
                  <a:gd name="T50" fmla="*/ 1988 w 2202"/>
                  <a:gd name="T51" fmla="*/ 42 h 2205"/>
                  <a:gd name="T52" fmla="*/ 1988 w 2202"/>
                  <a:gd name="T53" fmla="*/ 2033 h 2205"/>
                  <a:gd name="T54" fmla="*/ 2201 w 2202"/>
                  <a:gd name="T55" fmla="*/ 2033 h 2205"/>
                  <a:gd name="T56" fmla="*/ 2201 w 2202"/>
                  <a:gd name="T57" fmla="*/ 2204 h 2205"/>
                  <a:gd name="T58" fmla="*/ 1665 w 2202"/>
                  <a:gd name="T59" fmla="*/ 2204 h 2205"/>
                  <a:gd name="T60" fmla="*/ 1665 w 2202"/>
                  <a:gd name="T61" fmla="*/ 217 h 2205"/>
                  <a:gd name="T62" fmla="*/ 1355 w 2202"/>
                  <a:gd name="T63" fmla="*/ 217 h 2205"/>
                  <a:gd name="T64" fmla="*/ 1355 w 2202"/>
                  <a:gd name="T65" fmla="*/ 1668 h 2205"/>
                  <a:gd name="T66" fmla="*/ 1198 w 2202"/>
                  <a:gd name="T67" fmla="*/ 2204 h 2205"/>
                  <a:gd name="T68" fmla="*/ 851 w 2202"/>
                  <a:gd name="T69" fmla="*/ 2204 h 2205"/>
                  <a:gd name="T70" fmla="*/ 1022 w 2202"/>
                  <a:gd name="T71" fmla="*/ 1594 h 2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202" h="2205">
                    <a:moveTo>
                      <a:pt x="0" y="2019"/>
                    </a:moveTo>
                    <a:lnTo>
                      <a:pt x="74" y="661"/>
                    </a:lnTo>
                    <a:lnTo>
                      <a:pt x="310" y="661"/>
                    </a:lnTo>
                    <a:lnTo>
                      <a:pt x="231" y="2019"/>
                    </a:lnTo>
                    <a:lnTo>
                      <a:pt x="0" y="2019"/>
                    </a:lnTo>
                    <a:close/>
                    <a:moveTo>
                      <a:pt x="939" y="439"/>
                    </a:moveTo>
                    <a:lnTo>
                      <a:pt x="684" y="439"/>
                    </a:lnTo>
                    <a:lnTo>
                      <a:pt x="684" y="2204"/>
                    </a:lnTo>
                    <a:lnTo>
                      <a:pt x="361" y="2204"/>
                    </a:lnTo>
                    <a:lnTo>
                      <a:pt x="361" y="439"/>
                    </a:lnTo>
                    <a:lnTo>
                      <a:pt x="28" y="439"/>
                    </a:lnTo>
                    <a:lnTo>
                      <a:pt x="28" y="264"/>
                    </a:lnTo>
                    <a:lnTo>
                      <a:pt x="361" y="264"/>
                    </a:lnTo>
                    <a:lnTo>
                      <a:pt x="361" y="0"/>
                    </a:lnTo>
                    <a:lnTo>
                      <a:pt x="684" y="0"/>
                    </a:lnTo>
                    <a:lnTo>
                      <a:pt x="684" y="264"/>
                    </a:lnTo>
                    <a:lnTo>
                      <a:pt x="939" y="264"/>
                    </a:lnTo>
                    <a:lnTo>
                      <a:pt x="939" y="439"/>
                    </a:lnTo>
                    <a:close/>
                    <a:moveTo>
                      <a:pt x="939" y="661"/>
                    </a:moveTo>
                    <a:lnTo>
                      <a:pt x="939" y="1686"/>
                    </a:lnTo>
                    <a:lnTo>
                      <a:pt x="735" y="1686"/>
                    </a:lnTo>
                    <a:lnTo>
                      <a:pt x="735" y="661"/>
                    </a:lnTo>
                    <a:lnTo>
                      <a:pt x="939" y="661"/>
                    </a:lnTo>
                    <a:close/>
                    <a:moveTo>
                      <a:pt x="1022" y="1594"/>
                    </a:moveTo>
                    <a:lnTo>
                      <a:pt x="1022" y="42"/>
                    </a:lnTo>
                    <a:lnTo>
                      <a:pt x="1988" y="42"/>
                    </a:lnTo>
                    <a:lnTo>
                      <a:pt x="1988" y="2033"/>
                    </a:lnTo>
                    <a:lnTo>
                      <a:pt x="2201" y="2033"/>
                    </a:lnTo>
                    <a:lnTo>
                      <a:pt x="2201" y="2204"/>
                    </a:lnTo>
                    <a:lnTo>
                      <a:pt x="1665" y="2204"/>
                    </a:lnTo>
                    <a:lnTo>
                      <a:pt x="1665" y="217"/>
                    </a:lnTo>
                    <a:lnTo>
                      <a:pt x="1355" y="217"/>
                    </a:lnTo>
                    <a:lnTo>
                      <a:pt x="1355" y="1668"/>
                    </a:lnTo>
                    <a:lnTo>
                      <a:pt x="1198" y="2204"/>
                    </a:lnTo>
                    <a:lnTo>
                      <a:pt x="851" y="2204"/>
                    </a:lnTo>
                    <a:lnTo>
                      <a:pt x="1022" y="1594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939FDE59-FDA2-7D42-A573-9D861EDB6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2441" y="703958"/>
                <a:ext cx="339830" cy="358061"/>
              </a:xfrm>
              <a:custGeom>
                <a:avLst/>
                <a:gdLst>
                  <a:gd name="T0" fmla="*/ 1747 w 2053"/>
                  <a:gd name="T1" fmla="*/ 1982 h 2163"/>
                  <a:gd name="T2" fmla="*/ 1747 w 2053"/>
                  <a:gd name="T3" fmla="*/ 175 h 2163"/>
                  <a:gd name="T4" fmla="*/ 305 w 2053"/>
                  <a:gd name="T5" fmla="*/ 175 h 2163"/>
                  <a:gd name="T6" fmla="*/ 305 w 2053"/>
                  <a:gd name="T7" fmla="*/ 2162 h 2163"/>
                  <a:gd name="T8" fmla="*/ 0 w 2053"/>
                  <a:gd name="T9" fmla="*/ 2162 h 2163"/>
                  <a:gd name="T10" fmla="*/ 0 w 2053"/>
                  <a:gd name="T11" fmla="*/ 0 h 2163"/>
                  <a:gd name="T12" fmla="*/ 2052 w 2053"/>
                  <a:gd name="T13" fmla="*/ 0 h 2163"/>
                  <a:gd name="T14" fmla="*/ 2052 w 2053"/>
                  <a:gd name="T15" fmla="*/ 2162 h 2163"/>
                  <a:gd name="T16" fmla="*/ 1590 w 2053"/>
                  <a:gd name="T17" fmla="*/ 2162 h 2163"/>
                  <a:gd name="T18" fmla="*/ 1590 w 2053"/>
                  <a:gd name="T19" fmla="*/ 1982 h 2163"/>
                  <a:gd name="T20" fmla="*/ 1747 w 2053"/>
                  <a:gd name="T21" fmla="*/ 1982 h 2163"/>
                  <a:gd name="T22" fmla="*/ 791 w 2053"/>
                  <a:gd name="T23" fmla="*/ 1127 h 2163"/>
                  <a:gd name="T24" fmla="*/ 1017 w 2053"/>
                  <a:gd name="T25" fmla="*/ 1843 h 2163"/>
                  <a:gd name="T26" fmla="*/ 786 w 2053"/>
                  <a:gd name="T27" fmla="*/ 1843 h 2163"/>
                  <a:gd name="T28" fmla="*/ 680 w 2053"/>
                  <a:gd name="T29" fmla="*/ 1501 h 2163"/>
                  <a:gd name="T30" fmla="*/ 573 w 2053"/>
                  <a:gd name="T31" fmla="*/ 1843 h 2163"/>
                  <a:gd name="T32" fmla="*/ 347 w 2053"/>
                  <a:gd name="T33" fmla="*/ 1843 h 2163"/>
                  <a:gd name="T34" fmla="*/ 564 w 2053"/>
                  <a:gd name="T35" fmla="*/ 1136 h 2163"/>
                  <a:gd name="T36" fmla="*/ 338 w 2053"/>
                  <a:gd name="T37" fmla="*/ 430 h 2163"/>
                  <a:gd name="T38" fmla="*/ 569 w 2053"/>
                  <a:gd name="T39" fmla="*/ 430 h 2163"/>
                  <a:gd name="T40" fmla="*/ 675 w 2053"/>
                  <a:gd name="T41" fmla="*/ 767 h 2163"/>
                  <a:gd name="T42" fmla="*/ 777 w 2053"/>
                  <a:gd name="T43" fmla="*/ 430 h 2163"/>
                  <a:gd name="T44" fmla="*/ 1003 w 2053"/>
                  <a:gd name="T45" fmla="*/ 430 h 2163"/>
                  <a:gd name="T46" fmla="*/ 791 w 2053"/>
                  <a:gd name="T47" fmla="*/ 1127 h 2163"/>
                  <a:gd name="T48" fmla="*/ 1503 w 2053"/>
                  <a:gd name="T49" fmla="*/ 1127 h 2163"/>
                  <a:gd name="T50" fmla="*/ 1728 w 2053"/>
                  <a:gd name="T51" fmla="*/ 1843 h 2163"/>
                  <a:gd name="T52" fmla="*/ 1498 w 2053"/>
                  <a:gd name="T53" fmla="*/ 1843 h 2163"/>
                  <a:gd name="T54" fmla="*/ 1392 w 2053"/>
                  <a:gd name="T55" fmla="*/ 1501 h 2163"/>
                  <a:gd name="T56" fmla="*/ 1286 w 2053"/>
                  <a:gd name="T57" fmla="*/ 1843 h 2163"/>
                  <a:gd name="T58" fmla="*/ 1059 w 2053"/>
                  <a:gd name="T59" fmla="*/ 1843 h 2163"/>
                  <a:gd name="T60" fmla="*/ 1276 w 2053"/>
                  <a:gd name="T61" fmla="*/ 1136 h 2163"/>
                  <a:gd name="T62" fmla="*/ 1050 w 2053"/>
                  <a:gd name="T63" fmla="*/ 430 h 2163"/>
                  <a:gd name="T64" fmla="*/ 1281 w 2053"/>
                  <a:gd name="T65" fmla="*/ 430 h 2163"/>
                  <a:gd name="T66" fmla="*/ 1387 w 2053"/>
                  <a:gd name="T67" fmla="*/ 767 h 2163"/>
                  <a:gd name="T68" fmla="*/ 1489 w 2053"/>
                  <a:gd name="T69" fmla="*/ 430 h 2163"/>
                  <a:gd name="T70" fmla="*/ 1715 w 2053"/>
                  <a:gd name="T71" fmla="*/ 430 h 2163"/>
                  <a:gd name="T72" fmla="*/ 1503 w 2053"/>
                  <a:gd name="T73" fmla="*/ 1127 h 2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053" h="2163">
                    <a:moveTo>
                      <a:pt x="1747" y="1982"/>
                    </a:moveTo>
                    <a:lnTo>
                      <a:pt x="1747" y="175"/>
                    </a:lnTo>
                    <a:lnTo>
                      <a:pt x="305" y="175"/>
                    </a:lnTo>
                    <a:lnTo>
                      <a:pt x="305" y="2162"/>
                    </a:lnTo>
                    <a:lnTo>
                      <a:pt x="0" y="2162"/>
                    </a:lnTo>
                    <a:lnTo>
                      <a:pt x="0" y="0"/>
                    </a:lnTo>
                    <a:lnTo>
                      <a:pt x="2052" y="0"/>
                    </a:lnTo>
                    <a:lnTo>
                      <a:pt x="2052" y="2162"/>
                    </a:lnTo>
                    <a:lnTo>
                      <a:pt x="1590" y="2162"/>
                    </a:lnTo>
                    <a:lnTo>
                      <a:pt x="1590" y="1982"/>
                    </a:lnTo>
                    <a:lnTo>
                      <a:pt x="1747" y="1982"/>
                    </a:lnTo>
                    <a:close/>
                    <a:moveTo>
                      <a:pt x="791" y="1127"/>
                    </a:moveTo>
                    <a:lnTo>
                      <a:pt x="1017" y="1843"/>
                    </a:lnTo>
                    <a:lnTo>
                      <a:pt x="786" y="1843"/>
                    </a:lnTo>
                    <a:lnTo>
                      <a:pt x="680" y="1501"/>
                    </a:lnTo>
                    <a:lnTo>
                      <a:pt x="573" y="1843"/>
                    </a:lnTo>
                    <a:lnTo>
                      <a:pt x="347" y="1843"/>
                    </a:lnTo>
                    <a:lnTo>
                      <a:pt x="564" y="1136"/>
                    </a:lnTo>
                    <a:lnTo>
                      <a:pt x="338" y="430"/>
                    </a:lnTo>
                    <a:lnTo>
                      <a:pt x="569" y="430"/>
                    </a:lnTo>
                    <a:lnTo>
                      <a:pt x="675" y="767"/>
                    </a:lnTo>
                    <a:lnTo>
                      <a:pt x="777" y="430"/>
                    </a:lnTo>
                    <a:lnTo>
                      <a:pt x="1003" y="430"/>
                    </a:lnTo>
                    <a:lnTo>
                      <a:pt x="791" y="1127"/>
                    </a:lnTo>
                    <a:close/>
                    <a:moveTo>
                      <a:pt x="1503" y="1127"/>
                    </a:moveTo>
                    <a:lnTo>
                      <a:pt x="1728" y="1843"/>
                    </a:lnTo>
                    <a:lnTo>
                      <a:pt x="1498" y="1843"/>
                    </a:lnTo>
                    <a:lnTo>
                      <a:pt x="1392" y="1501"/>
                    </a:lnTo>
                    <a:lnTo>
                      <a:pt x="1286" y="1843"/>
                    </a:lnTo>
                    <a:lnTo>
                      <a:pt x="1059" y="1843"/>
                    </a:lnTo>
                    <a:lnTo>
                      <a:pt x="1276" y="1136"/>
                    </a:lnTo>
                    <a:lnTo>
                      <a:pt x="1050" y="430"/>
                    </a:lnTo>
                    <a:lnTo>
                      <a:pt x="1281" y="430"/>
                    </a:lnTo>
                    <a:lnTo>
                      <a:pt x="1387" y="767"/>
                    </a:lnTo>
                    <a:lnTo>
                      <a:pt x="1489" y="430"/>
                    </a:lnTo>
                    <a:lnTo>
                      <a:pt x="1715" y="430"/>
                    </a:lnTo>
                    <a:lnTo>
                      <a:pt x="1503" y="1127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CC481843-8BD3-B44C-9129-7DD52746EE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1441" y="696666"/>
                <a:ext cx="375564" cy="362437"/>
              </a:xfrm>
              <a:custGeom>
                <a:avLst/>
                <a:gdLst>
                  <a:gd name="T0" fmla="*/ 315 w 2272"/>
                  <a:gd name="T1" fmla="*/ 957 h 2191"/>
                  <a:gd name="T2" fmla="*/ 0 w 2272"/>
                  <a:gd name="T3" fmla="*/ 957 h 2191"/>
                  <a:gd name="T4" fmla="*/ 361 w 2272"/>
                  <a:gd name="T5" fmla="*/ 5 h 2191"/>
                  <a:gd name="T6" fmla="*/ 675 w 2272"/>
                  <a:gd name="T7" fmla="*/ 5 h 2191"/>
                  <a:gd name="T8" fmla="*/ 380 w 2272"/>
                  <a:gd name="T9" fmla="*/ 767 h 2191"/>
                  <a:gd name="T10" fmla="*/ 453 w 2272"/>
                  <a:gd name="T11" fmla="*/ 767 h 2191"/>
                  <a:gd name="T12" fmla="*/ 509 w 2272"/>
                  <a:gd name="T13" fmla="*/ 647 h 2191"/>
                  <a:gd name="T14" fmla="*/ 823 w 2272"/>
                  <a:gd name="T15" fmla="*/ 647 h 2191"/>
                  <a:gd name="T16" fmla="*/ 463 w 2272"/>
                  <a:gd name="T17" fmla="*/ 1492 h 2191"/>
                  <a:gd name="T18" fmla="*/ 754 w 2272"/>
                  <a:gd name="T19" fmla="*/ 1492 h 2191"/>
                  <a:gd name="T20" fmla="*/ 754 w 2272"/>
                  <a:gd name="T21" fmla="*/ 1677 h 2191"/>
                  <a:gd name="T22" fmla="*/ 366 w 2272"/>
                  <a:gd name="T23" fmla="*/ 1677 h 2191"/>
                  <a:gd name="T24" fmla="*/ 65 w 2272"/>
                  <a:gd name="T25" fmla="*/ 1677 h 2191"/>
                  <a:gd name="T26" fmla="*/ 375 w 2272"/>
                  <a:gd name="T27" fmla="*/ 957 h 2191"/>
                  <a:gd name="T28" fmla="*/ 315 w 2272"/>
                  <a:gd name="T29" fmla="*/ 957 h 2191"/>
                  <a:gd name="T30" fmla="*/ 763 w 2272"/>
                  <a:gd name="T31" fmla="*/ 1954 h 2191"/>
                  <a:gd name="T32" fmla="*/ 763 w 2272"/>
                  <a:gd name="T33" fmla="*/ 2130 h 2191"/>
                  <a:gd name="T34" fmla="*/ 84 w 2272"/>
                  <a:gd name="T35" fmla="*/ 2130 h 2191"/>
                  <a:gd name="T36" fmla="*/ 84 w 2272"/>
                  <a:gd name="T37" fmla="*/ 1954 h 2191"/>
                  <a:gd name="T38" fmla="*/ 763 w 2272"/>
                  <a:gd name="T39" fmla="*/ 1954 h 2191"/>
                  <a:gd name="T40" fmla="*/ 1831 w 2272"/>
                  <a:gd name="T41" fmla="*/ 1205 h 2191"/>
                  <a:gd name="T42" fmla="*/ 1614 w 2272"/>
                  <a:gd name="T43" fmla="*/ 994 h 2191"/>
                  <a:gd name="T44" fmla="*/ 1355 w 2272"/>
                  <a:gd name="T45" fmla="*/ 1205 h 2191"/>
                  <a:gd name="T46" fmla="*/ 884 w 2272"/>
                  <a:gd name="T47" fmla="*/ 1205 h 2191"/>
                  <a:gd name="T48" fmla="*/ 1392 w 2272"/>
                  <a:gd name="T49" fmla="*/ 781 h 2191"/>
                  <a:gd name="T50" fmla="*/ 1212 w 2272"/>
                  <a:gd name="T51" fmla="*/ 587 h 2191"/>
                  <a:gd name="T52" fmla="*/ 1179 w 2272"/>
                  <a:gd name="T53" fmla="*/ 684 h 2191"/>
                  <a:gd name="T54" fmla="*/ 842 w 2272"/>
                  <a:gd name="T55" fmla="*/ 684 h 2191"/>
                  <a:gd name="T56" fmla="*/ 1082 w 2272"/>
                  <a:gd name="T57" fmla="*/ 0 h 2191"/>
                  <a:gd name="T58" fmla="*/ 1420 w 2272"/>
                  <a:gd name="T59" fmla="*/ 0 h 2191"/>
                  <a:gd name="T60" fmla="*/ 1397 w 2272"/>
                  <a:gd name="T61" fmla="*/ 79 h 2191"/>
                  <a:gd name="T62" fmla="*/ 2174 w 2272"/>
                  <a:gd name="T63" fmla="*/ 79 h 2191"/>
                  <a:gd name="T64" fmla="*/ 2174 w 2272"/>
                  <a:gd name="T65" fmla="*/ 527 h 2191"/>
                  <a:gd name="T66" fmla="*/ 1864 w 2272"/>
                  <a:gd name="T67" fmla="*/ 795 h 2191"/>
                  <a:gd name="T68" fmla="*/ 2271 w 2272"/>
                  <a:gd name="T69" fmla="*/ 1205 h 2191"/>
                  <a:gd name="T70" fmla="*/ 1831 w 2272"/>
                  <a:gd name="T71" fmla="*/ 1205 h 2191"/>
                  <a:gd name="T72" fmla="*/ 934 w 2272"/>
                  <a:gd name="T73" fmla="*/ 2190 h 2191"/>
                  <a:gd name="T74" fmla="*/ 934 w 2272"/>
                  <a:gd name="T75" fmla="*/ 1303 h 2191"/>
                  <a:gd name="T76" fmla="*/ 2206 w 2272"/>
                  <a:gd name="T77" fmla="*/ 1303 h 2191"/>
                  <a:gd name="T78" fmla="*/ 2206 w 2272"/>
                  <a:gd name="T79" fmla="*/ 2190 h 2191"/>
                  <a:gd name="T80" fmla="*/ 934 w 2272"/>
                  <a:gd name="T81" fmla="*/ 2190 h 2191"/>
                  <a:gd name="T82" fmla="*/ 1522 w 2272"/>
                  <a:gd name="T83" fmla="*/ 467 h 2191"/>
                  <a:gd name="T84" fmla="*/ 1646 w 2272"/>
                  <a:gd name="T85" fmla="*/ 592 h 2191"/>
                  <a:gd name="T86" fmla="*/ 1892 w 2272"/>
                  <a:gd name="T87" fmla="*/ 379 h 2191"/>
                  <a:gd name="T88" fmla="*/ 1892 w 2272"/>
                  <a:gd name="T89" fmla="*/ 254 h 2191"/>
                  <a:gd name="T90" fmla="*/ 1332 w 2272"/>
                  <a:gd name="T91" fmla="*/ 254 h 2191"/>
                  <a:gd name="T92" fmla="*/ 1253 w 2272"/>
                  <a:gd name="T93" fmla="*/ 467 h 2191"/>
                  <a:gd name="T94" fmla="*/ 1522 w 2272"/>
                  <a:gd name="T95" fmla="*/ 467 h 2191"/>
                  <a:gd name="T96" fmla="*/ 1277 w 2272"/>
                  <a:gd name="T97" fmla="*/ 1478 h 2191"/>
                  <a:gd name="T98" fmla="*/ 1277 w 2272"/>
                  <a:gd name="T99" fmla="*/ 2014 h 2191"/>
                  <a:gd name="T100" fmla="*/ 1864 w 2272"/>
                  <a:gd name="T101" fmla="*/ 2014 h 2191"/>
                  <a:gd name="T102" fmla="*/ 1864 w 2272"/>
                  <a:gd name="T103" fmla="*/ 1478 h 2191"/>
                  <a:gd name="T104" fmla="*/ 1277 w 2272"/>
                  <a:gd name="T105" fmla="*/ 1478 h 2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272" h="2191">
                    <a:moveTo>
                      <a:pt x="315" y="957"/>
                    </a:moveTo>
                    <a:lnTo>
                      <a:pt x="0" y="957"/>
                    </a:lnTo>
                    <a:lnTo>
                      <a:pt x="361" y="5"/>
                    </a:lnTo>
                    <a:lnTo>
                      <a:pt x="675" y="5"/>
                    </a:lnTo>
                    <a:lnTo>
                      <a:pt x="380" y="767"/>
                    </a:lnTo>
                    <a:lnTo>
                      <a:pt x="453" y="767"/>
                    </a:lnTo>
                    <a:lnTo>
                      <a:pt x="509" y="647"/>
                    </a:lnTo>
                    <a:lnTo>
                      <a:pt x="823" y="647"/>
                    </a:lnTo>
                    <a:lnTo>
                      <a:pt x="463" y="1492"/>
                    </a:lnTo>
                    <a:lnTo>
                      <a:pt x="754" y="1492"/>
                    </a:lnTo>
                    <a:lnTo>
                      <a:pt x="754" y="1677"/>
                    </a:lnTo>
                    <a:lnTo>
                      <a:pt x="366" y="1677"/>
                    </a:lnTo>
                    <a:lnTo>
                      <a:pt x="65" y="1677"/>
                    </a:lnTo>
                    <a:lnTo>
                      <a:pt x="375" y="957"/>
                    </a:lnTo>
                    <a:lnTo>
                      <a:pt x="315" y="957"/>
                    </a:lnTo>
                    <a:close/>
                    <a:moveTo>
                      <a:pt x="763" y="1954"/>
                    </a:moveTo>
                    <a:lnTo>
                      <a:pt x="763" y="2130"/>
                    </a:lnTo>
                    <a:lnTo>
                      <a:pt x="84" y="2130"/>
                    </a:lnTo>
                    <a:lnTo>
                      <a:pt x="84" y="1954"/>
                    </a:lnTo>
                    <a:lnTo>
                      <a:pt x="763" y="1954"/>
                    </a:lnTo>
                    <a:close/>
                    <a:moveTo>
                      <a:pt x="1831" y="1205"/>
                    </a:moveTo>
                    <a:lnTo>
                      <a:pt x="1614" y="994"/>
                    </a:lnTo>
                    <a:lnTo>
                      <a:pt x="1355" y="1205"/>
                    </a:lnTo>
                    <a:lnTo>
                      <a:pt x="884" y="1205"/>
                    </a:lnTo>
                    <a:lnTo>
                      <a:pt x="1392" y="781"/>
                    </a:lnTo>
                    <a:lnTo>
                      <a:pt x="1212" y="587"/>
                    </a:lnTo>
                    <a:lnTo>
                      <a:pt x="1179" y="684"/>
                    </a:lnTo>
                    <a:lnTo>
                      <a:pt x="842" y="684"/>
                    </a:lnTo>
                    <a:lnTo>
                      <a:pt x="1082" y="0"/>
                    </a:lnTo>
                    <a:lnTo>
                      <a:pt x="1420" y="0"/>
                    </a:lnTo>
                    <a:lnTo>
                      <a:pt x="1397" y="79"/>
                    </a:lnTo>
                    <a:lnTo>
                      <a:pt x="2174" y="79"/>
                    </a:lnTo>
                    <a:lnTo>
                      <a:pt x="2174" y="527"/>
                    </a:lnTo>
                    <a:lnTo>
                      <a:pt x="1864" y="795"/>
                    </a:lnTo>
                    <a:lnTo>
                      <a:pt x="2271" y="1205"/>
                    </a:lnTo>
                    <a:lnTo>
                      <a:pt x="1831" y="1205"/>
                    </a:lnTo>
                    <a:close/>
                    <a:moveTo>
                      <a:pt x="934" y="2190"/>
                    </a:moveTo>
                    <a:lnTo>
                      <a:pt x="934" y="1303"/>
                    </a:lnTo>
                    <a:lnTo>
                      <a:pt x="2206" y="1303"/>
                    </a:lnTo>
                    <a:lnTo>
                      <a:pt x="2206" y="2190"/>
                    </a:lnTo>
                    <a:lnTo>
                      <a:pt x="934" y="2190"/>
                    </a:lnTo>
                    <a:close/>
                    <a:moveTo>
                      <a:pt x="1522" y="467"/>
                    </a:moveTo>
                    <a:lnTo>
                      <a:pt x="1646" y="592"/>
                    </a:lnTo>
                    <a:lnTo>
                      <a:pt x="1892" y="379"/>
                    </a:lnTo>
                    <a:lnTo>
                      <a:pt x="1892" y="254"/>
                    </a:lnTo>
                    <a:lnTo>
                      <a:pt x="1332" y="254"/>
                    </a:lnTo>
                    <a:lnTo>
                      <a:pt x="1253" y="467"/>
                    </a:lnTo>
                    <a:lnTo>
                      <a:pt x="1522" y="467"/>
                    </a:lnTo>
                    <a:close/>
                    <a:moveTo>
                      <a:pt x="1277" y="1478"/>
                    </a:moveTo>
                    <a:lnTo>
                      <a:pt x="1277" y="2014"/>
                    </a:lnTo>
                    <a:lnTo>
                      <a:pt x="1864" y="2014"/>
                    </a:lnTo>
                    <a:lnTo>
                      <a:pt x="1864" y="1478"/>
                    </a:lnTo>
                    <a:lnTo>
                      <a:pt x="1277" y="1478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1BF5661B-2AA7-7048-834E-17B9B91BE0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2528" y="697395"/>
                <a:ext cx="362437" cy="363166"/>
              </a:xfrm>
              <a:custGeom>
                <a:avLst/>
                <a:gdLst>
                  <a:gd name="T0" fmla="*/ 1244 w 2193"/>
                  <a:gd name="T1" fmla="*/ 1012 h 2195"/>
                  <a:gd name="T2" fmla="*/ 934 w 2193"/>
                  <a:gd name="T3" fmla="*/ 1589 h 2195"/>
                  <a:gd name="T4" fmla="*/ 1249 w 2193"/>
                  <a:gd name="T5" fmla="*/ 1764 h 2195"/>
                  <a:gd name="T6" fmla="*/ 925 w 2193"/>
                  <a:gd name="T7" fmla="*/ 2194 h 2195"/>
                  <a:gd name="T8" fmla="*/ 439 w 2193"/>
                  <a:gd name="T9" fmla="*/ 2032 h 2195"/>
                  <a:gd name="T10" fmla="*/ 597 w 2193"/>
                  <a:gd name="T11" fmla="*/ 1764 h 2195"/>
                  <a:gd name="T12" fmla="*/ 65 w 2193"/>
                  <a:gd name="T13" fmla="*/ 1589 h 2195"/>
                  <a:gd name="T14" fmla="*/ 856 w 2193"/>
                  <a:gd name="T15" fmla="*/ 1187 h 2195"/>
                  <a:gd name="T16" fmla="*/ 292 w 2193"/>
                  <a:gd name="T17" fmla="*/ 1455 h 2195"/>
                  <a:gd name="T18" fmla="*/ 167 w 2193"/>
                  <a:gd name="T19" fmla="*/ 1187 h 2195"/>
                  <a:gd name="T20" fmla="*/ 65 w 2193"/>
                  <a:gd name="T21" fmla="*/ 1012 h 2195"/>
                  <a:gd name="T22" fmla="*/ 361 w 2193"/>
                  <a:gd name="T23" fmla="*/ 809 h 2195"/>
                  <a:gd name="T24" fmla="*/ 56 w 2193"/>
                  <a:gd name="T25" fmla="*/ 628 h 2195"/>
                  <a:gd name="T26" fmla="*/ 366 w 2193"/>
                  <a:gd name="T27" fmla="*/ 319 h 2195"/>
                  <a:gd name="T28" fmla="*/ 125 w 2193"/>
                  <a:gd name="T29" fmla="*/ 148 h 2195"/>
                  <a:gd name="T30" fmla="*/ 366 w 2193"/>
                  <a:gd name="T31" fmla="*/ 0 h 2195"/>
                  <a:gd name="T32" fmla="*/ 680 w 2193"/>
                  <a:gd name="T33" fmla="*/ 148 h 2195"/>
                  <a:gd name="T34" fmla="*/ 934 w 2193"/>
                  <a:gd name="T35" fmla="*/ 319 h 2195"/>
                  <a:gd name="T36" fmla="*/ 680 w 2193"/>
                  <a:gd name="T37" fmla="*/ 628 h 2195"/>
                  <a:gd name="T38" fmla="*/ 1022 w 2193"/>
                  <a:gd name="T39" fmla="*/ 64 h 2195"/>
                  <a:gd name="T40" fmla="*/ 1115 w 2193"/>
                  <a:gd name="T41" fmla="*/ 628 h 2195"/>
                  <a:gd name="T42" fmla="*/ 1244 w 2193"/>
                  <a:gd name="T43" fmla="*/ 809 h 2195"/>
                  <a:gd name="T44" fmla="*/ 546 w 2193"/>
                  <a:gd name="T45" fmla="*/ 1012 h 2195"/>
                  <a:gd name="T46" fmla="*/ 1683 w 2193"/>
                  <a:gd name="T47" fmla="*/ 0 h 2195"/>
                  <a:gd name="T48" fmla="*/ 2183 w 2193"/>
                  <a:gd name="T49" fmla="*/ 115 h 2195"/>
                  <a:gd name="T50" fmla="*/ 2113 w 2193"/>
                  <a:gd name="T51" fmla="*/ 291 h 2195"/>
                  <a:gd name="T52" fmla="*/ 1868 w 2193"/>
                  <a:gd name="T53" fmla="*/ 1427 h 2195"/>
                  <a:gd name="T54" fmla="*/ 1836 w 2193"/>
                  <a:gd name="T55" fmla="*/ 2194 h 2195"/>
                  <a:gd name="T56" fmla="*/ 1535 w 2193"/>
                  <a:gd name="T57" fmla="*/ 2194 h 2195"/>
                  <a:gd name="T58" fmla="*/ 1489 w 2193"/>
                  <a:gd name="T59" fmla="*/ 1445 h 2195"/>
                  <a:gd name="T60" fmla="*/ 1632 w 2193"/>
                  <a:gd name="T61" fmla="*/ 1104 h 2195"/>
                  <a:gd name="T62" fmla="*/ 1771 w 2193"/>
                  <a:gd name="T63" fmla="*/ 291 h 2195"/>
                  <a:gd name="T64" fmla="*/ 1614 w 2193"/>
                  <a:gd name="T65" fmla="*/ 975 h 2195"/>
                  <a:gd name="T66" fmla="*/ 1360 w 2193"/>
                  <a:gd name="T67" fmla="*/ 0 h 2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193" h="2195">
                    <a:moveTo>
                      <a:pt x="546" y="1012"/>
                    </a:moveTo>
                    <a:lnTo>
                      <a:pt x="1244" y="1012"/>
                    </a:lnTo>
                    <a:lnTo>
                      <a:pt x="1244" y="1187"/>
                    </a:lnTo>
                    <a:lnTo>
                      <a:pt x="934" y="1589"/>
                    </a:lnTo>
                    <a:lnTo>
                      <a:pt x="1249" y="1589"/>
                    </a:lnTo>
                    <a:lnTo>
                      <a:pt x="1249" y="1764"/>
                    </a:lnTo>
                    <a:lnTo>
                      <a:pt x="925" y="1764"/>
                    </a:lnTo>
                    <a:lnTo>
                      <a:pt x="925" y="2194"/>
                    </a:lnTo>
                    <a:lnTo>
                      <a:pt x="439" y="2194"/>
                    </a:lnTo>
                    <a:lnTo>
                      <a:pt x="439" y="2032"/>
                    </a:lnTo>
                    <a:lnTo>
                      <a:pt x="597" y="2032"/>
                    </a:lnTo>
                    <a:lnTo>
                      <a:pt x="597" y="1764"/>
                    </a:lnTo>
                    <a:lnTo>
                      <a:pt x="65" y="1764"/>
                    </a:lnTo>
                    <a:lnTo>
                      <a:pt x="65" y="1589"/>
                    </a:lnTo>
                    <a:lnTo>
                      <a:pt x="537" y="1589"/>
                    </a:lnTo>
                    <a:lnTo>
                      <a:pt x="856" y="1187"/>
                    </a:lnTo>
                    <a:lnTo>
                      <a:pt x="453" y="1187"/>
                    </a:lnTo>
                    <a:lnTo>
                      <a:pt x="292" y="1455"/>
                    </a:lnTo>
                    <a:lnTo>
                      <a:pt x="0" y="1455"/>
                    </a:lnTo>
                    <a:lnTo>
                      <a:pt x="167" y="1187"/>
                    </a:lnTo>
                    <a:lnTo>
                      <a:pt x="65" y="1187"/>
                    </a:lnTo>
                    <a:lnTo>
                      <a:pt x="65" y="1012"/>
                    </a:lnTo>
                    <a:lnTo>
                      <a:pt x="255" y="1012"/>
                    </a:lnTo>
                    <a:lnTo>
                      <a:pt x="361" y="809"/>
                    </a:lnTo>
                    <a:lnTo>
                      <a:pt x="56" y="809"/>
                    </a:lnTo>
                    <a:lnTo>
                      <a:pt x="56" y="628"/>
                    </a:lnTo>
                    <a:lnTo>
                      <a:pt x="366" y="628"/>
                    </a:lnTo>
                    <a:lnTo>
                      <a:pt x="366" y="319"/>
                    </a:lnTo>
                    <a:lnTo>
                      <a:pt x="125" y="319"/>
                    </a:lnTo>
                    <a:lnTo>
                      <a:pt x="125" y="148"/>
                    </a:lnTo>
                    <a:lnTo>
                      <a:pt x="366" y="148"/>
                    </a:lnTo>
                    <a:lnTo>
                      <a:pt x="366" y="0"/>
                    </a:lnTo>
                    <a:lnTo>
                      <a:pt x="680" y="0"/>
                    </a:lnTo>
                    <a:lnTo>
                      <a:pt x="680" y="148"/>
                    </a:lnTo>
                    <a:lnTo>
                      <a:pt x="934" y="148"/>
                    </a:lnTo>
                    <a:lnTo>
                      <a:pt x="934" y="319"/>
                    </a:lnTo>
                    <a:lnTo>
                      <a:pt x="680" y="319"/>
                    </a:lnTo>
                    <a:lnTo>
                      <a:pt x="680" y="628"/>
                    </a:lnTo>
                    <a:lnTo>
                      <a:pt x="846" y="628"/>
                    </a:lnTo>
                    <a:lnTo>
                      <a:pt x="1022" y="64"/>
                    </a:lnTo>
                    <a:lnTo>
                      <a:pt x="1272" y="64"/>
                    </a:lnTo>
                    <a:lnTo>
                      <a:pt x="1115" y="628"/>
                    </a:lnTo>
                    <a:lnTo>
                      <a:pt x="1244" y="628"/>
                    </a:lnTo>
                    <a:lnTo>
                      <a:pt x="1244" y="809"/>
                    </a:lnTo>
                    <a:lnTo>
                      <a:pt x="652" y="809"/>
                    </a:lnTo>
                    <a:lnTo>
                      <a:pt x="546" y="1012"/>
                    </a:lnTo>
                    <a:close/>
                    <a:moveTo>
                      <a:pt x="1360" y="0"/>
                    </a:moveTo>
                    <a:lnTo>
                      <a:pt x="1683" y="0"/>
                    </a:lnTo>
                    <a:lnTo>
                      <a:pt x="1679" y="115"/>
                    </a:lnTo>
                    <a:lnTo>
                      <a:pt x="2183" y="115"/>
                    </a:lnTo>
                    <a:lnTo>
                      <a:pt x="2183" y="291"/>
                    </a:lnTo>
                    <a:lnTo>
                      <a:pt x="2113" y="291"/>
                    </a:lnTo>
                    <a:lnTo>
                      <a:pt x="2113" y="739"/>
                    </a:lnTo>
                    <a:lnTo>
                      <a:pt x="1868" y="1427"/>
                    </a:lnTo>
                    <a:lnTo>
                      <a:pt x="2192" y="2194"/>
                    </a:lnTo>
                    <a:lnTo>
                      <a:pt x="1836" y="2194"/>
                    </a:lnTo>
                    <a:lnTo>
                      <a:pt x="1683" y="1834"/>
                    </a:lnTo>
                    <a:lnTo>
                      <a:pt x="1535" y="2194"/>
                    </a:lnTo>
                    <a:lnTo>
                      <a:pt x="1175" y="2194"/>
                    </a:lnTo>
                    <a:lnTo>
                      <a:pt x="1489" y="1445"/>
                    </a:lnTo>
                    <a:lnTo>
                      <a:pt x="1355" y="1104"/>
                    </a:lnTo>
                    <a:lnTo>
                      <a:pt x="1632" y="1104"/>
                    </a:lnTo>
                    <a:lnTo>
                      <a:pt x="1771" y="698"/>
                    </a:lnTo>
                    <a:lnTo>
                      <a:pt x="1771" y="291"/>
                    </a:lnTo>
                    <a:lnTo>
                      <a:pt x="1669" y="291"/>
                    </a:lnTo>
                    <a:lnTo>
                      <a:pt x="1614" y="975"/>
                    </a:lnTo>
                    <a:lnTo>
                      <a:pt x="1281" y="975"/>
                    </a:lnTo>
                    <a:lnTo>
                      <a:pt x="136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520B1655-B78A-3F4A-ADE4-43A6AB3336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4864" y="702500"/>
                <a:ext cx="369000" cy="355874"/>
              </a:xfrm>
              <a:custGeom>
                <a:avLst/>
                <a:gdLst>
                  <a:gd name="T0" fmla="*/ 1447 w 2230"/>
                  <a:gd name="T1" fmla="*/ 1118 h 2150"/>
                  <a:gd name="T2" fmla="*/ 2229 w 2230"/>
                  <a:gd name="T3" fmla="*/ 1405 h 2150"/>
                  <a:gd name="T4" fmla="*/ 1545 w 2230"/>
                  <a:gd name="T5" fmla="*/ 1405 h 2150"/>
                  <a:gd name="T6" fmla="*/ 1078 w 2230"/>
                  <a:gd name="T7" fmla="*/ 1252 h 2150"/>
                  <a:gd name="T8" fmla="*/ 652 w 2230"/>
                  <a:gd name="T9" fmla="*/ 1405 h 2150"/>
                  <a:gd name="T10" fmla="*/ 0 w 2230"/>
                  <a:gd name="T11" fmla="*/ 1405 h 2150"/>
                  <a:gd name="T12" fmla="*/ 726 w 2230"/>
                  <a:gd name="T13" fmla="*/ 1137 h 2150"/>
                  <a:gd name="T14" fmla="*/ 222 w 2230"/>
                  <a:gd name="T15" fmla="*/ 976 h 2150"/>
                  <a:gd name="T16" fmla="*/ 361 w 2230"/>
                  <a:gd name="T17" fmla="*/ 745 h 2150"/>
                  <a:gd name="T18" fmla="*/ 88 w 2230"/>
                  <a:gd name="T19" fmla="*/ 745 h 2150"/>
                  <a:gd name="T20" fmla="*/ 88 w 2230"/>
                  <a:gd name="T21" fmla="*/ 583 h 2150"/>
                  <a:gd name="T22" fmla="*/ 467 w 2230"/>
                  <a:gd name="T23" fmla="*/ 583 h 2150"/>
                  <a:gd name="T24" fmla="*/ 550 w 2230"/>
                  <a:gd name="T25" fmla="*/ 444 h 2150"/>
                  <a:gd name="T26" fmla="*/ 902 w 2230"/>
                  <a:gd name="T27" fmla="*/ 444 h 2150"/>
                  <a:gd name="T28" fmla="*/ 823 w 2230"/>
                  <a:gd name="T29" fmla="*/ 583 h 2150"/>
                  <a:gd name="T30" fmla="*/ 2146 w 2230"/>
                  <a:gd name="T31" fmla="*/ 583 h 2150"/>
                  <a:gd name="T32" fmla="*/ 2146 w 2230"/>
                  <a:gd name="T33" fmla="*/ 745 h 2150"/>
                  <a:gd name="T34" fmla="*/ 1910 w 2230"/>
                  <a:gd name="T35" fmla="*/ 745 h 2150"/>
                  <a:gd name="T36" fmla="*/ 1910 w 2230"/>
                  <a:gd name="T37" fmla="*/ 957 h 2150"/>
                  <a:gd name="T38" fmla="*/ 1447 w 2230"/>
                  <a:gd name="T39" fmla="*/ 1118 h 2150"/>
                  <a:gd name="T40" fmla="*/ 56 w 2230"/>
                  <a:gd name="T41" fmla="*/ 2126 h 2150"/>
                  <a:gd name="T42" fmla="*/ 426 w 2230"/>
                  <a:gd name="T43" fmla="*/ 1733 h 2150"/>
                  <a:gd name="T44" fmla="*/ 819 w 2230"/>
                  <a:gd name="T45" fmla="*/ 1733 h 2150"/>
                  <a:gd name="T46" fmla="*/ 463 w 2230"/>
                  <a:gd name="T47" fmla="*/ 2126 h 2150"/>
                  <a:gd name="T48" fmla="*/ 56 w 2230"/>
                  <a:gd name="T49" fmla="*/ 2126 h 2150"/>
                  <a:gd name="T50" fmla="*/ 1817 w 2230"/>
                  <a:gd name="T51" fmla="*/ 490 h 2150"/>
                  <a:gd name="T52" fmla="*/ 1817 w 2230"/>
                  <a:gd name="T53" fmla="*/ 292 h 2150"/>
                  <a:gd name="T54" fmla="*/ 412 w 2230"/>
                  <a:gd name="T55" fmla="*/ 292 h 2150"/>
                  <a:gd name="T56" fmla="*/ 412 w 2230"/>
                  <a:gd name="T57" fmla="*/ 490 h 2150"/>
                  <a:gd name="T58" fmla="*/ 88 w 2230"/>
                  <a:gd name="T59" fmla="*/ 490 h 2150"/>
                  <a:gd name="T60" fmla="*/ 88 w 2230"/>
                  <a:gd name="T61" fmla="*/ 121 h 2150"/>
                  <a:gd name="T62" fmla="*/ 925 w 2230"/>
                  <a:gd name="T63" fmla="*/ 121 h 2150"/>
                  <a:gd name="T64" fmla="*/ 925 w 2230"/>
                  <a:gd name="T65" fmla="*/ 0 h 2150"/>
                  <a:gd name="T66" fmla="*/ 1290 w 2230"/>
                  <a:gd name="T67" fmla="*/ 0 h 2150"/>
                  <a:gd name="T68" fmla="*/ 1290 w 2230"/>
                  <a:gd name="T69" fmla="*/ 121 h 2150"/>
                  <a:gd name="T70" fmla="*/ 2146 w 2230"/>
                  <a:gd name="T71" fmla="*/ 121 h 2150"/>
                  <a:gd name="T72" fmla="*/ 2146 w 2230"/>
                  <a:gd name="T73" fmla="*/ 490 h 2150"/>
                  <a:gd name="T74" fmla="*/ 1817 w 2230"/>
                  <a:gd name="T75" fmla="*/ 490 h 2150"/>
                  <a:gd name="T76" fmla="*/ 1281 w 2230"/>
                  <a:gd name="T77" fmla="*/ 1368 h 2150"/>
                  <a:gd name="T78" fmla="*/ 1281 w 2230"/>
                  <a:gd name="T79" fmla="*/ 1497 h 2150"/>
                  <a:gd name="T80" fmla="*/ 2146 w 2230"/>
                  <a:gd name="T81" fmla="*/ 1497 h 2150"/>
                  <a:gd name="T82" fmla="*/ 2146 w 2230"/>
                  <a:gd name="T83" fmla="*/ 1668 h 2150"/>
                  <a:gd name="T84" fmla="*/ 1281 w 2230"/>
                  <a:gd name="T85" fmla="*/ 1668 h 2150"/>
                  <a:gd name="T86" fmla="*/ 1281 w 2230"/>
                  <a:gd name="T87" fmla="*/ 2149 h 2150"/>
                  <a:gd name="T88" fmla="*/ 944 w 2230"/>
                  <a:gd name="T89" fmla="*/ 2149 h 2150"/>
                  <a:gd name="T90" fmla="*/ 944 w 2230"/>
                  <a:gd name="T91" fmla="*/ 1668 h 2150"/>
                  <a:gd name="T92" fmla="*/ 88 w 2230"/>
                  <a:gd name="T93" fmla="*/ 1668 h 2150"/>
                  <a:gd name="T94" fmla="*/ 88 w 2230"/>
                  <a:gd name="T95" fmla="*/ 1497 h 2150"/>
                  <a:gd name="T96" fmla="*/ 944 w 2230"/>
                  <a:gd name="T97" fmla="*/ 1497 h 2150"/>
                  <a:gd name="T98" fmla="*/ 944 w 2230"/>
                  <a:gd name="T99" fmla="*/ 1368 h 2150"/>
                  <a:gd name="T100" fmla="*/ 1281 w 2230"/>
                  <a:gd name="T101" fmla="*/ 1368 h 2150"/>
                  <a:gd name="T102" fmla="*/ 1115 w 2230"/>
                  <a:gd name="T103" fmla="*/ 999 h 2150"/>
                  <a:gd name="T104" fmla="*/ 1568 w 2230"/>
                  <a:gd name="T105" fmla="*/ 832 h 2150"/>
                  <a:gd name="T106" fmla="*/ 1568 w 2230"/>
                  <a:gd name="T107" fmla="*/ 745 h 2150"/>
                  <a:gd name="T108" fmla="*/ 726 w 2230"/>
                  <a:gd name="T109" fmla="*/ 745 h 2150"/>
                  <a:gd name="T110" fmla="*/ 675 w 2230"/>
                  <a:gd name="T111" fmla="*/ 837 h 2150"/>
                  <a:gd name="T112" fmla="*/ 1115 w 2230"/>
                  <a:gd name="T113" fmla="*/ 999 h 2150"/>
                  <a:gd name="T114" fmla="*/ 2192 w 2230"/>
                  <a:gd name="T115" fmla="*/ 2126 h 2150"/>
                  <a:gd name="T116" fmla="*/ 1776 w 2230"/>
                  <a:gd name="T117" fmla="*/ 2126 h 2150"/>
                  <a:gd name="T118" fmla="*/ 1420 w 2230"/>
                  <a:gd name="T119" fmla="*/ 1733 h 2150"/>
                  <a:gd name="T120" fmla="*/ 1827 w 2230"/>
                  <a:gd name="T121" fmla="*/ 1733 h 2150"/>
                  <a:gd name="T122" fmla="*/ 2192 w 2230"/>
                  <a:gd name="T123" fmla="*/ 2126 h 2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30" h="2150">
                    <a:moveTo>
                      <a:pt x="1447" y="1118"/>
                    </a:moveTo>
                    <a:lnTo>
                      <a:pt x="2229" y="1405"/>
                    </a:lnTo>
                    <a:lnTo>
                      <a:pt x="1545" y="1405"/>
                    </a:lnTo>
                    <a:lnTo>
                      <a:pt x="1078" y="1252"/>
                    </a:lnTo>
                    <a:lnTo>
                      <a:pt x="652" y="1405"/>
                    </a:lnTo>
                    <a:lnTo>
                      <a:pt x="0" y="1405"/>
                    </a:lnTo>
                    <a:lnTo>
                      <a:pt x="726" y="1137"/>
                    </a:lnTo>
                    <a:lnTo>
                      <a:pt x="222" y="976"/>
                    </a:lnTo>
                    <a:lnTo>
                      <a:pt x="361" y="745"/>
                    </a:lnTo>
                    <a:lnTo>
                      <a:pt x="88" y="745"/>
                    </a:lnTo>
                    <a:lnTo>
                      <a:pt x="88" y="583"/>
                    </a:lnTo>
                    <a:lnTo>
                      <a:pt x="467" y="583"/>
                    </a:lnTo>
                    <a:lnTo>
                      <a:pt x="550" y="444"/>
                    </a:lnTo>
                    <a:lnTo>
                      <a:pt x="902" y="444"/>
                    </a:lnTo>
                    <a:lnTo>
                      <a:pt x="823" y="583"/>
                    </a:lnTo>
                    <a:lnTo>
                      <a:pt x="2146" y="583"/>
                    </a:lnTo>
                    <a:lnTo>
                      <a:pt x="2146" y="745"/>
                    </a:lnTo>
                    <a:lnTo>
                      <a:pt x="1910" y="745"/>
                    </a:lnTo>
                    <a:lnTo>
                      <a:pt x="1910" y="957"/>
                    </a:lnTo>
                    <a:lnTo>
                      <a:pt x="1447" y="1118"/>
                    </a:lnTo>
                    <a:close/>
                    <a:moveTo>
                      <a:pt x="56" y="2126"/>
                    </a:moveTo>
                    <a:lnTo>
                      <a:pt x="426" y="1733"/>
                    </a:lnTo>
                    <a:lnTo>
                      <a:pt x="819" y="1733"/>
                    </a:lnTo>
                    <a:lnTo>
                      <a:pt x="463" y="2126"/>
                    </a:lnTo>
                    <a:lnTo>
                      <a:pt x="56" y="2126"/>
                    </a:lnTo>
                    <a:close/>
                    <a:moveTo>
                      <a:pt x="1817" y="490"/>
                    </a:moveTo>
                    <a:lnTo>
                      <a:pt x="1817" y="292"/>
                    </a:lnTo>
                    <a:lnTo>
                      <a:pt x="412" y="292"/>
                    </a:lnTo>
                    <a:lnTo>
                      <a:pt x="412" y="490"/>
                    </a:lnTo>
                    <a:lnTo>
                      <a:pt x="88" y="490"/>
                    </a:lnTo>
                    <a:lnTo>
                      <a:pt x="88" y="121"/>
                    </a:lnTo>
                    <a:lnTo>
                      <a:pt x="925" y="121"/>
                    </a:lnTo>
                    <a:lnTo>
                      <a:pt x="925" y="0"/>
                    </a:lnTo>
                    <a:lnTo>
                      <a:pt x="1290" y="0"/>
                    </a:lnTo>
                    <a:lnTo>
                      <a:pt x="1290" y="121"/>
                    </a:lnTo>
                    <a:lnTo>
                      <a:pt x="2146" y="121"/>
                    </a:lnTo>
                    <a:lnTo>
                      <a:pt x="2146" y="490"/>
                    </a:lnTo>
                    <a:lnTo>
                      <a:pt x="1817" y="490"/>
                    </a:lnTo>
                    <a:close/>
                    <a:moveTo>
                      <a:pt x="1281" y="1368"/>
                    </a:moveTo>
                    <a:lnTo>
                      <a:pt x="1281" y="1497"/>
                    </a:lnTo>
                    <a:lnTo>
                      <a:pt x="2146" y="1497"/>
                    </a:lnTo>
                    <a:lnTo>
                      <a:pt x="2146" y="1668"/>
                    </a:lnTo>
                    <a:lnTo>
                      <a:pt x="1281" y="1668"/>
                    </a:lnTo>
                    <a:lnTo>
                      <a:pt x="1281" y="2149"/>
                    </a:lnTo>
                    <a:lnTo>
                      <a:pt x="944" y="2149"/>
                    </a:lnTo>
                    <a:lnTo>
                      <a:pt x="944" y="1668"/>
                    </a:lnTo>
                    <a:lnTo>
                      <a:pt x="88" y="1668"/>
                    </a:lnTo>
                    <a:lnTo>
                      <a:pt x="88" y="1497"/>
                    </a:lnTo>
                    <a:lnTo>
                      <a:pt x="944" y="1497"/>
                    </a:lnTo>
                    <a:lnTo>
                      <a:pt x="944" y="1368"/>
                    </a:lnTo>
                    <a:lnTo>
                      <a:pt x="1281" y="1368"/>
                    </a:lnTo>
                    <a:close/>
                    <a:moveTo>
                      <a:pt x="1115" y="999"/>
                    </a:moveTo>
                    <a:lnTo>
                      <a:pt x="1568" y="832"/>
                    </a:lnTo>
                    <a:lnTo>
                      <a:pt x="1568" y="745"/>
                    </a:lnTo>
                    <a:lnTo>
                      <a:pt x="726" y="745"/>
                    </a:lnTo>
                    <a:lnTo>
                      <a:pt x="675" y="837"/>
                    </a:lnTo>
                    <a:lnTo>
                      <a:pt x="1115" y="999"/>
                    </a:lnTo>
                    <a:close/>
                    <a:moveTo>
                      <a:pt x="2192" y="2126"/>
                    </a:moveTo>
                    <a:lnTo>
                      <a:pt x="1776" y="2126"/>
                    </a:lnTo>
                    <a:lnTo>
                      <a:pt x="1420" y="1733"/>
                    </a:lnTo>
                    <a:lnTo>
                      <a:pt x="1827" y="1733"/>
                    </a:lnTo>
                    <a:lnTo>
                      <a:pt x="2192" y="2126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DA1AB818-CE52-9C47-874D-1AE276BE9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8449" y="696666"/>
                <a:ext cx="376293" cy="364625"/>
              </a:xfrm>
              <a:custGeom>
                <a:avLst/>
                <a:gdLst>
                  <a:gd name="T0" fmla="*/ 615 w 2276"/>
                  <a:gd name="T1" fmla="*/ 943 h 2205"/>
                  <a:gd name="T2" fmla="*/ 897 w 2276"/>
                  <a:gd name="T3" fmla="*/ 1145 h 2205"/>
                  <a:gd name="T4" fmla="*/ 897 w 2276"/>
                  <a:gd name="T5" fmla="*/ 1548 h 2205"/>
                  <a:gd name="T6" fmla="*/ 583 w 2276"/>
                  <a:gd name="T7" fmla="*/ 1330 h 2205"/>
                  <a:gd name="T8" fmla="*/ 583 w 2276"/>
                  <a:gd name="T9" fmla="*/ 2204 h 2205"/>
                  <a:gd name="T10" fmla="*/ 241 w 2276"/>
                  <a:gd name="T11" fmla="*/ 2204 h 2205"/>
                  <a:gd name="T12" fmla="*/ 241 w 2276"/>
                  <a:gd name="T13" fmla="*/ 1478 h 2205"/>
                  <a:gd name="T14" fmla="*/ 0 w 2276"/>
                  <a:gd name="T15" fmla="*/ 1478 h 2205"/>
                  <a:gd name="T16" fmla="*/ 435 w 2276"/>
                  <a:gd name="T17" fmla="*/ 439 h 2205"/>
                  <a:gd name="T18" fmla="*/ 93 w 2276"/>
                  <a:gd name="T19" fmla="*/ 439 h 2205"/>
                  <a:gd name="T20" fmla="*/ 93 w 2276"/>
                  <a:gd name="T21" fmla="*/ 264 h 2205"/>
                  <a:gd name="T22" fmla="*/ 306 w 2276"/>
                  <a:gd name="T23" fmla="*/ 264 h 2205"/>
                  <a:gd name="T24" fmla="*/ 306 w 2276"/>
                  <a:gd name="T25" fmla="*/ 0 h 2205"/>
                  <a:gd name="T26" fmla="*/ 680 w 2276"/>
                  <a:gd name="T27" fmla="*/ 0 h 2205"/>
                  <a:gd name="T28" fmla="*/ 680 w 2276"/>
                  <a:gd name="T29" fmla="*/ 264 h 2205"/>
                  <a:gd name="T30" fmla="*/ 819 w 2276"/>
                  <a:gd name="T31" fmla="*/ 264 h 2205"/>
                  <a:gd name="T32" fmla="*/ 819 w 2276"/>
                  <a:gd name="T33" fmla="*/ 439 h 2205"/>
                  <a:gd name="T34" fmla="*/ 615 w 2276"/>
                  <a:gd name="T35" fmla="*/ 943 h 2205"/>
                  <a:gd name="T36" fmla="*/ 888 w 2276"/>
                  <a:gd name="T37" fmla="*/ 726 h 2205"/>
                  <a:gd name="T38" fmla="*/ 888 w 2276"/>
                  <a:gd name="T39" fmla="*/ 550 h 2205"/>
                  <a:gd name="T40" fmla="*/ 1360 w 2276"/>
                  <a:gd name="T41" fmla="*/ 550 h 2205"/>
                  <a:gd name="T42" fmla="*/ 1360 w 2276"/>
                  <a:gd name="T43" fmla="*/ 0 h 2205"/>
                  <a:gd name="T44" fmla="*/ 1702 w 2276"/>
                  <a:gd name="T45" fmla="*/ 0 h 2205"/>
                  <a:gd name="T46" fmla="*/ 1702 w 2276"/>
                  <a:gd name="T47" fmla="*/ 550 h 2205"/>
                  <a:gd name="T48" fmla="*/ 2178 w 2276"/>
                  <a:gd name="T49" fmla="*/ 550 h 2205"/>
                  <a:gd name="T50" fmla="*/ 2178 w 2276"/>
                  <a:gd name="T51" fmla="*/ 726 h 2205"/>
                  <a:gd name="T52" fmla="*/ 1702 w 2276"/>
                  <a:gd name="T53" fmla="*/ 726 h 2205"/>
                  <a:gd name="T54" fmla="*/ 1702 w 2276"/>
                  <a:gd name="T55" fmla="*/ 1996 h 2205"/>
                  <a:gd name="T56" fmla="*/ 2275 w 2276"/>
                  <a:gd name="T57" fmla="*/ 1996 h 2205"/>
                  <a:gd name="T58" fmla="*/ 2275 w 2276"/>
                  <a:gd name="T59" fmla="*/ 2172 h 2205"/>
                  <a:gd name="T60" fmla="*/ 763 w 2276"/>
                  <a:gd name="T61" fmla="*/ 2172 h 2205"/>
                  <a:gd name="T62" fmla="*/ 763 w 2276"/>
                  <a:gd name="T63" fmla="*/ 1996 h 2205"/>
                  <a:gd name="T64" fmla="*/ 1360 w 2276"/>
                  <a:gd name="T65" fmla="*/ 1996 h 2205"/>
                  <a:gd name="T66" fmla="*/ 1360 w 2276"/>
                  <a:gd name="T67" fmla="*/ 726 h 2205"/>
                  <a:gd name="T68" fmla="*/ 888 w 2276"/>
                  <a:gd name="T69" fmla="*/ 726 h 2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276" h="2205">
                    <a:moveTo>
                      <a:pt x="615" y="943"/>
                    </a:moveTo>
                    <a:lnTo>
                      <a:pt x="897" y="1145"/>
                    </a:lnTo>
                    <a:lnTo>
                      <a:pt x="897" y="1548"/>
                    </a:lnTo>
                    <a:lnTo>
                      <a:pt x="583" y="1330"/>
                    </a:lnTo>
                    <a:lnTo>
                      <a:pt x="583" y="2204"/>
                    </a:lnTo>
                    <a:lnTo>
                      <a:pt x="241" y="2204"/>
                    </a:lnTo>
                    <a:lnTo>
                      <a:pt x="241" y="1478"/>
                    </a:lnTo>
                    <a:lnTo>
                      <a:pt x="0" y="1478"/>
                    </a:lnTo>
                    <a:lnTo>
                      <a:pt x="435" y="439"/>
                    </a:lnTo>
                    <a:lnTo>
                      <a:pt x="93" y="439"/>
                    </a:lnTo>
                    <a:lnTo>
                      <a:pt x="93" y="264"/>
                    </a:lnTo>
                    <a:lnTo>
                      <a:pt x="306" y="264"/>
                    </a:lnTo>
                    <a:lnTo>
                      <a:pt x="306" y="0"/>
                    </a:lnTo>
                    <a:lnTo>
                      <a:pt x="680" y="0"/>
                    </a:lnTo>
                    <a:lnTo>
                      <a:pt x="680" y="264"/>
                    </a:lnTo>
                    <a:lnTo>
                      <a:pt x="819" y="264"/>
                    </a:lnTo>
                    <a:lnTo>
                      <a:pt x="819" y="439"/>
                    </a:lnTo>
                    <a:lnTo>
                      <a:pt x="615" y="943"/>
                    </a:lnTo>
                    <a:close/>
                    <a:moveTo>
                      <a:pt x="888" y="726"/>
                    </a:moveTo>
                    <a:lnTo>
                      <a:pt x="888" y="550"/>
                    </a:lnTo>
                    <a:lnTo>
                      <a:pt x="1360" y="550"/>
                    </a:lnTo>
                    <a:lnTo>
                      <a:pt x="1360" y="0"/>
                    </a:lnTo>
                    <a:lnTo>
                      <a:pt x="1702" y="0"/>
                    </a:lnTo>
                    <a:lnTo>
                      <a:pt x="1702" y="550"/>
                    </a:lnTo>
                    <a:lnTo>
                      <a:pt x="2178" y="550"/>
                    </a:lnTo>
                    <a:lnTo>
                      <a:pt x="2178" y="726"/>
                    </a:lnTo>
                    <a:lnTo>
                      <a:pt x="1702" y="726"/>
                    </a:lnTo>
                    <a:lnTo>
                      <a:pt x="1702" y="1996"/>
                    </a:lnTo>
                    <a:lnTo>
                      <a:pt x="2275" y="1996"/>
                    </a:lnTo>
                    <a:lnTo>
                      <a:pt x="2275" y="2172"/>
                    </a:lnTo>
                    <a:lnTo>
                      <a:pt x="763" y="2172"/>
                    </a:lnTo>
                    <a:lnTo>
                      <a:pt x="763" y="1996"/>
                    </a:lnTo>
                    <a:lnTo>
                      <a:pt x="1360" y="1996"/>
                    </a:lnTo>
                    <a:lnTo>
                      <a:pt x="1360" y="726"/>
                    </a:lnTo>
                    <a:lnTo>
                      <a:pt x="888" y="726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3CBC2DBE-EEEF-564D-8484-7063829C5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9226" y="705417"/>
                <a:ext cx="328891" cy="352227"/>
              </a:xfrm>
              <a:custGeom>
                <a:avLst/>
                <a:gdLst>
                  <a:gd name="T0" fmla="*/ 1979 w 1990"/>
                  <a:gd name="T1" fmla="*/ 176 h 2131"/>
                  <a:gd name="T2" fmla="*/ 343 w 1990"/>
                  <a:gd name="T3" fmla="*/ 176 h 2131"/>
                  <a:gd name="T4" fmla="*/ 343 w 1990"/>
                  <a:gd name="T5" fmla="*/ 1954 h 2131"/>
                  <a:gd name="T6" fmla="*/ 1989 w 1990"/>
                  <a:gd name="T7" fmla="*/ 1954 h 2131"/>
                  <a:gd name="T8" fmla="*/ 1989 w 1990"/>
                  <a:gd name="T9" fmla="*/ 2130 h 2131"/>
                  <a:gd name="T10" fmla="*/ 0 w 1990"/>
                  <a:gd name="T11" fmla="*/ 2130 h 2131"/>
                  <a:gd name="T12" fmla="*/ 0 w 1990"/>
                  <a:gd name="T13" fmla="*/ 0 h 2131"/>
                  <a:gd name="T14" fmla="*/ 1979 w 1990"/>
                  <a:gd name="T15" fmla="*/ 0 h 2131"/>
                  <a:gd name="T16" fmla="*/ 1979 w 1990"/>
                  <a:gd name="T17" fmla="*/ 176 h 2131"/>
                  <a:gd name="T18" fmla="*/ 958 w 1990"/>
                  <a:gd name="T19" fmla="*/ 1063 h 2131"/>
                  <a:gd name="T20" fmla="*/ 421 w 1990"/>
                  <a:gd name="T21" fmla="*/ 310 h 2131"/>
                  <a:gd name="T22" fmla="*/ 847 w 1990"/>
                  <a:gd name="T23" fmla="*/ 310 h 2131"/>
                  <a:gd name="T24" fmla="*/ 1166 w 1990"/>
                  <a:gd name="T25" fmla="*/ 763 h 2131"/>
                  <a:gd name="T26" fmla="*/ 1475 w 1990"/>
                  <a:gd name="T27" fmla="*/ 310 h 2131"/>
                  <a:gd name="T28" fmla="*/ 1887 w 1990"/>
                  <a:gd name="T29" fmla="*/ 310 h 2131"/>
                  <a:gd name="T30" fmla="*/ 1378 w 1990"/>
                  <a:gd name="T31" fmla="*/ 1058 h 2131"/>
                  <a:gd name="T32" fmla="*/ 1924 w 1990"/>
                  <a:gd name="T33" fmla="*/ 1829 h 2131"/>
                  <a:gd name="T34" fmla="*/ 1508 w 1990"/>
                  <a:gd name="T35" fmla="*/ 1829 h 2131"/>
                  <a:gd name="T36" fmla="*/ 1175 w 1990"/>
                  <a:gd name="T37" fmla="*/ 1358 h 2131"/>
                  <a:gd name="T38" fmla="*/ 860 w 1990"/>
                  <a:gd name="T39" fmla="*/ 1829 h 2131"/>
                  <a:gd name="T40" fmla="*/ 440 w 1990"/>
                  <a:gd name="T41" fmla="*/ 1829 h 2131"/>
                  <a:gd name="T42" fmla="*/ 958 w 1990"/>
                  <a:gd name="T43" fmla="*/ 1063 h 2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990" h="2131">
                    <a:moveTo>
                      <a:pt x="1979" y="176"/>
                    </a:moveTo>
                    <a:lnTo>
                      <a:pt x="343" y="176"/>
                    </a:lnTo>
                    <a:lnTo>
                      <a:pt x="343" y="1954"/>
                    </a:lnTo>
                    <a:lnTo>
                      <a:pt x="1989" y="1954"/>
                    </a:lnTo>
                    <a:lnTo>
                      <a:pt x="1989" y="2130"/>
                    </a:lnTo>
                    <a:lnTo>
                      <a:pt x="0" y="2130"/>
                    </a:lnTo>
                    <a:lnTo>
                      <a:pt x="0" y="0"/>
                    </a:lnTo>
                    <a:lnTo>
                      <a:pt x="1979" y="0"/>
                    </a:lnTo>
                    <a:lnTo>
                      <a:pt x="1979" y="176"/>
                    </a:lnTo>
                    <a:close/>
                    <a:moveTo>
                      <a:pt x="958" y="1063"/>
                    </a:moveTo>
                    <a:lnTo>
                      <a:pt x="421" y="310"/>
                    </a:lnTo>
                    <a:lnTo>
                      <a:pt x="847" y="310"/>
                    </a:lnTo>
                    <a:lnTo>
                      <a:pt x="1166" y="763"/>
                    </a:lnTo>
                    <a:lnTo>
                      <a:pt x="1475" y="310"/>
                    </a:lnTo>
                    <a:lnTo>
                      <a:pt x="1887" y="310"/>
                    </a:lnTo>
                    <a:lnTo>
                      <a:pt x="1378" y="1058"/>
                    </a:lnTo>
                    <a:lnTo>
                      <a:pt x="1924" y="1829"/>
                    </a:lnTo>
                    <a:lnTo>
                      <a:pt x="1508" y="1829"/>
                    </a:lnTo>
                    <a:lnTo>
                      <a:pt x="1175" y="1358"/>
                    </a:lnTo>
                    <a:lnTo>
                      <a:pt x="860" y="1829"/>
                    </a:lnTo>
                    <a:lnTo>
                      <a:pt x="440" y="1829"/>
                    </a:lnTo>
                    <a:lnTo>
                      <a:pt x="958" y="1063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</p:grpSp>
      </p:grp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E9B9A2A5-908B-3244-B39F-9E6705AE6320}"/>
              </a:ext>
            </a:extLst>
          </p:cNvPr>
          <p:cNvCxnSpPr>
            <a:cxnSpLocks/>
          </p:cNvCxnSpPr>
          <p:nvPr userDrawn="1"/>
        </p:nvCxnSpPr>
        <p:spPr>
          <a:xfrm>
            <a:off x="9705401" y="526774"/>
            <a:ext cx="0" cy="503679"/>
          </a:xfrm>
          <a:prstGeom prst="line">
            <a:avLst/>
          </a:prstGeom>
          <a:ln w="1270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0818B453-CEDC-BA4A-9983-86BF161F6CCA}"/>
              </a:ext>
            </a:extLst>
          </p:cNvPr>
          <p:cNvGrpSpPr/>
          <p:nvPr userDrawn="1"/>
        </p:nvGrpSpPr>
        <p:grpSpPr>
          <a:xfrm>
            <a:off x="10332133" y="426643"/>
            <a:ext cx="927707" cy="369331"/>
            <a:chOff x="1113126" y="809213"/>
            <a:chExt cx="2133357" cy="523762"/>
          </a:xfrm>
          <a:solidFill>
            <a:schemeClr val="bg1">
              <a:lumMod val="75000"/>
            </a:schemeClr>
          </a:solidFill>
        </p:grpSpPr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DAFA7D0A-E7A1-5C48-B099-DF96D6B6DE63}"/>
                </a:ext>
              </a:extLst>
            </p:cNvPr>
            <p:cNvSpPr/>
            <p:nvPr userDrawn="1"/>
          </p:nvSpPr>
          <p:spPr>
            <a:xfrm>
              <a:off x="1113126" y="809213"/>
              <a:ext cx="523762" cy="5237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75839B81-B3A4-5643-94B7-D8D3506763F0}"/>
                </a:ext>
              </a:extLst>
            </p:cNvPr>
            <p:cNvSpPr/>
            <p:nvPr userDrawn="1"/>
          </p:nvSpPr>
          <p:spPr>
            <a:xfrm>
              <a:off x="1649658" y="809213"/>
              <a:ext cx="523762" cy="5237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5772B792-8E6B-4243-BB2D-857BC0580481}"/>
                </a:ext>
              </a:extLst>
            </p:cNvPr>
            <p:cNvSpPr/>
            <p:nvPr userDrawn="1"/>
          </p:nvSpPr>
          <p:spPr>
            <a:xfrm>
              <a:off x="2186190" y="809213"/>
              <a:ext cx="523762" cy="5237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C89D76EF-03E9-1D43-A563-9DC7302C7F5C}"/>
                </a:ext>
              </a:extLst>
            </p:cNvPr>
            <p:cNvSpPr/>
            <p:nvPr userDrawn="1"/>
          </p:nvSpPr>
          <p:spPr>
            <a:xfrm>
              <a:off x="2722721" y="809213"/>
              <a:ext cx="523762" cy="5237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39" name="矩形 38">
            <a:extLst>
              <a:ext uri="{FF2B5EF4-FFF2-40B4-BE49-F238E27FC236}">
                <a16:creationId xmlns:a16="http://schemas.microsoft.com/office/drawing/2014/main" id="{8CFB3674-431C-F94A-8727-C9C98640DFEB}"/>
              </a:ext>
            </a:extLst>
          </p:cNvPr>
          <p:cNvSpPr/>
          <p:nvPr userDrawn="1"/>
        </p:nvSpPr>
        <p:spPr>
          <a:xfrm>
            <a:off x="10245804" y="413133"/>
            <a:ext cx="110799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800" b="1" cap="none" spc="0" dirty="0">
                <a:ln w="22225">
                  <a:noFill/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我的学校</a:t>
            </a: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7BC00378-4A1A-AF4A-9DA5-0E40AABBEE09}"/>
              </a:ext>
            </a:extLst>
          </p:cNvPr>
          <p:cNvGrpSpPr/>
          <p:nvPr userDrawn="1"/>
        </p:nvGrpSpPr>
        <p:grpSpPr>
          <a:xfrm>
            <a:off x="715452" y="646397"/>
            <a:ext cx="403039" cy="321898"/>
            <a:chOff x="1368170" y="664579"/>
            <a:chExt cx="550582" cy="439737"/>
          </a:xfrm>
          <a:solidFill>
            <a:schemeClr val="bg1"/>
          </a:solidFill>
        </p:grpSpPr>
        <p:sp>
          <p:nvSpPr>
            <p:cNvPr id="41" name="Freeform 1">
              <a:extLst>
                <a:ext uri="{FF2B5EF4-FFF2-40B4-BE49-F238E27FC236}">
                  <a16:creationId xmlns:a16="http://schemas.microsoft.com/office/drawing/2014/main" id="{219E963A-769E-B14C-9175-00DF37C8C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1203" y="771778"/>
              <a:ext cx="437549" cy="332538"/>
            </a:xfrm>
            <a:custGeom>
              <a:avLst/>
              <a:gdLst>
                <a:gd name="T0" fmla="*/ 25 w 2647"/>
                <a:gd name="T1" fmla="*/ 1478 h 2011"/>
                <a:gd name="T2" fmla="*/ 525 w 2647"/>
                <a:gd name="T3" fmla="*/ 1865 h 2011"/>
                <a:gd name="T4" fmla="*/ 736 w 2647"/>
                <a:gd name="T5" fmla="*/ 1972 h 2011"/>
                <a:gd name="T6" fmla="*/ 940 w 2647"/>
                <a:gd name="T7" fmla="*/ 2010 h 2011"/>
                <a:gd name="T8" fmla="*/ 1078 w 2647"/>
                <a:gd name="T9" fmla="*/ 1991 h 2011"/>
                <a:gd name="T10" fmla="*/ 1286 w 2647"/>
                <a:gd name="T11" fmla="*/ 1894 h 2011"/>
                <a:gd name="T12" fmla="*/ 1506 w 2647"/>
                <a:gd name="T13" fmla="*/ 1715 h 2011"/>
                <a:gd name="T14" fmla="*/ 1506 w 2647"/>
                <a:gd name="T15" fmla="*/ 1715 h 2011"/>
                <a:gd name="T16" fmla="*/ 2630 w 2647"/>
                <a:gd name="T17" fmla="*/ 624 h 2011"/>
                <a:gd name="T18" fmla="*/ 2646 w 2647"/>
                <a:gd name="T19" fmla="*/ 586 h 2011"/>
                <a:gd name="T20" fmla="*/ 2630 w 2647"/>
                <a:gd name="T21" fmla="*/ 548 h 2011"/>
                <a:gd name="T22" fmla="*/ 2090 w 2647"/>
                <a:gd name="T23" fmla="*/ 21 h 2011"/>
                <a:gd name="T24" fmla="*/ 2016 w 2647"/>
                <a:gd name="T25" fmla="*/ 22 h 2011"/>
                <a:gd name="T26" fmla="*/ 2017 w 2647"/>
                <a:gd name="T27" fmla="*/ 96 h 2011"/>
                <a:gd name="T28" fmla="*/ 2518 w 2647"/>
                <a:gd name="T29" fmla="*/ 586 h 2011"/>
                <a:gd name="T30" fmla="*/ 1433 w 2647"/>
                <a:gd name="T31" fmla="*/ 1639 h 2011"/>
                <a:gd name="T32" fmla="*/ 1433 w 2647"/>
                <a:gd name="T33" fmla="*/ 1639 h 2011"/>
                <a:gd name="T34" fmla="*/ 1167 w 2647"/>
                <a:gd name="T35" fmla="*/ 1843 h 2011"/>
                <a:gd name="T36" fmla="*/ 1051 w 2647"/>
                <a:gd name="T37" fmla="*/ 1889 h 2011"/>
                <a:gd name="T38" fmla="*/ 940 w 2647"/>
                <a:gd name="T39" fmla="*/ 1904 h 2011"/>
                <a:gd name="T40" fmla="*/ 772 w 2647"/>
                <a:gd name="T41" fmla="*/ 1872 h 2011"/>
                <a:gd name="T42" fmla="*/ 474 w 2647"/>
                <a:gd name="T43" fmla="*/ 1704 h 2011"/>
                <a:gd name="T44" fmla="*/ 93 w 2647"/>
                <a:gd name="T45" fmla="*/ 1398 h 2011"/>
                <a:gd name="T46" fmla="*/ 19 w 2647"/>
                <a:gd name="T47" fmla="*/ 1404 h 2011"/>
                <a:gd name="T48" fmla="*/ 25 w 2647"/>
                <a:gd name="T49" fmla="*/ 1478 h 2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47" h="2011">
                  <a:moveTo>
                    <a:pt x="25" y="1478"/>
                  </a:moveTo>
                  <a:cubicBezTo>
                    <a:pt x="219" y="1643"/>
                    <a:pt x="380" y="1773"/>
                    <a:pt x="525" y="1865"/>
                  </a:cubicBezTo>
                  <a:cubicBezTo>
                    <a:pt x="598" y="1911"/>
                    <a:pt x="668" y="1947"/>
                    <a:pt x="736" y="1972"/>
                  </a:cubicBezTo>
                  <a:cubicBezTo>
                    <a:pt x="805" y="1996"/>
                    <a:pt x="872" y="2010"/>
                    <a:pt x="940" y="2010"/>
                  </a:cubicBezTo>
                  <a:cubicBezTo>
                    <a:pt x="986" y="2010"/>
                    <a:pt x="1032" y="2004"/>
                    <a:pt x="1078" y="1991"/>
                  </a:cubicBezTo>
                  <a:cubicBezTo>
                    <a:pt x="1147" y="1973"/>
                    <a:pt x="1216" y="1940"/>
                    <a:pt x="1286" y="1894"/>
                  </a:cubicBezTo>
                  <a:cubicBezTo>
                    <a:pt x="1357" y="1848"/>
                    <a:pt x="1429" y="1789"/>
                    <a:pt x="1506" y="1715"/>
                  </a:cubicBezTo>
                  <a:lnTo>
                    <a:pt x="1506" y="1715"/>
                  </a:lnTo>
                  <a:lnTo>
                    <a:pt x="2630" y="624"/>
                  </a:lnTo>
                  <a:cubicBezTo>
                    <a:pt x="2640" y="614"/>
                    <a:pt x="2646" y="600"/>
                    <a:pt x="2646" y="586"/>
                  </a:cubicBezTo>
                  <a:cubicBezTo>
                    <a:pt x="2646" y="572"/>
                    <a:pt x="2641" y="558"/>
                    <a:pt x="2630" y="548"/>
                  </a:cubicBezTo>
                  <a:lnTo>
                    <a:pt x="2090" y="21"/>
                  </a:lnTo>
                  <a:cubicBezTo>
                    <a:pt x="2069" y="0"/>
                    <a:pt x="2036" y="1"/>
                    <a:pt x="2016" y="22"/>
                  </a:cubicBezTo>
                  <a:cubicBezTo>
                    <a:pt x="1995" y="42"/>
                    <a:pt x="1996" y="76"/>
                    <a:pt x="2017" y="96"/>
                  </a:cubicBezTo>
                  <a:lnTo>
                    <a:pt x="2518" y="586"/>
                  </a:lnTo>
                  <a:lnTo>
                    <a:pt x="1433" y="1639"/>
                  </a:lnTo>
                  <a:lnTo>
                    <a:pt x="1433" y="1639"/>
                  </a:lnTo>
                  <a:cubicBezTo>
                    <a:pt x="1335" y="1733"/>
                    <a:pt x="1247" y="1800"/>
                    <a:pt x="1167" y="1843"/>
                  </a:cubicBezTo>
                  <a:cubicBezTo>
                    <a:pt x="1127" y="1864"/>
                    <a:pt x="1088" y="1879"/>
                    <a:pt x="1051" y="1889"/>
                  </a:cubicBezTo>
                  <a:cubicBezTo>
                    <a:pt x="1013" y="1899"/>
                    <a:pt x="977" y="1904"/>
                    <a:pt x="940" y="1904"/>
                  </a:cubicBezTo>
                  <a:cubicBezTo>
                    <a:pt x="886" y="1904"/>
                    <a:pt x="831" y="1894"/>
                    <a:pt x="772" y="1872"/>
                  </a:cubicBezTo>
                  <a:cubicBezTo>
                    <a:pt x="683" y="1840"/>
                    <a:pt x="586" y="1784"/>
                    <a:pt x="474" y="1704"/>
                  </a:cubicBezTo>
                  <a:cubicBezTo>
                    <a:pt x="363" y="1624"/>
                    <a:pt x="238" y="1521"/>
                    <a:pt x="93" y="1398"/>
                  </a:cubicBezTo>
                  <a:cubicBezTo>
                    <a:pt x="71" y="1379"/>
                    <a:pt x="38" y="1382"/>
                    <a:pt x="19" y="1404"/>
                  </a:cubicBezTo>
                  <a:cubicBezTo>
                    <a:pt x="0" y="1426"/>
                    <a:pt x="3" y="1459"/>
                    <a:pt x="25" y="147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Freeform 2">
              <a:extLst>
                <a:ext uri="{FF2B5EF4-FFF2-40B4-BE49-F238E27FC236}">
                  <a16:creationId xmlns:a16="http://schemas.microsoft.com/office/drawing/2014/main" id="{935EF8B9-88D2-6C42-BF9B-2AD28DBBD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1832" y="868769"/>
              <a:ext cx="356603" cy="190334"/>
            </a:xfrm>
            <a:custGeom>
              <a:avLst/>
              <a:gdLst>
                <a:gd name="T0" fmla="*/ 15 w 2158"/>
                <a:gd name="T1" fmla="*/ 713 h 1152"/>
                <a:gd name="T2" fmla="*/ 432 w 2158"/>
                <a:gd name="T3" fmla="*/ 1033 h 1152"/>
                <a:gd name="T4" fmla="*/ 605 w 2158"/>
                <a:gd name="T5" fmla="*/ 1120 h 1152"/>
                <a:gd name="T6" fmla="*/ 771 w 2158"/>
                <a:gd name="T7" fmla="*/ 1151 h 1152"/>
                <a:gd name="T8" fmla="*/ 896 w 2158"/>
                <a:gd name="T9" fmla="*/ 1132 h 1152"/>
                <a:gd name="T10" fmla="*/ 1089 w 2158"/>
                <a:gd name="T11" fmla="*/ 1036 h 1152"/>
                <a:gd name="T12" fmla="*/ 1305 w 2158"/>
                <a:gd name="T13" fmla="*/ 856 h 1152"/>
                <a:gd name="T14" fmla="*/ 1305 w 2158"/>
                <a:gd name="T15" fmla="*/ 856 h 1152"/>
                <a:gd name="T16" fmla="*/ 2144 w 2158"/>
                <a:gd name="T17" fmla="*/ 57 h 1152"/>
                <a:gd name="T18" fmla="*/ 2145 w 2158"/>
                <a:gd name="T19" fmla="*/ 13 h 1152"/>
                <a:gd name="T20" fmla="*/ 2100 w 2158"/>
                <a:gd name="T21" fmla="*/ 12 h 1152"/>
                <a:gd name="T22" fmla="*/ 1262 w 2158"/>
                <a:gd name="T23" fmla="*/ 811 h 1152"/>
                <a:gd name="T24" fmla="*/ 1262 w 2158"/>
                <a:gd name="T25" fmla="*/ 811 h 1152"/>
                <a:gd name="T26" fmla="*/ 993 w 2158"/>
                <a:gd name="T27" fmla="*/ 1023 h 1152"/>
                <a:gd name="T28" fmla="*/ 878 w 2158"/>
                <a:gd name="T29" fmla="*/ 1072 h 1152"/>
                <a:gd name="T30" fmla="*/ 771 w 2158"/>
                <a:gd name="T31" fmla="*/ 1088 h 1152"/>
                <a:gd name="T32" fmla="*/ 626 w 2158"/>
                <a:gd name="T33" fmla="*/ 1061 h 1152"/>
                <a:gd name="T34" fmla="*/ 376 w 2158"/>
                <a:gd name="T35" fmla="*/ 920 h 1152"/>
                <a:gd name="T36" fmla="*/ 55 w 2158"/>
                <a:gd name="T37" fmla="*/ 665 h 1152"/>
                <a:gd name="T38" fmla="*/ 11 w 2158"/>
                <a:gd name="T39" fmla="*/ 669 h 1152"/>
                <a:gd name="T40" fmla="*/ 15 w 2158"/>
                <a:gd name="T41" fmla="*/ 713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15" y="713"/>
                  </a:moveTo>
                  <a:cubicBezTo>
                    <a:pt x="179" y="850"/>
                    <a:pt x="312" y="958"/>
                    <a:pt x="432" y="1033"/>
                  </a:cubicBezTo>
                  <a:cubicBezTo>
                    <a:pt x="492" y="1071"/>
                    <a:pt x="549" y="1100"/>
                    <a:pt x="605" y="1120"/>
                  </a:cubicBezTo>
                  <a:cubicBezTo>
                    <a:pt x="661" y="1140"/>
                    <a:pt x="716" y="1151"/>
                    <a:pt x="771" y="1151"/>
                  </a:cubicBezTo>
                  <a:cubicBezTo>
                    <a:pt x="812" y="1151"/>
                    <a:pt x="854" y="1145"/>
                    <a:pt x="896" y="1132"/>
                  </a:cubicBezTo>
                  <a:cubicBezTo>
                    <a:pt x="959" y="1114"/>
                    <a:pt x="1022" y="1082"/>
                    <a:pt x="1089" y="1036"/>
                  </a:cubicBezTo>
                  <a:cubicBezTo>
                    <a:pt x="1156" y="990"/>
                    <a:pt x="1227" y="931"/>
                    <a:pt x="1305" y="856"/>
                  </a:cubicBezTo>
                  <a:lnTo>
                    <a:pt x="1305" y="856"/>
                  </a:lnTo>
                  <a:lnTo>
                    <a:pt x="2144" y="57"/>
                  </a:lnTo>
                  <a:cubicBezTo>
                    <a:pt x="2156" y="45"/>
                    <a:pt x="2157" y="25"/>
                    <a:pt x="2145" y="13"/>
                  </a:cubicBezTo>
                  <a:cubicBezTo>
                    <a:pt x="2133" y="0"/>
                    <a:pt x="2113" y="0"/>
                    <a:pt x="2100" y="12"/>
                  </a:cubicBezTo>
                  <a:lnTo>
                    <a:pt x="1262" y="811"/>
                  </a:lnTo>
                  <a:lnTo>
                    <a:pt x="1262" y="811"/>
                  </a:lnTo>
                  <a:cubicBezTo>
                    <a:pt x="1160" y="908"/>
                    <a:pt x="1072" y="978"/>
                    <a:pt x="993" y="1023"/>
                  </a:cubicBezTo>
                  <a:cubicBezTo>
                    <a:pt x="953" y="1045"/>
                    <a:pt x="915" y="1062"/>
                    <a:pt x="878" y="1072"/>
                  </a:cubicBezTo>
                  <a:cubicBezTo>
                    <a:pt x="842" y="1083"/>
                    <a:pt x="806" y="1088"/>
                    <a:pt x="771" y="1088"/>
                  </a:cubicBezTo>
                  <a:cubicBezTo>
                    <a:pt x="724" y="1088"/>
                    <a:pt x="677" y="1079"/>
                    <a:pt x="626" y="1061"/>
                  </a:cubicBezTo>
                  <a:cubicBezTo>
                    <a:pt x="551" y="1034"/>
                    <a:pt x="469" y="987"/>
                    <a:pt x="376" y="920"/>
                  </a:cubicBezTo>
                  <a:cubicBezTo>
                    <a:pt x="282" y="853"/>
                    <a:pt x="177" y="767"/>
                    <a:pt x="55" y="665"/>
                  </a:cubicBezTo>
                  <a:cubicBezTo>
                    <a:pt x="42" y="654"/>
                    <a:pt x="22" y="656"/>
                    <a:pt x="11" y="669"/>
                  </a:cubicBezTo>
                  <a:cubicBezTo>
                    <a:pt x="0" y="682"/>
                    <a:pt x="1" y="702"/>
                    <a:pt x="15" y="71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Freeform 3">
              <a:extLst>
                <a:ext uri="{FF2B5EF4-FFF2-40B4-BE49-F238E27FC236}">
                  <a16:creationId xmlns:a16="http://schemas.microsoft.com/office/drawing/2014/main" id="{10E28FF9-5CED-394E-AF38-301649539D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0273" y="847620"/>
              <a:ext cx="304826" cy="169186"/>
            </a:xfrm>
            <a:custGeom>
              <a:avLst/>
              <a:gdLst>
                <a:gd name="T0" fmla="*/ 12 w 1845"/>
                <a:gd name="T1" fmla="*/ 672 h 1022"/>
                <a:gd name="T2" fmla="*/ 350 w 1845"/>
                <a:gd name="T3" fmla="*/ 928 h 1022"/>
                <a:gd name="T4" fmla="*/ 488 w 1845"/>
                <a:gd name="T5" fmla="*/ 997 h 1022"/>
                <a:gd name="T6" fmla="*/ 620 w 1845"/>
                <a:gd name="T7" fmla="*/ 1021 h 1022"/>
                <a:gd name="T8" fmla="*/ 734 w 1845"/>
                <a:gd name="T9" fmla="*/ 1003 h 1022"/>
                <a:gd name="T10" fmla="*/ 915 w 1845"/>
                <a:gd name="T11" fmla="*/ 905 h 1022"/>
                <a:gd name="T12" fmla="*/ 1129 w 1845"/>
                <a:gd name="T13" fmla="*/ 720 h 1022"/>
                <a:gd name="T14" fmla="*/ 1129 w 1845"/>
                <a:gd name="T15" fmla="*/ 720 h 1022"/>
                <a:gd name="T16" fmla="*/ 1834 w 1845"/>
                <a:gd name="T17" fmla="*/ 42 h 1022"/>
                <a:gd name="T18" fmla="*/ 1835 w 1845"/>
                <a:gd name="T19" fmla="*/ 10 h 1022"/>
                <a:gd name="T20" fmla="*/ 1802 w 1845"/>
                <a:gd name="T21" fmla="*/ 9 h 1022"/>
                <a:gd name="T22" fmla="*/ 1097 w 1845"/>
                <a:gd name="T23" fmla="*/ 687 h 1022"/>
                <a:gd name="T24" fmla="*/ 1097 w 1845"/>
                <a:gd name="T25" fmla="*/ 687 h 1022"/>
                <a:gd name="T26" fmla="*/ 828 w 1845"/>
                <a:gd name="T27" fmla="*/ 907 h 1022"/>
                <a:gd name="T28" fmla="*/ 720 w 1845"/>
                <a:gd name="T29" fmla="*/ 959 h 1022"/>
                <a:gd name="T30" fmla="*/ 620 w 1845"/>
                <a:gd name="T31" fmla="*/ 975 h 1022"/>
                <a:gd name="T32" fmla="*/ 504 w 1845"/>
                <a:gd name="T33" fmla="*/ 954 h 1022"/>
                <a:gd name="T34" fmla="*/ 302 w 1845"/>
                <a:gd name="T35" fmla="*/ 841 h 1022"/>
                <a:gd name="T36" fmla="*/ 41 w 1845"/>
                <a:gd name="T37" fmla="*/ 636 h 1022"/>
                <a:gd name="T38" fmla="*/ 9 w 1845"/>
                <a:gd name="T39" fmla="*/ 640 h 1022"/>
                <a:gd name="T40" fmla="*/ 12 w 1845"/>
                <a:gd name="T41" fmla="*/ 672 h 10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5" h="1022">
                  <a:moveTo>
                    <a:pt x="12" y="672"/>
                  </a:moveTo>
                  <a:cubicBezTo>
                    <a:pt x="146" y="782"/>
                    <a:pt x="254" y="868"/>
                    <a:pt x="350" y="928"/>
                  </a:cubicBezTo>
                  <a:cubicBezTo>
                    <a:pt x="398" y="958"/>
                    <a:pt x="444" y="981"/>
                    <a:pt x="488" y="997"/>
                  </a:cubicBezTo>
                  <a:cubicBezTo>
                    <a:pt x="533" y="1013"/>
                    <a:pt x="576" y="1021"/>
                    <a:pt x="620" y="1021"/>
                  </a:cubicBezTo>
                  <a:cubicBezTo>
                    <a:pt x="658" y="1021"/>
                    <a:pt x="695" y="1015"/>
                    <a:pt x="734" y="1003"/>
                  </a:cubicBezTo>
                  <a:cubicBezTo>
                    <a:pt x="791" y="984"/>
                    <a:pt x="850" y="952"/>
                    <a:pt x="915" y="905"/>
                  </a:cubicBezTo>
                  <a:cubicBezTo>
                    <a:pt x="980" y="858"/>
                    <a:pt x="1050" y="797"/>
                    <a:pt x="1129" y="720"/>
                  </a:cubicBezTo>
                  <a:lnTo>
                    <a:pt x="1129" y="720"/>
                  </a:lnTo>
                  <a:lnTo>
                    <a:pt x="1834" y="42"/>
                  </a:lnTo>
                  <a:cubicBezTo>
                    <a:pt x="1843" y="34"/>
                    <a:pt x="1844" y="19"/>
                    <a:pt x="1835" y="10"/>
                  </a:cubicBezTo>
                  <a:cubicBezTo>
                    <a:pt x="1826" y="1"/>
                    <a:pt x="1811" y="0"/>
                    <a:pt x="1802" y="9"/>
                  </a:cubicBezTo>
                  <a:lnTo>
                    <a:pt x="1097" y="687"/>
                  </a:lnTo>
                  <a:lnTo>
                    <a:pt x="1097" y="687"/>
                  </a:lnTo>
                  <a:cubicBezTo>
                    <a:pt x="992" y="788"/>
                    <a:pt x="905" y="861"/>
                    <a:pt x="828" y="907"/>
                  </a:cubicBezTo>
                  <a:cubicBezTo>
                    <a:pt x="790" y="931"/>
                    <a:pt x="754" y="948"/>
                    <a:pt x="720" y="959"/>
                  </a:cubicBezTo>
                  <a:cubicBezTo>
                    <a:pt x="685" y="970"/>
                    <a:pt x="653" y="975"/>
                    <a:pt x="620" y="975"/>
                  </a:cubicBezTo>
                  <a:cubicBezTo>
                    <a:pt x="582" y="975"/>
                    <a:pt x="544" y="968"/>
                    <a:pt x="504" y="954"/>
                  </a:cubicBezTo>
                  <a:cubicBezTo>
                    <a:pt x="443" y="932"/>
                    <a:pt x="378" y="894"/>
                    <a:pt x="302" y="841"/>
                  </a:cubicBezTo>
                  <a:cubicBezTo>
                    <a:pt x="227" y="787"/>
                    <a:pt x="141" y="718"/>
                    <a:pt x="41" y="636"/>
                  </a:cubicBezTo>
                  <a:cubicBezTo>
                    <a:pt x="31" y="628"/>
                    <a:pt x="17" y="630"/>
                    <a:pt x="9" y="640"/>
                  </a:cubicBezTo>
                  <a:cubicBezTo>
                    <a:pt x="0" y="649"/>
                    <a:pt x="2" y="664"/>
                    <a:pt x="12" y="67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Freeform 4">
              <a:extLst>
                <a:ext uri="{FF2B5EF4-FFF2-40B4-BE49-F238E27FC236}">
                  <a16:creationId xmlns:a16="http://schemas.microsoft.com/office/drawing/2014/main" id="{6E5EA531-DEFC-144D-8545-1DECEBA97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8713" y="826472"/>
              <a:ext cx="253050" cy="148037"/>
            </a:xfrm>
            <a:custGeom>
              <a:avLst/>
              <a:gdLst>
                <a:gd name="T0" fmla="*/ 8 w 1531"/>
                <a:gd name="T1" fmla="*/ 630 h 895"/>
                <a:gd name="T2" fmla="*/ 269 w 1531"/>
                <a:gd name="T3" fmla="*/ 824 h 895"/>
                <a:gd name="T4" fmla="*/ 374 w 1531"/>
                <a:gd name="T5" fmla="*/ 876 h 895"/>
                <a:gd name="T6" fmla="*/ 473 w 1531"/>
                <a:gd name="T7" fmla="*/ 894 h 895"/>
                <a:gd name="T8" fmla="*/ 573 w 1531"/>
                <a:gd name="T9" fmla="*/ 875 h 895"/>
                <a:gd name="T10" fmla="*/ 739 w 1531"/>
                <a:gd name="T11" fmla="*/ 775 h 895"/>
                <a:gd name="T12" fmla="*/ 953 w 1531"/>
                <a:gd name="T13" fmla="*/ 584 h 895"/>
                <a:gd name="T14" fmla="*/ 953 w 1531"/>
                <a:gd name="T15" fmla="*/ 584 h 895"/>
                <a:gd name="T16" fmla="*/ 1524 w 1531"/>
                <a:gd name="T17" fmla="*/ 27 h 895"/>
                <a:gd name="T18" fmla="*/ 1524 w 1531"/>
                <a:gd name="T19" fmla="*/ 6 h 895"/>
                <a:gd name="T20" fmla="*/ 1503 w 1531"/>
                <a:gd name="T21" fmla="*/ 6 h 895"/>
                <a:gd name="T22" fmla="*/ 932 w 1531"/>
                <a:gd name="T23" fmla="*/ 563 h 895"/>
                <a:gd name="T24" fmla="*/ 932 w 1531"/>
                <a:gd name="T25" fmla="*/ 563 h 895"/>
                <a:gd name="T26" fmla="*/ 663 w 1531"/>
                <a:gd name="T27" fmla="*/ 793 h 895"/>
                <a:gd name="T28" fmla="*/ 562 w 1531"/>
                <a:gd name="T29" fmla="*/ 847 h 895"/>
                <a:gd name="T30" fmla="*/ 473 w 1531"/>
                <a:gd name="T31" fmla="*/ 865 h 895"/>
                <a:gd name="T32" fmla="*/ 384 w 1531"/>
                <a:gd name="T33" fmla="*/ 848 h 895"/>
                <a:gd name="T34" fmla="*/ 229 w 1531"/>
                <a:gd name="T35" fmla="*/ 762 h 895"/>
                <a:gd name="T36" fmla="*/ 26 w 1531"/>
                <a:gd name="T37" fmla="*/ 607 h 895"/>
                <a:gd name="T38" fmla="*/ 5 w 1531"/>
                <a:gd name="T39" fmla="*/ 609 h 895"/>
                <a:gd name="T40" fmla="*/ 8 w 1531"/>
                <a:gd name="T41" fmla="*/ 630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1" h="895">
                  <a:moveTo>
                    <a:pt x="8" y="630"/>
                  </a:moveTo>
                  <a:cubicBezTo>
                    <a:pt x="113" y="714"/>
                    <a:pt x="196" y="779"/>
                    <a:pt x="269" y="824"/>
                  </a:cubicBezTo>
                  <a:cubicBezTo>
                    <a:pt x="306" y="847"/>
                    <a:pt x="340" y="864"/>
                    <a:pt x="374" y="876"/>
                  </a:cubicBezTo>
                  <a:cubicBezTo>
                    <a:pt x="407" y="888"/>
                    <a:pt x="440" y="894"/>
                    <a:pt x="473" y="894"/>
                  </a:cubicBezTo>
                  <a:cubicBezTo>
                    <a:pt x="506" y="894"/>
                    <a:pt x="539" y="888"/>
                    <a:pt x="573" y="875"/>
                  </a:cubicBezTo>
                  <a:cubicBezTo>
                    <a:pt x="624" y="856"/>
                    <a:pt x="678" y="823"/>
                    <a:pt x="739" y="775"/>
                  </a:cubicBezTo>
                  <a:cubicBezTo>
                    <a:pt x="801" y="727"/>
                    <a:pt x="870" y="663"/>
                    <a:pt x="953" y="584"/>
                  </a:cubicBezTo>
                  <a:lnTo>
                    <a:pt x="953" y="584"/>
                  </a:lnTo>
                  <a:lnTo>
                    <a:pt x="1524" y="27"/>
                  </a:lnTo>
                  <a:cubicBezTo>
                    <a:pt x="1529" y="21"/>
                    <a:pt x="1530" y="12"/>
                    <a:pt x="1524" y="6"/>
                  </a:cubicBezTo>
                  <a:cubicBezTo>
                    <a:pt x="1518" y="0"/>
                    <a:pt x="1509" y="0"/>
                    <a:pt x="1503" y="6"/>
                  </a:cubicBezTo>
                  <a:lnTo>
                    <a:pt x="932" y="563"/>
                  </a:lnTo>
                  <a:lnTo>
                    <a:pt x="932" y="563"/>
                  </a:lnTo>
                  <a:cubicBezTo>
                    <a:pt x="823" y="668"/>
                    <a:pt x="737" y="744"/>
                    <a:pt x="663" y="793"/>
                  </a:cubicBezTo>
                  <a:cubicBezTo>
                    <a:pt x="627" y="818"/>
                    <a:pt x="594" y="836"/>
                    <a:pt x="562" y="847"/>
                  </a:cubicBezTo>
                  <a:cubicBezTo>
                    <a:pt x="531" y="859"/>
                    <a:pt x="502" y="865"/>
                    <a:pt x="473" y="865"/>
                  </a:cubicBezTo>
                  <a:cubicBezTo>
                    <a:pt x="444" y="865"/>
                    <a:pt x="415" y="859"/>
                    <a:pt x="384" y="848"/>
                  </a:cubicBezTo>
                  <a:cubicBezTo>
                    <a:pt x="338" y="832"/>
                    <a:pt x="288" y="803"/>
                    <a:pt x="229" y="762"/>
                  </a:cubicBezTo>
                  <a:cubicBezTo>
                    <a:pt x="171" y="722"/>
                    <a:pt x="105" y="669"/>
                    <a:pt x="26" y="607"/>
                  </a:cubicBezTo>
                  <a:cubicBezTo>
                    <a:pt x="20" y="602"/>
                    <a:pt x="10" y="603"/>
                    <a:pt x="5" y="609"/>
                  </a:cubicBezTo>
                  <a:cubicBezTo>
                    <a:pt x="0" y="615"/>
                    <a:pt x="1" y="625"/>
                    <a:pt x="8" y="63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id="{F39A9FAC-3BBF-CD45-BC62-06EF846D77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6425" y="805324"/>
              <a:ext cx="201273" cy="127619"/>
            </a:xfrm>
            <a:custGeom>
              <a:avLst/>
              <a:gdLst>
                <a:gd name="T0" fmla="*/ 4 w 1217"/>
                <a:gd name="T1" fmla="*/ 588 h 773"/>
                <a:gd name="T2" fmla="*/ 193 w 1217"/>
                <a:gd name="T3" fmla="*/ 724 h 773"/>
                <a:gd name="T4" fmla="*/ 332 w 1217"/>
                <a:gd name="T5" fmla="*/ 772 h 773"/>
                <a:gd name="T6" fmla="*/ 415 w 1217"/>
                <a:gd name="T7" fmla="*/ 752 h 773"/>
                <a:gd name="T8" fmla="*/ 563 w 1217"/>
                <a:gd name="T9" fmla="*/ 648 h 773"/>
                <a:gd name="T10" fmla="*/ 776 w 1217"/>
                <a:gd name="T11" fmla="*/ 448 h 773"/>
                <a:gd name="T12" fmla="*/ 776 w 1217"/>
                <a:gd name="T13" fmla="*/ 448 h 773"/>
                <a:gd name="T14" fmla="*/ 1213 w 1217"/>
                <a:gd name="T15" fmla="*/ 12 h 773"/>
                <a:gd name="T16" fmla="*/ 1213 w 1217"/>
                <a:gd name="T17" fmla="*/ 2 h 773"/>
                <a:gd name="T18" fmla="*/ 1204 w 1217"/>
                <a:gd name="T19" fmla="*/ 2 h 773"/>
                <a:gd name="T20" fmla="*/ 767 w 1217"/>
                <a:gd name="T21" fmla="*/ 439 h 773"/>
                <a:gd name="T22" fmla="*/ 500 w 1217"/>
                <a:gd name="T23" fmla="*/ 682 h 773"/>
                <a:gd name="T24" fmla="*/ 410 w 1217"/>
                <a:gd name="T25" fmla="*/ 740 h 773"/>
                <a:gd name="T26" fmla="*/ 332 w 1217"/>
                <a:gd name="T27" fmla="*/ 759 h 773"/>
                <a:gd name="T28" fmla="*/ 199 w 1217"/>
                <a:gd name="T29" fmla="*/ 712 h 773"/>
                <a:gd name="T30" fmla="*/ 12 w 1217"/>
                <a:gd name="T31" fmla="*/ 577 h 773"/>
                <a:gd name="T32" fmla="*/ 2 w 1217"/>
                <a:gd name="T33" fmla="*/ 578 h 773"/>
                <a:gd name="T34" fmla="*/ 4 w 1217"/>
                <a:gd name="T35" fmla="*/ 588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4" y="588"/>
                  </a:moveTo>
                  <a:cubicBezTo>
                    <a:pt x="81" y="647"/>
                    <a:pt x="141" y="692"/>
                    <a:pt x="193" y="724"/>
                  </a:cubicBezTo>
                  <a:cubicBezTo>
                    <a:pt x="244" y="755"/>
                    <a:pt x="288" y="772"/>
                    <a:pt x="332" y="772"/>
                  </a:cubicBezTo>
                  <a:cubicBezTo>
                    <a:pt x="359" y="772"/>
                    <a:pt x="386" y="765"/>
                    <a:pt x="415" y="752"/>
                  </a:cubicBezTo>
                  <a:cubicBezTo>
                    <a:pt x="458" y="733"/>
                    <a:pt x="505" y="698"/>
                    <a:pt x="563" y="648"/>
                  </a:cubicBezTo>
                  <a:cubicBezTo>
                    <a:pt x="620" y="597"/>
                    <a:pt x="689" y="531"/>
                    <a:pt x="776" y="448"/>
                  </a:cubicBezTo>
                  <a:lnTo>
                    <a:pt x="776" y="448"/>
                  </a:lnTo>
                  <a:lnTo>
                    <a:pt x="1213" y="12"/>
                  </a:lnTo>
                  <a:cubicBezTo>
                    <a:pt x="1216" y="9"/>
                    <a:pt x="1216" y="5"/>
                    <a:pt x="1213" y="2"/>
                  </a:cubicBezTo>
                  <a:cubicBezTo>
                    <a:pt x="1210" y="0"/>
                    <a:pt x="1206" y="0"/>
                    <a:pt x="1204" y="2"/>
                  </a:cubicBezTo>
                  <a:lnTo>
                    <a:pt x="767" y="439"/>
                  </a:lnTo>
                  <a:cubicBezTo>
                    <a:pt x="651" y="549"/>
                    <a:pt x="568" y="630"/>
                    <a:pt x="500" y="682"/>
                  </a:cubicBezTo>
                  <a:cubicBezTo>
                    <a:pt x="466" y="709"/>
                    <a:pt x="437" y="728"/>
                    <a:pt x="410" y="740"/>
                  </a:cubicBezTo>
                  <a:cubicBezTo>
                    <a:pt x="382" y="753"/>
                    <a:pt x="357" y="759"/>
                    <a:pt x="332" y="759"/>
                  </a:cubicBezTo>
                  <a:cubicBezTo>
                    <a:pt x="291" y="759"/>
                    <a:pt x="250" y="743"/>
                    <a:pt x="199" y="712"/>
                  </a:cubicBezTo>
                  <a:cubicBezTo>
                    <a:pt x="149" y="682"/>
                    <a:pt x="89" y="636"/>
                    <a:pt x="12" y="577"/>
                  </a:cubicBezTo>
                  <a:cubicBezTo>
                    <a:pt x="9" y="575"/>
                    <a:pt x="4" y="575"/>
                    <a:pt x="2" y="578"/>
                  </a:cubicBezTo>
                  <a:cubicBezTo>
                    <a:pt x="0" y="581"/>
                    <a:pt x="1" y="585"/>
                    <a:pt x="4" y="58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Freeform 6">
              <a:extLst>
                <a:ext uri="{FF2B5EF4-FFF2-40B4-BE49-F238E27FC236}">
                  <a16:creationId xmlns:a16="http://schemas.microsoft.com/office/drawing/2014/main" id="{4A2E4B78-1C39-A943-B2AE-B76B55EBA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8170" y="664579"/>
              <a:ext cx="439737" cy="330350"/>
            </a:xfrm>
            <a:custGeom>
              <a:avLst/>
              <a:gdLst>
                <a:gd name="T0" fmla="*/ 2631 w 2657"/>
                <a:gd name="T1" fmla="*/ 532 h 1998"/>
                <a:gd name="T2" fmla="*/ 2130 w 2657"/>
                <a:gd name="T3" fmla="*/ 145 h 1998"/>
                <a:gd name="T4" fmla="*/ 1920 w 2657"/>
                <a:gd name="T5" fmla="*/ 38 h 1998"/>
                <a:gd name="T6" fmla="*/ 1715 w 2657"/>
                <a:gd name="T7" fmla="*/ 0 h 1998"/>
                <a:gd name="T8" fmla="*/ 1578 w 2657"/>
                <a:gd name="T9" fmla="*/ 19 h 1998"/>
                <a:gd name="T10" fmla="*/ 1370 w 2657"/>
                <a:gd name="T11" fmla="*/ 116 h 1998"/>
                <a:gd name="T12" fmla="*/ 1150 w 2657"/>
                <a:gd name="T13" fmla="*/ 295 h 1998"/>
                <a:gd name="T14" fmla="*/ 1150 w 2657"/>
                <a:gd name="T15" fmla="*/ 295 h 1998"/>
                <a:gd name="T16" fmla="*/ 16 w 2657"/>
                <a:gd name="T17" fmla="*/ 1368 h 1998"/>
                <a:gd name="T18" fmla="*/ 0 w 2657"/>
                <a:gd name="T19" fmla="*/ 1406 h 1998"/>
                <a:gd name="T20" fmla="*/ 16 w 2657"/>
                <a:gd name="T21" fmla="*/ 1444 h 1998"/>
                <a:gd name="T22" fmla="*/ 566 w 2657"/>
                <a:gd name="T23" fmla="*/ 1977 h 1998"/>
                <a:gd name="T24" fmla="*/ 640 w 2657"/>
                <a:gd name="T25" fmla="*/ 1976 h 1998"/>
                <a:gd name="T26" fmla="*/ 639 w 2657"/>
                <a:gd name="T27" fmla="*/ 1901 h 1998"/>
                <a:gd name="T28" fmla="*/ 129 w 2657"/>
                <a:gd name="T29" fmla="*/ 1406 h 1998"/>
                <a:gd name="T30" fmla="*/ 1223 w 2657"/>
                <a:gd name="T31" fmla="*/ 371 h 1998"/>
                <a:gd name="T32" fmla="*/ 1223 w 2657"/>
                <a:gd name="T33" fmla="*/ 371 h 1998"/>
                <a:gd name="T34" fmla="*/ 1489 w 2657"/>
                <a:gd name="T35" fmla="*/ 167 h 1998"/>
                <a:gd name="T36" fmla="*/ 1605 w 2657"/>
                <a:gd name="T37" fmla="*/ 121 h 1998"/>
                <a:gd name="T38" fmla="*/ 1715 w 2657"/>
                <a:gd name="T39" fmla="*/ 106 h 1998"/>
                <a:gd name="T40" fmla="*/ 1884 w 2657"/>
                <a:gd name="T41" fmla="*/ 138 h 1998"/>
                <a:gd name="T42" fmla="*/ 2181 w 2657"/>
                <a:gd name="T43" fmla="*/ 306 h 1998"/>
                <a:gd name="T44" fmla="*/ 2562 w 2657"/>
                <a:gd name="T45" fmla="*/ 612 h 1998"/>
                <a:gd name="T46" fmla="*/ 2637 w 2657"/>
                <a:gd name="T47" fmla="*/ 606 h 1998"/>
                <a:gd name="T48" fmla="*/ 2631 w 2657"/>
                <a:gd name="T49" fmla="*/ 532 h 1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57" h="1998">
                  <a:moveTo>
                    <a:pt x="2631" y="532"/>
                  </a:moveTo>
                  <a:cubicBezTo>
                    <a:pt x="2437" y="367"/>
                    <a:pt x="2276" y="237"/>
                    <a:pt x="2130" y="145"/>
                  </a:cubicBezTo>
                  <a:cubicBezTo>
                    <a:pt x="2058" y="99"/>
                    <a:pt x="1988" y="63"/>
                    <a:pt x="1920" y="38"/>
                  </a:cubicBezTo>
                  <a:cubicBezTo>
                    <a:pt x="1851" y="14"/>
                    <a:pt x="1783" y="0"/>
                    <a:pt x="1715" y="0"/>
                  </a:cubicBezTo>
                  <a:cubicBezTo>
                    <a:pt x="1669" y="0"/>
                    <a:pt x="1623" y="6"/>
                    <a:pt x="1578" y="19"/>
                  </a:cubicBezTo>
                  <a:cubicBezTo>
                    <a:pt x="1509" y="37"/>
                    <a:pt x="1440" y="70"/>
                    <a:pt x="1370" y="116"/>
                  </a:cubicBezTo>
                  <a:cubicBezTo>
                    <a:pt x="1299" y="162"/>
                    <a:pt x="1227" y="221"/>
                    <a:pt x="1150" y="295"/>
                  </a:cubicBezTo>
                  <a:lnTo>
                    <a:pt x="1150" y="295"/>
                  </a:lnTo>
                  <a:lnTo>
                    <a:pt x="16" y="1368"/>
                  </a:lnTo>
                  <a:cubicBezTo>
                    <a:pt x="6" y="1378"/>
                    <a:pt x="0" y="1391"/>
                    <a:pt x="0" y="1406"/>
                  </a:cubicBezTo>
                  <a:cubicBezTo>
                    <a:pt x="0" y="1420"/>
                    <a:pt x="6" y="1434"/>
                    <a:pt x="16" y="1444"/>
                  </a:cubicBezTo>
                  <a:lnTo>
                    <a:pt x="566" y="1977"/>
                  </a:lnTo>
                  <a:cubicBezTo>
                    <a:pt x="587" y="1997"/>
                    <a:pt x="619" y="1997"/>
                    <a:pt x="640" y="1976"/>
                  </a:cubicBezTo>
                  <a:cubicBezTo>
                    <a:pt x="660" y="1955"/>
                    <a:pt x="660" y="1921"/>
                    <a:pt x="639" y="1901"/>
                  </a:cubicBezTo>
                  <a:lnTo>
                    <a:pt x="129" y="1406"/>
                  </a:lnTo>
                  <a:lnTo>
                    <a:pt x="1223" y="371"/>
                  </a:lnTo>
                  <a:lnTo>
                    <a:pt x="1223" y="371"/>
                  </a:lnTo>
                  <a:cubicBezTo>
                    <a:pt x="1321" y="277"/>
                    <a:pt x="1409" y="210"/>
                    <a:pt x="1489" y="167"/>
                  </a:cubicBezTo>
                  <a:cubicBezTo>
                    <a:pt x="1529" y="146"/>
                    <a:pt x="1568" y="131"/>
                    <a:pt x="1605" y="121"/>
                  </a:cubicBezTo>
                  <a:cubicBezTo>
                    <a:pt x="1642" y="111"/>
                    <a:pt x="1679" y="106"/>
                    <a:pt x="1715" y="106"/>
                  </a:cubicBezTo>
                  <a:cubicBezTo>
                    <a:pt x="1770" y="106"/>
                    <a:pt x="1825" y="116"/>
                    <a:pt x="1884" y="138"/>
                  </a:cubicBezTo>
                  <a:cubicBezTo>
                    <a:pt x="1972" y="170"/>
                    <a:pt x="2070" y="226"/>
                    <a:pt x="2181" y="306"/>
                  </a:cubicBezTo>
                  <a:cubicBezTo>
                    <a:pt x="2293" y="387"/>
                    <a:pt x="2418" y="490"/>
                    <a:pt x="2562" y="612"/>
                  </a:cubicBezTo>
                  <a:cubicBezTo>
                    <a:pt x="2585" y="631"/>
                    <a:pt x="2618" y="628"/>
                    <a:pt x="2637" y="606"/>
                  </a:cubicBezTo>
                  <a:cubicBezTo>
                    <a:pt x="2656" y="584"/>
                    <a:pt x="2653" y="551"/>
                    <a:pt x="2631" y="53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E34B0E8F-7C29-3241-8B05-8DB5DF4ED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9946" y="709792"/>
              <a:ext cx="356603" cy="190334"/>
            </a:xfrm>
            <a:custGeom>
              <a:avLst/>
              <a:gdLst>
                <a:gd name="T0" fmla="*/ 2142 w 2158"/>
                <a:gd name="T1" fmla="*/ 438 h 1152"/>
                <a:gd name="T2" fmla="*/ 1725 w 2158"/>
                <a:gd name="T3" fmla="*/ 118 h 1152"/>
                <a:gd name="T4" fmla="*/ 1552 w 2158"/>
                <a:gd name="T5" fmla="*/ 31 h 1152"/>
                <a:gd name="T6" fmla="*/ 1386 w 2158"/>
                <a:gd name="T7" fmla="*/ 0 h 1152"/>
                <a:gd name="T8" fmla="*/ 1261 w 2158"/>
                <a:gd name="T9" fmla="*/ 19 h 1152"/>
                <a:gd name="T10" fmla="*/ 1068 w 2158"/>
                <a:gd name="T11" fmla="*/ 115 h 1152"/>
                <a:gd name="T12" fmla="*/ 852 w 2158"/>
                <a:gd name="T13" fmla="*/ 295 h 1152"/>
                <a:gd name="T14" fmla="*/ 852 w 2158"/>
                <a:gd name="T15" fmla="*/ 295 h 1152"/>
                <a:gd name="T16" fmla="*/ 13 w 2158"/>
                <a:gd name="T17" fmla="*/ 1094 h 1152"/>
                <a:gd name="T18" fmla="*/ 12 w 2158"/>
                <a:gd name="T19" fmla="*/ 1138 h 1152"/>
                <a:gd name="T20" fmla="*/ 56 w 2158"/>
                <a:gd name="T21" fmla="*/ 1139 h 1152"/>
                <a:gd name="T22" fmla="*/ 895 w 2158"/>
                <a:gd name="T23" fmla="*/ 340 h 1152"/>
                <a:gd name="T24" fmla="*/ 895 w 2158"/>
                <a:gd name="T25" fmla="*/ 340 h 1152"/>
                <a:gd name="T26" fmla="*/ 1164 w 2158"/>
                <a:gd name="T27" fmla="*/ 128 h 1152"/>
                <a:gd name="T28" fmla="*/ 1279 w 2158"/>
                <a:gd name="T29" fmla="*/ 79 h 1152"/>
                <a:gd name="T30" fmla="*/ 1386 w 2158"/>
                <a:gd name="T31" fmla="*/ 63 h 1152"/>
                <a:gd name="T32" fmla="*/ 1531 w 2158"/>
                <a:gd name="T33" fmla="*/ 90 h 1152"/>
                <a:gd name="T34" fmla="*/ 1781 w 2158"/>
                <a:gd name="T35" fmla="*/ 231 h 1152"/>
                <a:gd name="T36" fmla="*/ 2102 w 2158"/>
                <a:gd name="T37" fmla="*/ 486 h 1152"/>
                <a:gd name="T38" fmla="*/ 2146 w 2158"/>
                <a:gd name="T39" fmla="*/ 482 h 1152"/>
                <a:gd name="T40" fmla="*/ 2142 w 2158"/>
                <a:gd name="T41" fmla="*/ 438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2142" y="438"/>
                  </a:moveTo>
                  <a:cubicBezTo>
                    <a:pt x="1978" y="301"/>
                    <a:pt x="1845" y="193"/>
                    <a:pt x="1725" y="118"/>
                  </a:cubicBezTo>
                  <a:cubicBezTo>
                    <a:pt x="1664" y="80"/>
                    <a:pt x="1608" y="51"/>
                    <a:pt x="1552" y="31"/>
                  </a:cubicBezTo>
                  <a:cubicBezTo>
                    <a:pt x="1496" y="11"/>
                    <a:pt x="1441" y="0"/>
                    <a:pt x="1386" y="0"/>
                  </a:cubicBezTo>
                  <a:cubicBezTo>
                    <a:pt x="1344" y="0"/>
                    <a:pt x="1303" y="6"/>
                    <a:pt x="1261" y="19"/>
                  </a:cubicBezTo>
                  <a:cubicBezTo>
                    <a:pt x="1198" y="37"/>
                    <a:pt x="1135" y="69"/>
                    <a:pt x="1068" y="115"/>
                  </a:cubicBezTo>
                  <a:cubicBezTo>
                    <a:pt x="1000" y="161"/>
                    <a:pt x="930" y="220"/>
                    <a:pt x="852" y="295"/>
                  </a:cubicBezTo>
                  <a:lnTo>
                    <a:pt x="852" y="295"/>
                  </a:lnTo>
                  <a:lnTo>
                    <a:pt x="13" y="1094"/>
                  </a:lnTo>
                  <a:cubicBezTo>
                    <a:pt x="1" y="1106"/>
                    <a:pt x="0" y="1126"/>
                    <a:pt x="12" y="1138"/>
                  </a:cubicBezTo>
                  <a:cubicBezTo>
                    <a:pt x="24" y="1151"/>
                    <a:pt x="44" y="1151"/>
                    <a:pt x="56" y="1139"/>
                  </a:cubicBezTo>
                  <a:lnTo>
                    <a:pt x="895" y="340"/>
                  </a:lnTo>
                  <a:lnTo>
                    <a:pt x="895" y="340"/>
                  </a:lnTo>
                  <a:cubicBezTo>
                    <a:pt x="997" y="243"/>
                    <a:pt x="1085" y="173"/>
                    <a:pt x="1164" y="128"/>
                  </a:cubicBezTo>
                  <a:cubicBezTo>
                    <a:pt x="1204" y="106"/>
                    <a:pt x="1242" y="89"/>
                    <a:pt x="1279" y="79"/>
                  </a:cubicBezTo>
                  <a:cubicBezTo>
                    <a:pt x="1315" y="68"/>
                    <a:pt x="1351" y="63"/>
                    <a:pt x="1386" y="63"/>
                  </a:cubicBezTo>
                  <a:cubicBezTo>
                    <a:pt x="1433" y="63"/>
                    <a:pt x="1480" y="72"/>
                    <a:pt x="1531" y="90"/>
                  </a:cubicBezTo>
                  <a:cubicBezTo>
                    <a:pt x="1606" y="117"/>
                    <a:pt x="1688" y="164"/>
                    <a:pt x="1781" y="231"/>
                  </a:cubicBezTo>
                  <a:cubicBezTo>
                    <a:pt x="1874" y="298"/>
                    <a:pt x="1979" y="384"/>
                    <a:pt x="2102" y="486"/>
                  </a:cubicBezTo>
                  <a:cubicBezTo>
                    <a:pt x="2115" y="497"/>
                    <a:pt x="2135" y="495"/>
                    <a:pt x="2146" y="482"/>
                  </a:cubicBezTo>
                  <a:cubicBezTo>
                    <a:pt x="2157" y="469"/>
                    <a:pt x="2155" y="449"/>
                    <a:pt x="2142" y="43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Freeform 8">
              <a:extLst>
                <a:ext uri="{FF2B5EF4-FFF2-40B4-BE49-F238E27FC236}">
                  <a16:creationId xmlns:a16="http://schemas.microsoft.com/office/drawing/2014/main" id="{08D4B6E4-213B-E84A-9B55-3121DC89C5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012" y="752818"/>
              <a:ext cx="304826" cy="169186"/>
            </a:xfrm>
            <a:custGeom>
              <a:avLst/>
              <a:gdLst>
                <a:gd name="T0" fmla="*/ 1832 w 1844"/>
                <a:gd name="T1" fmla="*/ 349 h 1021"/>
                <a:gd name="T2" fmla="*/ 1494 w 1844"/>
                <a:gd name="T3" fmla="*/ 93 h 1021"/>
                <a:gd name="T4" fmla="*/ 1356 w 1844"/>
                <a:gd name="T5" fmla="*/ 24 h 1021"/>
                <a:gd name="T6" fmla="*/ 1224 w 1844"/>
                <a:gd name="T7" fmla="*/ 0 h 1021"/>
                <a:gd name="T8" fmla="*/ 1110 w 1844"/>
                <a:gd name="T9" fmla="*/ 18 h 1021"/>
                <a:gd name="T10" fmla="*/ 929 w 1844"/>
                <a:gd name="T11" fmla="*/ 116 h 1021"/>
                <a:gd name="T12" fmla="*/ 715 w 1844"/>
                <a:gd name="T13" fmla="*/ 301 h 1021"/>
                <a:gd name="T14" fmla="*/ 714 w 1844"/>
                <a:gd name="T15" fmla="*/ 301 h 1021"/>
                <a:gd name="T16" fmla="*/ 10 w 1844"/>
                <a:gd name="T17" fmla="*/ 978 h 1021"/>
                <a:gd name="T18" fmla="*/ 9 w 1844"/>
                <a:gd name="T19" fmla="*/ 1011 h 1021"/>
                <a:gd name="T20" fmla="*/ 42 w 1844"/>
                <a:gd name="T21" fmla="*/ 1012 h 1021"/>
                <a:gd name="T22" fmla="*/ 746 w 1844"/>
                <a:gd name="T23" fmla="*/ 334 h 1021"/>
                <a:gd name="T24" fmla="*/ 746 w 1844"/>
                <a:gd name="T25" fmla="*/ 334 h 1021"/>
                <a:gd name="T26" fmla="*/ 1016 w 1844"/>
                <a:gd name="T27" fmla="*/ 114 h 1021"/>
                <a:gd name="T28" fmla="*/ 1124 w 1844"/>
                <a:gd name="T29" fmla="*/ 62 h 1021"/>
                <a:gd name="T30" fmla="*/ 1224 w 1844"/>
                <a:gd name="T31" fmla="*/ 46 h 1021"/>
                <a:gd name="T32" fmla="*/ 1340 w 1844"/>
                <a:gd name="T33" fmla="*/ 67 h 1021"/>
                <a:gd name="T34" fmla="*/ 1542 w 1844"/>
                <a:gd name="T35" fmla="*/ 180 h 1021"/>
                <a:gd name="T36" fmla="*/ 1803 w 1844"/>
                <a:gd name="T37" fmla="*/ 385 h 1021"/>
                <a:gd name="T38" fmla="*/ 1835 w 1844"/>
                <a:gd name="T39" fmla="*/ 381 h 1021"/>
                <a:gd name="T40" fmla="*/ 1832 w 1844"/>
                <a:gd name="T41" fmla="*/ 349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4" h="1021">
                  <a:moveTo>
                    <a:pt x="1832" y="349"/>
                  </a:moveTo>
                  <a:cubicBezTo>
                    <a:pt x="1698" y="239"/>
                    <a:pt x="1590" y="153"/>
                    <a:pt x="1494" y="93"/>
                  </a:cubicBezTo>
                  <a:cubicBezTo>
                    <a:pt x="1446" y="63"/>
                    <a:pt x="1400" y="40"/>
                    <a:pt x="1356" y="24"/>
                  </a:cubicBezTo>
                  <a:cubicBezTo>
                    <a:pt x="1311" y="8"/>
                    <a:pt x="1268" y="0"/>
                    <a:pt x="1224" y="0"/>
                  </a:cubicBezTo>
                  <a:cubicBezTo>
                    <a:pt x="1186" y="0"/>
                    <a:pt x="1148" y="6"/>
                    <a:pt x="1110" y="18"/>
                  </a:cubicBezTo>
                  <a:cubicBezTo>
                    <a:pt x="1052" y="37"/>
                    <a:pt x="993" y="69"/>
                    <a:pt x="929" y="116"/>
                  </a:cubicBezTo>
                  <a:cubicBezTo>
                    <a:pt x="864" y="163"/>
                    <a:pt x="794" y="224"/>
                    <a:pt x="715" y="301"/>
                  </a:cubicBezTo>
                  <a:lnTo>
                    <a:pt x="714" y="301"/>
                  </a:lnTo>
                  <a:lnTo>
                    <a:pt x="10" y="978"/>
                  </a:lnTo>
                  <a:cubicBezTo>
                    <a:pt x="1" y="987"/>
                    <a:pt x="0" y="1002"/>
                    <a:pt x="9" y="1011"/>
                  </a:cubicBezTo>
                  <a:cubicBezTo>
                    <a:pt x="18" y="1020"/>
                    <a:pt x="33" y="1020"/>
                    <a:pt x="42" y="1012"/>
                  </a:cubicBezTo>
                  <a:lnTo>
                    <a:pt x="746" y="334"/>
                  </a:lnTo>
                  <a:lnTo>
                    <a:pt x="746" y="334"/>
                  </a:lnTo>
                  <a:cubicBezTo>
                    <a:pt x="851" y="233"/>
                    <a:pt x="939" y="160"/>
                    <a:pt x="1016" y="114"/>
                  </a:cubicBezTo>
                  <a:cubicBezTo>
                    <a:pt x="1054" y="90"/>
                    <a:pt x="1090" y="73"/>
                    <a:pt x="1124" y="62"/>
                  </a:cubicBezTo>
                  <a:cubicBezTo>
                    <a:pt x="1159" y="51"/>
                    <a:pt x="1191" y="46"/>
                    <a:pt x="1224" y="46"/>
                  </a:cubicBezTo>
                  <a:cubicBezTo>
                    <a:pt x="1262" y="46"/>
                    <a:pt x="1300" y="53"/>
                    <a:pt x="1340" y="67"/>
                  </a:cubicBezTo>
                  <a:cubicBezTo>
                    <a:pt x="1401" y="89"/>
                    <a:pt x="1466" y="127"/>
                    <a:pt x="1542" y="180"/>
                  </a:cubicBezTo>
                  <a:cubicBezTo>
                    <a:pt x="1617" y="234"/>
                    <a:pt x="1702" y="303"/>
                    <a:pt x="1803" y="385"/>
                  </a:cubicBezTo>
                  <a:cubicBezTo>
                    <a:pt x="1813" y="393"/>
                    <a:pt x="1827" y="391"/>
                    <a:pt x="1835" y="381"/>
                  </a:cubicBezTo>
                  <a:cubicBezTo>
                    <a:pt x="1843" y="372"/>
                    <a:pt x="1842" y="357"/>
                    <a:pt x="1832" y="34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3073A429-8658-EC43-92EE-0AD58A539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7348" y="795114"/>
              <a:ext cx="253049" cy="148038"/>
            </a:xfrm>
            <a:custGeom>
              <a:avLst/>
              <a:gdLst>
                <a:gd name="T0" fmla="*/ 1522 w 1530"/>
                <a:gd name="T1" fmla="*/ 264 h 895"/>
                <a:gd name="T2" fmla="*/ 1260 w 1530"/>
                <a:gd name="T3" fmla="*/ 70 h 895"/>
                <a:gd name="T4" fmla="*/ 1156 w 1530"/>
                <a:gd name="T5" fmla="*/ 18 h 895"/>
                <a:gd name="T6" fmla="*/ 1057 w 1530"/>
                <a:gd name="T7" fmla="*/ 0 h 895"/>
                <a:gd name="T8" fmla="*/ 957 w 1530"/>
                <a:gd name="T9" fmla="*/ 19 h 895"/>
                <a:gd name="T10" fmla="*/ 791 w 1530"/>
                <a:gd name="T11" fmla="*/ 119 h 895"/>
                <a:gd name="T12" fmla="*/ 577 w 1530"/>
                <a:gd name="T13" fmla="*/ 310 h 895"/>
                <a:gd name="T14" fmla="*/ 577 w 1530"/>
                <a:gd name="T15" fmla="*/ 310 h 895"/>
                <a:gd name="T16" fmla="*/ 6 w 1530"/>
                <a:gd name="T17" fmla="*/ 867 h 895"/>
                <a:gd name="T18" fmla="*/ 6 w 1530"/>
                <a:gd name="T19" fmla="*/ 888 h 895"/>
                <a:gd name="T20" fmla="*/ 27 w 1530"/>
                <a:gd name="T21" fmla="*/ 888 h 895"/>
                <a:gd name="T22" fmla="*/ 598 w 1530"/>
                <a:gd name="T23" fmla="*/ 331 h 895"/>
                <a:gd name="T24" fmla="*/ 598 w 1530"/>
                <a:gd name="T25" fmla="*/ 331 h 895"/>
                <a:gd name="T26" fmla="*/ 866 w 1530"/>
                <a:gd name="T27" fmla="*/ 101 h 895"/>
                <a:gd name="T28" fmla="*/ 968 w 1530"/>
                <a:gd name="T29" fmla="*/ 47 h 895"/>
                <a:gd name="T30" fmla="*/ 1057 w 1530"/>
                <a:gd name="T31" fmla="*/ 29 h 895"/>
                <a:gd name="T32" fmla="*/ 1146 w 1530"/>
                <a:gd name="T33" fmla="*/ 46 h 895"/>
                <a:gd name="T34" fmla="*/ 1300 w 1530"/>
                <a:gd name="T35" fmla="*/ 132 h 895"/>
                <a:gd name="T36" fmla="*/ 1504 w 1530"/>
                <a:gd name="T37" fmla="*/ 287 h 895"/>
                <a:gd name="T38" fmla="*/ 1524 w 1530"/>
                <a:gd name="T39" fmla="*/ 285 h 895"/>
                <a:gd name="T40" fmla="*/ 1522 w 1530"/>
                <a:gd name="T41" fmla="*/ 264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0" h="895">
                  <a:moveTo>
                    <a:pt x="1522" y="264"/>
                  </a:moveTo>
                  <a:cubicBezTo>
                    <a:pt x="1417" y="180"/>
                    <a:pt x="1334" y="115"/>
                    <a:pt x="1260" y="70"/>
                  </a:cubicBezTo>
                  <a:cubicBezTo>
                    <a:pt x="1224" y="47"/>
                    <a:pt x="1189" y="30"/>
                    <a:pt x="1156" y="18"/>
                  </a:cubicBezTo>
                  <a:cubicBezTo>
                    <a:pt x="1123" y="6"/>
                    <a:pt x="1090" y="0"/>
                    <a:pt x="1057" y="0"/>
                  </a:cubicBezTo>
                  <a:cubicBezTo>
                    <a:pt x="1024" y="0"/>
                    <a:pt x="991" y="6"/>
                    <a:pt x="957" y="19"/>
                  </a:cubicBezTo>
                  <a:cubicBezTo>
                    <a:pt x="906" y="38"/>
                    <a:pt x="852" y="71"/>
                    <a:pt x="791" y="119"/>
                  </a:cubicBezTo>
                  <a:cubicBezTo>
                    <a:pt x="729" y="167"/>
                    <a:pt x="660" y="231"/>
                    <a:pt x="577" y="310"/>
                  </a:cubicBezTo>
                  <a:lnTo>
                    <a:pt x="577" y="310"/>
                  </a:lnTo>
                  <a:lnTo>
                    <a:pt x="6" y="867"/>
                  </a:lnTo>
                  <a:cubicBezTo>
                    <a:pt x="0" y="873"/>
                    <a:pt x="0" y="882"/>
                    <a:pt x="6" y="888"/>
                  </a:cubicBezTo>
                  <a:cubicBezTo>
                    <a:pt x="12" y="894"/>
                    <a:pt x="21" y="894"/>
                    <a:pt x="27" y="888"/>
                  </a:cubicBezTo>
                  <a:lnTo>
                    <a:pt x="598" y="331"/>
                  </a:lnTo>
                  <a:lnTo>
                    <a:pt x="598" y="331"/>
                  </a:lnTo>
                  <a:cubicBezTo>
                    <a:pt x="707" y="226"/>
                    <a:pt x="793" y="150"/>
                    <a:pt x="866" y="101"/>
                  </a:cubicBezTo>
                  <a:cubicBezTo>
                    <a:pt x="903" y="76"/>
                    <a:pt x="936" y="58"/>
                    <a:pt x="968" y="47"/>
                  </a:cubicBezTo>
                  <a:cubicBezTo>
                    <a:pt x="999" y="35"/>
                    <a:pt x="1028" y="29"/>
                    <a:pt x="1057" y="29"/>
                  </a:cubicBezTo>
                  <a:cubicBezTo>
                    <a:pt x="1086" y="29"/>
                    <a:pt x="1115" y="35"/>
                    <a:pt x="1146" y="46"/>
                  </a:cubicBezTo>
                  <a:cubicBezTo>
                    <a:pt x="1192" y="62"/>
                    <a:pt x="1242" y="91"/>
                    <a:pt x="1300" y="132"/>
                  </a:cubicBezTo>
                  <a:cubicBezTo>
                    <a:pt x="1359" y="172"/>
                    <a:pt x="1425" y="225"/>
                    <a:pt x="1504" y="287"/>
                  </a:cubicBezTo>
                  <a:cubicBezTo>
                    <a:pt x="1510" y="292"/>
                    <a:pt x="1518" y="291"/>
                    <a:pt x="1524" y="285"/>
                  </a:cubicBezTo>
                  <a:cubicBezTo>
                    <a:pt x="1529" y="279"/>
                    <a:pt x="1528" y="269"/>
                    <a:pt x="1522" y="2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7B9CB57C-5EF1-7045-A70B-14CD6B5A9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1413" y="835952"/>
              <a:ext cx="201273" cy="127619"/>
            </a:xfrm>
            <a:custGeom>
              <a:avLst/>
              <a:gdLst>
                <a:gd name="T0" fmla="*/ 1212 w 1217"/>
                <a:gd name="T1" fmla="*/ 184 h 773"/>
                <a:gd name="T2" fmla="*/ 1023 w 1217"/>
                <a:gd name="T3" fmla="*/ 48 h 773"/>
                <a:gd name="T4" fmla="*/ 884 w 1217"/>
                <a:gd name="T5" fmla="*/ 0 h 773"/>
                <a:gd name="T6" fmla="*/ 801 w 1217"/>
                <a:gd name="T7" fmla="*/ 20 h 773"/>
                <a:gd name="T8" fmla="*/ 653 w 1217"/>
                <a:gd name="T9" fmla="*/ 124 h 773"/>
                <a:gd name="T10" fmla="*/ 440 w 1217"/>
                <a:gd name="T11" fmla="*/ 324 h 773"/>
                <a:gd name="T12" fmla="*/ 440 w 1217"/>
                <a:gd name="T13" fmla="*/ 324 h 773"/>
                <a:gd name="T14" fmla="*/ 3 w 1217"/>
                <a:gd name="T15" fmla="*/ 760 h 773"/>
                <a:gd name="T16" fmla="*/ 3 w 1217"/>
                <a:gd name="T17" fmla="*/ 770 h 773"/>
                <a:gd name="T18" fmla="*/ 12 w 1217"/>
                <a:gd name="T19" fmla="*/ 770 h 773"/>
                <a:gd name="T20" fmla="*/ 449 w 1217"/>
                <a:gd name="T21" fmla="*/ 333 h 773"/>
                <a:gd name="T22" fmla="*/ 716 w 1217"/>
                <a:gd name="T23" fmla="*/ 90 h 773"/>
                <a:gd name="T24" fmla="*/ 806 w 1217"/>
                <a:gd name="T25" fmla="*/ 32 h 773"/>
                <a:gd name="T26" fmla="*/ 884 w 1217"/>
                <a:gd name="T27" fmla="*/ 13 h 773"/>
                <a:gd name="T28" fmla="*/ 1016 w 1217"/>
                <a:gd name="T29" fmla="*/ 60 h 773"/>
                <a:gd name="T30" fmla="*/ 1204 w 1217"/>
                <a:gd name="T31" fmla="*/ 195 h 773"/>
                <a:gd name="T32" fmla="*/ 1214 w 1217"/>
                <a:gd name="T33" fmla="*/ 194 h 773"/>
                <a:gd name="T34" fmla="*/ 1212 w 1217"/>
                <a:gd name="T35" fmla="*/ 184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1212" y="184"/>
                  </a:moveTo>
                  <a:cubicBezTo>
                    <a:pt x="1135" y="125"/>
                    <a:pt x="1075" y="80"/>
                    <a:pt x="1023" y="48"/>
                  </a:cubicBezTo>
                  <a:cubicBezTo>
                    <a:pt x="971" y="17"/>
                    <a:pt x="928" y="0"/>
                    <a:pt x="884" y="0"/>
                  </a:cubicBezTo>
                  <a:cubicBezTo>
                    <a:pt x="856" y="0"/>
                    <a:pt x="829" y="7"/>
                    <a:pt x="801" y="20"/>
                  </a:cubicBezTo>
                  <a:cubicBezTo>
                    <a:pt x="758" y="39"/>
                    <a:pt x="711" y="74"/>
                    <a:pt x="653" y="124"/>
                  </a:cubicBezTo>
                  <a:cubicBezTo>
                    <a:pt x="595" y="175"/>
                    <a:pt x="527" y="241"/>
                    <a:pt x="440" y="324"/>
                  </a:cubicBezTo>
                  <a:lnTo>
                    <a:pt x="440" y="324"/>
                  </a:lnTo>
                  <a:lnTo>
                    <a:pt x="3" y="760"/>
                  </a:lnTo>
                  <a:cubicBezTo>
                    <a:pt x="0" y="763"/>
                    <a:pt x="0" y="767"/>
                    <a:pt x="3" y="770"/>
                  </a:cubicBezTo>
                  <a:cubicBezTo>
                    <a:pt x="5" y="772"/>
                    <a:pt x="10" y="772"/>
                    <a:pt x="12" y="770"/>
                  </a:cubicBezTo>
                  <a:lnTo>
                    <a:pt x="449" y="333"/>
                  </a:lnTo>
                  <a:cubicBezTo>
                    <a:pt x="565" y="223"/>
                    <a:pt x="648" y="142"/>
                    <a:pt x="716" y="90"/>
                  </a:cubicBezTo>
                  <a:cubicBezTo>
                    <a:pt x="749" y="63"/>
                    <a:pt x="778" y="44"/>
                    <a:pt x="806" y="32"/>
                  </a:cubicBezTo>
                  <a:cubicBezTo>
                    <a:pt x="833" y="19"/>
                    <a:pt x="859" y="13"/>
                    <a:pt x="884" y="13"/>
                  </a:cubicBezTo>
                  <a:cubicBezTo>
                    <a:pt x="924" y="13"/>
                    <a:pt x="966" y="29"/>
                    <a:pt x="1016" y="60"/>
                  </a:cubicBezTo>
                  <a:cubicBezTo>
                    <a:pt x="1067" y="90"/>
                    <a:pt x="1127" y="136"/>
                    <a:pt x="1204" y="195"/>
                  </a:cubicBezTo>
                  <a:cubicBezTo>
                    <a:pt x="1207" y="197"/>
                    <a:pt x="1211" y="197"/>
                    <a:pt x="1214" y="194"/>
                  </a:cubicBezTo>
                  <a:cubicBezTo>
                    <a:pt x="1216" y="191"/>
                    <a:pt x="1215" y="187"/>
                    <a:pt x="1212" y="18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9187B6AA-F9BB-264E-BDCA-C7E0AC3A67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8093" y="858559"/>
              <a:ext cx="72925" cy="48130"/>
            </a:xfrm>
            <a:custGeom>
              <a:avLst/>
              <a:gdLst>
                <a:gd name="T0" fmla="*/ 49 w 442"/>
                <a:gd name="T1" fmla="*/ 200 h 293"/>
                <a:gd name="T2" fmla="*/ 0 w 442"/>
                <a:gd name="T3" fmla="*/ 156 h 293"/>
                <a:gd name="T4" fmla="*/ 45 w 442"/>
                <a:gd name="T5" fmla="*/ 107 h 293"/>
                <a:gd name="T6" fmla="*/ 392 w 442"/>
                <a:gd name="T7" fmla="*/ 91 h 293"/>
                <a:gd name="T8" fmla="*/ 441 w 442"/>
                <a:gd name="T9" fmla="*/ 137 h 293"/>
                <a:gd name="T10" fmla="*/ 396 w 442"/>
                <a:gd name="T11" fmla="*/ 185 h 293"/>
                <a:gd name="T12" fmla="*/ 49 w 442"/>
                <a:gd name="T13" fmla="*/ 20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2" h="293">
                  <a:moveTo>
                    <a:pt x="49" y="200"/>
                  </a:moveTo>
                  <a:lnTo>
                    <a:pt x="0" y="156"/>
                  </a:lnTo>
                  <a:lnTo>
                    <a:pt x="45" y="107"/>
                  </a:lnTo>
                  <a:cubicBezTo>
                    <a:pt x="136" y="7"/>
                    <a:pt x="292" y="0"/>
                    <a:pt x="392" y="91"/>
                  </a:cubicBezTo>
                  <a:lnTo>
                    <a:pt x="441" y="137"/>
                  </a:lnTo>
                  <a:lnTo>
                    <a:pt x="396" y="185"/>
                  </a:lnTo>
                  <a:cubicBezTo>
                    <a:pt x="304" y="285"/>
                    <a:pt x="149" y="292"/>
                    <a:pt x="49" y="2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85665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AAAA80D-F069-DE49-8F34-B637A12CB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508" y="365126"/>
            <a:ext cx="8220812" cy="879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AAAE3F-F071-E445-8B18-8EAF39793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90270"/>
            <a:ext cx="10515600" cy="4586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EB21E25C-9464-224B-A47F-E3D24E9CD7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58698" y="647642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en-US" altLang="zh-CN"/>
              <a:t>5.3 </a:t>
            </a:r>
            <a:r>
              <a:rPr kumimoji="1" lang="zh-CN" altLang="en-US"/>
              <a:t>网络互联</a:t>
            </a:r>
            <a:endParaRPr kumimoji="1" lang="zh-CN" altLang="en-US" dirty="0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A9B84893-18EE-FF43-9533-BF8DF0782C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76424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/>
              <a:t>引自：</a:t>
            </a:r>
            <a:r>
              <a:rPr kumimoji="1" lang="en-US" altLang="zh-CN"/>
              <a:t>XXXXX</a:t>
            </a:r>
            <a:r>
              <a:rPr kumimoji="1" lang="zh-CN" altLang="en-US"/>
              <a:t>（如果需要）</a:t>
            </a:r>
            <a:endParaRPr kumimoji="1" lang="zh-CN" altLang="en-US" dirty="0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375705C-8722-064B-8FCF-B9180D154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6810" y="6476424"/>
            <a:ext cx="3319670" cy="365125"/>
          </a:xfrm>
          <a:prstGeom prst="rect">
            <a:avLst/>
          </a:prstGeom>
        </p:spPr>
        <p:txBody>
          <a:bodyPr/>
          <a:lstStyle>
            <a:lvl1pPr algn="r">
              <a:defRPr sz="160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8D4D1E41-7A09-AB4A-A4E1-09765ADA2698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6119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9B8FE-3A08-AB44-8FD5-4884CABB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AE97F77-16B3-2043-B14E-0B774467C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7508" y="1510758"/>
            <a:ext cx="10046292" cy="5183956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zh-CN" dirty="0"/>
              <a:t>5.1 </a:t>
            </a:r>
            <a:r>
              <a:rPr lang="zh-CN" altLang="zh-CN" dirty="0">
                <a:sym typeface="+mn-ea"/>
              </a:rPr>
              <a:t>网络层服务</a:t>
            </a:r>
            <a:endParaRPr kumimoji="1" lang="zh-CN" altLang="en-US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sym typeface="+mn-ea"/>
              </a:rPr>
              <a:t>5.2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Internet</a:t>
            </a:r>
            <a:r>
              <a:rPr kumimoji="1" lang="zh-CN" altLang="en-US" dirty="0">
                <a:sym typeface="+mn-ea"/>
              </a:rPr>
              <a:t>网际协议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sym typeface="+mn-ea"/>
              </a:rPr>
              <a:t>5.3</a:t>
            </a:r>
            <a:r>
              <a:rPr kumimoji="1" lang="zh-CN" altLang="en-US" dirty="0">
                <a:sym typeface="+mn-ea"/>
              </a:rPr>
              <a:t> 路由算法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solidFill>
                  <a:srgbClr val="C00000"/>
                </a:solidFill>
                <a:sym typeface="+mn-ea"/>
              </a:rPr>
              <a:t>5.4</a:t>
            </a:r>
            <a:r>
              <a:rPr kumimoji="1" lang="zh-CN" altLang="en-US" dirty="0">
                <a:solidFill>
                  <a:srgbClr val="C00000"/>
                </a:solidFill>
                <a:sym typeface="+mn-ea"/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  <a:sym typeface="+mn-ea"/>
              </a:rPr>
              <a:t>Internet</a:t>
            </a:r>
            <a:r>
              <a:rPr kumimoji="1" lang="zh-CN" altLang="en-US" dirty="0">
                <a:solidFill>
                  <a:srgbClr val="C00000"/>
                </a:solidFill>
                <a:sym typeface="+mn-ea"/>
              </a:rPr>
              <a:t>路由协议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sym typeface="+mn-ea"/>
              </a:rPr>
              <a:t>5.5</a:t>
            </a:r>
            <a:r>
              <a:rPr kumimoji="1" lang="zh-CN" altLang="en-US" dirty="0">
                <a:sym typeface="+mn-ea"/>
              </a:rPr>
              <a:t> 路由器工作原理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sym typeface="+mn-ea"/>
              </a:rPr>
              <a:t>5.6</a:t>
            </a:r>
            <a:r>
              <a:rPr kumimoji="1" lang="zh-CN" altLang="en-US" dirty="0">
                <a:sym typeface="+mn-ea"/>
              </a:rPr>
              <a:t> 拥塞控制算法</a:t>
            </a:r>
            <a:endParaRPr kumimoji="1" lang="zh-CN" altLang="en-US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sym typeface="+mn-ea"/>
              </a:rPr>
              <a:t>5.7</a:t>
            </a:r>
            <a:r>
              <a:rPr kumimoji="1" lang="zh-CN" altLang="en-US" dirty="0">
                <a:sym typeface="+mn-ea"/>
              </a:rPr>
              <a:t> 服务质量</a:t>
            </a:r>
            <a:endParaRPr kumimoji="1" lang="en-US" altLang="zh-CN" dirty="0"/>
          </a:p>
          <a:p>
            <a:pPr marL="0">
              <a:lnSpc>
                <a:spcPct val="130000"/>
              </a:lnSpc>
              <a:buNone/>
            </a:pPr>
            <a:r>
              <a:rPr kumimoji="1" lang="zh-CN" altLang="en-US" dirty="0">
                <a:sym typeface="+mn-ea"/>
              </a:rPr>
              <a:t>5.</a:t>
            </a:r>
            <a:r>
              <a:rPr kumimoji="1" lang="en-US" altLang="zh-CN" dirty="0">
                <a:sym typeface="+mn-ea"/>
              </a:rPr>
              <a:t>8 </a:t>
            </a:r>
            <a:r>
              <a:rPr kumimoji="1" lang="zh-CN" altLang="en-US" dirty="0">
                <a:sym typeface="+mn-ea"/>
              </a:rPr>
              <a:t>三层交换与</a:t>
            </a:r>
            <a:r>
              <a:rPr kumimoji="1" lang="en-US" altLang="zh-CN" dirty="0">
                <a:sym typeface="+mn-ea"/>
              </a:rPr>
              <a:t>VPN</a:t>
            </a:r>
          </a:p>
          <a:p>
            <a:pPr marL="0">
              <a:lnSpc>
                <a:spcPct val="130000"/>
              </a:lnSpc>
              <a:buNone/>
            </a:pPr>
            <a:r>
              <a:rPr kumimoji="1" lang="en-US" altLang="zh-CN" dirty="0">
                <a:sym typeface="+mn-ea"/>
              </a:rPr>
              <a:t>5.9 IPv6</a:t>
            </a:r>
            <a:r>
              <a:rPr kumimoji="1" lang="zh-CN" altLang="en-US" dirty="0">
                <a:sym typeface="+mn-ea"/>
              </a:rPr>
              <a:t>技术</a:t>
            </a:r>
            <a:endParaRPr kumimoji="1"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81955D56-458B-2941-A60C-A60B6824D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7" name="矩形标注 6">
            <a:extLst>
              <a:ext uri="{FF2B5EF4-FFF2-40B4-BE49-F238E27FC236}">
                <a16:creationId xmlns:a16="http://schemas.microsoft.com/office/drawing/2014/main" id="{981187B3-3584-BA4E-A14C-4B26773516C6}"/>
              </a:ext>
            </a:extLst>
          </p:cNvPr>
          <p:cNvSpPr/>
          <p:nvPr/>
        </p:nvSpPr>
        <p:spPr>
          <a:xfrm>
            <a:off x="6422185" y="2431881"/>
            <a:ext cx="4168895" cy="2318794"/>
          </a:xfrm>
          <a:prstGeom prst="wedgeRectCallout">
            <a:avLst>
              <a:gd name="adj1" fmla="val -92845"/>
              <a:gd name="adj2" fmla="val -4058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87375" marR="0" lvl="0" indent="-43815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OPSF-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内部网关路由协议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587375" marR="0" lvl="0" indent="-43815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RIP-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内部网关路由协议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587375" marR="0" lvl="0" indent="-43815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BGP-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外部网关路由协议</a:t>
            </a:r>
          </a:p>
        </p:txBody>
      </p:sp>
    </p:spTree>
    <p:extLst>
      <p:ext uri="{BB962C8B-B14F-4D97-AF65-F5344CB8AC3E}">
        <p14:creationId xmlns:p14="http://schemas.microsoft.com/office/powerpoint/2010/main" val="2114561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5B5E7D-8FD9-434B-BAC9-4A5D465A8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OSPF-</a:t>
            </a:r>
            <a:r>
              <a:rPr lang="zh-CN" altLang="en-US" dirty="0"/>
              <a:t>概述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4632E6-2D1A-4745-B0F4-BE23638BE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272"/>
            <a:ext cx="10515600" cy="5131205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zh-CN" dirty="0"/>
              <a:t>OSPF</a:t>
            </a:r>
            <a:r>
              <a:rPr lang="zh-CN" altLang="en-US" dirty="0"/>
              <a:t>（</a:t>
            </a:r>
            <a:r>
              <a:rPr lang="en-US" altLang="zh-CN" dirty="0"/>
              <a:t>Open Shortest Path First</a:t>
            </a:r>
            <a:r>
              <a:rPr lang="zh-CN" altLang="en-US" dirty="0"/>
              <a:t>）</a:t>
            </a:r>
            <a:r>
              <a:rPr lang="zh-CN" altLang="zh-CN" dirty="0"/>
              <a:t>开放最短路径优先</a:t>
            </a:r>
            <a:r>
              <a:rPr lang="zh-CN" altLang="en-US" dirty="0"/>
              <a:t>协议于</a:t>
            </a:r>
            <a:r>
              <a:rPr lang="en-US" altLang="zh-CN" dirty="0"/>
              <a:t>1989 </a:t>
            </a:r>
            <a:r>
              <a:rPr lang="zh-CN" altLang="zh-CN" dirty="0"/>
              <a:t>年开发</a:t>
            </a:r>
            <a:endParaRPr lang="en-US" altLang="zh-CN" dirty="0"/>
          </a:p>
          <a:p>
            <a:pPr>
              <a:spcBef>
                <a:spcPts val="1200"/>
              </a:spcBef>
            </a:pPr>
            <a:r>
              <a:rPr lang="zh-CN" altLang="en-US" dirty="0"/>
              <a:t>采用</a:t>
            </a:r>
            <a:r>
              <a:rPr lang="zh-CN" altLang="en-US" dirty="0">
                <a:solidFill>
                  <a:srgbClr val="C00000"/>
                </a:solidFill>
              </a:rPr>
              <a:t>分布式的链路状态</a:t>
            </a:r>
            <a:r>
              <a:rPr lang="zh-CN" altLang="en-US" dirty="0"/>
              <a:t>算法 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kumimoji="1" lang="en-US" altLang="zh-CN" dirty="0"/>
              <a:t>OSPF</a:t>
            </a:r>
            <a:r>
              <a:rPr kumimoji="1" lang="zh-CN" altLang="en-US" dirty="0"/>
              <a:t>协议的基本思想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向本自治系统中所有路由器</a:t>
            </a:r>
            <a:r>
              <a:rPr lang="zh-CN" altLang="en-US" dirty="0">
                <a:solidFill>
                  <a:srgbClr val="C00000"/>
                </a:solidFill>
              </a:rPr>
              <a:t>洪泛</a:t>
            </a:r>
            <a:r>
              <a:rPr lang="zh-CN" altLang="en-US" dirty="0"/>
              <a:t>信息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发送的信息就是与本路由器</a:t>
            </a:r>
            <a:r>
              <a:rPr lang="zh-CN" altLang="en-US" dirty="0">
                <a:solidFill>
                  <a:srgbClr val="C00000"/>
                </a:solidFill>
              </a:rPr>
              <a:t>相邻</a:t>
            </a:r>
            <a:r>
              <a:rPr lang="zh-CN" altLang="en-US" dirty="0"/>
              <a:t>的所有路由器的链路状态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dirty="0"/>
              <a:t>只有</a:t>
            </a:r>
            <a:r>
              <a:rPr lang="zh-CN" altLang="en-US" dirty="0">
                <a:solidFill>
                  <a:srgbClr val="C00000"/>
                </a:solidFill>
              </a:rPr>
              <a:t>当链路状态发生变化时</a:t>
            </a:r>
            <a:r>
              <a:rPr lang="zh-CN" altLang="en-US" dirty="0"/>
              <a:t>路由器才用洪泛法发送此信息</a:t>
            </a:r>
          </a:p>
          <a:p>
            <a:pPr marL="0" indent="0">
              <a:lnSpc>
                <a:spcPct val="120000"/>
              </a:lnSpc>
              <a:buNone/>
            </a:pPr>
            <a:endParaRPr kumimoji="1" lang="zh-CN" altLang="en-US" dirty="0"/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BE8FACEC-799E-DE40-96E7-A30323EC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3013225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5.4.1 OSPF-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内部网关路由协议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550ED307-254A-0A44-A386-B21B3DA0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4480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5B5E7D-8FD9-434B-BAC9-4A5D465A8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OSPF-</a:t>
            </a:r>
            <a:r>
              <a:rPr lang="zh-CN" altLang="en-US" dirty="0"/>
              <a:t>链路状态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4632E6-2D1A-4745-B0F4-BE23638BE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272"/>
            <a:ext cx="10515600" cy="513120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Arial" charset="0"/>
              </a:rPr>
              <a:t>“链路状态”就是说明本路由器都和哪些路由器相邻，以及该链路的“度量”</a:t>
            </a:r>
            <a:r>
              <a:rPr lang="en-US" altLang="zh-CN" dirty="0">
                <a:latin typeface="Arial" charset="0"/>
              </a:rPr>
              <a:t>(metric)</a:t>
            </a:r>
            <a:r>
              <a:rPr lang="zh-CN" altLang="en-US" dirty="0"/>
              <a:t> </a:t>
            </a:r>
          </a:p>
          <a:p>
            <a:pPr lvl="1" algn="just">
              <a:lnSpc>
                <a:spcPct val="120000"/>
              </a:lnSpc>
            </a:pPr>
            <a:r>
              <a:rPr lang="en-US" altLang="zh-CN" dirty="0"/>
              <a:t>OSPF</a:t>
            </a:r>
            <a:r>
              <a:rPr lang="zh-CN" altLang="en-US" dirty="0"/>
              <a:t>度量值一般包括</a:t>
            </a:r>
            <a:r>
              <a:rPr lang="zh-CN" altLang="en-US" dirty="0">
                <a:solidFill>
                  <a:srgbClr val="C00000"/>
                </a:solidFill>
              </a:rPr>
              <a:t>费用、距离、时延、带宽</a:t>
            </a:r>
            <a:r>
              <a:rPr lang="zh-CN" altLang="en-US" dirty="0"/>
              <a:t>等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zh-CN" altLang="en-US" dirty="0"/>
              <a:t>由于各路由器之间频繁地交换链路状态信息，因此所有的路由器最终都能建立一个</a:t>
            </a:r>
            <a:r>
              <a:rPr lang="zh-CN" altLang="en-US" dirty="0">
                <a:solidFill>
                  <a:srgbClr val="C00000"/>
                </a:solidFill>
              </a:rPr>
              <a:t>链路状态数据库</a:t>
            </a:r>
            <a:r>
              <a:rPr lang="en-US" altLang="zh-CN" dirty="0">
                <a:solidFill>
                  <a:srgbClr val="C00000"/>
                </a:solidFill>
              </a:rPr>
              <a:t>LSDB</a:t>
            </a:r>
            <a:endParaRPr lang="zh-CN" altLang="en-US" dirty="0"/>
          </a:p>
          <a:p>
            <a:pPr>
              <a:lnSpc>
                <a:spcPct val="130000"/>
              </a:lnSpc>
            </a:pPr>
            <a:r>
              <a:rPr lang="zh-CN" altLang="en-US" dirty="0"/>
              <a:t>这个数据库实际上就是</a:t>
            </a:r>
            <a:r>
              <a:rPr lang="zh-CN" altLang="en-US" dirty="0">
                <a:solidFill>
                  <a:srgbClr val="C00000"/>
                </a:solidFill>
              </a:rPr>
              <a:t>区域内的拓扑结构图，它在区域内是一致的</a:t>
            </a:r>
            <a:r>
              <a:rPr lang="zh-CN" altLang="en-US" dirty="0"/>
              <a:t>（这称为链路状态数据库的同步）</a:t>
            </a:r>
          </a:p>
          <a:p>
            <a:pPr marL="0" indent="0">
              <a:lnSpc>
                <a:spcPct val="120000"/>
              </a:lnSpc>
              <a:buNone/>
            </a:pPr>
            <a:endParaRPr kumimoji="1" lang="zh-CN" altLang="en-US" dirty="0"/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BE8FACEC-799E-DE40-96E7-A30323EC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3121598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5.4.1 OSPF-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内部网关路由协议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550ED307-254A-0A44-A386-B21B3DA0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6612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5B5E7D-8FD9-434B-BAC9-4A5D465A8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OSPF-</a:t>
            </a:r>
            <a:r>
              <a:rPr lang="zh-CN" altLang="en-US" dirty="0"/>
              <a:t>五种报文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4632E6-2D1A-4745-B0F4-BE23638BE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272"/>
            <a:ext cx="10515600" cy="513120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Arial" pitchFamily="34" charset="0"/>
              </a:rPr>
              <a:t>Hello </a:t>
            </a:r>
            <a:r>
              <a:rPr lang="zh-CN" altLang="en-US" sz="2400" dirty="0">
                <a:latin typeface="Arial" pitchFamily="34" charset="0"/>
              </a:rPr>
              <a:t>报文</a:t>
            </a:r>
            <a:endParaRPr lang="en-US" altLang="zh-CN" sz="2400" dirty="0">
              <a:latin typeface="Arial" pitchFamily="34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Arial" pitchFamily="34" charset="0"/>
              </a:rPr>
              <a:t>最常用的一种报文，用于发现、维护邻居关系</a:t>
            </a:r>
            <a:endParaRPr lang="en-US" altLang="zh-CN" sz="2200" dirty="0">
              <a:latin typeface="Arial" pitchFamily="3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latin typeface="Arial" pitchFamily="34" charset="0"/>
              </a:rPr>
              <a:t>数据库描述（</a:t>
            </a:r>
            <a:r>
              <a:rPr lang="en-US" altLang="en-US" sz="2400" dirty="0">
                <a:latin typeface="Arial" pitchFamily="34" charset="0"/>
                <a:ea typeface="等线" pitchFamily="2" charset="-122"/>
              </a:rPr>
              <a:t>Database </a:t>
            </a:r>
            <a:r>
              <a:rPr lang="en-US" altLang="en-US" sz="2400" dirty="0" err="1">
                <a:latin typeface="Arial" pitchFamily="34" charset="0"/>
                <a:ea typeface="等线" pitchFamily="2" charset="-122"/>
              </a:rPr>
              <a:t>Description，DD</a:t>
            </a:r>
            <a:r>
              <a:rPr lang="en-US" altLang="en-US" sz="2400" dirty="0">
                <a:latin typeface="Arial" pitchFamily="34" charset="0"/>
                <a:ea typeface="等线" pitchFamily="2" charset="-122"/>
              </a:rPr>
              <a:t>）</a:t>
            </a:r>
            <a:r>
              <a:rPr lang="zh-CN" altLang="en-US" sz="2400" dirty="0">
                <a:latin typeface="Arial" pitchFamily="34" charset="0"/>
              </a:rPr>
              <a:t>报文</a:t>
            </a:r>
            <a:endParaRPr lang="en-US" altLang="zh-CN" sz="2400" dirty="0">
              <a:latin typeface="Arial" pitchFamily="34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Arial" pitchFamily="34" charset="0"/>
              </a:rPr>
              <a:t>用于描述自己的</a:t>
            </a:r>
            <a:r>
              <a:rPr lang="en-US" altLang="zh-CN" sz="2200" dirty="0">
                <a:latin typeface="Arial" pitchFamily="34" charset="0"/>
              </a:rPr>
              <a:t>LSDB</a:t>
            </a: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Arial" pitchFamily="34" charset="0"/>
              </a:rPr>
              <a:t>内容包括</a:t>
            </a:r>
            <a:r>
              <a:rPr lang="en-US" altLang="zh-CN" sz="2200" dirty="0">
                <a:latin typeface="Arial" pitchFamily="34" charset="0"/>
              </a:rPr>
              <a:t>LSDB </a:t>
            </a:r>
            <a:r>
              <a:rPr lang="zh-CN" altLang="en-US" sz="2200" dirty="0">
                <a:latin typeface="Arial" pitchFamily="34" charset="0"/>
              </a:rPr>
              <a:t>中每一条</a:t>
            </a:r>
            <a:r>
              <a:rPr lang="en-US" altLang="zh-CN" sz="2200" dirty="0">
                <a:latin typeface="Arial" pitchFamily="34" charset="0"/>
              </a:rPr>
              <a:t>LSA </a:t>
            </a:r>
            <a:r>
              <a:rPr lang="zh-CN" altLang="en-US" sz="2200" dirty="0">
                <a:latin typeface="Arial" pitchFamily="34" charset="0"/>
              </a:rPr>
              <a:t>的</a:t>
            </a:r>
            <a:r>
              <a:rPr lang="en-US" altLang="zh-CN" sz="2200" dirty="0">
                <a:latin typeface="Arial" pitchFamily="34" charset="0"/>
              </a:rPr>
              <a:t>Header </a:t>
            </a:r>
            <a:r>
              <a:rPr lang="zh-CN" altLang="en-US" sz="2200" dirty="0">
                <a:latin typeface="Arial" pitchFamily="34" charset="0"/>
              </a:rPr>
              <a:t>头部，对端路由器根据</a:t>
            </a:r>
            <a:r>
              <a:rPr lang="en-US" altLang="en-US" sz="2200" dirty="0">
                <a:latin typeface="Arial" pitchFamily="34" charset="0"/>
                <a:ea typeface="等线" pitchFamily="2" charset="-122"/>
              </a:rPr>
              <a:t>LSA Header </a:t>
            </a:r>
            <a:r>
              <a:rPr lang="zh-CN" altLang="en-US" sz="2200" dirty="0">
                <a:latin typeface="Arial" pitchFamily="34" charset="0"/>
              </a:rPr>
              <a:t>就可以判断出是否已有这条</a:t>
            </a:r>
            <a:r>
              <a:rPr lang="en-US" altLang="en-US" sz="2200" dirty="0">
                <a:latin typeface="Arial" pitchFamily="34" charset="0"/>
                <a:ea typeface="等线" pitchFamily="2" charset="-122"/>
              </a:rPr>
              <a:t>LSA</a:t>
            </a:r>
          </a:p>
          <a:p>
            <a:pPr>
              <a:lnSpc>
                <a:spcPct val="120000"/>
              </a:lnSpc>
            </a:pPr>
            <a:r>
              <a:rPr lang="zh-CN" altLang="en-US" sz="2600" dirty="0">
                <a:latin typeface="Arial" pitchFamily="34" charset="0"/>
              </a:rPr>
              <a:t>链路状态请求（</a:t>
            </a:r>
            <a:r>
              <a:rPr lang="en-US" altLang="zh-CN" sz="2600" dirty="0">
                <a:latin typeface="Arial" pitchFamily="34" charset="0"/>
              </a:rPr>
              <a:t>LSA Request</a:t>
            </a:r>
            <a:r>
              <a:rPr lang="zh-CN" altLang="en-US" sz="2600" dirty="0">
                <a:latin typeface="Arial" pitchFamily="34" charset="0"/>
              </a:rPr>
              <a:t>，</a:t>
            </a:r>
            <a:r>
              <a:rPr lang="en-US" altLang="zh-CN" sz="2600" dirty="0">
                <a:latin typeface="Arial" pitchFamily="34" charset="0"/>
              </a:rPr>
              <a:t>LSR</a:t>
            </a:r>
            <a:r>
              <a:rPr lang="zh-CN" altLang="en-US" sz="2600" dirty="0">
                <a:latin typeface="Arial" pitchFamily="34" charset="0"/>
              </a:rPr>
              <a:t>）报文</a:t>
            </a:r>
            <a:endParaRPr lang="en-US" altLang="zh-CN" sz="2600" dirty="0">
              <a:latin typeface="Arial" pitchFamily="34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Arial" pitchFamily="34" charset="0"/>
              </a:rPr>
              <a:t>用于请求缺少的</a:t>
            </a:r>
            <a:r>
              <a:rPr lang="en-US" altLang="zh-CN" sz="2200" dirty="0">
                <a:latin typeface="Arial" pitchFamily="34" charset="0"/>
              </a:rPr>
              <a:t>LSA</a:t>
            </a:r>
            <a:r>
              <a:rPr lang="zh-CN" altLang="en-US" sz="2200" dirty="0">
                <a:latin typeface="Arial" pitchFamily="34" charset="0"/>
              </a:rPr>
              <a:t>，内容包括所需要的</a:t>
            </a:r>
            <a:r>
              <a:rPr lang="en-US" altLang="en-US" sz="2200" dirty="0">
                <a:latin typeface="Arial" pitchFamily="34" charset="0"/>
                <a:ea typeface="等线" pitchFamily="2" charset="-122"/>
              </a:rPr>
              <a:t>LSA </a:t>
            </a:r>
            <a:r>
              <a:rPr lang="zh-CN" altLang="en-US" sz="2200" dirty="0">
                <a:latin typeface="Arial" pitchFamily="34" charset="0"/>
              </a:rPr>
              <a:t>的摘要</a:t>
            </a:r>
          </a:p>
          <a:p>
            <a:pPr>
              <a:lnSpc>
                <a:spcPct val="120000"/>
              </a:lnSpc>
            </a:pPr>
            <a:r>
              <a:rPr lang="zh-CN" altLang="en-US" sz="2600" dirty="0">
                <a:latin typeface="Arial" pitchFamily="34" charset="0"/>
              </a:rPr>
              <a:t>链路状态更新（</a:t>
            </a:r>
            <a:r>
              <a:rPr lang="en-US" altLang="zh-CN" sz="2600" dirty="0">
                <a:latin typeface="Arial" pitchFamily="34" charset="0"/>
              </a:rPr>
              <a:t>LSA Update</a:t>
            </a:r>
            <a:r>
              <a:rPr lang="zh-CN" altLang="en-US" sz="2600" dirty="0">
                <a:latin typeface="Arial" pitchFamily="34" charset="0"/>
              </a:rPr>
              <a:t>，</a:t>
            </a:r>
            <a:r>
              <a:rPr lang="en-US" altLang="zh-CN" sz="2600" dirty="0">
                <a:latin typeface="Arial" pitchFamily="34" charset="0"/>
              </a:rPr>
              <a:t>LSU</a:t>
            </a:r>
            <a:r>
              <a:rPr lang="zh-CN" altLang="en-US" sz="2600" dirty="0">
                <a:latin typeface="Arial" pitchFamily="34" charset="0"/>
              </a:rPr>
              <a:t>）报文</a:t>
            </a:r>
            <a:endParaRPr lang="en-US" altLang="zh-CN" sz="2600" dirty="0">
              <a:latin typeface="Arial" pitchFamily="34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Arial" pitchFamily="34" charset="0"/>
              </a:rPr>
              <a:t>用于向对端路由器发送所需要的</a:t>
            </a:r>
            <a:r>
              <a:rPr lang="en-US" altLang="zh-CN" sz="2200" dirty="0">
                <a:latin typeface="Arial" pitchFamily="34" charset="0"/>
              </a:rPr>
              <a:t>LSA</a:t>
            </a:r>
            <a:r>
              <a:rPr lang="zh-CN" altLang="en-US" sz="2200" dirty="0">
                <a:latin typeface="Arial" pitchFamily="34" charset="0"/>
              </a:rPr>
              <a:t>，内容是多条</a:t>
            </a:r>
            <a:r>
              <a:rPr lang="en-US" altLang="zh-CN" sz="2200" dirty="0">
                <a:latin typeface="Arial" pitchFamily="34" charset="0"/>
              </a:rPr>
              <a:t>LSA</a:t>
            </a:r>
            <a:r>
              <a:rPr lang="zh-CN" altLang="en-US" sz="2200" dirty="0">
                <a:latin typeface="Arial" pitchFamily="34" charset="0"/>
              </a:rPr>
              <a:t>（全部内容）的集合</a:t>
            </a:r>
          </a:p>
          <a:p>
            <a:pPr>
              <a:lnSpc>
                <a:spcPct val="120000"/>
              </a:lnSpc>
            </a:pPr>
            <a:r>
              <a:rPr lang="zh-CN" altLang="en-US" sz="2600" dirty="0">
                <a:latin typeface="Arial" pitchFamily="34" charset="0"/>
              </a:rPr>
              <a:t>链路状态确认（</a:t>
            </a:r>
            <a:r>
              <a:rPr lang="en-US" altLang="en-US" sz="2600" dirty="0">
                <a:latin typeface="Arial" pitchFamily="34" charset="0"/>
                <a:ea typeface="等线" pitchFamily="2" charset="-122"/>
              </a:rPr>
              <a:t>Link State </a:t>
            </a:r>
            <a:r>
              <a:rPr lang="en-US" altLang="en-US" sz="2600" dirty="0" err="1">
                <a:latin typeface="Arial" pitchFamily="34" charset="0"/>
                <a:ea typeface="等线" pitchFamily="2" charset="-122"/>
              </a:rPr>
              <a:t>Acknowledgment，LSACK</a:t>
            </a:r>
            <a:r>
              <a:rPr lang="en-US" altLang="en-US" sz="2600" dirty="0">
                <a:latin typeface="Arial" pitchFamily="34" charset="0"/>
                <a:ea typeface="等线" pitchFamily="2" charset="-122"/>
              </a:rPr>
              <a:t>）</a:t>
            </a:r>
            <a:r>
              <a:rPr lang="zh-CN" altLang="en-US" sz="2600" dirty="0">
                <a:latin typeface="Arial" pitchFamily="34" charset="0"/>
              </a:rPr>
              <a:t>报文</a:t>
            </a:r>
            <a:endParaRPr lang="en-US" altLang="zh-CN" sz="2600" dirty="0">
              <a:latin typeface="Arial" pitchFamily="34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sz="2000" dirty="0">
                <a:latin typeface="Arial" pitchFamily="34" charset="0"/>
              </a:rPr>
              <a:t>用来对接收到的</a:t>
            </a:r>
            <a:r>
              <a:rPr lang="en-US" altLang="en-US" sz="2000" dirty="0">
                <a:latin typeface="Arial" pitchFamily="34" charset="0"/>
                <a:ea typeface="等线" pitchFamily="2" charset="-122"/>
              </a:rPr>
              <a:t>LSU </a:t>
            </a:r>
            <a:r>
              <a:rPr lang="zh-CN" altLang="en-US" sz="2000" dirty="0">
                <a:latin typeface="Arial" pitchFamily="34" charset="0"/>
              </a:rPr>
              <a:t>报文进行确认</a:t>
            </a:r>
          </a:p>
          <a:p>
            <a:pPr marL="0" indent="0">
              <a:lnSpc>
                <a:spcPct val="120000"/>
              </a:lnSpc>
              <a:buNone/>
            </a:pPr>
            <a:endParaRPr kumimoji="1" lang="zh-CN" altLang="en-US" dirty="0"/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BE8FACEC-799E-DE40-96E7-A30323EC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3243518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5.4.1 OSPF-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内部网关路由协议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550ED307-254A-0A44-A386-B21B3DA0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3205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5B5E7D-8FD9-434B-BAC9-4A5D465A8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OSPF-</a:t>
            </a:r>
            <a:r>
              <a:rPr lang="zh-CN" altLang="en-US" dirty="0"/>
              <a:t>邻居状态机</a:t>
            </a:r>
            <a:endParaRPr kumimoji="1" lang="zh-CN" altLang="en-US" dirty="0"/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BE8FACEC-799E-DE40-96E7-A30323EC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3243518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5.4.1 OSPF-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内部网关路由协议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550ED307-254A-0A44-A386-B21B3DA0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838200" y="1415936"/>
            <a:ext cx="4134318" cy="4586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363" indent="-360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marR="0" lvl="0" indent="-360363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邻居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端口连接到同一个网段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由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hello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报文维护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360363" marR="0" lvl="0" indent="-360363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完全邻接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为了交换路由信息而形成的关系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并非所有的邻居关系都可以成为邻接关系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grpSp>
        <p:nvGrpSpPr>
          <p:cNvPr id="8" name="Group 25"/>
          <p:cNvGrpSpPr>
            <a:grpSpLocks/>
          </p:cNvGrpSpPr>
          <p:nvPr/>
        </p:nvGrpSpPr>
        <p:grpSpPr bwMode="auto">
          <a:xfrm>
            <a:off x="4896326" y="1762125"/>
            <a:ext cx="6755244" cy="3994150"/>
            <a:chOff x="1187450" y="1595438"/>
            <a:chExt cx="6755913" cy="3994150"/>
          </a:xfrm>
        </p:grpSpPr>
        <p:cxnSp>
          <p:nvCxnSpPr>
            <p:cNvPr id="9" name="直接箭头连接符 12"/>
            <p:cNvCxnSpPr>
              <a:cxnSpLocks noChangeShapeType="1"/>
            </p:cNvCxnSpPr>
            <p:nvPr/>
          </p:nvCxnSpPr>
          <p:spPr bwMode="auto">
            <a:xfrm>
              <a:off x="4000500" y="1931988"/>
              <a:ext cx="0" cy="776287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直接箭头连接符 42"/>
            <p:cNvCxnSpPr>
              <a:cxnSpLocks noChangeShapeType="1"/>
            </p:cNvCxnSpPr>
            <p:nvPr/>
          </p:nvCxnSpPr>
          <p:spPr bwMode="auto">
            <a:xfrm>
              <a:off x="2671763" y="5480050"/>
              <a:ext cx="2470150" cy="0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直接箭头连接符 12"/>
            <p:cNvCxnSpPr>
              <a:cxnSpLocks noChangeShapeType="1"/>
            </p:cNvCxnSpPr>
            <p:nvPr/>
          </p:nvCxnSpPr>
          <p:spPr bwMode="auto">
            <a:xfrm>
              <a:off x="4000500" y="4119563"/>
              <a:ext cx="0" cy="457200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直接箭头连接符 12"/>
            <p:cNvCxnSpPr>
              <a:cxnSpLocks noChangeShapeType="1"/>
            </p:cNvCxnSpPr>
            <p:nvPr/>
          </p:nvCxnSpPr>
          <p:spPr bwMode="auto">
            <a:xfrm>
              <a:off x="4000500" y="3017838"/>
              <a:ext cx="0" cy="731837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" name="流程图: 可选过程 3"/>
            <p:cNvSpPr>
              <a:spLocks noChangeArrowheads="1"/>
            </p:cNvSpPr>
            <p:nvPr/>
          </p:nvSpPr>
          <p:spPr bwMode="auto">
            <a:xfrm>
              <a:off x="3240088" y="1595438"/>
              <a:ext cx="1439862" cy="431800"/>
            </a:xfrm>
            <a:prstGeom prst="flowChartAlternateProcess">
              <a:avLst/>
            </a:prstGeom>
            <a:solidFill>
              <a:srgbClr val="0099CC"/>
            </a:solidFill>
            <a:ln w="9525" algn="ctr">
              <a:solidFill>
                <a:srgbClr val="0099CC"/>
              </a:solidFill>
              <a:round/>
              <a:headEnd/>
              <a:tailEnd/>
            </a:ln>
          </p:spPr>
          <p:txBody>
            <a:bodyPr/>
            <a:lstStyle>
              <a:lvl1pPr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1pPr>
              <a:lvl2pPr marL="742950" indent="-285750"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2pPr>
              <a:lvl3pPr marL="1143000" indent="-228600"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3pPr>
              <a:lvl4pPr marL="1600200" indent="-228600"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4pPr>
              <a:lvl5pPr marL="2057400" indent="-228600"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5pPr>
              <a:lvl6pPr marL="2514600" indent="-228600" algn="ctr" defTabSz="784225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6pPr>
              <a:lvl7pPr marL="2971800" indent="-228600" algn="ctr" defTabSz="784225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7pPr>
              <a:lvl8pPr marL="3429000" indent="-228600" algn="ctr" defTabSz="784225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8pPr>
              <a:lvl9pPr marL="3886200" indent="-228600" algn="ctr" defTabSz="784225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9pPr>
            </a:lstStyle>
            <a:p>
              <a:pPr marL="0" marR="0" lvl="0" indent="0" algn="ctr" defTabSz="7842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宋体" charset="-122"/>
                  <a:cs typeface="+mn-cs"/>
                </a:rPr>
                <a:t>Down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6" name="流程图: 可选过程 4"/>
            <p:cNvSpPr>
              <a:spLocks noChangeArrowheads="1"/>
            </p:cNvSpPr>
            <p:nvPr/>
          </p:nvSpPr>
          <p:spPr bwMode="auto">
            <a:xfrm>
              <a:off x="3240088" y="2708275"/>
              <a:ext cx="1439862" cy="431800"/>
            </a:xfrm>
            <a:prstGeom prst="flowChartAlternateProcess">
              <a:avLst/>
            </a:prstGeom>
            <a:solidFill>
              <a:srgbClr val="0099CC"/>
            </a:solidFill>
            <a:ln w="9525" algn="ctr">
              <a:solidFill>
                <a:srgbClr val="0099CC"/>
              </a:solidFill>
              <a:round/>
              <a:headEnd/>
              <a:tailEnd/>
            </a:ln>
          </p:spPr>
          <p:txBody>
            <a:bodyPr/>
            <a:lstStyle>
              <a:lvl1pPr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1pPr>
              <a:lvl2pPr marL="742950" indent="-285750"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2pPr>
              <a:lvl3pPr marL="1143000" indent="-228600"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3pPr>
              <a:lvl4pPr marL="1600200" indent="-228600"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4pPr>
              <a:lvl5pPr marL="2057400" indent="-228600"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5pPr>
              <a:lvl6pPr marL="2514600" indent="-228600" algn="ctr" defTabSz="784225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6pPr>
              <a:lvl7pPr marL="2971800" indent="-228600" algn="ctr" defTabSz="784225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7pPr>
              <a:lvl8pPr marL="3429000" indent="-228600" algn="ctr" defTabSz="784225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8pPr>
              <a:lvl9pPr marL="3886200" indent="-228600" algn="ctr" defTabSz="784225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9pPr>
            </a:lstStyle>
            <a:p>
              <a:pPr marL="0" marR="0" lvl="0" indent="0" algn="ctr" defTabSz="7842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宋体" charset="-122"/>
                  <a:cs typeface="+mn-cs"/>
                </a:rPr>
                <a:t>Init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7" name="流程图: 可选过程 5"/>
            <p:cNvSpPr>
              <a:spLocks noChangeArrowheads="1"/>
            </p:cNvSpPr>
            <p:nvPr/>
          </p:nvSpPr>
          <p:spPr bwMode="auto">
            <a:xfrm>
              <a:off x="3240088" y="3752850"/>
              <a:ext cx="1439862" cy="431800"/>
            </a:xfrm>
            <a:prstGeom prst="flowChartAlternateProcess">
              <a:avLst/>
            </a:prstGeom>
            <a:solidFill>
              <a:srgbClr val="0099CC"/>
            </a:solidFill>
            <a:ln w="9525" algn="ctr">
              <a:solidFill>
                <a:srgbClr val="0099CC"/>
              </a:solidFill>
              <a:round/>
              <a:headEnd/>
              <a:tailEnd/>
            </a:ln>
          </p:spPr>
          <p:txBody>
            <a:bodyPr/>
            <a:lstStyle>
              <a:lvl1pPr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1pPr>
              <a:lvl2pPr marL="742950" indent="-285750"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2pPr>
              <a:lvl3pPr marL="1143000" indent="-228600"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3pPr>
              <a:lvl4pPr marL="1600200" indent="-228600"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4pPr>
              <a:lvl5pPr marL="2057400" indent="-228600"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5pPr>
              <a:lvl6pPr marL="2514600" indent="-228600" algn="ctr" defTabSz="784225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6pPr>
              <a:lvl7pPr marL="2971800" indent="-228600" algn="ctr" defTabSz="784225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7pPr>
              <a:lvl8pPr marL="3429000" indent="-228600" algn="ctr" defTabSz="784225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8pPr>
              <a:lvl9pPr marL="3886200" indent="-228600" algn="ctr" defTabSz="784225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9pPr>
            </a:lstStyle>
            <a:p>
              <a:pPr marL="0" marR="0" lvl="0" indent="0" algn="ctr" defTabSz="7842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宋体" charset="-122"/>
                  <a:cs typeface="+mn-cs"/>
                </a:rPr>
                <a:t>ExStart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8" name="流程图: 可选过程 9"/>
            <p:cNvSpPr>
              <a:spLocks noChangeArrowheads="1"/>
            </p:cNvSpPr>
            <p:nvPr/>
          </p:nvSpPr>
          <p:spPr bwMode="auto">
            <a:xfrm>
              <a:off x="1263650" y="5157788"/>
              <a:ext cx="1439863" cy="431800"/>
            </a:xfrm>
            <a:prstGeom prst="flowChartAlternateProcess">
              <a:avLst/>
            </a:prstGeom>
            <a:solidFill>
              <a:srgbClr val="0099CC"/>
            </a:solidFill>
            <a:ln w="9525" algn="ctr">
              <a:solidFill>
                <a:srgbClr val="0099CC"/>
              </a:solidFill>
              <a:round/>
              <a:headEnd/>
              <a:tailEnd/>
            </a:ln>
          </p:spPr>
          <p:txBody>
            <a:bodyPr/>
            <a:lstStyle>
              <a:lvl1pPr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1pPr>
              <a:lvl2pPr marL="742950" indent="-285750"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2pPr>
              <a:lvl3pPr marL="1143000" indent="-228600"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3pPr>
              <a:lvl4pPr marL="1600200" indent="-228600"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4pPr>
              <a:lvl5pPr marL="2057400" indent="-228600"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5pPr>
              <a:lvl6pPr marL="2514600" indent="-228600" algn="ctr" defTabSz="784225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6pPr>
              <a:lvl7pPr marL="2971800" indent="-228600" algn="ctr" defTabSz="784225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7pPr>
              <a:lvl8pPr marL="3429000" indent="-228600" algn="ctr" defTabSz="784225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8pPr>
              <a:lvl9pPr marL="3886200" indent="-228600" algn="ctr" defTabSz="784225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9pPr>
            </a:lstStyle>
            <a:p>
              <a:pPr marL="0" marR="0" lvl="0" indent="0" algn="ctr" defTabSz="7842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宋体" charset="-122"/>
                  <a:cs typeface="+mn-cs"/>
                </a:rPr>
                <a:t>Loading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9" name="流程图: 可选过程 10"/>
            <p:cNvSpPr>
              <a:spLocks noChangeArrowheads="1"/>
            </p:cNvSpPr>
            <p:nvPr/>
          </p:nvSpPr>
          <p:spPr bwMode="auto">
            <a:xfrm>
              <a:off x="5148263" y="5157788"/>
              <a:ext cx="1439862" cy="431800"/>
            </a:xfrm>
            <a:prstGeom prst="flowChartAlternateProcess">
              <a:avLst/>
            </a:prstGeom>
            <a:solidFill>
              <a:srgbClr val="0099CC"/>
            </a:solidFill>
            <a:ln w="9525" algn="ctr">
              <a:solidFill>
                <a:srgbClr val="0099CC"/>
              </a:solidFill>
              <a:round/>
              <a:headEnd/>
              <a:tailEnd/>
            </a:ln>
          </p:spPr>
          <p:txBody>
            <a:bodyPr/>
            <a:lstStyle>
              <a:lvl1pPr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1pPr>
              <a:lvl2pPr marL="742950" indent="-285750"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2pPr>
              <a:lvl3pPr marL="1143000" indent="-228600"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3pPr>
              <a:lvl4pPr marL="1600200" indent="-228600"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4pPr>
              <a:lvl5pPr marL="2057400" indent="-228600"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5pPr>
              <a:lvl6pPr marL="2514600" indent="-228600" algn="ctr" defTabSz="784225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6pPr>
              <a:lvl7pPr marL="2971800" indent="-228600" algn="ctr" defTabSz="784225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7pPr>
              <a:lvl8pPr marL="3429000" indent="-228600" algn="ctr" defTabSz="784225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8pPr>
              <a:lvl9pPr marL="3886200" indent="-228600" algn="ctr" defTabSz="784225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9pPr>
            </a:lstStyle>
            <a:p>
              <a:pPr marL="0" marR="0" lvl="0" indent="0" algn="ctr" defTabSz="7842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宋体" charset="-122"/>
                  <a:cs typeface="+mn-cs"/>
                </a:rPr>
                <a:t>Full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cxnSp>
          <p:nvCxnSpPr>
            <p:cNvPr id="20" name="直接箭头连接符 17"/>
            <p:cNvCxnSpPr>
              <a:cxnSpLocks noChangeShapeType="1"/>
              <a:stCxn id="15" idx="3"/>
            </p:cNvCxnSpPr>
            <p:nvPr/>
          </p:nvCxnSpPr>
          <p:spPr bwMode="auto">
            <a:xfrm>
              <a:off x="4679950" y="1811338"/>
              <a:ext cx="1116013" cy="322262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直接箭头连接符 23"/>
            <p:cNvCxnSpPr>
              <a:cxnSpLocks noChangeShapeType="1"/>
              <a:stCxn id="31" idx="2"/>
            </p:cNvCxnSpPr>
            <p:nvPr/>
          </p:nvCxnSpPr>
          <p:spPr bwMode="auto">
            <a:xfrm flipH="1">
              <a:off x="4716463" y="2600325"/>
              <a:ext cx="1152525" cy="252413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直接箭头连接符 25"/>
            <p:cNvCxnSpPr>
              <a:cxnSpLocks noChangeShapeType="1"/>
              <a:endCxn id="16" idx="3"/>
            </p:cNvCxnSpPr>
            <p:nvPr/>
          </p:nvCxnSpPr>
          <p:spPr bwMode="auto">
            <a:xfrm flipH="1" flipV="1">
              <a:off x="4679950" y="2924175"/>
              <a:ext cx="1224661" cy="288801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直接连接符 29"/>
            <p:cNvCxnSpPr>
              <a:cxnSpLocks noChangeShapeType="1"/>
            </p:cNvCxnSpPr>
            <p:nvPr/>
          </p:nvCxnSpPr>
          <p:spPr bwMode="auto">
            <a:xfrm>
              <a:off x="1187450" y="3716338"/>
              <a:ext cx="6337300" cy="0"/>
            </a:xfrm>
            <a:prstGeom prst="line">
              <a:avLst/>
            </a:prstGeom>
            <a:noFill/>
            <a:ln w="12700" algn="ctr">
              <a:solidFill>
                <a:srgbClr val="005B9A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" name="TextBox 8"/>
            <p:cNvSpPr txBox="1">
              <a:spLocks noChangeArrowheads="1"/>
            </p:cNvSpPr>
            <p:nvPr/>
          </p:nvSpPr>
          <p:spPr bwMode="auto">
            <a:xfrm>
              <a:off x="7207846" y="3368675"/>
              <a:ext cx="595372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邻居</a:t>
              </a:r>
              <a:endPara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" name="TextBox 8"/>
            <p:cNvSpPr txBox="1">
              <a:spLocks noChangeArrowheads="1"/>
            </p:cNvSpPr>
            <p:nvPr/>
          </p:nvSpPr>
          <p:spPr bwMode="auto">
            <a:xfrm>
              <a:off x="6937860" y="5230813"/>
              <a:ext cx="100550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1pPr>
              <a:lvl2pPr marL="742950" indent="-285750" algn="ctr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2pPr>
              <a:lvl3pPr marL="1143000" indent="-228600" algn="ctr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3pPr>
              <a:lvl4pPr marL="1600200" indent="-228600" algn="ctr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4pPr>
              <a:lvl5pPr marL="2057400" indent="-228600" algn="ctr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华文细黑" pitchFamily="2" charset="-122"/>
                  <a:ea typeface="华文细黑" pitchFamily="2" charset="-122"/>
                  <a:cs typeface="+mn-cs"/>
                </a:rPr>
                <a:t>完全邻接</a:t>
              </a:r>
              <a:endPara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细黑" pitchFamily="2" charset="-122"/>
                <a:ea typeface="华文细黑" pitchFamily="2" charset="-122"/>
                <a:cs typeface="+mn-cs"/>
              </a:endParaRPr>
            </a:p>
          </p:txBody>
        </p:sp>
        <p:cxnSp>
          <p:nvCxnSpPr>
            <p:cNvPr id="26" name="直接箭头连接符 36"/>
            <p:cNvCxnSpPr>
              <a:cxnSpLocks noChangeShapeType="1"/>
            </p:cNvCxnSpPr>
            <p:nvPr/>
          </p:nvCxnSpPr>
          <p:spPr bwMode="auto">
            <a:xfrm flipH="1">
              <a:off x="2700338" y="5013325"/>
              <a:ext cx="1260475" cy="360363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直接箭头连接符 38"/>
            <p:cNvCxnSpPr>
              <a:cxnSpLocks noChangeShapeType="1"/>
            </p:cNvCxnSpPr>
            <p:nvPr/>
          </p:nvCxnSpPr>
          <p:spPr bwMode="auto">
            <a:xfrm>
              <a:off x="3960813" y="5013325"/>
              <a:ext cx="1187450" cy="360363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" name="流程图: 可选过程 8"/>
            <p:cNvSpPr>
              <a:spLocks noChangeArrowheads="1"/>
            </p:cNvSpPr>
            <p:nvPr/>
          </p:nvSpPr>
          <p:spPr bwMode="auto">
            <a:xfrm>
              <a:off x="5148263" y="3213100"/>
              <a:ext cx="1439862" cy="431800"/>
            </a:xfrm>
            <a:prstGeom prst="flowChartAlternateProcess">
              <a:avLst/>
            </a:prstGeom>
            <a:solidFill>
              <a:srgbClr val="0099CC"/>
            </a:solidFill>
            <a:ln w="9525" algn="ctr">
              <a:solidFill>
                <a:srgbClr val="0099CC"/>
              </a:solidFill>
              <a:round/>
              <a:headEnd/>
              <a:tailEnd/>
            </a:ln>
          </p:spPr>
          <p:txBody>
            <a:bodyPr/>
            <a:lstStyle>
              <a:lvl1pPr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1pPr>
              <a:lvl2pPr marL="742950" indent="-285750"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2pPr>
              <a:lvl3pPr marL="1143000" indent="-228600"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3pPr>
              <a:lvl4pPr marL="1600200" indent="-228600"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4pPr>
              <a:lvl5pPr marL="2057400" indent="-228600"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5pPr>
              <a:lvl6pPr marL="2514600" indent="-228600" algn="ctr" defTabSz="784225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6pPr>
              <a:lvl7pPr marL="2971800" indent="-228600" algn="ctr" defTabSz="784225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7pPr>
              <a:lvl8pPr marL="3429000" indent="-228600" algn="ctr" defTabSz="784225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8pPr>
              <a:lvl9pPr marL="3886200" indent="-228600" algn="ctr" defTabSz="784225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9pPr>
            </a:lstStyle>
            <a:p>
              <a:pPr marL="0" marR="0" lvl="0" indent="0" algn="ctr" defTabSz="7842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宋体" charset="-122"/>
                  <a:cs typeface="+mn-cs"/>
                </a:rPr>
                <a:t>2-Way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cxnSp>
          <p:nvCxnSpPr>
            <p:cNvPr id="29" name="直接箭头连接符 12"/>
            <p:cNvCxnSpPr>
              <a:cxnSpLocks noChangeShapeType="1"/>
            </p:cNvCxnSpPr>
            <p:nvPr/>
          </p:nvCxnSpPr>
          <p:spPr bwMode="auto">
            <a:xfrm rot="-5400000">
              <a:off x="4575175" y="2868613"/>
              <a:ext cx="0" cy="1143000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" name="流程图: 可选过程 6"/>
            <p:cNvSpPr>
              <a:spLocks noChangeArrowheads="1"/>
            </p:cNvSpPr>
            <p:nvPr/>
          </p:nvSpPr>
          <p:spPr bwMode="auto">
            <a:xfrm>
              <a:off x="3240088" y="4581525"/>
              <a:ext cx="1439862" cy="430213"/>
            </a:xfrm>
            <a:prstGeom prst="flowChartAlternateProcess">
              <a:avLst/>
            </a:prstGeom>
            <a:solidFill>
              <a:srgbClr val="0099CC"/>
            </a:solidFill>
            <a:ln w="9525" algn="ctr">
              <a:solidFill>
                <a:srgbClr val="0099CC"/>
              </a:solidFill>
              <a:round/>
              <a:headEnd/>
              <a:tailEnd/>
            </a:ln>
          </p:spPr>
          <p:txBody>
            <a:bodyPr/>
            <a:lstStyle>
              <a:lvl1pPr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1pPr>
              <a:lvl2pPr marL="742950" indent="-285750"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2pPr>
              <a:lvl3pPr marL="1143000" indent="-228600"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3pPr>
              <a:lvl4pPr marL="1600200" indent="-228600"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4pPr>
              <a:lvl5pPr marL="2057400" indent="-228600"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5pPr>
              <a:lvl6pPr marL="2514600" indent="-228600" algn="ctr" defTabSz="784225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6pPr>
              <a:lvl7pPr marL="2971800" indent="-228600" algn="ctr" defTabSz="784225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7pPr>
              <a:lvl8pPr marL="3429000" indent="-228600" algn="ctr" defTabSz="784225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8pPr>
              <a:lvl9pPr marL="3886200" indent="-228600" algn="ctr" defTabSz="784225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9pPr>
            </a:lstStyle>
            <a:p>
              <a:pPr marL="0" marR="0" lvl="0" indent="0" algn="ctr" defTabSz="7842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宋体" charset="-122"/>
                  <a:cs typeface="+mn-cs"/>
                </a:rPr>
                <a:t>Exchange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31" name="流程图: 可选过程 7"/>
            <p:cNvSpPr>
              <a:spLocks noChangeArrowheads="1"/>
            </p:cNvSpPr>
            <p:nvPr/>
          </p:nvSpPr>
          <p:spPr bwMode="auto">
            <a:xfrm>
              <a:off x="5148263" y="2168525"/>
              <a:ext cx="1439862" cy="431800"/>
            </a:xfrm>
            <a:prstGeom prst="flowChartAlternateProcess">
              <a:avLst/>
            </a:prstGeom>
            <a:solidFill>
              <a:srgbClr val="0099CC"/>
            </a:solidFill>
            <a:ln w="9525" algn="ctr">
              <a:solidFill>
                <a:srgbClr val="0099CC"/>
              </a:solidFill>
              <a:round/>
              <a:headEnd/>
              <a:tailEnd/>
            </a:ln>
          </p:spPr>
          <p:txBody>
            <a:bodyPr/>
            <a:lstStyle>
              <a:lvl1pPr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1pPr>
              <a:lvl2pPr marL="742950" indent="-285750"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2pPr>
              <a:lvl3pPr marL="1143000" indent="-228600"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3pPr>
              <a:lvl4pPr marL="1600200" indent="-228600"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4pPr>
              <a:lvl5pPr marL="2057400" indent="-228600" algn="ctr" defTabSz="784225"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5pPr>
              <a:lvl6pPr marL="2514600" indent="-228600" algn="ctr" defTabSz="784225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6pPr>
              <a:lvl7pPr marL="2971800" indent="-228600" algn="ctr" defTabSz="784225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7pPr>
              <a:lvl8pPr marL="3429000" indent="-228600" algn="ctr" defTabSz="784225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8pPr>
              <a:lvl9pPr marL="3886200" indent="-228600" algn="ctr" defTabSz="784225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Arial" charset="0"/>
                  <a:ea typeface="MS PGothic" pitchFamily="34" charset="-128"/>
                </a:defRPr>
              </a:lvl9pPr>
            </a:lstStyle>
            <a:p>
              <a:pPr marL="0" marR="0" lvl="0" indent="0" algn="ctr" defTabSz="7842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宋体" charset="-122"/>
                  <a:cs typeface="+mn-cs"/>
                </a:rPr>
                <a:t>Attempt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2534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5B5E7D-8FD9-434B-BAC9-4A5D465A8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OSPF-</a:t>
            </a:r>
            <a:r>
              <a:rPr lang="zh-CN" altLang="en-US" dirty="0"/>
              <a:t>报文交互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4632E6-2D1A-4745-B0F4-BE23638BE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272"/>
            <a:ext cx="10515600" cy="513120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dirty="0"/>
              <a:t>发现邻居</a:t>
            </a:r>
            <a:endParaRPr kumimoji="1"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Arial" pitchFamily="34" charset="0"/>
              </a:rPr>
              <a:t>使用</a:t>
            </a:r>
            <a:r>
              <a:rPr lang="en-US" altLang="zh-CN" dirty="0">
                <a:latin typeface="Arial" pitchFamily="34" charset="0"/>
              </a:rPr>
              <a:t>HELLO</a:t>
            </a:r>
            <a:r>
              <a:rPr lang="zh-CN" altLang="en-US" dirty="0">
                <a:latin typeface="Arial" pitchFamily="34" charset="0"/>
              </a:rPr>
              <a:t>报文</a:t>
            </a:r>
            <a:endParaRPr lang="en-US" altLang="zh-CN" dirty="0">
              <a:latin typeface="Arial" pitchFamily="34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Arial" pitchFamily="34" charset="0"/>
              </a:rPr>
              <a:t>检查</a:t>
            </a:r>
            <a:r>
              <a:rPr lang="en-US" altLang="zh-CN" dirty="0">
                <a:latin typeface="Arial" pitchFamily="34" charset="0"/>
              </a:rPr>
              <a:t>HELLO</a:t>
            </a:r>
            <a:r>
              <a:rPr lang="zh-CN" altLang="en-US" dirty="0">
                <a:latin typeface="Arial" pitchFamily="34" charset="0"/>
              </a:rPr>
              <a:t>报文中的参数，如果参数一致，形成邻居关系</a:t>
            </a:r>
            <a:endParaRPr lang="en-US" altLang="zh-CN" dirty="0">
              <a:latin typeface="Arial" pitchFamily="34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Arial" pitchFamily="34" charset="0"/>
              </a:rPr>
              <a:t>对于广播和</a:t>
            </a:r>
            <a:r>
              <a:rPr lang="en-US" altLang="zh-CN" dirty="0">
                <a:latin typeface="Arial" pitchFamily="34" charset="0"/>
              </a:rPr>
              <a:t>NBMA </a:t>
            </a:r>
            <a:r>
              <a:rPr lang="zh-CN" altLang="en-US" dirty="0">
                <a:latin typeface="Arial" pitchFamily="34" charset="0"/>
              </a:rPr>
              <a:t>类型的网络，选举指定路由器（</a:t>
            </a:r>
            <a:r>
              <a:rPr lang="en-US" altLang="en-US" dirty="0">
                <a:latin typeface="Arial" pitchFamily="34" charset="0"/>
                <a:ea typeface="等线" pitchFamily="2" charset="-122"/>
              </a:rPr>
              <a:t>Designated </a:t>
            </a:r>
            <a:r>
              <a:rPr lang="en-US" altLang="en-US" dirty="0" err="1">
                <a:latin typeface="Arial" pitchFamily="34" charset="0"/>
                <a:ea typeface="等线" pitchFamily="2" charset="-122"/>
              </a:rPr>
              <a:t>Router，DR</a:t>
            </a:r>
            <a:r>
              <a:rPr lang="en-US" altLang="en-US" dirty="0">
                <a:latin typeface="Arial" pitchFamily="34" charset="0"/>
                <a:ea typeface="等线" pitchFamily="2" charset="-122"/>
              </a:rPr>
              <a:t>）</a:t>
            </a:r>
            <a:r>
              <a:rPr lang="zh-CN" altLang="en-US" dirty="0">
                <a:latin typeface="Arial" pitchFamily="34" charset="0"/>
              </a:rPr>
              <a:t>和备份指定路由器（</a:t>
            </a:r>
            <a:r>
              <a:rPr lang="en-US" altLang="en-US" dirty="0">
                <a:latin typeface="Arial" pitchFamily="34" charset="0"/>
                <a:ea typeface="等线" pitchFamily="2" charset="-122"/>
              </a:rPr>
              <a:t>Backup Designated </a:t>
            </a:r>
            <a:r>
              <a:rPr lang="en-US" altLang="en-US" dirty="0" err="1">
                <a:latin typeface="Arial" pitchFamily="34" charset="0"/>
                <a:ea typeface="等线" pitchFamily="2" charset="-122"/>
              </a:rPr>
              <a:t>Router，BDR</a:t>
            </a:r>
            <a:r>
              <a:rPr lang="en-US" altLang="en-US" dirty="0">
                <a:latin typeface="Arial" pitchFamily="34" charset="0"/>
                <a:ea typeface="等线" pitchFamily="2" charset="-122"/>
              </a:rPr>
              <a:t>）</a:t>
            </a:r>
            <a:endParaRPr kumimoji="1" lang="zh-CN" altLang="en-US" dirty="0"/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BE8FACEC-799E-DE40-96E7-A30323EC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3243518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5.4.1 OSPF-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内部网关路由协议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550ED307-254A-0A44-A386-B21B3DA0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3" name="Line 17"/>
          <p:cNvSpPr>
            <a:spLocks noChangeShapeType="1"/>
          </p:cNvSpPr>
          <p:nvPr/>
        </p:nvSpPr>
        <p:spPr bwMode="auto">
          <a:xfrm flipV="1">
            <a:off x="3914791" y="4839546"/>
            <a:ext cx="3673475" cy="0"/>
          </a:xfrm>
          <a:prstGeom prst="line">
            <a:avLst/>
          </a:prstGeom>
          <a:noFill/>
          <a:ln w="28575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4" name="Picture 1439" descr="图片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7453" y="4407746"/>
            <a:ext cx="798513" cy="72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439" descr="图片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4878" y="4407746"/>
            <a:ext cx="798513" cy="72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6"/>
          <p:cNvSpPr txBox="1">
            <a:spLocks noChangeArrowheads="1"/>
          </p:cNvSpPr>
          <p:nvPr/>
        </p:nvSpPr>
        <p:spPr bwMode="auto">
          <a:xfrm>
            <a:off x="5419741" y="4391871"/>
            <a:ext cx="533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rPr>
              <a:t>Hello</a:t>
            </a:r>
          </a:p>
        </p:txBody>
      </p:sp>
      <p:sp>
        <p:nvSpPr>
          <p:cNvPr id="17" name="TextBox 8"/>
          <p:cNvSpPr txBox="1">
            <a:spLocks noChangeArrowheads="1"/>
          </p:cNvSpPr>
          <p:nvPr/>
        </p:nvSpPr>
        <p:spPr bwMode="auto">
          <a:xfrm>
            <a:off x="5419741" y="4999884"/>
            <a:ext cx="5334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rPr>
              <a:t>Hello</a:t>
            </a:r>
          </a:p>
        </p:txBody>
      </p:sp>
      <p:cxnSp>
        <p:nvCxnSpPr>
          <p:cNvPr id="18" name="直接箭头连接符 10"/>
          <p:cNvCxnSpPr>
            <a:cxnSpLocks noChangeShapeType="1"/>
          </p:cNvCxnSpPr>
          <p:nvPr/>
        </p:nvCxnSpPr>
        <p:spPr bwMode="auto">
          <a:xfrm>
            <a:off x="4611703" y="4696671"/>
            <a:ext cx="2286000" cy="0"/>
          </a:xfrm>
          <a:prstGeom prst="straightConnector1">
            <a:avLst/>
          </a:prstGeom>
          <a:noFill/>
          <a:ln w="25400" algn="ctr">
            <a:solidFill>
              <a:srgbClr val="C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直接箭头连接符 11"/>
          <p:cNvCxnSpPr>
            <a:cxnSpLocks noChangeShapeType="1"/>
          </p:cNvCxnSpPr>
          <p:nvPr/>
        </p:nvCxnSpPr>
        <p:spPr bwMode="auto">
          <a:xfrm>
            <a:off x="4611703" y="4985596"/>
            <a:ext cx="2286000" cy="0"/>
          </a:xfrm>
          <a:prstGeom prst="straightConnector1">
            <a:avLst/>
          </a:prstGeom>
          <a:noFill/>
          <a:ln w="25400" algn="ctr">
            <a:solidFill>
              <a:srgbClr val="C00000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3698891" y="4191846"/>
            <a:ext cx="62865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rPr>
              <a:t>RTA</a:t>
            </a:r>
          </a:p>
        </p:txBody>
      </p:sp>
      <p:sp>
        <p:nvSpPr>
          <p:cNvPr id="21" name="Text Box 13"/>
          <p:cNvSpPr txBox="1">
            <a:spLocks noChangeArrowheads="1"/>
          </p:cNvSpPr>
          <p:nvPr/>
        </p:nvSpPr>
        <p:spPr bwMode="auto">
          <a:xfrm>
            <a:off x="7299341" y="4191846"/>
            <a:ext cx="62865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rPr>
              <a:t>RTB</a:t>
            </a:r>
          </a:p>
        </p:txBody>
      </p:sp>
    </p:spTree>
    <p:extLst>
      <p:ext uri="{BB962C8B-B14F-4D97-AF65-F5344CB8AC3E}">
        <p14:creationId xmlns:p14="http://schemas.microsoft.com/office/powerpoint/2010/main" val="272944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5B5E7D-8FD9-434B-BAC9-4A5D465A8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OSPF-</a:t>
            </a:r>
            <a:r>
              <a:rPr lang="zh-CN" altLang="en-US" dirty="0"/>
              <a:t>报文交互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4632E6-2D1A-4745-B0F4-BE23638BE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272"/>
            <a:ext cx="4573687" cy="513120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zh-CN" altLang="en-US" dirty="0"/>
              <a:t>数据库同步</a:t>
            </a:r>
            <a:endParaRPr kumimoji="1" lang="en-US" altLang="zh-CN" dirty="0"/>
          </a:p>
          <a:p>
            <a:pPr marL="522287" lvl="1" indent="-252413" defTabSz="801688">
              <a:lnSpc>
                <a:spcPct val="120000"/>
              </a:lnSpc>
              <a:spcBef>
                <a:spcPct val="30000"/>
              </a:spcBef>
              <a:buSzPct val="80000"/>
              <a:buFont typeface="Wingdings" pitchFamily="2" charset="2"/>
              <a:buChar char="l"/>
              <a:defRPr/>
            </a:pPr>
            <a:r>
              <a:rPr lang="zh-CN" altLang="en-US" dirty="0">
                <a:solidFill>
                  <a:prstClr val="black"/>
                </a:solidFill>
                <a:cs typeface="Arial" charset="0"/>
              </a:rPr>
              <a:t>使用</a:t>
            </a:r>
            <a:r>
              <a:rPr lang="en-US" altLang="zh-CN" dirty="0">
                <a:solidFill>
                  <a:prstClr val="black"/>
                </a:solidFill>
                <a:cs typeface="Arial" charset="0"/>
              </a:rPr>
              <a:t>DD</a:t>
            </a:r>
            <a:r>
              <a:rPr lang="zh-CN" altLang="en-US" dirty="0">
                <a:solidFill>
                  <a:prstClr val="black"/>
                </a:solidFill>
                <a:cs typeface="Arial" charset="0"/>
              </a:rPr>
              <a:t>报文来进行主从路由器的选举和数据库摘要信息的交互</a:t>
            </a:r>
            <a:endParaRPr lang="en-US" altLang="zh-CN" dirty="0">
              <a:solidFill>
                <a:prstClr val="black"/>
              </a:solidFill>
              <a:cs typeface="Arial" charset="0"/>
            </a:endParaRPr>
          </a:p>
          <a:p>
            <a:pPr marL="522287" lvl="1" indent="-252413" defTabSz="801688">
              <a:lnSpc>
                <a:spcPct val="120000"/>
              </a:lnSpc>
              <a:spcBef>
                <a:spcPct val="30000"/>
              </a:spcBef>
              <a:buSzPct val="80000"/>
              <a:buFont typeface="Wingdings" pitchFamily="2" charset="2"/>
              <a:buChar char="l"/>
              <a:defRPr/>
            </a:pPr>
            <a:r>
              <a:rPr lang="en-US" altLang="zh-CN" dirty="0">
                <a:solidFill>
                  <a:prstClr val="black"/>
                </a:solidFill>
                <a:cs typeface="Arial" charset="0"/>
              </a:rPr>
              <a:t>DD</a:t>
            </a:r>
            <a:r>
              <a:rPr lang="zh-CN" altLang="en-US" dirty="0">
                <a:solidFill>
                  <a:prstClr val="black"/>
                </a:solidFill>
                <a:cs typeface="Arial" charset="0"/>
              </a:rPr>
              <a:t>报文包含</a:t>
            </a:r>
            <a:r>
              <a:rPr lang="en-US" altLang="zh-CN" dirty="0">
                <a:solidFill>
                  <a:prstClr val="black"/>
                </a:solidFill>
                <a:cs typeface="Arial" charset="0"/>
              </a:rPr>
              <a:t>LSA</a:t>
            </a:r>
            <a:r>
              <a:rPr lang="zh-CN" altLang="en-US" dirty="0">
                <a:solidFill>
                  <a:prstClr val="black"/>
                </a:solidFill>
                <a:cs typeface="Arial" charset="0"/>
              </a:rPr>
              <a:t>的头部信息，用来描述</a:t>
            </a:r>
            <a:r>
              <a:rPr lang="en-US" altLang="zh-CN" dirty="0">
                <a:solidFill>
                  <a:prstClr val="black"/>
                </a:solidFill>
                <a:cs typeface="Arial" charset="0"/>
              </a:rPr>
              <a:t>LSDB</a:t>
            </a:r>
            <a:r>
              <a:rPr lang="zh-CN" altLang="en-US" dirty="0">
                <a:solidFill>
                  <a:prstClr val="black"/>
                </a:solidFill>
                <a:cs typeface="Arial" charset="0"/>
              </a:rPr>
              <a:t>的摘要信息</a:t>
            </a:r>
            <a:endParaRPr kumimoji="1" lang="en-US" altLang="zh-CN" dirty="0"/>
          </a:p>
          <a:p>
            <a:pPr>
              <a:lnSpc>
                <a:spcPct val="120000"/>
              </a:lnSpc>
            </a:pPr>
            <a:r>
              <a:rPr kumimoji="1" lang="zh-CN" altLang="en-US" dirty="0"/>
              <a:t>建立完全邻接关系</a:t>
            </a:r>
            <a:endParaRPr kumimoji="1" lang="en-US" altLang="zh-CN" dirty="0"/>
          </a:p>
          <a:p>
            <a:pPr marL="522287" lvl="1" indent="-252413" defTabSz="801688">
              <a:lnSpc>
                <a:spcPct val="120000"/>
              </a:lnSpc>
              <a:spcBef>
                <a:spcPct val="30000"/>
              </a:spcBef>
              <a:buSzPct val="80000"/>
              <a:buFont typeface="Wingdings" pitchFamily="2" charset="2"/>
              <a:buChar char="l"/>
              <a:defRPr/>
            </a:pPr>
            <a:r>
              <a:rPr lang="en-US" altLang="zh-CN" kern="0" dirty="0">
                <a:solidFill>
                  <a:prstClr val="black"/>
                </a:solidFill>
                <a:cs typeface="Arial" charset="0"/>
              </a:rPr>
              <a:t>LSR</a:t>
            </a:r>
            <a:r>
              <a:rPr lang="zh-CN" altLang="en-US" kern="0" dirty="0">
                <a:solidFill>
                  <a:prstClr val="black"/>
                </a:solidFill>
              </a:rPr>
              <a:t>用于向对方请求所需的</a:t>
            </a:r>
            <a:r>
              <a:rPr lang="en-US" altLang="zh-CN" kern="0" dirty="0">
                <a:solidFill>
                  <a:prstClr val="black"/>
                </a:solidFill>
              </a:rPr>
              <a:t>LSA</a:t>
            </a:r>
            <a:endParaRPr lang="en-US" altLang="zh-CN" kern="0" dirty="0">
              <a:solidFill>
                <a:prstClr val="black"/>
              </a:solidFill>
              <a:cs typeface="Arial" charset="0"/>
            </a:endParaRPr>
          </a:p>
          <a:p>
            <a:pPr marL="522287" lvl="1" indent="-252413" defTabSz="801688">
              <a:lnSpc>
                <a:spcPct val="120000"/>
              </a:lnSpc>
              <a:spcBef>
                <a:spcPct val="30000"/>
              </a:spcBef>
              <a:buSzPct val="80000"/>
              <a:buFont typeface="Wingdings" pitchFamily="2" charset="2"/>
              <a:buChar char="l"/>
              <a:defRPr/>
            </a:pPr>
            <a:r>
              <a:rPr lang="en-US" altLang="zh-CN" kern="0" dirty="0">
                <a:solidFill>
                  <a:prstClr val="black"/>
                </a:solidFill>
              </a:rPr>
              <a:t>LSU</a:t>
            </a:r>
            <a:r>
              <a:rPr lang="zh-CN" altLang="en-US" kern="0" dirty="0">
                <a:solidFill>
                  <a:prstClr val="black"/>
                </a:solidFill>
              </a:rPr>
              <a:t>用于向对方发送其所需要的</a:t>
            </a:r>
            <a:r>
              <a:rPr lang="en-US" altLang="zh-CN" kern="0" dirty="0">
                <a:solidFill>
                  <a:prstClr val="black"/>
                </a:solidFill>
              </a:rPr>
              <a:t>LSA</a:t>
            </a:r>
          </a:p>
          <a:p>
            <a:pPr marL="522287" lvl="1" indent="-252413" defTabSz="801688">
              <a:lnSpc>
                <a:spcPct val="120000"/>
              </a:lnSpc>
              <a:spcBef>
                <a:spcPct val="30000"/>
              </a:spcBef>
              <a:buSzPct val="80000"/>
              <a:buFont typeface="Wingdings" pitchFamily="2" charset="2"/>
              <a:buChar char="l"/>
              <a:defRPr/>
            </a:pPr>
            <a:r>
              <a:rPr lang="en-US" altLang="zh-CN" kern="0" dirty="0">
                <a:solidFill>
                  <a:prstClr val="black"/>
                </a:solidFill>
                <a:cs typeface="Arial" charset="0"/>
              </a:rPr>
              <a:t>LSACK</a:t>
            </a:r>
            <a:r>
              <a:rPr lang="zh-CN" altLang="en-US" kern="0" dirty="0">
                <a:solidFill>
                  <a:prstClr val="black"/>
                </a:solidFill>
                <a:cs typeface="Arial" charset="0"/>
              </a:rPr>
              <a:t>用于向对方发送收到</a:t>
            </a:r>
            <a:r>
              <a:rPr lang="en-US" altLang="zh-CN" kern="0" dirty="0">
                <a:solidFill>
                  <a:prstClr val="black"/>
                </a:solidFill>
                <a:cs typeface="Arial" charset="0"/>
              </a:rPr>
              <a:t>LSA</a:t>
            </a:r>
            <a:r>
              <a:rPr lang="zh-CN" altLang="en-US" kern="0" dirty="0">
                <a:solidFill>
                  <a:prstClr val="black"/>
                </a:solidFill>
                <a:cs typeface="Arial" charset="0"/>
              </a:rPr>
              <a:t>的确认</a:t>
            </a:r>
            <a:endParaRPr lang="en-US" altLang="zh-CN" kern="0" dirty="0">
              <a:solidFill>
                <a:prstClr val="black"/>
              </a:solidFill>
              <a:cs typeface="Arial" charset="0"/>
            </a:endParaRPr>
          </a:p>
          <a:p>
            <a:pPr>
              <a:lnSpc>
                <a:spcPct val="120000"/>
              </a:lnSpc>
            </a:pPr>
            <a:endParaRPr kumimoji="1" lang="en-US" altLang="zh-CN" dirty="0"/>
          </a:p>
          <a:p>
            <a:pPr>
              <a:lnSpc>
                <a:spcPct val="120000"/>
              </a:lnSpc>
            </a:pPr>
            <a:endParaRPr kumimoji="1" lang="en-US" altLang="zh-CN" dirty="0"/>
          </a:p>
          <a:p>
            <a:pPr marL="196850" indent="-252413" defTabSz="801688">
              <a:lnSpc>
                <a:spcPct val="120000"/>
              </a:lnSpc>
              <a:spcBef>
                <a:spcPct val="30000"/>
              </a:spcBef>
              <a:buSzPct val="80000"/>
              <a:buFont typeface="Wingdings" pitchFamily="2" charset="2"/>
              <a:buChar char="l"/>
              <a:defRPr/>
            </a:pPr>
            <a:endParaRPr lang="en-US" altLang="zh-CN" dirty="0">
              <a:solidFill>
                <a:prstClr val="black"/>
              </a:solidFill>
              <a:cs typeface="Arial" charset="0"/>
            </a:endParaRPr>
          </a:p>
          <a:p>
            <a:pPr marL="0" indent="0" defTabSz="801688">
              <a:lnSpc>
                <a:spcPct val="120000"/>
              </a:lnSpc>
              <a:spcBef>
                <a:spcPct val="30000"/>
              </a:spcBef>
              <a:buSzPct val="80000"/>
              <a:buNone/>
              <a:defRPr/>
            </a:pPr>
            <a:endParaRPr kumimoji="1" lang="zh-CN" altLang="en-US" dirty="0"/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BE8FACEC-799E-DE40-96E7-A30323EC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3243518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5.4.1 OSPF-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内部网关路由协议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550ED307-254A-0A44-A386-B21B3DA0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3" name="内容占位符 2"/>
          <p:cNvSpPr txBox="1">
            <a:spLocks/>
          </p:cNvSpPr>
          <p:nvPr/>
        </p:nvSpPr>
        <p:spPr>
          <a:xfrm>
            <a:off x="838200" y="1510758"/>
            <a:ext cx="10515600" cy="4586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363" indent="-360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tabLst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marR="0" lvl="0" indent="-36036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4" name="标题 1"/>
          <p:cNvSpPr txBox="1">
            <a:spLocks/>
          </p:cNvSpPr>
          <p:nvPr/>
        </p:nvSpPr>
        <p:spPr>
          <a:xfrm>
            <a:off x="1307508" y="1548202"/>
            <a:ext cx="8220812" cy="879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5792041" y="1600016"/>
            <a:ext cx="6089393" cy="4756332"/>
            <a:chOff x="6076950" y="1600017"/>
            <a:chExt cx="6089393" cy="4756332"/>
          </a:xfrm>
        </p:grpSpPr>
        <p:grpSp>
          <p:nvGrpSpPr>
            <p:cNvPr id="31" name="组合 30"/>
            <p:cNvGrpSpPr/>
            <p:nvPr/>
          </p:nvGrpSpPr>
          <p:grpSpPr>
            <a:xfrm>
              <a:off x="6076950" y="1600017"/>
              <a:ext cx="6089393" cy="4756332"/>
              <a:chOff x="5187156" y="1712958"/>
              <a:chExt cx="6089393" cy="4756332"/>
            </a:xfrm>
          </p:grpSpPr>
          <p:grpSp>
            <p:nvGrpSpPr>
              <p:cNvPr id="41" name="Group 21"/>
              <p:cNvGrpSpPr>
                <a:grpSpLocks/>
              </p:cNvGrpSpPr>
              <p:nvPr/>
            </p:nvGrpSpPr>
            <p:grpSpPr bwMode="auto">
              <a:xfrm>
                <a:off x="5187156" y="1712958"/>
                <a:ext cx="5659438" cy="4756332"/>
                <a:chOff x="1670050" y="1681014"/>
                <a:chExt cx="5659438" cy="4756332"/>
              </a:xfrm>
            </p:grpSpPr>
            <p:sp>
              <p:nvSpPr>
                <p:cNvPr id="46" name="Line 30"/>
                <p:cNvSpPr>
                  <a:spLocks noChangeShapeType="1"/>
                </p:cNvSpPr>
                <p:nvPr/>
              </p:nvSpPr>
              <p:spPr bwMode="auto">
                <a:xfrm flipV="1">
                  <a:off x="6372225" y="2636837"/>
                  <a:ext cx="0" cy="3800508"/>
                </a:xfrm>
                <a:prstGeom prst="line">
                  <a:avLst/>
                </a:prstGeom>
                <a:noFill/>
                <a:ln w="28575">
                  <a:solidFill>
                    <a:srgbClr val="990000"/>
                  </a:solidFill>
                  <a:round/>
                  <a:headEnd type="none" w="lg" len="lg"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7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1670050" y="1681014"/>
                  <a:ext cx="1677988" cy="1841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 anchorCtr="1">
                  <a:spAutoFit/>
                </a:bodyPr>
                <a:lstStyle>
                  <a:lvl1pPr algn="ctr"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1pPr>
                  <a:lvl2pPr marL="742950" indent="-285750" algn="ctr"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2pPr>
                  <a:lvl3pPr marL="1143000" indent="-228600" algn="ctr"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3pPr>
                  <a:lvl4pPr marL="1600200" indent="-228600" algn="ctr"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4pPr>
                  <a:lvl5pPr marL="2057400" indent="-228600" algn="ctr"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  <a:ea typeface="宋体" charset="-122"/>
                      <a:cs typeface="+mn-cs"/>
                    </a:rPr>
                    <a:t>RTA  (Router ID=1.1.1.1)</a:t>
                  </a:r>
                </a:p>
              </p:txBody>
            </p:sp>
            <p:sp>
              <p:nvSpPr>
                <p:cNvPr id="48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5651500" y="1685518"/>
                  <a:ext cx="1677988" cy="1841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 anchorCtr="1">
                  <a:spAutoFit/>
                </a:bodyPr>
                <a:lstStyle>
                  <a:lvl1pPr algn="ctr"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1pPr>
                  <a:lvl2pPr marL="742950" indent="-285750" algn="ctr"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2pPr>
                  <a:lvl3pPr marL="1143000" indent="-228600" algn="ctr"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3pPr>
                  <a:lvl4pPr marL="1600200" indent="-228600" algn="ctr"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4pPr>
                  <a:lvl5pPr marL="2057400" indent="-228600" algn="ctr"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  <a:ea typeface="宋体" charset="-122"/>
                      <a:cs typeface="+mn-cs"/>
                    </a:rPr>
                    <a:t>RTB  (Router ID=2.2.2.2)</a:t>
                  </a:r>
                </a:p>
              </p:txBody>
            </p:sp>
            <p:sp>
              <p:nvSpPr>
                <p:cNvPr id="49" name="Line 17"/>
                <p:cNvSpPr>
                  <a:spLocks noChangeShapeType="1"/>
                </p:cNvSpPr>
                <p:nvPr/>
              </p:nvSpPr>
              <p:spPr bwMode="auto">
                <a:xfrm flipV="1">
                  <a:off x="2843213" y="2349500"/>
                  <a:ext cx="3168650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pic>
              <p:nvPicPr>
                <p:cNvPr id="50" name="Picture 1439" descr="图片35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124075" y="1916113"/>
                  <a:ext cx="798513" cy="7254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1" name="Picture 1439" descr="图片35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934075" y="1916113"/>
                  <a:ext cx="798513" cy="7254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2" name="Line 7"/>
                <p:cNvSpPr>
                  <a:spLocks noChangeShapeType="1"/>
                </p:cNvSpPr>
                <p:nvPr/>
              </p:nvSpPr>
              <p:spPr bwMode="auto">
                <a:xfrm>
                  <a:off x="2643188" y="3068638"/>
                  <a:ext cx="3598862" cy="0"/>
                </a:xfrm>
                <a:prstGeom prst="line">
                  <a:avLst/>
                </a:prstGeom>
                <a:noFill/>
                <a:ln w="28575">
                  <a:solidFill>
                    <a:srgbClr val="990000"/>
                  </a:solidFill>
                  <a:round/>
                  <a:headEnd type="none" w="lg" len="lg"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3" name="Line 14"/>
                <p:cNvSpPr>
                  <a:spLocks noChangeShapeType="1"/>
                </p:cNvSpPr>
                <p:nvPr/>
              </p:nvSpPr>
              <p:spPr bwMode="auto">
                <a:xfrm>
                  <a:off x="2627313" y="3482975"/>
                  <a:ext cx="3598862" cy="0"/>
                </a:xfrm>
                <a:prstGeom prst="line">
                  <a:avLst/>
                </a:prstGeom>
                <a:noFill/>
                <a:ln w="28575">
                  <a:solidFill>
                    <a:srgbClr val="990000"/>
                  </a:solidFill>
                  <a:round/>
                  <a:headEnd type="stealth" w="lg" len="lg"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4" name="Line 17"/>
                <p:cNvSpPr>
                  <a:spLocks noChangeShapeType="1"/>
                </p:cNvSpPr>
                <p:nvPr/>
              </p:nvSpPr>
              <p:spPr bwMode="auto">
                <a:xfrm>
                  <a:off x="2660650" y="3897313"/>
                  <a:ext cx="3598863" cy="0"/>
                </a:xfrm>
                <a:prstGeom prst="line">
                  <a:avLst/>
                </a:prstGeom>
                <a:noFill/>
                <a:ln w="28575">
                  <a:solidFill>
                    <a:srgbClr val="990000"/>
                  </a:solidFill>
                  <a:round/>
                  <a:headEnd type="none" w="lg" len="lg"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5" name="Line 29"/>
                <p:cNvSpPr>
                  <a:spLocks noChangeShapeType="1"/>
                </p:cNvSpPr>
                <p:nvPr/>
              </p:nvSpPr>
              <p:spPr bwMode="auto">
                <a:xfrm>
                  <a:off x="2627313" y="4311650"/>
                  <a:ext cx="3598862" cy="0"/>
                </a:xfrm>
                <a:prstGeom prst="line">
                  <a:avLst/>
                </a:prstGeom>
                <a:noFill/>
                <a:ln w="28575">
                  <a:solidFill>
                    <a:srgbClr val="990000"/>
                  </a:solidFill>
                  <a:round/>
                  <a:headEnd type="stealth" w="lg" len="lg"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6" name="Line 30"/>
                <p:cNvSpPr>
                  <a:spLocks noChangeShapeType="1"/>
                </p:cNvSpPr>
                <p:nvPr/>
              </p:nvSpPr>
              <p:spPr bwMode="auto">
                <a:xfrm>
                  <a:off x="2674938" y="4724400"/>
                  <a:ext cx="3598862" cy="0"/>
                </a:xfrm>
                <a:prstGeom prst="line">
                  <a:avLst/>
                </a:prstGeom>
                <a:noFill/>
                <a:ln w="28575">
                  <a:solidFill>
                    <a:srgbClr val="990000"/>
                  </a:solidFill>
                  <a:round/>
                  <a:headEnd type="none" w="lg" len="lg"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7" name="Line 30"/>
                <p:cNvSpPr>
                  <a:spLocks noChangeShapeType="1"/>
                </p:cNvSpPr>
                <p:nvPr/>
              </p:nvSpPr>
              <p:spPr bwMode="auto">
                <a:xfrm flipV="1">
                  <a:off x="2484438" y="2636837"/>
                  <a:ext cx="0" cy="3800509"/>
                </a:xfrm>
                <a:prstGeom prst="line">
                  <a:avLst/>
                </a:prstGeom>
                <a:noFill/>
                <a:ln w="28575">
                  <a:solidFill>
                    <a:srgbClr val="990000"/>
                  </a:solidFill>
                  <a:round/>
                  <a:headEnd type="none" w="lg" len="lg"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3411538" y="2852738"/>
                  <a:ext cx="1879600" cy="1841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 anchorCtr="1">
                  <a:spAutoFit/>
                </a:bodyPr>
                <a:lstStyle>
                  <a:lvl1pPr algn="ctr"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1pPr>
                  <a:lvl2pPr marL="742950" indent="-285750" algn="ctr"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2pPr>
                  <a:lvl3pPr marL="1143000" indent="-228600" algn="ctr"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3pPr>
                  <a:lvl4pPr marL="1600200" indent="-228600" algn="ctr"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4pPr>
                  <a:lvl5pPr marL="2057400" indent="-228600" algn="ctr"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2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  <a:ea typeface="华文细黑" pitchFamily="2" charset="-122"/>
                      <a:cs typeface="+mn-cs"/>
                    </a:rPr>
                    <a:t>1. DD, (</a:t>
                  </a:r>
                  <a:r>
                    <a:rPr kumimoji="0" lang="zh-CN" altLang="en-US" sz="12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  <a:ea typeface="华文细黑" pitchFamily="2" charset="-122"/>
                      <a:cs typeface="+mn-cs"/>
                    </a:rPr>
                    <a:t>主</a:t>
                  </a:r>
                  <a:r>
                    <a:rPr kumimoji="0" lang="en-US" altLang="zh-CN" sz="12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  <a:ea typeface="华文细黑" pitchFamily="2" charset="-122"/>
                      <a:cs typeface="+mn-cs"/>
                    </a:rPr>
                    <a:t>)(Sequence=X)</a:t>
                  </a:r>
                  <a:endParaRPr kumimoji="0" lang="en-US" altLang="zh-CN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A50021"/>
                    </a:solidFill>
                    <a:effectLst/>
                    <a:uLnTx/>
                    <a:uFillTx/>
                    <a:latin typeface="Arial" charset="0"/>
                    <a:ea typeface="华文细黑" pitchFamily="2" charset="-122"/>
                    <a:cs typeface="+mn-cs"/>
                  </a:endParaRPr>
                </a:p>
              </p:txBody>
            </p:sp>
            <p:sp>
              <p:nvSpPr>
                <p:cNvPr id="59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3411538" y="3265488"/>
                  <a:ext cx="1879600" cy="1857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 anchorCtr="1">
                  <a:spAutoFit/>
                </a:bodyPr>
                <a:lstStyle>
                  <a:lvl1pPr algn="ctr"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1pPr>
                  <a:lvl2pPr marL="742950" indent="-285750" algn="ctr"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2pPr>
                  <a:lvl3pPr marL="1143000" indent="-228600" algn="ctr"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3pPr>
                  <a:lvl4pPr marL="1600200" indent="-228600" algn="ctr"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4pPr>
                  <a:lvl5pPr marL="2057400" indent="-228600" algn="ctr"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2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  <a:ea typeface="华文细黑" pitchFamily="2" charset="-122"/>
                      <a:cs typeface="+mn-cs"/>
                    </a:rPr>
                    <a:t>2. DD, (</a:t>
                  </a:r>
                  <a:r>
                    <a:rPr kumimoji="0" lang="zh-CN" altLang="en-US" sz="12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  <a:ea typeface="华文细黑" pitchFamily="2" charset="-122"/>
                      <a:cs typeface="+mn-cs"/>
                    </a:rPr>
                    <a:t>主</a:t>
                  </a:r>
                  <a:r>
                    <a:rPr kumimoji="0" lang="en-US" altLang="zh-CN" sz="12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  <a:ea typeface="华文细黑" pitchFamily="2" charset="-122"/>
                      <a:cs typeface="+mn-cs"/>
                    </a:rPr>
                    <a:t>)(Sequence=Y)</a:t>
                  </a:r>
                  <a:endParaRPr kumimoji="0" lang="en-US" altLang="zh-CN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A50021"/>
                    </a:solidFill>
                    <a:effectLst/>
                    <a:uLnTx/>
                    <a:uFillTx/>
                    <a:latin typeface="Arial" charset="0"/>
                    <a:ea typeface="华文细黑" pitchFamily="2" charset="-122"/>
                    <a:cs typeface="+mn-cs"/>
                  </a:endParaRPr>
                </a:p>
              </p:txBody>
            </p:sp>
            <p:sp>
              <p:nvSpPr>
                <p:cNvPr id="60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3411538" y="3686175"/>
                  <a:ext cx="1808162" cy="1841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 anchorCtr="1">
                  <a:spAutoFit/>
                </a:bodyPr>
                <a:lstStyle>
                  <a:lvl1pPr algn="ctr"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1pPr>
                  <a:lvl2pPr marL="742950" indent="-285750" algn="ctr"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2pPr>
                  <a:lvl3pPr marL="1143000" indent="-228600" algn="ctr"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3pPr>
                  <a:lvl4pPr marL="1600200" indent="-228600" algn="ctr"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4pPr>
                  <a:lvl5pPr marL="2057400" indent="-228600" algn="ctr"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2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  <a:ea typeface="华文细黑" pitchFamily="2" charset="-122"/>
                      <a:cs typeface="+mn-cs"/>
                    </a:rPr>
                    <a:t>3. DD, (</a:t>
                  </a:r>
                  <a:r>
                    <a:rPr kumimoji="0" lang="zh-CN" altLang="en-US" sz="12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  <a:ea typeface="华文细黑" pitchFamily="2" charset="-122"/>
                      <a:cs typeface="+mn-cs"/>
                    </a:rPr>
                    <a:t>从</a:t>
                  </a:r>
                  <a:r>
                    <a:rPr kumimoji="0" lang="en-US" altLang="zh-CN" sz="12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  <a:ea typeface="华文细黑" pitchFamily="2" charset="-122"/>
                      <a:cs typeface="+mn-cs"/>
                    </a:rPr>
                    <a:t>)(Sequence=Y)</a:t>
                  </a:r>
                  <a:endParaRPr kumimoji="0" lang="en-US" altLang="zh-CN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A50021"/>
                    </a:solidFill>
                    <a:effectLst/>
                    <a:uLnTx/>
                    <a:uFillTx/>
                    <a:latin typeface="Arial" charset="0"/>
                    <a:ea typeface="华文细黑" pitchFamily="2" charset="-122"/>
                    <a:cs typeface="+mn-cs"/>
                  </a:endParaRPr>
                </a:p>
              </p:txBody>
            </p:sp>
            <p:sp>
              <p:nvSpPr>
                <p:cNvPr id="61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3411538" y="4087813"/>
                  <a:ext cx="2024062" cy="1857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 anchorCtr="1">
                  <a:spAutoFit/>
                </a:bodyPr>
                <a:lstStyle>
                  <a:lvl1pPr algn="ctr"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1pPr>
                  <a:lvl2pPr marL="742950" indent="-285750" algn="ctr"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2pPr>
                  <a:lvl3pPr marL="1143000" indent="-228600" algn="ctr"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3pPr>
                  <a:lvl4pPr marL="1600200" indent="-228600" algn="ctr"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4pPr>
                  <a:lvl5pPr marL="2057400" indent="-228600" algn="ctr"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2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  <a:ea typeface="华文细黑" pitchFamily="2" charset="-122"/>
                      <a:cs typeface="+mn-cs"/>
                    </a:rPr>
                    <a:t>4. DD, (</a:t>
                  </a:r>
                  <a:r>
                    <a:rPr kumimoji="0" lang="zh-CN" altLang="en-US" sz="12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  <a:ea typeface="华文细黑" pitchFamily="2" charset="-122"/>
                      <a:cs typeface="+mn-cs"/>
                    </a:rPr>
                    <a:t>主</a:t>
                  </a:r>
                  <a:r>
                    <a:rPr kumimoji="0" lang="en-US" altLang="zh-CN" sz="12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  <a:ea typeface="华文细黑" pitchFamily="2" charset="-122"/>
                      <a:cs typeface="+mn-cs"/>
                    </a:rPr>
                    <a:t>)(Sequence=Y+1)</a:t>
                  </a:r>
                  <a:endParaRPr kumimoji="0" lang="en-US" altLang="zh-CN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A50021"/>
                    </a:solidFill>
                    <a:effectLst/>
                    <a:uLnTx/>
                    <a:uFillTx/>
                    <a:latin typeface="Arial" charset="0"/>
                    <a:ea typeface="华文细黑" pitchFamily="2" charset="-122"/>
                    <a:cs typeface="+mn-cs"/>
                  </a:endParaRPr>
                </a:p>
              </p:txBody>
            </p:sp>
            <p:sp>
              <p:nvSpPr>
                <p:cNvPr id="62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3411538" y="4519613"/>
                  <a:ext cx="2024062" cy="1857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 anchorCtr="1">
                  <a:spAutoFit/>
                </a:bodyPr>
                <a:lstStyle>
                  <a:lvl1pPr algn="ctr"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1pPr>
                  <a:lvl2pPr marL="742950" indent="-285750" algn="ctr"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2pPr>
                  <a:lvl3pPr marL="1143000" indent="-228600" algn="ctr"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3pPr>
                  <a:lvl4pPr marL="1600200" indent="-228600" algn="ctr"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4pPr>
                  <a:lvl5pPr marL="2057400" indent="-228600" algn="ctr"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Arial" charset="0"/>
                      <a:ea typeface="MS PGothic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2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  <a:ea typeface="华文细黑" pitchFamily="2" charset="-122"/>
                      <a:cs typeface="+mn-cs"/>
                    </a:rPr>
                    <a:t>5. DD, (</a:t>
                  </a:r>
                  <a:r>
                    <a:rPr kumimoji="0" lang="zh-CN" altLang="en-US" sz="12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  <a:ea typeface="华文细黑" pitchFamily="2" charset="-122"/>
                      <a:cs typeface="+mn-cs"/>
                    </a:rPr>
                    <a:t>从</a:t>
                  </a:r>
                  <a:r>
                    <a:rPr kumimoji="0" lang="en-US" altLang="zh-CN" sz="12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  <a:ea typeface="华文细黑" pitchFamily="2" charset="-122"/>
                      <a:cs typeface="+mn-cs"/>
                    </a:rPr>
                    <a:t>)(Sequence=Y+1)</a:t>
                  </a:r>
                  <a:endParaRPr kumimoji="0" lang="en-US" altLang="zh-CN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A50021"/>
                    </a:solidFill>
                    <a:effectLst/>
                    <a:uLnTx/>
                    <a:uFillTx/>
                    <a:latin typeface="Arial" charset="0"/>
                    <a:ea typeface="华文细黑" pitchFamily="2" charset="-122"/>
                    <a:cs typeface="+mn-cs"/>
                  </a:endParaRPr>
                </a:p>
              </p:txBody>
            </p:sp>
          </p:grpSp>
          <p:sp>
            <p:nvSpPr>
              <p:cNvPr id="42" name="Text Box 13"/>
              <p:cNvSpPr txBox="1">
                <a:spLocks noChangeArrowheads="1"/>
              </p:cNvSpPr>
              <p:nvPr/>
            </p:nvSpPr>
            <p:spPr bwMode="auto">
              <a:xfrm>
                <a:off x="5370508" y="3008507"/>
                <a:ext cx="628650" cy="184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>
                <a:spAutoFit/>
              </a:bodyPr>
              <a:lstStyle>
                <a:lvl1pPr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1pPr>
                <a:lvl2pPr marL="742950" indent="-285750"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2pPr>
                <a:lvl3pPr marL="1143000" indent="-228600"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3pPr>
                <a:lvl4pPr marL="1600200" indent="-228600"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4pPr>
                <a:lvl5pPr marL="2057400" indent="-228600"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宋体" charset="-122"/>
                    <a:cs typeface="+mn-cs"/>
                  </a:rPr>
                  <a:t>ExStart</a:t>
                </a:r>
                <a:endPara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43" name="Text Box 13"/>
              <p:cNvSpPr txBox="1">
                <a:spLocks noChangeArrowheads="1"/>
              </p:cNvSpPr>
              <p:nvPr/>
            </p:nvSpPr>
            <p:spPr bwMode="auto">
              <a:xfrm>
                <a:off x="5231606" y="3836924"/>
                <a:ext cx="773113" cy="185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>
                <a:spAutoFit/>
              </a:bodyPr>
              <a:lstStyle>
                <a:lvl1pPr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1pPr>
                <a:lvl2pPr marL="742950" indent="-285750"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2pPr>
                <a:lvl3pPr marL="1143000" indent="-228600"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3pPr>
                <a:lvl4pPr marL="1600200" indent="-228600"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4pPr>
                <a:lvl5pPr marL="2057400" indent="-228600"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宋体" charset="-122"/>
                    <a:cs typeface="+mn-cs"/>
                  </a:rPr>
                  <a:t>Exchange</a:t>
                </a:r>
              </a:p>
            </p:txBody>
          </p:sp>
          <p:sp>
            <p:nvSpPr>
              <p:cNvPr id="44" name="Text Box 13"/>
              <p:cNvSpPr txBox="1">
                <a:spLocks noChangeArrowheads="1"/>
              </p:cNvSpPr>
              <p:nvPr/>
            </p:nvSpPr>
            <p:spPr bwMode="auto">
              <a:xfrm>
                <a:off x="9898334" y="3422844"/>
                <a:ext cx="628650" cy="184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>
                <a:spAutoFit/>
              </a:bodyPr>
              <a:lstStyle>
                <a:lvl1pPr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1pPr>
                <a:lvl2pPr marL="742950" indent="-285750"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2pPr>
                <a:lvl3pPr marL="1143000" indent="-228600"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3pPr>
                <a:lvl4pPr marL="1600200" indent="-228600"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4pPr>
                <a:lvl5pPr marL="2057400" indent="-228600"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宋体" charset="-122"/>
                    <a:cs typeface="+mn-cs"/>
                  </a:rPr>
                  <a:t>ExStart</a:t>
                </a:r>
                <a:endPara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45" name="Text Box 13"/>
              <p:cNvSpPr txBox="1">
                <a:spLocks noChangeArrowheads="1"/>
              </p:cNvSpPr>
              <p:nvPr/>
            </p:nvSpPr>
            <p:spPr bwMode="auto">
              <a:xfrm>
                <a:off x="9950769" y="3836924"/>
                <a:ext cx="1325780" cy="1846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 anchorCtr="1">
                <a:spAutoFit/>
              </a:bodyPr>
              <a:lstStyle>
                <a:lvl1pPr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1pPr>
                <a:lvl2pPr marL="742950" indent="-285750"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2pPr>
                <a:lvl3pPr marL="1143000" indent="-228600"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3pPr>
                <a:lvl4pPr marL="1600200" indent="-228600"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4pPr>
                <a:lvl5pPr marL="2057400" indent="-228600"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宋体" charset="-122"/>
                    <a:cs typeface="+mn-cs"/>
                  </a:rPr>
                  <a:t>ExStart</a:t>
                </a:r>
                <a:r>
                  <a:rPr kumimoji="0" lang="en-US" altLang="zh-CN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宋体" charset="-122"/>
                    <a:cs typeface="+mn-cs"/>
                    <a:sym typeface="Wingdings" panose="05000000000000000000" pitchFamily="2" charset="2"/>
                  </a:rPr>
                  <a:t></a:t>
                </a:r>
                <a:r>
                  <a:rPr kumimoji="0" lang="en-US" altLang="zh-CN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宋体" charset="-122"/>
                    <a:cs typeface="+mn-cs"/>
                  </a:rPr>
                  <a:t>Exchange</a:t>
                </a:r>
                <a:endPara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宋体" charset="-122"/>
                  <a:cs typeface="+mn-cs"/>
                </a:endParaRPr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6245010" y="4871766"/>
              <a:ext cx="4405447" cy="1411385"/>
              <a:chOff x="6284721" y="4138579"/>
              <a:chExt cx="4405447" cy="1411385"/>
            </a:xfrm>
          </p:grpSpPr>
          <p:sp>
            <p:nvSpPr>
              <p:cNvPr id="33" name="Line 14"/>
              <p:cNvSpPr>
                <a:spLocks noChangeShapeType="1"/>
              </p:cNvSpPr>
              <p:nvPr/>
            </p:nvSpPr>
            <p:spPr bwMode="auto">
              <a:xfrm>
                <a:off x="7073843" y="5443732"/>
                <a:ext cx="3598862" cy="0"/>
              </a:xfrm>
              <a:prstGeom prst="line">
                <a:avLst/>
              </a:prstGeom>
              <a:noFill/>
              <a:ln w="25400">
                <a:solidFill>
                  <a:srgbClr val="990000"/>
                </a:solidFill>
                <a:round/>
                <a:headEnd type="none" w="lg" len="lg"/>
                <a:tailEnd type="arrow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4" name="Line 17"/>
              <p:cNvSpPr>
                <a:spLocks noChangeShapeType="1"/>
              </p:cNvSpPr>
              <p:nvPr/>
            </p:nvSpPr>
            <p:spPr bwMode="auto">
              <a:xfrm>
                <a:off x="7091305" y="4340148"/>
                <a:ext cx="3598863" cy="0"/>
              </a:xfrm>
              <a:prstGeom prst="line">
                <a:avLst/>
              </a:prstGeom>
              <a:noFill/>
              <a:ln w="25400">
                <a:solidFill>
                  <a:srgbClr val="990000"/>
                </a:solidFill>
                <a:round/>
                <a:headEnd type="none"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5" name="Text Box 24"/>
              <p:cNvSpPr txBox="1">
                <a:spLocks noChangeArrowheads="1"/>
              </p:cNvSpPr>
              <p:nvPr/>
            </p:nvSpPr>
            <p:spPr bwMode="auto">
              <a:xfrm>
                <a:off x="7581843" y="5245078"/>
                <a:ext cx="2589212" cy="1846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>
                <a:spAutoFit/>
              </a:bodyPr>
              <a:lstStyle>
                <a:lvl1pPr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1pPr>
                <a:lvl2pPr marL="742950" indent="-285750"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2pPr>
                <a:lvl3pPr marL="1143000" indent="-228600"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3pPr>
                <a:lvl4pPr marL="1600200" indent="-228600"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4pPr>
                <a:lvl5pPr marL="2057400" indent="-228600"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宋体" charset="-122"/>
                    <a:cs typeface="+mn-cs"/>
                  </a:rPr>
                  <a:t>8.Link State Ack</a:t>
                </a:r>
                <a:endPara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  <a:latin typeface="Arial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36" name="Text Box 28"/>
              <p:cNvSpPr txBox="1">
                <a:spLocks noChangeArrowheads="1"/>
              </p:cNvSpPr>
              <p:nvPr/>
            </p:nvSpPr>
            <p:spPr bwMode="auto">
              <a:xfrm>
                <a:off x="7581843" y="4138579"/>
                <a:ext cx="2589212" cy="1841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>
                <a:spAutoFit/>
              </a:bodyPr>
              <a:lstStyle>
                <a:lvl1pPr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1pPr>
                <a:lvl2pPr marL="742950" indent="-285750"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2pPr>
                <a:lvl3pPr marL="1143000" indent="-228600"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3pPr>
                <a:lvl4pPr marL="1600200" indent="-228600"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4pPr>
                <a:lvl5pPr marL="2057400" indent="-228600"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宋体" charset="-122"/>
                    <a:cs typeface="+mn-cs"/>
                  </a:rPr>
                  <a:t>6.Link State Request</a:t>
                </a:r>
                <a:endPara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  <a:latin typeface="Arial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37" name="Line 29"/>
              <p:cNvSpPr>
                <a:spLocks noChangeShapeType="1"/>
              </p:cNvSpPr>
              <p:nvPr/>
            </p:nvSpPr>
            <p:spPr bwMode="auto">
              <a:xfrm>
                <a:off x="7073843" y="4897242"/>
                <a:ext cx="3598862" cy="0"/>
              </a:xfrm>
              <a:prstGeom prst="line">
                <a:avLst/>
              </a:prstGeom>
              <a:noFill/>
              <a:ln w="25400">
                <a:solidFill>
                  <a:srgbClr val="990000"/>
                </a:solidFill>
                <a:round/>
                <a:headEnd type="stealth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8" name="Text Box 38"/>
              <p:cNvSpPr txBox="1">
                <a:spLocks noChangeArrowheads="1"/>
              </p:cNvSpPr>
              <p:nvPr/>
            </p:nvSpPr>
            <p:spPr bwMode="auto">
              <a:xfrm>
                <a:off x="7581843" y="4698847"/>
                <a:ext cx="2589212" cy="1841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>
                <a:spAutoFit/>
              </a:bodyPr>
              <a:lstStyle>
                <a:lvl1pPr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1pPr>
                <a:lvl2pPr marL="742950" indent="-285750"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2pPr>
                <a:lvl3pPr marL="1143000" indent="-228600"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3pPr>
                <a:lvl4pPr marL="1600200" indent="-228600"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4pPr>
                <a:lvl5pPr marL="2057400" indent="-228600"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宋体" charset="-122"/>
                    <a:cs typeface="+mn-cs"/>
                  </a:rPr>
                  <a:t>7.Link State Update</a:t>
                </a:r>
                <a:endPara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  <a:latin typeface="Arial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39" name="Text Box 13"/>
              <p:cNvSpPr txBox="1">
                <a:spLocks noChangeArrowheads="1"/>
              </p:cNvSpPr>
              <p:nvPr/>
            </p:nvSpPr>
            <p:spPr bwMode="auto">
              <a:xfrm>
                <a:off x="6284721" y="4230634"/>
                <a:ext cx="628650" cy="1841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>
                <a:spAutoFit/>
              </a:bodyPr>
              <a:lstStyle>
                <a:lvl1pPr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1pPr>
                <a:lvl2pPr marL="742950" indent="-285750"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2pPr>
                <a:lvl3pPr marL="1143000" indent="-228600"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3pPr>
                <a:lvl4pPr marL="1600200" indent="-228600"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4pPr>
                <a:lvl5pPr marL="2057400" indent="-228600"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宋体" charset="-122"/>
                    <a:cs typeface="+mn-cs"/>
                  </a:rPr>
                  <a:t>Loading</a:t>
                </a:r>
              </a:p>
            </p:txBody>
          </p:sp>
          <p:sp>
            <p:nvSpPr>
              <p:cNvPr id="40" name="Text Box 13"/>
              <p:cNvSpPr txBox="1">
                <a:spLocks noChangeArrowheads="1"/>
              </p:cNvSpPr>
              <p:nvPr/>
            </p:nvSpPr>
            <p:spPr bwMode="auto">
              <a:xfrm>
                <a:off x="6513055" y="5364265"/>
                <a:ext cx="497311" cy="1856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 anchorCtr="1">
                <a:spAutoFit/>
              </a:bodyPr>
              <a:lstStyle>
                <a:lvl1pPr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1pPr>
                <a:lvl2pPr marL="742950" indent="-285750"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2pPr>
                <a:lvl3pPr marL="1143000" indent="-228600"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3pPr>
                <a:lvl4pPr marL="1600200" indent="-228600"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4pPr>
                <a:lvl5pPr marL="2057400" indent="-228600" algn="ctr"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Arial" charset="0"/>
                    <a:ea typeface="MS PGothic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宋体" charset="-122"/>
                    <a:cs typeface="+mn-cs"/>
                  </a:rPr>
                  <a:t>Full</a:t>
                </a:r>
              </a:p>
            </p:txBody>
          </p:sp>
        </p:grpSp>
      </p:grpSp>
      <p:sp>
        <p:nvSpPr>
          <p:cNvPr id="68" name="Text Box 13"/>
          <p:cNvSpPr txBox="1">
            <a:spLocks noChangeArrowheads="1"/>
          </p:cNvSpPr>
          <p:nvPr/>
        </p:nvSpPr>
        <p:spPr bwMode="auto">
          <a:xfrm>
            <a:off x="5232715" y="3290455"/>
            <a:ext cx="133307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1">
            <a:spAutoFit/>
          </a:bodyPr>
          <a:lstStyle>
            <a:lvl1pPr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rPr>
              <a:t>ExStart</a:t>
            </a: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  <a:sym typeface="Wingdings" panose="05000000000000000000" pitchFamily="2" charset="2"/>
              </a:rPr>
              <a:t>Exchange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宋体" charset="-122"/>
              <a:cs typeface="+mn-cs"/>
            </a:endParaRPr>
          </a:p>
        </p:txBody>
      </p:sp>
      <p:sp>
        <p:nvSpPr>
          <p:cNvPr id="69" name="Text Box 13"/>
          <p:cNvSpPr txBox="1">
            <a:spLocks noChangeArrowheads="1"/>
          </p:cNvSpPr>
          <p:nvPr/>
        </p:nvSpPr>
        <p:spPr bwMode="auto">
          <a:xfrm>
            <a:off x="10433259" y="4981278"/>
            <a:ext cx="453217" cy="184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1">
            <a:spAutoFit/>
          </a:bodyPr>
          <a:lstStyle>
            <a:lvl1pPr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rPr>
              <a:t>Full</a:t>
            </a:r>
          </a:p>
        </p:txBody>
      </p:sp>
      <p:sp>
        <p:nvSpPr>
          <p:cNvPr id="70" name="Text Box 13"/>
          <p:cNvSpPr txBox="1">
            <a:spLocks noChangeArrowheads="1"/>
          </p:cNvSpPr>
          <p:nvPr/>
        </p:nvSpPr>
        <p:spPr bwMode="auto">
          <a:xfrm>
            <a:off x="5553707" y="5523811"/>
            <a:ext cx="10120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1">
            <a:spAutoFit/>
          </a:bodyPr>
          <a:lstStyle>
            <a:lvl1pPr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rPr>
              <a:t>Loading</a:t>
            </a: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  <a:sym typeface="Wingdings" panose="05000000000000000000" pitchFamily="2" charset="2"/>
              </a:rPr>
              <a:t>Full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宋体" charset="-122"/>
              <a:cs typeface="+mn-cs"/>
            </a:endParaRPr>
          </a:p>
        </p:txBody>
      </p:sp>
      <p:sp>
        <p:nvSpPr>
          <p:cNvPr id="71" name="Text Box 13"/>
          <p:cNvSpPr txBox="1">
            <a:spLocks noChangeArrowheads="1"/>
          </p:cNvSpPr>
          <p:nvPr/>
        </p:nvSpPr>
        <p:spPr bwMode="auto">
          <a:xfrm>
            <a:off x="10431137" y="5524366"/>
            <a:ext cx="455339" cy="184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1">
            <a:spAutoFit/>
          </a:bodyPr>
          <a:lstStyle>
            <a:lvl1pPr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rPr>
              <a:t>Full</a:t>
            </a:r>
          </a:p>
        </p:txBody>
      </p:sp>
      <p:sp>
        <p:nvSpPr>
          <p:cNvPr id="72" name="Text Box 13"/>
          <p:cNvSpPr txBox="1">
            <a:spLocks noChangeArrowheads="1"/>
          </p:cNvSpPr>
          <p:nvPr/>
        </p:nvSpPr>
        <p:spPr bwMode="auto">
          <a:xfrm>
            <a:off x="10445736" y="6073919"/>
            <a:ext cx="440740" cy="184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1">
            <a:spAutoFit/>
          </a:bodyPr>
          <a:lstStyle>
            <a:lvl1pPr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rPr>
              <a:t>Full</a:t>
            </a:r>
          </a:p>
        </p:txBody>
      </p:sp>
      <p:sp>
        <p:nvSpPr>
          <p:cNvPr id="73" name="Text Box 13"/>
          <p:cNvSpPr txBox="1">
            <a:spLocks noChangeArrowheads="1"/>
          </p:cNvSpPr>
          <p:nvPr/>
        </p:nvSpPr>
        <p:spPr bwMode="auto">
          <a:xfrm>
            <a:off x="5833316" y="4550533"/>
            <a:ext cx="773113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rPr>
              <a:t>Exchange</a:t>
            </a:r>
          </a:p>
        </p:txBody>
      </p:sp>
      <p:sp>
        <p:nvSpPr>
          <p:cNvPr id="74" name="Text Box 13"/>
          <p:cNvSpPr txBox="1">
            <a:spLocks noChangeArrowheads="1"/>
          </p:cNvSpPr>
          <p:nvPr/>
        </p:nvSpPr>
        <p:spPr bwMode="auto">
          <a:xfrm>
            <a:off x="5833316" y="4192552"/>
            <a:ext cx="773113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rPr>
              <a:t>Exchange</a:t>
            </a:r>
          </a:p>
        </p:txBody>
      </p:sp>
      <p:sp>
        <p:nvSpPr>
          <p:cNvPr id="75" name="Text Box 13"/>
          <p:cNvSpPr txBox="1">
            <a:spLocks noChangeArrowheads="1"/>
          </p:cNvSpPr>
          <p:nvPr/>
        </p:nvSpPr>
        <p:spPr bwMode="auto">
          <a:xfrm>
            <a:off x="10499920" y="4099683"/>
            <a:ext cx="773113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rPr>
              <a:t>Exchange</a:t>
            </a:r>
          </a:p>
        </p:txBody>
      </p:sp>
      <p:sp>
        <p:nvSpPr>
          <p:cNvPr id="76" name="Text Box 13"/>
          <p:cNvSpPr txBox="1">
            <a:spLocks noChangeArrowheads="1"/>
          </p:cNvSpPr>
          <p:nvPr/>
        </p:nvSpPr>
        <p:spPr bwMode="auto">
          <a:xfrm>
            <a:off x="10441891" y="4542039"/>
            <a:ext cx="1263445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1">
            <a:spAutoFit/>
          </a:bodyPr>
          <a:lstStyle>
            <a:lvl1pPr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algn="ctr"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rPr>
              <a:t>Exchange</a:t>
            </a: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  <a:sym typeface="Wingdings" panose="05000000000000000000" pitchFamily="2" charset="2"/>
              </a:rPr>
              <a:t>Full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宋体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84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5B5E7D-8FD9-434B-BAC9-4A5D465A8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OSPF-</a:t>
            </a:r>
            <a:r>
              <a:rPr lang="zh-CN" altLang="en-US" dirty="0"/>
              <a:t>区域的概念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4632E6-2D1A-4745-B0F4-BE23638BE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272"/>
            <a:ext cx="10188787" cy="5131205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dirty="0"/>
              <a:t>OSPF</a:t>
            </a:r>
            <a:r>
              <a:rPr lang="zh-CN" altLang="en-US" dirty="0"/>
              <a:t>支持将一组网段组合在一起，称为一个区域</a:t>
            </a:r>
          </a:p>
          <a:p>
            <a:pPr algn="just">
              <a:lnSpc>
                <a:spcPct val="120000"/>
              </a:lnSpc>
            </a:pPr>
            <a:r>
              <a:rPr lang="zh-CN" altLang="en-US" dirty="0">
                <a:latin typeface="Arial" panose="020B0604020202020204" pitchFamily="34" charset="0"/>
              </a:rPr>
              <a:t>详细的描述拓扑结构的链路状态信息仅在区域内传递，区域间传递的是抽象的路由信息</a:t>
            </a:r>
            <a:endParaRPr lang="en-US" altLang="zh-CN" dirty="0">
              <a:latin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zh-CN" altLang="en-US" dirty="0"/>
              <a:t>使用</a:t>
            </a:r>
            <a:r>
              <a:rPr lang="zh-CN" altLang="en-US" dirty="0">
                <a:solidFill>
                  <a:srgbClr val="C00000"/>
                </a:solidFill>
              </a:rPr>
              <a:t>层次结构的区域划分</a:t>
            </a:r>
            <a:r>
              <a:rPr lang="zh-CN" altLang="en-US" dirty="0"/>
              <a:t>，上层的区域叫做</a:t>
            </a:r>
            <a:r>
              <a:rPr lang="zh-CN" altLang="en-US" dirty="0">
                <a:solidFill>
                  <a:srgbClr val="C00000"/>
                </a:solidFill>
              </a:rPr>
              <a:t>主干区域 </a:t>
            </a:r>
            <a:r>
              <a:rPr lang="en-US" altLang="zh-CN" dirty="0"/>
              <a:t>(backbone area)</a:t>
            </a:r>
            <a:r>
              <a:rPr lang="zh-CN" altLang="en-US" dirty="0"/>
              <a:t>，其他区域都必须与主干区域相连</a:t>
            </a:r>
            <a:endParaRPr lang="en-US" altLang="zh-CN" dirty="0"/>
          </a:p>
          <a:p>
            <a:pPr algn="just">
              <a:lnSpc>
                <a:spcPct val="120000"/>
              </a:lnSpc>
            </a:pPr>
            <a:r>
              <a:rPr lang="zh-CN" altLang="en-US" dirty="0"/>
              <a:t>非主干区域之间不允许直接发布区域间路由信息</a:t>
            </a:r>
            <a:endParaRPr lang="en-US" altLang="zh-CN" dirty="0"/>
          </a:p>
          <a:p>
            <a:pPr algn="just">
              <a:lnSpc>
                <a:spcPct val="120000"/>
              </a:lnSpc>
            </a:pPr>
            <a:r>
              <a:rPr lang="zh-CN" altLang="en-US" dirty="0"/>
              <a:t>区域也不能太大，在一个区域内的路由器最好不超过 </a:t>
            </a:r>
            <a:r>
              <a:rPr lang="en-US" altLang="zh-CN" dirty="0"/>
              <a:t>200 </a:t>
            </a:r>
            <a:r>
              <a:rPr lang="zh-CN" altLang="en-US" dirty="0"/>
              <a:t>个</a:t>
            </a:r>
            <a:endParaRPr lang="en-US" altLang="zh-CN" dirty="0"/>
          </a:p>
          <a:p>
            <a:pPr algn="just">
              <a:lnSpc>
                <a:spcPct val="120000"/>
              </a:lnSpc>
            </a:pPr>
            <a:r>
              <a:rPr lang="zh-CN" altLang="en-US" dirty="0"/>
              <a:t>划分区域可以缩小</a:t>
            </a:r>
            <a:r>
              <a:rPr lang="en-US" altLang="zh-CN" dirty="0"/>
              <a:t>LSDB</a:t>
            </a:r>
            <a:r>
              <a:rPr lang="zh-CN" altLang="en-US" dirty="0"/>
              <a:t>规模，减少网络流量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endParaRPr kumimoji="1" lang="en-US" altLang="zh-CN" dirty="0"/>
          </a:p>
          <a:p>
            <a:pPr>
              <a:lnSpc>
                <a:spcPct val="120000"/>
              </a:lnSpc>
            </a:pPr>
            <a:endParaRPr kumimoji="1" lang="en-US" altLang="zh-CN" dirty="0"/>
          </a:p>
          <a:p>
            <a:pPr marL="196850" indent="-252413" defTabSz="801688">
              <a:lnSpc>
                <a:spcPct val="120000"/>
              </a:lnSpc>
              <a:spcBef>
                <a:spcPct val="30000"/>
              </a:spcBef>
              <a:buSzPct val="80000"/>
              <a:buFont typeface="Wingdings" pitchFamily="2" charset="2"/>
              <a:buChar char="l"/>
              <a:defRPr/>
            </a:pPr>
            <a:endParaRPr lang="en-US" altLang="zh-CN" dirty="0">
              <a:solidFill>
                <a:prstClr val="black"/>
              </a:solidFill>
              <a:cs typeface="Arial" charset="0"/>
            </a:endParaRPr>
          </a:p>
          <a:p>
            <a:pPr marL="0" indent="0" defTabSz="801688">
              <a:lnSpc>
                <a:spcPct val="120000"/>
              </a:lnSpc>
              <a:spcBef>
                <a:spcPct val="30000"/>
              </a:spcBef>
              <a:buSzPct val="80000"/>
              <a:buNone/>
              <a:defRPr/>
            </a:pPr>
            <a:endParaRPr kumimoji="1" lang="zh-CN" altLang="en-US" dirty="0"/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BE8FACEC-799E-DE40-96E7-A30323EC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3243518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5.4.1 OSPF-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内部网关路由协议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550ED307-254A-0A44-A386-B21B3DA0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3" name="内容占位符 2"/>
          <p:cNvSpPr txBox="1">
            <a:spLocks/>
          </p:cNvSpPr>
          <p:nvPr/>
        </p:nvSpPr>
        <p:spPr>
          <a:xfrm>
            <a:off x="838200" y="1510758"/>
            <a:ext cx="10515600" cy="4586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363" indent="-360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tabLst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marR="0" lvl="0" indent="-36036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4" name="标题 1"/>
          <p:cNvSpPr txBox="1">
            <a:spLocks/>
          </p:cNvSpPr>
          <p:nvPr/>
        </p:nvSpPr>
        <p:spPr>
          <a:xfrm>
            <a:off x="1307508" y="1548202"/>
            <a:ext cx="8220812" cy="879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sp>
        <p:nvSpPr>
          <p:cNvPr id="67" name="Rectangle 3"/>
          <p:cNvSpPr txBox="1">
            <a:spLocks noChangeArrowheads="1"/>
          </p:cNvSpPr>
          <p:nvPr/>
        </p:nvSpPr>
        <p:spPr bwMode="auto">
          <a:xfrm>
            <a:off x="5715471" y="5414033"/>
            <a:ext cx="4415873" cy="1366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96850" marR="0" lvl="0" indent="-252413" algn="l" defTabSz="801688" rtl="0" eaLnBrk="1" fontAlgn="auto" latinLnBrk="0" hangingPunct="1">
              <a:lnSpc>
                <a:spcPct val="120000"/>
              </a:lnSpc>
              <a:spcBef>
                <a:spcPct val="30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630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5B5E7D-8FD9-434B-BAC9-4A5D465A8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OSPF-</a:t>
            </a:r>
            <a:r>
              <a:rPr lang="zh-CN" altLang="en-US" dirty="0"/>
              <a:t>区域的概念</a:t>
            </a:r>
            <a:endParaRPr kumimoji="1" lang="zh-CN" altLang="en-US" dirty="0"/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BE8FACEC-799E-DE40-96E7-A30323EC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3243518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5.4.1 OSPF-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内部网关路由协议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550ED307-254A-0A44-A386-B21B3DA0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3" name="内容占位符 2"/>
          <p:cNvSpPr txBox="1">
            <a:spLocks/>
          </p:cNvSpPr>
          <p:nvPr/>
        </p:nvSpPr>
        <p:spPr>
          <a:xfrm>
            <a:off x="838200" y="1510758"/>
            <a:ext cx="10515600" cy="4586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363" indent="-360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tabLst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marR="0" lvl="0" indent="-36036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4" name="标题 1"/>
          <p:cNvSpPr txBox="1">
            <a:spLocks/>
          </p:cNvSpPr>
          <p:nvPr/>
        </p:nvSpPr>
        <p:spPr>
          <a:xfrm>
            <a:off x="1307508" y="1548202"/>
            <a:ext cx="8220812" cy="879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sp>
        <p:nvSpPr>
          <p:cNvPr id="67" name="Rectangle 3"/>
          <p:cNvSpPr txBox="1">
            <a:spLocks noChangeArrowheads="1"/>
          </p:cNvSpPr>
          <p:nvPr/>
        </p:nvSpPr>
        <p:spPr bwMode="auto">
          <a:xfrm>
            <a:off x="5715471" y="5414033"/>
            <a:ext cx="4415873" cy="1366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96850" marR="0" lvl="0" indent="-252413" algn="l" defTabSz="801688" rtl="0" eaLnBrk="1" fontAlgn="auto" latinLnBrk="0" hangingPunct="1">
              <a:lnSpc>
                <a:spcPct val="120000"/>
              </a:lnSpc>
              <a:spcBef>
                <a:spcPct val="30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Arial" charset="0"/>
            </a:endParaRPr>
          </a:p>
        </p:txBody>
      </p:sp>
      <p:sp>
        <p:nvSpPr>
          <p:cNvPr id="11" name="内容占位符 2"/>
          <p:cNvSpPr txBox="1">
            <a:spLocks/>
          </p:cNvSpPr>
          <p:nvPr/>
        </p:nvSpPr>
        <p:spPr>
          <a:xfrm>
            <a:off x="838197" y="1510758"/>
            <a:ext cx="4420334" cy="4586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363" indent="-360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marR="0" lvl="0" indent="-360363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OSPF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的区域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685800" marR="0" lvl="1" indent="-2286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主干区域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685800" marR="0" lvl="1" indent="-2286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非主干区域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360363" marR="0" lvl="0" indent="-360363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路由器角色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685800" marR="0" lvl="1" indent="-2286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内部路由器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(Internal Router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IR)</a:t>
            </a:r>
          </a:p>
          <a:p>
            <a:pPr marL="685800" marR="0" lvl="1" indent="-2286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区域边界路由器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(Area Bounder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Router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ABR)</a:t>
            </a:r>
          </a:p>
          <a:p>
            <a:pPr marL="685800" marR="0" lvl="1" indent="-2286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自治系统边界路由器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(AS Bounder Router, ASBR)</a:t>
            </a:r>
          </a:p>
        </p:txBody>
      </p:sp>
      <p:sp>
        <p:nvSpPr>
          <p:cNvPr id="13" name="AutoShape 33"/>
          <p:cNvSpPr>
            <a:spLocks noChangeArrowheads="1"/>
          </p:cNvSpPr>
          <p:nvPr/>
        </p:nvSpPr>
        <p:spPr bwMode="auto">
          <a:xfrm>
            <a:off x="8231595" y="1613391"/>
            <a:ext cx="2376487" cy="1081088"/>
          </a:xfrm>
          <a:prstGeom prst="wedgeRectCallout">
            <a:avLst>
              <a:gd name="adj1" fmla="val -23397"/>
              <a:gd name="adj2" fmla="val 79313"/>
            </a:avLst>
          </a:prstGeom>
          <a:solidFill>
            <a:schemeClr val="bg1"/>
          </a:solidFill>
          <a:ln w="3175" algn="ctr">
            <a:solidFill>
              <a:srgbClr val="999999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50021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Area 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为主干区域，所有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ABR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都至少有一个接口属于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Area 0</a:t>
            </a:r>
          </a:p>
        </p:txBody>
      </p:sp>
      <p:sp>
        <p:nvSpPr>
          <p:cNvPr id="14" name="Oval 3"/>
          <p:cNvSpPr>
            <a:spLocks noChangeArrowheads="1"/>
          </p:cNvSpPr>
          <p:nvPr/>
        </p:nvSpPr>
        <p:spPr bwMode="auto">
          <a:xfrm>
            <a:off x="6914715" y="3064187"/>
            <a:ext cx="961464" cy="936104"/>
          </a:xfrm>
          <a:prstGeom prst="ellipse">
            <a:avLst/>
          </a:prstGeom>
          <a:solidFill>
            <a:schemeClr val="bg1">
              <a:alpha val="39999"/>
            </a:schemeClr>
          </a:solidFill>
          <a:ln w="12700" algn="ctr">
            <a:solidFill>
              <a:srgbClr val="009999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Oval 3"/>
          <p:cNvSpPr>
            <a:spLocks noChangeArrowheads="1"/>
          </p:cNvSpPr>
          <p:nvPr/>
        </p:nvSpPr>
        <p:spPr bwMode="auto">
          <a:xfrm>
            <a:off x="9820395" y="2920171"/>
            <a:ext cx="1080120" cy="864096"/>
          </a:xfrm>
          <a:prstGeom prst="ellipse">
            <a:avLst/>
          </a:prstGeom>
          <a:solidFill>
            <a:schemeClr val="bg1">
              <a:alpha val="39999"/>
            </a:schemeClr>
          </a:solidFill>
          <a:ln w="12700" algn="ctr">
            <a:solidFill>
              <a:srgbClr val="009999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" name="Oval 3"/>
          <p:cNvSpPr>
            <a:spLocks noChangeArrowheads="1"/>
          </p:cNvSpPr>
          <p:nvPr/>
        </p:nvSpPr>
        <p:spPr bwMode="auto">
          <a:xfrm>
            <a:off x="6292003" y="4432339"/>
            <a:ext cx="1872208" cy="1440160"/>
          </a:xfrm>
          <a:prstGeom prst="ellipse">
            <a:avLst/>
          </a:prstGeom>
          <a:solidFill>
            <a:schemeClr val="bg1">
              <a:alpha val="39999"/>
            </a:schemeClr>
          </a:solidFill>
          <a:ln w="12700" algn="ctr">
            <a:solidFill>
              <a:srgbClr val="009999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7" name="Oval 3"/>
          <p:cNvSpPr>
            <a:spLocks noChangeArrowheads="1"/>
          </p:cNvSpPr>
          <p:nvPr/>
        </p:nvSpPr>
        <p:spPr bwMode="auto">
          <a:xfrm>
            <a:off x="9316339" y="4648363"/>
            <a:ext cx="2088232" cy="1296144"/>
          </a:xfrm>
          <a:prstGeom prst="ellipse">
            <a:avLst/>
          </a:prstGeom>
          <a:solidFill>
            <a:schemeClr val="bg1">
              <a:alpha val="39999"/>
            </a:schemeClr>
          </a:solidFill>
          <a:ln w="12700" algn="ctr">
            <a:solidFill>
              <a:srgbClr val="009999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" name="Oval 3"/>
          <p:cNvSpPr>
            <a:spLocks noChangeArrowheads="1"/>
          </p:cNvSpPr>
          <p:nvPr/>
        </p:nvSpPr>
        <p:spPr bwMode="auto">
          <a:xfrm>
            <a:off x="7804171" y="3064187"/>
            <a:ext cx="2160240" cy="2016224"/>
          </a:xfrm>
          <a:prstGeom prst="ellipse">
            <a:avLst/>
          </a:prstGeom>
          <a:solidFill>
            <a:schemeClr val="bg1">
              <a:alpha val="39999"/>
            </a:schemeClr>
          </a:solidFill>
          <a:ln w="12700" algn="ctr">
            <a:solidFill>
              <a:srgbClr val="009999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08227" y="3640252"/>
            <a:ext cx="432048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00315" y="3640251"/>
            <a:ext cx="432048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676379" y="3352219"/>
            <a:ext cx="432048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00315" y="4288323"/>
            <a:ext cx="432048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32163" y="4648363"/>
            <a:ext cx="432048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68067" y="4648363"/>
            <a:ext cx="432048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50908" y="3352219"/>
            <a:ext cx="432048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68067" y="3208203"/>
            <a:ext cx="432048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56099" y="5224427"/>
            <a:ext cx="432048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324451" y="4720371"/>
            <a:ext cx="432048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32363" y="4728755"/>
            <a:ext cx="432048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32363" y="5368443"/>
            <a:ext cx="432048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324451" y="5368443"/>
            <a:ext cx="432048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4" name="直接连接符 33"/>
          <p:cNvCxnSpPr>
            <a:stCxn id="19" idx="3"/>
          </p:cNvCxnSpPr>
          <p:nvPr/>
        </p:nvCxnSpPr>
        <p:spPr bwMode="auto">
          <a:xfrm flipV="1">
            <a:off x="8740275" y="3784267"/>
            <a:ext cx="360040" cy="1"/>
          </a:xfrm>
          <a:prstGeom prst="line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/>
          <p:cNvCxnSpPr>
            <a:stCxn id="19" idx="2"/>
          </p:cNvCxnSpPr>
          <p:nvPr/>
        </p:nvCxnSpPr>
        <p:spPr bwMode="auto">
          <a:xfrm>
            <a:off x="8524251" y="3928284"/>
            <a:ext cx="0" cy="360039"/>
          </a:xfrm>
          <a:prstGeom prst="line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/>
          <p:cNvCxnSpPr>
            <a:stCxn id="20" idx="2"/>
          </p:cNvCxnSpPr>
          <p:nvPr/>
        </p:nvCxnSpPr>
        <p:spPr bwMode="auto">
          <a:xfrm>
            <a:off x="9316339" y="3928283"/>
            <a:ext cx="0" cy="360040"/>
          </a:xfrm>
          <a:prstGeom prst="line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/>
          <p:cNvCxnSpPr>
            <a:stCxn id="27" idx="1"/>
          </p:cNvCxnSpPr>
          <p:nvPr/>
        </p:nvCxnSpPr>
        <p:spPr bwMode="auto">
          <a:xfrm flipH="1" flipV="1">
            <a:off x="7290868" y="3424227"/>
            <a:ext cx="360040" cy="72008"/>
          </a:xfrm>
          <a:prstGeom prst="line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/>
          <p:cNvCxnSpPr>
            <a:stCxn id="25" idx="1"/>
            <a:endCxn id="26" idx="3"/>
          </p:cNvCxnSpPr>
          <p:nvPr/>
        </p:nvCxnSpPr>
        <p:spPr bwMode="auto">
          <a:xfrm flipH="1">
            <a:off x="7300115" y="4792379"/>
            <a:ext cx="432048" cy="0"/>
          </a:xfrm>
          <a:prstGeom prst="line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 bwMode="auto">
          <a:xfrm flipH="1">
            <a:off x="7516139" y="4936395"/>
            <a:ext cx="216024" cy="288032"/>
          </a:xfrm>
          <a:prstGeom prst="line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接连接符 39"/>
          <p:cNvCxnSpPr>
            <a:stCxn id="31" idx="2"/>
          </p:cNvCxnSpPr>
          <p:nvPr/>
        </p:nvCxnSpPr>
        <p:spPr bwMode="auto">
          <a:xfrm>
            <a:off x="9748387" y="5016787"/>
            <a:ext cx="0" cy="351656"/>
          </a:xfrm>
          <a:prstGeom prst="line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stCxn id="32" idx="3"/>
            <a:endCxn id="33" idx="1"/>
          </p:cNvCxnSpPr>
          <p:nvPr/>
        </p:nvCxnSpPr>
        <p:spPr bwMode="auto">
          <a:xfrm>
            <a:off x="9964411" y="5512459"/>
            <a:ext cx="360040" cy="0"/>
          </a:xfrm>
          <a:prstGeom prst="line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stCxn id="30" idx="2"/>
            <a:endCxn id="33" idx="0"/>
          </p:cNvCxnSpPr>
          <p:nvPr/>
        </p:nvCxnSpPr>
        <p:spPr bwMode="auto">
          <a:xfrm>
            <a:off x="10540475" y="5008403"/>
            <a:ext cx="0" cy="360040"/>
          </a:xfrm>
          <a:prstGeom prst="line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连接符 42"/>
          <p:cNvCxnSpPr>
            <a:stCxn id="31" idx="3"/>
          </p:cNvCxnSpPr>
          <p:nvPr/>
        </p:nvCxnSpPr>
        <p:spPr bwMode="auto">
          <a:xfrm flipV="1">
            <a:off x="9964411" y="4864387"/>
            <a:ext cx="360040" cy="8384"/>
          </a:xfrm>
          <a:prstGeom prst="line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200"/>
          <p:cNvSpPr txBox="1"/>
          <p:nvPr/>
        </p:nvSpPr>
        <p:spPr>
          <a:xfrm>
            <a:off x="8452243" y="4648363"/>
            <a:ext cx="765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Area 0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45" name="TextBox 201"/>
          <p:cNvSpPr txBox="1"/>
          <p:nvPr/>
        </p:nvSpPr>
        <p:spPr>
          <a:xfrm>
            <a:off x="6995970" y="3574340"/>
            <a:ext cx="8548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Area 1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46" name="TextBox 202"/>
          <p:cNvSpPr txBox="1"/>
          <p:nvPr/>
        </p:nvSpPr>
        <p:spPr>
          <a:xfrm>
            <a:off x="6364011" y="5008403"/>
            <a:ext cx="765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Area 2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47" name="TextBox 203"/>
          <p:cNvSpPr txBox="1"/>
          <p:nvPr/>
        </p:nvSpPr>
        <p:spPr>
          <a:xfrm>
            <a:off x="9964411" y="2992179"/>
            <a:ext cx="765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Area 3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48" name="TextBox 204"/>
          <p:cNvSpPr txBox="1"/>
          <p:nvPr/>
        </p:nvSpPr>
        <p:spPr>
          <a:xfrm>
            <a:off x="10540475" y="5008403"/>
            <a:ext cx="765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Area 4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49" name="直接连接符 48"/>
          <p:cNvCxnSpPr/>
          <p:nvPr/>
        </p:nvCxnSpPr>
        <p:spPr bwMode="auto">
          <a:xfrm flipV="1">
            <a:off x="8740275" y="4432338"/>
            <a:ext cx="360040" cy="1"/>
          </a:xfrm>
          <a:prstGeom prst="line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49"/>
          <p:cNvCxnSpPr>
            <a:stCxn id="27" idx="3"/>
          </p:cNvCxnSpPr>
          <p:nvPr/>
        </p:nvCxnSpPr>
        <p:spPr bwMode="auto">
          <a:xfrm>
            <a:off x="8082956" y="3496235"/>
            <a:ext cx="297279" cy="144016"/>
          </a:xfrm>
          <a:prstGeom prst="line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接连接符 50"/>
          <p:cNvCxnSpPr>
            <a:endCxn id="21" idx="1"/>
          </p:cNvCxnSpPr>
          <p:nvPr/>
        </p:nvCxnSpPr>
        <p:spPr bwMode="auto">
          <a:xfrm flipV="1">
            <a:off x="9532363" y="3496235"/>
            <a:ext cx="144016" cy="144016"/>
          </a:xfrm>
          <a:prstGeom prst="line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 bwMode="auto">
          <a:xfrm flipV="1">
            <a:off x="8092203" y="4504347"/>
            <a:ext cx="288032" cy="144016"/>
          </a:xfrm>
          <a:prstGeom prst="line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08227" y="4288323"/>
            <a:ext cx="432048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4" name="直接连接符 53"/>
          <p:cNvCxnSpPr/>
          <p:nvPr/>
        </p:nvCxnSpPr>
        <p:spPr bwMode="auto">
          <a:xfrm>
            <a:off x="9460355" y="4576355"/>
            <a:ext cx="216024" cy="144016"/>
          </a:xfrm>
          <a:prstGeom prst="line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104"/>
          <p:cNvSpPr txBox="1"/>
          <p:nvPr/>
        </p:nvSpPr>
        <p:spPr>
          <a:xfrm>
            <a:off x="6154016" y="4000291"/>
            <a:ext cx="41069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IR</a:t>
            </a:r>
            <a:endParaRPr kumimoji="0" lang="zh-CN" altLang="en-US" sz="17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56" name="直接箭头连接符 55"/>
          <p:cNvCxnSpPr/>
          <p:nvPr/>
        </p:nvCxnSpPr>
        <p:spPr bwMode="auto">
          <a:xfrm flipH="1">
            <a:off x="7130739" y="2704147"/>
            <a:ext cx="216024" cy="432048"/>
          </a:xfrm>
          <a:prstGeom prst="straightConnector1">
            <a:avLst/>
          </a:prstGeom>
          <a:ln>
            <a:prstDash val="dash"/>
            <a:tailEnd type="arrow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 bwMode="auto">
          <a:xfrm>
            <a:off x="7084091" y="4216315"/>
            <a:ext cx="0" cy="360040"/>
          </a:xfrm>
          <a:prstGeom prst="straightConnector1">
            <a:avLst/>
          </a:prstGeom>
          <a:ln>
            <a:prstDash val="dash"/>
            <a:tailEnd type="arrow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 bwMode="auto">
          <a:xfrm>
            <a:off x="6626683" y="4202886"/>
            <a:ext cx="1636923" cy="91534"/>
          </a:xfrm>
          <a:prstGeom prst="straightConnector1">
            <a:avLst/>
          </a:prstGeom>
          <a:ln>
            <a:prstDash val="dash"/>
            <a:tailEnd type="arrow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TextBox 113"/>
          <p:cNvSpPr txBox="1"/>
          <p:nvPr/>
        </p:nvSpPr>
        <p:spPr>
          <a:xfrm>
            <a:off x="7202747" y="2416115"/>
            <a:ext cx="78098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ASBR</a:t>
            </a:r>
            <a:endParaRPr kumimoji="0" lang="zh-CN" altLang="en-US" sz="17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60" name="TextBox 115"/>
          <p:cNvSpPr txBox="1"/>
          <p:nvPr/>
        </p:nvSpPr>
        <p:spPr>
          <a:xfrm>
            <a:off x="8452243" y="5296435"/>
            <a:ext cx="64953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ABR</a:t>
            </a:r>
            <a:endParaRPr kumimoji="0" lang="zh-CN" altLang="en-US" sz="17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pic>
        <p:nvPicPr>
          <p:cNvPr id="61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58531" y="1696035"/>
            <a:ext cx="1380280" cy="1152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2" name="直接连接符 61"/>
          <p:cNvCxnSpPr/>
          <p:nvPr/>
        </p:nvCxnSpPr>
        <p:spPr bwMode="auto">
          <a:xfrm>
            <a:off x="6410659" y="2704147"/>
            <a:ext cx="432048" cy="576065"/>
          </a:xfrm>
          <a:prstGeom prst="line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TextBox 119"/>
          <p:cNvSpPr txBox="1"/>
          <p:nvPr/>
        </p:nvSpPr>
        <p:spPr>
          <a:xfrm>
            <a:off x="5665219" y="2056075"/>
            <a:ext cx="52450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RIP</a:t>
            </a:r>
            <a:endParaRPr kumimoji="0" lang="zh-CN" alt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64" name="直接箭头连接符 63"/>
          <p:cNvCxnSpPr/>
          <p:nvPr/>
        </p:nvCxnSpPr>
        <p:spPr bwMode="auto">
          <a:xfrm flipH="1" flipV="1">
            <a:off x="8164211" y="4936395"/>
            <a:ext cx="360040" cy="432048"/>
          </a:xfrm>
          <a:prstGeom prst="straightConnector1">
            <a:avLst/>
          </a:prstGeom>
          <a:ln>
            <a:prstDash val="dash"/>
            <a:tailEnd type="arrow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 bwMode="auto">
          <a:xfrm flipV="1">
            <a:off x="9028307" y="5008403"/>
            <a:ext cx="504056" cy="360040"/>
          </a:xfrm>
          <a:prstGeom prst="straightConnector1">
            <a:avLst/>
          </a:prstGeom>
          <a:ln>
            <a:prstDash val="dash"/>
            <a:tailEnd type="arrow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677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5B5E7D-8FD9-434B-BAC9-4A5D465A8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OSPF-</a:t>
            </a:r>
            <a:r>
              <a:rPr lang="zh-CN" altLang="en-US" dirty="0"/>
              <a:t>报文格式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4632E6-2D1A-4745-B0F4-BE23638BE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272"/>
            <a:ext cx="4579714" cy="5131205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</a:pPr>
            <a:r>
              <a:rPr kumimoji="1" lang="zh-CN" altLang="en-US" dirty="0"/>
              <a:t>协议封装</a:t>
            </a:r>
            <a:endParaRPr kumimoji="1" lang="en-US" altLang="zh-CN" dirty="0"/>
          </a:p>
          <a:p>
            <a:pPr marL="522287" lvl="1" indent="-252413" defTabSz="801688">
              <a:lnSpc>
                <a:spcPct val="120000"/>
              </a:lnSpc>
              <a:spcBef>
                <a:spcPct val="30000"/>
              </a:spcBef>
              <a:buSzPct val="80000"/>
              <a:buFont typeface="Wingdings" pitchFamily="2" charset="2"/>
              <a:buChar char="l"/>
              <a:defRPr/>
            </a:pPr>
            <a:r>
              <a:rPr lang="zh-CN" altLang="en-US" dirty="0">
                <a:solidFill>
                  <a:prstClr val="black"/>
                </a:solidFill>
                <a:cs typeface="Arial" charset="0"/>
              </a:rPr>
              <a:t>运行于</a:t>
            </a:r>
            <a:r>
              <a:rPr lang="en-US" altLang="zh-CN" dirty="0">
                <a:solidFill>
                  <a:prstClr val="black"/>
                </a:solidFill>
                <a:cs typeface="Arial" charset="0"/>
              </a:rPr>
              <a:t>IP</a:t>
            </a:r>
            <a:r>
              <a:rPr lang="zh-CN" altLang="en-US" dirty="0">
                <a:solidFill>
                  <a:prstClr val="black"/>
                </a:solidFill>
                <a:cs typeface="Arial" charset="0"/>
              </a:rPr>
              <a:t>协议之上，协议号</a:t>
            </a:r>
            <a:r>
              <a:rPr lang="en-US" altLang="zh-CN" dirty="0">
                <a:solidFill>
                  <a:prstClr val="black"/>
                </a:solidFill>
                <a:cs typeface="Arial" charset="0"/>
              </a:rPr>
              <a:t>89</a:t>
            </a:r>
          </a:p>
          <a:p>
            <a:pPr>
              <a:lnSpc>
                <a:spcPct val="130000"/>
              </a:lnSpc>
              <a:buSzPct val="80000"/>
              <a:defRPr/>
            </a:pPr>
            <a:r>
              <a:rPr kumimoji="1" lang="zh-CN" altLang="en-US" dirty="0"/>
              <a:t>路由器标识符</a:t>
            </a:r>
            <a:endParaRPr kumimoji="1" lang="en-US" altLang="zh-CN" dirty="0"/>
          </a:p>
          <a:p>
            <a:pPr marL="522287" lvl="1" indent="-252413" defTabSz="801688">
              <a:lnSpc>
                <a:spcPct val="120000"/>
              </a:lnSpc>
              <a:spcBef>
                <a:spcPct val="30000"/>
              </a:spcBef>
              <a:buSzPct val="80000"/>
              <a:buFont typeface="Wingdings" pitchFamily="2" charset="2"/>
              <a:buChar char="l"/>
              <a:defRPr/>
            </a:pPr>
            <a:r>
              <a:rPr lang="zh-CN" altLang="en-US" kern="0" dirty="0">
                <a:solidFill>
                  <a:prstClr val="black"/>
                </a:solidFill>
              </a:rPr>
              <a:t>一个</a:t>
            </a:r>
            <a:r>
              <a:rPr lang="en-US" altLang="zh-CN" kern="0" dirty="0">
                <a:solidFill>
                  <a:prstClr val="black"/>
                </a:solidFill>
              </a:rPr>
              <a:t>32</a:t>
            </a:r>
            <a:r>
              <a:rPr lang="zh-CN" altLang="en-US" kern="0" dirty="0">
                <a:solidFill>
                  <a:prstClr val="black"/>
                </a:solidFill>
              </a:rPr>
              <a:t>位的值，</a:t>
            </a:r>
            <a:r>
              <a:rPr lang="zh-CN" altLang="en-US" dirty="0"/>
              <a:t>唯一</a:t>
            </a:r>
            <a:r>
              <a:rPr lang="zh-CN" altLang="zh-CN" dirty="0"/>
              <a:t>标识一个自治系统内的路由器</a:t>
            </a:r>
            <a:endParaRPr lang="en-US" altLang="zh-CN" dirty="0"/>
          </a:p>
          <a:p>
            <a:pPr>
              <a:lnSpc>
                <a:spcPct val="130000"/>
              </a:lnSpc>
              <a:buSzPct val="80000"/>
              <a:defRPr/>
            </a:pPr>
            <a:r>
              <a:rPr kumimoji="1" lang="zh-CN" altLang="en-US" dirty="0"/>
              <a:t>区域标识符</a:t>
            </a:r>
            <a:endParaRPr kumimoji="1" lang="en-US" altLang="zh-CN" dirty="0"/>
          </a:p>
          <a:p>
            <a:pPr lvl="1">
              <a:lnSpc>
                <a:spcPct val="130000"/>
              </a:lnSpc>
              <a:buSzPct val="80000"/>
              <a:defRPr/>
            </a:pPr>
            <a:r>
              <a:rPr lang="zh-CN" altLang="en-US" dirty="0"/>
              <a:t>每一个区域都有一个 </a:t>
            </a:r>
            <a:r>
              <a:rPr lang="en-US" altLang="zh-CN" dirty="0"/>
              <a:t>32 </a:t>
            </a:r>
            <a:r>
              <a:rPr lang="zh-CN" altLang="en-US" dirty="0"/>
              <a:t>位的标识符（用点分十进制表示）</a:t>
            </a:r>
            <a:endParaRPr lang="en-US" altLang="zh-CN" dirty="0"/>
          </a:p>
          <a:p>
            <a:pPr lvl="1">
              <a:lnSpc>
                <a:spcPct val="130000"/>
              </a:lnSpc>
              <a:buSzPct val="80000"/>
              <a:defRPr/>
            </a:pPr>
            <a:r>
              <a:rPr lang="zh-CN" altLang="en-US" dirty="0"/>
              <a:t>主干区域为</a:t>
            </a:r>
            <a:r>
              <a:rPr lang="en-US" altLang="zh-CN" dirty="0"/>
              <a:t>0.0.0.0</a:t>
            </a:r>
            <a:endParaRPr lang="zh-CN" altLang="en-US" dirty="0"/>
          </a:p>
          <a:p>
            <a:pPr>
              <a:lnSpc>
                <a:spcPct val="130000"/>
              </a:lnSpc>
              <a:buSzPct val="80000"/>
              <a:defRPr/>
            </a:pPr>
            <a:endParaRPr kumimoji="1" lang="en-US" altLang="zh-CN" dirty="0"/>
          </a:p>
          <a:p>
            <a:pPr lvl="1">
              <a:lnSpc>
                <a:spcPct val="130000"/>
              </a:lnSpc>
              <a:buSzPct val="80000"/>
              <a:defRPr/>
            </a:pPr>
            <a:endParaRPr kumimoji="1" lang="en-US" altLang="zh-CN" dirty="0"/>
          </a:p>
          <a:p>
            <a:pPr>
              <a:lnSpc>
                <a:spcPct val="120000"/>
              </a:lnSpc>
            </a:pPr>
            <a:endParaRPr kumimoji="1" lang="en-US" altLang="zh-CN" dirty="0"/>
          </a:p>
          <a:p>
            <a:pPr marL="196850" indent="-252413" defTabSz="801688">
              <a:lnSpc>
                <a:spcPct val="120000"/>
              </a:lnSpc>
              <a:spcBef>
                <a:spcPct val="30000"/>
              </a:spcBef>
              <a:buSzPct val="80000"/>
              <a:buFont typeface="Wingdings" pitchFamily="2" charset="2"/>
              <a:buChar char="l"/>
              <a:defRPr/>
            </a:pPr>
            <a:endParaRPr lang="en-US" altLang="zh-CN" dirty="0">
              <a:solidFill>
                <a:prstClr val="black"/>
              </a:solidFill>
              <a:cs typeface="Arial" charset="0"/>
            </a:endParaRPr>
          </a:p>
          <a:p>
            <a:pPr marL="0" indent="0" defTabSz="801688">
              <a:lnSpc>
                <a:spcPct val="120000"/>
              </a:lnSpc>
              <a:spcBef>
                <a:spcPct val="30000"/>
              </a:spcBef>
              <a:buSzPct val="80000"/>
              <a:buNone/>
              <a:defRPr/>
            </a:pPr>
            <a:endParaRPr kumimoji="1" lang="zh-CN" altLang="en-US" dirty="0"/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BE8FACEC-799E-DE40-96E7-A30323EC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3243518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5.4.1 OSPF-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内部网关路由协议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550ED307-254A-0A44-A386-B21B3DA0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3" name="内容占位符 2"/>
          <p:cNvSpPr txBox="1">
            <a:spLocks/>
          </p:cNvSpPr>
          <p:nvPr/>
        </p:nvSpPr>
        <p:spPr>
          <a:xfrm>
            <a:off x="838200" y="1510758"/>
            <a:ext cx="10515600" cy="4586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363" indent="-360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tabLst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marR="0" lvl="0" indent="-36036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4" name="标题 1"/>
          <p:cNvSpPr txBox="1">
            <a:spLocks/>
          </p:cNvSpPr>
          <p:nvPr/>
        </p:nvSpPr>
        <p:spPr>
          <a:xfrm>
            <a:off x="1307508" y="1548202"/>
            <a:ext cx="8220812" cy="879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sp>
        <p:nvSpPr>
          <p:cNvPr id="67" name="Rectangle 3"/>
          <p:cNvSpPr txBox="1">
            <a:spLocks noChangeArrowheads="1"/>
          </p:cNvSpPr>
          <p:nvPr/>
        </p:nvSpPr>
        <p:spPr bwMode="auto">
          <a:xfrm>
            <a:off x="5715471" y="5414033"/>
            <a:ext cx="4415873" cy="1366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96850" marR="0" lvl="0" indent="-252413" algn="l" defTabSz="801688" rtl="0" eaLnBrk="1" fontAlgn="auto" latinLnBrk="0" hangingPunct="1">
              <a:lnSpc>
                <a:spcPct val="120000"/>
              </a:lnSpc>
              <a:spcBef>
                <a:spcPct val="30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Arial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7550" y="1510758"/>
            <a:ext cx="6927844" cy="4292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5325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5B5E7D-8FD9-434B-BAC9-4A5D465A8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OSPF-</a:t>
            </a:r>
            <a:r>
              <a:rPr lang="zh-CN" altLang="en-US" dirty="0"/>
              <a:t>报文格式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4632E6-2D1A-4745-B0F4-BE23638BE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272"/>
            <a:ext cx="2842155" cy="513120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SzPct val="80000"/>
              <a:defRPr/>
            </a:pPr>
            <a:r>
              <a:rPr lang="zh-CN" altLang="en-US" sz="2600" dirty="0"/>
              <a:t>请观察：</a:t>
            </a:r>
            <a:endParaRPr lang="en-US" altLang="zh-CN" sz="2600" dirty="0"/>
          </a:p>
          <a:p>
            <a:pPr marL="522287" lvl="1" indent="-252413" defTabSz="801688">
              <a:lnSpc>
                <a:spcPct val="120000"/>
              </a:lnSpc>
              <a:spcBef>
                <a:spcPct val="30000"/>
              </a:spcBef>
              <a:buSzPct val="80000"/>
              <a:buFont typeface="Wingdings" pitchFamily="2" charset="2"/>
              <a:buChar char="l"/>
              <a:defRPr/>
            </a:pPr>
            <a:r>
              <a:rPr lang="zh-CN" altLang="en-US" dirty="0">
                <a:solidFill>
                  <a:prstClr val="black"/>
                </a:solidFill>
                <a:cs typeface="Arial" charset="0"/>
              </a:rPr>
              <a:t>这是什么报文？</a:t>
            </a:r>
            <a:endParaRPr lang="en-US" altLang="zh-CN" dirty="0">
              <a:solidFill>
                <a:prstClr val="black"/>
              </a:solidFill>
              <a:cs typeface="Arial" charset="0"/>
            </a:endParaRPr>
          </a:p>
          <a:p>
            <a:pPr marL="522287" lvl="1" indent="-252413" defTabSz="801688">
              <a:lnSpc>
                <a:spcPct val="120000"/>
              </a:lnSpc>
              <a:spcBef>
                <a:spcPct val="30000"/>
              </a:spcBef>
              <a:buSzPct val="80000"/>
              <a:buFont typeface="Wingdings" pitchFamily="2" charset="2"/>
              <a:buChar char="l"/>
              <a:defRPr/>
            </a:pPr>
            <a:r>
              <a:rPr lang="zh-CN" altLang="en-US" dirty="0">
                <a:solidFill>
                  <a:prstClr val="black"/>
                </a:solidFill>
                <a:cs typeface="Arial" charset="0"/>
              </a:rPr>
              <a:t>这个报文在什么区域？</a:t>
            </a:r>
            <a:endParaRPr lang="en-US" altLang="zh-CN" dirty="0">
              <a:solidFill>
                <a:prstClr val="black"/>
              </a:solidFill>
              <a:cs typeface="Arial" charset="0"/>
            </a:endParaRPr>
          </a:p>
          <a:p>
            <a:pPr marL="522287" lvl="1" indent="-252413" defTabSz="801688">
              <a:lnSpc>
                <a:spcPct val="120000"/>
              </a:lnSpc>
              <a:spcBef>
                <a:spcPct val="30000"/>
              </a:spcBef>
              <a:buSzPct val="80000"/>
              <a:buFont typeface="Wingdings" pitchFamily="2" charset="2"/>
              <a:buChar char="l"/>
              <a:defRPr/>
            </a:pPr>
            <a:r>
              <a:rPr lang="zh-CN" altLang="en-US" dirty="0">
                <a:solidFill>
                  <a:prstClr val="black"/>
                </a:solidFill>
                <a:cs typeface="Arial" charset="0"/>
              </a:rPr>
              <a:t>采用什么认证？</a:t>
            </a:r>
            <a:endParaRPr lang="en-US" altLang="zh-CN" dirty="0">
              <a:solidFill>
                <a:prstClr val="black"/>
              </a:solidFill>
              <a:cs typeface="Arial" charset="0"/>
            </a:endParaRPr>
          </a:p>
          <a:p>
            <a:pPr>
              <a:lnSpc>
                <a:spcPct val="120000"/>
              </a:lnSpc>
            </a:pPr>
            <a:endParaRPr kumimoji="1" lang="en-US" altLang="zh-CN" dirty="0"/>
          </a:p>
          <a:p>
            <a:pPr>
              <a:lnSpc>
                <a:spcPct val="120000"/>
              </a:lnSpc>
            </a:pPr>
            <a:endParaRPr kumimoji="1" lang="en-US" altLang="zh-CN" dirty="0"/>
          </a:p>
          <a:p>
            <a:pPr marL="196850" indent="-252413" defTabSz="801688">
              <a:lnSpc>
                <a:spcPct val="120000"/>
              </a:lnSpc>
              <a:spcBef>
                <a:spcPct val="30000"/>
              </a:spcBef>
              <a:buSzPct val="80000"/>
              <a:buFont typeface="Wingdings" pitchFamily="2" charset="2"/>
              <a:buChar char="l"/>
              <a:defRPr/>
            </a:pPr>
            <a:endParaRPr lang="en-US" altLang="zh-CN" dirty="0">
              <a:solidFill>
                <a:prstClr val="black"/>
              </a:solidFill>
              <a:cs typeface="Arial" charset="0"/>
            </a:endParaRPr>
          </a:p>
          <a:p>
            <a:pPr marL="0" indent="0" defTabSz="801688">
              <a:lnSpc>
                <a:spcPct val="120000"/>
              </a:lnSpc>
              <a:spcBef>
                <a:spcPct val="30000"/>
              </a:spcBef>
              <a:buSzPct val="80000"/>
              <a:buNone/>
              <a:defRPr/>
            </a:pPr>
            <a:endParaRPr kumimoji="1" lang="zh-CN" altLang="en-US" dirty="0"/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BE8FACEC-799E-DE40-96E7-A30323EC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3243518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5.4.1 OSPF-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内部网关路由协议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550ED307-254A-0A44-A386-B21B3DA0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3" name="内容占位符 2"/>
          <p:cNvSpPr txBox="1">
            <a:spLocks/>
          </p:cNvSpPr>
          <p:nvPr/>
        </p:nvSpPr>
        <p:spPr>
          <a:xfrm>
            <a:off x="838200" y="1510758"/>
            <a:ext cx="10515600" cy="4586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363" indent="-360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tabLst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marR="0" lvl="0" indent="-36036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7" name="Rectangle 3"/>
          <p:cNvSpPr txBox="1">
            <a:spLocks noChangeArrowheads="1"/>
          </p:cNvSpPr>
          <p:nvPr/>
        </p:nvSpPr>
        <p:spPr bwMode="auto">
          <a:xfrm>
            <a:off x="5715471" y="5414033"/>
            <a:ext cx="4415873" cy="1366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96850" marR="0" lvl="0" indent="-252413" algn="l" defTabSz="801688" rtl="0" eaLnBrk="1" fontAlgn="auto" latinLnBrk="0" hangingPunct="1">
              <a:lnSpc>
                <a:spcPct val="120000"/>
              </a:lnSpc>
              <a:spcBef>
                <a:spcPct val="30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Arial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0355" y="1823901"/>
            <a:ext cx="7540625" cy="427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4776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5B5E7D-8FD9-434B-BAC9-4A5D465A8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OSPF-</a:t>
            </a:r>
            <a:r>
              <a:rPr lang="zh-CN" altLang="en-US" dirty="0"/>
              <a:t>小结</a:t>
            </a:r>
            <a:endParaRPr kumimoji="1" lang="zh-CN" altLang="en-US" dirty="0"/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BE8FACEC-799E-DE40-96E7-A30323EC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3243518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5.4.1 OSPF-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内部网关路由协议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550ED307-254A-0A44-A386-B21B3DA0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4" name="标题 1"/>
          <p:cNvSpPr txBox="1">
            <a:spLocks/>
          </p:cNvSpPr>
          <p:nvPr/>
        </p:nvSpPr>
        <p:spPr>
          <a:xfrm>
            <a:off x="1307508" y="1548202"/>
            <a:ext cx="8220812" cy="879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sp>
        <p:nvSpPr>
          <p:cNvPr id="67" name="Rectangle 3"/>
          <p:cNvSpPr txBox="1">
            <a:spLocks noChangeArrowheads="1"/>
          </p:cNvSpPr>
          <p:nvPr/>
        </p:nvSpPr>
        <p:spPr bwMode="auto">
          <a:xfrm>
            <a:off x="5715471" y="5414033"/>
            <a:ext cx="4415873" cy="1366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96850" marR="0" lvl="0" indent="-252413" algn="l" defTabSz="801688" rtl="0" eaLnBrk="1" fontAlgn="auto" latinLnBrk="0" hangingPunct="1">
              <a:lnSpc>
                <a:spcPct val="120000"/>
              </a:lnSpc>
              <a:spcBef>
                <a:spcPct val="30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Arial" charset="0"/>
            </a:endParaRPr>
          </a:p>
        </p:txBody>
      </p:sp>
      <p:sp>
        <p:nvSpPr>
          <p:cNvPr id="66" name="内容占位符 2"/>
          <p:cNvSpPr>
            <a:spLocks noGrp="1"/>
          </p:cNvSpPr>
          <p:nvPr>
            <p:ph idx="1"/>
          </p:nvPr>
        </p:nvSpPr>
        <p:spPr>
          <a:xfrm>
            <a:off x="838200" y="1429482"/>
            <a:ext cx="4864947" cy="458669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dirty="0"/>
              <a:t>OSPF</a:t>
            </a:r>
            <a:r>
              <a:rPr lang="zh-CN" altLang="en-US" dirty="0"/>
              <a:t>的特点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支持无类域间路由（</a:t>
            </a:r>
            <a:r>
              <a:rPr lang="en-US" altLang="zh-CN" dirty="0"/>
              <a:t>CIDR</a:t>
            </a:r>
            <a:r>
              <a:rPr lang="zh-CN" altLang="en-US" dirty="0"/>
              <a:t>）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无路由自环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收敛速度快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使用</a:t>
            </a:r>
            <a:r>
              <a:rPr lang="en-US" altLang="zh-CN" dirty="0"/>
              <a:t>IP</a:t>
            </a:r>
            <a:r>
              <a:rPr lang="zh-CN" altLang="en-US" dirty="0"/>
              <a:t>组播收发协议数据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支持多条等值路由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支持协议报文的认证</a:t>
            </a:r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  <p:sp>
        <p:nvSpPr>
          <p:cNvPr id="68" name="内容占位符 2"/>
          <p:cNvSpPr txBox="1">
            <a:spLocks/>
          </p:cNvSpPr>
          <p:nvPr/>
        </p:nvSpPr>
        <p:spPr>
          <a:xfrm>
            <a:off x="6178126" y="1463350"/>
            <a:ext cx="4864947" cy="4586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363" indent="-360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tabLst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marR="0" lvl="0" indent="-36036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请思考：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为什么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OSPF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协议适合大型网络？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OSPF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会不会存在“坏消息传得比较慢”的问题？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360363" marR="0" lvl="0" indent="-360363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4543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5B5E7D-8FD9-434B-BAC9-4A5D465A8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RIP-</a:t>
            </a:r>
            <a:r>
              <a:rPr lang="zh-CN" altLang="en-US" dirty="0"/>
              <a:t>概述</a:t>
            </a:r>
            <a:endParaRPr kumimoji="1" lang="zh-CN" altLang="en-US" dirty="0"/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BE8FACEC-799E-DE40-96E7-A30323EC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3243518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5.4.2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RIP-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内部网关路由协议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550ED307-254A-0A44-A386-B21B3DA0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4" name="标题 1"/>
          <p:cNvSpPr txBox="1">
            <a:spLocks/>
          </p:cNvSpPr>
          <p:nvPr/>
        </p:nvSpPr>
        <p:spPr>
          <a:xfrm>
            <a:off x="1307508" y="1548202"/>
            <a:ext cx="8220812" cy="879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sp>
        <p:nvSpPr>
          <p:cNvPr id="67" name="Rectangle 3"/>
          <p:cNvSpPr txBox="1">
            <a:spLocks noChangeArrowheads="1"/>
          </p:cNvSpPr>
          <p:nvPr/>
        </p:nvSpPr>
        <p:spPr bwMode="auto">
          <a:xfrm>
            <a:off x="5715471" y="5414033"/>
            <a:ext cx="4415873" cy="1366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96850" marR="0" lvl="0" indent="-252413" algn="l" defTabSz="801688" rtl="0" eaLnBrk="1" fontAlgn="auto" latinLnBrk="0" hangingPunct="1">
              <a:lnSpc>
                <a:spcPct val="120000"/>
              </a:lnSpc>
              <a:spcBef>
                <a:spcPct val="30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Arial" charset="0"/>
            </a:endParaRPr>
          </a:p>
        </p:txBody>
      </p:sp>
      <p:sp>
        <p:nvSpPr>
          <p:cNvPr id="66" name="内容占位符 2"/>
          <p:cNvSpPr>
            <a:spLocks noGrp="1"/>
          </p:cNvSpPr>
          <p:nvPr>
            <p:ph idx="1"/>
          </p:nvPr>
        </p:nvSpPr>
        <p:spPr>
          <a:xfrm>
            <a:off x="838200" y="1429482"/>
            <a:ext cx="10432627" cy="458669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5000"/>
              </a:lnSpc>
            </a:pPr>
            <a:r>
              <a:rPr lang="zh-CN" altLang="en-US" dirty="0"/>
              <a:t>路由选择协议</a:t>
            </a:r>
            <a:r>
              <a:rPr lang="en-US" altLang="zh-CN" dirty="0"/>
              <a:t>RIP</a:t>
            </a:r>
            <a:r>
              <a:rPr lang="zh-CN" altLang="en-US" dirty="0"/>
              <a:t>（</a:t>
            </a:r>
            <a:r>
              <a:rPr lang="en-US" altLang="zh-CN" dirty="0"/>
              <a:t> Routing Information Protocol</a:t>
            </a:r>
            <a:r>
              <a:rPr lang="zh-CN" altLang="en-US" dirty="0"/>
              <a:t>）是基于距离矢量算法的协议</a:t>
            </a:r>
            <a:endParaRPr lang="en-US" altLang="zh-CN" dirty="0"/>
          </a:p>
          <a:p>
            <a:pPr>
              <a:lnSpc>
                <a:spcPct val="125000"/>
              </a:lnSpc>
            </a:pPr>
            <a:r>
              <a:rPr kumimoji="1" lang="zh-CN" altLang="en-US" dirty="0"/>
              <a:t>使用</a:t>
            </a:r>
            <a:r>
              <a:rPr kumimoji="1" lang="zh-CN" altLang="en-US" dirty="0">
                <a:solidFill>
                  <a:srgbClr val="C00000"/>
                </a:solidFill>
              </a:rPr>
              <a:t>跳数</a:t>
            </a:r>
            <a:r>
              <a:rPr kumimoji="1" lang="zh-CN" altLang="en-US" dirty="0"/>
              <a:t>衡量到达目的网络的距离</a:t>
            </a:r>
            <a:endParaRPr kumimoji="1" lang="en-US" altLang="zh-CN" dirty="0"/>
          </a:p>
          <a:p>
            <a:pPr lvl="1" algn="just">
              <a:lnSpc>
                <a:spcPct val="120000"/>
              </a:lnSpc>
            </a:pPr>
            <a:r>
              <a:rPr lang="en-US" altLang="zh-CN" dirty="0"/>
              <a:t>RIP </a:t>
            </a:r>
            <a:r>
              <a:rPr lang="zh-CN" altLang="en-US" dirty="0"/>
              <a:t>认为一个</a:t>
            </a:r>
            <a:r>
              <a:rPr lang="zh-CN" altLang="en-US" dirty="0">
                <a:solidFill>
                  <a:srgbClr val="C00000"/>
                </a:solidFill>
              </a:rPr>
              <a:t>好的路由</a:t>
            </a:r>
            <a:r>
              <a:rPr lang="zh-CN" altLang="en-US" dirty="0"/>
              <a:t>就是它通过的路由器的数目少，即“</a:t>
            </a:r>
            <a:r>
              <a:rPr lang="zh-CN" altLang="en-US" dirty="0">
                <a:solidFill>
                  <a:srgbClr val="C00000"/>
                </a:solidFill>
              </a:rPr>
              <a:t>距离短</a:t>
            </a:r>
            <a:r>
              <a:rPr lang="zh-CN" altLang="en-US" dirty="0"/>
              <a:t>”</a:t>
            </a:r>
          </a:p>
          <a:p>
            <a:pPr lvl="1" algn="just">
              <a:lnSpc>
                <a:spcPct val="120000"/>
              </a:lnSpc>
            </a:pPr>
            <a:r>
              <a:rPr lang="en-US" altLang="zh-CN" dirty="0"/>
              <a:t>RIP </a:t>
            </a:r>
            <a:r>
              <a:rPr lang="zh-CN" altLang="en-US" dirty="0"/>
              <a:t>允许一条路径最多只能包含 </a:t>
            </a:r>
            <a:r>
              <a:rPr lang="en-US" altLang="zh-CN" dirty="0"/>
              <a:t>15 </a:t>
            </a:r>
            <a:r>
              <a:rPr lang="zh-CN" altLang="en-US" dirty="0"/>
              <a:t>个路由器</a:t>
            </a:r>
          </a:p>
          <a:p>
            <a:pPr>
              <a:lnSpc>
                <a:spcPct val="120000"/>
              </a:lnSpc>
            </a:pPr>
            <a:r>
              <a:rPr kumimoji="1" lang="en-US" altLang="zh-CN" dirty="0"/>
              <a:t>RIP</a:t>
            </a:r>
            <a:r>
              <a:rPr kumimoji="1" lang="zh-CN" altLang="en-US" dirty="0"/>
              <a:t>协议的基本思想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仅和</a:t>
            </a:r>
            <a:r>
              <a:rPr lang="zh-CN" altLang="en-US" dirty="0">
                <a:solidFill>
                  <a:srgbClr val="C00000"/>
                </a:solidFill>
              </a:rPr>
              <a:t>相邻路由器</a:t>
            </a:r>
            <a:r>
              <a:rPr lang="zh-CN" altLang="en-US" dirty="0"/>
              <a:t>交换信息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路由器交换的内容是自己的</a:t>
            </a:r>
            <a:r>
              <a:rPr lang="zh-CN" altLang="en-US" dirty="0">
                <a:solidFill>
                  <a:srgbClr val="C00000"/>
                </a:solidFill>
              </a:rPr>
              <a:t>路由表</a:t>
            </a:r>
            <a:endParaRPr lang="en-US" altLang="zh-CN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dirty="0"/>
              <a:t>周期性更新：</a:t>
            </a:r>
            <a:r>
              <a:rPr lang="en-US" altLang="zh-CN" dirty="0">
                <a:solidFill>
                  <a:srgbClr val="C00000"/>
                </a:solidFill>
              </a:rPr>
              <a:t>30s</a:t>
            </a:r>
          </a:p>
        </p:txBody>
      </p:sp>
    </p:spTree>
    <p:extLst>
      <p:ext uri="{BB962C8B-B14F-4D97-AF65-F5344CB8AC3E}">
        <p14:creationId xmlns:p14="http://schemas.microsoft.com/office/powerpoint/2010/main" val="150019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5B5E7D-8FD9-434B-BAC9-4A5D465A8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RIP-</a:t>
            </a:r>
            <a:r>
              <a:rPr lang="zh-CN" altLang="en-US" dirty="0"/>
              <a:t>工作过程</a:t>
            </a:r>
            <a:endParaRPr kumimoji="1" lang="zh-CN" altLang="en-US" dirty="0"/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BE8FACEC-799E-DE40-96E7-A30323EC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3243518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5.4.2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RIP-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内部网关路由协议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550ED307-254A-0A44-A386-B21B3DA0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4" name="标题 1"/>
          <p:cNvSpPr txBox="1">
            <a:spLocks/>
          </p:cNvSpPr>
          <p:nvPr/>
        </p:nvSpPr>
        <p:spPr>
          <a:xfrm>
            <a:off x="1307508" y="1548202"/>
            <a:ext cx="8220812" cy="879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sp>
        <p:nvSpPr>
          <p:cNvPr id="66" name="内容占位符 2"/>
          <p:cNvSpPr>
            <a:spLocks noGrp="1"/>
          </p:cNvSpPr>
          <p:nvPr>
            <p:ph idx="1"/>
          </p:nvPr>
        </p:nvSpPr>
        <p:spPr>
          <a:xfrm>
            <a:off x="838200" y="1429482"/>
            <a:ext cx="10574867" cy="458669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初始化</a:t>
            </a:r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1307508" y="1548202"/>
            <a:ext cx="8220812" cy="879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sp>
        <p:nvSpPr>
          <p:cNvPr id="16" name="Line 64"/>
          <p:cNvSpPr>
            <a:spLocks noChangeShapeType="1"/>
          </p:cNvSpPr>
          <p:nvPr/>
        </p:nvSpPr>
        <p:spPr bwMode="auto">
          <a:xfrm>
            <a:off x="1591733" y="3327401"/>
            <a:ext cx="14405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7" name="Text Box 65"/>
          <p:cNvSpPr txBox="1">
            <a:spLocks noChangeArrowheads="1"/>
          </p:cNvSpPr>
          <p:nvPr/>
        </p:nvSpPr>
        <p:spPr bwMode="auto">
          <a:xfrm>
            <a:off x="1366348" y="2995615"/>
            <a:ext cx="15584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784225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¡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784225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¡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marR="0" lvl="0" indent="0" algn="l" defTabSz="78422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10.1.1.0/30</a:t>
            </a:r>
          </a:p>
        </p:txBody>
      </p:sp>
      <p:sp>
        <p:nvSpPr>
          <p:cNvPr id="18" name="Text Box 66"/>
          <p:cNvSpPr txBox="1">
            <a:spLocks noChangeArrowheads="1"/>
          </p:cNvSpPr>
          <p:nvPr/>
        </p:nvSpPr>
        <p:spPr bwMode="auto">
          <a:xfrm>
            <a:off x="4040333" y="2931319"/>
            <a:ext cx="16437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784225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¡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784225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¡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marR="0" lvl="0" indent="0" algn="l" defTabSz="78422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10.1.2.0/30</a:t>
            </a:r>
          </a:p>
        </p:txBody>
      </p:sp>
      <p:sp>
        <p:nvSpPr>
          <p:cNvPr id="19" name="Text Box 67"/>
          <p:cNvSpPr txBox="1">
            <a:spLocks noChangeArrowheads="1"/>
          </p:cNvSpPr>
          <p:nvPr/>
        </p:nvSpPr>
        <p:spPr bwMode="auto">
          <a:xfrm>
            <a:off x="6408763" y="2932167"/>
            <a:ext cx="19446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784225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¡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784225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¡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marR="0" lvl="0" indent="0" algn="l" defTabSz="78422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10.1.3.0/30</a:t>
            </a:r>
          </a:p>
        </p:txBody>
      </p:sp>
      <p:sp>
        <p:nvSpPr>
          <p:cNvPr id="20" name="Text Box 68"/>
          <p:cNvSpPr txBox="1">
            <a:spLocks noChangeArrowheads="1"/>
          </p:cNvSpPr>
          <p:nvPr/>
        </p:nvSpPr>
        <p:spPr bwMode="auto">
          <a:xfrm>
            <a:off x="9077240" y="2919623"/>
            <a:ext cx="185492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784225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¡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784225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¡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marR="0" lvl="0" indent="0" algn="l" defTabSz="78422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10.1.4.0/30</a:t>
            </a:r>
          </a:p>
        </p:txBody>
      </p:sp>
      <p:sp>
        <p:nvSpPr>
          <p:cNvPr id="21" name="Line 69"/>
          <p:cNvSpPr>
            <a:spLocks noChangeShapeType="1"/>
          </p:cNvSpPr>
          <p:nvPr/>
        </p:nvSpPr>
        <p:spPr bwMode="auto">
          <a:xfrm>
            <a:off x="3897458" y="3324225"/>
            <a:ext cx="1872456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Line 70"/>
          <p:cNvSpPr>
            <a:spLocks noChangeShapeType="1"/>
          </p:cNvSpPr>
          <p:nvPr/>
        </p:nvSpPr>
        <p:spPr bwMode="auto">
          <a:xfrm>
            <a:off x="6129482" y="3325814"/>
            <a:ext cx="2089151" cy="56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Line 71"/>
          <p:cNvSpPr>
            <a:spLocks noChangeShapeType="1"/>
          </p:cNvSpPr>
          <p:nvPr/>
        </p:nvSpPr>
        <p:spPr bwMode="auto">
          <a:xfrm>
            <a:off x="8290069" y="3325812"/>
            <a:ext cx="2526943" cy="561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Text Box 72"/>
          <p:cNvSpPr txBox="1">
            <a:spLocks noChangeArrowheads="1"/>
          </p:cNvSpPr>
          <p:nvPr/>
        </p:nvSpPr>
        <p:spPr bwMode="auto">
          <a:xfrm>
            <a:off x="2673495" y="3309939"/>
            <a:ext cx="50323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784225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¡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784225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¡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marR="0" lvl="0" indent="0" algn="l" defTabSz="78422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.2</a:t>
            </a:r>
          </a:p>
        </p:txBody>
      </p:sp>
      <p:sp>
        <p:nvSpPr>
          <p:cNvPr id="26" name="Text Box 73"/>
          <p:cNvSpPr txBox="1">
            <a:spLocks noChangeArrowheads="1"/>
          </p:cNvSpPr>
          <p:nvPr/>
        </p:nvSpPr>
        <p:spPr bwMode="auto">
          <a:xfrm>
            <a:off x="3897458" y="3309939"/>
            <a:ext cx="5032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784225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¡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784225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¡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marR="0" lvl="0" indent="0" algn="l" defTabSz="78422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.1</a:t>
            </a:r>
          </a:p>
        </p:txBody>
      </p:sp>
      <p:sp>
        <p:nvSpPr>
          <p:cNvPr id="27" name="Text Box 74"/>
          <p:cNvSpPr txBox="1">
            <a:spLocks noChangeArrowheads="1"/>
          </p:cNvSpPr>
          <p:nvPr/>
        </p:nvSpPr>
        <p:spPr bwMode="auto">
          <a:xfrm>
            <a:off x="5166295" y="3323372"/>
            <a:ext cx="50323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784225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¡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784225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¡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marR="0" lvl="0" indent="0" algn="l" defTabSz="78422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.2</a:t>
            </a:r>
          </a:p>
        </p:txBody>
      </p:sp>
      <p:sp>
        <p:nvSpPr>
          <p:cNvPr id="28" name="Text Box 75"/>
          <p:cNvSpPr txBox="1">
            <a:spLocks noChangeArrowheads="1"/>
          </p:cNvSpPr>
          <p:nvPr/>
        </p:nvSpPr>
        <p:spPr bwMode="auto">
          <a:xfrm>
            <a:off x="6492173" y="3338331"/>
            <a:ext cx="5032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784225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¡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784225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¡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marR="0" lvl="0" indent="0" algn="l" defTabSz="78422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.1</a:t>
            </a:r>
          </a:p>
        </p:txBody>
      </p:sp>
      <p:sp>
        <p:nvSpPr>
          <p:cNvPr id="29" name="Text Box 76"/>
          <p:cNvSpPr txBox="1">
            <a:spLocks noChangeArrowheads="1"/>
          </p:cNvSpPr>
          <p:nvPr/>
        </p:nvSpPr>
        <p:spPr bwMode="auto">
          <a:xfrm>
            <a:off x="7715395" y="3309879"/>
            <a:ext cx="50323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784225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¡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784225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¡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marR="0" lvl="0" indent="0" algn="l" defTabSz="78422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.2</a:t>
            </a:r>
          </a:p>
        </p:txBody>
      </p:sp>
      <p:sp>
        <p:nvSpPr>
          <p:cNvPr id="30" name="Text Box 77"/>
          <p:cNvSpPr txBox="1">
            <a:spLocks noChangeArrowheads="1"/>
          </p:cNvSpPr>
          <p:nvPr/>
        </p:nvSpPr>
        <p:spPr bwMode="auto">
          <a:xfrm>
            <a:off x="8914048" y="3345086"/>
            <a:ext cx="5032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784225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¡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784225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¡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marR="0" lvl="0" indent="0" algn="l" defTabSz="78422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.1</a:t>
            </a:r>
          </a:p>
        </p:txBody>
      </p:sp>
      <p:sp>
        <p:nvSpPr>
          <p:cNvPr id="31" name="Text Box 78"/>
          <p:cNvSpPr txBox="1">
            <a:spLocks noChangeArrowheads="1"/>
          </p:cNvSpPr>
          <p:nvPr/>
        </p:nvSpPr>
        <p:spPr bwMode="auto">
          <a:xfrm>
            <a:off x="3032270" y="2605188"/>
            <a:ext cx="1008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¡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¡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RTA</a:t>
            </a:r>
          </a:p>
        </p:txBody>
      </p:sp>
      <p:sp>
        <p:nvSpPr>
          <p:cNvPr id="32" name="Text Box 79"/>
          <p:cNvSpPr txBox="1">
            <a:spLocks noChangeArrowheads="1"/>
          </p:cNvSpPr>
          <p:nvPr/>
        </p:nvSpPr>
        <p:spPr bwMode="auto">
          <a:xfrm>
            <a:off x="5555548" y="2605187"/>
            <a:ext cx="100806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¡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¡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RTB</a:t>
            </a:r>
          </a:p>
        </p:txBody>
      </p:sp>
      <p:sp>
        <p:nvSpPr>
          <p:cNvPr id="33" name="Text Box 80"/>
          <p:cNvSpPr txBox="1">
            <a:spLocks noChangeArrowheads="1"/>
          </p:cNvSpPr>
          <p:nvPr/>
        </p:nvSpPr>
        <p:spPr bwMode="auto">
          <a:xfrm>
            <a:off x="7941704" y="2615857"/>
            <a:ext cx="100806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¡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¡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RTC</a:t>
            </a:r>
          </a:p>
        </p:txBody>
      </p:sp>
      <p:pic>
        <p:nvPicPr>
          <p:cNvPr id="34" name="Picture 81" descr="0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270" y="2917826"/>
            <a:ext cx="9366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Picture 82" descr="0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5548" y="2923634"/>
            <a:ext cx="9366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Picture 83" descr="0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7423" y="2928756"/>
            <a:ext cx="9366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152" y="4034074"/>
            <a:ext cx="3316287" cy="162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9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3794" y="4034074"/>
            <a:ext cx="3309937" cy="162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8633" y="4034074"/>
            <a:ext cx="3309937" cy="162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1871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5B5E7D-8FD9-434B-BAC9-4A5D465A8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RIP-</a:t>
            </a:r>
            <a:r>
              <a:rPr lang="zh-CN" altLang="en-US" dirty="0"/>
              <a:t>工作过程</a:t>
            </a:r>
            <a:endParaRPr kumimoji="1" lang="zh-CN" altLang="en-US" dirty="0"/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BE8FACEC-799E-DE40-96E7-A30323EC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3243518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5.4.2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RIP-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内部网关路由协议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550ED307-254A-0A44-A386-B21B3DA0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4" name="标题 1"/>
          <p:cNvSpPr txBox="1">
            <a:spLocks/>
          </p:cNvSpPr>
          <p:nvPr/>
        </p:nvSpPr>
        <p:spPr>
          <a:xfrm>
            <a:off x="1307508" y="1548202"/>
            <a:ext cx="8220812" cy="879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sp>
        <p:nvSpPr>
          <p:cNvPr id="66" name="内容占位符 2"/>
          <p:cNvSpPr>
            <a:spLocks noGrp="1"/>
          </p:cNvSpPr>
          <p:nvPr>
            <p:ph idx="1"/>
          </p:nvPr>
        </p:nvSpPr>
        <p:spPr>
          <a:xfrm>
            <a:off x="838200" y="1429482"/>
            <a:ext cx="10574867" cy="458669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周期性更新</a:t>
            </a:r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1307508" y="1548202"/>
            <a:ext cx="8220812" cy="879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sp>
        <p:nvSpPr>
          <p:cNvPr id="41" name="Line 64"/>
          <p:cNvSpPr>
            <a:spLocks noChangeShapeType="1"/>
          </p:cNvSpPr>
          <p:nvPr/>
        </p:nvSpPr>
        <p:spPr bwMode="auto">
          <a:xfrm>
            <a:off x="1700476" y="2841724"/>
            <a:ext cx="14405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2" name="Text Box 65"/>
          <p:cNvSpPr txBox="1">
            <a:spLocks noChangeArrowheads="1"/>
          </p:cNvSpPr>
          <p:nvPr/>
        </p:nvSpPr>
        <p:spPr bwMode="auto">
          <a:xfrm>
            <a:off x="1475091" y="2509938"/>
            <a:ext cx="15584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784225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¡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784225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¡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marR="0" lvl="0" indent="0" algn="l" defTabSz="78422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10.1.1.0/30</a:t>
            </a:r>
          </a:p>
        </p:txBody>
      </p:sp>
      <p:sp>
        <p:nvSpPr>
          <p:cNvPr id="43" name="Text Box 66"/>
          <p:cNvSpPr txBox="1">
            <a:spLocks noChangeArrowheads="1"/>
          </p:cNvSpPr>
          <p:nvPr/>
        </p:nvSpPr>
        <p:spPr bwMode="auto">
          <a:xfrm>
            <a:off x="4149076" y="2445642"/>
            <a:ext cx="16437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784225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¡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784225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¡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marR="0" lvl="0" indent="0" algn="l" defTabSz="78422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10.1.2.0/30</a:t>
            </a:r>
          </a:p>
        </p:txBody>
      </p:sp>
      <p:sp>
        <p:nvSpPr>
          <p:cNvPr id="44" name="Text Box 67"/>
          <p:cNvSpPr txBox="1">
            <a:spLocks noChangeArrowheads="1"/>
          </p:cNvSpPr>
          <p:nvPr/>
        </p:nvSpPr>
        <p:spPr bwMode="auto">
          <a:xfrm>
            <a:off x="6517506" y="2446490"/>
            <a:ext cx="19446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784225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¡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784225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¡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marR="0" lvl="0" indent="0" algn="l" defTabSz="78422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10.1.3.0/30</a:t>
            </a:r>
          </a:p>
        </p:txBody>
      </p:sp>
      <p:sp>
        <p:nvSpPr>
          <p:cNvPr id="45" name="Text Box 68"/>
          <p:cNvSpPr txBox="1">
            <a:spLocks noChangeArrowheads="1"/>
          </p:cNvSpPr>
          <p:nvPr/>
        </p:nvSpPr>
        <p:spPr bwMode="auto">
          <a:xfrm>
            <a:off x="9185983" y="2433946"/>
            <a:ext cx="185492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784225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¡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784225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¡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marR="0" lvl="0" indent="0" algn="l" defTabSz="78422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10.1.4.0/30</a:t>
            </a:r>
          </a:p>
        </p:txBody>
      </p:sp>
      <p:sp>
        <p:nvSpPr>
          <p:cNvPr id="46" name="Line 69"/>
          <p:cNvSpPr>
            <a:spLocks noChangeShapeType="1"/>
          </p:cNvSpPr>
          <p:nvPr/>
        </p:nvSpPr>
        <p:spPr bwMode="auto">
          <a:xfrm>
            <a:off x="4006201" y="2838548"/>
            <a:ext cx="1872456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7" name="Line 70"/>
          <p:cNvSpPr>
            <a:spLocks noChangeShapeType="1"/>
          </p:cNvSpPr>
          <p:nvPr/>
        </p:nvSpPr>
        <p:spPr bwMode="auto">
          <a:xfrm>
            <a:off x="6238225" y="2840137"/>
            <a:ext cx="2089151" cy="56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8" name="Line 71"/>
          <p:cNvSpPr>
            <a:spLocks noChangeShapeType="1"/>
          </p:cNvSpPr>
          <p:nvPr/>
        </p:nvSpPr>
        <p:spPr bwMode="auto">
          <a:xfrm>
            <a:off x="8398812" y="2840135"/>
            <a:ext cx="2526943" cy="561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9" name="Text Box 72"/>
          <p:cNvSpPr txBox="1">
            <a:spLocks noChangeArrowheads="1"/>
          </p:cNvSpPr>
          <p:nvPr/>
        </p:nvSpPr>
        <p:spPr bwMode="auto">
          <a:xfrm>
            <a:off x="2782238" y="2824262"/>
            <a:ext cx="50323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784225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¡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784225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¡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marR="0" lvl="0" indent="0" algn="l" defTabSz="78422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.2</a:t>
            </a:r>
          </a:p>
        </p:txBody>
      </p:sp>
      <p:sp>
        <p:nvSpPr>
          <p:cNvPr id="50" name="Text Box 73"/>
          <p:cNvSpPr txBox="1">
            <a:spLocks noChangeArrowheads="1"/>
          </p:cNvSpPr>
          <p:nvPr/>
        </p:nvSpPr>
        <p:spPr bwMode="auto">
          <a:xfrm>
            <a:off x="4006201" y="2824262"/>
            <a:ext cx="5032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784225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¡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784225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¡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marR="0" lvl="0" indent="0" algn="l" defTabSz="78422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.1</a:t>
            </a:r>
          </a:p>
        </p:txBody>
      </p:sp>
      <p:sp>
        <p:nvSpPr>
          <p:cNvPr id="51" name="Text Box 74"/>
          <p:cNvSpPr txBox="1">
            <a:spLocks noChangeArrowheads="1"/>
          </p:cNvSpPr>
          <p:nvPr/>
        </p:nvSpPr>
        <p:spPr bwMode="auto">
          <a:xfrm>
            <a:off x="5275038" y="2837695"/>
            <a:ext cx="50323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784225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¡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784225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¡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marR="0" lvl="0" indent="0" algn="l" defTabSz="78422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.2</a:t>
            </a:r>
          </a:p>
        </p:txBody>
      </p:sp>
      <p:sp>
        <p:nvSpPr>
          <p:cNvPr id="52" name="Text Box 75"/>
          <p:cNvSpPr txBox="1">
            <a:spLocks noChangeArrowheads="1"/>
          </p:cNvSpPr>
          <p:nvPr/>
        </p:nvSpPr>
        <p:spPr bwMode="auto">
          <a:xfrm>
            <a:off x="6600916" y="2852654"/>
            <a:ext cx="5032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784225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¡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784225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¡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marR="0" lvl="0" indent="0" algn="l" defTabSz="78422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.1</a:t>
            </a:r>
          </a:p>
        </p:txBody>
      </p:sp>
      <p:sp>
        <p:nvSpPr>
          <p:cNvPr id="53" name="Text Box 76"/>
          <p:cNvSpPr txBox="1">
            <a:spLocks noChangeArrowheads="1"/>
          </p:cNvSpPr>
          <p:nvPr/>
        </p:nvSpPr>
        <p:spPr bwMode="auto">
          <a:xfrm>
            <a:off x="7824138" y="2824202"/>
            <a:ext cx="50323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784225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¡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784225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¡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marR="0" lvl="0" indent="0" algn="l" defTabSz="78422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.2</a:t>
            </a:r>
          </a:p>
        </p:txBody>
      </p:sp>
      <p:sp>
        <p:nvSpPr>
          <p:cNvPr id="54" name="Text Box 77"/>
          <p:cNvSpPr txBox="1">
            <a:spLocks noChangeArrowheads="1"/>
          </p:cNvSpPr>
          <p:nvPr/>
        </p:nvSpPr>
        <p:spPr bwMode="auto">
          <a:xfrm>
            <a:off x="9022791" y="2859409"/>
            <a:ext cx="5032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784225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¡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784225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¡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784225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marR="0" lvl="0" indent="0" algn="l" defTabSz="78422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.1</a:t>
            </a:r>
          </a:p>
        </p:txBody>
      </p:sp>
      <p:sp>
        <p:nvSpPr>
          <p:cNvPr id="55" name="Text Box 78"/>
          <p:cNvSpPr txBox="1">
            <a:spLocks noChangeArrowheads="1"/>
          </p:cNvSpPr>
          <p:nvPr/>
        </p:nvSpPr>
        <p:spPr bwMode="auto">
          <a:xfrm>
            <a:off x="3141013" y="2119511"/>
            <a:ext cx="1008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¡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¡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RTA</a:t>
            </a:r>
          </a:p>
        </p:txBody>
      </p:sp>
      <p:sp>
        <p:nvSpPr>
          <p:cNvPr id="56" name="Text Box 79"/>
          <p:cNvSpPr txBox="1">
            <a:spLocks noChangeArrowheads="1"/>
          </p:cNvSpPr>
          <p:nvPr/>
        </p:nvSpPr>
        <p:spPr bwMode="auto">
          <a:xfrm>
            <a:off x="5664291" y="2119510"/>
            <a:ext cx="100806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¡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¡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RTB</a:t>
            </a:r>
          </a:p>
        </p:txBody>
      </p:sp>
      <p:sp>
        <p:nvSpPr>
          <p:cNvPr id="57" name="Text Box 80"/>
          <p:cNvSpPr txBox="1">
            <a:spLocks noChangeArrowheads="1"/>
          </p:cNvSpPr>
          <p:nvPr/>
        </p:nvSpPr>
        <p:spPr bwMode="auto">
          <a:xfrm>
            <a:off x="8050447" y="2130180"/>
            <a:ext cx="100806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¡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¡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RTC</a:t>
            </a:r>
          </a:p>
        </p:txBody>
      </p:sp>
      <p:pic>
        <p:nvPicPr>
          <p:cNvPr id="58" name="Picture 81" descr="0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1013" y="2432149"/>
            <a:ext cx="9366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Picture 82" descr="0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4291" y="2437957"/>
            <a:ext cx="9366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Picture 83" descr="0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6166" y="2443079"/>
            <a:ext cx="9366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228" y="3548397"/>
            <a:ext cx="3316287" cy="162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3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3870" y="3548397"/>
            <a:ext cx="3309937" cy="162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4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8709" y="3548397"/>
            <a:ext cx="3309937" cy="162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5" name="Line 97"/>
          <p:cNvSpPr>
            <a:spLocks noChangeShapeType="1"/>
          </p:cNvSpPr>
          <p:nvPr/>
        </p:nvSpPr>
        <p:spPr bwMode="auto">
          <a:xfrm flipH="1">
            <a:off x="2828325" y="3355756"/>
            <a:ext cx="7207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7" name="Line 98"/>
          <p:cNvSpPr>
            <a:spLocks noChangeShapeType="1"/>
          </p:cNvSpPr>
          <p:nvPr/>
        </p:nvSpPr>
        <p:spPr bwMode="auto">
          <a:xfrm flipH="1">
            <a:off x="5259262" y="3355756"/>
            <a:ext cx="7921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8" name="Line 99"/>
          <p:cNvSpPr>
            <a:spLocks noChangeShapeType="1"/>
          </p:cNvSpPr>
          <p:nvPr/>
        </p:nvSpPr>
        <p:spPr bwMode="auto">
          <a:xfrm flipH="1">
            <a:off x="7740980" y="3355756"/>
            <a:ext cx="7921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9" name="Line 100"/>
          <p:cNvSpPr>
            <a:spLocks noChangeShapeType="1"/>
          </p:cNvSpPr>
          <p:nvPr/>
        </p:nvSpPr>
        <p:spPr bwMode="auto">
          <a:xfrm flipH="1">
            <a:off x="3693512" y="3355756"/>
            <a:ext cx="647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0" name="Line 101"/>
          <p:cNvSpPr>
            <a:spLocks noChangeShapeType="1"/>
          </p:cNvSpPr>
          <p:nvPr/>
        </p:nvSpPr>
        <p:spPr bwMode="auto">
          <a:xfrm flipH="1">
            <a:off x="6201745" y="3355756"/>
            <a:ext cx="7191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1" name="Line 102"/>
          <p:cNvSpPr>
            <a:spLocks noChangeShapeType="1"/>
          </p:cNvSpPr>
          <p:nvPr/>
        </p:nvSpPr>
        <p:spPr bwMode="auto">
          <a:xfrm flipH="1">
            <a:off x="8677605" y="3355756"/>
            <a:ext cx="7921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72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5343" y="5093222"/>
            <a:ext cx="3249613" cy="592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3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197" y="5093222"/>
            <a:ext cx="3249613" cy="592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4" name="Picture 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2416" y="5099995"/>
            <a:ext cx="3249613" cy="592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5" name="Picture 5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5343" y="5611775"/>
            <a:ext cx="3249613" cy="592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6" name="Picture 6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928" y="5611775"/>
            <a:ext cx="3249613" cy="592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7" name="Picture 7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2416" y="5611775"/>
            <a:ext cx="3249613" cy="592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7468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5" grpId="1" animBg="1"/>
      <p:bldP spid="67" grpId="0" animBg="1"/>
      <p:bldP spid="67" grpId="1" animBg="1"/>
      <p:bldP spid="68" grpId="0" animBg="1"/>
      <p:bldP spid="68" grpId="1" animBg="1"/>
      <p:bldP spid="69" grpId="0" animBg="1"/>
      <p:bldP spid="69" grpId="1" animBg="1"/>
      <p:bldP spid="70" grpId="0" animBg="1"/>
      <p:bldP spid="70" grpId="1" animBg="1"/>
      <p:bldP spid="71" grpId="0" animBg="1"/>
      <p:bldP spid="71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5B5E7D-8FD9-434B-BAC9-4A5D465A8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RIP-</a:t>
            </a:r>
            <a:r>
              <a:rPr lang="zh-CN" altLang="en-US" dirty="0"/>
              <a:t>报文格式</a:t>
            </a:r>
            <a:r>
              <a:rPr lang="en-US" altLang="zh-CN" dirty="0"/>
              <a:t>(V2)</a:t>
            </a:r>
            <a:endParaRPr kumimoji="1" lang="zh-CN" altLang="en-US" dirty="0"/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BE8FACEC-799E-DE40-96E7-A30323EC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3243518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5.4.2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RIP-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内部网关路由协议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550ED307-254A-0A44-A386-B21B3DA0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4" name="标题 1"/>
          <p:cNvSpPr txBox="1">
            <a:spLocks/>
          </p:cNvSpPr>
          <p:nvPr/>
        </p:nvSpPr>
        <p:spPr>
          <a:xfrm>
            <a:off x="1307508" y="1548202"/>
            <a:ext cx="8220812" cy="879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sp>
        <p:nvSpPr>
          <p:cNvPr id="66" name="内容占位符 2"/>
          <p:cNvSpPr>
            <a:spLocks noGrp="1"/>
          </p:cNvSpPr>
          <p:nvPr>
            <p:ph idx="1"/>
          </p:nvPr>
        </p:nvSpPr>
        <p:spPr>
          <a:xfrm>
            <a:off x="838200" y="1429482"/>
            <a:ext cx="3083560" cy="458669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协议封装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n-US" altLang="zh-CN" dirty="0"/>
              <a:t>UDP</a:t>
            </a:r>
            <a:r>
              <a:rPr lang="zh-CN" altLang="en-US" dirty="0"/>
              <a:t>，</a:t>
            </a:r>
            <a:r>
              <a:rPr lang="en-US" altLang="zh-CN" dirty="0"/>
              <a:t>520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版本演进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n-US" altLang="zh-CN" dirty="0"/>
              <a:t>V1</a:t>
            </a:r>
            <a:r>
              <a:rPr lang="zh-CN" altLang="en-US" dirty="0"/>
              <a:t>：使用标准的</a:t>
            </a:r>
            <a:r>
              <a:rPr lang="en-US" altLang="zh-CN" dirty="0"/>
              <a:t>IP</a:t>
            </a:r>
            <a:r>
              <a:rPr lang="zh-CN" altLang="en-US" dirty="0"/>
              <a:t>地址，不支持子网路由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n-US" altLang="zh-CN" dirty="0"/>
              <a:t>V2</a:t>
            </a:r>
            <a:r>
              <a:rPr lang="zh-CN" altLang="en-US" dirty="0"/>
              <a:t>：支持子网路由、身份验证、多播</a:t>
            </a:r>
            <a:endParaRPr lang="en-US" altLang="zh-CN" dirty="0"/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1307508" y="1548202"/>
            <a:ext cx="8220812" cy="879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0853" y="1331490"/>
            <a:ext cx="8308975" cy="459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5618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5B5E7D-8FD9-434B-BAC9-4A5D465A8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RIP-</a:t>
            </a:r>
            <a:r>
              <a:rPr lang="zh-CN" altLang="en-US" dirty="0"/>
              <a:t>报文格式</a:t>
            </a:r>
            <a:endParaRPr kumimoji="1" lang="zh-CN" altLang="en-US" dirty="0"/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BE8FACEC-799E-DE40-96E7-A30323EC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3243518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5.4.2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RIP-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内部网关路由协议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550ED307-254A-0A44-A386-B21B3DA0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4" name="标题 1"/>
          <p:cNvSpPr txBox="1">
            <a:spLocks/>
          </p:cNvSpPr>
          <p:nvPr/>
        </p:nvSpPr>
        <p:spPr>
          <a:xfrm>
            <a:off x="1307508" y="1548202"/>
            <a:ext cx="8220812" cy="879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sp>
        <p:nvSpPr>
          <p:cNvPr id="66" name="内容占位符 2"/>
          <p:cNvSpPr>
            <a:spLocks noGrp="1"/>
          </p:cNvSpPr>
          <p:nvPr>
            <p:ph idx="1"/>
          </p:nvPr>
        </p:nvSpPr>
        <p:spPr>
          <a:xfrm>
            <a:off x="838199" y="1429482"/>
            <a:ext cx="3395968" cy="458669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请观察：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这个报文是</a:t>
            </a:r>
            <a:r>
              <a:rPr lang="en-US" altLang="zh-CN" dirty="0"/>
              <a:t>RIP</a:t>
            </a:r>
            <a:r>
              <a:rPr lang="zh-CN" altLang="en-US" dirty="0"/>
              <a:t>版本多少？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n-US" altLang="zh-CN" dirty="0"/>
              <a:t>RIP</a:t>
            </a:r>
            <a:r>
              <a:rPr lang="zh-CN" altLang="en-US" dirty="0"/>
              <a:t>的周期更新如何实现？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实现时是什么时候把跳数加</a:t>
            </a:r>
            <a:r>
              <a:rPr lang="en-US" altLang="zh-CN" dirty="0"/>
              <a:t>1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为什么</a:t>
            </a:r>
            <a:r>
              <a:rPr lang="en-US" altLang="zh-CN" dirty="0"/>
              <a:t>RIP</a:t>
            </a:r>
            <a:r>
              <a:rPr lang="zh-CN" altLang="en-US" dirty="0"/>
              <a:t>没有确认机制？</a:t>
            </a:r>
            <a:endParaRPr lang="en-US" altLang="zh-CN" dirty="0"/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1307508" y="1548202"/>
            <a:ext cx="8220812" cy="879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0070" y="1342320"/>
            <a:ext cx="6364039" cy="5283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7943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5B5E7D-8FD9-434B-BAC9-4A5D465A8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RIP-</a:t>
            </a:r>
            <a:r>
              <a:rPr lang="zh-CN" altLang="en-US" dirty="0"/>
              <a:t>小结</a:t>
            </a:r>
            <a:endParaRPr kumimoji="1" lang="zh-CN" altLang="en-US" dirty="0"/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BE8FACEC-799E-DE40-96E7-A30323EC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3243518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5.4.2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RIP-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内部网关路由协议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550ED307-254A-0A44-A386-B21B3DA0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4" name="标题 1"/>
          <p:cNvSpPr txBox="1">
            <a:spLocks/>
          </p:cNvSpPr>
          <p:nvPr/>
        </p:nvSpPr>
        <p:spPr>
          <a:xfrm>
            <a:off x="1307508" y="1548202"/>
            <a:ext cx="8220812" cy="879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1307508" y="1548202"/>
            <a:ext cx="8220812" cy="879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sp>
        <p:nvSpPr>
          <p:cNvPr id="11" name="内容占位符 2"/>
          <p:cNvSpPr txBox="1">
            <a:spLocks/>
          </p:cNvSpPr>
          <p:nvPr/>
        </p:nvSpPr>
        <p:spPr>
          <a:xfrm>
            <a:off x="6102759" y="1375628"/>
            <a:ext cx="5257800" cy="4586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363" indent="-360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tabLst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marR="0" lvl="0" indent="-360363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RIP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协议的防环路机制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触发更新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毒性反转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水平分割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其他</a:t>
            </a:r>
          </a:p>
        </p:txBody>
      </p:sp>
      <p:sp>
        <p:nvSpPr>
          <p:cNvPr id="13" name="内容占位符 2"/>
          <p:cNvSpPr txBox="1">
            <a:spLocks/>
          </p:cNvSpPr>
          <p:nvPr/>
        </p:nvSpPr>
        <p:spPr>
          <a:xfrm>
            <a:off x="843081" y="1375628"/>
            <a:ext cx="5257800" cy="4586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363" indent="-360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tabLst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marR="0" lvl="0" indent="-360363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RIP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协议的特点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算法简单，易于实现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收敛慢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需要交换的信息量较大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360363" marR="0" lvl="0" indent="-360363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RIP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协议的适用场合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中小型网络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360363" marR="0" lvl="0" indent="-36036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71462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BGP-</a:t>
            </a:r>
            <a:r>
              <a:rPr lang="zh-CN" altLang="zh-CN" dirty="0"/>
              <a:t>外部网关路由协议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路由协议</a:t>
            </a:r>
            <a:endParaRPr lang="en-US" altLang="zh-CN" dirty="0"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defRPr/>
            </a:pPr>
            <a:r>
              <a:rPr kumimoji="1" lang="zh-CN" altLang="en-US" dirty="0"/>
              <a:t>内部网关协议 </a:t>
            </a:r>
            <a:r>
              <a:rPr kumimoji="1" lang="en-US" altLang="zh-CN" dirty="0"/>
              <a:t>IGP</a:t>
            </a:r>
            <a:r>
              <a:rPr kumimoji="1" lang="zh-CN" altLang="en-US" dirty="0"/>
              <a:t>： 有 </a:t>
            </a:r>
            <a:r>
              <a:rPr kumimoji="1" lang="en-US" altLang="zh-CN" dirty="0"/>
              <a:t>RIP </a:t>
            </a:r>
            <a:r>
              <a:rPr kumimoji="1" lang="zh-CN" altLang="en-US" dirty="0"/>
              <a:t>和、</a:t>
            </a:r>
            <a:r>
              <a:rPr kumimoji="1" lang="en-US" altLang="zh-CN" dirty="0"/>
              <a:t>OSPF</a:t>
            </a:r>
            <a:r>
              <a:rPr kumimoji="1" lang="zh-CN" altLang="en-US" dirty="0"/>
              <a:t>、</a:t>
            </a:r>
            <a:r>
              <a:rPr kumimoji="1" lang="en-US" altLang="zh-CN" dirty="0"/>
              <a:t>ISIS </a:t>
            </a:r>
            <a:r>
              <a:rPr kumimoji="1" lang="zh-CN" altLang="en-US" dirty="0"/>
              <a:t>等多种具体的协议</a:t>
            </a:r>
          </a:p>
          <a:p>
            <a:pPr lvl="1">
              <a:lnSpc>
                <a:spcPct val="130000"/>
              </a:lnSpc>
              <a:defRPr/>
            </a:pPr>
            <a:r>
              <a:rPr kumimoji="1" lang="zh-CN" altLang="en-US" dirty="0"/>
              <a:t>外部网关协议 </a:t>
            </a:r>
            <a:r>
              <a:rPr kumimoji="1" lang="en-US" altLang="zh-CN" dirty="0"/>
              <a:t>EGP</a:t>
            </a:r>
            <a:r>
              <a:rPr kumimoji="1" lang="zh-CN" altLang="en-US" dirty="0"/>
              <a:t>：目前使用的协议就是 </a:t>
            </a:r>
            <a:r>
              <a:rPr kumimoji="1" lang="en-US" altLang="zh-CN" dirty="0"/>
              <a:t>BGP</a:t>
            </a:r>
          </a:p>
          <a:p>
            <a:pPr>
              <a:lnSpc>
                <a:spcPct val="130000"/>
              </a:lnSpc>
              <a:defRPr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边界网关协议</a:t>
            </a:r>
            <a:r>
              <a:rPr lang="en-US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BGP (Border Gateway Protocol) </a:t>
            </a:r>
          </a:p>
          <a:p>
            <a:pPr lvl="1">
              <a:lnSpc>
                <a:spcPct val="130000"/>
              </a:lnSpc>
              <a:defRPr/>
            </a:pPr>
            <a:r>
              <a:rPr kumimoji="1" lang="zh-CN" altLang="en-US" dirty="0"/>
              <a:t>目前互联网中唯一实际运行的自治域间的路由协议</a:t>
            </a:r>
            <a:endParaRPr kumimoji="1" lang="en-US" altLang="zh-CN" dirty="0"/>
          </a:p>
          <a:p>
            <a:pPr>
              <a:lnSpc>
                <a:spcPct val="130000"/>
              </a:lnSpc>
              <a:defRPr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BGP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功能</a:t>
            </a:r>
            <a:endParaRPr lang="en-US" altLang="zh-CN" dirty="0"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defRPr/>
            </a:pPr>
            <a:r>
              <a:rPr kumimoji="1" lang="en-US" altLang="zh-CN" dirty="0" err="1"/>
              <a:t>eBGP</a:t>
            </a:r>
            <a:r>
              <a:rPr kumimoji="1" lang="zh-CN" altLang="en-US" dirty="0"/>
              <a:t>：从相邻的</a:t>
            </a:r>
            <a:r>
              <a:rPr kumimoji="1" lang="en-US" altLang="zh-CN" dirty="0"/>
              <a:t>AS</a:t>
            </a:r>
            <a:r>
              <a:rPr kumimoji="1" lang="zh-CN" altLang="en-US" dirty="0"/>
              <a:t>获得网络可达信息</a:t>
            </a:r>
            <a:endParaRPr kumimoji="1" lang="en-US" altLang="zh-CN" dirty="0"/>
          </a:p>
          <a:p>
            <a:pPr lvl="1">
              <a:lnSpc>
                <a:spcPct val="130000"/>
              </a:lnSpc>
              <a:defRPr/>
            </a:pPr>
            <a:r>
              <a:rPr kumimoji="1" lang="en-US" altLang="zh-CN" dirty="0" err="1"/>
              <a:t>iBGP</a:t>
            </a:r>
            <a:r>
              <a:rPr kumimoji="1" lang="zh-CN" altLang="en-US" dirty="0"/>
              <a:t>： 将网络可达信息传播给</a:t>
            </a:r>
            <a:r>
              <a:rPr kumimoji="1" lang="en-US" altLang="zh-CN" dirty="0"/>
              <a:t>AS</a:t>
            </a:r>
            <a:r>
              <a:rPr kumimoji="1" lang="zh-CN" altLang="en-US" dirty="0"/>
              <a:t>内的路由器</a:t>
            </a:r>
            <a:endParaRPr kumimoji="1" lang="en-US" altLang="zh-CN" dirty="0"/>
          </a:p>
          <a:p>
            <a:pPr lvl="1">
              <a:lnSpc>
                <a:spcPct val="130000"/>
              </a:lnSpc>
              <a:defRPr/>
            </a:pPr>
            <a:r>
              <a:rPr kumimoji="1" lang="zh-CN" altLang="en-US" dirty="0"/>
              <a:t>基于网络可达信息和策略决定到其他网络的“最优”路由</a:t>
            </a:r>
            <a:endParaRPr kumimoji="1"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2894208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5.4.3 BGP-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外部网关路由协议</a:t>
            </a:r>
          </a:p>
        </p:txBody>
      </p:sp>
    </p:spTree>
    <p:extLst>
      <p:ext uri="{BB962C8B-B14F-4D97-AF65-F5344CB8AC3E}">
        <p14:creationId xmlns:p14="http://schemas.microsoft.com/office/powerpoint/2010/main" val="799143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 err="1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eBGP&amp;iBGP</a:t>
            </a:r>
            <a:r>
              <a:rPr lang="zh-CN" altLang="en-US" sz="36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连接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cxnSp>
        <p:nvCxnSpPr>
          <p:cNvPr id="6" name="Straight Connector 272"/>
          <p:cNvCxnSpPr/>
          <p:nvPr/>
        </p:nvCxnSpPr>
        <p:spPr bwMode="auto">
          <a:xfrm flipH="1" flipV="1">
            <a:off x="4357999" y="4521673"/>
            <a:ext cx="10296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Straight Connector 273"/>
          <p:cNvCxnSpPr/>
          <p:nvPr/>
        </p:nvCxnSpPr>
        <p:spPr bwMode="auto">
          <a:xfrm>
            <a:off x="4379265" y="4856689"/>
            <a:ext cx="1030119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2A09B7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TextBox 7"/>
          <p:cNvSpPr txBox="1"/>
          <p:nvPr/>
        </p:nvSpPr>
        <p:spPr>
          <a:xfrm>
            <a:off x="5496376" y="4315492"/>
            <a:ext cx="11176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eBGP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连接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33636" y="4654046"/>
            <a:ext cx="1050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A09B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iBGP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A09B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连接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2A09B7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Freeform 2"/>
          <p:cNvSpPr>
            <a:spLocks/>
          </p:cNvSpPr>
          <p:nvPr/>
        </p:nvSpPr>
        <p:spPr bwMode="auto">
          <a:xfrm>
            <a:off x="838199" y="2392317"/>
            <a:ext cx="3382319" cy="1853712"/>
          </a:xfrm>
          <a:custGeom>
            <a:avLst/>
            <a:gdLst>
              <a:gd name="T0" fmla="*/ 648763 w 10001"/>
              <a:gd name="T1" fmla="*/ 34777612 h 10125"/>
              <a:gd name="T2" fmla="*/ 115976403 w 10001"/>
              <a:gd name="T3" fmla="*/ 13733703 h 10125"/>
              <a:gd name="T4" fmla="*/ 507700960 w 10001"/>
              <a:gd name="T5" fmla="*/ 8662125 h 10125"/>
              <a:gd name="T6" fmla="*/ 810212713 w 10001"/>
              <a:gd name="T7" fmla="*/ 0 h 10125"/>
              <a:gd name="T8" fmla="*/ 1090015738 w 10001"/>
              <a:gd name="T9" fmla="*/ 8687929 h 10125"/>
              <a:gd name="T10" fmla="*/ 1310938763 w 10001"/>
              <a:gd name="T11" fmla="*/ 4279362 h 10125"/>
              <a:gd name="T12" fmla="*/ 1620263134 w 10001"/>
              <a:gd name="T13" fmla="*/ 25736690 h 10125"/>
              <a:gd name="T14" fmla="*/ 1394798364 w 10001"/>
              <a:gd name="T15" fmla="*/ 58525268 h 10125"/>
              <a:gd name="T16" fmla="*/ 1134622140 w 10001"/>
              <a:gd name="T17" fmla="*/ 80266624 h 10125"/>
              <a:gd name="T18" fmla="*/ 860820276 w 10001"/>
              <a:gd name="T19" fmla="*/ 76142271 h 10125"/>
              <a:gd name="T20" fmla="*/ 708996782 w 10001"/>
              <a:gd name="T21" fmla="*/ 85346835 h 10125"/>
              <a:gd name="T22" fmla="*/ 509322667 w 10001"/>
              <a:gd name="T23" fmla="*/ 86268164 h 10125"/>
              <a:gd name="T24" fmla="*/ 353443899 w 10001"/>
              <a:gd name="T25" fmla="*/ 67979516 h 10125"/>
              <a:gd name="T26" fmla="*/ 192536914 w 10001"/>
              <a:gd name="T27" fmla="*/ 64535347 h 10125"/>
              <a:gd name="T28" fmla="*/ 648763 w 10001"/>
              <a:gd name="T29" fmla="*/ 34777612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connsiteX0" fmla="*/ 4 w 10040"/>
              <a:gd name="connsiteY0" fmla="*/ 4039 h 10125"/>
              <a:gd name="connsiteX1" fmla="*/ 715 w 10040"/>
              <a:gd name="connsiteY1" fmla="*/ 1595 h 10125"/>
              <a:gd name="connsiteX2" fmla="*/ 3130 w 10040"/>
              <a:gd name="connsiteY2" fmla="*/ 1006 h 10125"/>
              <a:gd name="connsiteX3" fmla="*/ 4995 w 10040"/>
              <a:gd name="connsiteY3" fmla="*/ 0 h 10125"/>
              <a:gd name="connsiteX4" fmla="*/ 6720 w 10040"/>
              <a:gd name="connsiteY4" fmla="*/ 1009 h 10125"/>
              <a:gd name="connsiteX5" fmla="*/ 9989 w 10040"/>
              <a:gd name="connsiteY5" fmla="*/ 2989 h 10125"/>
              <a:gd name="connsiteX6" fmla="*/ 8599 w 10040"/>
              <a:gd name="connsiteY6" fmla="*/ 6797 h 10125"/>
              <a:gd name="connsiteX7" fmla="*/ 6995 w 10040"/>
              <a:gd name="connsiteY7" fmla="*/ 9322 h 10125"/>
              <a:gd name="connsiteX8" fmla="*/ 5307 w 10040"/>
              <a:gd name="connsiteY8" fmla="*/ 8843 h 10125"/>
              <a:gd name="connsiteX9" fmla="*/ 4371 w 10040"/>
              <a:gd name="connsiteY9" fmla="*/ 9912 h 10125"/>
              <a:gd name="connsiteX10" fmla="*/ 3140 w 10040"/>
              <a:gd name="connsiteY10" fmla="*/ 10019 h 10125"/>
              <a:gd name="connsiteX11" fmla="*/ 2179 w 10040"/>
              <a:gd name="connsiteY11" fmla="*/ 7895 h 10125"/>
              <a:gd name="connsiteX12" fmla="*/ 1187 w 10040"/>
              <a:gd name="connsiteY12" fmla="*/ 7495 h 10125"/>
              <a:gd name="connsiteX13" fmla="*/ 4 w 10040"/>
              <a:gd name="connsiteY13" fmla="*/ 4039 h 10125"/>
              <a:gd name="connsiteX0" fmla="*/ 4 w 8600"/>
              <a:gd name="connsiteY0" fmla="*/ 4042 h 10128"/>
              <a:gd name="connsiteX1" fmla="*/ 715 w 8600"/>
              <a:gd name="connsiteY1" fmla="*/ 1598 h 10128"/>
              <a:gd name="connsiteX2" fmla="*/ 3130 w 8600"/>
              <a:gd name="connsiteY2" fmla="*/ 1009 h 10128"/>
              <a:gd name="connsiteX3" fmla="*/ 4995 w 8600"/>
              <a:gd name="connsiteY3" fmla="*/ 3 h 10128"/>
              <a:gd name="connsiteX4" fmla="*/ 6720 w 8600"/>
              <a:gd name="connsiteY4" fmla="*/ 1012 h 10128"/>
              <a:gd name="connsiteX5" fmla="*/ 8599 w 8600"/>
              <a:gd name="connsiteY5" fmla="*/ 6800 h 10128"/>
              <a:gd name="connsiteX6" fmla="*/ 6995 w 8600"/>
              <a:gd name="connsiteY6" fmla="*/ 9325 h 10128"/>
              <a:gd name="connsiteX7" fmla="*/ 5307 w 8600"/>
              <a:gd name="connsiteY7" fmla="*/ 8846 h 10128"/>
              <a:gd name="connsiteX8" fmla="*/ 4371 w 8600"/>
              <a:gd name="connsiteY8" fmla="*/ 9915 h 10128"/>
              <a:gd name="connsiteX9" fmla="*/ 3140 w 8600"/>
              <a:gd name="connsiteY9" fmla="*/ 10022 h 10128"/>
              <a:gd name="connsiteX10" fmla="*/ 2179 w 8600"/>
              <a:gd name="connsiteY10" fmla="*/ 7898 h 10128"/>
              <a:gd name="connsiteX11" fmla="*/ 1187 w 8600"/>
              <a:gd name="connsiteY11" fmla="*/ 7498 h 10128"/>
              <a:gd name="connsiteX12" fmla="*/ 4 w 8600"/>
              <a:gd name="connsiteY12" fmla="*/ 4042 h 10128"/>
              <a:gd name="connsiteX0" fmla="*/ 4 w 9326"/>
              <a:gd name="connsiteY0" fmla="*/ 3988 h 9997"/>
              <a:gd name="connsiteX1" fmla="*/ 830 w 9326"/>
              <a:gd name="connsiteY1" fmla="*/ 1575 h 9997"/>
              <a:gd name="connsiteX2" fmla="*/ 3639 w 9326"/>
              <a:gd name="connsiteY2" fmla="*/ 993 h 9997"/>
              <a:gd name="connsiteX3" fmla="*/ 5807 w 9326"/>
              <a:gd name="connsiteY3" fmla="*/ 0 h 9997"/>
              <a:gd name="connsiteX4" fmla="*/ 7813 w 9326"/>
              <a:gd name="connsiteY4" fmla="*/ 996 h 9997"/>
              <a:gd name="connsiteX5" fmla="*/ 9324 w 9326"/>
              <a:gd name="connsiteY5" fmla="*/ 5746 h 9997"/>
              <a:gd name="connsiteX6" fmla="*/ 8133 w 9326"/>
              <a:gd name="connsiteY6" fmla="*/ 9204 h 9997"/>
              <a:gd name="connsiteX7" fmla="*/ 6170 w 9326"/>
              <a:gd name="connsiteY7" fmla="*/ 8731 h 9997"/>
              <a:gd name="connsiteX8" fmla="*/ 5082 w 9326"/>
              <a:gd name="connsiteY8" fmla="*/ 9787 h 9997"/>
              <a:gd name="connsiteX9" fmla="*/ 3650 w 9326"/>
              <a:gd name="connsiteY9" fmla="*/ 9892 h 9997"/>
              <a:gd name="connsiteX10" fmla="*/ 2533 w 9326"/>
              <a:gd name="connsiteY10" fmla="*/ 7795 h 9997"/>
              <a:gd name="connsiteX11" fmla="*/ 1379 w 9326"/>
              <a:gd name="connsiteY11" fmla="*/ 7400 h 9997"/>
              <a:gd name="connsiteX12" fmla="*/ 4 w 9326"/>
              <a:gd name="connsiteY12" fmla="*/ 3988 h 9997"/>
              <a:gd name="connsiteX0" fmla="*/ 4 w 10001"/>
              <a:gd name="connsiteY0" fmla="*/ 3989 h 10041"/>
              <a:gd name="connsiteX1" fmla="*/ 890 w 10001"/>
              <a:gd name="connsiteY1" fmla="*/ 1575 h 10041"/>
              <a:gd name="connsiteX2" fmla="*/ 3902 w 10001"/>
              <a:gd name="connsiteY2" fmla="*/ 993 h 10041"/>
              <a:gd name="connsiteX3" fmla="*/ 6227 w 10001"/>
              <a:gd name="connsiteY3" fmla="*/ 0 h 10041"/>
              <a:gd name="connsiteX4" fmla="*/ 8378 w 10001"/>
              <a:gd name="connsiteY4" fmla="*/ 996 h 10041"/>
              <a:gd name="connsiteX5" fmla="*/ 9998 w 10001"/>
              <a:gd name="connsiteY5" fmla="*/ 5748 h 10041"/>
              <a:gd name="connsiteX6" fmla="*/ 8721 w 10001"/>
              <a:gd name="connsiteY6" fmla="*/ 9207 h 10041"/>
              <a:gd name="connsiteX7" fmla="*/ 5449 w 10001"/>
              <a:gd name="connsiteY7" fmla="*/ 9790 h 10041"/>
              <a:gd name="connsiteX8" fmla="*/ 3914 w 10001"/>
              <a:gd name="connsiteY8" fmla="*/ 9895 h 10041"/>
              <a:gd name="connsiteX9" fmla="*/ 2716 w 10001"/>
              <a:gd name="connsiteY9" fmla="*/ 7797 h 10041"/>
              <a:gd name="connsiteX10" fmla="*/ 1479 w 10001"/>
              <a:gd name="connsiteY10" fmla="*/ 7402 h 10041"/>
              <a:gd name="connsiteX11" fmla="*/ 4 w 10001"/>
              <a:gd name="connsiteY11" fmla="*/ 3989 h 10041"/>
              <a:gd name="connsiteX0" fmla="*/ 4 w 10001"/>
              <a:gd name="connsiteY0" fmla="*/ 3989 h 14825"/>
              <a:gd name="connsiteX1" fmla="*/ 890 w 10001"/>
              <a:gd name="connsiteY1" fmla="*/ 1575 h 14825"/>
              <a:gd name="connsiteX2" fmla="*/ 3902 w 10001"/>
              <a:gd name="connsiteY2" fmla="*/ 993 h 14825"/>
              <a:gd name="connsiteX3" fmla="*/ 6227 w 10001"/>
              <a:gd name="connsiteY3" fmla="*/ 0 h 14825"/>
              <a:gd name="connsiteX4" fmla="*/ 8378 w 10001"/>
              <a:gd name="connsiteY4" fmla="*/ 996 h 14825"/>
              <a:gd name="connsiteX5" fmla="*/ 9998 w 10001"/>
              <a:gd name="connsiteY5" fmla="*/ 5748 h 14825"/>
              <a:gd name="connsiteX6" fmla="*/ 8721 w 10001"/>
              <a:gd name="connsiteY6" fmla="*/ 9207 h 14825"/>
              <a:gd name="connsiteX7" fmla="*/ 6011 w 10001"/>
              <a:gd name="connsiteY7" fmla="*/ 14823 h 14825"/>
              <a:gd name="connsiteX8" fmla="*/ 3914 w 10001"/>
              <a:gd name="connsiteY8" fmla="*/ 9895 h 14825"/>
              <a:gd name="connsiteX9" fmla="*/ 2716 w 10001"/>
              <a:gd name="connsiteY9" fmla="*/ 7797 h 14825"/>
              <a:gd name="connsiteX10" fmla="*/ 1479 w 10001"/>
              <a:gd name="connsiteY10" fmla="*/ 7402 h 14825"/>
              <a:gd name="connsiteX11" fmla="*/ 4 w 10001"/>
              <a:gd name="connsiteY11" fmla="*/ 3989 h 14825"/>
              <a:gd name="connsiteX0" fmla="*/ 4 w 10001"/>
              <a:gd name="connsiteY0" fmla="*/ 7436 h 18272"/>
              <a:gd name="connsiteX1" fmla="*/ 890 w 10001"/>
              <a:gd name="connsiteY1" fmla="*/ 5022 h 18272"/>
              <a:gd name="connsiteX2" fmla="*/ 3902 w 10001"/>
              <a:gd name="connsiteY2" fmla="*/ 4440 h 18272"/>
              <a:gd name="connsiteX3" fmla="*/ 6026 w 10001"/>
              <a:gd name="connsiteY3" fmla="*/ 0 h 18272"/>
              <a:gd name="connsiteX4" fmla="*/ 8378 w 10001"/>
              <a:gd name="connsiteY4" fmla="*/ 4443 h 18272"/>
              <a:gd name="connsiteX5" fmla="*/ 9998 w 10001"/>
              <a:gd name="connsiteY5" fmla="*/ 9195 h 18272"/>
              <a:gd name="connsiteX6" fmla="*/ 8721 w 10001"/>
              <a:gd name="connsiteY6" fmla="*/ 12654 h 18272"/>
              <a:gd name="connsiteX7" fmla="*/ 6011 w 10001"/>
              <a:gd name="connsiteY7" fmla="*/ 18270 h 18272"/>
              <a:gd name="connsiteX8" fmla="*/ 3914 w 10001"/>
              <a:gd name="connsiteY8" fmla="*/ 13342 h 18272"/>
              <a:gd name="connsiteX9" fmla="*/ 2716 w 10001"/>
              <a:gd name="connsiteY9" fmla="*/ 11244 h 18272"/>
              <a:gd name="connsiteX10" fmla="*/ 1479 w 10001"/>
              <a:gd name="connsiteY10" fmla="*/ 10849 h 18272"/>
              <a:gd name="connsiteX11" fmla="*/ 4 w 10001"/>
              <a:gd name="connsiteY11" fmla="*/ 7436 h 18272"/>
              <a:gd name="connsiteX0" fmla="*/ 1 w 9998"/>
              <a:gd name="connsiteY0" fmla="*/ 7436 h 18272"/>
              <a:gd name="connsiteX1" fmla="*/ 3899 w 9998"/>
              <a:gd name="connsiteY1" fmla="*/ 4440 h 18272"/>
              <a:gd name="connsiteX2" fmla="*/ 6023 w 9998"/>
              <a:gd name="connsiteY2" fmla="*/ 0 h 18272"/>
              <a:gd name="connsiteX3" fmla="*/ 8375 w 9998"/>
              <a:gd name="connsiteY3" fmla="*/ 4443 h 18272"/>
              <a:gd name="connsiteX4" fmla="*/ 9995 w 9998"/>
              <a:gd name="connsiteY4" fmla="*/ 9195 h 18272"/>
              <a:gd name="connsiteX5" fmla="*/ 8718 w 9998"/>
              <a:gd name="connsiteY5" fmla="*/ 12654 h 18272"/>
              <a:gd name="connsiteX6" fmla="*/ 6008 w 9998"/>
              <a:gd name="connsiteY6" fmla="*/ 18270 h 18272"/>
              <a:gd name="connsiteX7" fmla="*/ 3911 w 9998"/>
              <a:gd name="connsiteY7" fmla="*/ 13342 h 18272"/>
              <a:gd name="connsiteX8" fmla="*/ 2713 w 9998"/>
              <a:gd name="connsiteY8" fmla="*/ 11244 h 18272"/>
              <a:gd name="connsiteX9" fmla="*/ 1476 w 9998"/>
              <a:gd name="connsiteY9" fmla="*/ 10849 h 18272"/>
              <a:gd name="connsiteX10" fmla="*/ 1 w 9998"/>
              <a:gd name="connsiteY10" fmla="*/ 7436 h 18272"/>
              <a:gd name="connsiteX0" fmla="*/ 35 w 8559"/>
              <a:gd name="connsiteY0" fmla="*/ 5938 h 10000"/>
              <a:gd name="connsiteX1" fmla="*/ 2459 w 8559"/>
              <a:gd name="connsiteY1" fmla="*/ 2430 h 10000"/>
              <a:gd name="connsiteX2" fmla="*/ 4583 w 8559"/>
              <a:gd name="connsiteY2" fmla="*/ 0 h 10000"/>
              <a:gd name="connsiteX3" fmla="*/ 6936 w 8559"/>
              <a:gd name="connsiteY3" fmla="*/ 2432 h 10000"/>
              <a:gd name="connsiteX4" fmla="*/ 8556 w 8559"/>
              <a:gd name="connsiteY4" fmla="*/ 5032 h 10000"/>
              <a:gd name="connsiteX5" fmla="*/ 7279 w 8559"/>
              <a:gd name="connsiteY5" fmla="*/ 6925 h 10000"/>
              <a:gd name="connsiteX6" fmla="*/ 4568 w 8559"/>
              <a:gd name="connsiteY6" fmla="*/ 9999 h 10000"/>
              <a:gd name="connsiteX7" fmla="*/ 2471 w 8559"/>
              <a:gd name="connsiteY7" fmla="*/ 7302 h 10000"/>
              <a:gd name="connsiteX8" fmla="*/ 1273 w 8559"/>
              <a:gd name="connsiteY8" fmla="*/ 6154 h 10000"/>
              <a:gd name="connsiteX9" fmla="*/ 35 w 8559"/>
              <a:gd name="connsiteY9" fmla="*/ 5938 h 10000"/>
              <a:gd name="connsiteX0" fmla="*/ 49 w 9820"/>
              <a:gd name="connsiteY0" fmla="*/ 4655 h 10000"/>
              <a:gd name="connsiteX1" fmla="*/ 2693 w 9820"/>
              <a:gd name="connsiteY1" fmla="*/ 2430 h 10000"/>
              <a:gd name="connsiteX2" fmla="*/ 5175 w 9820"/>
              <a:gd name="connsiteY2" fmla="*/ 0 h 10000"/>
              <a:gd name="connsiteX3" fmla="*/ 7924 w 9820"/>
              <a:gd name="connsiteY3" fmla="*/ 2432 h 10000"/>
              <a:gd name="connsiteX4" fmla="*/ 9816 w 9820"/>
              <a:gd name="connsiteY4" fmla="*/ 5032 h 10000"/>
              <a:gd name="connsiteX5" fmla="*/ 8324 w 9820"/>
              <a:gd name="connsiteY5" fmla="*/ 6925 h 10000"/>
              <a:gd name="connsiteX6" fmla="*/ 5157 w 9820"/>
              <a:gd name="connsiteY6" fmla="*/ 9999 h 10000"/>
              <a:gd name="connsiteX7" fmla="*/ 2707 w 9820"/>
              <a:gd name="connsiteY7" fmla="*/ 7302 h 10000"/>
              <a:gd name="connsiteX8" fmla="*/ 1307 w 9820"/>
              <a:gd name="connsiteY8" fmla="*/ 6154 h 10000"/>
              <a:gd name="connsiteX9" fmla="*/ 49 w 9820"/>
              <a:gd name="connsiteY9" fmla="*/ 4655 h 10000"/>
              <a:gd name="connsiteX0" fmla="*/ 45 w 9995"/>
              <a:gd name="connsiteY0" fmla="*/ 4655 h 10000"/>
              <a:gd name="connsiteX1" fmla="*/ 2737 w 9995"/>
              <a:gd name="connsiteY1" fmla="*/ 2430 h 10000"/>
              <a:gd name="connsiteX2" fmla="*/ 5265 w 9995"/>
              <a:gd name="connsiteY2" fmla="*/ 0 h 10000"/>
              <a:gd name="connsiteX3" fmla="*/ 8064 w 9995"/>
              <a:gd name="connsiteY3" fmla="*/ 2432 h 10000"/>
              <a:gd name="connsiteX4" fmla="*/ 9991 w 9995"/>
              <a:gd name="connsiteY4" fmla="*/ 5032 h 10000"/>
              <a:gd name="connsiteX5" fmla="*/ 8472 w 9995"/>
              <a:gd name="connsiteY5" fmla="*/ 6925 h 10000"/>
              <a:gd name="connsiteX6" fmla="*/ 5247 w 9995"/>
              <a:gd name="connsiteY6" fmla="*/ 9999 h 10000"/>
              <a:gd name="connsiteX7" fmla="*/ 2752 w 9995"/>
              <a:gd name="connsiteY7" fmla="*/ 7302 h 10000"/>
              <a:gd name="connsiteX8" fmla="*/ 1374 w 9995"/>
              <a:gd name="connsiteY8" fmla="*/ 6984 h 10000"/>
              <a:gd name="connsiteX9" fmla="*/ 45 w 9995"/>
              <a:gd name="connsiteY9" fmla="*/ 4655 h 10000"/>
              <a:gd name="connsiteX0" fmla="*/ 45 w 10000"/>
              <a:gd name="connsiteY0" fmla="*/ 5032 h 10377"/>
              <a:gd name="connsiteX1" fmla="*/ 2738 w 10000"/>
              <a:gd name="connsiteY1" fmla="*/ 2807 h 10377"/>
              <a:gd name="connsiteX2" fmla="*/ 4886 w 10000"/>
              <a:gd name="connsiteY2" fmla="*/ 0 h 10377"/>
              <a:gd name="connsiteX3" fmla="*/ 8068 w 10000"/>
              <a:gd name="connsiteY3" fmla="*/ 2809 h 10377"/>
              <a:gd name="connsiteX4" fmla="*/ 9996 w 10000"/>
              <a:gd name="connsiteY4" fmla="*/ 5409 h 10377"/>
              <a:gd name="connsiteX5" fmla="*/ 8476 w 10000"/>
              <a:gd name="connsiteY5" fmla="*/ 7302 h 10377"/>
              <a:gd name="connsiteX6" fmla="*/ 5250 w 10000"/>
              <a:gd name="connsiteY6" fmla="*/ 10376 h 10377"/>
              <a:gd name="connsiteX7" fmla="*/ 2753 w 10000"/>
              <a:gd name="connsiteY7" fmla="*/ 7679 h 10377"/>
              <a:gd name="connsiteX8" fmla="*/ 1375 w 10000"/>
              <a:gd name="connsiteY8" fmla="*/ 7361 h 10377"/>
              <a:gd name="connsiteX9" fmla="*/ 45 w 10000"/>
              <a:gd name="connsiteY9" fmla="*/ 5032 h 10377"/>
              <a:gd name="connsiteX0" fmla="*/ 45 w 10000"/>
              <a:gd name="connsiteY0" fmla="*/ 5036 h 10381"/>
              <a:gd name="connsiteX1" fmla="*/ 2738 w 10000"/>
              <a:gd name="connsiteY1" fmla="*/ 2811 h 10381"/>
              <a:gd name="connsiteX2" fmla="*/ 4886 w 10000"/>
              <a:gd name="connsiteY2" fmla="*/ 4 h 10381"/>
              <a:gd name="connsiteX3" fmla="*/ 8068 w 10000"/>
              <a:gd name="connsiteY3" fmla="*/ 2813 h 10381"/>
              <a:gd name="connsiteX4" fmla="*/ 9996 w 10000"/>
              <a:gd name="connsiteY4" fmla="*/ 5413 h 10381"/>
              <a:gd name="connsiteX5" fmla="*/ 8476 w 10000"/>
              <a:gd name="connsiteY5" fmla="*/ 7306 h 10381"/>
              <a:gd name="connsiteX6" fmla="*/ 5250 w 10000"/>
              <a:gd name="connsiteY6" fmla="*/ 10380 h 10381"/>
              <a:gd name="connsiteX7" fmla="*/ 2753 w 10000"/>
              <a:gd name="connsiteY7" fmla="*/ 7683 h 10381"/>
              <a:gd name="connsiteX8" fmla="*/ 1375 w 10000"/>
              <a:gd name="connsiteY8" fmla="*/ 7365 h 10381"/>
              <a:gd name="connsiteX9" fmla="*/ 45 w 10000"/>
              <a:gd name="connsiteY9" fmla="*/ 5036 h 10381"/>
              <a:gd name="connsiteX0" fmla="*/ 45 w 10000"/>
              <a:gd name="connsiteY0" fmla="*/ 5036 h 10796"/>
              <a:gd name="connsiteX1" fmla="*/ 2738 w 10000"/>
              <a:gd name="connsiteY1" fmla="*/ 2811 h 10796"/>
              <a:gd name="connsiteX2" fmla="*/ 4886 w 10000"/>
              <a:gd name="connsiteY2" fmla="*/ 4 h 10796"/>
              <a:gd name="connsiteX3" fmla="*/ 8068 w 10000"/>
              <a:gd name="connsiteY3" fmla="*/ 2813 h 10796"/>
              <a:gd name="connsiteX4" fmla="*/ 9996 w 10000"/>
              <a:gd name="connsiteY4" fmla="*/ 5413 h 10796"/>
              <a:gd name="connsiteX5" fmla="*/ 8476 w 10000"/>
              <a:gd name="connsiteY5" fmla="*/ 7306 h 10796"/>
              <a:gd name="connsiteX6" fmla="*/ 5202 w 10000"/>
              <a:gd name="connsiteY6" fmla="*/ 10795 h 10796"/>
              <a:gd name="connsiteX7" fmla="*/ 2753 w 10000"/>
              <a:gd name="connsiteY7" fmla="*/ 7683 h 10796"/>
              <a:gd name="connsiteX8" fmla="*/ 1375 w 10000"/>
              <a:gd name="connsiteY8" fmla="*/ 7365 h 10796"/>
              <a:gd name="connsiteX9" fmla="*/ 45 w 10000"/>
              <a:gd name="connsiteY9" fmla="*/ 5036 h 10796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00" h="10795">
                <a:moveTo>
                  <a:pt x="45" y="5036"/>
                </a:moveTo>
                <a:cubicBezTo>
                  <a:pt x="272" y="4277"/>
                  <a:pt x="1931" y="3650"/>
                  <a:pt x="2738" y="2811"/>
                </a:cubicBezTo>
                <a:cubicBezTo>
                  <a:pt x="3545" y="1972"/>
                  <a:pt x="3352" y="117"/>
                  <a:pt x="4886" y="4"/>
                </a:cubicBezTo>
                <a:cubicBezTo>
                  <a:pt x="6420" y="-109"/>
                  <a:pt x="7216" y="1912"/>
                  <a:pt x="8068" y="2813"/>
                </a:cubicBezTo>
                <a:cubicBezTo>
                  <a:pt x="8920" y="3715"/>
                  <a:pt x="9928" y="3420"/>
                  <a:pt x="9996" y="5413"/>
                </a:cubicBezTo>
                <a:cubicBezTo>
                  <a:pt x="10064" y="7406"/>
                  <a:pt x="9275" y="6409"/>
                  <a:pt x="8476" y="7306"/>
                </a:cubicBezTo>
                <a:cubicBezTo>
                  <a:pt x="7677" y="8203"/>
                  <a:pt x="7086" y="10770"/>
                  <a:pt x="5202" y="10795"/>
                </a:cubicBezTo>
                <a:cubicBezTo>
                  <a:pt x="3318" y="10820"/>
                  <a:pt x="3391" y="8255"/>
                  <a:pt x="2753" y="7683"/>
                </a:cubicBezTo>
                <a:cubicBezTo>
                  <a:pt x="2115" y="7111"/>
                  <a:pt x="2326" y="7496"/>
                  <a:pt x="1375" y="7365"/>
                </a:cubicBezTo>
                <a:cubicBezTo>
                  <a:pt x="493" y="6773"/>
                  <a:pt x="-182" y="5795"/>
                  <a:pt x="45" y="5036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grpSp>
        <p:nvGrpSpPr>
          <p:cNvPr id="11" name="Group 72"/>
          <p:cNvGrpSpPr/>
          <p:nvPr/>
        </p:nvGrpSpPr>
        <p:grpSpPr>
          <a:xfrm>
            <a:off x="2121023" y="2543179"/>
            <a:ext cx="753533" cy="369332"/>
            <a:chOff x="1736090" y="2873352"/>
            <a:chExt cx="565150" cy="369332"/>
          </a:xfrm>
        </p:grpSpPr>
        <p:grpSp>
          <p:nvGrpSpPr>
            <p:cNvPr id="12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16" name="Oval 26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solidFill>
                      <a:prstClr val="black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Rectangle 27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Oval 28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solidFill>
                      <a:prstClr val="black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Freeform 29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Freeform 30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Freeform 31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Freeform 32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23" name="Straight Connector 33"/>
              <p:cNvCxnSpPr>
                <a:endCxn id="18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34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71"/>
            <p:cNvGrpSpPr/>
            <p:nvPr/>
          </p:nvGrpSpPr>
          <p:grpSpPr>
            <a:xfrm>
              <a:off x="1770362" y="2873352"/>
              <a:ext cx="414737" cy="369332"/>
              <a:chOff x="667045" y="1708643"/>
              <a:chExt cx="414737" cy="369332"/>
            </a:xfrm>
          </p:grpSpPr>
          <p:sp>
            <p:nvSpPr>
              <p:cNvPr id="14" name="Oval 68"/>
              <p:cNvSpPr/>
              <p:nvPr/>
            </p:nvSpPr>
            <p:spPr bwMode="auto"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667045" y="1708643"/>
                <a:ext cx="3296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rPr>
                  <a:t>1b</a:t>
                </a:r>
              </a:p>
            </p:txBody>
          </p:sp>
        </p:grpSp>
      </p:grpSp>
      <p:grpSp>
        <p:nvGrpSpPr>
          <p:cNvPr id="25" name="Group 73"/>
          <p:cNvGrpSpPr/>
          <p:nvPr/>
        </p:nvGrpSpPr>
        <p:grpSpPr>
          <a:xfrm>
            <a:off x="2126663" y="3764496"/>
            <a:ext cx="753533" cy="369332"/>
            <a:chOff x="1736090" y="2873352"/>
            <a:chExt cx="565150" cy="369332"/>
          </a:xfrm>
        </p:grpSpPr>
        <p:grpSp>
          <p:nvGrpSpPr>
            <p:cNvPr id="26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30" name="Oval 78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solidFill>
                      <a:prstClr val="black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Rectangle 79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Oval 80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solidFill>
                      <a:prstClr val="black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Freeform 81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Freeform 82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Freeform 83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Freeform 84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37" name="Straight Connector 85"/>
              <p:cNvCxnSpPr>
                <a:endCxn id="32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86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75"/>
            <p:cNvGrpSpPr/>
            <p:nvPr/>
          </p:nvGrpSpPr>
          <p:grpSpPr>
            <a:xfrm>
              <a:off x="1770362" y="2873352"/>
              <a:ext cx="414737" cy="369332"/>
              <a:chOff x="667045" y="1708643"/>
              <a:chExt cx="414737" cy="369332"/>
            </a:xfrm>
          </p:grpSpPr>
          <p:sp>
            <p:nvSpPr>
              <p:cNvPr id="28" name="Oval 76"/>
              <p:cNvSpPr/>
              <p:nvPr/>
            </p:nvSpPr>
            <p:spPr bwMode="auto"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667045" y="1708643"/>
                <a:ext cx="3296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rPr>
                  <a:t>1d</a:t>
                </a:r>
              </a:p>
            </p:txBody>
          </p:sp>
        </p:grpSp>
      </p:grpSp>
      <p:grpSp>
        <p:nvGrpSpPr>
          <p:cNvPr id="39" name="Group 87"/>
          <p:cNvGrpSpPr/>
          <p:nvPr/>
        </p:nvGrpSpPr>
        <p:grpSpPr>
          <a:xfrm>
            <a:off x="3275311" y="3154899"/>
            <a:ext cx="753533" cy="369332"/>
            <a:chOff x="1736090" y="2873352"/>
            <a:chExt cx="565150" cy="369332"/>
          </a:xfrm>
        </p:grpSpPr>
        <p:grpSp>
          <p:nvGrpSpPr>
            <p:cNvPr id="40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44" name="Oval 92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solidFill>
                      <a:prstClr val="black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Rectangle 93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Oval 94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solidFill>
                      <a:prstClr val="black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Freeform 95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Freeform 96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" name="Freeform 97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Freeform 98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51" name="Straight Connector 99"/>
              <p:cNvCxnSpPr>
                <a:endCxn id="46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100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89"/>
            <p:cNvGrpSpPr/>
            <p:nvPr/>
          </p:nvGrpSpPr>
          <p:grpSpPr>
            <a:xfrm>
              <a:off x="1770362" y="2873352"/>
              <a:ext cx="414737" cy="369332"/>
              <a:chOff x="667045" y="1708643"/>
              <a:chExt cx="414737" cy="369332"/>
            </a:xfrm>
          </p:grpSpPr>
          <p:sp>
            <p:nvSpPr>
              <p:cNvPr id="42" name="Oval 90"/>
              <p:cNvSpPr/>
              <p:nvPr/>
            </p:nvSpPr>
            <p:spPr bwMode="auto"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667045" y="1708643"/>
                <a:ext cx="3080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rPr>
                  <a:t>1c</a:t>
                </a:r>
              </a:p>
            </p:txBody>
          </p:sp>
        </p:grpSp>
      </p:grpSp>
      <p:grpSp>
        <p:nvGrpSpPr>
          <p:cNvPr id="53" name="Group 101"/>
          <p:cNvGrpSpPr/>
          <p:nvPr/>
        </p:nvGrpSpPr>
        <p:grpSpPr>
          <a:xfrm>
            <a:off x="917344" y="3148546"/>
            <a:ext cx="753533" cy="369332"/>
            <a:chOff x="1736090" y="2873352"/>
            <a:chExt cx="565150" cy="369332"/>
          </a:xfrm>
        </p:grpSpPr>
        <p:grpSp>
          <p:nvGrpSpPr>
            <p:cNvPr id="54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58" name="Oval 106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solidFill>
                      <a:prstClr val="black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Rectangle 107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Oval 108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solidFill>
                      <a:prstClr val="black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" name="Freeform 109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Freeform 110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Freeform 111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Freeform 112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65" name="Straight Connector 113"/>
              <p:cNvCxnSpPr>
                <a:endCxn id="60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114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" name="Group 103"/>
            <p:cNvGrpSpPr/>
            <p:nvPr/>
          </p:nvGrpSpPr>
          <p:grpSpPr>
            <a:xfrm>
              <a:off x="1770362" y="2873352"/>
              <a:ext cx="414737" cy="369332"/>
              <a:chOff x="667045" y="1708643"/>
              <a:chExt cx="414737" cy="369332"/>
            </a:xfrm>
          </p:grpSpPr>
          <p:sp>
            <p:nvSpPr>
              <p:cNvPr id="56" name="Oval 104"/>
              <p:cNvSpPr/>
              <p:nvPr/>
            </p:nvSpPr>
            <p:spPr bwMode="auto"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667045" y="1708643"/>
                <a:ext cx="3164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rPr>
                  <a:t>1a</a:t>
                </a:r>
              </a:p>
            </p:txBody>
          </p:sp>
        </p:grpSp>
      </p:grpSp>
      <p:cxnSp>
        <p:nvCxnSpPr>
          <p:cNvPr id="67" name="Straight Connector 116"/>
          <p:cNvCxnSpPr>
            <a:stCxn id="15" idx="2"/>
            <a:endCxn id="29" idx="0"/>
          </p:cNvCxnSpPr>
          <p:nvPr/>
        </p:nvCxnSpPr>
        <p:spPr bwMode="auto">
          <a:xfrm>
            <a:off x="2386491" y="2912511"/>
            <a:ext cx="5640" cy="851985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Straight Connector 117"/>
          <p:cNvCxnSpPr/>
          <p:nvPr/>
        </p:nvCxnSpPr>
        <p:spPr bwMode="auto">
          <a:xfrm>
            <a:off x="1682873" y="3318449"/>
            <a:ext cx="1606551" cy="6353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" name="Straight Connector 120"/>
          <p:cNvCxnSpPr>
            <a:stCxn id="16" idx="7"/>
          </p:cNvCxnSpPr>
          <p:nvPr/>
        </p:nvCxnSpPr>
        <p:spPr bwMode="auto">
          <a:xfrm>
            <a:off x="2764513" y="2824305"/>
            <a:ext cx="640056" cy="369773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" name="Straight Connector 123"/>
          <p:cNvCxnSpPr/>
          <p:nvPr/>
        </p:nvCxnSpPr>
        <p:spPr bwMode="auto">
          <a:xfrm>
            <a:off x="1539667" y="3456131"/>
            <a:ext cx="637236" cy="35707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" name="Straight Connector 128"/>
          <p:cNvCxnSpPr/>
          <p:nvPr/>
        </p:nvCxnSpPr>
        <p:spPr bwMode="auto">
          <a:xfrm flipH="1">
            <a:off x="2734292" y="3453369"/>
            <a:ext cx="677336" cy="34925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Straight Connector 132"/>
          <p:cNvCxnSpPr/>
          <p:nvPr/>
        </p:nvCxnSpPr>
        <p:spPr bwMode="auto">
          <a:xfrm flipH="1">
            <a:off x="1522973" y="2836773"/>
            <a:ext cx="677336" cy="34925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73" name="Group 136"/>
          <p:cNvGrpSpPr/>
          <p:nvPr/>
        </p:nvGrpSpPr>
        <p:grpSpPr>
          <a:xfrm>
            <a:off x="4081931" y="1607760"/>
            <a:ext cx="3617044" cy="1853712"/>
            <a:chOff x="-2170772" y="2784954"/>
            <a:chExt cx="2712783" cy="1853712"/>
          </a:xfrm>
        </p:grpSpPr>
        <p:sp>
          <p:nvSpPr>
            <p:cNvPr id="74" name="Freeform 2"/>
            <p:cNvSpPr>
              <a:spLocks/>
            </p:cNvSpPr>
            <p:nvPr/>
          </p:nvSpPr>
          <p:spPr bwMode="auto">
            <a:xfrm>
              <a:off x="-2170772" y="2784954"/>
              <a:ext cx="2712783" cy="1853712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connsiteX0" fmla="*/ 4 w 10040"/>
                <a:gd name="connsiteY0" fmla="*/ 4039 h 10125"/>
                <a:gd name="connsiteX1" fmla="*/ 715 w 10040"/>
                <a:gd name="connsiteY1" fmla="*/ 1595 h 10125"/>
                <a:gd name="connsiteX2" fmla="*/ 3130 w 10040"/>
                <a:gd name="connsiteY2" fmla="*/ 1006 h 10125"/>
                <a:gd name="connsiteX3" fmla="*/ 4995 w 10040"/>
                <a:gd name="connsiteY3" fmla="*/ 0 h 10125"/>
                <a:gd name="connsiteX4" fmla="*/ 6720 w 10040"/>
                <a:gd name="connsiteY4" fmla="*/ 1009 h 10125"/>
                <a:gd name="connsiteX5" fmla="*/ 9989 w 10040"/>
                <a:gd name="connsiteY5" fmla="*/ 2989 h 10125"/>
                <a:gd name="connsiteX6" fmla="*/ 8599 w 10040"/>
                <a:gd name="connsiteY6" fmla="*/ 6797 h 10125"/>
                <a:gd name="connsiteX7" fmla="*/ 6995 w 10040"/>
                <a:gd name="connsiteY7" fmla="*/ 9322 h 10125"/>
                <a:gd name="connsiteX8" fmla="*/ 5307 w 10040"/>
                <a:gd name="connsiteY8" fmla="*/ 8843 h 10125"/>
                <a:gd name="connsiteX9" fmla="*/ 4371 w 10040"/>
                <a:gd name="connsiteY9" fmla="*/ 9912 h 10125"/>
                <a:gd name="connsiteX10" fmla="*/ 3140 w 10040"/>
                <a:gd name="connsiteY10" fmla="*/ 10019 h 10125"/>
                <a:gd name="connsiteX11" fmla="*/ 2179 w 10040"/>
                <a:gd name="connsiteY11" fmla="*/ 7895 h 10125"/>
                <a:gd name="connsiteX12" fmla="*/ 1187 w 10040"/>
                <a:gd name="connsiteY12" fmla="*/ 7495 h 10125"/>
                <a:gd name="connsiteX13" fmla="*/ 4 w 10040"/>
                <a:gd name="connsiteY13" fmla="*/ 4039 h 10125"/>
                <a:gd name="connsiteX0" fmla="*/ 4 w 8600"/>
                <a:gd name="connsiteY0" fmla="*/ 4042 h 10128"/>
                <a:gd name="connsiteX1" fmla="*/ 715 w 8600"/>
                <a:gd name="connsiteY1" fmla="*/ 1598 h 10128"/>
                <a:gd name="connsiteX2" fmla="*/ 3130 w 8600"/>
                <a:gd name="connsiteY2" fmla="*/ 1009 h 10128"/>
                <a:gd name="connsiteX3" fmla="*/ 4995 w 8600"/>
                <a:gd name="connsiteY3" fmla="*/ 3 h 10128"/>
                <a:gd name="connsiteX4" fmla="*/ 6720 w 8600"/>
                <a:gd name="connsiteY4" fmla="*/ 1012 h 10128"/>
                <a:gd name="connsiteX5" fmla="*/ 8599 w 8600"/>
                <a:gd name="connsiteY5" fmla="*/ 6800 h 10128"/>
                <a:gd name="connsiteX6" fmla="*/ 6995 w 8600"/>
                <a:gd name="connsiteY6" fmla="*/ 9325 h 10128"/>
                <a:gd name="connsiteX7" fmla="*/ 5307 w 8600"/>
                <a:gd name="connsiteY7" fmla="*/ 8846 h 10128"/>
                <a:gd name="connsiteX8" fmla="*/ 4371 w 8600"/>
                <a:gd name="connsiteY8" fmla="*/ 9915 h 10128"/>
                <a:gd name="connsiteX9" fmla="*/ 3140 w 8600"/>
                <a:gd name="connsiteY9" fmla="*/ 10022 h 10128"/>
                <a:gd name="connsiteX10" fmla="*/ 2179 w 8600"/>
                <a:gd name="connsiteY10" fmla="*/ 7898 h 10128"/>
                <a:gd name="connsiteX11" fmla="*/ 1187 w 8600"/>
                <a:gd name="connsiteY11" fmla="*/ 7498 h 10128"/>
                <a:gd name="connsiteX12" fmla="*/ 4 w 8600"/>
                <a:gd name="connsiteY12" fmla="*/ 4042 h 10128"/>
                <a:gd name="connsiteX0" fmla="*/ 4 w 9326"/>
                <a:gd name="connsiteY0" fmla="*/ 3988 h 9997"/>
                <a:gd name="connsiteX1" fmla="*/ 830 w 9326"/>
                <a:gd name="connsiteY1" fmla="*/ 1575 h 9997"/>
                <a:gd name="connsiteX2" fmla="*/ 3639 w 9326"/>
                <a:gd name="connsiteY2" fmla="*/ 993 h 9997"/>
                <a:gd name="connsiteX3" fmla="*/ 5807 w 9326"/>
                <a:gd name="connsiteY3" fmla="*/ 0 h 9997"/>
                <a:gd name="connsiteX4" fmla="*/ 7813 w 9326"/>
                <a:gd name="connsiteY4" fmla="*/ 996 h 9997"/>
                <a:gd name="connsiteX5" fmla="*/ 9324 w 9326"/>
                <a:gd name="connsiteY5" fmla="*/ 5746 h 9997"/>
                <a:gd name="connsiteX6" fmla="*/ 8133 w 9326"/>
                <a:gd name="connsiteY6" fmla="*/ 9204 h 9997"/>
                <a:gd name="connsiteX7" fmla="*/ 6170 w 9326"/>
                <a:gd name="connsiteY7" fmla="*/ 8731 h 9997"/>
                <a:gd name="connsiteX8" fmla="*/ 5082 w 9326"/>
                <a:gd name="connsiteY8" fmla="*/ 9787 h 9997"/>
                <a:gd name="connsiteX9" fmla="*/ 3650 w 9326"/>
                <a:gd name="connsiteY9" fmla="*/ 9892 h 9997"/>
                <a:gd name="connsiteX10" fmla="*/ 2533 w 9326"/>
                <a:gd name="connsiteY10" fmla="*/ 7795 h 9997"/>
                <a:gd name="connsiteX11" fmla="*/ 1379 w 9326"/>
                <a:gd name="connsiteY11" fmla="*/ 7400 h 9997"/>
                <a:gd name="connsiteX12" fmla="*/ 4 w 9326"/>
                <a:gd name="connsiteY12" fmla="*/ 3988 h 9997"/>
                <a:gd name="connsiteX0" fmla="*/ 4 w 10001"/>
                <a:gd name="connsiteY0" fmla="*/ 3989 h 10041"/>
                <a:gd name="connsiteX1" fmla="*/ 890 w 10001"/>
                <a:gd name="connsiteY1" fmla="*/ 1575 h 10041"/>
                <a:gd name="connsiteX2" fmla="*/ 3902 w 10001"/>
                <a:gd name="connsiteY2" fmla="*/ 993 h 10041"/>
                <a:gd name="connsiteX3" fmla="*/ 6227 w 10001"/>
                <a:gd name="connsiteY3" fmla="*/ 0 h 10041"/>
                <a:gd name="connsiteX4" fmla="*/ 8378 w 10001"/>
                <a:gd name="connsiteY4" fmla="*/ 996 h 10041"/>
                <a:gd name="connsiteX5" fmla="*/ 9998 w 10001"/>
                <a:gd name="connsiteY5" fmla="*/ 5748 h 10041"/>
                <a:gd name="connsiteX6" fmla="*/ 8721 w 10001"/>
                <a:gd name="connsiteY6" fmla="*/ 9207 h 10041"/>
                <a:gd name="connsiteX7" fmla="*/ 5449 w 10001"/>
                <a:gd name="connsiteY7" fmla="*/ 9790 h 10041"/>
                <a:gd name="connsiteX8" fmla="*/ 3914 w 10001"/>
                <a:gd name="connsiteY8" fmla="*/ 9895 h 10041"/>
                <a:gd name="connsiteX9" fmla="*/ 2716 w 10001"/>
                <a:gd name="connsiteY9" fmla="*/ 7797 h 10041"/>
                <a:gd name="connsiteX10" fmla="*/ 1479 w 10001"/>
                <a:gd name="connsiteY10" fmla="*/ 7402 h 10041"/>
                <a:gd name="connsiteX11" fmla="*/ 4 w 10001"/>
                <a:gd name="connsiteY11" fmla="*/ 3989 h 10041"/>
                <a:gd name="connsiteX0" fmla="*/ 4 w 10001"/>
                <a:gd name="connsiteY0" fmla="*/ 3989 h 14825"/>
                <a:gd name="connsiteX1" fmla="*/ 890 w 10001"/>
                <a:gd name="connsiteY1" fmla="*/ 1575 h 14825"/>
                <a:gd name="connsiteX2" fmla="*/ 3902 w 10001"/>
                <a:gd name="connsiteY2" fmla="*/ 993 h 14825"/>
                <a:gd name="connsiteX3" fmla="*/ 6227 w 10001"/>
                <a:gd name="connsiteY3" fmla="*/ 0 h 14825"/>
                <a:gd name="connsiteX4" fmla="*/ 8378 w 10001"/>
                <a:gd name="connsiteY4" fmla="*/ 996 h 14825"/>
                <a:gd name="connsiteX5" fmla="*/ 9998 w 10001"/>
                <a:gd name="connsiteY5" fmla="*/ 5748 h 14825"/>
                <a:gd name="connsiteX6" fmla="*/ 8721 w 10001"/>
                <a:gd name="connsiteY6" fmla="*/ 9207 h 14825"/>
                <a:gd name="connsiteX7" fmla="*/ 6011 w 10001"/>
                <a:gd name="connsiteY7" fmla="*/ 14823 h 14825"/>
                <a:gd name="connsiteX8" fmla="*/ 3914 w 10001"/>
                <a:gd name="connsiteY8" fmla="*/ 9895 h 14825"/>
                <a:gd name="connsiteX9" fmla="*/ 2716 w 10001"/>
                <a:gd name="connsiteY9" fmla="*/ 7797 h 14825"/>
                <a:gd name="connsiteX10" fmla="*/ 1479 w 10001"/>
                <a:gd name="connsiteY10" fmla="*/ 7402 h 14825"/>
                <a:gd name="connsiteX11" fmla="*/ 4 w 10001"/>
                <a:gd name="connsiteY11" fmla="*/ 3989 h 14825"/>
                <a:gd name="connsiteX0" fmla="*/ 4 w 10001"/>
                <a:gd name="connsiteY0" fmla="*/ 7436 h 18272"/>
                <a:gd name="connsiteX1" fmla="*/ 890 w 10001"/>
                <a:gd name="connsiteY1" fmla="*/ 5022 h 18272"/>
                <a:gd name="connsiteX2" fmla="*/ 3902 w 10001"/>
                <a:gd name="connsiteY2" fmla="*/ 4440 h 18272"/>
                <a:gd name="connsiteX3" fmla="*/ 6026 w 10001"/>
                <a:gd name="connsiteY3" fmla="*/ 0 h 18272"/>
                <a:gd name="connsiteX4" fmla="*/ 8378 w 10001"/>
                <a:gd name="connsiteY4" fmla="*/ 4443 h 18272"/>
                <a:gd name="connsiteX5" fmla="*/ 9998 w 10001"/>
                <a:gd name="connsiteY5" fmla="*/ 9195 h 18272"/>
                <a:gd name="connsiteX6" fmla="*/ 8721 w 10001"/>
                <a:gd name="connsiteY6" fmla="*/ 12654 h 18272"/>
                <a:gd name="connsiteX7" fmla="*/ 6011 w 10001"/>
                <a:gd name="connsiteY7" fmla="*/ 18270 h 18272"/>
                <a:gd name="connsiteX8" fmla="*/ 3914 w 10001"/>
                <a:gd name="connsiteY8" fmla="*/ 13342 h 18272"/>
                <a:gd name="connsiteX9" fmla="*/ 2716 w 10001"/>
                <a:gd name="connsiteY9" fmla="*/ 11244 h 18272"/>
                <a:gd name="connsiteX10" fmla="*/ 1479 w 10001"/>
                <a:gd name="connsiteY10" fmla="*/ 10849 h 18272"/>
                <a:gd name="connsiteX11" fmla="*/ 4 w 10001"/>
                <a:gd name="connsiteY11" fmla="*/ 7436 h 18272"/>
                <a:gd name="connsiteX0" fmla="*/ 1 w 9998"/>
                <a:gd name="connsiteY0" fmla="*/ 7436 h 18272"/>
                <a:gd name="connsiteX1" fmla="*/ 3899 w 9998"/>
                <a:gd name="connsiteY1" fmla="*/ 4440 h 18272"/>
                <a:gd name="connsiteX2" fmla="*/ 6023 w 9998"/>
                <a:gd name="connsiteY2" fmla="*/ 0 h 18272"/>
                <a:gd name="connsiteX3" fmla="*/ 8375 w 9998"/>
                <a:gd name="connsiteY3" fmla="*/ 4443 h 18272"/>
                <a:gd name="connsiteX4" fmla="*/ 9995 w 9998"/>
                <a:gd name="connsiteY4" fmla="*/ 9195 h 18272"/>
                <a:gd name="connsiteX5" fmla="*/ 8718 w 9998"/>
                <a:gd name="connsiteY5" fmla="*/ 12654 h 18272"/>
                <a:gd name="connsiteX6" fmla="*/ 6008 w 9998"/>
                <a:gd name="connsiteY6" fmla="*/ 18270 h 18272"/>
                <a:gd name="connsiteX7" fmla="*/ 3911 w 9998"/>
                <a:gd name="connsiteY7" fmla="*/ 13342 h 18272"/>
                <a:gd name="connsiteX8" fmla="*/ 2713 w 9998"/>
                <a:gd name="connsiteY8" fmla="*/ 11244 h 18272"/>
                <a:gd name="connsiteX9" fmla="*/ 1476 w 9998"/>
                <a:gd name="connsiteY9" fmla="*/ 10849 h 18272"/>
                <a:gd name="connsiteX10" fmla="*/ 1 w 9998"/>
                <a:gd name="connsiteY10" fmla="*/ 7436 h 18272"/>
                <a:gd name="connsiteX0" fmla="*/ 35 w 8559"/>
                <a:gd name="connsiteY0" fmla="*/ 5938 h 10000"/>
                <a:gd name="connsiteX1" fmla="*/ 2459 w 8559"/>
                <a:gd name="connsiteY1" fmla="*/ 2430 h 10000"/>
                <a:gd name="connsiteX2" fmla="*/ 4583 w 8559"/>
                <a:gd name="connsiteY2" fmla="*/ 0 h 10000"/>
                <a:gd name="connsiteX3" fmla="*/ 6936 w 8559"/>
                <a:gd name="connsiteY3" fmla="*/ 2432 h 10000"/>
                <a:gd name="connsiteX4" fmla="*/ 8556 w 8559"/>
                <a:gd name="connsiteY4" fmla="*/ 5032 h 10000"/>
                <a:gd name="connsiteX5" fmla="*/ 7279 w 8559"/>
                <a:gd name="connsiteY5" fmla="*/ 6925 h 10000"/>
                <a:gd name="connsiteX6" fmla="*/ 4568 w 8559"/>
                <a:gd name="connsiteY6" fmla="*/ 9999 h 10000"/>
                <a:gd name="connsiteX7" fmla="*/ 2471 w 8559"/>
                <a:gd name="connsiteY7" fmla="*/ 7302 h 10000"/>
                <a:gd name="connsiteX8" fmla="*/ 1273 w 8559"/>
                <a:gd name="connsiteY8" fmla="*/ 6154 h 10000"/>
                <a:gd name="connsiteX9" fmla="*/ 35 w 8559"/>
                <a:gd name="connsiteY9" fmla="*/ 5938 h 10000"/>
                <a:gd name="connsiteX0" fmla="*/ 49 w 9820"/>
                <a:gd name="connsiteY0" fmla="*/ 4655 h 10000"/>
                <a:gd name="connsiteX1" fmla="*/ 2693 w 9820"/>
                <a:gd name="connsiteY1" fmla="*/ 2430 h 10000"/>
                <a:gd name="connsiteX2" fmla="*/ 5175 w 9820"/>
                <a:gd name="connsiteY2" fmla="*/ 0 h 10000"/>
                <a:gd name="connsiteX3" fmla="*/ 7924 w 9820"/>
                <a:gd name="connsiteY3" fmla="*/ 2432 h 10000"/>
                <a:gd name="connsiteX4" fmla="*/ 9816 w 9820"/>
                <a:gd name="connsiteY4" fmla="*/ 5032 h 10000"/>
                <a:gd name="connsiteX5" fmla="*/ 8324 w 9820"/>
                <a:gd name="connsiteY5" fmla="*/ 6925 h 10000"/>
                <a:gd name="connsiteX6" fmla="*/ 5157 w 9820"/>
                <a:gd name="connsiteY6" fmla="*/ 9999 h 10000"/>
                <a:gd name="connsiteX7" fmla="*/ 2707 w 9820"/>
                <a:gd name="connsiteY7" fmla="*/ 7302 h 10000"/>
                <a:gd name="connsiteX8" fmla="*/ 1307 w 9820"/>
                <a:gd name="connsiteY8" fmla="*/ 6154 h 10000"/>
                <a:gd name="connsiteX9" fmla="*/ 49 w 9820"/>
                <a:gd name="connsiteY9" fmla="*/ 4655 h 10000"/>
                <a:gd name="connsiteX0" fmla="*/ 45 w 9995"/>
                <a:gd name="connsiteY0" fmla="*/ 4655 h 10000"/>
                <a:gd name="connsiteX1" fmla="*/ 2737 w 9995"/>
                <a:gd name="connsiteY1" fmla="*/ 2430 h 10000"/>
                <a:gd name="connsiteX2" fmla="*/ 5265 w 9995"/>
                <a:gd name="connsiteY2" fmla="*/ 0 h 10000"/>
                <a:gd name="connsiteX3" fmla="*/ 8064 w 9995"/>
                <a:gd name="connsiteY3" fmla="*/ 2432 h 10000"/>
                <a:gd name="connsiteX4" fmla="*/ 9991 w 9995"/>
                <a:gd name="connsiteY4" fmla="*/ 5032 h 10000"/>
                <a:gd name="connsiteX5" fmla="*/ 8472 w 9995"/>
                <a:gd name="connsiteY5" fmla="*/ 6925 h 10000"/>
                <a:gd name="connsiteX6" fmla="*/ 5247 w 9995"/>
                <a:gd name="connsiteY6" fmla="*/ 9999 h 10000"/>
                <a:gd name="connsiteX7" fmla="*/ 2752 w 9995"/>
                <a:gd name="connsiteY7" fmla="*/ 7302 h 10000"/>
                <a:gd name="connsiteX8" fmla="*/ 1374 w 9995"/>
                <a:gd name="connsiteY8" fmla="*/ 6984 h 10000"/>
                <a:gd name="connsiteX9" fmla="*/ 45 w 9995"/>
                <a:gd name="connsiteY9" fmla="*/ 4655 h 10000"/>
                <a:gd name="connsiteX0" fmla="*/ 45 w 10000"/>
                <a:gd name="connsiteY0" fmla="*/ 5032 h 10377"/>
                <a:gd name="connsiteX1" fmla="*/ 2738 w 10000"/>
                <a:gd name="connsiteY1" fmla="*/ 2807 h 10377"/>
                <a:gd name="connsiteX2" fmla="*/ 4886 w 10000"/>
                <a:gd name="connsiteY2" fmla="*/ 0 h 10377"/>
                <a:gd name="connsiteX3" fmla="*/ 8068 w 10000"/>
                <a:gd name="connsiteY3" fmla="*/ 2809 h 10377"/>
                <a:gd name="connsiteX4" fmla="*/ 9996 w 10000"/>
                <a:gd name="connsiteY4" fmla="*/ 5409 h 10377"/>
                <a:gd name="connsiteX5" fmla="*/ 8476 w 10000"/>
                <a:gd name="connsiteY5" fmla="*/ 7302 h 10377"/>
                <a:gd name="connsiteX6" fmla="*/ 5250 w 10000"/>
                <a:gd name="connsiteY6" fmla="*/ 10376 h 10377"/>
                <a:gd name="connsiteX7" fmla="*/ 2753 w 10000"/>
                <a:gd name="connsiteY7" fmla="*/ 7679 h 10377"/>
                <a:gd name="connsiteX8" fmla="*/ 1375 w 10000"/>
                <a:gd name="connsiteY8" fmla="*/ 7361 h 10377"/>
                <a:gd name="connsiteX9" fmla="*/ 45 w 10000"/>
                <a:gd name="connsiteY9" fmla="*/ 5032 h 10377"/>
                <a:gd name="connsiteX0" fmla="*/ 45 w 10000"/>
                <a:gd name="connsiteY0" fmla="*/ 5036 h 10381"/>
                <a:gd name="connsiteX1" fmla="*/ 2738 w 10000"/>
                <a:gd name="connsiteY1" fmla="*/ 2811 h 10381"/>
                <a:gd name="connsiteX2" fmla="*/ 4886 w 10000"/>
                <a:gd name="connsiteY2" fmla="*/ 4 h 10381"/>
                <a:gd name="connsiteX3" fmla="*/ 8068 w 10000"/>
                <a:gd name="connsiteY3" fmla="*/ 2813 h 10381"/>
                <a:gd name="connsiteX4" fmla="*/ 9996 w 10000"/>
                <a:gd name="connsiteY4" fmla="*/ 5413 h 10381"/>
                <a:gd name="connsiteX5" fmla="*/ 8476 w 10000"/>
                <a:gd name="connsiteY5" fmla="*/ 7306 h 10381"/>
                <a:gd name="connsiteX6" fmla="*/ 5250 w 10000"/>
                <a:gd name="connsiteY6" fmla="*/ 10380 h 10381"/>
                <a:gd name="connsiteX7" fmla="*/ 2753 w 10000"/>
                <a:gd name="connsiteY7" fmla="*/ 7683 h 10381"/>
                <a:gd name="connsiteX8" fmla="*/ 1375 w 10000"/>
                <a:gd name="connsiteY8" fmla="*/ 7365 h 10381"/>
                <a:gd name="connsiteX9" fmla="*/ 45 w 10000"/>
                <a:gd name="connsiteY9" fmla="*/ 5036 h 10381"/>
                <a:gd name="connsiteX0" fmla="*/ 45 w 10000"/>
                <a:gd name="connsiteY0" fmla="*/ 5036 h 10796"/>
                <a:gd name="connsiteX1" fmla="*/ 2738 w 10000"/>
                <a:gd name="connsiteY1" fmla="*/ 2811 h 10796"/>
                <a:gd name="connsiteX2" fmla="*/ 4886 w 10000"/>
                <a:gd name="connsiteY2" fmla="*/ 4 h 10796"/>
                <a:gd name="connsiteX3" fmla="*/ 8068 w 10000"/>
                <a:gd name="connsiteY3" fmla="*/ 2813 h 10796"/>
                <a:gd name="connsiteX4" fmla="*/ 9996 w 10000"/>
                <a:gd name="connsiteY4" fmla="*/ 5413 h 10796"/>
                <a:gd name="connsiteX5" fmla="*/ 8476 w 10000"/>
                <a:gd name="connsiteY5" fmla="*/ 7306 h 10796"/>
                <a:gd name="connsiteX6" fmla="*/ 5202 w 10000"/>
                <a:gd name="connsiteY6" fmla="*/ 10795 h 10796"/>
                <a:gd name="connsiteX7" fmla="*/ 2753 w 10000"/>
                <a:gd name="connsiteY7" fmla="*/ 7683 h 10796"/>
                <a:gd name="connsiteX8" fmla="*/ 1375 w 10000"/>
                <a:gd name="connsiteY8" fmla="*/ 7365 h 10796"/>
                <a:gd name="connsiteX9" fmla="*/ 45 w 10000"/>
                <a:gd name="connsiteY9" fmla="*/ 5036 h 10796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00" h="10795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grpSp>
          <p:nvGrpSpPr>
            <p:cNvPr id="75" name="Group 138"/>
            <p:cNvGrpSpPr/>
            <p:nvPr/>
          </p:nvGrpSpPr>
          <p:grpSpPr>
            <a:xfrm>
              <a:off x="-1935370" y="2935816"/>
              <a:ext cx="2333625" cy="1590649"/>
              <a:chOff x="833331" y="2873352"/>
              <a:chExt cx="2333625" cy="1590649"/>
            </a:xfrm>
          </p:grpSpPr>
          <p:grpSp>
            <p:nvGrpSpPr>
              <p:cNvPr id="76" name="Group 139"/>
              <p:cNvGrpSpPr/>
              <p:nvPr/>
            </p:nvGrpSpPr>
            <p:grpSpPr>
              <a:xfrm>
                <a:off x="1736090" y="287335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125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129" name="Oval 192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0" name="Rectangle 193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1" name="Oval 194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2" name="Freeform 195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3" name="Freeform 196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4" name="Freeform 197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5" name="Freeform 198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136" name="Straight Connector 199"/>
                  <p:cNvCxnSpPr>
                    <a:endCxn id="131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7" name="Straight Connector 200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26" name="Group 189"/>
                <p:cNvGrpSpPr/>
                <p:nvPr/>
              </p:nvGrpSpPr>
              <p:grpSpPr>
                <a:xfrm>
                  <a:off x="1770362" y="2873352"/>
                  <a:ext cx="414737" cy="369332"/>
                  <a:chOff x="667045" y="1708643"/>
                  <a:chExt cx="414737" cy="369332"/>
                </a:xfrm>
              </p:grpSpPr>
              <p:sp>
                <p:nvSpPr>
                  <p:cNvPr id="127" name="Oval 190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8" name="TextBox 127"/>
                  <p:cNvSpPr txBox="1"/>
                  <p:nvPr/>
                </p:nvSpPr>
                <p:spPr>
                  <a:xfrm>
                    <a:off x="667045" y="1708643"/>
                    <a:ext cx="32965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rPr>
                      <a:t>2b</a:t>
                    </a:r>
                  </a:p>
                </p:txBody>
              </p:sp>
            </p:grpSp>
          </p:grpSp>
          <p:grpSp>
            <p:nvGrpSpPr>
              <p:cNvPr id="77" name="Group 140"/>
              <p:cNvGrpSpPr/>
              <p:nvPr/>
            </p:nvGrpSpPr>
            <p:grpSpPr>
              <a:xfrm>
                <a:off x="1740320" y="409466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112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116" name="Oval 179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7" name="Rectangle 180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8" name="Oval 181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9" name="Freeform 182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0" name="Freeform 183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1" name="Freeform 184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2" name="Freeform 185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123" name="Straight Connector 186"/>
                  <p:cNvCxnSpPr>
                    <a:endCxn id="118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" name="Straight Connector 187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3" name="Group 176"/>
                <p:cNvGrpSpPr/>
                <p:nvPr/>
              </p:nvGrpSpPr>
              <p:grpSpPr>
                <a:xfrm>
                  <a:off x="1770362" y="2873352"/>
                  <a:ext cx="414737" cy="369332"/>
                  <a:chOff x="667045" y="1708643"/>
                  <a:chExt cx="414737" cy="369332"/>
                </a:xfrm>
              </p:grpSpPr>
              <p:sp>
                <p:nvSpPr>
                  <p:cNvPr id="114" name="Oval 177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5" name="TextBox 114"/>
                  <p:cNvSpPr txBox="1"/>
                  <p:nvPr/>
                </p:nvSpPr>
                <p:spPr>
                  <a:xfrm>
                    <a:off x="667045" y="1708643"/>
                    <a:ext cx="32965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rPr>
                      <a:t>2d</a:t>
                    </a:r>
                  </a:p>
                </p:txBody>
              </p:sp>
            </p:grpSp>
          </p:grpSp>
          <p:grpSp>
            <p:nvGrpSpPr>
              <p:cNvPr id="78" name="Group 141"/>
              <p:cNvGrpSpPr/>
              <p:nvPr/>
            </p:nvGrpSpPr>
            <p:grpSpPr>
              <a:xfrm>
                <a:off x="2601806" y="348507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99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103" name="Oval 166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4" name="Rectangle 167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5" name="Oval 168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6" name="Freeform 169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7" name="Freeform 170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8" name="Freeform 171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9" name="Freeform 172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110" name="Straight Connector 173"/>
                  <p:cNvCxnSpPr>
                    <a:endCxn id="105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1" name="Straight Connector 174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0" name="Group 163"/>
                <p:cNvGrpSpPr/>
                <p:nvPr/>
              </p:nvGrpSpPr>
              <p:grpSpPr>
                <a:xfrm>
                  <a:off x="1770362" y="2873352"/>
                  <a:ext cx="414737" cy="369332"/>
                  <a:chOff x="667045" y="1708643"/>
                  <a:chExt cx="414737" cy="369332"/>
                </a:xfrm>
              </p:grpSpPr>
              <p:sp>
                <p:nvSpPr>
                  <p:cNvPr id="101" name="Oval 164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2" name="TextBox 101"/>
                  <p:cNvSpPr txBox="1"/>
                  <p:nvPr/>
                </p:nvSpPr>
                <p:spPr>
                  <a:xfrm>
                    <a:off x="667045" y="1708643"/>
                    <a:ext cx="30801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rPr>
                      <a:t>2c</a:t>
                    </a:r>
                  </a:p>
                </p:txBody>
              </p:sp>
            </p:grpSp>
          </p:grpSp>
          <p:grpSp>
            <p:nvGrpSpPr>
              <p:cNvPr id="79" name="Group 142"/>
              <p:cNvGrpSpPr/>
              <p:nvPr/>
            </p:nvGrpSpPr>
            <p:grpSpPr>
              <a:xfrm>
                <a:off x="833331" y="347871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86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90" name="Oval 153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1" name="Rectangle 154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2" name="Oval 155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" name="Freeform 156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" name="Freeform 157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5" name="Freeform 158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6" name="Freeform 159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97" name="Straight Connector 160"/>
                  <p:cNvCxnSpPr>
                    <a:endCxn id="92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" name="Straight Connector 161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7" name="Group 150"/>
                <p:cNvGrpSpPr/>
                <p:nvPr/>
              </p:nvGrpSpPr>
              <p:grpSpPr>
                <a:xfrm>
                  <a:off x="1770362" y="2873352"/>
                  <a:ext cx="414737" cy="369332"/>
                  <a:chOff x="667045" y="1708643"/>
                  <a:chExt cx="414737" cy="369332"/>
                </a:xfrm>
              </p:grpSpPr>
              <p:sp>
                <p:nvSpPr>
                  <p:cNvPr id="88" name="Oval 151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9" name="TextBox 88"/>
                  <p:cNvSpPr txBox="1"/>
                  <p:nvPr/>
                </p:nvSpPr>
                <p:spPr>
                  <a:xfrm>
                    <a:off x="667045" y="1708643"/>
                    <a:ext cx="31643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rPr>
                      <a:t>2a</a:t>
                    </a:r>
                  </a:p>
                </p:txBody>
              </p:sp>
            </p:grpSp>
          </p:grpSp>
          <p:cxnSp>
            <p:nvCxnSpPr>
              <p:cNvPr id="80" name="Straight Connector 143"/>
              <p:cNvCxnSpPr>
                <a:stCxn id="128" idx="2"/>
                <a:endCxn id="115" idx="0"/>
              </p:cNvCxnSpPr>
              <p:nvPr/>
            </p:nvCxnSpPr>
            <p:spPr bwMode="auto">
              <a:xfrm>
                <a:off x="1935191" y="3242684"/>
                <a:ext cx="4230" cy="851985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1" name="Straight Connector 144"/>
              <p:cNvCxnSpPr/>
              <p:nvPr/>
            </p:nvCxnSpPr>
            <p:spPr bwMode="auto">
              <a:xfrm>
                <a:off x="1407477" y="3648621"/>
                <a:ext cx="1204913" cy="635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2" name="Straight Connector 145"/>
              <p:cNvCxnSpPr>
                <a:stCxn id="129" idx="7"/>
              </p:cNvCxnSpPr>
              <p:nvPr/>
            </p:nvCxnSpPr>
            <p:spPr bwMode="auto">
              <a:xfrm>
                <a:off x="2218708" y="3154477"/>
                <a:ext cx="480042" cy="36977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3" name="Straight Connector 146"/>
              <p:cNvCxnSpPr/>
              <p:nvPr/>
            </p:nvCxnSpPr>
            <p:spPr bwMode="auto">
              <a:xfrm>
                <a:off x="1300073" y="3786304"/>
                <a:ext cx="477927" cy="35707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4" name="Straight Connector 147"/>
              <p:cNvCxnSpPr/>
              <p:nvPr/>
            </p:nvCxnSpPr>
            <p:spPr bwMode="auto">
              <a:xfrm flipH="1">
                <a:off x="2196042" y="3783542"/>
                <a:ext cx="508002" cy="34925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5" name="Straight Connector 148"/>
              <p:cNvCxnSpPr/>
              <p:nvPr/>
            </p:nvCxnSpPr>
            <p:spPr bwMode="auto">
              <a:xfrm flipH="1">
                <a:off x="1287553" y="3166946"/>
                <a:ext cx="508002" cy="34925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grpSp>
        <p:nvGrpSpPr>
          <p:cNvPr id="138" name="Group 201"/>
          <p:cNvGrpSpPr/>
          <p:nvPr/>
        </p:nvGrpSpPr>
        <p:grpSpPr>
          <a:xfrm>
            <a:off x="7643657" y="2426439"/>
            <a:ext cx="3617044" cy="1853712"/>
            <a:chOff x="-2170772" y="2784954"/>
            <a:chExt cx="2712783" cy="1853712"/>
          </a:xfrm>
        </p:grpSpPr>
        <p:sp>
          <p:nvSpPr>
            <p:cNvPr id="139" name="Freeform 2"/>
            <p:cNvSpPr>
              <a:spLocks/>
            </p:cNvSpPr>
            <p:nvPr/>
          </p:nvSpPr>
          <p:spPr bwMode="auto">
            <a:xfrm>
              <a:off x="-2170772" y="2784954"/>
              <a:ext cx="2712783" cy="1853712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connsiteX0" fmla="*/ 4 w 10040"/>
                <a:gd name="connsiteY0" fmla="*/ 4039 h 10125"/>
                <a:gd name="connsiteX1" fmla="*/ 715 w 10040"/>
                <a:gd name="connsiteY1" fmla="*/ 1595 h 10125"/>
                <a:gd name="connsiteX2" fmla="*/ 3130 w 10040"/>
                <a:gd name="connsiteY2" fmla="*/ 1006 h 10125"/>
                <a:gd name="connsiteX3" fmla="*/ 4995 w 10040"/>
                <a:gd name="connsiteY3" fmla="*/ 0 h 10125"/>
                <a:gd name="connsiteX4" fmla="*/ 6720 w 10040"/>
                <a:gd name="connsiteY4" fmla="*/ 1009 h 10125"/>
                <a:gd name="connsiteX5" fmla="*/ 9989 w 10040"/>
                <a:gd name="connsiteY5" fmla="*/ 2989 h 10125"/>
                <a:gd name="connsiteX6" fmla="*/ 8599 w 10040"/>
                <a:gd name="connsiteY6" fmla="*/ 6797 h 10125"/>
                <a:gd name="connsiteX7" fmla="*/ 6995 w 10040"/>
                <a:gd name="connsiteY7" fmla="*/ 9322 h 10125"/>
                <a:gd name="connsiteX8" fmla="*/ 5307 w 10040"/>
                <a:gd name="connsiteY8" fmla="*/ 8843 h 10125"/>
                <a:gd name="connsiteX9" fmla="*/ 4371 w 10040"/>
                <a:gd name="connsiteY9" fmla="*/ 9912 h 10125"/>
                <a:gd name="connsiteX10" fmla="*/ 3140 w 10040"/>
                <a:gd name="connsiteY10" fmla="*/ 10019 h 10125"/>
                <a:gd name="connsiteX11" fmla="*/ 2179 w 10040"/>
                <a:gd name="connsiteY11" fmla="*/ 7895 h 10125"/>
                <a:gd name="connsiteX12" fmla="*/ 1187 w 10040"/>
                <a:gd name="connsiteY12" fmla="*/ 7495 h 10125"/>
                <a:gd name="connsiteX13" fmla="*/ 4 w 10040"/>
                <a:gd name="connsiteY13" fmla="*/ 4039 h 10125"/>
                <a:gd name="connsiteX0" fmla="*/ 4 w 8600"/>
                <a:gd name="connsiteY0" fmla="*/ 4042 h 10128"/>
                <a:gd name="connsiteX1" fmla="*/ 715 w 8600"/>
                <a:gd name="connsiteY1" fmla="*/ 1598 h 10128"/>
                <a:gd name="connsiteX2" fmla="*/ 3130 w 8600"/>
                <a:gd name="connsiteY2" fmla="*/ 1009 h 10128"/>
                <a:gd name="connsiteX3" fmla="*/ 4995 w 8600"/>
                <a:gd name="connsiteY3" fmla="*/ 3 h 10128"/>
                <a:gd name="connsiteX4" fmla="*/ 6720 w 8600"/>
                <a:gd name="connsiteY4" fmla="*/ 1012 h 10128"/>
                <a:gd name="connsiteX5" fmla="*/ 8599 w 8600"/>
                <a:gd name="connsiteY5" fmla="*/ 6800 h 10128"/>
                <a:gd name="connsiteX6" fmla="*/ 6995 w 8600"/>
                <a:gd name="connsiteY6" fmla="*/ 9325 h 10128"/>
                <a:gd name="connsiteX7" fmla="*/ 5307 w 8600"/>
                <a:gd name="connsiteY7" fmla="*/ 8846 h 10128"/>
                <a:gd name="connsiteX8" fmla="*/ 4371 w 8600"/>
                <a:gd name="connsiteY8" fmla="*/ 9915 h 10128"/>
                <a:gd name="connsiteX9" fmla="*/ 3140 w 8600"/>
                <a:gd name="connsiteY9" fmla="*/ 10022 h 10128"/>
                <a:gd name="connsiteX10" fmla="*/ 2179 w 8600"/>
                <a:gd name="connsiteY10" fmla="*/ 7898 h 10128"/>
                <a:gd name="connsiteX11" fmla="*/ 1187 w 8600"/>
                <a:gd name="connsiteY11" fmla="*/ 7498 h 10128"/>
                <a:gd name="connsiteX12" fmla="*/ 4 w 8600"/>
                <a:gd name="connsiteY12" fmla="*/ 4042 h 10128"/>
                <a:gd name="connsiteX0" fmla="*/ 4 w 9326"/>
                <a:gd name="connsiteY0" fmla="*/ 3988 h 9997"/>
                <a:gd name="connsiteX1" fmla="*/ 830 w 9326"/>
                <a:gd name="connsiteY1" fmla="*/ 1575 h 9997"/>
                <a:gd name="connsiteX2" fmla="*/ 3639 w 9326"/>
                <a:gd name="connsiteY2" fmla="*/ 993 h 9997"/>
                <a:gd name="connsiteX3" fmla="*/ 5807 w 9326"/>
                <a:gd name="connsiteY3" fmla="*/ 0 h 9997"/>
                <a:gd name="connsiteX4" fmla="*/ 7813 w 9326"/>
                <a:gd name="connsiteY4" fmla="*/ 996 h 9997"/>
                <a:gd name="connsiteX5" fmla="*/ 9324 w 9326"/>
                <a:gd name="connsiteY5" fmla="*/ 5746 h 9997"/>
                <a:gd name="connsiteX6" fmla="*/ 8133 w 9326"/>
                <a:gd name="connsiteY6" fmla="*/ 9204 h 9997"/>
                <a:gd name="connsiteX7" fmla="*/ 6170 w 9326"/>
                <a:gd name="connsiteY7" fmla="*/ 8731 h 9997"/>
                <a:gd name="connsiteX8" fmla="*/ 5082 w 9326"/>
                <a:gd name="connsiteY8" fmla="*/ 9787 h 9997"/>
                <a:gd name="connsiteX9" fmla="*/ 3650 w 9326"/>
                <a:gd name="connsiteY9" fmla="*/ 9892 h 9997"/>
                <a:gd name="connsiteX10" fmla="*/ 2533 w 9326"/>
                <a:gd name="connsiteY10" fmla="*/ 7795 h 9997"/>
                <a:gd name="connsiteX11" fmla="*/ 1379 w 9326"/>
                <a:gd name="connsiteY11" fmla="*/ 7400 h 9997"/>
                <a:gd name="connsiteX12" fmla="*/ 4 w 9326"/>
                <a:gd name="connsiteY12" fmla="*/ 3988 h 9997"/>
                <a:gd name="connsiteX0" fmla="*/ 4 w 10001"/>
                <a:gd name="connsiteY0" fmla="*/ 3989 h 10041"/>
                <a:gd name="connsiteX1" fmla="*/ 890 w 10001"/>
                <a:gd name="connsiteY1" fmla="*/ 1575 h 10041"/>
                <a:gd name="connsiteX2" fmla="*/ 3902 w 10001"/>
                <a:gd name="connsiteY2" fmla="*/ 993 h 10041"/>
                <a:gd name="connsiteX3" fmla="*/ 6227 w 10001"/>
                <a:gd name="connsiteY3" fmla="*/ 0 h 10041"/>
                <a:gd name="connsiteX4" fmla="*/ 8378 w 10001"/>
                <a:gd name="connsiteY4" fmla="*/ 996 h 10041"/>
                <a:gd name="connsiteX5" fmla="*/ 9998 w 10001"/>
                <a:gd name="connsiteY5" fmla="*/ 5748 h 10041"/>
                <a:gd name="connsiteX6" fmla="*/ 8721 w 10001"/>
                <a:gd name="connsiteY6" fmla="*/ 9207 h 10041"/>
                <a:gd name="connsiteX7" fmla="*/ 5449 w 10001"/>
                <a:gd name="connsiteY7" fmla="*/ 9790 h 10041"/>
                <a:gd name="connsiteX8" fmla="*/ 3914 w 10001"/>
                <a:gd name="connsiteY8" fmla="*/ 9895 h 10041"/>
                <a:gd name="connsiteX9" fmla="*/ 2716 w 10001"/>
                <a:gd name="connsiteY9" fmla="*/ 7797 h 10041"/>
                <a:gd name="connsiteX10" fmla="*/ 1479 w 10001"/>
                <a:gd name="connsiteY10" fmla="*/ 7402 h 10041"/>
                <a:gd name="connsiteX11" fmla="*/ 4 w 10001"/>
                <a:gd name="connsiteY11" fmla="*/ 3989 h 10041"/>
                <a:gd name="connsiteX0" fmla="*/ 4 w 10001"/>
                <a:gd name="connsiteY0" fmla="*/ 3989 h 14825"/>
                <a:gd name="connsiteX1" fmla="*/ 890 w 10001"/>
                <a:gd name="connsiteY1" fmla="*/ 1575 h 14825"/>
                <a:gd name="connsiteX2" fmla="*/ 3902 w 10001"/>
                <a:gd name="connsiteY2" fmla="*/ 993 h 14825"/>
                <a:gd name="connsiteX3" fmla="*/ 6227 w 10001"/>
                <a:gd name="connsiteY3" fmla="*/ 0 h 14825"/>
                <a:gd name="connsiteX4" fmla="*/ 8378 w 10001"/>
                <a:gd name="connsiteY4" fmla="*/ 996 h 14825"/>
                <a:gd name="connsiteX5" fmla="*/ 9998 w 10001"/>
                <a:gd name="connsiteY5" fmla="*/ 5748 h 14825"/>
                <a:gd name="connsiteX6" fmla="*/ 8721 w 10001"/>
                <a:gd name="connsiteY6" fmla="*/ 9207 h 14825"/>
                <a:gd name="connsiteX7" fmla="*/ 6011 w 10001"/>
                <a:gd name="connsiteY7" fmla="*/ 14823 h 14825"/>
                <a:gd name="connsiteX8" fmla="*/ 3914 w 10001"/>
                <a:gd name="connsiteY8" fmla="*/ 9895 h 14825"/>
                <a:gd name="connsiteX9" fmla="*/ 2716 w 10001"/>
                <a:gd name="connsiteY9" fmla="*/ 7797 h 14825"/>
                <a:gd name="connsiteX10" fmla="*/ 1479 w 10001"/>
                <a:gd name="connsiteY10" fmla="*/ 7402 h 14825"/>
                <a:gd name="connsiteX11" fmla="*/ 4 w 10001"/>
                <a:gd name="connsiteY11" fmla="*/ 3989 h 14825"/>
                <a:gd name="connsiteX0" fmla="*/ 4 w 10001"/>
                <a:gd name="connsiteY0" fmla="*/ 7436 h 18272"/>
                <a:gd name="connsiteX1" fmla="*/ 890 w 10001"/>
                <a:gd name="connsiteY1" fmla="*/ 5022 h 18272"/>
                <a:gd name="connsiteX2" fmla="*/ 3902 w 10001"/>
                <a:gd name="connsiteY2" fmla="*/ 4440 h 18272"/>
                <a:gd name="connsiteX3" fmla="*/ 6026 w 10001"/>
                <a:gd name="connsiteY3" fmla="*/ 0 h 18272"/>
                <a:gd name="connsiteX4" fmla="*/ 8378 w 10001"/>
                <a:gd name="connsiteY4" fmla="*/ 4443 h 18272"/>
                <a:gd name="connsiteX5" fmla="*/ 9998 w 10001"/>
                <a:gd name="connsiteY5" fmla="*/ 9195 h 18272"/>
                <a:gd name="connsiteX6" fmla="*/ 8721 w 10001"/>
                <a:gd name="connsiteY6" fmla="*/ 12654 h 18272"/>
                <a:gd name="connsiteX7" fmla="*/ 6011 w 10001"/>
                <a:gd name="connsiteY7" fmla="*/ 18270 h 18272"/>
                <a:gd name="connsiteX8" fmla="*/ 3914 w 10001"/>
                <a:gd name="connsiteY8" fmla="*/ 13342 h 18272"/>
                <a:gd name="connsiteX9" fmla="*/ 2716 w 10001"/>
                <a:gd name="connsiteY9" fmla="*/ 11244 h 18272"/>
                <a:gd name="connsiteX10" fmla="*/ 1479 w 10001"/>
                <a:gd name="connsiteY10" fmla="*/ 10849 h 18272"/>
                <a:gd name="connsiteX11" fmla="*/ 4 w 10001"/>
                <a:gd name="connsiteY11" fmla="*/ 7436 h 18272"/>
                <a:gd name="connsiteX0" fmla="*/ 1 w 9998"/>
                <a:gd name="connsiteY0" fmla="*/ 7436 h 18272"/>
                <a:gd name="connsiteX1" fmla="*/ 3899 w 9998"/>
                <a:gd name="connsiteY1" fmla="*/ 4440 h 18272"/>
                <a:gd name="connsiteX2" fmla="*/ 6023 w 9998"/>
                <a:gd name="connsiteY2" fmla="*/ 0 h 18272"/>
                <a:gd name="connsiteX3" fmla="*/ 8375 w 9998"/>
                <a:gd name="connsiteY3" fmla="*/ 4443 h 18272"/>
                <a:gd name="connsiteX4" fmla="*/ 9995 w 9998"/>
                <a:gd name="connsiteY4" fmla="*/ 9195 h 18272"/>
                <a:gd name="connsiteX5" fmla="*/ 8718 w 9998"/>
                <a:gd name="connsiteY5" fmla="*/ 12654 h 18272"/>
                <a:gd name="connsiteX6" fmla="*/ 6008 w 9998"/>
                <a:gd name="connsiteY6" fmla="*/ 18270 h 18272"/>
                <a:gd name="connsiteX7" fmla="*/ 3911 w 9998"/>
                <a:gd name="connsiteY7" fmla="*/ 13342 h 18272"/>
                <a:gd name="connsiteX8" fmla="*/ 2713 w 9998"/>
                <a:gd name="connsiteY8" fmla="*/ 11244 h 18272"/>
                <a:gd name="connsiteX9" fmla="*/ 1476 w 9998"/>
                <a:gd name="connsiteY9" fmla="*/ 10849 h 18272"/>
                <a:gd name="connsiteX10" fmla="*/ 1 w 9998"/>
                <a:gd name="connsiteY10" fmla="*/ 7436 h 18272"/>
                <a:gd name="connsiteX0" fmla="*/ 35 w 8559"/>
                <a:gd name="connsiteY0" fmla="*/ 5938 h 10000"/>
                <a:gd name="connsiteX1" fmla="*/ 2459 w 8559"/>
                <a:gd name="connsiteY1" fmla="*/ 2430 h 10000"/>
                <a:gd name="connsiteX2" fmla="*/ 4583 w 8559"/>
                <a:gd name="connsiteY2" fmla="*/ 0 h 10000"/>
                <a:gd name="connsiteX3" fmla="*/ 6936 w 8559"/>
                <a:gd name="connsiteY3" fmla="*/ 2432 h 10000"/>
                <a:gd name="connsiteX4" fmla="*/ 8556 w 8559"/>
                <a:gd name="connsiteY4" fmla="*/ 5032 h 10000"/>
                <a:gd name="connsiteX5" fmla="*/ 7279 w 8559"/>
                <a:gd name="connsiteY5" fmla="*/ 6925 h 10000"/>
                <a:gd name="connsiteX6" fmla="*/ 4568 w 8559"/>
                <a:gd name="connsiteY6" fmla="*/ 9999 h 10000"/>
                <a:gd name="connsiteX7" fmla="*/ 2471 w 8559"/>
                <a:gd name="connsiteY7" fmla="*/ 7302 h 10000"/>
                <a:gd name="connsiteX8" fmla="*/ 1273 w 8559"/>
                <a:gd name="connsiteY8" fmla="*/ 6154 h 10000"/>
                <a:gd name="connsiteX9" fmla="*/ 35 w 8559"/>
                <a:gd name="connsiteY9" fmla="*/ 5938 h 10000"/>
                <a:gd name="connsiteX0" fmla="*/ 49 w 9820"/>
                <a:gd name="connsiteY0" fmla="*/ 4655 h 10000"/>
                <a:gd name="connsiteX1" fmla="*/ 2693 w 9820"/>
                <a:gd name="connsiteY1" fmla="*/ 2430 h 10000"/>
                <a:gd name="connsiteX2" fmla="*/ 5175 w 9820"/>
                <a:gd name="connsiteY2" fmla="*/ 0 h 10000"/>
                <a:gd name="connsiteX3" fmla="*/ 7924 w 9820"/>
                <a:gd name="connsiteY3" fmla="*/ 2432 h 10000"/>
                <a:gd name="connsiteX4" fmla="*/ 9816 w 9820"/>
                <a:gd name="connsiteY4" fmla="*/ 5032 h 10000"/>
                <a:gd name="connsiteX5" fmla="*/ 8324 w 9820"/>
                <a:gd name="connsiteY5" fmla="*/ 6925 h 10000"/>
                <a:gd name="connsiteX6" fmla="*/ 5157 w 9820"/>
                <a:gd name="connsiteY6" fmla="*/ 9999 h 10000"/>
                <a:gd name="connsiteX7" fmla="*/ 2707 w 9820"/>
                <a:gd name="connsiteY7" fmla="*/ 7302 h 10000"/>
                <a:gd name="connsiteX8" fmla="*/ 1307 w 9820"/>
                <a:gd name="connsiteY8" fmla="*/ 6154 h 10000"/>
                <a:gd name="connsiteX9" fmla="*/ 49 w 9820"/>
                <a:gd name="connsiteY9" fmla="*/ 4655 h 10000"/>
                <a:gd name="connsiteX0" fmla="*/ 45 w 9995"/>
                <a:gd name="connsiteY0" fmla="*/ 4655 h 10000"/>
                <a:gd name="connsiteX1" fmla="*/ 2737 w 9995"/>
                <a:gd name="connsiteY1" fmla="*/ 2430 h 10000"/>
                <a:gd name="connsiteX2" fmla="*/ 5265 w 9995"/>
                <a:gd name="connsiteY2" fmla="*/ 0 h 10000"/>
                <a:gd name="connsiteX3" fmla="*/ 8064 w 9995"/>
                <a:gd name="connsiteY3" fmla="*/ 2432 h 10000"/>
                <a:gd name="connsiteX4" fmla="*/ 9991 w 9995"/>
                <a:gd name="connsiteY4" fmla="*/ 5032 h 10000"/>
                <a:gd name="connsiteX5" fmla="*/ 8472 w 9995"/>
                <a:gd name="connsiteY5" fmla="*/ 6925 h 10000"/>
                <a:gd name="connsiteX6" fmla="*/ 5247 w 9995"/>
                <a:gd name="connsiteY6" fmla="*/ 9999 h 10000"/>
                <a:gd name="connsiteX7" fmla="*/ 2752 w 9995"/>
                <a:gd name="connsiteY7" fmla="*/ 7302 h 10000"/>
                <a:gd name="connsiteX8" fmla="*/ 1374 w 9995"/>
                <a:gd name="connsiteY8" fmla="*/ 6984 h 10000"/>
                <a:gd name="connsiteX9" fmla="*/ 45 w 9995"/>
                <a:gd name="connsiteY9" fmla="*/ 4655 h 10000"/>
                <a:gd name="connsiteX0" fmla="*/ 45 w 10000"/>
                <a:gd name="connsiteY0" fmla="*/ 5032 h 10377"/>
                <a:gd name="connsiteX1" fmla="*/ 2738 w 10000"/>
                <a:gd name="connsiteY1" fmla="*/ 2807 h 10377"/>
                <a:gd name="connsiteX2" fmla="*/ 4886 w 10000"/>
                <a:gd name="connsiteY2" fmla="*/ 0 h 10377"/>
                <a:gd name="connsiteX3" fmla="*/ 8068 w 10000"/>
                <a:gd name="connsiteY3" fmla="*/ 2809 h 10377"/>
                <a:gd name="connsiteX4" fmla="*/ 9996 w 10000"/>
                <a:gd name="connsiteY4" fmla="*/ 5409 h 10377"/>
                <a:gd name="connsiteX5" fmla="*/ 8476 w 10000"/>
                <a:gd name="connsiteY5" fmla="*/ 7302 h 10377"/>
                <a:gd name="connsiteX6" fmla="*/ 5250 w 10000"/>
                <a:gd name="connsiteY6" fmla="*/ 10376 h 10377"/>
                <a:gd name="connsiteX7" fmla="*/ 2753 w 10000"/>
                <a:gd name="connsiteY7" fmla="*/ 7679 h 10377"/>
                <a:gd name="connsiteX8" fmla="*/ 1375 w 10000"/>
                <a:gd name="connsiteY8" fmla="*/ 7361 h 10377"/>
                <a:gd name="connsiteX9" fmla="*/ 45 w 10000"/>
                <a:gd name="connsiteY9" fmla="*/ 5032 h 10377"/>
                <a:gd name="connsiteX0" fmla="*/ 45 w 10000"/>
                <a:gd name="connsiteY0" fmla="*/ 5036 h 10381"/>
                <a:gd name="connsiteX1" fmla="*/ 2738 w 10000"/>
                <a:gd name="connsiteY1" fmla="*/ 2811 h 10381"/>
                <a:gd name="connsiteX2" fmla="*/ 4886 w 10000"/>
                <a:gd name="connsiteY2" fmla="*/ 4 h 10381"/>
                <a:gd name="connsiteX3" fmla="*/ 8068 w 10000"/>
                <a:gd name="connsiteY3" fmla="*/ 2813 h 10381"/>
                <a:gd name="connsiteX4" fmla="*/ 9996 w 10000"/>
                <a:gd name="connsiteY4" fmla="*/ 5413 h 10381"/>
                <a:gd name="connsiteX5" fmla="*/ 8476 w 10000"/>
                <a:gd name="connsiteY5" fmla="*/ 7306 h 10381"/>
                <a:gd name="connsiteX6" fmla="*/ 5250 w 10000"/>
                <a:gd name="connsiteY6" fmla="*/ 10380 h 10381"/>
                <a:gd name="connsiteX7" fmla="*/ 2753 w 10000"/>
                <a:gd name="connsiteY7" fmla="*/ 7683 h 10381"/>
                <a:gd name="connsiteX8" fmla="*/ 1375 w 10000"/>
                <a:gd name="connsiteY8" fmla="*/ 7365 h 10381"/>
                <a:gd name="connsiteX9" fmla="*/ 45 w 10000"/>
                <a:gd name="connsiteY9" fmla="*/ 5036 h 10381"/>
                <a:gd name="connsiteX0" fmla="*/ 45 w 10000"/>
                <a:gd name="connsiteY0" fmla="*/ 5036 h 10796"/>
                <a:gd name="connsiteX1" fmla="*/ 2738 w 10000"/>
                <a:gd name="connsiteY1" fmla="*/ 2811 h 10796"/>
                <a:gd name="connsiteX2" fmla="*/ 4886 w 10000"/>
                <a:gd name="connsiteY2" fmla="*/ 4 h 10796"/>
                <a:gd name="connsiteX3" fmla="*/ 8068 w 10000"/>
                <a:gd name="connsiteY3" fmla="*/ 2813 h 10796"/>
                <a:gd name="connsiteX4" fmla="*/ 9996 w 10000"/>
                <a:gd name="connsiteY4" fmla="*/ 5413 h 10796"/>
                <a:gd name="connsiteX5" fmla="*/ 8476 w 10000"/>
                <a:gd name="connsiteY5" fmla="*/ 7306 h 10796"/>
                <a:gd name="connsiteX6" fmla="*/ 5202 w 10000"/>
                <a:gd name="connsiteY6" fmla="*/ 10795 h 10796"/>
                <a:gd name="connsiteX7" fmla="*/ 2753 w 10000"/>
                <a:gd name="connsiteY7" fmla="*/ 7683 h 10796"/>
                <a:gd name="connsiteX8" fmla="*/ 1375 w 10000"/>
                <a:gd name="connsiteY8" fmla="*/ 7365 h 10796"/>
                <a:gd name="connsiteX9" fmla="*/ 45 w 10000"/>
                <a:gd name="connsiteY9" fmla="*/ 5036 h 10796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00" h="10795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grpSp>
          <p:nvGrpSpPr>
            <p:cNvPr id="140" name="Group 203"/>
            <p:cNvGrpSpPr/>
            <p:nvPr/>
          </p:nvGrpSpPr>
          <p:grpSpPr>
            <a:xfrm>
              <a:off x="-1935370" y="2935816"/>
              <a:ext cx="2333625" cy="1590649"/>
              <a:chOff x="833331" y="2873352"/>
              <a:chExt cx="2333625" cy="1590649"/>
            </a:xfrm>
          </p:grpSpPr>
          <p:grpSp>
            <p:nvGrpSpPr>
              <p:cNvPr id="141" name="Group 204"/>
              <p:cNvGrpSpPr/>
              <p:nvPr/>
            </p:nvGrpSpPr>
            <p:grpSpPr>
              <a:xfrm>
                <a:off x="1736090" y="287335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190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194" name="Oval 257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5" name="Rectangle 258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6" name="Oval 259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7" name="Freeform 260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8" name="Freeform 261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9" name="Freeform 262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00" name="Freeform 263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201" name="Straight Connector 264"/>
                  <p:cNvCxnSpPr>
                    <a:endCxn id="196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2" name="Straight Connector 265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91" name="Group 254"/>
                <p:cNvGrpSpPr/>
                <p:nvPr/>
              </p:nvGrpSpPr>
              <p:grpSpPr>
                <a:xfrm>
                  <a:off x="1770362" y="2873352"/>
                  <a:ext cx="414737" cy="369332"/>
                  <a:chOff x="667045" y="1708643"/>
                  <a:chExt cx="414737" cy="369332"/>
                </a:xfrm>
              </p:grpSpPr>
              <p:sp>
                <p:nvSpPr>
                  <p:cNvPr id="192" name="Oval 255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3" name="TextBox 192"/>
                  <p:cNvSpPr txBox="1"/>
                  <p:nvPr/>
                </p:nvSpPr>
                <p:spPr>
                  <a:xfrm>
                    <a:off x="667045" y="1708643"/>
                    <a:ext cx="32965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rPr>
                      <a:t>3b</a:t>
                    </a:r>
                  </a:p>
                </p:txBody>
              </p:sp>
            </p:grpSp>
          </p:grpSp>
          <p:grpSp>
            <p:nvGrpSpPr>
              <p:cNvPr id="142" name="Group 205"/>
              <p:cNvGrpSpPr/>
              <p:nvPr/>
            </p:nvGrpSpPr>
            <p:grpSpPr>
              <a:xfrm>
                <a:off x="1740320" y="409466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177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181" name="Oval 244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2" name="Rectangle 245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3" name="Oval 246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4" name="Freeform 247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5" name="Freeform 248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6" name="Freeform 249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7" name="Freeform 250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188" name="Straight Connector 251"/>
                  <p:cNvCxnSpPr>
                    <a:endCxn id="183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9" name="Straight Connector 252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78" name="Group 241"/>
                <p:cNvGrpSpPr/>
                <p:nvPr/>
              </p:nvGrpSpPr>
              <p:grpSpPr>
                <a:xfrm>
                  <a:off x="1770362" y="2873352"/>
                  <a:ext cx="414737" cy="369332"/>
                  <a:chOff x="667045" y="1708643"/>
                  <a:chExt cx="414737" cy="369332"/>
                </a:xfrm>
              </p:grpSpPr>
              <p:sp>
                <p:nvSpPr>
                  <p:cNvPr id="179" name="Oval 242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0" name="TextBox 179"/>
                  <p:cNvSpPr txBox="1"/>
                  <p:nvPr/>
                </p:nvSpPr>
                <p:spPr>
                  <a:xfrm>
                    <a:off x="667045" y="1708643"/>
                    <a:ext cx="32965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rPr>
                      <a:t>3d</a:t>
                    </a:r>
                  </a:p>
                </p:txBody>
              </p:sp>
            </p:grpSp>
          </p:grpSp>
          <p:grpSp>
            <p:nvGrpSpPr>
              <p:cNvPr id="143" name="Group 206"/>
              <p:cNvGrpSpPr/>
              <p:nvPr/>
            </p:nvGrpSpPr>
            <p:grpSpPr>
              <a:xfrm>
                <a:off x="2601806" y="348507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164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168" name="Oval 231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9" name="Rectangle 232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0" name="Oval 233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1" name="Freeform 234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2" name="Freeform 235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3" name="Freeform 236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4" name="Freeform 237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175" name="Straight Connector 238"/>
                  <p:cNvCxnSpPr>
                    <a:endCxn id="170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6" name="Straight Connector 239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65" name="Group 228"/>
                <p:cNvGrpSpPr/>
                <p:nvPr/>
              </p:nvGrpSpPr>
              <p:grpSpPr>
                <a:xfrm>
                  <a:off x="1770362" y="2873352"/>
                  <a:ext cx="414737" cy="369332"/>
                  <a:chOff x="667045" y="1708643"/>
                  <a:chExt cx="414737" cy="369332"/>
                </a:xfrm>
              </p:grpSpPr>
              <p:sp>
                <p:nvSpPr>
                  <p:cNvPr id="166" name="Oval 229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7" name="TextBox 166"/>
                  <p:cNvSpPr txBox="1"/>
                  <p:nvPr/>
                </p:nvSpPr>
                <p:spPr>
                  <a:xfrm>
                    <a:off x="667045" y="1708643"/>
                    <a:ext cx="30801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rPr>
                      <a:t>3c</a:t>
                    </a:r>
                  </a:p>
                </p:txBody>
              </p:sp>
            </p:grpSp>
          </p:grpSp>
          <p:grpSp>
            <p:nvGrpSpPr>
              <p:cNvPr id="144" name="Group 207"/>
              <p:cNvGrpSpPr/>
              <p:nvPr/>
            </p:nvGrpSpPr>
            <p:grpSpPr>
              <a:xfrm>
                <a:off x="833331" y="347871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151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155" name="Oval 218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56" name="Rectangle 219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57" name="Oval 220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58" name="Freeform 221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59" name="Freeform 222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0" name="Freeform 223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1" name="Freeform 224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162" name="Straight Connector 225"/>
                  <p:cNvCxnSpPr>
                    <a:endCxn id="157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3" name="Straight Connector 226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2" name="Group 215"/>
                <p:cNvGrpSpPr/>
                <p:nvPr/>
              </p:nvGrpSpPr>
              <p:grpSpPr>
                <a:xfrm>
                  <a:off x="1770362" y="2873352"/>
                  <a:ext cx="414737" cy="369332"/>
                  <a:chOff x="667045" y="1708643"/>
                  <a:chExt cx="414737" cy="369332"/>
                </a:xfrm>
              </p:grpSpPr>
              <p:sp>
                <p:nvSpPr>
                  <p:cNvPr id="153" name="Oval 216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54" name="TextBox 153"/>
                  <p:cNvSpPr txBox="1"/>
                  <p:nvPr/>
                </p:nvSpPr>
                <p:spPr>
                  <a:xfrm>
                    <a:off x="667045" y="1708643"/>
                    <a:ext cx="31643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rPr>
                      <a:t>3a</a:t>
                    </a:r>
                  </a:p>
                </p:txBody>
              </p:sp>
            </p:grpSp>
          </p:grpSp>
          <p:cxnSp>
            <p:nvCxnSpPr>
              <p:cNvPr id="145" name="Straight Connector 208"/>
              <p:cNvCxnSpPr>
                <a:stCxn id="193" idx="2"/>
                <a:endCxn id="180" idx="0"/>
              </p:cNvCxnSpPr>
              <p:nvPr/>
            </p:nvCxnSpPr>
            <p:spPr bwMode="auto">
              <a:xfrm>
                <a:off x="1935191" y="3242684"/>
                <a:ext cx="4230" cy="851985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6" name="Straight Connector 209"/>
              <p:cNvCxnSpPr/>
              <p:nvPr/>
            </p:nvCxnSpPr>
            <p:spPr bwMode="auto">
              <a:xfrm>
                <a:off x="1407477" y="3648621"/>
                <a:ext cx="1204913" cy="635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7" name="Straight Connector 210"/>
              <p:cNvCxnSpPr>
                <a:stCxn id="194" idx="7"/>
              </p:cNvCxnSpPr>
              <p:nvPr/>
            </p:nvCxnSpPr>
            <p:spPr bwMode="auto">
              <a:xfrm>
                <a:off x="2218708" y="3154477"/>
                <a:ext cx="480042" cy="36977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8" name="Straight Connector 211"/>
              <p:cNvCxnSpPr/>
              <p:nvPr/>
            </p:nvCxnSpPr>
            <p:spPr bwMode="auto">
              <a:xfrm>
                <a:off x="1300073" y="3786304"/>
                <a:ext cx="477927" cy="35707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9" name="Straight Connector 212"/>
              <p:cNvCxnSpPr/>
              <p:nvPr/>
            </p:nvCxnSpPr>
            <p:spPr bwMode="auto">
              <a:xfrm flipH="1">
                <a:off x="2196042" y="3783542"/>
                <a:ext cx="508002" cy="34925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0" name="Straight Connector 213"/>
              <p:cNvCxnSpPr/>
              <p:nvPr/>
            </p:nvCxnSpPr>
            <p:spPr bwMode="auto">
              <a:xfrm flipH="1">
                <a:off x="1287553" y="3166946"/>
                <a:ext cx="508002" cy="34925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cxnSp>
        <p:nvCxnSpPr>
          <p:cNvPr id="203" name="Straight Connector 267"/>
          <p:cNvCxnSpPr/>
          <p:nvPr/>
        </p:nvCxnSpPr>
        <p:spPr bwMode="auto">
          <a:xfrm flipH="1">
            <a:off x="3886201" y="2667267"/>
            <a:ext cx="660617" cy="49545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4" name="Straight Connector 269"/>
          <p:cNvCxnSpPr>
            <a:endCxn id="103" idx="7"/>
          </p:cNvCxnSpPr>
          <p:nvPr/>
        </p:nvCxnSpPr>
        <p:spPr bwMode="auto">
          <a:xfrm flipH="1" flipV="1">
            <a:off x="7397258" y="2651468"/>
            <a:ext cx="665261" cy="573893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5" name="TextBox 204"/>
          <p:cNvSpPr txBox="1"/>
          <p:nvPr/>
        </p:nvSpPr>
        <p:spPr>
          <a:xfrm>
            <a:off x="5533636" y="3456813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AS 2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103350" y="4303400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AS 3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2163948" y="4287998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AS 1</a:t>
            </a:r>
          </a:p>
        </p:txBody>
      </p:sp>
      <p:grpSp>
        <p:nvGrpSpPr>
          <p:cNvPr id="208" name="Group 5"/>
          <p:cNvGrpSpPr/>
          <p:nvPr/>
        </p:nvGrpSpPr>
        <p:grpSpPr>
          <a:xfrm>
            <a:off x="1218778" y="2105413"/>
            <a:ext cx="7645767" cy="3959125"/>
            <a:chOff x="1020408" y="2368720"/>
            <a:chExt cx="5734325" cy="3959125"/>
          </a:xfrm>
        </p:grpSpPr>
        <p:grpSp>
          <p:nvGrpSpPr>
            <p:cNvPr id="209" name="Group 3"/>
            <p:cNvGrpSpPr/>
            <p:nvPr/>
          </p:nvGrpSpPr>
          <p:grpSpPr>
            <a:xfrm>
              <a:off x="1020408" y="2368720"/>
              <a:ext cx="5734325" cy="3959125"/>
              <a:chOff x="1020408" y="2368720"/>
              <a:chExt cx="5734325" cy="3959125"/>
            </a:xfrm>
          </p:grpSpPr>
          <p:grpSp>
            <p:nvGrpSpPr>
              <p:cNvPr id="211" name="Group 270"/>
              <p:cNvGrpSpPr/>
              <p:nvPr/>
            </p:nvGrpSpPr>
            <p:grpSpPr>
              <a:xfrm>
                <a:off x="1146544" y="5725901"/>
                <a:ext cx="565150" cy="400110"/>
                <a:chOff x="1736090" y="2873352"/>
                <a:chExt cx="565150" cy="400110"/>
              </a:xfrm>
            </p:grpSpPr>
            <p:grpSp>
              <p:nvGrpSpPr>
                <p:cNvPr id="217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21" name="Oval 279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2" name="Rectangle 286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3" name="Oval 287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4" name="Freeform 288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5" name="Freeform 289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6" name="Freeform 290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7" name="Freeform 291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228" name="Straight Connector 292"/>
                  <p:cNvCxnSpPr>
                    <a:endCxn id="223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9" name="Straight Connector 293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8" name="Group 274"/>
                <p:cNvGrpSpPr/>
                <p:nvPr/>
              </p:nvGrpSpPr>
              <p:grpSpPr>
                <a:xfrm>
                  <a:off x="1770362" y="2873352"/>
                  <a:ext cx="414737" cy="400110"/>
                  <a:chOff x="667045" y="1708643"/>
                  <a:chExt cx="414737" cy="400110"/>
                </a:xfrm>
              </p:grpSpPr>
              <p:sp>
                <p:nvSpPr>
                  <p:cNvPr id="219" name="Oval 276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0" name="TextBox 219"/>
                  <p:cNvSpPr txBox="1"/>
                  <p:nvPr/>
                </p:nvSpPr>
                <p:spPr>
                  <a:xfrm>
                    <a:off x="667045" y="1708643"/>
                    <a:ext cx="326051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rPr>
                      <a:t>1c</a:t>
                    </a:r>
                  </a:p>
                </p:txBody>
              </p:sp>
            </p:grpSp>
          </p:grpSp>
          <p:sp>
            <p:nvSpPr>
              <p:cNvPr id="212" name="Oval 2"/>
              <p:cNvSpPr/>
              <p:nvPr/>
            </p:nvSpPr>
            <p:spPr bwMode="auto">
              <a:xfrm>
                <a:off x="1020408" y="5511349"/>
                <a:ext cx="839004" cy="816496"/>
              </a:xfrm>
              <a:prstGeom prst="ellipse">
                <a:avLst/>
              </a:prstGeom>
              <a:noFill/>
              <a:ln w="19050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" name="Oval 294"/>
              <p:cNvSpPr/>
              <p:nvPr/>
            </p:nvSpPr>
            <p:spPr bwMode="auto">
              <a:xfrm>
                <a:off x="2442651" y="3191580"/>
                <a:ext cx="839004" cy="816496"/>
              </a:xfrm>
              <a:prstGeom prst="ellipse">
                <a:avLst/>
              </a:prstGeom>
              <a:noFill/>
              <a:ln w="19050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" name="Oval 295"/>
              <p:cNvSpPr/>
              <p:nvPr/>
            </p:nvSpPr>
            <p:spPr bwMode="auto">
              <a:xfrm>
                <a:off x="3252649" y="2368720"/>
                <a:ext cx="839004" cy="816496"/>
              </a:xfrm>
              <a:prstGeom prst="ellipse">
                <a:avLst/>
              </a:prstGeom>
              <a:noFill/>
              <a:ln w="19050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" name="Oval 296"/>
              <p:cNvSpPr/>
              <p:nvPr/>
            </p:nvSpPr>
            <p:spPr bwMode="auto">
              <a:xfrm>
                <a:off x="5037704" y="2453079"/>
                <a:ext cx="839004" cy="816496"/>
              </a:xfrm>
              <a:prstGeom prst="ellipse">
                <a:avLst/>
              </a:prstGeom>
              <a:noFill/>
              <a:ln w="19050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" name="Oval 297"/>
              <p:cNvSpPr/>
              <p:nvPr/>
            </p:nvSpPr>
            <p:spPr bwMode="auto">
              <a:xfrm>
                <a:off x="5915729" y="3217852"/>
                <a:ext cx="839004" cy="816496"/>
              </a:xfrm>
              <a:prstGeom prst="ellipse">
                <a:avLst/>
              </a:prstGeom>
              <a:noFill/>
              <a:ln w="19050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10" name="TextBox 209"/>
            <p:cNvSpPr txBox="1"/>
            <p:nvPr/>
          </p:nvSpPr>
          <p:spPr>
            <a:xfrm>
              <a:off x="2018144" y="5692792"/>
              <a:ext cx="44305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运行</a:t>
              </a:r>
              <a:r>
                <a:rPr kumimoji="0" 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eBGP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, </a:t>
              </a:r>
              <a:r>
                <a:rPr kumimoji="0" 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iBGP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协议和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IGP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的路由器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30" name="日期占位符 229"/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75625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5.4.3 BGP-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外部网关路由协议</a:t>
            </a:r>
          </a:p>
        </p:txBody>
      </p:sp>
    </p:spTree>
    <p:extLst>
      <p:ext uri="{BB962C8B-B14F-4D97-AF65-F5344CB8AC3E}">
        <p14:creationId xmlns:p14="http://schemas.microsoft.com/office/powerpoint/2010/main" val="161742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BGP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基础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Rectangle 116"/>
          <p:cNvSpPr>
            <a:spLocks noChangeArrowheads="1"/>
          </p:cNvSpPr>
          <p:nvPr/>
        </p:nvSpPr>
        <p:spPr bwMode="auto">
          <a:xfrm>
            <a:off x="837083" y="1516518"/>
            <a:ext cx="10516717" cy="2049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BGP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会话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: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两个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BGP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路由器通过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TCP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连接交换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BGP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报文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通告到不同网络前缀的路径，即路径向量协议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例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当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AS3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的路由器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3a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向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AS2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的路由器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2c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通告路径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AS3, X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时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AS3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向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AS2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承诺它会向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转发数据包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0F439463-5425-40AD-91AC-68AD1428AC23}"/>
              </a:ext>
            </a:extLst>
          </p:cNvPr>
          <p:cNvGrpSpPr/>
          <p:nvPr/>
        </p:nvGrpSpPr>
        <p:grpSpPr>
          <a:xfrm>
            <a:off x="854641" y="4016971"/>
            <a:ext cx="10363840" cy="2385178"/>
            <a:chOff x="624887" y="3798835"/>
            <a:chExt cx="8147674" cy="2788793"/>
          </a:xfrm>
        </p:grpSpPr>
        <p:grpSp>
          <p:nvGrpSpPr>
            <p:cNvPr id="7" name="Group 124"/>
            <p:cNvGrpSpPr/>
            <p:nvPr/>
          </p:nvGrpSpPr>
          <p:grpSpPr>
            <a:xfrm>
              <a:off x="624887" y="3939922"/>
              <a:ext cx="2557336" cy="1719017"/>
              <a:chOff x="-2170772" y="2784954"/>
              <a:chExt cx="2712783" cy="1853712"/>
            </a:xfrm>
          </p:grpSpPr>
          <p:sp>
            <p:nvSpPr>
              <p:cNvPr id="162" name="Freeform 2"/>
              <p:cNvSpPr>
                <a:spLocks/>
              </p:cNvSpPr>
              <p:nvPr/>
            </p:nvSpPr>
            <p:spPr bwMode="auto">
              <a:xfrm>
                <a:off x="-2170772" y="2784954"/>
                <a:ext cx="2712783" cy="1853712"/>
              </a:xfrm>
              <a:custGeom>
                <a:avLst/>
                <a:gdLst>
                  <a:gd name="T0" fmla="*/ 648763 w 10001"/>
                  <a:gd name="T1" fmla="*/ 34777612 h 10125"/>
                  <a:gd name="T2" fmla="*/ 115976403 w 10001"/>
                  <a:gd name="T3" fmla="*/ 13733703 h 10125"/>
                  <a:gd name="T4" fmla="*/ 507700960 w 10001"/>
                  <a:gd name="T5" fmla="*/ 8662125 h 10125"/>
                  <a:gd name="T6" fmla="*/ 810212713 w 10001"/>
                  <a:gd name="T7" fmla="*/ 0 h 10125"/>
                  <a:gd name="T8" fmla="*/ 1090015738 w 10001"/>
                  <a:gd name="T9" fmla="*/ 8687929 h 10125"/>
                  <a:gd name="T10" fmla="*/ 1310938763 w 10001"/>
                  <a:gd name="T11" fmla="*/ 4279362 h 10125"/>
                  <a:gd name="T12" fmla="*/ 1620263134 w 10001"/>
                  <a:gd name="T13" fmla="*/ 25736690 h 10125"/>
                  <a:gd name="T14" fmla="*/ 1394798364 w 10001"/>
                  <a:gd name="T15" fmla="*/ 58525268 h 10125"/>
                  <a:gd name="T16" fmla="*/ 1134622140 w 10001"/>
                  <a:gd name="T17" fmla="*/ 80266624 h 10125"/>
                  <a:gd name="T18" fmla="*/ 860820276 w 10001"/>
                  <a:gd name="T19" fmla="*/ 76142271 h 10125"/>
                  <a:gd name="T20" fmla="*/ 708996782 w 10001"/>
                  <a:gd name="T21" fmla="*/ 85346835 h 10125"/>
                  <a:gd name="T22" fmla="*/ 509322667 w 10001"/>
                  <a:gd name="T23" fmla="*/ 86268164 h 10125"/>
                  <a:gd name="T24" fmla="*/ 353443899 w 10001"/>
                  <a:gd name="T25" fmla="*/ 67979516 h 10125"/>
                  <a:gd name="T26" fmla="*/ 192536914 w 10001"/>
                  <a:gd name="T27" fmla="*/ 64535347 h 10125"/>
                  <a:gd name="T28" fmla="*/ 648763 w 10001"/>
                  <a:gd name="T29" fmla="*/ 34777612 h 101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connsiteX0" fmla="*/ 4 w 10040"/>
                  <a:gd name="connsiteY0" fmla="*/ 4039 h 10125"/>
                  <a:gd name="connsiteX1" fmla="*/ 715 w 10040"/>
                  <a:gd name="connsiteY1" fmla="*/ 1595 h 10125"/>
                  <a:gd name="connsiteX2" fmla="*/ 3130 w 10040"/>
                  <a:gd name="connsiteY2" fmla="*/ 1006 h 10125"/>
                  <a:gd name="connsiteX3" fmla="*/ 4995 w 10040"/>
                  <a:gd name="connsiteY3" fmla="*/ 0 h 10125"/>
                  <a:gd name="connsiteX4" fmla="*/ 6720 w 10040"/>
                  <a:gd name="connsiteY4" fmla="*/ 1009 h 10125"/>
                  <a:gd name="connsiteX5" fmla="*/ 9989 w 10040"/>
                  <a:gd name="connsiteY5" fmla="*/ 2989 h 10125"/>
                  <a:gd name="connsiteX6" fmla="*/ 8599 w 10040"/>
                  <a:gd name="connsiteY6" fmla="*/ 6797 h 10125"/>
                  <a:gd name="connsiteX7" fmla="*/ 6995 w 10040"/>
                  <a:gd name="connsiteY7" fmla="*/ 9322 h 10125"/>
                  <a:gd name="connsiteX8" fmla="*/ 5307 w 10040"/>
                  <a:gd name="connsiteY8" fmla="*/ 8843 h 10125"/>
                  <a:gd name="connsiteX9" fmla="*/ 4371 w 10040"/>
                  <a:gd name="connsiteY9" fmla="*/ 9912 h 10125"/>
                  <a:gd name="connsiteX10" fmla="*/ 3140 w 10040"/>
                  <a:gd name="connsiteY10" fmla="*/ 10019 h 10125"/>
                  <a:gd name="connsiteX11" fmla="*/ 2179 w 10040"/>
                  <a:gd name="connsiteY11" fmla="*/ 7895 h 10125"/>
                  <a:gd name="connsiteX12" fmla="*/ 1187 w 10040"/>
                  <a:gd name="connsiteY12" fmla="*/ 7495 h 10125"/>
                  <a:gd name="connsiteX13" fmla="*/ 4 w 10040"/>
                  <a:gd name="connsiteY13" fmla="*/ 4039 h 10125"/>
                  <a:gd name="connsiteX0" fmla="*/ 4 w 8600"/>
                  <a:gd name="connsiteY0" fmla="*/ 4042 h 10128"/>
                  <a:gd name="connsiteX1" fmla="*/ 715 w 8600"/>
                  <a:gd name="connsiteY1" fmla="*/ 1598 h 10128"/>
                  <a:gd name="connsiteX2" fmla="*/ 3130 w 8600"/>
                  <a:gd name="connsiteY2" fmla="*/ 1009 h 10128"/>
                  <a:gd name="connsiteX3" fmla="*/ 4995 w 8600"/>
                  <a:gd name="connsiteY3" fmla="*/ 3 h 10128"/>
                  <a:gd name="connsiteX4" fmla="*/ 6720 w 8600"/>
                  <a:gd name="connsiteY4" fmla="*/ 1012 h 10128"/>
                  <a:gd name="connsiteX5" fmla="*/ 8599 w 8600"/>
                  <a:gd name="connsiteY5" fmla="*/ 6800 h 10128"/>
                  <a:gd name="connsiteX6" fmla="*/ 6995 w 8600"/>
                  <a:gd name="connsiteY6" fmla="*/ 9325 h 10128"/>
                  <a:gd name="connsiteX7" fmla="*/ 5307 w 8600"/>
                  <a:gd name="connsiteY7" fmla="*/ 8846 h 10128"/>
                  <a:gd name="connsiteX8" fmla="*/ 4371 w 8600"/>
                  <a:gd name="connsiteY8" fmla="*/ 9915 h 10128"/>
                  <a:gd name="connsiteX9" fmla="*/ 3140 w 8600"/>
                  <a:gd name="connsiteY9" fmla="*/ 10022 h 10128"/>
                  <a:gd name="connsiteX10" fmla="*/ 2179 w 8600"/>
                  <a:gd name="connsiteY10" fmla="*/ 7898 h 10128"/>
                  <a:gd name="connsiteX11" fmla="*/ 1187 w 8600"/>
                  <a:gd name="connsiteY11" fmla="*/ 7498 h 10128"/>
                  <a:gd name="connsiteX12" fmla="*/ 4 w 8600"/>
                  <a:gd name="connsiteY12" fmla="*/ 4042 h 10128"/>
                  <a:gd name="connsiteX0" fmla="*/ 4 w 9326"/>
                  <a:gd name="connsiteY0" fmla="*/ 3988 h 9997"/>
                  <a:gd name="connsiteX1" fmla="*/ 830 w 9326"/>
                  <a:gd name="connsiteY1" fmla="*/ 1575 h 9997"/>
                  <a:gd name="connsiteX2" fmla="*/ 3639 w 9326"/>
                  <a:gd name="connsiteY2" fmla="*/ 993 h 9997"/>
                  <a:gd name="connsiteX3" fmla="*/ 5807 w 9326"/>
                  <a:gd name="connsiteY3" fmla="*/ 0 h 9997"/>
                  <a:gd name="connsiteX4" fmla="*/ 7813 w 9326"/>
                  <a:gd name="connsiteY4" fmla="*/ 996 h 9997"/>
                  <a:gd name="connsiteX5" fmla="*/ 9324 w 9326"/>
                  <a:gd name="connsiteY5" fmla="*/ 5746 h 9997"/>
                  <a:gd name="connsiteX6" fmla="*/ 8133 w 9326"/>
                  <a:gd name="connsiteY6" fmla="*/ 9204 h 9997"/>
                  <a:gd name="connsiteX7" fmla="*/ 6170 w 9326"/>
                  <a:gd name="connsiteY7" fmla="*/ 8731 h 9997"/>
                  <a:gd name="connsiteX8" fmla="*/ 5082 w 9326"/>
                  <a:gd name="connsiteY8" fmla="*/ 9787 h 9997"/>
                  <a:gd name="connsiteX9" fmla="*/ 3650 w 9326"/>
                  <a:gd name="connsiteY9" fmla="*/ 9892 h 9997"/>
                  <a:gd name="connsiteX10" fmla="*/ 2533 w 9326"/>
                  <a:gd name="connsiteY10" fmla="*/ 7795 h 9997"/>
                  <a:gd name="connsiteX11" fmla="*/ 1379 w 9326"/>
                  <a:gd name="connsiteY11" fmla="*/ 7400 h 9997"/>
                  <a:gd name="connsiteX12" fmla="*/ 4 w 9326"/>
                  <a:gd name="connsiteY12" fmla="*/ 3988 h 9997"/>
                  <a:gd name="connsiteX0" fmla="*/ 4 w 10001"/>
                  <a:gd name="connsiteY0" fmla="*/ 3989 h 10041"/>
                  <a:gd name="connsiteX1" fmla="*/ 890 w 10001"/>
                  <a:gd name="connsiteY1" fmla="*/ 1575 h 10041"/>
                  <a:gd name="connsiteX2" fmla="*/ 3902 w 10001"/>
                  <a:gd name="connsiteY2" fmla="*/ 993 h 10041"/>
                  <a:gd name="connsiteX3" fmla="*/ 6227 w 10001"/>
                  <a:gd name="connsiteY3" fmla="*/ 0 h 10041"/>
                  <a:gd name="connsiteX4" fmla="*/ 8378 w 10001"/>
                  <a:gd name="connsiteY4" fmla="*/ 996 h 10041"/>
                  <a:gd name="connsiteX5" fmla="*/ 9998 w 10001"/>
                  <a:gd name="connsiteY5" fmla="*/ 5748 h 10041"/>
                  <a:gd name="connsiteX6" fmla="*/ 8721 w 10001"/>
                  <a:gd name="connsiteY6" fmla="*/ 9207 h 10041"/>
                  <a:gd name="connsiteX7" fmla="*/ 5449 w 10001"/>
                  <a:gd name="connsiteY7" fmla="*/ 9790 h 10041"/>
                  <a:gd name="connsiteX8" fmla="*/ 3914 w 10001"/>
                  <a:gd name="connsiteY8" fmla="*/ 9895 h 10041"/>
                  <a:gd name="connsiteX9" fmla="*/ 2716 w 10001"/>
                  <a:gd name="connsiteY9" fmla="*/ 7797 h 10041"/>
                  <a:gd name="connsiteX10" fmla="*/ 1479 w 10001"/>
                  <a:gd name="connsiteY10" fmla="*/ 7402 h 10041"/>
                  <a:gd name="connsiteX11" fmla="*/ 4 w 10001"/>
                  <a:gd name="connsiteY11" fmla="*/ 3989 h 10041"/>
                  <a:gd name="connsiteX0" fmla="*/ 4 w 10001"/>
                  <a:gd name="connsiteY0" fmla="*/ 3989 h 14825"/>
                  <a:gd name="connsiteX1" fmla="*/ 890 w 10001"/>
                  <a:gd name="connsiteY1" fmla="*/ 1575 h 14825"/>
                  <a:gd name="connsiteX2" fmla="*/ 3902 w 10001"/>
                  <a:gd name="connsiteY2" fmla="*/ 993 h 14825"/>
                  <a:gd name="connsiteX3" fmla="*/ 6227 w 10001"/>
                  <a:gd name="connsiteY3" fmla="*/ 0 h 14825"/>
                  <a:gd name="connsiteX4" fmla="*/ 8378 w 10001"/>
                  <a:gd name="connsiteY4" fmla="*/ 996 h 14825"/>
                  <a:gd name="connsiteX5" fmla="*/ 9998 w 10001"/>
                  <a:gd name="connsiteY5" fmla="*/ 5748 h 14825"/>
                  <a:gd name="connsiteX6" fmla="*/ 8721 w 10001"/>
                  <a:gd name="connsiteY6" fmla="*/ 9207 h 14825"/>
                  <a:gd name="connsiteX7" fmla="*/ 6011 w 10001"/>
                  <a:gd name="connsiteY7" fmla="*/ 14823 h 14825"/>
                  <a:gd name="connsiteX8" fmla="*/ 3914 w 10001"/>
                  <a:gd name="connsiteY8" fmla="*/ 9895 h 14825"/>
                  <a:gd name="connsiteX9" fmla="*/ 2716 w 10001"/>
                  <a:gd name="connsiteY9" fmla="*/ 7797 h 14825"/>
                  <a:gd name="connsiteX10" fmla="*/ 1479 w 10001"/>
                  <a:gd name="connsiteY10" fmla="*/ 7402 h 14825"/>
                  <a:gd name="connsiteX11" fmla="*/ 4 w 10001"/>
                  <a:gd name="connsiteY11" fmla="*/ 3989 h 14825"/>
                  <a:gd name="connsiteX0" fmla="*/ 4 w 10001"/>
                  <a:gd name="connsiteY0" fmla="*/ 7436 h 18272"/>
                  <a:gd name="connsiteX1" fmla="*/ 890 w 10001"/>
                  <a:gd name="connsiteY1" fmla="*/ 5022 h 18272"/>
                  <a:gd name="connsiteX2" fmla="*/ 3902 w 10001"/>
                  <a:gd name="connsiteY2" fmla="*/ 4440 h 18272"/>
                  <a:gd name="connsiteX3" fmla="*/ 6026 w 10001"/>
                  <a:gd name="connsiteY3" fmla="*/ 0 h 18272"/>
                  <a:gd name="connsiteX4" fmla="*/ 8378 w 10001"/>
                  <a:gd name="connsiteY4" fmla="*/ 4443 h 18272"/>
                  <a:gd name="connsiteX5" fmla="*/ 9998 w 10001"/>
                  <a:gd name="connsiteY5" fmla="*/ 9195 h 18272"/>
                  <a:gd name="connsiteX6" fmla="*/ 8721 w 10001"/>
                  <a:gd name="connsiteY6" fmla="*/ 12654 h 18272"/>
                  <a:gd name="connsiteX7" fmla="*/ 6011 w 10001"/>
                  <a:gd name="connsiteY7" fmla="*/ 18270 h 18272"/>
                  <a:gd name="connsiteX8" fmla="*/ 3914 w 10001"/>
                  <a:gd name="connsiteY8" fmla="*/ 13342 h 18272"/>
                  <a:gd name="connsiteX9" fmla="*/ 2716 w 10001"/>
                  <a:gd name="connsiteY9" fmla="*/ 11244 h 18272"/>
                  <a:gd name="connsiteX10" fmla="*/ 1479 w 10001"/>
                  <a:gd name="connsiteY10" fmla="*/ 10849 h 18272"/>
                  <a:gd name="connsiteX11" fmla="*/ 4 w 10001"/>
                  <a:gd name="connsiteY11" fmla="*/ 7436 h 18272"/>
                  <a:gd name="connsiteX0" fmla="*/ 1 w 9998"/>
                  <a:gd name="connsiteY0" fmla="*/ 7436 h 18272"/>
                  <a:gd name="connsiteX1" fmla="*/ 3899 w 9998"/>
                  <a:gd name="connsiteY1" fmla="*/ 4440 h 18272"/>
                  <a:gd name="connsiteX2" fmla="*/ 6023 w 9998"/>
                  <a:gd name="connsiteY2" fmla="*/ 0 h 18272"/>
                  <a:gd name="connsiteX3" fmla="*/ 8375 w 9998"/>
                  <a:gd name="connsiteY3" fmla="*/ 4443 h 18272"/>
                  <a:gd name="connsiteX4" fmla="*/ 9995 w 9998"/>
                  <a:gd name="connsiteY4" fmla="*/ 9195 h 18272"/>
                  <a:gd name="connsiteX5" fmla="*/ 8718 w 9998"/>
                  <a:gd name="connsiteY5" fmla="*/ 12654 h 18272"/>
                  <a:gd name="connsiteX6" fmla="*/ 6008 w 9998"/>
                  <a:gd name="connsiteY6" fmla="*/ 18270 h 18272"/>
                  <a:gd name="connsiteX7" fmla="*/ 3911 w 9998"/>
                  <a:gd name="connsiteY7" fmla="*/ 13342 h 18272"/>
                  <a:gd name="connsiteX8" fmla="*/ 2713 w 9998"/>
                  <a:gd name="connsiteY8" fmla="*/ 11244 h 18272"/>
                  <a:gd name="connsiteX9" fmla="*/ 1476 w 9998"/>
                  <a:gd name="connsiteY9" fmla="*/ 10849 h 18272"/>
                  <a:gd name="connsiteX10" fmla="*/ 1 w 9998"/>
                  <a:gd name="connsiteY10" fmla="*/ 7436 h 18272"/>
                  <a:gd name="connsiteX0" fmla="*/ 35 w 8559"/>
                  <a:gd name="connsiteY0" fmla="*/ 5938 h 10000"/>
                  <a:gd name="connsiteX1" fmla="*/ 2459 w 8559"/>
                  <a:gd name="connsiteY1" fmla="*/ 2430 h 10000"/>
                  <a:gd name="connsiteX2" fmla="*/ 4583 w 8559"/>
                  <a:gd name="connsiteY2" fmla="*/ 0 h 10000"/>
                  <a:gd name="connsiteX3" fmla="*/ 6936 w 8559"/>
                  <a:gd name="connsiteY3" fmla="*/ 2432 h 10000"/>
                  <a:gd name="connsiteX4" fmla="*/ 8556 w 8559"/>
                  <a:gd name="connsiteY4" fmla="*/ 5032 h 10000"/>
                  <a:gd name="connsiteX5" fmla="*/ 7279 w 8559"/>
                  <a:gd name="connsiteY5" fmla="*/ 6925 h 10000"/>
                  <a:gd name="connsiteX6" fmla="*/ 4568 w 8559"/>
                  <a:gd name="connsiteY6" fmla="*/ 9999 h 10000"/>
                  <a:gd name="connsiteX7" fmla="*/ 2471 w 8559"/>
                  <a:gd name="connsiteY7" fmla="*/ 7302 h 10000"/>
                  <a:gd name="connsiteX8" fmla="*/ 1273 w 8559"/>
                  <a:gd name="connsiteY8" fmla="*/ 6154 h 10000"/>
                  <a:gd name="connsiteX9" fmla="*/ 35 w 8559"/>
                  <a:gd name="connsiteY9" fmla="*/ 5938 h 10000"/>
                  <a:gd name="connsiteX0" fmla="*/ 49 w 9820"/>
                  <a:gd name="connsiteY0" fmla="*/ 4655 h 10000"/>
                  <a:gd name="connsiteX1" fmla="*/ 2693 w 9820"/>
                  <a:gd name="connsiteY1" fmla="*/ 2430 h 10000"/>
                  <a:gd name="connsiteX2" fmla="*/ 5175 w 9820"/>
                  <a:gd name="connsiteY2" fmla="*/ 0 h 10000"/>
                  <a:gd name="connsiteX3" fmla="*/ 7924 w 9820"/>
                  <a:gd name="connsiteY3" fmla="*/ 2432 h 10000"/>
                  <a:gd name="connsiteX4" fmla="*/ 9816 w 9820"/>
                  <a:gd name="connsiteY4" fmla="*/ 5032 h 10000"/>
                  <a:gd name="connsiteX5" fmla="*/ 8324 w 9820"/>
                  <a:gd name="connsiteY5" fmla="*/ 6925 h 10000"/>
                  <a:gd name="connsiteX6" fmla="*/ 5157 w 9820"/>
                  <a:gd name="connsiteY6" fmla="*/ 9999 h 10000"/>
                  <a:gd name="connsiteX7" fmla="*/ 2707 w 9820"/>
                  <a:gd name="connsiteY7" fmla="*/ 7302 h 10000"/>
                  <a:gd name="connsiteX8" fmla="*/ 1307 w 9820"/>
                  <a:gd name="connsiteY8" fmla="*/ 6154 h 10000"/>
                  <a:gd name="connsiteX9" fmla="*/ 49 w 9820"/>
                  <a:gd name="connsiteY9" fmla="*/ 4655 h 10000"/>
                  <a:gd name="connsiteX0" fmla="*/ 45 w 9995"/>
                  <a:gd name="connsiteY0" fmla="*/ 4655 h 10000"/>
                  <a:gd name="connsiteX1" fmla="*/ 2737 w 9995"/>
                  <a:gd name="connsiteY1" fmla="*/ 2430 h 10000"/>
                  <a:gd name="connsiteX2" fmla="*/ 5265 w 9995"/>
                  <a:gd name="connsiteY2" fmla="*/ 0 h 10000"/>
                  <a:gd name="connsiteX3" fmla="*/ 8064 w 9995"/>
                  <a:gd name="connsiteY3" fmla="*/ 2432 h 10000"/>
                  <a:gd name="connsiteX4" fmla="*/ 9991 w 9995"/>
                  <a:gd name="connsiteY4" fmla="*/ 5032 h 10000"/>
                  <a:gd name="connsiteX5" fmla="*/ 8472 w 9995"/>
                  <a:gd name="connsiteY5" fmla="*/ 6925 h 10000"/>
                  <a:gd name="connsiteX6" fmla="*/ 5247 w 9995"/>
                  <a:gd name="connsiteY6" fmla="*/ 9999 h 10000"/>
                  <a:gd name="connsiteX7" fmla="*/ 2752 w 9995"/>
                  <a:gd name="connsiteY7" fmla="*/ 7302 h 10000"/>
                  <a:gd name="connsiteX8" fmla="*/ 1374 w 9995"/>
                  <a:gd name="connsiteY8" fmla="*/ 6984 h 10000"/>
                  <a:gd name="connsiteX9" fmla="*/ 45 w 9995"/>
                  <a:gd name="connsiteY9" fmla="*/ 4655 h 10000"/>
                  <a:gd name="connsiteX0" fmla="*/ 45 w 10000"/>
                  <a:gd name="connsiteY0" fmla="*/ 5032 h 10377"/>
                  <a:gd name="connsiteX1" fmla="*/ 2738 w 10000"/>
                  <a:gd name="connsiteY1" fmla="*/ 2807 h 10377"/>
                  <a:gd name="connsiteX2" fmla="*/ 4886 w 10000"/>
                  <a:gd name="connsiteY2" fmla="*/ 0 h 10377"/>
                  <a:gd name="connsiteX3" fmla="*/ 8068 w 10000"/>
                  <a:gd name="connsiteY3" fmla="*/ 2809 h 10377"/>
                  <a:gd name="connsiteX4" fmla="*/ 9996 w 10000"/>
                  <a:gd name="connsiteY4" fmla="*/ 5409 h 10377"/>
                  <a:gd name="connsiteX5" fmla="*/ 8476 w 10000"/>
                  <a:gd name="connsiteY5" fmla="*/ 7302 h 10377"/>
                  <a:gd name="connsiteX6" fmla="*/ 5250 w 10000"/>
                  <a:gd name="connsiteY6" fmla="*/ 10376 h 10377"/>
                  <a:gd name="connsiteX7" fmla="*/ 2753 w 10000"/>
                  <a:gd name="connsiteY7" fmla="*/ 7679 h 10377"/>
                  <a:gd name="connsiteX8" fmla="*/ 1375 w 10000"/>
                  <a:gd name="connsiteY8" fmla="*/ 7361 h 10377"/>
                  <a:gd name="connsiteX9" fmla="*/ 45 w 10000"/>
                  <a:gd name="connsiteY9" fmla="*/ 5032 h 10377"/>
                  <a:gd name="connsiteX0" fmla="*/ 45 w 10000"/>
                  <a:gd name="connsiteY0" fmla="*/ 5036 h 10381"/>
                  <a:gd name="connsiteX1" fmla="*/ 2738 w 10000"/>
                  <a:gd name="connsiteY1" fmla="*/ 2811 h 10381"/>
                  <a:gd name="connsiteX2" fmla="*/ 4886 w 10000"/>
                  <a:gd name="connsiteY2" fmla="*/ 4 h 10381"/>
                  <a:gd name="connsiteX3" fmla="*/ 8068 w 10000"/>
                  <a:gd name="connsiteY3" fmla="*/ 2813 h 10381"/>
                  <a:gd name="connsiteX4" fmla="*/ 9996 w 10000"/>
                  <a:gd name="connsiteY4" fmla="*/ 5413 h 10381"/>
                  <a:gd name="connsiteX5" fmla="*/ 8476 w 10000"/>
                  <a:gd name="connsiteY5" fmla="*/ 7306 h 10381"/>
                  <a:gd name="connsiteX6" fmla="*/ 5250 w 10000"/>
                  <a:gd name="connsiteY6" fmla="*/ 10380 h 10381"/>
                  <a:gd name="connsiteX7" fmla="*/ 2753 w 10000"/>
                  <a:gd name="connsiteY7" fmla="*/ 7683 h 10381"/>
                  <a:gd name="connsiteX8" fmla="*/ 1375 w 10000"/>
                  <a:gd name="connsiteY8" fmla="*/ 7365 h 10381"/>
                  <a:gd name="connsiteX9" fmla="*/ 45 w 10000"/>
                  <a:gd name="connsiteY9" fmla="*/ 5036 h 10381"/>
                  <a:gd name="connsiteX0" fmla="*/ 45 w 10000"/>
                  <a:gd name="connsiteY0" fmla="*/ 5036 h 10796"/>
                  <a:gd name="connsiteX1" fmla="*/ 2738 w 10000"/>
                  <a:gd name="connsiteY1" fmla="*/ 2811 h 10796"/>
                  <a:gd name="connsiteX2" fmla="*/ 4886 w 10000"/>
                  <a:gd name="connsiteY2" fmla="*/ 4 h 10796"/>
                  <a:gd name="connsiteX3" fmla="*/ 8068 w 10000"/>
                  <a:gd name="connsiteY3" fmla="*/ 2813 h 10796"/>
                  <a:gd name="connsiteX4" fmla="*/ 9996 w 10000"/>
                  <a:gd name="connsiteY4" fmla="*/ 5413 h 10796"/>
                  <a:gd name="connsiteX5" fmla="*/ 8476 w 10000"/>
                  <a:gd name="connsiteY5" fmla="*/ 7306 h 10796"/>
                  <a:gd name="connsiteX6" fmla="*/ 5202 w 10000"/>
                  <a:gd name="connsiteY6" fmla="*/ 10795 h 10796"/>
                  <a:gd name="connsiteX7" fmla="*/ 2753 w 10000"/>
                  <a:gd name="connsiteY7" fmla="*/ 7683 h 10796"/>
                  <a:gd name="connsiteX8" fmla="*/ 1375 w 10000"/>
                  <a:gd name="connsiteY8" fmla="*/ 7365 h 10796"/>
                  <a:gd name="connsiteX9" fmla="*/ 45 w 10000"/>
                  <a:gd name="connsiteY9" fmla="*/ 5036 h 10796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000" h="10795">
                    <a:moveTo>
                      <a:pt x="45" y="5036"/>
                    </a:moveTo>
                    <a:cubicBezTo>
                      <a:pt x="272" y="4277"/>
                      <a:pt x="1931" y="3650"/>
                      <a:pt x="2738" y="2811"/>
                    </a:cubicBezTo>
                    <a:cubicBezTo>
                      <a:pt x="3545" y="1972"/>
                      <a:pt x="3352" y="117"/>
                      <a:pt x="4886" y="4"/>
                    </a:cubicBezTo>
                    <a:cubicBezTo>
                      <a:pt x="6420" y="-109"/>
                      <a:pt x="7216" y="1912"/>
                      <a:pt x="8068" y="2813"/>
                    </a:cubicBezTo>
                    <a:cubicBezTo>
                      <a:pt x="8920" y="3715"/>
                      <a:pt x="9928" y="3420"/>
                      <a:pt x="9996" y="5413"/>
                    </a:cubicBezTo>
                    <a:cubicBezTo>
                      <a:pt x="10064" y="7406"/>
                      <a:pt x="9275" y="6409"/>
                      <a:pt x="8476" y="7306"/>
                    </a:cubicBezTo>
                    <a:cubicBezTo>
                      <a:pt x="7677" y="8203"/>
                      <a:pt x="7086" y="10770"/>
                      <a:pt x="5202" y="10795"/>
                    </a:cubicBezTo>
                    <a:cubicBezTo>
                      <a:pt x="3318" y="10820"/>
                      <a:pt x="3391" y="8255"/>
                      <a:pt x="2753" y="7683"/>
                    </a:cubicBezTo>
                    <a:cubicBezTo>
                      <a:pt x="2115" y="7111"/>
                      <a:pt x="2326" y="7496"/>
                      <a:pt x="1375" y="7365"/>
                    </a:cubicBezTo>
                    <a:cubicBezTo>
                      <a:pt x="493" y="6773"/>
                      <a:pt x="-182" y="5795"/>
                      <a:pt x="45" y="5036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63" name="Group 261"/>
              <p:cNvGrpSpPr/>
              <p:nvPr/>
            </p:nvGrpSpPr>
            <p:grpSpPr>
              <a:xfrm>
                <a:off x="-1935370" y="2935816"/>
                <a:ext cx="2333625" cy="1686983"/>
                <a:chOff x="833331" y="2873352"/>
                <a:chExt cx="2333625" cy="1686983"/>
              </a:xfrm>
            </p:grpSpPr>
            <p:grpSp>
              <p:nvGrpSpPr>
                <p:cNvPr id="164" name="Group 262"/>
                <p:cNvGrpSpPr/>
                <p:nvPr/>
              </p:nvGrpSpPr>
              <p:grpSpPr>
                <a:xfrm>
                  <a:off x="1736090" y="2873352"/>
                  <a:ext cx="565150" cy="465666"/>
                  <a:chOff x="1736090" y="2873352"/>
                  <a:chExt cx="565150" cy="465666"/>
                </a:xfrm>
              </p:grpSpPr>
              <p:grpSp>
                <p:nvGrpSpPr>
                  <p:cNvPr id="213" name="Group 327"/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217" name="Oval 315"/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chemeClr val="accent2">
                            <a:lumMod val="75000"/>
                          </a:schemeClr>
                        </a:gs>
                        <a:gs pos="53000">
                          <a:schemeClr val="accent2">
                            <a:lumMod val="60000"/>
                            <a:lumOff val="40000"/>
                          </a:schemeClr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0" scaled="1"/>
                      <a:tileRect/>
                    </a:gradFill>
                    <a:ln w="6350" cmpd="sng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solidFill>
                            <a:prstClr val="black"/>
                          </a:solidFill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18" name="Rectangle 316"/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chemeClr val="accent2">
                            <a:lumMod val="75000"/>
                          </a:schemeClr>
                        </a:gs>
                        <a:gs pos="53000">
                          <a:schemeClr val="accent2">
                            <a:lumMod val="60000"/>
                            <a:lumOff val="40000"/>
                          </a:schemeClr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10800000" scaled="0"/>
                    </a:gradFill>
                    <a:ln w="25400"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19" name="Oval 317"/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chemeClr val="bg1">
                        <a:lumMod val="75000"/>
                      </a:schemeClr>
                    </a:solidFill>
                    <a:ln w="6350" cmpd="sng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solidFill>
                            <a:prstClr val="black"/>
                          </a:solidFill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20" name="Freeform 318"/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chemeClr val="accent2">
                        <a:lumMod val="60000"/>
                        <a:lumOff val="40000"/>
                      </a:schemeClr>
                    </a:solidFill>
                    <a:ln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21" name="Freeform 319"/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chemeClr val="accent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22" name="Freeform 320"/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chemeClr val="accent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23" name="Freeform 321"/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chemeClr val="accent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224" name="Straight Connector 322"/>
                    <p:cNvCxnSpPr>
                      <a:endCxn id="219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ln w="6350" cmpd="sng">
                      <a:solidFill>
                        <a:schemeClr val="tx1"/>
                      </a:solidFill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5" name="Straight Connector 323"/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ln w="6350" cmpd="sng">
                      <a:solidFill>
                        <a:schemeClr val="tx1"/>
                      </a:solidFill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14" name="Group 312"/>
                  <p:cNvGrpSpPr/>
                  <p:nvPr/>
                </p:nvGrpSpPr>
                <p:grpSpPr>
                  <a:xfrm>
                    <a:off x="1770362" y="2873352"/>
                    <a:ext cx="414737" cy="465666"/>
                    <a:chOff x="667045" y="1708643"/>
                    <a:chExt cx="414737" cy="465666"/>
                  </a:xfrm>
                </p:grpSpPr>
                <p:sp>
                  <p:nvSpPr>
                    <p:cNvPr id="215" name="Oval 313"/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chemeClr val="bg1">
                        <a:alpha val="76000"/>
                      </a:schemeClr>
                    </a:solidFill>
                    <a:ln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16" name="TextBox 215"/>
                    <p:cNvSpPr txBox="1"/>
                    <p:nvPr/>
                  </p:nvSpPr>
                  <p:spPr>
                    <a:xfrm>
                      <a:off x="667045" y="1708643"/>
                      <a:ext cx="366558" cy="46566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+mn-ea"/>
                          <a:cs typeface="+mn-cs"/>
                        </a:rPr>
                        <a:t>1b</a:t>
                      </a:r>
                    </a:p>
                  </p:txBody>
                </p:sp>
              </p:grpSp>
            </p:grpSp>
            <p:grpSp>
              <p:nvGrpSpPr>
                <p:cNvPr id="165" name="Group 263"/>
                <p:cNvGrpSpPr/>
                <p:nvPr/>
              </p:nvGrpSpPr>
              <p:grpSpPr>
                <a:xfrm>
                  <a:off x="1740320" y="4094669"/>
                  <a:ext cx="565150" cy="465666"/>
                  <a:chOff x="1736090" y="2873352"/>
                  <a:chExt cx="565150" cy="465666"/>
                </a:xfrm>
              </p:grpSpPr>
              <p:grpSp>
                <p:nvGrpSpPr>
                  <p:cNvPr id="200" name="Group 327"/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204" name="Oval 302"/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chemeClr val="accent2">
                            <a:lumMod val="75000"/>
                          </a:schemeClr>
                        </a:gs>
                        <a:gs pos="53000">
                          <a:schemeClr val="accent2">
                            <a:lumMod val="60000"/>
                            <a:lumOff val="40000"/>
                          </a:schemeClr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0" scaled="1"/>
                      <a:tileRect/>
                    </a:gradFill>
                    <a:ln w="6350" cmpd="sng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solidFill>
                            <a:prstClr val="black"/>
                          </a:solidFill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05" name="Rectangle 303"/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chemeClr val="accent2">
                            <a:lumMod val="75000"/>
                          </a:schemeClr>
                        </a:gs>
                        <a:gs pos="53000">
                          <a:schemeClr val="accent2">
                            <a:lumMod val="60000"/>
                            <a:lumOff val="40000"/>
                          </a:schemeClr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10800000" scaled="0"/>
                    </a:gradFill>
                    <a:ln w="25400"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06" name="Oval 304"/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chemeClr val="bg1">
                        <a:lumMod val="75000"/>
                      </a:schemeClr>
                    </a:solidFill>
                    <a:ln w="6350" cmpd="sng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solidFill>
                            <a:prstClr val="black"/>
                          </a:solidFill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07" name="Freeform 305"/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chemeClr val="accent2">
                        <a:lumMod val="60000"/>
                        <a:lumOff val="40000"/>
                      </a:schemeClr>
                    </a:solidFill>
                    <a:ln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08" name="Freeform 306"/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chemeClr val="accent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09" name="Freeform 307"/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chemeClr val="accent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10" name="Freeform 308"/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chemeClr val="accent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211" name="Straight Connector 309"/>
                    <p:cNvCxnSpPr>
                      <a:endCxn id="206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ln w="6350" cmpd="sng">
                      <a:solidFill>
                        <a:schemeClr val="tx1"/>
                      </a:solidFill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2" name="Straight Connector 310"/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ln w="6350" cmpd="sng">
                      <a:solidFill>
                        <a:schemeClr val="tx1"/>
                      </a:solidFill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1" name="Group 299"/>
                  <p:cNvGrpSpPr/>
                  <p:nvPr/>
                </p:nvGrpSpPr>
                <p:grpSpPr>
                  <a:xfrm>
                    <a:off x="1770362" y="2873352"/>
                    <a:ext cx="414737" cy="465666"/>
                    <a:chOff x="667045" y="1708643"/>
                    <a:chExt cx="414737" cy="465666"/>
                  </a:xfrm>
                </p:grpSpPr>
                <p:sp>
                  <p:nvSpPr>
                    <p:cNvPr id="202" name="Oval 300"/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chemeClr val="bg1">
                        <a:alpha val="76000"/>
                      </a:schemeClr>
                    </a:solidFill>
                    <a:ln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03" name="TextBox 202"/>
                    <p:cNvSpPr txBox="1"/>
                    <p:nvPr/>
                  </p:nvSpPr>
                  <p:spPr>
                    <a:xfrm>
                      <a:off x="667045" y="1708643"/>
                      <a:ext cx="366558" cy="46566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+mn-ea"/>
                          <a:cs typeface="+mn-cs"/>
                        </a:rPr>
                        <a:t>1d</a:t>
                      </a:r>
                    </a:p>
                  </p:txBody>
                </p:sp>
              </p:grpSp>
            </p:grpSp>
            <p:grpSp>
              <p:nvGrpSpPr>
                <p:cNvPr id="166" name="Group 264"/>
                <p:cNvGrpSpPr/>
                <p:nvPr/>
              </p:nvGrpSpPr>
              <p:grpSpPr>
                <a:xfrm>
                  <a:off x="2601806" y="3485072"/>
                  <a:ext cx="565150" cy="465666"/>
                  <a:chOff x="1736090" y="2873352"/>
                  <a:chExt cx="565150" cy="465666"/>
                </a:xfrm>
              </p:grpSpPr>
              <p:grpSp>
                <p:nvGrpSpPr>
                  <p:cNvPr id="187" name="Group 327"/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191" name="Oval 289"/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chemeClr val="accent2">
                            <a:lumMod val="75000"/>
                          </a:schemeClr>
                        </a:gs>
                        <a:gs pos="53000">
                          <a:schemeClr val="accent2">
                            <a:lumMod val="60000"/>
                            <a:lumOff val="40000"/>
                          </a:schemeClr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0" scaled="1"/>
                      <a:tileRect/>
                    </a:gradFill>
                    <a:ln w="6350" cmpd="sng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solidFill>
                            <a:prstClr val="black"/>
                          </a:solidFill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92" name="Rectangle 290"/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chemeClr val="accent2">
                            <a:lumMod val="75000"/>
                          </a:schemeClr>
                        </a:gs>
                        <a:gs pos="53000">
                          <a:schemeClr val="accent2">
                            <a:lumMod val="60000"/>
                            <a:lumOff val="40000"/>
                          </a:schemeClr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10800000" scaled="0"/>
                    </a:gradFill>
                    <a:ln w="25400"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93" name="Oval 291"/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chemeClr val="bg1">
                        <a:lumMod val="75000"/>
                      </a:schemeClr>
                    </a:solidFill>
                    <a:ln w="6350" cmpd="sng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solidFill>
                            <a:prstClr val="black"/>
                          </a:solidFill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94" name="Freeform 292"/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chemeClr val="accent2">
                        <a:lumMod val="60000"/>
                        <a:lumOff val="40000"/>
                      </a:schemeClr>
                    </a:solidFill>
                    <a:ln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95" name="Freeform 293"/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chemeClr val="accent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96" name="Freeform 294"/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chemeClr val="accent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97" name="Freeform 295"/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chemeClr val="accent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198" name="Straight Connector 296"/>
                    <p:cNvCxnSpPr>
                      <a:endCxn id="193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ln w="6350" cmpd="sng">
                      <a:solidFill>
                        <a:schemeClr val="tx1"/>
                      </a:solidFill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9" name="Straight Connector 297"/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ln w="6350" cmpd="sng">
                      <a:solidFill>
                        <a:schemeClr val="tx1"/>
                      </a:solidFill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88" name="Group 286"/>
                  <p:cNvGrpSpPr/>
                  <p:nvPr/>
                </p:nvGrpSpPr>
                <p:grpSpPr>
                  <a:xfrm>
                    <a:off x="1770362" y="2873352"/>
                    <a:ext cx="414737" cy="465666"/>
                    <a:chOff x="667045" y="1708643"/>
                    <a:chExt cx="414737" cy="465666"/>
                  </a:xfrm>
                </p:grpSpPr>
                <p:sp>
                  <p:nvSpPr>
                    <p:cNvPr id="189" name="Oval 287"/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chemeClr val="bg1">
                        <a:alpha val="76000"/>
                      </a:schemeClr>
                    </a:solidFill>
                    <a:ln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90" name="TextBox 189"/>
                    <p:cNvSpPr txBox="1"/>
                    <p:nvPr/>
                  </p:nvSpPr>
                  <p:spPr>
                    <a:xfrm>
                      <a:off x="667045" y="1708643"/>
                      <a:ext cx="342495" cy="46566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+mn-ea"/>
                          <a:cs typeface="+mn-cs"/>
                        </a:rPr>
                        <a:t>1c</a:t>
                      </a:r>
                    </a:p>
                  </p:txBody>
                </p:sp>
              </p:grpSp>
            </p:grpSp>
            <p:grpSp>
              <p:nvGrpSpPr>
                <p:cNvPr id="167" name="Group 265"/>
                <p:cNvGrpSpPr/>
                <p:nvPr/>
              </p:nvGrpSpPr>
              <p:grpSpPr>
                <a:xfrm>
                  <a:off x="833331" y="3478719"/>
                  <a:ext cx="565150" cy="465666"/>
                  <a:chOff x="1736090" y="2873352"/>
                  <a:chExt cx="565150" cy="465666"/>
                </a:xfrm>
              </p:grpSpPr>
              <p:grpSp>
                <p:nvGrpSpPr>
                  <p:cNvPr id="174" name="Group 327"/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178" name="Oval 276"/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chemeClr val="accent2">
                            <a:lumMod val="75000"/>
                          </a:schemeClr>
                        </a:gs>
                        <a:gs pos="53000">
                          <a:schemeClr val="accent2">
                            <a:lumMod val="60000"/>
                            <a:lumOff val="40000"/>
                          </a:schemeClr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0" scaled="1"/>
                      <a:tileRect/>
                    </a:gradFill>
                    <a:ln w="6350" cmpd="sng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solidFill>
                            <a:prstClr val="black"/>
                          </a:solidFill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79" name="Rectangle 277"/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chemeClr val="accent2">
                            <a:lumMod val="75000"/>
                          </a:schemeClr>
                        </a:gs>
                        <a:gs pos="53000">
                          <a:schemeClr val="accent2">
                            <a:lumMod val="60000"/>
                            <a:lumOff val="40000"/>
                          </a:schemeClr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10800000" scaled="0"/>
                    </a:gradFill>
                    <a:ln w="25400"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80" name="Oval 278"/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chemeClr val="bg1">
                        <a:lumMod val="75000"/>
                      </a:schemeClr>
                    </a:solidFill>
                    <a:ln w="6350" cmpd="sng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solidFill>
                            <a:prstClr val="black"/>
                          </a:solidFill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81" name="Freeform 279"/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chemeClr val="accent2">
                        <a:lumMod val="60000"/>
                        <a:lumOff val="40000"/>
                      </a:schemeClr>
                    </a:solidFill>
                    <a:ln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82" name="Freeform 280"/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chemeClr val="accent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83" name="Freeform 281"/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chemeClr val="accent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84" name="Freeform 282"/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chemeClr val="accent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185" name="Straight Connector 283"/>
                    <p:cNvCxnSpPr>
                      <a:endCxn id="180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ln w="6350" cmpd="sng">
                      <a:solidFill>
                        <a:schemeClr val="tx1"/>
                      </a:solidFill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6" name="Straight Connector 284"/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ln w="6350" cmpd="sng">
                      <a:solidFill>
                        <a:schemeClr val="tx1"/>
                      </a:solidFill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75" name="Group 273"/>
                  <p:cNvGrpSpPr/>
                  <p:nvPr/>
                </p:nvGrpSpPr>
                <p:grpSpPr>
                  <a:xfrm>
                    <a:off x="1770362" y="2873352"/>
                    <a:ext cx="414737" cy="465666"/>
                    <a:chOff x="667045" y="1708643"/>
                    <a:chExt cx="414737" cy="465666"/>
                  </a:xfrm>
                </p:grpSpPr>
                <p:sp>
                  <p:nvSpPr>
                    <p:cNvPr id="176" name="Oval 274"/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chemeClr val="bg1">
                        <a:alpha val="76000"/>
                      </a:schemeClr>
                    </a:solidFill>
                    <a:ln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77" name="TextBox 176"/>
                    <p:cNvSpPr txBox="1"/>
                    <p:nvPr/>
                  </p:nvSpPr>
                  <p:spPr>
                    <a:xfrm>
                      <a:off x="667045" y="1708643"/>
                      <a:ext cx="351852" cy="46566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+mn-ea"/>
                          <a:cs typeface="+mn-cs"/>
                        </a:rPr>
                        <a:t>1a</a:t>
                      </a:r>
                    </a:p>
                  </p:txBody>
                </p:sp>
              </p:grpSp>
            </p:grpSp>
            <p:cxnSp>
              <p:nvCxnSpPr>
                <p:cNvPr id="168" name="Straight Connector 266"/>
                <p:cNvCxnSpPr>
                  <a:stCxn id="216" idx="2"/>
                  <a:endCxn id="203" idx="0"/>
                </p:cNvCxnSpPr>
                <p:nvPr/>
              </p:nvCxnSpPr>
              <p:spPr bwMode="auto">
                <a:xfrm>
                  <a:off x="1953641" y="3339018"/>
                  <a:ext cx="4230" cy="75565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00090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69" name="Straight Connector 267"/>
                <p:cNvCxnSpPr/>
                <p:nvPr/>
              </p:nvCxnSpPr>
              <p:spPr bwMode="auto">
                <a:xfrm>
                  <a:off x="1407477" y="3648621"/>
                  <a:ext cx="1204913" cy="6353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00090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70" name="Straight Connector 268"/>
                <p:cNvCxnSpPr>
                  <a:stCxn id="217" idx="7"/>
                </p:cNvCxnSpPr>
                <p:nvPr/>
              </p:nvCxnSpPr>
              <p:spPr bwMode="auto">
                <a:xfrm>
                  <a:off x="2218708" y="3154477"/>
                  <a:ext cx="480042" cy="369773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00090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71" name="Straight Connector 269"/>
                <p:cNvCxnSpPr/>
                <p:nvPr/>
              </p:nvCxnSpPr>
              <p:spPr bwMode="auto">
                <a:xfrm>
                  <a:off x="1300073" y="3786304"/>
                  <a:ext cx="477927" cy="35707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00090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72" name="Straight Connector 270"/>
                <p:cNvCxnSpPr/>
                <p:nvPr/>
              </p:nvCxnSpPr>
              <p:spPr bwMode="auto">
                <a:xfrm flipH="1">
                  <a:off x="2196042" y="3783542"/>
                  <a:ext cx="508002" cy="349250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00090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73" name="Straight Connector 271"/>
                <p:cNvCxnSpPr/>
                <p:nvPr/>
              </p:nvCxnSpPr>
              <p:spPr bwMode="auto">
                <a:xfrm flipH="1">
                  <a:off x="1287553" y="3166946"/>
                  <a:ext cx="508002" cy="349250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00090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grpSp>
          <p:nvGrpSpPr>
            <p:cNvPr id="8" name="Group 125"/>
            <p:cNvGrpSpPr/>
            <p:nvPr/>
          </p:nvGrpSpPr>
          <p:grpSpPr>
            <a:xfrm>
              <a:off x="3285692" y="4867093"/>
              <a:ext cx="2545688" cy="1720535"/>
              <a:chOff x="-2170772" y="2784954"/>
              <a:chExt cx="2712783" cy="1853712"/>
            </a:xfrm>
          </p:grpSpPr>
          <p:sp>
            <p:nvSpPr>
              <p:cNvPr id="98" name="Freeform 2"/>
              <p:cNvSpPr>
                <a:spLocks/>
              </p:cNvSpPr>
              <p:nvPr/>
            </p:nvSpPr>
            <p:spPr bwMode="auto">
              <a:xfrm>
                <a:off x="-2170772" y="2784954"/>
                <a:ext cx="2712783" cy="1853712"/>
              </a:xfrm>
              <a:custGeom>
                <a:avLst/>
                <a:gdLst>
                  <a:gd name="T0" fmla="*/ 648763 w 10001"/>
                  <a:gd name="T1" fmla="*/ 34777612 h 10125"/>
                  <a:gd name="T2" fmla="*/ 115976403 w 10001"/>
                  <a:gd name="T3" fmla="*/ 13733703 h 10125"/>
                  <a:gd name="T4" fmla="*/ 507700960 w 10001"/>
                  <a:gd name="T5" fmla="*/ 8662125 h 10125"/>
                  <a:gd name="T6" fmla="*/ 810212713 w 10001"/>
                  <a:gd name="T7" fmla="*/ 0 h 10125"/>
                  <a:gd name="T8" fmla="*/ 1090015738 w 10001"/>
                  <a:gd name="T9" fmla="*/ 8687929 h 10125"/>
                  <a:gd name="T10" fmla="*/ 1310938763 w 10001"/>
                  <a:gd name="T11" fmla="*/ 4279362 h 10125"/>
                  <a:gd name="T12" fmla="*/ 1620263134 w 10001"/>
                  <a:gd name="T13" fmla="*/ 25736690 h 10125"/>
                  <a:gd name="T14" fmla="*/ 1394798364 w 10001"/>
                  <a:gd name="T15" fmla="*/ 58525268 h 10125"/>
                  <a:gd name="T16" fmla="*/ 1134622140 w 10001"/>
                  <a:gd name="T17" fmla="*/ 80266624 h 10125"/>
                  <a:gd name="T18" fmla="*/ 860820276 w 10001"/>
                  <a:gd name="T19" fmla="*/ 76142271 h 10125"/>
                  <a:gd name="T20" fmla="*/ 708996782 w 10001"/>
                  <a:gd name="T21" fmla="*/ 85346835 h 10125"/>
                  <a:gd name="T22" fmla="*/ 509322667 w 10001"/>
                  <a:gd name="T23" fmla="*/ 86268164 h 10125"/>
                  <a:gd name="T24" fmla="*/ 353443899 w 10001"/>
                  <a:gd name="T25" fmla="*/ 67979516 h 10125"/>
                  <a:gd name="T26" fmla="*/ 192536914 w 10001"/>
                  <a:gd name="T27" fmla="*/ 64535347 h 10125"/>
                  <a:gd name="T28" fmla="*/ 648763 w 10001"/>
                  <a:gd name="T29" fmla="*/ 34777612 h 101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connsiteX0" fmla="*/ 4 w 10040"/>
                  <a:gd name="connsiteY0" fmla="*/ 4039 h 10125"/>
                  <a:gd name="connsiteX1" fmla="*/ 715 w 10040"/>
                  <a:gd name="connsiteY1" fmla="*/ 1595 h 10125"/>
                  <a:gd name="connsiteX2" fmla="*/ 3130 w 10040"/>
                  <a:gd name="connsiteY2" fmla="*/ 1006 h 10125"/>
                  <a:gd name="connsiteX3" fmla="*/ 4995 w 10040"/>
                  <a:gd name="connsiteY3" fmla="*/ 0 h 10125"/>
                  <a:gd name="connsiteX4" fmla="*/ 6720 w 10040"/>
                  <a:gd name="connsiteY4" fmla="*/ 1009 h 10125"/>
                  <a:gd name="connsiteX5" fmla="*/ 9989 w 10040"/>
                  <a:gd name="connsiteY5" fmla="*/ 2989 h 10125"/>
                  <a:gd name="connsiteX6" fmla="*/ 8599 w 10040"/>
                  <a:gd name="connsiteY6" fmla="*/ 6797 h 10125"/>
                  <a:gd name="connsiteX7" fmla="*/ 6995 w 10040"/>
                  <a:gd name="connsiteY7" fmla="*/ 9322 h 10125"/>
                  <a:gd name="connsiteX8" fmla="*/ 5307 w 10040"/>
                  <a:gd name="connsiteY8" fmla="*/ 8843 h 10125"/>
                  <a:gd name="connsiteX9" fmla="*/ 4371 w 10040"/>
                  <a:gd name="connsiteY9" fmla="*/ 9912 h 10125"/>
                  <a:gd name="connsiteX10" fmla="*/ 3140 w 10040"/>
                  <a:gd name="connsiteY10" fmla="*/ 10019 h 10125"/>
                  <a:gd name="connsiteX11" fmla="*/ 2179 w 10040"/>
                  <a:gd name="connsiteY11" fmla="*/ 7895 h 10125"/>
                  <a:gd name="connsiteX12" fmla="*/ 1187 w 10040"/>
                  <a:gd name="connsiteY12" fmla="*/ 7495 h 10125"/>
                  <a:gd name="connsiteX13" fmla="*/ 4 w 10040"/>
                  <a:gd name="connsiteY13" fmla="*/ 4039 h 10125"/>
                  <a:gd name="connsiteX0" fmla="*/ 4 w 8600"/>
                  <a:gd name="connsiteY0" fmla="*/ 4042 h 10128"/>
                  <a:gd name="connsiteX1" fmla="*/ 715 w 8600"/>
                  <a:gd name="connsiteY1" fmla="*/ 1598 h 10128"/>
                  <a:gd name="connsiteX2" fmla="*/ 3130 w 8600"/>
                  <a:gd name="connsiteY2" fmla="*/ 1009 h 10128"/>
                  <a:gd name="connsiteX3" fmla="*/ 4995 w 8600"/>
                  <a:gd name="connsiteY3" fmla="*/ 3 h 10128"/>
                  <a:gd name="connsiteX4" fmla="*/ 6720 w 8600"/>
                  <a:gd name="connsiteY4" fmla="*/ 1012 h 10128"/>
                  <a:gd name="connsiteX5" fmla="*/ 8599 w 8600"/>
                  <a:gd name="connsiteY5" fmla="*/ 6800 h 10128"/>
                  <a:gd name="connsiteX6" fmla="*/ 6995 w 8600"/>
                  <a:gd name="connsiteY6" fmla="*/ 9325 h 10128"/>
                  <a:gd name="connsiteX7" fmla="*/ 5307 w 8600"/>
                  <a:gd name="connsiteY7" fmla="*/ 8846 h 10128"/>
                  <a:gd name="connsiteX8" fmla="*/ 4371 w 8600"/>
                  <a:gd name="connsiteY8" fmla="*/ 9915 h 10128"/>
                  <a:gd name="connsiteX9" fmla="*/ 3140 w 8600"/>
                  <a:gd name="connsiteY9" fmla="*/ 10022 h 10128"/>
                  <a:gd name="connsiteX10" fmla="*/ 2179 w 8600"/>
                  <a:gd name="connsiteY10" fmla="*/ 7898 h 10128"/>
                  <a:gd name="connsiteX11" fmla="*/ 1187 w 8600"/>
                  <a:gd name="connsiteY11" fmla="*/ 7498 h 10128"/>
                  <a:gd name="connsiteX12" fmla="*/ 4 w 8600"/>
                  <a:gd name="connsiteY12" fmla="*/ 4042 h 10128"/>
                  <a:gd name="connsiteX0" fmla="*/ 4 w 9326"/>
                  <a:gd name="connsiteY0" fmla="*/ 3988 h 9997"/>
                  <a:gd name="connsiteX1" fmla="*/ 830 w 9326"/>
                  <a:gd name="connsiteY1" fmla="*/ 1575 h 9997"/>
                  <a:gd name="connsiteX2" fmla="*/ 3639 w 9326"/>
                  <a:gd name="connsiteY2" fmla="*/ 993 h 9997"/>
                  <a:gd name="connsiteX3" fmla="*/ 5807 w 9326"/>
                  <a:gd name="connsiteY3" fmla="*/ 0 h 9997"/>
                  <a:gd name="connsiteX4" fmla="*/ 7813 w 9326"/>
                  <a:gd name="connsiteY4" fmla="*/ 996 h 9997"/>
                  <a:gd name="connsiteX5" fmla="*/ 9324 w 9326"/>
                  <a:gd name="connsiteY5" fmla="*/ 5746 h 9997"/>
                  <a:gd name="connsiteX6" fmla="*/ 8133 w 9326"/>
                  <a:gd name="connsiteY6" fmla="*/ 9204 h 9997"/>
                  <a:gd name="connsiteX7" fmla="*/ 6170 w 9326"/>
                  <a:gd name="connsiteY7" fmla="*/ 8731 h 9997"/>
                  <a:gd name="connsiteX8" fmla="*/ 5082 w 9326"/>
                  <a:gd name="connsiteY8" fmla="*/ 9787 h 9997"/>
                  <a:gd name="connsiteX9" fmla="*/ 3650 w 9326"/>
                  <a:gd name="connsiteY9" fmla="*/ 9892 h 9997"/>
                  <a:gd name="connsiteX10" fmla="*/ 2533 w 9326"/>
                  <a:gd name="connsiteY10" fmla="*/ 7795 h 9997"/>
                  <a:gd name="connsiteX11" fmla="*/ 1379 w 9326"/>
                  <a:gd name="connsiteY11" fmla="*/ 7400 h 9997"/>
                  <a:gd name="connsiteX12" fmla="*/ 4 w 9326"/>
                  <a:gd name="connsiteY12" fmla="*/ 3988 h 9997"/>
                  <a:gd name="connsiteX0" fmla="*/ 4 w 10001"/>
                  <a:gd name="connsiteY0" fmla="*/ 3989 h 10041"/>
                  <a:gd name="connsiteX1" fmla="*/ 890 w 10001"/>
                  <a:gd name="connsiteY1" fmla="*/ 1575 h 10041"/>
                  <a:gd name="connsiteX2" fmla="*/ 3902 w 10001"/>
                  <a:gd name="connsiteY2" fmla="*/ 993 h 10041"/>
                  <a:gd name="connsiteX3" fmla="*/ 6227 w 10001"/>
                  <a:gd name="connsiteY3" fmla="*/ 0 h 10041"/>
                  <a:gd name="connsiteX4" fmla="*/ 8378 w 10001"/>
                  <a:gd name="connsiteY4" fmla="*/ 996 h 10041"/>
                  <a:gd name="connsiteX5" fmla="*/ 9998 w 10001"/>
                  <a:gd name="connsiteY5" fmla="*/ 5748 h 10041"/>
                  <a:gd name="connsiteX6" fmla="*/ 8721 w 10001"/>
                  <a:gd name="connsiteY6" fmla="*/ 9207 h 10041"/>
                  <a:gd name="connsiteX7" fmla="*/ 5449 w 10001"/>
                  <a:gd name="connsiteY7" fmla="*/ 9790 h 10041"/>
                  <a:gd name="connsiteX8" fmla="*/ 3914 w 10001"/>
                  <a:gd name="connsiteY8" fmla="*/ 9895 h 10041"/>
                  <a:gd name="connsiteX9" fmla="*/ 2716 w 10001"/>
                  <a:gd name="connsiteY9" fmla="*/ 7797 h 10041"/>
                  <a:gd name="connsiteX10" fmla="*/ 1479 w 10001"/>
                  <a:gd name="connsiteY10" fmla="*/ 7402 h 10041"/>
                  <a:gd name="connsiteX11" fmla="*/ 4 w 10001"/>
                  <a:gd name="connsiteY11" fmla="*/ 3989 h 10041"/>
                  <a:gd name="connsiteX0" fmla="*/ 4 w 10001"/>
                  <a:gd name="connsiteY0" fmla="*/ 3989 h 14825"/>
                  <a:gd name="connsiteX1" fmla="*/ 890 w 10001"/>
                  <a:gd name="connsiteY1" fmla="*/ 1575 h 14825"/>
                  <a:gd name="connsiteX2" fmla="*/ 3902 w 10001"/>
                  <a:gd name="connsiteY2" fmla="*/ 993 h 14825"/>
                  <a:gd name="connsiteX3" fmla="*/ 6227 w 10001"/>
                  <a:gd name="connsiteY3" fmla="*/ 0 h 14825"/>
                  <a:gd name="connsiteX4" fmla="*/ 8378 w 10001"/>
                  <a:gd name="connsiteY4" fmla="*/ 996 h 14825"/>
                  <a:gd name="connsiteX5" fmla="*/ 9998 w 10001"/>
                  <a:gd name="connsiteY5" fmla="*/ 5748 h 14825"/>
                  <a:gd name="connsiteX6" fmla="*/ 8721 w 10001"/>
                  <a:gd name="connsiteY6" fmla="*/ 9207 h 14825"/>
                  <a:gd name="connsiteX7" fmla="*/ 6011 w 10001"/>
                  <a:gd name="connsiteY7" fmla="*/ 14823 h 14825"/>
                  <a:gd name="connsiteX8" fmla="*/ 3914 w 10001"/>
                  <a:gd name="connsiteY8" fmla="*/ 9895 h 14825"/>
                  <a:gd name="connsiteX9" fmla="*/ 2716 w 10001"/>
                  <a:gd name="connsiteY9" fmla="*/ 7797 h 14825"/>
                  <a:gd name="connsiteX10" fmla="*/ 1479 w 10001"/>
                  <a:gd name="connsiteY10" fmla="*/ 7402 h 14825"/>
                  <a:gd name="connsiteX11" fmla="*/ 4 w 10001"/>
                  <a:gd name="connsiteY11" fmla="*/ 3989 h 14825"/>
                  <a:gd name="connsiteX0" fmla="*/ 4 w 10001"/>
                  <a:gd name="connsiteY0" fmla="*/ 7436 h 18272"/>
                  <a:gd name="connsiteX1" fmla="*/ 890 w 10001"/>
                  <a:gd name="connsiteY1" fmla="*/ 5022 h 18272"/>
                  <a:gd name="connsiteX2" fmla="*/ 3902 w 10001"/>
                  <a:gd name="connsiteY2" fmla="*/ 4440 h 18272"/>
                  <a:gd name="connsiteX3" fmla="*/ 6026 w 10001"/>
                  <a:gd name="connsiteY3" fmla="*/ 0 h 18272"/>
                  <a:gd name="connsiteX4" fmla="*/ 8378 w 10001"/>
                  <a:gd name="connsiteY4" fmla="*/ 4443 h 18272"/>
                  <a:gd name="connsiteX5" fmla="*/ 9998 w 10001"/>
                  <a:gd name="connsiteY5" fmla="*/ 9195 h 18272"/>
                  <a:gd name="connsiteX6" fmla="*/ 8721 w 10001"/>
                  <a:gd name="connsiteY6" fmla="*/ 12654 h 18272"/>
                  <a:gd name="connsiteX7" fmla="*/ 6011 w 10001"/>
                  <a:gd name="connsiteY7" fmla="*/ 18270 h 18272"/>
                  <a:gd name="connsiteX8" fmla="*/ 3914 w 10001"/>
                  <a:gd name="connsiteY8" fmla="*/ 13342 h 18272"/>
                  <a:gd name="connsiteX9" fmla="*/ 2716 w 10001"/>
                  <a:gd name="connsiteY9" fmla="*/ 11244 h 18272"/>
                  <a:gd name="connsiteX10" fmla="*/ 1479 w 10001"/>
                  <a:gd name="connsiteY10" fmla="*/ 10849 h 18272"/>
                  <a:gd name="connsiteX11" fmla="*/ 4 w 10001"/>
                  <a:gd name="connsiteY11" fmla="*/ 7436 h 18272"/>
                  <a:gd name="connsiteX0" fmla="*/ 1 w 9998"/>
                  <a:gd name="connsiteY0" fmla="*/ 7436 h 18272"/>
                  <a:gd name="connsiteX1" fmla="*/ 3899 w 9998"/>
                  <a:gd name="connsiteY1" fmla="*/ 4440 h 18272"/>
                  <a:gd name="connsiteX2" fmla="*/ 6023 w 9998"/>
                  <a:gd name="connsiteY2" fmla="*/ 0 h 18272"/>
                  <a:gd name="connsiteX3" fmla="*/ 8375 w 9998"/>
                  <a:gd name="connsiteY3" fmla="*/ 4443 h 18272"/>
                  <a:gd name="connsiteX4" fmla="*/ 9995 w 9998"/>
                  <a:gd name="connsiteY4" fmla="*/ 9195 h 18272"/>
                  <a:gd name="connsiteX5" fmla="*/ 8718 w 9998"/>
                  <a:gd name="connsiteY5" fmla="*/ 12654 h 18272"/>
                  <a:gd name="connsiteX6" fmla="*/ 6008 w 9998"/>
                  <a:gd name="connsiteY6" fmla="*/ 18270 h 18272"/>
                  <a:gd name="connsiteX7" fmla="*/ 3911 w 9998"/>
                  <a:gd name="connsiteY7" fmla="*/ 13342 h 18272"/>
                  <a:gd name="connsiteX8" fmla="*/ 2713 w 9998"/>
                  <a:gd name="connsiteY8" fmla="*/ 11244 h 18272"/>
                  <a:gd name="connsiteX9" fmla="*/ 1476 w 9998"/>
                  <a:gd name="connsiteY9" fmla="*/ 10849 h 18272"/>
                  <a:gd name="connsiteX10" fmla="*/ 1 w 9998"/>
                  <a:gd name="connsiteY10" fmla="*/ 7436 h 18272"/>
                  <a:gd name="connsiteX0" fmla="*/ 35 w 8559"/>
                  <a:gd name="connsiteY0" fmla="*/ 5938 h 10000"/>
                  <a:gd name="connsiteX1" fmla="*/ 2459 w 8559"/>
                  <a:gd name="connsiteY1" fmla="*/ 2430 h 10000"/>
                  <a:gd name="connsiteX2" fmla="*/ 4583 w 8559"/>
                  <a:gd name="connsiteY2" fmla="*/ 0 h 10000"/>
                  <a:gd name="connsiteX3" fmla="*/ 6936 w 8559"/>
                  <a:gd name="connsiteY3" fmla="*/ 2432 h 10000"/>
                  <a:gd name="connsiteX4" fmla="*/ 8556 w 8559"/>
                  <a:gd name="connsiteY4" fmla="*/ 5032 h 10000"/>
                  <a:gd name="connsiteX5" fmla="*/ 7279 w 8559"/>
                  <a:gd name="connsiteY5" fmla="*/ 6925 h 10000"/>
                  <a:gd name="connsiteX6" fmla="*/ 4568 w 8559"/>
                  <a:gd name="connsiteY6" fmla="*/ 9999 h 10000"/>
                  <a:gd name="connsiteX7" fmla="*/ 2471 w 8559"/>
                  <a:gd name="connsiteY7" fmla="*/ 7302 h 10000"/>
                  <a:gd name="connsiteX8" fmla="*/ 1273 w 8559"/>
                  <a:gd name="connsiteY8" fmla="*/ 6154 h 10000"/>
                  <a:gd name="connsiteX9" fmla="*/ 35 w 8559"/>
                  <a:gd name="connsiteY9" fmla="*/ 5938 h 10000"/>
                  <a:gd name="connsiteX0" fmla="*/ 49 w 9820"/>
                  <a:gd name="connsiteY0" fmla="*/ 4655 h 10000"/>
                  <a:gd name="connsiteX1" fmla="*/ 2693 w 9820"/>
                  <a:gd name="connsiteY1" fmla="*/ 2430 h 10000"/>
                  <a:gd name="connsiteX2" fmla="*/ 5175 w 9820"/>
                  <a:gd name="connsiteY2" fmla="*/ 0 h 10000"/>
                  <a:gd name="connsiteX3" fmla="*/ 7924 w 9820"/>
                  <a:gd name="connsiteY3" fmla="*/ 2432 h 10000"/>
                  <a:gd name="connsiteX4" fmla="*/ 9816 w 9820"/>
                  <a:gd name="connsiteY4" fmla="*/ 5032 h 10000"/>
                  <a:gd name="connsiteX5" fmla="*/ 8324 w 9820"/>
                  <a:gd name="connsiteY5" fmla="*/ 6925 h 10000"/>
                  <a:gd name="connsiteX6" fmla="*/ 5157 w 9820"/>
                  <a:gd name="connsiteY6" fmla="*/ 9999 h 10000"/>
                  <a:gd name="connsiteX7" fmla="*/ 2707 w 9820"/>
                  <a:gd name="connsiteY7" fmla="*/ 7302 h 10000"/>
                  <a:gd name="connsiteX8" fmla="*/ 1307 w 9820"/>
                  <a:gd name="connsiteY8" fmla="*/ 6154 h 10000"/>
                  <a:gd name="connsiteX9" fmla="*/ 49 w 9820"/>
                  <a:gd name="connsiteY9" fmla="*/ 4655 h 10000"/>
                  <a:gd name="connsiteX0" fmla="*/ 45 w 9995"/>
                  <a:gd name="connsiteY0" fmla="*/ 4655 h 10000"/>
                  <a:gd name="connsiteX1" fmla="*/ 2737 w 9995"/>
                  <a:gd name="connsiteY1" fmla="*/ 2430 h 10000"/>
                  <a:gd name="connsiteX2" fmla="*/ 5265 w 9995"/>
                  <a:gd name="connsiteY2" fmla="*/ 0 h 10000"/>
                  <a:gd name="connsiteX3" fmla="*/ 8064 w 9995"/>
                  <a:gd name="connsiteY3" fmla="*/ 2432 h 10000"/>
                  <a:gd name="connsiteX4" fmla="*/ 9991 w 9995"/>
                  <a:gd name="connsiteY4" fmla="*/ 5032 h 10000"/>
                  <a:gd name="connsiteX5" fmla="*/ 8472 w 9995"/>
                  <a:gd name="connsiteY5" fmla="*/ 6925 h 10000"/>
                  <a:gd name="connsiteX6" fmla="*/ 5247 w 9995"/>
                  <a:gd name="connsiteY6" fmla="*/ 9999 h 10000"/>
                  <a:gd name="connsiteX7" fmla="*/ 2752 w 9995"/>
                  <a:gd name="connsiteY7" fmla="*/ 7302 h 10000"/>
                  <a:gd name="connsiteX8" fmla="*/ 1374 w 9995"/>
                  <a:gd name="connsiteY8" fmla="*/ 6984 h 10000"/>
                  <a:gd name="connsiteX9" fmla="*/ 45 w 9995"/>
                  <a:gd name="connsiteY9" fmla="*/ 4655 h 10000"/>
                  <a:gd name="connsiteX0" fmla="*/ 45 w 10000"/>
                  <a:gd name="connsiteY0" fmla="*/ 5032 h 10377"/>
                  <a:gd name="connsiteX1" fmla="*/ 2738 w 10000"/>
                  <a:gd name="connsiteY1" fmla="*/ 2807 h 10377"/>
                  <a:gd name="connsiteX2" fmla="*/ 4886 w 10000"/>
                  <a:gd name="connsiteY2" fmla="*/ 0 h 10377"/>
                  <a:gd name="connsiteX3" fmla="*/ 8068 w 10000"/>
                  <a:gd name="connsiteY3" fmla="*/ 2809 h 10377"/>
                  <a:gd name="connsiteX4" fmla="*/ 9996 w 10000"/>
                  <a:gd name="connsiteY4" fmla="*/ 5409 h 10377"/>
                  <a:gd name="connsiteX5" fmla="*/ 8476 w 10000"/>
                  <a:gd name="connsiteY5" fmla="*/ 7302 h 10377"/>
                  <a:gd name="connsiteX6" fmla="*/ 5250 w 10000"/>
                  <a:gd name="connsiteY6" fmla="*/ 10376 h 10377"/>
                  <a:gd name="connsiteX7" fmla="*/ 2753 w 10000"/>
                  <a:gd name="connsiteY7" fmla="*/ 7679 h 10377"/>
                  <a:gd name="connsiteX8" fmla="*/ 1375 w 10000"/>
                  <a:gd name="connsiteY8" fmla="*/ 7361 h 10377"/>
                  <a:gd name="connsiteX9" fmla="*/ 45 w 10000"/>
                  <a:gd name="connsiteY9" fmla="*/ 5032 h 10377"/>
                  <a:gd name="connsiteX0" fmla="*/ 45 w 10000"/>
                  <a:gd name="connsiteY0" fmla="*/ 5036 h 10381"/>
                  <a:gd name="connsiteX1" fmla="*/ 2738 w 10000"/>
                  <a:gd name="connsiteY1" fmla="*/ 2811 h 10381"/>
                  <a:gd name="connsiteX2" fmla="*/ 4886 w 10000"/>
                  <a:gd name="connsiteY2" fmla="*/ 4 h 10381"/>
                  <a:gd name="connsiteX3" fmla="*/ 8068 w 10000"/>
                  <a:gd name="connsiteY3" fmla="*/ 2813 h 10381"/>
                  <a:gd name="connsiteX4" fmla="*/ 9996 w 10000"/>
                  <a:gd name="connsiteY4" fmla="*/ 5413 h 10381"/>
                  <a:gd name="connsiteX5" fmla="*/ 8476 w 10000"/>
                  <a:gd name="connsiteY5" fmla="*/ 7306 h 10381"/>
                  <a:gd name="connsiteX6" fmla="*/ 5250 w 10000"/>
                  <a:gd name="connsiteY6" fmla="*/ 10380 h 10381"/>
                  <a:gd name="connsiteX7" fmla="*/ 2753 w 10000"/>
                  <a:gd name="connsiteY7" fmla="*/ 7683 h 10381"/>
                  <a:gd name="connsiteX8" fmla="*/ 1375 w 10000"/>
                  <a:gd name="connsiteY8" fmla="*/ 7365 h 10381"/>
                  <a:gd name="connsiteX9" fmla="*/ 45 w 10000"/>
                  <a:gd name="connsiteY9" fmla="*/ 5036 h 10381"/>
                  <a:gd name="connsiteX0" fmla="*/ 45 w 10000"/>
                  <a:gd name="connsiteY0" fmla="*/ 5036 h 10796"/>
                  <a:gd name="connsiteX1" fmla="*/ 2738 w 10000"/>
                  <a:gd name="connsiteY1" fmla="*/ 2811 h 10796"/>
                  <a:gd name="connsiteX2" fmla="*/ 4886 w 10000"/>
                  <a:gd name="connsiteY2" fmla="*/ 4 h 10796"/>
                  <a:gd name="connsiteX3" fmla="*/ 8068 w 10000"/>
                  <a:gd name="connsiteY3" fmla="*/ 2813 h 10796"/>
                  <a:gd name="connsiteX4" fmla="*/ 9996 w 10000"/>
                  <a:gd name="connsiteY4" fmla="*/ 5413 h 10796"/>
                  <a:gd name="connsiteX5" fmla="*/ 8476 w 10000"/>
                  <a:gd name="connsiteY5" fmla="*/ 7306 h 10796"/>
                  <a:gd name="connsiteX6" fmla="*/ 5202 w 10000"/>
                  <a:gd name="connsiteY6" fmla="*/ 10795 h 10796"/>
                  <a:gd name="connsiteX7" fmla="*/ 2753 w 10000"/>
                  <a:gd name="connsiteY7" fmla="*/ 7683 h 10796"/>
                  <a:gd name="connsiteX8" fmla="*/ 1375 w 10000"/>
                  <a:gd name="connsiteY8" fmla="*/ 7365 h 10796"/>
                  <a:gd name="connsiteX9" fmla="*/ 45 w 10000"/>
                  <a:gd name="connsiteY9" fmla="*/ 5036 h 10796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000" h="10795">
                    <a:moveTo>
                      <a:pt x="45" y="5036"/>
                    </a:moveTo>
                    <a:cubicBezTo>
                      <a:pt x="272" y="4277"/>
                      <a:pt x="1931" y="3650"/>
                      <a:pt x="2738" y="2811"/>
                    </a:cubicBezTo>
                    <a:cubicBezTo>
                      <a:pt x="3545" y="1972"/>
                      <a:pt x="3352" y="117"/>
                      <a:pt x="4886" y="4"/>
                    </a:cubicBezTo>
                    <a:cubicBezTo>
                      <a:pt x="6420" y="-109"/>
                      <a:pt x="7216" y="1912"/>
                      <a:pt x="8068" y="2813"/>
                    </a:cubicBezTo>
                    <a:cubicBezTo>
                      <a:pt x="8920" y="3715"/>
                      <a:pt x="9928" y="3420"/>
                      <a:pt x="9996" y="5413"/>
                    </a:cubicBezTo>
                    <a:cubicBezTo>
                      <a:pt x="10064" y="7406"/>
                      <a:pt x="9275" y="6409"/>
                      <a:pt x="8476" y="7306"/>
                    </a:cubicBezTo>
                    <a:cubicBezTo>
                      <a:pt x="7677" y="8203"/>
                      <a:pt x="7086" y="10770"/>
                      <a:pt x="5202" y="10795"/>
                    </a:cubicBezTo>
                    <a:cubicBezTo>
                      <a:pt x="3318" y="10820"/>
                      <a:pt x="3391" y="8255"/>
                      <a:pt x="2753" y="7683"/>
                    </a:cubicBezTo>
                    <a:cubicBezTo>
                      <a:pt x="2115" y="7111"/>
                      <a:pt x="2326" y="7496"/>
                      <a:pt x="1375" y="7365"/>
                    </a:cubicBezTo>
                    <a:cubicBezTo>
                      <a:pt x="493" y="6773"/>
                      <a:pt x="-182" y="5795"/>
                      <a:pt x="45" y="5036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99" name="Group 197"/>
              <p:cNvGrpSpPr/>
              <p:nvPr/>
            </p:nvGrpSpPr>
            <p:grpSpPr>
              <a:xfrm>
                <a:off x="-1935370" y="2935816"/>
                <a:ext cx="2333625" cy="1686572"/>
                <a:chOff x="833331" y="2873352"/>
                <a:chExt cx="2333625" cy="1686572"/>
              </a:xfrm>
            </p:grpSpPr>
            <p:grpSp>
              <p:nvGrpSpPr>
                <p:cNvPr id="100" name="Group 198"/>
                <p:cNvGrpSpPr/>
                <p:nvPr/>
              </p:nvGrpSpPr>
              <p:grpSpPr>
                <a:xfrm>
                  <a:off x="1736090" y="2873352"/>
                  <a:ext cx="565150" cy="465255"/>
                  <a:chOff x="1736090" y="2873352"/>
                  <a:chExt cx="565150" cy="465255"/>
                </a:xfrm>
              </p:grpSpPr>
              <p:grpSp>
                <p:nvGrpSpPr>
                  <p:cNvPr id="149" name="Group 327"/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153" name="Oval 251"/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chemeClr val="accent2">
                            <a:lumMod val="75000"/>
                          </a:schemeClr>
                        </a:gs>
                        <a:gs pos="53000">
                          <a:schemeClr val="accent2">
                            <a:lumMod val="60000"/>
                            <a:lumOff val="40000"/>
                          </a:schemeClr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0" scaled="1"/>
                      <a:tileRect/>
                    </a:gradFill>
                    <a:ln w="6350" cmpd="sng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solidFill>
                            <a:prstClr val="black"/>
                          </a:solidFill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54" name="Rectangle 252"/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chemeClr val="accent2">
                            <a:lumMod val="75000"/>
                          </a:schemeClr>
                        </a:gs>
                        <a:gs pos="53000">
                          <a:schemeClr val="accent2">
                            <a:lumMod val="60000"/>
                            <a:lumOff val="40000"/>
                          </a:schemeClr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10800000" scaled="0"/>
                    </a:gradFill>
                    <a:ln w="25400"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55" name="Oval 253"/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chemeClr val="bg1">
                        <a:lumMod val="75000"/>
                      </a:schemeClr>
                    </a:solidFill>
                    <a:ln w="6350" cmpd="sng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solidFill>
                            <a:prstClr val="black"/>
                          </a:solidFill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56" name="Freeform 254"/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chemeClr val="accent2">
                        <a:lumMod val="60000"/>
                        <a:lumOff val="40000"/>
                      </a:schemeClr>
                    </a:solidFill>
                    <a:ln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57" name="Freeform 255"/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chemeClr val="accent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58" name="Freeform 256"/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chemeClr val="accent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59" name="Freeform 257"/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chemeClr val="accent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160" name="Straight Connector 258"/>
                    <p:cNvCxnSpPr>
                      <a:endCxn id="155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ln w="6350" cmpd="sng">
                      <a:solidFill>
                        <a:schemeClr val="tx1"/>
                      </a:solidFill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1" name="Straight Connector 259"/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ln w="6350" cmpd="sng">
                      <a:solidFill>
                        <a:schemeClr val="tx1"/>
                      </a:solidFill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50" name="Group 248"/>
                  <p:cNvGrpSpPr/>
                  <p:nvPr/>
                </p:nvGrpSpPr>
                <p:grpSpPr>
                  <a:xfrm>
                    <a:off x="1770362" y="2873352"/>
                    <a:ext cx="414737" cy="465255"/>
                    <a:chOff x="667045" y="1708643"/>
                    <a:chExt cx="414737" cy="465255"/>
                  </a:xfrm>
                </p:grpSpPr>
                <p:sp>
                  <p:nvSpPr>
                    <p:cNvPr id="151" name="Oval 249"/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chemeClr val="bg1">
                        <a:alpha val="76000"/>
                      </a:schemeClr>
                    </a:solidFill>
                    <a:ln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52" name="TextBox 151"/>
                    <p:cNvSpPr txBox="1"/>
                    <p:nvPr/>
                  </p:nvSpPr>
                  <p:spPr>
                    <a:xfrm>
                      <a:off x="667045" y="1708643"/>
                      <a:ext cx="368235" cy="46525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+mn-ea"/>
                          <a:cs typeface="+mn-cs"/>
                        </a:rPr>
                        <a:t>2b</a:t>
                      </a:r>
                    </a:p>
                  </p:txBody>
                </p:sp>
              </p:grpSp>
            </p:grpSp>
            <p:grpSp>
              <p:nvGrpSpPr>
                <p:cNvPr id="101" name="Group 199"/>
                <p:cNvGrpSpPr/>
                <p:nvPr/>
              </p:nvGrpSpPr>
              <p:grpSpPr>
                <a:xfrm>
                  <a:off x="1740320" y="4094669"/>
                  <a:ext cx="565150" cy="465255"/>
                  <a:chOff x="1736090" y="2873352"/>
                  <a:chExt cx="565150" cy="465255"/>
                </a:xfrm>
              </p:grpSpPr>
              <p:grpSp>
                <p:nvGrpSpPr>
                  <p:cNvPr id="136" name="Group 327"/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140" name="Oval 238"/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chemeClr val="accent2">
                            <a:lumMod val="75000"/>
                          </a:schemeClr>
                        </a:gs>
                        <a:gs pos="53000">
                          <a:schemeClr val="accent2">
                            <a:lumMod val="60000"/>
                            <a:lumOff val="40000"/>
                          </a:schemeClr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0" scaled="1"/>
                      <a:tileRect/>
                    </a:gradFill>
                    <a:ln w="6350" cmpd="sng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solidFill>
                            <a:prstClr val="black"/>
                          </a:solidFill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41" name="Rectangle 239"/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chemeClr val="accent2">
                            <a:lumMod val="75000"/>
                          </a:schemeClr>
                        </a:gs>
                        <a:gs pos="53000">
                          <a:schemeClr val="accent2">
                            <a:lumMod val="60000"/>
                            <a:lumOff val="40000"/>
                          </a:schemeClr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10800000" scaled="0"/>
                    </a:gradFill>
                    <a:ln w="25400"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42" name="Oval 240"/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chemeClr val="bg1">
                        <a:lumMod val="75000"/>
                      </a:schemeClr>
                    </a:solidFill>
                    <a:ln w="6350" cmpd="sng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solidFill>
                            <a:prstClr val="black"/>
                          </a:solidFill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43" name="Freeform 241"/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chemeClr val="accent2">
                        <a:lumMod val="60000"/>
                        <a:lumOff val="40000"/>
                      </a:schemeClr>
                    </a:solidFill>
                    <a:ln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44" name="Freeform 242"/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chemeClr val="accent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45" name="Freeform 243"/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chemeClr val="accent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46" name="Freeform 244"/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chemeClr val="accent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147" name="Straight Connector 245"/>
                    <p:cNvCxnSpPr>
                      <a:endCxn id="142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ln w="6350" cmpd="sng">
                      <a:solidFill>
                        <a:schemeClr val="tx1"/>
                      </a:solidFill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8" name="Straight Connector 246"/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ln w="6350" cmpd="sng">
                      <a:solidFill>
                        <a:schemeClr val="tx1"/>
                      </a:solidFill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37" name="Group 235"/>
                  <p:cNvGrpSpPr/>
                  <p:nvPr/>
                </p:nvGrpSpPr>
                <p:grpSpPr>
                  <a:xfrm>
                    <a:off x="1770362" y="2873352"/>
                    <a:ext cx="414737" cy="465255"/>
                    <a:chOff x="667045" y="1708643"/>
                    <a:chExt cx="414737" cy="465255"/>
                  </a:xfrm>
                </p:grpSpPr>
                <p:sp>
                  <p:nvSpPr>
                    <p:cNvPr id="138" name="Oval 236"/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chemeClr val="bg1">
                        <a:alpha val="76000"/>
                      </a:schemeClr>
                    </a:solidFill>
                    <a:ln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9" name="TextBox 138"/>
                    <p:cNvSpPr txBox="1"/>
                    <p:nvPr/>
                  </p:nvSpPr>
                  <p:spPr>
                    <a:xfrm>
                      <a:off x="667045" y="1708643"/>
                      <a:ext cx="368235" cy="46525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+mn-ea"/>
                          <a:cs typeface="+mn-cs"/>
                        </a:rPr>
                        <a:t>2d</a:t>
                      </a:r>
                    </a:p>
                  </p:txBody>
                </p:sp>
              </p:grpSp>
            </p:grpSp>
            <p:grpSp>
              <p:nvGrpSpPr>
                <p:cNvPr id="102" name="Group 200"/>
                <p:cNvGrpSpPr/>
                <p:nvPr/>
              </p:nvGrpSpPr>
              <p:grpSpPr>
                <a:xfrm>
                  <a:off x="2601806" y="3485072"/>
                  <a:ext cx="565150" cy="465255"/>
                  <a:chOff x="1736090" y="2873352"/>
                  <a:chExt cx="565150" cy="465255"/>
                </a:xfrm>
              </p:grpSpPr>
              <p:grpSp>
                <p:nvGrpSpPr>
                  <p:cNvPr id="123" name="Group 327"/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127" name="Oval 225"/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chemeClr val="accent2">
                            <a:lumMod val="75000"/>
                          </a:schemeClr>
                        </a:gs>
                        <a:gs pos="53000">
                          <a:schemeClr val="accent2">
                            <a:lumMod val="60000"/>
                            <a:lumOff val="40000"/>
                          </a:schemeClr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0" scaled="1"/>
                      <a:tileRect/>
                    </a:gradFill>
                    <a:ln w="6350" cmpd="sng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solidFill>
                            <a:prstClr val="black"/>
                          </a:solidFill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28" name="Rectangle 226"/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chemeClr val="accent2">
                            <a:lumMod val="75000"/>
                          </a:schemeClr>
                        </a:gs>
                        <a:gs pos="53000">
                          <a:schemeClr val="accent2">
                            <a:lumMod val="60000"/>
                            <a:lumOff val="40000"/>
                          </a:schemeClr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10800000" scaled="0"/>
                    </a:gradFill>
                    <a:ln w="25400"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29" name="Oval 227"/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chemeClr val="bg1">
                        <a:lumMod val="75000"/>
                      </a:schemeClr>
                    </a:solidFill>
                    <a:ln w="6350" cmpd="sng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solidFill>
                            <a:prstClr val="black"/>
                          </a:solidFill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0" name="Freeform 228"/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chemeClr val="accent2">
                        <a:lumMod val="60000"/>
                        <a:lumOff val="40000"/>
                      </a:schemeClr>
                    </a:solidFill>
                    <a:ln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1" name="Freeform 229"/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chemeClr val="accent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2" name="Freeform 230"/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chemeClr val="accent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3" name="Freeform 231"/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chemeClr val="accent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134" name="Straight Connector 232"/>
                    <p:cNvCxnSpPr>
                      <a:endCxn id="129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ln w="6350" cmpd="sng">
                      <a:solidFill>
                        <a:schemeClr val="tx1"/>
                      </a:solidFill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5" name="Straight Connector 233"/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ln w="6350" cmpd="sng">
                      <a:solidFill>
                        <a:schemeClr val="tx1"/>
                      </a:solidFill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4" name="Group 222"/>
                  <p:cNvGrpSpPr/>
                  <p:nvPr/>
                </p:nvGrpSpPr>
                <p:grpSpPr>
                  <a:xfrm>
                    <a:off x="1770362" y="2873352"/>
                    <a:ext cx="414737" cy="465255"/>
                    <a:chOff x="667045" y="1708643"/>
                    <a:chExt cx="414737" cy="465255"/>
                  </a:xfrm>
                </p:grpSpPr>
                <p:sp>
                  <p:nvSpPr>
                    <p:cNvPr id="125" name="Oval 223"/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chemeClr val="bg1">
                        <a:alpha val="76000"/>
                      </a:schemeClr>
                    </a:solidFill>
                    <a:ln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26" name="TextBox 125"/>
                    <p:cNvSpPr txBox="1"/>
                    <p:nvPr/>
                  </p:nvSpPr>
                  <p:spPr>
                    <a:xfrm>
                      <a:off x="667045" y="1708643"/>
                      <a:ext cx="344062" cy="46525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+mn-ea"/>
                          <a:cs typeface="+mn-cs"/>
                        </a:rPr>
                        <a:t>2c</a:t>
                      </a:r>
                    </a:p>
                  </p:txBody>
                </p:sp>
              </p:grpSp>
            </p:grpSp>
            <p:grpSp>
              <p:nvGrpSpPr>
                <p:cNvPr id="103" name="Group 201"/>
                <p:cNvGrpSpPr/>
                <p:nvPr/>
              </p:nvGrpSpPr>
              <p:grpSpPr>
                <a:xfrm>
                  <a:off x="833331" y="3478719"/>
                  <a:ext cx="565150" cy="465255"/>
                  <a:chOff x="1736090" y="2873352"/>
                  <a:chExt cx="565150" cy="465255"/>
                </a:xfrm>
              </p:grpSpPr>
              <p:grpSp>
                <p:nvGrpSpPr>
                  <p:cNvPr id="110" name="Group 327"/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114" name="Oval 212"/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chemeClr val="accent2">
                            <a:lumMod val="75000"/>
                          </a:schemeClr>
                        </a:gs>
                        <a:gs pos="53000">
                          <a:schemeClr val="accent2">
                            <a:lumMod val="60000"/>
                            <a:lumOff val="40000"/>
                          </a:schemeClr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0" scaled="1"/>
                      <a:tileRect/>
                    </a:gradFill>
                    <a:ln w="6350" cmpd="sng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solidFill>
                            <a:prstClr val="black"/>
                          </a:solidFill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15" name="Rectangle 213"/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chemeClr val="accent2">
                            <a:lumMod val="75000"/>
                          </a:schemeClr>
                        </a:gs>
                        <a:gs pos="53000">
                          <a:schemeClr val="accent2">
                            <a:lumMod val="60000"/>
                            <a:lumOff val="40000"/>
                          </a:schemeClr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10800000" scaled="0"/>
                    </a:gradFill>
                    <a:ln w="25400"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16" name="Oval 214"/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chemeClr val="bg1">
                        <a:lumMod val="75000"/>
                      </a:schemeClr>
                    </a:solidFill>
                    <a:ln w="6350" cmpd="sng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solidFill>
                            <a:prstClr val="black"/>
                          </a:solidFill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17" name="Freeform 215"/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chemeClr val="accent2">
                        <a:lumMod val="60000"/>
                        <a:lumOff val="40000"/>
                      </a:schemeClr>
                    </a:solidFill>
                    <a:ln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18" name="Freeform 216"/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chemeClr val="accent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19" name="Freeform 217"/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chemeClr val="accent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20" name="Freeform 218"/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chemeClr val="accent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121" name="Straight Connector 219"/>
                    <p:cNvCxnSpPr>
                      <a:endCxn id="116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ln w="6350" cmpd="sng">
                      <a:solidFill>
                        <a:schemeClr val="tx1"/>
                      </a:solidFill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" name="Straight Connector 220"/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ln w="6350" cmpd="sng">
                      <a:solidFill>
                        <a:schemeClr val="tx1"/>
                      </a:solidFill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11" name="Group 209"/>
                  <p:cNvGrpSpPr/>
                  <p:nvPr/>
                </p:nvGrpSpPr>
                <p:grpSpPr>
                  <a:xfrm>
                    <a:off x="1770362" y="2873352"/>
                    <a:ext cx="414737" cy="465255"/>
                    <a:chOff x="667045" y="1708643"/>
                    <a:chExt cx="414737" cy="465255"/>
                  </a:xfrm>
                </p:grpSpPr>
                <p:sp>
                  <p:nvSpPr>
                    <p:cNvPr id="112" name="Oval 210"/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chemeClr val="bg1">
                        <a:alpha val="76000"/>
                      </a:schemeClr>
                    </a:solidFill>
                    <a:ln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13" name="TextBox 112"/>
                    <p:cNvSpPr txBox="1"/>
                    <p:nvPr/>
                  </p:nvSpPr>
                  <p:spPr>
                    <a:xfrm>
                      <a:off x="667045" y="1708643"/>
                      <a:ext cx="353462" cy="46525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+mn-ea"/>
                          <a:cs typeface="+mn-cs"/>
                        </a:rPr>
                        <a:t>2a</a:t>
                      </a:r>
                    </a:p>
                  </p:txBody>
                </p:sp>
              </p:grpSp>
            </p:grpSp>
            <p:cxnSp>
              <p:nvCxnSpPr>
                <p:cNvPr id="104" name="Straight Connector 202"/>
                <p:cNvCxnSpPr>
                  <a:stCxn id="152" idx="2"/>
                  <a:endCxn id="139" idx="0"/>
                </p:cNvCxnSpPr>
                <p:nvPr/>
              </p:nvCxnSpPr>
              <p:spPr bwMode="auto">
                <a:xfrm>
                  <a:off x="1954480" y="3338607"/>
                  <a:ext cx="4230" cy="756062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00090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05" name="Straight Connector 203"/>
                <p:cNvCxnSpPr/>
                <p:nvPr/>
              </p:nvCxnSpPr>
              <p:spPr bwMode="auto">
                <a:xfrm>
                  <a:off x="1407477" y="3648621"/>
                  <a:ext cx="1204913" cy="6353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7E0C6E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06" name="Straight Connector 204"/>
                <p:cNvCxnSpPr>
                  <a:stCxn id="153" idx="7"/>
                </p:cNvCxnSpPr>
                <p:nvPr/>
              </p:nvCxnSpPr>
              <p:spPr bwMode="auto">
                <a:xfrm>
                  <a:off x="2218708" y="3154477"/>
                  <a:ext cx="480042" cy="369773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00090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07" name="Straight Connector 205"/>
                <p:cNvCxnSpPr/>
                <p:nvPr/>
              </p:nvCxnSpPr>
              <p:spPr bwMode="auto">
                <a:xfrm>
                  <a:off x="1300073" y="3786304"/>
                  <a:ext cx="477927" cy="35707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00090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08" name="Straight Connector 206"/>
                <p:cNvCxnSpPr/>
                <p:nvPr/>
              </p:nvCxnSpPr>
              <p:spPr bwMode="auto">
                <a:xfrm flipH="1">
                  <a:off x="2196042" y="3783542"/>
                  <a:ext cx="508002" cy="349250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00090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09" name="Straight Connector 207"/>
                <p:cNvCxnSpPr/>
                <p:nvPr/>
              </p:nvCxnSpPr>
              <p:spPr bwMode="auto">
                <a:xfrm flipH="1">
                  <a:off x="1287553" y="3166946"/>
                  <a:ext cx="508002" cy="349250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00090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sp>
          <p:nvSpPr>
            <p:cNvPr id="9" name="Freeform 2"/>
            <p:cNvSpPr>
              <a:spLocks/>
            </p:cNvSpPr>
            <p:nvPr/>
          </p:nvSpPr>
          <p:spPr bwMode="auto">
            <a:xfrm>
              <a:off x="5507686" y="3798835"/>
              <a:ext cx="2575521" cy="1672516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connsiteX0" fmla="*/ 4 w 10040"/>
                <a:gd name="connsiteY0" fmla="*/ 4039 h 10125"/>
                <a:gd name="connsiteX1" fmla="*/ 715 w 10040"/>
                <a:gd name="connsiteY1" fmla="*/ 1595 h 10125"/>
                <a:gd name="connsiteX2" fmla="*/ 3130 w 10040"/>
                <a:gd name="connsiteY2" fmla="*/ 1006 h 10125"/>
                <a:gd name="connsiteX3" fmla="*/ 4995 w 10040"/>
                <a:gd name="connsiteY3" fmla="*/ 0 h 10125"/>
                <a:gd name="connsiteX4" fmla="*/ 6720 w 10040"/>
                <a:gd name="connsiteY4" fmla="*/ 1009 h 10125"/>
                <a:gd name="connsiteX5" fmla="*/ 9989 w 10040"/>
                <a:gd name="connsiteY5" fmla="*/ 2989 h 10125"/>
                <a:gd name="connsiteX6" fmla="*/ 8599 w 10040"/>
                <a:gd name="connsiteY6" fmla="*/ 6797 h 10125"/>
                <a:gd name="connsiteX7" fmla="*/ 6995 w 10040"/>
                <a:gd name="connsiteY7" fmla="*/ 9322 h 10125"/>
                <a:gd name="connsiteX8" fmla="*/ 5307 w 10040"/>
                <a:gd name="connsiteY8" fmla="*/ 8843 h 10125"/>
                <a:gd name="connsiteX9" fmla="*/ 4371 w 10040"/>
                <a:gd name="connsiteY9" fmla="*/ 9912 h 10125"/>
                <a:gd name="connsiteX10" fmla="*/ 3140 w 10040"/>
                <a:gd name="connsiteY10" fmla="*/ 10019 h 10125"/>
                <a:gd name="connsiteX11" fmla="*/ 2179 w 10040"/>
                <a:gd name="connsiteY11" fmla="*/ 7895 h 10125"/>
                <a:gd name="connsiteX12" fmla="*/ 1187 w 10040"/>
                <a:gd name="connsiteY12" fmla="*/ 7495 h 10125"/>
                <a:gd name="connsiteX13" fmla="*/ 4 w 10040"/>
                <a:gd name="connsiteY13" fmla="*/ 4039 h 10125"/>
                <a:gd name="connsiteX0" fmla="*/ 4 w 8600"/>
                <a:gd name="connsiteY0" fmla="*/ 4042 h 10128"/>
                <a:gd name="connsiteX1" fmla="*/ 715 w 8600"/>
                <a:gd name="connsiteY1" fmla="*/ 1598 h 10128"/>
                <a:gd name="connsiteX2" fmla="*/ 3130 w 8600"/>
                <a:gd name="connsiteY2" fmla="*/ 1009 h 10128"/>
                <a:gd name="connsiteX3" fmla="*/ 4995 w 8600"/>
                <a:gd name="connsiteY3" fmla="*/ 3 h 10128"/>
                <a:gd name="connsiteX4" fmla="*/ 6720 w 8600"/>
                <a:gd name="connsiteY4" fmla="*/ 1012 h 10128"/>
                <a:gd name="connsiteX5" fmla="*/ 8599 w 8600"/>
                <a:gd name="connsiteY5" fmla="*/ 6800 h 10128"/>
                <a:gd name="connsiteX6" fmla="*/ 6995 w 8600"/>
                <a:gd name="connsiteY6" fmla="*/ 9325 h 10128"/>
                <a:gd name="connsiteX7" fmla="*/ 5307 w 8600"/>
                <a:gd name="connsiteY7" fmla="*/ 8846 h 10128"/>
                <a:gd name="connsiteX8" fmla="*/ 4371 w 8600"/>
                <a:gd name="connsiteY8" fmla="*/ 9915 h 10128"/>
                <a:gd name="connsiteX9" fmla="*/ 3140 w 8600"/>
                <a:gd name="connsiteY9" fmla="*/ 10022 h 10128"/>
                <a:gd name="connsiteX10" fmla="*/ 2179 w 8600"/>
                <a:gd name="connsiteY10" fmla="*/ 7898 h 10128"/>
                <a:gd name="connsiteX11" fmla="*/ 1187 w 8600"/>
                <a:gd name="connsiteY11" fmla="*/ 7498 h 10128"/>
                <a:gd name="connsiteX12" fmla="*/ 4 w 8600"/>
                <a:gd name="connsiteY12" fmla="*/ 4042 h 10128"/>
                <a:gd name="connsiteX0" fmla="*/ 4 w 9326"/>
                <a:gd name="connsiteY0" fmla="*/ 3988 h 9997"/>
                <a:gd name="connsiteX1" fmla="*/ 830 w 9326"/>
                <a:gd name="connsiteY1" fmla="*/ 1575 h 9997"/>
                <a:gd name="connsiteX2" fmla="*/ 3639 w 9326"/>
                <a:gd name="connsiteY2" fmla="*/ 993 h 9997"/>
                <a:gd name="connsiteX3" fmla="*/ 5807 w 9326"/>
                <a:gd name="connsiteY3" fmla="*/ 0 h 9997"/>
                <a:gd name="connsiteX4" fmla="*/ 7813 w 9326"/>
                <a:gd name="connsiteY4" fmla="*/ 996 h 9997"/>
                <a:gd name="connsiteX5" fmla="*/ 9324 w 9326"/>
                <a:gd name="connsiteY5" fmla="*/ 5746 h 9997"/>
                <a:gd name="connsiteX6" fmla="*/ 8133 w 9326"/>
                <a:gd name="connsiteY6" fmla="*/ 9204 h 9997"/>
                <a:gd name="connsiteX7" fmla="*/ 6170 w 9326"/>
                <a:gd name="connsiteY7" fmla="*/ 8731 h 9997"/>
                <a:gd name="connsiteX8" fmla="*/ 5082 w 9326"/>
                <a:gd name="connsiteY8" fmla="*/ 9787 h 9997"/>
                <a:gd name="connsiteX9" fmla="*/ 3650 w 9326"/>
                <a:gd name="connsiteY9" fmla="*/ 9892 h 9997"/>
                <a:gd name="connsiteX10" fmla="*/ 2533 w 9326"/>
                <a:gd name="connsiteY10" fmla="*/ 7795 h 9997"/>
                <a:gd name="connsiteX11" fmla="*/ 1379 w 9326"/>
                <a:gd name="connsiteY11" fmla="*/ 7400 h 9997"/>
                <a:gd name="connsiteX12" fmla="*/ 4 w 9326"/>
                <a:gd name="connsiteY12" fmla="*/ 3988 h 9997"/>
                <a:gd name="connsiteX0" fmla="*/ 4 w 10001"/>
                <a:gd name="connsiteY0" fmla="*/ 3989 h 10041"/>
                <a:gd name="connsiteX1" fmla="*/ 890 w 10001"/>
                <a:gd name="connsiteY1" fmla="*/ 1575 h 10041"/>
                <a:gd name="connsiteX2" fmla="*/ 3902 w 10001"/>
                <a:gd name="connsiteY2" fmla="*/ 993 h 10041"/>
                <a:gd name="connsiteX3" fmla="*/ 6227 w 10001"/>
                <a:gd name="connsiteY3" fmla="*/ 0 h 10041"/>
                <a:gd name="connsiteX4" fmla="*/ 8378 w 10001"/>
                <a:gd name="connsiteY4" fmla="*/ 996 h 10041"/>
                <a:gd name="connsiteX5" fmla="*/ 9998 w 10001"/>
                <a:gd name="connsiteY5" fmla="*/ 5748 h 10041"/>
                <a:gd name="connsiteX6" fmla="*/ 8721 w 10001"/>
                <a:gd name="connsiteY6" fmla="*/ 9207 h 10041"/>
                <a:gd name="connsiteX7" fmla="*/ 5449 w 10001"/>
                <a:gd name="connsiteY7" fmla="*/ 9790 h 10041"/>
                <a:gd name="connsiteX8" fmla="*/ 3914 w 10001"/>
                <a:gd name="connsiteY8" fmla="*/ 9895 h 10041"/>
                <a:gd name="connsiteX9" fmla="*/ 2716 w 10001"/>
                <a:gd name="connsiteY9" fmla="*/ 7797 h 10041"/>
                <a:gd name="connsiteX10" fmla="*/ 1479 w 10001"/>
                <a:gd name="connsiteY10" fmla="*/ 7402 h 10041"/>
                <a:gd name="connsiteX11" fmla="*/ 4 w 10001"/>
                <a:gd name="connsiteY11" fmla="*/ 3989 h 10041"/>
                <a:gd name="connsiteX0" fmla="*/ 4 w 10001"/>
                <a:gd name="connsiteY0" fmla="*/ 3989 h 14825"/>
                <a:gd name="connsiteX1" fmla="*/ 890 w 10001"/>
                <a:gd name="connsiteY1" fmla="*/ 1575 h 14825"/>
                <a:gd name="connsiteX2" fmla="*/ 3902 w 10001"/>
                <a:gd name="connsiteY2" fmla="*/ 993 h 14825"/>
                <a:gd name="connsiteX3" fmla="*/ 6227 w 10001"/>
                <a:gd name="connsiteY3" fmla="*/ 0 h 14825"/>
                <a:gd name="connsiteX4" fmla="*/ 8378 w 10001"/>
                <a:gd name="connsiteY4" fmla="*/ 996 h 14825"/>
                <a:gd name="connsiteX5" fmla="*/ 9998 w 10001"/>
                <a:gd name="connsiteY5" fmla="*/ 5748 h 14825"/>
                <a:gd name="connsiteX6" fmla="*/ 8721 w 10001"/>
                <a:gd name="connsiteY6" fmla="*/ 9207 h 14825"/>
                <a:gd name="connsiteX7" fmla="*/ 6011 w 10001"/>
                <a:gd name="connsiteY7" fmla="*/ 14823 h 14825"/>
                <a:gd name="connsiteX8" fmla="*/ 3914 w 10001"/>
                <a:gd name="connsiteY8" fmla="*/ 9895 h 14825"/>
                <a:gd name="connsiteX9" fmla="*/ 2716 w 10001"/>
                <a:gd name="connsiteY9" fmla="*/ 7797 h 14825"/>
                <a:gd name="connsiteX10" fmla="*/ 1479 w 10001"/>
                <a:gd name="connsiteY10" fmla="*/ 7402 h 14825"/>
                <a:gd name="connsiteX11" fmla="*/ 4 w 10001"/>
                <a:gd name="connsiteY11" fmla="*/ 3989 h 14825"/>
                <a:gd name="connsiteX0" fmla="*/ 4 w 10001"/>
                <a:gd name="connsiteY0" fmla="*/ 7436 h 18272"/>
                <a:gd name="connsiteX1" fmla="*/ 890 w 10001"/>
                <a:gd name="connsiteY1" fmla="*/ 5022 h 18272"/>
                <a:gd name="connsiteX2" fmla="*/ 3902 w 10001"/>
                <a:gd name="connsiteY2" fmla="*/ 4440 h 18272"/>
                <a:gd name="connsiteX3" fmla="*/ 6026 w 10001"/>
                <a:gd name="connsiteY3" fmla="*/ 0 h 18272"/>
                <a:gd name="connsiteX4" fmla="*/ 8378 w 10001"/>
                <a:gd name="connsiteY4" fmla="*/ 4443 h 18272"/>
                <a:gd name="connsiteX5" fmla="*/ 9998 w 10001"/>
                <a:gd name="connsiteY5" fmla="*/ 9195 h 18272"/>
                <a:gd name="connsiteX6" fmla="*/ 8721 w 10001"/>
                <a:gd name="connsiteY6" fmla="*/ 12654 h 18272"/>
                <a:gd name="connsiteX7" fmla="*/ 6011 w 10001"/>
                <a:gd name="connsiteY7" fmla="*/ 18270 h 18272"/>
                <a:gd name="connsiteX8" fmla="*/ 3914 w 10001"/>
                <a:gd name="connsiteY8" fmla="*/ 13342 h 18272"/>
                <a:gd name="connsiteX9" fmla="*/ 2716 w 10001"/>
                <a:gd name="connsiteY9" fmla="*/ 11244 h 18272"/>
                <a:gd name="connsiteX10" fmla="*/ 1479 w 10001"/>
                <a:gd name="connsiteY10" fmla="*/ 10849 h 18272"/>
                <a:gd name="connsiteX11" fmla="*/ 4 w 10001"/>
                <a:gd name="connsiteY11" fmla="*/ 7436 h 18272"/>
                <a:gd name="connsiteX0" fmla="*/ 1 w 9998"/>
                <a:gd name="connsiteY0" fmla="*/ 7436 h 18272"/>
                <a:gd name="connsiteX1" fmla="*/ 3899 w 9998"/>
                <a:gd name="connsiteY1" fmla="*/ 4440 h 18272"/>
                <a:gd name="connsiteX2" fmla="*/ 6023 w 9998"/>
                <a:gd name="connsiteY2" fmla="*/ 0 h 18272"/>
                <a:gd name="connsiteX3" fmla="*/ 8375 w 9998"/>
                <a:gd name="connsiteY3" fmla="*/ 4443 h 18272"/>
                <a:gd name="connsiteX4" fmla="*/ 9995 w 9998"/>
                <a:gd name="connsiteY4" fmla="*/ 9195 h 18272"/>
                <a:gd name="connsiteX5" fmla="*/ 8718 w 9998"/>
                <a:gd name="connsiteY5" fmla="*/ 12654 h 18272"/>
                <a:gd name="connsiteX6" fmla="*/ 6008 w 9998"/>
                <a:gd name="connsiteY6" fmla="*/ 18270 h 18272"/>
                <a:gd name="connsiteX7" fmla="*/ 3911 w 9998"/>
                <a:gd name="connsiteY7" fmla="*/ 13342 h 18272"/>
                <a:gd name="connsiteX8" fmla="*/ 2713 w 9998"/>
                <a:gd name="connsiteY8" fmla="*/ 11244 h 18272"/>
                <a:gd name="connsiteX9" fmla="*/ 1476 w 9998"/>
                <a:gd name="connsiteY9" fmla="*/ 10849 h 18272"/>
                <a:gd name="connsiteX10" fmla="*/ 1 w 9998"/>
                <a:gd name="connsiteY10" fmla="*/ 7436 h 18272"/>
                <a:gd name="connsiteX0" fmla="*/ 35 w 8559"/>
                <a:gd name="connsiteY0" fmla="*/ 5938 h 10000"/>
                <a:gd name="connsiteX1" fmla="*/ 2459 w 8559"/>
                <a:gd name="connsiteY1" fmla="*/ 2430 h 10000"/>
                <a:gd name="connsiteX2" fmla="*/ 4583 w 8559"/>
                <a:gd name="connsiteY2" fmla="*/ 0 h 10000"/>
                <a:gd name="connsiteX3" fmla="*/ 6936 w 8559"/>
                <a:gd name="connsiteY3" fmla="*/ 2432 h 10000"/>
                <a:gd name="connsiteX4" fmla="*/ 8556 w 8559"/>
                <a:gd name="connsiteY4" fmla="*/ 5032 h 10000"/>
                <a:gd name="connsiteX5" fmla="*/ 7279 w 8559"/>
                <a:gd name="connsiteY5" fmla="*/ 6925 h 10000"/>
                <a:gd name="connsiteX6" fmla="*/ 4568 w 8559"/>
                <a:gd name="connsiteY6" fmla="*/ 9999 h 10000"/>
                <a:gd name="connsiteX7" fmla="*/ 2471 w 8559"/>
                <a:gd name="connsiteY7" fmla="*/ 7302 h 10000"/>
                <a:gd name="connsiteX8" fmla="*/ 1273 w 8559"/>
                <a:gd name="connsiteY8" fmla="*/ 6154 h 10000"/>
                <a:gd name="connsiteX9" fmla="*/ 35 w 8559"/>
                <a:gd name="connsiteY9" fmla="*/ 5938 h 10000"/>
                <a:gd name="connsiteX0" fmla="*/ 49 w 9820"/>
                <a:gd name="connsiteY0" fmla="*/ 4655 h 10000"/>
                <a:gd name="connsiteX1" fmla="*/ 2693 w 9820"/>
                <a:gd name="connsiteY1" fmla="*/ 2430 h 10000"/>
                <a:gd name="connsiteX2" fmla="*/ 5175 w 9820"/>
                <a:gd name="connsiteY2" fmla="*/ 0 h 10000"/>
                <a:gd name="connsiteX3" fmla="*/ 7924 w 9820"/>
                <a:gd name="connsiteY3" fmla="*/ 2432 h 10000"/>
                <a:gd name="connsiteX4" fmla="*/ 9816 w 9820"/>
                <a:gd name="connsiteY4" fmla="*/ 5032 h 10000"/>
                <a:gd name="connsiteX5" fmla="*/ 8324 w 9820"/>
                <a:gd name="connsiteY5" fmla="*/ 6925 h 10000"/>
                <a:gd name="connsiteX6" fmla="*/ 5157 w 9820"/>
                <a:gd name="connsiteY6" fmla="*/ 9999 h 10000"/>
                <a:gd name="connsiteX7" fmla="*/ 2707 w 9820"/>
                <a:gd name="connsiteY7" fmla="*/ 7302 h 10000"/>
                <a:gd name="connsiteX8" fmla="*/ 1307 w 9820"/>
                <a:gd name="connsiteY8" fmla="*/ 6154 h 10000"/>
                <a:gd name="connsiteX9" fmla="*/ 49 w 9820"/>
                <a:gd name="connsiteY9" fmla="*/ 4655 h 10000"/>
                <a:gd name="connsiteX0" fmla="*/ 45 w 9995"/>
                <a:gd name="connsiteY0" fmla="*/ 4655 h 10000"/>
                <a:gd name="connsiteX1" fmla="*/ 2737 w 9995"/>
                <a:gd name="connsiteY1" fmla="*/ 2430 h 10000"/>
                <a:gd name="connsiteX2" fmla="*/ 5265 w 9995"/>
                <a:gd name="connsiteY2" fmla="*/ 0 h 10000"/>
                <a:gd name="connsiteX3" fmla="*/ 8064 w 9995"/>
                <a:gd name="connsiteY3" fmla="*/ 2432 h 10000"/>
                <a:gd name="connsiteX4" fmla="*/ 9991 w 9995"/>
                <a:gd name="connsiteY4" fmla="*/ 5032 h 10000"/>
                <a:gd name="connsiteX5" fmla="*/ 8472 w 9995"/>
                <a:gd name="connsiteY5" fmla="*/ 6925 h 10000"/>
                <a:gd name="connsiteX6" fmla="*/ 5247 w 9995"/>
                <a:gd name="connsiteY6" fmla="*/ 9999 h 10000"/>
                <a:gd name="connsiteX7" fmla="*/ 2752 w 9995"/>
                <a:gd name="connsiteY7" fmla="*/ 7302 h 10000"/>
                <a:gd name="connsiteX8" fmla="*/ 1374 w 9995"/>
                <a:gd name="connsiteY8" fmla="*/ 6984 h 10000"/>
                <a:gd name="connsiteX9" fmla="*/ 45 w 9995"/>
                <a:gd name="connsiteY9" fmla="*/ 4655 h 10000"/>
                <a:gd name="connsiteX0" fmla="*/ 45 w 10000"/>
                <a:gd name="connsiteY0" fmla="*/ 5032 h 10377"/>
                <a:gd name="connsiteX1" fmla="*/ 2738 w 10000"/>
                <a:gd name="connsiteY1" fmla="*/ 2807 h 10377"/>
                <a:gd name="connsiteX2" fmla="*/ 4886 w 10000"/>
                <a:gd name="connsiteY2" fmla="*/ 0 h 10377"/>
                <a:gd name="connsiteX3" fmla="*/ 8068 w 10000"/>
                <a:gd name="connsiteY3" fmla="*/ 2809 h 10377"/>
                <a:gd name="connsiteX4" fmla="*/ 9996 w 10000"/>
                <a:gd name="connsiteY4" fmla="*/ 5409 h 10377"/>
                <a:gd name="connsiteX5" fmla="*/ 8476 w 10000"/>
                <a:gd name="connsiteY5" fmla="*/ 7302 h 10377"/>
                <a:gd name="connsiteX6" fmla="*/ 5250 w 10000"/>
                <a:gd name="connsiteY6" fmla="*/ 10376 h 10377"/>
                <a:gd name="connsiteX7" fmla="*/ 2753 w 10000"/>
                <a:gd name="connsiteY7" fmla="*/ 7679 h 10377"/>
                <a:gd name="connsiteX8" fmla="*/ 1375 w 10000"/>
                <a:gd name="connsiteY8" fmla="*/ 7361 h 10377"/>
                <a:gd name="connsiteX9" fmla="*/ 45 w 10000"/>
                <a:gd name="connsiteY9" fmla="*/ 5032 h 10377"/>
                <a:gd name="connsiteX0" fmla="*/ 45 w 10000"/>
                <a:gd name="connsiteY0" fmla="*/ 5036 h 10381"/>
                <a:gd name="connsiteX1" fmla="*/ 2738 w 10000"/>
                <a:gd name="connsiteY1" fmla="*/ 2811 h 10381"/>
                <a:gd name="connsiteX2" fmla="*/ 4886 w 10000"/>
                <a:gd name="connsiteY2" fmla="*/ 4 h 10381"/>
                <a:gd name="connsiteX3" fmla="*/ 8068 w 10000"/>
                <a:gd name="connsiteY3" fmla="*/ 2813 h 10381"/>
                <a:gd name="connsiteX4" fmla="*/ 9996 w 10000"/>
                <a:gd name="connsiteY4" fmla="*/ 5413 h 10381"/>
                <a:gd name="connsiteX5" fmla="*/ 8476 w 10000"/>
                <a:gd name="connsiteY5" fmla="*/ 7306 h 10381"/>
                <a:gd name="connsiteX6" fmla="*/ 5250 w 10000"/>
                <a:gd name="connsiteY6" fmla="*/ 10380 h 10381"/>
                <a:gd name="connsiteX7" fmla="*/ 2753 w 10000"/>
                <a:gd name="connsiteY7" fmla="*/ 7683 h 10381"/>
                <a:gd name="connsiteX8" fmla="*/ 1375 w 10000"/>
                <a:gd name="connsiteY8" fmla="*/ 7365 h 10381"/>
                <a:gd name="connsiteX9" fmla="*/ 45 w 10000"/>
                <a:gd name="connsiteY9" fmla="*/ 5036 h 10381"/>
                <a:gd name="connsiteX0" fmla="*/ 45 w 10000"/>
                <a:gd name="connsiteY0" fmla="*/ 5036 h 10796"/>
                <a:gd name="connsiteX1" fmla="*/ 2738 w 10000"/>
                <a:gd name="connsiteY1" fmla="*/ 2811 h 10796"/>
                <a:gd name="connsiteX2" fmla="*/ 4886 w 10000"/>
                <a:gd name="connsiteY2" fmla="*/ 4 h 10796"/>
                <a:gd name="connsiteX3" fmla="*/ 8068 w 10000"/>
                <a:gd name="connsiteY3" fmla="*/ 2813 h 10796"/>
                <a:gd name="connsiteX4" fmla="*/ 9996 w 10000"/>
                <a:gd name="connsiteY4" fmla="*/ 5413 h 10796"/>
                <a:gd name="connsiteX5" fmla="*/ 8476 w 10000"/>
                <a:gd name="connsiteY5" fmla="*/ 7306 h 10796"/>
                <a:gd name="connsiteX6" fmla="*/ 5202 w 10000"/>
                <a:gd name="connsiteY6" fmla="*/ 10795 h 10796"/>
                <a:gd name="connsiteX7" fmla="*/ 2753 w 10000"/>
                <a:gd name="connsiteY7" fmla="*/ 7683 h 10796"/>
                <a:gd name="connsiteX8" fmla="*/ 1375 w 10000"/>
                <a:gd name="connsiteY8" fmla="*/ 7365 h 10796"/>
                <a:gd name="connsiteX9" fmla="*/ 45 w 10000"/>
                <a:gd name="connsiteY9" fmla="*/ 5036 h 10796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00" h="10795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grpSp>
          <p:nvGrpSpPr>
            <p:cNvPr id="10" name="Group 133"/>
            <p:cNvGrpSpPr/>
            <p:nvPr/>
          </p:nvGrpSpPr>
          <p:grpSpPr>
            <a:xfrm>
              <a:off x="5731177" y="3934951"/>
              <a:ext cx="2215548" cy="1533766"/>
              <a:chOff x="833331" y="2873352"/>
              <a:chExt cx="2333625" cy="1699930"/>
            </a:xfrm>
          </p:grpSpPr>
          <p:grpSp>
            <p:nvGrpSpPr>
              <p:cNvPr id="36" name="Group 134"/>
              <p:cNvGrpSpPr/>
              <p:nvPr/>
            </p:nvGrpSpPr>
            <p:grpSpPr>
              <a:xfrm>
                <a:off x="1736090" y="2873352"/>
                <a:ext cx="565150" cy="478613"/>
                <a:chOff x="1736090" y="2873352"/>
                <a:chExt cx="565150" cy="478613"/>
              </a:xfrm>
            </p:grpSpPr>
            <p:grpSp>
              <p:nvGrpSpPr>
                <p:cNvPr id="85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89" name="Oval 187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0" name="Rectangle 188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1" name="Oval 189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2" name="Freeform 190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" name="Freeform 191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" name="Freeform 192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5" name="Freeform 193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96" name="Straight Connector 194"/>
                  <p:cNvCxnSpPr>
                    <a:endCxn id="91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" name="Straight Connector 195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6" name="Group 184"/>
                <p:cNvGrpSpPr/>
                <p:nvPr/>
              </p:nvGrpSpPr>
              <p:grpSpPr>
                <a:xfrm>
                  <a:off x="1770362" y="2873352"/>
                  <a:ext cx="414737" cy="478613"/>
                  <a:chOff x="667045" y="1708643"/>
                  <a:chExt cx="414737" cy="478613"/>
                </a:xfrm>
              </p:grpSpPr>
              <p:sp>
                <p:nvSpPr>
                  <p:cNvPr id="87" name="Oval 185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8" name="TextBox 87"/>
                  <p:cNvSpPr txBox="1"/>
                  <p:nvPr/>
                </p:nvSpPr>
                <p:spPr>
                  <a:xfrm>
                    <a:off x="667045" y="1708643"/>
                    <a:ext cx="363970" cy="47861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rPr>
                      <a:t>3b</a:t>
                    </a:r>
                  </a:p>
                </p:txBody>
              </p:sp>
            </p:grpSp>
          </p:grpSp>
          <p:grpSp>
            <p:nvGrpSpPr>
              <p:cNvPr id="37" name="Group 135"/>
              <p:cNvGrpSpPr/>
              <p:nvPr/>
            </p:nvGrpSpPr>
            <p:grpSpPr>
              <a:xfrm>
                <a:off x="1740320" y="4094669"/>
                <a:ext cx="565150" cy="478613"/>
                <a:chOff x="1736090" y="2873352"/>
                <a:chExt cx="565150" cy="478613"/>
              </a:xfrm>
            </p:grpSpPr>
            <p:grpSp>
              <p:nvGrpSpPr>
                <p:cNvPr id="72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76" name="Oval 174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7" name="Rectangle 175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8" name="Oval 176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9" name="Freeform 177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0" name="Freeform 178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1" name="Freeform 179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2" name="Freeform 180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83" name="Straight Connector 181"/>
                  <p:cNvCxnSpPr>
                    <a:endCxn id="78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Straight Connector 182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3" name="Group 171"/>
                <p:cNvGrpSpPr/>
                <p:nvPr/>
              </p:nvGrpSpPr>
              <p:grpSpPr>
                <a:xfrm>
                  <a:off x="1770362" y="2873352"/>
                  <a:ext cx="414737" cy="478613"/>
                  <a:chOff x="667045" y="1708643"/>
                  <a:chExt cx="414737" cy="478613"/>
                </a:xfrm>
              </p:grpSpPr>
              <p:sp>
                <p:nvSpPr>
                  <p:cNvPr id="74" name="Oval 172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5" name="TextBox 74"/>
                  <p:cNvSpPr txBox="1"/>
                  <p:nvPr/>
                </p:nvSpPr>
                <p:spPr>
                  <a:xfrm>
                    <a:off x="667045" y="1708643"/>
                    <a:ext cx="363970" cy="47861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rPr>
                      <a:t>3d</a:t>
                    </a:r>
                  </a:p>
                </p:txBody>
              </p:sp>
            </p:grpSp>
          </p:grpSp>
          <p:grpSp>
            <p:nvGrpSpPr>
              <p:cNvPr id="38" name="Group 136"/>
              <p:cNvGrpSpPr/>
              <p:nvPr/>
            </p:nvGrpSpPr>
            <p:grpSpPr>
              <a:xfrm>
                <a:off x="2601806" y="3485072"/>
                <a:ext cx="565150" cy="478613"/>
                <a:chOff x="1736090" y="2873352"/>
                <a:chExt cx="565150" cy="478613"/>
              </a:xfrm>
            </p:grpSpPr>
            <p:grpSp>
              <p:nvGrpSpPr>
                <p:cNvPr id="59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63" name="Oval 161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4" name="Rectangle 162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5" name="Oval 163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6" name="Freeform 164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7" name="Freeform 165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8" name="Freeform 166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9" name="Freeform 167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70" name="Straight Connector 168"/>
                  <p:cNvCxnSpPr>
                    <a:endCxn id="65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Straight Connector 169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0" name="Group 158"/>
                <p:cNvGrpSpPr/>
                <p:nvPr/>
              </p:nvGrpSpPr>
              <p:grpSpPr>
                <a:xfrm>
                  <a:off x="1770362" y="2873352"/>
                  <a:ext cx="414737" cy="478613"/>
                  <a:chOff x="667045" y="1708643"/>
                  <a:chExt cx="414737" cy="478613"/>
                </a:xfrm>
              </p:grpSpPr>
              <p:sp>
                <p:nvSpPr>
                  <p:cNvPr id="61" name="Oval 159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2" name="TextBox 61"/>
                  <p:cNvSpPr txBox="1"/>
                  <p:nvPr/>
                </p:nvSpPr>
                <p:spPr>
                  <a:xfrm>
                    <a:off x="667045" y="1708643"/>
                    <a:ext cx="340077" cy="47861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rPr>
                      <a:t>3c</a:t>
                    </a:r>
                  </a:p>
                </p:txBody>
              </p:sp>
            </p:grpSp>
          </p:grpSp>
          <p:grpSp>
            <p:nvGrpSpPr>
              <p:cNvPr id="39" name="Group 137"/>
              <p:cNvGrpSpPr/>
              <p:nvPr/>
            </p:nvGrpSpPr>
            <p:grpSpPr>
              <a:xfrm>
                <a:off x="833331" y="3478719"/>
                <a:ext cx="565150" cy="478613"/>
                <a:chOff x="1736090" y="2873352"/>
                <a:chExt cx="565150" cy="478613"/>
              </a:xfrm>
            </p:grpSpPr>
            <p:grpSp>
              <p:nvGrpSpPr>
                <p:cNvPr id="46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0" name="Oval 148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1" name="Rectangle 149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2" name="Oval 150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" name="Freeform 151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4" name="Freeform 152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5" name="Freeform 153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6" name="Freeform 154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57" name="Straight Connector 155"/>
                  <p:cNvCxnSpPr>
                    <a:endCxn id="52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Straight Connector 156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7" name="Group 145"/>
                <p:cNvGrpSpPr/>
                <p:nvPr/>
              </p:nvGrpSpPr>
              <p:grpSpPr>
                <a:xfrm>
                  <a:off x="1770362" y="2873352"/>
                  <a:ext cx="414737" cy="478613"/>
                  <a:chOff x="667045" y="1708643"/>
                  <a:chExt cx="414737" cy="478613"/>
                </a:xfrm>
              </p:grpSpPr>
              <p:sp>
                <p:nvSpPr>
                  <p:cNvPr id="48" name="Oval 146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9" name="TextBox 48"/>
                  <p:cNvSpPr txBox="1"/>
                  <p:nvPr/>
                </p:nvSpPr>
                <p:spPr>
                  <a:xfrm>
                    <a:off x="667045" y="1708643"/>
                    <a:ext cx="349368" cy="47861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rPr>
                      <a:t>3a</a:t>
                    </a:r>
                  </a:p>
                </p:txBody>
              </p:sp>
            </p:grpSp>
          </p:grpSp>
          <p:cxnSp>
            <p:nvCxnSpPr>
              <p:cNvPr id="40" name="Straight Connector 138"/>
              <p:cNvCxnSpPr>
                <a:stCxn id="88" idx="2"/>
                <a:endCxn id="75" idx="0"/>
              </p:cNvCxnSpPr>
              <p:nvPr/>
            </p:nvCxnSpPr>
            <p:spPr bwMode="auto">
              <a:xfrm>
                <a:off x="1952347" y="3351965"/>
                <a:ext cx="4230" cy="742704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" name="Straight Connector 139"/>
              <p:cNvCxnSpPr/>
              <p:nvPr/>
            </p:nvCxnSpPr>
            <p:spPr bwMode="auto">
              <a:xfrm>
                <a:off x="1407477" y="3648621"/>
                <a:ext cx="1204913" cy="635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2" name="Straight Connector 140"/>
              <p:cNvCxnSpPr>
                <a:stCxn id="89" idx="7"/>
              </p:cNvCxnSpPr>
              <p:nvPr/>
            </p:nvCxnSpPr>
            <p:spPr bwMode="auto">
              <a:xfrm>
                <a:off x="2218708" y="3154477"/>
                <a:ext cx="480042" cy="36977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3" name="Straight Connector 141"/>
              <p:cNvCxnSpPr/>
              <p:nvPr/>
            </p:nvCxnSpPr>
            <p:spPr bwMode="auto">
              <a:xfrm>
                <a:off x="1300073" y="3786304"/>
                <a:ext cx="477927" cy="35707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4" name="Straight Connector 142"/>
              <p:cNvCxnSpPr/>
              <p:nvPr/>
            </p:nvCxnSpPr>
            <p:spPr bwMode="auto">
              <a:xfrm flipH="1">
                <a:off x="2196042" y="3783542"/>
                <a:ext cx="508002" cy="34925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5" name="Straight Connector 143"/>
              <p:cNvCxnSpPr/>
              <p:nvPr/>
            </p:nvCxnSpPr>
            <p:spPr bwMode="auto">
              <a:xfrm flipH="1">
                <a:off x="1287553" y="3166946"/>
                <a:ext cx="508002" cy="34925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11" name="Straight Connector 127"/>
            <p:cNvCxnSpPr/>
            <p:nvPr/>
          </p:nvCxnSpPr>
          <p:spPr bwMode="auto">
            <a:xfrm flipH="1" flipV="1">
              <a:off x="3046706" y="4828455"/>
              <a:ext cx="480877" cy="74409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Straight Connector 128"/>
            <p:cNvCxnSpPr/>
            <p:nvPr/>
          </p:nvCxnSpPr>
          <p:spPr bwMode="auto">
            <a:xfrm flipV="1">
              <a:off x="5523188" y="4769573"/>
              <a:ext cx="337735" cy="823128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3" name="TextBox 12"/>
            <p:cNvSpPr txBox="1"/>
            <p:nvPr/>
          </p:nvSpPr>
          <p:spPr>
            <a:xfrm>
              <a:off x="3493291" y="4926777"/>
              <a:ext cx="538367" cy="4678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rPr>
                <a:t>AS 2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543950" y="3840074"/>
              <a:ext cx="538367" cy="4678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rPr>
                <a:t>AS 3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29020" y="4050751"/>
              <a:ext cx="538367" cy="4678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rPr>
                <a:t>AS 1</a:t>
              </a:r>
            </a:p>
          </p:txBody>
        </p:sp>
        <p:grpSp>
          <p:nvGrpSpPr>
            <p:cNvPr id="16" name="Group 10"/>
            <p:cNvGrpSpPr/>
            <p:nvPr/>
          </p:nvGrpSpPr>
          <p:grpSpPr>
            <a:xfrm>
              <a:off x="7070827" y="4901682"/>
              <a:ext cx="1701734" cy="616172"/>
              <a:chOff x="7073692" y="5469792"/>
              <a:chExt cx="1701734" cy="616172"/>
            </a:xfrm>
          </p:grpSpPr>
          <p:grpSp>
            <p:nvGrpSpPr>
              <p:cNvPr id="20" name="Group 9"/>
              <p:cNvGrpSpPr/>
              <p:nvPr/>
            </p:nvGrpSpPr>
            <p:grpSpPr>
              <a:xfrm>
                <a:off x="7073692" y="5469792"/>
                <a:ext cx="1701734" cy="616172"/>
                <a:chOff x="6946249" y="5096269"/>
                <a:chExt cx="1701734" cy="616172"/>
              </a:xfrm>
            </p:grpSpPr>
            <p:sp>
              <p:nvSpPr>
                <p:cNvPr id="22" name="Freeform 2"/>
                <p:cNvSpPr>
                  <a:spLocks/>
                </p:cNvSpPr>
                <p:nvPr/>
              </p:nvSpPr>
              <p:spPr bwMode="auto">
                <a:xfrm>
                  <a:off x="6946249" y="5096269"/>
                  <a:ext cx="1701734" cy="616172"/>
                </a:xfrm>
                <a:custGeom>
                  <a:avLst/>
                  <a:gdLst>
                    <a:gd name="T0" fmla="*/ 648763 w 10001"/>
                    <a:gd name="T1" fmla="*/ 34777612 h 10125"/>
                    <a:gd name="T2" fmla="*/ 115976403 w 10001"/>
                    <a:gd name="T3" fmla="*/ 13733703 h 10125"/>
                    <a:gd name="T4" fmla="*/ 507700960 w 10001"/>
                    <a:gd name="T5" fmla="*/ 8662125 h 10125"/>
                    <a:gd name="T6" fmla="*/ 810212713 w 10001"/>
                    <a:gd name="T7" fmla="*/ 0 h 10125"/>
                    <a:gd name="T8" fmla="*/ 1090015738 w 10001"/>
                    <a:gd name="T9" fmla="*/ 8687929 h 10125"/>
                    <a:gd name="T10" fmla="*/ 1310938763 w 10001"/>
                    <a:gd name="T11" fmla="*/ 4279362 h 10125"/>
                    <a:gd name="T12" fmla="*/ 1620263134 w 10001"/>
                    <a:gd name="T13" fmla="*/ 25736690 h 10125"/>
                    <a:gd name="T14" fmla="*/ 1394798364 w 10001"/>
                    <a:gd name="T15" fmla="*/ 58525268 h 10125"/>
                    <a:gd name="T16" fmla="*/ 1134622140 w 10001"/>
                    <a:gd name="T17" fmla="*/ 80266624 h 10125"/>
                    <a:gd name="T18" fmla="*/ 860820276 w 10001"/>
                    <a:gd name="T19" fmla="*/ 76142271 h 10125"/>
                    <a:gd name="T20" fmla="*/ 708996782 w 10001"/>
                    <a:gd name="T21" fmla="*/ 85346835 h 10125"/>
                    <a:gd name="T22" fmla="*/ 509322667 w 10001"/>
                    <a:gd name="T23" fmla="*/ 86268164 h 10125"/>
                    <a:gd name="T24" fmla="*/ 353443899 w 10001"/>
                    <a:gd name="T25" fmla="*/ 67979516 h 10125"/>
                    <a:gd name="T26" fmla="*/ 192536914 w 10001"/>
                    <a:gd name="T27" fmla="*/ 64535347 h 10125"/>
                    <a:gd name="T28" fmla="*/ 648763 w 10001"/>
                    <a:gd name="T29" fmla="*/ 34777612 h 1012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connsiteX0" fmla="*/ 4 w 10040"/>
                    <a:gd name="connsiteY0" fmla="*/ 4039 h 10125"/>
                    <a:gd name="connsiteX1" fmla="*/ 715 w 10040"/>
                    <a:gd name="connsiteY1" fmla="*/ 1595 h 10125"/>
                    <a:gd name="connsiteX2" fmla="*/ 3130 w 10040"/>
                    <a:gd name="connsiteY2" fmla="*/ 1006 h 10125"/>
                    <a:gd name="connsiteX3" fmla="*/ 4995 w 10040"/>
                    <a:gd name="connsiteY3" fmla="*/ 0 h 10125"/>
                    <a:gd name="connsiteX4" fmla="*/ 6720 w 10040"/>
                    <a:gd name="connsiteY4" fmla="*/ 1009 h 10125"/>
                    <a:gd name="connsiteX5" fmla="*/ 9989 w 10040"/>
                    <a:gd name="connsiteY5" fmla="*/ 2989 h 10125"/>
                    <a:gd name="connsiteX6" fmla="*/ 8599 w 10040"/>
                    <a:gd name="connsiteY6" fmla="*/ 6797 h 10125"/>
                    <a:gd name="connsiteX7" fmla="*/ 6995 w 10040"/>
                    <a:gd name="connsiteY7" fmla="*/ 9322 h 10125"/>
                    <a:gd name="connsiteX8" fmla="*/ 5307 w 10040"/>
                    <a:gd name="connsiteY8" fmla="*/ 8843 h 10125"/>
                    <a:gd name="connsiteX9" fmla="*/ 4371 w 10040"/>
                    <a:gd name="connsiteY9" fmla="*/ 9912 h 10125"/>
                    <a:gd name="connsiteX10" fmla="*/ 3140 w 10040"/>
                    <a:gd name="connsiteY10" fmla="*/ 10019 h 10125"/>
                    <a:gd name="connsiteX11" fmla="*/ 2179 w 10040"/>
                    <a:gd name="connsiteY11" fmla="*/ 7895 h 10125"/>
                    <a:gd name="connsiteX12" fmla="*/ 1187 w 10040"/>
                    <a:gd name="connsiteY12" fmla="*/ 7495 h 10125"/>
                    <a:gd name="connsiteX13" fmla="*/ 4 w 10040"/>
                    <a:gd name="connsiteY13" fmla="*/ 4039 h 10125"/>
                    <a:gd name="connsiteX0" fmla="*/ 4 w 8600"/>
                    <a:gd name="connsiteY0" fmla="*/ 4042 h 10128"/>
                    <a:gd name="connsiteX1" fmla="*/ 715 w 8600"/>
                    <a:gd name="connsiteY1" fmla="*/ 1598 h 10128"/>
                    <a:gd name="connsiteX2" fmla="*/ 3130 w 8600"/>
                    <a:gd name="connsiteY2" fmla="*/ 1009 h 10128"/>
                    <a:gd name="connsiteX3" fmla="*/ 4995 w 8600"/>
                    <a:gd name="connsiteY3" fmla="*/ 3 h 10128"/>
                    <a:gd name="connsiteX4" fmla="*/ 6720 w 8600"/>
                    <a:gd name="connsiteY4" fmla="*/ 1012 h 10128"/>
                    <a:gd name="connsiteX5" fmla="*/ 8599 w 8600"/>
                    <a:gd name="connsiteY5" fmla="*/ 6800 h 10128"/>
                    <a:gd name="connsiteX6" fmla="*/ 6995 w 8600"/>
                    <a:gd name="connsiteY6" fmla="*/ 9325 h 10128"/>
                    <a:gd name="connsiteX7" fmla="*/ 5307 w 8600"/>
                    <a:gd name="connsiteY7" fmla="*/ 8846 h 10128"/>
                    <a:gd name="connsiteX8" fmla="*/ 4371 w 8600"/>
                    <a:gd name="connsiteY8" fmla="*/ 9915 h 10128"/>
                    <a:gd name="connsiteX9" fmla="*/ 3140 w 8600"/>
                    <a:gd name="connsiteY9" fmla="*/ 10022 h 10128"/>
                    <a:gd name="connsiteX10" fmla="*/ 2179 w 8600"/>
                    <a:gd name="connsiteY10" fmla="*/ 7898 h 10128"/>
                    <a:gd name="connsiteX11" fmla="*/ 1187 w 8600"/>
                    <a:gd name="connsiteY11" fmla="*/ 7498 h 10128"/>
                    <a:gd name="connsiteX12" fmla="*/ 4 w 8600"/>
                    <a:gd name="connsiteY12" fmla="*/ 4042 h 10128"/>
                    <a:gd name="connsiteX0" fmla="*/ 4 w 9326"/>
                    <a:gd name="connsiteY0" fmla="*/ 3988 h 9997"/>
                    <a:gd name="connsiteX1" fmla="*/ 830 w 9326"/>
                    <a:gd name="connsiteY1" fmla="*/ 1575 h 9997"/>
                    <a:gd name="connsiteX2" fmla="*/ 3639 w 9326"/>
                    <a:gd name="connsiteY2" fmla="*/ 993 h 9997"/>
                    <a:gd name="connsiteX3" fmla="*/ 5807 w 9326"/>
                    <a:gd name="connsiteY3" fmla="*/ 0 h 9997"/>
                    <a:gd name="connsiteX4" fmla="*/ 7813 w 9326"/>
                    <a:gd name="connsiteY4" fmla="*/ 996 h 9997"/>
                    <a:gd name="connsiteX5" fmla="*/ 9324 w 9326"/>
                    <a:gd name="connsiteY5" fmla="*/ 5746 h 9997"/>
                    <a:gd name="connsiteX6" fmla="*/ 8133 w 9326"/>
                    <a:gd name="connsiteY6" fmla="*/ 9204 h 9997"/>
                    <a:gd name="connsiteX7" fmla="*/ 6170 w 9326"/>
                    <a:gd name="connsiteY7" fmla="*/ 8731 h 9997"/>
                    <a:gd name="connsiteX8" fmla="*/ 5082 w 9326"/>
                    <a:gd name="connsiteY8" fmla="*/ 9787 h 9997"/>
                    <a:gd name="connsiteX9" fmla="*/ 3650 w 9326"/>
                    <a:gd name="connsiteY9" fmla="*/ 9892 h 9997"/>
                    <a:gd name="connsiteX10" fmla="*/ 2533 w 9326"/>
                    <a:gd name="connsiteY10" fmla="*/ 7795 h 9997"/>
                    <a:gd name="connsiteX11" fmla="*/ 1379 w 9326"/>
                    <a:gd name="connsiteY11" fmla="*/ 7400 h 9997"/>
                    <a:gd name="connsiteX12" fmla="*/ 4 w 9326"/>
                    <a:gd name="connsiteY12" fmla="*/ 3988 h 9997"/>
                    <a:gd name="connsiteX0" fmla="*/ 4 w 10001"/>
                    <a:gd name="connsiteY0" fmla="*/ 3989 h 10041"/>
                    <a:gd name="connsiteX1" fmla="*/ 890 w 10001"/>
                    <a:gd name="connsiteY1" fmla="*/ 1575 h 10041"/>
                    <a:gd name="connsiteX2" fmla="*/ 3902 w 10001"/>
                    <a:gd name="connsiteY2" fmla="*/ 993 h 10041"/>
                    <a:gd name="connsiteX3" fmla="*/ 6227 w 10001"/>
                    <a:gd name="connsiteY3" fmla="*/ 0 h 10041"/>
                    <a:gd name="connsiteX4" fmla="*/ 8378 w 10001"/>
                    <a:gd name="connsiteY4" fmla="*/ 996 h 10041"/>
                    <a:gd name="connsiteX5" fmla="*/ 9998 w 10001"/>
                    <a:gd name="connsiteY5" fmla="*/ 5748 h 10041"/>
                    <a:gd name="connsiteX6" fmla="*/ 8721 w 10001"/>
                    <a:gd name="connsiteY6" fmla="*/ 9207 h 10041"/>
                    <a:gd name="connsiteX7" fmla="*/ 5449 w 10001"/>
                    <a:gd name="connsiteY7" fmla="*/ 9790 h 10041"/>
                    <a:gd name="connsiteX8" fmla="*/ 3914 w 10001"/>
                    <a:gd name="connsiteY8" fmla="*/ 9895 h 10041"/>
                    <a:gd name="connsiteX9" fmla="*/ 2716 w 10001"/>
                    <a:gd name="connsiteY9" fmla="*/ 7797 h 10041"/>
                    <a:gd name="connsiteX10" fmla="*/ 1479 w 10001"/>
                    <a:gd name="connsiteY10" fmla="*/ 7402 h 10041"/>
                    <a:gd name="connsiteX11" fmla="*/ 4 w 10001"/>
                    <a:gd name="connsiteY11" fmla="*/ 3989 h 10041"/>
                    <a:gd name="connsiteX0" fmla="*/ 4 w 10001"/>
                    <a:gd name="connsiteY0" fmla="*/ 3989 h 14825"/>
                    <a:gd name="connsiteX1" fmla="*/ 890 w 10001"/>
                    <a:gd name="connsiteY1" fmla="*/ 1575 h 14825"/>
                    <a:gd name="connsiteX2" fmla="*/ 3902 w 10001"/>
                    <a:gd name="connsiteY2" fmla="*/ 993 h 14825"/>
                    <a:gd name="connsiteX3" fmla="*/ 6227 w 10001"/>
                    <a:gd name="connsiteY3" fmla="*/ 0 h 14825"/>
                    <a:gd name="connsiteX4" fmla="*/ 8378 w 10001"/>
                    <a:gd name="connsiteY4" fmla="*/ 996 h 14825"/>
                    <a:gd name="connsiteX5" fmla="*/ 9998 w 10001"/>
                    <a:gd name="connsiteY5" fmla="*/ 5748 h 14825"/>
                    <a:gd name="connsiteX6" fmla="*/ 8721 w 10001"/>
                    <a:gd name="connsiteY6" fmla="*/ 9207 h 14825"/>
                    <a:gd name="connsiteX7" fmla="*/ 6011 w 10001"/>
                    <a:gd name="connsiteY7" fmla="*/ 14823 h 14825"/>
                    <a:gd name="connsiteX8" fmla="*/ 3914 w 10001"/>
                    <a:gd name="connsiteY8" fmla="*/ 9895 h 14825"/>
                    <a:gd name="connsiteX9" fmla="*/ 2716 w 10001"/>
                    <a:gd name="connsiteY9" fmla="*/ 7797 h 14825"/>
                    <a:gd name="connsiteX10" fmla="*/ 1479 w 10001"/>
                    <a:gd name="connsiteY10" fmla="*/ 7402 h 14825"/>
                    <a:gd name="connsiteX11" fmla="*/ 4 w 10001"/>
                    <a:gd name="connsiteY11" fmla="*/ 3989 h 14825"/>
                    <a:gd name="connsiteX0" fmla="*/ 4 w 10001"/>
                    <a:gd name="connsiteY0" fmla="*/ 7436 h 18272"/>
                    <a:gd name="connsiteX1" fmla="*/ 890 w 10001"/>
                    <a:gd name="connsiteY1" fmla="*/ 5022 h 18272"/>
                    <a:gd name="connsiteX2" fmla="*/ 3902 w 10001"/>
                    <a:gd name="connsiteY2" fmla="*/ 4440 h 18272"/>
                    <a:gd name="connsiteX3" fmla="*/ 6026 w 10001"/>
                    <a:gd name="connsiteY3" fmla="*/ 0 h 18272"/>
                    <a:gd name="connsiteX4" fmla="*/ 8378 w 10001"/>
                    <a:gd name="connsiteY4" fmla="*/ 4443 h 18272"/>
                    <a:gd name="connsiteX5" fmla="*/ 9998 w 10001"/>
                    <a:gd name="connsiteY5" fmla="*/ 9195 h 18272"/>
                    <a:gd name="connsiteX6" fmla="*/ 8721 w 10001"/>
                    <a:gd name="connsiteY6" fmla="*/ 12654 h 18272"/>
                    <a:gd name="connsiteX7" fmla="*/ 6011 w 10001"/>
                    <a:gd name="connsiteY7" fmla="*/ 18270 h 18272"/>
                    <a:gd name="connsiteX8" fmla="*/ 3914 w 10001"/>
                    <a:gd name="connsiteY8" fmla="*/ 13342 h 18272"/>
                    <a:gd name="connsiteX9" fmla="*/ 2716 w 10001"/>
                    <a:gd name="connsiteY9" fmla="*/ 11244 h 18272"/>
                    <a:gd name="connsiteX10" fmla="*/ 1479 w 10001"/>
                    <a:gd name="connsiteY10" fmla="*/ 10849 h 18272"/>
                    <a:gd name="connsiteX11" fmla="*/ 4 w 10001"/>
                    <a:gd name="connsiteY11" fmla="*/ 7436 h 18272"/>
                    <a:gd name="connsiteX0" fmla="*/ 1 w 9998"/>
                    <a:gd name="connsiteY0" fmla="*/ 7436 h 18272"/>
                    <a:gd name="connsiteX1" fmla="*/ 3899 w 9998"/>
                    <a:gd name="connsiteY1" fmla="*/ 4440 h 18272"/>
                    <a:gd name="connsiteX2" fmla="*/ 6023 w 9998"/>
                    <a:gd name="connsiteY2" fmla="*/ 0 h 18272"/>
                    <a:gd name="connsiteX3" fmla="*/ 8375 w 9998"/>
                    <a:gd name="connsiteY3" fmla="*/ 4443 h 18272"/>
                    <a:gd name="connsiteX4" fmla="*/ 9995 w 9998"/>
                    <a:gd name="connsiteY4" fmla="*/ 9195 h 18272"/>
                    <a:gd name="connsiteX5" fmla="*/ 8718 w 9998"/>
                    <a:gd name="connsiteY5" fmla="*/ 12654 h 18272"/>
                    <a:gd name="connsiteX6" fmla="*/ 6008 w 9998"/>
                    <a:gd name="connsiteY6" fmla="*/ 18270 h 18272"/>
                    <a:gd name="connsiteX7" fmla="*/ 3911 w 9998"/>
                    <a:gd name="connsiteY7" fmla="*/ 13342 h 18272"/>
                    <a:gd name="connsiteX8" fmla="*/ 2713 w 9998"/>
                    <a:gd name="connsiteY8" fmla="*/ 11244 h 18272"/>
                    <a:gd name="connsiteX9" fmla="*/ 1476 w 9998"/>
                    <a:gd name="connsiteY9" fmla="*/ 10849 h 18272"/>
                    <a:gd name="connsiteX10" fmla="*/ 1 w 9998"/>
                    <a:gd name="connsiteY10" fmla="*/ 7436 h 18272"/>
                    <a:gd name="connsiteX0" fmla="*/ 35 w 8559"/>
                    <a:gd name="connsiteY0" fmla="*/ 5938 h 10000"/>
                    <a:gd name="connsiteX1" fmla="*/ 2459 w 8559"/>
                    <a:gd name="connsiteY1" fmla="*/ 2430 h 10000"/>
                    <a:gd name="connsiteX2" fmla="*/ 4583 w 8559"/>
                    <a:gd name="connsiteY2" fmla="*/ 0 h 10000"/>
                    <a:gd name="connsiteX3" fmla="*/ 6936 w 8559"/>
                    <a:gd name="connsiteY3" fmla="*/ 2432 h 10000"/>
                    <a:gd name="connsiteX4" fmla="*/ 8556 w 8559"/>
                    <a:gd name="connsiteY4" fmla="*/ 5032 h 10000"/>
                    <a:gd name="connsiteX5" fmla="*/ 7279 w 8559"/>
                    <a:gd name="connsiteY5" fmla="*/ 6925 h 10000"/>
                    <a:gd name="connsiteX6" fmla="*/ 4568 w 8559"/>
                    <a:gd name="connsiteY6" fmla="*/ 9999 h 10000"/>
                    <a:gd name="connsiteX7" fmla="*/ 2471 w 8559"/>
                    <a:gd name="connsiteY7" fmla="*/ 7302 h 10000"/>
                    <a:gd name="connsiteX8" fmla="*/ 1273 w 8559"/>
                    <a:gd name="connsiteY8" fmla="*/ 6154 h 10000"/>
                    <a:gd name="connsiteX9" fmla="*/ 35 w 8559"/>
                    <a:gd name="connsiteY9" fmla="*/ 5938 h 10000"/>
                    <a:gd name="connsiteX0" fmla="*/ 49 w 9820"/>
                    <a:gd name="connsiteY0" fmla="*/ 4655 h 10000"/>
                    <a:gd name="connsiteX1" fmla="*/ 2693 w 9820"/>
                    <a:gd name="connsiteY1" fmla="*/ 2430 h 10000"/>
                    <a:gd name="connsiteX2" fmla="*/ 5175 w 9820"/>
                    <a:gd name="connsiteY2" fmla="*/ 0 h 10000"/>
                    <a:gd name="connsiteX3" fmla="*/ 7924 w 9820"/>
                    <a:gd name="connsiteY3" fmla="*/ 2432 h 10000"/>
                    <a:gd name="connsiteX4" fmla="*/ 9816 w 9820"/>
                    <a:gd name="connsiteY4" fmla="*/ 5032 h 10000"/>
                    <a:gd name="connsiteX5" fmla="*/ 8324 w 9820"/>
                    <a:gd name="connsiteY5" fmla="*/ 6925 h 10000"/>
                    <a:gd name="connsiteX6" fmla="*/ 5157 w 9820"/>
                    <a:gd name="connsiteY6" fmla="*/ 9999 h 10000"/>
                    <a:gd name="connsiteX7" fmla="*/ 2707 w 9820"/>
                    <a:gd name="connsiteY7" fmla="*/ 7302 h 10000"/>
                    <a:gd name="connsiteX8" fmla="*/ 1307 w 9820"/>
                    <a:gd name="connsiteY8" fmla="*/ 6154 h 10000"/>
                    <a:gd name="connsiteX9" fmla="*/ 49 w 9820"/>
                    <a:gd name="connsiteY9" fmla="*/ 4655 h 10000"/>
                    <a:gd name="connsiteX0" fmla="*/ 45 w 9995"/>
                    <a:gd name="connsiteY0" fmla="*/ 4655 h 10000"/>
                    <a:gd name="connsiteX1" fmla="*/ 2737 w 9995"/>
                    <a:gd name="connsiteY1" fmla="*/ 2430 h 10000"/>
                    <a:gd name="connsiteX2" fmla="*/ 5265 w 9995"/>
                    <a:gd name="connsiteY2" fmla="*/ 0 h 10000"/>
                    <a:gd name="connsiteX3" fmla="*/ 8064 w 9995"/>
                    <a:gd name="connsiteY3" fmla="*/ 2432 h 10000"/>
                    <a:gd name="connsiteX4" fmla="*/ 9991 w 9995"/>
                    <a:gd name="connsiteY4" fmla="*/ 5032 h 10000"/>
                    <a:gd name="connsiteX5" fmla="*/ 8472 w 9995"/>
                    <a:gd name="connsiteY5" fmla="*/ 6925 h 10000"/>
                    <a:gd name="connsiteX6" fmla="*/ 5247 w 9995"/>
                    <a:gd name="connsiteY6" fmla="*/ 9999 h 10000"/>
                    <a:gd name="connsiteX7" fmla="*/ 2752 w 9995"/>
                    <a:gd name="connsiteY7" fmla="*/ 7302 h 10000"/>
                    <a:gd name="connsiteX8" fmla="*/ 1374 w 9995"/>
                    <a:gd name="connsiteY8" fmla="*/ 6984 h 10000"/>
                    <a:gd name="connsiteX9" fmla="*/ 45 w 9995"/>
                    <a:gd name="connsiteY9" fmla="*/ 4655 h 10000"/>
                    <a:gd name="connsiteX0" fmla="*/ 45 w 10000"/>
                    <a:gd name="connsiteY0" fmla="*/ 5032 h 10377"/>
                    <a:gd name="connsiteX1" fmla="*/ 2738 w 10000"/>
                    <a:gd name="connsiteY1" fmla="*/ 2807 h 10377"/>
                    <a:gd name="connsiteX2" fmla="*/ 4886 w 10000"/>
                    <a:gd name="connsiteY2" fmla="*/ 0 h 10377"/>
                    <a:gd name="connsiteX3" fmla="*/ 8068 w 10000"/>
                    <a:gd name="connsiteY3" fmla="*/ 2809 h 10377"/>
                    <a:gd name="connsiteX4" fmla="*/ 9996 w 10000"/>
                    <a:gd name="connsiteY4" fmla="*/ 5409 h 10377"/>
                    <a:gd name="connsiteX5" fmla="*/ 8476 w 10000"/>
                    <a:gd name="connsiteY5" fmla="*/ 7302 h 10377"/>
                    <a:gd name="connsiteX6" fmla="*/ 5250 w 10000"/>
                    <a:gd name="connsiteY6" fmla="*/ 10376 h 10377"/>
                    <a:gd name="connsiteX7" fmla="*/ 2753 w 10000"/>
                    <a:gd name="connsiteY7" fmla="*/ 7679 h 10377"/>
                    <a:gd name="connsiteX8" fmla="*/ 1375 w 10000"/>
                    <a:gd name="connsiteY8" fmla="*/ 7361 h 10377"/>
                    <a:gd name="connsiteX9" fmla="*/ 45 w 10000"/>
                    <a:gd name="connsiteY9" fmla="*/ 5032 h 10377"/>
                    <a:gd name="connsiteX0" fmla="*/ 45 w 10000"/>
                    <a:gd name="connsiteY0" fmla="*/ 5036 h 10381"/>
                    <a:gd name="connsiteX1" fmla="*/ 2738 w 10000"/>
                    <a:gd name="connsiteY1" fmla="*/ 2811 h 10381"/>
                    <a:gd name="connsiteX2" fmla="*/ 4886 w 10000"/>
                    <a:gd name="connsiteY2" fmla="*/ 4 h 10381"/>
                    <a:gd name="connsiteX3" fmla="*/ 8068 w 10000"/>
                    <a:gd name="connsiteY3" fmla="*/ 2813 h 10381"/>
                    <a:gd name="connsiteX4" fmla="*/ 9996 w 10000"/>
                    <a:gd name="connsiteY4" fmla="*/ 5413 h 10381"/>
                    <a:gd name="connsiteX5" fmla="*/ 8476 w 10000"/>
                    <a:gd name="connsiteY5" fmla="*/ 7306 h 10381"/>
                    <a:gd name="connsiteX6" fmla="*/ 5250 w 10000"/>
                    <a:gd name="connsiteY6" fmla="*/ 10380 h 10381"/>
                    <a:gd name="connsiteX7" fmla="*/ 2753 w 10000"/>
                    <a:gd name="connsiteY7" fmla="*/ 7683 h 10381"/>
                    <a:gd name="connsiteX8" fmla="*/ 1375 w 10000"/>
                    <a:gd name="connsiteY8" fmla="*/ 7365 h 10381"/>
                    <a:gd name="connsiteX9" fmla="*/ 45 w 10000"/>
                    <a:gd name="connsiteY9" fmla="*/ 5036 h 10381"/>
                    <a:gd name="connsiteX0" fmla="*/ 45 w 10000"/>
                    <a:gd name="connsiteY0" fmla="*/ 5036 h 10796"/>
                    <a:gd name="connsiteX1" fmla="*/ 2738 w 10000"/>
                    <a:gd name="connsiteY1" fmla="*/ 2811 h 10796"/>
                    <a:gd name="connsiteX2" fmla="*/ 4886 w 10000"/>
                    <a:gd name="connsiteY2" fmla="*/ 4 h 10796"/>
                    <a:gd name="connsiteX3" fmla="*/ 8068 w 10000"/>
                    <a:gd name="connsiteY3" fmla="*/ 2813 h 10796"/>
                    <a:gd name="connsiteX4" fmla="*/ 9996 w 10000"/>
                    <a:gd name="connsiteY4" fmla="*/ 5413 h 10796"/>
                    <a:gd name="connsiteX5" fmla="*/ 8476 w 10000"/>
                    <a:gd name="connsiteY5" fmla="*/ 7306 h 10796"/>
                    <a:gd name="connsiteX6" fmla="*/ 5202 w 10000"/>
                    <a:gd name="connsiteY6" fmla="*/ 10795 h 10796"/>
                    <a:gd name="connsiteX7" fmla="*/ 2753 w 10000"/>
                    <a:gd name="connsiteY7" fmla="*/ 7683 h 10796"/>
                    <a:gd name="connsiteX8" fmla="*/ 1375 w 10000"/>
                    <a:gd name="connsiteY8" fmla="*/ 7365 h 10796"/>
                    <a:gd name="connsiteX9" fmla="*/ 45 w 10000"/>
                    <a:gd name="connsiteY9" fmla="*/ 5036 h 10796"/>
                    <a:gd name="connsiteX0" fmla="*/ 45 w 10000"/>
                    <a:gd name="connsiteY0" fmla="*/ 5036 h 10795"/>
                    <a:gd name="connsiteX1" fmla="*/ 2738 w 10000"/>
                    <a:gd name="connsiteY1" fmla="*/ 2811 h 10795"/>
                    <a:gd name="connsiteX2" fmla="*/ 4886 w 10000"/>
                    <a:gd name="connsiteY2" fmla="*/ 4 h 10795"/>
                    <a:gd name="connsiteX3" fmla="*/ 8068 w 10000"/>
                    <a:gd name="connsiteY3" fmla="*/ 2813 h 10795"/>
                    <a:gd name="connsiteX4" fmla="*/ 9996 w 10000"/>
                    <a:gd name="connsiteY4" fmla="*/ 5413 h 10795"/>
                    <a:gd name="connsiteX5" fmla="*/ 8476 w 10000"/>
                    <a:gd name="connsiteY5" fmla="*/ 7306 h 10795"/>
                    <a:gd name="connsiteX6" fmla="*/ 5202 w 10000"/>
                    <a:gd name="connsiteY6" fmla="*/ 10795 h 10795"/>
                    <a:gd name="connsiteX7" fmla="*/ 2753 w 10000"/>
                    <a:gd name="connsiteY7" fmla="*/ 7683 h 10795"/>
                    <a:gd name="connsiteX8" fmla="*/ 1375 w 10000"/>
                    <a:gd name="connsiteY8" fmla="*/ 7365 h 10795"/>
                    <a:gd name="connsiteX9" fmla="*/ 45 w 10000"/>
                    <a:gd name="connsiteY9" fmla="*/ 5036 h 10795"/>
                    <a:gd name="connsiteX0" fmla="*/ 45 w 10000"/>
                    <a:gd name="connsiteY0" fmla="*/ 5036 h 10795"/>
                    <a:gd name="connsiteX1" fmla="*/ 2738 w 10000"/>
                    <a:gd name="connsiteY1" fmla="*/ 2811 h 10795"/>
                    <a:gd name="connsiteX2" fmla="*/ 4886 w 10000"/>
                    <a:gd name="connsiteY2" fmla="*/ 4 h 10795"/>
                    <a:gd name="connsiteX3" fmla="*/ 8068 w 10000"/>
                    <a:gd name="connsiteY3" fmla="*/ 2813 h 10795"/>
                    <a:gd name="connsiteX4" fmla="*/ 9996 w 10000"/>
                    <a:gd name="connsiteY4" fmla="*/ 5413 h 10795"/>
                    <a:gd name="connsiteX5" fmla="*/ 8476 w 10000"/>
                    <a:gd name="connsiteY5" fmla="*/ 7306 h 10795"/>
                    <a:gd name="connsiteX6" fmla="*/ 5202 w 10000"/>
                    <a:gd name="connsiteY6" fmla="*/ 10795 h 10795"/>
                    <a:gd name="connsiteX7" fmla="*/ 2753 w 10000"/>
                    <a:gd name="connsiteY7" fmla="*/ 7683 h 10795"/>
                    <a:gd name="connsiteX8" fmla="*/ 1375 w 10000"/>
                    <a:gd name="connsiteY8" fmla="*/ 7365 h 10795"/>
                    <a:gd name="connsiteX9" fmla="*/ 45 w 10000"/>
                    <a:gd name="connsiteY9" fmla="*/ 5036 h 10795"/>
                    <a:gd name="connsiteX0" fmla="*/ 4 w 9959"/>
                    <a:gd name="connsiteY0" fmla="*/ 5593 h 11352"/>
                    <a:gd name="connsiteX1" fmla="*/ 1089 w 9959"/>
                    <a:gd name="connsiteY1" fmla="*/ 469 h 11352"/>
                    <a:gd name="connsiteX2" fmla="*/ 4845 w 9959"/>
                    <a:gd name="connsiteY2" fmla="*/ 561 h 11352"/>
                    <a:gd name="connsiteX3" fmla="*/ 8027 w 9959"/>
                    <a:gd name="connsiteY3" fmla="*/ 3370 h 11352"/>
                    <a:gd name="connsiteX4" fmla="*/ 9955 w 9959"/>
                    <a:gd name="connsiteY4" fmla="*/ 5970 h 11352"/>
                    <a:gd name="connsiteX5" fmla="*/ 8435 w 9959"/>
                    <a:gd name="connsiteY5" fmla="*/ 7863 h 11352"/>
                    <a:gd name="connsiteX6" fmla="*/ 5161 w 9959"/>
                    <a:gd name="connsiteY6" fmla="*/ 11352 h 11352"/>
                    <a:gd name="connsiteX7" fmla="*/ 2712 w 9959"/>
                    <a:gd name="connsiteY7" fmla="*/ 8240 h 11352"/>
                    <a:gd name="connsiteX8" fmla="*/ 1334 w 9959"/>
                    <a:gd name="connsiteY8" fmla="*/ 7922 h 11352"/>
                    <a:gd name="connsiteX9" fmla="*/ 4 w 9959"/>
                    <a:gd name="connsiteY9" fmla="*/ 5593 h 11352"/>
                    <a:gd name="connsiteX0" fmla="*/ 0 w 11223"/>
                    <a:gd name="connsiteY0" fmla="*/ 3835 h 9929"/>
                    <a:gd name="connsiteX1" fmla="*/ 2316 w 11223"/>
                    <a:gd name="connsiteY1" fmla="*/ 342 h 9929"/>
                    <a:gd name="connsiteX2" fmla="*/ 6088 w 11223"/>
                    <a:gd name="connsiteY2" fmla="*/ 423 h 9929"/>
                    <a:gd name="connsiteX3" fmla="*/ 9283 w 11223"/>
                    <a:gd name="connsiteY3" fmla="*/ 2898 h 9929"/>
                    <a:gd name="connsiteX4" fmla="*/ 11219 w 11223"/>
                    <a:gd name="connsiteY4" fmla="*/ 5188 h 9929"/>
                    <a:gd name="connsiteX5" fmla="*/ 9693 w 11223"/>
                    <a:gd name="connsiteY5" fmla="*/ 6856 h 9929"/>
                    <a:gd name="connsiteX6" fmla="*/ 6405 w 11223"/>
                    <a:gd name="connsiteY6" fmla="*/ 9929 h 9929"/>
                    <a:gd name="connsiteX7" fmla="*/ 3946 w 11223"/>
                    <a:gd name="connsiteY7" fmla="*/ 7188 h 9929"/>
                    <a:gd name="connsiteX8" fmla="*/ 2562 w 11223"/>
                    <a:gd name="connsiteY8" fmla="*/ 6908 h 9929"/>
                    <a:gd name="connsiteX9" fmla="*/ 0 w 11223"/>
                    <a:gd name="connsiteY9" fmla="*/ 3835 h 9929"/>
                    <a:gd name="connsiteX0" fmla="*/ 0 w 9999"/>
                    <a:gd name="connsiteY0" fmla="*/ 3862 h 10000"/>
                    <a:gd name="connsiteX1" fmla="*/ 2064 w 9999"/>
                    <a:gd name="connsiteY1" fmla="*/ 344 h 10000"/>
                    <a:gd name="connsiteX2" fmla="*/ 5425 w 9999"/>
                    <a:gd name="connsiteY2" fmla="*/ 426 h 10000"/>
                    <a:gd name="connsiteX3" fmla="*/ 8271 w 9999"/>
                    <a:gd name="connsiteY3" fmla="*/ 2919 h 10000"/>
                    <a:gd name="connsiteX4" fmla="*/ 9996 w 9999"/>
                    <a:gd name="connsiteY4" fmla="*/ 5225 h 10000"/>
                    <a:gd name="connsiteX5" fmla="*/ 8637 w 9999"/>
                    <a:gd name="connsiteY5" fmla="*/ 6905 h 10000"/>
                    <a:gd name="connsiteX6" fmla="*/ 5707 w 9999"/>
                    <a:gd name="connsiteY6" fmla="*/ 10000 h 10000"/>
                    <a:gd name="connsiteX7" fmla="*/ 2283 w 9999"/>
                    <a:gd name="connsiteY7" fmla="*/ 6957 h 10000"/>
                    <a:gd name="connsiteX8" fmla="*/ 0 w 9999"/>
                    <a:gd name="connsiteY8" fmla="*/ 3862 h 10000"/>
                    <a:gd name="connsiteX0" fmla="*/ 124 w 10124"/>
                    <a:gd name="connsiteY0" fmla="*/ 3862 h 10000"/>
                    <a:gd name="connsiteX1" fmla="*/ 2188 w 10124"/>
                    <a:gd name="connsiteY1" fmla="*/ 344 h 10000"/>
                    <a:gd name="connsiteX2" fmla="*/ 5550 w 10124"/>
                    <a:gd name="connsiteY2" fmla="*/ 426 h 10000"/>
                    <a:gd name="connsiteX3" fmla="*/ 8396 w 10124"/>
                    <a:gd name="connsiteY3" fmla="*/ 2919 h 10000"/>
                    <a:gd name="connsiteX4" fmla="*/ 10121 w 10124"/>
                    <a:gd name="connsiteY4" fmla="*/ 5225 h 10000"/>
                    <a:gd name="connsiteX5" fmla="*/ 8762 w 10124"/>
                    <a:gd name="connsiteY5" fmla="*/ 6905 h 10000"/>
                    <a:gd name="connsiteX6" fmla="*/ 5832 w 10124"/>
                    <a:gd name="connsiteY6" fmla="*/ 10000 h 10000"/>
                    <a:gd name="connsiteX7" fmla="*/ 124 w 10124"/>
                    <a:gd name="connsiteY7" fmla="*/ 3862 h 10000"/>
                    <a:gd name="connsiteX0" fmla="*/ 43 w 10045"/>
                    <a:gd name="connsiteY0" fmla="*/ 3862 h 6912"/>
                    <a:gd name="connsiteX1" fmla="*/ 2107 w 10045"/>
                    <a:gd name="connsiteY1" fmla="*/ 344 h 6912"/>
                    <a:gd name="connsiteX2" fmla="*/ 5469 w 10045"/>
                    <a:gd name="connsiteY2" fmla="*/ 426 h 6912"/>
                    <a:gd name="connsiteX3" fmla="*/ 8315 w 10045"/>
                    <a:gd name="connsiteY3" fmla="*/ 2919 h 6912"/>
                    <a:gd name="connsiteX4" fmla="*/ 10040 w 10045"/>
                    <a:gd name="connsiteY4" fmla="*/ 5225 h 6912"/>
                    <a:gd name="connsiteX5" fmla="*/ 8681 w 10045"/>
                    <a:gd name="connsiteY5" fmla="*/ 6905 h 6912"/>
                    <a:gd name="connsiteX6" fmla="*/ 3967 w 10045"/>
                    <a:gd name="connsiteY6" fmla="*/ 5885 h 6912"/>
                    <a:gd name="connsiteX7" fmla="*/ 43 w 10045"/>
                    <a:gd name="connsiteY7" fmla="*/ 3862 h 6912"/>
                    <a:gd name="connsiteX0" fmla="*/ 47 w 10004"/>
                    <a:gd name="connsiteY0" fmla="*/ 5106 h 9519"/>
                    <a:gd name="connsiteX1" fmla="*/ 2102 w 10004"/>
                    <a:gd name="connsiteY1" fmla="*/ 17 h 9519"/>
                    <a:gd name="connsiteX2" fmla="*/ 6651 w 10004"/>
                    <a:gd name="connsiteY2" fmla="*/ 3484 h 9519"/>
                    <a:gd name="connsiteX3" fmla="*/ 8282 w 10004"/>
                    <a:gd name="connsiteY3" fmla="*/ 3742 h 9519"/>
                    <a:gd name="connsiteX4" fmla="*/ 9999 w 10004"/>
                    <a:gd name="connsiteY4" fmla="*/ 7078 h 9519"/>
                    <a:gd name="connsiteX5" fmla="*/ 8646 w 10004"/>
                    <a:gd name="connsiteY5" fmla="*/ 9509 h 9519"/>
                    <a:gd name="connsiteX6" fmla="*/ 3953 w 10004"/>
                    <a:gd name="connsiteY6" fmla="*/ 8033 h 9519"/>
                    <a:gd name="connsiteX7" fmla="*/ 47 w 10004"/>
                    <a:gd name="connsiteY7" fmla="*/ 5106 h 9519"/>
                    <a:gd name="connsiteX0" fmla="*/ 43 w 9996"/>
                    <a:gd name="connsiteY0" fmla="*/ 6232 h 10868"/>
                    <a:gd name="connsiteX1" fmla="*/ 2097 w 9996"/>
                    <a:gd name="connsiteY1" fmla="*/ 886 h 10868"/>
                    <a:gd name="connsiteX2" fmla="*/ 5642 w 9996"/>
                    <a:gd name="connsiteY2" fmla="*/ 385 h 10868"/>
                    <a:gd name="connsiteX3" fmla="*/ 8275 w 9996"/>
                    <a:gd name="connsiteY3" fmla="*/ 4799 h 10868"/>
                    <a:gd name="connsiteX4" fmla="*/ 9991 w 9996"/>
                    <a:gd name="connsiteY4" fmla="*/ 8304 h 10868"/>
                    <a:gd name="connsiteX5" fmla="*/ 8639 w 9996"/>
                    <a:gd name="connsiteY5" fmla="*/ 10857 h 10868"/>
                    <a:gd name="connsiteX6" fmla="*/ 3947 w 9996"/>
                    <a:gd name="connsiteY6" fmla="*/ 9307 h 10868"/>
                    <a:gd name="connsiteX7" fmla="*/ 43 w 9996"/>
                    <a:gd name="connsiteY7" fmla="*/ 6232 h 10868"/>
                    <a:gd name="connsiteX0" fmla="*/ 43 w 10004"/>
                    <a:gd name="connsiteY0" fmla="*/ 5543 h 9809"/>
                    <a:gd name="connsiteX1" fmla="*/ 2098 w 10004"/>
                    <a:gd name="connsiteY1" fmla="*/ 624 h 9809"/>
                    <a:gd name="connsiteX2" fmla="*/ 5644 w 10004"/>
                    <a:gd name="connsiteY2" fmla="*/ 163 h 9809"/>
                    <a:gd name="connsiteX3" fmla="*/ 8163 w 10004"/>
                    <a:gd name="connsiteY3" fmla="*/ 1492 h 9809"/>
                    <a:gd name="connsiteX4" fmla="*/ 9995 w 10004"/>
                    <a:gd name="connsiteY4" fmla="*/ 7450 h 9809"/>
                    <a:gd name="connsiteX5" fmla="*/ 8642 w 10004"/>
                    <a:gd name="connsiteY5" fmla="*/ 9799 h 9809"/>
                    <a:gd name="connsiteX6" fmla="*/ 3949 w 10004"/>
                    <a:gd name="connsiteY6" fmla="*/ 8373 h 9809"/>
                    <a:gd name="connsiteX7" fmla="*/ 43 w 10004"/>
                    <a:gd name="connsiteY7" fmla="*/ 5543 h 9809"/>
                    <a:gd name="connsiteX0" fmla="*/ 43 w 8950"/>
                    <a:gd name="connsiteY0" fmla="*/ 5651 h 10081"/>
                    <a:gd name="connsiteX1" fmla="*/ 2097 w 8950"/>
                    <a:gd name="connsiteY1" fmla="*/ 636 h 10081"/>
                    <a:gd name="connsiteX2" fmla="*/ 5642 w 8950"/>
                    <a:gd name="connsiteY2" fmla="*/ 166 h 10081"/>
                    <a:gd name="connsiteX3" fmla="*/ 8160 w 8950"/>
                    <a:gd name="connsiteY3" fmla="*/ 1521 h 10081"/>
                    <a:gd name="connsiteX4" fmla="*/ 8473 w 8950"/>
                    <a:gd name="connsiteY4" fmla="*/ 5322 h 10081"/>
                    <a:gd name="connsiteX5" fmla="*/ 8639 w 8950"/>
                    <a:gd name="connsiteY5" fmla="*/ 9990 h 10081"/>
                    <a:gd name="connsiteX6" fmla="*/ 3947 w 8950"/>
                    <a:gd name="connsiteY6" fmla="*/ 8536 h 10081"/>
                    <a:gd name="connsiteX7" fmla="*/ 43 w 8950"/>
                    <a:gd name="connsiteY7" fmla="*/ 5651 h 10081"/>
                    <a:gd name="connsiteX0" fmla="*/ 48 w 9651"/>
                    <a:gd name="connsiteY0" fmla="*/ 5606 h 8648"/>
                    <a:gd name="connsiteX1" fmla="*/ 2343 w 9651"/>
                    <a:gd name="connsiteY1" fmla="*/ 631 h 8648"/>
                    <a:gd name="connsiteX2" fmla="*/ 6304 w 9651"/>
                    <a:gd name="connsiteY2" fmla="*/ 165 h 8648"/>
                    <a:gd name="connsiteX3" fmla="*/ 9117 w 9651"/>
                    <a:gd name="connsiteY3" fmla="*/ 1509 h 8648"/>
                    <a:gd name="connsiteX4" fmla="*/ 9467 w 9651"/>
                    <a:gd name="connsiteY4" fmla="*/ 5279 h 8648"/>
                    <a:gd name="connsiteX5" fmla="*/ 6997 w 9651"/>
                    <a:gd name="connsiteY5" fmla="*/ 8019 h 8648"/>
                    <a:gd name="connsiteX6" fmla="*/ 4410 w 9651"/>
                    <a:gd name="connsiteY6" fmla="*/ 8467 h 8648"/>
                    <a:gd name="connsiteX7" fmla="*/ 48 w 9651"/>
                    <a:gd name="connsiteY7" fmla="*/ 5606 h 8648"/>
                    <a:gd name="connsiteX0" fmla="*/ 41 w 9991"/>
                    <a:gd name="connsiteY0" fmla="*/ 6482 h 9316"/>
                    <a:gd name="connsiteX1" fmla="*/ 2419 w 9991"/>
                    <a:gd name="connsiteY1" fmla="*/ 730 h 9316"/>
                    <a:gd name="connsiteX2" fmla="*/ 6523 w 9991"/>
                    <a:gd name="connsiteY2" fmla="*/ 191 h 9316"/>
                    <a:gd name="connsiteX3" fmla="*/ 9438 w 9991"/>
                    <a:gd name="connsiteY3" fmla="*/ 1745 h 9316"/>
                    <a:gd name="connsiteX4" fmla="*/ 9800 w 9991"/>
                    <a:gd name="connsiteY4" fmla="*/ 6104 h 9316"/>
                    <a:gd name="connsiteX5" fmla="*/ 7241 w 9991"/>
                    <a:gd name="connsiteY5" fmla="*/ 9273 h 9316"/>
                    <a:gd name="connsiteX6" fmla="*/ 1411 w 9991"/>
                    <a:gd name="connsiteY6" fmla="*/ 7856 h 9316"/>
                    <a:gd name="connsiteX7" fmla="*/ 41 w 9991"/>
                    <a:gd name="connsiteY7" fmla="*/ 6482 h 9316"/>
                    <a:gd name="connsiteX0" fmla="*/ 19 w 10708"/>
                    <a:gd name="connsiteY0" fmla="*/ 7721 h 10038"/>
                    <a:gd name="connsiteX1" fmla="*/ 3129 w 10708"/>
                    <a:gd name="connsiteY1" fmla="*/ 825 h 10038"/>
                    <a:gd name="connsiteX2" fmla="*/ 7237 w 10708"/>
                    <a:gd name="connsiteY2" fmla="*/ 246 h 10038"/>
                    <a:gd name="connsiteX3" fmla="*/ 10155 w 10708"/>
                    <a:gd name="connsiteY3" fmla="*/ 1914 h 10038"/>
                    <a:gd name="connsiteX4" fmla="*/ 10517 w 10708"/>
                    <a:gd name="connsiteY4" fmla="*/ 6593 h 10038"/>
                    <a:gd name="connsiteX5" fmla="*/ 7956 w 10708"/>
                    <a:gd name="connsiteY5" fmla="*/ 9995 h 10038"/>
                    <a:gd name="connsiteX6" fmla="*/ 2120 w 10708"/>
                    <a:gd name="connsiteY6" fmla="*/ 8474 h 10038"/>
                    <a:gd name="connsiteX7" fmla="*/ 19 w 10708"/>
                    <a:gd name="connsiteY7" fmla="*/ 7721 h 10038"/>
                    <a:gd name="connsiteX0" fmla="*/ 359 w 11048"/>
                    <a:gd name="connsiteY0" fmla="*/ 7721 h 10038"/>
                    <a:gd name="connsiteX1" fmla="*/ 3469 w 11048"/>
                    <a:gd name="connsiteY1" fmla="*/ 825 h 10038"/>
                    <a:gd name="connsiteX2" fmla="*/ 7577 w 11048"/>
                    <a:gd name="connsiteY2" fmla="*/ 246 h 10038"/>
                    <a:gd name="connsiteX3" fmla="*/ 10495 w 11048"/>
                    <a:gd name="connsiteY3" fmla="*/ 1914 h 10038"/>
                    <a:gd name="connsiteX4" fmla="*/ 10857 w 11048"/>
                    <a:gd name="connsiteY4" fmla="*/ 6593 h 10038"/>
                    <a:gd name="connsiteX5" fmla="*/ 8296 w 11048"/>
                    <a:gd name="connsiteY5" fmla="*/ 9995 h 10038"/>
                    <a:gd name="connsiteX6" fmla="*/ 2460 w 11048"/>
                    <a:gd name="connsiteY6" fmla="*/ 8474 h 10038"/>
                    <a:gd name="connsiteX7" fmla="*/ 359 w 11048"/>
                    <a:gd name="connsiteY7" fmla="*/ 7721 h 10038"/>
                    <a:gd name="connsiteX0" fmla="*/ 359 w 11048"/>
                    <a:gd name="connsiteY0" fmla="*/ 8392 h 10075"/>
                    <a:gd name="connsiteX1" fmla="*/ 3469 w 11048"/>
                    <a:gd name="connsiteY1" fmla="*/ 864 h 10075"/>
                    <a:gd name="connsiteX2" fmla="*/ 7577 w 11048"/>
                    <a:gd name="connsiteY2" fmla="*/ 285 h 10075"/>
                    <a:gd name="connsiteX3" fmla="*/ 10495 w 11048"/>
                    <a:gd name="connsiteY3" fmla="*/ 1953 h 10075"/>
                    <a:gd name="connsiteX4" fmla="*/ 10857 w 11048"/>
                    <a:gd name="connsiteY4" fmla="*/ 6632 h 10075"/>
                    <a:gd name="connsiteX5" fmla="*/ 8296 w 11048"/>
                    <a:gd name="connsiteY5" fmla="*/ 10034 h 10075"/>
                    <a:gd name="connsiteX6" fmla="*/ 2460 w 11048"/>
                    <a:gd name="connsiteY6" fmla="*/ 8513 h 10075"/>
                    <a:gd name="connsiteX7" fmla="*/ 359 w 11048"/>
                    <a:gd name="connsiteY7" fmla="*/ 8392 h 10075"/>
                    <a:gd name="connsiteX0" fmla="*/ 371 w 11060"/>
                    <a:gd name="connsiteY0" fmla="*/ 8392 h 10075"/>
                    <a:gd name="connsiteX1" fmla="*/ 3481 w 11060"/>
                    <a:gd name="connsiteY1" fmla="*/ 864 h 10075"/>
                    <a:gd name="connsiteX2" fmla="*/ 7589 w 11060"/>
                    <a:gd name="connsiteY2" fmla="*/ 285 h 10075"/>
                    <a:gd name="connsiteX3" fmla="*/ 10507 w 11060"/>
                    <a:gd name="connsiteY3" fmla="*/ 1953 h 10075"/>
                    <a:gd name="connsiteX4" fmla="*/ 10869 w 11060"/>
                    <a:gd name="connsiteY4" fmla="*/ 6632 h 10075"/>
                    <a:gd name="connsiteX5" fmla="*/ 8308 w 11060"/>
                    <a:gd name="connsiteY5" fmla="*/ 10034 h 10075"/>
                    <a:gd name="connsiteX6" fmla="*/ 2472 w 11060"/>
                    <a:gd name="connsiteY6" fmla="*/ 8513 h 10075"/>
                    <a:gd name="connsiteX7" fmla="*/ 371 w 11060"/>
                    <a:gd name="connsiteY7" fmla="*/ 8392 h 10075"/>
                    <a:gd name="connsiteX0" fmla="*/ 54 w 10743"/>
                    <a:gd name="connsiteY0" fmla="*/ 9468 h 11151"/>
                    <a:gd name="connsiteX1" fmla="*/ 4027 w 10743"/>
                    <a:gd name="connsiteY1" fmla="*/ 495 h 11151"/>
                    <a:gd name="connsiteX2" fmla="*/ 7272 w 10743"/>
                    <a:gd name="connsiteY2" fmla="*/ 1361 h 11151"/>
                    <a:gd name="connsiteX3" fmla="*/ 10190 w 10743"/>
                    <a:gd name="connsiteY3" fmla="*/ 3029 h 11151"/>
                    <a:gd name="connsiteX4" fmla="*/ 10552 w 10743"/>
                    <a:gd name="connsiteY4" fmla="*/ 7708 h 11151"/>
                    <a:gd name="connsiteX5" fmla="*/ 7991 w 10743"/>
                    <a:gd name="connsiteY5" fmla="*/ 11110 h 11151"/>
                    <a:gd name="connsiteX6" fmla="*/ 2155 w 10743"/>
                    <a:gd name="connsiteY6" fmla="*/ 9589 h 11151"/>
                    <a:gd name="connsiteX7" fmla="*/ 54 w 10743"/>
                    <a:gd name="connsiteY7" fmla="*/ 9468 h 11151"/>
                    <a:gd name="connsiteX0" fmla="*/ 54 w 10743"/>
                    <a:gd name="connsiteY0" fmla="*/ 9506 h 11189"/>
                    <a:gd name="connsiteX1" fmla="*/ 4027 w 10743"/>
                    <a:gd name="connsiteY1" fmla="*/ 533 h 11189"/>
                    <a:gd name="connsiteX2" fmla="*/ 7272 w 10743"/>
                    <a:gd name="connsiteY2" fmla="*/ 1399 h 11189"/>
                    <a:gd name="connsiteX3" fmla="*/ 10190 w 10743"/>
                    <a:gd name="connsiteY3" fmla="*/ 3067 h 11189"/>
                    <a:gd name="connsiteX4" fmla="*/ 10552 w 10743"/>
                    <a:gd name="connsiteY4" fmla="*/ 7746 h 11189"/>
                    <a:gd name="connsiteX5" fmla="*/ 7991 w 10743"/>
                    <a:gd name="connsiteY5" fmla="*/ 11148 h 11189"/>
                    <a:gd name="connsiteX6" fmla="*/ 2155 w 10743"/>
                    <a:gd name="connsiteY6" fmla="*/ 9627 h 11189"/>
                    <a:gd name="connsiteX7" fmla="*/ 54 w 10743"/>
                    <a:gd name="connsiteY7" fmla="*/ 9506 h 11189"/>
                    <a:gd name="connsiteX0" fmla="*/ 40 w 11293"/>
                    <a:gd name="connsiteY0" fmla="*/ 9082 h 11127"/>
                    <a:gd name="connsiteX1" fmla="*/ 4577 w 11293"/>
                    <a:gd name="connsiteY1" fmla="*/ 470 h 11127"/>
                    <a:gd name="connsiteX2" fmla="*/ 7822 w 11293"/>
                    <a:gd name="connsiteY2" fmla="*/ 1336 h 11127"/>
                    <a:gd name="connsiteX3" fmla="*/ 10740 w 11293"/>
                    <a:gd name="connsiteY3" fmla="*/ 3004 h 11127"/>
                    <a:gd name="connsiteX4" fmla="*/ 11102 w 11293"/>
                    <a:gd name="connsiteY4" fmla="*/ 7683 h 11127"/>
                    <a:gd name="connsiteX5" fmla="*/ 8541 w 11293"/>
                    <a:gd name="connsiteY5" fmla="*/ 11085 h 11127"/>
                    <a:gd name="connsiteX6" fmla="*/ 2705 w 11293"/>
                    <a:gd name="connsiteY6" fmla="*/ 9564 h 11127"/>
                    <a:gd name="connsiteX7" fmla="*/ 40 w 11293"/>
                    <a:gd name="connsiteY7" fmla="*/ 9082 h 111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93" h="11127">
                      <a:moveTo>
                        <a:pt x="40" y="9082"/>
                      </a:moveTo>
                      <a:cubicBezTo>
                        <a:pt x="352" y="7566"/>
                        <a:pt x="3280" y="1761"/>
                        <a:pt x="4577" y="470"/>
                      </a:cubicBezTo>
                      <a:cubicBezTo>
                        <a:pt x="5874" y="-821"/>
                        <a:pt x="6795" y="914"/>
                        <a:pt x="7822" y="1336"/>
                      </a:cubicBezTo>
                      <a:cubicBezTo>
                        <a:pt x="8849" y="1758"/>
                        <a:pt x="10193" y="1947"/>
                        <a:pt x="10740" y="3004"/>
                      </a:cubicBezTo>
                      <a:cubicBezTo>
                        <a:pt x="11287" y="4061"/>
                        <a:pt x="11468" y="6337"/>
                        <a:pt x="11102" y="7683"/>
                      </a:cubicBezTo>
                      <a:cubicBezTo>
                        <a:pt x="10736" y="9030"/>
                        <a:pt x="9940" y="10771"/>
                        <a:pt x="8541" y="11085"/>
                      </a:cubicBezTo>
                      <a:cubicBezTo>
                        <a:pt x="7141" y="11398"/>
                        <a:pt x="4122" y="9898"/>
                        <a:pt x="2705" y="9564"/>
                      </a:cubicBezTo>
                      <a:cubicBezTo>
                        <a:pt x="1288" y="9230"/>
                        <a:pt x="-272" y="10598"/>
                        <a:pt x="40" y="9082"/>
                      </a:cubicBezTo>
                      <a:close/>
                    </a:path>
                  </a:pathLst>
                </a:custGeom>
                <a:solidFill>
                  <a:srgbClr val="66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3" name="Group 327"/>
                <p:cNvGrpSpPr>
                  <a:grpSpLocks/>
                </p:cNvGrpSpPr>
                <p:nvPr/>
              </p:nvGrpSpPr>
              <p:grpSpPr bwMode="auto">
                <a:xfrm>
                  <a:off x="7908175" y="5241780"/>
                  <a:ext cx="536554" cy="263548"/>
                  <a:chOff x="1871277" y="1576300"/>
                  <a:chExt cx="1128371" cy="437861"/>
                </a:xfrm>
              </p:grpSpPr>
              <p:sp>
                <p:nvSpPr>
                  <p:cNvPr id="27" name="Oval 373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" name="Rectangle 374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9" name="Oval 375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" name="Freeform 376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1" name="Freeform 377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2" name="Freeform 378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3" name="Freeform 379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34" name="Straight Connector 380"/>
                  <p:cNvCxnSpPr>
                    <a:endCxn id="29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Straight Connector 381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4" name="Group 370"/>
                <p:cNvGrpSpPr/>
                <p:nvPr/>
              </p:nvGrpSpPr>
              <p:grpSpPr>
                <a:xfrm>
                  <a:off x="7935991" y="5223364"/>
                  <a:ext cx="398474" cy="431829"/>
                  <a:chOff x="662071" y="1708643"/>
                  <a:chExt cx="419711" cy="478612"/>
                </a:xfrm>
              </p:grpSpPr>
              <p:sp>
                <p:nvSpPr>
                  <p:cNvPr id="25" name="Oval 371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6" name="TextBox 25"/>
                  <p:cNvSpPr txBox="1"/>
                  <p:nvPr/>
                </p:nvSpPr>
                <p:spPr>
                  <a:xfrm>
                    <a:off x="662071" y="1708643"/>
                    <a:ext cx="366625" cy="47861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rPr>
                      <a:t>  X</a:t>
                    </a:r>
                  </a:p>
                </p:txBody>
              </p:sp>
            </p:grpSp>
          </p:grpSp>
          <p:cxnSp>
            <p:nvCxnSpPr>
              <p:cNvPr id="21" name="Straight Connector 401"/>
              <p:cNvCxnSpPr/>
              <p:nvPr/>
            </p:nvCxnSpPr>
            <p:spPr bwMode="auto">
              <a:xfrm flipH="1">
                <a:off x="7133690" y="5764030"/>
                <a:ext cx="870024" cy="9999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7" name="Group 117"/>
            <p:cNvGrpSpPr>
              <a:grpSpLocks/>
            </p:cNvGrpSpPr>
            <p:nvPr/>
          </p:nvGrpSpPr>
          <p:grpSpPr bwMode="auto">
            <a:xfrm>
              <a:off x="5713440" y="4867676"/>
              <a:ext cx="2590803" cy="1196975"/>
              <a:chOff x="2244" y="2236"/>
              <a:chExt cx="1632" cy="754"/>
            </a:xfrm>
          </p:grpSpPr>
          <p:sp>
            <p:nvSpPr>
              <p:cNvPr id="18" name="AutoShape 118"/>
              <p:cNvSpPr>
                <a:spLocks noChangeArrowheads="1"/>
              </p:cNvSpPr>
              <p:nvPr/>
            </p:nvSpPr>
            <p:spPr bwMode="auto">
              <a:xfrm rot="17597965">
                <a:off x="2089" y="2391"/>
                <a:ext cx="484" cy="174"/>
              </a:xfrm>
              <a:prstGeom prst="leftArrow">
                <a:avLst>
                  <a:gd name="adj1" fmla="val 50000"/>
                  <a:gd name="adj2" fmla="val 69540"/>
                </a:avLst>
              </a:prstGeom>
              <a:gradFill rotWithShape="1">
                <a:gsLst>
                  <a:gs pos="0">
                    <a:srgbClr val="FF0000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Text Box 119"/>
              <p:cNvSpPr txBox="1">
                <a:spLocks noChangeArrowheads="1"/>
              </p:cNvSpPr>
              <p:nvPr/>
            </p:nvSpPr>
            <p:spPr bwMode="auto">
              <a:xfrm>
                <a:off x="2325" y="2614"/>
                <a:ext cx="1551" cy="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BGP</a:t>
                </a:r>
                <a:r>
                  <a:rPr kumimoji="0" lang="zh-CN" altLang="en-US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通告</a:t>
                </a:r>
                <a:r>
                  <a:rPr kumimoji="0" lang="en-US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AS3, X</a:t>
                </a:r>
              </a:p>
            </p:txBody>
          </p:sp>
        </p:grpSp>
      </p:grp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78197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5.4.3 BGP-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外部网关路由协议</a:t>
            </a:r>
          </a:p>
        </p:txBody>
      </p:sp>
    </p:spTree>
    <p:extLst>
      <p:ext uri="{BB962C8B-B14F-4D97-AF65-F5344CB8AC3E}">
        <p14:creationId xmlns:p14="http://schemas.microsoft.com/office/powerpoint/2010/main" val="353233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BGP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路径通告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grpSp>
        <p:nvGrpSpPr>
          <p:cNvPr id="5" name="Group 124">
            <a:extLst>
              <a:ext uri="{FF2B5EF4-FFF2-40B4-BE49-F238E27FC236}">
                <a16:creationId xmlns:a16="http://schemas.microsoft.com/office/drawing/2014/main" id="{8E243271-FCAD-4A06-A095-215FCD89DF10}"/>
              </a:ext>
            </a:extLst>
          </p:cNvPr>
          <p:cNvGrpSpPr/>
          <p:nvPr/>
        </p:nvGrpSpPr>
        <p:grpSpPr>
          <a:xfrm>
            <a:off x="833183" y="1451515"/>
            <a:ext cx="3409781" cy="1719017"/>
            <a:chOff x="-2170772" y="2784954"/>
            <a:chExt cx="2712783" cy="1853712"/>
          </a:xfrm>
        </p:grpSpPr>
        <p:sp>
          <p:nvSpPr>
            <p:cNvPr id="6" name="Freeform 2">
              <a:extLst>
                <a:ext uri="{FF2B5EF4-FFF2-40B4-BE49-F238E27FC236}">
                  <a16:creationId xmlns:a16="http://schemas.microsoft.com/office/drawing/2014/main" id="{3D1AD124-A1DE-4699-8C4B-AFCCF34CC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-2170772" y="2784954"/>
              <a:ext cx="2712783" cy="1853712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connsiteX0" fmla="*/ 4 w 10040"/>
                <a:gd name="connsiteY0" fmla="*/ 4039 h 10125"/>
                <a:gd name="connsiteX1" fmla="*/ 715 w 10040"/>
                <a:gd name="connsiteY1" fmla="*/ 1595 h 10125"/>
                <a:gd name="connsiteX2" fmla="*/ 3130 w 10040"/>
                <a:gd name="connsiteY2" fmla="*/ 1006 h 10125"/>
                <a:gd name="connsiteX3" fmla="*/ 4995 w 10040"/>
                <a:gd name="connsiteY3" fmla="*/ 0 h 10125"/>
                <a:gd name="connsiteX4" fmla="*/ 6720 w 10040"/>
                <a:gd name="connsiteY4" fmla="*/ 1009 h 10125"/>
                <a:gd name="connsiteX5" fmla="*/ 9989 w 10040"/>
                <a:gd name="connsiteY5" fmla="*/ 2989 h 10125"/>
                <a:gd name="connsiteX6" fmla="*/ 8599 w 10040"/>
                <a:gd name="connsiteY6" fmla="*/ 6797 h 10125"/>
                <a:gd name="connsiteX7" fmla="*/ 6995 w 10040"/>
                <a:gd name="connsiteY7" fmla="*/ 9322 h 10125"/>
                <a:gd name="connsiteX8" fmla="*/ 5307 w 10040"/>
                <a:gd name="connsiteY8" fmla="*/ 8843 h 10125"/>
                <a:gd name="connsiteX9" fmla="*/ 4371 w 10040"/>
                <a:gd name="connsiteY9" fmla="*/ 9912 h 10125"/>
                <a:gd name="connsiteX10" fmla="*/ 3140 w 10040"/>
                <a:gd name="connsiteY10" fmla="*/ 10019 h 10125"/>
                <a:gd name="connsiteX11" fmla="*/ 2179 w 10040"/>
                <a:gd name="connsiteY11" fmla="*/ 7895 h 10125"/>
                <a:gd name="connsiteX12" fmla="*/ 1187 w 10040"/>
                <a:gd name="connsiteY12" fmla="*/ 7495 h 10125"/>
                <a:gd name="connsiteX13" fmla="*/ 4 w 10040"/>
                <a:gd name="connsiteY13" fmla="*/ 4039 h 10125"/>
                <a:gd name="connsiteX0" fmla="*/ 4 w 8600"/>
                <a:gd name="connsiteY0" fmla="*/ 4042 h 10128"/>
                <a:gd name="connsiteX1" fmla="*/ 715 w 8600"/>
                <a:gd name="connsiteY1" fmla="*/ 1598 h 10128"/>
                <a:gd name="connsiteX2" fmla="*/ 3130 w 8600"/>
                <a:gd name="connsiteY2" fmla="*/ 1009 h 10128"/>
                <a:gd name="connsiteX3" fmla="*/ 4995 w 8600"/>
                <a:gd name="connsiteY3" fmla="*/ 3 h 10128"/>
                <a:gd name="connsiteX4" fmla="*/ 6720 w 8600"/>
                <a:gd name="connsiteY4" fmla="*/ 1012 h 10128"/>
                <a:gd name="connsiteX5" fmla="*/ 8599 w 8600"/>
                <a:gd name="connsiteY5" fmla="*/ 6800 h 10128"/>
                <a:gd name="connsiteX6" fmla="*/ 6995 w 8600"/>
                <a:gd name="connsiteY6" fmla="*/ 9325 h 10128"/>
                <a:gd name="connsiteX7" fmla="*/ 5307 w 8600"/>
                <a:gd name="connsiteY7" fmla="*/ 8846 h 10128"/>
                <a:gd name="connsiteX8" fmla="*/ 4371 w 8600"/>
                <a:gd name="connsiteY8" fmla="*/ 9915 h 10128"/>
                <a:gd name="connsiteX9" fmla="*/ 3140 w 8600"/>
                <a:gd name="connsiteY9" fmla="*/ 10022 h 10128"/>
                <a:gd name="connsiteX10" fmla="*/ 2179 w 8600"/>
                <a:gd name="connsiteY10" fmla="*/ 7898 h 10128"/>
                <a:gd name="connsiteX11" fmla="*/ 1187 w 8600"/>
                <a:gd name="connsiteY11" fmla="*/ 7498 h 10128"/>
                <a:gd name="connsiteX12" fmla="*/ 4 w 8600"/>
                <a:gd name="connsiteY12" fmla="*/ 4042 h 10128"/>
                <a:gd name="connsiteX0" fmla="*/ 4 w 9326"/>
                <a:gd name="connsiteY0" fmla="*/ 3988 h 9997"/>
                <a:gd name="connsiteX1" fmla="*/ 830 w 9326"/>
                <a:gd name="connsiteY1" fmla="*/ 1575 h 9997"/>
                <a:gd name="connsiteX2" fmla="*/ 3639 w 9326"/>
                <a:gd name="connsiteY2" fmla="*/ 993 h 9997"/>
                <a:gd name="connsiteX3" fmla="*/ 5807 w 9326"/>
                <a:gd name="connsiteY3" fmla="*/ 0 h 9997"/>
                <a:gd name="connsiteX4" fmla="*/ 7813 w 9326"/>
                <a:gd name="connsiteY4" fmla="*/ 996 h 9997"/>
                <a:gd name="connsiteX5" fmla="*/ 9324 w 9326"/>
                <a:gd name="connsiteY5" fmla="*/ 5746 h 9997"/>
                <a:gd name="connsiteX6" fmla="*/ 8133 w 9326"/>
                <a:gd name="connsiteY6" fmla="*/ 9204 h 9997"/>
                <a:gd name="connsiteX7" fmla="*/ 6170 w 9326"/>
                <a:gd name="connsiteY7" fmla="*/ 8731 h 9997"/>
                <a:gd name="connsiteX8" fmla="*/ 5082 w 9326"/>
                <a:gd name="connsiteY8" fmla="*/ 9787 h 9997"/>
                <a:gd name="connsiteX9" fmla="*/ 3650 w 9326"/>
                <a:gd name="connsiteY9" fmla="*/ 9892 h 9997"/>
                <a:gd name="connsiteX10" fmla="*/ 2533 w 9326"/>
                <a:gd name="connsiteY10" fmla="*/ 7795 h 9997"/>
                <a:gd name="connsiteX11" fmla="*/ 1379 w 9326"/>
                <a:gd name="connsiteY11" fmla="*/ 7400 h 9997"/>
                <a:gd name="connsiteX12" fmla="*/ 4 w 9326"/>
                <a:gd name="connsiteY12" fmla="*/ 3988 h 9997"/>
                <a:gd name="connsiteX0" fmla="*/ 4 w 10001"/>
                <a:gd name="connsiteY0" fmla="*/ 3989 h 10041"/>
                <a:gd name="connsiteX1" fmla="*/ 890 w 10001"/>
                <a:gd name="connsiteY1" fmla="*/ 1575 h 10041"/>
                <a:gd name="connsiteX2" fmla="*/ 3902 w 10001"/>
                <a:gd name="connsiteY2" fmla="*/ 993 h 10041"/>
                <a:gd name="connsiteX3" fmla="*/ 6227 w 10001"/>
                <a:gd name="connsiteY3" fmla="*/ 0 h 10041"/>
                <a:gd name="connsiteX4" fmla="*/ 8378 w 10001"/>
                <a:gd name="connsiteY4" fmla="*/ 996 h 10041"/>
                <a:gd name="connsiteX5" fmla="*/ 9998 w 10001"/>
                <a:gd name="connsiteY5" fmla="*/ 5748 h 10041"/>
                <a:gd name="connsiteX6" fmla="*/ 8721 w 10001"/>
                <a:gd name="connsiteY6" fmla="*/ 9207 h 10041"/>
                <a:gd name="connsiteX7" fmla="*/ 5449 w 10001"/>
                <a:gd name="connsiteY7" fmla="*/ 9790 h 10041"/>
                <a:gd name="connsiteX8" fmla="*/ 3914 w 10001"/>
                <a:gd name="connsiteY8" fmla="*/ 9895 h 10041"/>
                <a:gd name="connsiteX9" fmla="*/ 2716 w 10001"/>
                <a:gd name="connsiteY9" fmla="*/ 7797 h 10041"/>
                <a:gd name="connsiteX10" fmla="*/ 1479 w 10001"/>
                <a:gd name="connsiteY10" fmla="*/ 7402 h 10041"/>
                <a:gd name="connsiteX11" fmla="*/ 4 w 10001"/>
                <a:gd name="connsiteY11" fmla="*/ 3989 h 10041"/>
                <a:gd name="connsiteX0" fmla="*/ 4 w 10001"/>
                <a:gd name="connsiteY0" fmla="*/ 3989 h 14825"/>
                <a:gd name="connsiteX1" fmla="*/ 890 w 10001"/>
                <a:gd name="connsiteY1" fmla="*/ 1575 h 14825"/>
                <a:gd name="connsiteX2" fmla="*/ 3902 w 10001"/>
                <a:gd name="connsiteY2" fmla="*/ 993 h 14825"/>
                <a:gd name="connsiteX3" fmla="*/ 6227 w 10001"/>
                <a:gd name="connsiteY3" fmla="*/ 0 h 14825"/>
                <a:gd name="connsiteX4" fmla="*/ 8378 w 10001"/>
                <a:gd name="connsiteY4" fmla="*/ 996 h 14825"/>
                <a:gd name="connsiteX5" fmla="*/ 9998 w 10001"/>
                <a:gd name="connsiteY5" fmla="*/ 5748 h 14825"/>
                <a:gd name="connsiteX6" fmla="*/ 8721 w 10001"/>
                <a:gd name="connsiteY6" fmla="*/ 9207 h 14825"/>
                <a:gd name="connsiteX7" fmla="*/ 6011 w 10001"/>
                <a:gd name="connsiteY7" fmla="*/ 14823 h 14825"/>
                <a:gd name="connsiteX8" fmla="*/ 3914 w 10001"/>
                <a:gd name="connsiteY8" fmla="*/ 9895 h 14825"/>
                <a:gd name="connsiteX9" fmla="*/ 2716 w 10001"/>
                <a:gd name="connsiteY9" fmla="*/ 7797 h 14825"/>
                <a:gd name="connsiteX10" fmla="*/ 1479 w 10001"/>
                <a:gd name="connsiteY10" fmla="*/ 7402 h 14825"/>
                <a:gd name="connsiteX11" fmla="*/ 4 w 10001"/>
                <a:gd name="connsiteY11" fmla="*/ 3989 h 14825"/>
                <a:gd name="connsiteX0" fmla="*/ 4 w 10001"/>
                <a:gd name="connsiteY0" fmla="*/ 7436 h 18272"/>
                <a:gd name="connsiteX1" fmla="*/ 890 w 10001"/>
                <a:gd name="connsiteY1" fmla="*/ 5022 h 18272"/>
                <a:gd name="connsiteX2" fmla="*/ 3902 w 10001"/>
                <a:gd name="connsiteY2" fmla="*/ 4440 h 18272"/>
                <a:gd name="connsiteX3" fmla="*/ 6026 w 10001"/>
                <a:gd name="connsiteY3" fmla="*/ 0 h 18272"/>
                <a:gd name="connsiteX4" fmla="*/ 8378 w 10001"/>
                <a:gd name="connsiteY4" fmla="*/ 4443 h 18272"/>
                <a:gd name="connsiteX5" fmla="*/ 9998 w 10001"/>
                <a:gd name="connsiteY5" fmla="*/ 9195 h 18272"/>
                <a:gd name="connsiteX6" fmla="*/ 8721 w 10001"/>
                <a:gd name="connsiteY6" fmla="*/ 12654 h 18272"/>
                <a:gd name="connsiteX7" fmla="*/ 6011 w 10001"/>
                <a:gd name="connsiteY7" fmla="*/ 18270 h 18272"/>
                <a:gd name="connsiteX8" fmla="*/ 3914 w 10001"/>
                <a:gd name="connsiteY8" fmla="*/ 13342 h 18272"/>
                <a:gd name="connsiteX9" fmla="*/ 2716 w 10001"/>
                <a:gd name="connsiteY9" fmla="*/ 11244 h 18272"/>
                <a:gd name="connsiteX10" fmla="*/ 1479 w 10001"/>
                <a:gd name="connsiteY10" fmla="*/ 10849 h 18272"/>
                <a:gd name="connsiteX11" fmla="*/ 4 w 10001"/>
                <a:gd name="connsiteY11" fmla="*/ 7436 h 18272"/>
                <a:gd name="connsiteX0" fmla="*/ 1 w 9998"/>
                <a:gd name="connsiteY0" fmla="*/ 7436 h 18272"/>
                <a:gd name="connsiteX1" fmla="*/ 3899 w 9998"/>
                <a:gd name="connsiteY1" fmla="*/ 4440 h 18272"/>
                <a:gd name="connsiteX2" fmla="*/ 6023 w 9998"/>
                <a:gd name="connsiteY2" fmla="*/ 0 h 18272"/>
                <a:gd name="connsiteX3" fmla="*/ 8375 w 9998"/>
                <a:gd name="connsiteY3" fmla="*/ 4443 h 18272"/>
                <a:gd name="connsiteX4" fmla="*/ 9995 w 9998"/>
                <a:gd name="connsiteY4" fmla="*/ 9195 h 18272"/>
                <a:gd name="connsiteX5" fmla="*/ 8718 w 9998"/>
                <a:gd name="connsiteY5" fmla="*/ 12654 h 18272"/>
                <a:gd name="connsiteX6" fmla="*/ 6008 w 9998"/>
                <a:gd name="connsiteY6" fmla="*/ 18270 h 18272"/>
                <a:gd name="connsiteX7" fmla="*/ 3911 w 9998"/>
                <a:gd name="connsiteY7" fmla="*/ 13342 h 18272"/>
                <a:gd name="connsiteX8" fmla="*/ 2713 w 9998"/>
                <a:gd name="connsiteY8" fmla="*/ 11244 h 18272"/>
                <a:gd name="connsiteX9" fmla="*/ 1476 w 9998"/>
                <a:gd name="connsiteY9" fmla="*/ 10849 h 18272"/>
                <a:gd name="connsiteX10" fmla="*/ 1 w 9998"/>
                <a:gd name="connsiteY10" fmla="*/ 7436 h 18272"/>
                <a:gd name="connsiteX0" fmla="*/ 35 w 8559"/>
                <a:gd name="connsiteY0" fmla="*/ 5938 h 10000"/>
                <a:gd name="connsiteX1" fmla="*/ 2459 w 8559"/>
                <a:gd name="connsiteY1" fmla="*/ 2430 h 10000"/>
                <a:gd name="connsiteX2" fmla="*/ 4583 w 8559"/>
                <a:gd name="connsiteY2" fmla="*/ 0 h 10000"/>
                <a:gd name="connsiteX3" fmla="*/ 6936 w 8559"/>
                <a:gd name="connsiteY3" fmla="*/ 2432 h 10000"/>
                <a:gd name="connsiteX4" fmla="*/ 8556 w 8559"/>
                <a:gd name="connsiteY4" fmla="*/ 5032 h 10000"/>
                <a:gd name="connsiteX5" fmla="*/ 7279 w 8559"/>
                <a:gd name="connsiteY5" fmla="*/ 6925 h 10000"/>
                <a:gd name="connsiteX6" fmla="*/ 4568 w 8559"/>
                <a:gd name="connsiteY6" fmla="*/ 9999 h 10000"/>
                <a:gd name="connsiteX7" fmla="*/ 2471 w 8559"/>
                <a:gd name="connsiteY7" fmla="*/ 7302 h 10000"/>
                <a:gd name="connsiteX8" fmla="*/ 1273 w 8559"/>
                <a:gd name="connsiteY8" fmla="*/ 6154 h 10000"/>
                <a:gd name="connsiteX9" fmla="*/ 35 w 8559"/>
                <a:gd name="connsiteY9" fmla="*/ 5938 h 10000"/>
                <a:gd name="connsiteX0" fmla="*/ 49 w 9820"/>
                <a:gd name="connsiteY0" fmla="*/ 4655 h 10000"/>
                <a:gd name="connsiteX1" fmla="*/ 2693 w 9820"/>
                <a:gd name="connsiteY1" fmla="*/ 2430 h 10000"/>
                <a:gd name="connsiteX2" fmla="*/ 5175 w 9820"/>
                <a:gd name="connsiteY2" fmla="*/ 0 h 10000"/>
                <a:gd name="connsiteX3" fmla="*/ 7924 w 9820"/>
                <a:gd name="connsiteY3" fmla="*/ 2432 h 10000"/>
                <a:gd name="connsiteX4" fmla="*/ 9816 w 9820"/>
                <a:gd name="connsiteY4" fmla="*/ 5032 h 10000"/>
                <a:gd name="connsiteX5" fmla="*/ 8324 w 9820"/>
                <a:gd name="connsiteY5" fmla="*/ 6925 h 10000"/>
                <a:gd name="connsiteX6" fmla="*/ 5157 w 9820"/>
                <a:gd name="connsiteY6" fmla="*/ 9999 h 10000"/>
                <a:gd name="connsiteX7" fmla="*/ 2707 w 9820"/>
                <a:gd name="connsiteY7" fmla="*/ 7302 h 10000"/>
                <a:gd name="connsiteX8" fmla="*/ 1307 w 9820"/>
                <a:gd name="connsiteY8" fmla="*/ 6154 h 10000"/>
                <a:gd name="connsiteX9" fmla="*/ 49 w 9820"/>
                <a:gd name="connsiteY9" fmla="*/ 4655 h 10000"/>
                <a:gd name="connsiteX0" fmla="*/ 45 w 9995"/>
                <a:gd name="connsiteY0" fmla="*/ 4655 h 10000"/>
                <a:gd name="connsiteX1" fmla="*/ 2737 w 9995"/>
                <a:gd name="connsiteY1" fmla="*/ 2430 h 10000"/>
                <a:gd name="connsiteX2" fmla="*/ 5265 w 9995"/>
                <a:gd name="connsiteY2" fmla="*/ 0 h 10000"/>
                <a:gd name="connsiteX3" fmla="*/ 8064 w 9995"/>
                <a:gd name="connsiteY3" fmla="*/ 2432 h 10000"/>
                <a:gd name="connsiteX4" fmla="*/ 9991 w 9995"/>
                <a:gd name="connsiteY4" fmla="*/ 5032 h 10000"/>
                <a:gd name="connsiteX5" fmla="*/ 8472 w 9995"/>
                <a:gd name="connsiteY5" fmla="*/ 6925 h 10000"/>
                <a:gd name="connsiteX6" fmla="*/ 5247 w 9995"/>
                <a:gd name="connsiteY6" fmla="*/ 9999 h 10000"/>
                <a:gd name="connsiteX7" fmla="*/ 2752 w 9995"/>
                <a:gd name="connsiteY7" fmla="*/ 7302 h 10000"/>
                <a:gd name="connsiteX8" fmla="*/ 1374 w 9995"/>
                <a:gd name="connsiteY8" fmla="*/ 6984 h 10000"/>
                <a:gd name="connsiteX9" fmla="*/ 45 w 9995"/>
                <a:gd name="connsiteY9" fmla="*/ 4655 h 10000"/>
                <a:gd name="connsiteX0" fmla="*/ 45 w 10000"/>
                <a:gd name="connsiteY0" fmla="*/ 5032 h 10377"/>
                <a:gd name="connsiteX1" fmla="*/ 2738 w 10000"/>
                <a:gd name="connsiteY1" fmla="*/ 2807 h 10377"/>
                <a:gd name="connsiteX2" fmla="*/ 4886 w 10000"/>
                <a:gd name="connsiteY2" fmla="*/ 0 h 10377"/>
                <a:gd name="connsiteX3" fmla="*/ 8068 w 10000"/>
                <a:gd name="connsiteY3" fmla="*/ 2809 h 10377"/>
                <a:gd name="connsiteX4" fmla="*/ 9996 w 10000"/>
                <a:gd name="connsiteY4" fmla="*/ 5409 h 10377"/>
                <a:gd name="connsiteX5" fmla="*/ 8476 w 10000"/>
                <a:gd name="connsiteY5" fmla="*/ 7302 h 10377"/>
                <a:gd name="connsiteX6" fmla="*/ 5250 w 10000"/>
                <a:gd name="connsiteY6" fmla="*/ 10376 h 10377"/>
                <a:gd name="connsiteX7" fmla="*/ 2753 w 10000"/>
                <a:gd name="connsiteY7" fmla="*/ 7679 h 10377"/>
                <a:gd name="connsiteX8" fmla="*/ 1375 w 10000"/>
                <a:gd name="connsiteY8" fmla="*/ 7361 h 10377"/>
                <a:gd name="connsiteX9" fmla="*/ 45 w 10000"/>
                <a:gd name="connsiteY9" fmla="*/ 5032 h 10377"/>
                <a:gd name="connsiteX0" fmla="*/ 45 w 10000"/>
                <a:gd name="connsiteY0" fmla="*/ 5036 h 10381"/>
                <a:gd name="connsiteX1" fmla="*/ 2738 w 10000"/>
                <a:gd name="connsiteY1" fmla="*/ 2811 h 10381"/>
                <a:gd name="connsiteX2" fmla="*/ 4886 w 10000"/>
                <a:gd name="connsiteY2" fmla="*/ 4 h 10381"/>
                <a:gd name="connsiteX3" fmla="*/ 8068 w 10000"/>
                <a:gd name="connsiteY3" fmla="*/ 2813 h 10381"/>
                <a:gd name="connsiteX4" fmla="*/ 9996 w 10000"/>
                <a:gd name="connsiteY4" fmla="*/ 5413 h 10381"/>
                <a:gd name="connsiteX5" fmla="*/ 8476 w 10000"/>
                <a:gd name="connsiteY5" fmla="*/ 7306 h 10381"/>
                <a:gd name="connsiteX6" fmla="*/ 5250 w 10000"/>
                <a:gd name="connsiteY6" fmla="*/ 10380 h 10381"/>
                <a:gd name="connsiteX7" fmla="*/ 2753 w 10000"/>
                <a:gd name="connsiteY7" fmla="*/ 7683 h 10381"/>
                <a:gd name="connsiteX8" fmla="*/ 1375 w 10000"/>
                <a:gd name="connsiteY8" fmla="*/ 7365 h 10381"/>
                <a:gd name="connsiteX9" fmla="*/ 45 w 10000"/>
                <a:gd name="connsiteY9" fmla="*/ 5036 h 10381"/>
                <a:gd name="connsiteX0" fmla="*/ 45 w 10000"/>
                <a:gd name="connsiteY0" fmla="*/ 5036 h 10796"/>
                <a:gd name="connsiteX1" fmla="*/ 2738 w 10000"/>
                <a:gd name="connsiteY1" fmla="*/ 2811 h 10796"/>
                <a:gd name="connsiteX2" fmla="*/ 4886 w 10000"/>
                <a:gd name="connsiteY2" fmla="*/ 4 h 10796"/>
                <a:gd name="connsiteX3" fmla="*/ 8068 w 10000"/>
                <a:gd name="connsiteY3" fmla="*/ 2813 h 10796"/>
                <a:gd name="connsiteX4" fmla="*/ 9996 w 10000"/>
                <a:gd name="connsiteY4" fmla="*/ 5413 h 10796"/>
                <a:gd name="connsiteX5" fmla="*/ 8476 w 10000"/>
                <a:gd name="connsiteY5" fmla="*/ 7306 h 10796"/>
                <a:gd name="connsiteX6" fmla="*/ 5202 w 10000"/>
                <a:gd name="connsiteY6" fmla="*/ 10795 h 10796"/>
                <a:gd name="connsiteX7" fmla="*/ 2753 w 10000"/>
                <a:gd name="connsiteY7" fmla="*/ 7683 h 10796"/>
                <a:gd name="connsiteX8" fmla="*/ 1375 w 10000"/>
                <a:gd name="connsiteY8" fmla="*/ 7365 h 10796"/>
                <a:gd name="connsiteX9" fmla="*/ 45 w 10000"/>
                <a:gd name="connsiteY9" fmla="*/ 5036 h 10796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00" h="10795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grpSp>
          <p:nvGrpSpPr>
            <p:cNvPr id="7" name="Group 261">
              <a:extLst>
                <a:ext uri="{FF2B5EF4-FFF2-40B4-BE49-F238E27FC236}">
                  <a16:creationId xmlns:a16="http://schemas.microsoft.com/office/drawing/2014/main" id="{7A1FA48E-BB7C-4A82-A1B6-C59B7F2B0C4F}"/>
                </a:ext>
              </a:extLst>
            </p:cNvPr>
            <p:cNvGrpSpPr/>
            <p:nvPr/>
          </p:nvGrpSpPr>
          <p:grpSpPr>
            <a:xfrm>
              <a:off x="-1935370" y="2935816"/>
              <a:ext cx="2333625" cy="1619588"/>
              <a:chOff x="833331" y="2873352"/>
              <a:chExt cx="2333625" cy="1619588"/>
            </a:xfrm>
          </p:grpSpPr>
          <p:grpSp>
            <p:nvGrpSpPr>
              <p:cNvPr id="8" name="Group 262">
                <a:extLst>
                  <a:ext uri="{FF2B5EF4-FFF2-40B4-BE49-F238E27FC236}">
                    <a16:creationId xmlns:a16="http://schemas.microsoft.com/office/drawing/2014/main" id="{3E9CCDE4-B2FD-4D8C-B69B-2D6174866AF2}"/>
                  </a:ext>
                </a:extLst>
              </p:cNvPr>
              <p:cNvGrpSpPr/>
              <p:nvPr/>
            </p:nvGrpSpPr>
            <p:grpSpPr>
              <a:xfrm>
                <a:off x="1736090" y="2873352"/>
                <a:ext cx="565150" cy="398271"/>
                <a:chOff x="1736090" y="2873352"/>
                <a:chExt cx="565150" cy="398271"/>
              </a:xfrm>
            </p:grpSpPr>
            <p:grpSp>
              <p:nvGrpSpPr>
                <p:cNvPr id="57" name="Group 327">
                  <a:extLst>
                    <a:ext uri="{FF2B5EF4-FFF2-40B4-BE49-F238E27FC236}">
                      <a16:creationId xmlns:a16="http://schemas.microsoft.com/office/drawing/2014/main" id="{D5D9DC54-F1D8-4B39-B710-C61B7A9B9B8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61" name="Oval 315">
                    <a:extLst>
                      <a:ext uri="{FF2B5EF4-FFF2-40B4-BE49-F238E27FC236}">
                        <a16:creationId xmlns:a16="http://schemas.microsoft.com/office/drawing/2014/main" id="{635F822A-97F8-4171-B458-902782D830D3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2" name="Rectangle 316">
                    <a:extLst>
                      <a:ext uri="{FF2B5EF4-FFF2-40B4-BE49-F238E27FC236}">
                        <a16:creationId xmlns:a16="http://schemas.microsoft.com/office/drawing/2014/main" id="{22FE2C29-63F4-4F1E-904E-A8CCCC2E641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3" name="Oval 317">
                    <a:extLst>
                      <a:ext uri="{FF2B5EF4-FFF2-40B4-BE49-F238E27FC236}">
                        <a16:creationId xmlns:a16="http://schemas.microsoft.com/office/drawing/2014/main" id="{58FB9D14-2B53-44C9-8789-E5E87A07DB0E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4" name="Freeform 318">
                    <a:extLst>
                      <a:ext uri="{FF2B5EF4-FFF2-40B4-BE49-F238E27FC236}">
                        <a16:creationId xmlns:a16="http://schemas.microsoft.com/office/drawing/2014/main" id="{032EFED9-1A87-4F91-A157-30EAEA0F78B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5" name="Freeform 319">
                    <a:extLst>
                      <a:ext uri="{FF2B5EF4-FFF2-40B4-BE49-F238E27FC236}">
                        <a16:creationId xmlns:a16="http://schemas.microsoft.com/office/drawing/2014/main" id="{1C60E8E8-358F-489B-96F9-58925A2B8BF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6" name="Freeform 320">
                    <a:extLst>
                      <a:ext uri="{FF2B5EF4-FFF2-40B4-BE49-F238E27FC236}">
                        <a16:creationId xmlns:a16="http://schemas.microsoft.com/office/drawing/2014/main" id="{614F92EA-5F9F-4D01-96A8-79AB32A0976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7" name="Freeform 321">
                    <a:extLst>
                      <a:ext uri="{FF2B5EF4-FFF2-40B4-BE49-F238E27FC236}">
                        <a16:creationId xmlns:a16="http://schemas.microsoft.com/office/drawing/2014/main" id="{E23062E0-EB90-4FBD-A4CA-B168E36250A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68" name="Straight Connector 322">
                    <a:extLst>
                      <a:ext uri="{FF2B5EF4-FFF2-40B4-BE49-F238E27FC236}">
                        <a16:creationId xmlns:a16="http://schemas.microsoft.com/office/drawing/2014/main" id="{CCE02CE0-6C42-4650-B964-BCDEE063B6A8}"/>
                      </a:ext>
                    </a:extLst>
                  </p:cNvPr>
                  <p:cNvCxnSpPr>
                    <a:endCxn id="63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Straight Connector 323">
                    <a:extLst>
                      <a:ext uri="{FF2B5EF4-FFF2-40B4-BE49-F238E27FC236}">
                        <a16:creationId xmlns:a16="http://schemas.microsoft.com/office/drawing/2014/main" id="{C93379E0-59DA-4C9B-AE05-525251D14B2B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8" name="Group 312">
                  <a:extLst>
                    <a:ext uri="{FF2B5EF4-FFF2-40B4-BE49-F238E27FC236}">
                      <a16:creationId xmlns:a16="http://schemas.microsoft.com/office/drawing/2014/main" id="{D718B12A-F749-4A85-99ED-DE5C44CCBFEB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14737" cy="398271"/>
                  <a:chOff x="667045" y="1708643"/>
                  <a:chExt cx="414737" cy="398271"/>
                </a:xfrm>
              </p:grpSpPr>
              <p:sp>
                <p:nvSpPr>
                  <p:cNvPr id="59" name="Oval 313">
                    <a:extLst>
                      <a:ext uri="{FF2B5EF4-FFF2-40B4-BE49-F238E27FC236}">
                        <a16:creationId xmlns:a16="http://schemas.microsoft.com/office/drawing/2014/main" id="{66C5C0D8-2419-487D-A5E5-93BC3CDC888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0" name="TextBox 314">
                    <a:extLst>
                      <a:ext uri="{FF2B5EF4-FFF2-40B4-BE49-F238E27FC236}">
                        <a16:creationId xmlns:a16="http://schemas.microsoft.com/office/drawing/2014/main" id="{14344A99-C5D9-4E6A-BB9C-EB51AF9180BA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349696" cy="39827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rPr>
                      <a:t>1b</a:t>
                    </a:r>
                  </a:p>
                </p:txBody>
              </p:sp>
            </p:grpSp>
          </p:grpSp>
          <p:grpSp>
            <p:nvGrpSpPr>
              <p:cNvPr id="9" name="Group 263">
                <a:extLst>
                  <a:ext uri="{FF2B5EF4-FFF2-40B4-BE49-F238E27FC236}">
                    <a16:creationId xmlns:a16="http://schemas.microsoft.com/office/drawing/2014/main" id="{0D7D0D45-C8F0-4C9A-94DF-9DB4C1246096}"/>
                  </a:ext>
                </a:extLst>
              </p:cNvPr>
              <p:cNvGrpSpPr/>
              <p:nvPr/>
            </p:nvGrpSpPr>
            <p:grpSpPr>
              <a:xfrm>
                <a:off x="1740320" y="4094669"/>
                <a:ext cx="565150" cy="398271"/>
                <a:chOff x="1736090" y="2873352"/>
                <a:chExt cx="565150" cy="398271"/>
              </a:xfrm>
            </p:grpSpPr>
            <p:grpSp>
              <p:nvGrpSpPr>
                <p:cNvPr id="44" name="Group 327">
                  <a:extLst>
                    <a:ext uri="{FF2B5EF4-FFF2-40B4-BE49-F238E27FC236}">
                      <a16:creationId xmlns:a16="http://schemas.microsoft.com/office/drawing/2014/main" id="{EDC4B541-73F4-402C-8AE7-F03BBE2C203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48" name="Oval 302">
                    <a:extLst>
                      <a:ext uri="{FF2B5EF4-FFF2-40B4-BE49-F238E27FC236}">
                        <a16:creationId xmlns:a16="http://schemas.microsoft.com/office/drawing/2014/main" id="{6575C45E-CE84-4A85-9CD6-E5B9EA8624B3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9" name="Rectangle 303">
                    <a:extLst>
                      <a:ext uri="{FF2B5EF4-FFF2-40B4-BE49-F238E27FC236}">
                        <a16:creationId xmlns:a16="http://schemas.microsoft.com/office/drawing/2014/main" id="{0F6881C9-32B0-454E-96EC-1FFDCF82E6B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0" name="Oval 304">
                    <a:extLst>
                      <a:ext uri="{FF2B5EF4-FFF2-40B4-BE49-F238E27FC236}">
                        <a16:creationId xmlns:a16="http://schemas.microsoft.com/office/drawing/2014/main" id="{EF7E02AF-4266-46A8-A2D3-E9ECB6F8218A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1" name="Freeform 305">
                    <a:extLst>
                      <a:ext uri="{FF2B5EF4-FFF2-40B4-BE49-F238E27FC236}">
                        <a16:creationId xmlns:a16="http://schemas.microsoft.com/office/drawing/2014/main" id="{1DF365C1-1197-4A62-9317-851E93B4C2C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2" name="Freeform 306">
                    <a:extLst>
                      <a:ext uri="{FF2B5EF4-FFF2-40B4-BE49-F238E27FC236}">
                        <a16:creationId xmlns:a16="http://schemas.microsoft.com/office/drawing/2014/main" id="{F614E0D3-98BE-4358-BA67-1D55AA93F96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" name="Freeform 307">
                    <a:extLst>
                      <a:ext uri="{FF2B5EF4-FFF2-40B4-BE49-F238E27FC236}">
                        <a16:creationId xmlns:a16="http://schemas.microsoft.com/office/drawing/2014/main" id="{92207DF6-8CFA-41D5-91A4-3F80F9DAE5A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4" name="Freeform 308">
                    <a:extLst>
                      <a:ext uri="{FF2B5EF4-FFF2-40B4-BE49-F238E27FC236}">
                        <a16:creationId xmlns:a16="http://schemas.microsoft.com/office/drawing/2014/main" id="{75403068-9DF0-496F-B78B-41FF69F5256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55" name="Straight Connector 309">
                    <a:extLst>
                      <a:ext uri="{FF2B5EF4-FFF2-40B4-BE49-F238E27FC236}">
                        <a16:creationId xmlns:a16="http://schemas.microsoft.com/office/drawing/2014/main" id="{F3FFCD59-CF14-495E-B15E-3EC934A56072}"/>
                      </a:ext>
                    </a:extLst>
                  </p:cNvPr>
                  <p:cNvCxnSpPr>
                    <a:endCxn id="50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Straight Connector 310">
                    <a:extLst>
                      <a:ext uri="{FF2B5EF4-FFF2-40B4-BE49-F238E27FC236}">
                        <a16:creationId xmlns:a16="http://schemas.microsoft.com/office/drawing/2014/main" id="{BDEC469E-B3A5-441A-8407-4270DE7A44D6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5" name="Group 299">
                  <a:extLst>
                    <a:ext uri="{FF2B5EF4-FFF2-40B4-BE49-F238E27FC236}">
                      <a16:creationId xmlns:a16="http://schemas.microsoft.com/office/drawing/2014/main" id="{E5223405-5D5F-4C6E-A410-91817390B6B0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14737" cy="398271"/>
                  <a:chOff x="667045" y="1708643"/>
                  <a:chExt cx="414737" cy="398271"/>
                </a:xfrm>
              </p:grpSpPr>
              <p:sp>
                <p:nvSpPr>
                  <p:cNvPr id="46" name="Oval 300">
                    <a:extLst>
                      <a:ext uri="{FF2B5EF4-FFF2-40B4-BE49-F238E27FC236}">
                        <a16:creationId xmlns:a16="http://schemas.microsoft.com/office/drawing/2014/main" id="{97B069AC-07ED-4251-A846-FC160586A47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7" name="TextBox 301">
                    <a:extLst>
                      <a:ext uri="{FF2B5EF4-FFF2-40B4-BE49-F238E27FC236}">
                        <a16:creationId xmlns:a16="http://schemas.microsoft.com/office/drawing/2014/main" id="{6093F40C-81EA-4D6B-B174-55E935D6BB79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349696" cy="39827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rPr>
                      <a:t>1d</a:t>
                    </a:r>
                  </a:p>
                </p:txBody>
              </p:sp>
            </p:grpSp>
          </p:grpSp>
          <p:grpSp>
            <p:nvGrpSpPr>
              <p:cNvPr id="10" name="Group 264">
                <a:extLst>
                  <a:ext uri="{FF2B5EF4-FFF2-40B4-BE49-F238E27FC236}">
                    <a16:creationId xmlns:a16="http://schemas.microsoft.com/office/drawing/2014/main" id="{B695FCC5-E95A-474C-91F2-6CA69137EF85}"/>
                  </a:ext>
                </a:extLst>
              </p:cNvPr>
              <p:cNvGrpSpPr/>
              <p:nvPr/>
            </p:nvGrpSpPr>
            <p:grpSpPr>
              <a:xfrm>
                <a:off x="2601806" y="3485072"/>
                <a:ext cx="565150" cy="398272"/>
                <a:chOff x="1736090" y="2873352"/>
                <a:chExt cx="565150" cy="398272"/>
              </a:xfrm>
            </p:grpSpPr>
            <p:grpSp>
              <p:nvGrpSpPr>
                <p:cNvPr id="31" name="Group 327">
                  <a:extLst>
                    <a:ext uri="{FF2B5EF4-FFF2-40B4-BE49-F238E27FC236}">
                      <a16:creationId xmlns:a16="http://schemas.microsoft.com/office/drawing/2014/main" id="{E56F39D2-932E-4AA8-8B71-BE47E407935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5" name="Oval 289">
                    <a:extLst>
                      <a:ext uri="{FF2B5EF4-FFF2-40B4-BE49-F238E27FC236}">
                        <a16:creationId xmlns:a16="http://schemas.microsoft.com/office/drawing/2014/main" id="{8116B638-5253-4721-AF47-EE506273F8B3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6" name="Rectangle 290">
                    <a:extLst>
                      <a:ext uri="{FF2B5EF4-FFF2-40B4-BE49-F238E27FC236}">
                        <a16:creationId xmlns:a16="http://schemas.microsoft.com/office/drawing/2014/main" id="{7190B1A1-66EB-4424-96DD-BEFD54A3D29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" name="Oval 291">
                    <a:extLst>
                      <a:ext uri="{FF2B5EF4-FFF2-40B4-BE49-F238E27FC236}">
                        <a16:creationId xmlns:a16="http://schemas.microsoft.com/office/drawing/2014/main" id="{21EE1F48-04A3-4BD6-A235-A37D8E3ED366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" name="Freeform 292">
                    <a:extLst>
                      <a:ext uri="{FF2B5EF4-FFF2-40B4-BE49-F238E27FC236}">
                        <a16:creationId xmlns:a16="http://schemas.microsoft.com/office/drawing/2014/main" id="{56786DD1-6786-4775-966F-7B70FA1DB6E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" name="Freeform 293">
                    <a:extLst>
                      <a:ext uri="{FF2B5EF4-FFF2-40B4-BE49-F238E27FC236}">
                        <a16:creationId xmlns:a16="http://schemas.microsoft.com/office/drawing/2014/main" id="{9A262D8B-FBEA-4D31-9660-5435B78E622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0" name="Freeform 294">
                    <a:extLst>
                      <a:ext uri="{FF2B5EF4-FFF2-40B4-BE49-F238E27FC236}">
                        <a16:creationId xmlns:a16="http://schemas.microsoft.com/office/drawing/2014/main" id="{5718FD2F-96B2-4AEC-A9BC-71537CF06FA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1" name="Freeform 295">
                    <a:extLst>
                      <a:ext uri="{FF2B5EF4-FFF2-40B4-BE49-F238E27FC236}">
                        <a16:creationId xmlns:a16="http://schemas.microsoft.com/office/drawing/2014/main" id="{766CEFAA-064A-4495-B358-04E05E33E6F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42" name="Straight Connector 296">
                    <a:extLst>
                      <a:ext uri="{FF2B5EF4-FFF2-40B4-BE49-F238E27FC236}">
                        <a16:creationId xmlns:a16="http://schemas.microsoft.com/office/drawing/2014/main" id="{4D75F3C6-F6CC-48B9-9A24-6ECDB8326ADF}"/>
                      </a:ext>
                    </a:extLst>
                  </p:cNvPr>
                  <p:cNvCxnSpPr>
                    <a:endCxn id="37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Straight Connector 297">
                    <a:extLst>
                      <a:ext uri="{FF2B5EF4-FFF2-40B4-BE49-F238E27FC236}">
                        <a16:creationId xmlns:a16="http://schemas.microsoft.com/office/drawing/2014/main" id="{692D4D37-13F7-401D-89CF-68D4165FF30C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2" name="Group 286">
                  <a:extLst>
                    <a:ext uri="{FF2B5EF4-FFF2-40B4-BE49-F238E27FC236}">
                      <a16:creationId xmlns:a16="http://schemas.microsoft.com/office/drawing/2014/main" id="{FC8467E2-329F-4021-929F-5378C9BB6D46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14737" cy="398272"/>
                  <a:chOff x="667045" y="1708643"/>
                  <a:chExt cx="414737" cy="398272"/>
                </a:xfrm>
              </p:grpSpPr>
              <p:sp>
                <p:nvSpPr>
                  <p:cNvPr id="33" name="Oval 287">
                    <a:extLst>
                      <a:ext uri="{FF2B5EF4-FFF2-40B4-BE49-F238E27FC236}">
                        <a16:creationId xmlns:a16="http://schemas.microsoft.com/office/drawing/2014/main" id="{8CE3E897-69A4-44D5-AA2C-CEED2AFEAF2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" name="TextBox 288">
                    <a:extLst>
                      <a:ext uri="{FF2B5EF4-FFF2-40B4-BE49-F238E27FC236}">
                        <a16:creationId xmlns:a16="http://schemas.microsoft.com/office/drawing/2014/main" id="{69D62433-C835-417C-A8D7-91BC91CCFE36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326740" cy="39827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rPr>
                      <a:t>1c</a:t>
                    </a:r>
                  </a:p>
                </p:txBody>
              </p:sp>
            </p:grpSp>
          </p:grpSp>
          <p:grpSp>
            <p:nvGrpSpPr>
              <p:cNvPr id="11" name="Group 265">
                <a:extLst>
                  <a:ext uri="{FF2B5EF4-FFF2-40B4-BE49-F238E27FC236}">
                    <a16:creationId xmlns:a16="http://schemas.microsoft.com/office/drawing/2014/main" id="{46128659-E78B-4483-A374-507589742B0D}"/>
                  </a:ext>
                </a:extLst>
              </p:cNvPr>
              <p:cNvGrpSpPr/>
              <p:nvPr/>
            </p:nvGrpSpPr>
            <p:grpSpPr>
              <a:xfrm>
                <a:off x="833331" y="3478719"/>
                <a:ext cx="565150" cy="398272"/>
                <a:chOff x="1736090" y="2873352"/>
                <a:chExt cx="565150" cy="398272"/>
              </a:xfrm>
            </p:grpSpPr>
            <p:grpSp>
              <p:nvGrpSpPr>
                <p:cNvPr id="18" name="Group 327">
                  <a:extLst>
                    <a:ext uri="{FF2B5EF4-FFF2-40B4-BE49-F238E27FC236}">
                      <a16:creationId xmlns:a16="http://schemas.microsoft.com/office/drawing/2014/main" id="{98852D64-5E90-44A5-B1C3-91DD57E87B8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2" name="Oval 276">
                    <a:extLst>
                      <a:ext uri="{FF2B5EF4-FFF2-40B4-BE49-F238E27FC236}">
                        <a16:creationId xmlns:a16="http://schemas.microsoft.com/office/drawing/2014/main" id="{48DA2822-C33A-4B18-83CC-8F0024783011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3" name="Rectangle 277">
                    <a:extLst>
                      <a:ext uri="{FF2B5EF4-FFF2-40B4-BE49-F238E27FC236}">
                        <a16:creationId xmlns:a16="http://schemas.microsoft.com/office/drawing/2014/main" id="{17C7743C-39FD-4369-B3DE-F01002660AF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4" name="Oval 278">
                    <a:extLst>
                      <a:ext uri="{FF2B5EF4-FFF2-40B4-BE49-F238E27FC236}">
                        <a16:creationId xmlns:a16="http://schemas.microsoft.com/office/drawing/2014/main" id="{2DDD0674-1A22-4F01-A88E-1F5A0CC7B7ED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" name="Freeform 279">
                    <a:extLst>
                      <a:ext uri="{FF2B5EF4-FFF2-40B4-BE49-F238E27FC236}">
                        <a16:creationId xmlns:a16="http://schemas.microsoft.com/office/drawing/2014/main" id="{045FE85B-3C27-4525-BB0A-DDF0880337D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6" name="Freeform 280">
                    <a:extLst>
                      <a:ext uri="{FF2B5EF4-FFF2-40B4-BE49-F238E27FC236}">
                        <a16:creationId xmlns:a16="http://schemas.microsoft.com/office/drawing/2014/main" id="{5D16138A-24B2-45C0-886E-25665A55018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7" name="Freeform 281">
                    <a:extLst>
                      <a:ext uri="{FF2B5EF4-FFF2-40B4-BE49-F238E27FC236}">
                        <a16:creationId xmlns:a16="http://schemas.microsoft.com/office/drawing/2014/main" id="{F39EF364-A408-450A-B72B-F4D3E72EDC9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" name="Freeform 282">
                    <a:extLst>
                      <a:ext uri="{FF2B5EF4-FFF2-40B4-BE49-F238E27FC236}">
                        <a16:creationId xmlns:a16="http://schemas.microsoft.com/office/drawing/2014/main" id="{B3517B7D-1080-4C79-A740-1D961009E91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29" name="Straight Connector 283">
                    <a:extLst>
                      <a:ext uri="{FF2B5EF4-FFF2-40B4-BE49-F238E27FC236}">
                        <a16:creationId xmlns:a16="http://schemas.microsoft.com/office/drawing/2014/main" id="{A84B3B45-C82B-4DDC-9EDD-7A75E07D4BEB}"/>
                      </a:ext>
                    </a:extLst>
                  </p:cNvPr>
                  <p:cNvCxnSpPr>
                    <a:endCxn id="24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Straight Connector 284">
                    <a:extLst>
                      <a:ext uri="{FF2B5EF4-FFF2-40B4-BE49-F238E27FC236}">
                        <a16:creationId xmlns:a16="http://schemas.microsoft.com/office/drawing/2014/main" id="{188A357D-46DB-4FAE-9B27-7086B0E89FEF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9" name="Group 273">
                  <a:extLst>
                    <a:ext uri="{FF2B5EF4-FFF2-40B4-BE49-F238E27FC236}">
                      <a16:creationId xmlns:a16="http://schemas.microsoft.com/office/drawing/2014/main" id="{4FD0FC09-6DAC-4C4B-AB06-31C93E896FF5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14737" cy="398272"/>
                  <a:chOff x="667045" y="1708643"/>
                  <a:chExt cx="414737" cy="398272"/>
                </a:xfrm>
              </p:grpSpPr>
              <p:sp>
                <p:nvSpPr>
                  <p:cNvPr id="20" name="Oval 274">
                    <a:extLst>
                      <a:ext uri="{FF2B5EF4-FFF2-40B4-BE49-F238E27FC236}">
                        <a16:creationId xmlns:a16="http://schemas.microsoft.com/office/drawing/2014/main" id="{55649870-0F6C-4F68-A3AB-6D23762E129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" name="TextBox 275">
                    <a:extLst>
                      <a:ext uri="{FF2B5EF4-FFF2-40B4-BE49-F238E27FC236}">
                        <a16:creationId xmlns:a16="http://schemas.microsoft.com/office/drawing/2014/main" id="{702E50EA-7EFB-4013-9A2E-945CDFD69F3A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335667" cy="39827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rPr>
                      <a:t>1a</a:t>
                    </a:r>
                  </a:p>
                </p:txBody>
              </p:sp>
            </p:grpSp>
          </p:grpSp>
          <p:cxnSp>
            <p:nvCxnSpPr>
              <p:cNvPr id="12" name="Straight Connector 266">
                <a:extLst>
                  <a:ext uri="{FF2B5EF4-FFF2-40B4-BE49-F238E27FC236}">
                    <a16:creationId xmlns:a16="http://schemas.microsoft.com/office/drawing/2014/main" id="{B69B125B-47E2-43F9-BECB-D16A2E58CD29}"/>
                  </a:ext>
                </a:extLst>
              </p:cNvPr>
              <p:cNvCxnSpPr>
                <a:stCxn id="60" idx="2"/>
                <a:endCxn id="47" idx="0"/>
              </p:cNvCxnSpPr>
              <p:nvPr/>
            </p:nvCxnSpPr>
            <p:spPr bwMode="auto">
              <a:xfrm>
                <a:off x="1945210" y="3271623"/>
                <a:ext cx="4230" cy="823045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" name="Straight Connector 267">
                <a:extLst>
                  <a:ext uri="{FF2B5EF4-FFF2-40B4-BE49-F238E27FC236}">
                    <a16:creationId xmlns:a16="http://schemas.microsoft.com/office/drawing/2014/main" id="{02803CF2-01D4-4FB1-9A0E-98BB7CD08539}"/>
                  </a:ext>
                </a:extLst>
              </p:cNvPr>
              <p:cNvCxnSpPr/>
              <p:nvPr/>
            </p:nvCxnSpPr>
            <p:spPr bwMode="auto">
              <a:xfrm>
                <a:off x="1407477" y="3648621"/>
                <a:ext cx="1204913" cy="635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" name="Straight Connector 268">
                <a:extLst>
                  <a:ext uri="{FF2B5EF4-FFF2-40B4-BE49-F238E27FC236}">
                    <a16:creationId xmlns:a16="http://schemas.microsoft.com/office/drawing/2014/main" id="{A0300267-5A93-4EC2-A68B-7C50037DD3B1}"/>
                  </a:ext>
                </a:extLst>
              </p:cNvPr>
              <p:cNvCxnSpPr>
                <a:stCxn id="61" idx="7"/>
              </p:cNvCxnSpPr>
              <p:nvPr/>
            </p:nvCxnSpPr>
            <p:spPr bwMode="auto">
              <a:xfrm>
                <a:off x="2218708" y="3154477"/>
                <a:ext cx="480042" cy="36977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" name="Straight Connector 269">
                <a:extLst>
                  <a:ext uri="{FF2B5EF4-FFF2-40B4-BE49-F238E27FC236}">
                    <a16:creationId xmlns:a16="http://schemas.microsoft.com/office/drawing/2014/main" id="{6EBB88D2-6EF7-4C7D-87A6-1F7CF11F2C67}"/>
                  </a:ext>
                </a:extLst>
              </p:cNvPr>
              <p:cNvCxnSpPr/>
              <p:nvPr/>
            </p:nvCxnSpPr>
            <p:spPr bwMode="auto">
              <a:xfrm>
                <a:off x="1300073" y="3786304"/>
                <a:ext cx="477927" cy="35707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" name="Straight Connector 270">
                <a:extLst>
                  <a:ext uri="{FF2B5EF4-FFF2-40B4-BE49-F238E27FC236}">
                    <a16:creationId xmlns:a16="http://schemas.microsoft.com/office/drawing/2014/main" id="{5170768E-55E0-4BA9-B156-369400021E89}"/>
                  </a:ext>
                </a:extLst>
              </p:cNvPr>
              <p:cNvCxnSpPr/>
              <p:nvPr/>
            </p:nvCxnSpPr>
            <p:spPr bwMode="auto">
              <a:xfrm flipH="1">
                <a:off x="2196042" y="3783542"/>
                <a:ext cx="508002" cy="34925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" name="Straight Connector 271">
                <a:extLst>
                  <a:ext uri="{FF2B5EF4-FFF2-40B4-BE49-F238E27FC236}">
                    <a16:creationId xmlns:a16="http://schemas.microsoft.com/office/drawing/2014/main" id="{7372B774-295C-4C93-9AB1-F9D7C0FB33A9}"/>
                  </a:ext>
                </a:extLst>
              </p:cNvPr>
              <p:cNvCxnSpPr/>
              <p:nvPr/>
            </p:nvCxnSpPr>
            <p:spPr bwMode="auto">
              <a:xfrm flipH="1">
                <a:off x="1287553" y="3166946"/>
                <a:ext cx="508002" cy="34925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grpSp>
        <p:nvGrpSpPr>
          <p:cNvPr id="70" name="Group 125">
            <a:extLst>
              <a:ext uri="{FF2B5EF4-FFF2-40B4-BE49-F238E27FC236}">
                <a16:creationId xmlns:a16="http://schemas.microsoft.com/office/drawing/2014/main" id="{4DD5DBE8-2308-45FC-BE4F-10624ADA8E8A}"/>
              </a:ext>
            </a:extLst>
          </p:cNvPr>
          <p:cNvGrpSpPr/>
          <p:nvPr/>
        </p:nvGrpSpPr>
        <p:grpSpPr>
          <a:xfrm>
            <a:off x="4394016" y="2282358"/>
            <a:ext cx="3394251" cy="1720535"/>
            <a:chOff x="-2170772" y="2784954"/>
            <a:chExt cx="2712783" cy="1853712"/>
          </a:xfrm>
        </p:grpSpPr>
        <p:sp>
          <p:nvSpPr>
            <p:cNvPr id="71" name="Freeform 2">
              <a:extLst>
                <a:ext uri="{FF2B5EF4-FFF2-40B4-BE49-F238E27FC236}">
                  <a16:creationId xmlns:a16="http://schemas.microsoft.com/office/drawing/2014/main" id="{24CCDDA4-C967-4CAC-85A1-889EF9C8C2EA}"/>
                </a:ext>
              </a:extLst>
            </p:cNvPr>
            <p:cNvSpPr>
              <a:spLocks/>
            </p:cNvSpPr>
            <p:nvPr/>
          </p:nvSpPr>
          <p:spPr bwMode="auto">
            <a:xfrm>
              <a:off x="-2170772" y="2784954"/>
              <a:ext cx="2712783" cy="1853712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connsiteX0" fmla="*/ 4 w 10040"/>
                <a:gd name="connsiteY0" fmla="*/ 4039 h 10125"/>
                <a:gd name="connsiteX1" fmla="*/ 715 w 10040"/>
                <a:gd name="connsiteY1" fmla="*/ 1595 h 10125"/>
                <a:gd name="connsiteX2" fmla="*/ 3130 w 10040"/>
                <a:gd name="connsiteY2" fmla="*/ 1006 h 10125"/>
                <a:gd name="connsiteX3" fmla="*/ 4995 w 10040"/>
                <a:gd name="connsiteY3" fmla="*/ 0 h 10125"/>
                <a:gd name="connsiteX4" fmla="*/ 6720 w 10040"/>
                <a:gd name="connsiteY4" fmla="*/ 1009 h 10125"/>
                <a:gd name="connsiteX5" fmla="*/ 9989 w 10040"/>
                <a:gd name="connsiteY5" fmla="*/ 2989 h 10125"/>
                <a:gd name="connsiteX6" fmla="*/ 8599 w 10040"/>
                <a:gd name="connsiteY6" fmla="*/ 6797 h 10125"/>
                <a:gd name="connsiteX7" fmla="*/ 6995 w 10040"/>
                <a:gd name="connsiteY7" fmla="*/ 9322 h 10125"/>
                <a:gd name="connsiteX8" fmla="*/ 5307 w 10040"/>
                <a:gd name="connsiteY8" fmla="*/ 8843 h 10125"/>
                <a:gd name="connsiteX9" fmla="*/ 4371 w 10040"/>
                <a:gd name="connsiteY9" fmla="*/ 9912 h 10125"/>
                <a:gd name="connsiteX10" fmla="*/ 3140 w 10040"/>
                <a:gd name="connsiteY10" fmla="*/ 10019 h 10125"/>
                <a:gd name="connsiteX11" fmla="*/ 2179 w 10040"/>
                <a:gd name="connsiteY11" fmla="*/ 7895 h 10125"/>
                <a:gd name="connsiteX12" fmla="*/ 1187 w 10040"/>
                <a:gd name="connsiteY12" fmla="*/ 7495 h 10125"/>
                <a:gd name="connsiteX13" fmla="*/ 4 w 10040"/>
                <a:gd name="connsiteY13" fmla="*/ 4039 h 10125"/>
                <a:gd name="connsiteX0" fmla="*/ 4 w 8600"/>
                <a:gd name="connsiteY0" fmla="*/ 4042 h 10128"/>
                <a:gd name="connsiteX1" fmla="*/ 715 w 8600"/>
                <a:gd name="connsiteY1" fmla="*/ 1598 h 10128"/>
                <a:gd name="connsiteX2" fmla="*/ 3130 w 8600"/>
                <a:gd name="connsiteY2" fmla="*/ 1009 h 10128"/>
                <a:gd name="connsiteX3" fmla="*/ 4995 w 8600"/>
                <a:gd name="connsiteY3" fmla="*/ 3 h 10128"/>
                <a:gd name="connsiteX4" fmla="*/ 6720 w 8600"/>
                <a:gd name="connsiteY4" fmla="*/ 1012 h 10128"/>
                <a:gd name="connsiteX5" fmla="*/ 8599 w 8600"/>
                <a:gd name="connsiteY5" fmla="*/ 6800 h 10128"/>
                <a:gd name="connsiteX6" fmla="*/ 6995 w 8600"/>
                <a:gd name="connsiteY6" fmla="*/ 9325 h 10128"/>
                <a:gd name="connsiteX7" fmla="*/ 5307 w 8600"/>
                <a:gd name="connsiteY7" fmla="*/ 8846 h 10128"/>
                <a:gd name="connsiteX8" fmla="*/ 4371 w 8600"/>
                <a:gd name="connsiteY8" fmla="*/ 9915 h 10128"/>
                <a:gd name="connsiteX9" fmla="*/ 3140 w 8600"/>
                <a:gd name="connsiteY9" fmla="*/ 10022 h 10128"/>
                <a:gd name="connsiteX10" fmla="*/ 2179 w 8600"/>
                <a:gd name="connsiteY10" fmla="*/ 7898 h 10128"/>
                <a:gd name="connsiteX11" fmla="*/ 1187 w 8600"/>
                <a:gd name="connsiteY11" fmla="*/ 7498 h 10128"/>
                <a:gd name="connsiteX12" fmla="*/ 4 w 8600"/>
                <a:gd name="connsiteY12" fmla="*/ 4042 h 10128"/>
                <a:gd name="connsiteX0" fmla="*/ 4 w 9326"/>
                <a:gd name="connsiteY0" fmla="*/ 3988 h 9997"/>
                <a:gd name="connsiteX1" fmla="*/ 830 w 9326"/>
                <a:gd name="connsiteY1" fmla="*/ 1575 h 9997"/>
                <a:gd name="connsiteX2" fmla="*/ 3639 w 9326"/>
                <a:gd name="connsiteY2" fmla="*/ 993 h 9997"/>
                <a:gd name="connsiteX3" fmla="*/ 5807 w 9326"/>
                <a:gd name="connsiteY3" fmla="*/ 0 h 9997"/>
                <a:gd name="connsiteX4" fmla="*/ 7813 w 9326"/>
                <a:gd name="connsiteY4" fmla="*/ 996 h 9997"/>
                <a:gd name="connsiteX5" fmla="*/ 9324 w 9326"/>
                <a:gd name="connsiteY5" fmla="*/ 5746 h 9997"/>
                <a:gd name="connsiteX6" fmla="*/ 8133 w 9326"/>
                <a:gd name="connsiteY6" fmla="*/ 9204 h 9997"/>
                <a:gd name="connsiteX7" fmla="*/ 6170 w 9326"/>
                <a:gd name="connsiteY7" fmla="*/ 8731 h 9997"/>
                <a:gd name="connsiteX8" fmla="*/ 5082 w 9326"/>
                <a:gd name="connsiteY8" fmla="*/ 9787 h 9997"/>
                <a:gd name="connsiteX9" fmla="*/ 3650 w 9326"/>
                <a:gd name="connsiteY9" fmla="*/ 9892 h 9997"/>
                <a:gd name="connsiteX10" fmla="*/ 2533 w 9326"/>
                <a:gd name="connsiteY10" fmla="*/ 7795 h 9997"/>
                <a:gd name="connsiteX11" fmla="*/ 1379 w 9326"/>
                <a:gd name="connsiteY11" fmla="*/ 7400 h 9997"/>
                <a:gd name="connsiteX12" fmla="*/ 4 w 9326"/>
                <a:gd name="connsiteY12" fmla="*/ 3988 h 9997"/>
                <a:gd name="connsiteX0" fmla="*/ 4 w 10001"/>
                <a:gd name="connsiteY0" fmla="*/ 3989 h 10041"/>
                <a:gd name="connsiteX1" fmla="*/ 890 w 10001"/>
                <a:gd name="connsiteY1" fmla="*/ 1575 h 10041"/>
                <a:gd name="connsiteX2" fmla="*/ 3902 w 10001"/>
                <a:gd name="connsiteY2" fmla="*/ 993 h 10041"/>
                <a:gd name="connsiteX3" fmla="*/ 6227 w 10001"/>
                <a:gd name="connsiteY3" fmla="*/ 0 h 10041"/>
                <a:gd name="connsiteX4" fmla="*/ 8378 w 10001"/>
                <a:gd name="connsiteY4" fmla="*/ 996 h 10041"/>
                <a:gd name="connsiteX5" fmla="*/ 9998 w 10001"/>
                <a:gd name="connsiteY5" fmla="*/ 5748 h 10041"/>
                <a:gd name="connsiteX6" fmla="*/ 8721 w 10001"/>
                <a:gd name="connsiteY6" fmla="*/ 9207 h 10041"/>
                <a:gd name="connsiteX7" fmla="*/ 5449 w 10001"/>
                <a:gd name="connsiteY7" fmla="*/ 9790 h 10041"/>
                <a:gd name="connsiteX8" fmla="*/ 3914 w 10001"/>
                <a:gd name="connsiteY8" fmla="*/ 9895 h 10041"/>
                <a:gd name="connsiteX9" fmla="*/ 2716 w 10001"/>
                <a:gd name="connsiteY9" fmla="*/ 7797 h 10041"/>
                <a:gd name="connsiteX10" fmla="*/ 1479 w 10001"/>
                <a:gd name="connsiteY10" fmla="*/ 7402 h 10041"/>
                <a:gd name="connsiteX11" fmla="*/ 4 w 10001"/>
                <a:gd name="connsiteY11" fmla="*/ 3989 h 10041"/>
                <a:gd name="connsiteX0" fmla="*/ 4 w 10001"/>
                <a:gd name="connsiteY0" fmla="*/ 3989 h 14825"/>
                <a:gd name="connsiteX1" fmla="*/ 890 w 10001"/>
                <a:gd name="connsiteY1" fmla="*/ 1575 h 14825"/>
                <a:gd name="connsiteX2" fmla="*/ 3902 w 10001"/>
                <a:gd name="connsiteY2" fmla="*/ 993 h 14825"/>
                <a:gd name="connsiteX3" fmla="*/ 6227 w 10001"/>
                <a:gd name="connsiteY3" fmla="*/ 0 h 14825"/>
                <a:gd name="connsiteX4" fmla="*/ 8378 w 10001"/>
                <a:gd name="connsiteY4" fmla="*/ 996 h 14825"/>
                <a:gd name="connsiteX5" fmla="*/ 9998 w 10001"/>
                <a:gd name="connsiteY5" fmla="*/ 5748 h 14825"/>
                <a:gd name="connsiteX6" fmla="*/ 8721 w 10001"/>
                <a:gd name="connsiteY6" fmla="*/ 9207 h 14825"/>
                <a:gd name="connsiteX7" fmla="*/ 6011 w 10001"/>
                <a:gd name="connsiteY7" fmla="*/ 14823 h 14825"/>
                <a:gd name="connsiteX8" fmla="*/ 3914 w 10001"/>
                <a:gd name="connsiteY8" fmla="*/ 9895 h 14825"/>
                <a:gd name="connsiteX9" fmla="*/ 2716 w 10001"/>
                <a:gd name="connsiteY9" fmla="*/ 7797 h 14825"/>
                <a:gd name="connsiteX10" fmla="*/ 1479 w 10001"/>
                <a:gd name="connsiteY10" fmla="*/ 7402 h 14825"/>
                <a:gd name="connsiteX11" fmla="*/ 4 w 10001"/>
                <a:gd name="connsiteY11" fmla="*/ 3989 h 14825"/>
                <a:gd name="connsiteX0" fmla="*/ 4 w 10001"/>
                <a:gd name="connsiteY0" fmla="*/ 7436 h 18272"/>
                <a:gd name="connsiteX1" fmla="*/ 890 w 10001"/>
                <a:gd name="connsiteY1" fmla="*/ 5022 h 18272"/>
                <a:gd name="connsiteX2" fmla="*/ 3902 w 10001"/>
                <a:gd name="connsiteY2" fmla="*/ 4440 h 18272"/>
                <a:gd name="connsiteX3" fmla="*/ 6026 w 10001"/>
                <a:gd name="connsiteY3" fmla="*/ 0 h 18272"/>
                <a:gd name="connsiteX4" fmla="*/ 8378 w 10001"/>
                <a:gd name="connsiteY4" fmla="*/ 4443 h 18272"/>
                <a:gd name="connsiteX5" fmla="*/ 9998 w 10001"/>
                <a:gd name="connsiteY5" fmla="*/ 9195 h 18272"/>
                <a:gd name="connsiteX6" fmla="*/ 8721 w 10001"/>
                <a:gd name="connsiteY6" fmla="*/ 12654 h 18272"/>
                <a:gd name="connsiteX7" fmla="*/ 6011 w 10001"/>
                <a:gd name="connsiteY7" fmla="*/ 18270 h 18272"/>
                <a:gd name="connsiteX8" fmla="*/ 3914 w 10001"/>
                <a:gd name="connsiteY8" fmla="*/ 13342 h 18272"/>
                <a:gd name="connsiteX9" fmla="*/ 2716 w 10001"/>
                <a:gd name="connsiteY9" fmla="*/ 11244 h 18272"/>
                <a:gd name="connsiteX10" fmla="*/ 1479 w 10001"/>
                <a:gd name="connsiteY10" fmla="*/ 10849 h 18272"/>
                <a:gd name="connsiteX11" fmla="*/ 4 w 10001"/>
                <a:gd name="connsiteY11" fmla="*/ 7436 h 18272"/>
                <a:gd name="connsiteX0" fmla="*/ 1 w 9998"/>
                <a:gd name="connsiteY0" fmla="*/ 7436 h 18272"/>
                <a:gd name="connsiteX1" fmla="*/ 3899 w 9998"/>
                <a:gd name="connsiteY1" fmla="*/ 4440 h 18272"/>
                <a:gd name="connsiteX2" fmla="*/ 6023 w 9998"/>
                <a:gd name="connsiteY2" fmla="*/ 0 h 18272"/>
                <a:gd name="connsiteX3" fmla="*/ 8375 w 9998"/>
                <a:gd name="connsiteY3" fmla="*/ 4443 h 18272"/>
                <a:gd name="connsiteX4" fmla="*/ 9995 w 9998"/>
                <a:gd name="connsiteY4" fmla="*/ 9195 h 18272"/>
                <a:gd name="connsiteX5" fmla="*/ 8718 w 9998"/>
                <a:gd name="connsiteY5" fmla="*/ 12654 h 18272"/>
                <a:gd name="connsiteX6" fmla="*/ 6008 w 9998"/>
                <a:gd name="connsiteY6" fmla="*/ 18270 h 18272"/>
                <a:gd name="connsiteX7" fmla="*/ 3911 w 9998"/>
                <a:gd name="connsiteY7" fmla="*/ 13342 h 18272"/>
                <a:gd name="connsiteX8" fmla="*/ 2713 w 9998"/>
                <a:gd name="connsiteY8" fmla="*/ 11244 h 18272"/>
                <a:gd name="connsiteX9" fmla="*/ 1476 w 9998"/>
                <a:gd name="connsiteY9" fmla="*/ 10849 h 18272"/>
                <a:gd name="connsiteX10" fmla="*/ 1 w 9998"/>
                <a:gd name="connsiteY10" fmla="*/ 7436 h 18272"/>
                <a:gd name="connsiteX0" fmla="*/ 35 w 8559"/>
                <a:gd name="connsiteY0" fmla="*/ 5938 h 10000"/>
                <a:gd name="connsiteX1" fmla="*/ 2459 w 8559"/>
                <a:gd name="connsiteY1" fmla="*/ 2430 h 10000"/>
                <a:gd name="connsiteX2" fmla="*/ 4583 w 8559"/>
                <a:gd name="connsiteY2" fmla="*/ 0 h 10000"/>
                <a:gd name="connsiteX3" fmla="*/ 6936 w 8559"/>
                <a:gd name="connsiteY3" fmla="*/ 2432 h 10000"/>
                <a:gd name="connsiteX4" fmla="*/ 8556 w 8559"/>
                <a:gd name="connsiteY4" fmla="*/ 5032 h 10000"/>
                <a:gd name="connsiteX5" fmla="*/ 7279 w 8559"/>
                <a:gd name="connsiteY5" fmla="*/ 6925 h 10000"/>
                <a:gd name="connsiteX6" fmla="*/ 4568 w 8559"/>
                <a:gd name="connsiteY6" fmla="*/ 9999 h 10000"/>
                <a:gd name="connsiteX7" fmla="*/ 2471 w 8559"/>
                <a:gd name="connsiteY7" fmla="*/ 7302 h 10000"/>
                <a:gd name="connsiteX8" fmla="*/ 1273 w 8559"/>
                <a:gd name="connsiteY8" fmla="*/ 6154 h 10000"/>
                <a:gd name="connsiteX9" fmla="*/ 35 w 8559"/>
                <a:gd name="connsiteY9" fmla="*/ 5938 h 10000"/>
                <a:gd name="connsiteX0" fmla="*/ 49 w 9820"/>
                <a:gd name="connsiteY0" fmla="*/ 4655 h 10000"/>
                <a:gd name="connsiteX1" fmla="*/ 2693 w 9820"/>
                <a:gd name="connsiteY1" fmla="*/ 2430 h 10000"/>
                <a:gd name="connsiteX2" fmla="*/ 5175 w 9820"/>
                <a:gd name="connsiteY2" fmla="*/ 0 h 10000"/>
                <a:gd name="connsiteX3" fmla="*/ 7924 w 9820"/>
                <a:gd name="connsiteY3" fmla="*/ 2432 h 10000"/>
                <a:gd name="connsiteX4" fmla="*/ 9816 w 9820"/>
                <a:gd name="connsiteY4" fmla="*/ 5032 h 10000"/>
                <a:gd name="connsiteX5" fmla="*/ 8324 w 9820"/>
                <a:gd name="connsiteY5" fmla="*/ 6925 h 10000"/>
                <a:gd name="connsiteX6" fmla="*/ 5157 w 9820"/>
                <a:gd name="connsiteY6" fmla="*/ 9999 h 10000"/>
                <a:gd name="connsiteX7" fmla="*/ 2707 w 9820"/>
                <a:gd name="connsiteY7" fmla="*/ 7302 h 10000"/>
                <a:gd name="connsiteX8" fmla="*/ 1307 w 9820"/>
                <a:gd name="connsiteY8" fmla="*/ 6154 h 10000"/>
                <a:gd name="connsiteX9" fmla="*/ 49 w 9820"/>
                <a:gd name="connsiteY9" fmla="*/ 4655 h 10000"/>
                <a:gd name="connsiteX0" fmla="*/ 45 w 9995"/>
                <a:gd name="connsiteY0" fmla="*/ 4655 h 10000"/>
                <a:gd name="connsiteX1" fmla="*/ 2737 w 9995"/>
                <a:gd name="connsiteY1" fmla="*/ 2430 h 10000"/>
                <a:gd name="connsiteX2" fmla="*/ 5265 w 9995"/>
                <a:gd name="connsiteY2" fmla="*/ 0 h 10000"/>
                <a:gd name="connsiteX3" fmla="*/ 8064 w 9995"/>
                <a:gd name="connsiteY3" fmla="*/ 2432 h 10000"/>
                <a:gd name="connsiteX4" fmla="*/ 9991 w 9995"/>
                <a:gd name="connsiteY4" fmla="*/ 5032 h 10000"/>
                <a:gd name="connsiteX5" fmla="*/ 8472 w 9995"/>
                <a:gd name="connsiteY5" fmla="*/ 6925 h 10000"/>
                <a:gd name="connsiteX6" fmla="*/ 5247 w 9995"/>
                <a:gd name="connsiteY6" fmla="*/ 9999 h 10000"/>
                <a:gd name="connsiteX7" fmla="*/ 2752 w 9995"/>
                <a:gd name="connsiteY7" fmla="*/ 7302 h 10000"/>
                <a:gd name="connsiteX8" fmla="*/ 1374 w 9995"/>
                <a:gd name="connsiteY8" fmla="*/ 6984 h 10000"/>
                <a:gd name="connsiteX9" fmla="*/ 45 w 9995"/>
                <a:gd name="connsiteY9" fmla="*/ 4655 h 10000"/>
                <a:gd name="connsiteX0" fmla="*/ 45 w 10000"/>
                <a:gd name="connsiteY0" fmla="*/ 5032 h 10377"/>
                <a:gd name="connsiteX1" fmla="*/ 2738 w 10000"/>
                <a:gd name="connsiteY1" fmla="*/ 2807 h 10377"/>
                <a:gd name="connsiteX2" fmla="*/ 4886 w 10000"/>
                <a:gd name="connsiteY2" fmla="*/ 0 h 10377"/>
                <a:gd name="connsiteX3" fmla="*/ 8068 w 10000"/>
                <a:gd name="connsiteY3" fmla="*/ 2809 h 10377"/>
                <a:gd name="connsiteX4" fmla="*/ 9996 w 10000"/>
                <a:gd name="connsiteY4" fmla="*/ 5409 h 10377"/>
                <a:gd name="connsiteX5" fmla="*/ 8476 w 10000"/>
                <a:gd name="connsiteY5" fmla="*/ 7302 h 10377"/>
                <a:gd name="connsiteX6" fmla="*/ 5250 w 10000"/>
                <a:gd name="connsiteY6" fmla="*/ 10376 h 10377"/>
                <a:gd name="connsiteX7" fmla="*/ 2753 w 10000"/>
                <a:gd name="connsiteY7" fmla="*/ 7679 h 10377"/>
                <a:gd name="connsiteX8" fmla="*/ 1375 w 10000"/>
                <a:gd name="connsiteY8" fmla="*/ 7361 h 10377"/>
                <a:gd name="connsiteX9" fmla="*/ 45 w 10000"/>
                <a:gd name="connsiteY9" fmla="*/ 5032 h 10377"/>
                <a:gd name="connsiteX0" fmla="*/ 45 w 10000"/>
                <a:gd name="connsiteY0" fmla="*/ 5036 h 10381"/>
                <a:gd name="connsiteX1" fmla="*/ 2738 w 10000"/>
                <a:gd name="connsiteY1" fmla="*/ 2811 h 10381"/>
                <a:gd name="connsiteX2" fmla="*/ 4886 w 10000"/>
                <a:gd name="connsiteY2" fmla="*/ 4 h 10381"/>
                <a:gd name="connsiteX3" fmla="*/ 8068 w 10000"/>
                <a:gd name="connsiteY3" fmla="*/ 2813 h 10381"/>
                <a:gd name="connsiteX4" fmla="*/ 9996 w 10000"/>
                <a:gd name="connsiteY4" fmla="*/ 5413 h 10381"/>
                <a:gd name="connsiteX5" fmla="*/ 8476 w 10000"/>
                <a:gd name="connsiteY5" fmla="*/ 7306 h 10381"/>
                <a:gd name="connsiteX6" fmla="*/ 5250 w 10000"/>
                <a:gd name="connsiteY6" fmla="*/ 10380 h 10381"/>
                <a:gd name="connsiteX7" fmla="*/ 2753 w 10000"/>
                <a:gd name="connsiteY7" fmla="*/ 7683 h 10381"/>
                <a:gd name="connsiteX8" fmla="*/ 1375 w 10000"/>
                <a:gd name="connsiteY8" fmla="*/ 7365 h 10381"/>
                <a:gd name="connsiteX9" fmla="*/ 45 w 10000"/>
                <a:gd name="connsiteY9" fmla="*/ 5036 h 10381"/>
                <a:gd name="connsiteX0" fmla="*/ 45 w 10000"/>
                <a:gd name="connsiteY0" fmla="*/ 5036 h 10796"/>
                <a:gd name="connsiteX1" fmla="*/ 2738 w 10000"/>
                <a:gd name="connsiteY1" fmla="*/ 2811 h 10796"/>
                <a:gd name="connsiteX2" fmla="*/ 4886 w 10000"/>
                <a:gd name="connsiteY2" fmla="*/ 4 h 10796"/>
                <a:gd name="connsiteX3" fmla="*/ 8068 w 10000"/>
                <a:gd name="connsiteY3" fmla="*/ 2813 h 10796"/>
                <a:gd name="connsiteX4" fmla="*/ 9996 w 10000"/>
                <a:gd name="connsiteY4" fmla="*/ 5413 h 10796"/>
                <a:gd name="connsiteX5" fmla="*/ 8476 w 10000"/>
                <a:gd name="connsiteY5" fmla="*/ 7306 h 10796"/>
                <a:gd name="connsiteX6" fmla="*/ 5202 w 10000"/>
                <a:gd name="connsiteY6" fmla="*/ 10795 h 10796"/>
                <a:gd name="connsiteX7" fmla="*/ 2753 w 10000"/>
                <a:gd name="connsiteY7" fmla="*/ 7683 h 10796"/>
                <a:gd name="connsiteX8" fmla="*/ 1375 w 10000"/>
                <a:gd name="connsiteY8" fmla="*/ 7365 h 10796"/>
                <a:gd name="connsiteX9" fmla="*/ 45 w 10000"/>
                <a:gd name="connsiteY9" fmla="*/ 5036 h 10796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00" h="10795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grpSp>
          <p:nvGrpSpPr>
            <p:cNvPr id="72" name="Group 197">
              <a:extLst>
                <a:ext uri="{FF2B5EF4-FFF2-40B4-BE49-F238E27FC236}">
                  <a16:creationId xmlns:a16="http://schemas.microsoft.com/office/drawing/2014/main" id="{AFFBC324-6EC9-4045-AA9B-923EF87E7780}"/>
                </a:ext>
              </a:extLst>
            </p:cNvPr>
            <p:cNvGrpSpPr/>
            <p:nvPr/>
          </p:nvGrpSpPr>
          <p:grpSpPr>
            <a:xfrm>
              <a:off x="-1935370" y="2935816"/>
              <a:ext cx="2333625" cy="1619237"/>
              <a:chOff x="833331" y="2873352"/>
              <a:chExt cx="2333625" cy="1619237"/>
            </a:xfrm>
          </p:grpSpPr>
          <p:grpSp>
            <p:nvGrpSpPr>
              <p:cNvPr id="73" name="Group 198">
                <a:extLst>
                  <a:ext uri="{FF2B5EF4-FFF2-40B4-BE49-F238E27FC236}">
                    <a16:creationId xmlns:a16="http://schemas.microsoft.com/office/drawing/2014/main" id="{3A70A2C0-477C-4C40-95D5-091D37A27F39}"/>
                  </a:ext>
                </a:extLst>
              </p:cNvPr>
              <p:cNvGrpSpPr/>
              <p:nvPr/>
            </p:nvGrpSpPr>
            <p:grpSpPr>
              <a:xfrm>
                <a:off x="1736090" y="2873352"/>
                <a:ext cx="565150" cy="397920"/>
                <a:chOff x="1736090" y="2873352"/>
                <a:chExt cx="565150" cy="397920"/>
              </a:xfrm>
            </p:grpSpPr>
            <p:grpSp>
              <p:nvGrpSpPr>
                <p:cNvPr id="122" name="Group 327">
                  <a:extLst>
                    <a:ext uri="{FF2B5EF4-FFF2-40B4-BE49-F238E27FC236}">
                      <a16:creationId xmlns:a16="http://schemas.microsoft.com/office/drawing/2014/main" id="{839745E5-45C3-488E-848B-ED60ED79B1E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126" name="Oval 251">
                    <a:extLst>
                      <a:ext uri="{FF2B5EF4-FFF2-40B4-BE49-F238E27FC236}">
                        <a16:creationId xmlns:a16="http://schemas.microsoft.com/office/drawing/2014/main" id="{9B0099F0-C66E-4E68-B89C-9A44B5E99730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7" name="Rectangle 252">
                    <a:extLst>
                      <a:ext uri="{FF2B5EF4-FFF2-40B4-BE49-F238E27FC236}">
                        <a16:creationId xmlns:a16="http://schemas.microsoft.com/office/drawing/2014/main" id="{0AD75D57-448D-4EF6-8B2F-4E2AA7B88C7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8" name="Oval 253">
                    <a:extLst>
                      <a:ext uri="{FF2B5EF4-FFF2-40B4-BE49-F238E27FC236}">
                        <a16:creationId xmlns:a16="http://schemas.microsoft.com/office/drawing/2014/main" id="{A98E2850-3D64-4BB4-BFDD-0438330B5455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9" name="Freeform 254">
                    <a:extLst>
                      <a:ext uri="{FF2B5EF4-FFF2-40B4-BE49-F238E27FC236}">
                        <a16:creationId xmlns:a16="http://schemas.microsoft.com/office/drawing/2014/main" id="{A12C904F-AFC9-471B-9ED0-75A2F17799F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0" name="Freeform 255">
                    <a:extLst>
                      <a:ext uri="{FF2B5EF4-FFF2-40B4-BE49-F238E27FC236}">
                        <a16:creationId xmlns:a16="http://schemas.microsoft.com/office/drawing/2014/main" id="{D21B9973-5C60-4DFE-A160-103B9F77229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1" name="Freeform 256">
                    <a:extLst>
                      <a:ext uri="{FF2B5EF4-FFF2-40B4-BE49-F238E27FC236}">
                        <a16:creationId xmlns:a16="http://schemas.microsoft.com/office/drawing/2014/main" id="{99DDF9C3-AB7A-4AA1-90D1-C3D9619258B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2" name="Freeform 257">
                    <a:extLst>
                      <a:ext uri="{FF2B5EF4-FFF2-40B4-BE49-F238E27FC236}">
                        <a16:creationId xmlns:a16="http://schemas.microsoft.com/office/drawing/2014/main" id="{ACDFCE31-52ED-4019-B0C8-91CE95A6B3A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133" name="Straight Connector 258">
                    <a:extLst>
                      <a:ext uri="{FF2B5EF4-FFF2-40B4-BE49-F238E27FC236}">
                        <a16:creationId xmlns:a16="http://schemas.microsoft.com/office/drawing/2014/main" id="{592345DC-F8BF-443F-BAE7-2CC7F67C5622}"/>
                      </a:ext>
                    </a:extLst>
                  </p:cNvPr>
                  <p:cNvCxnSpPr>
                    <a:endCxn id="128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" name="Straight Connector 259">
                    <a:extLst>
                      <a:ext uri="{FF2B5EF4-FFF2-40B4-BE49-F238E27FC236}">
                        <a16:creationId xmlns:a16="http://schemas.microsoft.com/office/drawing/2014/main" id="{B874AFD1-6954-4D37-8F7B-E255A7FCC285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23" name="Group 248">
                  <a:extLst>
                    <a:ext uri="{FF2B5EF4-FFF2-40B4-BE49-F238E27FC236}">
                      <a16:creationId xmlns:a16="http://schemas.microsoft.com/office/drawing/2014/main" id="{F92DD4BA-9C4F-4278-9D85-D27FE869E1C1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14737" cy="397920"/>
                  <a:chOff x="667045" y="1708643"/>
                  <a:chExt cx="414737" cy="397920"/>
                </a:xfrm>
              </p:grpSpPr>
              <p:sp>
                <p:nvSpPr>
                  <p:cNvPr id="124" name="Oval 249">
                    <a:extLst>
                      <a:ext uri="{FF2B5EF4-FFF2-40B4-BE49-F238E27FC236}">
                        <a16:creationId xmlns:a16="http://schemas.microsoft.com/office/drawing/2014/main" id="{926AE3B0-0F2F-4002-A557-C30A1A9D30A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5" name="TextBox 250">
                    <a:extLst>
                      <a:ext uri="{FF2B5EF4-FFF2-40B4-BE49-F238E27FC236}">
                        <a16:creationId xmlns:a16="http://schemas.microsoft.com/office/drawing/2014/main" id="{72F17ECF-928B-44AD-8666-3468F744DC97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351296" cy="3979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rPr>
                      <a:t>2b</a:t>
                    </a:r>
                  </a:p>
                </p:txBody>
              </p:sp>
            </p:grpSp>
          </p:grpSp>
          <p:grpSp>
            <p:nvGrpSpPr>
              <p:cNvPr id="74" name="Group 199">
                <a:extLst>
                  <a:ext uri="{FF2B5EF4-FFF2-40B4-BE49-F238E27FC236}">
                    <a16:creationId xmlns:a16="http://schemas.microsoft.com/office/drawing/2014/main" id="{600D5D11-0DF0-407A-82B9-E5CC5595C0B8}"/>
                  </a:ext>
                </a:extLst>
              </p:cNvPr>
              <p:cNvGrpSpPr/>
              <p:nvPr/>
            </p:nvGrpSpPr>
            <p:grpSpPr>
              <a:xfrm>
                <a:off x="1740320" y="4094669"/>
                <a:ext cx="565150" cy="397920"/>
                <a:chOff x="1736090" y="2873352"/>
                <a:chExt cx="565150" cy="397920"/>
              </a:xfrm>
            </p:grpSpPr>
            <p:grpSp>
              <p:nvGrpSpPr>
                <p:cNvPr id="109" name="Group 327">
                  <a:extLst>
                    <a:ext uri="{FF2B5EF4-FFF2-40B4-BE49-F238E27FC236}">
                      <a16:creationId xmlns:a16="http://schemas.microsoft.com/office/drawing/2014/main" id="{90662939-8008-4CD0-952E-D0A29C93338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113" name="Oval 238">
                    <a:extLst>
                      <a:ext uri="{FF2B5EF4-FFF2-40B4-BE49-F238E27FC236}">
                        <a16:creationId xmlns:a16="http://schemas.microsoft.com/office/drawing/2014/main" id="{609F747E-2A19-4B54-92F1-0F5C24DD8DE4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4" name="Rectangle 239">
                    <a:extLst>
                      <a:ext uri="{FF2B5EF4-FFF2-40B4-BE49-F238E27FC236}">
                        <a16:creationId xmlns:a16="http://schemas.microsoft.com/office/drawing/2014/main" id="{6A827180-568A-46D5-83CE-A3E62205FC3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5" name="Oval 240">
                    <a:extLst>
                      <a:ext uri="{FF2B5EF4-FFF2-40B4-BE49-F238E27FC236}">
                        <a16:creationId xmlns:a16="http://schemas.microsoft.com/office/drawing/2014/main" id="{FB19D6A8-FD6E-4469-A59A-1C1CCCC7B773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6" name="Freeform 241">
                    <a:extLst>
                      <a:ext uri="{FF2B5EF4-FFF2-40B4-BE49-F238E27FC236}">
                        <a16:creationId xmlns:a16="http://schemas.microsoft.com/office/drawing/2014/main" id="{47BA6689-2F73-4929-9896-3D6A78CD7A0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7" name="Freeform 242">
                    <a:extLst>
                      <a:ext uri="{FF2B5EF4-FFF2-40B4-BE49-F238E27FC236}">
                        <a16:creationId xmlns:a16="http://schemas.microsoft.com/office/drawing/2014/main" id="{C7BEA0F2-3D9C-4444-A22C-8F8E984CC2F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8" name="Freeform 243">
                    <a:extLst>
                      <a:ext uri="{FF2B5EF4-FFF2-40B4-BE49-F238E27FC236}">
                        <a16:creationId xmlns:a16="http://schemas.microsoft.com/office/drawing/2014/main" id="{5A67555E-4DE3-4F3F-901E-00B938E575D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9" name="Freeform 244">
                    <a:extLst>
                      <a:ext uri="{FF2B5EF4-FFF2-40B4-BE49-F238E27FC236}">
                        <a16:creationId xmlns:a16="http://schemas.microsoft.com/office/drawing/2014/main" id="{898CE87C-22FD-4EE0-BCC1-B78064F7B52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120" name="Straight Connector 245">
                    <a:extLst>
                      <a:ext uri="{FF2B5EF4-FFF2-40B4-BE49-F238E27FC236}">
                        <a16:creationId xmlns:a16="http://schemas.microsoft.com/office/drawing/2014/main" id="{D27AFA2C-7A9C-4249-8323-13AC839E83A0}"/>
                      </a:ext>
                    </a:extLst>
                  </p:cNvPr>
                  <p:cNvCxnSpPr>
                    <a:endCxn id="115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Connector 246">
                    <a:extLst>
                      <a:ext uri="{FF2B5EF4-FFF2-40B4-BE49-F238E27FC236}">
                        <a16:creationId xmlns:a16="http://schemas.microsoft.com/office/drawing/2014/main" id="{9141B5BB-31AC-47C9-B57E-75B33C34BA05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0" name="Group 235">
                  <a:extLst>
                    <a:ext uri="{FF2B5EF4-FFF2-40B4-BE49-F238E27FC236}">
                      <a16:creationId xmlns:a16="http://schemas.microsoft.com/office/drawing/2014/main" id="{E34C0925-6CC8-4536-A95F-3EADB3F4EFBF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14737" cy="397920"/>
                  <a:chOff x="667045" y="1708643"/>
                  <a:chExt cx="414737" cy="397920"/>
                </a:xfrm>
              </p:grpSpPr>
              <p:sp>
                <p:nvSpPr>
                  <p:cNvPr id="111" name="Oval 236">
                    <a:extLst>
                      <a:ext uri="{FF2B5EF4-FFF2-40B4-BE49-F238E27FC236}">
                        <a16:creationId xmlns:a16="http://schemas.microsoft.com/office/drawing/2014/main" id="{8CFD5670-0C06-4E37-89D5-5F16884F3E2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2" name="TextBox 237">
                    <a:extLst>
                      <a:ext uri="{FF2B5EF4-FFF2-40B4-BE49-F238E27FC236}">
                        <a16:creationId xmlns:a16="http://schemas.microsoft.com/office/drawing/2014/main" id="{50EB4CB8-18EA-4E67-8CB7-849470C9DBAD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351296" cy="3979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rPr>
                      <a:t>2d</a:t>
                    </a:r>
                  </a:p>
                </p:txBody>
              </p:sp>
            </p:grpSp>
          </p:grpSp>
          <p:grpSp>
            <p:nvGrpSpPr>
              <p:cNvPr id="75" name="Group 200">
                <a:extLst>
                  <a:ext uri="{FF2B5EF4-FFF2-40B4-BE49-F238E27FC236}">
                    <a16:creationId xmlns:a16="http://schemas.microsoft.com/office/drawing/2014/main" id="{7AB271CC-BC22-4B69-A91E-17124573C629}"/>
                  </a:ext>
                </a:extLst>
              </p:cNvPr>
              <p:cNvGrpSpPr/>
              <p:nvPr/>
            </p:nvGrpSpPr>
            <p:grpSpPr>
              <a:xfrm>
                <a:off x="2601806" y="3485072"/>
                <a:ext cx="565150" cy="397920"/>
                <a:chOff x="1736090" y="2873352"/>
                <a:chExt cx="565150" cy="397920"/>
              </a:xfrm>
            </p:grpSpPr>
            <p:grpSp>
              <p:nvGrpSpPr>
                <p:cNvPr id="96" name="Group 327">
                  <a:extLst>
                    <a:ext uri="{FF2B5EF4-FFF2-40B4-BE49-F238E27FC236}">
                      <a16:creationId xmlns:a16="http://schemas.microsoft.com/office/drawing/2014/main" id="{3C0BE5D5-64E5-4B4A-A784-7DDEC5E9A36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100" name="Oval 225">
                    <a:extLst>
                      <a:ext uri="{FF2B5EF4-FFF2-40B4-BE49-F238E27FC236}">
                        <a16:creationId xmlns:a16="http://schemas.microsoft.com/office/drawing/2014/main" id="{9A59BFDE-DD4C-4679-BF54-41211F2C3BBF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1" name="Rectangle 226">
                    <a:extLst>
                      <a:ext uri="{FF2B5EF4-FFF2-40B4-BE49-F238E27FC236}">
                        <a16:creationId xmlns:a16="http://schemas.microsoft.com/office/drawing/2014/main" id="{2366F756-78C4-4692-8212-6B309E09580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2" name="Oval 227">
                    <a:extLst>
                      <a:ext uri="{FF2B5EF4-FFF2-40B4-BE49-F238E27FC236}">
                        <a16:creationId xmlns:a16="http://schemas.microsoft.com/office/drawing/2014/main" id="{78306CF3-E644-4A61-B0CE-72D448D5315E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3" name="Freeform 228">
                    <a:extLst>
                      <a:ext uri="{FF2B5EF4-FFF2-40B4-BE49-F238E27FC236}">
                        <a16:creationId xmlns:a16="http://schemas.microsoft.com/office/drawing/2014/main" id="{68444D18-9D94-4C22-864C-EDEC96EDC71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4" name="Freeform 229">
                    <a:extLst>
                      <a:ext uri="{FF2B5EF4-FFF2-40B4-BE49-F238E27FC236}">
                        <a16:creationId xmlns:a16="http://schemas.microsoft.com/office/drawing/2014/main" id="{A2F7B164-A20F-4CB1-89D2-92254146184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5" name="Freeform 230">
                    <a:extLst>
                      <a:ext uri="{FF2B5EF4-FFF2-40B4-BE49-F238E27FC236}">
                        <a16:creationId xmlns:a16="http://schemas.microsoft.com/office/drawing/2014/main" id="{DCD42F82-F184-4F8C-A511-727CBA46FE9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6" name="Freeform 231">
                    <a:extLst>
                      <a:ext uri="{FF2B5EF4-FFF2-40B4-BE49-F238E27FC236}">
                        <a16:creationId xmlns:a16="http://schemas.microsoft.com/office/drawing/2014/main" id="{FEBCF7EB-091F-426B-9462-8A1F0F207C1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107" name="Straight Connector 232">
                    <a:extLst>
                      <a:ext uri="{FF2B5EF4-FFF2-40B4-BE49-F238E27FC236}">
                        <a16:creationId xmlns:a16="http://schemas.microsoft.com/office/drawing/2014/main" id="{75B1F53A-DC92-42B8-92F3-F58B697421EC}"/>
                      </a:ext>
                    </a:extLst>
                  </p:cNvPr>
                  <p:cNvCxnSpPr>
                    <a:endCxn id="102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Straight Connector 233">
                    <a:extLst>
                      <a:ext uri="{FF2B5EF4-FFF2-40B4-BE49-F238E27FC236}">
                        <a16:creationId xmlns:a16="http://schemas.microsoft.com/office/drawing/2014/main" id="{4300AFA5-0EA7-44C8-B2C8-B9635D88666F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7" name="Group 222">
                  <a:extLst>
                    <a:ext uri="{FF2B5EF4-FFF2-40B4-BE49-F238E27FC236}">
                      <a16:creationId xmlns:a16="http://schemas.microsoft.com/office/drawing/2014/main" id="{C1400C6D-2D1A-46D3-B93C-B12C969EB7F4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14737" cy="397920"/>
                  <a:chOff x="667045" y="1708643"/>
                  <a:chExt cx="414737" cy="397920"/>
                </a:xfrm>
              </p:grpSpPr>
              <p:sp>
                <p:nvSpPr>
                  <p:cNvPr id="98" name="Oval 223">
                    <a:extLst>
                      <a:ext uri="{FF2B5EF4-FFF2-40B4-BE49-F238E27FC236}">
                        <a16:creationId xmlns:a16="http://schemas.microsoft.com/office/drawing/2014/main" id="{DD762FFF-7924-4195-99A2-B44F63AE26F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9" name="TextBox 224">
                    <a:extLst>
                      <a:ext uri="{FF2B5EF4-FFF2-40B4-BE49-F238E27FC236}">
                        <a16:creationId xmlns:a16="http://schemas.microsoft.com/office/drawing/2014/main" id="{260837C8-095E-4B41-AC47-031BA7809668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328235" cy="3979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rPr>
                      <a:t>2c</a:t>
                    </a:r>
                  </a:p>
                </p:txBody>
              </p:sp>
            </p:grpSp>
          </p:grpSp>
          <p:grpSp>
            <p:nvGrpSpPr>
              <p:cNvPr id="76" name="Group 201">
                <a:extLst>
                  <a:ext uri="{FF2B5EF4-FFF2-40B4-BE49-F238E27FC236}">
                    <a16:creationId xmlns:a16="http://schemas.microsoft.com/office/drawing/2014/main" id="{F5D6BCB7-4CBE-450F-A228-EA8CB2E46888}"/>
                  </a:ext>
                </a:extLst>
              </p:cNvPr>
              <p:cNvGrpSpPr/>
              <p:nvPr/>
            </p:nvGrpSpPr>
            <p:grpSpPr>
              <a:xfrm>
                <a:off x="833331" y="3478719"/>
                <a:ext cx="565150" cy="397920"/>
                <a:chOff x="1736090" y="2873352"/>
                <a:chExt cx="565150" cy="397920"/>
              </a:xfrm>
            </p:grpSpPr>
            <p:grpSp>
              <p:nvGrpSpPr>
                <p:cNvPr id="83" name="Group 327">
                  <a:extLst>
                    <a:ext uri="{FF2B5EF4-FFF2-40B4-BE49-F238E27FC236}">
                      <a16:creationId xmlns:a16="http://schemas.microsoft.com/office/drawing/2014/main" id="{ADEAB2ED-819C-4A36-B5A6-4DE0FA9B9F0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87" name="Oval 212">
                    <a:extLst>
                      <a:ext uri="{FF2B5EF4-FFF2-40B4-BE49-F238E27FC236}">
                        <a16:creationId xmlns:a16="http://schemas.microsoft.com/office/drawing/2014/main" id="{233C67D6-D7D3-4255-8155-FC3DF7178A82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8" name="Rectangle 213">
                    <a:extLst>
                      <a:ext uri="{FF2B5EF4-FFF2-40B4-BE49-F238E27FC236}">
                        <a16:creationId xmlns:a16="http://schemas.microsoft.com/office/drawing/2014/main" id="{6E70B082-B251-4F95-9F99-4CCD2EB60DF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9" name="Oval 214">
                    <a:extLst>
                      <a:ext uri="{FF2B5EF4-FFF2-40B4-BE49-F238E27FC236}">
                        <a16:creationId xmlns:a16="http://schemas.microsoft.com/office/drawing/2014/main" id="{95702A55-217E-4D46-BD08-56B02266EDEE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0" name="Freeform 215">
                    <a:extLst>
                      <a:ext uri="{FF2B5EF4-FFF2-40B4-BE49-F238E27FC236}">
                        <a16:creationId xmlns:a16="http://schemas.microsoft.com/office/drawing/2014/main" id="{75AE8FF0-534A-4684-BAF4-ECDD8803CFA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1" name="Freeform 216">
                    <a:extLst>
                      <a:ext uri="{FF2B5EF4-FFF2-40B4-BE49-F238E27FC236}">
                        <a16:creationId xmlns:a16="http://schemas.microsoft.com/office/drawing/2014/main" id="{E408F6C1-134B-4776-8FF4-59AC920CCBB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2" name="Freeform 217">
                    <a:extLst>
                      <a:ext uri="{FF2B5EF4-FFF2-40B4-BE49-F238E27FC236}">
                        <a16:creationId xmlns:a16="http://schemas.microsoft.com/office/drawing/2014/main" id="{D283536D-AEFC-4328-8FE0-4203DC05EA0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" name="Freeform 218">
                    <a:extLst>
                      <a:ext uri="{FF2B5EF4-FFF2-40B4-BE49-F238E27FC236}">
                        <a16:creationId xmlns:a16="http://schemas.microsoft.com/office/drawing/2014/main" id="{875B43F1-25BC-4173-B82F-3BEBC25AF24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94" name="Straight Connector 219">
                    <a:extLst>
                      <a:ext uri="{FF2B5EF4-FFF2-40B4-BE49-F238E27FC236}">
                        <a16:creationId xmlns:a16="http://schemas.microsoft.com/office/drawing/2014/main" id="{D4692E5F-FC8F-4B6B-91E0-4B1A0BA21B0B}"/>
                      </a:ext>
                    </a:extLst>
                  </p:cNvPr>
                  <p:cNvCxnSpPr>
                    <a:endCxn id="89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" name="Straight Connector 220">
                    <a:extLst>
                      <a:ext uri="{FF2B5EF4-FFF2-40B4-BE49-F238E27FC236}">
                        <a16:creationId xmlns:a16="http://schemas.microsoft.com/office/drawing/2014/main" id="{7B0ADC35-88AA-46C1-B33B-DBE50A1A20B4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4" name="Group 209">
                  <a:extLst>
                    <a:ext uri="{FF2B5EF4-FFF2-40B4-BE49-F238E27FC236}">
                      <a16:creationId xmlns:a16="http://schemas.microsoft.com/office/drawing/2014/main" id="{3FFF1934-3C1B-470E-A3B1-4B7D41BE08C0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14737" cy="397920"/>
                  <a:chOff x="667045" y="1708643"/>
                  <a:chExt cx="414737" cy="397920"/>
                </a:xfrm>
              </p:grpSpPr>
              <p:sp>
                <p:nvSpPr>
                  <p:cNvPr id="85" name="Oval 210">
                    <a:extLst>
                      <a:ext uri="{FF2B5EF4-FFF2-40B4-BE49-F238E27FC236}">
                        <a16:creationId xmlns:a16="http://schemas.microsoft.com/office/drawing/2014/main" id="{12897A1D-CAD3-4A17-BBB4-3B0160B263C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6" name="TextBox 211">
                    <a:extLst>
                      <a:ext uri="{FF2B5EF4-FFF2-40B4-BE49-F238E27FC236}">
                        <a16:creationId xmlns:a16="http://schemas.microsoft.com/office/drawing/2014/main" id="{CCDCA0F9-0FEA-4EAD-B0DB-6167F28BCC0A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337203" cy="3979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rPr>
                      <a:t>2a</a:t>
                    </a:r>
                  </a:p>
                </p:txBody>
              </p:sp>
            </p:grpSp>
          </p:grpSp>
          <p:cxnSp>
            <p:nvCxnSpPr>
              <p:cNvPr id="77" name="Straight Connector 202">
                <a:extLst>
                  <a:ext uri="{FF2B5EF4-FFF2-40B4-BE49-F238E27FC236}">
                    <a16:creationId xmlns:a16="http://schemas.microsoft.com/office/drawing/2014/main" id="{26F635CB-BF5A-4C46-9E21-06A94201C914}"/>
                  </a:ext>
                </a:extLst>
              </p:cNvPr>
              <p:cNvCxnSpPr>
                <a:stCxn id="125" idx="2"/>
                <a:endCxn id="112" idx="0"/>
              </p:cNvCxnSpPr>
              <p:nvPr/>
            </p:nvCxnSpPr>
            <p:spPr bwMode="auto">
              <a:xfrm>
                <a:off x="1946010" y="3271272"/>
                <a:ext cx="4230" cy="823397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78" name="Straight Connector 203">
                <a:extLst>
                  <a:ext uri="{FF2B5EF4-FFF2-40B4-BE49-F238E27FC236}">
                    <a16:creationId xmlns:a16="http://schemas.microsoft.com/office/drawing/2014/main" id="{33FAA388-A0E6-4ACF-A57B-C84AD7B70C5F}"/>
                  </a:ext>
                </a:extLst>
              </p:cNvPr>
              <p:cNvCxnSpPr/>
              <p:nvPr/>
            </p:nvCxnSpPr>
            <p:spPr bwMode="auto">
              <a:xfrm>
                <a:off x="1407477" y="3648621"/>
                <a:ext cx="1204913" cy="635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79" name="Straight Connector 204">
                <a:extLst>
                  <a:ext uri="{FF2B5EF4-FFF2-40B4-BE49-F238E27FC236}">
                    <a16:creationId xmlns:a16="http://schemas.microsoft.com/office/drawing/2014/main" id="{1D10ACD0-00B8-4E3B-8E89-F8953A7CC0AA}"/>
                  </a:ext>
                </a:extLst>
              </p:cNvPr>
              <p:cNvCxnSpPr>
                <a:stCxn id="126" idx="7"/>
              </p:cNvCxnSpPr>
              <p:nvPr/>
            </p:nvCxnSpPr>
            <p:spPr bwMode="auto">
              <a:xfrm>
                <a:off x="2218708" y="3154477"/>
                <a:ext cx="480042" cy="36977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0" name="Straight Connector 205">
                <a:extLst>
                  <a:ext uri="{FF2B5EF4-FFF2-40B4-BE49-F238E27FC236}">
                    <a16:creationId xmlns:a16="http://schemas.microsoft.com/office/drawing/2014/main" id="{73C827B3-2CE1-4AE7-9CA9-17C92185ADBE}"/>
                  </a:ext>
                </a:extLst>
              </p:cNvPr>
              <p:cNvCxnSpPr/>
              <p:nvPr/>
            </p:nvCxnSpPr>
            <p:spPr bwMode="auto">
              <a:xfrm>
                <a:off x="1300073" y="3786304"/>
                <a:ext cx="477927" cy="35707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1" name="Straight Connector 206">
                <a:extLst>
                  <a:ext uri="{FF2B5EF4-FFF2-40B4-BE49-F238E27FC236}">
                    <a16:creationId xmlns:a16="http://schemas.microsoft.com/office/drawing/2014/main" id="{87E4330A-34AF-43C0-B984-1A6BD1352C2E}"/>
                  </a:ext>
                </a:extLst>
              </p:cNvPr>
              <p:cNvCxnSpPr/>
              <p:nvPr/>
            </p:nvCxnSpPr>
            <p:spPr bwMode="auto">
              <a:xfrm flipH="1">
                <a:off x="2196042" y="3783542"/>
                <a:ext cx="508002" cy="34925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2" name="Straight Connector 207">
                <a:extLst>
                  <a:ext uri="{FF2B5EF4-FFF2-40B4-BE49-F238E27FC236}">
                    <a16:creationId xmlns:a16="http://schemas.microsoft.com/office/drawing/2014/main" id="{1B720955-D314-47BC-8EC1-1CD87A06CBFA}"/>
                  </a:ext>
                </a:extLst>
              </p:cNvPr>
              <p:cNvCxnSpPr/>
              <p:nvPr/>
            </p:nvCxnSpPr>
            <p:spPr bwMode="auto">
              <a:xfrm flipH="1">
                <a:off x="1287553" y="3166946"/>
                <a:ext cx="508002" cy="34925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sp>
        <p:nvSpPr>
          <p:cNvPr id="135" name="Freeform 2">
            <a:extLst>
              <a:ext uri="{FF2B5EF4-FFF2-40B4-BE49-F238E27FC236}">
                <a16:creationId xmlns:a16="http://schemas.microsoft.com/office/drawing/2014/main" id="{D9D5EC03-DB1D-47E7-B99D-77CDA609FCF3}"/>
              </a:ext>
            </a:extLst>
          </p:cNvPr>
          <p:cNvSpPr>
            <a:spLocks/>
          </p:cNvSpPr>
          <p:nvPr/>
        </p:nvSpPr>
        <p:spPr bwMode="auto">
          <a:xfrm>
            <a:off x="7343582" y="1310427"/>
            <a:ext cx="3434028" cy="1672516"/>
          </a:xfrm>
          <a:custGeom>
            <a:avLst/>
            <a:gdLst>
              <a:gd name="T0" fmla="*/ 648763 w 10001"/>
              <a:gd name="T1" fmla="*/ 34777612 h 10125"/>
              <a:gd name="T2" fmla="*/ 115976403 w 10001"/>
              <a:gd name="T3" fmla="*/ 13733703 h 10125"/>
              <a:gd name="T4" fmla="*/ 507700960 w 10001"/>
              <a:gd name="T5" fmla="*/ 8662125 h 10125"/>
              <a:gd name="T6" fmla="*/ 810212713 w 10001"/>
              <a:gd name="T7" fmla="*/ 0 h 10125"/>
              <a:gd name="T8" fmla="*/ 1090015738 w 10001"/>
              <a:gd name="T9" fmla="*/ 8687929 h 10125"/>
              <a:gd name="T10" fmla="*/ 1310938763 w 10001"/>
              <a:gd name="T11" fmla="*/ 4279362 h 10125"/>
              <a:gd name="T12" fmla="*/ 1620263134 w 10001"/>
              <a:gd name="T13" fmla="*/ 25736690 h 10125"/>
              <a:gd name="T14" fmla="*/ 1394798364 w 10001"/>
              <a:gd name="T15" fmla="*/ 58525268 h 10125"/>
              <a:gd name="T16" fmla="*/ 1134622140 w 10001"/>
              <a:gd name="T17" fmla="*/ 80266624 h 10125"/>
              <a:gd name="T18" fmla="*/ 860820276 w 10001"/>
              <a:gd name="T19" fmla="*/ 76142271 h 10125"/>
              <a:gd name="T20" fmla="*/ 708996782 w 10001"/>
              <a:gd name="T21" fmla="*/ 85346835 h 10125"/>
              <a:gd name="T22" fmla="*/ 509322667 w 10001"/>
              <a:gd name="T23" fmla="*/ 86268164 h 10125"/>
              <a:gd name="T24" fmla="*/ 353443899 w 10001"/>
              <a:gd name="T25" fmla="*/ 67979516 h 10125"/>
              <a:gd name="T26" fmla="*/ 192536914 w 10001"/>
              <a:gd name="T27" fmla="*/ 64535347 h 10125"/>
              <a:gd name="T28" fmla="*/ 648763 w 10001"/>
              <a:gd name="T29" fmla="*/ 34777612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connsiteX0" fmla="*/ 4 w 10040"/>
              <a:gd name="connsiteY0" fmla="*/ 4039 h 10125"/>
              <a:gd name="connsiteX1" fmla="*/ 715 w 10040"/>
              <a:gd name="connsiteY1" fmla="*/ 1595 h 10125"/>
              <a:gd name="connsiteX2" fmla="*/ 3130 w 10040"/>
              <a:gd name="connsiteY2" fmla="*/ 1006 h 10125"/>
              <a:gd name="connsiteX3" fmla="*/ 4995 w 10040"/>
              <a:gd name="connsiteY3" fmla="*/ 0 h 10125"/>
              <a:gd name="connsiteX4" fmla="*/ 6720 w 10040"/>
              <a:gd name="connsiteY4" fmla="*/ 1009 h 10125"/>
              <a:gd name="connsiteX5" fmla="*/ 9989 w 10040"/>
              <a:gd name="connsiteY5" fmla="*/ 2989 h 10125"/>
              <a:gd name="connsiteX6" fmla="*/ 8599 w 10040"/>
              <a:gd name="connsiteY6" fmla="*/ 6797 h 10125"/>
              <a:gd name="connsiteX7" fmla="*/ 6995 w 10040"/>
              <a:gd name="connsiteY7" fmla="*/ 9322 h 10125"/>
              <a:gd name="connsiteX8" fmla="*/ 5307 w 10040"/>
              <a:gd name="connsiteY8" fmla="*/ 8843 h 10125"/>
              <a:gd name="connsiteX9" fmla="*/ 4371 w 10040"/>
              <a:gd name="connsiteY9" fmla="*/ 9912 h 10125"/>
              <a:gd name="connsiteX10" fmla="*/ 3140 w 10040"/>
              <a:gd name="connsiteY10" fmla="*/ 10019 h 10125"/>
              <a:gd name="connsiteX11" fmla="*/ 2179 w 10040"/>
              <a:gd name="connsiteY11" fmla="*/ 7895 h 10125"/>
              <a:gd name="connsiteX12" fmla="*/ 1187 w 10040"/>
              <a:gd name="connsiteY12" fmla="*/ 7495 h 10125"/>
              <a:gd name="connsiteX13" fmla="*/ 4 w 10040"/>
              <a:gd name="connsiteY13" fmla="*/ 4039 h 10125"/>
              <a:gd name="connsiteX0" fmla="*/ 4 w 8600"/>
              <a:gd name="connsiteY0" fmla="*/ 4042 h 10128"/>
              <a:gd name="connsiteX1" fmla="*/ 715 w 8600"/>
              <a:gd name="connsiteY1" fmla="*/ 1598 h 10128"/>
              <a:gd name="connsiteX2" fmla="*/ 3130 w 8600"/>
              <a:gd name="connsiteY2" fmla="*/ 1009 h 10128"/>
              <a:gd name="connsiteX3" fmla="*/ 4995 w 8600"/>
              <a:gd name="connsiteY3" fmla="*/ 3 h 10128"/>
              <a:gd name="connsiteX4" fmla="*/ 6720 w 8600"/>
              <a:gd name="connsiteY4" fmla="*/ 1012 h 10128"/>
              <a:gd name="connsiteX5" fmla="*/ 8599 w 8600"/>
              <a:gd name="connsiteY5" fmla="*/ 6800 h 10128"/>
              <a:gd name="connsiteX6" fmla="*/ 6995 w 8600"/>
              <a:gd name="connsiteY6" fmla="*/ 9325 h 10128"/>
              <a:gd name="connsiteX7" fmla="*/ 5307 w 8600"/>
              <a:gd name="connsiteY7" fmla="*/ 8846 h 10128"/>
              <a:gd name="connsiteX8" fmla="*/ 4371 w 8600"/>
              <a:gd name="connsiteY8" fmla="*/ 9915 h 10128"/>
              <a:gd name="connsiteX9" fmla="*/ 3140 w 8600"/>
              <a:gd name="connsiteY9" fmla="*/ 10022 h 10128"/>
              <a:gd name="connsiteX10" fmla="*/ 2179 w 8600"/>
              <a:gd name="connsiteY10" fmla="*/ 7898 h 10128"/>
              <a:gd name="connsiteX11" fmla="*/ 1187 w 8600"/>
              <a:gd name="connsiteY11" fmla="*/ 7498 h 10128"/>
              <a:gd name="connsiteX12" fmla="*/ 4 w 8600"/>
              <a:gd name="connsiteY12" fmla="*/ 4042 h 10128"/>
              <a:gd name="connsiteX0" fmla="*/ 4 w 9326"/>
              <a:gd name="connsiteY0" fmla="*/ 3988 h 9997"/>
              <a:gd name="connsiteX1" fmla="*/ 830 w 9326"/>
              <a:gd name="connsiteY1" fmla="*/ 1575 h 9997"/>
              <a:gd name="connsiteX2" fmla="*/ 3639 w 9326"/>
              <a:gd name="connsiteY2" fmla="*/ 993 h 9997"/>
              <a:gd name="connsiteX3" fmla="*/ 5807 w 9326"/>
              <a:gd name="connsiteY3" fmla="*/ 0 h 9997"/>
              <a:gd name="connsiteX4" fmla="*/ 7813 w 9326"/>
              <a:gd name="connsiteY4" fmla="*/ 996 h 9997"/>
              <a:gd name="connsiteX5" fmla="*/ 9324 w 9326"/>
              <a:gd name="connsiteY5" fmla="*/ 5746 h 9997"/>
              <a:gd name="connsiteX6" fmla="*/ 8133 w 9326"/>
              <a:gd name="connsiteY6" fmla="*/ 9204 h 9997"/>
              <a:gd name="connsiteX7" fmla="*/ 6170 w 9326"/>
              <a:gd name="connsiteY7" fmla="*/ 8731 h 9997"/>
              <a:gd name="connsiteX8" fmla="*/ 5082 w 9326"/>
              <a:gd name="connsiteY8" fmla="*/ 9787 h 9997"/>
              <a:gd name="connsiteX9" fmla="*/ 3650 w 9326"/>
              <a:gd name="connsiteY9" fmla="*/ 9892 h 9997"/>
              <a:gd name="connsiteX10" fmla="*/ 2533 w 9326"/>
              <a:gd name="connsiteY10" fmla="*/ 7795 h 9997"/>
              <a:gd name="connsiteX11" fmla="*/ 1379 w 9326"/>
              <a:gd name="connsiteY11" fmla="*/ 7400 h 9997"/>
              <a:gd name="connsiteX12" fmla="*/ 4 w 9326"/>
              <a:gd name="connsiteY12" fmla="*/ 3988 h 9997"/>
              <a:gd name="connsiteX0" fmla="*/ 4 w 10001"/>
              <a:gd name="connsiteY0" fmla="*/ 3989 h 10041"/>
              <a:gd name="connsiteX1" fmla="*/ 890 w 10001"/>
              <a:gd name="connsiteY1" fmla="*/ 1575 h 10041"/>
              <a:gd name="connsiteX2" fmla="*/ 3902 w 10001"/>
              <a:gd name="connsiteY2" fmla="*/ 993 h 10041"/>
              <a:gd name="connsiteX3" fmla="*/ 6227 w 10001"/>
              <a:gd name="connsiteY3" fmla="*/ 0 h 10041"/>
              <a:gd name="connsiteX4" fmla="*/ 8378 w 10001"/>
              <a:gd name="connsiteY4" fmla="*/ 996 h 10041"/>
              <a:gd name="connsiteX5" fmla="*/ 9998 w 10001"/>
              <a:gd name="connsiteY5" fmla="*/ 5748 h 10041"/>
              <a:gd name="connsiteX6" fmla="*/ 8721 w 10001"/>
              <a:gd name="connsiteY6" fmla="*/ 9207 h 10041"/>
              <a:gd name="connsiteX7" fmla="*/ 5449 w 10001"/>
              <a:gd name="connsiteY7" fmla="*/ 9790 h 10041"/>
              <a:gd name="connsiteX8" fmla="*/ 3914 w 10001"/>
              <a:gd name="connsiteY8" fmla="*/ 9895 h 10041"/>
              <a:gd name="connsiteX9" fmla="*/ 2716 w 10001"/>
              <a:gd name="connsiteY9" fmla="*/ 7797 h 10041"/>
              <a:gd name="connsiteX10" fmla="*/ 1479 w 10001"/>
              <a:gd name="connsiteY10" fmla="*/ 7402 h 10041"/>
              <a:gd name="connsiteX11" fmla="*/ 4 w 10001"/>
              <a:gd name="connsiteY11" fmla="*/ 3989 h 10041"/>
              <a:gd name="connsiteX0" fmla="*/ 4 w 10001"/>
              <a:gd name="connsiteY0" fmla="*/ 3989 h 14825"/>
              <a:gd name="connsiteX1" fmla="*/ 890 w 10001"/>
              <a:gd name="connsiteY1" fmla="*/ 1575 h 14825"/>
              <a:gd name="connsiteX2" fmla="*/ 3902 w 10001"/>
              <a:gd name="connsiteY2" fmla="*/ 993 h 14825"/>
              <a:gd name="connsiteX3" fmla="*/ 6227 w 10001"/>
              <a:gd name="connsiteY3" fmla="*/ 0 h 14825"/>
              <a:gd name="connsiteX4" fmla="*/ 8378 w 10001"/>
              <a:gd name="connsiteY4" fmla="*/ 996 h 14825"/>
              <a:gd name="connsiteX5" fmla="*/ 9998 w 10001"/>
              <a:gd name="connsiteY5" fmla="*/ 5748 h 14825"/>
              <a:gd name="connsiteX6" fmla="*/ 8721 w 10001"/>
              <a:gd name="connsiteY6" fmla="*/ 9207 h 14825"/>
              <a:gd name="connsiteX7" fmla="*/ 6011 w 10001"/>
              <a:gd name="connsiteY7" fmla="*/ 14823 h 14825"/>
              <a:gd name="connsiteX8" fmla="*/ 3914 w 10001"/>
              <a:gd name="connsiteY8" fmla="*/ 9895 h 14825"/>
              <a:gd name="connsiteX9" fmla="*/ 2716 w 10001"/>
              <a:gd name="connsiteY9" fmla="*/ 7797 h 14825"/>
              <a:gd name="connsiteX10" fmla="*/ 1479 w 10001"/>
              <a:gd name="connsiteY10" fmla="*/ 7402 h 14825"/>
              <a:gd name="connsiteX11" fmla="*/ 4 w 10001"/>
              <a:gd name="connsiteY11" fmla="*/ 3989 h 14825"/>
              <a:gd name="connsiteX0" fmla="*/ 4 w 10001"/>
              <a:gd name="connsiteY0" fmla="*/ 7436 h 18272"/>
              <a:gd name="connsiteX1" fmla="*/ 890 w 10001"/>
              <a:gd name="connsiteY1" fmla="*/ 5022 h 18272"/>
              <a:gd name="connsiteX2" fmla="*/ 3902 w 10001"/>
              <a:gd name="connsiteY2" fmla="*/ 4440 h 18272"/>
              <a:gd name="connsiteX3" fmla="*/ 6026 w 10001"/>
              <a:gd name="connsiteY3" fmla="*/ 0 h 18272"/>
              <a:gd name="connsiteX4" fmla="*/ 8378 w 10001"/>
              <a:gd name="connsiteY4" fmla="*/ 4443 h 18272"/>
              <a:gd name="connsiteX5" fmla="*/ 9998 w 10001"/>
              <a:gd name="connsiteY5" fmla="*/ 9195 h 18272"/>
              <a:gd name="connsiteX6" fmla="*/ 8721 w 10001"/>
              <a:gd name="connsiteY6" fmla="*/ 12654 h 18272"/>
              <a:gd name="connsiteX7" fmla="*/ 6011 w 10001"/>
              <a:gd name="connsiteY7" fmla="*/ 18270 h 18272"/>
              <a:gd name="connsiteX8" fmla="*/ 3914 w 10001"/>
              <a:gd name="connsiteY8" fmla="*/ 13342 h 18272"/>
              <a:gd name="connsiteX9" fmla="*/ 2716 w 10001"/>
              <a:gd name="connsiteY9" fmla="*/ 11244 h 18272"/>
              <a:gd name="connsiteX10" fmla="*/ 1479 w 10001"/>
              <a:gd name="connsiteY10" fmla="*/ 10849 h 18272"/>
              <a:gd name="connsiteX11" fmla="*/ 4 w 10001"/>
              <a:gd name="connsiteY11" fmla="*/ 7436 h 18272"/>
              <a:gd name="connsiteX0" fmla="*/ 1 w 9998"/>
              <a:gd name="connsiteY0" fmla="*/ 7436 h 18272"/>
              <a:gd name="connsiteX1" fmla="*/ 3899 w 9998"/>
              <a:gd name="connsiteY1" fmla="*/ 4440 h 18272"/>
              <a:gd name="connsiteX2" fmla="*/ 6023 w 9998"/>
              <a:gd name="connsiteY2" fmla="*/ 0 h 18272"/>
              <a:gd name="connsiteX3" fmla="*/ 8375 w 9998"/>
              <a:gd name="connsiteY3" fmla="*/ 4443 h 18272"/>
              <a:gd name="connsiteX4" fmla="*/ 9995 w 9998"/>
              <a:gd name="connsiteY4" fmla="*/ 9195 h 18272"/>
              <a:gd name="connsiteX5" fmla="*/ 8718 w 9998"/>
              <a:gd name="connsiteY5" fmla="*/ 12654 h 18272"/>
              <a:gd name="connsiteX6" fmla="*/ 6008 w 9998"/>
              <a:gd name="connsiteY6" fmla="*/ 18270 h 18272"/>
              <a:gd name="connsiteX7" fmla="*/ 3911 w 9998"/>
              <a:gd name="connsiteY7" fmla="*/ 13342 h 18272"/>
              <a:gd name="connsiteX8" fmla="*/ 2713 w 9998"/>
              <a:gd name="connsiteY8" fmla="*/ 11244 h 18272"/>
              <a:gd name="connsiteX9" fmla="*/ 1476 w 9998"/>
              <a:gd name="connsiteY9" fmla="*/ 10849 h 18272"/>
              <a:gd name="connsiteX10" fmla="*/ 1 w 9998"/>
              <a:gd name="connsiteY10" fmla="*/ 7436 h 18272"/>
              <a:gd name="connsiteX0" fmla="*/ 35 w 8559"/>
              <a:gd name="connsiteY0" fmla="*/ 5938 h 10000"/>
              <a:gd name="connsiteX1" fmla="*/ 2459 w 8559"/>
              <a:gd name="connsiteY1" fmla="*/ 2430 h 10000"/>
              <a:gd name="connsiteX2" fmla="*/ 4583 w 8559"/>
              <a:gd name="connsiteY2" fmla="*/ 0 h 10000"/>
              <a:gd name="connsiteX3" fmla="*/ 6936 w 8559"/>
              <a:gd name="connsiteY3" fmla="*/ 2432 h 10000"/>
              <a:gd name="connsiteX4" fmla="*/ 8556 w 8559"/>
              <a:gd name="connsiteY4" fmla="*/ 5032 h 10000"/>
              <a:gd name="connsiteX5" fmla="*/ 7279 w 8559"/>
              <a:gd name="connsiteY5" fmla="*/ 6925 h 10000"/>
              <a:gd name="connsiteX6" fmla="*/ 4568 w 8559"/>
              <a:gd name="connsiteY6" fmla="*/ 9999 h 10000"/>
              <a:gd name="connsiteX7" fmla="*/ 2471 w 8559"/>
              <a:gd name="connsiteY7" fmla="*/ 7302 h 10000"/>
              <a:gd name="connsiteX8" fmla="*/ 1273 w 8559"/>
              <a:gd name="connsiteY8" fmla="*/ 6154 h 10000"/>
              <a:gd name="connsiteX9" fmla="*/ 35 w 8559"/>
              <a:gd name="connsiteY9" fmla="*/ 5938 h 10000"/>
              <a:gd name="connsiteX0" fmla="*/ 49 w 9820"/>
              <a:gd name="connsiteY0" fmla="*/ 4655 h 10000"/>
              <a:gd name="connsiteX1" fmla="*/ 2693 w 9820"/>
              <a:gd name="connsiteY1" fmla="*/ 2430 h 10000"/>
              <a:gd name="connsiteX2" fmla="*/ 5175 w 9820"/>
              <a:gd name="connsiteY2" fmla="*/ 0 h 10000"/>
              <a:gd name="connsiteX3" fmla="*/ 7924 w 9820"/>
              <a:gd name="connsiteY3" fmla="*/ 2432 h 10000"/>
              <a:gd name="connsiteX4" fmla="*/ 9816 w 9820"/>
              <a:gd name="connsiteY4" fmla="*/ 5032 h 10000"/>
              <a:gd name="connsiteX5" fmla="*/ 8324 w 9820"/>
              <a:gd name="connsiteY5" fmla="*/ 6925 h 10000"/>
              <a:gd name="connsiteX6" fmla="*/ 5157 w 9820"/>
              <a:gd name="connsiteY6" fmla="*/ 9999 h 10000"/>
              <a:gd name="connsiteX7" fmla="*/ 2707 w 9820"/>
              <a:gd name="connsiteY7" fmla="*/ 7302 h 10000"/>
              <a:gd name="connsiteX8" fmla="*/ 1307 w 9820"/>
              <a:gd name="connsiteY8" fmla="*/ 6154 h 10000"/>
              <a:gd name="connsiteX9" fmla="*/ 49 w 9820"/>
              <a:gd name="connsiteY9" fmla="*/ 4655 h 10000"/>
              <a:gd name="connsiteX0" fmla="*/ 45 w 9995"/>
              <a:gd name="connsiteY0" fmla="*/ 4655 h 10000"/>
              <a:gd name="connsiteX1" fmla="*/ 2737 w 9995"/>
              <a:gd name="connsiteY1" fmla="*/ 2430 h 10000"/>
              <a:gd name="connsiteX2" fmla="*/ 5265 w 9995"/>
              <a:gd name="connsiteY2" fmla="*/ 0 h 10000"/>
              <a:gd name="connsiteX3" fmla="*/ 8064 w 9995"/>
              <a:gd name="connsiteY3" fmla="*/ 2432 h 10000"/>
              <a:gd name="connsiteX4" fmla="*/ 9991 w 9995"/>
              <a:gd name="connsiteY4" fmla="*/ 5032 h 10000"/>
              <a:gd name="connsiteX5" fmla="*/ 8472 w 9995"/>
              <a:gd name="connsiteY5" fmla="*/ 6925 h 10000"/>
              <a:gd name="connsiteX6" fmla="*/ 5247 w 9995"/>
              <a:gd name="connsiteY6" fmla="*/ 9999 h 10000"/>
              <a:gd name="connsiteX7" fmla="*/ 2752 w 9995"/>
              <a:gd name="connsiteY7" fmla="*/ 7302 h 10000"/>
              <a:gd name="connsiteX8" fmla="*/ 1374 w 9995"/>
              <a:gd name="connsiteY8" fmla="*/ 6984 h 10000"/>
              <a:gd name="connsiteX9" fmla="*/ 45 w 9995"/>
              <a:gd name="connsiteY9" fmla="*/ 4655 h 10000"/>
              <a:gd name="connsiteX0" fmla="*/ 45 w 10000"/>
              <a:gd name="connsiteY0" fmla="*/ 5032 h 10377"/>
              <a:gd name="connsiteX1" fmla="*/ 2738 w 10000"/>
              <a:gd name="connsiteY1" fmla="*/ 2807 h 10377"/>
              <a:gd name="connsiteX2" fmla="*/ 4886 w 10000"/>
              <a:gd name="connsiteY2" fmla="*/ 0 h 10377"/>
              <a:gd name="connsiteX3" fmla="*/ 8068 w 10000"/>
              <a:gd name="connsiteY3" fmla="*/ 2809 h 10377"/>
              <a:gd name="connsiteX4" fmla="*/ 9996 w 10000"/>
              <a:gd name="connsiteY4" fmla="*/ 5409 h 10377"/>
              <a:gd name="connsiteX5" fmla="*/ 8476 w 10000"/>
              <a:gd name="connsiteY5" fmla="*/ 7302 h 10377"/>
              <a:gd name="connsiteX6" fmla="*/ 5250 w 10000"/>
              <a:gd name="connsiteY6" fmla="*/ 10376 h 10377"/>
              <a:gd name="connsiteX7" fmla="*/ 2753 w 10000"/>
              <a:gd name="connsiteY7" fmla="*/ 7679 h 10377"/>
              <a:gd name="connsiteX8" fmla="*/ 1375 w 10000"/>
              <a:gd name="connsiteY8" fmla="*/ 7361 h 10377"/>
              <a:gd name="connsiteX9" fmla="*/ 45 w 10000"/>
              <a:gd name="connsiteY9" fmla="*/ 5032 h 10377"/>
              <a:gd name="connsiteX0" fmla="*/ 45 w 10000"/>
              <a:gd name="connsiteY0" fmla="*/ 5036 h 10381"/>
              <a:gd name="connsiteX1" fmla="*/ 2738 w 10000"/>
              <a:gd name="connsiteY1" fmla="*/ 2811 h 10381"/>
              <a:gd name="connsiteX2" fmla="*/ 4886 w 10000"/>
              <a:gd name="connsiteY2" fmla="*/ 4 h 10381"/>
              <a:gd name="connsiteX3" fmla="*/ 8068 w 10000"/>
              <a:gd name="connsiteY3" fmla="*/ 2813 h 10381"/>
              <a:gd name="connsiteX4" fmla="*/ 9996 w 10000"/>
              <a:gd name="connsiteY4" fmla="*/ 5413 h 10381"/>
              <a:gd name="connsiteX5" fmla="*/ 8476 w 10000"/>
              <a:gd name="connsiteY5" fmla="*/ 7306 h 10381"/>
              <a:gd name="connsiteX6" fmla="*/ 5250 w 10000"/>
              <a:gd name="connsiteY6" fmla="*/ 10380 h 10381"/>
              <a:gd name="connsiteX7" fmla="*/ 2753 w 10000"/>
              <a:gd name="connsiteY7" fmla="*/ 7683 h 10381"/>
              <a:gd name="connsiteX8" fmla="*/ 1375 w 10000"/>
              <a:gd name="connsiteY8" fmla="*/ 7365 h 10381"/>
              <a:gd name="connsiteX9" fmla="*/ 45 w 10000"/>
              <a:gd name="connsiteY9" fmla="*/ 5036 h 10381"/>
              <a:gd name="connsiteX0" fmla="*/ 45 w 10000"/>
              <a:gd name="connsiteY0" fmla="*/ 5036 h 10796"/>
              <a:gd name="connsiteX1" fmla="*/ 2738 w 10000"/>
              <a:gd name="connsiteY1" fmla="*/ 2811 h 10796"/>
              <a:gd name="connsiteX2" fmla="*/ 4886 w 10000"/>
              <a:gd name="connsiteY2" fmla="*/ 4 h 10796"/>
              <a:gd name="connsiteX3" fmla="*/ 8068 w 10000"/>
              <a:gd name="connsiteY3" fmla="*/ 2813 h 10796"/>
              <a:gd name="connsiteX4" fmla="*/ 9996 w 10000"/>
              <a:gd name="connsiteY4" fmla="*/ 5413 h 10796"/>
              <a:gd name="connsiteX5" fmla="*/ 8476 w 10000"/>
              <a:gd name="connsiteY5" fmla="*/ 7306 h 10796"/>
              <a:gd name="connsiteX6" fmla="*/ 5202 w 10000"/>
              <a:gd name="connsiteY6" fmla="*/ 10795 h 10796"/>
              <a:gd name="connsiteX7" fmla="*/ 2753 w 10000"/>
              <a:gd name="connsiteY7" fmla="*/ 7683 h 10796"/>
              <a:gd name="connsiteX8" fmla="*/ 1375 w 10000"/>
              <a:gd name="connsiteY8" fmla="*/ 7365 h 10796"/>
              <a:gd name="connsiteX9" fmla="*/ 45 w 10000"/>
              <a:gd name="connsiteY9" fmla="*/ 5036 h 10796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00" h="10795">
                <a:moveTo>
                  <a:pt x="45" y="5036"/>
                </a:moveTo>
                <a:cubicBezTo>
                  <a:pt x="272" y="4277"/>
                  <a:pt x="1931" y="3650"/>
                  <a:pt x="2738" y="2811"/>
                </a:cubicBezTo>
                <a:cubicBezTo>
                  <a:pt x="3545" y="1972"/>
                  <a:pt x="3352" y="117"/>
                  <a:pt x="4886" y="4"/>
                </a:cubicBezTo>
                <a:cubicBezTo>
                  <a:pt x="6420" y="-109"/>
                  <a:pt x="7216" y="1912"/>
                  <a:pt x="8068" y="2813"/>
                </a:cubicBezTo>
                <a:cubicBezTo>
                  <a:pt x="8920" y="3715"/>
                  <a:pt x="9928" y="3420"/>
                  <a:pt x="9996" y="5413"/>
                </a:cubicBezTo>
                <a:cubicBezTo>
                  <a:pt x="10064" y="7406"/>
                  <a:pt x="9275" y="6409"/>
                  <a:pt x="8476" y="7306"/>
                </a:cubicBezTo>
                <a:cubicBezTo>
                  <a:pt x="7677" y="8203"/>
                  <a:pt x="7086" y="10770"/>
                  <a:pt x="5202" y="10795"/>
                </a:cubicBezTo>
                <a:cubicBezTo>
                  <a:pt x="3318" y="10820"/>
                  <a:pt x="3391" y="8255"/>
                  <a:pt x="2753" y="7683"/>
                </a:cubicBezTo>
                <a:cubicBezTo>
                  <a:pt x="2115" y="7111"/>
                  <a:pt x="2326" y="7496"/>
                  <a:pt x="1375" y="7365"/>
                </a:cubicBezTo>
                <a:cubicBezTo>
                  <a:pt x="493" y="6773"/>
                  <a:pt x="-182" y="5795"/>
                  <a:pt x="45" y="5036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grpSp>
        <p:nvGrpSpPr>
          <p:cNvPr id="136" name="Group 133">
            <a:extLst>
              <a:ext uri="{FF2B5EF4-FFF2-40B4-BE49-F238E27FC236}">
                <a16:creationId xmlns:a16="http://schemas.microsoft.com/office/drawing/2014/main" id="{49C633EB-57A1-4453-A397-C03F942428E7}"/>
              </a:ext>
            </a:extLst>
          </p:cNvPr>
          <p:cNvGrpSpPr/>
          <p:nvPr/>
        </p:nvGrpSpPr>
        <p:grpSpPr>
          <a:xfrm>
            <a:off x="7641569" y="1446544"/>
            <a:ext cx="2954064" cy="1471268"/>
            <a:chOff x="833331" y="2873352"/>
            <a:chExt cx="2333625" cy="1630661"/>
          </a:xfrm>
        </p:grpSpPr>
        <p:grpSp>
          <p:nvGrpSpPr>
            <p:cNvPr id="137" name="Group 134">
              <a:extLst>
                <a:ext uri="{FF2B5EF4-FFF2-40B4-BE49-F238E27FC236}">
                  <a16:creationId xmlns:a16="http://schemas.microsoft.com/office/drawing/2014/main" id="{57BDE72C-E564-423C-B32B-9F78ED81BB6E}"/>
                </a:ext>
              </a:extLst>
            </p:cNvPr>
            <p:cNvGrpSpPr/>
            <p:nvPr/>
          </p:nvGrpSpPr>
          <p:grpSpPr>
            <a:xfrm>
              <a:off x="1736090" y="2873352"/>
              <a:ext cx="565150" cy="409344"/>
              <a:chOff x="1736090" y="2873352"/>
              <a:chExt cx="565150" cy="409344"/>
            </a:xfrm>
          </p:grpSpPr>
          <p:grpSp>
            <p:nvGrpSpPr>
              <p:cNvPr id="186" name="Group 327">
                <a:extLst>
                  <a:ext uri="{FF2B5EF4-FFF2-40B4-BE49-F238E27FC236}">
                    <a16:creationId xmlns:a16="http://schemas.microsoft.com/office/drawing/2014/main" id="{426AD483-0F94-48FD-984B-31F9769D9D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90" name="Oval 187">
                  <a:extLst>
                    <a:ext uri="{FF2B5EF4-FFF2-40B4-BE49-F238E27FC236}">
                      <a16:creationId xmlns:a16="http://schemas.microsoft.com/office/drawing/2014/main" id="{A4E9CC77-0C0A-4DE9-BDE2-B6D7847627C2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solidFill>
                        <a:prstClr val="black"/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1" name="Rectangle 188">
                  <a:extLst>
                    <a:ext uri="{FF2B5EF4-FFF2-40B4-BE49-F238E27FC236}">
                      <a16:creationId xmlns:a16="http://schemas.microsoft.com/office/drawing/2014/main" id="{1E3A49FA-2858-458D-AC55-396E66C2D005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2" name="Oval 189">
                  <a:extLst>
                    <a:ext uri="{FF2B5EF4-FFF2-40B4-BE49-F238E27FC236}">
                      <a16:creationId xmlns:a16="http://schemas.microsoft.com/office/drawing/2014/main" id="{534A3E6C-91F3-40AF-A596-DD13D31F47BC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solidFill>
                        <a:prstClr val="black"/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3" name="Freeform 190">
                  <a:extLst>
                    <a:ext uri="{FF2B5EF4-FFF2-40B4-BE49-F238E27FC236}">
                      <a16:creationId xmlns:a16="http://schemas.microsoft.com/office/drawing/2014/main" id="{4F0291F4-6EDE-4F8C-941A-1DABA53E00F3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4" name="Freeform 191">
                  <a:extLst>
                    <a:ext uri="{FF2B5EF4-FFF2-40B4-BE49-F238E27FC236}">
                      <a16:creationId xmlns:a16="http://schemas.microsoft.com/office/drawing/2014/main" id="{2D8CC994-DC77-405C-A0F7-7E13CD0550B1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5" name="Freeform 192">
                  <a:extLst>
                    <a:ext uri="{FF2B5EF4-FFF2-40B4-BE49-F238E27FC236}">
                      <a16:creationId xmlns:a16="http://schemas.microsoft.com/office/drawing/2014/main" id="{FA302BB4-E144-4F21-9126-BDB0D3ABDEB2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6" name="Freeform 193">
                  <a:extLst>
                    <a:ext uri="{FF2B5EF4-FFF2-40B4-BE49-F238E27FC236}">
                      <a16:creationId xmlns:a16="http://schemas.microsoft.com/office/drawing/2014/main" id="{DB997E19-6C06-4C5F-AFBF-608269E71EDD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197" name="Straight Connector 194">
                  <a:extLst>
                    <a:ext uri="{FF2B5EF4-FFF2-40B4-BE49-F238E27FC236}">
                      <a16:creationId xmlns:a16="http://schemas.microsoft.com/office/drawing/2014/main" id="{8BF24306-9E6E-4F16-A6CD-F2C10F71676B}"/>
                    </a:ext>
                  </a:extLst>
                </p:cNvPr>
                <p:cNvCxnSpPr>
                  <a:endCxn id="192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5">
                  <a:extLst>
                    <a:ext uri="{FF2B5EF4-FFF2-40B4-BE49-F238E27FC236}">
                      <a16:creationId xmlns:a16="http://schemas.microsoft.com/office/drawing/2014/main" id="{52215AF4-8AB9-441C-966A-2F259DCC9DC7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7" name="Group 184">
                <a:extLst>
                  <a:ext uri="{FF2B5EF4-FFF2-40B4-BE49-F238E27FC236}">
                    <a16:creationId xmlns:a16="http://schemas.microsoft.com/office/drawing/2014/main" id="{A67A0322-A158-4E31-B666-9E1F92C6E421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14737" cy="409344"/>
                <a:chOff x="667045" y="1708643"/>
                <a:chExt cx="414737" cy="409344"/>
              </a:xfrm>
            </p:grpSpPr>
            <p:sp>
              <p:nvSpPr>
                <p:cNvPr id="188" name="Oval 185">
                  <a:extLst>
                    <a:ext uri="{FF2B5EF4-FFF2-40B4-BE49-F238E27FC236}">
                      <a16:creationId xmlns:a16="http://schemas.microsoft.com/office/drawing/2014/main" id="{2542CAA7-D193-45A6-BBDF-419D92035CB6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" name="TextBox 186">
                  <a:extLst>
                    <a:ext uri="{FF2B5EF4-FFF2-40B4-BE49-F238E27FC236}">
                      <a16:creationId xmlns:a16="http://schemas.microsoft.com/office/drawing/2014/main" id="{D19B2666-3821-440D-BE1F-48E482AFE4A4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347227" cy="4093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rPr>
                    <a:t>3b</a:t>
                  </a:r>
                </a:p>
              </p:txBody>
            </p:sp>
          </p:grpSp>
        </p:grpSp>
        <p:grpSp>
          <p:nvGrpSpPr>
            <p:cNvPr id="138" name="Group 135">
              <a:extLst>
                <a:ext uri="{FF2B5EF4-FFF2-40B4-BE49-F238E27FC236}">
                  <a16:creationId xmlns:a16="http://schemas.microsoft.com/office/drawing/2014/main" id="{10A8B178-D0B8-4EC5-8F9F-997D6718D44F}"/>
                </a:ext>
              </a:extLst>
            </p:cNvPr>
            <p:cNvGrpSpPr/>
            <p:nvPr/>
          </p:nvGrpSpPr>
          <p:grpSpPr>
            <a:xfrm>
              <a:off x="1740320" y="4094669"/>
              <a:ext cx="565150" cy="409344"/>
              <a:chOff x="1736090" y="2873352"/>
              <a:chExt cx="565150" cy="409344"/>
            </a:xfrm>
          </p:grpSpPr>
          <p:grpSp>
            <p:nvGrpSpPr>
              <p:cNvPr id="173" name="Group 327">
                <a:extLst>
                  <a:ext uri="{FF2B5EF4-FFF2-40B4-BE49-F238E27FC236}">
                    <a16:creationId xmlns:a16="http://schemas.microsoft.com/office/drawing/2014/main" id="{B49B8EC0-B4AF-4620-9CD3-5266EE6BCC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77" name="Oval 174">
                  <a:extLst>
                    <a:ext uri="{FF2B5EF4-FFF2-40B4-BE49-F238E27FC236}">
                      <a16:creationId xmlns:a16="http://schemas.microsoft.com/office/drawing/2014/main" id="{5D3A03DC-C6CF-4C8F-93CF-41D6C6D5142A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solidFill>
                        <a:prstClr val="black"/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" name="Rectangle 175">
                  <a:extLst>
                    <a:ext uri="{FF2B5EF4-FFF2-40B4-BE49-F238E27FC236}">
                      <a16:creationId xmlns:a16="http://schemas.microsoft.com/office/drawing/2014/main" id="{8E820247-59AC-44F2-9D09-F15C739894D8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" name="Oval 176">
                  <a:extLst>
                    <a:ext uri="{FF2B5EF4-FFF2-40B4-BE49-F238E27FC236}">
                      <a16:creationId xmlns:a16="http://schemas.microsoft.com/office/drawing/2014/main" id="{91E51956-5DBA-41E6-BB95-AD32468CA7F1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solidFill>
                        <a:prstClr val="black"/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" name="Freeform 177">
                  <a:extLst>
                    <a:ext uri="{FF2B5EF4-FFF2-40B4-BE49-F238E27FC236}">
                      <a16:creationId xmlns:a16="http://schemas.microsoft.com/office/drawing/2014/main" id="{2DF0AA55-C726-4869-A456-EA63E170D90A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1" name="Freeform 178">
                  <a:extLst>
                    <a:ext uri="{FF2B5EF4-FFF2-40B4-BE49-F238E27FC236}">
                      <a16:creationId xmlns:a16="http://schemas.microsoft.com/office/drawing/2014/main" id="{198A0ACE-F1BF-4B61-8968-8F08B8C3817E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2" name="Freeform 179">
                  <a:extLst>
                    <a:ext uri="{FF2B5EF4-FFF2-40B4-BE49-F238E27FC236}">
                      <a16:creationId xmlns:a16="http://schemas.microsoft.com/office/drawing/2014/main" id="{CB30307D-6FCE-4533-B378-7DA4CAA56439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3" name="Freeform 180">
                  <a:extLst>
                    <a:ext uri="{FF2B5EF4-FFF2-40B4-BE49-F238E27FC236}">
                      <a16:creationId xmlns:a16="http://schemas.microsoft.com/office/drawing/2014/main" id="{719F7ACD-8B63-4D28-8D04-8E5B1E1B6B31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184" name="Straight Connector 181">
                  <a:extLst>
                    <a:ext uri="{FF2B5EF4-FFF2-40B4-BE49-F238E27FC236}">
                      <a16:creationId xmlns:a16="http://schemas.microsoft.com/office/drawing/2014/main" id="{85261DFE-80F8-4C17-ADA3-7C454EC663EE}"/>
                    </a:ext>
                  </a:extLst>
                </p:cNvPr>
                <p:cNvCxnSpPr>
                  <a:endCxn id="179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2">
                  <a:extLst>
                    <a:ext uri="{FF2B5EF4-FFF2-40B4-BE49-F238E27FC236}">
                      <a16:creationId xmlns:a16="http://schemas.microsoft.com/office/drawing/2014/main" id="{D1DDAC83-B6AA-42DF-8EC4-AE67F2D0CB58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1">
                <a:extLst>
                  <a:ext uri="{FF2B5EF4-FFF2-40B4-BE49-F238E27FC236}">
                    <a16:creationId xmlns:a16="http://schemas.microsoft.com/office/drawing/2014/main" id="{ABAC08A1-622A-4973-8AE3-BD8C9FE9AF89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14737" cy="409344"/>
                <a:chOff x="667045" y="1708643"/>
                <a:chExt cx="414737" cy="409344"/>
              </a:xfrm>
            </p:grpSpPr>
            <p:sp>
              <p:nvSpPr>
                <p:cNvPr id="175" name="Oval 172">
                  <a:extLst>
                    <a:ext uri="{FF2B5EF4-FFF2-40B4-BE49-F238E27FC236}">
                      <a16:creationId xmlns:a16="http://schemas.microsoft.com/office/drawing/2014/main" id="{4DE3686C-CBC4-48E8-850E-BB85A20C4B73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" name="TextBox 173">
                  <a:extLst>
                    <a:ext uri="{FF2B5EF4-FFF2-40B4-BE49-F238E27FC236}">
                      <a16:creationId xmlns:a16="http://schemas.microsoft.com/office/drawing/2014/main" id="{8D445158-8025-455D-B763-4BEB04F2FFF3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347227" cy="4093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rPr>
                    <a:t>3d</a:t>
                  </a:r>
                </a:p>
              </p:txBody>
            </p:sp>
          </p:grpSp>
        </p:grpSp>
        <p:grpSp>
          <p:nvGrpSpPr>
            <p:cNvPr id="139" name="Group 136">
              <a:extLst>
                <a:ext uri="{FF2B5EF4-FFF2-40B4-BE49-F238E27FC236}">
                  <a16:creationId xmlns:a16="http://schemas.microsoft.com/office/drawing/2014/main" id="{8C37F8F7-31CE-422A-82D0-2C0A668F9DD9}"/>
                </a:ext>
              </a:extLst>
            </p:cNvPr>
            <p:cNvGrpSpPr/>
            <p:nvPr/>
          </p:nvGrpSpPr>
          <p:grpSpPr>
            <a:xfrm>
              <a:off x="2601806" y="3485072"/>
              <a:ext cx="565150" cy="409344"/>
              <a:chOff x="1736090" y="2873352"/>
              <a:chExt cx="565150" cy="409344"/>
            </a:xfrm>
          </p:grpSpPr>
          <p:grpSp>
            <p:nvGrpSpPr>
              <p:cNvPr id="160" name="Group 327">
                <a:extLst>
                  <a:ext uri="{FF2B5EF4-FFF2-40B4-BE49-F238E27FC236}">
                    <a16:creationId xmlns:a16="http://schemas.microsoft.com/office/drawing/2014/main" id="{669651B5-50BF-49A1-9858-2C2B20E308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64" name="Oval 161">
                  <a:extLst>
                    <a:ext uri="{FF2B5EF4-FFF2-40B4-BE49-F238E27FC236}">
                      <a16:creationId xmlns:a16="http://schemas.microsoft.com/office/drawing/2014/main" id="{15D48EF5-9F82-4EF3-8DA4-5220308D56BE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solidFill>
                        <a:prstClr val="black"/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5" name="Rectangle 162">
                  <a:extLst>
                    <a:ext uri="{FF2B5EF4-FFF2-40B4-BE49-F238E27FC236}">
                      <a16:creationId xmlns:a16="http://schemas.microsoft.com/office/drawing/2014/main" id="{CFE42D98-C84A-4DD0-8107-661245BBAF4A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6" name="Oval 163">
                  <a:extLst>
                    <a:ext uri="{FF2B5EF4-FFF2-40B4-BE49-F238E27FC236}">
                      <a16:creationId xmlns:a16="http://schemas.microsoft.com/office/drawing/2014/main" id="{AB410277-FDC8-41F2-8724-5D0E831E61AB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solidFill>
                        <a:prstClr val="black"/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7" name="Freeform 164">
                  <a:extLst>
                    <a:ext uri="{FF2B5EF4-FFF2-40B4-BE49-F238E27FC236}">
                      <a16:creationId xmlns:a16="http://schemas.microsoft.com/office/drawing/2014/main" id="{A4E1B118-790C-406E-B6AE-D0F78891EEBB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8" name="Freeform 165">
                  <a:extLst>
                    <a:ext uri="{FF2B5EF4-FFF2-40B4-BE49-F238E27FC236}">
                      <a16:creationId xmlns:a16="http://schemas.microsoft.com/office/drawing/2014/main" id="{44FE5946-2939-41CC-9CC5-70667FA59869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9" name="Freeform 166">
                  <a:extLst>
                    <a:ext uri="{FF2B5EF4-FFF2-40B4-BE49-F238E27FC236}">
                      <a16:creationId xmlns:a16="http://schemas.microsoft.com/office/drawing/2014/main" id="{D6483547-5BEB-4F35-9C1F-F85763BA969B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0" name="Freeform 167">
                  <a:extLst>
                    <a:ext uri="{FF2B5EF4-FFF2-40B4-BE49-F238E27FC236}">
                      <a16:creationId xmlns:a16="http://schemas.microsoft.com/office/drawing/2014/main" id="{0316C6A5-5DA6-4EFF-9A35-F6D101EC9ECC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171" name="Straight Connector 168">
                  <a:extLst>
                    <a:ext uri="{FF2B5EF4-FFF2-40B4-BE49-F238E27FC236}">
                      <a16:creationId xmlns:a16="http://schemas.microsoft.com/office/drawing/2014/main" id="{3EE06378-12EE-4F53-9F8F-F19FB61DC08F}"/>
                    </a:ext>
                  </a:extLst>
                </p:cNvPr>
                <p:cNvCxnSpPr>
                  <a:endCxn id="166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69">
                  <a:extLst>
                    <a:ext uri="{FF2B5EF4-FFF2-40B4-BE49-F238E27FC236}">
                      <a16:creationId xmlns:a16="http://schemas.microsoft.com/office/drawing/2014/main" id="{80702C99-3E94-4BEB-9B5D-0154D2D1A1E3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1" name="Group 158">
                <a:extLst>
                  <a:ext uri="{FF2B5EF4-FFF2-40B4-BE49-F238E27FC236}">
                    <a16:creationId xmlns:a16="http://schemas.microsoft.com/office/drawing/2014/main" id="{593D7EB8-675C-4478-8BB1-B4573DCD1E7D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14737" cy="409344"/>
                <a:chOff x="667045" y="1708643"/>
                <a:chExt cx="414737" cy="409344"/>
              </a:xfrm>
            </p:grpSpPr>
            <p:sp>
              <p:nvSpPr>
                <p:cNvPr id="162" name="Oval 159">
                  <a:extLst>
                    <a:ext uri="{FF2B5EF4-FFF2-40B4-BE49-F238E27FC236}">
                      <a16:creationId xmlns:a16="http://schemas.microsoft.com/office/drawing/2014/main" id="{E5AC5E4C-009F-46F0-B51B-0130191762E8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" name="TextBox 160">
                  <a:extLst>
                    <a:ext uri="{FF2B5EF4-FFF2-40B4-BE49-F238E27FC236}">
                      <a16:creationId xmlns:a16="http://schemas.microsoft.com/office/drawing/2014/main" id="{F81BCED0-CFE1-4F98-8BEB-40DF72179384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324433" cy="4093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rPr>
                    <a:t>3c</a:t>
                  </a:r>
                </a:p>
              </p:txBody>
            </p:sp>
          </p:grpSp>
        </p:grpSp>
        <p:grpSp>
          <p:nvGrpSpPr>
            <p:cNvPr id="140" name="Group 137">
              <a:extLst>
                <a:ext uri="{FF2B5EF4-FFF2-40B4-BE49-F238E27FC236}">
                  <a16:creationId xmlns:a16="http://schemas.microsoft.com/office/drawing/2014/main" id="{FB95A796-F221-4EA8-9F4F-197F5D15DB06}"/>
                </a:ext>
              </a:extLst>
            </p:cNvPr>
            <p:cNvGrpSpPr/>
            <p:nvPr/>
          </p:nvGrpSpPr>
          <p:grpSpPr>
            <a:xfrm>
              <a:off x="833331" y="3478719"/>
              <a:ext cx="565150" cy="409344"/>
              <a:chOff x="1736090" y="2873352"/>
              <a:chExt cx="565150" cy="409344"/>
            </a:xfrm>
          </p:grpSpPr>
          <p:grpSp>
            <p:nvGrpSpPr>
              <p:cNvPr id="147" name="Group 327">
                <a:extLst>
                  <a:ext uri="{FF2B5EF4-FFF2-40B4-BE49-F238E27FC236}">
                    <a16:creationId xmlns:a16="http://schemas.microsoft.com/office/drawing/2014/main" id="{F7B50A7D-080C-4360-9A5A-D5E2C8FB025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51" name="Oval 148">
                  <a:extLst>
                    <a:ext uri="{FF2B5EF4-FFF2-40B4-BE49-F238E27FC236}">
                      <a16:creationId xmlns:a16="http://schemas.microsoft.com/office/drawing/2014/main" id="{B9DE22B0-2136-4568-9488-8E4258A7CF4C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solidFill>
                        <a:prstClr val="black"/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2" name="Rectangle 149">
                  <a:extLst>
                    <a:ext uri="{FF2B5EF4-FFF2-40B4-BE49-F238E27FC236}">
                      <a16:creationId xmlns:a16="http://schemas.microsoft.com/office/drawing/2014/main" id="{7C238734-7A51-476C-AB48-047A59069F41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3" name="Oval 150">
                  <a:extLst>
                    <a:ext uri="{FF2B5EF4-FFF2-40B4-BE49-F238E27FC236}">
                      <a16:creationId xmlns:a16="http://schemas.microsoft.com/office/drawing/2014/main" id="{92F32E6F-81FA-45D9-A6B7-D727A1B2D0C8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solidFill>
                        <a:prstClr val="black"/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4" name="Freeform 151">
                  <a:extLst>
                    <a:ext uri="{FF2B5EF4-FFF2-40B4-BE49-F238E27FC236}">
                      <a16:creationId xmlns:a16="http://schemas.microsoft.com/office/drawing/2014/main" id="{4AD1EAE3-EF54-46C9-A795-83A0554E2C77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5" name="Freeform 152">
                  <a:extLst>
                    <a:ext uri="{FF2B5EF4-FFF2-40B4-BE49-F238E27FC236}">
                      <a16:creationId xmlns:a16="http://schemas.microsoft.com/office/drawing/2014/main" id="{87297A12-1FE0-41E6-92C2-F4ABC3D6BFAA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6" name="Freeform 153">
                  <a:extLst>
                    <a:ext uri="{FF2B5EF4-FFF2-40B4-BE49-F238E27FC236}">
                      <a16:creationId xmlns:a16="http://schemas.microsoft.com/office/drawing/2014/main" id="{2A0D4CB9-1C1F-4125-A69A-3181FAABEA9B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7" name="Freeform 154">
                  <a:extLst>
                    <a:ext uri="{FF2B5EF4-FFF2-40B4-BE49-F238E27FC236}">
                      <a16:creationId xmlns:a16="http://schemas.microsoft.com/office/drawing/2014/main" id="{54E18C22-4979-4D70-961B-0C414F0B7587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158" name="Straight Connector 155">
                  <a:extLst>
                    <a:ext uri="{FF2B5EF4-FFF2-40B4-BE49-F238E27FC236}">
                      <a16:creationId xmlns:a16="http://schemas.microsoft.com/office/drawing/2014/main" id="{372005EE-AB71-454A-9C68-84E74D7C3252}"/>
                    </a:ext>
                  </a:extLst>
                </p:cNvPr>
                <p:cNvCxnSpPr>
                  <a:endCxn id="153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Straight Connector 156">
                  <a:extLst>
                    <a:ext uri="{FF2B5EF4-FFF2-40B4-BE49-F238E27FC236}">
                      <a16:creationId xmlns:a16="http://schemas.microsoft.com/office/drawing/2014/main" id="{87172178-4496-4DB1-BDFB-90ECF24ABC9D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8" name="Group 145">
                <a:extLst>
                  <a:ext uri="{FF2B5EF4-FFF2-40B4-BE49-F238E27FC236}">
                    <a16:creationId xmlns:a16="http://schemas.microsoft.com/office/drawing/2014/main" id="{35A32F1D-70F8-4427-B30D-1FB77098F913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14737" cy="409344"/>
                <a:chOff x="667045" y="1708643"/>
                <a:chExt cx="414737" cy="409344"/>
              </a:xfrm>
            </p:grpSpPr>
            <p:sp>
              <p:nvSpPr>
                <p:cNvPr id="149" name="Oval 146">
                  <a:extLst>
                    <a:ext uri="{FF2B5EF4-FFF2-40B4-BE49-F238E27FC236}">
                      <a16:creationId xmlns:a16="http://schemas.microsoft.com/office/drawing/2014/main" id="{DC5415A4-B695-4950-B66C-FECB9918A3A2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0" name="TextBox 147">
                  <a:extLst>
                    <a:ext uri="{FF2B5EF4-FFF2-40B4-BE49-F238E27FC236}">
                      <a16:creationId xmlns:a16="http://schemas.microsoft.com/office/drawing/2014/main" id="{12E69F42-525D-43F9-9742-223A324E77BD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333296" cy="4093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rPr>
                    <a:t>3a</a:t>
                  </a:r>
                </a:p>
              </p:txBody>
            </p:sp>
          </p:grpSp>
        </p:grpSp>
        <p:cxnSp>
          <p:nvCxnSpPr>
            <p:cNvPr id="141" name="Straight Connector 138">
              <a:extLst>
                <a:ext uri="{FF2B5EF4-FFF2-40B4-BE49-F238E27FC236}">
                  <a16:creationId xmlns:a16="http://schemas.microsoft.com/office/drawing/2014/main" id="{4DF8575A-6524-4B9A-90E2-1E07A955C4D2}"/>
                </a:ext>
              </a:extLst>
            </p:cNvPr>
            <p:cNvCxnSpPr>
              <a:stCxn id="189" idx="2"/>
              <a:endCxn id="176" idx="0"/>
            </p:cNvCxnSpPr>
            <p:nvPr/>
          </p:nvCxnSpPr>
          <p:spPr bwMode="auto">
            <a:xfrm>
              <a:off x="1943976" y="3282696"/>
              <a:ext cx="4230" cy="81197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2" name="Straight Connector 139">
              <a:extLst>
                <a:ext uri="{FF2B5EF4-FFF2-40B4-BE49-F238E27FC236}">
                  <a16:creationId xmlns:a16="http://schemas.microsoft.com/office/drawing/2014/main" id="{FF133C52-7FAC-4182-B375-A70CDE8D0C41}"/>
                </a:ext>
              </a:extLst>
            </p:cNvPr>
            <p:cNvCxnSpPr/>
            <p:nvPr/>
          </p:nvCxnSpPr>
          <p:spPr bwMode="auto">
            <a:xfrm>
              <a:off x="1407477" y="3648621"/>
              <a:ext cx="1204913" cy="635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3" name="Straight Connector 140">
              <a:extLst>
                <a:ext uri="{FF2B5EF4-FFF2-40B4-BE49-F238E27FC236}">
                  <a16:creationId xmlns:a16="http://schemas.microsoft.com/office/drawing/2014/main" id="{AF240801-E9BB-40CF-803F-0700BA6EE34A}"/>
                </a:ext>
              </a:extLst>
            </p:cNvPr>
            <p:cNvCxnSpPr>
              <a:stCxn id="190" idx="7"/>
            </p:cNvCxnSpPr>
            <p:nvPr/>
          </p:nvCxnSpPr>
          <p:spPr bwMode="auto">
            <a:xfrm>
              <a:off x="2218708" y="3154477"/>
              <a:ext cx="480042" cy="36977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4" name="Straight Connector 141">
              <a:extLst>
                <a:ext uri="{FF2B5EF4-FFF2-40B4-BE49-F238E27FC236}">
                  <a16:creationId xmlns:a16="http://schemas.microsoft.com/office/drawing/2014/main" id="{78D89EB6-7EA5-4F6D-A728-36C347FAC92A}"/>
                </a:ext>
              </a:extLst>
            </p:cNvPr>
            <p:cNvCxnSpPr/>
            <p:nvPr/>
          </p:nvCxnSpPr>
          <p:spPr bwMode="auto">
            <a:xfrm>
              <a:off x="1300073" y="3786304"/>
              <a:ext cx="477927" cy="35707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5" name="Straight Connector 142">
              <a:extLst>
                <a:ext uri="{FF2B5EF4-FFF2-40B4-BE49-F238E27FC236}">
                  <a16:creationId xmlns:a16="http://schemas.microsoft.com/office/drawing/2014/main" id="{47D6AB3B-16AF-4BE7-8B44-E9C47A63E2CD}"/>
                </a:ext>
              </a:extLst>
            </p:cNvPr>
            <p:cNvCxnSpPr/>
            <p:nvPr/>
          </p:nvCxnSpPr>
          <p:spPr bwMode="auto">
            <a:xfrm flipH="1">
              <a:off x="2196042" y="3783542"/>
              <a:ext cx="508002" cy="34925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6" name="Straight Connector 143">
              <a:extLst>
                <a:ext uri="{FF2B5EF4-FFF2-40B4-BE49-F238E27FC236}">
                  <a16:creationId xmlns:a16="http://schemas.microsoft.com/office/drawing/2014/main" id="{8AED2036-F6A7-46FE-8194-ACDE34E38B73}"/>
                </a:ext>
              </a:extLst>
            </p:cNvPr>
            <p:cNvCxnSpPr/>
            <p:nvPr/>
          </p:nvCxnSpPr>
          <p:spPr bwMode="auto">
            <a:xfrm flipH="1">
              <a:off x="1287553" y="3166946"/>
              <a:ext cx="508002" cy="34925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99" name="Straight Connector 127">
            <a:extLst>
              <a:ext uri="{FF2B5EF4-FFF2-40B4-BE49-F238E27FC236}">
                <a16:creationId xmlns:a16="http://schemas.microsoft.com/office/drawing/2014/main" id="{4ECC9970-1E79-42D6-9832-D0561940F099}"/>
              </a:ext>
            </a:extLst>
          </p:cNvPr>
          <p:cNvCxnSpPr/>
          <p:nvPr/>
        </p:nvCxnSpPr>
        <p:spPr bwMode="auto">
          <a:xfrm flipH="1" flipV="1">
            <a:off x="4062275" y="2340047"/>
            <a:ext cx="641169" cy="74409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Straight Connector 128">
            <a:extLst>
              <a:ext uri="{FF2B5EF4-FFF2-40B4-BE49-F238E27FC236}">
                <a16:creationId xmlns:a16="http://schemas.microsoft.com/office/drawing/2014/main" id="{652B788C-AD36-4E7A-8446-FAF8ACCBA845}"/>
              </a:ext>
            </a:extLst>
          </p:cNvPr>
          <p:cNvCxnSpPr/>
          <p:nvPr/>
        </p:nvCxnSpPr>
        <p:spPr bwMode="auto">
          <a:xfrm flipV="1">
            <a:off x="7364252" y="2281165"/>
            <a:ext cx="450313" cy="82312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1" name="TextBox 129">
            <a:extLst>
              <a:ext uri="{FF2B5EF4-FFF2-40B4-BE49-F238E27FC236}">
                <a16:creationId xmlns:a16="http://schemas.microsoft.com/office/drawing/2014/main" id="{649BA2DD-C43B-4050-AD6D-AFED6E3D462C}"/>
              </a:ext>
            </a:extLst>
          </p:cNvPr>
          <p:cNvSpPr txBox="1"/>
          <p:nvPr/>
        </p:nvSpPr>
        <p:spPr>
          <a:xfrm>
            <a:off x="4657722" y="2438369"/>
            <a:ext cx="6142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AS2</a:t>
            </a:r>
          </a:p>
        </p:txBody>
      </p:sp>
      <p:sp>
        <p:nvSpPr>
          <p:cNvPr id="202" name="TextBox 130">
            <a:extLst>
              <a:ext uri="{FF2B5EF4-FFF2-40B4-BE49-F238E27FC236}">
                <a16:creationId xmlns:a16="http://schemas.microsoft.com/office/drawing/2014/main" id="{2A92A894-A4E3-48C2-A532-7F514CB6EA12}"/>
              </a:ext>
            </a:extLst>
          </p:cNvPr>
          <p:cNvSpPr txBox="1"/>
          <p:nvPr/>
        </p:nvSpPr>
        <p:spPr>
          <a:xfrm>
            <a:off x="7391934" y="1351667"/>
            <a:ext cx="6142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AS3</a:t>
            </a:r>
          </a:p>
        </p:txBody>
      </p:sp>
      <p:sp>
        <p:nvSpPr>
          <p:cNvPr id="203" name="TextBox 131">
            <a:extLst>
              <a:ext uri="{FF2B5EF4-FFF2-40B4-BE49-F238E27FC236}">
                <a16:creationId xmlns:a16="http://schemas.microsoft.com/office/drawing/2014/main" id="{9D0C6CD6-316D-4364-84EB-4F5129816653}"/>
              </a:ext>
            </a:extLst>
          </p:cNvPr>
          <p:cNvSpPr txBox="1"/>
          <p:nvPr/>
        </p:nvSpPr>
        <p:spPr>
          <a:xfrm>
            <a:off x="942897" y="1562343"/>
            <a:ext cx="6142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AS1</a:t>
            </a:r>
          </a:p>
        </p:txBody>
      </p:sp>
      <p:grpSp>
        <p:nvGrpSpPr>
          <p:cNvPr id="204" name="Group 10">
            <a:extLst>
              <a:ext uri="{FF2B5EF4-FFF2-40B4-BE49-F238E27FC236}">
                <a16:creationId xmlns:a16="http://schemas.microsoft.com/office/drawing/2014/main" id="{A50B52BD-D0F5-42A7-8F62-C2A9E2E66021}"/>
              </a:ext>
            </a:extLst>
          </p:cNvPr>
          <p:cNvGrpSpPr/>
          <p:nvPr/>
        </p:nvGrpSpPr>
        <p:grpSpPr>
          <a:xfrm>
            <a:off x="9427769" y="2413274"/>
            <a:ext cx="2268979" cy="616172"/>
            <a:chOff x="7073692" y="5469792"/>
            <a:chExt cx="1701734" cy="616172"/>
          </a:xfrm>
        </p:grpSpPr>
        <p:grpSp>
          <p:nvGrpSpPr>
            <p:cNvPr id="205" name="Group 9">
              <a:extLst>
                <a:ext uri="{FF2B5EF4-FFF2-40B4-BE49-F238E27FC236}">
                  <a16:creationId xmlns:a16="http://schemas.microsoft.com/office/drawing/2014/main" id="{16FB1842-DC37-45C3-AFE3-E280F91AB9B6}"/>
                </a:ext>
              </a:extLst>
            </p:cNvPr>
            <p:cNvGrpSpPr/>
            <p:nvPr/>
          </p:nvGrpSpPr>
          <p:grpSpPr>
            <a:xfrm>
              <a:off x="7073692" y="5469792"/>
              <a:ext cx="1701734" cy="616172"/>
              <a:chOff x="6946249" y="5096269"/>
              <a:chExt cx="1701734" cy="616172"/>
            </a:xfrm>
          </p:grpSpPr>
          <p:sp>
            <p:nvSpPr>
              <p:cNvPr id="207" name="Freeform 2">
                <a:extLst>
                  <a:ext uri="{FF2B5EF4-FFF2-40B4-BE49-F238E27FC236}">
                    <a16:creationId xmlns:a16="http://schemas.microsoft.com/office/drawing/2014/main" id="{35870175-7904-4816-999D-71627936E3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46249" y="5096269"/>
                <a:ext cx="1701734" cy="616172"/>
              </a:xfrm>
              <a:custGeom>
                <a:avLst/>
                <a:gdLst>
                  <a:gd name="T0" fmla="*/ 648763 w 10001"/>
                  <a:gd name="T1" fmla="*/ 34777612 h 10125"/>
                  <a:gd name="T2" fmla="*/ 115976403 w 10001"/>
                  <a:gd name="T3" fmla="*/ 13733703 h 10125"/>
                  <a:gd name="T4" fmla="*/ 507700960 w 10001"/>
                  <a:gd name="T5" fmla="*/ 8662125 h 10125"/>
                  <a:gd name="T6" fmla="*/ 810212713 w 10001"/>
                  <a:gd name="T7" fmla="*/ 0 h 10125"/>
                  <a:gd name="T8" fmla="*/ 1090015738 w 10001"/>
                  <a:gd name="T9" fmla="*/ 8687929 h 10125"/>
                  <a:gd name="T10" fmla="*/ 1310938763 w 10001"/>
                  <a:gd name="T11" fmla="*/ 4279362 h 10125"/>
                  <a:gd name="T12" fmla="*/ 1620263134 w 10001"/>
                  <a:gd name="T13" fmla="*/ 25736690 h 10125"/>
                  <a:gd name="T14" fmla="*/ 1394798364 w 10001"/>
                  <a:gd name="T15" fmla="*/ 58525268 h 10125"/>
                  <a:gd name="T16" fmla="*/ 1134622140 w 10001"/>
                  <a:gd name="T17" fmla="*/ 80266624 h 10125"/>
                  <a:gd name="T18" fmla="*/ 860820276 w 10001"/>
                  <a:gd name="T19" fmla="*/ 76142271 h 10125"/>
                  <a:gd name="T20" fmla="*/ 708996782 w 10001"/>
                  <a:gd name="T21" fmla="*/ 85346835 h 10125"/>
                  <a:gd name="T22" fmla="*/ 509322667 w 10001"/>
                  <a:gd name="T23" fmla="*/ 86268164 h 10125"/>
                  <a:gd name="T24" fmla="*/ 353443899 w 10001"/>
                  <a:gd name="T25" fmla="*/ 67979516 h 10125"/>
                  <a:gd name="T26" fmla="*/ 192536914 w 10001"/>
                  <a:gd name="T27" fmla="*/ 64535347 h 10125"/>
                  <a:gd name="T28" fmla="*/ 648763 w 10001"/>
                  <a:gd name="T29" fmla="*/ 34777612 h 101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connsiteX0" fmla="*/ 4 w 10040"/>
                  <a:gd name="connsiteY0" fmla="*/ 4039 h 10125"/>
                  <a:gd name="connsiteX1" fmla="*/ 715 w 10040"/>
                  <a:gd name="connsiteY1" fmla="*/ 1595 h 10125"/>
                  <a:gd name="connsiteX2" fmla="*/ 3130 w 10040"/>
                  <a:gd name="connsiteY2" fmla="*/ 1006 h 10125"/>
                  <a:gd name="connsiteX3" fmla="*/ 4995 w 10040"/>
                  <a:gd name="connsiteY3" fmla="*/ 0 h 10125"/>
                  <a:gd name="connsiteX4" fmla="*/ 6720 w 10040"/>
                  <a:gd name="connsiteY4" fmla="*/ 1009 h 10125"/>
                  <a:gd name="connsiteX5" fmla="*/ 9989 w 10040"/>
                  <a:gd name="connsiteY5" fmla="*/ 2989 h 10125"/>
                  <a:gd name="connsiteX6" fmla="*/ 8599 w 10040"/>
                  <a:gd name="connsiteY6" fmla="*/ 6797 h 10125"/>
                  <a:gd name="connsiteX7" fmla="*/ 6995 w 10040"/>
                  <a:gd name="connsiteY7" fmla="*/ 9322 h 10125"/>
                  <a:gd name="connsiteX8" fmla="*/ 5307 w 10040"/>
                  <a:gd name="connsiteY8" fmla="*/ 8843 h 10125"/>
                  <a:gd name="connsiteX9" fmla="*/ 4371 w 10040"/>
                  <a:gd name="connsiteY9" fmla="*/ 9912 h 10125"/>
                  <a:gd name="connsiteX10" fmla="*/ 3140 w 10040"/>
                  <a:gd name="connsiteY10" fmla="*/ 10019 h 10125"/>
                  <a:gd name="connsiteX11" fmla="*/ 2179 w 10040"/>
                  <a:gd name="connsiteY11" fmla="*/ 7895 h 10125"/>
                  <a:gd name="connsiteX12" fmla="*/ 1187 w 10040"/>
                  <a:gd name="connsiteY12" fmla="*/ 7495 h 10125"/>
                  <a:gd name="connsiteX13" fmla="*/ 4 w 10040"/>
                  <a:gd name="connsiteY13" fmla="*/ 4039 h 10125"/>
                  <a:gd name="connsiteX0" fmla="*/ 4 w 8600"/>
                  <a:gd name="connsiteY0" fmla="*/ 4042 h 10128"/>
                  <a:gd name="connsiteX1" fmla="*/ 715 w 8600"/>
                  <a:gd name="connsiteY1" fmla="*/ 1598 h 10128"/>
                  <a:gd name="connsiteX2" fmla="*/ 3130 w 8600"/>
                  <a:gd name="connsiteY2" fmla="*/ 1009 h 10128"/>
                  <a:gd name="connsiteX3" fmla="*/ 4995 w 8600"/>
                  <a:gd name="connsiteY3" fmla="*/ 3 h 10128"/>
                  <a:gd name="connsiteX4" fmla="*/ 6720 w 8600"/>
                  <a:gd name="connsiteY4" fmla="*/ 1012 h 10128"/>
                  <a:gd name="connsiteX5" fmla="*/ 8599 w 8600"/>
                  <a:gd name="connsiteY5" fmla="*/ 6800 h 10128"/>
                  <a:gd name="connsiteX6" fmla="*/ 6995 w 8600"/>
                  <a:gd name="connsiteY6" fmla="*/ 9325 h 10128"/>
                  <a:gd name="connsiteX7" fmla="*/ 5307 w 8600"/>
                  <a:gd name="connsiteY7" fmla="*/ 8846 h 10128"/>
                  <a:gd name="connsiteX8" fmla="*/ 4371 w 8600"/>
                  <a:gd name="connsiteY8" fmla="*/ 9915 h 10128"/>
                  <a:gd name="connsiteX9" fmla="*/ 3140 w 8600"/>
                  <a:gd name="connsiteY9" fmla="*/ 10022 h 10128"/>
                  <a:gd name="connsiteX10" fmla="*/ 2179 w 8600"/>
                  <a:gd name="connsiteY10" fmla="*/ 7898 h 10128"/>
                  <a:gd name="connsiteX11" fmla="*/ 1187 w 8600"/>
                  <a:gd name="connsiteY11" fmla="*/ 7498 h 10128"/>
                  <a:gd name="connsiteX12" fmla="*/ 4 w 8600"/>
                  <a:gd name="connsiteY12" fmla="*/ 4042 h 10128"/>
                  <a:gd name="connsiteX0" fmla="*/ 4 w 9326"/>
                  <a:gd name="connsiteY0" fmla="*/ 3988 h 9997"/>
                  <a:gd name="connsiteX1" fmla="*/ 830 w 9326"/>
                  <a:gd name="connsiteY1" fmla="*/ 1575 h 9997"/>
                  <a:gd name="connsiteX2" fmla="*/ 3639 w 9326"/>
                  <a:gd name="connsiteY2" fmla="*/ 993 h 9997"/>
                  <a:gd name="connsiteX3" fmla="*/ 5807 w 9326"/>
                  <a:gd name="connsiteY3" fmla="*/ 0 h 9997"/>
                  <a:gd name="connsiteX4" fmla="*/ 7813 w 9326"/>
                  <a:gd name="connsiteY4" fmla="*/ 996 h 9997"/>
                  <a:gd name="connsiteX5" fmla="*/ 9324 w 9326"/>
                  <a:gd name="connsiteY5" fmla="*/ 5746 h 9997"/>
                  <a:gd name="connsiteX6" fmla="*/ 8133 w 9326"/>
                  <a:gd name="connsiteY6" fmla="*/ 9204 h 9997"/>
                  <a:gd name="connsiteX7" fmla="*/ 6170 w 9326"/>
                  <a:gd name="connsiteY7" fmla="*/ 8731 h 9997"/>
                  <a:gd name="connsiteX8" fmla="*/ 5082 w 9326"/>
                  <a:gd name="connsiteY8" fmla="*/ 9787 h 9997"/>
                  <a:gd name="connsiteX9" fmla="*/ 3650 w 9326"/>
                  <a:gd name="connsiteY9" fmla="*/ 9892 h 9997"/>
                  <a:gd name="connsiteX10" fmla="*/ 2533 w 9326"/>
                  <a:gd name="connsiteY10" fmla="*/ 7795 h 9997"/>
                  <a:gd name="connsiteX11" fmla="*/ 1379 w 9326"/>
                  <a:gd name="connsiteY11" fmla="*/ 7400 h 9997"/>
                  <a:gd name="connsiteX12" fmla="*/ 4 w 9326"/>
                  <a:gd name="connsiteY12" fmla="*/ 3988 h 9997"/>
                  <a:gd name="connsiteX0" fmla="*/ 4 w 10001"/>
                  <a:gd name="connsiteY0" fmla="*/ 3989 h 10041"/>
                  <a:gd name="connsiteX1" fmla="*/ 890 w 10001"/>
                  <a:gd name="connsiteY1" fmla="*/ 1575 h 10041"/>
                  <a:gd name="connsiteX2" fmla="*/ 3902 w 10001"/>
                  <a:gd name="connsiteY2" fmla="*/ 993 h 10041"/>
                  <a:gd name="connsiteX3" fmla="*/ 6227 w 10001"/>
                  <a:gd name="connsiteY3" fmla="*/ 0 h 10041"/>
                  <a:gd name="connsiteX4" fmla="*/ 8378 w 10001"/>
                  <a:gd name="connsiteY4" fmla="*/ 996 h 10041"/>
                  <a:gd name="connsiteX5" fmla="*/ 9998 w 10001"/>
                  <a:gd name="connsiteY5" fmla="*/ 5748 h 10041"/>
                  <a:gd name="connsiteX6" fmla="*/ 8721 w 10001"/>
                  <a:gd name="connsiteY6" fmla="*/ 9207 h 10041"/>
                  <a:gd name="connsiteX7" fmla="*/ 5449 w 10001"/>
                  <a:gd name="connsiteY7" fmla="*/ 9790 h 10041"/>
                  <a:gd name="connsiteX8" fmla="*/ 3914 w 10001"/>
                  <a:gd name="connsiteY8" fmla="*/ 9895 h 10041"/>
                  <a:gd name="connsiteX9" fmla="*/ 2716 w 10001"/>
                  <a:gd name="connsiteY9" fmla="*/ 7797 h 10041"/>
                  <a:gd name="connsiteX10" fmla="*/ 1479 w 10001"/>
                  <a:gd name="connsiteY10" fmla="*/ 7402 h 10041"/>
                  <a:gd name="connsiteX11" fmla="*/ 4 w 10001"/>
                  <a:gd name="connsiteY11" fmla="*/ 3989 h 10041"/>
                  <a:gd name="connsiteX0" fmla="*/ 4 w 10001"/>
                  <a:gd name="connsiteY0" fmla="*/ 3989 h 14825"/>
                  <a:gd name="connsiteX1" fmla="*/ 890 w 10001"/>
                  <a:gd name="connsiteY1" fmla="*/ 1575 h 14825"/>
                  <a:gd name="connsiteX2" fmla="*/ 3902 w 10001"/>
                  <a:gd name="connsiteY2" fmla="*/ 993 h 14825"/>
                  <a:gd name="connsiteX3" fmla="*/ 6227 w 10001"/>
                  <a:gd name="connsiteY3" fmla="*/ 0 h 14825"/>
                  <a:gd name="connsiteX4" fmla="*/ 8378 w 10001"/>
                  <a:gd name="connsiteY4" fmla="*/ 996 h 14825"/>
                  <a:gd name="connsiteX5" fmla="*/ 9998 w 10001"/>
                  <a:gd name="connsiteY5" fmla="*/ 5748 h 14825"/>
                  <a:gd name="connsiteX6" fmla="*/ 8721 w 10001"/>
                  <a:gd name="connsiteY6" fmla="*/ 9207 h 14825"/>
                  <a:gd name="connsiteX7" fmla="*/ 6011 w 10001"/>
                  <a:gd name="connsiteY7" fmla="*/ 14823 h 14825"/>
                  <a:gd name="connsiteX8" fmla="*/ 3914 w 10001"/>
                  <a:gd name="connsiteY8" fmla="*/ 9895 h 14825"/>
                  <a:gd name="connsiteX9" fmla="*/ 2716 w 10001"/>
                  <a:gd name="connsiteY9" fmla="*/ 7797 h 14825"/>
                  <a:gd name="connsiteX10" fmla="*/ 1479 w 10001"/>
                  <a:gd name="connsiteY10" fmla="*/ 7402 h 14825"/>
                  <a:gd name="connsiteX11" fmla="*/ 4 w 10001"/>
                  <a:gd name="connsiteY11" fmla="*/ 3989 h 14825"/>
                  <a:gd name="connsiteX0" fmla="*/ 4 w 10001"/>
                  <a:gd name="connsiteY0" fmla="*/ 7436 h 18272"/>
                  <a:gd name="connsiteX1" fmla="*/ 890 w 10001"/>
                  <a:gd name="connsiteY1" fmla="*/ 5022 h 18272"/>
                  <a:gd name="connsiteX2" fmla="*/ 3902 w 10001"/>
                  <a:gd name="connsiteY2" fmla="*/ 4440 h 18272"/>
                  <a:gd name="connsiteX3" fmla="*/ 6026 w 10001"/>
                  <a:gd name="connsiteY3" fmla="*/ 0 h 18272"/>
                  <a:gd name="connsiteX4" fmla="*/ 8378 w 10001"/>
                  <a:gd name="connsiteY4" fmla="*/ 4443 h 18272"/>
                  <a:gd name="connsiteX5" fmla="*/ 9998 w 10001"/>
                  <a:gd name="connsiteY5" fmla="*/ 9195 h 18272"/>
                  <a:gd name="connsiteX6" fmla="*/ 8721 w 10001"/>
                  <a:gd name="connsiteY6" fmla="*/ 12654 h 18272"/>
                  <a:gd name="connsiteX7" fmla="*/ 6011 w 10001"/>
                  <a:gd name="connsiteY7" fmla="*/ 18270 h 18272"/>
                  <a:gd name="connsiteX8" fmla="*/ 3914 w 10001"/>
                  <a:gd name="connsiteY8" fmla="*/ 13342 h 18272"/>
                  <a:gd name="connsiteX9" fmla="*/ 2716 w 10001"/>
                  <a:gd name="connsiteY9" fmla="*/ 11244 h 18272"/>
                  <a:gd name="connsiteX10" fmla="*/ 1479 w 10001"/>
                  <a:gd name="connsiteY10" fmla="*/ 10849 h 18272"/>
                  <a:gd name="connsiteX11" fmla="*/ 4 w 10001"/>
                  <a:gd name="connsiteY11" fmla="*/ 7436 h 18272"/>
                  <a:gd name="connsiteX0" fmla="*/ 1 w 9998"/>
                  <a:gd name="connsiteY0" fmla="*/ 7436 h 18272"/>
                  <a:gd name="connsiteX1" fmla="*/ 3899 w 9998"/>
                  <a:gd name="connsiteY1" fmla="*/ 4440 h 18272"/>
                  <a:gd name="connsiteX2" fmla="*/ 6023 w 9998"/>
                  <a:gd name="connsiteY2" fmla="*/ 0 h 18272"/>
                  <a:gd name="connsiteX3" fmla="*/ 8375 w 9998"/>
                  <a:gd name="connsiteY3" fmla="*/ 4443 h 18272"/>
                  <a:gd name="connsiteX4" fmla="*/ 9995 w 9998"/>
                  <a:gd name="connsiteY4" fmla="*/ 9195 h 18272"/>
                  <a:gd name="connsiteX5" fmla="*/ 8718 w 9998"/>
                  <a:gd name="connsiteY5" fmla="*/ 12654 h 18272"/>
                  <a:gd name="connsiteX6" fmla="*/ 6008 w 9998"/>
                  <a:gd name="connsiteY6" fmla="*/ 18270 h 18272"/>
                  <a:gd name="connsiteX7" fmla="*/ 3911 w 9998"/>
                  <a:gd name="connsiteY7" fmla="*/ 13342 h 18272"/>
                  <a:gd name="connsiteX8" fmla="*/ 2713 w 9998"/>
                  <a:gd name="connsiteY8" fmla="*/ 11244 h 18272"/>
                  <a:gd name="connsiteX9" fmla="*/ 1476 w 9998"/>
                  <a:gd name="connsiteY9" fmla="*/ 10849 h 18272"/>
                  <a:gd name="connsiteX10" fmla="*/ 1 w 9998"/>
                  <a:gd name="connsiteY10" fmla="*/ 7436 h 18272"/>
                  <a:gd name="connsiteX0" fmla="*/ 35 w 8559"/>
                  <a:gd name="connsiteY0" fmla="*/ 5938 h 10000"/>
                  <a:gd name="connsiteX1" fmla="*/ 2459 w 8559"/>
                  <a:gd name="connsiteY1" fmla="*/ 2430 h 10000"/>
                  <a:gd name="connsiteX2" fmla="*/ 4583 w 8559"/>
                  <a:gd name="connsiteY2" fmla="*/ 0 h 10000"/>
                  <a:gd name="connsiteX3" fmla="*/ 6936 w 8559"/>
                  <a:gd name="connsiteY3" fmla="*/ 2432 h 10000"/>
                  <a:gd name="connsiteX4" fmla="*/ 8556 w 8559"/>
                  <a:gd name="connsiteY4" fmla="*/ 5032 h 10000"/>
                  <a:gd name="connsiteX5" fmla="*/ 7279 w 8559"/>
                  <a:gd name="connsiteY5" fmla="*/ 6925 h 10000"/>
                  <a:gd name="connsiteX6" fmla="*/ 4568 w 8559"/>
                  <a:gd name="connsiteY6" fmla="*/ 9999 h 10000"/>
                  <a:gd name="connsiteX7" fmla="*/ 2471 w 8559"/>
                  <a:gd name="connsiteY7" fmla="*/ 7302 h 10000"/>
                  <a:gd name="connsiteX8" fmla="*/ 1273 w 8559"/>
                  <a:gd name="connsiteY8" fmla="*/ 6154 h 10000"/>
                  <a:gd name="connsiteX9" fmla="*/ 35 w 8559"/>
                  <a:gd name="connsiteY9" fmla="*/ 5938 h 10000"/>
                  <a:gd name="connsiteX0" fmla="*/ 49 w 9820"/>
                  <a:gd name="connsiteY0" fmla="*/ 4655 h 10000"/>
                  <a:gd name="connsiteX1" fmla="*/ 2693 w 9820"/>
                  <a:gd name="connsiteY1" fmla="*/ 2430 h 10000"/>
                  <a:gd name="connsiteX2" fmla="*/ 5175 w 9820"/>
                  <a:gd name="connsiteY2" fmla="*/ 0 h 10000"/>
                  <a:gd name="connsiteX3" fmla="*/ 7924 w 9820"/>
                  <a:gd name="connsiteY3" fmla="*/ 2432 h 10000"/>
                  <a:gd name="connsiteX4" fmla="*/ 9816 w 9820"/>
                  <a:gd name="connsiteY4" fmla="*/ 5032 h 10000"/>
                  <a:gd name="connsiteX5" fmla="*/ 8324 w 9820"/>
                  <a:gd name="connsiteY5" fmla="*/ 6925 h 10000"/>
                  <a:gd name="connsiteX6" fmla="*/ 5157 w 9820"/>
                  <a:gd name="connsiteY6" fmla="*/ 9999 h 10000"/>
                  <a:gd name="connsiteX7" fmla="*/ 2707 w 9820"/>
                  <a:gd name="connsiteY7" fmla="*/ 7302 h 10000"/>
                  <a:gd name="connsiteX8" fmla="*/ 1307 w 9820"/>
                  <a:gd name="connsiteY8" fmla="*/ 6154 h 10000"/>
                  <a:gd name="connsiteX9" fmla="*/ 49 w 9820"/>
                  <a:gd name="connsiteY9" fmla="*/ 4655 h 10000"/>
                  <a:gd name="connsiteX0" fmla="*/ 45 w 9995"/>
                  <a:gd name="connsiteY0" fmla="*/ 4655 h 10000"/>
                  <a:gd name="connsiteX1" fmla="*/ 2737 w 9995"/>
                  <a:gd name="connsiteY1" fmla="*/ 2430 h 10000"/>
                  <a:gd name="connsiteX2" fmla="*/ 5265 w 9995"/>
                  <a:gd name="connsiteY2" fmla="*/ 0 h 10000"/>
                  <a:gd name="connsiteX3" fmla="*/ 8064 w 9995"/>
                  <a:gd name="connsiteY3" fmla="*/ 2432 h 10000"/>
                  <a:gd name="connsiteX4" fmla="*/ 9991 w 9995"/>
                  <a:gd name="connsiteY4" fmla="*/ 5032 h 10000"/>
                  <a:gd name="connsiteX5" fmla="*/ 8472 w 9995"/>
                  <a:gd name="connsiteY5" fmla="*/ 6925 h 10000"/>
                  <a:gd name="connsiteX6" fmla="*/ 5247 w 9995"/>
                  <a:gd name="connsiteY6" fmla="*/ 9999 h 10000"/>
                  <a:gd name="connsiteX7" fmla="*/ 2752 w 9995"/>
                  <a:gd name="connsiteY7" fmla="*/ 7302 h 10000"/>
                  <a:gd name="connsiteX8" fmla="*/ 1374 w 9995"/>
                  <a:gd name="connsiteY8" fmla="*/ 6984 h 10000"/>
                  <a:gd name="connsiteX9" fmla="*/ 45 w 9995"/>
                  <a:gd name="connsiteY9" fmla="*/ 4655 h 10000"/>
                  <a:gd name="connsiteX0" fmla="*/ 45 w 10000"/>
                  <a:gd name="connsiteY0" fmla="*/ 5032 h 10377"/>
                  <a:gd name="connsiteX1" fmla="*/ 2738 w 10000"/>
                  <a:gd name="connsiteY1" fmla="*/ 2807 h 10377"/>
                  <a:gd name="connsiteX2" fmla="*/ 4886 w 10000"/>
                  <a:gd name="connsiteY2" fmla="*/ 0 h 10377"/>
                  <a:gd name="connsiteX3" fmla="*/ 8068 w 10000"/>
                  <a:gd name="connsiteY3" fmla="*/ 2809 h 10377"/>
                  <a:gd name="connsiteX4" fmla="*/ 9996 w 10000"/>
                  <a:gd name="connsiteY4" fmla="*/ 5409 h 10377"/>
                  <a:gd name="connsiteX5" fmla="*/ 8476 w 10000"/>
                  <a:gd name="connsiteY5" fmla="*/ 7302 h 10377"/>
                  <a:gd name="connsiteX6" fmla="*/ 5250 w 10000"/>
                  <a:gd name="connsiteY6" fmla="*/ 10376 h 10377"/>
                  <a:gd name="connsiteX7" fmla="*/ 2753 w 10000"/>
                  <a:gd name="connsiteY7" fmla="*/ 7679 h 10377"/>
                  <a:gd name="connsiteX8" fmla="*/ 1375 w 10000"/>
                  <a:gd name="connsiteY8" fmla="*/ 7361 h 10377"/>
                  <a:gd name="connsiteX9" fmla="*/ 45 w 10000"/>
                  <a:gd name="connsiteY9" fmla="*/ 5032 h 10377"/>
                  <a:gd name="connsiteX0" fmla="*/ 45 w 10000"/>
                  <a:gd name="connsiteY0" fmla="*/ 5036 h 10381"/>
                  <a:gd name="connsiteX1" fmla="*/ 2738 w 10000"/>
                  <a:gd name="connsiteY1" fmla="*/ 2811 h 10381"/>
                  <a:gd name="connsiteX2" fmla="*/ 4886 w 10000"/>
                  <a:gd name="connsiteY2" fmla="*/ 4 h 10381"/>
                  <a:gd name="connsiteX3" fmla="*/ 8068 w 10000"/>
                  <a:gd name="connsiteY3" fmla="*/ 2813 h 10381"/>
                  <a:gd name="connsiteX4" fmla="*/ 9996 w 10000"/>
                  <a:gd name="connsiteY4" fmla="*/ 5413 h 10381"/>
                  <a:gd name="connsiteX5" fmla="*/ 8476 w 10000"/>
                  <a:gd name="connsiteY5" fmla="*/ 7306 h 10381"/>
                  <a:gd name="connsiteX6" fmla="*/ 5250 w 10000"/>
                  <a:gd name="connsiteY6" fmla="*/ 10380 h 10381"/>
                  <a:gd name="connsiteX7" fmla="*/ 2753 w 10000"/>
                  <a:gd name="connsiteY7" fmla="*/ 7683 h 10381"/>
                  <a:gd name="connsiteX8" fmla="*/ 1375 w 10000"/>
                  <a:gd name="connsiteY8" fmla="*/ 7365 h 10381"/>
                  <a:gd name="connsiteX9" fmla="*/ 45 w 10000"/>
                  <a:gd name="connsiteY9" fmla="*/ 5036 h 10381"/>
                  <a:gd name="connsiteX0" fmla="*/ 45 w 10000"/>
                  <a:gd name="connsiteY0" fmla="*/ 5036 h 10796"/>
                  <a:gd name="connsiteX1" fmla="*/ 2738 w 10000"/>
                  <a:gd name="connsiteY1" fmla="*/ 2811 h 10796"/>
                  <a:gd name="connsiteX2" fmla="*/ 4886 w 10000"/>
                  <a:gd name="connsiteY2" fmla="*/ 4 h 10796"/>
                  <a:gd name="connsiteX3" fmla="*/ 8068 w 10000"/>
                  <a:gd name="connsiteY3" fmla="*/ 2813 h 10796"/>
                  <a:gd name="connsiteX4" fmla="*/ 9996 w 10000"/>
                  <a:gd name="connsiteY4" fmla="*/ 5413 h 10796"/>
                  <a:gd name="connsiteX5" fmla="*/ 8476 w 10000"/>
                  <a:gd name="connsiteY5" fmla="*/ 7306 h 10796"/>
                  <a:gd name="connsiteX6" fmla="*/ 5202 w 10000"/>
                  <a:gd name="connsiteY6" fmla="*/ 10795 h 10796"/>
                  <a:gd name="connsiteX7" fmla="*/ 2753 w 10000"/>
                  <a:gd name="connsiteY7" fmla="*/ 7683 h 10796"/>
                  <a:gd name="connsiteX8" fmla="*/ 1375 w 10000"/>
                  <a:gd name="connsiteY8" fmla="*/ 7365 h 10796"/>
                  <a:gd name="connsiteX9" fmla="*/ 45 w 10000"/>
                  <a:gd name="connsiteY9" fmla="*/ 5036 h 10796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  <a:gd name="connsiteX0" fmla="*/ 4 w 9959"/>
                  <a:gd name="connsiteY0" fmla="*/ 5593 h 11352"/>
                  <a:gd name="connsiteX1" fmla="*/ 1089 w 9959"/>
                  <a:gd name="connsiteY1" fmla="*/ 469 h 11352"/>
                  <a:gd name="connsiteX2" fmla="*/ 4845 w 9959"/>
                  <a:gd name="connsiteY2" fmla="*/ 561 h 11352"/>
                  <a:gd name="connsiteX3" fmla="*/ 8027 w 9959"/>
                  <a:gd name="connsiteY3" fmla="*/ 3370 h 11352"/>
                  <a:gd name="connsiteX4" fmla="*/ 9955 w 9959"/>
                  <a:gd name="connsiteY4" fmla="*/ 5970 h 11352"/>
                  <a:gd name="connsiteX5" fmla="*/ 8435 w 9959"/>
                  <a:gd name="connsiteY5" fmla="*/ 7863 h 11352"/>
                  <a:gd name="connsiteX6" fmla="*/ 5161 w 9959"/>
                  <a:gd name="connsiteY6" fmla="*/ 11352 h 11352"/>
                  <a:gd name="connsiteX7" fmla="*/ 2712 w 9959"/>
                  <a:gd name="connsiteY7" fmla="*/ 8240 h 11352"/>
                  <a:gd name="connsiteX8" fmla="*/ 1334 w 9959"/>
                  <a:gd name="connsiteY8" fmla="*/ 7922 h 11352"/>
                  <a:gd name="connsiteX9" fmla="*/ 4 w 9959"/>
                  <a:gd name="connsiteY9" fmla="*/ 5593 h 11352"/>
                  <a:gd name="connsiteX0" fmla="*/ 0 w 11223"/>
                  <a:gd name="connsiteY0" fmla="*/ 3835 h 9929"/>
                  <a:gd name="connsiteX1" fmla="*/ 2316 w 11223"/>
                  <a:gd name="connsiteY1" fmla="*/ 342 h 9929"/>
                  <a:gd name="connsiteX2" fmla="*/ 6088 w 11223"/>
                  <a:gd name="connsiteY2" fmla="*/ 423 h 9929"/>
                  <a:gd name="connsiteX3" fmla="*/ 9283 w 11223"/>
                  <a:gd name="connsiteY3" fmla="*/ 2898 h 9929"/>
                  <a:gd name="connsiteX4" fmla="*/ 11219 w 11223"/>
                  <a:gd name="connsiteY4" fmla="*/ 5188 h 9929"/>
                  <a:gd name="connsiteX5" fmla="*/ 9693 w 11223"/>
                  <a:gd name="connsiteY5" fmla="*/ 6856 h 9929"/>
                  <a:gd name="connsiteX6" fmla="*/ 6405 w 11223"/>
                  <a:gd name="connsiteY6" fmla="*/ 9929 h 9929"/>
                  <a:gd name="connsiteX7" fmla="*/ 3946 w 11223"/>
                  <a:gd name="connsiteY7" fmla="*/ 7188 h 9929"/>
                  <a:gd name="connsiteX8" fmla="*/ 2562 w 11223"/>
                  <a:gd name="connsiteY8" fmla="*/ 6908 h 9929"/>
                  <a:gd name="connsiteX9" fmla="*/ 0 w 11223"/>
                  <a:gd name="connsiteY9" fmla="*/ 3835 h 9929"/>
                  <a:gd name="connsiteX0" fmla="*/ 0 w 9999"/>
                  <a:gd name="connsiteY0" fmla="*/ 3862 h 10000"/>
                  <a:gd name="connsiteX1" fmla="*/ 2064 w 9999"/>
                  <a:gd name="connsiteY1" fmla="*/ 344 h 10000"/>
                  <a:gd name="connsiteX2" fmla="*/ 5425 w 9999"/>
                  <a:gd name="connsiteY2" fmla="*/ 426 h 10000"/>
                  <a:gd name="connsiteX3" fmla="*/ 8271 w 9999"/>
                  <a:gd name="connsiteY3" fmla="*/ 2919 h 10000"/>
                  <a:gd name="connsiteX4" fmla="*/ 9996 w 9999"/>
                  <a:gd name="connsiteY4" fmla="*/ 5225 h 10000"/>
                  <a:gd name="connsiteX5" fmla="*/ 8637 w 9999"/>
                  <a:gd name="connsiteY5" fmla="*/ 6905 h 10000"/>
                  <a:gd name="connsiteX6" fmla="*/ 5707 w 9999"/>
                  <a:gd name="connsiteY6" fmla="*/ 10000 h 10000"/>
                  <a:gd name="connsiteX7" fmla="*/ 2283 w 9999"/>
                  <a:gd name="connsiteY7" fmla="*/ 6957 h 10000"/>
                  <a:gd name="connsiteX8" fmla="*/ 0 w 9999"/>
                  <a:gd name="connsiteY8" fmla="*/ 3862 h 10000"/>
                  <a:gd name="connsiteX0" fmla="*/ 124 w 10124"/>
                  <a:gd name="connsiteY0" fmla="*/ 3862 h 10000"/>
                  <a:gd name="connsiteX1" fmla="*/ 2188 w 10124"/>
                  <a:gd name="connsiteY1" fmla="*/ 344 h 10000"/>
                  <a:gd name="connsiteX2" fmla="*/ 5550 w 10124"/>
                  <a:gd name="connsiteY2" fmla="*/ 426 h 10000"/>
                  <a:gd name="connsiteX3" fmla="*/ 8396 w 10124"/>
                  <a:gd name="connsiteY3" fmla="*/ 2919 h 10000"/>
                  <a:gd name="connsiteX4" fmla="*/ 10121 w 10124"/>
                  <a:gd name="connsiteY4" fmla="*/ 5225 h 10000"/>
                  <a:gd name="connsiteX5" fmla="*/ 8762 w 10124"/>
                  <a:gd name="connsiteY5" fmla="*/ 6905 h 10000"/>
                  <a:gd name="connsiteX6" fmla="*/ 5832 w 10124"/>
                  <a:gd name="connsiteY6" fmla="*/ 10000 h 10000"/>
                  <a:gd name="connsiteX7" fmla="*/ 124 w 10124"/>
                  <a:gd name="connsiteY7" fmla="*/ 3862 h 10000"/>
                  <a:gd name="connsiteX0" fmla="*/ 43 w 10045"/>
                  <a:gd name="connsiteY0" fmla="*/ 3862 h 6912"/>
                  <a:gd name="connsiteX1" fmla="*/ 2107 w 10045"/>
                  <a:gd name="connsiteY1" fmla="*/ 344 h 6912"/>
                  <a:gd name="connsiteX2" fmla="*/ 5469 w 10045"/>
                  <a:gd name="connsiteY2" fmla="*/ 426 h 6912"/>
                  <a:gd name="connsiteX3" fmla="*/ 8315 w 10045"/>
                  <a:gd name="connsiteY3" fmla="*/ 2919 h 6912"/>
                  <a:gd name="connsiteX4" fmla="*/ 10040 w 10045"/>
                  <a:gd name="connsiteY4" fmla="*/ 5225 h 6912"/>
                  <a:gd name="connsiteX5" fmla="*/ 8681 w 10045"/>
                  <a:gd name="connsiteY5" fmla="*/ 6905 h 6912"/>
                  <a:gd name="connsiteX6" fmla="*/ 3967 w 10045"/>
                  <a:gd name="connsiteY6" fmla="*/ 5885 h 6912"/>
                  <a:gd name="connsiteX7" fmla="*/ 43 w 10045"/>
                  <a:gd name="connsiteY7" fmla="*/ 3862 h 6912"/>
                  <a:gd name="connsiteX0" fmla="*/ 47 w 10004"/>
                  <a:gd name="connsiteY0" fmla="*/ 5106 h 9519"/>
                  <a:gd name="connsiteX1" fmla="*/ 2102 w 10004"/>
                  <a:gd name="connsiteY1" fmla="*/ 17 h 9519"/>
                  <a:gd name="connsiteX2" fmla="*/ 6651 w 10004"/>
                  <a:gd name="connsiteY2" fmla="*/ 3484 h 9519"/>
                  <a:gd name="connsiteX3" fmla="*/ 8282 w 10004"/>
                  <a:gd name="connsiteY3" fmla="*/ 3742 h 9519"/>
                  <a:gd name="connsiteX4" fmla="*/ 9999 w 10004"/>
                  <a:gd name="connsiteY4" fmla="*/ 7078 h 9519"/>
                  <a:gd name="connsiteX5" fmla="*/ 8646 w 10004"/>
                  <a:gd name="connsiteY5" fmla="*/ 9509 h 9519"/>
                  <a:gd name="connsiteX6" fmla="*/ 3953 w 10004"/>
                  <a:gd name="connsiteY6" fmla="*/ 8033 h 9519"/>
                  <a:gd name="connsiteX7" fmla="*/ 47 w 10004"/>
                  <a:gd name="connsiteY7" fmla="*/ 5106 h 9519"/>
                  <a:gd name="connsiteX0" fmla="*/ 43 w 9996"/>
                  <a:gd name="connsiteY0" fmla="*/ 6232 h 10868"/>
                  <a:gd name="connsiteX1" fmla="*/ 2097 w 9996"/>
                  <a:gd name="connsiteY1" fmla="*/ 886 h 10868"/>
                  <a:gd name="connsiteX2" fmla="*/ 5642 w 9996"/>
                  <a:gd name="connsiteY2" fmla="*/ 385 h 10868"/>
                  <a:gd name="connsiteX3" fmla="*/ 8275 w 9996"/>
                  <a:gd name="connsiteY3" fmla="*/ 4799 h 10868"/>
                  <a:gd name="connsiteX4" fmla="*/ 9991 w 9996"/>
                  <a:gd name="connsiteY4" fmla="*/ 8304 h 10868"/>
                  <a:gd name="connsiteX5" fmla="*/ 8639 w 9996"/>
                  <a:gd name="connsiteY5" fmla="*/ 10857 h 10868"/>
                  <a:gd name="connsiteX6" fmla="*/ 3947 w 9996"/>
                  <a:gd name="connsiteY6" fmla="*/ 9307 h 10868"/>
                  <a:gd name="connsiteX7" fmla="*/ 43 w 9996"/>
                  <a:gd name="connsiteY7" fmla="*/ 6232 h 10868"/>
                  <a:gd name="connsiteX0" fmla="*/ 43 w 10004"/>
                  <a:gd name="connsiteY0" fmla="*/ 5543 h 9809"/>
                  <a:gd name="connsiteX1" fmla="*/ 2098 w 10004"/>
                  <a:gd name="connsiteY1" fmla="*/ 624 h 9809"/>
                  <a:gd name="connsiteX2" fmla="*/ 5644 w 10004"/>
                  <a:gd name="connsiteY2" fmla="*/ 163 h 9809"/>
                  <a:gd name="connsiteX3" fmla="*/ 8163 w 10004"/>
                  <a:gd name="connsiteY3" fmla="*/ 1492 h 9809"/>
                  <a:gd name="connsiteX4" fmla="*/ 9995 w 10004"/>
                  <a:gd name="connsiteY4" fmla="*/ 7450 h 9809"/>
                  <a:gd name="connsiteX5" fmla="*/ 8642 w 10004"/>
                  <a:gd name="connsiteY5" fmla="*/ 9799 h 9809"/>
                  <a:gd name="connsiteX6" fmla="*/ 3949 w 10004"/>
                  <a:gd name="connsiteY6" fmla="*/ 8373 h 9809"/>
                  <a:gd name="connsiteX7" fmla="*/ 43 w 10004"/>
                  <a:gd name="connsiteY7" fmla="*/ 5543 h 9809"/>
                  <a:gd name="connsiteX0" fmla="*/ 43 w 8950"/>
                  <a:gd name="connsiteY0" fmla="*/ 5651 h 10081"/>
                  <a:gd name="connsiteX1" fmla="*/ 2097 w 8950"/>
                  <a:gd name="connsiteY1" fmla="*/ 636 h 10081"/>
                  <a:gd name="connsiteX2" fmla="*/ 5642 w 8950"/>
                  <a:gd name="connsiteY2" fmla="*/ 166 h 10081"/>
                  <a:gd name="connsiteX3" fmla="*/ 8160 w 8950"/>
                  <a:gd name="connsiteY3" fmla="*/ 1521 h 10081"/>
                  <a:gd name="connsiteX4" fmla="*/ 8473 w 8950"/>
                  <a:gd name="connsiteY4" fmla="*/ 5322 h 10081"/>
                  <a:gd name="connsiteX5" fmla="*/ 8639 w 8950"/>
                  <a:gd name="connsiteY5" fmla="*/ 9990 h 10081"/>
                  <a:gd name="connsiteX6" fmla="*/ 3947 w 8950"/>
                  <a:gd name="connsiteY6" fmla="*/ 8536 h 10081"/>
                  <a:gd name="connsiteX7" fmla="*/ 43 w 8950"/>
                  <a:gd name="connsiteY7" fmla="*/ 5651 h 10081"/>
                  <a:gd name="connsiteX0" fmla="*/ 48 w 9651"/>
                  <a:gd name="connsiteY0" fmla="*/ 5606 h 8648"/>
                  <a:gd name="connsiteX1" fmla="*/ 2343 w 9651"/>
                  <a:gd name="connsiteY1" fmla="*/ 631 h 8648"/>
                  <a:gd name="connsiteX2" fmla="*/ 6304 w 9651"/>
                  <a:gd name="connsiteY2" fmla="*/ 165 h 8648"/>
                  <a:gd name="connsiteX3" fmla="*/ 9117 w 9651"/>
                  <a:gd name="connsiteY3" fmla="*/ 1509 h 8648"/>
                  <a:gd name="connsiteX4" fmla="*/ 9467 w 9651"/>
                  <a:gd name="connsiteY4" fmla="*/ 5279 h 8648"/>
                  <a:gd name="connsiteX5" fmla="*/ 6997 w 9651"/>
                  <a:gd name="connsiteY5" fmla="*/ 8019 h 8648"/>
                  <a:gd name="connsiteX6" fmla="*/ 4410 w 9651"/>
                  <a:gd name="connsiteY6" fmla="*/ 8467 h 8648"/>
                  <a:gd name="connsiteX7" fmla="*/ 48 w 9651"/>
                  <a:gd name="connsiteY7" fmla="*/ 5606 h 8648"/>
                  <a:gd name="connsiteX0" fmla="*/ 41 w 9991"/>
                  <a:gd name="connsiteY0" fmla="*/ 6482 h 9316"/>
                  <a:gd name="connsiteX1" fmla="*/ 2419 w 9991"/>
                  <a:gd name="connsiteY1" fmla="*/ 730 h 9316"/>
                  <a:gd name="connsiteX2" fmla="*/ 6523 w 9991"/>
                  <a:gd name="connsiteY2" fmla="*/ 191 h 9316"/>
                  <a:gd name="connsiteX3" fmla="*/ 9438 w 9991"/>
                  <a:gd name="connsiteY3" fmla="*/ 1745 h 9316"/>
                  <a:gd name="connsiteX4" fmla="*/ 9800 w 9991"/>
                  <a:gd name="connsiteY4" fmla="*/ 6104 h 9316"/>
                  <a:gd name="connsiteX5" fmla="*/ 7241 w 9991"/>
                  <a:gd name="connsiteY5" fmla="*/ 9273 h 9316"/>
                  <a:gd name="connsiteX6" fmla="*/ 1411 w 9991"/>
                  <a:gd name="connsiteY6" fmla="*/ 7856 h 9316"/>
                  <a:gd name="connsiteX7" fmla="*/ 41 w 9991"/>
                  <a:gd name="connsiteY7" fmla="*/ 6482 h 9316"/>
                  <a:gd name="connsiteX0" fmla="*/ 19 w 10708"/>
                  <a:gd name="connsiteY0" fmla="*/ 7721 h 10038"/>
                  <a:gd name="connsiteX1" fmla="*/ 3129 w 10708"/>
                  <a:gd name="connsiteY1" fmla="*/ 825 h 10038"/>
                  <a:gd name="connsiteX2" fmla="*/ 7237 w 10708"/>
                  <a:gd name="connsiteY2" fmla="*/ 246 h 10038"/>
                  <a:gd name="connsiteX3" fmla="*/ 10155 w 10708"/>
                  <a:gd name="connsiteY3" fmla="*/ 1914 h 10038"/>
                  <a:gd name="connsiteX4" fmla="*/ 10517 w 10708"/>
                  <a:gd name="connsiteY4" fmla="*/ 6593 h 10038"/>
                  <a:gd name="connsiteX5" fmla="*/ 7956 w 10708"/>
                  <a:gd name="connsiteY5" fmla="*/ 9995 h 10038"/>
                  <a:gd name="connsiteX6" fmla="*/ 2120 w 10708"/>
                  <a:gd name="connsiteY6" fmla="*/ 8474 h 10038"/>
                  <a:gd name="connsiteX7" fmla="*/ 19 w 10708"/>
                  <a:gd name="connsiteY7" fmla="*/ 7721 h 10038"/>
                  <a:gd name="connsiteX0" fmla="*/ 359 w 11048"/>
                  <a:gd name="connsiteY0" fmla="*/ 7721 h 10038"/>
                  <a:gd name="connsiteX1" fmla="*/ 3469 w 11048"/>
                  <a:gd name="connsiteY1" fmla="*/ 825 h 10038"/>
                  <a:gd name="connsiteX2" fmla="*/ 7577 w 11048"/>
                  <a:gd name="connsiteY2" fmla="*/ 246 h 10038"/>
                  <a:gd name="connsiteX3" fmla="*/ 10495 w 11048"/>
                  <a:gd name="connsiteY3" fmla="*/ 1914 h 10038"/>
                  <a:gd name="connsiteX4" fmla="*/ 10857 w 11048"/>
                  <a:gd name="connsiteY4" fmla="*/ 6593 h 10038"/>
                  <a:gd name="connsiteX5" fmla="*/ 8296 w 11048"/>
                  <a:gd name="connsiteY5" fmla="*/ 9995 h 10038"/>
                  <a:gd name="connsiteX6" fmla="*/ 2460 w 11048"/>
                  <a:gd name="connsiteY6" fmla="*/ 8474 h 10038"/>
                  <a:gd name="connsiteX7" fmla="*/ 359 w 11048"/>
                  <a:gd name="connsiteY7" fmla="*/ 7721 h 10038"/>
                  <a:gd name="connsiteX0" fmla="*/ 359 w 11048"/>
                  <a:gd name="connsiteY0" fmla="*/ 8392 h 10075"/>
                  <a:gd name="connsiteX1" fmla="*/ 3469 w 11048"/>
                  <a:gd name="connsiteY1" fmla="*/ 864 h 10075"/>
                  <a:gd name="connsiteX2" fmla="*/ 7577 w 11048"/>
                  <a:gd name="connsiteY2" fmla="*/ 285 h 10075"/>
                  <a:gd name="connsiteX3" fmla="*/ 10495 w 11048"/>
                  <a:gd name="connsiteY3" fmla="*/ 1953 h 10075"/>
                  <a:gd name="connsiteX4" fmla="*/ 10857 w 11048"/>
                  <a:gd name="connsiteY4" fmla="*/ 6632 h 10075"/>
                  <a:gd name="connsiteX5" fmla="*/ 8296 w 11048"/>
                  <a:gd name="connsiteY5" fmla="*/ 10034 h 10075"/>
                  <a:gd name="connsiteX6" fmla="*/ 2460 w 11048"/>
                  <a:gd name="connsiteY6" fmla="*/ 8513 h 10075"/>
                  <a:gd name="connsiteX7" fmla="*/ 359 w 11048"/>
                  <a:gd name="connsiteY7" fmla="*/ 8392 h 10075"/>
                  <a:gd name="connsiteX0" fmla="*/ 371 w 11060"/>
                  <a:gd name="connsiteY0" fmla="*/ 8392 h 10075"/>
                  <a:gd name="connsiteX1" fmla="*/ 3481 w 11060"/>
                  <a:gd name="connsiteY1" fmla="*/ 864 h 10075"/>
                  <a:gd name="connsiteX2" fmla="*/ 7589 w 11060"/>
                  <a:gd name="connsiteY2" fmla="*/ 285 h 10075"/>
                  <a:gd name="connsiteX3" fmla="*/ 10507 w 11060"/>
                  <a:gd name="connsiteY3" fmla="*/ 1953 h 10075"/>
                  <a:gd name="connsiteX4" fmla="*/ 10869 w 11060"/>
                  <a:gd name="connsiteY4" fmla="*/ 6632 h 10075"/>
                  <a:gd name="connsiteX5" fmla="*/ 8308 w 11060"/>
                  <a:gd name="connsiteY5" fmla="*/ 10034 h 10075"/>
                  <a:gd name="connsiteX6" fmla="*/ 2472 w 11060"/>
                  <a:gd name="connsiteY6" fmla="*/ 8513 h 10075"/>
                  <a:gd name="connsiteX7" fmla="*/ 371 w 11060"/>
                  <a:gd name="connsiteY7" fmla="*/ 8392 h 10075"/>
                  <a:gd name="connsiteX0" fmla="*/ 54 w 10743"/>
                  <a:gd name="connsiteY0" fmla="*/ 9468 h 11151"/>
                  <a:gd name="connsiteX1" fmla="*/ 4027 w 10743"/>
                  <a:gd name="connsiteY1" fmla="*/ 495 h 11151"/>
                  <a:gd name="connsiteX2" fmla="*/ 7272 w 10743"/>
                  <a:gd name="connsiteY2" fmla="*/ 1361 h 11151"/>
                  <a:gd name="connsiteX3" fmla="*/ 10190 w 10743"/>
                  <a:gd name="connsiteY3" fmla="*/ 3029 h 11151"/>
                  <a:gd name="connsiteX4" fmla="*/ 10552 w 10743"/>
                  <a:gd name="connsiteY4" fmla="*/ 7708 h 11151"/>
                  <a:gd name="connsiteX5" fmla="*/ 7991 w 10743"/>
                  <a:gd name="connsiteY5" fmla="*/ 11110 h 11151"/>
                  <a:gd name="connsiteX6" fmla="*/ 2155 w 10743"/>
                  <a:gd name="connsiteY6" fmla="*/ 9589 h 11151"/>
                  <a:gd name="connsiteX7" fmla="*/ 54 w 10743"/>
                  <a:gd name="connsiteY7" fmla="*/ 9468 h 11151"/>
                  <a:gd name="connsiteX0" fmla="*/ 54 w 10743"/>
                  <a:gd name="connsiteY0" fmla="*/ 9506 h 11189"/>
                  <a:gd name="connsiteX1" fmla="*/ 4027 w 10743"/>
                  <a:gd name="connsiteY1" fmla="*/ 533 h 11189"/>
                  <a:gd name="connsiteX2" fmla="*/ 7272 w 10743"/>
                  <a:gd name="connsiteY2" fmla="*/ 1399 h 11189"/>
                  <a:gd name="connsiteX3" fmla="*/ 10190 w 10743"/>
                  <a:gd name="connsiteY3" fmla="*/ 3067 h 11189"/>
                  <a:gd name="connsiteX4" fmla="*/ 10552 w 10743"/>
                  <a:gd name="connsiteY4" fmla="*/ 7746 h 11189"/>
                  <a:gd name="connsiteX5" fmla="*/ 7991 w 10743"/>
                  <a:gd name="connsiteY5" fmla="*/ 11148 h 11189"/>
                  <a:gd name="connsiteX6" fmla="*/ 2155 w 10743"/>
                  <a:gd name="connsiteY6" fmla="*/ 9627 h 11189"/>
                  <a:gd name="connsiteX7" fmla="*/ 54 w 10743"/>
                  <a:gd name="connsiteY7" fmla="*/ 9506 h 11189"/>
                  <a:gd name="connsiteX0" fmla="*/ 40 w 11293"/>
                  <a:gd name="connsiteY0" fmla="*/ 9082 h 11127"/>
                  <a:gd name="connsiteX1" fmla="*/ 4577 w 11293"/>
                  <a:gd name="connsiteY1" fmla="*/ 470 h 11127"/>
                  <a:gd name="connsiteX2" fmla="*/ 7822 w 11293"/>
                  <a:gd name="connsiteY2" fmla="*/ 1336 h 11127"/>
                  <a:gd name="connsiteX3" fmla="*/ 10740 w 11293"/>
                  <a:gd name="connsiteY3" fmla="*/ 3004 h 11127"/>
                  <a:gd name="connsiteX4" fmla="*/ 11102 w 11293"/>
                  <a:gd name="connsiteY4" fmla="*/ 7683 h 11127"/>
                  <a:gd name="connsiteX5" fmla="*/ 8541 w 11293"/>
                  <a:gd name="connsiteY5" fmla="*/ 11085 h 11127"/>
                  <a:gd name="connsiteX6" fmla="*/ 2705 w 11293"/>
                  <a:gd name="connsiteY6" fmla="*/ 9564 h 11127"/>
                  <a:gd name="connsiteX7" fmla="*/ 40 w 11293"/>
                  <a:gd name="connsiteY7" fmla="*/ 9082 h 11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293" h="11127">
                    <a:moveTo>
                      <a:pt x="40" y="9082"/>
                    </a:moveTo>
                    <a:cubicBezTo>
                      <a:pt x="352" y="7566"/>
                      <a:pt x="3280" y="1761"/>
                      <a:pt x="4577" y="470"/>
                    </a:cubicBezTo>
                    <a:cubicBezTo>
                      <a:pt x="5874" y="-821"/>
                      <a:pt x="6795" y="914"/>
                      <a:pt x="7822" y="1336"/>
                    </a:cubicBezTo>
                    <a:cubicBezTo>
                      <a:pt x="8849" y="1758"/>
                      <a:pt x="10193" y="1947"/>
                      <a:pt x="10740" y="3004"/>
                    </a:cubicBezTo>
                    <a:cubicBezTo>
                      <a:pt x="11287" y="4061"/>
                      <a:pt x="11468" y="6337"/>
                      <a:pt x="11102" y="7683"/>
                    </a:cubicBezTo>
                    <a:cubicBezTo>
                      <a:pt x="10736" y="9030"/>
                      <a:pt x="9940" y="10771"/>
                      <a:pt x="8541" y="11085"/>
                    </a:cubicBezTo>
                    <a:cubicBezTo>
                      <a:pt x="7141" y="11398"/>
                      <a:pt x="4122" y="9898"/>
                      <a:pt x="2705" y="9564"/>
                    </a:cubicBezTo>
                    <a:cubicBezTo>
                      <a:pt x="1288" y="9230"/>
                      <a:pt x="-272" y="10598"/>
                      <a:pt x="40" y="9082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08" name="Group 327">
                <a:extLst>
                  <a:ext uri="{FF2B5EF4-FFF2-40B4-BE49-F238E27FC236}">
                    <a16:creationId xmlns:a16="http://schemas.microsoft.com/office/drawing/2014/main" id="{FF5411F4-57D5-4A3E-9918-C7A615D150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08175" y="5241780"/>
                <a:ext cx="536554" cy="263548"/>
                <a:chOff x="1871277" y="1576300"/>
                <a:chExt cx="1128371" cy="437861"/>
              </a:xfrm>
            </p:grpSpPr>
            <p:sp>
              <p:nvSpPr>
                <p:cNvPr id="212" name="Oval 373">
                  <a:extLst>
                    <a:ext uri="{FF2B5EF4-FFF2-40B4-BE49-F238E27FC236}">
                      <a16:creationId xmlns:a16="http://schemas.microsoft.com/office/drawing/2014/main" id="{7CD66CB6-5C1D-42CB-B704-E5937EC0142D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solidFill>
                        <a:prstClr val="black"/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" name="Rectangle 374">
                  <a:extLst>
                    <a:ext uri="{FF2B5EF4-FFF2-40B4-BE49-F238E27FC236}">
                      <a16:creationId xmlns:a16="http://schemas.microsoft.com/office/drawing/2014/main" id="{6B0896D0-5378-4666-BA3A-760CC3FC63E7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" name="Oval 375">
                  <a:extLst>
                    <a:ext uri="{FF2B5EF4-FFF2-40B4-BE49-F238E27FC236}">
                      <a16:creationId xmlns:a16="http://schemas.microsoft.com/office/drawing/2014/main" id="{4BD558E6-2120-4A07-B6C5-C560BE62EF1B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solidFill>
                        <a:prstClr val="black"/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5" name="Freeform 376">
                  <a:extLst>
                    <a:ext uri="{FF2B5EF4-FFF2-40B4-BE49-F238E27FC236}">
                      <a16:creationId xmlns:a16="http://schemas.microsoft.com/office/drawing/2014/main" id="{A3560340-6192-4F5B-9F45-23FA18F03276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6" name="Freeform 377">
                  <a:extLst>
                    <a:ext uri="{FF2B5EF4-FFF2-40B4-BE49-F238E27FC236}">
                      <a16:creationId xmlns:a16="http://schemas.microsoft.com/office/drawing/2014/main" id="{8D8F57A4-251E-4A35-ABDC-879CD08F8305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7" name="Freeform 378">
                  <a:extLst>
                    <a:ext uri="{FF2B5EF4-FFF2-40B4-BE49-F238E27FC236}">
                      <a16:creationId xmlns:a16="http://schemas.microsoft.com/office/drawing/2014/main" id="{F617CD2C-0E88-4869-8F60-8874D3A7B2B7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8" name="Freeform 379">
                  <a:extLst>
                    <a:ext uri="{FF2B5EF4-FFF2-40B4-BE49-F238E27FC236}">
                      <a16:creationId xmlns:a16="http://schemas.microsoft.com/office/drawing/2014/main" id="{BC15E283-2CBD-42F7-B116-39BE48594B1A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219" name="Straight Connector 380">
                  <a:extLst>
                    <a:ext uri="{FF2B5EF4-FFF2-40B4-BE49-F238E27FC236}">
                      <a16:creationId xmlns:a16="http://schemas.microsoft.com/office/drawing/2014/main" id="{D6C34D1F-DA5D-4F7E-8A0F-E29030A278BA}"/>
                    </a:ext>
                  </a:extLst>
                </p:cNvPr>
                <p:cNvCxnSpPr>
                  <a:endCxn id="214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381">
                  <a:extLst>
                    <a:ext uri="{FF2B5EF4-FFF2-40B4-BE49-F238E27FC236}">
                      <a16:creationId xmlns:a16="http://schemas.microsoft.com/office/drawing/2014/main" id="{E0253CD4-B445-478F-9067-93ECBAD69FF9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370">
                <a:extLst>
                  <a:ext uri="{FF2B5EF4-FFF2-40B4-BE49-F238E27FC236}">
                    <a16:creationId xmlns:a16="http://schemas.microsoft.com/office/drawing/2014/main" id="{3BB03EF0-C8DD-4167-ACF6-472A61D69AF7}"/>
                  </a:ext>
                </a:extLst>
              </p:cNvPr>
              <p:cNvGrpSpPr/>
              <p:nvPr/>
            </p:nvGrpSpPr>
            <p:grpSpPr>
              <a:xfrm>
                <a:off x="7943996" y="5223365"/>
                <a:ext cx="390467" cy="369332"/>
                <a:chOff x="670504" y="1708643"/>
                <a:chExt cx="411278" cy="409344"/>
              </a:xfrm>
            </p:grpSpPr>
            <p:sp>
              <p:nvSpPr>
                <p:cNvPr id="210" name="Oval 371">
                  <a:extLst>
                    <a:ext uri="{FF2B5EF4-FFF2-40B4-BE49-F238E27FC236}">
                      <a16:creationId xmlns:a16="http://schemas.microsoft.com/office/drawing/2014/main" id="{698D74C0-064A-482F-BC4D-D794E415915E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" name="TextBox 372">
                  <a:extLst>
                    <a:ext uri="{FF2B5EF4-FFF2-40B4-BE49-F238E27FC236}">
                      <a16:creationId xmlns:a16="http://schemas.microsoft.com/office/drawing/2014/main" id="{01839195-BBF8-4FAA-97EB-972FF9AB8262}"/>
                    </a:ext>
                  </a:extLst>
                </p:cNvPr>
                <p:cNvSpPr txBox="1"/>
                <p:nvPr/>
              </p:nvSpPr>
              <p:spPr>
                <a:xfrm>
                  <a:off x="670504" y="1708643"/>
                  <a:ext cx="349760" cy="4093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rPr>
                    <a:t>  X</a:t>
                  </a:r>
                </a:p>
              </p:txBody>
            </p:sp>
          </p:grpSp>
        </p:grpSp>
        <p:cxnSp>
          <p:nvCxnSpPr>
            <p:cNvPr id="206" name="Straight Connector 401">
              <a:extLst>
                <a:ext uri="{FF2B5EF4-FFF2-40B4-BE49-F238E27FC236}">
                  <a16:creationId xmlns:a16="http://schemas.microsoft.com/office/drawing/2014/main" id="{E76917DC-0E67-4BB7-A713-F512DA3791F6}"/>
                </a:ext>
              </a:extLst>
            </p:cNvPr>
            <p:cNvCxnSpPr/>
            <p:nvPr/>
          </p:nvCxnSpPr>
          <p:spPr bwMode="auto">
            <a:xfrm flipH="1">
              <a:off x="7133690" y="5764030"/>
              <a:ext cx="870024" cy="999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1" name="Group 6">
            <a:extLst>
              <a:ext uri="{FF2B5EF4-FFF2-40B4-BE49-F238E27FC236}">
                <a16:creationId xmlns:a16="http://schemas.microsoft.com/office/drawing/2014/main" id="{3420648A-AACF-4A08-A58D-88F1EE963B89}"/>
              </a:ext>
            </a:extLst>
          </p:cNvPr>
          <p:cNvGrpSpPr/>
          <p:nvPr/>
        </p:nvGrpSpPr>
        <p:grpSpPr>
          <a:xfrm>
            <a:off x="7617925" y="2379268"/>
            <a:ext cx="1080508" cy="768350"/>
            <a:chOff x="5713444" y="2379268"/>
            <a:chExt cx="810381" cy="768350"/>
          </a:xfrm>
        </p:grpSpPr>
        <p:sp>
          <p:nvSpPr>
            <p:cNvPr id="222" name="AutoShape 118">
              <a:extLst>
                <a:ext uri="{FF2B5EF4-FFF2-40B4-BE49-F238E27FC236}">
                  <a16:creationId xmlns:a16="http://schemas.microsoft.com/office/drawing/2014/main" id="{74D56AAF-6D21-4A0F-9AA5-26B810A5546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597965">
              <a:off x="5467382" y="2625330"/>
              <a:ext cx="768350" cy="276226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223" name="Text Box 119">
              <a:extLst>
                <a:ext uri="{FF2B5EF4-FFF2-40B4-BE49-F238E27FC236}">
                  <a16:creationId xmlns:a16="http://schemas.microsoft.com/office/drawing/2014/main" id="{473944EF-7D42-4A54-83CB-B48B24F5E2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06829" y="2784958"/>
              <a:ext cx="616996" cy="3016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AS3,X </a:t>
              </a:r>
            </a:p>
          </p:txBody>
        </p:sp>
      </p:grpSp>
      <p:grpSp>
        <p:nvGrpSpPr>
          <p:cNvPr id="224" name="Group 5">
            <a:extLst>
              <a:ext uri="{FF2B5EF4-FFF2-40B4-BE49-F238E27FC236}">
                <a16:creationId xmlns:a16="http://schemas.microsoft.com/office/drawing/2014/main" id="{A0874893-F5BB-4401-8FD1-3A7C876E5000}"/>
              </a:ext>
            </a:extLst>
          </p:cNvPr>
          <p:cNvGrpSpPr/>
          <p:nvPr/>
        </p:nvGrpSpPr>
        <p:grpSpPr>
          <a:xfrm>
            <a:off x="2705105" y="2438605"/>
            <a:ext cx="1637764" cy="882449"/>
            <a:chOff x="2028828" y="2438604"/>
            <a:chExt cx="1228323" cy="882449"/>
          </a:xfrm>
        </p:grpSpPr>
        <p:sp>
          <p:nvSpPr>
            <p:cNvPr id="225" name="Text Box 119">
              <a:extLst>
                <a:ext uri="{FF2B5EF4-FFF2-40B4-BE49-F238E27FC236}">
                  <a16:creationId xmlns:a16="http://schemas.microsoft.com/office/drawing/2014/main" id="{E71483B2-F81E-4D03-9E0B-24B8BD3999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8828" y="3019432"/>
              <a:ext cx="950020" cy="3016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AS2,AS3,X </a:t>
              </a:r>
            </a:p>
          </p:txBody>
        </p:sp>
        <p:sp>
          <p:nvSpPr>
            <p:cNvPr id="226" name="AutoShape 118">
              <a:extLst>
                <a:ext uri="{FF2B5EF4-FFF2-40B4-BE49-F238E27FC236}">
                  <a16:creationId xmlns:a16="http://schemas.microsoft.com/office/drawing/2014/main" id="{8D4FEC0F-9D63-4001-A375-B0410E6ACAC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445218">
              <a:off x="2734864" y="2684666"/>
              <a:ext cx="768350" cy="276225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7" name="Group 4">
            <a:extLst>
              <a:ext uri="{FF2B5EF4-FFF2-40B4-BE49-F238E27FC236}">
                <a16:creationId xmlns:a16="http://schemas.microsoft.com/office/drawing/2014/main" id="{58E16E1A-1CFC-4A9E-AD1D-CDB52839DA65}"/>
              </a:ext>
            </a:extLst>
          </p:cNvPr>
          <p:cNvGrpSpPr/>
          <p:nvPr/>
        </p:nvGrpSpPr>
        <p:grpSpPr>
          <a:xfrm>
            <a:off x="5402667" y="2820740"/>
            <a:ext cx="1491783" cy="826267"/>
            <a:chOff x="4052000" y="2820739"/>
            <a:chExt cx="1118837" cy="826267"/>
          </a:xfrm>
        </p:grpSpPr>
        <p:cxnSp>
          <p:nvCxnSpPr>
            <p:cNvPr id="228" name="Straight Arrow Connector 2">
              <a:extLst>
                <a:ext uri="{FF2B5EF4-FFF2-40B4-BE49-F238E27FC236}">
                  <a16:creationId xmlns:a16="http://schemas.microsoft.com/office/drawing/2014/main" id="{E72D3B77-72EB-4ED8-B839-BE83F7028815}"/>
                </a:ext>
              </a:extLst>
            </p:cNvPr>
            <p:cNvCxnSpPr/>
            <p:nvPr/>
          </p:nvCxnSpPr>
          <p:spPr bwMode="auto">
            <a:xfrm flipH="1" flipV="1">
              <a:off x="4769093" y="2820739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9" name="Straight Arrow Connector 329">
              <a:extLst>
                <a:ext uri="{FF2B5EF4-FFF2-40B4-BE49-F238E27FC236}">
                  <a16:creationId xmlns:a16="http://schemas.microsoft.com/office/drawing/2014/main" id="{39E35DFA-4CF6-4BD2-9F18-7BD4D8822C18}"/>
                </a:ext>
              </a:extLst>
            </p:cNvPr>
            <p:cNvCxnSpPr/>
            <p:nvPr/>
          </p:nvCxnSpPr>
          <p:spPr bwMode="auto">
            <a:xfrm flipH="1" flipV="1">
              <a:off x="4052000" y="3192229"/>
              <a:ext cx="1059565" cy="14171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0" name="Straight Arrow Connector 330">
              <a:extLst>
                <a:ext uri="{FF2B5EF4-FFF2-40B4-BE49-F238E27FC236}">
                  <a16:creationId xmlns:a16="http://schemas.microsoft.com/office/drawing/2014/main" id="{7B83DE7B-7033-4B02-A2DA-5C950C8400D2}"/>
                </a:ext>
              </a:extLst>
            </p:cNvPr>
            <p:cNvCxnSpPr/>
            <p:nvPr/>
          </p:nvCxnSpPr>
          <p:spPr bwMode="auto">
            <a:xfrm flipH="1">
              <a:off x="4748700" y="3344630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31" name="内容占位符 2"/>
          <p:cNvSpPr txBox="1">
            <a:spLocks/>
          </p:cNvSpPr>
          <p:nvPr/>
        </p:nvSpPr>
        <p:spPr>
          <a:xfrm>
            <a:off x="838200" y="4002894"/>
            <a:ext cx="10515600" cy="2353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AS2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的路由器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2c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AS3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的路由器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3a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接收到路径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AS3, X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根据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AS2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的策略，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AS2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的路由器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2c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接受路径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AS3, X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，通过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iBGP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传播给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AS2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的所有路由器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根据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AS2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策略，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AS2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的路由器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2a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通过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eBGP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向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AS1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的路由器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1c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通告从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AS3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的路由器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3a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接收到路径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AS2, AS3, X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3494994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5.4.3 BGP-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外部网关路由协议</a:t>
            </a:r>
          </a:p>
        </p:txBody>
      </p:sp>
    </p:spTree>
    <p:extLst>
      <p:ext uri="{BB962C8B-B14F-4D97-AF65-F5344CB8AC3E}">
        <p14:creationId xmlns:p14="http://schemas.microsoft.com/office/powerpoint/2010/main" val="218735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BGP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路径通告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grpSp>
        <p:nvGrpSpPr>
          <p:cNvPr id="5" name="Group 124"/>
          <p:cNvGrpSpPr/>
          <p:nvPr/>
        </p:nvGrpSpPr>
        <p:grpSpPr>
          <a:xfrm>
            <a:off x="833183" y="1451515"/>
            <a:ext cx="3409781" cy="1719017"/>
            <a:chOff x="-2170772" y="2784954"/>
            <a:chExt cx="2712783" cy="1853712"/>
          </a:xfrm>
        </p:grpSpPr>
        <p:sp>
          <p:nvSpPr>
            <p:cNvPr id="6" name="Freeform 2"/>
            <p:cNvSpPr>
              <a:spLocks/>
            </p:cNvSpPr>
            <p:nvPr/>
          </p:nvSpPr>
          <p:spPr bwMode="auto">
            <a:xfrm>
              <a:off x="-2170772" y="2784954"/>
              <a:ext cx="2712783" cy="1853712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connsiteX0" fmla="*/ 4 w 10040"/>
                <a:gd name="connsiteY0" fmla="*/ 4039 h 10125"/>
                <a:gd name="connsiteX1" fmla="*/ 715 w 10040"/>
                <a:gd name="connsiteY1" fmla="*/ 1595 h 10125"/>
                <a:gd name="connsiteX2" fmla="*/ 3130 w 10040"/>
                <a:gd name="connsiteY2" fmla="*/ 1006 h 10125"/>
                <a:gd name="connsiteX3" fmla="*/ 4995 w 10040"/>
                <a:gd name="connsiteY3" fmla="*/ 0 h 10125"/>
                <a:gd name="connsiteX4" fmla="*/ 6720 w 10040"/>
                <a:gd name="connsiteY4" fmla="*/ 1009 h 10125"/>
                <a:gd name="connsiteX5" fmla="*/ 9989 w 10040"/>
                <a:gd name="connsiteY5" fmla="*/ 2989 h 10125"/>
                <a:gd name="connsiteX6" fmla="*/ 8599 w 10040"/>
                <a:gd name="connsiteY6" fmla="*/ 6797 h 10125"/>
                <a:gd name="connsiteX7" fmla="*/ 6995 w 10040"/>
                <a:gd name="connsiteY7" fmla="*/ 9322 h 10125"/>
                <a:gd name="connsiteX8" fmla="*/ 5307 w 10040"/>
                <a:gd name="connsiteY8" fmla="*/ 8843 h 10125"/>
                <a:gd name="connsiteX9" fmla="*/ 4371 w 10040"/>
                <a:gd name="connsiteY9" fmla="*/ 9912 h 10125"/>
                <a:gd name="connsiteX10" fmla="*/ 3140 w 10040"/>
                <a:gd name="connsiteY10" fmla="*/ 10019 h 10125"/>
                <a:gd name="connsiteX11" fmla="*/ 2179 w 10040"/>
                <a:gd name="connsiteY11" fmla="*/ 7895 h 10125"/>
                <a:gd name="connsiteX12" fmla="*/ 1187 w 10040"/>
                <a:gd name="connsiteY12" fmla="*/ 7495 h 10125"/>
                <a:gd name="connsiteX13" fmla="*/ 4 w 10040"/>
                <a:gd name="connsiteY13" fmla="*/ 4039 h 10125"/>
                <a:gd name="connsiteX0" fmla="*/ 4 w 8600"/>
                <a:gd name="connsiteY0" fmla="*/ 4042 h 10128"/>
                <a:gd name="connsiteX1" fmla="*/ 715 w 8600"/>
                <a:gd name="connsiteY1" fmla="*/ 1598 h 10128"/>
                <a:gd name="connsiteX2" fmla="*/ 3130 w 8600"/>
                <a:gd name="connsiteY2" fmla="*/ 1009 h 10128"/>
                <a:gd name="connsiteX3" fmla="*/ 4995 w 8600"/>
                <a:gd name="connsiteY3" fmla="*/ 3 h 10128"/>
                <a:gd name="connsiteX4" fmla="*/ 6720 w 8600"/>
                <a:gd name="connsiteY4" fmla="*/ 1012 h 10128"/>
                <a:gd name="connsiteX5" fmla="*/ 8599 w 8600"/>
                <a:gd name="connsiteY5" fmla="*/ 6800 h 10128"/>
                <a:gd name="connsiteX6" fmla="*/ 6995 w 8600"/>
                <a:gd name="connsiteY6" fmla="*/ 9325 h 10128"/>
                <a:gd name="connsiteX7" fmla="*/ 5307 w 8600"/>
                <a:gd name="connsiteY7" fmla="*/ 8846 h 10128"/>
                <a:gd name="connsiteX8" fmla="*/ 4371 w 8600"/>
                <a:gd name="connsiteY8" fmla="*/ 9915 h 10128"/>
                <a:gd name="connsiteX9" fmla="*/ 3140 w 8600"/>
                <a:gd name="connsiteY9" fmla="*/ 10022 h 10128"/>
                <a:gd name="connsiteX10" fmla="*/ 2179 w 8600"/>
                <a:gd name="connsiteY10" fmla="*/ 7898 h 10128"/>
                <a:gd name="connsiteX11" fmla="*/ 1187 w 8600"/>
                <a:gd name="connsiteY11" fmla="*/ 7498 h 10128"/>
                <a:gd name="connsiteX12" fmla="*/ 4 w 8600"/>
                <a:gd name="connsiteY12" fmla="*/ 4042 h 10128"/>
                <a:gd name="connsiteX0" fmla="*/ 4 w 9326"/>
                <a:gd name="connsiteY0" fmla="*/ 3988 h 9997"/>
                <a:gd name="connsiteX1" fmla="*/ 830 w 9326"/>
                <a:gd name="connsiteY1" fmla="*/ 1575 h 9997"/>
                <a:gd name="connsiteX2" fmla="*/ 3639 w 9326"/>
                <a:gd name="connsiteY2" fmla="*/ 993 h 9997"/>
                <a:gd name="connsiteX3" fmla="*/ 5807 w 9326"/>
                <a:gd name="connsiteY3" fmla="*/ 0 h 9997"/>
                <a:gd name="connsiteX4" fmla="*/ 7813 w 9326"/>
                <a:gd name="connsiteY4" fmla="*/ 996 h 9997"/>
                <a:gd name="connsiteX5" fmla="*/ 9324 w 9326"/>
                <a:gd name="connsiteY5" fmla="*/ 5746 h 9997"/>
                <a:gd name="connsiteX6" fmla="*/ 8133 w 9326"/>
                <a:gd name="connsiteY6" fmla="*/ 9204 h 9997"/>
                <a:gd name="connsiteX7" fmla="*/ 6170 w 9326"/>
                <a:gd name="connsiteY7" fmla="*/ 8731 h 9997"/>
                <a:gd name="connsiteX8" fmla="*/ 5082 w 9326"/>
                <a:gd name="connsiteY8" fmla="*/ 9787 h 9997"/>
                <a:gd name="connsiteX9" fmla="*/ 3650 w 9326"/>
                <a:gd name="connsiteY9" fmla="*/ 9892 h 9997"/>
                <a:gd name="connsiteX10" fmla="*/ 2533 w 9326"/>
                <a:gd name="connsiteY10" fmla="*/ 7795 h 9997"/>
                <a:gd name="connsiteX11" fmla="*/ 1379 w 9326"/>
                <a:gd name="connsiteY11" fmla="*/ 7400 h 9997"/>
                <a:gd name="connsiteX12" fmla="*/ 4 w 9326"/>
                <a:gd name="connsiteY12" fmla="*/ 3988 h 9997"/>
                <a:gd name="connsiteX0" fmla="*/ 4 w 10001"/>
                <a:gd name="connsiteY0" fmla="*/ 3989 h 10041"/>
                <a:gd name="connsiteX1" fmla="*/ 890 w 10001"/>
                <a:gd name="connsiteY1" fmla="*/ 1575 h 10041"/>
                <a:gd name="connsiteX2" fmla="*/ 3902 w 10001"/>
                <a:gd name="connsiteY2" fmla="*/ 993 h 10041"/>
                <a:gd name="connsiteX3" fmla="*/ 6227 w 10001"/>
                <a:gd name="connsiteY3" fmla="*/ 0 h 10041"/>
                <a:gd name="connsiteX4" fmla="*/ 8378 w 10001"/>
                <a:gd name="connsiteY4" fmla="*/ 996 h 10041"/>
                <a:gd name="connsiteX5" fmla="*/ 9998 w 10001"/>
                <a:gd name="connsiteY5" fmla="*/ 5748 h 10041"/>
                <a:gd name="connsiteX6" fmla="*/ 8721 w 10001"/>
                <a:gd name="connsiteY6" fmla="*/ 9207 h 10041"/>
                <a:gd name="connsiteX7" fmla="*/ 5449 w 10001"/>
                <a:gd name="connsiteY7" fmla="*/ 9790 h 10041"/>
                <a:gd name="connsiteX8" fmla="*/ 3914 w 10001"/>
                <a:gd name="connsiteY8" fmla="*/ 9895 h 10041"/>
                <a:gd name="connsiteX9" fmla="*/ 2716 w 10001"/>
                <a:gd name="connsiteY9" fmla="*/ 7797 h 10041"/>
                <a:gd name="connsiteX10" fmla="*/ 1479 w 10001"/>
                <a:gd name="connsiteY10" fmla="*/ 7402 h 10041"/>
                <a:gd name="connsiteX11" fmla="*/ 4 w 10001"/>
                <a:gd name="connsiteY11" fmla="*/ 3989 h 10041"/>
                <a:gd name="connsiteX0" fmla="*/ 4 w 10001"/>
                <a:gd name="connsiteY0" fmla="*/ 3989 h 14825"/>
                <a:gd name="connsiteX1" fmla="*/ 890 w 10001"/>
                <a:gd name="connsiteY1" fmla="*/ 1575 h 14825"/>
                <a:gd name="connsiteX2" fmla="*/ 3902 w 10001"/>
                <a:gd name="connsiteY2" fmla="*/ 993 h 14825"/>
                <a:gd name="connsiteX3" fmla="*/ 6227 w 10001"/>
                <a:gd name="connsiteY3" fmla="*/ 0 h 14825"/>
                <a:gd name="connsiteX4" fmla="*/ 8378 w 10001"/>
                <a:gd name="connsiteY4" fmla="*/ 996 h 14825"/>
                <a:gd name="connsiteX5" fmla="*/ 9998 w 10001"/>
                <a:gd name="connsiteY5" fmla="*/ 5748 h 14825"/>
                <a:gd name="connsiteX6" fmla="*/ 8721 w 10001"/>
                <a:gd name="connsiteY6" fmla="*/ 9207 h 14825"/>
                <a:gd name="connsiteX7" fmla="*/ 6011 w 10001"/>
                <a:gd name="connsiteY7" fmla="*/ 14823 h 14825"/>
                <a:gd name="connsiteX8" fmla="*/ 3914 w 10001"/>
                <a:gd name="connsiteY8" fmla="*/ 9895 h 14825"/>
                <a:gd name="connsiteX9" fmla="*/ 2716 w 10001"/>
                <a:gd name="connsiteY9" fmla="*/ 7797 h 14825"/>
                <a:gd name="connsiteX10" fmla="*/ 1479 w 10001"/>
                <a:gd name="connsiteY10" fmla="*/ 7402 h 14825"/>
                <a:gd name="connsiteX11" fmla="*/ 4 w 10001"/>
                <a:gd name="connsiteY11" fmla="*/ 3989 h 14825"/>
                <a:gd name="connsiteX0" fmla="*/ 4 w 10001"/>
                <a:gd name="connsiteY0" fmla="*/ 7436 h 18272"/>
                <a:gd name="connsiteX1" fmla="*/ 890 w 10001"/>
                <a:gd name="connsiteY1" fmla="*/ 5022 h 18272"/>
                <a:gd name="connsiteX2" fmla="*/ 3902 w 10001"/>
                <a:gd name="connsiteY2" fmla="*/ 4440 h 18272"/>
                <a:gd name="connsiteX3" fmla="*/ 6026 w 10001"/>
                <a:gd name="connsiteY3" fmla="*/ 0 h 18272"/>
                <a:gd name="connsiteX4" fmla="*/ 8378 w 10001"/>
                <a:gd name="connsiteY4" fmla="*/ 4443 h 18272"/>
                <a:gd name="connsiteX5" fmla="*/ 9998 w 10001"/>
                <a:gd name="connsiteY5" fmla="*/ 9195 h 18272"/>
                <a:gd name="connsiteX6" fmla="*/ 8721 w 10001"/>
                <a:gd name="connsiteY6" fmla="*/ 12654 h 18272"/>
                <a:gd name="connsiteX7" fmla="*/ 6011 w 10001"/>
                <a:gd name="connsiteY7" fmla="*/ 18270 h 18272"/>
                <a:gd name="connsiteX8" fmla="*/ 3914 w 10001"/>
                <a:gd name="connsiteY8" fmla="*/ 13342 h 18272"/>
                <a:gd name="connsiteX9" fmla="*/ 2716 w 10001"/>
                <a:gd name="connsiteY9" fmla="*/ 11244 h 18272"/>
                <a:gd name="connsiteX10" fmla="*/ 1479 w 10001"/>
                <a:gd name="connsiteY10" fmla="*/ 10849 h 18272"/>
                <a:gd name="connsiteX11" fmla="*/ 4 w 10001"/>
                <a:gd name="connsiteY11" fmla="*/ 7436 h 18272"/>
                <a:gd name="connsiteX0" fmla="*/ 1 w 9998"/>
                <a:gd name="connsiteY0" fmla="*/ 7436 h 18272"/>
                <a:gd name="connsiteX1" fmla="*/ 3899 w 9998"/>
                <a:gd name="connsiteY1" fmla="*/ 4440 h 18272"/>
                <a:gd name="connsiteX2" fmla="*/ 6023 w 9998"/>
                <a:gd name="connsiteY2" fmla="*/ 0 h 18272"/>
                <a:gd name="connsiteX3" fmla="*/ 8375 w 9998"/>
                <a:gd name="connsiteY3" fmla="*/ 4443 h 18272"/>
                <a:gd name="connsiteX4" fmla="*/ 9995 w 9998"/>
                <a:gd name="connsiteY4" fmla="*/ 9195 h 18272"/>
                <a:gd name="connsiteX5" fmla="*/ 8718 w 9998"/>
                <a:gd name="connsiteY5" fmla="*/ 12654 h 18272"/>
                <a:gd name="connsiteX6" fmla="*/ 6008 w 9998"/>
                <a:gd name="connsiteY6" fmla="*/ 18270 h 18272"/>
                <a:gd name="connsiteX7" fmla="*/ 3911 w 9998"/>
                <a:gd name="connsiteY7" fmla="*/ 13342 h 18272"/>
                <a:gd name="connsiteX8" fmla="*/ 2713 w 9998"/>
                <a:gd name="connsiteY8" fmla="*/ 11244 h 18272"/>
                <a:gd name="connsiteX9" fmla="*/ 1476 w 9998"/>
                <a:gd name="connsiteY9" fmla="*/ 10849 h 18272"/>
                <a:gd name="connsiteX10" fmla="*/ 1 w 9998"/>
                <a:gd name="connsiteY10" fmla="*/ 7436 h 18272"/>
                <a:gd name="connsiteX0" fmla="*/ 35 w 8559"/>
                <a:gd name="connsiteY0" fmla="*/ 5938 h 10000"/>
                <a:gd name="connsiteX1" fmla="*/ 2459 w 8559"/>
                <a:gd name="connsiteY1" fmla="*/ 2430 h 10000"/>
                <a:gd name="connsiteX2" fmla="*/ 4583 w 8559"/>
                <a:gd name="connsiteY2" fmla="*/ 0 h 10000"/>
                <a:gd name="connsiteX3" fmla="*/ 6936 w 8559"/>
                <a:gd name="connsiteY3" fmla="*/ 2432 h 10000"/>
                <a:gd name="connsiteX4" fmla="*/ 8556 w 8559"/>
                <a:gd name="connsiteY4" fmla="*/ 5032 h 10000"/>
                <a:gd name="connsiteX5" fmla="*/ 7279 w 8559"/>
                <a:gd name="connsiteY5" fmla="*/ 6925 h 10000"/>
                <a:gd name="connsiteX6" fmla="*/ 4568 w 8559"/>
                <a:gd name="connsiteY6" fmla="*/ 9999 h 10000"/>
                <a:gd name="connsiteX7" fmla="*/ 2471 w 8559"/>
                <a:gd name="connsiteY7" fmla="*/ 7302 h 10000"/>
                <a:gd name="connsiteX8" fmla="*/ 1273 w 8559"/>
                <a:gd name="connsiteY8" fmla="*/ 6154 h 10000"/>
                <a:gd name="connsiteX9" fmla="*/ 35 w 8559"/>
                <a:gd name="connsiteY9" fmla="*/ 5938 h 10000"/>
                <a:gd name="connsiteX0" fmla="*/ 49 w 9820"/>
                <a:gd name="connsiteY0" fmla="*/ 4655 h 10000"/>
                <a:gd name="connsiteX1" fmla="*/ 2693 w 9820"/>
                <a:gd name="connsiteY1" fmla="*/ 2430 h 10000"/>
                <a:gd name="connsiteX2" fmla="*/ 5175 w 9820"/>
                <a:gd name="connsiteY2" fmla="*/ 0 h 10000"/>
                <a:gd name="connsiteX3" fmla="*/ 7924 w 9820"/>
                <a:gd name="connsiteY3" fmla="*/ 2432 h 10000"/>
                <a:gd name="connsiteX4" fmla="*/ 9816 w 9820"/>
                <a:gd name="connsiteY4" fmla="*/ 5032 h 10000"/>
                <a:gd name="connsiteX5" fmla="*/ 8324 w 9820"/>
                <a:gd name="connsiteY5" fmla="*/ 6925 h 10000"/>
                <a:gd name="connsiteX6" fmla="*/ 5157 w 9820"/>
                <a:gd name="connsiteY6" fmla="*/ 9999 h 10000"/>
                <a:gd name="connsiteX7" fmla="*/ 2707 w 9820"/>
                <a:gd name="connsiteY7" fmla="*/ 7302 h 10000"/>
                <a:gd name="connsiteX8" fmla="*/ 1307 w 9820"/>
                <a:gd name="connsiteY8" fmla="*/ 6154 h 10000"/>
                <a:gd name="connsiteX9" fmla="*/ 49 w 9820"/>
                <a:gd name="connsiteY9" fmla="*/ 4655 h 10000"/>
                <a:gd name="connsiteX0" fmla="*/ 45 w 9995"/>
                <a:gd name="connsiteY0" fmla="*/ 4655 h 10000"/>
                <a:gd name="connsiteX1" fmla="*/ 2737 w 9995"/>
                <a:gd name="connsiteY1" fmla="*/ 2430 h 10000"/>
                <a:gd name="connsiteX2" fmla="*/ 5265 w 9995"/>
                <a:gd name="connsiteY2" fmla="*/ 0 h 10000"/>
                <a:gd name="connsiteX3" fmla="*/ 8064 w 9995"/>
                <a:gd name="connsiteY3" fmla="*/ 2432 h 10000"/>
                <a:gd name="connsiteX4" fmla="*/ 9991 w 9995"/>
                <a:gd name="connsiteY4" fmla="*/ 5032 h 10000"/>
                <a:gd name="connsiteX5" fmla="*/ 8472 w 9995"/>
                <a:gd name="connsiteY5" fmla="*/ 6925 h 10000"/>
                <a:gd name="connsiteX6" fmla="*/ 5247 w 9995"/>
                <a:gd name="connsiteY6" fmla="*/ 9999 h 10000"/>
                <a:gd name="connsiteX7" fmla="*/ 2752 w 9995"/>
                <a:gd name="connsiteY7" fmla="*/ 7302 h 10000"/>
                <a:gd name="connsiteX8" fmla="*/ 1374 w 9995"/>
                <a:gd name="connsiteY8" fmla="*/ 6984 h 10000"/>
                <a:gd name="connsiteX9" fmla="*/ 45 w 9995"/>
                <a:gd name="connsiteY9" fmla="*/ 4655 h 10000"/>
                <a:gd name="connsiteX0" fmla="*/ 45 w 10000"/>
                <a:gd name="connsiteY0" fmla="*/ 5032 h 10377"/>
                <a:gd name="connsiteX1" fmla="*/ 2738 w 10000"/>
                <a:gd name="connsiteY1" fmla="*/ 2807 h 10377"/>
                <a:gd name="connsiteX2" fmla="*/ 4886 w 10000"/>
                <a:gd name="connsiteY2" fmla="*/ 0 h 10377"/>
                <a:gd name="connsiteX3" fmla="*/ 8068 w 10000"/>
                <a:gd name="connsiteY3" fmla="*/ 2809 h 10377"/>
                <a:gd name="connsiteX4" fmla="*/ 9996 w 10000"/>
                <a:gd name="connsiteY4" fmla="*/ 5409 h 10377"/>
                <a:gd name="connsiteX5" fmla="*/ 8476 w 10000"/>
                <a:gd name="connsiteY5" fmla="*/ 7302 h 10377"/>
                <a:gd name="connsiteX6" fmla="*/ 5250 w 10000"/>
                <a:gd name="connsiteY6" fmla="*/ 10376 h 10377"/>
                <a:gd name="connsiteX7" fmla="*/ 2753 w 10000"/>
                <a:gd name="connsiteY7" fmla="*/ 7679 h 10377"/>
                <a:gd name="connsiteX8" fmla="*/ 1375 w 10000"/>
                <a:gd name="connsiteY8" fmla="*/ 7361 h 10377"/>
                <a:gd name="connsiteX9" fmla="*/ 45 w 10000"/>
                <a:gd name="connsiteY9" fmla="*/ 5032 h 10377"/>
                <a:gd name="connsiteX0" fmla="*/ 45 w 10000"/>
                <a:gd name="connsiteY0" fmla="*/ 5036 h 10381"/>
                <a:gd name="connsiteX1" fmla="*/ 2738 w 10000"/>
                <a:gd name="connsiteY1" fmla="*/ 2811 h 10381"/>
                <a:gd name="connsiteX2" fmla="*/ 4886 w 10000"/>
                <a:gd name="connsiteY2" fmla="*/ 4 h 10381"/>
                <a:gd name="connsiteX3" fmla="*/ 8068 w 10000"/>
                <a:gd name="connsiteY3" fmla="*/ 2813 h 10381"/>
                <a:gd name="connsiteX4" fmla="*/ 9996 w 10000"/>
                <a:gd name="connsiteY4" fmla="*/ 5413 h 10381"/>
                <a:gd name="connsiteX5" fmla="*/ 8476 w 10000"/>
                <a:gd name="connsiteY5" fmla="*/ 7306 h 10381"/>
                <a:gd name="connsiteX6" fmla="*/ 5250 w 10000"/>
                <a:gd name="connsiteY6" fmla="*/ 10380 h 10381"/>
                <a:gd name="connsiteX7" fmla="*/ 2753 w 10000"/>
                <a:gd name="connsiteY7" fmla="*/ 7683 h 10381"/>
                <a:gd name="connsiteX8" fmla="*/ 1375 w 10000"/>
                <a:gd name="connsiteY8" fmla="*/ 7365 h 10381"/>
                <a:gd name="connsiteX9" fmla="*/ 45 w 10000"/>
                <a:gd name="connsiteY9" fmla="*/ 5036 h 10381"/>
                <a:gd name="connsiteX0" fmla="*/ 45 w 10000"/>
                <a:gd name="connsiteY0" fmla="*/ 5036 h 10796"/>
                <a:gd name="connsiteX1" fmla="*/ 2738 w 10000"/>
                <a:gd name="connsiteY1" fmla="*/ 2811 h 10796"/>
                <a:gd name="connsiteX2" fmla="*/ 4886 w 10000"/>
                <a:gd name="connsiteY2" fmla="*/ 4 h 10796"/>
                <a:gd name="connsiteX3" fmla="*/ 8068 w 10000"/>
                <a:gd name="connsiteY3" fmla="*/ 2813 h 10796"/>
                <a:gd name="connsiteX4" fmla="*/ 9996 w 10000"/>
                <a:gd name="connsiteY4" fmla="*/ 5413 h 10796"/>
                <a:gd name="connsiteX5" fmla="*/ 8476 w 10000"/>
                <a:gd name="connsiteY5" fmla="*/ 7306 h 10796"/>
                <a:gd name="connsiteX6" fmla="*/ 5202 w 10000"/>
                <a:gd name="connsiteY6" fmla="*/ 10795 h 10796"/>
                <a:gd name="connsiteX7" fmla="*/ 2753 w 10000"/>
                <a:gd name="connsiteY7" fmla="*/ 7683 h 10796"/>
                <a:gd name="connsiteX8" fmla="*/ 1375 w 10000"/>
                <a:gd name="connsiteY8" fmla="*/ 7365 h 10796"/>
                <a:gd name="connsiteX9" fmla="*/ 45 w 10000"/>
                <a:gd name="connsiteY9" fmla="*/ 5036 h 10796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00" h="10795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grpSp>
          <p:nvGrpSpPr>
            <p:cNvPr id="7" name="Group 261"/>
            <p:cNvGrpSpPr/>
            <p:nvPr/>
          </p:nvGrpSpPr>
          <p:grpSpPr>
            <a:xfrm>
              <a:off x="-1935370" y="2935816"/>
              <a:ext cx="2333625" cy="1619588"/>
              <a:chOff x="833331" y="2873352"/>
              <a:chExt cx="2333625" cy="1619588"/>
            </a:xfrm>
          </p:grpSpPr>
          <p:grpSp>
            <p:nvGrpSpPr>
              <p:cNvPr id="8" name="Group 262"/>
              <p:cNvGrpSpPr/>
              <p:nvPr/>
            </p:nvGrpSpPr>
            <p:grpSpPr>
              <a:xfrm>
                <a:off x="1736090" y="2873352"/>
                <a:ext cx="565150" cy="398271"/>
                <a:chOff x="1736090" y="2873352"/>
                <a:chExt cx="565150" cy="398271"/>
              </a:xfrm>
            </p:grpSpPr>
            <p:grpSp>
              <p:nvGrpSpPr>
                <p:cNvPr id="57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61" name="Oval 315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2" name="Rectangle 316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3" name="Oval 317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4" name="Freeform 318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5" name="Freeform 319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6" name="Freeform 320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7" name="Freeform 321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68" name="Straight Connector 322"/>
                  <p:cNvCxnSpPr>
                    <a:endCxn id="63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Straight Connector 323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8" name="Group 312"/>
                <p:cNvGrpSpPr/>
                <p:nvPr/>
              </p:nvGrpSpPr>
              <p:grpSpPr>
                <a:xfrm>
                  <a:off x="1770362" y="2873352"/>
                  <a:ext cx="414737" cy="398271"/>
                  <a:chOff x="667045" y="1708643"/>
                  <a:chExt cx="414737" cy="398271"/>
                </a:xfrm>
              </p:grpSpPr>
              <p:sp>
                <p:nvSpPr>
                  <p:cNvPr id="59" name="Oval 313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0" name="TextBox 59"/>
                  <p:cNvSpPr txBox="1"/>
                  <p:nvPr/>
                </p:nvSpPr>
                <p:spPr>
                  <a:xfrm>
                    <a:off x="667045" y="1708643"/>
                    <a:ext cx="349696" cy="39827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rPr>
                      <a:t>1b</a:t>
                    </a:r>
                  </a:p>
                </p:txBody>
              </p:sp>
            </p:grpSp>
          </p:grpSp>
          <p:grpSp>
            <p:nvGrpSpPr>
              <p:cNvPr id="9" name="Group 263"/>
              <p:cNvGrpSpPr/>
              <p:nvPr/>
            </p:nvGrpSpPr>
            <p:grpSpPr>
              <a:xfrm>
                <a:off x="1740320" y="4094669"/>
                <a:ext cx="565150" cy="398271"/>
                <a:chOff x="1736090" y="2873352"/>
                <a:chExt cx="565150" cy="398271"/>
              </a:xfrm>
            </p:grpSpPr>
            <p:grpSp>
              <p:nvGrpSpPr>
                <p:cNvPr id="44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48" name="Oval 302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9" name="Rectangle 303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0" name="Oval 304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1" name="Freeform 305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2" name="Freeform 306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" name="Freeform 307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4" name="Freeform 308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55" name="Straight Connector 309"/>
                  <p:cNvCxnSpPr>
                    <a:endCxn id="50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Straight Connector 310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5" name="Group 299"/>
                <p:cNvGrpSpPr/>
                <p:nvPr/>
              </p:nvGrpSpPr>
              <p:grpSpPr>
                <a:xfrm>
                  <a:off x="1770362" y="2873352"/>
                  <a:ext cx="414737" cy="398271"/>
                  <a:chOff x="667045" y="1708643"/>
                  <a:chExt cx="414737" cy="398271"/>
                </a:xfrm>
              </p:grpSpPr>
              <p:sp>
                <p:nvSpPr>
                  <p:cNvPr id="46" name="Oval 300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7" name="TextBox 46"/>
                  <p:cNvSpPr txBox="1"/>
                  <p:nvPr/>
                </p:nvSpPr>
                <p:spPr>
                  <a:xfrm>
                    <a:off x="667045" y="1708643"/>
                    <a:ext cx="349696" cy="39827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rPr>
                      <a:t>1d</a:t>
                    </a:r>
                  </a:p>
                </p:txBody>
              </p:sp>
            </p:grpSp>
          </p:grpSp>
          <p:grpSp>
            <p:nvGrpSpPr>
              <p:cNvPr id="10" name="Group 264"/>
              <p:cNvGrpSpPr/>
              <p:nvPr/>
            </p:nvGrpSpPr>
            <p:grpSpPr>
              <a:xfrm>
                <a:off x="2601806" y="3485072"/>
                <a:ext cx="565150" cy="398272"/>
                <a:chOff x="1736090" y="2873352"/>
                <a:chExt cx="565150" cy="398272"/>
              </a:xfrm>
            </p:grpSpPr>
            <p:grpSp>
              <p:nvGrpSpPr>
                <p:cNvPr id="31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5" name="Oval 289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6" name="Rectangle 290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" name="Oval 291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" name="Freeform 292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" name="Freeform 293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0" name="Freeform 294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1" name="Freeform 295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42" name="Straight Connector 296"/>
                  <p:cNvCxnSpPr>
                    <a:endCxn id="37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Straight Connector 297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2" name="Group 286"/>
                <p:cNvGrpSpPr/>
                <p:nvPr/>
              </p:nvGrpSpPr>
              <p:grpSpPr>
                <a:xfrm>
                  <a:off x="1770362" y="2873352"/>
                  <a:ext cx="414737" cy="398272"/>
                  <a:chOff x="667045" y="1708643"/>
                  <a:chExt cx="414737" cy="398272"/>
                </a:xfrm>
              </p:grpSpPr>
              <p:sp>
                <p:nvSpPr>
                  <p:cNvPr id="33" name="Oval 287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667045" y="1708643"/>
                    <a:ext cx="326740" cy="39827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rPr>
                      <a:t>1c</a:t>
                    </a:r>
                  </a:p>
                </p:txBody>
              </p:sp>
            </p:grpSp>
          </p:grpSp>
          <p:grpSp>
            <p:nvGrpSpPr>
              <p:cNvPr id="11" name="Group 265"/>
              <p:cNvGrpSpPr/>
              <p:nvPr/>
            </p:nvGrpSpPr>
            <p:grpSpPr>
              <a:xfrm>
                <a:off x="833331" y="3478719"/>
                <a:ext cx="565150" cy="398272"/>
                <a:chOff x="1736090" y="2873352"/>
                <a:chExt cx="565150" cy="398272"/>
              </a:xfrm>
            </p:grpSpPr>
            <p:grpSp>
              <p:nvGrpSpPr>
                <p:cNvPr id="18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2" name="Oval 276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3" name="Rectangle 277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4" name="Oval 278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" name="Freeform 279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6" name="Freeform 280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7" name="Freeform 281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" name="Freeform 282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29" name="Straight Connector 283"/>
                  <p:cNvCxnSpPr>
                    <a:endCxn id="24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Straight Connector 284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9" name="Group 273"/>
                <p:cNvGrpSpPr/>
                <p:nvPr/>
              </p:nvGrpSpPr>
              <p:grpSpPr>
                <a:xfrm>
                  <a:off x="1770362" y="2873352"/>
                  <a:ext cx="414737" cy="398272"/>
                  <a:chOff x="667045" y="1708643"/>
                  <a:chExt cx="414737" cy="398272"/>
                </a:xfrm>
              </p:grpSpPr>
              <p:sp>
                <p:nvSpPr>
                  <p:cNvPr id="20" name="Oval 274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" name="TextBox 20"/>
                  <p:cNvSpPr txBox="1"/>
                  <p:nvPr/>
                </p:nvSpPr>
                <p:spPr>
                  <a:xfrm>
                    <a:off x="667045" y="1708643"/>
                    <a:ext cx="335667" cy="39827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rPr>
                      <a:t>1a</a:t>
                    </a:r>
                  </a:p>
                </p:txBody>
              </p:sp>
            </p:grpSp>
          </p:grpSp>
          <p:cxnSp>
            <p:nvCxnSpPr>
              <p:cNvPr id="12" name="Straight Connector 266"/>
              <p:cNvCxnSpPr>
                <a:stCxn id="60" idx="2"/>
                <a:endCxn id="47" idx="0"/>
              </p:cNvCxnSpPr>
              <p:nvPr/>
            </p:nvCxnSpPr>
            <p:spPr bwMode="auto">
              <a:xfrm>
                <a:off x="1945210" y="3271623"/>
                <a:ext cx="4230" cy="823045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" name="Straight Connector 267"/>
              <p:cNvCxnSpPr/>
              <p:nvPr/>
            </p:nvCxnSpPr>
            <p:spPr bwMode="auto">
              <a:xfrm>
                <a:off x="1407477" y="3648621"/>
                <a:ext cx="1204913" cy="635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" name="Straight Connector 268"/>
              <p:cNvCxnSpPr>
                <a:stCxn id="61" idx="7"/>
              </p:cNvCxnSpPr>
              <p:nvPr/>
            </p:nvCxnSpPr>
            <p:spPr bwMode="auto">
              <a:xfrm>
                <a:off x="2218708" y="3154477"/>
                <a:ext cx="480042" cy="36977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" name="Straight Connector 269"/>
              <p:cNvCxnSpPr/>
              <p:nvPr/>
            </p:nvCxnSpPr>
            <p:spPr bwMode="auto">
              <a:xfrm>
                <a:off x="1300073" y="3786304"/>
                <a:ext cx="477927" cy="35707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" name="Straight Connector 270"/>
              <p:cNvCxnSpPr/>
              <p:nvPr/>
            </p:nvCxnSpPr>
            <p:spPr bwMode="auto">
              <a:xfrm flipH="1">
                <a:off x="2196042" y="3783542"/>
                <a:ext cx="508002" cy="34925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" name="Straight Connector 271"/>
              <p:cNvCxnSpPr/>
              <p:nvPr/>
            </p:nvCxnSpPr>
            <p:spPr bwMode="auto">
              <a:xfrm flipH="1">
                <a:off x="1287553" y="3166946"/>
                <a:ext cx="508002" cy="34925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grpSp>
        <p:nvGrpSpPr>
          <p:cNvPr id="70" name="Group 125"/>
          <p:cNvGrpSpPr/>
          <p:nvPr/>
        </p:nvGrpSpPr>
        <p:grpSpPr>
          <a:xfrm>
            <a:off x="4380923" y="2378686"/>
            <a:ext cx="3394251" cy="1720535"/>
            <a:chOff x="-2170772" y="2784954"/>
            <a:chExt cx="2712783" cy="1853712"/>
          </a:xfrm>
        </p:grpSpPr>
        <p:sp>
          <p:nvSpPr>
            <p:cNvPr id="71" name="Freeform 2"/>
            <p:cNvSpPr>
              <a:spLocks/>
            </p:cNvSpPr>
            <p:nvPr/>
          </p:nvSpPr>
          <p:spPr bwMode="auto">
            <a:xfrm>
              <a:off x="-2170772" y="2784954"/>
              <a:ext cx="2712783" cy="1853712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connsiteX0" fmla="*/ 4 w 10040"/>
                <a:gd name="connsiteY0" fmla="*/ 4039 h 10125"/>
                <a:gd name="connsiteX1" fmla="*/ 715 w 10040"/>
                <a:gd name="connsiteY1" fmla="*/ 1595 h 10125"/>
                <a:gd name="connsiteX2" fmla="*/ 3130 w 10040"/>
                <a:gd name="connsiteY2" fmla="*/ 1006 h 10125"/>
                <a:gd name="connsiteX3" fmla="*/ 4995 w 10040"/>
                <a:gd name="connsiteY3" fmla="*/ 0 h 10125"/>
                <a:gd name="connsiteX4" fmla="*/ 6720 w 10040"/>
                <a:gd name="connsiteY4" fmla="*/ 1009 h 10125"/>
                <a:gd name="connsiteX5" fmla="*/ 9989 w 10040"/>
                <a:gd name="connsiteY5" fmla="*/ 2989 h 10125"/>
                <a:gd name="connsiteX6" fmla="*/ 8599 w 10040"/>
                <a:gd name="connsiteY6" fmla="*/ 6797 h 10125"/>
                <a:gd name="connsiteX7" fmla="*/ 6995 w 10040"/>
                <a:gd name="connsiteY7" fmla="*/ 9322 h 10125"/>
                <a:gd name="connsiteX8" fmla="*/ 5307 w 10040"/>
                <a:gd name="connsiteY8" fmla="*/ 8843 h 10125"/>
                <a:gd name="connsiteX9" fmla="*/ 4371 w 10040"/>
                <a:gd name="connsiteY9" fmla="*/ 9912 h 10125"/>
                <a:gd name="connsiteX10" fmla="*/ 3140 w 10040"/>
                <a:gd name="connsiteY10" fmla="*/ 10019 h 10125"/>
                <a:gd name="connsiteX11" fmla="*/ 2179 w 10040"/>
                <a:gd name="connsiteY11" fmla="*/ 7895 h 10125"/>
                <a:gd name="connsiteX12" fmla="*/ 1187 w 10040"/>
                <a:gd name="connsiteY12" fmla="*/ 7495 h 10125"/>
                <a:gd name="connsiteX13" fmla="*/ 4 w 10040"/>
                <a:gd name="connsiteY13" fmla="*/ 4039 h 10125"/>
                <a:gd name="connsiteX0" fmla="*/ 4 w 8600"/>
                <a:gd name="connsiteY0" fmla="*/ 4042 h 10128"/>
                <a:gd name="connsiteX1" fmla="*/ 715 w 8600"/>
                <a:gd name="connsiteY1" fmla="*/ 1598 h 10128"/>
                <a:gd name="connsiteX2" fmla="*/ 3130 w 8600"/>
                <a:gd name="connsiteY2" fmla="*/ 1009 h 10128"/>
                <a:gd name="connsiteX3" fmla="*/ 4995 w 8600"/>
                <a:gd name="connsiteY3" fmla="*/ 3 h 10128"/>
                <a:gd name="connsiteX4" fmla="*/ 6720 w 8600"/>
                <a:gd name="connsiteY4" fmla="*/ 1012 h 10128"/>
                <a:gd name="connsiteX5" fmla="*/ 8599 w 8600"/>
                <a:gd name="connsiteY5" fmla="*/ 6800 h 10128"/>
                <a:gd name="connsiteX6" fmla="*/ 6995 w 8600"/>
                <a:gd name="connsiteY6" fmla="*/ 9325 h 10128"/>
                <a:gd name="connsiteX7" fmla="*/ 5307 w 8600"/>
                <a:gd name="connsiteY7" fmla="*/ 8846 h 10128"/>
                <a:gd name="connsiteX8" fmla="*/ 4371 w 8600"/>
                <a:gd name="connsiteY8" fmla="*/ 9915 h 10128"/>
                <a:gd name="connsiteX9" fmla="*/ 3140 w 8600"/>
                <a:gd name="connsiteY9" fmla="*/ 10022 h 10128"/>
                <a:gd name="connsiteX10" fmla="*/ 2179 w 8600"/>
                <a:gd name="connsiteY10" fmla="*/ 7898 h 10128"/>
                <a:gd name="connsiteX11" fmla="*/ 1187 w 8600"/>
                <a:gd name="connsiteY11" fmla="*/ 7498 h 10128"/>
                <a:gd name="connsiteX12" fmla="*/ 4 w 8600"/>
                <a:gd name="connsiteY12" fmla="*/ 4042 h 10128"/>
                <a:gd name="connsiteX0" fmla="*/ 4 w 9326"/>
                <a:gd name="connsiteY0" fmla="*/ 3988 h 9997"/>
                <a:gd name="connsiteX1" fmla="*/ 830 w 9326"/>
                <a:gd name="connsiteY1" fmla="*/ 1575 h 9997"/>
                <a:gd name="connsiteX2" fmla="*/ 3639 w 9326"/>
                <a:gd name="connsiteY2" fmla="*/ 993 h 9997"/>
                <a:gd name="connsiteX3" fmla="*/ 5807 w 9326"/>
                <a:gd name="connsiteY3" fmla="*/ 0 h 9997"/>
                <a:gd name="connsiteX4" fmla="*/ 7813 w 9326"/>
                <a:gd name="connsiteY4" fmla="*/ 996 h 9997"/>
                <a:gd name="connsiteX5" fmla="*/ 9324 w 9326"/>
                <a:gd name="connsiteY5" fmla="*/ 5746 h 9997"/>
                <a:gd name="connsiteX6" fmla="*/ 8133 w 9326"/>
                <a:gd name="connsiteY6" fmla="*/ 9204 h 9997"/>
                <a:gd name="connsiteX7" fmla="*/ 6170 w 9326"/>
                <a:gd name="connsiteY7" fmla="*/ 8731 h 9997"/>
                <a:gd name="connsiteX8" fmla="*/ 5082 w 9326"/>
                <a:gd name="connsiteY8" fmla="*/ 9787 h 9997"/>
                <a:gd name="connsiteX9" fmla="*/ 3650 w 9326"/>
                <a:gd name="connsiteY9" fmla="*/ 9892 h 9997"/>
                <a:gd name="connsiteX10" fmla="*/ 2533 w 9326"/>
                <a:gd name="connsiteY10" fmla="*/ 7795 h 9997"/>
                <a:gd name="connsiteX11" fmla="*/ 1379 w 9326"/>
                <a:gd name="connsiteY11" fmla="*/ 7400 h 9997"/>
                <a:gd name="connsiteX12" fmla="*/ 4 w 9326"/>
                <a:gd name="connsiteY12" fmla="*/ 3988 h 9997"/>
                <a:gd name="connsiteX0" fmla="*/ 4 w 10001"/>
                <a:gd name="connsiteY0" fmla="*/ 3989 h 10041"/>
                <a:gd name="connsiteX1" fmla="*/ 890 w 10001"/>
                <a:gd name="connsiteY1" fmla="*/ 1575 h 10041"/>
                <a:gd name="connsiteX2" fmla="*/ 3902 w 10001"/>
                <a:gd name="connsiteY2" fmla="*/ 993 h 10041"/>
                <a:gd name="connsiteX3" fmla="*/ 6227 w 10001"/>
                <a:gd name="connsiteY3" fmla="*/ 0 h 10041"/>
                <a:gd name="connsiteX4" fmla="*/ 8378 w 10001"/>
                <a:gd name="connsiteY4" fmla="*/ 996 h 10041"/>
                <a:gd name="connsiteX5" fmla="*/ 9998 w 10001"/>
                <a:gd name="connsiteY5" fmla="*/ 5748 h 10041"/>
                <a:gd name="connsiteX6" fmla="*/ 8721 w 10001"/>
                <a:gd name="connsiteY6" fmla="*/ 9207 h 10041"/>
                <a:gd name="connsiteX7" fmla="*/ 5449 w 10001"/>
                <a:gd name="connsiteY7" fmla="*/ 9790 h 10041"/>
                <a:gd name="connsiteX8" fmla="*/ 3914 w 10001"/>
                <a:gd name="connsiteY8" fmla="*/ 9895 h 10041"/>
                <a:gd name="connsiteX9" fmla="*/ 2716 w 10001"/>
                <a:gd name="connsiteY9" fmla="*/ 7797 h 10041"/>
                <a:gd name="connsiteX10" fmla="*/ 1479 w 10001"/>
                <a:gd name="connsiteY10" fmla="*/ 7402 h 10041"/>
                <a:gd name="connsiteX11" fmla="*/ 4 w 10001"/>
                <a:gd name="connsiteY11" fmla="*/ 3989 h 10041"/>
                <a:gd name="connsiteX0" fmla="*/ 4 w 10001"/>
                <a:gd name="connsiteY0" fmla="*/ 3989 h 14825"/>
                <a:gd name="connsiteX1" fmla="*/ 890 w 10001"/>
                <a:gd name="connsiteY1" fmla="*/ 1575 h 14825"/>
                <a:gd name="connsiteX2" fmla="*/ 3902 w 10001"/>
                <a:gd name="connsiteY2" fmla="*/ 993 h 14825"/>
                <a:gd name="connsiteX3" fmla="*/ 6227 w 10001"/>
                <a:gd name="connsiteY3" fmla="*/ 0 h 14825"/>
                <a:gd name="connsiteX4" fmla="*/ 8378 w 10001"/>
                <a:gd name="connsiteY4" fmla="*/ 996 h 14825"/>
                <a:gd name="connsiteX5" fmla="*/ 9998 w 10001"/>
                <a:gd name="connsiteY5" fmla="*/ 5748 h 14825"/>
                <a:gd name="connsiteX6" fmla="*/ 8721 w 10001"/>
                <a:gd name="connsiteY6" fmla="*/ 9207 h 14825"/>
                <a:gd name="connsiteX7" fmla="*/ 6011 w 10001"/>
                <a:gd name="connsiteY7" fmla="*/ 14823 h 14825"/>
                <a:gd name="connsiteX8" fmla="*/ 3914 w 10001"/>
                <a:gd name="connsiteY8" fmla="*/ 9895 h 14825"/>
                <a:gd name="connsiteX9" fmla="*/ 2716 w 10001"/>
                <a:gd name="connsiteY9" fmla="*/ 7797 h 14825"/>
                <a:gd name="connsiteX10" fmla="*/ 1479 w 10001"/>
                <a:gd name="connsiteY10" fmla="*/ 7402 h 14825"/>
                <a:gd name="connsiteX11" fmla="*/ 4 w 10001"/>
                <a:gd name="connsiteY11" fmla="*/ 3989 h 14825"/>
                <a:gd name="connsiteX0" fmla="*/ 4 w 10001"/>
                <a:gd name="connsiteY0" fmla="*/ 7436 h 18272"/>
                <a:gd name="connsiteX1" fmla="*/ 890 w 10001"/>
                <a:gd name="connsiteY1" fmla="*/ 5022 h 18272"/>
                <a:gd name="connsiteX2" fmla="*/ 3902 w 10001"/>
                <a:gd name="connsiteY2" fmla="*/ 4440 h 18272"/>
                <a:gd name="connsiteX3" fmla="*/ 6026 w 10001"/>
                <a:gd name="connsiteY3" fmla="*/ 0 h 18272"/>
                <a:gd name="connsiteX4" fmla="*/ 8378 w 10001"/>
                <a:gd name="connsiteY4" fmla="*/ 4443 h 18272"/>
                <a:gd name="connsiteX5" fmla="*/ 9998 w 10001"/>
                <a:gd name="connsiteY5" fmla="*/ 9195 h 18272"/>
                <a:gd name="connsiteX6" fmla="*/ 8721 w 10001"/>
                <a:gd name="connsiteY6" fmla="*/ 12654 h 18272"/>
                <a:gd name="connsiteX7" fmla="*/ 6011 w 10001"/>
                <a:gd name="connsiteY7" fmla="*/ 18270 h 18272"/>
                <a:gd name="connsiteX8" fmla="*/ 3914 w 10001"/>
                <a:gd name="connsiteY8" fmla="*/ 13342 h 18272"/>
                <a:gd name="connsiteX9" fmla="*/ 2716 w 10001"/>
                <a:gd name="connsiteY9" fmla="*/ 11244 h 18272"/>
                <a:gd name="connsiteX10" fmla="*/ 1479 w 10001"/>
                <a:gd name="connsiteY10" fmla="*/ 10849 h 18272"/>
                <a:gd name="connsiteX11" fmla="*/ 4 w 10001"/>
                <a:gd name="connsiteY11" fmla="*/ 7436 h 18272"/>
                <a:gd name="connsiteX0" fmla="*/ 1 w 9998"/>
                <a:gd name="connsiteY0" fmla="*/ 7436 h 18272"/>
                <a:gd name="connsiteX1" fmla="*/ 3899 w 9998"/>
                <a:gd name="connsiteY1" fmla="*/ 4440 h 18272"/>
                <a:gd name="connsiteX2" fmla="*/ 6023 w 9998"/>
                <a:gd name="connsiteY2" fmla="*/ 0 h 18272"/>
                <a:gd name="connsiteX3" fmla="*/ 8375 w 9998"/>
                <a:gd name="connsiteY3" fmla="*/ 4443 h 18272"/>
                <a:gd name="connsiteX4" fmla="*/ 9995 w 9998"/>
                <a:gd name="connsiteY4" fmla="*/ 9195 h 18272"/>
                <a:gd name="connsiteX5" fmla="*/ 8718 w 9998"/>
                <a:gd name="connsiteY5" fmla="*/ 12654 h 18272"/>
                <a:gd name="connsiteX6" fmla="*/ 6008 w 9998"/>
                <a:gd name="connsiteY6" fmla="*/ 18270 h 18272"/>
                <a:gd name="connsiteX7" fmla="*/ 3911 w 9998"/>
                <a:gd name="connsiteY7" fmla="*/ 13342 h 18272"/>
                <a:gd name="connsiteX8" fmla="*/ 2713 w 9998"/>
                <a:gd name="connsiteY8" fmla="*/ 11244 h 18272"/>
                <a:gd name="connsiteX9" fmla="*/ 1476 w 9998"/>
                <a:gd name="connsiteY9" fmla="*/ 10849 h 18272"/>
                <a:gd name="connsiteX10" fmla="*/ 1 w 9998"/>
                <a:gd name="connsiteY10" fmla="*/ 7436 h 18272"/>
                <a:gd name="connsiteX0" fmla="*/ 35 w 8559"/>
                <a:gd name="connsiteY0" fmla="*/ 5938 h 10000"/>
                <a:gd name="connsiteX1" fmla="*/ 2459 w 8559"/>
                <a:gd name="connsiteY1" fmla="*/ 2430 h 10000"/>
                <a:gd name="connsiteX2" fmla="*/ 4583 w 8559"/>
                <a:gd name="connsiteY2" fmla="*/ 0 h 10000"/>
                <a:gd name="connsiteX3" fmla="*/ 6936 w 8559"/>
                <a:gd name="connsiteY3" fmla="*/ 2432 h 10000"/>
                <a:gd name="connsiteX4" fmla="*/ 8556 w 8559"/>
                <a:gd name="connsiteY4" fmla="*/ 5032 h 10000"/>
                <a:gd name="connsiteX5" fmla="*/ 7279 w 8559"/>
                <a:gd name="connsiteY5" fmla="*/ 6925 h 10000"/>
                <a:gd name="connsiteX6" fmla="*/ 4568 w 8559"/>
                <a:gd name="connsiteY6" fmla="*/ 9999 h 10000"/>
                <a:gd name="connsiteX7" fmla="*/ 2471 w 8559"/>
                <a:gd name="connsiteY7" fmla="*/ 7302 h 10000"/>
                <a:gd name="connsiteX8" fmla="*/ 1273 w 8559"/>
                <a:gd name="connsiteY8" fmla="*/ 6154 h 10000"/>
                <a:gd name="connsiteX9" fmla="*/ 35 w 8559"/>
                <a:gd name="connsiteY9" fmla="*/ 5938 h 10000"/>
                <a:gd name="connsiteX0" fmla="*/ 49 w 9820"/>
                <a:gd name="connsiteY0" fmla="*/ 4655 h 10000"/>
                <a:gd name="connsiteX1" fmla="*/ 2693 w 9820"/>
                <a:gd name="connsiteY1" fmla="*/ 2430 h 10000"/>
                <a:gd name="connsiteX2" fmla="*/ 5175 w 9820"/>
                <a:gd name="connsiteY2" fmla="*/ 0 h 10000"/>
                <a:gd name="connsiteX3" fmla="*/ 7924 w 9820"/>
                <a:gd name="connsiteY3" fmla="*/ 2432 h 10000"/>
                <a:gd name="connsiteX4" fmla="*/ 9816 w 9820"/>
                <a:gd name="connsiteY4" fmla="*/ 5032 h 10000"/>
                <a:gd name="connsiteX5" fmla="*/ 8324 w 9820"/>
                <a:gd name="connsiteY5" fmla="*/ 6925 h 10000"/>
                <a:gd name="connsiteX6" fmla="*/ 5157 w 9820"/>
                <a:gd name="connsiteY6" fmla="*/ 9999 h 10000"/>
                <a:gd name="connsiteX7" fmla="*/ 2707 w 9820"/>
                <a:gd name="connsiteY7" fmla="*/ 7302 h 10000"/>
                <a:gd name="connsiteX8" fmla="*/ 1307 w 9820"/>
                <a:gd name="connsiteY8" fmla="*/ 6154 h 10000"/>
                <a:gd name="connsiteX9" fmla="*/ 49 w 9820"/>
                <a:gd name="connsiteY9" fmla="*/ 4655 h 10000"/>
                <a:gd name="connsiteX0" fmla="*/ 45 w 9995"/>
                <a:gd name="connsiteY0" fmla="*/ 4655 h 10000"/>
                <a:gd name="connsiteX1" fmla="*/ 2737 w 9995"/>
                <a:gd name="connsiteY1" fmla="*/ 2430 h 10000"/>
                <a:gd name="connsiteX2" fmla="*/ 5265 w 9995"/>
                <a:gd name="connsiteY2" fmla="*/ 0 h 10000"/>
                <a:gd name="connsiteX3" fmla="*/ 8064 w 9995"/>
                <a:gd name="connsiteY3" fmla="*/ 2432 h 10000"/>
                <a:gd name="connsiteX4" fmla="*/ 9991 w 9995"/>
                <a:gd name="connsiteY4" fmla="*/ 5032 h 10000"/>
                <a:gd name="connsiteX5" fmla="*/ 8472 w 9995"/>
                <a:gd name="connsiteY5" fmla="*/ 6925 h 10000"/>
                <a:gd name="connsiteX6" fmla="*/ 5247 w 9995"/>
                <a:gd name="connsiteY6" fmla="*/ 9999 h 10000"/>
                <a:gd name="connsiteX7" fmla="*/ 2752 w 9995"/>
                <a:gd name="connsiteY7" fmla="*/ 7302 h 10000"/>
                <a:gd name="connsiteX8" fmla="*/ 1374 w 9995"/>
                <a:gd name="connsiteY8" fmla="*/ 6984 h 10000"/>
                <a:gd name="connsiteX9" fmla="*/ 45 w 9995"/>
                <a:gd name="connsiteY9" fmla="*/ 4655 h 10000"/>
                <a:gd name="connsiteX0" fmla="*/ 45 w 10000"/>
                <a:gd name="connsiteY0" fmla="*/ 5032 h 10377"/>
                <a:gd name="connsiteX1" fmla="*/ 2738 w 10000"/>
                <a:gd name="connsiteY1" fmla="*/ 2807 h 10377"/>
                <a:gd name="connsiteX2" fmla="*/ 4886 w 10000"/>
                <a:gd name="connsiteY2" fmla="*/ 0 h 10377"/>
                <a:gd name="connsiteX3" fmla="*/ 8068 w 10000"/>
                <a:gd name="connsiteY3" fmla="*/ 2809 h 10377"/>
                <a:gd name="connsiteX4" fmla="*/ 9996 w 10000"/>
                <a:gd name="connsiteY4" fmla="*/ 5409 h 10377"/>
                <a:gd name="connsiteX5" fmla="*/ 8476 w 10000"/>
                <a:gd name="connsiteY5" fmla="*/ 7302 h 10377"/>
                <a:gd name="connsiteX6" fmla="*/ 5250 w 10000"/>
                <a:gd name="connsiteY6" fmla="*/ 10376 h 10377"/>
                <a:gd name="connsiteX7" fmla="*/ 2753 w 10000"/>
                <a:gd name="connsiteY7" fmla="*/ 7679 h 10377"/>
                <a:gd name="connsiteX8" fmla="*/ 1375 w 10000"/>
                <a:gd name="connsiteY8" fmla="*/ 7361 h 10377"/>
                <a:gd name="connsiteX9" fmla="*/ 45 w 10000"/>
                <a:gd name="connsiteY9" fmla="*/ 5032 h 10377"/>
                <a:gd name="connsiteX0" fmla="*/ 45 w 10000"/>
                <a:gd name="connsiteY0" fmla="*/ 5036 h 10381"/>
                <a:gd name="connsiteX1" fmla="*/ 2738 w 10000"/>
                <a:gd name="connsiteY1" fmla="*/ 2811 h 10381"/>
                <a:gd name="connsiteX2" fmla="*/ 4886 w 10000"/>
                <a:gd name="connsiteY2" fmla="*/ 4 h 10381"/>
                <a:gd name="connsiteX3" fmla="*/ 8068 w 10000"/>
                <a:gd name="connsiteY3" fmla="*/ 2813 h 10381"/>
                <a:gd name="connsiteX4" fmla="*/ 9996 w 10000"/>
                <a:gd name="connsiteY4" fmla="*/ 5413 h 10381"/>
                <a:gd name="connsiteX5" fmla="*/ 8476 w 10000"/>
                <a:gd name="connsiteY5" fmla="*/ 7306 h 10381"/>
                <a:gd name="connsiteX6" fmla="*/ 5250 w 10000"/>
                <a:gd name="connsiteY6" fmla="*/ 10380 h 10381"/>
                <a:gd name="connsiteX7" fmla="*/ 2753 w 10000"/>
                <a:gd name="connsiteY7" fmla="*/ 7683 h 10381"/>
                <a:gd name="connsiteX8" fmla="*/ 1375 w 10000"/>
                <a:gd name="connsiteY8" fmla="*/ 7365 h 10381"/>
                <a:gd name="connsiteX9" fmla="*/ 45 w 10000"/>
                <a:gd name="connsiteY9" fmla="*/ 5036 h 10381"/>
                <a:gd name="connsiteX0" fmla="*/ 45 w 10000"/>
                <a:gd name="connsiteY0" fmla="*/ 5036 h 10796"/>
                <a:gd name="connsiteX1" fmla="*/ 2738 w 10000"/>
                <a:gd name="connsiteY1" fmla="*/ 2811 h 10796"/>
                <a:gd name="connsiteX2" fmla="*/ 4886 w 10000"/>
                <a:gd name="connsiteY2" fmla="*/ 4 h 10796"/>
                <a:gd name="connsiteX3" fmla="*/ 8068 w 10000"/>
                <a:gd name="connsiteY3" fmla="*/ 2813 h 10796"/>
                <a:gd name="connsiteX4" fmla="*/ 9996 w 10000"/>
                <a:gd name="connsiteY4" fmla="*/ 5413 h 10796"/>
                <a:gd name="connsiteX5" fmla="*/ 8476 w 10000"/>
                <a:gd name="connsiteY5" fmla="*/ 7306 h 10796"/>
                <a:gd name="connsiteX6" fmla="*/ 5202 w 10000"/>
                <a:gd name="connsiteY6" fmla="*/ 10795 h 10796"/>
                <a:gd name="connsiteX7" fmla="*/ 2753 w 10000"/>
                <a:gd name="connsiteY7" fmla="*/ 7683 h 10796"/>
                <a:gd name="connsiteX8" fmla="*/ 1375 w 10000"/>
                <a:gd name="connsiteY8" fmla="*/ 7365 h 10796"/>
                <a:gd name="connsiteX9" fmla="*/ 45 w 10000"/>
                <a:gd name="connsiteY9" fmla="*/ 5036 h 10796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00" h="10795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grpSp>
          <p:nvGrpSpPr>
            <p:cNvPr id="72" name="Group 197"/>
            <p:cNvGrpSpPr/>
            <p:nvPr/>
          </p:nvGrpSpPr>
          <p:grpSpPr>
            <a:xfrm>
              <a:off x="-1935370" y="2935816"/>
              <a:ext cx="2333625" cy="1619237"/>
              <a:chOff x="833331" y="2873352"/>
              <a:chExt cx="2333625" cy="1619237"/>
            </a:xfrm>
          </p:grpSpPr>
          <p:grpSp>
            <p:nvGrpSpPr>
              <p:cNvPr id="73" name="Group 198"/>
              <p:cNvGrpSpPr/>
              <p:nvPr/>
            </p:nvGrpSpPr>
            <p:grpSpPr>
              <a:xfrm>
                <a:off x="1736090" y="2873352"/>
                <a:ext cx="565150" cy="397920"/>
                <a:chOff x="1736090" y="2873352"/>
                <a:chExt cx="565150" cy="397920"/>
              </a:xfrm>
            </p:grpSpPr>
            <p:grpSp>
              <p:nvGrpSpPr>
                <p:cNvPr id="122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126" name="Oval 251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7" name="Rectangle 252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8" name="Oval 253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9" name="Freeform 254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0" name="Freeform 255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1" name="Freeform 256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2" name="Freeform 257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133" name="Straight Connector 258"/>
                  <p:cNvCxnSpPr>
                    <a:endCxn id="128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" name="Straight Connector 259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23" name="Group 248"/>
                <p:cNvGrpSpPr/>
                <p:nvPr/>
              </p:nvGrpSpPr>
              <p:grpSpPr>
                <a:xfrm>
                  <a:off x="1770362" y="2873352"/>
                  <a:ext cx="414737" cy="397920"/>
                  <a:chOff x="667045" y="1708643"/>
                  <a:chExt cx="414737" cy="397920"/>
                </a:xfrm>
              </p:grpSpPr>
              <p:sp>
                <p:nvSpPr>
                  <p:cNvPr id="124" name="Oval 249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5" name="TextBox 124"/>
                  <p:cNvSpPr txBox="1"/>
                  <p:nvPr/>
                </p:nvSpPr>
                <p:spPr>
                  <a:xfrm>
                    <a:off x="667045" y="1708643"/>
                    <a:ext cx="351296" cy="3979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rPr>
                      <a:t>2b</a:t>
                    </a:r>
                  </a:p>
                </p:txBody>
              </p:sp>
            </p:grpSp>
          </p:grpSp>
          <p:grpSp>
            <p:nvGrpSpPr>
              <p:cNvPr id="74" name="Group 199"/>
              <p:cNvGrpSpPr/>
              <p:nvPr/>
            </p:nvGrpSpPr>
            <p:grpSpPr>
              <a:xfrm>
                <a:off x="1740320" y="4094669"/>
                <a:ext cx="565150" cy="397920"/>
                <a:chOff x="1736090" y="2873352"/>
                <a:chExt cx="565150" cy="397920"/>
              </a:xfrm>
            </p:grpSpPr>
            <p:grpSp>
              <p:nvGrpSpPr>
                <p:cNvPr id="109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113" name="Oval 238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4" name="Rectangle 239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5" name="Oval 240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6" name="Freeform 241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7" name="Freeform 242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8" name="Freeform 243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9" name="Freeform 244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120" name="Straight Connector 245"/>
                  <p:cNvCxnSpPr>
                    <a:endCxn id="115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Connector 246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0" name="Group 235"/>
                <p:cNvGrpSpPr/>
                <p:nvPr/>
              </p:nvGrpSpPr>
              <p:grpSpPr>
                <a:xfrm>
                  <a:off x="1770362" y="2873352"/>
                  <a:ext cx="414737" cy="397920"/>
                  <a:chOff x="667045" y="1708643"/>
                  <a:chExt cx="414737" cy="397920"/>
                </a:xfrm>
              </p:grpSpPr>
              <p:sp>
                <p:nvSpPr>
                  <p:cNvPr id="111" name="Oval 236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2" name="TextBox 111"/>
                  <p:cNvSpPr txBox="1"/>
                  <p:nvPr/>
                </p:nvSpPr>
                <p:spPr>
                  <a:xfrm>
                    <a:off x="667045" y="1708643"/>
                    <a:ext cx="351296" cy="3979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rPr>
                      <a:t>2d</a:t>
                    </a:r>
                  </a:p>
                </p:txBody>
              </p:sp>
            </p:grpSp>
          </p:grpSp>
          <p:grpSp>
            <p:nvGrpSpPr>
              <p:cNvPr id="75" name="Group 200"/>
              <p:cNvGrpSpPr/>
              <p:nvPr/>
            </p:nvGrpSpPr>
            <p:grpSpPr>
              <a:xfrm>
                <a:off x="2601806" y="3485072"/>
                <a:ext cx="565150" cy="397920"/>
                <a:chOff x="1736090" y="2873352"/>
                <a:chExt cx="565150" cy="397920"/>
              </a:xfrm>
            </p:grpSpPr>
            <p:grpSp>
              <p:nvGrpSpPr>
                <p:cNvPr id="96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100" name="Oval 225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1" name="Rectangle 226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2" name="Oval 227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3" name="Freeform 228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4" name="Freeform 229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5" name="Freeform 230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6" name="Freeform 231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107" name="Straight Connector 232"/>
                  <p:cNvCxnSpPr>
                    <a:endCxn id="102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Straight Connector 233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7" name="Group 222"/>
                <p:cNvGrpSpPr/>
                <p:nvPr/>
              </p:nvGrpSpPr>
              <p:grpSpPr>
                <a:xfrm>
                  <a:off x="1770362" y="2873352"/>
                  <a:ext cx="414737" cy="397920"/>
                  <a:chOff x="667045" y="1708643"/>
                  <a:chExt cx="414737" cy="397920"/>
                </a:xfrm>
              </p:grpSpPr>
              <p:sp>
                <p:nvSpPr>
                  <p:cNvPr id="98" name="Oval 223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9" name="TextBox 98"/>
                  <p:cNvSpPr txBox="1"/>
                  <p:nvPr/>
                </p:nvSpPr>
                <p:spPr>
                  <a:xfrm>
                    <a:off x="667045" y="1708643"/>
                    <a:ext cx="328235" cy="3979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rPr>
                      <a:t>2c</a:t>
                    </a:r>
                  </a:p>
                </p:txBody>
              </p:sp>
            </p:grpSp>
          </p:grpSp>
          <p:grpSp>
            <p:nvGrpSpPr>
              <p:cNvPr id="76" name="Group 201"/>
              <p:cNvGrpSpPr/>
              <p:nvPr/>
            </p:nvGrpSpPr>
            <p:grpSpPr>
              <a:xfrm>
                <a:off x="833331" y="3478719"/>
                <a:ext cx="565150" cy="397920"/>
                <a:chOff x="1736090" y="2873352"/>
                <a:chExt cx="565150" cy="397920"/>
              </a:xfrm>
            </p:grpSpPr>
            <p:grpSp>
              <p:nvGrpSpPr>
                <p:cNvPr id="83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87" name="Oval 212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8" name="Rectangle 213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9" name="Oval 214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solidFill>
                          <a:prstClr val="black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0" name="Freeform 215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1" name="Freeform 216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2" name="Freeform 217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" name="Freeform 218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94" name="Straight Connector 219"/>
                  <p:cNvCxnSpPr>
                    <a:endCxn id="89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" name="Straight Connector 220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4" name="Group 209"/>
                <p:cNvGrpSpPr/>
                <p:nvPr/>
              </p:nvGrpSpPr>
              <p:grpSpPr>
                <a:xfrm>
                  <a:off x="1770362" y="2873352"/>
                  <a:ext cx="414737" cy="397920"/>
                  <a:chOff x="667045" y="1708643"/>
                  <a:chExt cx="414737" cy="397920"/>
                </a:xfrm>
              </p:grpSpPr>
              <p:sp>
                <p:nvSpPr>
                  <p:cNvPr id="85" name="Oval 210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6" name="TextBox 85"/>
                  <p:cNvSpPr txBox="1"/>
                  <p:nvPr/>
                </p:nvSpPr>
                <p:spPr>
                  <a:xfrm>
                    <a:off x="667045" y="1708643"/>
                    <a:ext cx="337203" cy="3979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+mn-ea"/>
                        <a:cs typeface="+mn-cs"/>
                      </a:rPr>
                      <a:t>2a</a:t>
                    </a:r>
                  </a:p>
                </p:txBody>
              </p:sp>
            </p:grpSp>
          </p:grpSp>
          <p:cxnSp>
            <p:nvCxnSpPr>
              <p:cNvPr id="77" name="Straight Connector 202"/>
              <p:cNvCxnSpPr>
                <a:stCxn id="125" idx="2"/>
                <a:endCxn id="112" idx="0"/>
              </p:cNvCxnSpPr>
              <p:nvPr/>
            </p:nvCxnSpPr>
            <p:spPr bwMode="auto">
              <a:xfrm>
                <a:off x="1946010" y="3271272"/>
                <a:ext cx="4230" cy="823397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78" name="Straight Connector 203"/>
              <p:cNvCxnSpPr/>
              <p:nvPr/>
            </p:nvCxnSpPr>
            <p:spPr bwMode="auto">
              <a:xfrm>
                <a:off x="1407477" y="3648621"/>
                <a:ext cx="1204913" cy="635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79" name="Straight Connector 204"/>
              <p:cNvCxnSpPr>
                <a:stCxn id="126" idx="7"/>
              </p:cNvCxnSpPr>
              <p:nvPr/>
            </p:nvCxnSpPr>
            <p:spPr bwMode="auto">
              <a:xfrm>
                <a:off x="2218708" y="3154477"/>
                <a:ext cx="480042" cy="36977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0" name="Straight Connector 205"/>
              <p:cNvCxnSpPr/>
              <p:nvPr/>
            </p:nvCxnSpPr>
            <p:spPr bwMode="auto">
              <a:xfrm>
                <a:off x="1300073" y="3786304"/>
                <a:ext cx="477927" cy="35707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1" name="Straight Connector 206"/>
              <p:cNvCxnSpPr/>
              <p:nvPr/>
            </p:nvCxnSpPr>
            <p:spPr bwMode="auto">
              <a:xfrm flipH="1">
                <a:off x="2196042" y="3783542"/>
                <a:ext cx="508002" cy="34925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2" name="Straight Connector 207"/>
              <p:cNvCxnSpPr/>
              <p:nvPr/>
            </p:nvCxnSpPr>
            <p:spPr bwMode="auto">
              <a:xfrm flipH="1">
                <a:off x="1287553" y="3166946"/>
                <a:ext cx="508002" cy="34925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sp>
        <p:nvSpPr>
          <p:cNvPr id="135" name="Freeform 2"/>
          <p:cNvSpPr>
            <a:spLocks/>
          </p:cNvSpPr>
          <p:nvPr/>
        </p:nvSpPr>
        <p:spPr bwMode="auto">
          <a:xfrm>
            <a:off x="7343582" y="1310427"/>
            <a:ext cx="3434028" cy="1672516"/>
          </a:xfrm>
          <a:custGeom>
            <a:avLst/>
            <a:gdLst>
              <a:gd name="T0" fmla="*/ 648763 w 10001"/>
              <a:gd name="T1" fmla="*/ 34777612 h 10125"/>
              <a:gd name="T2" fmla="*/ 115976403 w 10001"/>
              <a:gd name="T3" fmla="*/ 13733703 h 10125"/>
              <a:gd name="T4" fmla="*/ 507700960 w 10001"/>
              <a:gd name="T5" fmla="*/ 8662125 h 10125"/>
              <a:gd name="T6" fmla="*/ 810212713 w 10001"/>
              <a:gd name="T7" fmla="*/ 0 h 10125"/>
              <a:gd name="T8" fmla="*/ 1090015738 w 10001"/>
              <a:gd name="T9" fmla="*/ 8687929 h 10125"/>
              <a:gd name="T10" fmla="*/ 1310938763 w 10001"/>
              <a:gd name="T11" fmla="*/ 4279362 h 10125"/>
              <a:gd name="T12" fmla="*/ 1620263134 w 10001"/>
              <a:gd name="T13" fmla="*/ 25736690 h 10125"/>
              <a:gd name="T14" fmla="*/ 1394798364 w 10001"/>
              <a:gd name="T15" fmla="*/ 58525268 h 10125"/>
              <a:gd name="T16" fmla="*/ 1134622140 w 10001"/>
              <a:gd name="T17" fmla="*/ 80266624 h 10125"/>
              <a:gd name="T18" fmla="*/ 860820276 w 10001"/>
              <a:gd name="T19" fmla="*/ 76142271 h 10125"/>
              <a:gd name="T20" fmla="*/ 708996782 w 10001"/>
              <a:gd name="T21" fmla="*/ 85346835 h 10125"/>
              <a:gd name="T22" fmla="*/ 509322667 w 10001"/>
              <a:gd name="T23" fmla="*/ 86268164 h 10125"/>
              <a:gd name="T24" fmla="*/ 353443899 w 10001"/>
              <a:gd name="T25" fmla="*/ 67979516 h 10125"/>
              <a:gd name="T26" fmla="*/ 192536914 w 10001"/>
              <a:gd name="T27" fmla="*/ 64535347 h 10125"/>
              <a:gd name="T28" fmla="*/ 648763 w 10001"/>
              <a:gd name="T29" fmla="*/ 34777612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connsiteX0" fmla="*/ 4 w 10040"/>
              <a:gd name="connsiteY0" fmla="*/ 4039 h 10125"/>
              <a:gd name="connsiteX1" fmla="*/ 715 w 10040"/>
              <a:gd name="connsiteY1" fmla="*/ 1595 h 10125"/>
              <a:gd name="connsiteX2" fmla="*/ 3130 w 10040"/>
              <a:gd name="connsiteY2" fmla="*/ 1006 h 10125"/>
              <a:gd name="connsiteX3" fmla="*/ 4995 w 10040"/>
              <a:gd name="connsiteY3" fmla="*/ 0 h 10125"/>
              <a:gd name="connsiteX4" fmla="*/ 6720 w 10040"/>
              <a:gd name="connsiteY4" fmla="*/ 1009 h 10125"/>
              <a:gd name="connsiteX5" fmla="*/ 9989 w 10040"/>
              <a:gd name="connsiteY5" fmla="*/ 2989 h 10125"/>
              <a:gd name="connsiteX6" fmla="*/ 8599 w 10040"/>
              <a:gd name="connsiteY6" fmla="*/ 6797 h 10125"/>
              <a:gd name="connsiteX7" fmla="*/ 6995 w 10040"/>
              <a:gd name="connsiteY7" fmla="*/ 9322 h 10125"/>
              <a:gd name="connsiteX8" fmla="*/ 5307 w 10040"/>
              <a:gd name="connsiteY8" fmla="*/ 8843 h 10125"/>
              <a:gd name="connsiteX9" fmla="*/ 4371 w 10040"/>
              <a:gd name="connsiteY9" fmla="*/ 9912 h 10125"/>
              <a:gd name="connsiteX10" fmla="*/ 3140 w 10040"/>
              <a:gd name="connsiteY10" fmla="*/ 10019 h 10125"/>
              <a:gd name="connsiteX11" fmla="*/ 2179 w 10040"/>
              <a:gd name="connsiteY11" fmla="*/ 7895 h 10125"/>
              <a:gd name="connsiteX12" fmla="*/ 1187 w 10040"/>
              <a:gd name="connsiteY12" fmla="*/ 7495 h 10125"/>
              <a:gd name="connsiteX13" fmla="*/ 4 w 10040"/>
              <a:gd name="connsiteY13" fmla="*/ 4039 h 10125"/>
              <a:gd name="connsiteX0" fmla="*/ 4 w 8600"/>
              <a:gd name="connsiteY0" fmla="*/ 4042 h 10128"/>
              <a:gd name="connsiteX1" fmla="*/ 715 w 8600"/>
              <a:gd name="connsiteY1" fmla="*/ 1598 h 10128"/>
              <a:gd name="connsiteX2" fmla="*/ 3130 w 8600"/>
              <a:gd name="connsiteY2" fmla="*/ 1009 h 10128"/>
              <a:gd name="connsiteX3" fmla="*/ 4995 w 8600"/>
              <a:gd name="connsiteY3" fmla="*/ 3 h 10128"/>
              <a:gd name="connsiteX4" fmla="*/ 6720 w 8600"/>
              <a:gd name="connsiteY4" fmla="*/ 1012 h 10128"/>
              <a:gd name="connsiteX5" fmla="*/ 8599 w 8600"/>
              <a:gd name="connsiteY5" fmla="*/ 6800 h 10128"/>
              <a:gd name="connsiteX6" fmla="*/ 6995 w 8600"/>
              <a:gd name="connsiteY6" fmla="*/ 9325 h 10128"/>
              <a:gd name="connsiteX7" fmla="*/ 5307 w 8600"/>
              <a:gd name="connsiteY7" fmla="*/ 8846 h 10128"/>
              <a:gd name="connsiteX8" fmla="*/ 4371 w 8600"/>
              <a:gd name="connsiteY8" fmla="*/ 9915 h 10128"/>
              <a:gd name="connsiteX9" fmla="*/ 3140 w 8600"/>
              <a:gd name="connsiteY9" fmla="*/ 10022 h 10128"/>
              <a:gd name="connsiteX10" fmla="*/ 2179 w 8600"/>
              <a:gd name="connsiteY10" fmla="*/ 7898 h 10128"/>
              <a:gd name="connsiteX11" fmla="*/ 1187 w 8600"/>
              <a:gd name="connsiteY11" fmla="*/ 7498 h 10128"/>
              <a:gd name="connsiteX12" fmla="*/ 4 w 8600"/>
              <a:gd name="connsiteY12" fmla="*/ 4042 h 10128"/>
              <a:gd name="connsiteX0" fmla="*/ 4 w 9326"/>
              <a:gd name="connsiteY0" fmla="*/ 3988 h 9997"/>
              <a:gd name="connsiteX1" fmla="*/ 830 w 9326"/>
              <a:gd name="connsiteY1" fmla="*/ 1575 h 9997"/>
              <a:gd name="connsiteX2" fmla="*/ 3639 w 9326"/>
              <a:gd name="connsiteY2" fmla="*/ 993 h 9997"/>
              <a:gd name="connsiteX3" fmla="*/ 5807 w 9326"/>
              <a:gd name="connsiteY3" fmla="*/ 0 h 9997"/>
              <a:gd name="connsiteX4" fmla="*/ 7813 w 9326"/>
              <a:gd name="connsiteY4" fmla="*/ 996 h 9997"/>
              <a:gd name="connsiteX5" fmla="*/ 9324 w 9326"/>
              <a:gd name="connsiteY5" fmla="*/ 5746 h 9997"/>
              <a:gd name="connsiteX6" fmla="*/ 8133 w 9326"/>
              <a:gd name="connsiteY6" fmla="*/ 9204 h 9997"/>
              <a:gd name="connsiteX7" fmla="*/ 6170 w 9326"/>
              <a:gd name="connsiteY7" fmla="*/ 8731 h 9997"/>
              <a:gd name="connsiteX8" fmla="*/ 5082 w 9326"/>
              <a:gd name="connsiteY8" fmla="*/ 9787 h 9997"/>
              <a:gd name="connsiteX9" fmla="*/ 3650 w 9326"/>
              <a:gd name="connsiteY9" fmla="*/ 9892 h 9997"/>
              <a:gd name="connsiteX10" fmla="*/ 2533 w 9326"/>
              <a:gd name="connsiteY10" fmla="*/ 7795 h 9997"/>
              <a:gd name="connsiteX11" fmla="*/ 1379 w 9326"/>
              <a:gd name="connsiteY11" fmla="*/ 7400 h 9997"/>
              <a:gd name="connsiteX12" fmla="*/ 4 w 9326"/>
              <a:gd name="connsiteY12" fmla="*/ 3988 h 9997"/>
              <a:gd name="connsiteX0" fmla="*/ 4 w 10001"/>
              <a:gd name="connsiteY0" fmla="*/ 3989 h 10041"/>
              <a:gd name="connsiteX1" fmla="*/ 890 w 10001"/>
              <a:gd name="connsiteY1" fmla="*/ 1575 h 10041"/>
              <a:gd name="connsiteX2" fmla="*/ 3902 w 10001"/>
              <a:gd name="connsiteY2" fmla="*/ 993 h 10041"/>
              <a:gd name="connsiteX3" fmla="*/ 6227 w 10001"/>
              <a:gd name="connsiteY3" fmla="*/ 0 h 10041"/>
              <a:gd name="connsiteX4" fmla="*/ 8378 w 10001"/>
              <a:gd name="connsiteY4" fmla="*/ 996 h 10041"/>
              <a:gd name="connsiteX5" fmla="*/ 9998 w 10001"/>
              <a:gd name="connsiteY5" fmla="*/ 5748 h 10041"/>
              <a:gd name="connsiteX6" fmla="*/ 8721 w 10001"/>
              <a:gd name="connsiteY6" fmla="*/ 9207 h 10041"/>
              <a:gd name="connsiteX7" fmla="*/ 5449 w 10001"/>
              <a:gd name="connsiteY7" fmla="*/ 9790 h 10041"/>
              <a:gd name="connsiteX8" fmla="*/ 3914 w 10001"/>
              <a:gd name="connsiteY8" fmla="*/ 9895 h 10041"/>
              <a:gd name="connsiteX9" fmla="*/ 2716 w 10001"/>
              <a:gd name="connsiteY9" fmla="*/ 7797 h 10041"/>
              <a:gd name="connsiteX10" fmla="*/ 1479 w 10001"/>
              <a:gd name="connsiteY10" fmla="*/ 7402 h 10041"/>
              <a:gd name="connsiteX11" fmla="*/ 4 w 10001"/>
              <a:gd name="connsiteY11" fmla="*/ 3989 h 10041"/>
              <a:gd name="connsiteX0" fmla="*/ 4 w 10001"/>
              <a:gd name="connsiteY0" fmla="*/ 3989 h 14825"/>
              <a:gd name="connsiteX1" fmla="*/ 890 w 10001"/>
              <a:gd name="connsiteY1" fmla="*/ 1575 h 14825"/>
              <a:gd name="connsiteX2" fmla="*/ 3902 w 10001"/>
              <a:gd name="connsiteY2" fmla="*/ 993 h 14825"/>
              <a:gd name="connsiteX3" fmla="*/ 6227 w 10001"/>
              <a:gd name="connsiteY3" fmla="*/ 0 h 14825"/>
              <a:gd name="connsiteX4" fmla="*/ 8378 w 10001"/>
              <a:gd name="connsiteY4" fmla="*/ 996 h 14825"/>
              <a:gd name="connsiteX5" fmla="*/ 9998 w 10001"/>
              <a:gd name="connsiteY5" fmla="*/ 5748 h 14825"/>
              <a:gd name="connsiteX6" fmla="*/ 8721 w 10001"/>
              <a:gd name="connsiteY6" fmla="*/ 9207 h 14825"/>
              <a:gd name="connsiteX7" fmla="*/ 6011 w 10001"/>
              <a:gd name="connsiteY7" fmla="*/ 14823 h 14825"/>
              <a:gd name="connsiteX8" fmla="*/ 3914 w 10001"/>
              <a:gd name="connsiteY8" fmla="*/ 9895 h 14825"/>
              <a:gd name="connsiteX9" fmla="*/ 2716 w 10001"/>
              <a:gd name="connsiteY9" fmla="*/ 7797 h 14825"/>
              <a:gd name="connsiteX10" fmla="*/ 1479 w 10001"/>
              <a:gd name="connsiteY10" fmla="*/ 7402 h 14825"/>
              <a:gd name="connsiteX11" fmla="*/ 4 w 10001"/>
              <a:gd name="connsiteY11" fmla="*/ 3989 h 14825"/>
              <a:gd name="connsiteX0" fmla="*/ 4 w 10001"/>
              <a:gd name="connsiteY0" fmla="*/ 7436 h 18272"/>
              <a:gd name="connsiteX1" fmla="*/ 890 w 10001"/>
              <a:gd name="connsiteY1" fmla="*/ 5022 h 18272"/>
              <a:gd name="connsiteX2" fmla="*/ 3902 w 10001"/>
              <a:gd name="connsiteY2" fmla="*/ 4440 h 18272"/>
              <a:gd name="connsiteX3" fmla="*/ 6026 w 10001"/>
              <a:gd name="connsiteY3" fmla="*/ 0 h 18272"/>
              <a:gd name="connsiteX4" fmla="*/ 8378 w 10001"/>
              <a:gd name="connsiteY4" fmla="*/ 4443 h 18272"/>
              <a:gd name="connsiteX5" fmla="*/ 9998 w 10001"/>
              <a:gd name="connsiteY5" fmla="*/ 9195 h 18272"/>
              <a:gd name="connsiteX6" fmla="*/ 8721 w 10001"/>
              <a:gd name="connsiteY6" fmla="*/ 12654 h 18272"/>
              <a:gd name="connsiteX7" fmla="*/ 6011 w 10001"/>
              <a:gd name="connsiteY7" fmla="*/ 18270 h 18272"/>
              <a:gd name="connsiteX8" fmla="*/ 3914 w 10001"/>
              <a:gd name="connsiteY8" fmla="*/ 13342 h 18272"/>
              <a:gd name="connsiteX9" fmla="*/ 2716 w 10001"/>
              <a:gd name="connsiteY9" fmla="*/ 11244 h 18272"/>
              <a:gd name="connsiteX10" fmla="*/ 1479 w 10001"/>
              <a:gd name="connsiteY10" fmla="*/ 10849 h 18272"/>
              <a:gd name="connsiteX11" fmla="*/ 4 w 10001"/>
              <a:gd name="connsiteY11" fmla="*/ 7436 h 18272"/>
              <a:gd name="connsiteX0" fmla="*/ 1 w 9998"/>
              <a:gd name="connsiteY0" fmla="*/ 7436 h 18272"/>
              <a:gd name="connsiteX1" fmla="*/ 3899 w 9998"/>
              <a:gd name="connsiteY1" fmla="*/ 4440 h 18272"/>
              <a:gd name="connsiteX2" fmla="*/ 6023 w 9998"/>
              <a:gd name="connsiteY2" fmla="*/ 0 h 18272"/>
              <a:gd name="connsiteX3" fmla="*/ 8375 w 9998"/>
              <a:gd name="connsiteY3" fmla="*/ 4443 h 18272"/>
              <a:gd name="connsiteX4" fmla="*/ 9995 w 9998"/>
              <a:gd name="connsiteY4" fmla="*/ 9195 h 18272"/>
              <a:gd name="connsiteX5" fmla="*/ 8718 w 9998"/>
              <a:gd name="connsiteY5" fmla="*/ 12654 h 18272"/>
              <a:gd name="connsiteX6" fmla="*/ 6008 w 9998"/>
              <a:gd name="connsiteY6" fmla="*/ 18270 h 18272"/>
              <a:gd name="connsiteX7" fmla="*/ 3911 w 9998"/>
              <a:gd name="connsiteY7" fmla="*/ 13342 h 18272"/>
              <a:gd name="connsiteX8" fmla="*/ 2713 w 9998"/>
              <a:gd name="connsiteY8" fmla="*/ 11244 h 18272"/>
              <a:gd name="connsiteX9" fmla="*/ 1476 w 9998"/>
              <a:gd name="connsiteY9" fmla="*/ 10849 h 18272"/>
              <a:gd name="connsiteX10" fmla="*/ 1 w 9998"/>
              <a:gd name="connsiteY10" fmla="*/ 7436 h 18272"/>
              <a:gd name="connsiteX0" fmla="*/ 35 w 8559"/>
              <a:gd name="connsiteY0" fmla="*/ 5938 h 10000"/>
              <a:gd name="connsiteX1" fmla="*/ 2459 w 8559"/>
              <a:gd name="connsiteY1" fmla="*/ 2430 h 10000"/>
              <a:gd name="connsiteX2" fmla="*/ 4583 w 8559"/>
              <a:gd name="connsiteY2" fmla="*/ 0 h 10000"/>
              <a:gd name="connsiteX3" fmla="*/ 6936 w 8559"/>
              <a:gd name="connsiteY3" fmla="*/ 2432 h 10000"/>
              <a:gd name="connsiteX4" fmla="*/ 8556 w 8559"/>
              <a:gd name="connsiteY4" fmla="*/ 5032 h 10000"/>
              <a:gd name="connsiteX5" fmla="*/ 7279 w 8559"/>
              <a:gd name="connsiteY5" fmla="*/ 6925 h 10000"/>
              <a:gd name="connsiteX6" fmla="*/ 4568 w 8559"/>
              <a:gd name="connsiteY6" fmla="*/ 9999 h 10000"/>
              <a:gd name="connsiteX7" fmla="*/ 2471 w 8559"/>
              <a:gd name="connsiteY7" fmla="*/ 7302 h 10000"/>
              <a:gd name="connsiteX8" fmla="*/ 1273 w 8559"/>
              <a:gd name="connsiteY8" fmla="*/ 6154 h 10000"/>
              <a:gd name="connsiteX9" fmla="*/ 35 w 8559"/>
              <a:gd name="connsiteY9" fmla="*/ 5938 h 10000"/>
              <a:gd name="connsiteX0" fmla="*/ 49 w 9820"/>
              <a:gd name="connsiteY0" fmla="*/ 4655 h 10000"/>
              <a:gd name="connsiteX1" fmla="*/ 2693 w 9820"/>
              <a:gd name="connsiteY1" fmla="*/ 2430 h 10000"/>
              <a:gd name="connsiteX2" fmla="*/ 5175 w 9820"/>
              <a:gd name="connsiteY2" fmla="*/ 0 h 10000"/>
              <a:gd name="connsiteX3" fmla="*/ 7924 w 9820"/>
              <a:gd name="connsiteY3" fmla="*/ 2432 h 10000"/>
              <a:gd name="connsiteX4" fmla="*/ 9816 w 9820"/>
              <a:gd name="connsiteY4" fmla="*/ 5032 h 10000"/>
              <a:gd name="connsiteX5" fmla="*/ 8324 w 9820"/>
              <a:gd name="connsiteY5" fmla="*/ 6925 h 10000"/>
              <a:gd name="connsiteX6" fmla="*/ 5157 w 9820"/>
              <a:gd name="connsiteY6" fmla="*/ 9999 h 10000"/>
              <a:gd name="connsiteX7" fmla="*/ 2707 w 9820"/>
              <a:gd name="connsiteY7" fmla="*/ 7302 h 10000"/>
              <a:gd name="connsiteX8" fmla="*/ 1307 w 9820"/>
              <a:gd name="connsiteY8" fmla="*/ 6154 h 10000"/>
              <a:gd name="connsiteX9" fmla="*/ 49 w 9820"/>
              <a:gd name="connsiteY9" fmla="*/ 4655 h 10000"/>
              <a:gd name="connsiteX0" fmla="*/ 45 w 9995"/>
              <a:gd name="connsiteY0" fmla="*/ 4655 h 10000"/>
              <a:gd name="connsiteX1" fmla="*/ 2737 w 9995"/>
              <a:gd name="connsiteY1" fmla="*/ 2430 h 10000"/>
              <a:gd name="connsiteX2" fmla="*/ 5265 w 9995"/>
              <a:gd name="connsiteY2" fmla="*/ 0 h 10000"/>
              <a:gd name="connsiteX3" fmla="*/ 8064 w 9995"/>
              <a:gd name="connsiteY3" fmla="*/ 2432 h 10000"/>
              <a:gd name="connsiteX4" fmla="*/ 9991 w 9995"/>
              <a:gd name="connsiteY4" fmla="*/ 5032 h 10000"/>
              <a:gd name="connsiteX5" fmla="*/ 8472 w 9995"/>
              <a:gd name="connsiteY5" fmla="*/ 6925 h 10000"/>
              <a:gd name="connsiteX6" fmla="*/ 5247 w 9995"/>
              <a:gd name="connsiteY6" fmla="*/ 9999 h 10000"/>
              <a:gd name="connsiteX7" fmla="*/ 2752 w 9995"/>
              <a:gd name="connsiteY7" fmla="*/ 7302 h 10000"/>
              <a:gd name="connsiteX8" fmla="*/ 1374 w 9995"/>
              <a:gd name="connsiteY8" fmla="*/ 6984 h 10000"/>
              <a:gd name="connsiteX9" fmla="*/ 45 w 9995"/>
              <a:gd name="connsiteY9" fmla="*/ 4655 h 10000"/>
              <a:gd name="connsiteX0" fmla="*/ 45 w 10000"/>
              <a:gd name="connsiteY0" fmla="*/ 5032 h 10377"/>
              <a:gd name="connsiteX1" fmla="*/ 2738 w 10000"/>
              <a:gd name="connsiteY1" fmla="*/ 2807 h 10377"/>
              <a:gd name="connsiteX2" fmla="*/ 4886 w 10000"/>
              <a:gd name="connsiteY2" fmla="*/ 0 h 10377"/>
              <a:gd name="connsiteX3" fmla="*/ 8068 w 10000"/>
              <a:gd name="connsiteY3" fmla="*/ 2809 h 10377"/>
              <a:gd name="connsiteX4" fmla="*/ 9996 w 10000"/>
              <a:gd name="connsiteY4" fmla="*/ 5409 h 10377"/>
              <a:gd name="connsiteX5" fmla="*/ 8476 w 10000"/>
              <a:gd name="connsiteY5" fmla="*/ 7302 h 10377"/>
              <a:gd name="connsiteX6" fmla="*/ 5250 w 10000"/>
              <a:gd name="connsiteY6" fmla="*/ 10376 h 10377"/>
              <a:gd name="connsiteX7" fmla="*/ 2753 w 10000"/>
              <a:gd name="connsiteY7" fmla="*/ 7679 h 10377"/>
              <a:gd name="connsiteX8" fmla="*/ 1375 w 10000"/>
              <a:gd name="connsiteY8" fmla="*/ 7361 h 10377"/>
              <a:gd name="connsiteX9" fmla="*/ 45 w 10000"/>
              <a:gd name="connsiteY9" fmla="*/ 5032 h 10377"/>
              <a:gd name="connsiteX0" fmla="*/ 45 w 10000"/>
              <a:gd name="connsiteY0" fmla="*/ 5036 h 10381"/>
              <a:gd name="connsiteX1" fmla="*/ 2738 w 10000"/>
              <a:gd name="connsiteY1" fmla="*/ 2811 h 10381"/>
              <a:gd name="connsiteX2" fmla="*/ 4886 w 10000"/>
              <a:gd name="connsiteY2" fmla="*/ 4 h 10381"/>
              <a:gd name="connsiteX3" fmla="*/ 8068 w 10000"/>
              <a:gd name="connsiteY3" fmla="*/ 2813 h 10381"/>
              <a:gd name="connsiteX4" fmla="*/ 9996 w 10000"/>
              <a:gd name="connsiteY4" fmla="*/ 5413 h 10381"/>
              <a:gd name="connsiteX5" fmla="*/ 8476 w 10000"/>
              <a:gd name="connsiteY5" fmla="*/ 7306 h 10381"/>
              <a:gd name="connsiteX6" fmla="*/ 5250 w 10000"/>
              <a:gd name="connsiteY6" fmla="*/ 10380 h 10381"/>
              <a:gd name="connsiteX7" fmla="*/ 2753 w 10000"/>
              <a:gd name="connsiteY7" fmla="*/ 7683 h 10381"/>
              <a:gd name="connsiteX8" fmla="*/ 1375 w 10000"/>
              <a:gd name="connsiteY8" fmla="*/ 7365 h 10381"/>
              <a:gd name="connsiteX9" fmla="*/ 45 w 10000"/>
              <a:gd name="connsiteY9" fmla="*/ 5036 h 10381"/>
              <a:gd name="connsiteX0" fmla="*/ 45 w 10000"/>
              <a:gd name="connsiteY0" fmla="*/ 5036 h 10796"/>
              <a:gd name="connsiteX1" fmla="*/ 2738 w 10000"/>
              <a:gd name="connsiteY1" fmla="*/ 2811 h 10796"/>
              <a:gd name="connsiteX2" fmla="*/ 4886 w 10000"/>
              <a:gd name="connsiteY2" fmla="*/ 4 h 10796"/>
              <a:gd name="connsiteX3" fmla="*/ 8068 w 10000"/>
              <a:gd name="connsiteY3" fmla="*/ 2813 h 10796"/>
              <a:gd name="connsiteX4" fmla="*/ 9996 w 10000"/>
              <a:gd name="connsiteY4" fmla="*/ 5413 h 10796"/>
              <a:gd name="connsiteX5" fmla="*/ 8476 w 10000"/>
              <a:gd name="connsiteY5" fmla="*/ 7306 h 10796"/>
              <a:gd name="connsiteX6" fmla="*/ 5202 w 10000"/>
              <a:gd name="connsiteY6" fmla="*/ 10795 h 10796"/>
              <a:gd name="connsiteX7" fmla="*/ 2753 w 10000"/>
              <a:gd name="connsiteY7" fmla="*/ 7683 h 10796"/>
              <a:gd name="connsiteX8" fmla="*/ 1375 w 10000"/>
              <a:gd name="connsiteY8" fmla="*/ 7365 h 10796"/>
              <a:gd name="connsiteX9" fmla="*/ 45 w 10000"/>
              <a:gd name="connsiteY9" fmla="*/ 5036 h 10796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00" h="10795">
                <a:moveTo>
                  <a:pt x="45" y="5036"/>
                </a:moveTo>
                <a:cubicBezTo>
                  <a:pt x="272" y="4277"/>
                  <a:pt x="1931" y="3650"/>
                  <a:pt x="2738" y="2811"/>
                </a:cubicBezTo>
                <a:cubicBezTo>
                  <a:pt x="3545" y="1972"/>
                  <a:pt x="3352" y="117"/>
                  <a:pt x="4886" y="4"/>
                </a:cubicBezTo>
                <a:cubicBezTo>
                  <a:pt x="6420" y="-109"/>
                  <a:pt x="7216" y="1912"/>
                  <a:pt x="8068" y="2813"/>
                </a:cubicBezTo>
                <a:cubicBezTo>
                  <a:pt x="8920" y="3715"/>
                  <a:pt x="9928" y="3420"/>
                  <a:pt x="9996" y="5413"/>
                </a:cubicBezTo>
                <a:cubicBezTo>
                  <a:pt x="10064" y="7406"/>
                  <a:pt x="9275" y="6409"/>
                  <a:pt x="8476" y="7306"/>
                </a:cubicBezTo>
                <a:cubicBezTo>
                  <a:pt x="7677" y="8203"/>
                  <a:pt x="7086" y="10770"/>
                  <a:pt x="5202" y="10795"/>
                </a:cubicBezTo>
                <a:cubicBezTo>
                  <a:pt x="3318" y="10820"/>
                  <a:pt x="3391" y="8255"/>
                  <a:pt x="2753" y="7683"/>
                </a:cubicBezTo>
                <a:cubicBezTo>
                  <a:pt x="2115" y="7111"/>
                  <a:pt x="2326" y="7496"/>
                  <a:pt x="1375" y="7365"/>
                </a:cubicBezTo>
                <a:cubicBezTo>
                  <a:pt x="493" y="6773"/>
                  <a:pt x="-182" y="5795"/>
                  <a:pt x="45" y="5036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grpSp>
        <p:nvGrpSpPr>
          <p:cNvPr id="136" name="Group 133"/>
          <p:cNvGrpSpPr/>
          <p:nvPr/>
        </p:nvGrpSpPr>
        <p:grpSpPr>
          <a:xfrm>
            <a:off x="7641569" y="1446544"/>
            <a:ext cx="2954064" cy="1471268"/>
            <a:chOff x="833331" y="2873352"/>
            <a:chExt cx="2333625" cy="1630661"/>
          </a:xfrm>
        </p:grpSpPr>
        <p:grpSp>
          <p:nvGrpSpPr>
            <p:cNvPr id="137" name="Group 134"/>
            <p:cNvGrpSpPr/>
            <p:nvPr/>
          </p:nvGrpSpPr>
          <p:grpSpPr>
            <a:xfrm>
              <a:off x="1736090" y="2873352"/>
              <a:ext cx="565150" cy="409344"/>
              <a:chOff x="1736090" y="2873352"/>
              <a:chExt cx="565150" cy="409344"/>
            </a:xfrm>
          </p:grpSpPr>
          <p:grpSp>
            <p:nvGrpSpPr>
              <p:cNvPr id="186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90" name="Oval 187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solidFill>
                        <a:prstClr val="black"/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1" name="Rectangle 188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2" name="Oval 189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solidFill>
                        <a:prstClr val="black"/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3" name="Freeform 190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4" name="Freeform 191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5" name="Freeform 192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6" name="Freeform 193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197" name="Straight Connector 194"/>
                <p:cNvCxnSpPr>
                  <a:endCxn id="192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5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7" name="Group 184"/>
              <p:cNvGrpSpPr/>
              <p:nvPr/>
            </p:nvGrpSpPr>
            <p:grpSpPr>
              <a:xfrm>
                <a:off x="1770362" y="2873352"/>
                <a:ext cx="414737" cy="409344"/>
                <a:chOff x="667045" y="1708643"/>
                <a:chExt cx="414737" cy="409344"/>
              </a:xfrm>
            </p:grpSpPr>
            <p:sp>
              <p:nvSpPr>
                <p:cNvPr id="188" name="Oval 185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" name="TextBox 188"/>
                <p:cNvSpPr txBox="1"/>
                <p:nvPr/>
              </p:nvSpPr>
              <p:spPr>
                <a:xfrm>
                  <a:off x="667045" y="1708643"/>
                  <a:ext cx="347227" cy="4093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rPr>
                    <a:t>3b</a:t>
                  </a:r>
                </a:p>
              </p:txBody>
            </p:sp>
          </p:grpSp>
        </p:grpSp>
        <p:grpSp>
          <p:nvGrpSpPr>
            <p:cNvPr id="138" name="Group 135"/>
            <p:cNvGrpSpPr/>
            <p:nvPr/>
          </p:nvGrpSpPr>
          <p:grpSpPr>
            <a:xfrm>
              <a:off x="1740320" y="4094669"/>
              <a:ext cx="565150" cy="409344"/>
              <a:chOff x="1736090" y="2873352"/>
              <a:chExt cx="565150" cy="409344"/>
            </a:xfrm>
          </p:grpSpPr>
          <p:grpSp>
            <p:nvGrpSpPr>
              <p:cNvPr id="173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77" name="Oval 174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solidFill>
                        <a:prstClr val="black"/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" name="Rectangle 175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" name="Oval 176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solidFill>
                        <a:prstClr val="black"/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" name="Freeform 177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1" name="Freeform 178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2" name="Freeform 179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3" name="Freeform 180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184" name="Straight Connector 181"/>
                <p:cNvCxnSpPr>
                  <a:endCxn id="179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2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1"/>
              <p:cNvGrpSpPr/>
              <p:nvPr/>
            </p:nvGrpSpPr>
            <p:grpSpPr>
              <a:xfrm>
                <a:off x="1770362" y="2873352"/>
                <a:ext cx="414737" cy="409344"/>
                <a:chOff x="667045" y="1708643"/>
                <a:chExt cx="414737" cy="409344"/>
              </a:xfrm>
            </p:grpSpPr>
            <p:sp>
              <p:nvSpPr>
                <p:cNvPr id="175" name="Oval 172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" name="TextBox 175"/>
                <p:cNvSpPr txBox="1"/>
                <p:nvPr/>
              </p:nvSpPr>
              <p:spPr>
                <a:xfrm>
                  <a:off x="667045" y="1708643"/>
                  <a:ext cx="347227" cy="4093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rPr>
                    <a:t>3d</a:t>
                  </a:r>
                </a:p>
              </p:txBody>
            </p:sp>
          </p:grpSp>
        </p:grpSp>
        <p:grpSp>
          <p:nvGrpSpPr>
            <p:cNvPr id="139" name="Group 136"/>
            <p:cNvGrpSpPr/>
            <p:nvPr/>
          </p:nvGrpSpPr>
          <p:grpSpPr>
            <a:xfrm>
              <a:off x="2601806" y="3485072"/>
              <a:ext cx="565150" cy="409344"/>
              <a:chOff x="1736090" y="2873352"/>
              <a:chExt cx="565150" cy="409344"/>
            </a:xfrm>
          </p:grpSpPr>
          <p:grpSp>
            <p:nvGrpSpPr>
              <p:cNvPr id="160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64" name="Oval 161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solidFill>
                        <a:prstClr val="black"/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5" name="Rectangle 162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6" name="Oval 163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solidFill>
                        <a:prstClr val="black"/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7" name="Freeform 164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8" name="Freeform 165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9" name="Freeform 166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0" name="Freeform 167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171" name="Straight Connector 168"/>
                <p:cNvCxnSpPr>
                  <a:endCxn id="166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69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1" name="Group 158"/>
              <p:cNvGrpSpPr/>
              <p:nvPr/>
            </p:nvGrpSpPr>
            <p:grpSpPr>
              <a:xfrm>
                <a:off x="1770362" y="2873352"/>
                <a:ext cx="414737" cy="409344"/>
                <a:chOff x="667045" y="1708643"/>
                <a:chExt cx="414737" cy="409344"/>
              </a:xfrm>
            </p:grpSpPr>
            <p:sp>
              <p:nvSpPr>
                <p:cNvPr id="162" name="Oval 159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" name="TextBox 162"/>
                <p:cNvSpPr txBox="1"/>
                <p:nvPr/>
              </p:nvSpPr>
              <p:spPr>
                <a:xfrm>
                  <a:off x="667045" y="1708643"/>
                  <a:ext cx="324433" cy="4093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rPr>
                    <a:t>3c</a:t>
                  </a:r>
                </a:p>
              </p:txBody>
            </p:sp>
          </p:grpSp>
        </p:grpSp>
        <p:grpSp>
          <p:nvGrpSpPr>
            <p:cNvPr id="140" name="Group 137"/>
            <p:cNvGrpSpPr/>
            <p:nvPr/>
          </p:nvGrpSpPr>
          <p:grpSpPr>
            <a:xfrm>
              <a:off x="833331" y="3478719"/>
              <a:ext cx="565150" cy="409344"/>
              <a:chOff x="1736090" y="2873352"/>
              <a:chExt cx="565150" cy="409344"/>
            </a:xfrm>
          </p:grpSpPr>
          <p:grpSp>
            <p:nvGrpSpPr>
              <p:cNvPr id="147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51" name="Oval 148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solidFill>
                        <a:prstClr val="black"/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2" name="Rectangle 149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3" name="Oval 150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solidFill>
                        <a:prstClr val="black"/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4" name="Freeform 151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5" name="Freeform 152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6" name="Freeform 153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7" name="Freeform 154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158" name="Straight Connector 155"/>
                <p:cNvCxnSpPr>
                  <a:endCxn id="153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Straight Connector 156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8" name="Group 145"/>
              <p:cNvGrpSpPr/>
              <p:nvPr/>
            </p:nvGrpSpPr>
            <p:grpSpPr>
              <a:xfrm>
                <a:off x="1770362" y="2873352"/>
                <a:ext cx="414737" cy="409344"/>
                <a:chOff x="667045" y="1708643"/>
                <a:chExt cx="414737" cy="409344"/>
              </a:xfrm>
            </p:grpSpPr>
            <p:sp>
              <p:nvSpPr>
                <p:cNvPr id="149" name="Oval 146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0" name="TextBox 149"/>
                <p:cNvSpPr txBox="1"/>
                <p:nvPr/>
              </p:nvSpPr>
              <p:spPr>
                <a:xfrm>
                  <a:off x="667045" y="1708643"/>
                  <a:ext cx="333296" cy="4093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rPr>
                    <a:t>3a</a:t>
                  </a:r>
                </a:p>
              </p:txBody>
            </p:sp>
          </p:grpSp>
        </p:grpSp>
        <p:cxnSp>
          <p:nvCxnSpPr>
            <p:cNvPr id="141" name="Straight Connector 138"/>
            <p:cNvCxnSpPr>
              <a:stCxn id="189" idx="2"/>
              <a:endCxn id="176" idx="0"/>
            </p:cNvCxnSpPr>
            <p:nvPr/>
          </p:nvCxnSpPr>
          <p:spPr bwMode="auto">
            <a:xfrm>
              <a:off x="1943976" y="3282696"/>
              <a:ext cx="4230" cy="81197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2" name="Straight Connector 139"/>
            <p:cNvCxnSpPr/>
            <p:nvPr/>
          </p:nvCxnSpPr>
          <p:spPr bwMode="auto">
            <a:xfrm>
              <a:off x="1407477" y="3648621"/>
              <a:ext cx="1204913" cy="635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3" name="Straight Connector 140"/>
            <p:cNvCxnSpPr>
              <a:stCxn id="190" idx="7"/>
            </p:cNvCxnSpPr>
            <p:nvPr/>
          </p:nvCxnSpPr>
          <p:spPr bwMode="auto">
            <a:xfrm>
              <a:off x="2218708" y="3154477"/>
              <a:ext cx="480042" cy="36977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4" name="Straight Connector 141"/>
            <p:cNvCxnSpPr/>
            <p:nvPr/>
          </p:nvCxnSpPr>
          <p:spPr bwMode="auto">
            <a:xfrm>
              <a:off x="1300073" y="3786304"/>
              <a:ext cx="477927" cy="35707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5" name="Straight Connector 142"/>
            <p:cNvCxnSpPr/>
            <p:nvPr/>
          </p:nvCxnSpPr>
          <p:spPr bwMode="auto">
            <a:xfrm flipH="1">
              <a:off x="2196042" y="3783542"/>
              <a:ext cx="508002" cy="34925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6" name="Straight Connector 143"/>
            <p:cNvCxnSpPr/>
            <p:nvPr/>
          </p:nvCxnSpPr>
          <p:spPr bwMode="auto">
            <a:xfrm flipH="1">
              <a:off x="1287553" y="3166946"/>
              <a:ext cx="508002" cy="34925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99" name="Straight Connector 127"/>
          <p:cNvCxnSpPr/>
          <p:nvPr/>
        </p:nvCxnSpPr>
        <p:spPr bwMode="auto">
          <a:xfrm flipH="1" flipV="1">
            <a:off x="4062275" y="2340047"/>
            <a:ext cx="641169" cy="74409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Straight Connector 128"/>
          <p:cNvCxnSpPr/>
          <p:nvPr/>
        </p:nvCxnSpPr>
        <p:spPr bwMode="auto">
          <a:xfrm flipV="1">
            <a:off x="7364252" y="2281165"/>
            <a:ext cx="450313" cy="82312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1" name="TextBox 200"/>
          <p:cNvSpPr txBox="1"/>
          <p:nvPr/>
        </p:nvSpPr>
        <p:spPr>
          <a:xfrm>
            <a:off x="4657722" y="2438369"/>
            <a:ext cx="6142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AS2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7391934" y="1351667"/>
            <a:ext cx="6142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AS3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942897" y="1562343"/>
            <a:ext cx="6142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AS1</a:t>
            </a:r>
          </a:p>
        </p:txBody>
      </p:sp>
      <p:grpSp>
        <p:nvGrpSpPr>
          <p:cNvPr id="204" name="Group 10"/>
          <p:cNvGrpSpPr/>
          <p:nvPr/>
        </p:nvGrpSpPr>
        <p:grpSpPr>
          <a:xfrm>
            <a:off x="9427769" y="2413274"/>
            <a:ext cx="2268979" cy="616172"/>
            <a:chOff x="7073692" y="5469792"/>
            <a:chExt cx="1701734" cy="616172"/>
          </a:xfrm>
        </p:grpSpPr>
        <p:grpSp>
          <p:nvGrpSpPr>
            <p:cNvPr id="205" name="Group 9"/>
            <p:cNvGrpSpPr/>
            <p:nvPr/>
          </p:nvGrpSpPr>
          <p:grpSpPr>
            <a:xfrm>
              <a:off x="7073692" y="5469792"/>
              <a:ext cx="1701734" cy="616172"/>
              <a:chOff x="6946249" y="5096269"/>
              <a:chExt cx="1701734" cy="616172"/>
            </a:xfrm>
          </p:grpSpPr>
          <p:sp>
            <p:nvSpPr>
              <p:cNvPr id="207" name="Freeform 2"/>
              <p:cNvSpPr>
                <a:spLocks/>
              </p:cNvSpPr>
              <p:nvPr/>
            </p:nvSpPr>
            <p:spPr bwMode="auto">
              <a:xfrm>
                <a:off x="6946249" y="5096269"/>
                <a:ext cx="1701734" cy="616172"/>
              </a:xfrm>
              <a:custGeom>
                <a:avLst/>
                <a:gdLst>
                  <a:gd name="T0" fmla="*/ 648763 w 10001"/>
                  <a:gd name="T1" fmla="*/ 34777612 h 10125"/>
                  <a:gd name="T2" fmla="*/ 115976403 w 10001"/>
                  <a:gd name="T3" fmla="*/ 13733703 h 10125"/>
                  <a:gd name="T4" fmla="*/ 507700960 w 10001"/>
                  <a:gd name="T5" fmla="*/ 8662125 h 10125"/>
                  <a:gd name="T6" fmla="*/ 810212713 w 10001"/>
                  <a:gd name="T7" fmla="*/ 0 h 10125"/>
                  <a:gd name="T8" fmla="*/ 1090015738 w 10001"/>
                  <a:gd name="T9" fmla="*/ 8687929 h 10125"/>
                  <a:gd name="T10" fmla="*/ 1310938763 w 10001"/>
                  <a:gd name="T11" fmla="*/ 4279362 h 10125"/>
                  <a:gd name="T12" fmla="*/ 1620263134 w 10001"/>
                  <a:gd name="T13" fmla="*/ 25736690 h 10125"/>
                  <a:gd name="T14" fmla="*/ 1394798364 w 10001"/>
                  <a:gd name="T15" fmla="*/ 58525268 h 10125"/>
                  <a:gd name="T16" fmla="*/ 1134622140 w 10001"/>
                  <a:gd name="T17" fmla="*/ 80266624 h 10125"/>
                  <a:gd name="T18" fmla="*/ 860820276 w 10001"/>
                  <a:gd name="T19" fmla="*/ 76142271 h 10125"/>
                  <a:gd name="T20" fmla="*/ 708996782 w 10001"/>
                  <a:gd name="T21" fmla="*/ 85346835 h 10125"/>
                  <a:gd name="T22" fmla="*/ 509322667 w 10001"/>
                  <a:gd name="T23" fmla="*/ 86268164 h 10125"/>
                  <a:gd name="T24" fmla="*/ 353443899 w 10001"/>
                  <a:gd name="T25" fmla="*/ 67979516 h 10125"/>
                  <a:gd name="T26" fmla="*/ 192536914 w 10001"/>
                  <a:gd name="T27" fmla="*/ 64535347 h 10125"/>
                  <a:gd name="T28" fmla="*/ 648763 w 10001"/>
                  <a:gd name="T29" fmla="*/ 34777612 h 101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connsiteX0" fmla="*/ 4 w 10040"/>
                  <a:gd name="connsiteY0" fmla="*/ 4039 h 10125"/>
                  <a:gd name="connsiteX1" fmla="*/ 715 w 10040"/>
                  <a:gd name="connsiteY1" fmla="*/ 1595 h 10125"/>
                  <a:gd name="connsiteX2" fmla="*/ 3130 w 10040"/>
                  <a:gd name="connsiteY2" fmla="*/ 1006 h 10125"/>
                  <a:gd name="connsiteX3" fmla="*/ 4995 w 10040"/>
                  <a:gd name="connsiteY3" fmla="*/ 0 h 10125"/>
                  <a:gd name="connsiteX4" fmla="*/ 6720 w 10040"/>
                  <a:gd name="connsiteY4" fmla="*/ 1009 h 10125"/>
                  <a:gd name="connsiteX5" fmla="*/ 9989 w 10040"/>
                  <a:gd name="connsiteY5" fmla="*/ 2989 h 10125"/>
                  <a:gd name="connsiteX6" fmla="*/ 8599 w 10040"/>
                  <a:gd name="connsiteY6" fmla="*/ 6797 h 10125"/>
                  <a:gd name="connsiteX7" fmla="*/ 6995 w 10040"/>
                  <a:gd name="connsiteY7" fmla="*/ 9322 h 10125"/>
                  <a:gd name="connsiteX8" fmla="*/ 5307 w 10040"/>
                  <a:gd name="connsiteY8" fmla="*/ 8843 h 10125"/>
                  <a:gd name="connsiteX9" fmla="*/ 4371 w 10040"/>
                  <a:gd name="connsiteY9" fmla="*/ 9912 h 10125"/>
                  <a:gd name="connsiteX10" fmla="*/ 3140 w 10040"/>
                  <a:gd name="connsiteY10" fmla="*/ 10019 h 10125"/>
                  <a:gd name="connsiteX11" fmla="*/ 2179 w 10040"/>
                  <a:gd name="connsiteY11" fmla="*/ 7895 h 10125"/>
                  <a:gd name="connsiteX12" fmla="*/ 1187 w 10040"/>
                  <a:gd name="connsiteY12" fmla="*/ 7495 h 10125"/>
                  <a:gd name="connsiteX13" fmla="*/ 4 w 10040"/>
                  <a:gd name="connsiteY13" fmla="*/ 4039 h 10125"/>
                  <a:gd name="connsiteX0" fmla="*/ 4 w 8600"/>
                  <a:gd name="connsiteY0" fmla="*/ 4042 h 10128"/>
                  <a:gd name="connsiteX1" fmla="*/ 715 w 8600"/>
                  <a:gd name="connsiteY1" fmla="*/ 1598 h 10128"/>
                  <a:gd name="connsiteX2" fmla="*/ 3130 w 8600"/>
                  <a:gd name="connsiteY2" fmla="*/ 1009 h 10128"/>
                  <a:gd name="connsiteX3" fmla="*/ 4995 w 8600"/>
                  <a:gd name="connsiteY3" fmla="*/ 3 h 10128"/>
                  <a:gd name="connsiteX4" fmla="*/ 6720 w 8600"/>
                  <a:gd name="connsiteY4" fmla="*/ 1012 h 10128"/>
                  <a:gd name="connsiteX5" fmla="*/ 8599 w 8600"/>
                  <a:gd name="connsiteY5" fmla="*/ 6800 h 10128"/>
                  <a:gd name="connsiteX6" fmla="*/ 6995 w 8600"/>
                  <a:gd name="connsiteY6" fmla="*/ 9325 h 10128"/>
                  <a:gd name="connsiteX7" fmla="*/ 5307 w 8600"/>
                  <a:gd name="connsiteY7" fmla="*/ 8846 h 10128"/>
                  <a:gd name="connsiteX8" fmla="*/ 4371 w 8600"/>
                  <a:gd name="connsiteY8" fmla="*/ 9915 h 10128"/>
                  <a:gd name="connsiteX9" fmla="*/ 3140 w 8600"/>
                  <a:gd name="connsiteY9" fmla="*/ 10022 h 10128"/>
                  <a:gd name="connsiteX10" fmla="*/ 2179 w 8600"/>
                  <a:gd name="connsiteY10" fmla="*/ 7898 h 10128"/>
                  <a:gd name="connsiteX11" fmla="*/ 1187 w 8600"/>
                  <a:gd name="connsiteY11" fmla="*/ 7498 h 10128"/>
                  <a:gd name="connsiteX12" fmla="*/ 4 w 8600"/>
                  <a:gd name="connsiteY12" fmla="*/ 4042 h 10128"/>
                  <a:gd name="connsiteX0" fmla="*/ 4 w 9326"/>
                  <a:gd name="connsiteY0" fmla="*/ 3988 h 9997"/>
                  <a:gd name="connsiteX1" fmla="*/ 830 w 9326"/>
                  <a:gd name="connsiteY1" fmla="*/ 1575 h 9997"/>
                  <a:gd name="connsiteX2" fmla="*/ 3639 w 9326"/>
                  <a:gd name="connsiteY2" fmla="*/ 993 h 9997"/>
                  <a:gd name="connsiteX3" fmla="*/ 5807 w 9326"/>
                  <a:gd name="connsiteY3" fmla="*/ 0 h 9997"/>
                  <a:gd name="connsiteX4" fmla="*/ 7813 w 9326"/>
                  <a:gd name="connsiteY4" fmla="*/ 996 h 9997"/>
                  <a:gd name="connsiteX5" fmla="*/ 9324 w 9326"/>
                  <a:gd name="connsiteY5" fmla="*/ 5746 h 9997"/>
                  <a:gd name="connsiteX6" fmla="*/ 8133 w 9326"/>
                  <a:gd name="connsiteY6" fmla="*/ 9204 h 9997"/>
                  <a:gd name="connsiteX7" fmla="*/ 6170 w 9326"/>
                  <a:gd name="connsiteY7" fmla="*/ 8731 h 9997"/>
                  <a:gd name="connsiteX8" fmla="*/ 5082 w 9326"/>
                  <a:gd name="connsiteY8" fmla="*/ 9787 h 9997"/>
                  <a:gd name="connsiteX9" fmla="*/ 3650 w 9326"/>
                  <a:gd name="connsiteY9" fmla="*/ 9892 h 9997"/>
                  <a:gd name="connsiteX10" fmla="*/ 2533 w 9326"/>
                  <a:gd name="connsiteY10" fmla="*/ 7795 h 9997"/>
                  <a:gd name="connsiteX11" fmla="*/ 1379 w 9326"/>
                  <a:gd name="connsiteY11" fmla="*/ 7400 h 9997"/>
                  <a:gd name="connsiteX12" fmla="*/ 4 w 9326"/>
                  <a:gd name="connsiteY12" fmla="*/ 3988 h 9997"/>
                  <a:gd name="connsiteX0" fmla="*/ 4 w 10001"/>
                  <a:gd name="connsiteY0" fmla="*/ 3989 h 10041"/>
                  <a:gd name="connsiteX1" fmla="*/ 890 w 10001"/>
                  <a:gd name="connsiteY1" fmla="*/ 1575 h 10041"/>
                  <a:gd name="connsiteX2" fmla="*/ 3902 w 10001"/>
                  <a:gd name="connsiteY2" fmla="*/ 993 h 10041"/>
                  <a:gd name="connsiteX3" fmla="*/ 6227 w 10001"/>
                  <a:gd name="connsiteY3" fmla="*/ 0 h 10041"/>
                  <a:gd name="connsiteX4" fmla="*/ 8378 w 10001"/>
                  <a:gd name="connsiteY4" fmla="*/ 996 h 10041"/>
                  <a:gd name="connsiteX5" fmla="*/ 9998 w 10001"/>
                  <a:gd name="connsiteY5" fmla="*/ 5748 h 10041"/>
                  <a:gd name="connsiteX6" fmla="*/ 8721 w 10001"/>
                  <a:gd name="connsiteY6" fmla="*/ 9207 h 10041"/>
                  <a:gd name="connsiteX7" fmla="*/ 5449 w 10001"/>
                  <a:gd name="connsiteY7" fmla="*/ 9790 h 10041"/>
                  <a:gd name="connsiteX8" fmla="*/ 3914 w 10001"/>
                  <a:gd name="connsiteY8" fmla="*/ 9895 h 10041"/>
                  <a:gd name="connsiteX9" fmla="*/ 2716 w 10001"/>
                  <a:gd name="connsiteY9" fmla="*/ 7797 h 10041"/>
                  <a:gd name="connsiteX10" fmla="*/ 1479 w 10001"/>
                  <a:gd name="connsiteY10" fmla="*/ 7402 h 10041"/>
                  <a:gd name="connsiteX11" fmla="*/ 4 w 10001"/>
                  <a:gd name="connsiteY11" fmla="*/ 3989 h 10041"/>
                  <a:gd name="connsiteX0" fmla="*/ 4 w 10001"/>
                  <a:gd name="connsiteY0" fmla="*/ 3989 h 14825"/>
                  <a:gd name="connsiteX1" fmla="*/ 890 w 10001"/>
                  <a:gd name="connsiteY1" fmla="*/ 1575 h 14825"/>
                  <a:gd name="connsiteX2" fmla="*/ 3902 w 10001"/>
                  <a:gd name="connsiteY2" fmla="*/ 993 h 14825"/>
                  <a:gd name="connsiteX3" fmla="*/ 6227 w 10001"/>
                  <a:gd name="connsiteY3" fmla="*/ 0 h 14825"/>
                  <a:gd name="connsiteX4" fmla="*/ 8378 w 10001"/>
                  <a:gd name="connsiteY4" fmla="*/ 996 h 14825"/>
                  <a:gd name="connsiteX5" fmla="*/ 9998 w 10001"/>
                  <a:gd name="connsiteY5" fmla="*/ 5748 h 14825"/>
                  <a:gd name="connsiteX6" fmla="*/ 8721 w 10001"/>
                  <a:gd name="connsiteY6" fmla="*/ 9207 h 14825"/>
                  <a:gd name="connsiteX7" fmla="*/ 6011 w 10001"/>
                  <a:gd name="connsiteY7" fmla="*/ 14823 h 14825"/>
                  <a:gd name="connsiteX8" fmla="*/ 3914 w 10001"/>
                  <a:gd name="connsiteY8" fmla="*/ 9895 h 14825"/>
                  <a:gd name="connsiteX9" fmla="*/ 2716 w 10001"/>
                  <a:gd name="connsiteY9" fmla="*/ 7797 h 14825"/>
                  <a:gd name="connsiteX10" fmla="*/ 1479 w 10001"/>
                  <a:gd name="connsiteY10" fmla="*/ 7402 h 14825"/>
                  <a:gd name="connsiteX11" fmla="*/ 4 w 10001"/>
                  <a:gd name="connsiteY11" fmla="*/ 3989 h 14825"/>
                  <a:gd name="connsiteX0" fmla="*/ 4 w 10001"/>
                  <a:gd name="connsiteY0" fmla="*/ 7436 h 18272"/>
                  <a:gd name="connsiteX1" fmla="*/ 890 w 10001"/>
                  <a:gd name="connsiteY1" fmla="*/ 5022 h 18272"/>
                  <a:gd name="connsiteX2" fmla="*/ 3902 w 10001"/>
                  <a:gd name="connsiteY2" fmla="*/ 4440 h 18272"/>
                  <a:gd name="connsiteX3" fmla="*/ 6026 w 10001"/>
                  <a:gd name="connsiteY3" fmla="*/ 0 h 18272"/>
                  <a:gd name="connsiteX4" fmla="*/ 8378 w 10001"/>
                  <a:gd name="connsiteY4" fmla="*/ 4443 h 18272"/>
                  <a:gd name="connsiteX5" fmla="*/ 9998 w 10001"/>
                  <a:gd name="connsiteY5" fmla="*/ 9195 h 18272"/>
                  <a:gd name="connsiteX6" fmla="*/ 8721 w 10001"/>
                  <a:gd name="connsiteY6" fmla="*/ 12654 h 18272"/>
                  <a:gd name="connsiteX7" fmla="*/ 6011 w 10001"/>
                  <a:gd name="connsiteY7" fmla="*/ 18270 h 18272"/>
                  <a:gd name="connsiteX8" fmla="*/ 3914 w 10001"/>
                  <a:gd name="connsiteY8" fmla="*/ 13342 h 18272"/>
                  <a:gd name="connsiteX9" fmla="*/ 2716 w 10001"/>
                  <a:gd name="connsiteY9" fmla="*/ 11244 h 18272"/>
                  <a:gd name="connsiteX10" fmla="*/ 1479 w 10001"/>
                  <a:gd name="connsiteY10" fmla="*/ 10849 h 18272"/>
                  <a:gd name="connsiteX11" fmla="*/ 4 w 10001"/>
                  <a:gd name="connsiteY11" fmla="*/ 7436 h 18272"/>
                  <a:gd name="connsiteX0" fmla="*/ 1 w 9998"/>
                  <a:gd name="connsiteY0" fmla="*/ 7436 h 18272"/>
                  <a:gd name="connsiteX1" fmla="*/ 3899 w 9998"/>
                  <a:gd name="connsiteY1" fmla="*/ 4440 h 18272"/>
                  <a:gd name="connsiteX2" fmla="*/ 6023 w 9998"/>
                  <a:gd name="connsiteY2" fmla="*/ 0 h 18272"/>
                  <a:gd name="connsiteX3" fmla="*/ 8375 w 9998"/>
                  <a:gd name="connsiteY3" fmla="*/ 4443 h 18272"/>
                  <a:gd name="connsiteX4" fmla="*/ 9995 w 9998"/>
                  <a:gd name="connsiteY4" fmla="*/ 9195 h 18272"/>
                  <a:gd name="connsiteX5" fmla="*/ 8718 w 9998"/>
                  <a:gd name="connsiteY5" fmla="*/ 12654 h 18272"/>
                  <a:gd name="connsiteX6" fmla="*/ 6008 w 9998"/>
                  <a:gd name="connsiteY6" fmla="*/ 18270 h 18272"/>
                  <a:gd name="connsiteX7" fmla="*/ 3911 w 9998"/>
                  <a:gd name="connsiteY7" fmla="*/ 13342 h 18272"/>
                  <a:gd name="connsiteX8" fmla="*/ 2713 w 9998"/>
                  <a:gd name="connsiteY8" fmla="*/ 11244 h 18272"/>
                  <a:gd name="connsiteX9" fmla="*/ 1476 w 9998"/>
                  <a:gd name="connsiteY9" fmla="*/ 10849 h 18272"/>
                  <a:gd name="connsiteX10" fmla="*/ 1 w 9998"/>
                  <a:gd name="connsiteY10" fmla="*/ 7436 h 18272"/>
                  <a:gd name="connsiteX0" fmla="*/ 35 w 8559"/>
                  <a:gd name="connsiteY0" fmla="*/ 5938 h 10000"/>
                  <a:gd name="connsiteX1" fmla="*/ 2459 w 8559"/>
                  <a:gd name="connsiteY1" fmla="*/ 2430 h 10000"/>
                  <a:gd name="connsiteX2" fmla="*/ 4583 w 8559"/>
                  <a:gd name="connsiteY2" fmla="*/ 0 h 10000"/>
                  <a:gd name="connsiteX3" fmla="*/ 6936 w 8559"/>
                  <a:gd name="connsiteY3" fmla="*/ 2432 h 10000"/>
                  <a:gd name="connsiteX4" fmla="*/ 8556 w 8559"/>
                  <a:gd name="connsiteY4" fmla="*/ 5032 h 10000"/>
                  <a:gd name="connsiteX5" fmla="*/ 7279 w 8559"/>
                  <a:gd name="connsiteY5" fmla="*/ 6925 h 10000"/>
                  <a:gd name="connsiteX6" fmla="*/ 4568 w 8559"/>
                  <a:gd name="connsiteY6" fmla="*/ 9999 h 10000"/>
                  <a:gd name="connsiteX7" fmla="*/ 2471 w 8559"/>
                  <a:gd name="connsiteY7" fmla="*/ 7302 h 10000"/>
                  <a:gd name="connsiteX8" fmla="*/ 1273 w 8559"/>
                  <a:gd name="connsiteY8" fmla="*/ 6154 h 10000"/>
                  <a:gd name="connsiteX9" fmla="*/ 35 w 8559"/>
                  <a:gd name="connsiteY9" fmla="*/ 5938 h 10000"/>
                  <a:gd name="connsiteX0" fmla="*/ 49 w 9820"/>
                  <a:gd name="connsiteY0" fmla="*/ 4655 h 10000"/>
                  <a:gd name="connsiteX1" fmla="*/ 2693 w 9820"/>
                  <a:gd name="connsiteY1" fmla="*/ 2430 h 10000"/>
                  <a:gd name="connsiteX2" fmla="*/ 5175 w 9820"/>
                  <a:gd name="connsiteY2" fmla="*/ 0 h 10000"/>
                  <a:gd name="connsiteX3" fmla="*/ 7924 w 9820"/>
                  <a:gd name="connsiteY3" fmla="*/ 2432 h 10000"/>
                  <a:gd name="connsiteX4" fmla="*/ 9816 w 9820"/>
                  <a:gd name="connsiteY4" fmla="*/ 5032 h 10000"/>
                  <a:gd name="connsiteX5" fmla="*/ 8324 w 9820"/>
                  <a:gd name="connsiteY5" fmla="*/ 6925 h 10000"/>
                  <a:gd name="connsiteX6" fmla="*/ 5157 w 9820"/>
                  <a:gd name="connsiteY6" fmla="*/ 9999 h 10000"/>
                  <a:gd name="connsiteX7" fmla="*/ 2707 w 9820"/>
                  <a:gd name="connsiteY7" fmla="*/ 7302 h 10000"/>
                  <a:gd name="connsiteX8" fmla="*/ 1307 w 9820"/>
                  <a:gd name="connsiteY8" fmla="*/ 6154 h 10000"/>
                  <a:gd name="connsiteX9" fmla="*/ 49 w 9820"/>
                  <a:gd name="connsiteY9" fmla="*/ 4655 h 10000"/>
                  <a:gd name="connsiteX0" fmla="*/ 45 w 9995"/>
                  <a:gd name="connsiteY0" fmla="*/ 4655 h 10000"/>
                  <a:gd name="connsiteX1" fmla="*/ 2737 w 9995"/>
                  <a:gd name="connsiteY1" fmla="*/ 2430 h 10000"/>
                  <a:gd name="connsiteX2" fmla="*/ 5265 w 9995"/>
                  <a:gd name="connsiteY2" fmla="*/ 0 h 10000"/>
                  <a:gd name="connsiteX3" fmla="*/ 8064 w 9995"/>
                  <a:gd name="connsiteY3" fmla="*/ 2432 h 10000"/>
                  <a:gd name="connsiteX4" fmla="*/ 9991 w 9995"/>
                  <a:gd name="connsiteY4" fmla="*/ 5032 h 10000"/>
                  <a:gd name="connsiteX5" fmla="*/ 8472 w 9995"/>
                  <a:gd name="connsiteY5" fmla="*/ 6925 h 10000"/>
                  <a:gd name="connsiteX6" fmla="*/ 5247 w 9995"/>
                  <a:gd name="connsiteY6" fmla="*/ 9999 h 10000"/>
                  <a:gd name="connsiteX7" fmla="*/ 2752 w 9995"/>
                  <a:gd name="connsiteY7" fmla="*/ 7302 h 10000"/>
                  <a:gd name="connsiteX8" fmla="*/ 1374 w 9995"/>
                  <a:gd name="connsiteY8" fmla="*/ 6984 h 10000"/>
                  <a:gd name="connsiteX9" fmla="*/ 45 w 9995"/>
                  <a:gd name="connsiteY9" fmla="*/ 4655 h 10000"/>
                  <a:gd name="connsiteX0" fmla="*/ 45 w 10000"/>
                  <a:gd name="connsiteY0" fmla="*/ 5032 h 10377"/>
                  <a:gd name="connsiteX1" fmla="*/ 2738 w 10000"/>
                  <a:gd name="connsiteY1" fmla="*/ 2807 h 10377"/>
                  <a:gd name="connsiteX2" fmla="*/ 4886 w 10000"/>
                  <a:gd name="connsiteY2" fmla="*/ 0 h 10377"/>
                  <a:gd name="connsiteX3" fmla="*/ 8068 w 10000"/>
                  <a:gd name="connsiteY3" fmla="*/ 2809 h 10377"/>
                  <a:gd name="connsiteX4" fmla="*/ 9996 w 10000"/>
                  <a:gd name="connsiteY4" fmla="*/ 5409 h 10377"/>
                  <a:gd name="connsiteX5" fmla="*/ 8476 w 10000"/>
                  <a:gd name="connsiteY5" fmla="*/ 7302 h 10377"/>
                  <a:gd name="connsiteX6" fmla="*/ 5250 w 10000"/>
                  <a:gd name="connsiteY6" fmla="*/ 10376 h 10377"/>
                  <a:gd name="connsiteX7" fmla="*/ 2753 w 10000"/>
                  <a:gd name="connsiteY7" fmla="*/ 7679 h 10377"/>
                  <a:gd name="connsiteX8" fmla="*/ 1375 w 10000"/>
                  <a:gd name="connsiteY8" fmla="*/ 7361 h 10377"/>
                  <a:gd name="connsiteX9" fmla="*/ 45 w 10000"/>
                  <a:gd name="connsiteY9" fmla="*/ 5032 h 10377"/>
                  <a:gd name="connsiteX0" fmla="*/ 45 w 10000"/>
                  <a:gd name="connsiteY0" fmla="*/ 5036 h 10381"/>
                  <a:gd name="connsiteX1" fmla="*/ 2738 w 10000"/>
                  <a:gd name="connsiteY1" fmla="*/ 2811 h 10381"/>
                  <a:gd name="connsiteX2" fmla="*/ 4886 w 10000"/>
                  <a:gd name="connsiteY2" fmla="*/ 4 h 10381"/>
                  <a:gd name="connsiteX3" fmla="*/ 8068 w 10000"/>
                  <a:gd name="connsiteY3" fmla="*/ 2813 h 10381"/>
                  <a:gd name="connsiteX4" fmla="*/ 9996 w 10000"/>
                  <a:gd name="connsiteY4" fmla="*/ 5413 h 10381"/>
                  <a:gd name="connsiteX5" fmla="*/ 8476 w 10000"/>
                  <a:gd name="connsiteY5" fmla="*/ 7306 h 10381"/>
                  <a:gd name="connsiteX6" fmla="*/ 5250 w 10000"/>
                  <a:gd name="connsiteY6" fmla="*/ 10380 h 10381"/>
                  <a:gd name="connsiteX7" fmla="*/ 2753 w 10000"/>
                  <a:gd name="connsiteY7" fmla="*/ 7683 h 10381"/>
                  <a:gd name="connsiteX8" fmla="*/ 1375 w 10000"/>
                  <a:gd name="connsiteY8" fmla="*/ 7365 h 10381"/>
                  <a:gd name="connsiteX9" fmla="*/ 45 w 10000"/>
                  <a:gd name="connsiteY9" fmla="*/ 5036 h 10381"/>
                  <a:gd name="connsiteX0" fmla="*/ 45 w 10000"/>
                  <a:gd name="connsiteY0" fmla="*/ 5036 h 10796"/>
                  <a:gd name="connsiteX1" fmla="*/ 2738 w 10000"/>
                  <a:gd name="connsiteY1" fmla="*/ 2811 h 10796"/>
                  <a:gd name="connsiteX2" fmla="*/ 4886 w 10000"/>
                  <a:gd name="connsiteY2" fmla="*/ 4 h 10796"/>
                  <a:gd name="connsiteX3" fmla="*/ 8068 w 10000"/>
                  <a:gd name="connsiteY3" fmla="*/ 2813 h 10796"/>
                  <a:gd name="connsiteX4" fmla="*/ 9996 w 10000"/>
                  <a:gd name="connsiteY4" fmla="*/ 5413 h 10796"/>
                  <a:gd name="connsiteX5" fmla="*/ 8476 w 10000"/>
                  <a:gd name="connsiteY5" fmla="*/ 7306 h 10796"/>
                  <a:gd name="connsiteX6" fmla="*/ 5202 w 10000"/>
                  <a:gd name="connsiteY6" fmla="*/ 10795 h 10796"/>
                  <a:gd name="connsiteX7" fmla="*/ 2753 w 10000"/>
                  <a:gd name="connsiteY7" fmla="*/ 7683 h 10796"/>
                  <a:gd name="connsiteX8" fmla="*/ 1375 w 10000"/>
                  <a:gd name="connsiteY8" fmla="*/ 7365 h 10796"/>
                  <a:gd name="connsiteX9" fmla="*/ 45 w 10000"/>
                  <a:gd name="connsiteY9" fmla="*/ 5036 h 10796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  <a:gd name="connsiteX0" fmla="*/ 4 w 9959"/>
                  <a:gd name="connsiteY0" fmla="*/ 5593 h 11352"/>
                  <a:gd name="connsiteX1" fmla="*/ 1089 w 9959"/>
                  <a:gd name="connsiteY1" fmla="*/ 469 h 11352"/>
                  <a:gd name="connsiteX2" fmla="*/ 4845 w 9959"/>
                  <a:gd name="connsiteY2" fmla="*/ 561 h 11352"/>
                  <a:gd name="connsiteX3" fmla="*/ 8027 w 9959"/>
                  <a:gd name="connsiteY3" fmla="*/ 3370 h 11352"/>
                  <a:gd name="connsiteX4" fmla="*/ 9955 w 9959"/>
                  <a:gd name="connsiteY4" fmla="*/ 5970 h 11352"/>
                  <a:gd name="connsiteX5" fmla="*/ 8435 w 9959"/>
                  <a:gd name="connsiteY5" fmla="*/ 7863 h 11352"/>
                  <a:gd name="connsiteX6" fmla="*/ 5161 w 9959"/>
                  <a:gd name="connsiteY6" fmla="*/ 11352 h 11352"/>
                  <a:gd name="connsiteX7" fmla="*/ 2712 w 9959"/>
                  <a:gd name="connsiteY7" fmla="*/ 8240 h 11352"/>
                  <a:gd name="connsiteX8" fmla="*/ 1334 w 9959"/>
                  <a:gd name="connsiteY8" fmla="*/ 7922 h 11352"/>
                  <a:gd name="connsiteX9" fmla="*/ 4 w 9959"/>
                  <a:gd name="connsiteY9" fmla="*/ 5593 h 11352"/>
                  <a:gd name="connsiteX0" fmla="*/ 0 w 11223"/>
                  <a:gd name="connsiteY0" fmla="*/ 3835 h 9929"/>
                  <a:gd name="connsiteX1" fmla="*/ 2316 w 11223"/>
                  <a:gd name="connsiteY1" fmla="*/ 342 h 9929"/>
                  <a:gd name="connsiteX2" fmla="*/ 6088 w 11223"/>
                  <a:gd name="connsiteY2" fmla="*/ 423 h 9929"/>
                  <a:gd name="connsiteX3" fmla="*/ 9283 w 11223"/>
                  <a:gd name="connsiteY3" fmla="*/ 2898 h 9929"/>
                  <a:gd name="connsiteX4" fmla="*/ 11219 w 11223"/>
                  <a:gd name="connsiteY4" fmla="*/ 5188 h 9929"/>
                  <a:gd name="connsiteX5" fmla="*/ 9693 w 11223"/>
                  <a:gd name="connsiteY5" fmla="*/ 6856 h 9929"/>
                  <a:gd name="connsiteX6" fmla="*/ 6405 w 11223"/>
                  <a:gd name="connsiteY6" fmla="*/ 9929 h 9929"/>
                  <a:gd name="connsiteX7" fmla="*/ 3946 w 11223"/>
                  <a:gd name="connsiteY7" fmla="*/ 7188 h 9929"/>
                  <a:gd name="connsiteX8" fmla="*/ 2562 w 11223"/>
                  <a:gd name="connsiteY8" fmla="*/ 6908 h 9929"/>
                  <a:gd name="connsiteX9" fmla="*/ 0 w 11223"/>
                  <a:gd name="connsiteY9" fmla="*/ 3835 h 9929"/>
                  <a:gd name="connsiteX0" fmla="*/ 0 w 9999"/>
                  <a:gd name="connsiteY0" fmla="*/ 3862 h 10000"/>
                  <a:gd name="connsiteX1" fmla="*/ 2064 w 9999"/>
                  <a:gd name="connsiteY1" fmla="*/ 344 h 10000"/>
                  <a:gd name="connsiteX2" fmla="*/ 5425 w 9999"/>
                  <a:gd name="connsiteY2" fmla="*/ 426 h 10000"/>
                  <a:gd name="connsiteX3" fmla="*/ 8271 w 9999"/>
                  <a:gd name="connsiteY3" fmla="*/ 2919 h 10000"/>
                  <a:gd name="connsiteX4" fmla="*/ 9996 w 9999"/>
                  <a:gd name="connsiteY4" fmla="*/ 5225 h 10000"/>
                  <a:gd name="connsiteX5" fmla="*/ 8637 w 9999"/>
                  <a:gd name="connsiteY5" fmla="*/ 6905 h 10000"/>
                  <a:gd name="connsiteX6" fmla="*/ 5707 w 9999"/>
                  <a:gd name="connsiteY6" fmla="*/ 10000 h 10000"/>
                  <a:gd name="connsiteX7" fmla="*/ 2283 w 9999"/>
                  <a:gd name="connsiteY7" fmla="*/ 6957 h 10000"/>
                  <a:gd name="connsiteX8" fmla="*/ 0 w 9999"/>
                  <a:gd name="connsiteY8" fmla="*/ 3862 h 10000"/>
                  <a:gd name="connsiteX0" fmla="*/ 124 w 10124"/>
                  <a:gd name="connsiteY0" fmla="*/ 3862 h 10000"/>
                  <a:gd name="connsiteX1" fmla="*/ 2188 w 10124"/>
                  <a:gd name="connsiteY1" fmla="*/ 344 h 10000"/>
                  <a:gd name="connsiteX2" fmla="*/ 5550 w 10124"/>
                  <a:gd name="connsiteY2" fmla="*/ 426 h 10000"/>
                  <a:gd name="connsiteX3" fmla="*/ 8396 w 10124"/>
                  <a:gd name="connsiteY3" fmla="*/ 2919 h 10000"/>
                  <a:gd name="connsiteX4" fmla="*/ 10121 w 10124"/>
                  <a:gd name="connsiteY4" fmla="*/ 5225 h 10000"/>
                  <a:gd name="connsiteX5" fmla="*/ 8762 w 10124"/>
                  <a:gd name="connsiteY5" fmla="*/ 6905 h 10000"/>
                  <a:gd name="connsiteX6" fmla="*/ 5832 w 10124"/>
                  <a:gd name="connsiteY6" fmla="*/ 10000 h 10000"/>
                  <a:gd name="connsiteX7" fmla="*/ 124 w 10124"/>
                  <a:gd name="connsiteY7" fmla="*/ 3862 h 10000"/>
                  <a:gd name="connsiteX0" fmla="*/ 43 w 10045"/>
                  <a:gd name="connsiteY0" fmla="*/ 3862 h 6912"/>
                  <a:gd name="connsiteX1" fmla="*/ 2107 w 10045"/>
                  <a:gd name="connsiteY1" fmla="*/ 344 h 6912"/>
                  <a:gd name="connsiteX2" fmla="*/ 5469 w 10045"/>
                  <a:gd name="connsiteY2" fmla="*/ 426 h 6912"/>
                  <a:gd name="connsiteX3" fmla="*/ 8315 w 10045"/>
                  <a:gd name="connsiteY3" fmla="*/ 2919 h 6912"/>
                  <a:gd name="connsiteX4" fmla="*/ 10040 w 10045"/>
                  <a:gd name="connsiteY4" fmla="*/ 5225 h 6912"/>
                  <a:gd name="connsiteX5" fmla="*/ 8681 w 10045"/>
                  <a:gd name="connsiteY5" fmla="*/ 6905 h 6912"/>
                  <a:gd name="connsiteX6" fmla="*/ 3967 w 10045"/>
                  <a:gd name="connsiteY6" fmla="*/ 5885 h 6912"/>
                  <a:gd name="connsiteX7" fmla="*/ 43 w 10045"/>
                  <a:gd name="connsiteY7" fmla="*/ 3862 h 6912"/>
                  <a:gd name="connsiteX0" fmla="*/ 47 w 10004"/>
                  <a:gd name="connsiteY0" fmla="*/ 5106 h 9519"/>
                  <a:gd name="connsiteX1" fmla="*/ 2102 w 10004"/>
                  <a:gd name="connsiteY1" fmla="*/ 17 h 9519"/>
                  <a:gd name="connsiteX2" fmla="*/ 6651 w 10004"/>
                  <a:gd name="connsiteY2" fmla="*/ 3484 h 9519"/>
                  <a:gd name="connsiteX3" fmla="*/ 8282 w 10004"/>
                  <a:gd name="connsiteY3" fmla="*/ 3742 h 9519"/>
                  <a:gd name="connsiteX4" fmla="*/ 9999 w 10004"/>
                  <a:gd name="connsiteY4" fmla="*/ 7078 h 9519"/>
                  <a:gd name="connsiteX5" fmla="*/ 8646 w 10004"/>
                  <a:gd name="connsiteY5" fmla="*/ 9509 h 9519"/>
                  <a:gd name="connsiteX6" fmla="*/ 3953 w 10004"/>
                  <a:gd name="connsiteY6" fmla="*/ 8033 h 9519"/>
                  <a:gd name="connsiteX7" fmla="*/ 47 w 10004"/>
                  <a:gd name="connsiteY7" fmla="*/ 5106 h 9519"/>
                  <a:gd name="connsiteX0" fmla="*/ 43 w 9996"/>
                  <a:gd name="connsiteY0" fmla="*/ 6232 h 10868"/>
                  <a:gd name="connsiteX1" fmla="*/ 2097 w 9996"/>
                  <a:gd name="connsiteY1" fmla="*/ 886 h 10868"/>
                  <a:gd name="connsiteX2" fmla="*/ 5642 w 9996"/>
                  <a:gd name="connsiteY2" fmla="*/ 385 h 10868"/>
                  <a:gd name="connsiteX3" fmla="*/ 8275 w 9996"/>
                  <a:gd name="connsiteY3" fmla="*/ 4799 h 10868"/>
                  <a:gd name="connsiteX4" fmla="*/ 9991 w 9996"/>
                  <a:gd name="connsiteY4" fmla="*/ 8304 h 10868"/>
                  <a:gd name="connsiteX5" fmla="*/ 8639 w 9996"/>
                  <a:gd name="connsiteY5" fmla="*/ 10857 h 10868"/>
                  <a:gd name="connsiteX6" fmla="*/ 3947 w 9996"/>
                  <a:gd name="connsiteY6" fmla="*/ 9307 h 10868"/>
                  <a:gd name="connsiteX7" fmla="*/ 43 w 9996"/>
                  <a:gd name="connsiteY7" fmla="*/ 6232 h 10868"/>
                  <a:gd name="connsiteX0" fmla="*/ 43 w 10004"/>
                  <a:gd name="connsiteY0" fmla="*/ 5543 h 9809"/>
                  <a:gd name="connsiteX1" fmla="*/ 2098 w 10004"/>
                  <a:gd name="connsiteY1" fmla="*/ 624 h 9809"/>
                  <a:gd name="connsiteX2" fmla="*/ 5644 w 10004"/>
                  <a:gd name="connsiteY2" fmla="*/ 163 h 9809"/>
                  <a:gd name="connsiteX3" fmla="*/ 8163 w 10004"/>
                  <a:gd name="connsiteY3" fmla="*/ 1492 h 9809"/>
                  <a:gd name="connsiteX4" fmla="*/ 9995 w 10004"/>
                  <a:gd name="connsiteY4" fmla="*/ 7450 h 9809"/>
                  <a:gd name="connsiteX5" fmla="*/ 8642 w 10004"/>
                  <a:gd name="connsiteY5" fmla="*/ 9799 h 9809"/>
                  <a:gd name="connsiteX6" fmla="*/ 3949 w 10004"/>
                  <a:gd name="connsiteY6" fmla="*/ 8373 h 9809"/>
                  <a:gd name="connsiteX7" fmla="*/ 43 w 10004"/>
                  <a:gd name="connsiteY7" fmla="*/ 5543 h 9809"/>
                  <a:gd name="connsiteX0" fmla="*/ 43 w 8950"/>
                  <a:gd name="connsiteY0" fmla="*/ 5651 h 10081"/>
                  <a:gd name="connsiteX1" fmla="*/ 2097 w 8950"/>
                  <a:gd name="connsiteY1" fmla="*/ 636 h 10081"/>
                  <a:gd name="connsiteX2" fmla="*/ 5642 w 8950"/>
                  <a:gd name="connsiteY2" fmla="*/ 166 h 10081"/>
                  <a:gd name="connsiteX3" fmla="*/ 8160 w 8950"/>
                  <a:gd name="connsiteY3" fmla="*/ 1521 h 10081"/>
                  <a:gd name="connsiteX4" fmla="*/ 8473 w 8950"/>
                  <a:gd name="connsiteY4" fmla="*/ 5322 h 10081"/>
                  <a:gd name="connsiteX5" fmla="*/ 8639 w 8950"/>
                  <a:gd name="connsiteY5" fmla="*/ 9990 h 10081"/>
                  <a:gd name="connsiteX6" fmla="*/ 3947 w 8950"/>
                  <a:gd name="connsiteY6" fmla="*/ 8536 h 10081"/>
                  <a:gd name="connsiteX7" fmla="*/ 43 w 8950"/>
                  <a:gd name="connsiteY7" fmla="*/ 5651 h 10081"/>
                  <a:gd name="connsiteX0" fmla="*/ 48 w 9651"/>
                  <a:gd name="connsiteY0" fmla="*/ 5606 h 8648"/>
                  <a:gd name="connsiteX1" fmla="*/ 2343 w 9651"/>
                  <a:gd name="connsiteY1" fmla="*/ 631 h 8648"/>
                  <a:gd name="connsiteX2" fmla="*/ 6304 w 9651"/>
                  <a:gd name="connsiteY2" fmla="*/ 165 h 8648"/>
                  <a:gd name="connsiteX3" fmla="*/ 9117 w 9651"/>
                  <a:gd name="connsiteY3" fmla="*/ 1509 h 8648"/>
                  <a:gd name="connsiteX4" fmla="*/ 9467 w 9651"/>
                  <a:gd name="connsiteY4" fmla="*/ 5279 h 8648"/>
                  <a:gd name="connsiteX5" fmla="*/ 6997 w 9651"/>
                  <a:gd name="connsiteY5" fmla="*/ 8019 h 8648"/>
                  <a:gd name="connsiteX6" fmla="*/ 4410 w 9651"/>
                  <a:gd name="connsiteY6" fmla="*/ 8467 h 8648"/>
                  <a:gd name="connsiteX7" fmla="*/ 48 w 9651"/>
                  <a:gd name="connsiteY7" fmla="*/ 5606 h 8648"/>
                  <a:gd name="connsiteX0" fmla="*/ 41 w 9991"/>
                  <a:gd name="connsiteY0" fmla="*/ 6482 h 9316"/>
                  <a:gd name="connsiteX1" fmla="*/ 2419 w 9991"/>
                  <a:gd name="connsiteY1" fmla="*/ 730 h 9316"/>
                  <a:gd name="connsiteX2" fmla="*/ 6523 w 9991"/>
                  <a:gd name="connsiteY2" fmla="*/ 191 h 9316"/>
                  <a:gd name="connsiteX3" fmla="*/ 9438 w 9991"/>
                  <a:gd name="connsiteY3" fmla="*/ 1745 h 9316"/>
                  <a:gd name="connsiteX4" fmla="*/ 9800 w 9991"/>
                  <a:gd name="connsiteY4" fmla="*/ 6104 h 9316"/>
                  <a:gd name="connsiteX5" fmla="*/ 7241 w 9991"/>
                  <a:gd name="connsiteY5" fmla="*/ 9273 h 9316"/>
                  <a:gd name="connsiteX6" fmla="*/ 1411 w 9991"/>
                  <a:gd name="connsiteY6" fmla="*/ 7856 h 9316"/>
                  <a:gd name="connsiteX7" fmla="*/ 41 w 9991"/>
                  <a:gd name="connsiteY7" fmla="*/ 6482 h 9316"/>
                  <a:gd name="connsiteX0" fmla="*/ 19 w 10708"/>
                  <a:gd name="connsiteY0" fmla="*/ 7721 h 10038"/>
                  <a:gd name="connsiteX1" fmla="*/ 3129 w 10708"/>
                  <a:gd name="connsiteY1" fmla="*/ 825 h 10038"/>
                  <a:gd name="connsiteX2" fmla="*/ 7237 w 10708"/>
                  <a:gd name="connsiteY2" fmla="*/ 246 h 10038"/>
                  <a:gd name="connsiteX3" fmla="*/ 10155 w 10708"/>
                  <a:gd name="connsiteY3" fmla="*/ 1914 h 10038"/>
                  <a:gd name="connsiteX4" fmla="*/ 10517 w 10708"/>
                  <a:gd name="connsiteY4" fmla="*/ 6593 h 10038"/>
                  <a:gd name="connsiteX5" fmla="*/ 7956 w 10708"/>
                  <a:gd name="connsiteY5" fmla="*/ 9995 h 10038"/>
                  <a:gd name="connsiteX6" fmla="*/ 2120 w 10708"/>
                  <a:gd name="connsiteY6" fmla="*/ 8474 h 10038"/>
                  <a:gd name="connsiteX7" fmla="*/ 19 w 10708"/>
                  <a:gd name="connsiteY7" fmla="*/ 7721 h 10038"/>
                  <a:gd name="connsiteX0" fmla="*/ 359 w 11048"/>
                  <a:gd name="connsiteY0" fmla="*/ 7721 h 10038"/>
                  <a:gd name="connsiteX1" fmla="*/ 3469 w 11048"/>
                  <a:gd name="connsiteY1" fmla="*/ 825 h 10038"/>
                  <a:gd name="connsiteX2" fmla="*/ 7577 w 11048"/>
                  <a:gd name="connsiteY2" fmla="*/ 246 h 10038"/>
                  <a:gd name="connsiteX3" fmla="*/ 10495 w 11048"/>
                  <a:gd name="connsiteY3" fmla="*/ 1914 h 10038"/>
                  <a:gd name="connsiteX4" fmla="*/ 10857 w 11048"/>
                  <a:gd name="connsiteY4" fmla="*/ 6593 h 10038"/>
                  <a:gd name="connsiteX5" fmla="*/ 8296 w 11048"/>
                  <a:gd name="connsiteY5" fmla="*/ 9995 h 10038"/>
                  <a:gd name="connsiteX6" fmla="*/ 2460 w 11048"/>
                  <a:gd name="connsiteY6" fmla="*/ 8474 h 10038"/>
                  <a:gd name="connsiteX7" fmla="*/ 359 w 11048"/>
                  <a:gd name="connsiteY7" fmla="*/ 7721 h 10038"/>
                  <a:gd name="connsiteX0" fmla="*/ 359 w 11048"/>
                  <a:gd name="connsiteY0" fmla="*/ 8392 h 10075"/>
                  <a:gd name="connsiteX1" fmla="*/ 3469 w 11048"/>
                  <a:gd name="connsiteY1" fmla="*/ 864 h 10075"/>
                  <a:gd name="connsiteX2" fmla="*/ 7577 w 11048"/>
                  <a:gd name="connsiteY2" fmla="*/ 285 h 10075"/>
                  <a:gd name="connsiteX3" fmla="*/ 10495 w 11048"/>
                  <a:gd name="connsiteY3" fmla="*/ 1953 h 10075"/>
                  <a:gd name="connsiteX4" fmla="*/ 10857 w 11048"/>
                  <a:gd name="connsiteY4" fmla="*/ 6632 h 10075"/>
                  <a:gd name="connsiteX5" fmla="*/ 8296 w 11048"/>
                  <a:gd name="connsiteY5" fmla="*/ 10034 h 10075"/>
                  <a:gd name="connsiteX6" fmla="*/ 2460 w 11048"/>
                  <a:gd name="connsiteY6" fmla="*/ 8513 h 10075"/>
                  <a:gd name="connsiteX7" fmla="*/ 359 w 11048"/>
                  <a:gd name="connsiteY7" fmla="*/ 8392 h 10075"/>
                  <a:gd name="connsiteX0" fmla="*/ 371 w 11060"/>
                  <a:gd name="connsiteY0" fmla="*/ 8392 h 10075"/>
                  <a:gd name="connsiteX1" fmla="*/ 3481 w 11060"/>
                  <a:gd name="connsiteY1" fmla="*/ 864 h 10075"/>
                  <a:gd name="connsiteX2" fmla="*/ 7589 w 11060"/>
                  <a:gd name="connsiteY2" fmla="*/ 285 h 10075"/>
                  <a:gd name="connsiteX3" fmla="*/ 10507 w 11060"/>
                  <a:gd name="connsiteY3" fmla="*/ 1953 h 10075"/>
                  <a:gd name="connsiteX4" fmla="*/ 10869 w 11060"/>
                  <a:gd name="connsiteY4" fmla="*/ 6632 h 10075"/>
                  <a:gd name="connsiteX5" fmla="*/ 8308 w 11060"/>
                  <a:gd name="connsiteY5" fmla="*/ 10034 h 10075"/>
                  <a:gd name="connsiteX6" fmla="*/ 2472 w 11060"/>
                  <a:gd name="connsiteY6" fmla="*/ 8513 h 10075"/>
                  <a:gd name="connsiteX7" fmla="*/ 371 w 11060"/>
                  <a:gd name="connsiteY7" fmla="*/ 8392 h 10075"/>
                  <a:gd name="connsiteX0" fmla="*/ 54 w 10743"/>
                  <a:gd name="connsiteY0" fmla="*/ 9468 h 11151"/>
                  <a:gd name="connsiteX1" fmla="*/ 4027 w 10743"/>
                  <a:gd name="connsiteY1" fmla="*/ 495 h 11151"/>
                  <a:gd name="connsiteX2" fmla="*/ 7272 w 10743"/>
                  <a:gd name="connsiteY2" fmla="*/ 1361 h 11151"/>
                  <a:gd name="connsiteX3" fmla="*/ 10190 w 10743"/>
                  <a:gd name="connsiteY3" fmla="*/ 3029 h 11151"/>
                  <a:gd name="connsiteX4" fmla="*/ 10552 w 10743"/>
                  <a:gd name="connsiteY4" fmla="*/ 7708 h 11151"/>
                  <a:gd name="connsiteX5" fmla="*/ 7991 w 10743"/>
                  <a:gd name="connsiteY5" fmla="*/ 11110 h 11151"/>
                  <a:gd name="connsiteX6" fmla="*/ 2155 w 10743"/>
                  <a:gd name="connsiteY6" fmla="*/ 9589 h 11151"/>
                  <a:gd name="connsiteX7" fmla="*/ 54 w 10743"/>
                  <a:gd name="connsiteY7" fmla="*/ 9468 h 11151"/>
                  <a:gd name="connsiteX0" fmla="*/ 54 w 10743"/>
                  <a:gd name="connsiteY0" fmla="*/ 9506 h 11189"/>
                  <a:gd name="connsiteX1" fmla="*/ 4027 w 10743"/>
                  <a:gd name="connsiteY1" fmla="*/ 533 h 11189"/>
                  <a:gd name="connsiteX2" fmla="*/ 7272 w 10743"/>
                  <a:gd name="connsiteY2" fmla="*/ 1399 h 11189"/>
                  <a:gd name="connsiteX3" fmla="*/ 10190 w 10743"/>
                  <a:gd name="connsiteY3" fmla="*/ 3067 h 11189"/>
                  <a:gd name="connsiteX4" fmla="*/ 10552 w 10743"/>
                  <a:gd name="connsiteY4" fmla="*/ 7746 h 11189"/>
                  <a:gd name="connsiteX5" fmla="*/ 7991 w 10743"/>
                  <a:gd name="connsiteY5" fmla="*/ 11148 h 11189"/>
                  <a:gd name="connsiteX6" fmla="*/ 2155 w 10743"/>
                  <a:gd name="connsiteY6" fmla="*/ 9627 h 11189"/>
                  <a:gd name="connsiteX7" fmla="*/ 54 w 10743"/>
                  <a:gd name="connsiteY7" fmla="*/ 9506 h 11189"/>
                  <a:gd name="connsiteX0" fmla="*/ 40 w 11293"/>
                  <a:gd name="connsiteY0" fmla="*/ 9082 h 11127"/>
                  <a:gd name="connsiteX1" fmla="*/ 4577 w 11293"/>
                  <a:gd name="connsiteY1" fmla="*/ 470 h 11127"/>
                  <a:gd name="connsiteX2" fmla="*/ 7822 w 11293"/>
                  <a:gd name="connsiteY2" fmla="*/ 1336 h 11127"/>
                  <a:gd name="connsiteX3" fmla="*/ 10740 w 11293"/>
                  <a:gd name="connsiteY3" fmla="*/ 3004 h 11127"/>
                  <a:gd name="connsiteX4" fmla="*/ 11102 w 11293"/>
                  <a:gd name="connsiteY4" fmla="*/ 7683 h 11127"/>
                  <a:gd name="connsiteX5" fmla="*/ 8541 w 11293"/>
                  <a:gd name="connsiteY5" fmla="*/ 11085 h 11127"/>
                  <a:gd name="connsiteX6" fmla="*/ 2705 w 11293"/>
                  <a:gd name="connsiteY6" fmla="*/ 9564 h 11127"/>
                  <a:gd name="connsiteX7" fmla="*/ 40 w 11293"/>
                  <a:gd name="connsiteY7" fmla="*/ 9082 h 11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293" h="11127">
                    <a:moveTo>
                      <a:pt x="40" y="9082"/>
                    </a:moveTo>
                    <a:cubicBezTo>
                      <a:pt x="352" y="7566"/>
                      <a:pt x="3280" y="1761"/>
                      <a:pt x="4577" y="470"/>
                    </a:cubicBezTo>
                    <a:cubicBezTo>
                      <a:pt x="5874" y="-821"/>
                      <a:pt x="6795" y="914"/>
                      <a:pt x="7822" y="1336"/>
                    </a:cubicBezTo>
                    <a:cubicBezTo>
                      <a:pt x="8849" y="1758"/>
                      <a:pt x="10193" y="1947"/>
                      <a:pt x="10740" y="3004"/>
                    </a:cubicBezTo>
                    <a:cubicBezTo>
                      <a:pt x="11287" y="4061"/>
                      <a:pt x="11468" y="6337"/>
                      <a:pt x="11102" y="7683"/>
                    </a:cubicBezTo>
                    <a:cubicBezTo>
                      <a:pt x="10736" y="9030"/>
                      <a:pt x="9940" y="10771"/>
                      <a:pt x="8541" y="11085"/>
                    </a:cubicBezTo>
                    <a:cubicBezTo>
                      <a:pt x="7141" y="11398"/>
                      <a:pt x="4122" y="9898"/>
                      <a:pt x="2705" y="9564"/>
                    </a:cubicBezTo>
                    <a:cubicBezTo>
                      <a:pt x="1288" y="9230"/>
                      <a:pt x="-272" y="10598"/>
                      <a:pt x="40" y="9082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08" name="Group 327"/>
              <p:cNvGrpSpPr>
                <a:grpSpLocks/>
              </p:cNvGrpSpPr>
              <p:nvPr/>
            </p:nvGrpSpPr>
            <p:grpSpPr bwMode="auto">
              <a:xfrm>
                <a:off x="7908175" y="5241780"/>
                <a:ext cx="536554" cy="263548"/>
                <a:chOff x="1871277" y="1576300"/>
                <a:chExt cx="1128371" cy="437861"/>
              </a:xfrm>
            </p:grpSpPr>
            <p:sp>
              <p:nvSpPr>
                <p:cNvPr id="212" name="Oval 373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solidFill>
                        <a:prstClr val="black"/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" name="Rectangle 374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" name="Oval 375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solidFill>
                        <a:prstClr val="black"/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5" name="Freeform 376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6" name="Freeform 377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7" name="Freeform 378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8" name="Freeform 379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219" name="Straight Connector 380"/>
                <p:cNvCxnSpPr>
                  <a:endCxn id="214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381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370"/>
              <p:cNvGrpSpPr/>
              <p:nvPr/>
            </p:nvGrpSpPr>
            <p:grpSpPr>
              <a:xfrm>
                <a:off x="7943996" y="5223365"/>
                <a:ext cx="390467" cy="369332"/>
                <a:chOff x="670504" y="1708643"/>
                <a:chExt cx="411278" cy="409344"/>
              </a:xfrm>
            </p:grpSpPr>
            <p:sp>
              <p:nvSpPr>
                <p:cNvPr id="210" name="Oval 371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" name="TextBox 210"/>
                <p:cNvSpPr txBox="1"/>
                <p:nvPr/>
              </p:nvSpPr>
              <p:spPr>
                <a:xfrm>
                  <a:off x="670504" y="1708643"/>
                  <a:ext cx="349760" cy="4093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等线" panose="020F0502020204030204"/>
                      <a:ea typeface="+mn-ea"/>
                      <a:cs typeface="+mn-cs"/>
                    </a:rPr>
                    <a:t>  X</a:t>
                  </a:r>
                </a:p>
              </p:txBody>
            </p:sp>
          </p:grpSp>
        </p:grpSp>
        <p:cxnSp>
          <p:nvCxnSpPr>
            <p:cNvPr id="206" name="Straight Connector 401"/>
            <p:cNvCxnSpPr/>
            <p:nvPr/>
          </p:nvCxnSpPr>
          <p:spPr bwMode="auto">
            <a:xfrm flipH="1">
              <a:off x="7133690" y="5764030"/>
              <a:ext cx="870024" cy="999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1" name="Group 6"/>
          <p:cNvGrpSpPr/>
          <p:nvPr/>
        </p:nvGrpSpPr>
        <p:grpSpPr>
          <a:xfrm>
            <a:off x="7617925" y="2379268"/>
            <a:ext cx="1080508" cy="768350"/>
            <a:chOff x="5713444" y="2379268"/>
            <a:chExt cx="810381" cy="768350"/>
          </a:xfrm>
        </p:grpSpPr>
        <p:sp>
          <p:nvSpPr>
            <p:cNvPr id="222" name="AutoShape 118"/>
            <p:cNvSpPr>
              <a:spLocks noChangeArrowheads="1"/>
            </p:cNvSpPr>
            <p:nvPr/>
          </p:nvSpPr>
          <p:spPr bwMode="auto">
            <a:xfrm rot="17597965">
              <a:off x="5467382" y="2625330"/>
              <a:ext cx="768350" cy="276226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223" name="Text Box 119"/>
            <p:cNvSpPr txBox="1">
              <a:spLocks noChangeArrowheads="1"/>
            </p:cNvSpPr>
            <p:nvPr/>
          </p:nvSpPr>
          <p:spPr bwMode="auto">
            <a:xfrm>
              <a:off x="5906829" y="2784958"/>
              <a:ext cx="616996" cy="3016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AS3,X </a:t>
              </a:r>
            </a:p>
          </p:txBody>
        </p:sp>
      </p:grpSp>
      <p:grpSp>
        <p:nvGrpSpPr>
          <p:cNvPr id="224" name="Group 5"/>
          <p:cNvGrpSpPr/>
          <p:nvPr/>
        </p:nvGrpSpPr>
        <p:grpSpPr>
          <a:xfrm>
            <a:off x="2705105" y="2438605"/>
            <a:ext cx="1637764" cy="882449"/>
            <a:chOff x="2028828" y="2438604"/>
            <a:chExt cx="1228323" cy="882449"/>
          </a:xfrm>
        </p:grpSpPr>
        <p:sp>
          <p:nvSpPr>
            <p:cNvPr id="225" name="Text Box 119"/>
            <p:cNvSpPr txBox="1">
              <a:spLocks noChangeArrowheads="1"/>
            </p:cNvSpPr>
            <p:nvPr/>
          </p:nvSpPr>
          <p:spPr bwMode="auto">
            <a:xfrm>
              <a:off x="2028828" y="3019432"/>
              <a:ext cx="950020" cy="3016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AS2,AS3,X </a:t>
              </a:r>
            </a:p>
          </p:txBody>
        </p:sp>
        <p:sp>
          <p:nvSpPr>
            <p:cNvPr id="226" name="AutoShape 118"/>
            <p:cNvSpPr>
              <a:spLocks noChangeArrowheads="1"/>
            </p:cNvSpPr>
            <p:nvPr/>
          </p:nvSpPr>
          <p:spPr bwMode="auto">
            <a:xfrm rot="3445218">
              <a:off x="2734864" y="2684666"/>
              <a:ext cx="768350" cy="276225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</p:grpSp>
      <p:sp>
        <p:nvSpPr>
          <p:cNvPr id="227" name="Rectangle 4"/>
          <p:cNvSpPr txBox="1">
            <a:spLocks noChangeArrowheads="1"/>
          </p:cNvSpPr>
          <p:nvPr/>
        </p:nvSpPr>
        <p:spPr bwMode="auto">
          <a:xfrm>
            <a:off x="838200" y="4246362"/>
            <a:ext cx="10515600" cy="2175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214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路由器可能会学到多条到目的网络的路径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:</a:t>
            </a: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AS1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的路由器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1c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2a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学到路径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AS2,  AS3, X</a:t>
            </a: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AS1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的路由器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1c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3a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学到路径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AS3, X</a:t>
            </a: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由策略，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AS1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路由器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1c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可能选择路径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AS3, X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并在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AS1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中通过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iBGP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通告路径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ts val="214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Ø"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28" name="Group 4"/>
          <p:cNvGrpSpPr/>
          <p:nvPr/>
        </p:nvGrpSpPr>
        <p:grpSpPr>
          <a:xfrm>
            <a:off x="1859693" y="1902432"/>
            <a:ext cx="1491783" cy="826267"/>
            <a:chOff x="4052000" y="2820739"/>
            <a:chExt cx="1118837" cy="826267"/>
          </a:xfrm>
        </p:grpSpPr>
        <p:cxnSp>
          <p:nvCxnSpPr>
            <p:cNvPr id="229" name="Straight Arrow Connector 2"/>
            <p:cNvCxnSpPr/>
            <p:nvPr/>
          </p:nvCxnSpPr>
          <p:spPr bwMode="auto">
            <a:xfrm flipH="1" flipV="1">
              <a:off x="4769093" y="2820739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0" name="Straight Arrow Connector 329"/>
            <p:cNvCxnSpPr/>
            <p:nvPr/>
          </p:nvCxnSpPr>
          <p:spPr bwMode="auto">
            <a:xfrm flipH="1" flipV="1">
              <a:off x="4052000" y="3192229"/>
              <a:ext cx="1059565" cy="14171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1" name="Straight Arrow Connector 330"/>
            <p:cNvCxnSpPr/>
            <p:nvPr/>
          </p:nvCxnSpPr>
          <p:spPr bwMode="auto">
            <a:xfrm flipH="1">
              <a:off x="4748700" y="3344630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32" name="Straight Connector 324"/>
          <p:cNvCxnSpPr/>
          <p:nvPr/>
        </p:nvCxnSpPr>
        <p:spPr bwMode="auto">
          <a:xfrm flipH="1">
            <a:off x="4189498" y="2168220"/>
            <a:ext cx="3379604" cy="14521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33" name="Group 3"/>
          <p:cNvGrpSpPr/>
          <p:nvPr/>
        </p:nvGrpSpPr>
        <p:grpSpPr>
          <a:xfrm>
            <a:off x="6157281" y="1621327"/>
            <a:ext cx="1092933" cy="547957"/>
            <a:chOff x="4617960" y="1621326"/>
            <a:chExt cx="819700" cy="547957"/>
          </a:xfrm>
        </p:grpSpPr>
        <p:sp>
          <p:nvSpPr>
            <p:cNvPr id="234" name="AutoShape 118"/>
            <p:cNvSpPr>
              <a:spLocks noChangeArrowheads="1"/>
            </p:cNvSpPr>
            <p:nvPr/>
          </p:nvSpPr>
          <p:spPr bwMode="auto">
            <a:xfrm rot="21413181">
              <a:off x="4617960" y="1893058"/>
              <a:ext cx="768350" cy="276225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235" name="TextBox 234"/>
            <p:cNvSpPr txBox="1"/>
            <p:nvPr/>
          </p:nvSpPr>
          <p:spPr>
            <a:xfrm rot="21418560">
              <a:off x="4919249" y="1621326"/>
              <a:ext cx="5184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</a:rPr>
                <a:t>AS3,X</a:t>
              </a: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3230539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5.4.3 BGP-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外部网关路由协议</a:t>
            </a:r>
          </a:p>
        </p:txBody>
      </p:sp>
    </p:spTree>
    <p:extLst>
      <p:ext uri="{BB962C8B-B14F-4D97-AF65-F5344CB8AC3E}">
        <p14:creationId xmlns:p14="http://schemas.microsoft.com/office/powerpoint/2010/main" val="1886770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BGP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协议的特点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2600" dirty="0">
                <a:latin typeface="微软雅黑" pitchFamily="34" charset="-122"/>
                <a:ea typeface="微软雅黑" pitchFamily="34" charset="-122"/>
              </a:rPr>
              <a:t>BGP </a:t>
            </a:r>
            <a:r>
              <a:rPr lang="zh-CN" altLang="en-US" sz="2600" dirty="0">
                <a:latin typeface="微软雅黑" pitchFamily="34" charset="-122"/>
                <a:ea typeface="微软雅黑" pitchFamily="34" charset="-122"/>
              </a:rPr>
              <a:t>协议交换路由信息的结点数量级是</a:t>
            </a:r>
            <a:r>
              <a:rPr lang="zh-CN" altLang="en-US" sz="26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自治系统数的量级</a:t>
            </a:r>
            <a:endParaRPr lang="en-US" altLang="zh-CN" sz="26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600" dirty="0">
                <a:latin typeface="微软雅黑" pitchFamily="34" charset="-122"/>
                <a:ea typeface="微软雅黑" pitchFamily="34" charset="-122"/>
              </a:rPr>
              <a:t>每一个自治系统边界路由器的数目是很少的</a:t>
            </a:r>
            <a:endParaRPr lang="en-US" altLang="zh-CN" sz="2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600" dirty="0">
                <a:latin typeface="微软雅黑" pitchFamily="34" charset="-122"/>
                <a:ea typeface="微软雅黑" pitchFamily="34" charset="-122"/>
              </a:rPr>
              <a:t>在 </a:t>
            </a:r>
            <a:r>
              <a:rPr lang="en-US" altLang="zh-CN" sz="2600" dirty="0">
                <a:latin typeface="微软雅黑" pitchFamily="34" charset="-122"/>
                <a:ea typeface="微软雅黑" pitchFamily="34" charset="-122"/>
              </a:rPr>
              <a:t>BGP </a:t>
            </a:r>
            <a:r>
              <a:rPr lang="zh-CN" altLang="en-US" sz="2600" dirty="0">
                <a:latin typeface="微软雅黑" pitchFamily="34" charset="-122"/>
                <a:ea typeface="微软雅黑" pitchFamily="34" charset="-122"/>
              </a:rPr>
              <a:t>刚刚运行时，</a:t>
            </a:r>
            <a:r>
              <a:rPr lang="en-US" altLang="zh-CN" sz="2600" dirty="0">
                <a:latin typeface="微软雅黑" pitchFamily="34" charset="-122"/>
                <a:ea typeface="微软雅黑" pitchFamily="34" charset="-122"/>
              </a:rPr>
              <a:t>BGP </a:t>
            </a:r>
            <a:r>
              <a:rPr lang="zh-CN" altLang="en-US" sz="2600" dirty="0">
                <a:latin typeface="微软雅黑" pitchFamily="34" charset="-122"/>
                <a:ea typeface="微软雅黑" pitchFamily="34" charset="-122"/>
              </a:rPr>
              <a:t>的邻站是交换整个的 </a:t>
            </a:r>
            <a:r>
              <a:rPr lang="en-US" altLang="zh-CN" sz="2600" dirty="0">
                <a:latin typeface="微软雅黑" pitchFamily="34" charset="-122"/>
                <a:ea typeface="微软雅黑" pitchFamily="34" charset="-122"/>
              </a:rPr>
              <a:t>BGP </a:t>
            </a:r>
            <a:r>
              <a:rPr lang="zh-CN" altLang="en-US" sz="2600" dirty="0">
                <a:latin typeface="微软雅黑" pitchFamily="34" charset="-122"/>
                <a:ea typeface="微软雅黑" pitchFamily="34" charset="-122"/>
              </a:rPr>
              <a:t>路由表；以后只需要在发生变化时</a:t>
            </a:r>
            <a:r>
              <a:rPr lang="zh-CN" altLang="en-US" sz="26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更新有变化的部分</a:t>
            </a:r>
            <a:endParaRPr lang="en-US" altLang="zh-CN" sz="26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lvl="1">
              <a:lnSpc>
                <a:spcPct val="120000"/>
              </a:lnSpc>
              <a:buFont typeface="Wingdings" pitchFamily="2" charset="2"/>
              <a:buChar char="Ø"/>
            </a:pPr>
            <a:r>
              <a:rPr lang="en-US" altLang="zh-CN" sz="2600" dirty="0">
                <a:latin typeface="微软雅黑" pitchFamily="34" charset="-122"/>
                <a:ea typeface="微软雅黑" pitchFamily="34" charset="-122"/>
              </a:rPr>
              <a:t>BGP</a:t>
            </a:r>
            <a:r>
              <a:rPr lang="zh-CN" altLang="en-US" sz="2600" dirty="0">
                <a:latin typeface="微软雅黑" pitchFamily="34" charset="-122"/>
                <a:ea typeface="微软雅黑" pitchFamily="34" charset="-122"/>
              </a:rPr>
              <a:t>为每个</a:t>
            </a:r>
            <a:r>
              <a:rPr lang="en-US" altLang="zh-CN" sz="2600" dirty="0">
                <a:latin typeface="微软雅黑" pitchFamily="34" charset="-122"/>
                <a:ea typeface="微软雅黑" pitchFamily="34" charset="-122"/>
              </a:rPr>
              <a:t>AS</a:t>
            </a:r>
            <a:r>
              <a:rPr lang="zh-CN" altLang="en-US" sz="2600" dirty="0">
                <a:latin typeface="微软雅黑" pitchFamily="34" charset="-122"/>
                <a:ea typeface="微软雅黑" pitchFamily="34" charset="-122"/>
              </a:rPr>
              <a:t>提供：</a:t>
            </a:r>
            <a:endParaRPr lang="en-US" altLang="zh-CN" sz="2600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20000"/>
              </a:lnSpc>
              <a:defRPr/>
            </a:pPr>
            <a:r>
              <a:rPr lang="zh-CN" altLang="en-US" kern="0" dirty="0">
                <a:latin typeface="微软雅黑" pitchFamily="34" charset="-122"/>
                <a:ea typeface="微软雅黑" pitchFamily="34" charset="-122"/>
              </a:rPr>
              <a:t>从邻居</a:t>
            </a:r>
            <a:r>
              <a:rPr lang="en-US" altLang="zh-CN" kern="0" dirty="0">
                <a:latin typeface="微软雅黑" pitchFamily="34" charset="-122"/>
                <a:ea typeface="微软雅黑" pitchFamily="34" charset="-122"/>
              </a:rPr>
              <a:t>AS</a:t>
            </a:r>
            <a:r>
              <a:rPr lang="zh-CN" altLang="en-US" kern="0" dirty="0">
                <a:latin typeface="微软雅黑" pitchFamily="34" charset="-122"/>
                <a:ea typeface="微软雅黑" pitchFamily="34" charset="-122"/>
              </a:rPr>
              <a:t>获取网络可达信息 </a:t>
            </a:r>
            <a:r>
              <a:rPr lang="en-US" altLang="zh-CN" kern="0" dirty="0">
                <a:latin typeface="微软雅黑" pitchFamily="34" charset="-122"/>
                <a:ea typeface="微软雅黑" pitchFamily="34" charset="-122"/>
              </a:rPr>
              <a:t>( </a:t>
            </a:r>
            <a:r>
              <a:rPr lang="en-US" altLang="zh-CN" kern="0" dirty="0" err="1">
                <a:latin typeface="微软雅黑" pitchFamily="34" charset="-122"/>
                <a:ea typeface="微软雅黑" pitchFamily="34" charset="-122"/>
              </a:rPr>
              <a:t>eBGP</a:t>
            </a:r>
            <a:r>
              <a:rPr lang="zh-CN" altLang="en-US" kern="0" dirty="0">
                <a:latin typeface="微软雅黑" pitchFamily="34" charset="-122"/>
                <a:ea typeface="微软雅黑" pitchFamily="34" charset="-122"/>
              </a:rPr>
              <a:t>协议</a:t>
            </a:r>
            <a:r>
              <a:rPr lang="en-US" altLang="zh-CN" kern="0" dirty="0">
                <a:latin typeface="微软雅黑" pitchFamily="34" charset="-122"/>
                <a:ea typeface="微软雅黑" pitchFamily="34" charset="-122"/>
              </a:rPr>
              <a:t> )</a:t>
            </a:r>
          </a:p>
          <a:p>
            <a:pPr lvl="1">
              <a:lnSpc>
                <a:spcPct val="120000"/>
              </a:lnSpc>
              <a:defRPr/>
            </a:pPr>
            <a:r>
              <a:rPr lang="zh-CN" altLang="en-US" kern="0" dirty="0">
                <a:latin typeface="微软雅黑" pitchFamily="34" charset="-122"/>
                <a:ea typeface="微软雅黑" pitchFamily="34" charset="-122"/>
              </a:rPr>
              <a:t>传播可达信息给所有的域内路由器 </a:t>
            </a:r>
            <a:r>
              <a:rPr lang="en-US" altLang="zh-CN" kern="0" dirty="0">
                <a:latin typeface="微软雅黑" pitchFamily="34" charset="-122"/>
                <a:ea typeface="微软雅黑" pitchFamily="34" charset="-122"/>
              </a:rPr>
              <a:t>( </a:t>
            </a:r>
            <a:r>
              <a:rPr lang="en-US" altLang="zh-CN" kern="0" dirty="0" err="1">
                <a:latin typeface="微软雅黑" pitchFamily="34" charset="-122"/>
                <a:ea typeface="微软雅黑" pitchFamily="34" charset="-122"/>
              </a:rPr>
              <a:t>iBGP</a:t>
            </a:r>
            <a:r>
              <a:rPr lang="zh-CN" altLang="en-US" kern="0" dirty="0">
                <a:latin typeface="微软雅黑" pitchFamily="34" charset="-122"/>
                <a:ea typeface="微软雅黑" pitchFamily="34" charset="-122"/>
              </a:rPr>
              <a:t>协议</a:t>
            </a:r>
            <a:r>
              <a:rPr lang="en-US" altLang="zh-CN" kern="0" dirty="0">
                <a:latin typeface="微软雅黑" pitchFamily="34" charset="-122"/>
                <a:ea typeface="微软雅黑" pitchFamily="34" charset="-122"/>
              </a:rPr>
              <a:t> )</a:t>
            </a:r>
          </a:p>
          <a:p>
            <a:pPr lvl="1">
              <a:lnSpc>
                <a:spcPct val="120000"/>
              </a:lnSpc>
              <a:defRPr/>
            </a:pPr>
            <a:r>
              <a:rPr lang="zh-CN" altLang="en-US" kern="0" dirty="0">
                <a:latin typeface="微软雅黑" pitchFamily="34" charset="-122"/>
                <a:ea typeface="微软雅黑" pitchFamily="34" charset="-122"/>
              </a:rPr>
              <a:t>根据“可达信息”和“策略”决定路由</a:t>
            </a:r>
            <a:endParaRPr lang="en-US" altLang="zh-CN" kern="0" dirty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39779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5.4.3 BGP-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外部网关路由协议</a:t>
            </a:r>
          </a:p>
        </p:txBody>
      </p:sp>
    </p:spTree>
    <p:extLst>
      <p:ext uri="{BB962C8B-B14F-4D97-AF65-F5344CB8AC3E}">
        <p14:creationId xmlns:p14="http://schemas.microsoft.com/office/powerpoint/2010/main" val="3689654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BGP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报文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BGP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通过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TCP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179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端口交换报文</a:t>
            </a:r>
            <a:endParaRPr lang="en-US" altLang="zh-CN" dirty="0"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BGP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报文包括</a:t>
            </a:r>
            <a:endParaRPr lang="en-US" altLang="zh-CN" dirty="0"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</a:pPr>
            <a:r>
              <a:rPr lang="en-US" altLang="zh-CN" sz="26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Open</a:t>
            </a:r>
            <a:r>
              <a:rPr lang="zh-CN" altLang="en-US" sz="26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报文</a:t>
            </a:r>
            <a:r>
              <a:rPr lang="zh-CN" altLang="en-US" sz="2600" dirty="0">
                <a:latin typeface="微软雅黑" pitchFamily="34" charset="-122"/>
                <a:ea typeface="微软雅黑" pitchFamily="34" charset="-122"/>
              </a:rPr>
              <a:t>：用于建立</a:t>
            </a:r>
            <a:r>
              <a:rPr lang="en-US" altLang="zh-CN" sz="2600" dirty="0">
                <a:latin typeface="微软雅黑" pitchFamily="34" charset="-122"/>
                <a:ea typeface="微软雅黑" pitchFamily="34" charset="-122"/>
              </a:rPr>
              <a:t>BGP</a:t>
            </a:r>
            <a:r>
              <a:rPr lang="zh-CN" altLang="en-US" sz="2600" dirty="0">
                <a:latin typeface="微软雅黑" pitchFamily="34" charset="-122"/>
                <a:ea typeface="微软雅黑" pitchFamily="34" charset="-122"/>
              </a:rPr>
              <a:t>对等体（</a:t>
            </a:r>
            <a:r>
              <a:rPr lang="en-US" altLang="zh-CN" sz="2600" dirty="0">
                <a:latin typeface="微软雅黑" pitchFamily="34" charset="-122"/>
                <a:ea typeface="微软雅黑" pitchFamily="34" charset="-122"/>
              </a:rPr>
              <a:t>peer</a:t>
            </a:r>
            <a:r>
              <a:rPr lang="zh-CN" altLang="en-US" sz="2600" dirty="0">
                <a:latin typeface="微软雅黑" pitchFamily="34" charset="-122"/>
                <a:ea typeface="微软雅黑" pitchFamily="34" charset="-122"/>
              </a:rPr>
              <a:t>）之间的会话连接，协商</a:t>
            </a:r>
            <a:r>
              <a:rPr lang="en-US" altLang="zh-CN" sz="2600" dirty="0">
                <a:latin typeface="微软雅黑" pitchFamily="34" charset="-122"/>
                <a:ea typeface="微软雅黑" pitchFamily="34" charset="-122"/>
              </a:rPr>
              <a:t>BGP</a:t>
            </a:r>
            <a:r>
              <a:rPr lang="zh-CN" altLang="en-US" sz="2600" dirty="0">
                <a:latin typeface="微软雅黑" pitchFamily="34" charset="-122"/>
                <a:ea typeface="微软雅黑" pitchFamily="34" charset="-122"/>
              </a:rPr>
              <a:t>参数（该过程需要认证）</a:t>
            </a:r>
            <a:endParaRPr lang="en-US" altLang="zh-CN" sz="2600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sz="26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Update</a:t>
            </a:r>
            <a:r>
              <a:rPr lang="zh-CN" altLang="en-US" sz="26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报文</a:t>
            </a:r>
            <a:r>
              <a:rPr lang="zh-CN" altLang="en-US" sz="2600" dirty="0">
                <a:latin typeface="微软雅黑" pitchFamily="34" charset="-122"/>
                <a:ea typeface="微软雅黑" pitchFamily="34" charset="-122"/>
              </a:rPr>
              <a:t>：用于在对等体之间交换路由信息</a:t>
            </a:r>
            <a:endParaRPr lang="en-US" altLang="zh-CN" sz="2600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sz="260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Keepalive</a:t>
            </a:r>
            <a:r>
              <a:rPr lang="zh-CN" altLang="en-US" sz="26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报文</a:t>
            </a:r>
            <a:r>
              <a:rPr lang="zh-CN" altLang="en-US" sz="2600" dirty="0">
                <a:latin typeface="微软雅黑" pitchFamily="34" charset="-122"/>
                <a:ea typeface="微软雅黑" pitchFamily="34" charset="-122"/>
              </a:rPr>
              <a:t>：用于保持</a:t>
            </a:r>
            <a:r>
              <a:rPr lang="en-US" altLang="zh-CN" sz="2600" dirty="0">
                <a:latin typeface="微软雅黑" pitchFamily="34" charset="-122"/>
                <a:ea typeface="微软雅黑" pitchFamily="34" charset="-122"/>
              </a:rPr>
              <a:t>BGP</a:t>
            </a:r>
            <a:r>
              <a:rPr lang="zh-CN" altLang="en-US" sz="2600" dirty="0">
                <a:latin typeface="微软雅黑" pitchFamily="34" charset="-122"/>
                <a:ea typeface="微软雅黑" pitchFamily="34" charset="-122"/>
              </a:rPr>
              <a:t>会话连接</a:t>
            </a:r>
            <a:endParaRPr lang="en-US" altLang="zh-CN" sz="2600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sz="26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Notification</a:t>
            </a:r>
            <a:r>
              <a:rPr lang="zh-CN" altLang="en-US" sz="26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报文</a:t>
            </a:r>
            <a:r>
              <a:rPr lang="zh-CN" altLang="en-US" sz="2600" dirty="0">
                <a:latin typeface="微软雅黑" pitchFamily="34" charset="-122"/>
                <a:ea typeface="微软雅黑" pitchFamily="34" charset="-122"/>
              </a:rPr>
              <a:t>：用于差错报告和关闭</a:t>
            </a:r>
            <a:r>
              <a:rPr lang="en-US" altLang="zh-CN" sz="2600" dirty="0">
                <a:latin typeface="微软雅黑" pitchFamily="34" charset="-122"/>
                <a:ea typeface="微软雅黑" pitchFamily="34" charset="-122"/>
              </a:rPr>
              <a:t>BGP</a:t>
            </a:r>
            <a:r>
              <a:rPr lang="zh-CN" altLang="en-US" sz="2600" dirty="0">
                <a:latin typeface="微软雅黑" pitchFamily="34" charset="-122"/>
                <a:ea typeface="微软雅黑" pitchFamily="34" charset="-122"/>
              </a:rPr>
              <a:t>连接</a:t>
            </a:r>
            <a:endParaRPr lang="en-US" altLang="zh-CN" sz="2600" dirty="0">
              <a:latin typeface="微软雅黑" pitchFamily="34" charset="-122"/>
              <a:ea typeface="微软雅黑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50665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5.4.3 BGP-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外部网关路由协议</a:t>
            </a:r>
          </a:p>
        </p:txBody>
      </p:sp>
    </p:spTree>
    <p:extLst>
      <p:ext uri="{BB962C8B-B14F-4D97-AF65-F5344CB8AC3E}">
        <p14:creationId xmlns:p14="http://schemas.microsoft.com/office/powerpoint/2010/main" val="2746467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BGP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路径属性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30000"/>
              </a:lnSpc>
            </a:pPr>
            <a:r>
              <a:rPr lang="zh-CN" altLang="en-US" sz="3100" kern="0" dirty="0">
                <a:latin typeface="微软雅黑" pitchFamily="34" charset="-122"/>
                <a:ea typeface="微软雅黑" pitchFamily="34" charset="-122"/>
              </a:rPr>
              <a:t>发布的前缀信息包括</a:t>
            </a:r>
            <a:r>
              <a:rPr lang="en-US" altLang="zh-CN" sz="3100" kern="0" dirty="0">
                <a:latin typeface="微软雅黑" pitchFamily="34" charset="-122"/>
                <a:ea typeface="微软雅黑" pitchFamily="34" charset="-122"/>
              </a:rPr>
              <a:t>BGP</a:t>
            </a:r>
            <a:r>
              <a:rPr lang="zh-CN" altLang="en-US" sz="3100" kern="0" dirty="0">
                <a:latin typeface="微软雅黑" pitchFamily="34" charset="-122"/>
                <a:ea typeface="微软雅黑" pitchFamily="34" charset="-122"/>
              </a:rPr>
              <a:t>属性</a:t>
            </a:r>
            <a:r>
              <a:rPr lang="en-US" altLang="zh-CN" sz="3100" kern="0" dirty="0">
                <a:latin typeface="微软雅黑" pitchFamily="34" charset="-122"/>
                <a:ea typeface="微软雅黑" pitchFamily="34" charset="-122"/>
              </a:rPr>
              <a:t>(BGP attributes)</a:t>
            </a:r>
          </a:p>
          <a:p>
            <a:pPr lvl="1">
              <a:lnSpc>
                <a:spcPct val="130000"/>
              </a:lnSpc>
              <a:spcAft>
                <a:spcPts val="600"/>
              </a:spcAft>
              <a:defRPr/>
            </a:pPr>
            <a:r>
              <a:rPr lang="zh-CN" altLang="en-US" sz="2600" kern="0" dirty="0">
                <a:latin typeface="微软雅黑" pitchFamily="34" charset="-122"/>
                <a:ea typeface="微软雅黑" pitchFamily="34" charset="-122"/>
              </a:rPr>
              <a:t>路由</a:t>
            </a:r>
            <a:r>
              <a:rPr lang="en-US" altLang="zh-CN" sz="2600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“route”=prefix + attributes </a:t>
            </a:r>
            <a:endParaRPr lang="en-US" altLang="zh-CN" sz="2600" kern="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  <a:spcAft>
                <a:spcPts val="1200"/>
              </a:spcAft>
              <a:defRPr/>
            </a:pPr>
            <a:r>
              <a:rPr lang="zh-CN" altLang="en-US" sz="3100" kern="0" dirty="0">
                <a:latin typeface="微软雅黑" pitchFamily="34" charset="-122"/>
                <a:ea typeface="微软雅黑" pitchFamily="34" charset="-122"/>
              </a:rPr>
              <a:t>两个重要属性</a:t>
            </a:r>
            <a:endParaRPr lang="en-US" altLang="zh-CN" sz="3100" kern="0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30000"/>
              </a:lnSpc>
              <a:spcAft>
                <a:spcPts val="600"/>
              </a:spcAft>
              <a:defRPr/>
            </a:pPr>
            <a:r>
              <a:rPr lang="en-US" altLang="zh-CN" sz="2600" kern="0" dirty="0">
                <a:latin typeface="微软雅黑" pitchFamily="34" charset="-122"/>
                <a:ea typeface="微软雅黑" pitchFamily="34" charset="-122"/>
              </a:rPr>
              <a:t>AS</a:t>
            </a:r>
            <a:r>
              <a:rPr lang="zh-CN" altLang="en-US" sz="2600" kern="0" dirty="0">
                <a:latin typeface="微软雅黑" pitchFamily="34" charset="-122"/>
                <a:ea typeface="微软雅黑" pitchFamily="34" charset="-122"/>
              </a:rPr>
              <a:t>路径</a:t>
            </a:r>
            <a:r>
              <a:rPr lang="zh-CN" altLang="en-US" sz="2600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600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AS-PATH</a:t>
            </a:r>
            <a:r>
              <a:rPr lang="zh-CN" altLang="en-US" sz="2600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）：</a:t>
            </a:r>
            <a:r>
              <a:rPr lang="en-US" altLang="zh-CN" sz="2600" kern="0" dirty="0"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600" kern="0" dirty="0">
                <a:latin typeface="微软雅黑" pitchFamily="34" charset="-122"/>
                <a:ea typeface="微软雅黑" pitchFamily="34" charset="-122"/>
              </a:rPr>
              <a:t>前缀通过经过的所有</a:t>
            </a:r>
            <a:r>
              <a:rPr lang="en-US" altLang="zh-CN" sz="2600" kern="0" dirty="0">
                <a:latin typeface="微软雅黑" pitchFamily="34" charset="-122"/>
                <a:ea typeface="微软雅黑" pitchFamily="34" charset="-122"/>
              </a:rPr>
              <a:t>AS</a:t>
            </a:r>
            <a:r>
              <a:rPr lang="zh-CN" altLang="en-US" sz="2600" kern="0" dirty="0">
                <a:latin typeface="微软雅黑" pitchFamily="34" charset="-122"/>
                <a:ea typeface="微软雅黑" pitchFamily="34" charset="-122"/>
              </a:rPr>
              <a:t>号</a:t>
            </a:r>
            <a:endParaRPr lang="en-US" altLang="zh-CN" sz="2600" kern="0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30000"/>
              </a:lnSpc>
              <a:spcAft>
                <a:spcPts val="600"/>
              </a:spcAft>
              <a:buNone/>
              <a:defRPr/>
            </a:pPr>
            <a:r>
              <a:rPr lang="en-US" altLang="zh-CN" sz="26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en-US" sz="2600" kern="0" dirty="0">
                <a:latin typeface="微软雅黑" pitchFamily="34" charset="-122"/>
                <a:ea typeface="微软雅黑" pitchFamily="34" charset="-122"/>
              </a:rPr>
              <a:t>如：</a:t>
            </a:r>
            <a:r>
              <a:rPr lang="en-US" altLang="zh-CN" sz="2600" kern="0" dirty="0">
                <a:latin typeface="微软雅黑" pitchFamily="34" charset="-122"/>
                <a:ea typeface="微软雅黑" pitchFamily="34" charset="-122"/>
              </a:rPr>
              <a:t>AS 67, AS 17 </a:t>
            </a:r>
          </a:p>
          <a:p>
            <a:pPr lvl="1">
              <a:lnSpc>
                <a:spcPct val="130000"/>
              </a:lnSpc>
              <a:spcAft>
                <a:spcPts val="1200"/>
              </a:spcAft>
              <a:defRPr/>
            </a:pPr>
            <a:r>
              <a:rPr lang="zh-CN" altLang="en-US" sz="2600" kern="0" dirty="0">
                <a:latin typeface="微软雅黑" pitchFamily="34" charset="-122"/>
                <a:ea typeface="微软雅黑" pitchFamily="34" charset="-122"/>
              </a:rPr>
              <a:t>下一跳</a:t>
            </a:r>
            <a:r>
              <a:rPr lang="zh-CN" altLang="en-US" sz="2600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600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NEXT-HOP</a:t>
            </a:r>
            <a:r>
              <a:rPr lang="zh-CN" altLang="en-US" sz="2600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）：</a:t>
            </a:r>
            <a:r>
              <a:rPr lang="zh-CN" altLang="en-US" sz="2600" kern="0" dirty="0">
                <a:latin typeface="微软雅黑" pitchFamily="34" charset="-122"/>
                <a:ea typeface="微软雅黑" pitchFamily="34" charset="-122"/>
              </a:rPr>
              <a:t>说明路由信息对应的下一跳</a:t>
            </a:r>
            <a:r>
              <a:rPr lang="en-US" altLang="zh-CN" sz="2600" kern="0" dirty="0"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600" kern="0" dirty="0">
                <a:latin typeface="微软雅黑" pitchFamily="34" charset="-122"/>
                <a:ea typeface="微软雅黑" pitchFamily="34" charset="-122"/>
              </a:rPr>
              <a:t>地址</a:t>
            </a:r>
            <a:endParaRPr lang="en-US" altLang="zh-CN" sz="2600" kern="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  <a:spcAft>
                <a:spcPts val="1200"/>
              </a:spcAft>
              <a:defRPr/>
            </a:pPr>
            <a:r>
              <a:rPr lang="zh-CN" altLang="en-US" sz="3100" kern="0" dirty="0">
                <a:latin typeface="微软雅黑" pitchFamily="34" charset="-122"/>
                <a:ea typeface="微软雅黑" pitchFamily="34" charset="-122"/>
              </a:rPr>
              <a:t>网关路由器接收到路由通告时，通过既定策略采纳或拒绝</a:t>
            </a:r>
            <a:r>
              <a:rPr lang="en-US" altLang="zh-CN" sz="3100" kern="0" dirty="0">
                <a:latin typeface="微软雅黑" pitchFamily="34" charset="-122"/>
                <a:ea typeface="微软雅黑" pitchFamily="34" charset="-122"/>
              </a:rPr>
              <a:t>(accept/ decline)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50665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5.4.3 BGP-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外部网关路由协议</a:t>
            </a:r>
          </a:p>
        </p:txBody>
      </p:sp>
    </p:spTree>
    <p:extLst>
      <p:ext uri="{BB962C8B-B14F-4D97-AF65-F5344CB8AC3E}">
        <p14:creationId xmlns:p14="http://schemas.microsoft.com/office/powerpoint/2010/main" val="3752405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BGP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路由选择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838200" y="1392865"/>
            <a:ext cx="5052238" cy="496348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Ø"/>
              <a:tabLst/>
              <a:defRPr/>
            </a:pPr>
            <a:r>
              <a:rPr kumimoji="0" lang="zh-CN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路由器可能从多个对等体收到针对同一目的</a:t>
            </a:r>
            <a:r>
              <a:rPr kumimoji="0" lang="en-US" altLang="zh-CN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IP</a:t>
            </a:r>
            <a:r>
              <a:rPr kumimoji="0" lang="zh-CN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的路由</a:t>
            </a:r>
            <a:endParaRPr kumimoji="0" lang="en-US" altLang="zh-CN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Ø"/>
              <a:tabLst/>
              <a:defRPr/>
            </a:pPr>
            <a:r>
              <a:rPr kumimoji="0" lang="zh-CN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需要选择一条最佳路由</a:t>
            </a:r>
          </a:p>
          <a:p>
            <a:pPr marL="228600" marR="0" lvl="0" indent="-228600" algn="l" defTabSz="914400" rtl="0" eaLnBrk="1" fontAlgn="auto" latinLnBrk="0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Ø"/>
              <a:tabLst/>
              <a:defRPr/>
            </a:pPr>
            <a:r>
              <a:rPr kumimoji="0" lang="zh-CN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选择规则：自上向下，依次排序</a:t>
            </a:r>
            <a:endParaRPr kumimoji="0" lang="en-US" altLang="zh-CN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Pct val="85000"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2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本地偏好值属性：政策决策</a:t>
            </a:r>
          </a:p>
          <a:p>
            <a:pPr marL="685800" marR="0" lvl="1" indent="-228600" algn="l" defTabSz="914400" rtl="0" eaLnBrk="1" fontAlgn="auto" latinLnBrk="0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Pct val="85000"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2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最短的</a:t>
            </a:r>
            <a:r>
              <a:rPr kumimoji="1" lang="en-US" altLang="zh-CN" sz="2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AS-PATH</a:t>
            </a:r>
          </a:p>
          <a:p>
            <a:pPr marL="685800" marR="0" lvl="1" indent="-228600" algn="l" defTabSz="914400" rtl="0" eaLnBrk="1" fontAlgn="auto" latinLnBrk="0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Pct val="85000"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2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最近的</a:t>
            </a:r>
            <a:r>
              <a:rPr kumimoji="1" lang="en-US" altLang="zh-CN" sz="2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NEXT-HOP</a:t>
            </a:r>
            <a:r>
              <a:rPr kumimoji="1" lang="zh-CN" altLang="en-US" sz="2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路由器</a:t>
            </a:r>
          </a:p>
          <a:p>
            <a:pPr marL="685800" marR="0" lvl="1" indent="-228600" algn="l" defTabSz="914400" rtl="0" eaLnBrk="1" fontAlgn="auto" latinLnBrk="0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Pct val="85000"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2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附加标准</a:t>
            </a:r>
            <a:r>
              <a:rPr kumimoji="1" lang="en-US" altLang="zh-CN" sz="2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…</a:t>
            </a:r>
            <a:endParaRPr kumimoji="1" lang="zh-CN" alt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Pct val="85000"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2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最低路由器</a:t>
            </a:r>
            <a:r>
              <a:rPr kumimoji="1" lang="en-US" altLang="zh-CN" sz="2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ID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pic>
        <p:nvPicPr>
          <p:cNvPr id="7" name="Picture 1028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3333" y="2654694"/>
            <a:ext cx="1134533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AutoShape 1029"/>
          <p:cNvSpPr>
            <a:spLocks noChangeArrowheads="1"/>
          </p:cNvSpPr>
          <p:nvPr/>
        </p:nvSpPr>
        <p:spPr bwMode="auto">
          <a:xfrm>
            <a:off x="7372300" y="2807093"/>
            <a:ext cx="657534" cy="4572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bg1"/>
          </a:solidFill>
          <a:ln w="76200">
            <a:solidFill>
              <a:srgbClr val="FF6699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宋体" pitchFamily="2" charset="-122"/>
              <a:cs typeface="+mn-cs"/>
            </a:endParaRPr>
          </a:p>
        </p:txBody>
      </p:sp>
      <p:sp>
        <p:nvSpPr>
          <p:cNvPr id="9" name="AutoShape 1030"/>
          <p:cNvSpPr>
            <a:spLocks noChangeArrowheads="1"/>
          </p:cNvSpPr>
          <p:nvPr/>
        </p:nvSpPr>
        <p:spPr bwMode="auto">
          <a:xfrm rot="5400000" flipV="1">
            <a:off x="8175786" y="2075317"/>
            <a:ext cx="647700" cy="609600"/>
          </a:xfrm>
          <a:prstGeom prst="rightArrow">
            <a:avLst>
              <a:gd name="adj1" fmla="val 50000"/>
              <a:gd name="adj2" fmla="val 35417"/>
            </a:avLst>
          </a:prstGeom>
          <a:solidFill>
            <a:schemeClr val="bg1"/>
          </a:solidFill>
          <a:ln w="76200">
            <a:solidFill>
              <a:srgbClr val="FF6699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宋体" pitchFamily="2" charset="-122"/>
              <a:cs typeface="+mn-cs"/>
            </a:endParaRPr>
          </a:p>
        </p:txBody>
      </p:sp>
      <p:sp>
        <p:nvSpPr>
          <p:cNvPr id="10" name="AutoShape 1031"/>
          <p:cNvSpPr>
            <a:spLocks noChangeArrowheads="1"/>
          </p:cNvSpPr>
          <p:nvPr/>
        </p:nvSpPr>
        <p:spPr bwMode="auto">
          <a:xfrm rot="16200000" flipV="1">
            <a:off x="8156736" y="3302393"/>
            <a:ext cx="685800" cy="609600"/>
          </a:xfrm>
          <a:prstGeom prst="rightArrow">
            <a:avLst>
              <a:gd name="adj1" fmla="val 50000"/>
              <a:gd name="adj2" fmla="val 37500"/>
            </a:avLst>
          </a:prstGeom>
          <a:solidFill>
            <a:schemeClr val="bg1"/>
          </a:solidFill>
          <a:ln w="76200">
            <a:solidFill>
              <a:srgbClr val="FF6699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宋体" pitchFamily="2" charset="-122"/>
              <a:cs typeface="+mn-cs"/>
            </a:endParaRPr>
          </a:p>
        </p:txBody>
      </p:sp>
      <p:sp>
        <p:nvSpPr>
          <p:cNvPr id="11" name="AutoShape 1032"/>
          <p:cNvSpPr>
            <a:spLocks noChangeArrowheads="1"/>
          </p:cNvSpPr>
          <p:nvPr/>
        </p:nvSpPr>
        <p:spPr bwMode="auto">
          <a:xfrm flipH="1">
            <a:off x="9133528" y="2778667"/>
            <a:ext cx="616528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76200">
            <a:solidFill>
              <a:srgbClr val="FF6699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宋体" pitchFamily="2" charset="-122"/>
              <a:cs typeface="+mn-cs"/>
            </a:endParaRPr>
          </a:p>
        </p:txBody>
      </p:sp>
      <p:sp>
        <p:nvSpPr>
          <p:cNvPr id="12" name="Text Box 1033"/>
          <p:cNvSpPr txBox="1">
            <a:spLocks noChangeArrowheads="1"/>
          </p:cNvSpPr>
          <p:nvPr/>
        </p:nvSpPr>
        <p:spPr bwMode="auto">
          <a:xfrm>
            <a:off x="5988588" y="2717112"/>
            <a:ext cx="1383712" cy="5847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none" anchor="b"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192.0.2.0/24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pick me!</a:t>
            </a:r>
          </a:p>
        </p:txBody>
      </p:sp>
      <p:sp>
        <p:nvSpPr>
          <p:cNvPr id="13" name="Text Box 1034"/>
          <p:cNvSpPr txBox="1">
            <a:spLocks noChangeArrowheads="1"/>
          </p:cNvSpPr>
          <p:nvPr/>
        </p:nvSpPr>
        <p:spPr bwMode="auto">
          <a:xfrm>
            <a:off x="7749816" y="1439594"/>
            <a:ext cx="1383712" cy="5847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none" anchor="ctr" anchorCtr="1"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192.0.2.0/24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pick me!</a:t>
            </a:r>
          </a:p>
        </p:txBody>
      </p:sp>
      <p:sp>
        <p:nvSpPr>
          <p:cNvPr id="14" name="Text Box 1035"/>
          <p:cNvSpPr txBox="1">
            <a:spLocks noChangeArrowheads="1"/>
          </p:cNvSpPr>
          <p:nvPr/>
        </p:nvSpPr>
        <p:spPr bwMode="auto">
          <a:xfrm>
            <a:off x="9835780" y="2778667"/>
            <a:ext cx="1383712" cy="5847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none" anchor="b"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192.0.2.0/24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pick me!</a:t>
            </a:r>
          </a:p>
        </p:txBody>
      </p:sp>
      <p:sp>
        <p:nvSpPr>
          <p:cNvPr id="15" name="Text Box 1036"/>
          <p:cNvSpPr txBox="1">
            <a:spLocks noChangeArrowheads="1"/>
          </p:cNvSpPr>
          <p:nvPr/>
        </p:nvSpPr>
        <p:spPr bwMode="auto">
          <a:xfrm>
            <a:off x="7823047" y="4001580"/>
            <a:ext cx="1383712" cy="5847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none" anchor="ctr" anchorCtr="1"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192.0.2.0/24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pick me!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3244052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5.4.3 BGP-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外部网关路由协议</a:t>
            </a:r>
          </a:p>
        </p:txBody>
      </p:sp>
    </p:spTree>
    <p:extLst>
      <p:ext uri="{BB962C8B-B14F-4D97-AF65-F5344CB8AC3E}">
        <p14:creationId xmlns:p14="http://schemas.microsoft.com/office/powerpoint/2010/main" val="211761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BGP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路由策略</a:t>
            </a:r>
            <a:endParaRPr lang="zh-CN" altLang="en-US" sz="3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34" name="Rectangle 5">
            <a:extLst>
              <a:ext uri="{FF2B5EF4-FFF2-40B4-BE49-F238E27FC236}">
                <a16:creationId xmlns:a16="http://schemas.microsoft.com/office/drawing/2014/main" id="{07DCA248-AD2D-44A0-9FCA-C03A0D974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4535444"/>
            <a:ext cx="10515601" cy="1562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marR="0" lvl="0" indent="-4572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例如：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连接到两个提供者网络（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dual-homed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）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为用户网络，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不希望从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到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的数据包经过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X</a:t>
            </a:r>
          </a:p>
          <a:p>
            <a:pPr marL="800100" marR="0" lvl="1" indent="-3429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则不向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通告到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的路由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35" name="AutoShape 6">
            <a:extLst>
              <a:ext uri="{FF2B5EF4-FFF2-40B4-BE49-F238E27FC236}">
                <a16:creationId xmlns:a16="http://schemas.microsoft.com/office/drawing/2014/main" id="{440052F2-3F94-484E-82C1-1F7F608356F4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037650" y="2242033"/>
            <a:ext cx="10116701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E13B42FE-2F0F-4C50-B487-D413DDC57958}"/>
              </a:ext>
            </a:extLst>
          </p:cNvPr>
          <p:cNvGrpSpPr/>
          <p:nvPr/>
        </p:nvGrpSpPr>
        <p:grpSpPr>
          <a:xfrm>
            <a:off x="1342280" y="2678124"/>
            <a:ext cx="8575441" cy="1845548"/>
            <a:chOff x="1006710" y="2543658"/>
            <a:chExt cx="6431581" cy="2009775"/>
          </a:xfrm>
        </p:grpSpPr>
        <p:sp>
          <p:nvSpPr>
            <p:cNvPr id="37" name="Freeform 7">
              <a:extLst>
                <a:ext uri="{FF2B5EF4-FFF2-40B4-BE49-F238E27FC236}">
                  <a16:creationId xmlns:a16="http://schemas.microsoft.com/office/drawing/2014/main" id="{52C29464-8272-4FF1-AFFC-F1EB31E1C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8456" y="2634146"/>
              <a:ext cx="899511" cy="577850"/>
            </a:xfrm>
            <a:custGeom>
              <a:avLst/>
              <a:gdLst>
                <a:gd name="T0" fmla="*/ 148 w 563"/>
                <a:gd name="T1" fmla="*/ 5 h 364"/>
                <a:gd name="T2" fmla="*/ 119 w 563"/>
                <a:gd name="T3" fmla="*/ 10 h 364"/>
                <a:gd name="T4" fmla="*/ 94 w 563"/>
                <a:gd name="T5" fmla="*/ 21 h 364"/>
                <a:gd name="T6" fmla="*/ 70 w 563"/>
                <a:gd name="T7" fmla="*/ 37 h 364"/>
                <a:gd name="T8" fmla="*/ 46 w 563"/>
                <a:gd name="T9" fmla="*/ 61 h 364"/>
                <a:gd name="T10" fmla="*/ 24 w 563"/>
                <a:gd name="T11" fmla="*/ 91 h 364"/>
                <a:gd name="T12" fmla="*/ 8 w 563"/>
                <a:gd name="T13" fmla="*/ 120 h 364"/>
                <a:gd name="T14" fmla="*/ 3 w 563"/>
                <a:gd name="T15" fmla="*/ 136 h 364"/>
                <a:gd name="T16" fmla="*/ 0 w 563"/>
                <a:gd name="T17" fmla="*/ 150 h 364"/>
                <a:gd name="T18" fmla="*/ 0 w 563"/>
                <a:gd name="T19" fmla="*/ 166 h 364"/>
                <a:gd name="T20" fmla="*/ 8 w 563"/>
                <a:gd name="T21" fmla="*/ 195 h 364"/>
                <a:gd name="T22" fmla="*/ 27 w 563"/>
                <a:gd name="T23" fmla="*/ 228 h 364"/>
                <a:gd name="T24" fmla="*/ 49 w 563"/>
                <a:gd name="T25" fmla="*/ 257 h 364"/>
                <a:gd name="T26" fmla="*/ 70 w 563"/>
                <a:gd name="T27" fmla="*/ 284 h 364"/>
                <a:gd name="T28" fmla="*/ 92 w 563"/>
                <a:gd name="T29" fmla="*/ 305 h 364"/>
                <a:gd name="T30" fmla="*/ 111 w 563"/>
                <a:gd name="T31" fmla="*/ 321 h 364"/>
                <a:gd name="T32" fmla="*/ 127 w 563"/>
                <a:gd name="T33" fmla="*/ 332 h 364"/>
                <a:gd name="T34" fmla="*/ 146 w 563"/>
                <a:gd name="T35" fmla="*/ 340 h 364"/>
                <a:gd name="T36" fmla="*/ 170 w 563"/>
                <a:gd name="T37" fmla="*/ 346 h 364"/>
                <a:gd name="T38" fmla="*/ 191 w 563"/>
                <a:gd name="T39" fmla="*/ 348 h 364"/>
                <a:gd name="T40" fmla="*/ 218 w 563"/>
                <a:gd name="T41" fmla="*/ 354 h 364"/>
                <a:gd name="T42" fmla="*/ 261 w 563"/>
                <a:gd name="T43" fmla="*/ 356 h 364"/>
                <a:gd name="T44" fmla="*/ 310 w 563"/>
                <a:gd name="T45" fmla="*/ 362 h 364"/>
                <a:gd name="T46" fmla="*/ 361 w 563"/>
                <a:gd name="T47" fmla="*/ 364 h 364"/>
                <a:gd name="T48" fmla="*/ 409 w 563"/>
                <a:gd name="T49" fmla="*/ 362 h 364"/>
                <a:gd name="T50" fmla="*/ 458 w 563"/>
                <a:gd name="T51" fmla="*/ 359 h 364"/>
                <a:gd name="T52" fmla="*/ 495 w 563"/>
                <a:gd name="T53" fmla="*/ 348 h 364"/>
                <a:gd name="T54" fmla="*/ 511 w 563"/>
                <a:gd name="T55" fmla="*/ 340 h 364"/>
                <a:gd name="T56" fmla="*/ 525 w 563"/>
                <a:gd name="T57" fmla="*/ 332 h 364"/>
                <a:gd name="T58" fmla="*/ 536 w 563"/>
                <a:gd name="T59" fmla="*/ 321 h 364"/>
                <a:gd name="T60" fmla="*/ 549 w 563"/>
                <a:gd name="T61" fmla="*/ 295 h 364"/>
                <a:gd name="T62" fmla="*/ 557 w 563"/>
                <a:gd name="T63" fmla="*/ 257 h 364"/>
                <a:gd name="T64" fmla="*/ 563 w 563"/>
                <a:gd name="T65" fmla="*/ 217 h 364"/>
                <a:gd name="T66" fmla="*/ 563 w 563"/>
                <a:gd name="T67" fmla="*/ 174 h 364"/>
                <a:gd name="T68" fmla="*/ 557 w 563"/>
                <a:gd name="T69" fmla="*/ 134 h 364"/>
                <a:gd name="T70" fmla="*/ 555 w 563"/>
                <a:gd name="T71" fmla="*/ 96 h 364"/>
                <a:gd name="T72" fmla="*/ 549 w 563"/>
                <a:gd name="T73" fmla="*/ 67 h 364"/>
                <a:gd name="T74" fmla="*/ 546 w 563"/>
                <a:gd name="T75" fmla="*/ 56 h 364"/>
                <a:gd name="T76" fmla="*/ 541 w 563"/>
                <a:gd name="T77" fmla="*/ 40 h 364"/>
                <a:gd name="T78" fmla="*/ 536 w 563"/>
                <a:gd name="T79" fmla="*/ 29 h 364"/>
                <a:gd name="T80" fmla="*/ 528 w 563"/>
                <a:gd name="T81" fmla="*/ 21 h 364"/>
                <a:gd name="T82" fmla="*/ 520 w 563"/>
                <a:gd name="T83" fmla="*/ 18 h 364"/>
                <a:gd name="T84" fmla="*/ 495 w 563"/>
                <a:gd name="T85" fmla="*/ 16 h 364"/>
                <a:gd name="T86" fmla="*/ 466 w 563"/>
                <a:gd name="T87" fmla="*/ 16 h 364"/>
                <a:gd name="T88" fmla="*/ 450 w 563"/>
                <a:gd name="T89" fmla="*/ 13 h 364"/>
                <a:gd name="T90" fmla="*/ 409 w 563"/>
                <a:gd name="T91" fmla="*/ 13 h 364"/>
                <a:gd name="T92" fmla="*/ 364 w 563"/>
                <a:gd name="T93" fmla="*/ 16 h 364"/>
                <a:gd name="T94" fmla="*/ 320 w 563"/>
                <a:gd name="T95" fmla="*/ 16 h 364"/>
                <a:gd name="T96" fmla="*/ 283 w 563"/>
                <a:gd name="T97" fmla="*/ 13 h 364"/>
                <a:gd name="T98" fmla="*/ 248 w 563"/>
                <a:gd name="T99" fmla="*/ 8 h 364"/>
                <a:gd name="T100" fmla="*/ 213 w 563"/>
                <a:gd name="T101" fmla="*/ 2 h 364"/>
                <a:gd name="T102" fmla="*/ 186 w 563"/>
                <a:gd name="T103" fmla="*/ 0 h 364"/>
                <a:gd name="T104" fmla="*/ 175 w 563"/>
                <a:gd name="T105" fmla="*/ 0 h 364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563"/>
                <a:gd name="T160" fmla="*/ 0 h 364"/>
                <a:gd name="T161" fmla="*/ 563 w 563"/>
                <a:gd name="T162" fmla="*/ 364 h 364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563" h="364">
                  <a:moveTo>
                    <a:pt x="175" y="0"/>
                  </a:moveTo>
                  <a:lnTo>
                    <a:pt x="148" y="5"/>
                  </a:lnTo>
                  <a:lnTo>
                    <a:pt x="132" y="8"/>
                  </a:lnTo>
                  <a:lnTo>
                    <a:pt x="119" y="10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1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4" y="104"/>
                  </a:lnTo>
                  <a:lnTo>
                    <a:pt x="8" y="120"/>
                  </a:lnTo>
                  <a:lnTo>
                    <a:pt x="3" y="128"/>
                  </a:lnTo>
                  <a:lnTo>
                    <a:pt x="3" y="136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82"/>
                  </a:lnTo>
                  <a:lnTo>
                    <a:pt x="8" y="195"/>
                  </a:lnTo>
                  <a:lnTo>
                    <a:pt x="16" y="212"/>
                  </a:lnTo>
                  <a:lnTo>
                    <a:pt x="27" y="228"/>
                  </a:lnTo>
                  <a:lnTo>
                    <a:pt x="35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5"/>
                  </a:lnTo>
                  <a:lnTo>
                    <a:pt x="103" y="319"/>
                  </a:lnTo>
                  <a:lnTo>
                    <a:pt x="111" y="321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5" y="335"/>
                  </a:lnTo>
                  <a:lnTo>
                    <a:pt x="146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8"/>
                  </a:lnTo>
                  <a:lnTo>
                    <a:pt x="191" y="348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6"/>
                  </a:lnTo>
                  <a:lnTo>
                    <a:pt x="261" y="356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4"/>
                  </a:lnTo>
                  <a:lnTo>
                    <a:pt x="385" y="364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7" y="354"/>
                  </a:lnTo>
                  <a:lnTo>
                    <a:pt x="495" y="348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20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1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5" y="276"/>
                  </a:lnTo>
                  <a:lnTo>
                    <a:pt x="557" y="257"/>
                  </a:lnTo>
                  <a:lnTo>
                    <a:pt x="560" y="238"/>
                  </a:lnTo>
                  <a:lnTo>
                    <a:pt x="563" y="217"/>
                  </a:lnTo>
                  <a:lnTo>
                    <a:pt x="563" y="195"/>
                  </a:lnTo>
                  <a:lnTo>
                    <a:pt x="563" y="174"/>
                  </a:lnTo>
                  <a:lnTo>
                    <a:pt x="560" y="155"/>
                  </a:lnTo>
                  <a:lnTo>
                    <a:pt x="557" y="134"/>
                  </a:lnTo>
                  <a:lnTo>
                    <a:pt x="557" y="115"/>
                  </a:lnTo>
                  <a:lnTo>
                    <a:pt x="555" y="96"/>
                  </a:lnTo>
                  <a:lnTo>
                    <a:pt x="552" y="80"/>
                  </a:lnTo>
                  <a:lnTo>
                    <a:pt x="549" y="67"/>
                  </a:lnTo>
                  <a:lnTo>
                    <a:pt x="546" y="61"/>
                  </a:lnTo>
                  <a:lnTo>
                    <a:pt x="546" y="56"/>
                  </a:lnTo>
                  <a:lnTo>
                    <a:pt x="544" y="48"/>
                  </a:lnTo>
                  <a:lnTo>
                    <a:pt x="541" y="40"/>
                  </a:lnTo>
                  <a:lnTo>
                    <a:pt x="538" y="32"/>
                  </a:lnTo>
                  <a:lnTo>
                    <a:pt x="536" y="29"/>
                  </a:lnTo>
                  <a:lnTo>
                    <a:pt x="533" y="24"/>
                  </a:lnTo>
                  <a:lnTo>
                    <a:pt x="528" y="21"/>
                  </a:lnTo>
                  <a:lnTo>
                    <a:pt x="522" y="18"/>
                  </a:lnTo>
                  <a:lnTo>
                    <a:pt x="520" y="18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50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4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2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2"/>
                  </a:lnTo>
                  <a:lnTo>
                    <a:pt x="199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" name="Freeform 8">
              <a:extLst>
                <a:ext uri="{FF2B5EF4-FFF2-40B4-BE49-F238E27FC236}">
                  <a16:creationId xmlns:a16="http://schemas.microsoft.com/office/drawing/2014/main" id="{EEDA5B69-83AC-4717-A06D-3523A0C055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8346" y="3165958"/>
              <a:ext cx="897913" cy="579438"/>
            </a:xfrm>
            <a:custGeom>
              <a:avLst/>
              <a:gdLst>
                <a:gd name="T0" fmla="*/ 148 w 562"/>
                <a:gd name="T1" fmla="*/ 5 h 365"/>
                <a:gd name="T2" fmla="*/ 121 w 562"/>
                <a:gd name="T3" fmla="*/ 11 h 365"/>
                <a:gd name="T4" fmla="*/ 94 w 562"/>
                <a:gd name="T5" fmla="*/ 21 h 365"/>
                <a:gd name="T6" fmla="*/ 70 w 562"/>
                <a:gd name="T7" fmla="*/ 37 h 365"/>
                <a:gd name="T8" fmla="*/ 46 w 562"/>
                <a:gd name="T9" fmla="*/ 62 h 365"/>
                <a:gd name="T10" fmla="*/ 24 w 562"/>
                <a:gd name="T11" fmla="*/ 91 h 365"/>
                <a:gd name="T12" fmla="*/ 8 w 562"/>
                <a:gd name="T13" fmla="*/ 121 h 365"/>
                <a:gd name="T14" fmla="*/ 3 w 562"/>
                <a:gd name="T15" fmla="*/ 137 h 365"/>
                <a:gd name="T16" fmla="*/ 0 w 562"/>
                <a:gd name="T17" fmla="*/ 150 h 365"/>
                <a:gd name="T18" fmla="*/ 0 w 562"/>
                <a:gd name="T19" fmla="*/ 166 h 365"/>
                <a:gd name="T20" fmla="*/ 3 w 562"/>
                <a:gd name="T21" fmla="*/ 182 h 365"/>
                <a:gd name="T22" fmla="*/ 19 w 562"/>
                <a:gd name="T23" fmla="*/ 212 h 365"/>
                <a:gd name="T24" fmla="*/ 38 w 562"/>
                <a:gd name="T25" fmla="*/ 244 h 365"/>
                <a:gd name="T26" fmla="*/ 59 w 562"/>
                <a:gd name="T27" fmla="*/ 271 h 365"/>
                <a:gd name="T28" fmla="*/ 81 w 562"/>
                <a:gd name="T29" fmla="*/ 295 h 365"/>
                <a:gd name="T30" fmla="*/ 105 w 562"/>
                <a:gd name="T31" fmla="*/ 319 h 365"/>
                <a:gd name="T32" fmla="*/ 119 w 562"/>
                <a:gd name="T33" fmla="*/ 327 h 365"/>
                <a:gd name="T34" fmla="*/ 137 w 562"/>
                <a:gd name="T35" fmla="*/ 335 h 365"/>
                <a:gd name="T36" fmla="*/ 156 w 562"/>
                <a:gd name="T37" fmla="*/ 343 h 365"/>
                <a:gd name="T38" fmla="*/ 183 w 562"/>
                <a:gd name="T39" fmla="*/ 349 h 365"/>
                <a:gd name="T40" fmla="*/ 199 w 562"/>
                <a:gd name="T41" fmla="*/ 351 h 365"/>
                <a:gd name="T42" fmla="*/ 240 w 562"/>
                <a:gd name="T43" fmla="*/ 357 h 365"/>
                <a:gd name="T44" fmla="*/ 285 w 562"/>
                <a:gd name="T45" fmla="*/ 359 h 365"/>
                <a:gd name="T46" fmla="*/ 334 w 562"/>
                <a:gd name="T47" fmla="*/ 362 h 365"/>
                <a:gd name="T48" fmla="*/ 385 w 562"/>
                <a:gd name="T49" fmla="*/ 365 h 365"/>
                <a:gd name="T50" fmla="*/ 433 w 562"/>
                <a:gd name="T51" fmla="*/ 362 h 365"/>
                <a:gd name="T52" fmla="*/ 476 w 562"/>
                <a:gd name="T53" fmla="*/ 354 h 365"/>
                <a:gd name="T54" fmla="*/ 503 w 562"/>
                <a:gd name="T55" fmla="*/ 346 h 365"/>
                <a:gd name="T56" fmla="*/ 519 w 562"/>
                <a:gd name="T57" fmla="*/ 338 h 365"/>
                <a:gd name="T58" fmla="*/ 530 w 562"/>
                <a:gd name="T59" fmla="*/ 327 h 365"/>
                <a:gd name="T60" fmla="*/ 544 w 562"/>
                <a:gd name="T61" fmla="*/ 308 h 365"/>
                <a:gd name="T62" fmla="*/ 554 w 562"/>
                <a:gd name="T63" fmla="*/ 276 h 365"/>
                <a:gd name="T64" fmla="*/ 560 w 562"/>
                <a:gd name="T65" fmla="*/ 239 h 365"/>
                <a:gd name="T66" fmla="*/ 562 w 562"/>
                <a:gd name="T67" fmla="*/ 196 h 365"/>
                <a:gd name="T68" fmla="*/ 560 w 562"/>
                <a:gd name="T69" fmla="*/ 155 h 365"/>
                <a:gd name="T70" fmla="*/ 557 w 562"/>
                <a:gd name="T71" fmla="*/ 115 h 365"/>
                <a:gd name="T72" fmla="*/ 552 w 562"/>
                <a:gd name="T73" fmla="*/ 80 h 365"/>
                <a:gd name="T74" fmla="*/ 549 w 562"/>
                <a:gd name="T75" fmla="*/ 62 h 365"/>
                <a:gd name="T76" fmla="*/ 546 w 562"/>
                <a:gd name="T77" fmla="*/ 48 h 365"/>
                <a:gd name="T78" fmla="*/ 541 w 562"/>
                <a:gd name="T79" fmla="*/ 32 h 365"/>
                <a:gd name="T80" fmla="*/ 533 w 562"/>
                <a:gd name="T81" fmla="*/ 24 h 365"/>
                <a:gd name="T82" fmla="*/ 525 w 562"/>
                <a:gd name="T83" fmla="*/ 19 h 365"/>
                <a:gd name="T84" fmla="*/ 509 w 562"/>
                <a:gd name="T85" fmla="*/ 16 h 365"/>
                <a:gd name="T86" fmla="*/ 482 w 562"/>
                <a:gd name="T87" fmla="*/ 16 h 365"/>
                <a:gd name="T88" fmla="*/ 458 w 562"/>
                <a:gd name="T89" fmla="*/ 16 h 365"/>
                <a:gd name="T90" fmla="*/ 431 w 562"/>
                <a:gd name="T91" fmla="*/ 13 h 365"/>
                <a:gd name="T92" fmla="*/ 388 w 562"/>
                <a:gd name="T93" fmla="*/ 13 h 365"/>
                <a:gd name="T94" fmla="*/ 342 w 562"/>
                <a:gd name="T95" fmla="*/ 16 h 365"/>
                <a:gd name="T96" fmla="*/ 301 w 562"/>
                <a:gd name="T97" fmla="*/ 16 h 365"/>
                <a:gd name="T98" fmla="*/ 264 w 562"/>
                <a:gd name="T99" fmla="*/ 13 h 365"/>
                <a:gd name="T100" fmla="*/ 229 w 562"/>
                <a:gd name="T101" fmla="*/ 5 h 365"/>
                <a:gd name="T102" fmla="*/ 199 w 562"/>
                <a:gd name="T103" fmla="*/ 0 h 365"/>
                <a:gd name="T104" fmla="*/ 183 w 562"/>
                <a:gd name="T105" fmla="*/ 0 h 365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562"/>
                <a:gd name="T160" fmla="*/ 0 h 365"/>
                <a:gd name="T161" fmla="*/ 562 w 562"/>
                <a:gd name="T162" fmla="*/ 365 h 365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562" h="365">
                  <a:moveTo>
                    <a:pt x="178" y="0"/>
                  </a:moveTo>
                  <a:lnTo>
                    <a:pt x="148" y="5"/>
                  </a:lnTo>
                  <a:lnTo>
                    <a:pt x="135" y="8"/>
                  </a:lnTo>
                  <a:lnTo>
                    <a:pt x="121" y="11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2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6" y="104"/>
                  </a:lnTo>
                  <a:lnTo>
                    <a:pt x="8" y="121"/>
                  </a:lnTo>
                  <a:lnTo>
                    <a:pt x="6" y="129"/>
                  </a:lnTo>
                  <a:lnTo>
                    <a:pt x="3" y="137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74"/>
                  </a:lnTo>
                  <a:lnTo>
                    <a:pt x="3" y="182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6"/>
                  </a:lnTo>
                  <a:lnTo>
                    <a:pt x="105" y="319"/>
                  </a:lnTo>
                  <a:lnTo>
                    <a:pt x="110" y="322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7" y="335"/>
                  </a:lnTo>
                  <a:lnTo>
                    <a:pt x="145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9"/>
                  </a:lnTo>
                  <a:lnTo>
                    <a:pt x="191" y="349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7"/>
                  </a:lnTo>
                  <a:lnTo>
                    <a:pt x="261" y="357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5"/>
                  </a:lnTo>
                  <a:lnTo>
                    <a:pt x="385" y="365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19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2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4" y="276"/>
                  </a:lnTo>
                  <a:lnTo>
                    <a:pt x="557" y="257"/>
                  </a:lnTo>
                  <a:lnTo>
                    <a:pt x="560" y="239"/>
                  </a:lnTo>
                  <a:lnTo>
                    <a:pt x="562" y="217"/>
                  </a:lnTo>
                  <a:lnTo>
                    <a:pt x="562" y="196"/>
                  </a:lnTo>
                  <a:lnTo>
                    <a:pt x="562" y="174"/>
                  </a:lnTo>
                  <a:lnTo>
                    <a:pt x="560" y="155"/>
                  </a:lnTo>
                  <a:lnTo>
                    <a:pt x="560" y="134"/>
                  </a:lnTo>
                  <a:lnTo>
                    <a:pt x="557" y="115"/>
                  </a:lnTo>
                  <a:lnTo>
                    <a:pt x="554" y="96"/>
                  </a:lnTo>
                  <a:lnTo>
                    <a:pt x="552" y="80"/>
                  </a:lnTo>
                  <a:lnTo>
                    <a:pt x="552" y="67"/>
                  </a:lnTo>
                  <a:lnTo>
                    <a:pt x="549" y="62"/>
                  </a:lnTo>
                  <a:lnTo>
                    <a:pt x="549" y="56"/>
                  </a:lnTo>
                  <a:lnTo>
                    <a:pt x="546" y="48"/>
                  </a:lnTo>
                  <a:lnTo>
                    <a:pt x="544" y="40"/>
                  </a:lnTo>
                  <a:lnTo>
                    <a:pt x="541" y="32"/>
                  </a:lnTo>
                  <a:lnTo>
                    <a:pt x="538" y="29"/>
                  </a:lnTo>
                  <a:lnTo>
                    <a:pt x="533" y="24"/>
                  </a:lnTo>
                  <a:lnTo>
                    <a:pt x="530" y="21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9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49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3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1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3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9" name="Rectangle 9">
              <a:extLst>
                <a:ext uri="{FF2B5EF4-FFF2-40B4-BE49-F238E27FC236}">
                  <a16:creationId xmlns:a16="http://schemas.microsoft.com/office/drawing/2014/main" id="{AC9D0587-5ED6-45C2-A805-4DE2E711DD9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190613" y="3316771"/>
              <a:ext cx="118231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0" name="Rectangle 10">
              <a:extLst>
                <a:ext uri="{FF2B5EF4-FFF2-40B4-BE49-F238E27FC236}">
                  <a16:creationId xmlns:a16="http://schemas.microsoft.com/office/drawing/2014/main" id="{F41A33C2-A2B4-4BB7-81AD-14C3195AC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1849" y="2796071"/>
              <a:ext cx="11541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A6CD5621-70FA-4A32-98F5-C600ABD446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9169" y="3629508"/>
              <a:ext cx="902706" cy="574675"/>
            </a:xfrm>
            <a:custGeom>
              <a:avLst/>
              <a:gdLst>
                <a:gd name="T0" fmla="*/ 164 w 565"/>
                <a:gd name="T1" fmla="*/ 0 h 362"/>
                <a:gd name="T2" fmla="*/ 134 w 565"/>
                <a:gd name="T3" fmla="*/ 6 h 362"/>
                <a:gd name="T4" fmla="*/ 108 w 565"/>
                <a:gd name="T5" fmla="*/ 14 h 362"/>
                <a:gd name="T6" fmla="*/ 83 w 565"/>
                <a:gd name="T7" fmla="*/ 30 h 362"/>
                <a:gd name="T8" fmla="*/ 62 w 565"/>
                <a:gd name="T9" fmla="*/ 48 h 362"/>
                <a:gd name="T10" fmla="*/ 38 w 565"/>
                <a:gd name="T11" fmla="*/ 73 h 362"/>
                <a:gd name="T12" fmla="*/ 16 w 565"/>
                <a:gd name="T13" fmla="*/ 105 h 362"/>
                <a:gd name="T14" fmla="*/ 5 w 565"/>
                <a:gd name="T15" fmla="*/ 126 h 362"/>
                <a:gd name="T16" fmla="*/ 0 w 565"/>
                <a:gd name="T17" fmla="*/ 142 h 362"/>
                <a:gd name="T18" fmla="*/ 0 w 565"/>
                <a:gd name="T19" fmla="*/ 158 h 362"/>
                <a:gd name="T20" fmla="*/ 5 w 565"/>
                <a:gd name="T21" fmla="*/ 180 h 362"/>
                <a:gd name="T22" fmla="*/ 19 w 565"/>
                <a:gd name="T23" fmla="*/ 212 h 362"/>
                <a:gd name="T24" fmla="*/ 38 w 565"/>
                <a:gd name="T25" fmla="*/ 242 h 362"/>
                <a:gd name="T26" fmla="*/ 59 w 565"/>
                <a:gd name="T27" fmla="*/ 268 h 362"/>
                <a:gd name="T28" fmla="*/ 81 w 565"/>
                <a:gd name="T29" fmla="*/ 295 h 362"/>
                <a:gd name="T30" fmla="*/ 105 w 565"/>
                <a:gd name="T31" fmla="*/ 317 h 362"/>
                <a:gd name="T32" fmla="*/ 121 w 565"/>
                <a:gd name="T33" fmla="*/ 327 h 362"/>
                <a:gd name="T34" fmla="*/ 137 w 565"/>
                <a:gd name="T35" fmla="*/ 335 h 362"/>
                <a:gd name="T36" fmla="*/ 159 w 565"/>
                <a:gd name="T37" fmla="*/ 343 h 362"/>
                <a:gd name="T38" fmla="*/ 186 w 565"/>
                <a:gd name="T39" fmla="*/ 349 h 362"/>
                <a:gd name="T40" fmla="*/ 202 w 565"/>
                <a:gd name="T41" fmla="*/ 351 h 362"/>
                <a:gd name="T42" fmla="*/ 239 w 565"/>
                <a:gd name="T43" fmla="*/ 354 h 362"/>
                <a:gd name="T44" fmla="*/ 285 w 565"/>
                <a:gd name="T45" fmla="*/ 360 h 362"/>
                <a:gd name="T46" fmla="*/ 334 w 565"/>
                <a:gd name="T47" fmla="*/ 362 h 362"/>
                <a:gd name="T48" fmla="*/ 385 w 565"/>
                <a:gd name="T49" fmla="*/ 362 h 362"/>
                <a:gd name="T50" fmla="*/ 433 w 565"/>
                <a:gd name="T51" fmla="*/ 360 h 362"/>
                <a:gd name="T52" fmla="*/ 476 w 565"/>
                <a:gd name="T53" fmla="*/ 354 h 362"/>
                <a:gd name="T54" fmla="*/ 503 w 565"/>
                <a:gd name="T55" fmla="*/ 343 h 362"/>
                <a:gd name="T56" fmla="*/ 519 w 565"/>
                <a:gd name="T57" fmla="*/ 338 h 362"/>
                <a:gd name="T58" fmla="*/ 530 w 565"/>
                <a:gd name="T59" fmla="*/ 327 h 362"/>
                <a:gd name="T60" fmla="*/ 543 w 565"/>
                <a:gd name="T61" fmla="*/ 309 h 362"/>
                <a:gd name="T62" fmla="*/ 557 w 565"/>
                <a:gd name="T63" fmla="*/ 276 h 362"/>
                <a:gd name="T64" fmla="*/ 562 w 565"/>
                <a:gd name="T65" fmla="*/ 236 h 362"/>
                <a:gd name="T66" fmla="*/ 565 w 565"/>
                <a:gd name="T67" fmla="*/ 196 h 362"/>
                <a:gd name="T68" fmla="*/ 562 w 565"/>
                <a:gd name="T69" fmla="*/ 153 h 362"/>
                <a:gd name="T70" fmla="*/ 560 w 565"/>
                <a:gd name="T71" fmla="*/ 113 h 362"/>
                <a:gd name="T72" fmla="*/ 554 w 565"/>
                <a:gd name="T73" fmla="*/ 78 h 362"/>
                <a:gd name="T74" fmla="*/ 549 w 565"/>
                <a:gd name="T75" fmla="*/ 59 h 362"/>
                <a:gd name="T76" fmla="*/ 546 w 565"/>
                <a:gd name="T77" fmla="*/ 46 h 362"/>
                <a:gd name="T78" fmla="*/ 541 w 565"/>
                <a:gd name="T79" fmla="*/ 32 h 362"/>
                <a:gd name="T80" fmla="*/ 533 w 565"/>
                <a:gd name="T81" fmla="*/ 24 h 362"/>
                <a:gd name="T82" fmla="*/ 525 w 565"/>
                <a:gd name="T83" fmla="*/ 19 h 362"/>
                <a:gd name="T84" fmla="*/ 508 w 565"/>
                <a:gd name="T85" fmla="*/ 16 h 362"/>
                <a:gd name="T86" fmla="*/ 482 w 565"/>
                <a:gd name="T87" fmla="*/ 16 h 362"/>
                <a:gd name="T88" fmla="*/ 460 w 565"/>
                <a:gd name="T89" fmla="*/ 14 h 362"/>
                <a:gd name="T90" fmla="*/ 430 w 565"/>
                <a:gd name="T91" fmla="*/ 11 h 362"/>
                <a:gd name="T92" fmla="*/ 387 w 565"/>
                <a:gd name="T93" fmla="*/ 14 h 362"/>
                <a:gd name="T94" fmla="*/ 342 w 565"/>
                <a:gd name="T95" fmla="*/ 14 h 362"/>
                <a:gd name="T96" fmla="*/ 301 w 565"/>
                <a:gd name="T97" fmla="*/ 14 h 362"/>
                <a:gd name="T98" fmla="*/ 264 w 565"/>
                <a:gd name="T99" fmla="*/ 11 h 362"/>
                <a:gd name="T100" fmla="*/ 229 w 565"/>
                <a:gd name="T101" fmla="*/ 3 h 362"/>
                <a:gd name="T102" fmla="*/ 199 w 565"/>
                <a:gd name="T103" fmla="*/ 0 h 362"/>
                <a:gd name="T104" fmla="*/ 183 w 565"/>
                <a:gd name="T105" fmla="*/ 0 h 36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565"/>
                <a:gd name="T160" fmla="*/ 0 h 362"/>
                <a:gd name="T161" fmla="*/ 565 w 565"/>
                <a:gd name="T162" fmla="*/ 362 h 36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565" h="362">
                  <a:moveTo>
                    <a:pt x="178" y="0"/>
                  </a:moveTo>
                  <a:lnTo>
                    <a:pt x="164" y="0"/>
                  </a:lnTo>
                  <a:lnTo>
                    <a:pt x="148" y="3"/>
                  </a:lnTo>
                  <a:lnTo>
                    <a:pt x="134" y="6"/>
                  </a:lnTo>
                  <a:lnTo>
                    <a:pt x="121" y="11"/>
                  </a:lnTo>
                  <a:lnTo>
                    <a:pt x="108" y="14"/>
                  </a:lnTo>
                  <a:lnTo>
                    <a:pt x="94" y="22"/>
                  </a:lnTo>
                  <a:lnTo>
                    <a:pt x="83" y="30"/>
                  </a:lnTo>
                  <a:lnTo>
                    <a:pt x="73" y="38"/>
                  </a:lnTo>
                  <a:lnTo>
                    <a:pt x="62" y="48"/>
                  </a:lnTo>
                  <a:lnTo>
                    <a:pt x="48" y="59"/>
                  </a:lnTo>
                  <a:lnTo>
                    <a:pt x="38" y="73"/>
                  </a:lnTo>
                  <a:lnTo>
                    <a:pt x="27" y="89"/>
                  </a:lnTo>
                  <a:lnTo>
                    <a:pt x="16" y="105"/>
                  </a:lnTo>
                  <a:lnTo>
                    <a:pt x="8" y="118"/>
                  </a:lnTo>
                  <a:lnTo>
                    <a:pt x="5" y="126"/>
                  </a:lnTo>
                  <a:lnTo>
                    <a:pt x="3" y="134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3" y="164"/>
                  </a:lnTo>
                  <a:lnTo>
                    <a:pt x="5" y="180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2"/>
                  </a:lnTo>
                  <a:lnTo>
                    <a:pt x="48" y="255"/>
                  </a:lnTo>
                  <a:lnTo>
                    <a:pt x="59" y="268"/>
                  </a:lnTo>
                  <a:lnTo>
                    <a:pt x="70" y="282"/>
                  </a:lnTo>
                  <a:lnTo>
                    <a:pt x="81" y="295"/>
                  </a:lnTo>
                  <a:lnTo>
                    <a:pt x="94" y="306"/>
                  </a:lnTo>
                  <a:lnTo>
                    <a:pt x="105" y="317"/>
                  </a:lnTo>
                  <a:lnTo>
                    <a:pt x="113" y="322"/>
                  </a:lnTo>
                  <a:lnTo>
                    <a:pt x="121" y="327"/>
                  </a:lnTo>
                  <a:lnTo>
                    <a:pt x="129" y="333"/>
                  </a:lnTo>
                  <a:lnTo>
                    <a:pt x="137" y="335"/>
                  </a:lnTo>
                  <a:lnTo>
                    <a:pt x="148" y="341"/>
                  </a:lnTo>
                  <a:lnTo>
                    <a:pt x="159" y="343"/>
                  </a:lnTo>
                  <a:lnTo>
                    <a:pt x="172" y="346"/>
                  </a:lnTo>
                  <a:lnTo>
                    <a:pt x="186" y="349"/>
                  </a:lnTo>
                  <a:lnTo>
                    <a:pt x="194" y="349"/>
                  </a:lnTo>
                  <a:lnTo>
                    <a:pt x="202" y="351"/>
                  </a:lnTo>
                  <a:lnTo>
                    <a:pt x="221" y="354"/>
                  </a:lnTo>
                  <a:lnTo>
                    <a:pt x="239" y="354"/>
                  </a:lnTo>
                  <a:lnTo>
                    <a:pt x="261" y="357"/>
                  </a:lnTo>
                  <a:lnTo>
                    <a:pt x="285" y="360"/>
                  </a:lnTo>
                  <a:lnTo>
                    <a:pt x="309" y="362"/>
                  </a:lnTo>
                  <a:lnTo>
                    <a:pt x="334" y="362"/>
                  </a:lnTo>
                  <a:lnTo>
                    <a:pt x="360" y="362"/>
                  </a:lnTo>
                  <a:lnTo>
                    <a:pt x="385" y="362"/>
                  </a:lnTo>
                  <a:lnTo>
                    <a:pt x="409" y="362"/>
                  </a:lnTo>
                  <a:lnTo>
                    <a:pt x="433" y="360"/>
                  </a:lnTo>
                  <a:lnTo>
                    <a:pt x="457" y="357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3"/>
                  </a:lnTo>
                  <a:lnTo>
                    <a:pt x="511" y="341"/>
                  </a:lnTo>
                  <a:lnTo>
                    <a:pt x="519" y="338"/>
                  </a:lnTo>
                  <a:lnTo>
                    <a:pt x="525" y="333"/>
                  </a:lnTo>
                  <a:lnTo>
                    <a:pt x="530" y="327"/>
                  </a:lnTo>
                  <a:lnTo>
                    <a:pt x="535" y="322"/>
                  </a:lnTo>
                  <a:lnTo>
                    <a:pt x="543" y="309"/>
                  </a:lnTo>
                  <a:lnTo>
                    <a:pt x="552" y="292"/>
                  </a:lnTo>
                  <a:lnTo>
                    <a:pt x="557" y="276"/>
                  </a:lnTo>
                  <a:lnTo>
                    <a:pt x="560" y="258"/>
                  </a:lnTo>
                  <a:lnTo>
                    <a:pt x="562" y="236"/>
                  </a:lnTo>
                  <a:lnTo>
                    <a:pt x="565" y="217"/>
                  </a:lnTo>
                  <a:lnTo>
                    <a:pt x="565" y="196"/>
                  </a:lnTo>
                  <a:lnTo>
                    <a:pt x="562" y="174"/>
                  </a:lnTo>
                  <a:lnTo>
                    <a:pt x="562" y="153"/>
                  </a:lnTo>
                  <a:lnTo>
                    <a:pt x="560" y="132"/>
                  </a:lnTo>
                  <a:lnTo>
                    <a:pt x="560" y="113"/>
                  </a:lnTo>
                  <a:lnTo>
                    <a:pt x="557" y="97"/>
                  </a:lnTo>
                  <a:lnTo>
                    <a:pt x="554" y="78"/>
                  </a:lnTo>
                  <a:lnTo>
                    <a:pt x="552" y="65"/>
                  </a:lnTo>
                  <a:lnTo>
                    <a:pt x="549" y="59"/>
                  </a:lnTo>
                  <a:lnTo>
                    <a:pt x="549" y="54"/>
                  </a:lnTo>
                  <a:lnTo>
                    <a:pt x="546" y="46"/>
                  </a:lnTo>
                  <a:lnTo>
                    <a:pt x="543" y="38"/>
                  </a:lnTo>
                  <a:lnTo>
                    <a:pt x="541" y="32"/>
                  </a:lnTo>
                  <a:lnTo>
                    <a:pt x="538" y="27"/>
                  </a:lnTo>
                  <a:lnTo>
                    <a:pt x="533" y="24"/>
                  </a:lnTo>
                  <a:lnTo>
                    <a:pt x="530" y="22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8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8" y="14"/>
                  </a:lnTo>
                  <a:lnTo>
                    <a:pt x="460" y="14"/>
                  </a:lnTo>
                  <a:lnTo>
                    <a:pt x="452" y="11"/>
                  </a:lnTo>
                  <a:lnTo>
                    <a:pt x="430" y="11"/>
                  </a:lnTo>
                  <a:lnTo>
                    <a:pt x="409" y="11"/>
                  </a:lnTo>
                  <a:lnTo>
                    <a:pt x="387" y="14"/>
                  </a:lnTo>
                  <a:lnTo>
                    <a:pt x="363" y="14"/>
                  </a:lnTo>
                  <a:lnTo>
                    <a:pt x="342" y="14"/>
                  </a:lnTo>
                  <a:lnTo>
                    <a:pt x="320" y="14"/>
                  </a:lnTo>
                  <a:lnTo>
                    <a:pt x="301" y="14"/>
                  </a:lnTo>
                  <a:lnTo>
                    <a:pt x="282" y="11"/>
                  </a:lnTo>
                  <a:lnTo>
                    <a:pt x="264" y="11"/>
                  </a:lnTo>
                  <a:lnTo>
                    <a:pt x="247" y="6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" name="Rectangle 12">
              <a:extLst>
                <a:ext uri="{FF2B5EF4-FFF2-40B4-BE49-F238E27FC236}">
                  <a16:creationId xmlns:a16="http://schemas.microsoft.com/office/drawing/2014/main" id="{78276079-60C2-49CA-ADFD-06A35E21F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8183" y="3748571"/>
              <a:ext cx="12503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43" name="Rectangle 13">
              <a:extLst>
                <a:ext uri="{FF2B5EF4-FFF2-40B4-BE49-F238E27FC236}">
                  <a16:creationId xmlns:a16="http://schemas.microsoft.com/office/drawing/2014/main" id="{D567829E-D641-4922-A84A-F6CA78E52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5229" y="3748571"/>
              <a:ext cx="33663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A9F56B8D-130E-49B4-8610-0D7DBEFEC8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6710" y="3237396"/>
              <a:ext cx="348301" cy="341313"/>
            </a:xfrm>
            <a:custGeom>
              <a:avLst/>
              <a:gdLst>
                <a:gd name="T0" fmla="*/ 99 w 218"/>
                <a:gd name="T1" fmla="*/ 0 h 215"/>
                <a:gd name="T2" fmla="*/ 78 w 218"/>
                <a:gd name="T3" fmla="*/ 6 h 215"/>
                <a:gd name="T4" fmla="*/ 56 w 218"/>
                <a:gd name="T5" fmla="*/ 14 h 215"/>
                <a:gd name="T6" fmla="*/ 40 w 218"/>
                <a:gd name="T7" fmla="*/ 25 h 215"/>
                <a:gd name="T8" fmla="*/ 24 w 218"/>
                <a:gd name="T9" fmla="*/ 41 h 215"/>
                <a:gd name="T10" fmla="*/ 13 w 218"/>
                <a:gd name="T11" fmla="*/ 57 h 215"/>
                <a:gd name="T12" fmla="*/ 5 w 218"/>
                <a:gd name="T13" fmla="*/ 76 h 215"/>
                <a:gd name="T14" fmla="*/ 0 w 218"/>
                <a:gd name="T15" fmla="*/ 97 h 215"/>
                <a:gd name="T16" fmla="*/ 0 w 218"/>
                <a:gd name="T17" fmla="*/ 118 h 215"/>
                <a:gd name="T18" fmla="*/ 5 w 218"/>
                <a:gd name="T19" fmla="*/ 140 h 215"/>
                <a:gd name="T20" fmla="*/ 13 w 218"/>
                <a:gd name="T21" fmla="*/ 159 h 215"/>
                <a:gd name="T22" fmla="*/ 24 w 218"/>
                <a:gd name="T23" fmla="*/ 175 h 215"/>
                <a:gd name="T24" fmla="*/ 40 w 218"/>
                <a:gd name="T25" fmla="*/ 191 h 215"/>
                <a:gd name="T26" fmla="*/ 56 w 218"/>
                <a:gd name="T27" fmla="*/ 202 h 215"/>
                <a:gd name="T28" fmla="*/ 78 w 218"/>
                <a:gd name="T29" fmla="*/ 210 h 215"/>
                <a:gd name="T30" fmla="*/ 99 w 218"/>
                <a:gd name="T31" fmla="*/ 215 h 215"/>
                <a:gd name="T32" fmla="*/ 121 w 218"/>
                <a:gd name="T33" fmla="*/ 215 h 215"/>
                <a:gd name="T34" fmla="*/ 142 w 218"/>
                <a:gd name="T35" fmla="*/ 210 h 215"/>
                <a:gd name="T36" fmla="*/ 161 w 218"/>
                <a:gd name="T37" fmla="*/ 202 h 215"/>
                <a:gd name="T38" fmla="*/ 177 w 218"/>
                <a:gd name="T39" fmla="*/ 191 h 215"/>
                <a:gd name="T40" fmla="*/ 193 w 218"/>
                <a:gd name="T41" fmla="*/ 175 h 215"/>
                <a:gd name="T42" fmla="*/ 204 w 218"/>
                <a:gd name="T43" fmla="*/ 159 h 215"/>
                <a:gd name="T44" fmla="*/ 212 w 218"/>
                <a:gd name="T45" fmla="*/ 140 h 215"/>
                <a:gd name="T46" fmla="*/ 218 w 218"/>
                <a:gd name="T47" fmla="*/ 118 h 215"/>
                <a:gd name="T48" fmla="*/ 218 w 218"/>
                <a:gd name="T49" fmla="*/ 97 h 215"/>
                <a:gd name="T50" fmla="*/ 212 w 218"/>
                <a:gd name="T51" fmla="*/ 76 h 215"/>
                <a:gd name="T52" fmla="*/ 204 w 218"/>
                <a:gd name="T53" fmla="*/ 57 h 215"/>
                <a:gd name="T54" fmla="*/ 193 w 218"/>
                <a:gd name="T55" fmla="*/ 41 h 215"/>
                <a:gd name="T56" fmla="*/ 177 w 218"/>
                <a:gd name="T57" fmla="*/ 25 h 215"/>
                <a:gd name="T58" fmla="*/ 161 w 218"/>
                <a:gd name="T59" fmla="*/ 14 h 215"/>
                <a:gd name="T60" fmla="*/ 142 w 218"/>
                <a:gd name="T61" fmla="*/ 6 h 215"/>
                <a:gd name="T62" fmla="*/ 121 w 218"/>
                <a:gd name="T63" fmla="*/ 0 h 21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18"/>
                <a:gd name="T97" fmla="*/ 0 h 215"/>
                <a:gd name="T98" fmla="*/ 218 w 218"/>
                <a:gd name="T99" fmla="*/ 215 h 215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18" h="215">
                  <a:moveTo>
                    <a:pt x="110" y="0"/>
                  </a:moveTo>
                  <a:lnTo>
                    <a:pt x="99" y="0"/>
                  </a:lnTo>
                  <a:lnTo>
                    <a:pt x="88" y="3"/>
                  </a:lnTo>
                  <a:lnTo>
                    <a:pt x="78" y="6"/>
                  </a:lnTo>
                  <a:lnTo>
                    <a:pt x="67" y="9"/>
                  </a:lnTo>
                  <a:lnTo>
                    <a:pt x="56" y="14"/>
                  </a:lnTo>
                  <a:lnTo>
                    <a:pt x="48" y="19"/>
                  </a:lnTo>
                  <a:lnTo>
                    <a:pt x="40" y="25"/>
                  </a:lnTo>
                  <a:lnTo>
                    <a:pt x="32" y="33"/>
                  </a:lnTo>
                  <a:lnTo>
                    <a:pt x="24" y="41"/>
                  </a:lnTo>
                  <a:lnTo>
                    <a:pt x="18" y="49"/>
                  </a:lnTo>
                  <a:lnTo>
                    <a:pt x="13" y="57"/>
                  </a:lnTo>
                  <a:lnTo>
                    <a:pt x="8" y="65"/>
                  </a:lnTo>
                  <a:lnTo>
                    <a:pt x="5" y="76"/>
                  </a:lnTo>
                  <a:lnTo>
                    <a:pt x="2" y="86"/>
                  </a:lnTo>
                  <a:lnTo>
                    <a:pt x="0" y="97"/>
                  </a:lnTo>
                  <a:lnTo>
                    <a:pt x="0" y="108"/>
                  </a:lnTo>
                  <a:lnTo>
                    <a:pt x="0" y="118"/>
                  </a:lnTo>
                  <a:lnTo>
                    <a:pt x="2" y="129"/>
                  </a:lnTo>
                  <a:lnTo>
                    <a:pt x="5" y="140"/>
                  </a:lnTo>
                  <a:lnTo>
                    <a:pt x="8" y="151"/>
                  </a:lnTo>
                  <a:lnTo>
                    <a:pt x="13" y="159"/>
                  </a:lnTo>
                  <a:lnTo>
                    <a:pt x="18" y="167"/>
                  </a:lnTo>
                  <a:lnTo>
                    <a:pt x="24" y="175"/>
                  </a:lnTo>
                  <a:lnTo>
                    <a:pt x="32" y="183"/>
                  </a:lnTo>
                  <a:lnTo>
                    <a:pt x="40" y="191"/>
                  </a:lnTo>
                  <a:lnTo>
                    <a:pt x="48" y="196"/>
                  </a:lnTo>
                  <a:lnTo>
                    <a:pt x="56" y="202"/>
                  </a:lnTo>
                  <a:lnTo>
                    <a:pt x="67" y="207"/>
                  </a:lnTo>
                  <a:lnTo>
                    <a:pt x="78" y="210"/>
                  </a:lnTo>
                  <a:lnTo>
                    <a:pt x="88" y="212"/>
                  </a:lnTo>
                  <a:lnTo>
                    <a:pt x="99" y="215"/>
                  </a:lnTo>
                  <a:lnTo>
                    <a:pt x="110" y="215"/>
                  </a:lnTo>
                  <a:lnTo>
                    <a:pt x="121" y="215"/>
                  </a:lnTo>
                  <a:lnTo>
                    <a:pt x="131" y="212"/>
                  </a:lnTo>
                  <a:lnTo>
                    <a:pt x="142" y="210"/>
                  </a:lnTo>
                  <a:lnTo>
                    <a:pt x="153" y="207"/>
                  </a:lnTo>
                  <a:lnTo>
                    <a:pt x="161" y="202"/>
                  </a:lnTo>
                  <a:lnTo>
                    <a:pt x="169" y="196"/>
                  </a:lnTo>
                  <a:lnTo>
                    <a:pt x="177" y="191"/>
                  </a:lnTo>
                  <a:lnTo>
                    <a:pt x="185" y="183"/>
                  </a:lnTo>
                  <a:lnTo>
                    <a:pt x="193" y="175"/>
                  </a:lnTo>
                  <a:lnTo>
                    <a:pt x="199" y="167"/>
                  </a:lnTo>
                  <a:lnTo>
                    <a:pt x="204" y="159"/>
                  </a:lnTo>
                  <a:lnTo>
                    <a:pt x="209" y="151"/>
                  </a:lnTo>
                  <a:lnTo>
                    <a:pt x="212" y="140"/>
                  </a:lnTo>
                  <a:lnTo>
                    <a:pt x="215" y="129"/>
                  </a:lnTo>
                  <a:lnTo>
                    <a:pt x="218" y="118"/>
                  </a:lnTo>
                  <a:lnTo>
                    <a:pt x="218" y="108"/>
                  </a:lnTo>
                  <a:lnTo>
                    <a:pt x="218" y="97"/>
                  </a:lnTo>
                  <a:lnTo>
                    <a:pt x="215" y="86"/>
                  </a:lnTo>
                  <a:lnTo>
                    <a:pt x="212" y="76"/>
                  </a:lnTo>
                  <a:lnTo>
                    <a:pt x="209" y="65"/>
                  </a:lnTo>
                  <a:lnTo>
                    <a:pt x="204" y="57"/>
                  </a:lnTo>
                  <a:lnTo>
                    <a:pt x="199" y="49"/>
                  </a:lnTo>
                  <a:lnTo>
                    <a:pt x="193" y="41"/>
                  </a:lnTo>
                  <a:lnTo>
                    <a:pt x="185" y="33"/>
                  </a:lnTo>
                  <a:lnTo>
                    <a:pt x="177" y="25"/>
                  </a:lnTo>
                  <a:lnTo>
                    <a:pt x="169" y="19"/>
                  </a:lnTo>
                  <a:lnTo>
                    <a:pt x="161" y="14"/>
                  </a:lnTo>
                  <a:lnTo>
                    <a:pt x="153" y="9"/>
                  </a:lnTo>
                  <a:lnTo>
                    <a:pt x="142" y="6"/>
                  </a:lnTo>
                  <a:lnTo>
                    <a:pt x="131" y="3"/>
                  </a:lnTo>
                  <a:lnTo>
                    <a:pt x="121" y="0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5" name="Rectangle 15">
              <a:extLst>
                <a:ext uri="{FF2B5EF4-FFF2-40B4-BE49-F238E27FC236}">
                  <a16:creationId xmlns:a16="http://schemas.microsoft.com/office/drawing/2014/main" id="{916E7FF7-2EF0-463C-8288-B76B3257D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595" y="3305658"/>
              <a:ext cx="15388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W</a:t>
              </a:r>
            </a:p>
          </p:txBody>
        </p:sp>
        <p:sp>
          <p:nvSpPr>
            <p:cNvPr id="46" name="Rectangle 16">
              <a:extLst>
                <a:ext uri="{FF2B5EF4-FFF2-40B4-BE49-F238E27FC236}">
                  <a16:creationId xmlns:a16="http://schemas.microsoft.com/office/drawing/2014/main" id="{B05D6E58-9B2A-4A6D-9D5D-48CA509A40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711" y="3277083"/>
              <a:ext cx="33663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E2053CE5-3F88-4538-8F14-3EEBB4948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7407" y="3054833"/>
              <a:ext cx="348301" cy="336550"/>
            </a:xfrm>
            <a:custGeom>
              <a:avLst/>
              <a:gdLst>
                <a:gd name="T0" fmla="*/ 100 w 218"/>
                <a:gd name="T1" fmla="*/ 0 h 212"/>
                <a:gd name="T2" fmla="*/ 78 w 218"/>
                <a:gd name="T3" fmla="*/ 6 h 212"/>
                <a:gd name="T4" fmla="*/ 57 w 218"/>
                <a:gd name="T5" fmla="*/ 14 h 212"/>
                <a:gd name="T6" fmla="*/ 41 w 218"/>
                <a:gd name="T7" fmla="*/ 24 h 212"/>
                <a:gd name="T8" fmla="*/ 25 w 218"/>
                <a:gd name="T9" fmla="*/ 38 h 212"/>
                <a:gd name="T10" fmla="*/ 14 w 218"/>
                <a:gd name="T11" fmla="*/ 54 h 212"/>
                <a:gd name="T12" fmla="*/ 6 w 218"/>
                <a:gd name="T13" fmla="*/ 73 h 212"/>
                <a:gd name="T14" fmla="*/ 0 w 218"/>
                <a:gd name="T15" fmla="*/ 94 h 212"/>
                <a:gd name="T16" fmla="*/ 0 w 218"/>
                <a:gd name="T17" fmla="*/ 115 h 212"/>
                <a:gd name="T18" fmla="*/ 6 w 218"/>
                <a:gd name="T19" fmla="*/ 137 h 212"/>
                <a:gd name="T20" fmla="*/ 14 w 218"/>
                <a:gd name="T21" fmla="*/ 156 h 212"/>
                <a:gd name="T22" fmla="*/ 25 w 218"/>
                <a:gd name="T23" fmla="*/ 172 h 212"/>
                <a:gd name="T24" fmla="*/ 41 w 218"/>
                <a:gd name="T25" fmla="*/ 188 h 212"/>
                <a:gd name="T26" fmla="*/ 57 w 218"/>
                <a:gd name="T27" fmla="*/ 199 h 212"/>
                <a:gd name="T28" fmla="*/ 78 w 218"/>
                <a:gd name="T29" fmla="*/ 207 h 212"/>
                <a:gd name="T30" fmla="*/ 100 w 218"/>
                <a:gd name="T31" fmla="*/ 212 h 212"/>
                <a:gd name="T32" fmla="*/ 121 w 218"/>
                <a:gd name="T33" fmla="*/ 212 h 212"/>
                <a:gd name="T34" fmla="*/ 143 w 218"/>
                <a:gd name="T35" fmla="*/ 207 h 212"/>
                <a:gd name="T36" fmla="*/ 162 w 218"/>
                <a:gd name="T37" fmla="*/ 199 h 212"/>
                <a:gd name="T38" fmla="*/ 178 w 218"/>
                <a:gd name="T39" fmla="*/ 188 h 212"/>
                <a:gd name="T40" fmla="*/ 194 w 218"/>
                <a:gd name="T41" fmla="*/ 172 h 212"/>
                <a:gd name="T42" fmla="*/ 205 w 218"/>
                <a:gd name="T43" fmla="*/ 156 h 212"/>
                <a:gd name="T44" fmla="*/ 213 w 218"/>
                <a:gd name="T45" fmla="*/ 137 h 212"/>
                <a:gd name="T46" fmla="*/ 218 w 218"/>
                <a:gd name="T47" fmla="*/ 115 h 212"/>
                <a:gd name="T48" fmla="*/ 218 w 218"/>
                <a:gd name="T49" fmla="*/ 94 h 212"/>
                <a:gd name="T50" fmla="*/ 213 w 218"/>
                <a:gd name="T51" fmla="*/ 73 h 212"/>
                <a:gd name="T52" fmla="*/ 205 w 218"/>
                <a:gd name="T53" fmla="*/ 54 h 212"/>
                <a:gd name="T54" fmla="*/ 194 w 218"/>
                <a:gd name="T55" fmla="*/ 38 h 212"/>
                <a:gd name="T56" fmla="*/ 178 w 218"/>
                <a:gd name="T57" fmla="*/ 24 h 212"/>
                <a:gd name="T58" fmla="*/ 162 w 218"/>
                <a:gd name="T59" fmla="*/ 14 h 212"/>
                <a:gd name="T60" fmla="*/ 143 w 218"/>
                <a:gd name="T61" fmla="*/ 6 h 212"/>
                <a:gd name="T62" fmla="*/ 121 w 218"/>
                <a:gd name="T63" fmla="*/ 0 h 21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18"/>
                <a:gd name="T97" fmla="*/ 0 h 212"/>
                <a:gd name="T98" fmla="*/ 218 w 218"/>
                <a:gd name="T99" fmla="*/ 212 h 21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18" h="212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8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4"/>
                  </a:lnTo>
                  <a:lnTo>
                    <a:pt x="33" y="30"/>
                  </a:lnTo>
                  <a:lnTo>
                    <a:pt x="25" y="38"/>
                  </a:lnTo>
                  <a:lnTo>
                    <a:pt x="19" y="46"/>
                  </a:lnTo>
                  <a:lnTo>
                    <a:pt x="14" y="54"/>
                  </a:lnTo>
                  <a:lnTo>
                    <a:pt x="8" y="65"/>
                  </a:lnTo>
                  <a:lnTo>
                    <a:pt x="6" y="73"/>
                  </a:lnTo>
                  <a:lnTo>
                    <a:pt x="3" y="83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5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5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8" y="204"/>
                  </a:lnTo>
                  <a:lnTo>
                    <a:pt x="78" y="207"/>
                  </a:lnTo>
                  <a:lnTo>
                    <a:pt x="89" y="209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09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6" y="126"/>
                  </a:lnTo>
                  <a:lnTo>
                    <a:pt x="218" y="115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6" y="83"/>
                  </a:lnTo>
                  <a:lnTo>
                    <a:pt x="213" y="73"/>
                  </a:lnTo>
                  <a:lnTo>
                    <a:pt x="210" y="65"/>
                  </a:lnTo>
                  <a:lnTo>
                    <a:pt x="205" y="54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0"/>
                  </a:lnTo>
                  <a:lnTo>
                    <a:pt x="178" y="24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" name="Rectangle 18">
              <a:extLst>
                <a:ext uri="{FF2B5EF4-FFF2-40B4-BE49-F238E27FC236}">
                  <a16:creationId xmlns:a16="http://schemas.microsoft.com/office/drawing/2014/main" id="{13A4983F-E21E-4FA2-AC93-49DE831F7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2811" y="3086836"/>
              <a:ext cx="11060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71A31049-0FE0-4D07-A848-CAE7148AF3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9419" y="4216883"/>
              <a:ext cx="348301" cy="336550"/>
            </a:xfrm>
            <a:custGeom>
              <a:avLst/>
              <a:gdLst>
                <a:gd name="T0" fmla="*/ 97 w 218"/>
                <a:gd name="T1" fmla="*/ 0 h 212"/>
                <a:gd name="T2" fmla="*/ 75 w 218"/>
                <a:gd name="T3" fmla="*/ 6 h 212"/>
                <a:gd name="T4" fmla="*/ 56 w 218"/>
                <a:gd name="T5" fmla="*/ 14 h 212"/>
                <a:gd name="T6" fmla="*/ 40 w 218"/>
                <a:gd name="T7" fmla="*/ 24 h 212"/>
                <a:gd name="T8" fmla="*/ 24 w 218"/>
                <a:gd name="T9" fmla="*/ 38 h 212"/>
                <a:gd name="T10" fmla="*/ 13 w 218"/>
                <a:gd name="T11" fmla="*/ 54 h 212"/>
                <a:gd name="T12" fmla="*/ 5 w 218"/>
                <a:gd name="T13" fmla="*/ 73 h 212"/>
                <a:gd name="T14" fmla="*/ 0 w 218"/>
                <a:gd name="T15" fmla="*/ 94 h 212"/>
                <a:gd name="T16" fmla="*/ 0 w 218"/>
                <a:gd name="T17" fmla="*/ 116 h 212"/>
                <a:gd name="T18" fmla="*/ 5 w 218"/>
                <a:gd name="T19" fmla="*/ 137 h 212"/>
                <a:gd name="T20" fmla="*/ 13 w 218"/>
                <a:gd name="T21" fmla="*/ 156 h 212"/>
                <a:gd name="T22" fmla="*/ 24 w 218"/>
                <a:gd name="T23" fmla="*/ 172 h 212"/>
                <a:gd name="T24" fmla="*/ 40 w 218"/>
                <a:gd name="T25" fmla="*/ 188 h 212"/>
                <a:gd name="T26" fmla="*/ 56 w 218"/>
                <a:gd name="T27" fmla="*/ 199 h 212"/>
                <a:gd name="T28" fmla="*/ 75 w 218"/>
                <a:gd name="T29" fmla="*/ 207 h 212"/>
                <a:gd name="T30" fmla="*/ 97 w 218"/>
                <a:gd name="T31" fmla="*/ 212 h 212"/>
                <a:gd name="T32" fmla="*/ 118 w 218"/>
                <a:gd name="T33" fmla="*/ 212 h 212"/>
                <a:gd name="T34" fmla="*/ 140 w 218"/>
                <a:gd name="T35" fmla="*/ 207 h 212"/>
                <a:gd name="T36" fmla="*/ 161 w 218"/>
                <a:gd name="T37" fmla="*/ 199 h 212"/>
                <a:gd name="T38" fmla="*/ 178 w 218"/>
                <a:gd name="T39" fmla="*/ 188 h 212"/>
                <a:gd name="T40" fmla="*/ 194 w 218"/>
                <a:gd name="T41" fmla="*/ 172 h 212"/>
                <a:gd name="T42" fmla="*/ 204 w 218"/>
                <a:gd name="T43" fmla="*/ 156 h 212"/>
                <a:gd name="T44" fmla="*/ 213 w 218"/>
                <a:gd name="T45" fmla="*/ 137 h 212"/>
                <a:gd name="T46" fmla="*/ 218 w 218"/>
                <a:gd name="T47" fmla="*/ 116 h 212"/>
                <a:gd name="T48" fmla="*/ 218 w 218"/>
                <a:gd name="T49" fmla="*/ 94 h 212"/>
                <a:gd name="T50" fmla="*/ 213 w 218"/>
                <a:gd name="T51" fmla="*/ 73 h 212"/>
                <a:gd name="T52" fmla="*/ 204 w 218"/>
                <a:gd name="T53" fmla="*/ 54 h 212"/>
                <a:gd name="T54" fmla="*/ 194 w 218"/>
                <a:gd name="T55" fmla="*/ 38 h 212"/>
                <a:gd name="T56" fmla="*/ 178 w 218"/>
                <a:gd name="T57" fmla="*/ 24 h 212"/>
                <a:gd name="T58" fmla="*/ 161 w 218"/>
                <a:gd name="T59" fmla="*/ 14 h 212"/>
                <a:gd name="T60" fmla="*/ 140 w 218"/>
                <a:gd name="T61" fmla="*/ 6 h 212"/>
                <a:gd name="T62" fmla="*/ 118 w 218"/>
                <a:gd name="T63" fmla="*/ 0 h 21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18"/>
                <a:gd name="T97" fmla="*/ 0 h 212"/>
                <a:gd name="T98" fmla="*/ 218 w 218"/>
                <a:gd name="T99" fmla="*/ 212 h 21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18" h="212">
                  <a:moveTo>
                    <a:pt x="108" y="0"/>
                  </a:moveTo>
                  <a:lnTo>
                    <a:pt x="97" y="0"/>
                  </a:lnTo>
                  <a:lnTo>
                    <a:pt x="86" y="3"/>
                  </a:lnTo>
                  <a:lnTo>
                    <a:pt x="75" y="6"/>
                  </a:lnTo>
                  <a:lnTo>
                    <a:pt x="65" y="8"/>
                  </a:lnTo>
                  <a:lnTo>
                    <a:pt x="56" y="14"/>
                  </a:lnTo>
                  <a:lnTo>
                    <a:pt x="48" y="19"/>
                  </a:lnTo>
                  <a:lnTo>
                    <a:pt x="40" y="24"/>
                  </a:lnTo>
                  <a:lnTo>
                    <a:pt x="32" y="30"/>
                  </a:lnTo>
                  <a:lnTo>
                    <a:pt x="24" y="38"/>
                  </a:lnTo>
                  <a:lnTo>
                    <a:pt x="19" y="46"/>
                  </a:lnTo>
                  <a:lnTo>
                    <a:pt x="13" y="54"/>
                  </a:lnTo>
                  <a:lnTo>
                    <a:pt x="8" y="65"/>
                  </a:lnTo>
                  <a:lnTo>
                    <a:pt x="5" y="73"/>
                  </a:lnTo>
                  <a:lnTo>
                    <a:pt x="3" y="83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6"/>
                  </a:lnTo>
                  <a:lnTo>
                    <a:pt x="3" y="126"/>
                  </a:lnTo>
                  <a:lnTo>
                    <a:pt x="5" y="137"/>
                  </a:lnTo>
                  <a:lnTo>
                    <a:pt x="8" y="148"/>
                  </a:lnTo>
                  <a:lnTo>
                    <a:pt x="13" y="156"/>
                  </a:lnTo>
                  <a:lnTo>
                    <a:pt x="19" y="164"/>
                  </a:lnTo>
                  <a:lnTo>
                    <a:pt x="24" y="172"/>
                  </a:lnTo>
                  <a:lnTo>
                    <a:pt x="32" y="180"/>
                  </a:lnTo>
                  <a:lnTo>
                    <a:pt x="40" y="188"/>
                  </a:lnTo>
                  <a:lnTo>
                    <a:pt x="48" y="193"/>
                  </a:lnTo>
                  <a:lnTo>
                    <a:pt x="56" y="199"/>
                  </a:lnTo>
                  <a:lnTo>
                    <a:pt x="65" y="204"/>
                  </a:lnTo>
                  <a:lnTo>
                    <a:pt x="75" y="207"/>
                  </a:lnTo>
                  <a:lnTo>
                    <a:pt x="86" y="209"/>
                  </a:lnTo>
                  <a:lnTo>
                    <a:pt x="97" y="212"/>
                  </a:lnTo>
                  <a:lnTo>
                    <a:pt x="108" y="212"/>
                  </a:lnTo>
                  <a:lnTo>
                    <a:pt x="118" y="212"/>
                  </a:lnTo>
                  <a:lnTo>
                    <a:pt x="129" y="209"/>
                  </a:lnTo>
                  <a:lnTo>
                    <a:pt x="140" y="207"/>
                  </a:lnTo>
                  <a:lnTo>
                    <a:pt x="151" y="204"/>
                  </a:lnTo>
                  <a:lnTo>
                    <a:pt x="161" y="199"/>
                  </a:lnTo>
                  <a:lnTo>
                    <a:pt x="169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4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5" y="126"/>
                  </a:lnTo>
                  <a:lnTo>
                    <a:pt x="218" y="116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5" y="83"/>
                  </a:lnTo>
                  <a:lnTo>
                    <a:pt x="213" y="73"/>
                  </a:lnTo>
                  <a:lnTo>
                    <a:pt x="210" y="65"/>
                  </a:lnTo>
                  <a:lnTo>
                    <a:pt x="204" y="54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0"/>
                  </a:lnTo>
                  <a:lnTo>
                    <a:pt x="178" y="24"/>
                  </a:lnTo>
                  <a:lnTo>
                    <a:pt x="169" y="19"/>
                  </a:lnTo>
                  <a:lnTo>
                    <a:pt x="161" y="14"/>
                  </a:lnTo>
                  <a:lnTo>
                    <a:pt x="151" y="8"/>
                  </a:lnTo>
                  <a:lnTo>
                    <a:pt x="140" y="6"/>
                  </a:lnTo>
                  <a:lnTo>
                    <a:pt x="129" y="3"/>
                  </a:lnTo>
                  <a:lnTo>
                    <a:pt x="11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" name="Rectangle 20">
              <a:extLst>
                <a:ext uri="{FF2B5EF4-FFF2-40B4-BE49-F238E27FC236}">
                  <a16:creationId xmlns:a16="http://schemas.microsoft.com/office/drawing/2014/main" id="{EFEA6412-F467-4A52-B431-9543B683C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5979" y="4266096"/>
              <a:ext cx="11060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51" name="Line 21">
              <a:extLst>
                <a:ext uri="{FF2B5EF4-FFF2-40B4-BE49-F238E27FC236}">
                  <a16:creationId xmlns:a16="http://schemas.microsoft.com/office/drawing/2014/main" id="{4CD860E4-BFC6-4054-B067-AE964D0CD3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5781" y="3416783"/>
              <a:ext cx="447359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2" name="Line 22">
              <a:extLst>
                <a:ext uri="{FF2B5EF4-FFF2-40B4-BE49-F238E27FC236}">
                  <a16:creationId xmlns:a16="http://schemas.microsoft.com/office/drawing/2014/main" id="{D7B2ED8D-8E7A-4F13-B9E6-D37519D2C7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7967" y="2927833"/>
              <a:ext cx="669441" cy="27622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3" name="Line 23">
              <a:extLst>
                <a:ext uri="{FF2B5EF4-FFF2-40B4-BE49-F238E27FC236}">
                  <a16:creationId xmlns:a16="http://schemas.microsoft.com/office/drawing/2014/main" id="{C8D20C2F-0C76-4021-8B30-33C9EDC986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01105" y="3310421"/>
              <a:ext cx="674234" cy="56673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4" name="Line 24">
              <a:extLst>
                <a:ext uri="{FF2B5EF4-FFF2-40B4-BE49-F238E27FC236}">
                  <a16:creationId xmlns:a16="http://schemas.microsoft.com/office/drawing/2014/main" id="{0C9799D2-913B-4528-8BA9-BB68F50B33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9093" y="4008921"/>
              <a:ext cx="618314" cy="3190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5" name="Line 25">
              <a:extLst>
                <a:ext uri="{FF2B5EF4-FFF2-40B4-BE49-F238E27FC236}">
                  <a16:creationId xmlns:a16="http://schemas.microsoft.com/office/drawing/2014/main" id="{246DD4A8-8CE2-416C-B045-AF23F8ABEA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65133" y="3067533"/>
              <a:ext cx="292381" cy="234950"/>
            </a:xfrm>
            <a:prstGeom prst="line">
              <a:avLst/>
            </a:prstGeom>
            <a:noFill/>
            <a:ln w="555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6" name="Line 26">
              <a:extLst>
                <a:ext uri="{FF2B5EF4-FFF2-40B4-BE49-F238E27FC236}">
                  <a16:creationId xmlns:a16="http://schemas.microsoft.com/office/drawing/2014/main" id="{83A9DA2A-47CC-496D-96F0-7AE4560603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42276" y="3196121"/>
              <a:ext cx="1598" cy="425450"/>
            </a:xfrm>
            <a:prstGeom prst="line">
              <a:avLst/>
            </a:prstGeom>
            <a:noFill/>
            <a:ln w="555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" name="Line 27">
              <a:extLst>
                <a:ext uri="{FF2B5EF4-FFF2-40B4-BE49-F238E27FC236}">
                  <a16:creationId xmlns:a16="http://schemas.microsoft.com/office/drawing/2014/main" id="{0C1EA602-7CD8-458E-8231-E6EF17BAC2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0696" y="3621571"/>
              <a:ext cx="266818" cy="165100"/>
            </a:xfrm>
            <a:prstGeom prst="line">
              <a:avLst/>
            </a:prstGeom>
            <a:noFill/>
            <a:ln w="555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8" name="Rectangle 30">
              <a:extLst>
                <a:ext uri="{FF2B5EF4-FFF2-40B4-BE49-F238E27FC236}">
                  <a16:creationId xmlns:a16="http://schemas.microsoft.com/office/drawing/2014/main" id="{310E497D-2430-407F-B2AC-07AB0D7782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7600" y="2543658"/>
              <a:ext cx="40877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9" name="Rectangle 32">
              <a:extLst>
                <a:ext uri="{FF2B5EF4-FFF2-40B4-BE49-F238E27FC236}">
                  <a16:creationId xmlns:a16="http://schemas.microsoft.com/office/drawing/2014/main" id="{158D4FF4-19F5-4710-A85A-0D574908E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6489" y="3520069"/>
              <a:ext cx="81753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用户网络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60" name="Rectangle 36">
              <a:extLst>
                <a:ext uri="{FF2B5EF4-FFF2-40B4-BE49-F238E27FC236}">
                  <a16:creationId xmlns:a16="http://schemas.microsoft.com/office/drawing/2014/main" id="{DB39D30A-3CFD-4933-A80C-2B8AE3D443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6489" y="2661298"/>
              <a:ext cx="96180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提供者网络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1" name="Freeform 40">
              <a:extLst>
                <a:ext uri="{FF2B5EF4-FFF2-40B4-BE49-F238E27FC236}">
                  <a16:creationId xmlns:a16="http://schemas.microsoft.com/office/drawing/2014/main" id="{695C0636-AC52-4FDD-8986-7ED8F533C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1425" y="2548421"/>
              <a:ext cx="899511" cy="574675"/>
            </a:xfrm>
            <a:custGeom>
              <a:avLst/>
              <a:gdLst>
                <a:gd name="T0" fmla="*/ 162 w 563"/>
                <a:gd name="T1" fmla="*/ 0 h 362"/>
                <a:gd name="T2" fmla="*/ 132 w 563"/>
                <a:gd name="T3" fmla="*/ 5 h 362"/>
                <a:gd name="T4" fmla="*/ 108 w 563"/>
                <a:gd name="T5" fmla="*/ 13 h 362"/>
                <a:gd name="T6" fmla="*/ 81 w 563"/>
                <a:gd name="T7" fmla="*/ 30 h 362"/>
                <a:gd name="T8" fmla="*/ 60 w 563"/>
                <a:gd name="T9" fmla="*/ 48 h 362"/>
                <a:gd name="T10" fmla="*/ 35 w 563"/>
                <a:gd name="T11" fmla="*/ 72 h 362"/>
                <a:gd name="T12" fmla="*/ 14 w 563"/>
                <a:gd name="T13" fmla="*/ 102 h 362"/>
                <a:gd name="T14" fmla="*/ 3 w 563"/>
                <a:gd name="T15" fmla="*/ 126 h 362"/>
                <a:gd name="T16" fmla="*/ 0 w 563"/>
                <a:gd name="T17" fmla="*/ 140 h 362"/>
                <a:gd name="T18" fmla="*/ 0 w 563"/>
                <a:gd name="T19" fmla="*/ 156 h 362"/>
                <a:gd name="T20" fmla="*/ 3 w 563"/>
                <a:gd name="T21" fmla="*/ 180 h 362"/>
                <a:gd name="T22" fmla="*/ 17 w 563"/>
                <a:gd name="T23" fmla="*/ 212 h 362"/>
                <a:gd name="T24" fmla="*/ 35 w 563"/>
                <a:gd name="T25" fmla="*/ 241 h 362"/>
                <a:gd name="T26" fmla="*/ 60 w 563"/>
                <a:gd name="T27" fmla="*/ 268 h 362"/>
                <a:gd name="T28" fmla="*/ 81 w 563"/>
                <a:gd name="T29" fmla="*/ 292 h 362"/>
                <a:gd name="T30" fmla="*/ 103 w 563"/>
                <a:gd name="T31" fmla="*/ 316 h 362"/>
                <a:gd name="T32" fmla="*/ 119 w 563"/>
                <a:gd name="T33" fmla="*/ 327 h 362"/>
                <a:gd name="T34" fmla="*/ 135 w 563"/>
                <a:gd name="T35" fmla="*/ 335 h 362"/>
                <a:gd name="T36" fmla="*/ 156 w 563"/>
                <a:gd name="T37" fmla="*/ 341 h 362"/>
                <a:gd name="T38" fmla="*/ 183 w 563"/>
                <a:gd name="T39" fmla="*/ 346 h 362"/>
                <a:gd name="T40" fmla="*/ 200 w 563"/>
                <a:gd name="T41" fmla="*/ 349 h 362"/>
                <a:gd name="T42" fmla="*/ 240 w 563"/>
                <a:gd name="T43" fmla="*/ 354 h 362"/>
                <a:gd name="T44" fmla="*/ 286 w 563"/>
                <a:gd name="T45" fmla="*/ 357 h 362"/>
                <a:gd name="T46" fmla="*/ 334 w 563"/>
                <a:gd name="T47" fmla="*/ 359 h 362"/>
                <a:gd name="T48" fmla="*/ 385 w 563"/>
                <a:gd name="T49" fmla="*/ 362 h 362"/>
                <a:gd name="T50" fmla="*/ 434 w 563"/>
                <a:gd name="T51" fmla="*/ 359 h 362"/>
                <a:gd name="T52" fmla="*/ 477 w 563"/>
                <a:gd name="T53" fmla="*/ 351 h 362"/>
                <a:gd name="T54" fmla="*/ 504 w 563"/>
                <a:gd name="T55" fmla="*/ 343 h 362"/>
                <a:gd name="T56" fmla="*/ 517 w 563"/>
                <a:gd name="T57" fmla="*/ 335 h 362"/>
                <a:gd name="T58" fmla="*/ 528 w 563"/>
                <a:gd name="T59" fmla="*/ 325 h 362"/>
                <a:gd name="T60" fmla="*/ 541 w 563"/>
                <a:gd name="T61" fmla="*/ 306 h 362"/>
                <a:gd name="T62" fmla="*/ 555 w 563"/>
                <a:gd name="T63" fmla="*/ 274 h 362"/>
                <a:gd name="T64" fmla="*/ 560 w 563"/>
                <a:gd name="T65" fmla="*/ 236 h 362"/>
                <a:gd name="T66" fmla="*/ 563 w 563"/>
                <a:gd name="T67" fmla="*/ 193 h 362"/>
                <a:gd name="T68" fmla="*/ 560 w 563"/>
                <a:gd name="T69" fmla="*/ 153 h 362"/>
                <a:gd name="T70" fmla="*/ 557 w 563"/>
                <a:gd name="T71" fmla="*/ 113 h 362"/>
                <a:gd name="T72" fmla="*/ 552 w 563"/>
                <a:gd name="T73" fmla="*/ 78 h 362"/>
                <a:gd name="T74" fmla="*/ 547 w 563"/>
                <a:gd name="T75" fmla="*/ 59 h 362"/>
                <a:gd name="T76" fmla="*/ 544 w 563"/>
                <a:gd name="T77" fmla="*/ 46 h 362"/>
                <a:gd name="T78" fmla="*/ 539 w 563"/>
                <a:gd name="T79" fmla="*/ 30 h 362"/>
                <a:gd name="T80" fmla="*/ 533 w 563"/>
                <a:gd name="T81" fmla="*/ 22 h 362"/>
                <a:gd name="T82" fmla="*/ 522 w 563"/>
                <a:gd name="T83" fmla="*/ 19 h 362"/>
                <a:gd name="T84" fmla="*/ 506 w 563"/>
                <a:gd name="T85" fmla="*/ 16 h 362"/>
                <a:gd name="T86" fmla="*/ 479 w 563"/>
                <a:gd name="T87" fmla="*/ 16 h 362"/>
                <a:gd name="T88" fmla="*/ 466 w 563"/>
                <a:gd name="T89" fmla="*/ 13 h 362"/>
                <a:gd name="T90" fmla="*/ 450 w 563"/>
                <a:gd name="T91" fmla="*/ 11 h 362"/>
                <a:gd name="T92" fmla="*/ 409 w 563"/>
                <a:gd name="T93" fmla="*/ 11 h 362"/>
                <a:gd name="T94" fmla="*/ 364 w 563"/>
                <a:gd name="T95" fmla="*/ 13 h 362"/>
                <a:gd name="T96" fmla="*/ 321 w 563"/>
                <a:gd name="T97" fmla="*/ 13 h 362"/>
                <a:gd name="T98" fmla="*/ 283 w 563"/>
                <a:gd name="T99" fmla="*/ 11 h 362"/>
                <a:gd name="T100" fmla="*/ 248 w 563"/>
                <a:gd name="T101" fmla="*/ 5 h 362"/>
                <a:gd name="T102" fmla="*/ 213 w 563"/>
                <a:gd name="T103" fmla="*/ 0 h 362"/>
                <a:gd name="T104" fmla="*/ 186 w 563"/>
                <a:gd name="T105" fmla="*/ 0 h 362"/>
                <a:gd name="T106" fmla="*/ 175 w 563"/>
                <a:gd name="T107" fmla="*/ 0 h 3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563"/>
                <a:gd name="T163" fmla="*/ 0 h 362"/>
                <a:gd name="T164" fmla="*/ 563 w 563"/>
                <a:gd name="T165" fmla="*/ 362 h 362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563" h="362">
                  <a:moveTo>
                    <a:pt x="175" y="0"/>
                  </a:moveTo>
                  <a:lnTo>
                    <a:pt x="162" y="0"/>
                  </a:lnTo>
                  <a:lnTo>
                    <a:pt x="148" y="3"/>
                  </a:lnTo>
                  <a:lnTo>
                    <a:pt x="132" y="5"/>
                  </a:lnTo>
                  <a:lnTo>
                    <a:pt x="119" y="11"/>
                  </a:lnTo>
                  <a:lnTo>
                    <a:pt x="108" y="13"/>
                  </a:lnTo>
                  <a:lnTo>
                    <a:pt x="95" y="22"/>
                  </a:lnTo>
                  <a:lnTo>
                    <a:pt x="81" y="30"/>
                  </a:lnTo>
                  <a:lnTo>
                    <a:pt x="70" y="38"/>
                  </a:lnTo>
                  <a:lnTo>
                    <a:pt x="60" y="48"/>
                  </a:lnTo>
                  <a:lnTo>
                    <a:pt x="46" y="59"/>
                  </a:lnTo>
                  <a:lnTo>
                    <a:pt x="35" y="72"/>
                  </a:lnTo>
                  <a:lnTo>
                    <a:pt x="25" y="89"/>
                  </a:lnTo>
                  <a:lnTo>
                    <a:pt x="14" y="102"/>
                  </a:lnTo>
                  <a:lnTo>
                    <a:pt x="8" y="118"/>
                  </a:lnTo>
                  <a:lnTo>
                    <a:pt x="3" y="126"/>
                  </a:lnTo>
                  <a:lnTo>
                    <a:pt x="3" y="134"/>
                  </a:lnTo>
                  <a:lnTo>
                    <a:pt x="0" y="140"/>
                  </a:lnTo>
                  <a:lnTo>
                    <a:pt x="0" y="148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3" y="180"/>
                  </a:lnTo>
                  <a:lnTo>
                    <a:pt x="8" y="196"/>
                  </a:lnTo>
                  <a:lnTo>
                    <a:pt x="17" y="212"/>
                  </a:lnTo>
                  <a:lnTo>
                    <a:pt x="27" y="225"/>
                  </a:lnTo>
                  <a:lnTo>
                    <a:pt x="35" y="241"/>
                  </a:lnTo>
                  <a:lnTo>
                    <a:pt x="49" y="255"/>
                  </a:lnTo>
                  <a:lnTo>
                    <a:pt x="60" y="268"/>
                  </a:lnTo>
                  <a:lnTo>
                    <a:pt x="70" y="282"/>
                  </a:lnTo>
                  <a:lnTo>
                    <a:pt x="81" y="292"/>
                  </a:lnTo>
                  <a:lnTo>
                    <a:pt x="92" y="306"/>
                  </a:lnTo>
                  <a:lnTo>
                    <a:pt x="103" y="316"/>
                  </a:lnTo>
                  <a:lnTo>
                    <a:pt x="111" y="322"/>
                  </a:lnTo>
                  <a:lnTo>
                    <a:pt x="119" y="327"/>
                  </a:lnTo>
                  <a:lnTo>
                    <a:pt x="127" y="330"/>
                  </a:lnTo>
                  <a:lnTo>
                    <a:pt x="135" y="335"/>
                  </a:lnTo>
                  <a:lnTo>
                    <a:pt x="146" y="338"/>
                  </a:lnTo>
                  <a:lnTo>
                    <a:pt x="156" y="341"/>
                  </a:lnTo>
                  <a:lnTo>
                    <a:pt x="170" y="343"/>
                  </a:lnTo>
                  <a:lnTo>
                    <a:pt x="183" y="346"/>
                  </a:lnTo>
                  <a:lnTo>
                    <a:pt x="191" y="346"/>
                  </a:lnTo>
                  <a:lnTo>
                    <a:pt x="200" y="349"/>
                  </a:lnTo>
                  <a:lnTo>
                    <a:pt x="218" y="351"/>
                  </a:lnTo>
                  <a:lnTo>
                    <a:pt x="240" y="354"/>
                  </a:lnTo>
                  <a:lnTo>
                    <a:pt x="261" y="354"/>
                  </a:lnTo>
                  <a:lnTo>
                    <a:pt x="286" y="357"/>
                  </a:lnTo>
                  <a:lnTo>
                    <a:pt x="310" y="359"/>
                  </a:lnTo>
                  <a:lnTo>
                    <a:pt x="334" y="359"/>
                  </a:lnTo>
                  <a:lnTo>
                    <a:pt x="361" y="362"/>
                  </a:lnTo>
                  <a:lnTo>
                    <a:pt x="385" y="362"/>
                  </a:lnTo>
                  <a:lnTo>
                    <a:pt x="409" y="359"/>
                  </a:lnTo>
                  <a:lnTo>
                    <a:pt x="434" y="359"/>
                  </a:lnTo>
                  <a:lnTo>
                    <a:pt x="455" y="357"/>
                  </a:lnTo>
                  <a:lnTo>
                    <a:pt x="477" y="351"/>
                  </a:lnTo>
                  <a:lnTo>
                    <a:pt x="493" y="346"/>
                  </a:lnTo>
                  <a:lnTo>
                    <a:pt x="504" y="343"/>
                  </a:lnTo>
                  <a:lnTo>
                    <a:pt x="509" y="338"/>
                  </a:lnTo>
                  <a:lnTo>
                    <a:pt x="517" y="335"/>
                  </a:lnTo>
                  <a:lnTo>
                    <a:pt x="522" y="330"/>
                  </a:lnTo>
                  <a:lnTo>
                    <a:pt x="528" y="325"/>
                  </a:lnTo>
                  <a:lnTo>
                    <a:pt x="533" y="319"/>
                  </a:lnTo>
                  <a:lnTo>
                    <a:pt x="541" y="306"/>
                  </a:lnTo>
                  <a:lnTo>
                    <a:pt x="549" y="292"/>
                  </a:lnTo>
                  <a:lnTo>
                    <a:pt x="555" y="274"/>
                  </a:lnTo>
                  <a:lnTo>
                    <a:pt x="557" y="255"/>
                  </a:lnTo>
                  <a:lnTo>
                    <a:pt x="560" y="236"/>
                  </a:lnTo>
                  <a:lnTo>
                    <a:pt x="563" y="215"/>
                  </a:lnTo>
                  <a:lnTo>
                    <a:pt x="563" y="193"/>
                  </a:lnTo>
                  <a:lnTo>
                    <a:pt x="560" y="172"/>
                  </a:lnTo>
                  <a:lnTo>
                    <a:pt x="560" y="153"/>
                  </a:lnTo>
                  <a:lnTo>
                    <a:pt x="557" y="131"/>
                  </a:lnTo>
                  <a:lnTo>
                    <a:pt x="557" y="113"/>
                  </a:lnTo>
                  <a:lnTo>
                    <a:pt x="555" y="94"/>
                  </a:lnTo>
                  <a:lnTo>
                    <a:pt x="552" y="78"/>
                  </a:lnTo>
                  <a:lnTo>
                    <a:pt x="549" y="64"/>
                  </a:lnTo>
                  <a:lnTo>
                    <a:pt x="547" y="59"/>
                  </a:lnTo>
                  <a:lnTo>
                    <a:pt x="547" y="54"/>
                  </a:lnTo>
                  <a:lnTo>
                    <a:pt x="544" y="46"/>
                  </a:lnTo>
                  <a:lnTo>
                    <a:pt x="541" y="38"/>
                  </a:lnTo>
                  <a:lnTo>
                    <a:pt x="539" y="30"/>
                  </a:lnTo>
                  <a:lnTo>
                    <a:pt x="536" y="27"/>
                  </a:lnTo>
                  <a:lnTo>
                    <a:pt x="533" y="22"/>
                  </a:lnTo>
                  <a:lnTo>
                    <a:pt x="528" y="19"/>
                  </a:lnTo>
                  <a:lnTo>
                    <a:pt x="522" y="19"/>
                  </a:lnTo>
                  <a:lnTo>
                    <a:pt x="520" y="16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74" y="13"/>
                  </a:lnTo>
                  <a:lnTo>
                    <a:pt x="466" y="13"/>
                  </a:lnTo>
                  <a:lnTo>
                    <a:pt x="458" y="13"/>
                  </a:lnTo>
                  <a:lnTo>
                    <a:pt x="450" y="11"/>
                  </a:lnTo>
                  <a:lnTo>
                    <a:pt x="431" y="11"/>
                  </a:lnTo>
                  <a:lnTo>
                    <a:pt x="409" y="11"/>
                  </a:lnTo>
                  <a:lnTo>
                    <a:pt x="388" y="13"/>
                  </a:lnTo>
                  <a:lnTo>
                    <a:pt x="364" y="13"/>
                  </a:lnTo>
                  <a:lnTo>
                    <a:pt x="342" y="13"/>
                  </a:lnTo>
                  <a:lnTo>
                    <a:pt x="321" y="13"/>
                  </a:lnTo>
                  <a:lnTo>
                    <a:pt x="302" y="13"/>
                  </a:lnTo>
                  <a:lnTo>
                    <a:pt x="283" y="11"/>
                  </a:lnTo>
                  <a:lnTo>
                    <a:pt x="264" y="11"/>
                  </a:lnTo>
                  <a:lnTo>
                    <a:pt x="248" y="5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200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2" name="Freeform 41">
              <a:extLst>
                <a:ext uri="{FF2B5EF4-FFF2-40B4-BE49-F238E27FC236}">
                  <a16:creationId xmlns:a16="http://schemas.microsoft.com/office/drawing/2014/main" id="{97A9ADD9-300E-405B-A252-DA2D6FFDEC2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4704" y="3505683"/>
              <a:ext cx="348301" cy="336550"/>
            </a:xfrm>
            <a:custGeom>
              <a:avLst/>
              <a:gdLst>
                <a:gd name="T0" fmla="*/ 100 w 218"/>
                <a:gd name="T1" fmla="*/ 0 h 212"/>
                <a:gd name="T2" fmla="*/ 78 w 218"/>
                <a:gd name="T3" fmla="*/ 6 h 212"/>
                <a:gd name="T4" fmla="*/ 57 w 218"/>
                <a:gd name="T5" fmla="*/ 14 h 212"/>
                <a:gd name="T6" fmla="*/ 41 w 218"/>
                <a:gd name="T7" fmla="*/ 25 h 212"/>
                <a:gd name="T8" fmla="*/ 24 w 218"/>
                <a:gd name="T9" fmla="*/ 38 h 212"/>
                <a:gd name="T10" fmla="*/ 14 w 218"/>
                <a:gd name="T11" fmla="*/ 57 h 212"/>
                <a:gd name="T12" fmla="*/ 6 w 218"/>
                <a:gd name="T13" fmla="*/ 76 h 212"/>
                <a:gd name="T14" fmla="*/ 0 w 218"/>
                <a:gd name="T15" fmla="*/ 94 h 212"/>
                <a:gd name="T16" fmla="*/ 0 w 218"/>
                <a:gd name="T17" fmla="*/ 116 h 212"/>
                <a:gd name="T18" fmla="*/ 6 w 218"/>
                <a:gd name="T19" fmla="*/ 137 h 212"/>
                <a:gd name="T20" fmla="*/ 14 w 218"/>
                <a:gd name="T21" fmla="*/ 156 h 212"/>
                <a:gd name="T22" fmla="*/ 24 w 218"/>
                <a:gd name="T23" fmla="*/ 172 h 212"/>
                <a:gd name="T24" fmla="*/ 41 w 218"/>
                <a:gd name="T25" fmla="*/ 188 h 212"/>
                <a:gd name="T26" fmla="*/ 57 w 218"/>
                <a:gd name="T27" fmla="*/ 199 h 212"/>
                <a:gd name="T28" fmla="*/ 78 w 218"/>
                <a:gd name="T29" fmla="*/ 207 h 212"/>
                <a:gd name="T30" fmla="*/ 100 w 218"/>
                <a:gd name="T31" fmla="*/ 212 h 212"/>
                <a:gd name="T32" fmla="*/ 121 w 218"/>
                <a:gd name="T33" fmla="*/ 212 h 212"/>
                <a:gd name="T34" fmla="*/ 143 w 218"/>
                <a:gd name="T35" fmla="*/ 207 h 212"/>
                <a:gd name="T36" fmla="*/ 162 w 218"/>
                <a:gd name="T37" fmla="*/ 199 h 212"/>
                <a:gd name="T38" fmla="*/ 178 w 218"/>
                <a:gd name="T39" fmla="*/ 188 h 212"/>
                <a:gd name="T40" fmla="*/ 194 w 218"/>
                <a:gd name="T41" fmla="*/ 172 h 212"/>
                <a:gd name="T42" fmla="*/ 205 w 218"/>
                <a:gd name="T43" fmla="*/ 156 h 212"/>
                <a:gd name="T44" fmla="*/ 213 w 218"/>
                <a:gd name="T45" fmla="*/ 137 h 212"/>
                <a:gd name="T46" fmla="*/ 218 w 218"/>
                <a:gd name="T47" fmla="*/ 116 h 212"/>
                <a:gd name="T48" fmla="*/ 218 w 218"/>
                <a:gd name="T49" fmla="*/ 94 h 212"/>
                <a:gd name="T50" fmla="*/ 213 w 218"/>
                <a:gd name="T51" fmla="*/ 76 h 212"/>
                <a:gd name="T52" fmla="*/ 205 w 218"/>
                <a:gd name="T53" fmla="*/ 57 h 212"/>
                <a:gd name="T54" fmla="*/ 194 w 218"/>
                <a:gd name="T55" fmla="*/ 38 h 212"/>
                <a:gd name="T56" fmla="*/ 178 w 218"/>
                <a:gd name="T57" fmla="*/ 25 h 212"/>
                <a:gd name="T58" fmla="*/ 162 w 218"/>
                <a:gd name="T59" fmla="*/ 14 h 212"/>
                <a:gd name="T60" fmla="*/ 143 w 218"/>
                <a:gd name="T61" fmla="*/ 6 h 212"/>
                <a:gd name="T62" fmla="*/ 121 w 218"/>
                <a:gd name="T63" fmla="*/ 0 h 21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18"/>
                <a:gd name="T97" fmla="*/ 0 h 212"/>
                <a:gd name="T98" fmla="*/ 218 w 218"/>
                <a:gd name="T99" fmla="*/ 212 h 21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18" h="212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7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5"/>
                  </a:lnTo>
                  <a:lnTo>
                    <a:pt x="33" y="33"/>
                  </a:lnTo>
                  <a:lnTo>
                    <a:pt x="24" y="38"/>
                  </a:lnTo>
                  <a:lnTo>
                    <a:pt x="19" y="46"/>
                  </a:lnTo>
                  <a:lnTo>
                    <a:pt x="14" y="57"/>
                  </a:lnTo>
                  <a:lnTo>
                    <a:pt x="8" y="65"/>
                  </a:lnTo>
                  <a:lnTo>
                    <a:pt x="6" y="76"/>
                  </a:lnTo>
                  <a:lnTo>
                    <a:pt x="3" y="84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6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4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7" y="204"/>
                  </a:lnTo>
                  <a:lnTo>
                    <a:pt x="78" y="207"/>
                  </a:lnTo>
                  <a:lnTo>
                    <a:pt x="89" y="210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10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5" y="126"/>
                  </a:lnTo>
                  <a:lnTo>
                    <a:pt x="218" y="116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5" y="84"/>
                  </a:lnTo>
                  <a:lnTo>
                    <a:pt x="213" y="76"/>
                  </a:lnTo>
                  <a:lnTo>
                    <a:pt x="210" y="65"/>
                  </a:lnTo>
                  <a:lnTo>
                    <a:pt x="205" y="57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3"/>
                  </a:lnTo>
                  <a:lnTo>
                    <a:pt x="178" y="25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3" name="Rectangle 5">
            <a:extLst>
              <a:ext uri="{FF2B5EF4-FFF2-40B4-BE49-F238E27FC236}">
                <a16:creationId xmlns:a16="http://schemas.microsoft.com/office/drawing/2014/main" id="{7D7F4520-754D-4CD9-B280-15940738A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510757"/>
            <a:ext cx="10515600" cy="1032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路由器使用策略决定接受或拒绝接收到的路由通告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路由器也会基于策略决定是否向其他相邻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AS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通告路径信息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2825734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5.4.3 BGP-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外部网关路由协议</a:t>
            </a:r>
          </a:p>
        </p:txBody>
      </p:sp>
    </p:spTree>
    <p:extLst>
      <p:ext uri="{BB962C8B-B14F-4D97-AF65-F5344CB8AC3E}">
        <p14:creationId xmlns:p14="http://schemas.microsoft.com/office/powerpoint/2010/main" val="3240443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6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BGP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路由策略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DCA248-AD2D-44A0-9FCA-C03A0D974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3466876"/>
            <a:ext cx="10506733" cy="2742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向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通告路径</a:t>
            </a:r>
            <a:r>
              <a:rPr kumimoji="0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AW</a:t>
            </a: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通告到目的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W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的路径为</a:t>
            </a:r>
            <a:r>
              <a:rPr kumimoji="0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BAW</a:t>
            </a: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是否向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C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通告路径</a:t>
            </a:r>
            <a:r>
              <a:rPr kumimoji="0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BAW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?</a:t>
            </a:r>
          </a:p>
          <a:p>
            <a:pPr marL="800100" marR="0" lvl="1" indent="-3429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由于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W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都不是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的用户，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要迫使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通过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路由到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W</a:t>
            </a:r>
          </a:p>
          <a:p>
            <a:pPr marL="800100" marR="0" lvl="1" indent="-3429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只路由来自于或到达其用户的数据包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E13B42FE-2F0F-4C50-B487-D413DDC57958}"/>
              </a:ext>
            </a:extLst>
          </p:cNvPr>
          <p:cNvGrpSpPr/>
          <p:nvPr/>
        </p:nvGrpSpPr>
        <p:grpSpPr>
          <a:xfrm>
            <a:off x="1469400" y="1629260"/>
            <a:ext cx="8575441" cy="1845548"/>
            <a:chOff x="1006710" y="2543658"/>
            <a:chExt cx="6431581" cy="2009775"/>
          </a:xfrm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52C29464-8272-4FF1-AFFC-F1EB31E1C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8456" y="2634146"/>
              <a:ext cx="899511" cy="577850"/>
            </a:xfrm>
            <a:custGeom>
              <a:avLst/>
              <a:gdLst>
                <a:gd name="T0" fmla="*/ 148 w 563"/>
                <a:gd name="T1" fmla="*/ 5 h 364"/>
                <a:gd name="T2" fmla="*/ 119 w 563"/>
                <a:gd name="T3" fmla="*/ 10 h 364"/>
                <a:gd name="T4" fmla="*/ 94 w 563"/>
                <a:gd name="T5" fmla="*/ 21 h 364"/>
                <a:gd name="T6" fmla="*/ 70 w 563"/>
                <a:gd name="T7" fmla="*/ 37 h 364"/>
                <a:gd name="T8" fmla="*/ 46 w 563"/>
                <a:gd name="T9" fmla="*/ 61 h 364"/>
                <a:gd name="T10" fmla="*/ 24 w 563"/>
                <a:gd name="T11" fmla="*/ 91 h 364"/>
                <a:gd name="T12" fmla="*/ 8 w 563"/>
                <a:gd name="T13" fmla="*/ 120 h 364"/>
                <a:gd name="T14" fmla="*/ 3 w 563"/>
                <a:gd name="T15" fmla="*/ 136 h 364"/>
                <a:gd name="T16" fmla="*/ 0 w 563"/>
                <a:gd name="T17" fmla="*/ 150 h 364"/>
                <a:gd name="T18" fmla="*/ 0 w 563"/>
                <a:gd name="T19" fmla="*/ 166 h 364"/>
                <a:gd name="T20" fmla="*/ 8 w 563"/>
                <a:gd name="T21" fmla="*/ 195 h 364"/>
                <a:gd name="T22" fmla="*/ 27 w 563"/>
                <a:gd name="T23" fmla="*/ 228 h 364"/>
                <a:gd name="T24" fmla="*/ 49 w 563"/>
                <a:gd name="T25" fmla="*/ 257 h 364"/>
                <a:gd name="T26" fmla="*/ 70 w 563"/>
                <a:gd name="T27" fmla="*/ 284 h 364"/>
                <a:gd name="T28" fmla="*/ 92 w 563"/>
                <a:gd name="T29" fmla="*/ 305 h 364"/>
                <a:gd name="T30" fmla="*/ 111 w 563"/>
                <a:gd name="T31" fmla="*/ 321 h 364"/>
                <a:gd name="T32" fmla="*/ 127 w 563"/>
                <a:gd name="T33" fmla="*/ 332 h 364"/>
                <a:gd name="T34" fmla="*/ 146 w 563"/>
                <a:gd name="T35" fmla="*/ 340 h 364"/>
                <a:gd name="T36" fmla="*/ 170 w 563"/>
                <a:gd name="T37" fmla="*/ 346 h 364"/>
                <a:gd name="T38" fmla="*/ 191 w 563"/>
                <a:gd name="T39" fmla="*/ 348 h 364"/>
                <a:gd name="T40" fmla="*/ 218 w 563"/>
                <a:gd name="T41" fmla="*/ 354 h 364"/>
                <a:gd name="T42" fmla="*/ 261 w 563"/>
                <a:gd name="T43" fmla="*/ 356 h 364"/>
                <a:gd name="T44" fmla="*/ 310 w 563"/>
                <a:gd name="T45" fmla="*/ 362 h 364"/>
                <a:gd name="T46" fmla="*/ 361 w 563"/>
                <a:gd name="T47" fmla="*/ 364 h 364"/>
                <a:gd name="T48" fmla="*/ 409 w 563"/>
                <a:gd name="T49" fmla="*/ 362 h 364"/>
                <a:gd name="T50" fmla="*/ 458 w 563"/>
                <a:gd name="T51" fmla="*/ 359 h 364"/>
                <a:gd name="T52" fmla="*/ 495 w 563"/>
                <a:gd name="T53" fmla="*/ 348 h 364"/>
                <a:gd name="T54" fmla="*/ 511 w 563"/>
                <a:gd name="T55" fmla="*/ 340 h 364"/>
                <a:gd name="T56" fmla="*/ 525 w 563"/>
                <a:gd name="T57" fmla="*/ 332 h 364"/>
                <a:gd name="T58" fmla="*/ 536 w 563"/>
                <a:gd name="T59" fmla="*/ 321 h 364"/>
                <a:gd name="T60" fmla="*/ 549 w 563"/>
                <a:gd name="T61" fmla="*/ 295 h 364"/>
                <a:gd name="T62" fmla="*/ 557 w 563"/>
                <a:gd name="T63" fmla="*/ 257 h 364"/>
                <a:gd name="T64" fmla="*/ 563 w 563"/>
                <a:gd name="T65" fmla="*/ 217 h 364"/>
                <a:gd name="T66" fmla="*/ 563 w 563"/>
                <a:gd name="T67" fmla="*/ 174 h 364"/>
                <a:gd name="T68" fmla="*/ 557 w 563"/>
                <a:gd name="T69" fmla="*/ 134 h 364"/>
                <a:gd name="T70" fmla="*/ 555 w 563"/>
                <a:gd name="T71" fmla="*/ 96 h 364"/>
                <a:gd name="T72" fmla="*/ 549 w 563"/>
                <a:gd name="T73" fmla="*/ 67 h 364"/>
                <a:gd name="T74" fmla="*/ 546 w 563"/>
                <a:gd name="T75" fmla="*/ 56 h 364"/>
                <a:gd name="T76" fmla="*/ 541 w 563"/>
                <a:gd name="T77" fmla="*/ 40 h 364"/>
                <a:gd name="T78" fmla="*/ 536 w 563"/>
                <a:gd name="T79" fmla="*/ 29 h 364"/>
                <a:gd name="T80" fmla="*/ 528 w 563"/>
                <a:gd name="T81" fmla="*/ 21 h 364"/>
                <a:gd name="T82" fmla="*/ 520 w 563"/>
                <a:gd name="T83" fmla="*/ 18 h 364"/>
                <a:gd name="T84" fmla="*/ 495 w 563"/>
                <a:gd name="T85" fmla="*/ 16 h 364"/>
                <a:gd name="T86" fmla="*/ 466 w 563"/>
                <a:gd name="T87" fmla="*/ 16 h 364"/>
                <a:gd name="T88" fmla="*/ 450 w 563"/>
                <a:gd name="T89" fmla="*/ 13 h 364"/>
                <a:gd name="T90" fmla="*/ 409 w 563"/>
                <a:gd name="T91" fmla="*/ 13 h 364"/>
                <a:gd name="T92" fmla="*/ 364 w 563"/>
                <a:gd name="T93" fmla="*/ 16 h 364"/>
                <a:gd name="T94" fmla="*/ 320 w 563"/>
                <a:gd name="T95" fmla="*/ 16 h 364"/>
                <a:gd name="T96" fmla="*/ 283 w 563"/>
                <a:gd name="T97" fmla="*/ 13 h 364"/>
                <a:gd name="T98" fmla="*/ 248 w 563"/>
                <a:gd name="T99" fmla="*/ 8 h 364"/>
                <a:gd name="T100" fmla="*/ 213 w 563"/>
                <a:gd name="T101" fmla="*/ 2 h 364"/>
                <a:gd name="T102" fmla="*/ 186 w 563"/>
                <a:gd name="T103" fmla="*/ 0 h 364"/>
                <a:gd name="T104" fmla="*/ 175 w 563"/>
                <a:gd name="T105" fmla="*/ 0 h 364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563"/>
                <a:gd name="T160" fmla="*/ 0 h 364"/>
                <a:gd name="T161" fmla="*/ 563 w 563"/>
                <a:gd name="T162" fmla="*/ 364 h 364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563" h="364">
                  <a:moveTo>
                    <a:pt x="175" y="0"/>
                  </a:moveTo>
                  <a:lnTo>
                    <a:pt x="148" y="5"/>
                  </a:lnTo>
                  <a:lnTo>
                    <a:pt x="132" y="8"/>
                  </a:lnTo>
                  <a:lnTo>
                    <a:pt x="119" y="10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1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4" y="104"/>
                  </a:lnTo>
                  <a:lnTo>
                    <a:pt x="8" y="120"/>
                  </a:lnTo>
                  <a:lnTo>
                    <a:pt x="3" y="128"/>
                  </a:lnTo>
                  <a:lnTo>
                    <a:pt x="3" y="136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82"/>
                  </a:lnTo>
                  <a:lnTo>
                    <a:pt x="8" y="195"/>
                  </a:lnTo>
                  <a:lnTo>
                    <a:pt x="16" y="212"/>
                  </a:lnTo>
                  <a:lnTo>
                    <a:pt x="27" y="228"/>
                  </a:lnTo>
                  <a:lnTo>
                    <a:pt x="35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5"/>
                  </a:lnTo>
                  <a:lnTo>
                    <a:pt x="103" y="319"/>
                  </a:lnTo>
                  <a:lnTo>
                    <a:pt x="111" y="321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5" y="335"/>
                  </a:lnTo>
                  <a:lnTo>
                    <a:pt x="146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8"/>
                  </a:lnTo>
                  <a:lnTo>
                    <a:pt x="191" y="348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6"/>
                  </a:lnTo>
                  <a:lnTo>
                    <a:pt x="261" y="356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4"/>
                  </a:lnTo>
                  <a:lnTo>
                    <a:pt x="385" y="364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7" y="354"/>
                  </a:lnTo>
                  <a:lnTo>
                    <a:pt x="495" y="348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20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1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5" y="276"/>
                  </a:lnTo>
                  <a:lnTo>
                    <a:pt x="557" y="257"/>
                  </a:lnTo>
                  <a:lnTo>
                    <a:pt x="560" y="238"/>
                  </a:lnTo>
                  <a:lnTo>
                    <a:pt x="563" y="217"/>
                  </a:lnTo>
                  <a:lnTo>
                    <a:pt x="563" y="195"/>
                  </a:lnTo>
                  <a:lnTo>
                    <a:pt x="563" y="174"/>
                  </a:lnTo>
                  <a:lnTo>
                    <a:pt x="560" y="155"/>
                  </a:lnTo>
                  <a:lnTo>
                    <a:pt x="557" y="134"/>
                  </a:lnTo>
                  <a:lnTo>
                    <a:pt x="557" y="115"/>
                  </a:lnTo>
                  <a:lnTo>
                    <a:pt x="555" y="96"/>
                  </a:lnTo>
                  <a:lnTo>
                    <a:pt x="552" y="80"/>
                  </a:lnTo>
                  <a:lnTo>
                    <a:pt x="549" y="67"/>
                  </a:lnTo>
                  <a:lnTo>
                    <a:pt x="546" y="61"/>
                  </a:lnTo>
                  <a:lnTo>
                    <a:pt x="546" y="56"/>
                  </a:lnTo>
                  <a:lnTo>
                    <a:pt x="544" y="48"/>
                  </a:lnTo>
                  <a:lnTo>
                    <a:pt x="541" y="40"/>
                  </a:lnTo>
                  <a:lnTo>
                    <a:pt x="538" y="32"/>
                  </a:lnTo>
                  <a:lnTo>
                    <a:pt x="536" y="29"/>
                  </a:lnTo>
                  <a:lnTo>
                    <a:pt x="533" y="24"/>
                  </a:lnTo>
                  <a:lnTo>
                    <a:pt x="528" y="21"/>
                  </a:lnTo>
                  <a:lnTo>
                    <a:pt x="522" y="18"/>
                  </a:lnTo>
                  <a:lnTo>
                    <a:pt x="520" y="18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50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4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2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2"/>
                  </a:lnTo>
                  <a:lnTo>
                    <a:pt x="199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EEDA5B69-83AC-4717-A06D-3523A0C055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8346" y="3165958"/>
              <a:ext cx="897913" cy="579438"/>
            </a:xfrm>
            <a:custGeom>
              <a:avLst/>
              <a:gdLst>
                <a:gd name="T0" fmla="*/ 148 w 562"/>
                <a:gd name="T1" fmla="*/ 5 h 365"/>
                <a:gd name="T2" fmla="*/ 121 w 562"/>
                <a:gd name="T3" fmla="*/ 11 h 365"/>
                <a:gd name="T4" fmla="*/ 94 w 562"/>
                <a:gd name="T5" fmla="*/ 21 h 365"/>
                <a:gd name="T6" fmla="*/ 70 w 562"/>
                <a:gd name="T7" fmla="*/ 37 h 365"/>
                <a:gd name="T8" fmla="*/ 46 w 562"/>
                <a:gd name="T9" fmla="*/ 62 h 365"/>
                <a:gd name="T10" fmla="*/ 24 w 562"/>
                <a:gd name="T11" fmla="*/ 91 h 365"/>
                <a:gd name="T12" fmla="*/ 8 w 562"/>
                <a:gd name="T13" fmla="*/ 121 h 365"/>
                <a:gd name="T14" fmla="*/ 3 w 562"/>
                <a:gd name="T15" fmla="*/ 137 h 365"/>
                <a:gd name="T16" fmla="*/ 0 w 562"/>
                <a:gd name="T17" fmla="*/ 150 h 365"/>
                <a:gd name="T18" fmla="*/ 0 w 562"/>
                <a:gd name="T19" fmla="*/ 166 h 365"/>
                <a:gd name="T20" fmla="*/ 3 w 562"/>
                <a:gd name="T21" fmla="*/ 182 h 365"/>
                <a:gd name="T22" fmla="*/ 19 w 562"/>
                <a:gd name="T23" fmla="*/ 212 h 365"/>
                <a:gd name="T24" fmla="*/ 38 w 562"/>
                <a:gd name="T25" fmla="*/ 244 h 365"/>
                <a:gd name="T26" fmla="*/ 59 w 562"/>
                <a:gd name="T27" fmla="*/ 271 h 365"/>
                <a:gd name="T28" fmla="*/ 81 w 562"/>
                <a:gd name="T29" fmla="*/ 295 h 365"/>
                <a:gd name="T30" fmla="*/ 105 w 562"/>
                <a:gd name="T31" fmla="*/ 319 h 365"/>
                <a:gd name="T32" fmla="*/ 119 w 562"/>
                <a:gd name="T33" fmla="*/ 327 h 365"/>
                <a:gd name="T34" fmla="*/ 137 w 562"/>
                <a:gd name="T35" fmla="*/ 335 h 365"/>
                <a:gd name="T36" fmla="*/ 156 w 562"/>
                <a:gd name="T37" fmla="*/ 343 h 365"/>
                <a:gd name="T38" fmla="*/ 183 w 562"/>
                <a:gd name="T39" fmla="*/ 349 h 365"/>
                <a:gd name="T40" fmla="*/ 199 w 562"/>
                <a:gd name="T41" fmla="*/ 351 h 365"/>
                <a:gd name="T42" fmla="*/ 240 w 562"/>
                <a:gd name="T43" fmla="*/ 357 h 365"/>
                <a:gd name="T44" fmla="*/ 285 w 562"/>
                <a:gd name="T45" fmla="*/ 359 h 365"/>
                <a:gd name="T46" fmla="*/ 334 w 562"/>
                <a:gd name="T47" fmla="*/ 362 h 365"/>
                <a:gd name="T48" fmla="*/ 385 w 562"/>
                <a:gd name="T49" fmla="*/ 365 h 365"/>
                <a:gd name="T50" fmla="*/ 433 w 562"/>
                <a:gd name="T51" fmla="*/ 362 h 365"/>
                <a:gd name="T52" fmla="*/ 476 w 562"/>
                <a:gd name="T53" fmla="*/ 354 h 365"/>
                <a:gd name="T54" fmla="*/ 503 w 562"/>
                <a:gd name="T55" fmla="*/ 346 h 365"/>
                <a:gd name="T56" fmla="*/ 519 w 562"/>
                <a:gd name="T57" fmla="*/ 338 h 365"/>
                <a:gd name="T58" fmla="*/ 530 w 562"/>
                <a:gd name="T59" fmla="*/ 327 h 365"/>
                <a:gd name="T60" fmla="*/ 544 w 562"/>
                <a:gd name="T61" fmla="*/ 308 h 365"/>
                <a:gd name="T62" fmla="*/ 554 w 562"/>
                <a:gd name="T63" fmla="*/ 276 h 365"/>
                <a:gd name="T64" fmla="*/ 560 w 562"/>
                <a:gd name="T65" fmla="*/ 239 h 365"/>
                <a:gd name="T66" fmla="*/ 562 w 562"/>
                <a:gd name="T67" fmla="*/ 196 h 365"/>
                <a:gd name="T68" fmla="*/ 560 w 562"/>
                <a:gd name="T69" fmla="*/ 155 h 365"/>
                <a:gd name="T70" fmla="*/ 557 w 562"/>
                <a:gd name="T71" fmla="*/ 115 h 365"/>
                <a:gd name="T72" fmla="*/ 552 w 562"/>
                <a:gd name="T73" fmla="*/ 80 h 365"/>
                <a:gd name="T74" fmla="*/ 549 w 562"/>
                <a:gd name="T75" fmla="*/ 62 h 365"/>
                <a:gd name="T76" fmla="*/ 546 w 562"/>
                <a:gd name="T77" fmla="*/ 48 h 365"/>
                <a:gd name="T78" fmla="*/ 541 w 562"/>
                <a:gd name="T79" fmla="*/ 32 h 365"/>
                <a:gd name="T80" fmla="*/ 533 w 562"/>
                <a:gd name="T81" fmla="*/ 24 h 365"/>
                <a:gd name="T82" fmla="*/ 525 w 562"/>
                <a:gd name="T83" fmla="*/ 19 h 365"/>
                <a:gd name="T84" fmla="*/ 509 w 562"/>
                <a:gd name="T85" fmla="*/ 16 h 365"/>
                <a:gd name="T86" fmla="*/ 482 w 562"/>
                <a:gd name="T87" fmla="*/ 16 h 365"/>
                <a:gd name="T88" fmla="*/ 458 w 562"/>
                <a:gd name="T89" fmla="*/ 16 h 365"/>
                <a:gd name="T90" fmla="*/ 431 w 562"/>
                <a:gd name="T91" fmla="*/ 13 h 365"/>
                <a:gd name="T92" fmla="*/ 388 w 562"/>
                <a:gd name="T93" fmla="*/ 13 h 365"/>
                <a:gd name="T94" fmla="*/ 342 w 562"/>
                <a:gd name="T95" fmla="*/ 16 h 365"/>
                <a:gd name="T96" fmla="*/ 301 w 562"/>
                <a:gd name="T97" fmla="*/ 16 h 365"/>
                <a:gd name="T98" fmla="*/ 264 w 562"/>
                <a:gd name="T99" fmla="*/ 13 h 365"/>
                <a:gd name="T100" fmla="*/ 229 w 562"/>
                <a:gd name="T101" fmla="*/ 5 h 365"/>
                <a:gd name="T102" fmla="*/ 199 w 562"/>
                <a:gd name="T103" fmla="*/ 0 h 365"/>
                <a:gd name="T104" fmla="*/ 183 w 562"/>
                <a:gd name="T105" fmla="*/ 0 h 365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562"/>
                <a:gd name="T160" fmla="*/ 0 h 365"/>
                <a:gd name="T161" fmla="*/ 562 w 562"/>
                <a:gd name="T162" fmla="*/ 365 h 365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562" h="365">
                  <a:moveTo>
                    <a:pt x="178" y="0"/>
                  </a:moveTo>
                  <a:lnTo>
                    <a:pt x="148" y="5"/>
                  </a:lnTo>
                  <a:lnTo>
                    <a:pt x="135" y="8"/>
                  </a:lnTo>
                  <a:lnTo>
                    <a:pt x="121" y="11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2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6" y="104"/>
                  </a:lnTo>
                  <a:lnTo>
                    <a:pt x="8" y="121"/>
                  </a:lnTo>
                  <a:lnTo>
                    <a:pt x="6" y="129"/>
                  </a:lnTo>
                  <a:lnTo>
                    <a:pt x="3" y="137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74"/>
                  </a:lnTo>
                  <a:lnTo>
                    <a:pt x="3" y="182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6"/>
                  </a:lnTo>
                  <a:lnTo>
                    <a:pt x="105" y="319"/>
                  </a:lnTo>
                  <a:lnTo>
                    <a:pt x="110" y="322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7" y="335"/>
                  </a:lnTo>
                  <a:lnTo>
                    <a:pt x="145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9"/>
                  </a:lnTo>
                  <a:lnTo>
                    <a:pt x="191" y="349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7"/>
                  </a:lnTo>
                  <a:lnTo>
                    <a:pt x="261" y="357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5"/>
                  </a:lnTo>
                  <a:lnTo>
                    <a:pt x="385" y="365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19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2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4" y="276"/>
                  </a:lnTo>
                  <a:lnTo>
                    <a:pt x="557" y="257"/>
                  </a:lnTo>
                  <a:lnTo>
                    <a:pt x="560" y="239"/>
                  </a:lnTo>
                  <a:lnTo>
                    <a:pt x="562" y="217"/>
                  </a:lnTo>
                  <a:lnTo>
                    <a:pt x="562" y="196"/>
                  </a:lnTo>
                  <a:lnTo>
                    <a:pt x="562" y="174"/>
                  </a:lnTo>
                  <a:lnTo>
                    <a:pt x="560" y="155"/>
                  </a:lnTo>
                  <a:lnTo>
                    <a:pt x="560" y="134"/>
                  </a:lnTo>
                  <a:lnTo>
                    <a:pt x="557" y="115"/>
                  </a:lnTo>
                  <a:lnTo>
                    <a:pt x="554" y="96"/>
                  </a:lnTo>
                  <a:lnTo>
                    <a:pt x="552" y="80"/>
                  </a:lnTo>
                  <a:lnTo>
                    <a:pt x="552" y="67"/>
                  </a:lnTo>
                  <a:lnTo>
                    <a:pt x="549" y="62"/>
                  </a:lnTo>
                  <a:lnTo>
                    <a:pt x="549" y="56"/>
                  </a:lnTo>
                  <a:lnTo>
                    <a:pt x="546" y="48"/>
                  </a:lnTo>
                  <a:lnTo>
                    <a:pt x="544" y="40"/>
                  </a:lnTo>
                  <a:lnTo>
                    <a:pt x="541" y="32"/>
                  </a:lnTo>
                  <a:lnTo>
                    <a:pt x="538" y="29"/>
                  </a:lnTo>
                  <a:lnTo>
                    <a:pt x="533" y="24"/>
                  </a:lnTo>
                  <a:lnTo>
                    <a:pt x="530" y="21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9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49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3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1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3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AC9D0587-5ED6-45C2-A805-4DE2E711DD9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190613" y="3316771"/>
              <a:ext cx="118231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2" name="Rectangle 10">
              <a:extLst>
                <a:ext uri="{FF2B5EF4-FFF2-40B4-BE49-F238E27FC236}">
                  <a16:creationId xmlns:a16="http://schemas.microsoft.com/office/drawing/2014/main" id="{F41A33C2-A2B4-4BB7-81AD-14C3195AC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1849" y="2796071"/>
              <a:ext cx="11541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A6CD5621-70FA-4A32-98F5-C600ABD446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9169" y="3629508"/>
              <a:ext cx="902706" cy="574675"/>
            </a:xfrm>
            <a:custGeom>
              <a:avLst/>
              <a:gdLst>
                <a:gd name="T0" fmla="*/ 164 w 565"/>
                <a:gd name="T1" fmla="*/ 0 h 362"/>
                <a:gd name="T2" fmla="*/ 134 w 565"/>
                <a:gd name="T3" fmla="*/ 6 h 362"/>
                <a:gd name="T4" fmla="*/ 108 w 565"/>
                <a:gd name="T5" fmla="*/ 14 h 362"/>
                <a:gd name="T6" fmla="*/ 83 w 565"/>
                <a:gd name="T7" fmla="*/ 30 h 362"/>
                <a:gd name="T8" fmla="*/ 62 w 565"/>
                <a:gd name="T9" fmla="*/ 48 h 362"/>
                <a:gd name="T10" fmla="*/ 38 w 565"/>
                <a:gd name="T11" fmla="*/ 73 h 362"/>
                <a:gd name="T12" fmla="*/ 16 w 565"/>
                <a:gd name="T13" fmla="*/ 105 h 362"/>
                <a:gd name="T14" fmla="*/ 5 w 565"/>
                <a:gd name="T15" fmla="*/ 126 h 362"/>
                <a:gd name="T16" fmla="*/ 0 w 565"/>
                <a:gd name="T17" fmla="*/ 142 h 362"/>
                <a:gd name="T18" fmla="*/ 0 w 565"/>
                <a:gd name="T19" fmla="*/ 158 h 362"/>
                <a:gd name="T20" fmla="*/ 5 w 565"/>
                <a:gd name="T21" fmla="*/ 180 h 362"/>
                <a:gd name="T22" fmla="*/ 19 w 565"/>
                <a:gd name="T23" fmla="*/ 212 h 362"/>
                <a:gd name="T24" fmla="*/ 38 w 565"/>
                <a:gd name="T25" fmla="*/ 242 h 362"/>
                <a:gd name="T26" fmla="*/ 59 w 565"/>
                <a:gd name="T27" fmla="*/ 268 h 362"/>
                <a:gd name="T28" fmla="*/ 81 w 565"/>
                <a:gd name="T29" fmla="*/ 295 h 362"/>
                <a:gd name="T30" fmla="*/ 105 w 565"/>
                <a:gd name="T31" fmla="*/ 317 h 362"/>
                <a:gd name="T32" fmla="*/ 121 w 565"/>
                <a:gd name="T33" fmla="*/ 327 h 362"/>
                <a:gd name="T34" fmla="*/ 137 w 565"/>
                <a:gd name="T35" fmla="*/ 335 h 362"/>
                <a:gd name="T36" fmla="*/ 159 w 565"/>
                <a:gd name="T37" fmla="*/ 343 h 362"/>
                <a:gd name="T38" fmla="*/ 186 w 565"/>
                <a:gd name="T39" fmla="*/ 349 h 362"/>
                <a:gd name="T40" fmla="*/ 202 w 565"/>
                <a:gd name="T41" fmla="*/ 351 h 362"/>
                <a:gd name="T42" fmla="*/ 239 w 565"/>
                <a:gd name="T43" fmla="*/ 354 h 362"/>
                <a:gd name="T44" fmla="*/ 285 w 565"/>
                <a:gd name="T45" fmla="*/ 360 h 362"/>
                <a:gd name="T46" fmla="*/ 334 w 565"/>
                <a:gd name="T47" fmla="*/ 362 h 362"/>
                <a:gd name="T48" fmla="*/ 385 w 565"/>
                <a:gd name="T49" fmla="*/ 362 h 362"/>
                <a:gd name="T50" fmla="*/ 433 w 565"/>
                <a:gd name="T51" fmla="*/ 360 h 362"/>
                <a:gd name="T52" fmla="*/ 476 w 565"/>
                <a:gd name="T53" fmla="*/ 354 h 362"/>
                <a:gd name="T54" fmla="*/ 503 w 565"/>
                <a:gd name="T55" fmla="*/ 343 h 362"/>
                <a:gd name="T56" fmla="*/ 519 w 565"/>
                <a:gd name="T57" fmla="*/ 338 h 362"/>
                <a:gd name="T58" fmla="*/ 530 w 565"/>
                <a:gd name="T59" fmla="*/ 327 h 362"/>
                <a:gd name="T60" fmla="*/ 543 w 565"/>
                <a:gd name="T61" fmla="*/ 309 h 362"/>
                <a:gd name="T62" fmla="*/ 557 w 565"/>
                <a:gd name="T63" fmla="*/ 276 h 362"/>
                <a:gd name="T64" fmla="*/ 562 w 565"/>
                <a:gd name="T65" fmla="*/ 236 h 362"/>
                <a:gd name="T66" fmla="*/ 565 w 565"/>
                <a:gd name="T67" fmla="*/ 196 h 362"/>
                <a:gd name="T68" fmla="*/ 562 w 565"/>
                <a:gd name="T69" fmla="*/ 153 h 362"/>
                <a:gd name="T70" fmla="*/ 560 w 565"/>
                <a:gd name="T71" fmla="*/ 113 h 362"/>
                <a:gd name="T72" fmla="*/ 554 w 565"/>
                <a:gd name="T73" fmla="*/ 78 h 362"/>
                <a:gd name="T74" fmla="*/ 549 w 565"/>
                <a:gd name="T75" fmla="*/ 59 h 362"/>
                <a:gd name="T76" fmla="*/ 546 w 565"/>
                <a:gd name="T77" fmla="*/ 46 h 362"/>
                <a:gd name="T78" fmla="*/ 541 w 565"/>
                <a:gd name="T79" fmla="*/ 32 h 362"/>
                <a:gd name="T80" fmla="*/ 533 w 565"/>
                <a:gd name="T81" fmla="*/ 24 h 362"/>
                <a:gd name="T82" fmla="*/ 525 w 565"/>
                <a:gd name="T83" fmla="*/ 19 h 362"/>
                <a:gd name="T84" fmla="*/ 508 w 565"/>
                <a:gd name="T85" fmla="*/ 16 h 362"/>
                <a:gd name="T86" fmla="*/ 482 w 565"/>
                <a:gd name="T87" fmla="*/ 16 h 362"/>
                <a:gd name="T88" fmla="*/ 460 w 565"/>
                <a:gd name="T89" fmla="*/ 14 h 362"/>
                <a:gd name="T90" fmla="*/ 430 w 565"/>
                <a:gd name="T91" fmla="*/ 11 h 362"/>
                <a:gd name="T92" fmla="*/ 387 w 565"/>
                <a:gd name="T93" fmla="*/ 14 h 362"/>
                <a:gd name="T94" fmla="*/ 342 w 565"/>
                <a:gd name="T95" fmla="*/ 14 h 362"/>
                <a:gd name="T96" fmla="*/ 301 w 565"/>
                <a:gd name="T97" fmla="*/ 14 h 362"/>
                <a:gd name="T98" fmla="*/ 264 w 565"/>
                <a:gd name="T99" fmla="*/ 11 h 362"/>
                <a:gd name="T100" fmla="*/ 229 w 565"/>
                <a:gd name="T101" fmla="*/ 3 h 362"/>
                <a:gd name="T102" fmla="*/ 199 w 565"/>
                <a:gd name="T103" fmla="*/ 0 h 362"/>
                <a:gd name="T104" fmla="*/ 183 w 565"/>
                <a:gd name="T105" fmla="*/ 0 h 36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565"/>
                <a:gd name="T160" fmla="*/ 0 h 362"/>
                <a:gd name="T161" fmla="*/ 565 w 565"/>
                <a:gd name="T162" fmla="*/ 362 h 36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565" h="362">
                  <a:moveTo>
                    <a:pt x="178" y="0"/>
                  </a:moveTo>
                  <a:lnTo>
                    <a:pt x="164" y="0"/>
                  </a:lnTo>
                  <a:lnTo>
                    <a:pt x="148" y="3"/>
                  </a:lnTo>
                  <a:lnTo>
                    <a:pt x="134" y="6"/>
                  </a:lnTo>
                  <a:lnTo>
                    <a:pt x="121" y="11"/>
                  </a:lnTo>
                  <a:lnTo>
                    <a:pt x="108" y="14"/>
                  </a:lnTo>
                  <a:lnTo>
                    <a:pt x="94" y="22"/>
                  </a:lnTo>
                  <a:lnTo>
                    <a:pt x="83" y="30"/>
                  </a:lnTo>
                  <a:lnTo>
                    <a:pt x="73" y="38"/>
                  </a:lnTo>
                  <a:lnTo>
                    <a:pt x="62" y="48"/>
                  </a:lnTo>
                  <a:lnTo>
                    <a:pt x="48" y="59"/>
                  </a:lnTo>
                  <a:lnTo>
                    <a:pt x="38" y="73"/>
                  </a:lnTo>
                  <a:lnTo>
                    <a:pt x="27" y="89"/>
                  </a:lnTo>
                  <a:lnTo>
                    <a:pt x="16" y="105"/>
                  </a:lnTo>
                  <a:lnTo>
                    <a:pt x="8" y="118"/>
                  </a:lnTo>
                  <a:lnTo>
                    <a:pt x="5" y="126"/>
                  </a:lnTo>
                  <a:lnTo>
                    <a:pt x="3" y="134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3" y="164"/>
                  </a:lnTo>
                  <a:lnTo>
                    <a:pt x="5" y="180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2"/>
                  </a:lnTo>
                  <a:lnTo>
                    <a:pt x="48" y="255"/>
                  </a:lnTo>
                  <a:lnTo>
                    <a:pt x="59" y="268"/>
                  </a:lnTo>
                  <a:lnTo>
                    <a:pt x="70" y="282"/>
                  </a:lnTo>
                  <a:lnTo>
                    <a:pt x="81" y="295"/>
                  </a:lnTo>
                  <a:lnTo>
                    <a:pt x="94" y="306"/>
                  </a:lnTo>
                  <a:lnTo>
                    <a:pt x="105" y="317"/>
                  </a:lnTo>
                  <a:lnTo>
                    <a:pt x="113" y="322"/>
                  </a:lnTo>
                  <a:lnTo>
                    <a:pt x="121" y="327"/>
                  </a:lnTo>
                  <a:lnTo>
                    <a:pt x="129" y="333"/>
                  </a:lnTo>
                  <a:lnTo>
                    <a:pt x="137" y="335"/>
                  </a:lnTo>
                  <a:lnTo>
                    <a:pt x="148" y="341"/>
                  </a:lnTo>
                  <a:lnTo>
                    <a:pt x="159" y="343"/>
                  </a:lnTo>
                  <a:lnTo>
                    <a:pt x="172" y="346"/>
                  </a:lnTo>
                  <a:lnTo>
                    <a:pt x="186" y="349"/>
                  </a:lnTo>
                  <a:lnTo>
                    <a:pt x="194" y="349"/>
                  </a:lnTo>
                  <a:lnTo>
                    <a:pt x="202" y="351"/>
                  </a:lnTo>
                  <a:lnTo>
                    <a:pt x="221" y="354"/>
                  </a:lnTo>
                  <a:lnTo>
                    <a:pt x="239" y="354"/>
                  </a:lnTo>
                  <a:lnTo>
                    <a:pt x="261" y="357"/>
                  </a:lnTo>
                  <a:lnTo>
                    <a:pt x="285" y="360"/>
                  </a:lnTo>
                  <a:lnTo>
                    <a:pt x="309" y="362"/>
                  </a:lnTo>
                  <a:lnTo>
                    <a:pt x="334" y="362"/>
                  </a:lnTo>
                  <a:lnTo>
                    <a:pt x="360" y="362"/>
                  </a:lnTo>
                  <a:lnTo>
                    <a:pt x="385" y="362"/>
                  </a:lnTo>
                  <a:lnTo>
                    <a:pt x="409" y="362"/>
                  </a:lnTo>
                  <a:lnTo>
                    <a:pt x="433" y="360"/>
                  </a:lnTo>
                  <a:lnTo>
                    <a:pt x="457" y="357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3"/>
                  </a:lnTo>
                  <a:lnTo>
                    <a:pt x="511" y="341"/>
                  </a:lnTo>
                  <a:lnTo>
                    <a:pt x="519" y="338"/>
                  </a:lnTo>
                  <a:lnTo>
                    <a:pt x="525" y="333"/>
                  </a:lnTo>
                  <a:lnTo>
                    <a:pt x="530" y="327"/>
                  </a:lnTo>
                  <a:lnTo>
                    <a:pt x="535" y="322"/>
                  </a:lnTo>
                  <a:lnTo>
                    <a:pt x="543" y="309"/>
                  </a:lnTo>
                  <a:lnTo>
                    <a:pt x="552" y="292"/>
                  </a:lnTo>
                  <a:lnTo>
                    <a:pt x="557" y="276"/>
                  </a:lnTo>
                  <a:lnTo>
                    <a:pt x="560" y="258"/>
                  </a:lnTo>
                  <a:lnTo>
                    <a:pt x="562" y="236"/>
                  </a:lnTo>
                  <a:lnTo>
                    <a:pt x="565" y="217"/>
                  </a:lnTo>
                  <a:lnTo>
                    <a:pt x="565" y="196"/>
                  </a:lnTo>
                  <a:lnTo>
                    <a:pt x="562" y="174"/>
                  </a:lnTo>
                  <a:lnTo>
                    <a:pt x="562" y="153"/>
                  </a:lnTo>
                  <a:lnTo>
                    <a:pt x="560" y="132"/>
                  </a:lnTo>
                  <a:lnTo>
                    <a:pt x="560" y="113"/>
                  </a:lnTo>
                  <a:lnTo>
                    <a:pt x="557" y="97"/>
                  </a:lnTo>
                  <a:lnTo>
                    <a:pt x="554" y="78"/>
                  </a:lnTo>
                  <a:lnTo>
                    <a:pt x="552" y="65"/>
                  </a:lnTo>
                  <a:lnTo>
                    <a:pt x="549" y="59"/>
                  </a:lnTo>
                  <a:lnTo>
                    <a:pt x="549" y="54"/>
                  </a:lnTo>
                  <a:lnTo>
                    <a:pt x="546" y="46"/>
                  </a:lnTo>
                  <a:lnTo>
                    <a:pt x="543" y="38"/>
                  </a:lnTo>
                  <a:lnTo>
                    <a:pt x="541" y="32"/>
                  </a:lnTo>
                  <a:lnTo>
                    <a:pt x="538" y="27"/>
                  </a:lnTo>
                  <a:lnTo>
                    <a:pt x="533" y="24"/>
                  </a:lnTo>
                  <a:lnTo>
                    <a:pt x="530" y="22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8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8" y="14"/>
                  </a:lnTo>
                  <a:lnTo>
                    <a:pt x="460" y="14"/>
                  </a:lnTo>
                  <a:lnTo>
                    <a:pt x="452" y="11"/>
                  </a:lnTo>
                  <a:lnTo>
                    <a:pt x="430" y="11"/>
                  </a:lnTo>
                  <a:lnTo>
                    <a:pt x="409" y="11"/>
                  </a:lnTo>
                  <a:lnTo>
                    <a:pt x="387" y="14"/>
                  </a:lnTo>
                  <a:lnTo>
                    <a:pt x="363" y="14"/>
                  </a:lnTo>
                  <a:lnTo>
                    <a:pt x="342" y="14"/>
                  </a:lnTo>
                  <a:lnTo>
                    <a:pt x="320" y="14"/>
                  </a:lnTo>
                  <a:lnTo>
                    <a:pt x="301" y="14"/>
                  </a:lnTo>
                  <a:lnTo>
                    <a:pt x="282" y="11"/>
                  </a:lnTo>
                  <a:lnTo>
                    <a:pt x="264" y="11"/>
                  </a:lnTo>
                  <a:lnTo>
                    <a:pt x="247" y="6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78276079-60C2-49CA-ADFD-06A35E21F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8183" y="3748571"/>
              <a:ext cx="12503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D567829E-D641-4922-A84A-F6CA78E52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5229" y="3748571"/>
              <a:ext cx="33663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A9F56B8D-130E-49B4-8610-0D7DBEFEC8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6710" y="3237396"/>
              <a:ext cx="348301" cy="341313"/>
            </a:xfrm>
            <a:custGeom>
              <a:avLst/>
              <a:gdLst>
                <a:gd name="T0" fmla="*/ 99 w 218"/>
                <a:gd name="T1" fmla="*/ 0 h 215"/>
                <a:gd name="T2" fmla="*/ 78 w 218"/>
                <a:gd name="T3" fmla="*/ 6 h 215"/>
                <a:gd name="T4" fmla="*/ 56 w 218"/>
                <a:gd name="T5" fmla="*/ 14 h 215"/>
                <a:gd name="T6" fmla="*/ 40 w 218"/>
                <a:gd name="T7" fmla="*/ 25 h 215"/>
                <a:gd name="T8" fmla="*/ 24 w 218"/>
                <a:gd name="T9" fmla="*/ 41 h 215"/>
                <a:gd name="T10" fmla="*/ 13 w 218"/>
                <a:gd name="T11" fmla="*/ 57 h 215"/>
                <a:gd name="T12" fmla="*/ 5 w 218"/>
                <a:gd name="T13" fmla="*/ 76 h 215"/>
                <a:gd name="T14" fmla="*/ 0 w 218"/>
                <a:gd name="T15" fmla="*/ 97 h 215"/>
                <a:gd name="T16" fmla="*/ 0 w 218"/>
                <a:gd name="T17" fmla="*/ 118 h 215"/>
                <a:gd name="T18" fmla="*/ 5 w 218"/>
                <a:gd name="T19" fmla="*/ 140 h 215"/>
                <a:gd name="T20" fmla="*/ 13 w 218"/>
                <a:gd name="T21" fmla="*/ 159 h 215"/>
                <a:gd name="T22" fmla="*/ 24 w 218"/>
                <a:gd name="T23" fmla="*/ 175 h 215"/>
                <a:gd name="T24" fmla="*/ 40 w 218"/>
                <a:gd name="T25" fmla="*/ 191 h 215"/>
                <a:gd name="T26" fmla="*/ 56 w 218"/>
                <a:gd name="T27" fmla="*/ 202 h 215"/>
                <a:gd name="T28" fmla="*/ 78 w 218"/>
                <a:gd name="T29" fmla="*/ 210 h 215"/>
                <a:gd name="T30" fmla="*/ 99 w 218"/>
                <a:gd name="T31" fmla="*/ 215 h 215"/>
                <a:gd name="T32" fmla="*/ 121 w 218"/>
                <a:gd name="T33" fmla="*/ 215 h 215"/>
                <a:gd name="T34" fmla="*/ 142 w 218"/>
                <a:gd name="T35" fmla="*/ 210 h 215"/>
                <a:gd name="T36" fmla="*/ 161 w 218"/>
                <a:gd name="T37" fmla="*/ 202 h 215"/>
                <a:gd name="T38" fmla="*/ 177 w 218"/>
                <a:gd name="T39" fmla="*/ 191 h 215"/>
                <a:gd name="T40" fmla="*/ 193 w 218"/>
                <a:gd name="T41" fmla="*/ 175 h 215"/>
                <a:gd name="T42" fmla="*/ 204 w 218"/>
                <a:gd name="T43" fmla="*/ 159 h 215"/>
                <a:gd name="T44" fmla="*/ 212 w 218"/>
                <a:gd name="T45" fmla="*/ 140 h 215"/>
                <a:gd name="T46" fmla="*/ 218 w 218"/>
                <a:gd name="T47" fmla="*/ 118 h 215"/>
                <a:gd name="T48" fmla="*/ 218 w 218"/>
                <a:gd name="T49" fmla="*/ 97 h 215"/>
                <a:gd name="T50" fmla="*/ 212 w 218"/>
                <a:gd name="T51" fmla="*/ 76 h 215"/>
                <a:gd name="T52" fmla="*/ 204 w 218"/>
                <a:gd name="T53" fmla="*/ 57 h 215"/>
                <a:gd name="T54" fmla="*/ 193 w 218"/>
                <a:gd name="T55" fmla="*/ 41 h 215"/>
                <a:gd name="T56" fmla="*/ 177 w 218"/>
                <a:gd name="T57" fmla="*/ 25 h 215"/>
                <a:gd name="T58" fmla="*/ 161 w 218"/>
                <a:gd name="T59" fmla="*/ 14 h 215"/>
                <a:gd name="T60" fmla="*/ 142 w 218"/>
                <a:gd name="T61" fmla="*/ 6 h 215"/>
                <a:gd name="T62" fmla="*/ 121 w 218"/>
                <a:gd name="T63" fmla="*/ 0 h 21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18"/>
                <a:gd name="T97" fmla="*/ 0 h 215"/>
                <a:gd name="T98" fmla="*/ 218 w 218"/>
                <a:gd name="T99" fmla="*/ 215 h 215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18" h="215">
                  <a:moveTo>
                    <a:pt x="110" y="0"/>
                  </a:moveTo>
                  <a:lnTo>
                    <a:pt x="99" y="0"/>
                  </a:lnTo>
                  <a:lnTo>
                    <a:pt x="88" y="3"/>
                  </a:lnTo>
                  <a:lnTo>
                    <a:pt x="78" y="6"/>
                  </a:lnTo>
                  <a:lnTo>
                    <a:pt x="67" y="9"/>
                  </a:lnTo>
                  <a:lnTo>
                    <a:pt x="56" y="14"/>
                  </a:lnTo>
                  <a:lnTo>
                    <a:pt x="48" y="19"/>
                  </a:lnTo>
                  <a:lnTo>
                    <a:pt x="40" y="25"/>
                  </a:lnTo>
                  <a:lnTo>
                    <a:pt x="32" y="33"/>
                  </a:lnTo>
                  <a:lnTo>
                    <a:pt x="24" y="41"/>
                  </a:lnTo>
                  <a:lnTo>
                    <a:pt x="18" y="49"/>
                  </a:lnTo>
                  <a:lnTo>
                    <a:pt x="13" y="57"/>
                  </a:lnTo>
                  <a:lnTo>
                    <a:pt x="8" y="65"/>
                  </a:lnTo>
                  <a:lnTo>
                    <a:pt x="5" y="76"/>
                  </a:lnTo>
                  <a:lnTo>
                    <a:pt x="2" y="86"/>
                  </a:lnTo>
                  <a:lnTo>
                    <a:pt x="0" y="97"/>
                  </a:lnTo>
                  <a:lnTo>
                    <a:pt x="0" y="108"/>
                  </a:lnTo>
                  <a:lnTo>
                    <a:pt x="0" y="118"/>
                  </a:lnTo>
                  <a:lnTo>
                    <a:pt x="2" y="129"/>
                  </a:lnTo>
                  <a:lnTo>
                    <a:pt x="5" y="140"/>
                  </a:lnTo>
                  <a:lnTo>
                    <a:pt x="8" y="151"/>
                  </a:lnTo>
                  <a:lnTo>
                    <a:pt x="13" y="159"/>
                  </a:lnTo>
                  <a:lnTo>
                    <a:pt x="18" y="167"/>
                  </a:lnTo>
                  <a:lnTo>
                    <a:pt x="24" y="175"/>
                  </a:lnTo>
                  <a:lnTo>
                    <a:pt x="32" y="183"/>
                  </a:lnTo>
                  <a:lnTo>
                    <a:pt x="40" y="191"/>
                  </a:lnTo>
                  <a:lnTo>
                    <a:pt x="48" y="196"/>
                  </a:lnTo>
                  <a:lnTo>
                    <a:pt x="56" y="202"/>
                  </a:lnTo>
                  <a:lnTo>
                    <a:pt x="67" y="207"/>
                  </a:lnTo>
                  <a:lnTo>
                    <a:pt x="78" y="210"/>
                  </a:lnTo>
                  <a:lnTo>
                    <a:pt x="88" y="212"/>
                  </a:lnTo>
                  <a:lnTo>
                    <a:pt x="99" y="215"/>
                  </a:lnTo>
                  <a:lnTo>
                    <a:pt x="110" y="215"/>
                  </a:lnTo>
                  <a:lnTo>
                    <a:pt x="121" y="215"/>
                  </a:lnTo>
                  <a:lnTo>
                    <a:pt x="131" y="212"/>
                  </a:lnTo>
                  <a:lnTo>
                    <a:pt x="142" y="210"/>
                  </a:lnTo>
                  <a:lnTo>
                    <a:pt x="153" y="207"/>
                  </a:lnTo>
                  <a:lnTo>
                    <a:pt x="161" y="202"/>
                  </a:lnTo>
                  <a:lnTo>
                    <a:pt x="169" y="196"/>
                  </a:lnTo>
                  <a:lnTo>
                    <a:pt x="177" y="191"/>
                  </a:lnTo>
                  <a:lnTo>
                    <a:pt x="185" y="183"/>
                  </a:lnTo>
                  <a:lnTo>
                    <a:pt x="193" y="175"/>
                  </a:lnTo>
                  <a:lnTo>
                    <a:pt x="199" y="167"/>
                  </a:lnTo>
                  <a:lnTo>
                    <a:pt x="204" y="159"/>
                  </a:lnTo>
                  <a:lnTo>
                    <a:pt x="209" y="151"/>
                  </a:lnTo>
                  <a:lnTo>
                    <a:pt x="212" y="140"/>
                  </a:lnTo>
                  <a:lnTo>
                    <a:pt x="215" y="129"/>
                  </a:lnTo>
                  <a:lnTo>
                    <a:pt x="218" y="118"/>
                  </a:lnTo>
                  <a:lnTo>
                    <a:pt x="218" y="108"/>
                  </a:lnTo>
                  <a:lnTo>
                    <a:pt x="218" y="97"/>
                  </a:lnTo>
                  <a:lnTo>
                    <a:pt x="215" y="86"/>
                  </a:lnTo>
                  <a:lnTo>
                    <a:pt x="212" y="76"/>
                  </a:lnTo>
                  <a:lnTo>
                    <a:pt x="209" y="65"/>
                  </a:lnTo>
                  <a:lnTo>
                    <a:pt x="204" y="57"/>
                  </a:lnTo>
                  <a:lnTo>
                    <a:pt x="199" y="49"/>
                  </a:lnTo>
                  <a:lnTo>
                    <a:pt x="193" y="41"/>
                  </a:lnTo>
                  <a:lnTo>
                    <a:pt x="185" y="33"/>
                  </a:lnTo>
                  <a:lnTo>
                    <a:pt x="177" y="25"/>
                  </a:lnTo>
                  <a:lnTo>
                    <a:pt x="169" y="19"/>
                  </a:lnTo>
                  <a:lnTo>
                    <a:pt x="161" y="14"/>
                  </a:lnTo>
                  <a:lnTo>
                    <a:pt x="153" y="9"/>
                  </a:lnTo>
                  <a:lnTo>
                    <a:pt x="142" y="6"/>
                  </a:lnTo>
                  <a:lnTo>
                    <a:pt x="131" y="3"/>
                  </a:lnTo>
                  <a:lnTo>
                    <a:pt x="121" y="0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916E7FF7-2EF0-463C-8288-B76B3257D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595" y="3305658"/>
              <a:ext cx="15388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W</a:t>
              </a:r>
            </a:p>
          </p:txBody>
        </p:sp>
        <p:sp>
          <p:nvSpPr>
            <p:cNvPr id="18" name="Rectangle 16">
              <a:extLst>
                <a:ext uri="{FF2B5EF4-FFF2-40B4-BE49-F238E27FC236}">
                  <a16:creationId xmlns:a16="http://schemas.microsoft.com/office/drawing/2014/main" id="{B05D6E58-9B2A-4A6D-9D5D-48CA509A40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711" y="3277083"/>
              <a:ext cx="33663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E2053CE5-3F88-4538-8F14-3EEBB4948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7407" y="3054833"/>
              <a:ext cx="348301" cy="336550"/>
            </a:xfrm>
            <a:custGeom>
              <a:avLst/>
              <a:gdLst>
                <a:gd name="T0" fmla="*/ 100 w 218"/>
                <a:gd name="T1" fmla="*/ 0 h 212"/>
                <a:gd name="T2" fmla="*/ 78 w 218"/>
                <a:gd name="T3" fmla="*/ 6 h 212"/>
                <a:gd name="T4" fmla="*/ 57 w 218"/>
                <a:gd name="T5" fmla="*/ 14 h 212"/>
                <a:gd name="T6" fmla="*/ 41 w 218"/>
                <a:gd name="T7" fmla="*/ 24 h 212"/>
                <a:gd name="T8" fmla="*/ 25 w 218"/>
                <a:gd name="T9" fmla="*/ 38 h 212"/>
                <a:gd name="T10" fmla="*/ 14 w 218"/>
                <a:gd name="T11" fmla="*/ 54 h 212"/>
                <a:gd name="T12" fmla="*/ 6 w 218"/>
                <a:gd name="T13" fmla="*/ 73 h 212"/>
                <a:gd name="T14" fmla="*/ 0 w 218"/>
                <a:gd name="T15" fmla="*/ 94 h 212"/>
                <a:gd name="T16" fmla="*/ 0 w 218"/>
                <a:gd name="T17" fmla="*/ 115 h 212"/>
                <a:gd name="T18" fmla="*/ 6 w 218"/>
                <a:gd name="T19" fmla="*/ 137 h 212"/>
                <a:gd name="T20" fmla="*/ 14 w 218"/>
                <a:gd name="T21" fmla="*/ 156 h 212"/>
                <a:gd name="T22" fmla="*/ 25 w 218"/>
                <a:gd name="T23" fmla="*/ 172 h 212"/>
                <a:gd name="T24" fmla="*/ 41 w 218"/>
                <a:gd name="T25" fmla="*/ 188 h 212"/>
                <a:gd name="T26" fmla="*/ 57 w 218"/>
                <a:gd name="T27" fmla="*/ 199 h 212"/>
                <a:gd name="T28" fmla="*/ 78 w 218"/>
                <a:gd name="T29" fmla="*/ 207 h 212"/>
                <a:gd name="T30" fmla="*/ 100 w 218"/>
                <a:gd name="T31" fmla="*/ 212 h 212"/>
                <a:gd name="T32" fmla="*/ 121 w 218"/>
                <a:gd name="T33" fmla="*/ 212 h 212"/>
                <a:gd name="T34" fmla="*/ 143 w 218"/>
                <a:gd name="T35" fmla="*/ 207 h 212"/>
                <a:gd name="T36" fmla="*/ 162 w 218"/>
                <a:gd name="T37" fmla="*/ 199 h 212"/>
                <a:gd name="T38" fmla="*/ 178 w 218"/>
                <a:gd name="T39" fmla="*/ 188 h 212"/>
                <a:gd name="T40" fmla="*/ 194 w 218"/>
                <a:gd name="T41" fmla="*/ 172 h 212"/>
                <a:gd name="T42" fmla="*/ 205 w 218"/>
                <a:gd name="T43" fmla="*/ 156 h 212"/>
                <a:gd name="T44" fmla="*/ 213 w 218"/>
                <a:gd name="T45" fmla="*/ 137 h 212"/>
                <a:gd name="T46" fmla="*/ 218 w 218"/>
                <a:gd name="T47" fmla="*/ 115 h 212"/>
                <a:gd name="T48" fmla="*/ 218 w 218"/>
                <a:gd name="T49" fmla="*/ 94 h 212"/>
                <a:gd name="T50" fmla="*/ 213 w 218"/>
                <a:gd name="T51" fmla="*/ 73 h 212"/>
                <a:gd name="T52" fmla="*/ 205 w 218"/>
                <a:gd name="T53" fmla="*/ 54 h 212"/>
                <a:gd name="T54" fmla="*/ 194 w 218"/>
                <a:gd name="T55" fmla="*/ 38 h 212"/>
                <a:gd name="T56" fmla="*/ 178 w 218"/>
                <a:gd name="T57" fmla="*/ 24 h 212"/>
                <a:gd name="T58" fmla="*/ 162 w 218"/>
                <a:gd name="T59" fmla="*/ 14 h 212"/>
                <a:gd name="T60" fmla="*/ 143 w 218"/>
                <a:gd name="T61" fmla="*/ 6 h 212"/>
                <a:gd name="T62" fmla="*/ 121 w 218"/>
                <a:gd name="T63" fmla="*/ 0 h 21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18"/>
                <a:gd name="T97" fmla="*/ 0 h 212"/>
                <a:gd name="T98" fmla="*/ 218 w 218"/>
                <a:gd name="T99" fmla="*/ 212 h 21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18" h="212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8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4"/>
                  </a:lnTo>
                  <a:lnTo>
                    <a:pt x="33" y="30"/>
                  </a:lnTo>
                  <a:lnTo>
                    <a:pt x="25" y="38"/>
                  </a:lnTo>
                  <a:lnTo>
                    <a:pt x="19" y="46"/>
                  </a:lnTo>
                  <a:lnTo>
                    <a:pt x="14" y="54"/>
                  </a:lnTo>
                  <a:lnTo>
                    <a:pt x="8" y="65"/>
                  </a:lnTo>
                  <a:lnTo>
                    <a:pt x="6" y="73"/>
                  </a:lnTo>
                  <a:lnTo>
                    <a:pt x="3" y="83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5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5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8" y="204"/>
                  </a:lnTo>
                  <a:lnTo>
                    <a:pt x="78" y="207"/>
                  </a:lnTo>
                  <a:lnTo>
                    <a:pt x="89" y="209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09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6" y="126"/>
                  </a:lnTo>
                  <a:lnTo>
                    <a:pt x="218" y="115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6" y="83"/>
                  </a:lnTo>
                  <a:lnTo>
                    <a:pt x="213" y="73"/>
                  </a:lnTo>
                  <a:lnTo>
                    <a:pt x="210" y="65"/>
                  </a:lnTo>
                  <a:lnTo>
                    <a:pt x="205" y="54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0"/>
                  </a:lnTo>
                  <a:lnTo>
                    <a:pt x="178" y="24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Rectangle 18">
              <a:extLst>
                <a:ext uri="{FF2B5EF4-FFF2-40B4-BE49-F238E27FC236}">
                  <a16:creationId xmlns:a16="http://schemas.microsoft.com/office/drawing/2014/main" id="{13A4983F-E21E-4FA2-AC93-49DE831F7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2811" y="3086836"/>
              <a:ext cx="11060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71A31049-0FE0-4D07-A848-CAE7148AF3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9419" y="4216883"/>
              <a:ext cx="348301" cy="336550"/>
            </a:xfrm>
            <a:custGeom>
              <a:avLst/>
              <a:gdLst>
                <a:gd name="T0" fmla="*/ 97 w 218"/>
                <a:gd name="T1" fmla="*/ 0 h 212"/>
                <a:gd name="T2" fmla="*/ 75 w 218"/>
                <a:gd name="T3" fmla="*/ 6 h 212"/>
                <a:gd name="T4" fmla="*/ 56 w 218"/>
                <a:gd name="T5" fmla="*/ 14 h 212"/>
                <a:gd name="T6" fmla="*/ 40 w 218"/>
                <a:gd name="T7" fmla="*/ 24 h 212"/>
                <a:gd name="T8" fmla="*/ 24 w 218"/>
                <a:gd name="T9" fmla="*/ 38 h 212"/>
                <a:gd name="T10" fmla="*/ 13 w 218"/>
                <a:gd name="T11" fmla="*/ 54 h 212"/>
                <a:gd name="T12" fmla="*/ 5 w 218"/>
                <a:gd name="T13" fmla="*/ 73 h 212"/>
                <a:gd name="T14" fmla="*/ 0 w 218"/>
                <a:gd name="T15" fmla="*/ 94 h 212"/>
                <a:gd name="T16" fmla="*/ 0 w 218"/>
                <a:gd name="T17" fmla="*/ 116 h 212"/>
                <a:gd name="T18" fmla="*/ 5 w 218"/>
                <a:gd name="T19" fmla="*/ 137 h 212"/>
                <a:gd name="T20" fmla="*/ 13 w 218"/>
                <a:gd name="T21" fmla="*/ 156 h 212"/>
                <a:gd name="T22" fmla="*/ 24 w 218"/>
                <a:gd name="T23" fmla="*/ 172 h 212"/>
                <a:gd name="T24" fmla="*/ 40 w 218"/>
                <a:gd name="T25" fmla="*/ 188 h 212"/>
                <a:gd name="T26" fmla="*/ 56 w 218"/>
                <a:gd name="T27" fmla="*/ 199 h 212"/>
                <a:gd name="T28" fmla="*/ 75 w 218"/>
                <a:gd name="T29" fmla="*/ 207 h 212"/>
                <a:gd name="T30" fmla="*/ 97 w 218"/>
                <a:gd name="T31" fmla="*/ 212 h 212"/>
                <a:gd name="T32" fmla="*/ 118 w 218"/>
                <a:gd name="T33" fmla="*/ 212 h 212"/>
                <a:gd name="T34" fmla="*/ 140 w 218"/>
                <a:gd name="T35" fmla="*/ 207 h 212"/>
                <a:gd name="T36" fmla="*/ 161 w 218"/>
                <a:gd name="T37" fmla="*/ 199 h 212"/>
                <a:gd name="T38" fmla="*/ 178 w 218"/>
                <a:gd name="T39" fmla="*/ 188 h 212"/>
                <a:gd name="T40" fmla="*/ 194 w 218"/>
                <a:gd name="T41" fmla="*/ 172 h 212"/>
                <a:gd name="T42" fmla="*/ 204 w 218"/>
                <a:gd name="T43" fmla="*/ 156 h 212"/>
                <a:gd name="T44" fmla="*/ 213 w 218"/>
                <a:gd name="T45" fmla="*/ 137 h 212"/>
                <a:gd name="T46" fmla="*/ 218 w 218"/>
                <a:gd name="T47" fmla="*/ 116 h 212"/>
                <a:gd name="T48" fmla="*/ 218 w 218"/>
                <a:gd name="T49" fmla="*/ 94 h 212"/>
                <a:gd name="T50" fmla="*/ 213 w 218"/>
                <a:gd name="T51" fmla="*/ 73 h 212"/>
                <a:gd name="T52" fmla="*/ 204 w 218"/>
                <a:gd name="T53" fmla="*/ 54 h 212"/>
                <a:gd name="T54" fmla="*/ 194 w 218"/>
                <a:gd name="T55" fmla="*/ 38 h 212"/>
                <a:gd name="T56" fmla="*/ 178 w 218"/>
                <a:gd name="T57" fmla="*/ 24 h 212"/>
                <a:gd name="T58" fmla="*/ 161 w 218"/>
                <a:gd name="T59" fmla="*/ 14 h 212"/>
                <a:gd name="T60" fmla="*/ 140 w 218"/>
                <a:gd name="T61" fmla="*/ 6 h 212"/>
                <a:gd name="T62" fmla="*/ 118 w 218"/>
                <a:gd name="T63" fmla="*/ 0 h 21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18"/>
                <a:gd name="T97" fmla="*/ 0 h 212"/>
                <a:gd name="T98" fmla="*/ 218 w 218"/>
                <a:gd name="T99" fmla="*/ 212 h 21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18" h="212">
                  <a:moveTo>
                    <a:pt x="108" y="0"/>
                  </a:moveTo>
                  <a:lnTo>
                    <a:pt x="97" y="0"/>
                  </a:lnTo>
                  <a:lnTo>
                    <a:pt x="86" y="3"/>
                  </a:lnTo>
                  <a:lnTo>
                    <a:pt x="75" y="6"/>
                  </a:lnTo>
                  <a:lnTo>
                    <a:pt x="65" y="8"/>
                  </a:lnTo>
                  <a:lnTo>
                    <a:pt x="56" y="14"/>
                  </a:lnTo>
                  <a:lnTo>
                    <a:pt x="48" y="19"/>
                  </a:lnTo>
                  <a:lnTo>
                    <a:pt x="40" y="24"/>
                  </a:lnTo>
                  <a:lnTo>
                    <a:pt x="32" y="30"/>
                  </a:lnTo>
                  <a:lnTo>
                    <a:pt x="24" y="38"/>
                  </a:lnTo>
                  <a:lnTo>
                    <a:pt x="19" y="46"/>
                  </a:lnTo>
                  <a:lnTo>
                    <a:pt x="13" y="54"/>
                  </a:lnTo>
                  <a:lnTo>
                    <a:pt x="8" y="65"/>
                  </a:lnTo>
                  <a:lnTo>
                    <a:pt x="5" y="73"/>
                  </a:lnTo>
                  <a:lnTo>
                    <a:pt x="3" y="83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6"/>
                  </a:lnTo>
                  <a:lnTo>
                    <a:pt x="3" y="126"/>
                  </a:lnTo>
                  <a:lnTo>
                    <a:pt x="5" y="137"/>
                  </a:lnTo>
                  <a:lnTo>
                    <a:pt x="8" y="148"/>
                  </a:lnTo>
                  <a:lnTo>
                    <a:pt x="13" y="156"/>
                  </a:lnTo>
                  <a:lnTo>
                    <a:pt x="19" y="164"/>
                  </a:lnTo>
                  <a:lnTo>
                    <a:pt x="24" y="172"/>
                  </a:lnTo>
                  <a:lnTo>
                    <a:pt x="32" y="180"/>
                  </a:lnTo>
                  <a:lnTo>
                    <a:pt x="40" y="188"/>
                  </a:lnTo>
                  <a:lnTo>
                    <a:pt x="48" y="193"/>
                  </a:lnTo>
                  <a:lnTo>
                    <a:pt x="56" y="199"/>
                  </a:lnTo>
                  <a:lnTo>
                    <a:pt x="65" y="204"/>
                  </a:lnTo>
                  <a:lnTo>
                    <a:pt x="75" y="207"/>
                  </a:lnTo>
                  <a:lnTo>
                    <a:pt x="86" y="209"/>
                  </a:lnTo>
                  <a:lnTo>
                    <a:pt x="97" y="212"/>
                  </a:lnTo>
                  <a:lnTo>
                    <a:pt x="108" y="212"/>
                  </a:lnTo>
                  <a:lnTo>
                    <a:pt x="118" y="212"/>
                  </a:lnTo>
                  <a:lnTo>
                    <a:pt x="129" y="209"/>
                  </a:lnTo>
                  <a:lnTo>
                    <a:pt x="140" y="207"/>
                  </a:lnTo>
                  <a:lnTo>
                    <a:pt x="151" y="204"/>
                  </a:lnTo>
                  <a:lnTo>
                    <a:pt x="161" y="199"/>
                  </a:lnTo>
                  <a:lnTo>
                    <a:pt x="169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4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5" y="126"/>
                  </a:lnTo>
                  <a:lnTo>
                    <a:pt x="218" y="116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5" y="83"/>
                  </a:lnTo>
                  <a:lnTo>
                    <a:pt x="213" y="73"/>
                  </a:lnTo>
                  <a:lnTo>
                    <a:pt x="210" y="65"/>
                  </a:lnTo>
                  <a:lnTo>
                    <a:pt x="204" y="54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0"/>
                  </a:lnTo>
                  <a:lnTo>
                    <a:pt x="178" y="24"/>
                  </a:lnTo>
                  <a:lnTo>
                    <a:pt x="169" y="19"/>
                  </a:lnTo>
                  <a:lnTo>
                    <a:pt x="161" y="14"/>
                  </a:lnTo>
                  <a:lnTo>
                    <a:pt x="151" y="8"/>
                  </a:lnTo>
                  <a:lnTo>
                    <a:pt x="140" y="6"/>
                  </a:lnTo>
                  <a:lnTo>
                    <a:pt x="129" y="3"/>
                  </a:lnTo>
                  <a:lnTo>
                    <a:pt x="11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Rectangle 20">
              <a:extLst>
                <a:ext uri="{FF2B5EF4-FFF2-40B4-BE49-F238E27FC236}">
                  <a16:creationId xmlns:a16="http://schemas.microsoft.com/office/drawing/2014/main" id="{EFEA6412-F467-4A52-B431-9543B683C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5979" y="4266096"/>
              <a:ext cx="11060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4CD860E4-BFC6-4054-B067-AE964D0CD3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5781" y="3416783"/>
              <a:ext cx="447359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D7B2ED8D-8E7A-4F13-B9E6-D37519D2C7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7967" y="2927833"/>
              <a:ext cx="669441" cy="27622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Line 23">
              <a:extLst>
                <a:ext uri="{FF2B5EF4-FFF2-40B4-BE49-F238E27FC236}">
                  <a16:creationId xmlns:a16="http://schemas.microsoft.com/office/drawing/2014/main" id="{C8D20C2F-0C76-4021-8B30-33C9EDC986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01105" y="3310421"/>
              <a:ext cx="674234" cy="56673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Line 24">
              <a:extLst>
                <a:ext uri="{FF2B5EF4-FFF2-40B4-BE49-F238E27FC236}">
                  <a16:creationId xmlns:a16="http://schemas.microsoft.com/office/drawing/2014/main" id="{0C9799D2-913B-4528-8BA9-BB68F50B33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9093" y="4008921"/>
              <a:ext cx="618314" cy="3190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7" name="Line 25">
              <a:extLst>
                <a:ext uri="{FF2B5EF4-FFF2-40B4-BE49-F238E27FC236}">
                  <a16:creationId xmlns:a16="http://schemas.microsoft.com/office/drawing/2014/main" id="{246DD4A8-8CE2-416C-B045-AF23F8ABEA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65133" y="3067533"/>
              <a:ext cx="292381" cy="234950"/>
            </a:xfrm>
            <a:prstGeom prst="line">
              <a:avLst/>
            </a:prstGeom>
            <a:noFill/>
            <a:ln w="555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Line 26">
              <a:extLst>
                <a:ext uri="{FF2B5EF4-FFF2-40B4-BE49-F238E27FC236}">
                  <a16:creationId xmlns:a16="http://schemas.microsoft.com/office/drawing/2014/main" id="{83A9DA2A-47CC-496D-96F0-7AE4560603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42276" y="3196121"/>
              <a:ext cx="1598" cy="425450"/>
            </a:xfrm>
            <a:prstGeom prst="line">
              <a:avLst/>
            </a:prstGeom>
            <a:noFill/>
            <a:ln w="555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" name="Line 27">
              <a:extLst>
                <a:ext uri="{FF2B5EF4-FFF2-40B4-BE49-F238E27FC236}">
                  <a16:creationId xmlns:a16="http://schemas.microsoft.com/office/drawing/2014/main" id="{0C1EA602-7CD8-458E-8231-E6EF17BAC2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0696" y="3621571"/>
              <a:ext cx="266818" cy="165100"/>
            </a:xfrm>
            <a:prstGeom prst="line">
              <a:avLst/>
            </a:prstGeom>
            <a:noFill/>
            <a:ln w="555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" name="Rectangle 30">
              <a:extLst>
                <a:ext uri="{FF2B5EF4-FFF2-40B4-BE49-F238E27FC236}">
                  <a16:creationId xmlns:a16="http://schemas.microsoft.com/office/drawing/2014/main" id="{310E497D-2430-407F-B2AC-07AB0D7782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7600" y="2543658"/>
              <a:ext cx="40877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1" name="Rectangle 32">
              <a:extLst>
                <a:ext uri="{FF2B5EF4-FFF2-40B4-BE49-F238E27FC236}">
                  <a16:creationId xmlns:a16="http://schemas.microsoft.com/office/drawing/2014/main" id="{158D4FF4-19F5-4710-A85A-0D574908E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6489" y="3520069"/>
              <a:ext cx="81753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用户网络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32" name="Rectangle 36">
              <a:extLst>
                <a:ext uri="{FF2B5EF4-FFF2-40B4-BE49-F238E27FC236}">
                  <a16:creationId xmlns:a16="http://schemas.microsoft.com/office/drawing/2014/main" id="{DB39D30A-3CFD-4933-A80C-2B8AE3D443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6489" y="2661298"/>
              <a:ext cx="96180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提供者网络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" name="Freeform 40">
              <a:extLst>
                <a:ext uri="{FF2B5EF4-FFF2-40B4-BE49-F238E27FC236}">
                  <a16:creationId xmlns:a16="http://schemas.microsoft.com/office/drawing/2014/main" id="{695C0636-AC52-4FDD-8986-7ED8F533C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1425" y="2548421"/>
              <a:ext cx="899511" cy="574675"/>
            </a:xfrm>
            <a:custGeom>
              <a:avLst/>
              <a:gdLst>
                <a:gd name="T0" fmla="*/ 162 w 563"/>
                <a:gd name="T1" fmla="*/ 0 h 362"/>
                <a:gd name="T2" fmla="*/ 132 w 563"/>
                <a:gd name="T3" fmla="*/ 5 h 362"/>
                <a:gd name="T4" fmla="*/ 108 w 563"/>
                <a:gd name="T5" fmla="*/ 13 h 362"/>
                <a:gd name="T6" fmla="*/ 81 w 563"/>
                <a:gd name="T7" fmla="*/ 30 h 362"/>
                <a:gd name="T8" fmla="*/ 60 w 563"/>
                <a:gd name="T9" fmla="*/ 48 h 362"/>
                <a:gd name="T10" fmla="*/ 35 w 563"/>
                <a:gd name="T11" fmla="*/ 72 h 362"/>
                <a:gd name="T12" fmla="*/ 14 w 563"/>
                <a:gd name="T13" fmla="*/ 102 h 362"/>
                <a:gd name="T14" fmla="*/ 3 w 563"/>
                <a:gd name="T15" fmla="*/ 126 h 362"/>
                <a:gd name="T16" fmla="*/ 0 w 563"/>
                <a:gd name="T17" fmla="*/ 140 h 362"/>
                <a:gd name="T18" fmla="*/ 0 w 563"/>
                <a:gd name="T19" fmla="*/ 156 h 362"/>
                <a:gd name="T20" fmla="*/ 3 w 563"/>
                <a:gd name="T21" fmla="*/ 180 h 362"/>
                <a:gd name="T22" fmla="*/ 17 w 563"/>
                <a:gd name="T23" fmla="*/ 212 h 362"/>
                <a:gd name="T24" fmla="*/ 35 w 563"/>
                <a:gd name="T25" fmla="*/ 241 h 362"/>
                <a:gd name="T26" fmla="*/ 60 w 563"/>
                <a:gd name="T27" fmla="*/ 268 h 362"/>
                <a:gd name="T28" fmla="*/ 81 w 563"/>
                <a:gd name="T29" fmla="*/ 292 h 362"/>
                <a:gd name="T30" fmla="*/ 103 w 563"/>
                <a:gd name="T31" fmla="*/ 316 h 362"/>
                <a:gd name="T32" fmla="*/ 119 w 563"/>
                <a:gd name="T33" fmla="*/ 327 h 362"/>
                <a:gd name="T34" fmla="*/ 135 w 563"/>
                <a:gd name="T35" fmla="*/ 335 h 362"/>
                <a:gd name="T36" fmla="*/ 156 w 563"/>
                <a:gd name="T37" fmla="*/ 341 h 362"/>
                <a:gd name="T38" fmla="*/ 183 w 563"/>
                <a:gd name="T39" fmla="*/ 346 h 362"/>
                <a:gd name="T40" fmla="*/ 200 w 563"/>
                <a:gd name="T41" fmla="*/ 349 h 362"/>
                <a:gd name="T42" fmla="*/ 240 w 563"/>
                <a:gd name="T43" fmla="*/ 354 h 362"/>
                <a:gd name="T44" fmla="*/ 286 w 563"/>
                <a:gd name="T45" fmla="*/ 357 h 362"/>
                <a:gd name="T46" fmla="*/ 334 w 563"/>
                <a:gd name="T47" fmla="*/ 359 h 362"/>
                <a:gd name="T48" fmla="*/ 385 w 563"/>
                <a:gd name="T49" fmla="*/ 362 h 362"/>
                <a:gd name="T50" fmla="*/ 434 w 563"/>
                <a:gd name="T51" fmla="*/ 359 h 362"/>
                <a:gd name="T52" fmla="*/ 477 w 563"/>
                <a:gd name="T53" fmla="*/ 351 h 362"/>
                <a:gd name="T54" fmla="*/ 504 w 563"/>
                <a:gd name="T55" fmla="*/ 343 h 362"/>
                <a:gd name="T56" fmla="*/ 517 w 563"/>
                <a:gd name="T57" fmla="*/ 335 h 362"/>
                <a:gd name="T58" fmla="*/ 528 w 563"/>
                <a:gd name="T59" fmla="*/ 325 h 362"/>
                <a:gd name="T60" fmla="*/ 541 w 563"/>
                <a:gd name="T61" fmla="*/ 306 h 362"/>
                <a:gd name="T62" fmla="*/ 555 w 563"/>
                <a:gd name="T63" fmla="*/ 274 h 362"/>
                <a:gd name="T64" fmla="*/ 560 w 563"/>
                <a:gd name="T65" fmla="*/ 236 h 362"/>
                <a:gd name="T66" fmla="*/ 563 w 563"/>
                <a:gd name="T67" fmla="*/ 193 h 362"/>
                <a:gd name="T68" fmla="*/ 560 w 563"/>
                <a:gd name="T69" fmla="*/ 153 h 362"/>
                <a:gd name="T70" fmla="*/ 557 w 563"/>
                <a:gd name="T71" fmla="*/ 113 h 362"/>
                <a:gd name="T72" fmla="*/ 552 w 563"/>
                <a:gd name="T73" fmla="*/ 78 h 362"/>
                <a:gd name="T74" fmla="*/ 547 w 563"/>
                <a:gd name="T75" fmla="*/ 59 h 362"/>
                <a:gd name="T76" fmla="*/ 544 w 563"/>
                <a:gd name="T77" fmla="*/ 46 h 362"/>
                <a:gd name="T78" fmla="*/ 539 w 563"/>
                <a:gd name="T79" fmla="*/ 30 h 362"/>
                <a:gd name="T80" fmla="*/ 533 w 563"/>
                <a:gd name="T81" fmla="*/ 22 h 362"/>
                <a:gd name="T82" fmla="*/ 522 w 563"/>
                <a:gd name="T83" fmla="*/ 19 h 362"/>
                <a:gd name="T84" fmla="*/ 506 w 563"/>
                <a:gd name="T85" fmla="*/ 16 h 362"/>
                <a:gd name="T86" fmla="*/ 479 w 563"/>
                <a:gd name="T87" fmla="*/ 16 h 362"/>
                <a:gd name="T88" fmla="*/ 466 w 563"/>
                <a:gd name="T89" fmla="*/ 13 h 362"/>
                <a:gd name="T90" fmla="*/ 450 w 563"/>
                <a:gd name="T91" fmla="*/ 11 h 362"/>
                <a:gd name="T92" fmla="*/ 409 w 563"/>
                <a:gd name="T93" fmla="*/ 11 h 362"/>
                <a:gd name="T94" fmla="*/ 364 w 563"/>
                <a:gd name="T95" fmla="*/ 13 h 362"/>
                <a:gd name="T96" fmla="*/ 321 w 563"/>
                <a:gd name="T97" fmla="*/ 13 h 362"/>
                <a:gd name="T98" fmla="*/ 283 w 563"/>
                <a:gd name="T99" fmla="*/ 11 h 362"/>
                <a:gd name="T100" fmla="*/ 248 w 563"/>
                <a:gd name="T101" fmla="*/ 5 h 362"/>
                <a:gd name="T102" fmla="*/ 213 w 563"/>
                <a:gd name="T103" fmla="*/ 0 h 362"/>
                <a:gd name="T104" fmla="*/ 186 w 563"/>
                <a:gd name="T105" fmla="*/ 0 h 362"/>
                <a:gd name="T106" fmla="*/ 175 w 563"/>
                <a:gd name="T107" fmla="*/ 0 h 3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563"/>
                <a:gd name="T163" fmla="*/ 0 h 362"/>
                <a:gd name="T164" fmla="*/ 563 w 563"/>
                <a:gd name="T165" fmla="*/ 362 h 362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563" h="362">
                  <a:moveTo>
                    <a:pt x="175" y="0"/>
                  </a:moveTo>
                  <a:lnTo>
                    <a:pt x="162" y="0"/>
                  </a:lnTo>
                  <a:lnTo>
                    <a:pt x="148" y="3"/>
                  </a:lnTo>
                  <a:lnTo>
                    <a:pt x="132" y="5"/>
                  </a:lnTo>
                  <a:lnTo>
                    <a:pt x="119" y="11"/>
                  </a:lnTo>
                  <a:lnTo>
                    <a:pt x="108" y="13"/>
                  </a:lnTo>
                  <a:lnTo>
                    <a:pt x="95" y="22"/>
                  </a:lnTo>
                  <a:lnTo>
                    <a:pt x="81" y="30"/>
                  </a:lnTo>
                  <a:lnTo>
                    <a:pt x="70" y="38"/>
                  </a:lnTo>
                  <a:lnTo>
                    <a:pt x="60" y="48"/>
                  </a:lnTo>
                  <a:lnTo>
                    <a:pt x="46" y="59"/>
                  </a:lnTo>
                  <a:lnTo>
                    <a:pt x="35" y="72"/>
                  </a:lnTo>
                  <a:lnTo>
                    <a:pt x="25" y="89"/>
                  </a:lnTo>
                  <a:lnTo>
                    <a:pt x="14" y="102"/>
                  </a:lnTo>
                  <a:lnTo>
                    <a:pt x="8" y="118"/>
                  </a:lnTo>
                  <a:lnTo>
                    <a:pt x="3" y="126"/>
                  </a:lnTo>
                  <a:lnTo>
                    <a:pt x="3" y="134"/>
                  </a:lnTo>
                  <a:lnTo>
                    <a:pt x="0" y="140"/>
                  </a:lnTo>
                  <a:lnTo>
                    <a:pt x="0" y="148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3" y="180"/>
                  </a:lnTo>
                  <a:lnTo>
                    <a:pt x="8" y="196"/>
                  </a:lnTo>
                  <a:lnTo>
                    <a:pt x="17" y="212"/>
                  </a:lnTo>
                  <a:lnTo>
                    <a:pt x="27" y="225"/>
                  </a:lnTo>
                  <a:lnTo>
                    <a:pt x="35" y="241"/>
                  </a:lnTo>
                  <a:lnTo>
                    <a:pt x="49" y="255"/>
                  </a:lnTo>
                  <a:lnTo>
                    <a:pt x="60" y="268"/>
                  </a:lnTo>
                  <a:lnTo>
                    <a:pt x="70" y="282"/>
                  </a:lnTo>
                  <a:lnTo>
                    <a:pt x="81" y="292"/>
                  </a:lnTo>
                  <a:lnTo>
                    <a:pt x="92" y="306"/>
                  </a:lnTo>
                  <a:lnTo>
                    <a:pt x="103" y="316"/>
                  </a:lnTo>
                  <a:lnTo>
                    <a:pt x="111" y="322"/>
                  </a:lnTo>
                  <a:lnTo>
                    <a:pt x="119" y="327"/>
                  </a:lnTo>
                  <a:lnTo>
                    <a:pt x="127" y="330"/>
                  </a:lnTo>
                  <a:lnTo>
                    <a:pt x="135" y="335"/>
                  </a:lnTo>
                  <a:lnTo>
                    <a:pt x="146" y="338"/>
                  </a:lnTo>
                  <a:lnTo>
                    <a:pt x="156" y="341"/>
                  </a:lnTo>
                  <a:lnTo>
                    <a:pt x="170" y="343"/>
                  </a:lnTo>
                  <a:lnTo>
                    <a:pt x="183" y="346"/>
                  </a:lnTo>
                  <a:lnTo>
                    <a:pt x="191" y="346"/>
                  </a:lnTo>
                  <a:lnTo>
                    <a:pt x="200" y="349"/>
                  </a:lnTo>
                  <a:lnTo>
                    <a:pt x="218" y="351"/>
                  </a:lnTo>
                  <a:lnTo>
                    <a:pt x="240" y="354"/>
                  </a:lnTo>
                  <a:lnTo>
                    <a:pt x="261" y="354"/>
                  </a:lnTo>
                  <a:lnTo>
                    <a:pt x="286" y="357"/>
                  </a:lnTo>
                  <a:lnTo>
                    <a:pt x="310" y="359"/>
                  </a:lnTo>
                  <a:lnTo>
                    <a:pt x="334" y="359"/>
                  </a:lnTo>
                  <a:lnTo>
                    <a:pt x="361" y="362"/>
                  </a:lnTo>
                  <a:lnTo>
                    <a:pt x="385" y="362"/>
                  </a:lnTo>
                  <a:lnTo>
                    <a:pt x="409" y="359"/>
                  </a:lnTo>
                  <a:lnTo>
                    <a:pt x="434" y="359"/>
                  </a:lnTo>
                  <a:lnTo>
                    <a:pt x="455" y="357"/>
                  </a:lnTo>
                  <a:lnTo>
                    <a:pt x="477" y="351"/>
                  </a:lnTo>
                  <a:lnTo>
                    <a:pt x="493" y="346"/>
                  </a:lnTo>
                  <a:lnTo>
                    <a:pt x="504" y="343"/>
                  </a:lnTo>
                  <a:lnTo>
                    <a:pt x="509" y="338"/>
                  </a:lnTo>
                  <a:lnTo>
                    <a:pt x="517" y="335"/>
                  </a:lnTo>
                  <a:lnTo>
                    <a:pt x="522" y="330"/>
                  </a:lnTo>
                  <a:lnTo>
                    <a:pt x="528" y="325"/>
                  </a:lnTo>
                  <a:lnTo>
                    <a:pt x="533" y="319"/>
                  </a:lnTo>
                  <a:lnTo>
                    <a:pt x="541" y="306"/>
                  </a:lnTo>
                  <a:lnTo>
                    <a:pt x="549" y="292"/>
                  </a:lnTo>
                  <a:lnTo>
                    <a:pt x="555" y="274"/>
                  </a:lnTo>
                  <a:lnTo>
                    <a:pt x="557" y="255"/>
                  </a:lnTo>
                  <a:lnTo>
                    <a:pt x="560" y="236"/>
                  </a:lnTo>
                  <a:lnTo>
                    <a:pt x="563" y="215"/>
                  </a:lnTo>
                  <a:lnTo>
                    <a:pt x="563" y="193"/>
                  </a:lnTo>
                  <a:lnTo>
                    <a:pt x="560" y="172"/>
                  </a:lnTo>
                  <a:lnTo>
                    <a:pt x="560" y="153"/>
                  </a:lnTo>
                  <a:lnTo>
                    <a:pt x="557" y="131"/>
                  </a:lnTo>
                  <a:lnTo>
                    <a:pt x="557" y="113"/>
                  </a:lnTo>
                  <a:lnTo>
                    <a:pt x="555" y="94"/>
                  </a:lnTo>
                  <a:lnTo>
                    <a:pt x="552" y="78"/>
                  </a:lnTo>
                  <a:lnTo>
                    <a:pt x="549" y="64"/>
                  </a:lnTo>
                  <a:lnTo>
                    <a:pt x="547" y="59"/>
                  </a:lnTo>
                  <a:lnTo>
                    <a:pt x="547" y="54"/>
                  </a:lnTo>
                  <a:lnTo>
                    <a:pt x="544" y="46"/>
                  </a:lnTo>
                  <a:lnTo>
                    <a:pt x="541" y="38"/>
                  </a:lnTo>
                  <a:lnTo>
                    <a:pt x="539" y="30"/>
                  </a:lnTo>
                  <a:lnTo>
                    <a:pt x="536" y="27"/>
                  </a:lnTo>
                  <a:lnTo>
                    <a:pt x="533" y="22"/>
                  </a:lnTo>
                  <a:lnTo>
                    <a:pt x="528" y="19"/>
                  </a:lnTo>
                  <a:lnTo>
                    <a:pt x="522" y="19"/>
                  </a:lnTo>
                  <a:lnTo>
                    <a:pt x="520" y="16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74" y="13"/>
                  </a:lnTo>
                  <a:lnTo>
                    <a:pt x="466" y="13"/>
                  </a:lnTo>
                  <a:lnTo>
                    <a:pt x="458" y="13"/>
                  </a:lnTo>
                  <a:lnTo>
                    <a:pt x="450" y="11"/>
                  </a:lnTo>
                  <a:lnTo>
                    <a:pt x="431" y="11"/>
                  </a:lnTo>
                  <a:lnTo>
                    <a:pt x="409" y="11"/>
                  </a:lnTo>
                  <a:lnTo>
                    <a:pt x="388" y="13"/>
                  </a:lnTo>
                  <a:lnTo>
                    <a:pt x="364" y="13"/>
                  </a:lnTo>
                  <a:lnTo>
                    <a:pt x="342" y="13"/>
                  </a:lnTo>
                  <a:lnTo>
                    <a:pt x="321" y="13"/>
                  </a:lnTo>
                  <a:lnTo>
                    <a:pt x="302" y="13"/>
                  </a:lnTo>
                  <a:lnTo>
                    <a:pt x="283" y="11"/>
                  </a:lnTo>
                  <a:lnTo>
                    <a:pt x="264" y="11"/>
                  </a:lnTo>
                  <a:lnTo>
                    <a:pt x="248" y="5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200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" name="Freeform 41">
              <a:extLst>
                <a:ext uri="{FF2B5EF4-FFF2-40B4-BE49-F238E27FC236}">
                  <a16:creationId xmlns:a16="http://schemas.microsoft.com/office/drawing/2014/main" id="{97A9ADD9-300E-405B-A252-DA2D6FFDEC2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4704" y="3505683"/>
              <a:ext cx="348301" cy="336550"/>
            </a:xfrm>
            <a:custGeom>
              <a:avLst/>
              <a:gdLst>
                <a:gd name="T0" fmla="*/ 100 w 218"/>
                <a:gd name="T1" fmla="*/ 0 h 212"/>
                <a:gd name="T2" fmla="*/ 78 w 218"/>
                <a:gd name="T3" fmla="*/ 6 h 212"/>
                <a:gd name="T4" fmla="*/ 57 w 218"/>
                <a:gd name="T5" fmla="*/ 14 h 212"/>
                <a:gd name="T6" fmla="*/ 41 w 218"/>
                <a:gd name="T7" fmla="*/ 25 h 212"/>
                <a:gd name="T8" fmla="*/ 24 w 218"/>
                <a:gd name="T9" fmla="*/ 38 h 212"/>
                <a:gd name="T10" fmla="*/ 14 w 218"/>
                <a:gd name="T11" fmla="*/ 57 h 212"/>
                <a:gd name="T12" fmla="*/ 6 w 218"/>
                <a:gd name="T13" fmla="*/ 76 h 212"/>
                <a:gd name="T14" fmla="*/ 0 w 218"/>
                <a:gd name="T15" fmla="*/ 94 h 212"/>
                <a:gd name="T16" fmla="*/ 0 w 218"/>
                <a:gd name="T17" fmla="*/ 116 h 212"/>
                <a:gd name="T18" fmla="*/ 6 w 218"/>
                <a:gd name="T19" fmla="*/ 137 h 212"/>
                <a:gd name="T20" fmla="*/ 14 w 218"/>
                <a:gd name="T21" fmla="*/ 156 h 212"/>
                <a:gd name="T22" fmla="*/ 24 w 218"/>
                <a:gd name="T23" fmla="*/ 172 h 212"/>
                <a:gd name="T24" fmla="*/ 41 w 218"/>
                <a:gd name="T25" fmla="*/ 188 h 212"/>
                <a:gd name="T26" fmla="*/ 57 w 218"/>
                <a:gd name="T27" fmla="*/ 199 h 212"/>
                <a:gd name="T28" fmla="*/ 78 w 218"/>
                <a:gd name="T29" fmla="*/ 207 h 212"/>
                <a:gd name="T30" fmla="*/ 100 w 218"/>
                <a:gd name="T31" fmla="*/ 212 h 212"/>
                <a:gd name="T32" fmla="*/ 121 w 218"/>
                <a:gd name="T33" fmla="*/ 212 h 212"/>
                <a:gd name="T34" fmla="*/ 143 w 218"/>
                <a:gd name="T35" fmla="*/ 207 h 212"/>
                <a:gd name="T36" fmla="*/ 162 w 218"/>
                <a:gd name="T37" fmla="*/ 199 h 212"/>
                <a:gd name="T38" fmla="*/ 178 w 218"/>
                <a:gd name="T39" fmla="*/ 188 h 212"/>
                <a:gd name="T40" fmla="*/ 194 w 218"/>
                <a:gd name="T41" fmla="*/ 172 h 212"/>
                <a:gd name="T42" fmla="*/ 205 w 218"/>
                <a:gd name="T43" fmla="*/ 156 h 212"/>
                <a:gd name="T44" fmla="*/ 213 w 218"/>
                <a:gd name="T45" fmla="*/ 137 h 212"/>
                <a:gd name="T46" fmla="*/ 218 w 218"/>
                <a:gd name="T47" fmla="*/ 116 h 212"/>
                <a:gd name="T48" fmla="*/ 218 w 218"/>
                <a:gd name="T49" fmla="*/ 94 h 212"/>
                <a:gd name="T50" fmla="*/ 213 w 218"/>
                <a:gd name="T51" fmla="*/ 76 h 212"/>
                <a:gd name="T52" fmla="*/ 205 w 218"/>
                <a:gd name="T53" fmla="*/ 57 h 212"/>
                <a:gd name="T54" fmla="*/ 194 w 218"/>
                <a:gd name="T55" fmla="*/ 38 h 212"/>
                <a:gd name="T56" fmla="*/ 178 w 218"/>
                <a:gd name="T57" fmla="*/ 25 h 212"/>
                <a:gd name="T58" fmla="*/ 162 w 218"/>
                <a:gd name="T59" fmla="*/ 14 h 212"/>
                <a:gd name="T60" fmla="*/ 143 w 218"/>
                <a:gd name="T61" fmla="*/ 6 h 212"/>
                <a:gd name="T62" fmla="*/ 121 w 218"/>
                <a:gd name="T63" fmla="*/ 0 h 21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18"/>
                <a:gd name="T97" fmla="*/ 0 h 212"/>
                <a:gd name="T98" fmla="*/ 218 w 218"/>
                <a:gd name="T99" fmla="*/ 212 h 21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18" h="212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7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5"/>
                  </a:lnTo>
                  <a:lnTo>
                    <a:pt x="33" y="33"/>
                  </a:lnTo>
                  <a:lnTo>
                    <a:pt x="24" y="38"/>
                  </a:lnTo>
                  <a:lnTo>
                    <a:pt x="19" y="46"/>
                  </a:lnTo>
                  <a:lnTo>
                    <a:pt x="14" y="57"/>
                  </a:lnTo>
                  <a:lnTo>
                    <a:pt x="8" y="65"/>
                  </a:lnTo>
                  <a:lnTo>
                    <a:pt x="6" y="76"/>
                  </a:lnTo>
                  <a:lnTo>
                    <a:pt x="3" y="84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6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4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7" y="204"/>
                  </a:lnTo>
                  <a:lnTo>
                    <a:pt x="78" y="207"/>
                  </a:lnTo>
                  <a:lnTo>
                    <a:pt x="89" y="210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10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5" y="126"/>
                  </a:lnTo>
                  <a:lnTo>
                    <a:pt x="218" y="116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5" y="84"/>
                  </a:lnTo>
                  <a:lnTo>
                    <a:pt x="213" y="76"/>
                  </a:lnTo>
                  <a:lnTo>
                    <a:pt x="210" y="65"/>
                  </a:lnTo>
                  <a:lnTo>
                    <a:pt x="205" y="57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3"/>
                  </a:lnTo>
                  <a:lnTo>
                    <a:pt x="178" y="25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3311619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5.4.3 BGP-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外部网关路由协议</a:t>
            </a:r>
          </a:p>
        </p:txBody>
      </p:sp>
    </p:spTree>
    <p:extLst>
      <p:ext uri="{BB962C8B-B14F-4D97-AF65-F5344CB8AC3E}">
        <p14:creationId xmlns:p14="http://schemas.microsoft.com/office/powerpoint/2010/main" val="3219741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BGP</a:t>
            </a:r>
            <a:r>
              <a:rPr lang="zh-CN" altLang="en-US" dirty="0"/>
              <a:t>配置实例</a:t>
            </a:r>
            <a:endParaRPr lang="zh-CN" altLang="en-US" sz="3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10515600" cy="458669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pic>
        <p:nvPicPr>
          <p:cNvPr id="6" name="内容占位符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10757"/>
            <a:ext cx="10515600" cy="4586695"/>
          </a:xfrm>
          <a:prstGeom prst="rect">
            <a:avLst/>
          </a:prstGeom>
        </p:spPr>
      </p:pic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39779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5.4.3 BGP-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外部网关路由协议</a:t>
            </a:r>
          </a:p>
        </p:txBody>
      </p:sp>
    </p:spTree>
    <p:extLst>
      <p:ext uri="{BB962C8B-B14F-4D97-AF65-F5344CB8AC3E}">
        <p14:creationId xmlns:p14="http://schemas.microsoft.com/office/powerpoint/2010/main" val="377612139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CCE8C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2740</Words>
  <Application>Microsoft Macintosh PowerPoint</Application>
  <PresentationFormat>宽屏</PresentationFormat>
  <Paragraphs>471</Paragraphs>
  <Slides>30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8" baseType="lpstr">
      <vt:lpstr>华文细黑</vt:lpstr>
      <vt:lpstr>等线</vt:lpstr>
      <vt:lpstr>微软雅黑</vt:lpstr>
      <vt:lpstr>微软雅黑</vt:lpstr>
      <vt:lpstr>Arial</vt:lpstr>
      <vt:lpstr>Times New Roman</vt:lpstr>
      <vt:lpstr>Wingdings</vt:lpstr>
      <vt:lpstr>1_Office 主题​​</vt:lpstr>
      <vt:lpstr>本章内容</vt:lpstr>
      <vt:lpstr>OSPF-概述</vt:lpstr>
      <vt:lpstr>OSPF-链路状态</vt:lpstr>
      <vt:lpstr>OSPF-五种报文</vt:lpstr>
      <vt:lpstr>OSPF-邻居状态机</vt:lpstr>
      <vt:lpstr>OSPF-报文交互</vt:lpstr>
      <vt:lpstr>OSPF-报文交互</vt:lpstr>
      <vt:lpstr>OSPF-区域的概念</vt:lpstr>
      <vt:lpstr>OSPF-区域的概念</vt:lpstr>
      <vt:lpstr>OSPF-报文格式</vt:lpstr>
      <vt:lpstr>OSPF-报文格式</vt:lpstr>
      <vt:lpstr>OSPF-小结</vt:lpstr>
      <vt:lpstr>RIP-概述</vt:lpstr>
      <vt:lpstr>RIP-工作过程</vt:lpstr>
      <vt:lpstr>RIP-工作过程</vt:lpstr>
      <vt:lpstr>RIP-报文格式(V2)</vt:lpstr>
      <vt:lpstr>RIP-报文格式</vt:lpstr>
      <vt:lpstr>RIP-小结</vt:lpstr>
      <vt:lpstr>BGP-外部网关路由协议</vt:lpstr>
      <vt:lpstr>eBGP&amp;iBGP连接</vt:lpstr>
      <vt:lpstr>BGP基础</vt:lpstr>
      <vt:lpstr>BGP路径通告</vt:lpstr>
      <vt:lpstr>BGP路径通告</vt:lpstr>
      <vt:lpstr>BGP协议的特点</vt:lpstr>
      <vt:lpstr>BGP报文</vt:lpstr>
      <vt:lpstr>BGP路径属性</vt:lpstr>
      <vt:lpstr>BGP 路由选择</vt:lpstr>
      <vt:lpstr>BGP路由策略</vt:lpstr>
      <vt:lpstr>BGP路由策略</vt:lpstr>
      <vt:lpstr>BGP配置实例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本章内容</dc:title>
  <dc:creator>Min Zhu</dc:creator>
  <cp:lastModifiedBy>Min Zhu</cp:lastModifiedBy>
  <cp:revision>1</cp:revision>
  <dcterms:created xsi:type="dcterms:W3CDTF">2024-11-27T05:20:25Z</dcterms:created>
  <dcterms:modified xsi:type="dcterms:W3CDTF">2024-11-27T05:21:18Z</dcterms:modified>
</cp:coreProperties>
</file>