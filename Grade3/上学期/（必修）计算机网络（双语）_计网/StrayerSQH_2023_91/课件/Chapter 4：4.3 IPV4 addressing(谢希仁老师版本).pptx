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4" r:id="rId2"/>
  </p:sldMasterIdLst>
  <p:notesMasterIdLst>
    <p:notesMasterId r:id="rId53"/>
  </p:notesMasterIdLst>
  <p:sldIdLst>
    <p:sldId id="1504" r:id="rId3"/>
    <p:sldId id="1464" r:id="rId4"/>
    <p:sldId id="1691" r:id="rId5"/>
    <p:sldId id="1692" r:id="rId6"/>
    <p:sldId id="1693" r:id="rId7"/>
    <p:sldId id="1468" r:id="rId8"/>
    <p:sldId id="1469" r:id="rId9"/>
    <p:sldId id="1694" r:id="rId10"/>
    <p:sldId id="1471" r:id="rId11"/>
    <p:sldId id="1472" r:id="rId12"/>
    <p:sldId id="1473" r:id="rId13"/>
    <p:sldId id="1505" r:id="rId14"/>
    <p:sldId id="1695" r:id="rId15"/>
    <p:sldId id="1476" r:id="rId16"/>
    <p:sldId id="1477" r:id="rId17"/>
    <p:sldId id="1478" r:id="rId18"/>
    <p:sldId id="1479" r:id="rId19"/>
    <p:sldId id="1480" r:id="rId20"/>
    <p:sldId id="1481" r:id="rId21"/>
    <p:sldId id="1482" r:id="rId22"/>
    <p:sldId id="1483" r:id="rId23"/>
    <p:sldId id="1484" r:id="rId24"/>
    <p:sldId id="1485" r:id="rId25"/>
    <p:sldId id="1486" r:id="rId26"/>
    <p:sldId id="1683" r:id="rId27"/>
    <p:sldId id="1488" r:id="rId28"/>
    <p:sldId id="1684" r:id="rId29"/>
    <p:sldId id="1685" r:id="rId30"/>
    <p:sldId id="1491" r:id="rId31"/>
    <p:sldId id="675" r:id="rId32"/>
    <p:sldId id="350" r:id="rId33"/>
    <p:sldId id="351" r:id="rId34"/>
    <p:sldId id="844" r:id="rId35"/>
    <p:sldId id="845" r:id="rId36"/>
    <p:sldId id="846" r:id="rId37"/>
    <p:sldId id="847" r:id="rId38"/>
    <p:sldId id="848" r:id="rId39"/>
    <p:sldId id="849" r:id="rId40"/>
    <p:sldId id="850" r:id="rId41"/>
    <p:sldId id="851" r:id="rId42"/>
    <p:sldId id="852" r:id="rId43"/>
    <p:sldId id="853" r:id="rId44"/>
    <p:sldId id="854" r:id="rId45"/>
    <p:sldId id="352" r:id="rId46"/>
    <p:sldId id="355" r:id="rId47"/>
    <p:sldId id="357" r:id="rId48"/>
    <p:sldId id="691" r:id="rId49"/>
    <p:sldId id="694" r:id="rId50"/>
    <p:sldId id="695" r:id="rId51"/>
    <p:sldId id="697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C34B4-ECD4-48A7-B6F4-47C58343F434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B8629-1CCA-4F58-B2A7-A87FE7E06D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模块使用在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头部中携带的地址来给目的地址传送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数据报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传输路径的选择被称作选路</a:t>
            </a:r>
            <a:r>
              <a:rPr lang="en-US" altLang="zh-CN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(routing)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模块使用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头部中的域来分片和重组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internet</a:t>
            </a:r>
            <a:r>
              <a:rPr lang="zh-CN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63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4471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1646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9423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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服务器被动打开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UDP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端口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67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，等待客户端发来的报文。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❷：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客户从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UDP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端口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68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，发送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发现报文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DHCPDISCOVER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❸：凡收到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发现报文的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服务器都发出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提供报文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DHCPOFFER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，因此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客户可能收到多个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提供报文 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❹：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客户从几个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服务器中选择其中的一个，并向所选择的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服务器发送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请求报文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DHCPREQUEST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❺：被选择的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服务器发送确认报文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DHCPACK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，进入已绑定状态，并可开始使用得到的临时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地址了。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客户现在要根据服务器提供的租用期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设置两个计时器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，它们的超时时间分别是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0.5T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0.875T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。当超时时间到就要请求更新租用期。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❻：租用期过了一半（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时间到），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发送请求报文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DHCPREQUEST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，要求更新租用期。 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❼：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服务器若同意，则发回确认报文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DHCPACK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客户得到了新的租用期，重新设置计时器。</a:t>
            </a: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❽：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服务器若不同意，则发回否认报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DHCPNACK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。这时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客户必须立即停止使用原来的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地址，而必须重新申请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地址（回到步骤  ❷）。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若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服务器不响应步骤  ❻ 的请求报文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DHCPREQUEST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，则在租用期过了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87.5%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时，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客户必须重新发送请求报文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DHCPREQUEST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（重复步骤  ❻），然后又继续后面的步骤。 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❾：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客户可随时提前终止服务器所提供的租用期，这时只需向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服务器发送释放报文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DHCPRELEASE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即可。</a:t>
            </a:r>
          </a:p>
          <a:p>
            <a:pPr>
              <a:lnSpc>
                <a:spcPct val="120000"/>
              </a:lnSpc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5393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C00000"/>
              </a:buClr>
              <a:buSzPct val="90000"/>
            </a:pP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局域网上的每个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节点（主机或路由器）都有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ARP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表</a:t>
            </a:r>
            <a:endParaRPr lang="en-US" altLang="zh-CN" dirty="0">
              <a:latin typeface="+mn-ea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SzPct val="90000"/>
            </a:pPr>
            <a:r>
              <a:rPr lang="en-US" altLang="zh-CN" dirty="0">
                <a:latin typeface="+mn-ea"/>
                <a:cs typeface="Times New Roman" panose="02020603050405020304" pitchFamily="18" charset="0"/>
              </a:rPr>
              <a:t>ARP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表缓存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地址与</a:t>
            </a:r>
            <a:r>
              <a:rPr lang="en-US" altLang="zh-CN" dirty="0">
                <a:latin typeface="+mn-ea"/>
                <a:cs typeface="Times New Roman" panose="02020603050405020304" pitchFamily="18" charset="0"/>
              </a:rPr>
              <a:t>MAC</a:t>
            </a:r>
            <a:r>
              <a:rPr lang="zh-CN" altLang="en-US" dirty="0">
                <a:latin typeface="+mn-ea"/>
                <a:cs typeface="Times New Roman" panose="02020603050405020304" pitchFamily="18" charset="0"/>
              </a:rPr>
              <a:t>地址的映射关系：</a:t>
            </a:r>
            <a:endParaRPr lang="en-US" altLang="zh-CN" dirty="0">
              <a:latin typeface="+mn-ea"/>
              <a:cs typeface="Times New Roman" panose="02020603050405020304" pitchFamily="18" charset="0"/>
            </a:endParaRPr>
          </a:p>
          <a:p>
            <a:pPr fontAlgn="t"/>
            <a:r>
              <a:rPr lang="en-US" altLang="zh-CN" dirty="0">
                <a:latin typeface="+mn-ea"/>
              </a:rPr>
              <a:t>   IP</a:t>
            </a:r>
            <a:r>
              <a:rPr lang="zh-CN" altLang="zh-CN" dirty="0">
                <a:latin typeface="+mn-ea"/>
              </a:rPr>
              <a:t>地址</a:t>
            </a:r>
            <a:r>
              <a:rPr lang="en-US" altLang="zh-CN" dirty="0">
                <a:latin typeface="+mn-ea"/>
              </a:rPr>
              <a:t>     MAC</a:t>
            </a:r>
            <a:r>
              <a:rPr lang="zh-CN" altLang="zh-CN" dirty="0">
                <a:latin typeface="+mn-ea"/>
              </a:rPr>
              <a:t>地址</a:t>
            </a:r>
            <a:r>
              <a:rPr lang="en-US" altLang="zh-CN" dirty="0">
                <a:latin typeface="+mn-ea"/>
              </a:rPr>
              <a:t>     TTL</a:t>
            </a:r>
            <a:endParaRPr lang="zh-CN" altLang="zh-CN" dirty="0">
              <a:latin typeface="+mn-ea"/>
            </a:endParaRPr>
          </a:p>
          <a:p>
            <a:pPr>
              <a:buClr>
                <a:srgbClr val="C00000"/>
              </a:buClr>
              <a:buSzPct val="90000"/>
            </a:pPr>
            <a:endParaRPr lang="en-US" altLang="zh-CN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9800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buClr>
                <a:srgbClr val="0070C0"/>
              </a:buClr>
            </a:pPr>
            <a:r>
              <a:rPr lang="en-US" altLang="zh-CN" dirty="0">
                <a:latin typeface="+mn-ea"/>
              </a:rPr>
              <a:t>ARP </a:t>
            </a:r>
            <a:r>
              <a:rPr lang="zh-CN" altLang="en-US" dirty="0">
                <a:latin typeface="+mn-ea"/>
              </a:rPr>
              <a:t>高速缓存的作用：</a:t>
            </a:r>
            <a:endParaRPr lang="en-US" altLang="zh-CN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ct val="120000"/>
              </a:lnSpc>
              <a:buClr>
                <a:srgbClr val="0070C0"/>
              </a:buClr>
            </a:pPr>
            <a:r>
              <a:rPr lang="zh-CN" altLang="en-US" dirty="0">
                <a:solidFill>
                  <a:srgbClr val="0000FF"/>
                </a:solidFill>
                <a:latin typeface="+mn-ea"/>
              </a:rPr>
              <a:t>存放最近获得的 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IP 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地址到 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MAC 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地址的绑定，以减少 </a:t>
            </a:r>
            <a:r>
              <a:rPr lang="en-US" altLang="zh-CN" dirty="0">
                <a:solidFill>
                  <a:srgbClr val="0000FF"/>
                </a:solidFill>
                <a:latin typeface="+mn-ea"/>
              </a:rPr>
              <a:t>ARP 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广播的数量</a:t>
            </a:r>
          </a:p>
          <a:p>
            <a:pPr>
              <a:lnSpc>
                <a:spcPct val="120000"/>
              </a:lnSpc>
              <a:buClr>
                <a:srgbClr val="0070C0"/>
              </a:buClr>
            </a:pPr>
            <a:r>
              <a:rPr lang="zh-CN" altLang="en-US" dirty="0">
                <a:latin typeface="+mn-ea"/>
              </a:rPr>
              <a:t>为了减少网络上的通信量，主机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在发送其 </a:t>
            </a:r>
            <a:r>
              <a:rPr lang="en-US" altLang="zh-CN" dirty="0">
                <a:latin typeface="+mn-ea"/>
              </a:rPr>
              <a:t>ARP </a:t>
            </a:r>
            <a:r>
              <a:rPr lang="zh-CN" altLang="en-US" dirty="0">
                <a:latin typeface="+mn-ea"/>
              </a:rPr>
              <a:t>请求分组时，就将自己的 </a:t>
            </a:r>
            <a:r>
              <a:rPr lang="en-US" altLang="zh-CN" dirty="0">
                <a:latin typeface="+mn-ea"/>
              </a:rPr>
              <a:t>IP </a:t>
            </a:r>
            <a:r>
              <a:rPr lang="zh-CN" altLang="en-US" dirty="0">
                <a:latin typeface="+mn-ea"/>
              </a:rPr>
              <a:t>地址到硬件地址的映射写入 </a:t>
            </a:r>
            <a:r>
              <a:rPr lang="en-US" altLang="zh-CN" dirty="0">
                <a:latin typeface="+mn-ea"/>
              </a:rPr>
              <a:t>ARP </a:t>
            </a:r>
            <a:r>
              <a:rPr lang="zh-CN" altLang="en-US" dirty="0">
                <a:latin typeface="+mn-ea"/>
              </a:rPr>
              <a:t>请求分组</a:t>
            </a:r>
          </a:p>
          <a:p>
            <a:pPr>
              <a:lnSpc>
                <a:spcPct val="120000"/>
              </a:lnSpc>
              <a:buClr>
                <a:srgbClr val="0070C0"/>
              </a:buClr>
            </a:pPr>
            <a:r>
              <a:rPr lang="zh-CN" altLang="en-US" dirty="0">
                <a:latin typeface="+mn-ea"/>
              </a:rPr>
              <a:t>当主机 </a:t>
            </a:r>
            <a:r>
              <a:rPr lang="en-US" altLang="zh-CN" dirty="0">
                <a:latin typeface="+mn-ea"/>
              </a:rPr>
              <a:t>B </a:t>
            </a:r>
            <a:r>
              <a:rPr lang="zh-CN" altLang="en-US" dirty="0">
                <a:latin typeface="+mn-ea"/>
              </a:rPr>
              <a:t>收到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的 </a:t>
            </a:r>
            <a:r>
              <a:rPr lang="en-US" altLang="zh-CN" dirty="0">
                <a:latin typeface="+mn-ea"/>
              </a:rPr>
              <a:t>ARP </a:t>
            </a:r>
            <a:r>
              <a:rPr lang="zh-CN" altLang="en-US" dirty="0">
                <a:latin typeface="+mn-ea"/>
              </a:rPr>
              <a:t>请求分组时，就将主机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的这一地址映射写入主机 </a:t>
            </a:r>
            <a:r>
              <a:rPr lang="en-US" altLang="zh-CN" dirty="0">
                <a:latin typeface="+mn-ea"/>
              </a:rPr>
              <a:t>B </a:t>
            </a:r>
            <a:r>
              <a:rPr lang="zh-CN" altLang="en-US" dirty="0">
                <a:latin typeface="+mn-ea"/>
              </a:rPr>
              <a:t>自己的 </a:t>
            </a:r>
            <a:r>
              <a:rPr lang="en-US" altLang="zh-CN" dirty="0">
                <a:latin typeface="+mn-ea"/>
              </a:rPr>
              <a:t>ARP </a:t>
            </a:r>
            <a:r>
              <a:rPr lang="zh-CN" altLang="en-US" dirty="0">
                <a:latin typeface="+mn-ea"/>
              </a:rPr>
              <a:t>高速缓存中。这对主机 </a:t>
            </a:r>
            <a:r>
              <a:rPr lang="en-US" altLang="zh-CN" dirty="0">
                <a:latin typeface="+mn-ea"/>
              </a:rPr>
              <a:t>B </a:t>
            </a:r>
            <a:r>
              <a:rPr lang="zh-CN" altLang="en-US" dirty="0">
                <a:latin typeface="+mn-ea"/>
              </a:rPr>
              <a:t>以后向 </a:t>
            </a:r>
            <a:r>
              <a:rPr lang="en-US" altLang="zh-CN" dirty="0">
                <a:latin typeface="+mn-ea"/>
              </a:rPr>
              <a:t>A </a:t>
            </a:r>
            <a:r>
              <a:rPr lang="zh-CN" altLang="en-US" dirty="0">
                <a:latin typeface="+mn-ea"/>
              </a:rPr>
              <a:t>发送数据报时就更方便了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0B8802-914A-7C41-BC77-CC54DEE99EEF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9468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4977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005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043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821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8935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627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098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6298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3191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3664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14BD24-89E3-4C51-B736-BCCE6C13A8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570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97C75-78EB-4043-953B-95F867F4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1C1163-5F70-9046-86B2-81951DCE1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F9E280-F138-8142-8DB1-324EA9F38324}"/>
              </a:ext>
            </a:extLst>
          </p:cNvPr>
          <p:cNvSpPr/>
          <p:nvPr userDrawn="1"/>
        </p:nvSpPr>
        <p:spPr>
          <a:xfrm>
            <a:off x="-9939" y="-8627"/>
            <a:ext cx="9307502" cy="567811"/>
          </a:xfrm>
          <a:prstGeom prst="rect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DF02C2-66E0-594F-914D-47F0EC7AA666}"/>
              </a:ext>
            </a:extLst>
          </p:cNvPr>
          <p:cNvSpPr txBox="1"/>
          <p:nvPr userDrawn="1"/>
        </p:nvSpPr>
        <p:spPr>
          <a:xfrm>
            <a:off x="9569811" y="90612"/>
            <a:ext cx="2297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众筹</a:t>
            </a:r>
            <a:r>
              <a:rPr lang="en-US" altLang="zh-CN" sz="1800" b="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en-US" altLang="zh-CN" sz="1800" b="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AB2E87B-2061-474F-BD6B-FFB3E5285CE9}"/>
              </a:ext>
            </a:extLst>
          </p:cNvPr>
          <p:cNvGrpSpPr/>
          <p:nvPr userDrawn="1"/>
        </p:nvGrpSpPr>
        <p:grpSpPr>
          <a:xfrm>
            <a:off x="4771770" y="5979422"/>
            <a:ext cx="2648459" cy="742053"/>
            <a:chOff x="4858653" y="5979422"/>
            <a:chExt cx="2648459" cy="742053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ABB9B9B8-F63F-5C48-98A1-BF8860F585BF}"/>
                </a:ext>
              </a:extLst>
            </p:cNvPr>
            <p:cNvGrpSpPr/>
            <p:nvPr userDrawn="1"/>
          </p:nvGrpSpPr>
          <p:grpSpPr>
            <a:xfrm>
              <a:off x="4858653" y="5979422"/>
              <a:ext cx="867188" cy="742053"/>
              <a:chOff x="901977" y="761321"/>
              <a:chExt cx="1281319" cy="113905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1B680A8-BC74-BA43-BB0D-C8F8C7B77C8F}"/>
                  </a:ext>
                </a:extLst>
              </p:cNvPr>
              <p:cNvSpPr/>
              <p:nvPr userDrawn="1"/>
            </p:nvSpPr>
            <p:spPr>
              <a:xfrm>
                <a:off x="901977" y="761321"/>
                <a:ext cx="1281319" cy="1139058"/>
              </a:xfrm>
              <a:prstGeom prst="rect">
                <a:avLst/>
              </a:prstGeom>
              <a:solidFill>
                <a:srgbClr val="5C30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solidFill>
                    <a:srgbClr val="5C307E"/>
                  </a:solidFill>
                </a:endParaRPr>
              </a:p>
            </p:txBody>
          </p: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3F50F50E-8A90-104F-B899-DE9D869B8A5F}"/>
                  </a:ext>
                </a:extLst>
              </p:cNvPr>
              <p:cNvGrpSpPr/>
              <p:nvPr userDrawn="1"/>
            </p:nvGrpSpPr>
            <p:grpSpPr>
              <a:xfrm>
                <a:off x="1031055" y="907676"/>
                <a:ext cx="1013957" cy="853426"/>
                <a:chOff x="1368170" y="664579"/>
                <a:chExt cx="550582" cy="439737"/>
              </a:xfrm>
              <a:solidFill>
                <a:schemeClr val="bg1"/>
              </a:solidFill>
            </p:grpSpPr>
            <p:sp>
              <p:nvSpPr>
                <p:cNvPr id="12" name="Freeform 1">
                  <a:extLst>
                    <a:ext uri="{FF2B5EF4-FFF2-40B4-BE49-F238E27FC236}">
                      <a16:creationId xmlns:a16="http://schemas.microsoft.com/office/drawing/2014/main" id="{D5F846F9-652E-1B4D-9692-FE9281D20E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1203" y="771778"/>
                  <a:ext cx="437549" cy="332538"/>
                </a:xfrm>
                <a:custGeom>
                  <a:avLst/>
                  <a:gdLst>
                    <a:gd name="T0" fmla="*/ 25 w 2647"/>
                    <a:gd name="T1" fmla="*/ 1478 h 2011"/>
                    <a:gd name="T2" fmla="*/ 525 w 2647"/>
                    <a:gd name="T3" fmla="*/ 1865 h 2011"/>
                    <a:gd name="T4" fmla="*/ 736 w 2647"/>
                    <a:gd name="T5" fmla="*/ 1972 h 2011"/>
                    <a:gd name="T6" fmla="*/ 940 w 2647"/>
                    <a:gd name="T7" fmla="*/ 2010 h 2011"/>
                    <a:gd name="T8" fmla="*/ 1078 w 2647"/>
                    <a:gd name="T9" fmla="*/ 1991 h 2011"/>
                    <a:gd name="T10" fmla="*/ 1286 w 2647"/>
                    <a:gd name="T11" fmla="*/ 1894 h 2011"/>
                    <a:gd name="T12" fmla="*/ 1506 w 2647"/>
                    <a:gd name="T13" fmla="*/ 1715 h 2011"/>
                    <a:gd name="T14" fmla="*/ 1506 w 2647"/>
                    <a:gd name="T15" fmla="*/ 1715 h 2011"/>
                    <a:gd name="T16" fmla="*/ 2630 w 2647"/>
                    <a:gd name="T17" fmla="*/ 624 h 2011"/>
                    <a:gd name="T18" fmla="*/ 2646 w 2647"/>
                    <a:gd name="T19" fmla="*/ 586 h 2011"/>
                    <a:gd name="T20" fmla="*/ 2630 w 2647"/>
                    <a:gd name="T21" fmla="*/ 548 h 2011"/>
                    <a:gd name="T22" fmla="*/ 2090 w 2647"/>
                    <a:gd name="T23" fmla="*/ 21 h 2011"/>
                    <a:gd name="T24" fmla="*/ 2016 w 2647"/>
                    <a:gd name="T25" fmla="*/ 22 h 2011"/>
                    <a:gd name="T26" fmla="*/ 2017 w 2647"/>
                    <a:gd name="T27" fmla="*/ 96 h 2011"/>
                    <a:gd name="T28" fmla="*/ 2518 w 2647"/>
                    <a:gd name="T29" fmla="*/ 586 h 2011"/>
                    <a:gd name="T30" fmla="*/ 1433 w 2647"/>
                    <a:gd name="T31" fmla="*/ 1639 h 2011"/>
                    <a:gd name="T32" fmla="*/ 1433 w 2647"/>
                    <a:gd name="T33" fmla="*/ 1639 h 2011"/>
                    <a:gd name="T34" fmla="*/ 1167 w 2647"/>
                    <a:gd name="T35" fmla="*/ 1843 h 2011"/>
                    <a:gd name="T36" fmla="*/ 1051 w 2647"/>
                    <a:gd name="T37" fmla="*/ 1889 h 2011"/>
                    <a:gd name="T38" fmla="*/ 940 w 2647"/>
                    <a:gd name="T39" fmla="*/ 1904 h 2011"/>
                    <a:gd name="T40" fmla="*/ 772 w 2647"/>
                    <a:gd name="T41" fmla="*/ 1872 h 2011"/>
                    <a:gd name="T42" fmla="*/ 474 w 2647"/>
                    <a:gd name="T43" fmla="*/ 1704 h 2011"/>
                    <a:gd name="T44" fmla="*/ 93 w 2647"/>
                    <a:gd name="T45" fmla="*/ 1398 h 2011"/>
                    <a:gd name="T46" fmla="*/ 19 w 2647"/>
                    <a:gd name="T47" fmla="*/ 1404 h 2011"/>
                    <a:gd name="T48" fmla="*/ 25 w 2647"/>
                    <a:gd name="T49" fmla="*/ 1478 h 20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647" h="2011">
                      <a:moveTo>
                        <a:pt x="25" y="1478"/>
                      </a:moveTo>
                      <a:cubicBezTo>
                        <a:pt x="219" y="1643"/>
                        <a:pt x="380" y="1773"/>
                        <a:pt x="525" y="1865"/>
                      </a:cubicBezTo>
                      <a:cubicBezTo>
                        <a:pt x="598" y="1911"/>
                        <a:pt x="668" y="1947"/>
                        <a:pt x="736" y="1972"/>
                      </a:cubicBezTo>
                      <a:cubicBezTo>
                        <a:pt x="805" y="1996"/>
                        <a:pt x="872" y="2010"/>
                        <a:pt x="940" y="2010"/>
                      </a:cubicBezTo>
                      <a:cubicBezTo>
                        <a:pt x="986" y="2010"/>
                        <a:pt x="1032" y="2004"/>
                        <a:pt x="1078" y="1991"/>
                      </a:cubicBezTo>
                      <a:cubicBezTo>
                        <a:pt x="1147" y="1973"/>
                        <a:pt x="1216" y="1940"/>
                        <a:pt x="1286" y="1894"/>
                      </a:cubicBezTo>
                      <a:cubicBezTo>
                        <a:pt x="1357" y="1848"/>
                        <a:pt x="1429" y="1789"/>
                        <a:pt x="1506" y="1715"/>
                      </a:cubicBezTo>
                      <a:lnTo>
                        <a:pt x="1506" y="1715"/>
                      </a:lnTo>
                      <a:lnTo>
                        <a:pt x="2630" y="624"/>
                      </a:lnTo>
                      <a:cubicBezTo>
                        <a:pt x="2640" y="614"/>
                        <a:pt x="2646" y="600"/>
                        <a:pt x="2646" y="586"/>
                      </a:cubicBezTo>
                      <a:cubicBezTo>
                        <a:pt x="2646" y="572"/>
                        <a:pt x="2641" y="558"/>
                        <a:pt x="2630" y="548"/>
                      </a:cubicBezTo>
                      <a:lnTo>
                        <a:pt x="2090" y="21"/>
                      </a:lnTo>
                      <a:cubicBezTo>
                        <a:pt x="2069" y="0"/>
                        <a:pt x="2036" y="1"/>
                        <a:pt x="2016" y="22"/>
                      </a:cubicBezTo>
                      <a:cubicBezTo>
                        <a:pt x="1995" y="42"/>
                        <a:pt x="1996" y="76"/>
                        <a:pt x="2017" y="96"/>
                      </a:cubicBezTo>
                      <a:lnTo>
                        <a:pt x="2518" y="586"/>
                      </a:lnTo>
                      <a:lnTo>
                        <a:pt x="1433" y="1639"/>
                      </a:lnTo>
                      <a:lnTo>
                        <a:pt x="1433" y="1639"/>
                      </a:lnTo>
                      <a:cubicBezTo>
                        <a:pt x="1335" y="1733"/>
                        <a:pt x="1247" y="1800"/>
                        <a:pt x="1167" y="1843"/>
                      </a:cubicBezTo>
                      <a:cubicBezTo>
                        <a:pt x="1127" y="1864"/>
                        <a:pt x="1088" y="1879"/>
                        <a:pt x="1051" y="1889"/>
                      </a:cubicBezTo>
                      <a:cubicBezTo>
                        <a:pt x="1013" y="1899"/>
                        <a:pt x="977" y="1904"/>
                        <a:pt x="940" y="1904"/>
                      </a:cubicBezTo>
                      <a:cubicBezTo>
                        <a:pt x="886" y="1904"/>
                        <a:pt x="831" y="1894"/>
                        <a:pt x="772" y="1872"/>
                      </a:cubicBezTo>
                      <a:cubicBezTo>
                        <a:pt x="683" y="1840"/>
                        <a:pt x="586" y="1784"/>
                        <a:pt x="474" y="1704"/>
                      </a:cubicBezTo>
                      <a:cubicBezTo>
                        <a:pt x="363" y="1624"/>
                        <a:pt x="238" y="1521"/>
                        <a:pt x="93" y="1398"/>
                      </a:cubicBezTo>
                      <a:cubicBezTo>
                        <a:pt x="71" y="1379"/>
                        <a:pt x="38" y="1382"/>
                        <a:pt x="19" y="1404"/>
                      </a:cubicBezTo>
                      <a:cubicBezTo>
                        <a:pt x="0" y="1426"/>
                        <a:pt x="3" y="1459"/>
                        <a:pt x="25" y="147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Freeform 2">
                  <a:extLst>
                    <a:ext uri="{FF2B5EF4-FFF2-40B4-BE49-F238E27FC236}">
                      <a16:creationId xmlns:a16="http://schemas.microsoft.com/office/drawing/2014/main" id="{29E72527-4F98-5C42-A871-1F1811E8F1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11832" y="868769"/>
                  <a:ext cx="356603" cy="190334"/>
                </a:xfrm>
                <a:custGeom>
                  <a:avLst/>
                  <a:gdLst>
                    <a:gd name="T0" fmla="*/ 15 w 2158"/>
                    <a:gd name="T1" fmla="*/ 713 h 1152"/>
                    <a:gd name="T2" fmla="*/ 432 w 2158"/>
                    <a:gd name="T3" fmla="*/ 1033 h 1152"/>
                    <a:gd name="T4" fmla="*/ 605 w 2158"/>
                    <a:gd name="T5" fmla="*/ 1120 h 1152"/>
                    <a:gd name="T6" fmla="*/ 771 w 2158"/>
                    <a:gd name="T7" fmla="*/ 1151 h 1152"/>
                    <a:gd name="T8" fmla="*/ 896 w 2158"/>
                    <a:gd name="T9" fmla="*/ 1132 h 1152"/>
                    <a:gd name="T10" fmla="*/ 1089 w 2158"/>
                    <a:gd name="T11" fmla="*/ 1036 h 1152"/>
                    <a:gd name="T12" fmla="*/ 1305 w 2158"/>
                    <a:gd name="T13" fmla="*/ 856 h 1152"/>
                    <a:gd name="T14" fmla="*/ 1305 w 2158"/>
                    <a:gd name="T15" fmla="*/ 856 h 1152"/>
                    <a:gd name="T16" fmla="*/ 2144 w 2158"/>
                    <a:gd name="T17" fmla="*/ 57 h 1152"/>
                    <a:gd name="T18" fmla="*/ 2145 w 2158"/>
                    <a:gd name="T19" fmla="*/ 13 h 1152"/>
                    <a:gd name="T20" fmla="*/ 2100 w 2158"/>
                    <a:gd name="T21" fmla="*/ 12 h 1152"/>
                    <a:gd name="T22" fmla="*/ 1262 w 2158"/>
                    <a:gd name="T23" fmla="*/ 811 h 1152"/>
                    <a:gd name="T24" fmla="*/ 1262 w 2158"/>
                    <a:gd name="T25" fmla="*/ 811 h 1152"/>
                    <a:gd name="T26" fmla="*/ 993 w 2158"/>
                    <a:gd name="T27" fmla="*/ 1023 h 1152"/>
                    <a:gd name="T28" fmla="*/ 878 w 2158"/>
                    <a:gd name="T29" fmla="*/ 1072 h 1152"/>
                    <a:gd name="T30" fmla="*/ 771 w 2158"/>
                    <a:gd name="T31" fmla="*/ 1088 h 1152"/>
                    <a:gd name="T32" fmla="*/ 626 w 2158"/>
                    <a:gd name="T33" fmla="*/ 1061 h 1152"/>
                    <a:gd name="T34" fmla="*/ 376 w 2158"/>
                    <a:gd name="T35" fmla="*/ 920 h 1152"/>
                    <a:gd name="T36" fmla="*/ 55 w 2158"/>
                    <a:gd name="T37" fmla="*/ 665 h 1152"/>
                    <a:gd name="T38" fmla="*/ 11 w 2158"/>
                    <a:gd name="T39" fmla="*/ 669 h 1152"/>
                    <a:gd name="T40" fmla="*/ 15 w 2158"/>
                    <a:gd name="T41" fmla="*/ 713 h 1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58" h="1152">
                      <a:moveTo>
                        <a:pt x="15" y="713"/>
                      </a:moveTo>
                      <a:cubicBezTo>
                        <a:pt x="179" y="850"/>
                        <a:pt x="312" y="958"/>
                        <a:pt x="432" y="1033"/>
                      </a:cubicBezTo>
                      <a:cubicBezTo>
                        <a:pt x="492" y="1071"/>
                        <a:pt x="549" y="1100"/>
                        <a:pt x="605" y="1120"/>
                      </a:cubicBezTo>
                      <a:cubicBezTo>
                        <a:pt x="661" y="1140"/>
                        <a:pt x="716" y="1151"/>
                        <a:pt x="771" y="1151"/>
                      </a:cubicBezTo>
                      <a:cubicBezTo>
                        <a:pt x="812" y="1151"/>
                        <a:pt x="854" y="1145"/>
                        <a:pt x="896" y="1132"/>
                      </a:cubicBezTo>
                      <a:cubicBezTo>
                        <a:pt x="959" y="1114"/>
                        <a:pt x="1022" y="1082"/>
                        <a:pt x="1089" y="1036"/>
                      </a:cubicBezTo>
                      <a:cubicBezTo>
                        <a:pt x="1156" y="990"/>
                        <a:pt x="1227" y="931"/>
                        <a:pt x="1305" y="856"/>
                      </a:cubicBezTo>
                      <a:lnTo>
                        <a:pt x="1305" y="856"/>
                      </a:lnTo>
                      <a:lnTo>
                        <a:pt x="2144" y="57"/>
                      </a:lnTo>
                      <a:cubicBezTo>
                        <a:pt x="2156" y="45"/>
                        <a:pt x="2157" y="25"/>
                        <a:pt x="2145" y="13"/>
                      </a:cubicBezTo>
                      <a:cubicBezTo>
                        <a:pt x="2133" y="0"/>
                        <a:pt x="2113" y="0"/>
                        <a:pt x="2100" y="12"/>
                      </a:cubicBezTo>
                      <a:lnTo>
                        <a:pt x="1262" y="811"/>
                      </a:lnTo>
                      <a:lnTo>
                        <a:pt x="1262" y="811"/>
                      </a:lnTo>
                      <a:cubicBezTo>
                        <a:pt x="1160" y="908"/>
                        <a:pt x="1072" y="978"/>
                        <a:pt x="993" y="1023"/>
                      </a:cubicBezTo>
                      <a:cubicBezTo>
                        <a:pt x="953" y="1045"/>
                        <a:pt x="915" y="1062"/>
                        <a:pt x="878" y="1072"/>
                      </a:cubicBezTo>
                      <a:cubicBezTo>
                        <a:pt x="842" y="1083"/>
                        <a:pt x="806" y="1088"/>
                        <a:pt x="771" y="1088"/>
                      </a:cubicBezTo>
                      <a:cubicBezTo>
                        <a:pt x="724" y="1088"/>
                        <a:pt x="677" y="1079"/>
                        <a:pt x="626" y="1061"/>
                      </a:cubicBezTo>
                      <a:cubicBezTo>
                        <a:pt x="551" y="1034"/>
                        <a:pt x="469" y="987"/>
                        <a:pt x="376" y="920"/>
                      </a:cubicBezTo>
                      <a:cubicBezTo>
                        <a:pt x="282" y="853"/>
                        <a:pt x="177" y="767"/>
                        <a:pt x="55" y="665"/>
                      </a:cubicBezTo>
                      <a:cubicBezTo>
                        <a:pt x="42" y="654"/>
                        <a:pt x="22" y="656"/>
                        <a:pt x="11" y="669"/>
                      </a:cubicBezTo>
                      <a:cubicBezTo>
                        <a:pt x="0" y="682"/>
                        <a:pt x="1" y="702"/>
                        <a:pt x="15" y="713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3">
                  <a:extLst>
                    <a:ext uri="{FF2B5EF4-FFF2-40B4-BE49-F238E27FC236}">
                      <a16:creationId xmlns:a16="http://schemas.microsoft.com/office/drawing/2014/main" id="{E5209C47-8580-2040-BA4C-C66647BCAD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40273" y="847620"/>
                  <a:ext cx="304826" cy="169186"/>
                </a:xfrm>
                <a:custGeom>
                  <a:avLst/>
                  <a:gdLst>
                    <a:gd name="T0" fmla="*/ 12 w 1845"/>
                    <a:gd name="T1" fmla="*/ 672 h 1022"/>
                    <a:gd name="T2" fmla="*/ 350 w 1845"/>
                    <a:gd name="T3" fmla="*/ 928 h 1022"/>
                    <a:gd name="T4" fmla="*/ 488 w 1845"/>
                    <a:gd name="T5" fmla="*/ 997 h 1022"/>
                    <a:gd name="T6" fmla="*/ 620 w 1845"/>
                    <a:gd name="T7" fmla="*/ 1021 h 1022"/>
                    <a:gd name="T8" fmla="*/ 734 w 1845"/>
                    <a:gd name="T9" fmla="*/ 1003 h 1022"/>
                    <a:gd name="T10" fmla="*/ 915 w 1845"/>
                    <a:gd name="T11" fmla="*/ 905 h 1022"/>
                    <a:gd name="T12" fmla="*/ 1129 w 1845"/>
                    <a:gd name="T13" fmla="*/ 720 h 1022"/>
                    <a:gd name="T14" fmla="*/ 1129 w 1845"/>
                    <a:gd name="T15" fmla="*/ 720 h 1022"/>
                    <a:gd name="T16" fmla="*/ 1834 w 1845"/>
                    <a:gd name="T17" fmla="*/ 42 h 1022"/>
                    <a:gd name="T18" fmla="*/ 1835 w 1845"/>
                    <a:gd name="T19" fmla="*/ 10 h 1022"/>
                    <a:gd name="T20" fmla="*/ 1802 w 1845"/>
                    <a:gd name="T21" fmla="*/ 9 h 1022"/>
                    <a:gd name="T22" fmla="*/ 1097 w 1845"/>
                    <a:gd name="T23" fmla="*/ 687 h 1022"/>
                    <a:gd name="T24" fmla="*/ 1097 w 1845"/>
                    <a:gd name="T25" fmla="*/ 687 h 1022"/>
                    <a:gd name="T26" fmla="*/ 828 w 1845"/>
                    <a:gd name="T27" fmla="*/ 907 h 1022"/>
                    <a:gd name="T28" fmla="*/ 720 w 1845"/>
                    <a:gd name="T29" fmla="*/ 959 h 1022"/>
                    <a:gd name="T30" fmla="*/ 620 w 1845"/>
                    <a:gd name="T31" fmla="*/ 975 h 1022"/>
                    <a:gd name="T32" fmla="*/ 504 w 1845"/>
                    <a:gd name="T33" fmla="*/ 954 h 1022"/>
                    <a:gd name="T34" fmla="*/ 302 w 1845"/>
                    <a:gd name="T35" fmla="*/ 841 h 1022"/>
                    <a:gd name="T36" fmla="*/ 41 w 1845"/>
                    <a:gd name="T37" fmla="*/ 636 h 1022"/>
                    <a:gd name="T38" fmla="*/ 9 w 1845"/>
                    <a:gd name="T39" fmla="*/ 640 h 1022"/>
                    <a:gd name="T40" fmla="*/ 12 w 1845"/>
                    <a:gd name="T41" fmla="*/ 672 h 10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845" h="1022">
                      <a:moveTo>
                        <a:pt x="12" y="672"/>
                      </a:moveTo>
                      <a:cubicBezTo>
                        <a:pt x="146" y="782"/>
                        <a:pt x="254" y="868"/>
                        <a:pt x="350" y="928"/>
                      </a:cubicBezTo>
                      <a:cubicBezTo>
                        <a:pt x="398" y="958"/>
                        <a:pt x="444" y="981"/>
                        <a:pt x="488" y="997"/>
                      </a:cubicBezTo>
                      <a:cubicBezTo>
                        <a:pt x="533" y="1013"/>
                        <a:pt x="576" y="1021"/>
                        <a:pt x="620" y="1021"/>
                      </a:cubicBezTo>
                      <a:cubicBezTo>
                        <a:pt x="658" y="1021"/>
                        <a:pt x="695" y="1015"/>
                        <a:pt x="734" y="1003"/>
                      </a:cubicBezTo>
                      <a:cubicBezTo>
                        <a:pt x="791" y="984"/>
                        <a:pt x="850" y="952"/>
                        <a:pt x="915" y="905"/>
                      </a:cubicBezTo>
                      <a:cubicBezTo>
                        <a:pt x="980" y="858"/>
                        <a:pt x="1050" y="797"/>
                        <a:pt x="1129" y="720"/>
                      </a:cubicBezTo>
                      <a:lnTo>
                        <a:pt x="1129" y="720"/>
                      </a:lnTo>
                      <a:lnTo>
                        <a:pt x="1834" y="42"/>
                      </a:lnTo>
                      <a:cubicBezTo>
                        <a:pt x="1843" y="34"/>
                        <a:pt x="1844" y="19"/>
                        <a:pt x="1835" y="10"/>
                      </a:cubicBezTo>
                      <a:cubicBezTo>
                        <a:pt x="1826" y="1"/>
                        <a:pt x="1811" y="0"/>
                        <a:pt x="1802" y="9"/>
                      </a:cubicBezTo>
                      <a:lnTo>
                        <a:pt x="1097" y="687"/>
                      </a:lnTo>
                      <a:lnTo>
                        <a:pt x="1097" y="687"/>
                      </a:lnTo>
                      <a:cubicBezTo>
                        <a:pt x="992" y="788"/>
                        <a:pt x="905" y="861"/>
                        <a:pt x="828" y="907"/>
                      </a:cubicBezTo>
                      <a:cubicBezTo>
                        <a:pt x="790" y="931"/>
                        <a:pt x="754" y="948"/>
                        <a:pt x="720" y="959"/>
                      </a:cubicBezTo>
                      <a:cubicBezTo>
                        <a:pt x="685" y="970"/>
                        <a:pt x="653" y="975"/>
                        <a:pt x="620" y="975"/>
                      </a:cubicBezTo>
                      <a:cubicBezTo>
                        <a:pt x="582" y="975"/>
                        <a:pt x="544" y="968"/>
                        <a:pt x="504" y="954"/>
                      </a:cubicBezTo>
                      <a:cubicBezTo>
                        <a:pt x="443" y="932"/>
                        <a:pt x="378" y="894"/>
                        <a:pt x="302" y="841"/>
                      </a:cubicBezTo>
                      <a:cubicBezTo>
                        <a:pt x="227" y="787"/>
                        <a:pt x="141" y="718"/>
                        <a:pt x="41" y="636"/>
                      </a:cubicBezTo>
                      <a:cubicBezTo>
                        <a:pt x="31" y="628"/>
                        <a:pt x="17" y="630"/>
                        <a:pt x="9" y="640"/>
                      </a:cubicBezTo>
                      <a:cubicBezTo>
                        <a:pt x="0" y="649"/>
                        <a:pt x="2" y="664"/>
                        <a:pt x="12" y="67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4">
                  <a:extLst>
                    <a:ext uri="{FF2B5EF4-FFF2-40B4-BE49-F238E27FC236}">
                      <a16:creationId xmlns:a16="http://schemas.microsoft.com/office/drawing/2014/main" id="{8D752D59-1EE5-1646-B01E-BA47AB38FF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68713" y="826472"/>
                  <a:ext cx="253050" cy="148037"/>
                </a:xfrm>
                <a:custGeom>
                  <a:avLst/>
                  <a:gdLst>
                    <a:gd name="T0" fmla="*/ 8 w 1531"/>
                    <a:gd name="T1" fmla="*/ 630 h 895"/>
                    <a:gd name="T2" fmla="*/ 269 w 1531"/>
                    <a:gd name="T3" fmla="*/ 824 h 895"/>
                    <a:gd name="T4" fmla="*/ 374 w 1531"/>
                    <a:gd name="T5" fmla="*/ 876 h 895"/>
                    <a:gd name="T6" fmla="*/ 473 w 1531"/>
                    <a:gd name="T7" fmla="*/ 894 h 895"/>
                    <a:gd name="T8" fmla="*/ 573 w 1531"/>
                    <a:gd name="T9" fmla="*/ 875 h 895"/>
                    <a:gd name="T10" fmla="*/ 739 w 1531"/>
                    <a:gd name="T11" fmla="*/ 775 h 895"/>
                    <a:gd name="T12" fmla="*/ 953 w 1531"/>
                    <a:gd name="T13" fmla="*/ 584 h 895"/>
                    <a:gd name="T14" fmla="*/ 953 w 1531"/>
                    <a:gd name="T15" fmla="*/ 584 h 895"/>
                    <a:gd name="T16" fmla="*/ 1524 w 1531"/>
                    <a:gd name="T17" fmla="*/ 27 h 895"/>
                    <a:gd name="T18" fmla="*/ 1524 w 1531"/>
                    <a:gd name="T19" fmla="*/ 6 h 895"/>
                    <a:gd name="T20" fmla="*/ 1503 w 1531"/>
                    <a:gd name="T21" fmla="*/ 6 h 895"/>
                    <a:gd name="T22" fmla="*/ 932 w 1531"/>
                    <a:gd name="T23" fmla="*/ 563 h 895"/>
                    <a:gd name="T24" fmla="*/ 932 w 1531"/>
                    <a:gd name="T25" fmla="*/ 563 h 895"/>
                    <a:gd name="T26" fmla="*/ 663 w 1531"/>
                    <a:gd name="T27" fmla="*/ 793 h 895"/>
                    <a:gd name="T28" fmla="*/ 562 w 1531"/>
                    <a:gd name="T29" fmla="*/ 847 h 895"/>
                    <a:gd name="T30" fmla="*/ 473 w 1531"/>
                    <a:gd name="T31" fmla="*/ 865 h 895"/>
                    <a:gd name="T32" fmla="*/ 384 w 1531"/>
                    <a:gd name="T33" fmla="*/ 848 h 895"/>
                    <a:gd name="T34" fmla="*/ 229 w 1531"/>
                    <a:gd name="T35" fmla="*/ 762 h 895"/>
                    <a:gd name="T36" fmla="*/ 26 w 1531"/>
                    <a:gd name="T37" fmla="*/ 607 h 895"/>
                    <a:gd name="T38" fmla="*/ 5 w 1531"/>
                    <a:gd name="T39" fmla="*/ 609 h 895"/>
                    <a:gd name="T40" fmla="*/ 8 w 1531"/>
                    <a:gd name="T41" fmla="*/ 630 h 8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531" h="895">
                      <a:moveTo>
                        <a:pt x="8" y="630"/>
                      </a:moveTo>
                      <a:cubicBezTo>
                        <a:pt x="113" y="714"/>
                        <a:pt x="196" y="779"/>
                        <a:pt x="269" y="824"/>
                      </a:cubicBezTo>
                      <a:cubicBezTo>
                        <a:pt x="306" y="847"/>
                        <a:pt x="340" y="864"/>
                        <a:pt x="374" y="876"/>
                      </a:cubicBezTo>
                      <a:cubicBezTo>
                        <a:pt x="407" y="888"/>
                        <a:pt x="440" y="894"/>
                        <a:pt x="473" y="894"/>
                      </a:cubicBezTo>
                      <a:cubicBezTo>
                        <a:pt x="506" y="894"/>
                        <a:pt x="539" y="888"/>
                        <a:pt x="573" y="875"/>
                      </a:cubicBezTo>
                      <a:cubicBezTo>
                        <a:pt x="624" y="856"/>
                        <a:pt x="678" y="823"/>
                        <a:pt x="739" y="775"/>
                      </a:cubicBezTo>
                      <a:cubicBezTo>
                        <a:pt x="801" y="727"/>
                        <a:pt x="870" y="663"/>
                        <a:pt x="953" y="584"/>
                      </a:cubicBezTo>
                      <a:lnTo>
                        <a:pt x="953" y="584"/>
                      </a:lnTo>
                      <a:lnTo>
                        <a:pt x="1524" y="27"/>
                      </a:lnTo>
                      <a:cubicBezTo>
                        <a:pt x="1529" y="21"/>
                        <a:pt x="1530" y="12"/>
                        <a:pt x="1524" y="6"/>
                      </a:cubicBezTo>
                      <a:cubicBezTo>
                        <a:pt x="1518" y="0"/>
                        <a:pt x="1509" y="0"/>
                        <a:pt x="1503" y="6"/>
                      </a:cubicBezTo>
                      <a:lnTo>
                        <a:pt x="932" y="563"/>
                      </a:lnTo>
                      <a:lnTo>
                        <a:pt x="932" y="563"/>
                      </a:lnTo>
                      <a:cubicBezTo>
                        <a:pt x="823" y="668"/>
                        <a:pt x="737" y="744"/>
                        <a:pt x="663" y="793"/>
                      </a:cubicBezTo>
                      <a:cubicBezTo>
                        <a:pt x="627" y="818"/>
                        <a:pt x="594" y="836"/>
                        <a:pt x="562" y="847"/>
                      </a:cubicBezTo>
                      <a:cubicBezTo>
                        <a:pt x="531" y="859"/>
                        <a:pt x="502" y="865"/>
                        <a:pt x="473" y="865"/>
                      </a:cubicBezTo>
                      <a:cubicBezTo>
                        <a:pt x="444" y="865"/>
                        <a:pt x="415" y="859"/>
                        <a:pt x="384" y="848"/>
                      </a:cubicBezTo>
                      <a:cubicBezTo>
                        <a:pt x="338" y="832"/>
                        <a:pt x="288" y="803"/>
                        <a:pt x="229" y="762"/>
                      </a:cubicBezTo>
                      <a:cubicBezTo>
                        <a:pt x="171" y="722"/>
                        <a:pt x="105" y="669"/>
                        <a:pt x="26" y="607"/>
                      </a:cubicBezTo>
                      <a:cubicBezTo>
                        <a:pt x="20" y="602"/>
                        <a:pt x="10" y="603"/>
                        <a:pt x="5" y="609"/>
                      </a:cubicBezTo>
                      <a:cubicBezTo>
                        <a:pt x="0" y="615"/>
                        <a:pt x="1" y="625"/>
                        <a:pt x="8" y="63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Freeform 5">
                  <a:extLst>
                    <a:ext uri="{FF2B5EF4-FFF2-40B4-BE49-F238E27FC236}">
                      <a16:creationId xmlns:a16="http://schemas.microsoft.com/office/drawing/2014/main" id="{736C1717-3251-C843-B909-26D88513A9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6425" y="805324"/>
                  <a:ext cx="201273" cy="127619"/>
                </a:xfrm>
                <a:custGeom>
                  <a:avLst/>
                  <a:gdLst>
                    <a:gd name="T0" fmla="*/ 4 w 1217"/>
                    <a:gd name="T1" fmla="*/ 588 h 773"/>
                    <a:gd name="T2" fmla="*/ 193 w 1217"/>
                    <a:gd name="T3" fmla="*/ 724 h 773"/>
                    <a:gd name="T4" fmla="*/ 332 w 1217"/>
                    <a:gd name="T5" fmla="*/ 772 h 773"/>
                    <a:gd name="T6" fmla="*/ 415 w 1217"/>
                    <a:gd name="T7" fmla="*/ 752 h 773"/>
                    <a:gd name="T8" fmla="*/ 563 w 1217"/>
                    <a:gd name="T9" fmla="*/ 648 h 773"/>
                    <a:gd name="T10" fmla="*/ 776 w 1217"/>
                    <a:gd name="T11" fmla="*/ 448 h 773"/>
                    <a:gd name="T12" fmla="*/ 776 w 1217"/>
                    <a:gd name="T13" fmla="*/ 448 h 773"/>
                    <a:gd name="T14" fmla="*/ 1213 w 1217"/>
                    <a:gd name="T15" fmla="*/ 12 h 773"/>
                    <a:gd name="T16" fmla="*/ 1213 w 1217"/>
                    <a:gd name="T17" fmla="*/ 2 h 773"/>
                    <a:gd name="T18" fmla="*/ 1204 w 1217"/>
                    <a:gd name="T19" fmla="*/ 2 h 773"/>
                    <a:gd name="T20" fmla="*/ 767 w 1217"/>
                    <a:gd name="T21" fmla="*/ 439 h 773"/>
                    <a:gd name="T22" fmla="*/ 500 w 1217"/>
                    <a:gd name="T23" fmla="*/ 682 h 773"/>
                    <a:gd name="T24" fmla="*/ 410 w 1217"/>
                    <a:gd name="T25" fmla="*/ 740 h 773"/>
                    <a:gd name="T26" fmla="*/ 332 w 1217"/>
                    <a:gd name="T27" fmla="*/ 759 h 773"/>
                    <a:gd name="T28" fmla="*/ 199 w 1217"/>
                    <a:gd name="T29" fmla="*/ 712 h 773"/>
                    <a:gd name="T30" fmla="*/ 12 w 1217"/>
                    <a:gd name="T31" fmla="*/ 577 h 773"/>
                    <a:gd name="T32" fmla="*/ 2 w 1217"/>
                    <a:gd name="T33" fmla="*/ 578 h 773"/>
                    <a:gd name="T34" fmla="*/ 4 w 1217"/>
                    <a:gd name="T35" fmla="*/ 588 h 7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17" h="773">
                      <a:moveTo>
                        <a:pt x="4" y="588"/>
                      </a:moveTo>
                      <a:cubicBezTo>
                        <a:pt x="81" y="647"/>
                        <a:pt x="141" y="692"/>
                        <a:pt x="193" y="724"/>
                      </a:cubicBezTo>
                      <a:cubicBezTo>
                        <a:pt x="244" y="755"/>
                        <a:pt x="288" y="772"/>
                        <a:pt x="332" y="772"/>
                      </a:cubicBezTo>
                      <a:cubicBezTo>
                        <a:pt x="359" y="772"/>
                        <a:pt x="386" y="765"/>
                        <a:pt x="415" y="752"/>
                      </a:cubicBezTo>
                      <a:cubicBezTo>
                        <a:pt x="458" y="733"/>
                        <a:pt x="505" y="698"/>
                        <a:pt x="563" y="648"/>
                      </a:cubicBezTo>
                      <a:cubicBezTo>
                        <a:pt x="620" y="597"/>
                        <a:pt x="689" y="531"/>
                        <a:pt x="776" y="448"/>
                      </a:cubicBezTo>
                      <a:lnTo>
                        <a:pt x="776" y="448"/>
                      </a:lnTo>
                      <a:lnTo>
                        <a:pt x="1213" y="12"/>
                      </a:lnTo>
                      <a:cubicBezTo>
                        <a:pt x="1216" y="9"/>
                        <a:pt x="1216" y="5"/>
                        <a:pt x="1213" y="2"/>
                      </a:cubicBezTo>
                      <a:cubicBezTo>
                        <a:pt x="1210" y="0"/>
                        <a:pt x="1206" y="0"/>
                        <a:pt x="1204" y="2"/>
                      </a:cubicBezTo>
                      <a:lnTo>
                        <a:pt x="767" y="439"/>
                      </a:lnTo>
                      <a:cubicBezTo>
                        <a:pt x="651" y="549"/>
                        <a:pt x="568" y="630"/>
                        <a:pt x="500" y="682"/>
                      </a:cubicBezTo>
                      <a:cubicBezTo>
                        <a:pt x="466" y="709"/>
                        <a:pt x="437" y="728"/>
                        <a:pt x="410" y="740"/>
                      </a:cubicBezTo>
                      <a:cubicBezTo>
                        <a:pt x="382" y="753"/>
                        <a:pt x="357" y="759"/>
                        <a:pt x="332" y="759"/>
                      </a:cubicBezTo>
                      <a:cubicBezTo>
                        <a:pt x="291" y="759"/>
                        <a:pt x="250" y="743"/>
                        <a:pt x="199" y="712"/>
                      </a:cubicBezTo>
                      <a:cubicBezTo>
                        <a:pt x="149" y="682"/>
                        <a:pt x="89" y="636"/>
                        <a:pt x="12" y="577"/>
                      </a:cubicBezTo>
                      <a:cubicBezTo>
                        <a:pt x="9" y="575"/>
                        <a:pt x="4" y="575"/>
                        <a:pt x="2" y="578"/>
                      </a:cubicBezTo>
                      <a:cubicBezTo>
                        <a:pt x="0" y="581"/>
                        <a:pt x="1" y="585"/>
                        <a:pt x="4" y="58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6">
                  <a:extLst>
                    <a:ext uri="{FF2B5EF4-FFF2-40B4-BE49-F238E27FC236}">
                      <a16:creationId xmlns:a16="http://schemas.microsoft.com/office/drawing/2014/main" id="{A3B338F7-55A4-4740-9066-F03D0DE3B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8170" y="664579"/>
                  <a:ext cx="439737" cy="330350"/>
                </a:xfrm>
                <a:custGeom>
                  <a:avLst/>
                  <a:gdLst>
                    <a:gd name="T0" fmla="*/ 2631 w 2657"/>
                    <a:gd name="T1" fmla="*/ 532 h 1998"/>
                    <a:gd name="T2" fmla="*/ 2130 w 2657"/>
                    <a:gd name="T3" fmla="*/ 145 h 1998"/>
                    <a:gd name="T4" fmla="*/ 1920 w 2657"/>
                    <a:gd name="T5" fmla="*/ 38 h 1998"/>
                    <a:gd name="T6" fmla="*/ 1715 w 2657"/>
                    <a:gd name="T7" fmla="*/ 0 h 1998"/>
                    <a:gd name="T8" fmla="*/ 1578 w 2657"/>
                    <a:gd name="T9" fmla="*/ 19 h 1998"/>
                    <a:gd name="T10" fmla="*/ 1370 w 2657"/>
                    <a:gd name="T11" fmla="*/ 116 h 1998"/>
                    <a:gd name="T12" fmla="*/ 1150 w 2657"/>
                    <a:gd name="T13" fmla="*/ 295 h 1998"/>
                    <a:gd name="T14" fmla="*/ 1150 w 2657"/>
                    <a:gd name="T15" fmla="*/ 295 h 1998"/>
                    <a:gd name="T16" fmla="*/ 16 w 2657"/>
                    <a:gd name="T17" fmla="*/ 1368 h 1998"/>
                    <a:gd name="T18" fmla="*/ 0 w 2657"/>
                    <a:gd name="T19" fmla="*/ 1406 h 1998"/>
                    <a:gd name="T20" fmla="*/ 16 w 2657"/>
                    <a:gd name="T21" fmla="*/ 1444 h 1998"/>
                    <a:gd name="T22" fmla="*/ 566 w 2657"/>
                    <a:gd name="T23" fmla="*/ 1977 h 1998"/>
                    <a:gd name="T24" fmla="*/ 640 w 2657"/>
                    <a:gd name="T25" fmla="*/ 1976 h 1998"/>
                    <a:gd name="T26" fmla="*/ 639 w 2657"/>
                    <a:gd name="T27" fmla="*/ 1901 h 1998"/>
                    <a:gd name="T28" fmla="*/ 129 w 2657"/>
                    <a:gd name="T29" fmla="*/ 1406 h 1998"/>
                    <a:gd name="T30" fmla="*/ 1223 w 2657"/>
                    <a:gd name="T31" fmla="*/ 371 h 1998"/>
                    <a:gd name="T32" fmla="*/ 1223 w 2657"/>
                    <a:gd name="T33" fmla="*/ 371 h 1998"/>
                    <a:gd name="T34" fmla="*/ 1489 w 2657"/>
                    <a:gd name="T35" fmla="*/ 167 h 1998"/>
                    <a:gd name="T36" fmla="*/ 1605 w 2657"/>
                    <a:gd name="T37" fmla="*/ 121 h 1998"/>
                    <a:gd name="T38" fmla="*/ 1715 w 2657"/>
                    <a:gd name="T39" fmla="*/ 106 h 1998"/>
                    <a:gd name="T40" fmla="*/ 1884 w 2657"/>
                    <a:gd name="T41" fmla="*/ 138 h 1998"/>
                    <a:gd name="T42" fmla="*/ 2181 w 2657"/>
                    <a:gd name="T43" fmla="*/ 306 h 1998"/>
                    <a:gd name="T44" fmla="*/ 2562 w 2657"/>
                    <a:gd name="T45" fmla="*/ 612 h 1998"/>
                    <a:gd name="T46" fmla="*/ 2637 w 2657"/>
                    <a:gd name="T47" fmla="*/ 606 h 1998"/>
                    <a:gd name="T48" fmla="*/ 2631 w 2657"/>
                    <a:gd name="T49" fmla="*/ 532 h 19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2657" h="1998">
                      <a:moveTo>
                        <a:pt x="2631" y="532"/>
                      </a:moveTo>
                      <a:cubicBezTo>
                        <a:pt x="2437" y="367"/>
                        <a:pt x="2276" y="237"/>
                        <a:pt x="2130" y="145"/>
                      </a:cubicBezTo>
                      <a:cubicBezTo>
                        <a:pt x="2058" y="99"/>
                        <a:pt x="1988" y="63"/>
                        <a:pt x="1920" y="38"/>
                      </a:cubicBezTo>
                      <a:cubicBezTo>
                        <a:pt x="1851" y="14"/>
                        <a:pt x="1783" y="0"/>
                        <a:pt x="1715" y="0"/>
                      </a:cubicBezTo>
                      <a:cubicBezTo>
                        <a:pt x="1669" y="0"/>
                        <a:pt x="1623" y="6"/>
                        <a:pt x="1578" y="19"/>
                      </a:cubicBezTo>
                      <a:cubicBezTo>
                        <a:pt x="1509" y="37"/>
                        <a:pt x="1440" y="70"/>
                        <a:pt x="1370" y="116"/>
                      </a:cubicBezTo>
                      <a:cubicBezTo>
                        <a:pt x="1299" y="162"/>
                        <a:pt x="1227" y="221"/>
                        <a:pt x="1150" y="295"/>
                      </a:cubicBezTo>
                      <a:lnTo>
                        <a:pt x="1150" y="295"/>
                      </a:lnTo>
                      <a:lnTo>
                        <a:pt x="16" y="1368"/>
                      </a:lnTo>
                      <a:cubicBezTo>
                        <a:pt x="6" y="1378"/>
                        <a:pt x="0" y="1391"/>
                        <a:pt x="0" y="1406"/>
                      </a:cubicBezTo>
                      <a:cubicBezTo>
                        <a:pt x="0" y="1420"/>
                        <a:pt x="6" y="1434"/>
                        <a:pt x="16" y="1444"/>
                      </a:cubicBezTo>
                      <a:lnTo>
                        <a:pt x="566" y="1977"/>
                      </a:lnTo>
                      <a:cubicBezTo>
                        <a:pt x="587" y="1997"/>
                        <a:pt x="619" y="1997"/>
                        <a:pt x="640" y="1976"/>
                      </a:cubicBezTo>
                      <a:cubicBezTo>
                        <a:pt x="660" y="1955"/>
                        <a:pt x="660" y="1921"/>
                        <a:pt x="639" y="1901"/>
                      </a:cubicBezTo>
                      <a:lnTo>
                        <a:pt x="129" y="1406"/>
                      </a:lnTo>
                      <a:lnTo>
                        <a:pt x="1223" y="371"/>
                      </a:lnTo>
                      <a:lnTo>
                        <a:pt x="1223" y="371"/>
                      </a:lnTo>
                      <a:cubicBezTo>
                        <a:pt x="1321" y="277"/>
                        <a:pt x="1409" y="210"/>
                        <a:pt x="1489" y="167"/>
                      </a:cubicBezTo>
                      <a:cubicBezTo>
                        <a:pt x="1529" y="146"/>
                        <a:pt x="1568" y="131"/>
                        <a:pt x="1605" y="121"/>
                      </a:cubicBezTo>
                      <a:cubicBezTo>
                        <a:pt x="1642" y="111"/>
                        <a:pt x="1679" y="106"/>
                        <a:pt x="1715" y="106"/>
                      </a:cubicBezTo>
                      <a:cubicBezTo>
                        <a:pt x="1770" y="106"/>
                        <a:pt x="1825" y="116"/>
                        <a:pt x="1884" y="138"/>
                      </a:cubicBezTo>
                      <a:cubicBezTo>
                        <a:pt x="1972" y="170"/>
                        <a:pt x="2070" y="226"/>
                        <a:pt x="2181" y="306"/>
                      </a:cubicBezTo>
                      <a:cubicBezTo>
                        <a:pt x="2293" y="387"/>
                        <a:pt x="2418" y="490"/>
                        <a:pt x="2562" y="612"/>
                      </a:cubicBezTo>
                      <a:cubicBezTo>
                        <a:pt x="2585" y="631"/>
                        <a:pt x="2618" y="628"/>
                        <a:pt x="2637" y="606"/>
                      </a:cubicBezTo>
                      <a:cubicBezTo>
                        <a:pt x="2656" y="584"/>
                        <a:pt x="2653" y="551"/>
                        <a:pt x="2631" y="5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7">
                  <a:extLst>
                    <a:ext uri="{FF2B5EF4-FFF2-40B4-BE49-F238E27FC236}">
                      <a16:creationId xmlns:a16="http://schemas.microsoft.com/office/drawing/2014/main" id="{4141CE36-498C-CB43-8361-06B6ABAF9E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19946" y="709792"/>
                  <a:ext cx="356603" cy="190334"/>
                </a:xfrm>
                <a:custGeom>
                  <a:avLst/>
                  <a:gdLst>
                    <a:gd name="T0" fmla="*/ 2142 w 2158"/>
                    <a:gd name="T1" fmla="*/ 438 h 1152"/>
                    <a:gd name="T2" fmla="*/ 1725 w 2158"/>
                    <a:gd name="T3" fmla="*/ 118 h 1152"/>
                    <a:gd name="T4" fmla="*/ 1552 w 2158"/>
                    <a:gd name="T5" fmla="*/ 31 h 1152"/>
                    <a:gd name="T6" fmla="*/ 1386 w 2158"/>
                    <a:gd name="T7" fmla="*/ 0 h 1152"/>
                    <a:gd name="T8" fmla="*/ 1261 w 2158"/>
                    <a:gd name="T9" fmla="*/ 19 h 1152"/>
                    <a:gd name="T10" fmla="*/ 1068 w 2158"/>
                    <a:gd name="T11" fmla="*/ 115 h 1152"/>
                    <a:gd name="T12" fmla="*/ 852 w 2158"/>
                    <a:gd name="T13" fmla="*/ 295 h 1152"/>
                    <a:gd name="T14" fmla="*/ 852 w 2158"/>
                    <a:gd name="T15" fmla="*/ 295 h 1152"/>
                    <a:gd name="T16" fmla="*/ 13 w 2158"/>
                    <a:gd name="T17" fmla="*/ 1094 h 1152"/>
                    <a:gd name="T18" fmla="*/ 12 w 2158"/>
                    <a:gd name="T19" fmla="*/ 1138 h 1152"/>
                    <a:gd name="T20" fmla="*/ 56 w 2158"/>
                    <a:gd name="T21" fmla="*/ 1139 h 1152"/>
                    <a:gd name="T22" fmla="*/ 895 w 2158"/>
                    <a:gd name="T23" fmla="*/ 340 h 1152"/>
                    <a:gd name="T24" fmla="*/ 895 w 2158"/>
                    <a:gd name="T25" fmla="*/ 340 h 1152"/>
                    <a:gd name="T26" fmla="*/ 1164 w 2158"/>
                    <a:gd name="T27" fmla="*/ 128 h 1152"/>
                    <a:gd name="T28" fmla="*/ 1279 w 2158"/>
                    <a:gd name="T29" fmla="*/ 79 h 1152"/>
                    <a:gd name="T30" fmla="*/ 1386 w 2158"/>
                    <a:gd name="T31" fmla="*/ 63 h 1152"/>
                    <a:gd name="T32" fmla="*/ 1531 w 2158"/>
                    <a:gd name="T33" fmla="*/ 90 h 1152"/>
                    <a:gd name="T34" fmla="*/ 1781 w 2158"/>
                    <a:gd name="T35" fmla="*/ 231 h 1152"/>
                    <a:gd name="T36" fmla="*/ 2102 w 2158"/>
                    <a:gd name="T37" fmla="*/ 486 h 1152"/>
                    <a:gd name="T38" fmla="*/ 2146 w 2158"/>
                    <a:gd name="T39" fmla="*/ 482 h 1152"/>
                    <a:gd name="T40" fmla="*/ 2142 w 2158"/>
                    <a:gd name="T41" fmla="*/ 438 h 1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158" h="1152">
                      <a:moveTo>
                        <a:pt x="2142" y="438"/>
                      </a:moveTo>
                      <a:cubicBezTo>
                        <a:pt x="1978" y="301"/>
                        <a:pt x="1845" y="193"/>
                        <a:pt x="1725" y="118"/>
                      </a:cubicBezTo>
                      <a:cubicBezTo>
                        <a:pt x="1664" y="80"/>
                        <a:pt x="1608" y="51"/>
                        <a:pt x="1552" y="31"/>
                      </a:cubicBezTo>
                      <a:cubicBezTo>
                        <a:pt x="1496" y="11"/>
                        <a:pt x="1441" y="0"/>
                        <a:pt x="1386" y="0"/>
                      </a:cubicBezTo>
                      <a:cubicBezTo>
                        <a:pt x="1344" y="0"/>
                        <a:pt x="1303" y="6"/>
                        <a:pt x="1261" y="19"/>
                      </a:cubicBezTo>
                      <a:cubicBezTo>
                        <a:pt x="1198" y="37"/>
                        <a:pt x="1135" y="69"/>
                        <a:pt x="1068" y="115"/>
                      </a:cubicBezTo>
                      <a:cubicBezTo>
                        <a:pt x="1000" y="161"/>
                        <a:pt x="930" y="220"/>
                        <a:pt x="852" y="295"/>
                      </a:cubicBezTo>
                      <a:lnTo>
                        <a:pt x="852" y="295"/>
                      </a:lnTo>
                      <a:lnTo>
                        <a:pt x="13" y="1094"/>
                      </a:lnTo>
                      <a:cubicBezTo>
                        <a:pt x="1" y="1106"/>
                        <a:pt x="0" y="1126"/>
                        <a:pt x="12" y="1138"/>
                      </a:cubicBezTo>
                      <a:cubicBezTo>
                        <a:pt x="24" y="1151"/>
                        <a:pt x="44" y="1151"/>
                        <a:pt x="56" y="1139"/>
                      </a:cubicBezTo>
                      <a:lnTo>
                        <a:pt x="895" y="340"/>
                      </a:lnTo>
                      <a:lnTo>
                        <a:pt x="895" y="340"/>
                      </a:lnTo>
                      <a:cubicBezTo>
                        <a:pt x="997" y="243"/>
                        <a:pt x="1085" y="173"/>
                        <a:pt x="1164" y="128"/>
                      </a:cubicBezTo>
                      <a:cubicBezTo>
                        <a:pt x="1204" y="106"/>
                        <a:pt x="1242" y="89"/>
                        <a:pt x="1279" y="79"/>
                      </a:cubicBezTo>
                      <a:cubicBezTo>
                        <a:pt x="1315" y="68"/>
                        <a:pt x="1351" y="63"/>
                        <a:pt x="1386" y="63"/>
                      </a:cubicBezTo>
                      <a:cubicBezTo>
                        <a:pt x="1433" y="63"/>
                        <a:pt x="1480" y="72"/>
                        <a:pt x="1531" y="90"/>
                      </a:cubicBezTo>
                      <a:cubicBezTo>
                        <a:pt x="1606" y="117"/>
                        <a:pt x="1688" y="164"/>
                        <a:pt x="1781" y="231"/>
                      </a:cubicBezTo>
                      <a:cubicBezTo>
                        <a:pt x="1874" y="298"/>
                        <a:pt x="1979" y="384"/>
                        <a:pt x="2102" y="486"/>
                      </a:cubicBezTo>
                      <a:cubicBezTo>
                        <a:pt x="2115" y="497"/>
                        <a:pt x="2135" y="495"/>
                        <a:pt x="2146" y="482"/>
                      </a:cubicBezTo>
                      <a:cubicBezTo>
                        <a:pt x="2157" y="469"/>
                        <a:pt x="2155" y="449"/>
                        <a:pt x="2142" y="43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8">
                  <a:extLst>
                    <a:ext uri="{FF2B5EF4-FFF2-40B4-BE49-F238E27FC236}">
                      <a16:creationId xmlns:a16="http://schemas.microsoft.com/office/drawing/2014/main" id="{8C0DB147-A359-BD41-A434-9663F54133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4012" y="752818"/>
                  <a:ext cx="304826" cy="169186"/>
                </a:xfrm>
                <a:custGeom>
                  <a:avLst/>
                  <a:gdLst>
                    <a:gd name="T0" fmla="*/ 1832 w 1844"/>
                    <a:gd name="T1" fmla="*/ 349 h 1021"/>
                    <a:gd name="T2" fmla="*/ 1494 w 1844"/>
                    <a:gd name="T3" fmla="*/ 93 h 1021"/>
                    <a:gd name="T4" fmla="*/ 1356 w 1844"/>
                    <a:gd name="T5" fmla="*/ 24 h 1021"/>
                    <a:gd name="T6" fmla="*/ 1224 w 1844"/>
                    <a:gd name="T7" fmla="*/ 0 h 1021"/>
                    <a:gd name="T8" fmla="*/ 1110 w 1844"/>
                    <a:gd name="T9" fmla="*/ 18 h 1021"/>
                    <a:gd name="T10" fmla="*/ 929 w 1844"/>
                    <a:gd name="T11" fmla="*/ 116 h 1021"/>
                    <a:gd name="T12" fmla="*/ 715 w 1844"/>
                    <a:gd name="T13" fmla="*/ 301 h 1021"/>
                    <a:gd name="T14" fmla="*/ 714 w 1844"/>
                    <a:gd name="T15" fmla="*/ 301 h 1021"/>
                    <a:gd name="T16" fmla="*/ 10 w 1844"/>
                    <a:gd name="T17" fmla="*/ 978 h 1021"/>
                    <a:gd name="T18" fmla="*/ 9 w 1844"/>
                    <a:gd name="T19" fmla="*/ 1011 h 1021"/>
                    <a:gd name="T20" fmla="*/ 42 w 1844"/>
                    <a:gd name="T21" fmla="*/ 1012 h 1021"/>
                    <a:gd name="T22" fmla="*/ 746 w 1844"/>
                    <a:gd name="T23" fmla="*/ 334 h 1021"/>
                    <a:gd name="T24" fmla="*/ 746 w 1844"/>
                    <a:gd name="T25" fmla="*/ 334 h 1021"/>
                    <a:gd name="T26" fmla="*/ 1016 w 1844"/>
                    <a:gd name="T27" fmla="*/ 114 h 1021"/>
                    <a:gd name="T28" fmla="*/ 1124 w 1844"/>
                    <a:gd name="T29" fmla="*/ 62 h 1021"/>
                    <a:gd name="T30" fmla="*/ 1224 w 1844"/>
                    <a:gd name="T31" fmla="*/ 46 h 1021"/>
                    <a:gd name="T32" fmla="*/ 1340 w 1844"/>
                    <a:gd name="T33" fmla="*/ 67 h 1021"/>
                    <a:gd name="T34" fmla="*/ 1542 w 1844"/>
                    <a:gd name="T35" fmla="*/ 180 h 1021"/>
                    <a:gd name="T36" fmla="*/ 1803 w 1844"/>
                    <a:gd name="T37" fmla="*/ 385 h 1021"/>
                    <a:gd name="T38" fmla="*/ 1835 w 1844"/>
                    <a:gd name="T39" fmla="*/ 381 h 1021"/>
                    <a:gd name="T40" fmla="*/ 1832 w 1844"/>
                    <a:gd name="T41" fmla="*/ 349 h 10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844" h="1021">
                      <a:moveTo>
                        <a:pt x="1832" y="349"/>
                      </a:moveTo>
                      <a:cubicBezTo>
                        <a:pt x="1698" y="239"/>
                        <a:pt x="1590" y="153"/>
                        <a:pt x="1494" y="93"/>
                      </a:cubicBezTo>
                      <a:cubicBezTo>
                        <a:pt x="1446" y="63"/>
                        <a:pt x="1400" y="40"/>
                        <a:pt x="1356" y="24"/>
                      </a:cubicBezTo>
                      <a:cubicBezTo>
                        <a:pt x="1311" y="8"/>
                        <a:pt x="1268" y="0"/>
                        <a:pt x="1224" y="0"/>
                      </a:cubicBezTo>
                      <a:cubicBezTo>
                        <a:pt x="1186" y="0"/>
                        <a:pt x="1148" y="6"/>
                        <a:pt x="1110" y="18"/>
                      </a:cubicBezTo>
                      <a:cubicBezTo>
                        <a:pt x="1052" y="37"/>
                        <a:pt x="993" y="69"/>
                        <a:pt x="929" y="116"/>
                      </a:cubicBezTo>
                      <a:cubicBezTo>
                        <a:pt x="864" y="163"/>
                        <a:pt x="794" y="224"/>
                        <a:pt x="715" y="301"/>
                      </a:cubicBezTo>
                      <a:lnTo>
                        <a:pt x="714" y="301"/>
                      </a:lnTo>
                      <a:lnTo>
                        <a:pt x="10" y="978"/>
                      </a:lnTo>
                      <a:cubicBezTo>
                        <a:pt x="1" y="987"/>
                        <a:pt x="0" y="1002"/>
                        <a:pt x="9" y="1011"/>
                      </a:cubicBezTo>
                      <a:cubicBezTo>
                        <a:pt x="18" y="1020"/>
                        <a:pt x="33" y="1020"/>
                        <a:pt x="42" y="1012"/>
                      </a:cubicBezTo>
                      <a:lnTo>
                        <a:pt x="746" y="334"/>
                      </a:lnTo>
                      <a:lnTo>
                        <a:pt x="746" y="334"/>
                      </a:lnTo>
                      <a:cubicBezTo>
                        <a:pt x="851" y="233"/>
                        <a:pt x="939" y="160"/>
                        <a:pt x="1016" y="114"/>
                      </a:cubicBezTo>
                      <a:cubicBezTo>
                        <a:pt x="1054" y="90"/>
                        <a:pt x="1090" y="73"/>
                        <a:pt x="1124" y="62"/>
                      </a:cubicBezTo>
                      <a:cubicBezTo>
                        <a:pt x="1159" y="51"/>
                        <a:pt x="1191" y="46"/>
                        <a:pt x="1224" y="46"/>
                      </a:cubicBezTo>
                      <a:cubicBezTo>
                        <a:pt x="1262" y="46"/>
                        <a:pt x="1300" y="53"/>
                        <a:pt x="1340" y="67"/>
                      </a:cubicBezTo>
                      <a:cubicBezTo>
                        <a:pt x="1401" y="89"/>
                        <a:pt x="1466" y="127"/>
                        <a:pt x="1542" y="180"/>
                      </a:cubicBezTo>
                      <a:cubicBezTo>
                        <a:pt x="1617" y="234"/>
                        <a:pt x="1702" y="303"/>
                        <a:pt x="1803" y="385"/>
                      </a:cubicBezTo>
                      <a:cubicBezTo>
                        <a:pt x="1813" y="393"/>
                        <a:pt x="1827" y="391"/>
                        <a:pt x="1835" y="381"/>
                      </a:cubicBezTo>
                      <a:cubicBezTo>
                        <a:pt x="1843" y="372"/>
                        <a:pt x="1842" y="357"/>
                        <a:pt x="1832" y="349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9">
                  <a:extLst>
                    <a:ext uri="{FF2B5EF4-FFF2-40B4-BE49-F238E27FC236}">
                      <a16:creationId xmlns:a16="http://schemas.microsoft.com/office/drawing/2014/main" id="{C6F23298-B6AB-BA43-B481-2717E0BC36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67348" y="795114"/>
                  <a:ext cx="253049" cy="148038"/>
                </a:xfrm>
                <a:custGeom>
                  <a:avLst/>
                  <a:gdLst>
                    <a:gd name="T0" fmla="*/ 1522 w 1530"/>
                    <a:gd name="T1" fmla="*/ 264 h 895"/>
                    <a:gd name="T2" fmla="*/ 1260 w 1530"/>
                    <a:gd name="T3" fmla="*/ 70 h 895"/>
                    <a:gd name="T4" fmla="*/ 1156 w 1530"/>
                    <a:gd name="T5" fmla="*/ 18 h 895"/>
                    <a:gd name="T6" fmla="*/ 1057 w 1530"/>
                    <a:gd name="T7" fmla="*/ 0 h 895"/>
                    <a:gd name="T8" fmla="*/ 957 w 1530"/>
                    <a:gd name="T9" fmla="*/ 19 h 895"/>
                    <a:gd name="T10" fmla="*/ 791 w 1530"/>
                    <a:gd name="T11" fmla="*/ 119 h 895"/>
                    <a:gd name="T12" fmla="*/ 577 w 1530"/>
                    <a:gd name="T13" fmla="*/ 310 h 895"/>
                    <a:gd name="T14" fmla="*/ 577 w 1530"/>
                    <a:gd name="T15" fmla="*/ 310 h 895"/>
                    <a:gd name="T16" fmla="*/ 6 w 1530"/>
                    <a:gd name="T17" fmla="*/ 867 h 895"/>
                    <a:gd name="T18" fmla="*/ 6 w 1530"/>
                    <a:gd name="T19" fmla="*/ 888 h 895"/>
                    <a:gd name="T20" fmla="*/ 27 w 1530"/>
                    <a:gd name="T21" fmla="*/ 888 h 895"/>
                    <a:gd name="T22" fmla="*/ 598 w 1530"/>
                    <a:gd name="T23" fmla="*/ 331 h 895"/>
                    <a:gd name="T24" fmla="*/ 598 w 1530"/>
                    <a:gd name="T25" fmla="*/ 331 h 895"/>
                    <a:gd name="T26" fmla="*/ 866 w 1530"/>
                    <a:gd name="T27" fmla="*/ 101 h 895"/>
                    <a:gd name="T28" fmla="*/ 968 w 1530"/>
                    <a:gd name="T29" fmla="*/ 47 h 895"/>
                    <a:gd name="T30" fmla="*/ 1057 w 1530"/>
                    <a:gd name="T31" fmla="*/ 29 h 895"/>
                    <a:gd name="T32" fmla="*/ 1146 w 1530"/>
                    <a:gd name="T33" fmla="*/ 46 h 895"/>
                    <a:gd name="T34" fmla="*/ 1300 w 1530"/>
                    <a:gd name="T35" fmla="*/ 132 h 895"/>
                    <a:gd name="T36" fmla="*/ 1504 w 1530"/>
                    <a:gd name="T37" fmla="*/ 287 h 895"/>
                    <a:gd name="T38" fmla="*/ 1524 w 1530"/>
                    <a:gd name="T39" fmla="*/ 285 h 895"/>
                    <a:gd name="T40" fmla="*/ 1522 w 1530"/>
                    <a:gd name="T41" fmla="*/ 264 h 8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530" h="895">
                      <a:moveTo>
                        <a:pt x="1522" y="264"/>
                      </a:moveTo>
                      <a:cubicBezTo>
                        <a:pt x="1417" y="180"/>
                        <a:pt x="1334" y="115"/>
                        <a:pt x="1260" y="70"/>
                      </a:cubicBezTo>
                      <a:cubicBezTo>
                        <a:pt x="1224" y="47"/>
                        <a:pt x="1189" y="30"/>
                        <a:pt x="1156" y="18"/>
                      </a:cubicBezTo>
                      <a:cubicBezTo>
                        <a:pt x="1123" y="6"/>
                        <a:pt x="1090" y="0"/>
                        <a:pt x="1057" y="0"/>
                      </a:cubicBezTo>
                      <a:cubicBezTo>
                        <a:pt x="1024" y="0"/>
                        <a:pt x="991" y="6"/>
                        <a:pt x="957" y="19"/>
                      </a:cubicBezTo>
                      <a:cubicBezTo>
                        <a:pt x="906" y="38"/>
                        <a:pt x="852" y="71"/>
                        <a:pt x="791" y="119"/>
                      </a:cubicBezTo>
                      <a:cubicBezTo>
                        <a:pt x="729" y="167"/>
                        <a:pt x="660" y="231"/>
                        <a:pt x="577" y="310"/>
                      </a:cubicBezTo>
                      <a:lnTo>
                        <a:pt x="577" y="310"/>
                      </a:lnTo>
                      <a:lnTo>
                        <a:pt x="6" y="867"/>
                      </a:lnTo>
                      <a:cubicBezTo>
                        <a:pt x="0" y="873"/>
                        <a:pt x="0" y="882"/>
                        <a:pt x="6" y="888"/>
                      </a:cubicBezTo>
                      <a:cubicBezTo>
                        <a:pt x="12" y="894"/>
                        <a:pt x="21" y="894"/>
                        <a:pt x="27" y="888"/>
                      </a:cubicBezTo>
                      <a:lnTo>
                        <a:pt x="598" y="331"/>
                      </a:lnTo>
                      <a:lnTo>
                        <a:pt x="598" y="331"/>
                      </a:lnTo>
                      <a:cubicBezTo>
                        <a:pt x="707" y="226"/>
                        <a:pt x="793" y="150"/>
                        <a:pt x="866" y="101"/>
                      </a:cubicBezTo>
                      <a:cubicBezTo>
                        <a:pt x="903" y="76"/>
                        <a:pt x="936" y="58"/>
                        <a:pt x="968" y="47"/>
                      </a:cubicBezTo>
                      <a:cubicBezTo>
                        <a:pt x="999" y="35"/>
                        <a:pt x="1028" y="29"/>
                        <a:pt x="1057" y="29"/>
                      </a:cubicBezTo>
                      <a:cubicBezTo>
                        <a:pt x="1086" y="29"/>
                        <a:pt x="1115" y="35"/>
                        <a:pt x="1146" y="46"/>
                      </a:cubicBezTo>
                      <a:cubicBezTo>
                        <a:pt x="1192" y="62"/>
                        <a:pt x="1242" y="91"/>
                        <a:pt x="1300" y="132"/>
                      </a:cubicBezTo>
                      <a:cubicBezTo>
                        <a:pt x="1359" y="172"/>
                        <a:pt x="1425" y="225"/>
                        <a:pt x="1504" y="287"/>
                      </a:cubicBezTo>
                      <a:cubicBezTo>
                        <a:pt x="1510" y="292"/>
                        <a:pt x="1518" y="291"/>
                        <a:pt x="1524" y="285"/>
                      </a:cubicBezTo>
                      <a:cubicBezTo>
                        <a:pt x="1529" y="279"/>
                        <a:pt x="1528" y="269"/>
                        <a:pt x="1522" y="264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Freeform 10">
                  <a:extLst>
                    <a:ext uri="{FF2B5EF4-FFF2-40B4-BE49-F238E27FC236}">
                      <a16:creationId xmlns:a16="http://schemas.microsoft.com/office/drawing/2014/main" id="{358E77EF-FA74-0941-A231-8FD607054B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91413" y="835952"/>
                  <a:ext cx="201273" cy="127619"/>
                </a:xfrm>
                <a:custGeom>
                  <a:avLst/>
                  <a:gdLst>
                    <a:gd name="T0" fmla="*/ 1212 w 1217"/>
                    <a:gd name="T1" fmla="*/ 184 h 773"/>
                    <a:gd name="T2" fmla="*/ 1023 w 1217"/>
                    <a:gd name="T3" fmla="*/ 48 h 773"/>
                    <a:gd name="T4" fmla="*/ 884 w 1217"/>
                    <a:gd name="T5" fmla="*/ 0 h 773"/>
                    <a:gd name="T6" fmla="*/ 801 w 1217"/>
                    <a:gd name="T7" fmla="*/ 20 h 773"/>
                    <a:gd name="T8" fmla="*/ 653 w 1217"/>
                    <a:gd name="T9" fmla="*/ 124 h 773"/>
                    <a:gd name="T10" fmla="*/ 440 w 1217"/>
                    <a:gd name="T11" fmla="*/ 324 h 773"/>
                    <a:gd name="T12" fmla="*/ 440 w 1217"/>
                    <a:gd name="T13" fmla="*/ 324 h 773"/>
                    <a:gd name="T14" fmla="*/ 3 w 1217"/>
                    <a:gd name="T15" fmla="*/ 760 h 773"/>
                    <a:gd name="T16" fmla="*/ 3 w 1217"/>
                    <a:gd name="T17" fmla="*/ 770 h 773"/>
                    <a:gd name="T18" fmla="*/ 12 w 1217"/>
                    <a:gd name="T19" fmla="*/ 770 h 773"/>
                    <a:gd name="T20" fmla="*/ 449 w 1217"/>
                    <a:gd name="T21" fmla="*/ 333 h 773"/>
                    <a:gd name="T22" fmla="*/ 716 w 1217"/>
                    <a:gd name="T23" fmla="*/ 90 h 773"/>
                    <a:gd name="T24" fmla="*/ 806 w 1217"/>
                    <a:gd name="T25" fmla="*/ 32 h 773"/>
                    <a:gd name="T26" fmla="*/ 884 w 1217"/>
                    <a:gd name="T27" fmla="*/ 13 h 773"/>
                    <a:gd name="T28" fmla="*/ 1016 w 1217"/>
                    <a:gd name="T29" fmla="*/ 60 h 773"/>
                    <a:gd name="T30" fmla="*/ 1204 w 1217"/>
                    <a:gd name="T31" fmla="*/ 195 h 773"/>
                    <a:gd name="T32" fmla="*/ 1214 w 1217"/>
                    <a:gd name="T33" fmla="*/ 194 h 773"/>
                    <a:gd name="T34" fmla="*/ 1212 w 1217"/>
                    <a:gd name="T35" fmla="*/ 184 h 7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217" h="773">
                      <a:moveTo>
                        <a:pt x="1212" y="184"/>
                      </a:moveTo>
                      <a:cubicBezTo>
                        <a:pt x="1135" y="125"/>
                        <a:pt x="1075" y="80"/>
                        <a:pt x="1023" y="48"/>
                      </a:cubicBezTo>
                      <a:cubicBezTo>
                        <a:pt x="971" y="17"/>
                        <a:pt x="928" y="0"/>
                        <a:pt x="884" y="0"/>
                      </a:cubicBezTo>
                      <a:cubicBezTo>
                        <a:pt x="856" y="0"/>
                        <a:pt x="829" y="7"/>
                        <a:pt x="801" y="20"/>
                      </a:cubicBezTo>
                      <a:cubicBezTo>
                        <a:pt x="758" y="39"/>
                        <a:pt x="711" y="74"/>
                        <a:pt x="653" y="124"/>
                      </a:cubicBezTo>
                      <a:cubicBezTo>
                        <a:pt x="595" y="175"/>
                        <a:pt x="527" y="241"/>
                        <a:pt x="440" y="324"/>
                      </a:cubicBezTo>
                      <a:lnTo>
                        <a:pt x="440" y="324"/>
                      </a:lnTo>
                      <a:lnTo>
                        <a:pt x="3" y="760"/>
                      </a:lnTo>
                      <a:cubicBezTo>
                        <a:pt x="0" y="763"/>
                        <a:pt x="0" y="767"/>
                        <a:pt x="3" y="770"/>
                      </a:cubicBezTo>
                      <a:cubicBezTo>
                        <a:pt x="5" y="772"/>
                        <a:pt x="10" y="772"/>
                        <a:pt x="12" y="770"/>
                      </a:cubicBezTo>
                      <a:lnTo>
                        <a:pt x="449" y="333"/>
                      </a:lnTo>
                      <a:cubicBezTo>
                        <a:pt x="565" y="223"/>
                        <a:pt x="648" y="142"/>
                        <a:pt x="716" y="90"/>
                      </a:cubicBezTo>
                      <a:cubicBezTo>
                        <a:pt x="749" y="63"/>
                        <a:pt x="778" y="44"/>
                        <a:pt x="806" y="32"/>
                      </a:cubicBezTo>
                      <a:cubicBezTo>
                        <a:pt x="833" y="19"/>
                        <a:pt x="859" y="13"/>
                        <a:pt x="884" y="13"/>
                      </a:cubicBezTo>
                      <a:cubicBezTo>
                        <a:pt x="924" y="13"/>
                        <a:pt x="966" y="29"/>
                        <a:pt x="1016" y="60"/>
                      </a:cubicBezTo>
                      <a:cubicBezTo>
                        <a:pt x="1067" y="90"/>
                        <a:pt x="1127" y="136"/>
                        <a:pt x="1204" y="195"/>
                      </a:cubicBezTo>
                      <a:cubicBezTo>
                        <a:pt x="1207" y="197"/>
                        <a:pt x="1211" y="197"/>
                        <a:pt x="1214" y="194"/>
                      </a:cubicBezTo>
                      <a:cubicBezTo>
                        <a:pt x="1216" y="191"/>
                        <a:pt x="1215" y="187"/>
                        <a:pt x="1212" y="184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1">
                  <a:extLst>
                    <a:ext uri="{FF2B5EF4-FFF2-40B4-BE49-F238E27FC236}">
                      <a16:creationId xmlns:a16="http://schemas.microsoft.com/office/drawing/2014/main" id="{C4AC1E84-A6C9-AC43-8829-ADA26407D6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08093" y="858559"/>
                  <a:ext cx="72925" cy="48130"/>
                </a:xfrm>
                <a:custGeom>
                  <a:avLst/>
                  <a:gdLst>
                    <a:gd name="T0" fmla="*/ 49 w 442"/>
                    <a:gd name="T1" fmla="*/ 200 h 293"/>
                    <a:gd name="T2" fmla="*/ 0 w 442"/>
                    <a:gd name="T3" fmla="*/ 156 h 293"/>
                    <a:gd name="T4" fmla="*/ 45 w 442"/>
                    <a:gd name="T5" fmla="*/ 107 h 293"/>
                    <a:gd name="T6" fmla="*/ 392 w 442"/>
                    <a:gd name="T7" fmla="*/ 91 h 293"/>
                    <a:gd name="T8" fmla="*/ 441 w 442"/>
                    <a:gd name="T9" fmla="*/ 137 h 293"/>
                    <a:gd name="T10" fmla="*/ 396 w 442"/>
                    <a:gd name="T11" fmla="*/ 185 h 293"/>
                    <a:gd name="T12" fmla="*/ 49 w 442"/>
                    <a:gd name="T13" fmla="*/ 200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42" h="293">
                      <a:moveTo>
                        <a:pt x="49" y="200"/>
                      </a:moveTo>
                      <a:lnTo>
                        <a:pt x="0" y="156"/>
                      </a:lnTo>
                      <a:lnTo>
                        <a:pt x="45" y="107"/>
                      </a:lnTo>
                      <a:cubicBezTo>
                        <a:pt x="136" y="7"/>
                        <a:pt x="292" y="0"/>
                        <a:pt x="392" y="91"/>
                      </a:cubicBezTo>
                      <a:lnTo>
                        <a:pt x="441" y="137"/>
                      </a:lnTo>
                      <a:lnTo>
                        <a:pt x="396" y="185"/>
                      </a:lnTo>
                      <a:cubicBezTo>
                        <a:pt x="304" y="285"/>
                        <a:pt x="149" y="292"/>
                        <a:pt x="49" y="20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>
                      <a:solidFill>
                        <a:srgbClr val="808080"/>
                      </a:solidFill>
                      <a:bevel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343F0B3-495F-9444-816E-38B2C9F55C5E}"/>
                </a:ext>
              </a:extLst>
            </p:cNvPr>
            <p:cNvSpPr txBox="1"/>
            <p:nvPr userDrawn="1"/>
          </p:nvSpPr>
          <p:spPr>
            <a:xfrm>
              <a:off x="5783563" y="5979422"/>
              <a:ext cx="1723549" cy="7232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800" spc="600" dirty="0">
                  <a:solidFill>
                    <a:srgbClr val="5B30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计算机网络</a:t>
              </a:r>
              <a:endParaRPr lang="en-US" altLang="zh-CN" sz="1800" spc="600" dirty="0">
                <a:solidFill>
                  <a:srgbClr val="5B307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ts val="600"/>
                </a:spcBef>
              </a:pPr>
              <a:r>
                <a:rPr lang="zh-CN" altLang="en-US" sz="1800" spc="600" dirty="0">
                  <a:solidFill>
                    <a:srgbClr val="5B307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教案社区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7156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FBB5D1D6-FEDC-364E-ADD0-80C842FD6986}"/>
              </a:ext>
            </a:extLst>
          </p:cNvPr>
          <p:cNvSpPr/>
          <p:nvPr userDrawn="1"/>
        </p:nvSpPr>
        <p:spPr>
          <a:xfrm>
            <a:off x="667831" y="541554"/>
            <a:ext cx="509313" cy="498948"/>
          </a:xfrm>
          <a:prstGeom prst="rect">
            <a:avLst/>
          </a:prstGeom>
          <a:solidFill>
            <a:srgbClr val="5C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5C307E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23457C5-5D0E-4F46-9D0B-7EA2985D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A45BE-434F-B44C-99F8-C563AC076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363" indent="-360363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1C8C13-A111-E44B-BB6E-32C9AFF8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/>
              <a:t>5.3 </a:t>
            </a:r>
            <a:r>
              <a:rPr kumimoji="1" lang="zh-CN" altLang="en-US"/>
              <a:t>网络互联</a:t>
            </a:r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B7B75-EEC1-2D4D-AB7C-5A351496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9303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 dirty="0"/>
              <a:t>引自：</a:t>
            </a:r>
            <a:r>
              <a:rPr kumimoji="1" lang="en-US" altLang="zh-CN" dirty="0"/>
              <a:t>XXXXX</a:t>
            </a:r>
            <a:r>
              <a:rPr kumimoji="1" lang="zh-CN" altLang="en-US" dirty="0"/>
              <a:t>（如果需要）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BE6BC-6A1B-1944-BBB6-30FD8C33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  <a:prstGeom prst="rect">
            <a:avLst/>
          </a:prstGeom>
        </p:spPr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9E7AFED4-5702-094E-A3B8-21EB069F234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B0058AB-B1F1-354B-AC17-D97CF5C61CCA}"/>
              </a:ext>
            </a:extLst>
          </p:cNvPr>
          <p:cNvGrpSpPr/>
          <p:nvPr userDrawn="1"/>
        </p:nvGrpSpPr>
        <p:grpSpPr>
          <a:xfrm>
            <a:off x="9849450" y="844221"/>
            <a:ext cx="1961485" cy="208345"/>
            <a:chOff x="1368170" y="1165302"/>
            <a:chExt cx="4139947" cy="439737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AAF2B681-E82A-B44D-9C2D-B50F21D83567}"/>
                </a:ext>
              </a:extLst>
            </p:cNvPr>
            <p:cNvGrpSpPr/>
            <p:nvPr/>
          </p:nvGrpSpPr>
          <p:grpSpPr>
            <a:xfrm>
              <a:off x="1368170" y="1165302"/>
              <a:ext cx="550582" cy="439737"/>
              <a:chOff x="1368170" y="664579"/>
              <a:chExt cx="550582" cy="439737"/>
            </a:xfrm>
          </p:grpSpPr>
          <p:sp>
            <p:nvSpPr>
              <p:cNvPr id="53" name="Freeform 1">
                <a:extLst>
                  <a:ext uri="{FF2B5EF4-FFF2-40B4-BE49-F238E27FC236}">
                    <a16:creationId xmlns:a16="http://schemas.microsoft.com/office/drawing/2014/main" id="{0961A78E-DF61-2349-8E10-2E9861DBE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1203" y="771778"/>
                <a:ext cx="437549" cy="332538"/>
              </a:xfrm>
              <a:custGeom>
                <a:avLst/>
                <a:gdLst>
                  <a:gd name="T0" fmla="*/ 25 w 2647"/>
                  <a:gd name="T1" fmla="*/ 1478 h 2011"/>
                  <a:gd name="T2" fmla="*/ 525 w 2647"/>
                  <a:gd name="T3" fmla="*/ 1865 h 2011"/>
                  <a:gd name="T4" fmla="*/ 736 w 2647"/>
                  <a:gd name="T5" fmla="*/ 1972 h 2011"/>
                  <a:gd name="T6" fmla="*/ 940 w 2647"/>
                  <a:gd name="T7" fmla="*/ 2010 h 2011"/>
                  <a:gd name="T8" fmla="*/ 1078 w 2647"/>
                  <a:gd name="T9" fmla="*/ 1991 h 2011"/>
                  <a:gd name="T10" fmla="*/ 1286 w 2647"/>
                  <a:gd name="T11" fmla="*/ 1894 h 2011"/>
                  <a:gd name="T12" fmla="*/ 1506 w 2647"/>
                  <a:gd name="T13" fmla="*/ 1715 h 2011"/>
                  <a:gd name="T14" fmla="*/ 1506 w 2647"/>
                  <a:gd name="T15" fmla="*/ 1715 h 2011"/>
                  <a:gd name="T16" fmla="*/ 2630 w 2647"/>
                  <a:gd name="T17" fmla="*/ 624 h 2011"/>
                  <a:gd name="T18" fmla="*/ 2646 w 2647"/>
                  <a:gd name="T19" fmla="*/ 586 h 2011"/>
                  <a:gd name="T20" fmla="*/ 2630 w 2647"/>
                  <a:gd name="T21" fmla="*/ 548 h 2011"/>
                  <a:gd name="T22" fmla="*/ 2090 w 2647"/>
                  <a:gd name="T23" fmla="*/ 21 h 2011"/>
                  <a:gd name="T24" fmla="*/ 2016 w 2647"/>
                  <a:gd name="T25" fmla="*/ 22 h 2011"/>
                  <a:gd name="T26" fmla="*/ 2017 w 2647"/>
                  <a:gd name="T27" fmla="*/ 96 h 2011"/>
                  <a:gd name="T28" fmla="*/ 2518 w 2647"/>
                  <a:gd name="T29" fmla="*/ 586 h 2011"/>
                  <a:gd name="T30" fmla="*/ 1433 w 2647"/>
                  <a:gd name="T31" fmla="*/ 1639 h 2011"/>
                  <a:gd name="T32" fmla="*/ 1433 w 2647"/>
                  <a:gd name="T33" fmla="*/ 1639 h 2011"/>
                  <a:gd name="T34" fmla="*/ 1167 w 2647"/>
                  <a:gd name="T35" fmla="*/ 1843 h 2011"/>
                  <a:gd name="T36" fmla="*/ 1051 w 2647"/>
                  <a:gd name="T37" fmla="*/ 1889 h 2011"/>
                  <a:gd name="T38" fmla="*/ 940 w 2647"/>
                  <a:gd name="T39" fmla="*/ 1904 h 2011"/>
                  <a:gd name="T40" fmla="*/ 772 w 2647"/>
                  <a:gd name="T41" fmla="*/ 1872 h 2011"/>
                  <a:gd name="T42" fmla="*/ 474 w 2647"/>
                  <a:gd name="T43" fmla="*/ 1704 h 2011"/>
                  <a:gd name="T44" fmla="*/ 93 w 2647"/>
                  <a:gd name="T45" fmla="*/ 1398 h 2011"/>
                  <a:gd name="T46" fmla="*/ 19 w 2647"/>
                  <a:gd name="T47" fmla="*/ 1404 h 2011"/>
                  <a:gd name="T48" fmla="*/ 25 w 2647"/>
                  <a:gd name="T49" fmla="*/ 1478 h 2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47" h="2011">
                    <a:moveTo>
                      <a:pt x="25" y="1478"/>
                    </a:moveTo>
                    <a:cubicBezTo>
                      <a:pt x="219" y="1643"/>
                      <a:pt x="380" y="1773"/>
                      <a:pt x="525" y="1865"/>
                    </a:cubicBezTo>
                    <a:cubicBezTo>
                      <a:pt x="598" y="1911"/>
                      <a:pt x="668" y="1947"/>
                      <a:pt x="736" y="1972"/>
                    </a:cubicBezTo>
                    <a:cubicBezTo>
                      <a:pt x="805" y="1996"/>
                      <a:pt x="872" y="2010"/>
                      <a:pt x="940" y="2010"/>
                    </a:cubicBezTo>
                    <a:cubicBezTo>
                      <a:pt x="986" y="2010"/>
                      <a:pt x="1032" y="2004"/>
                      <a:pt x="1078" y="1991"/>
                    </a:cubicBezTo>
                    <a:cubicBezTo>
                      <a:pt x="1147" y="1973"/>
                      <a:pt x="1216" y="1940"/>
                      <a:pt x="1286" y="1894"/>
                    </a:cubicBezTo>
                    <a:cubicBezTo>
                      <a:pt x="1357" y="1848"/>
                      <a:pt x="1429" y="1789"/>
                      <a:pt x="1506" y="1715"/>
                    </a:cubicBezTo>
                    <a:lnTo>
                      <a:pt x="1506" y="1715"/>
                    </a:lnTo>
                    <a:lnTo>
                      <a:pt x="2630" y="624"/>
                    </a:lnTo>
                    <a:cubicBezTo>
                      <a:pt x="2640" y="614"/>
                      <a:pt x="2646" y="600"/>
                      <a:pt x="2646" y="586"/>
                    </a:cubicBezTo>
                    <a:cubicBezTo>
                      <a:pt x="2646" y="572"/>
                      <a:pt x="2641" y="558"/>
                      <a:pt x="2630" y="548"/>
                    </a:cubicBezTo>
                    <a:lnTo>
                      <a:pt x="2090" y="21"/>
                    </a:lnTo>
                    <a:cubicBezTo>
                      <a:pt x="2069" y="0"/>
                      <a:pt x="2036" y="1"/>
                      <a:pt x="2016" y="22"/>
                    </a:cubicBezTo>
                    <a:cubicBezTo>
                      <a:pt x="1995" y="42"/>
                      <a:pt x="1996" y="76"/>
                      <a:pt x="2017" y="96"/>
                    </a:cubicBezTo>
                    <a:lnTo>
                      <a:pt x="2518" y="586"/>
                    </a:lnTo>
                    <a:lnTo>
                      <a:pt x="1433" y="1639"/>
                    </a:lnTo>
                    <a:lnTo>
                      <a:pt x="1433" y="1639"/>
                    </a:lnTo>
                    <a:cubicBezTo>
                      <a:pt x="1335" y="1733"/>
                      <a:pt x="1247" y="1800"/>
                      <a:pt x="1167" y="1843"/>
                    </a:cubicBezTo>
                    <a:cubicBezTo>
                      <a:pt x="1127" y="1864"/>
                      <a:pt x="1088" y="1879"/>
                      <a:pt x="1051" y="1889"/>
                    </a:cubicBezTo>
                    <a:cubicBezTo>
                      <a:pt x="1013" y="1899"/>
                      <a:pt x="977" y="1904"/>
                      <a:pt x="940" y="1904"/>
                    </a:cubicBezTo>
                    <a:cubicBezTo>
                      <a:pt x="886" y="1904"/>
                      <a:pt x="831" y="1894"/>
                      <a:pt x="772" y="1872"/>
                    </a:cubicBezTo>
                    <a:cubicBezTo>
                      <a:pt x="683" y="1840"/>
                      <a:pt x="586" y="1784"/>
                      <a:pt x="474" y="1704"/>
                    </a:cubicBezTo>
                    <a:cubicBezTo>
                      <a:pt x="363" y="1624"/>
                      <a:pt x="238" y="1521"/>
                      <a:pt x="93" y="1398"/>
                    </a:cubicBezTo>
                    <a:cubicBezTo>
                      <a:pt x="71" y="1379"/>
                      <a:pt x="38" y="1382"/>
                      <a:pt x="19" y="1404"/>
                    </a:cubicBezTo>
                    <a:cubicBezTo>
                      <a:pt x="0" y="1426"/>
                      <a:pt x="3" y="1459"/>
                      <a:pt x="25" y="1478"/>
                    </a:cubicBezTo>
                  </a:path>
                </a:pathLst>
              </a:custGeom>
              <a:solidFill>
                <a:srgbClr val="D7222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Freeform 2">
                <a:extLst>
                  <a:ext uri="{FF2B5EF4-FFF2-40B4-BE49-F238E27FC236}">
                    <a16:creationId xmlns:a16="http://schemas.microsoft.com/office/drawing/2014/main" id="{1B3EB2F6-21CF-A24E-9B62-5D7928C20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832" y="868769"/>
                <a:ext cx="356603" cy="190334"/>
              </a:xfrm>
              <a:custGeom>
                <a:avLst/>
                <a:gdLst>
                  <a:gd name="T0" fmla="*/ 15 w 2158"/>
                  <a:gd name="T1" fmla="*/ 713 h 1152"/>
                  <a:gd name="T2" fmla="*/ 432 w 2158"/>
                  <a:gd name="T3" fmla="*/ 1033 h 1152"/>
                  <a:gd name="T4" fmla="*/ 605 w 2158"/>
                  <a:gd name="T5" fmla="*/ 1120 h 1152"/>
                  <a:gd name="T6" fmla="*/ 771 w 2158"/>
                  <a:gd name="T7" fmla="*/ 1151 h 1152"/>
                  <a:gd name="T8" fmla="*/ 896 w 2158"/>
                  <a:gd name="T9" fmla="*/ 1132 h 1152"/>
                  <a:gd name="T10" fmla="*/ 1089 w 2158"/>
                  <a:gd name="T11" fmla="*/ 1036 h 1152"/>
                  <a:gd name="T12" fmla="*/ 1305 w 2158"/>
                  <a:gd name="T13" fmla="*/ 856 h 1152"/>
                  <a:gd name="T14" fmla="*/ 1305 w 2158"/>
                  <a:gd name="T15" fmla="*/ 856 h 1152"/>
                  <a:gd name="T16" fmla="*/ 2144 w 2158"/>
                  <a:gd name="T17" fmla="*/ 57 h 1152"/>
                  <a:gd name="T18" fmla="*/ 2145 w 2158"/>
                  <a:gd name="T19" fmla="*/ 13 h 1152"/>
                  <a:gd name="T20" fmla="*/ 2100 w 2158"/>
                  <a:gd name="T21" fmla="*/ 12 h 1152"/>
                  <a:gd name="T22" fmla="*/ 1262 w 2158"/>
                  <a:gd name="T23" fmla="*/ 811 h 1152"/>
                  <a:gd name="T24" fmla="*/ 1262 w 2158"/>
                  <a:gd name="T25" fmla="*/ 811 h 1152"/>
                  <a:gd name="T26" fmla="*/ 993 w 2158"/>
                  <a:gd name="T27" fmla="*/ 1023 h 1152"/>
                  <a:gd name="T28" fmla="*/ 878 w 2158"/>
                  <a:gd name="T29" fmla="*/ 1072 h 1152"/>
                  <a:gd name="T30" fmla="*/ 771 w 2158"/>
                  <a:gd name="T31" fmla="*/ 1088 h 1152"/>
                  <a:gd name="T32" fmla="*/ 626 w 2158"/>
                  <a:gd name="T33" fmla="*/ 1061 h 1152"/>
                  <a:gd name="T34" fmla="*/ 376 w 2158"/>
                  <a:gd name="T35" fmla="*/ 920 h 1152"/>
                  <a:gd name="T36" fmla="*/ 55 w 2158"/>
                  <a:gd name="T37" fmla="*/ 665 h 1152"/>
                  <a:gd name="T38" fmla="*/ 11 w 2158"/>
                  <a:gd name="T39" fmla="*/ 669 h 1152"/>
                  <a:gd name="T40" fmla="*/ 15 w 2158"/>
                  <a:gd name="T41" fmla="*/ 713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15" y="713"/>
                    </a:moveTo>
                    <a:cubicBezTo>
                      <a:pt x="179" y="850"/>
                      <a:pt x="312" y="958"/>
                      <a:pt x="432" y="1033"/>
                    </a:cubicBezTo>
                    <a:cubicBezTo>
                      <a:pt x="492" y="1071"/>
                      <a:pt x="549" y="1100"/>
                      <a:pt x="605" y="1120"/>
                    </a:cubicBezTo>
                    <a:cubicBezTo>
                      <a:pt x="661" y="1140"/>
                      <a:pt x="716" y="1151"/>
                      <a:pt x="771" y="1151"/>
                    </a:cubicBezTo>
                    <a:cubicBezTo>
                      <a:pt x="812" y="1151"/>
                      <a:pt x="854" y="1145"/>
                      <a:pt x="896" y="1132"/>
                    </a:cubicBezTo>
                    <a:cubicBezTo>
                      <a:pt x="959" y="1114"/>
                      <a:pt x="1022" y="1082"/>
                      <a:pt x="1089" y="1036"/>
                    </a:cubicBezTo>
                    <a:cubicBezTo>
                      <a:pt x="1156" y="990"/>
                      <a:pt x="1227" y="931"/>
                      <a:pt x="1305" y="856"/>
                    </a:cubicBezTo>
                    <a:lnTo>
                      <a:pt x="1305" y="856"/>
                    </a:lnTo>
                    <a:lnTo>
                      <a:pt x="2144" y="57"/>
                    </a:lnTo>
                    <a:cubicBezTo>
                      <a:pt x="2156" y="45"/>
                      <a:pt x="2157" y="25"/>
                      <a:pt x="2145" y="13"/>
                    </a:cubicBezTo>
                    <a:cubicBezTo>
                      <a:pt x="2133" y="0"/>
                      <a:pt x="2113" y="0"/>
                      <a:pt x="2100" y="12"/>
                    </a:cubicBezTo>
                    <a:lnTo>
                      <a:pt x="1262" y="811"/>
                    </a:lnTo>
                    <a:lnTo>
                      <a:pt x="1262" y="811"/>
                    </a:lnTo>
                    <a:cubicBezTo>
                      <a:pt x="1160" y="908"/>
                      <a:pt x="1072" y="978"/>
                      <a:pt x="993" y="1023"/>
                    </a:cubicBezTo>
                    <a:cubicBezTo>
                      <a:pt x="953" y="1045"/>
                      <a:pt x="915" y="1062"/>
                      <a:pt x="878" y="1072"/>
                    </a:cubicBezTo>
                    <a:cubicBezTo>
                      <a:pt x="842" y="1083"/>
                      <a:pt x="806" y="1088"/>
                      <a:pt x="771" y="1088"/>
                    </a:cubicBezTo>
                    <a:cubicBezTo>
                      <a:pt x="724" y="1088"/>
                      <a:pt x="677" y="1079"/>
                      <a:pt x="626" y="1061"/>
                    </a:cubicBezTo>
                    <a:cubicBezTo>
                      <a:pt x="551" y="1034"/>
                      <a:pt x="469" y="987"/>
                      <a:pt x="376" y="920"/>
                    </a:cubicBezTo>
                    <a:cubicBezTo>
                      <a:pt x="282" y="853"/>
                      <a:pt x="177" y="767"/>
                      <a:pt x="55" y="665"/>
                    </a:cubicBezTo>
                    <a:cubicBezTo>
                      <a:pt x="42" y="654"/>
                      <a:pt x="22" y="656"/>
                      <a:pt x="11" y="669"/>
                    </a:cubicBezTo>
                    <a:cubicBezTo>
                      <a:pt x="0" y="682"/>
                      <a:pt x="1" y="702"/>
                      <a:pt x="15" y="713"/>
                    </a:cubicBezTo>
                  </a:path>
                </a:pathLst>
              </a:custGeom>
              <a:solidFill>
                <a:srgbClr val="DD4A1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Freeform 3">
                <a:extLst>
                  <a:ext uri="{FF2B5EF4-FFF2-40B4-BE49-F238E27FC236}">
                    <a16:creationId xmlns:a16="http://schemas.microsoft.com/office/drawing/2014/main" id="{81A1399D-3A4A-4346-8C84-7B455211A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273" y="847620"/>
                <a:ext cx="304826" cy="169186"/>
              </a:xfrm>
              <a:custGeom>
                <a:avLst/>
                <a:gdLst>
                  <a:gd name="T0" fmla="*/ 12 w 1845"/>
                  <a:gd name="T1" fmla="*/ 672 h 1022"/>
                  <a:gd name="T2" fmla="*/ 350 w 1845"/>
                  <a:gd name="T3" fmla="*/ 928 h 1022"/>
                  <a:gd name="T4" fmla="*/ 488 w 1845"/>
                  <a:gd name="T5" fmla="*/ 997 h 1022"/>
                  <a:gd name="T6" fmla="*/ 620 w 1845"/>
                  <a:gd name="T7" fmla="*/ 1021 h 1022"/>
                  <a:gd name="T8" fmla="*/ 734 w 1845"/>
                  <a:gd name="T9" fmla="*/ 1003 h 1022"/>
                  <a:gd name="T10" fmla="*/ 915 w 1845"/>
                  <a:gd name="T11" fmla="*/ 905 h 1022"/>
                  <a:gd name="T12" fmla="*/ 1129 w 1845"/>
                  <a:gd name="T13" fmla="*/ 720 h 1022"/>
                  <a:gd name="T14" fmla="*/ 1129 w 1845"/>
                  <a:gd name="T15" fmla="*/ 720 h 1022"/>
                  <a:gd name="T16" fmla="*/ 1834 w 1845"/>
                  <a:gd name="T17" fmla="*/ 42 h 1022"/>
                  <a:gd name="T18" fmla="*/ 1835 w 1845"/>
                  <a:gd name="T19" fmla="*/ 10 h 1022"/>
                  <a:gd name="T20" fmla="*/ 1802 w 1845"/>
                  <a:gd name="T21" fmla="*/ 9 h 1022"/>
                  <a:gd name="T22" fmla="*/ 1097 w 1845"/>
                  <a:gd name="T23" fmla="*/ 687 h 1022"/>
                  <a:gd name="T24" fmla="*/ 1097 w 1845"/>
                  <a:gd name="T25" fmla="*/ 687 h 1022"/>
                  <a:gd name="T26" fmla="*/ 828 w 1845"/>
                  <a:gd name="T27" fmla="*/ 907 h 1022"/>
                  <a:gd name="T28" fmla="*/ 720 w 1845"/>
                  <a:gd name="T29" fmla="*/ 959 h 1022"/>
                  <a:gd name="T30" fmla="*/ 620 w 1845"/>
                  <a:gd name="T31" fmla="*/ 975 h 1022"/>
                  <a:gd name="T32" fmla="*/ 504 w 1845"/>
                  <a:gd name="T33" fmla="*/ 954 h 1022"/>
                  <a:gd name="T34" fmla="*/ 302 w 1845"/>
                  <a:gd name="T35" fmla="*/ 841 h 1022"/>
                  <a:gd name="T36" fmla="*/ 41 w 1845"/>
                  <a:gd name="T37" fmla="*/ 636 h 1022"/>
                  <a:gd name="T38" fmla="*/ 9 w 1845"/>
                  <a:gd name="T39" fmla="*/ 640 h 1022"/>
                  <a:gd name="T40" fmla="*/ 12 w 1845"/>
                  <a:gd name="T41" fmla="*/ 672 h 10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5" h="1022">
                    <a:moveTo>
                      <a:pt x="12" y="672"/>
                    </a:moveTo>
                    <a:cubicBezTo>
                      <a:pt x="146" y="782"/>
                      <a:pt x="254" y="868"/>
                      <a:pt x="350" y="928"/>
                    </a:cubicBezTo>
                    <a:cubicBezTo>
                      <a:pt x="398" y="958"/>
                      <a:pt x="444" y="981"/>
                      <a:pt x="488" y="997"/>
                    </a:cubicBezTo>
                    <a:cubicBezTo>
                      <a:pt x="533" y="1013"/>
                      <a:pt x="576" y="1021"/>
                      <a:pt x="620" y="1021"/>
                    </a:cubicBezTo>
                    <a:cubicBezTo>
                      <a:pt x="658" y="1021"/>
                      <a:pt x="695" y="1015"/>
                      <a:pt x="734" y="1003"/>
                    </a:cubicBezTo>
                    <a:cubicBezTo>
                      <a:pt x="791" y="984"/>
                      <a:pt x="850" y="952"/>
                      <a:pt x="915" y="905"/>
                    </a:cubicBezTo>
                    <a:cubicBezTo>
                      <a:pt x="980" y="858"/>
                      <a:pt x="1050" y="797"/>
                      <a:pt x="1129" y="720"/>
                    </a:cubicBezTo>
                    <a:lnTo>
                      <a:pt x="1129" y="720"/>
                    </a:lnTo>
                    <a:lnTo>
                      <a:pt x="1834" y="42"/>
                    </a:lnTo>
                    <a:cubicBezTo>
                      <a:pt x="1843" y="34"/>
                      <a:pt x="1844" y="19"/>
                      <a:pt x="1835" y="10"/>
                    </a:cubicBezTo>
                    <a:cubicBezTo>
                      <a:pt x="1826" y="1"/>
                      <a:pt x="1811" y="0"/>
                      <a:pt x="1802" y="9"/>
                    </a:cubicBezTo>
                    <a:lnTo>
                      <a:pt x="1097" y="687"/>
                    </a:lnTo>
                    <a:lnTo>
                      <a:pt x="1097" y="687"/>
                    </a:lnTo>
                    <a:cubicBezTo>
                      <a:pt x="992" y="788"/>
                      <a:pt x="905" y="861"/>
                      <a:pt x="828" y="907"/>
                    </a:cubicBezTo>
                    <a:cubicBezTo>
                      <a:pt x="790" y="931"/>
                      <a:pt x="754" y="948"/>
                      <a:pt x="720" y="959"/>
                    </a:cubicBezTo>
                    <a:cubicBezTo>
                      <a:pt x="685" y="970"/>
                      <a:pt x="653" y="975"/>
                      <a:pt x="620" y="975"/>
                    </a:cubicBezTo>
                    <a:cubicBezTo>
                      <a:pt x="582" y="975"/>
                      <a:pt x="544" y="968"/>
                      <a:pt x="504" y="954"/>
                    </a:cubicBezTo>
                    <a:cubicBezTo>
                      <a:pt x="443" y="932"/>
                      <a:pt x="378" y="894"/>
                      <a:pt x="302" y="841"/>
                    </a:cubicBezTo>
                    <a:cubicBezTo>
                      <a:pt x="227" y="787"/>
                      <a:pt x="141" y="718"/>
                      <a:pt x="41" y="636"/>
                    </a:cubicBezTo>
                    <a:cubicBezTo>
                      <a:pt x="31" y="628"/>
                      <a:pt x="17" y="630"/>
                      <a:pt x="9" y="640"/>
                    </a:cubicBezTo>
                    <a:cubicBezTo>
                      <a:pt x="0" y="649"/>
                      <a:pt x="2" y="664"/>
                      <a:pt x="12" y="672"/>
                    </a:cubicBezTo>
                  </a:path>
                </a:pathLst>
              </a:custGeom>
              <a:solidFill>
                <a:srgbClr val="EA741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Freeform 4">
                <a:extLst>
                  <a:ext uri="{FF2B5EF4-FFF2-40B4-BE49-F238E27FC236}">
                    <a16:creationId xmlns:a16="http://schemas.microsoft.com/office/drawing/2014/main" id="{E9BBE6CF-9D5F-7A45-BADF-582C03D33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713" y="826472"/>
                <a:ext cx="253050" cy="148037"/>
              </a:xfrm>
              <a:custGeom>
                <a:avLst/>
                <a:gdLst>
                  <a:gd name="T0" fmla="*/ 8 w 1531"/>
                  <a:gd name="T1" fmla="*/ 630 h 895"/>
                  <a:gd name="T2" fmla="*/ 269 w 1531"/>
                  <a:gd name="T3" fmla="*/ 824 h 895"/>
                  <a:gd name="T4" fmla="*/ 374 w 1531"/>
                  <a:gd name="T5" fmla="*/ 876 h 895"/>
                  <a:gd name="T6" fmla="*/ 473 w 1531"/>
                  <a:gd name="T7" fmla="*/ 894 h 895"/>
                  <a:gd name="T8" fmla="*/ 573 w 1531"/>
                  <a:gd name="T9" fmla="*/ 875 h 895"/>
                  <a:gd name="T10" fmla="*/ 739 w 1531"/>
                  <a:gd name="T11" fmla="*/ 775 h 895"/>
                  <a:gd name="T12" fmla="*/ 953 w 1531"/>
                  <a:gd name="T13" fmla="*/ 584 h 895"/>
                  <a:gd name="T14" fmla="*/ 953 w 1531"/>
                  <a:gd name="T15" fmla="*/ 584 h 895"/>
                  <a:gd name="T16" fmla="*/ 1524 w 1531"/>
                  <a:gd name="T17" fmla="*/ 27 h 895"/>
                  <a:gd name="T18" fmla="*/ 1524 w 1531"/>
                  <a:gd name="T19" fmla="*/ 6 h 895"/>
                  <a:gd name="T20" fmla="*/ 1503 w 1531"/>
                  <a:gd name="T21" fmla="*/ 6 h 895"/>
                  <a:gd name="T22" fmla="*/ 932 w 1531"/>
                  <a:gd name="T23" fmla="*/ 563 h 895"/>
                  <a:gd name="T24" fmla="*/ 932 w 1531"/>
                  <a:gd name="T25" fmla="*/ 563 h 895"/>
                  <a:gd name="T26" fmla="*/ 663 w 1531"/>
                  <a:gd name="T27" fmla="*/ 793 h 895"/>
                  <a:gd name="T28" fmla="*/ 562 w 1531"/>
                  <a:gd name="T29" fmla="*/ 847 h 895"/>
                  <a:gd name="T30" fmla="*/ 473 w 1531"/>
                  <a:gd name="T31" fmla="*/ 865 h 895"/>
                  <a:gd name="T32" fmla="*/ 384 w 1531"/>
                  <a:gd name="T33" fmla="*/ 848 h 895"/>
                  <a:gd name="T34" fmla="*/ 229 w 1531"/>
                  <a:gd name="T35" fmla="*/ 762 h 895"/>
                  <a:gd name="T36" fmla="*/ 26 w 1531"/>
                  <a:gd name="T37" fmla="*/ 607 h 895"/>
                  <a:gd name="T38" fmla="*/ 5 w 1531"/>
                  <a:gd name="T39" fmla="*/ 609 h 895"/>
                  <a:gd name="T40" fmla="*/ 8 w 1531"/>
                  <a:gd name="T41" fmla="*/ 630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1" h="895">
                    <a:moveTo>
                      <a:pt x="8" y="630"/>
                    </a:moveTo>
                    <a:cubicBezTo>
                      <a:pt x="113" y="714"/>
                      <a:pt x="196" y="779"/>
                      <a:pt x="269" y="824"/>
                    </a:cubicBezTo>
                    <a:cubicBezTo>
                      <a:pt x="306" y="847"/>
                      <a:pt x="340" y="864"/>
                      <a:pt x="374" y="876"/>
                    </a:cubicBezTo>
                    <a:cubicBezTo>
                      <a:pt x="407" y="888"/>
                      <a:pt x="440" y="894"/>
                      <a:pt x="473" y="894"/>
                    </a:cubicBezTo>
                    <a:cubicBezTo>
                      <a:pt x="506" y="894"/>
                      <a:pt x="539" y="888"/>
                      <a:pt x="573" y="875"/>
                    </a:cubicBezTo>
                    <a:cubicBezTo>
                      <a:pt x="624" y="856"/>
                      <a:pt x="678" y="823"/>
                      <a:pt x="739" y="775"/>
                    </a:cubicBezTo>
                    <a:cubicBezTo>
                      <a:pt x="801" y="727"/>
                      <a:pt x="870" y="663"/>
                      <a:pt x="953" y="584"/>
                    </a:cubicBezTo>
                    <a:lnTo>
                      <a:pt x="953" y="584"/>
                    </a:lnTo>
                    <a:lnTo>
                      <a:pt x="1524" y="27"/>
                    </a:lnTo>
                    <a:cubicBezTo>
                      <a:pt x="1529" y="21"/>
                      <a:pt x="1530" y="12"/>
                      <a:pt x="1524" y="6"/>
                    </a:cubicBezTo>
                    <a:cubicBezTo>
                      <a:pt x="1518" y="0"/>
                      <a:pt x="1509" y="0"/>
                      <a:pt x="1503" y="6"/>
                    </a:cubicBezTo>
                    <a:lnTo>
                      <a:pt x="932" y="563"/>
                    </a:lnTo>
                    <a:lnTo>
                      <a:pt x="932" y="563"/>
                    </a:lnTo>
                    <a:cubicBezTo>
                      <a:pt x="823" y="668"/>
                      <a:pt x="737" y="744"/>
                      <a:pt x="663" y="793"/>
                    </a:cubicBezTo>
                    <a:cubicBezTo>
                      <a:pt x="627" y="818"/>
                      <a:pt x="594" y="836"/>
                      <a:pt x="562" y="847"/>
                    </a:cubicBezTo>
                    <a:cubicBezTo>
                      <a:pt x="531" y="859"/>
                      <a:pt x="502" y="865"/>
                      <a:pt x="473" y="865"/>
                    </a:cubicBezTo>
                    <a:cubicBezTo>
                      <a:pt x="444" y="865"/>
                      <a:pt x="415" y="859"/>
                      <a:pt x="384" y="848"/>
                    </a:cubicBezTo>
                    <a:cubicBezTo>
                      <a:pt x="338" y="832"/>
                      <a:pt x="288" y="803"/>
                      <a:pt x="229" y="762"/>
                    </a:cubicBezTo>
                    <a:cubicBezTo>
                      <a:pt x="171" y="722"/>
                      <a:pt x="105" y="669"/>
                      <a:pt x="26" y="607"/>
                    </a:cubicBezTo>
                    <a:cubicBezTo>
                      <a:pt x="20" y="602"/>
                      <a:pt x="10" y="603"/>
                      <a:pt x="5" y="609"/>
                    </a:cubicBezTo>
                    <a:cubicBezTo>
                      <a:pt x="0" y="615"/>
                      <a:pt x="1" y="625"/>
                      <a:pt x="8" y="630"/>
                    </a:cubicBezTo>
                  </a:path>
                </a:pathLst>
              </a:custGeom>
              <a:solidFill>
                <a:srgbClr val="F6C4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Freeform 5">
                <a:extLst>
                  <a:ext uri="{FF2B5EF4-FFF2-40B4-BE49-F238E27FC236}">
                    <a16:creationId xmlns:a16="http://schemas.microsoft.com/office/drawing/2014/main" id="{4AA75148-84CF-0844-9DC3-A5A612E4F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6425" y="805324"/>
                <a:ext cx="201273" cy="127619"/>
              </a:xfrm>
              <a:custGeom>
                <a:avLst/>
                <a:gdLst>
                  <a:gd name="T0" fmla="*/ 4 w 1217"/>
                  <a:gd name="T1" fmla="*/ 588 h 773"/>
                  <a:gd name="T2" fmla="*/ 193 w 1217"/>
                  <a:gd name="T3" fmla="*/ 724 h 773"/>
                  <a:gd name="T4" fmla="*/ 332 w 1217"/>
                  <a:gd name="T5" fmla="*/ 772 h 773"/>
                  <a:gd name="T6" fmla="*/ 415 w 1217"/>
                  <a:gd name="T7" fmla="*/ 752 h 773"/>
                  <a:gd name="T8" fmla="*/ 563 w 1217"/>
                  <a:gd name="T9" fmla="*/ 648 h 773"/>
                  <a:gd name="T10" fmla="*/ 776 w 1217"/>
                  <a:gd name="T11" fmla="*/ 448 h 773"/>
                  <a:gd name="T12" fmla="*/ 776 w 1217"/>
                  <a:gd name="T13" fmla="*/ 448 h 773"/>
                  <a:gd name="T14" fmla="*/ 1213 w 1217"/>
                  <a:gd name="T15" fmla="*/ 12 h 773"/>
                  <a:gd name="T16" fmla="*/ 1213 w 1217"/>
                  <a:gd name="T17" fmla="*/ 2 h 773"/>
                  <a:gd name="T18" fmla="*/ 1204 w 1217"/>
                  <a:gd name="T19" fmla="*/ 2 h 773"/>
                  <a:gd name="T20" fmla="*/ 767 w 1217"/>
                  <a:gd name="T21" fmla="*/ 439 h 773"/>
                  <a:gd name="T22" fmla="*/ 500 w 1217"/>
                  <a:gd name="T23" fmla="*/ 682 h 773"/>
                  <a:gd name="T24" fmla="*/ 410 w 1217"/>
                  <a:gd name="T25" fmla="*/ 740 h 773"/>
                  <a:gd name="T26" fmla="*/ 332 w 1217"/>
                  <a:gd name="T27" fmla="*/ 759 h 773"/>
                  <a:gd name="T28" fmla="*/ 199 w 1217"/>
                  <a:gd name="T29" fmla="*/ 712 h 773"/>
                  <a:gd name="T30" fmla="*/ 12 w 1217"/>
                  <a:gd name="T31" fmla="*/ 577 h 773"/>
                  <a:gd name="T32" fmla="*/ 2 w 1217"/>
                  <a:gd name="T33" fmla="*/ 578 h 773"/>
                  <a:gd name="T34" fmla="*/ 4 w 1217"/>
                  <a:gd name="T35" fmla="*/ 588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4" y="588"/>
                    </a:moveTo>
                    <a:cubicBezTo>
                      <a:pt x="81" y="647"/>
                      <a:pt x="141" y="692"/>
                      <a:pt x="193" y="724"/>
                    </a:cubicBezTo>
                    <a:cubicBezTo>
                      <a:pt x="244" y="755"/>
                      <a:pt x="288" y="772"/>
                      <a:pt x="332" y="772"/>
                    </a:cubicBezTo>
                    <a:cubicBezTo>
                      <a:pt x="359" y="772"/>
                      <a:pt x="386" y="765"/>
                      <a:pt x="415" y="752"/>
                    </a:cubicBezTo>
                    <a:cubicBezTo>
                      <a:pt x="458" y="733"/>
                      <a:pt x="505" y="698"/>
                      <a:pt x="563" y="648"/>
                    </a:cubicBezTo>
                    <a:cubicBezTo>
                      <a:pt x="620" y="597"/>
                      <a:pt x="689" y="531"/>
                      <a:pt x="776" y="448"/>
                    </a:cubicBezTo>
                    <a:lnTo>
                      <a:pt x="776" y="448"/>
                    </a:lnTo>
                    <a:lnTo>
                      <a:pt x="1213" y="12"/>
                    </a:lnTo>
                    <a:cubicBezTo>
                      <a:pt x="1216" y="9"/>
                      <a:pt x="1216" y="5"/>
                      <a:pt x="1213" y="2"/>
                    </a:cubicBezTo>
                    <a:cubicBezTo>
                      <a:pt x="1210" y="0"/>
                      <a:pt x="1206" y="0"/>
                      <a:pt x="1204" y="2"/>
                    </a:cubicBezTo>
                    <a:lnTo>
                      <a:pt x="767" y="439"/>
                    </a:lnTo>
                    <a:cubicBezTo>
                      <a:pt x="651" y="549"/>
                      <a:pt x="568" y="630"/>
                      <a:pt x="500" y="682"/>
                    </a:cubicBezTo>
                    <a:cubicBezTo>
                      <a:pt x="466" y="709"/>
                      <a:pt x="437" y="728"/>
                      <a:pt x="410" y="740"/>
                    </a:cubicBezTo>
                    <a:cubicBezTo>
                      <a:pt x="382" y="753"/>
                      <a:pt x="357" y="759"/>
                      <a:pt x="332" y="759"/>
                    </a:cubicBezTo>
                    <a:cubicBezTo>
                      <a:pt x="291" y="759"/>
                      <a:pt x="250" y="743"/>
                      <a:pt x="199" y="712"/>
                    </a:cubicBezTo>
                    <a:cubicBezTo>
                      <a:pt x="149" y="682"/>
                      <a:pt x="89" y="636"/>
                      <a:pt x="12" y="577"/>
                    </a:cubicBezTo>
                    <a:cubicBezTo>
                      <a:pt x="9" y="575"/>
                      <a:pt x="4" y="575"/>
                      <a:pt x="2" y="578"/>
                    </a:cubicBezTo>
                    <a:cubicBezTo>
                      <a:pt x="0" y="581"/>
                      <a:pt x="1" y="585"/>
                      <a:pt x="4" y="588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Freeform 6">
                <a:extLst>
                  <a:ext uri="{FF2B5EF4-FFF2-40B4-BE49-F238E27FC236}">
                    <a16:creationId xmlns:a16="http://schemas.microsoft.com/office/drawing/2014/main" id="{AB607A71-F482-B646-9976-486F89F112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170" y="664579"/>
                <a:ext cx="439737" cy="330350"/>
              </a:xfrm>
              <a:custGeom>
                <a:avLst/>
                <a:gdLst>
                  <a:gd name="T0" fmla="*/ 2631 w 2657"/>
                  <a:gd name="T1" fmla="*/ 532 h 1998"/>
                  <a:gd name="T2" fmla="*/ 2130 w 2657"/>
                  <a:gd name="T3" fmla="*/ 145 h 1998"/>
                  <a:gd name="T4" fmla="*/ 1920 w 2657"/>
                  <a:gd name="T5" fmla="*/ 38 h 1998"/>
                  <a:gd name="T6" fmla="*/ 1715 w 2657"/>
                  <a:gd name="T7" fmla="*/ 0 h 1998"/>
                  <a:gd name="T8" fmla="*/ 1578 w 2657"/>
                  <a:gd name="T9" fmla="*/ 19 h 1998"/>
                  <a:gd name="T10" fmla="*/ 1370 w 2657"/>
                  <a:gd name="T11" fmla="*/ 116 h 1998"/>
                  <a:gd name="T12" fmla="*/ 1150 w 2657"/>
                  <a:gd name="T13" fmla="*/ 295 h 1998"/>
                  <a:gd name="T14" fmla="*/ 1150 w 2657"/>
                  <a:gd name="T15" fmla="*/ 295 h 1998"/>
                  <a:gd name="T16" fmla="*/ 16 w 2657"/>
                  <a:gd name="T17" fmla="*/ 1368 h 1998"/>
                  <a:gd name="T18" fmla="*/ 0 w 2657"/>
                  <a:gd name="T19" fmla="*/ 1406 h 1998"/>
                  <a:gd name="T20" fmla="*/ 16 w 2657"/>
                  <a:gd name="T21" fmla="*/ 1444 h 1998"/>
                  <a:gd name="T22" fmla="*/ 566 w 2657"/>
                  <a:gd name="T23" fmla="*/ 1977 h 1998"/>
                  <a:gd name="T24" fmla="*/ 640 w 2657"/>
                  <a:gd name="T25" fmla="*/ 1976 h 1998"/>
                  <a:gd name="T26" fmla="*/ 639 w 2657"/>
                  <a:gd name="T27" fmla="*/ 1901 h 1998"/>
                  <a:gd name="T28" fmla="*/ 129 w 2657"/>
                  <a:gd name="T29" fmla="*/ 1406 h 1998"/>
                  <a:gd name="T30" fmla="*/ 1223 w 2657"/>
                  <a:gd name="T31" fmla="*/ 371 h 1998"/>
                  <a:gd name="T32" fmla="*/ 1223 w 2657"/>
                  <a:gd name="T33" fmla="*/ 371 h 1998"/>
                  <a:gd name="T34" fmla="*/ 1489 w 2657"/>
                  <a:gd name="T35" fmla="*/ 167 h 1998"/>
                  <a:gd name="T36" fmla="*/ 1605 w 2657"/>
                  <a:gd name="T37" fmla="*/ 121 h 1998"/>
                  <a:gd name="T38" fmla="*/ 1715 w 2657"/>
                  <a:gd name="T39" fmla="*/ 106 h 1998"/>
                  <a:gd name="T40" fmla="*/ 1884 w 2657"/>
                  <a:gd name="T41" fmla="*/ 138 h 1998"/>
                  <a:gd name="T42" fmla="*/ 2181 w 2657"/>
                  <a:gd name="T43" fmla="*/ 306 h 1998"/>
                  <a:gd name="T44" fmla="*/ 2562 w 2657"/>
                  <a:gd name="T45" fmla="*/ 612 h 1998"/>
                  <a:gd name="T46" fmla="*/ 2637 w 2657"/>
                  <a:gd name="T47" fmla="*/ 606 h 1998"/>
                  <a:gd name="T48" fmla="*/ 2631 w 2657"/>
                  <a:gd name="T49" fmla="*/ 532 h 1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57" h="1998">
                    <a:moveTo>
                      <a:pt x="2631" y="532"/>
                    </a:moveTo>
                    <a:cubicBezTo>
                      <a:pt x="2437" y="367"/>
                      <a:pt x="2276" y="237"/>
                      <a:pt x="2130" y="145"/>
                    </a:cubicBezTo>
                    <a:cubicBezTo>
                      <a:pt x="2058" y="99"/>
                      <a:pt x="1988" y="63"/>
                      <a:pt x="1920" y="38"/>
                    </a:cubicBezTo>
                    <a:cubicBezTo>
                      <a:pt x="1851" y="14"/>
                      <a:pt x="1783" y="0"/>
                      <a:pt x="1715" y="0"/>
                    </a:cubicBezTo>
                    <a:cubicBezTo>
                      <a:pt x="1669" y="0"/>
                      <a:pt x="1623" y="6"/>
                      <a:pt x="1578" y="19"/>
                    </a:cubicBezTo>
                    <a:cubicBezTo>
                      <a:pt x="1509" y="37"/>
                      <a:pt x="1440" y="70"/>
                      <a:pt x="1370" y="116"/>
                    </a:cubicBezTo>
                    <a:cubicBezTo>
                      <a:pt x="1299" y="162"/>
                      <a:pt x="1227" y="221"/>
                      <a:pt x="1150" y="295"/>
                    </a:cubicBezTo>
                    <a:lnTo>
                      <a:pt x="1150" y="295"/>
                    </a:lnTo>
                    <a:lnTo>
                      <a:pt x="16" y="1368"/>
                    </a:lnTo>
                    <a:cubicBezTo>
                      <a:pt x="6" y="1378"/>
                      <a:pt x="0" y="1391"/>
                      <a:pt x="0" y="1406"/>
                    </a:cubicBezTo>
                    <a:cubicBezTo>
                      <a:pt x="0" y="1420"/>
                      <a:pt x="6" y="1434"/>
                      <a:pt x="16" y="1444"/>
                    </a:cubicBezTo>
                    <a:lnTo>
                      <a:pt x="566" y="1977"/>
                    </a:lnTo>
                    <a:cubicBezTo>
                      <a:pt x="587" y="1997"/>
                      <a:pt x="619" y="1997"/>
                      <a:pt x="640" y="1976"/>
                    </a:cubicBezTo>
                    <a:cubicBezTo>
                      <a:pt x="660" y="1955"/>
                      <a:pt x="660" y="1921"/>
                      <a:pt x="639" y="1901"/>
                    </a:cubicBezTo>
                    <a:lnTo>
                      <a:pt x="129" y="1406"/>
                    </a:lnTo>
                    <a:lnTo>
                      <a:pt x="1223" y="371"/>
                    </a:lnTo>
                    <a:lnTo>
                      <a:pt x="1223" y="371"/>
                    </a:lnTo>
                    <a:cubicBezTo>
                      <a:pt x="1321" y="277"/>
                      <a:pt x="1409" y="210"/>
                      <a:pt x="1489" y="167"/>
                    </a:cubicBezTo>
                    <a:cubicBezTo>
                      <a:pt x="1529" y="146"/>
                      <a:pt x="1568" y="131"/>
                      <a:pt x="1605" y="121"/>
                    </a:cubicBezTo>
                    <a:cubicBezTo>
                      <a:pt x="1642" y="111"/>
                      <a:pt x="1679" y="106"/>
                      <a:pt x="1715" y="106"/>
                    </a:cubicBezTo>
                    <a:cubicBezTo>
                      <a:pt x="1770" y="106"/>
                      <a:pt x="1825" y="116"/>
                      <a:pt x="1884" y="138"/>
                    </a:cubicBezTo>
                    <a:cubicBezTo>
                      <a:pt x="1972" y="170"/>
                      <a:pt x="2070" y="226"/>
                      <a:pt x="2181" y="306"/>
                    </a:cubicBezTo>
                    <a:cubicBezTo>
                      <a:pt x="2293" y="387"/>
                      <a:pt x="2418" y="490"/>
                      <a:pt x="2562" y="612"/>
                    </a:cubicBezTo>
                    <a:cubicBezTo>
                      <a:pt x="2585" y="631"/>
                      <a:pt x="2618" y="628"/>
                      <a:pt x="2637" y="606"/>
                    </a:cubicBezTo>
                    <a:cubicBezTo>
                      <a:pt x="2656" y="584"/>
                      <a:pt x="2653" y="551"/>
                      <a:pt x="2631" y="532"/>
                    </a:cubicBezTo>
                  </a:path>
                </a:pathLst>
              </a:custGeom>
              <a:solidFill>
                <a:srgbClr val="157C5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Freeform 7">
                <a:extLst>
                  <a:ext uri="{FF2B5EF4-FFF2-40B4-BE49-F238E27FC236}">
                    <a16:creationId xmlns:a16="http://schemas.microsoft.com/office/drawing/2014/main" id="{6DA5CE31-3E42-6346-B29B-FE9FF265D7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946" y="709792"/>
                <a:ext cx="356603" cy="190334"/>
              </a:xfrm>
              <a:custGeom>
                <a:avLst/>
                <a:gdLst>
                  <a:gd name="T0" fmla="*/ 2142 w 2158"/>
                  <a:gd name="T1" fmla="*/ 438 h 1152"/>
                  <a:gd name="T2" fmla="*/ 1725 w 2158"/>
                  <a:gd name="T3" fmla="*/ 118 h 1152"/>
                  <a:gd name="T4" fmla="*/ 1552 w 2158"/>
                  <a:gd name="T5" fmla="*/ 31 h 1152"/>
                  <a:gd name="T6" fmla="*/ 1386 w 2158"/>
                  <a:gd name="T7" fmla="*/ 0 h 1152"/>
                  <a:gd name="T8" fmla="*/ 1261 w 2158"/>
                  <a:gd name="T9" fmla="*/ 19 h 1152"/>
                  <a:gd name="T10" fmla="*/ 1068 w 2158"/>
                  <a:gd name="T11" fmla="*/ 115 h 1152"/>
                  <a:gd name="T12" fmla="*/ 852 w 2158"/>
                  <a:gd name="T13" fmla="*/ 295 h 1152"/>
                  <a:gd name="T14" fmla="*/ 852 w 2158"/>
                  <a:gd name="T15" fmla="*/ 295 h 1152"/>
                  <a:gd name="T16" fmla="*/ 13 w 2158"/>
                  <a:gd name="T17" fmla="*/ 1094 h 1152"/>
                  <a:gd name="T18" fmla="*/ 12 w 2158"/>
                  <a:gd name="T19" fmla="*/ 1138 h 1152"/>
                  <a:gd name="T20" fmla="*/ 56 w 2158"/>
                  <a:gd name="T21" fmla="*/ 1139 h 1152"/>
                  <a:gd name="T22" fmla="*/ 895 w 2158"/>
                  <a:gd name="T23" fmla="*/ 340 h 1152"/>
                  <a:gd name="T24" fmla="*/ 895 w 2158"/>
                  <a:gd name="T25" fmla="*/ 340 h 1152"/>
                  <a:gd name="T26" fmla="*/ 1164 w 2158"/>
                  <a:gd name="T27" fmla="*/ 128 h 1152"/>
                  <a:gd name="T28" fmla="*/ 1279 w 2158"/>
                  <a:gd name="T29" fmla="*/ 79 h 1152"/>
                  <a:gd name="T30" fmla="*/ 1386 w 2158"/>
                  <a:gd name="T31" fmla="*/ 63 h 1152"/>
                  <a:gd name="T32" fmla="*/ 1531 w 2158"/>
                  <a:gd name="T33" fmla="*/ 90 h 1152"/>
                  <a:gd name="T34" fmla="*/ 1781 w 2158"/>
                  <a:gd name="T35" fmla="*/ 231 h 1152"/>
                  <a:gd name="T36" fmla="*/ 2102 w 2158"/>
                  <a:gd name="T37" fmla="*/ 486 h 1152"/>
                  <a:gd name="T38" fmla="*/ 2146 w 2158"/>
                  <a:gd name="T39" fmla="*/ 482 h 1152"/>
                  <a:gd name="T40" fmla="*/ 2142 w 2158"/>
                  <a:gd name="T41" fmla="*/ 438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2142" y="438"/>
                    </a:moveTo>
                    <a:cubicBezTo>
                      <a:pt x="1978" y="301"/>
                      <a:pt x="1845" y="193"/>
                      <a:pt x="1725" y="118"/>
                    </a:cubicBezTo>
                    <a:cubicBezTo>
                      <a:pt x="1664" y="80"/>
                      <a:pt x="1608" y="51"/>
                      <a:pt x="1552" y="31"/>
                    </a:cubicBezTo>
                    <a:cubicBezTo>
                      <a:pt x="1496" y="11"/>
                      <a:pt x="1441" y="0"/>
                      <a:pt x="1386" y="0"/>
                    </a:cubicBezTo>
                    <a:cubicBezTo>
                      <a:pt x="1344" y="0"/>
                      <a:pt x="1303" y="6"/>
                      <a:pt x="1261" y="19"/>
                    </a:cubicBezTo>
                    <a:cubicBezTo>
                      <a:pt x="1198" y="37"/>
                      <a:pt x="1135" y="69"/>
                      <a:pt x="1068" y="115"/>
                    </a:cubicBezTo>
                    <a:cubicBezTo>
                      <a:pt x="1000" y="161"/>
                      <a:pt x="930" y="220"/>
                      <a:pt x="852" y="295"/>
                    </a:cubicBezTo>
                    <a:lnTo>
                      <a:pt x="852" y="295"/>
                    </a:lnTo>
                    <a:lnTo>
                      <a:pt x="13" y="1094"/>
                    </a:lnTo>
                    <a:cubicBezTo>
                      <a:pt x="1" y="1106"/>
                      <a:pt x="0" y="1126"/>
                      <a:pt x="12" y="1138"/>
                    </a:cubicBezTo>
                    <a:cubicBezTo>
                      <a:pt x="24" y="1151"/>
                      <a:pt x="44" y="1151"/>
                      <a:pt x="56" y="1139"/>
                    </a:cubicBezTo>
                    <a:lnTo>
                      <a:pt x="895" y="340"/>
                    </a:lnTo>
                    <a:lnTo>
                      <a:pt x="895" y="340"/>
                    </a:lnTo>
                    <a:cubicBezTo>
                      <a:pt x="997" y="243"/>
                      <a:pt x="1085" y="173"/>
                      <a:pt x="1164" y="128"/>
                    </a:cubicBezTo>
                    <a:cubicBezTo>
                      <a:pt x="1204" y="106"/>
                      <a:pt x="1242" y="89"/>
                      <a:pt x="1279" y="79"/>
                    </a:cubicBezTo>
                    <a:cubicBezTo>
                      <a:pt x="1315" y="68"/>
                      <a:pt x="1351" y="63"/>
                      <a:pt x="1386" y="63"/>
                    </a:cubicBezTo>
                    <a:cubicBezTo>
                      <a:pt x="1433" y="63"/>
                      <a:pt x="1480" y="72"/>
                      <a:pt x="1531" y="90"/>
                    </a:cubicBezTo>
                    <a:cubicBezTo>
                      <a:pt x="1606" y="117"/>
                      <a:pt x="1688" y="164"/>
                      <a:pt x="1781" y="231"/>
                    </a:cubicBezTo>
                    <a:cubicBezTo>
                      <a:pt x="1874" y="298"/>
                      <a:pt x="1979" y="384"/>
                      <a:pt x="2102" y="486"/>
                    </a:cubicBezTo>
                    <a:cubicBezTo>
                      <a:pt x="2115" y="497"/>
                      <a:pt x="2135" y="495"/>
                      <a:pt x="2146" y="482"/>
                    </a:cubicBezTo>
                    <a:cubicBezTo>
                      <a:pt x="2157" y="469"/>
                      <a:pt x="2155" y="449"/>
                      <a:pt x="2142" y="438"/>
                    </a:cubicBezTo>
                  </a:path>
                </a:pathLst>
              </a:custGeom>
              <a:solidFill>
                <a:srgbClr val="04944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Freeform 8">
                <a:extLst>
                  <a:ext uri="{FF2B5EF4-FFF2-40B4-BE49-F238E27FC236}">
                    <a16:creationId xmlns:a16="http://schemas.microsoft.com/office/drawing/2014/main" id="{CF0A24C0-A91E-F641-90F0-BC83EC452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4012" y="752818"/>
                <a:ext cx="304826" cy="169186"/>
              </a:xfrm>
              <a:custGeom>
                <a:avLst/>
                <a:gdLst>
                  <a:gd name="T0" fmla="*/ 1832 w 1844"/>
                  <a:gd name="T1" fmla="*/ 349 h 1021"/>
                  <a:gd name="T2" fmla="*/ 1494 w 1844"/>
                  <a:gd name="T3" fmla="*/ 93 h 1021"/>
                  <a:gd name="T4" fmla="*/ 1356 w 1844"/>
                  <a:gd name="T5" fmla="*/ 24 h 1021"/>
                  <a:gd name="T6" fmla="*/ 1224 w 1844"/>
                  <a:gd name="T7" fmla="*/ 0 h 1021"/>
                  <a:gd name="T8" fmla="*/ 1110 w 1844"/>
                  <a:gd name="T9" fmla="*/ 18 h 1021"/>
                  <a:gd name="T10" fmla="*/ 929 w 1844"/>
                  <a:gd name="T11" fmla="*/ 116 h 1021"/>
                  <a:gd name="T12" fmla="*/ 715 w 1844"/>
                  <a:gd name="T13" fmla="*/ 301 h 1021"/>
                  <a:gd name="T14" fmla="*/ 714 w 1844"/>
                  <a:gd name="T15" fmla="*/ 301 h 1021"/>
                  <a:gd name="T16" fmla="*/ 10 w 1844"/>
                  <a:gd name="T17" fmla="*/ 978 h 1021"/>
                  <a:gd name="T18" fmla="*/ 9 w 1844"/>
                  <a:gd name="T19" fmla="*/ 1011 h 1021"/>
                  <a:gd name="T20" fmla="*/ 42 w 1844"/>
                  <a:gd name="T21" fmla="*/ 1012 h 1021"/>
                  <a:gd name="T22" fmla="*/ 746 w 1844"/>
                  <a:gd name="T23" fmla="*/ 334 h 1021"/>
                  <a:gd name="T24" fmla="*/ 746 w 1844"/>
                  <a:gd name="T25" fmla="*/ 334 h 1021"/>
                  <a:gd name="T26" fmla="*/ 1016 w 1844"/>
                  <a:gd name="T27" fmla="*/ 114 h 1021"/>
                  <a:gd name="T28" fmla="*/ 1124 w 1844"/>
                  <a:gd name="T29" fmla="*/ 62 h 1021"/>
                  <a:gd name="T30" fmla="*/ 1224 w 1844"/>
                  <a:gd name="T31" fmla="*/ 46 h 1021"/>
                  <a:gd name="T32" fmla="*/ 1340 w 1844"/>
                  <a:gd name="T33" fmla="*/ 67 h 1021"/>
                  <a:gd name="T34" fmla="*/ 1542 w 1844"/>
                  <a:gd name="T35" fmla="*/ 180 h 1021"/>
                  <a:gd name="T36" fmla="*/ 1803 w 1844"/>
                  <a:gd name="T37" fmla="*/ 385 h 1021"/>
                  <a:gd name="T38" fmla="*/ 1835 w 1844"/>
                  <a:gd name="T39" fmla="*/ 381 h 1021"/>
                  <a:gd name="T40" fmla="*/ 1832 w 1844"/>
                  <a:gd name="T41" fmla="*/ 349 h 10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4" h="1021">
                    <a:moveTo>
                      <a:pt x="1832" y="349"/>
                    </a:moveTo>
                    <a:cubicBezTo>
                      <a:pt x="1698" y="239"/>
                      <a:pt x="1590" y="153"/>
                      <a:pt x="1494" y="93"/>
                    </a:cubicBezTo>
                    <a:cubicBezTo>
                      <a:pt x="1446" y="63"/>
                      <a:pt x="1400" y="40"/>
                      <a:pt x="1356" y="24"/>
                    </a:cubicBezTo>
                    <a:cubicBezTo>
                      <a:pt x="1311" y="8"/>
                      <a:pt x="1268" y="0"/>
                      <a:pt x="1224" y="0"/>
                    </a:cubicBezTo>
                    <a:cubicBezTo>
                      <a:pt x="1186" y="0"/>
                      <a:pt x="1148" y="6"/>
                      <a:pt x="1110" y="18"/>
                    </a:cubicBezTo>
                    <a:cubicBezTo>
                      <a:pt x="1052" y="37"/>
                      <a:pt x="993" y="69"/>
                      <a:pt x="929" y="116"/>
                    </a:cubicBezTo>
                    <a:cubicBezTo>
                      <a:pt x="864" y="163"/>
                      <a:pt x="794" y="224"/>
                      <a:pt x="715" y="301"/>
                    </a:cubicBezTo>
                    <a:lnTo>
                      <a:pt x="714" y="301"/>
                    </a:lnTo>
                    <a:lnTo>
                      <a:pt x="10" y="978"/>
                    </a:lnTo>
                    <a:cubicBezTo>
                      <a:pt x="1" y="987"/>
                      <a:pt x="0" y="1002"/>
                      <a:pt x="9" y="1011"/>
                    </a:cubicBezTo>
                    <a:cubicBezTo>
                      <a:pt x="18" y="1020"/>
                      <a:pt x="33" y="1020"/>
                      <a:pt x="42" y="1012"/>
                    </a:cubicBezTo>
                    <a:lnTo>
                      <a:pt x="746" y="334"/>
                    </a:lnTo>
                    <a:lnTo>
                      <a:pt x="746" y="334"/>
                    </a:lnTo>
                    <a:cubicBezTo>
                      <a:pt x="851" y="233"/>
                      <a:pt x="939" y="160"/>
                      <a:pt x="1016" y="114"/>
                    </a:cubicBezTo>
                    <a:cubicBezTo>
                      <a:pt x="1054" y="90"/>
                      <a:pt x="1090" y="73"/>
                      <a:pt x="1124" y="62"/>
                    </a:cubicBezTo>
                    <a:cubicBezTo>
                      <a:pt x="1159" y="51"/>
                      <a:pt x="1191" y="46"/>
                      <a:pt x="1224" y="46"/>
                    </a:cubicBezTo>
                    <a:cubicBezTo>
                      <a:pt x="1262" y="46"/>
                      <a:pt x="1300" y="53"/>
                      <a:pt x="1340" y="67"/>
                    </a:cubicBezTo>
                    <a:cubicBezTo>
                      <a:pt x="1401" y="89"/>
                      <a:pt x="1466" y="127"/>
                      <a:pt x="1542" y="180"/>
                    </a:cubicBezTo>
                    <a:cubicBezTo>
                      <a:pt x="1617" y="234"/>
                      <a:pt x="1702" y="303"/>
                      <a:pt x="1803" y="385"/>
                    </a:cubicBezTo>
                    <a:cubicBezTo>
                      <a:pt x="1813" y="393"/>
                      <a:pt x="1827" y="391"/>
                      <a:pt x="1835" y="381"/>
                    </a:cubicBezTo>
                    <a:cubicBezTo>
                      <a:pt x="1843" y="372"/>
                      <a:pt x="1842" y="357"/>
                      <a:pt x="1832" y="349"/>
                    </a:cubicBezTo>
                  </a:path>
                </a:pathLst>
              </a:custGeom>
              <a:solidFill>
                <a:srgbClr val="48A83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Freeform 9">
                <a:extLst>
                  <a:ext uri="{FF2B5EF4-FFF2-40B4-BE49-F238E27FC236}">
                    <a16:creationId xmlns:a16="http://schemas.microsoft.com/office/drawing/2014/main" id="{310AF166-F554-F74D-AB72-E414E499E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7348" y="795114"/>
                <a:ext cx="253049" cy="148038"/>
              </a:xfrm>
              <a:custGeom>
                <a:avLst/>
                <a:gdLst>
                  <a:gd name="T0" fmla="*/ 1522 w 1530"/>
                  <a:gd name="T1" fmla="*/ 264 h 895"/>
                  <a:gd name="T2" fmla="*/ 1260 w 1530"/>
                  <a:gd name="T3" fmla="*/ 70 h 895"/>
                  <a:gd name="T4" fmla="*/ 1156 w 1530"/>
                  <a:gd name="T5" fmla="*/ 18 h 895"/>
                  <a:gd name="T6" fmla="*/ 1057 w 1530"/>
                  <a:gd name="T7" fmla="*/ 0 h 895"/>
                  <a:gd name="T8" fmla="*/ 957 w 1530"/>
                  <a:gd name="T9" fmla="*/ 19 h 895"/>
                  <a:gd name="T10" fmla="*/ 791 w 1530"/>
                  <a:gd name="T11" fmla="*/ 119 h 895"/>
                  <a:gd name="T12" fmla="*/ 577 w 1530"/>
                  <a:gd name="T13" fmla="*/ 310 h 895"/>
                  <a:gd name="T14" fmla="*/ 577 w 1530"/>
                  <a:gd name="T15" fmla="*/ 310 h 895"/>
                  <a:gd name="T16" fmla="*/ 6 w 1530"/>
                  <a:gd name="T17" fmla="*/ 867 h 895"/>
                  <a:gd name="T18" fmla="*/ 6 w 1530"/>
                  <a:gd name="T19" fmla="*/ 888 h 895"/>
                  <a:gd name="T20" fmla="*/ 27 w 1530"/>
                  <a:gd name="T21" fmla="*/ 888 h 895"/>
                  <a:gd name="T22" fmla="*/ 598 w 1530"/>
                  <a:gd name="T23" fmla="*/ 331 h 895"/>
                  <a:gd name="T24" fmla="*/ 598 w 1530"/>
                  <a:gd name="T25" fmla="*/ 331 h 895"/>
                  <a:gd name="T26" fmla="*/ 866 w 1530"/>
                  <a:gd name="T27" fmla="*/ 101 h 895"/>
                  <a:gd name="T28" fmla="*/ 968 w 1530"/>
                  <a:gd name="T29" fmla="*/ 47 h 895"/>
                  <a:gd name="T30" fmla="*/ 1057 w 1530"/>
                  <a:gd name="T31" fmla="*/ 29 h 895"/>
                  <a:gd name="T32" fmla="*/ 1146 w 1530"/>
                  <a:gd name="T33" fmla="*/ 46 h 895"/>
                  <a:gd name="T34" fmla="*/ 1300 w 1530"/>
                  <a:gd name="T35" fmla="*/ 132 h 895"/>
                  <a:gd name="T36" fmla="*/ 1504 w 1530"/>
                  <a:gd name="T37" fmla="*/ 287 h 895"/>
                  <a:gd name="T38" fmla="*/ 1524 w 1530"/>
                  <a:gd name="T39" fmla="*/ 285 h 895"/>
                  <a:gd name="T40" fmla="*/ 1522 w 1530"/>
                  <a:gd name="T41" fmla="*/ 264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0" h="895">
                    <a:moveTo>
                      <a:pt x="1522" y="264"/>
                    </a:moveTo>
                    <a:cubicBezTo>
                      <a:pt x="1417" y="180"/>
                      <a:pt x="1334" y="115"/>
                      <a:pt x="1260" y="70"/>
                    </a:cubicBezTo>
                    <a:cubicBezTo>
                      <a:pt x="1224" y="47"/>
                      <a:pt x="1189" y="30"/>
                      <a:pt x="1156" y="18"/>
                    </a:cubicBezTo>
                    <a:cubicBezTo>
                      <a:pt x="1123" y="6"/>
                      <a:pt x="1090" y="0"/>
                      <a:pt x="1057" y="0"/>
                    </a:cubicBezTo>
                    <a:cubicBezTo>
                      <a:pt x="1024" y="0"/>
                      <a:pt x="991" y="6"/>
                      <a:pt x="957" y="19"/>
                    </a:cubicBezTo>
                    <a:cubicBezTo>
                      <a:pt x="906" y="38"/>
                      <a:pt x="852" y="71"/>
                      <a:pt x="791" y="119"/>
                    </a:cubicBezTo>
                    <a:cubicBezTo>
                      <a:pt x="729" y="167"/>
                      <a:pt x="660" y="231"/>
                      <a:pt x="577" y="310"/>
                    </a:cubicBezTo>
                    <a:lnTo>
                      <a:pt x="577" y="310"/>
                    </a:lnTo>
                    <a:lnTo>
                      <a:pt x="6" y="867"/>
                    </a:lnTo>
                    <a:cubicBezTo>
                      <a:pt x="0" y="873"/>
                      <a:pt x="0" y="882"/>
                      <a:pt x="6" y="888"/>
                    </a:cubicBezTo>
                    <a:cubicBezTo>
                      <a:pt x="12" y="894"/>
                      <a:pt x="21" y="894"/>
                      <a:pt x="27" y="888"/>
                    </a:cubicBezTo>
                    <a:lnTo>
                      <a:pt x="598" y="331"/>
                    </a:lnTo>
                    <a:lnTo>
                      <a:pt x="598" y="331"/>
                    </a:lnTo>
                    <a:cubicBezTo>
                      <a:pt x="707" y="226"/>
                      <a:pt x="793" y="150"/>
                      <a:pt x="866" y="101"/>
                    </a:cubicBezTo>
                    <a:cubicBezTo>
                      <a:pt x="903" y="76"/>
                      <a:pt x="936" y="58"/>
                      <a:pt x="968" y="47"/>
                    </a:cubicBezTo>
                    <a:cubicBezTo>
                      <a:pt x="999" y="35"/>
                      <a:pt x="1028" y="29"/>
                      <a:pt x="1057" y="29"/>
                    </a:cubicBezTo>
                    <a:cubicBezTo>
                      <a:pt x="1086" y="29"/>
                      <a:pt x="1115" y="35"/>
                      <a:pt x="1146" y="46"/>
                    </a:cubicBezTo>
                    <a:cubicBezTo>
                      <a:pt x="1192" y="62"/>
                      <a:pt x="1242" y="91"/>
                      <a:pt x="1300" y="132"/>
                    </a:cubicBezTo>
                    <a:cubicBezTo>
                      <a:pt x="1359" y="172"/>
                      <a:pt x="1425" y="225"/>
                      <a:pt x="1504" y="287"/>
                    </a:cubicBezTo>
                    <a:cubicBezTo>
                      <a:pt x="1510" y="292"/>
                      <a:pt x="1518" y="291"/>
                      <a:pt x="1524" y="285"/>
                    </a:cubicBezTo>
                    <a:cubicBezTo>
                      <a:pt x="1529" y="279"/>
                      <a:pt x="1528" y="269"/>
                      <a:pt x="1522" y="264"/>
                    </a:cubicBezTo>
                  </a:path>
                </a:pathLst>
              </a:custGeom>
              <a:solidFill>
                <a:srgbClr val="B2CE2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Freeform 10">
                <a:extLst>
                  <a:ext uri="{FF2B5EF4-FFF2-40B4-BE49-F238E27FC236}">
                    <a16:creationId xmlns:a16="http://schemas.microsoft.com/office/drawing/2014/main" id="{8D3BD77D-1A93-E64A-9C17-6A3B016DF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413" y="835952"/>
                <a:ext cx="201273" cy="127619"/>
              </a:xfrm>
              <a:custGeom>
                <a:avLst/>
                <a:gdLst>
                  <a:gd name="T0" fmla="*/ 1212 w 1217"/>
                  <a:gd name="T1" fmla="*/ 184 h 773"/>
                  <a:gd name="T2" fmla="*/ 1023 w 1217"/>
                  <a:gd name="T3" fmla="*/ 48 h 773"/>
                  <a:gd name="T4" fmla="*/ 884 w 1217"/>
                  <a:gd name="T5" fmla="*/ 0 h 773"/>
                  <a:gd name="T6" fmla="*/ 801 w 1217"/>
                  <a:gd name="T7" fmla="*/ 20 h 773"/>
                  <a:gd name="T8" fmla="*/ 653 w 1217"/>
                  <a:gd name="T9" fmla="*/ 124 h 773"/>
                  <a:gd name="T10" fmla="*/ 440 w 1217"/>
                  <a:gd name="T11" fmla="*/ 324 h 773"/>
                  <a:gd name="T12" fmla="*/ 440 w 1217"/>
                  <a:gd name="T13" fmla="*/ 324 h 773"/>
                  <a:gd name="T14" fmla="*/ 3 w 1217"/>
                  <a:gd name="T15" fmla="*/ 760 h 773"/>
                  <a:gd name="T16" fmla="*/ 3 w 1217"/>
                  <a:gd name="T17" fmla="*/ 770 h 773"/>
                  <a:gd name="T18" fmla="*/ 12 w 1217"/>
                  <a:gd name="T19" fmla="*/ 770 h 773"/>
                  <a:gd name="T20" fmla="*/ 449 w 1217"/>
                  <a:gd name="T21" fmla="*/ 333 h 773"/>
                  <a:gd name="T22" fmla="*/ 716 w 1217"/>
                  <a:gd name="T23" fmla="*/ 90 h 773"/>
                  <a:gd name="T24" fmla="*/ 806 w 1217"/>
                  <a:gd name="T25" fmla="*/ 32 h 773"/>
                  <a:gd name="T26" fmla="*/ 884 w 1217"/>
                  <a:gd name="T27" fmla="*/ 13 h 773"/>
                  <a:gd name="T28" fmla="*/ 1016 w 1217"/>
                  <a:gd name="T29" fmla="*/ 60 h 773"/>
                  <a:gd name="T30" fmla="*/ 1204 w 1217"/>
                  <a:gd name="T31" fmla="*/ 195 h 773"/>
                  <a:gd name="T32" fmla="*/ 1214 w 1217"/>
                  <a:gd name="T33" fmla="*/ 194 h 773"/>
                  <a:gd name="T34" fmla="*/ 1212 w 1217"/>
                  <a:gd name="T35" fmla="*/ 184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1212" y="184"/>
                    </a:moveTo>
                    <a:cubicBezTo>
                      <a:pt x="1135" y="125"/>
                      <a:pt x="1075" y="80"/>
                      <a:pt x="1023" y="48"/>
                    </a:cubicBezTo>
                    <a:cubicBezTo>
                      <a:pt x="971" y="17"/>
                      <a:pt x="928" y="0"/>
                      <a:pt x="884" y="0"/>
                    </a:cubicBezTo>
                    <a:cubicBezTo>
                      <a:pt x="856" y="0"/>
                      <a:pt x="829" y="7"/>
                      <a:pt x="801" y="20"/>
                    </a:cubicBezTo>
                    <a:cubicBezTo>
                      <a:pt x="758" y="39"/>
                      <a:pt x="711" y="74"/>
                      <a:pt x="653" y="124"/>
                    </a:cubicBezTo>
                    <a:cubicBezTo>
                      <a:pt x="595" y="175"/>
                      <a:pt x="527" y="241"/>
                      <a:pt x="440" y="324"/>
                    </a:cubicBezTo>
                    <a:lnTo>
                      <a:pt x="440" y="324"/>
                    </a:lnTo>
                    <a:lnTo>
                      <a:pt x="3" y="760"/>
                    </a:lnTo>
                    <a:cubicBezTo>
                      <a:pt x="0" y="763"/>
                      <a:pt x="0" y="767"/>
                      <a:pt x="3" y="770"/>
                    </a:cubicBezTo>
                    <a:cubicBezTo>
                      <a:pt x="5" y="772"/>
                      <a:pt x="10" y="772"/>
                      <a:pt x="12" y="770"/>
                    </a:cubicBezTo>
                    <a:lnTo>
                      <a:pt x="449" y="333"/>
                    </a:lnTo>
                    <a:cubicBezTo>
                      <a:pt x="565" y="223"/>
                      <a:pt x="648" y="142"/>
                      <a:pt x="716" y="90"/>
                    </a:cubicBezTo>
                    <a:cubicBezTo>
                      <a:pt x="749" y="63"/>
                      <a:pt x="778" y="44"/>
                      <a:pt x="806" y="32"/>
                    </a:cubicBezTo>
                    <a:cubicBezTo>
                      <a:pt x="833" y="19"/>
                      <a:pt x="859" y="13"/>
                      <a:pt x="884" y="13"/>
                    </a:cubicBezTo>
                    <a:cubicBezTo>
                      <a:pt x="924" y="13"/>
                      <a:pt x="966" y="29"/>
                      <a:pt x="1016" y="60"/>
                    </a:cubicBezTo>
                    <a:cubicBezTo>
                      <a:pt x="1067" y="90"/>
                      <a:pt x="1127" y="136"/>
                      <a:pt x="1204" y="195"/>
                    </a:cubicBezTo>
                    <a:cubicBezTo>
                      <a:pt x="1207" y="197"/>
                      <a:pt x="1211" y="197"/>
                      <a:pt x="1214" y="194"/>
                    </a:cubicBezTo>
                    <a:cubicBezTo>
                      <a:pt x="1216" y="191"/>
                      <a:pt x="1215" y="187"/>
                      <a:pt x="1212" y="184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Freeform 11">
                <a:extLst>
                  <a:ext uri="{FF2B5EF4-FFF2-40B4-BE49-F238E27FC236}">
                    <a16:creationId xmlns:a16="http://schemas.microsoft.com/office/drawing/2014/main" id="{0D54B55E-B871-E543-9108-B4A576574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093" y="858559"/>
                <a:ext cx="72925" cy="48130"/>
              </a:xfrm>
              <a:custGeom>
                <a:avLst/>
                <a:gdLst>
                  <a:gd name="T0" fmla="*/ 49 w 442"/>
                  <a:gd name="T1" fmla="*/ 200 h 293"/>
                  <a:gd name="T2" fmla="*/ 0 w 442"/>
                  <a:gd name="T3" fmla="*/ 156 h 293"/>
                  <a:gd name="T4" fmla="*/ 45 w 442"/>
                  <a:gd name="T5" fmla="*/ 107 h 293"/>
                  <a:gd name="T6" fmla="*/ 392 w 442"/>
                  <a:gd name="T7" fmla="*/ 91 h 293"/>
                  <a:gd name="T8" fmla="*/ 441 w 442"/>
                  <a:gd name="T9" fmla="*/ 137 h 293"/>
                  <a:gd name="T10" fmla="*/ 396 w 442"/>
                  <a:gd name="T11" fmla="*/ 185 h 293"/>
                  <a:gd name="T12" fmla="*/ 49 w 442"/>
                  <a:gd name="T13" fmla="*/ 20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2" h="293">
                    <a:moveTo>
                      <a:pt x="49" y="200"/>
                    </a:moveTo>
                    <a:lnTo>
                      <a:pt x="0" y="156"/>
                    </a:lnTo>
                    <a:lnTo>
                      <a:pt x="45" y="107"/>
                    </a:lnTo>
                    <a:cubicBezTo>
                      <a:pt x="136" y="7"/>
                      <a:pt x="292" y="0"/>
                      <a:pt x="392" y="91"/>
                    </a:cubicBezTo>
                    <a:lnTo>
                      <a:pt x="441" y="137"/>
                    </a:lnTo>
                    <a:lnTo>
                      <a:pt x="396" y="185"/>
                    </a:lnTo>
                    <a:cubicBezTo>
                      <a:pt x="304" y="285"/>
                      <a:pt x="149" y="292"/>
                      <a:pt x="49" y="200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30A711A7-A169-8A41-85E2-EA40E3A3BB5F}"/>
                </a:ext>
              </a:extLst>
            </p:cNvPr>
            <p:cNvGrpSpPr/>
            <p:nvPr/>
          </p:nvGrpSpPr>
          <p:grpSpPr>
            <a:xfrm>
              <a:off x="2028870" y="1197389"/>
              <a:ext cx="3479247" cy="365353"/>
              <a:chOff x="2028870" y="696666"/>
              <a:chExt cx="3479247" cy="365353"/>
            </a:xfrm>
            <a:solidFill>
              <a:schemeClr val="bg1">
                <a:lumMod val="50000"/>
              </a:schemeClr>
            </a:solidFill>
          </p:grpSpPr>
          <p:sp>
            <p:nvSpPr>
              <p:cNvPr id="44" name="Freeform 12">
                <a:extLst>
                  <a:ext uri="{FF2B5EF4-FFF2-40B4-BE49-F238E27FC236}">
                    <a16:creationId xmlns:a16="http://schemas.microsoft.com/office/drawing/2014/main" id="{7E68957D-5A1D-C948-A5BC-A3888C640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870" y="697395"/>
                <a:ext cx="358061" cy="363166"/>
              </a:xfrm>
              <a:custGeom>
                <a:avLst/>
                <a:gdLst>
                  <a:gd name="T0" fmla="*/ 121 w 2165"/>
                  <a:gd name="T1" fmla="*/ 758 h 2195"/>
                  <a:gd name="T2" fmla="*/ 0 w 2165"/>
                  <a:gd name="T3" fmla="*/ 758 h 2195"/>
                  <a:gd name="T4" fmla="*/ 0 w 2165"/>
                  <a:gd name="T5" fmla="*/ 582 h 2195"/>
                  <a:gd name="T6" fmla="*/ 463 w 2165"/>
                  <a:gd name="T7" fmla="*/ 582 h 2195"/>
                  <a:gd name="T8" fmla="*/ 463 w 2165"/>
                  <a:gd name="T9" fmla="*/ 1982 h 2195"/>
                  <a:gd name="T10" fmla="*/ 620 w 2165"/>
                  <a:gd name="T11" fmla="*/ 1982 h 2195"/>
                  <a:gd name="T12" fmla="*/ 620 w 2165"/>
                  <a:gd name="T13" fmla="*/ 2157 h 2195"/>
                  <a:gd name="T14" fmla="*/ 121 w 2165"/>
                  <a:gd name="T15" fmla="*/ 2157 h 2195"/>
                  <a:gd name="T16" fmla="*/ 121 w 2165"/>
                  <a:gd name="T17" fmla="*/ 758 h 2195"/>
                  <a:gd name="T18" fmla="*/ 467 w 2165"/>
                  <a:gd name="T19" fmla="*/ 51 h 2195"/>
                  <a:gd name="T20" fmla="*/ 467 w 2165"/>
                  <a:gd name="T21" fmla="*/ 462 h 2195"/>
                  <a:gd name="T22" fmla="*/ 121 w 2165"/>
                  <a:gd name="T23" fmla="*/ 462 h 2195"/>
                  <a:gd name="T24" fmla="*/ 121 w 2165"/>
                  <a:gd name="T25" fmla="*/ 51 h 2195"/>
                  <a:gd name="T26" fmla="*/ 467 w 2165"/>
                  <a:gd name="T27" fmla="*/ 51 h 2195"/>
                  <a:gd name="T28" fmla="*/ 629 w 2165"/>
                  <a:gd name="T29" fmla="*/ 906 h 2195"/>
                  <a:gd name="T30" fmla="*/ 629 w 2165"/>
                  <a:gd name="T31" fmla="*/ 730 h 2195"/>
                  <a:gd name="T32" fmla="*/ 1221 w 2165"/>
                  <a:gd name="T33" fmla="*/ 730 h 2195"/>
                  <a:gd name="T34" fmla="*/ 1221 w 2165"/>
                  <a:gd name="T35" fmla="*/ 0 h 2195"/>
                  <a:gd name="T36" fmla="*/ 1563 w 2165"/>
                  <a:gd name="T37" fmla="*/ 0 h 2195"/>
                  <a:gd name="T38" fmla="*/ 1563 w 2165"/>
                  <a:gd name="T39" fmla="*/ 730 h 2195"/>
                  <a:gd name="T40" fmla="*/ 2164 w 2165"/>
                  <a:gd name="T41" fmla="*/ 730 h 2195"/>
                  <a:gd name="T42" fmla="*/ 2164 w 2165"/>
                  <a:gd name="T43" fmla="*/ 906 h 2195"/>
                  <a:gd name="T44" fmla="*/ 1563 w 2165"/>
                  <a:gd name="T45" fmla="*/ 906 h 2195"/>
                  <a:gd name="T46" fmla="*/ 1563 w 2165"/>
                  <a:gd name="T47" fmla="*/ 2194 h 2195"/>
                  <a:gd name="T48" fmla="*/ 1221 w 2165"/>
                  <a:gd name="T49" fmla="*/ 2194 h 2195"/>
                  <a:gd name="T50" fmla="*/ 1221 w 2165"/>
                  <a:gd name="T51" fmla="*/ 906 h 2195"/>
                  <a:gd name="T52" fmla="*/ 629 w 2165"/>
                  <a:gd name="T53" fmla="*/ 906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65" h="2195">
                    <a:moveTo>
                      <a:pt x="121" y="758"/>
                    </a:moveTo>
                    <a:lnTo>
                      <a:pt x="0" y="758"/>
                    </a:lnTo>
                    <a:lnTo>
                      <a:pt x="0" y="582"/>
                    </a:lnTo>
                    <a:lnTo>
                      <a:pt x="463" y="582"/>
                    </a:lnTo>
                    <a:lnTo>
                      <a:pt x="463" y="1982"/>
                    </a:lnTo>
                    <a:lnTo>
                      <a:pt x="620" y="1982"/>
                    </a:lnTo>
                    <a:lnTo>
                      <a:pt x="620" y="2157"/>
                    </a:lnTo>
                    <a:lnTo>
                      <a:pt x="121" y="2157"/>
                    </a:lnTo>
                    <a:lnTo>
                      <a:pt x="121" y="758"/>
                    </a:lnTo>
                    <a:close/>
                    <a:moveTo>
                      <a:pt x="467" y="51"/>
                    </a:moveTo>
                    <a:lnTo>
                      <a:pt x="467" y="462"/>
                    </a:lnTo>
                    <a:lnTo>
                      <a:pt x="121" y="462"/>
                    </a:lnTo>
                    <a:lnTo>
                      <a:pt x="121" y="51"/>
                    </a:lnTo>
                    <a:lnTo>
                      <a:pt x="467" y="51"/>
                    </a:lnTo>
                    <a:close/>
                    <a:moveTo>
                      <a:pt x="629" y="906"/>
                    </a:moveTo>
                    <a:lnTo>
                      <a:pt x="629" y="730"/>
                    </a:lnTo>
                    <a:lnTo>
                      <a:pt x="1221" y="730"/>
                    </a:lnTo>
                    <a:lnTo>
                      <a:pt x="1221" y="0"/>
                    </a:lnTo>
                    <a:lnTo>
                      <a:pt x="1563" y="0"/>
                    </a:lnTo>
                    <a:lnTo>
                      <a:pt x="1563" y="730"/>
                    </a:lnTo>
                    <a:lnTo>
                      <a:pt x="2164" y="730"/>
                    </a:lnTo>
                    <a:lnTo>
                      <a:pt x="2164" y="906"/>
                    </a:lnTo>
                    <a:lnTo>
                      <a:pt x="1563" y="906"/>
                    </a:lnTo>
                    <a:lnTo>
                      <a:pt x="1563" y="2194"/>
                    </a:lnTo>
                    <a:lnTo>
                      <a:pt x="1221" y="2194"/>
                    </a:lnTo>
                    <a:lnTo>
                      <a:pt x="1221" y="906"/>
                    </a:lnTo>
                    <a:lnTo>
                      <a:pt x="629" y="90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Freeform 13">
                <a:extLst>
                  <a:ext uri="{FF2B5EF4-FFF2-40B4-BE49-F238E27FC236}">
                    <a16:creationId xmlns:a16="http://schemas.microsoft.com/office/drawing/2014/main" id="{01D55A2B-04CF-B043-87D1-43B606D23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7559" y="696666"/>
                <a:ext cx="357332" cy="364625"/>
              </a:xfrm>
              <a:custGeom>
                <a:avLst/>
                <a:gdLst>
                  <a:gd name="T0" fmla="*/ 583 w 2161"/>
                  <a:gd name="T1" fmla="*/ 379 h 2205"/>
                  <a:gd name="T2" fmla="*/ 458 w 2161"/>
                  <a:gd name="T3" fmla="*/ 287 h 2205"/>
                  <a:gd name="T4" fmla="*/ 0 w 2161"/>
                  <a:gd name="T5" fmla="*/ 379 h 2205"/>
                  <a:gd name="T6" fmla="*/ 662 w 2161"/>
                  <a:gd name="T7" fmla="*/ 0 h 2205"/>
                  <a:gd name="T8" fmla="*/ 1087 w 2161"/>
                  <a:gd name="T9" fmla="*/ 111 h 2205"/>
                  <a:gd name="T10" fmla="*/ 916 w 2161"/>
                  <a:gd name="T11" fmla="*/ 287 h 2205"/>
                  <a:gd name="T12" fmla="*/ 675 w 2161"/>
                  <a:gd name="T13" fmla="*/ 1691 h 2205"/>
                  <a:gd name="T14" fmla="*/ 1545 w 2161"/>
                  <a:gd name="T15" fmla="*/ 1811 h 2205"/>
                  <a:gd name="T16" fmla="*/ 1887 w 2161"/>
                  <a:gd name="T17" fmla="*/ 1691 h 2205"/>
                  <a:gd name="T18" fmla="*/ 2150 w 2161"/>
                  <a:gd name="T19" fmla="*/ 1811 h 2205"/>
                  <a:gd name="T20" fmla="*/ 1887 w 2161"/>
                  <a:gd name="T21" fmla="*/ 1987 h 2205"/>
                  <a:gd name="T22" fmla="*/ 1545 w 2161"/>
                  <a:gd name="T23" fmla="*/ 2204 h 2205"/>
                  <a:gd name="T24" fmla="*/ 652 w 2161"/>
                  <a:gd name="T25" fmla="*/ 1987 h 2205"/>
                  <a:gd name="T26" fmla="*/ 144 w 2161"/>
                  <a:gd name="T27" fmla="*/ 2204 h 2205"/>
                  <a:gd name="T28" fmla="*/ 47 w 2161"/>
                  <a:gd name="T29" fmla="*/ 1987 h 2205"/>
                  <a:gd name="T30" fmla="*/ 333 w 2161"/>
                  <a:gd name="T31" fmla="*/ 1811 h 2205"/>
                  <a:gd name="T32" fmla="*/ 675 w 2161"/>
                  <a:gd name="T33" fmla="*/ 1691 h 2205"/>
                  <a:gd name="T34" fmla="*/ 2100 w 2161"/>
                  <a:gd name="T35" fmla="*/ 448 h 2205"/>
                  <a:gd name="T36" fmla="*/ 102 w 2161"/>
                  <a:gd name="T37" fmla="*/ 1622 h 2205"/>
                  <a:gd name="T38" fmla="*/ 444 w 2161"/>
                  <a:gd name="T39" fmla="*/ 781 h 2205"/>
                  <a:gd name="T40" fmla="*/ 1757 w 2161"/>
                  <a:gd name="T41" fmla="*/ 624 h 2205"/>
                  <a:gd name="T42" fmla="*/ 444 w 2161"/>
                  <a:gd name="T43" fmla="*/ 781 h 2205"/>
                  <a:gd name="T44" fmla="*/ 1757 w 2161"/>
                  <a:gd name="T45" fmla="*/ 1114 h 2205"/>
                  <a:gd name="T46" fmla="*/ 444 w 2161"/>
                  <a:gd name="T47" fmla="*/ 957 h 2205"/>
                  <a:gd name="T48" fmla="*/ 1757 w 2161"/>
                  <a:gd name="T49" fmla="*/ 1289 h 2205"/>
                  <a:gd name="T50" fmla="*/ 444 w 2161"/>
                  <a:gd name="T51" fmla="*/ 1446 h 2205"/>
                  <a:gd name="T52" fmla="*/ 1757 w 2161"/>
                  <a:gd name="T53" fmla="*/ 1289 h 2205"/>
                  <a:gd name="T54" fmla="*/ 1041 w 2161"/>
                  <a:gd name="T55" fmla="*/ 379 h 2205"/>
                  <a:gd name="T56" fmla="*/ 1688 w 2161"/>
                  <a:gd name="T57" fmla="*/ 0 h 2205"/>
                  <a:gd name="T58" fmla="*/ 2160 w 2161"/>
                  <a:gd name="T59" fmla="*/ 111 h 2205"/>
                  <a:gd name="T60" fmla="*/ 1998 w 2161"/>
                  <a:gd name="T61" fmla="*/ 287 h 2205"/>
                  <a:gd name="T62" fmla="*/ 1646 w 2161"/>
                  <a:gd name="T63" fmla="*/ 379 h 2205"/>
                  <a:gd name="T64" fmla="*/ 1508 w 2161"/>
                  <a:gd name="T65" fmla="*/ 287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61" h="2205">
                    <a:moveTo>
                      <a:pt x="990" y="379"/>
                    </a:moveTo>
                    <a:lnTo>
                      <a:pt x="583" y="379"/>
                    </a:lnTo>
                    <a:lnTo>
                      <a:pt x="509" y="287"/>
                    </a:lnTo>
                    <a:lnTo>
                      <a:pt x="458" y="287"/>
                    </a:lnTo>
                    <a:lnTo>
                      <a:pt x="389" y="379"/>
                    </a:lnTo>
                    <a:lnTo>
                      <a:pt x="0" y="379"/>
                    </a:lnTo>
                    <a:lnTo>
                      <a:pt x="273" y="0"/>
                    </a:lnTo>
                    <a:lnTo>
                      <a:pt x="662" y="0"/>
                    </a:lnTo>
                    <a:lnTo>
                      <a:pt x="592" y="111"/>
                    </a:lnTo>
                    <a:lnTo>
                      <a:pt x="1087" y="111"/>
                    </a:lnTo>
                    <a:lnTo>
                      <a:pt x="1087" y="287"/>
                    </a:lnTo>
                    <a:lnTo>
                      <a:pt x="916" y="287"/>
                    </a:lnTo>
                    <a:lnTo>
                      <a:pt x="990" y="379"/>
                    </a:lnTo>
                    <a:close/>
                    <a:moveTo>
                      <a:pt x="675" y="1691"/>
                    </a:moveTo>
                    <a:lnTo>
                      <a:pt x="675" y="1811"/>
                    </a:lnTo>
                    <a:lnTo>
                      <a:pt x="1545" y="1811"/>
                    </a:lnTo>
                    <a:lnTo>
                      <a:pt x="1545" y="1691"/>
                    </a:lnTo>
                    <a:lnTo>
                      <a:pt x="1887" y="1691"/>
                    </a:lnTo>
                    <a:lnTo>
                      <a:pt x="1887" y="1811"/>
                    </a:lnTo>
                    <a:lnTo>
                      <a:pt x="2150" y="1811"/>
                    </a:lnTo>
                    <a:lnTo>
                      <a:pt x="2150" y="1987"/>
                    </a:lnTo>
                    <a:lnTo>
                      <a:pt x="1887" y="1987"/>
                    </a:lnTo>
                    <a:lnTo>
                      <a:pt x="1887" y="2204"/>
                    </a:lnTo>
                    <a:lnTo>
                      <a:pt x="1545" y="2204"/>
                    </a:lnTo>
                    <a:lnTo>
                      <a:pt x="1545" y="1987"/>
                    </a:lnTo>
                    <a:lnTo>
                      <a:pt x="652" y="1987"/>
                    </a:lnTo>
                    <a:lnTo>
                      <a:pt x="527" y="2204"/>
                    </a:lnTo>
                    <a:lnTo>
                      <a:pt x="144" y="2204"/>
                    </a:lnTo>
                    <a:lnTo>
                      <a:pt x="282" y="1987"/>
                    </a:lnTo>
                    <a:lnTo>
                      <a:pt x="47" y="1987"/>
                    </a:lnTo>
                    <a:lnTo>
                      <a:pt x="47" y="1811"/>
                    </a:lnTo>
                    <a:lnTo>
                      <a:pt x="333" y="1811"/>
                    </a:lnTo>
                    <a:lnTo>
                      <a:pt x="333" y="1691"/>
                    </a:lnTo>
                    <a:lnTo>
                      <a:pt x="675" y="1691"/>
                    </a:lnTo>
                    <a:close/>
                    <a:moveTo>
                      <a:pt x="102" y="448"/>
                    </a:moveTo>
                    <a:lnTo>
                      <a:pt x="2100" y="448"/>
                    </a:lnTo>
                    <a:lnTo>
                      <a:pt x="2100" y="1622"/>
                    </a:lnTo>
                    <a:lnTo>
                      <a:pt x="102" y="1622"/>
                    </a:lnTo>
                    <a:lnTo>
                      <a:pt x="102" y="448"/>
                    </a:lnTo>
                    <a:close/>
                    <a:moveTo>
                      <a:pt x="444" y="781"/>
                    </a:moveTo>
                    <a:lnTo>
                      <a:pt x="1757" y="781"/>
                    </a:lnTo>
                    <a:lnTo>
                      <a:pt x="1757" y="624"/>
                    </a:lnTo>
                    <a:lnTo>
                      <a:pt x="444" y="624"/>
                    </a:lnTo>
                    <a:lnTo>
                      <a:pt x="444" y="781"/>
                    </a:lnTo>
                    <a:close/>
                    <a:moveTo>
                      <a:pt x="444" y="1114"/>
                    </a:moveTo>
                    <a:lnTo>
                      <a:pt x="1757" y="1114"/>
                    </a:lnTo>
                    <a:lnTo>
                      <a:pt x="1757" y="957"/>
                    </a:lnTo>
                    <a:lnTo>
                      <a:pt x="444" y="957"/>
                    </a:lnTo>
                    <a:lnTo>
                      <a:pt x="444" y="1114"/>
                    </a:lnTo>
                    <a:close/>
                    <a:moveTo>
                      <a:pt x="1757" y="1289"/>
                    </a:moveTo>
                    <a:lnTo>
                      <a:pt x="444" y="1289"/>
                    </a:lnTo>
                    <a:lnTo>
                      <a:pt x="444" y="1446"/>
                    </a:lnTo>
                    <a:lnTo>
                      <a:pt x="1757" y="1446"/>
                    </a:lnTo>
                    <a:lnTo>
                      <a:pt x="1757" y="1289"/>
                    </a:lnTo>
                    <a:close/>
                    <a:moveTo>
                      <a:pt x="1434" y="379"/>
                    </a:moveTo>
                    <a:lnTo>
                      <a:pt x="1041" y="379"/>
                    </a:lnTo>
                    <a:lnTo>
                      <a:pt x="1313" y="0"/>
                    </a:lnTo>
                    <a:lnTo>
                      <a:pt x="1688" y="0"/>
                    </a:lnTo>
                    <a:lnTo>
                      <a:pt x="1609" y="111"/>
                    </a:lnTo>
                    <a:lnTo>
                      <a:pt x="2160" y="111"/>
                    </a:lnTo>
                    <a:lnTo>
                      <a:pt x="2160" y="287"/>
                    </a:lnTo>
                    <a:lnTo>
                      <a:pt x="1998" y="287"/>
                    </a:lnTo>
                    <a:lnTo>
                      <a:pt x="2072" y="379"/>
                    </a:lnTo>
                    <a:lnTo>
                      <a:pt x="1646" y="379"/>
                    </a:lnTo>
                    <a:lnTo>
                      <a:pt x="1572" y="287"/>
                    </a:lnTo>
                    <a:lnTo>
                      <a:pt x="1508" y="287"/>
                    </a:lnTo>
                    <a:lnTo>
                      <a:pt x="1434" y="379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Freeform 14">
                <a:extLst>
                  <a:ext uri="{FF2B5EF4-FFF2-40B4-BE49-F238E27FC236}">
                    <a16:creationId xmlns:a16="http://schemas.microsoft.com/office/drawing/2014/main" id="{FF056158-A321-8F40-B663-2CF3304CA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0625" y="696666"/>
                <a:ext cx="363895" cy="364625"/>
              </a:xfrm>
              <a:custGeom>
                <a:avLst/>
                <a:gdLst>
                  <a:gd name="T0" fmla="*/ 0 w 2202"/>
                  <a:gd name="T1" fmla="*/ 2019 h 2205"/>
                  <a:gd name="T2" fmla="*/ 74 w 2202"/>
                  <a:gd name="T3" fmla="*/ 661 h 2205"/>
                  <a:gd name="T4" fmla="*/ 310 w 2202"/>
                  <a:gd name="T5" fmla="*/ 661 h 2205"/>
                  <a:gd name="T6" fmla="*/ 231 w 2202"/>
                  <a:gd name="T7" fmla="*/ 2019 h 2205"/>
                  <a:gd name="T8" fmla="*/ 0 w 2202"/>
                  <a:gd name="T9" fmla="*/ 2019 h 2205"/>
                  <a:gd name="T10" fmla="*/ 939 w 2202"/>
                  <a:gd name="T11" fmla="*/ 439 h 2205"/>
                  <a:gd name="T12" fmla="*/ 684 w 2202"/>
                  <a:gd name="T13" fmla="*/ 439 h 2205"/>
                  <a:gd name="T14" fmla="*/ 684 w 2202"/>
                  <a:gd name="T15" fmla="*/ 2204 h 2205"/>
                  <a:gd name="T16" fmla="*/ 361 w 2202"/>
                  <a:gd name="T17" fmla="*/ 2204 h 2205"/>
                  <a:gd name="T18" fmla="*/ 361 w 2202"/>
                  <a:gd name="T19" fmla="*/ 439 h 2205"/>
                  <a:gd name="T20" fmla="*/ 28 w 2202"/>
                  <a:gd name="T21" fmla="*/ 439 h 2205"/>
                  <a:gd name="T22" fmla="*/ 28 w 2202"/>
                  <a:gd name="T23" fmla="*/ 264 h 2205"/>
                  <a:gd name="T24" fmla="*/ 361 w 2202"/>
                  <a:gd name="T25" fmla="*/ 264 h 2205"/>
                  <a:gd name="T26" fmla="*/ 361 w 2202"/>
                  <a:gd name="T27" fmla="*/ 0 h 2205"/>
                  <a:gd name="T28" fmla="*/ 684 w 2202"/>
                  <a:gd name="T29" fmla="*/ 0 h 2205"/>
                  <a:gd name="T30" fmla="*/ 684 w 2202"/>
                  <a:gd name="T31" fmla="*/ 264 h 2205"/>
                  <a:gd name="T32" fmla="*/ 939 w 2202"/>
                  <a:gd name="T33" fmla="*/ 264 h 2205"/>
                  <a:gd name="T34" fmla="*/ 939 w 2202"/>
                  <a:gd name="T35" fmla="*/ 439 h 2205"/>
                  <a:gd name="T36" fmla="*/ 939 w 2202"/>
                  <a:gd name="T37" fmla="*/ 661 h 2205"/>
                  <a:gd name="T38" fmla="*/ 939 w 2202"/>
                  <a:gd name="T39" fmla="*/ 1686 h 2205"/>
                  <a:gd name="T40" fmla="*/ 735 w 2202"/>
                  <a:gd name="T41" fmla="*/ 1686 h 2205"/>
                  <a:gd name="T42" fmla="*/ 735 w 2202"/>
                  <a:gd name="T43" fmla="*/ 661 h 2205"/>
                  <a:gd name="T44" fmla="*/ 939 w 2202"/>
                  <a:gd name="T45" fmla="*/ 661 h 2205"/>
                  <a:gd name="T46" fmla="*/ 1022 w 2202"/>
                  <a:gd name="T47" fmla="*/ 1594 h 2205"/>
                  <a:gd name="T48" fmla="*/ 1022 w 2202"/>
                  <a:gd name="T49" fmla="*/ 42 h 2205"/>
                  <a:gd name="T50" fmla="*/ 1988 w 2202"/>
                  <a:gd name="T51" fmla="*/ 42 h 2205"/>
                  <a:gd name="T52" fmla="*/ 1988 w 2202"/>
                  <a:gd name="T53" fmla="*/ 2033 h 2205"/>
                  <a:gd name="T54" fmla="*/ 2201 w 2202"/>
                  <a:gd name="T55" fmla="*/ 2033 h 2205"/>
                  <a:gd name="T56" fmla="*/ 2201 w 2202"/>
                  <a:gd name="T57" fmla="*/ 2204 h 2205"/>
                  <a:gd name="T58" fmla="*/ 1665 w 2202"/>
                  <a:gd name="T59" fmla="*/ 2204 h 2205"/>
                  <a:gd name="T60" fmla="*/ 1665 w 2202"/>
                  <a:gd name="T61" fmla="*/ 217 h 2205"/>
                  <a:gd name="T62" fmla="*/ 1355 w 2202"/>
                  <a:gd name="T63" fmla="*/ 217 h 2205"/>
                  <a:gd name="T64" fmla="*/ 1355 w 2202"/>
                  <a:gd name="T65" fmla="*/ 1668 h 2205"/>
                  <a:gd name="T66" fmla="*/ 1198 w 2202"/>
                  <a:gd name="T67" fmla="*/ 2204 h 2205"/>
                  <a:gd name="T68" fmla="*/ 851 w 2202"/>
                  <a:gd name="T69" fmla="*/ 2204 h 2205"/>
                  <a:gd name="T70" fmla="*/ 1022 w 2202"/>
                  <a:gd name="T71" fmla="*/ 1594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202" h="2205">
                    <a:moveTo>
                      <a:pt x="0" y="2019"/>
                    </a:moveTo>
                    <a:lnTo>
                      <a:pt x="74" y="661"/>
                    </a:lnTo>
                    <a:lnTo>
                      <a:pt x="310" y="661"/>
                    </a:lnTo>
                    <a:lnTo>
                      <a:pt x="231" y="2019"/>
                    </a:lnTo>
                    <a:lnTo>
                      <a:pt x="0" y="2019"/>
                    </a:lnTo>
                    <a:close/>
                    <a:moveTo>
                      <a:pt x="939" y="439"/>
                    </a:moveTo>
                    <a:lnTo>
                      <a:pt x="684" y="439"/>
                    </a:lnTo>
                    <a:lnTo>
                      <a:pt x="684" y="2204"/>
                    </a:lnTo>
                    <a:lnTo>
                      <a:pt x="361" y="2204"/>
                    </a:lnTo>
                    <a:lnTo>
                      <a:pt x="361" y="439"/>
                    </a:lnTo>
                    <a:lnTo>
                      <a:pt x="28" y="439"/>
                    </a:lnTo>
                    <a:lnTo>
                      <a:pt x="28" y="264"/>
                    </a:lnTo>
                    <a:lnTo>
                      <a:pt x="361" y="264"/>
                    </a:lnTo>
                    <a:lnTo>
                      <a:pt x="361" y="0"/>
                    </a:lnTo>
                    <a:lnTo>
                      <a:pt x="684" y="0"/>
                    </a:lnTo>
                    <a:lnTo>
                      <a:pt x="684" y="264"/>
                    </a:lnTo>
                    <a:lnTo>
                      <a:pt x="939" y="264"/>
                    </a:lnTo>
                    <a:lnTo>
                      <a:pt x="939" y="439"/>
                    </a:lnTo>
                    <a:close/>
                    <a:moveTo>
                      <a:pt x="939" y="661"/>
                    </a:moveTo>
                    <a:lnTo>
                      <a:pt x="939" y="1686"/>
                    </a:lnTo>
                    <a:lnTo>
                      <a:pt x="735" y="1686"/>
                    </a:lnTo>
                    <a:lnTo>
                      <a:pt x="735" y="661"/>
                    </a:lnTo>
                    <a:lnTo>
                      <a:pt x="939" y="661"/>
                    </a:lnTo>
                    <a:close/>
                    <a:moveTo>
                      <a:pt x="1022" y="1594"/>
                    </a:moveTo>
                    <a:lnTo>
                      <a:pt x="1022" y="42"/>
                    </a:lnTo>
                    <a:lnTo>
                      <a:pt x="1988" y="42"/>
                    </a:lnTo>
                    <a:lnTo>
                      <a:pt x="1988" y="2033"/>
                    </a:lnTo>
                    <a:lnTo>
                      <a:pt x="2201" y="2033"/>
                    </a:lnTo>
                    <a:lnTo>
                      <a:pt x="2201" y="2204"/>
                    </a:lnTo>
                    <a:lnTo>
                      <a:pt x="1665" y="2204"/>
                    </a:lnTo>
                    <a:lnTo>
                      <a:pt x="1665" y="217"/>
                    </a:lnTo>
                    <a:lnTo>
                      <a:pt x="1355" y="217"/>
                    </a:lnTo>
                    <a:lnTo>
                      <a:pt x="1355" y="1668"/>
                    </a:lnTo>
                    <a:lnTo>
                      <a:pt x="1198" y="2204"/>
                    </a:lnTo>
                    <a:lnTo>
                      <a:pt x="851" y="2204"/>
                    </a:lnTo>
                    <a:lnTo>
                      <a:pt x="1022" y="1594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Freeform 15">
                <a:extLst>
                  <a:ext uri="{FF2B5EF4-FFF2-40B4-BE49-F238E27FC236}">
                    <a16:creationId xmlns:a16="http://schemas.microsoft.com/office/drawing/2014/main" id="{9C184C5C-D7DA-A74D-B56E-C97972D2E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2441" y="703958"/>
                <a:ext cx="339830" cy="358061"/>
              </a:xfrm>
              <a:custGeom>
                <a:avLst/>
                <a:gdLst>
                  <a:gd name="T0" fmla="*/ 1747 w 2053"/>
                  <a:gd name="T1" fmla="*/ 1982 h 2163"/>
                  <a:gd name="T2" fmla="*/ 1747 w 2053"/>
                  <a:gd name="T3" fmla="*/ 175 h 2163"/>
                  <a:gd name="T4" fmla="*/ 305 w 2053"/>
                  <a:gd name="T5" fmla="*/ 175 h 2163"/>
                  <a:gd name="T6" fmla="*/ 305 w 2053"/>
                  <a:gd name="T7" fmla="*/ 2162 h 2163"/>
                  <a:gd name="T8" fmla="*/ 0 w 2053"/>
                  <a:gd name="T9" fmla="*/ 2162 h 2163"/>
                  <a:gd name="T10" fmla="*/ 0 w 2053"/>
                  <a:gd name="T11" fmla="*/ 0 h 2163"/>
                  <a:gd name="T12" fmla="*/ 2052 w 2053"/>
                  <a:gd name="T13" fmla="*/ 0 h 2163"/>
                  <a:gd name="T14" fmla="*/ 2052 w 2053"/>
                  <a:gd name="T15" fmla="*/ 2162 h 2163"/>
                  <a:gd name="T16" fmla="*/ 1590 w 2053"/>
                  <a:gd name="T17" fmla="*/ 2162 h 2163"/>
                  <a:gd name="T18" fmla="*/ 1590 w 2053"/>
                  <a:gd name="T19" fmla="*/ 1982 h 2163"/>
                  <a:gd name="T20" fmla="*/ 1747 w 2053"/>
                  <a:gd name="T21" fmla="*/ 1982 h 2163"/>
                  <a:gd name="T22" fmla="*/ 791 w 2053"/>
                  <a:gd name="T23" fmla="*/ 1127 h 2163"/>
                  <a:gd name="T24" fmla="*/ 1017 w 2053"/>
                  <a:gd name="T25" fmla="*/ 1843 h 2163"/>
                  <a:gd name="T26" fmla="*/ 786 w 2053"/>
                  <a:gd name="T27" fmla="*/ 1843 h 2163"/>
                  <a:gd name="T28" fmla="*/ 680 w 2053"/>
                  <a:gd name="T29" fmla="*/ 1501 h 2163"/>
                  <a:gd name="T30" fmla="*/ 573 w 2053"/>
                  <a:gd name="T31" fmla="*/ 1843 h 2163"/>
                  <a:gd name="T32" fmla="*/ 347 w 2053"/>
                  <a:gd name="T33" fmla="*/ 1843 h 2163"/>
                  <a:gd name="T34" fmla="*/ 564 w 2053"/>
                  <a:gd name="T35" fmla="*/ 1136 h 2163"/>
                  <a:gd name="T36" fmla="*/ 338 w 2053"/>
                  <a:gd name="T37" fmla="*/ 430 h 2163"/>
                  <a:gd name="T38" fmla="*/ 569 w 2053"/>
                  <a:gd name="T39" fmla="*/ 430 h 2163"/>
                  <a:gd name="T40" fmla="*/ 675 w 2053"/>
                  <a:gd name="T41" fmla="*/ 767 h 2163"/>
                  <a:gd name="T42" fmla="*/ 777 w 2053"/>
                  <a:gd name="T43" fmla="*/ 430 h 2163"/>
                  <a:gd name="T44" fmla="*/ 1003 w 2053"/>
                  <a:gd name="T45" fmla="*/ 430 h 2163"/>
                  <a:gd name="T46" fmla="*/ 791 w 2053"/>
                  <a:gd name="T47" fmla="*/ 1127 h 2163"/>
                  <a:gd name="T48" fmla="*/ 1503 w 2053"/>
                  <a:gd name="T49" fmla="*/ 1127 h 2163"/>
                  <a:gd name="T50" fmla="*/ 1728 w 2053"/>
                  <a:gd name="T51" fmla="*/ 1843 h 2163"/>
                  <a:gd name="T52" fmla="*/ 1498 w 2053"/>
                  <a:gd name="T53" fmla="*/ 1843 h 2163"/>
                  <a:gd name="T54" fmla="*/ 1392 w 2053"/>
                  <a:gd name="T55" fmla="*/ 1501 h 2163"/>
                  <a:gd name="T56" fmla="*/ 1286 w 2053"/>
                  <a:gd name="T57" fmla="*/ 1843 h 2163"/>
                  <a:gd name="T58" fmla="*/ 1059 w 2053"/>
                  <a:gd name="T59" fmla="*/ 1843 h 2163"/>
                  <a:gd name="T60" fmla="*/ 1276 w 2053"/>
                  <a:gd name="T61" fmla="*/ 1136 h 2163"/>
                  <a:gd name="T62" fmla="*/ 1050 w 2053"/>
                  <a:gd name="T63" fmla="*/ 430 h 2163"/>
                  <a:gd name="T64" fmla="*/ 1281 w 2053"/>
                  <a:gd name="T65" fmla="*/ 430 h 2163"/>
                  <a:gd name="T66" fmla="*/ 1387 w 2053"/>
                  <a:gd name="T67" fmla="*/ 767 h 2163"/>
                  <a:gd name="T68" fmla="*/ 1489 w 2053"/>
                  <a:gd name="T69" fmla="*/ 430 h 2163"/>
                  <a:gd name="T70" fmla="*/ 1715 w 2053"/>
                  <a:gd name="T71" fmla="*/ 430 h 2163"/>
                  <a:gd name="T72" fmla="*/ 1503 w 2053"/>
                  <a:gd name="T73" fmla="*/ 1127 h 2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53" h="2163">
                    <a:moveTo>
                      <a:pt x="1747" y="1982"/>
                    </a:moveTo>
                    <a:lnTo>
                      <a:pt x="1747" y="175"/>
                    </a:lnTo>
                    <a:lnTo>
                      <a:pt x="305" y="175"/>
                    </a:lnTo>
                    <a:lnTo>
                      <a:pt x="305" y="2162"/>
                    </a:lnTo>
                    <a:lnTo>
                      <a:pt x="0" y="2162"/>
                    </a:lnTo>
                    <a:lnTo>
                      <a:pt x="0" y="0"/>
                    </a:lnTo>
                    <a:lnTo>
                      <a:pt x="2052" y="0"/>
                    </a:lnTo>
                    <a:lnTo>
                      <a:pt x="2052" y="2162"/>
                    </a:lnTo>
                    <a:lnTo>
                      <a:pt x="1590" y="2162"/>
                    </a:lnTo>
                    <a:lnTo>
                      <a:pt x="1590" y="1982"/>
                    </a:lnTo>
                    <a:lnTo>
                      <a:pt x="1747" y="1982"/>
                    </a:lnTo>
                    <a:close/>
                    <a:moveTo>
                      <a:pt x="791" y="1127"/>
                    </a:moveTo>
                    <a:lnTo>
                      <a:pt x="1017" y="1843"/>
                    </a:lnTo>
                    <a:lnTo>
                      <a:pt x="786" y="1843"/>
                    </a:lnTo>
                    <a:lnTo>
                      <a:pt x="680" y="1501"/>
                    </a:lnTo>
                    <a:lnTo>
                      <a:pt x="573" y="1843"/>
                    </a:lnTo>
                    <a:lnTo>
                      <a:pt x="347" y="1843"/>
                    </a:lnTo>
                    <a:lnTo>
                      <a:pt x="564" y="1136"/>
                    </a:lnTo>
                    <a:lnTo>
                      <a:pt x="338" y="430"/>
                    </a:lnTo>
                    <a:lnTo>
                      <a:pt x="569" y="430"/>
                    </a:lnTo>
                    <a:lnTo>
                      <a:pt x="675" y="767"/>
                    </a:lnTo>
                    <a:lnTo>
                      <a:pt x="777" y="430"/>
                    </a:lnTo>
                    <a:lnTo>
                      <a:pt x="1003" y="430"/>
                    </a:lnTo>
                    <a:lnTo>
                      <a:pt x="791" y="1127"/>
                    </a:lnTo>
                    <a:close/>
                    <a:moveTo>
                      <a:pt x="1503" y="1127"/>
                    </a:moveTo>
                    <a:lnTo>
                      <a:pt x="1728" y="1843"/>
                    </a:lnTo>
                    <a:lnTo>
                      <a:pt x="1498" y="1843"/>
                    </a:lnTo>
                    <a:lnTo>
                      <a:pt x="1392" y="1501"/>
                    </a:lnTo>
                    <a:lnTo>
                      <a:pt x="1286" y="1843"/>
                    </a:lnTo>
                    <a:lnTo>
                      <a:pt x="1059" y="1843"/>
                    </a:lnTo>
                    <a:lnTo>
                      <a:pt x="1276" y="1136"/>
                    </a:lnTo>
                    <a:lnTo>
                      <a:pt x="1050" y="430"/>
                    </a:lnTo>
                    <a:lnTo>
                      <a:pt x="1281" y="430"/>
                    </a:lnTo>
                    <a:lnTo>
                      <a:pt x="1387" y="767"/>
                    </a:lnTo>
                    <a:lnTo>
                      <a:pt x="1489" y="430"/>
                    </a:lnTo>
                    <a:lnTo>
                      <a:pt x="1715" y="430"/>
                    </a:lnTo>
                    <a:lnTo>
                      <a:pt x="1503" y="1127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Freeform 16">
                <a:extLst>
                  <a:ext uri="{FF2B5EF4-FFF2-40B4-BE49-F238E27FC236}">
                    <a16:creationId xmlns:a16="http://schemas.microsoft.com/office/drawing/2014/main" id="{177BD5B8-6ED6-AF44-A4E9-AC0F5ADBB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1441" y="696666"/>
                <a:ext cx="375564" cy="362437"/>
              </a:xfrm>
              <a:custGeom>
                <a:avLst/>
                <a:gdLst>
                  <a:gd name="T0" fmla="*/ 315 w 2272"/>
                  <a:gd name="T1" fmla="*/ 957 h 2191"/>
                  <a:gd name="T2" fmla="*/ 0 w 2272"/>
                  <a:gd name="T3" fmla="*/ 957 h 2191"/>
                  <a:gd name="T4" fmla="*/ 361 w 2272"/>
                  <a:gd name="T5" fmla="*/ 5 h 2191"/>
                  <a:gd name="T6" fmla="*/ 675 w 2272"/>
                  <a:gd name="T7" fmla="*/ 5 h 2191"/>
                  <a:gd name="T8" fmla="*/ 380 w 2272"/>
                  <a:gd name="T9" fmla="*/ 767 h 2191"/>
                  <a:gd name="T10" fmla="*/ 453 w 2272"/>
                  <a:gd name="T11" fmla="*/ 767 h 2191"/>
                  <a:gd name="T12" fmla="*/ 509 w 2272"/>
                  <a:gd name="T13" fmla="*/ 647 h 2191"/>
                  <a:gd name="T14" fmla="*/ 823 w 2272"/>
                  <a:gd name="T15" fmla="*/ 647 h 2191"/>
                  <a:gd name="T16" fmla="*/ 463 w 2272"/>
                  <a:gd name="T17" fmla="*/ 1492 h 2191"/>
                  <a:gd name="T18" fmla="*/ 754 w 2272"/>
                  <a:gd name="T19" fmla="*/ 1492 h 2191"/>
                  <a:gd name="T20" fmla="*/ 754 w 2272"/>
                  <a:gd name="T21" fmla="*/ 1677 h 2191"/>
                  <a:gd name="T22" fmla="*/ 366 w 2272"/>
                  <a:gd name="T23" fmla="*/ 1677 h 2191"/>
                  <a:gd name="T24" fmla="*/ 65 w 2272"/>
                  <a:gd name="T25" fmla="*/ 1677 h 2191"/>
                  <a:gd name="T26" fmla="*/ 375 w 2272"/>
                  <a:gd name="T27" fmla="*/ 957 h 2191"/>
                  <a:gd name="T28" fmla="*/ 315 w 2272"/>
                  <a:gd name="T29" fmla="*/ 957 h 2191"/>
                  <a:gd name="T30" fmla="*/ 763 w 2272"/>
                  <a:gd name="T31" fmla="*/ 1954 h 2191"/>
                  <a:gd name="T32" fmla="*/ 763 w 2272"/>
                  <a:gd name="T33" fmla="*/ 2130 h 2191"/>
                  <a:gd name="T34" fmla="*/ 84 w 2272"/>
                  <a:gd name="T35" fmla="*/ 2130 h 2191"/>
                  <a:gd name="T36" fmla="*/ 84 w 2272"/>
                  <a:gd name="T37" fmla="*/ 1954 h 2191"/>
                  <a:gd name="T38" fmla="*/ 763 w 2272"/>
                  <a:gd name="T39" fmla="*/ 1954 h 2191"/>
                  <a:gd name="T40" fmla="*/ 1831 w 2272"/>
                  <a:gd name="T41" fmla="*/ 1205 h 2191"/>
                  <a:gd name="T42" fmla="*/ 1614 w 2272"/>
                  <a:gd name="T43" fmla="*/ 994 h 2191"/>
                  <a:gd name="T44" fmla="*/ 1355 w 2272"/>
                  <a:gd name="T45" fmla="*/ 1205 h 2191"/>
                  <a:gd name="T46" fmla="*/ 884 w 2272"/>
                  <a:gd name="T47" fmla="*/ 1205 h 2191"/>
                  <a:gd name="T48" fmla="*/ 1392 w 2272"/>
                  <a:gd name="T49" fmla="*/ 781 h 2191"/>
                  <a:gd name="T50" fmla="*/ 1212 w 2272"/>
                  <a:gd name="T51" fmla="*/ 587 h 2191"/>
                  <a:gd name="T52" fmla="*/ 1179 w 2272"/>
                  <a:gd name="T53" fmla="*/ 684 h 2191"/>
                  <a:gd name="T54" fmla="*/ 842 w 2272"/>
                  <a:gd name="T55" fmla="*/ 684 h 2191"/>
                  <a:gd name="T56" fmla="*/ 1082 w 2272"/>
                  <a:gd name="T57" fmla="*/ 0 h 2191"/>
                  <a:gd name="T58" fmla="*/ 1420 w 2272"/>
                  <a:gd name="T59" fmla="*/ 0 h 2191"/>
                  <a:gd name="T60" fmla="*/ 1397 w 2272"/>
                  <a:gd name="T61" fmla="*/ 79 h 2191"/>
                  <a:gd name="T62" fmla="*/ 2174 w 2272"/>
                  <a:gd name="T63" fmla="*/ 79 h 2191"/>
                  <a:gd name="T64" fmla="*/ 2174 w 2272"/>
                  <a:gd name="T65" fmla="*/ 527 h 2191"/>
                  <a:gd name="T66" fmla="*/ 1864 w 2272"/>
                  <a:gd name="T67" fmla="*/ 795 h 2191"/>
                  <a:gd name="T68" fmla="*/ 2271 w 2272"/>
                  <a:gd name="T69" fmla="*/ 1205 h 2191"/>
                  <a:gd name="T70" fmla="*/ 1831 w 2272"/>
                  <a:gd name="T71" fmla="*/ 1205 h 2191"/>
                  <a:gd name="T72" fmla="*/ 934 w 2272"/>
                  <a:gd name="T73" fmla="*/ 2190 h 2191"/>
                  <a:gd name="T74" fmla="*/ 934 w 2272"/>
                  <a:gd name="T75" fmla="*/ 1303 h 2191"/>
                  <a:gd name="T76" fmla="*/ 2206 w 2272"/>
                  <a:gd name="T77" fmla="*/ 1303 h 2191"/>
                  <a:gd name="T78" fmla="*/ 2206 w 2272"/>
                  <a:gd name="T79" fmla="*/ 2190 h 2191"/>
                  <a:gd name="T80" fmla="*/ 934 w 2272"/>
                  <a:gd name="T81" fmla="*/ 2190 h 2191"/>
                  <a:gd name="T82" fmla="*/ 1522 w 2272"/>
                  <a:gd name="T83" fmla="*/ 467 h 2191"/>
                  <a:gd name="T84" fmla="*/ 1646 w 2272"/>
                  <a:gd name="T85" fmla="*/ 592 h 2191"/>
                  <a:gd name="T86" fmla="*/ 1892 w 2272"/>
                  <a:gd name="T87" fmla="*/ 379 h 2191"/>
                  <a:gd name="T88" fmla="*/ 1892 w 2272"/>
                  <a:gd name="T89" fmla="*/ 254 h 2191"/>
                  <a:gd name="T90" fmla="*/ 1332 w 2272"/>
                  <a:gd name="T91" fmla="*/ 254 h 2191"/>
                  <a:gd name="T92" fmla="*/ 1253 w 2272"/>
                  <a:gd name="T93" fmla="*/ 467 h 2191"/>
                  <a:gd name="T94" fmla="*/ 1522 w 2272"/>
                  <a:gd name="T95" fmla="*/ 467 h 2191"/>
                  <a:gd name="T96" fmla="*/ 1277 w 2272"/>
                  <a:gd name="T97" fmla="*/ 1478 h 2191"/>
                  <a:gd name="T98" fmla="*/ 1277 w 2272"/>
                  <a:gd name="T99" fmla="*/ 2014 h 2191"/>
                  <a:gd name="T100" fmla="*/ 1864 w 2272"/>
                  <a:gd name="T101" fmla="*/ 2014 h 2191"/>
                  <a:gd name="T102" fmla="*/ 1864 w 2272"/>
                  <a:gd name="T103" fmla="*/ 1478 h 2191"/>
                  <a:gd name="T104" fmla="*/ 1277 w 2272"/>
                  <a:gd name="T105" fmla="*/ 1478 h 2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272" h="2191">
                    <a:moveTo>
                      <a:pt x="315" y="957"/>
                    </a:moveTo>
                    <a:lnTo>
                      <a:pt x="0" y="957"/>
                    </a:lnTo>
                    <a:lnTo>
                      <a:pt x="361" y="5"/>
                    </a:lnTo>
                    <a:lnTo>
                      <a:pt x="675" y="5"/>
                    </a:lnTo>
                    <a:lnTo>
                      <a:pt x="380" y="767"/>
                    </a:lnTo>
                    <a:lnTo>
                      <a:pt x="453" y="767"/>
                    </a:lnTo>
                    <a:lnTo>
                      <a:pt x="509" y="647"/>
                    </a:lnTo>
                    <a:lnTo>
                      <a:pt x="823" y="647"/>
                    </a:lnTo>
                    <a:lnTo>
                      <a:pt x="463" y="1492"/>
                    </a:lnTo>
                    <a:lnTo>
                      <a:pt x="754" y="1492"/>
                    </a:lnTo>
                    <a:lnTo>
                      <a:pt x="754" y="1677"/>
                    </a:lnTo>
                    <a:lnTo>
                      <a:pt x="366" y="1677"/>
                    </a:lnTo>
                    <a:lnTo>
                      <a:pt x="65" y="1677"/>
                    </a:lnTo>
                    <a:lnTo>
                      <a:pt x="375" y="957"/>
                    </a:lnTo>
                    <a:lnTo>
                      <a:pt x="315" y="957"/>
                    </a:lnTo>
                    <a:close/>
                    <a:moveTo>
                      <a:pt x="763" y="1954"/>
                    </a:moveTo>
                    <a:lnTo>
                      <a:pt x="763" y="2130"/>
                    </a:lnTo>
                    <a:lnTo>
                      <a:pt x="84" y="2130"/>
                    </a:lnTo>
                    <a:lnTo>
                      <a:pt x="84" y="1954"/>
                    </a:lnTo>
                    <a:lnTo>
                      <a:pt x="763" y="1954"/>
                    </a:lnTo>
                    <a:close/>
                    <a:moveTo>
                      <a:pt x="1831" y="1205"/>
                    </a:moveTo>
                    <a:lnTo>
                      <a:pt x="1614" y="994"/>
                    </a:lnTo>
                    <a:lnTo>
                      <a:pt x="1355" y="1205"/>
                    </a:lnTo>
                    <a:lnTo>
                      <a:pt x="884" y="1205"/>
                    </a:lnTo>
                    <a:lnTo>
                      <a:pt x="1392" y="781"/>
                    </a:lnTo>
                    <a:lnTo>
                      <a:pt x="1212" y="587"/>
                    </a:lnTo>
                    <a:lnTo>
                      <a:pt x="1179" y="684"/>
                    </a:lnTo>
                    <a:lnTo>
                      <a:pt x="842" y="684"/>
                    </a:lnTo>
                    <a:lnTo>
                      <a:pt x="1082" y="0"/>
                    </a:lnTo>
                    <a:lnTo>
                      <a:pt x="1420" y="0"/>
                    </a:lnTo>
                    <a:lnTo>
                      <a:pt x="1397" y="79"/>
                    </a:lnTo>
                    <a:lnTo>
                      <a:pt x="2174" y="79"/>
                    </a:lnTo>
                    <a:lnTo>
                      <a:pt x="2174" y="527"/>
                    </a:lnTo>
                    <a:lnTo>
                      <a:pt x="1864" y="795"/>
                    </a:lnTo>
                    <a:lnTo>
                      <a:pt x="2271" y="1205"/>
                    </a:lnTo>
                    <a:lnTo>
                      <a:pt x="1831" y="1205"/>
                    </a:lnTo>
                    <a:close/>
                    <a:moveTo>
                      <a:pt x="934" y="2190"/>
                    </a:moveTo>
                    <a:lnTo>
                      <a:pt x="934" y="1303"/>
                    </a:lnTo>
                    <a:lnTo>
                      <a:pt x="2206" y="1303"/>
                    </a:lnTo>
                    <a:lnTo>
                      <a:pt x="2206" y="2190"/>
                    </a:lnTo>
                    <a:lnTo>
                      <a:pt x="934" y="2190"/>
                    </a:lnTo>
                    <a:close/>
                    <a:moveTo>
                      <a:pt x="1522" y="467"/>
                    </a:moveTo>
                    <a:lnTo>
                      <a:pt x="1646" y="592"/>
                    </a:lnTo>
                    <a:lnTo>
                      <a:pt x="1892" y="379"/>
                    </a:lnTo>
                    <a:lnTo>
                      <a:pt x="1892" y="254"/>
                    </a:lnTo>
                    <a:lnTo>
                      <a:pt x="1332" y="254"/>
                    </a:lnTo>
                    <a:lnTo>
                      <a:pt x="1253" y="467"/>
                    </a:lnTo>
                    <a:lnTo>
                      <a:pt x="1522" y="467"/>
                    </a:lnTo>
                    <a:close/>
                    <a:moveTo>
                      <a:pt x="1277" y="1478"/>
                    </a:moveTo>
                    <a:lnTo>
                      <a:pt x="1277" y="2014"/>
                    </a:lnTo>
                    <a:lnTo>
                      <a:pt x="1864" y="2014"/>
                    </a:lnTo>
                    <a:lnTo>
                      <a:pt x="1864" y="1478"/>
                    </a:lnTo>
                    <a:lnTo>
                      <a:pt x="1277" y="147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Freeform 17">
                <a:extLst>
                  <a:ext uri="{FF2B5EF4-FFF2-40B4-BE49-F238E27FC236}">
                    <a16:creationId xmlns:a16="http://schemas.microsoft.com/office/drawing/2014/main" id="{659E8A2F-BD45-A141-8653-9A26A575F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2528" y="697395"/>
                <a:ext cx="362437" cy="363166"/>
              </a:xfrm>
              <a:custGeom>
                <a:avLst/>
                <a:gdLst>
                  <a:gd name="T0" fmla="*/ 1244 w 2193"/>
                  <a:gd name="T1" fmla="*/ 1012 h 2195"/>
                  <a:gd name="T2" fmla="*/ 934 w 2193"/>
                  <a:gd name="T3" fmla="*/ 1589 h 2195"/>
                  <a:gd name="T4" fmla="*/ 1249 w 2193"/>
                  <a:gd name="T5" fmla="*/ 1764 h 2195"/>
                  <a:gd name="T6" fmla="*/ 925 w 2193"/>
                  <a:gd name="T7" fmla="*/ 2194 h 2195"/>
                  <a:gd name="T8" fmla="*/ 439 w 2193"/>
                  <a:gd name="T9" fmla="*/ 2032 h 2195"/>
                  <a:gd name="T10" fmla="*/ 597 w 2193"/>
                  <a:gd name="T11" fmla="*/ 1764 h 2195"/>
                  <a:gd name="T12" fmla="*/ 65 w 2193"/>
                  <a:gd name="T13" fmla="*/ 1589 h 2195"/>
                  <a:gd name="T14" fmla="*/ 856 w 2193"/>
                  <a:gd name="T15" fmla="*/ 1187 h 2195"/>
                  <a:gd name="T16" fmla="*/ 292 w 2193"/>
                  <a:gd name="T17" fmla="*/ 1455 h 2195"/>
                  <a:gd name="T18" fmla="*/ 167 w 2193"/>
                  <a:gd name="T19" fmla="*/ 1187 h 2195"/>
                  <a:gd name="T20" fmla="*/ 65 w 2193"/>
                  <a:gd name="T21" fmla="*/ 1012 h 2195"/>
                  <a:gd name="T22" fmla="*/ 361 w 2193"/>
                  <a:gd name="T23" fmla="*/ 809 h 2195"/>
                  <a:gd name="T24" fmla="*/ 56 w 2193"/>
                  <a:gd name="T25" fmla="*/ 628 h 2195"/>
                  <a:gd name="T26" fmla="*/ 366 w 2193"/>
                  <a:gd name="T27" fmla="*/ 319 h 2195"/>
                  <a:gd name="T28" fmla="*/ 125 w 2193"/>
                  <a:gd name="T29" fmla="*/ 148 h 2195"/>
                  <a:gd name="T30" fmla="*/ 366 w 2193"/>
                  <a:gd name="T31" fmla="*/ 0 h 2195"/>
                  <a:gd name="T32" fmla="*/ 680 w 2193"/>
                  <a:gd name="T33" fmla="*/ 148 h 2195"/>
                  <a:gd name="T34" fmla="*/ 934 w 2193"/>
                  <a:gd name="T35" fmla="*/ 319 h 2195"/>
                  <a:gd name="T36" fmla="*/ 680 w 2193"/>
                  <a:gd name="T37" fmla="*/ 628 h 2195"/>
                  <a:gd name="T38" fmla="*/ 1022 w 2193"/>
                  <a:gd name="T39" fmla="*/ 64 h 2195"/>
                  <a:gd name="T40" fmla="*/ 1115 w 2193"/>
                  <a:gd name="T41" fmla="*/ 628 h 2195"/>
                  <a:gd name="T42" fmla="*/ 1244 w 2193"/>
                  <a:gd name="T43" fmla="*/ 809 h 2195"/>
                  <a:gd name="T44" fmla="*/ 546 w 2193"/>
                  <a:gd name="T45" fmla="*/ 1012 h 2195"/>
                  <a:gd name="T46" fmla="*/ 1683 w 2193"/>
                  <a:gd name="T47" fmla="*/ 0 h 2195"/>
                  <a:gd name="T48" fmla="*/ 2183 w 2193"/>
                  <a:gd name="T49" fmla="*/ 115 h 2195"/>
                  <a:gd name="T50" fmla="*/ 2113 w 2193"/>
                  <a:gd name="T51" fmla="*/ 291 h 2195"/>
                  <a:gd name="T52" fmla="*/ 1868 w 2193"/>
                  <a:gd name="T53" fmla="*/ 1427 h 2195"/>
                  <a:gd name="T54" fmla="*/ 1836 w 2193"/>
                  <a:gd name="T55" fmla="*/ 2194 h 2195"/>
                  <a:gd name="T56" fmla="*/ 1535 w 2193"/>
                  <a:gd name="T57" fmla="*/ 2194 h 2195"/>
                  <a:gd name="T58" fmla="*/ 1489 w 2193"/>
                  <a:gd name="T59" fmla="*/ 1445 h 2195"/>
                  <a:gd name="T60" fmla="*/ 1632 w 2193"/>
                  <a:gd name="T61" fmla="*/ 1104 h 2195"/>
                  <a:gd name="T62" fmla="*/ 1771 w 2193"/>
                  <a:gd name="T63" fmla="*/ 291 h 2195"/>
                  <a:gd name="T64" fmla="*/ 1614 w 2193"/>
                  <a:gd name="T65" fmla="*/ 975 h 2195"/>
                  <a:gd name="T66" fmla="*/ 1360 w 2193"/>
                  <a:gd name="T67" fmla="*/ 0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93" h="2195">
                    <a:moveTo>
                      <a:pt x="546" y="1012"/>
                    </a:moveTo>
                    <a:lnTo>
                      <a:pt x="1244" y="1012"/>
                    </a:lnTo>
                    <a:lnTo>
                      <a:pt x="1244" y="1187"/>
                    </a:lnTo>
                    <a:lnTo>
                      <a:pt x="934" y="1589"/>
                    </a:lnTo>
                    <a:lnTo>
                      <a:pt x="1249" y="1589"/>
                    </a:lnTo>
                    <a:lnTo>
                      <a:pt x="1249" y="1764"/>
                    </a:lnTo>
                    <a:lnTo>
                      <a:pt x="925" y="1764"/>
                    </a:lnTo>
                    <a:lnTo>
                      <a:pt x="925" y="2194"/>
                    </a:lnTo>
                    <a:lnTo>
                      <a:pt x="439" y="2194"/>
                    </a:lnTo>
                    <a:lnTo>
                      <a:pt x="439" y="2032"/>
                    </a:lnTo>
                    <a:lnTo>
                      <a:pt x="597" y="2032"/>
                    </a:lnTo>
                    <a:lnTo>
                      <a:pt x="597" y="1764"/>
                    </a:lnTo>
                    <a:lnTo>
                      <a:pt x="65" y="1764"/>
                    </a:lnTo>
                    <a:lnTo>
                      <a:pt x="65" y="1589"/>
                    </a:lnTo>
                    <a:lnTo>
                      <a:pt x="537" y="1589"/>
                    </a:lnTo>
                    <a:lnTo>
                      <a:pt x="856" y="1187"/>
                    </a:lnTo>
                    <a:lnTo>
                      <a:pt x="453" y="1187"/>
                    </a:lnTo>
                    <a:lnTo>
                      <a:pt x="292" y="1455"/>
                    </a:lnTo>
                    <a:lnTo>
                      <a:pt x="0" y="1455"/>
                    </a:lnTo>
                    <a:lnTo>
                      <a:pt x="167" y="1187"/>
                    </a:lnTo>
                    <a:lnTo>
                      <a:pt x="65" y="1187"/>
                    </a:lnTo>
                    <a:lnTo>
                      <a:pt x="65" y="1012"/>
                    </a:lnTo>
                    <a:lnTo>
                      <a:pt x="255" y="1012"/>
                    </a:lnTo>
                    <a:lnTo>
                      <a:pt x="361" y="809"/>
                    </a:lnTo>
                    <a:lnTo>
                      <a:pt x="56" y="809"/>
                    </a:lnTo>
                    <a:lnTo>
                      <a:pt x="56" y="628"/>
                    </a:lnTo>
                    <a:lnTo>
                      <a:pt x="366" y="628"/>
                    </a:lnTo>
                    <a:lnTo>
                      <a:pt x="366" y="319"/>
                    </a:lnTo>
                    <a:lnTo>
                      <a:pt x="125" y="319"/>
                    </a:lnTo>
                    <a:lnTo>
                      <a:pt x="125" y="148"/>
                    </a:lnTo>
                    <a:lnTo>
                      <a:pt x="366" y="148"/>
                    </a:lnTo>
                    <a:lnTo>
                      <a:pt x="366" y="0"/>
                    </a:lnTo>
                    <a:lnTo>
                      <a:pt x="680" y="0"/>
                    </a:lnTo>
                    <a:lnTo>
                      <a:pt x="680" y="148"/>
                    </a:lnTo>
                    <a:lnTo>
                      <a:pt x="934" y="148"/>
                    </a:lnTo>
                    <a:lnTo>
                      <a:pt x="934" y="319"/>
                    </a:lnTo>
                    <a:lnTo>
                      <a:pt x="680" y="319"/>
                    </a:lnTo>
                    <a:lnTo>
                      <a:pt x="680" y="628"/>
                    </a:lnTo>
                    <a:lnTo>
                      <a:pt x="846" y="628"/>
                    </a:lnTo>
                    <a:lnTo>
                      <a:pt x="1022" y="64"/>
                    </a:lnTo>
                    <a:lnTo>
                      <a:pt x="1272" y="64"/>
                    </a:lnTo>
                    <a:lnTo>
                      <a:pt x="1115" y="628"/>
                    </a:lnTo>
                    <a:lnTo>
                      <a:pt x="1244" y="628"/>
                    </a:lnTo>
                    <a:lnTo>
                      <a:pt x="1244" y="809"/>
                    </a:lnTo>
                    <a:lnTo>
                      <a:pt x="652" y="809"/>
                    </a:lnTo>
                    <a:lnTo>
                      <a:pt x="546" y="1012"/>
                    </a:lnTo>
                    <a:close/>
                    <a:moveTo>
                      <a:pt x="1360" y="0"/>
                    </a:moveTo>
                    <a:lnTo>
                      <a:pt x="1683" y="0"/>
                    </a:lnTo>
                    <a:lnTo>
                      <a:pt x="1679" y="115"/>
                    </a:lnTo>
                    <a:lnTo>
                      <a:pt x="2183" y="115"/>
                    </a:lnTo>
                    <a:lnTo>
                      <a:pt x="2183" y="291"/>
                    </a:lnTo>
                    <a:lnTo>
                      <a:pt x="2113" y="291"/>
                    </a:lnTo>
                    <a:lnTo>
                      <a:pt x="2113" y="739"/>
                    </a:lnTo>
                    <a:lnTo>
                      <a:pt x="1868" y="1427"/>
                    </a:lnTo>
                    <a:lnTo>
                      <a:pt x="2192" y="2194"/>
                    </a:lnTo>
                    <a:lnTo>
                      <a:pt x="1836" y="2194"/>
                    </a:lnTo>
                    <a:lnTo>
                      <a:pt x="1683" y="1834"/>
                    </a:lnTo>
                    <a:lnTo>
                      <a:pt x="1535" y="2194"/>
                    </a:lnTo>
                    <a:lnTo>
                      <a:pt x="1175" y="2194"/>
                    </a:lnTo>
                    <a:lnTo>
                      <a:pt x="1489" y="1445"/>
                    </a:lnTo>
                    <a:lnTo>
                      <a:pt x="1355" y="1104"/>
                    </a:lnTo>
                    <a:lnTo>
                      <a:pt x="1632" y="1104"/>
                    </a:lnTo>
                    <a:lnTo>
                      <a:pt x="1771" y="698"/>
                    </a:lnTo>
                    <a:lnTo>
                      <a:pt x="1771" y="291"/>
                    </a:lnTo>
                    <a:lnTo>
                      <a:pt x="1669" y="291"/>
                    </a:lnTo>
                    <a:lnTo>
                      <a:pt x="1614" y="975"/>
                    </a:lnTo>
                    <a:lnTo>
                      <a:pt x="1281" y="975"/>
                    </a:lnTo>
                    <a:lnTo>
                      <a:pt x="136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Freeform 18">
                <a:extLst>
                  <a:ext uri="{FF2B5EF4-FFF2-40B4-BE49-F238E27FC236}">
                    <a16:creationId xmlns:a16="http://schemas.microsoft.com/office/drawing/2014/main" id="{74855C05-5F16-C049-9443-A35BB82DE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4864" y="702500"/>
                <a:ext cx="369000" cy="355874"/>
              </a:xfrm>
              <a:custGeom>
                <a:avLst/>
                <a:gdLst>
                  <a:gd name="T0" fmla="*/ 1447 w 2230"/>
                  <a:gd name="T1" fmla="*/ 1118 h 2150"/>
                  <a:gd name="T2" fmla="*/ 2229 w 2230"/>
                  <a:gd name="T3" fmla="*/ 1405 h 2150"/>
                  <a:gd name="T4" fmla="*/ 1545 w 2230"/>
                  <a:gd name="T5" fmla="*/ 1405 h 2150"/>
                  <a:gd name="T6" fmla="*/ 1078 w 2230"/>
                  <a:gd name="T7" fmla="*/ 1252 h 2150"/>
                  <a:gd name="T8" fmla="*/ 652 w 2230"/>
                  <a:gd name="T9" fmla="*/ 1405 h 2150"/>
                  <a:gd name="T10" fmla="*/ 0 w 2230"/>
                  <a:gd name="T11" fmla="*/ 1405 h 2150"/>
                  <a:gd name="T12" fmla="*/ 726 w 2230"/>
                  <a:gd name="T13" fmla="*/ 1137 h 2150"/>
                  <a:gd name="T14" fmla="*/ 222 w 2230"/>
                  <a:gd name="T15" fmla="*/ 976 h 2150"/>
                  <a:gd name="T16" fmla="*/ 361 w 2230"/>
                  <a:gd name="T17" fmla="*/ 745 h 2150"/>
                  <a:gd name="T18" fmla="*/ 88 w 2230"/>
                  <a:gd name="T19" fmla="*/ 745 h 2150"/>
                  <a:gd name="T20" fmla="*/ 88 w 2230"/>
                  <a:gd name="T21" fmla="*/ 583 h 2150"/>
                  <a:gd name="T22" fmla="*/ 467 w 2230"/>
                  <a:gd name="T23" fmla="*/ 583 h 2150"/>
                  <a:gd name="T24" fmla="*/ 550 w 2230"/>
                  <a:gd name="T25" fmla="*/ 444 h 2150"/>
                  <a:gd name="T26" fmla="*/ 902 w 2230"/>
                  <a:gd name="T27" fmla="*/ 444 h 2150"/>
                  <a:gd name="T28" fmla="*/ 823 w 2230"/>
                  <a:gd name="T29" fmla="*/ 583 h 2150"/>
                  <a:gd name="T30" fmla="*/ 2146 w 2230"/>
                  <a:gd name="T31" fmla="*/ 583 h 2150"/>
                  <a:gd name="T32" fmla="*/ 2146 w 2230"/>
                  <a:gd name="T33" fmla="*/ 745 h 2150"/>
                  <a:gd name="T34" fmla="*/ 1910 w 2230"/>
                  <a:gd name="T35" fmla="*/ 745 h 2150"/>
                  <a:gd name="T36" fmla="*/ 1910 w 2230"/>
                  <a:gd name="T37" fmla="*/ 957 h 2150"/>
                  <a:gd name="T38" fmla="*/ 1447 w 2230"/>
                  <a:gd name="T39" fmla="*/ 1118 h 2150"/>
                  <a:gd name="T40" fmla="*/ 56 w 2230"/>
                  <a:gd name="T41" fmla="*/ 2126 h 2150"/>
                  <a:gd name="T42" fmla="*/ 426 w 2230"/>
                  <a:gd name="T43" fmla="*/ 1733 h 2150"/>
                  <a:gd name="T44" fmla="*/ 819 w 2230"/>
                  <a:gd name="T45" fmla="*/ 1733 h 2150"/>
                  <a:gd name="T46" fmla="*/ 463 w 2230"/>
                  <a:gd name="T47" fmla="*/ 2126 h 2150"/>
                  <a:gd name="T48" fmla="*/ 56 w 2230"/>
                  <a:gd name="T49" fmla="*/ 2126 h 2150"/>
                  <a:gd name="T50" fmla="*/ 1817 w 2230"/>
                  <a:gd name="T51" fmla="*/ 490 h 2150"/>
                  <a:gd name="T52" fmla="*/ 1817 w 2230"/>
                  <a:gd name="T53" fmla="*/ 292 h 2150"/>
                  <a:gd name="T54" fmla="*/ 412 w 2230"/>
                  <a:gd name="T55" fmla="*/ 292 h 2150"/>
                  <a:gd name="T56" fmla="*/ 412 w 2230"/>
                  <a:gd name="T57" fmla="*/ 490 h 2150"/>
                  <a:gd name="T58" fmla="*/ 88 w 2230"/>
                  <a:gd name="T59" fmla="*/ 490 h 2150"/>
                  <a:gd name="T60" fmla="*/ 88 w 2230"/>
                  <a:gd name="T61" fmla="*/ 121 h 2150"/>
                  <a:gd name="T62" fmla="*/ 925 w 2230"/>
                  <a:gd name="T63" fmla="*/ 121 h 2150"/>
                  <a:gd name="T64" fmla="*/ 925 w 2230"/>
                  <a:gd name="T65" fmla="*/ 0 h 2150"/>
                  <a:gd name="T66" fmla="*/ 1290 w 2230"/>
                  <a:gd name="T67" fmla="*/ 0 h 2150"/>
                  <a:gd name="T68" fmla="*/ 1290 w 2230"/>
                  <a:gd name="T69" fmla="*/ 121 h 2150"/>
                  <a:gd name="T70" fmla="*/ 2146 w 2230"/>
                  <a:gd name="T71" fmla="*/ 121 h 2150"/>
                  <a:gd name="T72" fmla="*/ 2146 w 2230"/>
                  <a:gd name="T73" fmla="*/ 490 h 2150"/>
                  <a:gd name="T74" fmla="*/ 1817 w 2230"/>
                  <a:gd name="T75" fmla="*/ 490 h 2150"/>
                  <a:gd name="T76" fmla="*/ 1281 w 2230"/>
                  <a:gd name="T77" fmla="*/ 1368 h 2150"/>
                  <a:gd name="T78" fmla="*/ 1281 w 2230"/>
                  <a:gd name="T79" fmla="*/ 1497 h 2150"/>
                  <a:gd name="T80" fmla="*/ 2146 w 2230"/>
                  <a:gd name="T81" fmla="*/ 1497 h 2150"/>
                  <a:gd name="T82" fmla="*/ 2146 w 2230"/>
                  <a:gd name="T83" fmla="*/ 1668 h 2150"/>
                  <a:gd name="T84" fmla="*/ 1281 w 2230"/>
                  <a:gd name="T85" fmla="*/ 1668 h 2150"/>
                  <a:gd name="T86" fmla="*/ 1281 w 2230"/>
                  <a:gd name="T87" fmla="*/ 2149 h 2150"/>
                  <a:gd name="T88" fmla="*/ 944 w 2230"/>
                  <a:gd name="T89" fmla="*/ 2149 h 2150"/>
                  <a:gd name="T90" fmla="*/ 944 w 2230"/>
                  <a:gd name="T91" fmla="*/ 1668 h 2150"/>
                  <a:gd name="T92" fmla="*/ 88 w 2230"/>
                  <a:gd name="T93" fmla="*/ 1668 h 2150"/>
                  <a:gd name="T94" fmla="*/ 88 w 2230"/>
                  <a:gd name="T95" fmla="*/ 1497 h 2150"/>
                  <a:gd name="T96" fmla="*/ 944 w 2230"/>
                  <a:gd name="T97" fmla="*/ 1497 h 2150"/>
                  <a:gd name="T98" fmla="*/ 944 w 2230"/>
                  <a:gd name="T99" fmla="*/ 1368 h 2150"/>
                  <a:gd name="T100" fmla="*/ 1281 w 2230"/>
                  <a:gd name="T101" fmla="*/ 1368 h 2150"/>
                  <a:gd name="T102" fmla="*/ 1115 w 2230"/>
                  <a:gd name="T103" fmla="*/ 999 h 2150"/>
                  <a:gd name="T104" fmla="*/ 1568 w 2230"/>
                  <a:gd name="T105" fmla="*/ 832 h 2150"/>
                  <a:gd name="T106" fmla="*/ 1568 w 2230"/>
                  <a:gd name="T107" fmla="*/ 745 h 2150"/>
                  <a:gd name="T108" fmla="*/ 726 w 2230"/>
                  <a:gd name="T109" fmla="*/ 745 h 2150"/>
                  <a:gd name="T110" fmla="*/ 675 w 2230"/>
                  <a:gd name="T111" fmla="*/ 837 h 2150"/>
                  <a:gd name="T112" fmla="*/ 1115 w 2230"/>
                  <a:gd name="T113" fmla="*/ 999 h 2150"/>
                  <a:gd name="T114" fmla="*/ 2192 w 2230"/>
                  <a:gd name="T115" fmla="*/ 2126 h 2150"/>
                  <a:gd name="T116" fmla="*/ 1776 w 2230"/>
                  <a:gd name="T117" fmla="*/ 2126 h 2150"/>
                  <a:gd name="T118" fmla="*/ 1420 w 2230"/>
                  <a:gd name="T119" fmla="*/ 1733 h 2150"/>
                  <a:gd name="T120" fmla="*/ 1827 w 2230"/>
                  <a:gd name="T121" fmla="*/ 1733 h 2150"/>
                  <a:gd name="T122" fmla="*/ 2192 w 2230"/>
                  <a:gd name="T123" fmla="*/ 2126 h 2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30" h="2150">
                    <a:moveTo>
                      <a:pt x="1447" y="1118"/>
                    </a:moveTo>
                    <a:lnTo>
                      <a:pt x="2229" y="1405"/>
                    </a:lnTo>
                    <a:lnTo>
                      <a:pt x="1545" y="1405"/>
                    </a:lnTo>
                    <a:lnTo>
                      <a:pt x="1078" y="1252"/>
                    </a:lnTo>
                    <a:lnTo>
                      <a:pt x="652" y="1405"/>
                    </a:lnTo>
                    <a:lnTo>
                      <a:pt x="0" y="1405"/>
                    </a:lnTo>
                    <a:lnTo>
                      <a:pt x="726" y="1137"/>
                    </a:lnTo>
                    <a:lnTo>
                      <a:pt x="222" y="976"/>
                    </a:lnTo>
                    <a:lnTo>
                      <a:pt x="361" y="745"/>
                    </a:lnTo>
                    <a:lnTo>
                      <a:pt x="88" y="745"/>
                    </a:lnTo>
                    <a:lnTo>
                      <a:pt x="88" y="583"/>
                    </a:lnTo>
                    <a:lnTo>
                      <a:pt x="467" y="583"/>
                    </a:lnTo>
                    <a:lnTo>
                      <a:pt x="550" y="444"/>
                    </a:lnTo>
                    <a:lnTo>
                      <a:pt x="902" y="444"/>
                    </a:lnTo>
                    <a:lnTo>
                      <a:pt x="823" y="583"/>
                    </a:lnTo>
                    <a:lnTo>
                      <a:pt x="2146" y="583"/>
                    </a:lnTo>
                    <a:lnTo>
                      <a:pt x="2146" y="745"/>
                    </a:lnTo>
                    <a:lnTo>
                      <a:pt x="1910" y="745"/>
                    </a:lnTo>
                    <a:lnTo>
                      <a:pt x="1910" y="957"/>
                    </a:lnTo>
                    <a:lnTo>
                      <a:pt x="1447" y="1118"/>
                    </a:lnTo>
                    <a:close/>
                    <a:moveTo>
                      <a:pt x="56" y="2126"/>
                    </a:moveTo>
                    <a:lnTo>
                      <a:pt x="426" y="1733"/>
                    </a:lnTo>
                    <a:lnTo>
                      <a:pt x="819" y="1733"/>
                    </a:lnTo>
                    <a:lnTo>
                      <a:pt x="463" y="2126"/>
                    </a:lnTo>
                    <a:lnTo>
                      <a:pt x="56" y="2126"/>
                    </a:lnTo>
                    <a:close/>
                    <a:moveTo>
                      <a:pt x="1817" y="490"/>
                    </a:moveTo>
                    <a:lnTo>
                      <a:pt x="1817" y="292"/>
                    </a:lnTo>
                    <a:lnTo>
                      <a:pt x="412" y="292"/>
                    </a:lnTo>
                    <a:lnTo>
                      <a:pt x="412" y="490"/>
                    </a:lnTo>
                    <a:lnTo>
                      <a:pt x="88" y="490"/>
                    </a:lnTo>
                    <a:lnTo>
                      <a:pt x="88" y="121"/>
                    </a:lnTo>
                    <a:lnTo>
                      <a:pt x="925" y="121"/>
                    </a:lnTo>
                    <a:lnTo>
                      <a:pt x="925" y="0"/>
                    </a:lnTo>
                    <a:lnTo>
                      <a:pt x="1290" y="0"/>
                    </a:lnTo>
                    <a:lnTo>
                      <a:pt x="1290" y="121"/>
                    </a:lnTo>
                    <a:lnTo>
                      <a:pt x="2146" y="121"/>
                    </a:lnTo>
                    <a:lnTo>
                      <a:pt x="2146" y="490"/>
                    </a:lnTo>
                    <a:lnTo>
                      <a:pt x="1817" y="490"/>
                    </a:lnTo>
                    <a:close/>
                    <a:moveTo>
                      <a:pt x="1281" y="1368"/>
                    </a:moveTo>
                    <a:lnTo>
                      <a:pt x="1281" y="1497"/>
                    </a:lnTo>
                    <a:lnTo>
                      <a:pt x="2146" y="1497"/>
                    </a:lnTo>
                    <a:lnTo>
                      <a:pt x="2146" y="1668"/>
                    </a:lnTo>
                    <a:lnTo>
                      <a:pt x="1281" y="1668"/>
                    </a:lnTo>
                    <a:lnTo>
                      <a:pt x="1281" y="2149"/>
                    </a:lnTo>
                    <a:lnTo>
                      <a:pt x="944" y="2149"/>
                    </a:lnTo>
                    <a:lnTo>
                      <a:pt x="944" y="1668"/>
                    </a:lnTo>
                    <a:lnTo>
                      <a:pt x="88" y="1668"/>
                    </a:lnTo>
                    <a:lnTo>
                      <a:pt x="88" y="1497"/>
                    </a:lnTo>
                    <a:lnTo>
                      <a:pt x="944" y="1497"/>
                    </a:lnTo>
                    <a:lnTo>
                      <a:pt x="944" y="1368"/>
                    </a:lnTo>
                    <a:lnTo>
                      <a:pt x="1281" y="1368"/>
                    </a:lnTo>
                    <a:close/>
                    <a:moveTo>
                      <a:pt x="1115" y="999"/>
                    </a:moveTo>
                    <a:lnTo>
                      <a:pt x="1568" y="832"/>
                    </a:lnTo>
                    <a:lnTo>
                      <a:pt x="1568" y="745"/>
                    </a:lnTo>
                    <a:lnTo>
                      <a:pt x="726" y="745"/>
                    </a:lnTo>
                    <a:lnTo>
                      <a:pt x="675" y="837"/>
                    </a:lnTo>
                    <a:lnTo>
                      <a:pt x="1115" y="999"/>
                    </a:lnTo>
                    <a:close/>
                    <a:moveTo>
                      <a:pt x="2192" y="2126"/>
                    </a:moveTo>
                    <a:lnTo>
                      <a:pt x="1776" y="2126"/>
                    </a:lnTo>
                    <a:lnTo>
                      <a:pt x="1420" y="1733"/>
                    </a:lnTo>
                    <a:lnTo>
                      <a:pt x="1827" y="1733"/>
                    </a:lnTo>
                    <a:lnTo>
                      <a:pt x="2192" y="21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Freeform 19">
                <a:extLst>
                  <a:ext uri="{FF2B5EF4-FFF2-40B4-BE49-F238E27FC236}">
                    <a16:creationId xmlns:a16="http://schemas.microsoft.com/office/drawing/2014/main" id="{F26716A7-ED33-4E4F-BADB-2E2D22363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449" y="696666"/>
                <a:ext cx="376293" cy="364625"/>
              </a:xfrm>
              <a:custGeom>
                <a:avLst/>
                <a:gdLst>
                  <a:gd name="T0" fmla="*/ 615 w 2276"/>
                  <a:gd name="T1" fmla="*/ 943 h 2205"/>
                  <a:gd name="T2" fmla="*/ 897 w 2276"/>
                  <a:gd name="T3" fmla="*/ 1145 h 2205"/>
                  <a:gd name="T4" fmla="*/ 897 w 2276"/>
                  <a:gd name="T5" fmla="*/ 1548 h 2205"/>
                  <a:gd name="T6" fmla="*/ 583 w 2276"/>
                  <a:gd name="T7" fmla="*/ 1330 h 2205"/>
                  <a:gd name="T8" fmla="*/ 583 w 2276"/>
                  <a:gd name="T9" fmla="*/ 2204 h 2205"/>
                  <a:gd name="T10" fmla="*/ 241 w 2276"/>
                  <a:gd name="T11" fmla="*/ 2204 h 2205"/>
                  <a:gd name="T12" fmla="*/ 241 w 2276"/>
                  <a:gd name="T13" fmla="*/ 1478 h 2205"/>
                  <a:gd name="T14" fmla="*/ 0 w 2276"/>
                  <a:gd name="T15" fmla="*/ 1478 h 2205"/>
                  <a:gd name="T16" fmla="*/ 435 w 2276"/>
                  <a:gd name="T17" fmla="*/ 439 h 2205"/>
                  <a:gd name="T18" fmla="*/ 93 w 2276"/>
                  <a:gd name="T19" fmla="*/ 439 h 2205"/>
                  <a:gd name="T20" fmla="*/ 93 w 2276"/>
                  <a:gd name="T21" fmla="*/ 264 h 2205"/>
                  <a:gd name="T22" fmla="*/ 306 w 2276"/>
                  <a:gd name="T23" fmla="*/ 264 h 2205"/>
                  <a:gd name="T24" fmla="*/ 306 w 2276"/>
                  <a:gd name="T25" fmla="*/ 0 h 2205"/>
                  <a:gd name="T26" fmla="*/ 680 w 2276"/>
                  <a:gd name="T27" fmla="*/ 0 h 2205"/>
                  <a:gd name="T28" fmla="*/ 680 w 2276"/>
                  <a:gd name="T29" fmla="*/ 264 h 2205"/>
                  <a:gd name="T30" fmla="*/ 819 w 2276"/>
                  <a:gd name="T31" fmla="*/ 264 h 2205"/>
                  <a:gd name="T32" fmla="*/ 819 w 2276"/>
                  <a:gd name="T33" fmla="*/ 439 h 2205"/>
                  <a:gd name="T34" fmla="*/ 615 w 2276"/>
                  <a:gd name="T35" fmla="*/ 943 h 2205"/>
                  <a:gd name="T36" fmla="*/ 888 w 2276"/>
                  <a:gd name="T37" fmla="*/ 726 h 2205"/>
                  <a:gd name="T38" fmla="*/ 888 w 2276"/>
                  <a:gd name="T39" fmla="*/ 550 h 2205"/>
                  <a:gd name="T40" fmla="*/ 1360 w 2276"/>
                  <a:gd name="T41" fmla="*/ 550 h 2205"/>
                  <a:gd name="T42" fmla="*/ 1360 w 2276"/>
                  <a:gd name="T43" fmla="*/ 0 h 2205"/>
                  <a:gd name="T44" fmla="*/ 1702 w 2276"/>
                  <a:gd name="T45" fmla="*/ 0 h 2205"/>
                  <a:gd name="T46" fmla="*/ 1702 w 2276"/>
                  <a:gd name="T47" fmla="*/ 550 h 2205"/>
                  <a:gd name="T48" fmla="*/ 2178 w 2276"/>
                  <a:gd name="T49" fmla="*/ 550 h 2205"/>
                  <a:gd name="T50" fmla="*/ 2178 w 2276"/>
                  <a:gd name="T51" fmla="*/ 726 h 2205"/>
                  <a:gd name="T52" fmla="*/ 1702 w 2276"/>
                  <a:gd name="T53" fmla="*/ 726 h 2205"/>
                  <a:gd name="T54" fmla="*/ 1702 w 2276"/>
                  <a:gd name="T55" fmla="*/ 1996 h 2205"/>
                  <a:gd name="T56" fmla="*/ 2275 w 2276"/>
                  <a:gd name="T57" fmla="*/ 1996 h 2205"/>
                  <a:gd name="T58" fmla="*/ 2275 w 2276"/>
                  <a:gd name="T59" fmla="*/ 2172 h 2205"/>
                  <a:gd name="T60" fmla="*/ 763 w 2276"/>
                  <a:gd name="T61" fmla="*/ 2172 h 2205"/>
                  <a:gd name="T62" fmla="*/ 763 w 2276"/>
                  <a:gd name="T63" fmla="*/ 1996 h 2205"/>
                  <a:gd name="T64" fmla="*/ 1360 w 2276"/>
                  <a:gd name="T65" fmla="*/ 1996 h 2205"/>
                  <a:gd name="T66" fmla="*/ 1360 w 2276"/>
                  <a:gd name="T67" fmla="*/ 726 h 2205"/>
                  <a:gd name="T68" fmla="*/ 888 w 2276"/>
                  <a:gd name="T69" fmla="*/ 726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276" h="2205">
                    <a:moveTo>
                      <a:pt x="615" y="943"/>
                    </a:moveTo>
                    <a:lnTo>
                      <a:pt x="897" y="1145"/>
                    </a:lnTo>
                    <a:lnTo>
                      <a:pt x="897" y="1548"/>
                    </a:lnTo>
                    <a:lnTo>
                      <a:pt x="583" y="1330"/>
                    </a:lnTo>
                    <a:lnTo>
                      <a:pt x="583" y="2204"/>
                    </a:lnTo>
                    <a:lnTo>
                      <a:pt x="241" y="2204"/>
                    </a:lnTo>
                    <a:lnTo>
                      <a:pt x="241" y="1478"/>
                    </a:lnTo>
                    <a:lnTo>
                      <a:pt x="0" y="1478"/>
                    </a:lnTo>
                    <a:lnTo>
                      <a:pt x="435" y="439"/>
                    </a:lnTo>
                    <a:lnTo>
                      <a:pt x="93" y="439"/>
                    </a:lnTo>
                    <a:lnTo>
                      <a:pt x="93" y="264"/>
                    </a:lnTo>
                    <a:lnTo>
                      <a:pt x="306" y="264"/>
                    </a:lnTo>
                    <a:lnTo>
                      <a:pt x="306" y="0"/>
                    </a:lnTo>
                    <a:lnTo>
                      <a:pt x="680" y="0"/>
                    </a:lnTo>
                    <a:lnTo>
                      <a:pt x="680" y="264"/>
                    </a:lnTo>
                    <a:lnTo>
                      <a:pt x="819" y="264"/>
                    </a:lnTo>
                    <a:lnTo>
                      <a:pt x="819" y="439"/>
                    </a:lnTo>
                    <a:lnTo>
                      <a:pt x="615" y="943"/>
                    </a:lnTo>
                    <a:close/>
                    <a:moveTo>
                      <a:pt x="888" y="726"/>
                    </a:moveTo>
                    <a:lnTo>
                      <a:pt x="888" y="550"/>
                    </a:lnTo>
                    <a:lnTo>
                      <a:pt x="1360" y="550"/>
                    </a:lnTo>
                    <a:lnTo>
                      <a:pt x="1360" y="0"/>
                    </a:lnTo>
                    <a:lnTo>
                      <a:pt x="1702" y="0"/>
                    </a:lnTo>
                    <a:lnTo>
                      <a:pt x="1702" y="550"/>
                    </a:lnTo>
                    <a:lnTo>
                      <a:pt x="2178" y="550"/>
                    </a:lnTo>
                    <a:lnTo>
                      <a:pt x="2178" y="726"/>
                    </a:lnTo>
                    <a:lnTo>
                      <a:pt x="1702" y="726"/>
                    </a:lnTo>
                    <a:lnTo>
                      <a:pt x="1702" y="1996"/>
                    </a:lnTo>
                    <a:lnTo>
                      <a:pt x="2275" y="1996"/>
                    </a:lnTo>
                    <a:lnTo>
                      <a:pt x="2275" y="2172"/>
                    </a:lnTo>
                    <a:lnTo>
                      <a:pt x="763" y="2172"/>
                    </a:lnTo>
                    <a:lnTo>
                      <a:pt x="763" y="1996"/>
                    </a:lnTo>
                    <a:lnTo>
                      <a:pt x="1360" y="1996"/>
                    </a:lnTo>
                    <a:lnTo>
                      <a:pt x="1360" y="726"/>
                    </a:lnTo>
                    <a:lnTo>
                      <a:pt x="888" y="7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Freeform 20">
                <a:extLst>
                  <a:ext uri="{FF2B5EF4-FFF2-40B4-BE49-F238E27FC236}">
                    <a16:creationId xmlns:a16="http://schemas.microsoft.com/office/drawing/2014/main" id="{A25A530F-4DF9-E348-A512-A3FC76E24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9226" y="705417"/>
                <a:ext cx="328891" cy="352227"/>
              </a:xfrm>
              <a:custGeom>
                <a:avLst/>
                <a:gdLst>
                  <a:gd name="T0" fmla="*/ 1979 w 1990"/>
                  <a:gd name="T1" fmla="*/ 176 h 2131"/>
                  <a:gd name="T2" fmla="*/ 343 w 1990"/>
                  <a:gd name="T3" fmla="*/ 176 h 2131"/>
                  <a:gd name="T4" fmla="*/ 343 w 1990"/>
                  <a:gd name="T5" fmla="*/ 1954 h 2131"/>
                  <a:gd name="T6" fmla="*/ 1989 w 1990"/>
                  <a:gd name="T7" fmla="*/ 1954 h 2131"/>
                  <a:gd name="T8" fmla="*/ 1989 w 1990"/>
                  <a:gd name="T9" fmla="*/ 2130 h 2131"/>
                  <a:gd name="T10" fmla="*/ 0 w 1990"/>
                  <a:gd name="T11" fmla="*/ 2130 h 2131"/>
                  <a:gd name="T12" fmla="*/ 0 w 1990"/>
                  <a:gd name="T13" fmla="*/ 0 h 2131"/>
                  <a:gd name="T14" fmla="*/ 1979 w 1990"/>
                  <a:gd name="T15" fmla="*/ 0 h 2131"/>
                  <a:gd name="T16" fmla="*/ 1979 w 1990"/>
                  <a:gd name="T17" fmla="*/ 176 h 2131"/>
                  <a:gd name="T18" fmla="*/ 958 w 1990"/>
                  <a:gd name="T19" fmla="*/ 1063 h 2131"/>
                  <a:gd name="T20" fmla="*/ 421 w 1990"/>
                  <a:gd name="T21" fmla="*/ 310 h 2131"/>
                  <a:gd name="T22" fmla="*/ 847 w 1990"/>
                  <a:gd name="T23" fmla="*/ 310 h 2131"/>
                  <a:gd name="T24" fmla="*/ 1166 w 1990"/>
                  <a:gd name="T25" fmla="*/ 763 h 2131"/>
                  <a:gd name="T26" fmla="*/ 1475 w 1990"/>
                  <a:gd name="T27" fmla="*/ 310 h 2131"/>
                  <a:gd name="T28" fmla="*/ 1887 w 1990"/>
                  <a:gd name="T29" fmla="*/ 310 h 2131"/>
                  <a:gd name="T30" fmla="*/ 1378 w 1990"/>
                  <a:gd name="T31" fmla="*/ 1058 h 2131"/>
                  <a:gd name="T32" fmla="*/ 1924 w 1990"/>
                  <a:gd name="T33" fmla="*/ 1829 h 2131"/>
                  <a:gd name="T34" fmla="*/ 1508 w 1990"/>
                  <a:gd name="T35" fmla="*/ 1829 h 2131"/>
                  <a:gd name="T36" fmla="*/ 1175 w 1990"/>
                  <a:gd name="T37" fmla="*/ 1358 h 2131"/>
                  <a:gd name="T38" fmla="*/ 860 w 1990"/>
                  <a:gd name="T39" fmla="*/ 1829 h 2131"/>
                  <a:gd name="T40" fmla="*/ 440 w 1990"/>
                  <a:gd name="T41" fmla="*/ 1829 h 2131"/>
                  <a:gd name="T42" fmla="*/ 958 w 1990"/>
                  <a:gd name="T43" fmla="*/ 1063 h 2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90" h="2131">
                    <a:moveTo>
                      <a:pt x="1979" y="176"/>
                    </a:moveTo>
                    <a:lnTo>
                      <a:pt x="343" y="176"/>
                    </a:lnTo>
                    <a:lnTo>
                      <a:pt x="343" y="1954"/>
                    </a:lnTo>
                    <a:lnTo>
                      <a:pt x="1989" y="1954"/>
                    </a:lnTo>
                    <a:lnTo>
                      <a:pt x="1989" y="2130"/>
                    </a:lnTo>
                    <a:lnTo>
                      <a:pt x="0" y="2130"/>
                    </a:lnTo>
                    <a:lnTo>
                      <a:pt x="0" y="0"/>
                    </a:lnTo>
                    <a:lnTo>
                      <a:pt x="1979" y="0"/>
                    </a:lnTo>
                    <a:lnTo>
                      <a:pt x="1979" y="176"/>
                    </a:lnTo>
                    <a:close/>
                    <a:moveTo>
                      <a:pt x="958" y="1063"/>
                    </a:moveTo>
                    <a:lnTo>
                      <a:pt x="421" y="310"/>
                    </a:lnTo>
                    <a:lnTo>
                      <a:pt x="847" y="310"/>
                    </a:lnTo>
                    <a:lnTo>
                      <a:pt x="1166" y="763"/>
                    </a:lnTo>
                    <a:lnTo>
                      <a:pt x="1475" y="310"/>
                    </a:lnTo>
                    <a:lnTo>
                      <a:pt x="1887" y="310"/>
                    </a:lnTo>
                    <a:lnTo>
                      <a:pt x="1378" y="1058"/>
                    </a:lnTo>
                    <a:lnTo>
                      <a:pt x="1924" y="1829"/>
                    </a:lnTo>
                    <a:lnTo>
                      <a:pt x="1508" y="1829"/>
                    </a:lnTo>
                    <a:lnTo>
                      <a:pt x="1175" y="1358"/>
                    </a:lnTo>
                    <a:lnTo>
                      <a:pt x="860" y="1829"/>
                    </a:lnTo>
                    <a:lnTo>
                      <a:pt x="440" y="1829"/>
                    </a:lnTo>
                    <a:lnTo>
                      <a:pt x="958" y="106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06B569DB-EE88-CB4A-A634-A7CA45E81663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69ABA2F-7A98-FE44-912C-23CCE000584E}"/>
              </a:ext>
            </a:extLst>
          </p:cNvPr>
          <p:cNvGrpSpPr/>
          <p:nvPr userDrawn="1"/>
        </p:nvGrpSpPr>
        <p:grpSpPr>
          <a:xfrm>
            <a:off x="10332133" y="426643"/>
            <a:ext cx="927707" cy="369331"/>
            <a:chOff x="1113126" y="809213"/>
            <a:chExt cx="2133357" cy="523762"/>
          </a:xfrm>
          <a:solidFill>
            <a:schemeClr val="bg1">
              <a:lumMod val="75000"/>
            </a:schemeClr>
          </a:solidFill>
        </p:grpSpPr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5034F0ED-7F0F-A647-8634-57EC9EDD7255}"/>
                </a:ext>
              </a:extLst>
            </p:cNvPr>
            <p:cNvSpPr/>
            <p:nvPr userDrawn="1"/>
          </p:nvSpPr>
          <p:spPr>
            <a:xfrm>
              <a:off x="1113126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D081D63E-0DB7-F145-BD48-A7D925A71793}"/>
                </a:ext>
              </a:extLst>
            </p:cNvPr>
            <p:cNvSpPr/>
            <p:nvPr userDrawn="1"/>
          </p:nvSpPr>
          <p:spPr>
            <a:xfrm>
              <a:off x="1649658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DE68830E-1F7F-B045-A86E-6FF9C25B8D77}"/>
                </a:ext>
              </a:extLst>
            </p:cNvPr>
            <p:cNvSpPr/>
            <p:nvPr userDrawn="1"/>
          </p:nvSpPr>
          <p:spPr>
            <a:xfrm>
              <a:off x="2186190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86747901-9919-AD4B-8F5D-A15F9E1E169D}"/>
                </a:ext>
              </a:extLst>
            </p:cNvPr>
            <p:cNvSpPr/>
            <p:nvPr userDrawn="1"/>
          </p:nvSpPr>
          <p:spPr>
            <a:xfrm>
              <a:off x="2722721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2BB61636-6036-1C48-82CA-04EB1597C9CC}"/>
              </a:ext>
            </a:extLst>
          </p:cNvPr>
          <p:cNvSpPr/>
          <p:nvPr userDrawn="1"/>
        </p:nvSpPr>
        <p:spPr>
          <a:xfrm>
            <a:off x="10245804" y="413133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800" b="1" cap="none" spc="0" dirty="0">
                <a:ln w="22225">
                  <a:noFill/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我的学校</a:t>
            </a: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1D75728-DE08-814F-9EF0-7E9AFB999FE6}"/>
              </a:ext>
            </a:extLst>
          </p:cNvPr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>
              <a:extLst>
                <a:ext uri="{FF2B5EF4-FFF2-40B4-BE49-F238E27FC236}">
                  <a16:creationId xmlns:a16="http://schemas.microsoft.com/office/drawing/2014/main" id="{53F1A011-1E52-3140-9C21-8911AB322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>
              <a:extLst>
                <a:ext uri="{FF2B5EF4-FFF2-40B4-BE49-F238E27FC236}">
                  <a16:creationId xmlns:a16="http://schemas.microsoft.com/office/drawing/2014/main" id="{364873AD-F7AE-3D48-84F0-C71836518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>
              <a:extLst>
                <a:ext uri="{FF2B5EF4-FFF2-40B4-BE49-F238E27FC236}">
                  <a16:creationId xmlns:a16="http://schemas.microsoft.com/office/drawing/2014/main" id="{5B03D593-4A0D-DF4E-8474-4FAD50C6B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>
              <a:extLst>
                <a:ext uri="{FF2B5EF4-FFF2-40B4-BE49-F238E27FC236}">
                  <a16:creationId xmlns:a16="http://schemas.microsoft.com/office/drawing/2014/main" id="{1A0E5E70-2235-6044-9E4C-A8D320929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9F25C08B-5CAA-1D40-B768-CF07CC909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A1A66D2D-2EC2-AA45-8DA4-4B543D6DB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BF5A2635-9D3C-B746-B7BB-00E1B5440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9A427AEE-5F0B-1D43-8127-A5A07CDC3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E60E42BA-4A46-4D41-AA72-E2F725048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5B1734EF-4E6E-164F-849F-5F0125656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8623BE8B-4483-AE4A-A6EA-432CBE50B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884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A6BC-3A36-834A-8A46-510CF743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F4A777-4880-8640-83A6-327323A56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2510C-46FB-B140-83A3-4B9EF1B4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59310F-E4CA-E54F-B1B1-7656B1F4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8699" y="6498018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/>
              <a:t>5.3 </a:t>
            </a:r>
            <a:r>
              <a:rPr kumimoji="1" lang="zh-CN" altLang="en-US"/>
              <a:t>网络互联</a:t>
            </a:r>
            <a:endParaRPr kumimoji="1" lang="zh-CN" alt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A41358-8B3C-CE4B-B391-06B0FF85E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801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引自：</a:t>
            </a:r>
            <a:r>
              <a:rPr kumimoji="1" lang="en-US" altLang="zh-CN"/>
              <a:t>XXXXX</a:t>
            </a:r>
            <a:r>
              <a:rPr kumimoji="1" lang="zh-CN" altLang="en-US"/>
              <a:t>（如果需要）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B6C4E-D29D-9647-82C6-2B183C58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8019"/>
            <a:ext cx="3319670" cy="365125"/>
          </a:xfrm>
          <a:prstGeom prst="rect">
            <a:avLst/>
          </a:prstGeom>
        </p:spPr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A401A9-3F89-014C-9A94-02FD1A5217FC}"/>
              </a:ext>
            </a:extLst>
          </p:cNvPr>
          <p:cNvSpPr/>
          <p:nvPr userDrawn="1"/>
        </p:nvSpPr>
        <p:spPr>
          <a:xfrm>
            <a:off x="667831" y="553426"/>
            <a:ext cx="509313" cy="498948"/>
          </a:xfrm>
          <a:prstGeom prst="rect">
            <a:avLst/>
          </a:prstGeom>
          <a:solidFill>
            <a:srgbClr val="5C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5C307E"/>
              </a:solidFill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D64F221-C9B8-444F-9076-736EED2DA56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75304E3-D2BA-6B43-A9CA-868095E37E2C}"/>
              </a:ext>
            </a:extLst>
          </p:cNvPr>
          <p:cNvGrpSpPr/>
          <p:nvPr userDrawn="1"/>
        </p:nvGrpSpPr>
        <p:grpSpPr>
          <a:xfrm>
            <a:off x="9849450" y="844221"/>
            <a:ext cx="1961485" cy="208345"/>
            <a:chOff x="1368170" y="1165302"/>
            <a:chExt cx="4139947" cy="439737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C6BD9614-F72F-8A43-9314-4D110B22A613}"/>
                </a:ext>
              </a:extLst>
            </p:cNvPr>
            <p:cNvGrpSpPr/>
            <p:nvPr/>
          </p:nvGrpSpPr>
          <p:grpSpPr>
            <a:xfrm>
              <a:off x="1368170" y="1165302"/>
              <a:ext cx="550582" cy="439737"/>
              <a:chOff x="1368170" y="664579"/>
              <a:chExt cx="550582" cy="439737"/>
            </a:xfrm>
          </p:grpSpPr>
          <p:sp>
            <p:nvSpPr>
              <p:cNvPr id="22" name="Freeform 1">
                <a:extLst>
                  <a:ext uri="{FF2B5EF4-FFF2-40B4-BE49-F238E27FC236}">
                    <a16:creationId xmlns:a16="http://schemas.microsoft.com/office/drawing/2014/main" id="{17E3AC1A-2BCC-CA46-AC9B-ECC6AD4DD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1203" y="771778"/>
                <a:ext cx="437549" cy="332538"/>
              </a:xfrm>
              <a:custGeom>
                <a:avLst/>
                <a:gdLst>
                  <a:gd name="T0" fmla="*/ 25 w 2647"/>
                  <a:gd name="T1" fmla="*/ 1478 h 2011"/>
                  <a:gd name="T2" fmla="*/ 525 w 2647"/>
                  <a:gd name="T3" fmla="*/ 1865 h 2011"/>
                  <a:gd name="T4" fmla="*/ 736 w 2647"/>
                  <a:gd name="T5" fmla="*/ 1972 h 2011"/>
                  <a:gd name="T6" fmla="*/ 940 w 2647"/>
                  <a:gd name="T7" fmla="*/ 2010 h 2011"/>
                  <a:gd name="T8" fmla="*/ 1078 w 2647"/>
                  <a:gd name="T9" fmla="*/ 1991 h 2011"/>
                  <a:gd name="T10" fmla="*/ 1286 w 2647"/>
                  <a:gd name="T11" fmla="*/ 1894 h 2011"/>
                  <a:gd name="T12" fmla="*/ 1506 w 2647"/>
                  <a:gd name="T13" fmla="*/ 1715 h 2011"/>
                  <a:gd name="T14" fmla="*/ 1506 w 2647"/>
                  <a:gd name="T15" fmla="*/ 1715 h 2011"/>
                  <a:gd name="T16" fmla="*/ 2630 w 2647"/>
                  <a:gd name="T17" fmla="*/ 624 h 2011"/>
                  <a:gd name="T18" fmla="*/ 2646 w 2647"/>
                  <a:gd name="T19" fmla="*/ 586 h 2011"/>
                  <a:gd name="T20" fmla="*/ 2630 w 2647"/>
                  <a:gd name="T21" fmla="*/ 548 h 2011"/>
                  <a:gd name="T22" fmla="*/ 2090 w 2647"/>
                  <a:gd name="T23" fmla="*/ 21 h 2011"/>
                  <a:gd name="T24" fmla="*/ 2016 w 2647"/>
                  <a:gd name="T25" fmla="*/ 22 h 2011"/>
                  <a:gd name="T26" fmla="*/ 2017 w 2647"/>
                  <a:gd name="T27" fmla="*/ 96 h 2011"/>
                  <a:gd name="T28" fmla="*/ 2518 w 2647"/>
                  <a:gd name="T29" fmla="*/ 586 h 2011"/>
                  <a:gd name="T30" fmla="*/ 1433 w 2647"/>
                  <a:gd name="T31" fmla="*/ 1639 h 2011"/>
                  <a:gd name="T32" fmla="*/ 1433 w 2647"/>
                  <a:gd name="T33" fmla="*/ 1639 h 2011"/>
                  <a:gd name="T34" fmla="*/ 1167 w 2647"/>
                  <a:gd name="T35" fmla="*/ 1843 h 2011"/>
                  <a:gd name="T36" fmla="*/ 1051 w 2647"/>
                  <a:gd name="T37" fmla="*/ 1889 h 2011"/>
                  <a:gd name="T38" fmla="*/ 940 w 2647"/>
                  <a:gd name="T39" fmla="*/ 1904 h 2011"/>
                  <a:gd name="T40" fmla="*/ 772 w 2647"/>
                  <a:gd name="T41" fmla="*/ 1872 h 2011"/>
                  <a:gd name="T42" fmla="*/ 474 w 2647"/>
                  <a:gd name="T43" fmla="*/ 1704 h 2011"/>
                  <a:gd name="T44" fmla="*/ 93 w 2647"/>
                  <a:gd name="T45" fmla="*/ 1398 h 2011"/>
                  <a:gd name="T46" fmla="*/ 19 w 2647"/>
                  <a:gd name="T47" fmla="*/ 1404 h 2011"/>
                  <a:gd name="T48" fmla="*/ 25 w 2647"/>
                  <a:gd name="T49" fmla="*/ 1478 h 2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47" h="2011">
                    <a:moveTo>
                      <a:pt x="25" y="1478"/>
                    </a:moveTo>
                    <a:cubicBezTo>
                      <a:pt x="219" y="1643"/>
                      <a:pt x="380" y="1773"/>
                      <a:pt x="525" y="1865"/>
                    </a:cubicBezTo>
                    <a:cubicBezTo>
                      <a:pt x="598" y="1911"/>
                      <a:pt x="668" y="1947"/>
                      <a:pt x="736" y="1972"/>
                    </a:cubicBezTo>
                    <a:cubicBezTo>
                      <a:pt x="805" y="1996"/>
                      <a:pt x="872" y="2010"/>
                      <a:pt x="940" y="2010"/>
                    </a:cubicBezTo>
                    <a:cubicBezTo>
                      <a:pt x="986" y="2010"/>
                      <a:pt x="1032" y="2004"/>
                      <a:pt x="1078" y="1991"/>
                    </a:cubicBezTo>
                    <a:cubicBezTo>
                      <a:pt x="1147" y="1973"/>
                      <a:pt x="1216" y="1940"/>
                      <a:pt x="1286" y="1894"/>
                    </a:cubicBezTo>
                    <a:cubicBezTo>
                      <a:pt x="1357" y="1848"/>
                      <a:pt x="1429" y="1789"/>
                      <a:pt x="1506" y="1715"/>
                    </a:cubicBezTo>
                    <a:lnTo>
                      <a:pt x="1506" y="1715"/>
                    </a:lnTo>
                    <a:lnTo>
                      <a:pt x="2630" y="624"/>
                    </a:lnTo>
                    <a:cubicBezTo>
                      <a:pt x="2640" y="614"/>
                      <a:pt x="2646" y="600"/>
                      <a:pt x="2646" y="586"/>
                    </a:cubicBezTo>
                    <a:cubicBezTo>
                      <a:pt x="2646" y="572"/>
                      <a:pt x="2641" y="558"/>
                      <a:pt x="2630" y="548"/>
                    </a:cubicBezTo>
                    <a:lnTo>
                      <a:pt x="2090" y="21"/>
                    </a:lnTo>
                    <a:cubicBezTo>
                      <a:pt x="2069" y="0"/>
                      <a:pt x="2036" y="1"/>
                      <a:pt x="2016" y="22"/>
                    </a:cubicBezTo>
                    <a:cubicBezTo>
                      <a:pt x="1995" y="42"/>
                      <a:pt x="1996" y="76"/>
                      <a:pt x="2017" y="96"/>
                    </a:cubicBezTo>
                    <a:lnTo>
                      <a:pt x="2518" y="586"/>
                    </a:lnTo>
                    <a:lnTo>
                      <a:pt x="1433" y="1639"/>
                    </a:lnTo>
                    <a:lnTo>
                      <a:pt x="1433" y="1639"/>
                    </a:lnTo>
                    <a:cubicBezTo>
                      <a:pt x="1335" y="1733"/>
                      <a:pt x="1247" y="1800"/>
                      <a:pt x="1167" y="1843"/>
                    </a:cubicBezTo>
                    <a:cubicBezTo>
                      <a:pt x="1127" y="1864"/>
                      <a:pt x="1088" y="1879"/>
                      <a:pt x="1051" y="1889"/>
                    </a:cubicBezTo>
                    <a:cubicBezTo>
                      <a:pt x="1013" y="1899"/>
                      <a:pt x="977" y="1904"/>
                      <a:pt x="940" y="1904"/>
                    </a:cubicBezTo>
                    <a:cubicBezTo>
                      <a:pt x="886" y="1904"/>
                      <a:pt x="831" y="1894"/>
                      <a:pt x="772" y="1872"/>
                    </a:cubicBezTo>
                    <a:cubicBezTo>
                      <a:pt x="683" y="1840"/>
                      <a:pt x="586" y="1784"/>
                      <a:pt x="474" y="1704"/>
                    </a:cubicBezTo>
                    <a:cubicBezTo>
                      <a:pt x="363" y="1624"/>
                      <a:pt x="238" y="1521"/>
                      <a:pt x="93" y="1398"/>
                    </a:cubicBezTo>
                    <a:cubicBezTo>
                      <a:pt x="71" y="1379"/>
                      <a:pt x="38" y="1382"/>
                      <a:pt x="19" y="1404"/>
                    </a:cubicBezTo>
                    <a:cubicBezTo>
                      <a:pt x="0" y="1426"/>
                      <a:pt x="3" y="1459"/>
                      <a:pt x="25" y="1478"/>
                    </a:cubicBezTo>
                  </a:path>
                </a:pathLst>
              </a:custGeom>
              <a:solidFill>
                <a:srgbClr val="D7222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Freeform 2">
                <a:extLst>
                  <a:ext uri="{FF2B5EF4-FFF2-40B4-BE49-F238E27FC236}">
                    <a16:creationId xmlns:a16="http://schemas.microsoft.com/office/drawing/2014/main" id="{8FC97171-0F8A-6B4A-BC04-4A83196EE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1832" y="868769"/>
                <a:ext cx="356603" cy="190334"/>
              </a:xfrm>
              <a:custGeom>
                <a:avLst/>
                <a:gdLst>
                  <a:gd name="T0" fmla="*/ 15 w 2158"/>
                  <a:gd name="T1" fmla="*/ 713 h 1152"/>
                  <a:gd name="T2" fmla="*/ 432 w 2158"/>
                  <a:gd name="T3" fmla="*/ 1033 h 1152"/>
                  <a:gd name="T4" fmla="*/ 605 w 2158"/>
                  <a:gd name="T5" fmla="*/ 1120 h 1152"/>
                  <a:gd name="T6" fmla="*/ 771 w 2158"/>
                  <a:gd name="T7" fmla="*/ 1151 h 1152"/>
                  <a:gd name="T8" fmla="*/ 896 w 2158"/>
                  <a:gd name="T9" fmla="*/ 1132 h 1152"/>
                  <a:gd name="T10" fmla="*/ 1089 w 2158"/>
                  <a:gd name="T11" fmla="*/ 1036 h 1152"/>
                  <a:gd name="T12" fmla="*/ 1305 w 2158"/>
                  <a:gd name="T13" fmla="*/ 856 h 1152"/>
                  <a:gd name="T14" fmla="*/ 1305 w 2158"/>
                  <a:gd name="T15" fmla="*/ 856 h 1152"/>
                  <a:gd name="T16" fmla="*/ 2144 w 2158"/>
                  <a:gd name="T17" fmla="*/ 57 h 1152"/>
                  <a:gd name="T18" fmla="*/ 2145 w 2158"/>
                  <a:gd name="T19" fmla="*/ 13 h 1152"/>
                  <a:gd name="T20" fmla="*/ 2100 w 2158"/>
                  <a:gd name="T21" fmla="*/ 12 h 1152"/>
                  <a:gd name="T22" fmla="*/ 1262 w 2158"/>
                  <a:gd name="T23" fmla="*/ 811 h 1152"/>
                  <a:gd name="T24" fmla="*/ 1262 w 2158"/>
                  <a:gd name="T25" fmla="*/ 811 h 1152"/>
                  <a:gd name="T26" fmla="*/ 993 w 2158"/>
                  <a:gd name="T27" fmla="*/ 1023 h 1152"/>
                  <a:gd name="T28" fmla="*/ 878 w 2158"/>
                  <a:gd name="T29" fmla="*/ 1072 h 1152"/>
                  <a:gd name="T30" fmla="*/ 771 w 2158"/>
                  <a:gd name="T31" fmla="*/ 1088 h 1152"/>
                  <a:gd name="T32" fmla="*/ 626 w 2158"/>
                  <a:gd name="T33" fmla="*/ 1061 h 1152"/>
                  <a:gd name="T34" fmla="*/ 376 w 2158"/>
                  <a:gd name="T35" fmla="*/ 920 h 1152"/>
                  <a:gd name="T36" fmla="*/ 55 w 2158"/>
                  <a:gd name="T37" fmla="*/ 665 h 1152"/>
                  <a:gd name="T38" fmla="*/ 11 w 2158"/>
                  <a:gd name="T39" fmla="*/ 669 h 1152"/>
                  <a:gd name="T40" fmla="*/ 15 w 2158"/>
                  <a:gd name="T41" fmla="*/ 713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15" y="713"/>
                    </a:moveTo>
                    <a:cubicBezTo>
                      <a:pt x="179" y="850"/>
                      <a:pt x="312" y="958"/>
                      <a:pt x="432" y="1033"/>
                    </a:cubicBezTo>
                    <a:cubicBezTo>
                      <a:pt x="492" y="1071"/>
                      <a:pt x="549" y="1100"/>
                      <a:pt x="605" y="1120"/>
                    </a:cubicBezTo>
                    <a:cubicBezTo>
                      <a:pt x="661" y="1140"/>
                      <a:pt x="716" y="1151"/>
                      <a:pt x="771" y="1151"/>
                    </a:cubicBezTo>
                    <a:cubicBezTo>
                      <a:pt x="812" y="1151"/>
                      <a:pt x="854" y="1145"/>
                      <a:pt x="896" y="1132"/>
                    </a:cubicBezTo>
                    <a:cubicBezTo>
                      <a:pt x="959" y="1114"/>
                      <a:pt x="1022" y="1082"/>
                      <a:pt x="1089" y="1036"/>
                    </a:cubicBezTo>
                    <a:cubicBezTo>
                      <a:pt x="1156" y="990"/>
                      <a:pt x="1227" y="931"/>
                      <a:pt x="1305" y="856"/>
                    </a:cubicBezTo>
                    <a:lnTo>
                      <a:pt x="1305" y="856"/>
                    </a:lnTo>
                    <a:lnTo>
                      <a:pt x="2144" y="57"/>
                    </a:lnTo>
                    <a:cubicBezTo>
                      <a:pt x="2156" y="45"/>
                      <a:pt x="2157" y="25"/>
                      <a:pt x="2145" y="13"/>
                    </a:cubicBezTo>
                    <a:cubicBezTo>
                      <a:pt x="2133" y="0"/>
                      <a:pt x="2113" y="0"/>
                      <a:pt x="2100" y="12"/>
                    </a:cubicBezTo>
                    <a:lnTo>
                      <a:pt x="1262" y="811"/>
                    </a:lnTo>
                    <a:lnTo>
                      <a:pt x="1262" y="811"/>
                    </a:lnTo>
                    <a:cubicBezTo>
                      <a:pt x="1160" y="908"/>
                      <a:pt x="1072" y="978"/>
                      <a:pt x="993" y="1023"/>
                    </a:cubicBezTo>
                    <a:cubicBezTo>
                      <a:pt x="953" y="1045"/>
                      <a:pt x="915" y="1062"/>
                      <a:pt x="878" y="1072"/>
                    </a:cubicBezTo>
                    <a:cubicBezTo>
                      <a:pt x="842" y="1083"/>
                      <a:pt x="806" y="1088"/>
                      <a:pt x="771" y="1088"/>
                    </a:cubicBezTo>
                    <a:cubicBezTo>
                      <a:pt x="724" y="1088"/>
                      <a:pt x="677" y="1079"/>
                      <a:pt x="626" y="1061"/>
                    </a:cubicBezTo>
                    <a:cubicBezTo>
                      <a:pt x="551" y="1034"/>
                      <a:pt x="469" y="987"/>
                      <a:pt x="376" y="920"/>
                    </a:cubicBezTo>
                    <a:cubicBezTo>
                      <a:pt x="282" y="853"/>
                      <a:pt x="177" y="767"/>
                      <a:pt x="55" y="665"/>
                    </a:cubicBezTo>
                    <a:cubicBezTo>
                      <a:pt x="42" y="654"/>
                      <a:pt x="22" y="656"/>
                      <a:pt x="11" y="669"/>
                    </a:cubicBezTo>
                    <a:cubicBezTo>
                      <a:pt x="0" y="682"/>
                      <a:pt x="1" y="702"/>
                      <a:pt x="15" y="713"/>
                    </a:cubicBezTo>
                  </a:path>
                </a:pathLst>
              </a:custGeom>
              <a:solidFill>
                <a:srgbClr val="DD4A1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Freeform 3">
                <a:extLst>
                  <a:ext uri="{FF2B5EF4-FFF2-40B4-BE49-F238E27FC236}">
                    <a16:creationId xmlns:a16="http://schemas.microsoft.com/office/drawing/2014/main" id="{2486AB9B-C9E8-E94F-B7E8-57CD96498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0273" y="847620"/>
                <a:ext cx="304826" cy="169186"/>
              </a:xfrm>
              <a:custGeom>
                <a:avLst/>
                <a:gdLst>
                  <a:gd name="T0" fmla="*/ 12 w 1845"/>
                  <a:gd name="T1" fmla="*/ 672 h 1022"/>
                  <a:gd name="T2" fmla="*/ 350 w 1845"/>
                  <a:gd name="T3" fmla="*/ 928 h 1022"/>
                  <a:gd name="T4" fmla="*/ 488 w 1845"/>
                  <a:gd name="T5" fmla="*/ 997 h 1022"/>
                  <a:gd name="T6" fmla="*/ 620 w 1845"/>
                  <a:gd name="T7" fmla="*/ 1021 h 1022"/>
                  <a:gd name="T8" fmla="*/ 734 w 1845"/>
                  <a:gd name="T9" fmla="*/ 1003 h 1022"/>
                  <a:gd name="T10" fmla="*/ 915 w 1845"/>
                  <a:gd name="T11" fmla="*/ 905 h 1022"/>
                  <a:gd name="T12" fmla="*/ 1129 w 1845"/>
                  <a:gd name="T13" fmla="*/ 720 h 1022"/>
                  <a:gd name="T14" fmla="*/ 1129 w 1845"/>
                  <a:gd name="T15" fmla="*/ 720 h 1022"/>
                  <a:gd name="T16" fmla="*/ 1834 w 1845"/>
                  <a:gd name="T17" fmla="*/ 42 h 1022"/>
                  <a:gd name="T18" fmla="*/ 1835 w 1845"/>
                  <a:gd name="T19" fmla="*/ 10 h 1022"/>
                  <a:gd name="T20" fmla="*/ 1802 w 1845"/>
                  <a:gd name="T21" fmla="*/ 9 h 1022"/>
                  <a:gd name="T22" fmla="*/ 1097 w 1845"/>
                  <a:gd name="T23" fmla="*/ 687 h 1022"/>
                  <a:gd name="T24" fmla="*/ 1097 w 1845"/>
                  <a:gd name="T25" fmla="*/ 687 h 1022"/>
                  <a:gd name="T26" fmla="*/ 828 w 1845"/>
                  <a:gd name="T27" fmla="*/ 907 h 1022"/>
                  <a:gd name="T28" fmla="*/ 720 w 1845"/>
                  <a:gd name="T29" fmla="*/ 959 h 1022"/>
                  <a:gd name="T30" fmla="*/ 620 w 1845"/>
                  <a:gd name="T31" fmla="*/ 975 h 1022"/>
                  <a:gd name="T32" fmla="*/ 504 w 1845"/>
                  <a:gd name="T33" fmla="*/ 954 h 1022"/>
                  <a:gd name="T34" fmla="*/ 302 w 1845"/>
                  <a:gd name="T35" fmla="*/ 841 h 1022"/>
                  <a:gd name="T36" fmla="*/ 41 w 1845"/>
                  <a:gd name="T37" fmla="*/ 636 h 1022"/>
                  <a:gd name="T38" fmla="*/ 9 w 1845"/>
                  <a:gd name="T39" fmla="*/ 640 h 1022"/>
                  <a:gd name="T40" fmla="*/ 12 w 1845"/>
                  <a:gd name="T41" fmla="*/ 672 h 10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5" h="1022">
                    <a:moveTo>
                      <a:pt x="12" y="672"/>
                    </a:moveTo>
                    <a:cubicBezTo>
                      <a:pt x="146" y="782"/>
                      <a:pt x="254" y="868"/>
                      <a:pt x="350" y="928"/>
                    </a:cubicBezTo>
                    <a:cubicBezTo>
                      <a:pt x="398" y="958"/>
                      <a:pt x="444" y="981"/>
                      <a:pt x="488" y="997"/>
                    </a:cubicBezTo>
                    <a:cubicBezTo>
                      <a:pt x="533" y="1013"/>
                      <a:pt x="576" y="1021"/>
                      <a:pt x="620" y="1021"/>
                    </a:cubicBezTo>
                    <a:cubicBezTo>
                      <a:pt x="658" y="1021"/>
                      <a:pt x="695" y="1015"/>
                      <a:pt x="734" y="1003"/>
                    </a:cubicBezTo>
                    <a:cubicBezTo>
                      <a:pt x="791" y="984"/>
                      <a:pt x="850" y="952"/>
                      <a:pt x="915" y="905"/>
                    </a:cubicBezTo>
                    <a:cubicBezTo>
                      <a:pt x="980" y="858"/>
                      <a:pt x="1050" y="797"/>
                      <a:pt x="1129" y="720"/>
                    </a:cubicBezTo>
                    <a:lnTo>
                      <a:pt x="1129" y="720"/>
                    </a:lnTo>
                    <a:lnTo>
                      <a:pt x="1834" y="42"/>
                    </a:lnTo>
                    <a:cubicBezTo>
                      <a:pt x="1843" y="34"/>
                      <a:pt x="1844" y="19"/>
                      <a:pt x="1835" y="10"/>
                    </a:cubicBezTo>
                    <a:cubicBezTo>
                      <a:pt x="1826" y="1"/>
                      <a:pt x="1811" y="0"/>
                      <a:pt x="1802" y="9"/>
                    </a:cubicBezTo>
                    <a:lnTo>
                      <a:pt x="1097" y="687"/>
                    </a:lnTo>
                    <a:lnTo>
                      <a:pt x="1097" y="687"/>
                    </a:lnTo>
                    <a:cubicBezTo>
                      <a:pt x="992" y="788"/>
                      <a:pt x="905" y="861"/>
                      <a:pt x="828" y="907"/>
                    </a:cubicBezTo>
                    <a:cubicBezTo>
                      <a:pt x="790" y="931"/>
                      <a:pt x="754" y="948"/>
                      <a:pt x="720" y="959"/>
                    </a:cubicBezTo>
                    <a:cubicBezTo>
                      <a:pt x="685" y="970"/>
                      <a:pt x="653" y="975"/>
                      <a:pt x="620" y="975"/>
                    </a:cubicBezTo>
                    <a:cubicBezTo>
                      <a:pt x="582" y="975"/>
                      <a:pt x="544" y="968"/>
                      <a:pt x="504" y="954"/>
                    </a:cubicBezTo>
                    <a:cubicBezTo>
                      <a:pt x="443" y="932"/>
                      <a:pt x="378" y="894"/>
                      <a:pt x="302" y="841"/>
                    </a:cubicBezTo>
                    <a:cubicBezTo>
                      <a:pt x="227" y="787"/>
                      <a:pt x="141" y="718"/>
                      <a:pt x="41" y="636"/>
                    </a:cubicBezTo>
                    <a:cubicBezTo>
                      <a:pt x="31" y="628"/>
                      <a:pt x="17" y="630"/>
                      <a:pt x="9" y="640"/>
                    </a:cubicBezTo>
                    <a:cubicBezTo>
                      <a:pt x="0" y="649"/>
                      <a:pt x="2" y="664"/>
                      <a:pt x="12" y="672"/>
                    </a:cubicBezTo>
                  </a:path>
                </a:pathLst>
              </a:custGeom>
              <a:solidFill>
                <a:srgbClr val="EA741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Freeform 4">
                <a:extLst>
                  <a:ext uri="{FF2B5EF4-FFF2-40B4-BE49-F238E27FC236}">
                    <a16:creationId xmlns:a16="http://schemas.microsoft.com/office/drawing/2014/main" id="{18A408D8-23CF-864B-9403-912ED0D24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8713" y="826472"/>
                <a:ext cx="253050" cy="148037"/>
              </a:xfrm>
              <a:custGeom>
                <a:avLst/>
                <a:gdLst>
                  <a:gd name="T0" fmla="*/ 8 w 1531"/>
                  <a:gd name="T1" fmla="*/ 630 h 895"/>
                  <a:gd name="T2" fmla="*/ 269 w 1531"/>
                  <a:gd name="T3" fmla="*/ 824 h 895"/>
                  <a:gd name="T4" fmla="*/ 374 w 1531"/>
                  <a:gd name="T5" fmla="*/ 876 h 895"/>
                  <a:gd name="T6" fmla="*/ 473 w 1531"/>
                  <a:gd name="T7" fmla="*/ 894 h 895"/>
                  <a:gd name="T8" fmla="*/ 573 w 1531"/>
                  <a:gd name="T9" fmla="*/ 875 h 895"/>
                  <a:gd name="T10" fmla="*/ 739 w 1531"/>
                  <a:gd name="T11" fmla="*/ 775 h 895"/>
                  <a:gd name="T12" fmla="*/ 953 w 1531"/>
                  <a:gd name="T13" fmla="*/ 584 h 895"/>
                  <a:gd name="T14" fmla="*/ 953 w 1531"/>
                  <a:gd name="T15" fmla="*/ 584 h 895"/>
                  <a:gd name="T16" fmla="*/ 1524 w 1531"/>
                  <a:gd name="T17" fmla="*/ 27 h 895"/>
                  <a:gd name="T18" fmla="*/ 1524 w 1531"/>
                  <a:gd name="T19" fmla="*/ 6 h 895"/>
                  <a:gd name="T20" fmla="*/ 1503 w 1531"/>
                  <a:gd name="T21" fmla="*/ 6 h 895"/>
                  <a:gd name="T22" fmla="*/ 932 w 1531"/>
                  <a:gd name="T23" fmla="*/ 563 h 895"/>
                  <a:gd name="T24" fmla="*/ 932 w 1531"/>
                  <a:gd name="T25" fmla="*/ 563 h 895"/>
                  <a:gd name="T26" fmla="*/ 663 w 1531"/>
                  <a:gd name="T27" fmla="*/ 793 h 895"/>
                  <a:gd name="T28" fmla="*/ 562 w 1531"/>
                  <a:gd name="T29" fmla="*/ 847 h 895"/>
                  <a:gd name="T30" fmla="*/ 473 w 1531"/>
                  <a:gd name="T31" fmla="*/ 865 h 895"/>
                  <a:gd name="T32" fmla="*/ 384 w 1531"/>
                  <a:gd name="T33" fmla="*/ 848 h 895"/>
                  <a:gd name="T34" fmla="*/ 229 w 1531"/>
                  <a:gd name="T35" fmla="*/ 762 h 895"/>
                  <a:gd name="T36" fmla="*/ 26 w 1531"/>
                  <a:gd name="T37" fmla="*/ 607 h 895"/>
                  <a:gd name="T38" fmla="*/ 5 w 1531"/>
                  <a:gd name="T39" fmla="*/ 609 h 895"/>
                  <a:gd name="T40" fmla="*/ 8 w 1531"/>
                  <a:gd name="T41" fmla="*/ 630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1" h="895">
                    <a:moveTo>
                      <a:pt x="8" y="630"/>
                    </a:moveTo>
                    <a:cubicBezTo>
                      <a:pt x="113" y="714"/>
                      <a:pt x="196" y="779"/>
                      <a:pt x="269" y="824"/>
                    </a:cubicBezTo>
                    <a:cubicBezTo>
                      <a:pt x="306" y="847"/>
                      <a:pt x="340" y="864"/>
                      <a:pt x="374" y="876"/>
                    </a:cubicBezTo>
                    <a:cubicBezTo>
                      <a:pt x="407" y="888"/>
                      <a:pt x="440" y="894"/>
                      <a:pt x="473" y="894"/>
                    </a:cubicBezTo>
                    <a:cubicBezTo>
                      <a:pt x="506" y="894"/>
                      <a:pt x="539" y="888"/>
                      <a:pt x="573" y="875"/>
                    </a:cubicBezTo>
                    <a:cubicBezTo>
                      <a:pt x="624" y="856"/>
                      <a:pt x="678" y="823"/>
                      <a:pt x="739" y="775"/>
                    </a:cubicBezTo>
                    <a:cubicBezTo>
                      <a:pt x="801" y="727"/>
                      <a:pt x="870" y="663"/>
                      <a:pt x="953" y="584"/>
                    </a:cubicBezTo>
                    <a:lnTo>
                      <a:pt x="953" y="584"/>
                    </a:lnTo>
                    <a:lnTo>
                      <a:pt x="1524" y="27"/>
                    </a:lnTo>
                    <a:cubicBezTo>
                      <a:pt x="1529" y="21"/>
                      <a:pt x="1530" y="12"/>
                      <a:pt x="1524" y="6"/>
                    </a:cubicBezTo>
                    <a:cubicBezTo>
                      <a:pt x="1518" y="0"/>
                      <a:pt x="1509" y="0"/>
                      <a:pt x="1503" y="6"/>
                    </a:cubicBezTo>
                    <a:lnTo>
                      <a:pt x="932" y="563"/>
                    </a:lnTo>
                    <a:lnTo>
                      <a:pt x="932" y="563"/>
                    </a:lnTo>
                    <a:cubicBezTo>
                      <a:pt x="823" y="668"/>
                      <a:pt x="737" y="744"/>
                      <a:pt x="663" y="793"/>
                    </a:cubicBezTo>
                    <a:cubicBezTo>
                      <a:pt x="627" y="818"/>
                      <a:pt x="594" y="836"/>
                      <a:pt x="562" y="847"/>
                    </a:cubicBezTo>
                    <a:cubicBezTo>
                      <a:pt x="531" y="859"/>
                      <a:pt x="502" y="865"/>
                      <a:pt x="473" y="865"/>
                    </a:cubicBezTo>
                    <a:cubicBezTo>
                      <a:pt x="444" y="865"/>
                      <a:pt x="415" y="859"/>
                      <a:pt x="384" y="848"/>
                    </a:cubicBezTo>
                    <a:cubicBezTo>
                      <a:pt x="338" y="832"/>
                      <a:pt x="288" y="803"/>
                      <a:pt x="229" y="762"/>
                    </a:cubicBezTo>
                    <a:cubicBezTo>
                      <a:pt x="171" y="722"/>
                      <a:pt x="105" y="669"/>
                      <a:pt x="26" y="607"/>
                    </a:cubicBezTo>
                    <a:cubicBezTo>
                      <a:pt x="20" y="602"/>
                      <a:pt x="10" y="603"/>
                      <a:pt x="5" y="609"/>
                    </a:cubicBezTo>
                    <a:cubicBezTo>
                      <a:pt x="0" y="615"/>
                      <a:pt x="1" y="625"/>
                      <a:pt x="8" y="630"/>
                    </a:cubicBezTo>
                  </a:path>
                </a:pathLst>
              </a:custGeom>
              <a:solidFill>
                <a:srgbClr val="F6C4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77D66A57-5273-854B-AD7C-A91B6BFF4D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6425" y="805324"/>
                <a:ext cx="201273" cy="127619"/>
              </a:xfrm>
              <a:custGeom>
                <a:avLst/>
                <a:gdLst>
                  <a:gd name="T0" fmla="*/ 4 w 1217"/>
                  <a:gd name="T1" fmla="*/ 588 h 773"/>
                  <a:gd name="T2" fmla="*/ 193 w 1217"/>
                  <a:gd name="T3" fmla="*/ 724 h 773"/>
                  <a:gd name="T4" fmla="*/ 332 w 1217"/>
                  <a:gd name="T5" fmla="*/ 772 h 773"/>
                  <a:gd name="T6" fmla="*/ 415 w 1217"/>
                  <a:gd name="T7" fmla="*/ 752 h 773"/>
                  <a:gd name="T8" fmla="*/ 563 w 1217"/>
                  <a:gd name="T9" fmla="*/ 648 h 773"/>
                  <a:gd name="T10" fmla="*/ 776 w 1217"/>
                  <a:gd name="T11" fmla="*/ 448 h 773"/>
                  <a:gd name="T12" fmla="*/ 776 w 1217"/>
                  <a:gd name="T13" fmla="*/ 448 h 773"/>
                  <a:gd name="T14" fmla="*/ 1213 w 1217"/>
                  <a:gd name="T15" fmla="*/ 12 h 773"/>
                  <a:gd name="T16" fmla="*/ 1213 w 1217"/>
                  <a:gd name="T17" fmla="*/ 2 h 773"/>
                  <a:gd name="T18" fmla="*/ 1204 w 1217"/>
                  <a:gd name="T19" fmla="*/ 2 h 773"/>
                  <a:gd name="T20" fmla="*/ 767 w 1217"/>
                  <a:gd name="T21" fmla="*/ 439 h 773"/>
                  <a:gd name="T22" fmla="*/ 500 w 1217"/>
                  <a:gd name="T23" fmla="*/ 682 h 773"/>
                  <a:gd name="T24" fmla="*/ 410 w 1217"/>
                  <a:gd name="T25" fmla="*/ 740 h 773"/>
                  <a:gd name="T26" fmla="*/ 332 w 1217"/>
                  <a:gd name="T27" fmla="*/ 759 h 773"/>
                  <a:gd name="T28" fmla="*/ 199 w 1217"/>
                  <a:gd name="T29" fmla="*/ 712 h 773"/>
                  <a:gd name="T30" fmla="*/ 12 w 1217"/>
                  <a:gd name="T31" fmla="*/ 577 h 773"/>
                  <a:gd name="T32" fmla="*/ 2 w 1217"/>
                  <a:gd name="T33" fmla="*/ 578 h 773"/>
                  <a:gd name="T34" fmla="*/ 4 w 1217"/>
                  <a:gd name="T35" fmla="*/ 588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4" y="588"/>
                    </a:moveTo>
                    <a:cubicBezTo>
                      <a:pt x="81" y="647"/>
                      <a:pt x="141" y="692"/>
                      <a:pt x="193" y="724"/>
                    </a:cubicBezTo>
                    <a:cubicBezTo>
                      <a:pt x="244" y="755"/>
                      <a:pt x="288" y="772"/>
                      <a:pt x="332" y="772"/>
                    </a:cubicBezTo>
                    <a:cubicBezTo>
                      <a:pt x="359" y="772"/>
                      <a:pt x="386" y="765"/>
                      <a:pt x="415" y="752"/>
                    </a:cubicBezTo>
                    <a:cubicBezTo>
                      <a:pt x="458" y="733"/>
                      <a:pt x="505" y="698"/>
                      <a:pt x="563" y="648"/>
                    </a:cubicBezTo>
                    <a:cubicBezTo>
                      <a:pt x="620" y="597"/>
                      <a:pt x="689" y="531"/>
                      <a:pt x="776" y="448"/>
                    </a:cubicBezTo>
                    <a:lnTo>
                      <a:pt x="776" y="448"/>
                    </a:lnTo>
                    <a:lnTo>
                      <a:pt x="1213" y="12"/>
                    </a:lnTo>
                    <a:cubicBezTo>
                      <a:pt x="1216" y="9"/>
                      <a:pt x="1216" y="5"/>
                      <a:pt x="1213" y="2"/>
                    </a:cubicBezTo>
                    <a:cubicBezTo>
                      <a:pt x="1210" y="0"/>
                      <a:pt x="1206" y="0"/>
                      <a:pt x="1204" y="2"/>
                    </a:cubicBezTo>
                    <a:lnTo>
                      <a:pt x="767" y="439"/>
                    </a:lnTo>
                    <a:cubicBezTo>
                      <a:pt x="651" y="549"/>
                      <a:pt x="568" y="630"/>
                      <a:pt x="500" y="682"/>
                    </a:cubicBezTo>
                    <a:cubicBezTo>
                      <a:pt x="466" y="709"/>
                      <a:pt x="437" y="728"/>
                      <a:pt x="410" y="740"/>
                    </a:cubicBezTo>
                    <a:cubicBezTo>
                      <a:pt x="382" y="753"/>
                      <a:pt x="357" y="759"/>
                      <a:pt x="332" y="759"/>
                    </a:cubicBezTo>
                    <a:cubicBezTo>
                      <a:pt x="291" y="759"/>
                      <a:pt x="250" y="743"/>
                      <a:pt x="199" y="712"/>
                    </a:cubicBezTo>
                    <a:cubicBezTo>
                      <a:pt x="149" y="682"/>
                      <a:pt x="89" y="636"/>
                      <a:pt x="12" y="577"/>
                    </a:cubicBezTo>
                    <a:cubicBezTo>
                      <a:pt x="9" y="575"/>
                      <a:pt x="4" y="575"/>
                      <a:pt x="2" y="578"/>
                    </a:cubicBezTo>
                    <a:cubicBezTo>
                      <a:pt x="0" y="581"/>
                      <a:pt x="1" y="585"/>
                      <a:pt x="4" y="588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9AD37317-D84E-444B-88EB-8CF2CC57C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8170" y="664579"/>
                <a:ext cx="439737" cy="330350"/>
              </a:xfrm>
              <a:custGeom>
                <a:avLst/>
                <a:gdLst>
                  <a:gd name="T0" fmla="*/ 2631 w 2657"/>
                  <a:gd name="T1" fmla="*/ 532 h 1998"/>
                  <a:gd name="T2" fmla="*/ 2130 w 2657"/>
                  <a:gd name="T3" fmla="*/ 145 h 1998"/>
                  <a:gd name="T4" fmla="*/ 1920 w 2657"/>
                  <a:gd name="T5" fmla="*/ 38 h 1998"/>
                  <a:gd name="T6" fmla="*/ 1715 w 2657"/>
                  <a:gd name="T7" fmla="*/ 0 h 1998"/>
                  <a:gd name="T8" fmla="*/ 1578 w 2657"/>
                  <a:gd name="T9" fmla="*/ 19 h 1998"/>
                  <a:gd name="T10" fmla="*/ 1370 w 2657"/>
                  <a:gd name="T11" fmla="*/ 116 h 1998"/>
                  <a:gd name="T12" fmla="*/ 1150 w 2657"/>
                  <a:gd name="T13" fmla="*/ 295 h 1998"/>
                  <a:gd name="T14" fmla="*/ 1150 w 2657"/>
                  <a:gd name="T15" fmla="*/ 295 h 1998"/>
                  <a:gd name="T16" fmla="*/ 16 w 2657"/>
                  <a:gd name="T17" fmla="*/ 1368 h 1998"/>
                  <a:gd name="T18" fmla="*/ 0 w 2657"/>
                  <a:gd name="T19" fmla="*/ 1406 h 1998"/>
                  <a:gd name="T20" fmla="*/ 16 w 2657"/>
                  <a:gd name="T21" fmla="*/ 1444 h 1998"/>
                  <a:gd name="T22" fmla="*/ 566 w 2657"/>
                  <a:gd name="T23" fmla="*/ 1977 h 1998"/>
                  <a:gd name="T24" fmla="*/ 640 w 2657"/>
                  <a:gd name="T25" fmla="*/ 1976 h 1998"/>
                  <a:gd name="T26" fmla="*/ 639 w 2657"/>
                  <a:gd name="T27" fmla="*/ 1901 h 1998"/>
                  <a:gd name="T28" fmla="*/ 129 w 2657"/>
                  <a:gd name="T29" fmla="*/ 1406 h 1998"/>
                  <a:gd name="T30" fmla="*/ 1223 w 2657"/>
                  <a:gd name="T31" fmla="*/ 371 h 1998"/>
                  <a:gd name="T32" fmla="*/ 1223 w 2657"/>
                  <a:gd name="T33" fmla="*/ 371 h 1998"/>
                  <a:gd name="T34" fmla="*/ 1489 w 2657"/>
                  <a:gd name="T35" fmla="*/ 167 h 1998"/>
                  <a:gd name="T36" fmla="*/ 1605 w 2657"/>
                  <a:gd name="T37" fmla="*/ 121 h 1998"/>
                  <a:gd name="T38" fmla="*/ 1715 w 2657"/>
                  <a:gd name="T39" fmla="*/ 106 h 1998"/>
                  <a:gd name="T40" fmla="*/ 1884 w 2657"/>
                  <a:gd name="T41" fmla="*/ 138 h 1998"/>
                  <a:gd name="T42" fmla="*/ 2181 w 2657"/>
                  <a:gd name="T43" fmla="*/ 306 h 1998"/>
                  <a:gd name="T44" fmla="*/ 2562 w 2657"/>
                  <a:gd name="T45" fmla="*/ 612 h 1998"/>
                  <a:gd name="T46" fmla="*/ 2637 w 2657"/>
                  <a:gd name="T47" fmla="*/ 606 h 1998"/>
                  <a:gd name="T48" fmla="*/ 2631 w 2657"/>
                  <a:gd name="T49" fmla="*/ 532 h 1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657" h="1998">
                    <a:moveTo>
                      <a:pt x="2631" y="532"/>
                    </a:moveTo>
                    <a:cubicBezTo>
                      <a:pt x="2437" y="367"/>
                      <a:pt x="2276" y="237"/>
                      <a:pt x="2130" y="145"/>
                    </a:cubicBezTo>
                    <a:cubicBezTo>
                      <a:pt x="2058" y="99"/>
                      <a:pt x="1988" y="63"/>
                      <a:pt x="1920" y="38"/>
                    </a:cubicBezTo>
                    <a:cubicBezTo>
                      <a:pt x="1851" y="14"/>
                      <a:pt x="1783" y="0"/>
                      <a:pt x="1715" y="0"/>
                    </a:cubicBezTo>
                    <a:cubicBezTo>
                      <a:pt x="1669" y="0"/>
                      <a:pt x="1623" y="6"/>
                      <a:pt x="1578" y="19"/>
                    </a:cubicBezTo>
                    <a:cubicBezTo>
                      <a:pt x="1509" y="37"/>
                      <a:pt x="1440" y="70"/>
                      <a:pt x="1370" y="116"/>
                    </a:cubicBezTo>
                    <a:cubicBezTo>
                      <a:pt x="1299" y="162"/>
                      <a:pt x="1227" y="221"/>
                      <a:pt x="1150" y="295"/>
                    </a:cubicBezTo>
                    <a:lnTo>
                      <a:pt x="1150" y="295"/>
                    </a:lnTo>
                    <a:lnTo>
                      <a:pt x="16" y="1368"/>
                    </a:lnTo>
                    <a:cubicBezTo>
                      <a:pt x="6" y="1378"/>
                      <a:pt x="0" y="1391"/>
                      <a:pt x="0" y="1406"/>
                    </a:cubicBezTo>
                    <a:cubicBezTo>
                      <a:pt x="0" y="1420"/>
                      <a:pt x="6" y="1434"/>
                      <a:pt x="16" y="1444"/>
                    </a:cubicBezTo>
                    <a:lnTo>
                      <a:pt x="566" y="1977"/>
                    </a:lnTo>
                    <a:cubicBezTo>
                      <a:pt x="587" y="1997"/>
                      <a:pt x="619" y="1997"/>
                      <a:pt x="640" y="1976"/>
                    </a:cubicBezTo>
                    <a:cubicBezTo>
                      <a:pt x="660" y="1955"/>
                      <a:pt x="660" y="1921"/>
                      <a:pt x="639" y="1901"/>
                    </a:cubicBezTo>
                    <a:lnTo>
                      <a:pt x="129" y="1406"/>
                    </a:lnTo>
                    <a:lnTo>
                      <a:pt x="1223" y="371"/>
                    </a:lnTo>
                    <a:lnTo>
                      <a:pt x="1223" y="371"/>
                    </a:lnTo>
                    <a:cubicBezTo>
                      <a:pt x="1321" y="277"/>
                      <a:pt x="1409" y="210"/>
                      <a:pt x="1489" y="167"/>
                    </a:cubicBezTo>
                    <a:cubicBezTo>
                      <a:pt x="1529" y="146"/>
                      <a:pt x="1568" y="131"/>
                      <a:pt x="1605" y="121"/>
                    </a:cubicBezTo>
                    <a:cubicBezTo>
                      <a:pt x="1642" y="111"/>
                      <a:pt x="1679" y="106"/>
                      <a:pt x="1715" y="106"/>
                    </a:cubicBezTo>
                    <a:cubicBezTo>
                      <a:pt x="1770" y="106"/>
                      <a:pt x="1825" y="116"/>
                      <a:pt x="1884" y="138"/>
                    </a:cubicBezTo>
                    <a:cubicBezTo>
                      <a:pt x="1972" y="170"/>
                      <a:pt x="2070" y="226"/>
                      <a:pt x="2181" y="306"/>
                    </a:cubicBezTo>
                    <a:cubicBezTo>
                      <a:pt x="2293" y="387"/>
                      <a:pt x="2418" y="490"/>
                      <a:pt x="2562" y="612"/>
                    </a:cubicBezTo>
                    <a:cubicBezTo>
                      <a:pt x="2585" y="631"/>
                      <a:pt x="2618" y="628"/>
                      <a:pt x="2637" y="606"/>
                    </a:cubicBezTo>
                    <a:cubicBezTo>
                      <a:pt x="2656" y="584"/>
                      <a:pt x="2653" y="551"/>
                      <a:pt x="2631" y="532"/>
                    </a:cubicBezTo>
                  </a:path>
                </a:pathLst>
              </a:custGeom>
              <a:solidFill>
                <a:srgbClr val="157C5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069D0FB6-7378-5344-B149-1899961AC5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946" y="709792"/>
                <a:ext cx="356603" cy="190334"/>
              </a:xfrm>
              <a:custGeom>
                <a:avLst/>
                <a:gdLst>
                  <a:gd name="T0" fmla="*/ 2142 w 2158"/>
                  <a:gd name="T1" fmla="*/ 438 h 1152"/>
                  <a:gd name="T2" fmla="*/ 1725 w 2158"/>
                  <a:gd name="T3" fmla="*/ 118 h 1152"/>
                  <a:gd name="T4" fmla="*/ 1552 w 2158"/>
                  <a:gd name="T5" fmla="*/ 31 h 1152"/>
                  <a:gd name="T6" fmla="*/ 1386 w 2158"/>
                  <a:gd name="T7" fmla="*/ 0 h 1152"/>
                  <a:gd name="T8" fmla="*/ 1261 w 2158"/>
                  <a:gd name="T9" fmla="*/ 19 h 1152"/>
                  <a:gd name="T10" fmla="*/ 1068 w 2158"/>
                  <a:gd name="T11" fmla="*/ 115 h 1152"/>
                  <a:gd name="T12" fmla="*/ 852 w 2158"/>
                  <a:gd name="T13" fmla="*/ 295 h 1152"/>
                  <a:gd name="T14" fmla="*/ 852 w 2158"/>
                  <a:gd name="T15" fmla="*/ 295 h 1152"/>
                  <a:gd name="T16" fmla="*/ 13 w 2158"/>
                  <a:gd name="T17" fmla="*/ 1094 h 1152"/>
                  <a:gd name="T18" fmla="*/ 12 w 2158"/>
                  <a:gd name="T19" fmla="*/ 1138 h 1152"/>
                  <a:gd name="T20" fmla="*/ 56 w 2158"/>
                  <a:gd name="T21" fmla="*/ 1139 h 1152"/>
                  <a:gd name="T22" fmla="*/ 895 w 2158"/>
                  <a:gd name="T23" fmla="*/ 340 h 1152"/>
                  <a:gd name="T24" fmla="*/ 895 w 2158"/>
                  <a:gd name="T25" fmla="*/ 340 h 1152"/>
                  <a:gd name="T26" fmla="*/ 1164 w 2158"/>
                  <a:gd name="T27" fmla="*/ 128 h 1152"/>
                  <a:gd name="T28" fmla="*/ 1279 w 2158"/>
                  <a:gd name="T29" fmla="*/ 79 h 1152"/>
                  <a:gd name="T30" fmla="*/ 1386 w 2158"/>
                  <a:gd name="T31" fmla="*/ 63 h 1152"/>
                  <a:gd name="T32" fmla="*/ 1531 w 2158"/>
                  <a:gd name="T33" fmla="*/ 90 h 1152"/>
                  <a:gd name="T34" fmla="*/ 1781 w 2158"/>
                  <a:gd name="T35" fmla="*/ 231 h 1152"/>
                  <a:gd name="T36" fmla="*/ 2102 w 2158"/>
                  <a:gd name="T37" fmla="*/ 486 h 1152"/>
                  <a:gd name="T38" fmla="*/ 2146 w 2158"/>
                  <a:gd name="T39" fmla="*/ 482 h 1152"/>
                  <a:gd name="T40" fmla="*/ 2142 w 2158"/>
                  <a:gd name="T41" fmla="*/ 438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58" h="1152">
                    <a:moveTo>
                      <a:pt x="2142" y="438"/>
                    </a:moveTo>
                    <a:cubicBezTo>
                      <a:pt x="1978" y="301"/>
                      <a:pt x="1845" y="193"/>
                      <a:pt x="1725" y="118"/>
                    </a:cubicBezTo>
                    <a:cubicBezTo>
                      <a:pt x="1664" y="80"/>
                      <a:pt x="1608" y="51"/>
                      <a:pt x="1552" y="31"/>
                    </a:cubicBezTo>
                    <a:cubicBezTo>
                      <a:pt x="1496" y="11"/>
                      <a:pt x="1441" y="0"/>
                      <a:pt x="1386" y="0"/>
                    </a:cubicBezTo>
                    <a:cubicBezTo>
                      <a:pt x="1344" y="0"/>
                      <a:pt x="1303" y="6"/>
                      <a:pt x="1261" y="19"/>
                    </a:cubicBezTo>
                    <a:cubicBezTo>
                      <a:pt x="1198" y="37"/>
                      <a:pt x="1135" y="69"/>
                      <a:pt x="1068" y="115"/>
                    </a:cubicBezTo>
                    <a:cubicBezTo>
                      <a:pt x="1000" y="161"/>
                      <a:pt x="930" y="220"/>
                      <a:pt x="852" y="295"/>
                    </a:cubicBezTo>
                    <a:lnTo>
                      <a:pt x="852" y="295"/>
                    </a:lnTo>
                    <a:lnTo>
                      <a:pt x="13" y="1094"/>
                    </a:lnTo>
                    <a:cubicBezTo>
                      <a:pt x="1" y="1106"/>
                      <a:pt x="0" y="1126"/>
                      <a:pt x="12" y="1138"/>
                    </a:cubicBezTo>
                    <a:cubicBezTo>
                      <a:pt x="24" y="1151"/>
                      <a:pt x="44" y="1151"/>
                      <a:pt x="56" y="1139"/>
                    </a:cubicBezTo>
                    <a:lnTo>
                      <a:pt x="895" y="340"/>
                    </a:lnTo>
                    <a:lnTo>
                      <a:pt x="895" y="340"/>
                    </a:lnTo>
                    <a:cubicBezTo>
                      <a:pt x="997" y="243"/>
                      <a:pt x="1085" y="173"/>
                      <a:pt x="1164" y="128"/>
                    </a:cubicBezTo>
                    <a:cubicBezTo>
                      <a:pt x="1204" y="106"/>
                      <a:pt x="1242" y="89"/>
                      <a:pt x="1279" y="79"/>
                    </a:cubicBezTo>
                    <a:cubicBezTo>
                      <a:pt x="1315" y="68"/>
                      <a:pt x="1351" y="63"/>
                      <a:pt x="1386" y="63"/>
                    </a:cubicBezTo>
                    <a:cubicBezTo>
                      <a:pt x="1433" y="63"/>
                      <a:pt x="1480" y="72"/>
                      <a:pt x="1531" y="90"/>
                    </a:cubicBezTo>
                    <a:cubicBezTo>
                      <a:pt x="1606" y="117"/>
                      <a:pt x="1688" y="164"/>
                      <a:pt x="1781" y="231"/>
                    </a:cubicBezTo>
                    <a:cubicBezTo>
                      <a:pt x="1874" y="298"/>
                      <a:pt x="1979" y="384"/>
                      <a:pt x="2102" y="486"/>
                    </a:cubicBezTo>
                    <a:cubicBezTo>
                      <a:pt x="2115" y="497"/>
                      <a:pt x="2135" y="495"/>
                      <a:pt x="2146" y="482"/>
                    </a:cubicBezTo>
                    <a:cubicBezTo>
                      <a:pt x="2157" y="469"/>
                      <a:pt x="2155" y="449"/>
                      <a:pt x="2142" y="438"/>
                    </a:cubicBezTo>
                  </a:path>
                </a:pathLst>
              </a:custGeom>
              <a:solidFill>
                <a:srgbClr val="049445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084061A-A4AC-BE42-8E46-F3BEBCC64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4012" y="752818"/>
                <a:ext cx="304826" cy="169186"/>
              </a:xfrm>
              <a:custGeom>
                <a:avLst/>
                <a:gdLst>
                  <a:gd name="T0" fmla="*/ 1832 w 1844"/>
                  <a:gd name="T1" fmla="*/ 349 h 1021"/>
                  <a:gd name="T2" fmla="*/ 1494 w 1844"/>
                  <a:gd name="T3" fmla="*/ 93 h 1021"/>
                  <a:gd name="T4" fmla="*/ 1356 w 1844"/>
                  <a:gd name="T5" fmla="*/ 24 h 1021"/>
                  <a:gd name="T6" fmla="*/ 1224 w 1844"/>
                  <a:gd name="T7" fmla="*/ 0 h 1021"/>
                  <a:gd name="T8" fmla="*/ 1110 w 1844"/>
                  <a:gd name="T9" fmla="*/ 18 h 1021"/>
                  <a:gd name="T10" fmla="*/ 929 w 1844"/>
                  <a:gd name="T11" fmla="*/ 116 h 1021"/>
                  <a:gd name="T12" fmla="*/ 715 w 1844"/>
                  <a:gd name="T13" fmla="*/ 301 h 1021"/>
                  <a:gd name="T14" fmla="*/ 714 w 1844"/>
                  <a:gd name="T15" fmla="*/ 301 h 1021"/>
                  <a:gd name="T16" fmla="*/ 10 w 1844"/>
                  <a:gd name="T17" fmla="*/ 978 h 1021"/>
                  <a:gd name="T18" fmla="*/ 9 w 1844"/>
                  <a:gd name="T19" fmla="*/ 1011 h 1021"/>
                  <a:gd name="T20" fmla="*/ 42 w 1844"/>
                  <a:gd name="T21" fmla="*/ 1012 h 1021"/>
                  <a:gd name="T22" fmla="*/ 746 w 1844"/>
                  <a:gd name="T23" fmla="*/ 334 h 1021"/>
                  <a:gd name="T24" fmla="*/ 746 w 1844"/>
                  <a:gd name="T25" fmla="*/ 334 h 1021"/>
                  <a:gd name="T26" fmla="*/ 1016 w 1844"/>
                  <a:gd name="T27" fmla="*/ 114 h 1021"/>
                  <a:gd name="T28" fmla="*/ 1124 w 1844"/>
                  <a:gd name="T29" fmla="*/ 62 h 1021"/>
                  <a:gd name="T30" fmla="*/ 1224 w 1844"/>
                  <a:gd name="T31" fmla="*/ 46 h 1021"/>
                  <a:gd name="T32" fmla="*/ 1340 w 1844"/>
                  <a:gd name="T33" fmla="*/ 67 h 1021"/>
                  <a:gd name="T34" fmla="*/ 1542 w 1844"/>
                  <a:gd name="T35" fmla="*/ 180 h 1021"/>
                  <a:gd name="T36" fmla="*/ 1803 w 1844"/>
                  <a:gd name="T37" fmla="*/ 385 h 1021"/>
                  <a:gd name="T38" fmla="*/ 1835 w 1844"/>
                  <a:gd name="T39" fmla="*/ 381 h 1021"/>
                  <a:gd name="T40" fmla="*/ 1832 w 1844"/>
                  <a:gd name="T41" fmla="*/ 349 h 10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44" h="1021">
                    <a:moveTo>
                      <a:pt x="1832" y="349"/>
                    </a:moveTo>
                    <a:cubicBezTo>
                      <a:pt x="1698" y="239"/>
                      <a:pt x="1590" y="153"/>
                      <a:pt x="1494" y="93"/>
                    </a:cubicBezTo>
                    <a:cubicBezTo>
                      <a:pt x="1446" y="63"/>
                      <a:pt x="1400" y="40"/>
                      <a:pt x="1356" y="24"/>
                    </a:cubicBezTo>
                    <a:cubicBezTo>
                      <a:pt x="1311" y="8"/>
                      <a:pt x="1268" y="0"/>
                      <a:pt x="1224" y="0"/>
                    </a:cubicBezTo>
                    <a:cubicBezTo>
                      <a:pt x="1186" y="0"/>
                      <a:pt x="1148" y="6"/>
                      <a:pt x="1110" y="18"/>
                    </a:cubicBezTo>
                    <a:cubicBezTo>
                      <a:pt x="1052" y="37"/>
                      <a:pt x="993" y="69"/>
                      <a:pt x="929" y="116"/>
                    </a:cubicBezTo>
                    <a:cubicBezTo>
                      <a:pt x="864" y="163"/>
                      <a:pt x="794" y="224"/>
                      <a:pt x="715" y="301"/>
                    </a:cubicBezTo>
                    <a:lnTo>
                      <a:pt x="714" y="301"/>
                    </a:lnTo>
                    <a:lnTo>
                      <a:pt x="10" y="978"/>
                    </a:lnTo>
                    <a:cubicBezTo>
                      <a:pt x="1" y="987"/>
                      <a:pt x="0" y="1002"/>
                      <a:pt x="9" y="1011"/>
                    </a:cubicBezTo>
                    <a:cubicBezTo>
                      <a:pt x="18" y="1020"/>
                      <a:pt x="33" y="1020"/>
                      <a:pt x="42" y="1012"/>
                    </a:cubicBezTo>
                    <a:lnTo>
                      <a:pt x="746" y="334"/>
                    </a:lnTo>
                    <a:lnTo>
                      <a:pt x="746" y="334"/>
                    </a:lnTo>
                    <a:cubicBezTo>
                      <a:pt x="851" y="233"/>
                      <a:pt x="939" y="160"/>
                      <a:pt x="1016" y="114"/>
                    </a:cubicBezTo>
                    <a:cubicBezTo>
                      <a:pt x="1054" y="90"/>
                      <a:pt x="1090" y="73"/>
                      <a:pt x="1124" y="62"/>
                    </a:cubicBezTo>
                    <a:cubicBezTo>
                      <a:pt x="1159" y="51"/>
                      <a:pt x="1191" y="46"/>
                      <a:pt x="1224" y="46"/>
                    </a:cubicBezTo>
                    <a:cubicBezTo>
                      <a:pt x="1262" y="46"/>
                      <a:pt x="1300" y="53"/>
                      <a:pt x="1340" y="67"/>
                    </a:cubicBezTo>
                    <a:cubicBezTo>
                      <a:pt x="1401" y="89"/>
                      <a:pt x="1466" y="127"/>
                      <a:pt x="1542" y="180"/>
                    </a:cubicBezTo>
                    <a:cubicBezTo>
                      <a:pt x="1617" y="234"/>
                      <a:pt x="1702" y="303"/>
                      <a:pt x="1803" y="385"/>
                    </a:cubicBezTo>
                    <a:cubicBezTo>
                      <a:pt x="1813" y="393"/>
                      <a:pt x="1827" y="391"/>
                      <a:pt x="1835" y="381"/>
                    </a:cubicBezTo>
                    <a:cubicBezTo>
                      <a:pt x="1843" y="372"/>
                      <a:pt x="1842" y="357"/>
                      <a:pt x="1832" y="349"/>
                    </a:cubicBezTo>
                  </a:path>
                </a:pathLst>
              </a:custGeom>
              <a:solidFill>
                <a:srgbClr val="48A83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F3560C95-0398-8848-953C-C870AD870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7348" y="795114"/>
                <a:ext cx="253049" cy="148038"/>
              </a:xfrm>
              <a:custGeom>
                <a:avLst/>
                <a:gdLst>
                  <a:gd name="T0" fmla="*/ 1522 w 1530"/>
                  <a:gd name="T1" fmla="*/ 264 h 895"/>
                  <a:gd name="T2" fmla="*/ 1260 w 1530"/>
                  <a:gd name="T3" fmla="*/ 70 h 895"/>
                  <a:gd name="T4" fmla="*/ 1156 w 1530"/>
                  <a:gd name="T5" fmla="*/ 18 h 895"/>
                  <a:gd name="T6" fmla="*/ 1057 w 1530"/>
                  <a:gd name="T7" fmla="*/ 0 h 895"/>
                  <a:gd name="T8" fmla="*/ 957 w 1530"/>
                  <a:gd name="T9" fmla="*/ 19 h 895"/>
                  <a:gd name="T10" fmla="*/ 791 w 1530"/>
                  <a:gd name="T11" fmla="*/ 119 h 895"/>
                  <a:gd name="T12" fmla="*/ 577 w 1530"/>
                  <a:gd name="T13" fmla="*/ 310 h 895"/>
                  <a:gd name="T14" fmla="*/ 577 w 1530"/>
                  <a:gd name="T15" fmla="*/ 310 h 895"/>
                  <a:gd name="T16" fmla="*/ 6 w 1530"/>
                  <a:gd name="T17" fmla="*/ 867 h 895"/>
                  <a:gd name="T18" fmla="*/ 6 w 1530"/>
                  <a:gd name="T19" fmla="*/ 888 h 895"/>
                  <a:gd name="T20" fmla="*/ 27 w 1530"/>
                  <a:gd name="T21" fmla="*/ 888 h 895"/>
                  <a:gd name="T22" fmla="*/ 598 w 1530"/>
                  <a:gd name="T23" fmla="*/ 331 h 895"/>
                  <a:gd name="T24" fmla="*/ 598 w 1530"/>
                  <a:gd name="T25" fmla="*/ 331 h 895"/>
                  <a:gd name="T26" fmla="*/ 866 w 1530"/>
                  <a:gd name="T27" fmla="*/ 101 h 895"/>
                  <a:gd name="T28" fmla="*/ 968 w 1530"/>
                  <a:gd name="T29" fmla="*/ 47 h 895"/>
                  <a:gd name="T30" fmla="*/ 1057 w 1530"/>
                  <a:gd name="T31" fmla="*/ 29 h 895"/>
                  <a:gd name="T32" fmla="*/ 1146 w 1530"/>
                  <a:gd name="T33" fmla="*/ 46 h 895"/>
                  <a:gd name="T34" fmla="*/ 1300 w 1530"/>
                  <a:gd name="T35" fmla="*/ 132 h 895"/>
                  <a:gd name="T36" fmla="*/ 1504 w 1530"/>
                  <a:gd name="T37" fmla="*/ 287 h 895"/>
                  <a:gd name="T38" fmla="*/ 1524 w 1530"/>
                  <a:gd name="T39" fmla="*/ 285 h 895"/>
                  <a:gd name="T40" fmla="*/ 1522 w 1530"/>
                  <a:gd name="T41" fmla="*/ 264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30" h="895">
                    <a:moveTo>
                      <a:pt x="1522" y="264"/>
                    </a:moveTo>
                    <a:cubicBezTo>
                      <a:pt x="1417" y="180"/>
                      <a:pt x="1334" y="115"/>
                      <a:pt x="1260" y="70"/>
                    </a:cubicBezTo>
                    <a:cubicBezTo>
                      <a:pt x="1224" y="47"/>
                      <a:pt x="1189" y="30"/>
                      <a:pt x="1156" y="18"/>
                    </a:cubicBezTo>
                    <a:cubicBezTo>
                      <a:pt x="1123" y="6"/>
                      <a:pt x="1090" y="0"/>
                      <a:pt x="1057" y="0"/>
                    </a:cubicBezTo>
                    <a:cubicBezTo>
                      <a:pt x="1024" y="0"/>
                      <a:pt x="991" y="6"/>
                      <a:pt x="957" y="19"/>
                    </a:cubicBezTo>
                    <a:cubicBezTo>
                      <a:pt x="906" y="38"/>
                      <a:pt x="852" y="71"/>
                      <a:pt x="791" y="119"/>
                    </a:cubicBezTo>
                    <a:cubicBezTo>
                      <a:pt x="729" y="167"/>
                      <a:pt x="660" y="231"/>
                      <a:pt x="577" y="310"/>
                    </a:cubicBezTo>
                    <a:lnTo>
                      <a:pt x="577" y="310"/>
                    </a:lnTo>
                    <a:lnTo>
                      <a:pt x="6" y="867"/>
                    </a:lnTo>
                    <a:cubicBezTo>
                      <a:pt x="0" y="873"/>
                      <a:pt x="0" y="882"/>
                      <a:pt x="6" y="888"/>
                    </a:cubicBezTo>
                    <a:cubicBezTo>
                      <a:pt x="12" y="894"/>
                      <a:pt x="21" y="894"/>
                      <a:pt x="27" y="888"/>
                    </a:cubicBezTo>
                    <a:lnTo>
                      <a:pt x="598" y="331"/>
                    </a:lnTo>
                    <a:lnTo>
                      <a:pt x="598" y="331"/>
                    </a:lnTo>
                    <a:cubicBezTo>
                      <a:pt x="707" y="226"/>
                      <a:pt x="793" y="150"/>
                      <a:pt x="866" y="101"/>
                    </a:cubicBezTo>
                    <a:cubicBezTo>
                      <a:pt x="903" y="76"/>
                      <a:pt x="936" y="58"/>
                      <a:pt x="968" y="47"/>
                    </a:cubicBezTo>
                    <a:cubicBezTo>
                      <a:pt x="999" y="35"/>
                      <a:pt x="1028" y="29"/>
                      <a:pt x="1057" y="29"/>
                    </a:cubicBezTo>
                    <a:cubicBezTo>
                      <a:pt x="1086" y="29"/>
                      <a:pt x="1115" y="35"/>
                      <a:pt x="1146" y="46"/>
                    </a:cubicBezTo>
                    <a:cubicBezTo>
                      <a:pt x="1192" y="62"/>
                      <a:pt x="1242" y="91"/>
                      <a:pt x="1300" y="132"/>
                    </a:cubicBezTo>
                    <a:cubicBezTo>
                      <a:pt x="1359" y="172"/>
                      <a:pt x="1425" y="225"/>
                      <a:pt x="1504" y="287"/>
                    </a:cubicBezTo>
                    <a:cubicBezTo>
                      <a:pt x="1510" y="292"/>
                      <a:pt x="1518" y="291"/>
                      <a:pt x="1524" y="285"/>
                    </a:cubicBezTo>
                    <a:cubicBezTo>
                      <a:pt x="1529" y="279"/>
                      <a:pt x="1528" y="269"/>
                      <a:pt x="1522" y="264"/>
                    </a:cubicBezTo>
                  </a:path>
                </a:pathLst>
              </a:custGeom>
              <a:solidFill>
                <a:srgbClr val="B2CE24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FC10BBCE-A81E-674D-90E5-1E60F8B24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413" y="835952"/>
                <a:ext cx="201273" cy="127619"/>
              </a:xfrm>
              <a:custGeom>
                <a:avLst/>
                <a:gdLst>
                  <a:gd name="T0" fmla="*/ 1212 w 1217"/>
                  <a:gd name="T1" fmla="*/ 184 h 773"/>
                  <a:gd name="T2" fmla="*/ 1023 w 1217"/>
                  <a:gd name="T3" fmla="*/ 48 h 773"/>
                  <a:gd name="T4" fmla="*/ 884 w 1217"/>
                  <a:gd name="T5" fmla="*/ 0 h 773"/>
                  <a:gd name="T6" fmla="*/ 801 w 1217"/>
                  <a:gd name="T7" fmla="*/ 20 h 773"/>
                  <a:gd name="T8" fmla="*/ 653 w 1217"/>
                  <a:gd name="T9" fmla="*/ 124 h 773"/>
                  <a:gd name="T10" fmla="*/ 440 w 1217"/>
                  <a:gd name="T11" fmla="*/ 324 h 773"/>
                  <a:gd name="T12" fmla="*/ 440 w 1217"/>
                  <a:gd name="T13" fmla="*/ 324 h 773"/>
                  <a:gd name="T14" fmla="*/ 3 w 1217"/>
                  <a:gd name="T15" fmla="*/ 760 h 773"/>
                  <a:gd name="T16" fmla="*/ 3 w 1217"/>
                  <a:gd name="T17" fmla="*/ 770 h 773"/>
                  <a:gd name="T18" fmla="*/ 12 w 1217"/>
                  <a:gd name="T19" fmla="*/ 770 h 773"/>
                  <a:gd name="T20" fmla="*/ 449 w 1217"/>
                  <a:gd name="T21" fmla="*/ 333 h 773"/>
                  <a:gd name="T22" fmla="*/ 716 w 1217"/>
                  <a:gd name="T23" fmla="*/ 90 h 773"/>
                  <a:gd name="T24" fmla="*/ 806 w 1217"/>
                  <a:gd name="T25" fmla="*/ 32 h 773"/>
                  <a:gd name="T26" fmla="*/ 884 w 1217"/>
                  <a:gd name="T27" fmla="*/ 13 h 773"/>
                  <a:gd name="T28" fmla="*/ 1016 w 1217"/>
                  <a:gd name="T29" fmla="*/ 60 h 773"/>
                  <a:gd name="T30" fmla="*/ 1204 w 1217"/>
                  <a:gd name="T31" fmla="*/ 195 h 773"/>
                  <a:gd name="T32" fmla="*/ 1214 w 1217"/>
                  <a:gd name="T33" fmla="*/ 194 h 773"/>
                  <a:gd name="T34" fmla="*/ 1212 w 1217"/>
                  <a:gd name="T35" fmla="*/ 184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17" h="773">
                    <a:moveTo>
                      <a:pt x="1212" y="184"/>
                    </a:moveTo>
                    <a:cubicBezTo>
                      <a:pt x="1135" y="125"/>
                      <a:pt x="1075" y="80"/>
                      <a:pt x="1023" y="48"/>
                    </a:cubicBezTo>
                    <a:cubicBezTo>
                      <a:pt x="971" y="17"/>
                      <a:pt x="928" y="0"/>
                      <a:pt x="884" y="0"/>
                    </a:cubicBezTo>
                    <a:cubicBezTo>
                      <a:pt x="856" y="0"/>
                      <a:pt x="829" y="7"/>
                      <a:pt x="801" y="20"/>
                    </a:cubicBezTo>
                    <a:cubicBezTo>
                      <a:pt x="758" y="39"/>
                      <a:pt x="711" y="74"/>
                      <a:pt x="653" y="124"/>
                    </a:cubicBezTo>
                    <a:cubicBezTo>
                      <a:pt x="595" y="175"/>
                      <a:pt x="527" y="241"/>
                      <a:pt x="440" y="324"/>
                    </a:cubicBezTo>
                    <a:lnTo>
                      <a:pt x="440" y="324"/>
                    </a:lnTo>
                    <a:lnTo>
                      <a:pt x="3" y="760"/>
                    </a:lnTo>
                    <a:cubicBezTo>
                      <a:pt x="0" y="763"/>
                      <a:pt x="0" y="767"/>
                      <a:pt x="3" y="770"/>
                    </a:cubicBezTo>
                    <a:cubicBezTo>
                      <a:pt x="5" y="772"/>
                      <a:pt x="10" y="772"/>
                      <a:pt x="12" y="770"/>
                    </a:cubicBezTo>
                    <a:lnTo>
                      <a:pt x="449" y="333"/>
                    </a:lnTo>
                    <a:cubicBezTo>
                      <a:pt x="565" y="223"/>
                      <a:pt x="648" y="142"/>
                      <a:pt x="716" y="90"/>
                    </a:cubicBezTo>
                    <a:cubicBezTo>
                      <a:pt x="749" y="63"/>
                      <a:pt x="778" y="44"/>
                      <a:pt x="806" y="32"/>
                    </a:cubicBezTo>
                    <a:cubicBezTo>
                      <a:pt x="833" y="19"/>
                      <a:pt x="859" y="13"/>
                      <a:pt x="884" y="13"/>
                    </a:cubicBezTo>
                    <a:cubicBezTo>
                      <a:pt x="924" y="13"/>
                      <a:pt x="966" y="29"/>
                      <a:pt x="1016" y="60"/>
                    </a:cubicBezTo>
                    <a:cubicBezTo>
                      <a:pt x="1067" y="90"/>
                      <a:pt x="1127" y="136"/>
                      <a:pt x="1204" y="195"/>
                    </a:cubicBezTo>
                    <a:cubicBezTo>
                      <a:pt x="1207" y="197"/>
                      <a:pt x="1211" y="197"/>
                      <a:pt x="1214" y="194"/>
                    </a:cubicBezTo>
                    <a:cubicBezTo>
                      <a:pt x="1216" y="191"/>
                      <a:pt x="1215" y="187"/>
                      <a:pt x="1212" y="184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7825D298-25D2-B645-9DE4-6B4AC2DAF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8093" y="858559"/>
                <a:ext cx="72925" cy="48130"/>
              </a:xfrm>
              <a:custGeom>
                <a:avLst/>
                <a:gdLst>
                  <a:gd name="T0" fmla="*/ 49 w 442"/>
                  <a:gd name="T1" fmla="*/ 200 h 293"/>
                  <a:gd name="T2" fmla="*/ 0 w 442"/>
                  <a:gd name="T3" fmla="*/ 156 h 293"/>
                  <a:gd name="T4" fmla="*/ 45 w 442"/>
                  <a:gd name="T5" fmla="*/ 107 h 293"/>
                  <a:gd name="T6" fmla="*/ 392 w 442"/>
                  <a:gd name="T7" fmla="*/ 91 h 293"/>
                  <a:gd name="T8" fmla="*/ 441 w 442"/>
                  <a:gd name="T9" fmla="*/ 137 h 293"/>
                  <a:gd name="T10" fmla="*/ 396 w 442"/>
                  <a:gd name="T11" fmla="*/ 185 h 293"/>
                  <a:gd name="T12" fmla="*/ 49 w 442"/>
                  <a:gd name="T13" fmla="*/ 200 h 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42" h="293">
                    <a:moveTo>
                      <a:pt x="49" y="200"/>
                    </a:moveTo>
                    <a:lnTo>
                      <a:pt x="0" y="156"/>
                    </a:lnTo>
                    <a:lnTo>
                      <a:pt x="45" y="107"/>
                    </a:lnTo>
                    <a:cubicBezTo>
                      <a:pt x="136" y="7"/>
                      <a:pt x="292" y="0"/>
                      <a:pt x="392" y="91"/>
                    </a:cubicBezTo>
                    <a:lnTo>
                      <a:pt x="441" y="137"/>
                    </a:lnTo>
                    <a:lnTo>
                      <a:pt x="396" y="185"/>
                    </a:lnTo>
                    <a:cubicBezTo>
                      <a:pt x="304" y="285"/>
                      <a:pt x="149" y="292"/>
                      <a:pt x="49" y="200"/>
                    </a:cubicBezTo>
                  </a:path>
                </a:pathLst>
              </a:custGeom>
              <a:solidFill>
                <a:srgbClr val="F1E82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AB322FF-E82E-B849-A67E-8885F84F1B80}"/>
                </a:ext>
              </a:extLst>
            </p:cNvPr>
            <p:cNvGrpSpPr/>
            <p:nvPr/>
          </p:nvGrpSpPr>
          <p:grpSpPr>
            <a:xfrm>
              <a:off x="2028870" y="1197389"/>
              <a:ext cx="3479247" cy="365353"/>
              <a:chOff x="2028870" y="696666"/>
              <a:chExt cx="3479247" cy="365353"/>
            </a:xfrm>
            <a:solidFill>
              <a:schemeClr val="bg1">
                <a:lumMod val="50000"/>
              </a:schemeClr>
            </a:solidFill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39245C7-932E-A84A-81EC-0A53746F9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870" y="697395"/>
                <a:ext cx="358061" cy="363166"/>
              </a:xfrm>
              <a:custGeom>
                <a:avLst/>
                <a:gdLst>
                  <a:gd name="T0" fmla="*/ 121 w 2165"/>
                  <a:gd name="T1" fmla="*/ 758 h 2195"/>
                  <a:gd name="T2" fmla="*/ 0 w 2165"/>
                  <a:gd name="T3" fmla="*/ 758 h 2195"/>
                  <a:gd name="T4" fmla="*/ 0 w 2165"/>
                  <a:gd name="T5" fmla="*/ 582 h 2195"/>
                  <a:gd name="T6" fmla="*/ 463 w 2165"/>
                  <a:gd name="T7" fmla="*/ 582 h 2195"/>
                  <a:gd name="T8" fmla="*/ 463 w 2165"/>
                  <a:gd name="T9" fmla="*/ 1982 h 2195"/>
                  <a:gd name="T10" fmla="*/ 620 w 2165"/>
                  <a:gd name="T11" fmla="*/ 1982 h 2195"/>
                  <a:gd name="T12" fmla="*/ 620 w 2165"/>
                  <a:gd name="T13" fmla="*/ 2157 h 2195"/>
                  <a:gd name="T14" fmla="*/ 121 w 2165"/>
                  <a:gd name="T15" fmla="*/ 2157 h 2195"/>
                  <a:gd name="T16" fmla="*/ 121 w 2165"/>
                  <a:gd name="T17" fmla="*/ 758 h 2195"/>
                  <a:gd name="T18" fmla="*/ 467 w 2165"/>
                  <a:gd name="T19" fmla="*/ 51 h 2195"/>
                  <a:gd name="T20" fmla="*/ 467 w 2165"/>
                  <a:gd name="T21" fmla="*/ 462 h 2195"/>
                  <a:gd name="T22" fmla="*/ 121 w 2165"/>
                  <a:gd name="T23" fmla="*/ 462 h 2195"/>
                  <a:gd name="T24" fmla="*/ 121 w 2165"/>
                  <a:gd name="T25" fmla="*/ 51 h 2195"/>
                  <a:gd name="T26" fmla="*/ 467 w 2165"/>
                  <a:gd name="T27" fmla="*/ 51 h 2195"/>
                  <a:gd name="T28" fmla="*/ 629 w 2165"/>
                  <a:gd name="T29" fmla="*/ 906 h 2195"/>
                  <a:gd name="T30" fmla="*/ 629 w 2165"/>
                  <a:gd name="T31" fmla="*/ 730 h 2195"/>
                  <a:gd name="T32" fmla="*/ 1221 w 2165"/>
                  <a:gd name="T33" fmla="*/ 730 h 2195"/>
                  <a:gd name="T34" fmla="*/ 1221 w 2165"/>
                  <a:gd name="T35" fmla="*/ 0 h 2195"/>
                  <a:gd name="T36" fmla="*/ 1563 w 2165"/>
                  <a:gd name="T37" fmla="*/ 0 h 2195"/>
                  <a:gd name="T38" fmla="*/ 1563 w 2165"/>
                  <a:gd name="T39" fmla="*/ 730 h 2195"/>
                  <a:gd name="T40" fmla="*/ 2164 w 2165"/>
                  <a:gd name="T41" fmla="*/ 730 h 2195"/>
                  <a:gd name="T42" fmla="*/ 2164 w 2165"/>
                  <a:gd name="T43" fmla="*/ 906 h 2195"/>
                  <a:gd name="T44" fmla="*/ 1563 w 2165"/>
                  <a:gd name="T45" fmla="*/ 906 h 2195"/>
                  <a:gd name="T46" fmla="*/ 1563 w 2165"/>
                  <a:gd name="T47" fmla="*/ 2194 h 2195"/>
                  <a:gd name="T48" fmla="*/ 1221 w 2165"/>
                  <a:gd name="T49" fmla="*/ 2194 h 2195"/>
                  <a:gd name="T50" fmla="*/ 1221 w 2165"/>
                  <a:gd name="T51" fmla="*/ 906 h 2195"/>
                  <a:gd name="T52" fmla="*/ 629 w 2165"/>
                  <a:gd name="T53" fmla="*/ 906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65" h="2195">
                    <a:moveTo>
                      <a:pt x="121" y="758"/>
                    </a:moveTo>
                    <a:lnTo>
                      <a:pt x="0" y="758"/>
                    </a:lnTo>
                    <a:lnTo>
                      <a:pt x="0" y="582"/>
                    </a:lnTo>
                    <a:lnTo>
                      <a:pt x="463" y="582"/>
                    </a:lnTo>
                    <a:lnTo>
                      <a:pt x="463" y="1982"/>
                    </a:lnTo>
                    <a:lnTo>
                      <a:pt x="620" y="1982"/>
                    </a:lnTo>
                    <a:lnTo>
                      <a:pt x="620" y="2157"/>
                    </a:lnTo>
                    <a:lnTo>
                      <a:pt x="121" y="2157"/>
                    </a:lnTo>
                    <a:lnTo>
                      <a:pt x="121" y="758"/>
                    </a:lnTo>
                    <a:close/>
                    <a:moveTo>
                      <a:pt x="467" y="51"/>
                    </a:moveTo>
                    <a:lnTo>
                      <a:pt x="467" y="462"/>
                    </a:lnTo>
                    <a:lnTo>
                      <a:pt x="121" y="462"/>
                    </a:lnTo>
                    <a:lnTo>
                      <a:pt x="121" y="51"/>
                    </a:lnTo>
                    <a:lnTo>
                      <a:pt x="467" y="51"/>
                    </a:lnTo>
                    <a:close/>
                    <a:moveTo>
                      <a:pt x="629" y="906"/>
                    </a:moveTo>
                    <a:lnTo>
                      <a:pt x="629" y="730"/>
                    </a:lnTo>
                    <a:lnTo>
                      <a:pt x="1221" y="730"/>
                    </a:lnTo>
                    <a:lnTo>
                      <a:pt x="1221" y="0"/>
                    </a:lnTo>
                    <a:lnTo>
                      <a:pt x="1563" y="0"/>
                    </a:lnTo>
                    <a:lnTo>
                      <a:pt x="1563" y="730"/>
                    </a:lnTo>
                    <a:lnTo>
                      <a:pt x="2164" y="730"/>
                    </a:lnTo>
                    <a:lnTo>
                      <a:pt x="2164" y="906"/>
                    </a:lnTo>
                    <a:lnTo>
                      <a:pt x="1563" y="906"/>
                    </a:lnTo>
                    <a:lnTo>
                      <a:pt x="1563" y="2194"/>
                    </a:lnTo>
                    <a:lnTo>
                      <a:pt x="1221" y="2194"/>
                    </a:lnTo>
                    <a:lnTo>
                      <a:pt x="1221" y="906"/>
                    </a:lnTo>
                    <a:lnTo>
                      <a:pt x="629" y="90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9FAD7D1-6766-4344-BAA4-F13F7EAB76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7559" y="696666"/>
                <a:ext cx="357332" cy="364625"/>
              </a:xfrm>
              <a:custGeom>
                <a:avLst/>
                <a:gdLst>
                  <a:gd name="T0" fmla="*/ 583 w 2161"/>
                  <a:gd name="T1" fmla="*/ 379 h 2205"/>
                  <a:gd name="T2" fmla="*/ 458 w 2161"/>
                  <a:gd name="T3" fmla="*/ 287 h 2205"/>
                  <a:gd name="T4" fmla="*/ 0 w 2161"/>
                  <a:gd name="T5" fmla="*/ 379 h 2205"/>
                  <a:gd name="T6" fmla="*/ 662 w 2161"/>
                  <a:gd name="T7" fmla="*/ 0 h 2205"/>
                  <a:gd name="T8" fmla="*/ 1087 w 2161"/>
                  <a:gd name="T9" fmla="*/ 111 h 2205"/>
                  <a:gd name="T10" fmla="*/ 916 w 2161"/>
                  <a:gd name="T11" fmla="*/ 287 h 2205"/>
                  <a:gd name="T12" fmla="*/ 675 w 2161"/>
                  <a:gd name="T13" fmla="*/ 1691 h 2205"/>
                  <a:gd name="T14" fmla="*/ 1545 w 2161"/>
                  <a:gd name="T15" fmla="*/ 1811 h 2205"/>
                  <a:gd name="T16" fmla="*/ 1887 w 2161"/>
                  <a:gd name="T17" fmla="*/ 1691 h 2205"/>
                  <a:gd name="T18" fmla="*/ 2150 w 2161"/>
                  <a:gd name="T19" fmla="*/ 1811 h 2205"/>
                  <a:gd name="T20" fmla="*/ 1887 w 2161"/>
                  <a:gd name="T21" fmla="*/ 1987 h 2205"/>
                  <a:gd name="T22" fmla="*/ 1545 w 2161"/>
                  <a:gd name="T23" fmla="*/ 2204 h 2205"/>
                  <a:gd name="T24" fmla="*/ 652 w 2161"/>
                  <a:gd name="T25" fmla="*/ 1987 h 2205"/>
                  <a:gd name="T26" fmla="*/ 144 w 2161"/>
                  <a:gd name="T27" fmla="*/ 2204 h 2205"/>
                  <a:gd name="T28" fmla="*/ 47 w 2161"/>
                  <a:gd name="T29" fmla="*/ 1987 h 2205"/>
                  <a:gd name="T30" fmla="*/ 333 w 2161"/>
                  <a:gd name="T31" fmla="*/ 1811 h 2205"/>
                  <a:gd name="T32" fmla="*/ 675 w 2161"/>
                  <a:gd name="T33" fmla="*/ 1691 h 2205"/>
                  <a:gd name="T34" fmla="*/ 2100 w 2161"/>
                  <a:gd name="T35" fmla="*/ 448 h 2205"/>
                  <a:gd name="T36" fmla="*/ 102 w 2161"/>
                  <a:gd name="T37" fmla="*/ 1622 h 2205"/>
                  <a:gd name="T38" fmla="*/ 444 w 2161"/>
                  <a:gd name="T39" fmla="*/ 781 h 2205"/>
                  <a:gd name="T40" fmla="*/ 1757 w 2161"/>
                  <a:gd name="T41" fmla="*/ 624 h 2205"/>
                  <a:gd name="T42" fmla="*/ 444 w 2161"/>
                  <a:gd name="T43" fmla="*/ 781 h 2205"/>
                  <a:gd name="T44" fmla="*/ 1757 w 2161"/>
                  <a:gd name="T45" fmla="*/ 1114 h 2205"/>
                  <a:gd name="T46" fmla="*/ 444 w 2161"/>
                  <a:gd name="T47" fmla="*/ 957 h 2205"/>
                  <a:gd name="T48" fmla="*/ 1757 w 2161"/>
                  <a:gd name="T49" fmla="*/ 1289 h 2205"/>
                  <a:gd name="T50" fmla="*/ 444 w 2161"/>
                  <a:gd name="T51" fmla="*/ 1446 h 2205"/>
                  <a:gd name="T52" fmla="*/ 1757 w 2161"/>
                  <a:gd name="T53" fmla="*/ 1289 h 2205"/>
                  <a:gd name="T54" fmla="*/ 1041 w 2161"/>
                  <a:gd name="T55" fmla="*/ 379 h 2205"/>
                  <a:gd name="T56" fmla="*/ 1688 w 2161"/>
                  <a:gd name="T57" fmla="*/ 0 h 2205"/>
                  <a:gd name="T58" fmla="*/ 2160 w 2161"/>
                  <a:gd name="T59" fmla="*/ 111 h 2205"/>
                  <a:gd name="T60" fmla="*/ 1998 w 2161"/>
                  <a:gd name="T61" fmla="*/ 287 h 2205"/>
                  <a:gd name="T62" fmla="*/ 1646 w 2161"/>
                  <a:gd name="T63" fmla="*/ 379 h 2205"/>
                  <a:gd name="T64" fmla="*/ 1508 w 2161"/>
                  <a:gd name="T65" fmla="*/ 287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61" h="2205">
                    <a:moveTo>
                      <a:pt x="990" y="379"/>
                    </a:moveTo>
                    <a:lnTo>
                      <a:pt x="583" y="379"/>
                    </a:lnTo>
                    <a:lnTo>
                      <a:pt x="509" y="287"/>
                    </a:lnTo>
                    <a:lnTo>
                      <a:pt x="458" y="287"/>
                    </a:lnTo>
                    <a:lnTo>
                      <a:pt x="389" y="379"/>
                    </a:lnTo>
                    <a:lnTo>
                      <a:pt x="0" y="379"/>
                    </a:lnTo>
                    <a:lnTo>
                      <a:pt x="273" y="0"/>
                    </a:lnTo>
                    <a:lnTo>
                      <a:pt x="662" y="0"/>
                    </a:lnTo>
                    <a:lnTo>
                      <a:pt x="592" y="111"/>
                    </a:lnTo>
                    <a:lnTo>
                      <a:pt x="1087" y="111"/>
                    </a:lnTo>
                    <a:lnTo>
                      <a:pt x="1087" y="287"/>
                    </a:lnTo>
                    <a:lnTo>
                      <a:pt x="916" y="287"/>
                    </a:lnTo>
                    <a:lnTo>
                      <a:pt x="990" y="379"/>
                    </a:lnTo>
                    <a:close/>
                    <a:moveTo>
                      <a:pt x="675" y="1691"/>
                    </a:moveTo>
                    <a:lnTo>
                      <a:pt x="675" y="1811"/>
                    </a:lnTo>
                    <a:lnTo>
                      <a:pt x="1545" y="1811"/>
                    </a:lnTo>
                    <a:lnTo>
                      <a:pt x="1545" y="1691"/>
                    </a:lnTo>
                    <a:lnTo>
                      <a:pt x="1887" y="1691"/>
                    </a:lnTo>
                    <a:lnTo>
                      <a:pt x="1887" y="1811"/>
                    </a:lnTo>
                    <a:lnTo>
                      <a:pt x="2150" y="1811"/>
                    </a:lnTo>
                    <a:lnTo>
                      <a:pt x="2150" y="1987"/>
                    </a:lnTo>
                    <a:lnTo>
                      <a:pt x="1887" y="1987"/>
                    </a:lnTo>
                    <a:lnTo>
                      <a:pt x="1887" y="2204"/>
                    </a:lnTo>
                    <a:lnTo>
                      <a:pt x="1545" y="2204"/>
                    </a:lnTo>
                    <a:lnTo>
                      <a:pt x="1545" y="1987"/>
                    </a:lnTo>
                    <a:lnTo>
                      <a:pt x="652" y="1987"/>
                    </a:lnTo>
                    <a:lnTo>
                      <a:pt x="527" y="2204"/>
                    </a:lnTo>
                    <a:lnTo>
                      <a:pt x="144" y="2204"/>
                    </a:lnTo>
                    <a:lnTo>
                      <a:pt x="282" y="1987"/>
                    </a:lnTo>
                    <a:lnTo>
                      <a:pt x="47" y="1987"/>
                    </a:lnTo>
                    <a:lnTo>
                      <a:pt x="47" y="1811"/>
                    </a:lnTo>
                    <a:lnTo>
                      <a:pt x="333" y="1811"/>
                    </a:lnTo>
                    <a:lnTo>
                      <a:pt x="333" y="1691"/>
                    </a:lnTo>
                    <a:lnTo>
                      <a:pt x="675" y="1691"/>
                    </a:lnTo>
                    <a:close/>
                    <a:moveTo>
                      <a:pt x="102" y="448"/>
                    </a:moveTo>
                    <a:lnTo>
                      <a:pt x="2100" y="448"/>
                    </a:lnTo>
                    <a:lnTo>
                      <a:pt x="2100" y="1622"/>
                    </a:lnTo>
                    <a:lnTo>
                      <a:pt x="102" y="1622"/>
                    </a:lnTo>
                    <a:lnTo>
                      <a:pt x="102" y="448"/>
                    </a:lnTo>
                    <a:close/>
                    <a:moveTo>
                      <a:pt x="444" y="781"/>
                    </a:moveTo>
                    <a:lnTo>
                      <a:pt x="1757" y="781"/>
                    </a:lnTo>
                    <a:lnTo>
                      <a:pt x="1757" y="624"/>
                    </a:lnTo>
                    <a:lnTo>
                      <a:pt x="444" y="624"/>
                    </a:lnTo>
                    <a:lnTo>
                      <a:pt x="444" y="781"/>
                    </a:lnTo>
                    <a:close/>
                    <a:moveTo>
                      <a:pt x="444" y="1114"/>
                    </a:moveTo>
                    <a:lnTo>
                      <a:pt x="1757" y="1114"/>
                    </a:lnTo>
                    <a:lnTo>
                      <a:pt x="1757" y="957"/>
                    </a:lnTo>
                    <a:lnTo>
                      <a:pt x="444" y="957"/>
                    </a:lnTo>
                    <a:lnTo>
                      <a:pt x="444" y="1114"/>
                    </a:lnTo>
                    <a:close/>
                    <a:moveTo>
                      <a:pt x="1757" y="1289"/>
                    </a:moveTo>
                    <a:lnTo>
                      <a:pt x="444" y="1289"/>
                    </a:lnTo>
                    <a:lnTo>
                      <a:pt x="444" y="1446"/>
                    </a:lnTo>
                    <a:lnTo>
                      <a:pt x="1757" y="1446"/>
                    </a:lnTo>
                    <a:lnTo>
                      <a:pt x="1757" y="1289"/>
                    </a:lnTo>
                    <a:close/>
                    <a:moveTo>
                      <a:pt x="1434" y="379"/>
                    </a:moveTo>
                    <a:lnTo>
                      <a:pt x="1041" y="379"/>
                    </a:lnTo>
                    <a:lnTo>
                      <a:pt x="1313" y="0"/>
                    </a:lnTo>
                    <a:lnTo>
                      <a:pt x="1688" y="0"/>
                    </a:lnTo>
                    <a:lnTo>
                      <a:pt x="1609" y="111"/>
                    </a:lnTo>
                    <a:lnTo>
                      <a:pt x="2160" y="111"/>
                    </a:lnTo>
                    <a:lnTo>
                      <a:pt x="2160" y="287"/>
                    </a:lnTo>
                    <a:lnTo>
                      <a:pt x="1998" y="287"/>
                    </a:lnTo>
                    <a:lnTo>
                      <a:pt x="2072" y="379"/>
                    </a:lnTo>
                    <a:lnTo>
                      <a:pt x="1646" y="379"/>
                    </a:lnTo>
                    <a:lnTo>
                      <a:pt x="1572" y="287"/>
                    </a:lnTo>
                    <a:lnTo>
                      <a:pt x="1508" y="287"/>
                    </a:lnTo>
                    <a:lnTo>
                      <a:pt x="1434" y="379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A3F469B6-43A0-3142-B44A-FCAEEFFB1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0625" y="696666"/>
                <a:ext cx="363895" cy="364625"/>
              </a:xfrm>
              <a:custGeom>
                <a:avLst/>
                <a:gdLst>
                  <a:gd name="T0" fmla="*/ 0 w 2202"/>
                  <a:gd name="T1" fmla="*/ 2019 h 2205"/>
                  <a:gd name="T2" fmla="*/ 74 w 2202"/>
                  <a:gd name="T3" fmla="*/ 661 h 2205"/>
                  <a:gd name="T4" fmla="*/ 310 w 2202"/>
                  <a:gd name="T5" fmla="*/ 661 h 2205"/>
                  <a:gd name="T6" fmla="*/ 231 w 2202"/>
                  <a:gd name="T7" fmla="*/ 2019 h 2205"/>
                  <a:gd name="T8" fmla="*/ 0 w 2202"/>
                  <a:gd name="T9" fmla="*/ 2019 h 2205"/>
                  <a:gd name="T10" fmla="*/ 939 w 2202"/>
                  <a:gd name="T11" fmla="*/ 439 h 2205"/>
                  <a:gd name="T12" fmla="*/ 684 w 2202"/>
                  <a:gd name="T13" fmla="*/ 439 h 2205"/>
                  <a:gd name="T14" fmla="*/ 684 w 2202"/>
                  <a:gd name="T15" fmla="*/ 2204 h 2205"/>
                  <a:gd name="T16" fmla="*/ 361 w 2202"/>
                  <a:gd name="T17" fmla="*/ 2204 h 2205"/>
                  <a:gd name="T18" fmla="*/ 361 w 2202"/>
                  <a:gd name="T19" fmla="*/ 439 h 2205"/>
                  <a:gd name="T20" fmla="*/ 28 w 2202"/>
                  <a:gd name="T21" fmla="*/ 439 h 2205"/>
                  <a:gd name="T22" fmla="*/ 28 w 2202"/>
                  <a:gd name="T23" fmla="*/ 264 h 2205"/>
                  <a:gd name="T24" fmla="*/ 361 w 2202"/>
                  <a:gd name="T25" fmla="*/ 264 h 2205"/>
                  <a:gd name="T26" fmla="*/ 361 w 2202"/>
                  <a:gd name="T27" fmla="*/ 0 h 2205"/>
                  <a:gd name="T28" fmla="*/ 684 w 2202"/>
                  <a:gd name="T29" fmla="*/ 0 h 2205"/>
                  <a:gd name="T30" fmla="*/ 684 w 2202"/>
                  <a:gd name="T31" fmla="*/ 264 h 2205"/>
                  <a:gd name="T32" fmla="*/ 939 w 2202"/>
                  <a:gd name="T33" fmla="*/ 264 h 2205"/>
                  <a:gd name="T34" fmla="*/ 939 w 2202"/>
                  <a:gd name="T35" fmla="*/ 439 h 2205"/>
                  <a:gd name="T36" fmla="*/ 939 w 2202"/>
                  <a:gd name="T37" fmla="*/ 661 h 2205"/>
                  <a:gd name="T38" fmla="*/ 939 w 2202"/>
                  <a:gd name="T39" fmla="*/ 1686 h 2205"/>
                  <a:gd name="T40" fmla="*/ 735 w 2202"/>
                  <a:gd name="T41" fmla="*/ 1686 h 2205"/>
                  <a:gd name="T42" fmla="*/ 735 w 2202"/>
                  <a:gd name="T43" fmla="*/ 661 h 2205"/>
                  <a:gd name="T44" fmla="*/ 939 w 2202"/>
                  <a:gd name="T45" fmla="*/ 661 h 2205"/>
                  <a:gd name="T46" fmla="*/ 1022 w 2202"/>
                  <a:gd name="T47" fmla="*/ 1594 h 2205"/>
                  <a:gd name="T48" fmla="*/ 1022 w 2202"/>
                  <a:gd name="T49" fmla="*/ 42 h 2205"/>
                  <a:gd name="T50" fmla="*/ 1988 w 2202"/>
                  <a:gd name="T51" fmla="*/ 42 h 2205"/>
                  <a:gd name="T52" fmla="*/ 1988 w 2202"/>
                  <a:gd name="T53" fmla="*/ 2033 h 2205"/>
                  <a:gd name="T54" fmla="*/ 2201 w 2202"/>
                  <a:gd name="T55" fmla="*/ 2033 h 2205"/>
                  <a:gd name="T56" fmla="*/ 2201 w 2202"/>
                  <a:gd name="T57" fmla="*/ 2204 h 2205"/>
                  <a:gd name="T58" fmla="*/ 1665 w 2202"/>
                  <a:gd name="T59" fmla="*/ 2204 h 2205"/>
                  <a:gd name="T60" fmla="*/ 1665 w 2202"/>
                  <a:gd name="T61" fmla="*/ 217 h 2205"/>
                  <a:gd name="T62" fmla="*/ 1355 w 2202"/>
                  <a:gd name="T63" fmla="*/ 217 h 2205"/>
                  <a:gd name="T64" fmla="*/ 1355 w 2202"/>
                  <a:gd name="T65" fmla="*/ 1668 h 2205"/>
                  <a:gd name="T66" fmla="*/ 1198 w 2202"/>
                  <a:gd name="T67" fmla="*/ 2204 h 2205"/>
                  <a:gd name="T68" fmla="*/ 851 w 2202"/>
                  <a:gd name="T69" fmla="*/ 2204 h 2205"/>
                  <a:gd name="T70" fmla="*/ 1022 w 2202"/>
                  <a:gd name="T71" fmla="*/ 1594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202" h="2205">
                    <a:moveTo>
                      <a:pt x="0" y="2019"/>
                    </a:moveTo>
                    <a:lnTo>
                      <a:pt x="74" y="661"/>
                    </a:lnTo>
                    <a:lnTo>
                      <a:pt x="310" y="661"/>
                    </a:lnTo>
                    <a:lnTo>
                      <a:pt x="231" y="2019"/>
                    </a:lnTo>
                    <a:lnTo>
                      <a:pt x="0" y="2019"/>
                    </a:lnTo>
                    <a:close/>
                    <a:moveTo>
                      <a:pt x="939" y="439"/>
                    </a:moveTo>
                    <a:lnTo>
                      <a:pt x="684" y="439"/>
                    </a:lnTo>
                    <a:lnTo>
                      <a:pt x="684" y="2204"/>
                    </a:lnTo>
                    <a:lnTo>
                      <a:pt x="361" y="2204"/>
                    </a:lnTo>
                    <a:lnTo>
                      <a:pt x="361" y="439"/>
                    </a:lnTo>
                    <a:lnTo>
                      <a:pt x="28" y="439"/>
                    </a:lnTo>
                    <a:lnTo>
                      <a:pt x="28" y="264"/>
                    </a:lnTo>
                    <a:lnTo>
                      <a:pt x="361" y="264"/>
                    </a:lnTo>
                    <a:lnTo>
                      <a:pt x="361" y="0"/>
                    </a:lnTo>
                    <a:lnTo>
                      <a:pt x="684" y="0"/>
                    </a:lnTo>
                    <a:lnTo>
                      <a:pt x="684" y="264"/>
                    </a:lnTo>
                    <a:lnTo>
                      <a:pt x="939" y="264"/>
                    </a:lnTo>
                    <a:lnTo>
                      <a:pt x="939" y="439"/>
                    </a:lnTo>
                    <a:close/>
                    <a:moveTo>
                      <a:pt x="939" y="661"/>
                    </a:moveTo>
                    <a:lnTo>
                      <a:pt x="939" y="1686"/>
                    </a:lnTo>
                    <a:lnTo>
                      <a:pt x="735" y="1686"/>
                    </a:lnTo>
                    <a:lnTo>
                      <a:pt x="735" y="661"/>
                    </a:lnTo>
                    <a:lnTo>
                      <a:pt x="939" y="661"/>
                    </a:lnTo>
                    <a:close/>
                    <a:moveTo>
                      <a:pt x="1022" y="1594"/>
                    </a:moveTo>
                    <a:lnTo>
                      <a:pt x="1022" y="42"/>
                    </a:lnTo>
                    <a:lnTo>
                      <a:pt x="1988" y="42"/>
                    </a:lnTo>
                    <a:lnTo>
                      <a:pt x="1988" y="2033"/>
                    </a:lnTo>
                    <a:lnTo>
                      <a:pt x="2201" y="2033"/>
                    </a:lnTo>
                    <a:lnTo>
                      <a:pt x="2201" y="2204"/>
                    </a:lnTo>
                    <a:lnTo>
                      <a:pt x="1665" y="2204"/>
                    </a:lnTo>
                    <a:lnTo>
                      <a:pt x="1665" y="217"/>
                    </a:lnTo>
                    <a:lnTo>
                      <a:pt x="1355" y="217"/>
                    </a:lnTo>
                    <a:lnTo>
                      <a:pt x="1355" y="1668"/>
                    </a:lnTo>
                    <a:lnTo>
                      <a:pt x="1198" y="2204"/>
                    </a:lnTo>
                    <a:lnTo>
                      <a:pt x="851" y="2204"/>
                    </a:lnTo>
                    <a:lnTo>
                      <a:pt x="1022" y="1594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39FDE59-FDA2-7D42-A573-9D861EDB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2441" y="703958"/>
                <a:ext cx="339830" cy="358061"/>
              </a:xfrm>
              <a:custGeom>
                <a:avLst/>
                <a:gdLst>
                  <a:gd name="T0" fmla="*/ 1747 w 2053"/>
                  <a:gd name="T1" fmla="*/ 1982 h 2163"/>
                  <a:gd name="T2" fmla="*/ 1747 w 2053"/>
                  <a:gd name="T3" fmla="*/ 175 h 2163"/>
                  <a:gd name="T4" fmla="*/ 305 w 2053"/>
                  <a:gd name="T5" fmla="*/ 175 h 2163"/>
                  <a:gd name="T6" fmla="*/ 305 w 2053"/>
                  <a:gd name="T7" fmla="*/ 2162 h 2163"/>
                  <a:gd name="T8" fmla="*/ 0 w 2053"/>
                  <a:gd name="T9" fmla="*/ 2162 h 2163"/>
                  <a:gd name="T10" fmla="*/ 0 w 2053"/>
                  <a:gd name="T11" fmla="*/ 0 h 2163"/>
                  <a:gd name="T12" fmla="*/ 2052 w 2053"/>
                  <a:gd name="T13" fmla="*/ 0 h 2163"/>
                  <a:gd name="T14" fmla="*/ 2052 w 2053"/>
                  <a:gd name="T15" fmla="*/ 2162 h 2163"/>
                  <a:gd name="T16" fmla="*/ 1590 w 2053"/>
                  <a:gd name="T17" fmla="*/ 2162 h 2163"/>
                  <a:gd name="T18" fmla="*/ 1590 w 2053"/>
                  <a:gd name="T19" fmla="*/ 1982 h 2163"/>
                  <a:gd name="T20" fmla="*/ 1747 w 2053"/>
                  <a:gd name="T21" fmla="*/ 1982 h 2163"/>
                  <a:gd name="T22" fmla="*/ 791 w 2053"/>
                  <a:gd name="T23" fmla="*/ 1127 h 2163"/>
                  <a:gd name="T24" fmla="*/ 1017 w 2053"/>
                  <a:gd name="T25" fmla="*/ 1843 h 2163"/>
                  <a:gd name="T26" fmla="*/ 786 w 2053"/>
                  <a:gd name="T27" fmla="*/ 1843 h 2163"/>
                  <a:gd name="T28" fmla="*/ 680 w 2053"/>
                  <a:gd name="T29" fmla="*/ 1501 h 2163"/>
                  <a:gd name="T30" fmla="*/ 573 w 2053"/>
                  <a:gd name="T31" fmla="*/ 1843 h 2163"/>
                  <a:gd name="T32" fmla="*/ 347 w 2053"/>
                  <a:gd name="T33" fmla="*/ 1843 h 2163"/>
                  <a:gd name="T34" fmla="*/ 564 w 2053"/>
                  <a:gd name="T35" fmla="*/ 1136 h 2163"/>
                  <a:gd name="T36" fmla="*/ 338 w 2053"/>
                  <a:gd name="T37" fmla="*/ 430 h 2163"/>
                  <a:gd name="T38" fmla="*/ 569 w 2053"/>
                  <a:gd name="T39" fmla="*/ 430 h 2163"/>
                  <a:gd name="T40" fmla="*/ 675 w 2053"/>
                  <a:gd name="T41" fmla="*/ 767 h 2163"/>
                  <a:gd name="T42" fmla="*/ 777 w 2053"/>
                  <a:gd name="T43" fmla="*/ 430 h 2163"/>
                  <a:gd name="T44" fmla="*/ 1003 w 2053"/>
                  <a:gd name="T45" fmla="*/ 430 h 2163"/>
                  <a:gd name="T46" fmla="*/ 791 w 2053"/>
                  <a:gd name="T47" fmla="*/ 1127 h 2163"/>
                  <a:gd name="T48" fmla="*/ 1503 w 2053"/>
                  <a:gd name="T49" fmla="*/ 1127 h 2163"/>
                  <a:gd name="T50" fmla="*/ 1728 w 2053"/>
                  <a:gd name="T51" fmla="*/ 1843 h 2163"/>
                  <a:gd name="T52" fmla="*/ 1498 w 2053"/>
                  <a:gd name="T53" fmla="*/ 1843 h 2163"/>
                  <a:gd name="T54" fmla="*/ 1392 w 2053"/>
                  <a:gd name="T55" fmla="*/ 1501 h 2163"/>
                  <a:gd name="T56" fmla="*/ 1286 w 2053"/>
                  <a:gd name="T57" fmla="*/ 1843 h 2163"/>
                  <a:gd name="T58" fmla="*/ 1059 w 2053"/>
                  <a:gd name="T59" fmla="*/ 1843 h 2163"/>
                  <a:gd name="T60" fmla="*/ 1276 w 2053"/>
                  <a:gd name="T61" fmla="*/ 1136 h 2163"/>
                  <a:gd name="T62" fmla="*/ 1050 w 2053"/>
                  <a:gd name="T63" fmla="*/ 430 h 2163"/>
                  <a:gd name="T64" fmla="*/ 1281 w 2053"/>
                  <a:gd name="T65" fmla="*/ 430 h 2163"/>
                  <a:gd name="T66" fmla="*/ 1387 w 2053"/>
                  <a:gd name="T67" fmla="*/ 767 h 2163"/>
                  <a:gd name="T68" fmla="*/ 1489 w 2053"/>
                  <a:gd name="T69" fmla="*/ 430 h 2163"/>
                  <a:gd name="T70" fmla="*/ 1715 w 2053"/>
                  <a:gd name="T71" fmla="*/ 430 h 2163"/>
                  <a:gd name="T72" fmla="*/ 1503 w 2053"/>
                  <a:gd name="T73" fmla="*/ 1127 h 2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53" h="2163">
                    <a:moveTo>
                      <a:pt x="1747" y="1982"/>
                    </a:moveTo>
                    <a:lnTo>
                      <a:pt x="1747" y="175"/>
                    </a:lnTo>
                    <a:lnTo>
                      <a:pt x="305" y="175"/>
                    </a:lnTo>
                    <a:lnTo>
                      <a:pt x="305" y="2162"/>
                    </a:lnTo>
                    <a:lnTo>
                      <a:pt x="0" y="2162"/>
                    </a:lnTo>
                    <a:lnTo>
                      <a:pt x="0" y="0"/>
                    </a:lnTo>
                    <a:lnTo>
                      <a:pt x="2052" y="0"/>
                    </a:lnTo>
                    <a:lnTo>
                      <a:pt x="2052" y="2162"/>
                    </a:lnTo>
                    <a:lnTo>
                      <a:pt x="1590" y="2162"/>
                    </a:lnTo>
                    <a:lnTo>
                      <a:pt x="1590" y="1982"/>
                    </a:lnTo>
                    <a:lnTo>
                      <a:pt x="1747" y="1982"/>
                    </a:lnTo>
                    <a:close/>
                    <a:moveTo>
                      <a:pt x="791" y="1127"/>
                    </a:moveTo>
                    <a:lnTo>
                      <a:pt x="1017" y="1843"/>
                    </a:lnTo>
                    <a:lnTo>
                      <a:pt x="786" y="1843"/>
                    </a:lnTo>
                    <a:lnTo>
                      <a:pt x="680" y="1501"/>
                    </a:lnTo>
                    <a:lnTo>
                      <a:pt x="573" y="1843"/>
                    </a:lnTo>
                    <a:lnTo>
                      <a:pt x="347" y="1843"/>
                    </a:lnTo>
                    <a:lnTo>
                      <a:pt x="564" y="1136"/>
                    </a:lnTo>
                    <a:lnTo>
                      <a:pt x="338" y="430"/>
                    </a:lnTo>
                    <a:lnTo>
                      <a:pt x="569" y="430"/>
                    </a:lnTo>
                    <a:lnTo>
                      <a:pt x="675" y="767"/>
                    </a:lnTo>
                    <a:lnTo>
                      <a:pt x="777" y="430"/>
                    </a:lnTo>
                    <a:lnTo>
                      <a:pt x="1003" y="430"/>
                    </a:lnTo>
                    <a:lnTo>
                      <a:pt x="791" y="1127"/>
                    </a:lnTo>
                    <a:close/>
                    <a:moveTo>
                      <a:pt x="1503" y="1127"/>
                    </a:moveTo>
                    <a:lnTo>
                      <a:pt x="1728" y="1843"/>
                    </a:lnTo>
                    <a:lnTo>
                      <a:pt x="1498" y="1843"/>
                    </a:lnTo>
                    <a:lnTo>
                      <a:pt x="1392" y="1501"/>
                    </a:lnTo>
                    <a:lnTo>
                      <a:pt x="1286" y="1843"/>
                    </a:lnTo>
                    <a:lnTo>
                      <a:pt x="1059" y="1843"/>
                    </a:lnTo>
                    <a:lnTo>
                      <a:pt x="1276" y="1136"/>
                    </a:lnTo>
                    <a:lnTo>
                      <a:pt x="1050" y="430"/>
                    </a:lnTo>
                    <a:lnTo>
                      <a:pt x="1281" y="430"/>
                    </a:lnTo>
                    <a:lnTo>
                      <a:pt x="1387" y="767"/>
                    </a:lnTo>
                    <a:lnTo>
                      <a:pt x="1489" y="430"/>
                    </a:lnTo>
                    <a:lnTo>
                      <a:pt x="1715" y="430"/>
                    </a:lnTo>
                    <a:lnTo>
                      <a:pt x="1503" y="1127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CC481843-8BD3-B44C-9129-7DD52746E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1441" y="696666"/>
                <a:ext cx="375564" cy="362437"/>
              </a:xfrm>
              <a:custGeom>
                <a:avLst/>
                <a:gdLst>
                  <a:gd name="T0" fmla="*/ 315 w 2272"/>
                  <a:gd name="T1" fmla="*/ 957 h 2191"/>
                  <a:gd name="T2" fmla="*/ 0 w 2272"/>
                  <a:gd name="T3" fmla="*/ 957 h 2191"/>
                  <a:gd name="T4" fmla="*/ 361 w 2272"/>
                  <a:gd name="T5" fmla="*/ 5 h 2191"/>
                  <a:gd name="T6" fmla="*/ 675 w 2272"/>
                  <a:gd name="T7" fmla="*/ 5 h 2191"/>
                  <a:gd name="T8" fmla="*/ 380 w 2272"/>
                  <a:gd name="T9" fmla="*/ 767 h 2191"/>
                  <a:gd name="T10" fmla="*/ 453 w 2272"/>
                  <a:gd name="T11" fmla="*/ 767 h 2191"/>
                  <a:gd name="T12" fmla="*/ 509 w 2272"/>
                  <a:gd name="T13" fmla="*/ 647 h 2191"/>
                  <a:gd name="T14" fmla="*/ 823 w 2272"/>
                  <a:gd name="T15" fmla="*/ 647 h 2191"/>
                  <a:gd name="T16" fmla="*/ 463 w 2272"/>
                  <a:gd name="T17" fmla="*/ 1492 h 2191"/>
                  <a:gd name="T18" fmla="*/ 754 w 2272"/>
                  <a:gd name="T19" fmla="*/ 1492 h 2191"/>
                  <a:gd name="T20" fmla="*/ 754 w 2272"/>
                  <a:gd name="T21" fmla="*/ 1677 h 2191"/>
                  <a:gd name="T22" fmla="*/ 366 w 2272"/>
                  <a:gd name="T23" fmla="*/ 1677 h 2191"/>
                  <a:gd name="T24" fmla="*/ 65 w 2272"/>
                  <a:gd name="T25" fmla="*/ 1677 h 2191"/>
                  <a:gd name="T26" fmla="*/ 375 w 2272"/>
                  <a:gd name="T27" fmla="*/ 957 h 2191"/>
                  <a:gd name="T28" fmla="*/ 315 w 2272"/>
                  <a:gd name="T29" fmla="*/ 957 h 2191"/>
                  <a:gd name="T30" fmla="*/ 763 w 2272"/>
                  <a:gd name="T31" fmla="*/ 1954 h 2191"/>
                  <a:gd name="T32" fmla="*/ 763 w 2272"/>
                  <a:gd name="T33" fmla="*/ 2130 h 2191"/>
                  <a:gd name="T34" fmla="*/ 84 w 2272"/>
                  <a:gd name="T35" fmla="*/ 2130 h 2191"/>
                  <a:gd name="T36" fmla="*/ 84 w 2272"/>
                  <a:gd name="T37" fmla="*/ 1954 h 2191"/>
                  <a:gd name="T38" fmla="*/ 763 w 2272"/>
                  <a:gd name="T39" fmla="*/ 1954 h 2191"/>
                  <a:gd name="T40" fmla="*/ 1831 w 2272"/>
                  <a:gd name="T41" fmla="*/ 1205 h 2191"/>
                  <a:gd name="T42" fmla="*/ 1614 w 2272"/>
                  <a:gd name="T43" fmla="*/ 994 h 2191"/>
                  <a:gd name="T44" fmla="*/ 1355 w 2272"/>
                  <a:gd name="T45" fmla="*/ 1205 h 2191"/>
                  <a:gd name="T46" fmla="*/ 884 w 2272"/>
                  <a:gd name="T47" fmla="*/ 1205 h 2191"/>
                  <a:gd name="T48" fmla="*/ 1392 w 2272"/>
                  <a:gd name="T49" fmla="*/ 781 h 2191"/>
                  <a:gd name="T50" fmla="*/ 1212 w 2272"/>
                  <a:gd name="T51" fmla="*/ 587 h 2191"/>
                  <a:gd name="T52" fmla="*/ 1179 w 2272"/>
                  <a:gd name="T53" fmla="*/ 684 h 2191"/>
                  <a:gd name="T54" fmla="*/ 842 w 2272"/>
                  <a:gd name="T55" fmla="*/ 684 h 2191"/>
                  <a:gd name="T56" fmla="*/ 1082 w 2272"/>
                  <a:gd name="T57" fmla="*/ 0 h 2191"/>
                  <a:gd name="T58" fmla="*/ 1420 w 2272"/>
                  <a:gd name="T59" fmla="*/ 0 h 2191"/>
                  <a:gd name="T60" fmla="*/ 1397 w 2272"/>
                  <a:gd name="T61" fmla="*/ 79 h 2191"/>
                  <a:gd name="T62" fmla="*/ 2174 w 2272"/>
                  <a:gd name="T63" fmla="*/ 79 h 2191"/>
                  <a:gd name="T64" fmla="*/ 2174 w 2272"/>
                  <a:gd name="T65" fmla="*/ 527 h 2191"/>
                  <a:gd name="T66" fmla="*/ 1864 w 2272"/>
                  <a:gd name="T67" fmla="*/ 795 h 2191"/>
                  <a:gd name="T68" fmla="*/ 2271 w 2272"/>
                  <a:gd name="T69" fmla="*/ 1205 h 2191"/>
                  <a:gd name="T70" fmla="*/ 1831 w 2272"/>
                  <a:gd name="T71" fmla="*/ 1205 h 2191"/>
                  <a:gd name="T72" fmla="*/ 934 w 2272"/>
                  <a:gd name="T73" fmla="*/ 2190 h 2191"/>
                  <a:gd name="T74" fmla="*/ 934 w 2272"/>
                  <a:gd name="T75" fmla="*/ 1303 h 2191"/>
                  <a:gd name="T76" fmla="*/ 2206 w 2272"/>
                  <a:gd name="T77" fmla="*/ 1303 h 2191"/>
                  <a:gd name="T78" fmla="*/ 2206 w 2272"/>
                  <a:gd name="T79" fmla="*/ 2190 h 2191"/>
                  <a:gd name="T80" fmla="*/ 934 w 2272"/>
                  <a:gd name="T81" fmla="*/ 2190 h 2191"/>
                  <a:gd name="T82" fmla="*/ 1522 w 2272"/>
                  <a:gd name="T83" fmla="*/ 467 h 2191"/>
                  <a:gd name="T84" fmla="*/ 1646 w 2272"/>
                  <a:gd name="T85" fmla="*/ 592 h 2191"/>
                  <a:gd name="T86" fmla="*/ 1892 w 2272"/>
                  <a:gd name="T87" fmla="*/ 379 h 2191"/>
                  <a:gd name="T88" fmla="*/ 1892 w 2272"/>
                  <a:gd name="T89" fmla="*/ 254 h 2191"/>
                  <a:gd name="T90" fmla="*/ 1332 w 2272"/>
                  <a:gd name="T91" fmla="*/ 254 h 2191"/>
                  <a:gd name="T92" fmla="*/ 1253 w 2272"/>
                  <a:gd name="T93" fmla="*/ 467 h 2191"/>
                  <a:gd name="T94" fmla="*/ 1522 w 2272"/>
                  <a:gd name="T95" fmla="*/ 467 h 2191"/>
                  <a:gd name="T96" fmla="*/ 1277 w 2272"/>
                  <a:gd name="T97" fmla="*/ 1478 h 2191"/>
                  <a:gd name="T98" fmla="*/ 1277 w 2272"/>
                  <a:gd name="T99" fmla="*/ 2014 h 2191"/>
                  <a:gd name="T100" fmla="*/ 1864 w 2272"/>
                  <a:gd name="T101" fmla="*/ 2014 h 2191"/>
                  <a:gd name="T102" fmla="*/ 1864 w 2272"/>
                  <a:gd name="T103" fmla="*/ 1478 h 2191"/>
                  <a:gd name="T104" fmla="*/ 1277 w 2272"/>
                  <a:gd name="T105" fmla="*/ 1478 h 2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272" h="2191">
                    <a:moveTo>
                      <a:pt x="315" y="957"/>
                    </a:moveTo>
                    <a:lnTo>
                      <a:pt x="0" y="957"/>
                    </a:lnTo>
                    <a:lnTo>
                      <a:pt x="361" y="5"/>
                    </a:lnTo>
                    <a:lnTo>
                      <a:pt x="675" y="5"/>
                    </a:lnTo>
                    <a:lnTo>
                      <a:pt x="380" y="767"/>
                    </a:lnTo>
                    <a:lnTo>
                      <a:pt x="453" y="767"/>
                    </a:lnTo>
                    <a:lnTo>
                      <a:pt x="509" y="647"/>
                    </a:lnTo>
                    <a:lnTo>
                      <a:pt x="823" y="647"/>
                    </a:lnTo>
                    <a:lnTo>
                      <a:pt x="463" y="1492"/>
                    </a:lnTo>
                    <a:lnTo>
                      <a:pt x="754" y="1492"/>
                    </a:lnTo>
                    <a:lnTo>
                      <a:pt x="754" y="1677"/>
                    </a:lnTo>
                    <a:lnTo>
                      <a:pt x="366" y="1677"/>
                    </a:lnTo>
                    <a:lnTo>
                      <a:pt x="65" y="1677"/>
                    </a:lnTo>
                    <a:lnTo>
                      <a:pt x="375" y="957"/>
                    </a:lnTo>
                    <a:lnTo>
                      <a:pt x="315" y="957"/>
                    </a:lnTo>
                    <a:close/>
                    <a:moveTo>
                      <a:pt x="763" y="1954"/>
                    </a:moveTo>
                    <a:lnTo>
                      <a:pt x="763" y="2130"/>
                    </a:lnTo>
                    <a:lnTo>
                      <a:pt x="84" y="2130"/>
                    </a:lnTo>
                    <a:lnTo>
                      <a:pt x="84" y="1954"/>
                    </a:lnTo>
                    <a:lnTo>
                      <a:pt x="763" y="1954"/>
                    </a:lnTo>
                    <a:close/>
                    <a:moveTo>
                      <a:pt x="1831" y="1205"/>
                    </a:moveTo>
                    <a:lnTo>
                      <a:pt x="1614" y="994"/>
                    </a:lnTo>
                    <a:lnTo>
                      <a:pt x="1355" y="1205"/>
                    </a:lnTo>
                    <a:lnTo>
                      <a:pt x="884" y="1205"/>
                    </a:lnTo>
                    <a:lnTo>
                      <a:pt x="1392" y="781"/>
                    </a:lnTo>
                    <a:lnTo>
                      <a:pt x="1212" y="587"/>
                    </a:lnTo>
                    <a:lnTo>
                      <a:pt x="1179" y="684"/>
                    </a:lnTo>
                    <a:lnTo>
                      <a:pt x="842" y="684"/>
                    </a:lnTo>
                    <a:lnTo>
                      <a:pt x="1082" y="0"/>
                    </a:lnTo>
                    <a:lnTo>
                      <a:pt x="1420" y="0"/>
                    </a:lnTo>
                    <a:lnTo>
                      <a:pt x="1397" y="79"/>
                    </a:lnTo>
                    <a:lnTo>
                      <a:pt x="2174" y="79"/>
                    </a:lnTo>
                    <a:lnTo>
                      <a:pt x="2174" y="527"/>
                    </a:lnTo>
                    <a:lnTo>
                      <a:pt x="1864" y="795"/>
                    </a:lnTo>
                    <a:lnTo>
                      <a:pt x="2271" y="1205"/>
                    </a:lnTo>
                    <a:lnTo>
                      <a:pt x="1831" y="1205"/>
                    </a:lnTo>
                    <a:close/>
                    <a:moveTo>
                      <a:pt x="934" y="2190"/>
                    </a:moveTo>
                    <a:lnTo>
                      <a:pt x="934" y="1303"/>
                    </a:lnTo>
                    <a:lnTo>
                      <a:pt x="2206" y="1303"/>
                    </a:lnTo>
                    <a:lnTo>
                      <a:pt x="2206" y="2190"/>
                    </a:lnTo>
                    <a:lnTo>
                      <a:pt x="934" y="2190"/>
                    </a:lnTo>
                    <a:close/>
                    <a:moveTo>
                      <a:pt x="1522" y="467"/>
                    </a:moveTo>
                    <a:lnTo>
                      <a:pt x="1646" y="592"/>
                    </a:lnTo>
                    <a:lnTo>
                      <a:pt x="1892" y="379"/>
                    </a:lnTo>
                    <a:lnTo>
                      <a:pt x="1892" y="254"/>
                    </a:lnTo>
                    <a:lnTo>
                      <a:pt x="1332" y="254"/>
                    </a:lnTo>
                    <a:lnTo>
                      <a:pt x="1253" y="467"/>
                    </a:lnTo>
                    <a:lnTo>
                      <a:pt x="1522" y="467"/>
                    </a:lnTo>
                    <a:close/>
                    <a:moveTo>
                      <a:pt x="1277" y="1478"/>
                    </a:moveTo>
                    <a:lnTo>
                      <a:pt x="1277" y="2014"/>
                    </a:lnTo>
                    <a:lnTo>
                      <a:pt x="1864" y="2014"/>
                    </a:lnTo>
                    <a:lnTo>
                      <a:pt x="1864" y="1478"/>
                    </a:lnTo>
                    <a:lnTo>
                      <a:pt x="1277" y="1478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BF5661B-2AA7-7048-834E-17B9B91BE0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2528" y="697395"/>
                <a:ext cx="362437" cy="363166"/>
              </a:xfrm>
              <a:custGeom>
                <a:avLst/>
                <a:gdLst>
                  <a:gd name="T0" fmla="*/ 1244 w 2193"/>
                  <a:gd name="T1" fmla="*/ 1012 h 2195"/>
                  <a:gd name="T2" fmla="*/ 934 w 2193"/>
                  <a:gd name="T3" fmla="*/ 1589 h 2195"/>
                  <a:gd name="T4" fmla="*/ 1249 w 2193"/>
                  <a:gd name="T5" fmla="*/ 1764 h 2195"/>
                  <a:gd name="T6" fmla="*/ 925 w 2193"/>
                  <a:gd name="T7" fmla="*/ 2194 h 2195"/>
                  <a:gd name="T8" fmla="*/ 439 w 2193"/>
                  <a:gd name="T9" fmla="*/ 2032 h 2195"/>
                  <a:gd name="T10" fmla="*/ 597 w 2193"/>
                  <a:gd name="T11" fmla="*/ 1764 h 2195"/>
                  <a:gd name="T12" fmla="*/ 65 w 2193"/>
                  <a:gd name="T13" fmla="*/ 1589 h 2195"/>
                  <a:gd name="T14" fmla="*/ 856 w 2193"/>
                  <a:gd name="T15" fmla="*/ 1187 h 2195"/>
                  <a:gd name="T16" fmla="*/ 292 w 2193"/>
                  <a:gd name="T17" fmla="*/ 1455 h 2195"/>
                  <a:gd name="T18" fmla="*/ 167 w 2193"/>
                  <a:gd name="T19" fmla="*/ 1187 h 2195"/>
                  <a:gd name="T20" fmla="*/ 65 w 2193"/>
                  <a:gd name="T21" fmla="*/ 1012 h 2195"/>
                  <a:gd name="T22" fmla="*/ 361 w 2193"/>
                  <a:gd name="T23" fmla="*/ 809 h 2195"/>
                  <a:gd name="T24" fmla="*/ 56 w 2193"/>
                  <a:gd name="T25" fmla="*/ 628 h 2195"/>
                  <a:gd name="T26" fmla="*/ 366 w 2193"/>
                  <a:gd name="T27" fmla="*/ 319 h 2195"/>
                  <a:gd name="T28" fmla="*/ 125 w 2193"/>
                  <a:gd name="T29" fmla="*/ 148 h 2195"/>
                  <a:gd name="T30" fmla="*/ 366 w 2193"/>
                  <a:gd name="T31" fmla="*/ 0 h 2195"/>
                  <a:gd name="T32" fmla="*/ 680 w 2193"/>
                  <a:gd name="T33" fmla="*/ 148 h 2195"/>
                  <a:gd name="T34" fmla="*/ 934 w 2193"/>
                  <a:gd name="T35" fmla="*/ 319 h 2195"/>
                  <a:gd name="T36" fmla="*/ 680 w 2193"/>
                  <a:gd name="T37" fmla="*/ 628 h 2195"/>
                  <a:gd name="T38" fmla="*/ 1022 w 2193"/>
                  <a:gd name="T39" fmla="*/ 64 h 2195"/>
                  <a:gd name="T40" fmla="*/ 1115 w 2193"/>
                  <a:gd name="T41" fmla="*/ 628 h 2195"/>
                  <a:gd name="T42" fmla="*/ 1244 w 2193"/>
                  <a:gd name="T43" fmla="*/ 809 h 2195"/>
                  <a:gd name="T44" fmla="*/ 546 w 2193"/>
                  <a:gd name="T45" fmla="*/ 1012 h 2195"/>
                  <a:gd name="T46" fmla="*/ 1683 w 2193"/>
                  <a:gd name="T47" fmla="*/ 0 h 2195"/>
                  <a:gd name="T48" fmla="*/ 2183 w 2193"/>
                  <a:gd name="T49" fmla="*/ 115 h 2195"/>
                  <a:gd name="T50" fmla="*/ 2113 w 2193"/>
                  <a:gd name="T51" fmla="*/ 291 h 2195"/>
                  <a:gd name="T52" fmla="*/ 1868 w 2193"/>
                  <a:gd name="T53" fmla="*/ 1427 h 2195"/>
                  <a:gd name="T54" fmla="*/ 1836 w 2193"/>
                  <a:gd name="T55" fmla="*/ 2194 h 2195"/>
                  <a:gd name="T56" fmla="*/ 1535 w 2193"/>
                  <a:gd name="T57" fmla="*/ 2194 h 2195"/>
                  <a:gd name="T58" fmla="*/ 1489 w 2193"/>
                  <a:gd name="T59" fmla="*/ 1445 h 2195"/>
                  <a:gd name="T60" fmla="*/ 1632 w 2193"/>
                  <a:gd name="T61" fmla="*/ 1104 h 2195"/>
                  <a:gd name="T62" fmla="*/ 1771 w 2193"/>
                  <a:gd name="T63" fmla="*/ 291 h 2195"/>
                  <a:gd name="T64" fmla="*/ 1614 w 2193"/>
                  <a:gd name="T65" fmla="*/ 975 h 2195"/>
                  <a:gd name="T66" fmla="*/ 1360 w 2193"/>
                  <a:gd name="T67" fmla="*/ 0 h 2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193" h="2195">
                    <a:moveTo>
                      <a:pt x="546" y="1012"/>
                    </a:moveTo>
                    <a:lnTo>
                      <a:pt x="1244" y="1012"/>
                    </a:lnTo>
                    <a:lnTo>
                      <a:pt x="1244" y="1187"/>
                    </a:lnTo>
                    <a:lnTo>
                      <a:pt x="934" y="1589"/>
                    </a:lnTo>
                    <a:lnTo>
                      <a:pt x="1249" y="1589"/>
                    </a:lnTo>
                    <a:lnTo>
                      <a:pt x="1249" y="1764"/>
                    </a:lnTo>
                    <a:lnTo>
                      <a:pt x="925" y="1764"/>
                    </a:lnTo>
                    <a:lnTo>
                      <a:pt x="925" y="2194"/>
                    </a:lnTo>
                    <a:lnTo>
                      <a:pt x="439" y="2194"/>
                    </a:lnTo>
                    <a:lnTo>
                      <a:pt x="439" y="2032"/>
                    </a:lnTo>
                    <a:lnTo>
                      <a:pt x="597" y="2032"/>
                    </a:lnTo>
                    <a:lnTo>
                      <a:pt x="597" y="1764"/>
                    </a:lnTo>
                    <a:lnTo>
                      <a:pt x="65" y="1764"/>
                    </a:lnTo>
                    <a:lnTo>
                      <a:pt x="65" y="1589"/>
                    </a:lnTo>
                    <a:lnTo>
                      <a:pt x="537" y="1589"/>
                    </a:lnTo>
                    <a:lnTo>
                      <a:pt x="856" y="1187"/>
                    </a:lnTo>
                    <a:lnTo>
                      <a:pt x="453" y="1187"/>
                    </a:lnTo>
                    <a:lnTo>
                      <a:pt x="292" y="1455"/>
                    </a:lnTo>
                    <a:lnTo>
                      <a:pt x="0" y="1455"/>
                    </a:lnTo>
                    <a:lnTo>
                      <a:pt x="167" y="1187"/>
                    </a:lnTo>
                    <a:lnTo>
                      <a:pt x="65" y="1187"/>
                    </a:lnTo>
                    <a:lnTo>
                      <a:pt x="65" y="1012"/>
                    </a:lnTo>
                    <a:lnTo>
                      <a:pt x="255" y="1012"/>
                    </a:lnTo>
                    <a:lnTo>
                      <a:pt x="361" y="809"/>
                    </a:lnTo>
                    <a:lnTo>
                      <a:pt x="56" y="809"/>
                    </a:lnTo>
                    <a:lnTo>
                      <a:pt x="56" y="628"/>
                    </a:lnTo>
                    <a:lnTo>
                      <a:pt x="366" y="628"/>
                    </a:lnTo>
                    <a:lnTo>
                      <a:pt x="366" y="319"/>
                    </a:lnTo>
                    <a:lnTo>
                      <a:pt x="125" y="319"/>
                    </a:lnTo>
                    <a:lnTo>
                      <a:pt x="125" y="148"/>
                    </a:lnTo>
                    <a:lnTo>
                      <a:pt x="366" y="148"/>
                    </a:lnTo>
                    <a:lnTo>
                      <a:pt x="366" y="0"/>
                    </a:lnTo>
                    <a:lnTo>
                      <a:pt x="680" y="0"/>
                    </a:lnTo>
                    <a:lnTo>
                      <a:pt x="680" y="148"/>
                    </a:lnTo>
                    <a:lnTo>
                      <a:pt x="934" y="148"/>
                    </a:lnTo>
                    <a:lnTo>
                      <a:pt x="934" y="319"/>
                    </a:lnTo>
                    <a:lnTo>
                      <a:pt x="680" y="319"/>
                    </a:lnTo>
                    <a:lnTo>
                      <a:pt x="680" y="628"/>
                    </a:lnTo>
                    <a:lnTo>
                      <a:pt x="846" y="628"/>
                    </a:lnTo>
                    <a:lnTo>
                      <a:pt x="1022" y="64"/>
                    </a:lnTo>
                    <a:lnTo>
                      <a:pt x="1272" y="64"/>
                    </a:lnTo>
                    <a:lnTo>
                      <a:pt x="1115" y="628"/>
                    </a:lnTo>
                    <a:lnTo>
                      <a:pt x="1244" y="628"/>
                    </a:lnTo>
                    <a:lnTo>
                      <a:pt x="1244" y="809"/>
                    </a:lnTo>
                    <a:lnTo>
                      <a:pt x="652" y="809"/>
                    </a:lnTo>
                    <a:lnTo>
                      <a:pt x="546" y="1012"/>
                    </a:lnTo>
                    <a:close/>
                    <a:moveTo>
                      <a:pt x="1360" y="0"/>
                    </a:moveTo>
                    <a:lnTo>
                      <a:pt x="1683" y="0"/>
                    </a:lnTo>
                    <a:lnTo>
                      <a:pt x="1679" y="115"/>
                    </a:lnTo>
                    <a:lnTo>
                      <a:pt x="2183" y="115"/>
                    </a:lnTo>
                    <a:lnTo>
                      <a:pt x="2183" y="291"/>
                    </a:lnTo>
                    <a:lnTo>
                      <a:pt x="2113" y="291"/>
                    </a:lnTo>
                    <a:lnTo>
                      <a:pt x="2113" y="739"/>
                    </a:lnTo>
                    <a:lnTo>
                      <a:pt x="1868" y="1427"/>
                    </a:lnTo>
                    <a:lnTo>
                      <a:pt x="2192" y="2194"/>
                    </a:lnTo>
                    <a:lnTo>
                      <a:pt x="1836" y="2194"/>
                    </a:lnTo>
                    <a:lnTo>
                      <a:pt x="1683" y="1834"/>
                    </a:lnTo>
                    <a:lnTo>
                      <a:pt x="1535" y="2194"/>
                    </a:lnTo>
                    <a:lnTo>
                      <a:pt x="1175" y="2194"/>
                    </a:lnTo>
                    <a:lnTo>
                      <a:pt x="1489" y="1445"/>
                    </a:lnTo>
                    <a:lnTo>
                      <a:pt x="1355" y="1104"/>
                    </a:lnTo>
                    <a:lnTo>
                      <a:pt x="1632" y="1104"/>
                    </a:lnTo>
                    <a:lnTo>
                      <a:pt x="1771" y="698"/>
                    </a:lnTo>
                    <a:lnTo>
                      <a:pt x="1771" y="291"/>
                    </a:lnTo>
                    <a:lnTo>
                      <a:pt x="1669" y="291"/>
                    </a:lnTo>
                    <a:lnTo>
                      <a:pt x="1614" y="975"/>
                    </a:lnTo>
                    <a:lnTo>
                      <a:pt x="1281" y="975"/>
                    </a:lnTo>
                    <a:lnTo>
                      <a:pt x="136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20B1655-B78A-3F4A-ADE4-43A6AB3336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4864" y="702500"/>
                <a:ext cx="369000" cy="355874"/>
              </a:xfrm>
              <a:custGeom>
                <a:avLst/>
                <a:gdLst>
                  <a:gd name="T0" fmla="*/ 1447 w 2230"/>
                  <a:gd name="T1" fmla="*/ 1118 h 2150"/>
                  <a:gd name="T2" fmla="*/ 2229 w 2230"/>
                  <a:gd name="T3" fmla="*/ 1405 h 2150"/>
                  <a:gd name="T4" fmla="*/ 1545 w 2230"/>
                  <a:gd name="T5" fmla="*/ 1405 h 2150"/>
                  <a:gd name="T6" fmla="*/ 1078 w 2230"/>
                  <a:gd name="T7" fmla="*/ 1252 h 2150"/>
                  <a:gd name="T8" fmla="*/ 652 w 2230"/>
                  <a:gd name="T9" fmla="*/ 1405 h 2150"/>
                  <a:gd name="T10" fmla="*/ 0 w 2230"/>
                  <a:gd name="T11" fmla="*/ 1405 h 2150"/>
                  <a:gd name="T12" fmla="*/ 726 w 2230"/>
                  <a:gd name="T13" fmla="*/ 1137 h 2150"/>
                  <a:gd name="T14" fmla="*/ 222 w 2230"/>
                  <a:gd name="T15" fmla="*/ 976 h 2150"/>
                  <a:gd name="T16" fmla="*/ 361 w 2230"/>
                  <a:gd name="T17" fmla="*/ 745 h 2150"/>
                  <a:gd name="T18" fmla="*/ 88 w 2230"/>
                  <a:gd name="T19" fmla="*/ 745 h 2150"/>
                  <a:gd name="T20" fmla="*/ 88 w 2230"/>
                  <a:gd name="T21" fmla="*/ 583 h 2150"/>
                  <a:gd name="T22" fmla="*/ 467 w 2230"/>
                  <a:gd name="T23" fmla="*/ 583 h 2150"/>
                  <a:gd name="T24" fmla="*/ 550 w 2230"/>
                  <a:gd name="T25" fmla="*/ 444 h 2150"/>
                  <a:gd name="T26" fmla="*/ 902 w 2230"/>
                  <a:gd name="T27" fmla="*/ 444 h 2150"/>
                  <a:gd name="T28" fmla="*/ 823 w 2230"/>
                  <a:gd name="T29" fmla="*/ 583 h 2150"/>
                  <a:gd name="T30" fmla="*/ 2146 w 2230"/>
                  <a:gd name="T31" fmla="*/ 583 h 2150"/>
                  <a:gd name="T32" fmla="*/ 2146 w 2230"/>
                  <a:gd name="T33" fmla="*/ 745 h 2150"/>
                  <a:gd name="T34" fmla="*/ 1910 w 2230"/>
                  <a:gd name="T35" fmla="*/ 745 h 2150"/>
                  <a:gd name="T36" fmla="*/ 1910 w 2230"/>
                  <a:gd name="T37" fmla="*/ 957 h 2150"/>
                  <a:gd name="T38" fmla="*/ 1447 w 2230"/>
                  <a:gd name="T39" fmla="*/ 1118 h 2150"/>
                  <a:gd name="T40" fmla="*/ 56 w 2230"/>
                  <a:gd name="T41" fmla="*/ 2126 h 2150"/>
                  <a:gd name="T42" fmla="*/ 426 w 2230"/>
                  <a:gd name="T43" fmla="*/ 1733 h 2150"/>
                  <a:gd name="T44" fmla="*/ 819 w 2230"/>
                  <a:gd name="T45" fmla="*/ 1733 h 2150"/>
                  <a:gd name="T46" fmla="*/ 463 w 2230"/>
                  <a:gd name="T47" fmla="*/ 2126 h 2150"/>
                  <a:gd name="T48" fmla="*/ 56 w 2230"/>
                  <a:gd name="T49" fmla="*/ 2126 h 2150"/>
                  <a:gd name="T50" fmla="*/ 1817 w 2230"/>
                  <a:gd name="T51" fmla="*/ 490 h 2150"/>
                  <a:gd name="T52" fmla="*/ 1817 w 2230"/>
                  <a:gd name="T53" fmla="*/ 292 h 2150"/>
                  <a:gd name="T54" fmla="*/ 412 w 2230"/>
                  <a:gd name="T55" fmla="*/ 292 h 2150"/>
                  <a:gd name="T56" fmla="*/ 412 w 2230"/>
                  <a:gd name="T57" fmla="*/ 490 h 2150"/>
                  <a:gd name="T58" fmla="*/ 88 w 2230"/>
                  <a:gd name="T59" fmla="*/ 490 h 2150"/>
                  <a:gd name="T60" fmla="*/ 88 w 2230"/>
                  <a:gd name="T61" fmla="*/ 121 h 2150"/>
                  <a:gd name="T62" fmla="*/ 925 w 2230"/>
                  <a:gd name="T63" fmla="*/ 121 h 2150"/>
                  <a:gd name="T64" fmla="*/ 925 w 2230"/>
                  <a:gd name="T65" fmla="*/ 0 h 2150"/>
                  <a:gd name="T66" fmla="*/ 1290 w 2230"/>
                  <a:gd name="T67" fmla="*/ 0 h 2150"/>
                  <a:gd name="T68" fmla="*/ 1290 w 2230"/>
                  <a:gd name="T69" fmla="*/ 121 h 2150"/>
                  <a:gd name="T70" fmla="*/ 2146 w 2230"/>
                  <a:gd name="T71" fmla="*/ 121 h 2150"/>
                  <a:gd name="T72" fmla="*/ 2146 w 2230"/>
                  <a:gd name="T73" fmla="*/ 490 h 2150"/>
                  <a:gd name="T74" fmla="*/ 1817 w 2230"/>
                  <a:gd name="T75" fmla="*/ 490 h 2150"/>
                  <a:gd name="T76" fmla="*/ 1281 w 2230"/>
                  <a:gd name="T77" fmla="*/ 1368 h 2150"/>
                  <a:gd name="T78" fmla="*/ 1281 w 2230"/>
                  <a:gd name="T79" fmla="*/ 1497 h 2150"/>
                  <a:gd name="T80" fmla="*/ 2146 w 2230"/>
                  <a:gd name="T81" fmla="*/ 1497 h 2150"/>
                  <a:gd name="T82" fmla="*/ 2146 w 2230"/>
                  <a:gd name="T83" fmla="*/ 1668 h 2150"/>
                  <a:gd name="T84" fmla="*/ 1281 w 2230"/>
                  <a:gd name="T85" fmla="*/ 1668 h 2150"/>
                  <a:gd name="T86" fmla="*/ 1281 w 2230"/>
                  <a:gd name="T87" fmla="*/ 2149 h 2150"/>
                  <a:gd name="T88" fmla="*/ 944 w 2230"/>
                  <a:gd name="T89" fmla="*/ 2149 h 2150"/>
                  <a:gd name="T90" fmla="*/ 944 w 2230"/>
                  <a:gd name="T91" fmla="*/ 1668 h 2150"/>
                  <a:gd name="T92" fmla="*/ 88 w 2230"/>
                  <a:gd name="T93" fmla="*/ 1668 h 2150"/>
                  <a:gd name="T94" fmla="*/ 88 w 2230"/>
                  <a:gd name="T95" fmla="*/ 1497 h 2150"/>
                  <a:gd name="T96" fmla="*/ 944 w 2230"/>
                  <a:gd name="T97" fmla="*/ 1497 h 2150"/>
                  <a:gd name="T98" fmla="*/ 944 w 2230"/>
                  <a:gd name="T99" fmla="*/ 1368 h 2150"/>
                  <a:gd name="T100" fmla="*/ 1281 w 2230"/>
                  <a:gd name="T101" fmla="*/ 1368 h 2150"/>
                  <a:gd name="T102" fmla="*/ 1115 w 2230"/>
                  <a:gd name="T103" fmla="*/ 999 h 2150"/>
                  <a:gd name="T104" fmla="*/ 1568 w 2230"/>
                  <a:gd name="T105" fmla="*/ 832 h 2150"/>
                  <a:gd name="T106" fmla="*/ 1568 w 2230"/>
                  <a:gd name="T107" fmla="*/ 745 h 2150"/>
                  <a:gd name="T108" fmla="*/ 726 w 2230"/>
                  <a:gd name="T109" fmla="*/ 745 h 2150"/>
                  <a:gd name="T110" fmla="*/ 675 w 2230"/>
                  <a:gd name="T111" fmla="*/ 837 h 2150"/>
                  <a:gd name="T112" fmla="*/ 1115 w 2230"/>
                  <a:gd name="T113" fmla="*/ 999 h 2150"/>
                  <a:gd name="T114" fmla="*/ 2192 w 2230"/>
                  <a:gd name="T115" fmla="*/ 2126 h 2150"/>
                  <a:gd name="T116" fmla="*/ 1776 w 2230"/>
                  <a:gd name="T117" fmla="*/ 2126 h 2150"/>
                  <a:gd name="T118" fmla="*/ 1420 w 2230"/>
                  <a:gd name="T119" fmla="*/ 1733 h 2150"/>
                  <a:gd name="T120" fmla="*/ 1827 w 2230"/>
                  <a:gd name="T121" fmla="*/ 1733 h 2150"/>
                  <a:gd name="T122" fmla="*/ 2192 w 2230"/>
                  <a:gd name="T123" fmla="*/ 2126 h 2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30" h="2150">
                    <a:moveTo>
                      <a:pt x="1447" y="1118"/>
                    </a:moveTo>
                    <a:lnTo>
                      <a:pt x="2229" y="1405"/>
                    </a:lnTo>
                    <a:lnTo>
                      <a:pt x="1545" y="1405"/>
                    </a:lnTo>
                    <a:lnTo>
                      <a:pt x="1078" y="1252"/>
                    </a:lnTo>
                    <a:lnTo>
                      <a:pt x="652" y="1405"/>
                    </a:lnTo>
                    <a:lnTo>
                      <a:pt x="0" y="1405"/>
                    </a:lnTo>
                    <a:lnTo>
                      <a:pt x="726" y="1137"/>
                    </a:lnTo>
                    <a:lnTo>
                      <a:pt x="222" y="976"/>
                    </a:lnTo>
                    <a:lnTo>
                      <a:pt x="361" y="745"/>
                    </a:lnTo>
                    <a:lnTo>
                      <a:pt x="88" y="745"/>
                    </a:lnTo>
                    <a:lnTo>
                      <a:pt x="88" y="583"/>
                    </a:lnTo>
                    <a:lnTo>
                      <a:pt x="467" y="583"/>
                    </a:lnTo>
                    <a:lnTo>
                      <a:pt x="550" y="444"/>
                    </a:lnTo>
                    <a:lnTo>
                      <a:pt x="902" y="444"/>
                    </a:lnTo>
                    <a:lnTo>
                      <a:pt x="823" y="583"/>
                    </a:lnTo>
                    <a:lnTo>
                      <a:pt x="2146" y="583"/>
                    </a:lnTo>
                    <a:lnTo>
                      <a:pt x="2146" y="745"/>
                    </a:lnTo>
                    <a:lnTo>
                      <a:pt x="1910" y="745"/>
                    </a:lnTo>
                    <a:lnTo>
                      <a:pt x="1910" y="957"/>
                    </a:lnTo>
                    <a:lnTo>
                      <a:pt x="1447" y="1118"/>
                    </a:lnTo>
                    <a:close/>
                    <a:moveTo>
                      <a:pt x="56" y="2126"/>
                    </a:moveTo>
                    <a:lnTo>
                      <a:pt x="426" y="1733"/>
                    </a:lnTo>
                    <a:lnTo>
                      <a:pt x="819" y="1733"/>
                    </a:lnTo>
                    <a:lnTo>
                      <a:pt x="463" y="2126"/>
                    </a:lnTo>
                    <a:lnTo>
                      <a:pt x="56" y="2126"/>
                    </a:lnTo>
                    <a:close/>
                    <a:moveTo>
                      <a:pt x="1817" y="490"/>
                    </a:moveTo>
                    <a:lnTo>
                      <a:pt x="1817" y="292"/>
                    </a:lnTo>
                    <a:lnTo>
                      <a:pt x="412" y="292"/>
                    </a:lnTo>
                    <a:lnTo>
                      <a:pt x="412" y="490"/>
                    </a:lnTo>
                    <a:lnTo>
                      <a:pt x="88" y="490"/>
                    </a:lnTo>
                    <a:lnTo>
                      <a:pt x="88" y="121"/>
                    </a:lnTo>
                    <a:lnTo>
                      <a:pt x="925" y="121"/>
                    </a:lnTo>
                    <a:lnTo>
                      <a:pt x="925" y="0"/>
                    </a:lnTo>
                    <a:lnTo>
                      <a:pt x="1290" y="0"/>
                    </a:lnTo>
                    <a:lnTo>
                      <a:pt x="1290" y="121"/>
                    </a:lnTo>
                    <a:lnTo>
                      <a:pt x="2146" y="121"/>
                    </a:lnTo>
                    <a:lnTo>
                      <a:pt x="2146" y="490"/>
                    </a:lnTo>
                    <a:lnTo>
                      <a:pt x="1817" y="490"/>
                    </a:lnTo>
                    <a:close/>
                    <a:moveTo>
                      <a:pt x="1281" y="1368"/>
                    </a:moveTo>
                    <a:lnTo>
                      <a:pt x="1281" y="1497"/>
                    </a:lnTo>
                    <a:lnTo>
                      <a:pt x="2146" y="1497"/>
                    </a:lnTo>
                    <a:lnTo>
                      <a:pt x="2146" y="1668"/>
                    </a:lnTo>
                    <a:lnTo>
                      <a:pt x="1281" y="1668"/>
                    </a:lnTo>
                    <a:lnTo>
                      <a:pt x="1281" y="2149"/>
                    </a:lnTo>
                    <a:lnTo>
                      <a:pt x="944" y="2149"/>
                    </a:lnTo>
                    <a:lnTo>
                      <a:pt x="944" y="1668"/>
                    </a:lnTo>
                    <a:lnTo>
                      <a:pt x="88" y="1668"/>
                    </a:lnTo>
                    <a:lnTo>
                      <a:pt x="88" y="1497"/>
                    </a:lnTo>
                    <a:lnTo>
                      <a:pt x="944" y="1497"/>
                    </a:lnTo>
                    <a:lnTo>
                      <a:pt x="944" y="1368"/>
                    </a:lnTo>
                    <a:lnTo>
                      <a:pt x="1281" y="1368"/>
                    </a:lnTo>
                    <a:close/>
                    <a:moveTo>
                      <a:pt x="1115" y="999"/>
                    </a:moveTo>
                    <a:lnTo>
                      <a:pt x="1568" y="832"/>
                    </a:lnTo>
                    <a:lnTo>
                      <a:pt x="1568" y="745"/>
                    </a:lnTo>
                    <a:lnTo>
                      <a:pt x="726" y="745"/>
                    </a:lnTo>
                    <a:lnTo>
                      <a:pt x="675" y="837"/>
                    </a:lnTo>
                    <a:lnTo>
                      <a:pt x="1115" y="999"/>
                    </a:lnTo>
                    <a:close/>
                    <a:moveTo>
                      <a:pt x="2192" y="2126"/>
                    </a:moveTo>
                    <a:lnTo>
                      <a:pt x="1776" y="2126"/>
                    </a:lnTo>
                    <a:lnTo>
                      <a:pt x="1420" y="1733"/>
                    </a:lnTo>
                    <a:lnTo>
                      <a:pt x="1827" y="1733"/>
                    </a:lnTo>
                    <a:lnTo>
                      <a:pt x="2192" y="21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DA1AB818-CE52-9C47-874D-1AE276BE9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8449" y="696666"/>
                <a:ext cx="376293" cy="364625"/>
              </a:xfrm>
              <a:custGeom>
                <a:avLst/>
                <a:gdLst>
                  <a:gd name="T0" fmla="*/ 615 w 2276"/>
                  <a:gd name="T1" fmla="*/ 943 h 2205"/>
                  <a:gd name="T2" fmla="*/ 897 w 2276"/>
                  <a:gd name="T3" fmla="*/ 1145 h 2205"/>
                  <a:gd name="T4" fmla="*/ 897 w 2276"/>
                  <a:gd name="T5" fmla="*/ 1548 h 2205"/>
                  <a:gd name="T6" fmla="*/ 583 w 2276"/>
                  <a:gd name="T7" fmla="*/ 1330 h 2205"/>
                  <a:gd name="T8" fmla="*/ 583 w 2276"/>
                  <a:gd name="T9" fmla="*/ 2204 h 2205"/>
                  <a:gd name="T10" fmla="*/ 241 w 2276"/>
                  <a:gd name="T11" fmla="*/ 2204 h 2205"/>
                  <a:gd name="T12" fmla="*/ 241 w 2276"/>
                  <a:gd name="T13" fmla="*/ 1478 h 2205"/>
                  <a:gd name="T14" fmla="*/ 0 w 2276"/>
                  <a:gd name="T15" fmla="*/ 1478 h 2205"/>
                  <a:gd name="T16" fmla="*/ 435 w 2276"/>
                  <a:gd name="T17" fmla="*/ 439 h 2205"/>
                  <a:gd name="T18" fmla="*/ 93 w 2276"/>
                  <a:gd name="T19" fmla="*/ 439 h 2205"/>
                  <a:gd name="T20" fmla="*/ 93 w 2276"/>
                  <a:gd name="T21" fmla="*/ 264 h 2205"/>
                  <a:gd name="T22" fmla="*/ 306 w 2276"/>
                  <a:gd name="T23" fmla="*/ 264 h 2205"/>
                  <a:gd name="T24" fmla="*/ 306 w 2276"/>
                  <a:gd name="T25" fmla="*/ 0 h 2205"/>
                  <a:gd name="T26" fmla="*/ 680 w 2276"/>
                  <a:gd name="T27" fmla="*/ 0 h 2205"/>
                  <a:gd name="T28" fmla="*/ 680 w 2276"/>
                  <a:gd name="T29" fmla="*/ 264 h 2205"/>
                  <a:gd name="T30" fmla="*/ 819 w 2276"/>
                  <a:gd name="T31" fmla="*/ 264 h 2205"/>
                  <a:gd name="T32" fmla="*/ 819 w 2276"/>
                  <a:gd name="T33" fmla="*/ 439 h 2205"/>
                  <a:gd name="T34" fmla="*/ 615 w 2276"/>
                  <a:gd name="T35" fmla="*/ 943 h 2205"/>
                  <a:gd name="T36" fmla="*/ 888 w 2276"/>
                  <a:gd name="T37" fmla="*/ 726 h 2205"/>
                  <a:gd name="T38" fmla="*/ 888 w 2276"/>
                  <a:gd name="T39" fmla="*/ 550 h 2205"/>
                  <a:gd name="T40" fmla="*/ 1360 w 2276"/>
                  <a:gd name="T41" fmla="*/ 550 h 2205"/>
                  <a:gd name="T42" fmla="*/ 1360 w 2276"/>
                  <a:gd name="T43" fmla="*/ 0 h 2205"/>
                  <a:gd name="T44" fmla="*/ 1702 w 2276"/>
                  <a:gd name="T45" fmla="*/ 0 h 2205"/>
                  <a:gd name="T46" fmla="*/ 1702 w 2276"/>
                  <a:gd name="T47" fmla="*/ 550 h 2205"/>
                  <a:gd name="T48" fmla="*/ 2178 w 2276"/>
                  <a:gd name="T49" fmla="*/ 550 h 2205"/>
                  <a:gd name="T50" fmla="*/ 2178 w 2276"/>
                  <a:gd name="T51" fmla="*/ 726 h 2205"/>
                  <a:gd name="T52" fmla="*/ 1702 w 2276"/>
                  <a:gd name="T53" fmla="*/ 726 h 2205"/>
                  <a:gd name="T54" fmla="*/ 1702 w 2276"/>
                  <a:gd name="T55" fmla="*/ 1996 h 2205"/>
                  <a:gd name="T56" fmla="*/ 2275 w 2276"/>
                  <a:gd name="T57" fmla="*/ 1996 h 2205"/>
                  <a:gd name="T58" fmla="*/ 2275 w 2276"/>
                  <a:gd name="T59" fmla="*/ 2172 h 2205"/>
                  <a:gd name="T60" fmla="*/ 763 w 2276"/>
                  <a:gd name="T61" fmla="*/ 2172 h 2205"/>
                  <a:gd name="T62" fmla="*/ 763 w 2276"/>
                  <a:gd name="T63" fmla="*/ 1996 h 2205"/>
                  <a:gd name="T64" fmla="*/ 1360 w 2276"/>
                  <a:gd name="T65" fmla="*/ 1996 h 2205"/>
                  <a:gd name="T66" fmla="*/ 1360 w 2276"/>
                  <a:gd name="T67" fmla="*/ 726 h 2205"/>
                  <a:gd name="T68" fmla="*/ 888 w 2276"/>
                  <a:gd name="T69" fmla="*/ 726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276" h="2205">
                    <a:moveTo>
                      <a:pt x="615" y="943"/>
                    </a:moveTo>
                    <a:lnTo>
                      <a:pt x="897" y="1145"/>
                    </a:lnTo>
                    <a:lnTo>
                      <a:pt x="897" y="1548"/>
                    </a:lnTo>
                    <a:lnTo>
                      <a:pt x="583" y="1330"/>
                    </a:lnTo>
                    <a:lnTo>
                      <a:pt x="583" y="2204"/>
                    </a:lnTo>
                    <a:lnTo>
                      <a:pt x="241" y="2204"/>
                    </a:lnTo>
                    <a:lnTo>
                      <a:pt x="241" y="1478"/>
                    </a:lnTo>
                    <a:lnTo>
                      <a:pt x="0" y="1478"/>
                    </a:lnTo>
                    <a:lnTo>
                      <a:pt x="435" y="439"/>
                    </a:lnTo>
                    <a:lnTo>
                      <a:pt x="93" y="439"/>
                    </a:lnTo>
                    <a:lnTo>
                      <a:pt x="93" y="264"/>
                    </a:lnTo>
                    <a:lnTo>
                      <a:pt x="306" y="264"/>
                    </a:lnTo>
                    <a:lnTo>
                      <a:pt x="306" y="0"/>
                    </a:lnTo>
                    <a:lnTo>
                      <a:pt x="680" y="0"/>
                    </a:lnTo>
                    <a:lnTo>
                      <a:pt x="680" y="264"/>
                    </a:lnTo>
                    <a:lnTo>
                      <a:pt x="819" y="264"/>
                    </a:lnTo>
                    <a:lnTo>
                      <a:pt x="819" y="439"/>
                    </a:lnTo>
                    <a:lnTo>
                      <a:pt x="615" y="943"/>
                    </a:lnTo>
                    <a:close/>
                    <a:moveTo>
                      <a:pt x="888" y="726"/>
                    </a:moveTo>
                    <a:lnTo>
                      <a:pt x="888" y="550"/>
                    </a:lnTo>
                    <a:lnTo>
                      <a:pt x="1360" y="550"/>
                    </a:lnTo>
                    <a:lnTo>
                      <a:pt x="1360" y="0"/>
                    </a:lnTo>
                    <a:lnTo>
                      <a:pt x="1702" y="0"/>
                    </a:lnTo>
                    <a:lnTo>
                      <a:pt x="1702" y="550"/>
                    </a:lnTo>
                    <a:lnTo>
                      <a:pt x="2178" y="550"/>
                    </a:lnTo>
                    <a:lnTo>
                      <a:pt x="2178" y="726"/>
                    </a:lnTo>
                    <a:lnTo>
                      <a:pt x="1702" y="726"/>
                    </a:lnTo>
                    <a:lnTo>
                      <a:pt x="1702" y="1996"/>
                    </a:lnTo>
                    <a:lnTo>
                      <a:pt x="2275" y="1996"/>
                    </a:lnTo>
                    <a:lnTo>
                      <a:pt x="2275" y="2172"/>
                    </a:lnTo>
                    <a:lnTo>
                      <a:pt x="763" y="2172"/>
                    </a:lnTo>
                    <a:lnTo>
                      <a:pt x="763" y="1996"/>
                    </a:lnTo>
                    <a:lnTo>
                      <a:pt x="1360" y="1996"/>
                    </a:lnTo>
                    <a:lnTo>
                      <a:pt x="1360" y="726"/>
                    </a:lnTo>
                    <a:lnTo>
                      <a:pt x="888" y="72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3CBC2DBE-EEEF-564D-8484-7063829C5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9226" y="705417"/>
                <a:ext cx="328891" cy="352227"/>
              </a:xfrm>
              <a:custGeom>
                <a:avLst/>
                <a:gdLst>
                  <a:gd name="T0" fmla="*/ 1979 w 1990"/>
                  <a:gd name="T1" fmla="*/ 176 h 2131"/>
                  <a:gd name="T2" fmla="*/ 343 w 1990"/>
                  <a:gd name="T3" fmla="*/ 176 h 2131"/>
                  <a:gd name="T4" fmla="*/ 343 w 1990"/>
                  <a:gd name="T5" fmla="*/ 1954 h 2131"/>
                  <a:gd name="T6" fmla="*/ 1989 w 1990"/>
                  <a:gd name="T7" fmla="*/ 1954 h 2131"/>
                  <a:gd name="T8" fmla="*/ 1989 w 1990"/>
                  <a:gd name="T9" fmla="*/ 2130 h 2131"/>
                  <a:gd name="T10" fmla="*/ 0 w 1990"/>
                  <a:gd name="T11" fmla="*/ 2130 h 2131"/>
                  <a:gd name="T12" fmla="*/ 0 w 1990"/>
                  <a:gd name="T13" fmla="*/ 0 h 2131"/>
                  <a:gd name="T14" fmla="*/ 1979 w 1990"/>
                  <a:gd name="T15" fmla="*/ 0 h 2131"/>
                  <a:gd name="T16" fmla="*/ 1979 w 1990"/>
                  <a:gd name="T17" fmla="*/ 176 h 2131"/>
                  <a:gd name="T18" fmla="*/ 958 w 1990"/>
                  <a:gd name="T19" fmla="*/ 1063 h 2131"/>
                  <a:gd name="T20" fmla="*/ 421 w 1990"/>
                  <a:gd name="T21" fmla="*/ 310 h 2131"/>
                  <a:gd name="T22" fmla="*/ 847 w 1990"/>
                  <a:gd name="T23" fmla="*/ 310 h 2131"/>
                  <a:gd name="T24" fmla="*/ 1166 w 1990"/>
                  <a:gd name="T25" fmla="*/ 763 h 2131"/>
                  <a:gd name="T26" fmla="*/ 1475 w 1990"/>
                  <a:gd name="T27" fmla="*/ 310 h 2131"/>
                  <a:gd name="T28" fmla="*/ 1887 w 1990"/>
                  <a:gd name="T29" fmla="*/ 310 h 2131"/>
                  <a:gd name="T30" fmla="*/ 1378 w 1990"/>
                  <a:gd name="T31" fmla="*/ 1058 h 2131"/>
                  <a:gd name="T32" fmla="*/ 1924 w 1990"/>
                  <a:gd name="T33" fmla="*/ 1829 h 2131"/>
                  <a:gd name="T34" fmla="*/ 1508 w 1990"/>
                  <a:gd name="T35" fmla="*/ 1829 h 2131"/>
                  <a:gd name="T36" fmla="*/ 1175 w 1990"/>
                  <a:gd name="T37" fmla="*/ 1358 h 2131"/>
                  <a:gd name="T38" fmla="*/ 860 w 1990"/>
                  <a:gd name="T39" fmla="*/ 1829 h 2131"/>
                  <a:gd name="T40" fmla="*/ 440 w 1990"/>
                  <a:gd name="T41" fmla="*/ 1829 h 2131"/>
                  <a:gd name="T42" fmla="*/ 958 w 1990"/>
                  <a:gd name="T43" fmla="*/ 1063 h 2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990" h="2131">
                    <a:moveTo>
                      <a:pt x="1979" y="176"/>
                    </a:moveTo>
                    <a:lnTo>
                      <a:pt x="343" y="176"/>
                    </a:lnTo>
                    <a:lnTo>
                      <a:pt x="343" y="1954"/>
                    </a:lnTo>
                    <a:lnTo>
                      <a:pt x="1989" y="1954"/>
                    </a:lnTo>
                    <a:lnTo>
                      <a:pt x="1989" y="2130"/>
                    </a:lnTo>
                    <a:lnTo>
                      <a:pt x="0" y="2130"/>
                    </a:lnTo>
                    <a:lnTo>
                      <a:pt x="0" y="0"/>
                    </a:lnTo>
                    <a:lnTo>
                      <a:pt x="1979" y="0"/>
                    </a:lnTo>
                    <a:lnTo>
                      <a:pt x="1979" y="176"/>
                    </a:lnTo>
                    <a:close/>
                    <a:moveTo>
                      <a:pt x="958" y="1063"/>
                    </a:moveTo>
                    <a:lnTo>
                      <a:pt x="421" y="310"/>
                    </a:lnTo>
                    <a:lnTo>
                      <a:pt x="847" y="310"/>
                    </a:lnTo>
                    <a:lnTo>
                      <a:pt x="1166" y="763"/>
                    </a:lnTo>
                    <a:lnTo>
                      <a:pt x="1475" y="310"/>
                    </a:lnTo>
                    <a:lnTo>
                      <a:pt x="1887" y="310"/>
                    </a:lnTo>
                    <a:lnTo>
                      <a:pt x="1378" y="1058"/>
                    </a:lnTo>
                    <a:lnTo>
                      <a:pt x="1924" y="1829"/>
                    </a:lnTo>
                    <a:lnTo>
                      <a:pt x="1508" y="1829"/>
                    </a:lnTo>
                    <a:lnTo>
                      <a:pt x="1175" y="1358"/>
                    </a:lnTo>
                    <a:lnTo>
                      <a:pt x="860" y="1829"/>
                    </a:lnTo>
                    <a:lnTo>
                      <a:pt x="440" y="1829"/>
                    </a:lnTo>
                    <a:lnTo>
                      <a:pt x="958" y="1063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</p:grp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9B9A2A5-908B-3244-B39F-9E6705AE6320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818B453-CEDC-BA4A-9983-86BF161F6CCA}"/>
              </a:ext>
            </a:extLst>
          </p:cNvPr>
          <p:cNvGrpSpPr/>
          <p:nvPr userDrawn="1"/>
        </p:nvGrpSpPr>
        <p:grpSpPr>
          <a:xfrm>
            <a:off x="10332133" y="426643"/>
            <a:ext cx="927707" cy="369331"/>
            <a:chOff x="1113126" y="809213"/>
            <a:chExt cx="2133357" cy="523762"/>
          </a:xfrm>
          <a:solidFill>
            <a:schemeClr val="bg1">
              <a:lumMod val="75000"/>
            </a:schemeClr>
          </a:solidFill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DAFA7D0A-E7A1-5C48-B099-DF96D6B6DE63}"/>
                </a:ext>
              </a:extLst>
            </p:cNvPr>
            <p:cNvSpPr/>
            <p:nvPr userDrawn="1"/>
          </p:nvSpPr>
          <p:spPr>
            <a:xfrm>
              <a:off x="1113126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75839B81-B3A4-5643-94B7-D8D3506763F0}"/>
                </a:ext>
              </a:extLst>
            </p:cNvPr>
            <p:cNvSpPr/>
            <p:nvPr userDrawn="1"/>
          </p:nvSpPr>
          <p:spPr>
            <a:xfrm>
              <a:off x="1649658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772B792-8E6B-4243-BB2D-857BC0580481}"/>
                </a:ext>
              </a:extLst>
            </p:cNvPr>
            <p:cNvSpPr/>
            <p:nvPr userDrawn="1"/>
          </p:nvSpPr>
          <p:spPr>
            <a:xfrm>
              <a:off x="2186190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C89D76EF-03E9-1D43-A563-9DC7302C7F5C}"/>
                </a:ext>
              </a:extLst>
            </p:cNvPr>
            <p:cNvSpPr/>
            <p:nvPr userDrawn="1"/>
          </p:nvSpPr>
          <p:spPr>
            <a:xfrm>
              <a:off x="2722721" y="809213"/>
              <a:ext cx="523762" cy="52376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8CFB3674-431C-F94A-8727-C9C98640DFEB}"/>
              </a:ext>
            </a:extLst>
          </p:cNvPr>
          <p:cNvSpPr/>
          <p:nvPr userDrawn="1"/>
        </p:nvSpPr>
        <p:spPr>
          <a:xfrm>
            <a:off x="10245804" y="413133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1800" b="1" cap="none" spc="0" dirty="0">
                <a:ln w="22225">
                  <a:noFill/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我的学校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BC00378-4A1A-AF4A-9DA5-0E40AABBEE09}"/>
              </a:ext>
            </a:extLst>
          </p:cNvPr>
          <p:cNvGrpSpPr/>
          <p:nvPr userDrawn="1"/>
        </p:nvGrpSpPr>
        <p:grpSpPr>
          <a:xfrm>
            <a:off x="715452" y="646397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41" name="Freeform 1">
              <a:extLst>
                <a:ext uri="{FF2B5EF4-FFF2-40B4-BE49-F238E27FC236}">
                  <a16:creationId xmlns:a16="http://schemas.microsoft.com/office/drawing/2014/main" id="{219E963A-769E-B14C-9175-00DF37C8C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Freeform 2">
              <a:extLst>
                <a:ext uri="{FF2B5EF4-FFF2-40B4-BE49-F238E27FC236}">
                  <a16:creationId xmlns:a16="http://schemas.microsoft.com/office/drawing/2014/main" id="{935EF8B9-88D2-6C42-BF9B-2AD28DBBD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Freeform 3">
              <a:extLst>
                <a:ext uri="{FF2B5EF4-FFF2-40B4-BE49-F238E27FC236}">
                  <a16:creationId xmlns:a16="http://schemas.microsoft.com/office/drawing/2014/main" id="{10E28FF9-5CED-394E-AF38-30164953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id="{6E5EA531-DEFC-144D-8545-1DECEBA97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F39A9FAC-3BBF-CD45-BC62-06EF846D7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4A2E4B78-1C39-A943-B2AE-B76B55EBA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E34B0E8F-7C29-3241-8B05-8DB5DF4ED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08D4B6E4-213B-E84A-9B55-3121DC89C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3073A429-8658-EC43-92EE-0AD58A539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7B9CB57C-5EF1-7045-A70B-14CD6B5A9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9187B6AA-F9BB-264E-BDCA-C7E0AC3A6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9555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538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59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74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28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1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6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70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4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79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76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9A22D17-D596-48B2-ACBB-09058C344CC5}" type="datetimeFigureOut">
              <a:rPr lang="zh-CN" altLang="en-US" smtClean="0"/>
              <a:pPr/>
              <a:t>2024/11/20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485880C-E2C3-4DAB-AE74-D9BE691626A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09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AAA80D-F069-DE49-8F34-B637A12C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AAE3F-F071-E445-8B18-8EAF39793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EB21E25C-9464-224B-A47F-E3D24E9CD7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8698" y="647642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en-US" altLang="zh-CN"/>
              <a:t>5.3 </a:t>
            </a:r>
            <a:r>
              <a:rPr kumimoji="1" lang="zh-CN" altLang="en-US"/>
              <a:t>网络互联</a:t>
            </a:r>
            <a:endParaRPr kumimoji="1" lang="zh-CN" altLang="en-US" dirty="0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9B84893-18EE-FF43-9533-BF8DF0782C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6424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/>
              <a:t>引自：</a:t>
            </a:r>
            <a:r>
              <a:rPr kumimoji="1" lang="en-US" altLang="zh-CN"/>
              <a:t>XXXXX</a:t>
            </a:r>
            <a:r>
              <a:rPr kumimoji="1" lang="zh-CN" altLang="en-US"/>
              <a:t>（如果需要）</a:t>
            </a:r>
            <a:endParaRPr kumimoji="1" lang="zh-CN" altLang="en-US" dirty="0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375705C-8722-064B-8FCF-B9180D154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10" y="6476424"/>
            <a:ext cx="3319670" cy="365125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bg1">
                    <a:lumMod val="6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2349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98" y="6216726"/>
            <a:ext cx="1500460" cy="356937"/>
          </a:xfrm>
          <a:prstGeom prst="rect">
            <a:avLst/>
          </a:prstGeom>
        </p:spPr>
      </p:pic>
      <p:sp>
        <p:nvSpPr>
          <p:cNvPr id="17" name="Line 3"/>
          <p:cNvSpPr>
            <a:spLocks noChangeShapeType="1"/>
          </p:cNvSpPr>
          <p:nvPr userDrawn="1"/>
        </p:nvSpPr>
        <p:spPr bwMode="auto">
          <a:xfrm>
            <a:off x="1688758" y="6405331"/>
            <a:ext cx="9256527" cy="0"/>
          </a:xfrm>
          <a:prstGeom prst="line">
            <a:avLst/>
          </a:prstGeom>
          <a:noFill/>
          <a:ln w="1905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Rectangle 9"/>
          <p:cNvSpPr>
            <a:spLocks noChangeArrowheads="1"/>
          </p:cNvSpPr>
          <p:nvPr userDrawn="1"/>
        </p:nvSpPr>
        <p:spPr bwMode="auto">
          <a:xfrm>
            <a:off x="10945283" y="5859542"/>
            <a:ext cx="813223" cy="813223"/>
          </a:xfrm>
          <a:prstGeom prst="rect">
            <a:avLst/>
          </a:prstGeom>
          <a:solidFill>
            <a:schemeClr val="bg1"/>
          </a:solidFill>
          <a:ln w="25400" algn="ctr">
            <a:solidFill>
              <a:srgbClr val="85D1F7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fr-FR" sz="2400">
              <a:cs typeface="Arial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066" y="5892029"/>
            <a:ext cx="671239" cy="746612"/>
          </a:xfrm>
          <a:prstGeom prst="rect">
            <a:avLst/>
          </a:prstGeom>
        </p:spPr>
      </p:pic>
      <p:sp>
        <p:nvSpPr>
          <p:cNvPr id="15" name="Line 3"/>
          <p:cNvSpPr>
            <a:spLocks noChangeShapeType="1"/>
          </p:cNvSpPr>
          <p:nvPr userDrawn="1"/>
        </p:nvSpPr>
        <p:spPr bwMode="auto">
          <a:xfrm>
            <a:off x="0" y="570789"/>
            <a:ext cx="12192000" cy="0"/>
          </a:xfrm>
          <a:prstGeom prst="line">
            <a:avLst/>
          </a:prstGeom>
          <a:noFill/>
          <a:ln w="25400" algn="ctr">
            <a:solidFill>
              <a:srgbClr val="85D1F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矩形 19"/>
          <p:cNvSpPr/>
          <p:nvPr userDrawn="1"/>
        </p:nvSpPr>
        <p:spPr>
          <a:xfrm>
            <a:off x="5683877" y="164638"/>
            <a:ext cx="798491" cy="620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1" name="Line 3"/>
          <p:cNvSpPr>
            <a:spLocks noChangeShapeType="1"/>
          </p:cNvSpPr>
          <p:nvPr userDrawn="1"/>
        </p:nvSpPr>
        <p:spPr bwMode="auto">
          <a:xfrm>
            <a:off x="0" y="402040"/>
            <a:ext cx="3780619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 sz="2400"/>
          </a:p>
        </p:txBody>
      </p:sp>
      <p:sp>
        <p:nvSpPr>
          <p:cNvPr id="22" name="Rectangle 4"/>
          <p:cNvSpPr>
            <a:spLocks noChangeArrowheads="1"/>
          </p:cNvSpPr>
          <p:nvPr userDrawn="1"/>
        </p:nvSpPr>
        <p:spPr bwMode="auto">
          <a:xfrm>
            <a:off x="6414323" y="218970"/>
            <a:ext cx="1420283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fr-FR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谢希仁 编著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/>
        </p:nvSpPr>
        <p:spPr bwMode="auto">
          <a:xfrm>
            <a:off x="3842174" y="219810"/>
            <a:ext cx="1928733" cy="31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 eaLnBrk="0" hangingPunct="0"/>
            <a:r>
              <a:rPr lang="fr-FR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计算机网络 </a:t>
            </a:r>
            <a:r>
              <a:rPr lang="en-US" altLang="zh-CN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en-US" altLang="zh-CN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8 </a:t>
            </a:r>
            <a:r>
              <a:rPr lang="zh-CN" altLang="en-US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版</a:t>
            </a:r>
            <a:r>
              <a:rPr lang="en-US" altLang="zh-CN" sz="1467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fr-FR" sz="1467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椭圆 23"/>
          <p:cNvSpPr/>
          <p:nvPr userDrawn="1"/>
        </p:nvSpPr>
        <p:spPr>
          <a:xfrm>
            <a:off x="3724153" y="345575"/>
            <a:ext cx="112931" cy="112931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 sz="2400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sp>
        <p:nvSpPr>
          <p:cNvPr id="25" name="Line 3"/>
          <p:cNvSpPr>
            <a:spLocks noChangeShapeType="1"/>
          </p:cNvSpPr>
          <p:nvPr userDrawn="1"/>
        </p:nvSpPr>
        <p:spPr bwMode="auto">
          <a:xfrm>
            <a:off x="7617904" y="402040"/>
            <a:ext cx="4574096" cy="0"/>
          </a:xfrm>
          <a:prstGeom prst="line">
            <a:avLst/>
          </a:prstGeom>
          <a:noFill/>
          <a:ln w="12700" algn="ctr">
            <a:solidFill>
              <a:srgbClr val="00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lvl="0"/>
            <a:endParaRPr lang="zh-CN" altLang="en-US" sz="2400"/>
          </a:p>
        </p:txBody>
      </p:sp>
      <p:sp>
        <p:nvSpPr>
          <p:cNvPr id="26" name="椭圆 25"/>
          <p:cNvSpPr/>
          <p:nvPr userDrawn="1"/>
        </p:nvSpPr>
        <p:spPr>
          <a:xfrm>
            <a:off x="7614063" y="345575"/>
            <a:ext cx="112931" cy="112931"/>
          </a:xfrm>
          <a:prstGeom prst="ellipse">
            <a:avLst/>
          </a:prstGeom>
          <a:solidFill>
            <a:schemeClr val="bg1"/>
          </a:solidFill>
          <a:ln w="12700" algn="ctr">
            <a:solidFill>
              <a:srgbClr val="00B050"/>
            </a:solidFill>
            <a:round/>
            <a:headEnd/>
            <a:tailEnd/>
          </a:ln>
        </p:spPr>
        <p:txBody>
          <a:bodyPr/>
          <a:lstStyle/>
          <a:p>
            <a:pPr lvl="0"/>
            <a:endParaRPr lang="zh-CN" altLang="en-US" sz="2400">
              <a:solidFill>
                <a:schemeClr val="tx1"/>
              </a:solidFill>
              <a:latin typeface="Arial" charset="0"/>
              <a:ea typeface="宋体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103" y="198979"/>
            <a:ext cx="477795" cy="61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8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???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wmf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31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510758"/>
            <a:ext cx="10046292" cy="518395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dirty="0"/>
              <a:t>5.1 </a:t>
            </a:r>
            <a:r>
              <a:rPr lang="zh-CN" altLang="zh-CN" dirty="0">
                <a:sym typeface="+mn-ea"/>
              </a:rPr>
              <a:t>网络层服务</a:t>
            </a:r>
            <a:endParaRPr kumimoji="1" lang="zh-CN" altLang="en-US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olidFill>
                  <a:srgbClr val="C00000"/>
                </a:solidFill>
                <a:sym typeface="+mn-ea"/>
              </a:rPr>
              <a:t>5.2</a:t>
            </a:r>
            <a:r>
              <a:rPr kumimoji="1" lang="zh-CN" altLang="en-US" dirty="0">
                <a:solidFill>
                  <a:srgbClr val="C00000"/>
                </a:solidFill>
                <a:sym typeface="+mn-ea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sym typeface="+mn-ea"/>
              </a:rPr>
              <a:t>Internet</a:t>
            </a:r>
            <a:r>
              <a:rPr kumimoji="1" lang="zh-CN" altLang="en-US" dirty="0">
                <a:solidFill>
                  <a:srgbClr val="C00000"/>
                </a:solidFill>
                <a:sym typeface="+mn-ea"/>
              </a:rPr>
              <a:t>网际协议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5.3</a:t>
            </a:r>
            <a:r>
              <a:rPr kumimoji="1" lang="zh-CN" altLang="en-US" dirty="0">
                <a:sym typeface="+mn-ea"/>
              </a:rPr>
              <a:t> 路由算法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5.4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Internet</a:t>
            </a:r>
            <a:r>
              <a:rPr kumimoji="1" lang="zh-CN" altLang="en-US" dirty="0">
                <a:sym typeface="+mn-ea"/>
              </a:rPr>
              <a:t>路由协议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5.5</a:t>
            </a:r>
            <a:r>
              <a:rPr kumimoji="1" lang="zh-CN" altLang="en-US" dirty="0">
                <a:sym typeface="+mn-ea"/>
              </a:rPr>
              <a:t> 路由器工作原理</a:t>
            </a:r>
            <a:endParaRPr kumimoji="1" lang="en-US" altLang="zh-CN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5.6</a:t>
            </a:r>
            <a:r>
              <a:rPr kumimoji="1" lang="zh-CN" altLang="en-US" dirty="0">
                <a:sym typeface="+mn-ea"/>
              </a:rPr>
              <a:t> 拥塞控制算法</a:t>
            </a:r>
            <a:endParaRPr kumimoji="1" lang="zh-CN" altLang="en-US" dirty="0"/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5.7</a:t>
            </a:r>
            <a:r>
              <a:rPr kumimoji="1" lang="zh-CN" altLang="en-US" dirty="0">
                <a:sym typeface="+mn-ea"/>
              </a:rPr>
              <a:t> 服务质量</a:t>
            </a:r>
            <a:endParaRPr kumimoji="1" lang="en-US" altLang="zh-CN" dirty="0"/>
          </a:p>
          <a:p>
            <a:pPr marL="0">
              <a:lnSpc>
                <a:spcPct val="130000"/>
              </a:lnSpc>
              <a:buNone/>
            </a:pPr>
            <a:r>
              <a:rPr kumimoji="1" lang="zh-CN" altLang="en-US" dirty="0">
                <a:sym typeface="+mn-ea"/>
              </a:rPr>
              <a:t>5.</a:t>
            </a:r>
            <a:r>
              <a:rPr kumimoji="1" lang="en-US" altLang="zh-CN" dirty="0">
                <a:sym typeface="+mn-ea"/>
              </a:rPr>
              <a:t>8</a:t>
            </a:r>
            <a:r>
              <a:rPr kumimoji="1" lang="zh-CN" altLang="en-US" dirty="0">
                <a:sym typeface="+mn-ea"/>
              </a:rPr>
              <a:t> 三层交换与</a:t>
            </a:r>
            <a:r>
              <a:rPr kumimoji="1" lang="en-US" altLang="zh-CN" dirty="0">
                <a:sym typeface="+mn-ea"/>
              </a:rPr>
              <a:t>VPN</a:t>
            </a:r>
          </a:p>
          <a:p>
            <a:pPr marL="0">
              <a:lnSpc>
                <a:spcPct val="130000"/>
              </a:lnSpc>
              <a:buNone/>
            </a:pPr>
            <a:r>
              <a:rPr kumimoji="1" lang="en-US" altLang="zh-CN" dirty="0">
                <a:sym typeface="+mn-ea"/>
              </a:rPr>
              <a:t>5.9 IPv6</a:t>
            </a:r>
            <a:r>
              <a:rPr kumimoji="1" lang="zh-CN" altLang="en-US" dirty="0">
                <a:sym typeface="+mn-ea"/>
              </a:rPr>
              <a:t>技术</a:t>
            </a:r>
            <a:endParaRPr kumimoji="1"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1955D56-458B-2941-A60C-A60B6824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E4BFCB96-0FA1-7740-8F94-683CEFB67F89}"/>
              </a:ext>
            </a:extLst>
          </p:cNvPr>
          <p:cNvSpPr/>
          <p:nvPr/>
        </p:nvSpPr>
        <p:spPr>
          <a:xfrm>
            <a:off x="6330654" y="1543993"/>
            <a:ext cx="3901140" cy="3511483"/>
          </a:xfrm>
          <a:prstGeom prst="wedgeRectCallout">
            <a:avLst>
              <a:gd name="adj1" fmla="val -91324"/>
              <a:gd name="adj2" fmla="val -26653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IPv4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协议  </a:t>
            </a:r>
          </a:p>
          <a:p>
            <a: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地址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DHCP </a:t>
            </a:r>
          </a:p>
          <a:p>
            <a: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ARP</a:t>
            </a:r>
          </a:p>
          <a:p>
            <a: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NAT 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</a:t>
            </a:r>
          </a:p>
          <a:p>
            <a:pPr marL="457200" marR="0" lvl="0" indent="-45720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Internet</a:t>
            </a:r>
            <a:r>
              <a:rPr kumimoji="0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控制报文协议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804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>
            <a:normAutofit/>
          </a:bodyPr>
          <a:lstStyle/>
          <a:p>
            <a:pPr fontAlgn="base">
              <a:lnSpc>
                <a:spcPct val="120000"/>
              </a:lnSpc>
            </a:pPr>
            <a:r>
              <a:rPr lang="en-US" sz="2400" dirty="0"/>
              <a:t>IPv4</a:t>
            </a:r>
            <a:r>
              <a:rPr lang="zh-CN" altLang="en-US" sz="2400" dirty="0"/>
              <a:t>协议，网际协议版本</a:t>
            </a:r>
            <a:r>
              <a:rPr lang="en-US" altLang="zh-CN" sz="2400" dirty="0"/>
              <a:t>4</a:t>
            </a:r>
            <a:r>
              <a:rPr lang="zh-CN" altLang="en-US" sz="2400" dirty="0"/>
              <a:t>，一种无连接的协议，是互联网的核心，也是使用最广泛的网际协议版本，其后继版本为</a:t>
            </a:r>
            <a:r>
              <a:rPr lang="en-US" altLang="zh-CN" sz="2400" dirty="0"/>
              <a:t>IPv6</a:t>
            </a:r>
          </a:p>
          <a:p>
            <a:pPr fontAlgn="base">
              <a:lnSpc>
                <a:spcPct val="120000"/>
              </a:lnSpc>
            </a:pPr>
            <a:endParaRPr lang="en-US" altLang="zh-CN" sz="2400" dirty="0"/>
          </a:p>
          <a:p>
            <a:pPr fontAlgn="base">
              <a:lnSpc>
                <a:spcPct val="120000"/>
              </a:lnSpc>
            </a:pPr>
            <a:r>
              <a:rPr lang="en-US" sz="2400" dirty="0"/>
              <a:t>internet</a:t>
            </a:r>
            <a:r>
              <a:rPr lang="zh-CN" altLang="en-US" sz="2400" dirty="0"/>
              <a:t>协议执行两个基本功能</a:t>
            </a:r>
            <a:endParaRPr lang="en-US" altLang="zh-CN" sz="2400" dirty="0"/>
          </a:p>
          <a:p>
            <a:pPr lvl="1"/>
            <a:r>
              <a:rPr lang="zh-CN" altLang="en-US" dirty="0"/>
              <a:t>寻址</a:t>
            </a:r>
            <a:r>
              <a:rPr lang="en-US" altLang="zh-CN" dirty="0"/>
              <a:t>(</a:t>
            </a:r>
            <a:r>
              <a:rPr lang="en-US" dirty="0"/>
              <a:t>addressing)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分片</a:t>
            </a:r>
            <a:r>
              <a:rPr lang="en-US" altLang="zh-CN" dirty="0"/>
              <a:t>(</a:t>
            </a:r>
            <a:r>
              <a:rPr lang="en-US" dirty="0"/>
              <a:t>fragmentation)</a:t>
            </a:r>
            <a:endParaRPr lang="zh-CN" altLang="en-US" dirty="0"/>
          </a:p>
        </p:txBody>
      </p:sp>
      <p:sp>
        <p:nvSpPr>
          <p:cNvPr id="7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5.2.1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IPv4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4710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61259" y="2466578"/>
            <a:ext cx="5287032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矩形 9"/>
          <p:cNvSpPr/>
          <p:nvPr/>
        </p:nvSpPr>
        <p:spPr>
          <a:xfrm>
            <a:off x="7281231" y="6044801"/>
            <a:ext cx="2247089" cy="444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RFC 791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328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IPv4</a:t>
            </a:r>
            <a:r>
              <a:rPr lang="zh-CN" altLang="en-US" dirty="0"/>
              <a:t>数据报格式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088ADF8-202B-CD4A-A707-9886A69D1A4C}"/>
              </a:ext>
            </a:extLst>
          </p:cNvPr>
          <p:cNvSpPr txBox="1">
            <a:spLocks/>
          </p:cNvSpPr>
          <p:nvPr/>
        </p:nvSpPr>
        <p:spPr>
          <a:xfrm>
            <a:off x="353920" y="1620830"/>
            <a:ext cx="5886869" cy="446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版本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4bit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，表示采用的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协议版本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首部长度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4bit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，表示整个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数据报首部的长度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区分服务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8bit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，该字段一般情况下不使用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总长度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16bit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，表示整个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报文的长度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,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能表示的最大字节为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2^16-1=65535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字节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标识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16bit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软件通过计数器自动产生，每产生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个数据报计数器加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；在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分片以后，用来标识同一片分片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标志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3bit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，目前只有两位有意义；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MF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，置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表示后面还有分片，置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表示这是数据报片的最后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个；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DF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，不能分片标志，置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时表示允许分片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片偏移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13bit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，表示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分片后，相应的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片在总的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片的相对位置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088ADF8-202B-CD4A-A707-9886A69D1A4C}"/>
              </a:ext>
            </a:extLst>
          </p:cNvPr>
          <p:cNvSpPr txBox="1">
            <a:spLocks/>
          </p:cNvSpPr>
          <p:nvPr/>
        </p:nvSpPr>
        <p:spPr>
          <a:xfrm>
            <a:off x="707841" y="4178005"/>
            <a:ext cx="5243715" cy="405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088ADF8-202B-CD4A-A707-9886A69D1A4C}"/>
              </a:ext>
            </a:extLst>
          </p:cNvPr>
          <p:cNvSpPr txBox="1">
            <a:spLocks/>
          </p:cNvSpPr>
          <p:nvPr/>
        </p:nvSpPr>
        <p:spPr>
          <a:xfrm>
            <a:off x="707842" y="4572832"/>
            <a:ext cx="5243714" cy="372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F088ADF8-202B-CD4A-A707-9886A69D1A4C}"/>
              </a:ext>
            </a:extLst>
          </p:cNvPr>
          <p:cNvSpPr txBox="1">
            <a:spLocks/>
          </p:cNvSpPr>
          <p:nvPr/>
        </p:nvSpPr>
        <p:spPr>
          <a:xfrm>
            <a:off x="688335" y="4944923"/>
            <a:ext cx="5421064" cy="9316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4" name="组合 13"/>
          <p:cNvGrpSpPr/>
          <p:nvPr/>
        </p:nvGrpSpPr>
        <p:grpSpPr>
          <a:xfrm>
            <a:off x="6516611" y="2090211"/>
            <a:ext cx="4987191" cy="3394593"/>
            <a:chOff x="6363706" y="1291648"/>
            <a:chExt cx="5581099" cy="3794703"/>
          </a:xfrm>
        </p:grpSpPr>
        <p:grpSp>
          <p:nvGrpSpPr>
            <p:cNvPr id="5" name="组合 22"/>
            <p:cNvGrpSpPr/>
            <p:nvPr/>
          </p:nvGrpSpPr>
          <p:grpSpPr>
            <a:xfrm>
              <a:off x="6363706" y="2162217"/>
              <a:ext cx="5581099" cy="2924134"/>
              <a:chOff x="6190733" y="1722254"/>
              <a:chExt cx="5581099" cy="2924134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6190733" y="1722254"/>
                <a:ext cx="923941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版本</a:t>
                </a: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7114674" y="1725066"/>
                <a:ext cx="1193787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首部长度 </a:t>
                </a: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8308461" y="1725066"/>
                <a:ext cx="1211787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区分服务</a:t>
                </a: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9519037" y="1725066"/>
                <a:ext cx="2250228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总长度</a:t>
                </a: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6190733" y="2094343"/>
                <a:ext cx="2399404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标识</a:t>
                </a: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8590137" y="2091529"/>
                <a:ext cx="929011" cy="402432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标志</a:t>
                </a: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9516051" y="2094343"/>
                <a:ext cx="2253214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片偏移</a:t>
                </a: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6190733" y="2463620"/>
                <a:ext cx="2399404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生存时间</a:t>
                </a: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6190733" y="2830085"/>
                <a:ext cx="558109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源地址</a:t>
                </a: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6190733" y="3199362"/>
                <a:ext cx="557890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目的地址</a:t>
                </a: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6190733" y="3568639"/>
                <a:ext cx="4384040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可选字段（长度可变）</a:t>
                </a: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6190733" y="3568638"/>
                <a:ext cx="1216082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填充</a:t>
                </a: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6190733" y="3918866"/>
                <a:ext cx="5578532" cy="727522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数据部分</a:t>
                </a: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8592223" y="2454095"/>
                <a:ext cx="935606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协议</a:t>
                </a: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9527829" y="2463620"/>
                <a:ext cx="2241436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首部校验和</a:t>
                </a: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190733" y="2820575"/>
                <a:ext cx="558109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源地址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6190733" y="3192695"/>
                <a:ext cx="557890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目的地址</a:t>
                </a: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6190733" y="3556863"/>
                <a:ext cx="4384040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选项（长度可变）</a:t>
                </a: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10553183" y="3555104"/>
                <a:ext cx="1216082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填充</a:t>
                </a:r>
              </a:p>
            </p:txBody>
          </p:sp>
        </p:grpSp>
        <p:sp>
          <p:nvSpPr>
            <p:cNvPr id="16" name="矩形 15"/>
            <p:cNvSpPr/>
            <p:nvPr/>
          </p:nvSpPr>
          <p:spPr>
            <a:xfrm>
              <a:off x="6750563" y="1291648"/>
              <a:ext cx="4992769" cy="44727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itchFamily="34" charset="0"/>
                  <a:ea typeface="黑体" pitchFamily="2" charset="-122"/>
                  <a:cs typeface="+mn-cs"/>
                </a:rPr>
                <a:t>IP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itchFamily="34" charset="0"/>
                  <a:ea typeface="黑体" pitchFamily="2" charset="-122"/>
                  <a:cs typeface="+mn-cs"/>
                </a:rPr>
                <a:t>数据报由首部和数据两部分组成</a:t>
              </a:r>
            </a:p>
          </p:txBody>
        </p:sp>
        <p:grpSp>
          <p:nvGrpSpPr>
            <p:cNvPr id="6" name="组合 44"/>
            <p:cNvGrpSpPr/>
            <p:nvPr/>
          </p:nvGrpSpPr>
          <p:grpSpPr>
            <a:xfrm>
              <a:off x="6363707" y="1740176"/>
              <a:ext cx="5578532" cy="424853"/>
              <a:chOff x="6363707" y="1740176"/>
              <a:chExt cx="5578532" cy="424853"/>
            </a:xfrm>
          </p:grpSpPr>
          <p:cxnSp>
            <p:nvCxnSpPr>
              <p:cNvPr id="18" name="直接连接符 17"/>
              <p:cNvCxnSpPr/>
              <p:nvPr/>
            </p:nvCxnSpPr>
            <p:spPr>
              <a:xfrm rot="5400000">
                <a:off x="6163208" y="1940675"/>
                <a:ext cx="402585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rot="5400000">
                <a:off x="11740152" y="1960130"/>
                <a:ext cx="402585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 rot="10800000">
                <a:off x="6363708" y="1962149"/>
                <a:ext cx="2399402" cy="1588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8286749" y="1764919"/>
                <a:ext cx="17145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itchFamily="34" charset="0"/>
                    <a:ea typeface="黑体" pitchFamily="2" charset="-122"/>
                    <a:cs typeface="+mn-cs"/>
                  </a:rPr>
                  <a:t>32bit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itchFamily="34" charset="0"/>
                  <a:ea typeface="黑体" pitchFamily="2" charset="-122"/>
                  <a:cs typeface="+mn-cs"/>
                </a:endParaRPr>
              </a:p>
            </p:txBody>
          </p:sp>
          <p:cxnSp>
            <p:nvCxnSpPr>
              <p:cNvPr id="22" name="直接箭头连接符 21"/>
              <p:cNvCxnSpPr/>
              <p:nvPr/>
            </p:nvCxnSpPr>
            <p:spPr>
              <a:xfrm>
                <a:off x="9528320" y="1962148"/>
                <a:ext cx="2412330" cy="159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5.2.1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IPv4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18031" y="2871504"/>
            <a:ext cx="824201" cy="32782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342781" y="2875987"/>
            <a:ext cx="1066202" cy="32334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409577" y="2880470"/>
            <a:ext cx="1089016" cy="32334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489819" y="2871506"/>
            <a:ext cx="2010269" cy="32782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522515" y="3199328"/>
            <a:ext cx="2138169" cy="34065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8665319" y="3203810"/>
            <a:ext cx="839947" cy="334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501427" y="3203811"/>
            <a:ext cx="1998662" cy="340659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255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IPv4</a:t>
            </a:r>
            <a:r>
              <a:rPr lang="zh-CN" altLang="en-US" dirty="0"/>
              <a:t>数据报格式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088ADF8-202B-CD4A-A707-9886A69D1A4C}"/>
              </a:ext>
            </a:extLst>
          </p:cNvPr>
          <p:cNvSpPr txBox="1">
            <a:spLocks/>
          </p:cNvSpPr>
          <p:nvPr/>
        </p:nvSpPr>
        <p:spPr>
          <a:xfrm>
            <a:off x="353920" y="1620830"/>
            <a:ext cx="5886869" cy="4461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生存时间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TTL(Time To Live)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8bit,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表示数据报在网络中的生命周期，用通过路由器的数量来计量，即跳数（每经过一个路由器会减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8bit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，标识上层协议（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TCP/UDP/ICMP…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首部校验和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16bit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，对数据报首部进行校验，不包括数据部分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源地址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32bit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，标识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片的发送源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目的地址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32bit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，标识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片的目的地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选项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：可扩充部分，具有可变长度，定义了安全性、严格源路由、松散源路由、记录路由、时间戳等选项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填充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：用全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0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的填充字段补齐为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字节的整数倍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088ADF8-202B-CD4A-A707-9886A69D1A4C}"/>
              </a:ext>
            </a:extLst>
          </p:cNvPr>
          <p:cNvSpPr txBox="1">
            <a:spLocks/>
          </p:cNvSpPr>
          <p:nvPr/>
        </p:nvSpPr>
        <p:spPr>
          <a:xfrm>
            <a:off x="707841" y="4178005"/>
            <a:ext cx="5243715" cy="405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F088ADF8-202B-CD4A-A707-9886A69D1A4C}"/>
              </a:ext>
            </a:extLst>
          </p:cNvPr>
          <p:cNvSpPr txBox="1">
            <a:spLocks/>
          </p:cNvSpPr>
          <p:nvPr/>
        </p:nvSpPr>
        <p:spPr>
          <a:xfrm>
            <a:off x="707842" y="4572832"/>
            <a:ext cx="5243714" cy="3720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3" name="组合 13"/>
          <p:cNvGrpSpPr/>
          <p:nvPr/>
        </p:nvGrpSpPr>
        <p:grpSpPr>
          <a:xfrm>
            <a:off x="6516611" y="2090211"/>
            <a:ext cx="4987191" cy="3394593"/>
            <a:chOff x="6363706" y="1291648"/>
            <a:chExt cx="5581099" cy="3794703"/>
          </a:xfrm>
        </p:grpSpPr>
        <p:grpSp>
          <p:nvGrpSpPr>
            <p:cNvPr id="4" name="组合 22"/>
            <p:cNvGrpSpPr/>
            <p:nvPr/>
          </p:nvGrpSpPr>
          <p:grpSpPr>
            <a:xfrm>
              <a:off x="6363706" y="2162217"/>
              <a:ext cx="5581099" cy="2924134"/>
              <a:chOff x="6190733" y="1722254"/>
              <a:chExt cx="5581099" cy="2924134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6190733" y="1722254"/>
                <a:ext cx="923941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版本</a:t>
                </a: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7114674" y="1725066"/>
                <a:ext cx="1193787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首部长度 </a:t>
                </a:r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8308461" y="1725066"/>
                <a:ext cx="1211787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区分服务</a:t>
                </a: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9519037" y="1725066"/>
                <a:ext cx="2250228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总长度</a:t>
                </a: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6190733" y="2094343"/>
                <a:ext cx="2399404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标识</a:t>
                </a: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8590137" y="2091530"/>
                <a:ext cx="929011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标志</a:t>
                </a: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9516051" y="2094343"/>
                <a:ext cx="2253214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片偏移</a:t>
                </a: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6190733" y="2463620"/>
                <a:ext cx="2399404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生存时间</a:t>
                </a: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6190733" y="2830085"/>
                <a:ext cx="558109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源地址</a:t>
                </a: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6190733" y="3199362"/>
                <a:ext cx="557890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目的地址</a:t>
                </a: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6190733" y="3568639"/>
                <a:ext cx="4384040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可选字段（长度可变）</a:t>
                </a: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6190733" y="3568638"/>
                <a:ext cx="1216082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填充</a:t>
                </a: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6190733" y="3918866"/>
                <a:ext cx="5578532" cy="727522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数据部分</a:t>
                </a:r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8592223" y="2454095"/>
                <a:ext cx="935606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协议</a:t>
                </a:r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9527829" y="2463620"/>
                <a:ext cx="2241435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首部校验和</a:t>
                </a: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190733" y="2820575"/>
                <a:ext cx="558109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源地址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6190733" y="3192695"/>
                <a:ext cx="5578909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目的地址</a:t>
                </a: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6190733" y="3556864"/>
                <a:ext cx="4362451" cy="381053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选项（长度可变）</a:t>
                </a: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10553184" y="3555104"/>
                <a:ext cx="1216082" cy="369277"/>
              </a:xfrm>
              <a:prstGeom prst="rect">
                <a:avLst/>
              </a:prstGeom>
              <a:solidFill>
                <a:srgbClr val="CCECFF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rPr>
                  <a:t>填充</a:t>
                </a:r>
              </a:p>
            </p:txBody>
          </p:sp>
        </p:grpSp>
        <p:sp>
          <p:nvSpPr>
            <p:cNvPr id="16" name="矩形 15"/>
            <p:cNvSpPr/>
            <p:nvPr/>
          </p:nvSpPr>
          <p:spPr>
            <a:xfrm>
              <a:off x="6750563" y="1291648"/>
              <a:ext cx="4992769" cy="44727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itchFamily="34" charset="0"/>
                  <a:ea typeface="黑体" pitchFamily="2" charset="-122"/>
                  <a:cs typeface="+mn-cs"/>
                </a:rPr>
                <a:t>IP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itchFamily="34" charset="0"/>
                  <a:ea typeface="黑体" pitchFamily="2" charset="-122"/>
                  <a:cs typeface="+mn-cs"/>
                </a:rPr>
                <a:t>数据报由首部和数据两部分组成</a:t>
              </a:r>
            </a:p>
          </p:txBody>
        </p:sp>
        <p:grpSp>
          <p:nvGrpSpPr>
            <p:cNvPr id="5" name="组合 44"/>
            <p:cNvGrpSpPr/>
            <p:nvPr/>
          </p:nvGrpSpPr>
          <p:grpSpPr>
            <a:xfrm>
              <a:off x="6363707" y="1740176"/>
              <a:ext cx="5578532" cy="424853"/>
              <a:chOff x="6363707" y="1740176"/>
              <a:chExt cx="5578532" cy="424853"/>
            </a:xfrm>
          </p:grpSpPr>
          <p:cxnSp>
            <p:nvCxnSpPr>
              <p:cNvPr id="18" name="直接连接符 17"/>
              <p:cNvCxnSpPr/>
              <p:nvPr/>
            </p:nvCxnSpPr>
            <p:spPr>
              <a:xfrm rot="5400000">
                <a:off x="6163208" y="1940675"/>
                <a:ext cx="402585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 rot="5400000">
                <a:off x="11740152" y="1960130"/>
                <a:ext cx="402585" cy="1588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 rot="10800000">
                <a:off x="6363708" y="1962149"/>
                <a:ext cx="2399402" cy="1588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/>
              <p:cNvSpPr txBox="1"/>
              <p:nvPr/>
            </p:nvSpPr>
            <p:spPr>
              <a:xfrm>
                <a:off x="8286749" y="1764919"/>
                <a:ext cx="17145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itchFamily="34" charset="0"/>
                    <a:ea typeface="黑体" pitchFamily="2" charset="-122"/>
                    <a:cs typeface="+mn-cs"/>
                  </a:rPr>
                  <a:t>32bit</a:t>
                </a:r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itchFamily="34" charset="0"/>
                  <a:ea typeface="黑体" pitchFamily="2" charset="-122"/>
                  <a:cs typeface="+mn-cs"/>
                </a:endParaRPr>
              </a:p>
            </p:txBody>
          </p:sp>
          <p:cxnSp>
            <p:nvCxnSpPr>
              <p:cNvPr id="22" name="直接箭头连接符 21"/>
              <p:cNvCxnSpPr/>
              <p:nvPr/>
            </p:nvCxnSpPr>
            <p:spPr>
              <a:xfrm>
                <a:off x="9528320" y="1962148"/>
                <a:ext cx="2412330" cy="1590"/>
              </a:xfrm>
              <a:prstGeom prst="straightConnector1">
                <a:avLst/>
              </a:prstGeom>
              <a:ln w="2222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5.2.1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IPv4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518030" y="3532184"/>
            <a:ext cx="2142653" cy="327825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665318" y="3527240"/>
            <a:ext cx="835200" cy="3276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9499495" y="3531724"/>
            <a:ext cx="2001600" cy="3240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6516611" y="3858154"/>
            <a:ext cx="4983478" cy="32927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521094" y="4185365"/>
            <a:ext cx="4983478" cy="32927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515908" y="4505740"/>
            <a:ext cx="3913033" cy="34529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420564" y="4510223"/>
            <a:ext cx="1080000" cy="33480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219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数据报分片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7"/>
            <a:ext cx="10799618" cy="4954697"/>
          </a:xfrm>
        </p:spPr>
        <p:txBody>
          <a:bodyPr>
            <a:normAutofit/>
          </a:bodyPr>
          <a:lstStyle/>
          <a:p>
            <a:r>
              <a:rPr lang="en-US" altLang="zh-CN" dirty="0"/>
              <a:t>MTU</a:t>
            </a:r>
            <a:r>
              <a:rPr lang="zh-CN" altLang="en-US" dirty="0"/>
              <a:t>（</a:t>
            </a:r>
            <a:r>
              <a:rPr lang="en-US" altLang="zh-CN" dirty="0"/>
              <a:t>Maximum Transmission Unit</a:t>
            </a:r>
            <a:r>
              <a:rPr lang="zh-CN" altLang="en-US" dirty="0"/>
              <a:t>）</a:t>
            </a:r>
            <a:r>
              <a:rPr lang="en-US" altLang="zh-CN" dirty="0"/>
              <a:t>, </a:t>
            </a:r>
            <a:r>
              <a:rPr lang="zh-CN" altLang="en-US" dirty="0"/>
              <a:t>最大传输单元</a:t>
            </a:r>
            <a:endParaRPr lang="en-US" altLang="zh-CN" dirty="0"/>
          </a:p>
          <a:p>
            <a:pPr lvl="1"/>
            <a:r>
              <a:rPr lang="zh-CN" altLang="en-US" dirty="0"/>
              <a:t>链路</a:t>
            </a:r>
            <a:r>
              <a:rPr lang="en-US" altLang="zh-CN" dirty="0"/>
              <a:t>MTU</a:t>
            </a:r>
          </a:p>
          <a:p>
            <a:pPr lvl="1"/>
            <a:r>
              <a:rPr lang="zh-CN" altLang="en-US" dirty="0"/>
              <a:t>路径</a:t>
            </a:r>
            <a:r>
              <a:rPr lang="en-US" altLang="zh-CN" dirty="0"/>
              <a:t>MTU (Path MTU)</a:t>
            </a:r>
          </a:p>
          <a:p>
            <a:r>
              <a:rPr lang="zh-CN" altLang="en-US" dirty="0"/>
              <a:t>分片策略</a:t>
            </a:r>
            <a:endParaRPr lang="en-US" altLang="zh-CN" dirty="0"/>
          </a:p>
          <a:p>
            <a:pPr lvl="1"/>
            <a:r>
              <a:rPr lang="zh-CN" altLang="en-US" dirty="0"/>
              <a:t>允许途中分片：根据下一跳链路的</a:t>
            </a:r>
            <a:r>
              <a:rPr lang="en-US" altLang="zh-CN" dirty="0"/>
              <a:t>MTU</a:t>
            </a:r>
            <a:r>
              <a:rPr lang="zh-CN" altLang="en-US" dirty="0"/>
              <a:t>实施分片</a:t>
            </a:r>
            <a:endParaRPr lang="en-US" altLang="zh-CN" dirty="0"/>
          </a:p>
          <a:p>
            <a:pPr lvl="1"/>
            <a:r>
              <a:rPr lang="zh-CN" altLang="en-US" dirty="0"/>
              <a:t>不允许途中分片：发出的数据报长度小于路径</a:t>
            </a:r>
            <a:r>
              <a:rPr lang="en-US" altLang="zh-CN" dirty="0"/>
              <a:t>MTU</a:t>
            </a:r>
            <a:r>
              <a:rPr lang="zh-CN" altLang="en-US" dirty="0"/>
              <a:t>（路径</a:t>
            </a:r>
            <a:r>
              <a:rPr lang="en-US" altLang="zh-CN" dirty="0"/>
              <a:t>MTU</a:t>
            </a:r>
            <a:r>
              <a:rPr lang="zh-CN" altLang="en-US" dirty="0"/>
              <a:t>发现机制）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重组策略</a:t>
            </a:r>
            <a:endParaRPr lang="en-US" altLang="zh-CN" dirty="0"/>
          </a:p>
          <a:p>
            <a:pPr lvl="1"/>
            <a:r>
              <a:rPr lang="zh-CN" altLang="en-US" dirty="0"/>
              <a:t>途中重组，实施难度太大</a:t>
            </a:r>
            <a:endParaRPr lang="en-US" altLang="zh-CN" dirty="0"/>
          </a:p>
          <a:p>
            <a:pPr lvl="1"/>
            <a:r>
              <a:rPr lang="zh-CN" altLang="en-US" dirty="0"/>
              <a:t>目的端重组</a:t>
            </a:r>
            <a:r>
              <a:rPr lang="zh-CN" altLang="en-US" dirty="0">
                <a:solidFill>
                  <a:srgbClr val="C00000"/>
                </a:solidFill>
              </a:rPr>
              <a:t>（互联网采用的策略）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重组所需信息：原始数据报编号、分片偏移量、是否收集所有分片</a:t>
            </a:r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5.2.1 IPv4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414530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数据报分片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289426" y="2239963"/>
            <a:ext cx="4830763" cy="4635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095501" y="5840413"/>
            <a:ext cx="16979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偏移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= 0/8 = 0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411538" y="2239963"/>
            <a:ext cx="5708650" cy="463550"/>
          </a:xfrm>
          <a:prstGeom prst="rect">
            <a:avLst/>
          </a:prstGeom>
          <a:solidFill>
            <a:srgbClr val="CCEC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4465638" y="22399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4641850" y="22399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4818063" y="22399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8943975" y="22399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2535239" y="4192588"/>
            <a:ext cx="1754187" cy="46355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2709863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2886075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3062288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4113213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9144001" y="2133601"/>
            <a:ext cx="1301959" cy="618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偏移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= 0/8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= 0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4818063" y="5840413"/>
            <a:ext cx="232948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偏移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= 1400/8 = 175</a:t>
            </a:r>
          </a:p>
        </p:txBody>
      </p:sp>
      <p:sp>
        <p:nvSpPr>
          <p:cNvPr id="20" name="Text Box 18"/>
          <p:cNvSpPr txBox="1">
            <a:spLocks noChangeArrowheads="1"/>
          </p:cNvSpPr>
          <p:nvPr/>
        </p:nvSpPr>
        <p:spPr bwMode="auto">
          <a:xfrm>
            <a:off x="7888288" y="5840413"/>
            <a:ext cx="24032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偏移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= 2800/8 = 350</a:t>
            </a:r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 flipV="1">
            <a:off x="9017000" y="2703514"/>
            <a:ext cx="0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V="1">
            <a:off x="4373563" y="2703514"/>
            <a:ext cx="0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 flipV="1">
            <a:off x="4202113" y="4656139"/>
            <a:ext cx="0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 flipV="1">
            <a:off x="5694363" y="4656139"/>
            <a:ext cx="0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7275513" y="4656139"/>
            <a:ext cx="0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V="1">
            <a:off x="8840788" y="4656139"/>
            <a:ext cx="0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 flipV="1">
            <a:off x="9998075" y="4656139"/>
            <a:ext cx="0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Text Box 26"/>
          <p:cNvSpPr txBox="1">
            <a:spLocks noChangeArrowheads="1"/>
          </p:cNvSpPr>
          <p:nvPr/>
        </p:nvSpPr>
        <p:spPr bwMode="auto">
          <a:xfrm>
            <a:off x="5307013" y="4932363"/>
            <a:ext cx="7120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1400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8467726" y="4932363"/>
            <a:ext cx="7489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2800</a:t>
            </a: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9610726" y="4910138"/>
            <a:ext cx="7489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3799</a:t>
            </a:r>
          </a:p>
        </p:txBody>
      </p:sp>
      <p:sp>
        <p:nvSpPr>
          <p:cNvPr id="31" name="Text Box 29"/>
          <p:cNvSpPr txBox="1">
            <a:spLocks noChangeArrowheads="1"/>
          </p:cNvSpPr>
          <p:nvPr/>
        </p:nvSpPr>
        <p:spPr bwMode="auto">
          <a:xfrm>
            <a:off x="6884989" y="4910138"/>
            <a:ext cx="7489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2799</a:t>
            </a:r>
          </a:p>
        </p:txBody>
      </p:sp>
      <p:sp>
        <p:nvSpPr>
          <p:cNvPr id="32" name="Text Box 30"/>
          <p:cNvSpPr txBox="1">
            <a:spLocks noChangeArrowheads="1"/>
          </p:cNvSpPr>
          <p:nvPr/>
        </p:nvSpPr>
        <p:spPr bwMode="auto">
          <a:xfrm>
            <a:off x="3814763" y="4910138"/>
            <a:ext cx="7120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1399</a:t>
            </a:r>
          </a:p>
        </p:txBody>
      </p:sp>
      <p:sp>
        <p:nvSpPr>
          <p:cNvPr id="33" name="Text Box 31"/>
          <p:cNvSpPr txBox="1">
            <a:spLocks noChangeArrowheads="1"/>
          </p:cNvSpPr>
          <p:nvPr/>
        </p:nvSpPr>
        <p:spPr bwMode="auto">
          <a:xfrm>
            <a:off x="8643939" y="2957513"/>
            <a:ext cx="748923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3799</a:t>
            </a:r>
          </a:p>
        </p:txBody>
      </p:sp>
      <p:sp>
        <p:nvSpPr>
          <p:cNvPr id="34" name="Text Box 32"/>
          <p:cNvSpPr txBox="1">
            <a:spLocks noChangeArrowheads="1"/>
          </p:cNvSpPr>
          <p:nvPr/>
        </p:nvSpPr>
        <p:spPr bwMode="auto">
          <a:xfrm>
            <a:off x="2133640" y="2060576"/>
            <a:ext cx="110799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需分片的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数据报</a:t>
            </a:r>
          </a:p>
        </p:txBody>
      </p:sp>
      <p:sp>
        <p:nvSpPr>
          <p:cNvPr id="35" name="Rectangle 76"/>
          <p:cNvSpPr>
            <a:spLocks noChangeArrowheads="1"/>
          </p:cNvSpPr>
          <p:nvPr/>
        </p:nvSpPr>
        <p:spPr bwMode="auto">
          <a:xfrm>
            <a:off x="3432176" y="2260600"/>
            <a:ext cx="854075" cy="431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2359025" y="5395913"/>
            <a:ext cx="12811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数据报片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3516314" y="2257425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首部</a:t>
            </a:r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>
            <a:off x="4289425" y="22399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1657350" y="4192588"/>
            <a:ext cx="877888" cy="463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Line 37"/>
          <p:cNvSpPr>
            <a:spLocks noChangeShapeType="1"/>
          </p:cNvSpPr>
          <p:nvPr/>
        </p:nvSpPr>
        <p:spPr bwMode="auto">
          <a:xfrm>
            <a:off x="6046788" y="22399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Line 38"/>
          <p:cNvSpPr>
            <a:spLocks noChangeShapeType="1"/>
          </p:cNvSpPr>
          <p:nvPr/>
        </p:nvSpPr>
        <p:spPr bwMode="auto">
          <a:xfrm>
            <a:off x="7802563" y="22399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2" name="Line 39"/>
          <p:cNvSpPr>
            <a:spLocks noChangeShapeType="1"/>
          </p:cNvSpPr>
          <p:nvPr/>
        </p:nvSpPr>
        <p:spPr bwMode="auto">
          <a:xfrm flipV="1">
            <a:off x="2535239" y="2703514"/>
            <a:ext cx="1754187" cy="1489075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3" name="Line 40"/>
          <p:cNvSpPr>
            <a:spLocks noChangeShapeType="1"/>
          </p:cNvSpPr>
          <p:nvPr/>
        </p:nvSpPr>
        <p:spPr bwMode="auto">
          <a:xfrm flipV="1">
            <a:off x="4289426" y="2703514"/>
            <a:ext cx="1757363" cy="1489075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5608639" y="4192588"/>
            <a:ext cx="1754187" cy="46355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5783263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5957888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Line 44"/>
          <p:cNvSpPr>
            <a:spLocks noChangeShapeType="1"/>
          </p:cNvSpPr>
          <p:nvPr/>
        </p:nvSpPr>
        <p:spPr bwMode="auto">
          <a:xfrm>
            <a:off x="6134100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Line 45"/>
          <p:cNvSpPr>
            <a:spLocks noChangeShapeType="1"/>
          </p:cNvSpPr>
          <p:nvPr/>
        </p:nvSpPr>
        <p:spPr bwMode="auto">
          <a:xfrm>
            <a:off x="7186613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Rectangle 46"/>
          <p:cNvSpPr>
            <a:spLocks noChangeArrowheads="1"/>
          </p:cNvSpPr>
          <p:nvPr/>
        </p:nvSpPr>
        <p:spPr bwMode="auto">
          <a:xfrm>
            <a:off x="4730750" y="4192588"/>
            <a:ext cx="877888" cy="463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" name="Line 47"/>
          <p:cNvSpPr>
            <a:spLocks noChangeShapeType="1"/>
          </p:cNvSpPr>
          <p:nvPr/>
        </p:nvSpPr>
        <p:spPr bwMode="auto">
          <a:xfrm flipV="1">
            <a:off x="5608638" y="2703514"/>
            <a:ext cx="438150" cy="1489075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Line 48"/>
          <p:cNvSpPr>
            <a:spLocks noChangeShapeType="1"/>
          </p:cNvSpPr>
          <p:nvPr/>
        </p:nvSpPr>
        <p:spPr bwMode="auto">
          <a:xfrm flipV="1">
            <a:off x="7362825" y="2703514"/>
            <a:ext cx="439738" cy="1489075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Rectangle 49"/>
          <p:cNvSpPr>
            <a:spLocks noChangeArrowheads="1"/>
          </p:cNvSpPr>
          <p:nvPr/>
        </p:nvSpPr>
        <p:spPr bwMode="auto">
          <a:xfrm>
            <a:off x="8767764" y="4192588"/>
            <a:ext cx="1317625" cy="46355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" name="Line 50"/>
          <p:cNvSpPr>
            <a:spLocks noChangeShapeType="1"/>
          </p:cNvSpPr>
          <p:nvPr/>
        </p:nvSpPr>
        <p:spPr bwMode="auto">
          <a:xfrm>
            <a:off x="8943975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Line 51"/>
          <p:cNvSpPr>
            <a:spLocks noChangeShapeType="1"/>
          </p:cNvSpPr>
          <p:nvPr/>
        </p:nvSpPr>
        <p:spPr bwMode="auto">
          <a:xfrm>
            <a:off x="9120188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Line 52"/>
          <p:cNvSpPr>
            <a:spLocks noChangeShapeType="1"/>
          </p:cNvSpPr>
          <p:nvPr/>
        </p:nvSpPr>
        <p:spPr bwMode="auto">
          <a:xfrm>
            <a:off x="9296400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" name="Line 53"/>
          <p:cNvSpPr>
            <a:spLocks noChangeShapeType="1"/>
          </p:cNvSpPr>
          <p:nvPr/>
        </p:nvSpPr>
        <p:spPr bwMode="auto">
          <a:xfrm>
            <a:off x="9910763" y="4192588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7" name="Rectangle 54"/>
          <p:cNvSpPr>
            <a:spLocks noChangeArrowheads="1"/>
          </p:cNvSpPr>
          <p:nvPr/>
        </p:nvSpPr>
        <p:spPr bwMode="auto">
          <a:xfrm>
            <a:off x="7891463" y="4192588"/>
            <a:ext cx="876300" cy="463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" name="Line 55"/>
          <p:cNvSpPr>
            <a:spLocks noChangeShapeType="1"/>
          </p:cNvSpPr>
          <p:nvPr/>
        </p:nvSpPr>
        <p:spPr bwMode="auto">
          <a:xfrm flipH="1" flipV="1">
            <a:off x="9120188" y="2703514"/>
            <a:ext cx="965200" cy="1489075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9" name="Line 56"/>
          <p:cNvSpPr>
            <a:spLocks noChangeShapeType="1"/>
          </p:cNvSpPr>
          <p:nvPr/>
        </p:nvSpPr>
        <p:spPr bwMode="auto">
          <a:xfrm flipH="1" flipV="1">
            <a:off x="7802563" y="2703514"/>
            <a:ext cx="965200" cy="1489075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 type="triangl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0" name="Line 57"/>
          <p:cNvSpPr>
            <a:spLocks noChangeShapeType="1"/>
          </p:cNvSpPr>
          <p:nvPr/>
        </p:nvSpPr>
        <p:spPr bwMode="auto">
          <a:xfrm>
            <a:off x="4273551" y="2014538"/>
            <a:ext cx="4829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1" name="Text Box 58"/>
          <p:cNvSpPr txBox="1">
            <a:spLocks noChangeArrowheads="1"/>
          </p:cNvSpPr>
          <p:nvPr/>
        </p:nvSpPr>
        <p:spPr bwMode="auto">
          <a:xfrm>
            <a:off x="5170488" y="1808163"/>
            <a:ext cx="2502608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数据部分共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3800 </a:t>
            </a: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字节</a:t>
            </a:r>
          </a:p>
        </p:txBody>
      </p:sp>
      <p:sp>
        <p:nvSpPr>
          <p:cNvPr id="62" name="Text Box 59"/>
          <p:cNvSpPr txBox="1">
            <a:spLocks noChangeArrowheads="1"/>
          </p:cNvSpPr>
          <p:nvPr/>
        </p:nvSpPr>
        <p:spPr bwMode="auto">
          <a:xfrm>
            <a:off x="1657351" y="4192588"/>
            <a:ext cx="8194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首部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63" name="Text Box 60"/>
          <p:cNvSpPr txBox="1">
            <a:spLocks noChangeArrowheads="1"/>
          </p:cNvSpPr>
          <p:nvPr/>
        </p:nvSpPr>
        <p:spPr bwMode="auto">
          <a:xfrm>
            <a:off x="4700589" y="4192588"/>
            <a:ext cx="856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首部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64" name="Text Box 61"/>
          <p:cNvSpPr txBox="1">
            <a:spLocks noChangeArrowheads="1"/>
          </p:cNvSpPr>
          <p:nvPr/>
        </p:nvSpPr>
        <p:spPr bwMode="auto">
          <a:xfrm>
            <a:off x="7861301" y="4192588"/>
            <a:ext cx="856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首部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65" name="Line 62"/>
          <p:cNvSpPr>
            <a:spLocks noChangeShapeType="1"/>
          </p:cNvSpPr>
          <p:nvPr/>
        </p:nvSpPr>
        <p:spPr bwMode="auto">
          <a:xfrm flipV="1">
            <a:off x="2617788" y="4656139"/>
            <a:ext cx="0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6" name="Text Box 63"/>
          <p:cNvSpPr txBox="1">
            <a:spLocks noChangeArrowheads="1"/>
          </p:cNvSpPr>
          <p:nvPr/>
        </p:nvSpPr>
        <p:spPr bwMode="auto">
          <a:xfrm>
            <a:off x="1860551" y="4949825"/>
            <a:ext cx="856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字节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67" name="Text Box 64"/>
          <p:cNvSpPr txBox="1">
            <a:spLocks noChangeArrowheads="1"/>
          </p:cNvSpPr>
          <p:nvPr/>
        </p:nvSpPr>
        <p:spPr bwMode="auto">
          <a:xfrm>
            <a:off x="5372100" y="5391150"/>
            <a:ext cx="13179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数据报片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sp>
        <p:nvSpPr>
          <p:cNvPr id="68" name="Text Box 65"/>
          <p:cNvSpPr txBox="1">
            <a:spLocks noChangeArrowheads="1"/>
          </p:cNvSpPr>
          <p:nvPr/>
        </p:nvSpPr>
        <p:spPr bwMode="auto">
          <a:xfrm>
            <a:off x="8270875" y="5391150"/>
            <a:ext cx="13179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数据报片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3</a:t>
            </a:r>
          </a:p>
        </p:txBody>
      </p:sp>
      <p:sp>
        <p:nvSpPr>
          <p:cNvPr id="69" name="Line 66"/>
          <p:cNvSpPr>
            <a:spLocks noChangeShapeType="1"/>
          </p:cNvSpPr>
          <p:nvPr/>
        </p:nvSpPr>
        <p:spPr bwMode="auto">
          <a:xfrm flipV="1">
            <a:off x="6118225" y="2703514"/>
            <a:ext cx="0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0" name="Text Box 67"/>
          <p:cNvSpPr txBox="1">
            <a:spLocks noChangeArrowheads="1"/>
          </p:cNvSpPr>
          <p:nvPr/>
        </p:nvSpPr>
        <p:spPr bwMode="auto">
          <a:xfrm>
            <a:off x="5730875" y="2976563"/>
            <a:ext cx="712054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1400</a:t>
            </a:r>
          </a:p>
        </p:txBody>
      </p:sp>
      <p:sp>
        <p:nvSpPr>
          <p:cNvPr id="71" name="Line 68"/>
          <p:cNvSpPr>
            <a:spLocks noChangeShapeType="1"/>
          </p:cNvSpPr>
          <p:nvPr/>
        </p:nvSpPr>
        <p:spPr bwMode="auto">
          <a:xfrm flipV="1">
            <a:off x="7875588" y="2703514"/>
            <a:ext cx="0" cy="369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2" name="Text Box 69"/>
          <p:cNvSpPr txBox="1">
            <a:spLocks noChangeArrowheads="1"/>
          </p:cNvSpPr>
          <p:nvPr/>
        </p:nvSpPr>
        <p:spPr bwMode="auto">
          <a:xfrm>
            <a:off x="7502526" y="2976563"/>
            <a:ext cx="748923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2800</a:t>
            </a:r>
          </a:p>
        </p:txBody>
      </p:sp>
      <p:sp>
        <p:nvSpPr>
          <p:cNvPr id="73" name="Line 70"/>
          <p:cNvSpPr>
            <a:spLocks noChangeShapeType="1"/>
          </p:cNvSpPr>
          <p:nvPr/>
        </p:nvSpPr>
        <p:spPr bwMode="auto">
          <a:xfrm>
            <a:off x="7977188" y="22399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4" name="Line 71"/>
          <p:cNvSpPr>
            <a:spLocks noChangeShapeType="1"/>
          </p:cNvSpPr>
          <p:nvPr/>
        </p:nvSpPr>
        <p:spPr bwMode="auto">
          <a:xfrm>
            <a:off x="6223000" y="2239963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5" name="Text Box 72"/>
          <p:cNvSpPr txBox="1">
            <a:spLocks noChangeArrowheads="1"/>
          </p:cNvSpPr>
          <p:nvPr/>
        </p:nvSpPr>
        <p:spPr bwMode="auto">
          <a:xfrm>
            <a:off x="3617914" y="2997200"/>
            <a:ext cx="856325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字节 </a:t>
            </a:r>
            <a:r>
              <a:rPr kumimoji="1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0</a:t>
            </a:r>
          </a:p>
        </p:txBody>
      </p:sp>
      <p:sp>
        <p:nvSpPr>
          <p:cNvPr id="76" name="TextBox 74"/>
          <p:cNvSpPr txBox="1"/>
          <p:nvPr/>
        </p:nvSpPr>
        <p:spPr>
          <a:xfrm>
            <a:off x="3200400" y="1676400"/>
            <a:ext cx="1220206" cy="369332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DF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标志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=0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楷体_GB2312"/>
              <a:cs typeface="楷体_GB2312"/>
            </a:endParaRPr>
          </a:p>
        </p:txBody>
      </p:sp>
      <p:sp>
        <p:nvSpPr>
          <p:cNvPr id="77" name="TextBox 75"/>
          <p:cNvSpPr txBox="1"/>
          <p:nvPr/>
        </p:nvSpPr>
        <p:spPr>
          <a:xfrm>
            <a:off x="1752600" y="3733800"/>
            <a:ext cx="1245854" cy="36933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MF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标志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=1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楷体_GB2312"/>
              <a:cs typeface="楷体_GB2312"/>
            </a:endParaRPr>
          </a:p>
        </p:txBody>
      </p:sp>
      <p:sp>
        <p:nvSpPr>
          <p:cNvPr id="78" name="TextBox 76"/>
          <p:cNvSpPr txBox="1"/>
          <p:nvPr/>
        </p:nvSpPr>
        <p:spPr>
          <a:xfrm>
            <a:off x="4648200" y="3733800"/>
            <a:ext cx="1245854" cy="36933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MF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标志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=1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楷体_GB2312"/>
              <a:cs typeface="楷体_GB2312"/>
            </a:endParaRPr>
          </a:p>
        </p:txBody>
      </p:sp>
      <p:sp>
        <p:nvSpPr>
          <p:cNvPr id="79" name="TextBox 77"/>
          <p:cNvSpPr txBox="1"/>
          <p:nvPr/>
        </p:nvSpPr>
        <p:spPr>
          <a:xfrm>
            <a:off x="7696200" y="3733800"/>
            <a:ext cx="1245854" cy="369332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MF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标志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=0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楷体_GB2312"/>
              <a:cs typeface="楷体_GB2312"/>
            </a:endParaRPr>
          </a:p>
        </p:txBody>
      </p:sp>
      <p:sp>
        <p:nvSpPr>
          <p:cNvPr id="80" name="TextBox 78"/>
          <p:cNvSpPr txBox="1"/>
          <p:nvPr/>
        </p:nvSpPr>
        <p:spPr>
          <a:xfrm>
            <a:off x="3411538" y="6279079"/>
            <a:ext cx="5798382" cy="369332"/>
          </a:xfrm>
          <a:prstGeom prst="rect">
            <a:avLst/>
          </a:prstGeom>
          <a:solidFill>
            <a:srgbClr val="0000FF"/>
          </a:solidFill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原始报文和分片报文具有相同的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IP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标识（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IP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楷体_GB2312"/>
                <a:cs typeface="楷体_GB2312"/>
              </a:rPr>
              <a:t>头部字段）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5.2.1 IPv4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169625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7" grpId="0" animBg="1"/>
      <p:bldP spid="78" grpId="0" animBg="1"/>
      <p:bldP spid="79" grpId="0" animBg="1"/>
      <p:bldP spid="8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数据报分片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665" y="3717673"/>
            <a:ext cx="9941442" cy="2954192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IPv4</a:t>
            </a:r>
            <a:r>
              <a:rPr lang="zh-CN" altLang="en-US" sz="2400" dirty="0"/>
              <a:t>分组在传输途中可以多次分片</a:t>
            </a:r>
            <a:endParaRPr lang="en-US" altLang="zh-CN" sz="2400" dirty="0"/>
          </a:p>
          <a:p>
            <a:pPr lvl="1"/>
            <a:r>
              <a:rPr lang="zh-CN" altLang="en-US" sz="2000" dirty="0"/>
              <a:t>源端系统，中间路由器（可通过标志位设定是否允许路由器分片）</a:t>
            </a:r>
          </a:p>
          <a:p>
            <a:r>
              <a:rPr lang="en-US" altLang="zh-CN" sz="2400" dirty="0"/>
              <a:t>IPv4</a:t>
            </a:r>
            <a:r>
              <a:rPr lang="zh-CN" altLang="en-US" sz="2400" dirty="0"/>
              <a:t>分片只在目的</a:t>
            </a:r>
            <a:r>
              <a:rPr lang="en-US" altLang="zh-CN" sz="2400" dirty="0"/>
              <a:t>IP</a:t>
            </a:r>
            <a:r>
              <a:rPr lang="zh-CN" altLang="en-US" sz="2400" dirty="0"/>
              <a:t>对应的目的端系统进行重组</a:t>
            </a:r>
            <a:endParaRPr lang="en-US" altLang="zh-CN" sz="2400" dirty="0"/>
          </a:p>
          <a:p>
            <a:r>
              <a:rPr lang="en-US" altLang="zh-CN" sz="2400" dirty="0"/>
              <a:t>IPv4</a:t>
            </a:r>
            <a:r>
              <a:rPr lang="zh-CN" altLang="en-US" sz="2400" dirty="0"/>
              <a:t>分片、重组字段在基本</a:t>
            </a:r>
            <a:r>
              <a:rPr lang="en-US" altLang="zh-CN" sz="2400" dirty="0"/>
              <a:t>IP</a:t>
            </a:r>
            <a:r>
              <a:rPr lang="zh-CN" altLang="en-US" sz="2400" dirty="0"/>
              <a:t>头部</a:t>
            </a:r>
            <a:endParaRPr lang="en-US" altLang="zh-CN" sz="2400" dirty="0"/>
          </a:p>
          <a:p>
            <a:pPr lvl="1"/>
            <a:r>
              <a:rPr lang="zh-CN" altLang="en-US" sz="2000" dirty="0"/>
              <a:t>标识、标志、片偏移</a:t>
            </a:r>
            <a:endParaRPr lang="en-US" altLang="zh-CN" sz="2000" dirty="0"/>
          </a:p>
          <a:p>
            <a:r>
              <a:rPr lang="en-US" altLang="zh-CN" sz="2400" i="1" dirty="0"/>
              <a:t>IPv6</a:t>
            </a:r>
            <a:r>
              <a:rPr lang="zh-CN" altLang="en-US" sz="2400" i="1" dirty="0"/>
              <a:t>分片机制有较大变化（见</a:t>
            </a:r>
            <a:r>
              <a:rPr lang="en-US" altLang="zh-CN" sz="2400" i="1" dirty="0"/>
              <a:t>IPv6</a:t>
            </a:r>
            <a:r>
              <a:rPr lang="zh-CN" altLang="en-US" sz="2400" i="1" dirty="0"/>
              <a:t>部分的介绍）</a:t>
            </a:r>
            <a:endParaRPr lang="en-US" altLang="zh-CN" sz="2400" i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52B801-B608-C343-9A93-C7F2EAAC6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1427163" y="2203484"/>
          <a:ext cx="8756651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851417" imgH="641350" progId="">
                  <p:embed/>
                </p:oleObj>
              </mc:Choice>
              <mc:Fallback>
                <p:oleObj name="Visio" r:id="rId2" imgW="4851417" imgH="641350" progId="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63" y="2203484"/>
                        <a:ext cx="8756651" cy="1177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2424114" y="1803433"/>
          <a:ext cx="8207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72575" imgH="229573" progId="Visio.Drawing.11">
                  <p:link updateAutomatic="1"/>
                </p:oleObj>
              </mc:Choice>
              <mc:Fallback>
                <p:oleObj name="Visio" r:id="rId4" imgW="472575" imgH="229573" progId="Visio.Drawing.11">
                  <p:link updateAutomatic="1"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1803433"/>
                        <a:ext cx="82073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7A5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4002089" y="1789147"/>
          <a:ext cx="8985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99548" imgH="229573" progId="Visio.Drawing.11">
                  <p:link updateAutomatic="1"/>
                </p:oleObj>
              </mc:Choice>
              <mc:Fallback>
                <p:oleObj name="Visio" r:id="rId4" imgW="499548" imgH="229573" progId="Visio.Drawing.11">
                  <p:link updateAutomatic="1"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089" y="1789147"/>
                        <a:ext cx="89852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7A5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5595939" y="1789147"/>
          <a:ext cx="89852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99548" imgH="229573" progId="Visio.Drawing.11">
                  <p:link updateAutomatic="1"/>
                </p:oleObj>
              </mc:Choice>
              <mc:Fallback>
                <p:oleObj name="Visio" r:id="rId4" imgW="499548" imgH="229573" progId="Visio.Drawing.11">
                  <p:link updateAutomatic="1"/>
                  <p:pic>
                    <p:nvPicPr>
                      <p:cNvPr id="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9" y="1789147"/>
                        <a:ext cx="898525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7A5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3946525" y="2800384"/>
          <a:ext cx="8890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99548" imgH="229573" progId="Visio.Drawing.11">
                  <p:link updateAutomatic="1"/>
                </p:oleObj>
              </mc:Choice>
              <mc:Fallback>
                <p:oleObj name="Visio" r:id="rId4" imgW="499548" imgH="229573" progId="Visio.Drawing.11">
                  <p:link updateAutomatic="1"/>
                  <p:pic>
                    <p:nvPicPr>
                      <p:cNvPr id="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2800384"/>
                        <a:ext cx="8890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7A5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5583238" y="2814672"/>
          <a:ext cx="88741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99548" imgH="229573" progId="Visio.Drawing.11">
                  <p:link updateAutomatic="1"/>
                </p:oleObj>
              </mc:Choice>
              <mc:Fallback>
                <p:oleObj name="Visio" r:id="rId4" imgW="499548" imgH="229573" progId="Visio.Drawing.11">
                  <p:link updateAutomatic="1"/>
                  <p:pic>
                    <p:nvPicPr>
                      <p:cNvPr id="1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38" y="2814672"/>
                        <a:ext cx="88741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7A5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038" y="1805021"/>
            <a:ext cx="185896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7688263" y="2801972"/>
          <a:ext cx="88741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99548" imgH="229573" progId="Visio.Drawing.11">
                  <p:link updateAutomatic="1"/>
                </p:oleObj>
              </mc:Choice>
              <mc:Fallback>
                <p:oleObj name="Visio" r:id="rId4" imgW="499548" imgH="229573" progId="Visio.Drawing.11">
                  <p:link updateAutomatic="1"/>
                  <p:pic>
                    <p:nvPicPr>
                      <p:cNvPr id="1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8263" y="2801972"/>
                        <a:ext cx="887412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7A5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9555163" y="1747872"/>
          <a:ext cx="9064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472575" imgH="229573" progId="Visio.Drawing.11">
                  <p:link updateAutomatic="1"/>
                </p:oleObj>
              </mc:Choice>
              <mc:Fallback>
                <p:oleObj name="Visio" r:id="rId4" imgW="472575" imgH="229573" progId="Visio.Drawing.11">
                  <p:link updateAutomatic="1"/>
                  <p:pic>
                    <p:nvPicPr>
                      <p:cNvPr id="1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5163" y="1747872"/>
                        <a:ext cx="9064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rgbClr val="007A5C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5.2.1 IPv4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</a:t>
            </a:r>
          </a:p>
        </p:txBody>
      </p:sp>
    </p:spTree>
    <p:extLst>
      <p:ext uri="{BB962C8B-B14F-4D97-AF65-F5344CB8AC3E}">
        <p14:creationId xmlns:p14="http://schemas.microsoft.com/office/powerpoint/2010/main" val="282341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IP</a:t>
            </a:r>
            <a:r>
              <a:rPr kumimoji="1" lang="zh-CN" altLang="en-US" dirty="0"/>
              <a:t>协议功能及报头字段总结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609" y="1430455"/>
            <a:ext cx="10966750" cy="5163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网络层基本功能</a:t>
            </a:r>
            <a:endParaRPr lang="en-US" altLang="zh-CN" b="1" dirty="0"/>
          </a:p>
          <a:p>
            <a:r>
              <a:rPr lang="zh-CN" altLang="en-US" dirty="0"/>
              <a:t>支持多跳寻路将</a:t>
            </a:r>
            <a:r>
              <a:rPr lang="en-US" altLang="zh-CN" dirty="0"/>
              <a:t>IP</a:t>
            </a:r>
            <a:r>
              <a:rPr lang="zh-CN" altLang="en-US" dirty="0"/>
              <a:t>数据报送达目的端：</a:t>
            </a:r>
            <a:r>
              <a:rPr lang="zh-CN" altLang="en-US" i="1" dirty="0">
                <a:solidFill>
                  <a:srgbClr val="C00000"/>
                </a:solidFill>
              </a:rPr>
              <a:t>目的</a:t>
            </a:r>
            <a:r>
              <a:rPr lang="en-US" altLang="zh-CN" i="1" dirty="0">
                <a:solidFill>
                  <a:srgbClr val="C00000"/>
                </a:solidFill>
              </a:rPr>
              <a:t>IP</a:t>
            </a:r>
            <a:r>
              <a:rPr lang="zh-CN" altLang="en-US" i="1" dirty="0">
                <a:solidFill>
                  <a:srgbClr val="C00000"/>
                </a:solidFill>
              </a:rPr>
              <a:t>地址</a:t>
            </a:r>
            <a:endParaRPr lang="en-US" altLang="zh-CN" i="1" dirty="0">
              <a:solidFill>
                <a:srgbClr val="C00000"/>
              </a:solidFill>
            </a:endParaRPr>
          </a:p>
          <a:p>
            <a:r>
              <a:rPr lang="zh-CN" altLang="en-US" dirty="0"/>
              <a:t>表明发送端身份：</a:t>
            </a:r>
            <a:r>
              <a:rPr lang="zh-CN" altLang="en-US" i="1" dirty="0">
                <a:solidFill>
                  <a:srgbClr val="C00000"/>
                </a:solidFill>
              </a:rPr>
              <a:t>源</a:t>
            </a:r>
            <a:r>
              <a:rPr lang="en-US" altLang="zh-CN" i="1" dirty="0">
                <a:solidFill>
                  <a:srgbClr val="C00000"/>
                </a:solidFill>
              </a:rPr>
              <a:t>IP</a:t>
            </a:r>
            <a:r>
              <a:rPr lang="zh-CN" altLang="en-US" i="1" dirty="0">
                <a:solidFill>
                  <a:srgbClr val="C00000"/>
                </a:solidFill>
              </a:rPr>
              <a:t>地址</a:t>
            </a:r>
            <a:endParaRPr lang="en-US" altLang="zh-CN" i="1" dirty="0">
              <a:solidFill>
                <a:srgbClr val="C00000"/>
              </a:solidFill>
            </a:endParaRPr>
          </a:p>
          <a:p>
            <a:r>
              <a:rPr lang="zh-CN" altLang="en-US" dirty="0"/>
              <a:t>根据</a:t>
            </a:r>
            <a:r>
              <a:rPr lang="en-US" altLang="zh-CN" dirty="0"/>
              <a:t>IP</a:t>
            </a:r>
            <a:r>
              <a:rPr lang="zh-CN" altLang="en-US" dirty="0"/>
              <a:t>头部协议类型，提交给不同上层协议处理：</a:t>
            </a:r>
            <a:r>
              <a:rPr lang="zh-CN" altLang="en-US" i="1" dirty="0">
                <a:solidFill>
                  <a:srgbClr val="C00000"/>
                </a:solidFill>
              </a:rPr>
              <a:t>协议</a:t>
            </a:r>
            <a:endParaRPr lang="en-US" altLang="zh-CN" i="1" dirty="0">
              <a:solidFill>
                <a:srgbClr val="C00000"/>
              </a:solidFill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zh-CN" altLang="en-US" b="1" dirty="0"/>
              <a:t>其它相关问题</a:t>
            </a:r>
            <a:endParaRPr lang="en-US" altLang="zh-CN" b="1" dirty="0"/>
          </a:p>
          <a:p>
            <a:r>
              <a:rPr lang="zh-CN" altLang="en-US" dirty="0"/>
              <a:t>数据报长度大于传输链路的</a:t>
            </a:r>
            <a:r>
              <a:rPr lang="en-US" altLang="zh-CN" dirty="0"/>
              <a:t>MTU</a:t>
            </a:r>
            <a:r>
              <a:rPr lang="zh-CN" altLang="en-US" dirty="0"/>
              <a:t>的问题，通过分片机制解决：</a:t>
            </a:r>
            <a:r>
              <a:rPr lang="zh-CN" altLang="en-US" i="1" dirty="0">
                <a:solidFill>
                  <a:srgbClr val="C00000"/>
                </a:solidFill>
              </a:rPr>
              <a:t>标识、标志、片偏移</a:t>
            </a:r>
            <a:endParaRPr lang="en-US" altLang="zh-CN" i="1" dirty="0">
              <a:solidFill>
                <a:srgbClr val="C00000"/>
              </a:solidFill>
            </a:endParaRPr>
          </a:p>
          <a:p>
            <a:r>
              <a:rPr lang="zh-CN" altLang="en-US" dirty="0"/>
              <a:t>防止循环转发浪费网络资源（路由错误、设备故障</a:t>
            </a:r>
            <a:r>
              <a:rPr lang="en-US" altLang="zh-CN" dirty="0"/>
              <a:t>…</a:t>
            </a:r>
            <a:r>
              <a:rPr lang="zh-CN" altLang="en-US" dirty="0"/>
              <a:t>），通过跳数限制解决：</a:t>
            </a:r>
            <a:r>
              <a:rPr lang="zh-CN" altLang="en-US" i="1" dirty="0">
                <a:solidFill>
                  <a:srgbClr val="C00000"/>
                </a:solidFill>
              </a:rPr>
              <a:t>生存时间</a:t>
            </a:r>
            <a:r>
              <a:rPr lang="en-US" altLang="zh-CN" i="1" dirty="0">
                <a:solidFill>
                  <a:srgbClr val="C00000"/>
                </a:solidFill>
              </a:rPr>
              <a:t>TTL</a:t>
            </a:r>
          </a:p>
          <a:p>
            <a:r>
              <a:rPr lang="en-US" altLang="zh-CN" dirty="0"/>
              <a:t>IP</a:t>
            </a:r>
            <a:r>
              <a:rPr lang="zh-CN" altLang="en-US" dirty="0"/>
              <a:t>报头错误导致无效传输，通过头部机校验解决：</a:t>
            </a:r>
            <a:r>
              <a:rPr lang="zh-CN" altLang="en-US" i="1" dirty="0">
                <a:solidFill>
                  <a:srgbClr val="C00000"/>
                </a:solidFill>
              </a:rPr>
              <a:t>首部校验和</a:t>
            </a:r>
            <a:endParaRPr lang="en-US" altLang="zh-CN" i="1" dirty="0">
              <a:solidFill>
                <a:srgbClr val="C00000"/>
              </a:solidFill>
            </a:endParaRP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5.2.1 IPv4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协议</a:t>
            </a:r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764333B1-4408-A54F-8435-0FEAABA1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9BF64F-B44A-4670-AF2C-07375CE66113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128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IP</a:t>
            </a:r>
            <a:r>
              <a:rPr kumimoji="1" lang="zh-CN" altLang="en-US" dirty="0">
                <a:solidFill>
                  <a:srgbClr val="C00000"/>
                </a:solidFill>
              </a:rPr>
              <a:t>地址</a:t>
            </a:r>
            <a:r>
              <a:rPr kumimoji="1" lang="zh-CN" altLang="en-US" dirty="0"/>
              <a:t>，网络上的每一台主机（或路由器）的每一个接口都会分配一个全球唯一的</a:t>
            </a:r>
            <a:r>
              <a:rPr kumimoji="1" lang="en-US" altLang="zh-CN" dirty="0"/>
              <a:t>32</a:t>
            </a:r>
            <a:r>
              <a:rPr kumimoji="1" lang="zh-CN" altLang="en-US" dirty="0"/>
              <a:t>位的标识符</a:t>
            </a:r>
            <a:endParaRPr kumimoji="1" lang="en-US" altLang="zh-CN" dirty="0"/>
          </a:p>
          <a:p>
            <a:pPr lvl="0"/>
            <a:r>
              <a:rPr lang="zh-CN" altLang="en-US" dirty="0"/>
              <a:t>将</a:t>
            </a:r>
            <a:r>
              <a:rPr lang="en-US" altLang="zh-CN" dirty="0"/>
              <a:t>IP</a:t>
            </a:r>
            <a:r>
              <a:rPr lang="zh-CN" altLang="en-US" dirty="0"/>
              <a:t>地址划分为固定的类，每一类都由两个字段组成</a:t>
            </a:r>
            <a:endParaRPr lang="en-US" altLang="zh-CN" dirty="0"/>
          </a:p>
          <a:p>
            <a:r>
              <a:rPr lang="zh-CN" altLang="en-US" dirty="0"/>
              <a:t>网络号相同的这块连续</a:t>
            </a:r>
            <a:r>
              <a:rPr lang="en-US" altLang="zh-CN" dirty="0"/>
              <a:t>IP</a:t>
            </a:r>
            <a:r>
              <a:rPr lang="zh-CN" altLang="en-US" dirty="0"/>
              <a:t>地址空间称为地址的</a:t>
            </a:r>
            <a:r>
              <a:rPr lang="zh-CN" altLang="en-US" dirty="0">
                <a:solidFill>
                  <a:srgbClr val="C00000"/>
                </a:solidFill>
              </a:rPr>
              <a:t>前缀，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网络前缀</a:t>
            </a:r>
            <a:endParaRPr lang="en-US" altLang="zh-CN" dirty="0">
              <a:solidFill>
                <a:srgbClr val="C00000"/>
              </a:solidFill>
            </a:endParaRPr>
          </a:p>
          <a:p>
            <a:pPr lvl="0"/>
            <a:endParaRPr lang="en-US" altLang="zh-CN" dirty="0"/>
          </a:p>
          <a:p>
            <a:endParaRPr lang="zh-CN" altLang="en-US" dirty="0"/>
          </a:p>
        </p:txBody>
      </p:sp>
      <p:pic>
        <p:nvPicPr>
          <p:cNvPr id="6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1415" y="3883092"/>
            <a:ext cx="1750973" cy="1020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63" name="组合 62"/>
          <p:cNvGrpSpPr/>
          <p:nvPr/>
        </p:nvGrpSpPr>
        <p:grpSpPr>
          <a:xfrm>
            <a:off x="1798045" y="3586890"/>
            <a:ext cx="3163370" cy="1208654"/>
            <a:chOff x="1457267" y="1600803"/>
            <a:chExt cx="3163370" cy="1208654"/>
          </a:xfrm>
        </p:grpSpPr>
        <p:pic>
          <p:nvPicPr>
            <p:cNvPr id="64" name="Picture 8" descr="C:\Users\Administrator\AppData\Local\Microsoft\Windows\INetCache\IE\090YFLBZ\293995[1]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20935708">
              <a:off x="1457267" y="1600803"/>
              <a:ext cx="604327" cy="1208654"/>
            </a:xfrm>
            <a:prstGeom prst="rect">
              <a:avLst/>
            </a:prstGeom>
            <a:noFill/>
          </p:spPr>
        </p:pic>
        <p:cxnSp>
          <p:nvCxnSpPr>
            <p:cNvPr id="65" name="曲线连接符 64"/>
            <p:cNvCxnSpPr/>
            <p:nvPr/>
          </p:nvCxnSpPr>
          <p:spPr>
            <a:xfrm flipV="1">
              <a:off x="1911835" y="2407289"/>
              <a:ext cx="2708802" cy="369510"/>
            </a:xfrm>
            <a:prstGeom prst="curvedConnector3">
              <a:avLst>
                <a:gd name="adj1" fmla="val 68486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/>
          <p:cNvGrpSpPr/>
          <p:nvPr/>
        </p:nvGrpSpPr>
        <p:grpSpPr>
          <a:xfrm>
            <a:off x="6668845" y="3586890"/>
            <a:ext cx="2859475" cy="1316769"/>
            <a:chOff x="6328067" y="1600803"/>
            <a:chExt cx="2859475" cy="1316769"/>
          </a:xfrm>
        </p:grpSpPr>
        <p:pic>
          <p:nvPicPr>
            <p:cNvPr id="67" name="Picture 8" descr="C:\Users\Administrator\AppData\Local\Microsoft\Windows\INetCache\IE\090YFLBZ\293995[1]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 rot="958872" flipH="1">
              <a:off x="8488368" y="1600803"/>
              <a:ext cx="699174" cy="1316769"/>
            </a:xfrm>
            <a:prstGeom prst="rect">
              <a:avLst/>
            </a:prstGeom>
            <a:noFill/>
          </p:spPr>
        </p:pic>
        <p:cxnSp>
          <p:nvCxnSpPr>
            <p:cNvPr id="68" name="曲线连接符 67"/>
            <p:cNvCxnSpPr/>
            <p:nvPr/>
          </p:nvCxnSpPr>
          <p:spPr>
            <a:xfrm rot="10800000">
              <a:off x="6328067" y="2407289"/>
              <a:ext cx="2285077" cy="452180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矩形 68"/>
          <p:cNvSpPr/>
          <p:nvPr/>
        </p:nvSpPr>
        <p:spPr>
          <a:xfrm>
            <a:off x="2855378" y="3636847"/>
            <a:ext cx="1838610" cy="492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电话号码</a:t>
            </a:r>
          </a:p>
        </p:txBody>
      </p:sp>
      <p:grpSp>
        <p:nvGrpSpPr>
          <p:cNvPr id="70" name="组合 69"/>
          <p:cNvGrpSpPr/>
          <p:nvPr/>
        </p:nvGrpSpPr>
        <p:grpSpPr>
          <a:xfrm>
            <a:off x="1202389" y="3469890"/>
            <a:ext cx="8756453" cy="2190668"/>
            <a:chOff x="1202389" y="3970646"/>
            <a:chExt cx="8756453" cy="2190668"/>
          </a:xfrm>
        </p:grpSpPr>
        <p:pic>
          <p:nvPicPr>
            <p:cNvPr id="71" name="Picture 1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8451240" y="4727615"/>
              <a:ext cx="1507602" cy="10309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2" name="云形 71"/>
            <p:cNvSpPr/>
            <p:nvPr/>
          </p:nvSpPr>
          <p:spPr>
            <a:xfrm>
              <a:off x="3842073" y="3970646"/>
              <a:ext cx="3625527" cy="2190668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73" name="Picture 6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3209" y="4921364"/>
              <a:ext cx="534856" cy="347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4" name="Picture 6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9887" y="5410880"/>
              <a:ext cx="534856" cy="347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5" name="Picture 6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9887" y="4379953"/>
              <a:ext cx="534856" cy="347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6" name="Picture 6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4523" y="4747874"/>
              <a:ext cx="534856" cy="3476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7" name="Picture 10" descr="C:\Users\Administrator\AppData\Local\Microsoft\Windows\INetCache\IE\090YFLBZ\ABUIABACGAAg29yGxwUotO79rgEw9AM42wI[1].jpg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1202389" y="4589687"/>
              <a:ext cx="1738146" cy="1206273"/>
            </a:xfrm>
            <a:prstGeom prst="rect">
              <a:avLst/>
            </a:prstGeom>
            <a:noFill/>
          </p:spPr>
        </p:pic>
        <p:cxnSp>
          <p:nvCxnSpPr>
            <p:cNvPr id="78" name="曲线连接符 77"/>
            <p:cNvCxnSpPr>
              <a:stCxn id="73" idx="1"/>
            </p:cNvCxnSpPr>
            <p:nvPr/>
          </p:nvCxnSpPr>
          <p:spPr>
            <a:xfrm rot="10800000" flipV="1">
              <a:off x="2677887" y="5095194"/>
              <a:ext cx="1675323" cy="315685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曲线连接符 78"/>
            <p:cNvCxnSpPr/>
            <p:nvPr/>
          </p:nvCxnSpPr>
          <p:spPr>
            <a:xfrm>
              <a:off x="6770914" y="4899933"/>
              <a:ext cx="1907546" cy="510947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云形 79"/>
            <p:cNvSpPr/>
            <p:nvPr/>
          </p:nvSpPr>
          <p:spPr>
            <a:xfrm>
              <a:off x="6042141" y="4359694"/>
              <a:ext cx="484763" cy="36792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云形 80"/>
            <p:cNvSpPr/>
            <p:nvPr/>
          </p:nvSpPr>
          <p:spPr>
            <a:xfrm>
              <a:off x="4620637" y="5269026"/>
              <a:ext cx="484763" cy="36792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2" name="云形 81"/>
            <p:cNvSpPr/>
            <p:nvPr/>
          </p:nvSpPr>
          <p:spPr>
            <a:xfrm>
              <a:off x="5377545" y="4899933"/>
              <a:ext cx="484763" cy="36792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3" name="云形 82"/>
            <p:cNvSpPr/>
            <p:nvPr/>
          </p:nvSpPr>
          <p:spPr>
            <a:xfrm>
              <a:off x="4650400" y="4405726"/>
              <a:ext cx="484763" cy="36792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4" name="云形 83"/>
            <p:cNvSpPr/>
            <p:nvPr/>
          </p:nvSpPr>
          <p:spPr>
            <a:xfrm>
              <a:off x="6085685" y="5226919"/>
              <a:ext cx="484763" cy="367921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5" name="矩形 84"/>
          <p:cNvSpPr/>
          <p:nvPr/>
        </p:nvSpPr>
        <p:spPr>
          <a:xfrm>
            <a:off x="7077102" y="3596441"/>
            <a:ext cx="1838610" cy="492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地址</a:t>
            </a:r>
          </a:p>
        </p:txBody>
      </p:sp>
      <p:grpSp>
        <p:nvGrpSpPr>
          <p:cNvPr id="86" name="组合 6"/>
          <p:cNvGrpSpPr/>
          <p:nvPr/>
        </p:nvGrpSpPr>
        <p:grpSpPr>
          <a:xfrm>
            <a:off x="3399695" y="4477908"/>
            <a:ext cx="4781550" cy="616176"/>
            <a:chOff x="1839416" y="3856622"/>
            <a:chExt cx="4562105" cy="1666302"/>
          </a:xfrm>
        </p:grpSpPr>
        <p:grpSp>
          <p:nvGrpSpPr>
            <p:cNvPr id="87" name="Group 21"/>
            <p:cNvGrpSpPr>
              <a:grpSpLocks/>
            </p:cNvGrpSpPr>
            <p:nvPr/>
          </p:nvGrpSpPr>
          <p:grpSpPr bwMode="auto">
            <a:xfrm>
              <a:off x="1839416" y="4780192"/>
              <a:ext cx="4533900" cy="742732"/>
              <a:chOff x="737" y="4722472"/>
              <a:chExt cx="2856" cy="742732"/>
            </a:xfrm>
          </p:grpSpPr>
          <p:sp>
            <p:nvSpPr>
              <p:cNvPr id="92" name="Line 9"/>
              <p:cNvSpPr>
                <a:spLocks noChangeShapeType="1"/>
              </p:cNvSpPr>
              <p:nvPr/>
            </p:nvSpPr>
            <p:spPr bwMode="auto">
              <a:xfrm>
                <a:off x="737" y="5419215"/>
                <a:ext cx="285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endParaRPr>
              </a:p>
            </p:txBody>
          </p:sp>
          <p:sp>
            <p:nvSpPr>
              <p:cNvPr id="93" name="Text Box 10"/>
              <p:cNvSpPr txBox="1">
                <a:spLocks noChangeArrowheads="1"/>
              </p:cNvSpPr>
              <p:nvPr/>
            </p:nvSpPr>
            <p:spPr bwMode="auto">
              <a:xfrm>
                <a:off x="1989" y="4722472"/>
                <a:ext cx="554" cy="7427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等线" panose="020F0502020204030204"/>
                    <a:ea typeface="黑体" pitchFamily="2" charset="-122"/>
                    <a:cs typeface="+mn-cs"/>
                  </a:rPr>
                  <a:t> 32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等线" panose="020F0502020204030204"/>
                    <a:ea typeface="黑体" pitchFamily="2" charset="-122"/>
                    <a:cs typeface="+mn-cs"/>
                  </a:rPr>
                  <a:t>位</a:t>
                </a:r>
              </a:p>
            </p:txBody>
          </p:sp>
        </p:grpSp>
        <p:grpSp>
          <p:nvGrpSpPr>
            <p:cNvPr id="88" name="Group 18"/>
            <p:cNvGrpSpPr>
              <a:grpSpLocks/>
            </p:cNvGrpSpPr>
            <p:nvPr/>
          </p:nvGrpSpPr>
          <p:grpSpPr bwMode="auto">
            <a:xfrm>
              <a:off x="1839416" y="3856622"/>
              <a:ext cx="4562105" cy="1069978"/>
              <a:chOff x="737" y="2336"/>
              <a:chExt cx="3240" cy="674"/>
            </a:xfrm>
          </p:grpSpPr>
          <p:sp>
            <p:nvSpPr>
              <p:cNvPr id="89" name="Rectangle 6"/>
              <p:cNvSpPr>
                <a:spLocks noChangeArrowheads="1"/>
              </p:cNvSpPr>
              <p:nvPr/>
            </p:nvSpPr>
            <p:spPr bwMode="auto">
              <a:xfrm>
                <a:off x="737" y="2411"/>
                <a:ext cx="1650" cy="599"/>
              </a:xfrm>
              <a:prstGeom prst="rect">
                <a:avLst/>
              </a:prstGeom>
              <a:solidFill>
                <a:srgbClr val="FFFF66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1C1C1C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等线" panose="020F0502020204030204"/>
                    <a:ea typeface="黑体" pitchFamily="2" charset="-122"/>
                    <a:cs typeface="+mn-cs"/>
                  </a:rPr>
                  <a:t>网络号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endParaRPr>
              </a:p>
            </p:txBody>
          </p:sp>
          <p:sp>
            <p:nvSpPr>
              <p:cNvPr id="90" name="Rectangle 7"/>
              <p:cNvSpPr>
                <a:spLocks noChangeArrowheads="1"/>
              </p:cNvSpPr>
              <p:nvPr/>
            </p:nvSpPr>
            <p:spPr bwMode="auto">
              <a:xfrm>
                <a:off x="2387" y="2412"/>
                <a:ext cx="1590" cy="598"/>
              </a:xfrm>
              <a:prstGeom prst="rect">
                <a:avLst/>
              </a:prstGeom>
              <a:solidFill>
                <a:srgbClr val="66FFFF"/>
              </a:solidFill>
              <a:ln w="19050" algn="ctr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1C1C1C">
                    <a:alpha val="50000"/>
                  </a:srgbClr>
                </a:outerShdw>
              </a:effectLst>
            </p:spPr>
            <p:txBody>
              <a:bodyPr wrap="none" anchor="ctr"/>
              <a:lstStyle/>
              <a:p>
                <a:pPr marL="0" marR="0" lvl="0" indent="0" algn="ctr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28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endParaRPr>
              </a:p>
            </p:txBody>
          </p:sp>
          <p:sp>
            <p:nvSpPr>
              <p:cNvPr id="91" name="Rectangle 11"/>
              <p:cNvSpPr>
                <a:spLocks noChangeArrowheads="1"/>
              </p:cNvSpPr>
              <p:nvPr/>
            </p:nvSpPr>
            <p:spPr bwMode="auto">
              <a:xfrm>
                <a:off x="2754" y="2336"/>
                <a:ext cx="967" cy="3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等线" panose="020F0502020204030204"/>
                    <a:ea typeface="黑体" pitchFamily="2" charset="-122"/>
                    <a:cs typeface="+mn-cs"/>
                  </a:rPr>
                  <a:t>主机号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endParaRPr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>
            <a:off x="3399694" y="4116519"/>
            <a:ext cx="2435049" cy="400301"/>
            <a:chOff x="6321049" y="1535134"/>
            <a:chExt cx="2435049" cy="289041"/>
          </a:xfrm>
        </p:grpSpPr>
        <p:sp>
          <p:nvSpPr>
            <p:cNvPr id="95" name="左大括号 94"/>
            <p:cNvSpPr/>
            <p:nvPr/>
          </p:nvSpPr>
          <p:spPr>
            <a:xfrm rot="5400000">
              <a:off x="7432154" y="500230"/>
              <a:ext cx="212840" cy="2435049"/>
            </a:xfrm>
            <a:prstGeom prst="leftBrac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7140200" y="1535134"/>
              <a:ext cx="857250" cy="21283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前缀</a:t>
              </a:r>
            </a:p>
          </p:txBody>
        </p:sp>
      </p:grpSp>
      <p:sp>
        <p:nvSpPr>
          <p:cNvPr id="97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5.2.2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8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972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69" grpId="1"/>
      <p:bldP spid="85" grpId="0"/>
      <p:bldP spid="8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分类的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728029" y="1576860"/>
            <a:ext cx="10614885" cy="4457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地址共分为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五类，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类、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类、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类为单播地址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IP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地址的书写采用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点分十进制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记法，其中每一段取值范围为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255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16" name="Picture 2" descr="https://imgconvert.csdnimg.cn/aHR0cHM6Ly9zMS5heDF4LmNvbS8yMDE4LzExLzE4L2l6YkJNcS5qcGc?x-oss-process=image/format,png#shado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0420" y="2568190"/>
            <a:ext cx="5410200" cy="3466530"/>
          </a:xfrm>
          <a:prstGeom prst="rect">
            <a:avLst/>
          </a:prstGeom>
          <a:noFill/>
        </p:spPr>
      </p:pic>
      <p:sp>
        <p:nvSpPr>
          <p:cNvPr id="32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5.2.2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7" name="Rectangle 16"/>
          <p:cNvSpPr/>
          <p:nvPr/>
        </p:nvSpPr>
        <p:spPr>
          <a:xfrm>
            <a:off x="7436154" y="3091861"/>
            <a:ext cx="3400011" cy="350865"/>
          </a:xfrm>
          <a:prstGeom prst="rect">
            <a:avLst/>
          </a:prstGeom>
          <a:solidFill>
            <a:srgbClr val="C00000"/>
          </a:solidFill>
          <a:ln w="9525">
            <a:noFill/>
          </a:ln>
        </p:spPr>
        <p:txBody>
          <a:bodyPr wrap="square" lIns="0" tIns="0" rIns="0" bIns="0" anchor="ctr">
            <a:spAutoFit/>
          </a:bodyPr>
          <a:lstStyle>
            <a:lvl1pPr marL="342900" indent="-34290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8FD4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008FD4"/>
              </a:buClr>
              <a:buSzPct val="60000"/>
              <a:buFont typeface="Wingdings" panose="05000000000000000000" pitchFamily="2" charset="2"/>
              <a:buChar char="l"/>
              <a:defRPr sz="14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45000"/>
              <a:buFont typeface="Wingdings" panose="05000000000000000000" pitchFamily="2" charset="2"/>
              <a:buChar char="n"/>
              <a:defRPr sz="13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120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»"/>
              <a:defRPr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marL="0" marR="0" lvl="0" indent="0" algn="ctr" defTabSz="1028700" rtl="0" eaLnBrk="0" fontAlgn="base" latinLnBrk="0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请判断下列地址的类型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464565" y="3947865"/>
            <a:ext cx="2226691" cy="156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028700" rtl="0" eaLnBrk="1" fontAlgn="auto" latinLnBrk="0" hangingPunct="1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5B307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307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类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5B307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1028700" rtl="0" eaLnBrk="1" fontAlgn="auto" latinLnBrk="0" hangingPunct="1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5B307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B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307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类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5B307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1028700" rtl="0" eaLnBrk="1" fontAlgn="auto" latinLnBrk="0" hangingPunct="1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5B307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C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307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类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5B307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l" defTabSz="1028700" rtl="0" eaLnBrk="1" fontAlgn="auto" latinLnBrk="0" hangingPunct="1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5B307E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不存在，超出范围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5B307E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511526" y="3947865"/>
            <a:ext cx="1953040" cy="156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028700" rtl="0" eaLnBrk="1" fontAlgn="auto" latinLnBrk="0" hangingPunct="1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10.2.1.1</a:t>
            </a:r>
          </a:p>
          <a:p>
            <a:pPr marL="0" marR="0" lvl="0" indent="0" algn="l" defTabSz="1028700" rtl="0" eaLnBrk="1" fontAlgn="auto" latinLnBrk="0" hangingPunct="1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128.63.2.100</a:t>
            </a:r>
          </a:p>
          <a:p>
            <a:pPr marL="0" marR="0" lvl="0" indent="0" algn="l" defTabSz="1028700" rtl="0" eaLnBrk="1" fontAlgn="auto" latinLnBrk="0" hangingPunct="1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201.222.5.64</a:t>
            </a:r>
          </a:p>
          <a:p>
            <a:pPr marL="0" marR="0" lvl="0" indent="0" algn="l" defTabSz="1028700" rtl="0" eaLnBrk="1" fontAlgn="auto" latinLnBrk="0" hangingPunct="1">
              <a:lnSpc>
                <a:spcPct val="95000"/>
              </a:lnSpc>
              <a:spcBef>
                <a:spcPct val="500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256.241.201.10</a:t>
            </a:r>
          </a:p>
        </p:txBody>
      </p:sp>
    </p:spTree>
    <p:extLst>
      <p:ext uri="{BB962C8B-B14F-4D97-AF65-F5344CB8AC3E}">
        <p14:creationId xmlns:p14="http://schemas.microsoft.com/office/powerpoint/2010/main" val="17995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特殊地址</a:t>
            </a:r>
          </a:p>
        </p:txBody>
      </p:sp>
      <p:sp>
        <p:nvSpPr>
          <p:cNvPr id="6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5.2.2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aphicFrame>
        <p:nvGraphicFramePr>
          <p:cNvPr id="8" name="表格 6"/>
          <p:cNvGraphicFramePr/>
          <p:nvPr/>
        </p:nvGraphicFramePr>
        <p:xfrm>
          <a:off x="984120" y="1802598"/>
          <a:ext cx="10235119" cy="392074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2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7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0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2000" b="0" kern="1200" dirty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用途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0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网络地址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只在系统启动时有效，用于启动时临时通信，又叫主机地址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网络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127.0.0.0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指本地节点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一般为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127.0.0.1)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，用于测试网卡及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TCP/IP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软件，这样浪费了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1700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万个地址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主机地址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用于指定网络本身，称之为网络地址或者网络号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主机地址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用于广播，也称定向广播，需要指定目标网络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0.0.0.0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指任意地址</a:t>
                      </a:r>
                      <a:endParaRPr lang="en-US" altLang="zh-CN" sz="20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255.255.255.255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用于本地广播，也称有限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受限广播，无须知道本地网络地址</a:t>
                      </a:r>
                    </a:p>
                  </a:txBody>
                  <a:tcPr>
                    <a:lnL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198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子网划分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C00000"/>
                </a:solidFill>
              </a:rPr>
              <a:t>子网划分</a:t>
            </a:r>
            <a:r>
              <a:rPr lang="en-US" altLang="zh-CN" sz="2000" dirty="0">
                <a:solidFill>
                  <a:srgbClr val="C00000"/>
                </a:solidFill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subnetting</a:t>
            </a:r>
            <a:r>
              <a:rPr lang="en-US" altLang="zh-CN" sz="2000" dirty="0">
                <a:solidFill>
                  <a:srgbClr val="C00000"/>
                </a:solidFill>
              </a:rPr>
              <a:t>)</a:t>
            </a:r>
            <a:r>
              <a:rPr lang="zh-CN" altLang="en-US" sz="2000" dirty="0"/>
              <a:t>，在网络内部将一个网络块进行划分以供多个内部网络使用，对外仍是一个网络</a:t>
            </a:r>
            <a:endParaRPr lang="en-US" altLang="zh-CN" sz="2000" dirty="0"/>
          </a:p>
          <a:p>
            <a:pPr marL="228600" lvl="1"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C00000"/>
                </a:solidFill>
              </a:rPr>
              <a:t>子网</a:t>
            </a:r>
            <a:r>
              <a:rPr lang="en-US" altLang="zh-CN" sz="2000" dirty="0">
                <a:solidFill>
                  <a:srgbClr val="C00000"/>
                </a:solidFill>
              </a:rPr>
              <a:t>(subnet )</a:t>
            </a:r>
            <a:r>
              <a:rPr lang="zh-CN" altLang="en-US" sz="2000" dirty="0"/>
              <a:t>，一个网络进行子网划分后得到的一系列结果网络称为子网</a:t>
            </a:r>
            <a:endParaRPr lang="en-US" altLang="zh-CN" sz="2000" dirty="0"/>
          </a:p>
          <a:p>
            <a:pPr marL="228600" lvl="1"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C00000"/>
                </a:solidFill>
              </a:rPr>
              <a:t>子网掩码</a:t>
            </a:r>
            <a:r>
              <a:rPr lang="en-US" altLang="zh-CN" sz="2000" dirty="0">
                <a:solidFill>
                  <a:srgbClr val="C00000"/>
                </a:solidFill>
              </a:rPr>
              <a:t>(subnet mask )</a:t>
            </a:r>
            <a:r>
              <a:rPr lang="zh-CN" altLang="en-US" sz="2000" dirty="0"/>
              <a:t>，与 </a:t>
            </a:r>
            <a:r>
              <a:rPr lang="en-US" altLang="zh-CN" sz="2000" dirty="0"/>
              <a:t>IP </a:t>
            </a:r>
            <a:r>
              <a:rPr lang="zh-CN" altLang="en-US" sz="2000" dirty="0"/>
              <a:t>地址一一对应，是</a:t>
            </a:r>
            <a:r>
              <a:rPr lang="en-US" altLang="zh-CN" sz="2000" dirty="0"/>
              <a:t>32 bit </a:t>
            </a:r>
            <a:r>
              <a:rPr lang="zh-CN" altLang="en-US" sz="2000" dirty="0"/>
              <a:t>的二进制数，置</a:t>
            </a:r>
            <a:r>
              <a:rPr lang="en-US" altLang="zh-CN" sz="2000" dirty="0"/>
              <a:t>1</a:t>
            </a:r>
            <a:r>
              <a:rPr lang="zh-CN" altLang="en-US" sz="2000" dirty="0"/>
              <a:t>表示网络位，置</a:t>
            </a:r>
            <a:r>
              <a:rPr lang="en-US" altLang="zh-CN" sz="2000" dirty="0"/>
              <a:t>0</a:t>
            </a:r>
            <a:r>
              <a:rPr lang="zh-CN" altLang="en-US" sz="2000" dirty="0"/>
              <a:t>表示主机位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228600" lvl="1">
              <a:buFont typeface="Wingdings" pitchFamily="2" charset="2"/>
              <a:buChar char="Ø"/>
            </a:pPr>
            <a:r>
              <a:rPr lang="zh-CN" altLang="en-US" sz="2000" dirty="0"/>
              <a:t>子网划分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减少了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IP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地址的浪费、网络的组织更加灵活、便于维护和管理</a:t>
            </a:r>
            <a:endParaRPr lang="zh-CN" altLang="en-US" sz="20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912084" y="4159531"/>
            <a:ext cx="7842492" cy="286062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2920744" y="3707574"/>
            <a:ext cx="7833832" cy="273054"/>
          </a:xfrm>
          <a:prstGeom prst="rect">
            <a:avLst/>
          </a:prstGeom>
          <a:solidFill>
            <a:srgbClr val="CCECFF"/>
          </a:solidFill>
          <a:ln w="3175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 flipV="1">
            <a:off x="2950187" y="4639669"/>
            <a:ext cx="379475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 flipV="1">
            <a:off x="8707264" y="4639669"/>
            <a:ext cx="193981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V="1">
            <a:off x="6744940" y="4639669"/>
            <a:ext cx="195366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2944074" y="3720714"/>
            <a:ext cx="3808607" cy="255685"/>
          </a:xfrm>
          <a:prstGeom prst="rect">
            <a:avLst/>
          </a:prstGeom>
          <a:solidFill>
            <a:srgbClr val="FFFF99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4268219" y="3665790"/>
            <a:ext cx="95699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网络号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8203312" y="3659219"/>
            <a:ext cx="95699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主机号</a:t>
            </a: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1296310" y="3667382"/>
            <a:ext cx="1604866" cy="25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两级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IP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地址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4176424" y="4572956"/>
            <a:ext cx="1266072" cy="1667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6760512" y="3707573"/>
            <a:ext cx="0" cy="28909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4268219" y="4523425"/>
            <a:ext cx="958929" cy="25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网络号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2925940" y="4150207"/>
            <a:ext cx="3819000" cy="328742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1282294" y="4117317"/>
            <a:ext cx="1604866" cy="25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三级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IP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地址</a:t>
            </a: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9287475" y="4572955"/>
            <a:ext cx="969904" cy="1819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>
            <a:off x="6744940" y="4165595"/>
            <a:ext cx="0" cy="2870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9188753" y="4516349"/>
            <a:ext cx="958929" cy="25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主机号</a:t>
            </a:r>
          </a:p>
        </p:txBody>
      </p:sp>
      <p:sp>
        <p:nvSpPr>
          <p:cNvPr id="25" name="Rectangle 20"/>
          <p:cNvSpPr>
            <a:spLocks noChangeArrowheads="1"/>
          </p:cNvSpPr>
          <p:nvPr/>
        </p:nvSpPr>
        <p:spPr bwMode="auto">
          <a:xfrm>
            <a:off x="7273191" y="4565879"/>
            <a:ext cx="969904" cy="18194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26" name="Line 21"/>
          <p:cNvSpPr>
            <a:spLocks noChangeShapeType="1"/>
          </p:cNvSpPr>
          <p:nvPr/>
        </p:nvSpPr>
        <p:spPr bwMode="auto">
          <a:xfrm>
            <a:off x="8707264" y="4157508"/>
            <a:ext cx="0" cy="28808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4289003" y="4103469"/>
            <a:ext cx="95699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网络号</a:t>
            </a: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9164505" y="4106503"/>
            <a:ext cx="95699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主机号</a:t>
            </a: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7267995" y="4106503"/>
            <a:ext cx="95699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子网号</a:t>
            </a:r>
          </a:p>
        </p:txBody>
      </p: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7160613" y="4523425"/>
            <a:ext cx="958929" cy="25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子网号</a:t>
            </a:r>
          </a:p>
        </p:txBody>
      </p:sp>
      <p:sp>
        <p:nvSpPr>
          <p:cNvPr id="31" name="Line 28"/>
          <p:cNvSpPr>
            <a:spLocks noChangeShapeType="1"/>
          </p:cNvSpPr>
          <p:nvPr/>
        </p:nvSpPr>
        <p:spPr bwMode="auto">
          <a:xfrm>
            <a:off x="8707264" y="4478949"/>
            <a:ext cx="0" cy="2769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1290930" y="4706502"/>
            <a:ext cx="1596230" cy="705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三级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IP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地址</a:t>
            </a:r>
          </a:p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的子网掩码</a:t>
            </a:r>
          </a:p>
        </p:txBody>
      </p:sp>
      <p:sp>
        <p:nvSpPr>
          <p:cNvPr id="33" name="Line 44"/>
          <p:cNvSpPr>
            <a:spLocks noChangeShapeType="1"/>
          </p:cNvSpPr>
          <p:nvPr/>
        </p:nvSpPr>
        <p:spPr bwMode="auto">
          <a:xfrm>
            <a:off x="6744940" y="4512307"/>
            <a:ext cx="0" cy="28909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34" name="Rectangle 46"/>
          <p:cNvSpPr>
            <a:spLocks noChangeArrowheads="1"/>
          </p:cNvSpPr>
          <p:nvPr/>
        </p:nvSpPr>
        <p:spPr bwMode="auto">
          <a:xfrm>
            <a:off x="838200" y="5419368"/>
            <a:ext cx="2087740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子网的网络地址</a:t>
            </a:r>
          </a:p>
        </p:txBody>
      </p:sp>
      <p:sp>
        <p:nvSpPr>
          <p:cNvPr id="35" name="Rectangle 47"/>
          <p:cNvSpPr>
            <a:spLocks noChangeArrowheads="1"/>
          </p:cNvSpPr>
          <p:nvPr/>
        </p:nvSpPr>
        <p:spPr bwMode="auto">
          <a:xfrm>
            <a:off x="8662710" y="4887256"/>
            <a:ext cx="2091866" cy="309372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36" name="Rectangle 48"/>
          <p:cNvSpPr>
            <a:spLocks noChangeArrowheads="1"/>
          </p:cNvSpPr>
          <p:nvPr/>
        </p:nvSpPr>
        <p:spPr bwMode="auto">
          <a:xfrm>
            <a:off x="2922121" y="4887319"/>
            <a:ext cx="5736293" cy="32043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grpSp>
        <p:nvGrpSpPr>
          <p:cNvPr id="37" name="Group 49"/>
          <p:cNvGrpSpPr>
            <a:grpSpLocks/>
          </p:cNvGrpSpPr>
          <p:nvPr/>
        </p:nvGrpSpPr>
        <p:grpSpPr bwMode="auto">
          <a:xfrm>
            <a:off x="2993133" y="4854983"/>
            <a:ext cx="7577381" cy="408372"/>
            <a:chOff x="1197" y="2990"/>
            <a:chExt cx="4375" cy="404"/>
          </a:xfrm>
        </p:grpSpPr>
        <p:sp>
          <p:nvSpPr>
            <p:cNvPr id="46" name="Rectangle 50"/>
            <p:cNvSpPr>
              <a:spLocks noChangeArrowheads="1"/>
            </p:cNvSpPr>
            <p:nvPr/>
          </p:nvSpPr>
          <p:spPr bwMode="auto">
            <a:xfrm>
              <a:off x="1197" y="3001"/>
              <a:ext cx="3060" cy="3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7620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1 1 1 1 1 1 1 1 1 1 1 1 1 1 1 1  1 1 1 1 1 1 1 1</a:t>
              </a:r>
            </a:p>
          </p:txBody>
        </p:sp>
        <p:sp>
          <p:nvSpPr>
            <p:cNvPr id="47" name="Rectangle 51"/>
            <p:cNvSpPr>
              <a:spLocks noChangeArrowheads="1"/>
            </p:cNvSpPr>
            <p:nvPr/>
          </p:nvSpPr>
          <p:spPr bwMode="auto">
            <a:xfrm>
              <a:off x="4522" y="2990"/>
              <a:ext cx="1050" cy="3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algn="l" defTabSz="7620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0 0 0 0 0 0 0 0</a:t>
              </a:r>
            </a:p>
          </p:txBody>
        </p:sp>
      </p:grpSp>
      <p:sp>
        <p:nvSpPr>
          <p:cNvPr id="38" name="Rectangle 53"/>
          <p:cNvSpPr>
            <a:spLocks noChangeArrowheads="1"/>
          </p:cNvSpPr>
          <p:nvPr/>
        </p:nvSpPr>
        <p:spPr bwMode="auto">
          <a:xfrm>
            <a:off x="8658415" y="5437204"/>
            <a:ext cx="2105767" cy="320432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39" name="Rectangle 54"/>
          <p:cNvSpPr>
            <a:spLocks noChangeArrowheads="1"/>
          </p:cNvSpPr>
          <p:nvPr/>
        </p:nvSpPr>
        <p:spPr bwMode="auto">
          <a:xfrm>
            <a:off x="2922121" y="5437205"/>
            <a:ext cx="5736293" cy="32043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40" name="Line 55"/>
          <p:cNvSpPr>
            <a:spLocks noChangeShapeType="1"/>
          </p:cNvSpPr>
          <p:nvPr/>
        </p:nvSpPr>
        <p:spPr bwMode="auto">
          <a:xfrm>
            <a:off x="6713410" y="5437205"/>
            <a:ext cx="1731" cy="32043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41" name="Rectangle 57"/>
          <p:cNvSpPr>
            <a:spLocks noChangeArrowheads="1"/>
          </p:cNvSpPr>
          <p:nvPr/>
        </p:nvSpPr>
        <p:spPr bwMode="auto">
          <a:xfrm>
            <a:off x="4337143" y="5412175"/>
            <a:ext cx="95699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网络号</a:t>
            </a:r>
          </a:p>
        </p:txBody>
      </p:sp>
      <p:sp>
        <p:nvSpPr>
          <p:cNvPr id="42" name="Rectangle 58"/>
          <p:cNvSpPr>
            <a:spLocks noChangeArrowheads="1"/>
          </p:cNvSpPr>
          <p:nvPr/>
        </p:nvSpPr>
        <p:spPr bwMode="auto">
          <a:xfrm>
            <a:off x="7156795" y="5402127"/>
            <a:ext cx="95699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子网号</a:t>
            </a:r>
          </a:p>
        </p:txBody>
      </p:sp>
      <p:sp>
        <p:nvSpPr>
          <p:cNvPr id="43" name="Rectangle 59"/>
          <p:cNvSpPr>
            <a:spLocks noChangeArrowheads="1"/>
          </p:cNvSpPr>
          <p:nvPr/>
        </p:nvSpPr>
        <p:spPr bwMode="auto">
          <a:xfrm>
            <a:off x="9484565" y="5402127"/>
            <a:ext cx="325411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marL="0" marR="0" lvl="0" indent="0" algn="l" defTabSz="7620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0</a:t>
            </a:r>
          </a:p>
        </p:txBody>
      </p:sp>
      <p:sp>
        <p:nvSpPr>
          <p:cNvPr id="44" name="Rectangle 60"/>
          <p:cNvSpPr>
            <a:spLocks noChangeArrowheads="1"/>
          </p:cNvSpPr>
          <p:nvPr/>
        </p:nvSpPr>
        <p:spPr bwMode="auto">
          <a:xfrm>
            <a:off x="2925940" y="4565879"/>
            <a:ext cx="7838242" cy="291116"/>
          </a:xfrm>
          <a:prstGeom prst="rect">
            <a:avLst/>
          </a:prstGeom>
          <a:solidFill>
            <a:srgbClr val="66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逐位进行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AND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运算</a:t>
            </a:r>
          </a:p>
        </p:txBody>
      </p:sp>
      <p:sp>
        <p:nvSpPr>
          <p:cNvPr id="45" name="AutoShape 61"/>
          <p:cNvSpPr>
            <a:spLocks noChangeArrowheads="1"/>
          </p:cNvSpPr>
          <p:nvPr/>
        </p:nvSpPr>
        <p:spPr bwMode="auto">
          <a:xfrm>
            <a:off x="6538279" y="5200086"/>
            <a:ext cx="361628" cy="243164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48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5.2.2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872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子网划分</a:t>
            </a:r>
          </a:p>
        </p:txBody>
      </p:sp>
      <p:grpSp>
        <p:nvGrpSpPr>
          <p:cNvPr id="3" name="组合 25"/>
          <p:cNvGrpSpPr/>
          <p:nvPr/>
        </p:nvGrpSpPr>
        <p:grpSpPr>
          <a:xfrm>
            <a:off x="1943634" y="1809350"/>
            <a:ext cx="7490138" cy="283447"/>
            <a:chOff x="1943634" y="1809350"/>
            <a:chExt cx="7490138" cy="283447"/>
          </a:xfrm>
        </p:grpSpPr>
        <p:sp>
          <p:nvSpPr>
            <p:cNvPr id="7" name="Rectangle 4"/>
            <p:cNvSpPr/>
            <p:nvPr/>
          </p:nvSpPr>
          <p:spPr>
            <a:xfrm>
              <a:off x="1943634" y="1809350"/>
              <a:ext cx="1493925" cy="2834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ct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172</a:t>
              </a:r>
            </a:p>
          </p:txBody>
        </p:sp>
        <p:sp>
          <p:nvSpPr>
            <p:cNvPr id="8" name="Rectangle 4"/>
            <p:cNvSpPr/>
            <p:nvPr/>
          </p:nvSpPr>
          <p:spPr>
            <a:xfrm>
              <a:off x="4070108" y="1809350"/>
              <a:ext cx="1493925" cy="2834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ct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16</a:t>
              </a:r>
            </a:p>
          </p:txBody>
        </p:sp>
        <p:sp>
          <p:nvSpPr>
            <p:cNvPr id="9" name="Rectangle 4"/>
            <p:cNvSpPr/>
            <p:nvPr/>
          </p:nvSpPr>
          <p:spPr>
            <a:xfrm>
              <a:off x="6166709" y="1809350"/>
              <a:ext cx="1493925" cy="28344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ct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10" name="Rectangle 4"/>
            <p:cNvSpPr/>
            <p:nvPr/>
          </p:nvSpPr>
          <p:spPr>
            <a:xfrm>
              <a:off x="7939847" y="1809350"/>
              <a:ext cx="1493925" cy="28344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ct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160</a:t>
              </a:r>
            </a:p>
          </p:txBody>
        </p:sp>
      </p:grpSp>
      <p:grpSp>
        <p:nvGrpSpPr>
          <p:cNvPr id="4" name="组合 28"/>
          <p:cNvGrpSpPr/>
          <p:nvPr/>
        </p:nvGrpSpPr>
        <p:grpSpPr>
          <a:xfrm>
            <a:off x="2064605" y="2262483"/>
            <a:ext cx="7282320" cy="316382"/>
            <a:chOff x="2083588" y="3065503"/>
            <a:chExt cx="7282320" cy="316382"/>
          </a:xfrm>
        </p:grpSpPr>
        <p:sp>
          <p:nvSpPr>
            <p:cNvPr id="12" name="Rectangle 4"/>
            <p:cNvSpPr/>
            <p:nvPr/>
          </p:nvSpPr>
          <p:spPr>
            <a:xfrm>
              <a:off x="2083588" y="3065503"/>
              <a:ext cx="1285875" cy="2884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ct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255</a:t>
              </a:r>
            </a:p>
          </p:txBody>
        </p:sp>
        <p:sp>
          <p:nvSpPr>
            <p:cNvPr id="13" name="Rectangle 4"/>
            <p:cNvSpPr/>
            <p:nvPr/>
          </p:nvSpPr>
          <p:spPr>
            <a:xfrm>
              <a:off x="4219790" y="3065503"/>
              <a:ext cx="1285875" cy="2901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ct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255</a:t>
              </a:r>
            </a:p>
          </p:txBody>
        </p:sp>
        <p:sp>
          <p:nvSpPr>
            <p:cNvPr id="14" name="Rectangle 4"/>
            <p:cNvSpPr/>
            <p:nvPr/>
          </p:nvSpPr>
          <p:spPr>
            <a:xfrm>
              <a:off x="6374759" y="3065503"/>
              <a:ext cx="1285875" cy="2901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ct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255</a:t>
              </a:r>
            </a:p>
          </p:txBody>
        </p:sp>
        <p:sp>
          <p:nvSpPr>
            <p:cNvPr id="15" name="Rectangle 4"/>
            <p:cNvSpPr/>
            <p:nvPr/>
          </p:nvSpPr>
          <p:spPr>
            <a:xfrm>
              <a:off x="8080033" y="3065503"/>
              <a:ext cx="1285875" cy="3163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ct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192</a:t>
              </a:r>
            </a:p>
          </p:txBody>
        </p:sp>
      </p:grpSp>
      <p:grpSp>
        <p:nvGrpSpPr>
          <p:cNvPr id="5" name="组合 27"/>
          <p:cNvGrpSpPr/>
          <p:nvPr/>
        </p:nvGrpSpPr>
        <p:grpSpPr>
          <a:xfrm>
            <a:off x="1786644" y="2734973"/>
            <a:ext cx="8049119" cy="307333"/>
            <a:chOff x="1789892" y="2433440"/>
            <a:chExt cx="8049119" cy="307333"/>
          </a:xfrm>
        </p:grpSpPr>
        <p:sp>
          <p:nvSpPr>
            <p:cNvPr id="17" name="Rectangle 4"/>
            <p:cNvSpPr/>
            <p:nvPr/>
          </p:nvSpPr>
          <p:spPr>
            <a:xfrm>
              <a:off x="1789892" y="2433440"/>
              <a:ext cx="1764403" cy="2893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10101100</a:t>
              </a:r>
            </a:p>
          </p:txBody>
        </p:sp>
        <p:sp>
          <p:nvSpPr>
            <p:cNvPr id="18" name="Rectangle 7"/>
            <p:cNvSpPr/>
            <p:nvPr/>
          </p:nvSpPr>
          <p:spPr>
            <a:xfrm>
              <a:off x="3987327" y="2433440"/>
              <a:ext cx="1728192" cy="2893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00010000</a:t>
              </a:r>
            </a:p>
          </p:txBody>
        </p:sp>
        <p:sp>
          <p:nvSpPr>
            <p:cNvPr id="19" name="Rectangle 15"/>
            <p:cNvSpPr/>
            <p:nvPr/>
          </p:nvSpPr>
          <p:spPr>
            <a:xfrm>
              <a:off x="5935652" y="2433440"/>
              <a:ext cx="1916643" cy="2893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  00000010</a:t>
              </a:r>
            </a:p>
          </p:txBody>
        </p:sp>
        <p:sp>
          <p:nvSpPr>
            <p:cNvPr id="20" name="Rectangle 12"/>
            <p:cNvSpPr/>
            <p:nvPr/>
          </p:nvSpPr>
          <p:spPr>
            <a:xfrm>
              <a:off x="8082814" y="2433440"/>
              <a:ext cx="1756197" cy="3073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10100000</a:t>
              </a:r>
            </a:p>
          </p:txBody>
        </p:sp>
      </p:grpSp>
      <p:grpSp>
        <p:nvGrpSpPr>
          <p:cNvPr id="6" name="组合 29"/>
          <p:cNvGrpSpPr/>
          <p:nvPr/>
        </p:nvGrpSpPr>
        <p:grpSpPr>
          <a:xfrm>
            <a:off x="1819076" y="3253146"/>
            <a:ext cx="8052162" cy="436839"/>
            <a:chOff x="1819076" y="3647479"/>
            <a:chExt cx="8052162" cy="436839"/>
          </a:xfrm>
        </p:grpSpPr>
        <p:sp>
          <p:nvSpPr>
            <p:cNvPr id="22" name="Rectangle 4"/>
            <p:cNvSpPr/>
            <p:nvPr/>
          </p:nvSpPr>
          <p:spPr>
            <a:xfrm>
              <a:off x="1819076" y="3647479"/>
              <a:ext cx="1728967" cy="3857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11111111</a:t>
              </a:r>
            </a:p>
          </p:txBody>
        </p:sp>
        <p:sp>
          <p:nvSpPr>
            <p:cNvPr id="23" name="Rectangle 7"/>
            <p:cNvSpPr/>
            <p:nvPr/>
          </p:nvSpPr>
          <p:spPr>
            <a:xfrm>
              <a:off x="6085722" y="3647479"/>
              <a:ext cx="1851172" cy="3857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11111111</a:t>
              </a:r>
            </a:p>
          </p:txBody>
        </p:sp>
        <p:sp>
          <p:nvSpPr>
            <p:cNvPr id="24" name="Rectangle 15"/>
            <p:cNvSpPr/>
            <p:nvPr/>
          </p:nvSpPr>
          <p:spPr>
            <a:xfrm>
              <a:off x="3957134" y="3647479"/>
              <a:ext cx="1746308" cy="3857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  11111111</a:t>
              </a:r>
            </a:p>
          </p:txBody>
        </p:sp>
        <p:sp>
          <p:nvSpPr>
            <p:cNvPr id="25" name="Rectangle 12"/>
            <p:cNvSpPr/>
            <p:nvPr/>
          </p:nvSpPr>
          <p:spPr>
            <a:xfrm>
              <a:off x="8093402" y="3647479"/>
              <a:ext cx="1777836" cy="4368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11000000</a:t>
              </a:r>
            </a:p>
          </p:txBody>
        </p:sp>
      </p:grpSp>
      <p:grpSp>
        <p:nvGrpSpPr>
          <p:cNvPr id="11" name="组合 30"/>
          <p:cNvGrpSpPr/>
          <p:nvPr/>
        </p:nvGrpSpPr>
        <p:grpSpPr>
          <a:xfrm>
            <a:off x="1805498" y="3863519"/>
            <a:ext cx="8049119" cy="307333"/>
            <a:chOff x="1789892" y="2433440"/>
            <a:chExt cx="8049119" cy="307333"/>
          </a:xfrm>
        </p:grpSpPr>
        <p:sp>
          <p:nvSpPr>
            <p:cNvPr id="32" name="Rectangle 4"/>
            <p:cNvSpPr/>
            <p:nvPr/>
          </p:nvSpPr>
          <p:spPr>
            <a:xfrm>
              <a:off x="1789892" y="2433440"/>
              <a:ext cx="1764403" cy="2893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10101100</a:t>
              </a:r>
            </a:p>
          </p:txBody>
        </p:sp>
        <p:sp>
          <p:nvSpPr>
            <p:cNvPr id="33" name="Rectangle 7"/>
            <p:cNvSpPr/>
            <p:nvPr/>
          </p:nvSpPr>
          <p:spPr>
            <a:xfrm>
              <a:off x="3987327" y="2433440"/>
              <a:ext cx="1728192" cy="2893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00010000</a:t>
              </a:r>
            </a:p>
          </p:txBody>
        </p:sp>
        <p:sp>
          <p:nvSpPr>
            <p:cNvPr id="34" name="Rectangle 15"/>
            <p:cNvSpPr/>
            <p:nvPr/>
          </p:nvSpPr>
          <p:spPr>
            <a:xfrm>
              <a:off x="5935652" y="2433440"/>
              <a:ext cx="1916643" cy="2893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  00000010</a:t>
              </a:r>
            </a:p>
          </p:txBody>
        </p:sp>
        <p:sp>
          <p:nvSpPr>
            <p:cNvPr id="35" name="Rectangle 12"/>
            <p:cNvSpPr/>
            <p:nvPr/>
          </p:nvSpPr>
          <p:spPr>
            <a:xfrm>
              <a:off x="8082814" y="2433440"/>
              <a:ext cx="1756197" cy="3073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10000000</a:t>
              </a:r>
            </a:p>
          </p:txBody>
        </p:sp>
      </p:grpSp>
      <p:grpSp>
        <p:nvGrpSpPr>
          <p:cNvPr id="16" name="组合 35"/>
          <p:cNvGrpSpPr/>
          <p:nvPr/>
        </p:nvGrpSpPr>
        <p:grpSpPr>
          <a:xfrm>
            <a:off x="1802852" y="4329924"/>
            <a:ext cx="8049119" cy="307333"/>
            <a:chOff x="1789892" y="2433440"/>
            <a:chExt cx="8049119" cy="307333"/>
          </a:xfrm>
        </p:grpSpPr>
        <p:sp>
          <p:nvSpPr>
            <p:cNvPr id="37" name="Rectangle 4"/>
            <p:cNvSpPr/>
            <p:nvPr/>
          </p:nvSpPr>
          <p:spPr>
            <a:xfrm>
              <a:off x="1789892" y="2433440"/>
              <a:ext cx="1764403" cy="2893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10101100</a:t>
              </a:r>
            </a:p>
          </p:txBody>
        </p:sp>
        <p:sp>
          <p:nvSpPr>
            <p:cNvPr id="38" name="Rectangle 7"/>
            <p:cNvSpPr/>
            <p:nvPr/>
          </p:nvSpPr>
          <p:spPr>
            <a:xfrm>
              <a:off x="3987327" y="2433440"/>
              <a:ext cx="1728192" cy="2893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00010000</a:t>
              </a:r>
            </a:p>
          </p:txBody>
        </p:sp>
        <p:sp>
          <p:nvSpPr>
            <p:cNvPr id="39" name="Rectangle 15"/>
            <p:cNvSpPr/>
            <p:nvPr/>
          </p:nvSpPr>
          <p:spPr>
            <a:xfrm>
              <a:off x="5935652" y="2433440"/>
              <a:ext cx="1916643" cy="2893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  00000010</a:t>
              </a:r>
            </a:p>
          </p:txBody>
        </p:sp>
        <p:sp>
          <p:nvSpPr>
            <p:cNvPr id="40" name="Rectangle 12"/>
            <p:cNvSpPr/>
            <p:nvPr/>
          </p:nvSpPr>
          <p:spPr>
            <a:xfrm>
              <a:off x="8082814" y="2433440"/>
              <a:ext cx="1756197" cy="3073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21431" tIns="30362" rIns="21431" bIns="30362"/>
            <a:lstStyle>
              <a:lvl1pPr marL="342900" indent="-34290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70000"/>
                <a:buFont typeface="Wingdings" panose="05000000000000000000" pitchFamily="2" charset="2"/>
                <a:buChar char="n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defRPr>
              </a:lvl1pPr>
              <a:lvl2pPr marL="742950" indent="-285750" algn="l" rtl="0" eaLnBrk="0" fontAlgn="base" hangingPunct="0">
                <a:lnSpc>
                  <a:spcPct val="13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8FD4"/>
                </a:buClr>
                <a:buSzPct val="60000"/>
                <a:buFont typeface="Wingdings" panose="05000000000000000000" pitchFamily="2" charset="2"/>
                <a:buChar char="l"/>
                <a:defRPr sz="14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45000"/>
                <a:buFont typeface="Wingdings" panose="05000000000000000000" pitchFamily="2" charset="2"/>
                <a:buChar char="n"/>
                <a:defRPr sz="13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–"/>
                <a:defRPr sz="1200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»"/>
                <a:defRPr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defRPr>
              </a:lvl5pPr>
            </a:lstStyle>
            <a:p>
              <a:pPr marL="0" marR="0" lvl="0" indent="0" algn="r" defTabSz="1028700" rtl="0" eaLnBrk="0" fontAlgn="base" latinLnBrk="0" hangingPunct="0">
                <a:lnSpc>
                  <a:spcPts val="214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00000"/>
                <a:buFont typeface="Wingdings" panose="05000000000000000000" pitchFamily="2" charset="2"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r>
                <a: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10111111</a:t>
              </a:r>
            </a:p>
          </p:txBody>
        </p:sp>
      </p:grpSp>
      <p:sp>
        <p:nvSpPr>
          <p:cNvPr id="44" name="矩形 43"/>
          <p:cNvSpPr/>
          <p:nvPr/>
        </p:nvSpPr>
        <p:spPr>
          <a:xfrm>
            <a:off x="1200720" y="3544777"/>
            <a:ext cx="703626" cy="2512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前缀</a:t>
            </a:r>
          </a:p>
        </p:txBody>
      </p:sp>
      <p:sp>
        <p:nvSpPr>
          <p:cNvPr id="45" name="矩形 44"/>
          <p:cNvSpPr/>
          <p:nvPr/>
        </p:nvSpPr>
        <p:spPr>
          <a:xfrm>
            <a:off x="9764226" y="3516195"/>
            <a:ext cx="985740" cy="2512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主机位</a:t>
            </a:r>
          </a:p>
        </p:txBody>
      </p:sp>
      <p:sp>
        <p:nvSpPr>
          <p:cNvPr id="46" name="矩形 45"/>
          <p:cNvSpPr/>
          <p:nvPr/>
        </p:nvSpPr>
        <p:spPr>
          <a:xfrm>
            <a:off x="957893" y="4922178"/>
            <a:ext cx="2777528" cy="5836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主机位全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0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，子网地址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172.16.2.128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639573" y="4922178"/>
            <a:ext cx="2777528" cy="5836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主机位全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，广播地址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172.16.2.191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264992" y="4922178"/>
            <a:ext cx="2777528" cy="9111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可分配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IP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地址范围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172.16.2.128+1~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     172.16.2.191-1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881353" y="4865616"/>
            <a:ext cx="2344612" cy="7004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子网拥有主机数量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-2=62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n=6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等线" panose="020F0502020204030204"/>
                <a:ea typeface="黑体" pitchFamily="2" charset="-122"/>
                <a:cs typeface="+mn-cs"/>
              </a:rPr>
              <a:t>）</a:t>
            </a:r>
          </a:p>
        </p:txBody>
      </p:sp>
      <p:sp>
        <p:nvSpPr>
          <p:cNvPr id="50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5.2.2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cxnSp>
        <p:nvCxnSpPr>
          <p:cNvPr id="53" name="直接连接符 52"/>
          <p:cNvCxnSpPr/>
          <p:nvPr/>
        </p:nvCxnSpPr>
        <p:spPr>
          <a:xfrm rot="5400000">
            <a:off x="7584377" y="3644154"/>
            <a:ext cx="1912628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rot="10800000">
            <a:off x="1814925" y="3638909"/>
            <a:ext cx="6725764" cy="158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8540689" y="3638909"/>
            <a:ext cx="1295074" cy="158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/>
          <p:cNvGrpSpPr/>
          <p:nvPr/>
        </p:nvGrpSpPr>
        <p:grpSpPr>
          <a:xfrm>
            <a:off x="9908946" y="2765068"/>
            <a:ext cx="1560867" cy="554476"/>
            <a:chOff x="9908946" y="2765068"/>
            <a:chExt cx="1560867" cy="554476"/>
          </a:xfrm>
        </p:grpSpPr>
        <p:sp>
          <p:nvSpPr>
            <p:cNvPr id="27" name="矩形 26"/>
            <p:cNvSpPr/>
            <p:nvPr/>
          </p:nvSpPr>
          <p:spPr>
            <a:xfrm>
              <a:off x="10030119" y="2765068"/>
              <a:ext cx="1439694" cy="554476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逐位进行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AND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运算</a:t>
              </a:r>
            </a:p>
          </p:txBody>
        </p:sp>
        <p:sp>
          <p:nvSpPr>
            <p:cNvPr id="62" name="右箭头 61"/>
            <p:cNvSpPr/>
            <p:nvPr/>
          </p:nvSpPr>
          <p:spPr>
            <a:xfrm>
              <a:off x="9908946" y="2911247"/>
              <a:ext cx="281430" cy="228775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225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无类域间路由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7"/>
            <a:ext cx="10515600" cy="4978545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CIDR</a:t>
            </a:r>
            <a:r>
              <a:rPr lang="zh-CN" altLang="en-US" dirty="0"/>
              <a:t>（</a:t>
            </a:r>
            <a:r>
              <a:rPr lang="en-US" altLang="zh-CN" dirty="0"/>
              <a:t> Classless Inter-Domain Routing 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32</a:t>
            </a:r>
            <a:r>
              <a:rPr lang="zh-CN" altLang="en-US" dirty="0"/>
              <a:t>位的</a:t>
            </a:r>
            <a:r>
              <a:rPr lang="en-US" altLang="zh-CN" dirty="0"/>
              <a:t>IP</a:t>
            </a:r>
            <a:r>
              <a:rPr lang="zh-CN" altLang="en-US" dirty="0"/>
              <a:t>地址划分为前后两个部分，并采用</a:t>
            </a:r>
            <a:r>
              <a:rPr lang="zh-CN" altLang="en-US" dirty="0">
                <a:solidFill>
                  <a:srgbClr val="C00000"/>
                </a:solidFill>
              </a:rPr>
              <a:t>斜线记法</a:t>
            </a:r>
            <a:r>
              <a:rPr lang="zh-CN" altLang="en-US" dirty="0"/>
              <a:t>，即在</a:t>
            </a:r>
            <a:r>
              <a:rPr lang="en-US" altLang="zh-CN" dirty="0"/>
              <a:t>IP</a:t>
            </a:r>
            <a:r>
              <a:rPr lang="zh-CN" altLang="en-US" dirty="0"/>
              <a:t>地址后加上“</a:t>
            </a:r>
            <a:r>
              <a:rPr lang="en-US" altLang="zh-CN" dirty="0"/>
              <a:t>/</a:t>
            </a:r>
            <a:r>
              <a:rPr lang="zh-CN" altLang="en-US" dirty="0"/>
              <a:t>”，然后再写上网络前缀所占位数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>
              <a:buNone/>
            </a:pPr>
            <a:endParaRPr lang="en-US" altLang="zh-CN" dirty="0"/>
          </a:p>
          <a:p>
            <a:pPr lvl="1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一个 </a:t>
            </a:r>
            <a:r>
              <a:rPr lang="en-US" altLang="zh-CN" dirty="0"/>
              <a:t>CIDR </a:t>
            </a:r>
            <a:r>
              <a:rPr lang="zh-CN" altLang="en-US" dirty="0"/>
              <a:t>地址块可以表示很多地址，这种地址的聚合常称为</a:t>
            </a:r>
            <a:r>
              <a:rPr lang="zh-CN" altLang="en-US" dirty="0">
                <a:solidFill>
                  <a:srgbClr val="C00000"/>
                </a:solidFill>
              </a:rPr>
              <a:t>路由聚合</a:t>
            </a:r>
            <a:r>
              <a:rPr lang="zh-CN" altLang="en-US" dirty="0"/>
              <a:t>（</a:t>
            </a:r>
            <a:r>
              <a:rPr lang="en-US" altLang="zh-CN" dirty="0"/>
              <a:t>route aggregation</a:t>
            </a:r>
            <a:r>
              <a:rPr lang="zh-CN" altLang="en-US" dirty="0"/>
              <a:t>），也称为</a:t>
            </a:r>
            <a:r>
              <a:rPr lang="zh-CN" altLang="en-US" dirty="0">
                <a:solidFill>
                  <a:srgbClr val="C00000"/>
                </a:solidFill>
              </a:rPr>
              <a:t>构成超网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 err="1">
                <a:solidFill>
                  <a:srgbClr val="C00000"/>
                </a:solidFill>
              </a:rPr>
              <a:t>supernet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zh-CN" altLang="en-US" dirty="0"/>
              <a:t>聚合技术在</a:t>
            </a:r>
            <a:r>
              <a:rPr lang="en-US" altLang="zh-CN" dirty="0"/>
              <a:t>Internet</a:t>
            </a:r>
            <a:r>
              <a:rPr lang="zh-CN" altLang="en-US" dirty="0"/>
              <a:t>中大量使用，它允许前缀重叠，数据包按具体路由的方向发送，即具有最少</a:t>
            </a:r>
            <a:r>
              <a:rPr lang="en-US" altLang="zh-CN" dirty="0"/>
              <a:t>IP</a:t>
            </a:r>
            <a:r>
              <a:rPr lang="zh-CN" altLang="en-US" dirty="0"/>
              <a:t>地址的</a:t>
            </a:r>
            <a:r>
              <a:rPr lang="zh-CN" altLang="en-US" dirty="0">
                <a:solidFill>
                  <a:srgbClr val="C00000"/>
                </a:solidFill>
              </a:rPr>
              <a:t>最长匹配前缀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  <p:grpSp>
        <p:nvGrpSpPr>
          <p:cNvPr id="21" name="组合 20"/>
          <p:cNvGrpSpPr/>
          <p:nvPr/>
        </p:nvGrpSpPr>
        <p:grpSpPr>
          <a:xfrm>
            <a:off x="2229196" y="2916137"/>
            <a:ext cx="7562503" cy="1373998"/>
            <a:chOff x="920552" y="1787214"/>
            <a:chExt cx="8280920" cy="1798650"/>
          </a:xfrm>
        </p:grpSpPr>
        <p:sp>
          <p:nvSpPr>
            <p:cNvPr id="22" name="Rectangle 2"/>
            <p:cNvSpPr>
              <a:spLocks noChangeArrowheads="1"/>
            </p:cNvSpPr>
            <p:nvPr/>
          </p:nvSpPr>
          <p:spPr bwMode="auto">
            <a:xfrm>
              <a:off x="920552" y="2924944"/>
              <a:ext cx="8280920" cy="660920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400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IP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地址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::= {&lt;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网络前缀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&gt;, &lt;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主机号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rPr>
                <a:t>&gt;}</a:t>
              </a:r>
            </a:p>
          </p:txBody>
        </p:sp>
        <p:grpSp>
          <p:nvGrpSpPr>
            <p:cNvPr id="23" name="组合 6"/>
            <p:cNvGrpSpPr/>
            <p:nvPr/>
          </p:nvGrpSpPr>
          <p:grpSpPr>
            <a:xfrm>
              <a:off x="2406642" y="1787214"/>
              <a:ext cx="4562582" cy="1060918"/>
              <a:chOff x="1839309" y="4105855"/>
              <a:chExt cx="4562582" cy="1147677"/>
            </a:xfrm>
          </p:grpSpPr>
          <p:grpSp>
            <p:nvGrpSpPr>
              <p:cNvPr id="24" name="Group 21"/>
              <p:cNvGrpSpPr>
                <a:grpSpLocks/>
              </p:cNvGrpSpPr>
              <p:nvPr/>
            </p:nvGrpSpPr>
            <p:grpSpPr bwMode="auto">
              <a:xfrm>
                <a:off x="1867991" y="4855707"/>
                <a:ext cx="4533900" cy="291"/>
                <a:chOff x="755" y="4797987"/>
                <a:chExt cx="2856" cy="291"/>
              </a:xfrm>
            </p:grpSpPr>
            <p:sp>
              <p:nvSpPr>
                <p:cNvPr id="32" name="Line 9"/>
                <p:cNvSpPr>
                  <a:spLocks noChangeShapeType="1"/>
                </p:cNvSpPr>
                <p:nvPr/>
              </p:nvSpPr>
              <p:spPr bwMode="auto">
                <a:xfrm>
                  <a:off x="755" y="4798175"/>
                  <a:ext cx="2856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等线" panose="020F0502020204030204"/>
                    <a:ea typeface="黑体" pitchFamily="2" charset="-122"/>
                    <a:cs typeface="+mn-cs"/>
                  </a:endParaRPr>
                </a:p>
              </p:txBody>
            </p:sp>
            <p:sp>
              <p:nvSpPr>
                <p:cNvPr id="33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950" y="4797987"/>
                  <a:ext cx="527" cy="29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等线" panose="020F0502020204030204"/>
                      <a:ea typeface="黑体" pitchFamily="2" charset="-122"/>
                      <a:cs typeface="+mn-cs"/>
                    </a:rPr>
                    <a:t>32</a:t>
                  </a:r>
                  <a:r>
                    <a:rPr kumimoji="0" lang="zh-CN" altLang="en-US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等线" panose="020F0502020204030204"/>
                      <a:ea typeface="黑体" pitchFamily="2" charset="-122"/>
                      <a:cs typeface="+mn-cs"/>
                    </a:rPr>
                    <a:t>位</a:t>
                  </a:r>
                </a:p>
              </p:txBody>
            </p:sp>
          </p:grpSp>
          <p:sp>
            <p:nvSpPr>
              <p:cNvPr id="31" name="Line 17"/>
              <p:cNvSpPr>
                <a:spLocks noChangeShapeType="1"/>
              </p:cNvSpPr>
              <p:nvPr/>
            </p:nvSpPr>
            <p:spPr bwMode="auto">
              <a:xfrm>
                <a:off x="1839309" y="4643921"/>
                <a:ext cx="0" cy="60961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等线" panose="020F0502020204030204"/>
                  <a:ea typeface="黑体" pitchFamily="2" charset="-122"/>
                  <a:cs typeface="+mn-cs"/>
                </a:endParaRPr>
              </a:p>
            </p:txBody>
          </p:sp>
          <p:grpSp>
            <p:nvGrpSpPr>
              <p:cNvPr id="26" name="Group 18"/>
              <p:cNvGrpSpPr>
                <a:grpSpLocks/>
              </p:cNvGrpSpPr>
              <p:nvPr/>
            </p:nvGrpSpPr>
            <p:grpSpPr bwMode="auto">
              <a:xfrm>
                <a:off x="1839416" y="4105855"/>
                <a:ext cx="4562105" cy="679451"/>
                <a:chOff x="737" y="2493"/>
                <a:chExt cx="3240" cy="428"/>
              </a:xfrm>
            </p:grpSpPr>
            <p:sp>
              <p:nvSpPr>
                <p:cNvPr id="27" name="Rectangle 6"/>
                <p:cNvSpPr>
                  <a:spLocks noChangeArrowheads="1"/>
                </p:cNvSpPr>
                <p:nvPr/>
              </p:nvSpPr>
              <p:spPr bwMode="auto">
                <a:xfrm>
                  <a:off x="737" y="2493"/>
                  <a:ext cx="1650" cy="386"/>
                </a:xfrm>
                <a:prstGeom prst="rect">
                  <a:avLst/>
                </a:prstGeom>
                <a:solidFill>
                  <a:srgbClr val="FFFF66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1C1C1C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等线" panose="020F0502020204030204"/>
                      <a:ea typeface="黑体" pitchFamily="2" charset="-122"/>
                      <a:cs typeface="+mn-cs"/>
                    </a:rPr>
                    <a:t>网络前缀</a:t>
                  </a:r>
                  <a:endPara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等线" panose="020F0502020204030204"/>
                    <a:ea typeface="黑体" pitchFamily="2" charset="-122"/>
                    <a:cs typeface="+mn-cs"/>
                  </a:endParaRPr>
                </a:p>
              </p:txBody>
            </p:sp>
            <p:sp>
              <p:nvSpPr>
                <p:cNvPr id="28" name="Rectangle 7"/>
                <p:cNvSpPr>
                  <a:spLocks noChangeArrowheads="1"/>
                </p:cNvSpPr>
                <p:nvPr/>
              </p:nvSpPr>
              <p:spPr bwMode="auto">
                <a:xfrm>
                  <a:off x="2387" y="2494"/>
                  <a:ext cx="1590" cy="385"/>
                </a:xfrm>
                <a:prstGeom prst="rect">
                  <a:avLst/>
                </a:prstGeom>
                <a:solidFill>
                  <a:srgbClr val="66FFFF"/>
                </a:solidFill>
                <a:ln w="1905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dist="107763" dir="2700000" algn="ctr" rotWithShape="0">
                    <a:srgbClr val="1C1C1C">
                      <a:alpha val="50000"/>
                    </a:srgbClr>
                  </a:outerShdw>
                </a:effec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zh-CN" sz="2800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等线" panose="020F0502020204030204"/>
                    <a:ea typeface="黑体" pitchFamily="2" charset="-122"/>
                    <a:cs typeface="+mn-cs"/>
                  </a:endParaRPr>
                </a:p>
              </p:txBody>
            </p:sp>
            <p:sp>
              <p:nvSpPr>
                <p:cNvPr id="29" name="Rectangle 11"/>
                <p:cNvSpPr>
                  <a:spLocks noChangeArrowheads="1"/>
                </p:cNvSpPr>
                <p:nvPr/>
              </p:nvSpPr>
              <p:spPr bwMode="auto">
                <a:xfrm>
                  <a:off x="2754" y="2547"/>
                  <a:ext cx="967" cy="374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等线" panose="020F0502020204030204"/>
                      <a:ea typeface="黑体" pitchFamily="2" charset="-122"/>
                      <a:cs typeface="+mn-cs"/>
                    </a:rPr>
                    <a:t>主机号</a:t>
                  </a:r>
                  <a:endPara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等线" panose="020F0502020204030204"/>
                    <a:ea typeface="黑体" pitchFamily="2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34" name="Line 17"/>
          <p:cNvSpPr>
            <a:spLocks noChangeShapeType="1"/>
          </p:cNvSpPr>
          <p:nvPr/>
        </p:nvSpPr>
        <p:spPr bwMode="auto">
          <a:xfrm>
            <a:off x="7743063" y="3319427"/>
            <a:ext cx="0" cy="43090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等线" panose="020F0502020204030204"/>
              <a:ea typeface="黑体" pitchFamily="2" charset="-122"/>
              <a:cs typeface="+mn-cs"/>
            </a:endParaRPr>
          </a:p>
        </p:txBody>
      </p:sp>
      <p:sp>
        <p:nvSpPr>
          <p:cNvPr id="35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5.2.2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800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最长前缀匹配</a:t>
            </a:r>
          </a:p>
        </p:txBody>
      </p:sp>
      <p:sp>
        <p:nvSpPr>
          <p:cNvPr id="35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5.2.2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1421" y="1352551"/>
            <a:ext cx="10531547" cy="2693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最长前缀匹配（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Longest prefix match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CIDR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可变长子网掩码以及路由聚合，需要最长前缀匹配来实现最精确匹配</a:t>
            </a:r>
          </a:p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前缀匹配时，总是选取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子网掩码最长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的匹配项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主要用于路由器转发表项的匹配，也应用于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ACL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规则匹配等</a:t>
            </a:r>
          </a:p>
          <a:p>
            <a:pPr marL="360363" marR="0" lvl="0" indent="-36036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959064" y="3242846"/>
          <a:ext cx="9911256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8509">
                  <a:extLst>
                    <a:ext uri="{9D8B030D-6E8A-4147-A177-3AD203B41FA5}">
                      <a16:colId xmlns:a16="http://schemas.microsoft.com/office/drawing/2014/main" val="3525241146"/>
                    </a:ext>
                  </a:extLst>
                </a:gridCol>
                <a:gridCol w="5411903">
                  <a:extLst>
                    <a:ext uri="{9D8B030D-6E8A-4147-A177-3AD203B41FA5}">
                      <a16:colId xmlns:a16="http://schemas.microsoft.com/office/drawing/2014/main" val="3338336265"/>
                    </a:ext>
                  </a:extLst>
                </a:gridCol>
                <a:gridCol w="1440844">
                  <a:extLst>
                    <a:ext uri="{9D8B030D-6E8A-4147-A177-3AD203B41FA5}">
                      <a16:colId xmlns:a16="http://schemas.microsoft.com/office/drawing/2014/main" val="331555354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IP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前缀（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种描述方式）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出接口号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05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200.23.16.0/21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11001000 00010111 00010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290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200.23.24.0/24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11001000 00010111 00011000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982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200.23.24.0/21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11001000 00010111 00011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229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Otherwise</a:t>
                      </a:r>
                      <a:r>
                        <a:rPr lang="en-US" altLang="zh-CN" sz="20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0.0.0.0/0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--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016825"/>
                  </a:ext>
                </a:extLst>
              </a:tr>
            </a:tbl>
          </a:graphicData>
        </a:graphic>
      </p:graphicFrame>
      <p:sp>
        <p:nvSpPr>
          <p:cNvPr id="22" name="内容占位符 2">
            <a:extLst>
              <a:ext uri="{FF2B5EF4-FFF2-40B4-BE49-F238E27FC236}">
                <a16:creationId xmlns:a16="http://schemas.microsoft.com/office/drawing/2014/main" id="{DB830B1C-0706-7E41-AE1A-DEBBD115D846}"/>
              </a:ext>
            </a:extLst>
          </p:cNvPr>
          <p:cNvSpPr txBox="1">
            <a:spLocks/>
          </p:cNvSpPr>
          <p:nvPr/>
        </p:nvSpPr>
        <p:spPr>
          <a:xfrm>
            <a:off x="682861" y="5468573"/>
            <a:ext cx="10690107" cy="87447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200.23.22.161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（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 11001000  00010111  00010110  10100001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），接口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200.23.24.170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（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宋体" panose="02010600030101010101" pitchFamily="2" charset="-122"/>
                <a:cs typeface="+mn-cs"/>
              </a:rPr>
              <a:t> 11001000  00010111  00011000  10101010 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），接口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5717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最长前缀匹配</a:t>
            </a:r>
          </a:p>
        </p:txBody>
      </p:sp>
      <p:sp>
        <p:nvSpPr>
          <p:cNvPr id="35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5.2.2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9" name="TextBox 156"/>
          <p:cNvSpPr txBox="1">
            <a:spLocks noChangeArrowheads="1"/>
          </p:cNvSpPr>
          <p:nvPr/>
        </p:nvSpPr>
        <p:spPr bwMode="auto">
          <a:xfrm>
            <a:off x="2940535" y="1602398"/>
            <a:ext cx="5338763" cy="22463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2.128.0.0/9         interface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2.192.0.0/10       interface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2.0.0.0/8             interface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2.2.3.0/24           interface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0.0.0.0/0             interface 5</a:t>
            </a:r>
          </a:p>
        </p:txBody>
      </p:sp>
      <p:sp>
        <p:nvSpPr>
          <p:cNvPr id="10" name="TextBox 169"/>
          <p:cNvSpPr txBox="1">
            <a:spLocks noChangeArrowheads="1"/>
          </p:cNvSpPr>
          <p:nvPr/>
        </p:nvSpPr>
        <p:spPr bwMode="auto">
          <a:xfrm>
            <a:off x="1059334" y="4648200"/>
            <a:ext cx="1950194" cy="52387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2.5.1.2</a:t>
            </a:r>
          </a:p>
        </p:txBody>
      </p:sp>
      <p:sp>
        <p:nvSpPr>
          <p:cNvPr id="11" name="TextBox 176"/>
          <p:cNvSpPr txBox="1">
            <a:spLocks noChangeArrowheads="1"/>
          </p:cNvSpPr>
          <p:nvPr/>
        </p:nvSpPr>
        <p:spPr bwMode="auto">
          <a:xfrm>
            <a:off x="6517519" y="4616848"/>
            <a:ext cx="2120879" cy="52387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2.200.1.2</a:t>
            </a:r>
          </a:p>
        </p:txBody>
      </p:sp>
      <p:sp>
        <p:nvSpPr>
          <p:cNvPr id="12" name="TextBox 187"/>
          <p:cNvSpPr txBox="1">
            <a:spLocks noChangeArrowheads="1"/>
          </p:cNvSpPr>
          <p:nvPr/>
        </p:nvSpPr>
        <p:spPr bwMode="auto">
          <a:xfrm>
            <a:off x="1059911" y="5554390"/>
            <a:ext cx="1949040" cy="52387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2.150.1.2</a:t>
            </a:r>
          </a:p>
        </p:txBody>
      </p:sp>
      <p:sp>
        <p:nvSpPr>
          <p:cNvPr id="13" name="TextBox 188"/>
          <p:cNvSpPr txBox="1">
            <a:spLocks noChangeArrowheads="1"/>
          </p:cNvSpPr>
          <p:nvPr/>
        </p:nvSpPr>
        <p:spPr bwMode="auto">
          <a:xfrm>
            <a:off x="6517519" y="5545193"/>
            <a:ext cx="2120879" cy="52387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3.150.1.2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>
          <a:xfrm>
            <a:off x="1653017" y="3975225"/>
            <a:ext cx="8372988" cy="641623"/>
          </a:xfrm>
          <a:noFill/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根据最长前缀匹配，下述目的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将匹配哪个表项（出接口）？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内容占位符 2"/>
          <p:cNvSpPr txBox="1">
            <a:spLocks/>
          </p:cNvSpPr>
          <p:nvPr/>
        </p:nvSpPr>
        <p:spPr>
          <a:xfrm>
            <a:off x="2680648" y="4648200"/>
            <a:ext cx="2737266" cy="64162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Interface 3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内容占位符 2"/>
          <p:cNvSpPr txBox="1">
            <a:spLocks/>
          </p:cNvSpPr>
          <p:nvPr/>
        </p:nvSpPr>
        <p:spPr>
          <a:xfrm>
            <a:off x="8519145" y="4648200"/>
            <a:ext cx="2737266" cy="64162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Interface 2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内容占位符 2"/>
          <p:cNvSpPr txBox="1">
            <a:spLocks/>
          </p:cNvSpPr>
          <p:nvPr/>
        </p:nvSpPr>
        <p:spPr>
          <a:xfrm>
            <a:off x="2680648" y="5548641"/>
            <a:ext cx="2737266" cy="64162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Interface 1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内容占位符 2"/>
          <p:cNvSpPr txBox="1">
            <a:spLocks/>
          </p:cNvSpPr>
          <p:nvPr/>
        </p:nvSpPr>
        <p:spPr>
          <a:xfrm>
            <a:off x="8519145" y="5548641"/>
            <a:ext cx="2737266" cy="641623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Interface 5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117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</a:t>
            </a:r>
            <a:r>
              <a:rPr lang="zh-CN" altLang="en-US" dirty="0"/>
              <a:t>包转发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直接交付</a:t>
            </a:r>
            <a:r>
              <a:rPr lang="zh-CN" altLang="en-US" dirty="0"/>
              <a:t>：与目的主机在同一个</a:t>
            </a:r>
            <a:r>
              <a:rPr lang="en-US" dirty="0"/>
              <a:t>IP</a:t>
            </a:r>
            <a:r>
              <a:rPr lang="zh-CN" altLang="en-US" dirty="0"/>
              <a:t>子网内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728587" y="5317138"/>
            <a:ext cx="3144000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地址：	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192.168.1.3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MAC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地址：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00:20:AF:00:00:03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668837" y="5340521"/>
            <a:ext cx="256205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：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192.168.1.1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MAC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：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00:20:AF:00:00:01</a:t>
            </a:r>
          </a:p>
        </p:txBody>
      </p:sp>
      <p:pic>
        <p:nvPicPr>
          <p:cNvPr id="9" name="Picture 45" descr="图片3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578" y="3079898"/>
            <a:ext cx="1153211" cy="466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46"/>
          <p:cNvGrpSpPr>
            <a:grpSpLocks/>
          </p:cNvGrpSpPr>
          <p:nvPr/>
        </p:nvGrpSpPr>
        <p:grpSpPr bwMode="auto">
          <a:xfrm>
            <a:off x="3398647" y="4838007"/>
            <a:ext cx="503537" cy="438834"/>
            <a:chOff x="0" y="1872"/>
            <a:chExt cx="573" cy="518"/>
          </a:xfrm>
        </p:grpSpPr>
        <p:pic>
          <p:nvPicPr>
            <p:cNvPr id="35" name="Picture 4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872"/>
              <a:ext cx="57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Rectangle 48"/>
            <p:cNvSpPr>
              <a:spLocks noChangeArrowheads="1"/>
            </p:cNvSpPr>
            <p:nvPr/>
          </p:nvSpPr>
          <p:spPr bwMode="auto">
            <a:xfrm>
              <a:off x="115" y="1954"/>
              <a:ext cx="266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1431" tIns="30362" rIns="21431" bIns="30362"/>
            <a:lstStyle>
              <a:lvl1pPr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1028700" rtl="0" eaLnBrk="1" fontAlgn="auto" latinLnBrk="0" hangingPunct="1">
                <a:lnSpc>
                  <a:spcPts val="213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endPara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1" name="Group 49"/>
          <p:cNvGrpSpPr>
            <a:grpSpLocks/>
          </p:cNvGrpSpPr>
          <p:nvPr/>
        </p:nvGrpSpPr>
        <p:grpSpPr bwMode="auto">
          <a:xfrm>
            <a:off x="5919509" y="4839390"/>
            <a:ext cx="503536" cy="438835"/>
            <a:chOff x="0" y="1872"/>
            <a:chExt cx="573" cy="518"/>
          </a:xfrm>
        </p:grpSpPr>
        <p:pic>
          <p:nvPicPr>
            <p:cNvPr id="33" name="Picture 5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872"/>
              <a:ext cx="57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Rectangle 51"/>
            <p:cNvSpPr>
              <a:spLocks noChangeArrowheads="1"/>
            </p:cNvSpPr>
            <p:nvPr/>
          </p:nvSpPr>
          <p:spPr bwMode="auto">
            <a:xfrm>
              <a:off x="115" y="1954"/>
              <a:ext cx="266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1431" tIns="30362" rIns="21431" bIns="30362"/>
            <a:lstStyle>
              <a:lvl1pPr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1028700" rtl="0" eaLnBrk="1" fontAlgn="auto" latinLnBrk="0" hangingPunct="1">
                <a:lnSpc>
                  <a:spcPts val="213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endPara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2" name="Group 52"/>
          <p:cNvGrpSpPr>
            <a:grpSpLocks/>
          </p:cNvGrpSpPr>
          <p:nvPr/>
        </p:nvGrpSpPr>
        <p:grpSpPr bwMode="auto">
          <a:xfrm>
            <a:off x="8515027" y="4839390"/>
            <a:ext cx="503536" cy="438835"/>
            <a:chOff x="0" y="1872"/>
            <a:chExt cx="573" cy="518"/>
          </a:xfrm>
        </p:grpSpPr>
        <p:pic>
          <p:nvPicPr>
            <p:cNvPr id="31" name="Picture 5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872"/>
              <a:ext cx="573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Rectangle 54"/>
            <p:cNvSpPr>
              <a:spLocks noChangeArrowheads="1"/>
            </p:cNvSpPr>
            <p:nvPr/>
          </p:nvSpPr>
          <p:spPr bwMode="auto">
            <a:xfrm>
              <a:off x="115" y="1954"/>
              <a:ext cx="266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21431" tIns="30362" rIns="21431" bIns="30362"/>
            <a:lstStyle>
              <a:lvl1pPr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defTabSz="1028700"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defTabSz="10287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514350" algn="l"/>
                  <a:tab pos="1028700" algn="l"/>
                  <a:tab pos="1543050" algn="l"/>
                </a:tabLs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1028700" rtl="0" eaLnBrk="1" fontAlgn="auto" latinLnBrk="0" hangingPunct="1">
                <a:lnSpc>
                  <a:spcPts val="2138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14350" algn="l"/>
                  <a:tab pos="1028700" algn="l"/>
                  <a:tab pos="1543050" algn="l"/>
                </a:tabLst>
                <a:defRPr/>
              </a:pPr>
              <a:endParaRPr kumimoji="0" lang="zh-CN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13" name="Text Box 55"/>
          <p:cNvSpPr txBox="1">
            <a:spLocks noChangeArrowheads="1"/>
          </p:cNvSpPr>
          <p:nvPr/>
        </p:nvSpPr>
        <p:spPr bwMode="auto">
          <a:xfrm>
            <a:off x="5077230" y="5340520"/>
            <a:ext cx="2770336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：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192.168.1.2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MAC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：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00:20:AF:00:00:02</a:t>
            </a:r>
          </a:p>
        </p:txBody>
      </p:sp>
      <p:sp>
        <p:nvSpPr>
          <p:cNvPr id="14" name="Text Box 40"/>
          <p:cNvSpPr txBox="1">
            <a:spLocks noChangeArrowheads="1"/>
          </p:cNvSpPr>
          <p:nvPr/>
        </p:nvSpPr>
        <p:spPr bwMode="auto">
          <a:xfrm>
            <a:off x="3460791" y="4791519"/>
            <a:ext cx="357399" cy="375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A</a:t>
            </a:r>
          </a:p>
        </p:txBody>
      </p:sp>
      <p:sp>
        <p:nvSpPr>
          <p:cNvPr id="15" name="Text Box 56"/>
          <p:cNvSpPr txBox="1">
            <a:spLocks noChangeArrowheads="1"/>
          </p:cNvSpPr>
          <p:nvPr/>
        </p:nvSpPr>
        <p:spPr bwMode="auto">
          <a:xfrm>
            <a:off x="5984430" y="4804669"/>
            <a:ext cx="357400" cy="319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B</a:t>
            </a:r>
          </a:p>
        </p:txBody>
      </p:sp>
      <p:sp>
        <p:nvSpPr>
          <p:cNvPr id="16" name="Text Box 57"/>
          <p:cNvSpPr txBox="1">
            <a:spLocks noChangeArrowheads="1"/>
          </p:cNvSpPr>
          <p:nvPr/>
        </p:nvSpPr>
        <p:spPr bwMode="auto">
          <a:xfrm>
            <a:off x="8560487" y="4794941"/>
            <a:ext cx="357400" cy="319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1" tIns="45716" rIns="91431" bIns="45716">
            <a:spAutoFit/>
          </a:bodyPr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C</a:t>
            </a:r>
          </a:p>
        </p:txBody>
      </p:sp>
      <p:sp>
        <p:nvSpPr>
          <p:cNvPr id="17" name="Line 58"/>
          <p:cNvSpPr>
            <a:spLocks noChangeShapeType="1"/>
          </p:cNvSpPr>
          <p:nvPr/>
        </p:nvSpPr>
        <p:spPr bwMode="auto">
          <a:xfrm flipH="1">
            <a:off x="3759225" y="3520118"/>
            <a:ext cx="2233353" cy="131788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Line 59"/>
          <p:cNvSpPr>
            <a:spLocks noChangeShapeType="1"/>
          </p:cNvSpPr>
          <p:nvPr/>
        </p:nvSpPr>
        <p:spPr bwMode="auto">
          <a:xfrm flipH="1">
            <a:off x="6208606" y="3582412"/>
            <a:ext cx="142960" cy="12555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Line 60"/>
          <p:cNvSpPr>
            <a:spLocks noChangeShapeType="1"/>
          </p:cNvSpPr>
          <p:nvPr/>
        </p:nvSpPr>
        <p:spPr bwMode="auto">
          <a:xfrm>
            <a:off x="7001239" y="3394143"/>
            <a:ext cx="1656748" cy="14438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Text Box 61"/>
          <p:cNvSpPr txBox="1">
            <a:spLocks noChangeArrowheads="1"/>
          </p:cNvSpPr>
          <p:nvPr/>
        </p:nvSpPr>
        <p:spPr bwMode="auto">
          <a:xfrm>
            <a:off x="5122105" y="3268168"/>
            <a:ext cx="941945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Fei_1/1</a:t>
            </a:r>
          </a:p>
        </p:txBody>
      </p:sp>
      <p:sp>
        <p:nvSpPr>
          <p:cNvPr id="21" name="Text Box 62"/>
          <p:cNvSpPr txBox="1">
            <a:spLocks noChangeArrowheads="1"/>
          </p:cNvSpPr>
          <p:nvPr/>
        </p:nvSpPr>
        <p:spPr bwMode="auto">
          <a:xfrm>
            <a:off x="6280077" y="3504890"/>
            <a:ext cx="1008662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Fei_1/2</a:t>
            </a:r>
          </a:p>
        </p:txBody>
      </p:sp>
      <p:sp>
        <p:nvSpPr>
          <p:cNvPr id="22" name="Text Box 63"/>
          <p:cNvSpPr txBox="1">
            <a:spLocks noChangeArrowheads="1"/>
          </p:cNvSpPr>
          <p:nvPr/>
        </p:nvSpPr>
        <p:spPr bwMode="auto">
          <a:xfrm>
            <a:off x="7001230" y="3205873"/>
            <a:ext cx="1168287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Fei_1/3</a:t>
            </a:r>
          </a:p>
        </p:txBody>
      </p:sp>
      <p:sp>
        <p:nvSpPr>
          <p:cNvPr id="23" name="Text Box 64"/>
          <p:cNvSpPr txBox="1">
            <a:spLocks noChangeArrowheads="1"/>
          </p:cNvSpPr>
          <p:nvPr/>
        </p:nvSpPr>
        <p:spPr bwMode="auto">
          <a:xfrm>
            <a:off x="6064049" y="2703359"/>
            <a:ext cx="1224689" cy="340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Switch</a:t>
            </a:r>
          </a:p>
        </p:txBody>
      </p:sp>
      <p:sp>
        <p:nvSpPr>
          <p:cNvPr id="25" name="Rectangle 77"/>
          <p:cNvSpPr>
            <a:spLocks noChangeArrowheads="1"/>
          </p:cNvSpPr>
          <p:nvPr/>
        </p:nvSpPr>
        <p:spPr bwMode="auto">
          <a:xfrm>
            <a:off x="7865341" y="2153569"/>
            <a:ext cx="2689170" cy="1240573"/>
          </a:xfrm>
          <a:prstGeom prst="rect">
            <a:avLst/>
          </a:prstGeom>
          <a:solidFill>
            <a:srgbClr val="E7FFE7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MAC             Port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00:20:af:00:00:01   fei_1/1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1309960" y="2451806"/>
            <a:ext cx="2728400" cy="2709813"/>
            <a:chOff x="1307508" y="2450302"/>
            <a:chExt cx="2728400" cy="2709813"/>
          </a:xfrm>
        </p:grpSpPr>
        <p:grpSp>
          <p:nvGrpSpPr>
            <p:cNvPr id="75" name="组合 74"/>
            <p:cNvGrpSpPr/>
            <p:nvPr/>
          </p:nvGrpSpPr>
          <p:grpSpPr>
            <a:xfrm>
              <a:off x="1307508" y="2450302"/>
              <a:ext cx="2728400" cy="1887680"/>
              <a:chOff x="2281479" y="2631408"/>
              <a:chExt cx="2728400" cy="1887680"/>
            </a:xfrm>
          </p:grpSpPr>
          <p:sp>
            <p:nvSpPr>
              <p:cNvPr id="76" name="Rectangle 28"/>
              <p:cNvSpPr>
                <a:spLocks noChangeArrowheads="1"/>
              </p:cNvSpPr>
              <p:nvPr/>
            </p:nvSpPr>
            <p:spPr bwMode="auto">
              <a:xfrm>
                <a:off x="2281479" y="2972504"/>
                <a:ext cx="2728400" cy="383468"/>
              </a:xfrm>
              <a:prstGeom prst="rect">
                <a:avLst/>
              </a:prstGeom>
              <a:solidFill>
                <a:srgbClr val="E7E7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目的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MAC: </a:t>
                </a:r>
                <a:r>
                  <a:rPr kumimoji="1" lang="en-US" altLang="zh-CN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ff:ff:ff:ff:ff:ff</a:t>
                </a:r>
                <a:endPara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77" name="Rectangle 29"/>
              <p:cNvSpPr>
                <a:spLocks noChangeArrowheads="1"/>
              </p:cNvSpPr>
              <p:nvPr/>
            </p:nvSpPr>
            <p:spPr bwMode="auto">
              <a:xfrm>
                <a:off x="2281479" y="3368684"/>
                <a:ext cx="2728400" cy="383468"/>
              </a:xfrm>
              <a:prstGeom prst="rect">
                <a:avLst/>
              </a:prstGeom>
              <a:solidFill>
                <a:srgbClr val="E7E7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源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MAC:00:20:af:00:00:01 </a:t>
                </a:r>
              </a:p>
            </p:txBody>
          </p:sp>
          <p:sp>
            <p:nvSpPr>
              <p:cNvPr id="78" name="Rectangle 30"/>
              <p:cNvSpPr>
                <a:spLocks noChangeArrowheads="1"/>
              </p:cNvSpPr>
              <p:nvPr/>
            </p:nvSpPr>
            <p:spPr bwMode="auto">
              <a:xfrm>
                <a:off x="2281479" y="3752152"/>
                <a:ext cx="2728392" cy="383468"/>
              </a:xfrm>
              <a:prstGeom prst="rect">
                <a:avLst/>
              </a:prstGeom>
              <a:solidFill>
                <a:srgbClr val="FF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目的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IP: 192.169.1.2 </a:t>
                </a:r>
              </a:p>
            </p:txBody>
          </p:sp>
          <p:sp>
            <p:nvSpPr>
              <p:cNvPr id="79" name="Rectangle 31"/>
              <p:cNvSpPr>
                <a:spLocks noChangeArrowheads="1"/>
              </p:cNvSpPr>
              <p:nvPr/>
            </p:nvSpPr>
            <p:spPr bwMode="auto">
              <a:xfrm>
                <a:off x="2281479" y="4135620"/>
                <a:ext cx="2728392" cy="383468"/>
              </a:xfrm>
              <a:prstGeom prst="rect">
                <a:avLst/>
              </a:prstGeom>
              <a:solidFill>
                <a:srgbClr val="FF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源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IP: 192.169.1.1</a:t>
                </a:r>
              </a:p>
            </p:txBody>
          </p:sp>
          <p:sp>
            <p:nvSpPr>
              <p:cNvPr id="80" name="Text Box 32"/>
              <p:cNvSpPr txBox="1">
                <a:spLocks noChangeArrowheads="1"/>
              </p:cNvSpPr>
              <p:nvPr/>
            </p:nvSpPr>
            <p:spPr bwMode="auto">
              <a:xfrm>
                <a:off x="2438632" y="2631408"/>
                <a:ext cx="2234221" cy="3410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ARP</a:t>
                </a: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请求</a:t>
                </a:r>
              </a:p>
            </p:txBody>
          </p:sp>
        </p:grpSp>
        <p:sp>
          <p:nvSpPr>
            <p:cNvPr id="81" name="Text Box 40"/>
            <p:cNvSpPr txBox="1">
              <a:spLocks noChangeArrowheads="1"/>
            </p:cNvSpPr>
            <p:nvPr/>
          </p:nvSpPr>
          <p:spPr bwMode="auto">
            <a:xfrm>
              <a:off x="3459443" y="4784632"/>
              <a:ext cx="357399" cy="375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A</a:t>
              </a: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1173776" y="2330473"/>
            <a:ext cx="5175008" cy="2843177"/>
            <a:chOff x="1173776" y="2330473"/>
            <a:chExt cx="5175008" cy="2843177"/>
          </a:xfrm>
        </p:grpSpPr>
        <p:grpSp>
          <p:nvGrpSpPr>
            <p:cNvPr id="74" name="组合 73"/>
            <p:cNvGrpSpPr/>
            <p:nvPr/>
          </p:nvGrpSpPr>
          <p:grpSpPr>
            <a:xfrm>
              <a:off x="1173776" y="2330473"/>
              <a:ext cx="2728400" cy="1887680"/>
              <a:chOff x="2281479" y="2631408"/>
              <a:chExt cx="2728400" cy="1887680"/>
            </a:xfrm>
          </p:grpSpPr>
          <p:sp>
            <p:nvSpPr>
              <p:cNvPr id="69" name="Rectangle 28"/>
              <p:cNvSpPr>
                <a:spLocks noChangeArrowheads="1"/>
              </p:cNvSpPr>
              <p:nvPr/>
            </p:nvSpPr>
            <p:spPr bwMode="auto">
              <a:xfrm>
                <a:off x="2281479" y="2972504"/>
                <a:ext cx="2728400" cy="383468"/>
              </a:xfrm>
              <a:prstGeom prst="rect">
                <a:avLst/>
              </a:prstGeom>
              <a:solidFill>
                <a:srgbClr val="E7E7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目的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MAC:00:20:af:00:00:01</a:t>
                </a:r>
              </a:p>
            </p:txBody>
          </p:sp>
          <p:sp>
            <p:nvSpPr>
              <p:cNvPr id="70" name="Rectangle 29"/>
              <p:cNvSpPr>
                <a:spLocks noChangeArrowheads="1"/>
              </p:cNvSpPr>
              <p:nvPr/>
            </p:nvSpPr>
            <p:spPr bwMode="auto">
              <a:xfrm>
                <a:off x="2281479" y="3368684"/>
                <a:ext cx="2728400" cy="383468"/>
              </a:xfrm>
              <a:prstGeom prst="rect">
                <a:avLst/>
              </a:prstGeom>
              <a:solidFill>
                <a:srgbClr val="E7E7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源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MAC:00:20:af:00:00:02 </a:t>
                </a:r>
              </a:p>
            </p:txBody>
          </p:sp>
          <p:sp>
            <p:nvSpPr>
              <p:cNvPr id="71" name="Rectangle 30"/>
              <p:cNvSpPr>
                <a:spLocks noChangeArrowheads="1"/>
              </p:cNvSpPr>
              <p:nvPr/>
            </p:nvSpPr>
            <p:spPr bwMode="auto">
              <a:xfrm>
                <a:off x="2281479" y="3752152"/>
                <a:ext cx="2728392" cy="383468"/>
              </a:xfrm>
              <a:prstGeom prst="rect">
                <a:avLst/>
              </a:prstGeom>
              <a:solidFill>
                <a:srgbClr val="FF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目的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IP: 192.169.1.1</a:t>
                </a:r>
              </a:p>
            </p:txBody>
          </p:sp>
          <p:sp>
            <p:nvSpPr>
              <p:cNvPr id="72" name="Rectangle 31"/>
              <p:cNvSpPr>
                <a:spLocks noChangeArrowheads="1"/>
              </p:cNvSpPr>
              <p:nvPr/>
            </p:nvSpPr>
            <p:spPr bwMode="auto">
              <a:xfrm>
                <a:off x="2281479" y="4135620"/>
                <a:ext cx="2728392" cy="383468"/>
              </a:xfrm>
              <a:prstGeom prst="rect">
                <a:avLst/>
              </a:prstGeom>
              <a:solidFill>
                <a:srgbClr val="FF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源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IP: 192.169.1.2</a:t>
                </a:r>
              </a:p>
            </p:txBody>
          </p:sp>
          <p:sp>
            <p:nvSpPr>
              <p:cNvPr id="73" name="Text Box 32"/>
              <p:cNvSpPr txBox="1">
                <a:spLocks noChangeArrowheads="1"/>
              </p:cNvSpPr>
              <p:nvPr/>
            </p:nvSpPr>
            <p:spPr bwMode="auto">
              <a:xfrm>
                <a:off x="2438632" y="2631408"/>
                <a:ext cx="2234221" cy="3410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ARP</a:t>
                </a: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响应</a:t>
                </a:r>
              </a:p>
            </p:txBody>
          </p:sp>
        </p:grpSp>
        <p:sp>
          <p:nvSpPr>
            <p:cNvPr id="83" name="Text Box 56"/>
            <p:cNvSpPr txBox="1">
              <a:spLocks noChangeArrowheads="1"/>
            </p:cNvSpPr>
            <p:nvPr/>
          </p:nvSpPr>
          <p:spPr bwMode="auto">
            <a:xfrm>
              <a:off x="5991384" y="4804326"/>
              <a:ext cx="357400" cy="369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7865341" y="2159573"/>
            <a:ext cx="2689170" cy="1345317"/>
            <a:chOff x="7865341" y="3440819"/>
            <a:chExt cx="2689170" cy="1345317"/>
          </a:xfrm>
        </p:grpSpPr>
        <p:sp>
          <p:nvSpPr>
            <p:cNvPr id="86" name="Rectangle 33"/>
            <p:cNvSpPr>
              <a:spLocks noChangeArrowheads="1"/>
            </p:cNvSpPr>
            <p:nvPr/>
          </p:nvSpPr>
          <p:spPr bwMode="auto">
            <a:xfrm>
              <a:off x="7865341" y="3440819"/>
              <a:ext cx="2689170" cy="1345317"/>
            </a:xfrm>
            <a:prstGeom prst="rect">
              <a:avLst/>
            </a:prstGeom>
            <a:solidFill>
              <a:srgbClr val="E7FFE7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        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          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MAC             Port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00:20:af:00:00:01   fei_1/1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00:20:af:00:00:02   fei_1/2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87" name="Rectangle 38"/>
            <p:cNvSpPr>
              <a:spLocks noChangeArrowheads="1"/>
            </p:cNvSpPr>
            <p:nvPr/>
          </p:nvSpPr>
          <p:spPr bwMode="auto">
            <a:xfrm>
              <a:off x="7949726" y="3781825"/>
              <a:ext cx="2488053" cy="527536"/>
            </a:xfrm>
            <a:prstGeom prst="rect">
              <a:avLst/>
            </a:prstGeom>
            <a:noFill/>
            <a:ln w="9525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89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5.2.2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97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</a:t>
            </a:r>
            <a:r>
              <a:rPr lang="zh-CN" altLang="en-US" dirty="0"/>
              <a:t>包转发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间接交付</a:t>
            </a:r>
            <a:r>
              <a:rPr lang="zh-CN" altLang="en-US" dirty="0"/>
              <a:t>：与目的主机不在同一个</a:t>
            </a:r>
            <a:r>
              <a:rPr lang="en-US" dirty="0"/>
              <a:t>IP</a:t>
            </a:r>
            <a:r>
              <a:rPr lang="zh-CN" altLang="en-US" dirty="0"/>
              <a:t>子网内</a:t>
            </a:r>
          </a:p>
        </p:txBody>
      </p:sp>
      <p:sp>
        <p:nvSpPr>
          <p:cNvPr id="89" name="日期占位符 9">
            <a:extLst>
              <a:ext uri="{FF2B5EF4-FFF2-40B4-BE49-F238E27FC236}">
                <a16:creationId xmlns:a16="http://schemas.microsoft.com/office/drawing/2014/main" id="{BE8FACEC-799E-DE40-96E7-A30323EC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7335" y="6489303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5.2.2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地址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灯片编号占位符 11">
            <a:extLst>
              <a:ext uri="{FF2B5EF4-FFF2-40B4-BE49-F238E27FC236}">
                <a16:creationId xmlns:a16="http://schemas.microsoft.com/office/drawing/2014/main" id="{550ED307-254A-0A44-A386-B21B3DA0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810" y="6489303"/>
            <a:ext cx="331967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1143009" y="2110356"/>
            <a:ext cx="9635238" cy="4181507"/>
            <a:chOff x="177804" y="1557338"/>
            <a:chExt cx="8966196" cy="4852028"/>
          </a:xfrm>
        </p:grpSpPr>
        <p:sp>
          <p:nvSpPr>
            <p:cNvPr id="50" name="Text Box 34"/>
            <p:cNvSpPr txBox="1">
              <a:spLocks noChangeArrowheads="1"/>
            </p:cNvSpPr>
            <p:nvPr/>
          </p:nvSpPr>
          <p:spPr bwMode="auto">
            <a:xfrm>
              <a:off x="6629400" y="5445125"/>
              <a:ext cx="2514600" cy="964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IP: 10.1.1.9/30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G:  10.1.1.10                        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MAC:00:20:AF:00:00:03</a:t>
              </a:r>
            </a:p>
          </p:txBody>
        </p:sp>
        <p:grpSp>
          <p:nvGrpSpPr>
            <p:cNvPr id="51" name="Group 36"/>
            <p:cNvGrpSpPr>
              <a:grpSpLocks/>
            </p:cNvGrpSpPr>
            <p:nvPr/>
          </p:nvGrpSpPr>
          <p:grpSpPr bwMode="auto">
            <a:xfrm>
              <a:off x="1908175" y="4868863"/>
              <a:ext cx="503238" cy="503237"/>
              <a:chOff x="0" y="1872"/>
              <a:chExt cx="573" cy="518"/>
            </a:xfrm>
          </p:grpSpPr>
          <p:pic>
            <p:nvPicPr>
              <p:cNvPr id="95" name="Picture 37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1872"/>
                <a:ext cx="573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6" name="Rectangle 38"/>
              <p:cNvSpPr>
                <a:spLocks noChangeArrowheads="1"/>
              </p:cNvSpPr>
              <p:nvPr/>
            </p:nvSpPr>
            <p:spPr bwMode="auto">
              <a:xfrm>
                <a:off x="115" y="1954"/>
                <a:ext cx="26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1431" tIns="30362" rIns="21431" bIns="30362"/>
              <a:lstStyle>
                <a:lvl1pPr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1028700" rtl="0" eaLnBrk="1" fontAlgn="auto" latinLnBrk="0" hangingPunct="1">
                  <a:lnSpc>
                    <a:spcPts val="2138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14350" algn="l"/>
                    <a:tab pos="1028700" algn="l"/>
                    <a:tab pos="1543050" algn="l"/>
                  </a:tabLst>
                  <a:defRPr/>
                </a:pPr>
                <a:endParaRPr kumimoji="0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52" name="Group 39"/>
            <p:cNvGrpSpPr>
              <a:grpSpLocks/>
            </p:cNvGrpSpPr>
            <p:nvPr/>
          </p:nvGrpSpPr>
          <p:grpSpPr bwMode="auto">
            <a:xfrm>
              <a:off x="4427538" y="4870450"/>
              <a:ext cx="503237" cy="503238"/>
              <a:chOff x="0" y="1872"/>
              <a:chExt cx="573" cy="518"/>
            </a:xfrm>
          </p:grpSpPr>
          <p:pic>
            <p:nvPicPr>
              <p:cNvPr id="93" name="Picture 40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1872"/>
                <a:ext cx="573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4" name="Rectangle 41"/>
              <p:cNvSpPr>
                <a:spLocks noChangeArrowheads="1"/>
              </p:cNvSpPr>
              <p:nvPr/>
            </p:nvSpPr>
            <p:spPr bwMode="auto">
              <a:xfrm>
                <a:off x="115" y="1954"/>
                <a:ext cx="26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1431" tIns="30362" rIns="21431" bIns="30362"/>
              <a:lstStyle>
                <a:lvl1pPr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1028700" rtl="0" eaLnBrk="1" fontAlgn="auto" latinLnBrk="0" hangingPunct="1">
                  <a:lnSpc>
                    <a:spcPts val="2138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14350" algn="l"/>
                    <a:tab pos="1028700" algn="l"/>
                    <a:tab pos="1543050" algn="l"/>
                  </a:tabLst>
                  <a:defRPr/>
                </a:pPr>
                <a:endParaRPr kumimoji="0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53" name="Group 42"/>
            <p:cNvGrpSpPr>
              <a:grpSpLocks/>
            </p:cNvGrpSpPr>
            <p:nvPr/>
          </p:nvGrpSpPr>
          <p:grpSpPr bwMode="auto">
            <a:xfrm>
              <a:off x="7021513" y="4870450"/>
              <a:ext cx="503237" cy="503238"/>
              <a:chOff x="0" y="1872"/>
              <a:chExt cx="573" cy="518"/>
            </a:xfrm>
          </p:grpSpPr>
          <p:pic>
            <p:nvPicPr>
              <p:cNvPr id="91" name="Picture 43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1872"/>
                <a:ext cx="573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" name="Rectangle 44"/>
              <p:cNvSpPr>
                <a:spLocks noChangeArrowheads="1"/>
              </p:cNvSpPr>
              <p:nvPr/>
            </p:nvSpPr>
            <p:spPr bwMode="auto">
              <a:xfrm>
                <a:off x="115" y="1954"/>
                <a:ext cx="266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21431" tIns="30362" rIns="21431" bIns="30362"/>
              <a:lstStyle>
                <a:lvl1pPr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defTabSz="1028700"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defTabSz="10287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514350" algn="l"/>
                    <a:tab pos="1028700" algn="l"/>
                    <a:tab pos="1543050" algn="l"/>
                  </a:tabLs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1028700" rtl="0" eaLnBrk="1" fontAlgn="auto" latinLnBrk="0" hangingPunct="1">
                  <a:lnSpc>
                    <a:spcPts val="2138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14350" algn="l"/>
                    <a:tab pos="1028700" algn="l"/>
                    <a:tab pos="1543050" algn="l"/>
                  </a:tabLst>
                  <a:defRPr/>
                </a:pPr>
                <a:endParaRPr kumimoji="0" lang="zh-CN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54" name="Text Box 45"/>
            <p:cNvSpPr txBox="1">
              <a:spLocks noChangeArrowheads="1"/>
            </p:cNvSpPr>
            <p:nvPr/>
          </p:nvSpPr>
          <p:spPr bwMode="auto">
            <a:xfrm>
              <a:off x="4002088" y="5445125"/>
              <a:ext cx="2514600" cy="964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IP:10.1.1.5/30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G: 10.1.1.6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MAC:00:20:AF:00:00:02</a:t>
              </a:r>
            </a:p>
          </p:txBody>
        </p:sp>
        <p:sp>
          <p:nvSpPr>
            <p:cNvPr id="55" name="Text Box 46"/>
            <p:cNvSpPr txBox="1">
              <a:spLocks noChangeArrowheads="1"/>
            </p:cNvSpPr>
            <p:nvPr/>
          </p:nvSpPr>
          <p:spPr bwMode="auto">
            <a:xfrm>
              <a:off x="1960157" y="4823711"/>
              <a:ext cx="357187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A</a:t>
              </a:r>
            </a:p>
          </p:txBody>
        </p:sp>
        <p:sp>
          <p:nvSpPr>
            <p:cNvPr id="56" name="Text Box 47"/>
            <p:cNvSpPr txBox="1">
              <a:spLocks noChangeArrowheads="1"/>
            </p:cNvSpPr>
            <p:nvPr/>
          </p:nvSpPr>
          <p:spPr bwMode="auto">
            <a:xfrm>
              <a:off x="4502150" y="4830236"/>
              <a:ext cx="35718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B</a:t>
              </a:r>
            </a:p>
          </p:txBody>
        </p:sp>
        <p:sp>
          <p:nvSpPr>
            <p:cNvPr id="57" name="Text Box 48"/>
            <p:cNvSpPr txBox="1">
              <a:spLocks noChangeArrowheads="1"/>
            </p:cNvSpPr>
            <p:nvPr/>
          </p:nvSpPr>
          <p:spPr bwMode="auto">
            <a:xfrm>
              <a:off x="7096125" y="4830236"/>
              <a:ext cx="357188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C</a:t>
              </a:r>
            </a:p>
          </p:txBody>
        </p:sp>
        <p:sp>
          <p:nvSpPr>
            <p:cNvPr id="58" name="Line 49"/>
            <p:cNvSpPr>
              <a:spLocks noChangeShapeType="1"/>
            </p:cNvSpPr>
            <p:nvPr/>
          </p:nvSpPr>
          <p:spPr bwMode="auto">
            <a:xfrm flipH="1">
              <a:off x="2268538" y="3357563"/>
              <a:ext cx="2232025" cy="1511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Line 50"/>
            <p:cNvSpPr>
              <a:spLocks noChangeShapeType="1"/>
            </p:cNvSpPr>
            <p:nvPr/>
          </p:nvSpPr>
          <p:spPr bwMode="auto">
            <a:xfrm flipH="1">
              <a:off x="4716463" y="3429000"/>
              <a:ext cx="142875" cy="14398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Line 51"/>
            <p:cNvSpPr>
              <a:spLocks noChangeShapeType="1"/>
            </p:cNvSpPr>
            <p:nvPr/>
          </p:nvSpPr>
          <p:spPr bwMode="auto">
            <a:xfrm>
              <a:off x="5508625" y="3213100"/>
              <a:ext cx="1655763" cy="1655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Text Box 55"/>
            <p:cNvSpPr txBox="1">
              <a:spLocks noChangeArrowheads="1"/>
            </p:cNvSpPr>
            <p:nvPr/>
          </p:nvSpPr>
          <p:spPr bwMode="auto">
            <a:xfrm>
              <a:off x="4356100" y="2276475"/>
              <a:ext cx="1223963" cy="395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Router</a:t>
              </a:r>
            </a:p>
          </p:txBody>
        </p:sp>
        <p:pic>
          <p:nvPicPr>
            <p:cNvPr id="62" name="Picture 56" descr="图片3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0563" y="2708275"/>
              <a:ext cx="935037" cy="712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Text Box 57"/>
            <p:cNvSpPr txBox="1">
              <a:spLocks noChangeArrowheads="1"/>
            </p:cNvSpPr>
            <p:nvPr/>
          </p:nvSpPr>
          <p:spPr bwMode="auto">
            <a:xfrm>
              <a:off x="1552575" y="5432425"/>
              <a:ext cx="2514600" cy="964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IP: 10.1.1.1/30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G: 10.1.1.2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MAC:00:20:AF:00:00:01</a:t>
              </a:r>
            </a:p>
          </p:txBody>
        </p:sp>
        <p:sp>
          <p:nvSpPr>
            <p:cNvPr id="65" name="Text Box 62"/>
            <p:cNvSpPr txBox="1">
              <a:spLocks noChangeArrowheads="1"/>
            </p:cNvSpPr>
            <p:nvPr/>
          </p:nvSpPr>
          <p:spPr bwMode="auto">
            <a:xfrm>
              <a:off x="4787900" y="3500438"/>
              <a:ext cx="2514600" cy="678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fei_1/2:10.1.1.6/30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MAC:00:20:AF:00:00:05</a:t>
              </a:r>
            </a:p>
          </p:txBody>
        </p:sp>
        <p:sp>
          <p:nvSpPr>
            <p:cNvPr id="66" name="Text Box 63"/>
            <p:cNvSpPr txBox="1">
              <a:spLocks noChangeArrowheads="1"/>
            </p:cNvSpPr>
            <p:nvPr/>
          </p:nvSpPr>
          <p:spPr bwMode="auto">
            <a:xfrm>
              <a:off x="5508625" y="2750463"/>
              <a:ext cx="2514600" cy="678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fei_1/3:10.1.1.10/30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MAC:00:20:AF:00:00:06</a:t>
              </a:r>
            </a:p>
          </p:txBody>
        </p:sp>
        <p:grpSp>
          <p:nvGrpSpPr>
            <p:cNvPr id="67" name="Group 64"/>
            <p:cNvGrpSpPr>
              <a:grpSpLocks/>
            </p:cNvGrpSpPr>
            <p:nvPr/>
          </p:nvGrpSpPr>
          <p:grpSpPr bwMode="auto">
            <a:xfrm>
              <a:off x="177804" y="1917702"/>
              <a:ext cx="2557463" cy="1870080"/>
              <a:chOff x="112" y="437"/>
              <a:chExt cx="1611" cy="1178"/>
            </a:xfrm>
          </p:grpSpPr>
          <p:sp>
            <p:nvSpPr>
              <p:cNvPr id="75" name="Rectangle 65"/>
              <p:cNvSpPr>
                <a:spLocks noChangeArrowheads="1"/>
              </p:cNvSpPr>
              <p:nvPr/>
            </p:nvSpPr>
            <p:spPr bwMode="auto">
              <a:xfrm>
                <a:off x="132" y="437"/>
                <a:ext cx="1591" cy="181"/>
              </a:xfrm>
              <a:prstGeom prst="rect">
                <a:avLst/>
              </a:prstGeom>
              <a:solidFill>
                <a:srgbClr val="E7E7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目的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MAC:00:20:af:00:00:04</a:t>
                </a:r>
              </a:p>
            </p:txBody>
          </p:sp>
          <p:sp>
            <p:nvSpPr>
              <p:cNvPr id="82" name="Rectangle 66"/>
              <p:cNvSpPr>
                <a:spLocks noChangeArrowheads="1"/>
              </p:cNvSpPr>
              <p:nvPr/>
            </p:nvSpPr>
            <p:spPr bwMode="auto">
              <a:xfrm>
                <a:off x="132" y="618"/>
                <a:ext cx="1591" cy="181"/>
              </a:xfrm>
              <a:prstGeom prst="rect">
                <a:avLst/>
              </a:prstGeom>
              <a:solidFill>
                <a:srgbClr val="E7E7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源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MAC:00:20:af:00:00:01 </a:t>
                </a:r>
              </a:p>
            </p:txBody>
          </p:sp>
          <p:sp>
            <p:nvSpPr>
              <p:cNvPr id="84" name="Rectangle 67"/>
              <p:cNvSpPr>
                <a:spLocks noChangeArrowheads="1"/>
              </p:cNvSpPr>
              <p:nvPr/>
            </p:nvSpPr>
            <p:spPr bwMode="auto">
              <a:xfrm>
                <a:off x="132" y="799"/>
                <a:ext cx="1591" cy="181"/>
              </a:xfrm>
              <a:prstGeom prst="rect">
                <a:avLst/>
              </a:prstGeom>
              <a:solidFill>
                <a:srgbClr val="FF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目的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IP: 10.1.1.5 </a:t>
                </a:r>
              </a:p>
            </p:txBody>
          </p:sp>
          <p:sp>
            <p:nvSpPr>
              <p:cNvPr id="85" name="Rectangle 68"/>
              <p:cNvSpPr>
                <a:spLocks noChangeArrowheads="1"/>
              </p:cNvSpPr>
              <p:nvPr/>
            </p:nvSpPr>
            <p:spPr bwMode="auto">
              <a:xfrm>
                <a:off x="132" y="980"/>
                <a:ext cx="1591" cy="181"/>
              </a:xfrm>
              <a:prstGeom prst="rect">
                <a:avLst/>
              </a:prstGeom>
              <a:solidFill>
                <a:srgbClr val="FFFFCC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源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IP: 10.1.1.1</a:t>
                </a:r>
              </a:p>
            </p:txBody>
          </p:sp>
          <p:sp>
            <p:nvSpPr>
              <p:cNvPr id="88" name="Text Box 69"/>
              <p:cNvSpPr txBox="1">
                <a:spLocks noChangeArrowheads="1"/>
              </p:cNvSpPr>
              <p:nvPr/>
            </p:nvSpPr>
            <p:spPr bwMode="auto">
              <a:xfrm>
                <a:off x="112" y="1423"/>
                <a:ext cx="11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68" name="Rectangle 71"/>
            <p:cNvSpPr>
              <a:spLocks noChangeArrowheads="1"/>
            </p:cNvSpPr>
            <p:nvPr/>
          </p:nvSpPr>
          <p:spPr bwMode="auto">
            <a:xfrm>
              <a:off x="5580062" y="1557338"/>
              <a:ext cx="3563937" cy="1222379"/>
            </a:xfrm>
            <a:prstGeom prst="rect">
              <a:avLst/>
            </a:prstGeom>
            <a:solidFill>
              <a:srgbClr val="E7FFE7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itchFamily="18" charset="0"/>
                  <a:ea typeface="宋体" pitchFamily="2" charset="-122"/>
                  <a:cs typeface="+mn-cs"/>
                </a:rPr>
                <a:t>         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Dest</a:t>
              </a: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              network          interface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10.1.1.0  255.255.255.252  fei_1/1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10.1.1.4  255.255.255.252  fei_1/2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10.1.1.8  255.255.255.252  fei_1/3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64" name="Text Box 61"/>
            <p:cNvSpPr txBox="1">
              <a:spLocks noChangeArrowheads="1"/>
            </p:cNvSpPr>
            <p:nvPr/>
          </p:nvSpPr>
          <p:spPr bwMode="auto">
            <a:xfrm>
              <a:off x="2201863" y="3357563"/>
              <a:ext cx="2514600" cy="678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31" tIns="45716" rIns="91431" bIns="45716">
              <a:spAutoFit/>
            </a:bodyPr>
            <a:lstStyle>
              <a:lvl1pPr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fei_1/1:10.1.1.2/30</a:t>
              </a:r>
            </a:p>
            <a:p>
              <a:pPr marL="0" marR="0" lvl="0" indent="0" algn="ju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MAC:00:20:AF:00:00:04</a:t>
              </a:r>
            </a:p>
          </p:txBody>
        </p:sp>
      </p:grpSp>
      <p:sp>
        <p:nvSpPr>
          <p:cNvPr id="97" name="矩形 96"/>
          <p:cNvSpPr/>
          <p:nvPr/>
        </p:nvSpPr>
        <p:spPr>
          <a:xfrm>
            <a:off x="6987287" y="2610182"/>
            <a:ext cx="3547770" cy="247630"/>
          </a:xfrm>
          <a:prstGeom prst="rect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23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IPv4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地址如何获取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公有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地址要求全球唯一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 ICANN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Internet Corporation for Assigned Names and Numbers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）即互联网名字与编号分配机构向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ISP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分配，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ISP</a:t>
            </a:r>
            <a:r>
              <a:rPr lang="zh-CN" altLang="en-US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再向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所属机构</a:t>
            </a:r>
            <a:r>
              <a:rPr lang="zh-CN" altLang="en-US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或组织逐级分配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静态设定</a:t>
            </a:r>
            <a:endParaRPr lang="en-US" altLang="zh-CN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申请固定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地址，手工设定，如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路由器、服务器</a:t>
            </a:r>
            <a:endParaRPr lang="en-US" altLang="zh-CN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动态获取</a:t>
            </a:r>
            <a:endParaRPr lang="en-US" altLang="zh-CN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DHCP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协议或其他动态配置协议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当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主机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加入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网络，允许主机从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DHCP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服务器动态获取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可以有效利用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地址，方便移动主机的地址获取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5.2.3 DHCP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42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动态主机配置协议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2604043"/>
          </a:xfrm>
        </p:spPr>
        <p:txBody>
          <a:bodyPr>
            <a:normAutofit lnSpcReduction="10000"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en-US" altLang="zh-CN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：动态主机配置协议</a:t>
            </a:r>
            <a:endParaRPr lang="en-US" altLang="zh-CN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当主机加入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网络，允许主机从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DHCP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服务器动态获取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可以有效利用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地址，方便移动主机的地址获取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228600" lvl="1" eaLnBrk="0" hangingPunct="0">
              <a:lnSpc>
                <a:spcPct val="120000"/>
              </a:lnSpc>
              <a:buFont typeface="Wingdings" pitchFamily="2" charset="2"/>
              <a:buChar char="Ø"/>
              <a:defRPr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工作模式</a:t>
            </a:r>
            <a:r>
              <a:rPr lang="zh-CN" altLang="en-US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：客服</a:t>
            </a: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服务器模式（</a:t>
            </a:r>
            <a:r>
              <a:rPr lang="en-US" altLang="zh-CN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C/S </a:t>
            </a:r>
            <a:r>
              <a:rPr lang="zh-CN" altLang="en-US" sz="28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8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基于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UDP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工作，服务器运行在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67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号端口，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客户端运行在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68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号端口</a:t>
            </a:r>
          </a:p>
          <a:p>
            <a:pPr marL="457200" lvl="2" indent="0" eaLnBrk="0" hangingPunct="0">
              <a:lnSpc>
                <a:spcPct val="120000"/>
              </a:lnSpc>
              <a:buClr>
                <a:srgbClr val="0070C0"/>
              </a:buClr>
              <a:buNone/>
              <a:defRPr/>
            </a:pPr>
            <a:endParaRPr lang="zh-CN" altLang="en-US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862667" y="4114801"/>
            <a:ext cx="7730066" cy="2099732"/>
            <a:chOff x="1996962" y="2450061"/>
            <a:chExt cx="4918841" cy="1475407"/>
          </a:xfrm>
        </p:grpSpPr>
        <p:sp>
          <p:nvSpPr>
            <p:cNvPr id="6" name="矩形 5"/>
            <p:cNvSpPr/>
            <p:nvPr/>
          </p:nvSpPr>
          <p:spPr>
            <a:xfrm>
              <a:off x="1996962" y="2606571"/>
              <a:ext cx="998486" cy="2522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DHCP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客户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5917317" y="2606571"/>
              <a:ext cx="998486" cy="25224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DHCP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服务器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5496907" y="2680141"/>
              <a:ext cx="420410" cy="126122"/>
            </a:xfrm>
            <a:prstGeom prst="rect">
              <a:avLst/>
            </a:prstGeom>
            <a:solidFill>
              <a:srgbClr val="00CCF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67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996962" y="3137195"/>
              <a:ext cx="998486" cy="2522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DHCP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客户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5917317" y="3137195"/>
              <a:ext cx="998486" cy="25224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DHCP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服务器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5496907" y="3210765"/>
              <a:ext cx="420410" cy="126122"/>
            </a:xfrm>
            <a:prstGeom prst="rect">
              <a:avLst/>
            </a:prstGeom>
            <a:solidFill>
              <a:srgbClr val="00CCF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67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2991405" y="3210765"/>
              <a:ext cx="420410" cy="126122"/>
            </a:xfrm>
            <a:prstGeom prst="rect">
              <a:avLst/>
            </a:prstGeom>
            <a:solidFill>
              <a:srgbClr val="66FF66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68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996962" y="3673224"/>
              <a:ext cx="998486" cy="2522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DHCP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客户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5917317" y="3673224"/>
              <a:ext cx="998486" cy="252244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DHCP 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服务器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5496907" y="3746794"/>
              <a:ext cx="420410" cy="126122"/>
            </a:xfrm>
            <a:prstGeom prst="rect">
              <a:avLst/>
            </a:prstGeom>
            <a:solidFill>
              <a:srgbClr val="00CCFF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67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2991405" y="3746794"/>
              <a:ext cx="420410" cy="126122"/>
            </a:xfrm>
            <a:prstGeom prst="rect">
              <a:avLst/>
            </a:prstGeom>
            <a:solidFill>
              <a:srgbClr val="66FF66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68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cxnSp>
          <p:nvCxnSpPr>
            <p:cNvPr id="17" name="直接箭头连接符 16"/>
            <p:cNvCxnSpPr>
              <a:stCxn id="12" idx="3"/>
              <a:endCxn id="11" idx="1"/>
            </p:cNvCxnSpPr>
            <p:nvPr/>
          </p:nvCxnSpPr>
          <p:spPr>
            <a:xfrm>
              <a:off x="3411815" y="3273826"/>
              <a:ext cx="208509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3926822" y="3179235"/>
              <a:ext cx="1032035" cy="178674"/>
            </a:xfrm>
            <a:prstGeom prst="rect">
              <a:avLst/>
            </a:prstGeom>
            <a:solidFill>
              <a:srgbClr val="00FF99"/>
            </a:solidFill>
            <a:ln/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请求</a:t>
              </a:r>
            </a:p>
          </p:txBody>
        </p:sp>
        <p:cxnSp>
          <p:nvCxnSpPr>
            <p:cNvPr id="19" name="直接箭头连接符 18"/>
            <p:cNvCxnSpPr>
              <a:stCxn id="15" idx="1"/>
              <a:endCxn id="16" idx="3"/>
            </p:cNvCxnSpPr>
            <p:nvPr/>
          </p:nvCxnSpPr>
          <p:spPr>
            <a:xfrm flipH="1">
              <a:off x="3411815" y="3809855"/>
              <a:ext cx="2085092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 flipH="1">
              <a:off x="3926822" y="3715264"/>
              <a:ext cx="1032035" cy="178674"/>
            </a:xfrm>
            <a:prstGeom prst="rect">
              <a:avLst/>
            </a:prstGeom>
            <a:solidFill>
              <a:srgbClr val="66FFFF"/>
            </a:solidFill>
            <a:ln/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应答</a:t>
              </a:r>
            </a:p>
          </p:txBody>
        </p:sp>
        <p:sp>
          <p:nvSpPr>
            <p:cNvPr id="21" name="矩形 20"/>
            <p:cNvSpPr/>
            <p:nvPr/>
          </p:nvSpPr>
          <p:spPr>
            <a:xfrm>
              <a:off x="5231438" y="2450061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被动打开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5357557" y="2786820"/>
              <a:ext cx="622805" cy="2616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  <a:endPara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938855" y="2917625"/>
              <a:ext cx="748923" cy="2616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主动打开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2915675" y="3336887"/>
              <a:ext cx="661910" cy="26161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  <a:endPara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sp>
        <p:nvSpPr>
          <p:cNvPr id="26" name="日期占位符 2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5.2.3 DHCP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268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工作过程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50" name="Text Box 7">
            <a:extLst>
              <a:ext uri="{FF2B5EF4-FFF2-40B4-BE49-F238E27FC236}">
                <a16:creationId xmlns:a16="http://schemas.microsoft.com/office/drawing/2014/main" id="{9848C615-D54C-4988-AE59-F93BA8E03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928" y="1626565"/>
            <a:ext cx="149660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DHCP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服务器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: 223.1.2.5/24</a:t>
            </a:r>
          </a:p>
        </p:txBody>
      </p:sp>
      <p:sp>
        <p:nvSpPr>
          <p:cNvPr id="151" name="Text Box 8">
            <a:extLst>
              <a:ext uri="{FF2B5EF4-FFF2-40B4-BE49-F238E27FC236}">
                <a16:creationId xmlns:a16="http://schemas.microsoft.com/office/drawing/2014/main" id="{3F5D3525-3AF3-42B1-806B-793DF6E61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218" y="2324233"/>
            <a:ext cx="800219" cy="510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到达的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客户机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52" name="Line 10">
            <a:extLst>
              <a:ext uri="{FF2B5EF4-FFF2-40B4-BE49-F238E27FC236}">
                <a16:creationId xmlns:a16="http://schemas.microsoft.com/office/drawing/2014/main" id="{97A1366A-7520-4EAF-986C-FE0DCD4533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66247" y="2163764"/>
            <a:ext cx="18480" cy="4276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3" name="Line 11">
            <a:extLst>
              <a:ext uri="{FF2B5EF4-FFF2-40B4-BE49-F238E27FC236}">
                <a16:creationId xmlns:a16="http://schemas.microsoft.com/office/drawing/2014/main" id="{FC266A6D-EE9A-47A3-BD4B-4BDB3D8128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04527" y="2239963"/>
            <a:ext cx="14816" cy="414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54" name="Group 5">
            <a:extLst>
              <a:ext uri="{FF2B5EF4-FFF2-40B4-BE49-F238E27FC236}">
                <a16:creationId xmlns:a16="http://schemas.microsoft.com/office/drawing/2014/main" id="{0CE651CB-5A02-4AAB-8578-979EFA9E2393}"/>
              </a:ext>
            </a:extLst>
          </p:cNvPr>
          <p:cNvGrpSpPr>
            <a:grpSpLocks/>
          </p:cNvGrpSpPr>
          <p:nvPr/>
        </p:nvGrpSpPr>
        <p:grpSpPr bwMode="auto">
          <a:xfrm>
            <a:off x="1929176" y="1343026"/>
            <a:ext cx="5861051" cy="1401763"/>
            <a:chOff x="1860550" y="1343025"/>
            <a:chExt cx="4395788" cy="1401763"/>
          </a:xfrm>
        </p:grpSpPr>
        <p:sp>
          <p:nvSpPr>
            <p:cNvPr id="155" name="Line 9">
              <a:extLst>
                <a:ext uri="{FF2B5EF4-FFF2-40B4-BE49-F238E27FC236}">
                  <a16:creationId xmlns:a16="http://schemas.microsoft.com/office/drawing/2014/main" id="{DA76A483-639B-4366-8B77-2279F1F56C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0550" y="2208213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56" name="Group 23">
              <a:extLst>
                <a:ext uri="{FF2B5EF4-FFF2-40B4-BE49-F238E27FC236}">
                  <a16:creationId xmlns:a16="http://schemas.microsoft.com/office/drawing/2014/main" id="{6349C2EE-AF73-44C5-872C-973C3958A4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157" name="Text Box 24">
                <a:extLst>
                  <a:ext uri="{FF2B5EF4-FFF2-40B4-BE49-F238E27FC236}">
                    <a16:creationId xmlns:a16="http://schemas.microsoft.com/office/drawing/2014/main" id="{F681FC1D-961F-44A6-8107-DFC09DDDC3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rPr>
                  <a:t>DHCP discover</a:t>
                </a:r>
                <a:endPara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8" name="Text Box 25">
                <a:extLst>
                  <a:ext uri="{FF2B5EF4-FFF2-40B4-BE49-F238E27FC236}">
                    <a16:creationId xmlns:a16="http://schemas.microsoft.com/office/drawing/2014/main" id="{BEEBCC01-89CB-4370-B40D-600C6D7904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rPr>
                  <a:t>src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rPr>
                  <a:t> : 0.0.0.0, 68    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rPr>
                  <a:t>dest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rPr>
                  <a:t>.: 255.255.255.255,67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rPr>
                  <a:t>yiaddr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rPr>
                  <a:t>:    0.0.0.0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S PGothic" panose="020B0600070205080204" pitchFamily="34" charset="-128"/>
                    <a:cs typeface="+mn-cs"/>
                  </a:rPr>
                  <a:t>transaction ID: 654</a:t>
                </a:r>
                <a:endPara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702030302020204" pitchFamily="66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159" name="Line 26">
            <a:extLst>
              <a:ext uri="{FF2B5EF4-FFF2-40B4-BE49-F238E27FC236}">
                <a16:creationId xmlns:a16="http://schemas.microsoft.com/office/drawing/2014/main" id="{B8AC32AC-C3F3-421B-B7C0-AF6A304147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6328" y="3194051"/>
            <a:ext cx="5861049" cy="538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0" name="Group 6">
            <a:extLst>
              <a:ext uri="{FF2B5EF4-FFF2-40B4-BE49-F238E27FC236}">
                <a16:creationId xmlns:a16="http://schemas.microsoft.com/office/drawing/2014/main" id="{0BFE06C1-DCC5-44E8-8543-79E25BAA17AB}"/>
              </a:ext>
            </a:extLst>
          </p:cNvPr>
          <p:cNvGrpSpPr>
            <a:grpSpLocks/>
          </p:cNvGrpSpPr>
          <p:nvPr/>
        </p:nvGrpSpPr>
        <p:grpSpPr bwMode="auto">
          <a:xfrm>
            <a:off x="4198243" y="2579688"/>
            <a:ext cx="3361267" cy="1217612"/>
            <a:chOff x="3562350" y="2579688"/>
            <a:chExt cx="2520950" cy="1217612"/>
          </a:xfrm>
        </p:grpSpPr>
        <p:sp>
          <p:nvSpPr>
            <p:cNvPr id="161" name="Text Box 27">
              <a:extLst>
                <a:ext uri="{FF2B5EF4-FFF2-40B4-BE49-F238E27FC236}">
                  <a16:creationId xmlns:a16="http://schemas.microsoft.com/office/drawing/2014/main" id="{2ECDBBF6-5606-4E24-A537-CA6839C8B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DHCP offer</a:t>
              </a:r>
              <a:endPara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2" name="Text Box 28">
              <a:extLst>
                <a:ext uri="{FF2B5EF4-FFF2-40B4-BE49-F238E27FC236}">
                  <a16:creationId xmlns:a16="http://schemas.microsoft.com/office/drawing/2014/main" id="{5ADFFB82-F7F5-4A4E-9655-EC28C30CC3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src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: 223.1.2.5, 67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dest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:  255.255.255.255, 68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yiaddrr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: 223.1.2.4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transaction ID: 654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lifetime: 3600 secs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163" name="Line 29">
            <a:extLst>
              <a:ext uri="{FF2B5EF4-FFF2-40B4-BE49-F238E27FC236}">
                <a16:creationId xmlns:a16="http://schemas.microsoft.com/office/drawing/2014/main" id="{74686320-E368-4490-9322-29275EF25B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42394" y="4422776"/>
            <a:ext cx="5861049" cy="536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4" name="Group 7">
            <a:extLst>
              <a:ext uri="{FF2B5EF4-FFF2-40B4-BE49-F238E27FC236}">
                <a16:creationId xmlns:a16="http://schemas.microsoft.com/office/drawing/2014/main" id="{20E78489-9117-4870-92A3-D33CCFBFB988}"/>
              </a:ext>
            </a:extLst>
          </p:cNvPr>
          <p:cNvGrpSpPr>
            <a:grpSpLocks/>
          </p:cNvGrpSpPr>
          <p:nvPr/>
        </p:nvGrpSpPr>
        <p:grpSpPr bwMode="auto">
          <a:xfrm>
            <a:off x="2070993" y="3765551"/>
            <a:ext cx="3850216" cy="1260475"/>
            <a:chOff x="1966913" y="3765550"/>
            <a:chExt cx="2887662" cy="1260475"/>
          </a:xfrm>
        </p:grpSpPr>
        <p:sp>
          <p:nvSpPr>
            <p:cNvPr id="165" name="Text Box 30">
              <a:extLst>
                <a:ext uri="{FF2B5EF4-FFF2-40B4-BE49-F238E27FC236}">
                  <a16:creationId xmlns:a16="http://schemas.microsoft.com/office/drawing/2014/main" id="{4DEC45E6-6738-4206-A08D-89C735585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DHCP request</a:t>
              </a:r>
              <a:endPara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6" name="Text Box 31">
              <a:extLst>
                <a:ext uri="{FF2B5EF4-FFF2-40B4-BE49-F238E27FC236}">
                  <a16:creationId xmlns:a16="http://schemas.microsoft.com/office/drawing/2014/main" id="{E28F1BDC-47B0-4614-B24C-34684564D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src:  0.0.0.0, 68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dest::  255.255.255.255, 67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yiaddrr: 223.1.2.4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transaction ID: 655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lifetime: 3600 secs</a:t>
              </a:r>
              <a:endPara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167" name="Line 32">
            <a:extLst>
              <a:ext uri="{FF2B5EF4-FFF2-40B4-BE49-F238E27FC236}">
                <a16:creationId xmlns:a16="http://schemas.microsoft.com/office/drawing/2014/main" id="{974159A6-967F-40C3-BF08-88FA2B9B8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6694" y="5453063"/>
            <a:ext cx="5861049" cy="5381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68" name="Group 8">
            <a:extLst>
              <a:ext uri="{FF2B5EF4-FFF2-40B4-BE49-F238E27FC236}">
                <a16:creationId xmlns:a16="http://schemas.microsoft.com/office/drawing/2014/main" id="{6C47207D-7C19-4A6A-B48D-95C5D6074CDF}"/>
              </a:ext>
            </a:extLst>
          </p:cNvPr>
          <p:cNvGrpSpPr>
            <a:grpSpLocks/>
          </p:cNvGrpSpPr>
          <p:nvPr/>
        </p:nvGrpSpPr>
        <p:grpSpPr bwMode="auto">
          <a:xfrm>
            <a:off x="4141094" y="5168900"/>
            <a:ext cx="3346449" cy="1271588"/>
            <a:chOff x="3519488" y="5168900"/>
            <a:chExt cx="2509837" cy="1271588"/>
          </a:xfrm>
        </p:grpSpPr>
        <p:sp>
          <p:nvSpPr>
            <p:cNvPr id="169" name="Text Box 33">
              <a:extLst>
                <a:ext uri="{FF2B5EF4-FFF2-40B4-BE49-F238E27FC236}">
                  <a16:creationId xmlns:a16="http://schemas.microsoft.com/office/drawing/2014/main" id="{B290C8D7-1C55-46F3-B4F2-1490164E7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DHCP ACK</a:t>
              </a:r>
              <a:endPara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0" name="Text Box 34">
              <a:extLst>
                <a:ext uri="{FF2B5EF4-FFF2-40B4-BE49-F238E27FC236}">
                  <a16:creationId xmlns:a16="http://schemas.microsoft.com/office/drawing/2014/main" id="{C5B44FA8-38E1-4510-8693-06567131DB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src: 223.1.2.5, 67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dest:  255.255.255.255, 68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yiaddrr: 223.1.2.4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transaction ID: 655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rPr>
                <a:t>lifetime: 3600 secs</a:t>
              </a:r>
              <a:endPara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171" name="Group 36">
            <a:extLst>
              <a:ext uri="{FF2B5EF4-FFF2-40B4-BE49-F238E27FC236}">
                <a16:creationId xmlns:a16="http://schemas.microsoft.com/office/drawing/2014/main" id="{876EC0D5-D696-4FD6-B343-99D2038018BA}"/>
              </a:ext>
            </a:extLst>
          </p:cNvPr>
          <p:cNvGrpSpPr>
            <a:grpSpLocks/>
          </p:cNvGrpSpPr>
          <p:nvPr/>
        </p:nvGrpSpPr>
        <p:grpSpPr bwMode="auto">
          <a:xfrm>
            <a:off x="7606072" y="1743073"/>
            <a:ext cx="1045633" cy="549275"/>
            <a:chOff x="4420" y="878"/>
            <a:chExt cx="614" cy="458"/>
          </a:xfrm>
        </p:grpSpPr>
        <p:pic>
          <p:nvPicPr>
            <p:cNvPr id="172" name="Picture 37" descr="laptop_keyboard">
              <a:extLst>
                <a:ext uri="{FF2B5EF4-FFF2-40B4-BE49-F238E27FC236}">
                  <a16:creationId xmlns:a16="http://schemas.microsoft.com/office/drawing/2014/main" id="{758B8132-D073-4C94-9A48-CB1233D508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3" name="Freeform 38">
              <a:extLst>
                <a:ext uri="{FF2B5EF4-FFF2-40B4-BE49-F238E27FC236}">
                  <a16:creationId xmlns:a16="http://schemas.microsoft.com/office/drawing/2014/main" id="{679AC529-FB45-42E8-A775-31753CE20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174" name="Picture 39" descr="screen">
              <a:extLst>
                <a:ext uri="{FF2B5EF4-FFF2-40B4-BE49-F238E27FC236}">
                  <a16:creationId xmlns:a16="http://schemas.microsoft.com/office/drawing/2014/main" id="{E451F106-F819-4CA0-9985-75DDA3CF70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5" name="Freeform 40">
              <a:extLst>
                <a:ext uri="{FF2B5EF4-FFF2-40B4-BE49-F238E27FC236}">
                  <a16:creationId xmlns:a16="http://schemas.microsoft.com/office/drawing/2014/main" id="{109919B9-F479-4114-892C-BF3943516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6" name="Freeform 41">
              <a:extLst>
                <a:ext uri="{FF2B5EF4-FFF2-40B4-BE49-F238E27FC236}">
                  <a16:creationId xmlns:a16="http://schemas.microsoft.com/office/drawing/2014/main" id="{DF2066FC-8968-4618-BE9E-B86AB27FB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7" name="Freeform 42">
              <a:extLst>
                <a:ext uri="{FF2B5EF4-FFF2-40B4-BE49-F238E27FC236}">
                  <a16:creationId xmlns:a16="http://schemas.microsoft.com/office/drawing/2014/main" id="{5B6AE9AB-F52E-4C23-9425-DFA1C972B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8" name="Freeform 43">
              <a:extLst>
                <a:ext uri="{FF2B5EF4-FFF2-40B4-BE49-F238E27FC236}">
                  <a16:creationId xmlns:a16="http://schemas.microsoft.com/office/drawing/2014/main" id="{09DB3148-C6E2-4C93-804C-38A94F57C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9" name="Freeform 44">
              <a:extLst>
                <a:ext uri="{FF2B5EF4-FFF2-40B4-BE49-F238E27FC236}">
                  <a16:creationId xmlns:a16="http://schemas.microsoft.com/office/drawing/2014/main" id="{B2ED08B0-B0CE-4186-8850-1B7FBDBA2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0" name="Freeform 45">
              <a:extLst>
                <a:ext uri="{FF2B5EF4-FFF2-40B4-BE49-F238E27FC236}">
                  <a16:creationId xmlns:a16="http://schemas.microsoft.com/office/drawing/2014/main" id="{DFE66E2A-DB6E-43C6-9FCC-3E5321352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81" name="Group 46">
              <a:extLst>
                <a:ext uri="{FF2B5EF4-FFF2-40B4-BE49-F238E27FC236}">
                  <a16:creationId xmlns:a16="http://schemas.microsoft.com/office/drawing/2014/main" id="{EC24FB23-C392-414D-929B-BAECE48048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188" name="Freeform 47">
                <a:extLst>
                  <a:ext uri="{FF2B5EF4-FFF2-40B4-BE49-F238E27FC236}">
                    <a16:creationId xmlns:a16="http://schemas.microsoft.com/office/drawing/2014/main" id="{35DF325D-03A1-4C57-AC04-DC897FD202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9" name="Freeform 48">
                <a:extLst>
                  <a:ext uri="{FF2B5EF4-FFF2-40B4-BE49-F238E27FC236}">
                    <a16:creationId xmlns:a16="http://schemas.microsoft.com/office/drawing/2014/main" id="{E40DF27B-801C-4512-B722-6E02F8A73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0" name="Freeform 49">
                <a:extLst>
                  <a:ext uri="{FF2B5EF4-FFF2-40B4-BE49-F238E27FC236}">
                    <a16:creationId xmlns:a16="http://schemas.microsoft.com/office/drawing/2014/main" id="{1C006E17-C338-4363-9D9D-C10559995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1" name="Freeform 50">
                <a:extLst>
                  <a:ext uri="{FF2B5EF4-FFF2-40B4-BE49-F238E27FC236}">
                    <a16:creationId xmlns:a16="http://schemas.microsoft.com/office/drawing/2014/main" id="{D5A52164-53A3-44C9-ACE9-99E1F6E8C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2" name="Freeform 51">
                <a:extLst>
                  <a:ext uri="{FF2B5EF4-FFF2-40B4-BE49-F238E27FC236}">
                    <a16:creationId xmlns:a16="http://schemas.microsoft.com/office/drawing/2014/main" id="{81A8B0D2-6781-42AF-BDCB-B86BEEBE7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93" name="Freeform 52">
                <a:extLst>
                  <a:ext uri="{FF2B5EF4-FFF2-40B4-BE49-F238E27FC236}">
                    <a16:creationId xmlns:a16="http://schemas.microsoft.com/office/drawing/2014/main" id="{BDFB59C7-67F9-4050-940D-6DE8BD10F1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82" name="Freeform 53">
              <a:extLst>
                <a:ext uri="{FF2B5EF4-FFF2-40B4-BE49-F238E27FC236}">
                  <a16:creationId xmlns:a16="http://schemas.microsoft.com/office/drawing/2014/main" id="{D513917E-FD44-42E8-BEA2-B30A196C0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3" name="Freeform 54">
              <a:extLst>
                <a:ext uri="{FF2B5EF4-FFF2-40B4-BE49-F238E27FC236}">
                  <a16:creationId xmlns:a16="http://schemas.microsoft.com/office/drawing/2014/main" id="{CC8C8D54-BE37-462F-B0EA-5AF942142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4" name="Freeform 55">
              <a:extLst>
                <a:ext uri="{FF2B5EF4-FFF2-40B4-BE49-F238E27FC236}">
                  <a16:creationId xmlns:a16="http://schemas.microsoft.com/office/drawing/2014/main" id="{D76CF10E-971A-431B-AABE-E3628D0A9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5" name="Freeform 56">
              <a:extLst>
                <a:ext uri="{FF2B5EF4-FFF2-40B4-BE49-F238E27FC236}">
                  <a16:creationId xmlns:a16="http://schemas.microsoft.com/office/drawing/2014/main" id="{0207D886-E918-4C16-B9BA-E9ADD0209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6" name="Freeform 57">
              <a:extLst>
                <a:ext uri="{FF2B5EF4-FFF2-40B4-BE49-F238E27FC236}">
                  <a16:creationId xmlns:a16="http://schemas.microsoft.com/office/drawing/2014/main" id="{7024F4FF-2C5E-4D28-8B30-F21D9C578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7" name="Freeform 58">
              <a:extLst>
                <a:ext uri="{FF2B5EF4-FFF2-40B4-BE49-F238E27FC236}">
                  <a16:creationId xmlns:a16="http://schemas.microsoft.com/office/drawing/2014/main" id="{4B76EB35-09E0-4B35-AC83-E35C21DC36E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194" name="Group 60">
            <a:extLst>
              <a:ext uri="{FF2B5EF4-FFF2-40B4-BE49-F238E27FC236}">
                <a16:creationId xmlns:a16="http://schemas.microsoft.com/office/drawing/2014/main" id="{CA0A30B2-F7FC-4EEB-8732-9F952F9F5CBD}"/>
              </a:ext>
            </a:extLst>
          </p:cNvPr>
          <p:cNvGrpSpPr>
            <a:grpSpLocks/>
          </p:cNvGrpSpPr>
          <p:nvPr/>
        </p:nvGrpSpPr>
        <p:grpSpPr bwMode="auto">
          <a:xfrm>
            <a:off x="1738677" y="1590676"/>
            <a:ext cx="446617" cy="536575"/>
            <a:chOff x="4140" y="429"/>
            <a:chExt cx="1425" cy="2396"/>
          </a:xfrm>
        </p:grpSpPr>
        <p:sp>
          <p:nvSpPr>
            <p:cNvPr id="195" name="Freeform 61">
              <a:extLst>
                <a:ext uri="{FF2B5EF4-FFF2-40B4-BE49-F238E27FC236}">
                  <a16:creationId xmlns:a16="http://schemas.microsoft.com/office/drawing/2014/main" id="{2F5D5305-4071-4CB4-9546-EE6BEC61F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6" name="Rectangle 62">
              <a:extLst>
                <a:ext uri="{FF2B5EF4-FFF2-40B4-BE49-F238E27FC236}">
                  <a16:creationId xmlns:a16="http://schemas.microsoft.com/office/drawing/2014/main" id="{0EB5E935-A7BD-48BB-9DD9-0DCC7184C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97" name="Freeform 63">
              <a:extLst>
                <a:ext uri="{FF2B5EF4-FFF2-40B4-BE49-F238E27FC236}">
                  <a16:creationId xmlns:a16="http://schemas.microsoft.com/office/drawing/2014/main" id="{FAD11F43-B180-476A-A775-BC01FE5FE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8" name="Freeform 64">
              <a:extLst>
                <a:ext uri="{FF2B5EF4-FFF2-40B4-BE49-F238E27FC236}">
                  <a16:creationId xmlns:a16="http://schemas.microsoft.com/office/drawing/2014/main" id="{6623ED7E-0B17-4F1E-9A1F-4B36C7F93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9" name="Rectangle 65">
              <a:extLst>
                <a:ext uri="{FF2B5EF4-FFF2-40B4-BE49-F238E27FC236}">
                  <a16:creationId xmlns:a16="http://schemas.microsoft.com/office/drawing/2014/main" id="{DE7F5611-B6EA-46C2-AD3B-840A21C8B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1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200" name="Group 66">
              <a:extLst>
                <a:ext uri="{FF2B5EF4-FFF2-40B4-BE49-F238E27FC236}">
                  <a16:creationId xmlns:a16="http://schemas.microsoft.com/office/drawing/2014/main" id="{63CBAEA9-C2B3-48A2-B56C-F9CC3E25E4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25" name="AutoShape 67">
                <a:extLst>
                  <a:ext uri="{FF2B5EF4-FFF2-40B4-BE49-F238E27FC236}">
                    <a16:creationId xmlns:a16="http://schemas.microsoft.com/office/drawing/2014/main" id="{2031014F-B8D3-4E85-B44E-70B248339E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AutoShape 68">
                <a:extLst>
                  <a:ext uri="{FF2B5EF4-FFF2-40B4-BE49-F238E27FC236}">
                    <a16:creationId xmlns:a16="http://schemas.microsoft.com/office/drawing/2014/main" id="{AAB13EE6-E337-4471-ABDE-8549FAE64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1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1" name="Rectangle 69">
              <a:extLst>
                <a:ext uri="{FF2B5EF4-FFF2-40B4-BE49-F238E27FC236}">
                  <a16:creationId xmlns:a16="http://schemas.microsoft.com/office/drawing/2014/main" id="{3331D06D-FFFC-4B5E-A64A-889313CC4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17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202" name="Group 70">
              <a:extLst>
                <a:ext uri="{FF2B5EF4-FFF2-40B4-BE49-F238E27FC236}">
                  <a16:creationId xmlns:a16="http://schemas.microsoft.com/office/drawing/2014/main" id="{BFA32730-5D8A-4446-8831-344E73C755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23" name="AutoShape 71">
                <a:extLst>
                  <a:ext uri="{FF2B5EF4-FFF2-40B4-BE49-F238E27FC236}">
                    <a16:creationId xmlns:a16="http://schemas.microsoft.com/office/drawing/2014/main" id="{D1D645BF-33BB-4411-9BD3-C073D3150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24" name="AutoShape 72">
                <a:extLst>
                  <a:ext uri="{FF2B5EF4-FFF2-40B4-BE49-F238E27FC236}">
                    <a16:creationId xmlns:a16="http://schemas.microsoft.com/office/drawing/2014/main" id="{22532DD6-B5A0-4EE1-83A4-1E4E78A9BB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5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3" name="Rectangle 73">
              <a:extLst>
                <a:ext uri="{FF2B5EF4-FFF2-40B4-BE49-F238E27FC236}">
                  <a16:creationId xmlns:a16="http://schemas.microsoft.com/office/drawing/2014/main" id="{F027B375-77CB-4D26-9664-904041170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4" name="Rectangle 74">
              <a:extLst>
                <a:ext uri="{FF2B5EF4-FFF2-40B4-BE49-F238E27FC236}">
                  <a16:creationId xmlns:a16="http://schemas.microsoft.com/office/drawing/2014/main" id="{5052855C-6CB0-4FB1-92D3-2945581AD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4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205" name="Group 75">
              <a:extLst>
                <a:ext uri="{FF2B5EF4-FFF2-40B4-BE49-F238E27FC236}">
                  <a16:creationId xmlns:a16="http://schemas.microsoft.com/office/drawing/2014/main" id="{C8176FAB-38A8-4D34-9511-CB1CCA8BCD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1" name="AutoShape 76">
                <a:extLst>
                  <a:ext uri="{FF2B5EF4-FFF2-40B4-BE49-F238E27FC236}">
                    <a16:creationId xmlns:a16="http://schemas.microsoft.com/office/drawing/2014/main" id="{A9C6B1B3-EB32-454C-AF81-DE9FDCFD52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22" name="AutoShape 77">
                <a:extLst>
                  <a:ext uri="{FF2B5EF4-FFF2-40B4-BE49-F238E27FC236}">
                    <a16:creationId xmlns:a16="http://schemas.microsoft.com/office/drawing/2014/main" id="{957AC471-2D57-42B5-A755-B1024E855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6" name="Freeform 78">
              <a:extLst>
                <a:ext uri="{FF2B5EF4-FFF2-40B4-BE49-F238E27FC236}">
                  <a16:creationId xmlns:a16="http://schemas.microsoft.com/office/drawing/2014/main" id="{16E3AF93-536D-4E66-92A4-54C299817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207" name="Group 79">
              <a:extLst>
                <a:ext uri="{FF2B5EF4-FFF2-40B4-BE49-F238E27FC236}">
                  <a16:creationId xmlns:a16="http://schemas.microsoft.com/office/drawing/2014/main" id="{3645980C-DF4B-4D14-8D42-34C0133B97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19" name="AutoShape 80">
                <a:extLst>
                  <a:ext uri="{FF2B5EF4-FFF2-40B4-BE49-F238E27FC236}">
                    <a16:creationId xmlns:a16="http://schemas.microsoft.com/office/drawing/2014/main" id="{F3155CB5-C008-425C-9F9B-187FBB74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4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220" name="AutoShape 81">
                <a:extLst>
                  <a:ext uri="{FF2B5EF4-FFF2-40B4-BE49-F238E27FC236}">
                    <a16:creationId xmlns:a16="http://schemas.microsoft.com/office/drawing/2014/main" id="{E18B42B3-4F63-4DA5-8D6B-3C76518D0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82">
              <a:extLst>
                <a:ext uri="{FF2B5EF4-FFF2-40B4-BE49-F238E27FC236}">
                  <a16:creationId xmlns:a16="http://schemas.microsoft.com/office/drawing/2014/main" id="{015F8B08-3C7F-44DF-A566-D83BF50D1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9" name="Freeform 83">
              <a:extLst>
                <a:ext uri="{FF2B5EF4-FFF2-40B4-BE49-F238E27FC236}">
                  <a16:creationId xmlns:a16="http://schemas.microsoft.com/office/drawing/2014/main" id="{BC3AB64D-4A95-486A-915D-5F833507B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0" name="Freeform 84">
              <a:extLst>
                <a:ext uri="{FF2B5EF4-FFF2-40B4-BE49-F238E27FC236}">
                  <a16:creationId xmlns:a16="http://schemas.microsoft.com/office/drawing/2014/main" id="{E1346518-2392-4B49-AAFB-DD30788C6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1" name="Oval 85">
              <a:extLst>
                <a:ext uri="{FF2B5EF4-FFF2-40B4-BE49-F238E27FC236}">
                  <a16:creationId xmlns:a16="http://schemas.microsoft.com/office/drawing/2014/main" id="{E2113C33-EBA6-4D2A-8D70-4FCE3484A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12" name="Freeform 86">
              <a:extLst>
                <a:ext uri="{FF2B5EF4-FFF2-40B4-BE49-F238E27FC236}">
                  <a16:creationId xmlns:a16="http://schemas.microsoft.com/office/drawing/2014/main" id="{BFD83337-492D-4A19-81C0-0A57B7FF7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3" name="AutoShape 87">
              <a:extLst>
                <a:ext uri="{FF2B5EF4-FFF2-40B4-BE49-F238E27FC236}">
                  <a16:creationId xmlns:a16="http://schemas.microsoft.com/office/drawing/2014/main" id="{F4EA8859-9E6B-47B4-A6F6-AA29B1D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14" name="AutoShape 88">
              <a:extLst>
                <a:ext uri="{FF2B5EF4-FFF2-40B4-BE49-F238E27FC236}">
                  <a16:creationId xmlns:a16="http://schemas.microsoft.com/office/drawing/2014/main" id="{365D5660-FF58-4904-AC92-49B20BD60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15" name="Oval 89">
              <a:extLst>
                <a:ext uri="{FF2B5EF4-FFF2-40B4-BE49-F238E27FC236}">
                  <a16:creationId xmlns:a16="http://schemas.microsoft.com/office/drawing/2014/main" id="{7757A6DE-4116-4B76-BD48-482D13F0DE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16" name="Oval 90">
              <a:extLst>
                <a:ext uri="{FF2B5EF4-FFF2-40B4-BE49-F238E27FC236}">
                  <a16:creationId xmlns:a16="http://schemas.microsoft.com/office/drawing/2014/main" id="{E0B8BB70-E234-4669-B766-65C550A53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7" name="Oval 91">
              <a:extLst>
                <a:ext uri="{FF2B5EF4-FFF2-40B4-BE49-F238E27FC236}">
                  <a16:creationId xmlns:a16="http://schemas.microsoft.com/office/drawing/2014/main" id="{405577B3-B85F-4072-B70C-D6772E627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18" name="Rectangle 92">
              <a:extLst>
                <a:ext uri="{FF2B5EF4-FFF2-40B4-BE49-F238E27FC236}">
                  <a16:creationId xmlns:a16="http://schemas.microsoft.com/office/drawing/2014/main" id="{8BF8D5F0-3465-4784-BC8C-67E11E92D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227" name="矩形 226">
            <a:extLst>
              <a:ext uri="{FF2B5EF4-FFF2-40B4-BE49-F238E27FC236}">
                <a16:creationId xmlns:a16="http://schemas.microsoft.com/office/drawing/2014/main" id="{5F4F2FD0-5803-48F3-A02B-09041F2BD430}"/>
              </a:ext>
            </a:extLst>
          </p:cNvPr>
          <p:cNvSpPr/>
          <p:nvPr/>
        </p:nvSpPr>
        <p:spPr>
          <a:xfrm>
            <a:off x="8093220" y="3846513"/>
            <a:ext cx="3116647" cy="19902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charset="0"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DHCP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服务不只返回客户机所需的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地址，还包括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:</a:t>
            </a:r>
          </a:p>
          <a:p>
            <a:pPr marL="180975" marR="0" lvl="1" indent="-180975" algn="l" defTabSz="914400" rtl="0" eaLnBrk="1" fontAlgn="auto" latinLnBrk="0" hangingPunct="1">
              <a:lnSpc>
                <a:spcPts val="2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缺省路由器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180975" marR="0" lvl="1" indent="-180975" algn="l" defTabSz="914400" rtl="0" eaLnBrk="1" fontAlgn="auto" latinLnBrk="0" hangingPunct="1">
              <a:lnSpc>
                <a:spcPts val="2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DNS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服务器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180975" marR="0" lvl="1" indent="-180975" algn="l" defTabSz="914400" rtl="0" eaLnBrk="1" fontAlgn="auto" latinLnBrk="0" hangingPunct="1">
              <a:lnSpc>
                <a:spcPts val="26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网络掩码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5.2.3 DHCP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64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工作过程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hangingPunct="0">
              <a:lnSpc>
                <a:spcPct val="140000"/>
              </a:lnSpc>
            </a:pP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客户从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UDP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端口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68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zh-CN" altLang="en-US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广播形式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向服务器发送发现报文（</a:t>
            </a:r>
            <a:r>
              <a:rPr lang="en-US" altLang="zh-CN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DHCPDISCOVER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60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zh-CN" altLang="en-US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单播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发出提供报文（</a:t>
            </a:r>
            <a:r>
              <a:rPr lang="en-US" altLang="zh-CN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DHCPOFFER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60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客户从多个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服务器中选择一个，并向其</a:t>
            </a:r>
            <a:r>
              <a:rPr lang="zh-CN" altLang="en-US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以广播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形式发送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请求报文（</a:t>
            </a:r>
            <a:r>
              <a:rPr lang="en-US" altLang="zh-CN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DHCPREQUEST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60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被选择的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</a:rPr>
              <a:t>DHCP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服务器</a:t>
            </a:r>
            <a:r>
              <a:rPr lang="zh-CN" altLang="en-US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单播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发送确认报文（</a:t>
            </a:r>
            <a:r>
              <a:rPr lang="en-US" altLang="zh-CN" sz="26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DHCPACK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5.2.3 DHCP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424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工作过程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zh-CN" altLang="en-US" dirty="0">
                <a:solidFill>
                  <a:srgbClr val="4F4F4F"/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小</a:t>
            </a:r>
            <a:r>
              <a:rPr lang="zh-CN" altLang="zh-CN" dirty="0">
                <a:solidFill>
                  <a:srgbClr val="4F4F4F"/>
                </a:solidFill>
                <a:latin typeface="微软雅黑" pitchFamily="34" charset="-122"/>
                <a:ea typeface="微软雅黑" pitchFamily="34" charset="-122"/>
                <a:cs typeface="宋体" pitchFamily="2" charset="-122"/>
              </a:rPr>
              <a:t>结</a:t>
            </a:r>
            <a:endParaRPr lang="zh-CN" altLang="zh-CN" dirty="0">
              <a:latin typeface="微软雅黑" pitchFamily="34" charset="-122"/>
              <a:ea typeface="微软雅黑" pitchFamily="34" charset="-122"/>
              <a:cs typeface="宋体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aphicFrame>
        <p:nvGraphicFramePr>
          <p:cNvPr id="5" name="内容占位符 4"/>
          <p:cNvGraphicFramePr>
            <a:graphicFrameLocks/>
          </p:cNvGraphicFramePr>
          <p:nvPr/>
        </p:nvGraphicFramePr>
        <p:xfrm>
          <a:off x="1248241" y="2105963"/>
          <a:ext cx="9711269" cy="4084480"/>
        </p:xfrm>
        <a:graphic>
          <a:graphicData uri="http://schemas.openxmlformats.org/drawingml/2006/table">
            <a:tbl>
              <a:tblPr/>
              <a:tblGrid>
                <a:gridCol w="1192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3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9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54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阶段</a:t>
                      </a:r>
                    </a:p>
                  </a:txBody>
                  <a:tcPr marL="38867" marR="38867" marT="38867" marB="3886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源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</a:p>
                  </a:txBody>
                  <a:tcPr marL="38867" marR="38867" marT="38867" marB="3886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目标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</a:p>
                  </a:txBody>
                  <a:tcPr marL="38867" marR="38867" marT="38867" marB="3886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源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</a:p>
                  </a:txBody>
                  <a:tcPr marL="38867" marR="38867" marT="38867" marB="3886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目标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</a:p>
                  </a:txBody>
                  <a:tcPr marL="38867" marR="38867" marT="38867" marB="3886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传输形式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8867" marR="38867" marT="38867" marB="3886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52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Discover</a:t>
                      </a:r>
                    </a:p>
                  </a:txBody>
                  <a:tcPr marL="38867" marR="38867" marT="38867" marB="3886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PC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机的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全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FF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0.0.0.0</a:t>
                      </a:r>
                      <a:endParaRPr lang="zh-CN" altLang="en-US" sz="2000" b="0" dirty="0"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255.255.255.255</a:t>
                      </a:r>
                      <a:endParaRPr lang="zh-CN" altLang="en-US" sz="2000" b="0" dirty="0"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广播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315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Offer</a:t>
                      </a:r>
                    </a:p>
                  </a:txBody>
                  <a:tcPr marL="38867" marR="38867" marT="38867" marB="3886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DHCP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服务器或者中继器路由的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DHCP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客户机的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DHCP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服务器或中继路由器的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地址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准备分配的</a:t>
                      </a:r>
                      <a:r>
                        <a:rPr lang="en-US" altLang="zh-CN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  <a:r>
                        <a:rPr lang="zh-CN" altLang="en-US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地址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单播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52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Request</a:t>
                      </a:r>
                    </a:p>
                  </a:txBody>
                  <a:tcPr marL="38867" marR="38867" marT="38867" marB="3886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PC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机的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全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FF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0.0.0.0</a:t>
                      </a:r>
                      <a:endParaRPr lang="zh-CN" altLang="en-US" sz="2000" b="0" dirty="0"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255.255.255.255</a:t>
                      </a:r>
                      <a:endParaRPr lang="zh-CN" altLang="en-US" sz="2000" b="0" dirty="0">
                        <a:solidFill>
                          <a:srgbClr val="C00000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广播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3159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err="1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Ack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8867" marR="38867" marT="38867" marB="38867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DHCP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服务器或者中继器路由的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  <a:endParaRPr lang="zh-CN" altLang="en-US" sz="2000" b="0" dirty="0">
                        <a:solidFill>
                          <a:schemeClr val="tx1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DHCP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客户机的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MAC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DHCP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服务器或中继路由器的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地址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准备分配的</a:t>
                      </a:r>
                      <a:r>
                        <a:rPr lang="en-US" altLang="zh-CN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IP</a:t>
                      </a:r>
                      <a:r>
                        <a:rPr lang="zh-CN" altLang="en-US" sz="2000" b="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地址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b="0" kern="1200" dirty="0">
                          <a:solidFill>
                            <a:srgbClr val="C00000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单播</a:t>
                      </a:r>
                    </a:p>
                  </a:txBody>
                  <a:tcPr marL="38867" marR="38867" marT="38867" marB="388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5.2.3 DHCP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127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DHCP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完整工作过程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6683318" y="1553374"/>
            <a:ext cx="2602215" cy="720917"/>
            <a:chOff x="6683318" y="1553374"/>
            <a:chExt cx="2602215" cy="720917"/>
          </a:xfrm>
        </p:grpSpPr>
        <p:sp>
          <p:nvSpPr>
            <p:cNvPr id="73" name="Text Box 75"/>
            <p:cNvSpPr txBox="1">
              <a:spLocks noChangeArrowheads="1"/>
            </p:cNvSpPr>
            <p:nvPr/>
          </p:nvSpPr>
          <p:spPr bwMode="auto">
            <a:xfrm>
              <a:off x="7592810" y="1914962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6683318" y="1553374"/>
              <a:ext cx="2602215" cy="615895"/>
              <a:chOff x="6683318" y="1553374"/>
              <a:chExt cx="2602215" cy="615895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6683318" y="1553374"/>
                <a:ext cx="2189337" cy="485568"/>
                <a:chOff x="6683318" y="1553374"/>
                <a:chExt cx="2189337" cy="485568"/>
              </a:xfrm>
            </p:grpSpPr>
            <p:sp>
              <p:nvSpPr>
                <p:cNvPr id="6" name="Line 4"/>
                <p:cNvSpPr>
                  <a:spLocks noChangeShapeType="1"/>
                </p:cNvSpPr>
                <p:nvPr/>
              </p:nvSpPr>
              <p:spPr bwMode="auto">
                <a:xfrm flipH="1">
                  <a:off x="6683318" y="1915647"/>
                  <a:ext cx="1063705" cy="0"/>
                </a:xfrm>
                <a:prstGeom prst="line">
                  <a:avLst/>
                </a:prstGeom>
                <a:noFill/>
                <a:ln w="38100">
                  <a:solidFill>
                    <a:srgbClr val="C00000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ts val="2267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5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endParaRPr>
                </a:p>
              </p:txBody>
            </p:sp>
            <p:sp>
              <p:nvSpPr>
                <p:cNvPr id="71" name="Rectangle 73"/>
                <p:cNvSpPr>
                  <a:spLocks noChangeArrowheads="1"/>
                </p:cNvSpPr>
                <p:nvPr/>
              </p:nvSpPr>
              <p:spPr bwMode="auto">
                <a:xfrm>
                  <a:off x="8112519" y="1800197"/>
                  <a:ext cx="760136" cy="23874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267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itchFamily="34" charset="-122"/>
                      <a:ea typeface="微软雅黑" pitchFamily="34" charset="-122"/>
                      <a:cs typeface="+mn-cs"/>
                    </a:rPr>
                    <a:t>服务器</a:t>
                  </a:r>
                </a:p>
              </p:txBody>
            </p:sp>
            <p:sp>
              <p:nvSpPr>
                <p:cNvPr id="72" name="Rectangle 74"/>
                <p:cNvSpPr>
                  <a:spLocks noChangeArrowheads="1"/>
                </p:cNvSpPr>
                <p:nvPr/>
              </p:nvSpPr>
              <p:spPr bwMode="auto">
                <a:xfrm>
                  <a:off x="7733666" y="1829340"/>
                  <a:ext cx="378854" cy="179339"/>
                </a:xfrm>
                <a:prstGeom prst="rect">
                  <a:avLst/>
                </a:prstGeom>
                <a:solidFill>
                  <a:srgbClr val="00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2267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itchFamily="34" charset="-122"/>
                      <a:ea typeface="微软雅黑" pitchFamily="34" charset="-122"/>
                      <a:cs typeface="+mn-cs"/>
                    </a:rPr>
                    <a:t>67</a:t>
                  </a:r>
                </a:p>
              </p:txBody>
            </p:sp>
            <p:sp>
              <p:nvSpPr>
                <p:cNvPr id="74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6872461" y="1553374"/>
                  <a:ext cx="954107" cy="3593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36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1pPr>
                  <a:lvl2pPr marL="742950" indent="-285750">
                    <a:defRPr sz="36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2pPr>
                  <a:lvl3pPr marL="1143000" indent="-228600">
                    <a:defRPr sz="36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3pPr>
                  <a:lvl4pPr marL="1600200" indent="-228600">
                    <a:defRPr sz="36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4pPr>
                  <a:lvl5pPr marL="2057400" indent="-228600">
                    <a:defRPr sz="36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600">
                      <a:solidFill>
                        <a:schemeClr val="tx1"/>
                      </a:solidFill>
                      <a:latin typeface="Tahoma" pitchFamily="34" charset="0"/>
                      <a:ea typeface="宋体" charset="-122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ts val="2267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zh-CN" altLang="en-US" sz="15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微软雅黑" pitchFamily="34" charset="-122"/>
                      <a:ea typeface="微软雅黑" pitchFamily="34" charset="-122"/>
                      <a:cs typeface="+mn-cs"/>
                    </a:rPr>
                    <a:t>被动打开</a:t>
                  </a:r>
                </a:p>
              </p:txBody>
            </p:sp>
          </p:grpSp>
          <p:sp>
            <p:nvSpPr>
              <p:cNvPr id="75" name="Text Box 77"/>
              <p:cNvSpPr txBox="1">
                <a:spLocks noChangeArrowheads="1"/>
              </p:cNvSpPr>
              <p:nvPr/>
            </p:nvSpPr>
            <p:spPr bwMode="auto">
              <a:xfrm>
                <a:off x="8791487" y="1781983"/>
                <a:ext cx="494046" cy="387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7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  <a:sym typeface="Wingdings" pitchFamily="2" charset="2"/>
                  </a:rPr>
                  <a:t></a:t>
                </a:r>
              </a:p>
            </p:txBody>
          </p:sp>
        </p:grpSp>
      </p:grpSp>
      <p:grpSp>
        <p:nvGrpSpPr>
          <p:cNvPr id="93" name="组合 92"/>
          <p:cNvGrpSpPr/>
          <p:nvPr/>
        </p:nvGrpSpPr>
        <p:grpSpPr>
          <a:xfrm>
            <a:off x="2330330" y="2215759"/>
            <a:ext cx="6542325" cy="533110"/>
            <a:chOff x="2330330" y="2215759"/>
            <a:chExt cx="6542325" cy="533110"/>
          </a:xfrm>
        </p:grpSpPr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3552917" y="2389540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7592810" y="2367792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grpSp>
          <p:nvGrpSpPr>
            <p:cNvPr id="87" name="组合 86"/>
            <p:cNvGrpSpPr/>
            <p:nvPr/>
          </p:nvGrpSpPr>
          <p:grpSpPr>
            <a:xfrm>
              <a:off x="2330330" y="2215759"/>
              <a:ext cx="6542325" cy="387286"/>
              <a:chOff x="2330330" y="2215759"/>
              <a:chExt cx="6542325" cy="387286"/>
            </a:xfrm>
          </p:grpSpPr>
          <p:sp>
            <p:nvSpPr>
              <p:cNvPr id="7" name="Line 6"/>
              <p:cNvSpPr>
                <a:spLocks noChangeShapeType="1"/>
              </p:cNvSpPr>
              <p:nvPr/>
            </p:nvSpPr>
            <p:spPr bwMode="auto">
              <a:xfrm>
                <a:off x="4087198" y="2372962"/>
                <a:ext cx="364646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2795210" y="2251908"/>
                <a:ext cx="760136" cy="240986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客户</a:t>
                </a: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4846120" y="2281051"/>
                <a:ext cx="2050911" cy="181581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DHCPDISCOVER</a:t>
                </a: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8112519" y="2251908"/>
                <a:ext cx="760136" cy="24098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服务器</a:t>
                </a: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7733666" y="2281051"/>
                <a:ext cx="378854" cy="181581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67</a:t>
                </a: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3555346" y="2281051"/>
                <a:ext cx="531853" cy="181581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68</a:t>
                </a:r>
              </a:p>
            </p:txBody>
          </p:sp>
          <p:sp>
            <p:nvSpPr>
              <p:cNvPr id="76" name="Text Box 78"/>
              <p:cNvSpPr txBox="1">
                <a:spLocks noChangeArrowheads="1"/>
              </p:cNvSpPr>
              <p:nvPr/>
            </p:nvSpPr>
            <p:spPr bwMode="auto">
              <a:xfrm>
                <a:off x="2330330" y="2215759"/>
                <a:ext cx="494046" cy="387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7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  <a:sym typeface="Wingdings" pitchFamily="2" charset="2"/>
                  </a:rPr>
                  <a:t></a:t>
                </a:r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>
            <a:off x="2795211" y="2655139"/>
            <a:ext cx="6490322" cy="523023"/>
            <a:chOff x="2795211" y="2655139"/>
            <a:chExt cx="6490322" cy="523023"/>
          </a:xfrm>
        </p:grpSpPr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3552917" y="2818833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7592810" y="2799327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grpSp>
          <p:nvGrpSpPr>
            <p:cNvPr id="86" name="组合 85"/>
            <p:cNvGrpSpPr/>
            <p:nvPr/>
          </p:nvGrpSpPr>
          <p:grpSpPr>
            <a:xfrm>
              <a:off x="2795211" y="2655139"/>
              <a:ext cx="6490322" cy="387286"/>
              <a:chOff x="2795211" y="2655139"/>
              <a:chExt cx="6490322" cy="387286"/>
            </a:xfrm>
          </p:grpSpPr>
          <p:sp>
            <p:nvSpPr>
              <p:cNvPr id="15" name="Line 14"/>
              <p:cNvSpPr>
                <a:spLocks noChangeShapeType="1"/>
              </p:cNvSpPr>
              <p:nvPr/>
            </p:nvSpPr>
            <p:spPr bwMode="auto">
              <a:xfrm flipH="1">
                <a:off x="4085984" y="2804496"/>
                <a:ext cx="364768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2795211" y="2683443"/>
                <a:ext cx="758921" cy="239866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客户</a:t>
                </a: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/>
            </p:nvSpPr>
            <p:spPr bwMode="auto">
              <a:xfrm>
                <a:off x="4846120" y="2713706"/>
                <a:ext cx="2050911" cy="180459"/>
              </a:xfrm>
              <a:prstGeom prst="rect">
                <a:avLst/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DHCPOFFER</a:t>
                </a:r>
              </a:p>
            </p:txBody>
          </p:sp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8112519" y="2683443"/>
                <a:ext cx="760136" cy="23986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服务器</a:t>
                </a:r>
              </a:p>
            </p:txBody>
          </p:sp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7733666" y="2713706"/>
                <a:ext cx="378854" cy="180459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67</a:t>
                </a:r>
              </a:p>
            </p:txBody>
          </p:sp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3554132" y="2713706"/>
                <a:ext cx="531853" cy="180459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68</a:t>
                </a:r>
              </a:p>
            </p:txBody>
          </p:sp>
          <p:sp>
            <p:nvSpPr>
              <p:cNvPr id="77" name="Text Box 79"/>
              <p:cNvSpPr txBox="1">
                <a:spLocks noChangeArrowheads="1"/>
              </p:cNvSpPr>
              <p:nvPr/>
            </p:nvSpPr>
            <p:spPr bwMode="auto">
              <a:xfrm>
                <a:off x="8791487" y="2655139"/>
                <a:ext cx="494046" cy="387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7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  <a:sym typeface="Wingdings" pitchFamily="2" charset="2"/>
                  </a:rPr>
                  <a:t></a:t>
                </a:r>
              </a:p>
            </p:txBody>
          </p:sp>
        </p:grpSp>
      </p:grpSp>
      <p:grpSp>
        <p:nvGrpSpPr>
          <p:cNvPr id="95" name="组合 94"/>
          <p:cNvGrpSpPr/>
          <p:nvPr/>
        </p:nvGrpSpPr>
        <p:grpSpPr>
          <a:xfrm>
            <a:off x="2330330" y="3076586"/>
            <a:ext cx="6542325" cy="534231"/>
            <a:chOff x="2330330" y="3076586"/>
            <a:chExt cx="6542325" cy="534231"/>
          </a:xfrm>
        </p:grpSpPr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3552917" y="3251488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7592810" y="3231983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grpSp>
          <p:nvGrpSpPr>
            <p:cNvPr id="89" name="组合 88"/>
            <p:cNvGrpSpPr/>
            <p:nvPr/>
          </p:nvGrpSpPr>
          <p:grpSpPr>
            <a:xfrm>
              <a:off x="2330330" y="3076586"/>
              <a:ext cx="6542325" cy="387286"/>
              <a:chOff x="2330330" y="3076586"/>
              <a:chExt cx="6542325" cy="387286"/>
            </a:xfrm>
          </p:grpSpPr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>
                <a:off x="4087198" y="3234909"/>
                <a:ext cx="364646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4" name="Rectangle 24"/>
              <p:cNvSpPr>
                <a:spLocks noChangeArrowheads="1"/>
              </p:cNvSpPr>
              <p:nvPr/>
            </p:nvSpPr>
            <p:spPr bwMode="auto">
              <a:xfrm>
                <a:off x="2795210" y="3114977"/>
                <a:ext cx="760136" cy="240986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客户</a:t>
                </a:r>
              </a:p>
            </p:txBody>
          </p:sp>
          <p:sp>
            <p:nvSpPr>
              <p:cNvPr id="25" name="Rectangle 25"/>
              <p:cNvSpPr>
                <a:spLocks noChangeArrowheads="1"/>
              </p:cNvSpPr>
              <p:nvPr/>
            </p:nvSpPr>
            <p:spPr bwMode="auto">
              <a:xfrm>
                <a:off x="4846120" y="3145240"/>
                <a:ext cx="2050911" cy="180460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DHCPREQUEST</a:t>
                </a:r>
              </a:p>
            </p:txBody>
          </p:sp>
          <p:sp>
            <p:nvSpPr>
              <p:cNvPr id="26" name="Rectangle 26"/>
              <p:cNvSpPr>
                <a:spLocks noChangeArrowheads="1"/>
              </p:cNvSpPr>
              <p:nvPr/>
            </p:nvSpPr>
            <p:spPr bwMode="auto">
              <a:xfrm>
                <a:off x="8112519" y="3114977"/>
                <a:ext cx="760136" cy="24098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服务器</a:t>
                </a:r>
              </a:p>
            </p:txBody>
          </p:sp>
          <p:sp>
            <p:nvSpPr>
              <p:cNvPr id="27" name="Rectangle 27"/>
              <p:cNvSpPr>
                <a:spLocks noChangeArrowheads="1"/>
              </p:cNvSpPr>
              <p:nvPr/>
            </p:nvSpPr>
            <p:spPr bwMode="auto">
              <a:xfrm>
                <a:off x="7733666" y="3145240"/>
                <a:ext cx="378854" cy="180460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67</a:t>
                </a:r>
              </a:p>
            </p:txBody>
          </p:sp>
          <p:sp>
            <p:nvSpPr>
              <p:cNvPr id="28" name="Rectangle 28"/>
              <p:cNvSpPr>
                <a:spLocks noChangeArrowheads="1"/>
              </p:cNvSpPr>
              <p:nvPr/>
            </p:nvSpPr>
            <p:spPr bwMode="auto">
              <a:xfrm>
                <a:off x="3555346" y="3145240"/>
                <a:ext cx="531853" cy="180460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68</a:t>
                </a:r>
              </a:p>
            </p:txBody>
          </p:sp>
          <p:sp>
            <p:nvSpPr>
              <p:cNvPr id="78" name="Text Box 80"/>
              <p:cNvSpPr txBox="1">
                <a:spLocks noChangeArrowheads="1"/>
              </p:cNvSpPr>
              <p:nvPr/>
            </p:nvSpPr>
            <p:spPr bwMode="auto">
              <a:xfrm>
                <a:off x="2330330" y="3076586"/>
                <a:ext cx="494046" cy="387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7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  <a:sym typeface="Wingdings" pitchFamily="2" charset="2"/>
                  </a:rPr>
                  <a:t></a:t>
                </a:r>
              </a:p>
            </p:txBody>
          </p:sp>
        </p:grpSp>
      </p:grpSp>
      <p:grpSp>
        <p:nvGrpSpPr>
          <p:cNvPr id="96" name="组合 95"/>
          <p:cNvGrpSpPr/>
          <p:nvPr/>
        </p:nvGrpSpPr>
        <p:grpSpPr>
          <a:xfrm>
            <a:off x="2795211" y="3517087"/>
            <a:ext cx="6486678" cy="524144"/>
            <a:chOff x="2795211" y="3517087"/>
            <a:chExt cx="6486678" cy="524144"/>
          </a:xfrm>
        </p:grpSpPr>
        <p:grpSp>
          <p:nvGrpSpPr>
            <p:cNvPr id="90" name="组合 89"/>
            <p:cNvGrpSpPr/>
            <p:nvPr/>
          </p:nvGrpSpPr>
          <p:grpSpPr>
            <a:xfrm>
              <a:off x="2795211" y="3546511"/>
              <a:ext cx="6077444" cy="239866"/>
              <a:chOff x="2795211" y="3546511"/>
              <a:chExt cx="6077444" cy="239866"/>
            </a:xfrm>
          </p:grpSpPr>
          <p:sp>
            <p:nvSpPr>
              <p:cNvPr id="31" name="Line 31"/>
              <p:cNvSpPr>
                <a:spLocks noChangeShapeType="1"/>
              </p:cNvSpPr>
              <p:nvPr/>
            </p:nvSpPr>
            <p:spPr bwMode="auto">
              <a:xfrm flipH="1">
                <a:off x="4085984" y="3666444"/>
                <a:ext cx="364768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32" name="Rectangle 32"/>
              <p:cNvSpPr>
                <a:spLocks noChangeArrowheads="1"/>
              </p:cNvSpPr>
              <p:nvPr/>
            </p:nvSpPr>
            <p:spPr bwMode="auto">
              <a:xfrm>
                <a:off x="2795211" y="3546511"/>
                <a:ext cx="758921" cy="239866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客户</a:t>
                </a:r>
              </a:p>
            </p:txBody>
          </p:sp>
          <p:sp>
            <p:nvSpPr>
              <p:cNvPr id="33" name="Rectangle 33"/>
              <p:cNvSpPr>
                <a:spLocks noChangeArrowheads="1"/>
              </p:cNvSpPr>
              <p:nvPr/>
            </p:nvSpPr>
            <p:spPr bwMode="auto">
              <a:xfrm>
                <a:off x="4846120" y="3576775"/>
                <a:ext cx="2050911" cy="179339"/>
              </a:xfrm>
              <a:prstGeom prst="rect">
                <a:avLst/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DHCPACK</a:t>
                </a:r>
              </a:p>
            </p:txBody>
          </p:sp>
          <p:sp>
            <p:nvSpPr>
              <p:cNvPr id="34" name="Rectangle 34"/>
              <p:cNvSpPr>
                <a:spLocks noChangeArrowheads="1"/>
              </p:cNvSpPr>
              <p:nvPr/>
            </p:nvSpPr>
            <p:spPr bwMode="auto">
              <a:xfrm>
                <a:off x="8112519" y="3546511"/>
                <a:ext cx="760136" cy="23986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服务器</a:t>
                </a:r>
              </a:p>
            </p:txBody>
          </p:sp>
          <p:sp>
            <p:nvSpPr>
              <p:cNvPr id="35" name="Rectangle 35"/>
              <p:cNvSpPr>
                <a:spLocks noChangeArrowheads="1"/>
              </p:cNvSpPr>
              <p:nvPr/>
            </p:nvSpPr>
            <p:spPr bwMode="auto">
              <a:xfrm>
                <a:off x="7733666" y="3576775"/>
                <a:ext cx="378854" cy="179339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67</a:t>
                </a:r>
              </a:p>
            </p:txBody>
          </p:sp>
          <p:sp>
            <p:nvSpPr>
              <p:cNvPr id="36" name="Rectangle 36"/>
              <p:cNvSpPr>
                <a:spLocks noChangeArrowheads="1"/>
              </p:cNvSpPr>
              <p:nvPr/>
            </p:nvSpPr>
            <p:spPr bwMode="auto">
              <a:xfrm>
                <a:off x="3554132" y="3576775"/>
                <a:ext cx="531853" cy="179339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68</a:t>
                </a:r>
              </a:p>
            </p:txBody>
          </p:sp>
        </p:grpSp>
        <p:sp>
          <p:nvSpPr>
            <p:cNvPr id="37" name="Text Box 37"/>
            <p:cNvSpPr txBox="1">
              <a:spLocks noChangeArrowheads="1"/>
            </p:cNvSpPr>
            <p:nvPr/>
          </p:nvSpPr>
          <p:spPr bwMode="auto">
            <a:xfrm>
              <a:off x="3552917" y="3681902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sp>
          <p:nvSpPr>
            <p:cNvPr id="38" name="Text Box 38"/>
            <p:cNvSpPr txBox="1">
              <a:spLocks noChangeArrowheads="1"/>
            </p:cNvSpPr>
            <p:nvPr/>
          </p:nvSpPr>
          <p:spPr bwMode="auto">
            <a:xfrm>
              <a:off x="7592810" y="3662395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sp>
          <p:nvSpPr>
            <p:cNvPr id="79" name="Text Box 81"/>
            <p:cNvSpPr txBox="1">
              <a:spLocks noChangeArrowheads="1"/>
            </p:cNvSpPr>
            <p:nvPr/>
          </p:nvSpPr>
          <p:spPr bwMode="auto">
            <a:xfrm>
              <a:off x="8787843" y="3517087"/>
              <a:ext cx="494046" cy="387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7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  <a:sym typeface="Wingdings" pitchFamily="2" charset="2"/>
                </a:rPr>
                <a:t>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2330330" y="3957590"/>
            <a:ext cx="6951559" cy="1973426"/>
            <a:chOff x="2330330" y="3957590"/>
            <a:chExt cx="6951559" cy="1973426"/>
          </a:xfrm>
        </p:grpSpPr>
        <p:sp>
          <p:nvSpPr>
            <p:cNvPr id="69" name="Text Box 71"/>
            <p:cNvSpPr txBox="1">
              <a:spLocks noChangeArrowheads="1"/>
            </p:cNvSpPr>
            <p:nvPr/>
          </p:nvSpPr>
          <p:spPr bwMode="auto">
            <a:xfrm>
              <a:off x="3552917" y="5571687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sp>
          <p:nvSpPr>
            <p:cNvPr id="70" name="Text Box 72"/>
            <p:cNvSpPr txBox="1">
              <a:spLocks noChangeArrowheads="1"/>
            </p:cNvSpPr>
            <p:nvPr/>
          </p:nvSpPr>
          <p:spPr bwMode="auto">
            <a:xfrm>
              <a:off x="7592810" y="5552181"/>
              <a:ext cx="591829" cy="359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2267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UDP</a:t>
              </a:r>
            </a:p>
          </p:txBody>
        </p:sp>
        <p:grpSp>
          <p:nvGrpSpPr>
            <p:cNvPr id="91" name="组合 90"/>
            <p:cNvGrpSpPr/>
            <p:nvPr/>
          </p:nvGrpSpPr>
          <p:grpSpPr>
            <a:xfrm>
              <a:off x="2330330" y="3957590"/>
              <a:ext cx="6951559" cy="1845861"/>
              <a:chOff x="2330330" y="3957590"/>
              <a:chExt cx="6951559" cy="1845861"/>
            </a:xfrm>
          </p:grpSpPr>
          <p:sp>
            <p:nvSpPr>
              <p:cNvPr id="39" name="Line 40"/>
              <p:cNvSpPr>
                <a:spLocks noChangeShapeType="1"/>
              </p:cNvSpPr>
              <p:nvPr/>
            </p:nvSpPr>
            <p:spPr bwMode="auto">
              <a:xfrm>
                <a:off x="4087198" y="4095736"/>
                <a:ext cx="364646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40" name="Rectangle 41"/>
              <p:cNvSpPr>
                <a:spLocks noChangeArrowheads="1"/>
              </p:cNvSpPr>
              <p:nvPr/>
            </p:nvSpPr>
            <p:spPr bwMode="auto">
              <a:xfrm>
                <a:off x="2795210" y="3975804"/>
                <a:ext cx="760136" cy="238745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客户</a:t>
                </a:r>
              </a:p>
            </p:txBody>
          </p:sp>
          <p:sp>
            <p:nvSpPr>
              <p:cNvPr id="41" name="Rectangle 42"/>
              <p:cNvSpPr>
                <a:spLocks noChangeArrowheads="1"/>
              </p:cNvSpPr>
              <p:nvPr/>
            </p:nvSpPr>
            <p:spPr bwMode="auto">
              <a:xfrm>
                <a:off x="4846120" y="4006067"/>
                <a:ext cx="2050911" cy="179339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DHCPREQUEST</a:t>
                </a:r>
              </a:p>
            </p:txBody>
          </p:sp>
          <p:sp>
            <p:nvSpPr>
              <p:cNvPr id="42" name="Rectangle 43"/>
              <p:cNvSpPr>
                <a:spLocks noChangeArrowheads="1"/>
              </p:cNvSpPr>
              <p:nvPr/>
            </p:nvSpPr>
            <p:spPr bwMode="auto">
              <a:xfrm>
                <a:off x="8112519" y="3975804"/>
                <a:ext cx="760136" cy="2387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服务器</a:t>
                </a:r>
              </a:p>
            </p:txBody>
          </p:sp>
          <p:sp>
            <p:nvSpPr>
              <p:cNvPr id="43" name="Rectangle 44"/>
              <p:cNvSpPr>
                <a:spLocks noChangeArrowheads="1"/>
              </p:cNvSpPr>
              <p:nvPr/>
            </p:nvSpPr>
            <p:spPr bwMode="auto">
              <a:xfrm>
                <a:off x="7733666" y="4006067"/>
                <a:ext cx="378854" cy="179339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67</a:t>
                </a:r>
              </a:p>
            </p:txBody>
          </p:sp>
          <p:sp>
            <p:nvSpPr>
              <p:cNvPr id="44" name="Rectangle 45"/>
              <p:cNvSpPr>
                <a:spLocks noChangeArrowheads="1"/>
              </p:cNvSpPr>
              <p:nvPr/>
            </p:nvSpPr>
            <p:spPr bwMode="auto">
              <a:xfrm>
                <a:off x="3555346" y="4006067"/>
                <a:ext cx="531853" cy="179339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68</a:t>
                </a:r>
              </a:p>
            </p:txBody>
          </p:sp>
          <p:sp>
            <p:nvSpPr>
              <p:cNvPr id="45" name="Text Box 46"/>
              <p:cNvSpPr txBox="1">
                <a:spLocks noChangeArrowheads="1"/>
              </p:cNvSpPr>
              <p:nvPr/>
            </p:nvSpPr>
            <p:spPr bwMode="auto">
              <a:xfrm>
                <a:off x="3552917" y="4111195"/>
                <a:ext cx="591829" cy="359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UDP</a:t>
                </a:r>
              </a:p>
            </p:txBody>
          </p:sp>
          <p:sp>
            <p:nvSpPr>
              <p:cNvPr id="46" name="Text Box 47"/>
              <p:cNvSpPr txBox="1">
                <a:spLocks noChangeArrowheads="1"/>
              </p:cNvSpPr>
              <p:nvPr/>
            </p:nvSpPr>
            <p:spPr bwMode="auto">
              <a:xfrm>
                <a:off x="7592810" y="4091689"/>
                <a:ext cx="591829" cy="359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UDP</a:t>
                </a:r>
              </a:p>
            </p:txBody>
          </p:sp>
          <p:sp>
            <p:nvSpPr>
              <p:cNvPr id="47" name="Line 48"/>
              <p:cNvSpPr>
                <a:spLocks noChangeShapeType="1"/>
              </p:cNvSpPr>
              <p:nvPr/>
            </p:nvSpPr>
            <p:spPr bwMode="auto">
              <a:xfrm flipH="1">
                <a:off x="4085984" y="4528392"/>
                <a:ext cx="364768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48" name="Rectangle 49"/>
              <p:cNvSpPr>
                <a:spLocks noChangeArrowheads="1"/>
              </p:cNvSpPr>
              <p:nvPr/>
            </p:nvSpPr>
            <p:spPr bwMode="auto">
              <a:xfrm>
                <a:off x="2795211" y="4407338"/>
                <a:ext cx="758921" cy="238745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客户</a:t>
                </a:r>
              </a:p>
            </p:txBody>
          </p:sp>
          <p:sp>
            <p:nvSpPr>
              <p:cNvPr id="49" name="Rectangle 50"/>
              <p:cNvSpPr>
                <a:spLocks noChangeArrowheads="1"/>
              </p:cNvSpPr>
              <p:nvPr/>
            </p:nvSpPr>
            <p:spPr bwMode="auto">
              <a:xfrm>
                <a:off x="4846120" y="4437602"/>
                <a:ext cx="2050911" cy="180459"/>
              </a:xfrm>
              <a:prstGeom prst="rect">
                <a:avLst/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DHCPNACK</a:t>
                </a:r>
              </a:p>
            </p:txBody>
          </p:sp>
          <p:sp>
            <p:nvSpPr>
              <p:cNvPr id="50" name="Rectangle 51"/>
              <p:cNvSpPr>
                <a:spLocks noChangeArrowheads="1"/>
              </p:cNvSpPr>
              <p:nvPr/>
            </p:nvSpPr>
            <p:spPr bwMode="auto">
              <a:xfrm>
                <a:off x="8112519" y="4407338"/>
                <a:ext cx="760136" cy="2387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服务器</a:t>
                </a:r>
              </a:p>
            </p:txBody>
          </p:sp>
          <p:sp>
            <p:nvSpPr>
              <p:cNvPr id="51" name="Rectangle 52"/>
              <p:cNvSpPr>
                <a:spLocks noChangeArrowheads="1"/>
              </p:cNvSpPr>
              <p:nvPr/>
            </p:nvSpPr>
            <p:spPr bwMode="auto">
              <a:xfrm>
                <a:off x="7733666" y="4437602"/>
                <a:ext cx="378854" cy="180459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67</a:t>
                </a:r>
              </a:p>
            </p:txBody>
          </p:sp>
          <p:sp>
            <p:nvSpPr>
              <p:cNvPr id="52" name="Rectangle 53"/>
              <p:cNvSpPr>
                <a:spLocks noChangeArrowheads="1"/>
              </p:cNvSpPr>
              <p:nvPr/>
            </p:nvSpPr>
            <p:spPr bwMode="auto">
              <a:xfrm>
                <a:off x="3554132" y="4437602"/>
                <a:ext cx="531853" cy="180459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68</a:t>
                </a:r>
              </a:p>
            </p:txBody>
          </p:sp>
          <p:sp>
            <p:nvSpPr>
              <p:cNvPr id="53" name="Text Box 54"/>
              <p:cNvSpPr txBox="1">
                <a:spLocks noChangeArrowheads="1"/>
              </p:cNvSpPr>
              <p:nvPr/>
            </p:nvSpPr>
            <p:spPr bwMode="auto">
              <a:xfrm>
                <a:off x="3552917" y="4542729"/>
                <a:ext cx="591829" cy="359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UDP</a:t>
                </a:r>
              </a:p>
            </p:txBody>
          </p:sp>
          <p:sp>
            <p:nvSpPr>
              <p:cNvPr id="54" name="Text Box 55"/>
              <p:cNvSpPr txBox="1">
                <a:spLocks noChangeArrowheads="1"/>
              </p:cNvSpPr>
              <p:nvPr/>
            </p:nvSpPr>
            <p:spPr bwMode="auto">
              <a:xfrm>
                <a:off x="7592810" y="4523220"/>
                <a:ext cx="591829" cy="359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UDP</a:t>
                </a:r>
              </a:p>
            </p:txBody>
          </p:sp>
          <p:sp>
            <p:nvSpPr>
              <p:cNvPr id="55" name="Line 56"/>
              <p:cNvSpPr>
                <a:spLocks noChangeShapeType="1"/>
              </p:cNvSpPr>
              <p:nvPr/>
            </p:nvSpPr>
            <p:spPr bwMode="auto">
              <a:xfrm flipH="1">
                <a:off x="4085984" y="4959926"/>
                <a:ext cx="364768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56" name="Rectangle 57"/>
              <p:cNvSpPr>
                <a:spLocks noChangeArrowheads="1"/>
              </p:cNvSpPr>
              <p:nvPr/>
            </p:nvSpPr>
            <p:spPr bwMode="auto">
              <a:xfrm>
                <a:off x="2795211" y="4838873"/>
                <a:ext cx="758921" cy="238745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客户</a:t>
                </a:r>
              </a:p>
            </p:txBody>
          </p:sp>
          <p:sp>
            <p:nvSpPr>
              <p:cNvPr id="57" name="Rectangle 58"/>
              <p:cNvSpPr>
                <a:spLocks noChangeArrowheads="1"/>
              </p:cNvSpPr>
              <p:nvPr/>
            </p:nvSpPr>
            <p:spPr bwMode="auto">
              <a:xfrm>
                <a:off x="4846120" y="4869136"/>
                <a:ext cx="2050911" cy="180460"/>
              </a:xfrm>
              <a:prstGeom prst="rect">
                <a:avLst/>
              </a:prstGeom>
              <a:solidFill>
                <a:srgbClr val="FF66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DHCPACK</a:t>
                </a:r>
              </a:p>
            </p:txBody>
          </p:sp>
          <p:sp>
            <p:nvSpPr>
              <p:cNvPr id="58" name="Rectangle 59"/>
              <p:cNvSpPr>
                <a:spLocks noChangeArrowheads="1"/>
              </p:cNvSpPr>
              <p:nvPr/>
            </p:nvSpPr>
            <p:spPr bwMode="auto">
              <a:xfrm>
                <a:off x="8112519" y="4838873"/>
                <a:ext cx="760136" cy="2387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服务器</a:t>
                </a:r>
              </a:p>
            </p:txBody>
          </p:sp>
          <p:sp>
            <p:nvSpPr>
              <p:cNvPr id="59" name="Rectangle 60"/>
              <p:cNvSpPr>
                <a:spLocks noChangeArrowheads="1"/>
              </p:cNvSpPr>
              <p:nvPr/>
            </p:nvSpPr>
            <p:spPr bwMode="auto">
              <a:xfrm>
                <a:off x="7733666" y="4869136"/>
                <a:ext cx="378854" cy="180460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67</a:t>
                </a:r>
              </a:p>
            </p:txBody>
          </p:sp>
          <p:sp>
            <p:nvSpPr>
              <p:cNvPr id="60" name="Rectangle 61"/>
              <p:cNvSpPr>
                <a:spLocks noChangeArrowheads="1"/>
              </p:cNvSpPr>
              <p:nvPr/>
            </p:nvSpPr>
            <p:spPr bwMode="auto">
              <a:xfrm>
                <a:off x="3554132" y="4869136"/>
                <a:ext cx="531852" cy="180460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68</a:t>
                </a:r>
              </a:p>
            </p:txBody>
          </p:sp>
          <p:sp>
            <p:nvSpPr>
              <p:cNvPr id="61" name="Text Box 62"/>
              <p:cNvSpPr txBox="1">
                <a:spLocks noChangeArrowheads="1"/>
              </p:cNvSpPr>
              <p:nvPr/>
            </p:nvSpPr>
            <p:spPr bwMode="auto">
              <a:xfrm>
                <a:off x="3552917" y="4974262"/>
                <a:ext cx="591829" cy="359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UDP</a:t>
                </a:r>
              </a:p>
            </p:txBody>
          </p:sp>
          <p:sp>
            <p:nvSpPr>
              <p:cNvPr id="62" name="Text Box 63"/>
              <p:cNvSpPr txBox="1">
                <a:spLocks noChangeArrowheads="1"/>
              </p:cNvSpPr>
              <p:nvPr/>
            </p:nvSpPr>
            <p:spPr bwMode="auto">
              <a:xfrm>
                <a:off x="7592810" y="4954755"/>
                <a:ext cx="591829" cy="359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UDP</a:t>
                </a:r>
              </a:p>
            </p:txBody>
          </p:sp>
          <p:sp>
            <p:nvSpPr>
              <p:cNvPr id="63" name="Line 65"/>
              <p:cNvSpPr>
                <a:spLocks noChangeShapeType="1"/>
              </p:cNvSpPr>
              <p:nvPr/>
            </p:nvSpPr>
            <p:spPr bwMode="auto">
              <a:xfrm>
                <a:off x="4087198" y="5556228"/>
                <a:ext cx="364646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64" name="Rectangle 66"/>
              <p:cNvSpPr>
                <a:spLocks noChangeArrowheads="1"/>
              </p:cNvSpPr>
              <p:nvPr/>
            </p:nvSpPr>
            <p:spPr bwMode="auto">
              <a:xfrm>
                <a:off x="2795210" y="5436295"/>
                <a:ext cx="760136" cy="238745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客户</a:t>
                </a:r>
              </a:p>
            </p:txBody>
          </p:sp>
          <p:sp>
            <p:nvSpPr>
              <p:cNvPr id="65" name="Rectangle 67"/>
              <p:cNvSpPr>
                <a:spLocks noChangeArrowheads="1"/>
              </p:cNvSpPr>
              <p:nvPr/>
            </p:nvSpPr>
            <p:spPr bwMode="auto">
              <a:xfrm>
                <a:off x="4846120" y="5466559"/>
                <a:ext cx="2050911" cy="179339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DHCPRELEASE</a:t>
                </a:r>
              </a:p>
            </p:txBody>
          </p:sp>
          <p:sp>
            <p:nvSpPr>
              <p:cNvPr id="66" name="Rectangle 68"/>
              <p:cNvSpPr>
                <a:spLocks noChangeArrowheads="1"/>
              </p:cNvSpPr>
              <p:nvPr/>
            </p:nvSpPr>
            <p:spPr bwMode="auto">
              <a:xfrm>
                <a:off x="8112519" y="5436295"/>
                <a:ext cx="760136" cy="2387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服务器</a:t>
                </a:r>
              </a:p>
            </p:txBody>
          </p:sp>
          <p:sp>
            <p:nvSpPr>
              <p:cNvPr id="67" name="Rectangle 69"/>
              <p:cNvSpPr>
                <a:spLocks noChangeArrowheads="1"/>
              </p:cNvSpPr>
              <p:nvPr/>
            </p:nvSpPr>
            <p:spPr bwMode="auto">
              <a:xfrm>
                <a:off x="7733666" y="5466559"/>
                <a:ext cx="378854" cy="179339"/>
              </a:xfrm>
              <a:prstGeom prst="rect">
                <a:avLst/>
              </a:prstGeom>
              <a:solidFill>
                <a:srgbClr val="00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67</a:t>
                </a:r>
              </a:p>
            </p:txBody>
          </p:sp>
          <p:sp>
            <p:nvSpPr>
              <p:cNvPr id="68" name="Rectangle 70"/>
              <p:cNvSpPr>
                <a:spLocks noChangeArrowheads="1"/>
              </p:cNvSpPr>
              <p:nvPr/>
            </p:nvSpPr>
            <p:spPr bwMode="auto">
              <a:xfrm>
                <a:off x="3555346" y="5466559"/>
                <a:ext cx="531853" cy="179339"/>
              </a:xfrm>
              <a:prstGeom prst="rect">
                <a:avLst/>
              </a:prstGeom>
              <a:solidFill>
                <a:srgbClr val="CC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68</a:t>
                </a:r>
              </a:p>
            </p:txBody>
          </p:sp>
          <p:sp>
            <p:nvSpPr>
              <p:cNvPr id="80" name="Text Box 82"/>
              <p:cNvSpPr txBox="1">
                <a:spLocks noChangeArrowheads="1"/>
              </p:cNvSpPr>
              <p:nvPr/>
            </p:nvSpPr>
            <p:spPr bwMode="auto">
              <a:xfrm>
                <a:off x="2330330" y="3957590"/>
                <a:ext cx="494046" cy="387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7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  <a:sym typeface="Wingdings" pitchFamily="2" charset="2"/>
                  </a:rPr>
                  <a:t></a:t>
                </a:r>
              </a:p>
            </p:txBody>
          </p:sp>
          <p:sp>
            <p:nvSpPr>
              <p:cNvPr id="81" name="Text Box 83"/>
              <p:cNvSpPr txBox="1">
                <a:spLocks noChangeArrowheads="1"/>
              </p:cNvSpPr>
              <p:nvPr/>
            </p:nvSpPr>
            <p:spPr bwMode="auto">
              <a:xfrm>
                <a:off x="8787843" y="4370067"/>
                <a:ext cx="494046" cy="387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7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  <a:sym typeface="Wingdings" pitchFamily="2" charset="2"/>
                  </a:rPr>
                  <a:t></a:t>
                </a:r>
              </a:p>
            </p:txBody>
          </p:sp>
          <p:sp>
            <p:nvSpPr>
              <p:cNvPr id="82" name="Text Box 84"/>
              <p:cNvSpPr txBox="1">
                <a:spLocks noChangeArrowheads="1"/>
              </p:cNvSpPr>
              <p:nvPr/>
            </p:nvSpPr>
            <p:spPr bwMode="auto">
              <a:xfrm>
                <a:off x="8787843" y="4810568"/>
                <a:ext cx="494046" cy="387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7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  <a:sym typeface="Wingdings" pitchFamily="2" charset="2"/>
                  </a:rPr>
                  <a:t></a:t>
                </a:r>
              </a:p>
            </p:txBody>
          </p:sp>
          <p:sp>
            <p:nvSpPr>
              <p:cNvPr id="83" name="Text Box 85"/>
              <p:cNvSpPr txBox="1">
                <a:spLocks noChangeArrowheads="1"/>
              </p:cNvSpPr>
              <p:nvPr/>
            </p:nvSpPr>
            <p:spPr bwMode="auto">
              <a:xfrm rot="16200000">
                <a:off x="5493807" y="5043138"/>
                <a:ext cx="370614" cy="387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…</a:t>
                </a:r>
              </a:p>
            </p:txBody>
          </p:sp>
          <p:sp>
            <p:nvSpPr>
              <p:cNvPr id="84" name="Text Box 86"/>
              <p:cNvSpPr txBox="1">
                <a:spLocks noChangeArrowheads="1"/>
              </p:cNvSpPr>
              <p:nvPr/>
            </p:nvSpPr>
            <p:spPr bwMode="auto">
              <a:xfrm>
                <a:off x="2330330" y="5416165"/>
                <a:ext cx="494046" cy="387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ts val="2267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7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  <a:sym typeface="Wingdings" pitchFamily="2" charset="2"/>
                  </a:rPr>
                  <a:t></a:t>
                </a:r>
              </a:p>
            </p:txBody>
          </p:sp>
        </p:grpSp>
      </p:grpSp>
      <p:sp>
        <p:nvSpPr>
          <p:cNvPr id="98" name="TextBox 97"/>
          <p:cNvSpPr txBox="1"/>
          <p:nvPr/>
        </p:nvSpPr>
        <p:spPr>
          <a:xfrm>
            <a:off x="2150533" y="5939467"/>
            <a:ext cx="215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注：说明见备注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5.2.3 DHCP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099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与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地址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1159933" y="3046061"/>
            <a:ext cx="9076267" cy="3211339"/>
            <a:chOff x="39556" y="1952011"/>
            <a:chExt cx="9881923" cy="4425021"/>
          </a:xfrm>
        </p:grpSpPr>
        <p:sp>
          <p:nvSpPr>
            <p:cNvPr id="121" name="Freeform 77"/>
            <p:cNvSpPr>
              <a:spLocks/>
            </p:cNvSpPr>
            <p:nvPr/>
          </p:nvSpPr>
          <p:spPr bwMode="auto">
            <a:xfrm>
              <a:off x="2559050" y="5160963"/>
              <a:ext cx="428229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22" name="Freeform 78"/>
            <p:cNvSpPr>
              <a:spLocks/>
            </p:cNvSpPr>
            <p:nvPr/>
          </p:nvSpPr>
          <p:spPr bwMode="auto">
            <a:xfrm>
              <a:off x="5364031" y="5159375"/>
              <a:ext cx="428228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23" name="Line 79"/>
            <p:cNvSpPr>
              <a:spLocks noChangeShapeType="1"/>
            </p:cNvSpPr>
            <p:nvPr/>
          </p:nvSpPr>
          <p:spPr bwMode="auto">
            <a:xfrm rot="-5400000">
              <a:off x="8812081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24" name="Line 80"/>
            <p:cNvSpPr>
              <a:spLocks noChangeShapeType="1"/>
            </p:cNvSpPr>
            <p:nvPr/>
          </p:nvSpPr>
          <p:spPr bwMode="auto">
            <a:xfrm rot="-5400000">
              <a:off x="230320" y="5171943"/>
              <a:ext cx="533400" cy="344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25" name="AutoShape 81"/>
            <p:cNvSpPr>
              <a:spLocks noChangeArrowheads="1"/>
            </p:cNvSpPr>
            <p:nvPr/>
          </p:nvSpPr>
          <p:spPr bwMode="auto">
            <a:xfrm>
              <a:off x="2476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26" name="AutoShape 82"/>
            <p:cNvSpPr>
              <a:spLocks noChangeArrowheads="1"/>
            </p:cNvSpPr>
            <p:nvPr/>
          </p:nvSpPr>
          <p:spPr bwMode="auto">
            <a:xfrm>
              <a:off x="2889250" y="33829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27" name="AutoShape 83"/>
            <p:cNvSpPr>
              <a:spLocks noChangeArrowheads="1"/>
            </p:cNvSpPr>
            <p:nvPr/>
          </p:nvSpPr>
          <p:spPr bwMode="auto">
            <a:xfrm>
              <a:off x="8832850" y="3306763"/>
              <a:ext cx="742950" cy="1905000"/>
            </a:xfrm>
            <a:prstGeom prst="cube">
              <a:avLst>
                <a:gd name="adj" fmla="val 25000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28" name="AutoShape 84"/>
            <p:cNvSpPr>
              <a:spLocks noChangeArrowheads="1"/>
            </p:cNvSpPr>
            <p:nvPr/>
          </p:nvSpPr>
          <p:spPr bwMode="auto">
            <a:xfrm>
              <a:off x="5776781" y="3611563"/>
              <a:ext cx="742950" cy="1676400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grpSp>
          <p:nvGrpSpPr>
            <p:cNvPr id="129" name="Group 85"/>
            <p:cNvGrpSpPr>
              <a:grpSpLocks/>
            </p:cNvGrpSpPr>
            <p:nvPr/>
          </p:nvGrpSpPr>
          <p:grpSpPr bwMode="auto">
            <a:xfrm>
              <a:off x="39556" y="2420938"/>
              <a:ext cx="9881923" cy="2438400"/>
              <a:chOff x="96" y="1056"/>
              <a:chExt cx="5472" cy="1536"/>
            </a:xfrm>
            <a:solidFill>
              <a:srgbClr val="FFFF66"/>
            </a:solidFill>
          </p:grpSpPr>
          <p:sp>
            <p:nvSpPr>
              <p:cNvPr id="188" name="Oval 86"/>
              <p:cNvSpPr>
                <a:spLocks noChangeArrowheads="1"/>
              </p:cNvSpPr>
              <p:nvPr/>
            </p:nvSpPr>
            <p:spPr bwMode="auto">
              <a:xfrm>
                <a:off x="3662" y="1674"/>
                <a:ext cx="1906" cy="75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89" name="Oval 87"/>
              <p:cNvSpPr>
                <a:spLocks noChangeArrowheads="1"/>
              </p:cNvSpPr>
              <p:nvPr/>
            </p:nvSpPr>
            <p:spPr bwMode="auto">
              <a:xfrm>
                <a:off x="96" y="1430"/>
                <a:ext cx="1870" cy="76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90" name="Oval 88"/>
              <p:cNvSpPr>
                <a:spLocks noChangeArrowheads="1"/>
              </p:cNvSpPr>
              <p:nvPr/>
            </p:nvSpPr>
            <p:spPr bwMode="auto">
              <a:xfrm>
                <a:off x="3365" y="1163"/>
                <a:ext cx="1903" cy="7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91" name="Oval 89"/>
              <p:cNvSpPr>
                <a:spLocks noChangeArrowheads="1"/>
              </p:cNvSpPr>
              <p:nvPr/>
            </p:nvSpPr>
            <p:spPr bwMode="auto">
              <a:xfrm>
                <a:off x="2365" y="1821"/>
                <a:ext cx="1900" cy="77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92" name="Oval 90"/>
              <p:cNvSpPr>
                <a:spLocks noChangeArrowheads="1"/>
              </p:cNvSpPr>
              <p:nvPr/>
            </p:nvSpPr>
            <p:spPr bwMode="auto">
              <a:xfrm>
                <a:off x="729" y="1752"/>
                <a:ext cx="1900" cy="7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93" name="Oval 91"/>
              <p:cNvSpPr>
                <a:spLocks noChangeArrowheads="1"/>
              </p:cNvSpPr>
              <p:nvPr/>
            </p:nvSpPr>
            <p:spPr bwMode="auto">
              <a:xfrm>
                <a:off x="2197" y="1056"/>
                <a:ext cx="1870" cy="75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94" name="Oval 92"/>
              <p:cNvSpPr>
                <a:spLocks noChangeArrowheads="1"/>
              </p:cNvSpPr>
              <p:nvPr/>
            </p:nvSpPr>
            <p:spPr bwMode="auto">
              <a:xfrm>
                <a:off x="996" y="1056"/>
                <a:ext cx="1867" cy="731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0000CC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95" name="Oval 93"/>
              <p:cNvSpPr>
                <a:spLocks noChangeArrowheads="1"/>
              </p:cNvSpPr>
              <p:nvPr/>
            </p:nvSpPr>
            <p:spPr bwMode="auto">
              <a:xfrm>
                <a:off x="597" y="1226"/>
                <a:ext cx="4536" cy="106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sp>
          <p:nvSpPr>
            <p:cNvPr id="130" name="Line 94"/>
            <p:cNvSpPr>
              <a:spLocks noChangeShapeType="1"/>
            </p:cNvSpPr>
            <p:nvPr/>
          </p:nvSpPr>
          <p:spPr bwMode="auto">
            <a:xfrm>
              <a:off x="165100" y="5440363"/>
              <a:ext cx="2806700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grpSp>
          <p:nvGrpSpPr>
            <p:cNvPr id="131" name="Group 95"/>
            <p:cNvGrpSpPr>
              <a:grpSpLocks/>
            </p:cNvGrpSpPr>
            <p:nvPr/>
          </p:nvGrpSpPr>
          <p:grpSpPr bwMode="auto">
            <a:xfrm>
              <a:off x="247650" y="2420938"/>
              <a:ext cx="742950" cy="1447800"/>
              <a:chOff x="672" y="528"/>
              <a:chExt cx="432" cy="912"/>
            </a:xfrm>
          </p:grpSpPr>
          <p:sp>
            <p:nvSpPr>
              <p:cNvPr id="185" name="AutoShape 9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86" name="AutoShape 9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87" name="AutoShape 9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sp>
          <p:nvSpPr>
            <p:cNvPr id="132" name="Text Box 99"/>
            <p:cNvSpPr txBox="1">
              <a:spLocks noChangeArrowheads="1"/>
            </p:cNvSpPr>
            <p:nvPr/>
          </p:nvSpPr>
          <p:spPr bwMode="auto">
            <a:xfrm>
              <a:off x="287206" y="3430588"/>
              <a:ext cx="538478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</a:t>
              </a:r>
              <a:r>
                <a:rPr kumimoji="1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1</a:t>
              </a:r>
              <a:endParaRPr kumimoji="1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33" name="Text Box 100"/>
            <p:cNvSpPr txBox="1">
              <a:spLocks noChangeArrowheads="1"/>
            </p:cNvSpPr>
            <p:nvPr/>
          </p:nvSpPr>
          <p:spPr bwMode="auto">
            <a:xfrm>
              <a:off x="233892" y="4783283"/>
              <a:ext cx="671577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HA</a:t>
              </a:r>
              <a:r>
                <a:rPr kumimoji="1" lang="en-US" altLang="zh-CN" sz="15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1</a:t>
              </a:r>
              <a:endParaRPr kumimoji="1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34" name="Text Box 101"/>
            <p:cNvSpPr txBox="1">
              <a:spLocks noChangeArrowheads="1"/>
            </p:cNvSpPr>
            <p:nvPr/>
          </p:nvSpPr>
          <p:spPr bwMode="auto">
            <a:xfrm>
              <a:off x="5154860" y="4745182"/>
              <a:ext cx="671577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HA</a:t>
              </a:r>
              <a:r>
                <a:rPr kumimoji="1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5</a:t>
              </a:r>
              <a:endParaRPr kumimoji="1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35" name="Text Box 102"/>
            <p:cNvSpPr txBox="1">
              <a:spLocks noChangeArrowheads="1"/>
            </p:cNvSpPr>
            <p:nvPr/>
          </p:nvSpPr>
          <p:spPr bwMode="auto">
            <a:xfrm>
              <a:off x="3533095" y="4738834"/>
              <a:ext cx="671577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HA</a:t>
              </a:r>
              <a:r>
                <a:rPr kumimoji="1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4</a:t>
              </a:r>
              <a:endParaRPr kumimoji="1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36" name="Text Box 103"/>
            <p:cNvSpPr txBox="1">
              <a:spLocks noChangeArrowheads="1"/>
            </p:cNvSpPr>
            <p:nvPr/>
          </p:nvSpPr>
          <p:spPr bwMode="auto">
            <a:xfrm>
              <a:off x="2239811" y="4738834"/>
              <a:ext cx="671577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HA</a:t>
              </a:r>
              <a:r>
                <a:rPr kumimoji="1" lang="en-US" altLang="zh-CN" sz="15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3</a:t>
              </a:r>
              <a:endParaRPr kumimoji="1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37" name="Line 104"/>
            <p:cNvSpPr>
              <a:spLocks noChangeShapeType="1"/>
            </p:cNvSpPr>
            <p:nvPr/>
          </p:nvSpPr>
          <p:spPr bwMode="auto">
            <a:xfrm>
              <a:off x="908050" y="3611563"/>
              <a:ext cx="2063750" cy="0"/>
            </a:xfrm>
            <a:prstGeom prst="line">
              <a:avLst/>
            </a:prstGeom>
            <a:noFill/>
            <a:ln w="28575">
              <a:solidFill>
                <a:srgbClr val="3399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38" name="Line 105"/>
            <p:cNvSpPr>
              <a:spLocks noChangeShapeType="1"/>
            </p:cNvSpPr>
            <p:nvPr/>
          </p:nvSpPr>
          <p:spPr bwMode="auto">
            <a:xfrm>
              <a:off x="6438900" y="5440363"/>
              <a:ext cx="3219450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39" name="Text Box 106"/>
            <p:cNvSpPr txBox="1">
              <a:spLocks noChangeArrowheads="1"/>
            </p:cNvSpPr>
            <p:nvPr/>
          </p:nvSpPr>
          <p:spPr bwMode="auto">
            <a:xfrm>
              <a:off x="6436103" y="4732483"/>
              <a:ext cx="671577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HA</a:t>
              </a:r>
              <a:r>
                <a:rPr kumimoji="1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6</a:t>
              </a:r>
              <a:endParaRPr kumimoji="1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40" name="Text Box 107"/>
            <p:cNvSpPr txBox="1">
              <a:spLocks noChangeArrowheads="1"/>
            </p:cNvSpPr>
            <p:nvPr/>
          </p:nvSpPr>
          <p:spPr bwMode="auto">
            <a:xfrm>
              <a:off x="8805333" y="4748357"/>
              <a:ext cx="671577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HA</a:t>
              </a:r>
              <a:r>
                <a:rPr kumimoji="1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2</a:t>
              </a:r>
              <a:endParaRPr kumimoji="1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41" name="Text Box 108"/>
            <p:cNvSpPr txBox="1">
              <a:spLocks noChangeArrowheads="1"/>
            </p:cNvSpPr>
            <p:nvPr/>
          </p:nvSpPr>
          <p:spPr bwMode="auto">
            <a:xfrm>
              <a:off x="6393150" y="3709988"/>
              <a:ext cx="538478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</a:t>
              </a:r>
              <a:r>
                <a:rPr kumimoji="1" lang="en-US" altLang="zh-CN" sz="1500" b="1" i="0" u="none" strike="noStrike" kern="1200" cap="none" spc="0" normalizeH="0" baseline="-2500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6</a:t>
              </a:r>
              <a:endParaRPr kumimoji="1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42" name="Text Box 109"/>
            <p:cNvSpPr txBox="1">
              <a:spLocks noChangeArrowheads="1"/>
            </p:cNvSpPr>
            <p:nvPr/>
          </p:nvSpPr>
          <p:spPr bwMode="auto">
            <a:xfrm>
              <a:off x="116947" y="1977411"/>
              <a:ext cx="1025238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主机 </a:t>
              </a: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H</a:t>
              </a:r>
              <a:r>
                <a:rPr kumimoji="1" lang="en-US" altLang="zh-CN" sz="15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1</a:t>
              </a:r>
              <a:endParaRPr kumimoji="1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43" name="Text Box 110"/>
            <p:cNvSpPr txBox="1">
              <a:spLocks noChangeArrowheads="1"/>
            </p:cNvSpPr>
            <p:nvPr/>
          </p:nvSpPr>
          <p:spPr bwMode="auto">
            <a:xfrm>
              <a:off x="8716466" y="1952011"/>
              <a:ext cx="1025238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主机 </a:t>
              </a: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H</a:t>
              </a:r>
              <a:r>
                <a:rPr kumimoji="1" lang="en-US" altLang="zh-CN" sz="15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2</a:t>
              </a:r>
              <a:endParaRPr kumimoji="1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44" name="AutoShape 111"/>
            <p:cNvSpPr>
              <a:spLocks noChangeArrowheads="1"/>
            </p:cNvSpPr>
            <p:nvPr/>
          </p:nvSpPr>
          <p:spPr bwMode="auto">
            <a:xfrm>
              <a:off x="2889250" y="3259138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45" name="Text Box 112"/>
            <p:cNvSpPr txBox="1">
              <a:spLocks noChangeArrowheads="1"/>
            </p:cNvSpPr>
            <p:nvPr/>
          </p:nvSpPr>
          <p:spPr bwMode="auto">
            <a:xfrm>
              <a:off x="2791265" y="2804500"/>
              <a:ext cx="1224887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路由器 </a:t>
              </a: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R</a:t>
              </a:r>
              <a:r>
                <a:rPr kumimoji="1" lang="en-US" altLang="zh-CN" sz="15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1</a:t>
              </a:r>
              <a:endParaRPr kumimoji="1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46" name="Text Box 113"/>
            <p:cNvSpPr txBox="1">
              <a:spLocks noChangeArrowheads="1"/>
            </p:cNvSpPr>
            <p:nvPr/>
          </p:nvSpPr>
          <p:spPr bwMode="auto">
            <a:xfrm>
              <a:off x="4777829" y="4119709"/>
              <a:ext cx="1993055" cy="466506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3333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 </a:t>
              </a:r>
              <a:r>
                <a:rPr kumimoji="1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层上的互联网</a:t>
              </a:r>
            </a:p>
          </p:txBody>
        </p:sp>
        <p:sp>
          <p:nvSpPr>
            <p:cNvPr id="147" name="Text Box 114"/>
            <p:cNvSpPr txBox="1">
              <a:spLocks noChangeArrowheads="1"/>
            </p:cNvSpPr>
            <p:nvPr/>
          </p:nvSpPr>
          <p:spPr bwMode="auto">
            <a:xfrm>
              <a:off x="987245" y="5931731"/>
              <a:ext cx="1071024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MAC </a:t>
              </a:r>
              <a:r>
                <a:rPr kumimoji="1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帧</a:t>
              </a:r>
            </a:p>
          </p:txBody>
        </p:sp>
        <p:grpSp>
          <p:nvGrpSpPr>
            <p:cNvPr id="148" name="Group 115"/>
            <p:cNvGrpSpPr>
              <a:grpSpLocks/>
            </p:cNvGrpSpPr>
            <p:nvPr/>
          </p:nvGrpSpPr>
          <p:grpSpPr bwMode="auto">
            <a:xfrm>
              <a:off x="8832850" y="2420938"/>
              <a:ext cx="742950" cy="1447800"/>
              <a:chOff x="672" y="528"/>
              <a:chExt cx="432" cy="912"/>
            </a:xfrm>
          </p:grpSpPr>
          <p:sp>
            <p:nvSpPr>
              <p:cNvPr id="182" name="AutoShape 116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83" name="AutoShape 117"/>
              <p:cNvSpPr>
                <a:spLocks noChangeArrowheads="1"/>
              </p:cNvSpPr>
              <p:nvPr/>
            </p:nvSpPr>
            <p:spPr bwMode="auto">
              <a:xfrm>
                <a:off x="672" y="720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184" name="AutoShape 118"/>
              <p:cNvSpPr>
                <a:spLocks noChangeArrowheads="1"/>
              </p:cNvSpPr>
              <p:nvPr/>
            </p:nvSpPr>
            <p:spPr bwMode="auto">
              <a:xfrm>
                <a:off x="672" y="528"/>
                <a:ext cx="432" cy="432"/>
              </a:xfrm>
              <a:prstGeom prst="cube">
                <a:avLst>
                  <a:gd name="adj" fmla="val 25000"/>
                </a:avLst>
              </a:prstGeom>
              <a:solidFill>
                <a:srgbClr val="92D05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sp>
          <p:nvSpPr>
            <p:cNvPr id="149" name="Text Box 119"/>
            <p:cNvSpPr txBox="1">
              <a:spLocks noChangeArrowheads="1"/>
            </p:cNvSpPr>
            <p:nvPr/>
          </p:nvSpPr>
          <p:spPr bwMode="auto">
            <a:xfrm>
              <a:off x="8886167" y="3435350"/>
              <a:ext cx="538478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</a:t>
              </a:r>
              <a:r>
                <a:rPr kumimoji="1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2</a:t>
              </a:r>
              <a:endParaRPr kumimoji="1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50" name="Text Box 120"/>
            <p:cNvSpPr txBox="1">
              <a:spLocks noChangeArrowheads="1"/>
            </p:cNvSpPr>
            <p:nvPr/>
          </p:nvSpPr>
          <p:spPr bwMode="auto">
            <a:xfrm>
              <a:off x="3597805" y="3697289"/>
              <a:ext cx="538478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</a:t>
              </a:r>
              <a:r>
                <a:rPr kumimoji="1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4</a:t>
              </a:r>
              <a:endParaRPr kumimoji="1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51" name="Text Box 121"/>
            <p:cNvSpPr txBox="1">
              <a:spLocks noChangeArrowheads="1"/>
            </p:cNvSpPr>
            <p:nvPr/>
          </p:nvSpPr>
          <p:spPr bwMode="auto">
            <a:xfrm>
              <a:off x="2476499" y="3697289"/>
              <a:ext cx="538478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</a:t>
              </a:r>
              <a:r>
                <a:rPr kumimoji="1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3</a:t>
              </a:r>
              <a:endParaRPr kumimoji="1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52" name="Line 122"/>
            <p:cNvSpPr>
              <a:spLocks noChangeShapeType="1"/>
            </p:cNvSpPr>
            <p:nvPr/>
          </p:nvSpPr>
          <p:spPr bwMode="auto">
            <a:xfrm>
              <a:off x="3549650" y="3611563"/>
              <a:ext cx="2228850" cy="0"/>
            </a:xfrm>
            <a:prstGeom prst="line">
              <a:avLst/>
            </a:prstGeom>
            <a:noFill/>
            <a:ln w="28575">
              <a:solidFill>
                <a:srgbClr val="3399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53" name="AutoShape 123"/>
            <p:cNvSpPr>
              <a:spLocks noChangeArrowheads="1"/>
            </p:cNvSpPr>
            <p:nvPr/>
          </p:nvSpPr>
          <p:spPr bwMode="auto">
            <a:xfrm>
              <a:off x="5776781" y="3230563"/>
              <a:ext cx="742950" cy="609600"/>
            </a:xfrm>
            <a:prstGeom prst="cube">
              <a:avLst>
                <a:gd name="adj" fmla="val 25000"/>
              </a:avLst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54" name="Line 124"/>
            <p:cNvSpPr>
              <a:spLocks noChangeShapeType="1"/>
            </p:cNvSpPr>
            <p:nvPr/>
          </p:nvSpPr>
          <p:spPr bwMode="auto">
            <a:xfrm>
              <a:off x="6438900" y="3611563"/>
              <a:ext cx="2393950" cy="0"/>
            </a:xfrm>
            <a:prstGeom prst="line">
              <a:avLst/>
            </a:prstGeom>
            <a:noFill/>
            <a:ln w="28575">
              <a:solidFill>
                <a:srgbClr val="3399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55" name="Text Box 125"/>
            <p:cNvSpPr txBox="1">
              <a:spLocks noChangeArrowheads="1"/>
            </p:cNvSpPr>
            <p:nvPr/>
          </p:nvSpPr>
          <p:spPr bwMode="auto">
            <a:xfrm>
              <a:off x="5365752" y="3697289"/>
              <a:ext cx="538478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</a:t>
              </a:r>
              <a:r>
                <a:rPr kumimoji="1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5</a:t>
              </a:r>
              <a:endParaRPr kumimoji="1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56" name="Line 126"/>
            <p:cNvSpPr>
              <a:spLocks noChangeShapeType="1"/>
            </p:cNvSpPr>
            <p:nvPr/>
          </p:nvSpPr>
          <p:spPr bwMode="auto">
            <a:xfrm>
              <a:off x="3632200" y="5440363"/>
              <a:ext cx="2063750" cy="0"/>
            </a:xfrm>
            <a:prstGeom prst="line">
              <a:avLst/>
            </a:prstGeom>
            <a:noFill/>
            <a:ln w="5715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57" name="Freeform 127"/>
            <p:cNvSpPr>
              <a:spLocks/>
            </p:cNvSpPr>
            <p:nvPr/>
          </p:nvSpPr>
          <p:spPr bwMode="auto">
            <a:xfrm flipH="1">
              <a:off x="6414823" y="5156201"/>
              <a:ext cx="369756" cy="284163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58" name="Freeform 128"/>
            <p:cNvSpPr>
              <a:spLocks/>
            </p:cNvSpPr>
            <p:nvPr/>
          </p:nvSpPr>
          <p:spPr bwMode="auto">
            <a:xfrm flipH="1">
              <a:off x="3503216" y="5162550"/>
              <a:ext cx="459184" cy="279400"/>
            </a:xfrm>
            <a:custGeom>
              <a:avLst/>
              <a:gdLst>
                <a:gd name="T0" fmla="*/ 0 w 249"/>
                <a:gd name="T1" fmla="*/ 176 h 176"/>
                <a:gd name="T2" fmla="*/ 1 w 249"/>
                <a:gd name="T3" fmla="*/ 0 h 176"/>
                <a:gd name="T4" fmla="*/ 249 w 249"/>
                <a:gd name="T5" fmla="*/ 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9" h="176">
                  <a:moveTo>
                    <a:pt x="0" y="176"/>
                  </a:moveTo>
                  <a:lnTo>
                    <a:pt x="1" y="0"/>
                  </a:lnTo>
                  <a:lnTo>
                    <a:pt x="249" y="9"/>
                  </a:lnTo>
                </a:path>
              </a:pathLst>
            </a:custGeom>
            <a:noFill/>
            <a:ln w="28575" cmpd="sng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59" name="Text Box 129"/>
            <p:cNvSpPr txBox="1">
              <a:spLocks noChangeArrowheads="1"/>
            </p:cNvSpPr>
            <p:nvPr/>
          </p:nvSpPr>
          <p:spPr bwMode="auto">
            <a:xfrm>
              <a:off x="5610004" y="2779098"/>
              <a:ext cx="1224887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路由器 </a:t>
              </a:r>
              <a:r>
                <a: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R</a:t>
              </a:r>
              <a:r>
                <a:rPr kumimoji="1" lang="en-US" altLang="zh-CN" sz="15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2</a:t>
              </a:r>
              <a:endParaRPr kumimoji="1" lang="en-US" altLang="zh-CN" sz="15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grpSp>
          <p:nvGrpSpPr>
            <p:cNvPr id="160" name="Group 130"/>
            <p:cNvGrpSpPr>
              <a:grpSpLocks/>
            </p:cNvGrpSpPr>
            <p:nvPr/>
          </p:nvGrpSpPr>
          <p:grpSpPr bwMode="auto">
            <a:xfrm>
              <a:off x="1238250" y="3154363"/>
              <a:ext cx="1568450" cy="381000"/>
              <a:chOff x="1632" y="2688"/>
              <a:chExt cx="912" cy="240"/>
            </a:xfrm>
          </p:grpSpPr>
          <p:sp>
            <p:nvSpPr>
              <p:cNvPr id="180" name="Rectangle 131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  IP</a:t>
                </a:r>
                <a:r>
                  <a:rPr kumimoji="1" lang="en-US" altLang="zh-CN" sz="16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1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 → IP</a:t>
                </a:r>
                <a:r>
                  <a:rPr kumimoji="1" lang="en-US" altLang="zh-CN" sz="16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2</a:t>
                </a:r>
              </a:p>
            </p:txBody>
          </p:sp>
          <p:sp>
            <p:nvSpPr>
              <p:cNvPr id="181" name="AutoShape 132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99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grpSp>
          <p:nvGrpSpPr>
            <p:cNvPr id="161" name="Group 133"/>
            <p:cNvGrpSpPr>
              <a:grpSpLocks/>
            </p:cNvGrpSpPr>
            <p:nvPr/>
          </p:nvGrpSpPr>
          <p:grpSpPr bwMode="auto">
            <a:xfrm>
              <a:off x="4044950" y="3154363"/>
              <a:ext cx="1568450" cy="381000"/>
              <a:chOff x="1632" y="2688"/>
              <a:chExt cx="912" cy="240"/>
            </a:xfrm>
          </p:grpSpPr>
          <p:sp>
            <p:nvSpPr>
              <p:cNvPr id="178" name="Rectangle 134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</a:t>
                </a:r>
                <a:r>
                  <a:rPr kumimoji="1" lang="en-US" altLang="zh-CN" sz="1600" b="1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1</a:t>
                </a: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 → IP</a:t>
                </a:r>
                <a:r>
                  <a:rPr kumimoji="1" lang="en-US" altLang="zh-CN" sz="1600" b="1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2</a:t>
                </a:r>
              </a:p>
            </p:txBody>
          </p:sp>
          <p:sp>
            <p:nvSpPr>
              <p:cNvPr id="179" name="AutoShape 135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99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grpSp>
          <p:nvGrpSpPr>
            <p:cNvPr id="162" name="Group 136"/>
            <p:cNvGrpSpPr>
              <a:grpSpLocks/>
            </p:cNvGrpSpPr>
            <p:nvPr/>
          </p:nvGrpSpPr>
          <p:grpSpPr bwMode="auto">
            <a:xfrm>
              <a:off x="7016750" y="3154363"/>
              <a:ext cx="1568450" cy="381000"/>
              <a:chOff x="1632" y="2688"/>
              <a:chExt cx="912" cy="240"/>
            </a:xfrm>
          </p:grpSpPr>
          <p:sp>
            <p:nvSpPr>
              <p:cNvPr id="176" name="Rectangle 137"/>
              <p:cNvSpPr>
                <a:spLocks noChangeArrowheads="1"/>
              </p:cNvSpPr>
              <p:nvPr/>
            </p:nvSpPr>
            <p:spPr bwMode="auto">
              <a:xfrm>
                <a:off x="1632" y="2688"/>
                <a:ext cx="720" cy="240"/>
              </a:xfrm>
              <a:prstGeom prst="rect">
                <a:avLst/>
              </a:prstGeom>
              <a:solidFill>
                <a:srgbClr val="99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</a:t>
                </a:r>
                <a:r>
                  <a:rPr kumimoji="1" lang="en-US" altLang="zh-CN" sz="1600" b="1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1</a:t>
                </a:r>
                <a:r>
                  <a:rPr kumimoji="1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 → IP</a:t>
                </a:r>
                <a:r>
                  <a:rPr kumimoji="1" lang="en-US" altLang="zh-CN" sz="1600" b="1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2</a:t>
                </a:r>
              </a:p>
            </p:txBody>
          </p:sp>
          <p:sp>
            <p:nvSpPr>
              <p:cNvPr id="177" name="AutoShape 138"/>
              <p:cNvSpPr>
                <a:spLocks noChangeArrowheads="1"/>
              </p:cNvSpPr>
              <p:nvPr/>
            </p:nvSpPr>
            <p:spPr bwMode="auto">
              <a:xfrm>
                <a:off x="2352" y="2736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99FFCC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grpSp>
          <p:nvGrpSpPr>
            <p:cNvPr id="163" name="Group 139"/>
            <p:cNvGrpSpPr>
              <a:grpSpLocks/>
            </p:cNvGrpSpPr>
            <p:nvPr/>
          </p:nvGrpSpPr>
          <p:grpSpPr bwMode="auto">
            <a:xfrm>
              <a:off x="660400" y="5576888"/>
              <a:ext cx="2146300" cy="381000"/>
              <a:chOff x="480" y="3110"/>
              <a:chExt cx="1248" cy="240"/>
            </a:xfrm>
          </p:grpSpPr>
          <p:sp>
            <p:nvSpPr>
              <p:cNvPr id="174" name="Rectangle 140"/>
              <p:cNvSpPr>
                <a:spLocks noChangeArrowheads="1"/>
              </p:cNvSpPr>
              <p:nvPr/>
            </p:nvSpPr>
            <p:spPr bwMode="auto">
              <a:xfrm>
                <a:off x="480" y="3110"/>
                <a:ext cx="1056" cy="240"/>
              </a:xfrm>
              <a:prstGeom prst="rect">
                <a:avLst/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从 </a:t>
                </a:r>
                <a:r>
                  <a:rPr kumimoji="1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1</a:t>
                </a:r>
                <a:r>
                  <a:rPr kumimoji="1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kumimoji="1" lang="zh-CN" altLang="en-US" sz="15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到 </a:t>
                </a:r>
                <a:r>
                  <a:rPr kumimoji="1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3</a:t>
                </a:r>
              </a:p>
            </p:txBody>
          </p:sp>
          <p:sp>
            <p:nvSpPr>
              <p:cNvPr id="175" name="AutoShape 141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grpSp>
          <p:nvGrpSpPr>
            <p:cNvPr id="164" name="Group 142"/>
            <p:cNvGrpSpPr>
              <a:grpSpLocks/>
            </p:cNvGrpSpPr>
            <p:nvPr/>
          </p:nvGrpSpPr>
          <p:grpSpPr bwMode="auto">
            <a:xfrm>
              <a:off x="3797300" y="5576888"/>
              <a:ext cx="2146300" cy="381000"/>
              <a:chOff x="480" y="3110"/>
              <a:chExt cx="1248" cy="240"/>
            </a:xfrm>
          </p:grpSpPr>
          <p:sp>
            <p:nvSpPr>
              <p:cNvPr id="172" name="Rectangle 143"/>
              <p:cNvSpPr>
                <a:spLocks noChangeArrowheads="1"/>
              </p:cNvSpPr>
              <p:nvPr/>
            </p:nvSpPr>
            <p:spPr bwMode="auto">
              <a:xfrm>
                <a:off x="480" y="3110"/>
                <a:ext cx="1056" cy="240"/>
              </a:xfrm>
              <a:prstGeom prst="rect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从 </a:t>
                </a:r>
                <a:r>
                  <a:rPr kumimoji="1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4</a:t>
                </a:r>
                <a:r>
                  <a:rPr kumimoji="1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kumimoji="1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到 </a:t>
                </a:r>
                <a:r>
                  <a:rPr kumimoji="1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5</a:t>
                </a:r>
              </a:p>
            </p:txBody>
          </p:sp>
          <p:sp>
            <p:nvSpPr>
              <p:cNvPr id="173" name="AutoShape 144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grpSp>
          <p:nvGrpSpPr>
            <p:cNvPr id="165" name="Group 145"/>
            <p:cNvGrpSpPr>
              <a:grpSpLocks/>
            </p:cNvGrpSpPr>
            <p:nvPr/>
          </p:nvGrpSpPr>
          <p:grpSpPr bwMode="auto">
            <a:xfrm>
              <a:off x="6934200" y="5576888"/>
              <a:ext cx="2146300" cy="381000"/>
              <a:chOff x="480" y="3110"/>
              <a:chExt cx="1248" cy="240"/>
            </a:xfrm>
          </p:grpSpPr>
          <p:sp>
            <p:nvSpPr>
              <p:cNvPr id="170" name="Rectangle 146"/>
              <p:cNvSpPr>
                <a:spLocks noChangeArrowheads="1"/>
              </p:cNvSpPr>
              <p:nvPr/>
            </p:nvSpPr>
            <p:spPr bwMode="auto">
              <a:xfrm>
                <a:off x="480" y="3110"/>
                <a:ext cx="1056" cy="24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从 </a:t>
                </a:r>
                <a:r>
                  <a:rPr kumimoji="1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</a:t>
                </a:r>
                <a:r>
                  <a:rPr kumimoji="1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 </a:t>
                </a:r>
                <a:r>
                  <a:rPr kumimoji="1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到 </a:t>
                </a:r>
                <a:r>
                  <a:rPr kumimoji="1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2</a:t>
                </a:r>
              </a:p>
            </p:txBody>
          </p:sp>
          <p:sp>
            <p:nvSpPr>
              <p:cNvPr id="171" name="AutoShape 147"/>
              <p:cNvSpPr>
                <a:spLocks noChangeArrowheads="1"/>
              </p:cNvSpPr>
              <p:nvPr/>
            </p:nvSpPr>
            <p:spPr bwMode="auto">
              <a:xfrm>
                <a:off x="1536" y="3168"/>
                <a:ext cx="192" cy="144"/>
              </a:xfrm>
              <a:prstGeom prst="rightArrow">
                <a:avLst>
                  <a:gd name="adj1" fmla="val 50000"/>
                  <a:gd name="adj2" fmla="val 54167"/>
                </a:avLst>
              </a:prstGeom>
              <a:solidFill>
                <a:srgbClr val="00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  <p:sp>
          <p:nvSpPr>
            <p:cNvPr id="166" name="Text Box 148"/>
            <p:cNvSpPr txBox="1">
              <a:spLocks noChangeArrowheads="1"/>
            </p:cNvSpPr>
            <p:nvPr/>
          </p:nvSpPr>
          <p:spPr bwMode="auto">
            <a:xfrm>
              <a:off x="7286323" y="5931731"/>
              <a:ext cx="1071024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MAC </a:t>
              </a:r>
              <a:r>
                <a:rPr kumimoji="1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帧</a:t>
              </a:r>
            </a:p>
          </p:txBody>
        </p:sp>
        <p:sp>
          <p:nvSpPr>
            <p:cNvPr id="167" name="Text Box 149"/>
            <p:cNvSpPr txBox="1">
              <a:spLocks noChangeArrowheads="1"/>
            </p:cNvSpPr>
            <p:nvPr/>
          </p:nvSpPr>
          <p:spPr bwMode="auto">
            <a:xfrm>
              <a:off x="4150585" y="5931731"/>
              <a:ext cx="1071024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MAC </a:t>
              </a:r>
              <a:r>
                <a:rPr kumimoji="1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帧</a:t>
              </a:r>
            </a:p>
          </p:txBody>
        </p:sp>
        <p:sp>
          <p:nvSpPr>
            <p:cNvPr id="168" name="AutoShape 150"/>
            <p:cNvSpPr>
              <a:spLocks noChangeArrowheads="1"/>
            </p:cNvSpPr>
            <p:nvPr/>
          </p:nvSpPr>
          <p:spPr bwMode="auto">
            <a:xfrm flipV="1">
              <a:off x="2228850" y="2292351"/>
              <a:ext cx="1320800" cy="377825"/>
            </a:xfrm>
            <a:prstGeom prst="wedgeRoundRectCallout">
              <a:avLst>
                <a:gd name="adj1" fmla="val -75782"/>
                <a:gd name="adj2" fmla="val -203782"/>
                <a:gd name="adj3" fmla="val 16667"/>
              </a:avLst>
            </a:prstGeom>
            <a:solidFill>
              <a:srgbClr val="66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69" name="Text Box 151"/>
            <p:cNvSpPr txBox="1">
              <a:spLocks noChangeArrowheads="1"/>
            </p:cNvSpPr>
            <p:nvPr/>
          </p:nvSpPr>
          <p:spPr bwMode="auto">
            <a:xfrm>
              <a:off x="2270125" y="2249634"/>
              <a:ext cx="1198267" cy="445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IP </a:t>
              </a:r>
              <a:r>
                <a:rPr kumimoji="1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数据报</a:t>
              </a:r>
            </a:p>
          </p:txBody>
        </p:sp>
      </p:grpSp>
      <p:sp>
        <p:nvSpPr>
          <p:cNvPr id="197" name="Line 159"/>
          <p:cNvSpPr>
            <a:spLocks noChangeShapeType="1"/>
          </p:cNvSpPr>
          <p:nvPr/>
        </p:nvSpPr>
        <p:spPr bwMode="auto">
          <a:xfrm>
            <a:off x="1963775" y="3594900"/>
            <a:ext cx="0" cy="1934351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98" name="Line 161"/>
          <p:cNvSpPr>
            <a:spLocks noChangeShapeType="1"/>
          </p:cNvSpPr>
          <p:nvPr/>
        </p:nvSpPr>
        <p:spPr bwMode="auto">
          <a:xfrm>
            <a:off x="1879757" y="5581094"/>
            <a:ext cx="1862324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99" name="Line 163"/>
          <p:cNvSpPr>
            <a:spLocks noChangeShapeType="1"/>
          </p:cNvSpPr>
          <p:nvPr/>
        </p:nvSpPr>
        <p:spPr bwMode="auto">
          <a:xfrm flipV="1">
            <a:off x="4132811" y="4169790"/>
            <a:ext cx="0" cy="1306464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00" name="Line 164"/>
          <p:cNvSpPr>
            <a:spLocks noChangeShapeType="1"/>
          </p:cNvSpPr>
          <p:nvPr/>
        </p:nvSpPr>
        <p:spPr bwMode="auto">
          <a:xfrm>
            <a:off x="4329996" y="4169790"/>
            <a:ext cx="0" cy="1306464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01" name="Line 165"/>
          <p:cNvSpPr>
            <a:spLocks noChangeShapeType="1"/>
          </p:cNvSpPr>
          <p:nvPr/>
        </p:nvSpPr>
        <p:spPr bwMode="auto">
          <a:xfrm>
            <a:off x="4576555" y="5581094"/>
            <a:ext cx="1862324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02" name="Line 168"/>
          <p:cNvSpPr>
            <a:spLocks noChangeShapeType="1"/>
          </p:cNvSpPr>
          <p:nvPr/>
        </p:nvSpPr>
        <p:spPr bwMode="auto">
          <a:xfrm flipV="1">
            <a:off x="6567176" y="4169790"/>
            <a:ext cx="0" cy="1306464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03" name="Line 169"/>
          <p:cNvSpPr>
            <a:spLocks noChangeShapeType="1"/>
          </p:cNvSpPr>
          <p:nvPr/>
        </p:nvSpPr>
        <p:spPr bwMode="auto">
          <a:xfrm>
            <a:off x="6764361" y="4169790"/>
            <a:ext cx="0" cy="1306464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04" name="Line 170"/>
          <p:cNvSpPr>
            <a:spLocks noChangeShapeType="1"/>
          </p:cNvSpPr>
          <p:nvPr/>
        </p:nvSpPr>
        <p:spPr bwMode="auto">
          <a:xfrm>
            <a:off x="7271900" y="5581094"/>
            <a:ext cx="1862325" cy="0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05" name="Line 171"/>
          <p:cNvSpPr>
            <a:spLocks noChangeShapeType="1"/>
          </p:cNvSpPr>
          <p:nvPr/>
        </p:nvSpPr>
        <p:spPr bwMode="auto">
          <a:xfrm flipV="1">
            <a:off x="9197277" y="3646742"/>
            <a:ext cx="0" cy="1934351"/>
          </a:xfrm>
          <a:prstGeom prst="line">
            <a:avLst/>
          </a:prstGeom>
          <a:noFill/>
          <a:ln w="57150">
            <a:solidFill>
              <a:srgbClr val="CC00CC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577272" y="1653730"/>
            <a:ext cx="8325805" cy="1284702"/>
            <a:chOff x="1577272" y="1653730"/>
            <a:chExt cx="8325805" cy="1284702"/>
          </a:xfrm>
        </p:grpSpPr>
        <p:sp>
          <p:nvSpPr>
            <p:cNvPr id="212" name="Text Box 13"/>
            <p:cNvSpPr txBox="1">
              <a:spLocks noChangeArrowheads="1"/>
            </p:cNvSpPr>
            <p:nvPr/>
          </p:nvSpPr>
          <p:spPr bwMode="auto">
            <a:xfrm>
              <a:off x="1577272" y="1653730"/>
              <a:ext cx="1008706" cy="3539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1917" tIns="60958" rIns="121917" bIns="6095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主机 </a:t>
              </a: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H</a:t>
              </a:r>
              <a:r>
                <a:rPr kumimoji="1" lang="en-US" altLang="zh-CN" sz="15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1</a:t>
              </a:r>
              <a:endParaRPr kumimoji="1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213" name="Text Box 14"/>
            <p:cNvSpPr txBox="1">
              <a:spLocks noChangeArrowheads="1"/>
            </p:cNvSpPr>
            <p:nvPr/>
          </p:nvSpPr>
          <p:spPr bwMode="auto">
            <a:xfrm>
              <a:off x="8894371" y="1653730"/>
              <a:ext cx="1008706" cy="3539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1917" tIns="60958" rIns="121917" bIns="60958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主机 </a:t>
              </a:r>
              <a:r>
                <a: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H</a:t>
              </a:r>
              <a:r>
                <a:rPr kumimoji="1" lang="en-US" altLang="zh-CN" sz="15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2</a:t>
              </a:r>
              <a:endParaRPr kumimoji="1" lang="en-US" altLang="zh-CN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1631743" y="1974162"/>
              <a:ext cx="8175453" cy="964270"/>
              <a:chOff x="1631743" y="1974162"/>
              <a:chExt cx="8175453" cy="964270"/>
            </a:xfrm>
          </p:grpSpPr>
          <p:sp>
            <p:nvSpPr>
              <p:cNvPr id="206" name="Freeform 2"/>
              <p:cNvSpPr>
                <a:spLocks/>
              </p:cNvSpPr>
              <p:nvPr/>
            </p:nvSpPr>
            <p:spPr bwMode="auto">
              <a:xfrm>
                <a:off x="3886740" y="2529221"/>
                <a:ext cx="247993" cy="387100"/>
              </a:xfrm>
              <a:custGeom>
                <a:avLst/>
                <a:gdLst>
                  <a:gd name="T0" fmla="*/ 0 w 249"/>
                  <a:gd name="T1" fmla="*/ 176 h 176"/>
                  <a:gd name="T2" fmla="*/ 1 w 249"/>
                  <a:gd name="T3" fmla="*/ 0 h 176"/>
                  <a:gd name="T4" fmla="*/ 249 w 249"/>
                  <a:gd name="T5" fmla="*/ 9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9" h="176">
                    <a:moveTo>
                      <a:pt x="0" y="176"/>
                    </a:moveTo>
                    <a:lnTo>
                      <a:pt x="1" y="0"/>
                    </a:lnTo>
                    <a:lnTo>
                      <a:pt x="249" y="9"/>
                    </a:lnTo>
                  </a:path>
                </a:pathLst>
              </a:custGeom>
              <a:noFill/>
              <a:ln w="28575" cmpd="sng">
                <a:solidFill>
                  <a:srgbClr val="33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1917" tIns="60958" rIns="121917" bIns="6095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07" name="Freeform 3"/>
              <p:cNvSpPr>
                <a:spLocks/>
              </p:cNvSpPr>
              <p:nvPr/>
            </p:nvSpPr>
            <p:spPr bwMode="auto">
              <a:xfrm>
                <a:off x="6397165" y="2529221"/>
                <a:ext cx="169016" cy="385948"/>
              </a:xfrm>
              <a:custGeom>
                <a:avLst/>
                <a:gdLst>
                  <a:gd name="T0" fmla="*/ 0 w 249"/>
                  <a:gd name="T1" fmla="*/ 176 h 176"/>
                  <a:gd name="T2" fmla="*/ 1 w 249"/>
                  <a:gd name="T3" fmla="*/ 0 h 176"/>
                  <a:gd name="T4" fmla="*/ 249 w 249"/>
                  <a:gd name="T5" fmla="*/ 9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9" h="176">
                    <a:moveTo>
                      <a:pt x="0" y="176"/>
                    </a:moveTo>
                    <a:lnTo>
                      <a:pt x="1" y="0"/>
                    </a:lnTo>
                    <a:lnTo>
                      <a:pt x="249" y="9"/>
                    </a:lnTo>
                  </a:path>
                </a:pathLst>
              </a:custGeom>
              <a:noFill/>
              <a:ln w="28575" cmpd="sng">
                <a:solidFill>
                  <a:srgbClr val="33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1917" tIns="60958" rIns="121917" bIns="6095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08" name="Line 4"/>
              <p:cNvSpPr>
                <a:spLocks noChangeShapeType="1"/>
              </p:cNvSpPr>
              <p:nvPr/>
            </p:nvSpPr>
            <p:spPr bwMode="auto">
              <a:xfrm rot="16200000">
                <a:off x="9218299" y="2721191"/>
                <a:ext cx="387100" cy="3160"/>
              </a:xfrm>
              <a:prstGeom prst="line">
                <a:avLst/>
              </a:prstGeom>
              <a:noFill/>
              <a:ln w="28575">
                <a:solidFill>
                  <a:srgbClr val="33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1917" tIns="60958" rIns="121917" bIns="6095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09" name="Line 5"/>
              <p:cNvSpPr>
                <a:spLocks noChangeShapeType="1"/>
              </p:cNvSpPr>
              <p:nvPr/>
            </p:nvSpPr>
            <p:spPr bwMode="auto">
              <a:xfrm rot="16200000">
                <a:off x="1771664" y="2721192"/>
                <a:ext cx="387100" cy="3158"/>
              </a:xfrm>
              <a:prstGeom prst="line">
                <a:avLst/>
              </a:prstGeom>
              <a:noFill/>
              <a:ln w="28575">
                <a:solidFill>
                  <a:srgbClr val="33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1917" tIns="60958" rIns="121917" bIns="6095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10" name="Line 6"/>
              <p:cNvSpPr>
                <a:spLocks noChangeShapeType="1"/>
              </p:cNvSpPr>
              <p:nvPr/>
            </p:nvSpPr>
            <p:spPr bwMode="auto">
              <a:xfrm>
                <a:off x="1633035" y="2916320"/>
                <a:ext cx="2574714" cy="0"/>
              </a:xfrm>
              <a:prstGeom prst="line">
                <a:avLst/>
              </a:prstGeom>
              <a:noFill/>
              <a:ln w="57150">
                <a:solidFill>
                  <a:srgbClr val="33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1917" tIns="60958" rIns="121917" bIns="6095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11" name="Line 11"/>
              <p:cNvSpPr>
                <a:spLocks noChangeShapeType="1"/>
              </p:cNvSpPr>
              <p:nvPr/>
            </p:nvSpPr>
            <p:spPr bwMode="auto">
              <a:xfrm>
                <a:off x="6919724" y="2916320"/>
                <a:ext cx="2887472" cy="0"/>
              </a:xfrm>
              <a:prstGeom prst="line">
                <a:avLst/>
              </a:prstGeom>
              <a:noFill/>
              <a:ln w="57150">
                <a:solidFill>
                  <a:srgbClr val="33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1917" tIns="60958" rIns="121917" bIns="6095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14" name="Line 15"/>
              <p:cNvSpPr>
                <a:spLocks noChangeShapeType="1"/>
              </p:cNvSpPr>
              <p:nvPr/>
            </p:nvSpPr>
            <p:spPr bwMode="auto">
              <a:xfrm>
                <a:off x="4441082" y="2916320"/>
                <a:ext cx="2261959" cy="0"/>
              </a:xfrm>
              <a:prstGeom prst="line">
                <a:avLst/>
              </a:prstGeom>
              <a:noFill/>
              <a:ln w="57150">
                <a:solidFill>
                  <a:srgbClr val="33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1917" tIns="60958" rIns="121917" bIns="6095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15" name="Freeform 16"/>
              <p:cNvSpPr>
                <a:spLocks/>
              </p:cNvSpPr>
              <p:nvPr/>
            </p:nvSpPr>
            <p:spPr bwMode="auto">
              <a:xfrm flipH="1">
                <a:off x="7039441" y="2529221"/>
                <a:ext cx="233778" cy="387100"/>
              </a:xfrm>
              <a:custGeom>
                <a:avLst/>
                <a:gdLst>
                  <a:gd name="T0" fmla="*/ 0 w 249"/>
                  <a:gd name="T1" fmla="*/ 176 h 176"/>
                  <a:gd name="T2" fmla="*/ 1 w 249"/>
                  <a:gd name="T3" fmla="*/ 0 h 176"/>
                  <a:gd name="T4" fmla="*/ 249 w 249"/>
                  <a:gd name="T5" fmla="*/ 9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9" h="176">
                    <a:moveTo>
                      <a:pt x="0" y="176"/>
                    </a:moveTo>
                    <a:lnTo>
                      <a:pt x="1" y="0"/>
                    </a:lnTo>
                    <a:lnTo>
                      <a:pt x="249" y="9"/>
                    </a:lnTo>
                  </a:path>
                </a:pathLst>
              </a:custGeom>
              <a:noFill/>
              <a:ln w="28575" cmpd="sng">
                <a:solidFill>
                  <a:srgbClr val="33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1917" tIns="60958" rIns="121917" bIns="6095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16" name="Freeform 17"/>
              <p:cNvSpPr>
                <a:spLocks/>
              </p:cNvSpPr>
              <p:nvPr/>
            </p:nvSpPr>
            <p:spPr bwMode="auto">
              <a:xfrm flipH="1">
                <a:off x="4593429" y="2529221"/>
                <a:ext cx="170594" cy="388252"/>
              </a:xfrm>
              <a:custGeom>
                <a:avLst/>
                <a:gdLst>
                  <a:gd name="T0" fmla="*/ 0 w 249"/>
                  <a:gd name="T1" fmla="*/ 176 h 176"/>
                  <a:gd name="T2" fmla="*/ 1 w 249"/>
                  <a:gd name="T3" fmla="*/ 0 h 176"/>
                  <a:gd name="T4" fmla="*/ 249 w 249"/>
                  <a:gd name="T5" fmla="*/ 9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49" h="176">
                    <a:moveTo>
                      <a:pt x="0" y="176"/>
                    </a:moveTo>
                    <a:lnTo>
                      <a:pt x="1" y="0"/>
                    </a:lnTo>
                    <a:lnTo>
                      <a:pt x="249" y="9"/>
                    </a:lnTo>
                  </a:path>
                </a:pathLst>
              </a:custGeom>
              <a:noFill/>
              <a:ln w="28575" cmpd="sng">
                <a:solidFill>
                  <a:srgbClr val="3399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121917" tIns="60958" rIns="121917" bIns="60958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17" name="Text Box 18"/>
              <p:cNvSpPr txBox="1">
                <a:spLocks noChangeArrowheads="1"/>
              </p:cNvSpPr>
              <p:nvPr/>
            </p:nvSpPr>
            <p:spPr bwMode="auto">
              <a:xfrm>
                <a:off x="3852814" y="2050111"/>
                <a:ext cx="1192078" cy="3539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路由器 </a:t>
                </a:r>
                <a:r>
                  <a:rPr kumimoji="1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R</a:t>
                </a:r>
                <a:r>
                  <a:rPr kumimoji="1" lang="en-US" altLang="zh-CN" sz="15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1</a:t>
                </a:r>
              </a:p>
            </p:txBody>
          </p:sp>
          <p:pic>
            <p:nvPicPr>
              <p:cNvPr id="218" name="Picture 20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41202" y="2344887"/>
                <a:ext cx="767676" cy="3156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pic>
            <p:nvPicPr>
              <p:cNvPr id="219" name="Picture 22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47460" y="2328758"/>
                <a:ext cx="766095" cy="3156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699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tx1"/>
                      </a:outerShdw>
                    </a:effectLst>
                  </a14:hiddenEffects>
                </a:ext>
              </a:extLst>
            </p:spPr>
          </p:pic>
          <p:sp>
            <p:nvSpPr>
              <p:cNvPr id="220" name="AutoShape 23"/>
              <p:cNvSpPr>
                <a:spLocks noChangeArrowheads="1"/>
              </p:cNvSpPr>
              <p:nvPr/>
            </p:nvSpPr>
            <p:spPr bwMode="auto">
              <a:xfrm flipV="1">
                <a:off x="2379327" y="2027629"/>
                <a:ext cx="1576933" cy="252739"/>
              </a:xfrm>
              <a:prstGeom prst="wedgeRoundRectCallout">
                <a:avLst>
                  <a:gd name="adj1" fmla="val -53217"/>
                  <a:gd name="adj2" fmla="val -195611"/>
                  <a:gd name="adj3" fmla="val 16667"/>
                </a:avLst>
              </a:prstGeom>
              <a:solidFill>
                <a:srgbClr val="66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rot="10800000" wrap="none" lIns="121917" tIns="60958" rIns="121917" bIns="60958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 </a:t>
                </a:r>
                <a:r>
                  <a:rPr kumimoji="1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为硬件地址</a:t>
                </a:r>
              </a:p>
            </p:txBody>
          </p:sp>
          <p:sp>
            <p:nvSpPr>
              <p:cNvPr id="221" name="Text Box 25"/>
              <p:cNvSpPr txBox="1">
                <a:spLocks noChangeArrowheads="1"/>
              </p:cNvSpPr>
              <p:nvPr/>
            </p:nvSpPr>
            <p:spPr bwMode="auto">
              <a:xfrm>
                <a:off x="6301681" y="2054718"/>
                <a:ext cx="1192078" cy="3539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路由器 </a:t>
                </a:r>
                <a:r>
                  <a:rPr kumimoji="1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R</a:t>
                </a:r>
                <a:r>
                  <a:rPr kumimoji="1" lang="en-US" altLang="zh-CN" sz="15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2</a:t>
                </a:r>
              </a:p>
            </p:txBody>
          </p:sp>
          <p:sp>
            <p:nvSpPr>
              <p:cNvPr id="222" name="Text Box 29"/>
              <p:cNvSpPr txBox="1">
                <a:spLocks noChangeArrowheads="1"/>
              </p:cNvSpPr>
              <p:nvPr/>
            </p:nvSpPr>
            <p:spPr bwMode="auto">
              <a:xfrm>
                <a:off x="2546865" y="2569100"/>
                <a:ext cx="938859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局域网</a:t>
                </a:r>
                <a:endParaRPr kumimoji="1" lang="zh-CN" altLang="en-US" sz="16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23" name="Text Box 30"/>
              <p:cNvSpPr txBox="1">
                <a:spLocks noChangeArrowheads="1"/>
              </p:cNvSpPr>
              <p:nvPr/>
            </p:nvSpPr>
            <p:spPr bwMode="auto">
              <a:xfrm>
                <a:off x="5126221" y="2569100"/>
                <a:ext cx="938859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局域网</a:t>
                </a:r>
                <a:endParaRPr kumimoji="1" lang="zh-CN" altLang="en-US" sz="1600" b="1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24" name="Text Box 31"/>
              <p:cNvSpPr txBox="1">
                <a:spLocks noChangeArrowheads="1"/>
              </p:cNvSpPr>
              <p:nvPr/>
            </p:nvSpPr>
            <p:spPr bwMode="auto">
              <a:xfrm>
                <a:off x="7878110" y="2569100"/>
                <a:ext cx="938859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局域网</a:t>
                </a:r>
                <a:endParaRPr kumimoji="1" lang="zh-CN" altLang="en-US" sz="1600" b="1" i="0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25" name="Text Box 7"/>
              <p:cNvSpPr txBox="1">
                <a:spLocks noChangeArrowheads="1"/>
              </p:cNvSpPr>
              <p:nvPr/>
            </p:nvSpPr>
            <p:spPr bwMode="auto">
              <a:xfrm>
                <a:off x="1879347" y="2543047"/>
                <a:ext cx="683879" cy="3539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1</a:t>
                </a:r>
                <a:endPara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26" name="Text Box 8"/>
              <p:cNvSpPr txBox="1">
                <a:spLocks noChangeArrowheads="1"/>
              </p:cNvSpPr>
              <p:nvPr/>
            </p:nvSpPr>
            <p:spPr bwMode="auto">
              <a:xfrm>
                <a:off x="5799851" y="2543046"/>
                <a:ext cx="683879" cy="3539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5</a:t>
                </a:r>
                <a:endPara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27" name="Text Box 9"/>
              <p:cNvSpPr txBox="1">
                <a:spLocks noChangeArrowheads="1"/>
              </p:cNvSpPr>
              <p:nvPr/>
            </p:nvSpPr>
            <p:spPr bwMode="auto">
              <a:xfrm>
                <a:off x="4642838" y="2543046"/>
                <a:ext cx="683879" cy="3539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4</a:t>
                </a:r>
                <a:endParaRPr kumimoji="1" lang="en-US" altLang="zh-CN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28" name="Text Box 10"/>
              <p:cNvSpPr txBox="1">
                <a:spLocks noChangeArrowheads="1"/>
              </p:cNvSpPr>
              <p:nvPr/>
            </p:nvSpPr>
            <p:spPr bwMode="auto">
              <a:xfrm>
                <a:off x="3292991" y="2543046"/>
                <a:ext cx="683879" cy="3539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3</a:t>
                </a:r>
                <a:endPara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29" name="Text Box 12"/>
              <p:cNvSpPr txBox="1">
                <a:spLocks noChangeArrowheads="1"/>
              </p:cNvSpPr>
              <p:nvPr/>
            </p:nvSpPr>
            <p:spPr bwMode="auto">
              <a:xfrm>
                <a:off x="7149698" y="2543046"/>
                <a:ext cx="683879" cy="3539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6</a:t>
                </a:r>
                <a:endPara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230" name="Text Box 26"/>
              <p:cNvSpPr txBox="1">
                <a:spLocks noChangeArrowheads="1"/>
              </p:cNvSpPr>
              <p:nvPr/>
            </p:nvSpPr>
            <p:spPr bwMode="auto">
              <a:xfrm>
                <a:off x="8789525" y="2543046"/>
                <a:ext cx="683879" cy="3539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5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HA</a:t>
                </a:r>
                <a:r>
                  <a:rPr kumimoji="1" lang="en-US" altLang="zh-CN" sz="1500" b="1" i="0" u="none" strike="noStrike" kern="1200" cap="none" spc="0" normalizeH="0" baseline="-25000" noProof="0">
                    <a:ln>
                      <a:noFill/>
                    </a:ln>
                    <a:solidFill>
                      <a:srgbClr val="0000CC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2</a:t>
                </a:r>
                <a:endParaRPr kumimoji="1" lang="en-US" altLang="zh-CN" sz="15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pic>
            <p:nvPicPr>
              <p:cNvPr id="231" name="Picture 246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31743" y="1974162"/>
                <a:ext cx="686830" cy="63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2" name="Text Box 27"/>
              <p:cNvSpPr txBox="1">
                <a:spLocks noChangeArrowheads="1"/>
              </p:cNvSpPr>
              <p:nvPr/>
            </p:nvSpPr>
            <p:spPr bwMode="auto">
              <a:xfrm>
                <a:off x="1718226" y="2048684"/>
                <a:ext cx="58026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</a:t>
                </a:r>
                <a:r>
                  <a:rPr kumimoji="1" lang="en-US" altLang="zh-CN" sz="16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1</a:t>
                </a:r>
                <a:endPara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pic>
            <p:nvPicPr>
              <p:cNvPr id="233" name="Picture 246" descr="jisuanji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066421" y="1974162"/>
                <a:ext cx="686830" cy="63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4" name="Text Box 28"/>
              <p:cNvSpPr txBox="1">
                <a:spLocks noChangeArrowheads="1"/>
              </p:cNvSpPr>
              <p:nvPr/>
            </p:nvSpPr>
            <p:spPr bwMode="auto">
              <a:xfrm>
                <a:off x="9128011" y="2046916"/>
                <a:ext cx="580266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</a:t>
                </a:r>
                <a:r>
                  <a:rPr kumimoji="1" lang="en-US" altLang="zh-CN" sz="1600" b="1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2</a:t>
                </a:r>
                <a:endPara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</p:grpSp>
      </p:grpSp>
      <p:sp>
        <p:nvSpPr>
          <p:cNvPr id="118" name="矩形 117"/>
          <p:cNvSpPr/>
          <p:nvPr/>
        </p:nvSpPr>
        <p:spPr>
          <a:xfrm>
            <a:off x="4293045" y="1339608"/>
            <a:ext cx="4564181" cy="738660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地址放在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IP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数据报的首部，而硬件地址则放在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 MAC 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帧的首部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3549837" y="6002409"/>
            <a:ext cx="6158440" cy="738660"/>
          </a:xfrm>
          <a:prstGeom prst="rect">
            <a:avLst/>
          </a:prstGeom>
          <a:solidFill>
            <a:schemeClr val="bg1"/>
          </a:solidFill>
        </p:spPr>
        <p:txBody>
          <a:bodyPr wrap="squar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数据报经过不同链路时，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数据报中封装的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IP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地址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不发生改变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，而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Mac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帧中的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硬件地址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是发生改变的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5.2.4 ARP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44808" y="3117386"/>
            <a:ext cx="1901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数据实际流向</a:t>
            </a:r>
          </a:p>
        </p:txBody>
      </p:sp>
    </p:spTree>
    <p:extLst>
      <p:ext uri="{BB962C8B-B14F-4D97-AF65-F5344CB8AC3E}">
        <p14:creationId xmlns:p14="http://schemas.microsoft.com/office/powerpoint/2010/main" val="220692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0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118" grpId="0" animBg="1"/>
      <p:bldP spid="119" grpId="0" animBg="1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18894"/>
            <a:ext cx="6134255" cy="168837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30000"/>
              </a:lnSpc>
            </a:pPr>
            <a:r>
              <a:rPr lang="en-US" altLang="zh-CN" sz="3400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3400" dirty="0">
                <a:latin typeface="微软雅黑" pitchFamily="34" charset="-122"/>
                <a:ea typeface="微软雅黑" pitchFamily="34" charset="-122"/>
              </a:rPr>
              <a:t>数据包转发：从主机</a:t>
            </a:r>
            <a:r>
              <a:rPr lang="en-US" altLang="zh-CN" sz="34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3400" dirty="0">
                <a:latin typeface="微软雅黑" pitchFamily="34" charset="-122"/>
                <a:ea typeface="微软雅黑" pitchFamily="34" charset="-122"/>
              </a:rPr>
              <a:t>到主机</a:t>
            </a:r>
            <a:r>
              <a:rPr lang="en-US" altLang="zh-CN" sz="3400" dirty="0">
                <a:latin typeface="微软雅黑" pitchFamily="34" charset="-122"/>
                <a:ea typeface="微软雅黑" pitchFamily="34" charset="-122"/>
              </a:rPr>
              <a:t>B</a:t>
            </a:r>
          </a:p>
          <a:p>
            <a:pPr lvl="1">
              <a:lnSpc>
                <a:spcPct val="130000"/>
              </a:lnSpc>
            </a:pPr>
            <a:r>
              <a:rPr lang="zh-CN" altLang="en-US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检查目的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地址的网络号部分</a:t>
            </a:r>
            <a:endParaRPr lang="en-US" altLang="zh-CN" sz="2600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确定主机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与主机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属相同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网络</a:t>
            </a:r>
            <a:endParaRPr lang="en-US" altLang="zh-CN" sz="2600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数据包封装到链路层帧中，直接发送给主机</a:t>
            </a:r>
            <a:r>
              <a:rPr lang="en-US" altLang="zh-CN" sz="26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ARP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地址解析协议</a:t>
            </a:r>
            <a:endParaRPr lang="zh-CN" altLang="en-US" sz="3200" dirty="0"/>
          </a:p>
        </p:txBody>
      </p:sp>
      <p:grpSp>
        <p:nvGrpSpPr>
          <p:cNvPr id="55" name="组合 54"/>
          <p:cNvGrpSpPr/>
          <p:nvPr/>
        </p:nvGrpSpPr>
        <p:grpSpPr>
          <a:xfrm>
            <a:off x="994681" y="4398213"/>
            <a:ext cx="8115300" cy="1903478"/>
            <a:chOff x="848794" y="4316975"/>
            <a:chExt cx="8115300" cy="2277242"/>
          </a:xfrm>
        </p:grpSpPr>
        <p:sp>
          <p:nvSpPr>
            <p:cNvPr id="56" name="Rectangle 2"/>
            <p:cNvSpPr>
              <a:spLocks noChangeArrowheads="1"/>
            </p:cNvSpPr>
            <p:nvPr/>
          </p:nvSpPr>
          <p:spPr bwMode="auto">
            <a:xfrm>
              <a:off x="4428077" y="5064133"/>
              <a:ext cx="4536016" cy="66992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1000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Symbol" pitchFamily="18" charset="2"/>
                <a:buChar char="¾"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7" name="Text Box 66"/>
            <p:cNvSpPr txBox="1">
              <a:spLocks noChangeArrowheads="1"/>
            </p:cNvSpPr>
            <p:nvPr/>
          </p:nvSpPr>
          <p:spPr bwMode="auto">
            <a:xfrm>
              <a:off x="1277647" y="5081596"/>
              <a:ext cx="1184876" cy="773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B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的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MAC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地址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Text Box 67"/>
            <p:cNvSpPr txBox="1">
              <a:spLocks noChangeArrowheads="1"/>
            </p:cNvSpPr>
            <p:nvPr/>
          </p:nvSpPr>
          <p:spPr bwMode="auto">
            <a:xfrm>
              <a:off x="2548478" y="5081596"/>
              <a:ext cx="1629833" cy="773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的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MAC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地址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Text Box 68"/>
            <p:cNvSpPr txBox="1">
              <a:spLocks noChangeArrowheads="1"/>
            </p:cNvSpPr>
            <p:nvPr/>
          </p:nvSpPr>
          <p:spPr bwMode="auto">
            <a:xfrm>
              <a:off x="4428079" y="5064133"/>
              <a:ext cx="1274725" cy="773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A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的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IP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地址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69"/>
            <p:cNvSpPr txBox="1">
              <a:spLocks noChangeArrowheads="1"/>
            </p:cNvSpPr>
            <p:nvPr/>
          </p:nvSpPr>
          <p:spPr bwMode="auto">
            <a:xfrm>
              <a:off x="5975053" y="5070483"/>
              <a:ext cx="851515" cy="773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B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的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IP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地址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1" name="Text Box 70"/>
            <p:cNvSpPr txBox="1">
              <a:spLocks noChangeArrowheads="1"/>
            </p:cNvSpPr>
            <p:nvPr/>
          </p:nvSpPr>
          <p:spPr bwMode="auto">
            <a:xfrm>
              <a:off x="7637694" y="5202246"/>
              <a:ext cx="851515" cy="4418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IP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载荷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Rectangle 71"/>
            <p:cNvSpPr>
              <a:spLocks noChangeArrowheads="1"/>
            </p:cNvSpPr>
            <p:nvPr/>
          </p:nvSpPr>
          <p:spPr bwMode="auto">
            <a:xfrm>
              <a:off x="882661" y="5062546"/>
              <a:ext cx="8081433" cy="66992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1000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Symbol" pitchFamily="18" charset="2"/>
                <a:buChar char="¾"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Line 72"/>
            <p:cNvSpPr>
              <a:spLocks noChangeShapeType="1"/>
            </p:cNvSpPr>
            <p:nvPr/>
          </p:nvSpPr>
          <p:spPr bwMode="auto">
            <a:xfrm>
              <a:off x="2614093" y="5073658"/>
              <a:ext cx="0" cy="669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Line 73"/>
            <p:cNvSpPr>
              <a:spLocks noChangeShapeType="1"/>
            </p:cNvSpPr>
            <p:nvPr/>
          </p:nvSpPr>
          <p:spPr bwMode="auto">
            <a:xfrm>
              <a:off x="4074593" y="5068896"/>
              <a:ext cx="0" cy="669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Line 74"/>
            <p:cNvSpPr>
              <a:spLocks noChangeShapeType="1"/>
            </p:cNvSpPr>
            <p:nvPr/>
          </p:nvSpPr>
          <p:spPr bwMode="auto">
            <a:xfrm>
              <a:off x="4432311" y="5075246"/>
              <a:ext cx="0" cy="669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75"/>
            <p:cNvSpPr>
              <a:spLocks noChangeArrowheads="1"/>
            </p:cNvSpPr>
            <p:nvPr/>
          </p:nvSpPr>
          <p:spPr bwMode="auto">
            <a:xfrm>
              <a:off x="1066811" y="5011745"/>
              <a:ext cx="99483" cy="1571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1000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Symbol" pitchFamily="18" charset="2"/>
                <a:buChar char="¾"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76"/>
            <p:cNvSpPr>
              <a:spLocks noChangeArrowheads="1"/>
            </p:cNvSpPr>
            <p:nvPr/>
          </p:nvSpPr>
          <p:spPr bwMode="auto">
            <a:xfrm>
              <a:off x="1032944" y="5646745"/>
              <a:ext cx="99483" cy="1571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1000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Symbol" pitchFamily="18" charset="2"/>
                <a:buChar char="¾"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77"/>
            <p:cNvSpPr>
              <a:spLocks noChangeArrowheads="1"/>
            </p:cNvSpPr>
            <p:nvPr/>
          </p:nvSpPr>
          <p:spPr bwMode="auto">
            <a:xfrm>
              <a:off x="4195244" y="5014920"/>
              <a:ext cx="99483" cy="15716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1000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Symbol" pitchFamily="18" charset="2"/>
                <a:buChar char="¾"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78"/>
            <p:cNvSpPr>
              <a:spLocks noChangeArrowheads="1"/>
            </p:cNvSpPr>
            <p:nvPr/>
          </p:nvSpPr>
          <p:spPr bwMode="auto">
            <a:xfrm>
              <a:off x="4218527" y="5661033"/>
              <a:ext cx="99484" cy="15716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1000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Symbol" pitchFamily="18" charset="2"/>
                <a:buChar char="¾"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Text Box 79"/>
            <p:cNvSpPr txBox="1">
              <a:spLocks noChangeArrowheads="1"/>
            </p:cNvSpPr>
            <p:nvPr/>
          </p:nvSpPr>
          <p:spPr bwMode="auto">
            <a:xfrm>
              <a:off x="5772161" y="5857882"/>
              <a:ext cx="877163" cy="4418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数据包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Text Box 80"/>
            <p:cNvSpPr txBox="1">
              <a:spLocks noChangeArrowheads="1"/>
            </p:cNvSpPr>
            <p:nvPr/>
          </p:nvSpPr>
          <p:spPr bwMode="auto">
            <a:xfrm>
              <a:off x="4070364" y="6152364"/>
              <a:ext cx="415498" cy="4418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帧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Line 81"/>
            <p:cNvSpPr>
              <a:spLocks noChangeShapeType="1"/>
            </p:cNvSpPr>
            <p:nvPr/>
          </p:nvSpPr>
          <p:spPr bwMode="auto">
            <a:xfrm>
              <a:off x="7317327" y="6048382"/>
              <a:ext cx="15917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Line 82"/>
            <p:cNvSpPr>
              <a:spLocks noChangeShapeType="1"/>
            </p:cNvSpPr>
            <p:nvPr/>
          </p:nvSpPr>
          <p:spPr bwMode="auto">
            <a:xfrm flipH="1">
              <a:off x="4485227" y="6057907"/>
              <a:ext cx="13123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4" name="Line 83"/>
            <p:cNvSpPr>
              <a:spLocks noChangeShapeType="1"/>
            </p:cNvSpPr>
            <p:nvPr/>
          </p:nvSpPr>
          <p:spPr bwMode="auto">
            <a:xfrm flipH="1">
              <a:off x="848794" y="6346832"/>
              <a:ext cx="29739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Line 84"/>
            <p:cNvSpPr>
              <a:spLocks noChangeShapeType="1"/>
            </p:cNvSpPr>
            <p:nvPr/>
          </p:nvSpPr>
          <p:spPr bwMode="auto">
            <a:xfrm>
              <a:off x="4868345" y="6369057"/>
              <a:ext cx="40343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Text Box 85"/>
            <p:cNvSpPr txBox="1">
              <a:spLocks noChangeArrowheads="1"/>
            </p:cNvSpPr>
            <p:nvPr/>
          </p:nvSpPr>
          <p:spPr bwMode="auto">
            <a:xfrm>
              <a:off x="1332305" y="4316975"/>
              <a:ext cx="2236510" cy="478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帧的源和目的地址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Text Box 86"/>
            <p:cNvSpPr txBox="1">
              <a:spLocks noChangeArrowheads="1"/>
            </p:cNvSpPr>
            <p:nvPr/>
          </p:nvSpPr>
          <p:spPr bwMode="auto">
            <a:xfrm>
              <a:off x="4581986" y="4326500"/>
              <a:ext cx="2749471" cy="478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数据包的源和目的地址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Line 87"/>
            <p:cNvSpPr>
              <a:spLocks noChangeShapeType="1"/>
            </p:cNvSpPr>
            <p:nvPr/>
          </p:nvSpPr>
          <p:spPr bwMode="auto">
            <a:xfrm flipH="1">
              <a:off x="1875378" y="4686307"/>
              <a:ext cx="656167" cy="325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9" name="Line 88"/>
            <p:cNvSpPr>
              <a:spLocks noChangeShapeType="1"/>
            </p:cNvSpPr>
            <p:nvPr/>
          </p:nvSpPr>
          <p:spPr bwMode="auto">
            <a:xfrm>
              <a:off x="2749560" y="4681546"/>
              <a:ext cx="586317" cy="32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0" name="Line 89"/>
            <p:cNvSpPr>
              <a:spLocks noChangeShapeType="1"/>
            </p:cNvSpPr>
            <p:nvPr/>
          </p:nvSpPr>
          <p:spPr bwMode="auto">
            <a:xfrm flipH="1">
              <a:off x="4995345" y="4691071"/>
              <a:ext cx="656167" cy="3254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81" name="Line 90"/>
            <p:cNvSpPr>
              <a:spLocks noChangeShapeType="1"/>
            </p:cNvSpPr>
            <p:nvPr/>
          </p:nvSpPr>
          <p:spPr bwMode="auto">
            <a:xfrm>
              <a:off x="5869527" y="4686307"/>
              <a:ext cx="586317" cy="325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963588" y="1452135"/>
            <a:ext cx="4354342" cy="2976343"/>
            <a:chOff x="6963588" y="1452135"/>
            <a:chExt cx="4354342" cy="2976343"/>
          </a:xfrm>
        </p:grpSpPr>
        <p:grpSp>
          <p:nvGrpSpPr>
            <p:cNvPr id="82" name="组合 81"/>
            <p:cNvGrpSpPr/>
            <p:nvPr/>
          </p:nvGrpSpPr>
          <p:grpSpPr>
            <a:xfrm>
              <a:off x="6963588" y="1452135"/>
              <a:ext cx="4354342" cy="2976343"/>
              <a:chOff x="5600115" y="3078817"/>
              <a:chExt cx="4354342" cy="2976343"/>
            </a:xfrm>
          </p:grpSpPr>
          <p:pic>
            <p:nvPicPr>
              <p:cNvPr id="83" name="Picture 50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10704" y="4718428"/>
                <a:ext cx="757723" cy="6749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84" name="Picture 51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93128" y="3428842"/>
                <a:ext cx="639123" cy="814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6" name="矩形 85"/>
              <p:cNvSpPr/>
              <p:nvPr/>
            </p:nvSpPr>
            <p:spPr>
              <a:xfrm>
                <a:off x="6787900" y="3496121"/>
                <a:ext cx="1850822" cy="415494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220.168.10.10</a:t>
                </a:r>
                <a:endPara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787901" y="3823930"/>
                <a:ext cx="2626932" cy="415494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00-15-C5-C6-CC-07</a:t>
                </a:r>
                <a:endPara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7451023" y="5327501"/>
                <a:ext cx="1850822" cy="415494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220.168.10.20</a:t>
                </a:r>
                <a:endPara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7942343" y="5639666"/>
                <a:ext cx="977185" cy="415494"/>
              </a:xfrm>
              <a:prstGeom prst="rect">
                <a:avLst/>
              </a:prstGeom>
            </p:spPr>
            <p:txBody>
              <a:bodyPr wrap="none" lIns="121917" tIns="60958" rIns="121917" bIns="60958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？？？</a:t>
                </a:r>
              </a:p>
            </p:txBody>
          </p:sp>
          <p:sp>
            <p:nvSpPr>
              <p:cNvPr id="92" name="矩形标注 91"/>
              <p:cNvSpPr/>
              <p:nvPr/>
            </p:nvSpPr>
            <p:spPr bwMode="auto">
              <a:xfrm>
                <a:off x="7363515" y="3078817"/>
                <a:ext cx="959747" cy="336293"/>
              </a:xfrm>
              <a:prstGeom prst="wedgeRectCallout">
                <a:avLst>
                  <a:gd name="adj1" fmla="val -47726"/>
                  <a:gd name="adj2" fmla="val 100032"/>
                </a:avLst>
              </a:prstGeom>
              <a:solidFill>
                <a:srgbClr val="00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21917" tIns="60958" rIns="121917" bIns="60958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121917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IP 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地址</a:t>
                </a:r>
              </a:p>
            </p:txBody>
          </p:sp>
          <p:sp>
            <p:nvSpPr>
              <p:cNvPr id="93" name="矩形标注 92"/>
              <p:cNvSpPr/>
              <p:nvPr/>
            </p:nvSpPr>
            <p:spPr bwMode="auto">
              <a:xfrm>
                <a:off x="8663546" y="3331464"/>
                <a:ext cx="1290911" cy="336293"/>
              </a:xfrm>
              <a:prstGeom prst="wedgeRectCallout">
                <a:avLst>
                  <a:gd name="adj1" fmla="val -64020"/>
                  <a:gd name="adj2" fmla="val 132276"/>
                </a:avLst>
              </a:prstGeom>
              <a:solidFill>
                <a:srgbClr val="00FF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121917" tIns="60958" rIns="121917" bIns="60958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121917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MAC </a:t>
                </a: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地址</a:t>
                </a:r>
              </a:p>
            </p:txBody>
          </p:sp>
          <p:cxnSp>
            <p:nvCxnSpPr>
              <p:cNvPr id="94" name="直接箭头连接符 93"/>
              <p:cNvCxnSpPr/>
              <p:nvPr/>
            </p:nvCxnSpPr>
            <p:spPr bwMode="auto">
              <a:xfrm flipH="1">
                <a:off x="6489186" y="3667757"/>
                <a:ext cx="338639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5" name="直接箭头连接符 94"/>
              <p:cNvCxnSpPr/>
              <p:nvPr/>
            </p:nvCxnSpPr>
            <p:spPr bwMode="auto">
              <a:xfrm flipH="1">
                <a:off x="6489186" y="4015152"/>
                <a:ext cx="338639" cy="0"/>
              </a:xfrm>
              <a:prstGeom prst="straightConnector1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6" name="椭圆 95"/>
              <p:cNvSpPr/>
              <p:nvPr/>
            </p:nvSpPr>
            <p:spPr bwMode="auto">
              <a:xfrm>
                <a:off x="5600115" y="4576565"/>
                <a:ext cx="1597805" cy="958683"/>
              </a:xfrm>
              <a:prstGeom prst="ellipse">
                <a:avLst/>
              </a:prstGeom>
              <a:solidFill>
                <a:srgbClr val="99FFCC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121917" tIns="60958" rIns="121917" bIns="60958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121917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itchFamily="34" charset="-122"/>
                    <a:ea typeface="微软雅黑" pitchFamily="34" charset="-122"/>
                    <a:cs typeface="+mn-cs"/>
                  </a:rPr>
                  <a:t>LAN</a:t>
                </a:r>
                <a:endParaRPr kumimoji="0" lang="zh-CN" altLang="en-US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endParaRPr>
              </a:p>
            </p:txBody>
          </p:sp>
          <p:cxnSp>
            <p:nvCxnSpPr>
              <p:cNvPr id="98" name="直接连接符 97"/>
              <p:cNvCxnSpPr>
                <a:stCxn id="83" idx="1"/>
                <a:endCxn id="96" idx="6"/>
              </p:cNvCxnSpPr>
              <p:nvPr/>
            </p:nvCxnSpPr>
            <p:spPr bwMode="auto">
              <a:xfrm flipH="1" flipV="1">
                <a:off x="7197920" y="5055908"/>
                <a:ext cx="612784" cy="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9" name="直接连接符 98"/>
              <p:cNvCxnSpPr>
                <a:endCxn id="96" idx="0"/>
              </p:cNvCxnSpPr>
              <p:nvPr/>
            </p:nvCxnSpPr>
            <p:spPr bwMode="auto">
              <a:xfrm>
                <a:off x="6399017" y="4242968"/>
                <a:ext cx="0" cy="333597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5" name="矩形 4"/>
            <p:cNvSpPr/>
            <p:nvPr/>
          </p:nvSpPr>
          <p:spPr>
            <a:xfrm>
              <a:off x="10027019" y="3058229"/>
              <a:ext cx="40748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B: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7919271" y="1603762"/>
              <a:ext cx="4235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A: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</p:grpSp>
      <p:grpSp>
        <p:nvGrpSpPr>
          <p:cNvPr id="102" name="Group 5"/>
          <p:cNvGrpSpPr>
            <a:grpSpLocks/>
          </p:cNvGrpSpPr>
          <p:nvPr/>
        </p:nvGrpSpPr>
        <p:grpSpPr bwMode="auto">
          <a:xfrm>
            <a:off x="896514" y="3179333"/>
            <a:ext cx="5597501" cy="1041398"/>
            <a:chOff x="297" y="3336"/>
            <a:chExt cx="2788" cy="805"/>
          </a:xfrm>
        </p:grpSpPr>
        <p:sp>
          <p:nvSpPr>
            <p:cNvPr id="103" name="Text Box 6"/>
            <p:cNvSpPr txBox="1">
              <a:spLocks noChangeArrowheads="1"/>
            </p:cNvSpPr>
            <p:nvPr/>
          </p:nvSpPr>
          <p:spPr bwMode="auto">
            <a:xfrm>
              <a:off x="370" y="3368"/>
              <a:ext cx="2715" cy="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auto" latinLnBrk="0" hangingPunct="0">
                <a:lnSpc>
                  <a:spcPts val="3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问题：给定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B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的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IP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地址，如何获取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B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的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MAC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Times New Roman" panose="02020603050405020304" pitchFamily="18" charset="0"/>
                </a:rPr>
                <a:t>地址？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Rectangle 7"/>
            <p:cNvSpPr>
              <a:spLocks noChangeArrowheads="1"/>
            </p:cNvSpPr>
            <p:nvPr/>
          </p:nvSpPr>
          <p:spPr bwMode="auto">
            <a:xfrm>
              <a:off x="297" y="3336"/>
              <a:ext cx="2788" cy="805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ct val="10000"/>
                </a:spcBef>
                <a:spcAft>
                  <a:spcPts val="0"/>
                </a:spcAft>
                <a:buClr>
                  <a:prstClr val="black"/>
                </a:buClr>
                <a:buSzTx/>
                <a:buFont typeface="Symbol" pitchFamily="18" charset="2"/>
                <a:buChar char="¾"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5.2.4 ARP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37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ARP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地址解析协议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已知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地址，需要获得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地址（物理地址）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SzPct val="90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表中缓存有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地址与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地址的映射关系，则直接从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表获取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SzPct val="90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ARP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表中未缓存有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地址与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地址的映射关系，则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广播包含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地址的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ARP query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分组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20000"/>
              </a:lnSpc>
              <a:buClr>
                <a:schemeClr val="tx1"/>
              </a:buClr>
            </a:pPr>
            <a:r>
              <a:rPr lang="zh-CN" altLang="en-US" sz="22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在局域网上的所有节点都可以接收到</a:t>
            </a:r>
            <a:r>
              <a:rPr lang="en-US" altLang="zh-CN" sz="22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ARP query</a:t>
            </a:r>
          </a:p>
          <a:p>
            <a:pPr>
              <a:lnSpc>
                <a:spcPct val="120000"/>
              </a:lnSpc>
              <a:buSzPct val="90000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接收到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ARP query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分组后，将自己的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地址发送给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pPr>
              <a:lnSpc>
                <a:spcPct val="120000"/>
              </a:lnSpc>
              <a:buSzPct val="90000"/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ARP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表中缓存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IP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地址和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MAC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地址的映射关系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20000"/>
              </a:lnSpc>
              <a:buClr>
                <a:schemeClr val="tx1"/>
              </a:buClr>
            </a:pPr>
            <a:r>
              <a:rPr lang="zh-CN" altLang="en-US" sz="22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超时时删除</a:t>
            </a:r>
            <a:endParaRPr lang="en-US" altLang="zh-CN" sz="2200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1" name="文本框 1">
            <a:extLst>
              <a:ext uri="{FF2B5EF4-FFF2-40B4-BE49-F238E27FC236}">
                <a16:creationId xmlns:a16="http://schemas.microsoft.com/office/drawing/2014/main" id="{98876DDD-50E1-4EE3-AF28-4B63AA61B7C7}"/>
              </a:ext>
            </a:extLst>
          </p:cNvPr>
          <p:cNvSpPr txBox="1"/>
          <p:nvPr/>
        </p:nvSpPr>
        <p:spPr>
          <a:xfrm>
            <a:off x="5290223" y="5522040"/>
            <a:ext cx="2973243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思考：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ARP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的优化策略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5.2.4 ARP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41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ARP</a:t>
            </a:r>
            <a:r>
              <a:rPr lang="zh-CN" altLang="en-US" dirty="0"/>
              <a:t>协议工作过程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1" name="Line 74"/>
          <p:cNvSpPr>
            <a:spLocks noChangeShapeType="1"/>
          </p:cNvSpPr>
          <p:nvPr/>
        </p:nvSpPr>
        <p:spPr bwMode="auto">
          <a:xfrm rot="5400000">
            <a:off x="4421661" y="5298885"/>
            <a:ext cx="474783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2" name="Line 75"/>
          <p:cNvSpPr>
            <a:spLocks noChangeShapeType="1"/>
          </p:cNvSpPr>
          <p:nvPr/>
        </p:nvSpPr>
        <p:spPr bwMode="auto">
          <a:xfrm rot="5400000">
            <a:off x="6186484" y="5291827"/>
            <a:ext cx="476067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3" name="Line 76"/>
          <p:cNvSpPr>
            <a:spLocks noChangeShapeType="1"/>
          </p:cNvSpPr>
          <p:nvPr/>
        </p:nvSpPr>
        <p:spPr bwMode="auto">
          <a:xfrm rot="5400000">
            <a:off x="7703758" y="5298885"/>
            <a:ext cx="474783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4" name="Line 77"/>
          <p:cNvSpPr>
            <a:spLocks noChangeShapeType="1"/>
          </p:cNvSpPr>
          <p:nvPr/>
        </p:nvSpPr>
        <p:spPr bwMode="auto">
          <a:xfrm rot="5400000">
            <a:off x="9492856" y="5298885"/>
            <a:ext cx="474783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5" name="Line 78"/>
          <p:cNvSpPr>
            <a:spLocks noChangeShapeType="1"/>
          </p:cNvSpPr>
          <p:nvPr/>
        </p:nvSpPr>
        <p:spPr bwMode="auto">
          <a:xfrm rot="5400000">
            <a:off x="3276193" y="5298886"/>
            <a:ext cx="474783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6" name="Line 8"/>
          <p:cNvSpPr>
            <a:spLocks noChangeShapeType="1"/>
          </p:cNvSpPr>
          <p:nvPr/>
        </p:nvSpPr>
        <p:spPr bwMode="auto">
          <a:xfrm rot="5400000">
            <a:off x="6166167" y="2906057"/>
            <a:ext cx="476065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7" name="Line 9"/>
          <p:cNvSpPr>
            <a:spLocks noChangeShapeType="1"/>
          </p:cNvSpPr>
          <p:nvPr/>
        </p:nvSpPr>
        <p:spPr bwMode="auto">
          <a:xfrm rot="5400000">
            <a:off x="7683441" y="2913115"/>
            <a:ext cx="474783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8" name="Line 10"/>
          <p:cNvSpPr>
            <a:spLocks noChangeShapeType="1"/>
          </p:cNvSpPr>
          <p:nvPr/>
        </p:nvSpPr>
        <p:spPr bwMode="auto">
          <a:xfrm rot="5400000">
            <a:off x="9472537" y="2913115"/>
            <a:ext cx="474783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79" name="Line 11"/>
          <p:cNvSpPr>
            <a:spLocks noChangeShapeType="1"/>
          </p:cNvSpPr>
          <p:nvPr/>
        </p:nvSpPr>
        <p:spPr bwMode="auto">
          <a:xfrm rot="5400000">
            <a:off x="3255876" y="2913115"/>
            <a:ext cx="474783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80" name="Line 16"/>
          <p:cNvSpPr>
            <a:spLocks noChangeShapeType="1"/>
          </p:cNvSpPr>
          <p:nvPr/>
        </p:nvSpPr>
        <p:spPr bwMode="auto">
          <a:xfrm>
            <a:off x="2826004" y="2675726"/>
            <a:ext cx="7516435" cy="16681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81" name="Text Box 56"/>
          <p:cNvSpPr txBox="1">
            <a:spLocks noChangeArrowheads="1"/>
          </p:cNvSpPr>
          <p:nvPr/>
        </p:nvSpPr>
        <p:spPr bwMode="auto">
          <a:xfrm>
            <a:off x="7886080" y="2770680"/>
            <a:ext cx="11759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209.0.0.6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3211893" y="3016412"/>
            <a:ext cx="6720993" cy="539449"/>
            <a:chOff x="2456122" y="1949511"/>
            <a:chExt cx="5040745" cy="404587"/>
          </a:xfrm>
        </p:grpSpPr>
        <p:pic>
          <p:nvPicPr>
            <p:cNvPr id="83" name="Picture 246" descr="jisuanj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6122" y="1949511"/>
              <a:ext cx="404587" cy="40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4" name="Picture 246" descr="jisuanj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431" y="1949511"/>
              <a:ext cx="404587" cy="40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5" name="Picture 246" descr="jisuanj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4008" y="1949511"/>
              <a:ext cx="404587" cy="40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246" descr="jisuanj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6136" y="1949511"/>
              <a:ext cx="404587" cy="40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246" descr="jisuanj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2280" y="1949511"/>
              <a:ext cx="404587" cy="40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8" name="组合 87"/>
          <p:cNvGrpSpPr/>
          <p:nvPr/>
        </p:nvGrpSpPr>
        <p:grpSpPr>
          <a:xfrm>
            <a:off x="3211893" y="5422527"/>
            <a:ext cx="6720993" cy="539449"/>
            <a:chOff x="2456122" y="1949511"/>
            <a:chExt cx="5040745" cy="404587"/>
          </a:xfrm>
        </p:grpSpPr>
        <p:pic>
          <p:nvPicPr>
            <p:cNvPr id="89" name="Picture 246" descr="jisuanj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6122" y="1949511"/>
              <a:ext cx="404587" cy="40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246" descr="jisuanj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431" y="1949511"/>
              <a:ext cx="404587" cy="40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246" descr="jisuanj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4008" y="1949511"/>
              <a:ext cx="404587" cy="40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246" descr="jisuanj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6136" y="1949511"/>
              <a:ext cx="404587" cy="40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246" descr="jisuanji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2280" y="1949511"/>
              <a:ext cx="404587" cy="4045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4" name="Group 94"/>
          <p:cNvGrpSpPr>
            <a:grpSpLocks/>
          </p:cNvGrpSpPr>
          <p:nvPr/>
        </p:nvGrpSpPr>
        <p:grpSpPr bwMode="auto">
          <a:xfrm>
            <a:off x="6071425" y="4584143"/>
            <a:ext cx="1392911" cy="338764"/>
            <a:chOff x="249" y="627"/>
            <a:chExt cx="1002" cy="264"/>
          </a:xfrm>
          <a:solidFill>
            <a:srgbClr val="00FFFF"/>
          </a:solidFill>
        </p:grpSpPr>
        <p:sp>
          <p:nvSpPr>
            <p:cNvPr id="95" name="AutoShape 95"/>
            <p:cNvSpPr>
              <a:spLocks noChangeArrowheads="1"/>
            </p:cNvSpPr>
            <p:nvPr/>
          </p:nvSpPr>
          <p:spPr bwMode="auto">
            <a:xfrm flipH="1">
              <a:off x="249" y="709"/>
              <a:ext cx="138" cy="139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96" name="Text Box 96"/>
            <p:cNvSpPr txBox="1">
              <a:spLocks noChangeArrowheads="1"/>
            </p:cNvSpPr>
            <p:nvPr/>
          </p:nvSpPr>
          <p:spPr bwMode="auto">
            <a:xfrm flipH="1">
              <a:off x="386" y="627"/>
              <a:ext cx="865" cy="2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ARP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相应</a:t>
              </a:r>
            </a:p>
          </p:txBody>
        </p:sp>
      </p:grpSp>
      <p:sp>
        <p:nvSpPr>
          <p:cNvPr id="97" name="Line 7"/>
          <p:cNvSpPr>
            <a:spLocks noChangeShapeType="1"/>
          </p:cNvSpPr>
          <p:nvPr/>
        </p:nvSpPr>
        <p:spPr bwMode="auto">
          <a:xfrm rot="5400000">
            <a:off x="4401342" y="2913115"/>
            <a:ext cx="474783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98" name="Text Box 17"/>
          <p:cNvSpPr txBox="1">
            <a:spLocks noChangeArrowheads="1"/>
          </p:cNvSpPr>
          <p:nvPr/>
        </p:nvSpPr>
        <p:spPr bwMode="auto">
          <a:xfrm>
            <a:off x="4812500" y="3088916"/>
            <a:ext cx="400103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</a:t>
            </a:r>
          </a:p>
        </p:txBody>
      </p:sp>
      <p:sp>
        <p:nvSpPr>
          <p:cNvPr id="99" name="Text Box 18"/>
          <p:cNvSpPr txBox="1">
            <a:spLocks noChangeArrowheads="1"/>
          </p:cNvSpPr>
          <p:nvPr/>
        </p:nvSpPr>
        <p:spPr bwMode="auto">
          <a:xfrm>
            <a:off x="6554332" y="2988825"/>
            <a:ext cx="379265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Y</a:t>
            </a:r>
          </a:p>
        </p:txBody>
      </p:sp>
      <p:sp>
        <p:nvSpPr>
          <p:cNvPr id="100" name="Text Box 19"/>
          <p:cNvSpPr txBox="1">
            <a:spLocks noChangeArrowheads="1"/>
          </p:cNvSpPr>
          <p:nvPr/>
        </p:nvSpPr>
        <p:spPr bwMode="auto">
          <a:xfrm>
            <a:off x="3650350" y="2988825"/>
            <a:ext cx="390485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X</a:t>
            </a:r>
          </a:p>
        </p:txBody>
      </p:sp>
      <p:sp>
        <p:nvSpPr>
          <p:cNvPr id="101" name="Text Box 20"/>
          <p:cNvSpPr txBox="1">
            <a:spLocks noChangeArrowheads="1"/>
          </p:cNvSpPr>
          <p:nvPr/>
        </p:nvSpPr>
        <p:spPr bwMode="auto">
          <a:xfrm>
            <a:off x="8077915" y="3088916"/>
            <a:ext cx="387279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B</a:t>
            </a:r>
          </a:p>
        </p:txBody>
      </p:sp>
      <p:sp>
        <p:nvSpPr>
          <p:cNvPr id="102" name="Text Box 21"/>
          <p:cNvSpPr txBox="1">
            <a:spLocks noChangeArrowheads="1"/>
          </p:cNvSpPr>
          <p:nvPr/>
        </p:nvSpPr>
        <p:spPr bwMode="auto">
          <a:xfrm>
            <a:off x="9872572" y="2988825"/>
            <a:ext cx="379265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Z</a:t>
            </a:r>
          </a:p>
        </p:txBody>
      </p:sp>
      <p:sp>
        <p:nvSpPr>
          <p:cNvPr id="103" name="Text Box 45"/>
          <p:cNvSpPr txBox="1">
            <a:spLocks noChangeArrowheads="1"/>
          </p:cNvSpPr>
          <p:nvPr/>
        </p:nvSpPr>
        <p:spPr bwMode="auto">
          <a:xfrm>
            <a:off x="1251731" y="3907294"/>
            <a:ext cx="2809423" cy="7879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 lIns="121917" tIns="60958" rIns="121917" bIns="60958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主机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B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向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单播发送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ARP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响应分组 </a:t>
            </a:r>
          </a:p>
        </p:txBody>
      </p:sp>
      <p:sp>
        <p:nvSpPr>
          <p:cNvPr id="104" name="Text Box 46"/>
          <p:cNvSpPr txBox="1">
            <a:spLocks noChangeArrowheads="1"/>
          </p:cNvSpPr>
          <p:nvPr/>
        </p:nvSpPr>
        <p:spPr bwMode="auto">
          <a:xfrm>
            <a:off x="1252800" y="1408350"/>
            <a:ext cx="2492023" cy="7879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121917" tIns="60958" rIns="121917" bIns="60958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主机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广播发送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ARP 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请求分组 </a:t>
            </a:r>
          </a:p>
        </p:txBody>
      </p:sp>
      <p:sp>
        <p:nvSpPr>
          <p:cNvPr id="105" name="Text Box 48"/>
          <p:cNvSpPr txBox="1">
            <a:spLocks noChangeArrowheads="1"/>
          </p:cNvSpPr>
          <p:nvPr/>
        </p:nvSpPr>
        <p:spPr bwMode="auto">
          <a:xfrm>
            <a:off x="4883635" y="2235588"/>
            <a:ext cx="1150315" cy="369332"/>
          </a:xfrm>
          <a:prstGeom prst="rect">
            <a:avLst/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1917" tIns="60958" rIns="121917" bIns="60958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ARP 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请求</a:t>
            </a:r>
          </a:p>
        </p:txBody>
      </p:sp>
      <p:sp>
        <p:nvSpPr>
          <p:cNvPr id="106" name="AutoShape 49"/>
          <p:cNvSpPr>
            <a:spLocks noChangeArrowheads="1"/>
          </p:cNvSpPr>
          <p:nvPr/>
        </p:nvSpPr>
        <p:spPr bwMode="auto">
          <a:xfrm>
            <a:off x="6197070" y="2313863"/>
            <a:ext cx="190448" cy="165532"/>
          </a:xfrm>
          <a:prstGeom prst="rightArrow">
            <a:avLst>
              <a:gd name="adj1" fmla="val 50000"/>
              <a:gd name="adj2" fmla="val 26550"/>
            </a:avLst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1917" tIns="60958" rIns="121917" bIns="60958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7" name="Text Box 50"/>
          <p:cNvSpPr txBox="1">
            <a:spLocks noChangeArrowheads="1"/>
          </p:cNvSpPr>
          <p:nvPr/>
        </p:nvSpPr>
        <p:spPr bwMode="auto">
          <a:xfrm>
            <a:off x="6568475" y="2235588"/>
            <a:ext cx="1150315" cy="369332"/>
          </a:xfrm>
          <a:prstGeom prst="rect">
            <a:avLst/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1917" tIns="60958" rIns="121917" bIns="60958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ARP </a:t>
            </a:r>
            <a:r>
              <a:rPr kumimoji="1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请求</a:t>
            </a:r>
          </a:p>
        </p:txBody>
      </p:sp>
      <p:sp>
        <p:nvSpPr>
          <p:cNvPr id="108" name="AutoShape 51"/>
          <p:cNvSpPr>
            <a:spLocks noChangeArrowheads="1"/>
          </p:cNvSpPr>
          <p:nvPr/>
        </p:nvSpPr>
        <p:spPr bwMode="auto">
          <a:xfrm>
            <a:off x="7855494" y="2334393"/>
            <a:ext cx="190448" cy="178364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1917" tIns="60958" rIns="121917" bIns="60958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09" name="Text Box 52"/>
          <p:cNvSpPr txBox="1">
            <a:spLocks noChangeArrowheads="1"/>
          </p:cNvSpPr>
          <p:nvPr/>
        </p:nvSpPr>
        <p:spPr bwMode="auto">
          <a:xfrm>
            <a:off x="8219948" y="2235588"/>
            <a:ext cx="1150315" cy="369332"/>
          </a:xfrm>
          <a:prstGeom prst="rect">
            <a:avLst/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1917" tIns="60958" rIns="121917" bIns="60958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ARP 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请求</a:t>
            </a:r>
          </a:p>
        </p:txBody>
      </p:sp>
      <p:sp>
        <p:nvSpPr>
          <p:cNvPr id="110" name="AutoShape 53"/>
          <p:cNvSpPr>
            <a:spLocks noChangeArrowheads="1"/>
          </p:cNvSpPr>
          <p:nvPr/>
        </p:nvSpPr>
        <p:spPr bwMode="auto">
          <a:xfrm>
            <a:off x="9525042" y="2304879"/>
            <a:ext cx="190448" cy="178365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1917" tIns="60958" rIns="121917" bIns="60958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grpSp>
        <p:nvGrpSpPr>
          <p:cNvPr id="111" name="Group 93"/>
          <p:cNvGrpSpPr>
            <a:grpSpLocks/>
          </p:cNvGrpSpPr>
          <p:nvPr/>
        </p:nvGrpSpPr>
        <p:grpSpPr bwMode="auto">
          <a:xfrm>
            <a:off x="3172146" y="2245854"/>
            <a:ext cx="1392911" cy="338764"/>
            <a:chOff x="249" y="663"/>
            <a:chExt cx="1002" cy="264"/>
          </a:xfrm>
          <a:solidFill>
            <a:srgbClr val="99FFCC"/>
          </a:solidFill>
        </p:grpSpPr>
        <p:sp>
          <p:nvSpPr>
            <p:cNvPr id="112" name="AutoShape 5"/>
            <p:cNvSpPr>
              <a:spLocks noChangeArrowheads="1"/>
            </p:cNvSpPr>
            <p:nvPr/>
          </p:nvSpPr>
          <p:spPr bwMode="auto">
            <a:xfrm flipH="1">
              <a:off x="249" y="709"/>
              <a:ext cx="138" cy="139"/>
            </a:xfrm>
            <a:prstGeom prst="rightArrow">
              <a:avLst>
                <a:gd name="adj1" fmla="val 50000"/>
                <a:gd name="adj2" fmla="val 25000"/>
              </a:avLst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endParaRPr>
            </a:p>
          </p:txBody>
        </p:sp>
        <p:sp>
          <p:nvSpPr>
            <p:cNvPr id="113" name="Text Box 54"/>
            <p:cNvSpPr txBox="1">
              <a:spLocks noChangeArrowheads="1"/>
            </p:cNvSpPr>
            <p:nvPr/>
          </p:nvSpPr>
          <p:spPr bwMode="auto">
            <a:xfrm flipH="1">
              <a:off x="386" y="663"/>
              <a:ext cx="865" cy="264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ARP 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+mn-cs"/>
                </a:rPr>
                <a:t>请求</a:t>
              </a:r>
            </a:p>
          </p:txBody>
        </p:sp>
      </p:grpSp>
      <p:sp>
        <p:nvSpPr>
          <p:cNvPr id="114" name="Text Box 55"/>
          <p:cNvSpPr txBox="1">
            <a:spLocks noChangeArrowheads="1"/>
          </p:cNvSpPr>
          <p:nvPr/>
        </p:nvSpPr>
        <p:spPr bwMode="auto">
          <a:xfrm>
            <a:off x="4670709" y="2856655"/>
            <a:ext cx="11759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209.0.0.5</a:t>
            </a:r>
          </a:p>
        </p:txBody>
      </p:sp>
      <p:sp>
        <p:nvSpPr>
          <p:cNvPr id="115" name="Text Box 57"/>
          <p:cNvSpPr txBox="1">
            <a:spLocks noChangeArrowheads="1"/>
          </p:cNvSpPr>
          <p:nvPr/>
        </p:nvSpPr>
        <p:spPr bwMode="auto">
          <a:xfrm>
            <a:off x="3543985" y="3474155"/>
            <a:ext cx="22852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00-00-C0-15-AD-18</a:t>
            </a:r>
          </a:p>
        </p:txBody>
      </p:sp>
      <p:sp>
        <p:nvSpPr>
          <p:cNvPr id="116" name="Text Box 58"/>
          <p:cNvSpPr txBox="1">
            <a:spLocks noChangeArrowheads="1"/>
          </p:cNvSpPr>
          <p:nvPr/>
        </p:nvSpPr>
        <p:spPr bwMode="auto">
          <a:xfrm>
            <a:off x="6934186" y="5941615"/>
            <a:ext cx="223394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08-00-2B-00-EE-0A</a:t>
            </a:r>
          </a:p>
        </p:txBody>
      </p:sp>
      <p:sp>
        <p:nvSpPr>
          <p:cNvPr id="117" name="AutoShape 59"/>
          <p:cNvSpPr>
            <a:spLocks noChangeArrowheads="1"/>
          </p:cNvSpPr>
          <p:nvPr/>
        </p:nvSpPr>
        <p:spPr bwMode="auto">
          <a:xfrm>
            <a:off x="5496445" y="1399901"/>
            <a:ext cx="4934663" cy="574111"/>
          </a:xfrm>
          <a:prstGeom prst="wedgeRoundRectCallout">
            <a:avLst>
              <a:gd name="adj1" fmla="val -53383"/>
              <a:gd name="adj2" fmla="val 101764"/>
              <a:gd name="adj3" fmla="val 16667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21917" tIns="60958" rIns="121917" bIns="60958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18" name="Text Box 60"/>
          <p:cNvSpPr txBox="1">
            <a:spLocks noChangeArrowheads="1"/>
          </p:cNvSpPr>
          <p:nvPr/>
        </p:nvSpPr>
        <p:spPr bwMode="auto">
          <a:xfrm>
            <a:off x="5571070" y="1375760"/>
            <a:ext cx="4933039" cy="677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我是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209.0.0.5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，硬件地址是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00-00-C0-15-AD-18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，我想知道主机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209.0.0.6 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的硬件地址</a:t>
            </a:r>
          </a:p>
        </p:txBody>
      </p:sp>
      <p:sp>
        <p:nvSpPr>
          <p:cNvPr id="119" name="AutoShape 61"/>
          <p:cNvSpPr>
            <a:spLocks noChangeArrowheads="1"/>
          </p:cNvSpPr>
          <p:nvPr/>
        </p:nvSpPr>
        <p:spPr bwMode="auto">
          <a:xfrm>
            <a:off x="7083440" y="3934847"/>
            <a:ext cx="3408599" cy="587704"/>
          </a:xfrm>
          <a:prstGeom prst="wedgeRoundRectCallout">
            <a:avLst>
              <a:gd name="adj1" fmla="val -41387"/>
              <a:gd name="adj2" fmla="val 83711"/>
              <a:gd name="adj3" fmla="val 16667"/>
            </a:avLst>
          </a:prstGeom>
          <a:solidFill>
            <a:srgbClr val="00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21917" tIns="60958" rIns="121917" bIns="60958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20" name="Text Box 62"/>
          <p:cNvSpPr txBox="1">
            <a:spLocks noChangeArrowheads="1"/>
          </p:cNvSpPr>
          <p:nvPr/>
        </p:nvSpPr>
        <p:spPr bwMode="auto">
          <a:xfrm>
            <a:off x="7187327" y="3934847"/>
            <a:ext cx="3412768" cy="677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我是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209.0.0.6</a:t>
            </a:r>
            <a:r>
              <a:rPr kumimoji="1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，硬件地址是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08-00-2B-00-EE-0A</a:t>
            </a:r>
          </a:p>
        </p:txBody>
      </p:sp>
      <p:sp>
        <p:nvSpPr>
          <p:cNvPr id="121" name="Line 83"/>
          <p:cNvSpPr>
            <a:spLocks noChangeShapeType="1"/>
          </p:cNvSpPr>
          <p:nvPr/>
        </p:nvSpPr>
        <p:spPr bwMode="auto">
          <a:xfrm>
            <a:off x="2846323" y="5061494"/>
            <a:ext cx="7516433" cy="16681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22" name="Text Box 84"/>
          <p:cNvSpPr txBox="1">
            <a:spLocks noChangeArrowheads="1"/>
          </p:cNvSpPr>
          <p:nvPr/>
        </p:nvSpPr>
        <p:spPr bwMode="auto">
          <a:xfrm>
            <a:off x="4832819" y="5474684"/>
            <a:ext cx="400103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A</a:t>
            </a:r>
          </a:p>
        </p:txBody>
      </p:sp>
      <p:sp>
        <p:nvSpPr>
          <p:cNvPr id="123" name="Text Box 85"/>
          <p:cNvSpPr txBox="1">
            <a:spLocks noChangeArrowheads="1"/>
          </p:cNvSpPr>
          <p:nvPr/>
        </p:nvSpPr>
        <p:spPr bwMode="auto">
          <a:xfrm>
            <a:off x="6574652" y="5374593"/>
            <a:ext cx="379265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Y</a:t>
            </a:r>
          </a:p>
        </p:txBody>
      </p:sp>
      <p:sp>
        <p:nvSpPr>
          <p:cNvPr id="124" name="Text Box 86"/>
          <p:cNvSpPr txBox="1">
            <a:spLocks noChangeArrowheads="1"/>
          </p:cNvSpPr>
          <p:nvPr/>
        </p:nvSpPr>
        <p:spPr bwMode="auto">
          <a:xfrm>
            <a:off x="3670669" y="5374593"/>
            <a:ext cx="390485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X</a:t>
            </a:r>
          </a:p>
        </p:txBody>
      </p:sp>
      <p:sp>
        <p:nvSpPr>
          <p:cNvPr id="125" name="Text Box 87"/>
          <p:cNvSpPr txBox="1">
            <a:spLocks noChangeArrowheads="1"/>
          </p:cNvSpPr>
          <p:nvPr/>
        </p:nvSpPr>
        <p:spPr bwMode="auto">
          <a:xfrm>
            <a:off x="8098234" y="5474684"/>
            <a:ext cx="387279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B</a:t>
            </a:r>
          </a:p>
        </p:txBody>
      </p:sp>
      <p:sp>
        <p:nvSpPr>
          <p:cNvPr id="126" name="Text Box 88"/>
          <p:cNvSpPr txBox="1">
            <a:spLocks noChangeArrowheads="1"/>
          </p:cNvSpPr>
          <p:nvPr/>
        </p:nvSpPr>
        <p:spPr bwMode="auto">
          <a:xfrm>
            <a:off x="9892894" y="5374593"/>
            <a:ext cx="379265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Z</a:t>
            </a:r>
          </a:p>
        </p:txBody>
      </p:sp>
      <p:sp>
        <p:nvSpPr>
          <p:cNvPr id="127" name="Text Box 89"/>
          <p:cNvSpPr txBox="1">
            <a:spLocks noChangeArrowheads="1"/>
          </p:cNvSpPr>
          <p:nvPr/>
        </p:nvSpPr>
        <p:spPr bwMode="auto">
          <a:xfrm>
            <a:off x="4691026" y="5242425"/>
            <a:ext cx="11759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209.0.0.5</a:t>
            </a:r>
          </a:p>
        </p:txBody>
      </p:sp>
      <p:sp>
        <p:nvSpPr>
          <p:cNvPr id="128" name="Text Box 91"/>
          <p:cNvSpPr txBox="1">
            <a:spLocks noChangeArrowheads="1"/>
          </p:cNvSpPr>
          <p:nvPr/>
        </p:nvSpPr>
        <p:spPr bwMode="auto">
          <a:xfrm>
            <a:off x="3453496" y="5968563"/>
            <a:ext cx="22852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00-00-C0-15-AD-18</a:t>
            </a:r>
          </a:p>
        </p:txBody>
      </p:sp>
      <p:sp>
        <p:nvSpPr>
          <p:cNvPr id="129" name="Freeform 97"/>
          <p:cNvSpPr>
            <a:spLocks/>
          </p:cNvSpPr>
          <p:nvPr/>
        </p:nvSpPr>
        <p:spPr bwMode="auto">
          <a:xfrm>
            <a:off x="4623442" y="2738600"/>
            <a:ext cx="1701520" cy="555625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0" name="Freeform 98"/>
          <p:cNvSpPr>
            <a:spLocks/>
          </p:cNvSpPr>
          <p:nvPr/>
        </p:nvSpPr>
        <p:spPr bwMode="auto">
          <a:xfrm>
            <a:off x="4622052" y="2738600"/>
            <a:ext cx="3216761" cy="555625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1" name="Freeform 101"/>
          <p:cNvSpPr>
            <a:spLocks/>
          </p:cNvSpPr>
          <p:nvPr/>
        </p:nvSpPr>
        <p:spPr bwMode="auto">
          <a:xfrm>
            <a:off x="4622052" y="2738600"/>
            <a:ext cx="5108729" cy="555625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2" name="Freeform 102"/>
          <p:cNvSpPr>
            <a:spLocks/>
          </p:cNvSpPr>
          <p:nvPr/>
        </p:nvSpPr>
        <p:spPr bwMode="auto">
          <a:xfrm flipH="1">
            <a:off x="3425150" y="2738600"/>
            <a:ext cx="1196901" cy="555625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133" name="Freeform 103"/>
          <p:cNvSpPr>
            <a:spLocks/>
          </p:cNvSpPr>
          <p:nvPr/>
        </p:nvSpPr>
        <p:spPr bwMode="auto">
          <a:xfrm flipH="1">
            <a:off x="4624299" y="5125654"/>
            <a:ext cx="3216761" cy="555625"/>
          </a:xfrm>
          <a:custGeom>
            <a:avLst/>
            <a:gdLst>
              <a:gd name="T0" fmla="*/ 6 w 1224"/>
              <a:gd name="T1" fmla="*/ 375 h 433"/>
              <a:gd name="T2" fmla="*/ 27 w 1224"/>
              <a:gd name="T3" fmla="*/ 126 h 433"/>
              <a:gd name="T4" fmla="*/ 171 w 1224"/>
              <a:gd name="T5" fmla="*/ 30 h 433"/>
              <a:gd name="T6" fmla="*/ 513 w 1224"/>
              <a:gd name="T7" fmla="*/ 3 h 433"/>
              <a:gd name="T8" fmla="*/ 852 w 1224"/>
              <a:gd name="T9" fmla="*/ 9 h 433"/>
              <a:gd name="T10" fmla="*/ 1041 w 1224"/>
              <a:gd name="T11" fmla="*/ 27 h 433"/>
              <a:gd name="T12" fmla="*/ 1167 w 1224"/>
              <a:gd name="T13" fmla="*/ 93 h 433"/>
              <a:gd name="T14" fmla="*/ 1215 w 1224"/>
              <a:gd name="T15" fmla="*/ 234 h 433"/>
              <a:gd name="T16" fmla="*/ 1224 w 1224"/>
              <a:gd name="T17" fmla="*/ 433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24" h="433">
                <a:moveTo>
                  <a:pt x="6" y="375"/>
                </a:moveTo>
                <a:cubicBezTo>
                  <a:pt x="9" y="334"/>
                  <a:pt x="0" y="183"/>
                  <a:pt x="27" y="126"/>
                </a:cubicBezTo>
                <a:cubicBezTo>
                  <a:pt x="54" y="69"/>
                  <a:pt x="90" y="50"/>
                  <a:pt x="171" y="30"/>
                </a:cubicBezTo>
                <a:cubicBezTo>
                  <a:pt x="252" y="10"/>
                  <a:pt x="400" y="6"/>
                  <a:pt x="513" y="3"/>
                </a:cubicBezTo>
                <a:cubicBezTo>
                  <a:pt x="626" y="0"/>
                  <a:pt x="764" y="5"/>
                  <a:pt x="852" y="9"/>
                </a:cubicBezTo>
                <a:cubicBezTo>
                  <a:pt x="940" y="13"/>
                  <a:pt x="989" y="13"/>
                  <a:pt x="1041" y="27"/>
                </a:cubicBezTo>
                <a:cubicBezTo>
                  <a:pt x="1093" y="41"/>
                  <a:pt x="1138" y="59"/>
                  <a:pt x="1167" y="93"/>
                </a:cubicBezTo>
                <a:cubicBezTo>
                  <a:pt x="1196" y="127"/>
                  <a:pt x="1206" y="177"/>
                  <a:pt x="1215" y="234"/>
                </a:cubicBezTo>
                <a:cubicBezTo>
                  <a:pt x="1224" y="291"/>
                  <a:pt x="1222" y="392"/>
                  <a:pt x="1224" y="433"/>
                </a:cubicBezTo>
              </a:path>
            </a:pathLst>
          </a:custGeom>
          <a:noFill/>
          <a:ln w="38100" cmpd="sng">
            <a:solidFill>
              <a:srgbClr val="CC00CC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cxnSp>
        <p:nvCxnSpPr>
          <p:cNvPr id="134" name="直接连接符 133"/>
          <p:cNvCxnSpPr/>
          <p:nvPr/>
        </p:nvCxnSpPr>
        <p:spPr>
          <a:xfrm>
            <a:off x="922867" y="3794978"/>
            <a:ext cx="10058400" cy="0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 Box 90"/>
          <p:cNvSpPr txBox="1">
            <a:spLocks noChangeArrowheads="1"/>
          </p:cNvSpPr>
          <p:nvPr/>
        </p:nvSpPr>
        <p:spPr bwMode="auto">
          <a:xfrm>
            <a:off x="7906396" y="5156451"/>
            <a:ext cx="11759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7" tIns="60958" rIns="121917" bIns="6095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209.0.0.6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5.2.4 ARP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58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5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35" presetClass="emph" presetSubtype="0" repeatCount="3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  <p:bldP spid="116" grpId="0"/>
      <p:bldP spid="129" grpId="0" animBg="1"/>
      <p:bldP spid="130" grpId="0" animBg="1"/>
      <p:bldP spid="131" grpId="0" animBg="1"/>
      <p:bldP spid="132" grpId="0" animBg="1"/>
      <p:bldP spid="1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路由到另一个局域网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5.2.4 ARP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4D1E41-7A09-AB4A-A4E1-09765ADA2698}" type="slidenum">
              <a:rPr kumimoji="1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838200" y="1510758"/>
            <a:ext cx="5587530" cy="2160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marR="0" lvl="0" indent="-360363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itchFamily="2" charset="2"/>
              <a:buChar char="Ø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创建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数据包（源为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、目的为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360363" marR="0" lvl="0" indent="-360363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在源主机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的路由表中找到路由器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223.1.1.4</a:t>
            </a:r>
          </a:p>
          <a:p>
            <a:pPr marL="360363" marR="0" lvl="0" indent="-360363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itchFamily="2" charset="2"/>
              <a:buChar char="Ø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根据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223.1.1.4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ARP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协议获得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MAC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6659598" y="1510758"/>
            <a:ext cx="4962188" cy="1681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itchFamily="2" charset="2"/>
              <a:buChar char="Ø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创建数据帧（目的地址为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MAC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地址）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itchFamily="2" charset="2"/>
              <a:buChar char="Ø"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数据帧中封装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数据包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itchFamily="2" charset="2"/>
              <a:buChar char="Ø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发送数据帧，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接收数据帧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9195" y="3672748"/>
            <a:ext cx="2618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例：从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经过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" name="Text Box 29"/>
          <p:cNvSpPr txBox="1">
            <a:spLocks noChangeArrowheads="1"/>
          </p:cNvSpPr>
          <p:nvPr/>
        </p:nvSpPr>
        <p:spPr bwMode="auto">
          <a:xfrm>
            <a:off x="2108329" y="6203515"/>
            <a:ext cx="2108749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CC-49-DE-D0-AB-7D</a:t>
            </a:r>
          </a:p>
        </p:txBody>
      </p:sp>
      <p:sp>
        <p:nvSpPr>
          <p:cNvPr id="10" name="Text Box 41"/>
          <p:cNvSpPr txBox="1">
            <a:spLocks noChangeArrowheads="1"/>
          </p:cNvSpPr>
          <p:nvPr/>
        </p:nvSpPr>
        <p:spPr bwMode="auto">
          <a:xfrm>
            <a:off x="7617019" y="4128472"/>
            <a:ext cx="1941700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88-B2-2F-54-1A-0F</a:t>
            </a:r>
          </a:p>
        </p:txBody>
      </p: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5337290" y="5027772"/>
            <a:ext cx="1218476" cy="291355"/>
            <a:chOff x="3600" y="219"/>
            <a:chExt cx="360" cy="175"/>
          </a:xfrm>
        </p:grpSpPr>
        <p:sp>
          <p:nvSpPr>
            <p:cNvPr id="12" name="Oval 9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Oval 13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17" name="Group 14"/>
            <p:cNvGrpSpPr>
              <a:grpSpLocks/>
            </p:cNvGrpSpPr>
            <p:nvPr/>
          </p:nvGrpSpPr>
          <p:grpSpPr bwMode="auto">
            <a:xfrm>
              <a:off x="3713" y="244"/>
              <a:ext cx="168" cy="49"/>
              <a:chOff x="2851" y="1131"/>
              <a:chExt cx="132" cy="97"/>
            </a:xfrm>
          </p:grpSpPr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 flipV="1">
                <a:off x="2851" y="1131"/>
                <a:ext cx="49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Line 16"/>
              <p:cNvSpPr>
                <a:spLocks noChangeShapeType="1"/>
              </p:cNvSpPr>
              <p:nvPr/>
            </p:nvSpPr>
            <p:spPr bwMode="auto">
              <a:xfrm>
                <a:off x="2940" y="1228"/>
                <a:ext cx="4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Line 17"/>
              <p:cNvSpPr>
                <a:spLocks noChangeShapeType="1"/>
              </p:cNvSpPr>
              <p:nvPr/>
            </p:nvSpPr>
            <p:spPr bwMode="auto">
              <a:xfrm>
                <a:off x="2896" y="1133"/>
                <a:ext cx="51" cy="9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8" name="Group 18"/>
            <p:cNvGrpSpPr>
              <a:grpSpLocks/>
            </p:cNvGrpSpPr>
            <p:nvPr/>
          </p:nvGrpSpPr>
          <p:grpSpPr bwMode="auto">
            <a:xfrm flipV="1">
              <a:off x="3700" y="254"/>
              <a:ext cx="181" cy="52"/>
              <a:chOff x="2871" y="1102"/>
              <a:chExt cx="144" cy="100"/>
            </a:xfrm>
          </p:grpSpPr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V="1">
                <a:off x="2871" y="1102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>
                <a:off x="2971" y="1202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2921" y="1109"/>
                <a:ext cx="52" cy="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5" name="Rectangle 22"/>
          <p:cNvSpPr>
            <a:spLocks noChangeArrowheads="1"/>
          </p:cNvSpPr>
          <p:nvPr/>
        </p:nvSpPr>
        <p:spPr bwMode="auto">
          <a:xfrm rot="16200000">
            <a:off x="6622722" y="5054794"/>
            <a:ext cx="94059" cy="23386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 rot="16200000">
            <a:off x="5170378" y="5066265"/>
            <a:ext cx="94059" cy="23386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Text Box 24"/>
          <p:cNvSpPr txBox="1">
            <a:spLocks noChangeArrowheads="1"/>
          </p:cNvSpPr>
          <p:nvPr/>
        </p:nvSpPr>
        <p:spPr bwMode="auto">
          <a:xfrm>
            <a:off x="5158449" y="4637769"/>
            <a:ext cx="1998693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1A-23-F9-CD-06-9B</a:t>
            </a:r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6080167" y="5312244"/>
            <a:ext cx="1029809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223.1.2.9</a:t>
            </a:r>
          </a:p>
        </p:txBody>
      </p:sp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4541350" y="5312244"/>
            <a:ext cx="1029809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223.1.1.4</a:t>
            </a:r>
          </a:p>
        </p:txBody>
      </p:sp>
      <p:sp>
        <p:nvSpPr>
          <p:cNvPr id="30" name="Text Box 28"/>
          <p:cNvSpPr txBox="1">
            <a:spLocks noChangeArrowheads="1"/>
          </p:cNvSpPr>
          <p:nvPr/>
        </p:nvSpPr>
        <p:spPr bwMode="auto">
          <a:xfrm>
            <a:off x="4274071" y="4365915"/>
            <a:ext cx="1986902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E6-E9-00-17-BB-4B</a:t>
            </a:r>
          </a:p>
        </p:txBody>
      </p:sp>
      <p:sp>
        <p:nvSpPr>
          <p:cNvPr id="31" name="Text Box 30"/>
          <p:cNvSpPr txBox="1">
            <a:spLocks noChangeArrowheads="1"/>
          </p:cNvSpPr>
          <p:nvPr/>
        </p:nvSpPr>
        <p:spPr bwMode="auto">
          <a:xfrm>
            <a:off x="1422445" y="5555422"/>
            <a:ext cx="1029809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223.1.1.2</a:t>
            </a:r>
          </a:p>
        </p:txBody>
      </p:sp>
      <p:graphicFrame>
        <p:nvGraphicFramePr>
          <p:cNvPr id="32" name="Object 10"/>
          <p:cNvGraphicFramePr>
            <a:graphicFrameLocks noChangeAspect="1"/>
          </p:cNvGraphicFramePr>
          <p:nvPr/>
        </p:nvGraphicFramePr>
        <p:xfrm>
          <a:off x="1843016" y="5899542"/>
          <a:ext cx="825419" cy="381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7079" imgH="1083682" progId="">
                  <p:embed/>
                </p:oleObj>
              </mc:Choice>
              <mc:Fallback>
                <p:oleObj name="Clip" r:id="rId2" imgW="1307079" imgH="1083682" progId="">
                  <p:embed/>
                  <p:pic>
                    <p:nvPicPr>
                      <p:cNvPr id="3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016" y="5899542"/>
                        <a:ext cx="825419" cy="3819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2"/>
          <p:cNvSpPr>
            <a:spLocks noChangeArrowheads="1"/>
          </p:cNvSpPr>
          <p:nvPr/>
        </p:nvSpPr>
        <p:spPr bwMode="auto">
          <a:xfrm rot="16200000">
            <a:off x="2700016" y="5902476"/>
            <a:ext cx="94059" cy="23386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4" name="Text Box 33"/>
          <p:cNvSpPr txBox="1">
            <a:spLocks noChangeArrowheads="1"/>
          </p:cNvSpPr>
          <p:nvPr/>
        </p:nvSpPr>
        <p:spPr bwMode="auto">
          <a:xfrm>
            <a:off x="1422445" y="4851124"/>
            <a:ext cx="1029809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223.1.1.1</a:t>
            </a:r>
          </a:p>
        </p:txBody>
      </p:sp>
      <p:grpSp>
        <p:nvGrpSpPr>
          <p:cNvPr id="35" name="Group 35"/>
          <p:cNvGrpSpPr>
            <a:grpSpLocks/>
          </p:cNvGrpSpPr>
          <p:nvPr/>
        </p:nvGrpSpPr>
        <p:grpSpPr bwMode="auto">
          <a:xfrm>
            <a:off x="1453890" y="4345271"/>
            <a:ext cx="1114316" cy="523063"/>
            <a:chOff x="1910" y="3481"/>
            <a:chExt cx="567" cy="456"/>
          </a:xfrm>
        </p:grpSpPr>
        <p:graphicFrame>
          <p:nvGraphicFramePr>
            <p:cNvPr id="36" name="Object 11"/>
            <p:cNvGraphicFramePr>
              <a:graphicFrameLocks noChangeAspect="1"/>
            </p:cNvGraphicFramePr>
            <p:nvPr/>
          </p:nvGraphicFramePr>
          <p:xfrm>
            <a:off x="1910" y="3487"/>
            <a:ext cx="56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4" imgW="1307079" imgH="1083682" progId="">
                    <p:embed/>
                  </p:oleObj>
                </mc:Choice>
                <mc:Fallback>
                  <p:oleObj name="Clip" r:id="rId4" imgW="1307079" imgH="1083682" progId="">
                    <p:embed/>
                    <p:pic>
                      <p:nvPicPr>
                        <p:cNvPr id="3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0" y="3487"/>
                          <a:ext cx="567" cy="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Text Box 5"/>
            <p:cNvSpPr txBox="1">
              <a:spLocks noChangeArrowheads="1"/>
            </p:cNvSpPr>
            <p:nvPr/>
          </p:nvSpPr>
          <p:spPr bwMode="auto">
            <a:xfrm>
              <a:off x="2096" y="3481"/>
              <a:ext cx="181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A</a:t>
              </a:r>
            </a:p>
          </p:txBody>
        </p:sp>
      </p:grpSp>
      <p:sp>
        <p:nvSpPr>
          <p:cNvPr id="38" name="Rectangle 36"/>
          <p:cNvSpPr>
            <a:spLocks noChangeArrowheads="1"/>
          </p:cNvSpPr>
          <p:nvPr/>
        </p:nvSpPr>
        <p:spPr bwMode="auto">
          <a:xfrm rot="16200000">
            <a:off x="2591926" y="4443408"/>
            <a:ext cx="94059" cy="23386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9" name="Object 12"/>
          <p:cNvGraphicFramePr>
            <a:graphicFrameLocks noChangeAspect="1"/>
          </p:cNvGraphicFramePr>
          <p:nvPr/>
        </p:nvGraphicFramePr>
        <p:xfrm>
          <a:off x="9478142" y="4204178"/>
          <a:ext cx="921718" cy="427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7079" imgH="1083682" progId="">
                  <p:embed/>
                </p:oleObj>
              </mc:Choice>
              <mc:Fallback>
                <p:oleObj name="Clip" r:id="rId2" imgW="1307079" imgH="1083682" progId="">
                  <p:embed/>
                  <p:pic>
                    <p:nvPicPr>
                      <p:cNvPr id="3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8142" y="4204178"/>
                        <a:ext cx="921718" cy="4278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9"/>
          <p:cNvSpPr>
            <a:spLocks noChangeArrowheads="1"/>
          </p:cNvSpPr>
          <p:nvPr/>
        </p:nvSpPr>
        <p:spPr bwMode="auto">
          <a:xfrm rot="16200000">
            <a:off x="9368223" y="4386055"/>
            <a:ext cx="94059" cy="23386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9122426" y="4607945"/>
            <a:ext cx="1029809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223.1.2.1</a:t>
            </a:r>
          </a:p>
        </p:txBody>
      </p:sp>
      <p:grpSp>
        <p:nvGrpSpPr>
          <p:cNvPr id="42" name="Group 42"/>
          <p:cNvGrpSpPr>
            <a:grpSpLocks/>
          </p:cNvGrpSpPr>
          <p:nvPr/>
        </p:nvGrpSpPr>
        <p:grpSpPr bwMode="auto">
          <a:xfrm>
            <a:off x="9482073" y="5459069"/>
            <a:ext cx="1114316" cy="531092"/>
            <a:chOff x="1910" y="3474"/>
            <a:chExt cx="567" cy="463"/>
          </a:xfrm>
        </p:grpSpPr>
        <p:graphicFrame>
          <p:nvGraphicFramePr>
            <p:cNvPr id="43" name="Object 13"/>
            <p:cNvGraphicFramePr>
              <a:graphicFrameLocks noChangeAspect="1"/>
            </p:cNvGraphicFramePr>
            <p:nvPr/>
          </p:nvGraphicFramePr>
          <p:xfrm>
            <a:off x="1910" y="3487"/>
            <a:ext cx="567" cy="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lip" r:id="rId5" imgW="1307079" imgH="1083682" progId="">
                    <p:embed/>
                  </p:oleObj>
                </mc:Choice>
                <mc:Fallback>
                  <p:oleObj name="Clip" r:id="rId5" imgW="1307079" imgH="1083682" progId="">
                    <p:embed/>
                    <p:pic>
                      <p:nvPicPr>
                        <p:cNvPr id="4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0" y="3487"/>
                          <a:ext cx="567" cy="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Text Box 44"/>
            <p:cNvSpPr txBox="1">
              <a:spLocks noChangeArrowheads="1"/>
            </p:cNvSpPr>
            <p:nvPr/>
          </p:nvSpPr>
          <p:spPr bwMode="auto">
            <a:xfrm>
              <a:off x="2063" y="3474"/>
              <a:ext cx="181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E</a:t>
              </a:r>
            </a:p>
          </p:txBody>
        </p:sp>
      </p:grpSp>
      <p:sp>
        <p:nvSpPr>
          <p:cNvPr id="45" name="Text Box 45"/>
          <p:cNvSpPr txBox="1">
            <a:spLocks noChangeArrowheads="1"/>
          </p:cNvSpPr>
          <p:nvPr/>
        </p:nvSpPr>
        <p:spPr bwMode="auto">
          <a:xfrm>
            <a:off x="9218725" y="5214743"/>
            <a:ext cx="1029809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223.1.2.2</a:t>
            </a:r>
          </a:p>
        </p:txBody>
      </p:sp>
      <p:sp>
        <p:nvSpPr>
          <p:cNvPr id="46" name="Text Box 46"/>
          <p:cNvSpPr txBox="1">
            <a:spLocks noChangeArrowheads="1"/>
          </p:cNvSpPr>
          <p:nvPr/>
        </p:nvSpPr>
        <p:spPr bwMode="auto">
          <a:xfrm>
            <a:off x="8697925" y="5963778"/>
            <a:ext cx="2020311" cy="285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49-BD-D2-C7-56-2A</a:t>
            </a:r>
          </a:p>
        </p:txBody>
      </p:sp>
      <p:sp>
        <p:nvSpPr>
          <p:cNvPr id="47" name="Rectangle 47"/>
          <p:cNvSpPr>
            <a:spLocks noChangeArrowheads="1"/>
          </p:cNvSpPr>
          <p:nvPr/>
        </p:nvSpPr>
        <p:spPr bwMode="auto">
          <a:xfrm rot="16200000">
            <a:off x="9429147" y="5552621"/>
            <a:ext cx="94059" cy="23386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Freeform 48"/>
          <p:cNvSpPr>
            <a:spLocks/>
          </p:cNvSpPr>
          <p:nvPr/>
        </p:nvSpPr>
        <p:spPr bwMode="auto">
          <a:xfrm>
            <a:off x="2955366" y="4590740"/>
            <a:ext cx="1774651" cy="1142478"/>
          </a:xfrm>
          <a:custGeom>
            <a:avLst/>
            <a:gdLst>
              <a:gd name="T0" fmla="*/ 55 w 1005"/>
              <a:gd name="T1" fmla="*/ 83 h 996"/>
              <a:gd name="T2" fmla="*/ 24 w 1005"/>
              <a:gd name="T3" fmla="*/ 227 h 996"/>
              <a:gd name="T4" fmla="*/ 4 w 1005"/>
              <a:gd name="T5" fmla="*/ 507 h 996"/>
              <a:gd name="T6" fmla="*/ 4 w 1005"/>
              <a:gd name="T7" fmla="*/ 716 h 996"/>
              <a:gd name="T8" fmla="*/ 15 w 1005"/>
              <a:gd name="T9" fmla="*/ 918 h 996"/>
              <a:gd name="T10" fmla="*/ 36 w 1005"/>
              <a:gd name="T11" fmla="*/ 990 h 996"/>
              <a:gd name="T12" fmla="*/ 71 w 1005"/>
              <a:gd name="T13" fmla="*/ 954 h 996"/>
              <a:gd name="T14" fmla="*/ 126 w 1005"/>
              <a:gd name="T15" fmla="*/ 947 h 996"/>
              <a:gd name="T16" fmla="*/ 160 w 1005"/>
              <a:gd name="T17" fmla="*/ 831 h 996"/>
              <a:gd name="T18" fmla="*/ 181 w 1005"/>
              <a:gd name="T19" fmla="*/ 543 h 996"/>
              <a:gd name="T20" fmla="*/ 168 w 1005"/>
              <a:gd name="T21" fmla="*/ 227 h 996"/>
              <a:gd name="T22" fmla="*/ 119 w 1005"/>
              <a:gd name="T23" fmla="*/ 25 h 996"/>
              <a:gd name="T24" fmla="*/ 55 w 1005"/>
              <a:gd name="T25" fmla="*/ 83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05"/>
              <a:gd name="T40" fmla="*/ 0 h 996"/>
              <a:gd name="T41" fmla="*/ 1005 w 1005"/>
              <a:gd name="T42" fmla="*/ 996 h 99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Freeform 49"/>
          <p:cNvSpPr>
            <a:spLocks/>
          </p:cNvSpPr>
          <p:nvPr/>
        </p:nvSpPr>
        <p:spPr bwMode="auto">
          <a:xfrm>
            <a:off x="7328122" y="4633181"/>
            <a:ext cx="1975110" cy="1142478"/>
          </a:xfrm>
          <a:custGeom>
            <a:avLst/>
            <a:gdLst>
              <a:gd name="T0" fmla="*/ 307 w 1005"/>
              <a:gd name="T1" fmla="*/ 83 h 996"/>
              <a:gd name="T2" fmla="*/ 134 w 1005"/>
              <a:gd name="T3" fmla="*/ 227 h 996"/>
              <a:gd name="T4" fmla="*/ 19 w 1005"/>
              <a:gd name="T5" fmla="*/ 507 h 996"/>
              <a:gd name="T6" fmla="*/ 19 w 1005"/>
              <a:gd name="T7" fmla="*/ 716 h 996"/>
              <a:gd name="T8" fmla="*/ 84 w 1005"/>
              <a:gd name="T9" fmla="*/ 918 h 996"/>
              <a:gd name="T10" fmla="*/ 199 w 1005"/>
              <a:gd name="T11" fmla="*/ 990 h 996"/>
              <a:gd name="T12" fmla="*/ 393 w 1005"/>
              <a:gd name="T13" fmla="*/ 954 h 996"/>
              <a:gd name="T14" fmla="*/ 696 w 1005"/>
              <a:gd name="T15" fmla="*/ 947 h 996"/>
              <a:gd name="T16" fmla="*/ 883 w 1005"/>
              <a:gd name="T17" fmla="*/ 831 h 996"/>
              <a:gd name="T18" fmla="*/ 998 w 1005"/>
              <a:gd name="T19" fmla="*/ 543 h 996"/>
              <a:gd name="T20" fmla="*/ 926 w 1005"/>
              <a:gd name="T21" fmla="*/ 227 h 996"/>
              <a:gd name="T22" fmla="*/ 667 w 1005"/>
              <a:gd name="T23" fmla="*/ 25 h 996"/>
              <a:gd name="T24" fmla="*/ 307 w 1005"/>
              <a:gd name="T25" fmla="*/ 83 h 99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05"/>
              <a:gd name="T40" fmla="*/ 0 h 996"/>
              <a:gd name="T41" fmla="*/ 1005 w 1005"/>
              <a:gd name="T42" fmla="*/ 996 h 99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05" h="996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Line 50"/>
          <p:cNvSpPr>
            <a:spLocks noChangeShapeType="1"/>
          </p:cNvSpPr>
          <p:nvPr/>
        </p:nvSpPr>
        <p:spPr bwMode="auto">
          <a:xfrm>
            <a:off x="2754907" y="4565504"/>
            <a:ext cx="577793" cy="1938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Line 51"/>
          <p:cNvSpPr>
            <a:spLocks noChangeShapeType="1"/>
          </p:cNvSpPr>
          <p:nvPr/>
        </p:nvSpPr>
        <p:spPr bwMode="auto">
          <a:xfrm flipV="1">
            <a:off x="2855137" y="5713717"/>
            <a:ext cx="406814" cy="28791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Line 52"/>
          <p:cNvSpPr>
            <a:spLocks noChangeShapeType="1"/>
          </p:cNvSpPr>
          <p:nvPr/>
        </p:nvSpPr>
        <p:spPr bwMode="auto">
          <a:xfrm>
            <a:off x="4714295" y="5195243"/>
            <a:ext cx="381265" cy="80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Line 53"/>
          <p:cNvSpPr>
            <a:spLocks noChangeShapeType="1"/>
          </p:cNvSpPr>
          <p:nvPr/>
        </p:nvSpPr>
        <p:spPr bwMode="auto">
          <a:xfrm flipV="1">
            <a:off x="6789634" y="5184920"/>
            <a:ext cx="593516" cy="22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Line 54"/>
          <p:cNvSpPr>
            <a:spLocks noChangeShapeType="1"/>
          </p:cNvSpPr>
          <p:nvPr/>
        </p:nvSpPr>
        <p:spPr bwMode="auto">
          <a:xfrm>
            <a:off x="9089016" y="5557716"/>
            <a:ext cx="259417" cy="11011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Line 55"/>
          <p:cNvSpPr>
            <a:spLocks noChangeShapeType="1"/>
          </p:cNvSpPr>
          <p:nvPr/>
        </p:nvSpPr>
        <p:spPr bwMode="auto">
          <a:xfrm flipH="1">
            <a:off x="8843356" y="4511592"/>
            <a:ext cx="442189" cy="2076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6" name="Line 56"/>
          <p:cNvSpPr>
            <a:spLocks noChangeShapeType="1"/>
          </p:cNvSpPr>
          <p:nvPr/>
        </p:nvSpPr>
        <p:spPr bwMode="auto">
          <a:xfrm flipV="1">
            <a:off x="2745081" y="6081926"/>
            <a:ext cx="0" cy="1376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7" name="Line 57"/>
          <p:cNvSpPr>
            <a:spLocks noChangeShapeType="1"/>
          </p:cNvSpPr>
          <p:nvPr/>
        </p:nvSpPr>
        <p:spPr bwMode="auto">
          <a:xfrm>
            <a:off x="2627164" y="4347561"/>
            <a:ext cx="0" cy="151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8" name="Line 58"/>
          <p:cNvSpPr>
            <a:spLocks noChangeShapeType="1"/>
          </p:cNvSpPr>
          <p:nvPr/>
        </p:nvSpPr>
        <p:spPr bwMode="auto">
          <a:xfrm>
            <a:off x="5209546" y="4746740"/>
            <a:ext cx="0" cy="3682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9" name="Line 59"/>
          <p:cNvSpPr>
            <a:spLocks noChangeShapeType="1"/>
          </p:cNvSpPr>
          <p:nvPr/>
        </p:nvSpPr>
        <p:spPr bwMode="auto">
          <a:xfrm>
            <a:off x="6624550" y="4915359"/>
            <a:ext cx="0" cy="1755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0" name="Line 60"/>
          <p:cNvSpPr>
            <a:spLocks noChangeShapeType="1"/>
          </p:cNvSpPr>
          <p:nvPr/>
        </p:nvSpPr>
        <p:spPr bwMode="auto">
          <a:xfrm flipV="1">
            <a:off x="9430975" y="5751570"/>
            <a:ext cx="0" cy="2340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1" name="Line 61"/>
          <p:cNvSpPr>
            <a:spLocks noChangeShapeType="1"/>
          </p:cNvSpPr>
          <p:nvPr/>
        </p:nvSpPr>
        <p:spPr bwMode="auto">
          <a:xfrm flipH="1">
            <a:off x="9407392" y="4271855"/>
            <a:ext cx="5896" cy="1686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2" name="Text Box 6"/>
          <p:cNvSpPr txBox="1">
            <a:spLocks noChangeArrowheads="1"/>
          </p:cNvSpPr>
          <p:nvPr/>
        </p:nvSpPr>
        <p:spPr bwMode="auto">
          <a:xfrm>
            <a:off x="5747863" y="5408325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R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3" name="Text Box 5"/>
          <p:cNvSpPr txBox="1">
            <a:spLocks noChangeArrowheads="1"/>
          </p:cNvSpPr>
          <p:nvPr/>
        </p:nvSpPr>
        <p:spPr bwMode="auto">
          <a:xfrm>
            <a:off x="2082871" y="5850791"/>
            <a:ext cx="3561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B</a:t>
            </a:r>
          </a:p>
        </p:txBody>
      </p:sp>
      <p:sp>
        <p:nvSpPr>
          <p:cNvPr id="64" name="Text Box 5"/>
          <p:cNvSpPr txBox="1">
            <a:spLocks noChangeArrowheads="1"/>
          </p:cNvSpPr>
          <p:nvPr/>
        </p:nvSpPr>
        <p:spPr bwMode="auto">
          <a:xfrm>
            <a:off x="9755232" y="4181493"/>
            <a:ext cx="37061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64365" y="5004794"/>
            <a:ext cx="1378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223.1.1.0/24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617019" y="5089228"/>
            <a:ext cx="13786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223.1.2.0/24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603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3505513" y="1726796"/>
            <a:ext cx="7700435" cy="440267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1219170" eaLnBrk="0" hangingPunct="0"/>
            <a:endParaRPr lang="fr-FR" sz="240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3505513" y="2535363"/>
            <a:ext cx="7700435" cy="440267"/>
          </a:xfrm>
          <a:prstGeom prst="rect">
            <a:avLst/>
          </a:prstGeom>
          <a:solidFill>
            <a:srgbClr val="1956B9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1219170" eaLnBrk="0" hangingPunct="0"/>
            <a:endParaRPr lang="fr-FR" sz="240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3505513" y="3358745"/>
            <a:ext cx="7700435" cy="440267"/>
          </a:xfrm>
          <a:prstGeom prst="rect">
            <a:avLst/>
          </a:prstGeom>
          <a:solidFill>
            <a:srgbClr val="0098F6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1219170" eaLnBrk="0" hangingPunct="0"/>
            <a:endParaRPr lang="fr-FR" sz="2400" dirty="0">
              <a:solidFill>
                <a:srgbClr val="FFFFFF"/>
              </a:solidFill>
              <a:latin typeface="宋体" charset="-122"/>
            </a:endParaRP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4849597" y="1151262"/>
            <a:ext cx="0" cy="3865621"/>
          </a:xfrm>
          <a:prstGeom prst="line">
            <a:avLst/>
          </a:prstGeom>
          <a:noFill/>
          <a:ln w="28575" algn="ctr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3600764" y="1680738"/>
            <a:ext cx="7432392" cy="2554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1219170"/>
            <a:r>
              <a:rPr lang="en-US" altLang="zh-CN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4.3.1                                       </a:t>
            </a:r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基于终点的转发</a:t>
            </a:r>
            <a:endParaRPr lang="en-US" altLang="zh-CN" sz="2667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1219170"/>
            <a:endParaRPr lang="zh-CN" altLang="en-US" sz="2667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1219170"/>
            <a:r>
              <a:rPr lang="en-US" altLang="zh-CN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4.3.2                                          </a:t>
            </a:r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最长前缀匹配</a:t>
            </a:r>
            <a:endParaRPr lang="en-US" altLang="zh-CN" sz="2667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1219170"/>
            <a:endParaRPr lang="zh-CN" altLang="en-US" sz="2667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1219170"/>
            <a:r>
              <a:rPr lang="en-US" altLang="zh-CN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4.3.3                             </a:t>
            </a:r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使用二叉线索查找转发表</a:t>
            </a:r>
          </a:p>
        </p:txBody>
      </p:sp>
      <p:sp>
        <p:nvSpPr>
          <p:cNvPr id="16" name="Rectangle 27"/>
          <p:cNvSpPr>
            <a:spLocks noChangeArrowheads="1"/>
          </p:cNvSpPr>
          <p:nvPr/>
        </p:nvSpPr>
        <p:spPr bwMode="auto">
          <a:xfrm>
            <a:off x="852974" y="1726797"/>
            <a:ext cx="2182053" cy="2074185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1219170" eaLnBrk="0" hangingPunct="0"/>
            <a:endParaRPr lang="fr-FR" sz="2400">
              <a:solidFill>
                <a:prstClr val="black"/>
              </a:solidFill>
              <a:latin typeface="宋体" charset="-122"/>
            </a:endParaRPr>
          </a:p>
        </p:txBody>
      </p:sp>
      <p:sp>
        <p:nvSpPr>
          <p:cNvPr id="17" name="Rectangle 29"/>
          <p:cNvSpPr>
            <a:spLocks noChangeArrowheads="1"/>
          </p:cNvSpPr>
          <p:nvPr/>
        </p:nvSpPr>
        <p:spPr bwMode="auto">
          <a:xfrm>
            <a:off x="864826" y="1853372"/>
            <a:ext cx="2170201" cy="1323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1219170" eaLnBrk="0" hangingPunct="0"/>
            <a:r>
              <a:rPr lang="fr-FR" altLang="zh-CN" sz="2667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4.3</a:t>
            </a:r>
          </a:p>
          <a:p>
            <a:pPr defTabSz="1219170"/>
            <a:r>
              <a:rPr lang="en-US" altLang="zh-CN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层转发分组的过程</a:t>
            </a:r>
          </a:p>
        </p:txBody>
      </p:sp>
    </p:spTree>
    <p:extLst>
      <p:ext uri="{BB962C8B-B14F-4D97-AF65-F5344CB8AC3E}">
        <p14:creationId xmlns:p14="http://schemas.microsoft.com/office/powerpoint/2010/main" val="1453761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726859" y="815978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3948622" y="761494"/>
            <a:ext cx="429476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4.3.1  </a:t>
            </a: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基于终点的转发</a:t>
            </a: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726859" y="1355824"/>
            <a:ext cx="10738283" cy="1161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分组在互联网中是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逐跳转发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基于终点的转发：基于分组首部中的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目的地址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传送和转发。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42618" y="2631081"/>
            <a:ext cx="10731701" cy="212530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133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60134" y="2905809"/>
            <a:ext cx="10505673" cy="1361959"/>
            <a:chOff x="645100" y="1324921"/>
            <a:chExt cx="7879255" cy="1021469"/>
          </a:xfrm>
        </p:grpSpPr>
        <p:sp>
          <p:nvSpPr>
            <p:cNvPr id="10" name="Line 4"/>
            <p:cNvSpPr>
              <a:spLocks noChangeShapeType="1"/>
            </p:cNvSpPr>
            <p:nvPr/>
          </p:nvSpPr>
          <p:spPr bwMode="auto">
            <a:xfrm>
              <a:off x="1157767" y="2098354"/>
              <a:ext cx="685392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>
                <a:defRPr/>
              </a:pPr>
              <a:endParaRPr lang="zh-CN" altLang="en-US" sz="1867" b="1" kern="0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645100" y="1820020"/>
              <a:ext cx="704740" cy="526370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zh-CN" altLang="en-US" sz="1867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源主机</a:t>
              </a:r>
              <a:endParaRPr lang="en-US" altLang="zh-CN" sz="1867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219170">
                <a:defRPr/>
              </a:pPr>
              <a:r>
                <a:rPr lang="en-US" altLang="zh-CN" sz="1867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H</a:t>
              </a:r>
              <a:r>
                <a:rPr lang="en-US" altLang="zh-CN" sz="1867" b="1" kern="0" baseline="-25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1867" b="1" kern="0" baseline="-25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830024" y="1820020"/>
              <a:ext cx="704741" cy="52637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zh-CN" altLang="en-US" sz="1867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路由器</a:t>
              </a:r>
              <a:endParaRPr lang="en-US" altLang="zh-CN" sz="1867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219170">
                <a:defRPr/>
              </a:pPr>
              <a:r>
                <a:rPr lang="en-US" altLang="zh-CN" sz="1867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67" b="1" kern="0" baseline="-2500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4201286" y="1820020"/>
              <a:ext cx="704740" cy="52637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zh-CN" altLang="en-US" sz="1867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路由器</a:t>
              </a:r>
              <a:endParaRPr lang="en-US" altLang="zh-CN" sz="1867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219170">
                <a:defRPr/>
              </a:pPr>
              <a:r>
                <a:rPr lang="en-US" altLang="zh-CN" sz="1867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67" b="1" kern="0" baseline="-2500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1867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5387623" y="1820020"/>
              <a:ext cx="704740" cy="52637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zh-CN" altLang="en-US" sz="1867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路由器</a:t>
              </a:r>
              <a:endParaRPr lang="en-US" altLang="zh-CN" sz="1867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219170">
                <a:defRPr/>
              </a:pPr>
              <a:r>
                <a:rPr lang="en-US" altLang="zh-CN" sz="1867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67" b="1" kern="0" baseline="-2500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lang="zh-CN" altLang="en-US" sz="1867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6572547" y="1820020"/>
              <a:ext cx="704741" cy="52637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zh-CN" altLang="en-US" sz="1867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路由器</a:t>
              </a:r>
              <a:endParaRPr lang="en-US" altLang="zh-CN" sz="1867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219170">
                <a:defRPr/>
              </a:pPr>
              <a:r>
                <a:rPr lang="en-US" altLang="zh-CN" sz="1867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67" b="1" kern="0" baseline="-2500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lang="zh-CN" altLang="en-US" sz="1867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7758884" y="1820020"/>
              <a:ext cx="765471" cy="526370"/>
            </a:xfrm>
            <a:prstGeom prst="rect">
              <a:avLst/>
            </a:prstGeom>
            <a:solidFill>
              <a:srgbClr val="0000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zh-CN" altLang="en-US" sz="1867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目的主机</a:t>
              </a:r>
              <a:endParaRPr lang="en-US" altLang="zh-CN" sz="1867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219170">
                <a:defRPr/>
              </a:pPr>
              <a:r>
                <a:rPr lang="en-US" altLang="zh-CN" sz="1867" b="1" kern="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H</a:t>
              </a:r>
              <a:r>
                <a:rPr lang="en-US" altLang="zh-CN" sz="1867" b="1" kern="0" baseline="-25000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1867" b="1" kern="0" baseline="-25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3016361" y="1820020"/>
              <a:ext cx="704741" cy="526370"/>
            </a:xfrm>
            <a:prstGeom prst="rect">
              <a:avLst/>
            </a:pr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zh-CN" altLang="en-US" sz="1867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路由器</a:t>
              </a:r>
              <a:endParaRPr lang="en-US" altLang="zh-CN" sz="1867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1219170">
                <a:defRPr/>
              </a:pPr>
              <a:r>
                <a:rPr lang="en-US" altLang="zh-CN" sz="1867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1867" b="1" kern="0" baseline="-2500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195777" y="1324921"/>
              <a:ext cx="856156" cy="940368"/>
              <a:chOff x="1204403" y="1807995"/>
              <a:chExt cx="856156" cy="940368"/>
            </a:xfrm>
          </p:grpSpPr>
          <p:sp>
            <p:nvSpPr>
              <p:cNvPr id="43" name="弧形 42"/>
              <p:cNvSpPr/>
              <p:nvPr/>
            </p:nvSpPr>
            <p:spPr>
              <a:xfrm rot="20188801">
                <a:off x="1204403" y="1945477"/>
                <a:ext cx="856156" cy="802886"/>
              </a:xfrm>
              <a:prstGeom prst="arc">
                <a:avLst>
                  <a:gd name="adj1" fmla="val 13238966"/>
                  <a:gd name="adj2" fmla="val 712977"/>
                </a:avLst>
              </a:prstGeom>
              <a:ln w="19050">
                <a:solidFill>
                  <a:srgbClr val="0000CC"/>
                </a:solidFill>
                <a:headEnd type="none" w="med" len="med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TextBox 35"/>
              <p:cNvSpPr txBox="1"/>
              <p:nvPr/>
            </p:nvSpPr>
            <p:spPr>
              <a:xfrm>
                <a:off x="1455088" y="1807995"/>
                <a:ext cx="317636" cy="2847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defTabSz="1219170"/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跳</a:t>
                </a: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346779" y="1324921"/>
              <a:ext cx="856156" cy="940368"/>
              <a:chOff x="1204403" y="1807995"/>
              <a:chExt cx="856156" cy="940368"/>
            </a:xfrm>
          </p:grpSpPr>
          <p:sp>
            <p:nvSpPr>
              <p:cNvPr id="41" name="弧形 40"/>
              <p:cNvSpPr/>
              <p:nvPr/>
            </p:nvSpPr>
            <p:spPr>
              <a:xfrm rot="20188801">
                <a:off x="1204403" y="1945477"/>
                <a:ext cx="856156" cy="802886"/>
              </a:xfrm>
              <a:prstGeom prst="arc">
                <a:avLst>
                  <a:gd name="adj1" fmla="val 13238966"/>
                  <a:gd name="adj2" fmla="val 712977"/>
                </a:avLst>
              </a:prstGeom>
              <a:ln w="19050">
                <a:solidFill>
                  <a:srgbClr val="0000CC"/>
                </a:solidFill>
                <a:headEnd type="none" w="med" len="med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TextBox 35"/>
              <p:cNvSpPr txBox="1"/>
              <p:nvPr/>
            </p:nvSpPr>
            <p:spPr>
              <a:xfrm>
                <a:off x="1455088" y="1807995"/>
                <a:ext cx="317636" cy="2847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defTabSz="1219170"/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跳</a:t>
                </a: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3546083" y="1324921"/>
              <a:ext cx="856156" cy="940368"/>
              <a:chOff x="1204403" y="1807995"/>
              <a:chExt cx="856156" cy="940368"/>
            </a:xfrm>
          </p:grpSpPr>
          <p:sp>
            <p:nvSpPr>
              <p:cNvPr id="39" name="弧形 38"/>
              <p:cNvSpPr/>
              <p:nvPr/>
            </p:nvSpPr>
            <p:spPr>
              <a:xfrm rot="20188801">
                <a:off x="1204403" y="1945477"/>
                <a:ext cx="856156" cy="802886"/>
              </a:xfrm>
              <a:prstGeom prst="arc">
                <a:avLst>
                  <a:gd name="adj1" fmla="val 13238966"/>
                  <a:gd name="adj2" fmla="val 712977"/>
                </a:avLst>
              </a:prstGeom>
              <a:ln w="19050">
                <a:solidFill>
                  <a:srgbClr val="0000CC"/>
                </a:solidFill>
                <a:headEnd type="none" w="med" len="med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TextBox 35"/>
              <p:cNvSpPr txBox="1"/>
              <p:nvPr/>
            </p:nvSpPr>
            <p:spPr>
              <a:xfrm>
                <a:off x="1455088" y="1807995"/>
                <a:ext cx="317636" cy="2847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defTabSz="1219170"/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跳</a:t>
                </a: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4697085" y="1324921"/>
              <a:ext cx="856156" cy="940368"/>
              <a:chOff x="1204403" y="1807995"/>
              <a:chExt cx="856156" cy="940368"/>
            </a:xfrm>
          </p:grpSpPr>
          <p:sp>
            <p:nvSpPr>
              <p:cNvPr id="37" name="弧形 36"/>
              <p:cNvSpPr/>
              <p:nvPr/>
            </p:nvSpPr>
            <p:spPr>
              <a:xfrm rot="20188801">
                <a:off x="1204403" y="1945477"/>
                <a:ext cx="856156" cy="802886"/>
              </a:xfrm>
              <a:prstGeom prst="arc">
                <a:avLst>
                  <a:gd name="adj1" fmla="val 13238966"/>
                  <a:gd name="adj2" fmla="val 712977"/>
                </a:avLst>
              </a:prstGeom>
              <a:ln w="19050">
                <a:solidFill>
                  <a:srgbClr val="0000CC"/>
                </a:solidFill>
                <a:headEnd type="none" w="med" len="med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TextBox 35"/>
              <p:cNvSpPr txBox="1"/>
              <p:nvPr/>
            </p:nvSpPr>
            <p:spPr>
              <a:xfrm>
                <a:off x="1455088" y="1807995"/>
                <a:ext cx="317636" cy="2847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defTabSz="1219170"/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跳</a:t>
                </a: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5888545" y="1324921"/>
              <a:ext cx="856156" cy="940368"/>
              <a:chOff x="1204403" y="1807995"/>
              <a:chExt cx="856156" cy="940368"/>
            </a:xfrm>
          </p:grpSpPr>
          <p:sp>
            <p:nvSpPr>
              <p:cNvPr id="35" name="弧形 34"/>
              <p:cNvSpPr/>
              <p:nvPr/>
            </p:nvSpPr>
            <p:spPr>
              <a:xfrm rot="20188801">
                <a:off x="1204403" y="1945477"/>
                <a:ext cx="856156" cy="802886"/>
              </a:xfrm>
              <a:prstGeom prst="arc">
                <a:avLst>
                  <a:gd name="adj1" fmla="val 13238966"/>
                  <a:gd name="adj2" fmla="val 712977"/>
                </a:avLst>
              </a:prstGeom>
              <a:ln w="19050">
                <a:solidFill>
                  <a:srgbClr val="0000CC"/>
                </a:solidFill>
                <a:headEnd type="none" w="med" len="med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455088" y="1807995"/>
                <a:ext cx="317636" cy="2847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defTabSz="1219170"/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跳</a:t>
                </a: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7039547" y="1324921"/>
              <a:ext cx="856156" cy="940368"/>
              <a:chOff x="1204403" y="1807995"/>
              <a:chExt cx="856156" cy="940368"/>
            </a:xfrm>
          </p:grpSpPr>
          <p:sp>
            <p:nvSpPr>
              <p:cNvPr id="33" name="弧形 32"/>
              <p:cNvSpPr/>
              <p:nvPr/>
            </p:nvSpPr>
            <p:spPr>
              <a:xfrm rot="20188801">
                <a:off x="1204403" y="1945477"/>
                <a:ext cx="856156" cy="802886"/>
              </a:xfrm>
              <a:prstGeom prst="arc">
                <a:avLst>
                  <a:gd name="adj1" fmla="val 13238966"/>
                  <a:gd name="adj2" fmla="val 712977"/>
                </a:avLst>
              </a:prstGeom>
              <a:ln w="19050">
                <a:solidFill>
                  <a:srgbClr val="0000CC"/>
                </a:solidFill>
                <a:headEnd type="none" w="med" len="med"/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black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TextBox 35"/>
              <p:cNvSpPr txBox="1"/>
              <p:nvPr/>
            </p:nvSpPr>
            <p:spPr>
              <a:xfrm>
                <a:off x="1455088" y="1807995"/>
                <a:ext cx="317636" cy="2847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defTabSz="1219170"/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跳</a:t>
                </a:r>
              </a:p>
            </p:txBody>
          </p:sp>
        </p:grp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1386132" y="1822507"/>
              <a:ext cx="406997" cy="234884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en-US" altLang="zh-CN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IP </a:t>
              </a:r>
              <a:r>
                <a:rPr lang="zh-CN" altLang="en-US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数据报</a:t>
              </a:r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2566352" y="1822507"/>
              <a:ext cx="406997" cy="234884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en-US" altLang="zh-CN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IP </a:t>
              </a:r>
              <a:r>
                <a:rPr lang="zh-CN" altLang="en-US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数据报</a:t>
              </a: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3767294" y="1822507"/>
              <a:ext cx="406997" cy="234884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en-US" altLang="zh-CN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IP </a:t>
              </a:r>
              <a:r>
                <a:rPr lang="zh-CN" altLang="en-US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数据报</a:t>
              </a:r>
            </a:p>
          </p:txBody>
        </p:sp>
        <p:sp>
          <p:nvSpPr>
            <p:cNvPr id="30" name="Rectangle 21"/>
            <p:cNvSpPr>
              <a:spLocks noChangeArrowheads="1"/>
            </p:cNvSpPr>
            <p:nvPr/>
          </p:nvSpPr>
          <p:spPr bwMode="auto">
            <a:xfrm>
              <a:off x="4947514" y="1822507"/>
              <a:ext cx="406997" cy="234884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en-US" altLang="zh-CN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IP </a:t>
              </a:r>
              <a:r>
                <a:rPr lang="zh-CN" altLang="en-US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数据报</a:t>
              </a:r>
            </a:p>
          </p:txBody>
        </p:sp>
        <p:sp>
          <p:nvSpPr>
            <p:cNvPr id="31" name="Rectangle 21"/>
            <p:cNvSpPr>
              <a:spLocks noChangeArrowheads="1"/>
            </p:cNvSpPr>
            <p:nvPr/>
          </p:nvSpPr>
          <p:spPr bwMode="auto">
            <a:xfrm>
              <a:off x="6131401" y="1822507"/>
              <a:ext cx="406997" cy="234884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en-US" altLang="zh-CN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IP </a:t>
              </a:r>
              <a:r>
                <a:rPr lang="zh-CN" altLang="en-US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数据报</a:t>
              </a:r>
            </a:p>
          </p:txBody>
        </p:sp>
        <p:sp>
          <p:nvSpPr>
            <p:cNvPr id="32" name="Rectangle 21"/>
            <p:cNvSpPr>
              <a:spLocks noChangeArrowheads="1"/>
            </p:cNvSpPr>
            <p:nvPr/>
          </p:nvSpPr>
          <p:spPr bwMode="auto">
            <a:xfrm>
              <a:off x="7311621" y="1822507"/>
              <a:ext cx="406997" cy="234884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defTabSz="1219170">
                <a:defRPr/>
              </a:pPr>
              <a:r>
                <a:rPr lang="en-US" altLang="zh-CN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IP </a:t>
              </a:r>
              <a:r>
                <a:rPr lang="zh-CN" altLang="en-US" sz="933" b="1" kern="0" dirty="0">
                  <a:solidFill>
                    <a:srgbClr val="000066"/>
                  </a:solidFill>
                  <a:latin typeface="Calibri"/>
                  <a:ea typeface="黑体" pitchFamily="2" charset="-122"/>
                </a:rPr>
                <a:t>数据报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079896" y="4274624"/>
            <a:ext cx="7923863" cy="420564"/>
            <a:chOff x="1559922" y="3985455"/>
            <a:chExt cx="5942897" cy="315423"/>
          </a:xfrm>
        </p:grpSpPr>
        <p:sp>
          <p:nvSpPr>
            <p:cNvPr id="2" name="矩形 1"/>
            <p:cNvSpPr/>
            <p:nvPr/>
          </p:nvSpPr>
          <p:spPr>
            <a:xfrm>
              <a:off x="1559922" y="3985455"/>
              <a:ext cx="1166425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/>
              <a:r>
                <a:rPr lang="zh-CN" altLang="en-US" sz="2133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查找转发表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2744036" y="3985455"/>
              <a:ext cx="1166425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/>
              <a:r>
                <a:rPr lang="zh-CN" altLang="en-US" sz="2133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查找转发表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3956216" y="3985455"/>
              <a:ext cx="1166425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/>
              <a:r>
                <a:rPr lang="zh-CN" altLang="en-US" sz="2133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查找转发表</a:t>
              </a:r>
            </a:p>
          </p:txBody>
        </p:sp>
        <p:sp>
          <p:nvSpPr>
            <p:cNvPr id="54" name="矩形 53"/>
            <p:cNvSpPr/>
            <p:nvPr/>
          </p:nvSpPr>
          <p:spPr>
            <a:xfrm>
              <a:off x="5140330" y="3985455"/>
              <a:ext cx="1166425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/>
              <a:r>
                <a:rPr lang="zh-CN" altLang="en-US" sz="2133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查找转发表</a:t>
              </a:r>
            </a:p>
          </p:txBody>
        </p:sp>
        <p:sp>
          <p:nvSpPr>
            <p:cNvPr id="55" name="矩形 54"/>
            <p:cNvSpPr/>
            <p:nvPr/>
          </p:nvSpPr>
          <p:spPr>
            <a:xfrm>
              <a:off x="6336394" y="3985455"/>
              <a:ext cx="1166425" cy="31542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1219170"/>
              <a:r>
                <a:rPr lang="zh-CN" altLang="en-US" sz="2133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查找转发表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9751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圆角矩形 39"/>
          <p:cNvSpPr/>
          <p:nvPr/>
        </p:nvSpPr>
        <p:spPr>
          <a:xfrm>
            <a:off x="1079292" y="844967"/>
            <a:ext cx="10173325" cy="5390941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en-US" altLang="zh-CN" sz="2400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rPr>
              <a:t>z</a:t>
            </a:r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951353" y="2851532"/>
            <a:ext cx="8428151" cy="3175214"/>
            <a:chOff x="1283635" y="1688948"/>
            <a:chExt cx="6321113" cy="2381411"/>
          </a:xfrm>
        </p:grpSpPr>
        <p:sp>
          <p:nvSpPr>
            <p:cNvPr id="44" name="Freeform 4"/>
            <p:cNvSpPr>
              <a:spLocks/>
            </p:cNvSpPr>
            <p:nvPr/>
          </p:nvSpPr>
          <p:spPr bwMode="auto">
            <a:xfrm>
              <a:off x="2769018" y="2252656"/>
              <a:ext cx="3507555" cy="659992"/>
            </a:xfrm>
            <a:custGeom>
              <a:avLst/>
              <a:gdLst>
                <a:gd name="T0" fmla="*/ 0 w 3024"/>
                <a:gd name="T1" fmla="*/ 636 h 636"/>
                <a:gd name="T2" fmla="*/ 1520 w 3024"/>
                <a:gd name="T3" fmla="*/ 0 h 636"/>
                <a:gd name="T4" fmla="*/ 3024 w 3024"/>
                <a:gd name="T5" fmla="*/ 636 h 636"/>
                <a:gd name="T6" fmla="*/ 0 w 3024"/>
                <a:gd name="T7" fmla="*/ 636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24" h="636">
                  <a:moveTo>
                    <a:pt x="0" y="636"/>
                  </a:moveTo>
                  <a:lnTo>
                    <a:pt x="1520" y="0"/>
                  </a:lnTo>
                  <a:lnTo>
                    <a:pt x="3024" y="636"/>
                  </a:lnTo>
                  <a:lnTo>
                    <a:pt x="0" y="636"/>
                  </a:lnTo>
                  <a:close/>
                </a:path>
              </a:pathLst>
            </a:custGeom>
            <a:gradFill rotWithShape="1">
              <a:gsLst>
                <a:gs pos="0">
                  <a:srgbClr val="92D050"/>
                </a:gs>
                <a:gs pos="100000">
                  <a:srgbClr val="99FFCC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5" name="Group 5"/>
            <p:cNvGrpSpPr>
              <a:grpSpLocks/>
            </p:cNvGrpSpPr>
            <p:nvPr/>
          </p:nvGrpSpPr>
          <p:grpSpPr bwMode="auto">
            <a:xfrm>
              <a:off x="1283635" y="1931727"/>
              <a:ext cx="886282" cy="587568"/>
              <a:chOff x="912" y="768"/>
              <a:chExt cx="2400" cy="1584"/>
            </a:xfrm>
            <a:solidFill>
              <a:schemeClr val="bg1"/>
            </a:solidFill>
          </p:grpSpPr>
          <p:sp>
            <p:nvSpPr>
              <p:cNvPr id="174" name="Oval 6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5" name="Oval 7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6" name="Oval 8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7" name="Oval 9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8" name="Oval 10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9" name="Oval 11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0" name="Oval 12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1" name="Oval 13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2" name="Oval 14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183" name="Group 15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  <a:grpFill/>
            </p:grpSpPr>
            <p:sp>
              <p:nvSpPr>
                <p:cNvPr id="184" name="Oval 16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85" name="Oval 17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86" name="Oval 18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87" name="Oval 19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88" name="Oval 20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89" name="Oval 21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90" name="Oval 22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91" name="Oval 23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92" name="Oval 24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46" name="Line 25"/>
            <p:cNvSpPr>
              <a:spLocks noChangeShapeType="1"/>
            </p:cNvSpPr>
            <p:nvPr/>
          </p:nvSpPr>
          <p:spPr bwMode="auto">
            <a:xfrm>
              <a:off x="2169916" y="2208169"/>
              <a:ext cx="4704367" cy="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47" name="Group 26"/>
            <p:cNvGrpSpPr>
              <a:grpSpLocks/>
            </p:cNvGrpSpPr>
            <p:nvPr/>
          </p:nvGrpSpPr>
          <p:grpSpPr bwMode="auto">
            <a:xfrm>
              <a:off x="6718466" y="1931727"/>
              <a:ext cx="886282" cy="587568"/>
              <a:chOff x="912" y="768"/>
              <a:chExt cx="2400" cy="1584"/>
            </a:xfrm>
            <a:solidFill>
              <a:schemeClr val="bg1"/>
            </a:solidFill>
          </p:grpSpPr>
          <p:sp>
            <p:nvSpPr>
              <p:cNvPr id="155" name="Oval 27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6" name="Oval 28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7" name="Oval 29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8" name="Oval 30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9" name="Oval 31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0" name="Oval 32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1" name="Oval 33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2" name="Oval 34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3" name="Oval 35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164" name="Group 36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  <a:grpFill/>
            </p:grpSpPr>
            <p:sp>
              <p:nvSpPr>
                <p:cNvPr id="165" name="Oval 37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66" name="Oval 38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67" name="Oval 39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68" name="Oval 40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69" name="Oval 41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70" name="Oval 42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71" name="Oval 43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72" name="Oval 44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73" name="Oval 45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grpSp>
          <p:nvGrpSpPr>
            <p:cNvPr id="48" name="Group 46"/>
            <p:cNvGrpSpPr>
              <a:grpSpLocks/>
            </p:cNvGrpSpPr>
            <p:nvPr/>
          </p:nvGrpSpPr>
          <p:grpSpPr bwMode="auto">
            <a:xfrm>
              <a:off x="4968004" y="1954169"/>
              <a:ext cx="886282" cy="588587"/>
              <a:chOff x="912" y="768"/>
              <a:chExt cx="2400" cy="1584"/>
            </a:xfrm>
            <a:solidFill>
              <a:schemeClr val="bg1"/>
            </a:solidFill>
          </p:grpSpPr>
          <p:sp>
            <p:nvSpPr>
              <p:cNvPr id="136" name="Oval 47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7" name="Oval 48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8" name="Oval 49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9" name="Oval 50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0" name="Oval 51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1" name="Oval 52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2" name="Oval 53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3" name="Oval 54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4" name="Oval 55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145" name="Group 56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  <a:grpFill/>
            </p:grpSpPr>
            <p:sp>
              <p:nvSpPr>
                <p:cNvPr id="146" name="Oval 57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47" name="Oval 58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48" name="Oval 59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49" name="Oval 60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50" name="Oval 61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51" name="Oval 62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52" name="Oval 63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53" name="Oval 64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54" name="Oval 65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grpSp>
          <p:nvGrpSpPr>
            <p:cNvPr id="49" name="Group 66"/>
            <p:cNvGrpSpPr>
              <a:grpSpLocks/>
            </p:cNvGrpSpPr>
            <p:nvPr/>
          </p:nvGrpSpPr>
          <p:grpSpPr bwMode="auto">
            <a:xfrm>
              <a:off x="3146816" y="1931727"/>
              <a:ext cx="886282" cy="587568"/>
              <a:chOff x="912" y="768"/>
              <a:chExt cx="2400" cy="1584"/>
            </a:xfrm>
            <a:solidFill>
              <a:schemeClr val="bg1"/>
            </a:solidFill>
          </p:grpSpPr>
          <p:sp>
            <p:nvSpPr>
              <p:cNvPr id="117" name="Oval 67"/>
              <p:cNvSpPr>
                <a:spLocks noChangeArrowheads="1"/>
              </p:cNvSpPr>
              <p:nvPr/>
            </p:nvSpPr>
            <p:spPr bwMode="auto">
              <a:xfrm>
                <a:off x="1751" y="799"/>
                <a:ext cx="1026" cy="62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8" name="Oval 68"/>
              <p:cNvSpPr>
                <a:spLocks noChangeArrowheads="1"/>
              </p:cNvSpPr>
              <p:nvPr/>
            </p:nvSpPr>
            <p:spPr bwMode="auto">
              <a:xfrm>
                <a:off x="1172" y="972"/>
                <a:ext cx="781" cy="627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9" name="Oval 69"/>
              <p:cNvSpPr>
                <a:spLocks noChangeArrowheads="1"/>
              </p:cNvSpPr>
              <p:nvPr/>
            </p:nvSpPr>
            <p:spPr bwMode="auto">
              <a:xfrm>
                <a:off x="926" y="1364"/>
                <a:ext cx="521" cy="50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0" name="Oval 70"/>
              <p:cNvSpPr>
                <a:spLocks noChangeArrowheads="1"/>
              </p:cNvSpPr>
              <p:nvPr/>
            </p:nvSpPr>
            <p:spPr bwMode="auto">
              <a:xfrm>
                <a:off x="1085" y="1599"/>
                <a:ext cx="796" cy="54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1" name="Oval 71"/>
              <p:cNvSpPr>
                <a:spLocks noChangeArrowheads="1"/>
              </p:cNvSpPr>
              <p:nvPr/>
            </p:nvSpPr>
            <p:spPr bwMode="auto">
              <a:xfrm>
                <a:off x="1664" y="1693"/>
                <a:ext cx="1200" cy="65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2" name="Oval 72"/>
              <p:cNvSpPr>
                <a:spLocks noChangeArrowheads="1"/>
              </p:cNvSpPr>
              <p:nvPr/>
            </p:nvSpPr>
            <p:spPr bwMode="auto">
              <a:xfrm>
                <a:off x="2445" y="988"/>
                <a:ext cx="751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3" name="Oval 73"/>
              <p:cNvSpPr>
                <a:spLocks noChangeArrowheads="1"/>
              </p:cNvSpPr>
              <p:nvPr/>
            </p:nvSpPr>
            <p:spPr bwMode="auto">
              <a:xfrm>
                <a:off x="2560" y="1317"/>
                <a:ext cx="752" cy="48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4" name="Oval 74"/>
              <p:cNvSpPr>
                <a:spLocks noChangeArrowheads="1"/>
              </p:cNvSpPr>
              <p:nvPr/>
            </p:nvSpPr>
            <p:spPr bwMode="auto">
              <a:xfrm>
                <a:off x="2488" y="1427"/>
                <a:ext cx="752" cy="8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5" name="Oval 75"/>
              <p:cNvSpPr>
                <a:spLocks noChangeArrowheads="1"/>
              </p:cNvSpPr>
              <p:nvPr/>
            </p:nvSpPr>
            <p:spPr bwMode="auto">
              <a:xfrm>
                <a:off x="1360" y="1176"/>
                <a:ext cx="1547" cy="8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126" name="Group 76"/>
              <p:cNvGrpSpPr>
                <a:grpSpLocks/>
              </p:cNvGrpSpPr>
              <p:nvPr/>
            </p:nvGrpSpPr>
            <p:grpSpPr bwMode="auto">
              <a:xfrm>
                <a:off x="912" y="768"/>
                <a:ext cx="2386" cy="1553"/>
                <a:chOff x="912" y="768"/>
                <a:chExt cx="2386" cy="1553"/>
              </a:xfrm>
              <a:grpFill/>
            </p:grpSpPr>
            <p:sp>
              <p:nvSpPr>
                <p:cNvPr id="127" name="Oval 77"/>
                <p:cNvSpPr>
                  <a:spLocks noChangeArrowheads="1"/>
                </p:cNvSpPr>
                <p:nvPr/>
              </p:nvSpPr>
              <p:spPr bwMode="auto">
                <a:xfrm>
                  <a:off x="1736" y="768"/>
                  <a:ext cx="1027" cy="6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8" name="Oval 78"/>
                <p:cNvSpPr>
                  <a:spLocks noChangeArrowheads="1"/>
                </p:cNvSpPr>
                <p:nvPr/>
              </p:nvSpPr>
              <p:spPr bwMode="auto">
                <a:xfrm>
                  <a:off x="1158" y="941"/>
                  <a:ext cx="781" cy="627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9" name="Oval 79"/>
                <p:cNvSpPr>
                  <a:spLocks noChangeArrowheads="1"/>
                </p:cNvSpPr>
                <p:nvPr/>
              </p:nvSpPr>
              <p:spPr bwMode="auto">
                <a:xfrm>
                  <a:off x="912" y="1333"/>
                  <a:ext cx="520" cy="50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30" name="Oval 80"/>
                <p:cNvSpPr>
                  <a:spLocks noChangeArrowheads="1"/>
                </p:cNvSpPr>
                <p:nvPr/>
              </p:nvSpPr>
              <p:spPr bwMode="auto">
                <a:xfrm>
                  <a:off x="1071" y="1568"/>
                  <a:ext cx="795" cy="54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31" name="Oval 81"/>
                <p:cNvSpPr>
                  <a:spLocks noChangeArrowheads="1"/>
                </p:cNvSpPr>
                <p:nvPr/>
              </p:nvSpPr>
              <p:spPr bwMode="auto">
                <a:xfrm>
                  <a:off x="1649" y="1662"/>
                  <a:ext cx="1200" cy="659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32" name="Oval 82"/>
                <p:cNvSpPr>
                  <a:spLocks noChangeArrowheads="1"/>
                </p:cNvSpPr>
                <p:nvPr/>
              </p:nvSpPr>
              <p:spPr bwMode="auto">
                <a:xfrm>
                  <a:off x="2430" y="956"/>
                  <a:ext cx="752" cy="48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33" name="Oval 83"/>
                <p:cNvSpPr>
                  <a:spLocks noChangeArrowheads="1"/>
                </p:cNvSpPr>
                <p:nvPr/>
              </p:nvSpPr>
              <p:spPr bwMode="auto">
                <a:xfrm>
                  <a:off x="2546" y="1286"/>
                  <a:ext cx="752" cy="48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34" name="Oval 84"/>
                <p:cNvSpPr>
                  <a:spLocks noChangeArrowheads="1"/>
                </p:cNvSpPr>
                <p:nvPr/>
              </p:nvSpPr>
              <p:spPr bwMode="auto">
                <a:xfrm>
                  <a:off x="2473" y="1395"/>
                  <a:ext cx="752" cy="81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35" name="Oval 85"/>
                <p:cNvSpPr>
                  <a:spLocks noChangeArrowheads="1"/>
                </p:cNvSpPr>
                <p:nvPr/>
              </p:nvSpPr>
              <p:spPr bwMode="auto">
                <a:xfrm>
                  <a:off x="1346" y="1144"/>
                  <a:ext cx="1547" cy="816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1219170"/>
                  <a:endParaRPr lang="zh-CN" altLang="en-US" sz="1600" b="1">
                    <a:solidFill>
                      <a:prstClr val="black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</p:grpSp>
        <p:sp>
          <p:nvSpPr>
            <p:cNvPr id="50" name="Text Box 86"/>
            <p:cNvSpPr txBox="1">
              <a:spLocks noChangeArrowheads="1"/>
            </p:cNvSpPr>
            <p:nvPr/>
          </p:nvSpPr>
          <p:spPr bwMode="auto">
            <a:xfrm>
              <a:off x="1390609" y="2010655"/>
              <a:ext cx="693940" cy="407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1219170"/>
              <a:r>
                <a:rPr kumimoji="1" lang="zh-CN" altLang="en-US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网 </a:t>
              </a:r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  <a:p>
              <a:pPr algn="ctr" defTabSz="1219170"/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15.0.0.0</a:t>
              </a:r>
            </a:p>
          </p:txBody>
        </p:sp>
        <p:sp>
          <p:nvSpPr>
            <p:cNvPr id="51" name="Text Box 87"/>
            <p:cNvSpPr txBox="1">
              <a:spLocks noChangeArrowheads="1"/>
            </p:cNvSpPr>
            <p:nvPr/>
          </p:nvSpPr>
          <p:spPr bwMode="auto">
            <a:xfrm>
              <a:off x="6859954" y="2010655"/>
              <a:ext cx="693940" cy="407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1219170"/>
              <a:r>
                <a:rPr kumimoji="1" lang="zh-CN" altLang="en-US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网 </a:t>
              </a:r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  <a:p>
              <a:pPr algn="ctr" defTabSz="1219170"/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40.0.0.0</a:t>
              </a:r>
            </a:p>
          </p:txBody>
        </p:sp>
        <p:sp>
          <p:nvSpPr>
            <p:cNvPr id="52" name="Text Box 88"/>
            <p:cNvSpPr txBox="1">
              <a:spLocks noChangeArrowheads="1"/>
            </p:cNvSpPr>
            <p:nvPr/>
          </p:nvSpPr>
          <p:spPr bwMode="auto">
            <a:xfrm>
              <a:off x="5087134" y="2010655"/>
              <a:ext cx="693940" cy="407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1219170"/>
              <a:r>
                <a:rPr kumimoji="1" lang="zh-CN" altLang="en-US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网 </a:t>
              </a:r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  <a:p>
              <a:pPr algn="ctr" defTabSz="1219170"/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30.0.0.0</a:t>
              </a:r>
            </a:p>
          </p:txBody>
        </p:sp>
        <p:sp>
          <p:nvSpPr>
            <p:cNvPr id="53" name="Text Box 89"/>
            <p:cNvSpPr txBox="1">
              <a:spLocks noChangeArrowheads="1"/>
            </p:cNvSpPr>
            <p:nvPr/>
          </p:nvSpPr>
          <p:spPr bwMode="auto">
            <a:xfrm>
              <a:off x="3265945" y="2010655"/>
              <a:ext cx="693940" cy="4079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1219170"/>
              <a:r>
                <a:rPr kumimoji="1" lang="zh-CN" altLang="en-US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网 </a:t>
              </a:r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  <a:p>
              <a:pPr algn="ctr" defTabSz="1219170"/>
              <a:r>
                <a:rPr kumimoji="1" lang="en-US" altLang="zh-CN" sz="1467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20.0.0.0</a:t>
              </a:r>
            </a:p>
          </p:txBody>
        </p:sp>
        <p:sp>
          <p:nvSpPr>
            <p:cNvPr id="54" name="Text Box 90"/>
            <p:cNvSpPr txBox="1">
              <a:spLocks noChangeArrowheads="1"/>
            </p:cNvSpPr>
            <p:nvPr/>
          </p:nvSpPr>
          <p:spPr bwMode="auto">
            <a:xfrm>
              <a:off x="1809657" y="1688948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15.0.0.4</a:t>
              </a:r>
            </a:p>
          </p:txBody>
        </p:sp>
        <p:sp>
          <p:nvSpPr>
            <p:cNvPr id="55" name="Text Box 91"/>
            <p:cNvSpPr txBox="1">
              <a:spLocks noChangeArrowheads="1"/>
            </p:cNvSpPr>
            <p:nvPr/>
          </p:nvSpPr>
          <p:spPr bwMode="auto">
            <a:xfrm>
              <a:off x="6304057" y="1688948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40.0.0.4</a:t>
              </a:r>
            </a:p>
          </p:txBody>
        </p:sp>
        <p:sp>
          <p:nvSpPr>
            <p:cNvPr id="56" name="Text Box 92"/>
            <p:cNvSpPr txBox="1">
              <a:spLocks noChangeArrowheads="1"/>
            </p:cNvSpPr>
            <p:nvPr/>
          </p:nvSpPr>
          <p:spPr bwMode="auto">
            <a:xfrm>
              <a:off x="4595590" y="1688948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30.0.0.2</a:t>
              </a:r>
            </a:p>
          </p:txBody>
        </p:sp>
        <p:sp>
          <p:nvSpPr>
            <p:cNvPr id="57" name="Text Box 93"/>
            <p:cNvSpPr txBox="1">
              <a:spLocks noChangeArrowheads="1"/>
            </p:cNvSpPr>
            <p:nvPr/>
          </p:nvSpPr>
          <p:spPr bwMode="auto">
            <a:xfrm>
              <a:off x="3724779" y="1688948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20.0.0.9</a:t>
              </a:r>
            </a:p>
          </p:txBody>
        </p:sp>
        <p:sp>
          <p:nvSpPr>
            <p:cNvPr id="58" name="Text Box 94"/>
            <p:cNvSpPr txBox="1">
              <a:spLocks noChangeArrowheads="1"/>
            </p:cNvSpPr>
            <p:nvPr/>
          </p:nvSpPr>
          <p:spPr bwMode="auto">
            <a:xfrm>
              <a:off x="2661682" y="1688948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20.0.0.7</a:t>
              </a:r>
            </a:p>
          </p:txBody>
        </p:sp>
        <p:sp>
          <p:nvSpPr>
            <p:cNvPr id="59" name="Line 95"/>
            <p:cNvSpPr>
              <a:spLocks noChangeShapeType="1"/>
            </p:cNvSpPr>
            <p:nvPr/>
          </p:nvSpPr>
          <p:spPr bwMode="auto">
            <a:xfrm>
              <a:off x="2279321" y="1948048"/>
              <a:ext cx="0" cy="260121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Line 96"/>
            <p:cNvSpPr>
              <a:spLocks noChangeShapeType="1"/>
            </p:cNvSpPr>
            <p:nvPr/>
          </p:nvSpPr>
          <p:spPr bwMode="auto">
            <a:xfrm>
              <a:off x="3046253" y="1948048"/>
              <a:ext cx="0" cy="260121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" name="Line 97"/>
            <p:cNvSpPr>
              <a:spLocks noChangeShapeType="1"/>
            </p:cNvSpPr>
            <p:nvPr/>
          </p:nvSpPr>
          <p:spPr bwMode="auto">
            <a:xfrm>
              <a:off x="5896278" y="1948048"/>
              <a:ext cx="0" cy="260121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2" name="Line 98"/>
            <p:cNvSpPr>
              <a:spLocks noChangeShapeType="1"/>
            </p:cNvSpPr>
            <p:nvPr/>
          </p:nvSpPr>
          <p:spPr bwMode="auto">
            <a:xfrm>
              <a:off x="4161544" y="1948048"/>
              <a:ext cx="0" cy="260121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3" name="Line 99"/>
            <p:cNvSpPr>
              <a:spLocks noChangeShapeType="1"/>
            </p:cNvSpPr>
            <p:nvPr/>
          </p:nvSpPr>
          <p:spPr bwMode="auto">
            <a:xfrm>
              <a:off x="6664316" y="1934787"/>
              <a:ext cx="0" cy="259101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4" name="Line 100"/>
            <p:cNvSpPr>
              <a:spLocks noChangeShapeType="1"/>
            </p:cNvSpPr>
            <p:nvPr/>
          </p:nvSpPr>
          <p:spPr bwMode="auto">
            <a:xfrm>
              <a:off x="4910539" y="1948048"/>
              <a:ext cx="0" cy="260121"/>
            </a:xfrm>
            <a:prstGeom prst="line">
              <a:avLst/>
            </a:prstGeom>
            <a:noFill/>
            <a:ln w="28575">
              <a:solidFill>
                <a:srgbClr val="CC00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5" name="Rectangle 101"/>
            <p:cNvSpPr>
              <a:spLocks noChangeArrowheads="1"/>
            </p:cNvSpPr>
            <p:nvPr/>
          </p:nvSpPr>
          <p:spPr bwMode="auto">
            <a:xfrm>
              <a:off x="2769018" y="2912648"/>
              <a:ext cx="3507555" cy="1142492"/>
            </a:xfrm>
            <a:prstGeom prst="rect">
              <a:avLst/>
            </a:prstGeom>
            <a:solidFill>
              <a:srgbClr val="00FFFF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" name="Line 102"/>
            <p:cNvSpPr>
              <a:spLocks noChangeShapeType="1"/>
            </p:cNvSpPr>
            <p:nvPr/>
          </p:nvSpPr>
          <p:spPr bwMode="auto">
            <a:xfrm>
              <a:off x="2739038" y="3224794"/>
              <a:ext cx="3507555" cy="0"/>
            </a:xfrm>
            <a:prstGeom prst="line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7" name="Text Box 103"/>
            <p:cNvSpPr txBox="1">
              <a:spLocks noChangeArrowheads="1"/>
            </p:cNvSpPr>
            <p:nvPr/>
          </p:nvSpPr>
          <p:spPr bwMode="auto">
            <a:xfrm>
              <a:off x="2821722" y="2927950"/>
              <a:ext cx="1523494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zh-CN" altLang="en-US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目的主机所在的网络</a:t>
              </a:r>
            </a:p>
          </p:txBody>
        </p:sp>
        <p:sp>
          <p:nvSpPr>
            <p:cNvPr id="68" name="Text Box 104"/>
            <p:cNvSpPr txBox="1">
              <a:spLocks noChangeArrowheads="1"/>
            </p:cNvSpPr>
            <p:nvPr/>
          </p:nvSpPr>
          <p:spPr bwMode="auto">
            <a:xfrm>
              <a:off x="4857494" y="2924889"/>
              <a:ext cx="907941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下一跳地址</a:t>
              </a:r>
            </a:p>
          </p:txBody>
        </p:sp>
        <p:sp>
          <p:nvSpPr>
            <p:cNvPr id="69" name="Line 105"/>
            <p:cNvSpPr>
              <a:spLocks noChangeShapeType="1"/>
            </p:cNvSpPr>
            <p:nvPr/>
          </p:nvSpPr>
          <p:spPr bwMode="auto">
            <a:xfrm>
              <a:off x="4492815" y="2912648"/>
              <a:ext cx="0" cy="1142492"/>
            </a:xfrm>
            <a:prstGeom prst="line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0" name="Line 106"/>
            <p:cNvSpPr>
              <a:spLocks noChangeShapeType="1"/>
            </p:cNvSpPr>
            <p:nvPr/>
          </p:nvSpPr>
          <p:spPr bwMode="auto">
            <a:xfrm>
              <a:off x="2739038" y="3431870"/>
              <a:ext cx="3507555" cy="0"/>
            </a:xfrm>
            <a:prstGeom prst="line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1" name="Line 107"/>
            <p:cNvSpPr>
              <a:spLocks noChangeShapeType="1"/>
            </p:cNvSpPr>
            <p:nvPr/>
          </p:nvSpPr>
          <p:spPr bwMode="auto">
            <a:xfrm>
              <a:off x="2739038" y="3639967"/>
              <a:ext cx="3507555" cy="0"/>
            </a:xfrm>
            <a:prstGeom prst="line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2" name="Line 108"/>
            <p:cNvSpPr>
              <a:spLocks noChangeShapeType="1"/>
            </p:cNvSpPr>
            <p:nvPr/>
          </p:nvSpPr>
          <p:spPr bwMode="auto">
            <a:xfrm>
              <a:off x="2739038" y="3848064"/>
              <a:ext cx="3507555" cy="0"/>
            </a:xfrm>
            <a:prstGeom prst="line">
              <a:avLst/>
            </a:prstGeom>
            <a:noFill/>
            <a:ln w="19050">
              <a:solidFill>
                <a:srgbClr val="00B05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Text Box 109"/>
            <p:cNvSpPr txBox="1">
              <a:spLocks noChangeArrowheads="1"/>
            </p:cNvSpPr>
            <p:nvPr/>
          </p:nvSpPr>
          <p:spPr bwMode="auto">
            <a:xfrm>
              <a:off x="3213121" y="3192152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20.0.0.0</a:t>
              </a:r>
            </a:p>
          </p:txBody>
        </p:sp>
        <p:sp>
          <p:nvSpPr>
            <p:cNvPr id="74" name="Text Box 110"/>
            <p:cNvSpPr txBox="1">
              <a:spLocks noChangeArrowheads="1"/>
            </p:cNvSpPr>
            <p:nvPr/>
          </p:nvSpPr>
          <p:spPr bwMode="auto">
            <a:xfrm>
              <a:off x="3213121" y="3394127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30.0.0.0</a:t>
              </a:r>
            </a:p>
          </p:txBody>
        </p:sp>
        <p:sp>
          <p:nvSpPr>
            <p:cNvPr id="75" name="Text Box 111"/>
            <p:cNvSpPr txBox="1">
              <a:spLocks noChangeArrowheads="1"/>
            </p:cNvSpPr>
            <p:nvPr/>
          </p:nvSpPr>
          <p:spPr bwMode="auto">
            <a:xfrm>
              <a:off x="3213121" y="3616507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15.0.0.0</a:t>
              </a:r>
            </a:p>
          </p:txBody>
        </p:sp>
        <p:sp>
          <p:nvSpPr>
            <p:cNvPr id="76" name="Text Box 112"/>
            <p:cNvSpPr txBox="1">
              <a:spLocks noChangeArrowheads="1"/>
            </p:cNvSpPr>
            <p:nvPr/>
          </p:nvSpPr>
          <p:spPr bwMode="auto">
            <a:xfrm>
              <a:off x="3213121" y="3808282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40.0.0.0</a:t>
              </a:r>
            </a:p>
          </p:txBody>
        </p:sp>
        <p:sp>
          <p:nvSpPr>
            <p:cNvPr id="77" name="Text Box 113"/>
            <p:cNvSpPr txBox="1">
              <a:spLocks noChangeArrowheads="1"/>
            </p:cNvSpPr>
            <p:nvPr/>
          </p:nvSpPr>
          <p:spPr bwMode="auto">
            <a:xfrm>
              <a:off x="4922696" y="3608345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20.0.0.7</a:t>
              </a:r>
            </a:p>
          </p:txBody>
        </p:sp>
        <p:sp>
          <p:nvSpPr>
            <p:cNvPr id="78" name="Text Box 114"/>
            <p:cNvSpPr txBox="1">
              <a:spLocks noChangeArrowheads="1"/>
            </p:cNvSpPr>
            <p:nvPr/>
          </p:nvSpPr>
          <p:spPr bwMode="auto">
            <a:xfrm>
              <a:off x="4922696" y="3816443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30.0.0.1</a:t>
              </a:r>
            </a:p>
          </p:txBody>
        </p:sp>
        <p:sp>
          <p:nvSpPr>
            <p:cNvPr id="79" name="Text Box 115"/>
            <p:cNvSpPr txBox="1">
              <a:spLocks noChangeArrowheads="1"/>
            </p:cNvSpPr>
            <p:nvPr/>
          </p:nvSpPr>
          <p:spPr bwMode="auto">
            <a:xfrm>
              <a:off x="4616584" y="3411468"/>
              <a:ext cx="1356381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直接交付，接口 </a:t>
              </a:r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sp>
          <p:nvSpPr>
            <p:cNvPr id="80" name="Text Box 116"/>
            <p:cNvSpPr txBox="1">
              <a:spLocks noChangeArrowheads="1"/>
            </p:cNvSpPr>
            <p:nvPr/>
          </p:nvSpPr>
          <p:spPr bwMode="auto">
            <a:xfrm>
              <a:off x="4616584" y="3190112"/>
              <a:ext cx="1356381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zh-CN" altLang="en-US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直接交付，接口 </a:t>
              </a:r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81" name="Text Box 117"/>
            <p:cNvSpPr txBox="1">
              <a:spLocks noChangeArrowheads="1"/>
            </p:cNvSpPr>
            <p:nvPr/>
          </p:nvSpPr>
          <p:spPr bwMode="auto">
            <a:xfrm>
              <a:off x="3655428" y="2579704"/>
              <a:ext cx="1696618" cy="2847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defTabSz="1219170"/>
              <a:r>
                <a:rPr kumimoji="1" lang="zh-CN" altLang="en-US" sz="1867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路由器 </a:t>
              </a:r>
              <a:r>
                <a:rPr kumimoji="1" lang="en-US" altLang="zh-CN" sz="1867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867" b="1" baseline="-2500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kumimoji="1" lang="en-US" altLang="zh-CN" sz="1867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kumimoji="1" lang="zh-CN" altLang="en-US" sz="1867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的转发表</a:t>
              </a:r>
            </a:p>
          </p:txBody>
        </p:sp>
        <p:sp>
          <p:nvSpPr>
            <p:cNvPr id="82" name="Text Box 118"/>
            <p:cNvSpPr txBox="1">
              <a:spLocks noChangeArrowheads="1"/>
            </p:cNvSpPr>
            <p:nvPr/>
          </p:nvSpPr>
          <p:spPr bwMode="auto">
            <a:xfrm>
              <a:off x="5481872" y="1688948"/>
              <a:ext cx="74683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30.0.0.1</a:t>
              </a:r>
            </a:p>
          </p:txBody>
        </p:sp>
        <p:pic>
          <p:nvPicPr>
            <p:cNvPr id="101" name="Picture 13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3978" y="2090860"/>
              <a:ext cx="499501" cy="2366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102" name="Text Box 140"/>
            <p:cNvSpPr txBox="1">
              <a:spLocks noChangeArrowheads="1"/>
            </p:cNvSpPr>
            <p:nvPr/>
          </p:nvSpPr>
          <p:spPr bwMode="auto">
            <a:xfrm>
              <a:off x="4371512" y="1829720"/>
              <a:ext cx="30921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600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en-US" altLang="zh-CN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3" name="Text Box 141"/>
            <p:cNvSpPr txBox="1">
              <a:spLocks noChangeArrowheads="1"/>
            </p:cNvSpPr>
            <p:nvPr/>
          </p:nvSpPr>
          <p:spPr bwMode="auto">
            <a:xfrm>
              <a:off x="6115811" y="1829720"/>
              <a:ext cx="30921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600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kumimoji="1" lang="en-US" altLang="zh-CN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4" name="Text Box 142"/>
            <p:cNvSpPr txBox="1">
              <a:spLocks noChangeArrowheads="1"/>
            </p:cNvSpPr>
            <p:nvPr/>
          </p:nvSpPr>
          <p:spPr bwMode="auto">
            <a:xfrm>
              <a:off x="2516915" y="1829720"/>
              <a:ext cx="309219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kumimoji="1" lang="en-US" altLang="zh-CN" sz="1600" b="1" baseline="-25000" dirty="0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kumimoji="1" lang="en-US" altLang="zh-CN" sz="16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5" name="Text Box 146"/>
            <p:cNvSpPr txBox="1">
              <a:spLocks noChangeArrowheads="1"/>
            </p:cNvSpPr>
            <p:nvPr/>
          </p:nvSpPr>
          <p:spPr bwMode="auto">
            <a:xfrm>
              <a:off x="4025618" y="2173488"/>
              <a:ext cx="233478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0</a:t>
              </a:r>
            </a:p>
          </p:txBody>
        </p:sp>
        <p:sp>
          <p:nvSpPr>
            <p:cNvPr id="106" name="Text Box 147"/>
            <p:cNvSpPr txBox="1">
              <a:spLocks noChangeArrowheads="1"/>
            </p:cNvSpPr>
            <p:nvPr/>
          </p:nvSpPr>
          <p:spPr bwMode="auto">
            <a:xfrm>
              <a:off x="4765773" y="2177567"/>
              <a:ext cx="233478" cy="253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/>
              <a:r>
                <a:rPr kumimoji="1" lang="en-US" altLang="zh-CN" sz="1600" b="1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  <p:pic>
          <p:nvPicPr>
            <p:cNvPr id="107" name="Picture 14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6217" y="2076579"/>
              <a:ext cx="500606" cy="235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108" name="Picture 149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45466" y="2080659"/>
              <a:ext cx="499501" cy="2356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</p:grpSp>
      <p:sp>
        <p:nvSpPr>
          <p:cNvPr id="193" name="Text Box 155"/>
          <p:cNvSpPr txBox="1">
            <a:spLocks noChangeArrowheads="1"/>
          </p:cNvSpPr>
          <p:nvPr/>
        </p:nvSpPr>
        <p:spPr bwMode="auto">
          <a:xfrm>
            <a:off x="1789803" y="986629"/>
            <a:ext cx="8743285" cy="1689052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1219170">
              <a:lnSpc>
                <a:spcPct val="110000"/>
              </a:lnSpc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为了压缩转发表的大小，</a:t>
            </a:r>
            <a:endParaRPr lang="en-US" altLang="zh-CN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defTabSz="1219170">
              <a:lnSpc>
                <a:spcPct val="110000"/>
              </a:lnSpc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转发表中最主要的路由是（目的网络地址，下一跳地址） ，</a:t>
            </a:r>
            <a:endParaRPr lang="en-US" altLang="zh-CN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defTabSz="1219170">
              <a:lnSpc>
                <a:spcPct val="110000"/>
              </a:lnSpc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而不是（目的地址，下一跳地址）。</a:t>
            </a:r>
            <a:endParaRPr lang="en-US" altLang="zh-CN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defTabSz="1219170">
              <a:lnSpc>
                <a:spcPct val="110000"/>
              </a:lnSpc>
            </a:pPr>
            <a:r>
              <a:rPr lang="zh-CN" altLang="en-US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查找转发表的过程就是逐行寻找前缀匹配。</a:t>
            </a:r>
          </a:p>
        </p:txBody>
      </p:sp>
    </p:spTree>
    <p:extLst>
      <p:ext uri="{BB962C8B-B14F-4D97-AF65-F5344CB8AC3E}">
        <p14:creationId xmlns:p14="http://schemas.microsoft.com/office/powerpoint/2010/main" val="102938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圆角矩形 65"/>
          <p:cNvSpPr/>
          <p:nvPr/>
        </p:nvSpPr>
        <p:spPr>
          <a:xfrm>
            <a:off x="459701" y="844967"/>
            <a:ext cx="11292587" cy="497218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 rot="20475920">
            <a:off x="1389373" y="1213499"/>
            <a:ext cx="4468964" cy="1336491"/>
          </a:xfrm>
          <a:prstGeom prst="ellipse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219170">
              <a:defRPr/>
            </a:pPr>
            <a:endParaRPr lang="zh-CN" altLang="en-US" sz="2133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Group 125"/>
          <p:cNvGraphicFramePr>
            <a:graphicFrameLocks noGrp="1"/>
          </p:cNvGraphicFramePr>
          <p:nvPr/>
        </p:nvGraphicFramePr>
        <p:xfrm>
          <a:off x="7392477" y="1578994"/>
          <a:ext cx="3720232" cy="1923423"/>
        </p:xfrm>
        <a:graphic>
          <a:graphicData uri="http://schemas.openxmlformats.org/drawingml/2006/table">
            <a:tbl>
              <a:tblPr/>
              <a:tblGrid>
                <a:gridCol w="205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前缀匹配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下一跳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128.1.2.64/26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128.1.2.128/26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128.1.2.192/26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R</a:t>
                      </a:r>
                      <a:r>
                        <a:rPr kumimoji="1" lang="en-US" altLang="zh-CN" sz="19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5" name="组合 62"/>
          <p:cNvGrpSpPr/>
          <p:nvPr/>
        </p:nvGrpSpPr>
        <p:grpSpPr>
          <a:xfrm>
            <a:off x="506901" y="1088611"/>
            <a:ext cx="9704980" cy="4587664"/>
            <a:chOff x="380176" y="816458"/>
            <a:chExt cx="7278735" cy="3440748"/>
          </a:xfrm>
        </p:grpSpPr>
        <p:grpSp>
          <p:nvGrpSpPr>
            <p:cNvPr id="24" name="组合 67"/>
            <p:cNvGrpSpPr/>
            <p:nvPr/>
          </p:nvGrpSpPr>
          <p:grpSpPr>
            <a:xfrm>
              <a:off x="380176" y="816458"/>
              <a:ext cx="7278735" cy="3440748"/>
              <a:chOff x="380176" y="816458"/>
              <a:chExt cx="7278735" cy="3440748"/>
            </a:xfrm>
          </p:grpSpPr>
          <p:sp>
            <p:nvSpPr>
              <p:cNvPr id="65" name="直角三角形 64"/>
              <p:cNvSpPr/>
              <p:nvPr/>
            </p:nvSpPr>
            <p:spPr>
              <a:xfrm rot="16200000">
                <a:off x="4357107" y="1079129"/>
                <a:ext cx="1089992" cy="1274054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shade val="30000"/>
                      <a:satMod val="115000"/>
                    </a:schemeClr>
                  </a:gs>
                  <a:gs pos="50000">
                    <a:schemeClr val="bg1">
                      <a:lumMod val="8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85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2" name="椭圆 1"/>
              <p:cNvSpPr/>
              <p:nvPr/>
            </p:nvSpPr>
            <p:spPr bwMode="auto">
              <a:xfrm>
                <a:off x="3607791" y="2535299"/>
                <a:ext cx="3716460" cy="1197252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" name="椭圆 2"/>
              <p:cNvSpPr/>
              <p:nvPr/>
            </p:nvSpPr>
            <p:spPr bwMode="auto">
              <a:xfrm rot="16200000">
                <a:off x="883716" y="2425929"/>
                <a:ext cx="1925637" cy="1736917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Text Box 20"/>
              <p:cNvSpPr txBox="1">
                <a:spLocks noChangeArrowheads="1"/>
              </p:cNvSpPr>
              <p:nvPr/>
            </p:nvSpPr>
            <p:spPr bwMode="auto">
              <a:xfrm>
                <a:off x="2456408" y="203983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128.1.2.194</a:t>
                </a:r>
              </a:p>
            </p:txBody>
          </p:sp>
          <p:sp>
            <p:nvSpPr>
              <p:cNvPr id="7" name="Text Box 25"/>
              <p:cNvSpPr txBox="1">
                <a:spLocks noChangeArrowheads="1"/>
              </p:cNvSpPr>
              <p:nvPr/>
            </p:nvSpPr>
            <p:spPr bwMode="auto">
              <a:xfrm>
                <a:off x="3732139" y="1824581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Line 19"/>
              <p:cNvSpPr>
                <a:spLocks noChangeShapeType="1"/>
              </p:cNvSpPr>
              <p:nvPr/>
            </p:nvSpPr>
            <p:spPr bwMode="auto">
              <a:xfrm>
                <a:off x="2775735" y="1678638"/>
                <a:ext cx="1301162" cy="55733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Line 16"/>
              <p:cNvSpPr>
                <a:spLocks noChangeShapeType="1"/>
              </p:cNvSpPr>
              <p:nvPr/>
            </p:nvSpPr>
            <p:spPr bwMode="auto">
              <a:xfrm flipH="1">
                <a:off x="1638141" y="1656270"/>
                <a:ext cx="947995" cy="2530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 flipH="1">
                <a:off x="2658440" y="1101262"/>
                <a:ext cx="956029" cy="55360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13" name="Picture 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93961" y="824458"/>
                <a:ext cx="345456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 Box 9"/>
              <p:cNvSpPr txBox="1">
                <a:spLocks noChangeArrowheads="1"/>
              </p:cNvSpPr>
              <p:nvPr/>
            </p:nvSpPr>
            <p:spPr bwMode="auto">
              <a:xfrm>
                <a:off x="2171247" y="91222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128.1.2.193</a:t>
                </a:r>
              </a:p>
            </p:txBody>
          </p:sp>
          <p:sp>
            <p:nvSpPr>
              <p:cNvPr id="15" name="Text Box 23"/>
              <p:cNvSpPr txBox="1">
                <a:spLocks noChangeArrowheads="1"/>
              </p:cNvSpPr>
              <p:nvPr/>
            </p:nvSpPr>
            <p:spPr bwMode="auto">
              <a:xfrm>
                <a:off x="3839945" y="816458"/>
                <a:ext cx="1225389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16" name="Text Box 10"/>
              <p:cNvSpPr txBox="1">
                <a:spLocks noChangeArrowheads="1"/>
              </p:cNvSpPr>
              <p:nvPr/>
            </p:nvSpPr>
            <p:spPr bwMode="auto">
              <a:xfrm>
                <a:off x="616658" y="1099476"/>
                <a:ext cx="1674978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128.1.2.192/26</a:t>
                </a:r>
              </a:p>
            </p:txBody>
          </p:sp>
          <p:sp>
            <p:nvSpPr>
              <p:cNvPr id="17" name="Line 45"/>
              <p:cNvSpPr>
                <a:spLocks noChangeShapeType="1"/>
              </p:cNvSpPr>
              <p:nvPr/>
            </p:nvSpPr>
            <p:spPr bwMode="auto">
              <a:xfrm flipH="1" flipV="1">
                <a:off x="2294019" y="3312971"/>
                <a:ext cx="808348" cy="2236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Line 41"/>
              <p:cNvSpPr>
                <a:spLocks noChangeShapeType="1"/>
              </p:cNvSpPr>
              <p:nvPr/>
            </p:nvSpPr>
            <p:spPr bwMode="auto">
              <a:xfrm flipH="1">
                <a:off x="4263353" y="2793929"/>
                <a:ext cx="1332012" cy="433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33"/>
              <p:cNvSpPr>
                <a:spLocks noChangeShapeType="1"/>
              </p:cNvSpPr>
              <p:nvPr/>
            </p:nvSpPr>
            <p:spPr bwMode="auto">
              <a:xfrm flipH="1">
                <a:off x="2051398" y="3354911"/>
                <a:ext cx="88372" cy="5228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Line 32"/>
              <p:cNvSpPr>
                <a:spLocks noChangeShapeType="1"/>
              </p:cNvSpPr>
              <p:nvPr/>
            </p:nvSpPr>
            <p:spPr bwMode="auto">
              <a:xfrm flipH="1">
                <a:off x="3297683" y="2900177"/>
                <a:ext cx="819453" cy="6696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4207116" y="2371732"/>
                <a:ext cx="1607" cy="4627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2" name="Picture 2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4653" y="3753341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" name="Picture 11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9621" y="1719179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2" name="Group 18"/>
              <p:cNvGrpSpPr>
                <a:grpSpLocks/>
              </p:cNvGrpSpPr>
              <p:nvPr/>
            </p:nvGrpSpPr>
            <p:grpSpPr bwMode="auto">
              <a:xfrm>
                <a:off x="3943605" y="2125684"/>
                <a:ext cx="531842" cy="303367"/>
                <a:chOff x="864" y="1824"/>
                <a:chExt cx="432" cy="288"/>
              </a:xfrm>
            </p:grpSpPr>
            <p:pic>
              <p:nvPicPr>
                <p:cNvPr id="25" name="Picture 3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26" name="Picture 12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27" name="Picture 13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2173" y="2589821"/>
                <a:ext cx="345456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" name="Text Box 22"/>
              <p:cNvSpPr txBox="1">
                <a:spLocks noChangeArrowheads="1"/>
              </p:cNvSpPr>
              <p:nvPr/>
            </p:nvSpPr>
            <p:spPr bwMode="auto">
              <a:xfrm>
                <a:off x="2853215" y="2404897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128.1.2.130</a:t>
                </a:r>
              </a:p>
            </p:txBody>
          </p:sp>
          <p:sp>
            <p:nvSpPr>
              <p:cNvPr id="29" name="Text Box 24"/>
              <p:cNvSpPr txBox="1">
                <a:spLocks noChangeArrowheads="1"/>
              </p:cNvSpPr>
              <p:nvPr/>
            </p:nvSpPr>
            <p:spPr bwMode="auto">
              <a:xfrm>
                <a:off x="4108734" y="1835693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30" name="Text Box 26"/>
              <p:cNvSpPr txBox="1">
                <a:spLocks noChangeArrowheads="1"/>
              </p:cNvSpPr>
              <p:nvPr/>
            </p:nvSpPr>
            <p:spPr bwMode="auto">
              <a:xfrm>
                <a:off x="4178194" y="2368936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27"/>
              <p:cNvSpPr>
                <a:spLocks noChangeShapeType="1"/>
              </p:cNvSpPr>
              <p:nvPr/>
            </p:nvSpPr>
            <p:spPr bwMode="auto">
              <a:xfrm>
                <a:off x="4263353" y="2837267"/>
                <a:ext cx="1307911" cy="4627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0" name="Group 28"/>
              <p:cNvGrpSpPr>
                <a:grpSpLocks/>
              </p:cNvGrpSpPr>
              <p:nvPr/>
            </p:nvGrpSpPr>
            <p:grpSpPr bwMode="auto">
              <a:xfrm>
                <a:off x="3032567" y="3427224"/>
                <a:ext cx="531841" cy="303366"/>
                <a:chOff x="864" y="1824"/>
                <a:chExt cx="432" cy="288"/>
              </a:xfrm>
            </p:grpSpPr>
            <p:pic>
              <p:nvPicPr>
                <p:cNvPr id="33" name="Picture 29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4" name="Picture 30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35" name="Text Box 31"/>
              <p:cNvSpPr txBox="1">
                <a:spLocks noChangeArrowheads="1"/>
              </p:cNvSpPr>
              <p:nvPr/>
            </p:nvSpPr>
            <p:spPr bwMode="auto">
              <a:xfrm>
                <a:off x="3511384" y="3483144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36" name="Line 35"/>
              <p:cNvSpPr>
                <a:spLocks noChangeShapeType="1"/>
              </p:cNvSpPr>
              <p:nvPr/>
            </p:nvSpPr>
            <p:spPr bwMode="auto">
              <a:xfrm flipH="1">
                <a:off x="2147804" y="2732799"/>
                <a:ext cx="36955" cy="5801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37" name="Picture 1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9129" y="3034385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8" name="Text Box 37"/>
              <p:cNvSpPr txBox="1">
                <a:spLocks noChangeArrowheads="1"/>
              </p:cNvSpPr>
              <p:nvPr/>
            </p:nvSpPr>
            <p:spPr bwMode="auto">
              <a:xfrm>
                <a:off x="5909138" y="2500740"/>
                <a:ext cx="1749773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128.1.2.128/26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Text Box 39"/>
              <p:cNvSpPr txBox="1">
                <a:spLocks noChangeArrowheads="1"/>
              </p:cNvSpPr>
              <p:nvPr/>
            </p:nvSpPr>
            <p:spPr bwMode="auto">
              <a:xfrm>
                <a:off x="5888875" y="3027938"/>
                <a:ext cx="1435376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40" name="Text Box 40"/>
              <p:cNvSpPr txBox="1">
                <a:spLocks noChangeArrowheads="1"/>
              </p:cNvSpPr>
              <p:nvPr/>
            </p:nvSpPr>
            <p:spPr bwMode="auto">
              <a:xfrm>
                <a:off x="4856211" y="334497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128.1.2.132</a:t>
                </a:r>
              </a:p>
            </p:txBody>
          </p:sp>
          <p:sp>
            <p:nvSpPr>
              <p:cNvPr id="41" name="Text Box 42"/>
              <p:cNvSpPr txBox="1">
                <a:spLocks noChangeArrowheads="1"/>
              </p:cNvSpPr>
              <p:nvPr/>
            </p:nvSpPr>
            <p:spPr bwMode="auto">
              <a:xfrm>
                <a:off x="3269292" y="313659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Text Box 43"/>
              <p:cNvSpPr txBox="1">
                <a:spLocks noChangeArrowheads="1"/>
              </p:cNvSpPr>
              <p:nvPr/>
            </p:nvSpPr>
            <p:spPr bwMode="auto">
              <a:xfrm>
                <a:off x="2804933" y="315647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Text Box 44"/>
              <p:cNvSpPr txBox="1">
                <a:spLocks noChangeArrowheads="1"/>
              </p:cNvSpPr>
              <p:nvPr/>
            </p:nvSpPr>
            <p:spPr bwMode="auto">
              <a:xfrm>
                <a:off x="3533879" y="321752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128.1.2.131</a:t>
                </a:r>
              </a:p>
            </p:txBody>
          </p:sp>
          <p:pic>
            <p:nvPicPr>
              <p:cNvPr id="44" name="Picture 3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9263" y="2489547"/>
                <a:ext cx="347062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" name="Text Box 46"/>
              <p:cNvSpPr txBox="1">
                <a:spLocks noChangeArrowheads="1"/>
              </p:cNvSpPr>
              <p:nvPr/>
            </p:nvSpPr>
            <p:spPr bwMode="auto">
              <a:xfrm>
                <a:off x="1508068" y="3842425"/>
                <a:ext cx="39097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46" name="Text Box 48"/>
              <p:cNvSpPr txBox="1">
                <a:spLocks noChangeArrowheads="1"/>
              </p:cNvSpPr>
              <p:nvPr/>
            </p:nvSpPr>
            <p:spPr bwMode="auto">
              <a:xfrm>
                <a:off x="2285477" y="3692457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128.1.2.65</a:t>
                </a:r>
              </a:p>
            </p:txBody>
          </p:sp>
          <p:sp>
            <p:nvSpPr>
              <p:cNvPr id="47" name="Text Box 38"/>
              <p:cNvSpPr txBox="1">
                <a:spLocks noChangeArrowheads="1"/>
              </p:cNvSpPr>
              <p:nvPr/>
            </p:nvSpPr>
            <p:spPr bwMode="auto">
              <a:xfrm>
                <a:off x="380176" y="2585387"/>
                <a:ext cx="1548741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128.1.2.64/26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Text Box 47"/>
              <p:cNvSpPr txBox="1">
                <a:spLocks noChangeArrowheads="1"/>
              </p:cNvSpPr>
              <p:nvPr/>
            </p:nvSpPr>
            <p:spPr bwMode="auto">
              <a:xfrm>
                <a:off x="783205" y="3498904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128.1.2.68</a:t>
                </a:r>
              </a:p>
            </p:txBody>
          </p:sp>
          <p:sp>
            <p:nvSpPr>
              <p:cNvPr id="50" name="椭圆 67"/>
              <p:cNvSpPr>
                <a:spLocks noChangeArrowheads="1"/>
              </p:cNvSpPr>
              <p:nvPr/>
            </p:nvSpPr>
            <p:spPr bwMode="auto">
              <a:xfrm>
                <a:off x="2872438" y="3447105"/>
                <a:ext cx="72305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椭圆 68"/>
              <p:cNvSpPr>
                <a:spLocks noChangeArrowheads="1"/>
              </p:cNvSpPr>
              <p:nvPr/>
            </p:nvSpPr>
            <p:spPr bwMode="auto">
              <a:xfrm>
                <a:off x="5415407" y="3222106"/>
                <a:ext cx="73911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椭圆 69"/>
              <p:cNvSpPr>
                <a:spLocks noChangeArrowheads="1"/>
              </p:cNvSpPr>
              <p:nvPr/>
            </p:nvSpPr>
            <p:spPr bwMode="auto">
              <a:xfrm>
                <a:off x="3540306" y="3316782"/>
                <a:ext cx="73911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椭圆 70"/>
              <p:cNvSpPr>
                <a:spLocks noChangeArrowheads="1"/>
              </p:cNvSpPr>
              <p:nvPr/>
            </p:nvSpPr>
            <p:spPr bwMode="auto">
              <a:xfrm>
                <a:off x="2046577" y="3633113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椭圆 71"/>
              <p:cNvSpPr>
                <a:spLocks noChangeArrowheads="1"/>
              </p:cNvSpPr>
              <p:nvPr/>
            </p:nvSpPr>
            <p:spPr bwMode="auto">
              <a:xfrm>
                <a:off x="4163733" y="2501747"/>
                <a:ext cx="73911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椭圆 72"/>
              <p:cNvSpPr>
                <a:spLocks noChangeArrowheads="1"/>
              </p:cNvSpPr>
              <p:nvPr/>
            </p:nvSpPr>
            <p:spPr bwMode="auto">
              <a:xfrm>
                <a:off x="3792649" y="2084212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椭圆 73"/>
              <p:cNvSpPr>
                <a:spLocks noChangeArrowheads="1"/>
              </p:cNvSpPr>
              <p:nvPr/>
            </p:nvSpPr>
            <p:spPr bwMode="auto">
              <a:xfrm>
                <a:off x="3418443" y="1171162"/>
                <a:ext cx="72304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Text Box 10"/>
              <p:cNvSpPr txBox="1">
                <a:spLocks noChangeArrowheads="1"/>
              </p:cNvSpPr>
              <p:nvPr/>
            </p:nvSpPr>
            <p:spPr bwMode="auto">
              <a:xfrm>
                <a:off x="1323351" y="861428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Text Box 37"/>
              <p:cNvSpPr txBox="1">
                <a:spLocks noChangeArrowheads="1"/>
              </p:cNvSpPr>
              <p:nvPr/>
            </p:nvSpPr>
            <p:spPr bwMode="auto">
              <a:xfrm>
                <a:off x="6571928" y="2245549"/>
                <a:ext cx="570405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</a:p>
            </p:txBody>
          </p:sp>
          <p:sp>
            <p:nvSpPr>
              <p:cNvPr id="59" name="Text Box 38"/>
              <p:cNvSpPr txBox="1">
                <a:spLocks noChangeArrowheads="1"/>
              </p:cNvSpPr>
              <p:nvPr/>
            </p:nvSpPr>
            <p:spPr bwMode="auto">
              <a:xfrm>
                <a:off x="908984" y="2317359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9" name="Text Box 98"/>
              <p:cNvSpPr txBox="1">
                <a:spLocks noChangeArrowheads="1"/>
              </p:cNvSpPr>
              <p:nvPr/>
            </p:nvSpPr>
            <p:spPr bwMode="auto">
              <a:xfrm>
                <a:off x="6138447" y="884729"/>
                <a:ext cx="1464584" cy="2847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1867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的部分转发表</a:t>
                </a:r>
                <a:endParaRPr lang="zh-CN" altLang="en-US" sz="1867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70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7487" y="315983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2705" y="2689821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4672" y="150706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1" name="组合 68"/>
          <p:cNvGrpSpPr/>
          <p:nvPr/>
        </p:nvGrpSpPr>
        <p:grpSpPr>
          <a:xfrm>
            <a:off x="1563928" y="1553410"/>
            <a:ext cx="9196837" cy="4703910"/>
            <a:chOff x="1172946" y="1165057"/>
            <a:chExt cx="6897628" cy="3527933"/>
          </a:xfrm>
        </p:grpSpPr>
        <p:sp>
          <p:nvSpPr>
            <p:cNvPr id="67" name="矩形 66"/>
            <p:cNvSpPr/>
            <p:nvPr/>
          </p:nvSpPr>
          <p:spPr>
            <a:xfrm>
              <a:off x="1172946" y="4346741"/>
              <a:ext cx="6897628" cy="3462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70"/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 </a:t>
              </a:r>
              <a:r>
                <a: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r>
                <a:rPr lang="en-US" altLang="zh-CN" sz="2400" b="1" baseline="-25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发送出的、目的地址是 </a:t>
              </a:r>
              <a:r>
                <a: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128.1.2.132 </a:t>
              </a:r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的分组是如何转发的？</a:t>
              </a:r>
            </a:p>
          </p:txBody>
        </p:sp>
        <p:sp>
          <p:nvSpPr>
            <p:cNvPr id="49" name="Line 126"/>
            <p:cNvSpPr>
              <a:spLocks noChangeShapeType="1"/>
            </p:cNvSpPr>
            <p:nvPr/>
          </p:nvSpPr>
          <p:spPr bwMode="auto">
            <a:xfrm>
              <a:off x="3730473" y="1165057"/>
              <a:ext cx="1829419" cy="1971537"/>
            </a:xfrm>
            <a:prstGeom prst="line">
              <a:avLst/>
            </a:prstGeom>
            <a:noFill/>
            <a:ln w="57150" cap="rnd">
              <a:solidFill>
                <a:srgbClr val="C00000">
                  <a:alpha val="96000"/>
                </a:srgbClr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1219170"/>
              <a:endParaRPr lang="zh-CN" altLang="en-US" sz="2133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799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419070" y="1457527"/>
            <a:ext cx="9533743" cy="4078840"/>
          </a:xfrm>
          <a:prstGeom prst="rect">
            <a:avLst/>
          </a:prstGeom>
          <a:solidFill>
            <a:srgbClr val="C3E3F9"/>
          </a:solidFill>
          <a:ln w="28575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Text Box 64"/>
          <p:cNvSpPr txBox="1">
            <a:spLocks noChangeArrowheads="1"/>
          </p:cNvSpPr>
          <p:nvPr/>
        </p:nvSpPr>
        <p:spPr bwMode="auto">
          <a:xfrm>
            <a:off x="2879049" y="1711189"/>
            <a:ext cx="6260047" cy="951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>
              <a:lnSpc>
                <a:spcPts val="3467"/>
              </a:lnSpc>
              <a:defRPr/>
            </a:pPr>
            <a:r>
              <a:rPr lang="en-US" altLang="zh-CN" sz="2400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400" b="1" kern="0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 网络地址为 </a:t>
            </a:r>
            <a:r>
              <a:rPr lang="en-US" altLang="zh-CN" sz="24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128.1.2.192</a:t>
            </a:r>
          </a:p>
          <a:p>
            <a:pPr defTabSz="1219170">
              <a:lnSpc>
                <a:spcPts val="3467"/>
              </a:lnSpc>
              <a:defRPr/>
            </a:pPr>
            <a:r>
              <a:rPr lang="en-US" altLang="zh-CN" sz="2400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400" b="1" kern="0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 网络掩码为 </a:t>
            </a:r>
            <a:r>
              <a:rPr lang="en-US" altLang="zh-CN" sz="24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/26 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= 255.255.255.192 </a:t>
            </a:r>
            <a:endParaRPr lang="zh-CN" altLang="en-US" sz="2400" b="1" kern="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818062" y="2813567"/>
            <a:ext cx="2971441" cy="1569269"/>
            <a:chOff x="3613546" y="2110175"/>
            <a:chExt cx="2228581" cy="1176952"/>
          </a:xfrm>
        </p:grpSpPr>
        <p:sp>
          <p:nvSpPr>
            <p:cNvPr id="10" name="Text Box 72"/>
            <p:cNvSpPr txBox="1">
              <a:spLocks noChangeArrowheads="1"/>
            </p:cNvSpPr>
            <p:nvPr/>
          </p:nvSpPr>
          <p:spPr bwMode="auto">
            <a:xfrm>
              <a:off x="3628136" y="2110175"/>
              <a:ext cx="2039261" cy="713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>
                <a:lnSpc>
                  <a:spcPts val="3467"/>
                </a:lnSpc>
                <a:defRPr/>
              </a:pPr>
              <a:r>
                <a:rPr lang="en-US" altLang="zh-CN" sz="2400" b="1" kern="0" dirty="0">
                  <a:solidFill>
                    <a:srgbClr val="CC0099"/>
                  </a:solidFill>
                  <a:latin typeface="微软雅黑" pitchFamily="34" charset="-122"/>
                  <a:ea typeface="微软雅黑" pitchFamily="34" charset="-122"/>
                </a:rPr>
                <a:t>128.  1  .  </a:t>
              </a:r>
              <a:r>
                <a:rPr lang="en-US" altLang="zh-CN" sz="667" b="1" kern="0" dirty="0">
                  <a:solidFill>
                    <a:srgbClr val="CC0099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400" b="1" kern="0" dirty="0">
                  <a:solidFill>
                    <a:srgbClr val="CC0099"/>
                  </a:solidFill>
                  <a:latin typeface="微软雅黑" pitchFamily="34" charset="-122"/>
                  <a:ea typeface="微软雅黑" pitchFamily="34" charset="-122"/>
                </a:rPr>
                <a:t>2  .132</a:t>
              </a:r>
            </a:p>
            <a:p>
              <a:pPr defTabSz="1219170">
                <a:lnSpc>
                  <a:spcPts val="3467"/>
                </a:lnSpc>
                <a:defRPr/>
              </a:pPr>
              <a:r>
                <a:rPr lang="en-US" altLang="zh-CN" sz="2400" b="1" kern="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255.255.255.192</a:t>
              </a:r>
            </a:p>
          </p:txBody>
        </p:sp>
        <p:sp>
          <p:nvSpPr>
            <p:cNvPr id="11" name="Text Box 73"/>
            <p:cNvSpPr txBox="1">
              <a:spLocks noChangeArrowheads="1"/>
            </p:cNvSpPr>
            <p:nvPr/>
          </p:nvSpPr>
          <p:spPr bwMode="auto">
            <a:xfrm>
              <a:off x="3628136" y="2940878"/>
              <a:ext cx="2046474" cy="346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defTabSz="1219170">
                <a:defRPr/>
              </a:pPr>
              <a:r>
                <a:rPr lang="en-US" altLang="zh-CN" sz="2400" b="1" kern="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128.  1  .  </a:t>
              </a:r>
              <a:r>
                <a:rPr lang="en-US" altLang="zh-CN" sz="933" b="1" kern="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400" b="1" kern="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rPr>
                <a:t>2  .128</a:t>
              </a:r>
            </a:p>
          </p:txBody>
        </p:sp>
        <p:sp>
          <p:nvSpPr>
            <p:cNvPr id="12" name="Line 74"/>
            <p:cNvSpPr>
              <a:spLocks noChangeShapeType="1"/>
            </p:cNvSpPr>
            <p:nvPr/>
          </p:nvSpPr>
          <p:spPr bwMode="auto">
            <a:xfrm>
              <a:off x="3613546" y="2873401"/>
              <a:ext cx="2228581" cy="0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>
                <a:defRPr/>
              </a:pPr>
              <a:endParaRPr lang="zh-CN" altLang="en-US" sz="2400" b="1" ker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3" name="Text Box 75"/>
          <p:cNvSpPr txBox="1">
            <a:spLocks noChangeArrowheads="1"/>
          </p:cNvSpPr>
          <p:nvPr/>
        </p:nvSpPr>
        <p:spPr bwMode="auto">
          <a:xfrm>
            <a:off x="1759083" y="2873142"/>
            <a:ext cx="3058979" cy="883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r" defTabSz="1219170">
              <a:lnSpc>
                <a:spcPts val="3200"/>
              </a:lnSpc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目的地址与网络掩码</a:t>
            </a:r>
            <a:endParaRPr lang="en-US" altLang="zh-CN" sz="2400" b="1" kern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 defTabSz="1219170">
              <a:lnSpc>
                <a:spcPts val="3200"/>
              </a:lnSpc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逐比特 </a:t>
            </a:r>
            <a:r>
              <a:rPr lang="en-US" altLang="zh-CN" sz="2400" b="1" kern="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AND</a:t>
            </a:r>
            <a:endParaRPr lang="zh-CN" altLang="en-US" sz="2400" b="1" kern="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 Box 78"/>
          <p:cNvSpPr txBox="1">
            <a:spLocks noChangeArrowheads="1"/>
          </p:cNvSpPr>
          <p:nvPr/>
        </p:nvSpPr>
        <p:spPr bwMode="auto">
          <a:xfrm>
            <a:off x="7787989" y="3798890"/>
            <a:ext cx="26645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>
              <a:defRPr/>
            </a:pPr>
            <a:r>
              <a:rPr lang="en-US" altLang="zh-CN" sz="3200" b="1" kern="0" dirty="0">
                <a:solidFill>
                  <a:srgbClr val="CC0099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  </a:t>
            </a:r>
            <a:r>
              <a:rPr lang="en-US" altLang="zh-CN" sz="2400" b="1" kern="0" dirty="0">
                <a:solidFill>
                  <a:srgbClr val="CC0099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H</a:t>
            </a:r>
            <a:r>
              <a:rPr lang="en-US" altLang="zh-CN" sz="2400" b="1" kern="0" baseline="-25000" dirty="0">
                <a:solidFill>
                  <a:srgbClr val="CC0099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1</a:t>
            </a:r>
            <a:r>
              <a:rPr lang="en-US" altLang="zh-CN" sz="2400" b="1" kern="0" dirty="0">
                <a:solidFill>
                  <a:srgbClr val="CC0099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 </a:t>
            </a:r>
            <a:r>
              <a:rPr lang="zh-CN" altLang="en-US" sz="2400" b="1" kern="0" dirty="0">
                <a:solidFill>
                  <a:srgbClr val="CC0099"/>
                </a:solidFill>
                <a:latin typeface="微软雅黑" pitchFamily="34" charset="-122"/>
                <a:ea typeface="微软雅黑" pitchFamily="34" charset="-122"/>
                <a:sym typeface="Symbol" pitchFamily="18" charset="2"/>
              </a:rPr>
              <a:t>的网络地址</a:t>
            </a:r>
          </a:p>
        </p:txBody>
      </p:sp>
      <p:sp>
        <p:nvSpPr>
          <p:cNvPr id="19" name="矩形 18"/>
          <p:cNvSpPr/>
          <p:nvPr/>
        </p:nvSpPr>
        <p:spPr>
          <a:xfrm>
            <a:off x="2455904" y="4436616"/>
            <a:ext cx="7434469" cy="1071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ts val="4000"/>
              </a:lnSpc>
            </a:pPr>
            <a:r>
              <a:rPr lang="en-US" altLang="zh-CN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128.1.2.132 </a:t>
            </a:r>
            <a:r>
              <a:rPr lang="zh-CN" altLang="en-US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不在本地网络上。</a:t>
            </a:r>
            <a:endParaRPr lang="en-US" altLang="zh-CN" sz="2667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1219170">
              <a:lnSpc>
                <a:spcPts val="4000"/>
              </a:lnSpc>
            </a:pPr>
            <a:r>
              <a:rPr lang="zh-CN" altLang="en-US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源主机 </a:t>
            </a:r>
            <a:r>
              <a:rPr lang="en-US" altLang="zh-CN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67" b="1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必须把分组发送给路由器 </a:t>
            </a:r>
            <a:r>
              <a:rPr lang="en-US" altLang="zh-CN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667" b="1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67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Text Box 155"/>
          <p:cNvSpPr txBox="1">
            <a:spLocks noChangeArrowheads="1"/>
          </p:cNvSpPr>
          <p:nvPr/>
        </p:nvSpPr>
        <p:spPr bwMode="auto">
          <a:xfrm>
            <a:off x="1777344" y="813446"/>
            <a:ext cx="8791593" cy="789319"/>
          </a:xfrm>
          <a:prstGeom prst="rect">
            <a:avLst/>
          </a:prstGeom>
          <a:solidFill>
            <a:srgbClr val="000099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1219170">
              <a:lnSpc>
                <a:spcPct val="110000"/>
              </a:lnSpc>
            </a:pPr>
            <a:r>
              <a:rPr lang="zh-CN" altLang="en-US" sz="21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1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H</a:t>
            </a:r>
            <a:r>
              <a:rPr lang="en-US" altLang="zh-CN" sz="2133" b="1" baseline="-25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1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首先检查 </a:t>
            </a:r>
            <a:r>
              <a:rPr lang="en-US" altLang="zh-CN" sz="2133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128.1.2.132</a:t>
            </a:r>
            <a:r>
              <a:rPr lang="en-US" altLang="zh-CN" sz="21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1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是否连接在本网络上。</a:t>
            </a:r>
          </a:p>
          <a:p>
            <a:pPr algn="ctr" defTabSz="1219170">
              <a:lnSpc>
                <a:spcPct val="110000"/>
              </a:lnSpc>
            </a:pPr>
            <a:r>
              <a:rPr lang="zh-CN" altLang="en-US" sz="21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如果是，则直接交付；否则，就送交路由器 </a:t>
            </a:r>
            <a:r>
              <a:rPr lang="en-US" altLang="zh-CN" sz="21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133" b="1" baseline="-25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1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3531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6" grpId="1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66"/>
          <p:cNvSpPr/>
          <p:nvPr/>
        </p:nvSpPr>
        <p:spPr>
          <a:xfrm>
            <a:off x="459701" y="844967"/>
            <a:ext cx="11292587" cy="497218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aphicFrame>
        <p:nvGraphicFramePr>
          <p:cNvPr id="68" name="Group 125"/>
          <p:cNvGraphicFramePr>
            <a:graphicFrameLocks noGrp="1"/>
          </p:cNvGraphicFramePr>
          <p:nvPr/>
        </p:nvGraphicFramePr>
        <p:xfrm>
          <a:off x="7392477" y="1578994"/>
          <a:ext cx="3720232" cy="1923423"/>
        </p:xfrm>
        <a:graphic>
          <a:graphicData uri="http://schemas.openxmlformats.org/drawingml/2006/table">
            <a:tbl>
              <a:tblPr/>
              <a:tblGrid>
                <a:gridCol w="205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前缀匹配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下一跳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128.1.2.64/26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128.1.2.128/26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128.1.2.192/26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1" lang="en-US" altLang="zh-CN" sz="19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Text Box 155"/>
          <p:cNvSpPr txBox="1">
            <a:spLocks noChangeArrowheads="1"/>
          </p:cNvSpPr>
          <p:nvPr/>
        </p:nvSpPr>
        <p:spPr bwMode="auto">
          <a:xfrm>
            <a:off x="1595240" y="5778133"/>
            <a:ext cx="9152275" cy="47025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1219170">
              <a:lnSpc>
                <a:spcPct val="110000"/>
              </a:lnSpc>
            </a:pPr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128.1.2.132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AND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255.255.255.192 = 128.1.2.128     </a:t>
            </a:r>
            <a:r>
              <a:rPr lang="zh-CN" altLang="en-US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不匹配</a:t>
            </a:r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!</a:t>
            </a:r>
          </a:p>
        </p:txBody>
      </p:sp>
      <p:sp>
        <p:nvSpPr>
          <p:cNvPr id="57" name="Line 66"/>
          <p:cNvSpPr>
            <a:spLocks noChangeShapeType="1"/>
          </p:cNvSpPr>
          <p:nvPr/>
        </p:nvSpPr>
        <p:spPr bwMode="auto">
          <a:xfrm>
            <a:off x="7516873" y="2292239"/>
            <a:ext cx="18170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0" name="椭圆 119"/>
          <p:cNvSpPr/>
          <p:nvPr/>
        </p:nvSpPr>
        <p:spPr bwMode="auto">
          <a:xfrm rot="20475920">
            <a:off x="1389373" y="1213499"/>
            <a:ext cx="4468964" cy="1336491"/>
          </a:xfrm>
          <a:prstGeom prst="ellipse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219170">
              <a:defRPr/>
            </a:pPr>
            <a:endParaRPr lang="zh-CN" altLang="en-US" sz="2133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06901" y="1088611"/>
            <a:ext cx="9704980" cy="4587664"/>
            <a:chOff x="380176" y="816458"/>
            <a:chExt cx="7278735" cy="3440748"/>
          </a:xfrm>
        </p:grpSpPr>
        <p:grpSp>
          <p:nvGrpSpPr>
            <p:cNvPr id="5" name="组合 68"/>
            <p:cNvGrpSpPr/>
            <p:nvPr/>
          </p:nvGrpSpPr>
          <p:grpSpPr>
            <a:xfrm>
              <a:off x="380176" y="816458"/>
              <a:ext cx="7278735" cy="3440748"/>
              <a:chOff x="380176" y="816458"/>
              <a:chExt cx="7278735" cy="3440748"/>
            </a:xfrm>
          </p:grpSpPr>
          <p:sp>
            <p:nvSpPr>
              <p:cNvPr id="70" name="直角三角形 69"/>
              <p:cNvSpPr/>
              <p:nvPr/>
            </p:nvSpPr>
            <p:spPr>
              <a:xfrm rot="16200000">
                <a:off x="4357107" y="1079129"/>
                <a:ext cx="1089992" cy="1274054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shade val="30000"/>
                      <a:satMod val="115000"/>
                    </a:schemeClr>
                  </a:gs>
                  <a:gs pos="50000">
                    <a:schemeClr val="bg1">
                      <a:lumMod val="8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85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 bwMode="auto">
              <a:xfrm>
                <a:off x="3607791" y="2535299"/>
                <a:ext cx="3716460" cy="1197252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 bwMode="auto">
              <a:xfrm rot="16200000">
                <a:off x="883716" y="2425929"/>
                <a:ext cx="1925637" cy="1736917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Text Box 20"/>
              <p:cNvSpPr txBox="1">
                <a:spLocks noChangeArrowheads="1"/>
              </p:cNvSpPr>
              <p:nvPr/>
            </p:nvSpPr>
            <p:spPr bwMode="auto">
              <a:xfrm>
                <a:off x="2456408" y="203983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128.1.2.194</a:t>
                </a:r>
              </a:p>
            </p:txBody>
          </p:sp>
          <p:sp>
            <p:nvSpPr>
              <p:cNvPr id="74" name="Text Box 25"/>
              <p:cNvSpPr txBox="1">
                <a:spLocks noChangeArrowheads="1"/>
              </p:cNvSpPr>
              <p:nvPr/>
            </p:nvSpPr>
            <p:spPr bwMode="auto">
              <a:xfrm>
                <a:off x="3732139" y="1824581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19"/>
              <p:cNvSpPr>
                <a:spLocks noChangeShapeType="1"/>
              </p:cNvSpPr>
              <p:nvPr/>
            </p:nvSpPr>
            <p:spPr bwMode="auto">
              <a:xfrm>
                <a:off x="2775735" y="1678638"/>
                <a:ext cx="1301162" cy="55733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16"/>
              <p:cNvSpPr>
                <a:spLocks noChangeShapeType="1"/>
              </p:cNvSpPr>
              <p:nvPr/>
            </p:nvSpPr>
            <p:spPr bwMode="auto">
              <a:xfrm flipH="1">
                <a:off x="1638141" y="1656270"/>
                <a:ext cx="947995" cy="2530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8"/>
              <p:cNvSpPr>
                <a:spLocks noChangeShapeType="1"/>
              </p:cNvSpPr>
              <p:nvPr/>
            </p:nvSpPr>
            <p:spPr bwMode="auto">
              <a:xfrm flipH="1">
                <a:off x="2658440" y="1101262"/>
                <a:ext cx="956029" cy="55360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8" name="Picture 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93961" y="824458"/>
                <a:ext cx="345456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" name="Text Box 9"/>
              <p:cNvSpPr txBox="1">
                <a:spLocks noChangeArrowheads="1"/>
              </p:cNvSpPr>
              <p:nvPr/>
            </p:nvSpPr>
            <p:spPr bwMode="auto">
              <a:xfrm>
                <a:off x="2171247" y="91222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128.1.2.193</a:t>
                </a:r>
              </a:p>
            </p:txBody>
          </p:sp>
          <p:sp>
            <p:nvSpPr>
              <p:cNvPr id="80" name="Text Box 23"/>
              <p:cNvSpPr txBox="1">
                <a:spLocks noChangeArrowheads="1"/>
              </p:cNvSpPr>
              <p:nvPr/>
            </p:nvSpPr>
            <p:spPr bwMode="auto">
              <a:xfrm>
                <a:off x="3839945" y="816458"/>
                <a:ext cx="1225389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81" name="Text Box 10"/>
              <p:cNvSpPr txBox="1">
                <a:spLocks noChangeArrowheads="1"/>
              </p:cNvSpPr>
              <p:nvPr/>
            </p:nvSpPr>
            <p:spPr bwMode="auto">
              <a:xfrm>
                <a:off x="616658" y="1099476"/>
                <a:ext cx="1674978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128.1.2.192/26</a:t>
                </a:r>
              </a:p>
            </p:txBody>
          </p:sp>
          <p:sp>
            <p:nvSpPr>
              <p:cNvPr id="82" name="Line 45"/>
              <p:cNvSpPr>
                <a:spLocks noChangeShapeType="1"/>
              </p:cNvSpPr>
              <p:nvPr/>
            </p:nvSpPr>
            <p:spPr bwMode="auto">
              <a:xfrm flipH="1" flipV="1">
                <a:off x="2294019" y="3312971"/>
                <a:ext cx="808348" cy="2236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41"/>
              <p:cNvSpPr>
                <a:spLocks noChangeShapeType="1"/>
              </p:cNvSpPr>
              <p:nvPr/>
            </p:nvSpPr>
            <p:spPr bwMode="auto">
              <a:xfrm flipH="1">
                <a:off x="4263353" y="2793929"/>
                <a:ext cx="1332012" cy="433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33"/>
              <p:cNvSpPr>
                <a:spLocks noChangeShapeType="1"/>
              </p:cNvSpPr>
              <p:nvPr/>
            </p:nvSpPr>
            <p:spPr bwMode="auto">
              <a:xfrm flipH="1">
                <a:off x="2051398" y="3354911"/>
                <a:ext cx="88372" cy="5228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Line 32"/>
              <p:cNvSpPr>
                <a:spLocks noChangeShapeType="1"/>
              </p:cNvSpPr>
              <p:nvPr/>
            </p:nvSpPr>
            <p:spPr bwMode="auto">
              <a:xfrm flipH="1">
                <a:off x="3297683" y="2900177"/>
                <a:ext cx="819453" cy="6696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21"/>
              <p:cNvSpPr>
                <a:spLocks noChangeShapeType="1"/>
              </p:cNvSpPr>
              <p:nvPr/>
            </p:nvSpPr>
            <p:spPr bwMode="auto">
              <a:xfrm>
                <a:off x="4207116" y="2371732"/>
                <a:ext cx="1607" cy="4627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7" name="Picture 2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4653" y="3753341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8" name="Picture 11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9621" y="1719179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6" name="Group 18"/>
              <p:cNvGrpSpPr>
                <a:grpSpLocks/>
              </p:cNvGrpSpPr>
              <p:nvPr/>
            </p:nvGrpSpPr>
            <p:grpSpPr bwMode="auto">
              <a:xfrm>
                <a:off x="3943605" y="2125684"/>
                <a:ext cx="531842" cy="303367"/>
                <a:chOff x="864" y="1824"/>
                <a:chExt cx="432" cy="288"/>
              </a:xfrm>
            </p:grpSpPr>
            <p:pic>
              <p:nvPicPr>
                <p:cNvPr id="126" name="Picture 3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7" name="Picture 12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90" name="Picture 13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2173" y="2589821"/>
                <a:ext cx="345456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1" name="Text Box 22"/>
              <p:cNvSpPr txBox="1">
                <a:spLocks noChangeArrowheads="1"/>
              </p:cNvSpPr>
              <p:nvPr/>
            </p:nvSpPr>
            <p:spPr bwMode="auto">
              <a:xfrm>
                <a:off x="2853215" y="2404897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128.1.2.130</a:t>
                </a:r>
              </a:p>
            </p:txBody>
          </p:sp>
          <p:sp>
            <p:nvSpPr>
              <p:cNvPr id="92" name="Text Box 24"/>
              <p:cNvSpPr txBox="1">
                <a:spLocks noChangeArrowheads="1"/>
              </p:cNvSpPr>
              <p:nvPr/>
            </p:nvSpPr>
            <p:spPr bwMode="auto">
              <a:xfrm>
                <a:off x="4108734" y="1835693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93" name="Text Box 26"/>
              <p:cNvSpPr txBox="1">
                <a:spLocks noChangeArrowheads="1"/>
              </p:cNvSpPr>
              <p:nvPr/>
            </p:nvSpPr>
            <p:spPr bwMode="auto">
              <a:xfrm>
                <a:off x="4178194" y="2368936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27"/>
              <p:cNvSpPr>
                <a:spLocks noChangeShapeType="1"/>
              </p:cNvSpPr>
              <p:nvPr/>
            </p:nvSpPr>
            <p:spPr bwMode="auto">
              <a:xfrm>
                <a:off x="4263353" y="2837267"/>
                <a:ext cx="1307911" cy="4627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7" name="Group 28"/>
              <p:cNvGrpSpPr>
                <a:grpSpLocks/>
              </p:cNvGrpSpPr>
              <p:nvPr/>
            </p:nvGrpSpPr>
            <p:grpSpPr bwMode="auto">
              <a:xfrm>
                <a:off x="3032567" y="3427224"/>
                <a:ext cx="531841" cy="303366"/>
                <a:chOff x="864" y="1824"/>
                <a:chExt cx="432" cy="288"/>
              </a:xfrm>
            </p:grpSpPr>
            <p:pic>
              <p:nvPicPr>
                <p:cNvPr id="124" name="Picture 29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5" name="Picture 30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96" name="Text Box 31"/>
              <p:cNvSpPr txBox="1">
                <a:spLocks noChangeArrowheads="1"/>
              </p:cNvSpPr>
              <p:nvPr/>
            </p:nvSpPr>
            <p:spPr bwMode="auto">
              <a:xfrm>
                <a:off x="3511384" y="3483144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97" name="Line 35"/>
              <p:cNvSpPr>
                <a:spLocks noChangeShapeType="1"/>
              </p:cNvSpPr>
              <p:nvPr/>
            </p:nvSpPr>
            <p:spPr bwMode="auto">
              <a:xfrm flipH="1">
                <a:off x="2147804" y="2732799"/>
                <a:ext cx="36955" cy="5801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98" name="Picture 1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9129" y="3034385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Text Box 37"/>
              <p:cNvSpPr txBox="1">
                <a:spLocks noChangeArrowheads="1"/>
              </p:cNvSpPr>
              <p:nvPr/>
            </p:nvSpPr>
            <p:spPr bwMode="auto">
              <a:xfrm>
                <a:off x="5909138" y="2500740"/>
                <a:ext cx="1749773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128.1.2.128/26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Text Box 39"/>
              <p:cNvSpPr txBox="1">
                <a:spLocks noChangeArrowheads="1"/>
              </p:cNvSpPr>
              <p:nvPr/>
            </p:nvSpPr>
            <p:spPr bwMode="auto">
              <a:xfrm>
                <a:off x="5888875" y="3027938"/>
                <a:ext cx="1435376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01" name="Text Box 40"/>
              <p:cNvSpPr txBox="1">
                <a:spLocks noChangeArrowheads="1"/>
              </p:cNvSpPr>
              <p:nvPr/>
            </p:nvSpPr>
            <p:spPr bwMode="auto">
              <a:xfrm>
                <a:off x="4856211" y="334497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128.1.2.132</a:t>
                </a:r>
              </a:p>
            </p:txBody>
          </p:sp>
          <p:sp>
            <p:nvSpPr>
              <p:cNvPr id="102" name="Text Box 42"/>
              <p:cNvSpPr txBox="1">
                <a:spLocks noChangeArrowheads="1"/>
              </p:cNvSpPr>
              <p:nvPr/>
            </p:nvSpPr>
            <p:spPr bwMode="auto">
              <a:xfrm>
                <a:off x="3269292" y="313659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Text Box 43"/>
              <p:cNvSpPr txBox="1">
                <a:spLocks noChangeArrowheads="1"/>
              </p:cNvSpPr>
              <p:nvPr/>
            </p:nvSpPr>
            <p:spPr bwMode="auto">
              <a:xfrm>
                <a:off x="2804933" y="315647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Text Box 44"/>
              <p:cNvSpPr txBox="1">
                <a:spLocks noChangeArrowheads="1"/>
              </p:cNvSpPr>
              <p:nvPr/>
            </p:nvSpPr>
            <p:spPr bwMode="auto">
              <a:xfrm>
                <a:off x="3533879" y="321752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128.1.2.131</a:t>
                </a:r>
              </a:p>
            </p:txBody>
          </p:sp>
          <p:pic>
            <p:nvPicPr>
              <p:cNvPr id="105" name="Picture 3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9263" y="2489547"/>
                <a:ext cx="347062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Text Box 46"/>
              <p:cNvSpPr txBox="1">
                <a:spLocks noChangeArrowheads="1"/>
              </p:cNvSpPr>
              <p:nvPr/>
            </p:nvSpPr>
            <p:spPr bwMode="auto">
              <a:xfrm>
                <a:off x="1508068" y="3842425"/>
                <a:ext cx="39097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07" name="Text Box 48"/>
              <p:cNvSpPr txBox="1">
                <a:spLocks noChangeArrowheads="1"/>
              </p:cNvSpPr>
              <p:nvPr/>
            </p:nvSpPr>
            <p:spPr bwMode="auto">
              <a:xfrm>
                <a:off x="2285477" y="3692457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128.1.2.65</a:t>
                </a:r>
              </a:p>
            </p:txBody>
          </p:sp>
          <p:sp>
            <p:nvSpPr>
              <p:cNvPr id="108" name="Text Box 38"/>
              <p:cNvSpPr txBox="1">
                <a:spLocks noChangeArrowheads="1"/>
              </p:cNvSpPr>
              <p:nvPr/>
            </p:nvSpPr>
            <p:spPr bwMode="auto">
              <a:xfrm>
                <a:off x="380176" y="2585387"/>
                <a:ext cx="1548741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128.1.2.64/26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Text Box 47"/>
              <p:cNvSpPr txBox="1">
                <a:spLocks noChangeArrowheads="1"/>
              </p:cNvSpPr>
              <p:nvPr/>
            </p:nvSpPr>
            <p:spPr bwMode="auto">
              <a:xfrm>
                <a:off x="783205" y="3498904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128.1.2.68</a:t>
                </a:r>
              </a:p>
            </p:txBody>
          </p:sp>
          <p:sp>
            <p:nvSpPr>
              <p:cNvPr id="110" name="椭圆 67"/>
              <p:cNvSpPr>
                <a:spLocks noChangeArrowheads="1"/>
              </p:cNvSpPr>
              <p:nvPr/>
            </p:nvSpPr>
            <p:spPr bwMode="auto">
              <a:xfrm>
                <a:off x="2872438" y="3447105"/>
                <a:ext cx="72305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椭圆 68"/>
              <p:cNvSpPr>
                <a:spLocks noChangeArrowheads="1"/>
              </p:cNvSpPr>
              <p:nvPr/>
            </p:nvSpPr>
            <p:spPr bwMode="auto">
              <a:xfrm>
                <a:off x="5415407" y="3222106"/>
                <a:ext cx="73911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椭圆 69"/>
              <p:cNvSpPr>
                <a:spLocks noChangeArrowheads="1"/>
              </p:cNvSpPr>
              <p:nvPr/>
            </p:nvSpPr>
            <p:spPr bwMode="auto">
              <a:xfrm>
                <a:off x="3540306" y="3316782"/>
                <a:ext cx="73911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椭圆 70"/>
              <p:cNvSpPr>
                <a:spLocks noChangeArrowheads="1"/>
              </p:cNvSpPr>
              <p:nvPr/>
            </p:nvSpPr>
            <p:spPr bwMode="auto">
              <a:xfrm>
                <a:off x="2046577" y="3633113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椭圆 71"/>
              <p:cNvSpPr>
                <a:spLocks noChangeArrowheads="1"/>
              </p:cNvSpPr>
              <p:nvPr/>
            </p:nvSpPr>
            <p:spPr bwMode="auto">
              <a:xfrm>
                <a:off x="4163733" y="2501747"/>
                <a:ext cx="73911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椭圆 72"/>
              <p:cNvSpPr>
                <a:spLocks noChangeArrowheads="1"/>
              </p:cNvSpPr>
              <p:nvPr/>
            </p:nvSpPr>
            <p:spPr bwMode="auto">
              <a:xfrm>
                <a:off x="3792649" y="2084212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椭圆 73"/>
              <p:cNvSpPr>
                <a:spLocks noChangeArrowheads="1"/>
              </p:cNvSpPr>
              <p:nvPr/>
            </p:nvSpPr>
            <p:spPr bwMode="auto">
              <a:xfrm>
                <a:off x="3418443" y="1171162"/>
                <a:ext cx="72304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Text Box 10"/>
              <p:cNvSpPr txBox="1">
                <a:spLocks noChangeArrowheads="1"/>
              </p:cNvSpPr>
              <p:nvPr/>
            </p:nvSpPr>
            <p:spPr bwMode="auto">
              <a:xfrm>
                <a:off x="1323351" y="861428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Text Box 37"/>
              <p:cNvSpPr txBox="1">
                <a:spLocks noChangeArrowheads="1"/>
              </p:cNvSpPr>
              <p:nvPr/>
            </p:nvSpPr>
            <p:spPr bwMode="auto">
              <a:xfrm>
                <a:off x="6571928" y="2245549"/>
                <a:ext cx="570405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</a:p>
            </p:txBody>
          </p:sp>
          <p:sp>
            <p:nvSpPr>
              <p:cNvPr id="119" name="Text Box 38"/>
              <p:cNvSpPr txBox="1">
                <a:spLocks noChangeArrowheads="1"/>
              </p:cNvSpPr>
              <p:nvPr/>
            </p:nvSpPr>
            <p:spPr bwMode="auto">
              <a:xfrm>
                <a:off x="908984" y="2317359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23" name="Text Box 98"/>
              <p:cNvSpPr txBox="1">
                <a:spLocks noChangeArrowheads="1"/>
              </p:cNvSpPr>
              <p:nvPr/>
            </p:nvSpPr>
            <p:spPr bwMode="auto">
              <a:xfrm>
                <a:off x="6138447" y="884729"/>
                <a:ext cx="1464584" cy="2847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1867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的部分转发表</a:t>
                </a:r>
                <a:endParaRPr lang="zh-CN" altLang="en-US" sz="1867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29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7487" y="315983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2705" y="2689821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4672" y="150706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任意多边形 1"/>
          <p:cNvSpPr/>
          <p:nvPr/>
        </p:nvSpPr>
        <p:spPr>
          <a:xfrm>
            <a:off x="4196576" y="1698885"/>
            <a:ext cx="960041" cy="779488"/>
          </a:xfrm>
          <a:custGeom>
            <a:avLst/>
            <a:gdLst>
              <a:gd name="connsiteX0" fmla="*/ 630090 w 720031"/>
              <a:gd name="connsiteY0" fmla="*/ 0 h 584616"/>
              <a:gd name="connsiteX1" fmla="*/ 503 w 720031"/>
              <a:gd name="connsiteY1" fmla="*/ 269823 h 584616"/>
              <a:gd name="connsiteX2" fmla="*/ 720031 w 720031"/>
              <a:gd name="connsiteY2" fmla="*/ 584616 h 584616"/>
              <a:gd name="connsiteX3" fmla="*/ 720031 w 720031"/>
              <a:gd name="connsiteY3" fmla="*/ 584616 h 584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31" h="584616">
                <a:moveTo>
                  <a:pt x="630090" y="0"/>
                </a:moveTo>
                <a:cubicBezTo>
                  <a:pt x="307801" y="86193"/>
                  <a:pt x="-14487" y="172387"/>
                  <a:pt x="503" y="269823"/>
                </a:cubicBezTo>
                <a:cubicBezTo>
                  <a:pt x="15493" y="367259"/>
                  <a:pt x="720031" y="584616"/>
                  <a:pt x="720031" y="584616"/>
                </a:cubicBezTo>
                <a:lnTo>
                  <a:pt x="720031" y="584616"/>
                </a:lnTo>
              </a:path>
            </a:pathLst>
          </a:custGeom>
          <a:noFill/>
          <a:ln w="38100">
            <a:solidFill>
              <a:srgbClr val="CC000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8" name="AutoShape 63"/>
          <p:cNvSpPr>
            <a:spLocks noChangeArrowheads="1"/>
          </p:cNvSpPr>
          <p:nvPr/>
        </p:nvSpPr>
        <p:spPr bwMode="auto">
          <a:xfrm>
            <a:off x="6730448" y="2057685"/>
            <a:ext cx="729717" cy="189823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srgbClr val="CC00CC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" name="Text Box 155"/>
          <p:cNvSpPr txBox="1">
            <a:spLocks noChangeArrowheads="1"/>
          </p:cNvSpPr>
          <p:nvPr/>
        </p:nvSpPr>
        <p:spPr bwMode="auto">
          <a:xfrm>
            <a:off x="1595239" y="792135"/>
            <a:ext cx="9152275" cy="428259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1219170"/>
            <a:r>
              <a:rPr lang="zh-CN" altLang="en-US" sz="2133" dirty="0">
                <a:solidFill>
                  <a:prstClr val="white"/>
                </a:solidFill>
              </a:rPr>
              <a:t>路由器 </a:t>
            </a:r>
            <a:r>
              <a:rPr lang="en-US" altLang="zh-CN" sz="2133" dirty="0">
                <a:solidFill>
                  <a:prstClr val="white"/>
                </a:solidFill>
              </a:rPr>
              <a:t>R</a:t>
            </a:r>
            <a:r>
              <a:rPr lang="en-US" altLang="zh-CN" sz="2133" baseline="-25000" dirty="0">
                <a:solidFill>
                  <a:prstClr val="white"/>
                </a:solidFill>
              </a:rPr>
              <a:t>1</a:t>
            </a:r>
            <a:r>
              <a:rPr lang="en-US" altLang="zh-CN" sz="2133" dirty="0">
                <a:solidFill>
                  <a:prstClr val="white"/>
                </a:solidFill>
              </a:rPr>
              <a:t> </a:t>
            </a:r>
            <a:r>
              <a:rPr lang="zh-CN" altLang="en-US" sz="2133" dirty="0">
                <a:solidFill>
                  <a:prstClr val="white"/>
                </a:solidFill>
              </a:rPr>
              <a:t>收到分组后查找转发表。先检查第 </a:t>
            </a:r>
            <a:r>
              <a:rPr lang="en-US" altLang="zh-CN" sz="2133" dirty="0">
                <a:solidFill>
                  <a:prstClr val="white"/>
                </a:solidFill>
              </a:rPr>
              <a:t>1 </a:t>
            </a:r>
            <a:r>
              <a:rPr lang="zh-CN" altLang="en-US" sz="2133" dirty="0">
                <a:solidFill>
                  <a:prstClr val="white"/>
                </a:solidFill>
              </a:rPr>
              <a:t>行。 </a:t>
            </a:r>
          </a:p>
        </p:txBody>
      </p:sp>
    </p:spTree>
    <p:extLst>
      <p:ext uri="{BB962C8B-B14F-4D97-AF65-F5344CB8AC3E}">
        <p14:creationId xmlns:p14="http://schemas.microsoft.com/office/powerpoint/2010/main" val="59601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128" grpId="0" animBg="1"/>
      <p:bldP spid="128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66"/>
          <p:cNvSpPr/>
          <p:nvPr/>
        </p:nvSpPr>
        <p:spPr>
          <a:xfrm>
            <a:off x="459701" y="844967"/>
            <a:ext cx="11292587" cy="497218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aphicFrame>
        <p:nvGraphicFramePr>
          <p:cNvPr id="68" name="Group 125"/>
          <p:cNvGraphicFramePr>
            <a:graphicFrameLocks noGrp="1"/>
          </p:cNvGraphicFramePr>
          <p:nvPr/>
        </p:nvGraphicFramePr>
        <p:xfrm>
          <a:off x="7392477" y="1578994"/>
          <a:ext cx="3720232" cy="1923423"/>
        </p:xfrm>
        <a:graphic>
          <a:graphicData uri="http://schemas.openxmlformats.org/drawingml/2006/table">
            <a:tbl>
              <a:tblPr/>
              <a:tblGrid>
                <a:gridCol w="205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前缀匹配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下一跳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128.1.2.64/26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128.1.2.128/26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128.1.2.192/26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1" lang="en-US" altLang="zh-CN" sz="19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Text Box 155"/>
          <p:cNvSpPr txBox="1">
            <a:spLocks noChangeArrowheads="1"/>
          </p:cNvSpPr>
          <p:nvPr/>
        </p:nvSpPr>
        <p:spPr bwMode="auto">
          <a:xfrm>
            <a:off x="1595237" y="5778133"/>
            <a:ext cx="9153600" cy="47025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1219170">
              <a:lnSpc>
                <a:spcPct val="110000"/>
              </a:lnSpc>
            </a:pPr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128.1.2.132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AND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255.255.255.192 = 128.1.2.128     </a:t>
            </a:r>
            <a:r>
              <a:rPr lang="zh-CN" altLang="en-US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匹配</a:t>
            </a:r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!</a:t>
            </a:r>
          </a:p>
        </p:txBody>
      </p:sp>
      <p:sp>
        <p:nvSpPr>
          <p:cNvPr id="57" name="Line 66"/>
          <p:cNvSpPr>
            <a:spLocks noChangeShapeType="1"/>
          </p:cNvSpPr>
          <p:nvPr/>
        </p:nvSpPr>
        <p:spPr bwMode="auto">
          <a:xfrm>
            <a:off x="7516873" y="2592039"/>
            <a:ext cx="18170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0" name="椭圆 119"/>
          <p:cNvSpPr/>
          <p:nvPr/>
        </p:nvSpPr>
        <p:spPr bwMode="auto">
          <a:xfrm rot="20475920">
            <a:off x="1389373" y="1213499"/>
            <a:ext cx="4468964" cy="1336491"/>
          </a:xfrm>
          <a:prstGeom prst="ellipse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219170">
              <a:defRPr/>
            </a:pPr>
            <a:endParaRPr lang="zh-CN" altLang="en-US" sz="2133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06901" y="1088611"/>
            <a:ext cx="9704980" cy="4587664"/>
            <a:chOff x="380176" y="816458"/>
            <a:chExt cx="7278735" cy="3440748"/>
          </a:xfrm>
        </p:grpSpPr>
        <p:grpSp>
          <p:nvGrpSpPr>
            <p:cNvPr id="4" name="组合 68"/>
            <p:cNvGrpSpPr/>
            <p:nvPr/>
          </p:nvGrpSpPr>
          <p:grpSpPr>
            <a:xfrm>
              <a:off x="380176" y="816458"/>
              <a:ext cx="7278735" cy="3440748"/>
              <a:chOff x="380176" y="816458"/>
              <a:chExt cx="7278735" cy="3440748"/>
            </a:xfrm>
          </p:grpSpPr>
          <p:sp>
            <p:nvSpPr>
              <p:cNvPr id="70" name="直角三角形 69"/>
              <p:cNvSpPr/>
              <p:nvPr/>
            </p:nvSpPr>
            <p:spPr>
              <a:xfrm rot="16200000">
                <a:off x="4357107" y="1079129"/>
                <a:ext cx="1089992" cy="1274054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shade val="30000"/>
                      <a:satMod val="115000"/>
                    </a:schemeClr>
                  </a:gs>
                  <a:gs pos="50000">
                    <a:schemeClr val="bg1">
                      <a:lumMod val="8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85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 bwMode="auto">
              <a:xfrm>
                <a:off x="3607791" y="2535299"/>
                <a:ext cx="3716460" cy="1197252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 bwMode="auto">
              <a:xfrm rot="16200000">
                <a:off x="883716" y="2425929"/>
                <a:ext cx="1925637" cy="1736917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Text Box 20"/>
              <p:cNvSpPr txBox="1">
                <a:spLocks noChangeArrowheads="1"/>
              </p:cNvSpPr>
              <p:nvPr/>
            </p:nvSpPr>
            <p:spPr bwMode="auto">
              <a:xfrm>
                <a:off x="2456408" y="203983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128.1.2.194</a:t>
                </a:r>
              </a:p>
            </p:txBody>
          </p:sp>
          <p:sp>
            <p:nvSpPr>
              <p:cNvPr id="74" name="Text Box 25"/>
              <p:cNvSpPr txBox="1">
                <a:spLocks noChangeArrowheads="1"/>
              </p:cNvSpPr>
              <p:nvPr/>
            </p:nvSpPr>
            <p:spPr bwMode="auto">
              <a:xfrm>
                <a:off x="3732139" y="1824581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19"/>
              <p:cNvSpPr>
                <a:spLocks noChangeShapeType="1"/>
              </p:cNvSpPr>
              <p:nvPr/>
            </p:nvSpPr>
            <p:spPr bwMode="auto">
              <a:xfrm>
                <a:off x="2775735" y="1678638"/>
                <a:ext cx="1301162" cy="55733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16"/>
              <p:cNvSpPr>
                <a:spLocks noChangeShapeType="1"/>
              </p:cNvSpPr>
              <p:nvPr/>
            </p:nvSpPr>
            <p:spPr bwMode="auto">
              <a:xfrm flipH="1">
                <a:off x="1638141" y="1656270"/>
                <a:ext cx="947995" cy="2530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8"/>
              <p:cNvSpPr>
                <a:spLocks noChangeShapeType="1"/>
              </p:cNvSpPr>
              <p:nvPr/>
            </p:nvSpPr>
            <p:spPr bwMode="auto">
              <a:xfrm flipH="1">
                <a:off x="2658440" y="1101262"/>
                <a:ext cx="956029" cy="55360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8" name="Picture 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93961" y="824458"/>
                <a:ext cx="345456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" name="Text Box 9"/>
              <p:cNvSpPr txBox="1">
                <a:spLocks noChangeArrowheads="1"/>
              </p:cNvSpPr>
              <p:nvPr/>
            </p:nvSpPr>
            <p:spPr bwMode="auto">
              <a:xfrm>
                <a:off x="2171247" y="91222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128.1.2.193</a:t>
                </a:r>
              </a:p>
            </p:txBody>
          </p:sp>
          <p:sp>
            <p:nvSpPr>
              <p:cNvPr id="80" name="Text Box 23"/>
              <p:cNvSpPr txBox="1">
                <a:spLocks noChangeArrowheads="1"/>
              </p:cNvSpPr>
              <p:nvPr/>
            </p:nvSpPr>
            <p:spPr bwMode="auto">
              <a:xfrm>
                <a:off x="3839945" y="816458"/>
                <a:ext cx="1225389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81" name="Text Box 10"/>
              <p:cNvSpPr txBox="1">
                <a:spLocks noChangeArrowheads="1"/>
              </p:cNvSpPr>
              <p:nvPr/>
            </p:nvSpPr>
            <p:spPr bwMode="auto">
              <a:xfrm>
                <a:off x="616658" y="1099476"/>
                <a:ext cx="1674978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128.1.2.192/26</a:t>
                </a:r>
              </a:p>
            </p:txBody>
          </p:sp>
          <p:sp>
            <p:nvSpPr>
              <p:cNvPr id="82" name="Line 45"/>
              <p:cNvSpPr>
                <a:spLocks noChangeShapeType="1"/>
              </p:cNvSpPr>
              <p:nvPr/>
            </p:nvSpPr>
            <p:spPr bwMode="auto">
              <a:xfrm flipH="1" flipV="1">
                <a:off x="2294019" y="3312971"/>
                <a:ext cx="808348" cy="2236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41"/>
              <p:cNvSpPr>
                <a:spLocks noChangeShapeType="1"/>
              </p:cNvSpPr>
              <p:nvPr/>
            </p:nvSpPr>
            <p:spPr bwMode="auto">
              <a:xfrm flipH="1">
                <a:off x="4263353" y="2793929"/>
                <a:ext cx="1332012" cy="433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33"/>
              <p:cNvSpPr>
                <a:spLocks noChangeShapeType="1"/>
              </p:cNvSpPr>
              <p:nvPr/>
            </p:nvSpPr>
            <p:spPr bwMode="auto">
              <a:xfrm flipH="1">
                <a:off x="2051398" y="3354911"/>
                <a:ext cx="88372" cy="5228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Line 32"/>
              <p:cNvSpPr>
                <a:spLocks noChangeShapeType="1"/>
              </p:cNvSpPr>
              <p:nvPr/>
            </p:nvSpPr>
            <p:spPr bwMode="auto">
              <a:xfrm flipH="1">
                <a:off x="3297683" y="2900177"/>
                <a:ext cx="819453" cy="6696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21"/>
              <p:cNvSpPr>
                <a:spLocks noChangeShapeType="1"/>
              </p:cNvSpPr>
              <p:nvPr/>
            </p:nvSpPr>
            <p:spPr bwMode="auto">
              <a:xfrm>
                <a:off x="4207116" y="2371732"/>
                <a:ext cx="1607" cy="4627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7" name="Picture 2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4653" y="3753341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8" name="Picture 11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9621" y="1719179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5" name="Group 18"/>
              <p:cNvGrpSpPr>
                <a:grpSpLocks/>
              </p:cNvGrpSpPr>
              <p:nvPr/>
            </p:nvGrpSpPr>
            <p:grpSpPr bwMode="auto">
              <a:xfrm>
                <a:off x="3943605" y="2125684"/>
                <a:ext cx="531842" cy="303367"/>
                <a:chOff x="864" y="1824"/>
                <a:chExt cx="432" cy="288"/>
              </a:xfrm>
            </p:grpSpPr>
            <p:pic>
              <p:nvPicPr>
                <p:cNvPr id="126" name="Picture 3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7" name="Picture 12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90" name="Picture 13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2173" y="2589821"/>
                <a:ext cx="345456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1" name="Text Box 22"/>
              <p:cNvSpPr txBox="1">
                <a:spLocks noChangeArrowheads="1"/>
              </p:cNvSpPr>
              <p:nvPr/>
            </p:nvSpPr>
            <p:spPr bwMode="auto">
              <a:xfrm>
                <a:off x="2853215" y="2404897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128.1.2.130</a:t>
                </a:r>
              </a:p>
            </p:txBody>
          </p:sp>
          <p:sp>
            <p:nvSpPr>
              <p:cNvPr id="92" name="Text Box 24"/>
              <p:cNvSpPr txBox="1">
                <a:spLocks noChangeArrowheads="1"/>
              </p:cNvSpPr>
              <p:nvPr/>
            </p:nvSpPr>
            <p:spPr bwMode="auto">
              <a:xfrm>
                <a:off x="4108734" y="1835693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93" name="Text Box 26"/>
              <p:cNvSpPr txBox="1">
                <a:spLocks noChangeArrowheads="1"/>
              </p:cNvSpPr>
              <p:nvPr/>
            </p:nvSpPr>
            <p:spPr bwMode="auto">
              <a:xfrm>
                <a:off x="4178194" y="2368936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27"/>
              <p:cNvSpPr>
                <a:spLocks noChangeShapeType="1"/>
              </p:cNvSpPr>
              <p:nvPr/>
            </p:nvSpPr>
            <p:spPr bwMode="auto">
              <a:xfrm>
                <a:off x="4263353" y="2837267"/>
                <a:ext cx="1307911" cy="4627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" name="Group 28"/>
              <p:cNvGrpSpPr>
                <a:grpSpLocks/>
              </p:cNvGrpSpPr>
              <p:nvPr/>
            </p:nvGrpSpPr>
            <p:grpSpPr bwMode="auto">
              <a:xfrm>
                <a:off x="3032567" y="3427224"/>
                <a:ext cx="531841" cy="303366"/>
                <a:chOff x="864" y="1824"/>
                <a:chExt cx="432" cy="288"/>
              </a:xfrm>
            </p:grpSpPr>
            <p:pic>
              <p:nvPicPr>
                <p:cNvPr id="124" name="Picture 29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5" name="Picture 30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96" name="Text Box 31"/>
              <p:cNvSpPr txBox="1">
                <a:spLocks noChangeArrowheads="1"/>
              </p:cNvSpPr>
              <p:nvPr/>
            </p:nvSpPr>
            <p:spPr bwMode="auto">
              <a:xfrm>
                <a:off x="3511384" y="3483144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97" name="Line 35"/>
              <p:cNvSpPr>
                <a:spLocks noChangeShapeType="1"/>
              </p:cNvSpPr>
              <p:nvPr/>
            </p:nvSpPr>
            <p:spPr bwMode="auto">
              <a:xfrm flipH="1">
                <a:off x="2147804" y="2732799"/>
                <a:ext cx="36955" cy="5801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98" name="Picture 1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9129" y="3034385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Text Box 37"/>
              <p:cNvSpPr txBox="1">
                <a:spLocks noChangeArrowheads="1"/>
              </p:cNvSpPr>
              <p:nvPr/>
            </p:nvSpPr>
            <p:spPr bwMode="auto">
              <a:xfrm>
                <a:off x="5909138" y="2500740"/>
                <a:ext cx="1749773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128.1.2.128/26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Text Box 39"/>
              <p:cNvSpPr txBox="1">
                <a:spLocks noChangeArrowheads="1"/>
              </p:cNvSpPr>
              <p:nvPr/>
            </p:nvSpPr>
            <p:spPr bwMode="auto">
              <a:xfrm>
                <a:off x="5888875" y="3027938"/>
                <a:ext cx="1435376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01" name="Text Box 40"/>
              <p:cNvSpPr txBox="1">
                <a:spLocks noChangeArrowheads="1"/>
              </p:cNvSpPr>
              <p:nvPr/>
            </p:nvSpPr>
            <p:spPr bwMode="auto">
              <a:xfrm>
                <a:off x="4856211" y="334497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128.1.2.132</a:t>
                </a:r>
              </a:p>
            </p:txBody>
          </p:sp>
          <p:sp>
            <p:nvSpPr>
              <p:cNvPr id="102" name="Text Box 42"/>
              <p:cNvSpPr txBox="1">
                <a:spLocks noChangeArrowheads="1"/>
              </p:cNvSpPr>
              <p:nvPr/>
            </p:nvSpPr>
            <p:spPr bwMode="auto">
              <a:xfrm>
                <a:off x="3269292" y="313659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Text Box 43"/>
              <p:cNvSpPr txBox="1">
                <a:spLocks noChangeArrowheads="1"/>
              </p:cNvSpPr>
              <p:nvPr/>
            </p:nvSpPr>
            <p:spPr bwMode="auto">
              <a:xfrm>
                <a:off x="2804933" y="315647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Text Box 44"/>
              <p:cNvSpPr txBox="1">
                <a:spLocks noChangeArrowheads="1"/>
              </p:cNvSpPr>
              <p:nvPr/>
            </p:nvSpPr>
            <p:spPr bwMode="auto">
              <a:xfrm>
                <a:off x="3533879" y="321752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128.1.2.131</a:t>
                </a:r>
              </a:p>
            </p:txBody>
          </p:sp>
          <p:pic>
            <p:nvPicPr>
              <p:cNvPr id="105" name="Picture 3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9263" y="2489547"/>
                <a:ext cx="347062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Text Box 46"/>
              <p:cNvSpPr txBox="1">
                <a:spLocks noChangeArrowheads="1"/>
              </p:cNvSpPr>
              <p:nvPr/>
            </p:nvSpPr>
            <p:spPr bwMode="auto">
              <a:xfrm>
                <a:off x="1508068" y="3842425"/>
                <a:ext cx="39097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07" name="Text Box 48"/>
              <p:cNvSpPr txBox="1">
                <a:spLocks noChangeArrowheads="1"/>
              </p:cNvSpPr>
              <p:nvPr/>
            </p:nvSpPr>
            <p:spPr bwMode="auto">
              <a:xfrm>
                <a:off x="2285477" y="3692457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128.1.2.65</a:t>
                </a:r>
              </a:p>
            </p:txBody>
          </p:sp>
          <p:sp>
            <p:nvSpPr>
              <p:cNvPr id="108" name="Text Box 38"/>
              <p:cNvSpPr txBox="1">
                <a:spLocks noChangeArrowheads="1"/>
              </p:cNvSpPr>
              <p:nvPr/>
            </p:nvSpPr>
            <p:spPr bwMode="auto">
              <a:xfrm>
                <a:off x="380176" y="2585387"/>
                <a:ext cx="1548741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128.1.2.64/26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Text Box 47"/>
              <p:cNvSpPr txBox="1">
                <a:spLocks noChangeArrowheads="1"/>
              </p:cNvSpPr>
              <p:nvPr/>
            </p:nvSpPr>
            <p:spPr bwMode="auto">
              <a:xfrm>
                <a:off x="783205" y="3498904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128.1.2.68</a:t>
                </a:r>
              </a:p>
            </p:txBody>
          </p:sp>
          <p:sp>
            <p:nvSpPr>
              <p:cNvPr id="110" name="椭圆 67"/>
              <p:cNvSpPr>
                <a:spLocks noChangeArrowheads="1"/>
              </p:cNvSpPr>
              <p:nvPr/>
            </p:nvSpPr>
            <p:spPr bwMode="auto">
              <a:xfrm>
                <a:off x="2872438" y="3447105"/>
                <a:ext cx="72305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椭圆 68"/>
              <p:cNvSpPr>
                <a:spLocks noChangeArrowheads="1"/>
              </p:cNvSpPr>
              <p:nvPr/>
            </p:nvSpPr>
            <p:spPr bwMode="auto">
              <a:xfrm>
                <a:off x="5415407" y="3222106"/>
                <a:ext cx="73911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椭圆 69"/>
              <p:cNvSpPr>
                <a:spLocks noChangeArrowheads="1"/>
              </p:cNvSpPr>
              <p:nvPr/>
            </p:nvSpPr>
            <p:spPr bwMode="auto">
              <a:xfrm>
                <a:off x="3540306" y="3316782"/>
                <a:ext cx="73911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椭圆 70"/>
              <p:cNvSpPr>
                <a:spLocks noChangeArrowheads="1"/>
              </p:cNvSpPr>
              <p:nvPr/>
            </p:nvSpPr>
            <p:spPr bwMode="auto">
              <a:xfrm>
                <a:off x="2046577" y="3633113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椭圆 71"/>
              <p:cNvSpPr>
                <a:spLocks noChangeArrowheads="1"/>
              </p:cNvSpPr>
              <p:nvPr/>
            </p:nvSpPr>
            <p:spPr bwMode="auto">
              <a:xfrm>
                <a:off x="4163733" y="2501747"/>
                <a:ext cx="73911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椭圆 72"/>
              <p:cNvSpPr>
                <a:spLocks noChangeArrowheads="1"/>
              </p:cNvSpPr>
              <p:nvPr/>
            </p:nvSpPr>
            <p:spPr bwMode="auto">
              <a:xfrm>
                <a:off x="3792649" y="2084212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椭圆 73"/>
              <p:cNvSpPr>
                <a:spLocks noChangeArrowheads="1"/>
              </p:cNvSpPr>
              <p:nvPr/>
            </p:nvSpPr>
            <p:spPr bwMode="auto">
              <a:xfrm>
                <a:off x="3418443" y="1171162"/>
                <a:ext cx="72304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Text Box 10"/>
              <p:cNvSpPr txBox="1">
                <a:spLocks noChangeArrowheads="1"/>
              </p:cNvSpPr>
              <p:nvPr/>
            </p:nvSpPr>
            <p:spPr bwMode="auto">
              <a:xfrm>
                <a:off x="1323351" y="861428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Text Box 37"/>
              <p:cNvSpPr txBox="1">
                <a:spLocks noChangeArrowheads="1"/>
              </p:cNvSpPr>
              <p:nvPr/>
            </p:nvSpPr>
            <p:spPr bwMode="auto">
              <a:xfrm>
                <a:off x="6571928" y="2245549"/>
                <a:ext cx="570405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</a:p>
            </p:txBody>
          </p:sp>
          <p:sp>
            <p:nvSpPr>
              <p:cNvPr id="119" name="Text Box 38"/>
              <p:cNvSpPr txBox="1">
                <a:spLocks noChangeArrowheads="1"/>
              </p:cNvSpPr>
              <p:nvPr/>
            </p:nvSpPr>
            <p:spPr bwMode="auto">
              <a:xfrm>
                <a:off x="908984" y="2317359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23" name="Text Box 98"/>
              <p:cNvSpPr txBox="1">
                <a:spLocks noChangeArrowheads="1"/>
              </p:cNvSpPr>
              <p:nvPr/>
            </p:nvSpPr>
            <p:spPr bwMode="auto">
              <a:xfrm>
                <a:off x="6138447" y="884729"/>
                <a:ext cx="1464584" cy="2847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1867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的部分转发表</a:t>
                </a:r>
                <a:endParaRPr lang="zh-CN" altLang="en-US" sz="1867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28" name="Picture 5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7487" y="315983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" name="Picture 5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2705" y="2689821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2" name="Picture 5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4672" y="150706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0" name="任意多边形 129"/>
          <p:cNvSpPr/>
          <p:nvPr/>
        </p:nvSpPr>
        <p:spPr>
          <a:xfrm>
            <a:off x="5983052" y="3256855"/>
            <a:ext cx="1410625" cy="873821"/>
          </a:xfrm>
          <a:custGeom>
            <a:avLst/>
            <a:gdLst>
              <a:gd name="connsiteX0" fmla="*/ 2833 w 1057969"/>
              <a:gd name="connsiteY0" fmla="*/ 0 h 655366"/>
              <a:gd name="connsiteX1" fmla="*/ 17823 w 1057969"/>
              <a:gd name="connsiteY1" fmla="*/ 164892 h 655366"/>
              <a:gd name="connsiteX2" fmla="*/ 137744 w 1057969"/>
              <a:gd name="connsiteY2" fmla="*/ 314793 h 655366"/>
              <a:gd name="connsiteX3" fmla="*/ 977194 w 1057969"/>
              <a:gd name="connsiteY3" fmla="*/ 629587 h 655366"/>
              <a:gd name="connsiteX4" fmla="*/ 977194 w 1057969"/>
              <a:gd name="connsiteY4" fmla="*/ 614597 h 655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7969" h="655366">
                <a:moveTo>
                  <a:pt x="2833" y="0"/>
                </a:moveTo>
                <a:cubicBezTo>
                  <a:pt x="-915" y="56213"/>
                  <a:pt x="-4662" y="112427"/>
                  <a:pt x="17823" y="164892"/>
                </a:cubicBezTo>
                <a:cubicBezTo>
                  <a:pt x="40308" y="217358"/>
                  <a:pt x="-22151" y="237344"/>
                  <a:pt x="137744" y="314793"/>
                </a:cubicBezTo>
                <a:cubicBezTo>
                  <a:pt x="297639" y="392242"/>
                  <a:pt x="977194" y="629587"/>
                  <a:pt x="977194" y="629587"/>
                </a:cubicBezTo>
                <a:cubicBezTo>
                  <a:pt x="1117102" y="679554"/>
                  <a:pt x="1047148" y="647075"/>
                  <a:pt x="977194" y="614597"/>
                </a:cubicBezTo>
              </a:path>
            </a:pathLst>
          </a:custGeom>
          <a:noFill/>
          <a:ln w="38100">
            <a:solidFill>
              <a:srgbClr val="CC000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9" name="任意多边形 128"/>
          <p:cNvSpPr/>
          <p:nvPr/>
        </p:nvSpPr>
        <p:spPr>
          <a:xfrm>
            <a:off x="4196576" y="1698885"/>
            <a:ext cx="960041" cy="779488"/>
          </a:xfrm>
          <a:custGeom>
            <a:avLst/>
            <a:gdLst>
              <a:gd name="connsiteX0" fmla="*/ 630090 w 720031"/>
              <a:gd name="connsiteY0" fmla="*/ 0 h 584616"/>
              <a:gd name="connsiteX1" fmla="*/ 503 w 720031"/>
              <a:gd name="connsiteY1" fmla="*/ 269823 h 584616"/>
              <a:gd name="connsiteX2" fmla="*/ 720031 w 720031"/>
              <a:gd name="connsiteY2" fmla="*/ 584616 h 584616"/>
              <a:gd name="connsiteX3" fmla="*/ 720031 w 720031"/>
              <a:gd name="connsiteY3" fmla="*/ 584616 h 584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0031" h="584616">
                <a:moveTo>
                  <a:pt x="630090" y="0"/>
                </a:moveTo>
                <a:cubicBezTo>
                  <a:pt x="307801" y="86193"/>
                  <a:pt x="-14487" y="172387"/>
                  <a:pt x="503" y="269823"/>
                </a:cubicBezTo>
                <a:cubicBezTo>
                  <a:pt x="15493" y="367259"/>
                  <a:pt x="720031" y="584616"/>
                  <a:pt x="720031" y="584616"/>
                </a:cubicBezTo>
                <a:lnTo>
                  <a:pt x="720031" y="584616"/>
                </a:lnTo>
              </a:path>
            </a:pathLst>
          </a:custGeom>
          <a:noFill/>
          <a:ln w="38100">
            <a:solidFill>
              <a:srgbClr val="CC000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6" name="AutoShape 63"/>
          <p:cNvSpPr>
            <a:spLocks noChangeArrowheads="1"/>
          </p:cNvSpPr>
          <p:nvPr/>
        </p:nvSpPr>
        <p:spPr bwMode="auto">
          <a:xfrm>
            <a:off x="6730448" y="2377471"/>
            <a:ext cx="729717" cy="189823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srgbClr val="CC00CC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" name="Text Box 155"/>
          <p:cNvSpPr txBox="1">
            <a:spLocks noChangeArrowheads="1"/>
          </p:cNvSpPr>
          <p:nvPr/>
        </p:nvSpPr>
        <p:spPr bwMode="auto">
          <a:xfrm>
            <a:off x="1595237" y="792135"/>
            <a:ext cx="9153600" cy="428259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1219170"/>
            <a:r>
              <a:rPr lang="zh-CN" altLang="en-US" sz="2133" dirty="0">
                <a:solidFill>
                  <a:prstClr val="white"/>
                </a:solidFill>
              </a:rPr>
              <a:t>路由器 </a:t>
            </a:r>
            <a:r>
              <a:rPr lang="en-US" altLang="zh-CN" sz="2133" dirty="0">
                <a:solidFill>
                  <a:prstClr val="white"/>
                </a:solidFill>
              </a:rPr>
              <a:t>R</a:t>
            </a:r>
            <a:r>
              <a:rPr lang="en-US" altLang="zh-CN" sz="2133" baseline="-25000" dirty="0">
                <a:solidFill>
                  <a:prstClr val="white"/>
                </a:solidFill>
              </a:rPr>
              <a:t>1</a:t>
            </a:r>
            <a:r>
              <a:rPr lang="en-US" altLang="zh-CN" sz="2133" dirty="0">
                <a:solidFill>
                  <a:prstClr val="white"/>
                </a:solidFill>
              </a:rPr>
              <a:t> </a:t>
            </a:r>
            <a:r>
              <a:rPr lang="zh-CN" altLang="en-US" sz="2133" dirty="0">
                <a:solidFill>
                  <a:prstClr val="white"/>
                </a:solidFill>
              </a:rPr>
              <a:t>收到分组后查找转发表。接着检查第 </a:t>
            </a:r>
            <a:r>
              <a:rPr lang="en-US" altLang="zh-CN" sz="2133" dirty="0">
                <a:solidFill>
                  <a:prstClr val="white"/>
                </a:solidFill>
              </a:rPr>
              <a:t>2 </a:t>
            </a:r>
            <a:r>
              <a:rPr lang="zh-CN" altLang="en-US" sz="2133" dirty="0">
                <a:solidFill>
                  <a:prstClr val="white"/>
                </a:solidFill>
              </a:rPr>
              <a:t>行。 </a:t>
            </a:r>
          </a:p>
        </p:txBody>
      </p:sp>
      <p:sp>
        <p:nvSpPr>
          <p:cNvPr id="121" name="Text Box 155"/>
          <p:cNvSpPr txBox="1">
            <a:spLocks noChangeArrowheads="1"/>
          </p:cNvSpPr>
          <p:nvPr/>
        </p:nvSpPr>
        <p:spPr bwMode="auto">
          <a:xfrm>
            <a:off x="1595237" y="6240842"/>
            <a:ext cx="9153600" cy="47025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1219170">
              <a:lnSpc>
                <a:spcPct val="110000"/>
              </a:lnSpc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进行分组的直接交付（通过路由器 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400" b="1" baseline="-250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的接口 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）。</a:t>
            </a:r>
            <a:endParaRPr lang="en-US" altLang="zh-CN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259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uild="p" animBg="1"/>
      <p:bldP spid="130" grpId="0" animBg="1"/>
      <p:bldP spid="66" grpId="0" animBg="1"/>
      <p:bldP spid="66" grpId="1" animBg="1"/>
      <p:bldP spid="121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726858" y="1386255"/>
            <a:ext cx="10738281" cy="2853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CIDR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时，在查找转发表时可能会得到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不止一个匹配结果。 </a:t>
            </a:r>
          </a:p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最长前缀匹配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(longest-prefix matching) 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原则：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选择前缀最长的一个作为匹配的前缀。</a:t>
            </a:r>
          </a:p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网络前缀越长，其地址块就越小，因而路由就越具体。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把前缀最长的排在转发表的第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行。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726859" y="815978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153805" y="761494"/>
            <a:ext cx="38843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4.3.2  </a:t>
            </a: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最长前缀匹配</a:t>
            </a:r>
          </a:p>
        </p:txBody>
      </p:sp>
    </p:spTree>
    <p:extLst>
      <p:ext uri="{BB962C8B-B14F-4D97-AF65-F5344CB8AC3E}">
        <p14:creationId xmlns:p14="http://schemas.microsoft.com/office/powerpoint/2010/main" val="102237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/>
        </p:nvSpPr>
        <p:spPr>
          <a:xfrm>
            <a:off x="459701" y="844967"/>
            <a:ext cx="11292587" cy="497218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 rot="20475920">
            <a:off x="1389373" y="1213499"/>
            <a:ext cx="4468964" cy="1336491"/>
          </a:xfrm>
          <a:prstGeom prst="ellipse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219170">
              <a:defRPr/>
            </a:pPr>
            <a:endParaRPr lang="zh-CN" altLang="en-US" sz="2133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Group 125"/>
          <p:cNvGraphicFramePr>
            <a:graphicFrameLocks noGrp="1"/>
          </p:cNvGraphicFramePr>
          <p:nvPr/>
        </p:nvGraphicFramePr>
        <p:xfrm>
          <a:off x="7392477" y="1578994"/>
          <a:ext cx="3720232" cy="1923423"/>
        </p:xfrm>
        <a:graphic>
          <a:graphicData uri="http://schemas.openxmlformats.org/drawingml/2006/table">
            <a:tbl>
              <a:tblPr/>
              <a:tblGrid>
                <a:gridCol w="205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前缀匹配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下一跳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128.1.2.0/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128.1.2.128/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128.1.2.192/26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1" lang="en-US" altLang="zh-CN" sz="19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" name="矩形 72"/>
          <p:cNvSpPr/>
          <p:nvPr/>
        </p:nvSpPr>
        <p:spPr>
          <a:xfrm>
            <a:off x="1563929" y="5815642"/>
            <a:ext cx="89579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 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400" b="1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如何转发目的地址是 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128.1.2.196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的分组？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06901" y="1088611"/>
            <a:ext cx="9704980" cy="4587664"/>
            <a:chOff x="380176" y="816458"/>
            <a:chExt cx="7278735" cy="3440748"/>
          </a:xfrm>
        </p:grpSpPr>
        <p:grpSp>
          <p:nvGrpSpPr>
            <p:cNvPr id="3" name="组合 12"/>
            <p:cNvGrpSpPr/>
            <p:nvPr/>
          </p:nvGrpSpPr>
          <p:grpSpPr>
            <a:xfrm>
              <a:off x="380176" y="816458"/>
              <a:ext cx="7278735" cy="3440748"/>
              <a:chOff x="380176" y="816458"/>
              <a:chExt cx="7278735" cy="3440748"/>
            </a:xfrm>
          </p:grpSpPr>
          <p:sp>
            <p:nvSpPr>
              <p:cNvPr id="14" name="直角三角形 13"/>
              <p:cNvSpPr/>
              <p:nvPr/>
            </p:nvSpPr>
            <p:spPr>
              <a:xfrm rot="16200000">
                <a:off x="4357107" y="1079129"/>
                <a:ext cx="1089992" cy="1274054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shade val="30000"/>
                      <a:satMod val="115000"/>
                    </a:schemeClr>
                  </a:gs>
                  <a:gs pos="50000">
                    <a:schemeClr val="bg1">
                      <a:lumMod val="8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85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 bwMode="auto">
              <a:xfrm>
                <a:off x="3607791" y="2535299"/>
                <a:ext cx="3716460" cy="1197252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 bwMode="auto">
              <a:xfrm rot="16200000">
                <a:off x="883716" y="2425929"/>
                <a:ext cx="1925637" cy="1736917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Text Box 20"/>
              <p:cNvSpPr txBox="1">
                <a:spLocks noChangeArrowheads="1"/>
              </p:cNvSpPr>
              <p:nvPr/>
            </p:nvSpPr>
            <p:spPr bwMode="auto">
              <a:xfrm>
                <a:off x="2456408" y="203983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128.1.2.194</a:t>
                </a:r>
              </a:p>
            </p:txBody>
          </p:sp>
          <p:sp>
            <p:nvSpPr>
              <p:cNvPr id="18" name="Text Box 25"/>
              <p:cNvSpPr txBox="1">
                <a:spLocks noChangeArrowheads="1"/>
              </p:cNvSpPr>
              <p:nvPr/>
            </p:nvSpPr>
            <p:spPr bwMode="auto">
              <a:xfrm>
                <a:off x="3732139" y="1824581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>
                <a:off x="2775735" y="1678638"/>
                <a:ext cx="1301162" cy="55733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Line 16"/>
              <p:cNvSpPr>
                <a:spLocks noChangeShapeType="1"/>
              </p:cNvSpPr>
              <p:nvPr/>
            </p:nvSpPr>
            <p:spPr bwMode="auto">
              <a:xfrm flipH="1">
                <a:off x="1638141" y="1656270"/>
                <a:ext cx="947995" cy="2530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Line 8"/>
              <p:cNvSpPr>
                <a:spLocks noChangeShapeType="1"/>
              </p:cNvSpPr>
              <p:nvPr/>
            </p:nvSpPr>
            <p:spPr bwMode="auto">
              <a:xfrm flipH="1">
                <a:off x="2658440" y="1101262"/>
                <a:ext cx="956029" cy="55360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22" name="Picture 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93961" y="824458"/>
                <a:ext cx="345456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" name="Text Box 9"/>
              <p:cNvSpPr txBox="1">
                <a:spLocks noChangeArrowheads="1"/>
              </p:cNvSpPr>
              <p:nvPr/>
            </p:nvSpPr>
            <p:spPr bwMode="auto">
              <a:xfrm>
                <a:off x="2171247" y="91222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128.1.2.193</a:t>
                </a:r>
              </a:p>
            </p:txBody>
          </p:sp>
          <p:sp>
            <p:nvSpPr>
              <p:cNvPr id="24" name="Text Box 23"/>
              <p:cNvSpPr txBox="1">
                <a:spLocks noChangeArrowheads="1"/>
              </p:cNvSpPr>
              <p:nvPr/>
            </p:nvSpPr>
            <p:spPr bwMode="auto">
              <a:xfrm>
                <a:off x="3839945" y="816458"/>
                <a:ext cx="1225389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25" name="Text Box 10"/>
              <p:cNvSpPr txBox="1">
                <a:spLocks noChangeArrowheads="1"/>
              </p:cNvSpPr>
              <p:nvPr/>
            </p:nvSpPr>
            <p:spPr bwMode="auto">
              <a:xfrm>
                <a:off x="616658" y="1099476"/>
                <a:ext cx="1674978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128.1.2.192/26</a:t>
                </a:r>
              </a:p>
            </p:txBody>
          </p:sp>
          <p:sp>
            <p:nvSpPr>
              <p:cNvPr id="26" name="Line 45"/>
              <p:cNvSpPr>
                <a:spLocks noChangeShapeType="1"/>
              </p:cNvSpPr>
              <p:nvPr/>
            </p:nvSpPr>
            <p:spPr bwMode="auto">
              <a:xfrm flipH="1" flipV="1">
                <a:off x="2294019" y="3312971"/>
                <a:ext cx="808348" cy="2236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Line 41"/>
              <p:cNvSpPr>
                <a:spLocks noChangeShapeType="1"/>
              </p:cNvSpPr>
              <p:nvPr/>
            </p:nvSpPr>
            <p:spPr bwMode="auto">
              <a:xfrm flipH="1">
                <a:off x="4263353" y="2793929"/>
                <a:ext cx="1332012" cy="433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Line 33"/>
              <p:cNvSpPr>
                <a:spLocks noChangeShapeType="1"/>
              </p:cNvSpPr>
              <p:nvPr/>
            </p:nvSpPr>
            <p:spPr bwMode="auto">
              <a:xfrm flipH="1">
                <a:off x="2051398" y="3354911"/>
                <a:ext cx="88372" cy="5228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Line 32"/>
              <p:cNvSpPr>
                <a:spLocks noChangeShapeType="1"/>
              </p:cNvSpPr>
              <p:nvPr/>
            </p:nvSpPr>
            <p:spPr bwMode="auto">
              <a:xfrm flipH="1">
                <a:off x="3297683" y="2900177"/>
                <a:ext cx="819453" cy="6696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Line 21"/>
              <p:cNvSpPr>
                <a:spLocks noChangeShapeType="1"/>
              </p:cNvSpPr>
              <p:nvPr/>
            </p:nvSpPr>
            <p:spPr bwMode="auto">
              <a:xfrm>
                <a:off x="4207116" y="2371732"/>
                <a:ext cx="1607" cy="4627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31" name="Picture 2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4653" y="3753341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2" name="Picture 11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9621" y="1719179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" name="Group 18"/>
              <p:cNvGrpSpPr>
                <a:grpSpLocks/>
              </p:cNvGrpSpPr>
              <p:nvPr/>
            </p:nvGrpSpPr>
            <p:grpSpPr bwMode="auto">
              <a:xfrm>
                <a:off x="3943605" y="2125684"/>
                <a:ext cx="531842" cy="303367"/>
                <a:chOff x="864" y="1824"/>
                <a:chExt cx="432" cy="288"/>
              </a:xfrm>
            </p:grpSpPr>
            <p:pic>
              <p:nvPicPr>
                <p:cNvPr id="70" name="Picture 3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1" name="Picture 12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34" name="Picture 13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2173" y="2589821"/>
                <a:ext cx="345456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" name="Text Box 22"/>
              <p:cNvSpPr txBox="1">
                <a:spLocks noChangeArrowheads="1"/>
              </p:cNvSpPr>
              <p:nvPr/>
            </p:nvSpPr>
            <p:spPr bwMode="auto">
              <a:xfrm>
                <a:off x="2853215" y="2404897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128.1.2.130</a:t>
                </a:r>
              </a:p>
            </p:txBody>
          </p:sp>
          <p:sp>
            <p:nvSpPr>
              <p:cNvPr id="36" name="Text Box 24"/>
              <p:cNvSpPr txBox="1">
                <a:spLocks noChangeArrowheads="1"/>
              </p:cNvSpPr>
              <p:nvPr/>
            </p:nvSpPr>
            <p:spPr bwMode="auto">
              <a:xfrm>
                <a:off x="4108734" y="1835693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37" name="Text Box 26"/>
              <p:cNvSpPr txBox="1">
                <a:spLocks noChangeArrowheads="1"/>
              </p:cNvSpPr>
              <p:nvPr/>
            </p:nvSpPr>
            <p:spPr bwMode="auto">
              <a:xfrm>
                <a:off x="4178194" y="2368936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Line 27"/>
              <p:cNvSpPr>
                <a:spLocks noChangeShapeType="1"/>
              </p:cNvSpPr>
              <p:nvPr/>
            </p:nvSpPr>
            <p:spPr bwMode="auto">
              <a:xfrm>
                <a:off x="4263353" y="2837267"/>
                <a:ext cx="1307911" cy="4627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5" name="Group 28"/>
              <p:cNvGrpSpPr>
                <a:grpSpLocks/>
              </p:cNvGrpSpPr>
              <p:nvPr/>
            </p:nvGrpSpPr>
            <p:grpSpPr bwMode="auto">
              <a:xfrm>
                <a:off x="3032567" y="3427224"/>
                <a:ext cx="531841" cy="303366"/>
                <a:chOff x="864" y="1824"/>
                <a:chExt cx="432" cy="288"/>
              </a:xfrm>
            </p:grpSpPr>
            <p:pic>
              <p:nvPicPr>
                <p:cNvPr id="68" name="Picture 29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9" name="Picture 30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40" name="Text Box 31"/>
              <p:cNvSpPr txBox="1">
                <a:spLocks noChangeArrowheads="1"/>
              </p:cNvSpPr>
              <p:nvPr/>
            </p:nvSpPr>
            <p:spPr bwMode="auto">
              <a:xfrm>
                <a:off x="3511384" y="3483144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41" name="Line 35"/>
              <p:cNvSpPr>
                <a:spLocks noChangeShapeType="1"/>
              </p:cNvSpPr>
              <p:nvPr/>
            </p:nvSpPr>
            <p:spPr bwMode="auto">
              <a:xfrm flipH="1">
                <a:off x="2147804" y="2732799"/>
                <a:ext cx="36955" cy="5801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2" name="Picture 1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9129" y="3034385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3" name="Text Box 37"/>
              <p:cNvSpPr txBox="1">
                <a:spLocks noChangeArrowheads="1"/>
              </p:cNvSpPr>
              <p:nvPr/>
            </p:nvSpPr>
            <p:spPr bwMode="auto">
              <a:xfrm>
                <a:off x="5909138" y="2500740"/>
                <a:ext cx="1749773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128.1.2.128/26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Text Box 39"/>
              <p:cNvSpPr txBox="1">
                <a:spLocks noChangeArrowheads="1"/>
              </p:cNvSpPr>
              <p:nvPr/>
            </p:nvSpPr>
            <p:spPr bwMode="auto">
              <a:xfrm>
                <a:off x="5888875" y="3027938"/>
                <a:ext cx="1435376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45" name="Text Box 40"/>
              <p:cNvSpPr txBox="1">
                <a:spLocks noChangeArrowheads="1"/>
              </p:cNvSpPr>
              <p:nvPr/>
            </p:nvSpPr>
            <p:spPr bwMode="auto">
              <a:xfrm>
                <a:off x="4856211" y="334497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128.1.2.132</a:t>
                </a:r>
              </a:p>
            </p:txBody>
          </p:sp>
          <p:sp>
            <p:nvSpPr>
              <p:cNvPr id="46" name="Text Box 42"/>
              <p:cNvSpPr txBox="1">
                <a:spLocks noChangeArrowheads="1"/>
              </p:cNvSpPr>
              <p:nvPr/>
            </p:nvSpPr>
            <p:spPr bwMode="auto">
              <a:xfrm>
                <a:off x="3269292" y="313659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Text Box 43"/>
              <p:cNvSpPr txBox="1">
                <a:spLocks noChangeArrowheads="1"/>
              </p:cNvSpPr>
              <p:nvPr/>
            </p:nvSpPr>
            <p:spPr bwMode="auto">
              <a:xfrm>
                <a:off x="2804933" y="315647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Text Box 44"/>
              <p:cNvSpPr txBox="1">
                <a:spLocks noChangeArrowheads="1"/>
              </p:cNvSpPr>
              <p:nvPr/>
            </p:nvSpPr>
            <p:spPr bwMode="auto">
              <a:xfrm>
                <a:off x="3533879" y="321752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128.1.2.131</a:t>
                </a:r>
              </a:p>
            </p:txBody>
          </p:sp>
          <p:pic>
            <p:nvPicPr>
              <p:cNvPr id="49" name="Picture 3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9263" y="2489547"/>
                <a:ext cx="347062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" name="Text Box 46"/>
              <p:cNvSpPr txBox="1">
                <a:spLocks noChangeArrowheads="1"/>
              </p:cNvSpPr>
              <p:nvPr/>
            </p:nvSpPr>
            <p:spPr bwMode="auto">
              <a:xfrm>
                <a:off x="1508068" y="3842425"/>
                <a:ext cx="39097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51" name="Text Box 48"/>
              <p:cNvSpPr txBox="1">
                <a:spLocks noChangeArrowheads="1"/>
              </p:cNvSpPr>
              <p:nvPr/>
            </p:nvSpPr>
            <p:spPr bwMode="auto">
              <a:xfrm>
                <a:off x="2285477" y="3692457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128.1.2.65</a:t>
                </a:r>
              </a:p>
            </p:txBody>
          </p:sp>
          <p:sp>
            <p:nvSpPr>
              <p:cNvPr id="52" name="Text Box 38"/>
              <p:cNvSpPr txBox="1">
                <a:spLocks noChangeArrowheads="1"/>
              </p:cNvSpPr>
              <p:nvPr/>
            </p:nvSpPr>
            <p:spPr bwMode="auto">
              <a:xfrm>
                <a:off x="380176" y="2585387"/>
                <a:ext cx="1548741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128.1.2.64/26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Text Box 47"/>
              <p:cNvSpPr txBox="1">
                <a:spLocks noChangeArrowheads="1"/>
              </p:cNvSpPr>
              <p:nvPr/>
            </p:nvSpPr>
            <p:spPr bwMode="auto">
              <a:xfrm>
                <a:off x="783205" y="3498904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128.1.2.68</a:t>
                </a:r>
              </a:p>
            </p:txBody>
          </p:sp>
          <p:sp>
            <p:nvSpPr>
              <p:cNvPr id="54" name="椭圆 67"/>
              <p:cNvSpPr>
                <a:spLocks noChangeArrowheads="1"/>
              </p:cNvSpPr>
              <p:nvPr/>
            </p:nvSpPr>
            <p:spPr bwMode="auto">
              <a:xfrm>
                <a:off x="2872438" y="3447105"/>
                <a:ext cx="72305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椭圆 68"/>
              <p:cNvSpPr>
                <a:spLocks noChangeArrowheads="1"/>
              </p:cNvSpPr>
              <p:nvPr/>
            </p:nvSpPr>
            <p:spPr bwMode="auto">
              <a:xfrm>
                <a:off x="5415407" y="3222106"/>
                <a:ext cx="73911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椭圆 69"/>
              <p:cNvSpPr>
                <a:spLocks noChangeArrowheads="1"/>
              </p:cNvSpPr>
              <p:nvPr/>
            </p:nvSpPr>
            <p:spPr bwMode="auto">
              <a:xfrm>
                <a:off x="3540306" y="3316782"/>
                <a:ext cx="73911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椭圆 70"/>
              <p:cNvSpPr>
                <a:spLocks noChangeArrowheads="1"/>
              </p:cNvSpPr>
              <p:nvPr/>
            </p:nvSpPr>
            <p:spPr bwMode="auto">
              <a:xfrm>
                <a:off x="2046577" y="3633113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椭圆 71"/>
              <p:cNvSpPr>
                <a:spLocks noChangeArrowheads="1"/>
              </p:cNvSpPr>
              <p:nvPr/>
            </p:nvSpPr>
            <p:spPr bwMode="auto">
              <a:xfrm>
                <a:off x="4163733" y="2501747"/>
                <a:ext cx="73911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椭圆 72"/>
              <p:cNvSpPr>
                <a:spLocks noChangeArrowheads="1"/>
              </p:cNvSpPr>
              <p:nvPr/>
            </p:nvSpPr>
            <p:spPr bwMode="auto">
              <a:xfrm>
                <a:off x="3792649" y="2084212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0" name="椭圆 73"/>
              <p:cNvSpPr>
                <a:spLocks noChangeArrowheads="1"/>
              </p:cNvSpPr>
              <p:nvPr/>
            </p:nvSpPr>
            <p:spPr bwMode="auto">
              <a:xfrm>
                <a:off x="3418443" y="1171162"/>
                <a:ext cx="72304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Text Box 10"/>
              <p:cNvSpPr txBox="1">
                <a:spLocks noChangeArrowheads="1"/>
              </p:cNvSpPr>
              <p:nvPr/>
            </p:nvSpPr>
            <p:spPr bwMode="auto">
              <a:xfrm>
                <a:off x="1323351" y="861428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Text Box 37"/>
              <p:cNvSpPr txBox="1">
                <a:spLocks noChangeArrowheads="1"/>
              </p:cNvSpPr>
              <p:nvPr/>
            </p:nvSpPr>
            <p:spPr bwMode="auto">
              <a:xfrm>
                <a:off x="6571928" y="2245549"/>
                <a:ext cx="570405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</a:p>
            </p:txBody>
          </p:sp>
          <p:sp>
            <p:nvSpPr>
              <p:cNvPr id="63" name="Text Box 38"/>
              <p:cNvSpPr txBox="1">
                <a:spLocks noChangeArrowheads="1"/>
              </p:cNvSpPr>
              <p:nvPr/>
            </p:nvSpPr>
            <p:spPr bwMode="auto">
              <a:xfrm>
                <a:off x="908984" y="2317359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67" name="Text Box 98"/>
              <p:cNvSpPr txBox="1">
                <a:spLocks noChangeArrowheads="1"/>
              </p:cNvSpPr>
              <p:nvPr/>
            </p:nvSpPr>
            <p:spPr bwMode="auto">
              <a:xfrm>
                <a:off x="6138447" y="884729"/>
                <a:ext cx="1464584" cy="2847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1867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的部分转发表</a:t>
                </a:r>
                <a:endParaRPr lang="zh-CN" altLang="en-US" sz="1867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72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7487" y="315983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2705" y="2689821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4672" y="150706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874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66"/>
          <p:cNvSpPr/>
          <p:nvPr/>
        </p:nvSpPr>
        <p:spPr>
          <a:xfrm>
            <a:off x="459701" y="844967"/>
            <a:ext cx="11292587" cy="497218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aphicFrame>
        <p:nvGraphicFramePr>
          <p:cNvPr id="68" name="Group 125"/>
          <p:cNvGraphicFramePr>
            <a:graphicFrameLocks noGrp="1"/>
          </p:cNvGraphicFramePr>
          <p:nvPr/>
        </p:nvGraphicFramePr>
        <p:xfrm>
          <a:off x="7392477" y="1578994"/>
          <a:ext cx="3720232" cy="1923423"/>
        </p:xfrm>
        <a:graphic>
          <a:graphicData uri="http://schemas.openxmlformats.org/drawingml/2006/table">
            <a:tbl>
              <a:tblPr/>
              <a:tblGrid>
                <a:gridCol w="205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前缀匹配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下一跳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128.1.2.0/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128.1.2.128/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128.1.2.192/26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1" lang="en-US" altLang="zh-CN" sz="19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Line 66"/>
          <p:cNvSpPr>
            <a:spLocks noChangeShapeType="1"/>
          </p:cNvSpPr>
          <p:nvPr/>
        </p:nvSpPr>
        <p:spPr bwMode="auto">
          <a:xfrm>
            <a:off x="7516873" y="2292239"/>
            <a:ext cx="18170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0" name="椭圆 119"/>
          <p:cNvSpPr/>
          <p:nvPr/>
        </p:nvSpPr>
        <p:spPr bwMode="auto">
          <a:xfrm rot="20475920">
            <a:off x="1389373" y="1213499"/>
            <a:ext cx="4468964" cy="1336491"/>
          </a:xfrm>
          <a:prstGeom prst="ellipse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219170">
              <a:defRPr/>
            </a:pPr>
            <a:endParaRPr lang="zh-CN" altLang="en-US" sz="2133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06901" y="1088611"/>
            <a:ext cx="9704980" cy="4587664"/>
            <a:chOff x="380176" y="816458"/>
            <a:chExt cx="7278735" cy="3440748"/>
          </a:xfrm>
        </p:grpSpPr>
        <p:grpSp>
          <p:nvGrpSpPr>
            <p:cNvPr id="4" name="组合 68"/>
            <p:cNvGrpSpPr/>
            <p:nvPr/>
          </p:nvGrpSpPr>
          <p:grpSpPr>
            <a:xfrm>
              <a:off x="380176" y="816458"/>
              <a:ext cx="7278735" cy="3440748"/>
              <a:chOff x="380176" y="816458"/>
              <a:chExt cx="7278735" cy="3440748"/>
            </a:xfrm>
          </p:grpSpPr>
          <p:sp>
            <p:nvSpPr>
              <p:cNvPr id="70" name="直角三角形 69"/>
              <p:cNvSpPr/>
              <p:nvPr/>
            </p:nvSpPr>
            <p:spPr>
              <a:xfrm rot="16200000">
                <a:off x="4357107" y="1079129"/>
                <a:ext cx="1089992" cy="1274054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shade val="30000"/>
                      <a:satMod val="115000"/>
                    </a:schemeClr>
                  </a:gs>
                  <a:gs pos="50000">
                    <a:schemeClr val="bg1">
                      <a:lumMod val="8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85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 bwMode="auto">
              <a:xfrm>
                <a:off x="3607791" y="2535299"/>
                <a:ext cx="3716460" cy="1197252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 bwMode="auto">
              <a:xfrm rot="16200000">
                <a:off x="883716" y="2425929"/>
                <a:ext cx="1925637" cy="1736917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Text Box 20"/>
              <p:cNvSpPr txBox="1">
                <a:spLocks noChangeArrowheads="1"/>
              </p:cNvSpPr>
              <p:nvPr/>
            </p:nvSpPr>
            <p:spPr bwMode="auto">
              <a:xfrm>
                <a:off x="2456408" y="203983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128.1.2.194</a:t>
                </a:r>
              </a:p>
            </p:txBody>
          </p:sp>
          <p:sp>
            <p:nvSpPr>
              <p:cNvPr id="74" name="Text Box 25"/>
              <p:cNvSpPr txBox="1">
                <a:spLocks noChangeArrowheads="1"/>
              </p:cNvSpPr>
              <p:nvPr/>
            </p:nvSpPr>
            <p:spPr bwMode="auto">
              <a:xfrm>
                <a:off x="3732139" y="1824581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19"/>
              <p:cNvSpPr>
                <a:spLocks noChangeShapeType="1"/>
              </p:cNvSpPr>
              <p:nvPr/>
            </p:nvSpPr>
            <p:spPr bwMode="auto">
              <a:xfrm>
                <a:off x="2775735" y="1678638"/>
                <a:ext cx="1301162" cy="55733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16"/>
              <p:cNvSpPr>
                <a:spLocks noChangeShapeType="1"/>
              </p:cNvSpPr>
              <p:nvPr/>
            </p:nvSpPr>
            <p:spPr bwMode="auto">
              <a:xfrm flipH="1">
                <a:off x="1638141" y="1656270"/>
                <a:ext cx="947995" cy="2530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8"/>
              <p:cNvSpPr>
                <a:spLocks noChangeShapeType="1"/>
              </p:cNvSpPr>
              <p:nvPr/>
            </p:nvSpPr>
            <p:spPr bwMode="auto">
              <a:xfrm flipH="1">
                <a:off x="2658440" y="1101262"/>
                <a:ext cx="956029" cy="55360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8" name="Picture 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93961" y="824458"/>
                <a:ext cx="345456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" name="Text Box 9"/>
              <p:cNvSpPr txBox="1">
                <a:spLocks noChangeArrowheads="1"/>
              </p:cNvSpPr>
              <p:nvPr/>
            </p:nvSpPr>
            <p:spPr bwMode="auto">
              <a:xfrm>
                <a:off x="2171247" y="91222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128.1.2.193</a:t>
                </a:r>
              </a:p>
            </p:txBody>
          </p:sp>
          <p:sp>
            <p:nvSpPr>
              <p:cNvPr id="80" name="Text Box 23"/>
              <p:cNvSpPr txBox="1">
                <a:spLocks noChangeArrowheads="1"/>
              </p:cNvSpPr>
              <p:nvPr/>
            </p:nvSpPr>
            <p:spPr bwMode="auto">
              <a:xfrm>
                <a:off x="3839945" y="816458"/>
                <a:ext cx="1225389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81" name="Text Box 10"/>
              <p:cNvSpPr txBox="1">
                <a:spLocks noChangeArrowheads="1"/>
              </p:cNvSpPr>
              <p:nvPr/>
            </p:nvSpPr>
            <p:spPr bwMode="auto">
              <a:xfrm>
                <a:off x="616658" y="1099476"/>
                <a:ext cx="1674978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128.1.2.192/26</a:t>
                </a:r>
              </a:p>
            </p:txBody>
          </p:sp>
          <p:sp>
            <p:nvSpPr>
              <p:cNvPr id="82" name="Line 45"/>
              <p:cNvSpPr>
                <a:spLocks noChangeShapeType="1"/>
              </p:cNvSpPr>
              <p:nvPr/>
            </p:nvSpPr>
            <p:spPr bwMode="auto">
              <a:xfrm flipH="1" flipV="1">
                <a:off x="2294019" y="3312971"/>
                <a:ext cx="808348" cy="2236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41"/>
              <p:cNvSpPr>
                <a:spLocks noChangeShapeType="1"/>
              </p:cNvSpPr>
              <p:nvPr/>
            </p:nvSpPr>
            <p:spPr bwMode="auto">
              <a:xfrm flipH="1">
                <a:off x="4263353" y="2793929"/>
                <a:ext cx="1332012" cy="433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33"/>
              <p:cNvSpPr>
                <a:spLocks noChangeShapeType="1"/>
              </p:cNvSpPr>
              <p:nvPr/>
            </p:nvSpPr>
            <p:spPr bwMode="auto">
              <a:xfrm flipH="1">
                <a:off x="2051398" y="3354911"/>
                <a:ext cx="88372" cy="5228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Line 32"/>
              <p:cNvSpPr>
                <a:spLocks noChangeShapeType="1"/>
              </p:cNvSpPr>
              <p:nvPr/>
            </p:nvSpPr>
            <p:spPr bwMode="auto">
              <a:xfrm flipH="1">
                <a:off x="3297683" y="2900177"/>
                <a:ext cx="819453" cy="6696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21"/>
              <p:cNvSpPr>
                <a:spLocks noChangeShapeType="1"/>
              </p:cNvSpPr>
              <p:nvPr/>
            </p:nvSpPr>
            <p:spPr bwMode="auto">
              <a:xfrm>
                <a:off x="4207116" y="2371732"/>
                <a:ext cx="1607" cy="4627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7" name="Picture 2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4653" y="3753341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8" name="Picture 11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9621" y="1719179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5" name="Group 18"/>
              <p:cNvGrpSpPr>
                <a:grpSpLocks/>
              </p:cNvGrpSpPr>
              <p:nvPr/>
            </p:nvGrpSpPr>
            <p:grpSpPr bwMode="auto">
              <a:xfrm>
                <a:off x="3943605" y="2125684"/>
                <a:ext cx="531842" cy="303367"/>
                <a:chOff x="864" y="1824"/>
                <a:chExt cx="432" cy="288"/>
              </a:xfrm>
            </p:grpSpPr>
            <p:pic>
              <p:nvPicPr>
                <p:cNvPr id="126" name="Picture 3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7" name="Picture 12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90" name="Picture 13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2173" y="2589821"/>
                <a:ext cx="345456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1" name="Text Box 22"/>
              <p:cNvSpPr txBox="1">
                <a:spLocks noChangeArrowheads="1"/>
              </p:cNvSpPr>
              <p:nvPr/>
            </p:nvSpPr>
            <p:spPr bwMode="auto">
              <a:xfrm>
                <a:off x="2853215" y="2404897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128.1.2.130</a:t>
                </a:r>
              </a:p>
            </p:txBody>
          </p:sp>
          <p:sp>
            <p:nvSpPr>
              <p:cNvPr id="92" name="Text Box 24"/>
              <p:cNvSpPr txBox="1">
                <a:spLocks noChangeArrowheads="1"/>
              </p:cNvSpPr>
              <p:nvPr/>
            </p:nvSpPr>
            <p:spPr bwMode="auto">
              <a:xfrm>
                <a:off x="4108734" y="1835693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93" name="Text Box 26"/>
              <p:cNvSpPr txBox="1">
                <a:spLocks noChangeArrowheads="1"/>
              </p:cNvSpPr>
              <p:nvPr/>
            </p:nvSpPr>
            <p:spPr bwMode="auto">
              <a:xfrm>
                <a:off x="4178194" y="2368936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27"/>
              <p:cNvSpPr>
                <a:spLocks noChangeShapeType="1"/>
              </p:cNvSpPr>
              <p:nvPr/>
            </p:nvSpPr>
            <p:spPr bwMode="auto">
              <a:xfrm>
                <a:off x="4263353" y="2837267"/>
                <a:ext cx="1307911" cy="4627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" name="Group 28"/>
              <p:cNvGrpSpPr>
                <a:grpSpLocks/>
              </p:cNvGrpSpPr>
              <p:nvPr/>
            </p:nvGrpSpPr>
            <p:grpSpPr bwMode="auto">
              <a:xfrm>
                <a:off x="3032567" y="3427224"/>
                <a:ext cx="531841" cy="303366"/>
                <a:chOff x="864" y="1824"/>
                <a:chExt cx="432" cy="288"/>
              </a:xfrm>
            </p:grpSpPr>
            <p:pic>
              <p:nvPicPr>
                <p:cNvPr id="124" name="Picture 29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5" name="Picture 30"/>
                <p:cNvPicPr>
                  <a:picLocks noChangeArrowheads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96" name="Text Box 31"/>
              <p:cNvSpPr txBox="1">
                <a:spLocks noChangeArrowheads="1"/>
              </p:cNvSpPr>
              <p:nvPr/>
            </p:nvSpPr>
            <p:spPr bwMode="auto">
              <a:xfrm>
                <a:off x="3511384" y="3483144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97" name="Line 35"/>
              <p:cNvSpPr>
                <a:spLocks noChangeShapeType="1"/>
              </p:cNvSpPr>
              <p:nvPr/>
            </p:nvSpPr>
            <p:spPr bwMode="auto">
              <a:xfrm flipH="1">
                <a:off x="2147804" y="2732799"/>
                <a:ext cx="36955" cy="5801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98" name="Picture 1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9129" y="3034385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Text Box 37"/>
              <p:cNvSpPr txBox="1">
                <a:spLocks noChangeArrowheads="1"/>
              </p:cNvSpPr>
              <p:nvPr/>
            </p:nvSpPr>
            <p:spPr bwMode="auto">
              <a:xfrm>
                <a:off x="5909138" y="2500740"/>
                <a:ext cx="1749773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128.1.2.128/26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Text Box 39"/>
              <p:cNvSpPr txBox="1">
                <a:spLocks noChangeArrowheads="1"/>
              </p:cNvSpPr>
              <p:nvPr/>
            </p:nvSpPr>
            <p:spPr bwMode="auto">
              <a:xfrm>
                <a:off x="5888875" y="3027938"/>
                <a:ext cx="1435376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01" name="Text Box 40"/>
              <p:cNvSpPr txBox="1">
                <a:spLocks noChangeArrowheads="1"/>
              </p:cNvSpPr>
              <p:nvPr/>
            </p:nvSpPr>
            <p:spPr bwMode="auto">
              <a:xfrm>
                <a:off x="4856211" y="334497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128.1.2.132</a:t>
                </a:r>
              </a:p>
            </p:txBody>
          </p:sp>
          <p:sp>
            <p:nvSpPr>
              <p:cNvPr id="102" name="Text Box 42"/>
              <p:cNvSpPr txBox="1">
                <a:spLocks noChangeArrowheads="1"/>
              </p:cNvSpPr>
              <p:nvPr/>
            </p:nvSpPr>
            <p:spPr bwMode="auto">
              <a:xfrm>
                <a:off x="3269292" y="313659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Text Box 43"/>
              <p:cNvSpPr txBox="1">
                <a:spLocks noChangeArrowheads="1"/>
              </p:cNvSpPr>
              <p:nvPr/>
            </p:nvSpPr>
            <p:spPr bwMode="auto">
              <a:xfrm>
                <a:off x="2804933" y="315647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Text Box 44"/>
              <p:cNvSpPr txBox="1">
                <a:spLocks noChangeArrowheads="1"/>
              </p:cNvSpPr>
              <p:nvPr/>
            </p:nvSpPr>
            <p:spPr bwMode="auto">
              <a:xfrm>
                <a:off x="3533879" y="321752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128.1.2.131</a:t>
                </a:r>
              </a:p>
            </p:txBody>
          </p:sp>
          <p:pic>
            <p:nvPicPr>
              <p:cNvPr id="105" name="Picture 34"/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9263" y="2489547"/>
                <a:ext cx="347062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Text Box 46"/>
              <p:cNvSpPr txBox="1">
                <a:spLocks noChangeArrowheads="1"/>
              </p:cNvSpPr>
              <p:nvPr/>
            </p:nvSpPr>
            <p:spPr bwMode="auto">
              <a:xfrm>
                <a:off x="1508068" y="3842425"/>
                <a:ext cx="39097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07" name="Text Box 48"/>
              <p:cNvSpPr txBox="1">
                <a:spLocks noChangeArrowheads="1"/>
              </p:cNvSpPr>
              <p:nvPr/>
            </p:nvSpPr>
            <p:spPr bwMode="auto">
              <a:xfrm>
                <a:off x="2285477" y="3692457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128.1.2.65</a:t>
                </a:r>
              </a:p>
            </p:txBody>
          </p:sp>
          <p:sp>
            <p:nvSpPr>
              <p:cNvPr id="108" name="Text Box 38"/>
              <p:cNvSpPr txBox="1">
                <a:spLocks noChangeArrowheads="1"/>
              </p:cNvSpPr>
              <p:nvPr/>
            </p:nvSpPr>
            <p:spPr bwMode="auto">
              <a:xfrm>
                <a:off x="380176" y="2585387"/>
                <a:ext cx="1548741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128.1.2.64/26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Text Box 47"/>
              <p:cNvSpPr txBox="1">
                <a:spLocks noChangeArrowheads="1"/>
              </p:cNvSpPr>
              <p:nvPr/>
            </p:nvSpPr>
            <p:spPr bwMode="auto">
              <a:xfrm>
                <a:off x="783205" y="3498904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128.1.2.68</a:t>
                </a:r>
              </a:p>
            </p:txBody>
          </p:sp>
          <p:sp>
            <p:nvSpPr>
              <p:cNvPr id="110" name="椭圆 67"/>
              <p:cNvSpPr>
                <a:spLocks noChangeArrowheads="1"/>
              </p:cNvSpPr>
              <p:nvPr/>
            </p:nvSpPr>
            <p:spPr bwMode="auto">
              <a:xfrm>
                <a:off x="2872438" y="3447105"/>
                <a:ext cx="72305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椭圆 68"/>
              <p:cNvSpPr>
                <a:spLocks noChangeArrowheads="1"/>
              </p:cNvSpPr>
              <p:nvPr/>
            </p:nvSpPr>
            <p:spPr bwMode="auto">
              <a:xfrm>
                <a:off x="5415407" y="3222106"/>
                <a:ext cx="73911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椭圆 69"/>
              <p:cNvSpPr>
                <a:spLocks noChangeArrowheads="1"/>
              </p:cNvSpPr>
              <p:nvPr/>
            </p:nvSpPr>
            <p:spPr bwMode="auto">
              <a:xfrm>
                <a:off x="3540306" y="3316782"/>
                <a:ext cx="73911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椭圆 70"/>
              <p:cNvSpPr>
                <a:spLocks noChangeArrowheads="1"/>
              </p:cNvSpPr>
              <p:nvPr/>
            </p:nvSpPr>
            <p:spPr bwMode="auto">
              <a:xfrm>
                <a:off x="2046577" y="3633113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椭圆 71"/>
              <p:cNvSpPr>
                <a:spLocks noChangeArrowheads="1"/>
              </p:cNvSpPr>
              <p:nvPr/>
            </p:nvSpPr>
            <p:spPr bwMode="auto">
              <a:xfrm>
                <a:off x="4163733" y="2501747"/>
                <a:ext cx="73911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椭圆 72"/>
              <p:cNvSpPr>
                <a:spLocks noChangeArrowheads="1"/>
              </p:cNvSpPr>
              <p:nvPr/>
            </p:nvSpPr>
            <p:spPr bwMode="auto">
              <a:xfrm>
                <a:off x="3792649" y="2084212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椭圆 73"/>
              <p:cNvSpPr>
                <a:spLocks noChangeArrowheads="1"/>
              </p:cNvSpPr>
              <p:nvPr/>
            </p:nvSpPr>
            <p:spPr bwMode="auto">
              <a:xfrm>
                <a:off x="3418443" y="1171162"/>
                <a:ext cx="72304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Text Box 10"/>
              <p:cNvSpPr txBox="1">
                <a:spLocks noChangeArrowheads="1"/>
              </p:cNvSpPr>
              <p:nvPr/>
            </p:nvSpPr>
            <p:spPr bwMode="auto">
              <a:xfrm>
                <a:off x="1323351" y="861428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Text Box 37"/>
              <p:cNvSpPr txBox="1">
                <a:spLocks noChangeArrowheads="1"/>
              </p:cNvSpPr>
              <p:nvPr/>
            </p:nvSpPr>
            <p:spPr bwMode="auto">
              <a:xfrm>
                <a:off x="6571928" y="2245549"/>
                <a:ext cx="570405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</a:p>
            </p:txBody>
          </p:sp>
          <p:sp>
            <p:nvSpPr>
              <p:cNvPr id="119" name="Text Box 38"/>
              <p:cNvSpPr txBox="1">
                <a:spLocks noChangeArrowheads="1"/>
              </p:cNvSpPr>
              <p:nvPr/>
            </p:nvSpPr>
            <p:spPr bwMode="auto">
              <a:xfrm>
                <a:off x="908984" y="2317359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23" name="Text Box 98"/>
              <p:cNvSpPr txBox="1">
                <a:spLocks noChangeArrowheads="1"/>
              </p:cNvSpPr>
              <p:nvPr/>
            </p:nvSpPr>
            <p:spPr bwMode="auto">
              <a:xfrm>
                <a:off x="6138447" y="884729"/>
                <a:ext cx="1464584" cy="2847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1867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的部分转发表</a:t>
                </a:r>
                <a:endParaRPr lang="zh-CN" altLang="en-US" sz="1867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29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7487" y="315983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2705" y="2689821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" name="Picture 58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4672" y="150706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Text Box 155"/>
          <p:cNvSpPr txBox="1">
            <a:spLocks noChangeArrowheads="1"/>
          </p:cNvSpPr>
          <p:nvPr/>
        </p:nvSpPr>
        <p:spPr bwMode="auto">
          <a:xfrm>
            <a:off x="1595236" y="792135"/>
            <a:ext cx="9153600" cy="428259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1219170"/>
            <a:r>
              <a:rPr lang="zh-CN" altLang="en-US" sz="2133" dirty="0">
                <a:solidFill>
                  <a:prstClr val="white"/>
                </a:solidFill>
              </a:rPr>
              <a:t>路由器 </a:t>
            </a:r>
            <a:r>
              <a:rPr lang="en-US" altLang="zh-CN" sz="2133" dirty="0">
                <a:solidFill>
                  <a:prstClr val="white"/>
                </a:solidFill>
              </a:rPr>
              <a:t>R</a:t>
            </a:r>
            <a:r>
              <a:rPr lang="en-US" altLang="zh-CN" sz="2133" baseline="-25000" dirty="0">
                <a:solidFill>
                  <a:prstClr val="white"/>
                </a:solidFill>
              </a:rPr>
              <a:t>1</a:t>
            </a:r>
            <a:r>
              <a:rPr lang="en-US" altLang="zh-CN" sz="2133" dirty="0">
                <a:solidFill>
                  <a:prstClr val="white"/>
                </a:solidFill>
              </a:rPr>
              <a:t> </a:t>
            </a:r>
            <a:r>
              <a:rPr lang="zh-CN" altLang="en-US" sz="2133" dirty="0">
                <a:solidFill>
                  <a:prstClr val="white"/>
                </a:solidFill>
              </a:rPr>
              <a:t>收到分组后查找转发表。先检查第 </a:t>
            </a:r>
            <a:r>
              <a:rPr lang="en-US" altLang="zh-CN" sz="2133" dirty="0">
                <a:solidFill>
                  <a:prstClr val="white"/>
                </a:solidFill>
              </a:rPr>
              <a:t>1 </a:t>
            </a:r>
            <a:r>
              <a:rPr lang="zh-CN" altLang="en-US" sz="2133" dirty="0">
                <a:solidFill>
                  <a:prstClr val="white"/>
                </a:solidFill>
              </a:rPr>
              <a:t>行。 </a:t>
            </a:r>
          </a:p>
        </p:txBody>
      </p:sp>
      <p:sp>
        <p:nvSpPr>
          <p:cNvPr id="128" name="AutoShape 63"/>
          <p:cNvSpPr>
            <a:spLocks noChangeArrowheads="1"/>
          </p:cNvSpPr>
          <p:nvPr/>
        </p:nvSpPr>
        <p:spPr bwMode="auto">
          <a:xfrm>
            <a:off x="6730448" y="2057685"/>
            <a:ext cx="729717" cy="189823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srgbClr val="CC00CC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2" name="Text Box 155"/>
          <p:cNvSpPr txBox="1">
            <a:spLocks noChangeArrowheads="1"/>
          </p:cNvSpPr>
          <p:nvPr/>
        </p:nvSpPr>
        <p:spPr bwMode="auto">
          <a:xfrm>
            <a:off x="1595240" y="5778133"/>
            <a:ext cx="9152275" cy="47025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1219170">
              <a:lnSpc>
                <a:spcPct val="110000"/>
              </a:lnSpc>
            </a:pPr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128.1.2.196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AND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255.255.255.0 = 128.1.2.0     </a:t>
            </a:r>
            <a:r>
              <a:rPr lang="zh-CN" altLang="en-US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匹配</a:t>
            </a:r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3150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28" grpId="1" animBg="1"/>
      <p:bldP spid="12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66"/>
          <p:cNvSpPr/>
          <p:nvPr/>
        </p:nvSpPr>
        <p:spPr>
          <a:xfrm>
            <a:off x="459701" y="844967"/>
            <a:ext cx="11292587" cy="497218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aphicFrame>
        <p:nvGraphicFramePr>
          <p:cNvPr id="68" name="Group 125"/>
          <p:cNvGraphicFramePr>
            <a:graphicFrameLocks noGrp="1"/>
          </p:cNvGraphicFramePr>
          <p:nvPr/>
        </p:nvGraphicFramePr>
        <p:xfrm>
          <a:off x="7392477" y="1578994"/>
          <a:ext cx="3720232" cy="1923423"/>
        </p:xfrm>
        <a:graphic>
          <a:graphicData uri="http://schemas.openxmlformats.org/drawingml/2006/table">
            <a:tbl>
              <a:tblPr/>
              <a:tblGrid>
                <a:gridCol w="205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前缀匹配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下一跳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128.1.2.0/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128.1.2.128/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128.1.2.192/26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1" lang="en-US" altLang="zh-CN" sz="19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1" name="Text Box 155"/>
          <p:cNvSpPr txBox="1">
            <a:spLocks noChangeArrowheads="1"/>
          </p:cNvSpPr>
          <p:nvPr/>
        </p:nvSpPr>
        <p:spPr bwMode="auto">
          <a:xfrm>
            <a:off x="1595237" y="5778133"/>
            <a:ext cx="9153599" cy="47025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1219170">
              <a:lnSpc>
                <a:spcPct val="110000"/>
              </a:lnSpc>
            </a:pPr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128.1.2.196 </a:t>
            </a:r>
            <a:r>
              <a:rPr lang="en-US" altLang="zh-CN" sz="2400" b="1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AND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255.255.255.128 = 128.1.2.128     </a:t>
            </a:r>
            <a:r>
              <a:rPr lang="zh-CN" altLang="en-US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匹配</a:t>
            </a:r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!</a:t>
            </a:r>
          </a:p>
        </p:txBody>
      </p:sp>
      <p:sp>
        <p:nvSpPr>
          <p:cNvPr id="57" name="Line 66"/>
          <p:cNvSpPr>
            <a:spLocks noChangeShapeType="1"/>
          </p:cNvSpPr>
          <p:nvPr/>
        </p:nvSpPr>
        <p:spPr bwMode="auto">
          <a:xfrm>
            <a:off x="7516873" y="2592039"/>
            <a:ext cx="18170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0" name="椭圆 119"/>
          <p:cNvSpPr/>
          <p:nvPr/>
        </p:nvSpPr>
        <p:spPr bwMode="auto">
          <a:xfrm rot="20475920">
            <a:off x="1389373" y="1213499"/>
            <a:ext cx="4468964" cy="1336491"/>
          </a:xfrm>
          <a:prstGeom prst="ellipse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219170">
              <a:defRPr/>
            </a:pPr>
            <a:endParaRPr lang="zh-CN" altLang="en-US" sz="2133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06901" y="1088611"/>
            <a:ext cx="9704980" cy="4587664"/>
            <a:chOff x="380176" y="816458"/>
            <a:chExt cx="7278735" cy="3440748"/>
          </a:xfrm>
        </p:grpSpPr>
        <p:grpSp>
          <p:nvGrpSpPr>
            <p:cNvPr id="4" name="组合 68"/>
            <p:cNvGrpSpPr/>
            <p:nvPr/>
          </p:nvGrpSpPr>
          <p:grpSpPr>
            <a:xfrm>
              <a:off x="380176" y="816458"/>
              <a:ext cx="7278735" cy="3440748"/>
              <a:chOff x="380176" y="816458"/>
              <a:chExt cx="7278735" cy="3440748"/>
            </a:xfrm>
          </p:grpSpPr>
          <p:sp>
            <p:nvSpPr>
              <p:cNvPr id="70" name="直角三角形 69"/>
              <p:cNvSpPr/>
              <p:nvPr/>
            </p:nvSpPr>
            <p:spPr>
              <a:xfrm rot="16200000">
                <a:off x="4357107" y="1079129"/>
                <a:ext cx="1089992" cy="1274054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shade val="30000"/>
                      <a:satMod val="115000"/>
                    </a:schemeClr>
                  </a:gs>
                  <a:gs pos="50000">
                    <a:schemeClr val="bg1">
                      <a:lumMod val="8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85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 bwMode="auto">
              <a:xfrm>
                <a:off x="3607791" y="2535299"/>
                <a:ext cx="3716460" cy="1197252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 bwMode="auto">
              <a:xfrm rot="16200000">
                <a:off x="883716" y="2425929"/>
                <a:ext cx="1925637" cy="1736917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Text Box 20"/>
              <p:cNvSpPr txBox="1">
                <a:spLocks noChangeArrowheads="1"/>
              </p:cNvSpPr>
              <p:nvPr/>
            </p:nvSpPr>
            <p:spPr bwMode="auto">
              <a:xfrm>
                <a:off x="2456408" y="203983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128.1.2.194</a:t>
                </a:r>
              </a:p>
            </p:txBody>
          </p:sp>
          <p:sp>
            <p:nvSpPr>
              <p:cNvPr id="74" name="Text Box 25"/>
              <p:cNvSpPr txBox="1">
                <a:spLocks noChangeArrowheads="1"/>
              </p:cNvSpPr>
              <p:nvPr/>
            </p:nvSpPr>
            <p:spPr bwMode="auto">
              <a:xfrm>
                <a:off x="3732139" y="1824581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19"/>
              <p:cNvSpPr>
                <a:spLocks noChangeShapeType="1"/>
              </p:cNvSpPr>
              <p:nvPr/>
            </p:nvSpPr>
            <p:spPr bwMode="auto">
              <a:xfrm>
                <a:off x="2775735" y="1678638"/>
                <a:ext cx="1301162" cy="55733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16"/>
              <p:cNvSpPr>
                <a:spLocks noChangeShapeType="1"/>
              </p:cNvSpPr>
              <p:nvPr/>
            </p:nvSpPr>
            <p:spPr bwMode="auto">
              <a:xfrm flipH="1">
                <a:off x="1638141" y="1656270"/>
                <a:ext cx="947995" cy="2530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8"/>
              <p:cNvSpPr>
                <a:spLocks noChangeShapeType="1"/>
              </p:cNvSpPr>
              <p:nvPr/>
            </p:nvSpPr>
            <p:spPr bwMode="auto">
              <a:xfrm flipH="1">
                <a:off x="2658440" y="1101262"/>
                <a:ext cx="956029" cy="55360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8" name="Picture 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93961" y="824458"/>
                <a:ext cx="345456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" name="Text Box 9"/>
              <p:cNvSpPr txBox="1">
                <a:spLocks noChangeArrowheads="1"/>
              </p:cNvSpPr>
              <p:nvPr/>
            </p:nvSpPr>
            <p:spPr bwMode="auto">
              <a:xfrm>
                <a:off x="2171247" y="91222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128.1.2.193</a:t>
                </a:r>
              </a:p>
            </p:txBody>
          </p:sp>
          <p:sp>
            <p:nvSpPr>
              <p:cNvPr id="80" name="Text Box 23"/>
              <p:cNvSpPr txBox="1">
                <a:spLocks noChangeArrowheads="1"/>
              </p:cNvSpPr>
              <p:nvPr/>
            </p:nvSpPr>
            <p:spPr bwMode="auto">
              <a:xfrm>
                <a:off x="3839945" y="816458"/>
                <a:ext cx="1225389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81" name="Text Box 10"/>
              <p:cNvSpPr txBox="1">
                <a:spLocks noChangeArrowheads="1"/>
              </p:cNvSpPr>
              <p:nvPr/>
            </p:nvSpPr>
            <p:spPr bwMode="auto">
              <a:xfrm>
                <a:off x="616658" y="1099476"/>
                <a:ext cx="1674978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128.1.2.192/26</a:t>
                </a:r>
              </a:p>
            </p:txBody>
          </p:sp>
          <p:sp>
            <p:nvSpPr>
              <p:cNvPr id="82" name="Line 45"/>
              <p:cNvSpPr>
                <a:spLocks noChangeShapeType="1"/>
              </p:cNvSpPr>
              <p:nvPr/>
            </p:nvSpPr>
            <p:spPr bwMode="auto">
              <a:xfrm flipH="1" flipV="1">
                <a:off x="2294019" y="3312971"/>
                <a:ext cx="808348" cy="2236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41"/>
              <p:cNvSpPr>
                <a:spLocks noChangeShapeType="1"/>
              </p:cNvSpPr>
              <p:nvPr/>
            </p:nvSpPr>
            <p:spPr bwMode="auto">
              <a:xfrm flipH="1">
                <a:off x="4263353" y="2793929"/>
                <a:ext cx="1332012" cy="433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33"/>
              <p:cNvSpPr>
                <a:spLocks noChangeShapeType="1"/>
              </p:cNvSpPr>
              <p:nvPr/>
            </p:nvSpPr>
            <p:spPr bwMode="auto">
              <a:xfrm flipH="1">
                <a:off x="2051398" y="3354911"/>
                <a:ext cx="88372" cy="5228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Line 32"/>
              <p:cNvSpPr>
                <a:spLocks noChangeShapeType="1"/>
              </p:cNvSpPr>
              <p:nvPr/>
            </p:nvSpPr>
            <p:spPr bwMode="auto">
              <a:xfrm flipH="1">
                <a:off x="3297683" y="2900177"/>
                <a:ext cx="819453" cy="6696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21"/>
              <p:cNvSpPr>
                <a:spLocks noChangeShapeType="1"/>
              </p:cNvSpPr>
              <p:nvPr/>
            </p:nvSpPr>
            <p:spPr bwMode="auto">
              <a:xfrm>
                <a:off x="4207116" y="2371732"/>
                <a:ext cx="1607" cy="4627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7" name="Picture 2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4653" y="3753341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8" name="Picture 11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9621" y="1719179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5" name="Group 18"/>
              <p:cNvGrpSpPr>
                <a:grpSpLocks/>
              </p:cNvGrpSpPr>
              <p:nvPr/>
            </p:nvGrpSpPr>
            <p:grpSpPr bwMode="auto">
              <a:xfrm>
                <a:off x="3943605" y="2125684"/>
                <a:ext cx="531842" cy="303367"/>
                <a:chOff x="864" y="1824"/>
                <a:chExt cx="432" cy="288"/>
              </a:xfrm>
            </p:grpSpPr>
            <p:pic>
              <p:nvPicPr>
                <p:cNvPr id="126" name="Picture 3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7" name="Picture 12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90" name="Picture 13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2173" y="2589821"/>
                <a:ext cx="345456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1" name="Text Box 22"/>
              <p:cNvSpPr txBox="1">
                <a:spLocks noChangeArrowheads="1"/>
              </p:cNvSpPr>
              <p:nvPr/>
            </p:nvSpPr>
            <p:spPr bwMode="auto">
              <a:xfrm>
                <a:off x="2853215" y="2404897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128.1.2.130</a:t>
                </a:r>
              </a:p>
            </p:txBody>
          </p:sp>
          <p:sp>
            <p:nvSpPr>
              <p:cNvPr id="92" name="Text Box 24"/>
              <p:cNvSpPr txBox="1">
                <a:spLocks noChangeArrowheads="1"/>
              </p:cNvSpPr>
              <p:nvPr/>
            </p:nvSpPr>
            <p:spPr bwMode="auto">
              <a:xfrm>
                <a:off x="4108734" y="1835693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93" name="Text Box 26"/>
              <p:cNvSpPr txBox="1">
                <a:spLocks noChangeArrowheads="1"/>
              </p:cNvSpPr>
              <p:nvPr/>
            </p:nvSpPr>
            <p:spPr bwMode="auto">
              <a:xfrm>
                <a:off x="4178194" y="2368936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27"/>
              <p:cNvSpPr>
                <a:spLocks noChangeShapeType="1"/>
              </p:cNvSpPr>
              <p:nvPr/>
            </p:nvSpPr>
            <p:spPr bwMode="auto">
              <a:xfrm>
                <a:off x="4263353" y="2837267"/>
                <a:ext cx="1307911" cy="4627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" name="Group 28"/>
              <p:cNvGrpSpPr>
                <a:grpSpLocks/>
              </p:cNvGrpSpPr>
              <p:nvPr/>
            </p:nvGrpSpPr>
            <p:grpSpPr bwMode="auto">
              <a:xfrm>
                <a:off x="3032567" y="3427224"/>
                <a:ext cx="531841" cy="303366"/>
                <a:chOff x="864" y="1824"/>
                <a:chExt cx="432" cy="288"/>
              </a:xfrm>
            </p:grpSpPr>
            <p:pic>
              <p:nvPicPr>
                <p:cNvPr id="124" name="Picture 29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5" name="Picture 30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96" name="Text Box 31"/>
              <p:cNvSpPr txBox="1">
                <a:spLocks noChangeArrowheads="1"/>
              </p:cNvSpPr>
              <p:nvPr/>
            </p:nvSpPr>
            <p:spPr bwMode="auto">
              <a:xfrm>
                <a:off x="3511384" y="3483144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97" name="Line 35"/>
              <p:cNvSpPr>
                <a:spLocks noChangeShapeType="1"/>
              </p:cNvSpPr>
              <p:nvPr/>
            </p:nvSpPr>
            <p:spPr bwMode="auto">
              <a:xfrm flipH="1">
                <a:off x="2147804" y="2732799"/>
                <a:ext cx="36955" cy="5801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98" name="Picture 1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9129" y="3034385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Text Box 37"/>
              <p:cNvSpPr txBox="1">
                <a:spLocks noChangeArrowheads="1"/>
              </p:cNvSpPr>
              <p:nvPr/>
            </p:nvSpPr>
            <p:spPr bwMode="auto">
              <a:xfrm>
                <a:off x="5909138" y="2500740"/>
                <a:ext cx="1749773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128.1.2.128/26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Text Box 39"/>
              <p:cNvSpPr txBox="1">
                <a:spLocks noChangeArrowheads="1"/>
              </p:cNvSpPr>
              <p:nvPr/>
            </p:nvSpPr>
            <p:spPr bwMode="auto">
              <a:xfrm>
                <a:off x="5888875" y="3027938"/>
                <a:ext cx="1435376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01" name="Text Box 40"/>
              <p:cNvSpPr txBox="1">
                <a:spLocks noChangeArrowheads="1"/>
              </p:cNvSpPr>
              <p:nvPr/>
            </p:nvSpPr>
            <p:spPr bwMode="auto">
              <a:xfrm>
                <a:off x="4856211" y="334497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128.1.2.132</a:t>
                </a:r>
              </a:p>
            </p:txBody>
          </p:sp>
          <p:sp>
            <p:nvSpPr>
              <p:cNvPr id="102" name="Text Box 42"/>
              <p:cNvSpPr txBox="1">
                <a:spLocks noChangeArrowheads="1"/>
              </p:cNvSpPr>
              <p:nvPr/>
            </p:nvSpPr>
            <p:spPr bwMode="auto">
              <a:xfrm>
                <a:off x="3269292" y="313659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Text Box 43"/>
              <p:cNvSpPr txBox="1">
                <a:spLocks noChangeArrowheads="1"/>
              </p:cNvSpPr>
              <p:nvPr/>
            </p:nvSpPr>
            <p:spPr bwMode="auto">
              <a:xfrm>
                <a:off x="2804933" y="315647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Text Box 44"/>
              <p:cNvSpPr txBox="1">
                <a:spLocks noChangeArrowheads="1"/>
              </p:cNvSpPr>
              <p:nvPr/>
            </p:nvSpPr>
            <p:spPr bwMode="auto">
              <a:xfrm>
                <a:off x="3533879" y="321752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128.1.2.131</a:t>
                </a:r>
              </a:p>
            </p:txBody>
          </p:sp>
          <p:pic>
            <p:nvPicPr>
              <p:cNvPr id="105" name="Picture 3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9263" y="2489547"/>
                <a:ext cx="347062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Text Box 46"/>
              <p:cNvSpPr txBox="1">
                <a:spLocks noChangeArrowheads="1"/>
              </p:cNvSpPr>
              <p:nvPr/>
            </p:nvSpPr>
            <p:spPr bwMode="auto">
              <a:xfrm>
                <a:off x="1508068" y="3842425"/>
                <a:ext cx="39097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07" name="Text Box 48"/>
              <p:cNvSpPr txBox="1">
                <a:spLocks noChangeArrowheads="1"/>
              </p:cNvSpPr>
              <p:nvPr/>
            </p:nvSpPr>
            <p:spPr bwMode="auto">
              <a:xfrm>
                <a:off x="2285477" y="3692457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128.1.2.65</a:t>
                </a:r>
              </a:p>
            </p:txBody>
          </p:sp>
          <p:sp>
            <p:nvSpPr>
              <p:cNvPr id="108" name="Text Box 38"/>
              <p:cNvSpPr txBox="1">
                <a:spLocks noChangeArrowheads="1"/>
              </p:cNvSpPr>
              <p:nvPr/>
            </p:nvSpPr>
            <p:spPr bwMode="auto">
              <a:xfrm>
                <a:off x="380176" y="2585387"/>
                <a:ext cx="1548741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128.1.2.64/26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Text Box 47"/>
              <p:cNvSpPr txBox="1">
                <a:spLocks noChangeArrowheads="1"/>
              </p:cNvSpPr>
              <p:nvPr/>
            </p:nvSpPr>
            <p:spPr bwMode="auto">
              <a:xfrm>
                <a:off x="783205" y="3498904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128.1.2.68</a:t>
                </a:r>
              </a:p>
            </p:txBody>
          </p:sp>
          <p:sp>
            <p:nvSpPr>
              <p:cNvPr id="110" name="椭圆 67"/>
              <p:cNvSpPr>
                <a:spLocks noChangeArrowheads="1"/>
              </p:cNvSpPr>
              <p:nvPr/>
            </p:nvSpPr>
            <p:spPr bwMode="auto">
              <a:xfrm>
                <a:off x="2872438" y="3447105"/>
                <a:ext cx="72305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椭圆 68"/>
              <p:cNvSpPr>
                <a:spLocks noChangeArrowheads="1"/>
              </p:cNvSpPr>
              <p:nvPr/>
            </p:nvSpPr>
            <p:spPr bwMode="auto">
              <a:xfrm>
                <a:off x="5415407" y="3222106"/>
                <a:ext cx="73911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椭圆 69"/>
              <p:cNvSpPr>
                <a:spLocks noChangeArrowheads="1"/>
              </p:cNvSpPr>
              <p:nvPr/>
            </p:nvSpPr>
            <p:spPr bwMode="auto">
              <a:xfrm>
                <a:off x="3540306" y="3316782"/>
                <a:ext cx="73911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椭圆 70"/>
              <p:cNvSpPr>
                <a:spLocks noChangeArrowheads="1"/>
              </p:cNvSpPr>
              <p:nvPr/>
            </p:nvSpPr>
            <p:spPr bwMode="auto">
              <a:xfrm>
                <a:off x="2046577" y="3633113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椭圆 71"/>
              <p:cNvSpPr>
                <a:spLocks noChangeArrowheads="1"/>
              </p:cNvSpPr>
              <p:nvPr/>
            </p:nvSpPr>
            <p:spPr bwMode="auto">
              <a:xfrm>
                <a:off x="4163733" y="2501747"/>
                <a:ext cx="73911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椭圆 72"/>
              <p:cNvSpPr>
                <a:spLocks noChangeArrowheads="1"/>
              </p:cNvSpPr>
              <p:nvPr/>
            </p:nvSpPr>
            <p:spPr bwMode="auto">
              <a:xfrm>
                <a:off x="3792649" y="2084212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椭圆 73"/>
              <p:cNvSpPr>
                <a:spLocks noChangeArrowheads="1"/>
              </p:cNvSpPr>
              <p:nvPr/>
            </p:nvSpPr>
            <p:spPr bwMode="auto">
              <a:xfrm>
                <a:off x="3418443" y="1171162"/>
                <a:ext cx="72304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Text Box 10"/>
              <p:cNvSpPr txBox="1">
                <a:spLocks noChangeArrowheads="1"/>
              </p:cNvSpPr>
              <p:nvPr/>
            </p:nvSpPr>
            <p:spPr bwMode="auto">
              <a:xfrm>
                <a:off x="1323351" y="861428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Text Box 37"/>
              <p:cNvSpPr txBox="1">
                <a:spLocks noChangeArrowheads="1"/>
              </p:cNvSpPr>
              <p:nvPr/>
            </p:nvSpPr>
            <p:spPr bwMode="auto">
              <a:xfrm>
                <a:off x="6571928" y="2245549"/>
                <a:ext cx="570405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</a:p>
            </p:txBody>
          </p:sp>
          <p:sp>
            <p:nvSpPr>
              <p:cNvPr id="119" name="Text Box 38"/>
              <p:cNvSpPr txBox="1">
                <a:spLocks noChangeArrowheads="1"/>
              </p:cNvSpPr>
              <p:nvPr/>
            </p:nvSpPr>
            <p:spPr bwMode="auto">
              <a:xfrm>
                <a:off x="908984" y="2317359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23" name="Text Box 98"/>
              <p:cNvSpPr txBox="1">
                <a:spLocks noChangeArrowheads="1"/>
              </p:cNvSpPr>
              <p:nvPr/>
            </p:nvSpPr>
            <p:spPr bwMode="auto">
              <a:xfrm>
                <a:off x="6138447" y="884729"/>
                <a:ext cx="1464584" cy="2847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1867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的部分转发表</a:t>
                </a:r>
                <a:endParaRPr lang="zh-CN" altLang="en-US" sz="1867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28" name="Picture 5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7487" y="315983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9" name="Picture 5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2705" y="2689821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5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4672" y="150706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Text Box 155"/>
          <p:cNvSpPr txBox="1">
            <a:spLocks noChangeArrowheads="1"/>
          </p:cNvSpPr>
          <p:nvPr/>
        </p:nvSpPr>
        <p:spPr bwMode="auto">
          <a:xfrm>
            <a:off x="1595236" y="792135"/>
            <a:ext cx="9153600" cy="428259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1219170"/>
            <a:r>
              <a:rPr lang="zh-CN" altLang="en-US" sz="2133" dirty="0">
                <a:solidFill>
                  <a:prstClr val="white"/>
                </a:solidFill>
              </a:rPr>
              <a:t>路由器 </a:t>
            </a:r>
            <a:r>
              <a:rPr lang="en-US" altLang="zh-CN" sz="2133" dirty="0">
                <a:solidFill>
                  <a:prstClr val="white"/>
                </a:solidFill>
              </a:rPr>
              <a:t>R</a:t>
            </a:r>
            <a:r>
              <a:rPr lang="en-US" altLang="zh-CN" sz="2133" baseline="-25000" dirty="0">
                <a:solidFill>
                  <a:prstClr val="white"/>
                </a:solidFill>
              </a:rPr>
              <a:t>1</a:t>
            </a:r>
            <a:r>
              <a:rPr lang="en-US" altLang="zh-CN" sz="2133" dirty="0">
                <a:solidFill>
                  <a:prstClr val="white"/>
                </a:solidFill>
              </a:rPr>
              <a:t> </a:t>
            </a:r>
            <a:r>
              <a:rPr lang="zh-CN" altLang="en-US" sz="2133" dirty="0">
                <a:solidFill>
                  <a:prstClr val="white"/>
                </a:solidFill>
              </a:rPr>
              <a:t>收到分组后查找转发表。接着检查第 </a:t>
            </a:r>
            <a:r>
              <a:rPr lang="en-US" altLang="zh-CN" sz="2133" dirty="0">
                <a:solidFill>
                  <a:prstClr val="white"/>
                </a:solidFill>
              </a:rPr>
              <a:t>2 </a:t>
            </a:r>
            <a:r>
              <a:rPr lang="zh-CN" altLang="en-US" sz="2133" dirty="0">
                <a:solidFill>
                  <a:prstClr val="white"/>
                </a:solidFill>
              </a:rPr>
              <a:t>行。 </a:t>
            </a:r>
          </a:p>
        </p:txBody>
      </p:sp>
      <p:sp>
        <p:nvSpPr>
          <p:cNvPr id="66" name="AutoShape 63"/>
          <p:cNvSpPr>
            <a:spLocks noChangeArrowheads="1"/>
          </p:cNvSpPr>
          <p:nvPr/>
        </p:nvSpPr>
        <p:spPr bwMode="auto">
          <a:xfrm>
            <a:off x="6730447" y="2375610"/>
            <a:ext cx="730039" cy="191685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srgbClr val="CC00CC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638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66" grpId="0" animBg="1"/>
      <p:bldP spid="6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圆角矩形 66"/>
          <p:cNvSpPr/>
          <p:nvPr/>
        </p:nvSpPr>
        <p:spPr>
          <a:xfrm>
            <a:off x="459701" y="844967"/>
            <a:ext cx="11292587" cy="4972189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aphicFrame>
        <p:nvGraphicFramePr>
          <p:cNvPr id="68" name="Group 125"/>
          <p:cNvGraphicFramePr>
            <a:graphicFrameLocks noGrp="1"/>
          </p:cNvGraphicFramePr>
          <p:nvPr/>
        </p:nvGraphicFramePr>
        <p:xfrm>
          <a:off x="7392477" y="1578994"/>
          <a:ext cx="3720232" cy="1435732"/>
        </p:xfrm>
        <a:graphic>
          <a:graphicData uri="http://schemas.openxmlformats.org/drawingml/2006/table">
            <a:tbl>
              <a:tblPr/>
              <a:tblGrid>
                <a:gridCol w="2057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前缀匹配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下一跳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30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128.1.2.0/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128.1.2.128/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128.1.2.192/26</a:t>
                      </a:r>
                    </a:p>
                  </a:txBody>
                  <a:tcPr marL="121908" marR="121908" marT="60973" marB="609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</a:t>
                      </a:r>
                      <a:r>
                        <a:rPr kumimoji="1" lang="en-US" altLang="zh-CN" sz="19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直接，接口 </a:t>
                      </a:r>
                      <a:r>
                        <a:rPr kumimoji="1" lang="en-US" altLang="zh-CN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</a:p>
                  </a:txBody>
                  <a:tcPr marL="121908" marR="121908" marT="60973" marB="6097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Line 66"/>
          <p:cNvSpPr>
            <a:spLocks noChangeShapeType="1"/>
          </p:cNvSpPr>
          <p:nvPr/>
        </p:nvSpPr>
        <p:spPr bwMode="auto">
          <a:xfrm>
            <a:off x="7516873" y="2891839"/>
            <a:ext cx="181700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0" name="椭圆 119"/>
          <p:cNvSpPr/>
          <p:nvPr/>
        </p:nvSpPr>
        <p:spPr bwMode="auto">
          <a:xfrm rot="20475920">
            <a:off x="1389373" y="1213499"/>
            <a:ext cx="4468964" cy="1336491"/>
          </a:xfrm>
          <a:prstGeom prst="ellipse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219170">
              <a:defRPr/>
            </a:pPr>
            <a:endParaRPr lang="zh-CN" altLang="en-US" sz="2133" b="1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06901" y="1088611"/>
            <a:ext cx="9704980" cy="4587664"/>
            <a:chOff x="380176" y="816458"/>
            <a:chExt cx="7278735" cy="3440748"/>
          </a:xfrm>
        </p:grpSpPr>
        <p:grpSp>
          <p:nvGrpSpPr>
            <p:cNvPr id="4" name="组合 68"/>
            <p:cNvGrpSpPr/>
            <p:nvPr/>
          </p:nvGrpSpPr>
          <p:grpSpPr>
            <a:xfrm>
              <a:off x="380176" y="816458"/>
              <a:ext cx="7278735" cy="3440748"/>
              <a:chOff x="380176" y="816458"/>
              <a:chExt cx="7278735" cy="3440748"/>
            </a:xfrm>
          </p:grpSpPr>
          <p:sp>
            <p:nvSpPr>
              <p:cNvPr id="70" name="直角三角形 69"/>
              <p:cNvSpPr/>
              <p:nvPr/>
            </p:nvSpPr>
            <p:spPr>
              <a:xfrm rot="16200000">
                <a:off x="4357107" y="1079129"/>
                <a:ext cx="1089992" cy="1274054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bg1">
                      <a:lumMod val="85000"/>
                      <a:shade val="30000"/>
                      <a:satMod val="115000"/>
                    </a:schemeClr>
                  </a:gs>
                  <a:gs pos="50000">
                    <a:schemeClr val="bg1">
                      <a:lumMod val="8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85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1219170"/>
                <a:endParaRPr lang="zh-CN" altLang="en-US" sz="240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 bwMode="auto">
              <a:xfrm>
                <a:off x="3607791" y="2535299"/>
                <a:ext cx="3716460" cy="1197252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 bwMode="auto">
              <a:xfrm rot="16200000">
                <a:off x="883716" y="2425929"/>
                <a:ext cx="1925637" cy="1736917"/>
              </a:xfrm>
              <a:prstGeom prst="ellipse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1219170">
                  <a:defRPr/>
                </a:pPr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Text Box 20"/>
              <p:cNvSpPr txBox="1">
                <a:spLocks noChangeArrowheads="1"/>
              </p:cNvSpPr>
              <p:nvPr/>
            </p:nvSpPr>
            <p:spPr bwMode="auto">
              <a:xfrm>
                <a:off x="2456408" y="203983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128.1.2.194</a:t>
                </a:r>
              </a:p>
            </p:txBody>
          </p:sp>
          <p:sp>
            <p:nvSpPr>
              <p:cNvPr id="74" name="Text Box 25"/>
              <p:cNvSpPr txBox="1">
                <a:spLocks noChangeArrowheads="1"/>
              </p:cNvSpPr>
              <p:nvPr/>
            </p:nvSpPr>
            <p:spPr bwMode="auto">
              <a:xfrm>
                <a:off x="3732139" y="1824581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19"/>
              <p:cNvSpPr>
                <a:spLocks noChangeShapeType="1"/>
              </p:cNvSpPr>
              <p:nvPr/>
            </p:nvSpPr>
            <p:spPr bwMode="auto">
              <a:xfrm>
                <a:off x="2775735" y="1678638"/>
                <a:ext cx="1301162" cy="55733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6" name="Line 16"/>
              <p:cNvSpPr>
                <a:spLocks noChangeShapeType="1"/>
              </p:cNvSpPr>
              <p:nvPr/>
            </p:nvSpPr>
            <p:spPr bwMode="auto">
              <a:xfrm flipH="1">
                <a:off x="1638141" y="1656270"/>
                <a:ext cx="947995" cy="2530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Line 8"/>
              <p:cNvSpPr>
                <a:spLocks noChangeShapeType="1"/>
              </p:cNvSpPr>
              <p:nvPr/>
            </p:nvSpPr>
            <p:spPr bwMode="auto">
              <a:xfrm flipH="1">
                <a:off x="2658440" y="1101262"/>
                <a:ext cx="956029" cy="55360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78" name="Picture 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93961" y="824458"/>
                <a:ext cx="345456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" name="Text Box 9"/>
              <p:cNvSpPr txBox="1">
                <a:spLocks noChangeArrowheads="1"/>
              </p:cNvSpPr>
              <p:nvPr/>
            </p:nvSpPr>
            <p:spPr bwMode="auto">
              <a:xfrm>
                <a:off x="2171247" y="91222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128.1.2.193</a:t>
                </a:r>
              </a:p>
            </p:txBody>
          </p:sp>
          <p:sp>
            <p:nvSpPr>
              <p:cNvPr id="80" name="Text Box 23"/>
              <p:cNvSpPr txBox="1">
                <a:spLocks noChangeArrowheads="1"/>
              </p:cNvSpPr>
              <p:nvPr/>
            </p:nvSpPr>
            <p:spPr bwMode="auto">
              <a:xfrm>
                <a:off x="3839945" y="816458"/>
                <a:ext cx="1225389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81" name="Text Box 10"/>
              <p:cNvSpPr txBox="1">
                <a:spLocks noChangeArrowheads="1"/>
              </p:cNvSpPr>
              <p:nvPr/>
            </p:nvSpPr>
            <p:spPr bwMode="auto">
              <a:xfrm>
                <a:off x="616658" y="1099476"/>
                <a:ext cx="1674978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128.1.2.192/26</a:t>
                </a:r>
              </a:p>
            </p:txBody>
          </p:sp>
          <p:sp>
            <p:nvSpPr>
              <p:cNvPr id="82" name="Line 45"/>
              <p:cNvSpPr>
                <a:spLocks noChangeShapeType="1"/>
              </p:cNvSpPr>
              <p:nvPr/>
            </p:nvSpPr>
            <p:spPr bwMode="auto">
              <a:xfrm flipH="1" flipV="1">
                <a:off x="2294019" y="3312971"/>
                <a:ext cx="808348" cy="2236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Line 41"/>
              <p:cNvSpPr>
                <a:spLocks noChangeShapeType="1"/>
              </p:cNvSpPr>
              <p:nvPr/>
            </p:nvSpPr>
            <p:spPr bwMode="auto">
              <a:xfrm flipH="1">
                <a:off x="4263353" y="2793929"/>
                <a:ext cx="1332012" cy="433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4" name="Line 33"/>
              <p:cNvSpPr>
                <a:spLocks noChangeShapeType="1"/>
              </p:cNvSpPr>
              <p:nvPr/>
            </p:nvSpPr>
            <p:spPr bwMode="auto">
              <a:xfrm flipH="1">
                <a:off x="2051398" y="3354911"/>
                <a:ext cx="88372" cy="52285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5" name="Line 32"/>
              <p:cNvSpPr>
                <a:spLocks noChangeShapeType="1"/>
              </p:cNvSpPr>
              <p:nvPr/>
            </p:nvSpPr>
            <p:spPr bwMode="auto">
              <a:xfrm flipH="1">
                <a:off x="3297683" y="2900177"/>
                <a:ext cx="819453" cy="66964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6" name="Line 21"/>
              <p:cNvSpPr>
                <a:spLocks noChangeShapeType="1"/>
              </p:cNvSpPr>
              <p:nvPr/>
            </p:nvSpPr>
            <p:spPr bwMode="auto">
              <a:xfrm>
                <a:off x="4207116" y="2371732"/>
                <a:ext cx="1607" cy="46273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87" name="Picture 2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4653" y="3753341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8" name="Picture 11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9621" y="1719179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5" name="Group 18"/>
              <p:cNvGrpSpPr>
                <a:grpSpLocks/>
              </p:cNvGrpSpPr>
              <p:nvPr/>
            </p:nvGrpSpPr>
            <p:grpSpPr bwMode="auto">
              <a:xfrm>
                <a:off x="3943605" y="2125684"/>
                <a:ext cx="531842" cy="303367"/>
                <a:chOff x="864" y="1824"/>
                <a:chExt cx="432" cy="288"/>
              </a:xfrm>
            </p:grpSpPr>
            <p:pic>
              <p:nvPicPr>
                <p:cNvPr id="126" name="Picture 3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7" name="Picture 12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pic>
            <p:nvPicPr>
              <p:cNvPr id="90" name="Picture 13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02173" y="2589821"/>
                <a:ext cx="345456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1" name="Text Box 22"/>
              <p:cNvSpPr txBox="1">
                <a:spLocks noChangeArrowheads="1"/>
              </p:cNvSpPr>
              <p:nvPr/>
            </p:nvSpPr>
            <p:spPr bwMode="auto">
              <a:xfrm>
                <a:off x="2853215" y="2404897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128.1.2.130</a:t>
                </a:r>
              </a:p>
            </p:txBody>
          </p:sp>
          <p:sp>
            <p:nvSpPr>
              <p:cNvPr id="92" name="Text Box 24"/>
              <p:cNvSpPr txBox="1">
                <a:spLocks noChangeArrowheads="1"/>
              </p:cNvSpPr>
              <p:nvPr/>
            </p:nvSpPr>
            <p:spPr bwMode="auto">
              <a:xfrm>
                <a:off x="4108734" y="1835693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sp>
            <p:nvSpPr>
              <p:cNvPr id="93" name="Text Box 26"/>
              <p:cNvSpPr txBox="1">
                <a:spLocks noChangeArrowheads="1"/>
              </p:cNvSpPr>
              <p:nvPr/>
            </p:nvSpPr>
            <p:spPr bwMode="auto">
              <a:xfrm>
                <a:off x="4178194" y="2368936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4" name="Line 27"/>
              <p:cNvSpPr>
                <a:spLocks noChangeShapeType="1"/>
              </p:cNvSpPr>
              <p:nvPr/>
            </p:nvSpPr>
            <p:spPr bwMode="auto">
              <a:xfrm>
                <a:off x="4263353" y="2837267"/>
                <a:ext cx="1307911" cy="46273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6" name="Group 28"/>
              <p:cNvGrpSpPr>
                <a:grpSpLocks/>
              </p:cNvGrpSpPr>
              <p:nvPr/>
            </p:nvGrpSpPr>
            <p:grpSpPr bwMode="auto">
              <a:xfrm>
                <a:off x="3032567" y="3427224"/>
                <a:ext cx="531841" cy="303366"/>
                <a:chOff x="864" y="1824"/>
                <a:chExt cx="432" cy="288"/>
              </a:xfrm>
            </p:grpSpPr>
            <p:pic>
              <p:nvPicPr>
                <p:cNvPr id="124" name="Picture 29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25" name="Picture 30"/>
                <p:cNvPicPr>
                  <a:picLocks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4" y="1824"/>
                  <a:ext cx="43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699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96" name="Text Box 31"/>
              <p:cNvSpPr txBox="1">
                <a:spLocks noChangeArrowheads="1"/>
              </p:cNvSpPr>
              <p:nvPr/>
            </p:nvSpPr>
            <p:spPr bwMode="auto">
              <a:xfrm>
                <a:off x="3511384" y="3483144"/>
                <a:ext cx="36572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2133" b="1" baseline="-25000" dirty="0">
                    <a:solidFill>
                      <a:srgbClr val="CC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97" name="Line 35"/>
              <p:cNvSpPr>
                <a:spLocks noChangeShapeType="1"/>
              </p:cNvSpPr>
              <p:nvPr/>
            </p:nvSpPr>
            <p:spPr bwMode="auto">
              <a:xfrm flipH="1">
                <a:off x="2147804" y="2732799"/>
                <a:ext cx="36955" cy="5801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1219170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98" name="Picture 1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39129" y="3034385"/>
                <a:ext cx="345455" cy="3103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9" name="Text Box 37"/>
              <p:cNvSpPr txBox="1">
                <a:spLocks noChangeArrowheads="1"/>
              </p:cNvSpPr>
              <p:nvPr/>
            </p:nvSpPr>
            <p:spPr bwMode="auto">
              <a:xfrm>
                <a:off x="5909138" y="2500740"/>
                <a:ext cx="1749773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128.1.2.128/26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" name="Text Box 39"/>
              <p:cNvSpPr txBox="1">
                <a:spLocks noChangeArrowheads="1"/>
              </p:cNvSpPr>
              <p:nvPr/>
            </p:nvSpPr>
            <p:spPr bwMode="auto">
              <a:xfrm>
                <a:off x="5888875" y="3027938"/>
                <a:ext cx="1435376" cy="315423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目的主机 </a:t>
                </a:r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</a:p>
            </p:txBody>
          </p:sp>
          <p:sp>
            <p:nvSpPr>
              <p:cNvPr id="101" name="Text Box 40"/>
              <p:cNvSpPr txBox="1">
                <a:spLocks noChangeArrowheads="1"/>
              </p:cNvSpPr>
              <p:nvPr/>
            </p:nvSpPr>
            <p:spPr bwMode="auto">
              <a:xfrm>
                <a:off x="4856211" y="3344975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128.1.2.132</a:t>
                </a:r>
              </a:p>
            </p:txBody>
          </p:sp>
          <p:sp>
            <p:nvSpPr>
              <p:cNvPr id="102" name="Text Box 42"/>
              <p:cNvSpPr txBox="1">
                <a:spLocks noChangeArrowheads="1"/>
              </p:cNvSpPr>
              <p:nvPr/>
            </p:nvSpPr>
            <p:spPr bwMode="auto">
              <a:xfrm>
                <a:off x="3269292" y="313659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Text Box 43"/>
              <p:cNvSpPr txBox="1">
                <a:spLocks noChangeArrowheads="1"/>
              </p:cNvSpPr>
              <p:nvPr/>
            </p:nvSpPr>
            <p:spPr bwMode="auto">
              <a:xfrm>
                <a:off x="2804933" y="3156474"/>
                <a:ext cx="264737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4" name="Text Box 44"/>
              <p:cNvSpPr txBox="1">
                <a:spLocks noChangeArrowheads="1"/>
              </p:cNvSpPr>
              <p:nvPr/>
            </p:nvSpPr>
            <p:spPr bwMode="auto">
              <a:xfrm>
                <a:off x="3533879" y="3217524"/>
                <a:ext cx="132512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128.1.2.131</a:t>
                </a:r>
              </a:p>
            </p:txBody>
          </p:sp>
          <p:pic>
            <p:nvPicPr>
              <p:cNvPr id="105" name="Picture 34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19263" y="2489547"/>
                <a:ext cx="347062" cy="3117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Text Box 46"/>
              <p:cNvSpPr txBox="1">
                <a:spLocks noChangeArrowheads="1"/>
              </p:cNvSpPr>
              <p:nvPr/>
            </p:nvSpPr>
            <p:spPr bwMode="auto">
              <a:xfrm>
                <a:off x="1508068" y="3842425"/>
                <a:ext cx="390973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07" name="Text Box 48"/>
              <p:cNvSpPr txBox="1">
                <a:spLocks noChangeArrowheads="1"/>
              </p:cNvSpPr>
              <p:nvPr/>
            </p:nvSpPr>
            <p:spPr bwMode="auto">
              <a:xfrm>
                <a:off x="2285477" y="3692457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128.1.2.65</a:t>
                </a:r>
              </a:p>
            </p:txBody>
          </p:sp>
          <p:sp>
            <p:nvSpPr>
              <p:cNvPr id="108" name="Text Box 38"/>
              <p:cNvSpPr txBox="1">
                <a:spLocks noChangeArrowheads="1"/>
              </p:cNvSpPr>
              <p:nvPr/>
            </p:nvSpPr>
            <p:spPr bwMode="auto">
              <a:xfrm>
                <a:off x="380176" y="2585387"/>
                <a:ext cx="1548741" cy="5615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defTabSz="1219170" eaLnBrk="1" hangingPunct="1"/>
                <a:r>
                  <a:rPr lang="zh-CN" altLang="en-US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子网前缀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128.1.2.64/26</a:t>
                </a:r>
                <a:endParaRPr lang="en-US" altLang="zh-CN" sz="2133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Text Box 47"/>
              <p:cNvSpPr txBox="1">
                <a:spLocks noChangeArrowheads="1"/>
              </p:cNvSpPr>
              <p:nvPr/>
            </p:nvSpPr>
            <p:spPr bwMode="auto">
              <a:xfrm>
                <a:off x="783205" y="3498904"/>
                <a:ext cx="1198886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128.1.2.68</a:t>
                </a:r>
              </a:p>
            </p:txBody>
          </p:sp>
          <p:sp>
            <p:nvSpPr>
              <p:cNvPr id="110" name="椭圆 67"/>
              <p:cNvSpPr>
                <a:spLocks noChangeArrowheads="1"/>
              </p:cNvSpPr>
              <p:nvPr/>
            </p:nvSpPr>
            <p:spPr bwMode="auto">
              <a:xfrm>
                <a:off x="2872438" y="3447105"/>
                <a:ext cx="72305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椭圆 68"/>
              <p:cNvSpPr>
                <a:spLocks noChangeArrowheads="1"/>
              </p:cNvSpPr>
              <p:nvPr/>
            </p:nvSpPr>
            <p:spPr bwMode="auto">
              <a:xfrm>
                <a:off x="5415407" y="3222106"/>
                <a:ext cx="73911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椭圆 69"/>
              <p:cNvSpPr>
                <a:spLocks noChangeArrowheads="1"/>
              </p:cNvSpPr>
              <p:nvPr/>
            </p:nvSpPr>
            <p:spPr bwMode="auto">
              <a:xfrm>
                <a:off x="3540306" y="3316782"/>
                <a:ext cx="73911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椭圆 70"/>
              <p:cNvSpPr>
                <a:spLocks noChangeArrowheads="1"/>
              </p:cNvSpPr>
              <p:nvPr/>
            </p:nvSpPr>
            <p:spPr bwMode="auto">
              <a:xfrm>
                <a:off x="2046577" y="3633113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椭圆 71"/>
              <p:cNvSpPr>
                <a:spLocks noChangeArrowheads="1"/>
              </p:cNvSpPr>
              <p:nvPr/>
            </p:nvSpPr>
            <p:spPr bwMode="auto">
              <a:xfrm>
                <a:off x="4163733" y="2501747"/>
                <a:ext cx="73911" cy="62910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椭圆 72"/>
              <p:cNvSpPr>
                <a:spLocks noChangeArrowheads="1"/>
              </p:cNvSpPr>
              <p:nvPr/>
            </p:nvSpPr>
            <p:spPr bwMode="auto">
              <a:xfrm>
                <a:off x="3792649" y="2084212"/>
                <a:ext cx="72305" cy="62911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椭圆 73"/>
              <p:cNvSpPr>
                <a:spLocks noChangeArrowheads="1"/>
              </p:cNvSpPr>
              <p:nvPr/>
            </p:nvSpPr>
            <p:spPr bwMode="auto">
              <a:xfrm>
                <a:off x="3418443" y="1171162"/>
                <a:ext cx="72304" cy="64308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endParaRPr lang="zh-CN" altLang="en-US" sz="2133" b="1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Text Box 10"/>
              <p:cNvSpPr txBox="1">
                <a:spLocks noChangeArrowheads="1"/>
              </p:cNvSpPr>
              <p:nvPr/>
            </p:nvSpPr>
            <p:spPr bwMode="auto">
              <a:xfrm>
                <a:off x="1323351" y="861428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endParaRPr lang="en-US" altLang="zh-CN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Text Box 37"/>
              <p:cNvSpPr txBox="1">
                <a:spLocks noChangeArrowheads="1"/>
              </p:cNvSpPr>
              <p:nvPr/>
            </p:nvSpPr>
            <p:spPr bwMode="auto">
              <a:xfrm>
                <a:off x="6571928" y="2245549"/>
                <a:ext cx="570405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</a:p>
            </p:txBody>
          </p:sp>
          <p:sp>
            <p:nvSpPr>
              <p:cNvPr id="119" name="Text Box 38"/>
              <p:cNvSpPr txBox="1">
                <a:spLocks noChangeArrowheads="1"/>
              </p:cNvSpPr>
              <p:nvPr/>
            </p:nvSpPr>
            <p:spPr bwMode="auto">
              <a:xfrm>
                <a:off x="908984" y="2317359"/>
                <a:ext cx="396984" cy="3154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2133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en-US" altLang="zh-CN" sz="2133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sp>
            <p:nvSpPr>
              <p:cNvPr id="123" name="Text Box 98"/>
              <p:cNvSpPr txBox="1">
                <a:spLocks noChangeArrowheads="1"/>
              </p:cNvSpPr>
              <p:nvPr/>
            </p:nvSpPr>
            <p:spPr bwMode="auto">
              <a:xfrm>
                <a:off x="6138447" y="884729"/>
                <a:ext cx="1464584" cy="2847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defTabSz="1219170" eaLnBrk="1" hangingPunct="1"/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en-US" altLang="zh-CN" sz="1867" b="1" baseline="-25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867" b="1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的部分转发表</a:t>
                </a:r>
                <a:endParaRPr lang="zh-CN" altLang="en-US" sz="1867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29" name="Picture 5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7487" y="315983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0" name="Picture 5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2705" y="2689821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1" name="Picture 58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4672" y="1507068"/>
              <a:ext cx="58102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6" name="AutoShape 63"/>
          <p:cNvSpPr>
            <a:spLocks noChangeArrowheads="1"/>
          </p:cNvSpPr>
          <p:nvPr/>
        </p:nvSpPr>
        <p:spPr bwMode="auto">
          <a:xfrm>
            <a:off x="6730448" y="2677271"/>
            <a:ext cx="729717" cy="189823"/>
          </a:xfrm>
          <a:prstGeom prst="rightArrow">
            <a:avLst>
              <a:gd name="adj1" fmla="val 50000"/>
              <a:gd name="adj2" fmla="val 66728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srgbClr val="CC00CC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" name="Text Box 155"/>
          <p:cNvSpPr txBox="1">
            <a:spLocks noChangeArrowheads="1"/>
          </p:cNvSpPr>
          <p:nvPr/>
        </p:nvSpPr>
        <p:spPr bwMode="auto">
          <a:xfrm>
            <a:off x="1595239" y="792135"/>
            <a:ext cx="9152275" cy="428259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10000"/>
              </a:lnSpc>
              <a:defRPr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defTabSz="1219170"/>
            <a:r>
              <a:rPr lang="zh-CN" altLang="en-US" sz="2133" dirty="0">
                <a:solidFill>
                  <a:prstClr val="white"/>
                </a:solidFill>
              </a:rPr>
              <a:t>路由器 </a:t>
            </a:r>
            <a:r>
              <a:rPr lang="en-US" altLang="zh-CN" sz="2133" dirty="0">
                <a:solidFill>
                  <a:prstClr val="white"/>
                </a:solidFill>
              </a:rPr>
              <a:t>R</a:t>
            </a:r>
            <a:r>
              <a:rPr lang="en-US" altLang="zh-CN" sz="2133" baseline="-25000" dirty="0">
                <a:solidFill>
                  <a:prstClr val="white"/>
                </a:solidFill>
              </a:rPr>
              <a:t>1</a:t>
            </a:r>
            <a:r>
              <a:rPr lang="en-US" altLang="zh-CN" sz="2133" dirty="0">
                <a:solidFill>
                  <a:prstClr val="white"/>
                </a:solidFill>
              </a:rPr>
              <a:t> </a:t>
            </a:r>
            <a:r>
              <a:rPr lang="zh-CN" altLang="en-US" sz="2133" dirty="0">
                <a:solidFill>
                  <a:prstClr val="white"/>
                </a:solidFill>
              </a:rPr>
              <a:t>收到分组后查找转发表。接着检查第 </a:t>
            </a:r>
            <a:r>
              <a:rPr lang="en-US" altLang="zh-CN" sz="2133" dirty="0">
                <a:solidFill>
                  <a:prstClr val="white"/>
                </a:solidFill>
              </a:rPr>
              <a:t>3 </a:t>
            </a:r>
            <a:r>
              <a:rPr lang="zh-CN" altLang="en-US" sz="2133" dirty="0">
                <a:solidFill>
                  <a:prstClr val="white"/>
                </a:solidFill>
              </a:rPr>
              <a:t>行。 </a:t>
            </a:r>
          </a:p>
        </p:txBody>
      </p:sp>
      <p:sp>
        <p:nvSpPr>
          <p:cNvPr id="121" name="Text Box 155"/>
          <p:cNvSpPr txBox="1">
            <a:spLocks noChangeArrowheads="1"/>
          </p:cNvSpPr>
          <p:nvPr/>
        </p:nvSpPr>
        <p:spPr bwMode="auto">
          <a:xfrm>
            <a:off x="1595238" y="5778133"/>
            <a:ext cx="9153599" cy="47025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1219170">
              <a:lnSpc>
                <a:spcPct val="110000"/>
              </a:lnSpc>
            </a:pPr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128.1.2.196 </a:t>
            </a:r>
            <a:r>
              <a:rPr lang="en-US" altLang="zh-CN" sz="2400" b="1" dirty="0">
                <a:solidFill>
                  <a:srgbClr val="000066"/>
                </a:solidFill>
                <a:latin typeface="微软雅黑" pitchFamily="34" charset="-122"/>
                <a:ea typeface="微软雅黑" pitchFamily="34" charset="-122"/>
              </a:rPr>
              <a:t>AND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 255.255.255.192 = 128.1.2.192     </a:t>
            </a:r>
            <a:r>
              <a:rPr lang="zh-CN" altLang="en-US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匹配</a:t>
            </a:r>
            <a:r>
              <a:rPr lang="en-US" altLang="zh-CN" sz="24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0640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726858" y="1386255"/>
            <a:ext cx="10738281" cy="596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问题：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667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从哪个接口向外转发分组？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59" y="815978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153805" y="761494"/>
            <a:ext cx="38843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4.3.2  </a:t>
            </a: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最长前缀匹配</a:t>
            </a:r>
          </a:p>
        </p:txBody>
      </p:sp>
      <p:grpSp>
        <p:nvGrpSpPr>
          <p:cNvPr id="5" name="组合 5"/>
          <p:cNvGrpSpPr/>
          <p:nvPr/>
        </p:nvGrpSpPr>
        <p:grpSpPr>
          <a:xfrm>
            <a:off x="2903509" y="2280701"/>
            <a:ext cx="6996980" cy="1703195"/>
            <a:chOff x="1524000" y="1321631"/>
            <a:chExt cx="6096000" cy="1277396"/>
          </a:xfrm>
        </p:grpSpPr>
        <p:sp>
          <p:nvSpPr>
            <p:cNvPr id="7" name="任意多边形 6"/>
            <p:cNvSpPr/>
            <p:nvPr/>
          </p:nvSpPr>
          <p:spPr>
            <a:xfrm>
              <a:off x="1524000" y="1321631"/>
              <a:ext cx="6096000" cy="439946"/>
            </a:xfrm>
            <a:custGeom>
              <a:avLst/>
              <a:gdLst>
                <a:gd name="connsiteX0" fmla="*/ 0 w 6096000"/>
                <a:gd name="connsiteY0" fmla="*/ 87784 h 526696"/>
                <a:gd name="connsiteX1" fmla="*/ 87784 w 6096000"/>
                <a:gd name="connsiteY1" fmla="*/ 0 h 526696"/>
                <a:gd name="connsiteX2" fmla="*/ 6008216 w 6096000"/>
                <a:gd name="connsiteY2" fmla="*/ 0 h 526696"/>
                <a:gd name="connsiteX3" fmla="*/ 6096000 w 6096000"/>
                <a:gd name="connsiteY3" fmla="*/ 87784 h 526696"/>
                <a:gd name="connsiteX4" fmla="*/ 6096000 w 6096000"/>
                <a:gd name="connsiteY4" fmla="*/ 438912 h 526696"/>
                <a:gd name="connsiteX5" fmla="*/ 6008216 w 6096000"/>
                <a:gd name="connsiteY5" fmla="*/ 526696 h 526696"/>
                <a:gd name="connsiteX6" fmla="*/ 87784 w 6096000"/>
                <a:gd name="connsiteY6" fmla="*/ 526696 h 526696"/>
                <a:gd name="connsiteX7" fmla="*/ 0 w 6096000"/>
                <a:gd name="connsiteY7" fmla="*/ 438912 h 526696"/>
                <a:gd name="connsiteX8" fmla="*/ 0 w 6096000"/>
                <a:gd name="connsiteY8" fmla="*/ 87784 h 52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526696">
                  <a:moveTo>
                    <a:pt x="0" y="87784"/>
                  </a:moveTo>
                  <a:cubicBezTo>
                    <a:pt x="0" y="39302"/>
                    <a:pt x="39302" y="0"/>
                    <a:pt x="87784" y="0"/>
                  </a:cubicBezTo>
                  <a:lnTo>
                    <a:pt x="6008216" y="0"/>
                  </a:lnTo>
                  <a:cubicBezTo>
                    <a:pt x="6056698" y="0"/>
                    <a:pt x="6096000" y="39302"/>
                    <a:pt x="6096000" y="87784"/>
                  </a:cubicBezTo>
                  <a:lnTo>
                    <a:pt x="6096000" y="438912"/>
                  </a:lnTo>
                  <a:cubicBezTo>
                    <a:pt x="6096000" y="487394"/>
                    <a:pt x="6056698" y="526696"/>
                    <a:pt x="6008216" y="526696"/>
                  </a:cubicBezTo>
                  <a:lnTo>
                    <a:pt x="87784" y="526696"/>
                  </a:lnTo>
                  <a:cubicBezTo>
                    <a:pt x="39302" y="526696"/>
                    <a:pt x="0" y="487394"/>
                    <a:pt x="0" y="438912"/>
                  </a:cubicBezTo>
                  <a:lnTo>
                    <a:pt x="0" y="87784"/>
                  </a:lnTo>
                  <a:close/>
                </a:path>
              </a:pathLst>
            </a:cu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21" tIns="125721" rIns="125721" bIns="125721" numCol="1" spcCol="1270" anchor="ctr" anchorCtr="0">
              <a:noAutofit/>
            </a:bodyPr>
            <a:lstStyle/>
            <a:p>
              <a:pPr defTabSz="1066773"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A. 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1524000" y="2159081"/>
              <a:ext cx="6096000" cy="439946"/>
            </a:xfrm>
            <a:custGeom>
              <a:avLst/>
              <a:gdLst>
                <a:gd name="connsiteX0" fmla="*/ 0 w 6096000"/>
                <a:gd name="connsiteY0" fmla="*/ 87784 h 526696"/>
                <a:gd name="connsiteX1" fmla="*/ 87784 w 6096000"/>
                <a:gd name="connsiteY1" fmla="*/ 0 h 526696"/>
                <a:gd name="connsiteX2" fmla="*/ 6008216 w 6096000"/>
                <a:gd name="connsiteY2" fmla="*/ 0 h 526696"/>
                <a:gd name="connsiteX3" fmla="*/ 6096000 w 6096000"/>
                <a:gd name="connsiteY3" fmla="*/ 87784 h 526696"/>
                <a:gd name="connsiteX4" fmla="*/ 6096000 w 6096000"/>
                <a:gd name="connsiteY4" fmla="*/ 438912 h 526696"/>
                <a:gd name="connsiteX5" fmla="*/ 6008216 w 6096000"/>
                <a:gd name="connsiteY5" fmla="*/ 526696 h 526696"/>
                <a:gd name="connsiteX6" fmla="*/ 87784 w 6096000"/>
                <a:gd name="connsiteY6" fmla="*/ 526696 h 526696"/>
                <a:gd name="connsiteX7" fmla="*/ 0 w 6096000"/>
                <a:gd name="connsiteY7" fmla="*/ 438912 h 526696"/>
                <a:gd name="connsiteX8" fmla="*/ 0 w 6096000"/>
                <a:gd name="connsiteY8" fmla="*/ 87784 h 52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96000" h="526696">
                  <a:moveTo>
                    <a:pt x="0" y="87784"/>
                  </a:moveTo>
                  <a:cubicBezTo>
                    <a:pt x="0" y="39302"/>
                    <a:pt x="39302" y="0"/>
                    <a:pt x="87784" y="0"/>
                  </a:cubicBezTo>
                  <a:lnTo>
                    <a:pt x="6008216" y="0"/>
                  </a:lnTo>
                  <a:cubicBezTo>
                    <a:pt x="6056698" y="0"/>
                    <a:pt x="6096000" y="39302"/>
                    <a:pt x="6096000" y="87784"/>
                  </a:cubicBezTo>
                  <a:lnTo>
                    <a:pt x="6096000" y="438912"/>
                  </a:lnTo>
                  <a:cubicBezTo>
                    <a:pt x="6096000" y="487394"/>
                    <a:pt x="6056698" y="526696"/>
                    <a:pt x="6008216" y="526696"/>
                  </a:cubicBezTo>
                  <a:lnTo>
                    <a:pt x="87784" y="526696"/>
                  </a:lnTo>
                  <a:cubicBezTo>
                    <a:pt x="39302" y="526696"/>
                    <a:pt x="0" y="487394"/>
                    <a:pt x="0" y="438912"/>
                  </a:cubicBezTo>
                  <a:lnTo>
                    <a:pt x="0" y="8778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9933876"/>
                <a:satOff val="39811"/>
                <a:lumOff val="8628"/>
                <a:alphaOff val="0"/>
              </a:schemeClr>
            </a:fillRef>
            <a:effectRef idx="0">
              <a:schemeClr val="accent5">
                <a:hueOff val="-9933876"/>
                <a:satOff val="39811"/>
                <a:lumOff val="8628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25721" tIns="125721" rIns="125721" bIns="125721" numCol="1" spcCol="1270" anchor="ctr" anchorCtr="0">
              <a:noAutofit/>
            </a:bodyPr>
            <a:lstStyle/>
            <a:p>
              <a:pPr defTabSz="1066773"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B. 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？</a:t>
              </a:r>
            </a:p>
          </p:txBody>
        </p:sp>
      </p:grpSp>
      <p:sp>
        <p:nvSpPr>
          <p:cNvPr id="9" name="任意多边形 8"/>
          <p:cNvSpPr/>
          <p:nvPr/>
        </p:nvSpPr>
        <p:spPr>
          <a:xfrm>
            <a:off x="5037109" y="2280701"/>
            <a:ext cx="4398440" cy="586595"/>
          </a:xfrm>
          <a:custGeom>
            <a:avLst/>
            <a:gdLst>
              <a:gd name="connsiteX0" fmla="*/ 0 w 6096000"/>
              <a:gd name="connsiteY0" fmla="*/ 0 h 817235"/>
              <a:gd name="connsiteX1" fmla="*/ 6096000 w 6096000"/>
              <a:gd name="connsiteY1" fmla="*/ 0 h 817235"/>
              <a:gd name="connsiteX2" fmla="*/ 6096000 w 6096000"/>
              <a:gd name="connsiteY2" fmla="*/ 817235 h 817235"/>
              <a:gd name="connsiteX3" fmla="*/ 0 w 6096000"/>
              <a:gd name="connsiteY3" fmla="*/ 817235 h 817235"/>
              <a:gd name="connsiteX4" fmla="*/ 0 w 6096000"/>
              <a:gd name="connsiteY4" fmla="*/ 0 h 817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817235">
                <a:moveTo>
                  <a:pt x="0" y="0"/>
                </a:moveTo>
                <a:lnTo>
                  <a:pt x="6096000" y="0"/>
                </a:lnTo>
                <a:lnTo>
                  <a:pt x="6096000" y="817235"/>
                </a:lnTo>
                <a:lnTo>
                  <a:pt x="0" y="81723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58064" tIns="30480" rIns="170688" bIns="30480" numCol="1" spcCol="1270" anchor="ctr" anchorCtr="0">
            <a:noAutofit/>
          </a:bodyPr>
          <a:lstStyle/>
          <a:p>
            <a:pPr marL="0" lvl="1" defTabSz="1066773">
              <a:spcBef>
                <a:spcPct val="0"/>
              </a:spcBef>
              <a:spcAft>
                <a:spcPts val="800"/>
              </a:spcAft>
            </a:pPr>
            <a:r>
              <a:rPr lang="zh-CN" altLang="en-US" sz="24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匹配的前缀最长 </a:t>
            </a:r>
            <a:endParaRPr lang="en-US" altLang="zh-CN" sz="24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9"/>
          <p:cNvGrpSpPr/>
          <p:nvPr/>
        </p:nvGrpSpPr>
        <p:grpSpPr>
          <a:xfrm>
            <a:off x="2264473" y="2303445"/>
            <a:ext cx="576819" cy="1680452"/>
            <a:chOff x="1044723" y="1338688"/>
            <a:chExt cx="432614" cy="1260339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4723" y="1338688"/>
              <a:ext cx="405830" cy="405832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4723" y="2159081"/>
              <a:ext cx="432614" cy="4399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52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/>
          <p:cNvSpPr>
            <a:spLocks noChangeArrowheads="1"/>
          </p:cNvSpPr>
          <p:nvPr/>
        </p:nvSpPr>
        <p:spPr bwMode="auto">
          <a:xfrm>
            <a:off x="726859" y="815978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153805" y="761494"/>
            <a:ext cx="38843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4.3.2  </a:t>
            </a: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最长前缀匹配</a:t>
            </a:r>
          </a:p>
        </p:txBody>
      </p:sp>
      <p:grpSp>
        <p:nvGrpSpPr>
          <p:cNvPr id="5" name="组合 5"/>
          <p:cNvGrpSpPr/>
          <p:nvPr/>
        </p:nvGrpSpPr>
        <p:grpSpPr>
          <a:xfrm>
            <a:off x="1402503" y="1459646"/>
            <a:ext cx="10490372" cy="1001625"/>
            <a:chOff x="515164" y="1127589"/>
            <a:chExt cx="7867779" cy="751219"/>
          </a:xfrm>
        </p:grpSpPr>
        <p:sp>
          <p:nvSpPr>
            <p:cNvPr id="20" name="矩形 19"/>
            <p:cNvSpPr/>
            <p:nvPr/>
          </p:nvSpPr>
          <p:spPr>
            <a:xfrm>
              <a:off x="3137152" y="1482161"/>
              <a:ext cx="4108334" cy="396647"/>
            </a:xfrm>
            <a:prstGeom prst="rect">
              <a:avLst/>
            </a:prstGeom>
            <a:solidFill>
              <a:srgbClr val="00B0F0"/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Box 11"/>
            <p:cNvSpPr txBox="1"/>
            <p:nvPr/>
          </p:nvSpPr>
          <p:spPr>
            <a:xfrm>
              <a:off x="515164" y="1127589"/>
              <a:ext cx="7867779" cy="7132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>
                <a:lnSpc>
                  <a:spcPts val="3467"/>
                </a:lnSpc>
              </a:pP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                     128      .         1       .         2       .      196</a:t>
              </a:r>
            </a:p>
            <a:p>
              <a:pPr defTabSz="1219170">
                <a:lnSpc>
                  <a:spcPts val="3467"/>
                </a:lnSpc>
              </a:pPr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目的主机 </a:t>
              </a:r>
              <a:r>
                <a:rPr lang="en-US" altLang="zh-CN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    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10000000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00000001  00000010  11000100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7"/>
          <p:cNvGrpSpPr/>
          <p:nvPr/>
        </p:nvGrpSpPr>
        <p:grpSpPr>
          <a:xfrm>
            <a:off x="437321" y="2566863"/>
            <a:ext cx="11237844" cy="2616101"/>
            <a:chOff x="327990" y="2133866"/>
            <a:chExt cx="8428383" cy="1962076"/>
          </a:xfrm>
        </p:grpSpPr>
        <p:sp>
          <p:nvSpPr>
            <p:cNvPr id="13" name="矩形 12"/>
            <p:cNvSpPr/>
            <p:nvPr/>
          </p:nvSpPr>
          <p:spPr>
            <a:xfrm>
              <a:off x="3687561" y="2849757"/>
              <a:ext cx="3975510" cy="531092"/>
            </a:xfrm>
            <a:prstGeom prst="rect">
              <a:avLst/>
            </a:prstGeom>
            <a:solidFill>
              <a:srgbClr val="00B0F0"/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b="1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91387" y="2177602"/>
              <a:ext cx="4110690" cy="531092"/>
            </a:xfrm>
            <a:prstGeom prst="rect">
              <a:avLst/>
            </a:prstGeom>
            <a:solidFill>
              <a:srgbClr val="00B0F0"/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b="1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687561" y="3514636"/>
              <a:ext cx="3717091" cy="531092"/>
            </a:xfrm>
            <a:prstGeom prst="rect">
              <a:avLst/>
            </a:prstGeom>
            <a:solidFill>
              <a:srgbClr val="00B0F0"/>
            </a:solidFill>
            <a:ln w="952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zh-CN" altLang="en-US" sz="2400" b="1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15" name="TextBox 11"/>
            <p:cNvSpPr txBox="1"/>
            <p:nvPr/>
          </p:nvSpPr>
          <p:spPr>
            <a:xfrm>
              <a:off x="327990" y="2133866"/>
              <a:ext cx="8428383" cy="19620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128.1.2.192/26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的最小地址    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10000000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00000001  00000010  11000000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1219170">
                <a:spcAft>
                  <a:spcPts val="1200"/>
                </a:spcAft>
              </a:pP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128.1.2.192/26</a:t>
              </a:r>
              <a:r>
                <a:rPr lang="en-US" altLang="zh-CN" sz="2400" b="1" baseline="-25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的最大地址</a:t>
              </a:r>
              <a:r>
                <a:rPr lang="zh-CN" altLang="en-US" sz="12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10000000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00000001  00000010  11111111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defTabSz="1219170"/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128.1.2.128/25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的最小地址</a:t>
              </a:r>
              <a:r>
                <a:rPr lang="zh-CN" altLang="en-US" sz="9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867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10000000  00000001  00000010  10000000</a:t>
              </a:r>
            </a:p>
            <a:p>
              <a:pPr defTabSz="1219170">
                <a:spcAft>
                  <a:spcPts val="1200"/>
                </a:spcAft>
              </a:pP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128.1.2.128/25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的最大地址</a:t>
              </a:r>
              <a:r>
                <a:rPr lang="zh-CN" altLang="en-US" sz="12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867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10000000  00000001  00000010  10111111</a:t>
              </a:r>
            </a:p>
            <a:p>
              <a:pPr defTabSz="1219170"/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128.1.2.0/24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的最小地址 </a:t>
              </a:r>
              <a:r>
                <a:rPr lang="en-US" altLang="zh-CN" sz="8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10000000  00000001  00000010  10000000</a:t>
              </a:r>
            </a:p>
            <a:p>
              <a:pPr defTabSz="1219170"/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128.1.2.0/24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的最大地址</a:t>
              </a:r>
              <a:r>
                <a:rPr lang="zh-CN" altLang="en-US" sz="12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133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10000000  00000001  00000010  10111111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345636" y="5438773"/>
            <a:ext cx="7871793" cy="584775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1219170"/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把前缀最长的排在转发表的第 </a:t>
            </a:r>
            <a:r>
              <a:rPr lang="en-US" altLang="zh-CN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行。</a:t>
            </a:r>
          </a:p>
        </p:txBody>
      </p:sp>
    </p:spTree>
    <p:extLst>
      <p:ext uri="{BB962C8B-B14F-4D97-AF65-F5344CB8AC3E}">
        <p14:creationId xmlns:p14="http://schemas.microsoft.com/office/powerpoint/2010/main" val="13892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742618" y="818956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929829" y="774675"/>
            <a:ext cx="4357283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转发表中的 </a:t>
            </a:r>
            <a:r>
              <a:rPr lang="en-US" altLang="zh-CN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2 </a:t>
            </a:r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种特殊的路由</a:t>
            </a:r>
          </a:p>
        </p:txBody>
      </p:sp>
      <p:sp>
        <p:nvSpPr>
          <p:cNvPr id="5" name="Rectangle 68"/>
          <p:cNvSpPr>
            <a:spLocks noChangeArrowheads="1"/>
          </p:cNvSpPr>
          <p:nvPr/>
        </p:nvSpPr>
        <p:spPr bwMode="auto">
          <a:xfrm>
            <a:off x="742618" y="1308697"/>
            <a:ext cx="10930325" cy="425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10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57708" indent="-357708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主机路由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(host route) </a:t>
            </a:r>
          </a:p>
          <a:p>
            <a:pPr marL="797964" lvl="1" indent="-457189" defTabSz="1219170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又叫做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特定主机路由。</a:t>
            </a:r>
            <a:endParaRPr lang="en-US" altLang="zh-CN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797964" lvl="1" indent="-457189" defTabSz="1219170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是对特定目的主机的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地址专门指明的一个路由。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797964" lvl="1" indent="-457189" defTabSz="1219170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网络前缀就是 </a:t>
            </a:r>
            <a:r>
              <a:rPr lang="en-US" altLang="zh-CN" sz="2667" b="1" dirty="0" err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a.b.c.d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/32</a:t>
            </a:r>
          </a:p>
          <a:p>
            <a:pPr marL="797964" lvl="1" indent="-457189" defTabSz="1219170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放在转发表的</a:t>
            </a:r>
            <a:r>
              <a:rPr lang="zh-CN" altLang="en-US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最前面。</a:t>
            </a:r>
            <a:endParaRPr lang="en-US" altLang="zh-CN" sz="2667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357708" indent="-357708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默认路由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(default route)</a:t>
            </a:r>
          </a:p>
          <a:p>
            <a:pPr marL="797964" lvl="1" indent="-457189" defTabSz="1219170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不管分组的最终目的网络在哪里，都由指定的路由器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来处理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797964" lvl="1" indent="-457189" defTabSz="1219170">
              <a:lnSpc>
                <a:spcPts val="4000"/>
              </a:lnSpc>
              <a:buClr>
                <a:srgbClr val="7030A0"/>
              </a:buClr>
              <a:buSzPct val="75000"/>
              <a:buFont typeface="Wingdings" pitchFamily="2" charset="2"/>
              <a:buChar char="u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用特殊前缀 </a:t>
            </a:r>
            <a:r>
              <a:rPr lang="en-US" altLang="zh-CN" sz="26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0.0.0.0/0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表示。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827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42618" y="829287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991814" y="785005"/>
            <a:ext cx="2233304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默认路由举例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742618" y="1412738"/>
            <a:ext cx="10731701" cy="3041964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9" name="Line 4"/>
          <p:cNvSpPr>
            <a:spLocks noChangeShapeType="1"/>
          </p:cNvSpPr>
          <p:nvPr/>
        </p:nvSpPr>
        <p:spPr bwMode="auto">
          <a:xfrm flipV="1">
            <a:off x="6634155" y="1909482"/>
            <a:ext cx="604540" cy="30146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Line 5"/>
          <p:cNvSpPr>
            <a:spLocks noChangeShapeType="1"/>
          </p:cNvSpPr>
          <p:nvPr/>
        </p:nvSpPr>
        <p:spPr bwMode="auto">
          <a:xfrm flipV="1">
            <a:off x="6203332" y="2285354"/>
            <a:ext cx="346048" cy="30146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Line 6"/>
          <p:cNvSpPr>
            <a:spLocks noChangeShapeType="1"/>
          </p:cNvSpPr>
          <p:nvPr/>
        </p:nvSpPr>
        <p:spPr bwMode="auto">
          <a:xfrm flipV="1">
            <a:off x="6478504" y="2779249"/>
            <a:ext cx="990889" cy="1796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Line 7"/>
          <p:cNvSpPr>
            <a:spLocks noChangeShapeType="1"/>
          </p:cNvSpPr>
          <p:nvPr/>
        </p:nvSpPr>
        <p:spPr bwMode="auto">
          <a:xfrm flipH="1">
            <a:off x="5341690" y="2887007"/>
            <a:ext cx="516985" cy="52724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Line 8"/>
          <p:cNvSpPr>
            <a:spLocks noChangeShapeType="1"/>
          </p:cNvSpPr>
          <p:nvPr/>
        </p:nvSpPr>
        <p:spPr bwMode="auto">
          <a:xfrm>
            <a:off x="6203334" y="2961412"/>
            <a:ext cx="258492" cy="52724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Line 9"/>
          <p:cNvSpPr>
            <a:spLocks noChangeShapeType="1"/>
          </p:cNvSpPr>
          <p:nvPr/>
        </p:nvSpPr>
        <p:spPr bwMode="auto">
          <a:xfrm flipV="1">
            <a:off x="4995645" y="2812603"/>
            <a:ext cx="690703" cy="7440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5" name="Picture 29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873" y="2706127"/>
            <a:ext cx="450279" cy="22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76" name="Text Box 31"/>
          <p:cNvSpPr txBox="1">
            <a:spLocks noChangeArrowheads="1"/>
          </p:cNvSpPr>
          <p:nvPr/>
        </p:nvSpPr>
        <p:spPr bwMode="auto">
          <a:xfrm>
            <a:off x="6738587" y="2343023"/>
            <a:ext cx="449162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/>
            <a:r>
              <a:rPr lang="en-US" altLang="zh-CN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1867" b="1" baseline="-2500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graphicFrame>
        <p:nvGraphicFramePr>
          <p:cNvPr id="77" name="Object 32"/>
          <p:cNvGraphicFramePr>
            <a:graphicFrameLocks noChangeAspect="1"/>
          </p:cNvGraphicFramePr>
          <p:nvPr/>
        </p:nvGraphicFramePr>
        <p:xfrm>
          <a:off x="7411129" y="2173308"/>
          <a:ext cx="2672160" cy="158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689885" imgH="964337" progId="">
                  <p:embed/>
                </p:oleObj>
              </mc:Choice>
              <mc:Fallback>
                <p:oleObj name="Visio" r:id="rId3" imgW="1689885" imgH="964337" progId="">
                  <p:embed/>
                  <p:pic>
                    <p:nvPicPr>
                      <p:cNvPr id="77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1129" y="2173308"/>
                        <a:ext cx="2672160" cy="1586875"/>
                      </a:xfrm>
                      <a:prstGeom prst="rect">
                        <a:avLst/>
                      </a:prstGeom>
                      <a:noFill/>
                      <a:effectLst>
                        <a:outerShdw dist="25400" dir="54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33"/>
          <p:cNvSpPr txBox="1">
            <a:spLocks noChangeArrowheads="1"/>
          </p:cNvSpPr>
          <p:nvPr/>
        </p:nvSpPr>
        <p:spPr bwMode="auto">
          <a:xfrm>
            <a:off x="8225773" y="2694581"/>
            <a:ext cx="901209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/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互联网</a:t>
            </a:r>
            <a:endParaRPr lang="zh-CN" altLang="en-US" sz="1867" b="1" baseline="-250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 Box 40"/>
          <p:cNvSpPr txBox="1">
            <a:spLocks noChangeArrowheads="1"/>
          </p:cNvSpPr>
          <p:nvPr/>
        </p:nvSpPr>
        <p:spPr bwMode="auto">
          <a:xfrm>
            <a:off x="2480549" y="1873767"/>
            <a:ext cx="1378904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/>
            <a:r>
              <a:rPr lang="zh-CN" altLang="en-US" sz="18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主机路由表</a:t>
            </a:r>
            <a:endParaRPr lang="zh-CN" altLang="en-US" sz="1867" b="1" baseline="-25000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Freeform 41"/>
          <p:cNvSpPr>
            <a:spLocks/>
          </p:cNvSpPr>
          <p:nvPr/>
        </p:nvSpPr>
        <p:spPr bwMode="auto">
          <a:xfrm>
            <a:off x="4341107" y="2246869"/>
            <a:ext cx="557256" cy="1181497"/>
          </a:xfrm>
          <a:custGeom>
            <a:avLst/>
            <a:gdLst>
              <a:gd name="T0" fmla="*/ 4 w 368"/>
              <a:gd name="T1" fmla="*/ 0 h 524"/>
              <a:gd name="T2" fmla="*/ 368 w 368"/>
              <a:gd name="T3" fmla="*/ 256 h 524"/>
              <a:gd name="T4" fmla="*/ 367 w 368"/>
              <a:gd name="T5" fmla="*/ 277 h 524"/>
              <a:gd name="T6" fmla="*/ 0 w 368"/>
              <a:gd name="T7" fmla="*/ 524 h 524"/>
              <a:gd name="T8" fmla="*/ 4 w 368"/>
              <a:gd name="T9" fmla="*/ 0 h 5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8" h="524">
                <a:moveTo>
                  <a:pt x="4" y="0"/>
                </a:moveTo>
                <a:lnTo>
                  <a:pt x="368" y="256"/>
                </a:lnTo>
                <a:lnTo>
                  <a:pt x="367" y="277"/>
                </a:lnTo>
                <a:lnTo>
                  <a:pt x="0" y="524"/>
                </a:lnTo>
                <a:lnTo>
                  <a:pt x="4" y="0"/>
                </a:lnTo>
                <a:close/>
              </a:path>
            </a:pathLst>
          </a:custGeom>
          <a:gradFill>
            <a:gsLst>
              <a:gs pos="0">
                <a:srgbClr val="00FFFF"/>
              </a:gs>
              <a:gs pos="100000">
                <a:srgbClr val="0000CC"/>
              </a:gs>
            </a:gsLst>
            <a:lin ang="0" scaled="0"/>
          </a:gradFill>
          <a:ln>
            <a:noFill/>
          </a:ln>
          <a:effectLst/>
        </p:spPr>
        <p:txBody>
          <a:bodyPr/>
          <a:lstStyle/>
          <a:p>
            <a:pPr defTabSz="1219170"/>
            <a:endParaRPr lang="zh-CN" altLang="en-US" sz="1867" b="1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4" name="Group 44"/>
          <p:cNvGrpSpPr>
            <a:grpSpLocks/>
          </p:cNvGrpSpPr>
          <p:nvPr/>
        </p:nvGrpSpPr>
        <p:grpSpPr bwMode="auto">
          <a:xfrm>
            <a:off x="6807873" y="1609297"/>
            <a:ext cx="956145" cy="567016"/>
            <a:chOff x="1776" y="2768"/>
            <a:chExt cx="1824" cy="736"/>
          </a:xfrm>
          <a:solidFill>
            <a:srgbClr val="00B0F0"/>
          </a:solidFill>
        </p:grpSpPr>
        <p:grpSp>
          <p:nvGrpSpPr>
            <p:cNvPr id="85" name="Group 45"/>
            <p:cNvGrpSpPr>
              <a:grpSpLocks/>
            </p:cNvGrpSpPr>
            <p:nvPr/>
          </p:nvGrpSpPr>
          <p:grpSpPr bwMode="auto">
            <a:xfrm>
              <a:off x="1787" y="2783"/>
              <a:ext cx="1813" cy="721"/>
              <a:chOff x="1787" y="2783"/>
              <a:chExt cx="1813" cy="721"/>
            </a:xfrm>
            <a:grpFill/>
          </p:grpSpPr>
          <p:sp>
            <p:nvSpPr>
              <p:cNvPr id="95" name="Oval 46"/>
              <p:cNvSpPr>
                <a:spLocks noChangeArrowheads="1"/>
              </p:cNvSpPr>
              <p:nvPr/>
            </p:nvSpPr>
            <p:spPr bwMode="auto">
              <a:xfrm>
                <a:off x="2413" y="2783"/>
                <a:ext cx="780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6" name="Oval 47"/>
              <p:cNvSpPr>
                <a:spLocks noChangeArrowheads="1"/>
              </p:cNvSpPr>
              <p:nvPr/>
            </p:nvSpPr>
            <p:spPr bwMode="auto">
              <a:xfrm>
                <a:off x="1974" y="2863"/>
                <a:ext cx="593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7" name="Oval 48"/>
              <p:cNvSpPr>
                <a:spLocks noChangeArrowheads="1"/>
              </p:cNvSpPr>
              <p:nvPr/>
            </p:nvSpPr>
            <p:spPr bwMode="auto">
              <a:xfrm>
                <a:off x="1787" y="3045"/>
                <a:ext cx="396" cy="2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8" name="Oval 49"/>
              <p:cNvSpPr>
                <a:spLocks noChangeArrowheads="1"/>
              </p:cNvSpPr>
              <p:nvPr/>
            </p:nvSpPr>
            <p:spPr bwMode="auto">
              <a:xfrm>
                <a:off x="1908" y="3154"/>
                <a:ext cx="604" cy="2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9" name="Oval 50"/>
              <p:cNvSpPr>
                <a:spLocks noChangeArrowheads="1"/>
              </p:cNvSpPr>
              <p:nvPr/>
            </p:nvSpPr>
            <p:spPr bwMode="auto">
              <a:xfrm>
                <a:off x="2347" y="3198"/>
                <a:ext cx="912" cy="30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0" name="Oval 51"/>
              <p:cNvSpPr>
                <a:spLocks noChangeArrowheads="1"/>
              </p:cNvSpPr>
              <p:nvPr/>
            </p:nvSpPr>
            <p:spPr bwMode="auto">
              <a:xfrm>
                <a:off x="2941" y="2870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1" name="Oval 52"/>
              <p:cNvSpPr>
                <a:spLocks noChangeArrowheads="1"/>
              </p:cNvSpPr>
              <p:nvPr/>
            </p:nvSpPr>
            <p:spPr bwMode="auto">
              <a:xfrm>
                <a:off x="3029" y="3023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2" name="Oval 53"/>
              <p:cNvSpPr>
                <a:spLocks noChangeArrowheads="1"/>
              </p:cNvSpPr>
              <p:nvPr/>
            </p:nvSpPr>
            <p:spPr bwMode="auto">
              <a:xfrm>
                <a:off x="2974" y="3074"/>
                <a:ext cx="571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3" name="Oval 54"/>
              <p:cNvSpPr>
                <a:spLocks noChangeArrowheads="1"/>
              </p:cNvSpPr>
              <p:nvPr/>
            </p:nvSpPr>
            <p:spPr bwMode="auto">
              <a:xfrm>
                <a:off x="2117" y="2957"/>
                <a:ext cx="1175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86" name="Oval 55"/>
            <p:cNvSpPr>
              <a:spLocks noChangeArrowheads="1"/>
            </p:cNvSpPr>
            <p:nvPr/>
          </p:nvSpPr>
          <p:spPr bwMode="auto">
            <a:xfrm>
              <a:off x="2402" y="2768"/>
              <a:ext cx="780" cy="29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Oval 56"/>
            <p:cNvSpPr>
              <a:spLocks noChangeArrowheads="1"/>
            </p:cNvSpPr>
            <p:nvPr/>
          </p:nvSpPr>
          <p:spPr bwMode="auto">
            <a:xfrm>
              <a:off x="1963" y="2848"/>
              <a:ext cx="593" cy="29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8" name="Oval 57"/>
            <p:cNvSpPr>
              <a:spLocks noChangeArrowheads="1"/>
            </p:cNvSpPr>
            <p:nvPr/>
          </p:nvSpPr>
          <p:spPr bwMode="auto">
            <a:xfrm>
              <a:off x="1776" y="3030"/>
              <a:ext cx="396" cy="23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Oval 58"/>
            <p:cNvSpPr>
              <a:spLocks noChangeArrowheads="1"/>
            </p:cNvSpPr>
            <p:nvPr/>
          </p:nvSpPr>
          <p:spPr bwMode="auto">
            <a:xfrm>
              <a:off x="1897" y="3140"/>
              <a:ext cx="604" cy="25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Oval 59"/>
            <p:cNvSpPr>
              <a:spLocks noChangeArrowheads="1"/>
            </p:cNvSpPr>
            <p:nvPr/>
          </p:nvSpPr>
          <p:spPr bwMode="auto">
            <a:xfrm>
              <a:off x="2336" y="3183"/>
              <a:ext cx="912" cy="30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1" name="Oval 60"/>
            <p:cNvSpPr>
              <a:spLocks noChangeArrowheads="1"/>
            </p:cNvSpPr>
            <p:nvPr/>
          </p:nvSpPr>
          <p:spPr bwMode="auto">
            <a:xfrm>
              <a:off x="2930" y="2855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" name="Oval 61"/>
            <p:cNvSpPr>
              <a:spLocks noChangeArrowheads="1"/>
            </p:cNvSpPr>
            <p:nvPr/>
          </p:nvSpPr>
          <p:spPr bwMode="auto">
            <a:xfrm>
              <a:off x="3018" y="3008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" name="Oval 62"/>
            <p:cNvSpPr>
              <a:spLocks noChangeArrowheads="1"/>
            </p:cNvSpPr>
            <p:nvPr/>
          </p:nvSpPr>
          <p:spPr bwMode="auto">
            <a:xfrm>
              <a:off x="2963" y="3059"/>
              <a:ext cx="571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4" name="Oval 63"/>
            <p:cNvSpPr>
              <a:spLocks noChangeArrowheads="1"/>
            </p:cNvSpPr>
            <p:nvPr/>
          </p:nvSpPr>
          <p:spPr bwMode="auto">
            <a:xfrm>
              <a:off x="2106" y="2943"/>
              <a:ext cx="1175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4" name="Text Box 64"/>
          <p:cNvSpPr txBox="1">
            <a:spLocks noChangeArrowheads="1"/>
          </p:cNvSpPr>
          <p:nvPr/>
        </p:nvSpPr>
        <p:spPr bwMode="auto">
          <a:xfrm>
            <a:off x="7056637" y="1682419"/>
            <a:ext cx="486030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/>
            <a:r>
              <a:rPr lang="en-US" altLang="zh-CN" sz="1867" b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867" b="1" baseline="-250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pic>
        <p:nvPicPr>
          <p:cNvPr id="105" name="Picture 65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662" y="2136546"/>
            <a:ext cx="451668" cy="224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</p:pic>
      <p:sp>
        <p:nvSpPr>
          <p:cNvPr id="106" name="Text Box 66"/>
          <p:cNvSpPr txBox="1">
            <a:spLocks noChangeArrowheads="1"/>
          </p:cNvSpPr>
          <p:nvPr/>
        </p:nvSpPr>
        <p:spPr bwMode="auto">
          <a:xfrm>
            <a:off x="6168589" y="1741371"/>
            <a:ext cx="449162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/>
            <a:r>
              <a:rPr lang="en-US" altLang="zh-CN" sz="18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1867" b="1" baseline="-2500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</p:txBody>
      </p:sp>
      <p:grpSp>
        <p:nvGrpSpPr>
          <p:cNvPr id="107" name="Group 44"/>
          <p:cNvGrpSpPr>
            <a:grpSpLocks/>
          </p:cNvGrpSpPr>
          <p:nvPr/>
        </p:nvGrpSpPr>
        <p:grpSpPr bwMode="auto">
          <a:xfrm>
            <a:off x="5447256" y="2364891"/>
            <a:ext cx="1163219" cy="741783"/>
            <a:chOff x="1776" y="2768"/>
            <a:chExt cx="1824" cy="736"/>
          </a:xfrm>
          <a:solidFill>
            <a:srgbClr val="00B0F0"/>
          </a:solidFill>
        </p:grpSpPr>
        <p:grpSp>
          <p:nvGrpSpPr>
            <p:cNvPr id="108" name="Group 45"/>
            <p:cNvGrpSpPr>
              <a:grpSpLocks/>
            </p:cNvGrpSpPr>
            <p:nvPr/>
          </p:nvGrpSpPr>
          <p:grpSpPr bwMode="auto">
            <a:xfrm>
              <a:off x="1787" y="2783"/>
              <a:ext cx="1813" cy="721"/>
              <a:chOff x="1787" y="2783"/>
              <a:chExt cx="1813" cy="721"/>
            </a:xfrm>
            <a:grpFill/>
          </p:grpSpPr>
          <p:sp>
            <p:nvSpPr>
              <p:cNvPr id="118" name="Oval 46"/>
              <p:cNvSpPr>
                <a:spLocks noChangeArrowheads="1"/>
              </p:cNvSpPr>
              <p:nvPr/>
            </p:nvSpPr>
            <p:spPr bwMode="auto">
              <a:xfrm>
                <a:off x="2413" y="2783"/>
                <a:ext cx="780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9" name="Oval 47"/>
              <p:cNvSpPr>
                <a:spLocks noChangeArrowheads="1"/>
              </p:cNvSpPr>
              <p:nvPr/>
            </p:nvSpPr>
            <p:spPr bwMode="auto">
              <a:xfrm>
                <a:off x="1974" y="2863"/>
                <a:ext cx="593" cy="291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0" name="Oval 48"/>
              <p:cNvSpPr>
                <a:spLocks noChangeArrowheads="1"/>
              </p:cNvSpPr>
              <p:nvPr/>
            </p:nvSpPr>
            <p:spPr bwMode="auto">
              <a:xfrm>
                <a:off x="1787" y="3045"/>
                <a:ext cx="396" cy="23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1" name="Oval 49"/>
              <p:cNvSpPr>
                <a:spLocks noChangeArrowheads="1"/>
              </p:cNvSpPr>
              <p:nvPr/>
            </p:nvSpPr>
            <p:spPr bwMode="auto">
              <a:xfrm>
                <a:off x="1908" y="3154"/>
                <a:ext cx="604" cy="25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2" name="Oval 50"/>
              <p:cNvSpPr>
                <a:spLocks noChangeArrowheads="1"/>
              </p:cNvSpPr>
              <p:nvPr/>
            </p:nvSpPr>
            <p:spPr bwMode="auto">
              <a:xfrm>
                <a:off x="2347" y="3198"/>
                <a:ext cx="912" cy="30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3" name="Oval 51"/>
              <p:cNvSpPr>
                <a:spLocks noChangeArrowheads="1"/>
              </p:cNvSpPr>
              <p:nvPr/>
            </p:nvSpPr>
            <p:spPr bwMode="auto">
              <a:xfrm>
                <a:off x="2941" y="2870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4" name="Oval 52"/>
              <p:cNvSpPr>
                <a:spLocks noChangeArrowheads="1"/>
              </p:cNvSpPr>
              <p:nvPr/>
            </p:nvSpPr>
            <p:spPr bwMode="auto">
              <a:xfrm>
                <a:off x="3029" y="3023"/>
                <a:ext cx="571" cy="226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5" name="Oval 53"/>
              <p:cNvSpPr>
                <a:spLocks noChangeArrowheads="1"/>
              </p:cNvSpPr>
              <p:nvPr/>
            </p:nvSpPr>
            <p:spPr bwMode="auto">
              <a:xfrm>
                <a:off x="2974" y="3074"/>
                <a:ext cx="571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6" name="Oval 54"/>
              <p:cNvSpPr>
                <a:spLocks noChangeArrowheads="1"/>
              </p:cNvSpPr>
              <p:nvPr/>
            </p:nvSpPr>
            <p:spPr bwMode="auto">
              <a:xfrm>
                <a:off x="2117" y="2957"/>
                <a:ext cx="1175" cy="379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867" b="1">
                  <a:solidFill>
                    <a:srgbClr val="0000CC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09" name="Oval 55"/>
            <p:cNvSpPr>
              <a:spLocks noChangeArrowheads="1"/>
            </p:cNvSpPr>
            <p:nvPr/>
          </p:nvSpPr>
          <p:spPr bwMode="auto">
            <a:xfrm>
              <a:off x="2402" y="2768"/>
              <a:ext cx="780" cy="291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0" name="Oval 56"/>
            <p:cNvSpPr>
              <a:spLocks noChangeArrowheads="1"/>
            </p:cNvSpPr>
            <p:nvPr/>
          </p:nvSpPr>
          <p:spPr bwMode="auto">
            <a:xfrm>
              <a:off x="1963" y="2848"/>
              <a:ext cx="593" cy="292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1" name="Oval 57"/>
            <p:cNvSpPr>
              <a:spLocks noChangeArrowheads="1"/>
            </p:cNvSpPr>
            <p:nvPr/>
          </p:nvSpPr>
          <p:spPr bwMode="auto">
            <a:xfrm>
              <a:off x="1776" y="3030"/>
              <a:ext cx="396" cy="23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2" name="Oval 58"/>
            <p:cNvSpPr>
              <a:spLocks noChangeArrowheads="1"/>
            </p:cNvSpPr>
            <p:nvPr/>
          </p:nvSpPr>
          <p:spPr bwMode="auto">
            <a:xfrm>
              <a:off x="1897" y="3140"/>
              <a:ext cx="604" cy="25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3" name="Oval 59"/>
            <p:cNvSpPr>
              <a:spLocks noChangeArrowheads="1"/>
            </p:cNvSpPr>
            <p:nvPr/>
          </p:nvSpPr>
          <p:spPr bwMode="auto">
            <a:xfrm>
              <a:off x="2336" y="3183"/>
              <a:ext cx="912" cy="30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4" name="Oval 60"/>
            <p:cNvSpPr>
              <a:spLocks noChangeArrowheads="1"/>
            </p:cNvSpPr>
            <p:nvPr/>
          </p:nvSpPr>
          <p:spPr bwMode="auto">
            <a:xfrm>
              <a:off x="2930" y="2855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5" name="Oval 61"/>
            <p:cNvSpPr>
              <a:spLocks noChangeArrowheads="1"/>
            </p:cNvSpPr>
            <p:nvPr/>
          </p:nvSpPr>
          <p:spPr bwMode="auto">
            <a:xfrm>
              <a:off x="3018" y="3008"/>
              <a:ext cx="571" cy="226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6" name="Oval 62"/>
            <p:cNvSpPr>
              <a:spLocks noChangeArrowheads="1"/>
            </p:cNvSpPr>
            <p:nvPr/>
          </p:nvSpPr>
          <p:spPr bwMode="auto">
            <a:xfrm>
              <a:off x="2963" y="3059"/>
              <a:ext cx="571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7" name="Oval 63"/>
            <p:cNvSpPr>
              <a:spLocks noChangeArrowheads="1"/>
            </p:cNvSpPr>
            <p:nvPr/>
          </p:nvSpPr>
          <p:spPr bwMode="auto">
            <a:xfrm>
              <a:off x="2106" y="2943"/>
              <a:ext cx="1175" cy="37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27" name="Text Box 30"/>
          <p:cNvSpPr txBox="1">
            <a:spLocks noChangeArrowheads="1"/>
          </p:cNvSpPr>
          <p:nvPr/>
        </p:nvSpPr>
        <p:spPr bwMode="auto">
          <a:xfrm>
            <a:off x="5798323" y="2523671"/>
            <a:ext cx="486030" cy="37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/>
            <a:r>
              <a:rPr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867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sp>
        <p:nvSpPr>
          <p:cNvPr id="128" name="Rectangle 36"/>
          <p:cNvSpPr>
            <a:spLocks noChangeArrowheads="1"/>
          </p:cNvSpPr>
          <p:nvPr/>
        </p:nvSpPr>
        <p:spPr bwMode="auto">
          <a:xfrm>
            <a:off x="2018677" y="2250718"/>
            <a:ext cx="2322431" cy="1160972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1219170"/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2" name="Line 39"/>
          <p:cNvSpPr>
            <a:spLocks noChangeShapeType="1"/>
          </p:cNvSpPr>
          <p:nvPr/>
        </p:nvSpPr>
        <p:spPr bwMode="auto">
          <a:xfrm>
            <a:off x="3479465" y="2250718"/>
            <a:ext cx="4169" cy="11455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1219170"/>
            <a:endParaRPr lang="zh-CN" altLang="en-US" sz="1867" b="1">
              <a:solidFill>
                <a:srgbClr val="00009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18677" y="2545772"/>
            <a:ext cx="2322431" cy="567017"/>
            <a:chOff x="1834120" y="1909328"/>
            <a:chExt cx="1421710" cy="425263"/>
          </a:xfrm>
        </p:grpSpPr>
        <p:sp>
          <p:nvSpPr>
            <p:cNvPr id="130" name="Line 37"/>
            <p:cNvSpPr>
              <a:spLocks noChangeShapeType="1"/>
            </p:cNvSpPr>
            <p:nvPr/>
          </p:nvSpPr>
          <p:spPr bwMode="auto">
            <a:xfrm>
              <a:off x="1834120" y="1909328"/>
              <a:ext cx="1421710" cy="0"/>
            </a:xfrm>
            <a:prstGeom prst="line">
              <a:avLst/>
            </a:prstGeom>
            <a:ln>
              <a:solidFill>
                <a:schemeClr val="tx1"/>
              </a:solidFill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defTabSz="1219170"/>
              <a:endParaRPr lang="zh-CN" altLang="en-US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1" name="Line 38"/>
            <p:cNvSpPr>
              <a:spLocks noChangeShapeType="1"/>
            </p:cNvSpPr>
            <p:nvPr/>
          </p:nvSpPr>
          <p:spPr bwMode="auto">
            <a:xfrm>
              <a:off x="1834120" y="2130619"/>
              <a:ext cx="1421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3" name="Line 67"/>
            <p:cNvSpPr>
              <a:spLocks noChangeShapeType="1"/>
            </p:cNvSpPr>
            <p:nvPr/>
          </p:nvSpPr>
          <p:spPr bwMode="auto">
            <a:xfrm>
              <a:off x="1834120" y="2334591"/>
              <a:ext cx="14217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1867" b="1">
                <a:solidFill>
                  <a:srgbClr val="000099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36" name="矩形 135"/>
          <p:cNvSpPr/>
          <p:nvPr/>
        </p:nvSpPr>
        <p:spPr>
          <a:xfrm>
            <a:off x="1335251" y="4513625"/>
            <a:ext cx="9813437" cy="97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ts val="3600"/>
              </a:lnSpc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只要目的网络不是 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400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2400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，就一律选择默认路由，把 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数据报先间接交付默认路由器 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400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，让 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400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再转发给下一个路由器。 </a:t>
            </a:r>
          </a:p>
        </p:txBody>
      </p:sp>
      <p:sp>
        <p:nvSpPr>
          <p:cNvPr id="137" name="矩形 136"/>
          <p:cNvSpPr/>
          <p:nvPr/>
        </p:nvSpPr>
        <p:spPr>
          <a:xfrm>
            <a:off x="2758191" y="3926754"/>
            <a:ext cx="68954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zh-CN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路由器</a:t>
            </a:r>
            <a:r>
              <a:rPr lang="en-US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R</a:t>
            </a:r>
            <a:r>
              <a:rPr lang="en-US" altLang="zh-CN" sz="2400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充当</a:t>
            </a: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到达互联网</a:t>
            </a:r>
            <a:r>
              <a:rPr lang="zh-CN" altLang="zh-CN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的默认路由器</a:t>
            </a:r>
            <a:endParaRPr lang="zh-CN" altLang="en-US" sz="2400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8" name="Text Box 35"/>
          <p:cNvSpPr txBox="1">
            <a:spLocks noChangeArrowheads="1"/>
          </p:cNvSpPr>
          <p:nvPr/>
        </p:nvSpPr>
        <p:spPr bwMode="auto">
          <a:xfrm>
            <a:off x="2052241" y="2196679"/>
            <a:ext cx="2280553" cy="124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1219170">
              <a:lnSpc>
                <a:spcPct val="12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网络前缀        下一跳</a:t>
            </a:r>
          </a:p>
          <a:p>
            <a:pPr defTabSz="1219170">
              <a:lnSpc>
                <a:spcPct val="12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直接 </a:t>
            </a:r>
          </a:p>
          <a:p>
            <a:pPr defTabSz="1219170">
              <a:lnSpc>
                <a:spcPct val="12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sz="1600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             R</a:t>
            </a:r>
            <a:r>
              <a:rPr lang="en-US" altLang="zh-CN" sz="1600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defTabSz="1219170">
              <a:lnSpc>
                <a:spcPct val="120000"/>
              </a:lnSpc>
            </a:pPr>
            <a:r>
              <a:rPr lang="en-US" altLang="zh-CN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0.0.0.0/0</a:t>
            </a:r>
            <a:r>
              <a:rPr lang="zh-CN" altLang="en-US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en-US" altLang="zh-CN" sz="16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1600" b="1" baseline="-25000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</a:p>
        </p:txBody>
      </p:sp>
      <p:pic>
        <p:nvPicPr>
          <p:cNvPr id="139" name="Picture 246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593" y="2646107"/>
            <a:ext cx="493964" cy="49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Picture 246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883" y="3273030"/>
            <a:ext cx="493964" cy="49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Picture 246" descr="jisuanji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011" y="3273030"/>
            <a:ext cx="493964" cy="493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86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utoShape 5"/>
          <p:cNvSpPr>
            <a:spLocks noChangeArrowheads="1"/>
          </p:cNvSpPr>
          <p:nvPr/>
        </p:nvSpPr>
        <p:spPr bwMode="auto">
          <a:xfrm>
            <a:off x="742618" y="820584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4479657" y="776303"/>
            <a:ext cx="3257622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路由器分组转发算法</a:t>
            </a:r>
          </a:p>
        </p:txBody>
      </p:sp>
      <p:sp>
        <p:nvSpPr>
          <p:cNvPr id="2" name="矩形 1"/>
          <p:cNvSpPr/>
          <p:nvPr/>
        </p:nvSpPr>
        <p:spPr>
          <a:xfrm>
            <a:off x="909255" y="1856041"/>
            <a:ext cx="3866948" cy="588313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提取目的地址 </a:t>
            </a:r>
            <a:r>
              <a:rPr lang="en-US" altLang="zh-CN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</a:t>
            </a:r>
            <a:endParaRPr lang="zh-CN" altLang="en-US" sz="1867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菱形 2"/>
          <p:cNvSpPr/>
          <p:nvPr/>
        </p:nvSpPr>
        <p:spPr>
          <a:xfrm>
            <a:off x="5440903" y="1897232"/>
            <a:ext cx="3550044" cy="728224"/>
          </a:xfrm>
          <a:prstGeom prst="diamond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 </a:t>
            </a:r>
            <a:r>
              <a:rPr lang="en-US" altLang="zh-CN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的特定主机路由 ？</a:t>
            </a:r>
          </a:p>
        </p:txBody>
      </p:sp>
      <p:sp>
        <p:nvSpPr>
          <p:cNvPr id="9" name="菱形 8"/>
          <p:cNvSpPr/>
          <p:nvPr/>
        </p:nvSpPr>
        <p:spPr>
          <a:xfrm>
            <a:off x="5440902" y="3027575"/>
            <a:ext cx="3550045" cy="728224"/>
          </a:xfrm>
          <a:prstGeom prst="diamond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 </a:t>
            </a:r>
            <a:r>
              <a:rPr lang="en-US" altLang="zh-CN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的最长前缀匹配 ？</a:t>
            </a:r>
          </a:p>
        </p:txBody>
      </p:sp>
      <p:sp>
        <p:nvSpPr>
          <p:cNvPr id="10" name="菱形 9"/>
          <p:cNvSpPr/>
          <p:nvPr/>
        </p:nvSpPr>
        <p:spPr>
          <a:xfrm>
            <a:off x="5440902" y="4157919"/>
            <a:ext cx="3550045" cy="728224"/>
          </a:xfrm>
          <a:prstGeom prst="diamond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找到默认路由？</a:t>
            </a:r>
          </a:p>
        </p:txBody>
      </p:sp>
      <p:sp>
        <p:nvSpPr>
          <p:cNvPr id="11" name="矩形 10"/>
          <p:cNvSpPr/>
          <p:nvPr/>
        </p:nvSpPr>
        <p:spPr>
          <a:xfrm>
            <a:off x="8621917" y="5236837"/>
            <a:ext cx="2959884" cy="5883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转发分组到下一跳路由器</a:t>
            </a:r>
          </a:p>
        </p:txBody>
      </p:sp>
      <p:sp>
        <p:nvSpPr>
          <p:cNvPr id="12" name="矩形 11"/>
          <p:cNvSpPr/>
          <p:nvPr/>
        </p:nvSpPr>
        <p:spPr>
          <a:xfrm>
            <a:off x="5896640" y="5236838"/>
            <a:ext cx="2638568" cy="588313"/>
          </a:xfrm>
          <a:prstGeom prst="rect">
            <a:avLst/>
          </a:prstGeom>
          <a:solidFill>
            <a:srgbClr val="009900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丢弃分组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7215925" y="2625457"/>
            <a:ext cx="1" cy="402119"/>
          </a:xfrm>
          <a:prstGeom prst="straightConnector1">
            <a:avLst/>
          </a:prstGeom>
          <a:ln w="1905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7215924" y="3755799"/>
            <a:ext cx="0" cy="402120"/>
          </a:xfrm>
          <a:prstGeom prst="straightConnector1">
            <a:avLst/>
          </a:prstGeom>
          <a:ln w="1905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909254" y="2899314"/>
            <a:ext cx="3866948" cy="588313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1219170"/>
            <a:r>
              <a:rPr lang="zh-CN" altLang="en-US" sz="1867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查找转发表</a:t>
            </a:r>
          </a:p>
        </p:txBody>
      </p:sp>
      <p:cxnSp>
        <p:nvCxnSpPr>
          <p:cNvPr id="43" name="直接箭头连接符 42"/>
          <p:cNvCxnSpPr>
            <a:stCxn id="2" idx="2"/>
            <a:endCxn id="31" idx="0"/>
          </p:cNvCxnSpPr>
          <p:nvPr/>
        </p:nvCxnSpPr>
        <p:spPr>
          <a:xfrm flipH="1">
            <a:off x="2842729" y="2444353"/>
            <a:ext cx="1" cy="454960"/>
          </a:xfrm>
          <a:prstGeom prst="straightConnector1">
            <a:avLst/>
          </a:prstGeom>
          <a:ln w="1905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31" idx="2"/>
            <a:endCxn id="3" idx="0"/>
          </p:cNvCxnSpPr>
          <p:nvPr/>
        </p:nvCxnSpPr>
        <p:spPr>
          <a:xfrm rot="5400000" flipH="1" flipV="1">
            <a:off x="4234129" y="505831"/>
            <a:ext cx="1590395" cy="4373197"/>
          </a:xfrm>
          <a:prstGeom prst="bentConnector5">
            <a:avLst>
              <a:gd name="adj1" fmla="val -19165"/>
              <a:gd name="adj2" fmla="val 53893"/>
              <a:gd name="adj3" fmla="val 119165"/>
            </a:avLst>
          </a:prstGeom>
          <a:ln w="1905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7215924" y="4886143"/>
            <a:ext cx="0" cy="350695"/>
          </a:xfrm>
          <a:prstGeom prst="straightConnector1">
            <a:avLst/>
          </a:prstGeom>
          <a:ln w="1905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肘形连接符 57"/>
          <p:cNvCxnSpPr>
            <a:stCxn id="3" idx="3"/>
            <a:endCxn id="11" idx="0"/>
          </p:cNvCxnSpPr>
          <p:nvPr/>
        </p:nvCxnSpPr>
        <p:spPr>
          <a:xfrm>
            <a:off x="8990947" y="2261345"/>
            <a:ext cx="1110912" cy="2975492"/>
          </a:xfrm>
          <a:prstGeom prst="bentConnector2">
            <a:avLst/>
          </a:prstGeom>
          <a:ln w="1905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9" idx="3"/>
          </p:cNvCxnSpPr>
          <p:nvPr/>
        </p:nvCxnSpPr>
        <p:spPr>
          <a:xfrm>
            <a:off x="8990947" y="3391687"/>
            <a:ext cx="1110911" cy="0"/>
          </a:xfrm>
          <a:prstGeom prst="straightConnector1">
            <a:avLst/>
          </a:prstGeom>
          <a:ln w="1905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10" idx="3"/>
          </p:cNvCxnSpPr>
          <p:nvPr/>
        </p:nvCxnSpPr>
        <p:spPr>
          <a:xfrm>
            <a:off x="8990947" y="4522031"/>
            <a:ext cx="1110911" cy="0"/>
          </a:xfrm>
          <a:prstGeom prst="straightConnector1">
            <a:avLst/>
          </a:prstGeom>
          <a:ln w="19050">
            <a:solidFill>
              <a:srgbClr val="000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9029454" y="1895324"/>
            <a:ext cx="423514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endParaRPr lang="zh-CN" altLang="en-US" sz="1867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730322" y="2595619"/>
            <a:ext cx="423514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否</a:t>
            </a:r>
            <a:endParaRPr lang="zh-CN" altLang="en-US" sz="1867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6730322" y="3751673"/>
            <a:ext cx="423514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否</a:t>
            </a:r>
            <a:endParaRPr lang="zh-CN" altLang="en-US" sz="1867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730322" y="4856611"/>
            <a:ext cx="423514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否</a:t>
            </a:r>
            <a:endParaRPr lang="zh-CN" altLang="en-US" sz="1867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9029454" y="3033520"/>
            <a:ext cx="423514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endParaRPr lang="zh-CN" altLang="en-US" sz="1867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9029454" y="4180708"/>
            <a:ext cx="423514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/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endParaRPr lang="zh-CN" altLang="en-US" sz="1867" dirty="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726859" y="815978"/>
            <a:ext cx="10738283" cy="518295"/>
          </a:xfrm>
          <a:prstGeom prst="roundRect">
            <a:avLst>
              <a:gd name="adj" fmla="val 16667"/>
            </a:avLst>
          </a:prstGeom>
          <a:solidFill>
            <a:srgbClr val="0089FA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188799" y="761494"/>
            <a:ext cx="58144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4.3.3 </a:t>
            </a: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使用二叉线索查找转发表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726858" y="1293055"/>
            <a:ext cx="10738281" cy="398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二叉线索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(binary </a:t>
            </a:r>
            <a:r>
              <a:rPr lang="en-US" altLang="zh-CN" sz="2667" b="1" dirty="0" err="1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trie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：一种特殊结构的树，可以快速在转发表中找到匹配的叶节点。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从二叉线索的根节点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自顶向下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的深度最多有 </a:t>
            </a:r>
            <a:r>
              <a:rPr lang="en-US" altLang="zh-CN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32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层，每一层对应于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地址中的一位。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为简化二叉线索的结构，可以用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唯一前缀 </a:t>
            </a:r>
            <a:r>
              <a:rPr lang="en-US" altLang="zh-CN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(unique prefix) 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来构造二叉线索。</a:t>
            </a:r>
            <a:endParaRPr lang="en-US" altLang="zh-CN" sz="26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476239" indent="-476239" defTabSz="1219170">
              <a:lnSpc>
                <a:spcPts val="4400"/>
              </a:lnSpc>
              <a:buClr>
                <a:srgbClr val="0070C0"/>
              </a:buClr>
              <a:buFont typeface="Wingdings" pitchFamily="2" charset="2"/>
              <a:buChar char="l"/>
            </a:pP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为了提高二叉线索的查找速度，广泛使用了各种</a:t>
            </a:r>
            <a:r>
              <a:rPr lang="zh-CN" altLang="en-US" sz="26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压缩</a:t>
            </a:r>
            <a:r>
              <a:rPr lang="zh-CN" altLang="en-US" sz="26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技术。 </a:t>
            </a:r>
          </a:p>
        </p:txBody>
      </p:sp>
    </p:spTree>
    <p:extLst>
      <p:ext uri="{BB962C8B-B14F-4D97-AF65-F5344CB8AC3E}">
        <p14:creationId xmlns:p14="http://schemas.microsoft.com/office/powerpoint/2010/main" val="107694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726859" y="1359878"/>
            <a:ext cx="10738283" cy="44315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09847" y="4097680"/>
            <a:ext cx="10355124" cy="1334468"/>
          </a:xfrm>
          <a:prstGeom prst="rect">
            <a:avLst/>
          </a:prstGeom>
          <a:solidFill>
            <a:srgbClr val="00FF99"/>
          </a:solidFill>
          <a:ln>
            <a:solidFill>
              <a:srgbClr val="000099"/>
            </a:solidFill>
          </a:ln>
        </p:spPr>
        <p:txBody>
          <a:bodyPr wrap="square">
            <a:spAutoFit/>
          </a:bodyPr>
          <a:lstStyle/>
          <a:p>
            <a:pPr defTabSz="1219170">
              <a:lnSpc>
                <a:spcPct val="110000"/>
              </a:lnSpc>
            </a:pPr>
            <a:r>
              <a:rPr lang="zh-CN" altLang="en-US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规则：</a:t>
            </a:r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先检查 </a:t>
            </a:r>
            <a:r>
              <a:rPr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地址左边的第一位，如为 </a:t>
            </a:r>
            <a:r>
              <a:rPr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，则第一层的节点就在根节点的左下方；如为 </a:t>
            </a:r>
            <a:r>
              <a:rPr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，则在右下方。然后再检查地址的第二位，构造出第二层的节点。依此类推，直到唯一前缀的最后一位。每个叶节点代表一个唯一前缀。</a:t>
            </a:r>
            <a:endParaRPr lang="en-US" altLang="zh-CN" sz="1867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1219170">
              <a:lnSpc>
                <a:spcPct val="110000"/>
              </a:lnSpc>
            </a:pPr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为检查网络前缀是否匹配，必须使二叉线索中的每一个叶节点</a:t>
            </a:r>
            <a:r>
              <a:rPr lang="zh-CN" altLang="en-US" sz="1867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包含</a:t>
            </a:r>
            <a:r>
              <a:rPr lang="zh-CN" altLang="en-US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所对应的网络前缀和子网掩码。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809725" y="1546167"/>
            <a:ext cx="7164141" cy="235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>
              <a:spcAft>
                <a:spcPct val="30000"/>
              </a:spcAft>
            </a:pPr>
            <a:r>
              <a:rPr kumimoji="1" lang="en-US" altLang="zh-CN" sz="1867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                   </a:t>
            </a:r>
            <a:r>
              <a:rPr kumimoji="1" lang="en-US" altLang="zh-CN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32 </a:t>
            </a:r>
            <a:r>
              <a:rPr kumimoji="1"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位的 </a:t>
            </a:r>
            <a:r>
              <a:rPr kumimoji="1" lang="en-US" altLang="zh-CN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地址                              唯一前缀</a:t>
            </a:r>
          </a:p>
          <a:p>
            <a:pPr defTabSz="1219170">
              <a:lnSpc>
                <a:spcPct val="130000"/>
              </a:lnSpc>
            </a:pPr>
            <a:r>
              <a:rPr kumimoji="1" lang="en-US" altLang="zh-CN" sz="1867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kumimoji="1" lang="en-US" altLang="zh-CN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01000110 00000000 00000000 00000000	0100</a:t>
            </a:r>
          </a:p>
          <a:p>
            <a:pPr defTabSz="1219170">
              <a:lnSpc>
                <a:spcPct val="130000"/>
              </a:lnSpc>
            </a:pPr>
            <a:r>
              <a:rPr kumimoji="1" lang="en-US" altLang="zh-CN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01010110 00000000 00000000 00000000	0101</a:t>
            </a:r>
          </a:p>
          <a:p>
            <a:pPr defTabSz="1219170">
              <a:lnSpc>
                <a:spcPct val="130000"/>
              </a:lnSpc>
            </a:pPr>
            <a:r>
              <a:rPr kumimoji="1" lang="en-US" altLang="zh-CN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01100001 00000000 00000000 00000000	011</a:t>
            </a:r>
          </a:p>
          <a:p>
            <a:pPr defTabSz="1219170">
              <a:lnSpc>
                <a:spcPct val="130000"/>
              </a:lnSpc>
            </a:pPr>
            <a:r>
              <a:rPr kumimoji="1" lang="en-US" altLang="zh-CN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10110000 00000010 00000000 00000000	10110</a:t>
            </a:r>
          </a:p>
          <a:p>
            <a:pPr defTabSz="1219170">
              <a:lnSpc>
                <a:spcPct val="130000"/>
              </a:lnSpc>
            </a:pPr>
            <a:r>
              <a:rPr kumimoji="1" lang="en-US" altLang="zh-CN" sz="1867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10111011 00001010 00000000 00000000	10111</a:t>
            </a:r>
            <a:endParaRPr kumimoji="1" lang="en-US" altLang="zh-CN" sz="1867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AutoShape 5"/>
          <p:cNvSpPr>
            <a:spLocks noChangeArrowheads="1"/>
          </p:cNvSpPr>
          <p:nvPr/>
        </p:nvSpPr>
        <p:spPr bwMode="auto">
          <a:xfrm>
            <a:off x="742618" y="820584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3588391" y="776303"/>
            <a:ext cx="5040162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用 </a:t>
            </a:r>
            <a:r>
              <a:rPr lang="en-US" altLang="zh-CN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5 </a:t>
            </a:r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个唯一前缀构成的二叉线索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500368" y="1746109"/>
            <a:ext cx="2396017" cy="2127777"/>
            <a:chOff x="6375275" y="1309581"/>
            <a:chExt cx="1797013" cy="1595833"/>
          </a:xfrm>
        </p:grpSpPr>
        <p:sp>
          <p:nvSpPr>
            <p:cNvPr id="78" name="Freeform 7"/>
            <p:cNvSpPr>
              <a:spLocks/>
            </p:cNvSpPr>
            <p:nvPr/>
          </p:nvSpPr>
          <p:spPr bwMode="auto">
            <a:xfrm>
              <a:off x="6478712" y="1406453"/>
              <a:ext cx="756725" cy="1157744"/>
            </a:xfrm>
            <a:custGeom>
              <a:avLst/>
              <a:gdLst>
                <a:gd name="T0" fmla="*/ 695 w 695"/>
                <a:gd name="T1" fmla="*/ 0 h 1117"/>
                <a:gd name="T2" fmla="*/ 0 w 695"/>
                <a:gd name="T3" fmla="*/ 285 h 1117"/>
                <a:gd name="T4" fmla="*/ 399 w 695"/>
                <a:gd name="T5" fmla="*/ 564 h 1117"/>
                <a:gd name="T6" fmla="*/ 174 w 695"/>
                <a:gd name="T7" fmla="*/ 843 h 1117"/>
                <a:gd name="T8" fmla="*/ 338 w 695"/>
                <a:gd name="T9" fmla="*/ 1117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5" h="1117">
                  <a:moveTo>
                    <a:pt x="695" y="0"/>
                  </a:moveTo>
                  <a:lnTo>
                    <a:pt x="0" y="285"/>
                  </a:lnTo>
                  <a:lnTo>
                    <a:pt x="399" y="564"/>
                  </a:lnTo>
                  <a:lnTo>
                    <a:pt x="174" y="843"/>
                  </a:lnTo>
                  <a:lnTo>
                    <a:pt x="338" y="111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9" name="组合 78"/>
            <p:cNvGrpSpPr/>
            <p:nvPr/>
          </p:nvGrpSpPr>
          <p:grpSpPr>
            <a:xfrm>
              <a:off x="6375275" y="1309581"/>
              <a:ext cx="1797013" cy="1595833"/>
              <a:chOff x="6375275" y="1309581"/>
              <a:chExt cx="1797013" cy="1595833"/>
            </a:xfrm>
          </p:grpSpPr>
          <p:sp>
            <p:nvSpPr>
              <p:cNvPr id="80" name="Freeform 6"/>
              <p:cNvSpPr>
                <a:spLocks/>
              </p:cNvSpPr>
              <p:nvPr/>
            </p:nvSpPr>
            <p:spPr bwMode="auto">
              <a:xfrm>
                <a:off x="7228904" y="1413031"/>
                <a:ext cx="840563" cy="1442907"/>
              </a:xfrm>
              <a:custGeom>
                <a:avLst/>
                <a:gdLst>
                  <a:gd name="T0" fmla="*/ 0 w 772"/>
                  <a:gd name="T1" fmla="*/ 0 h 1392"/>
                  <a:gd name="T2" fmla="*/ 764 w 772"/>
                  <a:gd name="T3" fmla="*/ 272 h 1392"/>
                  <a:gd name="T4" fmla="*/ 318 w 772"/>
                  <a:gd name="T5" fmla="*/ 564 h 1392"/>
                  <a:gd name="T6" fmla="*/ 510 w 772"/>
                  <a:gd name="T7" fmla="*/ 840 h 1392"/>
                  <a:gd name="T8" fmla="*/ 772 w 772"/>
                  <a:gd name="T9" fmla="*/ 1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2" h="1392">
                    <a:moveTo>
                      <a:pt x="0" y="0"/>
                    </a:moveTo>
                    <a:lnTo>
                      <a:pt x="764" y="272"/>
                    </a:lnTo>
                    <a:lnTo>
                      <a:pt x="318" y="564"/>
                    </a:lnTo>
                    <a:lnTo>
                      <a:pt x="510" y="840"/>
                    </a:lnTo>
                    <a:lnTo>
                      <a:pt x="772" y="1392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1" name="Line 8"/>
              <p:cNvSpPr>
                <a:spLocks noChangeShapeType="1"/>
              </p:cNvSpPr>
              <p:nvPr/>
            </p:nvSpPr>
            <p:spPr bwMode="auto">
              <a:xfrm flipH="1">
                <a:off x="7799442" y="2557281"/>
                <a:ext cx="121947" cy="2986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2" name="Text Box 9"/>
              <p:cNvSpPr txBox="1">
                <a:spLocks noChangeArrowheads="1"/>
              </p:cNvSpPr>
              <p:nvPr/>
            </p:nvSpPr>
            <p:spPr bwMode="auto">
              <a:xfrm>
                <a:off x="6375275" y="2226240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83" name="Text Box 10"/>
              <p:cNvSpPr txBox="1">
                <a:spLocks noChangeArrowheads="1"/>
              </p:cNvSpPr>
              <p:nvPr/>
            </p:nvSpPr>
            <p:spPr bwMode="auto">
              <a:xfrm>
                <a:off x="6571261" y="193388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84" name="Text Box 11"/>
              <p:cNvSpPr txBox="1">
                <a:spLocks noChangeArrowheads="1"/>
              </p:cNvSpPr>
              <p:nvPr/>
            </p:nvSpPr>
            <p:spPr bwMode="auto">
              <a:xfrm>
                <a:off x="7633942" y="2550085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85" name="Text Box 12"/>
              <p:cNvSpPr txBox="1">
                <a:spLocks noChangeArrowheads="1"/>
              </p:cNvSpPr>
              <p:nvPr/>
            </p:nvSpPr>
            <p:spPr bwMode="auto">
              <a:xfrm>
                <a:off x="6680143" y="130958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86" name="Line 13"/>
              <p:cNvSpPr>
                <a:spLocks noChangeShapeType="1"/>
              </p:cNvSpPr>
              <p:nvPr/>
            </p:nvSpPr>
            <p:spPr bwMode="auto">
              <a:xfrm flipH="1">
                <a:off x="6540775" y="2277516"/>
                <a:ext cx="124125" cy="2860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7" name="Freeform 14"/>
              <p:cNvSpPr>
                <a:spLocks/>
              </p:cNvSpPr>
              <p:nvPr/>
            </p:nvSpPr>
            <p:spPr bwMode="auto">
              <a:xfrm>
                <a:off x="6919681" y="2004047"/>
                <a:ext cx="182921" cy="273469"/>
              </a:xfrm>
              <a:custGeom>
                <a:avLst/>
                <a:gdLst>
                  <a:gd name="T0" fmla="*/ 0 w 168"/>
                  <a:gd name="T1" fmla="*/ 0 h 264"/>
                  <a:gd name="T2" fmla="*/ 168 w 168"/>
                  <a:gd name="T3" fmla="*/ 26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8" h="264">
                    <a:moveTo>
                      <a:pt x="0" y="0"/>
                    </a:moveTo>
                    <a:lnTo>
                      <a:pt x="168" y="26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8" name="Text Box 15"/>
              <p:cNvSpPr txBox="1">
                <a:spLocks noChangeArrowheads="1"/>
              </p:cNvSpPr>
              <p:nvPr/>
            </p:nvSpPr>
            <p:spPr bwMode="auto">
              <a:xfrm>
                <a:off x="7938810" y="2555482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89" name="Text Box 16"/>
              <p:cNvSpPr txBox="1">
                <a:spLocks noChangeArrowheads="1"/>
              </p:cNvSpPr>
              <p:nvPr/>
            </p:nvSpPr>
            <p:spPr bwMode="auto">
              <a:xfrm>
                <a:off x="6965411" y="195457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90" name="Text Box 17"/>
              <p:cNvSpPr txBox="1">
                <a:spLocks noChangeArrowheads="1"/>
              </p:cNvSpPr>
              <p:nvPr/>
            </p:nvSpPr>
            <p:spPr bwMode="auto">
              <a:xfrm>
                <a:off x="6743294" y="2259524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91" name="Text Box 18"/>
              <p:cNvSpPr txBox="1">
                <a:spLocks noChangeArrowheads="1"/>
              </p:cNvSpPr>
              <p:nvPr/>
            </p:nvSpPr>
            <p:spPr bwMode="auto">
              <a:xfrm>
                <a:off x="6671432" y="166311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92" name="Text Box 19"/>
              <p:cNvSpPr txBox="1">
                <a:spLocks noChangeArrowheads="1"/>
              </p:cNvSpPr>
              <p:nvPr/>
            </p:nvSpPr>
            <p:spPr bwMode="auto">
              <a:xfrm>
                <a:off x="7625232" y="135186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93" name="Text Box 20"/>
              <p:cNvSpPr txBox="1">
                <a:spLocks noChangeArrowheads="1"/>
              </p:cNvSpPr>
              <p:nvPr/>
            </p:nvSpPr>
            <p:spPr bwMode="auto">
              <a:xfrm>
                <a:off x="7801620" y="2256826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94" name="Text Box 21"/>
              <p:cNvSpPr txBox="1">
                <a:spLocks noChangeArrowheads="1"/>
              </p:cNvSpPr>
              <p:nvPr/>
            </p:nvSpPr>
            <p:spPr bwMode="auto">
              <a:xfrm>
                <a:off x="7638298" y="1951872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95" name="Text Box 22"/>
              <p:cNvSpPr txBox="1">
                <a:spLocks noChangeArrowheads="1"/>
              </p:cNvSpPr>
              <p:nvPr/>
            </p:nvSpPr>
            <p:spPr bwMode="auto">
              <a:xfrm>
                <a:off x="7642653" y="1632526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96" name="Oval 23"/>
              <p:cNvSpPr>
                <a:spLocks noChangeArrowheads="1"/>
              </p:cNvSpPr>
              <p:nvPr/>
            </p:nvSpPr>
            <p:spPr bwMode="auto">
              <a:xfrm>
                <a:off x="7553370" y="1959968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7" name="Oval 24"/>
              <p:cNvSpPr>
                <a:spLocks noChangeArrowheads="1"/>
              </p:cNvSpPr>
              <p:nvPr/>
            </p:nvSpPr>
            <p:spPr bwMode="auto">
              <a:xfrm>
                <a:off x="6867418" y="1959968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8" name="Oval 25"/>
              <p:cNvSpPr>
                <a:spLocks noChangeArrowheads="1"/>
              </p:cNvSpPr>
              <p:nvPr/>
            </p:nvSpPr>
            <p:spPr bwMode="auto">
              <a:xfrm>
                <a:off x="6442781" y="1667609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9" name="Oval 26"/>
              <p:cNvSpPr>
                <a:spLocks noChangeArrowheads="1"/>
              </p:cNvSpPr>
              <p:nvPr/>
            </p:nvSpPr>
            <p:spPr bwMode="auto">
              <a:xfrm>
                <a:off x="7742824" y="2246031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0" name="Oval 27"/>
              <p:cNvSpPr>
                <a:spLocks noChangeArrowheads="1"/>
              </p:cNvSpPr>
              <p:nvPr/>
            </p:nvSpPr>
            <p:spPr bwMode="auto">
              <a:xfrm>
                <a:off x="7880014" y="2525796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1" name="Oval 28"/>
              <p:cNvSpPr>
                <a:spLocks noChangeArrowheads="1"/>
              </p:cNvSpPr>
              <p:nvPr/>
            </p:nvSpPr>
            <p:spPr bwMode="auto">
              <a:xfrm>
                <a:off x="6638768" y="2239734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2" name="Oval 29"/>
              <p:cNvSpPr>
                <a:spLocks noChangeArrowheads="1"/>
              </p:cNvSpPr>
              <p:nvPr/>
            </p:nvSpPr>
            <p:spPr bwMode="auto">
              <a:xfrm>
                <a:off x="8010672" y="1661312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3" name="Oval 30"/>
              <p:cNvSpPr>
                <a:spLocks noChangeArrowheads="1"/>
              </p:cNvSpPr>
              <p:nvPr/>
            </p:nvSpPr>
            <p:spPr bwMode="auto">
              <a:xfrm>
                <a:off x="7183174" y="1375249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4" name="Rectangle 31"/>
              <p:cNvSpPr>
                <a:spLocks noChangeArrowheads="1"/>
              </p:cNvSpPr>
              <p:nvPr/>
            </p:nvSpPr>
            <p:spPr bwMode="auto">
              <a:xfrm>
                <a:off x="6481979" y="2513203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5" name="Rectangle 32"/>
              <p:cNvSpPr>
                <a:spLocks noChangeArrowheads="1"/>
              </p:cNvSpPr>
              <p:nvPr/>
            </p:nvSpPr>
            <p:spPr bwMode="auto">
              <a:xfrm>
                <a:off x="6795557" y="2507805"/>
                <a:ext cx="104526" cy="989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6" name="Rectangle 33"/>
              <p:cNvSpPr>
                <a:spLocks noChangeArrowheads="1"/>
              </p:cNvSpPr>
              <p:nvPr/>
            </p:nvSpPr>
            <p:spPr bwMode="auto">
              <a:xfrm>
                <a:off x="7037273" y="2227140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7" name="Rectangle 34"/>
              <p:cNvSpPr>
                <a:spLocks noChangeArrowheads="1"/>
              </p:cNvSpPr>
              <p:nvPr/>
            </p:nvSpPr>
            <p:spPr bwMode="auto">
              <a:xfrm>
                <a:off x="8017204" y="2805562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8" name="Rectangle 35"/>
              <p:cNvSpPr>
                <a:spLocks noChangeArrowheads="1"/>
              </p:cNvSpPr>
              <p:nvPr/>
            </p:nvSpPr>
            <p:spPr bwMode="auto">
              <a:xfrm>
                <a:off x="7749357" y="2805562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7923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726859" y="1359878"/>
            <a:ext cx="10738283" cy="44315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10771" y="2820550"/>
            <a:ext cx="5910997" cy="2233560"/>
          </a:xfrm>
          <a:prstGeom prst="rect">
            <a:avLst/>
          </a:prstGeom>
          <a:solidFill>
            <a:srgbClr val="00FF99"/>
          </a:solidFill>
          <a:ln>
            <a:solidFill>
              <a:srgbClr val="000099"/>
            </a:solidFill>
          </a:ln>
        </p:spPr>
        <p:txBody>
          <a:bodyPr wrap="square">
            <a:spAutoFit/>
          </a:bodyPr>
          <a:lstStyle/>
          <a:p>
            <a:pPr marL="457189" indent="-457189" defTabSz="121917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找到了一个叶节点。</a:t>
            </a:r>
            <a:endParaRPr lang="en-US" altLang="zh-CN" sz="2133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89" indent="-457189" defTabSz="121917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将目的 </a:t>
            </a:r>
            <a:r>
              <a:rPr lang="en-US" altLang="zh-CN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地址和该叶节点的子网掩码进行按位 </a:t>
            </a:r>
            <a:r>
              <a:rPr lang="en-US" altLang="zh-CN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AND </a:t>
            </a:r>
            <a:r>
              <a:rPr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运算，看结果是否与叶节点的网络前缀相匹配。</a:t>
            </a:r>
            <a:endParaRPr lang="en-US" altLang="zh-CN" sz="2133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89" indent="-457189" defTabSz="121917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若匹配，就按下一跳的接口转发该分组。否则，就丢弃该分组。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301320" y="1801867"/>
            <a:ext cx="5816016" cy="904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>
              <a:spcAft>
                <a:spcPct val="30000"/>
              </a:spcAft>
            </a:pPr>
            <a:r>
              <a:rPr kumimoji="1" lang="en-US" altLang="zh-CN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                   32 </a:t>
            </a:r>
            <a:r>
              <a:rPr kumimoji="1"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位的 </a:t>
            </a:r>
            <a:r>
              <a:rPr kumimoji="1" lang="en-US" altLang="zh-CN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defTabSz="1219170">
              <a:lnSpc>
                <a:spcPct val="130000"/>
              </a:lnSpc>
            </a:pPr>
            <a:r>
              <a:rPr kumimoji="1"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01010110 01111010 00000000 00000000</a:t>
            </a:r>
            <a:endParaRPr kumimoji="1" lang="en-US" altLang="zh-CN" sz="2133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AutoShape 5"/>
          <p:cNvSpPr>
            <a:spLocks noChangeArrowheads="1"/>
          </p:cNvSpPr>
          <p:nvPr/>
        </p:nvSpPr>
        <p:spPr bwMode="auto">
          <a:xfrm>
            <a:off x="742618" y="820584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4036439" y="776303"/>
            <a:ext cx="4144083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在二叉线索中查找 </a:t>
            </a:r>
            <a:r>
              <a:rPr lang="en-US" altLang="zh-CN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8500368" y="1746109"/>
            <a:ext cx="2396017" cy="2127777"/>
            <a:chOff x="6375275" y="1309581"/>
            <a:chExt cx="1797013" cy="1595833"/>
          </a:xfrm>
        </p:grpSpPr>
        <p:sp>
          <p:nvSpPr>
            <p:cNvPr id="50" name="Freeform 7"/>
            <p:cNvSpPr>
              <a:spLocks/>
            </p:cNvSpPr>
            <p:nvPr/>
          </p:nvSpPr>
          <p:spPr bwMode="auto">
            <a:xfrm>
              <a:off x="6478712" y="1406453"/>
              <a:ext cx="756725" cy="1157744"/>
            </a:xfrm>
            <a:custGeom>
              <a:avLst/>
              <a:gdLst>
                <a:gd name="T0" fmla="*/ 695 w 695"/>
                <a:gd name="T1" fmla="*/ 0 h 1117"/>
                <a:gd name="T2" fmla="*/ 0 w 695"/>
                <a:gd name="T3" fmla="*/ 285 h 1117"/>
                <a:gd name="T4" fmla="*/ 399 w 695"/>
                <a:gd name="T5" fmla="*/ 564 h 1117"/>
                <a:gd name="T6" fmla="*/ 174 w 695"/>
                <a:gd name="T7" fmla="*/ 843 h 1117"/>
                <a:gd name="T8" fmla="*/ 338 w 695"/>
                <a:gd name="T9" fmla="*/ 1117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5" h="1117">
                  <a:moveTo>
                    <a:pt x="695" y="0"/>
                  </a:moveTo>
                  <a:lnTo>
                    <a:pt x="0" y="285"/>
                  </a:lnTo>
                  <a:lnTo>
                    <a:pt x="399" y="564"/>
                  </a:lnTo>
                  <a:lnTo>
                    <a:pt x="174" y="843"/>
                  </a:lnTo>
                  <a:lnTo>
                    <a:pt x="338" y="111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1" name="组合 50"/>
            <p:cNvGrpSpPr/>
            <p:nvPr/>
          </p:nvGrpSpPr>
          <p:grpSpPr>
            <a:xfrm>
              <a:off x="6375275" y="1309581"/>
              <a:ext cx="1797013" cy="1595833"/>
              <a:chOff x="6375275" y="1309581"/>
              <a:chExt cx="1797013" cy="1595833"/>
            </a:xfrm>
          </p:grpSpPr>
          <p:sp>
            <p:nvSpPr>
              <p:cNvPr id="52" name="Freeform 6"/>
              <p:cNvSpPr>
                <a:spLocks/>
              </p:cNvSpPr>
              <p:nvPr/>
            </p:nvSpPr>
            <p:spPr bwMode="auto">
              <a:xfrm>
                <a:off x="7228904" y="1413031"/>
                <a:ext cx="840563" cy="1442907"/>
              </a:xfrm>
              <a:custGeom>
                <a:avLst/>
                <a:gdLst>
                  <a:gd name="T0" fmla="*/ 0 w 772"/>
                  <a:gd name="T1" fmla="*/ 0 h 1392"/>
                  <a:gd name="T2" fmla="*/ 764 w 772"/>
                  <a:gd name="T3" fmla="*/ 272 h 1392"/>
                  <a:gd name="T4" fmla="*/ 318 w 772"/>
                  <a:gd name="T5" fmla="*/ 564 h 1392"/>
                  <a:gd name="T6" fmla="*/ 510 w 772"/>
                  <a:gd name="T7" fmla="*/ 840 h 1392"/>
                  <a:gd name="T8" fmla="*/ 772 w 772"/>
                  <a:gd name="T9" fmla="*/ 1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2" h="1392">
                    <a:moveTo>
                      <a:pt x="0" y="0"/>
                    </a:moveTo>
                    <a:lnTo>
                      <a:pt x="764" y="272"/>
                    </a:lnTo>
                    <a:lnTo>
                      <a:pt x="318" y="564"/>
                    </a:lnTo>
                    <a:lnTo>
                      <a:pt x="510" y="840"/>
                    </a:lnTo>
                    <a:lnTo>
                      <a:pt x="772" y="1392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3" name="Line 8"/>
              <p:cNvSpPr>
                <a:spLocks noChangeShapeType="1"/>
              </p:cNvSpPr>
              <p:nvPr/>
            </p:nvSpPr>
            <p:spPr bwMode="auto">
              <a:xfrm flipH="1">
                <a:off x="7799442" y="2557281"/>
                <a:ext cx="121947" cy="2986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4" name="Text Box 9"/>
              <p:cNvSpPr txBox="1">
                <a:spLocks noChangeArrowheads="1"/>
              </p:cNvSpPr>
              <p:nvPr/>
            </p:nvSpPr>
            <p:spPr bwMode="auto">
              <a:xfrm>
                <a:off x="6375275" y="2226240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55" name="Text Box 10"/>
              <p:cNvSpPr txBox="1">
                <a:spLocks noChangeArrowheads="1"/>
              </p:cNvSpPr>
              <p:nvPr/>
            </p:nvSpPr>
            <p:spPr bwMode="auto">
              <a:xfrm>
                <a:off x="6571261" y="193388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56" name="Text Box 11"/>
              <p:cNvSpPr txBox="1">
                <a:spLocks noChangeArrowheads="1"/>
              </p:cNvSpPr>
              <p:nvPr/>
            </p:nvSpPr>
            <p:spPr bwMode="auto">
              <a:xfrm>
                <a:off x="7633942" y="2550085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57" name="Text Box 12"/>
              <p:cNvSpPr txBox="1">
                <a:spLocks noChangeArrowheads="1"/>
              </p:cNvSpPr>
              <p:nvPr/>
            </p:nvSpPr>
            <p:spPr bwMode="auto">
              <a:xfrm>
                <a:off x="6680143" y="130958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58" name="Line 13"/>
              <p:cNvSpPr>
                <a:spLocks noChangeShapeType="1"/>
              </p:cNvSpPr>
              <p:nvPr/>
            </p:nvSpPr>
            <p:spPr bwMode="auto">
              <a:xfrm flipH="1">
                <a:off x="6540775" y="2277516"/>
                <a:ext cx="124125" cy="2860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" name="Freeform 14"/>
              <p:cNvSpPr>
                <a:spLocks/>
              </p:cNvSpPr>
              <p:nvPr/>
            </p:nvSpPr>
            <p:spPr bwMode="auto">
              <a:xfrm>
                <a:off x="6919681" y="2004047"/>
                <a:ext cx="182921" cy="273469"/>
              </a:xfrm>
              <a:custGeom>
                <a:avLst/>
                <a:gdLst>
                  <a:gd name="T0" fmla="*/ 0 w 168"/>
                  <a:gd name="T1" fmla="*/ 0 h 264"/>
                  <a:gd name="T2" fmla="*/ 168 w 168"/>
                  <a:gd name="T3" fmla="*/ 26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8" h="264">
                    <a:moveTo>
                      <a:pt x="0" y="0"/>
                    </a:moveTo>
                    <a:lnTo>
                      <a:pt x="168" y="26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0" name="Text Box 15"/>
              <p:cNvSpPr txBox="1">
                <a:spLocks noChangeArrowheads="1"/>
              </p:cNvSpPr>
              <p:nvPr/>
            </p:nvSpPr>
            <p:spPr bwMode="auto">
              <a:xfrm>
                <a:off x="7938810" y="2555482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1" name="Text Box 16"/>
              <p:cNvSpPr txBox="1">
                <a:spLocks noChangeArrowheads="1"/>
              </p:cNvSpPr>
              <p:nvPr/>
            </p:nvSpPr>
            <p:spPr bwMode="auto">
              <a:xfrm>
                <a:off x="6965411" y="195457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2" name="Text Box 17"/>
              <p:cNvSpPr txBox="1">
                <a:spLocks noChangeArrowheads="1"/>
              </p:cNvSpPr>
              <p:nvPr/>
            </p:nvSpPr>
            <p:spPr bwMode="auto">
              <a:xfrm>
                <a:off x="6743294" y="2259524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3" name="Text Box 18"/>
              <p:cNvSpPr txBox="1">
                <a:spLocks noChangeArrowheads="1"/>
              </p:cNvSpPr>
              <p:nvPr/>
            </p:nvSpPr>
            <p:spPr bwMode="auto">
              <a:xfrm>
                <a:off x="6671432" y="166311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4" name="Text Box 19"/>
              <p:cNvSpPr txBox="1">
                <a:spLocks noChangeArrowheads="1"/>
              </p:cNvSpPr>
              <p:nvPr/>
            </p:nvSpPr>
            <p:spPr bwMode="auto">
              <a:xfrm>
                <a:off x="7625232" y="135186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5" name="Text Box 20"/>
              <p:cNvSpPr txBox="1">
                <a:spLocks noChangeArrowheads="1"/>
              </p:cNvSpPr>
              <p:nvPr/>
            </p:nvSpPr>
            <p:spPr bwMode="auto">
              <a:xfrm>
                <a:off x="7801620" y="2256826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6" name="Text Box 21"/>
              <p:cNvSpPr txBox="1">
                <a:spLocks noChangeArrowheads="1"/>
              </p:cNvSpPr>
              <p:nvPr/>
            </p:nvSpPr>
            <p:spPr bwMode="auto">
              <a:xfrm>
                <a:off x="7638298" y="1951872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7" name="Text Box 22"/>
              <p:cNvSpPr txBox="1">
                <a:spLocks noChangeArrowheads="1"/>
              </p:cNvSpPr>
              <p:nvPr/>
            </p:nvSpPr>
            <p:spPr bwMode="auto">
              <a:xfrm>
                <a:off x="7642653" y="1632526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68" name="Oval 23"/>
              <p:cNvSpPr>
                <a:spLocks noChangeArrowheads="1"/>
              </p:cNvSpPr>
              <p:nvPr/>
            </p:nvSpPr>
            <p:spPr bwMode="auto">
              <a:xfrm>
                <a:off x="7553370" y="1959968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9" name="Oval 24"/>
              <p:cNvSpPr>
                <a:spLocks noChangeArrowheads="1"/>
              </p:cNvSpPr>
              <p:nvPr/>
            </p:nvSpPr>
            <p:spPr bwMode="auto">
              <a:xfrm>
                <a:off x="6867418" y="1959968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0" name="Oval 25"/>
              <p:cNvSpPr>
                <a:spLocks noChangeArrowheads="1"/>
              </p:cNvSpPr>
              <p:nvPr/>
            </p:nvSpPr>
            <p:spPr bwMode="auto">
              <a:xfrm>
                <a:off x="6442781" y="1667609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1" name="Oval 26"/>
              <p:cNvSpPr>
                <a:spLocks noChangeArrowheads="1"/>
              </p:cNvSpPr>
              <p:nvPr/>
            </p:nvSpPr>
            <p:spPr bwMode="auto">
              <a:xfrm>
                <a:off x="7742824" y="2246031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2" name="Oval 27"/>
              <p:cNvSpPr>
                <a:spLocks noChangeArrowheads="1"/>
              </p:cNvSpPr>
              <p:nvPr/>
            </p:nvSpPr>
            <p:spPr bwMode="auto">
              <a:xfrm>
                <a:off x="7880014" y="2525796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3" name="Oval 28"/>
              <p:cNvSpPr>
                <a:spLocks noChangeArrowheads="1"/>
              </p:cNvSpPr>
              <p:nvPr/>
            </p:nvSpPr>
            <p:spPr bwMode="auto">
              <a:xfrm>
                <a:off x="6638768" y="2239734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4" name="Oval 29"/>
              <p:cNvSpPr>
                <a:spLocks noChangeArrowheads="1"/>
              </p:cNvSpPr>
              <p:nvPr/>
            </p:nvSpPr>
            <p:spPr bwMode="auto">
              <a:xfrm>
                <a:off x="8010672" y="1661312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5" name="Oval 30"/>
              <p:cNvSpPr>
                <a:spLocks noChangeArrowheads="1"/>
              </p:cNvSpPr>
              <p:nvPr/>
            </p:nvSpPr>
            <p:spPr bwMode="auto">
              <a:xfrm>
                <a:off x="7183174" y="1375249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6" name="Rectangle 31"/>
              <p:cNvSpPr>
                <a:spLocks noChangeArrowheads="1"/>
              </p:cNvSpPr>
              <p:nvPr/>
            </p:nvSpPr>
            <p:spPr bwMode="auto">
              <a:xfrm>
                <a:off x="6481979" y="2513203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7" name="Rectangle 32"/>
              <p:cNvSpPr>
                <a:spLocks noChangeArrowheads="1"/>
              </p:cNvSpPr>
              <p:nvPr/>
            </p:nvSpPr>
            <p:spPr bwMode="auto">
              <a:xfrm>
                <a:off x="6795557" y="2507805"/>
                <a:ext cx="104526" cy="989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8" name="Rectangle 33"/>
              <p:cNvSpPr>
                <a:spLocks noChangeArrowheads="1"/>
              </p:cNvSpPr>
              <p:nvPr/>
            </p:nvSpPr>
            <p:spPr bwMode="auto">
              <a:xfrm>
                <a:off x="7037273" y="2227140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9" name="Rectangle 34"/>
              <p:cNvSpPr>
                <a:spLocks noChangeArrowheads="1"/>
              </p:cNvSpPr>
              <p:nvPr/>
            </p:nvSpPr>
            <p:spPr bwMode="auto">
              <a:xfrm>
                <a:off x="8017204" y="2805562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0" name="Rectangle 35"/>
              <p:cNvSpPr>
                <a:spLocks noChangeArrowheads="1"/>
              </p:cNvSpPr>
              <p:nvPr/>
            </p:nvSpPr>
            <p:spPr bwMode="auto">
              <a:xfrm>
                <a:off x="7749357" y="2805562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8638283" y="1857900"/>
            <a:ext cx="1008967" cy="1635965"/>
            <a:chOff x="6478712" y="2744561"/>
            <a:chExt cx="756725" cy="1226974"/>
          </a:xfrm>
        </p:grpSpPr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6795557" y="3872583"/>
              <a:ext cx="104526" cy="98952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CC00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/>
              <a:endParaRPr lang="zh-CN" altLang="en-US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Freeform 7"/>
            <p:cNvSpPr>
              <a:spLocks/>
            </p:cNvSpPr>
            <p:nvPr/>
          </p:nvSpPr>
          <p:spPr bwMode="auto">
            <a:xfrm>
              <a:off x="6478712" y="2744561"/>
              <a:ext cx="756725" cy="1157744"/>
            </a:xfrm>
            <a:custGeom>
              <a:avLst/>
              <a:gdLst>
                <a:gd name="T0" fmla="*/ 695 w 695"/>
                <a:gd name="T1" fmla="*/ 0 h 1117"/>
                <a:gd name="T2" fmla="*/ 0 w 695"/>
                <a:gd name="T3" fmla="*/ 285 h 1117"/>
                <a:gd name="T4" fmla="*/ 399 w 695"/>
                <a:gd name="T5" fmla="*/ 564 h 1117"/>
                <a:gd name="T6" fmla="*/ 174 w 695"/>
                <a:gd name="T7" fmla="*/ 843 h 1117"/>
                <a:gd name="T8" fmla="*/ 338 w 695"/>
                <a:gd name="T9" fmla="*/ 1117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5" h="1117">
                  <a:moveTo>
                    <a:pt x="695" y="0"/>
                  </a:moveTo>
                  <a:lnTo>
                    <a:pt x="0" y="285"/>
                  </a:lnTo>
                  <a:lnTo>
                    <a:pt x="399" y="564"/>
                  </a:lnTo>
                  <a:lnTo>
                    <a:pt x="174" y="843"/>
                  </a:lnTo>
                  <a:lnTo>
                    <a:pt x="338" y="1117"/>
                  </a:lnTo>
                </a:path>
              </a:pathLst>
            </a:custGeom>
            <a:noFill/>
            <a:ln w="38100" cmpd="sng">
              <a:solidFill>
                <a:srgbClr val="CC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500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726859" y="1359878"/>
            <a:ext cx="10738283" cy="4431565"/>
          </a:xfrm>
          <a:prstGeom prst="roundRect">
            <a:avLst/>
          </a:prstGeom>
          <a:solidFill>
            <a:srgbClr val="C5E5FB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10771" y="2820549"/>
            <a:ext cx="5910997" cy="1511439"/>
          </a:xfrm>
          <a:prstGeom prst="rect">
            <a:avLst/>
          </a:prstGeom>
          <a:solidFill>
            <a:srgbClr val="00FF99"/>
          </a:solidFill>
          <a:ln>
            <a:solidFill>
              <a:srgbClr val="000099"/>
            </a:solidFill>
          </a:ln>
        </p:spPr>
        <p:txBody>
          <a:bodyPr wrap="square">
            <a:spAutoFit/>
          </a:bodyPr>
          <a:lstStyle/>
          <a:p>
            <a:pPr marL="457189" indent="-457189" defTabSz="121917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查到第三个字符 </a:t>
            </a:r>
            <a:r>
              <a:rPr lang="en-US" altLang="zh-CN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0 </a:t>
            </a:r>
            <a:r>
              <a:rPr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时，在二叉线索中找不到匹配的。说明这个地址不在这个二叉线索中。</a:t>
            </a:r>
            <a:endParaRPr lang="en-US" altLang="zh-CN" sz="2133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189" indent="-457189" defTabSz="1219170">
              <a:lnSpc>
                <a:spcPct val="110000"/>
              </a:lnSpc>
              <a:buFont typeface="+mj-lt"/>
              <a:buAutoNum type="arabicPeriod"/>
            </a:pPr>
            <a:r>
              <a:rPr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检查是否存在默认路由。若有，把分组传送到指明的默认路由器，否则丢弃该分组。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301320" y="1801867"/>
            <a:ext cx="5816016" cy="904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1219170">
              <a:spcAft>
                <a:spcPct val="30000"/>
              </a:spcAft>
            </a:pPr>
            <a:r>
              <a:rPr kumimoji="1" lang="en-US" altLang="zh-CN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                   32 </a:t>
            </a:r>
            <a:r>
              <a:rPr kumimoji="1"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位的 </a:t>
            </a:r>
            <a:r>
              <a:rPr kumimoji="1" lang="en-US" altLang="zh-CN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kumimoji="1" lang="zh-CN" altLang="en-US" sz="2133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  <a:p>
            <a:pPr defTabSz="1219170">
              <a:lnSpc>
                <a:spcPct val="130000"/>
              </a:lnSpc>
            </a:pPr>
            <a:r>
              <a:rPr kumimoji="1" lang="en-US" altLang="zh-CN" sz="2133" b="1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10011011 01111010 00000000 00000000</a:t>
            </a:r>
            <a:endParaRPr kumimoji="1" lang="en-US" altLang="zh-CN" sz="2133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6" name="AutoShape 5"/>
          <p:cNvSpPr>
            <a:spLocks noChangeArrowheads="1"/>
          </p:cNvSpPr>
          <p:nvPr/>
        </p:nvSpPr>
        <p:spPr bwMode="auto">
          <a:xfrm>
            <a:off x="742618" y="820584"/>
            <a:ext cx="10731701" cy="471907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>
            <a:noFill/>
          </a:ln>
          <a:effectLst/>
        </p:spPr>
        <p:txBody>
          <a:bodyPr wrap="none" anchor="ctr"/>
          <a:lstStyle/>
          <a:p>
            <a:pPr defTabSz="1219170"/>
            <a:endParaRPr lang="zh-CN" altLang="en-US" sz="2400">
              <a:solidFill>
                <a:prstClr val="black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4036439" y="776303"/>
            <a:ext cx="4144083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defTabSz="1219170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在二叉线索中查找 </a:t>
            </a:r>
            <a:r>
              <a:rPr lang="en-US" altLang="zh-CN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IP </a:t>
            </a:r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地址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500368" y="1746109"/>
            <a:ext cx="2396017" cy="2127777"/>
            <a:chOff x="6375275" y="1309581"/>
            <a:chExt cx="1797013" cy="1595833"/>
          </a:xfrm>
        </p:grpSpPr>
        <p:sp>
          <p:nvSpPr>
            <p:cNvPr id="50" name="Freeform 7"/>
            <p:cNvSpPr>
              <a:spLocks/>
            </p:cNvSpPr>
            <p:nvPr/>
          </p:nvSpPr>
          <p:spPr bwMode="auto">
            <a:xfrm>
              <a:off x="6478712" y="1406453"/>
              <a:ext cx="756725" cy="1157744"/>
            </a:xfrm>
            <a:custGeom>
              <a:avLst/>
              <a:gdLst>
                <a:gd name="T0" fmla="*/ 695 w 695"/>
                <a:gd name="T1" fmla="*/ 0 h 1117"/>
                <a:gd name="T2" fmla="*/ 0 w 695"/>
                <a:gd name="T3" fmla="*/ 285 h 1117"/>
                <a:gd name="T4" fmla="*/ 399 w 695"/>
                <a:gd name="T5" fmla="*/ 564 h 1117"/>
                <a:gd name="T6" fmla="*/ 174 w 695"/>
                <a:gd name="T7" fmla="*/ 843 h 1117"/>
                <a:gd name="T8" fmla="*/ 338 w 695"/>
                <a:gd name="T9" fmla="*/ 1117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5" h="1117">
                  <a:moveTo>
                    <a:pt x="695" y="0"/>
                  </a:moveTo>
                  <a:lnTo>
                    <a:pt x="0" y="285"/>
                  </a:lnTo>
                  <a:lnTo>
                    <a:pt x="399" y="564"/>
                  </a:lnTo>
                  <a:lnTo>
                    <a:pt x="174" y="843"/>
                  </a:lnTo>
                  <a:lnTo>
                    <a:pt x="338" y="111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1219170"/>
              <a:endParaRPr lang="zh-CN" altLang="en-US" sz="1600" b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6375275" y="1309581"/>
              <a:ext cx="1797013" cy="1595833"/>
              <a:chOff x="6375275" y="1309581"/>
              <a:chExt cx="1797013" cy="1595833"/>
            </a:xfrm>
          </p:grpSpPr>
          <p:sp>
            <p:nvSpPr>
              <p:cNvPr id="52" name="Freeform 6"/>
              <p:cNvSpPr>
                <a:spLocks/>
              </p:cNvSpPr>
              <p:nvPr/>
            </p:nvSpPr>
            <p:spPr bwMode="auto">
              <a:xfrm>
                <a:off x="7228904" y="1413031"/>
                <a:ext cx="840563" cy="1442907"/>
              </a:xfrm>
              <a:custGeom>
                <a:avLst/>
                <a:gdLst>
                  <a:gd name="T0" fmla="*/ 0 w 772"/>
                  <a:gd name="T1" fmla="*/ 0 h 1392"/>
                  <a:gd name="T2" fmla="*/ 764 w 772"/>
                  <a:gd name="T3" fmla="*/ 272 h 1392"/>
                  <a:gd name="T4" fmla="*/ 318 w 772"/>
                  <a:gd name="T5" fmla="*/ 564 h 1392"/>
                  <a:gd name="T6" fmla="*/ 510 w 772"/>
                  <a:gd name="T7" fmla="*/ 840 h 1392"/>
                  <a:gd name="T8" fmla="*/ 772 w 772"/>
                  <a:gd name="T9" fmla="*/ 1392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2" h="1392">
                    <a:moveTo>
                      <a:pt x="0" y="0"/>
                    </a:moveTo>
                    <a:lnTo>
                      <a:pt x="764" y="272"/>
                    </a:lnTo>
                    <a:lnTo>
                      <a:pt x="318" y="564"/>
                    </a:lnTo>
                    <a:lnTo>
                      <a:pt x="510" y="840"/>
                    </a:lnTo>
                    <a:lnTo>
                      <a:pt x="772" y="1392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3" name="Line 8"/>
              <p:cNvSpPr>
                <a:spLocks noChangeShapeType="1"/>
              </p:cNvSpPr>
              <p:nvPr/>
            </p:nvSpPr>
            <p:spPr bwMode="auto">
              <a:xfrm flipH="1">
                <a:off x="7799442" y="2557281"/>
                <a:ext cx="121947" cy="2986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4" name="Text Box 9"/>
              <p:cNvSpPr txBox="1">
                <a:spLocks noChangeArrowheads="1"/>
              </p:cNvSpPr>
              <p:nvPr/>
            </p:nvSpPr>
            <p:spPr bwMode="auto">
              <a:xfrm>
                <a:off x="6375275" y="2226240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55" name="Text Box 10"/>
              <p:cNvSpPr txBox="1">
                <a:spLocks noChangeArrowheads="1"/>
              </p:cNvSpPr>
              <p:nvPr/>
            </p:nvSpPr>
            <p:spPr bwMode="auto">
              <a:xfrm>
                <a:off x="6571261" y="193388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56" name="Text Box 11"/>
              <p:cNvSpPr txBox="1">
                <a:spLocks noChangeArrowheads="1"/>
              </p:cNvSpPr>
              <p:nvPr/>
            </p:nvSpPr>
            <p:spPr bwMode="auto">
              <a:xfrm>
                <a:off x="7633942" y="2550085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57" name="Text Box 12"/>
              <p:cNvSpPr txBox="1">
                <a:spLocks noChangeArrowheads="1"/>
              </p:cNvSpPr>
              <p:nvPr/>
            </p:nvSpPr>
            <p:spPr bwMode="auto">
              <a:xfrm>
                <a:off x="6680143" y="130958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58" name="Line 13"/>
              <p:cNvSpPr>
                <a:spLocks noChangeShapeType="1"/>
              </p:cNvSpPr>
              <p:nvPr/>
            </p:nvSpPr>
            <p:spPr bwMode="auto">
              <a:xfrm flipH="1">
                <a:off x="6540775" y="2277516"/>
                <a:ext cx="124125" cy="2860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9" name="Freeform 14"/>
              <p:cNvSpPr>
                <a:spLocks/>
              </p:cNvSpPr>
              <p:nvPr/>
            </p:nvSpPr>
            <p:spPr bwMode="auto">
              <a:xfrm>
                <a:off x="6919681" y="2004047"/>
                <a:ext cx="182921" cy="273469"/>
              </a:xfrm>
              <a:custGeom>
                <a:avLst/>
                <a:gdLst>
                  <a:gd name="T0" fmla="*/ 0 w 168"/>
                  <a:gd name="T1" fmla="*/ 0 h 264"/>
                  <a:gd name="T2" fmla="*/ 168 w 168"/>
                  <a:gd name="T3" fmla="*/ 264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8" h="264">
                    <a:moveTo>
                      <a:pt x="0" y="0"/>
                    </a:moveTo>
                    <a:lnTo>
                      <a:pt x="168" y="264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0" name="Text Box 15"/>
              <p:cNvSpPr txBox="1">
                <a:spLocks noChangeArrowheads="1"/>
              </p:cNvSpPr>
              <p:nvPr/>
            </p:nvSpPr>
            <p:spPr bwMode="auto">
              <a:xfrm>
                <a:off x="7938810" y="2555482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1" name="Text Box 16"/>
              <p:cNvSpPr txBox="1">
                <a:spLocks noChangeArrowheads="1"/>
              </p:cNvSpPr>
              <p:nvPr/>
            </p:nvSpPr>
            <p:spPr bwMode="auto">
              <a:xfrm>
                <a:off x="6965411" y="195457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2" name="Text Box 17"/>
              <p:cNvSpPr txBox="1">
                <a:spLocks noChangeArrowheads="1"/>
              </p:cNvSpPr>
              <p:nvPr/>
            </p:nvSpPr>
            <p:spPr bwMode="auto">
              <a:xfrm>
                <a:off x="6743294" y="2259524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3" name="Text Box 18"/>
              <p:cNvSpPr txBox="1">
                <a:spLocks noChangeArrowheads="1"/>
              </p:cNvSpPr>
              <p:nvPr/>
            </p:nvSpPr>
            <p:spPr bwMode="auto">
              <a:xfrm>
                <a:off x="6671432" y="166311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4" name="Text Box 19"/>
              <p:cNvSpPr txBox="1">
                <a:spLocks noChangeArrowheads="1"/>
              </p:cNvSpPr>
              <p:nvPr/>
            </p:nvSpPr>
            <p:spPr bwMode="auto">
              <a:xfrm>
                <a:off x="7625232" y="1351861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5" name="Text Box 20"/>
              <p:cNvSpPr txBox="1">
                <a:spLocks noChangeArrowheads="1"/>
              </p:cNvSpPr>
              <p:nvPr/>
            </p:nvSpPr>
            <p:spPr bwMode="auto">
              <a:xfrm>
                <a:off x="7801620" y="2256826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6" name="Text Box 21"/>
              <p:cNvSpPr txBox="1">
                <a:spLocks noChangeArrowheads="1"/>
              </p:cNvSpPr>
              <p:nvPr/>
            </p:nvSpPr>
            <p:spPr bwMode="auto">
              <a:xfrm>
                <a:off x="7638298" y="1951872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</a:p>
            </p:txBody>
          </p:sp>
          <p:sp>
            <p:nvSpPr>
              <p:cNvPr id="67" name="Text Box 22"/>
              <p:cNvSpPr txBox="1">
                <a:spLocks noChangeArrowheads="1"/>
              </p:cNvSpPr>
              <p:nvPr/>
            </p:nvSpPr>
            <p:spPr bwMode="auto">
              <a:xfrm>
                <a:off x="7642653" y="1632526"/>
                <a:ext cx="233478" cy="25391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1219170"/>
                <a:r>
                  <a:rPr kumimoji="1" lang="en-US" altLang="zh-CN" sz="1600" b="1" dirty="0">
                    <a:solidFill>
                      <a:srgbClr val="0000FF"/>
                    </a:solidFill>
                    <a:latin typeface="微软雅黑" pitchFamily="34" charset="-122"/>
                    <a:ea typeface="微软雅黑" pitchFamily="34" charset="-122"/>
                  </a:rPr>
                  <a:t>0</a:t>
                </a:r>
              </a:p>
            </p:txBody>
          </p:sp>
          <p:sp>
            <p:nvSpPr>
              <p:cNvPr id="68" name="Oval 23"/>
              <p:cNvSpPr>
                <a:spLocks noChangeArrowheads="1"/>
              </p:cNvSpPr>
              <p:nvPr/>
            </p:nvSpPr>
            <p:spPr bwMode="auto">
              <a:xfrm>
                <a:off x="7553370" y="1959968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9" name="Oval 24"/>
              <p:cNvSpPr>
                <a:spLocks noChangeArrowheads="1"/>
              </p:cNvSpPr>
              <p:nvPr/>
            </p:nvSpPr>
            <p:spPr bwMode="auto">
              <a:xfrm>
                <a:off x="6867418" y="1959968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0" name="Oval 25"/>
              <p:cNvSpPr>
                <a:spLocks noChangeArrowheads="1"/>
              </p:cNvSpPr>
              <p:nvPr/>
            </p:nvSpPr>
            <p:spPr bwMode="auto">
              <a:xfrm>
                <a:off x="6442781" y="1667609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1" name="Oval 26"/>
              <p:cNvSpPr>
                <a:spLocks noChangeArrowheads="1"/>
              </p:cNvSpPr>
              <p:nvPr/>
            </p:nvSpPr>
            <p:spPr bwMode="auto">
              <a:xfrm>
                <a:off x="7742824" y="2246031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2" name="Oval 27"/>
              <p:cNvSpPr>
                <a:spLocks noChangeArrowheads="1"/>
              </p:cNvSpPr>
              <p:nvPr/>
            </p:nvSpPr>
            <p:spPr bwMode="auto">
              <a:xfrm>
                <a:off x="7880014" y="2525796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3" name="Oval 28"/>
              <p:cNvSpPr>
                <a:spLocks noChangeArrowheads="1"/>
              </p:cNvSpPr>
              <p:nvPr/>
            </p:nvSpPr>
            <p:spPr bwMode="auto">
              <a:xfrm>
                <a:off x="6638768" y="2239734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4" name="Oval 29"/>
              <p:cNvSpPr>
                <a:spLocks noChangeArrowheads="1"/>
              </p:cNvSpPr>
              <p:nvPr/>
            </p:nvSpPr>
            <p:spPr bwMode="auto">
              <a:xfrm>
                <a:off x="8010672" y="1661312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5" name="Oval 30"/>
              <p:cNvSpPr>
                <a:spLocks noChangeArrowheads="1"/>
              </p:cNvSpPr>
              <p:nvPr/>
            </p:nvSpPr>
            <p:spPr bwMode="auto">
              <a:xfrm>
                <a:off x="7183174" y="1375249"/>
                <a:ext cx="71862" cy="68367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6" name="Rectangle 31"/>
              <p:cNvSpPr>
                <a:spLocks noChangeArrowheads="1"/>
              </p:cNvSpPr>
              <p:nvPr/>
            </p:nvSpPr>
            <p:spPr bwMode="auto">
              <a:xfrm>
                <a:off x="6481979" y="2513203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7" name="Rectangle 32"/>
              <p:cNvSpPr>
                <a:spLocks noChangeArrowheads="1"/>
              </p:cNvSpPr>
              <p:nvPr/>
            </p:nvSpPr>
            <p:spPr bwMode="auto">
              <a:xfrm>
                <a:off x="6795557" y="2507805"/>
                <a:ext cx="104526" cy="989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8" name="Rectangle 33"/>
              <p:cNvSpPr>
                <a:spLocks noChangeArrowheads="1"/>
              </p:cNvSpPr>
              <p:nvPr/>
            </p:nvSpPr>
            <p:spPr bwMode="auto">
              <a:xfrm>
                <a:off x="7037273" y="2227140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79" name="Rectangle 34"/>
              <p:cNvSpPr>
                <a:spLocks noChangeArrowheads="1"/>
              </p:cNvSpPr>
              <p:nvPr/>
            </p:nvSpPr>
            <p:spPr bwMode="auto">
              <a:xfrm>
                <a:off x="8017204" y="2805562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80" name="Rectangle 35"/>
              <p:cNvSpPr>
                <a:spLocks noChangeArrowheads="1"/>
              </p:cNvSpPr>
              <p:nvPr/>
            </p:nvSpPr>
            <p:spPr bwMode="auto">
              <a:xfrm>
                <a:off x="7749357" y="2805562"/>
                <a:ext cx="104526" cy="99852"/>
              </a:xfrm>
              <a:prstGeom prst="rect">
                <a:avLst/>
              </a:prstGeom>
              <a:solidFill>
                <a:srgbClr val="00FF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1219170"/>
                <a:endParaRPr lang="zh-CN" altLang="en-US" sz="1600" b="1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9647250" y="1871381"/>
            <a:ext cx="1088087" cy="787740"/>
            <a:chOff x="7219105" y="1375249"/>
            <a:chExt cx="861251" cy="590805"/>
          </a:xfrm>
        </p:grpSpPr>
        <p:cxnSp>
          <p:nvCxnSpPr>
            <p:cNvPr id="7" name="直接连接符 6"/>
            <p:cNvCxnSpPr>
              <a:stCxn id="75" idx="0"/>
            </p:cNvCxnSpPr>
            <p:nvPr/>
          </p:nvCxnSpPr>
          <p:spPr>
            <a:xfrm>
              <a:off x="7219105" y="1375249"/>
              <a:ext cx="861251" cy="286063"/>
            </a:xfrm>
            <a:prstGeom prst="line">
              <a:avLst/>
            </a:prstGeom>
            <a:ln w="38100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endCxn id="68" idx="6"/>
            </p:cNvCxnSpPr>
            <p:nvPr/>
          </p:nvCxnSpPr>
          <p:spPr>
            <a:xfrm flipH="1">
              <a:off x="7613327" y="1661312"/>
              <a:ext cx="453813" cy="304742"/>
            </a:xfrm>
            <a:prstGeom prst="line">
              <a:avLst/>
            </a:prstGeom>
            <a:ln w="38100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347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5269</Words>
  <Application>Microsoft Office PowerPoint</Application>
  <PresentationFormat>宽屏</PresentationFormat>
  <Paragraphs>1220</Paragraphs>
  <Slides>50</Slides>
  <Notes>18</Notes>
  <HiddenSlides>0</HiddenSlides>
  <MMClips>0</MMClips>
  <ScaleCrop>false</ScaleCrop>
  <HeadingPairs>
    <vt:vector size="10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链接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74" baseType="lpstr">
      <vt:lpstr>Arial Unicode MS</vt:lpstr>
      <vt:lpstr>等线</vt:lpstr>
      <vt:lpstr>宋体</vt:lpstr>
      <vt:lpstr>微软雅黑</vt:lpstr>
      <vt:lpstr>微软雅黑</vt:lpstr>
      <vt:lpstr>Arial</vt:lpstr>
      <vt:lpstr>Calibri</vt:lpstr>
      <vt:lpstr>Comic Sans MS</vt:lpstr>
      <vt:lpstr>Helvetica</vt:lpstr>
      <vt:lpstr>Symbol</vt:lpstr>
      <vt:lpstr>Tahoma</vt:lpstr>
      <vt:lpstr>Times New Roman</vt:lpstr>
      <vt:lpstr>Wingdings</vt:lpstr>
      <vt:lpstr>1_Office 主题​​</vt:lpstr>
      <vt:lpstr>Office 主题​​</vt:lpstr>
      <vt:lpstr>???</vt:lpstr>
      <vt:lpstr>???</vt:lpstr>
      <vt:lpstr>???</vt:lpstr>
      <vt:lpstr>???</vt:lpstr>
      <vt:lpstr>???</vt:lpstr>
      <vt:lpstr>???</vt:lpstr>
      <vt:lpstr>???</vt:lpstr>
      <vt:lpstr>Visio</vt:lpstr>
      <vt:lpstr>Clip</vt:lpstr>
      <vt:lpstr>本章内容</vt:lpstr>
      <vt:lpstr>IPv4协议</vt:lpstr>
      <vt:lpstr>IPv4数据报格式</vt:lpstr>
      <vt:lpstr>IPv4数据报格式</vt:lpstr>
      <vt:lpstr>数据报分片</vt:lpstr>
      <vt:lpstr>数据报分片</vt:lpstr>
      <vt:lpstr>数据报分片</vt:lpstr>
      <vt:lpstr>IP协议功能及报头字段总结</vt:lpstr>
      <vt:lpstr>IP地址</vt:lpstr>
      <vt:lpstr>分类的IP地址</vt:lpstr>
      <vt:lpstr>IP特殊地址</vt:lpstr>
      <vt:lpstr>子网划分</vt:lpstr>
      <vt:lpstr>子网划分</vt:lpstr>
      <vt:lpstr>无类域间路由</vt:lpstr>
      <vt:lpstr>最长前缀匹配</vt:lpstr>
      <vt:lpstr>最长前缀匹配</vt:lpstr>
      <vt:lpstr>IP包转发</vt:lpstr>
      <vt:lpstr>IP包转发</vt:lpstr>
      <vt:lpstr>IPv4地址如何获取</vt:lpstr>
      <vt:lpstr>DHCP动态主机配置协议</vt:lpstr>
      <vt:lpstr>DHCP 工作过程</vt:lpstr>
      <vt:lpstr>DHCP 工作过程式</vt:lpstr>
      <vt:lpstr>DHCP 工作过程</vt:lpstr>
      <vt:lpstr>DHCP 完整工作过程</vt:lpstr>
      <vt:lpstr>IP 与 MAC地址</vt:lpstr>
      <vt:lpstr>ARP地址解析协议</vt:lpstr>
      <vt:lpstr>ARP地址解析协议</vt:lpstr>
      <vt:lpstr>ARP协议工作过程</vt:lpstr>
      <vt:lpstr>路由到另一个局域网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yudershu xia</dc:creator>
  <cp:lastModifiedBy>yudershu xia</cp:lastModifiedBy>
  <cp:revision>1</cp:revision>
  <dcterms:created xsi:type="dcterms:W3CDTF">2024-11-20T07:08:59Z</dcterms:created>
  <dcterms:modified xsi:type="dcterms:W3CDTF">2024-11-20T07:31:29Z</dcterms:modified>
</cp:coreProperties>
</file>